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28"/>
  </p:handoutMasterIdLst>
  <p:sldIdLst>
    <p:sldId id="258" r:id="rId3"/>
    <p:sldId id="259" r:id="rId5"/>
    <p:sldId id="260" r:id="rId6"/>
    <p:sldId id="261" r:id="rId7"/>
    <p:sldId id="263" r:id="rId8"/>
    <p:sldId id="264" r:id="rId9"/>
    <p:sldId id="511" r:id="rId10"/>
    <p:sldId id="265" r:id="rId11"/>
    <p:sldId id="266" r:id="rId12"/>
    <p:sldId id="268" r:id="rId13"/>
    <p:sldId id="347" r:id="rId14"/>
    <p:sldId id="348" r:id="rId15"/>
    <p:sldId id="349" r:id="rId16"/>
    <p:sldId id="271" r:id="rId17"/>
    <p:sldId id="272" r:id="rId18"/>
    <p:sldId id="273" r:id="rId19"/>
    <p:sldId id="515" r:id="rId20"/>
    <p:sldId id="274" r:id="rId21"/>
    <p:sldId id="275" r:id="rId22"/>
    <p:sldId id="350" r:id="rId23"/>
    <p:sldId id="354" r:id="rId24"/>
    <p:sldId id="355" r:id="rId25"/>
    <p:sldId id="276" r:id="rId26"/>
    <p:sldId id="356" r:id="rId27"/>
    <p:sldId id="357" r:id="rId28"/>
    <p:sldId id="513" r:id="rId29"/>
    <p:sldId id="514" r:id="rId30"/>
    <p:sldId id="278" r:id="rId31"/>
    <p:sldId id="279" r:id="rId32"/>
    <p:sldId id="358"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359" r:id="rId49"/>
    <p:sldId id="360" r:id="rId50"/>
    <p:sldId id="361" r:id="rId51"/>
    <p:sldId id="362" r:id="rId52"/>
    <p:sldId id="363" r:id="rId53"/>
    <p:sldId id="364" r:id="rId54"/>
    <p:sldId id="365" r:id="rId55"/>
    <p:sldId id="366" r:id="rId56"/>
    <p:sldId id="296" r:id="rId57"/>
    <p:sldId id="297" r:id="rId58"/>
    <p:sldId id="298" r:id="rId59"/>
    <p:sldId id="299" r:id="rId60"/>
    <p:sldId id="367" r:id="rId61"/>
    <p:sldId id="368" r:id="rId62"/>
    <p:sldId id="369" r:id="rId63"/>
    <p:sldId id="300" r:id="rId64"/>
    <p:sldId id="301" r:id="rId65"/>
    <p:sldId id="302" r:id="rId66"/>
    <p:sldId id="370" r:id="rId67"/>
    <p:sldId id="371" r:id="rId68"/>
    <p:sldId id="304" r:id="rId69"/>
    <p:sldId id="305" r:id="rId70"/>
    <p:sldId id="306" r:id="rId71"/>
    <p:sldId id="307" r:id="rId72"/>
    <p:sldId id="308" r:id="rId73"/>
    <p:sldId id="309" r:id="rId74"/>
    <p:sldId id="310" r:id="rId75"/>
    <p:sldId id="311" r:id="rId76"/>
    <p:sldId id="312" r:id="rId77"/>
    <p:sldId id="313" r:id="rId78"/>
    <p:sldId id="314" r:id="rId79"/>
    <p:sldId id="315" r:id="rId80"/>
    <p:sldId id="316" r:id="rId81"/>
    <p:sldId id="317" r:id="rId82"/>
    <p:sldId id="318" r:id="rId83"/>
    <p:sldId id="319" r:id="rId84"/>
    <p:sldId id="372" r:id="rId85"/>
    <p:sldId id="373" r:id="rId86"/>
    <p:sldId id="374" r:id="rId87"/>
    <p:sldId id="375" r:id="rId88"/>
    <p:sldId id="376" r:id="rId89"/>
    <p:sldId id="322" r:id="rId90"/>
    <p:sldId id="323" r:id="rId91"/>
    <p:sldId id="324" r:id="rId92"/>
    <p:sldId id="325" r:id="rId93"/>
    <p:sldId id="326" r:id="rId94"/>
    <p:sldId id="327" r:id="rId95"/>
    <p:sldId id="328" r:id="rId96"/>
    <p:sldId id="329" r:id="rId97"/>
    <p:sldId id="330" r:id="rId98"/>
    <p:sldId id="331" r:id="rId99"/>
    <p:sldId id="332" r:id="rId100"/>
    <p:sldId id="333" r:id="rId101"/>
    <p:sldId id="334" r:id="rId102"/>
    <p:sldId id="335" r:id="rId103"/>
    <p:sldId id="336" r:id="rId104"/>
    <p:sldId id="377" r:id="rId105"/>
    <p:sldId id="337" r:id="rId106"/>
    <p:sldId id="338" r:id="rId107"/>
    <p:sldId id="339" r:id="rId108"/>
    <p:sldId id="340" r:id="rId109"/>
    <p:sldId id="341" r:id="rId110"/>
    <p:sldId id="342" r:id="rId111"/>
    <p:sldId id="343" r:id="rId112"/>
    <p:sldId id="344" r:id="rId113"/>
    <p:sldId id="345" r:id="rId114"/>
    <p:sldId id="497" r:id="rId115"/>
    <p:sldId id="379" r:id="rId116"/>
    <p:sldId id="380" r:id="rId117"/>
    <p:sldId id="498" r:id="rId118"/>
    <p:sldId id="382" r:id="rId119"/>
    <p:sldId id="383" r:id="rId120"/>
    <p:sldId id="384" r:id="rId121"/>
    <p:sldId id="385" r:id="rId122"/>
    <p:sldId id="386" r:id="rId123"/>
    <p:sldId id="387" r:id="rId124"/>
    <p:sldId id="388" r:id="rId125"/>
    <p:sldId id="389" r:id="rId126"/>
    <p:sldId id="390" r:id="rId127"/>
    <p:sldId id="391" r:id="rId128"/>
    <p:sldId id="392" r:id="rId129"/>
    <p:sldId id="499" r:id="rId130"/>
    <p:sldId id="500" r:id="rId131"/>
    <p:sldId id="501" r:id="rId132"/>
    <p:sldId id="393" r:id="rId133"/>
    <p:sldId id="394" r:id="rId134"/>
    <p:sldId id="502" r:id="rId135"/>
    <p:sldId id="396" r:id="rId136"/>
    <p:sldId id="397" r:id="rId137"/>
    <p:sldId id="398" r:id="rId138"/>
    <p:sldId id="399" r:id="rId139"/>
    <p:sldId id="400" r:id="rId140"/>
    <p:sldId id="401" r:id="rId141"/>
    <p:sldId id="402" r:id="rId142"/>
    <p:sldId id="403" r:id="rId143"/>
    <p:sldId id="404" r:id="rId144"/>
    <p:sldId id="405" r:id="rId145"/>
    <p:sldId id="406" r:id="rId146"/>
    <p:sldId id="503" r:id="rId147"/>
    <p:sldId id="407" r:id="rId148"/>
    <p:sldId id="408" r:id="rId149"/>
    <p:sldId id="409" r:id="rId150"/>
    <p:sldId id="410" r:id="rId151"/>
    <p:sldId id="411" r:id="rId152"/>
    <p:sldId id="412" r:id="rId153"/>
    <p:sldId id="504" r:id="rId154"/>
    <p:sldId id="414" r:id="rId155"/>
    <p:sldId id="415" r:id="rId156"/>
    <p:sldId id="416" r:id="rId157"/>
    <p:sldId id="417" r:id="rId158"/>
    <p:sldId id="418" r:id="rId159"/>
    <p:sldId id="419" r:id="rId160"/>
    <p:sldId id="420" r:id="rId161"/>
    <p:sldId id="421" r:id="rId162"/>
    <p:sldId id="422" r:id="rId163"/>
    <p:sldId id="423" r:id="rId164"/>
    <p:sldId id="424" r:id="rId165"/>
    <p:sldId id="425" r:id="rId166"/>
    <p:sldId id="426" r:id="rId167"/>
    <p:sldId id="427" r:id="rId168"/>
    <p:sldId id="428" r:id="rId169"/>
    <p:sldId id="429" r:id="rId170"/>
    <p:sldId id="430" r:id="rId171"/>
    <p:sldId id="505" r:id="rId172"/>
    <p:sldId id="432" r:id="rId173"/>
    <p:sldId id="506" r:id="rId174"/>
    <p:sldId id="434" r:id="rId175"/>
    <p:sldId id="435" r:id="rId176"/>
    <p:sldId id="507" r:id="rId177"/>
    <p:sldId id="508" r:id="rId178"/>
    <p:sldId id="437" r:id="rId179"/>
    <p:sldId id="438" r:id="rId180"/>
    <p:sldId id="439" r:id="rId181"/>
    <p:sldId id="440" r:id="rId182"/>
    <p:sldId id="441" r:id="rId183"/>
    <p:sldId id="442" r:id="rId184"/>
    <p:sldId id="509" r:id="rId185"/>
    <p:sldId id="444" r:id="rId186"/>
    <p:sldId id="445" r:id="rId187"/>
    <p:sldId id="446" r:id="rId188"/>
    <p:sldId id="447" r:id="rId189"/>
    <p:sldId id="448" r:id="rId190"/>
    <p:sldId id="449" r:id="rId191"/>
    <p:sldId id="450" r:id="rId192"/>
    <p:sldId id="451" r:id="rId193"/>
    <p:sldId id="452" r:id="rId194"/>
    <p:sldId id="453" r:id="rId195"/>
    <p:sldId id="454" r:id="rId196"/>
    <p:sldId id="455" r:id="rId197"/>
    <p:sldId id="456" r:id="rId198"/>
    <p:sldId id="457" r:id="rId199"/>
    <p:sldId id="458" r:id="rId200"/>
    <p:sldId id="459" r:id="rId201"/>
    <p:sldId id="460" r:id="rId202"/>
    <p:sldId id="461" r:id="rId203"/>
    <p:sldId id="462" r:id="rId204"/>
    <p:sldId id="463" r:id="rId205"/>
    <p:sldId id="464" r:id="rId206"/>
    <p:sldId id="465" r:id="rId207"/>
    <p:sldId id="466" r:id="rId208"/>
    <p:sldId id="467" r:id="rId209"/>
    <p:sldId id="468" r:id="rId210"/>
    <p:sldId id="469" r:id="rId211"/>
    <p:sldId id="470" r:id="rId212"/>
    <p:sldId id="471" r:id="rId213"/>
    <p:sldId id="472" r:id="rId214"/>
    <p:sldId id="473" r:id="rId215"/>
    <p:sldId id="474" r:id="rId216"/>
    <p:sldId id="475" r:id="rId217"/>
    <p:sldId id="476" r:id="rId218"/>
    <p:sldId id="477" r:id="rId219"/>
    <p:sldId id="478" r:id="rId220"/>
    <p:sldId id="479" r:id="rId221"/>
    <p:sldId id="480" r:id="rId222"/>
    <p:sldId id="481" r:id="rId223"/>
    <p:sldId id="482" r:id="rId224"/>
    <p:sldId id="488" r:id="rId225"/>
    <p:sldId id="495" r:id="rId226"/>
    <p:sldId id="496" r:id="rId22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00CC"/>
    <a:srgbClr val="6600FF"/>
    <a:srgbClr val="6666FF"/>
    <a:srgbClr val="6699FF"/>
    <a:srgbClr val="0099FF"/>
    <a:srgbClr val="278E1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306"/>
    <p:restoredTop sz="86449"/>
  </p:normalViewPr>
  <p:slideViewPr>
    <p:cSldViewPr showGuides="1">
      <p:cViewPr varScale="1">
        <p:scale>
          <a:sx n="72" d="100"/>
          <a:sy n="72" d="100"/>
        </p:scale>
        <p:origin x="1125"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881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1" Type="http://schemas.openxmlformats.org/officeDocument/2006/relationships/tableStyles" Target="tableStyles.xml"/><Relationship Id="rId230" Type="http://schemas.openxmlformats.org/officeDocument/2006/relationships/viewProps" Target="viewProps.xml"/><Relationship Id="rId23" Type="http://schemas.openxmlformats.org/officeDocument/2006/relationships/slide" Target="slides/slide20.xml"/><Relationship Id="rId229" Type="http://schemas.openxmlformats.org/officeDocument/2006/relationships/presProps" Target="presProps.xml"/><Relationship Id="rId228" Type="http://schemas.openxmlformats.org/officeDocument/2006/relationships/handoutMaster" Target="handoutMasters/handoutMaster1.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3C50E74-80FE-440D-ACF5-E51C83003D64}" type="datetimeFigureOut">
              <a:rPr kumimoji="1" 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F63FB82B-2A03-48AA-8209-3BBBB8A5FEB4}" type="slidenum">
              <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90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sz="1200" b="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0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b="0">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90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0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sz="1200" b="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0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4029A9FA-AC92-41F8-85E9-C34674E0D8AD}"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a:ln/>
        </p:spPr>
      </p:sp>
      <p:sp>
        <p:nvSpPr>
          <p:cNvPr id="6147" name="备注占位符 2"/>
          <p:cNvSpPr>
            <a:spLocks noGrp="1"/>
          </p:cNvSpPr>
          <p:nvPr>
            <p:ph type="body" idx="1"/>
          </p:nvPr>
        </p:nvSpPr>
        <p:spPr>
          <a:ln/>
        </p:spPr>
        <p:txBody>
          <a:bodyPr wrap="square" lIns="91440" tIns="45720" rIns="91440" bIns="45720" anchor="t" anchorCtr="0"/>
          <a:p>
            <a:pPr lvl="0" eaLnBrk="1" hangingPunct="1"/>
            <a:endParaRPr lang="en-US" altLang="en-US" dirty="0"/>
          </a:p>
        </p:txBody>
      </p:sp>
      <p:sp>
        <p:nvSpPr>
          <p:cNvPr id="6148" name="灯片编号占位符 1"/>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幻灯片图像占位符 1"/>
          <p:cNvSpPr>
            <a:spLocks noGrp="1" noRot="1" noChangeAspect="1" noTextEdit="1"/>
          </p:cNvSpPr>
          <p:nvPr>
            <p:ph type="sldImg"/>
          </p:nvPr>
        </p:nvSpPr>
        <p:spPr>
          <a:ln/>
        </p:spPr>
      </p:sp>
      <p:sp>
        <p:nvSpPr>
          <p:cNvPr id="10243" name="备注占位符 2"/>
          <p:cNvSpPr>
            <a:spLocks noGrp="1"/>
          </p:cNvSpPr>
          <p:nvPr>
            <p:ph type="body" idx="1"/>
          </p:nvPr>
        </p:nvSpPr>
        <p:spPr>
          <a:ln/>
        </p:spPr>
        <p:txBody>
          <a:bodyPr wrap="square" lIns="91440" tIns="45720" rIns="91440" bIns="45720" anchor="t" anchorCtr="0"/>
          <a:p>
            <a:pPr lvl="0" eaLnBrk="1" hangingPunct="1"/>
            <a:endParaRPr lang="en-US" altLang="en-US" dirty="0"/>
          </a:p>
        </p:txBody>
      </p:sp>
      <p:sp>
        <p:nvSpPr>
          <p:cNvPr id="10244" name="灯片编号占位符 1"/>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幻灯片图像占位符 1"/>
          <p:cNvSpPr>
            <a:spLocks noGrp="1" noRot="1" noChangeAspect="1" noTextEdit="1"/>
          </p:cNvSpPr>
          <p:nvPr>
            <p:ph type="sldImg"/>
          </p:nvPr>
        </p:nvSpPr>
        <p:spPr>
          <a:ln/>
        </p:spPr>
      </p:sp>
      <p:sp>
        <p:nvSpPr>
          <p:cNvPr id="15363" name="备注占位符 2"/>
          <p:cNvSpPr>
            <a:spLocks noGrp="1"/>
          </p:cNvSpPr>
          <p:nvPr>
            <p:ph type="body" idx="1"/>
          </p:nvPr>
        </p:nvSpPr>
        <p:spPr>
          <a:ln/>
        </p:spPr>
        <p:txBody>
          <a:bodyPr wrap="square" lIns="91440" tIns="45720" rIns="91440" bIns="45720" anchor="t" anchorCtr="0"/>
          <a:p>
            <a:pPr lvl="0"/>
            <a:endParaRPr lang="en-US" altLang="en-US" dirty="0"/>
          </a:p>
        </p:txBody>
      </p:sp>
      <p:sp>
        <p:nvSpPr>
          <p:cNvPr id="153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noRot="1" noChangeAspect="1" noTextEdit="1"/>
          </p:cNvSpPr>
          <p:nvPr>
            <p:ph type="sldImg"/>
          </p:nvPr>
        </p:nvSpPr>
        <p:spPr>
          <a:ln/>
        </p:spPr>
      </p:sp>
      <p:sp>
        <p:nvSpPr>
          <p:cNvPr id="19459"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r>
              <a:rPr lang="zh-CN" altLang="en-US" dirty="0"/>
              <a:t>与一些教材的区别</a:t>
            </a:r>
            <a:endParaRPr lang="zh-CN" altLang="en-US" dirty="0"/>
          </a:p>
          <a:p>
            <a:pPr lvl="0" eaLnBrk="1" hangingPunct="1"/>
            <a:r>
              <a:rPr lang="zh-CN" altLang="en-US" dirty="0"/>
              <a:t>     偏重理论，不去讨论某个系统的具体使用方法，但会涉及实现技术</a:t>
            </a:r>
            <a:endParaRPr lang="zh-CN" altLang="en-US" dirty="0"/>
          </a:p>
          <a:p>
            <a:pPr lvl="0" eaLnBrk="1" hangingPunct="1"/>
            <a:r>
              <a:rPr lang="zh-CN" altLang="en-US" dirty="0"/>
              <a:t>我们的优势</a:t>
            </a:r>
            <a:endParaRPr lang="zh-CN" altLang="en-US" dirty="0"/>
          </a:p>
          <a:p>
            <a:pPr lvl="1" eaLnBrk="1" hangingPunct="1">
              <a:buChar char="•"/>
            </a:pPr>
            <a:r>
              <a:rPr lang="zh-CN" altLang="en-US" dirty="0"/>
              <a:t>虽然枯燥，但适应</a:t>
            </a:r>
            <a:r>
              <a:rPr lang="en-US" altLang="zh-CN" dirty="0"/>
              <a:t>DBA</a:t>
            </a:r>
            <a:r>
              <a:rPr lang="zh-CN" altLang="en-US" dirty="0"/>
              <a:t>的需要</a:t>
            </a:r>
            <a:endParaRPr lang="zh-CN" altLang="en-US" dirty="0"/>
          </a:p>
          <a:p>
            <a:pPr lvl="1" eaLnBrk="1" hangingPunct="1">
              <a:buChar char="•"/>
            </a:pPr>
            <a:r>
              <a:rPr lang="zh-CN" altLang="en-US" dirty="0"/>
              <a:t>不过时</a:t>
            </a:r>
            <a:endParaRPr lang="zh-CN" altLang="en-US" dirty="0"/>
          </a:p>
          <a:p>
            <a:pPr lvl="1" eaLnBrk="1" hangingPunct="1">
              <a:buChar char="•"/>
            </a:pPr>
            <a:endParaRPr lang="zh-CN" altLang="en-US" dirty="0"/>
          </a:p>
          <a:p>
            <a:pPr lvl="0" eaLnBrk="1" hangingPunct="1"/>
            <a:endParaRPr lang="zh-CN" altLang="en-US" dirty="0"/>
          </a:p>
        </p:txBody>
      </p:sp>
      <p:sp>
        <p:nvSpPr>
          <p:cNvPr id="19460" name="灯片编号占位符 1"/>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noChangeAspect="1" noTextEdit="1"/>
          </p:cNvSpPr>
          <p:nvPr>
            <p:ph type="sldImg"/>
          </p:nvPr>
        </p:nvSpPr>
        <p:spPr>
          <a:ln/>
        </p:spPr>
      </p:sp>
      <p:sp>
        <p:nvSpPr>
          <p:cNvPr id="21507"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endParaRPr lang="en-US" altLang="en-US" dirty="0"/>
          </a:p>
        </p:txBody>
      </p:sp>
      <p:sp>
        <p:nvSpPr>
          <p:cNvPr id="21508" name="灯片编号占位符 1"/>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noRot="1" noChangeAspect="1" noTextEdit="1"/>
          </p:cNvSpPr>
          <p:nvPr>
            <p:ph type="sldImg"/>
          </p:nvPr>
        </p:nvSpPr>
        <p:spPr>
          <a:ln/>
        </p:spPr>
      </p:sp>
      <p:sp>
        <p:nvSpPr>
          <p:cNvPr id="23555"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endParaRPr lang="en-US" altLang="en-US" dirty="0"/>
          </a:p>
        </p:txBody>
      </p:sp>
      <p:sp>
        <p:nvSpPr>
          <p:cNvPr id="23556" name="灯片编号占位符 1"/>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ln/>
        </p:spPr>
        <p:txBody>
          <a:bodyPr wrap="square" lIns="91440" tIns="45720" rIns="91440" bIns="45720" anchor="t" anchorCtr="0"/>
          <a:p>
            <a:pPr lvl="0"/>
            <a:endParaRPr lang="zh-CN" altLang="zh-CN" dirty="0"/>
          </a:p>
        </p:txBody>
      </p:sp>
      <p:sp>
        <p:nvSpPr>
          <p:cNvPr id="3789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fld>
            <a:endParaRPr lang="zh-CN" altLang="zh-CN" sz="1200"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noRot="1" noChangeAspect="1" noTextEdit="1"/>
          </p:cNvSpPr>
          <p:nvPr>
            <p:ph type="sldImg"/>
          </p:nvPr>
        </p:nvSpPr>
        <p:spPr>
          <a:ln/>
        </p:spPr>
      </p:sp>
      <p:sp>
        <p:nvSpPr>
          <p:cNvPr id="66563"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endParaRPr lang="en-US" altLang="en-US" dirty="0"/>
          </a:p>
        </p:txBody>
      </p:sp>
      <p:sp>
        <p:nvSpPr>
          <p:cNvPr id="66564" name="灯片编号占位符 1"/>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noRot="1" noChangeAspect="1" noTextEdit="1"/>
          </p:cNvSpPr>
          <p:nvPr>
            <p:ph type="sldImg"/>
          </p:nvPr>
        </p:nvSpPr>
        <p:spPr>
          <a:ln/>
        </p:spPr>
      </p:sp>
      <p:sp>
        <p:nvSpPr>
          <p:cNvPr id="186371"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endParaRPr lang="en-US" altLang="en-US" dirty="0"/>
          </a:p>
        </p:txBody>
      </p:sp>
      <p:sp>
        <p:nvSpPr>
          <p:cNvPr id="186372" name="灯片编号占位符 1"/>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cs typeface="Arial" panose="020B0604020202020204" pitchFamily="34" charset="0"/>
              </a:rPr>
            </a:fld>
            <a:endParaRPr lang="en-US" altLang="zh-CN" sz="1200" b="0" dirty="0">
              <a:ea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6858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日期占位符 7"/>
          <p:cNvSpPr>
            <a:spLocks noGrp="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页脚占位符 8"/>
          <p:cNvSpPr>
            <a:spLocks noGrp="1"/>
          </p:cNvSpPr>
          <p:nvPr>
            <p:ph type="ftr" sz="quarter" idx="3"/>
          </p:nvPr>
        </p:nvSpPr>
        <p:spPr bwMode="auto">
          <a:xfrm>
            <a:off x="2400300" y="6540500"/>
            <a:ext cx="3683000" cy="3175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11" name="灯片编号占位符 9"/>
          <p:cNvSpPr>
            <a:spLocks noGrp="1"/>
          </p:cNvSpPr>
          <p:nvPr>
            <p:ph type="sldNum" sz="quarter" idx="4"/>
          </p:nvPr>
        </p:nvSpPr>
        <p:spPr bwMode="auto">
          <a:xfrm>
            <a:off x="6732588" y="6092825"/>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FEA3FB8-47CF-486F-86C0-0BB47986E0E6}"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None/>
              <a:defRPr/>
            </a:pPr>
            <a:endParaRPr kumimoji="1"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52400"/>
            <a:ext cx="1943100" cy="6019800"/>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685800" y="152400"/>
            <a:ext cx="5676900" cy="6019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smtClean="0"/>
              <a:t>单击此处编辑母版标题样式</a:t>
            </a:r>
            <a:endParaRPr lang="en-US"/>
          </a:p>
        </p:txBody>
      </p:sp>
      <p:sp>
        <p:nvSpPr>
          <p:cNvPr id="3" name="SmartArt 占位符 2"/>
          <p:cNvSpPr>
            <a:spLocks noGrp="1"/>
          </p:cNvSpPr>
          <p:nvPr>
            <p:ph type="dgm" idx="1"/>
          </p:nvPr>
        </p:nvSpPr>
        <p:spPr>
          <a:xfrm>
            <a:off x="685800" y="1447800"/>
            <a:ext cx="77724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Char char="§"/>
              <a:defRPr/>
            </a:pPr>
            <a:endParaRPr kumimoji="1"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Rectangle 2"/>
          <p:cNvSpPr>
            <a:spLocks noGrp="1"/>
          </p:cNvSpPr>
          <p:nvPr>
            <p:ph type="title"/>
          </p:nvPr>
        </p:nvSpPr>
        <p:spPr>
          <a:xfrm>
            <a:off x="685800" y="152400"/>
            <a:ext cx="7772400" cy="1143000"/>
          </a:xfrm>
          <a:prstGeom prst="rect">
            <a:avLst/>
          </a:prstGeom>
          <a:noFill/>
          <a:ln w="9525">
            <a:noFill/>
          </a:ln>
        </p:spPr>
        <p:txBody>
          <a:bodyPr anchor="ctr" anchorCtr="0"/>
          <a:p>
            <a:pPr lvl="0"/>
            <a:r>
              <a:rPr lang="zh-CN" altLang="en-US" dirty="0"/>
              <a:t>标题</a:t>
            </a:r>
            <a:endParaRPr lang="zh-CN" altLang="en-US" dirty="0"/>
          </a:p>
        </p:txBody>
      </p:sp>
      <p:sp>
        <p:nvSpPr>
          <p:cNvPr id="1027" name="Rectangle 3"/>
          <p:cNvSpPr>
            <a:spLocks noGrp="1"/>
          </p:cNvSpPr>
          <p:nvPr>
            <p:ph type="body" idx="1"/>
          </p:nvPr>
        </p:nvSpPr>
        <p:spPr>
          <a:xfrm>
            <a:off x="685800" y="1447800"/>
            <a:ext cx="77724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b="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2400300" y="6540500"/>
            <a:ext cx="3683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b="0">
                <a:solidFill>
                  <a:srgbClr val="6600FF"/>
                </a:solidFill>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b="0"/>
            </a:lvl1pPr>
          </a:lstStyle>
          <a:p>
            <a:pPr marL="0" marR="0" lvl="0" indent="0" algn="r" defTabSz="914400" rtl="0" eaLnBrk="1" fontAlgn="base" latinLnBrk="0" hangingPunct="1">
              <a:lnSpc>
                <a:spcPct val="100000"/>
              </a:lnSpc>
              <a:spcBef>
                <a:spcPct val="0"/>
              </a:spcBef>
              <a:spcAft>
                <a:spcPct val="0"/>
              </a:spcAft>
              <a:buClrTx/>
              <a:buSzTx/>
              <a:buFontTx/>
              <a:buNone/>
              <a:defRPr/>
            </a:pPr>
            <a:fld id="{38EF27DD-51BF-475E-B53F-6F622E79BB8F}"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Text Box 9"/>
          <p:cNvSpPr txBox="1">
            <a:spLocks noChangeArrowheads="1"/>
          </p:cNvSpPr>
          <p:nvPr/>
        </p:nvSpPr>
        <p:spPr bwMode="auto">
          <a:xfrm>
            <a:off x="57150" y="6521450"/>
            <a:ext cx="1114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400" b="1">
                <a:solidFill>
                  <a:schemeClr val="tx1"/>
                </a:solidFill>
                <a:latin typeface="Times New Roman" panose="02020603050405020304" pitchFamily="18" charset="0"/>
                <a:ea typeface="宋体" panose="02010600030101010101" pitchFamily="2" charset="-122"/>
              </a:defRPr>
            </a:lvl1pPr>
            <a:lvl2pPr marL="742950" indent="-285750">
              <a:defRPr kumimoji="1" sz="1400" b="1">
                <a:solidFill>
                  <a:schemeClr val="tx1"/>
                </a:solidFill>
                <a:latin typeface="Times New Roman" panose="02020603050405020304" pitchFamily="18" charset="0"/>
                <a:ea typeface="宋体" panose="02010600030101010101" pitchFamily="2" charset="-122"/>
              </a:defRPr>
            </a:lvl2pPr>
            <a:lvl3pPr marL="1143000" indent="-228600">
              <a:defRPr kumimoji="1" sz="1400" b="1">
                <a:solidFill>
                  <a:schemeClr val="tx1"/>
                </a:solidFill>
                <a:latin typeface="Times New Roman" panose="02020603050405020304" pitchFamily="18" charset="0"/>
                <a:ea typeface="宋体" panose="02010600030101010101" pitchFamily="2" charset="-122"/>
              </a:defRPr>
            </a:lvl3pPr>
            <a:lvl4pPr marL="1600200" indent="-228600">
              <a:defRPr kumimoji="1" sz="1400" b="1">
                <a:solidFill>
                  <a:schemeClr val="tx1"/>
                </a:solidFill>
                <a:latin typeface="Times New Roman" panose="02020603050405020304" pitchFamily="18" charset="0"/>
                <a:ea typeface="宋体" panose="02010600030101010101" pitchFamily="2" charset="-122"/>
              </a:defRPr>
            </a:lvl4pPr>
            <a:lvl5pPr marL="2057400" indent="-228600">
              <a:defRPr kumimoji="1" sz="1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fld id="{30C73FA8-5844-4E6C-BB87-C91C105ED652}" type="slidenum">
              <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 name="Picture 12" descr="华工校徽"/>
          <p:cNvPicPr>
            <a:picLocks noChangeAspect="1"/>
          </p:cNvPicPr>
          <p:nvPr/>
        </p:nvPicPr>
        <p:blipFill>
          <a:blip r:embed="rId14"/>
          <a:stretch>
            <a:fillRect/>
          </a:stretch>
        </p:blipFill>
        <p:spPr>
          <a:xfrm>
            <a:off x="63500" y="63500"/>
            <a:ext cx="990600" cy="750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kumimoji="1" sz="4400" b="1">
          <a:solidFill>
            <a:schemeClr val="accent2"/>
          </a:solidFill>
          <a:latin typeface="+mj-lt"/>
          <a:ea typeface="+mj-ea"/>
          <a:cs typeface="经典细隶书简"/>
        </a:defRPr>
      </a:lvl1pPr>
      <a:lvl2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2pPr>
      <a:lvl3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3pPr>
      <a:lvl4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4pPr>
      <a:lvl5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hyperlink" Target="http://yao8.com/" TargetMode="External"/><Relationship Id="rId2" Type="http://schemas.openxmlformats.org/officeDocument/2006/relationships/hyperlink" Target="http://search.tencent.com/cgi-bin/friend/user_show_info?ln=16290492" TargetMode="External"/><Relationship Id="rId1" Type="http://schemas.openxmlformats.org/officeDocument/2006/relationships/hyperlink" Target="mailto:kidd@263.sina.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hyperlink" Target="http://www-db.stanford.edu/~ullman/dscb.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icourse163.org/course/HUST-1449788170"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7.wmf"/><Relationship Id="rId7" Type="http://schemas.openxmlformats.org/officeDocument/2006/relationships/oleObject" Target="../embeddings/oleObject4.bin"/><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6" Type="http://schemas.openxmlformats.org/officeDocument/2006/relationships/vmlDrawing" Target="../drawings/vmlDrawing1.vml"/><Relationship Id="rId15" Type="http://schemas.openxmlformats.org/officeDocument/2006/relationships/slideLayout" Target="../slideLayouts/slideLayout2.xml"/><Relationship Id="rId14" Type="http://schemas.openxmlformats.org/officeDocument/2006/relationships/oleObject" Target="../embeddings/oleObject6.bin"/><Relationship Id="rId13" Type="http://schemas.openxmlformats.org/officeDocument/2006/relationships/image" Target="../media/image11.wmf"/><Relationship Id="rId12" Type="http://schemas.openxmlformats.org/officeDocument/2006/relationships/image" Target="../media/image10.wmf"/><Relationship Id="rId11" Type="http://schemas.openxmlformats.org/officeDocument/2006/relationships/image" Target="../media/image9.wmf"/><Relationship Id="rId10" Type="http://schemas.openxmlformats.org/officeDocument/2006/relationships/image" Target="../media/image8.wmf"/><Relationship Id="rId1"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7.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8.bin"/></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9.bin"/></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2"/>
          <p:cNvSpPr txBox="1">
            <a:spLocks noGrp="1"/>
          </p:cNvSpPr>
          <p:nvPr>
            <p:ph type="ftr" sz="quarter" idx="3"/>
          </p:nvPr>
        </p:nvSpPr>
        <p:spPr>
          <a:ln/>
        </p:spPr>
        <p:txBody>
          <a:bodyPr/>
          <a:p>
            <a:pPr marL="0" indent="0" algn="ctr" eaLnBrk="1" hangingPunct="1">
              <a:spcBef>
                <a:spcPct val="0"/>
              </a:spcBef>
              <a:buClrTx/>
              <a:buFontTx/>
              <a:buNone/>
            </a:pPr>
            <a:r>
              <a:rPr kumimoji="1" lang="en-US" altLang="zh-CN" sz="1400" b="0" dirty="0">
                <a:solidFill>
                  <a:srgbClr val="6600FF"/>
                </a:solidFill>
                <a:latin typeface="+mn-lt"/>
                <a:ea typeface="+mn-ea"/>
                <a:cs typeface="+mn-cs"/>
              </a:rPr>
              <a:t>An Introduction to Database System</a:t>
            </a:r>
            <a:endParaRPr kumimoji="1" lang="en-US" altLang="zh-CN" sz="1400" b="0" dirty="0">
              <a:solidFill>
                <a:srgbClr val="6600FF"/>
              </a:solidFill>
              <a:latin typeface="+mn-lt"/>
              <a:ea typeface="+mn-ea"/>
              <a:cs typeface="+mn-cs"/>
            </a:endParaRPr>
          </a:p>
        </p:txBody>
      </p:sp>
      <p:grpSp>
        <p:nvGrpSpPr>
          <p:cNvPr id="5123" name="Group 2"/>
          <p:cNvGrpSpPr/>
          <p:nvPr/>
        </p:nvGrpSpPr>
        <p:grpSpPr>
          <a:xfrm>
            <a:off x="4314825" y="3143250"/>
            <a:ext cx="0" cy="290513"/>
            <a:chOff x="0" y="0"/>
            <a:chExt cx="0" cy="183"/>
          </a:xfrm>
        </p:grpSpPr>
        <p:sp>
          <p:nvSpPr>
            <p:cNvPr id="5143" name="Rectangle 3"/>
            <p:cNvSpPr/>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144" name="Rectangle 4"/>
            <p:cNvSpPr/>
            <p:nvPr/>
          </p:nvSpPr>
          <p:spPr>
            <a:xfrm>
              <a:off x="0" y="0"/>
              <a:ext cx="0" cy="18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latin typeface="Tahoma" panose="020B0604030504040204" pitchFamily="34" charset="0"/>
                  <a:ea typeface="Verdana,宋体"/>
                  <a:hlinkClick r:id="rId1"/>
                </a:rPr>
                <a:t>  </a:t>
              </a:r>
              <a:r>
                <a:rPr lang="en-US" altLang="zh-CN" sz="1300" b="0" dirty="0">
                  <a:solidFill>
                    <a:srgbClr val="000000"/>
                  </a:solidFill>
                  <a:ea typeface="Verdana,宋体"/>
                </a:rPr>
                <a:t> </a:t>
              </a:r>
              <a:r>
                <a:rPr lang="en-US" altLang="zh-CN" sz="900" b="0" dirty="0">
                  <a:solidFill>
                    <a:srgbClr val="000000"/>
                  </a:solidFill>
                  <a:ea typeface="Verdana,宋体"/>
                </a:rPr>
                <a:t>             </a:t>
              </a:r>
              <a:endParaRPr lang="en-US" altLang="zh-CN" sz="900" b="0" dirty="0">
                <a:solidFill>
                  <a:srgbClr val="000000"/>
                </a:solidFill>
                <a:latin typeface="Tahoma" panose="020B0604030504040204" pitchFamily="34" charset="0"/>
                <a:ea typeface="Verdana,宋体"/>
              </a:endParaRPr>
            </a:p>
          </p:txBody>
        </p:sp>
      </p:grpSp>
      <p:grpSp>
        <p:nvGrpSpPr>
          <p:cNvPr id="5124" name="Group 5"/>
          <p:cNvGrpSpPr/>
          <p:nvPr/>
        </p:nvGrpSpPr>
        <p:grpSpPr>
          <a:xfrm>
            <a:off x="4314825" y="3143250"/>
            <a:ext cx="0" cy="290513"/>
            <a:chOff x="0" y="0"/>
            <a:chExt cx="0" cy="183"/>
          </a:xfrm>
        </p:grpSpPr>
        <p:sp>
          <p:nvSpPr>
            <p:cNvPr id="5141" name="Rectangle 6"/>
            <p:cNvSpPr/>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142" name="Rectangle 7"/>
            <p:cNvSpPr/>
            <p:nvPr/>
          </p:nvSpPr>
          <p:spPr>
            <a:xfrm>
              <a:off x="0" y="0"/>
              <a:ext cx="0" cy="18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latin typeface="Tahoma" panose="020B0604030504040204" pitchFamily="34" charset="0"/>
                  <a:ea typeface="Verdana,宋体"/>
                  <a:hlinkClick r:id="rId2"/>
                </a:rPr>
                <a:t>  </a:t>
              </a:r>
              <a:r>
                <a:rPr lang="en-US" altLang="zh-CN" sz="1300" b="0" dirty="0">
                  <a:solidFill>
                    <a:srgbClr val="000000"/>
                  </a:solidFill>
                  <a:ea typeface="Verdana,宋体"/>
                </a:rPr>
                <a:t> </a:t>
              </a:r>
              <a:r>
                <a:rPr lang="en-US" altLang="zh-CN" sz="900" b="0" dirty="0">
                  <a:solidFill>
                    <a:srgbClr val="000000"/>
                  </a:solidFill>
                  <a:ea typeface="Verdana,宋体"/>
                </a:rPr>
                <a:t>             </a:t>
              </a:r>
              <a:endParaRPr lang="en-US" altLang="zh-CN" sz="900" b="0" dirty="0">
                <a:solidFill>
                  <a:srgbClr val="000000"/>
                </a:solidFill>
                <a:latin typeface="Tahoma" panose="020B0604030504040204" pitchFamily="34" charset="0"/>
                <a:ea typeface="Verdana,宋体"/>
              </a:endParaRPr>
            </a:p>
          </p:txBody>
        </p:sp>
      </p:grpSp>
      <p:grpSp>
        <p:nvGrpSpPr>
          <p:cNvPr id="5125" name="Group 8"/>
          <p:cNvGrpSpPr/>
          <p:nvPr/>
        </p:nvGrpSpPr>
        <p:grpSpPr>
          <a:xfrm>
            <a:off x="4303713" y="3143250"/>
            <a:ext cx="0" cy="290513"/>
            <a:chOff x="0" y="0"/>
            <a:chExt cx="0" cy="183"/>
          </a:xfrm>
        </p:grpSpPr>
        <p:sp>
          <p:nvSpPr>
            <p:cNvPr id="5139" name="Rectangle 9"/>
            <p:cNvSpPr/>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140" name="Rectangle 10"/>
            <p:cNvSpPr/>
            <p:nvPr/>
          </p:nvSpPr>
          <p:spPr>
            <a:xfrm>
              <a:off x="0" y="0"/>
              <a:ext cx="0" cy="18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latin typeface="Tahoma" panose="020B0604030504040204" pitchFamily="34" charset="0"/>
                  <a:ea typeface="Verdana,宋体"/>
                  <a:hlinkClick r:id="rId3"/>
                </a:rPr>
                <a:t>  </a:t>
              </a:r>
              <a:r>
                <a:rPr lang="en-US" altLang="zh-CN" sz="1300" b="0" dirty="0">
                  <a:solidFill>
                    <a:srgbClr val="000000"/>
                  </a:solidFill>
                  <a:ea typeface="Verdana,宋体"/>
                </a:rPr>
                <a:t> </a:t>
              </a:r>
              <a:r>
                <a:rPr lang="en-US" altLang="zh-CN" sz="900" b="0" dirty="0">
                  <a:solidFill>
                    <a:srgbClr val="000000"/>
                  </a:solidFill>
                  <a:ea typeface="Verdana,宋体"/>
                </a:rPr>
                <a:t>             </a:t>
              </a:r>
              <a:endParaRPr lang="en-US" altLang="zh-CN" sz="900" b="0" dirty="0">
                <a:solidFill>
                  <a:srgbClr val="000000"/>
                </a:solidFill>
                <a:latin typeface="Tahoma" panose="020B0604030504040204" pitchFamily="34" charset="0"/>
                <a:ea typeface="Verdana,宋体"/>
              </a:endParaRPr>
            </a:p>
          </p:txBody>
        </p:sp>
      </p:grpSp>
      <p:grpSp>
        <p:nvGrpSpPr>
          <p:cNvPr id="5126" name="Group 11"/>
          <p:cNvGrpSpPr/>
          <p:nvPr/>
        </p:nvGrpSpPr>
        <p:grpSpPr>
          <a:xfrm>
            <a:off x="4314825" y="3143250"/>
            <a:ext cx="0" cy="290513"/>
            <a:chOff x="0" y="0"/>
            <a:chExt cx="0" cy="183"/>
          </a:xfrm>
        </p:grpSpPr>
        <p:sp>
          <p:nvSpPr>
            <p:cNvPr id="5137" name="Rectangle 12"/>
            <p:cNvSpPr/>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138" name="Rectangle 13"/>
            <p:cNvSpPr/>
            <p:nvPr/>
          </p:nvSpPr>
          <p:spPr>
            <a:xfrm>
              <a:off x="0" y="0"/>
              <a:ext cx="0" cy="18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latin typeface="Tahoma" panose="020B0604030504040204" pitchFamily="34" charset="0"/>
                  <a:ea typeface="Verdana,宋体"/>
                  <a:hlinkClick r:id="rId1"/>
                </a:rPr>
                <a:t>  </a:t>
              </a:r>
              <a:r>
                <a:rPr lang="en-US" altLang="zh-CN" sz="1300" b="0" dirty="0">
                  <a:solidFill>
                    <a:srgbClr val="000000"/>
                  </a:solidFill>
                  <a:ea typeface="Verdana,宋体"/>
                </a:rPr>
                <a:t> </a:t>
              </a:r>
              <a:r>
                <a:rPr lang="en-US" altLang="zh-CN" sz="900" b="0" dirty="0">
                  <a:solidFill>
                    <a:srgbClr val="000000"/>
                  </a:solidFill>
                  <a:ea typeface="Verdana,宋体"/>
                </a:rPr>
                <a:t>             </a:t>
              </a:r>
              <a:endParaRPr lang="en-US" altLang="zh-CN" sz="900" b="0" dirty="0">
                <a:solidFill>
                  <a:srgbClr val="000000"/>
                </a:solidFill>
                <a:latin typeface="Tahoma" panose="020B0604030504040204" pitchFamily="34" charset="0"/>
                <a:ea typeface="Verdana,宋体"/>
              </a:endParaRPr>
            </a:p>
          </p:txBody>
        </p:sp>
      </p:grpSp>
      <p:grpSp>
        <p:nvGrpSpPr>
          <p:cNvPr id="5127" name="Group 14"/>
          <p:cNvGrpSpPr/>
          <p:nvPr/>
        </p:nvGrpSpPr>
        <p:grpSpPr>
          <a:xfrm>
            <a:off x="4314825" y="3143250"/>
            <a:ext cx="0" cy="290513"/>
            <a:chOff x="0" y="0"/>
            <a:chExt cx="0" cy="183"/>
          </a:xfrm>
        </p:grpSpPr>
        <p:sp>
          <p:nvSpPr>
            <p:cNvPr id="5135" name="Rectangle 15"/>
            <p:cNvSpPr/>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136" name="Rectangle 16"/>
            <p:cNvSpPr/>
            <p:nvPr/>
          </p:nvSpPr>
          <p:spPr>
            <a:xfrm>
              <a:off x="0" y="0"/>
              <a:ext cx="0" cy="18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latin typeface="Tahoma" panose="020B0604030504040204" pitchFamily="34" charset="0"/>
                  <a:ea typeface="Verdana,宋体"/>
                  <a:hlinkClick r:id="rId2"/>
                </a:rPr>
                <a:t>  </a:t>
              </a:r>
              <a:r>
                <a:rPr lang="en-US" altLang="zh-CN" sz="1300" b="0" dirty="0">
                  <a:solidFill>
                    <a:srgbClr val="000000"/>
                  </a:solidFill>
                  <a:ea typeface="Verdana,宋体"/>
                </a:rPr>
                <a:t> </a:t>
              </a:r>
              <a:r>
                <a:rPr lang="en-US" altLang="zh-CN" sz="900" b="0" dirty="0">
                  <a:solidFill>
                    <a:srgbClr val="000000"/>
                  </a:solidFill>
                  <a:ea typeface="Verdana,宋体"/>
                </a:rPr>
                <a:t>             </a:t>
              </a:r>
              <a:endParaRPr lang="en-US" altLang="zh-CN" sz="900" b="0" dirty="0">
                <a:solidFill>
                  <a:srgbClr val="000000"/>
                </a:solidFill>
                <a:latin typeface="Tahoma" panose="020B0604030504040204" pitchFamily="34" charset="0"/>
                <a:ea typeface="Verdana,宋体"/>
              </a:endParaRPr>
            </a:p>
          </p:txBody>
        </p:sp>
      </p:grpSp>
      <p:grpSp>
        <p:nvGrpSpPr>
          <p:cNvPr id="5128" name="Group 17"/>
          <p:cNvGrpSpPr/>
          <p:nvPr/>
        </p:nvGrpSpPr>
        <p:grpSpPr>
          <a:xfrm>
            <a:off x="4303713" y="3143250"/>
            <a:ext cx="0" cy="290513"/>
            <a:chOff x="0" y="0"/>
            <a:chExt cx="0" cy="183"/>
          </a:xfrm>
        </p:grpSpPr>
        <p:sp>
          <p:nvSpPr>
            <p:cNvPr id="5133" name="Rectangle 18"/>
            <p:cNvSpPr/>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134" name="Rectangle 19"/>
            <p:cNvSpPr/>
            <p:nvPr/>
          </p:nvSpPr>
          <p:spPr>
            <a:xfrm>
              <a:off x="0" y="0"/>
              <a:ext cx="0" cy="18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latin typeface="Tahoma" panose="020B0604030504040204" pitchFamily="34" charset="0"/>
                  <a:ea typeface="Verdana,宋体"/>
                  <a:hlinkClick r:id="rId3"/>
                </a:rPr>
                <a:t>  </a:t>
              </a:r>
              <a:r>
                <a:rPr lang="en-US" altLang="zh-CN" sz="1300" b="0" dirty="0">
                  <a:solidFill>
                    <a:srgbClr val="000000"/>
                  </a:solidFill>
                  <a:ea typeface="Verdana,宋体"/>
                </a:rPr>
                <a:t> </a:t>
              </a:r>
              <a:r>
                <a:rPr lang="en-US" altLang="zh-CN" sz="900" b="0" dirty="0">
                  <a:solidFill>
                    <a:srgbClr val="000000"/>
                  </a:solidFill>
                  <a:ea typeface="Verdana,宋体"/>
                </a:rPr>
                <a:t>             </a:t>
              </a:r>
              <a:endParaRPr lang="en-US" altLang="zh-CN" sz="900" b="0" dirty="0">
                <a:solidFill>
                  <a:srgbClr val="000000"/>
                </a:solidFill>
                <a:latin typeface="Tahoma" panose="020B0604030504040204" pitchFamily="34" charset="0"/>
                <a:ea typeface="Verdana,宋体"/>
              </a:endParaRPr>
            </a:p>
          </p:txBody>
        </p:sp>
      </p:grpSp>
      <p:sp>
        <p:nvSpPr>
          <p:cNvPr id="5129" name="Text Box 24"/>
          <p:cNvSpPr txBox="1"/>
          <p:nvPr/>
        </p:nvSpPr>
        <p:spPr>
          <a:xfrm>
            <a:off x="4511675" y="955675"/>
            <a:ext cx="4451350" cy="8239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4800" b="0" dirty="0">
                <a:solidFill>
                  <a:schemeClr val="hlink"/>
                </a:solidFill>
                <a:ea typeface="黑体" panose="02010609060101010101" pitchFamily="49" charset="-122"/>
              </a:rPr>
              <a:t>数据库系统概论</a:t>
            </a:r>
            <a:endParaRPr lang="zh-CN" altLang="en-US" sz="4800" b="0" dirty="0">
              <a:solidFill>
                <a:schemeClr val="hlink"/>
              </a:solidFill>
              <a:ea typeface="黑体" panose="02010609060101010101" pitchFamily="49" charset="-122"/>
            </a:endParaRPr>
          </a:p>
        </p:txBody>
      </p:sp>
      <p:sp>
        <p:nvSpPr>
          <p:cNvPr id="5130" name="Text Box 25"/>
          <p:cNvSpPr txBox="1"/>
          <p:nvPr/>
        </p:nvSpPr>
        <p:spPr>
          <a:xfrm>
            <a:off x="4640263" y="2636838"/>
            <a:ext cx="417671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chemeClr val="tx1"/>
                </a:solidFill>
                <a:cs typeface="Arial" panose="020B0604020202020204" pitchFamily="34" charset="0"/>
              </a:rPr>
              <a:t>主讲   丁晓锋</a:t>
            </a:r>
            <a:endParaRPr lang="zh-CN" altLang="en-US" sz="3600" b="0" dirty="0">
              <a:solidFill>
                <a:schemeClr val="tx1"/>
              </a:solidFill>
              <a:ea typeface="Arial" panose="020B0604020202020204" pitchFamily="34" charset="0"/>
            </a:endParaRPr>
          </a:p>
        </p:txBody>
      </p:sp>
      <p:sp>
        <p:nvSpPr>
          <p:cNvPr id="5131" name="Text Box 26"/>
          <p:cNvSpPr txBox="1"/>
          <p:nvPr/>
        </p:nvSpPr>
        <p:spPr>
          <a:xfrm>
            <a:off x="4724400" y="3933825"/>
            <a:ext cx="4527550" cy="20621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b="0" dirty="0">
                <a:solidFill>
                  <a:srgbClr val="FF0000"/>
                </a:solidFill>
                <a:latin typeface="楷体_GB2312" pitchFamily="49" charset="-122"/>
                <a:ea typeface="楷体_GB2312" pitchFamily="49" charset="-122"/>
              </a:rPr>
              <a:t>华中科技大学</a:t>
            </a:r>
            <a:endParaRPr lang="zh-CN" altLang="en-US" b="0" dirty="0">
              <a:solidFill>
                <a:srgbClr val="FF0000"/>
              </a:solidFill>
              <a:latin typeface="楷体_GB2312" pitchFamily="49" charset="-122"/>
              <a:ea typeface="楷体_GB2312" pitchFamily="49" charset="-122"/>
            </a:endParaRPr>
          </a:p>
          <a:p>
            <a:pPr marL="0" lvl="0" indent="0" eaLnBrk="1" hangingPunct="1">
              <a:spcBef>
                <a:spcPct val="0"/>
              </a:spcBef>
              <a:buClrTx/>
              <a:buFontTx/>
              <a:buNone/>
            </a:pPr>
            <a:r>
              <a:rPr lang="zh-CN" altLang="en-US" b="0" dirty="0">
                <a:solidFill>
                  <a:srgbClr val="FF0000"/>
                </a:solidFill>
                <a:latin typeface="楷体_GB2312" pitchFamily="49" charset="-122"/>
                <a:ea typeface="楷体_GB2312" pitchFamily="49" charset="-122"/>
              </a:rPr>
              <a:t>计算机学院 </a:t>
            </a:r>
            <a:endParaRPr lang="zh-CN" altLang="en-US" b="0" dirty="0">
              <a:solidFill>
                <a:srgbClr val="FF0000"/>
              </a:solidFill>
              <a:latin typeface="楷体_GB2312" pitchFamily="49" charset="-122"/>
              <a:ea typeface="楷体_GB2312" pitchFamily="49" charset="-122"/>
            </a:endParaRPr>
          </a:p>
          <a:p>
            <a:pPr marL="0" lvl="0" indent="0" eaLnBrk="1" hangingPunct="1">
              <a:spcBef>
                <a:spcPct val="0"/>
              </a:spcBef>
              <a:buClrTx/>
              <a:buFontTx/>
              <a:buNone/>
            </a:pPr>
            <a:endParaRPr lang="zh-CN" altLang="en-US" b="0" dirty="0">
              <a:solidFill>
                <a:srgbClr val="FF0000"/>
              </a:solidFill>
              <a:latin typeface="楷体_GB2312" pitchFamily="49" charset="-122"/>
              <a:ea typeface="楷体_GB2312" pitchFamily="49" charset="-122"/>
            </a:endParaRPr>
          </a:p>
          <a:p>
            <a:pPr marL="0" lvl="0" indent="0" eaLnBrk="1" hangingPunct="1">
              <a:spcBef>
                <a:spcPct val="0"/>
              </a:spcBef>
              <a:buClrTx/>
              <a:buFontTx/>
              <a:buNone/>
            </a:pPr>
            <a:r>
              <a:rPr lang="en-US" altLang="zh-CN" b="0" dirty="0">
                <a:solidFill>
                  <a:srgbClr val="FF0000"/>
                </a:solidFill>
                <a:latin typeface="楷体_GB2312" pitchFamily="49" charset="-122"/>
                <a:ea typeface="楷体_GB2312" pitchFamily="49" charset="-122"/>
              </a:rPr>
              <a:t>2026</a:t>
            </a:r>
            <a:r>
              <a:rPr lang="zh-CN" altLang="en-US" b="0" dirty="0">
                <a:solidFill>
                  <a:srgbClr val="FF0000"/>
                </a:solidFill>
                <a:latin typeface="楷体_GB2312" pitchFamily="49" charset="-122"/>
                <a:ea typeface="楷体_GB2312" pitchFamily="49" charset="-122"/>
              </a:rPr>
              <a:t>年	春</a:t>
            </a:r>
            <a:endParaRPr lang="zh-CN" altLang="en-US" b="0" dirty="0">
              <a:solidFill>
                <a:srgbClr val="FF0000"/>
              </a:solidFill>
              <a:latin typeface="楷体_GB2312" pitchFamily="49" charset="-122"/>
              <a:ea typeface="楷体_GB2312" pitchFamily="49" charset="-122"/>
            </a:endParaRPr>
          </a:p>
        </p:txBody>
      </p:sp>
      <p:pic>
        <p:nvPicPr>
          <p:cNvPr id="5132" name="图片 1"/>
          <p:cNvPicPr>
            <a:picLocks noChangeAspect="1"/>
          </p:cNvPicPr>
          <p:nvPr/>
        </p:nvPicPr>
        <p:blipFill>
          <a:blip r:embed="rId4"/>
          <a:stretch>
            <a:fillRect/>
          </a:stretch>
        </p:blipFill>
        <p:spPr>
          <a:xfrm>
            <a:off x="531813" y="1277938"/>
            <a:ext cx="3422650" cy="40005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2"/>
          <p:cNvSpPr txBox="1">
            <a:spLocks noGrp="1"/>
          </p:cNvSpPr>
          <p:nvPr>
            <p:ph type="ftr" sz="quarter" idx="3"/>
          </p:nvPr>
        </p:nvSpPr>
        <p:spPr>
          <a:ln/>
        </p:spPr>
        <p:txBody>
          <a:bodyPr/>
          <a:p>
            <a:pPr marL="0" indent="0" algn="ctr" eaLnBrk="1" hangingPunct="1">
              <a:spcBef>
                <a:spcPct val="0"/>
              </a:spcBef>
              <a:buClrTx/>
              <a:buFontTx/>
              <a:buNone/>
            </a:pPr>
            <a:r>
              <a:rPr kumimoji="1" lang="en-US" altLang="zh-CN" sz="1400" b="0" dirty="0">
                <a:solidFill>
                  <a:srgbClr val="6600FF"/>
                </a:solidFill>
                <a:latin typeface="+mn-lt"/>
                <a:ea typeface="+mn-ea"/>
                <a:cs typeface="+mn-cs"/>
              </a:rPr>
              <a:t>An Introduction to Database System</a:t>
            </a:r>
            <a:endParaRPr kumimoji="1" lang="en-US" altLang="zh-CN" sz="1400" b="0" dirty="0">
              <a:solidFill>
                <a:srgbClr val="6600FF"/>
              </a:solidFill>
              <a:latin typeface="+mn-lt"/>
              <a:ea typeface="+mn-ea"/>
              <a:cs typeface="+mn-cs"/>
            </a:endParaRPr>
          </a:p>
        </p:txBody>
      </p:sp>
      <p:sp>
        <p:nvSpPr>
          <p:cNvPr id="7171" name="Rectangle 2"/>
          <p:cNvSpPr/>
          <p:nvPr/>
        </p:nvSpPr>
        <p:spPr>
          <a:xfrm>
            <a:off x="762000" y="1981200"/>
            <a:ext cx="7620000" cy="3886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lnSpc>
                <a:spcPct val="110000"/>
              </a:lnSpc>
              <a:buClr>
                <a:srgbClr val="FF0000"/>
              </a:buClr>
            </a:pPr>
            <a:r>
              <a:rPr lang="en-US" altLang="zh-CN" sz="2800" dirty="0">
                <a:solidFill>
                  <a:schemeClr val="tx1"/>
                </a:solidFill>
                <a:cs typeface="Arial" panose="020B0604020202020204" pitchFamily="34" charset="0"/>
              </a:rPr>
              <a:t>Name:  Xiaofeng Ding </a:t>
            </a:r>
            <a:r>
              <a:rPr lang="zh-CN" altLang="en-US" sz="2800" dirty="0">
                <a:solidFill>
                  <a:schemeClr val="tx1"/>
                </a:solidFill>
                <a:cs typeface="Arial" panose="020B0604020202020204" pitchFamily="34" charset="0"/>
              </a:rPr>
              <a:t>丁晓锋</a:t>
            </a:r>
            <a:endParaRPr lang="zh-CN" altLang="en-US" sz="2800" dirty="0">
              <a:solidFill>
                <a:schemeClr val="tx1"/>
              </a:solidFill>
              <a:cs typeface="Arial" panose="020B0604020202020204" pitchFamily="34" charset="0"/>
            </a:endParaRPr>
          </a:p>
          <a:p>
            <a:pPr marL="342900" lvl="0" indent="-342900" eaLnBrk="1" hangingPunct="1">
              <a:lnSpc>
                <a:spcPct val="110000"/>
              </a:lnSpc>
              <a:spcAft>
                <a:spcPct val="20000"/>
              </a:spcAft>
              <a:buClr>
                <a:srgbClr val="FF0000"/>
              </a:buClr>
            </a:pPr>
            <a:r>
              <a:rPr lang="en-US" altLang="zh-CN" sz="2800" dirty="0">
                <a:solidFill>
                  <a:schemeClr val="tx1"/>
                </a:solidFill>
                <a:cs typeface="Arial" panose="020B0604020202020204" pitchFamily="34" charset="0"/>
              </a:rPr>
              <a:t>Email:  xfding@hust.edu.cn</a:t>
            </a:r>
            <a:endParaRPr lang="en-US" altLang="zh-CN" sz="2800" dirty="0">
              <a:solidFill>
                <a:schemeClr val="tx1"/>
              </a:solidFill>
              <a:cs typeface="Arial" panose="020B0604020202020204" pitchFamily="34" charset="0"/>
            </a:endParaRPr>
          </a:p>
          <a:p>
            <a:pPr marL="342900" lvl="0" indent="-342900" eaLnBrk="1" hangingPunct="1">
              <a:lnSpc>
                <a:spcPct val="110000"/>
              </a:lnSpc>
              <a:spcAft>
                <a:spcPct val="20000"/>
              </a:spcAft>
              <a:buClr>
                <a:srgbClr val="FF0000"/>
              </a:buClr>
            </a:pPr>
            <a:r>
              <a:rPr lang="en-US" altLang="zh-CN" sz="2800" dirty="0">
                <a:solidFill>
                  <a:schemeClr val="tx1"/>
                </a:solidFill>
                <a:cs typeface="Arial" panose="020B0604020202020204" pitchFamily="34" charset="0"/>
              </a:rPr>
              <a:t>QQ/Wechat:  19237113</a:t>
            </a:r>
            <a:endParaRPr lang="en-US" altLang="zh-CN" sz="2800" dirty="0">
              <a:solidFill>
                <a:schemeClr val="tx1"/>
              </a:solidFill>
              <a:cs typeface="Arial" panose="020B0604020202020204" pitchFamily="34" charset="0"/>
            </a:endParaRPr>
          </a:p>
          <a:p>
            <a:pPr marL="342900" lvl="0" indent="-342900" eaLnBrk="1" hangingPunct="1">
              <a:lnSpc>
                <a:spcPct val="110000"/>
              </a:lnSpc>
              <a:spcAft>
                <a:spcPct val="20000"/>
              </a:spcAft>
              <a:buClr>
                <a:srgbClr val="FF0000"/>
              </a:buClr>
            </a:pPr>
            <a:r>
              <a:rPr lang="en-US" altLang="zh-CN" sz="2800" dirty="0">
                <a:solidFill>
                  <a:schemeClr val="tx1"/>
                </a:solidFill>
                <a:cs typeface="Arial" panose="020B0604020202020204" pitchFamily="34" charset="0"/>
              </a:rPr>
              <a:t>Office: D5-224  </a:t>
            </a:r>
            <a:r>
              <a:rPr lang="zh-CN" altLang="en-US" sz="2800" dirty="0">
                <a:solidFill>
                  <a:schemeClr val="tx1"/>
                </a:solidFill>
                <a:cs typeface="Arial" panose="020B0604020202020204" pitchFamily="34" charset="0"/>
              </a:rPr>
              <a:t>计算机大楼 </a:t>
            </a:r>
            <a:r>
              <a:rPr lang="en-US" altLang="zh-CN" sz="2800" dirty="0">
                <a:solidFill>
                  <a:schemeClr val="tx1"/>
                </a:solidFill>
                <a:cs typeface="Arial" panose="020B0604020202020204" pitchFamily="34" charset="0"/>
              </a:rPr>
              <a:t>801</a:t>
            </a:r>
            <a:endParaRPr lang="en-US" altLang="zh-CN" sz="2800" dirty="0">
              <a:solidFill>
                <a:schemeClr val="tx1"/>
              </a:solidFill>
              <a:cs typeface="Arial" panose="020B0604020202020204" pitchFamily="34" charset="0"/>
            </a:endParaRPr>
          </a:p>
          <a:p>
            <a:pPr marL="342900" lvl="0" indent="-342900" eaLnBrk="1" hangingPunct="1">
              <a:lnSpc>
                <a:spcPct val="110000"/>
              </a:lnSpc>
              <a:spcAft>
                <a:spcPct val="20000"/>
              </a:spcAft>
              <a:buClr>
                <a:srgbClr val="FF0000"/>
              </a:buClr>
            </a:pPr>
            <a:r>
              <a:rPr lang="en-US" altLang="zh-CN" sz="2800" dirty="0">
                <a:solidFill>
                  <a:schemeClr val="tx1"/>
                </a:solidFill>
                <a:cs typeface="Arial" panose="020B0604020202020204" pitchFamily="34" charset="0"/>
              </a:rPr>
              <a:t>Research Interests: vector database, graph database, spatial database, data privacy, query processing </a:t>
            </a:r>
            <a:endParaRPr lang="en-US" altLang="zh-CN" sz="2800" dirty="0">
              <a:solidFill>
                <a:schemeClr val="tx1"/>
              </a:solidFill>
              <a:cs typeface="Arial" panose="020B0604020202020204" pitchFamily="34" charset="0"/>
            </a:endParaRPr>
          </a:p>
          <a:p>
            <a:pPr marL="342900" lvl="0" indent="-342900" eaLnBrk="1" hangingPunct="1">
              <a:lnSpc>
                <a:spcPct val="110000"/>
              </a:lnSpc>
              <a:spcAft>
                <a:spcPct val="20000"/>
              </a:spcAft>
              <a:buClr>
                <a:srgbClr val="FF0000"/>
              </a:buClr>
              <a:buNone/>
            </a:pPr>
            <a:r>
              <a:rPr lang="en-US" altLang="zh-CN" sz="2800" dirty="0">
                <a:solidFill>
                  <a:schemeClr val="tx1"/>
                </a:solidFill>
                <a:cs typeface="Arial" panose="020B0604020202020204" pitchFamily="34" charset="0"/>
              </a:rPr>
              <a:t>    </a:t>
            </a:r>
            <a:endParaRPr lang="en-US" altLang="zh-CN" sz="2800" dirty="0">
              <a:solidFill>
                <a:schemeClr val="accent2"/>
              </a:solidFill>
              <a:latin typeface="Arial" panose="020B0604020202020204" pitchFamily="34" charset="0"/>
              <a:ea typeface="Arial" panose="020B0604020202020204" pitchFamily="34" charset="0"/>
            </a:endParaRPr>
          </a:p>
        </p:txBody>
      </p:sp>
      <p:sp>
        <p:nvSpPr>
          <p:cNvPr id="7172"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Who am I?</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5" name="Rectangle 2"/>
          <p:cNvSpPr>
            <a:spLocks noGrp="1"/>
          </p:cNvSpPr>
          <p:nvPr>
            <p:ph type="title"/>
          </p:nvPr>
        </p:nvSpPr>
        <p:spPr>
          <a:ln/>
        </p:spPr>
        <p:txBody>
          <a:bodyPr vert="horz" wrap="square" lIns="91440" tIns="45720" rIns="91440" bIns="45720" anchor="ctr" anchorCtr="0"/>
          <a:p>
            <a:pPr eaLnBrk="1" hangingPunct="1"/>
            <a:r>
              <a:rPr lang="zh-CN" altLang="en-US" dirty="0"/>
              <a:t>教材及参考书</a:t>
            </a:r>
            <a:endParaRPr lang="zh-CN" altLang="en-US" dirty="0"/>
          </a:p>
        </p:txBody>
      </p:sp>
      <p:sp>
        <p:nvSpPr>
          <p:cNvPr id="8196" name="Rectangle 3"/>
          <p:cNvSpPr>
            <a:spLocks noGrp="1" noChangeArrowheads="1"/>
          </p:cNvSpPr>
          <p:nvPr>
            <p:ph idx="1"/>
          </p:nvPr>
        </p:nvSpPr>
        <p:spPr>
          <a:xfrm>
            <a:off x="685800" y="1295400"/>
            <a:ext cx="7772400" cy="4572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0" cap="none" spc="0" normalizeH="0" baseline="0" noProof="0" dirty="0" smtClean="0">
                <a:ln>
                  <a:noFill/>
                </a:ln>
                <a:solidFill>
                  <a:srgbClr val="0000FF"/>
                </a:solidFill>
                <a:effectLst/>
                <a:uLnTx/>
                <a:uFillTx/>
                <a:latin typeface="+mn-lt"/>
                <a:ea typeface="+mn-ea"/>
                <a:cs typeface="+mn-cs"/>
                <a:sym typeface="Wingdings" panose="05000000000000000000" pitchFamily="2" charset="2"/>
              </a:rPr>
              <a:t>  </a:t>
            </a:r>
            <a:r>
              <a:rPr kumimoji="1" lang="zh-CN" altLang="en-US" sz="3200" b="1" i="0" u="none" strike="noStrike" kern="0" cap="none" spc="0" normalizeH="0" baseline="0" noProof="0" dirty="0" smtClean="0">
                <a:ln>
                  <a:noFill/>
                </a:ln>
                <a:solidFill>
                  <a:srgbClr val="FF0000"/>
                </a:solidFill>
                <a:effectLst/>
                <a:uLnTx/>
                <a:uFillTx/>
                <a:latin typeface="+mn-lt"/>
                <a:ea typeface="隶书" panose="02010509060101010101" charset="-122"/>
                <a:cs typeface="+mn-cs"/>
              </a:rPr>
              <a:t>教材</a:t>
            </a:r>
            <a:endParaRPr kumimoji="1"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a:pPr>
            <a:r>
              <a:rPr kumimoji="1" lang="zh-CN" altLang="en-US"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王珊，</a:t>
            </a:r>
            <a:r>
              <a:rPr kumimoji="1"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mn-ea"/>
              </a:rPr>
              <a:t>杜小勇</a:t>
            </a:r>
            <a:r>
              <a:rPr kumimoji="1" lang="zh-CN" altLang="en-US"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著</a:t>
            </a:r>
            <a:r>
              <a:rPr kumimoji="1" lang="en-US" altLang="zh-CN"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   </a:t>
            </a:r>
            <a:r>
              <a:rPr kumimoji="1" lang="zh-CN" altLang="en-US"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数据库系统概论</a:t>
            </a:r>
            <a:r>
              <a:rPr kumimoji="1" lang="en-US" altLang="zh-CN"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a:t>
            </a:r>
            <a:r>
              <a:rPr kumimoji="1" lang="zh-CN" altLang="en-US"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第六版</a:t>
            </a:r>
            <a:r>
              <a:rPr kumimoji="1" lang="en-US" altLang="zh-CN"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  </a:t>
            </a:r>
            <a:r>
              <a:rPr kumimoji="1" lang="zh-CN" altLang="en-US"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北京：高等教育出版社，</a:t>
            </a:r>
            <a:r>
              <a:rPr kumimoji="1" lang="en-US" altLang="zh-CN"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2023</a:t>
            </a:r>
            <a:r>
              <a:rPr kumimoji="1" lang="zh-CN" altLang="en-US"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rPr>
              <a:t>年</a:t>
            </a:r>
            <a:endParaRPr kumimoji="1" lang="en-US" altLang="zh-CN"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endParaRPr>
          </a:p>
          <a:p>
            <a:pPr marL="742950" marR="0" lvl="1" indent="-28575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
              <a:defRPr/>
            </a:pP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mn-ea"/>
              </a:rPr>
              <a:t>Jeffrey.D.Ullman</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 Jennifer </a:t>
            </a: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mn-ea"/>
              </a:rPr>
              <a:t>Widom</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 .</a:t>
            </a:r>
            <a:r>
              <a:rPr kumimoji="1" lang="en-US" altLang="zh-CN" sz="2000" b="1" i="0" u="none" strike="noStrike" kern="0" cap="none" spc="0" normalizeH="0" baseline="0" noProof="0" dirty="0" smtClean="0">
                <a:ln>
                  <a:noFill/>
                </a:ln>
                <a:solidFill>
                  <a:schemeClr val="tx1"/>
                </a:solidFill>
                <a:effectLst/>
                <a:uLnTx/>
                <a:uFillTx/>
                <a:latin typeface="Arial" panose="020B0604020202020204" pitchFamily="34" charset="0"/>
                <a:ea typeface="+mn-ea"/>
              </a:rPr>
              <a:t> </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A First Course in Database Systems. Prentice Hall. (</a:t>
            </a:r>
            <a:r>
              <a:rPr kumimoji="1" lang="en-US" altLang="zh-CN" sz="2800" b="1" i="0" u="none" strike="noStrike" kern="0" cap="none" spc="0" normalizeH="0" baseline="0" noProof="0" dirty="0" smtClean="0">
                <a:ln>
                  <a:noFill/>
                </a:ln>
                <a:solidFill>
                  <a:schemeClr val="tx1"/>
                </a:solidFill>
                <a:effectLst/>
                <a:uLnTx/>
                <a:uFillTx/>
                <a:latin typeface="+mn-lt"/>
                <a:ea typeface="+mn-ea"/>
              </a:rPr>
              <a:t>3nd Edition</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a:t>
            </a:r>
            <a:endPar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endParaRPr>
          </a:p>
          <a:p>
            <a:pPr marL="742950" marR="0" lvl="1" indent="-28575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
              <a:defRPr/>
            </a:pP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mn-ea"/>
              </a:rPr>
              <a:t>Silberschatz</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 </a:t>
            </a: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mn-ea"/>
              </a:rPr>
              <a:t>Korth</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 &amp; </a:t>
            </a: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mn-ea"/>
              </a:rPr>
              <a:t>Sudarshan</a:t>
            </a:r>
            <a:endPar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endParaRPr>
          </a:p>
          <a:p>
            <a:pPr marL="457200" marR="0" lvl="1" indent="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None/>
              <a:defRPr/>
            </a:pP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   Database System Concepts. (</a:t>
            </a:r>
            <a:r>
              <a:rPr kumimoji="1" lang="en-US" altLang="zh-CN" sz="2800" b="1" i="0" u="none" strike="noStrike" kern="0" cap="none" spc="0" normalizeH="0" baseline="0" noProof="0" dirty="0" smtClean="0">
                <a:ln>
                  <a:noFill/>
                </a:ln>
                <a:solidFill>
                  <a:schemeClr val="tx1"/>
                </a:solidFill>
                <a:effectLst/>
                <a:uLnTx/>
                <a:uFillTx/>
                <a:latin typeface="+mn-lt"/>
                <a:ea typeface="+mn-ea"/>
              </a:rPr>
              <a:t>7th Edition</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a:t>
            </a:r>
            <a:endPar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endParaRPr>
          </a:p>
          <a:p>
            <a:pPr marL="742950" marR="0" lvl="1" indent="-28575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
              <a:defRPr/>
            </a:pP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CMU15445- Database Systems</a:t>
            </a:r>
            <a:endParaRPr kumimoji="1" lang="en-US" altLang="zh-CN" sz="2800" b="1" i="0" u="none" strike="noStrike" kern="0" cap="none" spc="0" normalizeH="0" baseline="0" noProof="0" dirty="0" smtClean="0">
              <a:ln>
                <a:noFill/>
              </a:ln>
              <a:solidFill>
                <a:schemeClr val="tx1"/>
              </a:solidFill>
              <a:effectLst/>
              <a:uLnTx/>
              <a:uFillTx/>
              <a:latin typeface="华文新魏" panose="02010800040101010101" pitchFamily="2" charset="-122"/>
              <a:ea typeface="+mn-ea"/>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1" lang="en-US" altLang="zh-CN" sz="3200" b="1" i="0" u="none" strike="noStrike" kern="0" cap="none" spc="0" normalizeH="0" baseline="0" noProof="0" dirty="0" smtClean="0">
              <a:ln>
                <a:noFill/>
              </a:ln>
              <a:solidFill>
                <a:srgbClr val="FF3300"/>
              </a:solidFill>
              <a:effectLst/>
              <a:uLnTx/>
              <a:uFillTx/>
              <a:latin typeface="Arial" panose="020B0604020202020204" pitchFamily="34" charset="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9" name="Rectangle 2"/>
          <p:cNvSpPr>
            <a:spLocks noGrp="1"/>
          </p:cNvSpPr>
          <p:nvPr>
            <p:ph type="title"/>
          </p:nvPr>
        </p:nvSpPr>
        <p:spPr>
          <a:ln/>
        </p:spPr>
        <p:txBody>
          <a:bodyPr vert="horz" wrap="square" lIns="91440" tIns="45720" rIns="91440" bIns="45720" anchor="ctr" anchorCtr="0"/>
          <a:p>
            <a:pPr eaLnBrk="1" hangingPunct="1"/>
            <a:r>
              <a:rPr lang="zh-CN" altLang="en-US" dirty="0"/>
              <a:t>教材及参考书</a:t>
            </a:r>
            <a:r>
              <a:rPr lang="en-US" altLang="zh-CN" dirty="0"/>
              <a:t>(</a:t>
            </a:r>
            <a:r>
              <a:rPr lang="zh-CN" altLang="en-US" dirty="0"/>
              <a:t>续</a:t>
            </a:r>
            <a:r>
              <a:rPr lang="en-US" altLang="zh-CN" dirty="0"/>
              <a:t>)</a:t>
            </a:r>
            <a:endParaRPr lang="en-US" altLang="zh-CN" dirty="0"/>
          </a:p>
        </p:txBody>
      </p:sp>
      <p:sp>
        <p:nvSpPr>
          <p:cNvPr id="9220" name="Rectangle 3"/>
          <p:cNvSpPr>
            <a:spLocks noGrp="1"/>
          </p:cNvSpPr>
          <p:nvPr>
            <p:ph idx="1"/>
          </p:nvPr>
        </p:nvSpPr>
        <p:spPr>
          <a:xfrm>
            <a:off x="685800" y="1295400"/>
            <a:ext cx="7772400" cy="4876800"/>
          </a:xfrm>
          <a:ln/>
        </p:spPr>
        <p:txBody>
          <a:bodyPr vert="horz" wrap="square" lIns="91440" tIns="45720" rIns="91440" bIns="45720" anchor="t" anchorCtr="0"/>
          <a:p>
            <a:pPr eaLnBrk="1" hangingPunct="1">
              <a:buClrTx/>
              <a:buFontTx/>
              <a:buNone/>
            </a:pPr>
            <a:r>
              <a:rPr lang="en-US" altLang="zh-CN" sz="2000" dirty="0">
                <a:solidFill>
                  <a:srgbClr val="0000FF"/>
                </a:solidFill>
                <a:sym typeface="Wingdings" panose="05000000000000000000" pitchFamily="2" charset="2"/>
              </a:rPr>
              <a:t>  </a:t>
            </a:r>
            <a:r>
              <a:rPr lang="zh-CN" altLang="en-US" dirty="0">
                <a:solidFill>
                  <a:srgbClr val="FF0000"/>
                </a:solidFill>
                <a:ea typeface="隶书" panose="02010509060101010101" charset="-122"/>
              </a:rPr>
              <a:t>参考书</a:t>
            </a:r>
            <a:endParaRPr lang="zh-CN" altLang="en-US" dirty="0">
              <a:solidFill>
                <a:srgbClr val="FF0000"/>
              </a:solidFill>
              <a:ea typeface="隶书" panose="02010509060101010101" charset="-122"/>
            </a:endParaRPr>
          </a:p>
          <a:p>
            <a:pPr lvl="1" eaLnBrk="1" hangingPunct="1">
              <a:lnSpc>
                <a:spcPct val="110000"/>
              </a:lnSpc>
            </a:pPr>
            <a:r>
              <a:rPr lang="en-US" altLang="zh-CN" dirty="0">
                <a:latin typeface="Arial" panose="020B0604020202020204" pitchFamily="34" charset="0"/>
              </a:rPr>
              <a:t>Date C J, An Introduction to Database System (Ed.8), Addison-Wesley,2004</a:t>
            </a:r>
            <a:endParaRPr lang="en-US" altLang="zh-CN" dirty="0">
              <a:latin typeface="Arial" panose="020B0604020202020204" pitchFamily="34" charset="0"/>
            </a:endParaRPr>
          </a:p>
          <a:p>
            <a:pPr lvl="1" eaLnBrk="1" hangingPunct="1"/>
            <a:r>
              <a:rPr lang="en-US" altLang="zh-CN" dirty="0">
                <a:latin typeface="Arial" panose="020B0604020202020204" pitchFamily="34" charset="0"/>
              </a:rPr>
              <a:t>Hector Garcia-Molina, Jeffery Ullman, Jennifer Widom. DataBase Systems: The Complete Book. Prentice-Hall, 2008</a:t>
            </a:r>
            <a:endParaRPr lang="en-US" altLang="zh-CN" dirty="0">
              <a:latin typeface="Arial" panose="020B0604020202020204" pitchFamily="34" charset="0"/>
            </a:endParaRPr>
          </a:p>
          <a:p>
            <a:pPr lvl="1" eaLnBrk="1" hangingPunct="1">
              <a:buNone/>
            </a:pPr>
            <a:r>
              <a:rPr lang="en-US" altLang="zh-CN" dirty="0">
                <a:latin typeface="Arial" panose="020B0604020202020204" pitchFamily="34" charset="0"/>
              </a:rPr>
              <a:t>   </a:t>
            </a:r>
            <a:r>
              <a:rPr lang="en-US" altLang="zh-CN" sz="2400" dirty="0">
                <a:solidFill>
                  <a:schemeClr val="accent2"/>
                </a:solidFill>
                <a:latin typeface="Arial" panose="020B0604020202020204" pitchFamily="34" charset="0"/>
                <a:hlinkClick r:id="rId1"/>
              </a:rPr>
              <a:t>http://www-db.stanford.edu/~ullman/dscb.html</a:t>
            </a:r>
            <a:endParaRPr lang="en-US" altLang="zh-CN" sz="2400" dirty="0">
              <a:solidFill>
                <a:schemeClr val="accent2"/>
              </a:solidFill>
              <a:latin typeface="Arial" panose="020B0604020202020204" pitchFamily="34" charset="0"/>
            </a:endParaRPr>
          </a:p>
          <a:p>
            <a:pPr eaLnBrk="1" hangingPunct="1">
              <a:buNone/>
            </a:pPr>
            <a:endParaRPr lang="en-US" altLang="zh-CN" sz="2400" dirty="0">
              <a:solidFill>
                <a:schemeClr val="accent2"/>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a:spLocks noGrp="1"/>
          </p:cNvSpPr>
          <p:nvPr>
            <p:ph type="title"/>
          </p:nvPr>
        </p:nvSpPr>
        <p:spPr>
          <a:ln/>
        </p:spPr>
        <p:txBody>
          <a:bodyPr vert="horz" wrap="square" lIns="91440" tIns="45720" rIns="91440" bIns="45720" anchor="ctr" anchorCtr="0"/>
          <a:p>
            <a:pPr eaLnBrk="1" hangingPunct="1"/>
            <a:r>
              <a:rPr lang="zh-CN" altLang="en-US" dirty="0"/>
              <a:t>教材及参考书</a:t>
            </a:r>
            <a:r>
              <a:rPr lang="en-US" altLang="zh-CN" dirty="0"/>
              <a:t>(</a:t>
            </a:r>
            <a:r>
              <a:rPr lang="zh-CN" altLang="en-US" dirty="0"/>
              <a:t>续</a:t>
            </a:r>
            <a:r>
              <a:rPr lang="en-US" altLang="zh-CN" dirty="0"/>
              <a:t>)</a:t>
            </a:r>
            <a:endParaRPr lang="en-US" altLang="zh-CN" dirty="0"/>
          </a:p>
        </p:txBody>
      </p:sp>
      <p:sp>
        <p:nvSpPr>
          <p:cNvPr id="11268" name="Rectangle 3"/>
          <p:cNvSpPr>
            <a:spLocks noGrp="1"/>
          </p:cNvSpPr>
          <p:nvPr>
            <p:ph idx="1"/>
          </p:nvPr>
        </p:nvSpPr>
        <p:spPr>
          <a:xfrm>
            <a:off x="685800" y="1295400"/>
            <a:ext cx="7772400" cy="4876800"/>
          </a:xfrm>
          <a:ln/>
        </p:spPr>
        <p:txBody>
          <a:bodyPr vert="horz" wrap="square" lIns="91440" tIns="45720" rIns="91440" bIns="45720" anchor="t" anchorCtr="0"/>
          <a:p>
            <a:pPr eaLnBrk="1" hangingPunct="1">
              <a:buClrTx/>
              <a:buFontTx/>
              <a:buNone/>
            </a:pPr>
            <a:r>
              <a:rPr lang="en-US" altLang="zh-CN" sz="2000" dirty="0">
                <a:solidFill>
                  <a:srgbClr val="0000FF"/>
                </a:solidFill>
                <a:sym typeface="Wingdings" panose="05000000000000000000" pitchFamily="2" charset="2"/>
              </a:rPr>
              <a:t>  </a:t>
            </a:r>
            <a:r>
              <a:rPr lang="zh-CN" altLang="en-US" dirty="0">
                <a:solidFill>
                  <a:srgbClr val="FF0000"/>
                </a:solidFill>
                <a:ea typeface="隶书" panose="02010509060101010101" charset="-122"/>
              </a:rPr>
              <a:t>参考书</a:t>
            </a:r>
            <a:r>
              <a:rPr lang="en-US" altLang="zh-CN" dirty="0">
                <a:solidFill>
                  <a:srgbClr val="FF0000"/>
                </a:solidFill>
                <a:ea typeface="隶书" panose="02010509060101010101" charset="-122"/>
              </a:rPr>
              <a:t>(</a:t>
            </a:r>
            <a:r>
              <a:rPr lang="zh-CN" altLang="en-US" dirty="0">
                <a:solidFill>
                  <a:srgbClr val="FF0000"/>
                </a:solidFill>
                <a:ea typeface="隶书" panose="02010509060101010101" charset="-122"/>
              </a:rPr>
              <a:t>续</a:t>
            </a:r>
            <a:r>
              <a:rPr lang="en-US" altLang="zh-CN" dirty="0">
                <a:solidFill>
                  <a:srgbClr val="FF0000"/>
                </a:solidFill>
                <a:ea typeface="隶书" panose="02010509060101010101" charset="-122"/>
              </a:rPr>
              <a:t>)</a:t>
            </a:r>
            <a:endParaRPr lang="en-US" altLang="zh-CN" dirty="0">
              <a:solidFill>
                <a:srgbClr val="FF0000"/>
              </a:solidFill>
              <a:ea typeface="隶书" panose="02010509060101010101" charset="-122"/>
            </a:endParaRPr>
          </a:p>
          <a:p>
            <a:pPr lvl="1" eaLnBrk="1" hangingPunct="1">
              <a:lnSpc>
                <a:spcPct val="110000"/>
              </a:lnSpc>
            </a:pPr>
            <a:r>
              <a:rPr lang="zh-CN" altLang="en-US" dirty="0">
                <a:latin typeface="Arial" panose="020B0604020202020204" pitchFamily="34" charset="0"/>
              </a:rPr>
              <a:t>王珊</a:t>
            </a:r>
            <a:r>
              <a:rPr lang="en-US" altLang="zh-CN" dirty="0">
                <a:latin typeface="Arial" panose="020B0604020202020204" pitchFamily="34" charset="0"/>
              </a:rPr>
              <a:t>. </a:t>
            </a:r>
            <a:r>
              <a:rPr lang="zh-CN" altLang="en-US" dirty="0">
                <a:latin typeface="Arial" panose="020B0604020202020204" pitchFamily="34" charset="0"/>
              </a:rPr>
              <a:t>数据库系统概论学习指导与习题解答</a:t>
            </a:r>
            <a:r>
              <a:rPr lang="en-US" altLang="zh-CN" dirty="0">
                <a:latin typeface="Arial" panose="020B0604020202020204" pitchFamily="34" charset="0"/>
              </a:rPr>
              <a:t>. </a:t>
            </a:r>
            <a:r>
              <a:rPr lang="zh-CN" altLang="en-US" dirty="0">
                <a:latin typeface="Arial" panose="020B0604020202020204" pitchFamily="34" charset="0"/>
              </a:rPr>
              <a:t>北京</a:t>
            </a:r>
            <a:r>
              <a:rPr lang="en-US" altLang="zh-CN" dirty="0">
                <a:latin typeface="Arial" panose="020B0604020202020204" pitchFamily="34" charset="0"/>
              </a:rPr>
              <a:t>:</a:t>
            </a:r>
            <a:r>
              <a:rPr lang="zh-CN" altLang="en-US" dirty="0">
                <a:latin typeface="Arial" panose="020B0604020202020204" pitchFamily="34" charset="0"/>
              </a:rPr>
              <a:t>高等教育出版社</a:t>
            </a:r>
            <a:r>
              <a:rPr lang="en-US" altLang="zh-CN" dirty="0">
                <a:latin typeface="Arial" panose="020B0604020202020204" pitchFamily="34" charset="0"/>
              </a:rPr>
              <a:t>.</a:t>
            </a:r>
            <a:endParaRPr lang="en-US" altLang="zh-CN"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291" name="Rectangle 2"/>
          <p:cNvSpPr>
            <a:spLocks noGrp="1"/>
          </p:cNvSpPr>
          <p:nvPr>
            <p:ph type="title"/>
          </p:nvPr>
        </p:nvSpPr>
        <p:spPr>
          <a:ln/>
        </p:spPr>
        <p:txBody>
          <a:bodyPr vert="horz" wrap="square" lIns="91440" tIns="45720" rIns="91440" bIns="45720" anchor="ctr" anchorCtr="0"/>
          <a:p>
            <a:pPr eaLnBrk="1" hangingPunct="1"/>
            <a:r>
              <a:rPr lang="zh-CN" altLang="en-US" dirty="0"/>
              <a:t>教材及参考书</a:t>
            </a:r>
            <a:r>
              <a:rPr lang="en-US" altLang="zh-CN" dirty="0"/>
              <a:t>(</a:t>
            </a:r>
            <a:r>
              <a:rPr lang="zh-CN" altLang="en-US" dirty="0"/>
              <a:t>续</a:t>
            </a:r>
            <a:r>
              <a:rPr lang="en-US" altLang="zh-CN" dirty="0"/>
              <a:t>)</a:t>
            </a:r>
            <a:endParaRPr lang="en-US" altLang="zh-CN" dirty="0"/>
          </a:p>
        </p:txBody>
      </p:sp>
      <p:sp>
        <p:nvSpPr>
          <p:cNvPr id="13316" name="Rectangle 3"/>
          <p:cNvSpPr>
            <a:spLocks noGrp="1" noChangeArrowheads="1"/>
          </p:cNvSpPr>
          <p:nvPr>
            <p:ph idx="1"/>
          </p:nvPr>
        </p:nvSpPr>
        <p:spPr>
          <a:xfrm>
            <a:off x="685800" y="1295400"/>
            <a:ext cx="7772400" cy="4876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rgbClr val="0000FF"/>
                </a:solidFill>
                <a:effectLst/>
                <a:uLnTx/>
                <a:uFillTx/>
                <a:latin typeface="+mn-lt"/>
                <a:ea typeface="+mn-ea"/>
                <a:cs typeface="+mn-cs"/>
                <a:sym typeface="Wingdings" panose="05000000000000000000" pitchFamily="2" charset="2"/>
              </a:rPr>
              <a:t>  </a:t>
            </a:r>
            <a:r>
              <a:rPr kumimoji="1" lang="zh-CN" altLang="en-US" sz="3200" b="1" i="0" u="none" strike="noStrike" kern="0" cap="none" spc="0" normalizeH="0" baseline="0" noProof="0" dirty="0" smtClean="0">
                <a:ln>
                  <a:noFill/>
                </a:ln>
                <a:solidFill>
                  <a:srgbClr val="FF0000"/>
                </a:solidFill>
                <a:effectLst/>
                <a:uLnTx/>
                <a:uFillTx/>
                <a:latin typeface="+mn-lt"/>
                <a:ea typeface="隶书" panose="02010509060101010101" charset="-122"/>
                <a:cs typeface="+mn-cs"/>
              </a:rPr>
              <a:t>上机软件</a:t>
            </a:r>
            <a:endParaRPr kumimoji="1" lang="zh-CN" altLang="en-US" sz="3200" b="1" i="0" u="none" strike="noStrike" kern="0" cap="none" spc="0" normalizeH="0" baseline="0" noProof="0" dirty="0" smtClean="0">
              <a:ln>
                <a:noFill/>
              </a:ln>
              <a:solidFill>
                <a:srgbClr val="FF0000"/>
              </a:solidFill>
              <a:effectLst/>
              <a:uLnTx/>
              <a:uFillTx/>
              <a:latin typeface="+mn-lt"/>
              <a:ea typeface="隶书" panose="02010509060101010101"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a:pPr>
            <a:r>
              <a:rPr kumimoji="1" lang="zh-CN" altLang="en-US" sz="2800" b="1" i="0" u="none" strike="noStrike" kern="0" cap="none" spc="0" normalizeH="0" baseline="0" noProof="0" dirty="0" smtClean="0">
                <a:ln>
                  <a:noFill/>
                </a:ln>
                <a:solidFill>
                  <a:schemeClr val="tx1"/>
                </a:solidFill>
                <a:effectLst/>
                <a:uLnTx/>
                <a:uFillTx/>
                <a:latin typeface="+mn-ea"/>
                <a:ea typeface="+mn-ea"/>
              </a:rPr>
              <a:t>华为</a:t>
            </a: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隶书" panose="02010509060101010101" charset="-122"/>
              </a:rPr>
              <a:t>GaussDB</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隶书" panose="02010509060101010101" charset="-122"/>
              </a:rPr>
              <a:t>/</a:t>
            </a: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隶书" panose="02010509060101010101" charset="-122"/>
              </a:rPr>
              <a:t>OpenGauss</a:t>
            </a:r>
            <a:endParaRPr kumimoji="1" lang="en-US" altLang="zh-CN" sz="2800" b="1" i="0" u="none" strike="noStrike" kern="0" cap="none" spc="0" normalizeH="0" baseline="0" noProof="0" dirty="0">
              <a:ln>
                <a:noFill/>
              </a:ln>
              <a:solidFill>
                <a:schemeClr val="tx1"/>
              </a:solidFill>
              <a:effectLst/>
              <a:uLnTx/>
              <a:uFillTx/>
              <a:latin typeface="Arial" panose="020B0604020202020204" pitchFamily="34" charset="0"/>
              <a:ea typeface="隶书" panose="02010509060101010101" charset="-122"/>
            </a:endParaRP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a:pPr>
            <a:r>
              <a:rPr kumimoji="1" lang="zh-CN" altLang="en-US" sz="2800" b="1" i="0" u="none" strike="noStrike" kern="0" cap="none" spc="0" normalizeH="0" baseline="0" noProof="0" dirty="0">
                <a:ln>
                  <a:noFill/>
                </a:ln>
                <a:solidFill>
                  <a:schemeClr val="tx1"/>
                </a:solidFill>
                <a:effectLst/>
                <a:uLnTx/>
                <a:uFillTx/>
                <a:latin typeface="Arial" panose="020B0604020202020204" pitchFamily="34" charset="0"/>
                <a:ea typeface="+mn-ea"/>
              </a:rPr>
              <a:t>头歌平台</a:t>
            </a:r>
            <a:endParaRPr kumimoji="1" lang="en-US" altLang="zh-CN" sz="2800" b="1" i="0" u="none" strike="noStrike" kern="0" cap="none" spc="0" normalizeH="0" baseline="0" noProof="0" dirty="0">
              <a:ln>
                <a:noFill/>
              </a:ln>
              <a:solidFill>
                <a:schemeClr val="tx1"/>
              </a:solidFill>
              <a:effectLst/>
              <a:uLnTx/>
              <a:uFillTx/>
              <a:latin typeface="Arial" panose="020B0604020202020204" pitchFamily="34" charset="0"/>
              <a:ea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a:pP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隶书" panose="02010509060101010101" charset="-122"/>
              </a:rPr>
              <a:t>Microsoft SQL Server 2008/2012</a:t>
            </a:r>
            <a:endPar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隶书" panose="02010509060101010101" charset="-122"/>
            </a:endParaRP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a:pPr>
            <a:r>
              <a:rPr kumimoji="1" lang="zh-CN" altLang="en-US"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开发工具</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(Delphi </a:t>
            </a: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mn-ea"/>
              </a:rPr>
              <a:t>XE,Visual</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 </a:t>
            </a:r>
            <a:r>
              <a:rPr kumimoji="1" lang="en-US" altLang="zh-CN" sz="2800" b="1" i="0" u="none" strike="noStrike" kern="0" cap="none" spc="0" normalizeH="0" baseline="0" noProof="0" dirty="0" err="1" smtClean="0">
                <a:ln>
                  <a:noFill/>
                </a:ln>
                <a:solidFill>
                  <a:schemeClr val="tx1"/>
                </a:solidFill>
                <a:effectLst/>
                <a:uLnTx/>
                <a:uFillTx/>
                <a:latin typeface="Arial" panose="020B0604020202020204" pitchFamily="34" charset="0"/>
                <a:ea typeface="+mn-ea"/>
              </a:rPr>
              <a:t>Studio,etc</a:t>
            </a:r>
            <a:r>
              <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rPr>
              <a:t>.)</a:t>
            </a:r>
            <a:endParaRPr kumimoji="1" lang="en-US" altLang="zh-CN" sz="2800" b="1" i="0" u="none" strike="noStrike" kern="0" cap="none" spc="0" normalizeH="0" baseline="0" noProof="0" dirty="0" smtClean="0">
              <a:ln>
                <a:noFill/>
              </a:ln>
              <a:solidFill>
                <a:schemeClr val="tx1"/>
              </a:solidFill>
              <a:effectLst/>
              <a:uLnTx/>
              <a:uFillTx/>
              <a:latin typeface="Arial" panose="020B0604020202020204" pitchFamily="34" charset="0"/>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5" name="Rectangle 2"/>
          <p:cNvSpPr>
            <a:spLocks noGrp="1"/>
          </p:cNvSpPr>
          <p:nvPr>
            <p:ph type="title"/>
          </p:nvPr>
        </p:nvSpPr>
        <p:spPr>
          <a:ln/>
        </p:spPr>
        <p:txBody>
          <a:bodyPr vert="horz" wrap="square" lIns="91440" tIns="45720" rIns="91440" bIns="45720" anchor="ctr" anchorCtr="0"/>
          <a:p>
            <a:pPr eaLnBrk="1" hangingPunct="1"/>
            <a:r>
              <a:rPr lang="zh-CN" altLang="en-US" dirty="0"/>
              <a:t>线上学习资源</a:t>
            </a:r>
            <a:br>
              <a:rPr lang="zh-CN" altLang="en-US" dirty="0"/>
            </a:br>
            <a:endParaRPr lang="en-US" altLang="zh-CN" dirty="0"/>
          </a:p>
        </p:txBody>
      </p:sp>
      <p:sp>
        <p:nvSpPr>
          <p:cNvPr id="13316" name="Rectangle 3"/>
          <p:cNvSpPr>
            <a:spLocks noGrp="1"/>
          </p:cNvSpPr>
          <p:nvPr>
            <p:ph idx="1"/>
          </p:nvPr>
        </p:nvSpPr>
        <p:spPr>
          <a:xfrm>
            <a:off x="685800" y="908050"/>
            <a:ext cx="7772400" cy="4876800"/>
          </a:xfrm>
          <a:ln/>
        </p:spPr>
        <p:txBody>
          <a:bodyPr vert="horz" wrap="square" lIns="91440" tIns="45720" rIns="91440" bIns="45720" anchor="t" anchorCtr="0"/>
          <a:p>
            <a:pPr eaLnBrk="1" hangingPunct="1">
              <a:buNone/>
            </a:pPr>
            <a:r>
              <a:rPr lang="en-US" altLang="zh-CN" sz="2000" dirty="0">
                <a:solidFill>
                  <a:srgbClr val="0000FF"/>
                </a:solidFill>
                <a:sym typeface="Wingdings" panose="05000000000000000000" pitchFamily="2" charset="2"/>
              </a:rPr>
              <a:t>  </a:t>
            </a:r>
            <a:r>
              <a:rPr lang="en-US" altLang="zh-CN" dirty="0">
                <a:solidFill>
                  <a:srgbClr val="FF0000"/>
                </a:solidFill>
                <a:ea typeface="隶书" panose="02010509060101010101" charset="-122"/>
              </a:rPr>
              <a:t>HUST-DB</a:t>
            </a:r>
            <a:r>
              <a:rPr lang="zh-CN" altLang="en-US" dirty="0">
                <a:solidFill>
                  <a:srgbClr val="FF0000"/>
                </a:solidFill>
                <a:ea typeface="隶书" panose="02010509060101010101" charset="-122"/>
              </a:rPr>
              <a:t>慕课</a:t>
            </a:r>
            <a:endParaRPr lang="zh-CN" altLang="en-US" dirty="0">
              <a:solidFill>
                <a:srgbClr val="FF0000"/>
              </a:solidFill>
              <a:ea typeface="隶书" panose="02010509060101010101" charset="-122"/>
            </a:endParaRPr>
          </a:p>
          <a:p>
            <a:pPr lvl="1" eaLnBrk="1" hangingPunct="1"/>
            <a:r>
              <a:rPr lang="zh-CN" altLang="en-US" dirty="0">
                <a:latin typeface="Arial" panose="020B0604020202020204" pitchFamily="34" charset="0"/>
                <a:ea typeface="隶书" panose="02010509060101010101" charset="-122"/>
              </a:rPr>
              <a:t>华中科技大学计算机学院</a:t>
            </a:r>
            <a:r>
              <a:rPr lang="en-US" altLang="zh-CN" dirty="0">
                <a:latin typeface="Arial" panose="020B0604020202020204" pitchFamily="34" charset="0"/>
                <a:ea typeface="隶书" panose="02010509060101010101" charset="-122"/>
              </a:rPr>
              <a:t>"</a:t>
            </a:r>
            <a:r>
              <a:rPr lang="zh-CN" altLang="en-US" dirty="0">
                <a:latin typeface="Arial" panose="020B0604020202020204" pitchFamily="34" charset="0"/>
                <a:ea typeface="隶书" panose="02010509060101010101" charset="-122"/>
              </a:rPr>
              <a:t>数据库系统原理”慕课，链接地址</a:t>
            </a:r>
            <a:r>
              <a:rPr lang="en-US" altLang="zh-CN" dirty="0">
                <a:latin typeface="Arial" panose="020B0604020202020204" pitchFamily="34" charset="0"/>
                <a:ea typeface="隶书" panose="02010509060101010101" charset="-122"/>
              </a:rPr>
              <a:t>: </a:t>
            </a:r>
            <a:r>
              <a:rPr lang="en-US" altLang="zh-CN" dirty="0">
                <a:latin typeface="Arial" panose="020B0604020202020204" pitchFamily="34" charset="0"/>
                <a:ea typeface="隶书" panose="02010509060101010101" charset="-122"/>
                <a:hlinkClick r:id="rId1"/>
              </a:rPr>
              <a:t>https://www.icourse163.org/course/HUST-1449788170</a:t>
            </a:r>
            <a:r>
              <a:rPr lang="en-US" altLang="zh-CN" dirty="0">
                <a:latin typeface="Arial" panose="020B0604020202020204" pitchFamily="34" charset="0"/>
                <a:ea typeface="隶书" panose="02010509060101010101" charset="-122"/>
              </a:rPr>
              <a:t> </a:t>
            </a:r>
            <a:endParaRPr lang="en-US" altLang="zh-CN" dirty="0">
              <a:latin typeface="Arial" panose="020B0604020202020204" pitchFamily="34" charset="0"/>
              <a:ea typeface="隶书" panose="02010509060101010101" charset="-122"/>
            </a:endParaRPr>
          </a:p>
          <a:p>
            <a:pPr lvl="1" eaLnBrk="1" hangingPunct="1"/>
            <a:r>
              <a:rPr lang="zh-CN" altLang="en-US" dirty="0">
                <a:latin typeface="Arial" panose="020B0604020202020204" pitchFamily="34" charset="0"/>
                <a:ea typeface="隶书" panose="02010509060101010101" charset="-122"/>
              </a:rPr>
              <a:t>按照慕课堂名称加入相应的慕课堂，并在慕课堂中实名填写相应的学校、班级、学号、姓名等个人信息。</a:t>
            </a:r>
            <a:endParaRPr lang="zh-CN" altLang="en-US" dirty="0">
              <a:latin typeface="Arial" panose="020B0604020202020204" pitchFamily="34" charset="0"/>
              <a:ea typeface="隶书" panose="020105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9" name="Rectangle 2"/>
          <p:cNvSpPr>
            <a:spLocks noGrp="1"/>
          </p:cNvSpPr>
          <p:nvPr>
            <p:ph type="title"/>
          </p:nvPr>
        </p:nvSpPr>
        <p:spPr>
          <a:ln/>
        </p:spPr>
        <p:txBody>
          <a:bodyPr vert="horz" wrap="square" lIns="91440" tIns="45720" rIns="91440" bIns="45720" anchor="ctr" anchorCtr="0"/>
          <a:p>
            <a:pPr eaLnBrk="1" hangingPunct="1"/>
            <a:r>
              <a:rPr lang="en-US" altLang="zh-CN" dirty="0"/>
              <a:t>Grading</a:t>
            </a:r>
            <a:endParaRPr lang="en-US" altLang="zh-CN" dirty="0"/>
          </a:p>
        </p:txBody>
      </p:sp>
      <p:sp>
        <p:nvSpPr>
          <p:cNvPr id="14340" name="Rectangle 3"/>
          <p:cNvSpPr>
            <a:spLocks noGrp="1"/>
          </p:cNvSpPr>
          <p:nvPr>
            <p:ph idx="1"/>
          </p:nvPr>
        </p:nvSpPr>
        <p:spPr>
          <a:xfrm>
            <a:off x="611188" y="1447800"/>
            <a:ext cx="7847012" cy="4718050"/>
          </a:xfrm>
          <a:ln/>
        </p:spPr>
        <p:txBody>
          <a:bodyPr vert="horz" wrap="square" lIns="91440" tIns="45720" rIns="91440" bIns="45720" anchor="t" anchorCtr="0"/>
          <a:p>
            <a:pPr eaLnBrk="1" hangingPunct="1">
              <a:lnSpc>
                <a:spcPct val="120000"/>
              </a:lnSpc>
              <a:spcBef>
                <a:spcPct val="10000"/>
              </a:spcBef>
              <a:spcAft>
                <a:spcPct val="10000"/>
              </a:spcAft>
              <a:buClrTx/>
            </a:pPr>
            <a:r>
              <a:rPr lang="en-US" altLang="zh-CN" dirty="0">
                <a:solidFill>
                  <a:srgbClr val="FF0000"/>
                </a:solidFill>
              </a:rPr>
              <a:t>Assignments: in-class &amp; out-of-class   </a:t>
            </a:r>
            <a:endParaRPr lang="en-US" altLang="zh-CN" dirty="0">
              <a:solidFill>
                <a:srgbClr val="FF0000"/>
              </a:solidFill>
            </a:endParaRPr>
          </a:p>
          <a:p>
            <a:pPr eaLnBrk="1" hangingPunct="1">
              <a:lnSpc>
                <a:spcPct val="120000"/>
              </a:lnSpc>
              <a:spcBef>
                <a:spcPct val="10000"/>
              </a:spcBef>
              <a:spcAft>
                <a:spcPct val="10000"/>
              </a:spcAft>
              <a:buClrTx/>
              <a:buNone/>
            </a:pPr>
            <a:r>
              <a:rPr lang="en-US" altLang="zh-CN" dirty="0">
                <a:solidFill>
                  <a:srgbClr val="FF0000"/>
                </a:solidFill>
              </a:rPr>
              <a:t>	15% of grade </a:t>
            </a:r>
            <a:r>
              <a:rPr lang="zh-CN" altLang="en-US" dirty="0">
                <a:solidFill>
                  <a:srgbClr val="FF0000"/>
                </a:solidFill>
              </a:rPr>
              <a:t>（学在华科大）</a:t>
            </a:r>
            <a:endParaRPr lang="en-US" altLang="zh-CN" dirty="0">
              <a:solidFill>
                <a:srgbClr val="FF0000"/>
              </a:solidFill>
            </a:endParaRPr>
          </a:p>
          <a:p>
            <a:pPr eaLnBrk="1" hangingPunct="1">
              <a:lnSpc>
                <a:spcPct val="120000"/>
              </a:lnSpc>
              <a:spcBef>
                <a:spcPct val="10000"/>
              </a:spcBef>
              <a:spcAft>
                <a:spcPct val="10000"/>
              </a:spcAft>
              <a:buClrTx/>
            </a:pPr>
            <a:r>
              <a:rPr lang="en-US" altLang="zh-CN" dirty="0">
                <a:solidFill>
                  <a:srgbClr val="FF0000"/>
                </a:solidFill>
              </a:rPr>
              <a:t>Middle: in-class test, 15% of grade</a:t>
            </a:r>
            <a:endParaRPr lang="en-US" altLang="zh-CN" dirty="0">
              <a:solidFill>
                <a:srgbClr val="FF0000"/>
              </a:solidFill>
            </a:endParaRPr>
          </a:p>
          <a:p>
            <a:pPr eaLnBrk="1" hangingPunct="1">
              <a:lnSpc>
                <a:spcPct val="120000"/>
              </a:lnSpc>
              <a:spcBef>
                <a:spcPct val="10000"/>
              </a:spcBef>
              <a:spcAft>
                <a:spcPct val="10000"/>
              </a:spcAft>
              <a:buClrTx/>
            </a:pPr>
            <a:r>
              <a:rPr lang="en-US" altLang="zh-CN" dirty="0">
                <a:solidFill>
                  <a:srgbClr val="FF0000"/>
                </a:solidFill>
              </a:rPr>
              <a:t>Final :   70%</a:t>
            </a:r>
            <a:endParaRPr lang="en-US" altLang="zh-CN" dirty="0">
              <a:solidFill>
                <a:srgbClr val="FF0000"/>
              </a:solidFill>
            </a:endParaRPr>
          </a:p>
          <a:p>
            <a:pPr eaLnBrk="1" hangingPunct="1">
              <a:lnSpc>
                <a:spcPct val="120000"/>
              </a:lnSpc>
              <a:spcBef>
                <a:spcPct val="10000"/>
              </a:spcBef>
              <a:spcAft>
                <a:spcPct val="10000"/>
              </a:spcAft>
              <a:buClrTx/>
              <a:buNone/>
            </a:pPr>
            <a:endParaRPr lang="en-US" altLang="zh-CN" dirty="0">
              <a:solidFill>
                <a:schemeClr val="tx1"/>
              </a:solidFill>
              <a:latin typeface="Arial" panose="020B0604020202020204" pitchFamily="34" charset="0"/>
              <a:ea typeface="黑体" panose="02010609060101010101" pitchFamily="49" charset="-122"/>
            </a:endParaRPr>
          </a:p>
          <a:p>
            <a:pPr eaLnBrk="1" hangingPunct="1">
              <a:lnSpc>
                <a:spcPct val="120000"/>
              </a:lnSpc>
              <a:spcBef>
                <a:spcPct val="10000"/>
              </a:spcBef>
              <a:spcAft>
                <a:spcPct val="10000"/>
              </a:spcAft>
              <a:buClrTx/>
              <a:buNone/>
            </a:pPr>
            <a:r>
              <a:rPr lang="en-US" altLang="zh-CN" dirty="0">
                <a:solidFill>
                  <a:schemeClr val="tx1"/>
                </a:solidFill>
                <a:latin typeface="Arial" panose="020B0604020202020204" pitchFamily="34" charset="0"/>
                <a:ea typeface="黑体" panose="02010609060101010101" pitchFamily="49" charset="-122"/>
              </a:rPr>
              <a:t>Final Test</a:t>
            </a:r>
            <a:r>
              <a:rPr lang="en-US" altLang="zh-CN" dirty="0">
                <a:solidFill>
                  <a:schemeClr val="tx1"/>
                </a:solidFill>
                <a:latin typeface="黑体" panose="02010609060101010101" pitchFamily="49" charset="-122"/>
                <a:ea typeface="黑体" panose="02010609060101010101" pitchFamily="49" charset="-122"/>
              </a:rPr>
              <a:t>:</a:t>
            </a:r>
            <a:r>
              <a:rPr lang="zh-CN" altLang="en-US" b="0" dirty="0">
                <a:solidFill>
                  <a:schemeClr val="tx1"/>
                </a:solidFill>
                <a:latin typeface="楷体_GB2312" pitchFamily="49" charset="-122"/>
                <a:ea typeface="楷体_GB2312" pitchFamily="49" charset="-122"/>
              </a:rPr>
              <a:t>第</a:t>
            </a:r>
            <a:r>
              <a:rPr lang="en-US" altLang="zh-CN" b="0" dirty="0">
                <a:solidFill>
                  <a:schemeClr val="tx1"/>
                </a:solidFill>
                <a:latin typeface="楷体_GB2312" pitchFamily="49" charset="-122"/>
                <a:ea typeface="楷体_GB2312" pitchFamily="49" charset="-122"/>
              </a:rPr>
              <a:t>17</a:t>
            </a:r>
            <a:r>
              <a:rPr lang="zh-CN" altLang="en-US" b="0" dirty="0">
                <a:solidFill>
                  <a:schemeClr val="tx1"/>
                </a:solidFill>
                <a:latin typeface="楷体_GB2312" pitchFamily="49" charset="-122"/>
                <a:ea typeface="楷体_GB2312" pitchFamily="49" charset="-122"/>
              </a:rPr>
              <a:t>周 星期四下午 </a:t>
            </a:r>
            <a:r>
              <a:rPr lang="en-US" altLang="zh-CN" b="0" dirty="0">
                <a:solidFill>
                  <a:schemeClr val="tx1"/>
                </a:solidFill>
                <a:latin typeface="楷体_GB2312" pitchFamily="49" charset="-122"/>
                <a:ea typeface="楷体_GB2312" pitchFamily="49" charset="-122"/>
              </a:rPr>
              <a:t>6</a:t>
            </a:r>
            <a:r>
              <a:rPr lang="zh-CN" altLang="en-US" b="0" dirty="0">
                <a:solidFill>
                  <a:schemeClr val="tx1"/>
                </a:solidFill>
                <a:latin typeface="楷体_GB2312" pitchFamily="49" charset="-122"/>
                <a:ea typeface="楷体_GB2312" pitchFamily="49" charset="-122"/>
              </a:rPr>
              <a:t>月</a:t>
            </a:r>
            <a:r>
              <a:rPr lang="en-US" altLang="zh-CN" b="0" dirty="0">
                <a:solidFill>
                  <a:schemeClr val="tx1"/>
                </a:solidFill>
                <a:latin typeface="楷体_GB2312" pitchFamily="49" charset="-122"/>
                <a:ea typeface="楷体_GB2312" pitchFamily="49" charset="-122"/>
              </a:rPr>
              <a:t>25</a:t>
            </a:r>
            <a:r>
              <a:rPr lang="zh-CN" altLang="en-US" b="0" dirty="0">
                <a:solidFill>
                  <a:schemeClr val="tx1"/>
                </a:solidFill>
                <a:latin typeface="楷体_GB2312" pitchFamily="49" charset="-122"/>
                <a:ea typeface="楷体_GB2312" pitchFamily="49" charset="-122"/>
              </a:rPr>
              <a:t>日</a:t>
            </a:r>
            <a:endParaRPr lang="zh-CN" altLang="en-US" b="0"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10000"/>
              </a:spcBef>
              <a:spcAft>
                <a:spcPct val="10000"/>
              </a:spcAft>
              <a:buClrTx/>
              <a:buNone/>
            </a:pP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7" name="Rectangle 2"/>
          <p:cNvSpPr>
            <a:spLocks noGrp="1"/>
          </p:cNvSpPr>
          <p:nvPr>
            <p:ph type="title"/>
          </p:nvPr>
        </p:nvSpPr>
        <p:spPr>
          <a:ln/>
        </p:spPr>
        <p:txBody>
          <a:bodyPr vert="horz" wrap="square" lIns="91440" tIns="45720" rIns="91440" bIns="45720" anchor="ctr" anchorCtr="0"/>
          <a:p>
            <a:pPr eaLnBrk="1" hangingPunct="1"/>
            <a:r>
              <a:rPr lang="en-US" altLang="zh-CN" dirty="0"/>
              <a:t>Optional</a:t>
            </a:r>
            <a:endParaRPr lang="en-US" altLang="zh-CN" dirty="0"/>
          </a:p>
        </p:txBody>
      </p:sp>
      <p:sp>
        <p:nvSpPr>
          <p:cNvPr id="16388" name="Rectangle 3"/>
          <p:cNvSpPr>
            <a:spLocks noGrp="1"/>
          </p:cNvSpPr>
          <p:nvPr>
            <p:ph idx="1"/>
          </p:nvPr>
        </p:nvSpPr>
        <p:spPr>
          <a:ln/>
        </p:spPr>
        <p:txBody>
          <a:bodyPr vert="horz" wrap="square" lIns="91440" tIns="45720" rIns="91440" bIns="45720" anchor="t" anchorCtr="0"/>
          <a:p>
            <a:pPr eaLnBrk="1" hangingPunct="1">
              <a:lnSpc>
                <a:spcPct val="110000"/>
              </a:lnSpc>
              <a:spcBef>
                <a:spcPct val="10000"/>
              </a:spcBef>
              <a:spcAft>
                <a:spcPct val="10000"/>
              </a:spcAft>
              <a:buClrTx/>
            </a:pPr>
            <a:r>
              <a:rPr lang="en-US" altLang="zh-CN" dirty="0">
                <a:solidFill>
                  <a:srgbClr val="FF0000"/>
                </a:solidFill>
              </a:rPr>
              <a:t>You will build an application using a relational database system (Huawei GaussDB, Microsoft SQL Server)</a:t>
            </a:r>
            <a:endParaRPr lang="en-US" altLang="zh-CN" dirty="0">
              <a:solidFill>
                <a:srgbClr val="FF0000"/>
              </a:solidFill>
            </a:endParaRPr>
          </a:p>
          <a:p>
            <a:pPr eaLnBrk="1" hangingPunct="1">
              <a:lnSpc>
                <a:spcPct val="110000"/>
              </a:lnSpc>
              <a:spcBef>
                <a:spcPct val="10000"/>
              </a:spcBef>
              <a:spcAft>
                <a:spcPct val="10000"/>
              </a:spcAft>
              <a:buClrTx/>
            </a:pPr>
            <a:r>
              <a:rPr lang="en-US" altLang="zh-CN" dirty="0">
                <a:solidFill>
                  <a:srgbClr val="FF0000"/>
                </a:solidFill>
              </a:rPr>
              <a:t>Starting with design and ending up with a complete application.</a:t>
            </a:r>
            <a:endParaRPr lang="en-US" altLang="zh-CN" dirty="0">
              <a:solidFill>
                <a:srgbClr val="FF0000"/>
              </a:solidFill>
            </a:endParaRPr>
          </a:p>
          <a:p>
            <a:pPr eaLnBrk="1" hangingPunct="1">
              <a:lnSpc>
                <a:spcPct val="110000"/>
              </a:lnSpc>
              <a:spcBef>
                <a:spcPct val="10000"/>
              </a:spcBef>
              <a:spcAft>
                <a:spcPct val="10000"/>
              </a:spcAft>
              <a:buClrTx/>
            </a:pPr>
            <a:r>
              <a:rPr lang="en-US" altLang="zh-CN" dirty="0">
                <a:solidFill>
                  <a:srgbClr val="FF0000"/>
                </a:solidFill>
              </a:rPr>
              <a:t>Program can be written in </a:t>
            </a:r>
            <a:endParaRPr lang="en-US" altLang="zh-CN" dirty="0">
              <a:solidFill>
                <a:srgbClr val="FF0000"/>
              </a:solidFill>
            </a:endParaRPr>
          </a:p>
          <a:p>
            <a:pPr lvl="1" eaLnBrk="1" hangingPunct="1">
              <a:spcBef>
                <a:spcPct val="5000"/>
              </a:spcBef>
              <a:buFontTx/>
              <a:buChar char="•"/>
            </a:pPr>
            <a:r>
              <a:rPr lang="en-US" altLang="zh-CN" sz="2400" dirty="0"/>
              <a:t>Java, C++, C#,Python</a:t>
            </a:r>
            <a:endParaRPr lang="en-US" altLang="zh-CN" sz="2400" dirty="0"/>
          </a:p>
          <a:p>
            <a:pPr lvl="1" eaLnBrk="1" hangingPunct="1">
              <a:spcBef>
                <a:spcPct val="5000"/>
              </a:spcBef>
              <a:buFontTx/>
              <a:buChar char="•"/>
            </a:pPr>
            <a:r>
              <a:rPr lang="en-US" altLang="zh-CN" sz="2400" dirty="0"/>
              <a:t>Delphi/PowerBuilder/Visual Studio</a:t>
            </a:r>
            <a:endParaRPr lang="en-US" altLang="zh-CN" sz="2400" dirty="0"/>
          </a:p>
          <a:p>
            <a:pPr lvl="1" eaLnBrk="1" hangingPunct="1">
              <a:spcBef>
                <a:spcPct val="5000"/>
              </a:spcBef>
              <a:buFontTx/>
              <a:buChar char="•"/>
            </a:pPr>
            <a:r>
              <a:rPr lang="en-US" altLang="zh-CN" sz="2400" dirty="0"/>
              <a:t>etc.</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11" name="Rectangle 2"/>
          <p:cNvSpPr>
            <a:spLocks noGrp="1"/>
          </p:cNvSpPr>
          <p:nvPr>
            <p:ph type="title"/>
          </p:nvPr>
        </p:nvSpPr>
        <p:spPr>
          <a:ln/>
        </p:spPr>
        <p:txBody>
          <a:bodyPr vert="horz" wrap="square" lIns="91440" tIns="45720" rIns="91440" bIns="45720" anchor="ctr" anchorCtr="0"/>
          <a:p>
            <a:pPr eaLnBrk="1" hangingPunct="1"/>
            <a:r>
              <a:rPr lang="en-US" altLang="zh-CN" dirty="0"/>
              <a:t>Syllabus</a:t>
            </a:r>
            <a:endParaRPr lang="en-US" altLang="zh-CN" dirty="0"/>
          </a:p>
        </p:txBody>
      </p:sp>
      <p:sp>
        <p:nvSpPr>
          <p:cNvPr id="17412" name="Rectangle 3"/>
          <p:cNvSpPr>
            <a:spLocks noGrp="1"/>
          </p:cNvSpPr>
          <p:nvPr>
            <p:ph idx="1"/>
          </p:nvPr>
        </p:nvSpPr>
        <p:spPr>
          <a:ln/>
        </p:spPr>
        <p:txBody>
          <a:bodyPr vert="horz" wrap="square" lIns="91440" tIns="45720" rIns="91440" bIns="45720" anchor="t" anchorCtr="0"/>
          <a:p>
            <a:pPr eaLnBrk="1" hangingPunct="1">
              <a:buClr>
                <a:srgbClr val="FF0000"/>
              </a:buClr>
              <a:buFont typeface="Wingdings" panose="05000000000000000000" pitchFamily="2" charset="2"/>
              <a:buChar char="n"/>
            </a:pPr>
            <a:r>
              <a:rPr lang="zh-CN" altLang="en-US" sz="2800" b="0" dirty="0">
                <a:solidFill>
                  <a:schemeClr val="tx1"/>
                </a:solidFill>
                <a:latin typeface="黑体" panose="02010609060101010101" pitchFamily="49" charset="-122"/>
                <a:ea typeface="黑体" panose="02010609060101010101" pitchFamily="49" charset="-122"/>
              </a:rPr>
              <a:t>了解，并结合关系型数据库系统深入理解数据库系统的基本概念，原理和方法。</a:t>
            </a:r>
            <a:endParaRPr lang="zh-CN" altLang="en-US" sz="2800" b="0" dirty="0">
              <a:solidFill>
                <a:schemeClr val="tx1"/>
              </a:solidFill>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n"/>
            </a:pPr>
            <a:r>
              <a:rPr lang="zh-CN" altLang="en-US" sz="2800" b="0" dirty="0">
                <a:solidFill>
                  <a:schemeClr val="tx1"/>
                </a:solidFill>
                <a:latin typeface="黑体" panose="02010609060101010101" pitchFamily="49" charset="-122"/>
                <a:ea typeface="黑体" panose="02010609060101010101" pitchFamily="49" charset="-122"/>
              </a:rPr>
              <a:t>掌握关系数据模型及关系数据语言，能熟练应用</a:t>
            </a:r>
            <a:r>
              <a:rPr lang="en-US" altLang="zh-CN" sz="2800" b="0" dirty="0">
                <a:solidFill>
                  <a:schemeClr val="tx1"/>
                </a:solidFill>
                <a:latin typeface="黑体" panose="02010609060101010101" pitchFamily="49" charset="-122"/>
                <a:ea typeface="黑体" panose="02010609060101010101" pitchFamily="49" charset="-122"/>
              </a:rPr>
              <a:t>SQL</a:t>
            </a:r>
            <a:r>
              <a:rPr lang="zh-CN" altLang="en-US" sz="2800" b="0" dirty="0">
                <a:solidFill>
                  <a:schemeClr val="tx1"/>
                </a:solidFill>
                <a:latin typeface="黑体" panose="02010609060101010101" pitchFamily="49" charset="-122"/>
                <a:ea typeface="黑体" panose="02010609060101010101" pitchFamily="49" charset="-122"/>
              </a:rPr>
              <a:t>语言表达各种数据操作。</a:t>
            </a:r>
            <a:endParaRPr lang="zh-CN" altLang="en-US" sz="2800" b="0" dirty="0">
              <a:solidFill>
                <a:schemeClr val="tx1"/>
              </a:solidFill>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n"/>
            </a:pPr>
            <a:r>
              <a:rPr lang="zh-CN" altLang="en-US" sz="2800" b="0" dirty="0">
                <a:solidFill>
                  <a:schemeClr val="tx1"/>
                </a:solidFill>
                <a:latin typeface="黑体" panose="02010609060101010101" pitchFamily="49" charset="-122"/>
                <a:ea typeface="黑体" panose="02010609060101010101" pitchFamily="49" charset="-122"/>
              </a:rPr>
              <a:t>掌握</a:t>
            </a:r>
            <a:r>
              <a:rPr lang="en-US" altLang="zh-CN" sz="2800" b="0" dirty="0">
                <a:solidFill>
                  <a:schemeClr val="tx1"/>
                </a:solidFill>
                <a:latin typeface="黑体" panose="02010609060101010101" pitchFamily="49" charset="-122"/>
                <a:ea typeface="黑体" panose="02010609060101010101" pitchFamily="49" charset="-122"/>
              </a:rPr>
              <a:t>E-R</a:t>
            </a:r>
            <a:r>
              <a:rPr lang="zh-CN" altLang="en-US" sz="2800" b="0" dirty="0">
                <a:solidFill>
                  <a:schemeClr val="tx1"/>
                </a:solidFill>
                <a:latin typeface="黑体" panose="02010609060101010101" pitchFamily="49" charset="-122"/>
                <a:ea typeface="黑体" panose="02010609060101010101" pitchFamily="49" charset="-122"/>
              </a:rPr>
              <a:t>模型的概念和方法，关系数据库规范化理论和数据库设计方法，通过上机实习的训练，初步具备进行数据库应用系统开发的能力。</a:t>
            </a:r>
            <a:endParaRPr lang="zh-CN" altLang="en-US" sz="2800" b="0" dirty="0">
              <a:solidFill>
                <a:schemeClr val="tx1"/>
              </a:solidFill>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n"/>
            </a:pPr>
            <a:r>
              <a:rPr lang="zh-CN" altLang="en-US" sz="2800" b="0" dirty="0">
                <a:solidFill>
                  <a:schemeClr val="tx1"/>
                </a:solidFill>
                <a:latin typeface="黑体" panose="02010609060101010101" pitchFamily="49" charset="-122"/>
                <a:ea typeface="黑体" panose="02010609060101010101" pitchFamily="49" charset="-122"/>
              </a:rPr>
              <a:t>掌握数据库的恢复技术、并发控制技术以及数据库的安全性、完整性控制技术。</a:t>
            </a:r>
            <a:endParaRPr lang="zh-CN" altLang="en-US" sz="2800" b="0" dirty="0">
              <a:solidFill>
                <a:schemeClr val="tx1"/>
              </a:solidFill>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n"/>
            </a:pPr>
            <a:endParaRPr lang="zh-CN" altLang="en-US" sz="2800" b="0" dirty="0">
              <a:latin typeface="黑体" panose="02010609060101010101" pitchFamily="49" charset="-122"/>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5" name="Rectangle 2"/>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内容安排</a:t>
            </a:r>
            <a:endParaRPr lang="zh-CN" altLang="en-US" dirty="0">
              <a:ea typeface="宋体" panose="02010600030101010101" pitchFamily="2" charset="-122"/>
            </a:endParaRPr>
          </a:p>
        </p:txBody>
      </p:sp>
      <p:sp>
        <p:nvSpPr>
          <p:cNvPr id="18436" name="Rectangle 3"/>
          <p:cNvSpPr>
            <a:spLocks noGrp="1"/>
          </p:cNvSpPr>
          <p:nvPr>
            <p:ph idx="1"/>
          </p:nvPr>
        </p:nvSpPr>
        <p:spPr>
          <a:xfrm>
            <a:off x="457200" y="1185863"/>
            <a:ext cx="8229600" cy="5368925"/>
          </a:xfrm>
          <a:ln/>
        </p:spPr>
        <p:txBody>
          <a:bodyPr vert="horz" wrap="square" lIns="91440" tIns="45720" rIns="91440" bIns="45720" anchor="t" anchorCtr="0"/>
          <a:p>
            <a:pPr eaLnBrk="1" hangingPunct="1">
              <a:buNone/>
            </a:pPr>
            <a:r>
              <a:rPr lang="en-US" altLang="zh-CN" sz="2400" dirty="0">
                <a:solidFill>
                  <a:srgbClr val="0000FF"/>
                </a:solidFill>
                <a:sym typeface="Wingdings" panose="05000000000000000000" pitchFamily="2" charset="2"/>
              </a:rPr>
              <a:t> </a:t>
            </a:r>
            <a:r>
              <a:rPr lang="zh-CN" altLang="en-US" dirty="0">
                <a:ea typeface="隶书" panose="02010509060101010101" charset="-122"/>
              </a:rPr>
              <a:t>基础篇</a:t>
            </a:r>
            <a:endParaRPr lang="zh-CN" altLang="en-US" dirty="0">
              <a:ea typeface="隶书" panose="02010509060101010101" charset="-122"/>
            </a:endParaRPr>
          </a:p>
          <a:p>
            <a:pPr lvl="1" eaLnBrk="1" hangingPunct="1"/>
            <a:r>
              <a:rPr lang="zh-CN" altLang="en-US" dirty="0"/>
              <a:t>第一章  绪论</a:t>
            </a:r>
            <a:endParaRPr lang="zh-CN" altLang="en-US" dirty="0"/>
          </a:p>
          <a:p>
            <a:pPr lvl="1" eaLnBrk="1" hangingPunct="1"/>
            <a:r>
              <a:rPr lang="zh-CN" altLang="en-US" dirty="0"/>
              <a:t>第二章  关系数据库</a:t>
            </a:r>
            <a:endParaRPr lang="zh-CN" altLang="en-US" dirty="0"/>
          </a:p>
          <a:p>
            <a:pPr lvl="1" eaLnBrk="1" hangingPunct="1"/>
            <a:r>
              <a:rPr lang="zh-CN" altLang="en-US" dirty="0"/>
              <a:t>第三章  关系数据库标准语言</a:t>
            </a:r>
            <a:r>
              <a:rPr lang="en-US" altLang="zh-CN" dirty="0"/>
              <a:t>SQL</a:t>
            </a:r>
            <a:endParaRPr lang="en-US" altLang="zh-CN" dirty="0"/>
          </a:p>
          <a:p>
            <a:pPr lvl="1" eaLnBrk="1" hangingPunct="1"/>
            <a:r>
              <a:rPr lang="zh-CN" altLang="en-US" dirty="0"/>
              <a:t>第四章  数据库安全性</a:t>
            </a:r>
            <a:endParaRPr lang="zh-CN" altLang="en-US" dirty="0"/>
          </a:p>
          <a:p>
            <a:pPr lvl="1" eaLnBrk="1" hangingPunct="1"/>
            <a:r>
              <a:rPr lang="zh-CN" altLang="en-US" dirty="0"/>
              <a:t>第五章  数据库完整性</a:t>
            </a:r>
            <a:endParaRPr lang="zh-CN" altLang="en-US" dirty="0"/>
          </a:p>
          <a:p>
            <a:pPr eaLnBrk="1" hangingPunct="1">
              <a:buNone/>
            </a:pPr>
            <a:r>
              <a:rPr lang="zh-CN" altLang="en-US" sz="2400" dirty="0">
                <a:solidFill>
                  <a:srgbClr val="0000FF"/>
                </a:solidFill>
                <a:sym typeface="Wingdings" panose="05000000000000000000" pitchFamily="2" charset="2"/>
              </a:rPr>
              <a:t> </a:t>
            </a:r>
            <a:r>
              <a:rPr lang="zh-CN" altLang="en-US" dirty="0">
                <a:ea typeface="隶书" panose="02010509060101010101" charset="-122"/>
              </a:rPr>
              <a:t>设计与应用开发篇</a:t>
            </a:r>
            <a:endParaRPr lang="zh-CN" altLang="en-US" dirty="0">
              <a:ea typeface="隶书" panose="02010509060101010101" charset="-122"/>
            </a:endParaRPr>
          </a:p>
          <a:p>
            <a:pPr lvl="1" eaLnBrk="1" hangingPunct="1"/>
            <a:r>
              <a:rPr lang="zh-CN" altLang="en-US" dirty="0"/>
              <a:t>第六章  关系数据理论</a:t>
            </a:r>
            <a:endParaRPr lang="zh-CN" altLang="en-US" dirty="0"/>
          </a:p>
          <a:p>
            <a:pPr lvl="1" eaLnBrk="1" hangingPunct="1"/>
            <a:r>
              <a:rPr lang="zh-CN" altLang="en-US" dirty="0"/>
              <a:t>第七章  数据库设计</a:t>
            </a:r>
            <a:endParaRPr lang="zh-CN" altLang="en-US" dirty="0"/>
          </a:p>
          <a:p>
            <a:pPr lvl="1" eaLnBrk="1" hangingPunct="1"/>
            <a:r>
              <a:rPr lang="zh-CN" altLang="en-US" dirty="0"/>
              <a:t>第八章  数据库编程</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3" name="Rectangle 2"/>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内容安排</a:t>
            </a:r>
            <a:r>
              <a:rPr lang="en-US" altLang="zh-CN" dirty="0">
                <a:ea typeface="宋体" panose="02010600030101010101" pitchFamily="2" charset="-122"/>
              </a:rPr>
              <a:t>(cont)</a:t>
            </a:r>
            <a:endParaRPr lang="en-US" altLang="zh-CN" dirty="0">
              <a:ea typeface="宋体" panose="02010600030101010101" pitchFamily="2" charset="-122"/>
            </a:endParaRPr>
          </a:p>
        </p:txBody>
      </p:sp>
      <p:sp>
        <p:nvSpPr>
          <p:cNvPr id="20484" name="Rectangle 3"/>
          <p:cNvSpPr>
            <a:spLocks noGrp="1"/>
          </p:cNvSpPr>
          <p:nvPr>
            <p:ph idx="1"/>
          </p:nvPr>
        </p:nvSpPr>
        <p:spPr>
          <a:xfrm>
            <a:off x="685800" y="1333500"/>
            <a:ext cx="7772400" cy="5048250"/>
          </a:xfrm>
          <a:ln/>
        </p:spPr>
        <p:txBody>
          <a:bodyPr vert="horz" wrap="square" lIns="91440" tIns="45720" rIns="91440" bIns="45720" anchor="t" anchorCtr="0"/>
          <a:p>
            <a:pPr eaLnBrk="1" hangingPunct="1">
              <a:buNone/>
            </a:pPr>
            <a:r>
              <a:rPr lang="en-US" altLang="zh-CN" sz="2400" dirty="0">
                <a:solidFill>
                  <a:srgbClr val="0000FF"/>
                </a:solidFill>
                <a:sym typeface="Wingdings" panose="05000000000000000000" pitchFamily="2" charset="2"/>
              </a:rPr>
              <a:t> </a:t>
            </a:r>
            <a:r>
              <a:rPr lang="zh-CN" altLang="en-US" dirty="0">
                <a:ea typeface="隶书" panose="02010509060101010101" charset="-122"/>
              </a:rPr>
              <a:t>系统篇</a:t>
            </a:r>
            <a:endParaRPr lang="zh-CN" altLang="en-US" dirty="0">
              <a:ea typeface="隶书" panose="02010509060101010101" charset="-122"/>
            </a:endParaRPr>
          </a:p>
          <a:p>
            <a:pPr lvl="1" eaLnBrk="1" hangingPunct="1">
              <a:lnSpc>
                <a:spcPct val="110000"/>
              </a:lnSpc>
            </a:pPr>
            <a:r>
              <a:rPr lang="zh-CN" altLang="en-US" dirty="0"/>
              <a:t>第九章 关系数据库存储管理 </a:t>
            </a:r>
            <a:endParaRPr lang="en-US" altLang="zh-CN" dirty="0"/>
          </a:p>
          <a:p>
            <a:pPr lvl="1" eaLnBrk="1" hangingPunct="1">
              <a:lnSpc>
                <a:spcPct val="110000"/>
              </a:lnSpc>
            </a:pPr>
            <a:r>
              <a:rPr lang="zh-CN" altLang="en-US" dirty="0"/>
              <a:t>第十章 关系查询处理和查询优化</a:t>
            </a:r>
            <a:endParaRPr lang="zh-CN" altLang="en-US" dirty="0"/>
          </a:p>
          <a:p>
            <a:pPr lvl="1" eaLnBrk="1" hangingPunct="1">
              <a:lnSpc>
                <a:spcPct val="110000"/>
              </a:lnSpc>
            </a:pPr>
            <a:r>
              <a:rPr lang="zh-CN" altLang="en-US" dirty="0"/>
              <a:t>第十一章  数据库恢复技术</a:t>
            </a:r>
            <a:endParaRPr lang="zh-CN" altLang="en-US" dirty="0"/>
          </a:p>
          <a:p>
            <a:pPr lvl="1" eaLnBrk="1" hangingPunct="1">
              <a:lnSpc>
                <a:spcPct val="110000"/>
              </a:lnSpc>
            </a:pPr>
            <a:r>
              <a:rPr lang="zh-CN" altLang="en-US" dirty="0"/>
              <a:t>第十二章  并发控制</a:t>
            </a:r>
            <a:endParaRPr lang="zh-CN" altLang="en-US" dirty="0"/>
          </a:p>
          <a:p>
            <a:pPr lvl="1" eaLnBrk="1" hangingPunct="1">
              <a:lnSpc>
                <a:spcPct val="110000"/>
              </a:lnSpc>
            </a:pPr>
            <a:r>
              <a:rPr lang="zh-CN" altLang="en-US" dirty="0"/>
              <a:t>* 第十三章  数据库管理系统</a:t>
            </a:r>
            <a:endParaRPr lang="zh-CN" altLang="en-US" dirty="0"/>
          </a:p>
          <a:p>
            <a:pPr lvl="1" eaLnBrk="1" hangingPunct="1">
              <a:lnSpc>
                <a:spcPct val="110000"/>
              </a:lnSpc>
              <a:buNone/>
            </a:pPr>
            <a:endParaRPr lang="zh-CN" altLang="en-US" dirty="0"/>
          </a:p>
          <a:p>
            <a:pPr lvl="1" algn="just" eaLnBrk="1" hangingPunct="1">
              <a:lnSpc>
                <a:spcPct val="110000"/>
              </a:lnSpc>
              <a:buNone/>
            </a:pPr>
            <a:r>
              <a:rPr lang="zh-CN" altLang="en-US" sz="2400" dirty="0">
                <a:ea typeface="仿宋_GB2312" pitchFamily="49" charset="-122"/>
              </a:rPr>
              <a:t>第一至第十二章是本科专业的基本教程（书中有*号的部分除外）</a:t>
            </a:r>
            <a:endParaRPr lang="zh-CN" altLang="en-US" sz="2400" dirty="0">
              <a:ea typeface="仿宋_GB2312" pitchFamily="49" charset="-122"/>
            </a:endParaRPr>
          </a:p>
          <a:p>
            <a:pPr lvl="1" algn="just" eaLnBrk="1" hangingPunct="1">
              <a:lnSpc>
                <a:spcPct val="110000"/>
              </a:lnSpc>
              <a:buNone/>
            </a:pPr>
            <a:r>
              <a:rPr lang="zh-CN" altLang="en-US" sz="2400" dirty="0">
                <a:ea typeface="仿宋_GB2312" pitchFamily="49" charset="-122"/>
              </a:rPr>
              <a:t>第十三至第十八章是高级教程（新技术篇）</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31" name="Rectangle 4"/>
          <p:cNvSpPr/>
          <p:nvPr/>
        </p:nvSpPr>
        <p:spPr>
          <a:xfrm>
            <a:off x="457200" y="1500188"/>
            <a:ext cx="8001000" cy="7620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2532" name="Rectangle 2"/>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第</a:t>
            </a:r>
            <a:r>
              <a:rPr lang="en-US" altLang="zh-CN" dirty="0">
                <a:ea typeface="宋体" panose="02010600030101010101" pitchFamily="2" charset="-122"/>
              </a:rPr>
              <a:t>1</a:t>
            </a:r>
            <a:r>
              <a:rPr lang="zh-CN" altLang="en-US" dirty="0">
                <a:ea typeface="宋体" panose="02010600030101010101" pitchFamily="2" charset="-122"/>
              </a:rPr>
              <a:t>章  绪论</a:t>
            </a:r>
            <a:endParaRPr lang="zh-CN" altLang="en-US" dirty="0">
              <a:ea typeface="宋体" panose="02010600030101010101" pitchFamily="2" charset="-122"/>
            </a:endParaRPr>
          </a:p>
        </p:txBody>
      </p:sp>
      <p:sp>
        <p:nvSpPr>
          <p:cNvPr id="22533" name="Rectangle 3"/>
          <p:cNvSpPr>
            <a:spLocks noGrp="1"/>
          </p:cNvSpPr>
          <p:nvPr>
            <p:ph idx="1"/>
          </p:nvPr>
        </p:nvSpPr>
        <p:spPr>
          <a:ln/>
        </p:spPr>
        <p:txBody>
          <a:bodyPr vert="horz" wrap="square" lIns="91440" tIns="45720" rIns="91440" bIns="45720" anchor="t" anchorCtr="0"/>
          <a:p>
            <a:pPr lvl="1" eaLnBrk="1" hangingPunct="1">
              <a:lnSpc>
                <a:spcPct val="120000"/>
              </a:lnSpc>
              <a:buNone/>
            </a:pPr>
            <a:r>
              <a:rPr lang="en-US" altLang="zh-CN" sz="3600" dirty="0">
                <a:solidFill>
                  <a:schemeClr val="bg1"/>
                </a:solidFill>
              </a:rPr>
              <a:t>1.1 </a:t>
            </a:r>
            <a:r>
              <a:rPr lang="zh-CN" altLang="en-US" sz="3600" dirty="0">
                <a:solidFill>
                  <a:schemeClr val="bg1"/>
                </a:solidFill>
                <a:latin typeface="宋体" panose="02010600030101010101" pitchFamily="2" charset="-122"/>
              </a:rPr>
              <a:t>数据库系统概述</a:t>
            </a:r>
            <a:endParaRPr lang="zh-CN" altLang="en-US" sz="3600" dirty="0">
              <a:solidFill>
                <a:schemeClr val="bg1"/>
              </a:solidFill>
              <a:latin typeface="宋体" panose="02010600030101010101" pitchFamily="2" charset="-122"/>
            </a:endParaRPr>
          </a:p>
          <a:p>
            <a:pPr lvl="1" eaLnBrk="1" hangingPunct="1">
              <a:lnSpc>
                <a:spcPct val="120000"/>
              </a:lnSpc>
              <a:buNone/>
            </a:pPr>
            <a:r>
              <a:rPr lang="en-US" altLang="zh-CN" sz="3600" dirty="0"/>
              <a:t>1.2 </a:t>
            </a:r>
            <a:r>
              <a:rPr lang="zh-CN" altLang="en-US" sz="3600" dirty="0">
                <a:latin typeface="宋体" panose="02010600030101010101" pitchFamily="2" charset="-122"/>
              </a:rPr>
              <a:t>数据模型</a:t>
            </a:r>
            <a:endParaRPr lang="zh-CN" altLang="en-US" sz="3600" dirty="0">
              <a:latin typeface="宋体" panose="02010600030101010101" pitchFamily="2" charset="-122"/>
            </a:endParaRPr>
          </a:p>
          <a:p>
            <a:pPr lvl="1" eaLnBrk="1" hangingPunct="1">
              <a:lnSpc>
                <a:spcPct val="120000"/>
              </a:lnSpc>
              <a:buNone/>
            </a:pPr>
            <a:r>
              <a:rPr lang="en-US" altLang="zh-CN" sz="3600" dirty="0"/>
              <a:t>1.3 </a:t>
            </a:r>
            <a:r>
              <a:rPr lang="zh-CN" altLang="en-US" sz="3600" dirty="0">
                <a:latin typeface="宋体" panose="02010600030101010101" pitchFamily="2" charset="-122"/>
              </a:rPr>
              <a:t>数据库系统结构</a:t>
            </a:r>
            <a:endParaRPr lang="zh-CN" altLang="en-US" sz="3600" dirty="0">
              <a:latin typeface="宋体" panose="02010600030101010101" pitchFamily="2" charset="-122"/>
            </a:endParaRPr>
          </a:p>
          <a:p>
            <a:pPr lvl="1" eaLnBrk="1" hangingPunct="1">
              <a:lnSpc>
                <a:spcPct val="120000"/>
              </a:lnSpc>
              <a:buNone/>
            </a:pPr>
            <a:r>
              <a:rPr lang="en-US" altLang="zh-CN" sz="3600" dirty="0"/>
              <a:t>1.4 </a:t>
            </a:r>
            <a:r>
              <a:rPr lang="zh-CN" altLang="en-US" sz="3600" dirty="0">
                <a:latin typeface="宋体" panose="02010600030101010101" pitchFamily="2" charset="-122"/>
              </a:rPr>
              <a:t>数据库系统的组成</a:t>
            </a:r>
            <a:endParaRPr lang="zh-CN" altLang="en-US" sz="3600" dirty="0">
              <a:latin typeface="宋体" panose="02010600030101010101" pitchFamily="2" charset="-122"/>
            </a:endParaRPr>
          </a:p>
          <a:p>
            <a:pPr lvl="1" eaLnBrk="1" hangingPunct="1">
              <a:lnSpc>
                <a:spcPct val="120000"/>
              </a:lnSpc>
              <a:buNone/>
            </a:pPr>
            <a:r>
              <a:rPr lang="en-US" altLang="zh-CN" sz="3600" dirty="0"/>
              <a:t>1.5 </a:t>
            </a:r>
            <a:r>
              <a:rPr lang="zh-CN" altLang="en-US" sz="3600" dirty="0">
                <a:latin typeface="宋体" panose="02010600030101010101" pitchFamily="2" charset="-122"/>
              </a:rPr>
              <a:t>小结</a:t>
            </a:r>
            <a:endParaRPr lang="zh-CN" altLang="en-US" sz="3600" dirty="0">
              <a:latin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579" name="Rectangle 2"/>
          <p:cNvSpPr/>
          <p:nvPr/>
        </p:nvSpPr>
        <p:spPr>
          <a:xfrm>
            <a:off x="457200" y="1600200"/>
            <a:ext cx="8001000" cy="7620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4580" name="Rectangle 3"/>
          <p:cNvSpPr>
            <a:spLocks noGrp="1"/>
          </p:cNvSpPr>
          <p:nvPr>
            <p:ph type="title"/>
          </p:nvPr>
        </p:nvSpPr>
        <p:spPr>
          <a:ln/>
        </p:spPr>
        <p:txBody>
          <a:bodyPr vert="horz" wrap="square" lIns="91440" tIns="45720" rIns="91440" bIns="45720" anchor="ctr" anchorCtr="0"/>
          <a:p>
            <a:pPr eaLnBrk="1" hangingPunct="1"/>
            <a:r>
              <a:rPr lang="en-US" altLang="zh-CN" dirty="0"/>
              <a:t>1.1 </a:t>
            </a:r>
            <a:r>
              <a:rPr lang="zh-CN" altLang="en-US" dirty="0"/>
              <a:t>数据库系统概述</a:t>
            </a:r>
            <a:endParaRPr lang="zh-CN" altLang="en-US" dirty="0"/>
          </a:p>
        </p:txBody>
      </p:sp>
      <p:sp>
        <p:nvSpPr>
          <p:cNvPr id="24581" name="Rectangle 4"/>
          <p:cNvSpPr>
            <a:spLocks noGrp="1"/>
          </p:cNvSpPr>
          <p:nvPr>
            <p:ph idx="1"/>
          </p:nvPr>
        </p:nvSpPr>
        <p:spPr>
          <a:xfrm>
            <a:off x="685800" y="1447800"/>
            <a:ext cx="7848600" cy="243840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1.1.1  </a:t>
            </a:r>
            <a:r>
              <a:rPr lang="zh-CN" altLang="en-US" dirty="0">
                <a:solidFill>
                  <a:schemeClr val="bg1"/>
                </a:solidFill>
                <a:latin typeface="Arial Narrow" panose="020B0606020202030204" pitchFamily="34" charset="0"/>
                <a:ea typeface="仿宋_GB2312" pitchFamily="49" charset="-122"/>
              </a:rPr>
              <a:t>四个基本概念</a:t>
            </a:r>
            <a:endParaRPr lang="zh-CN" altLang="en-US" dirty="0">
              <a:solidFill>
                <a:schemeClr val="bg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1.1.2  </a:t>
            </a:r>
            <a:r>
              <a:rPr lang="zh-CN" altLang="en-US" dirty="0">
                <a:solidFill>
                  <a:schemeClr val="tx1"/>
                </a:solidFill>
                <a:latin typeface="Arial Narrow" panose="020B0606020202030204" pitchFamily="34" charset="0"/>
                <a:ea typeface="仿宋_GB2312" pitchFamily="49" charset="-122"/>
              </a:rPr>
              <a:t>数据管理技术的产生与发展</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1.1.3  </a:t>
            </a:r>
            <a:r>
              <a:rPr lang="zh-CN" altLang="en-US" dirty="0">
                <a:solidFill>
                  <a:schemeClr val="tx1"/>
                </a:solidFill>
                <a:latin typeface="Arial Narrow" panose="020B0606020202030204" pitchFamily="34" charset="0"/>
                <a:ea typeface="仿宋_GB2312" pitchFamily="49" charset="-122"/>
              </a:rPr>
              <a:t>数据库系统的特点</a:t>
            </a:r>
            <a:endParaRPr lang="zh-CN" altLang="en-US" dirty="0">
              <a:solidFill>
                <a:schemeClr val="tx1"/>
              </a:solidFill>
              <a:latin typeface="Arial Narrow" panose="020B0606020202030204" pitchFamily="34" charset="0"/>
              <a:ea typeface="仿宋_GB2312"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5603" name="Rectangle 2"/>
          <p:cNvSpPr>
            <a:spLocks noGrp="1"/>
          </p:cNvSpPr>
          <p:nvPr>
            <p:ph type="title"/>
          </p:nvPr>
        </p:nvSpPr>
        <p:spPr>
          <a:ln/>
        </p:spPr>
        <p:txBody>
          <a:bodyPr vert="horz" wrap="square" lIns="91440" tIns="45720" rIns="91440" bIns="45720" anchor="ctr" anchorCtr="0"/>
          <a:p>
            <a:pPr eaLnBrk="1" hangingPunct="1"/>
            <a:r>
              <a:rPr lang="en-US" altLang="zh-CN" dirty="0"/>
              <a:t>1.1.1 </a:t>
            </a:r>
            <a:r>
              <a:rPr lang="zh-CN" altLang="en-US" dirty="0"/>
              <a:t>四个基本概念</a:t>
            </a:r>
            <a:endParaRPr lang="zh-CN" altLang="en-US" dirty="0"/>
          </a:p>
        </p:txBody>
      </p:sp>
      <p:sp>
        <p:nvSpPr>
          <p:cNvPr id="25604" name="Rectangle 3"/>
          <p:cNvSpPr>
            <a:spLocks noGrp="1"/>
          </p:cNvSpPr>
          <p:nvPr>
            <p:ph idx="1"/>
          </p:nvPr>
        </p:nvSpPr>
        <p:spPr>
          <a:xfrm>
            <a:off x="1066800" y="1600200"/>
            <a:ext cx="6477000" cy="3352800"/>
          </a:xfrm>
          <a:ln/>
        </p:spPr>
        <p:txBody>
          <a:bodyPr vert="horz" wrap="square" lIns="91440" tIns="45720" rIns="91440" bIns="45720" anchor="t" anchorCtr="0"/>
          <a:p>
            <a:pPr eaLnBrk="1" hangingPunct="1">
              <a:lnSpc>
                <a:spcPct val="110000"/>
              </a:lnSpc>
            </a:pPr>
            <a:r>
              <a:rPr lang="zh-CN" altLang="en-US" sz="3600" dirty="0">
                <a:solidFill>
                  <a:schemeClr val="tx1"/>
                </a:solidFill>
                <a:latin typeface="宋体" panose="02010600030101010101" pitchFamily="2" charset="-122"/>
              </a:rPr>
              <a:t>数据</a:t>
            </a:r>
            <a:r>
              <a:rPr lang="en-US" altLang="zh-CN" sz="3600" dirty="0">
                <a:solidFill>
                  <a:schemeClr val="tx1"/>
                </a:solidFill>
                <a:latin typeface="宋体" panose="02010600030101010101" pitchFamily="2" charset="-122"/>
              </a:rPr>
              <a:t>(Data)</a:t>
            </a:r>
            <a:endParaRPr lang="en-US" altLang="zh-CN" sz="3600" dirty="0">
              <a:solidFill>
                <a:schemeClr val="tx1"/>
              </a:solidFill>
              <a:latin typeface="宋体" panose="02010600030101010101" pitchFamily="2" charset="-122"/>
            </a:endParaRPr>
          </a:p>
          <a:p>
            <a:pPr eaLnBrk="1" hangingPunct="1">
              <a:lnSpc>
                <a:spcPct val="110000"/>
              </a:lnSpc>
            </a:pPr>
            <a:r>
              <a:rPr lang="zh-CN" altLang="en-US" sz="3600" dirty="0">
                <a:solidFill>
                  <a:schemeClr val="tx1"/>
                </a:solidFill>
                <a:latin typeface="宋体" panose="02010600030101010101" pitchFamily="2" charset="-122"/>
              </a:rPr>
              <a:t>数据库</a:t>
            </a:r>
            <a:r>
              <a:rPr lang="en-US" altLang="zh-CN" sz="3600" dirty="0">
                <a:solidFill>
                  <a:schemeClr val="tx1"/>
                </a:solidFill>
                <a:latin typeface="宋体" panose="02010600030101010101" pitchFamily="2" charset="-122"/>
              </a:rPr>
              <a:t>(Database)</a:t>
            </a:r>
            <a:endParaRPr lang="en-US" altLang="zh-CN" sz="3600" dirty="0">
              <a:solidFill>
                <a:schemeClr val="tx1"/>
              </a:solidFill>
              <a:latin typeface="宋体" panose="02010600030101010101" pitchFamily="2" charset="-122"/>
            </a:endParaRPr>
          </a:p>
          <a:p>
            <a:pPr eaLnBrk="1" hangingPunct="1">
              <a:lnSpc>
                <a:spcPct val="110000"/>
              </a:lnSpc>
            </a:pPr>
            <a:r>
              <a:rPr lang="zh-CN" altLang="en-US" sz="3600" dirty="0">
                <a:solidFill>
                  <a:schemeClr val="tx1"/>
                </a:solidFill>
                <a:latin typeface="宋体" panose="02010600030101010101" pitchFamily="2" charset="-122"/>
              </a:rPr>
              <a:t>数据库管理系统</a:t>
            </a:r>
            <a:r>
              <a:rPr lang="en-US" altLang="zh-CN" sz="3600" dirty="0">
                <a:solidFill>
                  <a:schemeClr val="tx1"/>
                </a:solidFill>
                <a:latin typeface="宋体" panose="02010600030101010101" pitchFamily="2" charset="-122"/>
              </a:rPr>
              <a:t>(DBMS)</a:t>
            </a:r>
            <a:endParaRPr lang="en-US" altLang="zh-CN" sz="3600" dirty="0">
              <a:solidFill>
                <a:schemeClr val="tx1"/>
              </a:solidFill>
              <a:latin typeface="宋体" panose="02010600030101010101" pitchFamily="2" charset="-122"/>
            </a:endParaRPr>
          </a:p>
          <a:p>
            <a:pPr eaLnBrk="1" hangingPunct="1">
              <a:lnSpc>
                <a:spcPct val="110000"/>
              </a:lnSpc>
            </a:pPr>
            <a:r>
              <a:rPr lang="zh-CN" altLang="en-US" sz="3600" dirty="0">
                <a:solidFill>
                  <a:schemeClr val="tx1"/>
                </a:solidFill>
                <a:latin typeface="宋体" panose="02010600030101010101" pitchFamily="2" charset="-122"/>
              </a:rPr>
              <a:t>数据库系统</a:t>
            </a:r>
            <a:r>
              <a:rPr lang="en-US" altLang="zh-CN" sz="3600" dirty="0">
                <a:solidFill>
                  <a:schemeClr val="tx1"/>
                </a:solidFill>
                <a:latin typeface="宋体" panose="02010600030101010101" pitchFamily="2" charset="-122"/>
              </a:rPr>
              <a:t>(DBS)</a:t>
            </a:r>
            <a:endParaRPr lang="en-US" altLang="zh-CN" sz="3600" dirty="0">
              <a:solidFill>
                <a:schemeClr val="tx1"/>
              </a:solidFill>
              <a:latin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662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26628" name="Rectangle 3"/>
          <p:cNvSpPr>
            <a:spLocks noGrp="1"/>
          </p:cNvSpPr>
          <p:nvPr>
            <p:ph idx="1"/>
          </p:nvPr>
        </p:nvSpPr>
        <p:spPr>
          <a:xfrm>
            <a:off x="685800" y="965200"/>
            <a:ext cx="7772400" cy="4724400"/>
          </a:xfrm>
          <a:ln/>
        </p:spPr>
        <p:txBody>
          <a:bodyPr vert="horz" wrap="square" lIns="91440" tIns="45720" rIns="91440" bIns="45720" anchor="t" anchorCtr="0"/>
          <a:p>
            <a:pPr eaLnBrk="1" hangingPunct="1">
              <a:lnSpc>
                <a:spcPct val="90000"/>
              </a:lnSpc>
              <a:buClr>
                <a:srgbClr val="FF0000"/>
              </a:buClr>
              <a:buNone/>
            </a:pPr>
            <a:r>
              <a:rPr lang="zh-CN" altLang="en-US" dirty="0"/>
              <a:t>一、数据</a:t>
            </a:r>
            <a:endParaRPr lang="zh-CN" altLang="en-US" dirty="0"/>
          </a:p>
          <a:p>
            <a:pPr lvl="1" eaLnBrk="1" hangingPunct="1">
              <a:lnSpc>
                <a:spcPct val="90000"/>
              </a:lnSpc>
            </a:pPr>
            <a:r>
              <a:rPr lang="zh-CN" altLang="en-US" dirty="0"/>
              <a:t>数据</a:t>
            </a:r>
            <a:r>
              <a:rPr lang="en-US" altLang="zh-CN" dirty="0"/>
              <a:t>(Data)</a:t>
            </a:r>
            <a:r>
              <a:rPr lang="zh-CN" altLang="en-US" dirty="0"/>
              <a:t>是数据库中存储的基本对象</a:t>
            </a:r>
            <a:endParaRPr lang="zh-CN" altLang="en-US" dirty="0"/>
          </a:p>
          <a:p>
            <a:pPr lvl="1" eaLnBrk="1" hangingPunct="1">
              <a:lnSpc>
                <a:spcPct val="90000"/>
              </a:lnSpc>
            </a:pPr>
            <a:r>
              <a:rPr lang="zh-CN" altLang="en-US" dirty="0"/>
              <a:t>定义：对现实世界中客观事物的符号表示</a:t>
            </a:r>
            <a:endParaRPr lang="zh-CN" altLang="en-US" dirty="0"/>
          </a:p>
          <a:p>
            <a:pPr lvl="1" eaLnBrk="1" hangingPunct="1">
              <a:lnSpc>
                <a:spcPct val="90000"/>
              </a:lnSpc>
            </a:pPr>
            <a:r>
              <a:rPr lang="zh-CN" altLang="en-US" dirty="0"/>
              <a:t>计算机中数据：能输入计算机，并能为其处理的符号序列</a:t>
            </a:r>
            <a:endParaRPr lang="zh-CN" altLang="en-US" dirty="0"/>
          </a:p>
          <a:p>
            <a:pPr lvl="1" eaLnBrk="1" hangingPunct="1">
              <a:lnSpc>
                <a:spcPct val="90000"/>
              </a:lnSpc>
            </a:pPr>
            <a:r>
              <a:rPr lang="zh-CN" altLang="en-US" dirty="0"/>
              <a:t>种类：数值、非数值</a:t>
            </a:r>
            <a:r>
              <a:rPr lang="en-US" altLang="zh-CN" dirty="0"/>
              <a:t>(</a:t>
            </a:r>
            <a:r>
              <a:rPr lang="zh-CN" altLang="en-US" dirty="0"/>
              <a:t>文字、图形、声音、图像、结构化的记录等）</a:t>
            </a:r>
            <a:endParaRPr lang="zh-CN" altLang="en-US" dirty="0"/>
          </a:p>
          <a:p>
            <a:pPr lvl="1" eaLnBrk="1" hangingPunct="1">
              <a:lnSpc>
                <a:spcPct val="90000"/>
              </a:lnSpc>
            </a:pPr>
            <a:r>
              <a:rPr lang="zh-CN" altLang="en-US" dirty="0"/>
              <a:t>特点：数据与其语义不可分</a:t>
            </a:r>
            <a:endParaRPr lang="zh-CN" altLang="en-US" dirty="0"/>
          </a:p>
          <a:p>
            <a:pPr eaLnBrk="1" hangingPunct="1"/>
            <a:endParaRPr lang="zh-CN" altLang="en-US" dirty="0"/>
          </a:p>
        </p:txBody>
      </p:sp>
      <p:sp>
        <p:nvSpPr>
          <p:cNvPr id="26629" name="Text Box 4"/>
          <p:cNvSpPr txBox="1"/>
          <p:nvPr/>
        </p:nvSpPr>
        <p:spPr>
          <a:xfrm>
            <a:off x="1295400" y="4864100"/>
            <a:ext cx="5715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(0005794, 601,  </a:t>
            </a:r>
            <a:r>
              <a:rPr lang="zh-CN" altLang="en-US" sz="2400" b="0" dirty="0">
                <a:solidFill>
                  <a:schemeClr val="tx1"/>
                </a:solidFill>
                <a:cs typeface="Arial" panose="020B0604020202020204" pitchFamily="34" charset="0"/>
              </a:rPr>
              <a:t>周  济</a:t>
            </a:r>
            <a:r>
              <a:rPr lang="en-US" altLang="zh-CN" sz="2400" b="0" dirty="0">
                <a:solidFill>
                  <a:schemeClr val="tx1"/>
                </a:solidFill>
                <a:cs typeface="Arial" panose="020B0604020202020204" pitchFamily="34" charset="0"/>
              </a:rPr>
              <a:t>,  1,  1946.08.26, 01)</a:t>
            </a:r>
            <a:endParaRPr lang="en-US" altLang="zh-CN" sz="2400" b="0" dirty="0">
              <a:solidFill>
                <a:schemeClr val="tx1"/>
              </a:solidFill>
              <a:ea typeface="Arial" panose="020B0604020202020204" pitchFamily="34" charset="0"/>
            </a:endParaRPr>
          </a:p>
        </p:txBody>
      </p:sp>
      <p:sp>
        <p:nvSpPr>
          <p:cNvPr id="313349" name="Text Box 5"/>
          <p:cNvSpPr txBox="1"/>
          <p:nvPr/>
        </p:nvSpPr>
        <p:spPr>
          <a:xfrm>
            <a:off x="1257300" y="5321300"/>
            <a:ext cx="7696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rgbClr val="FF0000"/>
                </a:solidFill>
                <a:cs typeface="Arial" panose="020B0604020202020204" pitchFamily="34" charset="0"/>
              </a:rPr>
              <a:t>(</a:t>
            </a:r>
            <a:r>
              <a:rPr lang="zh-CN" altLang="en-US" sz="2400" b="0" dirty="0">
                <a:solidFill>
                  <a:srgbClr val="FF0000"/>
                </a:solidFill>
                <a:cs typeface="Arial" panose="020B0604020202020204" pitchFamily="34" charset="0"/>
              </a:rPr>
              <a:t>工号</a:t>
            </a:r>
            <a:r>
              <a:rPr lang="en-US" altLang="zh-CN" sz="2400" b="0" dirty="0">
                <a:solidFill>
                  <a:srgbClr val="FF0000"/>
                </a:solidFill>
                <a:cs typeface="Arial" panose="020B0604020202020204" pitchFamily="34" charset="0"/>
              </a:rPr>
              <a:t>, </a:t>
            </a:r>
            <a:r>
              <a:rPr lang="zh-CN" altLang="en-US" sz="2400" b="0" dirty="0">
                <a:solidFill>
                  <a:srgbClr val="FF0000"/>
                </a:solidFill>
                <a:cs typeface="Arial" panose="020B0604020202020204" pitchFamily="34" charset="0"/>
              </a:rPr>
              <a:t>部门编号</a:t>
            </a:r>
            <a:r>
              <a:rPr lang="en-US" altLang="zh-CN" sz="2400" b="0" dirty="0">
                <a:solidFill>
                  <a:srgbClr val="FF0000"/>
                </a:solidFill>
                <a:cs typeface="Arial" panose="020B0604020202020204" pitchFamily="34" charset="0"/>
              </a:rPr>
              <a:t>,</a:t>
            </a:r>
            <a:r>
              <a:rPr lang="zh-CN" altLang="en-US" sz="2400" b="0" dirty="0">
                <a:solidFill>
                  <a:srgbClr val="FF0000"/>
                </a:solidFill>
                <a:cs typeface="Arial" panose="020B0604020202020204" pitchFamily="34" charset="0"/>
              </a:rPr>
              <a:t>姓名</a:t>
            </a:r>
            <a:r>
              <a:rPr lang="en-US" altLang="zh-CN" sz="2400" b="0" dirty="0">
                <a:solidFill>
                  <a:srgbClr val="FF0000"/>
                </a:solidFill>
                <a:cs typeface="Arial" panose="020B0604020202020204" pitchFamily="34" charset="0"/>
              </a:rPr>
              <a:t>,</a:t>
            </a:r>
            <a:r>
              <a:rPr lang="zh-CN" altLang="en-US" sz="2400" b="0" dirty="0">
                <a:solidFill>
                  <a:srgbClr val="FF0000"/>
                </a:solidFill>
                <a:cs typeface="Arial" panose="020B0604020202020204" pitchFamily="34" charset="0"/>
              </a:rPr>
              <a:t>性别</a:t>
            </a:r>
            <a:r>
              <a:rPr lang="en-US" altLang="zh-CN" sz="2400" b="0" dirty="0">
                <a:solidFill>
                  <a:srgbClr val="FF0000"/>
                </a:solidFill>
                <a:cs typeface="Arial" panose="020B0604020202020204" pitchFamily="34" charset="0"/>
              </a:rPr>
              <a:t>,</a:t>
            </a:r>
            <a:r>
              <a:rPr lang="zh-CN" altLang="en-US" sz="2400" b="0" dirty="0">
                <a:solidFill>
                  <a:srgbClr val="FF0000"/>
                </a:solidFill>
                <a:cs typeface="Arial" panose="020B0604020202020204" pitchFamily="34" charset="0"/>
              </a:rPr>
              <a:t>出生日期</a:t>
            </a:r>
            <a:r>
              <a:rPr lang="en-US" altLang="zh-CN" sz="2400" b="0" dirty="0">
                <a:solidFill>
                  <a:srgbClr val="FF0000"/>
                </a:solidFill>
                <a:cs typeface="Arial" panose="020B0604020202020204" pitchFamily="34" charset="0"/>
              </a:rPr>
              <a:t>,</a:t>
            </a:r>
            <a:r>
              <a:rPr lang="zh-CN" altLang="en-US" sz="2400" b="0" dirty="0">
                <a:solidFill>
                  <a:srgbClr val="FF0000"/>
                </a:solidFill>
                <a:cs typeface="Arial" panose="020B0604020202020204" pitchFamily="34" charset="0"/>
              </a:rPr>
              <a:t>民族</a:t>
            </a:r>
            <a:r>
              <a:rPr lang="en-US" altLang="zh-CN" sz="2400" b="0" dirty="0">
                <a:solidFill>
                  <a:srgbClr val="FF0000"/>
                </a:solidFill>
                <a:cs typeface="Arial" panose="020B0604020202020204" pitchFamily="34" charset="0"/>
              </a:rPr>
              <a:t>)</a:t>
            </a:r>
            <a:endParaRPr lang="en-US" altLang="zh-CN" sz="2400" b="0" dirty="0">
              <a:solidFill>
                <a:srgbClr val="FF0000"/>
              </a:solidFill>
              <a:ea typeface="Arial" panose="020B0604020202020204" pitchFamily="34" charset="0"/>
            </a:endParaRPr>
          </a:p>
        </p:txBody>
      </p:sp>
      <p:sp>
        <p:nvSpPr>
          <p:cNvPr id="313350" name="AutoShape 6"/>
          <p:cNvSpPr/>
          <p:nvPr/>
        </p:nvSpPr>
        <p:spPr>
          <a:xfrm>
            <a:off x="3429000" y="3416300"/>
            <a:ext cx="1981200" cy="533400"/>
          </a:xfrm>
          <a:prstGeom prst="wedgeRoundRectCallout">
            <a:avLst>
              <a:gd name="adj1" fmla="val -69389"/>
              <a:gd name="adj2" fmla="val 241370"/>
              <a:gd name="adj3" fmla="val 16667"/>
            </a:avLst>
          </a:prstGeom>
          <a:gradFill rotWithShape="0">
            <a:gsLst>
              <a:gs pos="0">
                <a:srgbClr val="3333FF"/>
              </a:gs>
              <a:gs pos="100000">
                <a:srgbClr val="3366FF"/>
              </a:gs>
            </a:gsLst>
            <a:lin ang="0" scaled="1"/>
            <a:tileRect/>
          </a:gradFill>
          <a:ln w="9525" cap="flat" cmpd="sng">
            <a:solidFill>
              <a:srgbClr val="FF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bg1"/>
                </a:solidFill>
                <a:cs typeface="Arial" panose="020B0604020202020204" pitchFamily="34" charset="0"/>
              </a:rPr>
              <a:t>校办公室</a:t>
            </a:r>
            <a:endParaRPr lang="zh-CN" altLang="en-US" sz="2400" b="0" dirty="0">
              <a:solidFill>
                <a:schemeClr val="bg1"/>
              </a:solidFill>
              <a:ea typeface="Arial" panose="020B0604020202020204" pitchFamily="34" charset="0"/>
            </a:endParaRPr>
          </a:p>
        </p:txBody>
      </p:sp>
      <p:sp>
        <p:nvSpPr>
          <p:cNvPr id="313351" name="AutoShape 7"/>
          <p:cNvSpPr/>
          <p:nvPr/>
        </p:nvSpPr>
        <p:spPr>
          <a:xfrm>
            <a:off x="7010400" y="3797300"/>
            <a:ext cx="990600" cy="533400"/>
          </a:xfrm>
          <a:prstGeom prst="wedgeRoundRectCallout">
            <a:avLst>
              <a:gd name="adj1" fmla="val -105130"/>
              <a:gd name="adj2" fmla="val 165477"/>
              <a:gd name="adj3" fmla="val 16667"/>
            </a:avLst>
          </a:prstGeom>
          <a:gradFill rotWithShape="0">
            <a:gsLst>
              <a:gs pos="0">
                <a:srgbClr val="3333FF"/>
              </a:gs>
              <a:gs pos="100000">
                <a:srgbClr val="3366FF"/>
              </a:gs>
            </a:gsLst>
            <a:lin ang="0" scaled="1"/>
            <a:tileRect/>
          </a:gradFill>
          <a:ln w="9525" cap="flat" cmpd="sng">
            <a:solidFill>
              <a:srgbClr val="FF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bg1"/>
                </a:solidFill>
                <a:cs typeface="Arial" panose="020B0604020202020204" pitchFamily="34" charset="0"/>
              </a:rPr>
              <a:t>汉族</a:t>
            </a:r>
            <a:endParaRPr lang="zh-CN" altLang="en-US" sz="2400" b="0" dirty="0">
              <a:solidFill>
                <a:schemeClr val="bg1"/>
              </a:solidFill>
              <a:ea typeface="Arial" panose="020B0604020202020204" pitchFamily="34" charset="0"/>
            </a:endParaRPr>
          </a:p>
        </p:txBody>
      </p:sp>
      <p:sp>
        <p:nvSpPr>
          <p:cNvPr id="313352" name="AutoShape 8"/>
          <p:cNvSpPr/>
          <p:nvPr/>
        </p:nvSpPr>
        <p:spPr>
          <a:xfrm>
            <a:off x="4648200" y="4330700"/>
            <a:ext cx="685800" cy="533400"/>
          </a:xfrm>
          <a:prstGeom prst="wedgeRoundRectCallout">
            <a:avLst>
              <a:gd name="adj1" fmla="val -69907"/>
              <a:gd name="adj2" fmla="val 66667"/>
              <a:gd name="adj3" fmla="val 16667"/>
            </a:avLst>
          </a:prstGeom>
          <a:gradFill rotWithShape="0">
            <a:gsLst>
              <a:gs pos="0">
                <a:srgbClr val="3333FF"/>
              </a:gs>
              <a:gs pos="100000">
                <a:srgbClr val="3366FF"/>
              </a:gs>
            </a:gsLst>
            <a:lin ang="0" scaled="1"/>
            <a:tileRect/>
          </a:gradFill>
          <a:ln w="9525" cap="flat" cmpd="sng">
            <a:solidFill>
              <a:srgbClr val="FF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bg1"/>
                </a:solidFill>
                <a:cs typeface="Arial" panose="020B0604020202020204" pitchFamily="34" charset="0"/>
              </a:rPr>
              <a:t>男</a:t>
            </a:r>
            <a:endParaRPr lang="zh-CN" altLang="en-US" sz="2400" b="0" dirty="0">
              <a:solidFill>
                <a:schemeClr val="bg1"/>
              </a:solidFill>
              <a:ea typeface="Arial" panose="020B0604020202020204" pitchFamily="34" charset="0"/>
            </a:endParaRPr>
          </a:p>
        </p:txBody>
      </p:sp>
      <p:sp>
        <p:nvSpPr>
          <p:cNvPr id="313353" name="Text Box 9"/>
          <p:cNvSpPr txBox="1"/>
          <p:nvPr/>
        </p:nvSpPr>
        <p:spPr>
          <a:xfrm>
            <a:off x="1279525" y="5819775"/>
            <a:ext cx="3079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(111 100 111 001 111)</a:t>
            </a:r>
            <a:r>
              <a:rPr lang="en-US" altLang="zh-CN" sz="2400" b="0" baseline="-25000" dirty="0">
                <a:solidFill>
                  <a:schemeClr val="tx1"/>
                </a:solidFill>
                <a:cs typeface="Arial" panose="020B0604020202020204" pitchFamily="34" charset="0"/>
              </a:rPr>
              <a:t>2</a:t>
            </a:r>
            <a:endParaRPr lang="en-US" altLang="zh-CN" sz="2400" b="0" baseline="-25000" dirty="0">
              <a:solidFill>
                <a:schemeClr val="tx1"/>
              </a:solidFill>
              <a:ea typeface="Arial" panose="020B0604020202020204" pitchFamily="34" charset="0"/>
            </a:endParaRPr>
          </a:p>
        </p:txBody>
      </p:sp>
      <p:grpSp>
        <p:nvGrpSpPr>
          <p:cNvPr id="313354" name="Group 10"/>
          <p:cNvGrpSpPr/>
          <p:nvPr/>
        </p:nvGrpSpPr>
        <p:grpSpPr>
          <a:xfrm>
            <a:off x="7924800" y="5422900"/>
            <a:ext cx="508000" cy="863600"/>
            <a:chOff x="4672" y="3032"/>
            <a:chExt cx="320" cy="544"/>
          </a:xfrm>
        </p:grpSpPr>
        <p:sp>
          <p:nvSpPr>
            <p:cNvPr id="26637" name="Rectangle 11"/>
            <p:cNvSpPr/>
            <p:nvPr/>
          </p:nvSpPr>
          <p:spPr>
            <a:xfrm>
              <a:off x="4672" y="3032"/>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38" name="Rectangle 12"/>
            <p:cNvSpPr/>
            <p:nvPr/>
          </p:nvSpPr>
          <p:spPr>
            <a:xfrm>
              <a:off x="4784" y="3032"/>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39" name="Rectangle 13"/>
            <p:cNvSpPr/>
            <p:nvPr/>
          </p:nvSpPr>
          <p:spPr>
            <a:xfrm>
              <a:off x="4896" y="3032"/>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0" name="Rectangle 14"/>
            <p:cNvSpPr/>
            <p:nvPr/>
          </p:nvSpPr>
          <p:spPr>
            <a:xfrm>
              <a:off x="4672" y="3144"/>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1" name="Rectangle 15"/>
            <p:cNvSpPr/>
            <p:nvPr/>
          </p:nvSpPr>
          <p:spPr>
            <a:xfrm>
              <a:off x="4672" y="3256"/>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2" name="Rectangle 16"/>
            <p:cNvSpPr/>
            <p:nvPr/>
          </p:nvSpPr>
          <p:spPr>
            <a:xfrm>
              <a:off x="4784" y="3256"/>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3" name="Rectangle 17"/>
            <p:cNvSpPr/>
            <p:nvPr/>
          </p:nvSpPr>
          <p:spPr>
            <a:xfrm>
              <a:off x="4896" y="3256"/>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4" name="Rectangle 18"/>
            <p:cNvSpPr/>
            <p:nvPr/>
          </p:nvSpPr>
          <p:spPr>
            <a:xfrm>
              <a:off x="4896" y="3368"/>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5" name="Rectangle 19"/>
            <p:cNvSpPr/>
            <p:nvPr/>
          </p:nvSpPr>
          <p:spPr>
            <a:xfrm>
              <a:off x="4672" y="3480"/>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6" name="Rectangle 20"/>
            <p:cNvSpPr/>
            <p:nvPr/>
          </p:nvSpPr>
          <p:spPr>
            <a:xfrm>
              <a:off x="4784" y="3480"/>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6647" name="Rectangle 21"/>
            <p:cNvSpPr/>
            <p:nvPr/>
          </p:nvSpPr>
          <p:spPr>
            <a:xfrm>
              <a:off x="4896" y="3480"/>
              <a:ext cx="96"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sp>
        <p:nvSpPr>
          <p:cNvPr id="313366" name="Text Box 22"/>
          <p:cNvSpPr txBox="1"/>
          <p:nvPr/>
        </p:nvSpPr>
        <p:spPr>
          <a:xfrm>
            <a:off x="4267200" y="5816600"/>
            <a:ext cx="32639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  (31183)</a:t>
            </a:r>
            <a:r>
              <a:rPr lang="en-US" altLang="zh-CN" sz="2400" b="0" baseline="-25000" dirty="0">
                <a:solidFill>
                  <a:schemeClr val="tx1"/>
                </a:solidFill>
                <a:cs typeface="Arial" panose="020B0604020202020204" pitchFamily="34" charset="0"/>
              </a:rPr>
              <a:t>10 </a:t>
            </a:r>
            <a:r>
              <a:rPr lang="en-US" altLang="zh-CN" sz="2400" b="0" dirty="0">
                <a:solidFill>
                  <a:schemeClr val="tx1"/>
                </a:solidFill>
                <a:cs typeface="Arial" panose="020B0604020202020204" pitchFamily="34" charset="0"/>
              </a:rPr>
              <a:t>=  (74717)</a:t>
            </a:r>
            <a:r>
              <a:rPr lang="en-US" altLang="zh-CN" sz="2400" b="0" baseline="-25000" dirty="0">
                <a:solidFill>
                  <a:schemeClr val="tx1"/>
                </a:solidFill>
                <a:cs typeface="Arial" panose="020B0604020202020204" pitchFamily="34" charset="0"/>
              </a:rPr>
              <a:t>8</a:t>
            </a:r>
            <a:endParaRPr lang="en-US" altLang="zh-CN" sz="2400" b="0" baseline="-25000" dirty="0">
              <a:solidFill>
                <a:schemeClr val="tx1"/>
              </a:solidFill>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33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3350"/>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313352"/>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499"/>
                                          </p:stCondLst>
                                        </p:cTn>
                                        <p:tgtEl>
                                          <p:spTgt spid="3133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133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133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313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9" grpId="0"/>
      <p:bldP spid="313350" grpId="0" animBg="1"/>
      <p:bldP spid="313351" grpId="0" animBg="1"/>
      <p:bldP spid="313352" grpId="0" animBg="1"/>
      <p:bldP spid="313353" grpId="0"/>
      <p:bldP spid="31336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765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26628" name="Rectangle 3"/>
          <p:cNvSpPr>
            <a:spLocks noGrp="1" noChangeArrowheads="1"/>
          </p:cNvSpPr>
          <p:nvPr>
            <p:ph idx="1"/>
          </p:nvPr>
        </p:nvSpPr>
        <p:spPr>
          <a:xfrm>
            <a:off x="685800" y="965200"/>
            <a:ext cx="7772400" cy="4724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None/>
              <a:defRPr/>
            </a:pPr>
            <a:r>
              <a:rPr kumimoji="1" lang="zh-CN" altLang="en-US" sz="3200" b="1" i="0" u="none" strike="noStrike" kern="0" cap="none" spc="0" normalizeH="0" baseline="0" noProof="0" dirty="0" smtClean="0">
                <a:ln>
                  <a:noFill/>
                </a:ln>
                <a:solidFill>
                  <a:srgbClr val="FF3300"/>
                </a:solidFill>
                <a:effectLst/>
                <a:uLnTx/>
                <a:uFillTx/>
                <a:latin typeface="+mn-lt"/>
                <a:ea typeface="+mn-ea"/>
                <a:cs typeface="+mn-cs"/>
              </a:rPr>
              <a:t>一、数据类型分类</a:t>
            </a:r>
            <a:endParaRPr kumimoji="1" lang="zh-CN" altLang="en-US" sz="3200" b="1" i="0" u="none" strike="noStrike" kern="0" cap="none" spc="0" normalizeH="0" baseline="0" noProof="0" dirty="0" smtClean="0">
              <a:ln>
                <a:noFill/>
              </a:ln>
              <a:solidFill>
                <a:srgbClr val="FF3300"/>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
              <a:defRPr/>
            </a:pPr>
            <a:r>
              <a:rPr kumimoji="1" lang="zh-CN" altLang="en-US" sz="2800" b="1" i="0" u="none" strike="noStrike" kern="0" cap="none" spc="0" normalizeH="0" baseline="0" noProof="0" dirty="0" smtClean="0">
                <a:ln>
                  <a:noFill/>
                </a:ln>
                <a:solidFill>
                  <a:schemeClr val="tx1"/>
                </a:solidFill>
                <a:effectLst/>
                <a:uLnTx/>
                <a:uFillTx/>
                <a:latin typeface="+mn-lt"/>
                <a:ea typeface="+mn-ea"/>
              </a:rPr>
              <a:t>结构化数据：关系数据（表）</a:t>
            </a:r>
            <a:endParaRPr kumimoji="1" lang="zh-CN" altLang="en-US"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
              <a:defRPr/>
            </a:pPr>
            <a:endParaRPr kumimoji="1" lang="en-US" altLang="zh-CN"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
              <a:defRPr/>
            </a:pPr>
            <a:r>
              <a:rPr kumimoji="1" lang="zh-CN" altLang="en-US" sz="2800" b="1" i="0" u="none" strike="noStrike" kern="0" cap="none" spc="0" normalizeH="0" baseline="0" noProof="0" dirty="0" smtClean="0">
                <a:ln>
                  <a:noFill/>
                </a:ln>
                <a:solidFill>
                  <a:schemeClr val="tx1"/>
                </a:solidFill>
                <a:effectLst/>
                <a:uLnTx/>
                <a:uFillTx/>
                <a:latin typeface="+mn-lt"/>
                <a:ea typeface="+mn-ea"/>
              </a:rPr>
              <a:t>半结构化数据</a:t>
            </a:r>
            <a:endParaRPr kumimoji="1" lang="zh-CN" altLang="en-US" sz="2800" b="1" i="0" u="none" strike="noStrike" kern="0" cap="none" spc="0" normalizeH="0" baseline="0" noProof="0" dirty="0" smtClean="0">
              <a:ln>
                <a:noFill/>
              </a:ln>
              <a:solidFill>
                <a:schemeClr val="tx1"/>
              </a:solidFill>
              <a:effectLst/>
              <a:uLnTx/>
              <a:uFillTx/>
              <a:latin typeface="+mn-lt"/>
              <a:ea typeface="+mn-ea"/>
            </a:endParaRPr>
          </a:p>
          <a:p>
            <a:pPr marL="971550" marR="0" lvl="1" indent="-514350" algn="l" defTabSz="914400" rtl="0" eaLnBrk="1" fontAlgn="base" latinLnBrk="0" hangingPunct="1">
              <a:lnSpc>
                <a:spcPct val="90000"/>
              </a:lnSpc>
              <a:spcBef>
                <a:spcPct val="20000"/>
              </a:spcBef>
              <a:spcAft>
                <a:spcPct val="0"/>
              </a:spcAft>
              <a:buClr>
                <a:schemeClr val="accent2"/>
              </a:buClr>
              <a:buSzTx/>
              <a:buFont typeface="+mj-lt"/>
              <a:buAutoNum type="arabicPeriod"/>
              <a:defRPr/>
            </a:pPr>
            <a:r>
              <a:rPr kumimoji="1" lang="zh-CN" altLang="en-US" sz="2400" b="1" i="0" u="none" strike="noStrike" kern="0" cap="none" spc="0" normalizeH="0" baseline="0" noProof="0" dirty="0" smtClean="0">
                <a:ln>
                  <a:noFill/>
                </a:ln>
                <a:solidFill>
                  <a:schemeClr val="tx1"/>
                </a:solidFill>
                <a:effectLst/>
                <a:uLnTx/>
                <a:uFillTx/>
                <a:latin typeface="+mn-lt"/>
                <a:ea typeface="+mn-ea"/>
              </a:rPr>
              <a:t>键值对</a:t>
            </a:r>
            <a:r>
              <a:rPr kumimoji="1" lang="en-US" altLang="zh-CN" sz="2400" b="1" i="0" u="none" strike="noStrike" kern="0" cap="none" spc="0" normalizeH="0" baseline="0" noProof="0" dirty="0" smtClean="0">
                <a:ln>
                  <a:noFill/>
                </a:ln>
                <a:solidFill>
                  <a:schemeClr val="tx1"/>
                </a:solidFill>
                <a:effectLst/>
                <a:uLnTx/>
                <a:uFillTx/>
                <a:latin typeface="+mn-lt"/>
                <a:ea typeface="+mn-ea"/>
              </a:rPr>
              <a:t>Key-Value</a:t>
            </a:r>
            <a:endParaRPr kumimoji="1" lang="en-US" altLang="zh-CN" sz="2400" b="1" i="0" u="none" strike="noStrike" kern="0" cap="none" spc="0" normalizeH="0" baseline="0" noProof="0" dirty="0" smtClean="0">
              <a:ln>
                <a:noFill/>
              </a:ln>
              <a:solidFill>
                <a:schemeClr val="tx1"/>
              </a:solidFill>
              <a:effectLst/>
              <a:uLnTx/>
              <a:uFillTx/>
              <a:latin typeface="+mn-lt"/>
              <a:ea typeface="+mn-ea"/>
            </a:endParaRPr>
          </a:p>
          <a:p>
            <a:pPr marL="971550" marR="0" lvl="1" indent="-514350" algn="l" defTabSz="914400" rtl="0" eaLnBrk="1" fontAlgn="base" latinLnBrk="0" hangingPunct="1">
              <a:lnSpc>
                <a:spcPct val="90000"/>
              </a:lnSpc>
              <a:spcBef>
                <a:spcPct val="20000"/>
              </a:spcBef>
              <a:spcAft>
                <a:spcPct val="0"/>
              </a:spcAft>
              <a:buClr>
                <a:schemeClr val="accent2"/>
              </a:buClr>
              <a:buSzTx/>
              <a:buFont typeface="+mj-lt"/>
              <a:buAutoNum type="arabicPeriod"/>
              <a:defRPr/>
            </a:pPr>
            <a:r>
              <a:rPr kumimoji="1" lang="en-US" altLang="zh-CN" sz="2400" b="1" i="0" u="none" strike="noStrike" kern="0" cap="none" spc="0" normalizeH="0" baseline="0" noProof="0" dirty="0" smtClean="0">
                <a:ln>
                  <a:noFill/>
                </a:ln>
                <a:solidFill>
                  <a:schemeClr val="tx1"/>
                </a:solidFill>
                <a:effectLst/>
                <a:uLnTx/>
                <a:uFillTx/>
                <a:latin typeface="+mn-lt"/>
                <a:ea typeface="+mn-ea"/>
              </a:rPr>
              <a:t>XML</a:t>
            </a:r>
            <a:r>
              <a:rPr kumimoji="1" lang="zh-CN" altLang="en-US" sz="2400" b="1" i="0" u="none" strike="noStrike" kern="0" cap="none" spc="0" normalizeH="0" baseline="0" noProof="0" dirty="0" smtClean="0">
                <a:ln>
                  <a:noFill/>
                </a:ln>
                <a:solidFill>
                  <a:schemeClr val="tx1"/>
                </a:solidFill>
                <a:effectLst/>
                <a:uLnTx/>
                <a:uFillTx/>
                <a:latin typeface="+mn-lt"/>
                <a:ea typeface="+mn-ea"/>
              </a:rPr>
              <a:t>、</a:t>
            </a:r>
            <a:r>
              <a:rPr kumimoji="1" lang="en-US" altLang="zh-CN" sz="2400" b="1" i="0" u="none" strike="noStrike" kern="0" cap="none" spc="0" normalizeH="0" baseline="0" noProof="0" dirty="0" smtClean="0">
                <a:ln>
                  <a:noFill/>
                </a:ln>
                <a:solidFill>
                  <a:schemeClr val="tx1"/>
                </a:solidFill>
                <a:effectLst/>
                <a:uLnTx/>
                <a:uFillTx/>
                <a:latin typeface="+mn-lt"/>
                <a:ea typeface="+mn-ea"/>
              </a:rPr>
              <a:t>JSON</a:t>
            </a:r>
            <a:endParaRPr kumimoji="1" lang="en-US" altLang="zh-CN" sz="2400" b="1" i="0" u="none" strike="noStrike" kern="0" cap="none" spc="0" normalizeH="0" baseline="0" noProof="0" dirty="0" smtClean="0">
              <a:ln>
                <a:noFill/>
              </a:ln>
              <a:solidFill>
                <a:schemeClr val="tx1"/>
              </a:solidFill>
              <a:effectLst/>
              <a:uLnTx/>
              <a:uFillTx/>
              <a:latin typeface="+mn-lt"/>
              <a:ea typeface="+mn-ea"/>
            </a:endParaRPr>
          </a:p>
          <a:p>
            <a:pPr marL="971550" marR="0" lvl="1" indent="-514350" algn="l" defTabSz="914400" rtl="0" eaLnBrk="1" fontAlgn="base" latinLnBrk="0" hangingPunct="1">
              <a:lnSpc>
                <a:spcPct val="90000"/>
              </a:lnSpc>
              <a:spcBef>
                <a:spcPct val="20000"/>
              </a:spcBef>
              <a:spcAft>
                <a:spcPct val="0"/>
              </a:spcAft>
              <a:buClr>
                <a:schemeClr val="accent2"/>
              </a:buClr>
              <a:buSzTx/>
              <a:buFont typeface="+mj-lt"/>
              <a:buAutoNum type="arabicPeriod"/>
              <a:defRPr/>
            </a:pPr>
            <a:r>
              <a:rPr kumimoji="1" lang="zh-CN" altLang="en-US" sz="2400" b="1" i="0" u="none" strike="noStrike" kern="0" cap="none" spc="0" normalizeH="0" baseline="0" noProof="0" smtClean="0">
                <a:ln>
                  <a:noFill/>
                </a:ln>
                <a:solidFill>
                  <a:schemeClr val="tx1"/>
                </a:solidFill>
                <a:effectLst/>
                <a:uLnTx/>
                <a:uFillTx/>
                <a:latin typeface="+mn-lt"/>
                <a:ea typeface="+mn-ea"/>
              </a:rPr>
              <a:t>图、向量</a:t>
            </a:r>
            <a:endParaRPr kumimoji="1" lang="zh-CN" altLang="en-US" sz="24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
              <a:defRPr/>
            </a:pPr>
            <a:endParaRPr kumimoji="1" lang="zh-CN" altLang="en-US"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
              <a:defRPr/>
            </a:pPr>
            <a:r>
              <a:rPr kumimoji="1" lang="zh-CN" altLang="en-US" sz="2800" b="1" i="0" u="none" strike="noStrike" kern="0" cap="none" spc="0" normalizeH="0" baseline="0" noProof="0" dirty="0" smtClean="0">
                <a:ln>
                  <a:noFill/>
                </a:ln>
                <a:solidFill>
                  <a:schemeClr val="tx1"/>
                </a:solidFill>
                <a:effectLst/>
                <a:uLnTx/>
                <a:uFillTx/>
                <a:latin typeface="+mn-lt"/>
                <a:ea typeface="+mn-ea"/>
              </a:rPr>
              <a:t>非结构化数据</a:t>
            </a:r>
            <a:endParaRPr kumimoji="1" lang="en-US" altLang="zh-CN" sz="2800" b="1" i="0" u="none" strike="noStrike" kern="0" cap="none" spc="0" normalizeH="0" baseline="0" noProof="0" dirty="0" smtClean="0">
              <a:ln>
                <a:noFill/>
              </a:ln>
              <a:solidFill>
                <a:schemeClr val="tx1"/>
              </a:solidFill>
              <a:effectLst/>
              <a:uLnTx/>
              <a:uFillTx/>
              <a:latin typeface="+mn-lt"/>
              <a:ea typeface="+mn-ea"/>
            </a:endParaRPr>
          </a:p>
          <a:p>
            <a:pPr marL="971550" marR="0" lvl="1" indent="-514350" algn="l" defTabSz="914400" rtl="0" eaLnBrk="1" fontAlgn="base" latinLnBrk="0" hangingPunct="1">
              <a:lnSpc>
                <a:spcPct val="90000"/>
              </a:lnSpc>
              <a:spcBef>
                <a:spcPct val="20000"/>
              </a:spcBef>
              <a:spcAft>
                <a:spcPct val="0"/>
              </a:spcAft>
              <a:buClr>
                <a:schemeClr val="accent2"/>
              </a:buClr>
              <a:buSzTx/>
              <a:buFont typeface="+mj-lt"/>
              <a:buAutoNum type="arabicPeriod"/>
              <a:defRPr/>
            </a:pPr>
            <a:r>
              <a:rPr kumimoji="1" lang="zh-CN" altLang="en-US" sz="2400" b="1" i="0" u="none" strike="noStrike" kern="0" cap="none" spc="0" normalizeH="0" baseline="0" noProof="0" dirty="0" smtClean="0">
                <a:ln>
                  <a:noFill/>
                </a:ln>
                <a:solidFill>
                  <a:schemeClr val="tx1"/>
                </a:solidFill>
                <a:effectLst/>
                <a:uLnTx/>
                <a:uFillTx/>
                <a:latin typeface="+mn-lt"/>
                <a:ea typeface="+mn-ea"/>
              </a:rPr>
              <a:t>文本文档、电子邮件</a:t>
            </a:r>
            <a:endParaRPr kumimoji="1" lang="en-US" altLang="zh-CN" sz="2400" b="1" i="0" u="none" strike="noStrike" kern="0" cap="none" spc="0" normalizeH="0" baseline="0" noProof="0" dirty="0" smtClean="0">
              <a:ln>
                <a:noFill/>
              </a:ln>
              <a:solidFill>
                <a:schemeClr val="tx1"/>
              </a:solidFill>
              <a:effectLst/>
              <a:uLnTx/>
              <a:uFillTx/>
              <a:latin typeface="+mn-lt"/>
              <a:ea typeface="+mn-ea"/>
            </a:endParaRPr>
          </a:p>
          <a:p>
            <a:pPr marL="971550" marR="0" lvl="1" indent="-514350" algn="l" defTabSz="914400" rtl="0" eaLnBrk="1" fontAlgn="base" latinLnBrk="0" hangingPunct="1">
              <a:lnSpc>
                <a:spcPct val="90000"/>
              </a:lnSpc>
              <a:spcBef>
                <a:spcPct val="20000"/>
              </a:spcBef>
              <a:spcAft>
                <a:spcPct val="0"/>
              </a:spcAft>
              <a:buClr>
                <a:schemeClr val="accent2"/>
              </a:buClr>
              <a:buSzTx/>
              <a:buFont typeface="+mj-lt"/>
              <a:buAutoNum type="arabicPeriod"/>
              <a:defRPr/>
            </a:pPr>
            <a:r>
              <a:rPr kumimoji="1" lang="zh-CN" altLang="en-US" sz="2400" b="1" i="0" u="none" strike="noStrike" kern="0" cap="none" spc="0" normalizeH="0" baseline="0" noProof="0" dirty="0" smtClean="0">
                <a:ln>
                  <a:noFill/>
                </a:ln>
                <a:solidFill>
                  <a:schemeClr val="tx1"/>
                </a:solidFill>
                <a:effectLst/>
                <a:uLnTx/>
                <a:uFillTx/>
                <a:latin typeface="+mn-lt"/>
                <a:ea typeface="+mn-ea"/>
              </a:rPr>
              <a:t>图形、图像</a:t>
            </a:r>
            <a:endParaRPr kumimoji="1" lang="en-US" altLang="zh-CN" sz="2400" b="1" i="0" u="none" strike="noStrike" kern="0" cap="none" spc="0" normalizeH="0" baseline="0" noProof="0" dirty="0" smtClean="0">
              <a:ln>
                <a:noFill/>
              </a:ln>
              <a:solidFill>
                <a:schemeClr val="tx1"/>
              </a:solidFill>
              <a:effectLst/>
              <a:uLnTx/>
              <a:uFillTx/>
              <a:latin typeface="+mn-lt"/>
              <a:ea typeface="+mn-ea"/>
            </a:endParaRPr>
          </a:p>
          <a:p>
            <a:pPr marL="971550" marR="0" lvl="1" indent="-514350" algn="l" defTabSz="914400" rtl="0" eaLnBrk="1" fontAlgn="base" latinLnBrk="0" hangingPunct="1">
              <a:lnSpc>
                <a:spcPct val="90000"/>
              </a:lnSpc>
              <a:spcBef>
                <a:spcPct val="20000"/>
              </a:spcBef>
              <a:spcAft>
                <a:spcPct val="0"/>
              </a:spcAft>
              <a:buClr>
                <a:schemeClr val="accent2"/>
              </a:buClr>
              <a:buSzTx/>
              <a:buFont typeface="+mj-lt"/>
              <a:buAutoNum type="arabicPeriod"/>
              <a:defRPr/>
            </a:pPr>
            <a:r>
              <a:rPr kumimoji="1" lang="zh-CN" altLang="en-US" sz="2400" b="1" i="0" u="none" strike="noStrike" kern="0" cap="none" spc="0" normalizeH="0" baseline="0" noProof="0" dirty="0" smtClean="0">
                <a:ln>
                  <a:noFill/>
                </a:ln>
                <a:solidFill>
                  <a:schemeClr val="tx1"/>
                </a:solidFill>
                <a:effectLst/>
                <a:uLnTx/>
                <a:uFillTx/>
                <a:latin typeface="+mn-lt"/>
                <a:ea typeface="+mn-ea"/>
              </a:rPr>
              <a:t>音频、视频</a:t>
            </a:r>
            <a:endParaRPr kumimoji="1" lang="zh-CN" altLang="en-US" sz="2400" b="1"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endParaRPr kumimoji="1" lang="zh-CN" altLang="en-US" sz="2800" b="1" i="0" u="none" strike="noStrike" kern="0" cap="none" spc="0" normalizeH="0" baseline="0" noProof="0" dirty="0" smtClean="0">
              <a:ln>
                <a:noFill/>
              </a:ln>
              <a:solidFill>
                <a:schemeClr val="tx1"/>
              </a:solidFill>
              <a:effectLst/>
              <a:uLnTx/>
              <a:uFillTx/>
              <a:latin typeface="+mn-lt"/>
              <a:ea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867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28676" name="Rectangle 3"/>
          <p:cNvSpPr>
            <a:spLocks noGrp="1"/>
          </p:cNvSpPr>
          <p:nvPr>
            <p:ph idx="1"/>
          </p:nvPr>
        </p:nvSpPr>
        <p:spPr>
          <a:xfrm>
            <a:off x="685800" y="838200"/>
            <a:ext cx="7772400" cy="5791200"/>
          </a:xfrm>
          <a:ln/>
        </p:spPr>
        <p:txBody>
          <a:bodyPr vert="horz" wrap="square" lIns="91440" tIns="45720" rIns="91440" bIns="45720" anchor="t" anchorCtr="0"/>
          <a:p>
            <a:pPr eaLnBrk="1" hangingPunct="1">
              <a:buClr>
                <a:srgbClr val="FF0000"/>
              </a:buClr>
              <a:buNone/>
            </a:pPr>
            <a:r>
              <a:rPr lang="zh-CN" altLang="en-US" sz="2800" dirty="0"/>
              <a:t>二、数据库</a:t>
            </a:r>
            <a:endParaRPr lang="zh-CN" altLang="en-US" sz="2800" dirty="0"/>
          </a:p>
          <a:p>
            <a:pPr lvl="1" algn="just" eaLnBrk="1" hangingPunct="1"/>
            <a:r>
              <a:rPr lang="zh-CN" altLang="en-US" dirty="0"/>
              <a:t>数据库的定义</a:t>
            </a:r>
            <a:endParaRPr lang="zh-CN" altLang="en-US" dirty="0"/>
          </a:p>
          <a:p>
            <a:pPr lvl="2" algn="just" eaLnBrk="1" hangingPunct="1">
              <a:lnSpc>
                <a:spcPct val="12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数据库</a:t>
            </a:r>
            <a:r>
              <a:rPr lang="en-US" altLang="zh-CN" dirty="0">
                <a:latin typeface="宋体" panose="02010600030101010101" pitchFamily="2" charset="-122"/>
                <a:ea typeface="宋体" panose="02010600030101010101" pitchFamily="2" charset="-122"/>
              </a:rPr>
              <a:t>(Database,</a:t>
            </a:r>
            <a:r>
              <a:rPr lang="zh-CN" altLang="en-US" dirty="0">
                <a:latin typeface="宋体" panose="02010600030101010101" pitchFamily="2" charset="-122"/>
                <a:ea typeface="宋体" panose="02010600030101010101" pitchFamily="2" charset="-122"/>
              </a:rPr>
              <a:t>简称</a:t>
            </a:r>
            <a:r>
              <a:rPr lang="en-US" altLang="zh-CN" dirty="0">
                <a:latin typeface="宋体" panose="02010600030101010101" pitchFamily="2" charset="-122"/>
                <a:ea typeface="宋体" panose="02010600030101010101" pitchFamily="2" charset="-122"/>
              </a:rPr>
              <a:t>DB)</a:t>
            </a:r>
            <a:r>
              <a:rPr lang="zh-CN" altLang="en-US" dirty="0">
                <a:latin typeface="宋体" panose="02010600030101010101" pitchFamily="2" charset="-122"/>
                <a:ea typeface="宋体" panose="02010600030101010101" pitchFamily="2" charset="-122"/>
              </a:rPr>
              <a:t>是</a:t>
            </a:r>
            <a:r>
              <a:rPr lang="zh-CN" altLang="en-US" u="sng" dirty="0">
                <a:latin typeface="宋体" panose="02010600030101010101" pitchFamily="2" charset="-122"/>
                <a:ea typeface="宋体" panose="02010600030101010101" pitchFamily="2" charset="-122"/>
              </a:rPr>
              <a:t>长期</a:t>
            </a:r>
            <a:r>
              <a:rPr lang="zh-CN" altLang="en-US" dirty="0">
                <a:latin typeface="宋体" panose="02010600030101010101" pitchFamily="2" charset="-122"/>
                <a:ea typeface="宋体" panose="02010600030101010101" pitchFamily="2" charset="-122"/>
              </a:rPr>
              <a:t>储存在计算机内、有</a:t>
            </a:r>
            <a:r>
              <a:rPr lang="zh-CN" altLang="en-US" u="sng" dirty="0">
                <a:latin typeface="宋体" panose="02010600030101010101" pitchFamily="2" charset="-122"/>
                <a:ea typeface="宋体" panose="02010600030101010101" pitchFamily="2" charset="-122"/>
              </a:rPr>
              <a:t>组织</a:t>
            </a:r>
            <a:r>
              <a:rPr lang="zh-CN" altLang="en-US" dirty="0">
                <a:latin typeface="宋体" panose="02010600030101010101" pitchFamily="2" charset="-122"/>
                <a:ea typeface="宋体" panose="02010600030101010101" pitchFamily="2" charset="-122"/>
              </a:rPr>
              <a:t>的、可</a:t>
            </a:r>
            <a:r>
              <a:rPr lang="zh-CN" altLang="en-US" u="sng" dirty="0">
                <a:latin typeface="宋体" panose="02010600030101010101" pitchFamily="2" charset="-122"/>
                <a:ea typeface="宋体" panose="02010600030101010101" pitchFamily="2" charset="-122"/>
              </a:rPr>
              <a:t>共享</a:t>
            </a:r>
            <a:r>
              <a:rPr lang="zh-CN" altLang="en-US" dirty="0">
                <a:latin typeface="宋体" panose="02010600030101010101" pitchFamily="2" charset="-122"/>
                <a:ea typeface="宋体" panose="02010600030101010101" pitchFamily="2" charset="-122"/>
              </a:rPr>
              <a:t>的</a:t>
            </a:r>
            <a:r>
              <a:rPr lang="zh-CN" altLang="en-US" u="sng" dirty="0">
                <a:latin typeface="宋体" panose="02010600030101010101" pitchFamily="2" charset="-122"/>
                <a:ea typeface="宋体" panose="02010600030101010101" pitchFamily="2" charset="-122"/>
              </a:rPr>
              <a:t>大量</a:t>
            </a:r>
            <a:r>
              <a:rPr lang="zh-CN" altLang="en-US" dirty="0">
                <a:latin typeface="宋体" panose="02010600030101010101" pitchFamily="2" charset="-122"/>
                <a:ea typeface="宋体" panose="02010600030101010101" pitchFamily="2" charset="-122"/>
              </a:rPr>
              <a:t>数据集合</a:t>
            </a:r>
            <a:endParaRPr lang="zh-CN" altLang="en-US" dirty="0">
              <a:latin typeface="宋体" panose="02010600030101010101" pitchFamily="2" charset="-122"/>
              <a:ea typeface="宋体" panose="02010600030101010101" pitchFamily="2" charset="-122"/>
            </a:endParaRPr>
          </a:p>
          <a:p>
            <a:pPr lvl="1" algn="just" eaLnBrk="1" hangingPunct="1"/>
            <a:r>
              <a:rPr lang="zh-CN" altLang="en-US" dirty="0"/>
              <a:t>数据库的特征</a:t>
            </a:r>
            <a:endParaRPr lang="zh-CN" altLang="en-US" dirty="0"/>
          </a:p>
          <a:p>
            <a:pPr lvl="2" algn="just" eaLnBrk="1" hangingPunct="1">
              <a:lnSpc>
                <a:spcPct val="140000"/>
              </a:lnSpc>
              <a:buClr>
                <a:srgbClr val="FF3300"/>
              </a:buClr>
              <a:buFont typeface="Wingdings" panose="05000000000000000000" pitchFamily="2" charset="2"/>
              <a:buChar char="§"/>
            </a:pPr>
            <a:r>
              <a:rPr lang="zh-CN" altLang="en-US" dirty="0">
                <a:ea typeface="宋体" panose="02010600030101010101" pitchFamily="2" charset="-122"/>
              </a:rPr>
              <a:t>数据按一定的数据模型组织、描述和储存</a:t>
            </a:r>
            <a:endParaRPr lang="zh-CN" altLang="en-US" dirty="0">
              <a:ea typeface="宋体" panose="02010600030101010101" pitchFamily="2" charset="-122"/>
            </a:endParaRPr>
          </a:p>
          <a:p>
            <a:pPr lvl="2" eaLnBrk="1" hangingPunct="1">
              <a:lnSpc>
                <a:spcPct val="140000"/>
              </a:lnSpc>
              <a:buClr>
                <a:srgbClr val="FF3300"/>
              </a:buClr>
              <a:buFont typeface="Wingdings" panose="05000000000000000000" pitchFamily="2" charset="2"/>
              <a:buChar char="§"/>
            </a:pPr>
            <a:r>
              <a:rPr lang="zh-CN" altLang="en-US" dirty="0">
                <a:ea typeface="宋体" panose="02010600030101010101" pitchFamily="2" charset="-122"/>
              </a:rPr>
              <a:t>可为各种用户共享</a:t>
            </a:r>
            <a:endParaRPr lang="zh-CN" altLang="en-US" dirty="0">
              <a:ea typeface="宋体" panose="02010600030101010101" pitchFamily="2" charset="-122"/>
            </a:endParaRPr>
          </a:p>
          <a:p>
            <a:pPr lvl="2" algn="just" eaLnBrk="1" hangingPunct="1">
              <a:lnSpc>
                <a:spcPct val="140000"/>
              </a:lnSpc>
              <a:buClr>
                <a:srgbClr val="FF3300"/>
              </a:buClr>
              <a:buFont typeface="Wingdings" panose="05000000000000000000" pitchFamily="2" charset="2"/>
              <a:buChar char="§"/>
            </a:pPr>
            <a:r>
              <a:rPr lang="zh-CN" altLang="en-US" dirty="0">
                <a:ea typeface="宋体" panose="02010600030101010101" pitchFamily="2" charset="-122"/>
              </a:rPr>
              <a:t>冗余度较小</a:t>
            </a:r>
            <a:endParaRPr lang="zh-CN" altLang="en-US" dirty="0">
              <a:ea typeface="宋体" panose="02010600030101010101" pitchFamily="2" charset="-122"/>
            </a:endParaRPr>
          </a:p>
          <a:p>
            <a:pPr lvl="2" algn="just" eaLnBrk="1" hangingPunct="1">
              <a:lnSpc>
                <a:spcPct val="140000"/>
              </a:lnSpc>
              <a:buClr>
                <a:srgbClr val="FF3300"/>
              </a:buClr>
              <a:buFont typeface="Wingdings" panose="05000000000000000000" pitchFamily="2" charset="2"/>
              <a:buChar char="§"/>
            </a:pPr>
            <a:r>
              <a:rPr lang="zh-CN" altLang="en-US" dirty="0">
                <a:ea typeface="宋体" panose="02010600030101010101" pitchFamily="2" charset="-122"/>
              </a:rPr>
              <a:t>数据独立性较高</a:t>
            </a:r>
            <a:endParaRPr lang="zh-CN" altLang="en-US" dirty="0">
              <a:ea typeface="宋体" panose="02010600030101010101" pitchFamily="2" charset="-122"/>
            </a:endParaRPr>
          </a:p>
          <a:p>
            <a:pPr lvl="2" algn="just" eaLnBrk="1" hangingPunct="1">
              <a:lnSpc>
                <a:spcPct val="140000"/>
              </a:lnSpc>
              <a:buClr>
                <a:srgbClr val="FF3300"/>
              </a:buClr>
              <a:buFont typeface="Wingdings" panose="05000000000000000000" pitchFamily="2" charset="2"/>
              <a:buChar char="§"/>
            </a:pPr>
            <a:r>
              <a:rPr lang="zh-CN" altLang="en-US" dirty="0">
                <a:ea typeface="宋体" panose="02010600030101010101" pitchFamily="2" charset="-122"/>
              </a:rPr>
              <a:t>易扩展</a:t>
            </a:r>
            <a:endParaRPr lang="zh-CN" altLang="en-US"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969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29700" name="Rectangle 3"/>
          <p:cNvSpPr>
            <a:spLocks noGrp="1"/>
          </p:cNvSpPr>
          <p:nvPr>
            <p:ph idx="1"/>
          </p:nvPr>
        </p:nvSpPr>
        <p:spPr>
          <a:xfrm>
            <a:off x="685800" y="838200"/>
            <a:ext cx="7772400" cy="5791200"/>
          </a:xfrm>
          <a:ln/>
        </p:spPr>
        <p:txBody>
          <a:bodyPr vert="horz" wrap="square" lIns="91440" tIns="45720" rIns="91440" bIns="45720" anchor="t" anchorCtr="0"/>
          <a:p>
            <a:pPr eaLnBrk="1" hangingPunct="1">
              <a:buClr>
                <a:srgbClr val="FF0000"/>
              </a:buClr>
              <a:buNone/>
            </a:pPr>
            <a:r>
              <a:rPr lang="zh-CN" altLang="en-US" dirty="0"/>
              <a:t>三、数据库管理系统</a:t>
            </a:r>
            <a:endParaRPr lang="zh-CN" altLang="en-US" dirty="0"/>
          </a:p>
          <a:p>
            <a:pPr lvl="1" algn="just" eaLnBrk="1" hangingPunct="1"/>
            <a:r>
              <a:rPr lang="zh-CN" altLang="en-US" dirty="0"/>
              <a:t>什么是</a:t>
            </a:r>
            <a:r>
              <a:rPr lang="en-US" altLang="zh-CN" dirty="0"/>
              <a:t>DBMS</a:t>
            </a:r>
            <a:endParaRPr lang="en-US" altLang="zh-CN" dirty="0"/>
          </a:p>
          <a:p>
            <a:pPr lvl="2" algn="just" eaLnBrk="1" hangingPunct="1">
              <a:lnSpc>
                <a:spcPct val="150000"/>
              </a:lnSpc>
              <a:buClr>
                <a:srgbClr val="FF3300"/>
              </a:buClr>
              <a:buFont typeface="Wingdings" panose="05000000000000000000" pitchFamily="2" charset="2"/>
              <a:buChar char="§"/>
            </a:pPr>
            <a:r>
              <a:rPr lang="zh-CN" altLang="en-US" dirty="0"/>
              <a:t>数据库管理系统（</a:t>
            </a:r>
            <a:r>
              <a:rPr lang="en-US" altLang="zh-CN" dirty="0"/>
              <a:t>Database  Management System</a:t>
            </a:r>
            <a:r>
              <a:rPr lang="zh-CN" altLang="en-US" dirty="0"/>
              <a:t>，简称</a:t>
            </a:r>
            <a:r>
              <a:rPr lang="en-US" altLang="zh-CN" dirty="0"/>
              <a:t>DBMS</a:t>
            </a:r>
            <a:r>
              <a:rPr lang="zh-CN" altLang="en-US" dirty="0"/>
              <a:t>）是位于用户与操作系统之间的一层数据管理软件。</a:t>
            </a:r>
            <a:endParaRPr lang="zh-CN" altLang="en-US" dirty="0"/>
          </a:p>
          <a:p>
            <a:pPr lvl="1" algn="just" eaLnBrk="1" hangingPunct="1"/>
            <a:r>
              <a:rPr lang="en-US" altLang="zh-CN" dirty="0"/>
              <a:t>DBMS</a:t>
            </a:r>
            <a:r>
              <a:rPr lang="zh-CN" altLang="en-US" dirty="0"/>
              <a:t>的用途</a:t>
            </a:r>
            <a:endParaRPr lang="zh-CN" altLang="en-US" dirty="0"/>
          </a:p>
          <a:p>
            <a:pPr lvl="2" algn="just" eaLnBrk="1" hangingPunct="1">
              <a:buClr>
                <a:srgbClr val="FF3300"/>
              </a:buClr>
              <a:buFont typeface="Wingdings" panose="05000000000000000000" pitchFamily="2" charset="2"/>
              <a:buChar char="§"/>
            </a:pPr>
            <a:r>
              <a:rPr lang="zh-CN" altLang="en-US" dirty="0"/>
              <a:t>科学地组织和存储数据、高效地获取和维护数据</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2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30724" name="Rectangle 3"/>
          <p:cNvSpPr>
            <a:spLocks noGrp="1"/>
          </p:cNvSpPr>
          <p:nvPr>
            <p:ph idx="1"/>
          </p:nvPr>
        </p:nvSpPr>
        <p:spPr>
          <a:xfrm>
            <a:off x="468313" y="836613"/>
            <a:ext cx="8207375" cy="5688012"/>
          </a:xfrm>
          <a:ln/>
        </p:spPr>
        <p:txBody>
          <a:bodyPr vert="horz" wrap="square" lIns="91440" tIns="45720" rIns="91440" bIns="45720" anchor="t" anchorCtr="0"/>
          <a:p>
            <a:pPr lvl="1" algn="just" eaLnBrk="1" hangingPunct="1">
              <a:buNone/>
            </a:pPr>
            <a:r>
              <a:rPr lang="en-US" altLang="zh-CN" sz="2900" b="0" dirty="0"/>
              <a:t>DBMS</a:t>
            </a:r>
            <a:r>
              <a:rPr lang="zh-CN" altLang="en-US" sz="2900" b="0" dirty="0"/>
              <a:t>的功能</a:t>
            </a:r>
            <a:endParaRPr lang="zh-CN" altLang="en-US" sz="2900" b="0" dirty="0"/>
          </a:p>
          <a:p>
            <a:pPr lvl="1" algn="just" eaLnBrk="1" hangingPunct="1">
              <a:buClr>
                <a:srgbClr val="FF0000"/>
              </a:buClr>
            </a:pPr>
            <a:r>
              <a:rPr lang="zh-CN" altLang="en-US" sz="2900" b="0" dirty="0"/>
              <a:t>数据定义功能</a:t>
            </a:r>
            <a:endParaRPr lang="zh-CN" altLang="en-US" sz="2900" b="0" dirty="0"/>
          </a:p>
          <a:p>
            <a:pPr lvl="1" algn="just" eaLnBrk="1" hangingPunct="1">
              <a:lnSpc>
                <a:spcPct val="140000"/>
              </a:lnSpc>
              <a:buNone/>
            </a:pPr>
            <a:r>
              <a:rPr lang="zh-CN" altLang="en-US" sz="2400" dirty="0"/>
              <a:t>       提供数据定义语言</a:t>
            </a:r>
            <a:r>
              <a:rPr lang="en-US" altLang="zh-CN" sz="2400" dirty="0"/>
              <a:t>(DDL)</a:t>
            </a:r>
            <a:endParaRPr lang="en-US" altLang="zh-CN" sz="2400" dirty="0"/>
          </a:p>
          <a:p>
            <a:pPr lvl="1" algn="just" eaLnBrk="1" hangingPunct="1">
              <a:lnSpc>
                <a:spcPct val="140000"/>
              </a:lnSpc>
              <a:buNone/>
            </a:pPr>
            <a:r>
              <a:rPr lang="en-US" altLang="zh-CN" sz="2400" dirty="0"/>
              <a:t>       </a:t>
            </a:r>
            <a:r>
              <a:rPr lang="zh-CN" altLang="en-US" sz="2400" dirty="0"/>
              <a:t>定义数据库中的数据对象</a:t>
            </a:r>
            <a:endParaRPr lang="zh-CN" altLang="en-US" sz="2400" dirty="0"/>
          </a:p>
          <a:p>
            <a:pPr lvl="1" algn="just" eaLnBrk="1" hangingPunct="1">
              <a:buClr>
                <a:srgbClr val="FF0000"/>
              </a:buClr>
            </a:pPr>
            <a:r>
              <a:rPr lang="zh-CN" altLang="en-US" sz="2900" b="0" dirty="0"/>
              <a:t>数据组织、存储和管理</a:t>
            </a:r>
            <a:endParaRPr lang="zh-CN" altLang="en-US" sz="2900" b="0" dirty="0"/>
          </a:p>
          <a:p>
            <a:pPr lvl="1" algn="just" eaLnBrk="1" hangingPunct="1">
              <a:lnSpc>
                <a:spcPct val="140000"/>
              </a:lnSpc>
              <a:buNone/>
            </a:pPr>
            <a:r>
              <a:rPr lang="zh-CN" altLang="en-US" sz="3000" b="0" dirty="0"/>
              <a:t>      </a:t>
            </a:r>
            <a:r>
              <a:rPr lang="zh-CN" altLang="en-US" sz="2400" dirty="0"/>
              <a:t>分类组织、存储和管理各种数据</a:t>
            </a:r>
            <a:endParaRPr lang="zh-CN" altLang="en-US" sz="2400" dirty="0"/>
          </a:p>
          <a:p>
            <a:pPr lvl="1" algn="just" eaLnBrk="1" hangingPunct="1">
              <a:lnSpc>
                <a:spcPct val="140000"/>
              </a:lnSpc>
              <a:buNone/>
            </a:pPr>
            <a:r>
              <a:rPr lang="zh-CN" altLang="en-US" sz="2400" dirty="0"/>
              <a:t>        确定组织数据的文件结构和存取方式</a:t>
            </a:r>
            <a:endParaRPr lang="zh-CN" altLang="en-US" sz="2400" dirty="0"/>
          </a:p>
          <a:p>
            <a:pPr lvl="1" algn="just" eaLnBrk="1" hangingPunct="1">
              <a:lnSpc>
                <a:spcPct val="140000"/>
              </a:lnSpc>
              <a:buNone/>
            </a:pPr>
            <a:r>
              <a:rPr lang="zh-CN" altLang="en-US" sz="2400" dirty="0"/>
              <a:t>        实现数据之间的联系</a:t>
            </a:r>
            <a:endParaRPr lang="zh-CN" altLang="en-US" sz="2400" dirty="0"/>
          </a:p>
          <a:p>
            <a:pPr lvl="1" algn="just" eaLnBrk="1" hangingPunct="1">
              <a:lnSpc>
                <a:spcPct val="140000"/>
              </a:lnSpc>
              <a:buNone/>
            </a:pPr>
            <a:r>
              <a:rPr lang="zh-CN" altLang="en-US" sz="2400" dirty="0"/>
              <a:t>        提供多种存取方法提高存取效率</a:t>
            </a:r>
            <a:endParaRPr lang="zh-CN"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174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31748" name="Rectangle 3"/>
          <p:cNvSpPr>
            <a:spLocks noGrp="1"/>
          </p:cNvSpPr>
          <p:nvPr>
            <p:ph idx="1"/>
          </p:nvPr>
        </p:nvSpPr>
        <p:spPr>
          <a:xfrm>
            <a:off x="468313" y="836613"/>
            <a:ext cx="8496300" cy="5688012"/>
          </a:xfrm>
          <a:ln/>
        </p:spPr>
        <p:txBody>
          <a:bodyPr vert="horz" wrap="square" lIns="91440" tIns="45720" rIns="91440" bIns="45720" anchor="t" anchorCtr="0"/>
          <a:p>
            <a:pPr lvl="1" algn="just" eaLnBrk="1" hangingPunct="1">
              <a:buClr>
                <a:srgbClr val="FF0000"/>
              </a:buClr>
              <a:buNone/>
            </a:pPr>
            <a:r>
              <a:rPr lang="en-US" altLang="zh-CN" sz="2900" b="0" dirty="0"/>
              <a:t>DBMS</a:t>
            </a:r>
            <a:r>
              <a:rPr lang="zh-CN" altLang="en-US" sz="2900" b="0" dirty="0"/>
              <a:t>的功能</a:t>
            </a:r>
            <a:r>
              <a:rPr lang="en-US" altLang="zh-CN" sz="2900" b="0" dirty="0"/>
              <a:t>(</a:t>
            </a:r>
            <a:r>
              <a:rPr lang="zh-CN" altLang="en-US" sz="2900" b="0" dirty="0"/>
              <a:t>续</a:t>
            </a:r>
            <a:r>
              <a:rPr lang="en-US" altLang="zh-CN" sz="2900" b="0" dirty="0"/>
              <a:t>)</a:t>
            </a:r>
            <a:endParaRPr lang="en-US" altLang="zh-CN" sz="2900" b="0" dirty="0"/>
          </a:p>
          <a:p>
            <a:pPr lvl="1" algn="just" eaLnBrk="1" hangingPunct="1">
              <a:buClr>
                <a:srgbClr val="FF0000"/>
              </a:buClr>
            </a:pPr>
            <a:r>
              <a:rPr lang="zh-CN" altLang="en-US" sz="2900" b="0" dirty="0"/>
              <a:t>数据操纵功能</a:t>
            </a:r>
            <a:endParaRPr lang="zh-CN" altLang="en-US" sz="2900" b="0" dirty="0"/>
          </a:p>
          <a:p>
            <a:pPr lvl="1" algn="just" eaLnBrk="1" hangingPunct="1">
              <a:lnSpc>
                <a:spcPct val="150000"/>
              </a:lnSpc>
              <a:buClr>
                <a:srgbClr val="FF0000"/>
              </a:buClr>
              <a:buNone/>
            </a:pPr>
            <a:r>
              <a:rPr lang="zh-CN" altLang="en-US" sz="2600" dirty="0"/>
              <a:t>     </a:t>
            </a:r>
            <a:r>
              <a:rPr lang="zh-CN" altLang="en-US" sz="2400" dirty="0"/>
              <a:t>提供数据操纵语言</a:t>
            </a:r>
            <a:r>
              <a:rPr lang="en-US" altLang="zh-CN" sz="2400" dirty="0"/>
              <a:t>(DML)</a:t>
            </a:r>
            <a:endParaRPr lang="en-US" altLang="zh-CN" sz="2400" dirty="0"/>
          </a:p>
          <a:p>
            <a:pPr lvl="1" algn="just" eaLnBrk="1" hangingPunct="1">
              <a:lnSpc>
                <a:spcPct val="150000"/>
              </a:lnSpc>
              <a:buClr>
                <a:srgbClr val="FF0000"/>
              </a:buClr>
              <a:buNone/>
            </a:pPr>
            <a:r>
              <a:rPr lang="en-US" altLang="zh-CN" sz="2400" dirty="0"/>
              <a:t>      </a:t>
            </a:r>
            <a:r>
              <a:rPr lang="zh-CN" altLang="en-US" sz="2400" dirty="0"/>
              <a:t>实现对数据库的基本操作  </a:t>
            </a:r>
            <a:r>
              <a:rPr lang="en-US" altLang="zh-CN" sz="2400" dirty="0"/>
              <a:t>(</a:t>
            </a:r>
            <a:r>
              <a:rPr lang="zh-CN" altLang="en-US" sz="2400" dirty="0"/>
              <a:t>查询、插入、删除和修改</a:t>
            </a:r>
            <a:r>
              <a:rPr lang="en-US" altLang="zh-CN" sz="2400" dirty="0"/>
              <a:t>)</a:t>
            </a:r>
            <a:endParaRPr lang="en-US" altLang="zh-CN" sz="2400" dirty="0"/>
          </a:p>
          <a:p>
            <a:pPr lvl="1" algn="just" eaLnBrk="1" hangingPunct="1">
              <a:spcAft>
                <a:spcPct val="20000"/>
              </a:spcAft>
              <a:buClr>
                <a:srgbClr val="FF0000"/>
              </a:buClr>
            </a:pPr>
            <a:r>
              <a:rPr lang="zh-CN" altLang="en-US" sz="2900" b="0" dirty="0"/>
              <a:t>数据库的事务管理和运行管理</a:t>
            </a:r>
            <a:endParaRPr lang="zh-CN" altLang="en-US" sz="2900" b="0" dirty="0"/>
          </a:p>
          <a:p>
            <a:pPr lvl="1" algn="just" eaLnBrk="1" hangingPunct="1">
              <a:buClr>
                <a:srgbClr val="FF0000"/>
              </a:buClr>
              <a:buNone/>
            </a:pPr>
            <a:r>
              <a:rPr lang="zh-CN" altLang="en-US" sz="2400" dirty="0"/>
              <a:t>      数据库在建立、运行和维护时由</a:t>
            </a:r>
            <a:r>
              <a:rPr lang="en-US" altLang="zh-CN" sz="2400" dirty="0"/>
              <a:t>DBMS</a:t>
            </a:r>
            <a:r>
              <a:rPr lang="zh-CN" altLang="en-US" sz="2400" dirty="0"/>
              <a:t>统一管理和控制</a:t>
            </a:r>
            <a:endParaRPr lang="zh-CN" altLang="en-US" sz="2400" dirty="0"/>
          </a:p>
          <a:p>
            <a:pPr lvl="2" algn="just" eaLnBrk="1" hangingPunct="1">
              <a:lnSpc>
                <a:spcPct val="150000"/>
              </a:lnSpc>
              <a:buClr>
                <a:srgbClr val="FF0000"/>
              </a:buClr>
              <a:buNone/>
            </a:pPr>
            <a:r>
              <a:rPr lang="zh-CN" altLang="en-US" sz="2200" dirty="0">
                <a:ea typeface="宋体" panose="02010600030101010101" pitchFamily="2" charset="-122"/>
              </a:rPr>
              <a:t>保证数据的安全性、完整性、多用户对数据的并发使用</a:t>
            </a:r>
            <a:endParaRPr lang="zh-CN" altLang="en-US" sz="2200" dirty="0">
              <a:ea typeface="宋体" panose="02010600030101010101" pitchFamily="2" charset="-122"/>
            </a:endParaRPr>
          </a:p>
          <a:p>
            <a:pPr lvl="2" algn="just" eaLnBrk="1" hangingPunct="1">
              <a:lnSpc>
                <a:spcPct val="150000"/>
              </a:lnSpc>
              <a:buClr>
                <a:srgbClr val="FF0000"/>
              </a:buClr>
              <a:buNone/>
            </a:pPr>
            <a:r>
              <a:rPr lang="zh-CN" altLang="en-US" sz="2200" dirty="0">
                <a:ea typeface="宋体" panose="02010600030101010101" pitchFamily="2" charset="-122"/>
              </a:rPr>
              <a:t>发生故障后的系统恢复</a:t>
            </a:r>
            <a:endParaRPr lang="zh-CN" altLang="en-US" sz="2200"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277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32772" name="Rectangle 3"/>
          <p:cNvSpPr>
            <a:spLocks noGrp="1"/>
          </p:cNvSpPr>
          <p:nvPr>
            <p:ph idx="1"/>
          </p:nvPr>
        </p:nvSpPr>
        <p:spPr>
          <a:xfrm>
            <a:off x="468313" y="836613"/>
            <a:ext cx="8207375" cy="5688012"/>
          </a:xfrm>
          <a:ln/>
        </p:spPr>
        <p:txBody>
          <a:bodyPr vert="horz" wrap="square" lIns="91440" tIns="45720" rIns="91440" bIns="45720" anchor="t" anchorCtr="0"/>
          <a:p>
            <a:pPr lvl="1" algn="just" eaLnBrk="1" hangingPunct="1">
              <a:buClr>
                <a:srgbClr val="FF0000"/>
              </a:buClr>
              <a:buNone/>
            </a:pPr>
            <a:r>
              <a:rPr lang="en-US" altLang="zh-CN" sz="3300" b="0" dirty="0"/>
              <a:t>DBMS</a:t>
            </a:r>
            <a:r>
              <a:rPr lang="zh-CN" altLang="en-US" sz="3300" b="0" dirty="0"/>
              <a:t>的功能</a:t>
            </a:r>
            <a:r>
              <a:rPr lang="en-US" altLang="zh-CN" sz="3300" b="0" dirty="0"/>
              <a:t>(</a:t>
            </a:r>
            <a:r>
              <a:rPr lang="zh-CN" altLang="en-US" sz="3300" b="0" dirty="0"/>
              <a:t>续</a:t>
            </a:r>
            <a:r>
              <a:rPr lang="en-US" altLang="zh-CN" sz="3300" b="0" dirty="0"/>
              <a:t>)</a:t>
            </a:r>
            <a:endParaRPr lang="en-US" altLang="zh-CN" sz="3300" b="0" dirty="0"/>
          </a:p>
          <a:p>
            <a:pPr lvl="1" algn="just" eaLnBrk="1" hangingPunct="1">
              <a:lnSpc>
                <a:spcPct val="90000"/>
              </a:lnSpc>
              <a:buClr>
                <a:srgbClr val="FF0000"/>
              </a:buClr>
            </a:pPr>
            <a:r>
              <a:rPr lang="zh-CN" altLang="en-US" sz="2900" b="0" dirty="0"/>
              <a:t>数据库的建立和维护功能</a:t>
            </a:r>
            <a:r>
              <a:rPr lang="en-US" altLang="zh-CN" sz="2900" b="0" dirty="0"/>
              <a:t>(</a:t>
            </a:r>
            <a:r>
              <a:rPr lang="zh-CN" altLang="en-US" sz="2900" b="0" dirty="0"/>
              <a:t>实用程序</a:t>
            </a:r>
            <a:r>
              <a:rPr lang="en-US" altLang="zh-CN" sz="2900" b="0" dirty="0"/>
              <a:t>)</a:t>
            </a:r>
            <a:endParaRPr lang="en-US" altLang="zh-CN" sz="2900" b="0" dirty="0"/>
          </a:p>
          <a:p>
            <a:pPr lvl="2" algn="just" eaLnBrk="1" hangingPunct="1">
              <a:buClr>
                <a:srgbClr val="FF0000"/>
              </a:buClr>
              <a:buNone/>
            </a:pPr>
            <a:r>
              <a:rPr lang="en-US" altLang="zh-CN" sz="2200" b="0" dirty="0">
                <a:ea typeface="宋体" panose="02010600030101010101" pitchFamily="2" charset="-122"/>
              </a:rPr>
              <a:t>   </a:t>
            </a:r>
            <a:r>
              <a:rPr lang="zh-CN" altLang="en-US" sz="2200" dirty="0">
                <a:ea typeface="宋体" panose="02010600030101010101" pitchFamily="2" charset="-122"/>
              </a:rPr>
              <a:t>数据库初始数据装载转换</a:t>
            </a:r>
            <a:endParaRPr lang="zh-CN" altLang="en-US" sz="2200" dirty="0">
              <a:ea typeface="宋体" panose="02010600030101010101" pitchFamily="2" charset="-122"/>
            </a:endParaRPr>
          </a:p>
          <a:p>
            <a:pPr lvl="2" algn="just" eaLnBrk="1" hangingPunct="1">
              <a:buClr>
                <a:srgbClr val="FF0000"/>
              </a:buClr>
              <a:buNone/>
            </a:pPr>
            <a:r>
              <a:rPr lang="zh-CN" altLang="en-US" sz="2200" dirty="0">
                <a:ea typeface="宋体" panose="02010600030101010101" pitchFamily="2" charset="-122"/>
              </a:rPr>
              <a:t>  	数据库转储</a:t>
            </a:r>
            <a:endParaRPr lang="zh-CN" altLang="en-US" sz="2200" dirty="0">
              <a:ea typeface="宋体" panose="02010600030101010101" pitchFamily="2" charset="-122"/>
            </a:endParaRPr>
          </a:p>
          <a:p>
            <a:pPr lvl="2" algn="just" eaLnBrk="1" hangingPunct="1">
              <a:buClr>
                <a:srgbClr val="FF0000"/>
              </a:buClr>
              <a:buNone/>
            </a:pPr>
            <a:r>
              <a:rPr lang="zh-CN" altLang="en-US" sz="2200" dirty="0">
                <a:ea typeface="宋体" panose="02010600030101010101" pitchFamily="2" charset="-122"/>
              </a:rPr>
              <a:t>  	介质故障恢复</a:t>
            </a:r>
            <a:endParaRPr lang="zh-CN" altLang="en-US" sz="2200" dirty="0">
              <a:ea typeface="宋体" panose="02010600030101010101" pitchFamily="2" charset="-122"/>
            </a:endParaRPr>
          </a:p>
          <a:p>
            <a:pPr lvl="2" algn="just" eaLnBrk="1" hangingPunct="1">
              <a:buClr>
                <a:srgbClr val="FF0000"/>
              </a:buClr>
              <a:buNone/>
            </a:pPr>
            <a:r>
              <a:rPr lang="zh-CN" altLang="en-US" sz="2200" dirty="0">
                <a:ea typeface="宋体" panose="02010600030101010101" pitchFamily="2" charset="-122"/>
              </a:rPr>
              <a:t>  	数据库的重组织</a:t>
            </a:r>
            <a:endParaRPr lang="zh-CN" altLang="en-US" sz="2200" dirty="0">
              <a:ea typeface="宋体" panose="02010600030101010101" pitchFamily="2" charset="-122"/>
            </a:endParaRPr>
          </a:p>
          <a:p>
            <a:pPr lvl="2" algn="just" eaLnBrk="1" hangingPunct="1">
              <a:buClr>
                <a:srgbClr val="FF0000"/>
              </a:buClr>
              <a:buNone/>
            </a:pPr>
            <a:r>
              <a:rPr lang="zh-CN" altLang="en-US" sz="2200" dirty="0">
                <a:ea typeface="宋体" panose="02010600030101010101" pitchFamily="2" charset="-122"/>
              </a:rPr>
              <a:t>  	性能监视分析等</a:t>
            </a:r>
            <a:endParaRPr lang="zh-CN" altLang="en-US" sz="2200" dirty="0">
              <a:ea typeface="宋体" panose="02010600030101010101" pitchFamily="2" charset="-122"/>
            </a:endParaRPr>
          </a:p>
          <a:p>
            <a:pPr lvl="1" algn="just" eaLnBrk="1" hangingPunct="1">
              <a:buClr>
                <a:srgbClr val="FF0000"/>
              </a:buClr>
            </a:pPr>
            <a:r>
              <a:rPr lang="zh-CN" altLang="en-US" sz="2900" b="0" dirty="0"/>
              <a:t>其它功能</a:t>
            </a:r>
            <a:endParaRPr lang="zh-CN" altLang="en-US" sz="2900" b="0" dirty="0"/>
          </a:p>
          <a:p>
            <a:pPr eaLnBrk="1" hangingPunct="1">
              <a:buClr>
                <a:srgbClr val="FF0000"/>
              </a:buClr>
              <a:buNone/>
            </a:pPr>
            <a:r>
              <a:rPr lang="zh-CN" altLang="en-US" dirty="0"/>
              <a:t>           </a:t>
            </a:r>
            <a:r>
              <a:rPr lang="en-US" altLang="zh-CN" sz="2400" dirty="0"/>
              <a:t>DBMS</a:t>
            </a:r>
            <a:r>
              <a:rPr lang="zh-CN" altLang="en-US" sz="2400" dirty="0"/>
              <a:t>与网络中其它软件系统的通信</a:t>
            </a:r>
            <a:endParaRPr lang="zh-CN" altLang="en-US" sz="2400" dirty="0"/>
          </a:p>
          <a:p>
            <a:pPr eaLnBrk="1" hangingPunct="1">
              <a:buClr>
                <a:srgbClr val="FF0000"/>
              </a:buClr>
              <a:buNone/>
            </a:pPr>
            <a:r>
              <a:rPr lang="zh-CN" altLang="en-US" sz="2400" dirty="0"/>
              <a:t>               两个</a:t>
            </a:r>
            <a:r>
              <a:rPr lang="en-US" altLang="zh-CN" sz="2400" dirty="0"/>
              <a:t>DBMS</a:t>
            </a:r>
            <a:r>
              <a:rPr lang="zh-CN" altLang="en-US" sz="2400" dirty="0"/>
              <a:t>系统的数据转换</a:t>
            </a:r>
            <a:endParaRPr lang="zh-CN" altLang="en-US" sz="2400" dirty="0"/>
          </a:p>
          <a:p>
            <a:pPr eaLnBrk="1" hangingPunct="1">
              <a:buClr>
                <a:srgbClr val="FF0000"/>
              </a:buClr>
              <a:buNone/>
            </a:pPr>
            <a:r>
              <a:rPr lang="zh-CN" altLang="en-US" sz="2400" dirty="0"/>
              <a:t>               异构数据库之间的互访和互操作</a:t>
            </a:r>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379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1.1.1 </a:t>
            </a:r>
            <a:r>
              <a:rPr lang="zh-CN" altLang="en-US" u="sng" dirty="0"/>
              <a:t>四个基本概念</a:t>
            </a:r>
            <a:r>
              <a:rPr lang="en-US" altLang="zh-CN" u="sng" dirty="0"/>
              <a:t>(cont)</a:t>
            </a:r>
            <a:endParaRPr lang="en-US" altLang="zh-CN" u="sng" dirty="0"/>
          </a:p>
        </p:txBody>
      </p:sp>
      <p:sp>
        <p:nvSpPr>
          <p:cNvPr id="33796" name="Rectangle 3"/>
          <p:cNvSpPr>
            <a:spLocks noGrp="1"/>
          </p:cNvSpPr>
          <p:nvPr>
            <p:ph idx="1"/>
          </p:nvPr>
        </p:nvSpPr>
        <p:spPr>
          <a:xfrm>
            <a:off x="685800" y="762000"/>
            <a:ext cx="7772400" cy="5791200"/>
          </a:xfrm>
          <a:ln/>
        </p:spPr>
        <p:txBody>
          <a:bodyPr vert="horz" wrap="square" lIns="91440" tIns="45720" rIns="91440" bIns="45720" anchor="t" anchorCtr="0"/>
          <a:p>
            <a:pPr eaLnBrk="1" hangingPunct="1">
              <a:lnSpc>
                <a:spcPct val="90000"/>
              </a:lnSpc>
              <a:buClr>
                <a:srgbClr val="FF0000"/>
              </a:buClr>
              <a:buNone/>
            </a:pPr>
            <a:r>
              <a:rPr lang="zh-CN" altLang="en-US" dirty="0"/>
              <a:t>四、数据库系统</a:t>
            </a:r>
            <a:endParaRPr lang="zh-CN" altLang="en-US" dirty="0"/>
          </a:p>
          <a:p>
            <a:pPr lvl="1" algn="just" eaLnBrk="1" hangingPunct="1"/>
            <a:r>
              <a:rPr lang="zh-CN" altLang="en-US" dirty="0"/>
              <a:t>什么是数据库系统</a:t>
            </a:r>
            <a:endParaRPr lang="zh-CN" altLang="en-US" dirty="0"/>
          </a:p>
          <a:p>
            <a:pPr lvl="2" algn="just" eaLnBrk="1" hangingPunct="1">
              <a:lnSpc>
                <a:spcPct val="12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数据库系统（</a:t>
            </a:r>
            <a:r>
              <a:rPr lang="en-US" altLang="zh-CN" dirty="0">
                <a:latin typeface="宋体" panose="02010600030101010101" pitchFamily="2" charset="-122"/>
                <a:ea typeface="宋体" panose="02010600030101010101" pitchFamily="2" charset="-122"/>
              </a:rPr>
              <a:t>Database System</a:t>
            </a:r>
            <a:r>
              <a:rPr lang="zh-CN" altLang="en-US" dirty="0">
                <a:latin typeface="宋体" panose="02010600030101010101" pitchFamily="2" charset="-122"/>
                <a:ea typeface="宋体" panose="02010600030101010101" pitchFamily="2" charset="-122"/>
              </a:rPr>
              <a:t>，简称</a:t>
            </a:r>
            <a:r>
              <a:rPr lang="en-US" altLang="zh-CN" dirty="0">
                <a:latin typeface="宋体" panose="02010600030101010101" pitchFamily="2" charset="-122"/>
                <a:ea typeface="宋体" panose="02010600030101010101" pitchFamily="2" charset="-122"/>
              </a:rPr>
              <a:t>DBS</a:t>
            </a:r>
            <a:r>
              <a:rPr lang="zh-CN" altLang="en-US" dirty="0">
                <a:latin typeface="宋体" panose="02010600030101010101" pitchFamily="2" charset="-122"/>
                <a:ea typeface="宋体" panose="02010600030101010101" pitchFamily="2" charset="-122"/>
              </a:rPr>
              <a:t>）是指在计算机系统中引入数据库后的系统构成。</a:t>
            </a:r>
            <a:endParaRPr lang="zh-CN" altLang="en-US" dirty="0">
              <a:latin typeface="宋体" panose="02010600030101010101" pitchFamily="2" charset="-122"/>
              <a:ea typeface="宋体" panose="02010600030101010101" pitchFamily="2" charset="-122"/>
            </a:endParaRPr>
          </a:p>
          <a:p>
            <a:pPr lvl="2" algn="just" eaLnBrk="1" hangingPunct="1">
              <a:lnSpc>
                <a:spcPct val="12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在不引起混淆的情况下常常把数据库系统简称为数据库。</a:t>
            </a:r>
            <a:endParaRPr lang="zh-CN" altLang="en-US" dirty="0">
              <a:latin typeface="宋体" panose="02010600030101010101" pitchFamily="2" charset="-122"/>
              <a:ea typeface="宋体" panose="02010600030101010101" pitchFamily="2" charset="-122"/>
            </a:endParaRPr>
          </a:p>
          <a:p>
            <a:pPr lvl="1" algn="just" eaLnBrk="1" hangingPunct="1"/>
            <a:r>
              <a:rPr lang="zh-CN" altLang="en-US" dirty="0"/>
              <a:t>数据库系统的构成</a:t>
            </a:r>
            <a:endParaRPr lang="zh-CN" altLang="en-US" dirty="0"/>
          </a:p>
          <a:p>
            <a:pPr lvl="2" eaLnBrk="1" hangingPunct="1">
              <a:lnSpc>
                <a:spcPct val="90000"/>
              </a:lnSpc>
              <a:buClr>
                <a:srgbClr val="FF3300"/>
              </a:buClr>
              <a:buFont typeface="Wingdings" panose="05000000000000000000" pitchFamily="2" charset="2"/>
              <a:buChar char="§"/>
            </a:pPr>
            <a:r>
              <a:rPr lang="zh-CN" altLang="en-US" dirty="0">
                <a:ea typeface="宋体" panose="02010600030101010101" pitchFamily="2" charset="-122"/>
              </a:rPr>
              <a:t>数据库</a:t>
            </a:r>
            <a:endParaRPr lang="zh-CN" altLang="en-US" dirty="0">
              <a:ea typeface="宋体" panose="02010600030101010101" pitchFamily="2" charset="-122"/>
            </a:endParaRPr>
          </a:p>
          <a:p>
            <a:pPr lvl="2" eaLnBrk="1" hangingPunct="1">
              <a:lnSpc>
                <a:spcPct val="90000"/>
              </a:lnSpc>
              <a:buClr>
                <a:srgbClr val="FF3300"/>
              </a:buClr>
              <a:buFont typeface="Wingdings" panose="05000000000000000000" pitchFamily="2" charset="2"/>
              <a:buChar char="§"/>
            </a:pPr>
            <a:r>
              <a:rPr lang="zh-CN" altLang="en-US" dirty="0">
                <a:ea typeface="宋体" panose="02010600030101010101" pitchFamily="2" charset="-122"/>
              </a:rPr>
              <a:t>数据库管理系统</a:t>
            </a:r>
            <a:r>
              <a:rPr lang="en-US" altLang="zh-CN" dirty="0">
                <a:ea typeface="宋体" panose="02010600030101010101" pitchFamily="2" charset="-122"/>
              </a:rPr>
              <a:t>DBMS(</a:t>
            </a:r>
            <a:r>
              <a:rPr lang="zh-CN" altLang="en-US" dirty="0">
                <a:ea typeface="宋体" panose="02010600030101010101" pitchFamily="2" charset="-122"/>
              </a:rPr>
              <a:t>及开发工具</a:t>
            </a:r>
            <a:r>
              <a:rPr lang="en-US" altLang="zh-CN" dirty="0">
                <a:ea typeface="宋体" panose="02010600030101010101" pitchFamily="2" charset="-122"/>
              </a:rPr>
              <a:t>)</a:t>
            </a:r>
            <a:endParaRPr lang="en-US" altLang="zh-CN" dirty="0">
              <a:ea typeface="宋体" panose="02010600030101010101" pitchFamily="2" charset="-122"/>
            </a:endParaRPr>
          </a:p>
          <a:p>
            <a:pPr lvl="2" eaLnBrk="1" hangingPunct="1">
              <a:lnSpc>
                <a:spcPct val="90000"/>
              </a:lnSpc>
              <a:buClr>
                <a:srgbClr val="FF3300"/>
              </a:buClr>
              <a:buFont typeface="Wingdings" panose="05000000000000000000" pitchFamily="2" charset="2"/>
              <a:buChar char="§"/>
            </a:pPr>
            <a:r>
              <a:rPr lang="zh-CN" altLang="en-US" dirty="0">
                <a:ea typeface="宋体" panose="02010600030101010101" pitchFamily="2" charset="-122"/>
              </a:rPr>
              <a:t>应用系统</a:t>
            </a:r>
            <a:endParaRPr lang="zh-CN" altLang="en-US" dirty="0">
              <a:ea typeface="宋体" panose="02010600030101010101" pitchFamily="2" charset="-122"/>
            </a:endParaRPr>
          </a:p>
          <a:p>
            <a:pPr lvl="2" eaLnBrk="1" hangingPunct="1">
              <a:lnSpc>
                <a:spcPct val="90000"/>
              </a:lnSpc>
              <a:buClr>
                <a:srgbClr val="FF3300"/>
              </a:buClr>
              <a:buFont typeface="Wingdings" panose="05000000000000000000" pitchFamily="2" charset="2"/>
              <a:buChar char="§"/>
            </a:pPr>
            <a:r>
              <a:rPr lang="zh-CN" altLang="en-US" dirty="0">
                <a:ea typeface="宋体" panose="02010600030101010101" pitchFamily="2" charset="-122"/>
              </a:rPr>
              <a:t>数据库管理员</a:t>
            </a:r>
            <a:r>
              <a:rPr lang="en-US" altLang="zh-CN" dirty="0">
                <a:ea typeface="宋体" panose="02010600030101010101" pitchFamily="2" charset="-122"/>
              </a:rPr>
              <a:t>(DBA)</a:t>
            </a:r>
            <a:endParaRPr lang="en-US" altLang="zh-CN" dirty="0">
              <a:ea typeface="宋体" panose="02010600030101010101" pitchFamily="2" charset="-122"/>
            </a:endParaRPr>
          </a:p>
          <a:p>
            <a:pPr lvl="2" eaLnBrk="1" hangingPunct="1">
              <a:lnSpc>
                <a:spcPct val="90000"/>
              </a:lnSpc>
              <a:buClr>
                <a:srgbClr val="FF3300"/>
              </a:buClr>
              <a:buFont typeface="Wingdings" panose="05000000000000000000" pitchFamily="2" charset="2"/>
              <a:buChar char="§"/>
            </a:pPr>
            <a:r>
              <a:rPr lang="zh-CN" altLang="en-US" dirty="0">
                <a:ea typeface="宋体" panose="02010600030101010101" pitchFamily="2" charset="-122"/>
              </a:rPr>
              <a:t>用户</a:t>
            </a:r>
            <a:endParaRPr lang="zh-CN" altLang="en-US"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4819" name="AutoShape 2"/>
          <p:cNvSpPr/>
          <p:nvPr/>
        </p:nvSpPr>
        <p:spPr>
          <a:xfrm>
            <a:off x="3335338" y="5230813"/>
            <a:ext cx="1044575" cy="801687"/>
          </a:xfrm>
          <a:prstGeom prst="flowChartMagneticDisk">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a:lnSpc>
                <a:spcPct val="96000"/>
              </a:lnSpc>
              <a:spcBef>
                <a:spcPct val="0"/>
              </a:spcBef>
              <a:buClrTx/>
              <a:buFontTx/>
              <a:buNone/>
            </a:pPr>
            <a:endParaRPr lang="en-US" altLang="zh-CN" sz="2400" b="0" baseline="30000" dirty="0">
              <a:solidFill>
                <a:schemeClr val="tx1"/>
              </a:solidFill>
              <a:cs typeface="Arial" panose="020B0604020202020204" pitchFamily="34" charset="0"/>
            </a:endParaRPr>
          </a:p>
          <a:p>
            <a:pPr marL="0" lvl="0" indent="0" algn="just">
              <a:lnSpc>
                <a:spcPct val="96000"/>
              </a:lnSpc>
              <a:spcBef>
                <a:spcPct val="0"/>
              </a:spcBef>
              <a:buClrTx/>
              <a:buFontTx/>
              <a:buNone/>
            </a:pPr>
            <a:r>
              <a:rPr lang="en-US" altLang="zh-CN" sz="2400" b="0" baseline="30000" dirty="0">
                <a:solidFill>
                  <a:srgbClr val="FD31C8"/>
                </a:solidFill>
                <a:cs typeface="Arial" panose="020B0604020202020204" pitchFamily="34" charset="0"/>
              </a:rPr>
              <a:t>   </a:t>
            </a:r>
            <a:r>
              <a:rPr lang="zh-CN" altLang="en-US" sz="2400" baseline="30000" dirty="0">
                <a:cs typeface="Arial" panose="020B0604020202020204" pitchFamily="34" charset="0"/>
              </a:rPr>
              <a:t>数据库</a:t>
            </a:r>
            <a:endParaRPr lang="zh-CN" altLang="en-US" sz="2400" baseline="30000" dirty="0">
              <a:ea typeface="Arial" panose="020B0604020202020204" pitchFamily="34" charset="0"/>
            </a:endParaRPr>
          </a:p>
        </p:txBody>
      </p:sp>
      <p:sp>
        <p:nvSpPr>
          <p:cNvPr id="34820" name="AutoShape 3"/>
          <p:cNvSpPr/>
          <p:nvPr/>
        </p:nvSpPr>
        <p:spPr>
          <a:xfrm>
            <a:off x="2978150" y="1489075"/>
            <a:ext cx="1676400" cy="568325"/>
          </a:xfrm>
          <a:prstGeom prst="hexagon">
            <a:avLst>
              <a:gd name="adj" fmla="val 73743"/>
              <a:gd name="vf" fmla="val 115470"/>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a:lnSpc>
                <a:spcPct val="80000"/>
              </a:lnSpc>
              <a:spcBef>
                <a:spcPct val="0"/>
              </a:spcBef>
              <a:buClrTx/>
              <a:buFontTx/>
              <a:buNone/>
            </a:pPr>
            <a:r>
              <a:rPr lang="en-US" altLang="zh-CN" sz="1600" dirty="0">
                <a:cs typeface="Arial" panose="020B0604020202020204" pitchFamily="34" charset="0"/>
              </a:rPr>
              <a:t> </a:t>
            </a:r>
            <a:r>
              <a:rPr lang="zh-CN" altLang="en-US" sz="1600" dirty="0">
                <a:cs typeface="Arial" panose="020B0604020202020204" pitchFamily="34" charset="0"/>
              </a:rPr>
              <a:t>应用系统</a:t>
            </a:r>
            <a:endParaRPr lang="zh-CN" altLang="en-US" sz="1600" dirty="0">
              <a:ea typeface="Arial" panose="020B0604020202020204" pitchFamily="34" charset="0"/>
            </a:endParaRPr>
          </a:p>
        </p:txBody>
      </p:sp>
      <p:sp>
        <p:nvSpPr>
          <p:cNvPr id="34821" name="AutoShape 4"/>
          <p:cNvSpPr/>
          <p:nvPr/>
        </p:nvSpPr>
        <p:spPr>
          <a:xfrm>
            <a:off x="2805113" y="2305050"/>
            <a:ext cx="2108200" cy="665163"/>
          </a:xfrm>
          <a:prstGeom prst="hexagon">
            <a:avLst>
              <a:gd name="adj" fmla="val 79236"/>
              <a:gd name="vf" fmla="val 115470"/>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a:lnSpc>
                <a:spcPct val="80000"/>
              </a:lnSpc>
              <a:spcBef>
                <a:spcPct val="0"/>
              </a:spcBef>
              <a:buClrTx/>
              <a:buFontTx/>
              <a:buNone/>
            </a:pPr>
            <a:r>
              <a:rPr lang="zh-CN" altLang="en-US" sz="1600" b="0" dirty="0">
                <a:solidFill>
                  <a:schemeClr val="tx1"/>
                </a:solidFill>
                <a:cs typeface="Arial" panose="020B0604020202020204" pitchFamily="34" charset="0"/>
              </a:rPr>
              <a:t>应用开发工具</a:t>
            </a:r>
            <a:endParaRPr lang="zh-CN" altLang="en-US" sz="1600" b="0" dirty="0">
              <a:solidFill>
                <a:schemeClr val="tx1"/>
              </a:solidFill>
              <a:ea typeface="Arial" panose="020B0604020202020204" pitchFamily="34" charset="0"/>
            </a:endParaRPr>
          </a:p>
        </p:txBody>
      </p:sp>
      <p:sp>
        <p:nvSpPr>
          <p:cNvPr id="34822" name="AutoShape 5"/>
          <p:cNvSpPr/>
          <p:nvPr/>
        </p:nvSpPr>
        <p:spPr>
          <a:xfrm>
            <a:off x="2906713" y="4189413"/>
            <a:ext cx="1892300" cy="738187"/>
          </a:xfrm>
          <a:prstGeom prst="hexagon">
            <a:avLst>
              <a:gd name="adj" fmla="val 64086"/>
              <a:gd name="vf" fmla="val 115470"/>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a:lnSpc>
                <a:spcPct val="80000"/>
              </a:lnSpc>
              <a:spcBef>
                <a:spcPct val="0"/>
              </a:spcBef>
              <a:buClrTx/>
              <a:buFontTx/>
              <a:buNone/>
            </a:pPr>
            <a:r>
              <a:rPr lang="en-US" altLang="zh-CN" sz="1600" b="0" dirty="0">
                <a:solidFill>
                  <a:schemeClr val="tx1"/>
                </a:solidFill>
                <a:cs typeface="Arial" panose="020B0604020202020204" pitchFamily="34" charset="0"/>
              </a:rPr>
              <a:t>   </a:t>
            </a:r>
            <a:endParaRPr lang="en-US" altLang="zh-CN" sz="1600" b="0" dirty="0">
              <a:solidFill>
                <a:schemeClr val="tx1"/>
              </a:solidFill>
              <a:cs typeface="Arial" panose="020B0604020202020204" pitchFamily="34" charset="0"/>
            </a:endParaRPr>
          </a:p>
          <a:p>
            <a:pPr marL="0" lvl="0" indent="0" algn="just">
              <a:lnSpc>
                <a:spcPct val="80000"/>
              </a:lnSpc>
              <a:spcBef>
                <a:spcPct val="0"/>
              </a:spcBef>
              <a:buClrTx/>
              <a:buFontTx/>
              <a:buNone/>
            </a:pPr>
            <a:r>
              <a:rPr lang="en-US" altLang="zh-CN" sz="1600" b="0" dirty="0">
                <a:solidFill>
                  <a:schemeClr val="tx1"/>
                </a:solidFill>
                <a:cs typeface="Arial" panose="020B0604020202020204" pitchFamily="34" charset="0"/>
              </a:rPr>
              <a:t>    </a:t>
            </a:r>
            <a:r>
              <a:rPr lang="zh-CN" altLang="en-US" sz="1600" b="0" dirty="0">
                <a:solidFill>
                  <a:schemeClr val="tx1"/>
                </a:solidFill>
                <a:cs typeface="Arial" panose="020B0604020202020204" pitchFamily="34" charset="0"/>
              </a:rPr>
              <a:t>操作系统</a:t>
            </a:r>
            <a:endParaRPr lang="zh-CN" altLang="en-US" sz="1600" b="0" dirty="0">
              <a:solidFill>
                <a:schemeClr val="tx1"/>
              </a:solidFill>
              <a:ea typeface="Arial" panose="020B0604020202020204" pitchFamily="34" charset="0"/>
            </a:endParaRPr>
          </a:p>
        </p:txBody>
      </p:sp>
      <p:sp>
        <p:nvSpPr>
          <p:cNvPr id="34823" name="AutoShape 6"/>
          <p:cNvSpPr/>
          <p:nvPr/>
        </p:nvSpPr>
        <p:spPr>
          <a:xfrm>
            <a:off x="2627313" y="3213100"/>
            <a:ext cx="2463800" cy="738188"/>
          </a:xfrm>
          <a:prstGeom prst="hexagon">
            <a:avLst>
              <a:gd name="adj" fmla="val 83440"/>
              <a:gd name="vf" fmla="val 115470"/>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a:lnSpc>
                <a:spcPct val="80000"/>
              </a:lnSpc>
              <a:spcBef>
                <a:spcPct val="0"/>
              </a:spcBef>
              <a:buClrTx/>
              <a:buFontTx/>
              <a:buNone/>
            </a:pPr>
            <a:endParaRPr lang="en-US" altLang="zh-CN" sz="1600" b="0" dirty="0">
              <a:solidFill>
                <a:schemeClr val="accent2"/>
              </a:solidFill>
              <a:cs typeface="Arial" panose="020B0604020202020204" pitchFamily="34" charset="0"/>
            </a:endParaRPr>
          </a:p>
          <a:p>
            <a:pPr marL="0" lvl="0" indent="0" algn="just">
              <a:lnSpc>
                <a:spcPct val="80000"/>
              </a:lnSpc>
              <a:spcBef>
                <a:spcPct val="0"/>
              </a:spcBef>
              <a:buClrTx/>
              <a:buFontTx/>
              <a:buNone/>
            </a:pPr>
            <a:r>
              <a:rPr lang="zh-CN" altLang="en-US" sz="1600" dirty="0">
                <a:cs typeface="Arial" panose="020B0604020202020204" pitchFamily="34" charset="0"/>
              </a:rPr>
              <a:t>数据库管理系统</a:t>
            </a:r>
            <a:endParaRPr lang="zh-CN" altLang="en-US" sz="1600" dirty="0">
              <a:ea typeface="Arial" panose="020B0604020202020204" pitchFamily="34" charset="0"/>
            </a:endParaRPr>
          </a:p>
        </p:txBody>
      </p:sp>
      <p:sp>
        <p:nvSpPr>
          <p:cNvPr id="34824" name="Line 7"/>
          <p:cNvSpPr/>
          <p:nvPr/>
        </p:nvSpPr>
        <p:spPr>
          <a:xfrm flipH="1">
            <a:off x="4818063" y="4565650"/>
            <a:ext cx="1343025" cy="0"/>
          </a:xfrm>
          <a:prstGeom prst="line">
            <a:avLst/>
          </a:prstGeom>
          <a:ln w="6350" cap="flat" cmpd="sng">
            <a:solidFill>
              <a:srgbClr val="000000"/>
            </a:solidFill>
            <a:prstDash val="solid"/>
            <a:headEnd type="none" w="med" len="med"/>
            <a:tailEnd type="stealth" w="sm" len="sm"/>
          </a:ln>
        </p:spPr>
      </p:sp>
      <p:sp>
        <p:nvSpPr>
          <p:cNvPr id="34825" name="Line 8"/>
          <p:cNvSpPr/>
          <p:nvPr/>
        </p:nvSpPr>
        <p:spPr>
          <a:xfrm>
            <a:off x="6159500" y="3848100"/>
            <a:ext cx="0" cy="708025"/>
          </a:xfrm>
          <a:prstGeom prst="line">
            <a:avLst/>
          </a:prstGeom>
          <a:ln w="6350" cap="flat" cmpd="sng">
            <a:solidFill>
              <a:srgbClr val="000000"/>
            </a:solidFill>
            <a:prstDash val="solid"/>
            <a:headEnd type="none" w="med" len="med"/>
            <a:tailEnd type="none" w="med" len="med"/>
          </a:ln>
        </p:spPr>
      </p:sp>
      <p:sp>
        <p:nvSpPr>
          <p:cNvPr id="34826" name="Line 9"/>
          <p:cNvSpPr/>
          <p:nvPr/>
        </p:nvSpPr>
        <p:spPr>
          <a:xfrm flipH="1">
            <a:off x="5054600" y="3579813"/>
            <a:ext cx="319088" cy="4762"/>
          </a:xfrm>
          <a:prstGeom prst="line">
            <a:avLst/>
          </a:prstGeom>
          <a:ln w="6350" cap="flat" cmpd="sng">
            <a:solidFill>
              <a:srgbClr val="000000"/>
            </a:solidFill>
            <a:prstDash val="solid"/>
            <a:headEnd type="none" w="med" len="med"/>
            <a:tailEnd type="stealth" w="sm" len="sm"/>
          </a:ln>
        </p:spPr>
      </p:sp>
      <p:sp>
        <p:nvSpPr>
          <p:cNvPr id="34827" name="Line 10"/>
          <p:cNvSpPr/>
          <p:nvPr/>
        </p:nvSpPr>
        <p:spPr>
          <a:xfrm>
            <a:off x="3852863" y="2090738"/>
            <a:ext cx="0" cy="228600"/>
          </a:xfrm>
          <a:prstGeom prst="line">
            <a:avLst/>
          </a:prstGeom>
          <a:ln w="6350" cap="flat" cmpd="sng">
            <a:solidFill>
              <a:srgbClr val="000000"/>
            </a:solidFill>
            <a:prstDash val="solid"/>
            <a:headEnd type="none" w="med" len="med"/>
            <a:tailEnd type="none" w="med" len="med"/>
          </a:ln>
        </p:spPr>
      </p:sp>
      <p:sp>
        <p:nvSpPr>
          <p:cNvPr id="34828" name="Line 11"/>
          <p:cNvSpPr/>
          <p:nvPr/>
        </p:nvSpPr>
        <p:spPr>
          <a:xfrm>
            <a:off x="3852863" y="4927600"/>
            <a:ext cx="0" cy="301625"/>
          </a:xfrm>
          <a:prstGeom prst="line">
            <a:avLst/>
          </a:prstGeom>
          <a:ln w="6350" cap="flat" cmpd="sng">
            <a:solidFill>
              <a:srgbClr val="000000"/>
            </a:solidFill>
            <a:prstDash val="solid"/>
            <a:headEnd type="none" w="med" len="med"/>
            <a:tailEnd type="none" w="med" len="med"/>
          </a:ln>
        </p:spPr>
      </p:sp>
      <p:sp>
        <p:nvSpPr>
          <p:cNvPr id="34829" name="Line 12"/>
          <p:cNvSpPr/>
          <p:nvPr/>
        </p:nvSpPr>
        <p:spPr>
          <a:xfrm>
            <a:off x="3852863" y="3951288"/>
            <a:ext cx="0" cy="241300"/>
          </a:xfrm>
          <a:prstGeom prst="line">
            <a:avLst/>
          </a:prstGeom>
          <a:ln w="6350" cap="flat" cmpd="sng">
            <a:solidFill>
              <a:srgbClr val="000000"/>
            </a:solidFill>
            <a:prstDash val="solid"/>
            <a:headEnd type="none" w="med" len="med"/>
            <a:tailEnd type="none" w="med" len="med"/>
          </a:ln>
        </p:spPr>
      </p:sp>
      <p:sp>
        <p:nvSpPr>
          <p:cNvPr id="34830" name="Line 13"/>
          <p:cNvSpPr/>
          <p:nvPr/>
        </p:nvSpPr>
        <p:spPr>
          <a:xfrm flipH="1">
            <a:off x="3852863" y="2970213"/>
            <a:ext cx="0" cy="252412"/>
          </a:xfrm>
          <a:prstGeom prst="line">
            <a:avLst/>
          </a:prstGeom>
          <a:ln w="6350" cap="flat" cmpd="sng">
            <a:solidFill>
              <a:srgbClr val="000000"/>
            </a:solidFill>
            <a:prstDash val="solid"/>
            <a:headEnd type="none" w="med" len="med"/>
            <a:tailEnd type="none" w="med" len="med"/>
          </a:ln>
        </p:spPr>
      </p:sp>
      <p:sp>
        <p:nvSpPr>
          <p:cNvPr id="34831" name="Line 14"/>
          <p:cNvSpPr/>
          <p:nvPr/>
        </p:nvSpPr>
        <p:spPr>
          <a:xfrm>
            <a:off x="2928938" y="1193800"/>
            <a:ext cx="312737" cy="455613"/>
          </a:xfrm>
          <a:prstGeom prst="line">
            <a:avLst/>
          </a:prstGeom>
          <a:ln w="6350" cap="flat" cmpd="sng">
            <a:solidFill>
              <a:srgbClr val="000000"/>
            </a:solidFill>
            <a:prstDash val="solid"/>
            <a:headEnd type="none" w="med" len="med"/>
            <a:tailEnd type="stealth" w="sm" len="sm"/>
          </a:ln>
        </p:spPr>
      </p:sp>
      <p:sp>
        <p:nvSpPr>
          <p:cNvPr id="34832" name="Line 15"/>
          <p:cNvSpPr/>
          <p:nvPr/>
        </p:nvSpPr>
        <p:spPr>
          <a:xfrm flipH="1">
            <a:off x="4427538" y="1212850"/>
            <a:ext cx="536575" cy="433388"/>
          </a:xfrm>
          <a:prstGeom prst="line">
            <a:avLst/>
          </a:prstGeom>
          <a:ln w="6350" cap="flat" cmpd="sng">
            <a:solidFill>
              <a:srgbClr val="000000"/>
            </a:solidFill>
            <a:prstDash val="solid"/>
            <a:headEnd type="none" w="med" len="med"/>
            <a:tailEnd type="stealth" w="sm" len="sm"/>
          </a:ln>
        </p:spPr>
      </p:sp>
      <p:sp>
        <p:nvSpPr>
          <p:cNvPr id="34833" name="Line 16"/>
          <p:cNvSpPr/>
          <p:nvPr/>
        </p:nvSpPr>
        <p:spPr>
          <a:xfrm>
            <a:off x="3841750" y="1222375"/>
            <a:ext cx="0" cy="304800"/>
          </a:xfrm>
          <a:prstGeom prst="line">
            <a:avLst/>
          </a:prstGeom>
          <a:ln w="6350" cap="flat" cmpd="sng">
            <a:solidFill>
              <a:srgbClr val="000000"/>
            </a:solidFill>
            <a:prstDash val="solid"/>
            <a:headEnd type="none" w="med" len="med"/>
            <a:tailEnd type="stealth" w="sm" len="sm"/>
          </a:ln>
        </p:spPr>
      </p:sp>
      <p:sp>
        <p:nvSpPr>
          <p:cNvPr id="34834" name="Rectangle 17"/>
          <p:cNvSpPr/>
          <p:nvPr/>
        </p:nvSpPr>
        <p:spPr>
          <a:xfrm>
            <a:off x="5403850" y="3287713"/>
            <a:ext cx="1597025" cy="582612"/>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a:lnSpc>
                <a:spcPct val="80000"/>
              </a:lnSpc>
              <a:spcBef>
                <a:spcPct val="0"/>
              </a:spcBef>
              <a:buClrTx/>
              <a:buFontTx/>
              <a:buNone/>
            </a:pPr>
            <a:r>
              <a:rPr lang="en-US" altLang="zh-CN" sz="1600" b="0" dirty="0">
                <a:solidFill>
                  <a:schemeClr val="tx1"/>
                </a:solidFill>
                <a:cs typeface="Arial" panose="020B0604020202020204" pitchFamily="34" charset="0"/>
              </a:rPr>
              <a:t>  </a:t>
            </a:r>
            <a:endParaRPr lang="en-US" altLang="zh-CN" sz="1600" b="0" dirty="0">
              <a:solidFill>
                <a:schemeClr val="tx1"/>
              </a:solidFill>
              <a:cs typeface="Arial" panose="020B0604020202020204" pitchFamily="34" charset="0"/>
            </a:endParaRPr>
          </a:p>
          <a:p>
            <a:pPr marL="0" lvl="0" indent="0" algn="just">
              <a:lnSpc>
                <a:spcPct val="80000"/>
              </a:lnSpc>
              <a:spcBef>
                <a:spcPct val="0"/>
              </a:spcBef>
              <a:buClrTx/>
              <a:buFontTx/>
              <a:buNone/>
            </a:pPr>
            <a:r>
              <a:rPr lang="en-US" altLang="zh-CN" sz="1600" b="0" dirty="0">
                <a:solidFill>
                  <a:schemeClr val="tx1"/>
                </a:solidFill>
                <a:cs typeface="Arial" panose="020B0604020202020204" pitchFamily="34" charset="0"/>
              </a:rPr>
              <a:t>  </a:t>
            </a:r>
            <a:r>
              <a:rPr lang="zh-CN" altLang="en-US" sz="1600" dirty="0">
                <a:cs typeface="Arial" panose="020B0604020202020204" pitchFamily="34" charset="0"/>
              </a:rPr>
              <a:t>数据库管理员</a:t>
            </a:r>
            <a:endParaRPr lang="zh-CN" altLang="en-US" sz="1600" dirty="0">
              <a:ea typeface="Arial" panose="020B0604020202020204" pitchFamily="34" charset="0"/>
            </a:endParaRPr>
          </a:p>
        </p:txBody>
      </p:sp>
      <p:sp>
        <p:nvSpPr>
          <p:cNvPr id="34835" name="Rectangle 18"/>
          <p:cNvSpPr/>
          <p:nvPr/>
        </p:nvSpPr>
        <p:spPr>
          <a:xfrm>
            <a:off x="4633913" y="790575"/>
            <a:ext cx="820737" cy="442913"/>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lnSpc>
                <a:spcPct val="80000"/>
              </a:lnSpc>
              <a:spcBef>
                <a:spcPct val="0"/>
              </a:spcBef>
              <a:buClrTx/>
              <a:buFontTx/>
              <a:buNone/>
            </a:pPr>
            <a:r>
              <a:rPr lang="zh-CN" altLang="en-US" sz="1600" b="0" dirty="0">
                <a:solidFill>
                  <a:schemeClr val="tx1"/>
                </a:solidFill>
                <a:cs typeface="Arial" panose="020B0604020202020204" pitchFamily="34" charset="0"/>
              </a:rPr>
              <a:t>用户</a:t>
            </a:r>
            <a:endParaRPr lang="zh-CN" altLang="en-US" sz="1600" b="0" dirty="0">
              <a:solidFill>
                <a:schemeClr val="tx1"/>
              </a:solidFill>
              <a:ea typeface="Arial" panose="020B0604020202020204" pitchFamily="34" charset="0"/>
            </a:endParaRPr>
          </a:p>
        </p:txBody>
      </p:sp>
      <p:sp>
        <p:nvSpPr>
          <p:cNvPr id="34836" name="Rectangle 19"/>
          <p:cNvSpPr/>
          <p:nvPr/>
        </p:nvSpPr>
        <p:spPr>
          <a:xfrm>
            <a:off x="3482975" y="790575"/>
            <a:ext cx="819150" cy="46355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lnSpc>
                <a:spcPct val="80000"/>
              </a:lnSpc>
              <a:spcBef>
                <a:spcPct val="0"/>
              </a:spcBef>
              <a:buClrTx/>
              <a:buFontTx/>
              <a:buNone/>
            </a:pPr>
            <a:r>
              <a:rPr lang="zh-CN" altLang="en-US" sz="1600" b="0" dirty="0">
                <a:solidFill>
                  <a:schemeClr val="tx1"/>
                </a:solidFill>
                <a:cs typeface="Arial" panose="020B0604020202020204" pitchFamily="34" charset="0"/>
              </a:rPr>
              <a:t>用户</a:t>
            </a:r>
            <a:endParaRPr lang="zh-CN" altLang="en-US" sz="1600" b="0" dirty="0">
              <a:solidFill>
                <a:schemeClr val="tx1"/>
              </a:solidFill>
              <a:ea typeface="Arial" panose="020B0604020202020204" pitchFamily="34" charset="0"/>
            </a:endParaRPr>
          </a:p>
        </p:txBody>
      </p:sp>
      <p:sp>
        <p:nvSpPr>
          <p:cNvPr id="34837" name="Rectangle 20"/>
          <p:cNvSpPr/>
          <p:nvPr/>
        </p:nvSpPr>
        <p:spPr>
          <a:xfrm>
            <a:off x="2330450" y="790575"/>
            <a:ext cx="819150" cy="4699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lnSpc>
                <a:spcPct val="80000"/>
              </a:lnSpc>
              <a:spcBef>
                <a:spcPct val="0"/>
              </a:spcBef>
              <a:buClrTx/>
              <a:buFontTx/>
              <a:buNone/>
            </a:pPr>
            <a:r>
              <a:rPr lang="zh-CN" altLang="en-US" sz="1600" b="0" dirty="0">
                <a:solidFill>
                  <a:schemeClr val="tx1"/>
                </a:solidFill>
                <a:cs typeface="Arial" panose="020B0604020202020204" pitchFamily="34" charset="0"/>
              </a:rPr>
              <a:t>用户</a:t>
            </a:r>
            <a:endParaRPr lang="zh-CN" altLang="en-US" sz="1600" b="0" dirty="0">
              <a:solidFill>
                <a:schemeClr val="tx1"/>
              </a:solidFill>
              <a:ea typeface="Arial" panose="020B0604020202020204" pitchFamily="34" charset="0"/>
            </a:endParaRPr>
          </a:p>
        </p:txBody>
      </p:sp>
      <p:sp>
        <p:nvSpPr>
          <p:cNvPr id="34838" name="Rectangle 21"/>
          <p:cNvSpPr/>
          <p:nvPr/>
        </p:nvSpPr>
        <p:spPr>
          <a:xfrm>
            <a:off x="2916238" y="6237288"/>
            <a:ext cx="21336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1800" b="0" dirty="0">
                <a:solidFill>
                  <a:schemeClr val="tx1"/>
                </a:solidFill>
                <a:cs typeface="Arial" panose="020B0604020202020204" pitchFamily="34" charset="0"/>
              </a:rPr>
              <a:t>     </a:t>
            </a:r>
            <a:r>
              <a:rPr lang="zh-CN" altLang="en-US" sz="1800" dirty="0">
                <a:solidFill>
                  <a:schemeClr val="tx1"/>
                </a:solidFill>
                <a:cs typeface="Arial" panose="020B0604020202020204" pitchFamily="34" charset="0"/>
              </a:rPr>
              <a:t>数据库系统</a:t>
            </a:r>
            <a:endParaRPr lang="zh-CN" altLang="en-US" sz="1800" dirty="0">
              <a:solidFill>
                <a:schemeClr val="tx1"/>
              </a:solidFill>
              <a:ea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5843" name="Rectangle 2"/>
          <p:cNvSpPr/>
          <p:nvPr/>
        </p:nvSpPr>
        <p:spPr>
          <a:xfrm>
            <a:off x="1066800" y="4572000"/>
            <a:ext cx="5105400" cy="685800"/>
          </a:xfrm>
          <a:prstGeom prst="rect">
            <a:avLst/>
          </a:prstGeom>
          <a:gradFill rotWithShape="0">
            <a:gsLst>
              <a:gs pos="0">
                <a:srgbClr val="CCFFCC"/>
              </a:gs>
              <a:gs pos="100000">
                <a:srgbClr val="5E765E"/>
              </a:gs>
            </a:gsLst>
            <a:path path="rect">
              <a:fillToRect r="100000" b="100000"/>
            </a:path>
            <a:tileRect/>
          </a:gradFill>
          <a:ln w="9525" cap="flat" cmpd="sng">
            <a:prstDash val="solid"/>
            <a:miter/>
            <a:headEnd type="none" w="med" len="med"/>
            <a:tailEnd type="none" w="med" len="med"/>
          </a:ln>
          <a:scene3d>
            <a:camera prst="legacyObliqueTopLeft">
              <a:rot lat="0" lon="0" rev="0"/>
            </a:camera>
            <a:lightRig rig="legacyFlat3" dir="t"/>
          </a:scene3d>
          <a:sp3d extrusionH="430200" prstMaterial="legacyMatte">
            <a:bevelT w="13500" h="13500" prst="angle"/>
            <a:bevelB w="13500" h="13500" prst="angle"/>
            <a:extrusionClr>
              <a:srgbClr val="CCFFCC"/>
            </a:extrusionClr>
          </a:sp3d>
        </p:spPr>
        <p:txBody>
          <a:bodyPr wrap="none" anchor="ctr" anchorCtr="0">
            <a:flatTx/>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35844" name="Rectangle 3"/>
          <p:cNvSpPr/>
          <p:nvPr/>
        </p:nvSpPr>
        <p:spPr>
          <a:xfrm>
            <a:off x="1219200" y="4038600"/>
            <a:ext cx="4495800" cy="533400"/>
          </a:xfrm>
          <a:prstGeom prst="rect">
            <a:avLst/>
          </a:prstGeom>
          <a:gradFill rotWithShape="0">
            <a:gsLst>
              <a:gs pos="0">
                <a:srgbClr val="66FF99"/>
              </a:gs>
              <a:gs pos="100000">
                <a:srgbClr val="2F7647"/>
              </a:gs>
            </a:gsLst>
            <a:path path="rect">
              <a:fillToRect r="100000" b="100000"/>
            </a:path>
            <a:tileRect/>
          </a:gradFill>
          <a:ln w="9525" cap="flat" cmpd="sng">
            <a:prstDash val="solid"/>
            <a:miter/>
            <a:headEnd type="none" w="med" len="med"/>
            <a:tailEnd type="none" w="med" len="med"/>
          </a:ln>
          <a:scene3d>
            <a:camera prst="legacyObliqueTopLeft">
              <a:rot lat="0" lon="0" rev="0"/>
            </a:camera>
            <a:lightRig rig="legacyFlat3" dir="t"/>
          </a:scene3d>
          <a:sp3d extrusionH="430200" prstMaterial="legacyMatte">
            <a:bevelT w="13500" h="13500" prst="angle"/>
            <a:bevelB w="13500" h="13500" prst="angle"/>
            <a:extrusionClr>
              <a:srgbClr val="66FF99"/>
            </a:extrusionClr>
          </a:sp3d>
        </p:spPr>
        <p:txBody>
          <a:bodyPr wrap="none" anchor="ctr" anchorCtr="0">
            <a:flatTx/>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Char char="•"/>
            </a:pPr>
            <a:endParaRPr lang="en-US" altLang="en-US" sz="2000" dirty="0">
              <a:solidFill>
                <a:srgbClr val="FFFFFF"/>
              </a:solidFill>
              <a:latin typeface="楷体_GB2312" pitchFamily="49" charset="-122"/>
              <a:ea typeface="楷体_GB2312" pitchFamily="49" charset="-122"/>
            </a:endParaRPr>
          </a:p>
        </p:txBody>
      </p:sp>
      <p:sp>
        <p:nvSpPr>
          <p:cNvPr id="35845" name="Rectangle 4"/>
          <p:cNvSpPr/>
          <p:nvPr/>
        </p:nvSpPr>
        <p:spPr>
          <a:xfrm>
            <a:off x="1600200" y="3505200"/>
            <a:ext cx="3733800" cy="533400"/>
          </a:xfrm>
          <a:prstGeom prst="rect">
            <a:avLst/>
          </a:prstGeom>
          <a:gradFill rotWithShape="0">
            <a:gsLst>
              <a:gs pos="0">
                <a:srgbClr val="33CC33"/>
              </a:gs>
              <a:gs pos="100000">
                <a:srgbClr val="185E18"/>
              </a:gs>
            </a:gsLst>
            <a:path path="rect">
              <a:fillToRect r="100000" b="100000"/>
            </a:path>
            <a:tileRect/>
          </a:gradFill>
          <a:ln w="9525" cap="flat" cmpd="sng">
            <a:prstDash val="solid"/>
            <a:miter/>
            <a:headEnd type="none" w="med" len="med"/>
            <a:tailEnd type="none" w="med" len="med"/>
          </a:ln>
          <a:scene3d>
            <a:camera prst="legacyObliqueTopLeft">
              <a:rot lat="0" lon="0" rev="0"/>
            </a:camera>
            <a:lightRig rig="legacyFlat3" dir="t"/>
          </a:scene3d>
          <a:sp3d extrusionH="430200" prstMaterial="legacyMatte">
            <a:bevelT w="13500" h="13500" prst="angle"/>
            <a:bevelB w="13500" h="13500" prst="angle"/>
            <a:extrusionClr>
              <a:srgbClr val="33CC33"/>
            </a:extrusionClr>
          </a:sp3d>
        </p:spPr>
        <p:txBody>
          <a:bodyPr wrap="none" anchor="ctr" anchorCtr="0">
            <a:flatTx/>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35846" name="Rectangle 5"/>
          <p:cNvSpPr/>
          <p:nvPr/>
        </p:nvSpPr>
        <p:spPr>
          <a:xfrm>
            <a:off x="2590800" y="2819400"/>
            <a:ext cx="2819400" cy="5334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35847" name="Rectangle 6"/>
          <p:cNvSpPr/>
          <p:nvPr/>
        </p:nvSpPr>
        <p:spPr>
          <a:xfrm>
            <a:off x="1752600" y="3048000"/>
            <a:ext cx="3276600" cy="457200"/>
          </a:xfrm>
          <a:prstGeom prst="rect">
            <a:avLst/>
          </a:prstGeom>
          <a:gradFill rotWithShape="0">
            <a:gsLst>
              <a:gs pos="0">
                <a:srgbClr val="00CC99"/>
              </a:gs>
              <a:gs pos="100000">
                <a:srgbClr val="005E47"/>
              </a:gs>
            </a:gsLst>
            <a:path path="rect">
              <a:fillToRect r="100000" b="100000"/>
            </a:path>
            <a:tileRect/>
          </a:gradFill>
          <a:ln w="9525" cap="flat" cmpd="sng">
            <a:prstDash val="solid"/>
            <a:miter/>
            <a:headEnd type="none" w="med" len="med"/>
            <a:tailEnd type="none" w="med" len="med"/>
          </a:ln>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35848" name="Text Box 7"/>
          <p:cNvSpPr txBox="1"/>
          <p:nvPr/>
        </p:nvSpPr>
        <p:spPr>
          <a:xfrm>
            <a:off x="2362200" y="4648200"/>
            <a:ext cx="15240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r" eaLnBrk="1" hangingPunct="1">
              <a:spcBef>
                <a:spcPct val="50000"/>
              </a:spcBef>
              <a:buClrTx/>
              <a:buFontTx/>
              <a:buNone/>
            </a:pPr>
            <a:r>
              <a:rPr lang="zh-CN" altLang="en-US" sz="2000" dirty="0">
                <a:solidFill>
                  <a:srgbClr val="FFFF00"/>
                </a:solidFill>
                <a:latin typeface="楷体_GB2312" pitchFamily="49" charset="-122"/>
                <a:ea typeface="楷体_GB2312" pitchFamily="49" charset="-122"/>
              </a:rPr>
              <a:t>硬件平台</a:t>
            </a:r>
            <a:endParaRPr lang="zh-CN" altLang="en-US" sz="2000" dirty="0">
              <a:solidFill>
                <a:srgbClr val="FFFF00"/>
              </a:solidFill>
              <a:latin typeface="楷体_GB2312" pitchFamily="49" charset="-122"/>
              <a:ea typeface="楷体_GB2312" pitchFamily="49" charset="-122"/>
            </a:endParaRPr>
          </a:p>
        </p:txBody>
      </p:sp>
      <p:sp>
        <p:nvSpPr>
          <p:cNvPr id="35849" name="Text Box 8"/>
          <p:cNvSpPr txBox="1"/>
          <p:nvPr/>
        </p:nvSpPr>
        <p:spPr>
          <a:xfrm>
            <a:off x="1676400" y="4038600"/>
            <a:ext cx="2362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r" eaLnBrk="1" hangingPunct="1">
              <a:spcBef>
                <a:spcPct val="50000"/>
              </a:spcBef>
              <a:buClrTx/>
              <a:buFontTx/>
              <a:buNone/>
            </a:pPr>
            <a:r>
              <a:rPr lang="zh-CN" altLang="en-US" sz="2000" dirty="0">
                <a:solidFill>
                  <a:srgbClr val="FFFF00"/>
                </a:solidFill>
                <a:latin typeface="楷体_GB2312" pitchFamily="49" charset="-122"/>
                <a:ea typeface="楷体_GB2312" pitchFamily="49" charset="-122"/>
              </a:rPr>
              <a:t>基础软件平台</a:t>
            </a:r>
            <a:endParaRPr lang="zh-CN" altLang="en-US" sz="2000" dirty="0">
              <a:solidFill>
                <a:srgbClr val="FFFF00"/>
              </a:solidFill>
              <a:latin typeface="楷体_GB2312" pitchFamily="49" charset="-122"/>
              <a:ea typeface="楷体_GB2312" pitchFamily="49" charset="-122"/>
            </a:endParaRPr>
          </a:p>
        </p:txBody>
      </p:sp>
      <p:sp>
        <p:nvSpPr>
          <p:cNvPr id="35850" name="Text Box 9"/>
          <p:cNvSpPr txBox="1"/>
          <p:nvPr/>
        </p:nvSpPr>
        <p:spPr>
          <a:xfrm>
            <a:off x="1600200" y="3505200"/>
            <a:ext cx="28956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r" eaLnBrk="1" hangingPunct="1">
              <a:spcBef>
                <a:spcPct val="50000"/>
              </a:spcBef>
              <a:buClrTx/>
              <a:buFontTx/>
              <a:buNone/>
            </a:pPr>
            <a:r>
              <a:rPr lang="zh-CN" altLang="en-US" sz="2000" dirty="0">
                <a:solidFill>
                  <a:srgbClr val="FFFF00"/>
                </a:solidFill>
                <a:latin typeface="楷体_GB2312" pitchFamily="49" charset="-122"/>
                <a:ea typeface="楷体_GB2312" pitchFamily="49" charset="-122"/>
              </a:rPr>
              <a:t>软件基础构架平台</a:t>
            </a:r>
            <a:endParaRPr lang="zh-CN" altLang="en-US" sz="2000" dirty="0">
              <a:solidFill>
                <a:srgbClr val="FFFF00"/>
              </a:solidFill>
              <a:latin typeface="楷体_GB2312" pitchFamily="49" charset="-122"/>
              <a:ea typeface="楷体_GB2312" pitchFamily="49" charset="-122"/>
            </a:endParaRPr>
          </a:p>
        </p:txBody>
      </p:sp>
      <p:sp>
        <p:nvSpPr>
          <p:cNvPr id="35851" name="Text Box 10"/>
          <p:cNvSpPr txBox="1"/>
          <p:nvPr/>
        </p:nvSpPr>
        <p:spPr>
          <a:xfrm>
            <a:off x="1600200" y="3048000"/>
            <a:ext cx="25146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r" eaLnBrk="1" hangingPunct="1">
              <a:spcBef>
                <a:spcPct val="50000"/>
              </a:spcBef>
              <a:buClrTx/>
              <a:buFontTx/>
              <a:buNone/>
            </a:pPr>
            <a:r>
              <a:rPr lang="zh-CN" altLang="en-US" sz="2000" dirty="0">
                <a:solidFill>
                  <a:srgbClr val="FFFF00"/>
                </a:solidFill>
                <a:latin typeface="楷体_GB2312" pitchFamily="49" charset="-122"/>
                <a:ea typeface="楷体_GB2312" pitchFamily="49" charset="-122"/>
              </a:rPr>
              <a:t>应用软件平台</a:t>
            </a:r>
            <a:endParaRPr lang="zh-CN" altLang="en-US" sz="2000" dirty="0">
              <a:solidFill>
                <a:srgbClr val="FFFF00"/>
              </a:solidFill>
              <a:latin typeface="楷体_GB2312" pitchFamily="49" charset="-122"/>
              <a:ea typeface="楷体_GB2312" pitchFamily="49" charset="-122"/>
            </a:endParaRPr>
          </a:p>
        </p:txBody>
      </p:sp>
      <p:sp>
        <p:nvSpPr>
          <p:cNvPr id="35852" name="Rectangle 11"/>
          <p:cNvSpPr/>
          <p:nvPr/>
        </p:nvSpPr>
        <p:spPr>
          <a:xfrm>
            <a:off x="2057400" y="2514600"/>
            <a:ext cx="2438400" cy="457200"/>
          </a:xfrm>
          <a:prstGeom prst="rect">
            <a:avLst/>
          </a:prstGeom>
          <a:gradFill rotWithShape="0">
            <a:gsLst>
              <a:gs pos="0">
                <a:srgbClr val="00CC99"/>
              </a:gs>
              <a:gs pos="100000">
                <a:srgbClr val="005E47"/>
              </a:gs>
            </a:gsLst>
            <a:path path="rect">
              <a:fillToRect r="100000" b="100000"/>
            </a:path>
            <a:tileRect/>
          </a:gradFill>
          <a:ln w="9525" cap="flat" cmpd="sng">
            <a:prstDash val="solid"/>
            <a:miter/>
            <a:headEnd type="none" w="med" len="med"/>
            <a:tailEnd type="none" w="med" len="med"/>
          </a:ln>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endParaRPr lang="en-US" altLang="en-US" sz="2400" dirty="0">
              <a:solidFill>
                <a:schemeClr val="tx1"/>
              </a:solidFill>
              <a:ea typeface="Arial" panose="020B0604020202020204" pitchFamily="34" charset="0"/>
            </a:endParaRPr>
          </a:p>
        </p:txBody>
      </p:sp>
      <p:sp>
        <p:nvSpPr>
          <p:cNvPr id="35853" name="Text Box 12"/>
          <p:cNvSpPr txBox="1"/>
          <p:nvPr/>
        </p:nvSpPr>
        <p:spPr>
          <a:xfrm>
            <a:off x="2209800" y="2514600"/>
            <a:ext cx="1447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r" eaLnBrk="1" hangingPunct="1">
              <a:spcBef>
                <a:spcPct val="50000"/>
              </a:spcBef>
              <a:buClrTx/>
              <a:buFontTx/>
              <a:buNone/>
            </a:pPr>
            <a:r>
              <a:rPr lang="zh-CN" altLang="en-US" sz="2000" dirty="0">
                <a:solidFill>
                  <a:srgbClr val="FFFF00"/>
                </a:solidFill>
                <a:latin typeface="楷体_GB2312" pitchFamily="49" charset="-122"/>
                <a:ea typeface="楷体_GB2312" pitchFamily="49" charset="-122"/>
              </a:rPr>
              <a:t>软件产品</a:t>
            </a:r>
            <a:endParaRPr lang="zh-CN" altLang="en-US" sz="2000" dirty="0">
              <a:solidFill>
                <a:srgbClr val="FFFF00"/>
              </a:solidFill>
              <a:latin typeface="楷体_GB2312" pitchFamily="49" charset="-122"/>
              <a:ea typeface="楷体_GB2312" pitchFamily="49" charset="-122"/>
            </a:endParaRPr>
          </a:p>
        </p:txBody>
      </p:sp>
      <p:sp>
        <p:nvSpPr>
          <p:cNvPr id="35854" name="AutoShape 13"/>
          <p:cNvSpPr/>
          <p:nvPr/>
        </p:nvSpPr>
        <p:spPr>
          <a:xfrm>
            <a:off x="5562600" y="2209800"/>
            <a:ext cx="2971800" cy="1066800"/>
          </a:xfrm>
          <a:prstGeom prst="cloudCallout">
            <a:avLst>
              <a:gd name="adj1" fmla="val -83389"/>
              <a:gd name="adj2" fmla="val 52829"/>
            </a:avLst>
          </a:prstGeom>
          <a:solidFill>
            <a:srgbClr val="746AFC"/>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fontAlgn="t" hangingPunct="1">
              <a:spcBef>
                <a:spcPct val="50000"/>
              </a:spcBef>
              <a:buClrTx/>
              <a:buFontTx/>
              <a:buNone/>
            </a:pPr>
            <a:r>
              <a:rPr lang="zh-CN" altLang="en-US" sz="2000" dirty="0">
                <a:solidFill>
                  <a:srgbClr val="FFFFFF"/>
                </a:solidFill>
                <a:latin typeface="楷体_GB2312" pitchFamily="49" charset="-122"/>
                <a:ea typeface="楷体_GB2312" pitchFamily="49" charset="-122"/>
              </a:rPr>
              <a:t>协同软件</a:t>
            </a:r>
            <a:endParaRPr lang="zh-CN" altLang="en-US" sz="2000" dirty="0">
              <a:solidFill>
                <a:srgbClr val="FFFFFF"/>
              </a:solidFill>
              <a:latin typeface="楷体_GB2312" pitchFamily="49" charset="-122"/>
              <a:ea typeface="楷体_GB2312" pitchFamily="49" charset="-122"/>
            </a:endParaRPr>
          </a:p>
          <a:p>
            <a:pPr marL="0" lvl="0" indent="0" eaLnBrk="1" fontAlgn="t" hangingPunct="1">
              <a:spcBef>
                <a:spcPct val="50000"/>
              </a:spcBef>
              <a:buClrTx/>
              <a:buFontTx/>
              <a:buNone/>
            </a:pPr>
            <a:r>
              <a:rPr lang="zh-CN" altLang="en-US" sz="2000" dirty="0">
                <a:solidFill>
                  <a:srgbClr val="FFFFFF"/>
                </a:solidFill>
                <a:latin typeface="楷体_GB2312" pitchFamily="49" charset="-122"/>
                <a:ea typeface="楷体_GB2312" pitchFamily="49" charset="-122"/>
              </a:rPr>
              <a:t>办公软件</a:t>
            </a:r>
            <a:endParaRPr lang="zh-CN" altLang="en-US" sz="2000" dirty="0">
              <a:solidFill>
                <a:srgbClr val="FFFFFF"/>
              </a:solidFill>
              <a:latin typeface="楷体_GB2312" pitchFamily="49" charset="-122"/>
              <a:ea typeface="楷体_GB2312" pitchFamily="49" charset="-122"/>
            </a:endParaRPr>
          </a:p>
        </p:txBody>
      </p:sp>
      <p:sp>
        <p:nvSpPr>
          <p:cNvPr id="406542" name="AutoShape 14"/>
          <p:cNvSpPr>
            <a:spLocks noChangeArrowheads="1"/>
          </p:cNvSpPr>
          <p:nvPr/>
        </p:nvSpPr>
        <p:spPr bwMode="auto">
          <a:xfrm>
            <a:off x="5715000" y="4419600"/>
            <a:ext cx="2743200" cy="1066800"/>
          </a:xfrm>
          <a:prstGeom prst="cloudCallout">
            <a:avLst>
              <a:gd name="adj1" fmla="val -95199"/>
              <a:gd name="adj2" fmla="val -62352"/>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t" latinLnBrk="0" hangingPunct="1">
              <a:lnSpc>
                <a:spcPct val="100000"/>
              </a:lnSpc>
              <a:spcBef>
                <a:spcPct val="50000"/>
              </a:spcBef>
              <a:spcAft>
                <a:spcPct val="0"/>
              </a:spcAft>
              <a:buClrTx/>
              <a:buSzTx/>
              <a:buFontTx/>
              <a:buNone/>
              <a:defRPr/>
            </a:pPr>
            <a:r>
              <a:rPr kumimoji="1" lang="zh-CN" altLang="en-US" sz="2000" b="1" i="0" u="none" strike="noStrike" kern="1200" cap="none" spc="0" normalizeH="0" baseline="0" noProof="0">
                <a:ln>
                  <a:noFill/>
                </a:ln>
                <a:solidFill>
                  <a:schemeClr val="accent1"/>
                </a:solidFill>
                <a:effectLst>
                  <a:outerShdw blurRad="38100" dist="38100" dir="2700000" algn="tl">
                    <a:srgbClr val="000000"/>
                  </a:outerShdw>
                </a:effectLst>
                <a:uLnTx/>
                <a:uFillTx/>
                <a:latin typeface="楷体_GB2312" pitchFamily="49" charset="-122"/>
                <a:ea typeface="楷体_GB2312" pitchFamily="49" charset="-122"/>
                <a:cs typeface="+mn-cs"/>
              </a:rPr>
              <a:t>数据库系统</a:t>
            </a:r>
            <a:endParaRPr kumimoji="1" lang="zh-CN" altLang="en-US" sz="2000" b="1" i="0" u="none" strike="noStrike" kern="1200" cap="none" spc="0" normalizeH="0" baseline="0" noProof="0">
              <a:ln>
                <a:noFill/>
              </a:ln>
              <a:solidFill>
                <a:schemeClr val="accent1"/>
              </a:solidFill>
              <a:effectLst>
                <a:outerShdw blurRad="38100" dist="38100" dir="2700000" algn="tl">
                  <a:srgbClr val="000000"/>
                </a:outerShdw>
              </a:effectLst>
              <a:uLnTx/>
              <a:uFillTx/>
              <a:latin typeface="楷体_GB2312" pitchFamily="49" charset="-122"/>
              <a:ea typeface="楷体_GB2312" pitchFamily="49" charset="-122"/>
              <a:cs typeface="+mn-cs"/>
            </a:endParaRPr>
          </a:p>
          <a:p>
            <a:pPr marL="0" marR="0" lvl="0" indent="0" algn="l" defTabSz="914400" rtl="0" eaLnBrk="1" fontAlgn="t" latinLnBrk="0" hangingPunct="1">
              <a:lnSpc>
                <a:spcPct val="100000"/>
              </a:lnSpc>
              <a:spcBef>
                <a:spcPct val="50000"/>
              </a:spcBef>
              <a:spcAft>
                <a:spcPct val="0"/>
              </a:spcAft>
              <a:buClrTx/>
              <a:buSzTx/>
              <a:buFontTx/>
              <a:buNone/>
              <a:defRPr/>
            </a:pPr>
            <a:r>
              <a:rPr kumimoji="1" lang="zh-CN" altLang="en-US" sz="2000" b="1" i="0" u="none" strike="noStrike" kern="1200" cap="none" spc="0" normalizeH="0" baseline="0" noProof="0">
                <a:ln>
                  <a:noFill/>
                </a:ln>
                <a:solidFill>
                  <a:schemeClr val="accent1"/>
                </a:solidFill>
                <a:effectLst>
                  <a:outerShdw blurRad="38100" dist="38100" dir="2700000" algn="tl">
                    <a:srgbClr val="000000"/>
                  </a:outerShdw>
                </a:effectLst>
                <a:uLnTx/>
                <a:uFillTx/>
                <a:latin typeface="楷体_GB2312" pitchFamily="49" charset="-122"/>
                <a:ea typeface="楷体_GB2312" pitchFamily="49" charset="-122"/>
                <a:cs typeface="+mn-cs"/>
              </a:rPr>
              <a:t>操作系统</a:t>
            </a:r>
            <a:endParaRPr kumimoji="1" lang="zh-CN" altLang="en-US" sz="2000" b="1" i="0" u="none" strike="noStrike" kern="1200" cap="none" spc="0" normalizeH="0" baseline="0" noProof="0">
              <a:ln>
                <a:noFill/>
              </a:ln>
              <a:solidFill>
                <a:schemeClr val="accent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35856" name="AutoShape 15"/>
          <p:cNvSpPr/>
          <p:nvPr/>
        </p:nvSpPr>
        <p:spPr>
          <a:xfrm>
            <a:off x="5715000" y="3276600"/>
            <a:ext cx="2971800" cy="1066800"/>
          </a:xfrm>
          <a:prstGeom prst="cloudCallout">
            <a:avLst>
              <a:gd name="adj1" fmla="val -80394"/>
              <a:gd name="adj2" fmla="val 2231"/>
            </a:avLst>
          </a:prstGeom>
          <a:solidFill>
            <a:srgbClr val="C0C0C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fontAlgn="t" hangingPunct="1">
              <a:spcBef>
                <a:spcPct val="50000"/>
              </a:spcBef>
              <a:buClrTx/>
              <a:buFontTx/>
              <a:buNone/>
            </a:pPr>
            <a:r>
              <a:rPr lang="en-US" altLang="zh-CN" sz="2000" dirty="0">
                <a:solidFill>
                  <a:schemeClr val="tx1"/>
                </a:solidFill>
                <a:latin typeface="楷体_GB2312" pitchFamily="49" charset="-122"/>
                <a:ea typeface="楷体_GB2312" pitchFamily="49" charset="-122"/>
              </a:rPr>
              <a:t>  </a:t>
            </a:r>
            <a:r>
              <a:rPr lang="zh-CN" altLang="en-US" sz="2000" dirty="0">
                <a:solidFill>
                  <a:schemeClr val="tx1"/>
                </a:solidFill>
                <a:latin typeface="楷体_GB2312" pitchFamily="49" charset="-122"/>
                <a:ea typeface="楷体_GB2312" pitchFamily="49" charset="-122"/>
              </a:rPr>
              <a:t>中间件</a:t>
            </a:r>
            <a:endParaRPr lang="zh-CN" altLang="en-US" sz="2000" dirty="0">
              <a:solidFill>
                <a:schemeClr val="tx1"/>
              </a:solidFill>
              <a:latin typeface="楷体_GB2312" pitchFamily="49" charset="-122"/>
              <a:ea typeface="楷体_GB2312" pitchFamily="49" charset="-122"/>
            </a:endParaRPr>
          </a:p>
          <a:p>
            <a:pPr marL="0" lvl="0" indent="0" eaLnBrk="1" fontAlgn="t" hangingPunct="1">
              <a:spcBef>
                <a:spcPct val="50000"/>
              </a:spcBef>
              <a:buClrTx/>
              <a:buFontTx/>
              <a:buNone/>
            </a:pPr>
            <a:r>
              <a:rPr lang="zh-CN" altLang="en-US" sz="2000" dirty="0">
                <a:solidFill>
                  <a:schemeClr val="tx1"/>
                </a:solidFill>
                <a:latin typeface="楷体_GB2312" pitchFamily="49" charset="-122"/>
                <a:ea typeface="楷体_GB2312" pitchFamily="49" charset="-122"/>
              </a:rPr>
              <a:t>  应用服务器</a:t>
            </a:r>
            <a:endParaRPr lang="zh-CN" altLang="en-US" sz="2000" dirty="0">
              <a:solidFill>
                <a:schemeClr val="tx1"/>
              </a:solidFill>
              <a:latin typeface="楷体_GB2312" pitchFamily="49" charset="-122"/>
              <a:ea typeface="楷体_GB2312" pitchFamily="49" charset="-122"/>
            </a:endParaRPr>
          </a:p>
        </p:txBody>
      </p:sp>
      <p:sp>
        <p:nvSpPr>
          <p:cNvPr id="35857" name="Rectangle 16"/>
          <p:cNvSpPr>
            <a:spLocks noGrp="1"/>
          </p:cNvSpPr>
          <p:nvPr>
            <p:ph type="title"/>
          </p:nvPr>
        </p:nvSpPr>
        <p:spPr>
          <a:ln/>
        </p:spPr>
        <p:txBody>
          <a:bodyPr vert="horz" wrap="square" lIns="91440" tIns="45720" rIns="91440" bIns="45720" anchor="ctr" anchorCtr="0"/>
          <a:p>
            <a:pPr eaLnBrk="1" hangingPunct="1"/>
            <a:r>
              <a:rPr lang="zh-CN" altLang="en-US" dirty="0">
                <a:latin typeface="宋体" panose="02010600030101010101" pitchFamily="2" charset="-122"/>
                <a:ea typeface="宋体" panose="02010600030101010101" pitchFamily="2" charset="-122"/>
              </a:rPr>
              <a:t>数据库在计算机系统中的位置</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Shape9"/>
          <p:cNvSpPr/>
          <p:nvPr/>
        </p:nvSpPr>
        <p:spPr>
          <a:xfrm rot="10800000">
            <a:off x="2305171" y="1555908"/>
            <a:ext cx="4415156" cy="8042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500" b="1" i="0" u="none" strike="noStrike" kern="1200" cap="none" spc="0" normalizeH="0" baseline="0" noProof="0" dirty="0">
              <a:ln>
                <a:noFill/>
              </a:ln>
              <a:solidFill>
                <a:schemeClr val="lt1"/>
              </a:solidFill>
              <a:effectLst/>
              <a:uLnTx/>
              <a:uFillTx/>
              <a:latin typeface="OPPOSans M" panose="00020600040101010101" pitchFamily="18" charset="-122"/>
              <a:ea typeface="OPPOSans M" panose="00020600040101010101" pitchFamily="18" charset="-122"/>
              <a:cs typeface="+mn-cs"/>
            </a:endParaRPr>
          </a:p>
        </p:txBody>
      </p:sp>
      <p:grpSp>
        <p:nvGrpSpPr>
          <p:cNvPr id="36869" name="Shape6"/>
          <p:cNvGrpSpPr/>
          <p:nvPr/>
        </p:nvGrpSpPr>
        <p:grpSpPr>
          <a:xfrm>
            <a:off x="395288" y="2268538"/>
            <a:ext cx="8137525" cy="4113212"/>
            <a:chOff x="380794" y="2976852"/>
            <a:chExt cx="11938264" cy="3147072"/>
          </a:xfrm>
        </p:grpSpPr>
        <p:sp>
          <p:nvSpPr>
            <p:cNvPr id="19" name="Shape6"/>
            <p:cNvSpPr/>
            <p:nvPr/>
          </p:nvSpPr>
          <p:spPr>
            <a:xfrm>
              <a:off x="380794" y="2976852"/>
              <a:ext cx="11938264" cy="3147072"/>
            </a:xfrm>
            <a:prstGeom prst="roundRect">
              <a:avLst>
                <a:gd name="adj" fmla="val 12145"/>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790" b="1" i="0" u="none" strike="noStrike" kern="1200" cap="none" spc="0" normalizeH="0" baseline="0" noProof="0" dirty="0">
                <a:ln>
                  <a:noFill/>
                </a:ln>
                <a:solidFill>
                  <a:schemeClr val="lt1"/>
                </a:solidFill>
                <a:effectLst/>
                <a:uLnTx/>
                <a:uFillTx/>
                <a:latin typeface="OPPOSans M" panose="00020600040101010101" pitchFamily="18" charset="-122"/>
                <a:ea typeface="OPPOSans M" panose="00020600040101010101" pitchFamily="18" charset="-122"/>
                <a:cs typeface="+mn-cs"/>
              </a:endParaRPr>
            </a:p>
          </p:txBody>
        </p:sp>
        <p:sp>
          <p:nvSpPr>
            <p:cNvPr id="20" name="Shape6"/>
            <p:cNvSpPr/>
            <p:nvPr/>
          </p:nvSpPr>
          <p:spPr>
            <a:xfrm>
              <a:off x="560123" y="3072806"/>
              <a:ext cx="11595907" cy="296488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790" b="1" i="0" u="none" strike="noStrike" kern="1200" cap="none" spc="0" normalizeH="0" baseline="0" noProof="0" dirty="0">
                <a:ln>
                  <a:noFill/>
                </a:ln>
                <a:solidFill>
                  <a:srgbClr val="6F1787"/>
                </a:solidFill>
                <a:effectLst/>
                <a:uLnTx/>
                <a:uFillTx/>
                <a:latin typeface="OPPOSans M" panose="00020600040101010101" pitchFamily="18" charset="-122"/>
                <a:ea typeface="OPPOSans M" panose="00020600040101010101" pitchFamily="18" charset="-122"/>
                <a:cs typeface="+mn-cs"/>
              </a:endParaRPr>
            </a:p>
          </p:txBody>
        </p:sp>
      </p:grpSp>
      <p:sp>
        <p:nvSpPr>
          <p:cNvPr id="36870" name="标题 1"/>
          <p:cNvSpPr>
            <a:spLocks noGrp="1"/>
          </p:cNvSpPr>
          <p:nvPr>
            <p:ph type="title"/>
          </p:nvPr>
        </p:nvSpPr>
        <p:spPr>
          <a:xfrm>
            <a:off x="971550" y="274638"/>
            <a:ext cx="7567613" cy="508000"/>
          </a:xfrm>
          <a:ln/>
        </p:spPr>
        <p:txBody>
          <a:bodyPr vert="horz" wrap="square" lIns="91440" tIns="45720" rIns="91440" bIns="45720" anchor="ctr" anchorCtr="0"/>
          <a:p>
            <a:r>
              <a:rPr lang="zh-CN" altLang="en-US" b="0" dirty="0">
                <a:latin typeface="微软雅黑" panose="020B0503020204020204" pitchFamily="34" charset="-122"/>
                <a:ea typeface="微软雅黑" panose="020B0503020204020204" pitchFamily="34" charset="-122"/>
              </a:rPr>
              <a:t>数据库在计算机系统中的位置</a:t>
            </a:r>
            <a:endParaRPr lang="zh-CN" altLang="en-US" b="0" dirty="0">
              <a:latin typeface="微软雅黑" panose="020B0503020204020204" pitchFamily="34" charset="-122"/>
              <a:ea typeface="微软雅黑" panose="020B0503020204020204" pitchFamily="34" charset="-122"/>
            </a:endParaRPr>
          </a:p>
        </p:txBody>
      </p:sp>
      <p:grpSp>
        <p:nvGrpSpPr>
          <p:cNvPr id="36871" name="组合 15"/>
          <p:cNvGrpSpPr/>
          <p:nvPr/>
        </p:nvGrpSpPr>
        <p:grpSpPr>
          <a:xfrm>
            <a:off x="971550" y="2762250"/>
            <a:ext cx="7129463" cy="3259138"/>
            <a:chOff x="2826961" y="3415260"/>
            <a:chExt cx="5713497" cy="2533622"/>
          </a:xfrm>
        </p:grpSpPr>
        <p:sp>
          <p:nvSpPr>
            <p:cNvPr id="7" name="矩形 6"/>
            <p:cNvSpPr/>
            <p:nvPr/>
          </p:nvSpPr>
          <p:spPr bwMode="auto">
            <a:xfrm rot="5400000">
              <a:off x="1679738" y="4562483"/>
              <a:ext cx="2533622" cy="239176"/>
            </a:xfrm>
            <a:prstGeom prst="rect">
              <a:avLst/>
            </a:prstGeom>
            <a:solidFill>
              <a:schemeClr val="bg1"/>
            </a:solidFill>
            <a:ln w="38100" cap="flat" cmpd="sng" algn="ctr">
              <a:no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理论 </a:t>
              </a:r>
              <a:r>
                <a:rPr kumimoji="1" lang="en-US" altLang="zh-CN"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Theory</a:t>
              </a:r>
              <a:endPar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endParaRPr>
            </a:p>
          </p:txBody>
        </p:sp>
        <p:sp>
          <p:nvSpPr>
            <p:cNvPr id="8" name="矩形 7"/>
            <p:cNvSpPr/>
            <p:nvPr/>
          </p:nvSpPr>
          <p:spPr bwMode="auto">
            <a:xfrm rot="5400000">
              <a:off x="6647720" y="4562483"/>
              <a:ext cx="2533622" cy="239176"/>
            </a:xfrm>
            <a:prstGeom prst="rect">
              <a:avLst/>
            </a:prstGeom>
            <a:solidFill>
              <a:schemeClr val="bg1"/>
            </a:solidFill>
            <a:ln w="38100" cap="flat" cmpd="sng" algn="ctr">
              <a:no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网络 </a:t>
              </a:r>
              <a:r>
                <a:rPr kumimoji="1" lang="en-US" altLang="zh-CN"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Network</a:t>
              </a:r>
              <a:endPar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endParaRPr>
            </a:p>
          </p:txBody>
        </p:sp>
        <p:sp>
          <p:nvSpPr>
            <p:cNvPr id="9" name="矩形 8"/>
            <p:cNvSpPr/>
            <p:nvPr/>
          </p:nvSpPr>
          <p:spPr bwMode="auto">
            <a:xfrm rot="5400000">
              <a:off x="7154059" y="4562483"/>
              <a:ext cx="2533622" cy="239176"/>
            </a:xfrm>
            <a:prstGeom prst="rect">
              <a:avLst/>
            </a:prstGeom>
            <a:solidFill>
              <a:schemeClr val="bg1"/>
            </a:solidFill>
            <a:ln w="38100" cap="flat" cmpd="sng" algn="ctr">
              <a:no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1"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安全 </a:t>
              </a:r>
              <a:r>
                <a:rPr kumimoji="1" lang="en-US" altLang="zh-CN" sz="1050" b="1"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Security</a:t>
              </a:r>
              <a:endPar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endParaRPr>
            </a:p>
          </p:txBody>
        </p:sp>
        <p:sp>
          <p:nvSpPr>
            <p:cNvPr id="10" name="矩形 9"/>
            <p:cNvSpPr/>
            <p:nvPr/>
          </p:nvSpPr>
          <p:spPr bwMode="auto">
            <a:xfrm>
              <a:off x="3292590" y="3415260"/>
              <a:ext cx="4275899" cy="275206"/>
            </a:xfrm>
            <a:prstGeom prst="rect">
              <a:avLst/>
            </a:prstGeom>
            <a:solidFill>
              <a:schemeClr val="bg1"/>
            </a:solidFill>
            <a:ln w="38100" cap="flat" cmpd="sng" algn="ctr">
              <a:no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应用 </a:t>
              </a:r>
              <a:r>
                <a:rPr kumimoji="1" lang="en-US" altLang="zh-CN"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Application</a:t>
              </a:r>
              <a:endPar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endParaRPr>
            </a:p>
          </p:txBody>
        </p:sp>
        <p:sp>
          <p:nvSpPr>
            <p:cNvPr id="12" name="矩形 11"/>
            <p:cNvSpPr/>
            <p:nvPr/>
          </p:nvSpPr>
          <p:spPr bwMode="auto">
            <a:xfrm>
              <a:off x="3292590" y="3958267"/>
              <a:ext cx="4275899" cy="276440"/>
            </a:xfrm>
            <a:prstGeom prst="rect">
              <a:avLst/>
            </a:prstGeom>
            <a:solidFill>
              <a:schemeClr val="accent2"/>
            </a:solidFill>
            <a:ln w="6350" cap="flat" cmpd="sng" algn="ctr">
              <a:solidFill>
                <a:schemeClr val="bg1"/>
              </a:solid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1" i="0" u="none" strike="noStrike" kern="1200" cap="none" spc="0" normalizeH="0" baseline="0" noProof="0" dirty="0">
                  <a:ln>
                    <a:noFill/>
                  </a:ln>
                  <a:solidFill>
                    <a:schemeClr val="bg1"/>
                  </a:solidFill>
                  <a:effectLst/>
                  <a:uLnTx/>
                  <a:uFillTx/>
                  <a:latin typeface="微软雅黑" panose="020B0503020204020204" pitchFamily="82" charset="2"/>
                  <a:ea typeface="微软雅黑" panose="020B0503020204020204" pitchFamily="82" charset="2"/>
                  <a:cs typeface="+mn-cs"/>
                </a:rPr>
                <a:t>数据库 </a:t>
              </a:r>
              <a:r>
                <a:rPr kumimoji="1" lang="en-US" altLang="zh-CN" sz="1050" b="1" i="0" u="none" strike="noStrike" kern="1200" cap="none" spc="0" normalizeH="0" baseline="0" noProof="0" dirty="0">
                  <a:ln>
                    <a:noFill/>
                  </a:ln>
                  <a:solidFill>
                    <a:schemeClr val="bg1"/>
                  </a:solidFill>
                  <a:effectLst/>
                  <a:uLnTx/>
                  <a:uFillTx/>
                  <a:latin typeface="微软雅黑" panose="020B0503020204020204" pitchFamily="82" charset="2"/>
                  <a:ea typeface="微软雅黑" panose="020B0503020204020204" pitchFamily="82" charset="2"/>
                  <a:cs typeface="+mn-cs"/>
                </a:rPr>
                <a:t>Database</a:t>
              </a:r>
              <a:endParaRPr kumimoji="1" lang="zh-CN" altLang="en-US" sz="1050" b="1" i="0" u="none" strike="noStrike" kern="1200" cap="none" spc="0" normalizeH="0" baseline="0" noProof="0" dirty="0">
                <a:ln>
                  <a:noFill/>
                </a:ln>
                <a:solidFill>
                  <a:schemeClr val="bg1"/>
                </a:solidFill>
                <a:effectLst/>
                <a:uLnTx/>
                <a:uFillTx/>
                <a:latin typeface="微软雅黑" panose="020B0503020204020204" pitchFamily="82" charset="2"/>
                <a:ea typeface="微软雅黑" panose="020B0503020204020204" pitchFamily="82" charset="2"/>
                <a:cs typeface="+mn-cs"/>
              </a:endParaRPr>
            </a:p>
          </p:txBody>
        </p:sp>
        <p:sp>
          <p:nvSpPr>
            <p:cNvPr id="13" name="矩形 12"/>
            <p:cNvSpPr/>
            <p:nvPr/>
          </p:nvSpPr>
          <p:spPr bwMode="auto">
            <a:xfrm>
              <a:off x="3292590" y="4501274"/>
              <a:ext cx="4275899" cy="276440"/>
            </a:xfrm>
            <a:prstGeom prst="rect">
              <a:avLst/>
            </a:prstGeom>
            <a:solidFill>
              <a:schemeClr val="bg1"/>
            </a:solidFill>
            <a:ln w="38100" cap="flat" cmpd="sng" algn="ctr">
              <a:no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编译器 </a:t>
              </a:r>
              <a:r>
                <a:rPr kumimoji="1" lang="en-US" altLang="zh-CN"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Compiler</a:t>
              </a:r>
              <a:endPar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endParaRPr>
            </a:p>
          </p:txBody>
        </p:sp>
        <p:sp>
          <p:nvSpPr>
            <p:cNvPr id="14" name="矩形 13"/>
            <p:cNvSpPr/>
            <p:nvPr/>
          </p:nvSpPr>
          <p:spPr bwMode="auto">
            <a:xfrm>
              <a:off x="3292590" y="5045516"/>
              <a:ext cx="4275899" cy="275205"/>
            </a:xfrm>
            <a:prstGeom prst="rect">
              <a:avLst/>
            </a:prstGeom>
            <a:solidFill>
              <a:schemeClr val="bg1"/>
            </a:solidFill>
            <a:ln w="38100" cap="flat" cmpd="sng" algn="ctr">
              <a:no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操作系统 </a:t>
              </a:r>
              <a:r>
                <a:rPr kumimoji="1" lang="en-US" altLang="zh-CN"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OS</a:t>
              </a:r>
              <a:endPar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endParaRPr>
            </a:p>
          </p:txBody>
        </p:sp>
        <p:sp>
          <p:nvSpPr>
            <p:cNvPr id="15" name="矩形 14"/>
            <p:cNvSpPr/>
            <p:nvPr/>
          </p:nvSpPr>
          <p:spPr bwMode="auto">
            <a:xfrm>
              <a:off x="3292590" y="5588523"/>
              <a:ext cx="4275899" cy="275205"/>
            </a:xfrm>
            <a:prstGeom prst="rect">
              <a:avLst/>
            </a:prstGeom>
            <a:solidFill>
              <a:schemeClr val="bg1"/>
            </a:solidFill>
            <a:ln w="38100" cap="flat" cmpd="sng" algn="ctr">
              <a:noFill/>
              <a:prstDash val="solid"/>
              <a:round/>
              <a:headEnd type="none" w="med" len="med"/>
              <a:tailEnd type="none" w="med" len="med"/>
            </a:ln>
            <a:effectLst/>
          </p:spPr>
          <p:txBody>
            <a:bodyPr lIns="68580" tIns="34290" rIns="68580" bIns="34290">
              <a:spAutoFit/>
            </a:bodyPr>
            <a:lstStyle/>
            <a:p>
              <a:pPr marL="0" marR="0" lvl="0" indent="0" algn="ctr" defTabSz="685800" rtl="0" eaLnBrk="1" fontAlgn="base" latinLnBrk="0" hangingPunct="1">
                <a:lnSpc>
                  <a:spcPct val="100000"/>
                </a:lnSpc>
                <a:spcBef>
                  <a:spcPct val="50000"/>
                </a:spcBef>
                <a:spcAft>
                  <a:spcPct val="0"/>
                </a:spcAft>
                <a:buClrTx/>
                <a:buSzTx/>
                <a:buFontTx/>
                <a:buNone/>
                <a:defRPr/>
              </a:pPr>
              <a:r>
                <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硬件 </a:t>
              </a:r>
              <a:r>
                <a:rPr kumimoji="1" lang="en-US" altLang="zh-CN"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rPr>
                <a:t>Hardware</a:t>
              </a:r>
              <a:endParaRPr kumimoji="1" lang="zh-CN" altLang="en-US" sz="1050" b="0" i="0" u="none" strike="noStrike" kern="1200" cap="none" spc="0" normalizeH="0" baseline="0" noProof="0" dirty="0">
                <a:ln>
                  <a:noFill/>
                </a:ln>
                <a:solidFill>
                  <a:schemeClr val="tx1"/>
                </a:solidFill>
                <a:effectLst/>
                <a:uLnTx/>
                <a:uFillTx/>
                <a:latin typeface="微软雅黑" panose="020B0503020204020204" pitchFamily="82" charset="2"/>
                <a:ea typeface="微软雅黑" panose="020B0503020204020204" pitchFamily="82" charset="2"/>
                <a:cs typeface="+mn-cs"/>
              </a:endParaRPr>
            </a:p>
          </p:txBody>
        </p:sp>
      </p:grpSp>
      <p:sp>
        <p:nvSpPr>
          <p:cNvPr id="36872" name="文本框 16"/>
          <p:cNvSpPr txBox="1"/>
          <p:nvPr/>
        </p:nvSpPr>
        <p:spPr>
          <a:xfrm>
            <a:off x="1566863" y="1255713"/>
            <a:ext cx="5957887" cy="831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rgbClr val="33353C"/>
                </a:solidFill>
                <a:latin typeface="微软雅黑" panose="020B0503020204020204" pitchFamily="34" charset="-122"/>
                <a:ea typeface="微软雅黑" panose="020B0503020204020204" pitchFamily="34" charset="-122"/>
              </a:rPr>
              <a:t>数据库是</a:t>
            </a:r>
            <a:r>
              <a:rPr lang="zh-CN" altLang="en-US" sz="2400" dirty="0">
                <a:solidFill>
                  <a:srgbClr val="33353C"/>
                </a:solidFill>
                <a:latin typeface="微软雅黑" panose="020B0503020204020204" pitchFamily="34" charset="-122"/>
                <a:ea typeface="微软雅黑" panose="020B0503020204020204" pitchFamily="34" charset="-122"/>
              </a:rPr>
              <a:t>计算机的核心基础软件之一</a:t>
            </a:r>
            <a:endParaRPr lang="en-US" altLang="zh-CN" sz="2400" dirty="0">
              <a:solidFill>
                <a:srgbClr val="33353C"/>
              </a:solidFill>
              <a:latin typeface="微软雅黑" panose="020B0503020204020204" pitchFamily="34" charset="-122"/>
              <a:ea typeface="微软雅黑" panose="020B0503020204020204" pitchFamily="34" charset="-122"/>
            </a:endParaRPr>
          </a:p>
          <a:p>
            <a:pPr marL="0" lvl="0" indent="0" algn="ctr">
              <a:spcBef>
                <a:spcPct val="0"/>
              </a:spcBef>
              <a:buClrTx/>
              <a:buFontTx/>
              <a:buNone/>
            </a:pPr>
            <a:r>
              <a:rPr lang="zh-CN" altLang="en-US" sz="2400" dirty="0">
                <a:solidFill>
                  <a:srgbClr val="6F1787"/>
                </a:solidFill>
                <a:latin typeface="微软雅黑" panose="020B0503020204020204" pitchFamily="34" charset="-122"/>
                <a:ea typeface="微软雅黑" panose="020B0503020204020204" pitchFamily="34" charset="-122"/>
              </a:rPr>
              <a:t>向下发挥算力、向上支撑应用</a:t>
            </a:r>
            <a:endParaRPr lang="zh-CN" altLang="en-US" sz="2400" dirty="0">
              <a:solidFill>
                <a:srgbClr val="6F1787"/>
              </a:solidFill>
              <a:latin typeface="微软雅黑" panose="020B0503020204020204" pitchFamily="34" charset="-122"/>
              <a:ea typeface="微软雅黑" panose="020B0503020204020204" pitchFamily="34" charset="-122"/>
            </a:endParaRPr>
          </a:p>
        </p:txBody>
      </p:sp>
      <p:sp>
        <p:nvSpPr>
          <p:cNvPr id="36873" name="灯片编号占位符 5"/>
          <p:cNvSpPr txBox="1">
            <a:spLocks noGrp="1"/>
          </p:cNvSpPr>
          <p:nvPr>
            <p:ph type="sldNum" sz="quarter" idx="12"/>
          </p:nvPr>
        </p:nvSpPr>
        <p:spPr>
          <a:xfrm>
            <a:off x="8763000" y="5745163"/>
            <a:ext cx="488950" cy="357187"/>
          </a:xfrm>
          <a:ln/>
        </p:spPr>
        <p:txBody>
          <a:bodyPr/>
          <a:p>
            <a:pPr marL="0" indent="0" algn="r" eaLnBrk="1" hangingPunct="1">
              <a:spcBef>
                <a:spcPct val="0"/>
              </a:spcBef>
              <a:buClrTx/>
              <a:buFontTx/>
              <a:buNone/>
            </a:pPr>
            <a:fld id="{9A0DB2DC-4C9A-4742-B13C-FB6460FD3503}" type="slidenum">
              <a:rPr lang="en-US" altLang="zh-CN" sz="1400" b="0" dirty="0">
                <a:solidFill>
                  <a:schemeClr val="tx1"/>
                </a:solidFill>
              </a:rPr>
            </a:fld>
            <a:endParaRPr lang="en-US" altLang="zh-CN" sz="1400" b="0"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Shape18"/>
          <p:cNvSpPr/>
          <p:nvPr/>
        </p:nvSpPr>
        <p:spPr>
          <a:xfrm>
            <a:off x="2029407" y="2204864"/>
            <a:ext cx="5276119" cy="270371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350" b="1" i="0" u="none" strike="noStrike" kern="1200" cap="none" spc="0" normalizeH="0" baseline="0" noProof="0" dirty="0">
              <a:ln>
                <a:noFill/>
              </a:ln>
              <a:solidFill>
                <a:schemeClr val="tx1"/>
              </a:solidFill>
              <a:effectLst/>
              <a:uLnTx/>
              <a:uFillTx/>
              <a:latin typeface="OPPOSans M" panose="00020600040101010101" pitchFamily="18" charset="-122"/>
              <a:ea typeface="OPPOSans M" panose="00020600040101010101" pitchFamily="18" charset="-122"/>
              <a:cs typeface="+mn-cs"/>
              <a:sym typeface="+mn-ea"/>
            </a:endParaRPr>
          </a:p>
        </p:txBody>
      </p:sp>
      <p:sp>
        <p:nvSpPr>
          <p:cNvPr id="45" name="Shape9"/>
          <p:cNvSpPr/>
          <p:nvPr/>
        </p:nvSpPr>
        <p:spPr>
          <a:xfrm rot="10800000">
            <a:off x="1575711" y="4937526"/>
            <a:ext cx="5592638" cy="71890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5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43" name="Shape9"/>
          <p:cNvSpPr/>
          <p:nvPr/>
        </p:nvSpPr>
        <p:spPr>
          <a:xfrm rot="10800000">
            <a:off x="102684" y="2536815"/>
            <a:ext cx="1926722" cy="212056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5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44" name="Shape9"/>
          <p:cNvSpPr/>
          <p:nvPr/>
        </p:nvSpPr>
        <p:spPr>
          <a:xfrm rot="10800000">
            <a:off x="7168348" y="2536816"/>
            <a:ext cx="1926721" cy="212056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5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42" name="Shape9"/>
          <p:cNvSpPr/>
          <p:nvPr/>
        </p:nvSpPr>
        <p:spPr>
          <a:xfrm rot="10800000">
            <a:off x="1586169" y="1616603"/>
            <a:ext cx="5719357" cy="8042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5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8929" name="灯片编号占位符 1"/>
          <p:cNvSpPr txBox="1">
            <a:spLocks noGrp="1"/>
          </p:cNvSpPr>
          <p:nvPr>
            <p:ph type="sldNum" sz="quarter" idx="12"/>
          </p:nvPr>
        </p:nvSpPr>
        <p:spPr>
          <a:xfrm>
            <a:off x="8793163" y="5745163"/>
            <a:ext cx="458787" cy="357187"/>
          </a:xfrm>
          <a:ln/>
        </p:spPr>
        <p:txBody>
          <a:bodyPr/>
          <a:p>
            <a:pPr marL="0" indent="0" eaLnBrk="1" hangingPunct="1">
              <a:spcBef>
                <a:spcPct val="0"/>
              </a:spcBef>
              <a:buClrTx/>
              <a:buFontTx/>
              <a:buNone/>
            </a:pPr>
            <a:fld id="{9A0DB2DC-4C9A-4742-B13C-FB6460FD3503}" type="slidenum">
              <a:rPr lang="zh-CN" altLang="en-US" sz="1400" b="0" dirty="0">
                <a:solidFill>
                  <a:schemeClr val="tx1"/>
                </a:solidFill>
                <a:latin typeface="微软雅黑" panose="020B0503020204020204" pitchFamily="34" charset="-122"/>
                <a:ea typeface="微软雅黑" panose="020B0503020204020204" pitchFamily="34" charset="-122"/>
              </a:rPr>
            </a:fld>
            <a:endParaRPr lang="zh-CN" altLang="en-US" sz="1400" b="0" dirty="0">
              <a:solidFill>
                <a:schemeClr val="tx1"/>
              </a:solidFill>
              <a:latin typeface="微软雅黑" panose="020B0503020204020204" pitchFamily="34" charset="-122"/>
              <a:ea typeface="微软雅黑" panose="020B0503020204020204" pitchFamily="34" charset="-122"/>
            </a:endParaRPr>
          </a:p>
        </p:txBody>
      </p:sp>
      <p:grpSp>
        <p:nvGrpSpPr>
          <p:cNvPr id="38930" name="组合 6"/>
          <p:cNvGrpSpPr/>
          <p:nvPr/>
        </p:nvGrpSpPr>
        <p:grpSpPr>
          <a:xfrm>
            <a:off x="2157413" y="2200275"/>
            <a:ext cx="5037137" cy="2597150"/>
            <a:chOff x="684173" y="1234171"/>
            <a:chExt cx="7773007" cy="3889184"/>
          </a:xfrm>
        </p:grpSpPr>
        <p:sp>
          <p:nvSpPr>
            <p:cNvPr id="26" name="矩形 25"/>
            <p:cNvSpPr/>
            <p:nvPr/>
          </p:nvSpPr>
          <p:spPr>
            <a:xfrm>
              <a:off x="2509224" y="2567810"/>
              <a:ext cx="3387984" cy="1870896"/>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数据库内核</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27" name="矩形 26"/>
            <p:cNvSpPr/>
            <p:nvPr/>
          </p:nvSpPr>
          <p:spPr>
            <a:xfrm>
              <a:off x="1762056" y="1234171"/>
              <a:ext cx="2758401" cy="71793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数据访问中间件</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28" name="矩形 27"/>
            <p:cNvSpPr/>
            <p:nvPr/>
          </p:nvSpPr>
          <p:spPr>
            <a:xfrm>
              <a:off x="4498409" y="1241304"/>
              <a:ext cx="2792697" cy="701289"/>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数据开发建模工具</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29" name="矩形 28"/>
            <p:cNvSpPr/>
            <p:nvPr/>
          </p:nvSpPr>
          <p:spPr>
            <a:xfrm>
              <a:off x="794410" y="4464857"/>
              <a:ext cx="7505987" cy="31855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操作系统</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0" name="矩形 29"/>
            <p:cNvSpPr/>
            <p:nvPr/>
          </p:nvSpPr>
          <p:spPr>
            <a:xfrm>
              <a:off x="796861" y="4802427"/>
              <a:ext cx="7503536" cy="32092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硬件平台</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1" name="矩形 30"/>
            <p:cNvSpPr/>
            <p:nvPr/>
          </p:nvSpPr>
          <p:spPr>
            <a:xfrm>
              <a:off x="693972" y="2926774"/>
              <a:ext cx="1075433" cy="83679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数据同步工具</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2" name="矩形 31"/>
            <p:cNvSpPr/>
            <p:nvPr/>
          </p:nvSpPr>
          <p:spPr>
            <a:xfrm>
              <a:off x="684173" y="3792094"/>
              <a:ext cx="1170973" cy="64661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数据集成工具</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3" name="矩形 32"/>
            <p:cNvSpPr/>
            <p:nvPr/>
          </p:nvSpPr>
          <p:spPr>
            <a:xfrm>
              <a:off x="7325403" y="1983006"/>
              <a:ext cx="1131777" cy="140733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监控运维系统</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4" name="矩形 33"/>
            <p:cNvSpPr/>
            <p:nvPr/>
          </p:nvSpPr>
          <p:spPr>
            <a:xfrm>
              <a:off x="7325403" y="3421243"/>
              <a:ext cx="1131777" cy="10032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备份恢复系统</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5" name="矩形 34"/>
            <p:cNvSpPr/>
            <p:nvPr/>
          </p:nvSpPr>
          <p:spPr>
            <a:xfrm>
              <a:off x="1791453" y="1978252"/>
              <a:ext cx="3312041" cy="575295"/>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标准</a:t>
              </a:r>
              <a:r>
                <a:rPr kumimoji="1" lang="en-US" altLang="zh-CN"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SQL</a:t>
              </a: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及驱动</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6" name="矩形 35"/>
            <p:cNvSpPr/>
            <p:nvPr/>
          </p:nvSpPr>
          <p:spPr>
            <a:xfrm>
              <a:off x="5130440" y="1978252"/>
              <a:ext cx="2160666" cy="575295"/>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元数据视图</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7" name="矩形 36"/>
            <p:cNvSpPr/>
            <p:nvPr/>
          </p:nvSpPr>
          <p:spPr>
            <a:xfrm>
              <a:off x="5924154" y="2565432"/>
              <a:ext cx="1366952" cy="610954"/>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05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运行视图</a:t>
              </a:r>
              <a:endParaRPr kumimoji="1" lang="zh-CN" altLang="en-US" sz="105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8" name="矩形 37"/>
            <p:cNvSpPr/>
            <p:nvPr/>
          </p:nvSpPr>
          <p:spPr>
            <a:xfrm>
              <a:off x="5924154" y="3185896"/>
              <a:ext cx="1366952" cy="613331"/>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05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监控运维接口及工具集</a:t>
              </a:r>
              <a:endParaRPr kumimoji="1" lang="zh-CN" altLang="en-US" sz="105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39" name="矩形 38"/>
            <p:cNvSpPr/>
            <p:nvPr/>
          </p:nvSpPr>
          <p:spPr>
            <a:xfrm>
              <a:off x="5924154" y="3808735"/>
              <a:ext cx="1366952" cy="610953"/>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05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备份恢复接口及工具集</a:t>
              </a:r>
              <a:endParaRPr kumimoji="1" lang="zh-CN" altLang="en-US" sz="105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40" name="矩形 39"/>
            <p:cNvSpPr/>
            <p:nvPr/>
          </p:nvSpPr>
          <p:spPr>
            <a:xfrm>
              <a:off x="1791453" y="2567810"/>
              <a:ext cx="690825" cy="1863765"/>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数据同步接口</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sp>
          <p:nvSpPr>
            <p:cNvPr id="41" name="矩形 40"/>
            <p:cNvSpPr/>
            <p:nvPr/>
          </p:nvSpPr>
          <p:spPr>
            <a:xfrm>
              <a:off x="725818" y="1990137"/>
              <a:ext cx="1043587" cy="90097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rPr>
                <a:t>数据导入导出工具</a:t>
              </a:r>
              <a:endParaRPr kumimoji="1" lang="zh-CN" altLang="en-US" sz="1200" b="1" i="0" u="none" strike="noStrike" kern="1200" cap="none" spc="0" normalizeH="0" baseline="0" noProof="0" dirty="0">
                <a:ln>
                  <a:noFill/>
                </a:ln>
                <a:solidFill>
                  <a:schemeClr val="lt1"/>
                </a:solidFill>
                <a:effectLst/>
                <a:uLnTx/>
                <a:uFillTx/>
                <a:latin typeface="微软雅黑" panose="020B0503020204020204" pitchFamily="82" charset="2"/>
                <a:ea typeface="微软雅黑" panose="020B0503020204020204" pitchFamily="82" charset="2"/>
                <a:cs typeface="+mn-cs"/>
              </a:endParaRPr>
            </a:p>
          </p:txBody>
        </p:sp>
      </p:grpSp>
      <p:sp>
        <p:nvSpPr>
          <p:cNvPr id="8" name="文本框 7"/>
          <p:cNvSpPr txBox="1"/>
          <p:nvPr/>
        </p:nvSpPr>
        <p:spPr>
          <a:xfrm>
            <a:off x="103188" y="2205038"/>
            <a:ext cx="1965325" cy="2862263"/>
          </a:xfrm>
          <a:prstGeom prst="rect">
            <a:avLst/>
          </a:prstGeom>
          <a:noFill/>
        </p:spPr>
        <p:txBody>
          <a:bodyPr>
            <a:spAutoFit/>
          </a:bodyPr>
          <a:lstStyle/>
          <a:p>
            <a:pPr marR="0" defTabSz="914400">
              <a:buClrTx/>
              <a:buSzTx/>
              <a:buFontTx/>
              <a:buNone/>
              <a:defRPr/>
            </a:pPr>
            <a:r>
              <a:rPr kumimoji="1" lang="zh-CN" altLang="en-US" sz="1800" kern="1200" cap="none" spc="0" normalizeH="0" baseline="0" noProof="0" dirty="0">
                <a:solidFill>
                  <a:srgbClr val="6F1787"/>
                </a:solidFill>
                <a:latin typeface="微软雅黑" panose="020B0503020204020204" pitchFamily="82" charset="2"/>
                <a:ea typeface="微软雅黑" panose="020B0503020204020204" pitchFamily="82" charset="2"/>
                <a:cs typeface="+mn-cs"/>
              </a:rPr>
              <a:t>西向（数据进的来出得去）：</a:t>
            </a:r>
            <a:endParaRPr kumimoji="1" lang="en-US" altLang="zh-CN" sz="1800" kern="1200" cap="none" spc="0" normalizeH="0" baseline="0" noProof="0" dirty="0">
              <a:solidFill>
                <a:srgbClr val="6F1787"/>
              </a:solidFill>
              <a:latin typeface="微软雅黑" panose="020B0503020204020204" pitchFamily="82" charset="2"/>
              <a:ea typeface="微软雅黑" panose="020B0503020204020204" pitchFamily="82" charset="2"/>
              <a:cs typeface="+mn-cs"/>
            </a:endParaRPr>
          </a:p>
          <a:p>
            <a:pPr marL="213995" marR="0" indent="-213995" defTabSz="914400">
              <a:buClr>
                <a:srgbClr val="6F1787"/>
              </a:buClr>
              <a:buSzTx/>
              <a:buFont typeface="Wingdings" panose="05000000000000000000" pitchFamily="2" charset="2"/>
              <a:buChar char="Ø"/>
              <a:defRPr/>
            </a:pPr>
            <a:r>
              <a:rPr kumimoji="1" lang="zh-CN" altLang="en-US" sz="1800" kern="1200" cap="none" spc="0" normalizeH="0" baseline="0" noProof="0" dirty="0">
                <a:latin typeface="微软雅黑" panose="020B0503020204020204" pitchFamily="82" charset="2"/>
                <a:ea typeface="微软雅黑" panose="020B0503020204020204" pitchFamily="82" charset="2"/>
                <a:cs typeface="+mn-cs"/>
              </a:rPr>
              <a:t>导入导出工具：数据离线迁移；</a:t>
            </a:r>
            <a:endParaRPr kumimoji="1" lang="en-US" altLang="zh-CN" sz="1800" kern="1200" cap="none" spc="0" normalizeH="0" baseline="0" noProof="0" dirty="0">
              <a:latin typeface="微软雅黑" panose="020B0503020204020204" pitchFamily="82" charset="2"/>
              <a:ea typeface="微软雅黑" panose="020B0503020204020204" pitchFamily="82" charset="2"/>
              <a:cs typeface="+mn-cs"/>
            </a:endParaRPr>
          </a:p>
          <a:p>
            <a:pPr marL="213995" marR="0" indent="-213995" defTabSz="914400">
              <a:buClr>
                <a:srgbClr val="6F1787"/>
              </a:buClr>
              <a:buSzTx/>
              <a:buFont typeface="Wingdings" panose="05000000000000000000" pitchFamily="2" charset="2"/>
              <a:buChar char="Ø"/>
              <a:defRPr/>
            </a:pPr>
            <a:r>
              <a:rPr kumimoji="1" lang="zh-CN" altLang="en-US" sz="1800" kern="1200" cap="none" spc="0" normalizeH="0" baseline="0" noProof="0" dirty="0">
                <a:latin typeface="微软雅黑" panose="020B0503020204020204" pitchFamily="82" charset="2"/>
                <a:ea typeface="微软雅黑" panose="020B0503020204020204" pitchFamily="82" charset="2"/>
                <a:cs typeface="+mn-cs"/>
              </a:rPr>
              <a:t>同步工具：数据在线迁移；</a:t>
            </a:r>
            <a:endParaRPr kumimoji="1" lang="en-US" altLang="zh-CN" sz="1800" kern="1200" cap="none" spc="0" normalizeH="0" baseline="0" noProof="0" dirty="0">
              <a:latin typeface="微软雅黑" panose="020B0503020204020204" pitchFamily="82" charset="2"/>
              <a:ea typeface="微软雅黑" panose="020B0503020204020204" pitchFamily="82" charset="2"/>
              <a:cs typeface="+mn-cs"/>
            </a:endParaRPr>
          </a:p>
          <a:p>
            <a:pPr marL="213995" marR="0" indent="-213995" defTabSz="914400">
              <a:buClr>
                <a:srgbClr val="6F1787"/>
              </a:buClr>
              <a:buSzTx/>
              <a:buFont typeface="Wingdings" panose="05000000000000000000" pitchFamily="2" charset="2"/>
              <a:buChar char="Ø"/>
              <a:defRPr/>
            </a:pPr>
            <a:r>
              <a:rPr kumimoji="1" lang="zh-CN" altLang="en-US" sz="1800" kern="1200" cap="none" spc="0" normalizeH="0" baseline="0" noProof="0" dirty="0">
                <a:latin typeface="微软雅黑" panose="020B0503020204020204" pitchFamily="82" charset="2"/>
                <a:ea typeface="微软雅黑" panose="020B0503020204020204" pitchFamily="82" charset="2"/>
                <a:cs typeface="+mn-cs"/>
              </a:rPr>
              <a:t>集成工具：数据导出到分析系统；</a:t>
            </a:r>
            <a:endParaRPr kumimoji="1" lang="en-US" altLang="zh-CN" sz="1800" kern="1200" cap="none" spc="0" normalizeH="0" baseline="0" noProof="0" dirty="0">
              <a:latin typeface="微软雅黑" panose="020B0503020204020204" pitchFamily="82" charset="2"/>
              <a:ea typeface="微软雅黑" panose="020B0503020204020204" pitchFamily="82" charset="2"/>
              <a:cs typeface="+mn-cs"/>
            </a:endParaRPr>
          </a:p>
        </p:txBody>
      </p:sp>
      <p:sp>
        <p:nvSpPr>
          <p:cNvPr id="9" name="文本框 8"/>
          <p:cNvSpPr txBox="1"/>
          <p:nvPr/>
        </p:nvSpPr>
        <p:spPr>
          <a:xfrm>
            <a:off x="2147888" y="1052513"/>
            <a:ext cx="5519738" cy="1200150"/>
          </a:xfrm>
          <a:prstGeom prst="rect">
            <a:avLst/>
          </a:prstGeom>
          <a:noFill/>
        </p:spPr>
        <p:txBody>
          <a:bodyPr>
            <a:spAutoFit/>
          </a:bodyPr>
          <a:lstStyle/>
          <a:p>
            <a:pPr marR="0" defTabSz="914400">
              <a:buClrTx/>
              <a:buSzTx/>
              <a:buFontTx/>
              <a:buNone/>
              <a:defRPr/>
            </a:pPr>
            <a:r>
              <a:rPr kumimoji="1" lang="zh-CN" altLang="en-US" sz="1800" kern="1200" cap="none" spc="0" normalizeH="0" baseline="0" noProof="0" dirty="0">
                <a:solidFill>
                  <a:srgbClr val="6F1787"/>
                </a:solidFill>
                <a:latin typeface="微软雅黑" panose="020B0503020204020204" pitchFamily="82" charset="2"/>
                <a:ea typeface="微软雅黑" panose="020B0503020204020204" pitchFamily="82" charset="2"/>
                <a:cs typeface="+mn-cs"/>
              </a:rPr>
              <a:t>北向（应用用得好）：</a:t>
            </a:r>
            <a:endParaRPr kumimoji="1" lang="en-US" altLang="zh-CN" sz="1800" kern="1200" cap="none" spc="0" normalizeH="0" baseline="0" noProof="0" dirty="0">
              <a:solidFill>
                <a:srgbClr val="6F1787"/>
              </a:solidFill>
              <a:latin typeface="微软雅黑" panose="020B0503020204020204" pitchFamily="82" charset="2"/>
              <a:ea typeface="微软雅黑" panose="020B0503020204020204" pitchFamily="82" charset="2"/>
              <a:cs typeface="+mn-cs"/>
            </a:endParaRPr>
          </a:p>
          <a:p>
            <a:pPr marL="213995" marR="0" indent="-213995" defTabSz="914400">
              <a:buClr>
                <a:srgbClr val="6F1787"/>
              </a:buClr>
              <a:buSzTx/>
              <a:buFont typeface="Wingdings" panose="05000000000000000000" pitchFamily="2" charset="2"/>
              <a:buChar char="Ø"/>
              <a:defRPr/>
            </a:pPr>
            <a:r>
              <a:rPr kumimoji="1" lang="zh-CN" altLang="en-US" sz="1800" kern="1200" cap="none" spc="0" normalizeH="0" baseline="0" noProof="0" dirty="0">
                <a:latin typeface="微软雅黑" panose="020B0503020204020204" pitchFamily="82" charset="2"/>
                <a:ea typeface="微软雅黑" panose="020B0503020204020204" pitchFamily="82" charset="2"/>
                <a:cs typeface="+mn-cs"/>
              </a:rPr>
              <a:t>数据访问中间件：业务访问数据库的通道；</a:t>
            </a:r>
            <a:endParaRPr kumimoji="1" lang="en-US" altLang="zh-CN" sz="1800" kern="1200" cap="none" spc="0" normalizeH="0" baseline="0" noProof="0" dirty="0">
              <a:latin typeface="微软雅黑" panose="020B0503020204020204" pitchFamily="82" charset="2"/>
              <a:ea typeface="微软雅黑" panose="020B0503020204020204" pitchFamily="82" charset="2"/>
              <a:cs typeface="+mn-cs"/>
            </a:endParaRPr>
          </a:p>
          <a:p>
            <a:pPr marL="213995" marR="0" indent="-213995" defTabSz="914400">
              <a:buClr>
                <a:srgbClr val="6F1787"/>
              </a:buClr>
              <a:buSzTx/>
              <a:buFont typeface="Wingdings" panose="05000000000000000000" pitchFamily="2" charset="2"/>
              <a:buChar char="Ø"/>
              <a:defRPr/>
            </a:pPr>
            <a:r>
              <a:rPr kumimoji="1" lang="zh-CN" altLang="en-US" sz="1800" kern="1200" cap="none" spc="0" normalizeH="0" baseline="0" noProof="0" dirty="0">
                <a:latin typeface="微软雅黑" panose="020B0503020204020204" pitchFamily="82" charset="2"/>
                <a:ea typeface="微软雅黑" panose="020B0503020204020204" pitchFamily="82" charset="2"/>
                <a:cs typeface="+mn-cs"/>
              </a:rPr>
              <a:t>数据开发建模工具：建模、设计、开发、调试业务数据访问代码；</a:t>
            </a:r>
            <a:endParaRPr kumimoji="1" lang="en-US" altLang="zh-CN" sz="1800" kern="1200" cap="none" spc="0" normalizeH="0" baseline="0" noProof="0" dirty="0">
              <a:latin typeface="微软雅黑" panose="020B0503020204020204" pitchFamily="82" charset="2"/>
              <a:ea typeface="微软雅黑" panose="020B0503020204020204" pitchFamily="82" charset="2"/>
              <a:cs typeface="+mn-cs"/>
            </a:endParaRPr>
          </a:p>
        </p:txBody>
      </p:sp>
      <p:sp>
        <p:nvSpPr>
          <p:cNvPr id="10" name="文本框 9"/>
          <p:cNvSpPr txBox="1"/>
          <p:nvPr/>
        </p:nvSpPr>
        <p:spPr>
          <a:xfrm>
            <a:off x="7234238" y="2427288"/>
            <a:ext cx="1909763" cy="2586038"/>
          </a:xfrm>
          <a:prstGeom prst="rect">
            <a:avLst/>
          </a:prstGeom>
          <a:noFill/>
        </p:spPr>
        <p:txBody>
          <a:bodyPr>
            <a:spAutoFit/>
          </a:bodyPr>
          <a:lstStyle/>
          <a:p>
            <a:pPr marR="0" defTabSz="914400">
              <a:buClrTx/>
              <a:buSzTx/>
              <a:buFontTx/>
              <a:buNone/>
              <a:defRPr/>
            </a:pPr>
            <a:r>
              <a:rPr kumimoji="1" lang="zh-CN" altLang="en-US" sz="1800" kern="1200" cap="none" spc="0" normalizeH="0" baseline="0" noProof="0" dirty="0">
                <a:solidFill>
                  <a:srgbClr val="6F1787"/>
                </a:solidFill>
                <a:latin typeface="微软雅黑" panose="020B0503020204020204" pitchFamily="82" charset="2"/>
                <a:ea typeface="微软雅黑" panose="020B0503020204020204" pitchFamily="82" charset="2"/>
                <a:cs typeface="+mn-cs"/>
              </a:rPr>
              <a:t>东向（数据库运行得好）：</a:t>
            </a:r>
            <a:endParaRPr kumimoji="1" lang="en-US" altLang="zh-CN" sz="1800" kern="1200" cap="none" spc="0" normalizeH="0" baseline="0" noProof="0" dirty="0">
              <a:solidFill>
                <a:srgbClr val="6F1787"/>
              </a:solidFill>
              <a:latin typeface="微软雅黑" panose="020B0503020204020204" pitchFamily="82" charset="2"/>
              <a:ea typeface="微软雅黑" panose="020B0503020204020204" pitchFamily="82" charset="2"/>
              <a:cs typeface="+mn-cs"/>
            </a:endParaRPr>
          </a:p>
          <a:p>
            <a:pPr marL="213995" marR="0" indent="-213995" defTabSz="914400">
              <a:buClr>
                <a:srgbClr val="6F1787"/>
              </a:buClr>
              <a:buSzTx/>
              <a:buFont typeface="Wingdings" panose="05000000000000000000" pitchFamily="2" charset="2"/>
              <a:buChar char="Ø"/>
              <a:defRPr/>
            </a:pPr>
            <a:r>
              <a:rPr kumimoji="1" lang="zh-CN" altLang="en-US" sz="1800" kern="1200" cap="none" spc="0" normalizeH="0" baseline="0" noProof="0" dirty="0">
                <a:latin typeface="微软雅黑" panose="020B0503020204020204" pitchFamily="82" charset="2"/>
                <a:ea typeface="微软雅黑" panose="020B0503020204020204" pitchFamily="82" charset="2"/>
                <a:cs typeface="+mn-cs"/>
              </a:rPr>
              <a:t>监控运维系统：配置、告警、统计、巡检等；</a:t>
            </a:r>
            <a:endParaRPr kumimoji="1" lang="en-US" altLang="zh-CN" sz="1800" kern="1200" cap="none" spc="0" normalizeH="0" baseline="0" noProof="0" dirty="0">
              <a:latin typeface="微软雅黑" panose="020B0503020204020204" pitchFamily="82" charset="2"/>
              <a:ea typeface="微软雅黑" panose="020B0503020204020204" pitchFamily="82" charset="2"/>
              <a:cs typeface="+mn-cs"/>
            </a:endParaRPr>
          </a:p>
          <a:p>
            <a:pPr marL="213995" marR="0" indent="-213995" defTabSz="914400">
              <a:buClr>
                <a:srgbClr val="6F1787"/>
              </a:buClr>
              <a:buSzTx/>
              <a:buFont typeface="Wingdings" panose="05000000000000000000" pitchFamily="2" charset="2"/>
              <a:buChar char="Ø"/>
              <a:defRPr/>
            </a:pPr>
            <a:r>
              <a:rPr kumimoji="1" lang="zh-CN" altLang="en-US" sz="1800" kern="1200" cap="none" spc="0" normalizeH="0" baseline="0" noProof="0" dirty="0">
                <a:latin typeface="微软雅黑" panose="020B0503020204020204" pitchFamily="82" charset="2"/>
                <a:ea typeface="微软雅黑" panose="020B0503020204020204" pitchFamily="82" charset="2"/>
                <a:cs typeface="+mn-cs"/>
              </a:rPr>
              <a:t>备份恢复系统：数据的备份与恢复；</a:t>
            </a:r>
            <a:endParaRPr kumimoji="1" lang="en-US" altLang="zh-CN" sz="1800" kern="1200" cap="none" spc="0" normalizeH="0" baseline="0" noProof="0" dirty="0">
              <a:latin typeface="微软雅黑" panose="020B0503020204020204" pitchFamily="82" charset="2"/>
              <a:ea typeface="微软雅黑" panose="020B0503020204020204" pitchFamily="82" charset="2"/>
              <a:cs typeface="+mn-cs"/>
            </a:endParaRPr>
          </a:p>
        </p:txBody>
      </p:sp>
      <p:sp>
        <p:nvSpPr>
          <p:cNvPr id="11" name="文本框 10"/>
          <p:cNvSpPr txBox="1"/>
          <p:nvPr/>
        </p:nvSpPr>
        <p:spPr>
          <a:xfrm>
            <a:off x="2700338" y="5013325"/>
            <a:ext cx="4722813" cy="1016000"/>
          </a:xfrm>
          <a:prstGeom prst="rect">
            <a:avLst/>
          </a:prstGeom>
          <a:noFill/>
        </p:spPr>
        <p:txBody>
          <a:bodyPr>
            <a:spAutoFit/>
          </a:bodyPr>
          <a:lstStyle/>
          <a:p>
            <a:pPr marR="0" defTabSz="914400">
              <a:buClrTx/>
              <a:buSzTx/>
              <a:buFontTx/>
              <a:buNone/>
              <a:defRPr/>
            </a:pPr>
            <a:r>
              <a:rPr kumimoji="1" lang="zh-CN" altLang="en-US" sz="2000" kern="1200" cap="none" spc="0" normalizeH="0" baseline="0" noProof="0" dirty="0">
                <a:solidFill>
                  <a:srgbClr val="6F1787"/>
                </a:solidFill>
                <a:latin typeface="微软雅黑" panose="020B0503020204020204" pitchFamily="82" charset="2"/>
                <a:ea typeface="微软雅黑" panose="020B0503020204020204" pitchFamily="82" charset="2"/>
                <a:cs typeface="+mn-cs"/>
              </a:rPr>
              <a:t>南向（数据库运行的基础平台）：</a:t>
            </a:r>
            <a:endParaRPr kumimoji="1" lang="en-US" altLang="zh-CN" sz="2000" kern="1200" cap="none" spc="0" normalizeH="0" baseline="0" noProof="0" dirty="0">
              <a:solidFill>
                <a:srgbClr val="6F1787"/>
              </a:solidFill>
              <a:latin typeface="微软雅黑" panose="020B0503020204020204" pitchFamily="82" charset="2"/>
              <a:ea typeface="微软雅黑" panose="020B0503020204020204" pitchFamily="82" charset="2"/>
              <a:cs typeface="+mn-cs"/>
            </a:endParaRPr>
          </a:p>
          <a:p>
            <a:pPr marL="214630" marR="0" indent="-214630" defTabSz="914400">
              <a:buClr>
                <a:srgbClr val="6F1787"/>
              </a:buClr>
              <a:buSzTx/>
              <a:buFont typeface="Wingdings" panose="05000000000000000000" pitchFamily="2" charset="2"/>
              <a:buChar char="Ø"/>
              <a:defRPr/>
            </a:pPr>
            <a:r>
              <a:rPr kumimoji="1" lang="zh-CN" altLang="en-US" sz="2000" kern="1200" cap="none" spc="0" normalizeH="0" baseline="0" noProof="0" dirty="0">
                <a:latin typeface="微软雅黑" panose="020B0503020204020204" pitchFamily="82" charset="2"/>
                <a:ea typeface="微软雅黑" panose="020B0503020204020204" pitchFamily="82" charset="2"/>
                <a:cs typeface="+mn-cs"/>
              </a:rPr>
              <a:t>操作系统：运行的软件平台；</a:t>
            </a:r>
            <a:endParaRPr kumimoji="1" lang="en-US" altLang="zh-CN" sz="2000" kern="1200" cap="none" spc="0" normalizeH="0" baseline="0" noProof="0" dirty="0">
              <a:latin typeface="微软雅黑" panose="020B0503020204020204" pitchFamily="82" charset="2"/>
              <a:ea typeface="微软雅黑" panose="020B0503020204020204" pitchFamily="82" charset="2"/>
              <a:cs typeface="+mn-cs"/>
            </a:endParaRPr>
          </a:p>
          <a:p>
            <a:pPr marL="214630" marR="0" indent="-214630" defTabSz="914400">
              <a:buClr>
                <a:srgbClr val="6F1787"/>
              </a:buClr>
              <a:buSzTx/>
              <a:buFont typeface="Wingdings" panose="05000000000000000000" pitchFamily="2" charset="2"/>
              <a:buChar char="Ø"/>
              <a:defRPr/>
            </a:pPr>
            <a:r>
              <a:rPr kumimoji="1" lang="zh-CN" altLang="en-US" sz="2000" kern="1200" cap="none" spc="0" normalizeH="0" baseline="0" noProof="0" dirty="0">
                <a:latin typeface="微软雅黑" panose="020B0503020204020204" pitchFamily="82" charset="2"/>
                <a:ea typeface="微软雅黑" panose="020B0503020204020204" pitchFamily="82" charset="2"/>
                <a:cs typeface="+mn-cs"/>
              </a:rPr>
              <a:t>硬件平台：运行的硬件平台；</a:t>
            </a:r>
            <a:endParaRPr kumimoji="1" lang="en-US" altLang="zh-CN" sz="2000" kern="1200" cap="none" spc="0" normalizeH="0" baseline="0" noProof="0" dirty="0">
              <a:latin typeface="微软雅黑" panose="020B0503020204020204" pitchFamily="82" charset="2"/>
              <a:ea typeface="微软雅黑" panose="020B0503020204020204" pitchFamily="82" charset="2"/>
              <a:cs typeface="+mn-cs"/>
            </a:endParaRPr>
          </a:p>
        </p:txBody>
      </p:sp>
      <p:sp>
        <p:nvSpPr>
          <p:cNvPr id="47" name="标题 2"/>
          <p:cNvSpPr txBox="1"/>
          <p:nvPr/>
        </p:nvSpPr>
        <p:spPr bwMode="auto">
          <a:xfrm>
            <a:off x="-663575" y="149225"/>
            <a:ext cx="1009173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kumimoji="1" sz="4400" b="1">
                <a:solidFill>
                  <a:schemeClr val="accent2"/>
                </a:solidFill>
                <a:latin typeface="+mj-lt"/>
                <a:ea typeface="+mj-ea"/>
                <a:cs typeface="经典细隶书简"/>
              </a:defRPr>
            </a:lvl1pPr>
            <a:lvl2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2pPr>
            <a:lvl3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3pPr>
            <a:lvl4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4pPr>
            <a:lvl5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cs typeface="经典细隶书简"/>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0" cap="none" spc="0" normalizeH="0" baseline="0" noProof="0" smtClean="0">
                <a:ln>
                  <a:noFill/>
                </a:ln>
                <a:solidFill>
                  <a:schemeClr val="accent2"/>
                </a:solidFill>
                <a:effectLst/>
                <a:uLnTx/>
                <a:uFillTx/>
                <a:latin typeface="微软雅黑" panose="020B0503020204020204" pitchFamily="82" charset="2"/>
                <a:ea typeface="微软雅黑" panose="020B0503020204020204" pitchFamily="82" charset="2"/>
                <a:cs typeface="经典细隶书简"/>
              </a:rPr>
              <a:t>数据库周围工具</a:t>
            </a:r>
            <a:endParaRPr kumimoji="1" lang="zh-CN" altLang="en-US" sz="3600" b="1" i="0" u="none" strike="noStrike" kern="0" cap="none" spc="0" normalizeH="0" baseline="0" noProof="0" dirty="0">
              <a:ln>
                <a:noFill/>
              </a:ln>
              <a:solidFill>
                <a:schemeClr val="accent2"/>
              </a:solidFill>
              <a:effectLst/>
              <a:uLnTx/>
              <a:uFillTx/>
              <a:latin typeface="微软雅黑" panose="020B0503020204020204" pitchFamily="82" charset="2"/>
              <a:ea typeface="微软雅黑" panose="020B0503020204020204" pitchFamily="82" charset="2"/>
              <a:cs typeface="经典细隶书简"/>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9939" name="Rectangle 2"/>
          <p:cNvSpPr/>
          <p:nvPr/>
        </p:nvSpPr>
        <p:spPr>
          <a:xfrm>
            <a:off x="457200" y="2413000"/>
            <a:ext cx="8001000" cy="7620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39940" name="Rectangle 3"/>
          <p:cNvSpPr>
            <a:spLocks noGrp="1"/>
          </p:cNvSpPr>
          <p:nvPr>
            <p:ph type="title"/>
          </p:nvPr>
        </p:nvSpPr>
        <p:spPr>
          <a:ln/>
        </p:spPr>
        <p:txBody>
          <a:bodyPr vert="horz" wrap="square" lIns="91440" tIns="45720" rIns="91440" bIns="45720" anchor="ctr" anchorCtr="0"/>
          <a:p>
            <a:pPr eaLnBrk="1" hangingPunct="1"/>
            <a:r>
              <a:rPr lang="en-US" altLang="zh-CN" dirty="0"/>
              <a:t>1.1 </a:t>
            </a:r>
            <a:r>
              <a:rPr lang="zh-CN" altLang="en-US" dirty="0"/>
              <a:t>数据库系统概述</a:t>
            </a:r>
            <a:endParaRPr lang="zh-CN" altLang="en-US" dirty="0"/>
          </a:p>
        </p:txBody>
      </p:sp>
      <p:sp>
        <p:nvSpPr>
          <p:cNvPr id="39941" name="Rectangle 4"/>
          <p:cNvSpPr>
            <a:spLocks noGrp="1"/>
          </p:cNvSpPr>
          <p:nvPr>
            <p:ph idx="1"/>
          </p:nvPr>
        </p:nvSpPr>
        <p:spPr>
          <a:xfrm>
            <a:off x="685800" y="1447800"/>
            <a:ext cx="7848600" cy="3925888"/>
          </a:xfrm>
          <a:ln/>
        </p:spPr>
        <p:txBody>
          <a:bodyPr vert="horz" wrap="square" lIns="91440" tIns="45720" rIns="91440" bIns="45720" anchor="t" anchorCtr="0"/>
          <a:p>
            <a:pPr eaLnBrk="1" hangingPunct="1">
              <a:lnSpc>
                <a:spcPct val="150000"/>
              </a:lnSpc>
              <a:spcBef>
                <a:spcPct val="0"/>
              </a:spcBef>
              <a:buClrTx/>
              <a:buNone/>
            </a:pPr>
            <a:r>
              <a:rPr lang="en-US" altLang="zh-CN" sz="3600" dirty="0">
                <a:solidFill>
                  <a:schemeClr val="tx1"/>
                </a:solidFill>
                <a:latin typeface="Arial Narrow" panose="020B0606020202030204" pitchFamily="34" charset="0"/>
                <a:ea typeface="仿宋_GB2312" pitchFamily="49" charset="-122"/>
              </a:rPr>
              <a:t>1.1.1  </a:t>
            </a:r>
            <a:r>
              <a:rPr lang="zh-CN" altLang="en-US" sz="3600" dirty="0">
                <a:solidFill>
                  <a:schemeClr val="tx1"/>
                </a:solidFill>
                <a:latin typeface="Arial Narrow" panose="020B0606020202030204" pitchFamily="34" charset="0"/>
                <a:ea typeface="仿宋_GB2312" pitchFamily="49" charset="-122"/>
              </a:rPr>
              <a:t>四个基本概念</a:t>
            </a:r>
            <a:endParaRPr lang="zh-CN" altLang="en-US" sz="3600"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sz="3600" dirty="0">
                <a:solidFill>
                  <a:schemeClr val="bg1"/>
                </a:solidFill>
                <a:latin typeface="Arial Narrow" panose="020B0606020202030204" pitchFamily="34" charset="0"/>
                <a:ea typeface="仿宋_GB2312" pitchFamily="49" charset="-122"/>
              </a:rPr>
              <a:t>1.1.2  </a:t>
            </a:r>
            <a:r>
              <a:rPr lang="zh-CN" altLang="en-US" sz="3600" dirty="0">
                <a:solidFill>
                  <a:schemeClr val="bg1"/>
                </a:solidFill>
                <a:latin typeface="Arial Narrow" panose="020B0606020202030204" pitchFamily="34" charset="0"/>
                <a:ea typeface="仿宋_GB2312" pitchFamily="49" charset="-122"/>
              </a:rPr>
              <a:t>数据管理技术的产生与发展</a:t>
            </a:r>
            <a:endParaRPr lang="zh-CN" altLang="en-US" sz="3600" dirty="0">
              <a:solidFill>
                <a:schemeClr val="bg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sz="3600" dirty="0">
                <a:solidFill>
                  <a:schemeClr val="tx1"/>
                </a:solidFill>
                <a:latin typeface="Arial Narrow" panose="020B0606020202030204" pitchFamily="34" charset="0"/>
                <a:ea typeface="仿宋_GB2312" pitchFamily="49" charset="-122"/>
              </a:rPr>
              <a:t>1.1.3  </a:t>
            </a:r>
            <a:r>
              <a:rPr lang="zh-CN" altLang="en-US" sz="3600" dirty="0">
                <a:solidFill>
                  <a:schemeClr val="tx1"/>
                </a:solidFill>
                <a:latin typeface="Arial Narrow" panose="020B0606020202030204" pitchFamily="34" charset="0"/>
                <a:ea typeface="仿宋_GB2312" pitchFamily="49" charset="-122"/>
              </a:rPr>
              <a:t>数据库系统的特点</a:t>
            </a:r>
            <a:endParaRPr lang="zh-CN" altLang="en-US" sz="3600"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endParaRPr lang="zh-CN" altLang="en-US" sz="3600" dirty="0">
              <a:solidFill>
                <a:schemeClr val="bg1"/>
              </a:solidFill>
              <a:latin typeface="Arial Narrow" panose="020B0606020202030204" pitchFamily="34" charset="0"/>
              <a:ea typeface="仿宋_GB2312"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63" name="Rectangle 2"/>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
        <p:nvSpPr>
          <p:cNvPr id="40964" name="Rectangle 3"/>
          <p:cNvSpPr>
            <a:spLocks noGrp="1"/>
          </p:cNvSpPr>
          <p:nvPr>
            <p:ph idx="1"/>
          </p:nvPr>
        </p:nvSpPr>
        <p:spPr>
          <a:xfrm>
            <a:off x="685800" y="914400"/>
            <a:ext cx="8458200" cy="5143500"/>
          </a:xfrm>
          <a:ln/>
        </p:spPr>
        <p:txBody>
          <a:bodyPr vert="horz" wrap="square" lIns="91440" tIns="45720" rIns="91440" bIns="45720" anchor="t" anchorCtr="0"/>
          <a:p>
            <a:pPr eaLnBrk="1" hangingPunct="1">
              <a:buClr>
                <a:srgbClr val="FF0000"/>
              </a:buClr>
            </a:pPr>
            <a:r>
              <a:rPr lang="zh-CN" altLang="en-US" dirty="0">
                <a:solidFill>
                  <a:schemeClr val="tx1"/>
                </a:solidFill>
              </a:rPr>
              <a:t>数据库技术是应数据处理和数据管理任务的需要而产生的</a:t>
            </a:r>
            <a:endParaRPr lang="zh-CN" altLang="en-US" dirty="0">
              <a:solidFill>
                <a:schemeClr val="tx1"/>
              </a:solidFill>
            </a:endParaRPr>
          </a:p>
          <a:p>
            <a:pPr lvl="1" eaLnBrk="1" hangingPunct="1"/>
            <a:r>
              <a:rPr lang="zh-CN" altLang="en-US" dirty="0"/>
              <a:t>数据处理：数据收集、存储、加工和传播等总和</a:t>
            </a:r>
            <a:endParaRPr lang="zh-CN" altLang="en-US" dirty="0"/>
          </a:p>
          <a:p>
            <a:pPr lvl="1" eaLnBrk="1" hangingPunct="1"/>
            <a:r>
              <a:rPr lang="zh-CN" altLang="en-US" dirty="0"/>
              <a:t>数据管理：数据分类、组织、编码、存储、检索和维护，</a:t>
            </a:r>
            <a:r>
              <a:rPr lang="zh-CN" altLang="en-US" dirty="0">
                <a:solidFill>
                  <a:srgbClr val="FF0000"/>
                </a:solidFill>
              </a:rPr>
              <a:t>它是数据处理的中心问题</a:t>
            </a:r>
            <a:endParaRPr lang="zh-CN" altLang="en-US" dirty="0">
              <a:solidFill>
                <a:srgbClr val="FF0000"/>
              </a:solidFill>
            </a:endParaRPr>
          </a:p>
          <a:p>
            <a:pPr eaLnBrk="1" hangingPunct="1">
              <a:buClr>
                <a:srgbClr val="FF0000"/>
              </a:buClr>
            </a:pPr>
            <a:r>
              <a:rPr lang="zh-CN" altLang="en-US" dirty="0">
                <a:solidFill>
                  <a:schemeClr val="tx1"/>
                </a:solidFill>
              </a:rPr>
              <a:t>数据管理技术经历了三个阶段</a:t>
            </a:r>
            <a:endParaRPr lang="zh-CN" altLang="en-US" dirty="0">
              <a:solidFill>
                <a:schemeClr val="tx1"/>
              </a:solidFill>
            </a:endParaRPr>
          </a:p>
          <a:p>
            <a:pPr lvl="1" eaLnBrk="1" hangingPunct="1"/>
            <a:r>
              <a:rPr lang="zh-CN" altLang="en-US" dirty="0"/>
              <a:t>人工管理阶段</a:t>
            </a:r>
            <a:r>
              <a:rPr lang="en-US" altLang="zh-CN" dirty="0"/>
              <a:t>(50</a:t>
            </a:r>
            <a:r>
              <a:rPr lang="zh-CN" altLang="en-US" dirty="0"/>
              <a:t>年代中期以前</a:t>
            </a:r>
            <a:r>
              <a:rPr lang="en-US" altLang="zh-CN" dirty="0"/>
              <a:t>)</a:t>
            </a:r>
            <a:endParaRPr lang="en-US" altLang="zh-CN" dirty="0"/>
          </a:p>
          <a:p>
            <a:pPr lvl="1" eaLnBrk="1" hangingPunct="1"/>
            <a:r>
              <a:rPr lang="zh-CN" altLang="en-US" dirty="0"/>
              <a:t>文件系统阶段</a:t>
            </a:r>
            <a:r>
              <a:rPr lang="en-US" altLang="zh-CN" dirty="0"/>
              <a:t>(50</a:t>
            </a:r>
            <a:r>
              <a:rPr lang="zh-CN" altLang="en-US" dirty="0"/>
              <a:t>年代后期</a:t>
            </a:r>
            <a:r>
              <a:rPr lang="en-US" altLang="zh-CN" dirty="0"/>
              <a:t>-60</a:t>
            </a:r>
            <a:r>
              <a:rPr lang="zh-CN" altLang="en-US" dirty="0"/>
              <a:t>年代中期</a:t>
            </a:r>
            <a:r>
              <a:rPr lang="en-US" altLang="zh-CN" dirty="0"/>
              <a:t>)</a:t>
            </a:r>
            <a:endParaRPr lang="en-US" altLang="zh-CN" dirty="0"/>
          </a:p>
          <a:p>
            <a:pPr lvl="1" eaLnBrk="1" hangingPunct="1"/>
            <a:r>
              <a:rPr lang="zh-CN" altLang="en-US" dirty="0"/>
              <a:t>数据库系统阶段</a:t>
            </a:r>
            <a:r>
              <a:rPr lang="en-US" altLang="zh-CN" dirty="0"/>
              <a:t>(60</a:t>
            </a:r>
            <a:r>
              <a:rPr lang="zh-CN" altLang="en-US" dirty="0"/>
              <a:t>年代后期开始</a:t>
            </a:r>
            <a:r>
              <a:rPr lang="en-US" altLang="zh-CN" dirty="0"/>
              <a:t>)</a:t>
            </a:r>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1987" name="Rectangle 2"/>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
        <p:nvSpPr>
          <p:cNvPr id="41988" name="Rectangle 5"/>
          <p:cNvSpPr>
            <a:spLocks noGrp="1"/>
          </p:cNvSpPr>
          <p:nvPr>
            <p:ph idx="1"/>
          </p:nvPr>
        </p:nvSpPr>
        <p:spPr>
          <a:ln/>
        </p:spPr>
        <p:txBody>
          <a:bodyPr vert="horz" wrap="square" lIns="91440" tIns="45720" rIns="91440" bIns="45720" anchor="t" anchorCtr="0"/>
          <a:p>
            <a:pPr eaLnBrk="1" hangingPunct="1"/>
            <a:r>
              <a:rPr lang="zh-CN" altLang="en-US" dirty="0">
                <a:solidFill>
                  <a:schemeClr val="tx1"/>
                </a:solidFill>
              </a:rPr>
              <a:t>数据管理技术的发展动力</a:t>
            </a:r>
            <a:endParaRPr lang="zh-CN" altLang="en-US" dirty="0">
              <a:solidFill>
                <a:schemeClr val="tx1"/>
              </a:solidFill>
            </a:endParaRPr>
          </a:p>
          <a:p>
            <a:pPr lvl="1" eaLnBrk="1" hangingPunct="1"/>
            <a:r>
              <a:rPr lang="zh-CN" altLang="en-US" b="0" dirty="0"/>
              <a:t>应用需求的推动</a:t>
            </a:r>
            <a:endParaRPr lang="zh-CN" altLang="en-US" b="0" dirty="0"/>
          </a:p>
          <a:p>
            <a:pPr lvl="1" eaLnBrk="1" hangingPunct="1"/>
            <a:r>
              <a:rPr lang="zh-CN" altLang="en-US" b="0" dirty="0"/>
              <a:t>计算机硬件的发展</a:t>
            </a:r>
            <a:endParaRPr lang="zh-CN" altLang="en-US" b="0" dirty="0"/>
          </a:p>
          <a:p>
            <a:pPr lvl="1" eaLnBrk="1" hangingPunct="1"/>
            <a:r>
              <a:rPr lang="zh-CN" altLang="en-US" b="0" dirty="0"/>
              <a:t>计算机软件的发展</a:t>
            </a:r>
            <a:endParaRPr lang="zh-CN" altLang="en-US" b="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graphicFrame>
        <p:nvGraphicFramePr>
          <p:cNvPr id="43011" name="Object 2"/>
          <p:cNvGraphicFramePr>
            <a:graphicFrameLocks noChangeAspect="1"/>
          </p:cNvGraphicFramePr>
          <p:nvPr/>
        </p:nvGraphicFramePr>
        <p:xfrm>
          <a:off x="2514600" y="4711700"/>
          <a:ext cx="914400" cy="363538"/>
        </p:xfrm>
        <a:graphic>
          <a:graphicData uri="http://schemas.openxmlformats.org/presentationml/2006/ole">
            <mc:AlternateContent xmlns:mc="http://schemas.openxmlformats.org/markup-compatibility/2006">
              <mc:Choice xmlns:v="urn:schemas-microsoft-com:vml" Requires="v">
                <p:oleObj spid="_x0000_s3080" name="" r:id="rId1" imgW="1479550" imgH="423545" progId="Flash.Movie">
                  <p:embed/>
                </p:oleObj>
              </mc:Choice>
              <mc:Fallback>
                <p:oleObj name="" r:id="rId1" imgW="1479550" imgH="423545" progId="Flash.Movie">
                  <p:embed/>
                  <p:pic>
                    <p:nvPicPr>
                      <p:cNvPr id="0" name="Picture 3079"/>
                      <p:cNvPicPr/>
                      <p:nvPr/>
                    </p:nvPicPr>
                    <p:blipFill>
                      <a:blip r:embed="rId2"/>
                      <a:stretch>
                        <a:fillRect/>
                      </a:stretch>
                    </p:blipFill>
                    <p:spPr>
                      <a:xfrm>
                        <a:off x="2514600" y="4711700"/>
                        <a:ext cx="914400" cy="363538"/>
                      </a:xfrm>
                      <a:prstGeom prst="rect">
                        <a:avLst/>
                      </a:prstGeom>
                      <a:noFill/>
                      <a:ln w="38100">
                        <a:noFill/>
                        <a:miter/>
                      </a:ln>
                    </p:spPr>
                  </p:pic>
                </p:oleObj>
              </mc:Fallback>
            </mc:AlternateContent>
          </a:graphicData>
        </a:graphic>
      </p:graphicFrame>
      <p:graphicFrame>
        <p:nvGraphicFramePr>
          <p:cNvPr id="43012" name="Object 3"/>
          <p:cNvGraphicFramePr>
            <a:graphicFrameLocks noChangeAspect="1"/>
          </p:cNvGraphicFramePr>
          <p:nvPr/>
        </p:nvGraphicFramePr>
        <p:xfrm>
          <a:off x="914400" y="2349500"/>
          <a:ext cx="2492375" cy="1187450"/>
        </p:xfrm>
        <a:graphic>
          <a:graphicData uri="http://schemas.openxmlformats.org/presentationml/2006/ole">
            <mc:AlternateContent xmlns:mc="http://schemas.openxmlformats.org/markup-compatibility/2006">
              <mc:Choice xmlns:v="urn:schemas-microsoft-com:vml" Requires="v">
                <p:oleObj spid="_x0000_s3077" name="" r:id="rId3" imgW="2492375" imgH="1186815" progId="Flash.Movie">
                  <p:embed/>
                </p:oleObj>
              </mc:Choice>
              <mc:Fallback>
                <p:oleObj name="" r:id="rId3" imgW="2492375" imgH="1186815" progId="Flash.Movie">
                  <p:embed/>
                  <p:pic>
                    <p:nvPicPr>
                      <p:cNvPr id="0" name="Picture 3076"/>
                      <p:cNvPicPr/>
                      <p:nvPr/>
                    </p:nvPicPr>
                    <p:blipFill>
                      <a:blip r:embed="rId4"/>
                      <a:stretch>
                        <a:fillRect/>
                      </a:stretch>
                    </p:blipFill>
                    <p:spPr>
                      <a:xfrm>
                        <a:off x="914400" y="2349500"/>
                        <a:ext cx="2492375" cy="1187450"/>
                      </a:xfrm>
                      <a:prstGeom prst="rect">
                        <a:avLst/>
                      </a:prstGeom>
                      <a:noFill/>
                      <a:ln w="38100">
                        <a:noFill/>
                        <a:miter/>
                      </a:ln>
                    </p:spPr>
                  </p:pic>
                </p:oleObj>
              </mc:Fallback>
            </mc:AlternateContent>
          </a:graphicData>
        </a:graphic>
      </p:graphicFrame>
      <p:graphicFrame>
        <p:nvGraphicFramePr>
          <p:cNvPr id="43013" name="Object 4"/>
          <p:cNvGraphicFramePr>
            <a:graphicFrameLocks noChangeAspect="1"/>
          </p:cNvGraphicFramePr>
          <p:nvPr/>
        </p:nvGraphicFramePr>
        <p:xfrm>
          <a:off x="3581400" y="2349500"/>
          <a:ext cx="2195513" cy="1217613"/>
        </p:xfrm>
        <a:graphic>
          <a:graphicData uri="http://schemas.openxmlformats.org/presentationml/2006/ole">
            <mc:AlternateContent xmlns:mc="http://schemas.openxmlformats.org/markup-compatibility/2006">
              <mc:Choice xmlns:v="urn:schemas-microsoft-com:vml" Requires="v">
                <p:oleObj spid="_x0000_s3081" name="" r:id="rId5" imgW="2195830" imgH="1217930" progId="Flash.Movie">
                  <p:embed/>
                </p:oleObj>
              </mc:Choice>
              <mc:Fallback>
                <p:oleObj name="" r:id="rId5" imgW="2195830" imgH="1217930" progId="Flash.Movie">
                  <p:embed/>
                  <p:pic>
                    <p:nvPicPr>
                      <p:cNvPr id="0" name="Picture 3080"/>
                      <p:cNvPicPr/>
                      <p:nvPr/>
                    </p:nvPicPr>
                    <p:blipFill>
                      <a:blip r:embed="rId6"/>
                      <a:stretch>
                        <a:fillRect/>
                      </a:stretch>
                    </p:blipFill>
                    <p:spPr>
                      <a:xfrm>
                        <a:off x="3581400" y="2349500"/>
                        <a:ext cx="2195513" cy="1217613"/>
                      </a:xfrm>
                      <a:prstGeom prst="rect">
                        <a:avLst/>
                      </a:prstGeom>
                      <a:noFill/>
                      <a:ln w="38100">
                        <a:noFill/>
                        <a:miter/>
                      </a:ln>
                    </p:spPr>
                  </p:pic>
                </p:oleObj>
              </mc:Fallback>
            </mc:AlternateContent>
          </a:graphicData>
        </a:graphic>
      </p:graphicFrame>
      <p:graphicFrame>
        <p:nvGraphicFramePr>
          <p:cNvPr id="43014" name="Object 5"/>
          <p:cNvGraphicFramePr>
            <a:graphicFrameLocks noChangeAspect="1"/>
          </p:cNvGraphicFramePr>
          <p:nvPr/>
        </p:nvGraphicFramePr>
        <p:xfrm>
          <a:off x="6019800" y="2349500"/>
          <a:ext cx="2273300" cy="1217613"/>
        </p:xfrm>
        <a:graphic>
          <a:graphicData uri="http://schemas.openxmlformats.org/presentationml/2006/ole">
            <mc:AlternateContent xmlns:mc="http://schemas.openxmlformats.org/markup-compatibility/2006">
              <mc:Choice xmlns:v="urn:schemas-microsoft-com:vml" Requires="v">
                <p:oleObj spid="_x0000_s3078" name="" r:id="rId7" imgW="2273300" imgH="1217930" progId="Flash.Movie">
                  <p:embed/>
                </p:oleObj>
              </mc:Choice>
              <mc:Fallback>
                <p:oleObj name="" r:id="rId7" imgW="2273300" imgH="1217930" progId="Flash.Movie">
                  <p:embed/>
                  <p:pic>
                    <p:nvPicPr>
                      <p:cNvPr id="0" name="Picture 3077"/>
                      <p:cNvPicPr/>
                      <p:nvPr/>
                    </p:nvPicPr>
                    <p:blipFill>
                      <a:blip r:embed="rId8"/>
                      <a:stretch>
                        <a:fillRect/>
                      </a:stretch>
                    </p:blipFill>
                    <p:spPr>
                      <a:xfrm>
                        <a:off x="6019800" y="2349500"/>
                        <a:ext cx="2273300" cy="1217613"/>
                      </a:xfrm>
                      <a:prstGeom prst="rect">
                        <a:avLst/>
                      </a:prstGeom>
                      <a:noFill/>
                      <a:ln w="38100">
                        <a:noFill/>
                        <a:miter/>
                      </a:ln>
                    </p:spPr>
                  </p:pic>
                </p:oleObj>
              </mc:Fallback>
            </mc:AlternateContent>
          </a:graphicData>
        </a:graphic>
      </p:graphicFrame>
      <p:graphicFrame>
        <p:nvGraphicFramePr>
          <p:cNvPr id="43015" name="Object 6"/>
          <p:cNvGraphicFramePr>
            <a:graphicFrameLocks noChangeAspect="1"/>
          </p:cNvGraphicFramePr>
          <p:nvPr/>
        </p:nvGraphicFramePr>
        <p:xfrm>
          <a:off x="990600" y="4127500"/>
          <a:ext cx="1109663" cy="1270000"/>
        </p:xfrm>
        <a:graphic>
          <a:graphicData uri="http://schemas.openxmlformats.org/presentationml/2006/ole">
            <mc:AlternateContent xmlns:mc="http://schemas.openxmlformats.org/markup-compatibility/2006">
              <mc:Choice xmlns:v="urn:schemas-microsoft-com:vml" Requires="v">
                <p:oleObj spid="_x0000_s3079" name="" r:id="rId9" imgW="1531620" imgH="1753235" progId="Flash.Movie">
                  <p:embed/>
                </p:oleObj>
              </mc:Choice>
              <mc:Fallback>
                <p:oleObj name="" r:id="rId9" imgW="1531620" imgH="1753235" progId="Flash.Movie">
                  <p:embed/>
                  <p:pic>
                    <p:nvPicPr>
                      <p:cNvPr id="0" name="Picture 3078"/>
                      <p:cNvPicPr/>
                      <p:nvPr/>
                    </p:nvPicPr>
                    <p:blipFill>
                      <a:blip r:embed="rId10"/>
                      <a:stretch>
                        <a:fillRect/>
                      </a:stretch>
                    </p:blipFill>
                    <p:spPr>
                      <a:xfrm>
                        <a:off x="990600" y="4127500"/>
                        <a:ext cx="1109663" cy="1270000"/>
                      </a:xfrm>
                      <a:prstGeom prst="rect">
                        <a:avLst/>
                      </a:prstGeom>
                      <a:noFill/>
                      <a:ln w="38100">
                        <a:noFill/>
                        <a:miter/>
                      </a:ln>
                    </p:spPr>
                  </p:pic>
                </p:oleObj>
              </mc:Fallback>
            </mc:AlternateContent>
          </a:graphicData>
        </a:graphic>
      </p:graphicFrame>
      <p:pic>
        <p:nvPicPr>
          <p:cNvPr id="43016" name="Picture 7" descr="BD07153_"/>
          <p:cNvPicPr>
            <a:picLocks noChangeAspect="1"/>
          </p:cNvPicPr>
          <p:nvPr/>
        </p:nvPicPr>
        <p:blipFill>
          <a:blip r:embed="rId11"/>
          <a:stretch>
            <a:fillRect/>
          </a:stretch>
        </p:blipFill>
        <p:spPr>
          <a:xfrm>
            <a:off x="6934200" y="4178300"/>
            <a:ext cx="1252538" cy="1371600"/>
          </a:xfrm>
          <a:prstGeom prst="rect">
            <a:avLst/>
          </a:prstGeom>
          <a:noFill/>
          <a:ln w="9525">
            <a:noFill/>
          </a:ln>
        </p:spPr>
      </p:pic>
      <p:grpSp>
        <p:nvGrpSpPr>
          <p:cNvPr id="43017" name="Group 8"/>
          <p:cNvGrpSpPr/>
          <p:nvPr/>
        </p:nvGrpSpPr>
        <p:grpSpPr>
          <a:xfrm>
            <a:off x="4038600" y="4229100"/>
            <a:ext cx="838200" cy="1168400"/>
            <a:chOff x="4560" y="518"/>
            <a:chExt cx="619" cy="924"/>
          </a:xfrm>
        </p:grpSpPr>
        <p:pic>
          <p:nvPicPr>
            <p:cNvPr id="43025" name="Picture 9"/>
            <p:cNvPicPr/>
            <p:nvPr/>
          </p:nvPicPr>
          <p:blipFill>
            <a:blip r:embed="rId12"/>
            <a:stretch>
              <a:fillRect/>
            </a:stretch>
          </p:blipFill>
          <p:spPr>
            <a:xfrm>
              <a:off x="4815" y="614"/>
              <a:ext cx="364" cy="340"/>
            </a:xfrm>
            <a:prstGeom prst="rect">
              <a:avLst/>
            </a:prstGeom>
            <a:noFill/>
            <a:ln w="9525">
              <a:noFill/>
            </a:ln>
          </p:spPr>
        </p:pic>
        <p:pic>
          <p:nvPicPr>
            <p:cNvPr id="43026" name="Picture 10"/>
            <p:cNvPicPr/>
            <p:nvPr/>
          </p:nvPicPr>
          <p:blipFill>
            <a:blip r:embed="rId13"/>
            <a:stretch>
              <a:fillRect/>
            </a:stretch>
          </p:blipFill>
          <p:spPr>
            <a:xfrm>
              <a:off x="4560" y="518"/>
              <a:ext cx="491" cy="924"/>
            </a:xfrm>
            <a:prstGeom prst="rect">
              <a:avLst/>
            </a:prstGeom>
            <a:noFill/>
            <a:ln w="9525">
              <a:noFill/>
            </a:ln>
          </p:spPr>
        </p:pic>
      </p:grpSp>
      <p:graphicFrame>
        <p:nvGraphicFramePr>
          <p:cNvPr id="43018" name="Object 11"/>
          <p:cNvGraphicFramePr>
            <a:graphicFrameLocks noChangeAspect="1"/>
          </p:cNvGraphicFramePr>
          <p:nvPr/>
        </p:nvGraphicFramePr>
        <p:xfrm>
          <a:off x="5499100" y="4711700"/>
          <a:ext cx="914400" cy="363538"/>
        </p:xfrm>
        <a:graphic>
          <a:graphicData uri="http://schemas.openxmlformats.org/presentationml/2006/ole">
            <mc:AlternateContent xmlns:mc="http://schemas.openxmlformats.org/markup-compatibility/2006">
              <mc:Choice xmlns:v="urn:schemas-microsoft-com:vml" Requires="v">
                <p:oleObj spid="_x0000_s3082" name="" r:id="rId14" imgW="1479550" imgH="423545" progId="Flash.Movie">
                  <p:embed/>
                </p:oleObj>
              </mc:Choice>
              <mc:Fallback>
                <p:oleObj name="" r:id="rId14" imgW="1479550" imgH="423545" progId="Flash.Movie">
                  <p:embed/>
                  <p:pic>
                    <p:nvPicPr>
                      <p:cNvPr id="0" name="Picture 3081"/>
                      <p:cNvPicPr/>
                      <p:nvPr/>
                    </p:nvPicPr>
                    <p:blipFill>
                      <a:blip r:embed="rId2"/>
                      <a:stretch>
                        <a:fillRect/>
                      </a:stretch>
                    </p:blipFill>
                    <p:spPr>
                      <a:xfrm>
                        <a:off x="5499100" y="4711700"/>
                        <a:ext cx="914400" cy="363538"/>
                      </a:xfrm>
                      <a:prstGeom prst="rect">
                        <a:avLst/>
                      </a:prstGeom>
                      <a:noFill/>
                      <a:ln w="38100">
                        <a:noFill/>
                        <a:miter/>
                      </a:ln>
                    </p:spPr>
                  </p:pic>
                </p:oleObj>
              </mc:Fallback>
            </mc:AlternateContent>
          </a:graphicData>
        </a:graphic>
      </p:graphicFrame>
      <p:sp>
        <p:nvSpPr>
          <p:cNvPr id="43019" name="Text Box 12"/>
          <p:cNvSpPr txBox="1"/>
          <p:nvPr/>
        </p:nvSpPr>
        <p:spPr>
          <a:xfrm>
            <a:off x="2667000" y="4178300"/>
            <a:ext cx="5746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OS</a:t>
            </a:r>
            <a:endParaRPr lang="en-US" altLang="zh-CN" sz="2400" b="0" dirty="0">
              <a:solidFill>
                <a:schemeClr val="tx1"/>
              </a:solidFill>
              <a:ea typeface="Arial" panose="020B0604020202020204" pitchFamily="34" charset="0"/>
            </a:endParaRPr>
          </a:p>
        </p:txBody>
      </p:sp>
      <p:sp>
        <p:nvSpPr>
          <p:cNvPr id="43020" name="Text Box 13"/>
          <p:cNvSpPr txBox="1"/>
          <p:nvPr/>
        </p:nvSpPr>
        <p:spPr>
          <a:xfrm>
            <a:off x="5461000" y="4178300"/>
            <a:ext cx="10493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DBMS</a:t>
            </a:r>
            <a:endParaRPr lang="en-US" altLang="zh-CN" sz="2400" b="0" dirty="0">
              <a:solidFill>
                <a:schemeClr val="tx1"/>
              </a:solidFill>
              <a:ea typeface="Arial" panose="020B0604020202020204" pitchFamily="34" charset="0"/>
            </a:endParaRPr>
          </a:p>
        </p:txBody>
      </p:sp>
      <p:sp>
        <p:nvSpPr>
          <p:cNvPr id="43021" name="Text Box 14"/>
          <p:cNvSpPr txBox="1"/>
          <p:nvPr/>
        </p:nvSpPr>
        <p:spPr>
          <a:xfrm>
            <a:off x="1038225" y="1697038"/>
            <a:ext cx="1403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ea typeface="楷体_GB2312" pitchFamily="49" charset="-122"/>
              </a:rPr>
              <a:t>手工管理</a:t>
            </a:r>
            <a:endParaRPr lang="zh-CN" altLang="en-US" sz="2400" b="0" dirty="0">
              <a:solidFill>
                <a:schemeClr val="tx1"/>
              </a:solidFill>
              <a:ea typeface="楷体_GB2312" pitchFamily="49" charset="-122"/>
            </a:endParaRPr>
          </a:p>
        </p:txBody>
      </p:sp>
      <p:sp>
        <p:nvSpPr>
          <p:cNvPr id="43022" name="Text Box 15"/>
          <p:cNvSpPr txBox="1"/>
          <p:nvPr/>
        </p:nvSpPr>
        <p:spPr>
          <a:xfrm>
            <a:off x="3670300" y="1676400"/>
            <a:ext cx="1403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ea typeface="楷体_GB2312" pitchFamily="49" charset="-122"/>
              </a:rPr>
              <a:t>文件系统</a:t>
            </a:r>
            <a:endParaRPr lang="zh-CN" altLang="en-US" sz="2400" b="0" dirty="0">
              <a:solidFill>
                <a:schemeClr val="tx1"/>
              </a:solidFill>
              <a:ea typeface="楷体_GB2312" pitchFamily="49" charset="-122"/>
            </a:endParaRPr>
          </a:p>
        </p:txBody>
      </p:sp>
      <p:sp>
        <p:nvSpPr>
          <p:cNvPr id="43023" name="Text Box 16"/>
          <p:cNvSpPr txBox="1"/>
          <p:nvPr/>
        </p:nvSpPr>
        <p:spPr>
          <a:xfrm>
            <a:off x="6007100" y="1663700"/>
            <a:ext cx="170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ea typeface="楷体_GB2312" pitchFamily="49" charset="-122"/>
              </a:rPr>
              <a:t>数据库管理</a:t>
            </a:r>
            <a:endParaRPr lang="zh-CN" altLang="en-US" sz="2400" b="0" dirty="0">
              <a:solidFill>
                <a:schemeClr val="tx1"/>
              </a:solidFill>
              <a:ea typeface="楷体_GB2312" pitchFamily="49" charset="-122"/>
            </a:endParaRPr>
          </a:p>
        </p:txBody>
      </p:sp>
      <p:sp>
        <p:nvSpPr>
          <p:cNvPr id="43024" name="Rectangle 17"/>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4035" name="Rectangle 2"/>
          <p:cNvSpPr>
            <a:spLocks noGrp="1"/>
          </p:cNvSpPr>
          <p:nvPr>
            <p:ph idx="1"/>
          </p:nvPr>
        </p:nvSpPr>
        <p:spPr>
          <a:xfrm>
            <a:off x="685800" y="1447800"/>
            <a:ext cx="7772400" cy="4914900"/>
          </a:xfrm>
          <a:ln/>
        </p:spPr>
        <p:txBody>
          <a:bodyPr vert="horz" wrap="square" lIns="91440" tIns="45720" rIns="91440" bIns="45720" anchor="t" anchorCtr="0"/>
          <a:p>
            <a:pPr eaLnBrk="1" hangingPunct="1"/>
            <a:r>
              <a:rPr lang="zh-CN" altLang="en-US" dirty="0"/>
              <a:t>时期	</a:t>
            </a:r>
            <a:r>
              <a:rPr lang="en-US" altLang="zh-CN" dirty="0">
                <a:solidFill>
                  <a:schemeClr val="tx1"/>
                </a:solidFill>
              </a:rPr>
              <a:t>20</a:t>
            </a:r>
            <a:r>
              <a:rPr lang="zh-CN" altLang="en-US" dirty="0">
                <a:solidFill>
                  <a:schemeClr val="tx1"/>
                </a:solidFill>
              </a:rPr>
              <a:t>世纪</a:t>
            </a:r>
            <a:r>
              <a:rPr lang="en-US" altLang="zh-CN" dirty="0">
                <a:solidFill>
                  <a:schemeClr val="tx1"/>
                </a:solidFill>
              </a:rPr>
              <a:t>40</a:t>
            </a:r>
            <a:r>
              <a:rPr lang="zh-CN" altLang="en-US" dirty="0">
                <a:solidFill>
                  <a:schemeClr val="tx1"/>
                </a:solidFill>
              </a:rPr>
              <a:t>年代中</a:t>
            </a:r>
            <a:r>
              <a:rPr lang="en-US" altLang="zh-CN" dirty="0">
                <a:solidFill>
                  <a:schemeClr val="tx1"/>
                </a:solidFill>
              </a:rPr>
              <a:t>--50</a:t>
            </a:r>
            <a:r>
              <a:rPr lang="zh-CN" altLang="en-US" dirty="0">
                <a:solidFill>
                  <a:schemeClr val="tx1"/>
                </a:solidFill>
              </a:rPr>
              <a:t>年代中</a:t>
            </a:r>
            <a:endParaRPr lang="zh-CN" altLang="en-US" dirty="0">
              <a:solidFill>
                <a:schemeClr val="tx1"/>
              </a:solidFill>
            </a:endParaRPr>
          </a:p>
          <a:p>
            <a:pPr eaLnBrk="1" hangingPunct="1"/>
            <a:r>
              <a:rPr lang="zh-CN" altLang="en-US" dirty="0"/>
              <a:t>背景</a:t>
            </a:r>
            <a:endParaRPr lang="zh-CN" altLang="en-US" dirty="0">
              <a:ea typeface="仿宋_GB2312" pitchFamily="49" charset="-122"/>
            </a:endParaRPr>
          </a:p>
          <a:p>
            <a:pPr lvl="1" eaLnBrk="1" hangingPunct="1"/>
            <a:r>
              <a:rPr lang="zh-CN" altLang="en-US" dirty="0"/>
              <a:t>应用需求</a:t>
            </a:r>
            <a:r>
              <a:rPr lang="en-US" altLang="zh-CN" dirty="0"/>
              <a:t>:</a:t>
            </a:r>
            <a:r>
              <a:rPr lang="zh-CN" altLang="en-US" dirty="0"/>
              <a:t>科学计算</a:t>
            </a:r>
            <a:endParaRPr lang="zh-CN" altLang="en-US" dirty="0"/>
          </a:p>
          <a:p>
            <a:pPr lvl="2" eaLnBrk="1" hangingPunct="1"/>
            <a:r>
              <a:rPr lang="zh-CN" altLang="en-US" dirty="0">
                <a:ea typeface="宋体" panose="02010600030101010101" pitchFamily="2" charset="-122"/>
              </a:rPr>
              <a:t>数据量小、结构简单，如高阶方程、曲线拟和等</a:t>
            </a:r>
            <a:endParaRPr lang="zh-CN" altLang="en-US" dirty="0">
              <a:ea typeface="宋体" panose="02010600030101010101" pitchFamily="2" charset="-122"/>
            </a:endParaRPr>
          </a:p>
          <a:p>
            <a:pPr lvl="1" eaLnBrk="1" hangingPunct="1"/>
            <a:r>
              <a:rPr lang="zh-CN" altLang="en-US" dirty="0"/>
              <a:t>硬件水平</a:t>
            </a:r>
            <a:r>
              <a:rPr lang="en-US" altLang="zh-CN" dirty="0"/>
              <a:t>: </a:t>
            </a:r>
            <a:r>
              <a:rPr lang="zh-CN" altLang="en-US" dirty="0"/>
              <a:t>外存为顺序存取设备</a:t>
            </a:r>
            <a:endParaRPr lang="zh-CN" altLang="en-US" dirty="0"/>
          </a:p>
          <a:p>
            <a:pPr lvl="2" eaLnBrk="1" hangingPunct="1"/>
            <a:r>
              <a:rPr lang="zh-CN" altLang="en-US" dirty="0">
                <a:ea typeface="宋体" panose="02010600030101010101" pitchFamily="2" charset="-122"/>
              </a:rPr>
              <a:t>磁带、卡片、纸带，</a:t>
            </a:r>
            <a:r>
              <a:rPr lang="zh-CN" altLang="en-US" dirty="0">
                <a:solidFill>
                  <a:srgbClr val="FF0000"/>
                </a:solidFill>
                <a:ea typeface="宋体" panose="02010600030101010101" pitchFamily="2" charset="-122"/>
              </a:rPr>
              <a:t>没有磁盘等直接存取</a:t>
            </a:r>
            <a:r>
              <a:rPr lang="zh-CN" altLang="en-US" dirty="0">
                <a:ea typeface="宋体" panose="02010600030101010101" pitchFamily="2" charset="-122"/>
              </a:rPr>
              <a:t>设备</a:t>
            </a:r>
            <a:endParaRPr lang="zh-CN" altLang="en-US" dirty="0">
              <a:ea typeface="宋体" panose="02010600030101010101" pitchFamily="2" charset="-122"/>
            </a:endParaRPr>
          </a:p>
          <a:p>
            <a:pPr lvl="1" eaLnBrk="1" hangingPunct="1"/>
            <a:r>
              <a:rPr lang="zh-CN" altLang="en-US" dirty="0"/>
              <a:t>软件水平</a:t>
            </a:r>
            <a:r>
              <a:rPr lang="en-US" altLang="zh-CN" dirty="0"/>
              <a:t>:</a:t>
            </a:r>
            <a:r>
              <a:rPr lang="zh-CN" altLang="en-US" dirty="0"/>
              <a:t>没有操作系统，无数据管理软件</a:t>
            </a:r>
            <a:endParaRPr lang="zh-CN" altLang="en-US" dirty="0"/>
          </a:p>
          <a:p>
            <a:pPr lvl="2" eaLnBrk="1" hangingPunct="1"/>
            <a:r>
              <a:rPr lang="zh-CN" altLang="en-US" dirty="0">
                <a:ea typeface="宋体" panose="02010600030101010101" pitchFamily="2" charset="-122"/>
              </a:rPr>
              <a:t>用户用机器指令编码，通过纸带机输入程序和数据，程序运行完毕后，由用户取走纸带和运算结果，再让下一用户上机操作</a:t>
            </a:r>
            <a:endParaRPr lang="zh-CN" altLang="en-US" dirty="0">
              <a:ea typeface="宋体" panose="02010600030101010101" pitchFamily="2" charset="-122"/>
            </a:endParaRPr>
          </a:p>
        </p:txBody>
      </p:sp>
      <p:sp>
        <p:nvSpPr>
          <p:cNvPr id="44036" name="Text Box 3"/>
          <p:cNvSpPr txBox="1"/>
          <p:nvPr/>
        </p:nvSpPr>
        <p:spPr>
          <a:xfrm>
            <a:off x="2700338" y="714375"/>
            <a:ext cx="399891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6600CC"/>
                </a:solidFill>
                <a:ea typeface="经典细隶书简" pitchFamily="49" charset="-122"/>
              </a:rPr>
              <a:t>一  人工管理阶段</a:t>
            </a:r>
            <a:endParaRPr lang="zh-CN" altLang="en-US" sz="3600" b="0" dirty="0">
              <a:solidFill>
                <a:srgbClr val="6600CC"/>
              </a:solidFill>
              <a:ea typeface="经典细隶书简" pitchFamily="49" charset="-122"/>
            </a:endParaRPr>
          </a:p>
        </p:txBody>
      </p:sp>
      <p:sp>
        <p:nvSpPr>
          <p:cNvPr id="44037" name="Rectangle 4"/>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5059" name="Rectangle 2"/>
          <p:cNvSpPr>
            <a:spLocks noGrp="1"/>
          </p:cNvSpPr>
          <p:nvPr>
            <p:ph idx="1"/>
          </p:nvPr>
        </p:nvSpPr>
        <p:spPr>
          <a:xfrm>
            <a:off x="685800" y="1333500"/>
            <a:ext cx="7772400" cy="5191125"/>
          </a:xfrm>
          <a:ln/>
        </p:spPr>
        <p:txBody>
          <a:bodyPr vert="horz" wrap="square" lIns="91440" tIns="45720" rIns="91440" bIns="45720" anchor="t" anchorCtr="0"/>
          <a:p>
            <a:pPr eaLnBrk="1" hangingPunct="1">
              <a:buClr>
                <a:srgbClr val="FF0000"/>
              </a:buClr>
            </a:pPr>
            <a:r>
              <a:rPr lang="zh-CN" altLang="en-US" sz="2800" dirty="0"/>
              <a:t>特征</a:t>
            </a:r>
            <a:endParaRPr lang="zh-CN" altLang="en-US" sz="2800" dirty="0"/>
          </a:p>
          <a:p>
            <a:pPr lvl="1" algn="just" eaLnBrk="1" hangingPunct="1">
              <a:lnSpc>
                <a:spcPct val="140000"/>
              </a:lnSpc>
            </a:pPr>
            <a:r>
              <a:rPr lang="zh-CN" altLang="en-US" sz="2400" dirty="0"/>
              <a:t>数据的管理者：用户（程序员），数据不保存</a:t>
            </a:r>
            <a:endParaRPr lang="zh-CN" altLang="en-US" sz="2400" dirty="0"/>
          </a:p>
          <a:p>
            <a:pPr lvl="1" eaLnBrk="1" hangingPunct="1">
              <a:lnSpc>
                <a:spcPct val="140000"/>
              </a:lnSpc>
            </a:pPr>
            <a:r>
              <a:rPr lang="zh-CN" altLang="en-US" sz="2400" dirty="0"/>
              <a:t>数据面向的对象：某一应用程序   </a:t>
            </a:r>
            <a:endParaRPr lang="zh-CN" altLang="en-US" sz="2400" dirty="0"/>
          </a:p>
          <a:p>
            <a:pPr lvl="1" eaLnBrk="1" hangingPunct="1">
              <a:lnSpc>
                <a:spcPct val="140000"/>
              </a:lnSpc>
            </a:pPr>
            <a:r>
              <a:rPr lang="zh-CN" altLang="en-US" sz="2400" dirty="0"/>
              <a:t>数据的共享程度：无共享、冗余度极大</a:t>
            </a:r>
            <a:endParaRPr lang="zh-CN" altLang="en-US" sz="2400" dirty="0"/>
          </a:p>
          <a:p>
            <a:pPr lvl="1" eaLnBrk="1" hangingPunct="1">
              <a:lnSpc>
                <a:spcPct val="140000"/>
              </a:lnSpc>
            </a:pPr>
            <a:r>
              <a:rPr lang="zh-CN" altLang="en-US" sz="2400" dirty="0"/>
              <a:t>数据的独立性：不独立，完全依赖于程序</a:t>
            </a:r>
            <a:endParaRPr lang="zh-CN" altLang="en-US" sz="2400" dirty="0"/>
          </a:p>
          <a:p>
            <a:pPr lvl="1" eaLnBrk="1" hangingPunct="1">
              <a:lnSpc>
                <a:spcPct val="140000"/>
              </a:lnSpc>
            </a:pPr>
            <a:r>
              <a:rPr lang="zh-CN" altLang="en-US" sz="2400" dirty="0"/>
              <a:t>数据的结构化：无结构</a:t>
            </a:r>
            <a:endParaRPr lang="zh-CN" altLang="en-US" sz="2400" dirty="0"/>
          </a:p>
          <a:p>
            <a:pPr lvl="1" eaLnBrk="1" hangingPunct="1">
              <a:lnSpc>
                <a:spcPct val="140000"/>
              </a:lnSpc>
            </a:pPr>
            <a:r>
              <a:rPr lang="zh-CN" altLang="en-US" sz="2400" dirty="0"/>
              <a:t>数据控制能力：应用程序自己控制</a:t>
            </a:r>
            <a:endParaRPr lang="zh-CN" altLang="en-US" sz="2400" dirty="0"/>
          </a:p>
        </p:txBody>
      </p:sp>
      <p:sp>
        <p:nvSpPr>
          <p:cNvPr id="45060"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6083" name="Rectangle 2"/>
          <p:cNvSpPr>
            <a:spLocks noGrp="1"/>
          </p:cNvSpPr>
          <p:nvPr>
            <p:ph idx="1"/>
          </p:nvPr>
        </p:nvSpPr>
        <p:spPr>
          <a:xfrm>
            <a:off x="304800" y="838200"/>
            <a:ext cx="8534400" cy="5638800"/>
          </a:xfrm>
          <a:ln/>
        </p:spPr>
        <p:txBody>
          <a:bodyPr vert="horz" wrap="square" lIns="91440" tIns="45720" rIns="91440" bIns="45720" anchor="t" anchorCtr="0"/>
          <a:p>
            <a:pPr eaLnBrk="1" hangingPunct="1">
              <a:buClr>
                <a:srgbClr val="FF0000"/>
              </a:buClr>
            </a:pPr>
            <a:r>
              <a:rPr lang="zh-CN" altLang="en-US" dirty="0"/>
              <a:t>存在的问题</a:t>
            </a:r>
            <a:endParaRPr lang="zh-CN" altLang="en-US" dirty="0"/>
          </a:p>
          <a:p>
            <a:pPr lvl="1" algn="just" eaLnBrk="1" hangingPunct="1"/>
            <a:r>
              <a:rPr lang="zh-CN" altLang="en-US" dirty="0">
                <a:latin typeface="宋体" panose="02010600030101010101" pitchFamily="2" charset="-122"/>
              </a:rPr>
              <a:t>程序编制困难、易出错</a:t>
            </a:r>
            <a:endParaRPr lang="zh-CN" altLang="en-US" dirty="0">
              <a:latin typeface="宋体" panose="02010600030101010101" pitchFamily="2" charset="-122"/>
            </a:endParaRPr>
          </a:p>
          <a:p>
            <a:pPr lvl="2" algn="just" eaLnBrk="1" hangingPunct="1">
              <a:spcBef>
                <a:spcPct val="0"/>
              </a:spcBef>
              <a:buClr>
                <a:srgbClr val="CC0066"/>
              </a:buClr>
            </a:pPr>
            <a:r>
              <a:rPr lang="zh-CN" altLang="en-US" sz="2000" dirty="0">
                <a:latin typeface="宋体" panose="02010600030101010101" pitchFamily="2" charset="-122"/>
              </a:rPr>
              <a:t>说明数据的逻辑结构；</a:t>
            </a:r>
            <a:endParaRPr lang="zh-CN" altLang="en-US" sz="2000" dirty="0">
              <a:latin typeface="宋体" panose="02010600030101010101" pitchFamily="2" charset="-122"/>
            </a:endParaRPr>
          </a:p>
          <a:p>
            <a:pPr lvl="2" algn="just" eaLnBrk="1" hangingPunct="1">
              <a:spcBef>
                <a:spcPct val="0"/>
              </a:spcBef>
              <a:buClr>
                <a:srgbClr val="CC0066"/>
              </a:buClr>
            </a:pPr>
            <a:r>
              <a:rPr lang="zh-CN" altLang="en-US" sz="2000" dirty="0">
                <a:latin typeface="宋体" panose="02010600030101010101" pitchFamily="2" charset="-122"/>
              </a:rPr>
              <a:t>设计数据的存储结构；</a:t>
            </a:r>
            <a:endParaRPr lang="zh-CN" altLang="en-US" sz="2000" dirty="0">
              <a:latin typeface="宋体" panose="02010600030101010101" pitchFamily="2" charset="-122"/>
            </a:endParaRPr>
          </a:p>
          <a:p>
            <a:pPr lvl="2" algn="just" eaLnBrk="1" hangingPunct="1">
              <a:spcBef>
                <a:spcPct val="0"/>
              </a:spcBef>
              <a:buClr>
                <a:srgbClr val="CC0066"/>
              </a:buClr>
            </a:pPr>
            <a:r>
              <a:rPr lang="zh-CN" altLang="en-US" sz="2000" dirty="0">
                <a:latin typeface="宋体" panose="02010600030101010101" pitchFamily="2" charset="-122"/>
              </a:rPr>
              <a:t>设计数据的存取方法；</a:t>
            </a:r>
            <a:endParaRPr lang="zh-CN" altLang="en-US" sz="2000" dirty="0">
              <a:latin typeface="宋体" panose="02010600030101010101" pitchFamily="2" charset="-122"/>
            </a:endParaRPr>
          </a:p>
          <a:p>
            <a:pPr lvl="2" algn="just" eaLnBrk="1" hangingPunct="1">
              <a:spcBef>
                <a:spcPct val="0"/>
              </a:spcBef>
              <a:buClr>
                <a:srgbClr val="CC0066"/>
              </a:buClr>
            </a:pPr>
            <a:r>
              <a:rPr lang="zh-CN" altLang="en-US" sz="2000" dirty="0">
                <a:latin typeface="宋体" panose="02010600030101010101" pitchFamily="2" charset="-122"/>
              </a:rPr>
              <a:t>设计数据的</a:t>
            </a:r>
            <a:r>
              <a:rPr lang="en-US" altLang="zh-CN" sz="2000" dirty="0">
                <a:latin typeface="宋体" panose="02010600030101010101" pitchFamily="2" charset="-122"/>
              </a:rPr>
              <a:t>I/O</a:t>
            </a:r>
            <a:r>
              <a:rPr lang="zh-CN" altLang="en-US" sz="2000" dirty="0">
                <a:latin typeface="宋体" panose="02010600030101010101" pitchFamily="2" charset="-122"/>
              </a:rPr>
              <a:t>方式</a:t>
            </a:r>
            <a:r>
              <a:rPr lang="zh-CN" altLang="en-US" dirty="0">
                <a:latin typeface="宋体" panose="02010600030101010101" pitchFamily="2" charset="-122"/>
              </a:rPr>
              <a:t>。</a:t>
            </a:r>
            <a:endParaRPr lang="zh-CN" altLang="en-US" dirty="0">
              <a:latin typeface="宋体" panose="02010600030101010101" pitchFamily="2" charset="-122"/>
            </a:endParaRPr>
          </a:p>
          <a:p>
            <a:pPr lvl="1" algn="just" eaLnBrk="1" hangingPunct="1"/>
            <a:r>
              <a:rPr lang="zh-CN" altLang="en-US" dirty="0">
                <a:latin typeface="宋体" panose="02010600030101010101" pitchFamily="2" charset="-122"/>
              </a:rPr>
              <a:t>数据不共享</a:t>
            </a:r>
            <a:endParaRPr lang="zh-CN" altLang="en-US" dirty="0">
              <a:latin typeface="宋体" panose="02010600030101010101" pitchFamily="2" charset="-122"/>
            </a:endParaRPr>
          </a:p>
          <a:p>
            <a:pPr lvl="2" algn="just" eaLnBrk="1" hangingPunct="1">
              <a:buClr>
                <a:srgbClr val="CC0066"/>
              </a:buClr>
            </a:pPr>
            <a:r>
              <a:rPr lang="zh-CN" altLang="en-US" sz="2000" dirty="0">
                <a:latin typeface="宋体" panose="02010600030101010101" pitchFamily="2" charset="-122"/>
              </a:rPr>
              <a:t>数据与应用程序一一对应；</a:t>
            </a:r>
            <a:endParaRPr lang="zh-CN" altLang="en-US" sz="2000" dirty="0">
              <a:latin typeface="宋体" panose="02010600030101010101" pitchFamily="2" charset="-122"/>
            </a:endParaRPr>
          </a:p>
          <a:p>
            <a:pPr lvl="2" algn="just" eaLnBrk="1" hangingPunct="1">
              <a:buClr>
                <a:srgbClr val="CC0066"/>
              </a:buClr>
            </a:pPr>
            <a:r>
              <a:rPr lang="zh-CN" altLang="en-US" sz="2000" dirty="0">
                <a:latin typeface="宋体" panose="02010600030101010101" pitchFamily="2" charset="-122"/>
              </a:rPr>
              <a:t>多个程序涉及某些相同的数据时，必须重复定义。</a:t>
            </a:r>
            <a:endParaRPr lang="zh-CN" altLang="en-US" sz="2000" dirty="0">
              <a:latin typeface="宋体" panose="02010600030101010101" pitchFamily="2" charset="-122"/>
            </a:endParaRPr>
          </a:p>
          <a:p>
            <a:pPr lvl="1" algn="just" eaLnBrk="1" hangingPunct="1"/>
            <a:r>
              <a:rPr lang="zh-CN" altLang="en-US" dirty="0">
                <a:latin typeface="宋体" panose="02010600030101010101" pitchFamily="2" charset="-122"/>
              </a:rPr>
              <a:t>数据冗余大</a:t>
            </a:r>
            <a:endParaRPr lang="zh-CN" altLang="en-US" dirty="0">
              <a:latin typeface="宋体" panose="02010600030101010101" pitchFamily="2" charset="-122"/>
            </a:endParaRPr>
          </a:p>
          <a:p>
            <a:pPr lvl="1" algn="just" eaLnBrk="1" hangingPunct="1"/>
            <a:r>
              <a:rPr lang="zh-CN" altLang="en-US" dirty="0">
                <a:latin typeface="宋体" panose="02010600030101010101" pitchFamily="2" charset="-122"/>
              </a:rPr>
              <a:t>应用程序高度依赖于数据的逻辑结构与物理结构</a:t>
            </a:r>
            <a:endParaRPr lang="zh-CN" altLang="en-US" dirty="0">
              <a:latin typeface="宋体" panose="02010600030101010101" pitchFamily="2" charset="-122"/>
            </a:endParaRPr>
          </a:p>
          <a:p>
            <a:pPr lvl="1" algn="just" eaLnBrk="1" hangingPunct="1"/>
            <a:r>
              <a:rPr lang="zh-CN" altLang="en-US" dirty="0">
                <a:latin typeface="宋体" panose="02010600030101010101" pitchFamily="2" charset="-122"/>
              </a:rPr>
              <a:t>不能表示数据间联系</a:t>
            </a:r>
            <a:endParaRPr lang="zh-CN" altLang="en-US" dirty="0">
              <a:latin typeface="宋体" panose="02010600030101010101" pitchFamily="2" charset="-122"/>
            </a:endParaRPr>
          </a:p>
        </p:txBody>
      </p:sp>
      <p:sp>
        <p:nvSpPr>
          <p:cNvPr id="46084"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pic>
        <p:nvPicPr>
          <p:cNvPr id="47107" name="Picture 2" descr="j0196322"/>
          <p:cNvPicPr>
            <a:picLocks noChangeAspect="1"/>
          </p:cNvPicPr>
          <p:nvPr/>
        </p:nvPicPr>
        <p:blipFill>
          <a:blip r:embed="rId1"/>
          <a:stretch>
            <a:fillRect/>
          </a:stretch>
        </p:blipFill>
        <p:spPr>
          <a:xfrm>
            <a:off x="3048000" y="4749800"/>
            <a:ext cx="1366838" cy="1336675"/>
          </a:xfrm>
          <a:prstGeom prst="rect">
            <a:avLst/>
          </a:prstGeom>
          <a:noFill/>
          <a:ln w="9525">
            <a:noFill/>
          </a:ln>
        </p:spPr>
      </p:pic>
      <p:sp>
        <p:nvSpPr>
          <p:cNvPr id="47108" name="AutoShape 3"/>
          <p:cNvSpPr/>
          <p:nvPr/>
        </p:nvSpPr>
        <p:spPr>
          <a:xfrm>
            <a:off x="5003800" y="3657600"/>
            <a:ext cx="1295400" cy="533400"/>
          </a:xfrm>
          <a:prstGeom prst="leftRightArrow">
            <a:avLst>
              <a:gd name="adj1" fmla="val 50000"/>
              <a:gd name="adj2" fmla="val 48571"/>
            </a:avLst>
          </a:prstGeom>
          <a:gradFill rotWithShape="0">
            <a:gsLst>
              <a:gs pos="0">
                <a:srgbClr val="00FF00"/>
              </a:gs>
              <a:gs pos="100000">
                <a:srgbClr val="CCFF66"/>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latin typeface="Tahoma" panose="020B0604030504040204" pitchFamily="34" charset="0"/>
                <a:ea typeface="华文新魏" panose="02010800040101010101" pitchFamily="2" charset="-122"/>
              </a:rPr>
              <a:t>访问</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47109" name="AutoShape 4"/>
          <p:cNvSpPr/>
          <p:nvPr/>
        </p:nvSpPr>
        <p:spPr>
          <a:xfrm>
            <a:off x="6959600" y="3429000"/>
            <a:ext cx="990600" cy="838200"/>
          </a:xfrm>
          <a:prstGeom prst="can">
            <a:avLst>
              <a:gd name="adj" fmla="val 35227"/>
            </a:avLst>
          </a:prstGeom>
          <a:gradFill rotWithShape="0">
            <a:gsLst>
              <a:gs pos="0">
                <a:srgbClr val="3399FF"/>
              </a:gs>
              <a:gs pos="50000">
                <a:srgbClr val="0066FF"/>
              </a:gs>
              <a:gs pos="100000">
                <a:srgbClr val="3399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bg1"/>
                </a:solidFill>
                <a:latin typeface="华文新魏" panose="02010800040101010101" pitchFamily="2" charset="-122"/>
                <a:ea typeface="华文新魏" panose="02010800040101010101" pitchFamily="2" charset="-122"/>
              </a:rPr>
              <a:t>数据</a:t>
            </a:r>
            <a:r>
              <a:rPr lang="en-US" altLang="zh-CN" sz="2400" b="0" dirty="0">
                <a:solidFill>
                  <a:schemeClr val="bg1"/>
                </a:solidFill>
                <a:latin typeface="华文新魏" panose="02010800040101010101" pitchFamily="2" charset="-122"/>
                <a:ea typeface="华文新魏" panose="02010800040101010101" pitchFamily="2" charset="-122"/>
              </a:rPr>
              <a:t>2</a:t>
            </a:r>
            <a:endParaRPr lang="en-US" altLang="zh-CN" sz="2400" b="0" dirty="0">
              <a:solidFill>
                <a:schemeClr val="bg1"/>
              </a:solidFill>
              <a:latin typeface="Tahoma" panose="020B0604030504040204" pitchFamily="34" charset="0"/>
              <a:ea typeface="华文新魏" panose="02010800040101010101" pitchFamily="2" charset="-122"/>
            </a:endParaRPr>
          </a:p>
        </p:txBody>
      </p:sp>
      <p:pic>
        <p:nvPicPr>
          <p:cNvPr id="47110" name="Picture 5" descr="j0196322"/>
          <p:cNvPicPr>
            <a:picLocks noChangeAspect="1"/>
          </p:cNvPicPr>
          <p:nvPr/>
        </p:nvPicPr>
        <p:blipFill>
          <a:blip r:embed="rId1"/>
          <a:stretch>
            <a:fillRect/>
          </a:stretch>
        </p:blipFill>
        <p:spPr>
          <a:xfrm>
            <a:off x="2971800" y="1600200"/>
            <a:ext cx="1443038" cy="1409700"/>
          </a:xfrm>
          <a:prstGeom prst="rect">
            <a:avLst/>
          </a:prstGeom>
          <a:noFill/>
          <a:ln w="9525">
            <a:noFill/>
          </a:ln>
        </p:spPr>
      </p:pic>
      <p:sp>
        <p:nvSpPr>
          <p:cNvPr id="47111" name="AutoShape 6"/>
          <p:cNvSpPr/>
          <p:nvPr/>
        </p:nvSpPr>
        <p:spPr>
          <a:xfrm>
            <a:off x="5003800" y="2133600"/>
            <a:ext cx="1295400" cy="533400"/>
          </a:xfrm>
          <a:prstGeom prst="leftRightArrow">
            <a:avLst>
              <a:gd name="adj1" fmla="val 50000"/>
              <a:gd name="adj2" fmla="val 48571"/>
            </a:avLst>
          </a:prstGeom>
          <a:gradFill rotWithShape="0">
            <a:gsLst>
              <a:gs pos="0">
                <a:srgbClr val="00FF00"/>
              </a:gs>
              <a:gs pos="100000">
                <a:srgbClr val="CCFF66"/>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latin typeface="Tahoma" panose="020B0604030504040204" pitchFamily="34" charset="0"/>
                <a:ea typeface="华文新魏" panose="02010800040101010101" pitchFamily="2" charset="-122"/>
              </a:rPr>
              <a:t>访问</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47112" name="AutoShape 7"/>
          <p:cNvSpPr/>
          <p:nvPr/>
        </p:nvSpPr>
        <p:spPr>
          <a:xfrm>
            <a:off x="6959600" y="1905000"/>
            <a:ext cx="990600" cy="838200"/>
          </a:xfrm>
          <a:prstGeom prst="can">
            <a:avLst>
              <a:gd name="adj" fmla="val 35227"/>
            </a:avLst>
          </a:prstGeom>
          <a:gradFill rotWithShape="0">
            <a:gsLst>
              <a:gs pos="0">
                <a:srgbClr val="3399FF"/>
              </a:gs>
              <a:gs pos="50000">
                <a:srgbClr val="0066FF"/>
              </a:gs>
              <a:gs pos="100000">
                <a:srgbClr val="3399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bg1"/>
                </a:solidFill>
                <a:latin typeface="华文新魏" panose="02010800040101010101" pitchFamily="2" charset="-122"/>
                <a:ea typeface="华文新魏" panose="02010800040101010101" pitchFamily="2" charset="-122"/>
              </a:rPr>
              <a:t>数据</a:t>
            </a:r>
            <a:r>
              <a:rPr lang="en-US" altLang="zh-CN" sz="2400" b="0" dirty="0">
                <a:solidFill>
                  <a:schemeClr val="bg1"/>
                </a:solidFill>
                <a:latin typeface="华文新魏" panose="02010800040101010101" pitchFamily="2" charset="-122"/>
                <a:ea typeface="华文新魏" panose="02010800040101010101" pitchFamily="2" charset="-122"/>
              </a:rPr>
              <a:t>1</a:t>
            </a:r>
            <a:endParaRPr lang="en-US" altLang="zh-CN" sz="2400" b="0" dirty="0">
              <a:solidFill>
                <a:schemeClr val="bg1"/>
              </a:solidFill>
              <a:latin typeface="Tahoma" panose="020B0604030504040204" pitchFamily="34" charset="0"/>
              <a:ea typeface="华文新魏" panose="02010800040101010101" pitchFamily="2" charset="-122"/>
            </a:endParaRPr>
          </a:p>
        </p:txBody>
      </p:sp>
      <p:sp>
        <p:nvSpPr>
          <p:cNvPr id="47113" name="Text Box 8"/>
          <p:cNvSpPr txBox="1"/>
          <p:nvPr/>
        </p:nvSpPr>
        <p:spPr>
          <a:xfrm>
            <a:off x="2006600" y="2197100"/>
            <a:ext cx="914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程序</a:t>
            </a:r>
            <a:r>
              <a:rPr lang="en-US" altLang="zh-CN" sz="2400" b="0" dirty="0">
                <a:solidFill>
                  <a:schemeClr val="tx1"/>
                </a:solidFill>
                <a:latin typeface="华文新魏" panose="02010800040101010101" pitchFamily="2" charset="-122"/>
                <a:ea typeface="华文新魏" panose="02010800040101010101" pitchFamily="2" charset="-122"/>
              </a:rPr>
              <a:t>1</a:t>
            </a:r>
            <a:endParaRPr lang="en-US" altLang="zh-CN" sz="2400" b="0" dirty="0">
              <a:solidFill>
                <a:schemeClr val="tx1"/>
              </a:solidFill>
              <a:latin typeface="华文新魏" panose="02010800040101010101" pitchFamily="2" charset="-122"/>
              <a:ea typeface="华文新魏" panose="02010800040101010101" pitchFamily="2" charset="-122"/>
            </a:endParaRPr>
          </a:p>
        </p:txBody>
      </p:sp>
      <p:sp>
        <p:nvSpPr>
          <p:cNvPr id="47114" name="Text Box 9"/>
          <p:cNvSpPr txBox="1"/>
          <p:nvPr/>
        </p:nvSpPr>
        <p:spPr>
          <a:xfrm>
            <a:off x="1981200" y="3708400"/>
            <a:ext cx="9667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程序</a:t>
            </a:r>
            <a:r>
              <a:rPr lang="en-US" altLang="zh-CN" sz="2400" b="0" dirty="0">
                <a:solidFill>
                  <a:schemeClr val="tx1"/>
                </a:solidFill>
                <a:latin typeface="华文新魏" panose="02010800040101010101" pitchFamily="2" charset="-122"/>
                <a:ea typeface="华文新魏" panose="02010800040101010101" pitchFamily="2" charset="-122"/>
              </a:rPr>
              <a:t>2</a:t>
            </a:r>
            <a:endParaRPr lang="en-US" altLang="zh-CN" sz="2400" b="0" dirty="0">
              <a:solidFill>
                <a:schemeClr val="tx1"/>
              </a:solidFill>
              <a:latin typeface="华文新魏" panose="02010800040101010101" pitchFamily="2" charset="-122"/>
              <a:ea typeface="华文新魏" panose="02010800040101010101" pitchFamily="2" charset="-122"/>
            </a:endParaRPr>
          </a:p>
        </p:txBody>
      </p:sp>
      <p:sp>
        <p:nvSpPr>
          <p:cNvPr id="47115" name="Text Box 10"/>
          <p:cNvSpPr txBox="1"/>
          <p:nvPr/>
        </p:nvSpPr>
        <p:spPr>
          <a:xfrm>
            <a:off x="1981200" y="5295900"/>
            <a:ext cx="9652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程序</a:t>
            </a:r>
            <a:r>
              <a:rPr lang="en-US" altLang="zh-CN" sz="2400" b="0" dirty="0">
                <a:solidFill>
                  <a:schemeClr val="tx1"/>
                </a:solidFill>
                <a:latin typeface="华文新魏" panose="02010800040101010101" pitchFamily="2" charset="-122"/>
                <a:ea typeface="华文新魏" panose="02010800040101010101" pitchFamily="2" charset="-122"/>
              </a:rPr>
              <a:t>n</a:t>
            </a:r>
            <a:endParaRPr lang="en-US" altLang="zh-CN" sz="2400" b="0" dirty="0">
              <a:solidFill>
                <a:schemeClr val="tx1"/>
              </a:solidFill>
              <a:latin typeface="华文新魏" panose="02010800040101010101" pitchFamily="2" charset="-122"/>
              <a:ea typeface="华文新魏" panose="02010800040101010101" pitchFamily="2" charset="-122"/>
            </a:endParaRPr>
          </a:p>
        </p:txBody>
      </p:sp>
      <p:sp>
        <p:nvSpPr>
          <p:cNvPr id="47116" name="AutoShape 11"/>
          <p:cNvSpPr/>
          <p:nvPr/>
        </p:nvSpPr>
        <p:spPr>
          <a:xfrm>
            <a:off x="4991100" y="5232400"/>
            <a:ext cx="1295400" cy="533400"/>
          </a:xfrm>
          <a:prstGeom prst="leftRightArrow">
            <a:avLst>
              <a:gd name="adj1" fmla="val 50000"/>
              <a:gd name="adj2" fmla="val 48571"/>
            </a:avLst>
          </a:prstGeom>
          <a:gradFill rotWithShape="0">
            <a:gsLst>
              <a:gs pos="0">
                <a:srgbClr val="00FF00"/>
              </a:gs>
              <a:gs pos="100000">
                <a:srgbClr val="CCFF66"/>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latin typeface="Tahoma" panose="020B0604030504040204" pitchFamily="34" charset="0"/>
                <a:ea typeface="华文新魏" panose="02010800040101010101" pitchFamily="2" charset="-122"/>
              </a:rPr>
              <a:t>访问</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47117" name="AutoShape 12"/>
          <p:cNvSpPr/>
          <p:nvPr/>
        </p:nvSpPr>
        <p:spPr>
          <a:xfrm>
            <a:off x="6959600" y="5003800"/>
            <a:ext cx="990600" cy="838200"/>
          </a:xfrm>
          <a:prstGeom prst="can">
            <a:avLst>
              <a:gd name="adj" fmla="val 35227"/>
            </a:avLst>
          </a:prstGeom>
          <a:gradFill rotWithShape="0">
            <a:gsLst>
              <a:gs pos="0">
                <a:srgbClr val="3399FF"/>
              </a:gs>
              <a:gs pos="50000">
                <a:srgbClr val="0066FF"/>
              </a:gs>
              <a:gs pos="100000">
                <a:srgbClr val="3399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bg1"/>
                </a:solidFill>
                <a:latin typeface="华文新魏" panose="02010800040101010101" pitchFamily="2" charset="-122"/>
                <a:ea typeface="华文新魏" panose="02010800040101010101" pitchFamily="2" charset="-122"/>
              </a:rPr>
              <a:t>数据</a:t>
            </a:r>
            <a:r>
              <a:rPr lang="en-US" altLang="zh-CN" sz="2400" b="0" dirty="0">
                <a:solidFill>
                  <a:schemeClr val="bg1"/>
                </a:solidFill>
                <a:latin typeface="华文新魏" panose="02010800040101010101" pitchFamily="2" charset="-122"/>
                <a:ea typeface="华文新魏" panose="02010800040101010101" pitchFamily="2" charset="-122"/>
              </a:rPr>
              <a:t>n</a:t>
            </a:r>
            <a:endParaRPr lang="en-US" altLang="zh-CN" sz="2400" b="0" dirty="0">
              <a:solidFill>
                <a:schemeClr val="bg1"/>
              </a:solidFill>
              <a:latin typeface="Tahoma" panose="020B0604030504040204" pitchFamily="34" charset="0"/>
              <a:ea typeface="华文新魏" panose="02010800040101010101" pitchFamily="2" charset="-122"/>
            </a:endParaRPr>
          </a:p>
        </p:txBody>
      </p:sp>
      <p:pic>
        <p:nvPicPr>
          <p:cNvPr id="47118" name="Picture 13" descr="j0196322"/>
          <p:cNvPicPr>
            <a:picLocks noChangeAspect="1"/>
          </p:cNvPicPr>
          <p:nvPr/>
        </p:nvPicPr>
        <p:blipFill>
          <a:blip r:embed="rId1"/>
          <a:stretch>
            <a:fillRect/>
          </a:stretch>
        </p:blipFill>
        <p:spPr>
          <a:xfrm>
            <a:off x="2971800" y="3124200"/>
            <a:ext cx="1443038" cy="1409700"/>
          </a:xfrm>
          <a:prstGeom prst="rect">
            <a:avLst/>
          </a:prstGeom>
          <a:noFill/>
          <a:ln w="9525">
            <a:noFill/>
          </a:ln>
        </p:spPr>
      </p:pic>
      <p:sp>
        <p:nvSpPr>
          <p:cNvPr id="47119" name="Text Box 14"/>
          <p:cNvSpPr txBox="1"/>
          <p:nvPr/>
        </p:nvSpPr>
        <p:spPr>
          <a:xfrm>
            <a:off x="2971800" y="762000"/>
            <a:ext cx="33528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6600CC"/>
                </a:solidFill>
                <a:ea typeface="经典细隶书简" pitchFamily="49" charset="-122"/>
              </a:rPr>
              <a:t>人工管理阶段</a:t>
            </a:r>
            <a:endParaRPr lang="zh-CN" altLang="en-US" sz="3600" b="0" dirty="0">
              <a:solidFill>
                <a:srgbClr val="6600CC"/>
              </a:solidFill>
              <a:ea typeface="经典细隶书简" pitchFamily="49" charset="-122"/>
            </a:endParaRPr>
          </a:p>
        </p:txBody>
      </p:sp>
      <p:sp>
        <p:nvSpPr>
          <p:cNvPr id="47120" name="Rectangle 15"/>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8131" name="Rectangle 2"/>
          <p:cNvSpPr>
            <a:spLocks noGrp="1"/>
          </p:cNvSpPr>
          <p:nvPr>
            <p:ph idx="1"/>
          </p:nvPr>
        </p:nvSpPr>
        <p:spPr>
          <a:xfrm>
            <a:off x="762000" y="1371600"/>
            <a:ext cx="7772400" cy="5105400"/>
          </a:xfrm>
          <a:ln/>
        </p:spPr>
        <p:txBody>
          <a:bodyPr vert="horz" wrap="square" lIns="91440" tIns="45720" rIns="91440" bIns="45720" anchor="t" anchorCtr="0"/>
          <a:p>
            <a:pPr eaLnBrk="1" hangingPunct="1">
              <a:lnSpc>
                <a:spcPct val="90000"/>
              </a:lnSpc>
            </a:pPr>
            <a:r>
              <a:rPr lang="zh-CN" altLang="en-US" dirty="0"/>
              <a:t>背景</a:t>
            </a:r>
            <a:endParaRPr lang="zh-CN" altLang="en-US" dirty="0">
              <a:ea typeface="仿宋_GB2312" pitchFamily="49" charset="-122"/>
            </a:endParaRPr>
          </a:p>
          <a:p>
            <a:pPr lvl="1" eaLnBrk="1" hangingPunct="1">
              <a:lnSpc>
                <a:spcPct val="90000"/>
              </a:lnSpc>
            </a:pPr>
            <a:r>
              <a:rPr lang="zh-CN" altLang="en-US" dirty="0">
                <a:latin typeface="宋体" panose="02010600030101010101" pitchFamily="2" charset="-122"/>
              </a:rPr>
              <a:t>应用需求</a:t>
            </a:r>
            <a:r>
              <a:rPr lang="en-US" altLang="zh-CN" dirty="0">
                <a:latin typeface="宋体" panose="02010600030101010101" pitchFamily="2" charset="-122"/>
              </a:rPr>
              <a:t>:</a:t>
            </a:r>
            <a:r>
              <a:rPr lang="zh-CN" altLang="en-US" dirty="0">
                <a:latin typeface="宋体" panose="02010600030101010101" pitchFamily="2" charset="-122"/>
              </a:rPr>
              <a:t>科学计算 </a:t>
            </a:r>
            <a:r>
              <a:rPr lang="en-US" altLang="zh-CN" dirty="0">
                <a:latin typeface="宋体" panose="02010600030101010101" pitchFamily="2" charset="-122"/>
              </a:rPr>
              <a:t>+ </a:t>
            </a:r>
            <a:r>
              <a:rPr lang="zh-CN" altLang="en-US" dirty="0">
                <a:latin typeface="宋体" panose="02010600030101010101" pitchFamily="2" charset="-122"/>
              </a:rPr>
              <a:t>管理</a:t>
            </a:r>
            <a:endParaRPr lang="zh-CN" altLang="en-US" dirty="0">
              <a:latin typeface="宋体" panose="02010600030101010101" pitchFamily="2" charset="-122"/>
            </a:endParaRPr>
          </a:p>
          <a:p>
            <a:pPr lvl="1" eaLnBrk="1" hangingPunct="1">
              <a:lnSpc>
                <a:spcPct val="90000"/>
              </a:lnSpc>
            </a:pPr>
            <a:r>
              <a:rPr lang="zh-CN" altLang="en-US" dirty="0">
                <a:latin typeface="宋体" panose="02010600030101010101" pitchFamily="2" charset="-122"/>
              </a:rPr>
              <a:t>硬件</a:t>
            </a:r>
            <a:r>
              <a:rPr lang="en-US" altLang="zh-CN" dirty="0">
                <a:latin typeface="宋体" panose="02010600030101010101" pitchFamily="2" charset="-122"/>
              </a:rPr>
              <a:t>:</a:t>
            </a:r>
            <a:r>
              <a:rPr lang="zh-CN" altLang="en-US" dirty="0">
                <a:latin typeface="宋体" panose="02010600030101010101" pitchFamily="2" charset="-122"/>
              </a:rPr>
              <a:t>外存有了磁盘、磁鼓等直接存取设备</a:t>
            </a:r>
            <a:endParaRPr lang="zh-CN" altLang="en-US" dirty="0">
              <a:latin typeface="宋体" panose="02010600030101010101" pitchFamily="2" charset="-122"/>
            </a:endParaRPr>
          </a:p>
          <a:p>
            <a:pPr lvl="2" eaLnBrk="1" hangingPunct="1">
              <a:lnSpc>
                <a:spcPct val="90000"/>
              </a:lnSpc>
            </a:pPr>
            <a:r>
              <a:rPr lang="zh-CN" altLang="en-US" dirty="0">
                <a:latin typeface="宋体" panose="02010600030101010101" pitchFamily="2" charset="-122"/>
                <a:ea typeface="宋体" panose="02010600030101010101" pitchFamily="2" charset="-122"/>
              </a:rPr>
              <a:t>直接存取设备（</a:t>
            </a:r>
            <a:r>
              <a:rPr lang="en-US" altLang="zh-CN" dirty="0">
                <a:latin typeface="宋体" panose="02010600030101010101" pitchFamily="2" charset="-122"/>
                <a:ea typeface="宋体" panose="02010600030101010101" pitchFamily="2" charset="-122"/>
              </a:rPr>
              <a:t>DASD</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a:p>
            <a:pPr lvl="3" eaLnBrk="1" hangingPunct="1">
              <a:lnSpc>
                <a:spcPct val="90000"/>
              </a:lnSpc>
              <a:buSzTx/>
              <a:buFontTx/>
              <a:buChar char="–"/>
            </a:pPr>
            <a:r>
              <a:rPr lang="zh-CN" altLang="en-US" dirty="0">
                <a:latin typeface="宋体" panose="02010600030101010101" pitchFamily="2" charset="-122"/>
              </a:rPr>
              <a:t>无须顺序存取</a:t>
            </a:r>
            <a:endParaRPr lang="zh-CN" altLang="en-US" dirty="0">
              <a:latin typeface="宋体" panose="02010600030101010101" pitchFamily="2" charset="-122"/>
            </a:endParaRPr>
          </a:p>
          <a:p>
            <a:pPr lvl="3" eaLnBrk="1" hangingPunct="1">
              <a:lnSpc>
                <a:spcPct val="90000"/>
              </a:lnSpc>
              <a:buSzTx/>
              <a:buFontTx/>
              <a:buChar char="–"/>
            </a:pPr>
            <a:r>
              <a:rPr lang="zh-CN" altLang="en-US" dirty="0">
                <a:latin typeface="宋体" panose="02010600030101010101" pitchFamily="2" charset="-122"/>
              </a:rPr>
              <a:t>由地址直接访问所需记录</a:t>
            </a:r>
            <a:endParaRPr lang="zh-CN" altLang="en-US" dirty="0">
              <a:latin typeface="宋体" panose="02010600030101010101" pitchFamily="2" charset="-122"/>
            </a:endParaRPr>
          </a:p>
          <a:p>
            <a:pPr lvl="1" eaLnBrk="1" hangingPunct="1">
              <a:lnSpc>
                <a:spcPct val="90000"/>
              </a:lnSpc>
            </a:pPr>
            <a:r>
              <a:rPr lang="zh-CN" altLang="en-US" dirty="0">
                <a:latin typeface="宋体" panose="02010600030101010101" pitchFamily="2" charset="-122"/>
              </a:rPr>
              <a:t>软件：文件系统</a:t>
            </a:r>
            <a:endParaRPr lang="zh-CN" altLang="en-US" dirty="0">
              <a:latin typeface="宋体" panose="02010600030101010101" pitchFamily="2" charset="-122"/>
            </a:endParaRPr>
          </a:p>
          <a:p>
            <a:pPr lvl="2" eaLnBrk="1" hangingPunct="1">
              <a:lnSpc>
                <a:spcPct val="90000"/>
              </a:lnSpc>
            </a:pPr>
            <a:r>
              <a:rPr lang="zh-CN" altLang="en-US" dirty="0">
                <a:latin typeface="宋体" panose="02010600030101010101" pitchFamily="2" charset="-122"/>
                <a:ea typeface="宋体" panose="02010600030101010101" pitchFamily="2" charset="-122"/>
              </a:rPr>
              <a:t>文件存储空间的管理</a:t>
            </a:r>
            <a:endParaRPr lang="zh-CN" altLang="en-US" dirty="0">
              <a:latin typeface="宋体" panose="02010600030101010101" pitchFamily="2" charset="-122"/>
              <a:ea typeface="宋体" panose="02010600030101010101" pitchFamily="2" charset="-122"/>
            </a:endParaRPr>
          </a:p>
          <a:p>
            <a:pPr lvl="2" eaLnBrk="1" hangingPunct="1">
              <a:lnSpc>
                <a:spcPct val="90000"/>
              </a:lnSpc>
            </a:pPr>
            <a:r>
              <a:rPr lang="zh-CN" altLang="en-US" dirty="0">
                <a:latin typeface="宋体" panose="02010600030101010101" pitchFamily="2" charset="-122"/>
                <a:ea typeface="宋体" panose="02010600030101010101" pitchFamily="2" charset="-122"/>
              </a:rPr>
              <a:t>目录管理</a:t>
            </a:r>
            <a:endParaRPr lang="zh-CN" altLang="en-US" dirty="0">
              <a:latin typeface="宋体" panose="02010600030101010101" pitchFamily="2" charset="-122"/>
              <a:ea typeface="宋体" panose="02010600030101010101" pitchFamily="2" charset="-122"/>
            </a:endParaRPr>
          </a:p>
          <a:p>
            <a:pPr lvl="2" eaLnBrk="1" hangingPunct="1">
              <a:lnSpc>
                <a:spcPct val="90000"/>
              </a:lnSpc>
            </a:pPr>
            <a:r>
              <a:rPr lang="zh-CN" altLang="en-US" dirty="0">
                <a:latin typeface="宋体" panose="02010600030101010101" pitchFamily="2" charset="-122"/>
                <a:ea typeface="宋体" panose="02010600030101010101" pitchFamily="2" charset="-122"/>
              </a:rPr>
              <a:t>文件读写管理</a:t>
            </a:r>
            <a:endParaRPr lang="zh-CN" altLang="en-US" dirty="0">
              <a:latin typeface="宋体" panose="02010600030101010101" pitchFamily="2" charset="-122"/>
              <a:ea typeface="宋体" panose="02010600030101010101" pitchFamily="2" charset="-122"/>
            </a:endParaRPr>
          </a:p>
          <a:p>
            <a:pPr lvl="2" eaLnBrk="1" hangingPunct="1">
              <a:lnSpc>
                <a:spcPct val="90000"/>
              </a:lnSpc>
            </a:pPr>
            <a:r>
              <a:rPr lang="zh-CN" altLang="en-US" dirty="0">
                <a:latin typeface="宋体" panose="02010600030101010101" pitchFamily="2" charset="-122"/>
                <a:ea typeface="宋体" panose="02010600030101010101" pitchFamily="2" charset="-122"/>
              </a:rPr>
              <a:t>文件保护</a:t>
            </a:r>
            <a:endParaRPr lang="zh-CN" altLang="en-US" dirty="0">
              <a:latin typeface="宋体" panose="02010600030101010101" pitchFamily="2" charset="-122"/>
              <a:ea typeface="宋体" panose="02010600030101010101" pitchFamily="2" charset="-122"/>
            </a:endParaRPr>
          </a:p>
          <a:p>
            <a:pPr lvl="2" eaLnBrk="1" hangingPunct="1">
              <a:lnSpc>
                <a:spcPct val="90000"/>
              </a:lnSpc>
            </a:pPr>
            <a:r>
              <a:rPr lang="zh-CN" altLang="en-US" dirty="0">
                <a:latin typeface="宋体" panose="02010600030101010101" pitchFamily="2" charset="-122"/>
                <a:ea typeface="宋体" panose="02010600030101010101" pitchFamily="2" charset="-122"/>
              </a:rPr>
              <a:t>向用户提供操作接口</a:t>
            </a:r>
            <a:endParaRPr lang="zh-CN" altLang="en-US" dirty="0">
              <a:latin typeface="宋体" panose="02010600030101010101" pitchFamily="2" charset="-122"/>
              <a:ea typeface="宋体" panose="02010600030101010101" pitchFamily="2" charset="-122"/>
            </a:endParaRPr>
          </a:p>
          <a:p>
            <a:pPr lvl="2" eaLnBrk="1" hangingPunct="1">
              <a:lnSpc>
                <a:spcPct val="90000"/>
              </a:lnSpc>
            </a:pPr>
            <a:endParaRPr lang="zh-CN" altLang="en-US" dirty="0">
              <a:ea typeface="宋体" panose="02010600030101010101" pitchFamily="2" charset="-122"/>
            </a:endParaRPr>
          </a:p>
        </p:txBody>
      </p:sp>
      <p:sp>
        <p:nvSpPr>
          <p:cNvPr id="48132" name="Text Box 3"/>
          <p:cNvSpPr txBox="1"/>
          <p:nvPr/>
        </p:nvSpPr>
        <p:spPr>
          <a:xfrm>
            <a:off x="2700338" y="714375"/>
            <a:ext cx="396081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6600CC"/>
                </a:solidFill>
                <a:ea typeface="经典细隶书简" pitchFamily="49" charset="-122"/>
              </a:rPr>
              <a:t>二  文件系统阶段</a:t>
            </a:r>
            <a:endParaRPr lang="zh-CN" altLang="en-US" sz="3600" b="0" dirty="0">
              <a:solidFill>
                <a:srgbClr val="6600CC"/>
              </a:solidFill>
              <a:ea typeface="经典细隶书简" pitchFamily="49" charset="-122"/>
            </a:endParaRPr>
          </a:p>
        </p:txBody>
      </p:sp>
      <p:sp>
        <p:nvSpPr>
          <p:cNvPr id="48133" name="Rectangle 4"/>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9155" name="Rectangle 2"/>
          <p:cNvSpPr>
            <a:spLocks noGrp="1"/>
          </p:cNvSpPr>
          <p:nvPr>
            <p:ph idx="1"/>
          </p:nvPr>
        </p:nvSpPr>
        <p:spPr>
          <a:xfrm>
            <a:off x="203200" y="838200"/>
            <a:ext cx="8839200" cy="5511800"/>
          </a:xfrm>
          <a:ln/>
        </p:spPr>
        <p:txBody>
          <a:bodyPr vert="horz" wrap="square" lIns="91440" tIns="45720" rIns="91440" bIns="45720" anchor="t" anchorCtr="0"/>
          <a:p>
            <a:pPr eaLnBrk="1" hangingPunct="1">
              <a:lnSpc>
                <a:spcPct val="110000"/>
              </a:lnSpc>
            </a:pPr>
            <a:r>
              <a:rPr lang="zh-CN" altLang="en-US" dirty="0"/>
              <a:t>特征</a:t>
            </a:r>
            <a:endParaRPr lang="zh-CN" altLang="en-US" dirty="0"/>
          </a:p>
          <a:p>
            <a:pPr lvl="1" eaLnBrk="1" hangingPunct="1">
              <a:lnSpc>
                <a:spcPct val="110000"/>
              </a:lnSpc>
            </a:pPr>
            <a:r>
              <a:rPr lang="zh-CN" altLang="en-US" b="0" dirty="0"/>
              <a:t>数据的管理者：文件系统，数据可长期保存</a:t>
            </a:r>
            <a:endParaRPr lang="zh-CN" altLang="en-US" b="0" dirty="0"/>
          </a:p>
          <a:p>
            <a:pPr lvl="1" eaLnBrk="1" hangingPunct="1">
              <a:lnSpc>
                <a:spcPct val="110000"/>
              </a:lnSpc>
            </a:pPr>
            <a:r>
              <a:rPr lang="zh-CN" altLang="en-US" b="0" dirty="0"/>
              <a:t>数据面向的对象：某一应用   </a:t>
            </a:r>
            <a:endParaRPr lang="zh-CN" altLang="en-US" b="0" dirty="0"/>
          </a:p>
          <a:p>
            <a:pPr lvl="1" eaLnBrk="1" hangingPunct="1">
              <a:lnSpc>
                <a:spcPct val="110000"/>
              </a:lnSpc>
            </a:pPr>
            <a:r>
              <a:rPr lang="zh-CN" altLang="en-US" b="0" dirty="0"/>
              <a:t>数据的共享程度：共享性差、冗余度大</a:t>
            </a:r>
            <a:endParaRPr lang="zh-CN" altLang="en-US" b="0" dirty="0"/>
          </a:p>
          <a:p>
            <a:pPr lvl="1" eaLnBrk="1" hangingPunct="1">
              <a:lnSpc>
                <a:spcPct val="110000"/>
              </a:lnSpc>
            </a:pPr>
            <a:r>
              <a:rPr lang="zh-CN" altLang="en-US" b="0" dirty="0"/>
              <a:t>数据的结构化：记录内有结构</a:t>
            </a:r>
            <a:r>
              <a:rPr lang="en-US" altLang="zh-CN" b="0" dirty="0"/>
              <a:t>,</a:t>
            </a:r>
            <a:r>
              <a:rPr lang="zh-CN" altLang="en-US" b="0" dirty="0"/>
              <a:t>整体无结构</a:t>
            </a:r>
            <a:endParaRPr lang="zh-CN" altLang="en-US" b="0" dirty="0"/>
          </a:p>
          <a:p>
            <a:pPr lvl="1" eaLnBrk="1" hangingPunct="1">
              <a:lnSpc>
                <a:spcPct val="110000"/>
              </a:lnSpc>
            </a:pPr>
            <a:r>
              <a:rPr lang="zh-CN" altLang="en-US" b="0" dirty="0"/>
              <a:t>数据的独立性：独立性差，数据的逻辑结构改变必须修改应用程序</a:t>
            </a:r>
            <a:endParaRPr lang="zh-CN" altLang="en-US" b="0" dirty="0"/>
          </a:p>
          <a:p>
            <a:pPr lvl="1" eaLnBrk="1" hangingPunct="1">
              <a:lnSpc>
                <a:spcPct val="110000"/>
              </a:lnSpc>
            </a:pPr>
            <a:r>
              <a:rPr lang="zh-CN" altLang="en-US" b="0" dirty="0"/>
              <a:t>数据控制能力：应用程序自己控制</a:t>
            </a:r>
            <a:endParaRPr lang="zh-CN" altLang="en-US" b="0" dirty="0"/>
          </a:p>
        </p:txBody>
      </p:sp>
      <p:sp>
        <p:nvSpPr>
          <p:cNvPr id="49156"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0179" name="Rectangle 2"/>
          <p:cNvSpPr>
            <a:spLocks noGrp="1"/>
          </p:cNvSpPr>
          <p:nvPr>
            <p:ph idx="1"/>
          </p:nvPr>
        </p:nvSpPr>
        <p:spPr>
          <a:xfrm>
            <a:off x="533400" y="838200"/>
            <a:ext cx="8229600" cy="5334000"/>
          </a:xfrm>
          <a:ln/>
        </p:spPr>
        <p:txBody>
          <a:bodyPr vert="horz" wrap="square" lIns="91440" tIns="45720" rIns="91440" bIns="45720" anchor="t" anchorCtr="0"/>
          <a:p>
            <a:pPr eaLnBrk="1" hangingPunct="1">
              <a:lnSpc>
                <a:spcPct val="105000"/>
              </a:lnSpc>
            </a:pPr>
            <a:r>
              <a:rPr lang="zh-CN" altLang="en-US" dirty="0"/>
              <a:t>存在的问题</a:t>
            </a:r>
            <a:endParaRPr lang="zh-CN" altLang="en-US" dirty="0"/>
          </a:p>
          <a:p>
            <a:pPr lvl="1" algn="just" eaLnBrk="1" hangingPunct="1">
              <a:lnSpc>
                <a:spcPct val="105000"/>
              </a:lnSpc>
            </a:pPr>
            <a:r>
              <a:rPr lang="zh-CN" altLang="en-US" sz="2400" dirty="0"/>
              <a:t>数据共享性差</a:t>
            </a:r>
            <a:endParaRPr lang="zh-CN" altLang="en-US" sz="2400" dirty="0"/>
          </a:p>
          <a:p>
            <a:pPr lvl="2" algn="just" eaLnBrk="1" hangingPunct="1">
              <a:lnSpc>
                <a:spcPct val="105000"/>
              </a:lnSpc>
              <a:buClr>
                <a:srgbClr val="6600CC"/>
              </a:buClr>
            </a:pPr>
            <a:r>
              <a:rPr lang="zh-CN" altLang="en-US" sz="2000" dirty="0"/>
              <a:t>数据面向应用，即使不同应用程序所需要的数据有部分相同时，也必须建立各自的文件，而不能共享相同的数据</a:t>
            </a:r>
            <a:endParaRPr lang="zh-CN" altLang="en-US" sz="2000" dirty="0"/>
          </a:p>
          <a:p>
            <a:pPr lvl="2" algn="just" eaLnBrk="1" hangingPunct="1">
              <a:lnSpc>
                <a:spcPct val="105000"/>
              </a:lnSpc>
              <a:buClr>
                <a:srgbClr val="6600CC"/>
              </a:buClr>
            </a:pPr>
            <a:r>
              <a:rPr lang="zh-CN" altLang="en-US" sz="2000" dirty="0"/>
              <a:t>数据分散管理，许多文件，许多数据格式</a:t>
            </a:r>
            <a:endParaRPr lang="zh-CN" altLang="en-US" sz="2000" dirty="0"/>
          </a:p>
          <a:p>
            <a:pPr lvl="1" algn="just" eaLnBrk="1" hangingPunct="1">
              <a:lnSpc>
                <a:spcPct val="105000"/>
              </a:lnSpc>
            </a:pPr>
            <a:r>
              <a:rPr lang="zh-CN" altLang="en-US" sz="2400" dirty="0"/>
              <a:t>数据冗余大，且存在数据不一致性</a:t>
            </a:r>
            <a:endParaRPr lang="zh-CN" altLang="en-US" sz="2400" dirty="0"/>
          </a:p>
          <a:p>
            <a:pPr lvl="2" algn="just" eaLnBrk="1" hangingPunct="1">
              <a:lnSpc>
                <a:spcPct val="105000"/>
              </a:lnSpc>
              <a:buClr>
                <a:srgbClr val="6600CC"/>
              </a:buClr>
            </a:pPr>
            <a:r>
              <a:rPr lang="zh-CN" altLang="en-US" sz="2000" dirty="0"/>
              <a:t>由于数据存在很多副本，给数据的修改与维护带来了困难，容易造成数据的不一致性</a:t>
            </a:r>
            <a:endParaRPr lang="zh-CN" altLang="en-US" sz="2000" dirty="0"/>
          </a:p>
          <a:p>
            <a:pPr lvl="1" eaLnBrk="1" hangingPunct="1">
              <a:lnSpc>
                <a:spcPct val="105000"/>
              </a:lnSpc>
            </a:pPr>
            <a:r>
              <a:rPr lang="zh-CN" altLang="en-US" sz="2400" dirty="0"/>
              <a:t>数据查询困难</a:t>
            </a:r>
            <a:endParaRPr lang="zh-CN" altLang="en-US" sz="2400" dirty="0"/>
          </a:p>
          <a:p>
            <a:pPr lvl="2" eaLnBrk="1" hangingPunct="1">
              <a:lnSpc>
                <a:spcPct val="105000"/>
              </a:lnSpc>
              <a:buClr>
                <a:srgbClr val="6600CC"/>
              </a:buClr>
            </a:pPr>
            <a:r>
              <a:rPr lang="zh-CN" altLang="en-US" sz="2000" dirty="0"/>
              <a:t>记录之间无联系</a:t>
            </a:r>
            <a:endParaRPr lang="zh-CN" altLang="en-US" sz="2000" dirty="0"/>
          </a:p>
          <a:p>
            <a:pPr lvl="2" eaLnBrk="1" hangingPunct="1">
              <a:lnSpc>
                <a:spcPct val="105000"/>
              </a:lnSpc>
              <a:buClr>
                <a:srgbClr val="6600CC"/>
              </a:buClr>
            </a:pPr>
            <a:r>
              <a:rPr lang="zh-CN" altLang="en-US" sz="2000" dirty="0"/>
              <a:t>应用自己编程实现</a:t>
            </a:r>
            <a:endParaRPr lang="zh-CN" altLang="en-US" sz="2000" dirty="0"/>
          </a:p>
          <a:p>
            <a:pPr lvl="2" eaLnBrk="1" hangingPunct="1">
              <a:lnSpc>
                <a:spcPct val="105000"/>
              </a:lnSpc>
              <a:buClr>
                <a:srgbClr val="6600CC"/>
              </a:buClr>
            </a:pPr>
            <a:r>
              <a:rPr lang="zh-CN" altLang="en-US" sz="2000" dirty="0"/>
              <a:t>对每个查询都重新编码</a:t>
            </a:r>
            <a:endParaRPr lang="zh-CN" altLang="en-US" sz="2000" dirty="0"/>
          </a:p>
          <a:p>
            <a:pPr lvl="1" eaLnBrk="1" hangingPunct="1">
              <a:lnSpc>
                <a:spcPct val="105000"/>
              </a:lnSpc>
            </a:pPr>
            <a:r>
              <a:rPr lang="zh-CN" altLang="en-US" sz="2400" dirty="0"/>
              <a:t>数据完整性难于保证</a:t>
            </a:r>
            <a:endParaRPr lang="zh-CN" altLang="en-US" sz="2400" dirty="0"/>
          </a:p>
        </p:txBody>
      </p:sp>
      <p:sp>
        <p:nvSpPr>
          <p:cNvPr id="50180"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03" name="Rectangle 2"/>
          <p:cNvSpPr>
            <a:spLocks noGrp="1"/>
          </p:cNvSpPr>
          <p:nvPr>
            <p:ph idx="1"/>
          </p:nvPr>
        </p:nvSpPr>
        <p:spPr>
          <a:xfrm>
            <a:off x="609600" y="990600"/>
            <a:ext cx="8001000" cy="5105400"/>
          </a:xfrm>
          <a:ln/>
        </p:spPr>
        <p:txBody>
          <a:bodyPr vert="horz" wrap="square" lIns="91440" tIns="45720" rIns="91440" bIns="45720" anchor="t" anchorCtr="0"/>
          <a:p>
            <a:pPr eaLnBrk="1" hangingPunct="1">
              <a:lnSpc>
                <a:spcPct val="90000"/>
              </a:lnSpc>
            </a:pPr>
            <a:r>
              <a:rPr lang="zh-CN" altLang="en-US" sz="3600" dirty="0"/>
              <a:t>存在的问题</a:t>
            </a:r>
            <a:r>
              <a:rPr lang="en-US" altLang="zh-CN" sz="3600" dirty="0"/>
              <a:t>(</a:t>
            </a:r>
            <a:r>
              <a:rPr lang="zh-CN" altLang="en-US" sz="3600" dirty="0"/>
              <a:t>续</a:t>
            </a:r>
            <a:r>
              <a:rPr lang="en-US" altLang="zh-CN" sz="3600" dirty="0"/>
              <a:t>)</a:t>
            </a:r>
            <a:endParaRPr lang="en-US" altLang="zh-CN" sz="3600" dirty="0"/>
          </a:p>
          <a:p>
            <a:pPr lvl="1" algn="just" eaLnBrk="1" hangingPunct="1">
              <a:lnSpc>
                <a:spcPct val="90000"/>
              </a:lnSpc>
            </a:pPr>
            <a:r>
              <a:rPr lang="zh-CN" altLang="en-US" dirty="0"/>
              <a:t>数据与程序的独立性差</a:t>
            </a:r>
            <a:endParaRPr lang="zh-CN" altLang="en-US" dirty="0"/>
          </a:p>
          <a:p>
            <a:pPr lvl="2" eaLnBrk="1" hangingPunct="1">
              <a:lnSpc>
                <a:spcPct val="90000"/>
              </a:lnSpc>
            </a:pPr>
            <a:r>
              <a:rPr lang="zh-CN" altLang="en-US" dirty="0"/>
              <a:t>文件系统的出现并没有从根本上改变数据与程序紧密结合的状况，数据的逻辑结构改变则必须修改应用程序</a:t>
            </a:r>
            <a:endParaRPr lang="zh-CN" altLang="en-US" dirty="0"/>
          </a:p>
          <a:p>
            <a:pPr lvl="2" eaLnBrk="1" hangingPunct="1">
              <a:lnSpc>
                <a:spcPct val="90000"/>
              </a:lnSpc>
            </a:pPr>
            <a:r>
              <a:rPr lang="zh-CN" altLang="en-US" dirty="0"/>
              <a:t>文件系统只是解脱了程序员对物理设备存取的负担，它并不理解数据的语义，只负责存储</a:t>
            </a:r>
            <a:endParaRPr lang="zh-CN" altLang="en-US" dirty="0"/>
          </a:p>
          <a:p>
            <a:pPr lvl="2" eaLnBrk="1" hangingPunct="1">
              <a:lnSpc>
                <a:spcPct val="90000"/>
              </a:lnSpc>
            </a:pPr>
            <a:r>
              <a:rPr lang="zh-CN" altLang="en-US" sz="2000" dirty="0"/>
              <a:t>数据的语义信息只能由程序来解释，也就是说，数据收集以后怎么组织，以及数据取出来之后按什么含义应用，只有全权管理它的程序知道。</a:t>
            </a:r>
            <a:endParaRPr lang="zh-CN" altLang="en-US" sz="2000" dirty="0"/>
          </a:p>
          <a:p>
            <a:pPr lvl="2" eaLnBrk="1" hangingPunct="1">
              <a:lnSpc>
                <a:spcPct val="90000"/>
              </a:lnSpc>
            </a:pPr>
            <a:r>
              <a:rPr lang="zh-CN" altLang="en-US" sz="2000" dirty="0"/>
              <a:t>一个应用若想共享另一个应用生成的数据，必须同另一个应用沟通，了解数据的语义与组织方式</a:t>
            </a:r>
            <a:endParaRPr lang="zh-CN" altLang="en-US" sz="2000" dirty="0"/>
          </a:p>
          <a:p>
            <a:pPr lvl="1" algn="just" eaLnBrk="1" hangingPunct="1">
              <a:lnSpc>
                <a:spcPct val="90000"/>
              </a:lnSpc>
            </a:pPr>
            <a:r>
              <a:rPr lang="zh-CN" altLang="en-US" dirty="0"/>
              <a:t>不能表示数据间联系</a:t>
            </a:r>
            <a:endParaRPr lang="zh-CN" altLang="en-US" dirty="0"/>
          </a:p>
          <a:p>
            <a:pPr lvl="2" eaLnBrk="1" hangingPunct="1">
              <a:lnSpc>
                <a:spcPct val="90000"/>
              </a:lnSpc>
            </a:pPr>
            <a:endParaRPr lang="zh-CN" altLang="en-US" sz="2800" dirty="0">
              <a:ea typeface="宋体" panose="02010600030101010101" pitchFamily="2" charset="-122"/>
            </a:endParaRPr>
          </a:p>
        </p:txBody>
      </p:sp>
      <p:sp>
        <p:nvSpPr>
          <p:cNvPr id="51204"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pic>
        <p:nvPicPr>
          <p:cNvPr id="52227" name="Picture 2" descr="j0196322"/>
          <p:cNvPicPr>
            <a:picLocks noChangeAspect="1"/>
          </p:cNvPicPr>
          <p:nvPr/>
        </p:nvPicPr>
        <p:blipFill>
          <a:blip r:embed="rId1"/>
          <a:stretch>
            <a:fillRect/>
          </a:stretch>
        </p:blipFill>
        <p:spPr>
          <a:xfrm>
            <a:off x="1314450" y="1247775"/>
            <a:ext cx="1443038" cy="1409700"/>
          </a:xfrm>
          <a:prstGeom prst="rect">
            <a:avLst/>
          </a:prstGeom>
          <a:noFill/>
          <a:ln w="9525">
            <a:noFill/>
          </a:ln>
        </p:spPr>
      </p:pic>
      <p:pic>
        <p:nvPicPr>
          <p:cNvPr id="52228" name="Picture 3" descr="j0196322"/>
          <p:cNvPicPr>
            <a:picLocks noChangeAspect="1"/>
          </p:cNvPicPr>
          <p:nvPr/>
        </p:nvPicPr>
        <p:blipFill>
          <a:blip r:embed="rId1"/>
          <a:stretch>
            <a:fillRect/>
          </a:stretch>
        </p:blipFill>
        <p:spPr>
          <a:xfrm>
            <a:off x="1319213" y="2884488"/>
            <a:ext cx="1443037" cy="1411287"/>
          </a:xfrm>
          <a:prstGeom prst="rect">
            <a:avLst/>
          </a:prstGeom>
          <a:noFill/>
          <a:ln w="9525">
            <a:noFill/>
          </a:ln>
        </p:spPr>
      </p:pic>
      <p:sp>
        <p:nvSpPr>
          <p:cNvPr id="52229" name="AutoShape 4"/>
          <p:cNvSpPr/>
          <p:nvPr/>
        </p:nvSpPr>
        <p:spPr>
          <a:xfrm rot="2400000">
            <a:off x="2895600" y="2209800"/>
            <a:ext cx="1447800" cy="533400"/>
          </a:xfrm>
          <a:prstGeom prst="leftRightArrow">
            <a:avLst>
              <a:gd name="adj1" fmla="val 50000"/>
              <a:gd name="adj2" fmla="val 54285"/>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2230" name="AutoShape 5"/>
          <p:cNvSpPr/>
          <p:nvPr/>
        </p:nvSpPr>
        <p:spPr>
          <a:xfrm>
            <a:off x="2914650" y="3305175"/>
            <a:ext cx="990600" cy="533400"/>
          </a:xfrm>
          <a:prstGeom prst="leftRightArrow">
            <a:avLst>
              <a:gd name="adj1" fmla="val 50000"/>
              <a:gd name="adj2" fmla="val 37142"/>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2231" name="AutoShape 6"/>
          <p:cNvSpPr/>
          <p:nvPr/>
        </p:nvSpPr>
        <p:spPr>
          <a:xfrm rot="-2400000">
            <a:off x="2963863" y="4449763"/>
            <a:ext cx="1524000" cy="533400"/>
          </a:xfrm>
          <a:prstGeom prst="leftRightArrow">
            <a:avLst>
              <a:gd name="adj1" fmla="val 50000"/>
              <a:gd name="adj2" fmla="val 57142"/>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2232" name="Rectangle 7"/>
          <p:cNvSpPr/>
          <p:nvPr/>
        </p:nvSpPr>
        <p:spPr>
          <a:xfrm>
            <a:off x="4133850" y="3132138"/>
            <a:ext cx="2022475" cy="650875"/>
          </a:xfrm>
          <a:prstGeom prst="rect">
            <a:avLst/>
          </a:prstGeom>
          <a:gradFill rotWithShape="0">
            <a:gsLst>
              <a:gs pos="0">
                <a:srgbClr val="03D4A8">
                  <a:alpha val="100000"/>
                </a:srgbClr>
              </a:gs>
              <a:gs pos="25000">
                <a:srgbClr val="21D6E0">
                  <a:alpha val="100000"/>
                </a:srgbClr>
              </a:gs>
              <a:gs pos="75000">
                <a:srgbClr val="0087E6">
                  <a:alpha val="100000"/>
                </a:srgbClr>
              </a:gs>
              <a:gs pos="100000">
                <a:srgbClr val="005CBF">
                  <a:alpha val="100000"/>
                </a:srgbClr>
              </a:gs>
            </a:gsLst>
            <a:lin ang="2700000" scaled="1"/>
            <a:tileRect/>
          </a:gra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3600" b="0" dirty="0">
                <a:solidFill>
                  <a:schemeClr val="tx1"/>
                </a:solidFill>
                <a:ea typeface="华文隶书" panose="02010800040101010101" pitchFamily="2" charset="-122"/>
              </a:rPr>
              <a:t>存取方式</a:t>
            </a:r>
            <a:endParaRPr lang="zh-CN" altLang="en-US" sz="3600" b="0" dirty="0">
              <a:solidFill>
                <a:schemeClr val="tx1"/>
              </a:solidFill>
              <a:ea typeface="华文隶书" panose="02010800040101010101" pitchFamily="2" charset="-122"/>
            </a:endParaRPr>
          </a:p>
        </p:txBody>
      </p:sp>
      <p:sp>
        <p:nvSpPr>
          <p:cNvPr id="52233" name="AutoShape 8"/>
          <p:cNvSpPr/>
          <p:nvPr/>
        </p:nvSpPr>
        <p:spPr>
          <a:xfrm rot="-2400000">
            <a:off x="5734050" y="2238375"/>
            <a:ext cx="1524000" cy="533400"/>
          </a:xfrm>
          <a:prstGeom prst="leftRightArrow">
            <a:avLst>
              <a:gd name="adj1" fmla="val 50000"/>
              <a:gd name="adj2" fmla="val 57142"/>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2234" name="AutoShape 9"/>
          <p:cNvSpPr/>
          <p:nvPr/>
        </p:nvSpPr>
        <p:spPr>
          <a:xfrm rot="2400000">
            <a:off x="5810250" y="4371975"/>
            <a:ext cx="1447800" cy="533400"/>
          </a:xfrm>
          <a:prstGeom prst="leftRightArrow">
            <a:avLst>
              <a:gd name="adj1" fmla="val 50000"/>
              <a:gd name="adj2" fmla="val 54285"/>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2235" name="AutoShape 10"/>
          <p:cNvSpPr/>
          <p:nvPr/>
        </p:nvSpPr>
        <p:spPr>
          <a:xfrm>
            <a:off x="6343650" y="3305175"/>
            <a:ext cx="990600" cy="533400"/>
          </a:xfrm>
          <a:prstGeom prst="leftRightArrow">
            <a:avLst>
              <a:gd name="adj1" fmla="val 50000"/>
              <a:gd name="adj2" fmla="val 37142"/>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2236" name="Rectangle 11"/>
          <p:cNvSpPr/>
          <p:nvPr/>
        </p:nvSpPr>
        <p:spPr>
          <a:xfrm>
            <a:off x="504825" y="1824038"/>
            <a:ext cx="914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程序</a:t>
            </a:r>
            <a:r>
              <a:rPr lang="en-US" altLang="zh-CN" sz="2400" b="0" dirty="0">
                <a:solidFill>
                  <a:schemeClr val="tx1"/>
                </a:solidFill>
                <a:latin typeface="华文新魏" panose="02010800040101010101" pitchFamily="2" charset="-122"/>
                <a:ea typeface="华文新魏" panose="02010800040101010101" pitchFamily="2" charset="-122"/>
              </a:rPr>
              <a:t>1</a:t>
            </a:r>
            <a:endParaRPr lang="en-US" altLang="zh-CN" sz="2400" b="0" dirty="0">
              <a:solidFill>
                <a:schemeClr val="tx1"/>
              </a:solidFill>
              <a:latin typeface="华文新魏" panose="02010800040101010101" pitchFamily="2" charset="-122"/>
              <a:ea typeface="华文新魏" panose="02010800040101010101" pitchFamily="2" charset="-122"/>
            </a:endParaRPr>
          </a:p>
        </p:txBody>
      </p:sp>
      <p:sp>
        <p:nvSpPr>
          <p:cNvPr id="52237" name="Rectangle 12"/>
          <p:cNvSpPr/>
          <p:nvPr/>
        </p:nvSpPr>
        <p:spPr>
          <a:xfrm>
            <a:off x="509588" y="3457575"/>
            <a:ext cx="9667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程序</a:t>
            </a:r>
            <a:r>
              <a:rPr lang="en-US" altLang="zh-CN" sz="2400" b="0" dirty="0">
                <a:solidFill>
                  <a:schemeClr val="tx1"/>
                </a:solidFill>
                <a:latin typeface="华文新魏" panose="02010800040101010101" pitchFamily="2" charset="-122"/>
                <a:ea typeface="华文新魏" panose="02010800040101010101" pitchFamily="2" charset="-122"/>
              </a:rPr>
              <a:t>2</a:t>
            </a:r>
            <a:endParaRPr lang="en-US" altLang="zh-CN" sz="2400" b="0" dirty="0">
              <a:solidFill>
                <a:schemeClr val="tx1"/>
              </a:solidFill>
              <a:latin typeface="华文新魏" panose="02010800040101010101" pitchFamily="2" charset="-122"/>
              <a:ea typeface="华文新魏" panose="02010800040101010101" pitchFamily="2" charset="-122"/>
            </a:endParaRPr>
          </a:p>
        </p:txBody>
      </p:sp>
      <p:sp>
        <p:nvSpPr>
          <p:cNvPr id="52238" name="Rectangle 13"/>
          <p:cNvSpPr/>
          <p:nvPr/>
        </p:nvSpPr>
        <p:spPr>
          <a:xfrm>
            <a:off x="533400" y="5105400"/>
            <a:ext cx="9652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程序</a:t>
            </a:r>
            <a:r>
              <a:rPr lang="en-US" altLang="zh-CN" sz="2400" b="0" dirty="0">
                <a:solidFill>
                  <a:schemeClr val="tx1"/>
                </a:solidFill>
                <a:latin typeface="华文新魏" panose="02010800040101010101" pitchFamily="2" charset="-122"/>
                <a:ea typeface="华文新魏" panose="02010800040101010101" pitchFamily="2" charset="-122"/>
              </a:rPr>
              <a:t>n</a:t>
            </a:r>
            <a:endParaRPr lang="en-US" altLang="zh-CN" sz="2400" b="0" dirty="0">
              <a:solidFill>
                <a:schemeClr val="tx1"/>
              </a:solidFill>
              <a:latin typeface="华文新魏" panose="02010800040101010101" pitchFamily="2" charset="-122"/>
              <a:ea typeface="华文新魏" panose="02010800040101010101" pitchFamily="2" charset="-122"/>
            </a:endParaRPr>
          </a:p>
        </p:txBody>
      </p:sp>
      <p:sp>
        <p:nvSpPr>
          <p:cNvPr id="52239" name="AutoShape 14"/>
          <p:cNvSpPr/>
          <p:nvPr/>
        </p:nvSpPr>
        <p:spPr>
          <a:xfrm>
            <a:off x="7562850" y="3076575"/>
            <a:ext cx="990600" cy="838200"/>
          </a:xfrm>
          <a:prstGeom prst="can">
            <a:avLst>
              <a:gd name="adj" fmla="val 35227"/>
            </a:avLst>
          </a:prstGeom>
          <a:gradFill rotWithShape="0">
            <a:gsLst>
              <a:gs pos="0">
                <a:srgbClr val="3399FF"/>
              </a:gs>
              <a:gs pos="50000">
                <a:srgbClr val="0066FF"/>
              </a:gs>
              <a:gs pos="100000">
                <a:srgbClr val="3399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bg1"/>
                </a:solidFill>
                <a:latin typeface="华文新魏" panose="02010800040101010101" pitchFamily="2" charset="-122"/>
                <a:ea typeface="华文新魏" panose="02010800040101010101" pitchFamily="2" charset="-122"/>
              </a:rPr>
              <a:t>数据</a:t>
            </a:r>
            <a:r>
              <a:rPr lang="en-US" altLang="zh-CN" sz="2400" b="0" dirty="0">
                <a:solidFill>
                  <a:schemeClr val="bg1"/>
                </a:solidFill>
                <a:latin typeface="华文新魏" panose="02010800040101010101" pitchFamily="2" charset="-122"/>
                <a:ea typeface="华文新魏" panose="02010800040101010101" pitchFamily="2" charset="-122"/>
              </a:rPr>
              <a:t>2</a:t>
            </a:r>
            <a:endParaRPr lang="en-US" altLang="zh-CN" sz="2400" b="0" dirty="0">
              <a:solidFill>
                <a:schemeClr val="bg1"/>
              </a:solidFill>
              <a:latin typeface="Tahoma" panose="020B0604030504040204" pitchFamily="34" charset="0"/>
              <a:ea typeface="华文新魏" panose="02010800040101010101" pitchFamily="2" charset="-122"/>
            </a:endParaRPr>
          </a:p>
        </p:txBody>
      </p:sp>
      <p:sp>
        <p:nvSpPr>
          <p:cNvPr id="52240" name="AutoShape 15"/>
          <p:cNvSpPr/>
          <p:nvPr/>
        </p:nvSpPr>
        <p:spPr>
          <a:xfrm>
            <a:off x="7562850" y="1552575"/>
            <a:ext cx="990600" cy="838200"/>
          </a:xfrm>
          <a:prstGeom prst="can">
            <a:avLst>
              <a:gd name="adj" fmla="val 35227"/>
            </a:avLst>
          </a:prstGeom>
          <a:gradFill rotWithShape="0">
            <a:gsLst>
              <a:gs pos="0">
                <a:srgbClr val="3399FF"/>
              </a:gs>
              <a:gs pos="50000">
                <a:srgbClr val="0066FF"/>
              </a:gs>
              <a:gs pos="100000">
                <a:srgbClr val="3399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bg1"/>
                </a:solidFill>
                <a:latin typeface="华文新魏" panose="02010800040101010101" pitchFamily="2" charset="-122"/>
                <a:ea typeface="华文新魏" panose="02010800040101010101" pitchFamily="2" charset="-122"/>
              </a:rPr>
              <a:t>数据</a:t>
            </a:r>
            <a:r>
              <a:rPr lang="en-US" altLang="zh-CN" sz="2400" b="0" dirty="0">
                <a:solidFill>
                  <a:schemeClr val="bg1"/>
                </a:solidFill>
                <a:latin typeface="华文新魏" panose="02010800040101010101" pitchFamily="2" charset="-122"/>
                <a:ea typeface="华文新魏" panose="02010800040101010101" pitchFamily="2" charset="-122"/>
              </a:rPr>
              <a:t>1</a:t>
            </a:r>
            <a:endParaRPr lang="en-US" altLang="zh-CN" sz="2400" b="0" dirty="0">
              <a:solidFill>
                <a:schemeClr val="bg1"/>
              </a:solidFill>
              <a:latin typeface="Tahoma" panose="020B0604030504040204" pitchFamily="34" charset="0"/>
              <a:ea typeface="华文新魏" panose="02010800040101010101" pitchFamily="2" charset="-122"/>
            </a:endParaRPr>
          </a:p>
        </p:txBody>
      </p:sp>
      <p:sp>
        <p:nvSpPr>
          <p:cNvPr id="52241" name="AutoShape 16"/>
          <p:cNvSpPr/>
          <p:nvPr/>
        </p:nvSpPr>
        <p:spPr>
          <a:xfrm>
            <a:off x="7562850" y="4651375"/>
            <a:ext cx="990600" cy="838200"/>
          </a:xfrm>
          <a:prstGeom prst="can">
            <a:avLst>
              <a:gd name="adj" fmla="val 35227"/>
            </a:avLst>
          </a:prstGeom>
          <a:gradFill rotWithShape="0">
            <a:gsLst>
              <a:gs pos="0">
                <a:srgbClr val="3399FF"/>
              </a:gs>
              <a:gs pos="50000">
                <a:srgbClr val="0066FF"/>
              </a:gs>
              <a:gs pos="100000">
                <a:srgbClr val="3399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bg1"/>
                </a:solidFill>
                <a:latin typeface="华文新魏" panose="02010800040101010101" pitchFamily="2" charset="-122"/>
                <a:ea typeface="华文新魏" panose="02010800040101010101" pitchFamily="2" charset="-122"/>
              </a:rPr>
              <a:t>数据</a:t>
            </a:r>
            <a:r>
              <a:rPr lang="en-US" altLang="zh-CN" sz="2400" b="0" dirty="0">
                <a:solidFill>
                  <a:schemeClr val="bg1"/>
                </a:solidFill>
                <a:latin typeface="华文新魏" panose="02010800040101010101" pitchFamily="2" charset="-122"/>
                <a:ea typeface="华文新魏" panose="02010800040101010101" pitchFamily="2" charset="-122"/>
              </a:rPr>
              <a:t>n</a:t>
            </a:r>
            <a:endParaRPr lang="en-US" altLang="zh-CN" sz="2400" b="0" dirty="0">
              <a:solidFill>
                <a:schemeClr val="bg1"/>
              </a:solidFill>
              <a:latin typeface="Tahoma" panose="020B0604030504040204" pitchFamily="34" charset="0"/>
              <a:ea typeface="华文新魏" panose="02010800040101010101" pitchFamily="2" charset="-122"/>
            </a:endParaRPr>
          </a:p>
        </p:txBody>
      </p:sp>
      <p:sp>
        <p:nvSpPr>
          <p:cNvPr id="52242" name="Text Box 17"/>
          <p:cNvSpPr txBox="1"/>
          <p:nvPr/>
        </p:nvSpPr>
        <p:spPr>
          <a:xfrm>
            <a:off x="3276600" y="838200"/>
            <a:ext cx="29273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6600CC"/>
                </a:solidFill>
                <a:ea typeface="经典细隶书简" pitchFamily="49" charset="-122"/>
              </a:rPr>
              <a:t>文件系统阶段</a:t>
            </a:r>
            <a:endParaRPr lang="zh-CN" altLang="en-US" sz="3600" b="0" dirty="0">
              <a:solidFill>
                <a:srgbClr val="6600CC"/>
              </a:solidFill>
              <a:ea typeface="经典细隶书简" pitchFamily="49" charset="-122"/>
            </a:endParaRPr>
          </a:p>
        </p:txBody>
      </p:sp>
      <p:pic>
        <p:nvPicPr>
          <p:cNvPr id="52243" name="Picture 18" descr="j0196322"/>
          <p:cNvPicPr>
            <a:picLocks noChangeAspect="1"/>
          </p:cNvPicPr>
          <p:nvPr/>
        </p:nvPicPr>
        <p:blipFill>
          <a:blip r:embed="rId1"/>
          <a:stretch>
            <a:fillRect/>
          </a:stretch>
        </p:blipFill>
        <p:spPr>
          <a:xfrm>
            <a:off x="1447800" y="4572000"/>
            <a:ext cx="1366838" cy="1336675"/>
          </a:xfrm>
          <a:prstGeom prst="rect">
            <a:avLst/>
          </a:prstGeom>
          <a:noFill/>
          <a:ln w="9525">
            <a:noFill/>
          </a:ln>
        </p:spPr>
      </p:pic>
      <p:sp>
        <p:nvSpPr>
          <p:cNvPr id="52244" name="Rectangle 19"/>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3251" name="Rectangle 2"/>
          <p:cNvSpPr>
            <a:spLocks noGrp="1"/>
          </p:cNvSpPr>
          <p:nvPr>
            <p:ph idx="1"/>
          </p:nvPr>
        </p:nvSpPr>
        <p:spPr>
          <a:xfrm>
            <a:off x="685800" y="1524000"/>
            <a:ext cx="7772400" cy="4343400"/>
          </a:xfrm>
          <a:ln/>
        </p:spPr>
        <p:txBody>
          <a:bodyPr vert="horz" wrap="square" lIns="91440" tIns="45720" rIns="91440" bIns="45720" anchor="t" anchorCtr="0"/>
          <a:p>
            <a:pPr eaLnBrk="1" hangingPunct="1"/>
            <a:r>
              <a:rPr lang="zh-CN" altLang="en-US" sz="2800" dirty="0"/>
              <a:t>背景</a:t>
            </a:r>
            <a:endParaRPr lang="zh-CN" altLang="en-US" sz="2800" dirty="0">
              <a:ea typeface="仿宋_GB2312" pitchFamily="49" charset="-122"/>
            </a:endParaRPr>
          </a:p>
          <a:p>
            <a:pPr lvl="1" eaLnBrk="1" hangingPunct="1">
              <a:lnSpc>
                <a:spcPct val="110000"/>
              </a:lnSpc>
            </a:pPr>
            <a:r>
              <a:rPr lang="zh-CN" altLang="en-US" dirty="0">
                <a:latin typeface="仿宋_GB2312" pitchFamily="49" charset="-122"/>
              </a:rPr>
              <a:t>计算机管理的数据量大，关系复杂，共享性要求强（多种应用、不同语言共享数据）</a:t>
            </a:r>
            <a:endParaRPr lang="zh-CN" altLang="en-US" dirty="0">
              <a:latin typeface="仿宋_GB2312" pitchFamily="49" charset="-122"/>
            </a:endParaRPr>
          </a:p>
          <a:p>
            <a:pPr lvl="1" eaLnBrk="1" hangingPunct="1">
              <a:lnSpc>
                <a:spcPct val="110000"/>
              </a:lnSpc>
            </a:pPr>
            <a:r>
              <a:rPr lang="zh-CN" altLang="en-US" dirty="0">
                <a:latin typeface="仿宋_GB2312" pitchFamily="49" charset="-122"/>
              </a:rPr>
              <a:t>外存有了大容量磁盘，光盘</a:t>
            </a:r>
            <a:endParaRPr lang="zh-CN" altLang="en-US" dirty="0"/>
          </a:p>
          <a:p>
            <a:pPr lvl="1" eaLnBrk="1" hangingPunct="1">
              <a:lnSpc>
                <a:spcPct val="110000"/>
              </a:lnSpc>
            </a:pPr>
            <a:r>
              <a:rPr lang="zh-CN" altLang="en-US" dirty="0">
                <a:latin typeface="仿宋_GB2312" pitchFamily="49" charset="-122"/>
              </a:rPr>
              <a:t>软件价格上升，硬件价格下降，编制和维护软件及应用程序成本相对增加，其中维护的成本更高，力求降低</a:t>
            </a:r>
            <a:endParaRPr lang="zh-CN" altLang="en-US" dirty="0">
              <a:latin typeface="仿宋_GB2312" pitchFamily="49" charset="-122"/>
            </a:endParaRPr>
          </a:p>
        </p:txBody>
      </p:sp>
      <p:sp>
        <p:nvSpPr>
          <p:cNvPr id="53252" name="Text Box 3"/>
          <p:cNvSpPr txBox="1"/>
          <p:nvPr/>
        </p:nvSpPr>
        <p:spPr>
          <a:xfrm>
            <a:off x="2411413" y="714375"/>
            <a:ext cx="4630737"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6600CC"/>
                </a:solidFill>
                <a:ea typeface="经典细隶书简" pitchFamily="49" charset="-122"/>
              </a:rPr>
              <a:t>三  数据库系统阶段</a:t>
            </a:r>
            <a:endParaRPr lang="zh-CN" altLang="en-US" sz="3600" b="0" dirty="0">
              <a:solidFill>
                <a:srgbClr val="6600CC"/>
              </a:solidFill>
              <a:ea typeface="经典细隶书简" pitchFamily="49" charset="-122"/>
            </a:endParaRPr>
          </a:p>
        </p:txBody>
      </p:sp>
      <p:sp>
        <p:nvSpPr>
          <p:cNvPr id="53253" name="Rectangle 4"/>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4275" name="Rectangle 2"/>
          <p:cNvSpPr>
            <a:spLocks noGrp="1"/>
          </p:cNvSpPr>
          <p:nvPr>
            <p:ph idx="1"/>
          </p:nvPr>
        </p:nvSpPr>
        <p:spPr>
          <a:xfrm>
            <a:off x="685800" y="914400"/>
            <a:ext cx="7924800" cy="5562600"/>
          </a:xfrm>
          <a:ln/>
        </p:spPr>
        <p:txBody>
          <a:bodyPr vert="horz" wrap="square" lIns="91440" tIns="45720" rIns="91440" bIns="45720" anchor="t" anchorCtr="0"/>
          <a:p>
            <a:pPr eaLnBrk="1" hangingPunct="1">
              <a:lnSpc>
                <a:spcPct val="90000"/>
              </a:lnSpc>
              <a:buClr>
                <a:srgbClr val="FF0000"/>
              </a:buClr>
            </a:pPr>
            <a:r>
              <a:rPr lang="zh-CN" altLang="en-US" dirty="0"/>
              <a:t>特征</a:t>
            </a:r>
            <a:endParaRPr lang="zh-CN" altLang="en-US" dirty="0"/>
          </a:p>
          <a:p>
            <a:pPr lvl="1" eaLnBrk="1" hangingPunct="1">
              <a:lnSpc>
                <a:spcPct val="90000"/>
              </a:lnSpc>
            </a:pPr>
            <a:r>
              <a:rPr lang="zh-CN" altLang="en-US" dirty="0">
                <a:latin typeface="华文新魏" panose="02010800040101010101" pitchFamily="2" charset="-122"/>
              </a:rPr>
              <a:t>应用更广</a:t>
            </a:r>
            <a:r>
              <a:rPr lang="en-US" altLang="zh-CN" dirty="0">
                <a:latin typeface="华文新魏" panose="02010800040101010101" pitchFamily="2" charset="-122"/>
              </a:rPr>
              <a:t>(</a:t>
            </a:r>
            <a:r>
              <a:rPr lang="zh-CN" altLang="en-US" dirty="0">
                <a:latin typeface="华文新魏" panose="02010800040101010101" pitchFamily="2" charset="-122"/>
              </a:rPr>
              <a:t>联机，分布，共享</a:t>
            </a:r>
            <a:r>
              <a:rPr lang="en-US" altLang="zh-CN" dirty="0">
                <a:latin typeface="华文新魏" panose="02010800040101010101" pitchFamily="2" charset="-122"/>
              </a:rPr>
              <a:t>)</a:t>
            </a:r>
            <a:endParaRPr lang="en-US" altLang="zh-CN" dirty="0">
              <a:latin typeface="华文新魏" panose="02010800040101010101" pitchFamily="2" charset="-122"/>
            </a:endParaRPr>
          </a:p>
          <a:p>
            <a:pPr lvl="1" eaLnBrk="1" hangingPunct="1">
              <a:lnSpc>
                <a:spcPct val="90000"/>
              </a:lnSpc>
            </a:pPr>
            <a:r>
              <a:rPr lang="zh-CN" altLang="en-US" dirty="0">
                <a:latin typeface="华文新魏" panose="02010800040101010101" pitchFamily="2" charset="-122"/>
              </a:rPr>
              <a:t>大容量磁盘</a:t>
            </a:r>
            <a:endParaRPr lang="zh-CN" altLang="en-US" dirty="0">
              <a:latin typeface="华文新魏" panose="02010800040101010101" pitchFamily="2" charset="-122"/>
            </a:endParaRPr>
          </a:p>
          <a:p>
            <a:pPr lvl="1" eaLnBrk="1" hangingPunct="1">
              <a:lnSpc>
                <a:spcPct val="90000"/>
              </a:lnSpc>
            </a:pPr>
            <a:r>
              <a:rPr lang="zh-CN" altLang="en-US" dirty="0">
                <a:latin typeface="华文新魏" panose="02010800040101010101" pitchFamily="2" charset="-122"/>
              </a:rPr>
              <a:t>数据长期保存</a:t>
            </a:r>
            <a:endParaRPr lang="zh-CN" altLang="en-US" dirty="0">
              <a:latin typeface="华文新魏" panose="02010800040101010101" pitchFamily="2" charset="-122"/>
            </a:endParaRPr>
          </a:p>
          <a:p>
            <a:pPr lvl="1" eaLnBrk="1" hangingPunct="1">
              <a:lnSpc>
                <a:spcPct val="90000"/>
              </a:lnSpc>
            </a:pPr>
            <a:r>
              <a:rPr lang="zh-CN" altLang="en-US" dirty="0">
                <a:latin typeface="华文新魏" panose="02010800040101010101" pitchFamily="2" charset="-122"/>
              </a:rPr>
              <a:t>集中数据管理软件</a:t>
            </a:r>
            <a:r>
              <a:rPr lang="en-US" altLang="zh-CN" dirty="0">
                <a:latin typeface="华文新魏" panose="02010800040101010101" pitchFamily="2" charset="-122"/>
              </a:rPr>
              <a:t>(DBMS)</a:t>
            </a:r>
            <a:endParaRPr lang="en-US" altLang="zh-CN" dirty="0">
              <a:latin typeface="华文新魏" panose="02010800040101010101" pitchFamily="2" charset="-122"/>
            </a:endParaRPr>
          </a:p>
          <a:p>
            <a:pPr lvl="1" eaLnBrk="1" hangingPunct="1">
              <a:lnSpc>
                <a:spcPct val="90000"/>
              </a:lnSpc>
            </a:pPr>
            <a:r>
              <a:rPr lang="zh-CN" altLang="en-US" dirty="0"/>
              <a:t>数据的冗余度小，易扩充</a:t>
            </a:r>
            <a:endParaRPr lang="zh-CN" altLang="en-US" dirty="0"/>
          </a:p>
          <a:p>
            <a:pPr lvl="2" eaLnBrk="1" hangingPunct="1">
              <a:lnSpc>
                <a:spcPct val="90000"/>
              </a:lnSpc>
            </a:pPr>
            <a:r>
              <a:rPr lang="zh-CN" altLang="en-US" dirty="0"/>
              <a:t>数据面向整个系统，而不是面向某一应用，数据集中管理，数据共享，因此冗余度小</a:t>
            </a:r>
            <a:endParaRPr lang="zh-CN" altLang="en-US" dirty="0"/>
          </a:p>
          <a:p>
            <a:pPr lvl="2" eaLnBrk="1" hangingPunct="1">
              <a:lnSpc>
                <a:spcPct val="90000"/>
              </a:lnSpc>
            </a:pPr>
            <a:r>
              <a:rPr lang="zh-CN" altLang="en-US" dirty="0"/>
              <a:t>节省存储空间，减少存取时间，且可避免数据之间的不相容性和不一致性</a:t>
            </a:r>
            <a:endParaRPr lang="zh-CN" altLang="en-US" dirty="0"/>
          </a:p>
          <a:p>
            <a:pPr lvl="2" eaLnBrk="1" hangingPunct="1">
              <a:lnSpc>
                <a:spcPct val="90000"/>
              </a:lnSpc>
            </a:pPr>
            <a:r>
              <a:rPr lang="zh-CN" altLang="en-US" dirty="0"/>
              <a:t>每个应用选用数据库的一个子集，只要重新选取不同子集或者加上一小部分数据，就可以满足新的应用要求，这就是易扩充性</a:t>
            </a:r>
            <a:endParaRPr lang="zh-CN" altLang="en-US" dirty="0"/>
          </a:p>
          <a:p>
            <a:pPr lvl="1" eaLnBrk="1" hangingPunct="1">
              <a:lnSpc>
                <a:spcPct val="90000"/>
              </a:lnSpc>
            </a:pPr>
            <a:endParaRPr lang="zh-CN" altLang="en-US" dirty="0">
              <a:latin typeface="华文新魏" panose="02010800040101010101" pitchFamily="2" charset="-122"/>
            </a:endParaRPr>
          </a:p>
          <a:p>
            <a:pPr lvl="1" eaLnBrk="1" hangingPunct="1">
              <a:lnSpc>
                <a:spcPct val="90000"/>
              </a:lnSpc>
              <a:buNone/>
            </a:pPr>
            <a:endParaRPr lang="zh-CN" altLang="en-US" dirty="0">
              <a:latin typeface="华文新魏" panose="02010800040101010101" pitchFamily="2" charset="-122"/>
            </a:endParaRPr>
          </a:p>
        </p:txBody>
      </p:sp>
      <p:sp>
        <p:nvSpPr>
          <p:cNvPr id="54276"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5299" name="Rectangle 2"/>
          <p:cNvSpPr>
            <a:spLocks noGrp="1"/>
          </p:cNvSpPr>
          <p:nvPr>
            <p:ph idx="1"/>
          </p:nvPr>
        </p:nvSpPr>
        <p:spPr>
          <a:xfrm>
            <a:off x="304800" y="914400"/>
            <a:ext cx="8610600" cy="5295900"/>
          </a:xfrm>
          <a:ln/>
        </p:spPr>
        <p:txBody>
          <a:bodyPr vert="horz" wrap="square" lIns="91440" tIns="45720" rIns="91440" bIns="45720" anchor="t" anchorCtr="0"/>
          <a:p>
            <a:pPr eaLnBrk="1" hangingPunct="1">
              <a:buClr>
                <a:srgbClr val="FF0000"/>
              </a:buClr>
            </a:pPr>
            <a:r>
              <a:rPr lang="zh-CN" altLang="en-US" dirty="0"/>
              <a:t>特征</a:t>
            </a:r>
            <a:r>
              <a:rPr lang="en-US" altLang="zh-CN" dirty="0"/>
              <a:t>(</a:t>
            </a:r>
            <a:r>
              <a:rPr lang="zh-CN" altLang="en-US" dirty="0"/>
              <a:t>续</a:t>
            </a:r>
            <a:r>
              <a:rPr lang="en-US" altLang="zh-CN" dirty="0"/>
              <a:t>)</a:t>
            </a:r>
            <a:endParaRPr lang="en-US" altLang="zh-CN" dirty="0"/>
          </a:p>
          <a:p>
            <a:pPr lvl="1" eaLnBrk="1" hangingPunct="1"/>
            <a:r>
              <a:rPr lang="zh-CN" altLang="en-US" sz="3200" dirty="0"/>
              <a:t>具有较高的数据和程序的独立性</a:t>
            </a:r>
            <a:endParaRPr lang="zh-CN" altLang="en-US" sz="3200" dirty="0"/>
          </a:p>
          <a:p>
            <a:pPr lvl="2" eaLnBrk="1" hangingPunct="1"/>
            <a:r>
              <a:rPr lang="zh-CN" altLang="en-US" sz="2800" dirty="0"/>
              <a:t>把数据库的定义和描述从应用程序中分离出去</a:t>
            </a:r>
            <a:endParaRPr lang="zh-CN" altLang="en-US" sz="2800" dirty="0"/>
          </a:p>
          <a:p>
            <a:pPr lvl="2" eaLnBrk="1" hangingPunct="1"/>
            <a:r>
              <a:rPr lang="zh-CN" altLang="en-US" sz="2800" dirty="0"/>
              <a:t>数据描述是分级的（全局逻辑、局部逻辑、存储）</a:t>
            </a:r>
            <a:endParaRPr lang="zh-CN" altLang="en-US" sz="2800" dirty="0"/>
          </a:p>
          <a:p>
            <a:pPr lvl="2" eaLnBrk="1" hangingPunct="1"/>
            <a:r>
              <a:rPr lang="zh-CN" altLang="en-US" sz="2800" dirty="0"/>
              <a:t>数据的存取由系统管理，用户不必考虑存取路径等细节，从而简化了应用程序</a:t>
            </a:r>
            <a:endParaRPr lang="zh-CN" altLang="en-US" dirty="0"/>
          </a:p>
          <a:p>
            <a:pPr lvl="1" eaLnBrk="1" hangingPunct="1"/>
            <a:endParaRPr lang="zh-CN" altLang="en-US" dirty="0">
              <a:latin typeface="华文新魏" panose="02010800040101010101" pitchFamily="2" charset="-122"/>
            </a:endParaRPr>
          </a:p>
          <a:p>
            <a:pPr lvl="1" eaLnBrk="1" hangingPunct="1">
              <a:buNone/>
            </a:pPr>
            <a:endParaRPr lang="zh-CN" altLang="en-US" dirty="0">
              <a:latin typeface="华文新魏" panose="02010800040101010101" pitchFamily="2" charset="-122"/>
            </a:endParaRPr>
          </a:p>
        </p:txBody>
      </p:sp>
      <p:sp>
        <p:nvSpPr>
          <p:cNvPr id="55300"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6323" name="Rectangle 2"/>
          <p:cNvSpPr>
            <a:spLocks noGrp="1"/>
          </p:cNvSpPr>
          <p:nvPr>
            <p:ph idx="1"/>
          </p:nvPr>
        </p:nvSpPr>
        <p:spPr>
          <a:xfrm>
            <a:off x="228600" y="762000"/>
            <a:ext cx="8610600" cy="5638800"/>
          </a:xfrm>
          <a:ln/>
        </p:spPr>
        <p:txBody>
          <a:bodyPr vert="horz" wrap="square" lIns="91440" tIns="45720" rIns="91440" bIns="45720" anchor="t" anchorCtr="0"/>
          <a:p>
            <a:pPr eaLnBrk="1" hangingPunct="1">
              <a:buClr>
                <a:srgbClr val="FF0000"/>
              </a:buClr>
            </a:pPr>
            <a:r>
              <a:rPr lang="zh-CN" altLang="en-US" sz="2800" dirty="0"/>
              <a:t>特征</a:t>
            </a:r>
            <a:r>
              <a:rPr lang="en-US" altLang="zh-CN" sz="2800" dirty="0"/>
              <a:t>(</a:t>
            </a:r>
            <a:r>
              <a:rPr lang="zh-CN" altLang="en-US" sz="2800" dirty="0"/>
              <a:t>续</a:t>
            </a:r>
            <a:r>
              <a:rPr lang="en-US" altLang="zh-CN" sz="2800" dirty="0"/>
              <a:t>)</a:t>
            </a:r>
            <a:endParaRPr lang="en-US" altLang="zh-CN" sz="2800" dirty="0"/>
          </a:p>
          <a:p>
            <a:pPr lvl="1" eaLnBrk="1" hangingPunct="1"/>
            <a:r>
              <a:rPr lang="zh-CN" altLang="en-US" sz="2400" dirty="0"/>
              <a:t>统一的数据控制功能，数据共享程度高</a:t>
            </a:r>
            <a:endParaRPr lang="zh-CN" altLang="en-US" sz="2400" dirty="0"/>
          </a:p>
          <a:p>
            <a:pPr lvl="2" eaLnBrk="1" hangingPunct="1"/>
            <a:r>
              <a:rPr lang="zh-CN" altLang="en-US" sz="2000" dirty="0">
                <a:latin typeface="华文新魏" panose="02010800040101010101" pitchFamily="2" charset="-122"/>
              </a:rPr>
              <a:t>数据的安全性控制（</a:t>
            </a:r>
            <a:r>
              <a:rPr lang="en-US" altLang="zh-CN" sz="2000" dirty="0">
                <a:latin typeface="华文新魏" panose="02010800040101010101" pitchFamily="2" charset="-122"/>
              </a:rPr>
              <a:t>Security</a:t>
            </a:r>
            <a:r>
              <a:rPr lang="zh-CN" altLang="en-US" sz="2000" dirty="0">
                <a:latin typeface="华文新魏" panose="02010800040101010101" pitchFamily="2" charset="-122"/>
              </a:rPr>
              <a:t>）</a:t>
            </a:r>
            <a:endParaRPr lang="zh-CN" altLang="en-US" sz="2000" dirty="0">
              <a:latin typeface="华文新魏" panose="02010800040101010101" pitchFamily="2" charset="-122"/>
            </a:endParaRPr>
          </a:p>
          <a:p>
            <a:pPr lvl="3" eaLnBrk="1" hangingPunct="1"/>
            <a:r>
              <a:rPr lang="zh-CN" altLang="en-US" sz="1800" dirty="0">
                <a:latin typeface="华文新魏" panose="02010800040101010101" pitchFamily="2" charset="-122"/>
              </a:rPr>
              <a:t>保护数据以防止不合法的使用所造成的数据泄露和破坏</a:t>
            </a:r>
            <a:endParaRPr lang="zh-CN" altLang="en-US" sz="1800" dirty="0">
              <a:latin typeface="华文新魏" panose="02010800040101010101" pitchFamily="2" charset="-122"/>
            </a:endParaRPr>
          </a:p>
          <a:p>
            <a:pPr lvl="3" eaLnBrk="1" hangingPunct="1"/>
            <a:r>
              <a:rPr lang="zh-CN" altLang="en-US" sz="1800" dirty="0">
                <a:latin typeface="华文新魏" panose="02010800040101010101" pitchFamily="2" charset="-122"/>
              </a:rPr>
              <a:t>措施：用户标识与鉴定，存取控制等</a:t>
            </a:r>
            <a:endParaRPr lang="zh-CN" altLang="zh-CN" sz="1800" dirty="0">
              <a:latin typeface="华文新魏" panose="02010800040101010101" pitchFamily="2" charset="-122"/>
            </a:endParaRPr>
          </a:p>
          <a:p>
            <a:pPr lvl="2" eaLnBrk="1" hangingPunct="1"/>
            <a:r>
              <a:rPr lang="zh-CN" altLang="en-US" sz="2000" dirty="0">
                <a:latin typeface="华文新魏" panose="02010800040101010101" pitchFamily="2" charset="-122"/>
              </a:rPr>
              <a:t>数据的完整性控制（</a:t>
            </a:r>
            <a:r>
              <a:rPr lang="en-US" altLang="zh-CN" sz="2000" dirty="0">
                <a:latin typeface="华文新魏" panose="02010800040101010101" pitchFamily="2" charset="-122"/>
              </a:rPr>
              <a:t>Integrity</a:t>
            </a:r>
            <a:r>
              <a:rPr lang="zh-CN" altLang="en-US" sz="2000" dirty="0">
                <a:latin typeface="华文新魏" panose="02010800040101010101" pitchFamily="2" charset="-122"/>
              </a:rPr>
              <a:t>）</a:t>
            </a:r>
            <a:endParaRPr lang="zh-CN" altLang="en-US" sz="2000" dirty="0">
              <a:latin typeface="华文新魏" panose="02010800040101010101" pitchFamily="2" charset="-122"/>
            </a:endParaRPr>
          </a:p>
          <a:p>
            <a:pPr lvl="3" eaLnBrk="1" hangingPunct="1"/>
            <a:r>
              <a:rPr lang="zh-CN" altLang="en-US" sz="1800" dirty="0">
                <a:latin typeface="华文新魏" panose="02010800040101010101" pitchFamily="2" charset="-122"/>
              </a:rPr>
              <a:t>数据的正确性、有效性、相容性</a:t>
            </a:r>
            <a:endParaRPr lang="zh-CN" altLang="en-US" sz="1800" dirty="0">
              <a:latin typeface="华文新魏" panose="02010800040101010101" pitchFamily="2" charset="-122"/>
            </a:endParaRPr>
          </a:p>
          <a:p>
            <a:pPr lvl="3" eaLnBrk="1" hangingPunct="1"/>
            <a:r>
              <a:rPr lang="zh-CN" altLang="en-US" sz="1800" dirty="0">
                <a:latin typeface="华文新魏" panose="02010800040101010101" pitchFamily="2" charset="-122"/>
              </a:rPr>
              <a:t>措施：完整性约束条件定义和检查等</a:t>
            </a:r>
            <a:endParaRPr lang="zh-CN" altLang="en-US" sz="1800" dirty="0">
              <a:latin typeface="华文新魏" panose="02010800040101010101" pitchFamily="2" charset="-122"/>
            </a:endParaRPr>
          </a:p>
          <a:p>
            <a:pPr lvl="2" eaLnBrk="1" hangingPunct="1"/>
            <a:r>
              <a:rPr lang="zh-CN" altLang="en-US" sz="2000" dirty="0">
                <a:latin typeface="华文新魏" panose="02010800040101010101" pitchFamily="2" charset="-122"/>
              </a:rPr>
              <a:t>并发控制（</a:t>
            </a:r>
            <a:r>
              <a:rPr lang="en-US" altLang="zh-CN" sz="2000" dirty="0">
                <a:latin typeface="华文新魏" panose="02010800040101010101" pitchFamily="2" charset="-122"/>
              </a:rPr>
              <a:t>Concurrency</a:t>
            </a:r>
            <a:r>
              <a:rPr lang="zh-CN" altLang="en-US" sz="2000" dirty="0">
                <a:latin typeface="华文新魏" panose="02010800040101010101" pitchFamily="2" charset="-122"/>
              </a:rPr>
              <a:t>）</a:t>
            </a:r>
            <a:endParaRPr lang="zh-CN" altLang="en-US" sz="2000" dirty="0">
              <a:latin typeface="华文新魏" panose="02010800040101010101" pitchFamily="2" charset="-122"/>
            </a:endParaRPr>
          </a:p>
          <a:p>
            <a:pPr lvl="3" eaLnBrk="1" hangingPunct="1"/>
            <a:r>
              <a:rPr lang="zh-CN" altLang="en-US" sz="1800" dirty="0">
                <a:latin typeface="华文新魏" panose="02010800040101010101" pitchFamily="2" charset="-122"/>
              </a:rPr>
              <a:t>对多用户的并发操作加以控制、协调，防止其互相干扰而得到错误的结果并使数据库完整性遭到破坏</a:t>
            </a:r>
            <a:endParaRPr lang="zh-CN" altLang="en-US" sz="1800" dirty="0">
              <a:latin typeface="华文新魏" panose="02010800040101010101" pitchFamily="2" charset="-122"/>
            </a:endParaRPr>
          </a:p>
          <a:p>
            <a:pPr lvl="3" eaLnBrk="1" hangingPunct="1"/>
            <a:r>
              <a:rPr lang="zh-CN" altLang="en-US" sz="1800" dirty="0">
                <a:latin typeface="华文新魏" panose="02010800040101010101" pitchFamily="2" charset="-122"/>
              </a:rPr>
              <a:t>措施：封锁</a:t>
            </a:r>
            <a:endParaRPr lang="zh-CN" altLang="en-US" sz="1800" dirty="0">
              <a:latin typeface="华文新魏" panose="02010800040101010101" pitchFamily="2" charset="-122"/>
            </a:endParaRPr>
          </a:p>
          <a:p>
            <a:pPr lvl="2" eaLnBrk="1" hangingPunct="1"/>
            <a:r>
              <a:rPr lang="zh-CN" altLang="en-US" sz="2000" dirty="0">
                <a:latin typeface="华文新魏" panose="02010800040101010101" pitchFamily="2" charset="-122"/>
              </a:rPr>
              <a:t>数据库恢复（</a:t>
            </a:r>
            <a:r>
              <a:rPr lang="en-US" altLang="zh-CN" sz="2000" dirty="0">
                <a:latin typeface="华文新魏" panose="02010800040101010101" pitchFamily="2" charset="-122"/>
              </a:rPr>
              <a:t>Recovery</a:t>
            </a:r>
            <a:r>
              <a:rPr lang="zh-CN" altLang="en-US" sz="2000" dirty="0">
                <a:latin typeface="华文新魏" panose="02010800040101010101" pitchFamily="2" charset="-122"/>
              </a:rPr>
              <a:t>）</a:t>
            </a:r>
            <a:endParaRPr lang="zh-CN" altLang="en-US" sz="2000" dirty="0">
              <a:latin typeface="华文新魏" panose="02010800040101010101" pitchFamily="2" charset="-122"/>
            </a:endParaRPr>
          </a:p>
          <a:p>
            <a:pPr lvl="3" eaLnBrk="1" hangingPunct="1"/>
            <a:r>
              <a:rPr lang="zh-CN" altLang="en-US" sz="1800" dirty="0">
                <a:latin typeface="华文新魏" panose="02010800040101010101" pitchFamily="2" charset="-122"/>
              </a:rPr>
              <a:t>把数据库从错误状态恢复到某一已知的正确状态</a:t>
            </a:r>
            <a:r>
              <a:rPr lang="en-US" altLang="zh-CN" sz="1800" dirty="0">
                <a:latin typeface="华文新魏" panose="02010800040101010101" pitchFamily="2" charset="-122"/>
              </a:rPr>
              <a:t>(</a:t>
            </a:r>
            <a:r>
              <a:rPr lang="zh-CN" altLang="en-US" sz="1800" dirty="0">
                <a:latin typeface="华文新魏" panose="02010800040101010101" pitchFamily="2" charset="-122"/>
              </a:rPr>
              <a:t>亦称一致性状态或完整性状态</a:t>
            </a:r>
            <a:r>
              <a:rPr lang="en-US" altLang="zh-CN" sz="1800" dirty="0">
                <a:latin typeface="华文新魏" panose="02010800040101010101" pitchFamily="2" charset="-122"/>
              </a:rPr>
              <a:t>) </a:t>
            </a:r>
            <a:endParaRPr lang="en-US" altLang="zh-CN" sz="1800" dirty="0">
              <a:latin typeface="华文新魏" panose="02010800040101010101" pitchFamily="2" charset="-122"/>
            </a:endParaRPr>
          </a:p>
          <a:p>
            <a:pPr lvl="3" eaLnBrk="1" hangingPunct="1"/>
            <a:r>
              <a:rPr lang="zh-CN" altLang="en-US" sz="1800" dirty="0">
                <a:latin typeface="华文新魏" panose="02010800040101010101" pitchFamily="2" charset="-122"/>
              </a:rPr>
              <a:t>措施：转储，镜像，日志等</a:t>
            </a:r>
            <a:endParaRPr lang="zh-CN" altLang="en-US" sz="1800" dirty="0">
              <a:latin typeface="华文新魏" panose="02010800040101010101" pitchFamily="2" charset="-122"/>
            </a:endParaRPr>
          </a:p>
        </p:txBody>
      </p:sp>
      <p:sp>
        <p:nvSpPr>
          <p:cNvPr id="56324" name="Rectangle 3"/>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pic>
        <p:nvPicPr>
          <p:cNvPr id="57347" name="Picture 2" descr="j0196322"/>
          <p:cNvPicPr>
            <a:picLocks noChangeAspect="1"/>
          </p:cNvPicPr>
          <p:nvPr/>
        </p:nvPicPr>
        <p:blipFill>
          <a:blip r:embed="rId1"/>
          <a:stretch>
            <a:fillRect/>
          </a:stretch>
        </p:blipFill>
        <p:spPr>
          <a:xfrm>
            <a:off x="3505200" y="1778000"/>
            <a:ext cx="1447800" cy="1412875"/>
          </a:xfrm>
          <a:prstGeom prst="rect">
            <a:avLst/>
          </a:prstGeom>
          <a:noFill/>
          <a:ln w="9525">
            <a:noFill/>
          </a:ln>
        </p:spPr>
      </p:pic>
      <p:pic>
        <p:nvPicPr>
          <p:cNvPr id="57348" name="Picture 3" descr="j0196322"/>
          <p:cNvPicPr>
            <a:picLocks noChangeAspect="1"/>
          </p:cNvPicPr>
          <p:nvPr/>
        </p:nvPicPr>
        <p:blipFill>
          <a:blip r:embed="rId1"/>
          <a:stretch>
            <a:fillRect/>
          </a:stretch>
        </p:blipFill>
        <p:spPr>
          <a:xfrm>
            <a:off x="6557963" y="2387600"/>
            <a:ext cx="1366837" cy="1336675"/>
          </a:xfrm>
          <a:prstGeom prst="rect">
            <a:avLst/>
          </a:prstGeom>
          <a:noFill/>
          <a:ln w="9525">
            <a:noFill/>
          </a:ln>
        </p:spPr>
      </p:pic>
      <p:pic>
        <p:nvPicPr>
          <p:cNvPr id="57349" name="Picture 4" descr="j0196322"/>
          <p:cNvPicPr>
            <a:picLocks noChangeAspect="1"/>
          </p:cNvPicPr>
          <p:nvPr/>
        </p:nvPicPr>
        <p:blipFill>
          <a:blip r:embed="rId1"/>
          <a:stretch>
            <a:fillRect/>
          </a:stretch>
        </p:blipFill>
        <p:spPr>
          <a:xfrm>
            <a:off x="995363" y="2366963"/>
            <a:ext cx="1366837" cy="1336675"/>
          </a:xfrm>
          <a:prstGeom prst="rect">
            <a:avLst/>
          </a:prstGeom>
          <a:noFill/>
          <a:ln w="9525">
            <a:noFill/>
          </a:ln>
        </p:spPr>
      </p:pic>
      <p:sp>
        <p:nvSpPr>
          <p:cNvPr id="57350" name="AutoShape 5"/>
          <p:cNvSpPr/>
          <p:nvPr/>
        </p:nvSpPr>
        <p:spPr>
          <a:xfrm>
            <a:off x="3429000" y="3876675"/>
            <a:ext cx="2362200" cy="1828800"/>
          </a:xfrm>
          <a:prstGeom prst="can">
            <a:avLst>
              <a:gd name="adj" fmla="val 28995"/>
            </a:avLst>
          </a:prstGeom>
          <a:gradFill rotWithShape="0">
            <a:gsLst>
              <a:gs pos="0">
                <a:srgbClr val="3333FF"/>
              </a:gs>
              <a:gs pos="100000">
                <a:srgbClr val="6699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7351" name="AutoShape 6"/>
          <p:cNvSpPr/>
          <p:nvPr/>
        </p:nvSpPr>
        <p:spPr>
          <a:xfrm>
            <a:off x="3771900" y="4486275"/>
            <a:ext cx="762000" cy="609600"/>
          </a:xfrm>
          <a:prstGeom prst="can">
            <a:avLst>
              <a:gd name="adj" fmla="val 35227"/>
            </a:avLst>
          </a:prstGeom>
          <a:gradFill rotWithShape="0">
            <a:gsLst>
              <a:gs pos="0">
                <a:srgbClr val="000082"/>
              </a:gs>
              <a:gs pos="100000">
                <a:srgbClr val="FF8200"/>
              </a:gs>
            </a:gsLst>
            <a:lin ang="540000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数据</a:t>
            </a:r>
            <a:r>
              <a:rPr lang="en-US" altLang="zh-CN" sz="2400" b="0" dirty="0">
                <a:solidFill>
                  <a:schemeClr val="tx1"/>
                </a:solidFill>
                <a:latin typeface="华文新魏" panose="02010800040101010101" pitchFamily="2" charset="-122"/>
                <a:ea typeface="华文新魏" panose="02010800040101010101" pitchFamily="2" charset="-122"/>
              </a:rPr>
              <a:t>1</a:t>
            </a:r>
            <a:endParaRPr lang="en-US" altLang="zh-CN" sz="2400" b="0" dirty="0">
              <a:solidFill>
                <a:schemeClr val="tx1"/>
              </a:solidFill>
              <a:latin typeface="Tahoma" panose="020B0604030504040204" pitchFamily="34" charset="0"/>
              <a:ea typeface="华文新魏" panose="02010800040101010101" pitchFamily="2" charset="-122"/>
            </a:endParaRPr>
          </a:p>
        </p:txBody>
      </p:sp>
      <p:sp>
        <p:nvSpPr>
          <p:cNvPr id="57352" name="Rectangle 7"/>
          <p:cNvSpPr/>
          <p:nvPr/>
        </p:nvSpPr>
        <p:spPr>
          <a:xfrm>
            <a:off x="3581400" y="3860800"/>
            <a:ext cx="2012950" cy="519113"/>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b="0" dirty="0">
                <a:solidFill>
                  <a:schemeClr val="bg1"/>
                </a:solidFill>
                <a:ea typeface="楷体_GB2312" pitchFamily="49" charset="-122"/>
              </a:rPr>
              <a:t>统一存取</a:t>
            </a:r>
            <a:endParaRPr lang="zh-CN" altLang="en-US" sz="2800" b="0" dirty="0">
              <a:solidFill>
                <a:schemeClr val="bg1"/>
              </a:solidFill>
              <a:ea typeface="楷体_GB2312" pitchFamily="49" charset="-122"/>
            </a:endParaRPr>
          </a:p>
        </p:txBody>
      </p:sp>
      <p:sp>
        <p:nvSpPr>
          <p:cNvPr id="57353" name="AutoShape 8"/>
          <p:cNvSpPr/>
          <p:nvPr/>
        </p:nvSpPr>
        <p:spPr>
          <a:xfrm rot="1800000">
            <a:off x="2438400" y="3343275"/>
            <a:ext cx="1295400" cy="457200"/>
          </a:xfrm>
          <a:prstGeom prst="leftRightArrow">
            <a:avLst>
              <a:gd name="adj1" fmla="val 50000"/>
              <a:gd name="adj2" fmla="val 56666"/>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7354" name="AutoShape 9"/>
          <p:cNvSpPr/>
          <p:nvPr/>
        </p:nvSpPr>
        <p:spPr>
          <a:xfrm>
            <a:off x="4648200" y="4486275"/>
            <a:ext cx="762000" cy="609600"/>
          </a:xfrm>
          <a:prstGeom prst="can">
            <a:avLst>
              <a:gd name="adj" fmla="val 35227"/>
            </a:avLst>
          </a:prstGeom>
          <a:gradFill rotWithShape="0">
            <a:gsLst>
              <a:gs pos="0">
                <a:srgbClr val="000082"/>
              </a:gs>
              <a:gs pos="100000">
                <a:srgbClr val="FF8200"/>
              </a:gs>
            </a:gsLst>
            <a:lin ang="540000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数据</a:t>
            </a:r>
            <a:r>
              <a:rPr lang="en-US" altLang="zh-CN" sz="2400" b="0" dirty="0">
                <a:solidFill>
                  <a:schemeClr val="tx1"/>
                </a:solidFill>
                <a:latin typeface="华文新魏" panose="02010800040101010101" pitchFamily="2" charset="-122"/>
                <a:ea typeface="华文新魏" panose="02010800040101010101" pitchFamily="2" charset="-122"/>
              </a:rPr>
              <a:t>2</a:t>
            </a:r>
            <a:endParaRPr lang="en-US" altLang="zh-CN" sz="2400" b="0" dirty="0">
              <a:solidFill>
                <a:schemeClr val="tx1"/>
              </a:solidFill>
              <a:latin typeface="Tahoma" panose="020B0604030504040204" pitchFamily="34" charset="0"/>
              <a:ea typeface="华文新魏" panose="02010800040101010101" pitchFamily="2" charset="-122"/>
            </a:endParaRPr>
          </a:p>
        </p:txBody>
      </p:sp>
      <p:sp>
        <p:nvSpPr>
          <p:cNvPr id="57355" name="AutoShape 10"/>
          <p:cNvSpPr/>
          <p:nvPr/>
        </p:nvSpPr>
        <p:spPr>
          <a:xfrm>
            <a:off x="4267200" y="4957763"/>
            <a:ext cx="762000" cy="609600"/>
          </a:xfrm>
          <a:prstGeom prst="can">
            <a:avLst>
              <a:gd name="adj" fmla="val 35227"/>
            </a:avLst>
          </a:prstGeom>
          <a:gradFill rotWithShape="0">
            <a:gsLst>
              <a:gs pos="0">
                <a:srgbClr val="000082"/>
              </a:gs>
              <a:gs pos="100000">
                <a:srgbClr val="FF8200"/>
              </a:gs>
            </a:gsLst>
            <a:lin ang="540000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b="0" dirty="0">
                <a:solidFill>
                  <a:schemeClr val="tx1"/>
                </a:solidFill>
                <a:latin typeface="华文新魏" panose="02010800040101010101" pitchFamily="2" charset="-122"/>
                <a:ea typeface="华文新魏" panose="02010800040101010101" pitchFamily="2" charset="-122"/>
              </a:rPr>
              <a:t>数据</a:t>
            </a:r>
            <a:r>
              <a:rPr lang="en-US" altLang="zh-CN" sz="2400" b="0" dirty="0">
                <a:solidFill>
                  <a:schemeClr val="tx1"/>
                </a:solidFill>
                <a:latin typeface="华文新魏" panose="02010800040101010101" pitchFamily="2" charset="-122"/>
                <a:ea typeface="华文新魏" panose="02010800040101010101" pitchFamily="2" charset="-122"/>
              </a:rPr>
              <a:t>n</a:t>
            </a:r>
            <a:endParaRPr lang="en-US" altLang="zh-CN" sz="2400" b="0" dirty="0">
              <a:solidFill>
                <a:schemeClr val="tx1"/>
              </a:solidFill>
              <a:latin typeface="Tahoma" panose="020B0604030504040204" pitchFamily="34" charset="0"/>
              <a:ea typeface="华文新魏" panose="02010800040101010101" pitchFamily="2" charset="-122"/>
            </a:endParaRPr>
          </a:p>
        </p:txBody>
      </p:sp>
      <p:sp>
        <p:nvSpPr>
          <p:cNvPr id="57356" name="AutoShape 11"/>
          <p:cNvSpPr/>
          <p:nvPr/>
        </p:nvSpPr>
        <p:spPr>
          <a:xfrm>
            <a:off x="4495800" y="3267075"/>
            <a:ext cx="457200" cy="533400"/>
          </a:xfrm>
          <a:prstGeom prst="upDownArrow">
            <a:avLst>
              <a:gd name="adj1" fmla="val 50000"/>
              <a:gd name="adj2" fmla="val 23333"/>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7357" name="Rectangle 12"/>
          <p:cNvSpPr/>
          <p:nvPr/>
        </p:nvSpPr>
        <p:spPr>
          <a:xfrm>
            <a:off x="3397250" y="2257425"/>
            <a:ext cx="7715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1800" b="0" dirty="0">
                <a:solidFill>
                  <a:schemeClr val="tx1"/>
                </a:solidFill>
                <a:latin typeface="华文新魏" panose="02010800040101010101" pitchFamily="2" charset="-122"/>
                <a:ea typeface="华文新魏" panose="02010800040101010101" pitchFamily="2" charset="-122"/>
              </a:rPr>
              <a:t>程序</a:t>
            </a:r>
            <a:r>
              <a:rPr lang="en-US" altLang="zh-CN" sz="1800" b="0" dirty="0">
                <a:solidFill>
                  <a:schemeClr val="tx1"/>
                </a:solidFill>
                <a:latin typeface="华文新魏" panose="02010800040101010101" pitchFamily="2" charset="-122"/>
                <a:ea typeface="华文新魏" panose="02010800040101010101" pitchFamily="2" charset="-122"/>
              </a:rPr>
              <a:t>2</a:t>
            </a:r>
            <a:endParaRPr lang="en-US" altLang="zh-CN" sz="1800" b="0" dirty="0">
              <a:solidFill>
                <a:schemeClr val="tx1"/>
              </a:solidFill>
              <a:latin typeface="华文新魏" panose="02010800040101010101" pitchFamily="2" charset="-122"/>
              <a:ea typeface="华文新魏" panose="02010800040101010101" pitchFamily="2" charset="-122"/>
            </a:endParaRPr>
          </a:p>
        </p:txBody>
      </p:sp>
      <p:sp>
        <p:nvSpPr>
          <p:cNvPr id="57358" name="AutoShape 13"/>
          <p:cNvSpPr/>
          <p:nvPr/>
        </p:nvSpPr>
        <p:spPr>
          <a:xfrm rot="-1800000">
            <a:off x="5410200" y="3343275"/>
            <a:ext cx="1295400" cy="457200"/>
          </a:xfrm>
          <a:prstGeom prst="leftRightArrow">
            <a:avLst>
              <a:gd name="adj1" fmla="val 50000"/>
              <a:gd name="adj2" fmla="val 56666"/>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7359" name="Rectangle 14"/>
          <p:cNvSpPr/>
          <p:nvPr/>
        </p:nvSpPr>
        <p:spPr>
          <a:xfrm>
            <a:off x="901700" y="2790825"/>
            <a:ext cx="7318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1800" b="0" dirty="0">
                <a:solidFill>
                  <a:schemeClr val="tx1"/>
                </a:solidFill>
                <a:latin typeface="华文新魏" panose="02010800040101010101" pitchFamily="2" charset="-122"/>
                <a:ea typeface="华文新魏" panose="02010800040101010101" pitchFamily="2" charset="-122"/>
              </a:rPr>
              <a:t>程序</a:t>
            </a:r>
            <a:r>
              <a:rPr lang="en-US" altLang="zh-CN" sz="1800" b="0" dirty="0">
                <a:solidFill>
                  <a:schemeClr val="tx1"/>
                </a:solidFill>
                <a:latin typeface="华文新魏" panose="02010800040101010101" pitchFamily="2" charset="-122"/>
                <a:ea typeface="华文新魏" panose="02010800040101010101" pitchFamily="2" charset="-122"/>
              </a:rPr>
              <a:t>1</a:t>
            </a:r>
            <a:endParaRPr lang="en-US" altLang="zh-CN" sz="1800" b="0" dirty="0">
              <a:solidFill>
                <a:schemeClr val="tx1"/>
              </a:solidFill>
              <a:latin typeface="华文新魏" panose="02010800040101010101" pitchFamily="2" charset="-122"/>
              <a:ea typeface="华文新魏" panose="02010800040101010101" pitchFamily="2" charset="-122"/>
            </a:endParaRPr>
          </a:p>
        </p:txBody>
      </p:sp>
      <p:sp>
        <p:nvSpPr>
          <p:cNvPr id="57360" name="Rectangle 15"/>
          <p:cNvSpPr/>
          <p:nvPr/>
        </p:nvSpPr>
        <p:spPr>
          <a:xfrm>
            <a:off x="6434138" y="2816225"/>
            <a:ext cx="7699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1800" b="0" dirty="0">
                <a:solidFill>
                  <a:schemeClr val="tx1"/>
                </a:solidFill>
                <a:latin typeface="华文新魏" panose="02010800040101010101" pitchFamily="2" charset="-122"/>
                <a:ea typeface="华文新魏" panose="02010800040101010101" pitchFamily="2" charset="-122"/>
              </a:rPr>
              <a:t>程序</a:t>
            </a:r>
            <a:r>
              <a:rPr lang="en-US" altLang="zh-CN" sz="1800" b="0" dirty="0">
                <a:solidFill>
                  <a:schemeClr val="tx1"/>
                </a:solidFill>
                <a:latin typeface="华文新魏" panose="02010800040101010101" pitchFamily="2" charset="-122"/>
                <a:ea typeface="华文新魏" panose="02010800040101010101" pitchFamily="2" charset="-122"/>
              </a:rPr>
              <a:t>n</a:t>
            </a:r>
            <a:endParaRPr lang="en-US" altLang="zh-CN" sz="1800" b="0" dirty="0">
              <a:solidFill>
                <a:schemeClr val="tx1"/>
              </a:solidFill>
              <a:latin typeface="华文新魏" panose="02010800040101010101" pitchFamily="2" charset="-122"/>
              <a:ea typeface="华文新魏" panose="02010800040101010101" pitchFamily="2" charset="-122"/>
            </a:endParaRPr>
          </a:p>
        </p:txBody>
      </p:sp>
      <p:sp>
        <p:nvSpPr>
          <p:cNvPr id="57361" name="Text Box 16"/>
          <p:cNvSpPr txBox="1"/>
          <p:nvPr/>
        </p:nvSpPr>
        <p:spPr>
          <a:xfrm>
            <a:off x="2971800" y="762000"/>
            <a:ext cx="3384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6600CC"/>
                </a:solidFill>
                <a:ea typeface="经典细隶书简" pitchFamily="49" charset="-122"/>
              </a:rPr>
              <a:t>数据库系统阶段</a:t>
            </a:r>
            <a:endParaRPr lang="zh-CN" altLang="en-US" sz="3600" b="0" dirty="0">
              <a:solidFill>
                <a:srgbClr val="6600CC"/>
              </a:solidFill>
              <a:ea typeface="经典细隶书简" pitchFamily="49" charset="-122"/>
            </a:endParaRPr>
          </a:p>
        </p:txBody>
      </p:sp>
      <p:sp>
        <p:nvSpPr>
          <p:cNvPr id="57362" name="Rectangle 17"/>
          <p:cNvSpPr>
            <a:spLocks noGrp="1"/>
          </p:cNvSpPr>
          <p:nvPr>
            <p:ph type="title"/>
          </p:nvPr>
        </p:nvSpPr>
        <p:spPr>
          <a:xfrm>
            <a:off x="990600" y="63500"/>
            <a:ext cx="8001000" cy="533400"/>
          </a:xfrm>
          <a:ln/>
        </p:spPr>
        <p:txBody>
          <a:bodyPr vert="horz" wrap="square" lIns="91440" tIns="45720" rIns="91440" bIns="45720" anchor="ctr" anchorCtr="0"/>
          <a:p>
            <a:pPr eaLnBrk="1" hangingPunct="1"/>
            <a:r>
              <a:rPr lang="en-US" altLang="zh-CN" sz="4000" u="sng" dirty="0"/>
              <a:t>1.1.2 </a:t>
            </a:r>
            <a:r>
              <a:rPr lang="zh-CN" altLang="en-US" sz="4000" u="sng" dirty="0"/>
              <a:t>数据管理技术的产生和发展</a:t>
            </a:r>
            <a:endParaRPr lang="zh-CN" altLang="en-US" sz="4000" u="sng"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8371" name="Rectangle 2"/>
          <p:cNvSpPr/>
          <p:nvPr/>
        </p:nvSpPr>
        <p:spPr>
          <a:xfrm>
            <a:off x="457200" y="3255963"/>
            <a:ext cx="8001000" cy="7620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58372" name="Rectangle 3"/>
          <p:cNvSpPr>
            <a:spLocks noGrp="1"/>
          </p:cNvSpPr>
          <p:nvPr>
            <p:ph type="title"/>
          </p:nvPr>
        </p:nvSpPr>
        <p:spPr>
          <a:ln/>
        </p:spPr>
        <p:txBody>
          <a:bodyPr vert="horz" wrap="square" lIns="91440" tIns="45720" rIns="91440" bIns="45720" anchor="ctr" anchorCtr="0"/>
          <a:p>
            <a:pPr eaLnBrk="1" hangingPunct="1"/>
            <a:r>
              <a:rPr lang="en-US" altLang="zh-CN" dirty="0"/>
              <a:t>1.1 </a:t>
            </a:r>
            <a:r>
              <a:rPr lang="zh-CN" altLang="en-US" dirty="0"/>
              <a:t>数据库系统概述</a:t>
            </a:r>
            <a:endParaRPr lang="zh-CN" altLang="en-US" dirty="0"/>
          </a:p>
        </p:txBody>
      </p:sp>
      <p:sp>
        <p:nvSpPr>
          <p:cNvPr id="58373" name="Rectangle 4"/>
          <p:cNvSpPr>
            <a:spLocks noGrp="1"/>
          </p:cNvSpPr>
          <p:nvPr>
            <p:ph idx="1"/>
          </p:nvPr>
        </p:nvSpPr>
        <p:spPr>
          <a:xfrm>
            <a:off x="685800" y="1447800"/>
            <a:ext cx="7848600" cy="3925888"/>
          </a:xfrm>
          <a:ln/>
        </p:spPr>
        <p:txBody>
          <a:bodyPr vert="horz" wrap="square" lIns="91440" tIns="45720" rIns="91440" bIns="45720" anchor="t" anchorCtr="0"/>
          <a:p>
            <a:pPr eaLnBrk="1" hangingPunct="1">
              <a:lnSpc>
                <a:spcPct val="150000"/>
              </a:lnSpc>
              <a:spcBef>
                <a:spcPct val="0"/>
              </a:spcBef>
              <a:buClrTx/>
              <a:buNone/>
            </a:pPr>
            <a:r>
              <a:rPr lang="en-US" altLang="zh-CN" sz="3600" dirty="0">
                <a:solidFill>
                  <a:schemeClr val="tx1"/>
                </a:solidFill>
                <a:latin typeface="Arial Narrow" panose="020B0606020202030204" pitchFamily="34" charset="0"/>
                <a:ea typeface="仿宋_GB2312" pitchFamily="49" charset="-122"/>
              </a:rPr>
              <a:t>1.1.1  </a:t>
            </a:r>
            <a:r>
              <a:rPr lang="zh-CN" altLang="en-US" sz="3600" dirty="0">
                <a:solidFill>
                  <a:schemeClr val="tx1"/>
                </a:solidFill>
                <a:latin typeface="Arial Narrow" panose="020B0606020202030204" pitchFamily="34" charset="0"/>
                <a:ea typeface="仿宋_GB2312" pitchFamily="49" charset="-122"/>
              </a:rPr>
              <a:t>四个基本概念</a:t>
            </a:r>
            <a:endParaRPr lang="zh-CN" altLang="en-US" sz="3600"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sz="3600" dirty="0">
                <a:solidFill>
                  <a:schemeClr val="tx1"/>
                </a:solidFill>
                <a:latin typeface="Arial Narrow" panose="020B0606020202030204" pitchFamily="34" charset="0"/>
                <a:ea typeface="仿宋_GB2312" pitchFamily="49" charset="-122"/>
              </a:rPr>
              <a:t>1.1.2  </a:t>
            </a:r>
            <a:r>
              <a:rPr lang="zh-CN" altLang="en-US" sz="3600" dirty="0">
                <a:solidFill>
                  <a:schemeClr val="tx1"/>
                </a:solidFill>
                <a:latin typeface="Arial Narrow" panose="020B0606020202030204" pitchFamily="34" charset="0"/>
                <a:ea typeface="仿宋_GB2312" pitchFamily="49" charset="-122"/>
              </a:rPr>
              <a:t>数据管理技术的产生与发展</a:t>
            </a:r>
            <a:endParaRPr lang="zh-CN" altLang="en-US" sz="3600"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sz="3600" dirty="0">
                <a:solidFill>
                  <a:schemeClr val="bg1"/>
                </a:solidFill>
                <a:latin typeface="Arial Narrow" panose="020B0606020202030204" pitchFamily="34" charset="0"/>
                <a:ea typeface="仿宋_GB2312" pitchFamily="49" charset="-122"/>
              </a:rPr>
              <a:t>1.1.3  </a:t>
            </a:r>
            <a:r>
              <a:rPr lang="zh-CN" altLang="en-US" sz="3600" dirty="0">
                <a:solidFill>
                  <a:schemeClr val="bg1"/>
                </a:solidFill>
                <a:latin typeface="Arial Narrow" panose="020B0606020202030204" pitchFamily="34" charset="0"/>
                <a:ea typeface="仿宋_GB2312" pitchFamily="49" charset="-122"/>
              </a:rPr>
              <a:t>数据库系统的特点</a:t>
            </a:r>
            <a:endParaRPr lang="zh-CN" altLang="en-US" sz="3600" dirty="0">
              <a:solidFill>
                <a:schemeClr val="bg1"/>
              </a:solidFill>
              <a:latin typeface="Arial Narrow" panose="020B0606020202030204" pitchFamily="34" charset="0"/>
              <a:ea typeface="仿宋_GB2312" pitchFamily="49" charset="-122"/>
            </a:endParaRPr>
          </a:p>
          <a:p>
            <a:pPr eaLnBrk="1" hangingPunct="1">
              <a:lnSpc>
                <a:spcPct val="150000"/>
              </a:lnSpc>
              <a:spcBef>
                <a:spcPct val="0"/>
              </a:spcBef>
              <a:buClrTx/>
              <a:buNone/>
            </a:pPr>
            <a:endParaRPr lang="zh-CN" altLang="en-US" sz="3600" dirty="0">
              <a:solidFill>
                <a:schemeClr val="bg1"/>
              </a:solidFill>
              <a:latin typeface="Arial Narrow" panose="020B0606020202030204" pitchFamily="34" charset="0"/>
              <a:ea typeface="仿宋_GB2312"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9395" name="Rectangle 2"/>
          <p:cNvSpPr>
            <a:spLocks noGrp="1"/>
          </p:cNvSpPr>
          <p:nvPr>
            <p:ph type="title"/>
          </p:nvPr>
        </p:nvSpPr>
        <p:spPr>
          <a:ln/>
        </p:spPr>
        <p:txBody>
          <a:bodyPr vert="horz" wrap="square" lIns="91440" tIns="45720" rIns="91440" bIns="45720" anchor="ctr" anchorCtr="0"/>
          <a:p>
            <a:pPr eaLnBrk="1" hangingPunct="1"/>
            <a:r>
              <a:rPr lang="en-US" altLang="zh-CN" sz="3900" dirty="0">
                <a:ea typeface="宋体" panose="02010600030101010101" pitchFamily="2" charset="-122"/>
              </a:rPr>
              <a:t>1.1.3  </a:t>
            </a:r>
            <a:r>
              <a:rPr lang="zh-CN" altLang="en-US" sz="3900" dirty="0">
                <a:ea typeface="宋体" panose="02010600030101010101" pitchFamily="2" charset="-122"/>
              </a:rPr>
              <a:t>数据库系统的特点</a:t>
            </a:r>
            <a:endParaRPr lang="zh-CN" altLang="en-US" sz="3900" dirty="0">
              <a:ea typeface="宋体" panose="02010600030101010101" pitchFamily="2" charset="-122"/>
            </a:endParaRPr>
          </a:p>
        </p:txBody>
      </p:sp>
      <p:sp>
        <p:nvSpPr>
          <p:cNvPr id="59396" name="Rectangle 3"/>
          <p:cNvSpPr>
            <a:spLocks noGrp="1"/>
          </p:cNvSpPr>
          <p:nvPr>
            <p:ph idx="1"/>
          </p:nvPr>
        </p:nvSpPr>
        <p:spPr>
          <a:xfrm>
            <a:off x="611188" y="1844675"/>
            <a:ext cx="7931150" cy="4495800"/>
          </a:xfrm>
          <a:ln/>
        </p:spPr>
        <p:txBody>
          <a:bodyPr vert="horz" wrap="square" lIns="91440" tIns="45720" rIns="91440" bIns="45720" anchor="t" anchorCtr="0"/>
          <a:p>
            <a:pPr eaLnBrk="1" hangingPunct="1">
              <a:lnSpc>
                <a:spcPct val="160000"/>
              </a:lnSpc>
            </a:pPr>
            <a:r>
              <a:rPr lang="zh-CN" altLang="en-US" dirty="0"/>
              <a:t>数据结构化</a:t>
            </a:r>
            <a:endParaRPr lang="zh-CN" altLang="en-US" dirty="0"/>
          </a:p>
          <a:p>
            <a:pPr eaLnBrk="1" hangingPunct="1">
              <a:lnSpc>
                <a:spcPct val="160000"/>
              </a:lnSpc>
            </a:pPr>
            <a:r>
              <a:rPr lang="zh-CN" altLang="en-US" dirty="0"/>
              <a:t>数据的共享性高，冗余度低，易扩充</a:t>
            </a:r>
            <a:endParaRPr lang="zh-CN" altLang="en-US" dirty="0"/>
          </a:p>
          <a:p>
            <a:pPr eaLnBrk="1" hangingPunct="1">
              <a:lnSpc>
                <a:spcPct val="160000"/>
              </a:lnSpc>
            </a:pPr>
            <a:r>
              <a:rPr lang="zh-CN" altLang="en-US" dirty="0"/>
              <a:t>数据独立性高</a:t>
            </a:r>
            <a:endParaRPr lang="zh-CN" altLang="en-US" dirty="0"/>
          </a:p>
          <a:p>
            <a:pPr eaLnBrk="1" hangingPunct="1">
              <a:lnSpc>
                <a:spcPct val="160000"/>
              </a:lnSpc>
            </a:pPr>
            <a:r>
              <a:rPr lang="zh-CN" altLang="en-US" dirty="0"/>
              <a:t>数据由</a:t>
            </a:r>
            <a:r>
              <a:rPr lang="en-US" altLang="zh-CN" dirty="0"/>
              <a:t>DBMS</a:t>
            </a:r>
            <a:r>
              <a:rPr lang="zh-CN" altLang="en-US" dirty="0"/>
              <a:t>统一管理和控制</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0419" name="Rectangle 2"/>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数据结构化</a:t>
            </a:r>
            <a:endParaRPr lang="zh-CN" altLang="en-US" dirty="0">
              <a:ea typeface="宋体" panose="02010600030101010101" pitchFamily="2" charset="-122"/>
            </a:endParaRPr>
          </a:p>
        </p:txBody>
      </p:sp>
      <p:sp>
        <p:nvSpPr>
          <p:cNvPr id="60420" name="Rectangle 3"/>
          <p:cNvSpPr>
            <a:spLocks noGrp="1"/>
          </p:cNvSpPr>
          <p:nvPr>
            <p:ph idx="1"/>
          </p:nvPr>
        </p:nvSpPr>
        <p:spPr>
          <a:xfrm>
            <a:off x="539750" y="1341438"/>
            <a:ext cx="8424863" cy="5111750"/>
          </a:xfrm>
          <a:ln/>
        </p:spPr>
        <p:txBody>
          <a:bodyPr vert="horz" wrap="square" lIns="91440" tIns="45720" rIns="91440" bIns="45720" anchor="t" anchorCtr="0"/>
          <a:p>
            <a:pPr eaLnBrk="1" hangingPunct="1"/>
            <a:r>
              <a:rPr lang="zh-CN" altLang="en-US" b="0" dirty="0">
                <a:solidFill>
                  <a:srgbClr val="746AFC"/>
                </a:solidFill>
              </a:rPr>
              <a:t>整体数据的结构化</a:t>
            </a:r>
            <a:r>
              <a:rPr lang="zh-CN" altLang="en-US" dirty="0"/>
              <a:t>是数据库的主要特征之一    </a:t>
            </a:r>
            <a:endParaRPr lang="zh-CN" altLang="en-US" dirty="0"/>
          </a:p>
          <a:p>
            <a:pPr eaLnBrk="1" hangingPunct="1"/>
            <a:r>
              <a:rPr lang="zh-CN" altLang="en-US" dirty="0"/>
              <a:t>整体结构化</a:t>
            </a:r>
            <a:endParaRPr lang="zh-CN" altLang="en-US" dirty="0"/>
          </a:p>
          <a:p>
            <a:pPr lvl="1" eaLnBrk="1" hangingPunct="1"/>
            <a:r>
              <a:rPr lang="zh-CN" altLang="en-US" sz="2400" b="0" dirty="0"/>
              <a:t>不再仅仅针对某一个应用，而是面向全组织</a:t>
            </a:r>
            <a:endParaRPr lang="zh-CN" altLang="en-US" sz="2400" b="0" dirty="0"/>
          </a:p>
          <a:p>
            <a:pPr lvl="1" eaLnBrk="1" hangingPunct="1"/>
            <a:r>
              <a:rPr lang="zh-CN" altLang="en-US" sz="2400" b="0" dirty="0"/>
              <a:t>不仅数据内部结构化，整体是结构化的，数据之间具有联系</a:t>
            </a:r>
            <a:endParaRPr lang="zh-CN" altLang="en-US" dirty="0"/>
          </a:p>
          <a:p>
            <a:pPr eaLnBrk="1" hangingPunct="1"/>
            <a:r>
              <a:rPr lang="zh-CN" altLang="en-US" dirty="0"/>
              <a:t>数据库中实现的是数据的真正结构化</a:t>
            </a:r>
            <a:endParaRPr lang="zh-CN" altLang="en-US" dirty="0"/>
          </a:p>
          <a:p>
            <a:pPr lvl="1" eaLnBrk="1" hangingPunct="1"/>
            <a:r>
              <a:rPr lang="zh-CN" altLang="en-US" sz="2400" b="0" dirty="0"/>
              <a:t>数据的结构用</a:t>
            </a:r>
            <a:r>
              <a:rPr lang="zh-CN" altLang="en-US" sz="2400" b="0" dirty="0">
                <a:solidFill>
                  <a:srgbClr val="746AFC"/>
                </a:solidFill>
              </a:rPr>
              <a:t>数据模型</a:t>
            </a:r>
            <a:r>
              <a:rPr lang="zh-CN" altLang="en-US" sz="2400" b="0" dirty="0"/>
              <a:t>描述，无需程序定义和解释</a:t>
            </a:r>
            <a:endParaRPr lang="zh-CN" altLang="en-US" sz="2400" b="0" dirty="0"/>
          </a:p>
          <a:p>
            <a:pPr lvl="1" eaLnBrk="1" hangingPunct="1"/>
            <a:r>
              <a:rPr lang="zh-CN" altLang="en-US" sz="2400" b="0" dirty="0"/>
              <a:t>数据可以</a:t>
            </a:r>
            <a:r>
              <a:rPr lang="zh-CN" altLang="en-US" sz="2400" b="0" dirty="0">
                <a:solidFill>
                  <a:srgbClr val="746AFC"/>
                </a:solidFill>
              </a:rPr>
              <a:t>变长</a:t>
            </a:r>
            <a:endParaRPr lang="zh-CN" altLang="en-US" sz="2400" b="0" dirty="0"/>
          </a:p>
          <a:p>
            <a:pPr lvl="1" eaLnBrk="1" hangingPunct="1"/>
            <a:r>
              <a:rPr lang="zh-CN" altLang="en-US" sz="2400" b="0" dirty="0"/>
              <a:t>数据的最小存取单位是</a:t>
            </a:r>
            <a:r>
              <a:rPr lang="zh-CN" altLang="en-US" sz="2400" b="0" dirty="0">
                <a:solidFill>
                  <a:srgbClr val="746AFC"/>
                </a:solidFill>
              </a:rPr>
              <a:t>数据项</a:t>
            </a:r>
            <a:endParaRPr lang="zh-CN" altLang="en-US" dirty="0"/>
          </a:p>
          <a:p>
            <a:pPr lvl="1" eaLnBrk="1" hangingPunct="1"/>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43" name="Rectangle 2"/>
          <p:cNvSpPr>
            <a:spLocks noGrp="1"/>
          </p:cNvSpPr>
          <p:nvPr>
            <p:ph type="title"/>
          </p:nvPr>
        </p:nvSpPr>
        <p:spPr>
          <a:xfrm>
            <a:off x="685800" y="152400"/>
            <a:ext cx="8134350" cy="1692275"/>
          </a:xfrm>
          <a:ln/>
        </p:spPr>
        <p:txBody>
          <a:bodyPr vert="horz" wrap="square" lIns="91440" tIns="45720" rIns="91440" bIns="45720" anchor="ctr" anchorCtr="0"/>
          <a:p>
            <a:pPr eaLnBrk="1" hangingPunct="1"/>
            <a:r>
              <a:rPr lang="zh-CN" altLang="en-US" sz="4000" dirty="0">
                <a:ea typeface="宋体" panose="02010600030101010101" pitchFamily="2" charset="-122"/>
              </a:rPr>
              <a:t>数据的共享性高，</a:t>
            </a:r>
            <a:br>
              <a:rPr lang="zh-CN" altLang="en-US" sz="4000" dirty="0">
                <a:ea typeface="宋体" panose="02010600030101010101" pitchFamily="2" charset="-122"/>
              </a:rPr>
            </a:br>
            <a:r>
              <a:rPr lang="zh-CN" altLang="en-US" sz="4000" dirty="0">
                <a:ea typeface="宋体" panose="02010600030101010101" pitchFamily="2" charset="-122"/>
              </a:rPr>
              <a:t>冗余度低，易扩充</a:t>
            </a:r>
            <a:endParaRPr lang="zh-CN" altLang="en-US" sz="4000" dirty="0">
              <a:ea typeface="宋体" panose="02010600030101010101" pitchFamily="2" charset="-122"/>
            </a:endParaRPr>
          </a:p>
        </p:txBody>
      </p:sp>
      <p:sp>
        <p:nvSpPr>
          <p:cNvPr id="61444" name="Rectangle 3"/>
          <p:cNvSpPr>
            <a:spLocks noGrp="1"/>
          </p:cNvSpPr>
          <p:nvPr>
            <p:ph idx="1"/>
          </p:nvPr>
        </p:nvSpPr>
        <p:spPr>
          <a:xfrm>
            <a:off x="468313" y="1989138"/>
            <a:ext cx="8351837" cy="4495800"/>
          </a:xfrm>
          <a:ln/>
        </p:spPr>
        <p:txBody>
          <a:bodyPr vert="horz" wrap="square" lIns="91440" tIns="45720" rIns="91440" bIns="45720" anchor="t" anchorCtr="0"/>
          <a:p>
            <a:pPr eaLnBrk="1" hangingPunct="1"/>
            <a:r>
              <a:rPr lang="zh-CN" altLang="en-US" dirty="0"/>
              <a:t>数据库系统从整体角度看待和描述数据，数据面向整个系统，可以被多个用户、多个应用共享使用。</a:t>
            </a:r>
            <a:endParaRPr lang="zh-CN" altLang="en-US" dirty="0"/>
          </a:p>
          <a:p>
            <a:pPr eaLnBrk="1" hangingPunct="1"/>
            <a:r>
              <a:rPr lang="zh-CN" altLang="en-US" dirty="0"/>
              <a:t>数据共享的好处</a:t>
            </a:r>
            <a:endParaRPr lang="zh-CN" altLang="en-US" dirty="0"/>
          </a:p>
          <a:p>
            <a:pPr lvl="1" eaLnBrk="1" hangingPunct="1"/>
            <a:r>
              <a:rPr lang="zh-CN" altLang="en-US" dirty="0"/>
              <a:t>减少数据冗余，节约存储空间</a:t>
            </a:r>
            <a:endParaRPr lang="zh-CN" altLang="en-US" dirty="0"/>
          </a:p>
          <a:p>
            <a:pPr lvl="1" eaLnBrk="1" hangingPunct="1"/>
            <a:r>
              <a:rPr lang="zh-CN" altLang="en-US" dirty="0"/>
              <a:t>避免数据之间的不相容性与不一致性 </a:t>
            </a:r>
            <a:endParaRPr lang="zh-CN" altLang="en-US" dirty="0"/>
          </a:p>
          <a:p>
            <a:pPr lvl="1" eaLnBrk="1" hangingPunct="1"/>
            <a:r>
              <a:rPr lang="zh-CN" altLang="en-US" dirty="0"/>
              <a:t>使系统易于扩充</a:t>
            </a:r>
            <a:endParaRPr lang="zh-CN" altLang="en-US" b="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2467" name="Rectangle 2"/>
          <p:cNvSpPr>
            <a:spLocks noGrp="1"/>
          </p:cNvSpPr>
          <p:nvPr>
            <p:ph type="title"/>
          </p:nvPr>
        </p:nvSpPr>
        <p:spPr>
          <a:xfrm>
            <a:off x="684213" y="404813"/>
            <a:ext cx="7772400" cy="1143000"/>
          </a:xfrm>
          <a:ln/>
        </p:spPr>
        <p:txBody>
          <a:bodyPr vert="horz" wrap="square" lIns="91440" tIns="45720" rIns="91440" bIns="45720" anchor="ctr" anchorCtr="0"/>
          <a:p>
            <a:pPr eaLnBrk="1" hangingPunct="1"/>
            <a:r>
              <a:rPr lang="zh-CN" altLang="en-US" dirty="0">
                <a:ea typeface="宋体" panose="02010600030101010101" pitchFamily="2" charset="-122"/>
              </a:rPr>
              <a:t>数据独立性高</a:t>
            </a:r>
            <a:endParaRPr lang="zh-CN" altLang="en-US" dirty="0">
              <a:ea typeface="宋体" panose="02010600030101010101" pitchFamily="2" charset="-122"/>
            </a:endParaRPr>
          </a:p>
        </p:txBody>
      </p:sp>
      <p:sp>
        <p:nvSpPr>
          <p:cNvPr id="62468" name="Rectangle 3"/>
          <p:cNvSpPr>
            <a:spLocks noGrp="1"/>
          </p:cNvSpPr>
          <p:nvPr>
            <p:ph idx="1"/>
          </p:nvPr>
        </p:nvSpPr>
        <p:spPr>
          <a:xfrm>
            <a:off x="468313" y="1447800"/>
            <a:ext cx="8351837" cy="4724400"/>
          </a:xfrm>
          <a:ln/>
        </p:spPr>
        <p:txBody>
          <a:bodyPr vert="horz" wrap="square" lIns="91440" tIns="45720" rIns="91440" bIns="45720" anchor="t" anchorCtr="0"/>
          <a:p>
            <a:pPr eaLnBrk="1" hangingPunct="1"/>
            <a:r>
              <a:rPr lang="zh-CN" altLang="en-US" sz="2800" dirty="0"/>
              <a:t>物理独立性</a:t>
            </a:r>
            <a:endParaRPr lang="zh-CN" altLang="en-US" sz="2800" dirty="0"/>
          </a:p>
          <a:p>
            <a:pPr lvl="1" eaLnBrk="1" hangingPunct="1"/>
            <a:r>
              <a:rPr lang="zh-CN" altLang="en-US" sz="2400" b="0" dirty="0"/>
              <a:t>指用户的应用程序与存储在磁盘上的数据库中数据是相互独立的。当数据的物理存储改变了，应用程序不用改变</a:t>
            </a:r>
            <a:r>
              <a:rPr lang="zh-CN" altLang="en-US" sz="2400" dirty="0"/>
              <a:t>。</a:t>
            </a:r>
            <a:endParaRPr lang="zh-CN" altLang="en-US" sz="2400" dirty="0"/>
          </a:p>
          <a:p>
            <a:pPr algn="just" eaLnBrk="1" hangingPunct="1"/>
            <a:r>
              <a:rPr lang="zh-CN" altLang="en-US" sz="2800" dirty="0"/>
              <a:t>逻辑独立性</a:t>
            </a:r>
            <a:endParaRPr lang="zh-CN" altLang="en-US" sz="2800" dirty="0"/>
          </a:p>
          <a:p>
            <a:pPr lvl="1" algn="just" eaLnBrk="1" hangingPunct="1"/>
            <a:r>
              <a:rPr lang="zh-CN" altLang="en-US" sz="2400" b="0" dirty="0"/>
              <a:t>指用户的应用程序与数据库的逻辑结构是相互独立的。数据的逻辑结构改变了，用户程序也可以不变</a:t>
            </a:r>
            <a:r>
              <a:rPr lang="zh-CN" altLang="en-US" sz="2400" dirty="0"/>
              <a:t>。</a:t>
            </a:r>
            <a:endParaRPr lang="zh-CN" altLang="en-US" sz="2400" dirty="0"/>
          </a:p>
          <a:p>
            <a:pPr algn="just" eaLnBrk="1" hangingPunct="1"/>
            <a:r>
              <a:rPr lang="zh-CN" altLang="en-US" sz="2800" dirty="0"/>
              <a:t>数据独立性是由</a:t>
            </a:r>
            <a:r>
              <a:rPr lang="en-US" altLang="zh-CN" sz="2800" dirty="0"/>
              <a:t>DBMS</a:t>
            </a:r>
            <a:r>
              <a:rPr lang="zh-CN" altLang="en-US" sz="2800" dirty="0"/>
              <a:t>的二级映像功能来保证的</a:t>
            </a:r>
            <a:endParaRPr lang="zh-CN" altLang="en-US" sz="2800" dirty="0"/>
          </a:p>
          <a:p>
            <a:pPr lvl="1" algn="just" eaLnBrk="1" hangingPunct="1"/>
            <a:endParaRPr lang="zh-CN" alt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3491" name="Rectangle 2"/>
          <p:cNvSpPr>
            <a:spLocks noGrp="1"/>
          </p:cNvSpPr>
          <p:nvPr>
            <p:ph type="title"/>
          </p:nvPr>
        </p:nvSpPr>
        <p:spPr>
          <a:xfrm>
            <a:off x="684213" y="404813"/>
            <a:ext cx="7772400" cy="1143000"/>
          </a:xfrm>
          <a:ln/>
        </p:spPr>
        <p:txBody>
          <a:bodyPr vert="horz" wrap="square" lIns="91440" tIns="45720" rIns="91440" bIns="45720" anchor="ctr" anchorCtr="0"/>
          <a:p>
            <a:pPr eaLnBrk="1" hangingPunct="1"/>
            <a:r>
              <a:rPr lang="zh-CN" altLang="en-US" dirty="0">
                <a:ea typeface="宋体" panose="02010600030101010101" pitchFamily="2" charset="-122"/>
              </a:rPr>
              <a:t>数据由</a:t>
            </a:r>
            <a:r>
              <a:rPr lang="en-US" altLang="zh-CN" dirty="0">
                <a:ea typeface="宋体" panose="02010600030101010101" pitchFamily="2" charset="-122"/>
              </a:rPr>
              <a:t>DBMS</a:t>
            </a:r>
            <a:r>
              <a:rPr lang="zh-CN" altLang="en-US" dirty="0">
                <a:ea typeface="宋体" panose="02010600030101010101" pitchFamily="2" charset="-122"/>
              </a:rPr>
              <a:t>统一管理和控制</a:t>
            </a:r>
            <a:endParaRPr lang="zh-CN" altLang="en-US" dirty="0">
              <a:ea typeface="宋体" panose="02010600030101010101" pitchFamily="2" charset="-122"/>
            </a:endParaRPr>
          </a:p>
        </p:txBody>
      </p:sp>
      <p:sp>
        <p:nvSpPr>
          <p:cNvPr id="63492" name="Rectangle 3"/>
          <p:cNvSpPr>
            <a:spLocks noGrp="1"/>
          </p:cNvSpPr>
          <p:nvPr>
            <p:ph idx="1"/>
          </p:nvPr>
        </p:nvSpPr>
        <p:spPr>
          <a:xfrm>
            <a:off x="685800" y="1447800"/>
            <a:ext cx="8134350" cy="4724400"/>
          </a:xfrm>
          <a:ln/>
        </p:spPr>
        <p:txBody>
          <a:bodyPr vert="horz" wrap="square" lIns="91440" tIns="45720" rIns="91440" bIns="45720" anchor="t" anchorCtr="0"/>
          <a:p>
            <a:pPr algn="just" eaLnBrk="1" hangingPunct="1">
              <a:lnSpc>
                <a:spcPct val="115000"/>
              </a:lnSpc>
            </a:pPr>
            <a:r>
              <a:rPr lang="en-US" altLang="zh-CN" sz="2800" dirty="0"/>
              <a:t>DBMS</a:t>
            </a:r>
            <a:r>
              <a:rPr lang="zh-CN" altLang="en-US" sz="2800" dirty="0"/>
              <a:t>提供的数据控制功能</a:t>
            </a:r>
            <a:endParaRPr lang="zh-CN" altLang="en-US" sz="2800" dirty="0"/>
          </a:p>
          <a:p>
            <a:pPr lvl="1" algn="just" eaLnBrk="1" hangingPunct="1">
              <a:lnSpc>
                <a:spcPct val="115000"/>
              </a:lnSpc>
              <a:buNone/>
            </a:pPr>
            <a:r>
              <a:rPr lang="en-US" altLang="zh-CN" sz="2600" dirty="0"/>
              <a:t>(1)</a:t>
            </a:r>
            <a:r>
              <a:rPr lang="zh-CN" altLang="en-US" sz="2600" dirty="0"/>
              <a:t>数据的安全性（</a:t>
            </a:r>
            <a:r>
              <a:rPr lang="en-US" altLang="zh-CN" sz="2600" dirty="0"/>
              <a:t>Security</a:t>
            </a:r>
            <a:r>
              <a:rPr lang="zh-CN" altLang="en-US" sz="2600" dirty="0"/>
              <a:t>）保护</a:t>
            </a:r>
            <a:endParaRPr lang="zh-CN" altLang="en-US" sz="2600" dirty="0"/>
          </a:p>
          <a:p>
            <a:pPr lvl="2" algn="just" eaLnBrk="1" hangingPunct="1">
              <a:lnSpc>
                <a:spcPct val="115000"/>
              </a:lnSpc>
              <a:buFont typeface="Wingdings" panose="05000000000000000000" pitchFamily="2" charset="2"/>
              <a:buNone/>
            </a:pPr>
            <a:r>
              <a:rPr lang="zh-CN" altLang="en-US" sz="1800" dirty="0">
                <a:ea typeface="宋体" panose="02010600030101010101" pitchFamily="2" charset="-122"/>
              </a:rPr>
              <a:t>保护数据，以防止不合法的使用造成的数据的泄密和破坏。</a:t>
            </a:r>
            <a:endParaRPr lang="zh-CN" altLang="en-US" sz="1800" dirty="0">
              <a:ea typeface="宋体" panose="02010600030101010101" pitchFamily="2" charset="-122"/>
            </a:endParaRPr>
          </a:p>
          <a:p>
            <a:pPr lvl="1" algn="just" eaLnBrk="1" hangingPunct="1">
              <a:lnSpc>
                <a:spcPct val="115000"/>
              </a:lnSpc>
              <a:buNone/>
            </a:pPr>
            <a:r>
              <a:rPr lang="en-US" altLang="zh-CN" sz="2400" dirty="0"/>
              <a:t>(2)</a:t>
            </a:r>
            <a:r>
              <a:rPr lang="zh-CN" altLang="en-US" sz="2400" dirty="0"/>
              <a:t>数据的完整性（</a:t>
            </a:r>
            <a:r>
              <a:rPr lang="en-US" altLang="zh-CN" sz="2400" dirty="0"/>
              <a:t>Integrity</a:t>
            </a:r>
            <a:r>
              <a:rPr lang="zh-CN" altLang="en-US" sz="2400" dirty="0"/>
              <a:t>）检查</a:t>
            </a:r>
            <a:endParaRPr lang="zh-CN" altLang="en-US" sz="2400" dirty="0"/>
          </a:p>
          <a:p>
            <a:pPr lvl="2" algn="just" eaLnBrk="1" hangingPunct="1">
              <a:lnSpc>
                <a:spcPct val="115000"/>
              </a:lnSpc>
              <a:buFont typeface="Wingdings" panose="05000000000000000000" pitchFamily="2" charset="2"/>
              <a:buNone/>
            </a:pPr>
            <a:r>
              <a:rPr lang="zh-CN" altLang="en-US" sz="1800" dirty="0">
                <a:ea typeface="宋体" panose="02010600030101010101" pitchFamily="2" charset="-122"/>
              </a:rPr>
              <a:t>将数据控制在有效的范围内，或保证数据之间满足一定的关系。</a:t>
            </a:r>
            <a:endParaRPr lang="zh-CN" altLang="en-US" sz="1800" dirty="0">
              <a:ea typeface="宋体" panose="02010600030101010101" pitchFamily="2" charset="-122"/>
            </a:endParaRPr>
          </a:p>
          <a:p>
            <a:pPr lvl="1" algn="just" eaLnBrk="1" hangingPunct="1">
              <a:lnSpc>
                <a:spcPct val="115000"/>
              </a:lnSpc>
              <a:buNone/>
            </a:pPr>
            <a:r>
              <a:rPr lang="en-US" altLang="zh-CN" sz="2400" dirty="0"/>
              <a:t>(3)</a:t>
            </a:r>
            <a:r>
              <a:rPr lang="zh-CN" altLang="en-US" sz="2400" dirty="0"/>
              <a:t>并发（</a:t>
            </a:r>
            <a:r>
              <a:rPr lang="en-US" altLang="zh-CN" sz="2400" dirty="0"/>
              <a:t>Concurrency</a:t>
            </a:r>
            <a:r>
              <a:rPr lang="zh-CN" altLang="en-US" sz="2400" dirty="0"/>
              <a:t>）控制</a:t>
            </a:r>
            <a:endParaRPr lang="zh-CN" altLang="en-US" sz="2400" dirty="0"/>
          </a:p>
          <a:p>
            <a:pPr lvl="2" algn="just" eaLnBrk="1" hangingPunct="1">
              <a:lnSpc>
                <a:spcPct val="115000"/>
              </a:lnSpc>
              <a:buFont typeface="Wingdings" panose="05000000000000000000" pitchFamily="2" charset="2"/>
              <a:buNone/>
            </a:pPr>
            <a:r>
              <a:rPr lang="zh-CN" altLang="en-US" sz="1800" dirty="0">
                <a:ea typeface="宋体" panose="02010600030101010101" pitchFamily="2" charset="-122"/>
              </a:rPr>
              <a:t>对多用户的并发操作加以控制和协调，防止相互干扰而得到错误结果。</a:t>
            </a:r>
            <a:endParaRPr lang="zh-CN" altLang="en-US" sz="1800" dirty="0">
              <a:ea typeface="宋体" panose="02010600030101010101" pitchFamily="2" charset="-122"/>
            </a:endParaRPr>
          </a:p>
          <a:p>
            <a:pPr lvl="1" algn="just" eaLnBrk="1" hangingPunct="1">
              <a:lnSpc>
                <a:spcPct val="115000"/>
              </a:lnSpc>
              <a:buNone/>
            </a:pPr>
            <a:r>
              <a:rPr lang="en-US" altLang="zh-CN" sz="2400" dirty="0"/>
              <a:t>(4)</a:t>
            </a:r>
            <a:r>
              <a:rPr lang="zh-CN" altLang="en-US" sz="2400" dirty="0"/>
              <a:t>数据库恢复（</a:t>
            </a:r>
            <a:r>
              <a:rPr lang="en-US" altLang="zh-CN" sz="2400" dirty="0"/>
              <a:t>Recovery</a:t>
            </a:r>
            <a:r>
              <a:rPr lang="zh-CN" altLang="en-US" sz="2400" dirty="0"/>
              <a:t>）</a:t>
            </a:r>
            <a:endParaRPr lang="zh-CN" altLang="en-US" sz="2400" dirty="0"/>
          </a:p>
          <a:p>
            <a:pPr lvl="2" algn="just" eaLnBrk="1" hangingPunct="1">
              <a:lnSpc>
                <a:spcPct val="115000"/>
              </a:lnSpc>
              <a:buFont typeface="Wingdings" panose="05000000000000000000" pitchFamily="2" charset="2"/>
              <a:buNone/>
            </a:pPr>
            <a:r>
              <a:rPr lang="zh-CN" altLang="en-US" sz="1800" dirty="0">
                <a:ea typeface="宋体" panose="02010600030101010101" pitchFamily="2" charset="-122"/>
              </a:rPr>
              <a:t>将数据库从错误状态恢复到某一已知的正确状态。</a:t>
            </a:r>
            <a:endParaRPr lang="zh-CN" altLang="en-US" sz="1800" dirty="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4515" name="Rectangle 2"/>
          <p:cNvSpPr>
            <a:spLocks noGrp="1"/>
          </p:cNvSpPr>
          <p:nvPr>
            <p:ph type="title"/>
          </p:nvPr>
        </p:nvSpPr>
        <p:spPr>
          <a:ln/>
        </p:spPr>
        <p:txBody>
          <a:bodyPr vert="horz" wrap="square" lIns="91440" tIns="45720" rIns="91440" bIns="45720" anchor="ctr" anchorCtr="0"/>
          <a:p>
            <a:pPr eaLnBrk="1" hangingPunct="1"/>
            <a:r>
              <a:rPr lang="zh-CN" altLang="en-US" sz="3300" dirty="0">
                <a:ea typeface="宋体" panose="02010600030101010101" pitchFamily="2" charset="-122"/>
              </a:rPr>
              <a:t>应用程序与数据的对应关系</a:t>
            </a:r>
            <a:r>
              <a:rPr lang="en-US" altLang="zh-CN" sz="3300" dirty="0">
                <a:ea typeface="宋体" panose="02010600030101010101" pitchFamily="2" charset="-122"/>
              </a:rPr>
              <a:t>(</a:t>
            </a:r>
            <a:r>
              <a:rPr lang="zh-CN" altLang="en-US" sz="3300" dirty="0">
                <a:ea typeface="宋体" panose="02010600030101010101" pitchFamily="2" charset="-122"/>
              </a:rPr>
              <a:t>数据库系统</a:t>
            </a:r>
            <a:r>
              <a:rPr lang="en-US" altLang="zh-CN" sz="3300" dirty="0">
                <a:ea typeface="宋体" panose="02010600030101010101" pitchFamily="2" charset="-122"/>
              </a:rPr>
              <a:t>)</a:t>
            </a:r>
            <a:endParaRPr lang="en-US" altLang="zh-CN" sz="3600" dirty="0">
              <a:ea typeface="宋体" panose="02010600030101010101" pitchFamily="2" charset="-122"/>
            </a:endParaRPr>
          </a:p>
        </p:txBody>
      </p:sp>
      <p:grpSp>
        <p:nvGrpSpPr>
          <p:cNvPr id="64516" name="Group 3"/>
          <p:cNvGrpSpPr/>
          <p:nvPr/>
        </p:nvGrpSpPr>
        <p:grpSpPr>
          <a:xfrm>
            <a:off x="1258888" y="1916113"/>
            <a:ext cx="6138862" cy="3592512"/>
            <a:chOff x="1216" y="1162"/>
            <a:chExt cx="3867" cy="2263"/>
          </a:xfrm>
        </p:grpSpPr>
        <p:sp>
          <p:nvSpPr>
            <p:cNvPr id="64518" name="Line 4"/>
            <p:cNvSpPr/>
            <p:nvPr/>
          </p:nvSpPr>
          <p:spPr>
            <a:xfrm>
              <a:off x="1216" y="3425"/>
              <a:ext cx="0" cy="0"/>
            </a:xfrm>
            <a:prstGeom prst="line">
              <a:avLst/>
            </a:prstGeom>
            <a:ln w="9525" cap="flat" cmpd="sng">
              <a:solidFill>
                <a:srgbClr val="000000"/>
              </a:solidFill>
              <a:prstDash val="solid"/>
              <a:headEnd type="none" w="med" len="med"/>
              <a:tailEnd type="none" w="med" len="med"/>
            </a:ln>
          </p:spPr>
        </p:sp>
        <p:sp>
          <p:nvSpPr>
            <p:cNvPr id="64519" name="Line 5"/>
            <p:cNvSpPr/>
            <p:nvPr/>
          </p:nvSpPr>
          <p:spPr>
            <a:xfrm>
              <a:off x="1279" y="3171"/>
              <a:ext cx="64" cy="127"/>
            </a:xfrm>
            <a:prstGeom prst="line">
              <a:avLst/>
            </a:prstGeom>
            <a:ln w="9525" cap="flat" cmpd="sng">
              <a:solidFill>
                <a:srgbClr val="000000"/>
              </a:solidFill>
              <a:prstDash val="solid"/>
              <a:headEnd type="none" w="med" len="med"/>
              <a:tailEnd type="none" w="med" len="med"/>
            </a:ln>
          </p:spPr>
        </p:sp>
        <p:grpSp>
          <p:nvGrpSpPr>
            <p:cNvPr id="64520" name="Group 6"/>
            <p:cNvGrpSpPr/>
            <p:nvPr/>
          </p:nvGrpSpPr>
          <p:grpSpPr>
            <a:xfrm>
              <a:off x="1562" y="2795"/>
              <a:ext cx="698" cy="372"/>
              <a:chOff x="2119" y="7370"/>
              <a:chExt cx="1155" cy="471"/>
            </a:xfrm>
          </p:grpSpPr>
          <p:sp>
            <p:nvSpPr>
              <p:cNvPr id="64545" name="Rectangle 7"/>
              <p:cNvSpPr/>
              <p:nvPr/>
            </p:nvSpPr>
            <p:spPr>
              <a:xfrm>
                <a:off x="2224" y="7370"/>
                <a:ext cx="1050" cy="31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4546" name="Line 8"/>
              <p:cNvSpPr/>
              <p:nvPr/>
            </p:nvSpPr>
            <p:spPr>
              <a:xfrm flipH="1">
                <a:off x="2119" y="7684"/>
                <a:ext cx="105" cy="157"/>
              </a:xfrm>
              <a:prstGeom prst="line">
                <a:avLst/>
              </a:prstGeom>
              <a:ln w="9525" cap="flat" cmpd="sng">
                <a:solidFill>
                  <a:srgbClr val="000000"/>
                </a:solidFill>
                <a:prstDash val="solid"/>
                <a:headEnd type="none" w="med" len="med"/>
                <a:tailEnd type="none" w="med" len="med"/>
              </a:ln>
            </p:spPr>
          </p:sp>
          <p:sp>
            <p:nvSpPr>
              <p:cNvPr id="64547" name="Line 9"/>
              <p:cNvSpPr/>
              <p:nvPr/>
            </p:nvSpPr>
            <p:spPr>
              <a:xfrm flipH="1">
                <a:off x="3169" y="7684"/>
                <a:ext cx="105" cy="157"/>
              </a:xfrm>
              <a:prstGeom prst="line">
                <a:avLst/>
              </a:prstGeom>
              <a:ln w="9525" cap="flat" cmpd="sng">
                <a:solidFill>
                  <a:srgbClr val="000000"/>
                </a:solidFill>
                <a:prstDash val="solid"/>
                <a:headEnd type="none" w="med" len="med"/>
                <a:tailEnd type="none" w="med" len="med"/>
              </a:ln>
            </p:spPr>
          </p:sp>
          <p:sp>
            <p:nvSpPr>
              <p:cNvPr id="64548" name="Line 10"/>
              <p:cNvSpPr/>
              <p:nvPr/>
            </p:nvSpPr>
            <p:spPr>
              <a:xfrm>
                <a:off x="2119" y="7841"/>
                <a:ext cx="1050" cy="0"/>
              </a:xfrm>
              <a:prstGeom prst="line">
                <a:avLst/>
              </a:prstGeom>
              <a:ln w="9525" cap="flat" cmpd="sng">
                <a:solidFill>
                  <a:srgbClr val="000000"/>
                </a:solidFill>
                <a:prstDash val="solid"/>
                <a:headEnd type="none" w="med" len="med"/>
                <a:tailEnd type="none" w="med" len="med"/>
              </a:ln>
            </p:spPr>
          </p:sp>
        </p:grpSp>
        <p:grpSp>
          <p:nvGrpSpPr>
            <p:cNvPr id="64521" name="Group 11"/>
            <p:cNvGrpSpPr/>
            <p:nvPr/>
          </p:nvGrpSpPr>
          <p:grpSpPr>
            <a:xfrm>
              <a:off x="1371" y="2919"/>
              <a:ext cx="254" cy="496"/>
              <a:chOff x="1909" y="7527"/>
              <a:chExt cx="420" cy="628"/>
            </a:xfrm>
          </p:grpSpPr>
          <p:grpSp>
            <p:nvGrpSpPr>
              <p:cNvPr id="64539" name="Group 12"/>
              <p:cNvGrpSpPr/>
              <p:nvPr/>
            </p:nvGrpSpPr>
            <p:grpSpPr>
              <a:xfrm>
                <a:off x="1909" y="7527"/>
                <a:ext cx="261" cy="628"/>
                <a:chOff x="1909" y="7527"/>
                <a:chExt cx="261" cy="628"/>
              </a:xfrm>
            </p:grpSpPr>
            <p:sp>
              <p:nvSpPr>
                <p:cNvPr id="64541" name="AutoShape 13"/>
                <p:cNvSpPr/>
                <p:nvPr/>
              </p:nvSpPr>
              <p:spPr>
                <a:xfrm>
                  <a:off x="2065" y="7527"/>
                  <a:ext cx="105" cy="142"/>
                </a:xfrm>
                <a:prstGeom prst="flowChartConnector">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4542" name="Arc 14"/>
                <p:cNvSpPr/>
                <p:nvPr/>
              </p:nvSpPr>
              <p:spPr>
                <a:xfrm flipH="1">
                  <a:off x="2008" y="7684"/>
                  <a:ext cx="105" cy="31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none" w="med" len="med"/>
                </a:ln>
              </p:spPr>
              <p:txBody>
                <a:bodyPr/>
                <a:p>
                  <a:endParaRPr lang="en-US"/>
                </a:p>
              </p:txBody>
            </p:sp>
            <p:sp>
              <p:nvSpPr>
                <p:cNvPr id="64543" name="Line 15"/>
                <p:cNvSpPr/>
                <p:nvPr/>
              </p:nvSpPr>
              <p:spPr>
                <a:xfrm>
                  <a:off x="2014" y="7998"/>
                  <a:ext cx="105" cy="157"/>
                </a:xfrm>
                <a:prstGeom prst="line">
                  <a:avLst/>
                </a:prstGeom>
                <a:ln w="9525" cap="flat" cmpd="sng">
                  <a:solidFill>
                    <a:srgbClr val="000000"/>
                  </a:solidFill>
                  <a:prstDash val="solid"/>
                  <a:headEnd type="none" w="med" len="med"/>
                  <a:tailEnd type="none" w="med" len="med"/>
                </a:ln>
              </p:spPr>
            </p:sp>
            <p:sp>
              <p:nvSpPr>
                <p:cNvPr id="64544" name="Line 16"/>
                <p:cNvSpPr/>
                <p:nvPr/>
              </p:nvSpPr>
              <p:spPr>
                <a:xfrm flipH="1">
                  <a:off x="1909" y="7998"/>
                  <a:ext cx="105" cy="157"/>
                </a:xfrm>
                <a:prstGeom prst="line">
                  <a:avLst/>
                </a:prstGeom>
                <a:ln w="9525" cap="flat" cmpd="sng">
                  <a:solidFill>
                    <a:srgbClr val="000000"/>
                  </a:solidFill>
                  <a:prstDash val="solid"/>
                  <a:headEnd type="none" w="med" len="med"/>
                  <a:tailEnd type="none" w="med" len="med"/>
                </a:ln>
              </p:spPr>
            </p:sp>
          </p:grpSp>
          <p:sp>
            <p:nvSpPr>
              <p:cNvPr id="64540" name="Line 17"/>
              <p:cNvSpPr/>
              <p:nvPr/>
            </p:nvSpPr>
            <p:spPr>
              <a:xfrm>
                <a:off x="2119" y="7684"/>
                <a:ext cx="210" cy="157"/>
              </a:xfrm>
              <a:prstGeom prst="line">
                <a:avLst/>
              </a:prstGeom>
              <a:ln w="9525" cap="flat" cmpd="sng">
                <a:solidFill>
                  <a:srgbClr val="000000"/>
                </a:solidFill>
                <a:prstDash val="solid"/>
                <a:headEnd type="none" w="med" len="med"/>
                <a:tailEnd type="none" w="med" len="med"/>
              </a:ln>
            </p:spPr>
          </p:sp>
        </p:grpSp>
        <p:sp>
          <p:nvSpPr>
            <p:cNvPr id="64522" name="AutoShape 18"/>
            <p:cNvSpPr/>
            <p:nvPr/>
          </p:nvSpPr>
          <p:spPr>
            <a:xfrm>
              <a:off x="2608" y="1706"/>
              <a:ext cx="953" cy="762"/>
            </a:xfrm>
            <a:prstGeom prst="hexagon">
              <a:avLst>
                <a:gd name="adj" fmla="val 31266"/>
                <a:gd name="vf" fmla="val 115470"/>
              </a:avLst>
            </a:prstGeom>
            <a:solidFill>
              <a:srgbClr val="FFFFFF"/>
            </a:solidFill>
            <a:ln w="9525" cap="flat" cmpd="sng">
              <a:solidFill>
                <a:srgbClr val="000000"/>
              </a:solidFill>
              <a:prstDash val="solid"/>
              <a:miter/>
              <a:headEnd type="none" w="med" len="med"/>
              <a:tailEnd type="none" w="med" len="med"/>
            </a:ln>
          </p:spPr>
          <p:txBody>
            <a:bodyPr lIns="0" tIns="190800" rIns="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000" dirty="0">
                  <a:solidFill>
                    <a:schemeClr val="tx1"/>
                  </a:solidFill>
                  <a:cs typeface="Arial" panose="020B0604020202020204" pitchFamily="34" charset="0"/>
                </a:rPr>
                <a:t>DBMS</a:t>
              </a:r>
              <a:endParaRPr lang="en-US" altLang="zh-CN" sz="2000" dirty="0">
                <a:solidFill>
                  <a:schemeClr val="tx1"/>
                </a:solidFill>
                <a:ea typeface="Arial" panose="020B0604020202020204" pitchFamily="34" charset="0"/>
              </a:endParaRPr>
            </a:p>
          </p:txBody>
        </p:sp>
        <p:sp>
          <p:nvSpPr>
            <p:cNvPr id="64523" name="AutoShape 19"/>
            <p:cNvSpPr/>
            <p:nvPr/>
          </p:nvSpPr>
          <p:spPr>
            <a:xfrm>
              <a:off x="4130" y="1344"/>
              <a:ext cx="953" cy="1778"/>
            </a:xfrm>
            <a:prstGeom prst="can">
              <a:avLst>
                <a:gd name="adj" fmla="val 46639"/>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4524" name="Rectangle 20"/>
            <p:cNvSpPr/>
            <p:nvPr/>
          </p:nvSpPr>
          <p:spPr>
            <a:xfrm>
              <a:off x="4316" y="2024"/>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4525" name="Rectangle 21"/>
            <p:cNvSpPr/>
            <p:nvPr/>
          </p:nvSpPr>
          <p:spPr>
            <a:xfrm>
              <a:off x="4316"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4526" name="Rectangle 22"/>
            <p:cNvSpPr/>
            <p:nvPr/>
          </p:nvSpPr>
          <p:spPr>
            <a:xfrm>
              <a:off x="4697"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4527" name="Rectangle 23"/>
            <p:cNvSpPr/>
            <p:nvPr/>
          </p:nvSpPr>
          <p:spPr>
            <a:xfrm>
              <a:off x="4507" y="2786"/>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4528" name="Line 24"/>
            <p:cNvSpPr/>
            <p:nvPr/>
          </p:nvSpPr>
          <p:spPr>
            <a:xfrm>
              <a:off x="4443" y="2151"/>
              <a:ext cx="0" cy="254"/>
            </a:xfrm>
            <a:prstGeom prst="line">
              <a:avLst/>
            </a:prstGeom>
            <a:ln w="9525" cap="flat" cmpd="sng">
              <a:solidFill>
                <a:srgbClr val="000000"/>
              </a:solidFill>
              <a:prstDash val="solid"/>
              <a:headEnd type="none" w="med" len="med"/>
              <a:tailEnd type="triangle" w="med" len="med"/>
            </a:ln>
          </p:spPr>
        </p:sp>
        <p:sp>
          <p:nvSpPr>
            <p:cNvPr id="64529" name="Line 25"/>
            <p:cNvSpPr/>
            <p:nvPr/>
          </p:nvSpPr>
          <p:spPr>
            <a:xfrm>
              <a:off x="4507" y="2532"/>
              <a:ext cx="63" cy="254"/>
            </a:xfrm>
            <a:prstGeom prst="line">
              <a:avLst/>
            </a:prstGeom>
            <a:ln w="9525" cap="flat" cmpd="sng">
              <a:solidFill>
                <a:srgbClr val="000000"/>
              </a:solidFill>
              <a:prstDash val="solid"/>
              <a:headEnd type="none" w="med" len="med"/>
              <a:tailEnd type="triangle" w="med" len="med"/>
            </a:ln>
          </p:spPr>
        </p:sp>
        <p:sp>
          <p:nvSpPr>
            <p:cNvPr id="64530" name="Line 26"/>
            <p:cNvSpPr/>
            <p:nvPr/>
          </p:nvSpPr>
          <p:spPr>
            <a:xfrm flipH="1">
              <a:off x="4697" y="2532"/>
              <a:ext cx="64" cy="254"/>
            </a:xfrm>
            <a:prstGeom prst="line">
              <a:avLst/>
            </a:prstGeom>
            <a:ln w="9525" cap="flat" cmpd="sng">
              <a:solidFill>
                <a:srgbClr val="000000"/>
              </a:solidFill>
              <a:prstDash val="solid"/>
              <a:headEnd type="none" w="med" len="med"/>
              <a:tailEnd type="triangle" w="med" len="med"/>
            </a:ln>
          </p:spPr>
        </p:sp>
        <p:sp>
          <p:nvSpPr>
            <p:cNvPr id="64531" name="Line 27"/>
            <p:cNvSpPr/>
            <p:nvPr/>
          </p:nvSpPr>
          <p:spPr>
            <a:xfrm>
              <a:off x="3560" y="2069"/>
              <a:ext cx="571" cy="0"/>
            </a:xfrm>
            <a:prstGeom prst="line">
              <a:avLst/>
            </a:prstGeom>
            <a:ln w="9525" cap="flat" cmpd="sng">
              <a:solidFill>
                <a:srgbClr val="000000"/>
              </a:solidFill>
              <a:prstDash val="solid"/>
              <a:headEnd type="none" w="med" len="med"/>
              <a:tailEnd type="none" w="med" len="med"/>
            </a:ln>
          </p:spPr>
        </p:sp>
        <p:sp>
          <p:nvSpPr>
            <p:cNvPr id="64532" name="Line 28"/>
            <p:cNvSpPr/>
            <p:nvPr/>
          </p:nvSpPr>
          <p:spPr>
            <a:xfrm>
              <a:off x="2245" y="1480"/>
              <a:ext cx="590" cy="226"/>
            </a:xfrm>
            <a:prstGeom prst="line">
              <a:avLst/>
            </a:prstGeom>
            <a:ln w="9525" cap="flat" cmpd="sng">
              <a:solidFill>
                <a:srgbClr val="000000"/>
              </a:solidFill>
              <a:prstDash val="solid"/>
              <a:headEnd type="none" w="med" len="med"/>
              <a:tailEnd type="none" w="med" len="med"/>
            </a:ln>
          </p:spPr>
        </p:sp>
        <p:sp>
          <p:nvSpPr>
            <p:cNvPr id="64533" name="Line 29"/>
            <p:cNvSpPr/>
            <p:nvPr/>
          </p:nvSpPr>
          <p:spPr>
            <a:xfrm>
              <a:off x="2290" y="2069"/>
              <a:ext cx="318" cy="0"/>
            </a:xfrm>
            <a:prstGeom prst="line">
              <a:avLst/>
            </a:prstGeom>
            <a:ln w="9525" cap="flat" cmpd="sng">
              <a:solidFill>
                <a:srgbClr val="000000"/>
              </a:solidFill>
              <a:prstDash val="solid"/>
              <a:headEnd type="none" w="med" len="med"/>
              <a:tailEnd type="none" w="med" len="med"/>
            </a:ln>
          </p:spPr>
        </p:sp>
        <p:sp>
          <p:nvSpPr>
            <p:cNvPr id="64534" name="Line 30"/>
            <p:cNvSpPr/>
            <p:nvPr/>
          </p:nvSpPr>
          <p:spPr>
            <a:xfrm flipV="1">
              <a:off x="2290" y="2478"/>
              <a:ext cx="545" cy="498"/>
            </a:xfrm>
            <a:prstGeom prst="line">
              <a:avLst/>
            </a:prstGeom>
            <a:ln w="9525" cap="flat" cmpd="sng">
              <a:solidFill>
                <a:srgbClr val="000000"/>
              </a:solidFill>
              <a:prstDash val="solid"/>
              <a:headEnd type="none" w="med" len="med"/>
              <a:tailEnd type="none" w="med" len="med"/>
            </a:ln>
          </p:spPr>
        </p:sp>
        <p:sp>
          <p:nvSpPr>
            <p:cNvPr id="64535" name="Text Box 31"/>
            <p:cNvSpPr txBox="1"/>
            <p:nvPr/>
          </p:nvSpPr>
          <p:spPr>
            <a:xfrm>
              <a:off x="1383" y="1162"/>
              <a:ext cx="871" cy="379"/>
            </a:xfrm>
            <a:prstGeom prst="rect">
              <a:avLst/>
            </a:prstGeom>
            <a:solidFill>
              <a:srgbClr val="FFFFFF"/>
            </a:solidFill>
            <a:ln w="9525" cap="flat" cmpd="sng">
              <a:solidFill>
                <a:srgbClr val="000000"/>
              </a:solidFill>
              <a:prstDash val="solid"/>
              <a:miter/>
              <a:headEnd type="none" w="med" len="med"/>
              <a:tailEnd type="none" w="med" len="med"/>
            </a:ln>
          </p:spPr>
          <p:txBody>
            <a:bodyPr tIns="118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eaLnBrk="1" hangingPunct="1">
                <a:spcBef>
                  <a:spcPct val="0"/>
                </a:spcBef>
                <a:buClrTx/>
                <a:buFontTx/>
                <a:buNone/>
              </a:pPr>
              <a:r>
                <a:rPr lang="zh-CN" altLang="en-US" sz="2000" dirty="0">
                  <a:solidFill>
                    <a:schemeClr val="tx1"/>
                  </a:solidFill>
                  <a:cs typeface="Arial" panose="020B0604020202020204" pitchFamily="34" charset="0"/>
                </a:rPr>
                <a:t>应用程序</a:t>
              </a:r>
              <a:r>
                <a:rPr lang="en-US" altLang="zh-CN" sz="2000" dirty="0">
                  <a:solidFill>
                    <a:schemeClr val="tx1"/>
                  </a:solidFill>
                  <a:cs typeface="Arial" panose="020B0604020202020204" pitchFamily="34" charset="0"/>
                </a:rPr>
                <a:t>1</a:t>
              </a:r>
              <a:endParaRPr lang="en-US" altLang="zh-CN" sz="2000" dirty="0">
                <a:solidFill>
                  <a:schemeClr val="tx1"/>
                </a:solidFill>
                <a:ea typeface="Arial" panose="020B0604020202020204" pitchFamily="34" charset="0"/>
              </a:endParaRPr>
            </a:p>
          </p:txBody>
        </p:sp>
        <p:sp>
          <p:nvSpPr>
            <p:cNvPr id="64536" name="Text Box 32"/>
            <p:cNvSpPr txBox="1"/>
            <p:nvPr/>
          </p:nvSpPr>
          <p:spPr>
            <a:xfrm>
              <a:off x="1429" y="1933"/>
              <a:ext cx="871" cy="378"/>
            </a:xfrm>
            <a:prstGeom prst="rect">
              <a:avLst/>
            </a:prstGeom>
            <a:solidFill>
              <a:srgbClr val="FFFFFF"/>
            </a:solidFill>
            <a:ln w="9525" cap="flat" cmpd="sng">
              <a:solidFill>
                <a:srgbClr val="000000"/>
              </a:solidFill>
              <a:prstDash val="solid"/>
              <a:miter/>
              <a:headEnd type="none" w="med" len="med"/>
              <a:tailEnd type="none" w="med" len="med"/>
            </a:ln>
          </p:spPr>
          <p:txBody>
            <a:bodyPr tIns="118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just" eaLnBrk="1" hangingPunct="1">
                <a:spcBef>
                  <a:spcPct val="0"/>
                </a:spcBef>
                <a:buClrTx/>
                <a:buFontTx/>
                <a:buNone/>
              </a:pPr>
              <a:r>
                <a:rPr lang="zh-CN" altLang="en-US" sz="2000" dirty="0">
                  <a:solidFill>
                    <a:schemeClr val="tx1"/>
                  </a:solidFill>
                  <a:cs typeface="Arial" panose="020B0604020202020204" pitchFamily="34" charset="0"/>
                </a:rPr>
                <a:t>应用程序</a:t>
              </a:r>
              <a:r>
                <a:rPr lang="en-US" altLang="zh-CN" sz="2000" dirty="0">
                  <a:solidFill>
                    <a:schemeClr val="tx1"/>
                  </a:solidFill>
                  <a:cs typeface="Arial" panose="020B0604020202020204" pitchFamily="34" charset="0"/>
                </a:rPr>
                <a:t>2</a:t>
              </a:r>
              <a:endParaRPr lang="en-US" altLang="zh-CN" sz="2000" dirty="0">
                <a:solidFill>
                  <a:schemeClr val="tx1"/>
                </a:solidFill>
                <a:ea typeface="Arial" panose="020B0604020202020204" pitchFamily="34" charset="0"/>
              </a:endParaRPr>
            </a:p>
          </p:txBody>
        </p:sp>
        <p:sp>
          <p:nvSpPr>
            <p:cNvPr id="64537" name="Text Box 33"/>
            <p:cNvSpPr txBox="1"/>
            <p:nvPr/>
          </p:nvSpPr>
          <p:spPr>
            <a:xfrm>
              <a:off x="4332" y="1434"/>
              <a:ext cx="653" cy="253"/>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dirty="0">
                  <a:solidFill>
                    <a:schemeClr val="tx1"/>
                  </a:solidFill>
                  <a:cs typeface="Arial" panose="020B0604020202020204" pitchFamily="34" charset="0"/>
                </a:rPr>
                <a:t>数据库</a:t>
              </a:r>
              <a:endParaRPr lang="zh-CN" altLang="en-US" sz="2000" dirty="0">
                <a:solidFill>
                  <a:schemeClr val="tx1"/>
                </a:solidFill>
                <a:ea typeface="Arial" panose="020B0604020202020204" pitchFamily="34" charset="0"/>
              </a:endParaRPr>
            </a:p>
          </p:txBody>
        </p:sp>
        <p:sp>
          <p:nvSpPr>
            <p:cNvPr id="64538" name="Text Box 34"/>
            <p:cNvSpPr txBox="1"/>
            <p:nvPr/>
          </p:nvSpPr>
          <p:spPr>
            <a:xfrm>
              <a:off x="1701" y="2341"/>
              <a:ext cx="500" cy="528"/>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4000" b="0" dirty="0">
                  <a:solidFill>
                    <a:schemeClr val="tx1"/>
                  </a:solidFill>
                  <a:cs typeface="Arial" panose="020B0604020202020204" pitchFamily="34" charset="0"/>
                </a:rPr>
                <a:t>…</a:t>
              </a:r>
              <a:endParaRPr lang="en-US" altLang="zh-CN" sz="4000" b="0" dirty="0">
                <a:solidFill>
                  <a:schemeClr val="tx1"/>
                </a:solidFill>
                <a:ea typeface="Arial" panose="020B0604020202020204" pitchFamily="34" charset="0"/>
              </a:endParaRPr>
            </a:p>
          </p:txBody>
        </p:sp>
      </p:grpSp>
      <p:sp>
        <p:nvSpPr>
          <p:cNvPr id="64517" name="Text Box 35"/>
          <p:cNvSpPr txBox="1"/>
          <p:nvPr/>
        </p:nvSpPr>
        <p:spPr>
          <a:xfrm>
            <a:off x="1979613" y="5949950"/>
            <a:ext cx="450850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Tx/>
              <a:buFontTx/>
              <a:buNone/>
            </a:pPr>
            <a:r>
              <a:rPr lang="zh-CN" altLang="en-US" sz="1600" b="0" dirty="0">
                <a:solidFill>
                  <a:schemeClr val="tx1"/>
                </a:solidFill>
                <a:cs typeface="Arial" panose="020B0604020202020204" pitchFamily="34" charset="0"/>
              </a:rPr>
              <a:t>数据库系统阶段应用程序与数据之间的对应关系</a:t>
            </a:r>
            <a:r>
              <a:rPr lang="zh-CN" altLang="en-US" sz="1800" dirty="0">
                <a:solidFill>
                  <a:schemeClr val="tx1"/>
                </a:solidFill>
                <a:cs typeface="Arial" panose="020B0604020202020204" pitchFamily="34" charset="0"/>
              </a:rPr>
              <a:t> </a:t>
            </a:r>
            <a:endParaRPr lang="zh-CN" altLang="en-US" sz="1800" dirty="0">
              <a:solidFill>
                <a:schemeClr val="tx1"/>
              </a:solidFill>
              <a:ea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5539" name="Rectangle 2"/>
          <p:cNvSpPr/>
          <p:nvPr/>
        </p:nvSpPr>
        <p:spPr>
          <a:xfrm>
            <a:off x="457200" y="2257425"/>
            <a:ext cx="8001000" cy="7620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5540" name="Rectangle 3"/>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第</a:t>
            </a:r>
            <a:r>
              <a:rPr lang="en-US" altLang="zh-CN" dirty="0">
                <a:ea typeface="宋体" panose="02010600030101010101" pitchFamily="2" charset="-122"/>
              </a:rPr>
              <a:t>1</a:t>
            </a:r>
            <a:r>
              <a:rPr lang="zh-CN" altLang="en-US" dirty="0">
                <a:ea typeface="宋体" panose="02010600030101010101" pitchFamily="2" charset="-122"/>
              </a:rPr>
              <a:t>章  绪论</a:t>
            </a:r>
            <a:endParaRPr lang="zh-CN" altLang="en-US" dirty="0">
              <a:ea typeface="宋体" panose="02010600030101010101" pitchFamily="2" charset="-122"/>
            </a:endParaRPr>
          </a:p>
        </p:txBody>
      </p:sp>
      <p:sp>
        <p:nvSpPr>
          <p:cNvPr id="65541" name="Rectangle 4"/>
          <p:cNvSpPr>
            <a:spLocks noGrp="1"/>
          </p:cNvSpPr>
          <p:nvPr>
            <p:ph idx="1"/>
          </p:nvPr>
        </p:nvSpPr>
        <p:spPr>
          <a:ln/>
        </p:spPr>
        <p:txBody>
          <a:bodyPr vert="horz" wrap="square" lIns="91440" tIns="45720" rIns="91440" bIns="45720" anchor="t" anchorCtr="0"/>
          <a:p>
            <a:pPr lvl="1" eaLnBrk="1" hangingPunct="1">
              <a:lnSpc>
                <a:spcPct val="120000"/>
              </a:lnSpc>
              <a:buNone/>
            </a:pPr>
            <a:r>
              <a:rPr lang="en-US" altLang="zh-CN" sz="3600" dirty="0"/>
              <a:t>1.1 </a:t>
            </a:r>
            <a:r>
              <a:rPr lang="zh-CN" altLang="en-US" sz="3600" dirty="0">
                <a:latin typeface="宋体" panose="02010600030101010101" pitchFamily="2" charset="-122"/>
              </a:rPr>
              <a:t>数据库系统概述</a:t>
            </a:r>
            <a:endParaRPr lang="zh-CN" altLang="en-US" sz="3600" dirty="0">
              <a:latin typeface="宋体" panose="02010600030101010101" pitchFamily="2" charset="-122"/>
            </a:endParaRPr>
          </a:p>
          <a:p>
            <a:pPr lvl="1" eaLnBrk="1" hangingPunct="1">
              <a:lnSpc>
                <a:spcPct val="120000"/>
              </a:lnSpc>
              <a:buNone/>
            </a:pPr>
            <a:r>
              <a:rPr lang="en-US" altLang="zh-CN" sz="3600" dirty="0">
                <a:solidFill>
                  <a:schemeClr val="bg1"/>
                </a:solidFill>
              </a:rPr>
              <a:t>1.2 </a:t>
            </a:r>
            <a:r>
              <a:rPr lang="zh-CN" altLang="en-US" sz="3600" dirty="0">
                <a:solidFill>
                  <a:schemeClr val="bg1"/>
                </a:solidFill>
                <a:latin typeface="宋体" panose="02010600030101010101" pitchFamily="2" charset="-122"/>
              </a:rPr>
              <a:t>数据模型</a:t>
            </a:r>
            <a:endParaRPr lang="zh-CN" altLang="en-US" sz="3600" dirty="0">
              <a:solidFill>
                <a:schemeClr val="bg1"/>
              </a:solidFill>
              <a:latin typeface="宋体" panose="02010600030101010101" pitchFamily="2" charset="-122"/>
            </a:endParaRPr>
          </a:p>
          <a:p>
            <a:pPr lvl="1" eaLnBrk="1" hangingPunct="1">
              <a:lnSpc>
                <a:spcPct val="120000"/>
              </a:lnSpc>
              <a:buNone/>
            </a:pPr>
            <a:r>
              <a:rPr lang="en-US" altLang="zh-CN" sz="3600" dirty="0"/>
              <a:t>1.3 </a:t>
            </a:r>
            <a:r>
              <a:rPr lang="zh-CN" altLang="en-US" sz="3600" dirty="0">
                <a:latin typeface="宋体" panose="02010600030101010101" pitchFamily="2" charset="-122"/>
              </a:rPr>
              <a:t>数据库系统结构</a:t>
            </a:r>
            <a:endParaRPr lang="zh-CN" altLang="en-US" sz="3600" dirty="0">
              <a:latin typeface="宋体" panose="02010600030101010101" pitchFamily="2" charset="-122"/>
            </a:endParaRPr>
          </a:p>
          <a:p>
            <a:pPr lvl="1" eaLnBrk="1" hangingPunct="1">
              <a:lnSpc>
                <a:spcPct val="120000"/>
              </a:lnSpc>
              <a:buNone/>
            </a:pPr>
            <a:r>
              <a:rPr lang="en-US" altLang="zh-CN" sz="3600" dirty="0"/>
              <a:t>1.4 </a:t>
            </a:r>
            <a:r>
              <a:rPr lang="zh-CN" altLang="en-US" sz="3600" dirty="0">
                <a:latin typeface="宋体" panose="02010600030101010101" pitchFamily="2" charset="-122"/>
              </a:rPr>
              <a:t>数据库系统的组成</a:t>
            </a:r>
            <a:endParaRPr lang="zh-CN" altLang="en-US" sz="3600" dirty="0">
              <a:latin typeface="宋体" panose="02010600030101010101" pitchFamily="2" charset="-122"/>
            </a:endParaRPr>
          </a:p>
          <a:p>
            <a:pPr lvl="1" eaLnBrk="1" hangingPunct="1">
              <a:lnSpc>
                <a:spcPct val="120000"/>
              </a:lnSpc>
              <a:buNone/>
            </a:pPr>
            <a:r>
              <a:rPr lang="en-US" altLang="zh-CN" sz="3600" dirty="0"/>
              <a:t>1.5 </a:t>
            </a:r>
            <a:r>
              <a:rPr lang="zh-CN" altLang="en-US" sz="3600" dirty="0">
                <a:latin typeface="宋体" panose="02010600030101010101" pitchFamily="2" charset="-122"/>
              </a:rPr>
              <a:t>小结</a:t>
            </a:r>
            <a:endParaRPr lang="zh-CN" altLang="en-US" sz="3600" dirty="0">
              <a:latin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7587" name="Rectangle 2"/>
          <p:cNvSpPr/>
          <p:nvPr/>
        </p:nvSpPr>
        <p:spPr>
          <a:xfrm>
            <a:off x="977900" y="1220788"/>
            <a:ext cx="7848600" cy="7620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67588" name="Rectangle 3"/>
          <p:cNvSpPr>
            <a:spLocks noGrp="1"/>
          </p:cNvSpPr>
          <p:nvPr>
            <p:ph type="title"/>
          </p:nvPr>
        </p:nvSpPr>
        <p:spPr>
          <a:ln/>
        </p:spPr>
        <p:txBody>
          <a:bodyPr vert="horz" wrap="square" lIns="91440" tIns="45720" rIns="91440" bIns="45720" anchor="ctr" anchorCtr="0"/>
          <a:p>
            <a:pPr eaLnBrk="1" hangingPunct="1"/>
            <a:r>
              <a:rPr lang="en-US" altLang="zh-CN" dirty="0"/>
              <a:t>1.2 </a:t>
            </a:r>
            <a:r>
              <a:rPr lang="zh-CN" altLang="en-US" dirty="0"/>
              <a:t>数据模型</a:t>
            </a:r>
            <a:endParaRPr lang="zh-CN" altLang="en-US" dirty="0"/>
          </a:p>
        </p:txBody>
      </p:sp>
      <p:sp>
        <p:nvSpPr>
          <p:cNvPr id="67589" name="Rectangle 4"/>
          <p:cNvSpPr>
            <a:spLocks noGrp="1"/>
          </p:cNvSpPr>
          <p:nvPr>
            <p:ph idx="1"/>
          </p:nvPr>
        </p:nvSpPr>
        <p:spPr>
          <a:xfrm>
            <a:off x="990600" y="1143000"/>
            <a:ext cx="7543800" cy="545465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1.2.1  </a:t>
            </a:r>
            <a:r>
              <a:rPr lang="zh-CN" altLang="en-US" dirty="0">
                <a:solidFill>
                  <a:schemeClr val="bg1"/>
                </a:solidFill>
                <a:latin typeface="Arial Narrow" panose="020B0606020202030204" pitchFamily="34" charset="0"/>
                <a:ea typeface="仿宋_GB2312" pitchFamily="49" charset="-122"/>
              </a:rPr>
              <a:t>两大类数据模型</a:t>
            </a:r>
            <a:endParaRPr lang="zh-CN" altLang="en-US" dirty="0">
              <a:solidFill>
                <a:schemeClr val="bg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1.2.2  </a:t>
            </a:r>
            <a:r>
              <a:rPr lang="zh-CN" altLang="en-US" dirty="0">
                <a:solidFill>
                  <a:schemeClr val="tx1"/>
                </a:solidFill>
                <a:latin typeface="Arial Narrow" panose="020B0606020202030204" pitchFamily="34" charset="0"/>
                <a:ea typeface="仿宋_GB2312" pitchFamily="49" charset="-122"/>
              </a:rPr>
              <a:t>数据模型的组成要素</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1.2.3</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概念模型</a:t>
            </a:r>
            <a:endParaRPr lang="zh-CN" altLang="en-US" dirty="0">
              <a:solidFill>
                <a:schemeClr val="tx1"/>
              </a:solidFill>
              <a:latin typeface="仿宋_GB2312" pitchFamily="49" charset="-122"/>
              <a:ea typeface="仿宋_GB2312" pitchFamily="49" charset="-122"/>
            </a:endParaRPr>
          </a:p>
          <a:p>
            <a:pPr algn="just"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1.2.4</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最常用的数据模型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1.2.5</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层次模型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1.2.6</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网状模型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1.2.7</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关系模型</a:t>
            </a:r>
            <a:endParaRPr lang="zh-CN" altLang="en-US" dirty="0">
              <a:solidFill>
                <a:schemeClr val="tx1"/>
              </a:solidFill>
              <a:latin typeface="仿宋_GB2312" pitchFamily="49" charset="-122"/>
              <a:ea typeface="仿宋_GB2312"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861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1.2.1 </a:t>
            </a:r>
            <a:r>
              <a:rPr lang="zh-CN" altLang="en-US" sz="3600" u="sng" dirty="0"/>
              <a:t>两大类数据模型</a:t>
            </a:r>
            <a:endParaRPr lang="zh-CN" altLang="en-US" sz="3600" u="sng" dirty="0"/>
          </a:p>
        </p:txBody>
      </p:sp>
      <p:sp>
        <p:nvSpPr>
          <p:cNvPr id="68612" name="Rectangle 3"/>
          <p:cNvSpPr>
            <a:spLocks noGrp="1"/>
          </p:cNvSpPr>
          <p:nvPr>
            <p:ph idx="1"/>
          </p:nvPr>
        </p:nvSpPr>
        <p:spPr>
          <a:xfrm>
            <a:off x="685800" y="1130300"/>
            <a:ext cx="7772400" cy="4724400"/>
          </a:xfrm>
          <a:ln/>
        </p:spPr>
        <p:txBody>
          <a:bodyPr vert="horz" wrap="square" lIns="91440" tIns="45720" rIns="91440" bIns="45720" anchor="t" anchorCtr="0"/>
          <a:p>
            <a:pPr eaLnBrk="1" hangingPunct="1">
              <a:buClr>
                <a:srgbClr val="FF0000"/>
              </a:buClr>
            </a:pPr>
            <a:r>
              <a:rPr lang="zh-CN" altLang="en-US" sz="2800" dirty="0"/>
              <a:t>数据模型的概念</a:t>
            </a:r>
            <a:endParaRPr lang="zh-CN" altLang="en-US" sz="2800" dirty="0"/>
          </a:p>
          <a:p>
            <a:pPr lvl="1" eaLnBrk="1" hangingPunct="1"/>
            <a:r>
              <a:rPr lang="zh-CN" altLang="en-US" dirty="0"/>
              <a:t>数据及数据间联系的表示形式</a:t>
            </a:r>
            <a:r>
              <a:rPr lang="en-US" altLang="zh-CN" dirty="0"/>
              <a:t>(</a:t>
            </a:r>
            <a:r>
              <a:rPr lang="zh-CN" altLang="en-US" dirty="0">
                <a:latin typeface="华文新魏" panose="02010800040101010101" pitchFamily="2" charset="-122"/>
              </a:rPr>
              <a:t>对现实世界特征的模拟、抽象和表示</a:t>
            </a:r>
            <a:r>
              <a:rPr lang="en-US" altLang="zh-CN" dirty="0"/>
              <a:t>)</a:t>
            </a:r>
            <a:endParaRPr lang="en-US" altLang="zh-CN" dirty="0"/>
          </a:p>
          <a:p>
            <a:pPr eaLnBrk="1" hangingPunct="1"/>
            <a:r>
              <a:rPr lang="zh-CN" altLang="en-US" sz="2800" dirty="0"/>
              <a:t>数据模型应满足三方面要求</a:t>
            </a:r>
            <a:endParaRPr lang="zh-CN" altLang="en-US" sz="2800" dirty="0"/>
          </a:p>
          <a:p>
            <a:pPr lvl="1" eaLnBrk="1" hangingPunct="1"/>
            <a:r>
              <a:rPr lang="zh-CN" altLang="en-US" sz="2400" dirty="0">
                <a:latin typeface="华文新魏" panose="02010800040101010101" pitchFamily="2" charset="-122"/>
              </a:rPr>
              <a:t>较真实地表示现实世界</a:t>
            </a:r>
            <a:endParaRPr lang="zh-CN" altLang="en-US" sz="2400" dirty="0">
              <a:latin typeface="华文新魏" panose="02010800040101010101" pitchFamily="2" charset="-122"/>
            </a:endParaRPr>
          </a:p>
          <a:p>
            <a:pPr lvl="1" eaLnBrk="1" hangingPunct="1"/>
            <a:r>
              <a:rPr lang="zh-CN" altLang="en-US" sz="2400" dirty="0">
                <a:latin typeface="华文新魏" panose="02010800040101010101" pitchFamily="2" charset="-122"/>
              </a:rPr>
              <a:t>易为人所理解</a:t>
            </a:r>
            <a:endParaRPr lang="zh-CN" altLang="en-US" sz="2400" dirty="0">
              <a:latin typeface="华文新魏" panose="02010800040101010101" pitchFamily="2" charset="-122"/>
            </a:endParaRPr>
          </a:p>
          <a:p>
            <a:pPr lvl="1" eaLnBrk="1" hangingPunct="1"/>
            <a:r>
              <a:rPr lang="zh-CN" altLang="en-US" sz="2400" dirty="0">
                <a:latin typeface="华文新魏" panose="02010800040101010101" pitchFamily="2" charset="-122"/>
              </a:rPr>
              <a:t>便于计算机实现</a:t>
            </a:r>
            <a:endParaRPr lang="zh-CN" altLang="en-US" sz="2400" dirty="0">
              <a:latin typeface="华文新魏" panose="02010800040101010101" pitchFamily="2" charset="-122"/>
            </a:endParaRPr>
          </a:p>
          <a:p>
            <a:pPr eaLnBrk="1" hangingPunct="1"/>
            <a:r>
              <a:rPr lang="zh-CN" altLang="en-US" sz="2800" dirty="0"/>
              <a:t>分两个不同的层次</a:t>
            </a:r>
            <a:endParaRPr lang="zh-CN" altLang="en-US" sz="2800" dirty="0"/>
          </a:p>
          <a:p>
            <a:pPr lvl="1" eaLnBrk="1" hangingPunct="1"/>
            <a:r>
              <a:rPr lang="zh-CN" altLang="en-US" sz="2400" dirty="0"/>
              <a:t>概念模型</a:t>
            </a:r>
            <a:r>
              <a:rPr lang="en-US" altLang="zh-CN" sz="2400" dirty="0"/>
              <a:t>(</a:t>
            </a:r>
            <a:r>
              <a:rPr lang="zh-CN" altLang="en-US" sz="2400" dirty="0"/>
              <a:t>按用户的观点</a:t>
            </a:r>
            <a:r>
              <a:rPr lang="en-US" altLang="zh-CN" sz="2400" dirty="0"/>
              <a:t>)</a:t>
            </a:r>
            <a:endParaRPr lang="en-US" altLang="zh-CN" sz="2400" dirty="0"/>
          </a:p>
          <a:p>
            <a:pPr lvl="1" eaLnBrk="1" hangingPunct="1"/>
            <a:r>
              <a:rPr lang="zh-CN" altLang="en-US" sz="2400" dirty="0"/>
              <a:t>逻辑模型和物理模型</a:t>
            </a:r>
            <a:endParaRPr lang="zh-CN" altLang="en-US" sz="2400" dirty="0"/>
          </a:p>
        </p:txBody>
      </p:sp>
      <p:grpSp>
        <p:nvGrpSpPr>
          <p:cNvPr id="68613" name="Group 4"/>
          <p:cNvGrpSpPr/>
          <p:nvPr/>
        </p:nvGrpSpPr>
        <p:grpSpPr>
          <a:xfrm>
            <a:off x="6534150" y="2286000"/>
            <a:ext cx="2189163" cy="4117975"/>
            <a:chOff x="2923" y="1342"/>
            <a:chExt cx="1379" cy="2594"/>
          </a:xfrm>
        </p:grpSpPr>
        <p:sp>
          <p:nvSpPr>
            <p:cNvPr id="68615" name="Oval 5"/>
            <p:cNvSpPr/>
            <p:nvPr/>
          </p:nvSpPr>
          <p:spPr>
            <a:xfrm>
              <a:off x="2923" y="1342"/>
              <a:ext cx="1379" cy="565"/>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现实世界</a:t>
              </a:r>
              <a:endParaRPr lang="zh-CN" altLang="en-US" sz="2200" b="0" dirty="0">
                <a:solidFill>
                  <a:schemeClr val="tx1"/>
                </a:solidFill>
                <a:ea typeface="华文隶书" panose="02010800040101010101" pitchFamily="2" charset="-122"/>
              </a:endParaRPr>
            </a:p>
          </p:txBody>
        </p:sp>
        <p:sp>
          <p:nvSpPr>
            <p:cNvPr id="68616" name="Oval 6"/>
            <p:cNvSpPr/>
            <p:nvPr/>
          </p:nvSpPr>
          <p:spPr>
            <a:xfrm>
              <a:off x="2923" y="2356"/>
              <a:ext cx="1379" cy="565"/>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信息世界</a:t>
              </a:r>
              <a:endParaRPr lang="zh-CN" altLang="en-US" sz="2200" b="0" dirty="0">
                <a:solidFill>
                  <a:schemeClr val="tx1"/>
                </a:solidFill>
                <a:ea typeface="华文隶书" panose="02010800040101010101" pitchFamily="2" charset="-122"/>
              </a:endParaRPr>
            </a:p>
          </p:txBody>
        </p:sp>
        <p:sp>
          <p:nvSpPr>
            <p:cNvPr id="68617" name="Oval 7"/>
            <p:cNvSpPr/>
            <p:nvPr/>
          </p:nvSpPr>
          <p:spPr>
            <a:xfrm>
              <a:off x="2923" y="3370"/>
              <a:ext cx="1379" cy="56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计算机世界</a:t>
              </a:r>
              <a:endParaRPr lang="zh-CN" altLang="en-US" sz="2200" b="0" dirty="0">
                <a:solidFill>
                  <a:schemeClr val="tx1"/>
                </a:solidFill>
                <a:ea typeface="华文隶书" panose="02010800040101010101" pitchFamily="2" charset="-122"/>
              </a:endParaRPr>
            </a:p>
          </p:txBody>
        </p:sp>
        <p:sp>
          <p:nvSpPr>
            <p:cNvPr id="68618" name="Freeform 8"/>
            <p:cNvSpPr/>
            <p:nvPr/>
          </p:nvSpPr>
          <p:spPr>
            <a:xfrm>
              <a:off x="3535" y="1904"/>
              <a:ext cx="153" cy="450"/>
            </a:xfrm>
            <a:custGeom>
              <a:avLst/>
              <a:gdLst/>
              <a:ahLst/>
              <a:cxnLst>
                <a:cxn ang="0">
                  <a:pos x="0" y="338"/>
                </a:cxn>
                <a:cxn ang="0">
                  <a:pos x="39" y="338"/>
                </a:cxn>
                <a:cxn ang="0">
                  <a:pos x="39" y="0"/>
                </a:cxn>
                <a:cxn ang="0">
                  <a:pos x="114" y="0"/>
                </a:cxn>
                <a:cxn ang="0">
                  <a:pos x="114" y="338"/>
                </a:cxn>
                <a:cxn ang="0">
                  <a:pos x="153" y="338"/>
                </a:cxn>
                <a:cxn ang="0">
                  <a:pos x="75" y="450"/>
                </a:cxn>
                <a:cxn ang="0">
                  <a:pos x="0" y="338"/>
                </a:cxn>
              </a:cxnLst>
              <a:pathLst>
                <a:path w="153" h="450">
                  <a:moveTo>
                    <a:pt x="0" y="338"/>
                  </a:moveTo>
                  <a:lnTo>
                    <a:pt x="39" y="338"/>
                  </a:lnTo>
                  <a:lnTo>
                    <a:pt x="39" y="0"/>
                  </a:lnTo>
                  <a:lnTo>
                    <a:pt x="114" y="0"/>
                  </a:lnTo>
                  <a:lnTo>
                    <a:pt x="114" y="338"/>
                  </a:lnTo>
                  <a:lnTo>
                    <a:pt x="153" y="338"/>
                  </a:lnTo>
                  <a:lnTo>
                    <a:pt x="75" y="450"/>
                  </a:lnTo>
                  <a:lnTo>
                    <a:pt x="0" y="338"/>
                  </a:lnTo>
                  <a:close/>
                </a:path>
              </a:pathLst>
            </a:cu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alpha val="100000"/>
                </a:srgbClr>
              </a:solidFill>
              <a:prstDash val="solid"/>
              <a:round/>
              <a:headEnd type="none" w="med" len="med"/>
              <a:tailEnd type="none" w="med" len="med"/>
            </a:ln>
          </p:spPr>
          <p:txBody>
            <a:bodyPr/>
            <a:p>
              <a:endParaRPr lang="en-US"/>
            </a:p>
          </p:txBody>
        </p:sp>
        <p:sp>
          <p:nvSpPr>
            <p:cNvPr id="68619" name="Freeform 9"/>
            <p:cNvSpPr/>
            <p:nvPr/>
          </p:nvSpPr>
          <p:spPr>
            <a:xfrm>
              <a:off x="3535" y="2918"/>
              <a:ext cx="153" cy="451"/>
            </a:xfrm>
            <a:custGeom>
              <a:avLst/>
              <a:gdLst/>
              <a:ahLst/>
              <a:cxnLst>
                <a:cxn ang="0">
                  <a:pos x="0" y="338"/>
                </a:cxn>
                <a:cxn ang="0">
                  <a:pos x="39" y="338"/>
                </a:cxn>
                <a:cxn ang="0">
                  <a:pos x="39" y="0"/>
                </a:cxn>
                <a:cxn ang="0">
                  <a:pos x="114" y="0"/>
                </a:cxn>
                <a:cxn ang="0">
                  <a:pos x="114" y="338"/>
                </a:cxn>
                <a:cxn ang="0">
                  <a:pos x="153" y="338"/>
                </a:cxn>
                <a:cxn ang="0">
                  <a:pos x="75" y="451"/>
                </a:cxn>
                <a:cxn ang="0">
                  <a:pos x="0" y="338"/>
                </a:cxn>
              </a:cxnLst>
              <a:pathLst>
                <a:path w="153" h="451">
                  <a:moveTo>
                    <a:pt x="0" y="338"/>
                  </a:moveTo>
                  <a:lnTo>
                    <a:pt x="39" y="338"/>
                  </a:lnTo>
                  <a:lnTo>
                    <a:pt x="39" y="0"/>
                  </a:lnTo>
                  <a:lnTo>
                    <a:pt x="114" y="0"/>
                  </a:lnTo>
                  <a:lnTo>
                    <a:pt x="114" y="338"/>
                  </a:lnTo>
                  <a:lnTo>
                    <a:pt x="153" y="338"/>
                  </a:lnTo>
                  <a:lnTo>
                    <a:pt x="75" y="451"/>
                  </a:lnTo>
                  <a:lnTo>
                    <a:pt x="0" y="338"/>
                  </a:lnTo>
                  <a:close/>
                </a:path>
              </a:pathLst>
            </a:cu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alpha val="100000"/>
                </a:srgbClr>
              </a:solidFill>
              <a:prstDash val="solid"/>
              <a:round/>
              <a:headEnd type="none" w="med" len="med"/>
              <a:tailEnd type="none" w="med" len="med"/>
            </a:ln>
          </p:spPr>
          <p:txBody>
            <a:bodyPr/>
            <a:p>
              <a:endParaRPr lang="en-US"/>
            </a:p>
          </p:txBody>
        </p:sp>
      </p:grpSp>
      <p:pic>
        <p:nvPicPr>
          <p:cNvPr id="68614" name="Picture 10" descr="头像"/>
          <p:cNvPicPr>
            <a:picLocks noChangeAspect="1"/>
          </p:cNvPicPr>
          <p:nvPr/>
        </p:nvPicPr>
        <p:blipFill>
          <a:blip r:embed="rId1"/>
          <a:stretch>
            <a:fillRect/>
          </a:stretch>
        </p:blipFill>
        <p:spPr>
          <a:xfrm>
            <a:off x="6491288" y="3200400"/>
            <a:ext cx="584200" cy="685800"/>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963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1.2.1 </a:t>
            </a:r>
            <a:r>
              <a:rPr lang="zh-CN" altLang="en-US" sz="3600" u="sng" dirty="0"/>
              <a:t>两大类数据模型</a:t>
            </a:r>
            <a:r>
              <a:rPr lang="en-US" altLang="zh-CN" sz="3600" u="sng" dirty="0"/>
              <a:t>(cont)</a:t>
            </a:r>
            <a:endParaRPr lang="en-US" altLang="zh-CN" sz="3600" u="sng" dirty="0"/>
          </a:p>
        </p:txBody>
      </p:sp>
      <p:sp>
        <p:nvSpPr>
          <p:cNvPr id="69636" name="Rectangle 3"/>
          <p:cNvSpPr>
            <a:spLocks noGrp="1"/>
          </p:cNvSpPr>
          <p:nvPr>
            <p:ph idx="1"/>
          </p:nvPr>
        </p:nvSpPr>
        <p:spPr>
          <a:xfrm>
            <a:off x="685800" y="1130300"/>
            <a:ext cx="7772400" cy="4724400"/>
          </a:xfrm>
          <a:ln/>
        </p:spPr>
        <p:txBody>
          <a:bodyPr vert="horz" wrap="square" lIns="91440" tIns="45720" rIns="91440" bIns="45720" anchor="t" anchorCtr="0"/>
          <a:p>
            <a:pPr eaLnBrk="1" hangingPunct="1"/>
            <a:r>
              <a:rPr lang="zh-CN" altLang="en-US" dirty="0"/>
              <a:t>概念数据模型</a:t>
            </a:r>
            <a:endParaRPr lang="zh-CN" altLang="en-US" dirty="0">
              <a:ea typeface="仿宋_GB2312" pitchFamily="49" charset="-122"/>
            </a:endParaRPr>
          </a:p>
          <a:p>
            <a:pPr lvl="1" eaLnBrk="1" hangingPunct="1"/>
            <a:r>
              <a:rPr lang="zh-CN" altLang="en-US" u="sng" dirty="0">
                <a:latin typeface="华文新魏" panose="02010800040101010101" pitchFamily="2" charset="-122"/>
              </a:rPr>
              <a:t>按用户的观点来对数据和信息建模</a:t>
            </a:r>
            <a:endParaRPr lang="zh-CN" altLang="en-US" u="sng" dirty="0">
              <a:latin typeface="华文新魏" panose="02010800040101010101" pitchFamily="2" charset="-122"/>
            </a:endParaRPr>
          </a:p>
          <a:p>
            <a:pPr lvl="1" eaLnBrk="1" hangingPunct="1"/>
            <a:r>
              <a:rPr lang="zh-CN" altLang="en-US" dirty="0">
                <a:latin typeface="华文新魏" panose="02010800040101010101" pitchFamily="2" charset="-122"/>
              </a:rPr>
              <a:t>用于组织信息世界的概念，表现从现实世界中抽象出来的事物以及它们之间的联系</a:t>
            </a:r>
            <a:endParaRPr lang="zh-CN" altLang="en-US" dirty="0">
              <a:latin typeface="华文新魏" panose="02010800040101010101" pitchFamily="2" charset="-122"/>
            </a:endParaRPr>
          </a:p>
          <a:p>
            <a:pPr lvl="1" eaLnBrk="1" hangingPunct="1"/>
            <a:r>
              <a:rPr lang="zh-CN" altLang="en-US" dirty="0">
                <a:latin typeface="华文新魏" panose="02010800040101010101" pitchFamily="2" charset="-122"/>
              </a:rPr>
              <a:t>这类模型强调其语义表达能力，概念简单、清晰，易于用户理解</a:t>
            </a:r>
            <a:endParaRPr lang="zh-CN" altLang="en-US" dirty="0">
              <a:latin typeface="华文新魏" panose="02010800040101010101" pitchFamily="2" charset="-122"/>
            </a:endParaRPr>
          </a:p>
          <a:p>
            <a:pPr lvl="1" eaLnBrk="1" hangingPunct="1"/>
            <a:r>
              <a:rPr lang="zh-CN" altLang="en-US" dirty="0">
                <a:latin typeface="华文新魏" panose="02010800040101010101" pitchFamily="2" charset="-122"/>
              </a:rPr>
              <a:t>它是现实世界到信息世界的抽象，是用户与数据库设计人员之间进行交流的语言</a:t>
            </a:r>
            <a:endParaRPr lang="zh-CN" altLang="en-US" dirty="0">
              <a:latin typeface="华文新魏" panose="02010800040101010101" pitchFamily="2" charset="-122"/>
            </a:endParaRPr>
          </a:p>
          <a:p>
            <a:pPr lvl="1" eaLnBrk="1" hangingPunct="1"/>
            <a:r>
              <a:rPr lang="zh-CN" altLang="en-US" dirty="0">
                <a:latin typeface="华文新魏" panose="02010800040101010101" pitchFamily="2" charset="-122"/>
              </a:rPr>
              <a:t>如</a:t>
            </a:r>
            <a:r>
              <a:rPr lang="en-US" altLang="zh-CN" dirty="0">
                <a:solidFill>
                  <a:schemeClr val="accent2"/>
                </a:solidFill>
                <a:latin typeface="华文新魏" panose="02010800040101010101" pitchFamily="2" charset="-122"/>
              </a:rPr>
              <a:t>E-R(</a:t>
            </a:r>
            <a:r>
              <a:rPr lang="zh-CN" altLang="en-US" dirty="0">
                <a:solidFill>
                  <a:schemeClr val="accent2"/>
                </a:solidFill>
                <a:latin typeface="华文新魏" panose="02010800040101010101" pitchFamily="2" charset="-122"/>
              </a:rPr>
              <a:t>实体</a:t>
            </a:r>
            <a:r>
              <a:rPr lang="en-US" altLang="zh-CN" dirty="0">
                <a:solidFill>
                  <a:schemeClr val="accent2"/>
                </a:solidFill>
                <a:latin typeface="华文新魏" panose="02010800040101010101" pitchFamily="2" charset="-122"/>
              </a:rPr>
              <a:t>-</a:t>
            </a:r>
            <a:r>
              <a:rPr lang="zh-CN" altLang="en-US" dirty="0">
                <a:solidFill>
                  <a:schemeClr val="accent2"/>
                </a:solidFill>
                <a:latin typeface="华文新魏" panose="02010800040101010101" pitchFamily="2" charset="-122"/>
              </a:rPr>
              <a:t>联系模型</a:t>
            </a:r>
            <a:r>
              <a:rPr lang="en-US" altLang="zh-CN" dirty="0">
                <a:solidFill>
                  <a:schemeClr val="accent2"/>
                </a:solidFill>
                <a:latin typeface="华文新魏" panose="02010800040101010101" pitchFamily="2" charset="-122"/>
              </a:rPr>
              <a:t>)</a:t>
            </a:r>
            <a:r>
              <a:rPr lang="zh-CN" altLang="en-US" dirty="0">
                <a:latin typeface="华文新魏" panose="02010800040101010101" pitchFamily="2" charset="-122"/>
              </a:rPr>
              <a:t>模型</a:t>
            </a:r>
            <a:endParaRPr lang="zh-CN" alt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065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1.2.1 </a:t>
            </a:r>
            <a:r>
              <a:rPr lang="zh-CN" altLang="en-US" sz="3600" u="sng" dirty="0"/>
              <a:t>两大类数据模型</a:t>
            </a:r>
            <a:r>
              <a:rPr lang="en-US" altLang="zh-CN" sz="3600" u="sng" dirty="0"/>
              <a:t>(cont)</a:t>
            </a:r>
            <a:endParaRPr lang="en-US" altLang="zh-CN" sz="3600" u="sng" dirty="0"/>
          </a:p>
        </p:txBody>
      </p:sp>
      <p:sp>
        <p:nvSpPr>
          <p:cNvPr id="70660" name="Rectangle 3"/>
          <p:cNvSpPr>
            <a:spLocks noGrp="1"/>
          </p:cNvSpPr>
          <p:nvPr>
            <p:ph idx="1"/>
          </p:nvPr>
        </p:nvSpPr>
        <p:spPr>
          <a:xfrm>
            <a:off x="685800" y="1130300"/>
            <a:ext cx="7772400" cy="4724400"/>
          </a:xfrm>
          <a:ln/>
        </p:spPr>
        <p:txBody>
          <a:bodyPr vert="horz" wrap="square" lIns="91440" tIns="45720" rIns="91440" bIns="45720" anchor="t" anchorCtr="0"/>
          <a:p>
            <a:pPr eaLnBrk="1" hangingPunct="1"/>
            <a:r>
              <a:rPr lang="zh-CN" altLang="en-US" sz="3600" dirty="0"/>
              <a:t>逻辑模型</a:t>
            </a:r>
            <a:endParaRPr lang="zh-CN" altLang="en-US" sz="3600" dirty="0">
              <a:ea typeface="仿宋_GB2312" pitchFamily="49" charset="-122"/>
            </a:endParaRPr>
          </a:p>
          <a:p>
            <a:pPr lvl="1" eaLnBrk="1" hangingPunct="1"/>
            <a:r>
              <a:rPr lang="zh-CN" altLang="en-US" sz="3200" u="sng" dirty="0"/>
              <a:t>从计算机实现的观点来对数据建模</a:t>
            </a:r>
            <a:endParaRPr lang="zh-CN" altLang="en-US" sz="3200" u="sng" dirty="0"/>
          </a:p>
          <a:p>
            <a:pPr lvl="1" eaLnBrk="1" hangingPunct="1"/>
            <a:r>
              <a:rPr lang="zh-CN" altLang="en-US" sz="3200" dirty="0"/>
              <a:t>是信息世界中的概念和联系在计算机世界中的表示方法</a:t>
            </a:r>
            <a:endParaRPr lang="zh-CN" altLang="en-US" sz="3200" dirty="0"/>
          </a:p>
          <a:p>
            <a:pPr lvl="1" eaLnBrk="1" hangingPunct="1"/>
            <a:r>
              <a:rPr lang="zh-CN" altLang="en-US" sz="3200" dirty="0"/>
              <a:t>一般有严格的形式化定义，以便于在计算机上实现</a:t>
            </a:r>
            <a:endParaRPr lang="zh-CN" altLang="en-US" sz="3200" dirty="0"/>
          </a:p>
          <a:p>
            <a:pPr lvl="1" eaLnBrk="1" hangingPunct="1"/>
            <a:r>
              <a:rPr lang="zh-CN" altLang="en-US" sz="3200" dirty="0"/>
              <a:t>如层次模型、网状模型、</a:t>
            </a:r>
            <a:r>
              <a:rPr lang="zh-CN" altLang="en-US" sz="3200" dirty="0">
                <a:solidFill>
                  <a:schemeClr val="accent2"/>
                </a:solidFill>
              </a:rPr>
              <a:t>关系模型</a:t>
            </a:r>
            <a:r>
              <a:rPr lang="zh-CN" altLang="en-US" sz="3200" dirty="0"/>
              <a:t>、面向对象模型</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683" name="Rectangle 3"/>
          <p:cNvSpPr>
            <a:spLocks noGrp="1"/>
          </p:cNvSpPr>
          <p:nvPr>
            <p:ph idx="1"/>
          </p:nvPr>
        </p:nvSpPr>
        <p:spPr>
          <a:ln/>
        </p:spPr>
        <p:txBody>
          <a:bodyPr vert="horz" wrap="square" lIns="91440" tIns="45720" rIns="91440" bIns="45720" anchor="t" anchorCtr="0"/>
          <a:p>
            <a:pPr eaLnBrk="1" hangingPunct="1">
              <a:lnSpc>
                <a:spcPct val="150000"/>
              </a:lnSpc>
            </a:pPr>
            <a:r>
              <a:rPr lang="zh-CN" altLang="en-US" dirty="0"/>
              <a:t>客观对象的抽象过程</a:t>
            </a:r>
            <a:r>
              <a:rPr lang="en-US" altLang="zh-CN" dirty="0"/>
              <a:t>---</a:t>
            </a:r>
            <a:r>
              <a:rPr lang="zh-CN" altLang="en-US" dirty="0">
                <a:solidFill>
                  <a:srgbClr val="5F9F25"/>
                </a:solidFill>
              </a:rPr>
              <a:t>两步抽象</a:t>
            </a:r>
            <a:endParaRPr lang="zh-CN" altLang="en-US" dirty="0">
              <a:solidFill>
                <a:srgbClr val="5F9F25"/>
              </a:solidFill>
            </a:endParaRPr>
          </a:p>
          <a:p>
            <a:pPr lvl="1" algn="just" eaLnBrk="1" hangingPunct="1">
              <a:lnSpc>
                <a:spcPct val="190000"/>
              </a:lnSpc>
            </a:pPr>
            <a:r>
              <a:rPr lang="zh-CN" altLang="en-US" sz="2600" b="0" dirty="0"/>
              <a:t>现实世界中的客观对象抽象为概念模型；</a:t>
            </a:r>
            <a:endParaRPr lang="zh-CN" altLang="en-US" sz="2600" b="0" dirty="0"/>
          </a:p>
          <a:p>
            <a:pPr lvl="1" algn="just" eaLnBrk="1" hangingPunct="1">
              <a:lnSpc>
                <a:spcPct val="190000"/>
              </a:lnSpc>
            </a:pPr>
            <a:r>
              <a:rPr lang="zh-CN" altLang="en-US" sz="2600" b="0" dirty="0"/>
              <a:t>把概念模型转换为某</a:t>
            </a:r>
            <a:r>
              <a:rPr lang="en-US" altLang="zh-CN" sz="2600" b="0" dirty="0"/>
              <a:t>DBMS</a:t>
            </a:r>
            <a:r>
              <a:rPr lang="zh-CN" altLang="en-US" sz="2600" b="0" dirty="0"/>
              <a:t>支持的数据模型。</a:t>
            </a:r>
            <a:endParaRPr lang="zh-CN" altLang="en-US" sz="2600" b="0" dirty="0"/>
          </a:p>
        </p:txBody>
      </p:sp>
      <p:sp>
        <p:nvSpPr>
          <p:cNvPr id="71684" name="Rectangle 4"/>
          <p:cNvSpPr>
            <a:spLocks noGrp="1"/>
          </p:cNvSpPr>
          <p:nvPr>
            <p:ph type="title"/>
          </p:nvPr>
        </p:nvSpPr>
        <p:spPr>
          <a:xfrm>
            <a:off x="685800" y="74613"/>
            <a:ext cx="7772400" cy="539750"/>
          </a:xfrm>
          <a:ln/>
        </p:spPr>
        <p:txBody>
          <a:bodyPr vert="horz" wrap="square" lIns="91440" tIns="45720" rIns="91440" bIns="45720" anchor="ctr" anchorCtr="0"/>
          <a:p>
            <a:pPr eaLnBrk="1" hangingPunct="1"/>
            <a:r>
              <a:rPr lang="en-US" altLang="zh-CN" sz="3600" u="sng" dirty="0"/>
              <a:t>1.2.1 </a:t>
            </a:r>
            <a:r>
              <a:rPr lang="zh-CN" altLang="en-US" sz="3600" u="sng" dirty="0"/>
              <a:t>两大类数据模型</a:t>
            </a:r>
            <a:r>
              <a:rPr lang="en-US" altLang="zh-CN" sz="3600" u="sng" dirty="0"/>
              <a:t>(cont)</a:t>
            </a:r>
            <a:endParaRPr lang="en-US" altLang="zh-CN" sz="3600" u="sng"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2707" name="Rectangle 2"/>
          <p:cNvSpPr>
            <a:spLocks noGrp="1"/>
          </p:cNvSpPr>
          <p:nvPr>
            <p:ph type="title"/>
          </p:nvPr>
        </p:nvSpPr>
        <p:spPr>
          <a:xfrm>
            <a:off x="684213" y="0"/>
            <a:ext cx="7772400" cy="612775"/>
          </a:xfrm>
          <a:ln/>
        </p:spPr>
        <p:txBody>
          <a:bodyPr vert="horz" wrap="square" lIns="91440" tIns="45720" rIns="91440" bIns="45720" anchor="ctr" anchorCtr="0"/>
          <a:p>
            <a:pPr eaLnBrk="1" hangingPunct="1"/>
            <a:r>
              <a:rPr lang="en-US" altLang="zh-CN" sz="3600" u="sng" dirty="0"/>
              <a:t>1.2.1 </a:t>
            </a:r>
            <a:r>
              <a:rPr lang="zh-CN" altLang="en-US" sz="3600" u="sng" dirty="0"/>
              <a:t>两大类数据模型</a:t>
            </a:r>
            <a:r>
              <a:rPr lang="en-US" altLang="zh-CN" sz="3600" u="sng" dirty="0"/>
              <a:t>(cont)</a:t>
            </a:r>
            <a:endParaRPr lang="en-US" altLang="zh-CN" sz="3600" u="sng" dirty="0"/>
          </a:p>
        </p:txBody>
      </p:sp>
      <p:sp>
        <p:nvSpPr>
          <p:cNvPr id="418819" name="Rectangle 3"/>
          <p:cNvSpPr/>
          <p:nvPr/>
        </p:nvSpPr>
        <p:spPr>
          <a:xfrm>
            <a:off x="3132138" y="4457700"/>
            <a:ext cx="2735262" cy="720725"/>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Tx/>
              <a:buFontTx/>
              <a:buNone/>
            </a:pPr>
            <a:r>
              <a:rPr lang="en-US" altLang="zh-CN" sz="1800" dirty="0">
                <a:solidFill>
                  <a:schemeClr val="tx1"/>
                </a:solidFill>
                <a:cs typeface="Arial" panose="020B0604020202020204" pitchFamily="34" charset="0"/>
              </a:rPr>
              <a:t>DBMS</a:t>
            </a:r>
            <a:r>
              <a:rPr lang="zh-CN" altLang="en-US" sz="1800" dirty="0">
                <a:solidFill>
                  <a:schemeClr val="tx1"/>
                </a:solidFill>
                <a:cs typeface="Arial" panose="020B0604020202020204" pitchFamily="34" charset="0"/>
              </a:rPr>
              <a:t>支持的数据模型</a:t>
            </a:r>
            <a:endParaRPr lang="zh-CN" altLang="en-US" sz="1800" dirty="0">
              <a:solidFill>
                <a:schemeClr val="tx1"/>
              </a:solidFill>
              <a:ea typeface="Arial" panose="020B0604020202020204" pitchFamily="34" charset="0"/>
            </a:endParaRPr>
          </a:p>
        </p:txBody>
      </p:sp>
      <p:sp>
        <p:nvSpPr>
          <p:cNvPr id="418820" name="Rectangle 4"/>
          <p:cNvSpPr/>
          <p:nvPr/>
        </p:nvSpPr>
        <p:spPr>
          <a:xfrm>
            <a:off x="3435350" y="3449638"/>
            <a:ext cx="1943100" cy="576262"/>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Tx/>
              <a:buFontTx/>
              <a:buNone/>
            </a:pPr>
            <a:r>
              <a:rPr lang="zh-CN" altLang="en-US" sz="1800" dirty="0">
                <a:solidFill>
                  <a:schemeClr val="tx1"/>
                </a:solidFill>
                <a:cs typeface="Arial" panose="020B0604020202020204" pitchFamily="34" charset="0"/>
              </a:rPr>
              <a:t>概念模型</a:t>
            </a:r>
            <a:endParaRPr lang="zh-CN" altLang="en-US" sz="1800" dirty="0">
              <a:solidFill>
                <a:schemeClr val="tx1"/>
              </a:solidFill>
              <a:ea typeface="Arial" panose="020B0604020202020204" pitchFamily="34" charset="0"/>
            </a:endParaRPr>
          </a:p>
        </p:txBody>
      </p:sp>
      <p:sp>
        <p:nvSpPr>
          <p:cNvPr id="418821" name="AutoShape 5"/>
          <p:cNvSpPr/>
          <p:nvPr/>
        </p:nvSpPr>
        <p:spPr>
          <a:xfrm>
            <a:off x="3873500" y="2368550"/>
            <a:ext cx="914400" cy="792163"/>
          </a:xfrm>
          <a:prstGeom prst="smileyFace">
            <a:avLst>
              <a:gd name="adj" fmla="val 4653"/>
            </a:avLst>
          </a:prstGeom>
          <a:gradFill rotWithShape="0">
            <a:gsLst>
              <a:gs pos="0">
                <a:srgbClr val="FFFFFF"/>
              </a:gs>
              <a:gs pos="100000">
                <a:srgbClr val="BBBBBB"/>
              </a:gs>
            </a:gsLst>
            <a:lin ang="5400000" scaled="1"/>
            <a:tileRect/>
          </a:grad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418822" name="AutoShape 6"/>
          <p:cNvSpPr/>
          <p:nvPr/>
        </p:nvSpPr>
        <p:spPr>
          <a:xfrm flipH="1">
            <a:off x="5508625" y="1936750"/>
            <a:ext cx="1081088" cy="1008063"/>
          </a:xfrm>
          <a:prstGeom prst="wedgeEllipseCallout">
            <a:avLst>
              <a:gd name="adj1" fmla="val 117250"/>
              <a:gd name="adj2" fmla="val 1661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zh-CN" altLang="en-US" sz="1800" dirty="0">
                <a:solidFill>
                  <a:schemeClr val="tx1"/>
                </a:solidFill>
                <a:cs typeface="Arial" panose="020B0604020202020204" pitchFamily="34" charset="0"/>
              </a:rPr>
              <a:t>认识</a:t>
            </a:r>
            <a:endParaRPr lang="zh-CN" altLang="en-US" sz="1800" dirty="0">
              <a:solidFill>
                <a:schemeClr val="tx1"/>
              </a:solidFill>
              <a:cs typeface="Arial" panose="020B0604020202020204" pitchFamily="34" charset="0"/>
            </a:endParaRPr>
          </a:p>
          <a:p>
            <a:pPr marL="342900" lvl="0" indent="-342900" eaLnBrk="1" hangingPunct="1">
              <a:spcBef>
                <a:spcPct val="0"/>
              </a:spcBef>
              <a:buClrTx/>
              <a:buFontTx/>
              <a:buNone/>
            </a:pPr>
            <a:r>
              <a:rPr lang="zh-CN" altLang="en-US" sz="1800" dirty="0">
                <a:solidFill>
                  <a:schemeClr val="tx1"/>
                </a:solidFill>
                <a:cs typeface="Arial" panose="020B0604020202020204" pitchFamily="34" charset="0"/>
              </a:rPr>
              <a:t>抽象</a:t>
            </a:r>
            <a:endParaRPr lang="zh-CN" altLang="en-US" sz="1800" dirty="0">
              <a:solidFill>
                <a:schemeClr val="tx1"/>
              </a:solidFill>
              <a:ea typeface="Arial" panose="020B0604020202020204" pitchFamily="34" charset="0"/>
            </a:endParaRPr>
          </a:p>
        </p:txBody>
      </p:sp>
      <p:sp>
        <p:nvSpPr>
          <p:cNvPr id="418823" name="Text Box 7"/>
          <p:cNvSpPr txBox="1"/>
          <p:nvPr/>
        </p:nvSpPr>
        <p:spPr>
          <a:xfrm>
            <a:off x="1258888" y="3521075"/>
            <a:ext cx="110490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zh-CN" altLang="en-US" sz="1800" dirty="0">
                <a:solidFill>
                  <a:schemeClr val="tx1"/>
                </a:solidFill>
                <a:cs typeface="Arial" panose="020B0604020202020204" pitchFamily="34" charset="0"/>
              </a:rPr>
              <a:t>信息世界</a:t>
            </a:r>
            <a:endParaRPr lang="zh-CN" altLang="en-US" sz="1800" dirty="0">
              <a:solidFill>
                <a:schemeClr val="tx1"/>
              </a:solidFill>
              <a:ea typeface="Arial" panose="020B0604020202020204" pitchFamily="34" charset="0"/>
            </a:endParaRPr>
          </a:p>
        </p:txBody>
      </p:sp>
      <p:sp>
        <p:nvSpPr>
          <p:cNvPr id="418824" name="Text Box 8"/>
          <p:cNvSpPr txBox="1"/>
          <p:nvPr/>
        </p:nvSpPr>
        <p:spPr>
          <a:xfrm>
            <a:off x="1258888" y="4745038"/>
            <a:ext cx="110490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zh-CN" altLang="en-US" sz="1800" dirty="0">
                <a:solidFill>
                  <a:schemeClr val="tx1"/>
                </a:solidFill>
                <a:cs typeface="Arial" panose="020B0604020202020204" pitchFamily="34" charset="0"/>
              </a:rPr>
              <a:t>机器世界</a:t>
            </a:r>
            <a:endParaRPr lang="zh-CN" altLang="en-US" sz="1800" dirty="0">
              <a:solidFill>
                <a:schemeClr val="tx1"/>
              </a:solidFill>
              <a:ea typeface="Arial" panose="020B0604020202020204" pitchFamily="34" charset="0"/>
            </a:endParaRPr>
          </a:p>
        </p:txBody>
      </p:sp>
      <p:sp>
        <p:nvSpPr>
          <p:cNvPr id="72714" name="Text Box 9"/>
          <p:cNvSpPr txBox="1"/>
          <p:nvPr/>
        </p:nvSpPr>
        <p:spPr>
          <a:xfrm>
            <a:off x="2843213" y="5465763"/>
            <a:ext cx="3406775"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zh-CN" altLang="en-US" sz="1800" dirty="0">
                <a:solidFill>
                  <a:schemeClr val="tx1"/>
                </a:solidFill>
                <a:cs typeface="Arial" panose="020B0604020202020204" pitchFamily="34" charset="0"/>
              </a:rPr>
              <a:t>现实世界中客观对象的抽象过程</a:t>
            </a:r>
            <a:endParaRPr lang="zh-CN" altLang="en-US" sz="1800" dirty="0">
              <a:solidFill>
                <a:schemeClr val="tx1"/>
              </a:solidFill>
              <a:ea typeface="Arial" panose="020B0604020202020204" pitchFamily="34" charset="0"/>
            </a:endParaRPr>
          </a:p>
        </p:txBody>
      </p:sp>
      <p:sp>
        <p:nvSpPr>
          <p:cNvPr id="418826" name="Cloud"/>
          <p:cNvSpPr>
            <a:spLocks noChangeAspect="1" noEditPoints="1"/>
          </p:cNvSpPr>
          <p:nvPr/>
        </p:nvSpPr>
        <p:spPr>
          <a:xfrm>
            <a:off x="3405188" y="1366838"/>
            <a:ext cx="1814512" cy="693737"/>
          </a:xfrm>
          <a:custGeom>
            <a:avLst/>
            <a:gdLst>
              <a:gd name="txL" fmla="*/ 2977 w 21600"/>
              <a:gd name="txT" fmla="*/ 3262 h 21600"/>
              <a:gd name="txR" fmla="*/ 17087 w 21600"/>
              <a:gd name="txB" fmla="*/ 17337 h 21600"/>
            </a:gdLst>
            <a:ahLst/>
            <a:cxnLst>
              <a:cxn ang="0">
                <a:pos x="2147483646" y="2147483646"/>
              </a:cxn>
              <a:cxn ang="0">
                <a:pos x="2147483646" y="2147483646"/>
              </a:cxn>
              <a:cxn ang="0">
                <a:pos x="2147483646" y="2147483646"/>
              </a:cxn>
              <a:cxn ang="0">
                <a:pos x="2147483646" y="2147483646"/>
              </a:cxn>
            </a:cxnLst>
            <a:rect l="txL" t="txT" r="txR" b="txB"/>
            <a:pathLst>
              <a:path w="21600" h="2160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a:moveTo>
                  <a:pt x="1074" y="12702"/>
                </a:moveTo>
                <a:cubicBezTo>
                  <a:pt x="1407" y="12969"/>
                  <a:pt x="1786" y="13110"/>
                  <a:pt x="2172" y="13110"/>
                </a:cubicBezTo>
                <a:cubicBezTo>
                  <a:pt x="2228" y="13109"/>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solidFill>
            <a:srgbClr val="FFBE7D"/>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zh-CN" altLang="en-US" sz="1800" dirty="0">
                <a:solidFill>
                  <a:schemeClr val="tx1"/>
                </a:solidFill>
                <a:cs typeface="Arial" panose="020B0604020202020204" pitchFamily="34" charset="0"/>
              </a:rPr>
              <a:t>现实世界</a:t>
            </a:r>
            <a:endParaRPr lang="zh-CN" altLang="en-US" sz="1800" dirty="0">
              <a:solidFill>
                <a:schemeClr val="tx1"/>
              </a:solidFill>
              <a:ea typeface="Arial" panose="020B0604020202020204" pitchFamily="34" charset="0"/>
            </a:endParaRPr>
          </a:p>
        </p:txBody>
      </p:sp>
      <p:sp>
        <p:nvSpPr>
          <p:cNvPr id="418827" name="Line 11"/>
          <p:cNvSpPr/>
          <p:nvPr/>
        </p:nvSpPr>
        <p:spPr>
          <a:xfrm>
            <a:off x="4284663" y="2081213"/>
            <a:ext cx="0" cy="287337"/>
          </a:xfrm>
          <a:prstGeom prst="line">
            <a:avLst/>
          </a:prstGeom>
          <a:ln w="25400" cap="flat" cmpd="sng">
            <a:solidFill>
              <a:schemeClr val="tx1"/>
            </a:solidFill>
            <a:prstDash val="solid"/>
            <a:headEnd type="none" w="med" len="med"/>
            <a:tailEnd type="triangle" w="med" len="med"/>
          </a:ln>
        </p:spPr>
      </p:sp>
      <p:sp>
        <p:nvSpPr>
          <p:cNvPr id="418828" name="Line 12"/>
          <p:cNvSpPr/>
          <p:nvPr/>
        </p:nvSpPr>
        <p:spPr>
          <a:xfrm>
            <a:off x="4284663" y="3160713"/>
            <a:ext cx="0" cy="287337"/>
          </a:xfrm>
          <a:prstGeom prst="line">
            <a:avLst/>
          </a:prstGeom>
          <a:ln w="25400" cap="flat" cmpd="sng">
            <a:solidFill>
              <a:schemeClr val="tx1"/>
            </a:solidFill>
            <a:prstDash val="solid"/>
            <a:headEnd type="none" w="med" len="med"/>
            <a:tailEnd type="triangle" w="med" len="med"/>
          </a:ln>
        </p:spPr>
      </p:sp>
      <p:sp>
        <p:nvSpPr>
          <p:cNvPr id="418829" name="Line 13"/>
          <p:cNvSpPr/>
          <p:nvPr/>
        </p:nvSpPr>
        <p:spPr>
          <a:xfrm>
            <a:off x="4356100" y="4025900"/>
            <a:ext cx="0" cy="431800"/>
          </a:xfrm>
          <a:prstGeom prst="line">
            <a:avLst/>
          </a:prstGeom>
          <a:ln w="25400" cap="flat" cmpd="sng">
            <a:solidFill>
              <a:schemeClr val="tx1"/>
            </a:solidFill>
            <a:prstDash val="solid"/>
            <a:headEnd type="none" w="med" len="med"/>
            <a:tailEnd type="triangle" w="med" len="med"/>
          </a:ln>
        </p:spPr>
      </p:sp>
      <p:grpSp>
        <p:nvGrpSpPr>
          <p:cNvPr id="418830" name="Group 14"/>
          <p:cNvGrpSpPr/>
          <p:nvPr/>
        </p:nvGrpSpPr>
        <p:grpSpPr>
          <a:xfrm>
            <a:off x="6400800" y="2800350"/>
            <a:ext cx="2514600" cy="606425"/>
            <a:chOff x="3782" y="2568"/>
            <a:chExt cx="1769" cy="382"/>
          </a:xfrm>
        </p:grpSpPr>
        <p:sp>
          <p:nvSpPr>
            <p:cNvPr id="72726" name="Text Box 15"/>
            <p:cNvSpPr txBox="1"/>
            <p:nvPr/>
          </p:nvSpPr>
          <p:spPr>
            <a:xfrm>
              <a:off x="3782" y="2568"/>
              <a:ext cx="1769" cy="382"/>
            </a:xfrm>
            <a:prstGeom prst="rect">
              <a:avLst/>
            </a:prstGeom>
            <a:noFill/>
            <a:ln w="25400" cap="flat" cmpd="sng">
              <a:solidFill>
                <a:schemeClr val="fo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Tx/>
                <a:buFontTx/>
                <a:buNone/>
              </a:pPr>
              <a:r>
                <a:rPr lang="zh-CN" altLang="en-US" sz="1600" dirty="0">
                  <a:solidFill>
                    <a:schemeClr val="tx1"/>
                  </a:solidFill>
                  <a:cs typeface="Arial" panose="020B0604020202020204" pitchFamily="34" charset="0"/>
                </a:rPr>
                <a:t>现实世界       概念模型</a:t>
              </a:r>
              <a:endParaRPr lang="zh-CN" altLang="en-US" sz="1600" dirty="0">
                <a:solidFill>
                  <a:schemeClr val="tx1"/>
                </a:solidFill>
                <a:cs typeface="Arial" panose="020B0604020202020204" pitchFamily="34" charset="0"/>
              </a:endParaRPr>
            </a:p>
            <a:p>
              <a:pPr marL="342900" lvl="0" indent="-342900" algn="ctr" eaLnBrk="1" hangingPunct="1">
                <a:spcBef>
                  <a:spcPct val="0"/>
                </a:spcBef>
                <a:buClrTx/>
                <a:buFontTx/>
                <a:buNone/>
              </a:pPr>
              <a:r>
                <a:rPr lang="zh-CN" altLang="en-US" sz="1600" dirty="0">
                  <a:solidFill>
                    <a:schemeClr val="tx1"/>
                  </a:solidFill>
                  <a:cs typeface="Arial" panose="020B0604020202020204" pitchFamily="34" charset="0"/>
                </a:rPr>
                <a:t>数据库设计人员完成</a:t>
              </a:r>
              <a:endParaRPr lang="zh-CN" altLang="en-US" sz="1600" dirty="0">
                <a:solidFill>
                  <a:schemeClr val="tx1"/>
                </a:solidFill>
                <a:ea typeface="Arial" panose="020B0604020202020204" pitchFamily="34" charset="0"/>
              </a:endParaRPr>
            </a:p>
          </p:txBody>
        </p:sp>
        <p:sp>
          <p:nvSpPr>
            <p:cNvPr id="72727" name="AutoShape 16"/>
            <p:cNvSpPr/>
            <p:nvPr/>
          </p:nvSpPr>
          <p:spPr>
            <a:xfrm>
              <a:off x="4577" y="2631"/>
              <a:ext cx="181" cy="90"/>
            </a:xfrm>
            <a:prstGeom prst="rightArrow">
              <a:avLst>
                <a:gd name="adj1" fmla="val 50000"/>
                <a:gd name="adj2" fmla="val 50277"/>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418833" name="Group 17"/>
          <p:cNvGrpSpPr/>
          <p:nvPr/>
        </p:nvGrpSpPr>
        <p:grpSpPr>
          <a:xfrm>
            <a:off x="6254750" y="4552950"/>
            <a:ext cx="2660650" cy="606425"/>
            <a:chOff x="3787" y="3218"/>
            <a:chExt cx="1676" cy="382"/>
          </a:xfrm>
        </p:grpSpPr>
        <p:sp>
          <p:nvSpPr>
            <p:cNvPr id="72724" name="Text Box 18"/>
            <p:cNvSpPr txBox="1"/>
            <p:nvPr/>
          </p:nvSpPr>
          <p:spPr>
            <a:xfrm>
              <a:off x="3787" y="3218"/>
              <a:ext cx="1676" cy="382"/>
            </a:xfrm>
            <a:prstGeom prst="rect">
              <a:avLst/>
            </a:prstGeom>
            <a:noFill/>
            <a:ln w="25400" cap="flat" cmpd="sng">
              <a:solidFill>
                <a:schemeClr val="folHlink"/>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1" indent="0" eaLnBrk="1" hangingPunct="1">
                <a:spcBef>
                  <a:spcPct val="0"/>
                </a:spcBef>
                <a:buClrTx/>
                <a:buFontTx/>
                <a:buNone/>
              </a:pPr>
              <a:r>
                <a:rPr lang="zh-CN" altLang="en-US" sz="1600" dirty="0">
                  <a:cs typeface="Arial" panose="020B0604020202020204" pitchFamily="34" charset="0"/>
                </a:rPr>
                <a:t>逻辑模型       物理模型</a:t>
              </a:r>
              <a:endParaRPr lang="zh-CN" altLang="en-US" sz="1600" dirty="0">
                <a:cs typeface="Arial" panose="020B0604020202020204" pitchFamily="34" charset="0"/>
              </a:endParaRPr>
            </a:p>
            <a:p>
              <a:pPr marL="457200" lvl="1" indent="0" eaLnBrk="1" hangingPunct="1">
                <a:spcBef>
                  <a:spcPct val="0"/>
                </a:spcBef>
                <a:buClrTx/>
                <a:buFontTx/>
                <a:buNone/>
              </a:pPr>
              <a:r>
                <a:rPr lang="zh-CN" altLang="en-US" sz="1600" dirty="0">
                  <a:cs typeface="Arial" panose="020B0604020202020204" pitchFamily="34" charset="0"/>
                </a:rPr>
                <a:t>由</a:t>
              </a:r>
              <a:r>
                <a:rPr lang="en-US" altLang="zh-CN" sz="1600" dirty="0">
                  <a:cs typeface="Arial" panose="020B0604020202020204" pitchFamily="34" charset="0"/>
                </a:rPr>
                <a:t>DBMS</a:t>
              </a:r>
              <a:r>
                <a:rPr lang="zh-CN" altLang="en-US" sz="1600" dirty="0">
                  <a:cs typeface="Arial" panose="020B0604020202020204" pitchFamily="34" charset="0"/>
                </a:rPr>
                <a:t>完成</a:t>
              </a:r>
              <a:endParaRPr lang="zh-CN" altLang="en-US" sz="1600" dirty="0">
                <a:ea typeface="Arial" panose="020B0604020202020204" pitchFamily="34" charset="0"/>
              </a:endParaRPr>
            </a:p>
          </p:txBody>
        </p:sp>
        <p:sp>
          <p:nvSpPr>
            <p:cNvPr id="72725" name="AutoShape 19"/>
            <p:cNvSpPr/>
            <p:nvPr/>
          </p:nvSpPr>
          <p:spPr>
            <a:xfrm>
              <a:off x="4678" y="3284"/>
              <a:ext cx="181" cy="90"/>
            </a:xfrm>
            <a:prstGeom prst="rightArrow">
              <a:avLst>
                <a:gd name="adj1" fmla="val 50000"/>
                <a:gd name="adj2" fmla="val 50277"/>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418836" name="Group 20"/>
          <p:cNvGrpSpPr/>
          <p:nvPr/>
        </p:nvGrpSpPr>
        <p:grpSpPr>
          <a:xfrm>
            <a:off x="6267450" y="3644900"/>
            <a:ext cx="2563813" cy="606425"/>
            <a:chOff x="3782" y="2568"/>
            <a:chExt cx="1769" cy="382"/>
          </a:xfrm>
        </p:grpSpPr>
        <p:sp>
          <p:nvSpPr>
            <p:cNvPr id="72722" name="Text Box 21"/>
            <p:cNvSpPr txBox="1"/>
            <p:nvPr/>
          </p:nvSpPr>
          <p:spPr>
            <a:xfrm>
              <a:off x="3782" y="2568"/>
              <a:ext cx="1769" cy="382"/>
            </a:xfrm>
            <a:prstGeom prst="rect">
              <a:avLst/>
            </a:prstGeom>
            <a:noFill/>
            <a:ln w="25400" cap="flat" cmpd="sng">
              <a:solidFill>
                <a:schemeClr val="fo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Tx/>
                <a:buFontTx/>
                <a:buNone/>
              </a:pPr>
              <a:r>
                <a:rPr lang="zh-CN" altLang="en-US" sz="1600" dirty="0">
                  <a:solidFill>
                    <a:schemeClr val="tx1"/>
                  </a:solidFill>
                  <a:cs typeface="Arial" panose="020B0604020202020204" pitchFamily="34" charset="0"/>
                </a:rPr>
                <a:t>概念模型       逻辑模型</a:t>
              </a:r>
              <a:endParaRPr lang="zh-CN" altLang="en-US" sz="1600" dirty="0">
                <a:solidFill>
                  <a:schemeClr val="tx1"/>
                </a:solidFill>
                <a:cs typeface="Arial" panose="020B0604020202020204" pitchFamily="34" charset="0"/>
              </a:endParaRPr>
            </a:p>
            <a:p>
              <a:pPr marL="342900" lvl="0" indent="-342900" algn="ctr" eaLnBrk="1" hangingPunct="1">
                <a:spcBef>
                  <a:spcPct val="0"/>
                </a:spcBef>
                <a:buClrTx/>
                <a:buFontTx/>
                <a:buNone/>
              </a:pPr>
              <a:r>
                <a:rPr lang="zh-CN" altLang="en-US" sz="1600" dirty="0">
                  <a:solidFill>
                    <a:schemeClr val="tx1"/>
                  </a:solidFill>
                  <a:cs typeface="Arial" panose="020B0604020202020204" pitchFamily="34" charset="0"/>
                </a:rPr>
                <a:t>数据库设计人员完成</a:t>
              </a:r>
              <a:endParaRPr lang="zh-CN" altLang="en-US" sz="1600" dirty="0">
                <a:solidFill>
                  <a:schemeClr val="tx1"/>
                </a:solidFill>
                <a:ea typeface="Arial" panose="020B0604020202020204" pitchFamily="34" charset="0"/>
              </a:endParaRPr>
            </a:p>
          </p:txBody>
        </p:sp>
        <p:sp>
          <p:nvSpPr>
            <p:cNvPr id="72723" name="AutoShape 22"/>
            <p:cNvSpPr/>
            <p:nvPr/>
          </p:nvSpPr>
          <p:spPr>
            <a:xfrm>
              <a:off x="4577" y="2631"/>
              <a:ext cx="181" cy="90"/>
            </a:xfrm>
            <a:prstGeom prst="rightArrow">
              <a:avLst>
                <a:gd name="adj1" fmla="val 50000"/>
                <a:gd name="adj2" fmla="val 50277"/>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18826"/>
                                        </p:tgtEl>
                                        <p:attrNameLst>
                                          <p:attrName>style.visibility</p:attrName>
                                        </p:attrNameLst>
                                      </p:cBhvr>
                                      <p:to>
                                        <p:strVal val="visible"/>
                                      </p:to>
                                    </p:set>
                                    <p:animEffect transition="in" filter="slide(fromTop)">
                                      <p:cBhvr>
                                        <p:cTn id="7" dur="500"/>
                                        <p:tgtEl>
                                          <p:spTgt spid="4188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418827"/>
                                        </p:tgtEl>
                                        <p:attrNameLst>
                                          <p:attrName>style.visibility</p:attrName>
                                        </p:attrNameLst>
                                      </p:cBhvr>
                                      <p:to>
                                        <p:strVal val="visible"/>
                                      </p:to>
                                    </p:set>
                                    <p:anim calcmode="lin" valueType="num">
                                      <p:cBhvr additive="base">
                                        <p:cTn id="12" dur="500" fill="hold"/>
                                        <p:tgtEl>
                                          <p:spTgt spid="418827"/>
                                        </p:tgtEl>
                                        <p:attrNameLst>
                                          <p:attrName>ppt_x</p:attrName>
                                        </p:attrNameLst>
                                      </p:cBhvr>
                                      <p:tavLst>
                                        <p:tav tm="0">
                                          <p:val>
                                            <p:strVal val="#ppt_x"/>
                                          </p:val>
                                        </p:tav>
                                        <p:tav tm="100000">
                                          <p:val>
                                            <p:strVal val="#ppt_x"/>
                                          </p:val>
                                        </p:tav>
                                      </p:tavLst>
                                    </p:anim>
                                    <p:anim calcmode="lin" valueType="num">
                                      <p:cBhvr additive="base">
                                        <p:cTn id="13" dur="500" fill="hold"/>
                                        <p:tgtEl>
                                          <p:spTgt spid="418827"/>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18821"/>
                                        </p:tgtEl>
                                        <p:attrNameLst>
                                          <p:attrName>style.visibility</p:attrName>
                                        </p:attrNameLst>
                                      </p:cBhvr>
                                      <p:to>
                                        <p:strVal val="visible"/>
                                      </p:to>
                                    </p:set>
                                    <p:animEffect transition="in" filter="slide(fromBottom)">
                                      <p:cBhvr>
                                        <p:cTn id="18" dur="500"/>
                                        <p:tgtEl>
                                          <p:spTgt spid="41882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418822"/>
                                        </p:tgtEl>
                                        <p:attrNameLst>
                                          <p:attrName>style.visibility</p:attrName>
                                        </p:attrNameLst>
                                      </p:cBhvr>
                                      <p:to>
                                        <p:strVal val="visible"/>
                                      </p:to>
                                    </p:set>
                                    <p:anim calcmode="lin" valueType="num">
                                      <p:cBhvr additive="base">
                                        <p:cTn id="23" dur="500" fill="hold"/>
                                        <p:tgtEl>
                                          <p:spTgt spid="418822"/>
                                        </p:tgtEl>
                                        <p:attrNameLst>
                                          <p:attrName>ppt_x</p:attrName>
                                        </p:attrNameLst>
                                      </p:cBhvr>
                                      <p:tavLst>
                                        <p:tav tm="0">
                                          <p:val>
                                            <p:strVal val="1+#ppt_w/2"/>
                                          </p:val>
                                        </p:tav>
                                        <p:tav tm="100000">
                                          <p:val>
                                            <p:strVal val="#ppt_x"/>
                                          </p:val>
                                        </p:tav>
                                      </p:tavLst>
                                    </p:anim>
                                    <p:anim calcmode="lin" valueType="num">
                                      <p:cBhvr additive="base">
                                        <p:cTn id="24" dur="500" fill="hold"/>
                                        <p:tgtEl>
                                          <p:spTgt spid="41882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18828"/>
                                        </p:tgtEl>
                                        <p:attrNameLst>
                                          <p:attrName>style.visibility</p:attrName>
                                        </p:attrNameLst>
                                      </p:cBhvr>
                                      <p:to>
                                        <p:strVal val="visible"/>
                                      </p:to>
                                    </p:set>
                                    <p:anim calcmode="lin" valueType="num">
                                      <p:cBhvr additive="base">
                                        <p:cTn id="29" dur="500" fill="hold"/>
                                        <p:tgtEl>
                                          <p:spTgt spid="418828"/>
                                        </p:tgtEl>
                                        <p:attrNameLst>
                                          <p:attrName>ppt_x</p:attrName>
                                        </p:attrNameLst>
                                      </p:cBhvr>
                                      <p:tavLst>
                                        <p:tav tm="0">
                                          <p:val>
                                            <p:strVal val="#ppt_x"/>
                                          </p:val>
                                        </p:tav>
                                        <p:tav tm="100000">
                                          <p:val>
                                            <p:strVal val="#ppt_x"/>
                                          </p:val>
                                        </p:tav>
                                      </p:tavLst>
                                    </p:anim>
                                    <p:anim calcmode="lin" valueType="num">
                                      <p:cBhvr additive="base">
                                        <p:cTn id="30" dur="500" fill="hold"/>
                                        <p:tgtEl>
                                          <p:spTgt spid="41882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418820"/>
                                        </p:tgtEl>
                                        <p:attrNameLst>
                                          <p:attrName>style.visibility</p:attrName>
                                        </p:attrNameLst>
                                      </p:cBhvr>
                                      <p:to>
                                        <p:strVal val="visible"/>
                                      </p:to>
                                    </p:set>
                                    <p:animEffect transition="in" filter="box(in)">
                                      <p:cBhvr>
                                        <p:cTn id="35" dur="500"/>
                                        <p:tgtEl>
                                          <p:spTgt spid="418820"/>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418823"/>
                                        </p:tgtEl>
                                        <p:attrNameLst>
                                          <p:attrName>style.visibility</p:attrName>
                                        </p:attrNameLst>
                                      </p:cBhvr>
                                      <p:to>
                                        <p:strVal val="visible"/>
                                      </p:to>
                                    </p:set>
                                    <p:anim calcmode="lin" valueType="num">
                                      <p:cBhvr additive="base">
                                        <p:cTn id="40" dur="500" fill="hold"/>
                                        <p:tgtEl>
                                          <p:spTgt spid="418823"/>
                                        </p:tgtEl>
                                        <p:attrNameLst>
                                          <p:attrName>ppt_x</p:attrName>
                                        </p:attrNameLst>
                                      </p:cBhvr>
                                      <p:tavLst>
                                        <p:tav tm="0">
                                          <p:val>
                                            <p:strVal val="0-#ppt_w/2"/>
                                          </p:val>
                                        </p:tav>
                                        <p:tav tm="100000">
                                          <p:val>
                                            <p:strVal val="#ppt_x"/>
                                          </p:val>
                                        </p:tav>
                                      </p:tavLst>
                                    </p:anim>
                                    <p:anim calcmode="lin" valueType="num">
                                      <p:cBhvr additive="base">
                                        <p:cTn id="41" dur="500" fill="hold"/>
                                        <p:tgtEl>
                                          <p:spTgt spid="418823"/>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418829"/>
                                        </p:tgtEl>
                                        <p:attrNameLst>
                                          <p:attrName>style.visibility</p:attrName>
                                        </p:attrNameLst>
                                      </p:cBhvr>
                                      <p:to>
                                        <p:strVal val="visible"/>
                                      </p:to>
                                    </p:set>
                                    <p:anim calcmode="lin" valueType="num">
                                      <p:cBhvr additive="base">
                                        <p:cTn id="46" dur="500" fill="hold"/>
                                        <p:tgtEl>
                                          <p:spTgt spid="418829"/>
                                        </p:tgtEl>
                                        <p:attrNameLst>
                                          <p:attrName>ppt_x</p:attrName>
                                        </p:attrNameLst>
                                      </p:cBhvr>
                                      <p:tavLst>
                                        <p:tav tm="0">
                                          <p:val>
                                            <p:strVal val="#ppt_x"/>
                                          </p:val>
                                        </p:tav>
                                        <p:tav tm="100000">
                                          <p:val>
                                            <p:strVal val="#ppt_x"/>
                                          </p:val>
                                        </p:tav>
                                      </p:tavLst>
                                    </p:anim>
                                    <p:anim calcmode="lin" valueType="num">
                                      <p:cBhvr additive="base">
                                        <p:cTn id="47" dur="500" fill="hold"/>
                                        <p:tgtEl>
                                          <p:spTgt spid="418829"/>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418819"/>
                                        </p:tgtEl>
                                        <p:attrNameLst>
                                          <p:attrName>style.visibility</p:attrName>
                                        </p:attrNameLst>
                                      </p:cBhvr>
                                      <p:to>
                                        <p:strVal val="visible"/>
                                      </p:to>
                                    </p:set>
                                    <p:animEffect transition="in" filter="box(in)">
                                      <p:cBhvr>
                                        <p:cTn id="52" dur="500"/>
                                        <p:tgtEl>
                                          <p:spTgt spid="418819"/>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418824"/>
                                        </p:tgtEl>
                                        <p:attrNameLst>
                                          <p:attrName>style.visibility</p:attrName>
                                        </p:attrNameLst>
                                      </p:cBhvr>
                                      <p:to>
                                        <p:strVal val="visible"/>
                                      </p:to>
                                    </p:set>
                                    <p:anim calcmode="lin" valueType="num">
                                      <p:cBhvr additive="base">
                                        <p:cTn id="57" dur="500" fill="hold"/>
                                        <p:tgtEl>
                                          <p:spTgt spid="418824"/>
                                        </p:tgtEl>
                                        <p:attrNameLst>
                                          <p:attrName>ppt_x</p:attrName>
                                        </p:attrNameLst>
                                      </p:cBhvr>
                                      <p:tavLst>
                                        <p:tav tm="0">
                                          <p:val>
                                            <p:strVal val="0-#ppt_w/2"/>
                                          </p:val>
                                        </p:tav>
                                        <p:tav tm="100000">
                                          <p:val>
                                            <p:strVal val="#ppt_x"/>
                                          </p:val>
                                        </p:tav>
                                      </p:tavLst>
                                    </p:anim>
                                    <p:anim calcmode="lin" valueType="num">
                                      <p:cBhvr additive="base">
                                        <p:cTn id="58" dur="500" fill="hold"/>
                                        <p:tgtEl>
                                          <p:spTgt spid="418824"/>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nodeType="clickEffect">
                                  <p:stCondLst>
                                    <p:cond delay="0"/>
                                  </p:stCondLst>
                                  <p:childTnLst>
                                    <p:set>
                                      <p:cBhvr>
                                        <p:cTn id="62" dur="1" fill="hold">
                                          <p:stCondLst>
                                            <p:cond delay="0"/>
                                          </p:stCondLst>
                                        </p:cTn>
                                        <p:tgtEl>
                                          <p:spTgt spid="418830"/>
                                        </p:tgtEl>
                                        <p:attrNameLst>
                                          <p:attrName>style.visibility</p:attrName>
                                        </p:attrNameLst>
                                      </p:cBhvr>
                                      <p:to>
                                        <p:strVal val="visible"/>
                                      </p:to>
                                    </p:set>
                                    <p:anim calcmode="lin" valueType="num">
                                      <p:cBhvr additive="base">
                                        <p:cTn id="63" dur="500" fill="hold"/>
                                        <p:tgtEl>
                                          <p:spTgt spid="418830"/>
                                        </p:tgtEl>
                                        <p:attrNameLst>
                                          <p:attrName>ppt_x</p:attrName>
                                        </p:attrNameLst>
                                      </p:cBhvr>
                                      <p:tavLst>
                                        <p:tav tm="0">
                                          <p:val>
                                            <p:strVal val="1+#ppt_w/2"/>
                                          </p:val>
                                        </p:tav>
                                        <p:tav tm="100000">
                                          <p:val>
                                            <p:strVal val="#ppt_x"/>
                                          </p:val>
                                        </p:tav>
                                      </p:tavLst>
                                    </p:anim>
                                    <p:anim calcmode="lin" valueType="num">
                                      <p:cBhvr additive="base">
                                        <p:cTn id="64" dur="500" fill="hold"/>
                                        <p:tgtEl>
                                          <p:spTgt spid="418830"/>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2" fill="hold" nodeType="clickEffect">
                                  <p:stCondLst>
                                    <p:cond delay="0"/>
                                  </p:stCondLst>
                                  <p:childTnLst>
                                    <p:set>
                                      <p:cBhvr>
                                        <p:cTn id="68" dur="1" fill="hold">
                                          <p:stCondLst>
                                            <p:cond delay="0"/>
                                          </p:stCondLst>
                                        </p:cTn>
                                        <p:tgtEl>
                                          <p:spTgt spid="418836"/>
                                        </p:tgtEl>
                                        <p:attrNameLst>
                                          <p:attrName>style.visibility</p:attrName>
                                        </p:attrNameLst>
                                      </p:cBhvr>
                                      <p:to>
                                        <p:strVal val="visible"/>
                                      </p:to>
                                    </p:set>
                                    <p:anim calcmode="lin" valueType="num">
                                      <p:cBhvr additive="base">
                                        <p:cTn id="69" dur="500" fill="hold"/>
                                        <p:tgtEl>
                                          <p:spTgt spid="418836"/>
                                        </p:tgtEl>
                                        <p:attrNameLst>
                                          <p:attrName>ppt_x</p:attrName>
                                        </p:attrNameLst>
                                      </p:cBhvr>
                                      <p:tavLst>
                                        <p:tav tm="0">
                                          <p:val>
                                            <p:strVal val="1+#ppt_w/2"/>
                                          </p:val>
                                        </p:tav>
                                        <p:tav tm="100000">
                                          <p:val>
                                            <p:strVal val="#ppt_x"/>
                                          </p:val>
                                        </p:tav>
                                      </p:tavLst>
                                    </p:anim>
                                    <p:anim calcmode="lin" valueType="num">
                                      <p:cBhvr additive="base">
                                        <p:cTn id="70" dur="500" fill="hold"/>
                                        <p:tgtEl>
                                          <p:spTgt spid="418836"/>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nodeType="clickEffect">
                                  <p:stCondLst>
                                    <p:cond delay="0"/>
                                  </p:stCondLst>
                                  <p:childTnLst>
                                    <p:set>
                                      <p:cBhvr>
                                        <p:cTn id="74" dur="1" fill="hold">
                                          <p:stCondLst>
                                            <p:cond delay="0"/>
                                          </p:stCondLst>
                                        </p:cTn>
                                        <p:tgtEl>
                                          <p:spTgt spid="418833"/>
                                        </p:tgtEl>
                                        <p:attrNameLst>
                                          <p:attrName>style.visibility</p:attrName>
                                        </p:attrNameLst>
                                      </p:cBhvr>
                                      <p:to>
                                        <p:strVal val="visible"/>
                                      </p:to>
                                    </p:set>
                                    <p:anim calcmode="lin" valueType="num">
                                      <p:cBhvr additive="base">
                                        <p:cTn id="75" dur="500" fill="hold"/>
                                        <p:tgtEl>
                                          <p:spTgt spid="418833"/>
                                        </p:tgtEl>
                                        <p:attrNameLst>
                                          <p:attrName>ppt_x</p:attrName>
                                        </p:attrNameLst>
                                      </p:cBhvr>
                                      <p:tavLst>
                                        <p:tav tm="0">
                                          <p:val>
                                            <p:strVal val="1+#ppt_w/2"/>
                                          </p:val>
                                        </p:tav>
                                        <p:tav tm="100000">
                                          <p:val>
                                            <p:strVal val="#ppt_x"/>
                                          </p:val>
                                        </p:tav>
                                      </p:tavLst>
                                    </p:anim>
                                    <p:anim calcmode="lin" valueType="num">
                                      <p:cBhvr additive="base">
                                        <p:cTn id="76" dur="500" fill="hold"/>
                                        <p:tgtEl>
                                          <p:spTgt spid="4188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animBg="1"/>
      <p:bldP spid="418820" grpId="0" animBg="1"/>
      <p:bldP spid="418821" grpId="0" animBg="1"/>
      <p:bldP spid="418822" grpId="0" animBg="1"/>
      <p:bldP spid="418823" grpId="0"/>
      <p:bldP spid="418824" grpId="0"/>
      <p:bldP spid="41882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3731" name="Rectangle 2"/>
          <p:cNvSpPr/>
          <p:nvPr/>
        </p:nvSpPr>
        <p:spPr>
          <a:xfrm>
            <a:off x="977900" y="1976438"/>
            <a:ext cx="7848600" cy="7620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73732" name="Rectangle 3"/>
          <p:cNvSpPr>
            <a:spLocks noGrp="1"/>
          </p:cNvSpPr>
          <p:nvPr>
            <p:ph type="title"/>
          </p:nvPr>
        </p:nvSpPr>
        <p:spPr>
          <a:ln/>
        </p:spPr>
        <p:txBody>
          <a:bodyPr vert="horz" wrap="square" lIns="91440" tIns="45720" rIns="91440" bIns="45720" anchor="ctr" anchorCtr="0"/>
          <a:p>
            <a:pPr eaLnBrk="1" hangingPunct="1"/>
            <a:r>
              <a:rPr lang="en-US" altLang="zh-CN" dirty="0"/>
              <a:t>1.2 </a:t>
            </a:r>
            <a:r>
              <a:rPr lang="zh-CN" altLang="en-US" dirty="0"/>
              <a:t>数据模型</a:t>
            </a:r>
            <a:endParaRPr lang="zh-CN" altLang="en-US" dirty="0"/>
          </a:p>
        </p:txBody>
      </p:sp>
      <p:sp>
        <p:nvSpPr>
          <p:cNvPr id="73733" name="Rectangle 4"/>
          <p:cNvSpPr>
            <a:spLocks noGrp="1"/>
          </p:cNvSpPr>
          <p:nvPr>
            <p:ph idx="1"/>
          </p:nvPr>
        </p:nvSpPr>
        <p:spPr>
          <a:xfrm>
            <a:off x="990600" y="1143000"/>
            <a:ext cx="7543800" cy="545465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1.2.1  </a:t>
            </a:r>
            <a:r>
              <a:rPr lang="zh-CN" altLang="en-US" dirty="0">
                <a:solidFill>
                  <a:schemeClr val="tx1"/>
                </a:solidFill>
                <a:latin typeface="Arial Narrow" panose="020B0606020202030204" pitchFamily="34" charset="0"/>
                <a:ea typeface="仿宋_GB2312" pitchFamily="49" charset="-122"/>
              </a:rPr>
              <a:t>两大类数据模型</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1.2.2  </a:t>
            </a:r>
            <a:r>
              <a:rPr lang="zh-CN" altLang="en-US" dirty="0">
                <a:solidFill>
                  <a:schemeClr val="bg1"/>
                </a:solidFill>
                <a:latin typeface="Arial Narrow" panose="020B0606020202030204" pitchFamily="34" charset="0"/>
                <a:ea typeface="仿宋_GB2312" pitchFamily="49" charset="-122"/>
              </a:rPr>
              <a:t>数据模型的组成要素</a:t>
            </a:r>
            <a:endParaRPr lang="zh-CN" altLang="en-US" dirty="0">
              <a:solidFill>
                <a:schemeClr val="bg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1.2.3</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概念模型</a:t>
            </a:r>
            <a:endParaRPr lang="zh-CN" altLang="en-US" dirty="0">
              <a:solidFill>
                <a:schemeClr val="tx1"/>
              </a:solidFill>
              <a:latin typeface="仿宋_GB2312" pitchFamily="49" charset="-122"/>
              <a:ea typeface="仿宋_GB2312" pitchFamily="49" charset="-122"/>
            </a:endParaRPr>
          </a:p>
          <a:p>
            <a:pPr algn="just"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1.2.3</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最常用的数据模型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1.2.4</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层次模型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1.2.5</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网状模型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1.2.6</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关系模型</a:t>
            </a:r>
            <a:endParaRPr lang="zh-CN" altLang="en-US" dirty="0">
              <a:solidFill>
                <a:schemeClr val="tx1"/>
              </a:solidFill>
              <a:latin typeface="仿宋_GB2312" pitchFamily="49" charset="-122"/>
              <a:ea typeface="仿宋_GB2312"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475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1.2.2 </a:t>
            </a:r>
            <a:r>
              <a:rPr lang="zh-CN" altLang="en-US" sz="3600" u="sng" dirty="0"/>
              <a:t>数据模型的组成要素</a:t>
            </a:r>
            <a:endParaRPr lang="zh-CN" altLang="en-US" sz="3600" u="sng" dirty="0"/>
          </a:p>
        </p:txBody>
      </p:sp>
      <p:sp>
        <p:nvSpPr>
          <p:cNvPr id="74756" name="Rectangle 3"/>
          <p:cNvSpPr>
            <a:spLocks noGrp="1"/>
          </p:cNvSpPr>
          <p:nvPr>
            <p:ph idx="1"/>
          </p:nvPr>
        </p:nvSpPr>
        <p:spPr>
          <a:xfrm>
            <a:off x="685800" y="1130300"/>
            <a:ext cx="7772400" cy="4724400"/>
          </a:xfrm>
          <a:ln/>
        </p:spPr>
        <p:txBody>
          <a:bodyPr vert="horz" wrap="square" lIns="91440" tIns="45720" rIns="91440" bIns="45720" anchor="t" anchorCtr="0"/>
          <a:p>
            <a:pPr eaLnBrk="1" hangingPunct="1">
              <a:buClr>
                <a:srgbClr val="FF0000"/>
              </a:buClr>
            </a:pPr>
            <a:r>
              <a:rPr lang="zh-CN" altLang="en-US" dirty="0"/>
              <a:t>数据模型的组成要素</a:t>
            </a:r>
            <a:endParaRPr lang="zh-CN" altLang="en-US" dirty="0"/>
          </a:p>
          <a:p>
            <a:pPr lvl="1" eaLnBrk="1" hangingPunct="1">
              <a:lnSpc>
                <a:spcPct val="130000"/>
              </a:lnSpc>
            </a:pPr>
            <a:r>
              <a:rPr lang="zh-CN" altLang="en-US" dirty="0"/>
              <a:t>数据结构 </a:t>
            </a:r>
            <a:endParaRPr lang="zh-CN" altLang="en-US" dirty="0"/>
          </a:p>
          <a:p>
            <a:pPr lvl="1" eaLnBrk="1" hangingPunct="1">
              <a:lnSpc>
                <a:spcPct val="130000"/>
              </a:lnSpc>
            </a:pPr>
            <a:r>
              <a:rPr lang="zh-CN" altLang="en-US" dirty="0"/>
              <a:t>数据操作 </a:t>
            </a:r>
            <a:endParaRPr lang="zh-CN" altLang="en-US" dirty="0"/>
          </a:p>
          <a:p>
            <a:pPr lvl="1" eaLnBrk="1" hangingPunct="1">
              <a:lnSpc>
                <a:spcPct val="130000"/>
              </a:lnSpc>
            </a:pPr>
            <a:r>
              <a:rPr lang="zh-CN" altLang="en-US" dirty="0"/>
              <a:t>完整性约束条件</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577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1.2.2 </a:t>
            </a:r>
            <a:r>
              <a:rPr lang="zh-CN" altLang="en-US" sz="3600" u="sng" dirty="0"/>
              <a:t>数据模型的组成要素</a:t>
            </a:r>
            <a:r>
              <a:rPr lang="en-US" altLang="zh-CN" sz="3600" u="sng" dirty="0"/>
              <a:t>(cont)</a:t>
            </a:r>
            <a:endParaRPr lang="en-US" altLang="zh-CN" sz="3600" u="sng" dirty="0"/>
          </a:p>
        </p:txBody>
      </p:sp>
      <p:sp>
        <p:nvSpPr>
          <p:cNvPr id="75780" name="Rectangle 3"/>
          <p:cNvSpPr>
            <a:spLocks noGrp="1"/>
          </p:cNvSpPr>
          <p:nvPr>
            <p:ph idx="1"/>
          </p:nvPr>
        </p:nvSpPr>
        <p:spPr>
          <a:xfrm>
            <a:off x="228600" y="762000"/>
            <a:ext cx="8686800" cy="5562600"/>
          </a:xfrm>
          <a:ln/>
        </p:spPr>
        <p:txBody>
          <a:bodyPr vert="horz" wrap="square" lIns="91440" tIns="45720" rIns="91440" bIns="45720" anchor="t" anchorCtr="0"/>
          <a:p>
            <a:pPr eaLnBrk="1" hangingPunct="1">
              <a:lnSpc>
                <a:spcPct val="90000"/>
              </a:lnSpc>
            </a:pPr>
            <a:r>
              <a:rPr lang="zh-CN" altLang="en-US" sz="2800" dirty="0"/>
              <a:t>数据结构</a:t>
            </a:r>
            <a:endParaRPr lang="zh-CN" altLang="en-US" sz="2800" dirty="0"/>
          </a:p>
          <a:p>
            <a:pPr lvl="1" eaLnBrk="1" hangingPunct="1">
              <a:lnSpc>
                <a:spcPct val="90000"/>
              </a:lnSpc>
            </a:pPr>
            <a:r>
              <a:rPr lang="zh-CN" altLang="en-US" sz="2400" dirty="0">
                <a:latin typeface="华文新魏" panose="02010800040101010101" pitchFamily="2" charset="-122"/>
              </a:rPr>
              <a:t>描述系统的静态特性，即组成数据库的数据对象及其联系</a:t>
            </a:r>
            <a:endParaRPr lang="zh-CN" altLang="en-US" sz="2400" dirty="0">
              <a:latin typeface="华文新魏" panose="02010800040101010101" pitchFamily="2" charset="-122"/>
            </a:endParaRPr>
          </a:p>
          <a:p>
            <a:pPr lvl="2" eaLnBrk="1" hangingPunct="1">
              <a:lnSpc>
                <a:spcPct val="90000"/>
              </a:lnSpc>
            </a:pPr>
            <a:r>
              <a:rPr lang="zh-CN" altLang="en-US" dirty="0">
                <a:latin typeface="华文新魏" panose="02010800040101010101" pitchFamily="2" charset="-122"/>
              </a:rPr>
              <a:t>数据对象本身 （类型、内容、性质。如网状模型中的数据项、记录，关系模型中的域、属性，关系等）</a:t>
            </a:r>
            <a:endParaRPr lang="zh-CN" altLang="en-US" dirty="0">
              <a:latin typeface="华文新魏" panose="02010800040101010101" pitchFamily="2" charset="-122"/>
            </a:endParaRPr>
          </a:p>
          <a:p>
            <a:pPr lvl="2" eaLnBrk="1" hangingPunct="1">
              <a:lnSpc>
                <a:spcPct val="90000"/>
              </a:lnSpc>
            </a:pPr>
            <a:r>
              <a:rPr lang="zh-CN" altLang="en-US" dirty="0">
                <a:latin typeface="华文新魏" panose="02010800040101010101" pitchFamily="2" charset="-122"/>
              </a:rPr>
              <a:t>数据之间的联系（例如网状模型中的系型，关系模型中的外码</a:t>
            </a:r>
            <a:r>
              <a:rPr lang="zh-CN" altLang="en-US" dirty="0">
                <a:latin typeface="华文新魏" panose="02010800040101010101" pitchFamily="2" charset="-122"/>
                <a:ea typeface="宋体" panose="02010600030101010101" pitchFamily="2" charset="-122"/>
              </a:rPr>
              <a:t>）</a:t>
            </a:r>
            <a:endParaRPr lang="zh-CN" altLang="en-US" dirty="0">
              <a:latin typeface="华文新魏" panose="02010800040101010101" pitchFamily="2" charset="-122"/>
              <a:ea typeface="宋体" panose="02010600030101010101" pitchFamily="2" charset="-122"/>
            </a:endParaRPr>
          </a:p>
          <a:p>
            <a:pPr algn="just" eaLnBrk="1" hangingPunct="1">
              <a:lnSpc>
                <a:spcPct val="90000"/>
              </a:lnSpc>
              <a:buNone/>
            </a:pPr>
            <a:r>
              <a:rPr lang="zh-CN" altLang="en-US" sz="2000" b="0" dirty="0"/>
              <a:t>               例</a:t>
            </a:r>
            <a:r>
              <a:rPr lang="en-US" altLang="zh-CN" sz="2000" b="0" dirty="0"/>
              <a:t>1</a:t>
            </a:r>
            <a:r>
              <a:rPr lang="zh-CN" altLang="en-US" sz="2000" b="0" dirty="0"/>
              <a:t>：</a:t>
            </a:r>
            <a:r>
              <a:rPr lang="en-US" altLang="zh-CN" sz="2000" b="0" dirty="0"/>
              <a:t>Student (XH</a:t>
            </a:r>
            <a:r>
              <a:rPr lang="zh-CN" altLang="en-US" sz="2000" b="0" dirty="0"/>
              <a:t>，</a:t>
            </a:r>
            <a:r>
              <a:rPr lang="en-US" altLang="zh-CN" sz="2000" b="0" dirty="0"/>
              <a:t>XM</a:t>
            </a:r>
            <a:r>
              <a:rPr lang="zh-CN" altLang="en-US" sz="2000" b="0" dirty="0"/>
              <a:t>，</a:t>
            </a:r>
            <a:r>
              <a:rPr lang="en-US" altLang="zh-CN" sz="2000" b="0" dirty="0"/>
              <a:t>NL</a:t>
            </a:r>
            <a:r>
              <a:rPr lang="zh-CN" altLang="en-US" sz="2000" b="0" dirty="0"/>
              <a:t>，</a:t>
            </a:r>
            <a:r>
              <a:rPr lang="en-US" altLang="zh-CN" sz="2000" b="0" dirty="0"/>
              <a:t>XB)</a:t>
            </a:r>
            <a:endParaRPr lang="en-US" altLang="zh-CN" sz="2000" b="0" dirty="0"/>
          </a:p>
          <a:p>
            <a:pPr algn="just" eaLnBrk="1" hangingPunct="1">
              <a:lnSpc>
                <a:spcPct val="90000"/>
              </a:lnSpc>
              <a:buNone/>
            </a:pPr>
            <a:r>
              <a:rPr lang="en-US" altLang="zh-CN" sz="2000" b="0" dirty="0"/>
              <a:t>               </a:t>
            </a:r>
            <a:r>
              <a:rPr lang="zh-CN" altLang="en-US" sz="2000" b="0" dirty="0"/>
              <a:t>例</a:t>
            </a:r>
            <a:r>
              <a:rPr lang="en-US" altLang="zh-CN" sz="2000" b="0" dirty="0"/>
              <a:t>2</a:t>
            </a:r>
            <a:r>
              <a:rPr lang="zh-CN" altLang="en-US" sz="2000" b="0" dirty="0"/>
              <a:t>：</a:t>
            </a:r>
            <a:endParaRPr lang="zh-CN" altLang="en-US" sz="2000" b="0" dirty="0"/>
          </a:p>
          <a:p>
            <a:pPr algn="just" eaLnBrk="1" hangingPunct="1">
              <a:lnSpc>
                <a:spcPct val="90000"/>
              </a:lnSpc>
              <a:buNone/>
            </a:pPr>
            <a:r>
              <a:rPr lang="zh-CN" altLang="en-US" sz="2000" b="0" dirty="0"/>
              <a:t> </a:t>
            </a:r>
            <a:endParaRPr lang="zh-CN" altLang="en-US" sz="2000" b="0" dirty="0"/>
          </a:p>
          <a:p>
            <a:pPr lvl="2" eaLnBrk="1" hangingPunct="1">
              <a:lnSpc>
                <a:spcPct val="90000"/>
              </a:lnSpc>
            </a:pPr>
            <a:endParaRPr lang="zh-CN" altLang="en-US" dirty="0">
              <a:latin typeface="华文新魏" panose="02010800040101010101" pitchFamily="2" charset="-122"/>
              <a:ea typeface="宋体" panose="02010600030101010101" pitchFamily="2" charset="-122"/>
            </a:endParaRPr>
          </a:p>
          <a:p>
            <a:pPr lvl="1" eaLnBrk="1" hangingPunct="1">
              <a:lnSpc>
                <a:spcPct val="90000"/>
              </a:lnSpc>
            </a:pPr>
            <a:endParaRPr lang="zh-CN" altLang="en-US" sz="2400" dirty="0">
              <a:latin typeface="华文新魏" panose="02010800040101010101" pitchFamily="2" charset="-122"/>
            </a:endParaRPr>
          </a:p>
          <a:p>
            <a:pPr lvl="1" eaLnBrk="1" hangingPunct="1">
              <a:lnSpc>
                <a:spcPct val="90000"/>
              </a:lnSpc>
            </a:pPr>
            <a:endParaRPr lang="zh-CN" altLang="en-US" sz="2400" dirty="0">
              <a:latin typeface="华文新魏" panose="02010800040101010101" pitchFamily="2" charset="-122"/>
            </a:endParaRPr>
          </a:p>
          <a:p>
            <a:pPr lvl="1" eaLnBrk="1" hangingPunct="1">
              <a:lnSpc>
                <a:spcPct val="90000"/>
              </a:lnSpc>
            </a:pPr>
            <a:r>
              <a:rPr lang="zh-CN" altLang="en-US" sz="2400" dirty="0">
                <a:latin typeface="华文新魏" panose="02010800040101010101" pitchFamily="2" charset="-122"/>
              </a:rPr>
              <a:t>数据结构刻画了数据模型性质最重要的方面，因此，在数据库系统中一般按数据结构的类型来命名数据模型</a:t>
            </a:r>
            <a:endParaRPr lang="zh-CN" altLang="en-US" sz="2400" dirty="0">
              <a:latin typeface="华文新魏" panose="02010800040101010101" pitchFamily="2" charset="-122"/>
            </a:endParaRPr>
          </a:p>
        </p:txBody>
      </p:sp>
      <p:graphicFrame>
        <p:nvGraphicFramePr>
          <p:cNvPr id="75781" name="Object 4"/>
          <p:cNvGraphicFramePr>
            <a:graphicFrameLocks noChangeAspect="1"/>
          </p:cNvGraphicFramePr>
          <p:nvPr/>
        </p:nvGraphicFramePr>
        <p:xfrm>
          <a:off x="1981200" y="3619500"/>
          <a:ext cx="3352800" cy="1662113"/>
        </p:xfrm>
        <a:graphic>
          <a:graphicData uri="http://schemas.openxmlformats.org/presentationml/2006/ole">
            <mc:AlternateContent xmlns:mc="http://schemas.openxmlformats.org/markup-compatibility/2006">
              <mc:Choice xmlns:v="urn:schemas-microsoft-com:vml" Requires="v">
                <p:oleObj spid="_x0000_s3076" name="" r:id="rId1" imgW="2057400" imgH="1019175" progId="Word.Picture.8">
                  <p:embed/>
                </p:oleObj>
              </mc:Choice>
              <mc:Fallback>
                <p:oleObj name="" r:id="rId1" imgW="2057400" imgH="1019175" progId="Word.Picture.8">
                  <p:embed/>
                  <p:pic>
                    <p:nvPicPr>
                      <p:cNvPr id="0" name="Picture 3075"/>
                      <p:cNvPicPr/>
                      <p:nvPr/>
                    </p:nvPicPr>
                    <p:blipFill>
                      <a:blip r:embed="rId2"/>
                      <a:stretch>
                        <a:fillRect/>
                      </a:stretch>
                    </p:blipFill>
                    <p:spPr>
                      <a:xfrm>
                        <a:off x="1981200" y="3619500"/>
                        <a:ext cx="3352800" cy="1662113"/>
                      </a:xfrm>
                      <a:prstGeom prst="rect">
                        <a:avLst/>
                      </a:prstGeom>
                      <a:noFill/>
                      <a:ln w="38100">
                        <a:noFill/>
                        <a:miter/>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680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1.2.2 </a:t>
            </a:r>
            <a:r>
              <a:rPr lang="zh-CN" altLang="en-US" sz="3600" u="sng" dirty="0"/>
              <a:t>数据模型的组成要素</a:t>
            </a:r>
            <a:r>
              <a:rPr lang="en-US" altLang="zh-CN" sz="3600" u="sng" dirty="0"/>
              <a:t>(cont)</a:t>
            </a:r>
            <a:endParaRPr lang="en-US" altLang="zh-CN" sz="3600" u="sng" dirty="0"/>
          </a:p>
        </p:txBody>
      </p:sp>
      <p:sp>
        <p:nvSpPr>
          <p:cNvPr id="76804" name="Rectangle 3"/>
          <p:cNvSpPr>
            <a:spLocks noGrp="1"/>
          </p:cNvSpPr>
          <p:nvPr>
            <p:ph idx="1"/>
          </p:nvPr>
        </p:nvSpPr>
        <p:spPr>
          <a:xfrm>
            <a:off x="228600" y="762000"/>
            <a:ext cx="8686800" cy="5562600"/>
          </a:xfrm>
          <a:ln/>
        </p:spPr>
        <p:txBody>
          <a:bodyPr vert="horz" wrap="square" lIns="91440" tIns="45720" rIns="91440" bIns="45720" anchor="t" anchorCtr="0"/>
          <a:p>
            <a:pPr eaLnBrk="1" hangingPunct="1"/>
            <a:r>
              <a:rPr lang="zh-CN" altLang="en-US" dirty="0"/>
              <a:t>数据操作</a:t>
            </a:r>
            <a:endParaRPr lang="zh-CN" altLang="en-US" dirty="0"/>
          </a:p>
          <a:p>
            <a:pPr lvl="1" eaLnBrk="1" hangingPunct="1"/>
            <a:r>
              <a:rPr lang="zh-CN" altLang="en-US" dirty="0"/>
              <a:t>描述系统的动态特性，即对数据库中对象的实例允许执行的操作的集合，包括</a:t>
            </a:r>
            <a:r>
              <a:rPr lang="zh-CN" altLang="en-US" dirty="0">
                <a:solidFill>
                  <a:schemeClr val="accent2"/>
                </a:solidFill>
              </a:rPr>
              <a:t>操作</a:t>
            </a:r>
            <a:r>
              <a:rPr lang="zh-CN" altLang="en-US" dirty="0"/>
              <a:t>及操作</a:t>
            </a:r>
            <a:r>
              <a:rPr lang="zh-CN" altLang="en-US" dirty="0">
                <a:solidFill>
                  <a:schemeClr val="accent2"/>
                </a:solidFill>
              </a:rPr>
              <a:t>规则</a:t>
            </a:r>
            <a:endParaRPr lang="zh-CN" altLang="en-US" dirty="0">
              <a:solidFill>
                <a:schemeClr val="accent2"/>
              </a:solidFill>
            </a:endParaRPr>
          </a:p>
          <a:p>
            <a:pPr lvl="1" eaLnBrk="1" hangingPunct="1"/>
            <a:r>
              <a:rPr lang="zh-CN" altLang="en-US" dirty="0"/>
              <a:t>一般有检索、更新（插入、删除、修改）操作</a:t>
            </a:r>
            <a:endParaRPr lang="zh-CN" altLang="en-US" dirty="0"/>
          </a:p>
          <a:p>
            <a:pPr lvl="1" eaLnBrk="1" hangingPunct="1"/>
            <a:r>
              <a:rPr lang="zh-CN" altLang="en-US" dirty="0"/>
              <a:t>数据模型要定义操作含义、操作符号、操作规则，以及实现操作的语言</a:t>
            </a:r>
            <a:endParaRPr lang="zh-CN" altLang="en-US" dirty="0"/>
          </a:p>
          <a:p>
            <a:pPr eaLnBrk="1" hangingPunct="1"/>
            <a:r>
              <a:rPr lang="zh-CN" altLang="en-US" dirty="0"/>
              <a:t>数据的约束条件</a:t>
            </a:r>
            <a:endParaRPr lang="zh-CN" altLang="en-US" dirty="0"/>
          </a:p>
          <a:p>
            <a:pPr lvl="1" eaLnBrk="1" hangingPunct="1"/>
            <a:r>
              <a:rPr lang="zh-CN" altLang="en-US" dirty="0"/>
              <a:t>数据的约束条件是完整性规则的集合，规定数据库状态及状态变化所应满足的条件，以保证数据的正确、有效、相容</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7827" name="Rectangle 2"/>
          <p:cNvSpPr/>
          <p:nvPr/>
        </p:nvSpPr>
        <p:spPr>
          <a:xfrm>
            <a:off x="977900" y="2676525"/>
            <a:ext cx="7848600" cy="7620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77828" name="Rectangle 3"/>
          <p:cNvSpPr>
            <a:spLocks noGrp="1"/>
          </p:cNvSpPr>
          <p:nvPr>
            <p:ph type="title"/>
          </p:nvPr>
        </p:nvSpPr>
        <p:spPr>
          <a:ln/>
        </p:spPr>
        <p:txBody>
          <a:bodyPr vert="horz" wrap="square" lIns="91440" tIns="45720" rIns="91440" bIns="45720" anchor="ctr" anchorCtr="0"/>
          <a:p>
            <a:pPr eaLnBrk="1" hangingPunct="1"/>
            <a:r>
              <a:rPr lang="en-US" altLang="zh-CN" dirty="0"/>
              <a:t>1.2 </a:t>
            </a:r>
            <a:r>
              <a:rPr lang="zh-CN" altLang="en-US" dirty="0"/>
              <a:t>数据模型</a:t>
            </a:r>
            <a:endParaRPr lang="zh-CN" altLang="en-US" dirty="0"/>
          </a:p>
        </p:txBody>
      </p:sp>
      <p:sp>
        <p:nvSpPr>
          <p:cNvPr id="77829" name="Rectangle 4"/>
          <p:cNvSpPr>
            <a:spLocks noGrp="1"/>
          </p:cNvSpPr>
          <p:nvPr>
            <p:ph idx="1"/>
          </p:nvPr>
        </p:nvSpPr>
        <p:spPr>
          <a:xfrm>
            <a:off x="990600" y="1143000"/>
            <a:ext cx="7543800" cy="545465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1.2.1  </a:t>
            </a:r>
            <a:r>
              <a:rPr lang="zh-CN" altLang="en-US" dirty="0">
                <a:solidFill>
                  <a:schemeClr val="tx1"/>
                </a:solidFill>
                <a:latin typeface="Arial Narrow" panose="020B0606020202030204" pitchFamily="34" charset="0"/>
                <a:ea typeface="仿宋_GB2312" pitchFamily="49" charset="-122"/>
              </a:rPr>
              <a:t>两大类数据模型</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1.2.2  </a:t>
            </a:r>
            <a:r>
              <a:rPr lang="zh-CN" altLang="en-US" dirty="0">
                <a:solidFill>
                  <a:schemeClr val="tx1"/>
                </a:solidFill>
                <a:latin typeface="Arial Narrow" panose="020B0606020202030204" pitchFamily="34" charset="0"/>
                <a:ea typeface="仿宋_GB2312" pitchFamily="49" charset="-122"/>
              </a:rPr>
              <a:t>数据模型的组成要素</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1.2.3</a:t>
            </a:r>
            <a:r>
              <a:rPr lang="en-US" altLang="zh-CN" dirty="0">
                <a:solidFill>
                  <a:schemeClr val="bg1"/>
                </a:solidFill>
                <a:latin typeface="仿宋_GB2312" pitchFamily="49" charset="-122"/>
                <a:ea typeface="仿宋_GB2312" pitchFamily="49" charset="-122"/>
              </a:rPr>
              <a:t> </a:t>
            </a:r>
            <a:r>
              <a:rPr lang="zh-CN" altLang="en-US" dirty="0">
                <a:solidFill>
                  <a:schemeClr val="bg1"/>
                </a:solidFill>
                <a:latin typeface="仿宋_GB2312" pitchFamily="49" charset="-122"/>
                <a:ea typeface="仿宋_GB2312" pitchFamily="49" charset="-122"/>
              </a:rPr>
              <a:t>概念模型</a:t>
            </a:r>
            <a:endParaRPr lang="zh-CN" altLang="en-US" dirty="0">
              <a:solidFill>
                <a:schemeClr val="bg1"/>
              </a:solidFill>
              <a:latin typeface="仿宋_GB2312" pitchFamily="49" charset="-122"/>
              <a:ea typeface="仿宋_GB2312" pitchFamily="49" charset="-122"/>
            </a:endParaRPr>
          </a:p>
          <a:p>
            <a:pPr algn="just"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1.2.4</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最常用的数据模型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1.2.5</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层次模型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1.2.6</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网状模型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1.2.7</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关系模型</a:t>
            </a:r>
            <a:endParaRPr lang="zh-CN" altLang="en-US" dirty="0">
              <a:solidFill>
                <a:schemeClr val="tx1"/>
              </a:solidFill>
              <a:latin typeface="仿宋_GB2312" pitchFamily="49" charset="-122"/>
              <a:ea typeface="仿宋_GB2312"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885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endParaRPr lang="zh-CN" altLang="en-US" sz="3600" u="sng" dirty="0"/>
          </a:p>
        </p:txBody>
      </p:sp>
      <p:sp>
        <p:nvSpPr>
          <p:cNvPr id="78852" name="Rectangle 3"/>
          <p:cNvSpPr>
            <a:spLocks noGrp="1"/>
          </p:cNvSpPr>
          <p:nvPr>
            <p:ph idx="1"/>
          </p:nvPr>
        </p:nvSpPr>
        <p:spPr>
          <a:xfrm>
            <a:off x="784225" y="762000"/>
            <a:ext cx="7223125" cy="5691188"/>
          </a:xfrm>
          <a:ln/>
        </p:spPr>
        <p:txBody>
          <a:bodyPr vert="horz" wrap="square" lIns="91440" tIns="45720" rIns="91440" bIns="45720" anchor="t" anchorCtr="0"/>
          <a:p>
            <a:pPr eaLnBrk="1" hangingPunct="1">
              <a:lnSpc>
                <a:spcPct val="140000"/>
              </a:lnSpc>
              <a:spcBef>
                <a:spcPct val="0"/>
              </a:spcBef>
            </a:pPr>
            <a:r>
              <a:rPr lang="zh-CN" altLang="en-US" dirty="0">
                <a:solidFill>
                  <a:schemeClr val="tx1"/>
                </a:solidFill>
              </a:rPr>
              <a:t>概念模型的用途、特点</a:t>
            </a:r>
            <a:endParaRPr lang="zh-CN" altLang="en-US" dirty="0">
              <a:solidFill>
                <a:schemeClr val="tx1"/>
              </a:solidFill>
            </a:endParaRPr>
          </a:p>
          <a:p>
            <a:pPr eaLnBrk="1" hangingPunct="1">
              <a:lnSpc>
                <a:spcPct val="140000"/>
              </a:lnSpc>
              <a:spcBef>
                <a:spcPct val="0"/>
              </a:spcBef>
            </a:pPr>
            <a:r>
              <a:rPr lang="zh-CN" altLang="en-US" dirty="0">
                <a:solidFill>
                  <a:schemeClr val="tx1"/>
                </a:solidFill>
              </a:rPr>
              <a:t>信息世界中的基本概念</a:t>
            </a:r>
            <a:endParaRPr lang="zh-CN" altLang="en-US" dirty="0">
              <a:solidFill>
                <a:schemeClr val="tx1"/>
              </a:solidFill>
            </a:endParaRPr>
          </a:p>
          <a:p>
            <a:pPr eaLnBrk="1" hangingPunct="1">
              <a:lnSpc>
                <a:spcPct val="140000"/>
              </a:lnSpc>
              <a:spcBef>
                <a:spcPct val="0"/>
              </a:spcBef>
            </a:pPr>
            <a:r>
              <a:rPr lang="zh-CN" altLang="en-US" dirty="0">
                <a:solidFill>
                  <a:schemeClr val="tx1"/>
                </a:solidFill>
              </a:rPr>
              <a:t>两个实体型之间的联系</a:t>
            </a:r>
            <a:endParaRPr lang="zh-CN" altLang="en-US" dirty="0">
              <a:solidFill>
                <a:schemeClr val="tx1"/>
              </a:solidFill>
            </a:endParaRPr>
          </a:p>
          <a:p>
            <a:pPr eaLnBrk="1" hangingPunct="1">
              <a:lnSpc>
                <a:spcPct val="140000"/>
              </a:lnSpc>
              <a:spcBef>
                <a:spcPct val="0"/>
              </a:spcBef>
            </a:pPr>
            <a:r>
              <a:rPr lang="zh-CN" altLang="en-US" dirty="0">
                <a:solidFill>
                  <a:schemeClr val="tx1"/>
                </a:solidFill>
              </a:rPr>
              <a:t>两个以上实体型之间的联系</a:t>
            </a:r>
            <a:endParaRPr lang="zh-CN" altLang="en-US" dirty="0">
              <a:solidFill>
                <a:schemeClr val="tx1"/>
              </a:solidFill>
            </a:endParaRPr>
          </a:p>
          <a:p>
            <a:pPr eaLnBrk="1" hangingPunct="1">
              <a:lnSpc>
                <a:spcPct val="140000"/>
              </a:lnSpc>
              <a:spcBef>
                <a:spcPct val="0"/>
              </a:spcBef>
            </a:pPr>
            <a:r>
              <a:rPr lang="zh-CN" altLang="en-US" dirty="0">
                <a:solidFill>
                  <a:schemeClr val="tx1"/>
                </a:solidFill>
              </a:rPr>
              <a:t>单个实体型内的联系</a:t>
            </a:r>
            <a:endParaRPr lang="zh-CN" altLang="en-US" dirty="0">
              <a:solidFill>
                <a:schemeClr val="tx1"/>
              </a:solidFill>
            </a:endParaRPr>
          </a:p>
          <a:p>
            <a:pPr eaLnBrk="1" hangingPunct="1">
              <a:lnSpc>
                <a:spcPct val="140000"/>
              </a:lnSpc>
              <a:spcBef>
                <a:spcPct val="0"/>
              </a:spcBef>
            </a:pPr>
            <a:r>
              <a:rPr lang="zh-CN" altLang="en-US" dirty="0">
                <a:solidFill>
                  <a:schemeClr val="tx1"/>
                </a:solidFill>
              </a:rPr>
              <a:t>概念模型的一种表示方法</a:t>
            </a:r>
            <a:endParaRPr lang="zh-CN" altLang="en-US" dirty="0">
              <a:solidFill>
                <a:schemeClr val="tx1"/>
              </a:solidFill>
            </a:endParaRPr>
          </a:p>
          <a:p>
            <a:pPr eaLnBrk="1" hangingPunct="1">
              <a:lnSpc>
                <a:spcPct val="140000"/>
              </a:lnSpc>
              <a:spcBef>
                <a:spcPct val="0"/>
              </a:spcBef>
            </a:pPr>
            <a:r>
              <a:rPr lang="zh-CN" altLang="en-US" dirty="0">
                <a:solidFill>
                  <a:schemeClr val="tx1"/>
                </a:solidFill>
              </a:rPr>
              <a:t>案例分析</a:t>
            </a:r>
            <a:endParaRPr lang="zh-CN" altLang="en-US" dirty="0">
              <a:solidFill>
                <a:schemeClr val="tx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987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79876" name="Rectangle 3"/>
          <p:cNvSpPr>
            <a:spLocks noGrp="1"/>
          </p:cNvSpPr>
          <p:nvPr>
            <p:ph idx="1"/>
          </p:nvPr>
        </p:nvSpPr>
        <p:spPr>
          <a:xfrm>
            <a:off x="228600" y="762000"/>
            <a:ext cx="8686800" cy="4876800"/>
          </a:xfrm>
          <a:ln/>
        </p:spPr>
        <p:txBody>
          <a:bodyPr vert="horz" wrap="square" lIns="91440" tIns="45720" rIns="91440" bIns="45720" anchor="t" anchorCtr="0"/>
          <a:p>
            <a:pPr algn="just" eaLnBrk="1" hangingPunct="1"/>
            <a:r>
              <a:rPr lang="zh-CN" altLang="en-US" sz="3600" dirty="0"/>
              <a:t>概念模型的用途</a:t>
            </a:r>
            <a:endParaRPr lang="zh-CN" altLang="en-US" sz="3600" dirty="0"/>
          </a:p>
          <a:p>
            <a:pPr lvl="1" algn="just" eaLnBrk="1" hangingPunct="1">
              <a:lnSpc>
                <a:spcPct val="110000"/>
              </a:lnSpc>
            </a:pPr>
            <a:r>
              <a:rPr lang="zh-CN" altLang="en-US" dirty="0"/>
              <a:t>独立于特定</a:t>
            </a:r>
            <a:r>
              <a:rPr lang="en-US" altLang="zh-CN" dirty="0"/>
              <a:t>DBMS</a:t>
            </a:r>
            <a:r>
              <a:rPr lang="zh-CN" altLang="en-US" dirty="0"/>
              <a:t>的现实世界的抽象模型</a:t>
            </a:r>
            <a:endParaRPr lang="zh-CN" altLang="en-US" dirty="0"/>
          </a:p>
          <a:p>
            <a:pPr lvl="1" algn="just" eaLnBrk="1" hangingPunct="1">
              <a:lnSpc>
                <a:spcPct val="110000"/>
              </a:lnSpc>
            </a:pPr>
            <a:r>
              <a:rPr lang="zh-CN" altLang="en-US" dirty="0"/>
              <a:t>概念模型用于信息世界的建模</a:t>
            </a:r>
            <a:endParaRPr lang="zh-CN" altLang="en-US" dirty="0"/>
          </a:p>
          <a:p>
            <a:pPr lvl="1" eaLnBrk="1" hangingPunct="1">
              <a:lnSpc>
                <a:spcPct val="110000"/>
              </a:lnSpc>
            </a:pPr>
            <a:r>
              <a:rPr lang="zh-CN" altLang="en-US" dirty="0"/>
              <a:t>是现实世界到机器世界的一个中间层次第一层抽象</a:t>
            </a:r>
            <a:endParaRPr lang="zh-CN" altLang="en-US" dirty="0"/>
          </a:p>
          <a:p>
            <a:pPr lvl="1" algn="just" eaLnBrk="1" hangingPunct="1">
              <a:lnSpc>
                <a:spcPct val="110000"/>
              </a:lnSpc>
            </a:pPr>
            <a:r>
              <a:rPr lang="zh-CN" altLang="en-US" dirty="0"/>
              <a:t>是数据库设计人员进行数据库设计的有力工具</a:t>
            </a:r>
            <a:endParaRPr lang="zh-CN" altLang="en-US" dirty="0"/>
          </a:p>
          <a:p>
            <a:pPr lvl="1" algn="just" eaLnBrk="1" hangingPunct="1">
              <a:lnSpc>
                <a:spcPct val="110000"/>
              </a:lnSpc>
            </a:pPr>
            <a:r>
              <a:rPr lang="zh-CN" altLang="en-US" dirty="0"/>
              <a:t>数据库设计人员和用户之间进行交流的语言</a:t>
            </a:r>
            <a:endParaRPr lang="zh-CN" altLang="en-US" dirty="0"/>
          </a:p>
          <a:p>
            <a:pPr lvl="1" algn="just" eaLnBrk="1" hangingPunct="1">
              <a:lnSpc>
                <a:spcPct val="110000"/>
              </a:lnSpc>
            </a:pP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089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80900" name="Rectangle 3"/>
          <p:cNvSpPr>
            <a:spLocks noGrp="1"/>
          </p:cNvSpPr>
          <p:nvPr>
            <p:ph idx="1"/>
          </p:nvPr>
        </p:nvSpPr>
        <p:spPr>
          <a:xfrm>
            <a:off x="228600" y="990600"/>
            <a:ext cx="8686800" cy="4876800"/>
          </a:xfrm>
          <a:ln/>
        </p:spPr>
        <p:txBody>
          <a:bodyPr vert="horz" wrap="square" lIns="91440" tIns="45720" rIns="91440" bIns="45720" anchor="t" anchorCtr="0"/>
          <a:p>
            <a:pPr eaLnBrk="1" hangingPunct="1"/>
            <a:r>
              <a:rPr lang="zh-CN" altLang="en-US" sz="3600" dirty="0"/>
              <a:t>概念模型的特点</a:t>
            </a:r>
            <a:r>
              <a:rPr lang="en-US" altLang="zh-CN" sz="3600" dirty="0"/>
              <a:t>(</a:t>
            </a:r>
            <a:r>
              <a:rPr lang="zh-CN" altLang="en-US" sz="3600" dirty="0"/>
              <a:t>对概念模型的基本要求</a:t>
            </a:r>
            <a:r>
              <a:rPr lang="en-US" altLang="zh-CN" sz="3600" dirty="0"/>
              <a:t>)</a:t>
            </a:r>
            <a:endParaRPr lang="en-US" altLang="zh-CN" sz="3600" dirty="0"/>
          </a:p>
          <a:p>
            <a:pPr lvl="1" eaLnBrk="1" hangingPunct="1"/>
            <a:r>
              <a:rPr lang="zh-CN" altLang="en-US" sz="3200" dirty="0"/>
              <a:t>较强语义表达能力；</a:t>
            </a:r>
            <a:endParaRPr lang="zh-CN" altLang="en-US" sz="3200" dirty="0"/>
          </a:p>
          <a:p>
            <a:pPr lvl="1" eaLnBrk="1" hangingPunct="1"/>
            <a:r>
              <a:rPr lang="zh-CN" altLang="en-US" sz="3200" dirty="0"/>
              <a:t>便于直接表示应用语义；</a:t>
            </a:r>
            <a:endParaRPr lang="zh-CN" altLang="en-US" sz="3200" dirty="0"/>
          </a:p>
          <a:p>
            <a:pPr lvl="1" eaLnBrk="1" hangingPunct="1"/>
            <a:r>
              <a:rPr lang="zh-CN" altLang="en-US" sz="3200" dirty="0"/>
              <a:t>简单、清晰，易于理解。</a:t>
            </a:r>
            <a:endParaRPr lang="zh-CN" altLang="en-US" sz="3200" dirty="0"/>
          </a:p>
          <a:p>
            <a:pPr lvl="1" eaLnBrk="1" hangingPunct="1"/>
            <a:endParaRPr lang="zh-CN" altLang="en-US" sz="3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2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grpSp>
        <p:nvGrpSpPr>
          <p:cNvPr id="81924" name="Group 3"/>
          <p:cNvGrpSpPr/>
          <p:nvPr/>
        </p:nvGrpSpPr>
        <p:grpSpPr>
          <a:xfrm>
            <a:off x="609600" y="1587500"/>
            <a:ext cx="4051300" cy="4117975"/>
            <a:chOff x="384" y="1000"/>
            <a:chExt cx="2552" cy="2594"/>
          </a:xfrm>
        </p:grpSpPr>
        <p:sp>
          <p:nvSpPr>
            <p:cNvPr id="81934" name="Oval 4"/>
            <p:cNvSpPr/>
            <p:nvPr/>
          </p:nvSpPr>
          <p:spPr>
            <a:xfrm>
              <a:off x="1499" y="1000"/>
              <a:ext cx="1379" cy="565"/>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现实世界</a:t>
              </a:r>
              <a:endParaRPr lang="zh-CN" altLang="en-US" sz="2200" b="0" dirty="0">
                <a:solidFill>
                  <a:schemeClr val="tx1"/>
                </a:solidFill>
                <a:ea typeface="华文隶书" panose="02010800040101010101" pitchFamily="2" charset="-122"/>
              </a:endParaRPr>
            </a:p>
          </p:txBody>
        </p:sp>
        <p:sp>
          <p:nvSpPr>
            <p:cNvPr id="81935" name="Oval 5"/>
            <p:cNvSpPr/>
            <p:nvPr/>
          </p:nvSpPr>
          <p:spPr>
            <a:xfrm>
              <a:off x="1499" y="2014"/>
              <a:ext cx="1379" cy="565"/>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信息世界</a:t>
              </a:r>
              <a:endParaRPr lang="zh-CN" altLang="en-US" sz="2200" b="0" dirty="0">
                <a:solidFill>
                  <a:schemeClr val="tx1"/>
                </a:solidFill>
                <a:ea typeface="华文隶书" panose="02010800040101010101" pitchFamily="2" charset="-122"/>
              </a:endParaRPr>
            </a:p>
          </p:txBody>
        </p:sp>
        <p:sp>
          <p:nvSpPr>
            <p:cNvPr id="81936" name="Oval 6"/>
            <p:cNvSpPr/>
            <p:nvPr/>
          </p:nvSpPr>
          <p:spPr>
            <a:xfrm>
              <a:off x="1499" y="3028"/>
              <a:ext cx="1379" cy="56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计算机世界</a:t>
              </a:r>
              <a:endParaRPr lang="zh-CN" altLang="en-US" sz="2200" b="0" dirty="0">
                <a:solidFill>
                  <a:schemeClr val="tx1"/>
                </a:solidFill>
                <a:ea typeface="华文隶书" panose="02010800040101010101" pitchFamily="2" charset="-122"/>
              </a:endParaRPr>
            </a:p>
          </p:txBody>
        </p:sp>
        <p:sp>
          <p:nvSpPr>
            <p:cNvPr id="81937" name="Freeform 7"/>
            <p:cNvSpPr/>
            <p:nvPr/>
          </p:nvSpPr>
          <p:spPr>
            <a:xfrm>
              <a:off x="2087" y="2616"/>
              <a:ext cx="193" cy="387"/>
            </a:xfrm>
            <a:custGeom>
              <a:avLst/>
              <a:gdLst/>
              <a:ahLst/>
              <a:cxnLst>
                <a:cxn ang="0">
                  <a:pos x="0" y="4"/>
                </a:cxn>
                <a:cxn ang="0">
                  <a:pos x="25935" y="4"/>
                </a:cxn>
                <a:cxn ang="0">
                  <a:pos x="25935" y="0"/>
                </a:cxn>
                <a:cxn ang="0">
                  <a:pos x="76501" y="0"/>
                </a:cxn>
                <a:cxn ang="0">
                  <a:pos x="76501" y="4"/>
                </a:cxn>
                <a:cxn ang="0">
                  <a:pos x="101965" y="4"/>
                </a:cxn>
                <a:cxn ang="0">
                  <a:pos x="50189" y="6"/>
                </a:cxn>
                <a:cxn ang="0">
                  <a:pos x="0" y="4"/>
                </a:cxn>
              </a:cxnLst>
              <a:pathLst>
                <a:path w="153" h="451">
                  <a:moveTo>
                    <a:pt x="0" y="338"/>
                  </a:moveTo>
                  <a:lnTo>
                    <a:pt x="39" y="338"/>
                  </a:lnTo>
                  <a:lnTo>
                    <a:pt x="39" y="0"/>
                  </a:lnTo>
                  <a:lnTo>
                    <a:pt x="114" y="0"/>
                  </a:lnTo>
                  <a:lnTo>
                    <a:pt x="114" y="338"/>
                  </a:lnTo>
                  <a:lnTo>
                    <a:pt x="153" y="338"/>
                  </a:lnTo>
                  <a:lnTo>
                    <a:pt x="75" y="451"/>
                  </a:lnTo>
                  <a:lnTo>
                    <a:pt x="0" y="338"/>
                  </a:lnTo>
                  <a:close/>
                </a:path>
              </a:pathLst>
            </a:cu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alpha val="100000"/>
                </a:srgbClr>
              </a:solidFill>
              <a:prstDash val="solid"/>
              <a:round/>
              <a:headEnd type="none" w="med" len="med"/>
              <a:tailEnd type="none" w="med" len="med"/>
            </a:ln>
          </p:spPr>
          <p:txBody>
            <a:bodyPr/>
            <a:p>
              <a:endParaRPr lang="en-US"/>
            </a:p>
          </p:txBody>
        </p:sp>
        <p:sp>
          <p:nvSpPr>
            <p:cNvPr id="81938" name="Rectangle 8"/>
            <p:cNvSpPr/>
            <p:nvPr/>
          </p:nvSpPr>
          <p:spPr>
            <a:xfrm>
              <a:off x="2392" y="1640"/>
              <a:ext cx="528" cy="21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概念化</a:t>
              </a:r>
              <a:endParaRPr lang="zh-CN" altLang="en-US" sz="2200" b="0" dirty="0">
                <a:solidFill>
                  <a:schemeClr val="tx1"/>
                </a:solidFill>
                <a:ea typeface="华文隶书" panose="02010800040101010101" pitchFamily="2" charset="-122"/>
              </a:endParaRPr>
            </a:p>
          </p:txBody>
        </p:sp>
        <p:sp>
          <p:nvSpPr>
            <p:cNvPr id="81939" name="Rectangle 9"/>
            <p:cNvSpPr/>
            <p:nvPr/>
          </p:nvSpPr>
          <p:spPr>
            <a:xfrm>
              <a:off x="2408" y="2679"/>
              <a:ext cx="528" cy="21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200" b="0" dirty="0">
                  <a:solidFill>
                    <a:srgbClr val="000000"/>
                  </a:solidFill>
                  <a:latin typeface="宋体" panose="02010600030101010101" pitchFamily="2" charset="-122"/>
                  <a:ea typeface="华文隶书" panose="02010800040101010101" pitchFamily="2" charset="-122"/>
                </a:rPr>
                <a:t>形式化</a:t>
              </a:r>
              <a:endParaRPr lang="zh-CN" altLang="en-US" sz="2200" b="0" dirty="0">
                <a:solidFill>
                  <a:schemeClr val="tx1"/>
                </a:solidFill>
                <a:ea typeface="华文隶书" panose="02010800040101010101" pitchFamily="2" charset="-122"/>
              </a:endParaRPr>
            </a:p>
          </p:txBody>
        </p:sp>
        <p:sp>
          <p:nvSpPr>
            <p:cNvPr id="81940" name="AutoShape 10"/>
            <p:cNvSpPr/>
            <p:nvPr/>
          </p:nvSpPr>
          <p:spPr>
            <a:xfrm>
              <a:off x="432" y="1386"/>
              <a:ext cx="768" cy="336"/>
            </a:xfrm>
            <a:prstGeom prst="wedgeRoundRectCallout">
              <a:avLst>
                <a:gd name="adj1" fmla="val 87241"/>
                <a:gd name="adj2" fmla="val -64287"/>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200" b="0" dirty="0">
                  <a:solidFill>
                    <a:schemeClr val="tx1"/>
                  </a:solidFill>
                  <a:ea typeface="华文隶书" panose="02010800040101010101" pitchFamily="2" charset="-122"/>
                </a:rPr>
                <a:t>用户</a:t>
              </a:r>
              <a:endParaRPr lang="zh-CN" altLang="en-US" sz="2200" b="0" dirty="0">
                <a:solidFill>
                  <a:schemeClr val="tx1"/>
                </a:solidFill>
                <a:ea typeface="华文隶书" panose="02010800040101010101" pitchFamily="2" charset="-122"/>
              </a:endParaRPr>
            </a:p>
          </p:txBody>
        </p:sp>
        <p:sp>
          <p:nvSpPr>
            <p:cNvPr id="81941" name="AutoShape 11"/>
            <p:cNvSpPr/>
            <p:nvPr/>
          </p:nvSpPr>
          <p:spPr>
            <a:xfrm>
              <a:off x="384" y="3066"/>
              <a:ext cx="864" cy="336"/>
            </a:xfrm>
            <a:prstGeom prst="wedgeRoundRectCallout">
              <a:avLst>
                <a:gd name="adj1" fmla="val 76852"/>
                <a:gd name="adj2" fmla="val 28569"/>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200" b="0" dirty="0">
                  <a:solidFill>
                    <a:schemeClr val="tx1"/>
                  </a:solidFill>
                  <a:ea typeface="华文隶书" panose="02010800040101010101" pitchFamily="2" charset="-122"/>
                </a:rPr>
                <a:t>计算机</a:t>
              </a:r>
              <a:endParaRPr lang="zh-CN" altLang="en-US" sz="2200" b="0" dirty="0">
                <a:solidFill>
                  <a:schemeClr val="tx1"/>
                </a:solidFill>
                <a:ea typeface="华文隶书" panose="02010800040101010101" pitchFamily="2" charset="-122"/>
              </a:endParaRPr>
            </a:p>
          </p:txBody>
        </p:sp>
        <p:sp>
          <p:nvSpPr>
            <p:cNvPr id="81942" name="Freeform 12"/>
            <p:cNvSpPr/>
            <p:nvPr/>
          </p:nvSpPr>
          <p:spPr>
            <a:xfrm>
              <a:off x="2080" y="1592"/>
              <a:ext cx="193" cy="387"/>
            </a:xfrm>
            <a:custGeom>
              <a:avLst/>
              <a:gdLst/>
              <a:ahLst/>
              <a:cxnLst>
                <a:cxn ang="0">
                  <a:pos x="0" y="4"/>
                </a:cxn>
                <a:cxn ang="0">
                  <a:pos x="25935" y="4"/>
                </a:cxn>
                <a:cxn ang="0">
                  <a:pos x="25935" y="0"/>
                </a:cxn>
                <a:cxn ang="0">
                  <a:pos x="76501" y="0"/>
                </a:cxn>
                <a:cxn ang="0">
                  <a:pos x="76501" y="4"/>
                </a:cxn>
                <a:cxn ang="0">
                  <a:pos x="101965" y="4"/>
                </a:cxn>
                <a:cxn ang="0">
                  <a:pos x="50189" y="6"/>
                </a:cxn>
                <a:cxn ang="0">
                  <a:pos x="0" y="4"/>
                </a:cxn>
              </a:cxnLst>
              <a:pathLst>
                <a:path w="153" h="451">
                  <a:moveTo>
                    <a:pt x="0" y="338"/>
                  </a:moveTo>
                  <a:lnTo>
                    <a:pt x="39" y="338"/>
                  </a:lnTo>
                  <a:lnTo>
                    <a:pt x="39" y="0"/>
                  </a:lnTo>
                  <a:lnTo>
                    <a:pt x="114" y="0"/>
                  </a:lnTo>
                  <a:lnTo>
                    <a:pt x="114" y="338"/>
                  </a:lnTo>
                  <a:lnTo>
                    <a:pt x="153" y="338"/>
                  </a:lnTo>
                  <a:lnTo>
                    <a:pt x="75" y="451"/>
                  </a:lnTo>
                  <a:lnTo>
                    <a:pt x="0" y="338"/>
                  </a:lnTo>
                  <a:close/>
                </a:path>
              </a:pathLst>
            </a:cu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alpha val="100000"/>
                </a:srgbClr>
              </a:solidFill>
              <a:prstDash val="solid"/>
              <a:round/>
              <a:headEnd type="none" w="med" len="med"/>
              <a:tailEnd type="none" w="med" len="med"/>
            </a:ln>
          </p:spPr>
          <p:txBody>
            <a:bodyPr/>
            <a:p>
              <a:endParaRPr lang="en-US"/>
            </a:p>
          </p:txBody>
        </p:sp>
      </p:grpSp>
      <p:grpSp>
        <p:nvGrpSpPr>
          <p:cNvPr id="81925" name="Group 13"/>
          <p:cNvGrpSpPr/>
          <p:nvPr/>
        </p:nvGrpSpPr>
        <p:grpSpPr>
          <a:xfrm>
            <a:off x="5372100" y="1270000"/>
            <a:ext cx="3352800" cy="4876800"/>
            <a:chOff x="3384" y="800"/>
            <a:chExt cx="2112" cy="3072"/>
          </a:xfrm>
        </p:grpSpPr>
        <p:sp>
          <p:nvSpPr>
            <p:cNvPr id="81929" name="Oval 14"/>
            <p:cNvSpPr/>
            <p:nvPr/>
          </p:nvSpPr>
          <p:spPr>
            <a:xfrm>
              <a:off x="3744" y="800"/>
              <a:ext cx="1368" cy="57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800" b="0" dirty="0">
                  <a:solidFill>
                    <a:schemeClr val="tx1"/>
                  </a:solidFill>
                  <a:latin typeface="宋体" panose="02010600030101010101" pitchFamily="2" charset="-122"/>
                  <a:ea typeface="华文隶书" panose="02010800040101010101" pitchFamily="2" charset="-122"/>
                </a:rPr>
                <a:t>应用</a:t>
              </a:r>
              <a:endParaRPr lang="zh-CN" altLang="en-US" sz="2800" b="0" dirty="0">
                <a:solidFill>
                  <a:schemeClr val="tx1"/>
                </a:solidFill>
                <a:ea typeface="华文隶书" panose="02010800040101010101" pitchFamily="2" charset="-122"/>
              </a:endParaRPr>
            </a:p>
          </p:txBody>
        </p:sp>
        <p:sp>
          <p:nvSpPr>
            <p:cNvPr id="81930" name="Oval 15"/>
            <p:cNvSpPr/>
            <p:nvPr/>
          </p:nvSpPr>
          <p:spPr>
            <a:xfrm>
              <a:off x="3384" y="1900"/>
              <a:ext cx="2112" cy="67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800" b="0" dirty="0">
                  <a:solidFill>
                    <a:schemeClr val="tx1"/>
                  </a:solidFill>
                  <a:latin typeface="宋体" panose="02010600030101010101" pitchFamily="2" charset="-122"/>
                  <a:ea typeface="华文隶书" panose="02010800040101010101" pitchFamily="2" charset="-122"/>
                </a:rPr>
                <a:t>概念数据模型</a:t>
              </a:r>
              <a:endParaRPr lang="zh-CN" altLang="en-US" sz="2800" b="0" dirty="0">
                <a:solidFill>
                  <a:schemeClr val="tx1"/>
                </a:solidFill>
                <a:ea typeface="华文隶书" panose="02010800040101010101" pitchFamily="2" charset="-122"/>
              </a:endParaRPr>
            </a:p>
          </p:txBody>
        </p:sp>
        <p:sp>
          <p:nvSpPr>
            <p:cNvPr id="81931" name="Oval 16"/>
            <p:cNvSpPr/>
            <p:nvPr/>
          </p:nvSpPr>
          <p:spPr>
            <a:xfrm>
              <a:off x="3384" y="3100"/>
              <a:ext cx="2064" cy="772"/>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905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800" b="0" dirty="0">
                  <a:solidFill>
                    <a:schemeClr val="tx1"/>
                  </a:solidFill>
                  <a:latin typeface="宋体" panose="02010600030101010101" pitchFamily="2" charset="-122"/>
                  <a:ea typeface="华文隶书" panose="02010800040101010101" pitchFamily="2" charset="-122"/>
                </a:rPr>
                <a:t>数据模型</a:t>
              </a:r>
              <a:endParaRPr lang="zh-CN" altLang="en-US" sz="2800" b="0" dirty="0">
                <a:solidFill>
                  <a:schemeClr val="tx1"/>
                </a:solidFill>
                <a:ea typeface="华文隶书" panose="02010800040101010101" pitchFamily="2" charset="-122"/>
              </a:endParaRPr>
            </a:p>
          </p:txBody>
        </p:sp>
        <p:sp>
          <p:nvSpPr>
            <p:cNvPr id="81932" name="AutoShape 17"/>
            <p:cNvSpPr/>
            <p:nvPr/>
          </p:nvSpPr>
          <p:spPr>
            <a:xfrm>
              <a:off x="4264" y="1456"/>
              <a:ext cx="312" cy="384"/>
            </a:xfrm>
            <a:prstGeom prst="downArrow">
              <a:avLst>
                <a:gd name="adj1" fmla="val 50000"/>
                <a:gd name="adj2" fmla="val 30769"/>
              </a:avLst>
            </a:prstGeom>
            <a:gradFill rotWithShape="0">
              <a:gsLst>
                <a:gs pos="0">
                  <a:srgbClr val="00FF00"/>
                </a:gs>
                <a:gs pos="100000">
                  <a:srgbClr val="99FF99"/>
                </a:gs>
              </a:gsLst>
              <a:lin ang="5400000" scaled="1"/>
              <a:tileRect/>
            </a:gradFill>
            <a:ln w="9525" cap="flat"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1933" name="AutoShape 18"/>
            <p:cNvSpPr/>
            <p:nvPr/>
          </p:nvSpPr>
          <p:spPr>
            <a:xfrm>
              <a:off x="4272" y="2656"/>
              <a:ext cx="312" cy="384"/>
            </a:xfrm>
            <a:prstGeom prst="downArrow">
              <a:avLst>
                <a:gd name="adj1" fmla="val 50000"/>
                <a:gd name="adj2" fmla="val 30769"/>
              </a:avLst>
            </a:prstGeom>
            <a:gradFill rotWithShape="0">
              <a:gsLst>
                <a:gs pos="0">
                  <a:srgbClr val="00FF00"/>
                </a:gs>
                <a:gs pos="100000">
                  <a:srgbClr val="99FF99"/>
                </a:gs>
              </a:gsLst>
              <a:lin ang="5400000" scaled="1"/>
              <a:tileRect/>
            </a:gradFill>
            <a:ln w="9525" cap="flat"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sp>
        <p:nvSpPr>
          <p:cNvPr id="81926" name="Rectangle 19"/>
          <p:cNvSpPr/>
          <p:nvPr/>
        </p:nvSpPr>
        <p:spPr>
          <a:xfrm>
            <a:off x="1219200" y="1143000"/>
            <a:ext cx="4267200" cy="381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742950" lvl="1" indent="-285750" eaLnBrk="1" hangingPunct="1">
              <a:buNone/>
            </a:pPr>
            <a:r>
              <a:rPr lang="zh-CN" altLang="en-US" sz="2000" b="0" dirty="0">
                <a:latin typeface="华文新魏" panose="02010800040101010101" pitchFamily="2" charset="-122"/>
                <a:ea typeface="仿宋_GB2312" pitchFamily="49" charset="-122"/>
              </a:rPr>
              <a:t>存在于人们头脑之外的客观世界</a:t>
            </a:r>
            <a:endParaRPr lang="zh-CN" altLang="en-US" sz="2000" b="0" dirty="0">
              <a:latin typeface="华文新魏" panose="02010800040101010101" pitchFamily="2" charset="-122"/>
              <a:ea typeface="仿宋_GB2312" pitchFamily="49" charset="-122"/>
            </a:endParaRPr>
          </a:p>
        </p:txBody>
      </p:sp>
      <p:sp>
        <p:nvSpPr>
          <p:cNvPr id="81927" name="Rectangle 20"/>
          <p:cNvSpPr/>
          <p:nvPr/>
        </p:nvSpPr>
        <p:spPr>
          <a:xfrm>
            <a:off x="762000" y="5791200"/>
            <a:ext cx="4495800" cy="533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742950" lvl="1" indent="-285750" eaLnBrk="1" hangingPunct="1">
              <a:buNone/>
            </a:pPr>
            <a:r>
              <a:rPr lang="zh-CN" altLang="en-US" sz="2000" b="0" dirty="0">
                <a:latin typeface="华文新魏" panose="02010800040101010101" pitchFamily="2" charset="-122"/>
                <a:ea typeface="仿宋_GB2312" pitchFamily="49" charset="-122"/>
              </a:rPr>
              <a:t>信息在计算机中以数据形式存储</a:t>
            </a:r>
            <a:endParaRPr lang="zh-CN" altLang="en-US" sz="2000" b="0" dirty="0">
              <a:latin typeface="华文新魏" panose="02010800040101010101" pitchFamily="2" charset="-122"/>
              <a:ea typeface="仿宋_GB2312" pitchFamily="49" charset="-122"/>
            </a:endParaRPr>
          </a:p>
        </p:txBody>
      </p:sp>
      <p:pic>
        <p:nvPicPr>
          <p:cNvPr id="81928" name="Picture 21" descr="头像"/>
          <p:cNvPicPr>
            <a:picLocks noChangeAspect="1"/>
          </p:cNvPicPr>
          <p:nvPr/>
        </p:nvPicPr>
        <p:blipFill>
          <a:blip r:embed="rId1"/>
          <a:stretch>
            <a:fillRect/>
          </a:stretch>
        </p:blipFill>
        <p:spPr>
          <a:xfrm>
            <a:off x="2590800" y="2438400"/>
            <a:ext cx="584200" cy="685800"/>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294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82948" name="Rectangle 3"/>
          <p:cNvSpPr>
            <a:spLocks noGrp="1"/>
          </p:cNvSpPr>
          <p:nvPr>
            <p:ph idx="1"/>
          </p:nvPr>
        </p:nvSpPr>
        <p:spPr>
          <a:xfrm>
            <a:off x="228600" y="762000"/>
            <a:ext cx="8686800" cy="5791200"/>
          </a:xfrm>
          <a:ln/>
        </p:spPr>
        <p:txBody>
          <a:bodyPr vert="horz" wrap="square" lIns="91440" tIns="45720" rIns="91440" bIns="45720" anchor="t" anchorCtr="0"/>
          <a:p>
            <a:pPr eaLnBrk="1" hangingPunct="1"/>
            <a:r>
              <a:rPr lang="zh-CN" altLang="en-US" sz="2800" dirty="0"/>
              <a:t>信息世界中的几个基本概念</a:t>
            </a:r>
            <a:endParaRPr lang="zh-CN" altLang="en-US" sz="2800" dirty="0"/>
          </a:p>
          <a:p>
            <a:pPr lvl="1" eaLnBrk="1" hangingPunct="1"/>
            <a:r>
              <a:rPr lang="zh-CN" altLang="en-US" sz="2400" dirty="0"/>
              <a:t>实体</a:t>
            </a:r>
            <a:r>
              <a:rPr lang="en-US" altLang="zh-CN" sz="2400" dirty="0"/>
              <a:t>(Entity)</a:t>
            </a:r>
            <a:endParaRPr lang="en-US" altLang="zh-CN" sz="2400" dirty="0"/>
          </a:p>
          <a:p>
            <a:pPr lvl="2" eaLnBrk="1" hangingPunct="1">
              <a:buClr>
                <a:schemeClr val="tx1"/>
              </a:buClr>
            </a:pPr>
            <a:r>
              <a:rPr lang="zh-CN" altLang="en-US" sz="2000" dirty="0"/>
              <a:t>客观存在并可相互区别的人、事物、事件和 概念</a:t>
            </a:r>
            <a:endParaRPr lang="zh-CN" altLang="en-US" sz="2000" dirty="0"/>
          </a:p>
          <a:p>
            <a:pPr lvl="1" eaLnBrk="1" hangingPunct="1"/>
            <a:r>
              <a:rPr lang="zh-CN" altLang="en-US" sz="2400" dirty="0"/>
              <a:t>属性</a:t>
            </a:r>
            <a:r>
              <a:rPr lang="en-US" altLang="zh-CN" sz="2400" dirty="0"/>
              <a:t>(Attribute)</a:t>
            </a:r>
            <a:endParaRPr lang="en-US" altLang="zh-CN" sz="2400" dirty="0"/>
          </a:p>
          <a:p>
            <a:pPr lvl="2" eaLnBrk="1" hangingPunct="1">
              <a:buClr>
                <a:schemeClr val="tx1"/>
              </a:buClr>
            </a:pPr>
            <a:r>
              <a:rPr lang="zh-CN" altLang="en-US" sz="2000" dirty="0"/>
              <a:t>实体具有的特性。如，学生实体由学号、姓名、性别、出生日期、系别等属性组成</a:t>
            </a:r>
            <a:endParaRPr lang="zh-CN" altLang="en-US" sz="2000" dirty="0"/>
          </a:p>
          <a:p>
            <a:pPr lvl="1" eaLnBrk="1" hangingPunct="1"/>
            <a:r>
              <a:rPr lang="zh-CN" altLang="en-US" sz="2400" dirty="0"/>
              <a:t>实体型</a:t>
            </a:r>
            <a:r>
              <a:rPr lang="en-US" altLang="zh-CN" sz="2400" dirty="0"/>
              <a:t>(Entity Type)</a:t>
            </a:r>
            <a:endParaRPr lang="en-US" altLang="zh-CN" sz="2400" dirty="0"/>
          </a:p>
          <a:p>
            <a:pPr lvl="2" eaLnBrk="1" hangingPunct="1">
              <a:buClr>
                <a:schemeClr val="tx1"/>
              </a:buClr>
            </a:pPr>
            <a:r>
              <a:rPr lang="zh-CN" altLang="en-US" sz="2000" dirty="0">
                <a:latin typeface="楷体_GB2312" pitchFamily="49" charset="-122"/>
              </a:rPr>
              <a:t>具有相同特征和性质的</a:t>
            </a:r>
            <a:r>
              <a:rPr lang="zh-CN" altLang="en-US" sz="2000" dirty="0">
                <a:solidFill>
                  <a:srgbClr val="FF0000"/>
                </a:solidFill>
                <a:latin typeface="楷体_GB2312" pitchFamily="49" charset="-122"/>
              </a:rPr>
              <a:t>实体及其属性</a:t>
            </a:r>
            <a:r>
              <a:rPr lang="zh-CN" altLang="en-US" sz="2000" dirty="0">
                <a:latin typeface="楷体_GB2312" pitchFamily="49" charset="-122"/>
              </a:rPr>
              <a:t>命名序列。              如</a:t>
            </a:r>
            <a:r>
              <a:rPr lang="en-US" altLang="zh-CN" sz="2000" dirty="0">
                <a:latin typeface="楷体_GB2312" pitchFamily="49" charset="-122"/>
              </a:rPr>
              <a:t>:  </a:t>
            </a:r>
            <a:r>
              <a:rPr lang="zh-CN" altLang="en-US" sz="2000" dirty="0">
                <a:latin typeface="楷体_GB2312" pitchFamily="49" charset="-122"/>
              </a:rPr>
              <a:t>学生</a:t>
            </a:r>
            <a:r>
              <a:rPr lang="en-US" altLang="zh-CN" sz="2000" dirty="0">
                <a:latin typeface="楷体_GB2312" pitchFamily="49" charset="-122"/>
              </a:rPr>
              <a:t>(</a:t>
            </a:r>
            <a:r>
              <a:rPr lang="zh-CN" altLang="en-US" sz="2000" dirty="0">
                <a:latin typeface="楷体_GB2312" pitchFamily="49" charset="-122"/>
              </a:rPr>
              <a:t>学号，姓名，性别，出生日期，系别</a:t>
            </a:r>
            <a:r>
              <a:rPr lang="en-US" altLang="zh-CN" sz="2000" dirty="0">
                <a:latin typeface="楷体_GB2312" pitchFamily="49" charset="-122"/>
              </a:rPr>
              <a:t>);            </a:t>
            </a:r>
            <a:r>
              <a:rPr lang="zh-CN" altLang="en-US" sz="2000" dirty="0">
                <a:latin typeface="楷体_GB2312" pitchFamily="49" charset="-122"/>
              </a:rPr>
              <a:t>系</a:t>
            </a:r>
            <a:r>
              <a:rPr lang="en-US" altLang="zh-CN" sz="2000" dirty="0">
                <a:latin typeface="楷体_GB2312" pitchFamily="49" charset="-122"/>
              </a:rPr>
              <a:t>(</a:t>
            </a:r>
            <a:r>
              <a:rPr lang="zh-CN" altLang="en-US" sz="2000" dirty="0">
                <a:latin typeface="楷体_GB2312" pitchFamily="49" charset="-122"/>
              </a:rPr>
              <a:t>系代码</a:t>
            </a:r>
            <a:r>
              <a:rPr lang="en-US" altLang="zh-CN" sz="2000" dirty="0">
                <a:latin typeface="楷体_GB2312" pitchFamily="49" charset="-122"/>
              </a:rPr>
              <a:t>,</a:t>
            </a:r>
            <a:r>
              <a:rPr lang="zh-CN" altLang="en-US" sz="2000" dirty="0">
                <a:latin typeface="楷体_GB2312" pitchFamily="49" charset="-122"/>
              </a:rPr>
              <a:t>系名称</a:t>
            </a:r>
            <a:r>
              <a:rPr lang="en-US" altLang="zh-CN" sz="2000" dirty="0">
                <a:latin typeface="楷体_GB2312" pitchFamily="49" charset="-122"/>
              </a:rPr>
              <a:t>)</a:t>
            </a:r>
            <a:endParaRPr lang="en-US" altLang="zh-CN" sz="2000" dirty="0">
              <a:latin typeface="楷体_GB2312" pitchFamily="49" charset="-122"/>
            </a:endParaRPr>
          </a:p>
          <a:p>
            <a:pPr lvl="1" eaLnBrk="1" hangingPunct="1"/>
            <a:r>
              <a:rPr lang="zh-CN" altLang="en-US" sz="2400" dirty="0"/>
              <a:t>实体值</a:t>
            </a:r>
            <a:r>
              <a:rPr lang="en-US" altLang="zh-CN" sz="2400" dirty="0"/>
              <a:t>(Entity Value)</a:t>
            </a:r>
            <a:endParaRPr lang="en-US" altLang="zh-CN" sz="2400" dirty="0"/>
          </a:p>
          <a:p>
            <a:pPr lvl="2" eaLnBrk="1" hangingPunct="1">
              <a:buClr>
                <a:schemeClr val="tx1"/>
              </a:buClr>
            </a:pPr>
            <a:r>
              <a:rPr lang="zh-CN" altLang="en-US" sz="2000" dirty="0"/>
              <a:t>实体型的具体实例</a:t>
            </a:r>
            <a:endParaRPr lang="zh-CN" altLang="en-US" sz="2000" dirty="0"/>
          </a:p>
          <a:p>
            <a:pPr lvl="1" eaLnBrk="1" hangingPunct="1"/>
            <a:r>
              <a:rPr lang="zh-CN" altLang="en-US" sz="2400" dirty="0"/>
              <a:t>实体集</a:t>
            </a:r>
            <a:r>
              <a:rPr lang="en-US" altLang="zh-CN" sz="2400" dirty="0"/>
              <a:t>(Entity Set)</a:t>
            </a:r>
            <a:endParaRPr lang="en-US" altLang="zh-CN" sz="2400" dirty="0"/>
          </a:p>
          <a:p>
            <a:pPr lvl="2" eaLnBrk="1" hangingPunct="1">
              <a:buClr>
                <a:schemeClr val="tx1"/>
              </a:buClr>
            </a:pPr>
            <a:r>
              <a:rPr lang="zh-CN" altLang="en-US" sz="2000" dirty="0"/>
              <a:t>同型实体的集合，如全体学生，全部的系</a:t>
            </a:r>
            <a:endParaRPr lang="zh-CN" alt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397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83972" name="Rectangle 3"/>
          <p:cNvSpPr>
            <a:spLocks noGrp="1"/>
          </p:cNvSpPr>
          <p:nvPr>
            <p:ph idx="1"/>
          </p:nvPr>
        </p:nvSpPr>
        <p:spPr>
          <a:xfrm>
            <a:off x="228600" y="762000"/>
            <a:ext cx="8686800" cy="5562600"/>
          </a:xfrm>
          <a:ln/>
        </p:spPr>
        <p:txBody>
          <a:bodyPr vert="horz" wrap="square" lIns="91440" tIns="45720" rIns="91440" bIns="45720" anchor="t" anchorCtr="0"/>
          <a:p>
            <a:pPr eaLnBrk="1" hangingPunct="1"/>
            <a:r>
              <a:rPr lang="zh-CN" altLang="en-US" dirty="0"/>
              <a:t>信息世界中的几个基本概念</a:t>
            </a:r>
            <a:r>
              <a:rPr lang="en-US" altLang="zh-CN" dirty="0"/>
              <a:t>(</a:t>
            </a:r>
            <a:r>
              <a:rPr lang="zh-CN" altLang="en-US" dirty="0"/>
              <a:t>续</a:t>
            </a:r>
            <a:r>
              <a:rPr lang="en-US" altLang="zh-CN" dirty="0"/>
              <a:t>)</a:t>
            </a:r>
            <a:endParaRPr lang="en-US" altLang="zh-CN" dirty="0"/>
          </a:p>
          <a:p>
            <a:pPr lvl="1" eaLnBrk="1" hangingPunct="1"/>
            <a:r>
              <a:rPr lang="zh-CN" altLang="en-US" dirty="0"/>
              <a:t>域</a:t>
            </a:r>
            <a:r>
              <a:rPr lang="en-US" altLang="zh-CN" dirty="0"/>
              <a:t>(Domain)</a:t>
            </a:r>
            <a:endParaRPr lang="en-US" altLang="zh-CN" dirty="0"/>
          </a:p>
          <a:p>
            <a:pPr lvl="2" eaLnBrk="1" hangingPunct="1">
              <a:buClr>
                <a:schemeClr val="tx1"/>
              </a:buClr>
            </a:pPr>
            <a:r>
              <a:rPr lang="zh-CN" altLang="en-US" dirty="0">
                <a:latin typeface="楷体_GB2312" pitchFamily="49" charset="-122"/>
              </a:rPr>
              <a:t>属性的取值范围</a:t>
            </a:r>
            <a:r>
              <a:rPr lang="en-US" altLang="zh-CN" dirty="0">
                <a:latin typeface="楷体_GB2312" pitchFamily="49" charset="-122"/>
              </a:rPr>
              <a:t>,</a:t>
            </a:r>
            <a:r>
              <a:rPr lang="zh-CN" altLang="en-US" dirty="0">
                <a:latin typeface="楷体_GB2312" pitchFamily="49" charset="-122"/>
              </a:rPr>
              <a:t>如，性别的域为</a:t>
            </a:r>
            <a:r>
              <a:rPr lang="en-US" altLang="zh-CN" dirty="0">
                <a:latin typeface="楷体_GB2312" pitchFamily="49" charset="-122"/>
              </a:rPr>
              <a:t>(</a:t>
            </a:r>
            <a:r>
              <a:rPr lang="zh-CN" altLang="en-US" dirty="0">
                <a:latin typeface="楷体_GB2312" pitchFamily="49" charset="-122"/>
              </a:rPr>
              <a:t>男，女</a:t>
            </a:r>
            <a:r>
              <a:rPr lang="en-US" altLang="zh-CN" dirty="0">
                <a:latin typeface="楷体_GB2312" pitchFamily="49" charset="-122"/>
              </a:rPr>
              <a:t>)</a:t>
            </a:r>
            <a:endParaRPr lang="en-US" altLang="zh-CN" sz="2800" dirty="0">
              <a:latin typeface="楷体_GB2312" pitchFamily="49" charset="-122"/>
            </a:endParaRPr>
          </a:p>
          <a:p>
            <a:pPr lvl="1" eaLnBrk="1" hangingPunct="1"/>
            <a:r>
              <a:rPr lang="zh-CN" altLang="en-US" dirty="0"/>
              <a:t>码</a:t>
            </a:r>
            <a:r>
              <a:rPr lang="en-US" altLang="zh-CN" dirty="0"/>
              <a:t>(Key)  &amp; </a:t>
            </a:r>
            <a:r>
              <a:rPr lang="zh-CN" altLang="en-US" dirty="0"/>
              <a:t>实体标识符</a:t>
            </a:r>
            <a:endParaRPr lang="zh-CN" altLang="en-US" dirty="0"/>
          </a:p>
          <a:p>
            <a:pPr lvl="2" eaLnBrk="1" hangingPunct="1">
              <a:buClr>
                <a:schemeClr val="tx1"/>
              </a:buClr>
            </a:pPr>
            <a:r>
              <a:rPr lang="zh-CN" altLang="en-US" dirty="0"/>
              <a:t>唯一标识实体的属性集。如，学生实体中的学号属性</a:t>
            </a:r>
            <a:endParaRPr lang="zh-CN" altLang="en-US" dirty="0"/>
          </a:p>
          <a:p>
            <a:pPr lvl="2" eaLnBrk="1" hangingPunct="1">
              <a:buClr>
                <a:schemeClr val="tx1"/>
              </a:buClr>
            </a:pPr>
            <a:r>
              <a:rPr lang="zh-CN" altLang="en-US" dirty="0"/>
              <a:t>至少一个属性，至多</a:t>
            </a:r>
            <a:r>
              <a:rPr lang="en-US" altLang="zh-CN" dirty="0"/>
              <a:t>n</a:t>
            </a:r>
            <a:r>
              <a:rPr lang="zh-CN" altLang="en-US" dirty="0"/>
              <a:t>个，不含多余属性</a:t>
            </a:r>
            <a:endParaRPr lang="zh-CN" altLang="en-US" dirty="0"/>
          </a:p>
          <a:p>
            <a:pPr lvl="1" eaLnBrk="1" hangingPunct="1"/>
            <a:r>
              <a:rPr lang="zh-CN" altLang="en-US" sz="3200" dirty="0"/>
              <a:t>联系</a:t>
            </a:r>
            <a:r>
              <a:rPr lang="en-US" altLang="zh-CN" sz="3200" dirty="0"/>
              <a:t>(Relationship)</a:t>
            </a:r>
            <a:endParaRPr lang="en-US" altLang="zh-CN" sz="3200" dirty="0"/>
          </a:p>
          <a:p>
            <a:pPr lvl="2" eaLnBrk="1" hangingPunct="1">
              <a:buClr>
                <a:schemeClr val="tx1"/>
              </a:buClr>
            </a:pPr>
            <a:r>
              <a:rPr lang="zh-CN" altLang="en-US" sz="2800" dirty="0">
                <a:latin typeface="楷体_GB2312" pitchFamily="49" charset="-122"/>
              </a:rPr>
              <a:t>实体</a:t>
            </a:r>
            <a:r>
              <a:rPr lang="en-US" altLang="zh-CN" sz="2800" dirty="0">
                <a:latin typeface="楷体_GB2312" pitchFamily="49" charset="-122"/>
              </a:rPr>
              <a:t>(</a:t>
            </a:r>
            <a:r>
              <a:rPr lang="zh-CN" altLang="en-US" sz="2800" dirty="0">
                <a:latin typeface="楷体_GB2312" pitchFamily="49" charset="-122"/>
              </a:rPr>
              <a:t>型</a:t>
            </a:r>
            <a:r>
              <a:rPr lang="en-US" altLang="zh-CN" sz="2800" dirty="0">
                <a:latin typeface="楷体_GB2312" pitchFamily="49" charset="-122"/>
              </a:rPr>
              <a:t>)</a:t>
            </a:r>
            <a:r>
              <a:rPr lang="zh-CN" altLang="en-US" sz="2800" dirty="0">
                <a:latin typeface="楷体_GB2312" pitchFamily="49" charset="-122"/>
              </a:rPr>
              <a:t>内部的联系</a:t>
            </a:r>
            <a:r>
              <a:rPr lang="en-US" altLang="zh-CN" sz="2800" dirty="0">
                <a:latin typeface="楷体_GB2312" pitchFamily="49" charset="-122"/>
              </a:rPr>
              <a:t>(</a:t>
            </a:r>
            <a:r>
              <a:rPr lang="zh-CN" altLang="en-US" sz="2800" dirty="0">
                <a:latin typeface="楷体_GB2312" pitchFamily="49" charset="-122"/>
              </a:rPr>
              <a:t>组成实体的各属性间</a:t>
            </a:r>
            <a:r>
              <a:rPr lang="en-US" altLang="zh-CN" sz="2800" dirty="0">
                <a:latin typeface="楷体_GB2312" pitchFamily="49" charset="-122"/>
              </a:rPr>
              <a:t>)</a:t>
            </a:r>
            <a:endParaRPr lang="en-US" altLang="zh-CN" sz="2800" dirty="0">
              <a:latin typeface="楷体_GB2312" pitchFamily="49" charset="-122"/>
            </a:endParaRPr>
          </a:p>
          <a:p>
            <a:pPr lvl="2" eaLnBrk="1" hangingPunct="1">
              <a:buClr>
                <a:schemeClr val="tx1"/>
              </a:buClr>
            </a:pPr>
            <a:r>
              <a:rPr lang="zh-CN" altLang="en-US" sz="2800" dirty="0">
                <a:latin typeface="楷体_GB2312" pitchFamily="49" charset="-122"/>
              </a:rPr>
              <a:t>实体</a:t>
            </a:r>
            <a:r>
              <a:rPr lang="en-US" altLang="zh-CN" sz="2800" dirty="0">
                <a:latin typeface="楷体_GB2312" pitchFamily="49" charset="-122"/>
              </a:rPr>
              <a:t>(</a:t>
            </a:r>
            <a:r>
              <a:rPr lang="zh-CN" altLang="en-US" sz="2800" dirty="0">
                <a:latin typeface="楷体_GB2312" pitchFamily="49" charset="-122"/>
              </a:rPr>
              <a:t>型</a:t>
            </a:r>
            <a:r>
              <a:rPr lang="en-US" altLang="zh-CN" sz="2800" dirty="0">
                <a:latin typeface="楷体_GB2312" pitchFamily="49" charset="-122"/>
              </a:rPr>
              <a:t>)</a:t>
            </a:r>
            <a:r>
              <a:rPr lang="zh-CN" altLang="en-US" sz="2800" dirty="0">
                <a:latin typeface="楷体_GB2312" pitchFamily="49" charset="-122"/>
              </a:rPr>
              <a:t>之间的联系</a:t>
            </a:r>
            <a:r>
              <a:rPr lang="en-US" altLang="zh-CN" sz="2800" dirty="0">
                <a:latin typeface="楷体_GB2312" pitchFamily="49" charset="-122"/>
              </a:rPr>
              <a:t>(</a:t>
            </a:r>
            <a:r>
              <a:rPr lang="zh-CN" altLang="en-US" sz="2800" dirty="0">
                <a:latin typeface="楷体_GB2312" pitchFamily="49" charset="-122"/>
              </a:rPr>
              <a:t>不同的实体集之间</a:t>
            </a:r>
            <a:r>
              <a:rPr lang="en-US" altLang="zh-CN" sz="2800" dirty="0">
                <a:latin typeface="楷体_GB2312" pitchFamily="49" charset="-122"/>
              </a:rPr>
              <a:t>)</a:t>
            </a:r>
            <a:endParaRPr lang="en-US" altLang="zh-CN" sz="2800" dirty="0">
              <a:latin typeface="楷体_GB2312" pitchFamily="49" charset="-122"/>
            </a:endParaRPr>
          </a:p>
          <a:p>
            <a:pPr lvl="2" eaLnBrk="1" hangingPunct="1">
              <a:buClr>
                <a:schemeClr val="tx1"/>
              </a:buClr>
            </a:pPr>
            <a:r>
              <a:rPr lang="zh-CN" altLang="en-US" sz="2800" dirty="0">
                <a:latin typeface="楷体_GB2312" pitchFamily="49" charset="-122"/>
              </a:rPr>
              <a:t>一对一</a:t>
            </a:r>
            <a:r>
              <a:rPr lang="en-US" altLang="zh-CN" sz="2800" dirty="0">
                <a:latin typeface="楷体_GB2312" pitchFamily="49" charset="-122"/>
              </a:rPr>
              <a:t>(1:1)</a:t>
            </a:r>
            <a:r>
              <a:rPr lang="zh-CN" altLang="en-US" sz="2800" dirty="0">
                <a:latin typeface="楷体_GB2312" pitchFamily="49" charset="-122"/>
              </a:rPr>
              <a:t>，一对多</a:t>
            </a:r>
            <a:r>
              <a:rPr lang="en-US" altLang="zh-CN" sz="2800" dirty="0">
                <a:latin typeface="楷体_GB2312" pitchFamily="49" charset="-122"/>
              </a:rPr>
              <a:t>(1:N)</a:t>
            </a:r>
            <a:r>
              <a:rPr lang="zh-CN" altLang="en-US" sz="2800" dirty="0">
                <a:latin typeface="楷体_GB2312" pitchFamily="49" charset="-122"/>
              </a:rPr>
              <a:t>，多对多</a:t>
            </a:r>
            <a:r>
              <a:rPr lang="en-US" altLang="zh-CN" sz="2800" dirty="0">
                <a:latin typeface="楷体_GB2312" pitchFamily="49" charset="-122"/>
              </a:rPr>
              <a:t>(M:N)</a:t>
            </a:r>
            <a:endParaRPr lang="en-US" altLang="zh-CN" sz="2800" dirty="0">
              <a:latin typeface="楷体_GB2312"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499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graphicFrame>
        <p:nvGraphicFramePr>
          <p:cNvPr id="350211" name="Group 3"/>
          <p:cNvGraphicFramePr>
            <a:graphicFrameLocks noGrp="1"/>
          </p:cNvGraphicFramePr>
          <p:nvPr/>
        </p:nvGraphicFramePr>
        <p:xfrm>
          <a:off x="1143000" y="914400"/>
          <a:ext cx="3048000" cy="2063750"/>
        </p:xfrm>
        <a:graphic>
          <a:graphicData uri="http://schemas.openxmlformats.org/drawingml/2006/table">
            <a:tbl>
              <a:tblPr/>
              <a:tblGrid>
                <a:gridCol w="762000"/>
                <a:gridCol w="762000"/>
                <a:gridCol w="762000"/>
                <a:gridCol w="762000"/>
              </a:tblGrid>
              <a:tr h="43186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rPr>
                        <a:t>学号</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rPr>
                        <a:t>姓名</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rPr>
                        <a:t>性别</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rPr>
                        <a:t>系别</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0101</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张</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男</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r>
              <a:tr h="44298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0102</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李</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女</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0203</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赵</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男</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MA</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0204</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钱</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女</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MA</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66FF"/>
                    </a:solidFill>
                  </a:tcPr>
                </a:tc>
              </a:tr>
            </a:tbl>
          </a:graphicData>
        </a:graphic>
      </p:graphicFrame>
      <p:sp>
        <p:nvSpPr>
          <p:cNvPr id="85028" name="Rectangle 35"/>
          <p:cNvSpPr>
            <a:spLocks noGrp="1"/>
          </p:cNvSpPr>
          <p:nvPr>
            <p:ph idx="1"/>
          </p:nvPr>
        </p:nvSpPr>
        <p:spPr>
          <a:xfrm>
            <a:off x="304800" y="3200400"/>
            <a:ext cx="6019800" cy="3505200"/>
          </a:xfrm>
          <a:ln/>
        </p:spPr>
        <p:txBody>
          <a:bodyPr vert="horz" wrap="square" lIns="91440" tIns="45720" rIns="91440" bIns="45720" anchor="t" anchorCtr="0"/>
          <a:p>
            <a:pPr lvl="1" eaLnBrk="1" hangingPunct="1">
              <a:lnSpc>
                <a:spcPct val="90000"/>
              </a:lnSpc>
            </a:pPr>
            <a:r>
              <a:rPr lang="zh-CN" altLang="en-US" sz="2400" dirty="0"/>
              <a:t>实体</a:t>
            </a:r>
            <a:r>
              <a:rPr lang="en-US" altLang="zh-CN" sz="2400" dirty="0"/>
              <a:t>:</a:t>
            </a:r>
            <a:r>
              <a:rPr lang="zh-CN" altLang="en-US" sz="2400" dirty="0"/>
              <a:t>学生</a:t>
            </a:r>
            <a:endParaRPr lang="zh-CN" altLang="en-US" sz="2400" dirty="0"/>
          </a:p>
          <a:p>
            <a:pPr lvl="1" eaLnBrk="1" hangingPunct="1">
              <a:lnSpc>
                <a:spcPct val="90000"/>
              </a:lnSpc>
            </a:pPr>
            <a:r>
              <a:rPr lang="zh-CN" altLang="en-US" sz="2400" dirty="0"/>
              <a:t>属性</a:t>
            </a:r>
            <a:r>
              <a:rPr lang="en-US" altLang="zh-CN" sz="2400" dirty="0"/>
              <a:t>:</a:t>
            </a:r>
            <a:r>
              <a:rPr lang="zh-CN" altLang="en-US" sz="2400" dirty="0"/>
              <a:t>学号</a:t>
            </a:r>
            <a:r>
              <a:rPr lang="en-US" altLang="zh-CN" sz="2400" dirty="0"/>
              <a:t>,</a:t>
            </a:r>
            <a:r>
              <a:rPr lang="zh-CN" altLang="en-US" sz="2400" dirty="0"/>
              <a:t>姓名</a:t>
            </a:r>
            <a:r>
              <a:rPr lang="en-US" altLang="zh-CN" sz="2400" dirty="0"/>
              <a:t>,</a:t>
            </a:r>
            <a:r>
              <a:rPr lang="zh-CN" altLang="en-US" sz="2400" dirty="0"/>
              <a:t>性别</a:t>
            </a:r>
            <a:r>
              <a:rPr lang="en-US" altLang="zh-CN" sz="2400" dirty="0"/>
              <a:t>,</a:t>
            </a:r>
            <a:r>
              <a:rPr lang="zh-CN" altLang="en-US" sz="2400" dirty="0"/>
              <a:t>系别</a:t>
            </a:r>
            <a:endParaRPr lang="zh-CN" altLang="en-US" sz="2400" dirty="0">
              <a:latin typeface="楷体_GB2312" pitchFamily="49" charset="-122"/>
            </a:endParaRPr>
          </a:p>
          <a:p>
            <a:pPr lvl="1" eaLnBrk="1" hangingPunct="1">
              <a:lnSpc>
                <a:spcPct val="90000"/>
              </a:lnSpc>
            </a:pPr>
            <a:r>
              <a:rPr lang="zh-CN" altLang="en-US" sz="2400" dirty="0">
                <a:latin typeface="楷体_GB2312" pitchFamily="49" charset="-122"/>
              </a:rPr>
              <a:t>实体型</a:t>
            </a:r>
            <a:r>
              <a:rPr lang="en-US" altLang="zh-CN" sz="2400" dirty="0">
                <a:latin typeface="楷体_GB2312" pitchFamily="49" charset="-122"/>
              </a:rPr>
              <a:t>:</a:t>
            </a:r>
            <a:r>
              <a:rPr lang="zh-CN" altLang="en-US" sz="2400" dirty="0">
                <a:latin typeface="楷体_GB2312" pitchFamily="49" charset="-122"/>
              </a:rPr>
              <a:t>学生</a:t>
            </a:r>
            <a:r>
              <a:rPr lang="en-US" altLang="zh-CN" sz="2400" dirty="0">
                <a:latin typeface="楷体_GB2312" pitchFamily="49" charset="-122"/>
              </a:rPr>
              <a:t>(</a:t>
            </a:r>
            <a:r>
              <a:rPr lang="zh-CN" altLang="en-US" sz="2400" dirty="0">
                <a:latin typeface="楷体_GB2312" pitchFamily="49" charset="-122"/>
              </a:rPr>
              <a:t>学号</a:t>
            </a:r>
            <a:r>
              <a:rPr lang="en-US" altLang="zh-CN" sz="2400" dirty="0">
                <a:latin typeface="楷体_GB2312" pitchFamily="49" charset="-122"/>
              </a:rPr>
              <a:t>,</a:t>
            </a:r>
            <a:r>
              <a:rPr lang="zh-CN" altLang="en-US" sz="2400" dirty="0">
                <a:latin typeface="楷体_GB2312" pitchFamily="49" charset="-122"/>
              </a:rPr>
              <a:t>姓名</a:t>
            </a:r>
            <a:r>
              <a:rPr lang="en-US" altLang="zh-CN" sz="2400" dirty="0">
                <a:latin typeface="楷体_GB2312" pitchFamily="49" charset="-122"/>
              </a:rPr>
              <a:t>,</a:t>
            </a:r>
            <a:r>
              <a:rPr lang="zh-CN" altLang="en-US" sz="2400" dirty="0">
                <a:latin typeface="楷体_GB2312" pitchFamily="49" charset="-122"/>
              </a:rPr>
              <a:t>性别</a:t>
            </a:r>
            <a:r>
              <a:rPr lang="en-US" altLang="zh-CN" sz="2400" dirty="0">
                <a:latin typeface="楷体_GB2312" pitchFamily="49" charset="-122"/>
              </a:rPr>
              <a:t>,</a:t>
            </a:r>
            <a:r>
              <a:rPr lang="zh-CN" altLang="en-US" sz="2400" dirty="0">
                <a:latin typeface="楷体_GB2312" pitchFamily="49" charset="-122"/>
              </a:rPr>
              <a:t>系别</a:t>
            </a:r>
            <a:r>
              <a:rPr lang="en-US" altLang="zh-CN" sz="2400" dirty="0">
                <a:latin typeface="楷体_GB2312" pitchFamily="49" charset="-122"/>
              </a:rPr>
              <a:t>)</a:t>
            </a:r>
            <a:endParaRPr lang="en-US" altLang="zh-CN" sz="2400" dirty="0">
              <a:latin typeface="楷体_GB2312" pitchFamily="49" charset="-122"/>
            </a:endParaRPr>
          </a:p>
          <a:p>
            <a:pPr lvl="1" eaLnBrk="1" hangingPunct="1">
              <a:lnSpc>
                <a:spcPct val="90000"/>
              </a:lnSpc>
            </a:pPr>
            <a:r>
              <a:rPr lang="zh-CN" altLang="en-US" sz="2400" dirty="0">
                <a:latin typeface="楷体_GB2312" pitchFamily="49" charset="-122"/>
              </a:rPr>
              <a:t>实体值</a:t>
            </a:r>
            <a:r>
              <a:rPr lang="en-US" altLang="zh-CN" sz="2400" dirty="0">
                <a:latin typeface="楷体_GB2312" pitchFamily="49" charset="-122"/>
              </a:rPr>
              <a:t>:</a:t>
            </a:r>
            <a:endParaRPr lang="en-US" altLang="zh-CN" sz="2400" dirty="0">
              <a:latin typeface="楷体_GB2312" pitchFamily="49" charset="-122"/>
            </a:endParaRPr>
          </a:p>
          <a:p>
            <a:pPr lvl="1" eaLnBrk="1" hangingPunct="1">
              <a:lnSpc>
                <a:spcPct val="90000"/>
              </a:lnSpc>
            </a:pPr>
            <a:r>
              <a:rPr lang="zh-CN" altLang="en-US" sz="2400" dirty="0">
                <a:latin typeface="楷体_GB2312" pitchFamily="49" charset="-122"/>
              </a:rPr>
              <a:t>实体集</a:t>
            </a:r>
            <a:r>
              <a:rPr lang="en-US" altLang="zh-CN" sz="2400" dirty="0">
                <a:latin typeface="楷体_GB2312" pitchFamily="49" charset="-122"/>
              </a:rPr>
              <a:t>:</a:t>
            </a:r>
            <a:endParaRPr lang="en-US" altLang="zh-CN" sz="2400" dirty="0">
              <a:latin typeface="楷体_GB2312" pitchFamily="49" charset="-122"/>
            </a:endParaRPr>
          </a:p>
          <a:p>
            <a:pPr lvl="1" eaLnBrk="1" hangingPunct="1">
              <a:lnSpc>
                <a:spcPct val="90000"/>
              </a:lnSpc>
            </a:pPr>
            <a:r>
              <a:rPr lang="zh-CN" altLang="en-US" sz="2400" dirty="0">
                <a:latin typeface="楷体_GB2312" pitchFamily="49" charset="-122"/>
              </a:rPr>
              <a:t>域</a:t>
            </a:r>
            <a:r>
              <a:rPr lang="en-US" altLang="zh-CN" sz="2400" dirty="0">
                <a:latin typeface="楷体_GB2312" pitchFamily="49" charset="-122"/>
              </a:rPr>
              <a:t>:</a:t>
            </a:r>
            <a:endParaRPr lang="en-US" altLang="zh-CN" sz="2400" dirty="0">
              <a:latin typeface="楷体_GB2312" pitchFamily="49" charset="-122"/>
            </a:endParaRPr>
          </a:p>
          <a:p>
            <a:pPr lvl="1" eaLnBrk="1" hangingPunct="1">
              <a:lnSpc>
                <a:spcPct val="90000"/>
              </a:lnSpc>
            </a:pPr>
            <a:r>
              <a:rPr lang="zh-CN" altLang="en-US" sz="2400" dirty="0">
                <a:latin typeface="楷体_GB2312" pitchFamily="49" charset="-122"/>
              </a:rPr>
              <a:t>码</a:t>
            </a:r>
            <a:r>
              <a:rPr lang="en-US" altLang="zh-CN" sz="2400" dirty="0">
                <a:latin typeface="楷体_GB2312" pitchFamily="49" charset="-122"/>
              </a:rPr>
              <a:t>:</a:t>
            </a:r>
            <a:r>
              <a:rPr lang="zh-CN" altLang="en-US" sz="2400" dirty="0">
                <a:latin typeface="楷体_GB2312" pitchFamily="49" charset="-122"/>
              </a:rPr>
              <a:t>学号</a:t>
            </a:r>
            <a:endParaRPr lang="zh-CN" altLang="en-US" sz="2400" dirty="0">
              <a:latin typeface="楷体_GB2312" pitchFamily="49" charset="-122"/>
            </a:endParaRPr>
          </a:p>
          <a:p>
            <a:pPr lvl="1" eaLnBrk="1" hangingPunct="1">
              <a:lnSpc>
                <a:spcPct val="90000"/>
              </a:lnSpc>
            </a:pPr>
            <a:r>
              <a:rPr lang="zh-CN" altLang="en-US" sz="2400" dirty="0">
                <a:latin typeface="楷体_GB2312" pitchFamily="49" charset="-122"/>
              </a:rPr>
              <a:t>联系</a:t>
            </a:r>
            <a:r>
              <a:rPr lang="en-US" altLang="zh-CN" sz="2400" dirty="0">
                <a:latin typeface="楷体_GB2312" pitchFamily="49" charset="-122"/>
              </a:rPr>
              <a:t>:</a:t>
            </a:r>
            <a:endParaRPr lang="en-US" altLang="zh-CN" sz="3200" dirty="0">
              <a:latin typeface="楷体_GB2312" pitchFamily="49" charset="-122"/>
            </a:endParaRPr>
          </a:p>
        </p:txBody>
      </p:sp>
      <p:graphicFrame>
        <p:nvGraphicFramePr>
          <p:cNvPr id="350244" name="Group 36"/>
          <p:cNvGraphicFramePr>
            <a:graphicFrameLocks noGrp="1"/>
          </p:cNvGraphicFramePr>
          <p:nvPr/>
        </p:nvGraphicFramePr>
        <p:xfrm>
          <a:off x="6019800" y="1600200"/>
          <a:ext cx="2895600" cy="2063750"/>
        </p:xfrm>
        <a:graphic>
          <a:graphicData uri="http://schemas.openxmlformats.org/drawingml/2006/table">
            <a:tbl>
              <a:tblPr/>
              <a:tblGrid>
                <a:gridCol w="762000"/>
                <a:gridCol w="2133600"/>
              </a:tblGrid>
              <a:tr h="43186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系号</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系名</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计算机</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8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EN</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英语</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MA</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数学系</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cxnSp>
        <p:nvCxnSpPr>
          <p:cNvPr id="85049" name="AutoShape 56"/>
          <p:cNvCxnSpPr/>
          <p:nvPr/>
        </p:nvCxnSpPr>
        <p:spPr>
          <a:xfrm>
            <a:off x="4191000" y="1130300"/>
            <a:ext cx="1828800" cy="455613"/>
          </a:xfrm>
          <a:prstGeom prst="curvedConnector2">
            <a:avLst/>
          </a:prstGeom>
          <a:ln w="9525" cap="flat" cmpd="sng">
            <a:solidFill>
              <a:schemeClr val="tx1"/>
            </a:solidFill>
            <a:prstDash val="solid"/>
            <a:headEnd type="none" w="med" len="med"/>
            <a:tailEnd type="triangle" w="med" len="med"/>
          </a:ln>
        </p:spPr>
      </p:cxnSp>
      <p:sp>
        <p:nvSpPr>
          <p:cNvPr id="85050" name="Text Box 57"/>
          <p:cNvSpPr txBox="1"/>
          <p:nvPr/>
        </p:nvSpPr>
        <p:spPr>
          <a:xfrm>
            <a:off x="152400" y="914400"/>
            <a:ext cx="7969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学生</a:t>
            </a:r>
            <a:endParaRPr lang="zh-CN" altLang="en-US" sz="2400" dirty="0">
              <a:solidFill>
                <a:schemeClr val="tx1"/>
              </a:solidFill>
              <a:ea typeface="Arial" panose="020B0604020202020204" pitchFamily="34" charset="0"/>
            </a:endParaRPr>
          </a:p>
        </p:txBody>
      </p:sp>
      <p:sp>
        <p:nvSpPr>
          <p:cNvPr id="85051" name="Text Box 58"/>
          <p:cNvSpPr txBox="1"/>
          <p:nvPr/>
        </p:nvSpPr>
        <p:spPr>
          <a:xfrm>
            <a:off x="4953000" y="1600200"/>
            <a:ext cx="7969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系别</a:t>
            </a:r>
            <a:endParaRPr lang="zh-CN" altLang="en-US" sz="2400" dirty="0">
              <a:solidFill>
                <a:schemeClr val="tx1"/>
              </a:solidFill>
              <a:ea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601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86020" name="Rectangle 3"/>
          <p:cNvSpPr>
            <a:spLocks noGrp="1"/>
          </p:cNvSpPr>
          <p:nvPr>
            <p:ph idx="1"/>
          </p:nvPr>
        </p:nvSpPr>
        <p:spPr>
          <a:xfrm>
            <a:off x="228600" y="762000"/>
            <a:ext cx="8686800" cy="5562600"/>
          </a:xfrm>
          <a:ln/>
        </p:spPr>
        <p:txBody>
          <a:bodyPr vert="horz" wrap="square" lIns="91440" tIns="45720" rIns="91440" bIns="45720" anchor="t" anchorCtr="0"/>
          <a:p>
            <a:pPr eaLnBrk="1" hangingPunct="1">
              <a:lnSpc>
                <a:spcPct val="90000"/>
              </a:lnSpc>
            </a:pPr>
            <a:r>
              <a:rPr lang="zh-CN" altLang="en-US" dirty="0"/>
              <a:t>实体型之间的联系</a:t>
            </a:r>
            <a:endParaRPr lang="zh-CN" altLang="en-US" dirty="0"/>
          </a:p>
          <a:p>
            <a:pPr lvl="1" eaLnBrk="1" hangingPunct="1">
              <a:lnSpc>
                <a:spcPct val="90000"/>
              </a:lnSpc>
            </a:pPr>
            <a:r>
              <a:rPr lang="zh-CN" altLang="en-US" dirty="0"/>
              <a:t>一对一</a:t>
            </a:r>
            <a:r>
              <a:rPr lang="en-US" altLang="zh-CN" dirty="0"/>
              <a:t>(1:1)</a:t>
            </a:r>
            <a:endParaRPr lang="en-US" altLang="zh-CN" dirty="0"/>
          </a:p>
          <a:p>
            <a:pPr lvl="2" eaLnBrk="1" hangingPunct="1">
              <a:lnSpc>
                <a:spcPct val="90000"/>
              </a:lnSpc>
              <a:buClr>
                <a:schemeClr val="tx1"/>
              </a:buClr>
            </a:pPr>
            <a:r>
              <a:rPr lang="zh-CN" altLang="en-US" sz="2000" dirty="0">
                <a:latin typeface="楷体_GB2312" pitchFamily="49" charset="-122"/>
              </a:rPr>
              <a:t>实体集</a:t>
            </a:r>
            <a:r>
              <a:rPr lang="en-US" altLang="zh-CN" sz="2000" dirty="0">
                <a:latin typeface="楷体_GB2312" pitchFamily="49" charset="-122"/>
              </a:rPr>
              <a:t>A</a:t>
            </a:r>
            <a:r>
              <a:rPr lang="zh-CN" altLang="en-US" sz="2000" dirty="0">
                <a:latin typeface="楷体_GB2312" pitchFamily="49" charset="-122"/>
              </a:rPr>
              <a:t>中的每一个实体，实体集</a:t>
            </a:r>
            <a:r>
              <a:rPr lang="en-US" altLang="zh-CN" sz="2000" dirty="0">
                <a:latin typeface="楷体_GB2312" pitchFamily="49" charset="-122"/>
              </a:rPr>
              <a:t>B</a:t>
            </a:r>
            <a:r>
              <a:rPr lang="zh-CN" altLang="en-US" sz="2000" dirty="0">
                <a:latin typeface="楷体_GB2312" pitchFamily="49" charset="-122"/>
              </a:rPr>
              <a:t>中至多有一个</a:t>
            </a:r>
            <a:r>
              <a:rPr lang="en-US" altLang="zh-CN" sz="2000" dirty="0">
                <a:latin typeface="楷体_GB2312" pitchFamily="49" charset="-122"/>
              </a:rPr>
              <a:t>(</a:t>
            </a:r>
            <a:r>
              <a:rPr lang="zh-CN" altLang="en-US" sz="2000" dirty="0">
                <a:latin typeface="楷体_GB2312" pitchFamily="49" charset="-122"/>
              </a:rPr>
              <a:t>也可以没有</a:t>
            </a:r>
            <a:r>
              <a:rPr lang="en-US" altLang="zh-CN" sz="2000" dirty="0">
                <a:latin typeface="楷体_GB2312" pitchFamily="49" charset="-122"/>
              </a:rPr>
              <a:t>)</a:t>
            </a:r>
            <a:r>
              <a:rPr lang="zh-CN" altLang="en-US" sz="2000" dirty="0">
                <a:latin typeface="楷体_GB2312" pitchFamily="49" charset="-122"/>
              </a:rPr>
              <a:t>实体与之联系，反之亦然</a:t>
            </a:r>
            <a:endParaRPr lang="zh-CN" altLang="en-US" sz="2000" dirty="0">
              <a:latin typeface="楷体_GB2312" pitchFamily="49" charset="-122"/>
            </a:endParaRPr>
          </a:p>
          <a:p>
            <a:pPr lvl="2" eaLnBrk="1" hangingPunct="1">
              <a:lnSpc>
                <a:spcPct val="90000"/>
              </a:lnSpc>
              <a:buClr>
                <a:schemeClr val="tx1"/>
              </a:buClr>
            </a:pPr>
            <a:r>
              <a:rPr lang="zh-CN" altLang="en-US" sz="2000" dirty="0">
                <a:latin typeface="楷体_GB2312" pitchFamily="49" charset="-122"/>
              </a:rPr>
              <a:t>例：班级  与  班主任</a:t>
            </a:r>
            <a:endParaRPr lang="zh-CN" altLang="en-US" sz="2000" dirty="0">
              <a:latin typeface="楷体_GB2312" pitchFamily="49" charset="-122"/>
            </a:endParaRPr>
          </a:p>
          <a:p>
            <a:pPr lvl="1" eaLnBrk="1" hangingPunct="1">
              <a:lnSpc>
                <a:spcPct val="90000"/>
              </a:lnSpc>
            </a:pPr>
            <a:r>
              <a:rPr lang="zh-CN" altLang="en-US" dirty="0"/>
              <a:t>一对多</a:t>
            </a:r>
            <a:r>
              <a:rPr lang="en-US" altLang="zh-CN" dirty="0"/>
              <a:t>(1:N)</a:t>
            </a:r>
            <a:endParaRPr lang="en-US" altLang="zh-CN" dirty="0"/>
          </a:p>
          <a:p>
            <a:pPr lvl="2" eaLnBrk="1" hangingPunct="1">
              <a:lnSpc>
                <a:spcPct val="90000"/>
              </a:lnSpc>
              <a:buClr>
                <a:schemeClr val="tx1"/>
              </a:buClr>
            </a:pPr>
            <a:r>
              <a:rPr lang="zh-CN" altLang="en-US" sz="2000" dirty="0"/>
              <a:t>对于实体集</a:t>
            </a:r>
            <a:r>
              <a:rPr lang="en-US" altLang="zh-CN" sz="2000" dirty="0"/>
              <a:t>A</a:t>
            </a:r>
            <a:r>
              <a:rPr lang="zh-CN" altLang="en-US" sz="2000" dirty="0"/>
              <a:t>中的每一个实体，实体集</a:t>
            </a:r>
            <a:r>
              <a:rPr lang="en-US" altLang="zh-CN" sz="2000" dirty="0"/>
              <a:t>B</a:t>
            </a:r>
            <a:r>
              <a:rPr lang="zh-CN" altLang="en-US" sz="2000" dirty="0"/>
              <a:t>中有</a:t>
            </a:r>
            <a:r>
              <a:rPr lang="en-US" altLang="zh-CN" sz="2000" dirty="0"/>
              <a:t>N</a:t>
            </a:r>
            <a:r>
              <a:rPr lang="zh-CN" altLang="en-US" sz="2000" dirty="0"/>
              <a:t>个实体</a:t>
            </a:r>
            <a:r>
              <a:rPr lang="en-US" altLang="zh-CN" sz="2000" dirty="0"/>
              <a:t>(N&gt;=0)</a:t>
            </a:r>
            <a:r>
              <a:rPr lang="zh-CN" altLang="en-US" sz="2000" dirty="0"/>
              <a:t>与之联系；对于实体集</a:t>
            </a:r>
            <a:r>
              <a:rPr lang="en-US" altLang="zh-CN" sz="2000" dirty="0"/>
              <a:t>B</a:t>
            </a:r>
            <a:r>
              <a:rPr lang="zh-CN" altLang="en-US" sz="2000" dirty="0"/>
              <a:t>中的每一个实体，实体集</a:t>
            </a:r>
            <a:r>
              <a:rPr lang="en-US" altLang="zh-CN" sz="2000" dirty="0"/>
              <a:t>A</a:t>
            </a:r>
            <a:r>
              <a:rPr lang="zh-CN" altLang="en-US" sz="2000" dirty="0"/>
              <a:t>中至多只有一个实体与之联系</a:t>
            </a:r>
            <a:endParaRPr lang="zh-CN" altLang="en-US" sz="2000" dirty="0"/>
          </a:p>
          <a:p>
            <a:pPr lvl="2" eaLnBrk="1" hangingPunct="1">
              <a:lnSpc>
                <a:spcPct val="90000"/>
              </a:lnSpc>
              <a:buClr>
                <a:schemeClr val="tx1"/>
              </a:buClr>
            </a:pPr>
            <a:r>
              <a:rPr lang="zh-CN" altLang="en-US" sz="2000" dirty="0"/>
              <a:t>例：班级   与    学生</a:t>
            </a:r>
            <a:endParaRPr lang="zh-CN" altLang="en-US" sz="2000" dirty="0"/>
          </a:p>
          <a:p>
            <a:pPr lvl="1" eaLnBrk="1" hangingPunct="1">
              <a:lnSpc>
                <a:spcPct val="90000"/>
              </a:lnSpc>
            </a:pPr>
            <a:r>
              <a:rPr lang="zh-CN" altLang="en-US" dirty="0"/>
              <a:t>多对多</a:t>
            </a:r>
            <a:r>
              <a:rPr lang="en-US" altLang="zh-CN" dirty="0"/>
              <a:t>(M:N)</a:t>
            </a:r>
            <a:endParaRPr lang="en-US" altLang="zh-CN" dirty="0"/>
          </a:p>
          <a:p>
            <a:pPr lvl="2" eaLnBrk="1" hangingPunct="1">
              <a:lnSpc>
                <a:spcPct val="90000"/>
              </a:lnSpc>
              <a:buClr>
                <a:schemeClr val="tx1"/>
              </a:buClr>
            </a:pPr>
            <a:r>
              <a:rPr lang="zh-CN" altLang="en-US" sz="2000" dirty="0">
                <a:latin typeface="楷体_GB2312" pitchFamily="49" charset="-122"/>
              </a:rPr>
              <a:t>对于实体集</a:t>
            </a:r>
            <a:r>
              <a:rPr lang="en-US" altLang="zh-CN" sz="2000" dirty="0">
                <a:latin typeface="楷体_GB2312" pitchFamily="49" charset="-122"/>
              </a:rPr>
              <a:t>A</a:t>
            </a:r>
            <a:r>
              <a:rPr lang="zh-CN" altLang="en-US" sz="2000" dirty="0">
                <a:latin typeface="楷体_GB2312" pitchFamily="49" charset="-122"/>
              </a:rPr>
              <a:t>中的每一个实体，实体集</a:t>
            </a:r>
            <a:r>
              <a:rPr lang="en-US" altLang="zh-CN" sz="2000" dirty="0">
                <a:latin typeface="楷体_GB2312" pitchFamily="49" charset="-122"/>
              </a:rPr>
              <a:t>B</a:t>
            </a:r>
            <a:r>
              <a:rPr lang="zh-CN" altLang="en-US" sz="2000" dirty="0">
                <a:latin typeface="楷体_GB2312" pitchFamily="49" charset="-122"/>
              </a:rPr>
              <a:t>中有</a:t>
            </a:r>
            <a:r>
              <a:rPr lang="en-US" altLang="zh-CN" sz="2000" dirty="0">
                <a:latin typeface="楷体_GB2312" pitchFamily="49" charset="-122"/>
              </a:rPr>
              <a:t>N</a:t>
            </a:r>
            <a:r>
              <a:rPr lang="zh-CN" altLang="en-US" sz="2000" dirty="0">
                <a:latin typeface="楷体_GB2312" pitchFamily="49" charset="-122"/>
              </a:rPr>
              <a:t>个实体</a:t>
            </a:r>
            <a:r>
              <a:rPr lang="en-US" altLang="zh-CN" sz="2000" dirty="0">
                <a:latin typeface="楷体_GB2312" pitchFamily="49" charset="-122"/>
              </a:rPr>
              <a:t>(N&gt;=0)</a:t>
            </a:r>
            <a:r>
              <a:rPr lang="zh-CN" altLang="en-US" sz="2000" dirty="0">
                <a:latin typeface="楷体_GB2312" pitchFamily="49" charset="-122"/>
              </a:rPr>
              <a:t>与之联系；实体集</a:t>
            </a:r>
            <a:r>
              <a:rPr lang="en-US" altLang="zh-CN" sz="2000" dirty="0">
                <a:latin typeface="楷体_GB2312" pitchFamily="49" charset="-122"/>
              </a:rPr>
              <a:t>B</a:t>
            </a:r>
            <a:r>
              <a:rPr lang="zh-CN" altLang="en-US" sz="2000" dirty="0">
                <a:latin typeface="楷体_GB2312" pitchFamily="49" charset="-122"/>
              </a:rPr>
              <a:t>中的每一个实体，实体集</a:t>
            </a:r>
            <a:r>
              <a:rPr lang="en-US" altLang="zh-CN" sz="2000" dirty="0">
                <a:latin typeface="楷体_GB2312" pitchFamily="49" charset="-122"/>
              </a:rPr>
              <a:t>A</a:t>
            </a:r>
            <a:r>
              <a:rPr lang="zh-CN" altLang="en-US" sz="2000" dirty="0">
                <a:latin typeface="楷体_GB2312" pitchFamily="49" charset="-122"/>
              </a:rPr>
              <a:t>中也有</a:t>
            </a:r>
            <a:r>
              <a:rPr lang="en-US" altLang="zh-CN" sz="2000" dirty="0">
                <a:latin typeface="楷体_GB2312" pitchFamily="49" charset="-122"/>
              </a:rPr>
              <a:t>M</a:t>
            </a:r>
            <a:r>
              <a:rPr lang="zh-CN" altLang="en-US" sz="2000" dirty="0">
                <a:latin typeface="楷体_GB2312" pitchFamily="49" charset="-122"/>
              </a:rPr>
              <a:t>个实体</a:t>
            </a:r>
            <a:r>
              <a:rPr lang="en-US" altLang="zh-CN" sz="2000" dirty="0">
                <a:latin typeface="楷体_GB2312" pitchFamily="49" charset="-122"/>
              </a:rPr>
              <a:t>(M&gt;=0)</a:t>
            </a:r>
            <a:r>
              <a:rPr lang="zh-CN" altLang="en-US" sz="2000" dirty="0">
                <a:latin typeface="楷体_GB2312" pitchFamily="49" charset="-122"/>
              </a:rPr>
              <a:t>与之联系</a:t>
            </a:r>
            <a:endParaRPr lang="zh-CN" altLang="en-US" sz="2000" dirty="0">
              <a:latin typeface="楷体_GB2312" pitchFamily="49" charset="-122"/>
            </a:endParaRPr>
          </a:p>
          <a:p>
            <a:pPr lvl="2" eaLnBrk="1" hangingPunct="1">
              <a:lnSpc>
                <a:spcPct val="90000"/>
              </a:lnSpc>
              <a:buClr>
                <a:schemeClr val="tx1"/>
              </a:buClr>
            </a:pPr>
            <a:r>
              <a:rPr lang="zh-CN" altLang="en-US" sz="2000" dirty="0">
                <a:latin typeface="楷体_GB2312" pitchFamily="49" charset="-122"/>
              </a:rPr>
              <a:t>例</a:t>
            </a:r>
            <a:r>
              <a:rPr lang="en-US" altLang="zh-CN" sz="2000" dirty="0">
                <a:latin typeface="楷体_GB2312" pitchFamily="49" charset="-122"/>
              </a:rPr>
              <a:t>: </a:t>
            </a:r>
            <a:r>
              <a:rPr lang="zh-CN" altLang="en-US" sz="2000" dirty="0">
                <a:latin typeface="楷体_GB2312" pitchFamily="49" charset="-122"/>
              </a:rPr>
              <a:t>课程  与  学生</a:t>
            </a:r>
            <a:endParaRPr lang="zh-CN" altLang="en-US" sz="2000" dirty="0">
              <a:latin typeface="楷体_GB2312"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704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87044" name="Rectangle 3"/>
          <p:cNvSpPr>
            <a:spLocks noGrp="1"/>
          </p:cNvSpPr>
          <p:nvPr>
            <p:ph idx="1"/>
          </p:nvPr>
        </p:nvSpPr>
        <p:spPr>
          <a:xfrm>
            <a:off x="228600" y="762000"/>
            <a:ext cx="8686800" cy="685800"/>
          </a:xfrm>
          <a:ln/>
        </p:spPr>
        <p:txBody>
          <a:bodyPr vert="horz" wrap="square" lIns="91440" tIns="45720" rIns="91440" bIns="45720" anchor="t" anchorCtr="0"/>
          <a:p>
            <a:pPr eaLnBrk="1" hangingPunct="1"/>
            <a:r>
              <a:rPr lang="zh-CN" altLang="en-US" dirty="0"/>
              <a:t>实体型之间的联系</a:t>
            </a:r>
            <a:r>
              <a:rPr lang="en-US" altLang="zh-CN" dirty="0"/>
              <a:t>(</a:t>
            </a:r>
            <a:r>
              <a:rPr lang="zh-CN" altLang="en-US" dirty="0"/>
              <a:t>续</a:t>
            </a:r>
            <a:r>
              <a:rPr lang="en-US" altLang="zh-CN" dirty="0"/>
              <a:t>)</a:t>
            </a:r>
            <a:endParaRPr lang="en-US" altLang="zh-CN" dirty="0"/>
          </a:p>
        </p:txBody>
      </p:sp>
      <p:grpSp>
        <p:nvGrpSpPr>
          <p:cNvPr id="87045" name="Group 4"/>
          <p:cNvGrpSpPr/>
          <p:nvPr/>
        </p:nvGrpSpPr>
        <p:grpSpPr>
          <a:xfrm>
            <a:off x="1066800" y="2438400"/>
            <a:ext cx="1219200" cy="1841500"/>
            <a:chOff x="672" y="1536"/>
            <a:chExt cx="768" cy="1160"/>
          </a:xfrm>
        </p:grpSpPr>
        <p:grpSp>
          <p:nvGrpSpPr>
            <p:cNvPr id="87089" name="Group 5"/>
            <p:cNvGrpSpPr/>
            <p:nvPr/>
          </p:nvGrpSpPr>
          <p:grpSpPr>
            <a:xfrm>
              <a:off x="672" y="1536"/>
              <a:ext cx="144" cy="1160"/>
              <a:chOff x="672" y="1536"/>
              <a:chExt cx="144" cy="1160"/>
            </a:xfrm>
          </p:grpSpPr>
          <p:sp>
            <p:nvSpPr>
              <p:cNvPr id="87095" name="Oval 6"/>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96" name="Oval 7"/>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97" name="Oval 8"/>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98" name="Oval 9"/>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87090" name="Group 10"/>
            <p:cNvGrpSpPr/>
            <p:nvPr/>
          </p:nvGrpSpPr>
          <p:grpSpPr>
            <a:xfrm>
              <a:off x="1296" y="1536"/>
              <a:ext cx="144" cy="1160"/>
              <a:chOff x="672" y="1536"/>
              <a:chExt cx="144" cy="1160"/>
            </a:xfrm>
          </p:grpSpPr>
          <p:sp>
            <p:nvSpPr>
              <p:cNvPr id="87091" name="Oval 11"/>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92" name="Oval 12"/>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93" name="Oval 13"/>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94" name="Oval 14"/>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grpSp>
        <p:nvGrpSpPr>
          <p:cNvPr id="87046" name="Group 15"/>
          <p:cNvGrpSpPr/>
          <p:nvPr/>
        </p:nvGrpSpPr>
        <p:grpSpPr>
          <a:xfrm>
            <a:off x="3733800" y="2438400"/>
            <a:ext cx="1219200" cy="1841500"/>
            <a:chOff x="672" y="1536"/>
            <a:chExt cx="768" cy="1160"/>
          </a:xfrm>
        </p:grpSpPr>
        <p:grpSp>
          <p:nvGrpSpPr>
            <p:cNvPr id="87079" name="Group 16"/>
            <p:cNvGrpSpPr/>
            <p:nvPr/>
          </p:nvGrpSpPr>
          <p:grpSpPr>
            <a:xfrm>
              <a:off x="672" y="1536"/>
              <a:ext cx="144" cy="1160"/>
              <a:chOff x="672" y="1536"/>
              <a:chExt cx="144" cy="1160"/>
            </a:xfrm>
          </p:grpSpPr>
          <p:sp>
            <p:nvSpPr>
              <p:cNvPr id="87085" name="Oval 17"/>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86" name="Oval 18"/>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87" name="Oval 19"/>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88" name="Oval 20"/>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87080" name="Group 21"/>
            <p:cNvGrpSpPr/>
            <p:nvPr/>
          </p:nvGrpSpPr>
          <p:grpSpPr>
            <a:xfrm>
              <a:off x="1296" y="1536"/>
              <a:ext cx="144" cy="1160"/>
              <a:chOff x="672" y="1536"/>
              <a:chExt cx="144" cy="1160"/>
            </a:xfrm>
          </p:grpSpPr>
          <p:sp>
            <p:nvSpPr>
              <p:cNvPr id="87081" name="Oval 22"/>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82" name="Oval 23"/>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83" name="Oval 24"/>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84" name="Oval 25"/>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grpSp>
        <p:nvGrpSpPr>
          <p:cNvPr id="87047" name="Group 26"/>
          <p:cNvGrpSpPr/>
          <p:nvPr/>
        </p:nvGrpSpPr>
        <p:grpSpPr>
          <a:xfrm>
            <a:off x="6426200" y="2438400"/>
            <a:ext cx="1219200" cy="1841500"/>
            <a:chOff x="672" y="1536"/>
            <a:chExt cx="768" cy="1160"/>
          </a:xfrm>
        </p:grpSpPr>
        <p:grpSp>
          <p:nvGrpSpPr>
            <p:cNvPr id="87069" name="Group 27"/>
            <p:cNvGrpSpPr/>
            <p:nvPr/>
          </p:nvGrpSpPr>
          <p:grpSpPr>
            <a:xfrm>
              <a:off x="672" y="1536"/>
              <a:ext cx="144" cy="1160"/>
              <a:chOff x="672" y="1536"/>
              <a:chExt cx="144" cy="1160"/>
            </a:xfrm>
          </p:grpSpPr>
          <p:sp>
            <p:nvSpPr>
              <p:cNvPr id="87075" name="Oval 28"/>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76" name="Oval 29"/>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77" name="Oval 30"/>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78" name="Oval 31"/>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87070" name="Group 32"/>
            <p:cNvGrpSpPr/>
            <p:nvPr/>
          </p:nvGrpSpPr>
          <p:grpSpPr>
            <a:xfrm>
              <a:off x="1296" y="1536"/>
              <a:ext cx="144" cy="1160"/>
              <a:chOff x="672" y="1536"/>
              <a:chExt cx="144" cy="1160"/>
            </a:xfrm>
          </p:grpSpPr>
          <p:sp>
            <p:nvSpPr>
              <p:cNvPr id="87071" name="Oval 33"/>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72" name="Oval 34"/>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73" name="Oval 35"/>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7074" name="Oval 36"/>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sp>
        <p:nvSpPr>
          <p:cNvPr id="87048" name="Text Box 37"/>
          <p:cNvSpPr txBox="1"/>
          <p:nvPr/>
        </p:nvSpPr>
        <p:spPr>
          <a:xfrm>
            <a:off x="1435100" y="4826000"/>
            <a:ext cx="5730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1:1</a:t>
            </a:r>
            <a:endParaRPr lang="en-US" altLang="zh-CN" sz="2400" b="0" dirty="0">
              <a:solidFill>
                <a:schemeClr val="tx1"/>
              </a:solidFill>
              <a:ea typeface="Arial" panose="020B0604020202020204" pitchFamily="34" charset="0"/>
            </a:endParaRPr>
          </a:p>
        </p:txBody>
      </p:sp>
      <p:sp>
        <p:nvSpPr>
          <p:cNvPr id="87049" name="Text Box 38"/>
          <p:cNvSpPr txBox="1"/>
          <p:nvPr/>
        </p:nvSpPr>
        <p:spPr>
          <a:xfrm>
            <a:off x="4102100" y="4826000"/>
            <a:ext cx="641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1:N</a:t>
            </a:r>
            <a:endParaRPr lang="en-US" altLang="zh-CN" sz="2400" b="0" dirty="0">
              <a:solidFill>
                <a:schemeClr val="tx1"/>
              </a:solidFill>
              <a:ea typeface="Arial" panose="020B0604020202020204" pitchFamily="34" charset="0"/>
            </a:endParaRPr>
          </a:p>
        </p:txBody>
      </p:sp>
      <p:sp>
        <p:nvSpPr>
          <p:cNvPr id="87050" name="Text Box 39"/>
          <p:cNvSpPr txBox="1"/>
          <p:nvPr/>
        </p:nvSpPr>
        <p:spPr>
          <a:xfrm>
            <a:off x="6845300" y="4826000"/>
            <a:ext cx="7604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M:N</a:t>
            </a:r>
            <a:endParaRPr lang="en-US" altLang="zh-CN" sz="2400" b="0" dirty="0">
              <a:solidFill>
                <a:schemeClr val="tx1"/>
              </a:solidFill>
              <a:ea typeface="Arial" panose="020B0604020202020204" pitchFamily="34" charset="0"/>
            </a:endParaRPr>
          </a:p>
        </p:txBody>
      </p:sp>
      <p:sp>
        <p:nvSpPr>
          <p:cNvPr id="87051" name="Line 40"/>
          <p:cNvSpPr/>
          <p:nvPr/>
        </p:nvSpPr>
        <p:spPr>
          <a:xfrm>
            <a:off x="6629400" y="3124200"/>
            <a:ext cx="762000" cy="990600"/>
          </a:xfrm>
          <a:prstGeom prst="line">
            <a:avLst/>
          </a:prstGeom>
          <a:ln w="9525" cap="flat" cmpd="sng">
            <a:solidFill>
              <a:schemeClr val="tx1"/>
            </a:solidFill>
            <a:prstDash val="solid"/>
            <a:headEnd type="none" w="med" len="med"/>
            <a:tailEnd type="none" w="med" len="med"/>
          </a:ln>
        </p:spPr>
      </p:sp>
      <p:sp>
        <p:nvSpPr>
          <p:cNvPr id="87052" name="Line 41"/>
          <p:cNvSpPr/>
          <p:nvPr/>
        </p:nvSpPr>
        <p:spPr>
          <a:xfrm>
            <a:off x="6667500" y="2527300"/>
            <a:ext cx="762000" cy="0"/>
          </a:xfrm>
          <a:prstGeom prst="line">
            <a:avLst/>
          </a:prstGeom>
          <a:ln w="9525" cap="flat" cmpd="sng">
            <a:solidFill>
              <a:schemeClr val="tx1"/>
            </a:solidFill>
            <a:prstDash val="solid"/>
            <a:headEnd type="none" w="med" len="med"/>
            <a:tailEnd type="none" w="med" len="med"/>
          </a:ln>
        </p:spPr>
      </p:sp>
      <p:sp>
        <p:nvSpPr>
          <p:cNvPr id="87053" name="Line 42"/>
          <p:cNvSpPr/>
          <p:nvPr/>
        </p:nvSpPr>
        <p:spPr>
          <a:xfrm flipV="1">
            <a:off x="6667500" y="2565400"/>
            <a:ext cx="762000" cy="533400"/>
          </a:xfrm>
          <a:prstGeom prst="line">
            <a:avLst/>
          </a:prstGeom>
          <a:ln w="9525" cap="flat" cmpd="sng">
            <a:solidFill>
              <a:schemeClr val="tx1"/>
            </a:solidFill>
            <a:prstDash val="solid"/>
            <a:headEnd type="none" w="med" len="med"/>
            <a:tailEnd type="none" w="med" len="med"/>
          </a:ln>
        </p:spPr>
      </p:sp>
      <p:sp>
        <p:nvSpPr>
          <p:cNvPr id="87054" name="Line 43"/>
          <p:cNvSpPr/>
          <p:nvPr/>
        </p:nvSpPr>
        <p:spPr>
          <a:xfrm>
            <a:off x="6667500" y="3695700"/>
            <a:ext cx="762000" cy="457200"/>
          </a:xfrm>
          <a:prstGeom prst="line">
            <a:avLst/>
          </a:prstGeom>
          <a:ln w="9525" cap="flat" cmpd="sng">
            <a:solidFill>
              <a:schemeClr val="tx1"/>
            </a:solidFill>
            <a:prstDash val="solid"/>
            <a:headEnd type="none" w="med" len="med"/>
            <a:tailEnd type="none" w="med" len="med"/>
          </a:ln>
        </p:spPr>
      </p:sp>
      <p:sp>
        <p:nvSpPr>
          <p:cNvPr id="87055" name="Line 44"/>
          <p:cNvSpPr/>
          <p:nvPr/>
        </p:nvSpPr>
        <p:spPr>
          <a:xfrm>
            <a:off x="6667500" y="2578100"/>
            <a:ext cx="762000" cy="533400"/>
          </a:xfrm>
          <a:prstGeom prst="line">
            <a:avLst/>
          </a:prstGeom>
          <a:ln w="9525" cap="flat" cmpd="sng">
            <a:solidFill>
              <a:schemeClr val="tx1"/>
            </a:solidFill>
            <a:prstDash val="solid"/>
            <a:headEnd type="none" w="med" len="med"/>
            <a:tailEnd type="none" w="med" len="med"/>
          </a:ln>
        </p:spPr>
      </p:sp>
      <p:sp>
        <p:nvSpPr>
          <p:cNvPr id="87056" name="Line 45"/>
          <p:cNvSpPr/>
          <p:nvPr/>
        </p:nvSpPr>
        <p:spPr>
          <a:xfrm flipV="1">
            <a:off x="6667500" y="3098800"/>
            <a:ext cx="762000" cy="533400"/>
          </a:xfrm>
          <a:prstGeom prst="line">
            <a:avLst/>
          </a:prstGeom>
          <a:ln w="9525" cap="flat" cmpd="sng">
            <a:solidFill>
              <a:schemeClr val="tx1"/>
            </a:solidFill>
            <a:prstDash val="solid"/>
            <a:headEnd type="none" w="med" len="med"/>
            <a:tailEnd type="none" w="med" len="med"/>
          </a:ln>
        </p:spPr>
      </p:sp>
      <p:sp>
        <p:nvSpPr>
          <p:cNvPr id="87057" name="Line 46"/>
          <p:cNvSpPr/>
          <p:nvPr/>
        </p:nvSpPr>
        <p:spPr>
          <a:xfrm>
            <a:off x="3962400" y="2552700"/>
            <a:ext cx="762000" cy="0"/>
          </a:xfrm>
          <a:prstGeom prst="line">
            <a:avLst/>
          </a:prstGeom>
          <a:ln w="9525" cap="flat" cmpd="sng">
            <a:solidFill>
              <a:schemeClr val="tx1"/>
            </a:solidFill>
            <a:prstDash val="solid"/>
            <a:headEnd type="none" w="med" len="med"/>
            <a:tailEnd type="none" w="med" len="med"/>
          </a:ln>
        </p:spPr>
      </p:sp>
      <p:sp>
        <p:nvSpPr>
          <p:cNvPr id="87058" name="Line 47"/>
          <p:cNvSpPr/>
          <p:nvPr/>
        </p:nvSpPr>
        <p:spPr>
          <a:xfrm>
            <a:off x="3962400" y="2590800"/>
            <a:ext cx="762000" cy="533400"/>
          </a:xfrm>
          <a:prstGeom prst="line">
            <a:avLst/>
          </a:prstGeom>
          <a:ln w="9525" cap="flat" cmpd="sng">
            <a:solidFill>
              <a:schemeClr val="tx1"/>
            </a:solidFill>
            <a:prstDash val="solid"/>
            <a:headEnd type="none" w="med" len="med"/>
            <a:tailEnd type="none" w="med" len="med"/>
          </a:ln>
        </p:spPr>
      </p:sp>
      <p:sp>
        <p:nvSpPr>
          <p:cNvPr id="87059" name="Line 48"/>
          <p:cNvSpPr/>
          <p:nvPr/>
        </p:nvSpPr>
        <p:spPr>
          <a:xfrm>
            <a:off x="3962400" y="3098800"/>
            <a:ext cx="762000" cy="533400"/>
          </a:xfrm>
          <a:prstGeom prst="line">
            <a:avLst/>
          </a:prstGeom>
          <a:ln w="9525" cap="flat" cmpd="sng">
            <a:solidFill>
              <a:schemeClr val="tx1"/>
            </a:solidFill>
            <a:prstDash val="solid"/>
            <a:headEnd type="none" w="med" len="med"/>
            <a:tailEnd type="none" w="med" len="med"/>
          </a:ln>
        </p:spPr>
      </p:sp>
      <p:sp>
        <p:nvSpPr>
          <p:cNvPr id="87060" name="Line 49"/>
          <p:cNvSpPr/>
          <p:nvPr/>
        </p:nvSpPr>
        <p:spPr>
          <a:xfrm>
            <a:off x="1295400" y="2552700"/>
            <a:ext cx="762000" cy="0"/>
          </a:xfrm>
          <a:prstGeom prst="line">
            <a:avLst/>
          </a:prstGeom>
          <a:ln w="9525" cap="flat" cmpd="sng">
            <a:solidFill>
              <a:schemeClr val="tx1"/>
            </a:solidFill>
            <a:prstDash val="solid"/>
            <a:headEnd type="none" w="med" len="med"/>
            <a:tailEnd type="none" w="med" len="med"/>
          </a:ln>
        </p:spPr>
      </p:sp>
      <p:sp>
        <p:nvSpPr>
          <p:cNvPr id="87061" name="Line 50"/>
          <p:cNvSpPr/>
          <p:nvPr/>
        </p:nvSpPr>
        <p:spPr>
          <a:xfrm>
            <a:off x="1295400" y="3098800"/>
            <a:ext cx="762000" cy="0"/>
          </a:xfrm>
          <a:prstGeom prst="line">
            <a:avLst/>
          </a:prstGeom>
          <a:ln w="9525" cap="flat" cmpd="sng">
            <a:solidFill>
              <a:schemeClr val="tx1"/>
            </a:solidFill>
            <a:prstDash val="solid"/>
            <a:headEnd type="none" w="med" len="med"/>
            <a:tailEnd type="none" w="med" len="med"/>
          </a:ln>
        </p:spPr>
      </p:sp>
      <p:sp>
        <p:nvSpPr>
          <p:cNvPr id="87062" name="Line 51"/>
          <p:cNvSpPr/>
          <p:nvPr/>
        </p:nvSpPr>
        <p:spPr>
          <a:xfrm>
            <a:off x="1295400" y="3644900"/>
            <a:ext cx="762000" cy="0"/>
          </a:xfrm>
          <a:prstGeom prst="line">
            <a:avLst/>
          </a:prstGeom>
          <a:ln w="9525" cap="flat" cmpd="sng">
            <a:solidFill>
              <a:schemeClr val="tx1"/>
            </a:solidFill>
            <a:prstDash val="solid"/>
            <a:headEnd type="none" w="med" len="med"/>
            <a:tailEnd type="none" w="med" len="med"/>
          </a:ln>
        </p:spPr>
      </p:sp>
      <p:sp>
        <p:nvSpPr>
          <p:cNvPr id="87063" name="Text Box 52"/>
          <p:cNvSpPr txBox="1"/>
          <p:nvPr/>
        </p:nvSpPr>
        <p:spPr>
          <a:xfrm>
            <a:off x="914400" y="16764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400" dirty="0">
                <a:solidFill>
                  <a:schemeClr val="tx1"/>
                </a:solidFill>
                <a:cs typeface="Arial" panose="020B0604020202020204" pitchFamily="34" charset="0"/>
              </a:rPr>
              <a:t>A</a:t>
            </a:r>
            <a:endParaRPr lang="en-US" altLang="zh-CN" sz="2400" dirty="0">
              <a:solidFill>
                <a:schemeClr val="tx1"/>
              </a:solidFill>
              <a:ea typeface="Arial" panose="020B0604020202020204" pitchFamily="34" charset="0"/>
            </a:endParaRPr>
          </a:p>
        </p:txBody>
      </p:sp>
      <p:sp>
        <p:nvSpPr>
          <p:cNvPr id="87064" name="Text Box 53"/>
          <p:cNvSpPr txBox="1"/>
          <p:nvPr/>
        </p:nvSpPr>
        <p:spPr>
          <a:xfrm>
            <a:off x="6324600" y="16764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400" dirty="0">
                <a:solidFill>
                  <a:schemeClr val="tx1"/>
                </a:solidFill>
                <a:cs typeface="Arial" panose="020B0604020202020204" pitchFamily="34" charset="0"/>
              </a:rPr>
              <a:t>A</a:t>
            </a:r>
            <a:endParaRPr lang="en-US" altLang="zh-CN" sz="2400" dirty="0">
              <a:solidFill>
                <a:schemeClr val="tx1"/>
              </a:solidFill>
              <a:ea typeface="Arial" panose="020B0604020202020204" pitchFamily="34" charset="0"/>
            </a:endParaRPr>
          </a:p>
        </p:txBody>
      </p:sp>
      <p:sp>
        <p:nvSpPr>
          <p:cNvPr id="87065" name="Text Box 54"/>
          <p:cNvSpPr txBox="1"/>
          <p:nvPr/>
        </p:nvSpPr>
        <p:spPr>
          <a:xfrm>
            <a:off x="3581400" y="16510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400" dirty="0">
                <a:solidFill>
                  <a:schemeClr val="tx1"/>
                </a:solidFill>
                <a:cs typeface="Arial" panose="020B0604020202020204" pitchFamily="34" charset="0"/>
              </a:rPr>
              <a:t>A</a:t>
            </a:r>
            <a:endParaRPr lang="en-US" altLang="zh-CN" sz="2400" dirty="0">
              <a:solidFill>
                <a:schemeClr val="tx1"/>
              </a:solidFill>
              <a:ea typeface="Arial" panose="020B0604020202020204" pitchFamily="34" charset="0"/>
            </a:endParaRPr>
          </a:p>
        </p:txBody>
      </p:sp>
      <p:sp>
        <p:nvSpPr>
          <p:cNvPr id="87066" name="Text Box 55"/>
          <p:cNvSpPr txBox="1"/>
          <p:nvPr/>
        </p:nvSpPr>
        <p:spPr>
          <a:xfrm>
            <a:off x="4660900" y="1638300"/>
            <a:ext cx="387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400" dirty="0">
                <a:solidFill>
                  <a:schemeClr val="tx1"/>
                </a:solidFill>
                <a:cs typeface="Arial" panose="020B0604020202020204" pitchFamily="34" charset="0"/>
              </a:rPr>
              <a:t>B</a:t>
            </a:r>
            <a:endParaRPr lang="en-US" altLang="zh-CN" sz="2400" dirty="0">
              <a:solidFill>
                <a:schemeClr val="tx1"/>
              </a:solidFill>
              <a:ea typeface="Arial" panose="020B0604020202020204" pitchFamily="34" charset="0"/>
            </a:endParaRPr>
          </a:p>
        </p:txBody>
      </p:sp>
      <p:sp>
        <p:nvSpPr>
          <p:cNvPr id="87067" name="Text Box 56"/>
          <p:cNvSpPr txBox="1"/>
          <p:nvPr/>
        </p:nvSpPr>
        <p:spPr>
          <a:xfrm>
            <a:off x="1981200" y="1676400"/>
            <a:ext cx="387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400" dirty="0">
                <a:solidFill>
                  <a:schemeClr val="tx1"/>
                </a:solidFill>
                <a:cs typeface="Arial" panose="020B0604020202020204" pitchFamily="34" charset="0"/>
              </a:rPr>
              <a:t>B</a:t>
            </a:r>
            <a:endParaRPr lang="en-US" altLang="zh-CN" sz="2400" dirty="0">
              <a:solidFill>
                <a:schemeClr val="tx1"/>
              </a:solidFill>
              <a:ea typeface="Arial" panose="020B0604020202020204" pitchFamily="34" charset="0"/>
            </a:endParaRPr>
          </a:p>
        </p:txBody>
      </p:sp>
      <p:sp>
        <p:nvSpPr>
          <p:cNvPr id="87068" name="Text Box 57"/>
          <p:cNvSpPr txBox="1"/>
          <p:nvPr/>
        </p:nvSpPr>
        <p:spPr>
          <a:xfrm>
            <a:off x="7315200" y="1663700"/>
            <a:ext cx="387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400" dirty="0">
                <a:solidFill>
                  <a:schemeClr val="tx1"/>
                </a:solidFill>
                <a:cs typeface="Arial" panose="020B0604020202020204" pitchFamily="34" charset="0"/>
              </a:rPr>
              <a:t>B</a:t>
            </a:r>
            <a:endParaRPr lang="en-US" altLang="zh-CN" sz="2400" dirty="0">
              <a:solidFill>
                <a:schemeClr val="tx1"/>
              </a:solidFill>
              <a:ea typeface="Arial" panose="020B0604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806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88068" name="Rectangle 3"/>
          <p:cNvSpPr>
            <a:spLocks noGrp="1"/>
          </p:cNvSpPr>
          <p:nvPr>
            <p:ph idx="1"/>
          </p:nvPr>
        </p:nvSpPr>
        <p:spPr>
          <a:xfrm>
            <a:off x="228600" y="762000"/>
            <a:ext cx="8686800" cy="685800"/>
          </a:xfrm>
          <a:ln/>
        </p:spPr>
        <p:txBody>
          <a:bodyPr vert="horz" wrap="square" lIns="91440" tIns="45720" rIns="91440" bIns="45720" anchor="t" anchorCtr="0"/>
          <a:p>
            <a:pPr eaLnBrk="1" hangingPunct="1"/>
            <a:r>
              <a:rPr lang="zh-CN" altLang="en-US" dirty="0"/>
              <a:t>实体型之间的联系</a:t>
            </a:r>
            <a:r>
              <a:rPr lang="en-US" altLang="zh-CN" dirty="0"/>
              <a:t>(</a:t>
            </a:r>
            <a:r>
              <a:rPr lang="zh-CN" altLang="en-US" dirty="0"/>
              <a:t>续</a:t>
            </a:r>
            <a:r>
              <a:rPr lang="en-US" altLang="zh-CN" dirty="0"/>
              <a:t>)</a:t>
            </a:r>
            <a:endParaRPr lang="en-US" altLang="zh-CN" dirty="0"/>
          </a:p>
        </p:txBody>
      </p:sp>
      <p:sp>
        <p:nvSpPr>
          <p:cNvPr id="88069" name="Text Box 4"/>
          <p:cNvSpPr txBox="1"/>
          <p:nvPr/>
        </p:nvSpPr>
        <p:spPr>
          <a:xfrm>
            <a:off x="1066800" y="1473200"/>
            <a:ext cx="963613" cy="8239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4800" b="0" dirty="0">
                <a:solidFill>
                  <a:schemeClr val="tx1"/>
                </a:solidFill>
                <a:cs typeface="Arial" panose="020B0604020202020204" pitchFamily="34" charset="0"/>
              </a:rPr>
              <a:t>1:1</a:t>
            </a:r>
            <a:endParaRPr lang="en-US" altLang="zh-CN" sz="4800" b="0" dirty="0">
              <a:solidFill>
                <a:schemeClr val="tx1"/>
              </a:solidFill>
              <a:ea typeface="Arial" panose="020B0604020202020204" pitchFamily="34" charset="0"/>
            </a:endParaRPr>
          </a:p>
        </p:txBody>
      </p:sp>
      <p:grpSp>
        <p:nvGrpSpPr>
          <p:cNvPr id="88070" name="Group 5"/>
          <p:cNvGrpSpPr/>
          <p:nvPr/>
        </p:nvGrpSpPr>
        <p:grpSpPr>
          <a:xfrm>
            <a:off x="3340100" y="1473200"/>
            <a:ext cx="1219200" cy="1841500"/>
            <a:chOff x="4464" y="480"/>
            <a:chExt cx="768" cy="1160"/>
          </a:xfrm>
        </p:grpSpPr>
        <p:grpSp>
          <p:nvGrpSpPr>
            <p:cNvPr id="88088" name="Group 6"/>
            <p:cNvGrpSpPr/>
            <p:nvPr/>
          </p:nvGrpSpPr>
          <p:grpSpPr>
            <a:xfrm>
              <a:off x="4464" y="480"/>
              <a:ext cx="768" cy="1160"/>
              <a:chOff x="672" y="1536"/>
              <a:chExt cx="768" cy="1160"/>
            </a:xfrm>
          </p:grpSpPr>
          <p:grpSp>
            <p:nvGrpSpPr>
              <p:cNvPr id="88092" name="Group 7"/>
              <p:cNvGrpSpPr/>
              <p:nvPr/>
            </p:nvGrpSpPr>
            <p:grpSpPr>
              <a:xfrm>
                <a:off x="672" y="1536"/>
                <a:ext cx="144" cy="1160"/>
                <a:chOff x="672" y="1536"/>
                <a:chExt cx="144" cy="1160"/>
              </a:xfrm>
            </p:grpSpPr>
            <p:sp>
              <p:nvSpPr>
                <p:cNvPr id="88098" name="Oval 8"/>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8099" name="Oval 9"/>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8100" name="Oval 10"/>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8101" name="Oval 11"/>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88093" name="Group 12"/>
              <p:cNvGrpSpPr/>
              <p:nvPr/>
            </p:nvGrpSpPr>
            <p:grpSpPr>
              <a:xfrm>
                <a:off x="1296" y="1536"/>
                <a:ext cx="144" cy="1160"/>
                <a:chOff x="672" y="1536"/>
                <a:chExt cx="144" cy="1160"/>
              </a:xfrm>
            </p:grpSpPr>
            <p:sp>
              <p:nvSpPr>
                <p:cNvPr id="88094" name="Oval 13"/>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8095" name="Oval 14"/>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8096" name="Oval 15"/>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8097" name="Oval 16"/>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sp>
          <p:nvSpPr>
            <p:cNvPr id="88089" name="Line 17"/>
            <p:cNvSpPr/>
            <p:nvPr/>
          </p:nvSpPr>
          <p:spPr>
            <a:xfrm>
              <a:off x="4608" y="552"/>
              <a:ext cx="480" cy="0"/>
            </a:xfrm>
            <a:prstGeom prst="line">
              <a:avLst/>
            </a:prstGeom>
            <a:ln w="9525" cap="flat" cmpd="sng">
              <a:solidFill>
                <a:schemeClr val="tx1"/>
              </a:solidFill>
              <a:prstDash val="solid"/>
              <a:headEnd type="none" w="med" len="med"/>
              <a:tailEnd type="none" w="med" len="med"/>
            </a:ln>
          </p:spPr>
        </p:sp>
        <p:sp>
          <p:nvSpPr>
            <p:cNvPr id="88090" name="Line 18"/>
            <p:cNvSpPr/>
            <p:nvPr/>
          </p:nvSpPr>
          <p:spPr>
            <a:xfrm>
              <a:off x="4608" y="896"/>
              <a:ext cx="480" cy="0"/>
            </a:xfrm>
            <a:prstGeom prst="line">
              <a:avLst/>
            </a:prstGeom>
            <a:ln w="9525" cap="flat" cmpd="sng">
              <a:solidFill>
                <a:schemeClr val="tx1"/>
              </a:solidFill>
              <a:prstDash val="solid"/>
              <a:headEnd type="none" w="med" len="med"/>
              <a:tailEnd type="none" w="med" len="med"/>
            </a:ln>
          </p:spPr>
        </p:sp>
        <p:sp>
          <p:nvSpPr>
            <p:cNvPr id="88091" name="Line 19"/>
            <p:cNvSpPr/>
            <p:nvPr/>
          </p:nvSpPr>
          <p:spPr>
            <a:xfrm>
              <a:off x="4608" y="1240"/>
              <a:ext cx="480" cy="0"/>
            </a:xfrm>
            <a:prstGeom prst="line">
              <a:avLst/>
            </a:prstGeom>
            <a:ln w="9525" cap="flat" cmpd="sng">
              <a:solidFill>
                <a:schemeClr val="tx1"/>
              </a:solidFill>
              <a:prstDash val="solid"/>
              <a:headEnd type="none" w="med" len="med"/>
              <a:tailEnd type="none" w="med" len="med"/>
            </a:ln>
          </p:spPr>
        </p:sp>
      </p:grpSp>
      <p:grpSp>
        <p:nvGrpSpPr>
          <p:cNvPr id="88071" name="Group 20"/>
          <p:cNvGrpSpPr/>
          <p:nvPr/>
        </p:nvGrpSpPr>
        <p:grpSpPr>
          <a:xfrm>
            <a:off x="990600" y="4140200"/>
            <a:ext cx="1905000" cy="2209800"/>
            <a:chOff x="624" y="2256"/>
            <a:chExt cx="1200" cy="1392"/>
          </a:xfrm>
        </p:grpSpPr>
        <p:sp>
          <p:nvSpPr>
            <p:cNvPr id="88084" name="Text Box 21"/>
            <p:cNvSpPr txBox="1"/>
            <p:nvPr/>
          </p:nvSpPr>
          <p:spPr>
            <a:xfrm>
              <a:off x="640" y="2256"/>
              <a:ext cx="1076" cy="12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省名       简称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湖北省    鄂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湖南省    湘</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河南省    豫</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山西省    晋</a:t>
              </a:r>
              <a:endParaRPr lang="zh-CN" altLang="en-US" sz="2000" b="0" dirty="0">
                <a:solidFill>
                  <a:schemeClr val="tx1"/>
                </a:solidFill>
                <a:ea typeface="Arial" panose="020B0604020202020204" pitchFamily="34" charset="0"/>
              </a:endParaRPr>
            </a:p>
          </p:txBody>
        </p:sp>
        <p:sp>
          <p:nvSpPr>
            <p:cNvPr id="88085" name="Line 22"/>
            <p:cNvSpPr/>
            <p:nvPr/>
          </p:nvSpPr>
          <p:spPr>
            <a:xfrm>
              <a:off x="624" y="2608"/>
              <a:ext cx="1200" cy="0"/>
            </a:xfrm>
            <a:prstGeom prst="line">
              <a:avLst/>
            </a:prstGeom>
            <a:ln w="9525" cap="flat" cmpd="sng">
              <a:solidFill>
                <a:schemeClr val="tx1"/>
              </a:solidFill>
              <a:prstDash val="solid"/>
              <a:headEnd type="none" w="med" len="med"/>
              <a:tailEnd type="none" w="med" len="med"/>
            </a:ln>
          </p:spPr>
        </p:sp>
        <p:sp>
          <p:nvSpPr>
            <p:cNvPr id="88086" name="Line 23"/>
            <p:cNvSpPr/>
            <p:nvPr/>
          </p:nvSpPr>
          <p:spPr>
            <a:xfrm>
              <a:off x="624" y="2568"/>
              <a:ext cx="1200" cy="0"/>
            </a:xfrm>
            <a:prstGeom prst="line">
              <a:avLst/>
            </a:prstGeom>
            <a:ln w="9525" cap="flat" cmpd="sng">
              <a:solidFill>
                <a:schemeClr val="tx1"/>
              </a:solidFill>
              <a:prstDash val="solid"/>
              <a:headEnd type="none" w="med" len="med"/>
              <a:tailEnd type="none" w="med" len="med"/>
            </a:ln>
          </p:spPr>
        </p:sp>
        <p:sp>
          <p:nvSpPr>
            <p:cNvPr id="88087" name="Line 24"/>
            <p:cNvSpPr/>
            <p:nvPr/>
          </p:nvSpPr>
          <p:spPr>
            <a:xfrm>
              <a:off x="1224" y="2296"/>
              <a:ext cx="0" cy="1352"/>
            </a:xfrm>
            <a:prstGeom prst="line">
              <a:avLst/>
            </a:prstGeom>
            <a:ln w="9525" cap="flat" cmpd="sng">
              <a:solidFill>
                <a:schemeClr val="tx1"/>
              </a:solidFill>
              <a:prstDash val="solid"/>
              <a:headEnd type="none" w="med" len="med"/>
              <a:tailEnd type="none" w="med" len="med"/>
            </a:ln>
          </p:spPr>
        </p:sp>
      </p:grpSp>
      <p:grpSp>
        <p:nvGrpSpPr>
          <p:cNvPr id="88072" name="Group 25"/>
          <p:cNvGrpSpPr/>
          <p:nvPr/>
        </p:nvGrpSpPr>
        <p:grpSpPr>
          <a:xfrm>
            <a:off x="4800600" y="4140200"/>
            <a:ext cx="2819400" cy="2057400"/>
            <a:chOff x="3024" y="2256"/>
            <a:chExt cx="1776" cy="1296"/>
          </a:xfrm>
        </p:grpSpPr>
        <p:sp>
          <p:nvSpPr>
            <p:cNvPr id="88079" name="Text Box 26"/>
            <p:cNvSpPr txBox="1"/>
            <p:nvPr/>
          </p:nvSpPr>
          <p:spPr>
            <a:xfrm>
              <a:off x="3040" y="2256"/>
              <a:ext cx="1756" cy="12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市名       面积         人口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太原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郑州</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襄樊</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武汉</a:t>
              </a:r>
              <a:endParaRPr lang="zh-CN" altLang="en-US" sz="2000" b="0" dirty="0">
                <a:solidFill>
                  <a:schemeClr val="tx1"/>
                </a:solidFill>
                <a:ea typeface="Arial" panose="020B0604020202020204" pitchFamily="34" charset="0"/>
              </a:endParaRPr>
            </a:p>
          </p:txBody>
        </p:sp>
        <p:sp>
          <p:nvSpPr>
            <p:cNvPr id="88080" name="Line 27"/>
            <p:cNvSpPr/>
            <p:nvPr/>
          </p:nvSpPr>
          <p:spPr>
            <a:xfrm>
              <a:off x="3024" y="2608"/>
              <a:ext cx="1776" cy="0"/>
            </a:xfrm>
            <a:prstGeom prst="line">
              <a:avLst/>
            </a:prstGeom>
            <a:ln w="9525" cap="flat" cmpd="sng">
              <a:solidFill>
                <a:schemeClr val="tx1"/>
              </a:solidFill>
              <a:prstDash val="solid"/>
              <a:headEnd type="none" w="med" len="med"/>
              <a:tailEnd type="none" w="med" len="med"/>
            </a:ln>
          </p:spPr>
        </p:sp>
        <p:sp>
          <p:nvSpPr>
            <p:cNvPr id="88081" name="Line 28"/>
            <p:cNvSpPr/>
            <p:nvPr/>
          </p:nvSpPr>
          <p:spPr>
            <a:xfrm>
              <a:off x="3024" y="2568"/>
              <a:ext cx="1776" cy="0"/>
            </a:xfrm>
            <a:prstGeom prst="line">
              <a:avLst/>
            </a:prstGeom>
            <a:ln w="9525" cap="flat" cmpd="sng">
              <a:solidFill>
                <a:schemeClr val="tx1"/>
              </a:solidFill>
              <a:prstDash val="solid"/>
              <a:headEnd type="none" w="med" len="med"/>
              <a:tailEnd type="none" w="med" len="med"/>
            </a:ln>
          </p:spPr>
        </p:sp>
        <p:sp>
          <p:nvSpPr>
            <p:cNvPr id="88082" name="Line 29"/>
            <p:cNvSpPr/>
            <p:nvPr/>
          </p:nvSpPr>
          <p:spPr>
            <a:xfrm>
              <a:off x="3624" y="2296"/>
              <a:ext cx="0" cy="1256"/>
            </a:xfrm>
            <a:prstGeom prst="line">
              <a:avLst/>
            </a:prstGeom>
            <a:ln w="9525" cap="flat" cmpd="sng">
              <a:solidFill>
                <a:schemeClr val="tx1"/>
              </a:solidFill>
              <a:prstDash val="solid"/>
              <a:headEnd type="none" w="med" len="med"/>
              <a:tailEnd type="none" w="med" len="med"/>
            </a:ln>
          </p:spPr>
        </p:sp>
        <p:sp>
          <p:nvSpPr>
            <p:cNvPr id="88083" name="Line 30"/>
            <p:cNvSpPr/>
            <p:nvPr/>
          </p:nvSpPr>
          <p:spPr>
            <a:xfrm>
              <a:off x="4176" y="2304"/>
              <a:ext cx="0" cy="1248"/>
            </a:xfrm>
            <a:prstGeom prst="line">
              <a:avLst/>
            </a:prstGeom>
            <a:ln w="9525" cap="flat" cmpd="sng">
              <a:solidFill>
                <a:schemeClr val="tx1"/>
              </a:solidFill>
              <a:prstDash val="solid"/>
              <a:headEnd type="none" w="med" len="med"/>
              <a:tailEnd type="none" w="med" len="med"/>
            </a:ln>
          </p:spPr>
        </p:sp>
      </p:grpSp>
      <p:sp>
        <p:nvSpPr>
          <p:cNvPr id="88073" name="Text Box 31"/>
          <p:cNvSpPr txBox="1"/>
          <p:nvPr/>
        </p:nvSpPr>
        <p:spPr>
          <a:xfrm>
            <a:off x="990600" y="3073400"/>
            <a:ext cx="1987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chemeClr val="tx1"/>
                </a:solidFill>
                <a:cs typeface="Arial" panose="020B0604020202020204" pitchFamily="34" charset="0"/>
              </a:rPr>
              <a:t>Provinces</a:t>
            </a:r>
            <a:endParaRPr lang="en-US" altLang="zh-CN" sz="3600" b="0" dirty="0">
              <a:solidFill>
                <a:schemeClr val="tx1"/>
              </a:solidFill>
              <a:ea typeface="Arial" panose="020B0604020202020204" pitchFamily="34" charset="0"/>
            </a:endParaRPr>
          </a:p>
        </p:txBody>
      </p:sp>
      <p:sp>
        <p:nvSpPr>
          <p:cNvPr id="88074" name="Text Box 32"/>
          <p:cNvSpPr txBox="1"/>
          <p:nvPr/>
        </p:nvSpPr>
        <p:spPr>
          <a:xfrm>
            <a:off x="5105400" y="3000375"/>
            <a:ext cx="12509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chemeClr val="tx1"/>
                </a:solidFill>
                <a:cs typeface="Arial" panose="020B0604020202020204" pitchFamily="34" charset="0"/>
              </a:rPr>
              <a:t>Cities</a:t>
            </a:r>
            <a:endParaRPr lang="en-US" altLang="zh-CN" sz="3600" b="0" dirty="0">
              <a:solidFill>
                <a:schemeClr val="tx1"/>
              </a:solidFill>
              <a:ea typeface="Arial" panose="020B0604020202020204" pitchFamily="34" charset="0"/>
            </a:endParaRPr>
          </a:p>
        </p:txBody>
      </p:sp>
      <p:sp>
        <p:nvSpPr>
          <p:cNvPr id="88075" name="Line 33"/>
          <p:cNvSpPr/>
          <p:nvPr/>
        </p:nvSpPr>
        <p:spPr>
          <a:xfrm>
            <a:off x="2438400" y="4978400"/>
            <a:ext cx="2438400" cy="914400"/>
          </a:xfrm>
          <a:prstGeom prst="line">
            <a:avLst/>
          </a:prstGeom>
          <a:ln w="38100" cap="flat" cmpd="sng">
            <a:solidFill>
              <a:srgbClr val="FF3300"/>
            </a:solidFill>
            <a:prstDash val="solid"/>
            <a:headEnd type="none" w="med" len="med"/>
            <a:tailEnd type="none" w="med" len="med"/>
          </a:ln>
        </p:spPr>
      </p:sp>
      <p:sp>
        <p:nvSpPr>
          <p:cNvPr id="88076" name="Line 34"/>
          <p:cNvSpPr/>
          <p:nvPr/>
        </p:nvSpPr>
        <p:spPr>
          <a:xfrm flipV="1">
            <a:off x="2438400" y="5283200"/>
            <a:ext cx="2438400" cy="304800"/>
          </a:xfrm>
          <a:prstGeom prst="line">
            <a:avLst/>
          </a:prstGeom>
          <a:ln w="38100" cap="flat" cmpd="sng">
            <a:solidFill>
              <a:srgbClr val="FF3300"/>
            </a:solidFill>
            <a:prstDash val="solid"/>
            <a:headEnd type="none" w="med" len="med"/>
            <a:tailEnd type="none" w="med" len="med"/>
          </a:ln>
        </p:spPr>
      </p:sp>
      <p:sp>
        <p:nvSpPr>
          <p:cNvPr id="88077" name="Line 35"/>
          <p:cNvSpPr/>
          <p:nvPr/>
        </p:nvSpPr>
        <p:spPr>
          <a:xfrm flipV="1">
            <a:off x="2438400" y="4902200"/>
            <a:ext cx="2438400" cy="990600"/>
          </a:xfrm>
          <a:prstGeom prst="line">
            <a:avLst/>
          </a:prstGeom>
          <a:ln w="38100" cap="flat" cmpd="sng">
            <a:solidFill>
              <a:srgbClr val="FF3300"/>
            </a:solidFill>
            <a:prstDash val="solid"/>
            <a:headEnd type="none" w="med" len="med"/>
            <a:tailEnd type="none" w="med" len="med"/>
          </a:ln>
        </p:spPr>
      </p:sp>
      <p:sp>
        <p:nvSpPr>
          <p:cNvPr id="88078" name="Text Box 36"/>
          <p:cNvSpPr txBox="1"/>
          <p:nvPr/>
        </p:nvSpPr>
        <p:spPr>
          <a:xfrm>
            <a:off x="3124200" y="4191000"/>
            <a:ext cx="1200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4000" b="0" dirty="0">
                <a:cs typeface="Arial" panose="020B0604020202020204" pitchFamily="34" charset="0"/>
              </a:rPr>
              <a:t>省会</a:t>
            </a:r>
            <a:endParaRPr lang="zh-CN" altLang="en-US" sz="4000" b="0" dirty="0">
              <a:ea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909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89092" name="Rectangle 3"/>
          <p:cNvSpPr>
            <a:spLocks noGrp="1"/>
          </p:cNvSpPr>
          <p:nvPr>
            <p:ph idx="1"/>
          </p:nvPr>
        </p:nvSpPr>
        <p:spPr>
          <a:xfrm>
            <a:off x="228600" y="762000"/>
            <a:ext cx="8686800" cy="685800"/>
          </a:xfrm>
          <a:ln/>
        </p:spPr>
        <p:txBody>
          <a:bodyPr vert="horz" wrap="square" lIns="91440" tIns="45720" rIns="91440" bIns="45720" anchor="t" anchorCtr="0"/>
          <a:p>
            <a:pPr eaLnBrk="1" hangingPunct="1"/>
            <a:r>
              <a:rPr lang="zh-CN" altLang="en-US" dirty="0"/>
              <a:t>实体型之间的联系</a:t>
            </a:r>
            <a:r>
              <a:rPr lang="en-US" altLang="zh-CN" dirty="0"/>
              <a:t>(</a:t>
            </a:r>
            <a:r>
              <a:rPr lang="zh-CN" altLang="en-US" dirty="0"/>
              <a:t>续</a:t>
            </a:r>
            <a:r>
              <a:rPr lang="en-US" altLang="zh-CN" dirty="0"/>
              <a:t>)</a:t>
            </a:r>
            <a:endParaRPr lang="en-US" altLang="zh-CN" dirty="0"/>
          </a:p>
        </p:txBody>
      </p:sp>
      <p:sp>
        <p:nvSpPr>
          <p:cNvPr id="89093" name="Text Box 4"/>
          <p:cNvSpPr txBox="1"/>
          <p:nvPr/>
        </p:nvSpPr>
        <p:spPr>
          <a:xfrm>
            <a:off x="914400" y="1371600"/>
            <a:ext cx="1098550" cy="8239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4800" b="0" dirty="0">
                <a:solidFill>
                  <a:schemeClr val="tx1"/>
                </a:solidFill>
                <a:cs typeface="Arial" panose="020B0604020202020204" pitchFamily="34" charset="0"/>
              </a:rPr>
              <a:t>1:N</a:t>
            </a:r>
            <a:endParaRPr lang="en-US" altLang="zh-CN" sz="4800" b="0" dirty="0">
              <a:solidFill>
                <a:schemeClr val="tx1"/>
              </a:solidFill>
              <a:ea typeface="Arial" panose="020B0604020202020204" pitchFamily="34" charset="0"/>
            </a:endParaRPr>
          </a:p>
        </p:txBody>
      </p:sp>
      <p:grpSp>
        <p:nvGrpSpPr>
          <p:cNvPr id="89094" name="Group 5"/>
          <p:cNvGrpSpPr/>
          <p:nvPr/>
        </p:nvGrpSpPr>
        <p:grpSpPr>
          <a:xfrm>
            <a:off x="3581400" y="1752600"/>
            <a:ext cx="1219200" cy="1841500"/>
            <a:chOff x="2352" y="1536"/>
            <a:chExt cx="768" cy="1160"/>
          </a:xfrm>
        </p:grpSpPr>
        <p:grpSp>
          <p:nvGrpSpPr>
            <p:cNvPr id="89112" name="Group 6"/>
            <p:cNvGrpSpPr/>
            <p:nvPr/>
          </p:nvGrpSpPr>
          <p:grpSpPr>
            <a:xfrm>
              <a:off x="2352" y="1536"/>
              <a:ext cx="768" cy="1160"/>
              <a:chOff x="672" y="1536"/>
              <a:chExt cx="768" cy="1160"/>
            </a:xfrm>
          </p:grpSpPr>
          <p:grpSp>
            <p:nvGrpSpPr>
              <p:cNvPr id="89116" name="Group 7"/>
              <p:cNvGrpSpPr/>
              <p:nvPr/>
            </p:nvGrpSpPr>
            <p:grpSpPr>
              <a:xfrm>
                <a:off x="672" y="1536"/>
                <a:ext cx="144" cy="1160"/>
                <a:chOff x="672" y="1536"/>
                <a:chExt cx="144" cy="1160"/>
              </a:xfrm>
            </p:grpSpPr>
            <p:sp>
              <p:nvSpPr>
                <p:cNvPr id="89122" name="Oval 8"/>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9123" name="Oval 9"/>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9124" name="Oval 10"/>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9125" name="Oval 11"/>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89117" name="Group 12"/>
              <p:cNvGrpSpPr/>
              <p:nvPr/>
            </p:nvGrpSpPr>
            <p:grpSpPr>
              <a:xfrm>
                <a:off x="1296" y="1536"/>
                <a:ext cx="144" cy="1160"/>
                <a:chOff x="672" y="1536"/>
                <a:chExt cx="144" cy="1160"/>
              </a:xfrm>
            </p:grpSpPr>
            <p:sp>
              <p:nvSpPr>
                <p:cNvPr id="89118" name="Oval 13"/>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9119" name="Oval 14"/>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9120" name="Oval 15"/>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89121" name="Oval 16"/>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sp>
          <p:nvSpPr>
            <p:cNvPr id="89113" name="Line 17"/>
            <p:cNvSpPr/>
            <p:nvPr/>
          </p:nvSpPr>
          <p:spPr>
            <a:xfrm>
              <a:off x="2496" y="1608"/>
              <a:ext cx="480" cy="0"/>
            </a:xfrm>
            <a:prstGeom prst="line">
              <a:avLst/>
            </a:prstGeom>
            <a:ln w="9525" cap="flat" cmpd="sng">
              <a:solidFill>
                <a:schemeClr val="tx1"/>
              </a:solidFill>
              <a:prstDash val="solid"/>
              <a:headEnd type="none" w="med" len="med"/>
              <a:tailEnd type="none" w="med" len="med"/>
            </a:ln>
          </p:spPr>
        </p:sp>
        <p:sp>
          <p:nvSpPr>
            <p:cNvPr id="89114" name="Line 18"/>
            <p:cNvSpPr/>
            <p:nvPr/>
          </p:nvSpPr>
          <p:spPr>
            <a:xfrm>
              <a:off x="2496" y="1632"/>
              <a:ext cx="480" cy="336"/>
            </a:xfrm>
            <a:prstGeom prst="line">
              <a:avLst/>
            </a:prstGeom>
            <a:ln w="9525" cap="flat" cmpd="sng">
              <a:solidFill>
                <a:schemeClr val="tx1"/>
              </a:solidFill>
              <a:prstDash val="solid"/>
              <a:headEnd type="none" w="med" len="med"/>
              <a:tailEnd type="none" w="med" len="med"/>
            </a:ln>
          </p:spPr>
        </p:sp>
        <p:sp>
          <p:nvSpPr>
            <p:cNvPr id="89115" name="Line 19"/>
            <p:cNvSpPr/>
            <p:nvPr/>
          </p:nvSpPr>
          <p:spPr>
            <a:xfrm>
              <a:off x="2496" y="1952"/>
              <a:ext cx="480" cy="336"/>
            </a:xfrm>
            <a:prstGeom prst="line">
              <a:avLst/>
            </a:prstGeom>
            <a:ln w="9525" cap="flat" cmpd="sng">
              <a:solidFill>
                <a:schemeClr val="tx1"/>
              </a:solidFill>
              <a:prstDash val="solid"/>
              <a:headEnd type="none" w="med" len="med"/>
              <a:tailEnd type="none" w="med" len="med"/>
            </a:ln>
          </p:spPr>
        </p:sp>
      </p:grpSp>
      <p:grpSp>
        <p:nvGrpSpPr>
          <p:cNvPr id="89095" name="Group 20"/>
          <p:cNvGrpSpPr/>
          <p:nvPr/>
        </p:nvGrpSpPr>
        <p:grpSpPr>
          <a:xfrm>
            <a:off x="990600" y="4038600"/>
            <a:ext cx="1905000" cy="2209800"/>
            <a:chOff x="624" y="2256"/>
            <a:chExt cx="1200" cy="1392"/>
          </a:xfrm>
        </p:grpSpPr>
        <p:sp>
          <p:nvSpPr>
            <p:cNvPr id="89108" name="Text Box 21"/>
            <p:cNvSpPr txBox="1"/>
            <p:nvPr/>
          </p:nvSpPr>
          <p:spPr>
            <a:xfrm>
              <a:off x="640" y="2256"/>
              <a:ext cx="1036" cy="10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班名       简称</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01</a:t>
              </a:r>
              <a:r>
                <a:rPr lang="zh-CN" altLang="en-US" sz="2000" b="0" dirty="0">
                  <a:solidFill>
                    <a:schemeClr val="tx1"/>
                  </a:solidFill>
                  <a:cs typeface="Arial" panose="020B0604020202020204" pitchFamily="34" charset="0"/>
                </a:rPr>
                <a:t>软件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02</a:t>
              </a:r>
              <a:r>
                <a:rPr lang="zh-CN" altLang="en-US" sz="2000" b="0" dirty="0">
                  <a:solidFill>
                    <a:schemeClr val="tx1"/>
                  </a:solidFill>
                  <a:cs typeface="Arial" panose="020B0604020202020204" pitchFamily="34" charset="0"/>
                </a:rPr>
                <a:t>应用</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02</a:t>
              </a:r>
              <a:r>
                <a:rPr lang="zh-CN" altLang="en-US" sz="2000" b="0" dirty="0">
                  <a:solidFill>
                    <a:schemeClr val="tx1"/>
                  </a:solidFill>
                  <a:cs typeface="Arial" panose="020B0604020202020204" pitchFamily="34" charset="0"/>
                </a:rPr>
                <a:t>工程</a:t>
              </a:r>
              <a:endParaRPr lang="zh-CN" altLang="en-US" sz="2000" b="0" dirty="0">
                <a:solidFill>
                  <a:schemeClr val="tx1"/>
                </a:solidFill>
                <a:ea typeface="Arial" panose="020B0604020202020204" pitchFamily="34" charset="0"/>
              </a:endParaRPr>
            </a:p>
          </p:txBody>
        </p:sp>
        <p:sp>
          <p:nvSpPr>
            <p:cNvPr id="89109" name="Line 22"/>
            <p:cNvSpPr/>
            <p:nvPr/>
          </p:nvSpPr>
          <p:spPr>
            <a:xfrm>
              <a:off x="624" y="2608"/>
              <a:ext cx="1200" cy="0"/>
            </a:xfrm>
            <a:prstGeom prst="line">
              <a:avLst/>
            </a:prstGeom>
            <a:ln w="9525" cap="flat" cmpd="sng">
              <a:solidFill>
                <a:schemeClr val="tx1"/>
              </a:solidFill>
              <a:prstDash val="solid"/>
              <a:headEnd type="none" w="med" len="med"/>
              <a:tailEnd type="none" w="med" len="med"/>
            </a:ln>
          </p:spPr>
        </p:sp>
        <p:sp>
          <p:nvSpPr>
            <p:cNvPr id="89110" name="Line 23"/>
            <p:cNvSpPr/>
            <p:nvPr/>
          </p:nvSpPr>
          <p:spPr>
            <a:xfrm>
              <a:off x="624" y="2568"/>
              <a:ext cx="1200" cy="0"/>
            </a:xfrm>
            <a:prstGeom prst="line">
              <a:avLst/>
            </a:prstGeom>
            <a:ln w="9525" cap="flat" cmpd="sng">
              <a:solidFill>
                <a:schemeClr val="tx1"/>
              </a:solidFill>
              <a:prstDash val="solid"/>
              <a:headEnd type="none" w="med" len="med"/>
              <a:tailEnd type="none" w="med" len="med"/>
            </a:ln>
          </p:spPr>
        </p:sp>
        <p:sp>
          <p:nvSpPr>
            <p:cNvPr id="89111" name="Line 24"/>
            <p:cNvSpPr/>
            <p:nvPr/>
          </p:nvSpPr>
          <p:spPr>
            <a:xfrm>
              <a:off x="1224" y="2296"/>
              <a:ext cx="0" cy="1352"/>
            </a:xfrm>
            <a:prstGeom prst="line">
              <a:avLst/>
            </a:prstGeom>
            <a:ln w="9525" cap="flat" cmpd="sng">
              <a:solidFill>
                <a:schemeClr val="tx1"/>
              </a:solidFill>
              <a:prstDash val="solid"/>
              <a:headEnd type="none" w="med" len="med"/>
              <a:tailEnd type="none" w="med" len="med"/>
            </a:ln>
          </p:spPr>
        </p:sp>
      </p:grpSp>
      <p:grpSp>
        <p:nvGrpSpPr>
          <p:cNvPr id="89096" name="Group 25"/>
          <p:cNvGrpSpPr/>
          <p:nvPr/>
        </p:nvGrpSpPr>
        <p:grpSpPr>
          <a:xfrm>
            <a:off x="4800600" y="4038600"/>
            <a:ext cx="2819400" cy="2057400"/>
            <a:chOff x="3024" y="2256"/>
            <a:chExt cx="1776" cy="1296"/>
          </a:xfrm>
        </p:grpSpPr>
        <p:sp>
          <p:nvSpPr>
            <p:cNvPr id="89103" name="Text Box 26"/>
            <p:cNvSpPr txBox="1"/>
            <p:nvPr/>
          </p:nvSpPr>
          <p:spPr>
            <a:xfrm>
              <a:off x="3040" y="2256"/>
              <a:ext cx="1756" cy="12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学号       姓名         性别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01            </a:t>
              </a:r>
              <a:r>
                <a:rPr lang="zh-CN" altLang="en-US" sz="2000" b="0" dirty="0">
                  <a:solidFill>
                    <a:schemeClr val="tx1"/>
                  </a:solidFill>
                  <a:cs typeface="Arial" panose="020B0604020202020204" pitchFamily="34" charset="0"/>
                </a:rPr>
                <a:t>赵</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02            </a:t>
              </a:r>
              <a:r>
                <a:rPr lang="zh-CN" altLang="en-US" sz="2000" b="0" dirty="0">
                  <a:solidFill>
                    <a:schemeClr val="tx1"/>
                  </a:solidFill>
                  <a:cs typeface="Arial" panose="020B0604020202020204" pitchFamily="34" charset="0"/>
                </a:rPr>
                <a:t>钱</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03            </a:t>
              </a:r>
              <a:r>
                <a:rPr lang="zh-CN" altLang="en-US" sz="2000" b="0" dirty="0">
                  <a:solidFill>
                    <a:schemeClr val="tx1"/>
                  </a:solidFill>
                  <a:cs typeface="Arial" panose="020B0604020202020204" pitchFamily="34" charset="0"/>
                </a:rPr>
                <a:t>孙</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04            </a:t>
              </a:r>
              <a:r>
                <a:rPr lang="zh-CN" altLang="en-US" sz="2000" b="0" dirty="0">
                  <a:solidFill>
                    <a:schemeClr val="tx1"/>
                  </a:solidFill>
                  <a:cs typeface="Arial" panose="020B0604020202020204" pitchFamily="34" charset="0"/>
                </a:rPr>
                <a:t>李</a:t>
              </a:r>
              <a:endParaRPr lang="zh-CN" altLang="en-US" sz="2000" b="0" dirty="0">
                <a:solidFill>
                  <a:schemeClr val="tx1"/>
                </a:solidFill>
                <a:ea typeface="Arial" panose="020B0604020202020204" pitchFamily="34" charset="0"/>
              </a:endParaRPr>
            </a:p>
          </p:txBody>
        </p:sp>
        <p:sp>
          <p:nvSpPr>
            <p:cNvPr id="89104" name="Line 27"/>
            <p:cNvSpPr/>
            <p:nvPr/>
          </p:nvSpPr>
          <p:spPr>
            <a:xfrm>
              <a:off x="3024" y="2608"/>
              <a:ext cx="1776" cy="0"/>
            </a:xfrm>
            <a:prstGeom prst="line">
              <a:avLst/>
            </a:prstGeom>
            <a:ln w="9525" cap="flat" cmpd="sng">
              <a:solidFill>
                <a:schemeClr val="tx1"/>
              </a:solidFill>
              <a:prstDash val="solid"/>
              <a:headEnd type="none" w="med" len="med"/>
              <a:tailEnd type="none" w="med" len="med"/>
            </a:ln>
          </p:spPr>
        </p:sp>
        <p:sp>
          <p:nvSpPr>
            <p:cNvPr id="89105" name="Line 28"/>
            <p:cNvSpPr/>
            <p:nvPr/>
          </p:nvSpPr>
          <p:spPr>
            <a:xfrm>
              <a:off x="3024" y="2568"/>
              <a:ext cx="1776" cy="0"/>
            </a:xfrm>
            <a:prstGeom prst="line">
              <a:avLst/>
            </a:prstGeom>
            <a:ln w="9525" cap="flat" cmpd="sng">
              <a:solidFill>
                <a:schemeClr val="tx1"/>
              </a:solidFill>
              <a:prstDash val="solid"/>
              <a:headEnd type="none" w="med" len="med"/>
              <a:tailEnd type="none" w="med" len="med"/>
            </a:ln>
          </p:spPr>
        </p:sp>
        <p:sp>
          <p:nvSpPr>
            <p:cNvPr id="89106" name="Line 29"/>
            <p:cNvSpPr/>
            <p:nvPr/>
          </p:nvSpPr>
          <p:spPr>
            <a:xfrm>
              <a:off x="3624" y="2296"/>
              <a:ext cx="0" cy="1256"/>
            </a:xfrm>
            <a:prstGeom prst="line">
              <a:avLst/>
            </a:prstGeom>
            <a:ln w="9525" cap="flat" cmpd="sng">
              <a:solidFill>
                <a:schemeClr val="tx1"/>
              </a:solidFill>
              <a:prstDash val="solid"/>
              <a:headEnd type="none" w="med" len="med"/>
              <a:tailEnd type="none" w="med" len="med"/>
            </a:ln>
          </p:spPr>
        </p:sp>
        <p:sp>
          <p:nvSpPr>
            <p:cNvPr id="89107" name="Line 30"/>
            <p:cNvSpPr/>
            <p:nvPr/>
          </p:nvSpPr>
          <p:spPr>
            <a:xfrm>
              <a:off x="4176" y="2304"/>
              <a:ext cx="0" cy="1248"/>
            </a:xfrm>
            <a:prstGeom prst="line">
              <a:avLst/>
            </a:prstGeom>
            <a:ln w="9525" cap="flat" cmpd="sng">
              <a:solidFill>
                <a:schemeClr val="tx1"/>
              </a:solidFill>
              <a:prstDash val="solid"/>
              <a:headEnd type="none" w="med" len="med"/>
              <a:tailEnd type="none" w="med" len="med"/>
            </a:ln>
          </p:spPr>
        </p:sp>
      </p:grpSp>
      <p:sp>
        <p:nvSpPr>
          <p:cNvPr id="89097" name="Text Box 31"/>
          <p:cNvSpPr txBox="1"/>
          <p:nvPr/>
        </p:nvSpPr>
        <p:spPr>
          <a:xfrm>
            <a:off x="990600" y="2971800"/>
            <a:ext cx="15557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chemeClr val="tx1"/>
                </a:solidFill>
                <a:cs typeface="Arial" panose="020B0604020202020204" pitchFamily="34" charset="0"/>
              </a:rPr>
              <a:t>Classes</a:t>
            </a:r>
            <a:endParaRPr lang="en-US" altLang="zh-CN" sz="3600" b="0" dirty="0">
              <a:solidFill>
                <a:schemeClr val="tx1"/>
              </a:solidFill>
              <a:ea typeface="Arial" panose="020B0604020202020204" pitchFamily="34" charset="0"/>
            </a:endParaRPr>
          </a:p>
        </p:txBody>
      </p:sp>
      <p:sp>
        <p:nvSpPr>
          <p:cNvPr id="89098" name="Text Box 32"/>
          <p:cNvSpPr txBox="1"/>
          <p:nvPr/>
        </p:nvSpPr>
        <p:spPr>
          <a:xfrm>
            <a:off x="5105400" y="2898775"/>
            <a:ext cx="17589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chemeClr val="tx1"/>
                </a:solidFill>
                <a:cs typeface="Arial" panose="020B0604020202020204" pitchFamily="34" charset="0"/>
              </a:rPr>
              <a:t>Students</a:t>
            </a:r>
            <a:endParaRPr lang="en-US" altLang="zh-CN" sz="3600" b="0" dirty="0">
              <a:solidFill>
                <a:schemeClr val="tx1"/>
              </a:solidFill>
              <a:ea typeface="Arial" panose="020B0604020202020204" pitchFamily="34" charset="0"/>
            </a:endParaRPr>
          </a:p>
        </p:txBody>
      </p:sp>
      <p:sp>
        <p:nvSpPr>
          <p:cNvPr id="89099" name="Line 33"/>
          <p:cNvSpPr/>
          <p:nvPr/>
        </p:nvSpPr>
        <p:spPr>
          <a:xfrm>
            <a:off x="2095500" y="4800600"/>
            <a:ext cx="2667000" cy="0"/>
          </a:xfrm>
          <a:prstGeom prst="line">
            <a:avLst/>
          </a:prstGeom>
          <a:ln w="38100" cap="flat" cmpd="sng">
            <a:solidFill>
              <a:srgbClr val="FF3300"/>
            </a:solidFill>
            <a:prstDash val="solid"/>
            <a:headEnd type="none" w="med" len="med"/>
            <a:tailEnd type="none" w="med" len="med"/>
          </a:ln>
        </p:spPr>
      </p:sp>
      <p:sp>
        <p:nvSpPr>
          <p:cNvPr id="89100" name="Line 34"/>
          <p:cNvSpPr/>
          <p:nvPr/>
        </p:nvSpPr>
        <p:spPr>
          <a:xfrm>
            <a:off x="2057400" y="4953000"/>
            <a:ext cx="2819400" cy="457200"/>
          </a:xfrm>
          <a:prstGeom prst="line">
            <a:avLst/>
          </a:prstGeom>
          <a:ln w="38100" cap="flat" cmpd="sng">
            <a:solidFill>
              <a:srgbClr val="FF3300"/>
            </a:solidFill>
            <a:prstDash val="solid"/>
            <a:headEnd type="none" w="med" len="med"/>
            <a:tailEnd type="none" w="med" len="med"/>
          </a:ln>
        </p:spPr>
      </p:sp>
      <p:sp>
        <p:nvSpPr>
          <p:cNvPr id="89101" name="Line 35"/>
          <p:cNvSpPr/>
          <p:nvPr/>
        </p:nvSpPr>
        <p:spPr>
          <a:xfrm>
            <a:off x="2057400" y="4876800"/>
            <a:ext cx="2895600" cy="228600"/>
          </a:xfrm>
          <a:prstGeom prst="line">
            <a:avLst/>
          </a:prstGeom>
          <a:ln w="38100" cap="flat" cmpd="sng">
            <a:solidFill>
              <a:srgbClr val="FF3300"/>
            </a:solidFill>
            <a:prstDash val="solid"/>
            <a:headEnd type="none" w="med" len="med"/>
            <a:tailEnd type="none" w="med" len="med"/>
          </a:ln>
        </p:spPr>
      </p:sp>
      <p:sp>
        <p:nvSpPr>
          <p:cNvPr id="89102" name="Text Box 36"/>
          <p:cNvSpPr txBox="1"/>
          <p:nvPr/>
        </p:nvSpPr>
        <p:spPr>
          <a:xfrm>
            <a:off x="3124200" y="3990975"/>
            <a:ext cx="1200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4000" b="0" dirty="0">
                <a:cs typeface="Arial" panose="020B0604020202020204" pitchFamily="34" charset="0"/>
              </a:rPr>
              <a:t>所属</a:t>
            </a:r>
            <a:endParaRPr lang="zh-CN" altLang="en-US" sz="4000" b="0" dirty="0">
              <a:ea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011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90116" name="Rectangle 3"/>
          <p:cNvSpPr>
            <a:spLocks noGrp="1"/>
          </p:cNvSpPr>
          <p:nvPr>
            <p:ph idx="1"/>
          </p:nvPr>
        </p:nvSpPr>
        <p:spPr>
          <a:xfrm>
            <a:off x="228600" y="762000"/>
            <a:ext cx="8686800" cy="685800"/>
          </a:xfrm>
          <a:ln/>
        </p:spPr>
        <p:txBody>
          <a:bodyPr vert="horz" wrap="square" lIns="91440" tIns="45720" rIns="91440" bIns="45720" anchor="t" anchorCtr="0"/>
          <a:p>
            <a:pPr eaLnBrk="1" hangingPunct="1"/>
            <a:r>
              <a:rPr lang="zh-CN" altLang="en-US" dirty="0"/>
              <a:t>实体型之间的联系</a:t>
            </a:r>
            <a:r>
              <a:rPr lang="en-US" altLang="zh-CN" dirty="0"/>
              <a:t>(</a:t>
            </a:r>
            <a:r>
              <a:rPr lang="zh-CN" altLang="en-US" dirty="0"/>
              <a:t>续</a:t>
            </a:r>
            <a:r>
              <a:rPr lang="en-US" altLang="zh-CN" dirty="0"/>
              <a:t>)</a:t>
            </a:r>
            <a:endParaRPr lang="en-US" altLang="zh-CN" dirty="0"/>
          </a:p>
        </p:txBody>
      </p:sp>
      <p:grpSp>
        <p:nvGrpSpPr>
          <p:cNvPr id="90117" name="Group 4"/>
          <p:cNvGrpSpPr/>
          <p:nvPr/>
        </p:nvGrpSpPr>
        <p:grpSpPr>
          <a:xfrm>
            <a:off x="3733800" y="1371600"/>
            <a:ext cx="1219200" cy="1841500"/>
            <a:chOff x="4048" y="1536"/>
            <a:chExt cx="768" cy="1160"/>
          </a:xfrm>
        </p:grpSpPr>
        <p:grpSp>
          <p:nvGrpSpPr>
            <p:cNvPr id="90136" name="Group 5"/>
            <p:cNvGrpSpPr/>
            <p:nvPr/>
          </p:nvGrpSpPr>
          <p:grpSpPr>
            <a:xfrm>
              <a:off x="4048" y="1536"/>
              <a:ext cx="768" cy="1160"/>
              <a:chOff x="672" y="1536"/>
              <a:chExt cx="768" cy="1160"/>
            </a:xfrm>
          </p:grpSpPr>
          <p:grpSp>
            <p:nvGrpSpPr>
              <p:cNvPr id="90143" name="Group 6"/>
              <p:cNvGrpSpPr/>
              <p:nvPr/>
            </p:nvGrpSpPr>
            <p:grpSpPr>
              <a:xfrm>
                <a:off x="672" y="1536"/>
                <a:ext cx="144" cy="1160"/>
                <a:chOff x="672" y="1536"/>
                <a:chExt cx="144" cy="1160"/>
              </a:xfrm>
            </p:grpSpPr>
            <p:sp>
              <p:nvSpPr>
                <p:cNvPr id="90149" name="Oval 7"/>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90150" name="Oval 8"/>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90151" name="Oval 9"/>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90152" name="Oval 10"/>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nvGrpSpPr>
              <p:cNvPr id="90144" name="Group 11"/>
              <p:cNvGrpSpPr/>
              <p:nvPr/>
            </p:nvGrpSpPr>
            <p:grpSpPr>
              <a:xfrm>
                <a:off x="1296" y="1536"/>
                <a:ext cx="144" cy="1160"/>
                <a:chOff x="672" y="1536"/>
                <a:chExt cx="144" cy="1160"/>
              </a:xfrm>
            </p:grpSpPr>
            <p:sp>
              <p:nvSpPr>
                <p:cNvPr id="90145" name="Oval 12"/>
                <p:cNvSpPr/>
                <p:nvPr/>
              </p:nvSpPr>
              <p:spPr>
                <a:xfrm>
                  <a:off x="672" y="153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90146" name="Oval 13"/>
                <p:cNvSpPr/>
                <p:nvPr/>
              </p:nvSpPr>
              <p:spPr>
                <a:xfrm>
                  <a:off x="672" y="187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90147" name="Oval 14"/>
                <p:cNvSpPr/>
                <p:nvPr/>
              </p:nvSpPr>
              <p:spPr>
                <a:xfrm>
                  <a:off x="672" y="2216"/>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90148" name="Oval 15"/>
                <p:cNvSpPr/>
                <p:nvPr/>
              </p:nvSpPr>
              <p:spPr>
                <a:xfrm>
                  <a:off x="672" y="2552"/>
                  <a:ext cx="144" cy="144"/>
                </a:xfrm>
                <a:prstGeom prst="ellipse">
                  <a:avLst/>
                </a:prstGeom>
                <a:solidFill>
                  <a:srgbClr val="3366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grpSp>
        <p:sp>
          <p:nvSpPr>
            <p:cNvPr id="90137" name="Line 16"/>
            <p:cNvSpPr/>
            <p:nvPr/>
          </p:nvSpPr>
          <p:spPr>
            <a:xfrm>
              <a:off x="4176" y="1968"/>
              <a:ext cx="480" cy="624"/>
            </a:xfrm>
            <a:prstGeom prst="line">
              <a:avLst/>
            </a:prstGeom>
            <a:ln w="9525" cap="flat" cmpd="sng">
              <a:solidFill>
                <a:schemeClr val="tx1"/>
              </a:solidFill>
              <a:prstDash val="solid"/>
              <a:headEnd type="none" w="med" len="med"/>
              <a:tailEnd type="none" w="med" len="med"/>
            </a:ln>
          </p:spPr>
        </p:sp>
        <p:sp>
          <p:nvSpPr>
            <p:cNvPr id="90138" name="Line 17"/>
            <p:cNvSpPr/>
            <p:nvPr/>
          </p:nvSpPr>
          <p:spPr>
            <a:xfrm>
              <a:off x="4200" y="1592"/>
              <a:ext cx="480" cy="0"/>
            </a:xfrm>
            <a:prstGeom prst="line">
              <a:avLst/>
            </a:prstGeom>
            <a:ln w="9525" cap="flat" cmpd="sng">
              <a:solidFill>
                <a:schemeClr val="tx1"/>
              </a:solidFill>
              <a:prstDash val="solid"/>
              <a:headEnd type="none" w="med" len="med"/>
              <a:tailEnd type="none" w="med" len="med"/>
            </a:ln>
          </p:spPr>
        </p:sp>
        <p:sp>
          <p:nvSpPr>
            <p:cNvPr id="90139" name="Line 18"/>
            <p:cNvSpPr/>
            <p:nvPr/>
          </p:nvSpPr>
          <p:spPr>
            <a:xfrm flipV="1">
              <a:off x="4200" y="1616"/>
              <a:ext cx="480" cy="336"/>
            </a:xfrm>
            <a:prstGeom prst="line">
              <a:avLst/>
            </a:prstGeom>
            <a:ln w="9525" cap="flat" cmpd="sng">
              <a:solidFill>
                <a:schemeClr val="tx1"/>
              </a:solidFill>
              <a:prstDash val="solid"/>
              <a:headEnd type="none" w="med" len="med"/>
              <a:tailEnd type="none" w="med" len="med"/>
            </a:ln>
          </p:spPr>
        </p:sp>
        <p:sp>
          <p:nvSpPr>
            <p:cNvPr id="90140" name="Line 19"/>
            <p:cNvSpPr/>
            <p:nvPr/>
          </p:nvSpPr>
          <p:spPr>
            <a:xfrm>
              <a:off x="4200" y="2328"/>
              <a:ext cx="480" cy="288"/>
            </a:xfrm>
            <a:prstGeom prst="line">
              <a:avLst/>
            </a:prstGeom>
            <a:ln w="9525" cap="flat" cmpd="sng">
              <a:solidFill>
                <a:schemeClr val="tx1"/>
              </a:solidFill>
              <a:prstDash val="solid"/>
              <a:headEnd type="none" w="med" len="med"/>
              <a:tailEnd type="none" w="med" len="med"/>
            </a:ln>
          </p:spPr>
        </p:sp>
        <p:sp>
          <p:nvSpPr>
            <p:cNvPr id="90141" name="Line 20"/>
            <p:cNvSpPr/>
            <p:nvPr/>
          </p:nvSpPr>
          <p:spPr>
            <a:xfrm>
              <a:off x="4200" y="1624"/>
              <a:ext cx="480" cy="336"/>
            </a:xfrm>
            <a:prstGeom prst="line">
              <a:avLst/>
            </a:prstGeom>
            <a:ln w="9525" cap="flat" cmpd="sng">
              <a:solidFill>
                <a:schemeClr val="tx1"/>
              </a:solidFill>
              <a:prstDash val="solid"/>
              <a:headEnd type="none" w="med" len="med"/>
              <a:tailEnd type="none" w="med" len="med"/>
            </a:ln>
          </p:spPr>
        </p:sp>
        <p:sp>
          <p:nvSpPr>
            <p:cNvPr id="90142" name="Line 21"/>
            <p:cNvSpPr/>
            <p:nvPr/>
          </p:nvSpPr>
          <p:spPr>
            <a:xfrm flipV="1">
              <a:off x="4200" y="1952"/>
              <a:ext cx="480" cy="336"/>
            </a:xfrm>
            <a:prstGeom prst="line">
              <a:avLst/>
            </a:prstGeom>
            <a:ln w="9525" cap="flat" cmpd="sng">
              <a:solidFill>
                <a:schemeClr val="tx1"/>
              </a:solidFill>
              <a:prstDash val="solid"/>
              <a:headEnd type="none" w="med" len="med"/>
              <a:tailEnd type="none" w="med" len="med"/>
            </a:ln>
          </p:spPr>
        </p:sp>
      </p:grpSp>
      <p:grpSp>
        <p:nvGrpSpPr>
          <p:cNvPr id="90118" name="Group 22"/>
          <p:cNvGrpSpPr/>
          <p:nvPr/>
        </p:nvGrpSpPr>
        <p:grpSpPr>
          <a:xfrm>
            <a:off x="5562600" y="4114800"/>
            <a:ext cx="2298700" cy="2209800"/>
            <a:chOff x="624" y="2256"/>
            <a:chExt cx="1448" cy="1392"/>
          </a:xfrm>
        </p:grpSpPr>
        <p:sp>
          <p:nvSpPr>
            <p:cNvPr id="90132" name="Text Box 23"/>
            <p:cNvSpPr txBox="1"/>
            <p:nvPr/>
          </p:nvSpPr>
          <p:spPr>
            <a:xfrm>
              <a:off x="640" y="2256"/>
              <a:ext cx="1432" cy="10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代号        课程名称</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CS180      </a:t>
              </a:r>
              <a:r>
                <a:rPr lang="zh-CN" altLang="en-US" sz="2000" b="0" dirty="0">
                  <a:solidFill>
                    <a:schemeClr val="tx1"/>
                  </a:solidFill>
                  <a:cs typeface="Arial" panose="020B0604020202020204" pitchFamily="34" charset="0"/>
                </a:rPr>
                <a:t>数据库</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CS182      </a:t>
              </a:r>
              <a:r>
                <a:rPr lang="zh-CN" altLang="en-US" sz="2000" b="0" dirty="0">
                  <a:solidFill>
                    <a:schemeClr val="tx1"/>
                  </a:solidFill>
                  <a:cs typeface="Arial" panose="020B0604020202020204" pitchFamily="34" charset="0"/>
                </a:rPr>
                <a:t>操作系统</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CD145     </a:t>
              </a:r>
              <a:r>
                <a:rPr lang="zh-CN" altLang="en-US" sz="2000" b="0" dirty="0">
                  <a:solidFill>
                    <a:schemeClr val="tx1"/>
                  </a:solidFill>
                  <a:cs typeface="Arial" panose="020B0604020202020204" pitchFamily="34" charset="0"/>
                </a:rPr>
                <a:t>数据结构</a:t>
              </a:r>
              <a:endParaRPr lang="zh-CN" altLang="en-US" sz="2000" b="0" dirty="0">
                <a:solidFill>
                  <a:schemeClr val="tx1"/>
                </a:solidFill>
                <a:ea typeface="Arial" panose="020B0604020202020204" pitchFamily="34" charset="0"/>
              </a:endParaRPr>
            </a:p>
          </p:txBody>
        </p:sp>
        <p:sp>
          <p:nvSpPr>
            <p:cNvPr id="90133" name="Line 24"/>
            <p:cNvSpPr/>
            <p:nvPr/>
          </p:nvSpPr>
          <p:spPr>
            <a:xfrm>
              <a:off x="624" y="2608"/>
              <a:ext cx="1200" cy="0"/>
            </a:xfrm>
            <a:prstGeom prst="line">
              <a:avLst/>
            </a:prstGeom>
            <a:ln w="9525" cap="flat" cmpd="sng">
              <a:solidFill>
                <a:schemeClr val="tx1"/>
              </a:solidFill>
              <a:prstDash val="solid"/>
              <a:headEnd type="none" w="med" len="med"/>
              <a:tailEnd type="none" w="med" len="med"/>
            </a:ln>
          </p:spPr>
        </p:sp>
        <p:sp>
          <p:nvSpPr>
            <p:cNvPr id="90134" name="Line 25"/>
            <p:cNvSpPr/>
            <p:nvPr/>
          </p:nvSpPr>
          <p:spPr>
            <a:xfrm>
              <a:off x="624" y="2568"/>
              <a:ext cx="1200" cy="0"/>
            </a:xfrm>
            <a:prstGeom prst="line">
              <a:avLst/>
            </a:prstGeom>
            <a:ln w="9525" cap="flat" cmpd="sng">
              <a:solidFill>
                <a:schemeClr val="tx1"/>
              </a:solidFill>
              <a:prstDash val="solid"/>
              <a:headEnd type="none" w="med" len="med"/>
              <a:tailEnd type="none" w="med" len="med"/>
            </a:ln>
          </p:spPr>
        </p:sp>
        <p:sp>
          <p:nvSpPr>
            <p:cNvPr id="90135" name="Line 26"/>
            <p:cNvSpPr/>
            <p:nvPr/>
          </p:nvSpPr>
          <p:spPr>
            <a:xfrm>
              <a:off x="1224" y="2296"/>
              <a:ext cx="0" cy="1352"/>
            </a:xfrm>
            <a:prstGeom prst="line">
              <a:avLst/>
            </a:prstGeom>
            <a:ln w="9525" cap="flat" cmpd="sng">
              <a:solidFill>
                <a:schemeClr val="tx1"/>
              </a:solidFill>
              <a:prstDash val="solid"/>
              <a:headEnd type="none" w="med" len="med"/>
              <a:tailEnd type="none" w="med" len="med"/>
            </a:ln>
          </p:spPr>
        </p:sp>
      </p:grpSp>
      <p:grpSp>
        <p:nvGrpSpPr>
          <p:cNvPr id="90119" name="Group 27"/>
          <p:cNvGrpSpPr/>
          <p:nvPr/>
        </p:nvGrpSpPr>
        <p:grpSpPr>
          <a:xfrm>
            <a:off x="1066800" y="4114800"/>
            <a:ext cx="2819400" cy="2057400"/>
            <a:chOff x="3024" y="2256"/>
            <a:chExt cx="1776" cy="1296"/>
          </a:xfrm>
        </p:grpSpPr>
        <p:sp>
          <p:nvSpPr>
            <p:cNvPr id="90127" name="Text Box 28"/>
            <p:cNvSpPr txBox="1"/>
            <p:nvPr/>
          </p:nvSpPr>
          <p:spPr>
            <a:xfrm>
              <a:off x="3040" y="2256"/>
              <a:ext cx="1756" cy="12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学号       姓名         性别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zh-CN" altLang="en-US" sz="2000" b="0" dirty="0">
                  <a:solidFill>
                    <a:schemeClr val="tx1"/>
                  </a:solidFill>
                  <a:cs typeface="Arial" panose="020B0604020202020204" pitchFamily="34" charset="0"/>
                </a:rPr>
                <a:t>    </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01            </a:t>
              </a:r>
              <a:r>
                <a:rPr lang="zh-CN" altLang="en-US" sz="2000" b="0" dirty="0">
                  <a:solidFill>
                    <a:schemeClr val="tx1"/>
                  </a:solidFill>
                  <a:cs typeface="Arial" panose="020B0604020202020204" pitchFamily="34" charset="0"/>
                </a:rPr>
                <a:t>赵</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02            </a:t>
              </a:r>
              <a:r>
                <a:rPr lang="zh-CN" altLang="en-US" sz="2000" b="0" dirty="0">
                  <a:solidFill>
                    <a:schemeClr val="tx1"/>
                  </a:solidFill>
                  <a:cs typeface="Arial" panose="020B0604020202020204" pitchFamily="34" charset="0"/>
                </a:rPr>
                <a:t>钱</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03            </a:t>
              </a:r>
              <a:r>
                <a:rPr lang="zh-CN" altLang="en-US" sz="2000" b="0" dirty="0">
                  <a:solidFill>
                    <a:schemeClr val="tx1"/>
                  </a:solidFill>
                  <a:cs typeface="Arial" panose="020B0604020202020204" pitchFamily="34" charset="0"/>
                </a:rPr>
                <a:t>孙</a:t>
              </a:r>
              <a:endParaRPr lang="zh-CN" altLang="en-US" sz="2000" b="0" dirty="0">
                <a:solidFill>
                  <a:schemeClr val="tx1"/>
                </a:solidFill>
                <a:cs typeface="Arial" panose="020B0604020202020204" pitchFamily="34" charset="0"/>
              </a:endParaRPr>
            </a:p>
            <a:p>
              <a:pPr marL="457200" lvl="0" indent="-457200" eaLnBrk="1" hangingPunct="1">
                <a:spcBef>
                  <a:spcPct val="0"/>
                </a:spcBef>
                <a:buClrTx/>
                <a:buFontTx/>
                <a:buNone/>
              </a:pPr>
              <a:r>
                <a:rPr lang="en-US" altLang="zh-CN" sz="2000" b="0" dirty="0">
                  <a:solidFill>
                    <a:schemeClr val="tx1"/>
                  </a:solidFill>
                  <a:cs typeface="Arial" panose="020B0604020202020204" pitchFamily="34" charset="0"/>
                </a:rPr>
                <a:t>04            </a:t>
              </a:r>
              <a:r>
                <a:rPr lang="zh-CN" altLang="en-US" sz="2000" b="0" dirty="0">
                  <a:solidFill>
                    <a:schemeClr val="tx1"/>
                  </a:solidFill>
                  <a:cs typeface="Arial" panose="020B0604020202020204" pitchFamily="34" charset="0"/>
                </a:rPr>
                <a:t>李</a:t>
              </a:r>
              <a:endParaRPr lang="zh-CN" altLang="en-US" sz="2000" b="0" dirty="0">
                <a:solidFill>
                  <a:schemeClr val="tx1"/>
                </a:solidFill>
                <a:ea typeface="Arial" panose="020B0604020202020204" pitchFamily="34" charset="0"/>
              </a:endParaRPr>
            </a:p>
          </p:txBody>
        </p:sp>
        <p:sp>
          <p:nvSpPr>
            <p:cNvPr id="90128" name="Line 29"/>
            <p:cNvSpPr/>
            <p:nvPr/>
          </p:nvSpPr>
          <p:spPr>
            <a:xfrm>
              <a:off x="3024" y="2608"/>
              <a:ext cx="1776" cy="0"/>
            </a:xfrm>
            <a:prstGeom prst="line">
              <a:avLst/>
            </a:prstGeom>
            <a:ln w="9525" cap="flat" cmpd="sng">
              <a:solidFill>
                <a:schemeClr val="tx1"/>
              </a:solidFill>
              <a:prstDash val="solid"/>
              <a:headEnd type="none" w="med" len="med"/>
              <a:tailEnd type="none" w="med" len="med"/>
            </a:ln>
          </p:spPr>
        </p:sp>
        <p:sp>
          <p:nvSpPr>
            <p:cNvPr id="90129" name="Line 30"/>
            <p:cNvSpPr/>
            <p:nvPr/>
          </p:nvSpPr>
          <p:spPr>
            <a:xfrm>
              <a:off x="3024" y="2568"/>
              <a:ext cx="1776" cy="0"/>
            </a:xfrm>
            <a:prstGeom prst="line">
              <a:avLst/>
            </a:prstGeom>
            <a:ln w="9525" cap="flat" cmpd="sng">
              <a:solidFill>
                <a:schemeClr val="tx1"/>
              </a:solidFill>
              <a:prstDash val="solid"/>
              <a:headEnd type="none" w="med" len="med"/>
              <a:tailEnd type="none" w="med" len="med"/>
            </a:ln>
          </p:spPr>
        </p:sp>
        <p:sp>
          <p:nvSpPr>
            <p:cNvPr id="90130" name="Line 31"/>
            <p:cNvSpPr/>
            <p:nvPr/>
          </p:nvSpPr>
          <p:spPr>
            <a:xfrm>
              <a:off x="3624" y="2296"/>
              <a:ext cx="0" cy="1256"/>
            </a:xfrm>
            <a:prstGeom prst="line">
              <a:avLst/>
            </a:prstGeom>
            <a:ln w="9525" cap="flat" cmpd="sng">
              <a:solidFill>
                <a:schemeClr val="tx1"/>
              </a:solidFill>
              <a:prstDash val="solid"/>
              <a:headEnd type="none" w="med" len="med"/>
              <a:tailEnd type="none" w="med" len="med"/>
            </a:ln>
          </p:spPr>
        </p:sp>
        <p:sp>
          <p:nvSpPr>
            <p:cNvPr id="90131" name="Line 32"/>
            <p:cNvSpPr/>
            <p:nvPr/>
          </p:nvSpPr>
          <p:spPr>
            <a:xfrm>
              <a:off x="4176" y="2304"/>
              <a:ext cx="0" cy="1248"/>
            </a:xfrm>
            <a:prstGeom prst="line">
              <a:avLst/>
            </a:prstGeom>
            <a:ln w="9525" cap="flat" cmpd="sng">
              <a:solidFill>
                <a:schemeClr val="tx1"/>
              </a:solidFill>
              <a:prstDash val="solid"/>
              <a:headEnd type="none" w="med" len="med"/>
              <a:tailEnd type="none" w="med" len="med"/>
            </a:ln>
          </p:spPr>
        </p:sp>
      </p:grpSp>
      <p:sp>
        <p:nvSpPr>
          <p:cNvPr id="90120" name="Text Box 33"/>
          <p:cNvSpPr txBox="1"/>
          <p:nvPr/>
        </p:nvSpPr>
        <p:spPr>
          <a:xfrm>
            <a:off x="1143000" y="2819400"/>
            <a:ext cx="17589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chemeClr val="tx1"/>
                </a:solidFill>
                <a:cs typeface="Arial" panose="020B0604020202020204" pitchFamily="34" charset="0"/>
              </a:rPr>
              <a:t>Students</a:t>
            </a:r>
            <a:endParaRPr lang="en-US" altLang="zh-CN" sz="3600" b="0" dirty="0">
              <a:solidFill>
                <a:schemeClr val="tx1"/>
              </a:solidFill>
              <a:ea typeface="Arial" panose="020B0604020202020204" pitchFamily="34" charset="0"/>
            </a:endParaRPr>
          </a:p>
        </p:txBody>
      </p:sp>
      <p:sp>
        <p:nvSpPr>
          <p:cNvPr id="90121" name="Text Box 34"/>
          <p:cNvSpPr txBox="1"/>
          <p:nvPr/>
        </p:nvSpPr>
        <p:spPr>
          <a:xfrm>
            <a:off x="5562600" y="2743200"/>
            <a:ext cx="16573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chemeClr val="tx1"/>
                </a:solidFill>
                <a:cs typeface="Arial" panose="020B0604020202020204" pitchFamily="34" charset="0"/>
              </a:rPr>
              <a:t>Courses</a:t>
            </a:r>
            <a:endParaRPr lang="en-US" altLang="zh-CN" sz="3600" b="0" dirty="0">
              <a:solidFill>
                <a:schemeClr val="tx1"/>
              </a:solidFill>
              <a:ea typeface="Arial" panose="020B0604020202020204" pitchFamily="34" charset="0"/>
            </a:endParaRPr>
          </a:p>
        </p:txBody>
      </p:sp>
      <p:sp>
        <p:nvSpPr>
          <p:cNvPr id="90122" name="Line 35"/>
          <p:cNvSpPr/>
          <p:nvPr/>
        </p:nvSpPr>
        <p:spPr>
          <a:xfrm>
            <a:off x="2590800" y="4953000"/>
            <a:ext cx="3048000" cy="0"/>
          </a:xfrm>
          <a:prstGeom prst="line">
            <a:avLst/>
          </a:prstGeom>
          <a:ln w="38100" cap="flat" cmpd="sng">
            <a:solidFill>
              <a:srgbClr val="FF3300"/>
            </a:solidFill>
            <a:prstDash val="solid"/>
            <a:headEnd type="none" w="med" len="med"/>
            <a:tailEnd type="none" w="med" len="med"/>
          </a:ln>
        </p:spPr>
      </p:sp>
      <p:sp>
        <p:nvSpPr>
          <p:cNvPr id="90123" name="Line 36"/>
          <p:cNvSpPr/>
          <p:nvPr/>
        </p:nvSpPr>
        <p:spPr>
          <a:xfrm>
            <a:off x="2590800" y="5029200"/>
            <a:ext cx="3048000" cy="457200"/>
          </a:xfrm>
          <a:prstGeom prst="line">
            <a:avLst/>
          </a:prstGeom>
          <a:ln w="38100" cap="flat" cmpd="sng">
            <a:solidFill>
              <a:srgbClr val="FF3300"/>
            </a:solidFill>
            <a:prstDash val="solid"/>
            <a:headEnd type="none" w="med" len="med"/>
            <a:tailEnd type="none" w="med" len="med"/>
          </a:ln>
        </p:spPr>
      </p:sp>
      <p:sp>
        <p:nvSpPr>
          <p:cNvPr id="90124" name="Line 37"/>
          <p:cNvSpPr/>
          <p:nvPr/>
        </p:nvSpPr>
        <p:spPr>
          <a:xfrm flipV="1">
            <a:off x="2590800" y="5029200"/>
            <a:ext cx="3048000" cy="152400"/>
          </a:xfrm>
          <a:prstGeom prst="line">
            <a:avLst/>
          </a:prstGeom>
          <a:ln w="38100" cap="flat" cmpd="sng">
            <a:solidFill>
              <a:srgbClr val="FF3300"/>
            </a:solidFill>
            <a:prstDash val="solid"/>
            <a:headEnd type="none" w="med" len="med"/>
            <a:tailEnd type="none" w="med" len="med"/>
          </a:ln>
        </p:spPr>
      </p:sp>
      <p:sp>
        <p:nvSpPr>
          <p:cNvPr id="90125" name="Text Box 38"/>
          <p:cNvSpPr txBox="1"/>
          <p:nvPr/>
        </p:nvSpPr>
        <p:spPr>
          <a:xfrm>
            <a:off x="3962400" y="4067175"/>
            <a:ext cx="1200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4000" b="0" dirty="0">
                <a:cs typeface="Arial" panose="020B0604020202020204" pitchFamily="34" charset="0"/>
              </a:rPr>
              <a:t>选修</a:t>
            </a:r>
            <a:endParaRPr lang="zh-CN" altLang="en-US" sz="4000" b="0" dirty="0">
              <a:ea typeface="Arial" panose="020B0604020202020204" pitchFamily="34" charset="0"/>
            </a:endParaRPr>
          </a:p>
        </p:txBody>
      </p:sp>
      <p:sp>
        <p:nvSpPr>
          <p:cNvPr id="90126" name="Line 39"/>
          <p:cNvSpPr/>
          <p:nvPr/>
        </p:nvSpPr>
        <p:spPr>
          <a:xfrm>
            <a:off x="2590800" y="5334000"/>
            <a:ext cx="3124200" cy="0"/>
          </a:xfrm>
          <a:prstGeom prst="line">
            <a:avLst/>
          </a:prstGeom>
          <a:ln w="38100" cap="flat" cmpd="sng">
            <a:solidFill>
              <a:srgbClr val="FF3300"/>
            </a:solidFill>
            <a:prstDash val="solid"/>
            <a:headEnd type="none" w="med" len="med"/>
            <a:tailEnd type="none" w="med" len="med"/>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113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91140" name="Rectangle 3"/>
          <p:cNvSpPr>
            <a:spLocks noGrp="1"/>
          </p:cNvSpPr>
          <p:nvPr>
            <p:ph idx="1"/>
          </p:nvPr>
        </p:nvSpPr>
        <p:spPr>
          <a:xfrm>
            <a:off x="228600" y="762000"/>
            <a:ext cx="8686800" cy="4495800"/>
          </a:xfrm>
          <a:ln/>
        </p:spPr>
        <p:txBody>
          <a:bodyPr vert="horz" wrap="square" lIns="91440" tIns="45720" rIns="91440" bIns="45720" anchor="t" anchorCtr="0"/>
          <a:p>
            <a:pPr marL="609600" indent="-609600">
              <a:spcBef>
                <a:spcPct val="0"/>
              </a:spcBef>
              <a:buClrTx/>
            </a:pPr>
            <a:r>
              <a:rPr lang="zh-CN" altLang="en-US" dirty="0"/>
              <a:t>概念模型的表示方法</a:t>
            </a:r>
            <a:r>
              <a:rPr lang="en-US" altLang="zh-CN" dirty="0"/>
              <a:t>: E-R</a:t>
            </a:r>
            <a:r>
              <a:rPr lang="zh-CN" altLang="en-US" dirty="0"/>
              <a:t>方法</a:t>
            </a:r>
            <a:endParaRPr lang="zh-CN" altLang="en-US" dirty="0"/>
          </a:p>
          <a:p>
            <a:pPr marL="990600" lvl="1" indent="-533400" eaLnBrk="1" hangingPunct="1"/>
            <a:r>
              <a:rPr lang="en-US" altLang="zh-CN" dirty="0"/>
              <a:t>P.P.Chen,1976: Entity-Relationship Diagram</a:t>
            </a:r>
            <a:endParaRPr lang="en-US" altLang="zh-CN" dirty="0"/>
          </a:p>
          <a:p>
            <a:pPr marL="990600" lvl="1" indent="-533400" eaLnBrk="1" hangingPunct="1"/>
            <a:r>
              <a:rPr lang="zh-CN" altLang="en-US" dirty="0"/>
              <a:t>三要素</a:t>
            </a:r>
            <a:r>
              <a:rPr lang="en-US" altLang="zh-CN" dirty="0"/>
              <a:t>:</a:t>
            </a:r>
            <a:r>
              <a:rPr lang="zh-CN" altLang="en-US" dirty="0"/>
              <a:t>实体型、属性和联系</a:t>
            </a:r>
            <a:endParaRPr lang="zh-CN" altLang="en-US" dirty="0"/>
          </a:p>
          <a:p>
            <a:pPr marL="990600" lvl="1" indent="-533400" eaLnBrk="1" hangingPunct="1"/>
            <a:r>
              <a:rPr lang="zh-CN" altLang="en-US" dirty="0"/>
              <a:t>直观的图形表示：四个基本成分</a:t>
            </a:r>
            <a:endParaRPr lang="zh-CN" altLang="en-US" dirty="0"/>
          </a:p>
          <a:p>
            <a:pPr marL="1371600" lvl="2" indent="-457200" eaLnBrk="1" hangingPunct="1">
              <a:buClr>
                <a:schemeClr val="tx1"/>
              </a:buClr>
            </a:pPr>
            <a:r>
              <a:rPr lang="zh-CN" altLang="en-US" sz="2000" dirty="0">
                <a:latin typeface="楷体_GB2312" pitchFamily="49" charset="-122"/>
              </a:rPr>
              <a:t>矩形框 </a:t>
            </a:r>
            <a:r>
              <a:rPr lang="en-US" altLang="zh-CN" sz="2000" dirty="0"/>
              <a:t>–</a:t>
            </a:r>
            <a:r>
              <a:rPr lang="en-US" altLang="zh-CN" sz="2000" dirty="0">
                <a:latin typeface="楷体_GB2312" pitchFamily="49" charset="-122"/>
              </a:rPr>
              <a:t> </a:t>
            </a:r>
            <a:r>
              <a:rPr lang="zh-CN" altLang="en-US" sz="2000" dirty="0">
                <a:latin typeface="楷体_GB2312" pitchFamily="49" charset="-122"/>
              </a:rPr>
              <a:t>实体型</a:t>
            </a:r>
            <a:r>
              <a:rPr lang="en-US" altLang="zh-CN" sz="2000" dirty="0">
                <a:latin typeface="楷体_GB2312" pitchFamily="49" charset="-122"/>
              </a:rPr>
              <a:t>,</a:t>
            </a:r>
            <a:r>
              <a:rPr lang="zh-CN" altLang="en-US" sz="2000" dirty="0">
                <a:latin typeface="楷体_GB2312" pitchFamily="49" charset="-122"/>
              </a:rPr>
              <a:t>框内标明实体名</a:t>
            </a:r>
            <a:endParaRPr lang="zh-CN" altLang="en-US" sz="2000" dirty="0">
              <a:latin typeface="楷体_GB2312" pitchFamily="49" charset="-122"/>
            </a:endParaRPr>
          </a:p>
          <a:p>
            <a:pPr marL="1371600" lvl="2" indent="-457200" eaLnBrk="1" hangingPunct="1">
              <a:buClr>
                <a:schemeClr val="tx1"/>
              </a:buClr>
            </a:pPr>
            <a:r>
              <a:rPr lang="zh-CN" altLang="en-US" sz="2000" dirty="0">
                <a:latin typeface="楷体_GB2312" pitchFamily="49" charset="-122"/>
              </a:rPr>
              <a:t>菱形框 </a:t>
            </a:r>
            <a:r>
              <a:rPr lang="en-US" altLang="zh-CN" sz="2000" dirty="0"/>
              <a:t>–</a:t>
            </a:r>
            <a:r>
              <a:rPr lang="en-US" altLang="zh-CN" sz="2000" dirty="0">
                <a:latin typeface="楷体_GB2312" pitchFamily="49" charset="-122"/>
              </a:rPr>
              <a:t> </a:t>
            </a:r>
            <a:r>
              <a:rPr lang="zh-CN" altLang="en-US" sz="2000" dirty="0">
                <a:latin typeface="楷体_GB2312" pitchFamily="49" charset="-122"/>
              </a:rPr>
              <a:t>联系类型</a:t>
            </a:r>
            <a:endParaRPr lang="zh-CN" altLang="en-US" sz="2000" dirty="0">
              <a:latin typeface="楷体_GB2312" pitchFamily="49" charset="-122"/>
            </a:endParaRPr>
          </a:p>
          <a:p>
            <a:pPr marL="1371600" lvl="2" indent="-457200" eaLnBrk="1" hangingPunct="1">
              <a:buClr>
                <a:schemeClr val="tx1"/>
              </a:buClr>
            </a:pPr>
            <a:r>
              <a:rPr lang="zh-CN" altLang="en-US" sz="2000" dirty="0">
                <a:latin typeface="楷体_GB2312" pitchFamily="49" charset="-122"/>
              </a:rPr>
              <a:t>椭圆形框 </a:t>
            </a:r>
            <a:r>
              <a:rPr lang="en-US" altLang="zh-CN" sz="2000" dirty="0"/>
              <a:t>–</a:t>
            </a:r>
            <a:r>
              <a:rPr lang="en-US" altLang="zh-CN" sz="2000" dirty="0">
                <a:latin typeface="楷体_GB2312" pitchFamily="49" charset="-122"/>
              </a:rPr>
              <a:t> </a:t>
            </a:r>
            <a:r>
              <a:rPr lang="zh-CN" altLang="en-US" sz="2000" dirty="0">
                <a:latin typeface="楷体_GB2312" pitchFamily="49" charset="-122"/>
              </a:rPr>
              <a:t>实体型与联系类型的属性</a:t>
            </a:r>
            <a:endParaRPr lang="zh-CN" altLang="en-US" sz="2000" dirty="0">
              <a:latin typeface="楷体_GB2312" pitchFamily="49" charset="-122"/>
            </a:endParaRPr>
          </a:p>
          <a:p>
            <a:pPr marL="1371600" lvl="2" indent="-457200" eaLnBrk="1" hangingPunct="1">
              <a:buClr>
                <a:schemeClr val="tx1"/>
              </a:buClr>
            </a:pPr>
            <a:r>
              <a:rPr lang="zh-CN" altLang="en-US" sz="2000" dirty="0">
                <a:latin typeface="楷体_GB2312" pitchFamily="49" charset="-122"/>
              </a:rPr>
              <a:t>直线 </a:t>
            </a:r>
            <a:r>
              <a:rPr lang="en-US" altLang="zh-CN" sz="2000" dirty="0"/>
              <a:t>–</a:t>
            </a:r>
            <a:r>
              <a:rPr lang="en-US" altLang="zh-CN" sz="2000" dirty="0">
                <a:latin typeface="楷体_GB2312" pitchFamily="49" charset="-122"/>
              </a:rPr>
              <a:t> </a:t>
            </a:r>
            <a:r>
              <a:rPr lang="zh-CN" altLang="en-US" sz="2000" dirty="0">
                <a:latin typeface="楷体_GB2312" pitchFamily="49" charset="-122"/>
              </a:rPr>
              <a:t>实体与属性间，以及实体型与联系之间用直线相连，线旁标注联系的种类</a:t>
            </a:r>
            <a:r>
              <a:rPr lang="en-US" altLang="zh-CN" sz="2000" dirty="0"/>
              <a:t>(1:1, 1:N, M:N</a:t>
            </a:r>
            <a:r>
              <a:rPr lang="en-US" altLang="zh-CN" sz="2000" dirty="0">
                <a:latin typeface="楷体_GB2312" pitchFamily="49" charset="-122"/>
              </a:rPr>
              <a:t>)</a:t>
            </a:r>
            <a:endParaRPr lang="en-US" altLang="zh-CN" sz="2000" dirty="0">
              <a:latin typeface="楷体_GB2312" pitchFamily="49" charset="-122"/>
            </a:endParaRPr>
          </a:p>
          <a:p>
            <a:pPr marL="1371600" lvl="2" indent="-457200" eaLnBrk="1" hangingPunct="1">
              <a:buClr>
                <a:schemeClr val="tx1"/>
              </a:buClr>
            </a:pPr>
            <a:endParaRPr lang="en-US" altLang="zh-CN" sz="2000" dirty="0">
              <a:latin typeface="楷体_GB2312"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6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92164" name="Rectangle 3"/>
          <p:cNvSpPr>
            <a:spLocks noGrp="1"/>
          </p:cNvSpPr>
          <p:nvPr>
            <p:ph idx="1"/>
          </p:nvPr>
        </p:nvSpPr>
        <p:spPr>
          <a:xfrm>
            <a:off x="457200" y="1143000"/>
            <a:ext cx="7848600" cy="1600200"/>
          </a:xfrm>
          <a:ln/>
        </p:spPr>
        <p:txBody>
          <a:bodyPr vert="horz" wrap="square" lIns="91440" tIns="45720" rIns="91440" bIns="45720" anchor="t" anchorCtr="0"/>
          <a:p>
            <a:pPr marL="609600" indent="-609600" eaLnBrk="1" hangingPunct="1"/>
            <a:r>
              <a:rPr lang="zh-CN" altLang="en-US" dirty="0"/>
              <a:t>实体型</a:t>
            </a:r>
            <a:endParaRPr lang="zh-CN" altLang="en-US" dirty="0"/>
          </a:p>
          <a:p>
            <a:pPr marL="990600" lvl="1" indent="-533400" eaLnBrk="1" hangingPunct="1"/>
            <a:r>
              <a:rPr lang="zh-CN" altLang="en-US" dirty="0"/>
              <a:t>用矩形表示，矩形框内写明实体名。</a:t>
            </a:r>
            <a:endParaRPr lang="zh-CN" altLang="en-US" dirty="0"/>
          </a:p>
          <a:p>
            <a:pPr marL="990600" lvl="1" indent="-533400" eaLnBrk="1" hangingPunct="1">
              <a:lnSpc>
                <a:spcPct val="90000"/>
              </a:lnSpc>
              <a:buNone/>
            </a:pPr>
            <a:endParaRPr lang="zh-CN" altLang="en-US" dirty="0"/>
          </a:p>
        </p:txBody>
      </p:sp>
      <p:sp>
        <p:nvSpPr>
          <p:cNvPr id="92165" name="Text Box 4"/>
          <p:cNvSpPr txBox="1"/>
          <p:nvPr/>
        </p:nvSpPr>
        <p:spPr>
          <a:xfrm>
            <a:off x="2438400" y="3581400"/>
            <a:ext cx="914400" cy="466725"/>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dirty="0">
                <a:solidFill>
                  <a:schemeClr val="tx1"/>
                </a:solidFill>
                <a:cs typeface="Arial" panose="020B0604020202020204" pitchFamily="34" charset="0"/>
              </a:rPr>
              <a:t>学生</a:t>
            </a:r>
            <a:endParaRPr lang="zh-CN" altLang="en-US" sz="2400" b="0" dirty="0">
              <a:solidFill>
                <a:schemeClr val="tx1"/>
              </a:solidFill>
              <a:ea typeface="Arial" panose="020B0604020202020204" pitchFamily="34" charset="0"/>
            </a:endParaRPr>
          </a:p>
        </p:txBody>
      </p:sp>
      <p:sp>
        <p:nvSpPr>
          <p:cNvPr id="92166" name="Text Box 5"/>
          <p:cNvSpPr txBox="1"/>
          <p:nvPr/>
        </p:nvSpPr>
        <p:spPr>
          <a:xfrm>
            <a:off x="5105400" y="3581400"/>
            <a:ext cx="838200" cy="466725"/>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dirty="0">
                <a:solidFill>
                  <a:schemeClr val="tx1"/>
                </a:solidFill>
                <a:cs typeface="Arial" panose="020B0604020202020204" pitchFamily="34" charset="0"/>
              </a:rPr>
              <a:t>教师</a:t>
            </a:r>
            <a:endParaRPr lang="zh-CN" altLang="en-US" sz="2400" dirty="0">
              <a:solidFill>
                <a:schemeClr val="tx1"/>
              </a:solidFill>
              <a:ea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318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93188" name="Rectangle 3"/>
          <p:cNvSpPr>
            <a:spLocks noGrp="1"/>
          </p:cNvSpPr>
          <p:nvPr>
            <p:ph idx="1"/>
          </p:nvPr>
        </p:nvSpPr>
        <p:spPr>
          <a:xfrm>
            <a:off x="457200" y="1143000"/>
            <a:ext cx="7848600" cy="1600200"/>
          </a:xfrm>
          <a:ln/>
        </p:spPr>
        <p:txBody>
          <a:bodyPr vert="horz" wrap="square" lIns="91440" tIns="45720" rIns="91440" bIns="45720" anchor="t" anchorCtr="0"/>
          <a:p>
            <a:pPr marL="609600" indent="-609600" eaLnBrk="1" hangingPunct="1"/>
            <a:r>
              <a:rPr lang="zh-CN" altLang="en-US" dirty="0"/>
              <a:t>属性</a:t>
            </a:r>
            <a:endParaRPr lang="zh-CN" altLang="en-US" dirty="0"/>
          </a:p>
          <a:p>
            <a:pPr marL="990600" lvl="1" indent="-533400" eaLnBrk="1" hangingPunct="1"/>
            <a:r>
              <a:rPr lang="zh-CN" altLang="en-US" dirty="0"/>
              <a:t>用椭圆形表示，并用无向边将其与相应的实体连接起来</a:t>
            </a:r>
            <a:endParaRPr lang="zh-CN" altLang="en-US" dirty="0"/>
          </a:p>
          <a:p>
            <a:pPr marL="990600" lvl="1" indent="-533400" eaLnBrk="1" hangingPunct="1">
              <a:lnSpc>
                <a:spcPct val="90000"/>
              </a:lnSpc>
              <a:buNone/>
            </a:pPr>
            <a:endParaRPr lang="zh-CN" altLang="en-US" dirty="0"/>
          </a:p>
        </p:txBody>
      </p:sp>
      <p:grpSp>
        <p:nvGrpSpPr>
          <p:cNvPr id="93189" name="Group 4"/>
          <p:cNvGrpSpPr/>
          <p:nvPr/>
        </p:nvGrpSpPr>
        <p:grpSpPr>
          <a:xfrm>
            <a:off x="1371600" y="3429000"/>
            <a:ext cx="6324600" cy="1524000"/>
            <a:chOff x="1104" y="2256"/>
            <a:chExt cx="3984" cy="960"/>
          </a:xfrm>
        </p:grpSpPr>
        <p:sp>
          <p:nvSpPr>
            <p:cNvPr id="93190" name="Text Box 5"/>
            <p:cNvSpPr txBox="1"/>
            <p:nvPr/>
          </p:nvSpPr>
          <p:spPr>
            <a:xfrm>
              <a:off x="2688" y="2256"/>
              <a:ext cx="57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dirty="0">
                  <a:solidFill>
                    <a:schemeClr val="tx1"/>
                  </a:solidFill>
                  <a:cs typeface="Arial" panose="020B0604020202020204" pitchFamily="34" charset="0"/>
                </a:rPr>
                <a:t>学生</a:t>
              </a:r>
              <a:endParaRPr lang="zh-CN" altLang="en-US" sz="2400" dirty="0">
                <a:solidFill>
                  <a:schemeClr val="tx1"/>
                </a:solidFill>
                <a:ea typeface="Arial" panose="020B0604020202020204" pitchFamily="34" charset="0"/>
              </a:endParaRPr>
            </a:p>
          </p:txBody>
        </p:sp>
        <p:sp>
          <p:nvSpPr>
            <p:cNvPr id="93191" name="Oval 6"/>
            <p:cNvSpPr/>
            <p:nvPr/>
          </p:nvSpPr>
          <p:spPr>
            <a:xfrm>
              <a:off x="1104" y="2928"/>
              <a:ext cx="720" cy="2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学号</a:t>
              </a:r>
              <a:endParaRPr lang="zh-CN" altLang="en-US" sz="2400" b="0" dirty="0">
                <a:solidFill>
                  <a:schemeClr val="tx1"/>
                </a:solidFill>
                <a:ea typeface="Arial" panose="020B0604020202020204" pitchFamily="34" charset="0"/>
              </a:endParaRPr>
            </a:p>
          </p:txBody>
        </p:sp>
        <p:sp>
          <p:nvSpPr>
            <p:cNvPr id="93192" name="Oval 7"/>
            <p:cNvSpPr/>
            <p:nvPr/>
          </p:nvSpPr>
          <p:spPr>
            <a:xfrm>
              <a:off x="4368" y="2880"/>
              <a:ext cx="720" cy="2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年龄</a:t>
              </a:r>
              <a:endParaRPr lang="zh-CN" altLang="en-US" sz="2400" b="0" dirty="0">
                <a:solidFill>
                  <a:schemeClr val="tx1"/>
                </a:solidFill>
                <a:ea typeface="Arial" panose="020B0604020202020204" pitchFamily="34" charset="0"/>
              </a:endParaRPr>
            </a:p>
          </p:txBody>
        </p:sp>
        <p:sp>
          <p:nvSpPr>
            <p:cNvPr id="93193" name="Oval 8"/>
            <p:cNvSpPr/>
            <p:nvPr/>
          </p:nvSpPr>
          <p:spPr>
            <a:xfrm>
              <a:off x="3216" y="2928"/>
              <a:ext cx="720" cy="2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性别</a:t>
              </a:r>
              <a:endParaRPr lang="zh-CN" altLang="en-US" sz="2400" b="0" dirty="0">
                <a:solidFill>
                  <a:schemeClr val="tx1"/>
                </a:solidFill>
                <a:ea typeface="Arial" panose="020B0604020202020204" pitchFamily="34" charset="0"/>
              </a:endParaRPr>
            </a:p>
          </p:txBody>
        </p:sp>
        <p:sp>
          <p:nvSpPr>
            <p:cNvPr id="93194" name="Oval 9"/>
            <p:cNvSpPr/>
            <p:nvPr/>
          </p:nvSpPr>
          <p:spPr>
            <a:xfrm>
              <a:off x="2160" y="2928"/>
              <a:ext cx="720" cy="2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姓名</a:t>
              </a:r>
              <a:endParaRPr lang="zh-CN" altLang="en-US" sz="2400" b="0" dirty="0">
                <a:solidFill>
                  <a:schemeClr val="tx1"/>
                </a:solidFill>
                <a:ea typeface="Arial" panose="020B0604020202020204" pitchFamily="34" charset="0"/>
              </a:endParaRPr>
            </a:p>
          </p:txBody>
        </p:sp>
        <p:sp>
          <p:nvSpPr>
            <p:cNvPr id="93195" name="Line 10"/>
            <p:cNvSpPr/>
            <p:nvPr/>
          </p:nvSpPr>
          <p:spPr>
            <a:xfrm flipH="1">
              <a:off x="1536" y="2544"/>
              <a:ext cx="1440" cy="384"/>
            </a:xfrm>
            <a:prstGeom prst="line">
              <a:avLst/>
            </a:prstGeom>
            <a:ln w="9525" cap="flat" cmpd="sng">
              <a:solidFill>
                <a:schemeClr val="tx1"/>
              </a:solidFill>
              <a:prstDash val="solid"/>
              <a:headEnd type="none" w="med" len="med"/>
              <a:tailEnd type="none" w="med" len="med"/>
            </a:ln>
          </p:spPr>
        </p:sp>
        <p:sp>
          <p:nvSpPr>
            <p:cNvPr id="93196" name="Line 11"/>
            <p:cNvSpPr/>
            <p:nvPr/>
          </p:nvSpPr>
          <p:spPr>
            <a:xfrm flipH="1">
              <a:off x="2592" y="2544"/>
              <a:ext cx="336" cy="384"/>
            </a:xfrm>
            <a:prstGeom prst="line">
              <a:avLst/>
            </a:prstGeom>
            <a:ln w="9525" cap="flat" cmpd="sng">
              <a:solidFill>
                <a:schemeClr val="tx1"/>
              </a:solidFill>
              <a:prstDash val="solid"/>
              <a:headEnd type="none" w="med" len="med"/>
              <a:tailEnd type="none" w="med" len="med"/>
            </a:ln>
          </p:spPr>
        </p:sp>
        <p:sp>
          <p:nvSpPr>
            <p:cNvPr id="93197" name="Line 12"/>
            <p:cNvSpPr/>
            <p:nvPr/>
          </p:nvSpPr>
          <p:spPr>
            <a:xfrm>
              <a:off x="2928" y="2544"/>
              <a:ext cx="624" cy="384"/>
            </a:xfrm>
            <a:prstGeom prst="line">
              <a:avLst/>
            </a:prstGeom>
            <a:ln w="9525" cap="flat" cmpd="sng">
              <a:solidFill>
                <a:schemeClr val="tx1"/>
              </a:solidFill>
              <a:prstDash val="solid"/>
              <a:headEnd type="none" w="med" len="med"/>
              <a:tailEnd type="none" w="med" len="med"/>
            </a:ln>
          </p:spPr>
        </p:sp>
        <p:sp>
          <p:nvSpPr>
            <p:cNvPr id="93198" name="Line 13"/>
            <p:cNvSpPr/>
            <p:nvPr/>
          </p:nvSpPr>
          <p:spPr>
            <a:xfrm>
              <a:off x="2928" y="2544"/>
              <a:ext cx="1680" cy="336"/>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421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94212" name="Rectangle 3"/>
          <p:cNvSpPr>
            <a:spLocks noGrp="1"/>
          </p:cNvSpPr>
          <p:nvPr>
            <p:ph idx="1"/>
          </p:nvPr>
        </p:nvSpPr>
        <p:spPr>
          <a:xfrm>
            <a:off x="457200" y="1143000"/>
            <a:ext cx="7848600" cy="4724400"/>
          </a:xfrm>
          <a:ln/>
        </p:spPr>
        <p:txBody>
          <a:bodyPr vert="horz" wrap="square" lIns="91440" tIns="45720" rIns="91440" bIns="45720" anchor="t" anchorCtr="0"/>
          <a:p>
            <a:pPr marL="609600" indent="-609600" eaLnBrk="1" hangingPunct="1"/>
            <a:r>
              <a:rPr lang="zh-CN" altLang="en-US" dirty="0"/>
              <a:t>联系</a:t>
            </a:r>
            <a:endParaRPr lang="zh-CN" altLang="en-US" dirty="0"/>
          </a:p>
          <a:p>
            <a:pPr marL="990600" lvl="1" indent="-533400" eaLnBrk="1" hangingPunct="1">
              <a:lnSpc>
                <a:spcPct val="140000"/>
              </a:lnSpc>
            </a:pPr>
            <a:r>
              <a:rPr lang="zh-CN" altLang="en-US" dirty="0">
                <a:solidFill>
                  <a:schemeClr val="accent2"/>
                </a:solidFill>
              </a:rPr>
              <a:t>联系本身</a:t>
            </a:r>
            <a:r>
              <a:rPr lang="zh-CN" altLang="en-US" dirty="0"/>
              <a:t>：</a:t>
            </a:r>
            <a:r>
              <a:rPr lang="zh-CN" altLang="en-US" sz="2400" dirty="0"/>
              <a:t>用菱形表示，菱形框内写明联系名，并用无向边分别与有关实体连接起来，同时在无向边旁标上联系的类型（</a:t>
            </a:r>
            <a:r>
              <a:rPr lang="en-US" altLang="zh-CN" sz="2400" dirty="0"/>
              <a:t>1:1</a:t>
            </a:r>
            <a:r>
              <a:rPr lang="zh-CN" altLang="en-US" sz="2400" dirty="0"/>
              <a:t>、</a:t>
            </a:r>
            <a:r>
              <a:rPr lang="en-US" altLang="zh-CN" sz="2400" dirty="0"/>
              <a:t>1:n</a:t>
            </a:r>
            <a:r>
              <a:rPr lang="zh-CN" altLang="en-US" sz="2400" dirty="0"/>
              <a:t>或</a:t>
            </a:r>
            <a:r>
              <a:rPr lang="en-US" altLang="zh-CN" sz="2400" dirty="0"/>
              <a:t>m:n</a:t>
            </a:r>
            <a:r>
              <a:rPr lang="zh-CN" altLang="en-US" sz="2400" dirty="0"/>
              <a:t>）  </a:t>
            </a:r>
            <a:endParaRPr lang="zh-CN" altLang="en-US" sz="2400" dirty="0"/>
          </a:p>
          <a:p>
            <a:pPr marL="990600" lvl="1" indent="-533400" eaLnBrk="1" hangingPunct="1">
              <a:lnSpc>
                <a:spcPct val="140000"/>
              </a:lnSpc>
            </a:pPr>
            <a:r>
              <a:rPr lang="zh-CN" altLang="en-US" dirty="0">
                <a:solidFill>
                  <a:schemeClr val="accent2"/>
                </a:solidFill>
              </a:rPr>
              <a:t>联系的属性</a:t>
            </a:r>
            <a:r>
              <a:rPr lang="zh-CN" altLang="en-US" dirty="0"/>
              <a:t>：</a:t>
            </a:r>
            <a:r>
              <a:rPr lang="zh-CN" altLang="en-US" sz="2400" dirty="0"/>
              <a:t>联系本身也是一种实体型，也可以有属性。如果一个联系具有属性，则这些属性也要用无向边与该联系连接起来</a:t>
            </a:r>
            <a:endParaRPr lang="zh-CN" alt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523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95236" name="Rectangle 3"/>
          <p:cNvSpPr>
            <a:spLocks noGrp="1"/>
          </p:cNvSpPr>
          <p:nvPr>
            <p:ph idx="1"/>
          </p:nvPr>
        </p:nvSpPr>
        <p:spPr>
          <a:xfrm>
            <a:off x="457200" y="1143000"/>
            <a:ext cx="7848600" cy="762000"/>
          </a:xfrm>
          <a:ln/>
        </p:spPr>
        <p:txBody>
          <a:bodyPr vert="horz" wrap="square" lIns="91440" tIns="45720" rIns="91440" bIns="45720" anchor="t" anchorCtr="0"/>
          <a:p>
            <a:pPr marL="609600" indent="-609600" eaLnBrk="1" hangingPunct="1"/>
            <a:r>
              <a:rPr lang="zh-CN" altLang="en-US" sz="3600" dirty="0"/>
              <a:t>联系的表示方法</a:t>
            </a:r>
            <a:endParaRPr lang="zh-CN" altLang="en-US" sz="3600" dirty="0"/>
          </a:p>
        </p:txBody>
      </p:sp>
      <p:sp>
        <p:nvSpPr>
          <p:cNvPr id="95237" name="Text Box 4"/>
          <p:cNvSpPr txBox="1"/>
          <p:nvPr/>
        </p:nvSpPr>
        <p:spPr>
          <a:xfrm>
            <a:off x="1508125" y="2200275"/>
            <a:ext cx="1328738" cy="466725"/>
          </a:xfrm>
          <a:prstGeom prst="rect">
            <a:avLst/>
          </a:prstGeom>
          <a:gradFill rotWithShape="0">
            <a:gsLst>
              <a:gs pos="0">
                <a:srgbClr val="FFFF00"/>
              </a:gs>
              <a:gs pos="100000">
                <a:srgbClr val="99FF99"/>
              </a:gs>
            </a:gsLst>
            <a:lin ang="0" scaled="1"/>
            <a:tileRect/>
          </a:gra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cs typeface="Arial" panose="020B0604020202020204" pitchFamily="34" charset="0"/>
              </a:rPr>
              <a:t>实体型</a:t>
            </a:r>
            <a:r>
              <a:rPr lang="en-US" altLang="zh-CN" sz="2400" b="0" dirty="0">
                <a:solidFill>
                  <a:schemeClr val="tx1"/>
                </a:solidFill>
                <a:cs typeface="Arial" panose="020B0604020202020204" pitchFamily="34" charset="0"/>
              </a:rPr>
              <a:t>A</a:t>
            </a:r>
            <a:endParaRPr lang="en-US" altLang="zh-CN" sz="2400" b="0" dirty="0">
              <a:solidFill>
                <a:schemeClr val="tx1"/>
              </a:solidFill>
              <a:ea typeface="Arial" panose="020B0604020202020204" pitchFamily="34" charset="0"/>
            </a:endParaRPr>
          </a:p>
        </p:txBody>
      </p:sp>
      <p:sp>
        <p:nvSpPr>
          <p:cNvPr id="95238" name="Text Box 5"/>
          <p:cNvSpPr txBox="1"/>
          <p:nvPr/>
        </p:nvSpPr>
        <p:spPr>
          <a:xfrm>
            <a:off x="6426200" y="2197100"/>
            <a:ext cx="1328738" cy="466725"/>
          </a:xfrm>
          <a:prstGeom prst="rect">
            <a:avLst/>
          </a:prstGeom>
          <a:gradFill rotWithShape="0">
            <a:gsLst>
              <a:gs pos="0">
                <a:srgbClr val="FFFF00"/>
              </a:gs>
              <a:gs pos="100000">
                <a:srgbClr val="99FF99"/>
              </a:gs>
            </a:gsLst>
            <a:lin ang="0" scaled="1"/>
            <a:tileRect/>
          </a:gra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cs typeface="Arial" panose="020B0604020202020204" pitchFamily="34" charset="0"/>
              </a:rPr>
              <a:t>实体型</a:t>
            </a:r>
            <a:r>
              <a:rPr lang="en-US" altLang="zh-CN" sz="2400" b="0" dirty="0">
                <a:solidFill>
                  <a:schemeClr val="tx1"/>
                </a:solidFill>
                <a:cs typeface="Arial" panose="020B0604020202020204" pitchFamily="34" charset="0"/>
              </a:rPr>
              <a:t>A</a:t>
            </a:r>
            <a:endParaRPr lang="en-US" altLang="zh-CN" sz="2400" b="0" dirty="0">
              <a:solidFill>
                <a:schemeClr val="tx1"/>
              </a:solidFill>
              <a:ea typeface="Arial" panose="020B0604020202020204" pitchFamily="34" charset="0"/>
            </a:endParaRPr>
          </a:p>
        </p:txBody>
      </p:sp>
      <p:sp>
        <p:nvSpPr>
          <p:cNvPr id="95239" name="Text Box 6"/>
          <p:cNvSpPr txBox="1"/>
          <p:nvPr/>
        </p:nvSpPr>
        <p:spPr>
          <a:xfrm>
            <a:off x="3962400" y="2197100"/>
            <a:ext cx="1328738" cy="466725"/>
          </a:xfrm>
          <a:prstGeom prst="rect">
            <a:avLst/>
          </a:prstGeom>
          <a:gradFill rotWithShape="0">
            <a:gsLst>
              <a:gs pos="0">
                <a:srgbClr val="FFFF00"/>
              </a:gs>
              <a:gs pos="100000">
                <a:srgbClr val="99FF99"/>
              </a:gs>
            </a:gsLst>
            <a:lin ang="0" scaled="1"/>
            <a:tileRect/>
          </a:gra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cs typeface="Arial" panose="020B0604020202020204" pitchFamily="34" charset="0"/>
              </a:rPr>
              <a:t>实体型</a:t>
            </a:r>
            <a:r>
              <a:rPr lang="en-US" altLang="zh-CN" sz="2400" b="0" dirty="0">
                <a:solidFill>
                  <a:schemeClr val="tx1"/>
                </a:solidFill>
                <a:cs typeface="Arial" panose="020B0604020202020204" pitchFamily="34" charset="0"/>
              </a:rPr>
              <a:t>A</a:t>
            </a:r>
            <a:endParaRPr lang="en-US" altLang="zh-CN" sz="2400" b="0" dirty="0">
              <a:solidFill>
                <a:schemeClr val="tx1"/>
              </a:solidFill>
              <a:ea typeface="Arial" panose="020B0604020202020204" pitchFamily="34" charset="0"/>
            </a:endParaRPr>
          </a:p>
        </p:txBody>
      </p:sp>
      <p:sp>
        <p:nvSpPr>
          <p:cNvPr id="95240" name="Text Box 7"/>
          <p:cNvSpPr txBox="1"/>
          <p:nvPr/>
        </p:nvSpPr>
        <p:spPr>
          <a:xfrm>
            <a:off x="1511300" y="4584700"/>
            <a:ext cx="1311275" cy="466725"/>
          </a:xfrm>
          <a:prstGeom prst="rect">
            <a:avLst/>
          </a:prstGeom>
          <a:gradFill rotWithShape="0">
            <a:gsLst>
              <a:gs pos="0">
                <a:srgbClr val="FFFF00"/>
              </a:gs>
              <a:gs pos="100000">
                <a:srgbClr val="99FF99"/>
              </a:gs>
            </a:gsLst>
            <a:lin ang="0" scaled="1"/>
            <a:tileRect/>
          </a:gra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cs typeface="Arial" panose="020B0604020202020204" pitchFamily="34" charset="0"/>
              </a:rPr>
              <a:t>实体型</a:t>
            </a:r>
            <a:r>
              <a:rPr lang="en-US" altLang="zh-CN" sz="2400" b="0" dirty="0">
                <a:solidFill>
                  <a:schemeClr val="tx1"/>
                </a:solidFill>
                <a:cs typeface="Arial" panose="020B0604020202020204" pitchFamily="34" charset="0"/>
              </a:rPr>
              <a:t>B</a:t>
            </a:r>
            <a:endParaRPr lang="en-US" altLang="zh-CN" sz="2400" b="0" dirty="0">
              <a:solidFill>
                <a:schemeClr val="tx1"/>
              </a:solidFill>
              <a:ea typeface="Arial" panose="020B0604020202020204" pitchFamily="34" charset="0"/>
            </a:endParaRPr>
          </a:p>
        </p:txBody>
      </p:sp>
      <p:sp>
        <p:nvSpPr>
          <p:cNvPr id="95241" name="Text Box 8"/>
          <p:cNvSpPr txBox="1"/>
          <p:nvPr/>
        </p:nvSpPr>
        <p:spPr>
          <a:xfrm>
            <a:off x="6451600" y="4584700"/>
            <a:ext cx="1311275" cy="466725"/>
          </a:xfrm>
          <a:prstGeom prst="rect">
            <a:avLst/>
          </a:prstGeom>
          <a:gradFill rotWithShape="0">
            <a:gsLst>
              <a:gs pos="0">
                <a:srgbClr val="FFFF00"/>
              </a:gs>
              <a:gs pos="100000">
                <a:srgbClr val="99FF99"/>
              </a:gs>
            </a:gsLst>
            <a:lin ang="0" scaled="1"/>
            <a:tileRect/>
          </a:gra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cs typeface="Arial" panose="020B0604020202020204" pitchFamily="34" charset="0"/>
              </a:rPr>
              <a:t>实体型</a:t>
            </a:r>
            <a:r>
              <a:rPr lang="en-US" altLang="zh-CN" sz="2400" b="0" dirty="0">
                <a:solidFill>
                  <a:schemeClr val="tx1"/>
                </a:solidFill>
                <a:cs typeface="Arial" panose="020B0604020202020204" pitchFamily="34" charset="0"/>
              </a:rPr>
              <a:t>B</a:t>
            </a:r>
            <a:endParaRPr lang="en-US" altLang="zh-CN" sz="2400" b="0" dirty="0">
              <a:solidFill>
                <a:schemeClr val="tx1"/>
              </a:solidFill>
              <a:ea typeface="Arial" panose="020B0604020202020204" pitchFamily="34" charset="0"/>
            </a:endParaRPr>
          </a:p>
        </p:txBody>
      </p:sp>
      <p:sp>
        <p:nvSpPr>
          <p:cNvPr id="95242" name="Text Box 9"/>
          <p:cNvSpPr txBox="1"/>
          <p:nvPr/>
        </p:nvSpPr>
        <p:spPr>
          <a:xfrm>
            <a:off x="3975100" y="4584700"/>
            <a:ext cx="1311275" cy="466725"/>
          </a:xfrm>
          <a:prstGeom prst="rect">
            <a:avLst/>
          </a:prstGeom>
          <a:gradFill rotWithShape="0">
            <a:gsLst>
              <a:gs pos="0">
                <a:srgbClr val="FFFF00"/>
              </a:gs>
              <a:gs pos="100000">
                <a:srgbClr val="99FF99"/>
              </a:gs>
            </a:gsLst>
            <a:lin ang="0" scaled="1"/>
            <a:tileRect/>
          </a:grad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tx1"/>
                </a:solidFill>
                <a:cs typeface="Arial" panose="020B0604020202020204" pitchFamily="34" charset="0"/>
              </a:rPr>
              <a:t>实体型</a:t>
            </a:r>
            <a:r>
              <a:rPr lang="en-US" altLang="zh-CN" sz="2400" b="0" dirty="0">
                <a:solidFill>
                  <a:schemeClr val="tx1"/>
                </a:solidFill>
                <a:cs typeface="Arial" panose="020B0604020202020204" pitchFamily="34" charset="0"/>
              </a:rPr>
              <a:t>B</a:t>
            </a:r>
            <a:endParaRPr lang="en-US" altLang="zh-CN" sz="2400" b="0" dirty="0">
              <a:solidFill>
                <a:schemeClr val="tx1"/>
              </a:solidFill>
              <a:ea typeface="Arial" panose="020B0604020202020204" pitchFamily="34" charset="0"/>
            </a:endParaRPr>
          </a:p>
        </p:txBody>
      </p:sp>
      <p:grpSp>
        <p:nvGrpSpPr>
          <p:cNvPr id="95243" name="Group 10"/>
          <p:cNvGrpSpPr/>
          <p:nvPr/>
        </p:nvGrpSpPr>
        <p:grpSpPr>
          <a:xfrm>
            <a:off x="1257300" y="2667000"/>
            <a:ext cx="1752600" cy="1917700"/>
            <a:chOff x="792" y="1680"/>
            <a:chExt cx="1104" cy="1208"/>
          </a:xfrm>
        </p:grpSpPr>
        <p:sp>
          <p:nvSpPr>
            <p:cNvPr id="95261" name="AutoShape 11"/>
            <p:cNvSpPr/>
            <p:nvPr/>
          </p:nvSpPr>
          <p:spPr>
            <a:xfrm>
              <a:off x="792" y="2072"/>
              <a:ext cx="1104" cy="432"/>
            </a:xfrm>
            <a:prstGeom prst="flowChartDecision">
              <a:avLst/>
            </a:prstGeom>
            <a:gradFill rotWithShape="0">
              <a:gsLst>
                <a:gs pos="0">
                  <a:srgbClr val="0033CC"/>
                </a:gs>
                <a:gs pos="100000">
                  <a:srgbClr val="66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bg1"/>
                  </a:solidFill>
                  <a:cs typeface="Arial" panose="020B0604020202020204" pitchFamily="34" charset="0"/>
                </a:rPr>
                <a:t>联系名</a:t>
              </a:r>
              <a:endParaRPr lang="zh-CN" altLang="en-US" sz="2400" b="0" dirty="0">
                <a:solidFill>
                  <a:schemeClr val="bg1"/>
                </a:solidFill>
                <a:ea typeface="Arial" panose="020B0604020202020204" pitchFamily="34" charset="0"/>
              </a:endParaRPr>
            </a:p>
          </p:txBody>
        </p:sp>
        <p:sp>
          <p:nvSpPr>
            <p:cNvPr id="95262" name="Line 12"/>
            <p:cNvSpPr/>
            <p:nvPr/>
          </p:nvSpPr>
          <p:spPr>
            <a:xfrm>
              <a:off x="1344" y="2504"/>
              <a:ext cx="0" cy="384"/>
            </a:xfrm>
            <a:prstGeom prst="line">
              <a:avLst/>
            </a:prstGeom>
            <a:ln w="9525" cap="flat" cmpd="sng">
              <a:solidFill>
                <a:schemeClr val="tx1"/>
              </a:solidFill>
              <a:prstDash val="solid"/>
              <a:headEnd type="none" w="med" len="med"/>
              <a:tailEnd type="none" w="med" len="med"/>
            </a:ln>
          </p:spPr>
        </p:sp>
        <p:sp>
          <p:nvSpPr>
            <p:cNvPr id="95263" name="Line 13"/>
            <p:cNvSpPr/>
            <p:nvPr/>
          </p:nvSpPr>
          <p:spPr>
            <a:xfrm>
              <a:off x="1344" y="1680"/>
              <a:ext cx="0" cy="384"/>
            </a:xfrm>
            <a:prstGeom prst="line">
              <a:avLst/>
            </a:prstGeom>
            <a:ln w="9525" cap="flat" cmpd="sng">
              <a:solidFill>
                <a:schemeClr val="tx1"/>
              </a:solidFill>
              <a:prstDash val="solid"/>
              <a:headEnd type="none" w="med" len="med"/>
              <a:tailEnd type="none" w="med" len="med"/>
            </a:ln>
          </p:spPr>
        </p:sp>
      </p:grpSp>
      <p:grpSp>
        <p:nvGrpSpPr>
          <p:cNvPr id="95244" name="Group 14"/>
          <p:cNvGrpSpPr/>
          <p:nvPr/>
        </p:nvGrpSpPr>
        <p:grpSpPr>
          <a:xfrm>
            <a:off x="3733800" y="2667000"/>
            <a:ext cx="1752600" cy="1917700"/>
            <a:chOff x="792" y="1680"/>
            <a:chExt cx="1104" cy="1208"/>
          </a:xfrm>
        </p:grpSpPr>
        <p:sp>
          <p:nvSpPr>
            <p:cNvPr id="95258" name="AutoShape 15"/>
            <p:cNvSpPr/>
            <p:nvPr/>
          </p:nvSpPr>
          <p:spPr>
            <a:xfrm>
              <a:off x="792" y="2072"/>
              <a:ext cx="1104" cy="432"/>
            </a:xfrm>
            <a:prstGeom prst="flowChartDecision">
              <a:avLst/>
            </a:prstGeom>
            <a:gradFill rotWithShape="0">
              <a:gsLst>
                <a:gs pos="0">
                  <a:srgbClr val="0033CC"/>
                </a:gs>
                <a:gs pos="100000">
                  <a:srgbClr val="66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bg1"/>
                  </a:solidFill>
                  <a:cs typeface="Arial" panose="020B0604020202020204" pitchFamily="34" charset="0"/>
                </a:rPr>
                <a:t>联系名</a:t>
              </a:r>
              <a:endParaRPr lang="zh-CN" altLang="en-US" sz="2400" b="0" dirty="0">
                <a:solidFill>
                  <a:schemeClr val="bg1"/>
                </a:solidFill>
                <a:ea typeface="Arial" panose="020B0604020202020204" pitchFamily="34" charset="0"/>
              </a:endParaRPr>
            </a:p>
          </p:txBody>
        </p:sp>
        <p:sp>
          <p:nvSpPr>
            <p:cNvPr id="95259" name="Line 16"/>
            <p:cNvSpPr/>
            <p:nvPr/>
          </p:nvSpPr>
          <p:spPr>
            <a:xfrm>
              <a:off x="1344" y="2504"/>
              <a:ext cx="0" cy="384"/>
            </a:xfrm>
            <a:prstGeom prst="line">
              <a:avLst/>
            </a:prstGeom>
            <a:ln w="9525" cap="flat" cmpd="sng">
              <a:solidFill>
                <a:schemeClr val="tx1"/>
              </a:solidFill>
              <a:prstDash val="solid"/>
              <a:headEnd type="none" w="med" len="med"/>
              <a:tailEnd type="none" w="med" len="med"/>
            </a:ln>
          </p:spPr>
        </p:sp>
        <p:sp>
          <p:nvSpPr>
            <p:cNvPr id="95260" name="Line 17"/>
            <p:cNvSpPr/>
            <p:nvPr/>
          </p:nvSpPr>
          <p:spPr>
            <a:xfrm>
              <a:off x="1344" y="1680"/>
              <a:ext cx="0" cy="384"/>
            </a:xfrm>
            <a:prstGeom prst="line">
              <a:avLst/>
            </a:prstGeom>
            <a:ln w="9525" cap="flat" cmpd="sng">
              <a:solidFill>
                <a:schemeClr val="tx1"/>
              </a:solidFill>
              <a:prstDash val="solid"/>
              <a:headEnd type="none" w="med" len="med"/>
              <a:tailEnd type="none" w="med" len="med"/>
            </a:ln>
          </p:spPr>
        </p:sp>
      </p:grpSp>
      <p:grpSp>
        <p:nvGrpSpPr>
          <p:cNvPr id="95245" name="Group 18"/>
          <p:cNvGrpSpPr/>
          <p:nvPr/>
        </p:nvGrpSpPr>
        <p:grpSpPr>
          <a:xfrm>
            <a:off x="6248400" y="2667000"/>
            <a:ext cx="1752600" cy="1917700"/>
            <a:chOff x="792" y="1680"/>
            <a:chExt cx="1104" cy="1208"/>
          </a:xfrm>
        </p:grpSpPr>
        <p:sp>
          <p:nvSpPr>
            <p:cNvPr id="95255" name="AutoShape 19"/>
            <p:cNvSpPr/>
            <p:nvPr/>
          </p:nvSpPr>
          <p:spPr>
            <a:xfrm>
              <a:off x="792" y="2072"/>
              <a:ext cx="1104" cy="432"/>
            </a:xfrm>
            <a:prstGeom prst="flowChartDecision">
              <a:avLst/>
            </a:prstGeom>
            <a:gradFill rotWithShape="0">
              <a:gsLst>
                <a:gs pos="0">
                  <a:srgbClr val="0033CC"/>
                </a:gs>
                <a:gs pos="100000">
                  <a:srgbClr val="66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bg1"/>
                  </a:solidFill>
                  <a:cs typeface="Arial" panose="020B0604020202020204" pitchFamily="34" charset="0"/>
                </a:rPr>
                <a:t>联系名</a:t>
              </a:r>
              <a:endParaRPr lang="zh-CN" altLang="en-US" sz="2400" b="0" dirty="0">
                <a:solidFill>
                  <a:schemeClr val="bg1"/>
                </a:solidFill>
                <a:ea typeface="Arial" panose="020B0604020202020204" pitchFamily="34" charset="0"/>
              </a:endParaRPr>
            </a:p>
          </p:txBody>
        </p:sp>
        <p:sp>
          <p:nvSpPr>
            <p:cNvPr id="95256" name="Line 20"/>
            <p:cNvSpPr/>
            <p:nvPr/>
          </p:nvSpPr>
          <p:spPr>
            <a:xfrm>
              <a:off x="1344" y="2504"/>
              <a:ext cx="0" cy="384"/>
            </a:xfrm>
            <a:prstGeom prst="line">
              <a:avLst/>
            </a:prstGeom>
            <a:ln w="9525" cap="flat" cmpd="sng">
              <a:solidFill>
                <a:schemeClr val="tx1"/>
              </a:solidFill>
              <a:prstDash val="solid"/>
              <a:headEnd type="none" w="med" len="med"/>
              <a:tailEnd type="none" w="med" len="med"/>
            </a:ln>
          </p:spPr>
        </p:sp>
        <p:sp>
          <p:nvSpPr>
            <p:cNvPr id="95257" name="Line 21"/>
            <p:cNvSpPr/>
            <p:nvPr/>
          </p:nvSpPr>
          <p:spPr>
            <a:xfrm>
              <a:off x="1344" y="1680"/>
              <a:ext cx="0" cy="384"/>
            </a:xfrm>
            <a:prstGeom prst="line">
              <a:avLst/>
            </a:prstGeom>
            <a:ln w="9525" cap="flat" cmpd="sng">
              <a:solidFill>
                <a:schemeClr val="tx1"/>
              </a:solidFill>
              <a:prstDash val="solid"/>
              <a:headEnd type="none" w="med" len="med"/>
              <a:tailEnd type="none" w="med" len="med"/>
            </a:ln>
          </p:spPr>
        </p:sp>
      </p:grpSp>
      <p:sp>
        <p:nvSpPr>
          <p:cNvPr id="95246" name="Text Box 22"/>
          <p:cNvSpPr txBox="1"/>
          <p:nvPr/>
        </p:nvSpPr>
        <p:spPr>
          <a:xfrm>
            <a:off x="1739900" y="27432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95247" name="Text Box 23"/>
          <p:cNvSpPr txBox="1"/>
          <p:nvPr/>
        </p:nvSpPr>
        <p:spPr>
          <a:xfrm>
            <a:off x="4203700" y="27305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95248" name="Text Box 24"/>
          <p:cNvSpPr txBox="1"/>
          <p:nvPr/>
        </p:nvSpPr>
        <p:spPr>
          <a:xfrm>
            <a:off x="6756400" y="27305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95249" name="Text Box 25"/>
          <p:cNvSpPr txBox="1"/>
          <p:nvPr/>
        </p:nvSpPr>
        <p:spPr>
          <a:xfrm>
            <a:off x="1752600" y="40767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95250" name="Text Box 26"/>
          <p:cNvSpPr txBox="1"/>
          <p:nvPr/>
        </p:nvSpPr>
        <p:spPr>
          <a:xfrm>
            <a:off x="4203700" y="40894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95251" name="Text Box 27"/>
          <p:cNvSpPr txBox="1"/>
          <p:nvPr/>
        </p:nvSpPr>
        <p:spPr>
          <a:xfrm>
            <a:off x="6743700" y="40767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95252" name="Text Box 28"/>
          <p:cNvSpPr txBox="1"/>
          <p:nvPr/>
        </p:nvSpPr>
        <p:spPr>
          <a:xfrm>
            <a:off x="1558925" y="5413375"/>
            <a:ext cx="11826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1:1</a:t>
            </a:r>
            <a:r>
              <a:rPr lang="zh-CN" altLang="en-US" sz="2400" b="0" dirty="0">
                <a:solidFill>
                  <a:schemeClr val="tx1"/>
                </a:solidFill>
                <a:cs typeface="Arial" panose="020B0604020202020204" pitchFamily="34" charset="0"/>
              </a:rPr>
              <a:t>联系</a:t>
            </a:r>
            <a:endParaRPr lang="zh-CN" altLang="en-US" sz="2400" b="0" dirty="0">
              <a:solidFill>
                <a:schemeClr val="tx1"/>
              </a:solidFill>
              <a:ea typeface="Arial" panose="020B0604020202020204" pitchFamily="34" charset="0"/>
            </a:endParaRPr>
          </a:p>
        </p:txBody>
      </p:sp>
      <p:sp>
        <p:nvSpPr>
          <p:cNvPr id="95253" name="Text Box 29"/>
          <p:cNvSpPr txBox="1"/>
          <p:nvPr/>
        </p:nvSpPr>
        <p:spPr>
          <a:xfrm>
            <a:off x="4025900" y="5422900"/>
            <a:ext cx="1250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1:N</a:t>
            </a:r>
            <a:r>
              <a:rPr lang="zh-CN" altLang="en-US" sz="2400" b="0" dirty="0">
                <a:solidFill>
                  <a:schemeClr val="tx1"/>
                </a:solidFill>
                <a:cs typeface="Arial" panose="020B0604020202020204" pitchFamily="34" charset="0"/>
              </a:rPr>
              <a:t>联系</a:t>
            </a:r>
            <a:endParaRPr lang="zh-CN" altLang="en-US" sz="2400" b="0" dirty="0">
              <a:solidFill>
                <a:schemeClr val="tx1"/>
              </a:solidFill>
              <a:ea typeface="Arial" panose="020B0604020202020204" pitchFamily="34" charset="0"/>
            </a:endParaRPr>
          </a:p>
        </p:txBody>
      </p:sp>
      <p:sp>
        <p:nvSpPr>
          <p:cNvPr id="95254" name="Text Box 30"/>
          <p:cNvSpPr txBox="1"/>
          <p:nvPr/>
        </p:nvSpPr>
        <p:spPr>
          <a:xfrm>
            <a:off x="6451600" y="5422900"/>
            <a:ext cx="13700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M:N</a:t>
            </a:r>
            <a:r>
              <a:rPr lang="zh-CN" altLang="en-US" sz="2400" b="0" dirty="0">
                <a:solidFill>
                  <a:schemeClr val="tx1"/>
                </a:solidFill>
                <a:cs typeface="Arial" panose="020B0604020202020204" pitchFamily="34" charset="0"/>
              </a:rPr>
              <a:t>联系</a:t>
            </a:r>
            <a:endParaRPr lang="zh-CN" altLang="en-US" sz="2400" b="0" dirty="0">
              <a:solidFill>
                <a:schemeClr val="tx1"/>
              </a:solidFill>
              <a:ea typeface="Arial" panose="020B0604020202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6259" name="Rectangle 3"/>
          <p:cNvSpPr>
            <a:spLocks noGrp="1"/>
          </p:cNvSpPr>
          <p:nvPr>
            <p:ph idx="1"/>
          </p:nvPr>
        </p:nvSpPr>
        <p:spPr>
          <a:ln/>
        </p:spPr>
        <p:txBody>
          <a:bodyPr vert="horz" wrap="square" lIns="91440" tIns="45720" rIns="91440" bIns="45720" anchor="t" anchorCtr="0"/>
          <a:p>
            <a:pPr eaLnBrk="1" hangingPunct="1"/>
            <a:r>
              <a:rPr lang="zh-CN" altLang="en-US" dirty="0"/>
              <a:t>两个以上实体型之间一对多联系</a:t>
            </a:r>
            <a:endParaRPr lang="zh-CN" altLang="en-US" dirty="0"/>
          </a:p>
          <a:p>
            <a:pPr lvl="1" eaLnBrk="1" hangingPunct="1">
              <a:lnSpc>
                <a:spcPct val="130000"/>
              </a:lnSpc>
            </a:pPr>
            <a:r>
              <a:rPr lang="zh-CN" altLang="en-US" sz="3000" b="0" dirty="0"/>
              <a:t>若实体集</a:t>
            </a:r>
            <a:r>
              <a:rPr lang="en-US" altLang="zh-CN" sz="3000" b="0" dirty="0"/>
              <a:t>E</a:t>
            </a:r>
            <a:r>
              <a:rPr lang="en-US" altLang="zh-CN" sz="3000" b="0" baseline="-25000" dirty="0"/>
              <a:t>1</a:t>
            </a:r>
            <a:r>
              <a:rPr lang="zh-CN" altLang="en-US" sz="3000" b="0" dirty="0"/>
              <a:t>，</a:t>
            </a:r>
            <a:r>
              <a:rPr lang="en-US" altLang="zh-CN" sz="3000" b="0" dirty="0"/>
              <a:t>E</a:t>
            </a:r>
            <a:r>
              <a:rPr lang="en-US" altLang="zh-CN" sz="3000" b="0" baseline="-25000" dirty="0"/>
              <a:t>2</a:t>
            </a:r>
            <a:r>
              <a:rPr lang="zh-CN" altLang="en-US" sz="3000" b="0" dirty="0"/>
              <a:t>，</a:t>
            </a:r>
            <a:r>
              <a:rPr lang="en-US" altLang="zh-CN" sz="3000" b="0" dirty="0"/>
              <a:t>...</a:t>
            </a:r>
            <a:r>
              <a:rPr lang="zh-CN" altLang="en-US" sz="3000" b="0" dirty="0"/>
              <a:t>，</a:t>
            </a:r>
            <a:r>
              <a:rPr lang="en-US" altLang="zh-CN" sz="3000" b="0" dirty="0"/>
              <a:t>E</a:t>
            </a:r>
            <a:r>
              <a:rPr lang="en-US" altLang="zh-CN" sz="3000" b="0" baseline="-25000" dirty="0"/>
              <a:t>n</a:t>
            </a:r>
            <a:r>
              <a:rPr lang="zh-CN" altLang="en-US" sz="3000" b="0" dirty="0"/>
              <a:t>存在联系，对于实体集</a:t>
            </a:r>
            <a:r>
              <a:rPr lang="en-US" altLang="zh-CN" sz="3000" b="0" dirty="0"/>
              <a:t>E</a:t>
            </a:r>
            <a:r>
              <a:rPr lang="en-US" altLang="zh-CN" sz="3000" b="0" baseline="-25000" dirty="0"/>
              <a:t>j</a:t>
            </a:r>
            <a:r>
              <a:rPr lang="zh-CN" altLang="en-US" sz="3000" b="0" dirty="0"/>
              <a:t>（</a:t>
            </a:r>
            <a:r>
              <a:rPr lang="en-US" altLang="zh-CN" sz="3000" b="0" dirty="0"/>
              <a:t>j=1</a:t>
            </a:r>
            <a:r>
              <a:rPr lang="zh-CN" altLang="en-US" sz="3000" b="0" dirty="0"/>
              <a:t>，</a:t>
            </a:r>
            <a:r>
              <a:rPr lang="en-US" altLang="zh-CN" sz="3000" b="0" dirty="0"/>
              <a:t>2</a:t>
            </a:r>
            <a:r>
              <a:rPr lang="zh-CN" altLang="en-US" sz="3000" b="0" dirty="0"/>
              <a:t>，</a:t>
            </a:r>
            <a:r>
              <a:rPr lang="en-US" altLang="zh-CN" sz="3000" b="0" dirty="0"/>
              <a:t>...</a:t>
            </a:r>
            <a:r>
              <a:rPr lang="zh-CN" altLang="en-US" sz="3000" b="0" dirty="0"/>
              <a:t>，</a:t>
            </a:r>
            <a:r>
              <a:rPr lang="en-US" altLang="zh-CN" sz="3000" b="0" dirty="0"/>
              <a:t>i-1</a:t>
            </a:r>
            <a:r>
              <a:rPr lang="zh-CN" altLang="en-US" sz="3000" b="0" dirty="0"/>
              <a:t>，</a:t>
            </a:r>
            <a:r>
              <a:rPr lang="en-US" altLang="zh-CN" sz="3000" b="0" dirty="0"/>
              <a:t>i+1</a:t>
            </a:r>
            <a:r>
              <a:rPr lang="zh-CN" altLang="en-US" sz="3000" b="0" dirty="0"/>
              <a:t>，</a:t>
            </a:r>
            <a:r>
              <a:rPr lang="en-US" altLang="zh-CN" sz="3000" b="0" dirty="0"/>
              <a:t>...</a:t>
            </a:r>
            <a:r>
              <a:rPr lang="zh-CN" altLang="en-US" sz="3000" b="0" dirty="0"/>
              <a:t>，</a:t>
            </a:r>
            <a:r>
              <a:rPr lang="en-US" altLang="zh-CN" sz="3000" b="0" dirty="0"/>
              <a:t>n</a:t>
            </a:r>
            <a:r>
              <a:rPr lang="zh-CN" altLang="en-US" sz="3000" b="0" dirty="0"/>
              <a:t>）中的给定实体，最多只和</a:t>
            </a:r>
            <a:r>
              <a:rPr lang="en-US" altLang="zh-CN" sz="3000" b="0" dirty="0"/>
              <a:t>E</a:t>
            </a:r>
            <a:r>
              <a:rPr lang="en-US" altLang="zh-CN" sz="3000" b="0" baseline="-25000" dirty="0"/>
              <a:t>i</a:t>
            </a:r>
            <a:r>
              <a:rPr lang="zh-CN" altLang="en-US" sz="3000" b="0" dirty="0"/>
              <a:t>中的一个实体相联系，则我们说</a:t>
            </a:r>
            <a:r>
              <a:rPr lang="en-US" altLang="zh-CN" sz="3000" b="0" dirty="0"/>
              <a:t>E</a:t>
            </a:r>
            <a:r>
              <a:rPr lang="en-US" altLang="zh-CN" sz="3000" b="0" baseline="-25000" dirty="0"/>
              <a:t>i</a:t>
            </a:r>
            <a:r>
              <a:rPr lang="zh-CN" altLang="en-US" sz="3000" b="0" dirty="0"/>
              <a:t>与</a:t>
            </a:r>
            <a:r>
              <a:rPr lang="en-US" altLang="zh-CN" sz="3000" b="0" dirty="0"/>
              <a:t>E</a:t>
            </a:r>
            <a:r>
              <a:rPr lang="en-US" altLang="zh-CN" sz="3000" b="0" baseline="-25000" dirty="0"/>
              <a:t>1</a:t>
            </a:r>
            <a:r>
              <a:rPr lang="zh-CN" altLang="en-US" sz="3000" b="0" dirty="0"/>
              <a:t>，</a:t>
            </a:r>
            <a:r>
              <a:rPr lang="en-US" altLang="zh-CN" sz="3000" b="0" dirty="0"/>
              <a:t>E</a:t>
            </a:r>
            <a:r>
              <a:rPr lang="en-US" altLang="zh-CN" sz="3000" b="0" baseline="-25000" dirty="0"/>
              <a:t>2</a:t>
            </a:r>
            <a:r>
              <a:rPr lang="zh-CN" altLang="en-US" sz="3000" b="0" dirty="0"/>
              <a:t>，</a:t>
            </a:r>
            <a:r>
              <a:rPr lang="en-US" altLang="zh-CN" sz="3000" b="0" dirty="0"/>
              <a:t>...</a:t>
            </a:r>
            <a:r>
              <a:rPr lang="zh-CN" altLang="en-US" sz="3000" b="0" dirty="0"/>
              <a:t>，</a:t>
            </a:r>
            <a:r>
              <a:rPr lang="en-US" altLang="zh-CN" sz="3000" b="0" dirty="0"/>
              <a:t>E</a:t>
            </a:r>
            <a:r>
              <a:rPr lang="en-US" altLang="zh-CN" sz="3000" b="0" baseline="-25000" dirty="0"/>
              <a:t>i-1</a:t>
            </a:r>
            <a:r>
              <a:rPr lang="zh-CN" altLang="en-US" sz="3000" b="0" dirty="0"/>
              <a:t>，</a:t>
            </a:r>
            <a:r>
              <a:rPr lang="en-US" altLang="zh-CN" sz="3000" b="0" dirty="0"/>
              <a:t>E</a:t>
            </a:r>
            <a:r>
              <a:rPr lang="en-US" altLang="zh-CN" sz="3000" b="0" baseline="-25000" dirty="0"/>
              <a:t>i+1</a:t>
            </a:r>
            <a:r>
              <a:rPr lang="zh-CN" altLang="en-US" sz="3000" b="0" dirty="0"/>
              <a:t>，</a:t>
            </a:r>
            <a:r>
              <a:rPr lang="en-US" altLang="zh-CN" sz="3000" b="0" dirty="0"/>
              <a:t>...</a:t>
            </a:r>
            <a:r>
              <a:rPr lang="zh-CN" altLang="en-US" sz="3000" b="0" dirty="0"/>
              <a:t>，</a:t>
            </a:r>
            <a:r>
              <a:rPr lang="en-US" altLang="zh-CN" sz="3000" b="0" dirty="0"/>
              <a:t>E</a:t>
            </a:r>
            <a:r>
              <a:rPr lang="en-US" altLang="zh-CN" sz="3000" b="0" baseline="-25000" dirty="0"/>
              <a:t>n</a:t>
            </a:r>
            <a:r>
              <a:rPr lang="zh-CN" altLang="en-US" sz="3000" b="0" dirty="0"/>
              <a:t>之间的联系是一对多的</a:t>
            </a:r>
            <a:endParaRPr lang="zh-CN" altLang="en-US" sz="3000" b="0" dirty="0"/>
          </a:p>
          <a:p>
            <a:pPr lvl="1" eaLnBrk="1" hangingPunct="1">
              <a:lnSpc>
                <a:spcPct val="130000"/>
              </a:lnSpc>
              <a:buNone/>
            </a:pPr>
            <a:endParaRPr lang="zh-CN" altLang="en-US" sz="3000" b="0" dirty="0"/>
          </a:p>
          <a:p>
            <a:pPr lvl="1" eaLnBrk="1" hangingPunct="1">
              <a:lnSpc>
                <a:spcPct val="130000"/>
              </a:lnSpc>
            </a:pPr>
            <a:endParaRPr lang="zh-CN" altLang="en-US" b="0" dirty="0"/>
          </a:p>
        </p:txBody>
      </p:sp>
      <p:sp>
        <p:nvSpPr>
          <p:cNvPr id="96260" name="Rectangle 6"/>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1.2.3 </a:t>
            </a:r>
            <a:r>
              <a:rPr lang="zh-CN" altLang="en-US" u="sng" dirty="0"/>
              <a:t>概念模型</a:t>
            </a:r>
            <a:r>
              <a:rPr lang="en-US" altLang="zh-CN" u="sng" dirty="0"/>
              <a:t>(cont)</a:t>
            </a:r>
            <a:endParaRPr lang="en-US" altLang="zh-CN" u="sng"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7283" name="Rectangle 3"/>
          <p:cNvSpPr>
            <a:spLocks noGrp="1"/>
          </p:cNvSpPr>
          <p:nvPr>
            <p:ph idx="1"/>
          </p:nvPr>
        </p:nvSpPr>
        <p:spPr>
          <a:xfrm>
            <a:off x="228600" y="1828800"/>
            <a:ext cx="8229600" cy="4495800"/>
          </a:xfrm>
          <a:ln/>
        </p:spPr>
        <p:txBody>
          <a:bodyPr vert="horz" wrap="square" lIns="91440" tIns="45720" rIns="91440" bIns="45720" anchor="t" anchorCtr="0"/>
          <a:p>
            <a:pPr eaLnBrk="1" hangingPunct="1">
              <a:lnSpc>
                <a:spcPct val="140000"/>
              </a:lnSpc>
            </a:pPr>
            <a:r>
              <a:rPr lang="zh-CN" altLang="en-US" sz="3400" dirty="0"/>
              <a:t>实例</a:t>
            </a:r>
            <a:endParaRPr lang="zh-CN" altLang="en-US" sz="3400" dirty="0"/>
          </a:p>
          <a:p>
            <a:pPr eaLnBrk="1" hangingPunct="1">
              <a:lnSpc>
                <a:spcPct val="140000"/>
              </a:lnSpc>
              <a:buNone/>
            </a:pPr>
            <a:r>
              <a:rPr lang="zh-CN" altLang="en-US" sz="3600" i="1" dirty="0"/>
              <a:t>    </a:t>
            </a:r>
            <a:r>
              <a:rPr lang="zh-CN" altLang="en-US" sz="2800" b="0" dirty="0"/>
              <a:t>课程、教师与参考书三个实体型</a:t>
            </a:r>
            <a:endParaRPr lang="zh-CN" altLang="en-US" sz="2800" b="0" dirty="0"/>
          </a:p>
          <a:p>
            <a:pPr lvl="1" eaLnBrk="1" hangingPunct="1">
              <a:lnSpc>
                <a:spcPct val="140000"/>
              </a:lnSpc>
              <a:buNone/>
            </a:pPr>
            <a:r>
              <a:rPr lang="zh-CN" altLang="en-US" sz="2100" b="0" dirty="0"/>
              <a:t>一门课程可以有若干个教师讲授，</a:t>
            </a:r>
            <a:endParaRPr lang="zh-CN" altLang="en-US" sz="2100" b="0" dirty="0"/>
          </a:p>
          <a:p>
            <a:pPr lvl="1" eaLnBrk="1" hangingPunct="1">
              <a:lnSpc>
                <a:spcPct val="140000"/>
              </a:lnSpc>
              <a:buNone/>
            </a:pPr>
            <a:r>
              <a:rPr lang="zh-CN" altLang="en-US" sz="2100" b="0" dirty="0"/>
              <a:t>一门课程可以使用若干本参考书，</a:t>
            </a:r>
            <a:endParaRPr lang="zh-CN" altLang="en-US" sz="2100" b="0" dirty="0"/>
          </a:p>
          <a:p>
            <a:pPr lvl="1" eaLnBrk="1" hangingPunct="1">
              <a:lnSpc>
                <a:spcPct val="140000"/>
              </a:lnSpc>
              <a:buNone/>
            </a:pPr>
            <a:r>
              <a:rPr lang="zh-CN" altLang="en-US" sz="2100" b="0" dirty="0"/>
              <a:t>每一个教师只讲授一门课程，</a:t>
            </a:r>
            <a:endParaRPr lang="zh-CN" altLang="en-US" sz="2100" b="0" dirty="0"/>
          </a:p>
          <a:p>
            <a:pPr lvl="1" eaLnBrk="1" hangingPunct="1">
              <a:lnSpc>
                <a:spcPct val="140000"/>
              </a:lnSpc>
              <a:buNone/>
            </a:pPr>
            <a:r>
              <a:rPr lang="zh-CN" altLang="en-US" sz="2100" b="0" dirty="0"/>
              <a:t>每一本参考书只供一门课程使用。</a:t>
            </a:r>
            <a:endParaRPr lang="zh-CN" altLang="en-US" sz="2100" b="0" dirty="0"/>
          </a:p>
        </p:txBody>
      </p:sp>
      <p:grpSp>
        <p:nvGrpSpPr>
          <p:cNvPr id="97284" name="Group 4"/>
          <p:cNvGrpSpPr/>
          <p:nvPr/>
        </p:nvGrpSpPr>
        <p:grpSpPr>
          <a:xfrm>
            <a:off x="5578475" y="1905000"/>
            <a:ext cx="2879725" cy="3897313"/>
            <a:chOff x="3061" y="1162"/>
            <a:chExt cx="2586" cy="2583"/>
          </a:xfrm>
        </p:grpSpPr>
        <p:sp>
          <p:nvSpPr>
            <p:cNvPr id="97286" name="Text Box 5"/>
            <p:cNvSpPr txBox="1"/>
            <p:nvPr/>
          </p:nvSpPr>
          <p:spPr>
            <a:xfrm>
              <a:off x="3918" y="1162"/>
              <a:ext cx="817" cy="309"/>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课程</a:t>
              </a:r>
              <a:endParaRPr lang="zh-CN" altLang="en-US" sz="2400" dirty="0">
                <a:solidFill>
                  <a:schemeClr val="tx1"/>
                </a:solidFill>
                <a:ea typeface="Arial" panose="020B0604020202020204" pitchFamily="34" charset="0"/>
              </a:endParaRPr>
            </a:p>
          </p:txBody>
        </p:sp>
        <p:sp>
          <p:nvSpPr>
            <p:cNvPr id="97287" name="AutoShape 6"/>
            <p:cNvSpPr/>
            <p:nvPr/>
          </p:nvSpPr>
          <p:spPr>
            <a:xfrm>
              <a:off x="3870" y="1930"/>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讲授</a:t>
              </a:r>
              <a:endParaRPr lang="zh-CN" altLang="en-US" sz="2400" b="0" dirty="0">
                <a:solidFill>
                  <a:schemeClr val="tx1"/>
                </a:solidFill>
                <a:ea typeface="Arial" panose="020B0604020202020204" pitchFamily="34" charset="0"/>
              </a:endParaRPr>
            </a:p>
          </p:txBody>
        </p:sp>
        <p:sp>
          <p:nvSpPr>
            <p:cNvPr id="97288" name="Text Box 7"/>
            <p:cNvSpPr txBox="1"/>
            <p:nvPr/>
          </p:nvSpPr>
          <p:spPr>
            <a:xfrm>
              <a:off x="3198" y="3034"/>
              <a:ext cx="817" cy="309"/>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教师</a:t>
              </a:r>
              <a:endParaRPr lang="zh-CN" altLang="en-US" sz="2400" dirty="0">
                <a:solidFill>
                  <a:schemeClr val="tx1"/>
                </a:solidFill>
                <a:ea typeface="Arial" panose="020B0604020202020204" pitchFamily="34" charset="0"/>
              </a:endParaRPr>
            </a:p>
          </p:txBody>
        </p:sp>
        <p:sp>
          <p:nvSpPr>
            <p:cNvPr id="97289" name="Line 8"/>
            <p:cNvSpPr/>
            <p:nvPr/>
          </p:nvSpPr>
          <p:spPr>
            <a:xfrm flipV="1">
              <a:off x="4350" y="1450"/>
              <a:ext cx="0" cy="480"/>
            </a:xfrm>
            <a:prstGeom prst="line">
              <a:avLst/>
            </a:prstGeom>
            <a:ln w="9525" cap="flat" cmpd="sng">
              <a:solidFill>
                <a:schemeClr val="tx1"/>
              </a:solidFill>
              <a:prstDash val="solid"/>
              <a:headEnd type="none" w="med" len="med"/>
              <a:tailEnd type="none" w="med" len="med"/>
            </a:ln>
          </p:spPr>
        </p:sp>
        <p:sp>
          <p:nvSpPr>
            <p:cNvPr id="97290" name="Line 9"/>
            <p:cNvSpPr/>
            <p:nvPr/>
          </p:nvSpPr>
          <p:spPr>
            <a:xfrm flipH="1">
              <a:off x="3678" y="2170"/>
              <a:ext cx="192" cy="816"/>
            </a:xfrm>
            <a:prstGeom prst="line">
              <a:avLst/>
            </a:prstGeom>
            <a:ln w="9525" cap="flat" cmpd="sng">
              <a:solidFill>
                <a:schemeClr val="tx1"/>
              </a:solidFill>
              <a:prstDash val="solid"/>
              <a:headEnd type="none" w="med" len="med"/>
              <a:tailEnd type="none" w="med" len="med"/>
            </a:ln>
          </p:spPr>
        </p:sp>
        <p:sp>
          <p:nvSpPr>
            <p:cNvPr id="97291" name="Text Box 10"/>
            <p:cNvSpPr txBox="1"/>
            <p:nvPr/>
          </p:nvSpPr>
          <p:spPr>
            <a:xfrm>
              <a:off x="3966" y="1594"/>
              <a:ext cx="240" cy="3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97292" name="Text Box 11"/>
            <p:cNvSpPr txBox="1"/>
            <p:nvPr/>
          </p:nvSpPr>
          <p:spPr>
            <a:xfrm>
              <a:off x="3486" y="2506"/>
              <a:ext cx="239" cy="30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97293" name="Text Box 12"/>
            <p:cNvSpPr txBox="1"/>
            <p:nvPr/>
          </p:nvSpPr>
          <p:spPr>
            <a:xfrm>
              <a:off x="3061" y="3513"/>
              <a:ext cx="2586" cy="23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1700" dirty="0">
                  <a:solidFill>
                    <a:schemeClr val="tx1"/>
                  </a:solidFill>
                  <a:cs typeface="Arial" panose="020B0604020202020204" pitchFamily="34" charset="0"/>
                </a:rPr>
                <a:t>两个以上实体型间</a:t>
              </a:r>
              <a:r>
                <a:rPr lang="en-US" altLang="zh-CN" sz="1700" dirty="0">
                  <a:solidFill>
                    <a:schemeClr val="tx1"/>
                  </a:solidFill>
                  <a:cs typeface="Arial" panose="020B0604020202020204" pitchFamily="34" charset="0"/>
                </a:rPr>
                <a:t>1:n</a:t>
              </a:r>
              <a:r>
                <a:rPr lang="zh-CN" altLang="en-US" sz="1700" dirty="0">
                  <a:solidFill>
                    <a:schemeClr val="tx1"/>
                  </a:solidFill>
                  <a:cs typeface="Arial" panose="020B0604020202020204" pitchFamily="34" charset="0"/>
                </a:rPr>
                <a:t>联系</a:t>
              </a:r>
              <a:endParaRPr lang="zh-CN" altLang="en-US" sz="1700" dirty="0">
                <a:solidFill>
                  <a:schemeClr val="tx1"/>
                </a:solidFill>
                <a:ea typeface="Arial" panose="020B0604020202020204" pitchFamily="34" charset="0"/>
              </a:endParaRPr>
            </a:p>
          </p:txBody>
        </p:sp>
        <p:sp>
          <p:nvSpPr>
            <p:cNvPr id="97294" name="Text Box 13"/>
            <p:cNvSpPr txBox="1"/>
            <p:nvPr/>
          </p:nvSpPr>
          <p:spPr>
            <a:xfrm>
              <a:off x="4735" y="3034"/>
              <a:ext cx="815" cy="249"/>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1800" dirty="0">
                  <a:solidFill>
                    <a:schemeClr val="tx1"/>
                  </a:solidFill>
                  <a:cs typeface="Arial" panose="020B0604020202020204" pitchFamily="34" charset="0"/>
                </a:rPr>
                <a:t>参考书</a:t>
              </a:r>
              <a:endParaRPr lang="zh-CN" altLang="en-US" sz="1800" dirty="0">
                <a:solidFill>
                  <a:schemeClr val="tx1"/>
                </a:solidFill>
                <a:ea typeface="Arial" panose="020B0604020202020204" pitchFamily="34" charset="0"/>
              </a:endParaRPr>
            </a:p>
          </p:txBody>
        </p:sp>
        <p:sp>
          <p:nvSpPr>
            <p:cNvPr id="97295" name="Line 14"/>
            <p:cNvSpPr/>
            <p:nvPr/>
          </p:nvSpPr>
          <p:spPr>
            <a:xfrm>
              <a:off x="4830" y="2170"/>
              <a:ext cx="288" cy="912"/>
            </a:xfrm>
            <a:prstGeom prst="line">
              <a:avLst/>
            </a:prstGeom>
            <a:ln w="9525" cap="flat" cmpd="sng">
              <a:solidFill>
                <a:schemeClr val="tx1"/>
              </a:solidFill>
              <a:prstDash val="solid"/>
              <a:headEnd type="none" w="med" len="med"/>
              <a:tailEnd type="none" w="med" len="med"/>
            </a:ln>
          </p:spPr>
        </p:sp>
        <p:sp>
          <p:nvSpPr>
            <p:cNvPr id="97296" name="Text Box 15"/>
            <p:cNvSpPr txBox="1"/>
            <p:nvPr/>
          </p:nvSpPr>
          <p:spPr>
            <a:xfrm>
              <a:off x="5023" y="2506"/>
              <a:ext cx="239" cy="30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grpSp>
      <p:sp>
        <p:nvSpPr>
          <p:cNvPr id="97285" name="Rectangle 18"/>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1.2.3 </a:t>
            </a:r>
            <a:r>
              <a:rPr lang="zh-CN" altLang="en-US" u="sng" dirty="0"/>
              <a:t>概念模型</a:t>
            </a:r>
            <a:r>
              <a:rPr lang="en-US" altLang="zh-CN" u="sng" dirty="0"/>
              <a:t>(cont)</a:t>
            </a:r>
            <a:endParaRPr lang="en-US" altLang="zh-CN" u="sng"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8307" name="Rectangle 3"/>
          <p:cNvSpPr>
            <a:spLocks noGrp="1"/>
          </p:cNvSpPr>
          <p:nvPr>
            <p:ph idx="1"/>
          </p:nvPr>
        </p:nvSpPr>
        <p:spPr>
          <a:ln/>
        </p:spPr>
        <p:txBody>
          <a:bodyPr vert="horz" wrap="square" lIns="91440" tIns="45720" rIns="91440" bIns="45720" anchor="t" anchorCtr="0"/>
          <a:p>
            <a:pPr eaLnBrk="1" hangingPunct="1">
              <a:lnSpc>
                <a:spcPct val="140000"/>
              </a:lnSpc>
            </a:pPr>
            <a:r>
              <a:rPr lang="zh-CN" altLang="en-US" sz="2800" dirty="0"/>
              <a:t>多个实体型间的一对一联系</a:t>
            </a:r>
            <a:endParaRPr lang="zh-CN" altLang="en-US" sz="2800" dirty="0"/>
          </a:p>
          <a:p>
            <a:pPr eaLnBrk="1" hangingPunct="1">
              <a:lnSpc>
                <a:spcPct val="140000"/>
              </a:lnSpc>
            </a:pPr>
            <a:r>
              <a:rPr lang="zh-CN" altLang="en-US" sz="2800" dirty="0"/>
              <a:t>两个以上实体型间的多对多联系</a:t>
            </a:r>
            <a:endParaRPr lang="zh-CN" altLang="en-US" sz="2800" dirty="0"/>
          </a:p>
          <a:p>
            <a:pPr lvl="1" eaLnBrk="1" hangingPunct="1">
              <a:lnSpc>
                <a:spcPct val="140000"/>
              </a:lnSpc>
            </a:pPr>
            <a:r>
              <a:rPr lang="zh-CN" altLang="en-US" sz="2600" dirty="0"/>
              <a:t>实例</a:t>
            </a:r>
            <a:endParaRPr lang="zh-CN" altLang="en-US" sz="2600" dirty="0"/>
          </a:p>
          <a:p>
            <a:pPr eaLnBrk="1" hangingPunct="1">
              <a:lnSpc>
                <a:spcPct val="140000"/>
              </a:lnSpc>
              <a:buNone/>
            </a:pPr>
            <a:r>
              <a:rPr lang="zh-CN" altLang="en-US" i="1" dirty="0"/>
              <a:t>     </a:t>
            </a:r>
            <a:r>
              <a:rPr lang="zh-CN" altLang="en-US" sz="2400" b="0" dirty="0"/>
              <a:t>供应商、项目、零件三个实体型</a:t>
            </a:r>
            <a:endParaRPr lang="zh-CN" altLang="en-US" sz="2400" b="0" dirty="0"/>
          </a:p>
          <a:p>
            <a:pPr lvl="1" eaLnBrk="1" hangingPunct="1">
              <a:lnSpc>
                <a:spcPct val="140000"/>
              </a:lnSpc>
              <a:buNone/>
            </a:pPr>
            <a:r>
              <a:rPr lang="zh-CN" altLang="en-US" sz="2000" b="0" dirty="0"/>
              <a:t>一个供应商可以供给多个项目多种零件</a:t>
            </a:r>
            <a:endParaRPr lang="zh-CN" altLang="en-US" sz="2000" b="0" dirty="0"/>
          </a:p>
          <a:p>
            <a:pPr lvl="1" eaLnBrk="1" hangingPunct="1">
              <a:lnSpc>
                <a:spcPct val="140000"/>
              </a:lnSpc>
              <a:buNone/>
            </a:pPr>
            <a:r>
              <a:rPr lang="zh-CN" altLang="en-US" sz="2000" b="0" dirty="0"/>
              <a:t>每个项目可以使用多个供应商供应的零件</a:t>
            </a:r>
            <a:endParaRPr lang="zh-CN" altLang="en-US" sz="2000" b="0" dirty="0"/>
          </a:p>
          <a:p>
            <a:pPr lvl="1" eaLnBrk="1" hangingPunct="1">
              <a:lnSpc>
                <a:spcPct val="140000"/>
              </a:lnSpc>
              <a:buNone/>
            </a:pPr>
            <a:r>
              <a:rPr lang="zh-CN" altLang="en-US" sz="2000" b="0" dirty="0"/>
              <a:t>每种零件可由不同供应商供给</a:t>
            </a:r>
            <a:endParaRPr lang="zh-CN" altLang="en-US" sz="2000" b="0" dirty="0"/>
          </a:p>
          <a:p>
            <a:pPr lvl="1" eaLnBrk="1" hangingPunct="1">
              <a:lnSpc>
                <a:spcPct val="140000"/>
              </a:lnSpc>
              <a:buNone/>
            </a:pPr>
            <a:endParaRPr lang="zh-CN" altLang="en-US" sz="2000" b="0" dirty="0"/>
          </a:p>
          <a:p>
            <a:pPr eaLnBrk="1" hangingPunct="1"/>
            <a:endParaRPr lang="zh-CN" altLang="en-US" dirty="0"/>
          </a:p>
        </p:txBody>
      </p:sp>
      <p:grpSp>
        <p:nvGrpSpPr>
          <p:cNvPr id="98308" name="Group 4"/>
          <p:cNvGrpSpPr/>
          <p:nvPr/>
        </p:nvGrpSpPr>
        <p:grpSpPr>
          <a:xfrm>
            <a:off x="4967288" y="1773238"/>
            <a:ext cx="4176712" cy="4203700"/>
            <a:chOff x="385" y="1167"/>
            <a:chExt cx="2631" cy="2648"/>
          </a:xfrm>
        </p:grpSpPr>
        <p:sp>
          <p:nvSpPr>
            <p:cNvPr id="98310" name="Text Box 5"/>
            <p:cNvSpPr txBox="1"/>
            <p:nvPr/>
          </p:nvSpPr>
          <p:spPr>
            <a:xfrm>
              <a:off x="1229" y="1167"/>
              <a:ext cx="81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dirty="0">
                  <a:solidFill>
                    <a:schemeClr val="tx1"/>
                  </a:solidFill>
                  <a:cs typeface="Arial" panose="020B0604020202020204" pitchFamily="34" charset="0"/>
                </a:rPr>
                <a:t>供应商</a:t>
              </a:r>
              <a:endParaRPr lang="zh-CN" altLang="en-US" sz="2400" dirty="0">
                <a:solidFill>
                  <a:schemeClr val="tx1"/>
                </a:solidFill>
                <a:ea typeface="Arial" panose="020B0604020202020204" pitchFamily="34" charset="0"/>
              </a:endParaRPr>
            </a:p>
          </p:txBody>
        </p:sp>
        <p:sp>
          <p:nvSpPr>
            <p:cNvPr id="98311" name="AutoShape 6"/>
            <p:cNvSpPr/>
            <p:nvPr/>
          </p:nvSpPr>
          <p:spPr>
            <a:xfrm>
              <a:off x="1181" y="1935"/>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供应</a:t>
              </a:r>
              <a:endParaRPr lang="zh-CN" altLang="en-US" sz="2400" b="0" dirty="0">
                <a:solidFill>
                  <a:schemeClr val="tx1"/>
                </a:solidFill>
                <a:ea typeface="Arial" panose="020B0604020202020204" pitchFamily="34" charset="0"/>
              </a:endParaRPr>
            </a:p>
          </p:txBody>
        </p:sp>
        <p:sp>
          <p:nvSpPr>
            <p:cNvPr id="98312" name="Text Box 7"/>
            <p:cNvSpPr txBox="1"/>
            <p:nvPr/>
          </p:nvSpPr>
          <p:spPr>
            <a:xfrm>
              <a:off x="509" y="3039"/>
              <a:ext cx="81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dirty="0">
                  <a:solidFill>
                    <a:schemeClr val="tx1"/>
                  </a:solidFill>
                  <a:cs typeface="Arial" panose="020B0604020202020204" pitchFamily="34" charset="0"/>
                </a:rPr>
                <a:t>项目</a:t>
              </a:r>
              <a:endParaRPr lang="zh-CN" altLang="en-US" sz="2400" dirty="0">
                <a:solidFill>
                  <a:schemeClr val="tx1"/>
                </a:solidFill>
                <a:ea typeface="Arial" panose="020B0604020202020204" pitchFamily="34" charset="0"/>
              </a:endParaRPr>
            </a:p>
          </p:txBody>
        </p:sp>
        <p:sp>
          <p:nvSpPr>
            <p:cNvPr id="98313" name="Line 8"/>
            <p:cNvSpPr/>
            <p:nvPr/>
          </p:nvSpPr>
          <p:spPr>
            <a:xfrm flipV="1">
              <a:off x="1661" y="1455"/>
              <a:ext cx="0" cy="480"/>
            </a:xfrm>
            <a:prstGeom prst="line">
              <a:avLst/>
            </a:prstGeom>
            <a:ln w="9525" cap="flat" cmpd="sng">
              <a:solidFill>
                <a:schemeClr val="tx1"/>
              </a:solidFill>
              <a:prstDash val="solid"/>
              <a:headEnd type="none" w="med" len="med"/>
              <a:tailEnd type="none" w="med" len="med"/>
            </a:ln>
          </p:spPr>
        </p:sp>
        <p:sp>
          <p:nvSpPr>
            <p:cNvPr id="98314" name="Line 9"/>
            <p:cNvSpPr/>
            <p:nvPr/>
          </p:nvSpPr>
          <p:spPr>
            <a:xfrm flipH="1">
              <a:off x="989" y="2175"/>
              <a:ext cx="192" cy="816"/>
            </a:xfrm>
            <a:prstGeom prst="line">
              <a:avLst/>
            </a:prstGeom>
            <a:ln w="9525" cap="flat" cmpd="sng">
              <a:solidFill>
                <a:schemeClr val="tx1"/>
              </a:solidFill>
              <a:prstDash val="solid"/>
              <a:headEnd type="none" w="med" len="med"/>
              <a:tailEnd type="none" w="med" len="med"/>
            </a:ln>
          </p:spPr>
        </p:sp>
        <p:sp>
          <p:nvSpPr>
            <p:cNvPr id="98315" name="Text Box 10"/>
            <p:cNvSpPr txBox="1"/>
            <p:nvPr/>
          </p:nvSpPr>
          <p:spPr>
            <a:xfrm>
              <a:off x="1277" y="1599"/>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98316" name="Text Box 11"/>
            <p:cNvSpPr txBox="1"/>
            <p:nvPr/>
          </p:nvSpPr>
          <p:spPr>
            <a:xfrm>
              <a:off x="2381" y="256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b="0" dirty="0">
                  <a:solidFill>
                    <a:schemeClr val="tx1"/>
                  </a:solidFill>
                  <a:cs typeface="Arial" panose="020B0604020202020204" pitchFamily="34" charset="0"/>
                </a:rPr>
                <a:t>p</a:t>
              </a:r>
              <a:endParaRPr lang="en-US" altLang="zh-CN" sz="2400" b="0" dirty="0">
                <a:solidFill>
                  <a:schemeClr val="tx1"/>
                </a:solidFill>
                <a:ea typeface="Arial" panose="020B0604020202020204" pitchFamily="34" charset="0"/>
              </a:endParaRPr>
            </a:p>
          </p:txBody>
        </p:sp>
        <p:sp>
          <p:nvSpPr>
            <p:cNvPr id="98317" name="Text Box 12"/>
            <p:cNvSpPr txBox="1"/>
            <p:nvPr/>
          </p:nvSpPr>
          <p:spPr>
            <a:xfrm>
              <a:off x="385" y="3536"/>
              <a:ext cx="2631" cy="27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300" dirty="0">
                  <a:solidFill>
                    <a:schemeClr val="tx1"/>
                  </a:solidFill>
                  <a:cs typeface="Arial" panose="020B0604020202020204" pitchFamily="34" charset="0"/>
                </a:rPr>
                <a:t>两个以上实体型间</a:t>
              </a:r>
              <a:r>
                <a:rPr lang="en-US" altLang="zh-CN" sz="2300" dirty="0">
                  <a:solidFill>
                    <a:schemeClr val="tx1"/>
                  </a:solidFill>
                  <a:cs typeface="Arial" panose="020B0604020202020204" pitchFamily="34" charset="0"/>
                </a:rPr>
                <a:t>m:n</a:t>
              </a:r>
              <a:r>
                <a:rPr lang="zh-CN" altLang="en-US" sz="2300" dirty="0">
                  <a:solidFill>
                    <a:schemeClr val="tx1"/>
                  </a:solidFill>
                  <a:cs typeface="Arial" panose="020B0604020202020204" pitchFamily="34" charset="0"/>
                </a:rPr>
                <a:t>联系</a:t>
              </a:r>
              <a:endParaRPr lang="zh-CN" altLang="en-US" sz="2300" dirty="0">
                <a:solidFill>
                  <a:schemeClr val="tx1"/>
                </a:solidFill>
                <a:ea typeface="Arial" panose="020B0604020202020204" pitchFamily="34" charset="0"/>
              </a:endParaRPr>
            </a:p>
          </p:txBody>
        </p:sp>
        <p:sp>
          <p:nvSpPr>
            <p:cNvPr id="98318" name="Text Box 13"/>
            <p:cNvSpPr txBox="1"/>
            <p:nvPr/>
          </p:nvSpPr>
          <p:spPr>
            <a:xfrm>
              <a:off x="2045" y="3039"/>
              <a:ext cx="81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dirty="0">
                  <a:solidFill>
                    <a:schemeClr val="tx1"/>
                  </a:solidFill>
                  <a:cs typeface="Arial" panose="020B0604020202020204" pitchFamily="34" charset="0"/>
                </a:rPr>
                <a:t>零件</a:t>
              </a:r>
              <a:endParaRPr lang="zh-CN" altLang="en-US" sz="2400" dirty="0">
                <a:solidFill>
                  <a:schemeClr val="tx1"/>
                </a:solidFill>
                <a:ea typeface="Arial" panose="020B0604020202020204" pitchFamily="34" charset="0"/>
              </a:endParaRPr>
            </a:p>
          </p:txBody>
        </p:sp>
        <p:sp>
          <p:nvSpPr>
            <p:cNvPr id="98319" name="Line 14"/>
            <p:cNvSpPr/>
            <p:nvPr/>
          </p:nvSpPr>
          <p:spPr>
            <a:xfrm>
              <a:off x="2141" y="2175"/>
              <a:ext cx="288" cy="912"/>
            </a:xfrm>
            <a:prstGeom prst="line">
              <a:avLst/>
            </a:prstGeom>
            <a:ln w="9525" cap="flat" cmpd="sng">
              <a:solidFill>
                <a:schemeClr val="tx1"/>
              </a:solidFill>
              <a:prstDash val="solid"/>
              <a:headEnd type="none" w="med" len="med"/>
              <a:tailEnd type="none" w="med" len="med"/>
            </a:ln>
          </p:spPr>
        </p:sp>
        <p:sp>
          <p:nvSpPr>
            <p:cNvPr id="98320" name="Text Box 15"/>
            <p:cNvSpPr txBox="1"/>
            <p:nvPr/>
          </p:nvSpPr>
          <p:spPr>
            <a:xfrm>
              <a:off x="748" y="2523"/>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grpSp>
      <p:sp>
        <p:nvSpPr>
          <p:cNvPr id="98309" name="Rectangle 18"/>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1.2.3 </a:t>
            </a:r>
            <a:r>
              <a:rPr lang="zh-CN" altLang="en-US" u="sng" dirty="0"/>
              <a:t>概念模型</a:t>
            </a:r>
            <a:r>
              <a:rPr lang="en-US" altLang="zh-CN" u="sng" dirty="0"/>
              <a:t>(cont)</a:t>
            </a:r>
            <a:endParaRPr lang="en-US" altLang="zh-CN" u="sng"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25987" name="Rectangle 3"/>
          <p:cNvSpPr>
            <a:spLocks noGrp="1"/>
          </p:cNvSpPr>
          <p:nvPr>
            <p:ph idx="1"/>
          </p:nvPr>
        </p:nvSpPr>
        <p:spPr>
          <a:xfrm>
            <a:off x="250825" y="908050"/>
            <a:ext cx="5921375" cy="5264150"/>
          </a:xfrm>
          <a:ln/>
        </p:spPr>
        <p:txBody>
          <a:bodyPr vert="horz" wrap="square" lIns="91440" tIns="45720" rIns="91440" bIns="45720" anchor="t" anchorCtr="0"/>
          <a:p>
            <a:pPr eaLnBrk="1" hangingPunct="1">
              <a:lnSpc>
                <a:spcPct val="150000"/>
              </a:lnSpc>
              <a:buNone/>
            </a:pPr>
            <a:r>
              <a:rPr lang="zh-CN" altLang="en-US" sz="2400" dirty="0"/>
              <a:t>单个实体内的联系</a:t>
            </a:r>
            <a:endParaRPr lang="zh-CN" altLang="en-US" sz="2400" dirty="0"/>
          </a:p>
          <a:p>
            <a:pPr eaLnBrk="1" hangingPunct="1">
              <a:lnSpc>
                <a:spcPct val="150000"/>
              </a:lnSpc>
            </a:pPr>
            <a:r>
              <a:rPr lang="zh-CN" altLang="en-US" sz="2400" dirty="0"/>
              <a:t>一对多联系</a:t>
            </a:r>
            <a:endParaRPr lang="zh-CN" altLang="en-US" sz="2400" dirty="0"/>
          </a:p>
          <a:p>
            <a:pPr lvl="1" eaLnBrk="1" hangingPunct="1">
              <a:lnSpc>
                <a:spcPct val="150000"/>
              </a:lnSpc>
            </a:pPr>
            <a:r>
              <a:rPr lang="zh-CN" altLang="en-US" sz="2000" dirty="0"/>
              <a:t>实例</a:t>
            </a:r>
            <a:endParaRPr lang="zh-CN" altLang="en-US" sz="2000" dirty="0"/>
          </a:p>
          <a:p>
            <a:pPr lvl="2" eaLnBrk="1" hangingPunct="1">
              <a:lnSpc>
                <a:spcPct val="150000"/>
              </a:lnSpc>
              <a:buNone/>
            </a:pPr>
            <a:r>
              <a:rPr lang="zh-CN" altLang="en-US" sz="1600" i="1" dirty="0">
                <a:ea typeface="宋体" panose="02010600030101010101" pitchFamily="2" charset="-122"/>
              </a:rPr>
              <a:t> </a:t>
            </a:r>
            <a:r>
              <a:rPr lang="zh-CN" altLang="en-US" sz="1800" b="0" dirty="0">
                <a:ea typeface="宋体" panose="02010600030101010101" pitchFamily="2" charset="-122"/>
              </a:rPr>
              <a:t>职工实体型内部具有领导与被领导的联系</a:t>
            </a:r>
            <a:endParaRPr lang="zh-CN" altLang="en-US" sz="1800" b="0" dirty="0">
              <a:ea typeface="宋体" panose="02010600030101010101" pitchFamily="2" charset="-122"/>
            </a:endParaRPr>
          </a:p>
          <a:p>
            <a:pPr lvl="2" eaLnBrk="1" hangingPunct="1">
              <a:lnSpc>
                <a:spcPct val="150000"/>
              </a:lnSpc>
              <a:buNone/>
            </a:pPr>
            <a:r>
              <a:rPr lang="zh-CN" altLang="en-US" sz="1800" b="0" dirty="0">
                <a:ea typeface="宋体" panose="02010600030101010101" pitchFamily="2" charset="-122"/>
              </a:rPr>
              <a:t>某一职工（干部）</a:t>
            </a:r>
            <a:r>
              <a:rPr lang="zh-CN" altLang="en-US" sz="1800" b="0" dirty="0">
                <a:latin typeface="Arial" panose="020B0604020202020204" pitchFamily="34" charset="0"/>
                <a:ea typeface="宋体" panose="02010600030101010101" pitchFamily="2" charset="-122"/>
              </a:rPr>
              <a:t>“</a:t>
            </a:r>
            <a:r>
              <a:rPr lang="zh-CN" altLang="en-US" sz="1800" b="0" dirty="0">
                <a:ea typeface="宋体" panose="02010600030101010101" pitchFamily="2" charset="-122"/>
              </a:rPr>
              <a:t>领导</a:t>
            </a:r>
            <a:r>
              <a:rPr lang="zh-CN" altLang="en-US" sz="1800" b="0" dirty="0">
                <a:latin typeface="Arial" panose="020B0604020202020204" pitchFamily="34" charset="0"/>
                <a:ea typeface="宋体" panose="02010600030101010101" pitchFamily="2" charset="-122"/>
              </a:rPr>
              <a:t>”</a:t>
            </a:r>
            <a:r>
              <a:rPr lang="zh-CN" altLang="en-US" sz="1800" b="0" dirty="0">
                <a:ea typeface="宋体" panose="02010600030101010101" pitchFamily="2" charset="-122"/>
              </a:rPr>
              <a:t>若干名职工</a:t>
            </a:r>
            <a:endParaRPr lang="zh-CN" altLang="en-US" sz="1800" b="0" dirty="0">
              <a:ea typeface="宋体" panose="02010600030101010101" pitchFamily="2" charset="-122"/>
            </a:endParaRPr>
          </a:p>
          <a:p>
            <a:pPr lvl="2" eaLnBrk="1" hangingPunct="1">
              <a:lnSpc>
                <a:spcPct val="150000"/>
              </a:lnSpc>
              <a:buNone/>
            </a:pPr>
            <a:r>
              <a:rPr lang="zh-CN" altLang="en-US" sz="1800" b="0" dirty="0">
                <a:ea typeface="宋体" panose="02010600030101010101" pitchFamily="2" charset="-122"/>
              </a:rPr>
              <a:t>一个职工仅被另外一个职工直接领导</a:t>
            </a:r>
            <a:endParaRPr lang="zh-CN" altLang="en-US" sz="1800" b="0" dirty="0">
              <a:ea typeface="宋体" panose="02010600030101010101" pitchFamily="2" charset="-122"/>
            </a:endParaRPr>
          </a:p>
          <a:p>
            <a:pPr lvl="2" eaLnBrk="1" hangingPunct="1">
              <a:lnSpc>
                <a:spcPct val="150000"/>
              </a:lnSpc>
              <a:buNone/>
            </a:pPr>
            <a:r>
              <a:rPr lang="zh-CN" altLang="en-US" sz="1800" b="0" dirty="0">
                <a:ea typeface="宋体" panose="02010600030101010101" pitchFamily="2" charset="-122"/>
              </a:rPr>
              <a:t>这是一对多的联系</a:t>
            </a:r>
            <a:endParaRPr lang="zh-CN" altLang="en-US" sz="1800" b="0" dirty="0">
              <a:ea typeface="宋体" panose="02010600030101010101" pitchFamily="2" charset="-122"/>
            </a:endParaRPr>
          </a:p>
          <a:p>
            <a:pPr eaLnBrk="1" hangingPunct="1">
              <a:lnSpc>
                <a:spcPct val="150000"/>
              </a:lnSpc>
            </a:pPr>
            <a:r>
              <a:rPr lang="zh-CN" altLang="en-US" sz="2900" dirty="0"/>
              <a:t>一对一联系</a:t>
            </a:r>
            <a:endParaRPr lang="zh-CN" altLang="en-US" sz="2900" dirty="0"/>
          </a:p>
          <a:p>
            <a:pPr eaLnBrk="1" hangingPunct="1">
              <a:lnSpc>
                <a:spcPct val="150000"/>
              </a:lnSpc>
              <a:buNone/>
            </a:pPr>
            <a:r>
              <a:rPr lang="zh-CN" altLang="en-US" sz="2600" dirty="0"/>
              <a:t>      </a:t>
            </a:r>
            <a:r>
              <a:rPr lang="zh-CN" altLang="en-US" sz="2400" dirty="0"/>
              <a:t>请举例</a:t>
            </a:r>
            <a:endParaRPr lang="zh-CN" altLang="en-US" sz="2400" dirty="0"/>
          </a:p>
          <a:p>
            <a:pPr eaLnBrk="1" hangingPunct="1">
              <a:lnSpc>
                <a:spcPct val="150000"/>
              </a:lnSpc>
            </a:pPr>
            <a:endParaRPr lang="zh-CN" altLang="en-US" sz="1800" dirty="0"/>
          </a:p>
        </p:txBody>
      </p:sp>
      <p:grpSp>
        <p:nvGrpSpPr>
          <p:cNvPr id="425988" name="Group 4"/>
          <p:cNvGrpSpPr/>
          <p:nvPr/>
        </p:nvGrpSpPr>
        <p:grpSpPr>
          <a:xfrm>
            <a:off x="6300788" y="2349500"/>
            <a:ext cx="2286000" cy="2911475"/>
            <a:chOff x="3936" y="1152"/>
            <a:chExt cx="1440" cy="1834"/>
          </a:xfrm>
        </p:grpSpPr>
        <p:sp>
          <p:nvSpPr>
            <p:cNvPr id="99334" name="Text Box 5"/>
            <p:cNvSpPr txBox="1"/>
            <p:nvPr/>
          </p:nvSpPr>
          <p:spPr>
            <a:xfrm>
              <a:off x="4128" y="1152"/>
              <a:ext cx="81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职工</a:t>
              </a:r>
              <a:endParaRPr lang="zh-CN" altLang="en-US" sz="2400" dirty="0">
                <a:solidFill>
                  <a:schemeClr val="tx1"/>
                </a:solidFill>
                <a:ea typeface="Arial" panose="020B0604020202020204" pitchFamily="34" charset="0"/>
              </a:endParaRPr>
            </a:p>
          </p:txBody>
        </p:sp>
        <p:sp>
          <p:nvSpPr>
            <p:cNvPr id="99335" name="AutoShape 6"/>
            <p:cNvSpPr/>
            <p:nvPr/>
          </p:nvSpPr>
          <p:spPr>
            <a:xfrm>
              <a:off x="4080" y="1920"/>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领导</a:t>
              </a:r>
              <a:endParaRPr lang="zh-CN" altLang="en-US" sz="2400" b="0" dirty="0">
                <a:solidFill>
                  <a:schemeClr val="tx1"/>
                </a:solidFill>
                <a:ea typeface="Arial" panose="020B0604020202020204" pitchFamily="34" charset="0"/>
              </a:endParaRPr>
            </a:p>
          </p:txBody>
        </p:sp>
        <p:sp>
          <p:nvSpPr>
            <p:cNvPr id="99336" name="Line 7"/>
            <p:cNvSpPr/>
            <p:nvPr/>
          </p:nvSpPr>
          <p:spPr>
            <a:xfrm flipV="1">
              <a:off x="4368" y="1440"/>
              <a:ext cx="0" cy="576"/>
            </a:xfrm>
            <a:prstGeom prst="line">
              <a:avLst/>
            </a:prstGeom>
            <a:ln w="9525" cap="flat" cmpd="sng">
              <a:solidFill>
                <a:schemeClr val="tx1"/>
              </a:solidFill>
              <a:prstDash val="solid"/>
              <a:headEnd type="none" w="med" len="med"/>
              <a:tailEnd type="none" w="med" len="med"/>
            </a:ln>
          </p:spPr>
        </p:sp>
        <p:sp>
          <p:nvSpPr>
            <p:cNvPr id="99337" name="Line 8"/>
            <p:cNvSpPr/>
            <p:nvPr/>
          </p:nvSpPr>
          <p:spPr>
            <a:xfrm>
              <a:off x="4704" y="1440"/>
              <a:ext cx="0" cy="576"/>
            </a:xfrm>
            <a:prstGeom prst="line">
              <a:avLst/>
            </a:prstGeom>
            <a:ln w="9525" cap="flat" cmpd="sng">
              <a:solidFill>
                <a:schemeClr val="tx1"/>
              </a:solidFill>
              <a:prstDash val="solid"/>
              <a:headEnd type="none" w="med" len="med"/>
              <a:tailEnd type="none" w="med" len="med"/>
            </a:ln>
          </p:spPr>
        </p:sp>
        <p:sp>
          <p:nvSpPr>
            <p:cNvPr id="99338" name="Text Box 9"/>
            <p:cNvSpPr txBox="1"/>
            <p:nvPr/>
          </p:nvSpPr>
          <p:spPr>
            <a:xfrm>
              <a:off x="4080" y="1584"/>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99339" name="Text Box 10"/>
            <p:cNvSpPr txBox="1"/>
            <p:nvPr/>
          </p:nvSpPr>
          <p:spPr>
            <a:xfrm>
              <a:off x="4752" y="1584"/>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99340" name="Text Box 11"/>
            <p:cNvSpPr txBox="1"/>
            <p:nvPr/>
          </p:nvSpPr>
          <p:spPr>
            <a:xfrm>
              <a:off x="3936" y="2544"/>
              <a:ext cx="1440"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000" dirty="0">
                  <a:solidFill>
                    <a:schemeClr val="tx1"/>
                  </a:solidFill>
                  <a:cs typeface="Arial" panose="020B0604020202020204" pitchFamily="34" charset="0"/>
                </a:rPr>
                <a:t>单个实体型内部</a:t>
              </a:r>
              <a:r>
                <a:rPr lang="en-US" altLang="zh-CN" sz="2000" dirty="0">
                  <a:solidFill>
                    <a:schemeClr val="tx1"/>
                  </a:solidFill>
                  <a:cs typeface="Arial" panose="020B0604020202020204" pitchFamily="34" charset="0"/>
                </a:rPr>
                <a:t>1:n</a:t>
              </a:r>
              <a:r>
                <a:rPr lang="zh-CN" altLang="en-US" sz="2000" dirty="0">
                  <a:solidFill>
                    <a:schemeClr val="tx1"/>
                  </a:solidFill>
                  <a:cs typeface="Arial" panose="020B0604020202020204" pitchFamily="34" charset="0"/>
                </a:rPr>
                <a:t>联系</a:t>
              </a:r>
              <a:endParaRPr lang="zh-CN" altLang="en-US" sz="2000" b="0" dirty="0">
                <a:solidFill>
                  <a:schemeClr val="tx1"/>
                </a:solidFill>
                <a:ea typeface="Arial" panose="020B0604020202020204" pitchFamily="34" charset="0"/>
              </a:endParaRPr>
            </a:p>
          </p:txBody>
        </p:sp>
      </p:grpSp>
      <p:sp>
        <p:nvSpPr>
          <p:cNvPr id="99333" name="Rectangle 13"/>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1.2.3 </a:t>
            </a:r>
            <a:r>
              <a:rPr lang="zh-CN" altLang="en-US" u="sng" dirty="0"/>
              <a:t>概念模型</a:t>
            </a:r>
            <a:r>
              <a:rPr lang="en-US" altLang="zh-CN" u="sng" dirty="0"/>
              <a:t>(cont)</a:t>
            </a:r>
            <a:endParaRPr lang="en-US" altLang="zh-CN" u="sng"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25987">
                                            <p:txEl>
                                              <p:charRg st="0" end="9"/>
                                            </p:txEl>
                                          </p:spTgt>
                                        </p:tgtEl>
                                        <p:attrNameLst>
                                          <p:attrName>style.visibility</p:attrName>
                                        </p:attrNameLst>
                                      </p:cBhvr>
                                      <p:to>
                                        <p:strVal val="visible"/>
                                      </p:to>
                                    </p:set>
                                    <p:animEffect transition="in" filter="checkerboard(across)">
                                      <p:cBhvr>
                                        <p:cTn id="7" dur="500"/>
                                        <p:tgtEl>
                                          <p:spTgt spid="425987">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25987">
                                            <p:txEl>
                                              <p:charRg st="9" end="15"/>
                                            </p:txEl>
                                          </p:spTgt>
                                        </p:tgtEl>
                                        <p:attrNameLst>
                                          <p:attrName>style.visibility</p:attrName>
                                        </p:attrNameLst>
                                      </p:cBhvr>
                                      <p:to>
                                        <p:strVal val="visible"/>
                                      </p:to>
                                    </p:set>
                                    <p:animEffect transition="in" filter="checkerboard(across)">
                                      <p:cBhvr>
                                        <p:cTn id="12" dur="500"/>
                                        <p:tgtEl>
                                          <p:spTgt spid="425987">
                                            <p:txEl>
                                              <p:charRg st="9" end="15"/>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425987">
                                            <p:txEl>
                                              <p:charRg st="15" end="18"/>
                                            </p:txEl>
                                          </p:spTgt>
                                        </p:tgtEl>
                                        <p:attrNameLst>
                                          <p:attrName>style.visibility</p:attrName>
                                        </p:attrNameLst>
                                      </p:cBhvr>
                                      <p:to>
                                        <p:strVal val="visible"/>
                                      </p:to>
                                    </p:set>
                                    <p:animEffect transition="in" filter="checkerboard(across)">
                                      <p:cBhvr>
                                        <p:cTn id="15" dur="500"/>
                                        <p:tgtEl>
                                          <p:spTgt spid="425987">
                                            <p:txEl>
                                              <p:charRg st="15" end="18"/>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425987">
                                            <p:txEl>
                                              <p:charRg st="18" end="38"/>
                                            </p:txEl>
                                          </p:spTgt>
                                        </p:tgtEl>
                                        <p:attrNameLst>
                                          <p:attrName>style.visibility</p:attrName>
                                        </p:attrNameLst>
                                      </p:cBhvr>
                                      <p:to>
                                        <p:strVal val="visible"/>
                                      </p:to>
                                    </p:set>
                                    <p:animEffect transition="in" filter="checkerboard(across)">
                                      <p:cBhvr>
                                        <p:cTn id="18" dur="500"/>
                                        <p:tgtEl>
                                          <p:spTgt spid="425987">
                                            <p:txEl>
                                              <p:charRg st="18" end="38"/>
                                            </p:txEl>
                                          </p:spTgt>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425987">
                                            <p:txEl>
                                              <p:charRg st="38" end="56"/>
                                            </p:txEl>
                                          </p:spTgt>
                                        </p:tgtEl>
                                        <p:attrNameLst>
                                          <p:attrName>style.visibility</p:attrName>
                                        </p:attrNameLst>
                                      </p:cBhvr>
                                      <p:to>
                                        <p:strVal val="visible"/>
                                      </p:to>
                                    </p:set>
                                    <p:animEffect transition="in" filter="checkerboard(across)">
                                      <p:cBhvr>
                                        <p:cTn id="21" dur="500"/>
                                        <p:tgtEl>
                                          <p:spTgt spid="425987">
                                            <p:txEl>
                                              <p:charRg st="38" end="56"/>
                                            </p:txEl>
                                          </p:spTgt>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425987">
                                            <p:txEl>
                                              <p:charRg st="56" end="73"/>
                                            </p:txEl>
                                          </p:spTgt>
                                        </p:tgtEl>
                                        <p:attrNameLst>
                                          <p:attrName>style.visibility</p:attrName>
                                        </p:attrNameLst>
                                      </p:cBhvr>
                                      <p:to>
                                        <p:strVal val="visible"/>
                                      </p:to>
                                    </p:set>
                                    <p:animEffect transition="in" filter="checkerboard(across)">
                                      <p:cBhvr>
                                        <p:cTn id="24" dur="500"/>
                                        <p:tgtEl>
                                          <p:spTgt spid="425987">
                                            <p:txEl>
                                              <p:charRg st="56" end="73"/>
                                            </p:txEl>
                                          </p:spTgt>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425987">
                                            <p:txEl>
                                              <p:charRg st="73" end="82"/>
                                            </p:txEl>
                                          </p:spTgt>
                                        </p:tgtEl>
                                        <p:attrNameLst>
                                          <p:attrName>style.visibility</p:attrName>
                                        </p:attrNameLst>
                                      </p:cBhvr>
                                      <p:to>
                                        <p:strVal val="visible"/>
                                      </p:to>
                                    </p:set>
                                    <p:animEffect transition="in" filter="checkerboard(across)">
                                      <p:cBhvr>
                                        <p:cTn id="27" dur="500"/>
                                        <p:tgtEl>
                                          <p:spTgt spid="425987">
                                            <p:txEl>
                                              <p:charRg st="73" end="8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425987">
                                            <p:txEl>
                                              <p:charRg st="82" end="88"/>
                                            </p:txEl>
                                          </p:spTgt>
                                        </p:tgtEl>
                                        <p:attrNameLst>
                                          <p:attrName>style.visibility</p:attrName>
                                        </p:attrNameLst>
                                      </p:cBhvr>
                                      <p:to>
                                        <p:strVal val="visible"/>
                                      </p:to>
                                    </p:set>
                                    <p:animEffect transition="in" filter="checkerboard(across)">
                                      <p:cBhvr>
                                        <p:cTn id="32" dur="500"/>
                                        <p:tgtEl>
                                          <p:spTgt spid="425987">
                                            <p:txEl>
                                              <p:charRg st="82" end="8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425987">
                                            <p:txEl>
                                              <p:charRg st="88" end="98"/>
                                            </p:txEl>
                                          </p:spTgt>
                                        </p:tgtEl>
                                        <p:attrNameLst>
                                          <p:attrName>style.visibility</p:attrName>
                                        </p:attrNameLst>
                                      </p:cBhvr>
                                      <p:to>
                                        <p:strVal val="visible"/>
                                      </p:to>
                                    </p:set>
                                    <p:animEffect transition="in" filter="checkerboard(across)">
                                      <p:cBhvr>
                                        <p:cTn id="37" dur="500"/>
                                        <p:tgtEl>
                                          <p:spTgt spid="425987">
                                            <p:txEl>
                                              <p:charRg st="88" end="9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425988"/>
                                        </p:tgtEl>
                                        <p:attrNameLst>
                                          <p:attrName>style.visibility</p:attrName>
                                        </p:attrNameLst>
                                      </p:cBhvr>
                                      <p:to>
                                        <p:strVal val="visible"/>
                                      </p:to>
                                    </p:set>
                                    <p:anim calcmode="lin" valueType="num">
                                      <p:cBhvr additive="base">
                                        <p:cTn id="42" dur="500" fill="hold"/>
                                        <p:tgtEl>
                                          <p:spTgt spid="425988"/>
                                        </p:tgtEl>
                                        <p:attrNameLst>
                                          <p:attrName>ppt_x</p:attrName>
                                        </p:attrNameLst>
                                      </p:cBhvr>
                                      <p:tavLst>
                                        <p:tav tm="0">
                                          <p:val>
                                            <p:strVal val="1+#ppt_w/2"/>
                                          </p:val>
                                        </p:tav>
                                        <p:tav tm="100000">
                                          <p:val>
                                            <p:strVal val="#ppt_x"/>
                                          </p:val>
                                        </p:tav>
                                      </p:tavLst>
                                    </p:anim>
                                    <p:anim calcmode="lin" valueType="num">
                                      <p:cBhvr additive="base">
                                        <p:cTn id="43" dur="500" fill="hold"/>
                                        <p:tgtEl>
                                          <p:spTgt spid="4259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7"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grpSp>
        <p:nvGrpSpPr>
          <p:cNvPr id="100355" name="Group 3"/>
          <p:cNvGrpSpPr/>
          <p:nvPr/>
        </p:nvGrpSpPr>
        <p:grpSpPr>
          <a:xfrm>
            <a:off x="3886200" y="2057400"/>
            <a:ext cx="2286000" cy="2971800"/>
            <a:chOff x="3936" y="1152"/>
            <a:chExt cx="1440" cy="1872"/>
          </a:xfrm>
        </p:grpSpPr>
        <p:sp>
          <p:nvSpPr>
            <p:cNvPr id="100358" name="Text Box 4"/>
            <p:cNvSpPr txBox="1"/>
            <p:nvPr/>
          </p:nvSpPr>
          <p:spPr>
            <a:xfrm>
              <a:off x="4128" y="1152"/>
              <a:ext cx="81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400" dirty="0">
                  <a:solidFill>
                    <a:schemeClr val="tx1"/>
                  </a:solidFill>
                  <a:cs typeface="Arial" panose="020B0604020202020204" pitchFamily="34" charset="0"/>
                </a:rPr>
                <a:t>实体型</a:t>
              </a:r>
              <a:r>
                <a:rPr lang="en-US" altLang="zh-CN" sz="2400" dirty="0">
                  <a:solidFill>
                    <a:schemeClr val="tx1"/>
                  </a:solidFill>
                  <a:cs typeface="Arial" panose="020B0604020202020204" pitchFamily="34" charset="0"/>
                </a:rPr>
                <a:t>1</a:t>
              </a:r>
              <a:endParaRPr lang="en-US" altLang="zh-CN" sz="2400" dirty="0">
                <a:solidFill>
                  <a:schemeClr val="tx1"/>
                </a:solidFill>
                <a:ea typeface="Arial" panose="020B0604020202020204" pitchFamily="34" charset="0"/>
              </a:endParaRPr>
            </a:p>
          </p:txBody>
        </p:sp>
        <p:sp>
          <p:nvSpPr>
            <p:cNvPr id="100359" name="AutoShape 5"/>
            <p:cNvSpPr/>
            <p:nvPr/>
          </p:nvSpPr>
          <p:spPr>
            <a:xfrm>
              <a:off x="4080" y="1920"/>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联系名</a:t>
              </a:r>
              <a:endParaRPr lang="zh-CN" altLang="en-US" sz="2400" b="0" dirty="0">
                <a:solidFill>
                  <a:schemeClr val="tx1"/>
                </a:solidFill>
                <a:ea typeface="Arial" panose="020B0604020202020204" pitchFamily="34" charset="0"/>
              </a:endParaRPr>
            </a:p>
          </p:txBody>
        </p:sp>
        <p:sp>
          <p:nvSpPr>
            <p:cNvPr id="100360" name="Line 6"/>
            <p:cNvSpPr/>
            <p:nvPr/>
          </p:nvSpPr>
          <p:spPr>
            <a:xfrm flipV="1">
              <a:off x="4368" y="1440"/>
              <a:ext cx="0" cy="576"/>
            </a:xfrm>
            <a:prstGeom prst="line">
              <a:avLst/>
            </a:prstGeom>
            <a:ln w="9525" cap="flat" cmpd="sng">
              <a:solidFill>
                <a:schemeClr val="tx1"/>
              </a:solidFill>
              <a:prstDash val="solid"/>
              <a:headEnd type="none" w="med" len="med"/>
              <a:tailEnd type="none" w="med" len="med"/>
            </a:ln>
          </p:spPr>
        </p:sp>
        <p:sp>
          <p:nvSpPr>
            <p:cNvPr id="100361" name="Line 7"/>
            <p:cNvSpPr/>
            <p:nvPr/>
          </p:nvSpPr>
          <p:spPr>
            <a:xfrm>
              <a:off x="4704" y="1440"/>
              <a:ext cx="0" cy="576"/>
            </a:xfrm>
            <a:prstGeom prst="line">
              <a:avLst/>
            </a:prstGeom>
            <a:ln w="9525" cap="flat" cmpd="sng">
              <a:solidFill>
                <a:schemeClr val="tx1"/>
              </a:solidFill>
              <a:prstDash val="solid"/>
              <a:headEnd type="none" w="med" len="med"/>
              <a:tailEnd type="none" w="med" len="med"/>
            </a:ln>
          </p:spPr>
        </p:sp>
        <p:sp>
          <p:nvSpPr>
            <p:cNvPr id="100362" name="Text Box 8"/>
            <p:cNvSpPr txBox="1"/>
            <p:nvPr/>
          </p:nvSpPr>
          <p:spPr>
            <a:xfrm>
              <a:off x="4080" y="1584"/>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00363" name="Text Box 9"/>
            <p:cNvSpPr txBox="1"/>
            <p:nvPr/>
          </p:nvSpPr>
          <p:spPr>
            <a:xfrm>
              <a:off x="4752" y="1584"/>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00364" name="Text Box 10"/>
            <p:cNvSpPr txBox="1"/>
            <p:nvPr/>
          </p:nvSpPr>
          <p:spPr>
            <a:xfrm>
              <a:off x="3936" y="2544"/>
              <a:ext cx="1440" cy="4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200" dirty="0">
                  <a:solidFill>
                    <a:schemeClr val="tx1"/>
                  </a:solidFill>
                  <a:cs typeface="Arial" panose="020B0604020202020204" pitchFamily="34" charset="0"/>
                </a:rPr>
                <a:t>单个实体型内的</a:t>
              </a:r>
              <a:r>
                <a:rPr lang="en-US" altLang="zh-CN" sz="2200" dirty="0">
                  <a:solidFill>
                    <a:schemeClr val="tx1"/>
                  </a:solidFill>
                  <a:cs typeface="Arial" panose="020B0604020202020204" pitchFamily="34" charset="0"/>
                </a:rPr>
                <a:t>m:n</a:t>
              </a:r>
              <a:r>
                <a:rPr lang="zh-CN" altLang="en-US" sz="2200" dirty="0">
                  <a:solidFill>
                    <a:schemeClr val="tx1"/>
                  </a:solidFill>
                  <a:cs typeface="Arial" panose="020B0604020202020204" pitchFamily="34" charset="0"/>
                </a:rPr>
                <a:t>联系</a:t>
              </a:r>
              <a:endParaRPr lang="zh-CN" altLang="en-US" sz="2200" b="0" dirty="0">
                <a:solidFill>
                  <a:schemeClr val="tx1"/>
                </a:solidFill>
                <a:ea typeface="Arial" panose="020B0604020202020204" pitchFamily="34" charset="0"/>
              </a:endParaRPr>
            </a:p>
          </p:txBody>
        </p:sp>
      </p:grpSp>
      <p:sp>
        <p:nvSpPr>
          <p:cNvPr id="100356" name="Rectangle 11"/>
          <p:cNvSpPr/>
          <p:nvPr/>
        </p:nvSpPr>
        <p:spPr>
          <a:xfrm>
            <a:off x="769938" y="2003425"/>
            <a:ext cx="2659062" cy="957263"/>
          </a:xfrm>
          <a:prstGeom prst="rect">
            <a:avLst/>
          </a:prstGeom>
          <a:noFill/>
          <a:ln w="254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
                <a:schemeClr val="accent1"/>
              </a:buClr>
              <a:buFont typeface="Wingdings" panose="05000000000000000000" pitchFamily="2" charset="2"/>
              <a:buChar char="v"/>
            </a:pPr>
            <a:r>
              <a:rPr lang="zh-CN" altLang="en-US" sz="2800" b="0" dirty="0">
                <a:solidFill>
                  <a:schemeClr val="tx1"/>
                </a:solidFill>
                <a:cs typeface="Arial" panose="020B0604020202020204" pitchFamily="34" charset="0"/>
              </a:rPr>
              <a:t>多对多联系</a:t>
            </a:r>
            <a:endParaRPr lang="zh-CN" altLang="en-US" sz="2800" b="0" dirty="0">
              <a:solidFill>
                <a:schemeClr val="tx1"/>
              </a:solidFill>
              <a:cs typeface="Arial" panose="020B0604020202020204" pitchFamily="34" charset="0"/>
            </a:endParaRPr>
          </a:p>
          <a:p>
            <a:pPr marL="342900" lvl="0" indent="-342900" algn="ctr" eaLnBrk="1" hangingPunct="1">
              <a:lnSpc>
                <a:spcPct val="120000"/>
              </a:lnSpc>
              <a:spcBef>
                <a:spcPct val="0"/>
              </a:spcBef>
              <a:buClr>
                <a:schemeClr val="accent1"/>
              </a:buClr>
              <a:buNone/>
            </a:pPr>
            <a:r>
              <a:rPr lang="zh-CN" altLang="en-US" sz="2400" b="0" dirty="0">
                <a:solidFill>
                  <a:schemeClr val="tx1"/>
                </a:solidFill>
                <a:cs typeface="Arial" panose="020B0604020202020204" pitchFamily="34" charset="0"/>
              </a:rPr>
              <a:t>请举例</a:t>
            </a:r>
            <a:endParaRPr lang="zh-CN" altLang="en-US" sz="2400" b="0" dirty="0">
              <a:solidFill>
                <a:schemeClr val="tx1"/>
              </a:solidFill>
              <a:ea typeface="Arial" panose="020B0604020202020204" pitchFamily="34" charset="0"/>
            </a:endParaRPr>
          </a:p>
        </p:txBody>
      </p:sp>
      <p:sp>
        <p:nvSpPr>
          <p:cNvPr id="100357" name="Rectangle 13"/>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u="sng" dirty="0"/>
              <a:t>1.2.3 </a:t>
            </a:r>
            <a:r>
              <a:rPr lang="zh-CN" altLang="en-US" u="sng" dirty="0"/>
              <a:t>概念模型</a:t>
            </a:r>
            <a:r>
              <a:rPr lang="en-US" altLang="zh-CN" u="sng" dirty="0"/>
              <a:t>(cont)</a:t>
            </a:r>
            <a:endParaRPr lang="en-US" altLang="zh-CN" u="sng"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137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1380" name="Rectangle 3"/>
          <p:cNvSpPr>
            <a:spLocks noGrp="1"/>
          </p:cNvSpPr>
          <p:nvPr>
            <p:ph idx="1"/>
          </p:nvPr>
        </p:nvSpPr>
        <p:spPr>
          <a:xfrm>
            <a:off x="457200" y="1143000"/>
            <a:ext cx="7848600" cy="762000"/>
          </a:xfrm>
          <a:ln/>
        </p:spPr>
        <p:txBody>
          <a:bodyPr vert="horz" wrap="square" lIns="91440" tIns="45720" rIns="91440" bIns="45720" anchor="t" anchorCtr="0"/>
          <a:p>
            <a:pPr marL="609600" indent="-609600" eaLnBrk="1" hangingPunct="1"/>
            <a:r>
              <a:rPr lang="zh-CN" altLang="en-US" sz="3600" dirty="0"/>
              <a:t>联系属性的表示方法</a:t>
            </a:r>
            <a:endParaRPr lang="zh-CN" altLang="en-US" sz="3600" dirty="0"/>
          </a:p>
        </p:txBody>
      </p:sp>
      <p:grpSp>
        <p:nvGrpSpPr>
          <p:cNvPr id="101381" name="Group 4"/>
          <p:cNvGrpSpPr/>
          <p:nvPr/>
        </p:nvGrpSpPr>
        <p:grpSpPr>
          <a:xfrm>
            <a:off x="2819400" y="2209800"/>
            <a:ext cx="3505200" cy="4191000"/>
            <a:chOff x="1632" y="1200"/>
            <a:chExt cx="2208" cy="2640"/>
          </a:xfrm>
        </p:grpSpPr>
        <p:grpSp>
          <p:nvGrpSpPr>
            <p:cNvPr id="101382" name="Group 5"/>
            <p:cNvGrpSpPr/>
            <p:nvPr/>
          </p:nvGrpSpPr>
          <p:grpSpPr>
            <a:xfrm>
              <a:off x="1632" y="1200"/>
              <a:ext cx="1008" cy="2640"/>
              <a:chOff x="1056" y="1344"/>
              <a:chExt cx="1008" cy="2640"/>
            </a:xfrm>
          </p:grpSpPr>
          <p:sp>
            <p:nvSpPr>
              <p:cNvPr id="101385" name="Text Box 6"/>
              <p:cNvSpPr txBox="1"/>
              <p:nvPr/>
            </p:nvSpPr>
            <p:spPr>
              <a:xfrm>
                <a:off x="1104" y="1344"/>
                <a:ext cx="81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课程</a:t>
                </a:r>
                <a:endParaRPr lang="zh-CN" altLang="en-US" sz="2400" dirty="0">
                  <a:solidFill>
                    <a:schemeClr val="tx1"/>
                  </a:solidFill>
                  <a:ea typeface="Arial" panose="020B0604020202020204" pitchFamily="34" charset="0"/>
                </a:endParaRPr>
              </a:p>
            </p:txBody>
          </p:sp>
          <p:sp>
            <p:nvSpPr>
              <p:cNvPr id="101386"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选修</a:t>
                </a:r>
                <a:endParaRPr lang="zh-CN" altLang="en-US" sz="2400" b="0" dirty="0">
                  <a:solidFill>
                    <a:schemeClr val="tx1"/>
                  </a:solidFill>
                  <a:ea typeface="Arial" panose="020B0604020202020204" pitchFamily="34" charset="0"/>
                </a:endParaRPr>
              </a:p>
            </p:txBody>
          </p:sp>
          <p:sp>
            <p:nvSpPr>
              <p:cNvPr id="101387" name="Text Box 8"/>
              <p:cNvSpPr txBox="1"/>
              <p:nvPr/>
            </p:nvSpPr>
            <p:spPr>
              <a:xfrm>
                <a:off x="1152" y="3168"/>
                <a:ext cx="816"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学生</a:t>
                </a:r>
                <a:endParaRPr lang="zh-CN" altLang="en-US" sz="2400" dirty="0">
                  <a:solidFill>
                    <a:schemeClr val="tx1"/>
                  </a:solidFill>
                  <a:ea typeface="Arial" panose="020B0604020202020204" pitchFamily="34" charset="0"/>
                </a:endParaRPr>
              </a:p>
            </p:txBody>
          </p:sp>
          <p:sp>
            <p:nvSpPr>
              <p:cNvPr id="101388" name="Line 9"/>
              <p:cNvSpPr/>
              <p:nvPr/>
            </p:nvSpPr>
            <p:spPr>
              <a:xfrm flipV="1">
                <a:off x="1536" y="1632"/>
                <a:ext cx="0" cy="480"/>
              </a:xfrm>
              <a:prstGeom prst="line">
                <a:avLst/>
              </a:prstGeom>
              <a:ln w="9525" cap="flat" cmpd="sng">
                <a:solidFill>
                  <a:schemeClr val="tx1"/>
                </a:solidFill>
                <a:prstDash val="solid"/>
                <a:headEnd type="none" w="med" len="med"/>
                <a:tailEnd type="none" w="med" len="med"/>
              </a:ln>
            </p:spPr>
          </p:sp>
          <p:sp>
            <p:nvSpPr>
              <p:cNvPr id="101389" name="Line 10"/>
              <p:cNvSpPr/>
              <p:nvPr/>
            </p:nvSpPr>
            <p:spPr>
              <a:xfrm>
                <a:off x="1536" y="2592"/>
                <a:ext cx="0" cy="576"/>
              </a:xfrm>
              <a:prstGeom prst="line">
                <a:avLst/>
              </a:prstGeom>
              <a:ln w="9525" cap="flat" cmpd="sng">
                <a:solidFill>
                  <a:schemeClr val="tx1"/>
                </a:solidFill>
                <a:prstDash val="solid"/>
                <a:headEnd type="none" w="med" len="med"/>
                <a:tailEnd type="none" w="med" len="med"/>
              </a:ln>
            </p:spPr>
          </p:sp>
          <p:sp>
            <p:nvSpPr>
              <p:cNvPr id="101390" name="Text Box 11"/>
              <p:cNvSpPr txBox="1"/>
              <p:nvPr/>
            </p:nvSpPr>
            <p:spPr>
              <a:xfrm>
                <a:off x="1152" y="1776"/>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01391" name="Text Box 12"/>
              <p:cNvSpPr txBox="1"/>
              <p:nvPr/>
            </p:nvSpPr>
            <p:spPr>
              <a:xfrm>
                <a:off x="1200" y="2736"/>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en-US" altLang="zh-CN" sz="240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01392" name="Text Box 13"/>
              <p:cNvSpPr txBox="1"/>
              <p:nvPr/>
            </p:nvSpPr>
            <p:spPr>
              <a:xfrm>
                <a:off x="1200" y="3696"/>
                <a:ext cx="86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endParaRPr lang="en-US" altLang="en-US" sz="2400" b="0" dirty="0">
                  <a:solidFill>
                    <a:schemeClr val="tx1"/>
                  </a:solidFill>
                  <a:ea typeface="Arial" panose="020B0604020202020204" pitchFamily="34" charset="0"/>
                </a:endParaRPr>
              </a:p>
            </p:txBody>
          </p:sp>
        </p:grpSp>
        <p:sp>
          <p:nvSpPr>
            <p:cNvPr id="101383" name="Oval 14"/>
            <p:cNvSpPr/>
            <p:nvPr/>
          </p:nvSpPr>
          <p:spPr>
            <a:xfrm>
              <a:off x="3072" y="2016"/>
              <a:ext cx="768"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成绩</a:t>
              </a:r>
              <a:endParaRPr lang="zh-CN" altLang="en-US" sz="2400" dirty="0">
                <a:solidFill>
                  <a:schemeClr val="tx1"/>
                </a:solidFill>
                <a:ea typeface="Arial" panose="020B0604020202020204" pitchFamily="34" charset="0"/>
              </a:endParaRPr>
            </a:p>
          </p:txBody>
        </p:sp>
        <p:sp>
          <p:nvSpPr>
            <p:cNvPr id="101384" name="Line 15"/>
            <p:cNvSpPr/>
            <p:nvPr/>
          </p:nvSpPr>
          <p:spPr>
            <a:xfrm>
              <a:off x="2592" y="2208"/>
              <a:ext cx="480" cy="0"/>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0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2404" name="Rectangle 3"/>
          <p:cNvSpPr>
            <a:spLocks noGrp="1"/>
          </p:cNvSpPr>
          <p:nvPr>
            <p:ph idx="1"/>
          </p:nvPr>
        </p:nvSpPr>
        <p:spPr>
          <a:xfrm>
            <a:off x="228600" y="762000"/>
            <a:ext cx="8686800" cy="1600200"/>
          </a:xfrm>
          <a:ln/>
        </p:spPr>
        <p:txBody>
          <a:bodyPr vert="horz" wrap="square" lIns="91440" tIns="45720" rIns="91440" bIns="45720" anchor="t" anchorCtr="0"/>
          <a:p>
            <a:pPr eaLnBrk="1" hangingPunct="1"/>
            <a:r>
              <a:rPr lang="zh-CN" altLang="en-US" dirty="0"/>
              <a:t>码在</a:t>
            </a:r>
            <a:r>
              <a:rPr lang="en-US" altLang="zh-CN" dirty="0"/>
              <a:t>E-R</a:t>
            </a:r>
            <a:r>
              <a:rPr lang="zh-CN" altLang="en-US" dirty="0"/>
              <a:t>图中的表示</a:t>
            </a:r>
            <a:endParaRPr lang="zh-CN" altLang="en-US" dirty="0"/>
          </a:p>
          <a:p>
            <a:pPr lvl="1" eaLnBrk="1" hangingPunct="1"/>
            <a:r>
              <a:rPr lang="zh-CN" altLang="en-US" dirty="0"/>
              <a:t>实体集属性中作为主码的一部分的属性用</a:t>
            </a:r>
            <a:r>
              <a:rPr lang="zh-CN" altLang="en-US" u="sng" dirty="0">
                <a:solidFill>
                  <a:srgbClr val="FF3300"/>
                </a:solidFill>
              </a:rPr>
              <a:t>下划线</a:t>
            </a:r>
            <a:r>
              <a:rPr lang="zh-CN" altLang="en-US" dirty="0"/>
              <a:t>来标明。</a:t>
            </a:r>
            <a:endParaRPr lang="zh-CN" altLang="en-US" dirty="0"/>
          </a:p>
        </p:txBody>
      </p:sp>
      <p:grpSp>
        <p:nvGrpSpPr>
          <p:cNvPr id="102405" name="Group 4"/>
          <p:cNvGrpSpPr/>
          <p:nvPr/>
        </p:nvGrpSpPr>
        <p:grpSpPr>
          <a:xfrm>
            <a:off x="0" y="2895600"/>
            <a:ext cx="8991600" cy="2803525"/>
            <a:chOff x="48" y="2352"/>
            <a:chExt cx="5664" cy="1766"/>
          </a:xfrm>
        </p:grpSpPr>
        <p:sp>
          <p:nvSpPr>
            <p:cNvPr id="102406" name="Text Box 5"/>
            <p:cNvSpPr txBox="1"/>
            <p:nvPr/>
          </p:nvSpPr>
          <p:spPr>
            <a:xfrm>
              <a:off x="1029" y="3371"/>
              <a:ext cx="840" cy="498"/>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50000"/>
                </a:spcBef>
                <a:buClrTx/>
                <a:buFontTx/>
                <a:buNone/>
              </a:pPr>
              <a:r>
                <a:rPr lang="zh-CN" altLang="en-US" sz="4400" dirty="0">
                  <a:solidFill>
                    <a:schemeClr val="tx2"/>
                  </a:solidFill>
                  <a:ea typeface="华文新魏" panose="02010800040101010101" pitchFamily="2" charset="-122"/>
                </a:rPr>
                <a:t>学生</a:t>
              </a:r>
              <a:endParaRPr lang="zh-CN" altLang="en-US" sz="4400" b="0" dirty="0">
                <a:solidFill>
                  <a:schemeClr val="tx2"/>
                </a:solidFill>
                <a:ea typeface="华文新魏" panose="02010800040101010101" pitchFamily="2" charset="-122"/>
              </a:endParaRPr>
            </a:p>
          </p:txBody>
        </p:sp>
        <p:sp>
          <p:nvSpPr>
            <p:cNvPr id="102407" name="Text Box 6"/>
            <p:cNvSpPr txBox="1"/>
            <p:nvPr/>
          </p:nvSpPr>
          <p:spPr>
            <a:xfrm>
              <a:off x="3940" y="3419"/>
              <a:ext cx="838" cy="498"/>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50000"/>
                </a:spcBef>
                <a:buClrTx/>
                <a:buFontTx/>
                <a:buNone/>
              </a:pPr>
              <a:r>
                <a:rPr lang="zh-CN" altLang="en-US" sz="4400" dirty="0">
                  <a:solidFill>
                    <a:schemeClr val="tx2"/>
                  </a:solidFill>
                  <a:ea typeface="华文新魏" panose="02010800040101010101" pitchFamily="2" charset="-122"/>
                </a:rPr>
                <a:t>课程</a:t>
              </a:r>
              <a:endParaRPr lang="zh-CN" altLang="en-US" sz="4400" b="0" dirty="0">
                <a:solidFill>
                  <a:schemeClr val="tx2"/>
                </a:solidFill>
                <a:ea typeface="华文新魏" panose="02010800040101010101" pitchFamily="2" charset="-122"/>
              </a:endParaRPr>
            </a:p>
          </p:txBody>
        </p:sp>
        <p:sp>
          <p:nvSpPr>
            <p:cNvPr id="102408" name="AutoShape 7"/>
            <p:cNvSpPr/>
            <p:nvPr/>
          </p:nvSpPr>
          <p:spPr>
            <a:xfrm>
              <a:off x="2400" y="3110"/>
              <a:ext cx="960" cy="1008"/>
            </a:xfrm>
            <a:prstGeom prst="diamond">
              <a:avLst/>
            </a:prstGeom>
            <a:solidFill>
              <a:srgbClr val="808000"/>
            </a:solidFill>
            <a:ln w="28575"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4400" dirty="0">
                  <a:solidFill>
                    <a:schemeClr val="tx2"/>
                  </a:solidFill>
                  <a:ea typeface="华文新魏" panose="02010800040101010101" pitchFamily="2" charset="-122"/>
                </a:rPr>
                <a:t>选修</a:t>
              </a:r>
              <a:endParaRPr lang="zh-CN" altLang="en-US" sz="4400" dirty="0">
                <a:solidFill>
                  <a:schemeClr val="tx2"/>
                </a:solidFill>
                <a:ea typeface="华文新魏" panose="02010800040101010101" pitchFamily="2" charset="-122"/>
              </a:endParaRPr>
            </a:p>
          </p:txBody>
        </p:sp>
        <p:sp>
          <p:nvSpPr>
            <p:cNvPr id="102409" name="Oval 8" descr="Large confetti"/>
            <p:cNvSpPr/>
            <p:nvPr/>
          </p:nvSpPr>
          <p:spPr>
            <a:xfrm>
              <a:off x="48" y="2352"/>
              <a:ext cx="864"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姓名</a:t>
              </a:r>
              <a:endParaRPr lang="zh-CN" altLang="en-US" sz="2800" dirty="0">
                <a:solidFill>
                  <a:schemeClr val="tx2"/>
                </a:solidFill>
                <a:ea typeface="华文新魏" panose="02010800040101010101" pitchFamily="2" charset="-122"/>
              </a:endParaRPr>
            </a:p>
          </p:txBody>
        </p:sp>
        <p:sp>
          <p:nvSpPr>
            <p:cNvPr id="102410" name="Oval 9" descr="Large confetti"/>
            <p:cNvSpPr/>
            <p:nvPr/>
          </p:nvSpPr>
          <p:spPr>
            <a:xfrm>
              <a:off x="1008" y="2352"/>
              <a:ext cx="864"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50000"/>
                </a:spcBef>
                <a:buClrTx/>
                <a:buFontTx/>
                <a:buNone/>
              </a:pPr>
              <a:r>
                <a:rPr lang="zh-CN" altLang="en-US" sz="2800" u="sng" dirty="0">
                  <a:solidFill>
                    <a:schemeClr val="tx2"/>
                  </a:solidFill>
                  <a:ea typeface="华文新魏" panose="02010800040101010101" pitchFamily="2" charset="-122"/>
                </a:rPr>
                <a:t>学号</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102411" name="Oval 10" descr="Large confetti"/>
            <p:cNvSpPr/>
            <p:nvPr/>
          </p:nvSpPr>
          <p:spPr>
            <a:xfrm>
              <a:off x="1968" y="2352"/>
              <a:ext cx="864"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系别</a:t>
              </a:r>
              <a:endParaRPr lang="zh-CN" altLang="en-US" sz="2800" dirty="0">
                <a:solidFill>
                  <a:schemeClr val="tx2"/>
                </a:solidFill>
                <a:ea typeface="华文新魏" panose="02010800040101010101" pitchFamily="2" charset="-122"/>
              </a:endParaRPr>
            </a:p>
          </p:txBody>
        </p:sp>
        <p:sp>
          <p:nvSpPr>
            <p:cNvPr id="102412" name="Line 11"/>
            <p:cNvSpPr/>
            <p:nvPr/>
          </p:nvSpPr>
          <p:spPr>
            <a:xfrm flipH="1">
              <a:off x="1872" y="3600"/>
              <a:ext cx="528" cy="0"/>
            </a:xfrm>
            <a:prstGeom prst="line">
              <a:avLst/>
            </a:prstGeom>
            <a:ln w="28575" cap="sq" cmpd="sng">
              <a:solidFill>
                <a:schemeClr val="tx1"/>
              </a:solidFill>
              <a:prstDash val="solid"/>
              <a:headEnd type="none" w="sm" len="sm"/>
              <a:tailEnd type="none" w="sm" len="sm"/>
            </a:ln>
          </p:spPr>
        </p:sp>
        <p:sp>
          <p:nvSpPr>
            <p:cNvPr id="102413" name="Line 12"/>
            <p:cNvSpPr/>
            <p:nvPr/>
          </p:nvSpPr>
          <p:spPr>
            <a:xfrm>
              <a:off x="1440" y="2784"/>
              <a:ext cx="0" cy="576"/>
            </a:xfrm>
            <a:prstGeom prst="line">
              <a:avLst/>
            </a:prstGeom>
            <a:ln w="28575" cap="sq" cmpd="sng">
              <a:solidFill>
                <a:schemeClr val="tx1"/>
              </a:solidFill>
              <a:prstDash val="solid"/>
              <a:headEnd type="none" w="sm" len="sm"/>
              <a:tailEnd type="none" w="sm" len="sm"/>
            </a:ln>
          </p:spPr>
        </p:sp>
        <p:sp>
          <p:nvSpPr>
            <p:cNvPr id="102414" name="Line 13"/>
            <p:cNvSpPr/>
            <p:nvPr/>
          </p:nvSpPr>
          <p:spPr>
            <a:xfrm flipH="1" flipV="1">
              <a:off x="480" y="2784"/>
              <a:ext cx="720" cy="576"/>
            </a:xfrm>
            <a:prstGeom prst="line">
              <a:avLst/>
            </a:prstGeom>
            <a:ln w="28575" cap="sq" cmpd="sng">
              <a:solidFill>
                <a:schemeClr val="tx1"/>
              </a:solidFill>
              <a:prstDash val="solid"/>
              <a:headEnd type="none" w="sm" len="sm"/>
              <a:tailEnd type="none" w="sm" len="sm"/>
            </a:ln>
          </p:spPr>
        </p:sp>
        <p:sp>
          <p:nvSpPr>
            <p:cNvPr id="102415" name="Line 14"/>
            <p:cNvSpPr/>
            <p:nvPr/>
          </p:nvSpPr>
          <p:spPr>
            <a:xfrm flipV="1">
              <a:off x="1680" y="2784"/>
              <a:ext cx="768" cy="576"/>
            </a:xfrm>
            <a:prstGeom prst="line">
              <a:avLst/>
            </a:prstGeom>
            <a:ln w="28575" cap="sq" cmpd="sng">
              <a:solidFill>
                <a:schemeClr val="tx1"/>
              </a:solidFill>
              <a:prstDash val="solid"/>
              <a:headEnd type="none" w="sm" len="sm"/>
              <a:tailEnd type="none" w="sm" len="sm"/>
            </a:ln>
          </p:spPr>
        </p:sp>
        <p:sp>
          <p:nvSpPr>
            <p:cNvPr id="102416" name="Oval 15" descr="Large confetti"/>
            <p:cNvSpPr/>
            <p:nvPr/>
          </p:nvSpPr>
          <p:spPr>
            <a:xfrm>
              <a:off x="2928" y="2400"/>
              <a:ext cx="864"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u="sng" dirty="0">
                  <a:solidFill>
                    <a:schemeClr val="tx2"/>
                  </a:solidFill>
                  <a:ea typeface="华文新魏" panose="02010800040101010101" pitchFamily="2" charset="-122"/>
                </a:rPr>
                <a:t>课程名</a:t>
              </a:r>
              <a:endParaRPr lang="zh-CN" altLang="en-US" sz="2800" u="sng" dirty="0">
                <a:solidFill>
                  <a:schemeClr val="tx2"/>
                </a:solidFill>
                <a:ea typeface="华文新魏" panose="02010800040101010101" pitchFamily="2" charset="-122"/>
              </a:endParaRPr>
            </a:p>
          </p:txBody>
        </p:sp>
        <p:sp>
          <p:nvSpPr>
            <p:cNvPr id="102417" name="Oval 16" descr="Large confetti"/>
            <p:cNvSpPr/>
            <p:nvPr/>
          </p:nvSpPr>
          <p:spPr>
            <a:xfrm>
              <a:off x="3888" y="2400"/>
              <a:ext cx="864"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先修课</a:t>
              </a:r>
              <a:endParaRPr lang="zh-CN" altLang="en-US" sz="2800" dirty="0">
                <a:solidFill>
                  <a:schemeClr val="tx2"/>
                </a:solidFill>
                <a:ea typeface="华文新魏" panose="02010800040101010101" pitchFamily="2" charset="-122"/>
              </a:endParaRPr>
            </a:p>
          </p:txBody>
        </p:sp>
        <p:sp>
          <p:nvSpPr>
            <p:cNvPr id="102418" name="Oval 17" descr="Large confetti"/>
            <p:cNvSpPr/>
            <p:nvPr/>
          </p:nvSpPr>
          <p:spPr>
            <a:xfrm>
              <a:off x="4800" y="2400"/>
              <a:ext cx="912"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学分</a:t>
              </a:r>
              <a:endParaRPr lang="zh-CN" altLang="en-US" sz="2800" dirty="0">
                <a:solidFill>
                  <a:schemeClr val="tx2"/>
                </a:solidFill>
                <a:ea typeface="华文新魏" panose="02010800040101010101" pitchFamily="2" charset="-122"/>
              </a:endParaRPr>
            </a:p>
          </p:txBody>
        </p:sp>
        <p:sp>
          <p:nvSpPr>
            <p:cNvPr id="102419" name="Line 18"/>
            <p:cNvSpPr/>
            <p:nvPr/>
          </p:nvSpPr>
          <p:spPr>
            <a:xfrm>
              <a:off x="4320" y="2832"/>
              <a:ext cx="0" cy="576"/>
            </a:xfrm>
            <a:prstGeom prst="line">
              <a:avLst/>
            </a:prstGeom>
            <a:ln w="28575" cap="sq" cmpd="sng">
              <a:solidFill>
                <a:schemeClr val="tx1"/>
              </a:solidFill>
              <a:prstDash val="solid"/>
              <a:headEnd type="none" w="sm" len="sm"/>
              <a:tailEnd type="none" w="sm" len="sm"/>
            </a:ln>
          </p:spPr>
        </p:sp>
        <p:sp>
          <p:nvSpPr>
            <p:cNvPr id="102420" name="Line 19"/>
            <p:cNvSpPr/>
            <p:nvPr/>
          </p:nvSpPr>
          <p:spPr>
            <a:xfrm flipH="1">
              <a:off x="3360" y="3600"/>
              <a:ext cx="576" cy="0"/>
            </a:xfrm>
            <a:prstGeom prst="line">
              <a:avLst/>
            </a:prstGeom>
            <a:ln w="28575" cap="sq" cmpd="sng">
              <a:solidFill>
                <a:schemeClr val="tx1"/>
              </a:solidFill>
              <a:prstDash val="solid"/>
              <a:headEnd type="none" w="sm" len="sm"/>
              <a:tailEnd type="none" w="sm" len="sm"/>
            </a:ln>
          </p:spPr>
        </p:sp>
        <p:sp>
          <p:nvSpPr>
            <p:cNvPr id="102421" name="Line 20"/>
            <p:cNvSpPr/>
            <p:nvPr/>
          </p:nvSpPr>
          <p:spPr>
            <a:xfrm flipH="1" flipV="1">
              <a:off x="3408" y="2832"/>
              <a:ext cx="720" cy="576"/>
            </a:xfrm>
            <a:prstGeom prst="line">
              <a:avLst/>
            </a:prstGeom>
            <a:ln w="28575" cap="sq" cmpd="sng">
              <a:solidFill>
                <a:schemeClr val="tx1"/>
              </a:solidFill>
              <a:prstDash val="solid"/>
              <a:headEnd type="none" w="sm" len="sm"/>
              <a:tailEnd type="none" w="sm" len="sm"/>
            </a:ln>
          </p:spPr>
        </p:sp>
        <p:sp>
          <p:nvSpPr>
            <p:cNvPr id="102422" name="Line 21"/>
            <p:cNvSpPr/>
            <p:nvPr/>
          </p:nvSpPr>
          <p:spPr>
            <a:xfrm flipV="1">
              <a:off x="4512" y="2832"/>
              <a:ext cx="768" cy="576"/>
            </a:xfrm>
            <a:prstGeom prst="line">
              <a:avLst/>
            </a:prstGeom>
            <a:ln w="28575" cap="sq" cmpd="sng">
              <a:solidFill>
                <a:schemeClr val="tx1"/>
              </a:solidFill>
              <a:prstDash val="solid"/>
              <a:headEnd type="none" w="sm" len="sm"/>
              <a:tailEnd type="none" w="sm" len="sm"/>
            </a:ln>
          </p:spPr>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342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3428" name="Rectangle 3"/>
          <p:cNvSpPr>
            <a:spLocks noGrp="1"/>
          </p:cNvSpPr>
          <p:nvPr>
            <p:ph idx="1"/>
          </p:nvPr>
        </p:nvSpPr>
        <p:spPr>
          <a:xfrm>
            <a:off x="228600" y="762000"/>
            <a:ext cx="8686800" cy="609600"/>
          </a:xfrm>
          <a:ln/>
        </p:spPr>
        <p:txBody>
          <a:bodyPr vert="horz" wrap="square" lIns="91440" tIns="45720" rIns="91440" bIns="45720" anchor="t" anchorCtr="0"/>
          <a:p>
            <a:pPr eaLnBrk="1" hangingPunct="1"/>
            <a:r>
              <a:rPr lang="zh-CN" altLang="en-US" dirty="0"/>
              <a:t>概念模型的表示方法</a:t>
            </a:r>
            <a:r>
              <a:rPr lang="en-US" altLang="zh-CN" dirty="0"/>
              <a:t>: E-R</a:t>
            </a:r>
            <a:r>
              <a:rPr lang="zh-CN" altLang="en-US" dirty="0"/>
              <a:t>方法</a:t>
            </a:r>
            <a:r>
              <a:rPr lang="en-US" altLang="zh-CN" dirty="0"/>
              <a:t>(</a:t>
            </a:r>
            <a:r>
              <a:rPr lang="zh-CN" altLang="en-US" dirty="0"/>
              <a:t>总结</a:t>
            </a:r>
            <a:r>
              <a:rPr lang="en-US" altLang="zh-CN" dirty="0"/>
              <a:t>)</a:t>
            </a:r>
            <a:endParaRPr lang="en-US" altLang="zh-CN" dirty="0"/>
          </a:p>
        </p:txBody>
      </p:sp>
      <p:sp>
        <p:nvSpPr>
          <p:cNvPr id="103429" name="Text Box 4"/>
          <p:cNvSpPr txBox="1"/>
          <p:nvPr/>
        </p:nvSpPr>
        <p:spPr>
          <a:xfrm>
            <a:off x="1843088" y="3756025"/>
            <a:ext cx="1333500" cy="790575"/>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50000"/>
              </a:spcBef>
              <a:buClrTx/>
              <a:buFontTx/>
              <a:buNone/>
            </a:pPr>
            <a:r>
              <a:rPr lang="zh-CN" altLang="en-US" sz="4400" dirty="0">
                <a:solidFill>
                  <a:schemeClr val="tx1"/>
                </a:solidFill>
                <a:latin typeface="华文新魏" panose="02010800040101010101" pitchFamily="2" charset="-122"/>
                <a:ea typeface="华文新魏" panose="02010800040101010101" pitchFamily="2" charset="-122"/>
              </a:rPr>
              <a:t>学生</a:t>
            </a:r>
            <a:endParaRPr lang="zh-CN" altLang="en-US" sz="4400" b="0" dirty="0">
              <a:solidFill>
                <a:schemeClr val="tx1"/>
              </a:solidFill>
              <a:latin typeface="华文新魏" panose="02010800040101010101" pitchFamily="2" charset="-122"/>
              <a:ea typeface="华文新魏" panose="02010800040101010101" pitchFamily="2" charset="-122"/>
            </a:endParaRPr>
          </a:p>
        </p:txBody>
      </p:sp>
      <p:sp>
        <p:nvSpPr>
          <p:cNvPr id="103430" name="Text Box 5"/>
          <p:cNvSpPr txBox="1"/>
          <p:nvPr/>
        </p:nvSpPr>
        <p:spPr>
          <a:xfrm>
            <a:off x="6638925" y="3784600"/>
            <a:ext cx="1330325" cy="790575"/>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50000"/>
              </a:spcBef>
              <a:buClrTx/>
              <a:buFontTx/>
              <a:buNone/>
            </a:pPr>
            <a:r>
              <a:rPr lang="zh-CN" altLang="en-US" sz="4400" dirty="0">
                <a:solidFill>
                  <a:schemeClr val="tx1"/>
                </a:solidFill>
                <a:latin typeface="华文新魏" panose="02010800040101010101" pitchFamily="2" charset="-122"/>
                <a:ea typeface="华文新魏" panose="02010800040101010101" pitchFamily="2" charset="-122"/>
              </a:rPr>
              <a:t>课程</a:t>
            </a:r>
            <a:endParaRPr lang="zh-CN" altLang="en-US" sz="4400" b="0" dirty="0">
              <a:solidFill>
                <a:schemeClr val="tx1"/>
              </a:solidFill>
              <a:latin typeface="华文新魏" panose="02010800040101010101" pitchFamily="2" charset="-122"/>
              <a:ea typeface="华文新魏" panose="02010800040101010101" pitchFamily="2" charset="-122"/>
            </a:endParaRPr>
          </a:p>
        </p:txBody>
      </p:sp>
      <p:sp>
        <p:nvSpPr>
          <p:cNvPr id="103431" name="AutoShape 6"/>
          <p:cNvSpPr/>
          <p:nvPr/>
        </p:nvSpPr>
        <p:spPr>
          <a:xfrm>
            <a:off x="4019550" y="3452813"/>
            <a:ext cx="1524000" cy="1377950"/>
          </a:xfrm>
          <a:prstGeom prst="diamond">
            <a:avLst/>
          </a:prstGeom>
          <a:solidFill>
            <a:srgbClr val="808000"/>
          </a:solidFill>
          <a:ln w="28575"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4400" dirty="0">
                <a:solidFill>
                  <a:schemeClr val="tx1"/>
                </a:solidFill>
                <a:latin typeface="华文新魏" panose="02010800040101010101" pitchFamily="2" charset="-122"/>
                <a:ea typeface="华文新魏" panose="02010800040101010101" pitchFamily="2" charset="-122"/>
              </a:rPr>
              <a:t>选修</a:t>
            </a:r>
            <a:endParaRPr lang="zh-CN" altLang="en-US" sz="4400" dirty="0">
              <a:solidFill>
                <a:schemeClr val="tx1"/>
              </a:solidFill>
              <a:latin typeface="华文新魏" panose="02010800040101010101" pitchFamily="2" charset="-122"/>
              <a:ea typeface="华文新魏" panose="02010800040101010101" pitchFamily="2" charset="-122"/>
            </a:endParaRPr>
          </a:p>
        </p:txBody>
      </p:sp>
      <p:sp>
        <p:nvSpPr>
          <p:cNvPr id="103432" name="Oval 7" descr="Large confetti"/>
          <p:cNvSpPr/>
          <p:nvPr/>
        </p:nvSpPr>
        <p:spPr>
          <a:xfrm>
            <a:off x="525463" y="2289175"/>
            <a:ext cx="892175" cy="546100"/>
          </a:xfrm>
          <a:prstGeom prst="ellipse">
            <a:avLst/>
          </a:prstGeom>
          <a:solidFill>
            <a:schemeClr val="accent1"/>
          </a:solidFill>
          <a:ln w="28575" cap="sq" cmpd="sng">
            <a:solidFill>
              <a:schemeClr val="tx1"/>
            </a:solidFill>
            <a:prstDash val="solid"/>
            <a:headEnd type="none" w="sm" len="sm"/>
            <a:tailEnd type="none" w="sm" len="sm"/>
          </a:ln>
        </p:spPr>
        <p:txBody>
          <a:bodyPr wrap="none" lIns="0" tIns="0" rIns="0" bIns="0"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u="sng" dirty="0">
                <a:solidFill>
                  <a:schemeClr val="tx1"/>
                </a:solidFill>
                <a:latin typeface="华文新魏" panose="02010800040101010101" pitchFamily="2" charset="-122"/>
                <a:ea typeface="华文新魏" panose="02010800040101010101" pitchFamily="2" charset="-122"/>
              </a:rPr>
              <a:t>学号</a:t>
            </a:r>
            <a:endParaRPr lang="zh-CN" altLang="en-US" sz="2400" u="sng" dirty="0">
              <a:solidFill>
                <a:schemeClr val="tx1"/>
              </a:solidFill>
              <a:latin typeface="华文新魏" panose="02010800040101010101" pitchFamily="2" charset="-122"/>
              <a:ea typeface="华文新魏" panose="02010800040101010101" pitchFamily="2" charset="-122"/>
            </a:endParaRPr>
          </a:p>
        </p:txBody>
      </p:sp>
      <p:sp>
        <p:nvSpPr>
          <p:cNvPr id="103433" name="Oval 8" descr="Large confetti"/>
          <p:cNvSpPr/>
          <p:nvPr/>
        </p:nvSpPr>
        <p:spPr>
          <a:xfrm>
            <a:off x="2049463" y="2289175"/>
            <a:ext cx="892175" cy="546100"/>
          </a:xfrm>
          <a:prstGeom prst="ellipse">
            <a:avLst/>
          </a:prstGeom>
          <a:solidFill>
            <a:schemeClr val="accent1"/>
          </a:solidFill>
          <a:ln w="28575" cap="sq" cmpd="sng">
            <a:solidFill>
              <a:schemeClr val="tx1"/>
            </a:solidFill>
            <a:prstDash val="solid"/>
            <a:headEnd type="none" w="sm" len="sm"/>
            <a:tailEnd type="none" w="sm" len="sm"/>
          </a:ln>
        </p:spPr>
        <p:txBody>
          <a:bodyPr wrap="none" lIns="0" tIns="0" rIns="0" bIns="0"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姓名</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34" name="Oval 9" descr="Large confetti"/>
          <p:cNvSpPr/>
          <p:nvPr/>
        </p:nvSpPr>
        <p:spPr>
          <a:xfrm>
            <a:off x="3573463" y="2289175"/>
            <a:ext cx="892175" cy="546100"/>
          </a:xfrm>
          <a:prstGeom prst="ellipse">
            <a:avLst/>
          </a:prstGeom>
          <a:solidFill>
            <a:schemeClr val="accent1"/>
          </a:solidFill>
          <a:ln w="28575" cap="sq" cmpd="sng">
            <a:solidFill>
              <a:schemeClr val="tx1"/>
            </a:solidFill>
            <a:prstDash val="solid"/>
            <a:headEnd type="none" w="sm" len="sm"/>
            <a:tailEnd type="none" w="sm" len="sm"/>
          </a:ln>
        </p:spPr>
        <p:txBody>
          <a:bodyPr wrap="none" lIns="0" tIns="0" rIns="0" bIns="0"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系别</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35" name="Line 10"/>
          <p:cNvSpPr/>
          <p:nvPr/>
        </p:nvSpPr>
        <p:spPr>
          <a:xfrm flipH="1">
            <a:off x="3181350" y="4151313"/>
            <a:ext cx="838200" cy="0"/>
          </a:xfrm>
          <a:prstGeom prst="line">
            <a:avLst/>
          </a:prstGeom>
          <a:ln w="28575" cap="sq" cmpd="sng">
            <a:solidFill>
              <a:schemeClr val="tx1"/>
            </a:solidFill>
            <a:prstDash val="solid"/>
            <a:headEnd type="none" w="sm" len="sm"/>
            <a:tailEnd type="none" w="sm" len="sm"/>
          </a:ln>
        </p:spPr>
      </p:sp>
      <p:sp>
        <p:nvSpPr>
          <p:cNvPr id="103436" name="Line 11"/>
          <p:cNvSpPr/>
          <p:nvPr/>
        </p:nvSpPr>
        <p:spPr>
          <a:xfrm>
            <a:off x="2495550" y="2824163"/>
            <a:ext cx="0" cy="914400"/>
          </a:xfrm>
          <a:prstGeom prst="line">
            <a:avLst/>
          </a:prstGeom>
          <a:ln w="28575" cap="sq" cmpd="sng">
            <a:solidFill>
              <a:schemeClr val="tx1"/>
            </a:solidFill>
            <a:prstDash val="solid"/>
            <a:headEnd type="none" w="sm" len="sm"/>
            <a:tailEnd type="none" w="sm" len="sm"/>
          </a:ln>
        </p:spPr>
      </p:sp>
      <p:sp>
        <p:nvSpPr>
          <p:cNvPr id="103437" name="Line 12"/>
          <p:cNvSpPr/>
          <p:nvPr/>
        </p:nvSpPr>
        <p:spPr>
          <a:xfrm flipH="1" flipV="1">
            <a:off x="971550" y="2824163"/>
            <a:ext cx="1143000" cy="914400"/>
          </a:xfrm>
          <a:prstGeom prst="line">
            <a:avLst/>
          </a:prstGeom>
          <a:ln w="28575" cap="sq" cmpd="sng">
            <a:solidFill>
              <a:schemeClr val="tx1"/>
            </a:solidFill>
            <a:prstDash val="solid"/>
            <a:headEnd type="none" w="sm" len="sm"/>
            <a:tailEnd type="none" w="sm" len="sm"/>
          </a:ln>
        </p:spPr>
      </p:sp>
      <p:sp>
        <p:nvSpPr>
          <p:cNvPr id="103438" name="Line 13"/>
          <p:cNvSpPr/>
          <p:nvPr/>
        </p:nvSpPr>
        <p:spPr>
          <a:xfrm flipV="1">
            <a:off x="2876550" y="2824163"/>
            <a:ext cx="1219200" cy="914400"/>
          </a:xfrm>
          <a:prstGeom prst="line">
            <a:avLst/>
          </a:prstGeom>
          <a:ln w="28575" cap="sq" cmpd="sng">
            <a:solidFill>
              <a:schemeClr val="tx1"/>
            </a:solidFill>
            <a:prstDash val="solid"/>
            <a:headEnd type="none" w="sm" len="sm"/>
            <a:tailEnd type="none" w="sm" len="sm"/>
          </a:ln>
        </p:spPr>
      </p:sp>
      <p:sp>
        <p:nvSpPr>
          <p:cNvPr id="103439" name="Oval 14" descr="Large confetti"/>
          <p:cNvSpPr/>
          <p:nvPr/>
        </p:nvSpPr>
        <p:spPr>
          <a:xfrm>
            <a:off x="5046663" y="2397125"/>
            <a:ext cx="1323975" cy="546100"/>
          </a:xfrm>
          <a:prstGeom prst="ellipse">
            <a:avLst/>
          </a:prstGeom>
          <a:solidFill>
            <a:schemeClr val="accent1"/>
          </a:solidFill>
          <a:ln w="28575" cap="sq" cmpd="sng">
            <a:solidFill>
              <a:schemeClr val="tx1"/>
            </a:solidFill>
            <a:prstDash val="solid"/>
            <a:headEnd type="none" w="sm" len="sm"/>
            <a:tailEnd type="none" w="sm" len="sm"/>
          </a:ln>
        </p:spPr>
        <p:txBody>
          <a:bodyPr wrap="none" lIns="0" tIns="0" rIns="0" bIns="0"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u="sng" dirty="0">
                <a:solidFill>
                  <a:schemeClr val="tx1"/>
                </a:solidFill>
                <a:latin typeface="华文新魏" panose="02010800040101010101" pitchFamily="2" charset="-122"/>
                <a:ea typeface="华文新魏" panose="02010800040101010101" pitchFamily="2" charset="-122"/>
              </a:rPr>
              <a:t>课程号</a:t>
            </a:r>
            <a:endParaRPr lang="zh-CN" altLang="en-US" sz="2400" u="sng" dirty="0">
              <a:solidFill>
                <a:schemeClr val="tx1"/>
              </a:solidFill>
              <a:latin typeface="华文新魏" panose="02010800040101010101" pitchFamily="2" charset="-122"/>
              <a:ea typeface="华文新魏" panose="02010800040101010101" pitchFamily="2" charset="-122"/>
            </a:endParaRPr>
          </a:p>
        </p:txBody>
      </p:sp>
      <p:sp>
        <p:nvSpPr>
          <p:cNvPr id="103440" name="Oval 15" descr="Large confetti"/>
          <p:cNvSpPr/>
          <p:nvPr/>
        </p:nvSpPr>
        <p:spPr>
          <a:xfrm>
            <a:off x="6570663" y="2397125"/>
            <a:ext cx="1323975" cy="546100"/>
          </a:xfrm>
          <a:prstGeom prst="ellipse">
            <a:avLst/>
          </a:prstGeom>
          <a:solidFill>
            <a:schemeClr val="accent1"/>
          </a:solidFill>
          <a:ln w="28575" cap="sq" cmpd="sng">
            <a:solidFill>
              <a:schemeClr val="tx1"/>
            </a:solidFill>
            <a:prstDash val="solid"/>
            <a:headEnd type="none" w="sm" len="sm"/>
            <a:tailEnd type="none" w="sm" len="sm"/>
          </a:ln>
        </p:spPr>
        <p:txBody>
          <a:bodyPr wrap="none" lIns="0" tIns="0" rIns="0" bIns="0"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课程名</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41" name="Oval 16" descr="Large confetti"/>
          <p:cNvSpPr/>
          <p:nvPr/>
        </p:nvSpPr>
        <p:spPr>
          <a:xfrm>
            <a:off x="8175625" y="2397125"/>
            <a:ext cx="892175" cy="546100"/>
          </a:xfrm>
          <a:prstGeom prst="ellipse">
            <a:avLst/>
          </a:prstGeom>
          <a:solidFill>
            <a:schemeClr val="accent1"/>
          </a:solidFill>
          <a:ln w="28575" cap="sq" cmpd="sng">
            <a:solidFill>
              <a:schemeClr val="tx1"/>
            </a:solidFill>
            <a:prstDash val="solid"/>
            <a:headEnd type="none" w="sm" len="sm"/>
            <a:tailEnd type="none" w="sm" len="sm"/>
          </a:ln>
        </p:spPr>
        <p:txBody>
          <a:bodyPr wrap="none" lIns="0" tIns="0" rIns="0" bIns="0"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5000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学分</a:t>
            </a:r>
            <a:endParaRPr lang="zh-CN" altLang="en-US" sz="2400" b="0" dirty="0">
              <a:solidFill>
                <a:schemeClr val="tx1"/>
              </a:solidFill>
              <a:latin typeface="华文新魏" panose="02010800040101010101" pitchFamily="2" charset="-122"/>
              <a:ea typeface="华文新魏" panose="02010800040101010101" pitchFamily="2" charset="-122"/>
            </a:endParaRPr>
          </a:p>
        </p:txBody>
      </p:sp>
      <p:sp>
        <p:nvSpPr>
          <p:cNvPr id="103442" name="Line 17"/>
          <p:cNvSpPr/>
          <p:nvPr/>
        </p:nvSpPr>
        <p:spPr>
          <a:xfrm flipH="1" flipV="1">
            <a:off x="5543550" y="4151313"/>
            <a:ext cx="1090613" cy="6350"/>
          </a:xfrm>
          <a:prstGeom prst="line">
            <a:avLst/>
          </a:prstGeom>
          <a:ln w="28575" cap="sq" cmpd="sng">
            <a:solidFill>
              <a:schemeClr val="tx1"/>
            </a:solidFill>
            <a:prstDash val="solid"/>
            <a:headEnd type="none" w="sm" len="sm"/>
            <a:tailEnd type="none" w="sm" len="sm"/>
          </a:ln>
        </p:spPr>
      </p:sp>
      <p:sp>
        <p:nvSpPr>
          <p:cNvPr id="103443" name="Line 18"/>
          <p:cNvSpPr/>
          <p:nvPr/>
        </p:nvSpPr>
        <p:spPr>
          <a:xfrm flipH="1" flipV="1">
            <a:off x="5784850" y="2932113"/>
            <a:ext cx="1077913" cy="844550"/>
          </a:xfrm>
          <a:prstGeom prst="line">
            <a:avLst/>
          </a:prstGeom>
          <a:ln w="28575" cap="sq" cmpd="sng">
            <a:solidFill>
              <a:schemeClr val="tx1"/>
            </a:solidFill>
            <a:prstDash val="solid"/>
            <a:headEnd type="none" w="sm" len="sm"/>
            <a:tailEnd type="none" w="sm" len="sm"/>
          </a:ln>
        </p:spPr>
      </p:sp>
      <p:sp>
        <p:nvSpPr>
          <p:cNvPr id="103444" name="Line 19"/>
          <p:cNvSpPr/>
          <p:nvPr/>
        </p:nvSpPr>
        <p:spPr>
          <a:xfrm flipV="1">
            <a:off x="7624763" y="2938463"/>
            <a:ext cx="990600" cy="838200"/>
          </a:xfrm>
          <a:prstGeom prst="line">
            <a:avLst/>
          </a:prstGeom>
          <a:ln w="28575" cap="sq" cmpd="sng">
            <a:solidFill>
              <a:schemeClr val="tx1"/>
            </a:solidFill>
            <a:prstDash val="solid"/>
            <a:headEnd type="none" w="sm" len="sm"/>
            <a:tailEnd type="none" w="sm" len="sm"/>
          </a:ln>
        </p:spPr>
      </p:sp>
      <p:sp>
        <p:nvSpPr>
          <p:cNvPr id="103445" name="Oval 20" descr="Large confetti"/>
          <p:cNvSpPr/>
          <p:nvPr/>
        </p:nvSpPr>
        <p:spPr>
          <a:xfrm>
            <a:off x="4335463" y="5384800"/>
            <a:ext cx="892175" cy="546100"/>
          </a:xfrm>
          <a:prstGeom prst="ellipse">
            <a:avLst/>
          </a:prstGeom>
          <a:solidFill>
            <a:schemeClr val="accent1"/>
          </a:solidFill>
          <a:ln w="28575" cap="sq" cmpd="sng">
            <a:solidFill>
              <a:schemeClr val="tx1"/>
            </a:solidFill>
            <a:prstDash val="solid"/>
            <a:headEnd type="none" w="sm" len="sm"/>
            <a:tailEnd type="none" w="sm" len="sm"/>
          </a:ln>
        </p:spPr>
        <p:txBody>
          <a:bodyPr wrap="none" lIns="0" tIns="0" rIns="0" bIns="0"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成绩</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46" name="Line 21"/>
          <p:cNvSpPr/>
          <p:nvPr/>
        </p:nvSpPr>
        <p:spPr>
          <a:xfrm>
            <a:off x="4781550" y="4830763"/>
            <a:ext cx="0" cy="533400"/>
          </a:xfrm>
          <a:prstGeom prst="line">
            <a:avLst/>
          </a:prstGeom>
          <a:ln w="28575" cap="sq" cmpd="sng">
            <a:solidFill>
              <a:schemeClr val="tx1"/>
            </a:solidFill>
            <a:prstDash val="solid"/>
            <a:headEnd type="none" w="sm" len="sm"/>
            <a:tailEnd type="none" w="sm" len="sm"/>
          </a:ln>
        </p:spPr>
      </p:sp>
      <p:sp>
        <p:nvSpPr>
          <p:cNvPr id="103447" name="AutoShape 22"/>
          <p:cNvSpPr/>
          <p:nvPr/>
        </p:nvSpPr>
        <p:spPr>
          <a:xfrm>
            <a:off x="1397000" y="5521325"/>
            <a:ext cx="2209800" cy="1196975"/>
          </a:xfrm>
          <a:prstGeom prst="wedgeRoundRectCallout">
            <a:avLst>
              <a:gd name="adj1" fmla="val -3019"/>
              <a:gd name="adj2" fmla="val -128926"/>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2700" cap="flat" cmpd="sng">
            <a:solidFill>
              <a:schemeClr val="tx1"/>
            </a:solidFill>
            <a:prstDash val="solid"/>
            <a:miter/>
            <a:headEnd type="none" w="med" len="med"/>
            <a:tailEnd type="none" w="med" len="med"/>
          </a:ln>
        </p:spPr>
        <p:txBody>
          <a:bodyPr lIns="0" tIns="0" rIns="0" bIns="0" anchor="ctr" anchorCtr="1">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用矩形表示实体集，在框内写上实体名</a:t>
            </a:r>
            <a:endParaRPr lang="zh-CN" altLang="en-US" sz="2400" b="0" dirty="0">
              <a:solidFill>
                <a:schemeClr val="tx1"/>
              </a:solidFill>
              <a:latin typeface="华文新魏" panose="02010800040101010101" pitchFamily="2" charset="-122"/>
              <a:ea typeface="华文新魏" panose="02010800040101010101" pitchFamily="2" charset="-122"/>
            </a:endParaRPr>
          </a:p>
        </p:txBody>
      </p:sp>
      <p:sp>
        <p:nvSpPr>
          <p:cNvPr id="103448" name="AutoShape 23"/>
          <p:cNvSpPr/>
          <p:nvPr/>
        </p:nvSpPr>
        <p:spPr>
          <a:xfrm>
            <a:off x="6858000" y="1295400"/>
            <a:ext cx="1978025" cy="803275"/>
          </a:xfrm>
          <a:prstGeom prst="wedgeRoundRectCallout">
            <a:avLst>
              <a:gd name="adj1" fmla="val -9630"/>
              <a:gd name="adj2" fmla="val 92491"/>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2700" cap="flat" cmpd="sng">
            <a:solidFill>
              <a:schemeClr val="tx1"/>
            </a:solidFill>
            <a:prstDash val="solid"/>
            <a:miter/>
            <a:headEnd type="none" w="med" len="med"/>
            <a:tailEnd type="none" w="med" len="med"/>
          </a:ln>
        </p:spPr>
        <p:txBody>
          <a:bodyPr lIns="0" tIns="0" rIns="0" bIns="0" anchor="ctr" anchorCtr="1">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用椭圆表示实体的属性</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49" name="AutoShape 24"/>
          <p:cNvSpPr/>
          <p:nvPr/>
        </p:nvSpPr>
        <p:spPr>
          <a:xfrm>
            <a:off x="238125" y="3860800"/>
            <a:ext cx="1524000" cy="1590675"/>
          </a:xfrm>
          <a:prstGeom prst="wedgeRoundRectCallout">
            <a:avLst>
              <a:gd name="adj1" fmla="val 34690"/>
              <a:gd name="adj2" fmla="val -85417"/>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2700" cap="flat" cmpd="sng">
            <a:solidFill>
              <a:schemeClr val="tx1"/>
            </a:solidFill>
            <a:prstDash val="solid"/>
            <a:miter/>
            <a:headEnd type="none" w="med" len="med"/>
            <a:tailEnd type="none" w="med" len="med"/>
          </a:ln>
        </p:spPr>
        <p:txBody>
          <a:bodyPr lIns="0" tIns="0" rIns="0" bIns="0" anchor="ctr" anchorCtr="1">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用无向边把实体与其属性连接起来</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50" name="AutoShape 25"/>
          <p:cNvSpPr/>
          <p:nvPr/>
        </p:nvSpPr>
        <p:spPr>
          <a:xfrm>
            <a:off x="5262563" y="5861050"/>
            <a:ext cx="2057400" cy="803275"/>
          </a:xfrm>
          <a:prstGeom prst="wedgeRoundRectCallout">
            <a:avLst>
              <a:gd name="adj1" fmla="val -55477"/>
              <a:gd name="adj2" fmla="val -193606"/>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2700" cap="flat" cmpd="sng">
            <a:solidFill>
              <a:schemeClr val="tx1"/>
            </a:solidFill>
            <a:prstDash val="solid"/>
            <a:miter/>
            <a:headEnd type="none" w="med" len="med"/>
            <a:tailEnd type="none" w="med" len="med"/>
          </a:ln>
        </p:spPr>
        <p:txBody>
          <a:bodyPr lIns="0" tIns="0" rIns="0" bIns="0" anchor="ctr" anchorCtr="1">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用菱形表示实体间的联系</a:t>
            </a:r>
            <a:endParaRPr lang="zh-CN" altLang="en-US" sz="2400" b="0" dirty="0">
              <a:solidFill>
                <a:schemeClr val="tx1"/>
              </a:solidFill>
              <a:latin typeface="华文新魏" panose="02010800040101010101" pitchFamily="2" charset="-122"/>
              <a:ea typeface="华文新魏" panose="02010800040101010101" pitchFamily="2" charset="-122"/>
            </a:endParaRPr>
          </a:p>
        </p:txBody>
      </p:sp>
      <p:sp>
        <p:nvSpPr>
          <p:cNvPr id="103451" name="AutoShape 26"/>
          <p:cNvSpPr/>
          <p:nvPr/>
        </p:nvSpPr>
        <p:spPr>
          <a:xfrm>
            <a:off x="6024563" y="4943475"/>
            <a:ext cx="2360612" cy="803275"/>
          </a:xfrm>
          <a:prstGeom prst="wedgeRoundRectCallout">
            <a:avLst>
              <a:gd name="adj1" fmla="val -55315"/>
              <a:gd name="adj2" fmla="val -143991"/>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2700" cap="flat" cmpd="sng">
            <a:solidFill>
              <a:schemeClr val="tx1"/>
            </a:solidFill>
            <a:prstDash val="solid"/>
            <a:miter/>
            <a:headEnd type="none" w="med" len="med"/>
            <a:tailEnd type="none" w="med" len="med"/>
          </a:ln>
        </p:spPr>
        <p:txBody>
          <a:bodyPr lIns="0" tIns="0" rIns="0" bIns="0" anchor="ctr" anchorCtr="1">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将参与联系的实体用线段连接</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52" name="Rectangle 27"/>
          <p:cNvSpPr/>
          <p:nvPr/>
        </p:nvSpPr>
        <p:spPr>
          <a:xfrm>
            <a:off x="3486150" y="3770313"/>
            <a:ext cx="304800" cy="304800"/>
          </a:xfrm>
          <a:prstGeom prst="rect">
            <a:avLst/>
          </a:prstGeom>
          <a:noFill/>
          <a:ln w="2857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3600" b="0" dirty="0">
                <a:solidFill>
                  <a:schemeClr val="tx1"/>
                </a:solidFill>
                <a:latin typeface="华文新魏" panose="02010800040101010101" pitchFamily="2" charset="-122"/>
                <a:ea typeface="华文新魏" panose="02010800040101010101" pitchFamily="2" charset="-122"/>
              </a:rPr>
              <a:t>m</a:t>
            </a:r>
            <a:endParaRPr lang="en-US" altLang="zh-CN" sz="3600" b="0" dirty="0">
              <a:solidFill>
                <a:schemeClr val="tx1"/>
              </a:solidFill>
              <a:latin typeface="华文新魏" panose="02010800040101010101" pitchFamily="2" charset="-122"/>
              <a:ea typeface="华文新魏" panose="02010800040101010101" pitchFamily="2" charset="-122"/>
            </a:endParaRPr>
          </a:p>
        </p:txBody>
      </p:sp>
      <p:sp>
        <p:nvSpPr>
          <p:cNvPr id="103453" name="Rectangle 28"/>
          <p:cNvSpPr/>
          <p:nvPr/>
        </p:nvSpPr>
        <p:spPr>
          <a:xfrm>
            <a:off x="5772150" y="3770313"/>
            <a:ext cx="304800" cy="304800"/>
          </a:xfrm>
          <a:prstGeom prst="rect">
            <a:avLst/>
          </a:prstGeom>
          <a:noFill/>
          <a:ln w="2857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3600" b="0" dirty="0">
                <a:solidFill>
                  <a:schemeClr val="tx1"/>
                </a:solidFill>
                <a:latin typeface="华文新魏" panose="02010800040101010101" pitchFamily="2" charset="-122"/>
                <a:ea typeface="华文新魏" panose="02010800040101010101" pitchFamily="2" charset="-122"/>
              </a:rPr>
              <a:t>n</a:t>
            </a:r>
            <a:endParaRPr lang="en-US" altLang="zh-CN" sz="3600" b="0" dirty="0">
              <a:solidFill>
                <a:schemeClr val="tx1"/>
              </a:solidFill>
              <a:latin typeface="华文新魏" panose="02010800040101010101" pitchFamily="2" charset="-122"/>
              <a:ea typeface="华文新魏" panose="02010800040101010101" pitchFamily="2" charset="-122"/>
            </a:endParaRPr>
          </a:p>
        </p:txBody>
      </p:sp>
      <p:sp>
        <p:nvSpPr>
          <p:cNvPr id="103454" name="AutoShape 29"/>
          <p:cNvSpPr/>
          <p:nvPr/>
        </p:nvSpPr>
        <p:spPr>
          <a:xfrm>
            <a:off x="3257550" y="4702175"/>
            <a:ext cx="1143000" cy="803275"/>
          </a:xfrm>
          <a:prstGeom prst="wedgeRoundRectCallout">
            <a:avLst>
              <a:gd name="adj1" fmla="val -16250"/>
              <a:gd name="adj2" fmla="val -113565"/>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2700" cap="flat" cmpd="sng">
            <a:solidFill>
              <a:schemeClr val="tx1"/>
            </a:solidFill>
            <a:prstDash val="solid"/>
            <a:miter/>
            <a:headEnd type="none" w="med" len="med"/>
            <a:tailEnd type="none" w="med" len="med"/>
          </a:ln>
        </p:spPr>
        <p:txBody>
          <a:bodyPr lIns="0" tIns="0" rIns="0" bIns="0" anchor="ctr" anchorCtr="1">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联系的</a:t>
            </a:r>
            <a:endParaRPr lang="zh-CN" altLang="en-US" sz="2400" dirty="0">
              <a:solidFill>
                <a:schemeClr val="tx1"/>
              </a:solidFill>
              <a:latin typeface="华文新魏" panose="02010800040101010101" pitchFamily="2" charset="-122"/>
              <a:ea typeface="华文新魏" panose="02010800040101010101" pitchFamily="2" charset="-122"/>
            </a:endParaRPr>
          </a:p>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数量</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3455" name="Line 30"/>
          <p:cNvSpPr/>
          <p:nvPr/>
        </p:nvSpPr>
        <p:spPr>
          <a:xfrm>
            <a:off x="7243763" y="2938463"/>
            <a:ext cx="0" cy="838200"/>
          </a:xfrm>
          <a:prstGeom prst="line">
            <a:avLst/>
          </a:prstGeom>
          <a:ln w="28575" cap="flat" cmpd="sng">
            <a:solidFill>
              <a:schemeClr val="tx1"/>
            </a:solidFill>
            <a:prstDash val="solid"/>
            <a:headEnd type="none" w="med" len="med"/>
            <a:tailEnd type="none" w="med" len="med"/>
          </a:ln>
        </p:spPr>
      </p:sp>
      <p:sp>
        <p:nvSpPr>
          <p:cNvPr id="103456" name="Rectangle 31"/>
          <p:cNvSpPr/>
          <p:nvPr/>
        </p:nvSpPr>
        <p:spPr>
          <a:xfrm>
            <a:off x="457200" y="1382713"/>
            <a:ext cx="34353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b="0" dirty="0">
                <a:solidFill>
                  <a:schemeClr val="tx1"/>
                </a:solidFill>
                <a:latin typeface="宋体" panose="02010600030101010101" pitchFamily="2" charset="-122"/>
                <a:cs typeface="Arial" panose="020B0604020202020204" pitchFamily="34" charset="0"/>
              </a:rPr>
              <a:t>例：学生选修课程</a:t>
            </a:r>
            <a:endParaRPr lang="zh-CN" altLang="en-US" b="0" dirty="0">
              <a:solidFill>
                <a:schemeClr val="tx1"/>
              </a:solidFill>
              <a:latin typeface="宋体" panose="02010600030101010101" pitchFamily="2" charset="-122"/>
              <a:ea typeface="Arial" panose="020B0604020202020204" pitchFamily="34" charset="0"/>
            </a:endParaRPr>
          </a:p>
        </p:txBody>
      </p:sp>
      <p:sp>
        <p:nvSpPr>
          <p:cNvPr id="103457" name="AutoShape 32"/>
          <p:cNvSpPr/>
          <p:nvPr/>
        </p:nvSpPr>
        <p:spPr>
          <a:xfrm>
            <a:off x="5257800" y="1524000"/>
            <a:ext cx="914400" cy="409575"/>
          </a:xfrm>
          <a:prstGeom prst="wedgeRoundRectCallout">
            <a:avLst>
              <a:gd name="adj1" fmla="val -16144"/>
              <a:gd name="adj2" fmla="val 164343"/>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12700" cap="flat" cmpd="sng">
            <a:solidFill>
              <a:schemeClr val="tx1"/>
            </a:solidFill>
            <a:prstDash val="solid"/>
            <a:miter/>
            <a:headEnd type="none" w="med" len="med"/>
            <a:tailEnd type="none" w="med" len="med"/>
          </a:ln>
        </p:spPr>
        <p:txBody>
          <a:bodyPr lIns="0" tIns="0" rIns="0" bIns="0" anchor="ctr" anchorCtr="1">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latin typeface="华文新魏" panose="02010800040101010101" pitchFamily="2" charset="-122"/>
                <a:ea typeface="华文新魏" panose="02010800040101010101" pitchFamily="2" charset="-122"/>
              </a:rPr>
              <a:t>码</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445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4452" name="Rectangle 3"/>
          <p:cNvSpPr>
            <a:spLocks noGrp="1"/>
          </p:cNvSpPr>
          <p:nvPr>
            <p:ph idx="1"/>
          </p:nvPr>
        </p:nvSpPr>
        <p:spPr>
          <a:xfrm>
            <a:off x="228600" y="762000"/>
            <a:ext cx="8686800" cy="3810000"/>
          </a:xfrm>
          <a:ln/>
        </p:spPr>
        <p:txBody>
          <a:bodyPr vert="horz" wrap="square" lIns="91440" tIns="45720" rIns="91440" bIns="45720" anchor="t" anchorCtr="0"/>
          <a:p>
            <a:pPr marL="609600" indent="-609600">
              <a:spcBef>
                <a:spcPct val="0"/>
              </a:spcBef>
              <a:buClrTx/>
            </a:pPr>
            <a:r>
              <a:rPr lang="en-US" altLang="zh-CN" dirty="0"/>
              <a:t>E-R</a:t>
            </a:r>
            <a:r>
              <a:rPr lang="zh-CN" altLang="en-US" dirty="0"/>
              <a:t>方法的特征</a:t>
            </a:r>
            <a:endParaRPr lang="zh-CN" altLang="en-US" dirty="0"/>
          </a:p>
          <a:p>
            <a:pPr marL="990600" lvl="1" indent="-533400" algn="just" eaLnBrk="1" hangingPunct="1"/>
            <a:r>
              <a:rPr lang="zh-CN" altLang="en-US" dirty="0"/>
              <a:t>直接表示</a:t>
            </a:r>
            <a:r>
              <a:rPr lang="en-US" altLang="zh-CN" dirty="0"/>
              <a:t>m</a:t>
            </a:r>
            <a:r>
              <a:rPr lang="zh-CN" altLang="en-US" dirty="0"/>
              <a:t>：</a:t>
            </a:r>
            <a:r>
              <a:rPr lang="en-US" altLang="zh-CN" dirty="0"/>
              <a:t>n</a:t>
            </a:r>
            <a:r>
              <a:rPr lang="zh-CN" altLang="en-US" dirty="0"/>
              <a:t>联系</a:t>
            </a:r>
            <a:endParaRPr lang="zh-CN" altLang="en-US" dirty="0"/>
          </a:p>
          <a:p>
            <a:pPr marL="990600" lvl="1" indent="-533400" algn="just" eaLnBrk="1" hangingPunct="1"/>
            <a:r>
              <a:rPr lang="zh-CN" altLang="en-US" dirty="0"/>
              <a:t>与特定</a:t>
            </a:r>
            <a:r>
              <a:rPr lang="en-US" altLang="zh-CN" dirty="0"/>
              <a:t>DBMS</a:t>
            </a:r>
            <a:r>
              <a:rPr lang="zh-CN" altLang="en-US" dirty="0"/>
              <a:t>无关</a:t>
            </a:r>
            <a:endParaRPr lang="zh-CN" altLang="en-US" dirty="0"/>
          </a:p>
          <a:p>
            <a:pPr marL="1371600" lvl="2" indent="-457200" algn="just" eaLnBrk="1" hangingPunct="1"/>
            <a:r>
              <a:rPr lang="zh-CN" altLang="en-US" dirty="0"/>
              <a:t>更一般；</a:t>
            </a:r>
            <a:endParaRPr lang="zh-CN" altLang="en-US" dirty="0"/>
          </a:p>
          <a:p>
            <a:pPr marL="1371600" lvl="2" indent="-457200" algn="just" eaLnBrk="1" hangingPunct="1"/>
            <a:r>
              <a:rPr lang="zh-CN" altLang="en-US" dirty="0"/>
              <a:t>更抽象；</a:t>
            </a:r>
            <a:endParaRPr lang="zh-CN" altLang="en-US" dirty="0"/>
          </a:p>
          <a:p>
            <a:pPr marL="1371600" lvl="2" indent="-457200" algn="just" eaLnBrk="1" hangingPunct="1"/>
            <a:r>
              <a:rPr lang="zh-CN" altLang="en-US" dirty="0"/>
              <a:t>更接近现实。</a:t>
            </a:r>
            <a:endParaRPr lang="zh-CN" altLang="en-US" dirty="0"/>
          </a:p>
          <a:p>
            <a:pPr marL="990600" lvl="1" indent="-533400" algn="just" eaLnBrk="1" hangingPunct="1"/>
            <a:r>
              <a:rPr lang="zh-CN" altLang="en-US" dirty="0"/>
              <a:t>易于向特定</a:t>
            </a:r>
            <a:r>
              <a:rPr lang="en-US" altLang="zh-CN" dirty="0"/>
              <a:t>DBMS</a:t>
            </a:r>
            <a:r>
              <a:rPr lang="zh-CN" altLang="en-US" dirty="0"/>
              <a:t>支持的</a:t>
            </a:r>
            <a:r>
              <a:rPr lang="en-US" altLang="zh-CN" dirty="0"/>
              <a:t>DM(Data Model)</a:t>
            </a:r>
            <a:r>
              <a:rPr lang="zh-CN" altLang="en-US" dirty="0"/>
              <a:t>转换</a:t>
            </a:r>
            <a:endParaRPr lang="zh-CN" altLang="en-US" dirty="0"/>
          </a:p>
          <a:p>
            <a:pPr marL="1371600" lvl="2" indent="-457200" eaLnBrk="1" hangingPunct="1">
              <a:buClr>
                <a:schemeClr val="tx1"/>
              </a:buClr>
            </a:pPr>
            <a:endParaRPr lang="zh-CN" altLang="en-US" sz="2800" dirty="0">
              <a:latin typeface="楷体_GB2312" pitchFamily="49"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547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5476"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a:t>
            </a:r>
            <a:r>
              <a:rPr lang="en-US" altLang="zh-CN" dirty="0"/>
              <a:t>:</a:t>
            </a:r>
            <a:r>
              <a:rPr lang="zh-CN" altLang="en-US" dirty="0"/>
              <a:t>学生，教师与课程三个实体</a:t>
            </a:r>
            <a:endParaRPr lang="zh-CN" altLang="en-US" dirty="0"/>
          </a:p>
        </p:txBody>
      </p:sp>
      <p:sp>
        <p:nvSpPr>
          <p:cNvPr id="105477" name="Rectangle 4"/>
          <p:cNvSpPr/>
          <p:nvPr/>
        </p:nvSpPr>
        <p:spPr>
          <a:xfrm>
            <a:off x="584200" y="2514600"/>
            <a:ext cx="1219200" cy="609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学生</a:t>
            </a:r>
            <a:endParaRPr lang="zh-CN" altLang="en-US" sz="2400" b="0" dirty="0">
              <a:solidFill>
                <a:schemeClr val="tx1"/>
              </a:solidFill>
              <a:latin typeface="Times" pitchFamily="18" charset="0"/>
              <a:ea typeface="Arial" panose="020B0604020202020204" pitchFamily="34" charset="0"/>
            </a:endParaRPr>
          </a:p>
        </p:txBody>
      </p:sp>
      <p:sp>
        <p:nvSpPr>
          <p:cNvPr id="105478" name="Rectangle 5"/>
          <p:cNvSpPr/>
          <p:nvPr/>
        </p:nvSpPr>
        <p:spPr>
          <a:xfrm>
            <a:off x="4318000" y="2514600"/>
            <a:ext cx="1219200" cy="609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课程</a:t>
            </a:r>
            <a:endParaRPr lang="zh-CN" altLang="en-US" sz="2400" b="0" dirty="0">
              <a:solidFill>
                <a:schemeClr val="tx1"/>
              </a:solidFill>
              <a:latin typeface="Times" pitchFamily="18" charset="0"/>
              <a:ea typeface="Arial" panose="020B0604020202020204" pitchFamily="34" charset="0"/>
            </a:endParaRPr>
          </a:p>
        </p:txBody>
      </p:sp>
      <p:sp>
        <p:nvSpPr>
          <p:cNvPr id="105479" name="AutoShape 6"/>
          <p:cNvSpPr/>
          <p:nvPr/>
        </p:nvSpPr>
        <p:spPr>
          <a:xfrm>
            <a:off x="2489200" y="2438400"/>
            <a:ext cx="1219200" cy="762000"/>
          </a:xfrm>
          <a:prstGeom prst="diamond">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选修</a:t>
            </a:r>
            <a:endParaRPr lang="zh-CN" altLang="en-US" sz="2400" b="0" dirty="0">
              <a:solidFill>
                <a:schemeClr val="tx1"/>
              </a:solidFill>
              <a:latin typeface="Times" pitchFamily="18" charset="0"/>
              <a:ea typeface="Arial" panose="020B0604020202020204" pitchFamily="34" charset="0"/>
            </a:endParaRPr>
          </a:p>
        </p:txBody>
      </p:sp>
      <p:cxnSp>
        <p:nvCxnSpPr>
          <p:cNvPr id="105480" name="AutoShape 7"/>
          <p:cNvCxnSpPr>
            <a:stCxn id="105477" idx="3"/>
            <a:endCxn id="105479" idx="1"/>
          </p:cNvCxnSpPr>
          <p:nvPr/>
        </p:nvCxnSpPr>
        <p:spPr>
          <a:xfrm>
            <a:off x="1803400" y="2819400"/>
            <a:ext cx="685800" cy="0"/>
          </a:xfrm>
          <a:prstGeom prst="straightConnector1">
            <a:avLst/>
          </a:prstGeom>
          <a:ln w="19050" cap="flat" cmpd="sng">
            <a:solidFill>
              <a:schemeClr val="tx1"/>
            </a:solidFill>
            <a:prstDash val="solid"/>
            <a:headEnd type="none" w="med" len="med"/>
            <a:tailEnd type="none" w="med" len="med"/>
          </a:ln>
        </p:spPr>
      </p:cxnSp>
      <p:cxnSp>
        <p:nvCxnSpPr>
          <p:cNvPr id="105481" name="AutoShape 8"/>
          <p:cNvCxnSpPr>
            <a:stCxn id="105479" idx="3"/>
            <a:endCxn id="105478" idx="1"/>
          </p:cNvCxnSpPr>
          <p:nvPr/>
        </p:nvCxnSpPr>
        <p:spPr>
          <a:xfrm>
            <a:off x="3708400" y="2819400"/>
            <a:ext cx="609600" cy="0"/>
          </a:xfrm>
          <a:prstGeom prst="straightConnector1">
            <a:avLst/>
          </a:prstGeom>
          <a:ln w="19050" cap="flat" cmpd="sng">
            <a:solidFill>
              <a:schemeClr val="tx1"/>
            </a:solidFill>
            <a:prstDash val="solid"/>
            <a:headEnd type="none" w="med" len="med"/>
            <a:tailEnd type="none" w="med" len="med"/>
          </a:ln>
        </p:spPr>
      </p:cxnSp>
      <p:sp>
        <p:nvSpPr>
          <p:cNvPr id="105482" name="AutoShape 9"/>
          <p:cNvSpPr/>
          <p:nvPr/>
        </p:nvSpPr>
        <p:spPr>
          <a:xfrm>
            <a:off x="4318000" y="3429000"/>
            <a:ext cx="1219200" cy="609600"/>
          </a:xfrm>
          <a:prstGeom prst="diamond">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000" b="0" dirty="0">
                <a:solidFill>
                  <a:schemeClr val="tx1"/>
                </a:solidFill>
                <a:latin typeface="Times" pitchFamily="18" charset="0"/>
                <a:cs typeface="Arial" panose="020B0604020202020204" pitchFamily="34" charset="0"/>
              </a:rPr>
              <a:t>讲授</a:t>
            </a:r>
            <a:endParaRPr lang="zh-CN" altLang="en-US" sz="2400" b="0" dirty="0">
              <a:solidFill>
                <a:schemeClr val="tx1"/>
              </a:solidFill>
              <a:latin typeface="Times" pitchFamily="18" charset="0"/>
              <a:ea typeface="Arial" panose="020B0604020202020204" pitchFamily="34" charset="0"/>
            </a:endParaRPr>
          </a:p>
        </p:txBody>
      </p:sp>
      <p:sp>
        <p:nvSpPr>
          <p:cNvPr id="105483" name="Rectangle 10"/>
          <p:cNvSpPr/>
          <p:nvPr/>
        </p:nvSpPr>
        <p:spPr>
          <a:xfrm>
            <a:off x="4318000" y="4495800"/>
            <a:ext cx="1219200" cy="609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000" b="0" dirty="0">
                <a:solidFill>
                  <a:schemeClr val="tx1"/>
                </a:solidFill>
                <a:latin typeface="Times" pitchFamily="18" charset="0"/>
                <a:cs typeface="Arial" panose="020B0604020202020204" pitchFamily="34" charset="0"/>
              </a:rPr>
              <a:t>教师</a:t>
            </a:r>
            <a:endParaRPr lang="zh-CN" altLang="en-US" sz="2000" b="0" dirty="0">
              <a:solidFill>
                <a:schemeClr val="tx1"/>
              </a:solidFill>
              <a:latin typeface="Times" pitchFamily="18" charset="0"/>
              <a:ea typeface="Arial" panose="020B0604020202020204" pitchFamily="34" charset="0"/>
            </a:endParaRPr>
          </a:p>
        </p:txBody>
      </p:sp>
      <p:cxnSp>
        <p:nvCxnSpPr>
          <p:cNvPr id="105484" name="AutoShape 11"/>
          <p:cNvCxnSpPr>
            <a:stCxn id="105482" idx="0"/>
            <a:endCxn id="105478" idx="2"/>
          </p:cNvCxnSpPr>
          <p:nvPr/>
        </p:nvCxnSpPr>
        <p:spPr>
          <a:xfrm flipV="1">
            <a:off x="4927600" y="3124200"/>
            <a:ext cx="0" cy="304800"/>
          </a:xfrm>
          <a:prstGeom prst="straightConnector1">
            <a:avLst/>
          </a:prstGeom>
          <a:ln w="19050" cap="flat" cmpd="sng">
            <a:solidFill>
              <a:schemeClr val="tx1"/>
            </a:solidFill>
            <a:prstDash val="solid"/>
            <a:headEnd type="none" w="med" len="med"/>
            <a:tailEnd type="none" w="med" len="med"/>
          </a:ln>
        </p:spPr>
      </p:cxnSp>
      <p:cxnSp>
        <p:nvCxnSpPr>
          <p:cNvPr id="105485" name="AutoShape 12"/>
          <p:cNvCxnSpPr>
            <a:stCxn id="105483" idx="0"/>
            <a:endCxn id="105482" idx="2"/>
          </p:cNvCxnSpPr>
          <p:nvPr/>
        </p:nvCxnSpPr>
        <p:spPr>
          <a:xfrm flipV="1">
            <a:off x="4927600" y="4038600"/>
            <a:ext cx="0" cy="457200"/>
          </a:xfrm>
          <a:prstGeom prst="straightConnector1">
            <a:avLst/>
          </a:prstGeom>
          <a:ln w="19050" cap="flat" cmpd="sng">
            <a:solidFill>
              <a:schemeClr val="tx1"/>
            </a:solidFill>
            <a:prstDash val="solid"/>
            <a:headEnd type="none" w="med" len="med"/>
            <a:tailEnd type="none" w="med" len="med"/>
          </a:ln>
        </p:spPr>
      </p:cxnSp>
      <p:sp>
        <p:nvSpPr>
          <p:cNvPr id="105486" name="Text Box 13"/>
          <p:cNvSpPr txBox="1"/>
          <p:nvPr/>
        </p:nvSpPr>
        <p:spPr>
          <a:xfrm>
            <a:off x="3784600" y="23622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05487" name="Text Box 14"/>
          <p:cNvSpPr txBox="1"/>
          <p:nvPr/>
        </p:nvSpPr>
        <p:spPr>
          <a:xfrm>
            <a:off x="1955800" y="23622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05488" name="Text Box 15"/>
          <p:cNvSpPr txBox="1"/>
          <p:nvPr/>
        </p:nvSpPr>
        <p:spPr>
          <a:xfrm>
            <a:off x="4394200" y="31242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05489" name="Text Box 16"/>
          <p:cNvSpPr txBox="1"/>
          <p:nvPr/>
        </p:nvSpPr>
        <p:spPr>
          <a:xfrm>
            <a:off x="4470400" y="40386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grpSp>
        <p:nvGrpSpPr>
          <p:cNvPr id="105490" name="Group 17"/>
          <p:cNvGrpSpPr/>
          <p:nvPr/>
        </p:nvGrpSpPr>
        <p:grpSpPr>
          <a:xfrm>
            <a:off x="5562600" y="1257300"/>
            <a:ext cx="3581400" cy="3048000"/>
            <a:chOff x="240" y="2208"/>
            <a:chExt cx="2256" cy="1920"/>
          </a:xfrm>
        </p:grpSpPr>
        <p:sp>
          <p:nvSpPr>
            <p:cNvPr id="105523" name="Rectangle 18"/>
            <p:cNvSpPr/>
            <p:nvPr/>
          </p:nvSpPr>
          <p:spPr>
            <a:xfrm>
              <a:off x="336" y="2208"/>
              <a:ext cx="2160" cy="1920"/>
            </a:xfrm>
            <a:prstGeom prst="rect">
              <a:avLst/>
            </a:prstGeom>
            <a:solidFill>
              <a:srgbClr val="FFFF99"/>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lnSpc>
                  <a:spcPct val="120000"/>
                </a:lnSpc>
                <a:spcBef>
                  <a:spcPct val="10000"/>
                </a:spcBef>
                <a:spcAft>
                  <a:spcPct val="10000"/>
                </a:spcAft>
                <a:buClrTx/>
                <a:buNone/>
              </a:pPr>
              <a:r>
                <a:rPr lang="zh-CN" altLang="en-US" sz="2800" b="0" dirty="0">
                  <a:solidFill>
                    <a:schemeClr val="accent2"/>
                  </a:solidFill>
                  <a:cs typeface="Arial" panose="020B0604020202020204" pitchFamily="34" charset="0"/>
                </a:rPr>
                <a:t>学生	课程	  成绩</a:t>
              </a:r>
              <a:endParaRPr lang="zh-CN" altLang="en-US"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Sally	CS180  80</a:t>
              </a:r>
              <a:endParaRPr lang="en-US" altLang="zh-CN"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Sally	CS111  88</a:t>
              </a:r>
              <a:endParaRPr lang="en-US" altLang="zh-CN"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Joe	CS180  86</a:t>
              </a:r>
              <a:endParaRPr lang="en-US" altLang="zh-CN"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	…         …</a:t>
              </a:r>
              <a:endParaRPr lang="en-US" altLang="zh-CN" sz="2800" b="0" dirty="0">
                <a:solidFill>
                  <a:schemeClr val="accent2"/>
                </a:solidFill>
                <a:ea typeface="Arial" panose="020B0604020202020204" pitchFamily="34" charset="0"/>
              </a:endParaRPr>
            </a:p>
          </p:txBody>
        </p:sp>
        <p:grpSp>
          <p:nvGrpSpPr>
            <p:cNvPr id="105524" name="Group 19"/>
            <p:cNvGrpSpPr/>
            <p:nvPr/>
          </p:nvGrpSpPr>
          <p:grpSpPr>
            <a:xfrm>
              <a:off x="240" y="2320"/>
              <a:ext cx="2160" cy="1600"/>
              <a:chOff x="240" y="2320"/>
              <a:chExt cx="2160" cy="1600"/>
            </a:xfrm>
          </p:grpSpPr>
          <p:sp>
            <p:nvSpPr>
              <p:cNvPr id="105525" name="Line 20"/>
              <p:cNvSpPr/>
              <p:nvPr/>
            </p:nvSpPr>
            <p:spPr>
              <a:xfrm>
                <a:off x="240" y="2576"/>
                <a:ext cx="2160" cy="0"/>
              </a:xfrm>
              <a:prstGeom prst="line">
                <a:avLst/>
              </a:prstGeom>
              <a:ln w="9525" cap="flat" cmpd="sng">
                <a:solidFill>
                  <a:schemeClr val="tx1"/>
                </a:solidFill>
                <a:prstDash val="solid"/>
                <a:headEnd type="none" w="med" len="med"/>
                <a:tailEnd type="none" w="med" len="med"/>
              </a:ln>
            </p:spPr>
          </p:sp>
          <p:sp>
            <p:nvSpPr>
              <p:cNvPr id="105526" name="Line 21"/>
              <p:cNvSpPr/>
              <p:nvPr/>
            </p:nvSpPr>
            <p:spPr>
              <a:xfrm>
                <a:off x="240" y="2624"/>
                <a:ext cx="2160" cy="0"/>
              </a:xfrm>
              <a:prstGeom prst="line">
                <a:avLst/>
              </a:prstGeom>
              <a:ln w="9525" cap="flat" cmpd="sng">
                <a:solidFill>
                  <a:schemeClr val="tx1"/>
                </a:solidFill>
                <a:prstDash val="solid"/>
                <a:headEnd type="none" w="med" len="med"/>
                <a:tailEnd type="none" w="med" len="med"/>
              </a:ln>
            </p:spPr>
          </p:sp>
          <p:sp>
            <p:nvSpPr>
              <p:cNvPr id="105527" name="Line 22"/>
              <p:cNvSpPr/>
              <p:nvPr/>
            </p:nvSpPr>
            <p:spPr>
              <a:xfrm>
                <a:off x="904" y="2336"/>
                <a:ext cx="0" cy="1584"/>
              </a:xfrm>
              <a:prstGeom prst="line">
                <a:avLst/>
              </a:prstGeom>
              <a:ln w="9525" cap="flat" cmpd="sng">
                <a:solidFill>
                  <a:schemeClr val="tx1"/>
                </a:solidFill>
                <a:prstDash val="solid"/>
                <a:headEnd type="none" w="med" len="med"/>
                <a:tailEnd type="none" w="med" len="med"/>
              </a:ln>
            </p:spPr>
          </p:sp>
          <p:sp>
            <p:nvSpPr>
              <p:cNvPr id="105528" name="Line 23"/>
              <p:cNvSpPr/>
              <p:nvPr/>
            </p:nvSpPr>
            <p:spPr>
              <a:xfrm>
                <a:off x="1632" y="2320"/>
                <a:ext cx="0" cy="1584"/>
              </a:xfrm>
              <a:prstGeom prst="line">
                <a:avLst/>
              </a:prstGeom>
              <a:ln w="9525" cap="flat" cmpd="sng">
                <a:solidFill>
                  <a:schemeClr val="tx1"/>
                </a:solidFill>
                <a:prstDash val="solid"/>
                <a:headEnd type="none" w="med" len="med"/>
                <a:tailEnd type="none" w="med" len="med"/>
              </a:ln>
            </p:spPr>
          </p:sp>
        </p:grpSp>
      </p:grpSp>
      <p:sp>
        <p:nvSpPr>
          <p:cNvPr id="105491" name="Oval 24"/>
          <p:cNvSpPr/>
          <p:nvPr/>
        </p:nvSpPr>
        <p:spPr>
          <a:xfrm>
            <a:off x="2641600" y="1676400"/>
            <a:ext cx="914400" cy="4572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成绩</a:t>
            </a:r>
            <a:endParaRPr lang="zh-CN" altLang="en-US" sz="1800" b="0" dirty="0">
              <a:solidFill>
                <a:schemeClr val="tx1"/>
              </a:solidFill>
              <a:ea typeface="Arial" panose="020B0604020202020204" pitchFamily="34" charset="0"/>
            </a:endParaRPr>
          </a:p>
        </p:txBody>
      </p:sp>
      <p:sp>
        <p:nvSpPr>
          <p:cNvPr id="105492" name="Line 25"/>
          <p:cNvSpPr/>
          <p:nvPr/>
        </p:nvSpPr>
        <p:spPr>
          <a:xfrm flipV="1">
            <a:off x="3098800" y="2133600"/>
            <a:ext cx="0" cy="304800"/>
          </a:xfrm>
          <a:prstGeom prst="line">
            <a:avLst/>
          </a:prstGeom>
          <a:ln w="9525" cap="flat" cmpd="sng">
            <a:solidFill>
              <a:schemeClr val="tx1"/>
            </a:solidFill>
            <a:prstDash val="solid"/>
            <a:headEnd type="none" w="med" len="med"/>
            <a:tailEnd type="none" w="med" len="med"/>
          </a:ln>
        </p:spPr>
      </p:sp>
      <p:grpSp>
        <p:nvGrpSpPr>
          <p:cNvPr id="105493" name="Group 26"/>
          <p:cNvGrpSpPr/>
          <p:nvPr/>
        </p:nvGrpSpPr>
        <p:grpSpPr>
          <a:xfrm>
            <a:off x="5676900" y="4381500"/>
            <a:ext cx="2819400" cy="2286000"/>
            <a:chOff x="3984" y="2400"/>
            <a:chExt cx="1776" cy="1440"/>
          </a:xfrm>
        </p:grpSpPr>
        <p:sp>
          <p:nvSpPr>
            <p:cNvPr id="105518" name="Text Box 27"/>
            <p:cNvSpPr txBox="1"/>
            <p:nvPr/>
          </p:nvSpPr>
          <p:spPr>
            <a:xfrm>
              <a:off x="3996" y="2400"/>
              <a:ext cx="1764" cy="1438"/>
            </a:xfrm>
            <a:prstGeom prst="rect">
              <a:avLst/>
            </a:prstGeom>
            <a:solidFill>
              <a:srgbClr val="FFFF99"/>
            </a:solid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b="0" dirty="0">
                  <a:solidFill>
                    <a:schemeClr val="accent2"/>
                  </a:solidFill>
                  <a:cs typeface="Arial" panose="020B0604020202020204" pitchFamily="34" charset="0"/>
                </a:rPr>
                <a:t>课程	  教师	教室</a:t>
              </a:r>
              <a:endParaRPr lang="zh-CN" altLang="en-US" sz="2400" b="0" dirty="0">
                <a:solidFill>
                  <a:schemeClr val="accent2"/>
                </a:solidFill>
                <a:cs typeface="Arial" panose="020B0604020202020204" pitchFamily="34" charset="0"/>
              </a:endParaRPr>
            </a:p>
            <a:p>
              <a:pPr marL="0" lvl="0" indent="0" eaLnBrk="1" hangingPunct="1">
                <a:spcBef>
                  <a:spcPct val="0"/>
                </a:spcBef>
                <a:buClrTx/>
                <a:buFontTx/>
                <a:buNone/>
              </a:pPr>
              <a:r>
                <a:rPr lang="en-US" altLang="zh-CN" sz="2400" b="0" dirty="0">
                  <a:solidFill>
                    <a:schemeClr val="accent2"/>
                  </a:solidFill>
                  <a:cs typeface="Arial" panose="020B0604020202020204" pitchFamily="34" charset="0"/>
                </a:rPr>
                <a:t>CS180	  </a:t>
              </a:r>
              <a:r>
                <a:rPr lang="zh-CN" altLang="en-US" sz="2400" b="0" dirty="0">
                  <a:solidFill>
                    <a:schemeClr val="accent2"/>
                  </a:solidFill>
                  <a:cs typeface="Arial" panose="020B0604020202020204" pitchFamily="34" charset="0"/>
                </a:rPr>
                <a:t>杨	</a:t>
              </a:r>
              <a:r>
                <a:rPr lang="en-US" altLang="zh-CN" sz="2400" b="0" dirty="0">
                  <a:solidFill>
                    <a:schemeClr val="accent2"/>
                  </a:solidFill>
                  <a:cs typeface="Arial" panose="020B0604020202020204" pitchFamily="34" charset="0"/>
                </a:rPr>
                <a:t>D311</a:t>
              </a:r>
              <a:endParaRPr lang="en-US" altLang="zh-CN" sz="2400" b="0" dirty="0">
                <a:solidFill>
                  <a:schemeClr val="accent2"/>
                </a:solidFill>
                <a:cs typeface="Arial" panose="020B0604020202020204" pitchFamily="34" charset="0"/>
              </a:endParaRPr>
            </a:p>
            <a:p>
              <a:pPr marL="0" lvl="0" indent="0" eaLnBrk="1" hangingPunct="1">
                <a:spcBef>
                  <a:spcPct val="0"/>
                </a:spcBef>
                <a:buClrTx/>
                <a:buFontTx/>
                <a:buNone/>
              </a:pPr>
              <a:r>
                <a:rPr lang="en-US" altLang="zh-CN" sz="2400" b="0" dirty="0">
                  <a:solidFill>
                    <a:schemeClr val="accent2"/>
                  </a:solidFill>
                  <a:cs typeface="Arial" panose="020B0604020202020204" pitchFamily="34" charset="0"/>
                </a:rPr>
                <a:t>CS145	  </a:t>
              </a:r>
              <a:r>
                <a:rPr lang="zh-CN" altLang="en-US" sz="2400" b="0" dirty="0">
                  <a:solidFill>
                    <a:schemeClr val="accent2"/>
                  </a:solidFill>
                  <a:cs typeface="Arial" panose="020B0604020202020204" pitchFamily="34" charset="0"/>
                </a:rPr>
                <a:t>杨	</a:t>
              </a:r>
              <a:r>
                <a:rPr lang="en-US" altLang="zh-CN" sz="2400" b="0" dirty="0">
                  <a:solidFill>
                    <a:schemeClr val="accent2"/>
                  </a:solidFill>
                  <a:cs typeface="Arial" panose="020B0604020202020204" pitchFamily="34" charset="0"/>
                </a:rPr>
                <a:t>N312</a:t>
              </a:r>
              <a:endParaRPr lang="en-US" altLang="zh-CN" sz="2400" b="0" dirty="0">
                <a:solidFill>
                  <a:schemeClr val="accent2"/>
                </a:solidFill>
                <a:cs typeface="Arial" panose="020B0604020202020204" pitchFamily="34" charset="0"/>
              </a:endParaRPr>
            </a:p>
            <a:p>
              <a:pPr marL="0" lvl="0" indent="0" eaLnBrk="1" hangingPunct="1">
                <a:spcBef>
                  <a:spcPct val="0"/>
                </a:spcBef>
                <a:buClrTx/>
                <a:buFontTx/>
                <a:buNone/>
              </a:pPr>
              <a:r>
                <a:rPr lang="en-US" altLang="zh-CN" sz="2400" b="0" dirty="0">
                  <a:solidFill>
                    <a:schemeClr val="accent2"/>
                  </a:solidFill>
                  <a:cs typeface="Arial" panose="020B0604020202020204" pitchFamily="34" charset="0"/>
                </a:rPr>
                <a:t>CS145	  </a:t>
              </a:r>
              <a:r>
                <a:rPr lang="zh-CN" altLang="en-US" sz="2400" b="0" dirty="0">
                  <a:solidFill>
                    <a:schemeClr val="accent2"/>
                  </a:solidFill>
                  <a:cs typeface="Arial" panose="020B0604020202020204" pitchFamily="34" charset="0"/>
                </a:rPr>
                <a:t>吴	</a:t>
              </a:r>
              <a:r>
                <a:rPr lang="en-US" altLang="zh-CN" sz="2400" b="0" dirty="0">
                  <a:solidFill>
                    <a:schemeClr val="accent2"/>
                  </a:solidFill>
                  <a:cs typeface="Arial" panose="020B0604020202020204" pitchFamily="34" charset="0"/>
                </a:rPr>
                <a:t>D308</a:t>
              </a:r>
              <a:endParaRPr lang="en-US" altLang="zh-CN" sz="2400" b="0" dirty="0">
                <a:solidFill>
                  <a:schemeClr val="accent2"/>
                </a:solidFill>
                <a:cs typeface="Arial" panose="020B0604020202020204" pitchFamily="34" charset="0"/>
              </a:endParaRPr>
            </a:p>
            <a:p>
              <a:pPr marL="0" lvl="0" indent="0" eaLnBrk="1" hangingPunct="1">
                <a:spcBef>
                  <a:spcPct val="0"/>
                </a:spcBef>
                <a:buClrTx/>
                <a:buFontTx/>
                <a:buNone/>
              </a:pPr>
              <a:r>
                <a:rPr lang="en-US" altLang="zh-CN" sz="2400" b="0" dirty="0">
                  <a:solidFill>
                    <a:schemeClr val="accent2"/>
                  </a:solidFill>
                  <a:cs typeface="Arial" panose="020B0604020202020204" pitchFamily="34" charset="0"/>
                </a:rPr>
                <a:t>CS143 	  </a:t>
              </a:r>
              <a:r>
                <a:rPr lang="zh-CN" altLang="en-US" sz="2400" b="0" dirty="0">
                  <a:solidFill>
                    <a:schemeClr val="accent2"/>
                  </a:solidFill>
                  <a:cs typeface="Arial" panose="020B0604020202020204" pitchFamily="34" charset="0"/>
                </a:rPr>
                <a:t>赵	</a:t>
              </a:r>
              <a:r>
                <a:rPr lang="en-US" altLang="zh-CN" sz="2400" b="0" dirty="0">
                  <a:solidFill>
                    <a:schemeClr val="accent2"/>
                  </a:solidFill>
                  <a:cs typeface="Arial" panose="020B0604020202020204" pitchFamily="34" charset="0"/>
                </a:rPr>
                <a:t>S203</a:t>
              </a:r>
              <a:endParaRPr lang="en-US" altLang="zh-CN" sz="2400" b="0" dirty="0">
                <a:solidFill>
                  <a:schemeClr val="accent2"/>
                </a:solidFill>
                <a:cs typeface="Arial" panose="020B0604020202020204" pitchFamily="34" charset="0"/>
              </a:endParaRPr>
            </a:p>
            <a:p>
              <a:pPr marL="0" lvl="0" indent="0" eaLnBrk="1" hangingPunct="1">
                <a:spcBef>
                  <a:spcPct val="0"/>
                </a:spcBef>
                <a:buClrTx/>
                <a:buFontTx/>
                <a:buNone/>
              </a:pPr>
              <a:r>
                <a:rPr lang="en-US" altLang="zh-CN" sz="2400" b="0" dirty="0">
                  <a:solidFill>
                    <a:schemeClr val="accent2"/>
                  </a:solidFill>
                  <a:cs typeface="Arial" panose="020B0604020202020204" pitchFamily="34" charset="0"/>
                </a:rPr>
                <a:t>…	  …</a:t>
              </a:r>
              <a:endParaRPr lang="en-US" altLang="zh-CN" sz="2400" b="0" dirty="0">
                <a:solidFill>
                  <a:schemeClr val="accent2"/>
                </a:solidFill>
                <a:ea typeface="Arial" panose="020B0604020202020204" pitchFamily="34" charset="0"/>
              </a:endParaRPr>
            </a:p>
          </p:txBody>
        </p:sp>
        <p:sp>
          <p:nvSpPr>
            <p:cNvPr id="105519" name="Line 28"/>
            <p:cNvSpPr/>
            <p:nvPr/>
          </p:nvSpPr>
          <p:spPr>
            <a:xfrm>
              <a:off x="3984" y="2648"/>
              <a:ext cx="1680" cy="0"/>
            </a:xfrm>
            <a:prstGeom prst="line">
              <a:avLst/>
            </a:prstGeom>
            <a:ln w="9525" cap="flat" cmpd="sng">
              <a:solidFill>
                <a:schemeClr val="tx1"/>
              </a:solidFill>
              <a:prstDash val="solid"/>
              <a:headEnd type="none" w="med" len="med"/>
              <a:tailEnd type="none" w="med" len="med"/>
            </a:ln>
          </p:spPr>
        </p:sp>
        <p:sp>
          <p:nvSpPr>
            <p:cNvPr id="105520" name="Line 29"/>
            <p:cNvSpPr/>
            <p:nvPr/>
          </p:nvSpPr>
          <p:spPr>
            <a:xfrm>
              <a:off x="3984" y="2688"/>
              <a:ext cx="1680" cy="0"/>
            </a:xfrm>
            <a:prstGeom prst="line">
              <a:avLst/>
            </a:prstGeom>
            <a:ln w="9525" cap="flat" cmpd="sng">
              <a:solidFill>
                <a:schemeClr val="tx1"/>
              </a:solidFill>
              <a:prstDash val="solid"/>
              <a:headEnd type="none" w="med" len="med"/>
              <a:tailEnd type="none" w="med" len="med"/>
            </a:ln>
          </p:spPr>
        </p:sp>
        <p:sp>
          <p:nvSpPr>
            <p:cNvPr id="105521" name="Line 30"/>
            <p:cNvSpPr/>
            <p:nvPr/>
          </p:nvSpPr>
          <p:spPr>
            <a:xfrm>
              <a:off x="4656" y="2448"/>
              <a:ext cx="0" cy="1392"/>
            </a:xfrm>
            <a:prstGeom prst="line">
              <a:avLst/>
            </a:prstGeom>
            <a:ln w="9525" cap="flat" cmpd="sng">
              <a:solidFill>
                <a:schemeClr val="tx1"/>
              </a:solidFill>
              <a:prstDash val="solid"/>
              <a:headEnd type="none" w="med" len="med"/>
              <a:tailEnd type="none" w="med" len="med"/>
            </a:ln>
          </p:spPr>
        </p:sp>
        <p:sp>
          <p:nvSpPr>
            <p:cNvPr id="105522" name="Line 31"/>
            <p:cNvSpPr/>
            <p:nvPr/>
          </p:nvSpPr>
          <p:spPr>
            <a:xfrm>
              <a:off x="5136" y="2448"/>
              <a:ext cx="0" cy="1392"/>
            </a:xfrm>
            <a:prstGeom prst="line">
              <a:avLst/>
            </a:prstGeom>
            <a:ln w="9525" cap="flat" cmpd="sng">
              <a:solidFill>
                <a:schemeClr val="tx1"/>
              </a:solidFill>
              <a:prstDash val="solid"/>
              <a:headEnd type="none" w="med" len="med"/>
              <a:tailEnd type="none" w="med" len="med"/>
            </a:ln>
          </p:spPr>
        </p:sp>
      </p:grpSp>
      <p:sp>
        <p:nvSpPr>
          <p:cNvPr id="105494" name="Oval 32"/>
          <p:cNvSpPr/>
          <p:nvPr/>
        </p:nvSpPr>
        <p:spPr>
          <a:xfrm>
            <a:off x="3251200" y="3505200"/>
            <a:ext cx="914400" cy="4572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教室</a:t>
            </a:r>
            <a:endParaRPr lang="zh-CN" altLang="en-US" sz="1800" b="0" dirty="0">
              <a:solidFill>
                <a:schemeClr val="tx1"/>
              </a:solidFill>
              <a:ea typeface="Arial" panose="020B0604020202020204" pitchFamily="34" charset="0"/>
            </a:endParaRPr>
          </a:p>
        </p:txBody>
      </p:sp>
      <p:sp>
        <p:nvSpPr>
          <p:cNvPr id="105495" name="Line 33"/>
          <p:cNvSpPr/>
          <p:nvPr/>
        </p:nvSpPr>
        <p:spPr>
          <a:xfrm flipV="1">
            <a:off x="4165600" y="3733800"/>
            <a:ext cx="228600" cy="0"/>
          </a:xfrm>
          <a:prstGeom prst="line">
            <a:avLst/>
          </a:prstGeom>
          <a:ln w="9525" cap="flat" cmpd="sng">
            <a:solidFill>
              <a:schemeClr val="tx1"/>
            </a:solidFill>
            <a:prstDash val="solid"/>
            <a:headEnd type="none" w="med" len="med"/>
            <a:tailEnd type="none" w="med" len="med"/>
          </a:ln>
        </p:spPr>
      </p:sp>
      <p:sp>
        <p:nvSpPr>
          <p:cNvPr id="105496" name="AutoShape 34"/>
          <p:cNvSpPr/>
          <p:nvPr/>
        </p:nvSpPr>
        <p:spPr>
          <a:xfrm>
            <a:off x="1752600" y="3810000"/>
            <a:ext cx="1219200" cy="762000"/>
          </a:xfrm>
          <a:prstGeom prst="diamond">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教学</a:t>
            </a:r>
            <a:endParaRPr lang="zh-CN" altLang="en-US" sz="2400" b="0" dirty="0">
              <a:solidFill>
                <a:schemeClr val="tx1"/>
              </a:solidFill>
              <a:latin typeface="Times" pitchFamily="18" charset="0"/>
              <a:ea typeface="Arial" panose="020B0604020202020204" pitchFamily="34" charset="0"/>
            </a:endParaRPr>
          </a:p>
        </p:txBody>
      </p:sp>
      <p:cxnSp>
        <p:nvCxnSpPr>
          <p:cNvPr id="105497" name="AutoShape 35"/>
          <p:cNvCxnSpPr>
            <a:stCxn id="105477" idx="2"/>
            <a:endCxn id="105496" idx="1"/>
          </p:cNvCxnSpPr>
          <p:nvPr/>
        </p:nvCxnSpPr>
        <p:spPr>
          <a:xfrm>
            <a:off x="1193800" y="3124200"/>
            <a:ext cx="558800" cy="1066800"/>
          </a:xfrm>
          <a:prstGeom prst="straightConnector1">
            <a:avLst/>
          </a:prstGeom>
          <a:ln w="19050" cap="flat" cmpd="sng">
            <a:solidFill>
              <a:schemeClr val="tx1"/>
            </a:solidFill>
            <a:prstDash val="solid"/>
            <a:headEnd type="none" w="med" len="med"/>
            <a:tailEnd type="none" w="med" len="med"/>
          </a:ln>
        </p:spPr>
      </p:cxnSp>
      <p:cxnSp>
        <p:nvCxnSpPr>
          <p:cNvPr id="105498" name="AutoShape 36"/>
          <p:cNvCxnSpPr>
            <a:stCxn id="105496" idx="3"/>
            <a:endCxn id="105483" idx="1"/>
          </p:cNvCxnSpPr>
          <p:nvPr/>
        </p:nvCxnSpPr>
        <p:spPr>
          <a:xfrm>
            <a:off x="2971800" y="4191000"/>
            <a:ext cx="1346200" cy="609600"/>
          </a:xfrm>
          <a:prstGeom prst="straightConnector1">
            <a:avLst/>
          </a:prstGeom>
          <a:ln w="19050" cap="flat" cmpd="sng">
            <a:solidFill>
              <a:schemeClr val="tx1"/>
            </a:solidFill>
            <a:prstDash val="solid"/>
            <a:headEnd type="none" w="med" len="med"/>
            <a:tailEnd type="none" w="med" len="med"/>
          </a:ln>
        </p:spPr>
      </p:cxnSp>
      <p:sp>
        <p:nvSpPr>
          <p:cNvPr id="105499" name="Text Box 37"/>
          <p:cNvSpPr txBox="1"/>
          <p:nvPr/>
        </p:nvSpPr>
        <p:spPr>
          <a:xfrm>
            <a:off x="3276600" y="42672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05500" name="Text Box 38"/>
          <p:cNvSpPr txBox="1"/>
          <p:nvPr/>
        </p:nvSpPr>
        <p:spPr>
          <a:xfrm>
            <a:off x="1066800" y="35052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graphicFrame>
        <p:nvGraphicFramePr>
          <p:cNvPr id="367655" name="Group 39"/>
          <p:cNvGraphicFramePr>
            <a:graphicFrameLocks noGrp="1"/>
          </p:cNvGraphicFramePr>
          <p:nvPr/>
        </p:nvGraphicFramePr>
        <p:xfrm>
          <a:off x="12700" y="4686300"/>
          <a:ext cx="2971800" cy="1828800"/>
        </p:xfrm>
        <a:graphic>
          <a:graphicData uri="http://schemas.openxmlformats.org/drawingml/2006/table">
            <a:tbl>
              <a:tblPr/>
              <a:tblGrid>
                <a:gridCol w="1485900"/>
                <a:gridCol w="1485900"/>
              </a:tblGrid>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学生</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教师</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Sally</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杨</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Sally</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钱</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Joe</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杨</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649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6500"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方法举例：学生，教师与课程另解</a:t>
            </a:r>
            <a:endParaRPr lang="zh-CN" altLang="en-US" dirty="0"/>
          </a:p>
        </p:txBody>
      </p:sp>
      <p:sp>
        <p:nvSpPr>
          <p:cNvPr id="106501" name="Rectangle 4"/>
          <p:cNvSpPr/>
          <p:nvPr/>
        </p:nvSpPr>
        <p:spPr>
          <a:xfrm>
            <a:off x="2476500" y="2705100"/>
            <a:ext cx="12192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学生</a:t>
            </a:r>
            <a:endParaRPr lang="zh-CN" altLang="en-US" sz="2400" b="0" dirty="0">
              <a:solidFill>
                <a:schemeClr val="tx1"/>
              </a:solidFill>
              <a:latin typeface="Times" pitchFamily="18" charset="0"/>
              <a:ea typeface="Arial" panose="020B0604020202020204" pitchFamily="34" charset="0"/>
            </a:endParaRPr>
          </a:p>
        </p:txBody>
      </p:sp>
      <p:sp>
        <p:nvSpPr>
          <p:cNvPr id="106502" name="Rectangle 5"/>
          <p:cNvSpPr/>
          <p:nvPr/>
        </p:nvSpPr>
        <p:spPr>
          <a:xfrm>
            <a:off x="6667500" y="1333500"/>
            <a:ext cx="12192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课程</a:t>
            </a:r>
            <a:endParaRPr lang="zh-CN" altLang="en-US" sz="2400" b="0" dirty="0">
              <a:solidFill>
                <a:schemeClr val="tx1"/>
              </a:solidFill>
              <a:latin typeface="Times" pitchFamily="18" charset="0"/>
              <a:ea typeface="Arial" panose="020B0604020202020204" pitchFamily="34" charset="0"/>
            </a:endParaRPr>
          </a:p>
        </p:txBody>
      </p:sp>
      <p:sp>
        <p:nvSpPr>
          <p:cNvPr id="106503" name="Rectangle 6"/>
          <p:cNvSpPr/>
          <p:nvPr/>
        </p:nvSpPr>
        <p:spPr>
          <a:xfrm>
            <a:off x="6667500" y="3771900"/>
            <a:ext cx="12192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教师</a:t>
            </a:r>
            <a:endParaRPr lang="zh-CN" altLang="en-US" sz="2400" b="0" dirty="0">
              <a:solidFill>
                <a:schemeClr val="tx1"/>
              </a:solidFill>
              <a:latin typeface="Times" pitchFamily="18" charset="0"/>
              <a:ea typeface="Arial" panose="020B0604020202020204" pitchFamily="34" charset="0"/>
            </a:endParaRPr>
          </a:p>
        </p:txBody>
      </p:sp>
      <p:sp>
        <p:nvSpPr>
          <p:cNvPr id="106504" name="AutoShape 7"/>
          <p:cNvSpPr/>
          <p:nvPr/>
        </p:nvSpPr>
        <p:spPr>
          <a:xfrm>
            <a:off x="4610100" y="2400300"/>
            <a:ext cx="1295400" cy="1295400"/>
          </a:xfrm>
          <a:prstGeom prst="diamond">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0"/>
              </a:spcBef>
              <a:buClrTx/>
              <a:buFontTx/>
              <a:buNone/>
            </a:pPr>
            <a:r>
              <a:rPr lang="zh-CN" altLang="en-US" sz="2400" b="0" dirty="0">
                <a:solidFill>
                  <a:schemeClr val="tx1"/>
                </a:solidFill>
                <a:latin typeface="Times" pitchFamily="18" charset="0"/>
                <a:cs typeface="Arial" panose="020B0604020202020204" pitchFamily="34" charset="0"/>
              </a:rPr>
              <a:t>注册</a:t>
            </a:r>
            <a:endParaRPr lang="zh-CN" altLang="en-US" sz="2400" b="0" dirty="0">
              <a:solidFill>
                <a:schemeClr val="tx1"/>
              </a:solidFill>
              <a:latin typeface="Times" pitchFamily="18" charset="0"/>
              <a:ea typeface="Arial" panose="020B0604020202020204" pitchFamily="34" charset="0"/>
            </a:endParaRPr>
          </a:p>
        </p:txBody>
      </p:sp>
      <p:cxnSp>
        <p:nvCxnSpPr>
          <p:cNvPr id="106505" name="AutoShape 8"/>
          <p:cNvCxnSpPr>
            <a:stCxn id="106501" idx="3"/>
            <a:endCxn id="106504" idx="1"/>
          </p:cNvCxnSpPr>
          <p:nvPr/>
        </p:nvCxnSpPr>
        <p:spPr>
          <a:xfrm>
            <a:off x="3695700" y="3048000"/>
            <a:ext cx="914400" cy="0"/>
          </a:xfrm>
          <a:prstGeom prst="straightConnector1">
            <a:avLst/>
          </a:prstGeom>
          <a:ln w="19050" cap="flat" cmpd="sng">
            <a:solidFill>
              <a:schemeClr val="tx1"/>
            </a:solidFill>
            <a:prstDash val="solid"/>
            <a:headEnd type="none" w="med" len="med"/>
            <a:tailEnd type="none" w="med" len="med"/>
          </a:ln>
        </p:spPr>
      </p:cxnSp>
      <p:cxnSp>
        <p:nvCxnSpPr>
          <p:cNvPr id="106506" name="AutoShape 9"/>
          <p:cNvCxnSpPr>
            <a:stCxn id="106504" idx="0"/>
            <a:endCxn id="106502" idx="1"/>
          </p:cNvCxnSpPr>
          <p:nvPr/>
        </p:nvCxnSpPr>
        <p:spPr>
          <a:xfrm flipV="1">
            <a:off x="5257800" y="1676400"/>
            <a:ext cx="1409700" cy="723900"/>
          </a:xfrm>
          <a:prstGeom prst="straightConnector1">
            <a:avLst/>
          </a:prstGeom>
          <a:ln w="19050" cap="flat" cmpd="sng">
            <a:solidFill>
              <a:schemeClr val="tx1"/>
            </a:solidFill>
            <a:prstDash val="solid"/>
            <a:headEnd type="none" w="med" len="med"/>
            <a:tailEnd type="none" w="med" len="med"/>
          </a:ln>
        </p:spPr>
      </p:cxnSp>
      <p:cxnSp>
        <p:nvCxnSpPr>
          <p:cNvPr id="106507" name="AutoShape 10"/>
          <p:cNvCxnSpPr>
            <a:stCxn id="106504" idx="2"/>
            <a:endCxn id="106503" idx="1"/>
          </p:cNvCxnSpPr>
          <p:nvPr/>
        </p:nvCxnSpPr>
        <p:spPr>
          <a:xfrm>
            <a:off x="5257800" y="3695700"/>
            <a:ext cx="1409700" cy="419100"/>
          </a:xfrm>
          <a:prstGeom prst="straightConnector1">
            <a:avLst/>
          </a:prstGeom>
          <a:ln w="19050" cap="flat" cmpd="sng">
            <a:solidFill>
              <a:schemeClr val="tx1"/>
            </a:solidFill>
            <a:prstDash val="solid"/>
            <a:headEnd type="none" w="med" len="med"/>
            <a:tailEnd type="none" w="med" len="med"/>
          </a:ln>
        </p:spPr>
      </p:cxnSp>
      <p:sp>
        <p:nvSpPr>
          <p:cNvPr id="106508" name="Text Box 11"/>
          <p:cNvSpPr txBox="1"/>
          <p:nvPr/>
        </p:nvSpPr>
        <p:spPr>
          <a:xfrm>
            <a:off x="3924300" y="24765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06509" name="Text Box 12"/>
          <p:cNvSpPr txBox="1"/>
          <p:nvPr/>
        </p:nvSpPr>
        <p:spPr>
          <a:xfrm>
            <a:off x="5448300" y="14859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06510" name="Text Box 13"/>
          <p:cNvSpPr txBox="1"/>
          <p:nvPr/>
        </p:nvSpPr>
        <p:spPr>
          <a:xfrm>
            <a:off x="5981700" y="3390900"/>
            <a:ext cx="3540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P</a:t>
            </a:r>
            <a:endParaRPr lang="en-US" altLang="zh-CN" sz="2400" b="0" dirty="0">
              <a:solidFill>
                <a:schemeClr val="tx1"/>
              </a:solidFill>
              <a:ea typeface="Arial" panose="020B0604020202020204" pitchFamily="34" charset="0"/>
            </a:endParaRPr>
          </a:p>
        </p:txBody>
      </p:sp>
      <p:sp>
        <p:nvSpPr>
          <p:cNvPr id="106511" name="Rectangle 14"/>
          <p:cNvSpPr/>
          <p:nvPr/>
        </p:nvSpPr>
        <p:spPr>
          <a:xfrm>
            <a:off x="228600" y="3657600"/>
            <a:ext cx="5029200" cy="2590800"/>
          </a:xfrm>
          <a:prstGeom prst="rect">
            <a:avLst/>
          </a:prstGeom>
          <a:solidFill>
            <a:srgbClr val="FFFF99"/>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lnSpc>
                <a:spcPct val="120000"/>
              </a:lnSpc>
              <a:spcBef>
                <a:spcPct val="10000"/>
              </a:spcBef>
              <a:spcAft>
                <a:spcPct val="10000"/>
              </a:spcAft>
              <a:buClrTx/>
              <a:buNone/>
            </a:pPr>
            <a:r>
              <a:rPr lang="zh-CN" altLang="en-US" sz="2800" b="0" dirty="0">
                <a:solidFill>
                  <a:schemeClr val="accent2"/>
                </a:solidFill>
                <a:cs typeface="Arial" panose="020B0604020202020204" pitchFamily="34" charset="0"/>
              </a:rPr>
              <a:t>学生		课程		教师</a:t>
            </a:r>
            <a:endParaRPr lang="zh-CN" altLang="en-US"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Ann		CS180	</a:t>
            </a:r>
            <a:r>
              <a:rPr lang="zh-CN" altLang="en-US" sz="2800" b="0" dirty="0">
                <a:solidFill>
                  <a:schemeClr val="accent2"/>
                </a:solidFill>
                <a:cs typeface="Arial" panose="020B0604020202020204" pitchFamily="34" charset="0"/>
              </a:rPr>
              <a:t>杨</a:t>
            </a:r>
            <a:endParaRPr lang="zh-CN" altLang="en-US"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Sue		CS180	</a:t>
            </a:r>
            <a:r>
              <a:rPr lang="zh-CN" altLang="en-US" sz="2800" b="0" dirty="0">
                <a:solidFill>
                  <a:schemeClr val="accent2"/>
                </a:solidFill>
                <a:cs typeface="Arial" panose="020B0604020202020204" pitchFamily="34" charset="0"/>
              </a:rPr>
              <a:t>吴</a:t>
            </a:r>
            <a:endParaRPr lang="zh-CN" altLang="en-US"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Bob		CS180	</a:t>
            </a:r>
            <a:r>
              <a:rPr lang="zh-CN" altLang="en-US" sz="2800" b="0" dirty="0">
                <a:solidFill>
                  <a:schemeClr val="accent2"/>
                </a:solidFill>
                <a:cs typeface="Arial" panose="020B0604020202020204" pitchFamily="34" charset="0"/>
              </a:rPr>
              <a:t>杨</a:t>
            </a:r>
            <a:endParaRPr lang="zh-CN" altLang="en-US" sz="2800" b="0" dirty="0">
              <a:solidFill>
                <a:schemeClr val="accent2"/>
              </a:solidFill>
              <a:cs typeface="Arial" panose="020B0604020202020204" pitchFamily="34" charset="0"/>
            </a:endParaRPr>
          </a:p>
          <a:p>
            <a:pPr marL="342900" lvl="0" indent="-342900" eaLnBrk="1" hangingPunct="1">
              <a:lnSpc>
                <a:spcPct val="120000"/>
              </a:lnSpc>
              <a:spcBef>
                <a:spcPct val="10000"/>
              </a:spcBef>
              <a:spcAft>
                <a:spcPct val="10000"/>
              </a:spcAft>
              <a:buClrTx/>
              <a:buNone/>
            </a:pPr>
            <a:r>
              <a:rPr lang="en-US" altLang="zh-CN" sz="2800" b="0" dirty="0">
                <a:solidFill>
                  <a:schemeClr val="accent2"/>
                </a:solidFill>
                <a:cs typeface="Arial" panose="020B0604020202020204" pitchFamily="34" charset="0"/>
              </a:rPr>
              <a:t>…		…		…</a:t>
            </a:r>
            <a:endParaRPr lang="en-US" altLang="zh-CN" sz="2800" b="0" dirty="0">
              <a:solidFill>
                <a:schemeClr val="accent2"/>
              </a:solidFill>
              <a:ea typeface="Arial" panose="020B0604020202020204" pitchFamily="34" charset="0"/>
            </a:endParaRPr>
          </a:p>
        </p:txBody>
      </p:sp>
      <p:sp>
        <p:nvSpPr>
          <p:cNvPr id="106512" name="Line 15"/>
          <p:cNvSpPr/>
          <p:nvPr/>
        </p:nvSpPr>
        <p:spPr>
          <a:xfrm>
            <a:off x="76200" y="4292600"/>
            <a:ext cx="4876800" cy="0"/>
          </a:xfrm>
          <a:prstGeom prst="line">
            <a:avLst/>
          </a:prstGeom>
          <a:ln w="9525" cap="flat" cmpd="sng">
            <a:solidFill>
              <a:schemeClr val="tx1"/>
            </a:solidFill>
            <a:prstDash val="solid"/>
            <a:headEnd type="none" w="med" len="med"/>
            <a:tailEnd type="none" w="med" len="med"/>
          </a:ln>
        </p:spPr>
      </p:sp>
      <p:sp>
        <p:nvSpPr>
          <p:cNvPr id="106513" name="Line 16"/>
          <p:cNvSpPr/>
          <p:nvPr/>
        </p:nvSpPr>
        <p:spPr>
          <a:xfrm>
            <a:off x="76200" y="4191000"/>
            <a:ext cx="4876800" cy="0"/>
          </a:xfrm>
          <a:prstGeom prst="line">
            <a:avLst/>
          </a:prstGeom>
          <a:ln w="9525" cap="flat" cmpd="sng">
            <a:solidFill>
              <a:schemeClr val="tx1"/>
            </a:solidFill>
            <a:prstDash val="solid"/>
            <a:headEnd type="none" w="med" len="med"/>
            <a:tailEnd type="none" w="med" len="med"/>
          </a:ln>
        </p:spPr>
      </p:sp>
      <p:sp>
        <p:nvSpPr>
          <p:cNvPr id="106514" name="Line 17"/>
          <p:cNvSpPr/>
          <p:nvPr/>
        </p:nvSpPr>
        <p:spPr>
          <a:xfrm>
            <a:off x="3657600" y="3733800"/>
            <a:ext cx="0" cy="2667000"/>
          </a:xfrm>
          <a:prstGeom prst="line">
            <a:avLst/>
          </a:prstGeom>
          <a:ln w="9525" cap="flat" cmpd="sng">
            <a:solidFill>
              <a:schemeClr val="tx1"/>
            </a:solidFill>
            <a:prstDash val="solid"/>
            <a:headEnd type="none" w="med" len="med"/>
            <a:tailEnd type="none" w="med" len="med"/>
          </a:ln>
        </p:spPr>
      </p:sp>
      <p:sp>
        <p:nvSpPr>
          <p:cNvPr id="106515" name="Line 18"/>
          <p:cNvSpPr/>
          <p:nvPr/>
        </p:nvSpPr>
        <p:spPr>
          <a:xfrm>
            <a:off x="1905000" y="3733800"/>
            <a:ext cx="0" cy="266700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752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7524" name="Rectangle 3"/>
          <p:cNvSpPr>
            <a:spLocks noGrp="1"/>
          </p:cNvSpPr>
          <p:nvPr>
            <p:ph idx="1"/>
          </p:nvPr>
        </p:nvSpPr>
        <p:spPr>
          <a:xfrm>
            <a:off x="457200" y="990600"/>
            <a:ext cx="8077200" cy="4267200"/>
          </a:xfrm>
          <a:ln/>
        </p:spPr>
        <p:txBody>
          <a:bodyPr vert="horz" wrap="square" lIns="91440" tIns="45720" rIns="91440" bIns="45720" anchor="t" anchorCtr="0"/>
          <a:p>
            <a:pPr marL="609600" indent="-609600">
              <a:lnSpc>
                <a:spcPct val="90000"/>
              </a:lnSpc>
              <a:spcBef>
                <a:spcPct val="0"/>
              </a:spcBef>
              <a:buClrTx/>
            </a:pPr>
            <a:r>
              <a:rPr lang="en-US" altLang="zh-CN" dirty="0"/>
              <a:t>E-R</a:t>
            </a:r>
            <a:r>
              <a:rPr lang="zh-CN" altLang="en-US" dirty="0"/>
              <a:t>方法设计原则</a:t>
            </a:r>
            <a:r>
              <a:rPr lang="en-US" altLang="zh-CN" dirty="0"/>
              <a:t>(Design Principles)</a:t>
            </a:r>
            <a:endParaRPr lang="en-US" altLang="zh-CN" dirty="0"/>
          </a:p>
          <a:p>
            <a:pPr marL="990600" lvl="1" indent="-533400" eaLnBrk="1" hangingPunct="1">
              <a:lnSpc>
                <a:spcPct val="90000"/>
              </a:lnSpc>
            </a:pPr>
            <a:r>
              <a:rPr lang="zh-CN" altLang="en-US" dirty="0"/>
              <a:t>真实性</a:t>
            </a:r>
            <a:endParaRPr lang="zh-CN" altLang="en-US" dirty="0"/>
          </a:p>
          <a:p>
            <a:pPr marL="1371600" lvl="2" indent="-457200" eaLnBrk="1" hangingPunct="1">
              <a:lnSpc>
                <a:spcPct val="90000"/>
              </a:lnSpc>
              <a:buClr>
                <a:schemeClr val="tx1"/>
              </a:buClr>
            </a:pPr>
            <a:r>
              <a:rPr lang="zh-CN" altLang="en-US" dirty="0">
                <a:ea typeface="宋体" panose="02010600030101010101" pitchFamily="2" charset="-122"/>
              </a:rPr>
              <a:t>实体集及其属性应当反映现实</a:t>
            </a:r>
            <a:endParaRPr lang="zh-CN" altLang="en-US" dirty="0">
              <a:ea typeface="宋体" panose="02010600030101010101" pitchFamily="2" charset="-122"/>
            </a:endParaRPr>
          </a:p>
          <a:p>
            <a:pPr marL="1371600" lvl="2" indent="-457200" eaLnBrk="1" hangingPunct="1">
              <a:lnSpc>
                <a:spcPct val="90000"/>
              </a:lnSpc>
              <a:buClr>
                <a:schemeClr val="tx1"/>
              </a:buClr>
            </a:pPr>
            <a:r>
              <a:rPr lang="zh-CN" altLang="en-US" dirty="0">
                <a:ea typeface="宋体" panose="02010600030101010101" pitchFamily="2" charset="-122"/>
              </a:rPr>
              <a:t>联系及其类型应当反映现实</a:t>
            </a:r>
            <a:endParaRPr lang="zh-CN" altLang="en-US" dirty="0">
              <a:ea typeface="宋体" panose="02010600030101010101" pitchFamily="2" charset="-122"/>
            </a:endParaRPr>
          </a:p>
          <a:p>
            <a:pPr marL="990600" lvl="1" indent="-533400" eaLnBrk="1" hangingPunct="1">
              <a:lnSpc>
                <a:spcPct val="90000"/>
              </a:lnSpc>
            </a:pPr>
            <a:r>
              <a:rPr lang="zh-CN" altLang="en-US" dirty="0"/>
              <a:t>避免冗余</a:t>
            </a:r>
            <a:endParaRPr lang="zh-CN" altLang="en-US" dirty="0"/>
          </a:p>
          <a:p>
            <a:pPr marL="1371600" lvl="2" indent="-457200" eaLnBrk="1" hangingPunct="1">
              <a:lnSpc>
                <a:spcPct val="90000"/>
              </a:lnSpc>
              <a:buClr>
                <a:schemeClr val="tx1"/>
              </a:buClr>
            </a:pPr>
            <a:r>
              <a:rPr lang="zh-CN" altLang="en-US" dirty="0">
                <a:ea typeface="宋体" panose="02010600030101010101" pitchFamily="2" charset="-122"/>
              </a:rPr>
              <a:t>浪费空间</a:t>
            </a:r>
            <a:endParaRPr lang="zh-CN" altLang="en-US" dirty="0">
              <a:ea typeface="宋体" panose="02010600030101010101" pitchFamily="2" charset="-122"/>
            </a:endParaRPr>
          </a:p>
          <a:p>
            <a:pPr marL="1371600" lvl="2" indent="-457200" eaLnBrk="1" hangingPunct="1">
              <a:lnSpc>
                <a:spcPct val="90000"/>
              </a:lnSpc>
              <a:buClr>
                <a:schemeClr val="tx1"/>
              </a:buClr>
            </a:pPr>
            <a:r>
              <a:rPr lang="zh-CN" altLang="en-US" dirty="0">
                <a:ea typeface="宋体" panose="02010600030101010101" pitchFamily="2" charset="-122"/>
              </a:rPr>
              <a:t>易导致数据不一致</a:t>
            </a:r>
            <a:endParaRPr lang="zh-CN" altLang="en-US" dirty="0">
              <a:ea typeface="宋体" panose="02010600030101010101" pitchFamily="2" charset="-122"/>
            </a:endParaRPr>
          </a:p>
          <a:p>
            <a:pPr marL="990600" lvl="1" indent="-533400" eaLnBrk="1" hangingPunct="1">
              <a:lnSpc>
                <a:spcPct val="90000"/>
              </a:lnSpc>
            </a:pPr>
            <a:r>
              <a:rPr lang="zh-CN" altLang="en-US" dirty="0"/>
              <a:t>简单</a:t>
            </a:r>
            <a:r>
              <a:rPr lang="en-US" altLang="zh-CN" dirty="0"/>
              <a:t>(</a:t>
            </a:r>
            <a:r>
              <a:rPr lang="zh-CN" altLang="en-US" dirty="0"/>
              <a:t>避免引入过多元素</a:t>
            </a:r>
            <a:r>
              <a:rPr lang="en-US" altLang="zh-CN" dirty="0"/>
              <a:t>)</a:t>
            </a:r>
            <a:endParaRPr lang="en-US" altLang="zh-CN" dirty="0"/>
          </a:p>
          <a:p>
            <a:pPr marL="990600" lvl="1" indent="-533400" eaLnBrk="1" hangingPunct="1">
              <a:lnSpc>
                <a:spcPct val="90000"/>
              </a:lnSpc>
            </a:pPr>
            <a:r>
              <a:rPr lang="zh-CN" altLang="en-US" dirty="0"/>
              <a:t>选择合适的元素类型</a:t>
            </a:r>
            <a:r>
              <a:rPr lang="en-US" altLang="zh-CN" dirty="0"/>
              <a:t>: </a:t>
            </a:r>
            <a:r>
              <a:rPr lang="zh-CN" altLang="en-US" dirty="0"/>
              <a:t>实体 </a:t>
            </a:r>
            <a:r>
              <a:rPr lang="en-US" altLang="zh-CN" dirty="0"/>
              <a:t>vs </a:t>
            </a:r>
            <a:r>
              <a:rPr lang="zh-CN" altLang="en-US" dirty="0"/>
              <a:t>属性</a:t>
            </a:r>
            <a:r>
              <a:rPr lang="en-US" altLang="zh-CN" dirty="0"/>
              <a:t>?</a:t>
            </a:r>
            <a:endParaRPr lang="en-US" altLang="zh-C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854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8548"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endParaRPr lang="zh-CN" altLang="en-US" dirty="0"/>
          </a:p>
        </p:txBody>
      </p:sp>
      <p:sp>
        <p:nvSpPr>
          <p:cNvPr id="108549" name="Text Box 4"/>
          <p:cNvSpPr txBox="1"/>
          <p:nvPr/>
        </p:nvSpPr>
        <p:spPr>
          <a:xfrm>
            <a:off x="1752600" y="24384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演员</a:t>
            </a:r>
            <a:endParaRPr lang="zh-CN" altLang="en-US" sz="2400" b="0" dirty="0">
              <a:solidFill>
                <a:schemeClr val="tx1"/>
              </a:solidFill>
              <a:ea typeface="Arial" panose="020B0604020202020204" pitchFamily="34" charset="0"/>
            </a:endParaRPr>
          </a:p>
        </p:txBody>
      </p:sp>
      <p:sp>
        <p:nvSpPr>
          <p:cNvPr id="108550" name="Text Box 5"/>
          <p:cNvSpPr txBox="1"/>
          <p:nvPr/>
        </p:nvSpPr>
        <p:spPr>
          <a:xfrm>
            <a:off x="5486400" y="24384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电影</a:t>
            </a:r>
            <a:endParaRPr lang="zh-CN" altLang="en-US" sz="2400" b="0" dirty="0">
              <a:solidFill>
                <a:schemeClr val="tx1"/>
              </a:solidFill>
              <a:ea typeface="Arial" panose="020B0604020202020204" pitchFamily="34" charset="0"/>
            </a:endParaRPr>
          </a:p>
        </p:txBody>
      </p:sp>
      <p:sp>
        <p:nvSpPr>
          <p:cNvPr id="108551" name="AutoShape 6"/>
          <p:cNvSpPr/>
          <p:nvPr/>
        </p:nvSpPr>
        <p:spPr>
          <a:xfrm>
            <a:off x="3568700" y="23622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出演</a:t>
            </a:r>
            <a:endParaRPr lang="zh-CN" altLang="en-US" sz="2400" b="0" dirty="0">
              <a:solidFill>
                <a:schemeClr val="tx1"/>
              </a:solidFill>
              <a:ea typeface="Arial" panose="020B0604020202020204" pitchFamily="34" charset="0"/>
            </a:endParaRPr>
          </a:p>
        </p:txBody>
      </p:sp>
      <p:cxnSp>
        <p:nvCxnSpPr>
          <p:cNvPr id="108552" name="AutoShape 7"/>
          <p:cNvCxnSpPr>
            <a:stCxn id="108549" idx="3"/>
            <a:endCxn id="108551" idx="1"/>
          </p:cNvCxnSpPr>
          <p:nvPr/>
        </p:nvCxnSpPr>
        <p:spPr>
          <a:xfrm flipV="1">
            <a:off x="2835275" y="2667000"/>
            <a:ext cx="733425" cy="4763"/>
          </a:xfrm>
          <a:prstGeom prst="straightConnector1">
            <a:avLst/>
          </a:prstGeom>
          <a:ln w="9525" cap="flat" cmpd="sng">
            <a:solidFill>
              <a:schemeClr val="tx1"/>
            </a:solidFill>
            <a:prstDash val="solid"/>
            <a:headEnd type="none" w="med" len="med"/>
            <a:tailEnd type="none" w="med" len="med"/>
          </a:ln>
        </p:spPr>
      </p:cxnSp>
      <p:cxnSp>
        <p:nvCxnSpPr>
          <p:cNvPr id="108553" name="AutoShape 8"/>
          <p:cNvCxnSpPr>
            <a:stCxn id="108551" idx="3"/>
            <a:endCxn id="108550" idx="1"/>
          </p:cNvCxnSpPr>
          <p:nvPr/>
        </p:nvCxnSpPr>
        <p:spPr>
          <a:xfrm>
            <a:off x="4864100" y="2667000"/>
            <a:ext cx="622300" cy="4763"/>
          </a:xfrm>
          <a:prstGeom prst="straightConnector1">
            <a:avLst/>
          </a:prstGeom>
          <a:ln w="9525" cap="flat" cmpd="sng">
            <a:solidFill>
              <a:schemeClr val="tx1"/>
            </a:solidFill>
            <a:prstDash val="solid"/>
            <a:headEnd type="none" w="med" len="med"/>
            <a:tailEnd type="none" w="med" len="med"/>
          </a:ln>
        </p:spPr>
      </p:cxnSp>
      <p:sp>
        <p:nvSpPr>
          <p:cNvPr id="108554" name="Text Box 9"/>
          <p:cNvSpPr txBox="1"/>
          <p:nvPr/>
        </p:nvSpPr>
        <p:spPr>
          <a:xfrm>
            <a:off x="4953000" y="2159000"/>
            <a:ext cx="336550" cy="457200"/>
          </a:xfrm>
          <a:prstGeom prst="rect">
            <a:avLst/>
          </a:prstGeom>
          <a:solidFill>
            <a:srgbClr val="FFFF99"/>
          </a:solid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108555" name="Text Box 10"/>
          <p:cNvSpPr txBox="1"/>
          <p:nvPr/>
        </p:nvSpPr>
        <p:spPr>
          <a:xfrm>
            <a:off x="3048000" y="2159000"/>
            <a:ext cx="404813" cy="457200"/>
          </a:xfrm>
          <a:prstGeom prst="rect">
            <a:avLst/>
          </a:prstGeom>
          <a:solidFill>
            <a:srgbClr val="FFFF99"/>
          </a:solid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08556" name="Oval 11"/>
          <p:cNvSpPr/>
          <p:nvPr/>
        </p:nvSpPr>
        <p:spPr>
          <a:xfrm>
            <a:off x="2209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年龄</a:t>
            </a:r>
            <a:endParaRPr lang="zh-CN" altLang="en-US" sz="1800" b="0" dirty="0">
              <a:solidFill>
                <a:schemeClr val="tx1"/>
              </a:solidFill>
              <a:ea typeface="Arial" panose="020B0604020202020204" pitchFamily="34" charset="0"/>
            </a:endParaRPr>
          </a:p>
        </p:txBody>
      </p:sp>
      <p:sp>
        <p:nvSpPr>
          <p:cNvPr id="108557" name="Oval 12"/>
          <p:cNvSpPr/>
          <p:nvPr/>
        </p:nvSpPr>
        <p:spPr>
          <a:xfrm>
            <a:off x="1447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性别</a:t>
            </a:r>
            <a:endParaRPr lang="zh-CN" altLang="en-US" sz="1800" b="0" dirty="0">
              <a:solidFill>
                <a:schemeClr val="tx1"/>
              </a:solidFill>
              <a:ea typeface="Arial" panose="020B0604020202020204" pitchFamily="34" charset="0"/>
            </a:endParaRPr>
          </a:p>
        </p:txBody>
      </p:sp>
      <p:sp>
        <p:nvSpPr>
          <p:cNvPr id="108558" name="Oval 13"/>
          <p:cNvSpPr/>
          <p:nvPr/>
        </p:nvSpPr>
        <p:spPr>
          <a:xfrm>
            <a:off x="2971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地址</a:t>
            </a:r>
            <a:endParaRPr lang="zh-CN" altLang="en-US" sz="1800" b="0" dirty="0">
              <a:solidFill>
                <a:schemeClr val="tx1"/>
              </a:solidFill>
              <a:ea typeface="Arial" panose="020B0604020202020204" pitchFamily="34" charset="0"/>
            </a:endParaRPr>
          </a:p>
        </p:txBody>
      </p:sp>
      <p:sp>
        <p:nvSpPr>
          <p:cNvPr id="108559" name="Oval 14"/>
          <p:cNvSpPr/>
          <p:nvPr/>
        </p:nvSpPr>
        <p:spPr>
          <a:xfrm>
            <a:off x="685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姓名</a:t>
            </a:r>
            <a:endParaRPr lang="zh-CN" altLang="en-US" sz="1800" b="0" dirty="0">
              <a:solidFill>
                <a:schemeClr val="tx1"/>
              </a:solidFill>
              <a:ea typeface="Arial" panose="020B0604020202020204" pitchFamily="34" charset="0"/>
            </a:endParaRPr>
          </a:p>
        </p:txBody>
      </p:sp>
      <p:sp>
        <p:nvSpPr>
          <p:cNvPr id="108560" name="Oval 15"/>
          <p:cNvSpPr/>
          <p:nvPr/>
        </p:nvSpPr>
        <p:spPr>
          <a:xfrm>
            <a:off x="6172200" y="3644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类型</a:t>
            </a:r>
            <a:endParaRPr lang="zh-CN" altLang="en-US" sz="1800" b="0" dirty="0">
              <a:solidFill>
                <a:schemeClr val="tx1"/>
              </a:solidFill>
              <a:ea typeface="Arial" panose="020B0604020202020204" pitchFamily="34" charset="0"/>
            </a:endParaRPr>
          </a:p>
        </p:txBody>
      </p:sp>
      <p:sp>
        <p:nvSpPr>
          <p:cNvPr id="108561" name="Oval 16"/>
          <p:cNvSpPr/>
          <p:nvPr/>
        </p:nvSpPr>
        <p:spPr>
          <a:xfrm>
            <a:off x="5410200" y="3644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片长</a:t>
            </a:r>
            <a:endParaRPr lang="zh-CN" altLang="en-US" sz="1800" b="0" dirty="0">
              <a:solidFill>
                <a:schemeClr val="tx1"/>
              </a:solidFill>
              <a:ea typeface="Arial" panose="020B0604020202020204" pitchFamily="34" charset="0"/>
            </a:endParaRPr>
          </a:p>
        </p:txBody>
      </p:sp>
      <p:sp>
        <p:nvSpPr>
          <p:cNvPr id="108562" name="Oval 17"/>
          <p:cNvSpPr/>
          <p:nvPr/>
        </p:nvSpPr>
        <p:spPr>
          <a:xfrm>
            <a:off x="6934200" y="3644900"/>
            <a:ext cx="685800" cy="457200"/>
          </a:xfrm>
          <a:prstGeom prst="ellipse">
            <a:avLst/>
          </a:prstGeom>
          <a:solidFill>
            <a:srgbClr val="FFFF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排量</a:t>
            </a:r>
            <a:endParaRPr lang="zh-CN" altLang="en-US" sz="1800" b="0" dirty="0">
              <a:solidFill>
                <a:schemeClr val="tx1"/>
              </a:solidFill>
              <a:ea typeface="Arial" panose="020B0604020202020204" pitchFamily="34" charset="0"/>
            </a:endParaRPr>
          </a:p>
        </p:txBody>
      </p:sp>
      <p:sp>
        <p:nvSpPr>
          <p:cNvPr id="108563" name="Oval 18"/>
          <p:cNvSpPr/>
          <p:nvPr/>
        </p:nvSpPr>
        <p:spPr>
          <a:xfrm>
            <a:off x="4648200" y="3644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片名</a:t>
            </a:r>
            <a:endParaRPr lang="zh-CN" altLang="en-US" sz="1800" b="0" dirty="0">
              <a:solidFill>
                <a:schemeClr val="tx1"/>
              </a:solidFill>
              <a:ea typeface="Arial" panose="020B0604020202020204" pitchFamily="34" charset="0"/>
            </a:endParaRPr>
          </a:p>
        </p:txBody>
      </p:sp>
      <p:cxnSp>
        <p:nvCxnSpPr>
          <p:cNvPr id="108564" name="AutoShape 19"/>
          <p:cNvCxnSpPr>
            <a:stCxn id="108559" idx="0"/>
            <a:endCxn id="108549" idx="2"/>
          </p:cNvCxnSpPr>
          <p:nvPr/>
        </p:nvCxnSpPr>
        <p:spPr>
          <a:xfrm flipV="1">
            <a:off x="1028700" y="2905125"/>
            <a:ext cx="1265238" cy="752475"/>
          </a:xfrm>
          <a:prstGeom prst="straightConnector1">
            <a:avLst/>
          </a:prstGeom>
          <a:ln w="9525" cap="flat" cmpd="sng">
            <a:solidFill>
              <a:schemeClr val="tx1"/>
            </a:solidFill>
            <a:prstDash val="solid"/>
            <a:headEnd type="none" w="med" len="med"/>
            <a:tailEnd type="none" w="med" len="med"/>
          </a:ln>
        </p:spPr>
      </p:cxnSp>
      <p:cxnSp>
        <p:nvCxnSpPr>
          <p:cNvPr id="108565" name="AutoShape 20"/>
          <p:cNvCxnSpPr>
            <a:stCxn id="108557" idx="0"/>
            <a:endCxn id="108549" idx="2"/>
          </p:cNvCxnSpPr>
          <p:nvPr/>
        </p:nvCxnSpPr>
        <p:spPr>
          <a:xfrm flipV="1">
            <a:off x="1790700" y="2905125"/>
            <a:ext cx="503238" cy="752475"/>
          </a:xfrm>
          <a:prstGeom prst="straightConnector1">
            <a:avLst/>
          </a:prstGeom>
          <a:ln w="9525" cap="flat" cmpd="sng">
            <a:solidFill>
              <a:schemeClr val="tx1"/>
            </a:solidFill>
            <a:prstDash val="solid"/>
            <a:headEnd type="none" w="med" len="med"/>
            <a:tailEnd type="none" w="med" len="med"/>
          </a:ln>
        </p:spPr>
      </p:cxnSp>
      <p:cxnSp>
        <p:nvCxnSpPr>
          <p:cNvPr id="108566" name="AutoShape 21"/>
          <p:cNvCxnSpPr>
            <a:stCxn id="108556" idx="0"/>
            <a:endCxn id="108549" idx="2"/>
          </p:cNvCxnSpPr>
          <p:nvPr/>
        </p:nvCxnSpPr>
        <p:spPr>
          <a:xfrm flipH="1" flipV="1">
            <a:off x="2293938" y="2905125"/>
            <a:ext cx="258762" cy="752475"/>
          </a:xfrm>
          <a:prstGeom prst="straightConnector1">
            <a:avLst/>
          </a:prstGeom>
          <a:ln w="9525" cap="flat" cmpd="sng">
            <a:solidFill>
              <a:schemeClr val="tx1"/>
            </a:solidFill>
            <a:prstDash val="solid"/>
            <a:headEnd type="none" w="med" len="med"/>
            <a:tailEnd type="none" w="med" len="med"/>
          </a:ln>
        </p:spPr>
      </p:cxnSp>
      <p:cxnSp>
        <p:nvCxnSpPr>
          <p:cNvPr id="108567" name="AutoShape 22"/>
          <p:cNvCxnSpPr>
            <a:stCxn id="108558" idx="0"/>
            <a:endCxn id="108549" idx="2"/>
          </p:cNvCxnSpPr>
          <p:nvPr/>
        </p:nvCxnSpPr>
        <p:spPr>
          <a:xfrm flipH="1" flipV="1">
            <a:off x="2293938" y="2905125"/>
            <a:ext cx="1020762" cy="752475"/>
          </a:xfrm>
          <a:prstGeom prst="straightConnector1">
            <a:avLst/>
          </a:prstGeom>
          <a:ln w="9525" cap="flat" cmpd="sng">
            <a:solidFill>
              <a:schemeClr val="tx1"/>
            </a:solidFill>
            <a:prstDash val="solid"/>
            <a:headEnd type="none" w="med" len="med"/>
            <a:tailEnd type="none" w="med" len="med"/>
          </a:ln>
        </p:spPr>
      </p:cxnSp>
      <p:cxnSp>
        <p:nvCxnSpPr>
          <p:cNvPr id="108568" name="AutoShape 23"/>
          <p:cNvCxnSpPr>
            <a:stCxn id="108563" idx="0"/>
            <a:endCxn id="108550" idx="2"/>
          </p:cNvCxnSpPr>
          <p:nvPr/>
        </p:nvCxnSpPr>
        <p:spPr>
          <a:xfrm flipV="1">
            <a:off x="4991100" y="2905125"/>
            <a:ext cx="1036638" cy="739775"/>
          </a:xfrm>
          <a:prstGeom prst="straightConnector1">
            <a:avLst/>
          </a:prstGeom>
          <a:ln w="9525" cap="flat" cmpd="sng">
            <a:solidFill>
              <a:schemeClr val="tx1"/>
            </a:solidFill>
            <a:prstDash val="solid"/>
            <a:headEnd type="none" w="med" len="med"/>
            <a:tailEnd type="none" w="med" len="med"/>
          </a:ln>
        </p:spPr>
      </p:cxnSp>
      <p:cxnSp>
        <p:nvCxnSpPr>
          <p:cNvPr id="108569" name="AutoShape 24"/>
          <p:cNvCxnSpPr>
            <a:stCxn id="108561" idx="0"/>
            <a:endCxn id="108550" idx="2"/>
          </p:cNvCxnSpPr>
          <p:nvPr/>
        </p:nvCxnSpPr>
        <p:spPr>
          <a:xfrm flipV="1">
            <a:off x="5753100" y="2905125"/>
            <a:ext cx="274638" cy="739775"/>
          </a:xfrm>
          <a:prstGeom prst="straightConnector1">
            <a:avLst/>
          </a:prstGeom>
          <a:ln w="9525" cap="flat" cmpd="sng">
            <a:solidFill>
              <a:schemeClr val="tx1"/>
            </a:solidFill>
            <a:prstDash val="solid"/>
            <a:headEnd type="none" w="med" len="med"/>
            <a:tailEnd type="none" w="med" len="med"/>
          </a:ln>
        </p:spPr>
      </p:cxnSp>
      <p:cxnSp>
        <p:nvCxnSpPr>
          <p:cNvPr id="108570" name="AutoShape 25"/>
          <p:cNvCxnSpPr>
            <a:stCxn id="108560" idx="0"/>
            <a:endCxn id="108550" idx="2"/>
          </p:cNvCxnSpPr>
          <p:nvPr/>
        </p:nvCxnSpPr>
        <p:spPr>
          <a:xfrm flipH="1" flipV="1">
            <a:off x="6027738" y="2905125"/>
            <a:ext cx="487362" cy="739775"/>
          </a:xfrm>
          <a:prstGeom prst="straightConnector1">
            <a:avLst/>
          </a:prstGeom>
          <a:ln w="9525" cap="flat" cmpd="sng">
            <a:solidFill>
              <a:schemeClr val="tx1"/>
            </a:solidFill>
            <a:prstDash val="solid"/>
            <a:headEnd type="none" w="med" len="med"/>
            <a:tailEnd type="none" w="med" len="med"/>
          </a:ln>
        </p:spPr>
      </p:cxnSp>
      <p:cxnSp>
        <p:nvCxnSpPr>
          <p:cNvPr id="108571" name="AutoShape 26"/>
          <p:cNvCxnSpPr>
            <a:stCxn id="108562" idx="0"/>
            <a:endCxn id="108550" idx="2"/>
          </p:cNvCxnSpPr>
          <p:nvPr/>
        </p:nvCxnSpPr>
        <p:spPr>
          <a:xfrm flipH="1" flipV="1">
            <a:off x="6027738" y="2905125"/>
            <a:ext cx="1249362" cy="739775"/>
          </a:xfrm>
          <a:prstGeom prst="straightConnector1">
            <a:avLst/>
          </a:prstGeom>
          <a:ln w="9525" cap="flat" cmpd="sng">
            <a:solidFill>
              <a:schemeClr val="tx1"/>
            </a:solidFill>
            <a:prstDash val="solid"/>
            <a:headEnd type="none" w="med" len="med"/>
            <a:tailEnd type="none" w="med" len="med"/>
          </a:ln>
        </p:spPr>
      </p:cxnSp>
      <p:sp>
        <p:nvSpPr>
          <p:cNvPr id="370715" name="Text Box 27"/>
          <p:cNvSpPr txBox="1"/>
          <p:nvPr/>
        </p:nvSpPr>
        <p:spPr>
          <a:xfrm>
            <a:off x="2514600" y="4876800"/>
            <a:ext cx="3384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FF0000"/>
                </a:solidFill>
                <a:latin typeface="Impact" panose="020B0806030902050204" pitchFamily="34" charset="0"/>
                <a:ea typeface="黑体" panose="02010609060101010101" pitchFamily="49" charset="-122"/>
              </a:rPr>
              <a:t>与现实世界不符</a:t>
            </a:r>
            <a:endParaRPr lang="zh-CN" altLang="en-US" sz="3600" b="0" dirty="0">
              <a:solidFill>
                <a:srgbClr val="FF0000"/>
              </a:solidFill>
              <a:latin typeface="Impact" panose="020B0806030902050204" pitchFamily="34" charset="0"/>
              <a:ea typeface="黑体" panose="02010609060101010101" pitchFamily="49" charset="-122"/>
            </a:endParaRPr>
          </a:p>
        </p:txBody>
      </p:sp>
      <p:sp>
        <p:nvSpPr>
          <p:cNvPr id="370716" name="Text Box 28"/>
          <p:cNvSpPr txBox="1"/>
          <p:nvPr/>
        </p:nvSpPr>
        <p:spPr>
          <a:xfrm>
            <a:off x="7391400" y="2362200"/>
            <a:ext cx="696913" cy="1098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6600" b="0" dirty="0">
                <a:solidFill>
                  <a:srgbClr val="FF0000"/>
                </a:solidFill>
                <a:latin typeface="Arial Black" panose="020B0A04020102020204" pitchFamily="34" charset="0"/>
                <a:ea typeface="黑体" panose="02010609060101010101" pitchFamily="49" charset="-122"/>
              </a:rPr>
              <a:t>?</a:t>
            </a:r>
            <a:endParaRPr lang="en-US" altLang="zh-CN" sz="6600" b="0" dirty="0">
              <a:solidFill>
                <a:srgbClr val="FF0000"/>
              </a:solidFill>
              <a:latin typeface="Arial Black" panose="020B0A04020102020204" pitchFamily="34" charset="0"/>
              <a:ea typeface="黑体" panose="02010609060101010101" pitchFamily="49" charset="-122"/>
            </a:endParaRPr>
          </a:p>
        </p:txBody>
      </p:sp>
      <p:sp>
        <p:nvSpPr>
          <p:cNvPr id="370717" name="Text Box 29"/>
          <p:cNvSpPr txBox="1"/>
          <p:nvPr/>
        </p:nvSpPr>
        <p:spPr>
          <a:xfrm>
            <a:off x="4876800" y="990600"/>
            <a:ext cx="696913" cy="1098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6600" b="0" dirty="0">
                <a:solidFill>
                  <a:srgbClr val="FF0000"/>
                </a:solidFill>
                <a:latin typeface="Arial Black" panose="020B0A04020102020204" pitchFamily="34" charset="0"/>
                <a:ea typeface="黑体" panose="02010609060101010101" pitchFamily="49" charset="-122"/>
              </a:rPr>
              <a:t>?</a:t>
            </a:r>
            <a:endParaRPr lang="en-US" altLang="zh-CN" sz="6600" b="0" dirty="0">
              <a:solidFill>
                <a:srgbClr val="FF0000"/>
              </a:solidFill>
              <a:latin typeface="Arial Black" panose="020B0A040201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07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07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707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715" grpId="0"/>
      <p:bldP spid="370716" grpId="0"/>
      <p:bldP spid="37071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957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09572"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endParaRPr lang="zh-CN" altLang="en-US" dirty="0"/>
          </a:p>
        </p:txBody>
      </p:sp>
      <p:sp>
        <p:nvSpPr>
          <p:cNvPr id="109573" name="Text Box 4"/>
          <p:cNvSpPr txBox="1"/>
          <p:nvPr/>
        </p:nvSpPr>
        <p:spPr>
          <a:xfrm>
            <a:off x="3733800" y="23622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a:t>
            </a:r>
            <a:endParaRPr lang="zh-CN" altLang="en-US" sz="2400" b="0" dirty="0">
              <a:solidFill>
                <a:schemeClr val="tx1"/>
              </a:solidFill>
              <a:ea typeface="Arial" panose="020B0604020202020204" pitchFamily="34" charset="0"/>
            </a:endParaRPr>
          </a:p>
        </p:txBody>
      </p:sp>
      <p:sp>
        <p:nvSpPr>
          <p:cNvPr id="109574" name="Oval 5"/>
          <p:cNvSpPr/>
          <p:nvPr/>
        </p:nvSpPr>
        <p:spPr>
          <a:xfrm>
            <a:off x="41910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厂家</a:t>
            </a:r>
            <a:endParaRPr lang="zh-CN" altLang="en-US" sz="1800" b="0" dirty="0">
              <a:solidFill>
                <a:schemeClr val="tx1"/>
              </a:solidFill>
              <a:ea typeface="Arial" panose="020B0604020202020204" pitchFamily="34" charset="0"/>
            </a:endParaRPr>
          </a:p>
        </p:txBody>
      </p:sp>
      <p:sp>
        <p:nvSpPr>
          <p:cNvPr id="109575" name="Oval 6"/>
          <p:cNvSpPr/>
          <p:nvPr/>
        </p:nvSpPr>
        <p:spPr>
          <a:xfrm>
            <a:off x="34290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类别</a:t>
            </a:r>
            <a:endParaRPr lang="zh-CN" altLang="en-US" sz="1800" b="0" dirty="0">
              <a:solidFill>
                <a:schemeClr val="tx1"/>
              </a:solidFill>
              <a:ea typeface="Arial" panose="020B0604020202020204" pitchFamily="34" charset="0"/>
            </a:endParaRPr>
          </a:p>
        </p:txBody>
      </p:sp>
      <p:sp>
        <p:nvSpPr>
          <p:cNvPr id="109576" name="Oval 7"/>
          <p:cNvSpPr/>
          <p:nvPr/>
        </p:nvSpPr>
        <p:spPr>
          <a:xfrm>
            <a:off x="49530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厂址</a:t>
            </a:r>
            <a:endParaRPr lang="zh-CN" altLang="en-US" sz="1800" b="0" dirty="0">
              <a:solidFill>
                <a:schemeClr val="tx1"/>
              </a:solidFill>
              <a:ea typeface="Arial" panose="020B0604020202020204" pitchFamily="34" charset="0"/>
            </a:endParaRPr>
          </a:p>
        </p:txBody>
      </p:sp>
      <p:sp>
        <p:nvSpPr>
          <p:cNvPr id="109577" name="Oval 8"/>
          <p:cNvSpPr/>
          <p:nvPr/>
        </p:nvSpPr>
        <p:spPr>
          <a:xfrm>
            <a:off x="26670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酒名</a:t>
            </a:r>
            <a:endParaRPr lang="zh-CN" altLang="en-US" sz="1800" b="0" dirty="0">
              <a:solidFill>
                <a:schemeClr val="tx1"/>
              </a:solidFill>
              <a:ea typeface="Arial" panose="020B0604020202020204" pitchFamily="34" charset="0"/>
            </a:endParaRPr>
          </a:p>
        </p:txBody>
      </p:sp>
      <p:cxnSp>
        <p:nvCxnSpPr>
          <p:cNvPr id="109578" name="AutoShape 9"/>
          <p:cNvCxnSpPr>
            <a:stCxn id="109577" idx="0"/>
            <a:endCxn id="109573" idx="2"/>
          </p:cNvCxnSpPr>
          <p:nvPr/>
        </p:nvCxnSpPr>
        <p:spPr>
          <a:xfrm flipV="1">
            <a:off x="3009900" y="2828925"/>
            <a:ext cx="1265238" cy="752475"/>
          </a:xfrm>
          <a:prstGeom prst="straightConnector1">
            <a:avLst/>
          </a:prstGeom>
          <a:ln w="9525" cap="flat" cmpd="sng">
            <a:solidFill>
              <a:schemeClr val="tx1"/>
            </a:solidFill>
            <a:prstDash val="solid"/>
            <a:headEnd type="none" w="med" len="med"/>
            <a:tailEnd type="none" w="med" len="med"/>
          </a:ln>
        </p:spPr>
      </p:cxnSp>
      <p:cxnSp>
        <p:nvCxnSpPr>
          <p:cNvPr id="109579" name="AutoShape 10"/>
          <p:cNvCxnSpPr>
            <a:stCxn id="109575" idx="0"/>
            <a:endCxn id="109573" idx="2"/>
          </p:cNvCxnSpPr>
          <p:nvPr/>
        </p:nvCxnSpPr>
        <p:spPr>
          <a:xfrm flipV="1">
            <a:off x="3771900" y="2828925"/>
            <a:ext cx="503238" cy="752475"/>
          </a:xfrm>
          <a:prstGeom prst="straightConnector1">
            <a:avLst/>
          </a:prstGeom>
          <a:ln w="9525" cap="flat" cmpd="sng">
            <a:solidFill>
              <a:schemeClr val="tx1"/>
            </a:solidFill>
            <a:prstDash val="solid"/>
            <a:headEnd type="none" w="med" len="med"/>
            <a:tailEnd type="none" w="med" len="med"/>
          </a:ln>
        </p:spPr>
      </p:cxnSp>
      <p:cxnSp>
        <p:nvCxnSpPr>
          <p:cNvPr id="109580" name="AutoShape 11"/>
          <p:cNvCxnSpPr>
            <a:stCxn id="109574" idx="0"/>
            <a:endCxn id="109573" idx="2"/>
          </p:cNvCxnSpPr>
          <p:nvPr/>
        </p:nvCxnSpPr>
        <p:spPr>
          <a:xfrm flipH="1" flipV="1">
            <a:off x="4275138" y="2828925"/>
            <a:ext cx="258762" cy="752475"/>
          </a:xfrm>
          <a:prstGeom prst="straightConnector1">
            <a:avLst/>
          </a:prstGeom>
          <a:ln w="9525" cap="flat" cmpd="sng">
            <a:solidFill>
              <a:schemeClr val="tx1"/>
            </a:solidFill>
            <a:prstDash val="solid"/>
            <a:headEnd type="none" w="med" len="med"/>
            <a:tailEnd type="none" w="med" len="med"/>
          </a:ln>
        </p:spPr>
      </p:cxnSp>
      <p:cxnSp>
        <p:nvCxnSpPr>
          <p:cNvPr id="109581" name="AutoShape 12"/>
          <p:cNvCxnSpPr>
            <a:stCxn id="109576" idx="0"/>
            <a:endCxn id="109573" idx="2"/>
          </p:cNvCxnSpPr>
          <p:nvPr/>
        </p:nvCxnSpPr>
        <p:spPr>
          <a:xfrm flipH="1" flipV="1">
            <a:off x="4275138" y="2828925"/>
            <a:ext cx="1020762" cy="752475"/>
          </a:xfrm>
          <a:prstGeom prst="straightConnector1">
            <a:avLst/>
          </a:prstGeom>
          <a:ln w="9525" cap="flat" cmpd="sng">
            <a:solidFill>
              <a:schemeClr val="tx1"/>
            </a:solidFill>
            <a:prstDash val="solid"/>
            <a:headEnd type="none" w="med" len="med"/>
            <a:tailEnd type="none" w="med" len="med"/>
          </a:ln>
        </p:spPr>
      </p:cxnSp>
      <p:sp>
        <p:nvSpPr>
          <p:cNvPr id="109582" name="Text Box 13"/>
          <p:cNvSpPr txBox="1"/>
          <p:nvPr/>
        </p:nvSpPr>
        <p:spPr>
          <a:xfrm>
            <a:off x="6019800" y="1752600"/>
            <a:ext cx="1098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FF0000"/>
                </a:solidFill>
                <a:latin typeface="Impact" panose="020B0806030902050204" pitchFamily="34" charset="0"/>
                <a:ea typeface="黑体" panose="02010609060101010101" pitchFamily="49" charset="-122"/>
              </a:rPr>
              <a:t>冗余</a:t>
            </a:r>
            <a:endParaRPr lang="zh-CN" altLang="en-US" sz="3600" b="0" dirty="0">
              <a:solidFill>
                <a:srgbClr val="FF0000"/>
              </a:solidFill>
              <a:latin typeface="Impact" panose="020B0806030902050204" pitchFamily="34" charset="0"/>
              <a:ea typeface="黑体" panose="02010609060101010101" pitchFamily="49" charset="-122"/>
            </a:endParaRPr>
          </a:p>
        </p:txBody>
      </p:sp>
      <p:sp>
        <p:nvSpPr>
          <p:cNvPr id="109583" name="Text Box 14"/>
          <p:cNvSpPr txBox="1"/>
          <p:nvPr/>
        </p:nvSpPr>
        <p:spPr>
          <a:xfrm>
            <a:off x="1600200" y="4572000"/>
            <a:ext cx="5573713" cy="1098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6600" b="0" dirty="0">
                <a:solidFill>
                  <a:srgbClr val="FF0000"/>
                </a:solidFill>
                <a:latin typeface="Arial Black" panose="020B0A04020102020204" pitchFamily="34" charset="0"/>
                <a:ea typeface="黑体" panose="02010609060101010101" pitchFamily="49" charset="-122"/>
              </a:rPr>
              <a:t>?</a:t>
            </a:r>
            <a:r>
              <a:rPr lang="zh-CN" altLang="en-US" sz="2400" b="0" dirty="0">
                <a:solidFill>
                  <a:srgbClr val="FF0000"/>
                </a:solidFill>
                <a:latin typeface="Arial Black" panose="020B0A04020102020204" pitchFamily="34" charset="0"/>
                <a:ea typeface="黑体" panose="02010609060101010101" pitchFamily="49" charset="-122"/>
              </a:rPr>
              <a:t>厂家地址在其生产的每种酒中均出现</a:t>
            </a:r>
            <a:endParaRPr lang="zh-CN" altLang="en-US" sz="6600" b="0" dirty="0">
              <a:solidFill>
                <a:srgbClr val="FF0000"/>
              </a:solidFill>
              <a:latin typeface="Arial Black" panose="020B0A04020102020204" pitchFamily="34" charset="0"/>
              <a:ea typeface="黑体" panose="02010609060101010101" pitchFamily="49"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059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0596"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endParaRPr lang="zh-CN" altLang="en-US" dirty="0"/>
          </a:p>
        </p:txBody>
      </p:sp>
      <p:sp>
        <p:nvSpPr>
          <p:cNvPr id="110597" name="Text Box 4"/>
          <p:cNvSpPr txBox="1"/>
          <p:nvPr/>
        </p:nvSpPr>
        <p:spPr>
          <a:xfrm>
            <a:off x="1752600" y="24384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a:t>
            </a:r>
            <a:endParaRPr lang="zh-CN" altLang="en-US" sz="2400" b="0" dirty="0">
              <a:solidFill>
                <a:schemeClr val="tx1"/>
              </a:solidFill>
              <a:ea typeface="Arial" panose="020B0604020202020204" pitchFamily="34" charset="0"/>
            </a:endParaRPr>
          </a:p>
        </p:txBody>
      </p:sp>
      <p:sp>
        <p:nvSpPr>
          <p:cNvPr id="110598" name="Text Box 5"/>
          <p:cNvSpPr txBox="1"/>
          <p:nvPr/>
        </p:nvSpPr>
        <p:spPr>
          <a:xfrm>
            <a:off x="5486400" y="24384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酒厂</a:t>
            </a:r>
            <a:endParaRPr lang="zh-CN" altLang="en-US" sz="2400" b="0" dirty="0">
              <a:solidFill>
                <a:schemeClr val="tx1"/>
              </a:solidFill>
              <a:ea typeface="Arial" panose="020B0604020202020204" pitchFamily="34" charset="0"/>
            </a:endParaRPr>
          </a:p>
        </p:txBody>
      </p:sp>
      <p:sp>
        <p:nvSpPr>
          <p:cNvPr id="110599" name="AutoShape 6"/>
          <p:cNvSpPr/>
          <p:nvPr/>
        </p:nvSpPr>
        <p:spPr>
          <a:xfrm>
            <a:off x="3568700" y="23622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酿造</a:t>
            </a:r>
            <a:endParaRPr lang="zh-CN" altLang="en-US" sz="2400" b="0" dirty="0">
              <a:solidFill>
                <a:schemeClr val="tx1"/>
              </a:solidFill>
              <a:ea typeface="Arial" panose="020B0604020202020204" pitchFamily="34" charset="0"/>
            </a:endParaRPr>
          </a:p>
        </p:txBody>
      </p:sp>
      <p:cxnSp>
        <p:nvCxnSpPr>
          <p:cNvPr id="110600" name="AutoShape 7"/>
          <p:cNvCxnSpPr>
            <a:stCxn id="110597" idx="3"/>
            <a:endCxn id="110599" idx="1"/>
          </p:cNvCxnSpPr>
          <p:nvPr/>
        </p:nvCxnSpPr>
        <p:spPr>
          <a:xfrm flipV="1">
            <a:off x="2835275" y="2667000"/>
            <a:ext cx="733425" cy="4763"/>
          </a:xfrm>
          <a:prstGeom prst="straightConnector1">
            <a:avLst/>
          </a:prstGeom>
          <a:ln w="9525" cap="flat" cmpd="sng">
            <a:solidFill>
              <a:schemeClr val="tx1"/>
            </a:solidFill>
            <a:prstDash val="solid"/>
            <a:headEnd type="none" w="med" len="med"/>
            <a:tailEnd type="none" w="med" len="med"/>
          </a:ln>
        </p:spPr>
      </p:cxnSp>
      <p:cxnSp>
        <p:nvCxnSpPr>
          <p:cNvPr id="110601" name="AutoShape 8"/>
          <p:cNvCxnSpPr>
            <a:stCxn id="110599" idx="3"/>
            <a:endCxn id="110598" idx="1"/>
          </p:cNvCxnSpPr>
          <p:nvPr/>
        </p:nvCxnSpPr>
        <p:spPr>
          <a:xfrm>
            <a:off x="4864100" y="2667000"/>
            <a:ext cx="622300" cy="4763"/>
          </a:xfrm>
          <a:prstGeom prst="straightConnector1">
            <a:avLst/>
          </a:prstGeom>
          <a:ln w="9525" cap="flat" cmpd="sng">
            <a:solidFill>
              <a:schemeClr val="tx1"/>
            </a:solidFill>
            <a:prstDash val="solid"/>
            <a:headEnd type="none" w="med" len="med"/>
            <a:tailEnd type="none" w="med" len="med"/>
          </a:ln>
        </p:spPr>
      </p:cxnSp>
      <p:sp>
        <p:nvSpPr>
          <p:cNvPr id="110602" name="Text Box 9"/>
          <p:cNvSpPr txBox="1"/>
          <p:nvPr/>
        </p:nvSpPr>
        <p:spPr>
          <a:xfrm>
            <a:off x="4953000" y="21590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110603" name="Text Box 10"/>
          <p:cNvSpPr txBox="1"/>
          <p:nvPr/>
        </p:nvSpPr>
        <p:spPr>
          <a:xfrm>
            <a:off x="3048000" y="21590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0604" name="Oval 11"/>
          <p:cNvSpPr/>
          <p:nvPr/>
        </p:nvSpPr>
        <p:spPr>
          <a:xfrm>
            <a:off x="2209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厂家</a:t>
            </a:r>
            <a:endParaRPr lang="zh-CN" altLang="en-US" sz="1800" b="0" dirty="0">
              <a:solidFill>
                <a:schemeClr val="tx1"/>
              </a:solidFill>
              <a:ea typeface="Arial" panose="020B0604020202020204" pitchFamily="34" charset="0"/>
            </a:endParaRPr>
          </a:p>
        </p:txBody>
      </p:sp>
      <p:sp>
        <p:nvSpPr>
          <p:cNvPr id="110605" name="Oval 12"/>
          <p:cNvSpPr/>
          <p:nvPr/>
        </p:nvSpPr>
        <p:spPr>
          <a:xfrm>
            <a:off x="1447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类别</a:t>
            </a:r>
            <a:endParaRPr lang="zh-CN" altLang="en-US" sz="1800" b="0" dirty="0">
              <a:solidFill>
                <a:schemeClr val="tx1"/>
              </a:solidFill>
              <a:ea typeface="Arial" panose="020B0604020202020204" pitchFamily="34" charset="0"/>
            </a:endParaRPr>
          </a:p>
        </p:txBody>
      </p:sp>
      <p:sp>
        <p:nvSpPr>
          <p:cNvPr id="110606" name="Oval 13"/>
          <p:cNvSpPr/>
          <p:nvPr/>
        </p:nvSpPr>
        <p:spPr>
          <a:xfrm>
            <a:off x="2971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厂址</a:t>
            </a:r>
            <a:endParaRPr lang="zh-CN" altLang="en-US" sz="1800" b="0" dirty="0">
              <a:solidFill>
                <a:schemeClr val="tx1"/>
              </a:solidFill>
              <a:ea typeface="Arial" panose="020B0604020202020204" pitchFamily="34" charset="0"/>
            </a:endParaRPr>
          </a:p>
        </p:txBody>
      </p:sp>
      <p:sp>
        <p:nvSpPr>
          <p:cNvPr id="110607" name="Oval 14"/>
          <p:cNvSpPr/>
          <p:nvPr/>
        </p:nvSpPr>
        <p:spPr>
          <a:xfrm>
            <a:off x="685800" y="3657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酒名</a:t>
            </a:r>
            <a:endParaRPr lang="zh-CN" altLang="en-US" sz="1800" b="0" dirty="0">
              <a:solidFill>
                <a:schemeClr val="tx1"/>
              </a:solidFill>
              <a:ea typeface="Arial" panose="020B0604020202020204" pitchFamily="34" charset="0"/>
            </a:endParaRPr>
          </a:p>
        </p:txBody>
      </p:sp>
      <p:sp>
        <p:nvSpPr>
          <p:cNvPr id="110608" name="Oval 15"/>
          <p:cNvSpPr/>
          <p:nvPr/>
        </p:nvSpPr>
        <p:spPr>
          <a:xfrm>
            <a:off x="6299200" y="3657600"/>
            <a:ext cx="1066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建立时间</a:t>
            </a:r>
            <a:endParaRPr lang="zh-CN" altLang="en-US" sz="1800" b="0" dirty="0">
              <a:solidFill>
                <a:schemeClr val="tx1"/>
              </a:solidFill>
              <a:ea typeface="Arial" panose="020B0604020202020204" pitchFamily="34" charset="0"/>
            </a:endParaRPr>
          </a:p>
        </p:txBody>
      </p:sp>
      <p:sp>
        <p:nvSpPr>
          <p:cNvPr id="110609" name="Oval 16"/>
          <p:cNvSpPr/>
          <p:nvPr/>
        </p:nvSpPr>
        <p:spPr>
          <a:xfrm>
            <a:off x="5410200" y="3644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地址</a:t>
            </a:r>
            <a:endParaRPr lang="zh-CN" altLang="en-US" sz="1800" b="0" dirty="0">
              <a:solidFill>
                <a:schemeClr val="tx1"/>
              </a:solidFill>
              <a:ea typeface="Arial" panose="020B0604020202020204" pitchFamily="34" charset="0"/>
            </a:endParaRPr>
          </a:p>
        </p:txBody>
      </p:sp>
      <p:sp>
        <p:nvSpPr>
          <p:cNvPr id="110610" name="Oval 17"/>
          <p:cNvSpPr/>
          <p:nvPr/>
        </p:nvSpPr>
        <p:spPr>
          <a:xfrm>
            <a:off x="4648200" y="3644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名称</a:t>
            </a:r>
            <a:endParaRPr lang="zh-CN" altLang="en-US" sz="1800" b="0" dirty="0">
              <a:solidFill>
                <a:schemeClr val="tx1"/>
              </a:solidFill>
              <a:ea typeface="Arial" panose="020B0604020202020204" pitchFamily="34" charset="0"/>
            </a:endParaRPr>
          </a:p>
        </p:txBody>
      </p:sp>
      <p:cxnSp>
        <p:nvCxnSpPr>
          <p:cNvPr id="110611" name="AutoShape 18"/>
          <p:cNvCxnSpPr>
            <a:stCxn id="110607" idx="0"/>
            <a:endCxn id="110597" idx="2"/>
          </p:cNvCxnSpPr>
          <p:nvPr/>
        </p:nvCxnSpPr>
        <p:spPr>
          <a:xfrm flipV="1">
            <a:off x="1028700" y="2905125"/>
            <a:ext cx="1265238" cy="752475"/>
          </a:xfrm>
          <a:prstGeom prst="straightConnector1">
            <a:avLst/>
          </a:prstGeom>
          <a:ln w="9525" cap="flat" cmpd="sng">
            <a:solidFill>
              <a:schemeClr val="tx1"/>
            </a:solidFill>
            <a:prstDash val="solid"/>
            <a:headEnd type="none" w="med" len="med"/>
            <a:tailEnd type="none" w="med" len="med"/>
          </a:ln>
        </p:spPr>
      </p:cxnSp>
      <p:cxnSp>
        <p:nvCxnSpPr>
          <p:cNvPr id="110612" name="AutoShape 19"/>
          <p:cNvCxnSpPr>
            <a:stCxn id="110605" idx="0"/>
            <a:endCxn id="110597" idx="2"/>
          </p:cNvCxnSpPr>
          <p:nvPr/>
        </p:nvCxnSpPr>
        <p:spPr>
          <a:xfrm flipV="1">
            <a:off x="1790700" y="2905125"/>
            <a:ext cx="503238" cy="752475"/>
          </a:xfrm>
          <a:prstGeom prst="straightConnector1">
            <a:avLst/>
          </a:prstGeom>
          <a:ln w="9525" cap="flat" cmpd="sng">
            <a:solidFill>
              <a:schemeClr val="tx1"/>
            </a:solidFill>
            <a:prstDash val="solid"/>
            <a:headEnd type="none" w="med" len="med"/>
            <a:tailEnd type="none" w="med" len="med"/>
          </a:ln>
        </p:spPr>
      </p:cxnSp>
      <p:cxnSp>
        <p:nvCxnSpPr>
          <p:cNvPr id="110613" name="AutoShape 20"/>
          <p:cNvCxnSpPr>
            <a:stCxn id="110604" idx="0"/>
            <a:endCxn id="110597" idx="2"/>
          </p:cNvCxnSpPr>
          <p:nvPr/>
        </p:nvCxnSpPr>
        <p:spPr>
          <a:xfrm flipH="1" flipV="1">
            <a:off x="2293938" y="2905125"/>
            <a:ext cx="258762" cy="752475"/>
          </a:xfrm>
          <a:prstGeom prst="straightConnector1">
            <a:avLst/>
          </a:prstGeom>
          <a:ln w="9525" cap="flat" cmpd="sng">
            <a:solidFill>
              <a:schemeClr val="tx1"/>
            </a:solidFill>
            <a:prstDash val="solid"/>
            <a:headEnd type="none" w="med" len="med"/>
            <a:tailEnd type="none" w="med" len="med"/>
          </a:ln>
        </p:spPr>
      </p:cxnSp>
      <p:cxnSp>
        <p:nvCxnSpPr>
          <p:cNvPr id="110614" name="AutoShape 21"/>
          <p:cNvCxnSpPr>
            <a:stCxn id="110606" idx="0"/>
            <a:endCxn id="110597" idx="2"/>
          </p:cNvCxnSpPr>
          <p:nvPr/>
        </p:nvCxnSpPr>
        <p:spPr>
          <a:xfrm flipH="1" flipV="1">
            <a:off x="2293938" y="2905125"/>
            <a:ext cx="1020762" cy="752475"/>
          </a:xfrm>
          <a:prstGeom prst="straightConnector1">
            <a:avLst/>
          </a:prstGeom>
          <a:ln w="9525" cap="flat" cmpd="sng">
            <a:solidFill>
              <a:schemeClr val="tx1"/>
            </a:solidFill>
            <a:prstDash val="solid"/>
            <a:headEnd type="none" w="med" len="med"/>
            <a:tailEnd type="none" w="med" len="med"/>
          </a:ln>
        </p:spPr>
      </p:cxnSp>
      <p:cxnSp>
        <p:nvCxnSpPr>
          <p:cNvPr id="110615" name="AutoShape 22"/>
          <p:cNvCxnSpPr>
            <a:stCxn id="110610" idx="0"/>
            <a:endCxn id="110598" idx="2"/>
          </p:cNvCxnSpPr>
          <p:nvPr/>
        </p:nvCxnSpPr>
        <p:spPr>
          <a:xfrm flipV="1">
            <a:off x="4991100" y="2905125"/>
            <a:ext cx="1036638" cy="739775"/>
          </a:xfrm>
          <a:prstGeom prst="straightConnector1">
            <a:avLst/>
          </a:prstGeom>
          <a:ln w="9525" cap="flat" cmpd="sng">
            <a:solidFill>
              <a:schemeClr val="tx1"/>
            </a:solidFill>
            <a:prstDash val="solid"/>
            <a:headEnd type="none" w="med" len="med"/>
            <a:tailEnd type="none" w="med" len="med"/>
          </a:ln>
        </p:spPr>
      </p:cxnSp>
      <p:cxnSp>
        <p:nvCxnSpPr>
          <p:cNvPr id="110616" name="AutoShape 23"/>
          <p:cNvCxnSpPr>
            <a:stCxn id="110609" idx="0"/>
            <a:endCxn id="110598" idx="2"/>
          </p:cNvCxnSpPr>
          <p:nvPr/>
        </p:nvCxnSpPr>
        <p:spPr>
          <a:xfrm flipV="1">
            <a:off x="5753100" y="2905125"/>
            <a:ext cx="274638" cy="739775"/>
          </a:xfrm>
          <a:prstGeom prst="straightConnector1">
            <a:avLst/>
          </a:prstGeom>
          <a:ln w="9525" cap="flat" cmpd="sng">
            <a:solidFill>
              <a:schemeClr val="tx1"/>
            </a:solidFill>
            <a:prstDash val="solid"/>
            <a:headEnd type="none" w="med" len="med"/>
            <a:tailEnd type="none" w="med" len="med"/>
          </a:ln>
        </p:spPr>
      </p:cxnSp>
      <p:cxnSp>
        <p:nvCxnSpPr>
          <p:cNvPr id="110617" name="AutoShape 24"/>
          <p:cNvCxnSpPr>
            <a:stCxn id="110608" idx="0"/>
            <a:endCxn id="110598" idx="2"/>
          </p:cNvCxnSpPr>
          <p:nvPr/>
        </p:nvCxnSpPr>
        <p:spPr>
          <a:xfrm flipH="1" flipV="1">
            <a:off x="6027738" y="2905125"/>
            <a:ext cx="804862" cy="752475"/>
          </a:xfrm>
          <a:prstGeom prst="straightConnector1">
            <a:avLst/>
          </a:prstGeom>
          <a:ln w="9525" cap="flat" cmpd="sng">
            <a:solidFill>
              <a:schemeClr val="tx1"/>
            </a:solidFill>
            <a:prstDash val="solid"/>
            <a:headEnd type="none" w="med" len="med"/>
            <a:tailEnd type="none" w="med" len="med"/>
          </a:ln>
        </p:spPr>
      </p:cxnSp>
      <p:sp>
        <p:nvSpPr>
          <p:cNvPr id="110618" name="Text Box 25"/>
          <p:cNvSpPr txBox="1"/>
          <p:nvPr/>
        </p:nvSpPr>
        <p:spPr>
          <a:xfrm>
            <a:off x="3733800" y="990600"/>
            <a:ext cx="1098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FF0000"/>
                </a:solidFill>
                <a:latin typeface="Impact" panose="020B0806030902050204" pitchFamily="34" charset="0"/>
                <a:ea typeface="黑体" panose="02010609060101010101" pitchFamily="49" charset="-122"/>
              </a:rPr>
              <a:t>冗余</a:t>
            </a:r>
            <a:endParaRPr lang="zh-CN" altLang="en-US" sz="3600" b="0" dirty="0">
              <a:solidFill>
                <a:srgbClr val="FF0000"/>
              </a:solidFill>
              <a:latin typeface="Impact" panose="020B0806030902050204" pitchFamily="34" charset="0"/>
              <a:ea typeface="黑体" panose="02010609060101010101" pitchFamily="49" charset="-122"/>
            </a:endParaRPr>
          </a:p>
        </p:txBody>
      </p:sp>
      <p:sp>
        <p:nvSpPr>
          <p:cNvPr id="110619" name="Text Box 26"/>
          <p:cNvSpPr txBox="1"/>
          <p:nvPr/>
        </p:nvSpPr>
        <p:spPr>
          <a:xfrm>
            <a:off x="1358900" y="4622800"/>
            <a:ext cx="5878513" cy="1098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6600" b="0" dirty="0">
                <a:solidFill>
                  <a:srgbClr val="FF0000"/>
                </a:solidFill>
                <a:latin typeface="Arial Black" panose="020B0A04020102020204" pitchFamily="34" charset="0"/>
                <a:ea typeface="黑体" panose="02010609060101010101" pitchFamily="49" charset="-122"/>
              </a:rPr>
              <a:t>?</a:t>
            </a:r>
            <a:r>
              <a:rPr lang="zh-CN" altLang="en-US" sz="2400" b="0" dirty="0">
                <a:solidFill>
                  <a:srgbClr val="FF0000"/>
                </a:solidFill>
                <a:latin typeface="Arial Black" panose="020B0A04020102020204" pitchFamily="34" charset="0"/>
                <a:ea typeface="黑体" panose="02010609060101010101" pitchFamily="49" charset="-122"/>
              </a:rPr>
              <a:t>厂家地址在两个实体的属性中重复出现</a:t>
            </a:r>
            <a:endParaRPr lang="zh-CN" altLang="en-US" sz="6600" b="0" dirty="0">
              <a:solidFill>
                <a:srgbClr val="FF0000"/>
              </a:solidFill>
              <a:latin typeface="Arial Black" panose="020B0A04020102020204" pitchFamily="34" charset="0"/>
              <a:ea typeface="黑体" panose="02010609060101010101" pitchFamily="49"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161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1620"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endParaRPr lang="zh-CN" altLang="en-US" dirty="0"/>
          </a:p>
        </p:txBody>
      </p:sp>
      <p:sp>
        <p:nvSpPr>
          <p:cNvPr id="111621" name="Text Box 4"/>
          <p:cNvSpPr txBox="1"/>
          <p:nvPr/>
        </p:nvSpPr>
        <p:spPr>
          <a:xfrm>
            <a:off x="1981200" y="32004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a:t>
            </a:r>
            <a:endParaRPr lang="zh-CN" altLang="en-US" sz="2400" b="0" dirty="0">
              <a:solidFill>
                <a:schemeClr val="tx1"/>
              </a:solidFill>
              <a:ea typeface="Arial" panose="020B0604020202020204" pitchFamily="34" charset="0"/>
            </a:endParaRPr>
          </a:p>
        </p:txBody>
      </p:sp>
      <p:sp>
        <p:nvSpPr>
          <p:cNvPr id="111622" name="Text Box 5"/>
          <p:cNvSpPr txBox="1"/>
          <p:nvPr/>
        </p:nvSpPr>
        <p:spPr>
          <a:xfrm>
            <a:off x="5715000" y="32004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酒厂</a:t>
            </a:r>
            <a:endParaRPr lang="zh-CN" altLang="en-US" sz="2400" b="0" dirty="0">
              <a:solidFill>
                <a:schemeClr val="tx1"/>
              </a:solidFill>
              <a:ea typeface="Arial" panose="020B0604020202020204" pitchFamily="34" charset="0"/>
            </a:endParaRPr>
          </a:p>
        </p:txBody>
      </p:sp>
      <p:sp>
        <p:nvSpPr>
          <p:cNvPr id="111623" name="AutoShape 6"/>
          <p:cNvSpPr/>
          <p:nvPr/>
        </p:nvSpPr>
        <p:spPr>
          <a:xfrm>
            <a:off x="3797300" y="31242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酿造</a:t>
            </a:r>
            <a:endParaRPr lang="zh-CN" altLang="en-US" sz="2400" b="0" dirty="0">
              <a:solidFill>
                <a:schemeClr val="tx1"/>
              </a:solidFill>
              <a:ea typeface="Arial" panose="020B0604020202020204" pitchFamily="34" charset="0"/>
            </a:endParaRPr>
          </a:p>
        </p:txBody>
      </p:sp>
      <p:cxnSp>
        <p:nvCxnSpPr>
          <p:cNvPr id="111624" name="AutoShape 7"/>
          <p:cNvCxnSpPr>
            <a:stCxn id="111621" idx="3"/>
            <a:endCxn id="111623" idx="1"/>
          </p:cNvCxnSpPr>
          <p:nvPr/>
        </p:nvCxnSpPr>
        <p:spPr>
          <a:xfrm flipV="1">
            <a:off x="3063875" y="3429000"/>
            <a:ext cx="733425" cy="4763"/>
          </a:xfrm>
          <a:prstGeom prst="straightConnector1">
            <a:avLst/>
          </a:prstGeom>
          <a:ln w="9525" cap="flat" cmpd="sng">
            <a:solidFill>
              <a:schemeClr val="tx1"/>
            </a:solidFill>
            <a:prstDash val="solid"/>
            <a:headEnd type="none" w="med" len="med"/>
            <a:tailEnd type="none" w="med" len="med"/>
          </a:ln>
        </p:spPr>
      </p:cxnSp>
      <p:cxnSp>
        <p:nvCxnSpPr>
          <p:cNvPr id="111625" name="AutoShape 8"/>
          <p:cNvCxnSpPr>
            <a:stCxn id="111623" idx="3"/>
            <a:endCxn id="111622" idx="1"/>
          </p:cNvCxnSpPr>
          <p:nvPr/>
        </p:nvCxnSpPr>
        <p:spPr>
          <a:xfrm>
            <a:off x="5092700" y="3429000"/>
            <a:ext cx="622300" cy="4763"/>
          </a:xfrm>
          <a:prstGeom prst="straightConnector1">
            <a:avLst/>
          </a:prstGeom>
          <a:ln w="9525" cap="flat" cmpd="sng">
            <a:solidFill>
              <a:schemeClr val="tx1"/>
            </a:solidFill>
            <a:prstDash val="solid"/>
            <a:headEnd type="none" w="med" len="med"/>
            <a:tailEnd type="none" w="med" len="med"/>
          </a:ln>
        </p:spPr>
      </p:cxnSp>
      <p:sp>
        <p:nvSpPr>
          <p:cNvPr id="111626" name="Text Box 9"/>
          <p:cNvSpPr txBox="1"/>
          <p:nvPr/>
        </p:nvSpPr>
        <p:spPr>
          <a:xfrm>
            <a:off x="5181600" y="29210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111627" name="Text Box 10"/>
          <p:cNvSpPr txBox="1"/>
          <p:nvPr/>
        </p:nvSpPr>
        <p:spPr>
          <a:xfrm>
            <a:off x="3276600" y="29210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1628" name="Oval 11"/>
          <p:cNvSpPr/>
          <p:nvPr/>
        </p:nvSpPr>
        <p:spPr>
          <a:xfrm>
            <a:off x="2438400" y="44958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类别</a:t>
            </a:r>
            <a:endParaRPr lang="zh-CN" altLang="en-US" sz="1800" b="0" dirty="0">
              <a:solidFill>
                <a:schemeClr val="tx1"/>
              </a:solidFill>
              <a:ea typeface="Arial" panose="020B0604020202020204" pitchFamily="34" charset="0"/>
            </a:endParaRPr>
          </a:p>
        </p:txBody>
      </p:sp>
      <p:sp>
        <p:nvSpPr>
          <p:cNvPr id="111629" name="Oval 12"/>
          <p:cNvSpPr/>
          <p:nvPr/>
        </p:nvSpPr>
        <p:spPr>
          <a:xfrm>
            <a:off x="1371600" y="44958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酒名</a:t>
            </a:r>
            <a:endParaRPr lang="zh-CN" altLang="en-US" sz="1800" b="0" dirty="0">
              <a:solidFill>
                <a:schemeClr val="tx1"/>
              </a:solidFill>
              <a:ea typeface="Arial" panose="020B0604020202020204" pitchFamily="34" charset="0"/>
            </a:endParaRPr>
          </a:p>
        </p:txBody>
      </p:sp>
      <p:sp>
        <p:nvSpPr>
          <p:cNvPr id="111630" name="Oval 13"/>
          <p:cNvSpPr/>
          <p:nvPr/>
        </p:nvSpPr>
        <p:spPr>
          <a:xfrm>
            <a:off x="6527800" y="4419600"/>
            <a:ext cx="1066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建立时间</a:t>
            </a:r>
            <a:endParaRPr lang="zh-CN" altLang="en-US" sz="1800" b="0" dirty="0">
              <a:solidFill>
                <a:schemeClr val="tx1"/>
              </a:solidFill>
              <a:ea typeface="Arial" panose="020B0604020202020204" pitchFamily="34" charset="0"/>
            </a:endParaRPr>
          </a:p>
        </p:txBody>
      </p:sp>
      <p:sp>
        <p:nvSpPr>
          <p:cNvPr id="111631" name="Oval 14"/>
          <p:cNvSpPr/>
          <p:nvPr/>
        </p:nvSpPr>
        <p:spPr>
          <a:xfrm>
            <a:off x="5638800" y="4406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地址</a:t>
            </a:r>
            <a:endParaRPr lang="zh-CN" altLang="en-US" sz="1800" b="0" dirty="0">
              <a:solidFill>
                <a:schemeClr val="tx1"/>
              </a:solidFill>
              <a:ea typeface="Arial" panose="020B0604020202020204" pitchFamily="34" charset="0"/>
            </a:endParaRPr>
          </a:p>
        </p:txBody>
      </p:sp>
      <p:sp>
        <p:nvSpPr>
          <p:cNvPr id="111632" name="Oval 15"/>
          <p:cNvSpPr/>
          <p:nvPr/>
        </p:nvSpPr>
        <p:spPr>
          <a:xfrm>
            <a:off x="4876800" y="4406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名称</a:t>
            </a:r>
            <a:endParaRPr lang="zh-CN" altLang="en-US" sz="1800" b="0" dirty="0">
              <a:solidFill>
                <a:schemeClr val="tx1"/>
              </a:solidFill>
              <a:ea typeface="Arial" panose="020B0604020202020204" pitchFamily="34" charset="0"/>
            </a:endParaRPr>
          </a:p>
        </p:txBody>
      </p:sp>
      <p:cxnSp>
        <p:nvCxnSpPr>
          <p:cNvPr id="111633" name="AutoShape 16"/>
          <p:cNvCxnSpPr>
            <a:stCxn id="111629" idx="0"/>
            <a:endCxn id="111621" idx="2"/>
          </p:cNvCxnSpPr>
          <p:nvPr/>
        </p:nvCxnSpPr>
        <p:spPr>
          <a:xfrm flipV="1">
            <a:off x="1714500" y="3667125"/>
            <a:ext cx="808038" cy="828675"/>
          </a:xfrm>
          <a:prstGeom prst="straightConnector1">
            <a:avLst/>
          </a:prstGeom>
          <a:ln w="9525" cap="flat" cmpd="sng">
            <a:solidFill>
              <a:schemeClr val="tx1"/>
            </a:solidFill>
            <a:prstDash val="solid"/>
            <a:headEnd type="none" w="med" len="med"/>
            <a:tailEnd type="none" w="med" len="med"/>
          </a:ln>
        </p:spPr>
      </p:cxnSp>
      <p:cxnSp>
        <p:nvCxnSpPr>
          <p:cNvPr id="111634" name="AutoShape 17"/>
          <p:cNvCxnSpPr>
            <a:stCxn id="111628" idx="0"/>
            <a:endCxn id="111621" idx="2"/>
          </p:cNvCxnSpPr>
          <p:nvPr/>
        </p:nvCxnSpPr>
        <p:spPr>
          <a:xfrm flipH="1" flipV="1">
            <a:off x="2522538" y="3667125"/>
            <a:ext cx="258762" cy="828675"/>
          </a:xfrm>
          <a:prstGeom prst="straightConnector1">
            <a:avLst/>
          </a:prstGeom>
          <a:ln w="9525" cap="flat" cmpd="sng">
            <a:solidFill>
              <a:schemeClr val="tx1"/>
            </a:solidFill>
            <a:prstDash val="solid"/>
            <a:headEnd type="none" w="med" len="med"/>
            <a:tailEnd type="none" w="med" len="med"/>
          </a:ln>
        </p:spPr>
      </p:cxnSp>
      <p:cxnSp>
        <p:nvCxnSpPr>
          <p:cNvPr id="111635" name="AutoShape 18"/>
          <p:cNvCxnSpPr>
            <a:stCxn id="111632" idx="0"/>
            <a:endCxn id="111622" idx="2"/>
          </p:cNvCxnSpPr>
          <p:nvPr/>
        </p:nvCxnSpPr>
        <p:spPr>
          <a:xfrm flipV="1">
            <a:off x="5219700" y="3667125"/>
            <a:ext cx="1036638" cy="739775"/>
          </a:xfrm>
          <a:prstGeom prst="straightConnector1">
            <a:avLst/>
          </a:prstGeom>
          <a:ln w="9525" cap="flat" cmpd="sng">
            <a:solidFill>
              <a:schemeClr val="tx1"/>
            </a:solidFill>
            <a:prstDash val="solid"/>
            <a:headEnd type="none" w="med" len="med"/>
            <a:tailEnd type="none" w="med" len="med"/>
          </a:ln>
        </p:spPr>
      </p:cxnSp>
      <p:cxnSp>
        <p:nvCxnSpPr>
          <p:cNvPr id="111636" name="AutoShape 19"/>
          <p:cNvCxnSpPr>
            <a:stCxn id="111631" idx="0"/>
            <a:endCxn id="111622" idx="2"/>
          </p:cNvCxnSpPr>
          <p:nvPr/>
        </p:nvCxnSpPr>
        <p:spPr>
          <a:xfrm flipV="1">
            <a:off x="5981700" y="3667125"/>
            <a:ext cx="274638" cy="739775"/>
          </a:xfrm>
          <a:prstGeom prst="straightConnector1">
            <a:avLst/>
          </a:prstGeom>
          <a:ln w="9525" cap="flat" cmpd="sng">
            <a:solidFill>
              <a:schemeClr val="tx1"/>
            </a:solidFill>
            <a:prstDash val="solid"/>
            <a:headEnd type="none" w="med" len="med"/>
            <a:tailEnd type="none" w="med" len="med"/>
          </a:ln>
        </p:spPr>
      </p:cxnSp>
      <p:cxnSp>
        <p:nvCxnSpPr>
          <p:cNvPr id="111637" name="AutoShape 20"/>
          <p:cNvCxnSpPr>
            <a:stCxn id="111630" idx="0"/>
            <a:endCxn id="111622" idx="2"/>
          </p:cNvCxnSpPr>
          <p:nvPr/>
        </p:nvCxnSpPr>
        <p:spPr>
          <a:xfrm flipH="1" flipV="1">
            <a:off x="6256338" y="3667125"/>
            <a:ext cx="804862" cy="752475"/>
          </a:xfrm>
          <a:prstGeom prst="straightConnector1">
            <a:avLst/>
          </a:prstGeom>
          <a:ln w="9525" cap="flat" cmpd="sng">
            <a:solidFill>
              <a:schemeClr val="tx1"/>
            </a:solidFill>
            <a:prstDash val="solid"/>
            <a:headEnd type="none" w="med" len="med"/>
            <a:tailEnd type="none" w="med" len="med"/>
          </a:ln>
        </p:spPr>
      </p:cxnSp>
      <p:sp>
        <p:nvSpPr>
          <p:cNvPr id="111638" name="Text Box 21"/>
          <p:cNvSpPr txBox="1"/>
          <p:nvPr/>
        </p:nvSpPr>
        <p:spPr>
          <a:xfrm>
            <a:off x="3352800" y="1752600"/>
            <a:ext cx="2470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rgbClr val="FF0000"/>
                </a:solidFill>
                <a:latin typeface="Impact" panose="020B0806030902050204" pitchFamily="34" charset="0"/>
                <a:ea typeface="黑体" panose="02010609060101010101" pitchFamily="49" charset="-122"/>
              </a:rPr>
              <a:t>正确的模型</a:t>
            </a:r>
            <a:endParaRPr lang="zh-CN" altLang="en-US" sz="3600" b="0" dirty="0">
              <a:solidFill>
                <a:srgbClr val="FF0000"/>
              </a:solidFill>
              <a:latin typeface="Impact" panose="020B0806030902050204" pitchFamily="34" charset="0"/>
              <a:ea typeface="黑体" panose="02010609060101010101" pitchFamily="49"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4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2644"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endParaRPr lang="zh-CN" altLang="en-US" dirty="0"/>
          </a:p>
        </p:txBody>
      </p:sp>
      <p:sp>
        <p:nvSpPr>
          <p:cNvPr id="112645" name="Text Box 4"/>
          <p:cNvSpPr txBox="1"/>
          <p:nvPr/>
        </p:nvSpPr>
        <p:spPr>
          <a:xfrm>
            <a:off x="2346325" y="1600200"/>
            <a:ext cx="1143000"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a:t>
            </a:r>
            <a:endParaRPr lang="zh-CN" altLang="en-US" sz="2400" b="0" dirty="0">
              <a:solidFill>
                <a:schemeClr val="tx1"/>
              </a:solidFill>
              <a:ea typeface="Arial" panose="020B0604020202020204" pitchFamily="34" charset="0"/>
            </a:endParaRPr>
          </a:p>
        </p:txBody>
      </p:sp>
      <p:sp>
        <p:nvSpPr>
          <p:cNvPr id="112646" name="Text Box 5"/>
          <p:cNvSpPr txBox="1"/>
          <p:nvPr/>
        </p:nvSpPr>
        <p:spPr>
          <a:xfrm>
            <a:off x="6080125" y="16002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酒厂</a:t>
            </a:r>
            <a:endParaRPr lang="zh-CN" altLang="en-US" sz="2400" b="0" dirty="0">
              <a:solidFill>
                <a:schemeClr val="tx1"/>
              </a:solidFill>
              <a:ea typeface="Arial" panose="020B0604020202020204" pitchFamily="34" charset="0"/>
            </a:endParaRPr>
          </a:p>
        </p:txBody>
      </p:sp>
      <p:sp>
        <p:nvSpPr>
          <p:cNvPr id="112647" name="AutoShape 6"/>
          <p:cNvSpPr/>
          <p:nvPr/>
        </p:nvSpPr>
        <p:spPr>
          <a:xfrm>
            <a:off x="4162425" y="15240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酿造</a:t>
            </a:r>
            <a:endParaRPr lang="zh-CN" altLang="en-US" sz="2400" b="0" dirty="0">
              <a:solidFill>
                <a:schemeClr val="tx1"/>
              </a:solidFill>
              <a:ea typeface="Arial" panose="020B0604020202020204" pitchFamily="34" charset="0"/>
            </a:endParaRPr>
          </a:p>
        </p:txBody>
      </p:sp>
      <p:cxnSp>
        <p:nvCxnSpPr>
          <p:cNvPr id="112648" name="AutoShape 7"/>
          <p:cNvCxnSpPr>
            <a:stCxn id="112645" idx="3"/>
            <a:endCxn id="112647" idx="1"/>
          </p:cNvCxnSpPr>
          <p:nvPr/>
        </p:nvCxnSpPr>
        <p:spPr>
          <a:xfrm flipV="1">
            <a:off x="3489325" y="1828800"/>
            <a:ext cx="673100" cy="4763"/>
          </a:xfrm>
          <a:prstGeom prst="straightConnector1">
            <a:avLst/>
          </a:prstGeom>
          <a:ln w="9525" cap="flat" cmpd="sng">
            <a:solidFill>
              <a:schemeClr val="tx1"/>
            </a:solidFill>
            <a:prstDash val="solid"/>
            <a:headEnd type="none" w="med" len="med"/>
            <a:tailEnd type="none" w="med" len="med"/>
          </a:ln>
        </p:spPr>
      </p:cxnSp>
      <p:cxnSp>
        <p:nvCxnSpPr>
          <p:cNvPr id="112649" name="AutoShape 8"/>
          <p:cNvCxnSpPr>
            <a:stCxn id="112647" idx="3"/>
            <a:endCxn id="112646" idx="1"/>
          </p:cNvCxnSpPr>
          <p:nvPr/>
        </p:nvCxnSpPr>
        <p:spPr>
          <a:xfrm>
            <a:off x="5457825" y="1828800"/>
            <a:ext cx="622300" cy="4763"/>
          </a:xfrm>
          <a:prstGeom prst="straightConnector1">
            <a:avLst/>
          </a:prstGeom>
          <a:ln w="9525" cap="flat" cmpd="sng">
            <a:solidFill>
              <a:schemeClr val="tx1"/>
            </a:solidFill>
            <a:prstDash val="solid"/>
            <a:headEnd type="none" w="med" len="med"/>
            <a:tailEnd type="none" w="med" len="med"/>
          </a:ln>
        </p:spPr>
      </p:cxnSp>
      <p:sp>
        <p:nvSpPr>
          <p:cNvPr id="112650" name="Text Box 9"/>
          <p:cNvSpPr txBox="1"/>
          <p:nvPr/>
        </p:nvSpPr>
        <p:spPr>
          <a:xfrm>
            <a:off x="5546725" y="13208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112651" name="Text Box 10"/>
          <p:cNvSpPr txBox="1"/>
          <p:nvPr/>
        </p:nvSpPr>
        <p:spPr>
          <a:xfrm>
            <a:off x="3641725" y="13208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2652" name="Oval 11"/>
          <p:cNvSpPr/>
          <p:nvPr/>
        </p:nvSpPr>
        <p:spPr>
          <a:xfrm>
            <a:off x="2955925" y="2755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类别</a:t>
            </a:r>
            <a:endParaRPr lang="zh-CN" altLang="en-US" sz="1800" b="0" dirty="0">
              <a:solidFill>
                <a:schemeClr val="tx1"/>
              </a:solidFill>
              <a:ea typeface="Arial" panose="020B0604020202020204" pitchFamily="34" charset="0"/>
            </a:endParaRPr>
          </a:p>
        </p:txBody>
      </p:sp>
      <p:sp>
        <p:nvSpPr>
          <p:cNvPr id="112653" name="Oval 12"/>
          <p:cNvSpPr/>
          <p:nvPr/>
        </p:nvSpPr>
        <p:spPr>
          <a:xfrm>
            <a:off x="2168525" y="2755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名称</a:t>
            </a:r>
            <a:endParaRPr lang="zh-CN" altLang="en-US" sz="1800" b="0" dirty="0">
              <a:solidFill>
                <a:schemeClr val="tx1"/>
              </a:solidFill>
              <a:ea typeface="Arial" panose="020B0604020202020204" pitchFamily="34" charset="0"/>
            </a:endParaRPr>
          </a:p>
        </p:txBody>
      </p:sp>
      <p:sp>
        <p:nvSpPr>
          <p:cNvPr id="112654" name="Oval 13"/>
          <p:cNvSpPr/>
          <p:nvPr/>
        </p:nvSpPr>
        <p:spPr>
          <a:xfrm>
            <a:off x="6283325" y="27940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名称</a:t>
            </a:r>
            <a:endParaRPr lang="zh-CN" altLang="en-US" sz="1800" b="0" dirty="0">
              <a:solidFill>
                <a:schemeClr val="tx1"/>
              </a:solidFill>
              <a:ea typeface="Arial" panose="020B0604020202020204" pitchFamily="34" charset="0"/>
            </a:endParaRPr>
          </a:p>
        </p:txBody>
      </p:sp>
      <p:cxnSp>
        <p:nvCxnSpPr>
          <p:cNvPr id="112655" name="AutoShape 14"/>
          <p:cNvCxnSpPr>
            <a:stCxn id="112653" idx="0"/>
            <a:endCxn id="112645" idx="2"/>
          </p:cNvCxnSpPr>
          <p:nvPr/>
        </p:nvCxnSpPr>
        <p:spPr>
          <a:xfrm flipV="1">
            <a:off x="2511425" y="2066925"/>
            <a:ext cx="406400" cy="688975"/>
          </a:xfrm>
          <a:prstGeom prst="straightConnector1">
            <a:avLst/>
          </a:prstGeom>
          <a:ln w="9525" cap="flat" cmpd="sng">
            <a:solidFill>
              <a:schemeClr val="tx1"/>
            </a:solidFill>
            <a:prstDash val="solid"/>
            <a:headEnd type="none" w="med" len="med"/>
            <a:tailEnd type="none" w="med" len="med"/>
          </a:ln>
        </p:spPr>
      </p:cxnSp>
      <p:cxnSp>
        <p:nvCxnSpPr>
          <p:cNvPr id="112656" name="AutoShape 15"/>
          <p:cNvCxnSpPr>
            <a:stCxn id="112652" idx="0"/>
            <a:endCxn id="112645" idx="2"/>
          </p:cNvCxnSpPr>
          <p:nvPr/>
        </p:nvCxnSpPr>
        <p:spPr>
          <a:xfrm flipH="1" flipV="1">
            <a:off x="2917825" y="2066925"/>
            <a:ext cx="381000" cy="688975"/>
          </a:xfrm>
          <a:prstGeom prst="straightConnector1">
            <a:avLst/>
          </a:prstGeom>
          <a:ln w="9525" cap="flat" cmpd="sng">
            <a:solidFill>
              <a:schemeClr val="tx1"/>
            </a:solidFill>
            <a:prstDash val="solid"/>
            <a:headEnd type="none" w="med" len="med"/>
            <a:tailEnd type="none" w="med" len="med"/>
          </a:ln>
        </p:spPr>
      </p:cxnSp>
      <p:cxnSp>
        <p:nvCxnSpPr>
          <p:cNvPr id="112657" name="AutoShape 16"/>
          <p:cNvCxnSpPr>
            <a:stCxn id="112654" idx="0"/>
            <a:endCxn id="112646" idx="2"/>
          </p:cNvCxnSpPr>
          <p:nvPr/>
        </p:nvCxnSpPr>
        <p:spPr>
          <a:xfrm flipH="1" flipV="1">
            <a:off x="6621463" y="2066925"/>
            <a:ext cx="4762" cy="727075"/>
          </a:xfrm>
          <a:prstGeom prst="straightConnector1">
            <a:avLst/>
          </a:prstGeom>
          <a:ln w="9525" cap="flat" cmpd="sng">
            <a:solidFill>
              <a:schemeClr val="tx1"/>
            </a:solidFill>
            <a:prstDash val="solid"/>
            <a:headEnd type="none" w="med" len="med"/>
            <a:tailEnd type="none" w="med" len="med"/>
          </a:ln>
        </p:spPr>
      </p:cxnSp>
      <p:sp>
        <p:nvSpPr>
          <p:cNvPr id="112658" name="Text Box 17"/>
          <p:cNvSpPr txBox="1"/>
          <p:nvPr/>
        </p:nvSpPr>
        <p:spPr>
          <a:xfrm>
            <a:off x="4038600" y="4114800"/>
            <a:ext cx="1143000"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a:t>
            </a:r>
            <a:endParaRPr lang="zh-CN" altLang="en-US" sz="2400" b="0" dirty="0">
              <a:solidFill>
                <a:schemeClr val="tx1"/>
              </a:solidFill>
              <a:ea typeface="Arial" panose="020B0604020202020204" pitchFamily="34" charset="0"/>
            </a:endParaRPr>
          </a:p>
        </p:txBody>
      </p:sp>
      <p:sp>
        <p:nvSpPr>
          <p:cNvPr id="112659" name="Oval 18"/>
          <p:cNvSpPr/>
          <p:nvPr/>
        </p:nvSpPr>
        <p:spPr>
          <a:xfrm>
            <a:off x="5003800" y="53340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厂家</a:t>
            </a:r>
            <a:endParaRPr lang="zh-CN" altLang="en-US" sz="1800" b="0" dirty="0">
              <a:solidFill>
                <a:schemeClr val="tx1"/>
              </a:solidFill>
              <a:ea typeface="Arial" panose="020B0604020202020204" pitchFamily="34" charset="0"/>
            </a:endParaRPr>
          </a:p>
        </p:txBody>
      </p:sp>
      <p:sp>
        <p:nvSpPr>
          <p:cNvPr id="112660" name="Oval 19"/>
          <p:cNvSpPr/>
          <p:nvPr/>
        </p:nvSpPr>
        <p:spPr>
          <a:xfrm>
            <a:off x="4267200" y="53340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类别</a:t>
            </a:r>
            <a:endParaRPr lang="zh-CN" altLang="en-US" sz="1800" b="0" dirty="0">
              <a:solidFill>
                <a:schemeClr val="tx1"/>
              </a:solidFill>
              <a:ea typeface="Arial" panose="020B0604020202020204" pitchFamily="34" charset="0"/>
            </a:endParaRPr>
          </a:p>
        </p:txBody>
      </p:sp>
      <p:sp>
        <p:nvSpPr>
          <p:cNvPr id="112661" name="Oval 20"/>
          <p:cNvSpPr/>
          <p:nvPr/>
        </p:nvSpPr>
        <p:spPr>
          <a:xfrm>
            <a:off x="3479800" y="53340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名称</a:t>
            </a:r>
            <a:endParaRPr lang="zh-CN" altLang="en-US" sz="1800" b="0" dirty="0">
              <a:solidFill>
                <a:schemeClr val="tx1"/>
              </a:solidFill>
              <a:ea typeface="Arial" panose="020B0604020202020204" pitchFamily="34" charset="0"/>
            </a:endParaRPr>
          </a:p>
        </p:txBody>
      </p:sp>
      <p:cxnSp>
        <p:nvCxnSpPr>
          <p:cNvPr id="112662" name="AutoShape 21"/>
          <p:cNvCxnSpPr>
            <a:stCxn id="112661" idx="0"/>
            <a:endCxn id="112658" idx="2"/>
          </p:cNvCxnSpPr>
          <p:nvPr/>
        </p:nvCxnSpPr>
        <p:spPr>
          <a:xfrm flipV="1">
            <a:off x="3822700" y="4581525"/>
            <a:ext cx="787400" cy="752475"/>
          </a:xfrm>
          <a:prstGeom prst="straightConnector1">
            <a:avLst/>
          </a:prstGeom>
          <a:ln w="9525" cap="flat" cmpd="sng">
            <a:solidFill>
              <a:schemeClr val="tx1"/>
            </a:solidFill>
            <a:prstDash val="solid"/>
            <a:headEnd type="none" w="med" len="med"/>
            <a:tailEnd type="none" w="med" len="med"/>
          </a:ln>
        </p:spPr>
      </p:cxnSp>
      <p:cxnSp>
        <p:nvCxnSpPr>
          <p:cNvPr id="112663" name="AutoShape 22"/>
          <p:cNvCxnSpPr>
            <a:stCxn id="112660" idx="0"/>
            <a:endCxn id="112658" idx="2"/>
          </p:cNvCxnSpPr>
          <p:nvPr/>
        </p:nvCxnSpPr>
        <p:spPr>
          <a:xfrm flipV="1">
            <a:off x="4610100" y="4581525"/>
            <a:ext cx="0" cy="752475"/>
          </a:xfrm>
          <a:prstGeom prst="straightConnector1">
            <a:avLst/>
          </a:prstGeom>
          <a:ln w="9525" cap="flat" cmpd="sng">
            <a:solidFill>
              <a:schemeClr val="tx1"/>
            </a:solidFill>
            <a:prstDash val="solid"/>
            <a:headEnd type="none" w="med" len="med"/>
            <a:tailEnd type="none" w="med" len="med"/>
          </a:ln>
        </p:spPr>
      </p:cxnSp>
      <p:cxnSp>
        <p:nvCxnSpPr>
          <p:cNvPr id="112664" name="AutoShape 23"/>
          <p:cNvCxnSpPr>
            <a:stCxn id="112659" idx="0"/>
            <a:endCxn id="112658" idx="2"/>
          </p:cNvCxnSpPr>
          <p:nvPr/>
        </p:nvCxnSpPr>
        <p:spPr>
          <a:xfrm flipH="1" flipV="1">
            <a:off x="4610100" y="4581525"/>
            <a:ext cx="736600" cy="752475"/>
          </a:xfrm>
          <a:prstGeom prst="straightConnector1">
            <a:avLst/>
          </a:prstGeom>
          <a:ln w="9525" cap="flat" cmpd="sng">
            <a:solidFill>
              <a:schemeClr val="tx1"/>
            </a:solidFill>
            <a:prstDash val="solid"/>
            <a:headEnd type="none" w="med" len="med"/>
            <a:tailEnd type="none" w="med" len="med"/>
          </a:ln>
        </p:spPr>
      </p:cxnSp>
      <p:sp>
        <p:nvSpPr>
          <p:cNvPr id="112665" name="Text Box 24"/>
          <p:cNvSpPr txBox="1"/>
          <p:nvPr/>
        </p:nvSpPr>
        <p:spPr>
          <a:xfrm>
            <a:off x="304800" y="4495800"/>
            <a:ext cx="1327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rgbClr val="FF0000"/>
                </a:solidFill>
                <a:ea typeface="黑体" panose="02010609060101010101" pitchFamily="49" charset="-122"/>
              </a:rPr>
              <a:t>Right:</a:t>
            </a:r>
            <a:endParaRPr lang="en-US" altLang="zh-CN" sz="3600" b="0" dirty="0">
              <a:solidFill>
                <a:srgbClr val="FF0000"/>
              </a:solidFill>
              <a:ea typeface="黑体" panose="02010609060101010101" pitchFamily="49" charset="-122"/>
            </a:endParaRPr>
          </a:p>
        </p:txBody>
      </p:sp>
      <p:sp>
        <p:nvSpPr>
          <p:cNvPr id="112666" name="Text Box 25"/>
          <p:cNvSpPr txBox="1"/>
          <p:nvPr/>
        </p:nvSpPr>
        <p:spPr>
          <a:xfrm>
            <a:off x="5943600" y="3657600"/>
            <a:ext cx="27622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chemeClr val="tx1"/>
                </a:solidFill>
                <a:cs typeface="Arial" panose="020B0604020202020204" pitchFamily="34" charset="0"/>
              </a:rPr>
              <a:t>实体 </a:t>
            </a:r>
            <a:r>
              <a:rPr lang="en-US" altLang="zh-CN" sz="3600" b="0" dirty="0">
                <a:solidFill>
                  <a:schemeClr val="tx1"/>
                </a:solidFill>
                <a:cs typeface="Arial" panose="020B0604020202020204" pitchFamily="34" charset="0"/>
              </a:rPr>
              <a:t>vs  </a:t>
            </a:r>
            <a:r>
              <a:rPr lang="zh-CN" altLang="en-US" sz="3600" b="0" dirty="0">
                <a:solidFill>
                  <a:schemeClr val="tx1"/>
                </a:solidFill>
                <a:cs typeface="Arial" panose="020B0604020202020204" pitchFamily="34" charset="0"/>
              </a:rPr>
              <a:t>属性</a:t>
            </a:r>
            <a:endParaRPr lang="zh-CN" altLang="en-US" sz="3600" b="0" dirty="0">
              <a:solidFill>
                <a:schemeClr val="tx1"/>
              </a:solidFill>
              <a:ea typeface="Arial" panose="020B0604020202020204" pitchFamily="34" charset="0"/>
            </a:endParaRPr>
          </a:p>
        </p:txBody>
      </p:sp>
      <p:sp>
        <p:nvSpPr>
          <p:cNvPr id="112667" name="Text Box 26"/>
          <p:cNvSpPr txBox="1"/>
          <p:nvPr/>
        </p:nvSpPr>
        <p:spPr>
          <a:xfrm>
            <a:off x="304800" y="1752600"/>
            <a:ext cx="1581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rgbClr val="FF0000"/>
                </a:solidFill>
                <a:ea typeface="黑体" panose="02010609060101010101" pitchFamily="49" charset="-122"/>
              </a:rPr>
              <a:t>Wrong:</a:t>
            </a:r>
            <a:endParaRPr lang="en-US" altLang="zh-CN" sz="3600" b="0" dirty="0">
              <a:solidFill>
                <a:srgbClr val="FF0000"/>
              </a:solidFill>
              <a:ea typeface="黑体" panose="02010609060101010101" pitchFamily="49"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366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3668"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endParaRPr lang="zh-CN" altLang="en-US" dirty="0"/>
          </a:p>
        </p:txBody>
      </p:sp>
      <p:sp>
        <p:nvSpPr>
          <p:cNvPr id="113669" name="Text Box 4"/>
          <p:cNvSpPr txBox="1"/>
          <p:nvPr/>
        </p:nvSpPr>
        <p:spPr>
          <a:xfrm>
            <a:off x="2374900" y="44196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a:t>
            </a:r>
            <a:endParaRPr lang="zh-CN" altLang="en-US" sz="2400" b="0" dirty="0">
              <a:solidFill>
                <a:schemeClr val="tx1"/>
              </a:solidFill>
              <a:ea typeface="Arial" panose="020B0604020202020204" pitchFamily="34" charset="0"/>
            </a:endParaRPr>
          </a:p>
        </p:txBody>
      </p:sp>
      <p:sp>
        <p:nvSpPr>
          <p:cNvPr id="113670" name="Text Box 5"/>
          <p:cNvSpPr txBox="1"/>
          <p:nvPr/>
        </p:nvSpPr>
        <p:spPr>
          <a:xfrm>
            <a:off x="6108700" y="44196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酒厂</a:t>
            </a:r>
            <a:endParaRPr lang="zh-CN" altLang="en-US" sz="2400" b="0" dirty="0">
              <a:solidFill>
                <a:schemeClr val="tx1"/>
              </a:solidFill>
              <a:ea typeface="Arial" panose="020B0604020202020204" pitchFamily="34" charset="0"/>
            </a:endParaRPr>
          </a:p>
        </p:txBody>
      </p:sp>
      <p:sp>
        <p:nvSpPr>
          <p:cNvPr id="113671" name="AutoShape 6"/>
          <p:cNvSpPr/>
          <p:nvPr/>
        </p:nvSpPr>
        <p:spPr>
          <a:xfrm>
            <a:off x="4191000" y="43434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酿造</a:t>
            </a:r>
            <a:endParaRPr lang="zh-CN" altLang="en-US" sz="2400" b="0" dirty="0">
              <a:solidFill>
                <a:schemeClr val="tx1"/>
              </a:solidFill>
              <a:ea typeface="Arial" panose="020B0604020202020204" pitchFamily="34" charset="0"/>
            </a:endParaRPr>
          </a:p>
        </p:txBody>
      </p:sp>
      <p:cxnSp>
        <p:nvCxnSpPr>
          <p:cNvPr id="113672" name="AutoShape 7"/>
          <p:cNvCxnSpPr>
            <a:stCxn id="113669" idx="3"/>
            <a:endCxn id="113671" idx="1"/>
          </p:cNvCxnSpPr>
          <p:nvPr/>
        </p:nvCxnSpPr>
        <p:spPr>
          <a:xfrm flipV="1">
            <a:off x="3457575" y="4648200"/>
            <a:ext cx="733425" cy="4763"/>
          </a:xfrm>
          <a:prstGeom prst="straightConnector1">
            <a:avLst/>
          </a:prstGeom>
          <a:ln w="9525" cap="flat" cmpd="sng">
            <a:solidFill>
              <a:schemeClr val="tx1"/>
            </a:solidFill>
            <a:prstDash val="solid"/>
            <a:headEnd type="none" w="med" len="med"/>
            <a:tailEnd type="none" w="med" len="med"/>
          </a:ln>
        </p:spPr>
      </p:cxnSp>
      <p:cxnSp>
        <p:nvCxnSpPr>
          <p:cNvPr id="113673" name="AutoShape 8"/>
          <p:cNvCxnSpPr>
            <a:stCxn id="113671" idx="3"/>
            <a:endCxn id="113670" idx="1"/>
          </p:cNvCxnSpPr>
          <p:nvPr/>
        </p:nvCxnSpPr>
        <p:spPr>
          <a:xfrm>
            <a:off x="5486400" y="4648200"/>
            <a:ext cx="622300" cy="4763"/>
          </a:xfrm>
          <a:prstGeom prst="straightConnector1">
            <a:avLst/>
          </a:prstGeom>
          <a:ln w="9525" cap="flat" cmpd="sng">
            <a:solidFill>
              <a:schemeClr val="tx1"/>
            </a:solidFill>
            <a:prstDash val="solid"/>
            <a:headEnd type="none" w="med" len="med"/>
            <a:tailEnd type="none" w="med" len="med"/>
          </a:ln>
        </p:spPr>
      </p:cxnSp>
      <p:sp>
        <p:nvSpPr>
          <p:cNvPr id="113674" name="Text Box 9"/>
          <p:cNvSpPr txBox="1"/>
          <p:nvPr/>
        </p:nvSpPr>
        <p:spPr>
          <a:xfrm>
            <a:off x="5575300" y="41402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
        <p:nvSpPr>
          <p:cNvPr id="113675" name="Text Box 10"/>
          <p:cNvSpPr txBox="1"/>
          <p:nvPr/>
        </p:nvSpPr>
        <p:spPr>
          <a:xfrm>
            <a:off x="3670300" y="41402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3676" name="Oval 11"/>
          <p:cNvSpPr/>
          <p:nvPr/>
        </p:nvSpPr>
        <p:spPr>
          <a:xfrm>
            <a:off x="2933700" y="56261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类别</a:t>
            </a:r>
            <a:endParaRPr lang="zh-CN" altLang="en-US" sz="1800" b="0" dirty="0">
              <a:solidFill>
                <a:schemeClr val="tx1"/>
              </a:solidFill>
              <a:ea typeface="Arial" panose="020B0604020202020204" pitchFamily="34" charset="0"/>
            </a:endParaRPr>
          </a:p>
        </p:txBody>
      </p:sp>
      <p:sp>
        <p:nvSpPr>
          <p:cNvPr id="113677" name="Oval 12"/>
          <p:cNvSpPr/>
          <p:nvPr/>
        </p:nvSpPr>
        <p:spPr>
          <a:xfrm>
            <a:off x="2171700" y="56261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酒名</a:t>
            </a:r>
            <a:endParaRPr lang="zh-CN" altLang="en-US" sz="1800" b="0" dirty="0">
              <a:solidFill>
                <a:schemeClr val="tx1"/>
              </a:solidFill>
              <a:ea typeface="Arial" panose="020B0604020202020204" pitchFamily="34" charset="0"/>
            </a:endParaRPr>
          </a:p>
        </p:txBody>
      </p:sp>
      <p:sp>
        <p:nvSpPr>
          <p:cNvPr id="113678" name="Oval 13"/>
          <p:cNvSpPr/>
          <p:nvPr/>
        </p:nvSpPr>
        <p:spPr>
          <a:xfrm>
            <a:off x="6667500" y="56007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厂址</a:t>
            </a:r>
            <a:endParaRPr lang="zh-CN" altLang="en-US" sz="1800" b="0" dirty="0">
              <a:solidFill>
                <a:schemeClr val="tx1"/>
              </a:solidFill>
              <a:ea typeface="Arial" panose="020B0604020202020204" pitchFamily="34" charset="0"/>
            </a:endParaRPr>
          </a:p>
        </p:txBody>
      </p:sp>
      <p:sp>
        <p:nvSpPr>
          <p:cNvPr id="113679" name="Oval 14"/>
          <p:cNvSpPr/>
          <p:nvPr/>
        </p:nvSpPr>
        <p:spPr>
          <a:xfrm>
            <a:off x="5905500" y="56007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名称</a:t>
            </a:r>
            <a:endParaRPr lang="zh-CN" altLang="en-US" sz="1800" b="0" dirty="0">
              <a:solidFill>
                <a:schemeClr val="tx1"/>
              </a:solidFill>
              <a:ea typeface="Arial" panose="020B0604020202020204" pitchFamily="34" charset="0"/>
            </a:endParaRPr>
          </a:p>
        </p:txBody>
      </p:sp>
      <p:cxnSp>
        <p:nvCxnSpPr>
          <p:cNvPr id="113680" name="AutoShape 15"/>
          <p:cNvCxnSpPr>
            <a:stCxn id="113677" idx="0"/>
            <a:endCxn id="113669" idx="2"/>
          </p:cNvCxnSpPr>
          <p:nvPr/>
        </p:nvCxnSpPr>
        <p:spPr>
          <a:xfrm flipV="1">
            <a:off x="2514600" y="4886325"/>
            <a:ext cx="401638" cy="739775"/>
          </a:xfrm>
          <a:prstGeom prst="straightConnector1">
            <a:avLst/>
          </a:prstGeom>
          <a:ln w="9525" cap="flat" cmpd="sng">
            <a:solidFill>
              <a:schemeClr val="tx1"/>
            </a:solidFill>
            <a:prstDash val="solid"/>
            <a:headEnd type="none" w="med" len="med"/>
            <a:tailEnd type="none" w="med" len="med"/>
          </a:ln>
        </p:spPr>
      </p:cxnSp>
      <p:cxnSp>
        <p:nvCxnSpPr>
          <p:cNvPr id="113681" name="AutoShape 16"/>
          <p:cNvCxnSpPr>
            <a:stCxn id="113676" idx="0"/>
            <a:endCxn id="113669" idx="2"/>
          </p:cNvCxnSpPr>
          <p:nvPr/>
        </p:nvCxnSpPr>
        <p:spPr>
          <a:xfrm flipH="1" flipV="1">
            <a:off x="2916238" y="4886325"/>
            <a:ext cx="360362" cy="739775"/>
          </a:xfrm>
          <a:prstGeom prst="straightConnector1">
            <a:avLst/>
          </a:prstGeom>
          <a:ln w="9525" cap="flat" cmpd="sng">
            <a:solidFill>
              <a:schemeClr val="tx1"/>
            </a:solidFill>
            <a:prstDash val="solid"/>
            <a:headEnd type="none" w="med" len="med"/>
            <a:tailEnd type="none" w="med" len="med"/>
          </a:ln>
        </p:spPr>
      </p:cxnSp>
      <p:cxnSp>
        <p:nvCxnSpPr>
          <p:cNvPr id="113682" name="AutoShape 17"/>
          <p:cNvCxnSpPr>
            <a:stCxn id="113679" idx="0"/>
            <a:endCxn id="113670" idx="2"/>
          </p:cNvCxnSpPr>
          <p:nvPr/>
        </p:nvCxnSpPr>
        <p:spPr>
          <a:xfrm flipV="1">
            <a:off x="6248400" y="4886325"/>
            <a:ext cx="401638" cy="714375"/>
          </a:xfrm>
          <a:prstGeom prst="straightConnector1">
            <a:avLst/>
          </a:prstGeom>
          <a:ln w="9525" cap="flat" cmpd="sng">
            <a:solidFill>
              <a:schemeClr val="tx1"/>
            </a:solidFill>
            <a:prstDash val="solid"/>
            <a:headEnd type="none" w="med" len="med"/>
            <a:tailEnd type="none" w="med" len="med"/>
          </a:ln>
        </p:spPr>
      </p:cxnSp>
      <p:cxnSp>
        <p:nvCxnSpPr>
          <p:cNvPr id="113683" name="AutoShape 18"/>
          <p:cNvCxnSpPr>
            <a:stCxn id="113678" idx="0"/>
            <a:endCxn id="113670" idx="2"/>
          </p:cNvCxnSpPr>
          <p:nvPr/>
        </p:nvCxnSpPr>
        <p:spPr>
          <a:xfrm flipH="1" flipV="1">
            <a:off x="6650038" y="4886325"/>
            <a:ext cx="360362" cy="714375"/>
          </a:xfrm>
          <a:prstGeom prst="straightConnector1">
            <a:avLst/>
          </a:prstGeom>
          <a:ln w="9525" cap="flat" cmpd="sng">
            <a:solidFill>
              <a:schemeClr val="tx1"/>
            </a:solidFill>
            <a:prstDash val="solid"/>
            <a:headEnd type="none" w="med" len="med"/>
            <a:tailEnd type="none" w="med" len="med"/>
          </a:ln>
        </p:spPr>
      </p:cxnSp>
      <p:sp>
        <p:nvSpPr>
          <p:cNvPr id="113684" name="Text Box 19"/>
          <p:cNvSpPr txBox="1"/>
          <p:nvPr/>
        </p:nvSpPr>
        <p:spPr>
          <a:xfrm>
            <a:off x="4051300" y="1422400"/>
            <a:ext cx="1082675" cy="466725"/>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酒</a:t>
            </a:r>
            <a:endParaRPr lang="zh-CN" altLang="en-US" sz="2400" b="0" dirty="0">
              <a:solidFill>
                <a:schemeClr val="tx1"/>
              </a:solidFill>
              <a:ea typeface="Arial" panose="020B0604020202020204" pitchFamily="34" charset="0"/>
            </a:endParaRPr>
          </a:p>
        </p:txBody>
      </p:sp>
      <p:sp>
        <p:nvSpPr>
          <p:cNvPr id="113685" name="Oval 20"/>
          <p:cNvSpPr/>
          <p:nvPr/>
        </p:nvSpPr>
        <p:spPr>
          <a:xfrm>
            <a:off x="4673600" y="2641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厂家</a:t>
            </a:r>
            <a:endParaRPr lang="zh-CN" altLang="en-US" sz="1800" b="0" dirty="0">
              <a:solidFill>
                <a:schemeClr val="tx1"/>
              </a:solidFill>
              <a:ea typeface="Arial" panose="020B0604020202020204" pitchFamily="34" charset="0"/>
            </a:endParaRPr>
          </a:p>
        </p:txBody>
      </p:sp>
      <p:sp>
        <p:nvSpPr>
          <p:cNvPr id="113686" name="Oval 21"/>
          <p:cNvSpPr/>
          <p:nvPr/>
        </p:nvSpPr>
        <p:spPr>
          <a:xfrm>
            <a:off x="3911600" y="2641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类别</a:t>
            </a:r>
            <a:endParaRPr lang="zh-CN" altLang="en-US" sz="1800" b="0" dirty="0">
              <a:solidFill>
                <a:schemeClr val="tx1"/>
              </a:solidFill>
              <a:ea typeface="Arial" panose="020B0604020202020204" pitchFamily="34" charset="0"/>
            </a:endParaRPr>
          </a:p>
        </p:txBody>
      </p:sp>
      <p:sp>
        <p:nvSpPr>
          <p:cNvPr id="113687" name="Oval 22"/>
          <p:cNvSpPr/>
          <p:nvPr/>
        </p:nvSpPr>
        <p:spPr>
          <a:xfrm>
            <a:off x="5435600" y="2641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厂址</a:t>
            </a:r>
            <a:endParaRPr lang="zh-CN" altLang="en-US" sz="1800" b="0" dirty="0">
              <a:solidFill>
                <a:schemeClr val="tx1"/>
              </a:solidFill>
              <a:ea typeface="Arial" panose="020B0604020202020204" pitchFamily="34" charset="0"/>
            </a:endParaRPr>
          </a:p>
        </p:txBody>
      </p:sp>
      <p:sp>
        <p:nvSpPr>
          <p:cNvPr id="113688" name="Oval 23"/>
          <p:cNvSpPr/>
          <p:nvPr/>
        </p:nvSpPr>
        <p:spPr>
          <a:xfrm>
            <a:off x="3149600" y="2641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800" b="0" dirty="0">
                <a:solidFill>
                  <a:schemeClr val="tx1"/>
                </a:solidFill>
                <a:cs typeface="Arial" panose="020B0604020202020204" pitchFamily="34" charset="0"/>
              </a:rPr>
              <a:t>酒名</a:t>
            </a:r>
            <a:endParaRPr lang="zh-CN" altLang="en-US" sz="1800" b="0" dirty="0">
              <a:solidFill>
                <a:schemeClr val="tx1"/>
              </a:solidFill>
              <a:ea typeface="Arial" panose="020B0604020202020204" pitchFamily="34" charset="0"/>
            </a:endParaRPr>
          </a:p>
        </p:txBody>
      </p:sp>
      <p:cxnSp>
        <p:nvCxnSpPr>
          <p:cNvPr id="113689" name="AutoShape 24"/>
          <p:cNvCxnSpPr>
            <a:stCxn id="113688" idx="0"/>
            <a:endCxn id="113684" idx="2"/>
          </p:cNvCxnSpPr>
          <p:nvPr/>
        </p:nvCxnSpPr>
        <p:spPr>
          <a:xfrm flipV="1">
            <a:off x="3492500" y="1889125"/>
            <a:ext cx="1100138" cy="752475"/>
          </a:xfrm>
          <a:prstGeom prst="straightConnector1">
            <a:avLst/>
          </a:prstGeom>
          <a:ln w="9525" cap="flat" cmpd="sng">
            <a:solidFill>
              <a:schemeClr val="tx1"/>
            </a:solidFill>
            <a:prstDash val="solid"/>
            <a:headEnd type="none" w="med" len="med"/>
            <a:tailEnd type="none" w="med" len="med"/>
          </a:ln>
        </p:spPr>
      </p:cxnSp>
      <p:cxnSp>
        <p:nvCxnSpPr>
          <p:cNvPr id="113690" name="AutoShape 25"/>
          <p:cNvCxnSpPr>
            <a:stCxn id="113686" idx="0"/>
            <a:endCxn id="113684" idx="2"/>
          </p:cNvCxnSpPr>
          <p:nvPr/>
        </p:nvCxnSpPr>
        <p:spPr>
          <a:xfrm flipV="1">
            <a:off x="4254500" y="1889125"/>
            <a:ext cx="338138" cy="752475"/>
          </a:xfrm>
          <a:prstGeom prst="straightConnector1">
            <a:avLst/>
          </a:prstGeom>
          <a:ln w="9525" cap="flat" cmpd="sng">
            <a:solidFill>
              <a:schemeClr val="tx1"/>
            </a:solidFill>
            <a:prstDash val="solid"/>
            <a:headEnd type="none" w="med" len="med"/>
            <a:tailEnd type="none" w="med" len="med"/>
          </a:ln>
        </p:spPr>
      </p:cxnSp>
      <p:cxnSp>
        <p:nvCxnSpPr>
          <p:cNvPr id="113691" name="AutoShape 26"/>
          <p:cNvCxnSpPr>
            <a:stCxn id="113685" idx="0"/>
            <a:endCxn id="113684" idx="2"/>
          </p:cNvCxnSpPr>
          <p:nvPr/>
        </p:nvCxnSpPr>
        <p:spPr>
          <a:xfrm flipH="1" flipV="1">
            <a:off x="4592638" y="1889125"/>
            <a:ext cx="423862" cy="752475"/>
          </a:xfrm>
          <a:prstGeom prst="straightConnector1">
            <a:avLst/>
          </a:prstGeom>
          <a:ln w="9525" cap="flat" cmpd="sng">
            <a:solidFill>
              <a:schemeClr val="tx1"/>
            </a:solidFill>
            <a:prstDash val="solid"/>
            <a:headEnd type="none" w="med" len="med"/>
            <a:tailEnd type="none" w="med" len="med"/>
          </a:ln>
        </p:spPr>
      </p:cxnSp>
      <p:cxnSp>
        <p:nvCxnSpPr>
          <p:cNvPr id="113692" name="AutoShape 27"/>
          <p:cNvCxnSpPr>
            <a:stCxn id="113687" idx="0"/>
            <a:endCxn id="113684" idx="2"/>
          </p:cNvCxnSpPr>
          <p:nvPr/>
        </p:nvCxnSpPr>
        <p:spPr>
          <a:xfrm flipH="1" flipV="1">
            <a:off x="4592638" y="1889125"/>
            <a:ext cx="1185862" cy="752475"/>
          </a:xfrm>
          <a:prstGeom prst="straightConnector1">
            <a:avLst/>
          </a:prstGeom>
          <a:ln w="9525" cap="flat" cmpd="sng">
            <a:solidFill>
              <a:schemeClr val="tx1"/>
            </a:solidFill>
            <a:prstDash val="solid"/>
            <a:headEnd type="none" w="med" len="med"/>
            <a:tailEnd type="none" w="med" len="med"/>
          </a:ln>
        </p:spPr>
      </p:cxnSp>
      <p:sp>
        <p:nvSpPr>
          <p:cNvPr id="113693" name="Text Box 28"/>
          <p:cNvSpPr txBox="1"/>
          <p:nvPr/>
        </p:nvSpPr>
        <p:spPr>
          <a:xfrm>
            <a:off x="774700" y="1981200"/>
            <a:ext cx="1581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rgbClr val="FF0000"/>
                </a:solidFill>
                <a:ea typeface="黑体" panose="02010609060101010101" pitchFamily="49" charset="-122"/>
              </a:rPr>
              <a:t>Wrong:</a:t>
            </a:r>
            <a:endParaRPr lang="en-US" altLang="zh-CN" sz="3600" b="0" dirty="0">
              <a:solidFill>
                <a:srgbClr val="FF0000"/>
              </a:solidFill>
              <a:ea typeface="黑体" panose="02010609060101010101" pitchFamily="49" charset="-122"/>
            </a:endParaRPr>
          </a:p>
        </p:txBody>
      </p:sp>
      <p:sp>
        <p:nvSpPr>
          <p:cNvPr id="113694" name="Text Box 29"/>
          <p:cNvSpPr txBox="1"/>
          <p:nvPr/>
        </p:nvSpPr>
        <p:spPr>
          <a:xfrm>
            <a:off x="762000" y="3886200"/>
            <a:ext cx="1327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3600" b="0" dirty="0">
                <a:solidFill>
                  <a:srgbClr val="FF0000"/>
                </a:solidFill>
                <a:ea typeface="黑体" panose="02010609060101010101" pitchFamily="49" charset="-122"/>
              </a:rPr>
              <a:t>Right:</a:t>
            </a:r>
            <a:endParaRPr lang="en-US" altLang="zh-CN" sz="3600" b="0" dirty="0">
              <a:solidFill>
                <a:srgbClr val="FF0000"/>
              </a:solidFill>
              <a:ea typeface="黑体" panose="02010609060101010101" pitchFamily="49" charset="-122"/>
            </a:endParaRPr>
          </a:p>
        </p:txBody>
      </p:sp>
      <p:sp>
        <p:nvSpPr>
          <p:cNvPr id="113695" name="Text Box 30"/>
          <p:cNvSpPr txBox="1"/>
          <p:nvPr/>
        </p:nvSpPr>
        <p:spPr>
          <a:xfrm>
            <a:off x="5867400" y="3200400"/>
            <a:ext cx="27622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chemeClr val="tx1"/>
                </a:solidFill>
                <a:cs typeface="Arial" panose="020B0604020202020204" pitchFamily="34" charset="0"/>
              </a:rPr>
              <a:t>实体 </a:t>
            </a:r>
            <a:r>
              <a:rPr lang="en-US" altLang="zh-CN" sz="3600" b="0" dirty="0">
                <a:solidFill>
                  <a:schemeClr val="tx1"/>
                </a:solidFill>
                <a:cs typeface="Arial" panose="020B0604020202020204" pitchFamily="34" charset="0"/>
              </a:rPr>
              <a:t>vs  </a:t>
            </a:r>
            <a:r>
              <a:rPr lang="zh-CN" altLang="en-US" sz="3600" b="0" dirty="0">
                <a:solidFill>
                  <a:schemeClr val="tx1"/>
                </a:solidFill>
                <a:cs typeface="Arial" panose="020B0604020202020204" pitchFamily="34" charset="0"/>
              </a:rPr>
              <a:t>属性</a:t>
            </a:r>
            <a:endParaRPr lang="zh-CN" altLang="en-US" sz="3600" b="0" dirty="0">
              <a:solidFill>
                <a:schemeClr val="tx1"/>
              </a:solidFill>
              <a:ea typeface="Arial" panose="020B060402020202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469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4692" name="Rectangle 3"/>
          <p:cNvSpPr>
            <a:spLocks noGrp="1"/>
          </p:cNvSpPr>
          <p:nvPr>
            <p:ph idx="1"/>
          </p:nvPr>
        </p:nvSpPr>
        <p:spPr>
          <a:xfrm>
            <a:off x="228600" y="762000"/>
            <a:ext cx="8686800" cy="10668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r>
              <a:rPr lang="en-US" altLang="zh-CN" dirty="0"/>
              <a:t>:</a:t>
            </a:r>
            <a:endParaRPr lang="en-US" altLang="zh-CN" dirty="0"/>
          </a:p>
          <a:p>
            <a:pPr marL="990600" lvl="1" indent="-533400">
              <a:spcBef>
                <a:spcPct val="0"/>
              </a:spcBef>
              <a:buClrTx/>
              <a:buNone/>
            </a:pPr>
            <a:r>
              <a:rPr lang="en-US" altLang="zh-CN" sz="2400" dirty="0"/>
              <a:t> </a:t>
            </a:r>
            <a:r>
              <a:rPr lang="zh-CN" altLang="en-US" sz="2400" dirty="0"/>
              <a:t>实体有多方面性质，属性没有</a:t>
            </a:r>
            <a:endParaRPr lang="zh-CN" altLang="en-US" sz="2400" dirty="0"/>
          </a:p>
        </p:txBody>
      </p:sp>
      <p:grpSp>
        <p:nvGrpSpPr>
          <p:cNvPr id="114693" name="Group 4"/>
          <p:cNvGrpSpPr/>
          <p:nvPr/>
        </p:nvGrpSpPr>
        <p:grpSpPr>
          <a:xfrm>
            <a:off x="2895600" y="1828800"/>
            <a:ext cx="3276600" cy="1781175"/>
            <a:chOff x="1632" y="1440"/>
            <a:chExt cx="2064" cy="1122"/>
          </a:xfrm>
        </p:grpSpPr>
        <p:sp>
          <p:nvSpPr>
            <p:cNvPr id="114709" name="Text Box 5"/>
            <p:cNvSpPr txBox="1"/>
            <p:nvPr/>
          </p:nvSpPr>
          <p:spPr>
            <a:xfrm>
              <a:off x="2393" y="2217"/>
              <a:ext cx="582" cy="345"/>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a:spcBef>
                  <a:spcPct val="50000"/>
                </a:spcBef>
                <a:buClrTx/>
                <a:buFontTx/>
                <a:buNone/>
              </a:pPr>
              <a:r>
                <a:rPr lang="zh-CN" altLang="en-US" sz="2800" dirty="0">
                  <a:solidFill>
                    <a:schemeClr val="tx2"/>
                  </a:solidFill>
                  <a:ea typeface="华文新魏" panose="02010800040101010101" pitchFamily="2" charset="-122"/>
                </a:rPr>
                <a:t>项目</a:t>
              </a:r>
              <a:endParaRPr lang="zh-CN" altLang="en-US" sz="4400" b="0" dirty="0">
                <a:solidFill>
                  <a:schemeClr val="tx2"/>
                </a:solidFill>
                <a:ea typeface="华文新魏" panose="02010800040101010101" pitchFamily="2" charset="-122"/>
              </a:endParaRPr>
            </a:p>
          </p:txBody>
        </p:sp>
        <p:sp>
          <p:nvSpPr>
            <p:cNvPr id="114710" name="Oval 6" descr="Large confetti"/>
            <p:cNvSpPr/>
            <p:nvPr/>
          </p:nvSpPr>
          <p:spPr>
            <a:xfrm>
              <a:off x="1632" y="1440"/>
              <a:ext cx="816"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名称</a:t>
              </a:r>
              <a:endParaRPr lang="zh-CN" altLang="en-US" sz="2800" dirty="0">
                <a:solidFill>
                  <a:schemeClr val="tx2"/>
                </a:solidFill>
                <a:ea typeface="华文新魏" panose="02010800040101010101" pitchFamily="2" charset="-122"/>
              </a:endParaRPr>
            </a:p>
          </p:txBody>
        </p:sp>
        <p:sp>
          <p:nvSpPr>
            <p:cNvPr id="114711" name="Oval 7" descr="Large confetti"/>
            <p:cNvSpPr/>
            <p:nvPr/>
          </p:nvSpPr>
          <p:spPr>
            <a:xfrm>
              <a:off x="2736" y="1440"/>
              <a:ext cx="960"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城市</a:t>
              </a:r>
              <a:endParaRPr lang="zh-CN" altLang="en-US" sz="2800" dirty="0">
                <a:solidFill>
                  <a:schemeClr val="tx2"/>
                </a:solidFill>
                <a:ea typeface="华文新魏" panose="02010800040101010101" pitchFamily="2" charset="-122"/>
              </a:endParaRPr>
            </a:p>
          </p:txBody>
        </p:sp>
        <p:sp>
          <p:nvSpPr>
            <p:cNvPr id="114712" name="Line 8"/>
            <p:cNvSpPr/>
            <p:nvPr/>
          </p:nvSpPr>
          <p:spPr>
            <a:xfrm flipH="1">
              <a:off x="2784" y="1872"/>
              <a:ext cx="432" cy="336"/>
            </a:xfrm>
            <a:prstGeom prst="line">
              <a:avLst/>
            </a:prstGeom>
            <a:ln w="28575" cap="sq" cmpd="sng">
              <a:solidFill>
                <a:schemeClr val="tx1"/>
              </a:solidFill>
              <a:prstDash val="solid"/>
              <a:headEnd type="none" w="sm" len="sm"/>
              <a:tailEnd type="none" w="sm" len="sm"/>
            </a:ln>
          </p:spPr>
        </p:sp>
        <p:sp>
          <p:nvSpPr>
            <p:cNvPr id="114713" name="Line 9"/>
            <p:cNvSpPr/>
            <p:nvPr/>
          </p:nvSpPr>
          <p:spPr>
            <a:xfrm flipH="1" flipV="1">
              <a:off x="2064" y="1872"/>
              <a:ext cx="528" cy="336"/>
            </a:xfrm>
            <a:prstGeom prst="line">
              <a:avLst/>
            </a:prstGeom>
            <a:ln w="28575" cap="sq" cmpd="sng">
              <a:solidFill>
                <a:schemeClr val="tx1"/>
              </a:solidFill>
              <a:prstDash val="solid"/>
              <a:headEnd type="none" w="sm" len="sm"/>
              <a:tailEnd type="none" w="sm" len="sm"/>
            </a:ln>
          </p:spPr>
        </p:sp>
      </p:grpSp>
      <p:grpSp>
        <p:nvGrpSpPr>
          <p:cNvPr id="114694" name="Group 10"/>
          <p:cNvGrpSpPr/>
          <p:nvPr/>
        </p:nvGrpSpPr>
        <p:grpSpPr>
          <a:xfrm>
            <a:off x="1219200" y="4114800"/>
            <a:ext cx="6705600" cy="2209800"/>
            <a:chOff x="1104" y="2784"/>
            <a:chExt cx="4224" cy="1392"/>
          </a:xfrm>
        </p:grpSpPr>
        <p:sp>
          <p:nvSpPr>
            <p:cNvPr id="114696" name="Text Box 11"/>
            <p:cNvSpPr txBox="1"/>
            <p:nvPr/>
          </p:nvSpPr>
          <p:spPr>
            <a:xfrm>
              <a:off x="1104" y="3609"/>
              <a:ext cx="768" cy="345"/>
            </a:xfrm>
            <a:prstGeom prst="rect">
              <a:avLst/>
            </a:prstGeom>
            <a:solidFill>
              <a:srgbClr val="33CCCC"/>
            </a:solid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tx1"/>
                  </a:solidFill>
                  <a:ea typeface="华文新魏" panose="02010800040101010101" pitchFamily="2" charset="-122"/>
                </a:rPr>
                <a:t>项目</a:t>
              </a:r>
              <a:endParaRPr lang="zh-CN" altLang="en-US" sz="2400" b="0" dirty="0">
                <a:solidFill>
                  <a:schemeClr val="tx1"/>
                </a:solidFill>
                <a:ea typeface="华文新魏" panose="02010800040101010101" pitchFamily="2" charset="-122"/>
              </a:endParaRPr>
            </a:p>
          </p:txBody>
        </p:sp>
        <p:sp>
          <p:nvSpPr>
            <p:cNvPr id="114697" name="Text Box 12"/>
            <p:cNvSpPr txBox="1"/>
            <p:nvPr/>
          </p:nvSpPr>
          <p:spPr>
            <a:xfrm>
              <a:off x="3696" y="3609"/>
              <a:ext cx="672" cy="345"/>
            </a:xfrm>
            <a:prstGeom prst="rect">
              <a:avLst/>
            </a:prstGeom>
            <a:solidFill>
              <a:srgbClr val="33CCCC"/>
            </a:solid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tx1"/>
                  </a:solidFill>
                  <a:ea typeface="华文新魏" panose="02010800040101010101" pitchFamily="2" charset="-122"/>
                </a:rPr>
                <a:t>城市</a:t>
              </a:r>
              <a:endParaRPr lang="zh-CN" altLang="en-US" sz="2400" b="0" dirty="0">
                <a:solidFill>
                  <a:schemeClr val="tx1"/>
                </a:solidFill>
                <a:ea typeface="华文新魏" panose="02010800040101010101" pitchFamily="2" charset="-122"/>
              </a:endParaRPr>
            </a:p>
          </p:txBody>
        </p:sp>
        <p:sp>
          <p:nvSpPr>
            <p:cNvPr id="114698" name="Line 13"/>
            <p:cNvSpPr/>
            <p:nvPr/>
          </p:nvSpPr>
          <p:spPr>
            <a:xfrm>
              <a:off x="1872" y="3744"/>
              <a:ext cx="480" cy="0"/>
            </a:xfrm>
            <a:prstGeom prst="line">
              <a:avLst/>
            </a:prstGeom>
            <a:ln w="28575" cap="flat" cmpd="sng">
              <a:solidFill>
                <a:schemeClr val="tx1"/>
              </a:solidFill>
              <a:prstDash val="solid"/>
              <a:headEnd type="none" w="med" len="med"/>
              <a:tailEnd type="none" w="med" len="med"/>
            </a:ln>
          </p:spPr>
        </p:sp>
        <p:sp>
          <p:nvSpPr>
            <p:cNvPr id="114699" name="Line 14"/>
            <p:cNvSpPr/>
            <p:nvPr/>
          </p:nvSpPr>
          <p:spPr>
            <a:xfrm>
              <a:off x="3216" y="3744"/>
              <a:ext cx="480" cy="0"/>
            </a:xfrm>
            <a:prstGeom prst="line">
              <a:avLst/>
            </a:prstGeom>
            <a:ln w="28575" cap="flat" cmpd="sng">
              <a:solidFill>
                <a:schemeClr val="tx1"/>
              </a:solidFill>
              <a:prstDash val="solid"/>
              <a:headEnd type="none" w="med" len="med"/>
              <a:tailEnd type="none" w="med" len="med"/>
            </a:ln>
          </p:spPr>
        </p:sp>
        <p:sp>
          <p:nvSpPr>
            <p:cNvPr id="114700" name="AutoShape 15"/>
            <p:cNvSpPr/>
            <p:nvPr/>
          </p:nvSpPr>
          <p:spPr>
            <a:xfrm>
              <a:off x="2352" y="3360"/>
              <a:ext cx="864" cy="816"/>
            </a:xfrm>
            <a:prstGeom prst="diamond">
              <a:avLst/>
            </a:prstGeom>
            <a:solidFill>
              <a:srgbClr val="33CCCC"/>
            </a:solid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1"/>
                  </a:solidFill>
                  <a:ea typeface="华文新魏" panose="02010800040101010101" pitchFamily="2" charset="-122"/>
                </a:rPr>
                <a:t>位于</a:t>
              </a:r>
              <a:endParaRPr lang="zh-CN" altLang="en-US" sz="2800" dirty="0">
                <a:solidFill>
                  <a:schemeClr val="tx1"/>
                </a:solidFill>
                <a:ea typeface="华文新魏" panose="02010800040101010101" pitchFamily="2" charset="-122"/>
              </a:endParaRPr>
            </a:p>
          </p:txBody>
        </p:sp>
        <p:sp>
          <p:nvSpPr>
            <p:cNvPr id="114701" name="Oval 16" descr="Large confetti"/>
            <p:cNvSpPr/>
            <p:nvPr/>
          </p:nvSpPr>
          <p:spPr>
            <a:xfrm>
              <a:off x="1104" y="2784"/>
              <a:ext cx="816"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名称</a:t>
              </a:r>
              <a:endParaRPr lang="zh-CN" altLang="en-US" sz="2800" dirty="0">
                <a:solidFill>
                  <a:schemeClr val="tx2"/>
                </a:solidFill>
                <a:ea typeface="华文新魏" panose="02010800040101010101" pitchFamily="2" charset="-122"/>
              </a:endParaRPr>
            </a:p>
          </p:txBody>
        </p:sp>
        <p:sp>
          <p:nvSpPr>
            <p:cNvPr id="114702" name="Line 17"/>
            <p:cNvSpPr/>
            <p:nvPr/>
          </p:nvSpPr>
          <p:spPr>
            <a:xfrm flipH="1" flipV="1">
              <a:off x="1536" y="3216"/>
              <a:ext cx="0" cy="384"/>
            </a:xfrm>
            <a:prstGeom prst="line">
              <a:avLst/>
            </a:prstGeom>
            <a:ln w="28575" cap="sq" cmpd="sng">
              <a:solidFill>
                <a:schemeClr val="tx1"/>
              </a:solidFill>
              <a:prstDash val="solid"/>
              <a:headEnd type="none" w="sm" len="sm"/>
              <a:tailEnd type="none" w="sm" len="sm"/>
            </a:ln>
          </p:spPr>
        </p:sp>
        <p:sp>
          <p:nvSpPr>
            <p:cNvPr id="114703" name="Oval 18" descr="Large confetti"/>
            <p:cNvSpPr/>
            <p:nvPr/>
          </p:nvSpPr>
          <p:spPr>
            <a:xfrm>
              <a:off x="2784" y="2823"/>
              <a:ext cx="816"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名称</a:t>
              </a:r>
              <a:endParaRPr lang="zh-CN" altLang="en-US" sz="2800" dirty="0">
                <a:solidFill>
                  <a:schemeClr val="tx2"/>
                </a:solidFill>
                <a:ea typeface="华文新魏" panose="02010800040101010101" pitchFamily="2" charset="-122"/>
              </a:endParaRPr>
            </a:p>
          </p:txBody>
        </p:sp>
        <p:sp>
          <p:nvSpPr>
            <p:cNvPr id="114704" name="Line 19"/>
            <p:cNvSpPr/>
            <p:nvPr/>
          </p:nvSpPr>
          <p:spPr>
            <a:xfrm flipH="1" flipV="1">
              <a:off x="3216" y="3255"/>
              <a:ext cx="624" cy="345"/>
            </a:xfrm>
            <a:prstGeom prst="line">
              <a:avLst/>
            </a:prstGeom>
            <a:ln w="28575" cap="sq" cmpd="sng">
              <a:solidFill>
                <a:schemeClr val="tx1"/>
              </a:solidFill>
              <a:prstDash val="solid"/>
              <a:headEnd type="none" w="sm" len="sm"/>
              <a:tailEnd type="none" w="sm" len="sm"/>
            </a:ln>
          </p:spPr>
        </p:sp>
        <p:sp>
          <p:nvSpPr>
            <p:cNvPr id="114705" name="Oval 20" descr="Large confetti"/>
            <p:cNvSpPr/>
            <p:nvPr/>
          </p:nvSpPr>
          <p:spPr>
            <a:xfrm>
              <a:off x="3648" y="2832"/>
              <a:ext cx="816"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面积</a:t>
              </a:r>
              <a:endParaRPr lang="zh-CN" altLang="en-US" sz="2800" dirty="0">
                <a:solidFill>
                  <a:schemeClr val="tx2"/>
                </a:solidFill>
                <a:ea typeface="华文新魏" panose="02010800040101010101" pitchFamily="2" charset="-122"/>
              </a:endParaRPr>
            </a:p>
          </p:txBody>
        </p:sp>
        <p:sp>
          <p:nvSpPr>
            <p:cNvPr id="114706" name="Line 21"/>
            <p:cNvSpPr/>
            <p:nvPr/>
          </p:nvSpPr>
          <p:spPr>
            <a:xfrm flipV="1">
              <a:off x="4032" y="3264"/>
              <a:ext cx="0" cy="336"/>
            </a:xfrm>
            <a:prstGeom prst="line">
              <a:avLst/>
            </a:prstGeom>
            <a:ln w="28575" cap="sq" cmpd="sng">
              <a:solidFill>
                <a:schemeClr val="tx1"/>
              </a:solidFill>
              <a:prstDash val="solid"/>
              <a:headEnd type="none" w="sm" len="sm"/>
              <a:tailEnd type="none" w="sm" len="sm"/>
            </a:ln>
          </p:spPr>
        </p:sp>
        <p:sp>
          <p:nvSpPr>
            <p:cNvPr id="114707" name="Oval 22" descr="Large confetti"/>
            <p:cNvSpPr/>
            <p:nvPr/>
          </p:nvSpPr>
          <p:spPr>
            <a:xfrm>
              <a:off x="4512" y="2832"/>
              <a:ext cx="816" cy="432"/>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人口</a:t>
              </a:r>
              <a:endParaRPr lang="zh-CN" altLang="en-US" sz="2800" dirty="0">
                <a:solidFill>
                  <a:schemeClr val="tx2"/>
                </a:solidFill>
                <a:ea typeface="华文新魏" panose="02010800040101010101" pitchFamily="2" charset="-122"/>
              </a:endParaRPr>
            </a:p>
          </p:txBody>
        </p:sp>
        <p:sp>
          <p:nvSpPr>
            <p:cNvPr id="114708" name="Line 23"/>
            <p:cNvSpPr/>
            <p:nvPr/>
          </p:nvSpPr>
          <p:spPr>
            <a:xfrm flipV="1">
              <a:off x="4224" y="3264"/>
              <a:ext cx="528" cy="336"/>
            </a:xfrm>
            <a:prstGeom prst="line">
              <a:avLst/>
            </a:prstGeom>
            <a:ln w="28575" cap="sq" cmpd="sng">
              <a:solidFill>
                <a:schemeClr val="tx1"/>
              </a:solidFill>
              <a:prstDash val="solid"/>
              <a:headEnd type="none" w="sm" len="sm"/>
              <a:tailEnd type="none" w="sm" len="sm"/>
            </a:ln>
          </p:spPr>
        </p:sp>
      </p:grpSp>
      <p:sp>
        <p:nvSpPr>
          <p:cNvPr id="114695" name="Text Box 24"/>
          <p:cNvSpPr txBox="1"/>
          <p:nvPr/>
        </p:nvSpPr>
        <p:spPr>
          <a:xfrm>
            <a:off x="5867400" y="3200400"/>
            <a:ext cx="27622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chemeClr val="tx1"/>
                </a:solidFill>
                <a:cs typeface="Arial" panose="020B0604020202020204" pitchFamily="34" charset="0"/>
              </a:rPr>
              <a:t>实体 </a:t>
            </a:r>
            <a:r>
              <a:rPr lang="en-US" altLang="zh-CN" sz="3600" b="0" dirty="0">
                <a:solidFill>
                  <a:schemeClr val="tx1"/>
                </a:solidFill>
                <a:cs typeface="Arial" panose="020B0604020202020204" pitchFamily="34" charset="0"/>
              </a:rPr>
              <a:t>vs  </a:t>
            </a:r>
            <a:r>
              <a:rPr lang="zh-CN" altLang="en-US" sz="3600" b="0" dirty="0">
                <a:solidFill>
                  <a:schemeClr val="tx1"/>
                </a:solidFill>
                <a:cs typeface="Arial" panose="020B0604020202020204" pitchFamily="34" charset="0"/>
              </a:rPr>
              <a:t>属性</a:t>
            </a:r>
            <a:endParaRPr lang="zh-CN" altLang="en-US" sz="3600" b="0" dirty="0">
              <a:solidFill>
                <a:schemeClr val="tx1"/>
              </a:solidFill>
              <a:ea typeface="Arial" panose="020B0604020202020204" pitchFamily="3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571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5716" name="Rectangle 3"/>
          <p:cNvSpPr>
            <a:spLocks noGrp="1"/>
          </p:cNvSpPr>
          <p:nvPr>
            <p:ph idx="1"/>
          </p:nvPr>
        </p:nvSpPr>
        <p:spPr>
          <a:xfrm>
            <a:off x="228600" y="762000"/>
            <a:ext cx="8534400" cy="5486400"/>
          </a:xfrm>
          <a:ln/>
        </p:spPr>
        <p:txBody>
          <a:bodyPr vert="horz" wrap="square" lIns="91440" tIns="45720" rIns="91440" bIns="45720" anchor="t" anchorCtr="0"/>
          <a:p>
            <a:pPr marL="609600" indent="-609600">
              <a:lnSpc>
                <a:spcPct val="90000"/>
              </a:lnSpc>
              <a:spcBef>
                <a:spcPct val="0"/>
              </a:spcBef>
              <a:buClrTx/>
            </a:pPr>
            <a:r>
              <a:rPr lang="en-US" altLang="zh-CN" dirty="0"/>
              <a:t>E-R</a:t>
            </a:r>
            <a:r>
              <a:rPr lang="zh-CN" altLang="en-US" dirty="0"/>
              <a:t>方法举例</a:t>
            </a:r>
            <a:r>
              <a:rPr lang="en-US" altLang="zh-CN" dirty="0"/>
              <a:t>– </a:t>
            </a:r>
            <a:r>
              <a:rPr lang="zh-CN" altLang="en-US" dirty="0"/>
              <a:t>某工厂物资管理</a:t>
            </a:r>
            <a:endParaRPr lang="en-US" altLang="zh-CN" dirty="0"/>
          </a:p>
          <a:p>
            <a:pPr marL="990600" lvl="1" indent="-533400" eaLnBrk="1" hangingPunct="1">
              <a:lnSpc>
                <a:spcPct val="90000"/>
              </a:lnSpc>
            </a:pPr>
            <a:r>
              <a:rPr lang="zh-CN" altLang="en-US" dirty="0"/>
              <a:t>实体</a:t>
            </a:r>
            <a:endParaRPr lang="zh-CN" altLang="en-US" dirty="0"/>
          </a:p>
          <a:p>
            <a:pPr marL="1371600" lvl="2" indent="-457200" eaLnBrk="1" hangingPunct="1">
              <a:lnSpc>
                <a:spcPct val="90000"/>
              </a:lnSpc>
              <a:buClr>
                <a:schemeClr val="tx1"/>
              </a:buClr>
            </a:pPr>
            <a:r>
              <a:rPr lang="zh-CN" altLang="en-US" dirty="0"/>
              <a:t>仓库      </a:t>
            </a:r>
            <a:r>
              <a:rPr lang="en-US" altLang="zh-CN" dirty="0"/>
              <a:t>(</a:t>
            </a:r>
            <a:r>
              <a:rPr lang="zh-CN" altLang="en-US" dirty="0"/>
              <a:t>仓库号，面积，电话号码</a:t>
            </a:r>
            <a:r>
              <a:rPr lang="en-US" altLang="zh-CN" dirty="0"/>
              <a:t>)</a:t>
            </a:r>
            <a:endParaRPr lang="en-US" altLang="zh-CN" dirty="0"/>
          </a:p>
          <a:p>
            <a:pPr marL="1371600" lvl="2" indent="-457200" eaLnBrk="1" hangingPunct="1">
              <a:lnSpc>
                <a:spcPct val="90000"/>
              </a:lnSpc>
              <a:buClr>
                <a:schemeClr val="tx1"/>
              </a:buClr>
            </a:pPr>
            <a:r>
              <a:rPr lang="zh-CN" altLang="en-US" dirty="0"/>
              <a:t>零件      </a:t>
            </a:r>
            <a:r>
              <a:rPr lang="en-US" altLang="zh-CN" dirty="0"/>
              <a:t>(</a:t>
            </a:r>
            <a:r>
              <a:rPr lang="zh-CN" altLang="en-US" dirty="0"/>
              <a:t>零件号，名称，规格，单价，描述</a:t>
            </a:r>
            <a:r>
              <a:rPr lang="en-US" altLang="zh-CN" dirty="0"/>
              <a:t>)</a:t>
            </a:r>
            <a:endParaRPr lang="en-US" altLang="zh-CN" dirty="0"/>
          </a:p>
          <a:p>
            <a:pPr marL="1371600" lvl="2" indent="-457200" eaLnBrk="1" hangingPunct="1">
              <a:lnSpc>
                <a:spcPct val="90000"/>
              </a:lnSpc>
              <a:buClr>
                <a:schemeClr val="tx1"/>
              </a:buClr>
            </a:pPr>
            <a:r>
              <a:rPr lang="zh-CN" altLang="en-US" dirty="0"/>
              <a:t>供应商  </a:t>
            </a:r>
            <a:r>
              <a:rPr lang="en-US" altLang="zh-CN" dirty="0"/>
              <a:t>(</a:t>
            </a:r>
            <a:r>
              <a:rPr lang="zh-CN" altLang="en-US" dirty="0"/>
              <a:t>编号，姓名，地址，电话号码，账号</a:t>
            </a:r>
            <a:r>
              <a:rPr lang="en-US" altLang="zh-CN" dirty="0"/>
              <a:t>)</a:t>
            </a:r>
            <a:endParaRPr lang="en-US" altLang="zh-CN" dirty="0"/>
          </a:p>
          <a:p>
            <a:pPr marL="1371600" lvl="2" indent="-457200" eaLnBrk="1" hangingPunct="1">
              <a:lnSpc>
                <a:spcPct val="90000"/>
              </a:lnSpc>
              <a:buClr>
                <a:schemeClr val="tx1"/>
              </a:buClr>
            </a:pPr>
            <a:r>
              <a:rPr lang="zh-CN" altLang="en-US" dirty="0"/>
              <a:t>项目      </a:t>
            </a:r>
            <a:r>
              <a:rPr lang="en-US" altLang="zh-CN" dirty="0"/>
              <a:t>(</a:t>
            </a:r>
            <a:r>
              <a:rPr lang="zh-CN" altLang="en-US" dirty="0"/>
              <a:t>项目号，预算，开工日期</a:t>
            </a:r>
            <a:r>
              <a:rPr lang="en-US" altLang="zh-CN" dirty="0"/>
              <a:t>)</a:t>
            </a:r>
            <a:endParaRPr lang="en-US" altLang="zh-CN" dirty="0"/>
          </a:p>
          <a:p>
            <a:pPr marL="1371600" lvl="2" indent="-457200" eaLnBrk="1" hangingPunct="1">
              <a:lnSpc>
                <a:spcPct val="90000"/>
              </a:lnSpc>
              <a:buClr>
                <a:schemeClr val="tx1"/>
              </a:buClr>
            </a:pPr>
            <a:r>
              <a:rPr lang="zh-CN" altLang="en-US" dirty="0"/>
              <a:t>职工      </a:t>
            </a:r>
            <a:r>
              <a:rPr lang="en-US" altLang="zh-CN" dirty="0"/>
              <a:t>(</a:t>
            </a:r>
            <a:r>
              <a:rPr lang="zh-CN" altLang="en-US" dirty="0"/>
              <a:t>工号，姓名，生日，职称</a:t>
            </a:r>
            <a:r>
              <a:rPr lang="en-US" altLang="zh-CN" dirty="0"/>
              <a:t>)</a:t>
            </a:r>
            <a:endParaRPr lang="en-US" altLang="zh-CN" dirty="0"/>
          </a:p>
          <a:p>
            <a:pPr marL="990600" lvl="1" indent="-533400" eaLnBrk="1" hangingPunct="1">
              <a:lnSpc>
                <a:spcPct val="90000"/>
              </a:lnSpc>
            </a:pPr>
            <a:r>
              <a:rPr lang="zh-CN" altLang="en-US" dirty="0"/>
              <a:t>联系</a:t>
            </a:r>
            <a:endParaRPr lang="zh-CN" altLang="en-US" dirty="0"/>
          </a:p>
          <a:p>
            <a:pPr marL="1371600" lvl="2" indent="-457200" eaLnBrk="1" hangingPunct="1">
              <a:lnSpc>
                <a:spcPct val="90000"/>
              </a:lnSpc>
              <a:buClr>
                <a:schemeClr val="tx1"/>
              </a:buClr>
            </a:pPr>
            <a:r>
              <a:rPr lang="zh-CN" altLang="en-US" sz="2000" dirty="0">
                <a:latin typeface="楷体_GB2312" pitchFamily="49" charset="-122"/>
              </a:rPr>
              <a:t>一个仓库可存放多种零件，一种零件可存放在多个仓库中</a:t>
            </a:r>
            <a:endParaRPr lang="zh-CN" altLang="en-US" sz="2000" dirty="0">
              <a:latin typeface="楷体_GB2312" pitchFamily="49" charset="-122"/>
            </a:endParaRPr>
          </a:p>
          <a:p>
            <a:pPr marL="1371600" lvl="2" indent="-457200" eaLnBrk="1" hangingPunct="1">
              <a:lnSpc>
                <a:spcPct val="90000"/>
              </a:lnSpc>
              <a:buClr>
                <a:schemeClr val="tx1"/>
              </a:buClr>
            </a:pPr>
            <a:r>
              <a:rPr lang="zh-CN" altLang="en-US" sz="2000" dirty="0">
                <a:latin typeface="楷体_GB2312" pitchFamily="49" charset="-122"/>
              </a:rPr>
              <a:t>一个仓库有多个职工当仓库保管员，一个职工只能在一个仓库工作</a:t>
            </a:r>
            <a:endParaRPr lang="zh-CN" altLang="en-US" sz="2000" dirty="0">
              <a:latin typeface="楷体_GB2312" pitchFamily="49" charset="-122"/>
            </a:endParaRPr>
          </a:p>
          <a:p>
            <a:pPr marL="1371600" lvl="2" indent="-457200" eaLnBrk="1" hangingPunct="1">
              <a:lnSpc>
                <a:spcPct val="90000"/>
              </a:lnSpc>
              <a:buClr>
                <a:schemeClr val="tx1"/>
              </a:buClr>
            </a:pPr>
            <a:r>
              <a:rPr lang="zh-CN" altLang="en-US" sz="2000" dirty="0">
                <a:latin typeface="楷体_GB2312" pitchFamily="49" charset="-122"/>
              </a:rPr>
              <a:t>职工之间有领导</a:t>
            </a:r>
            <a:r>
              <a:rPr lang="en-US" altLang="zh-CN" sz="2000" dirty="0">
                <a:latin typeface="楷体_GB2312" pitchFamily="49" charset="-122"/>
              </a:rPr>
              <a:t>-</a:t>
            </a:r>
            <a:r>
              <a:rPr lang="zh-CN" altLang="en-US" sz="2000" dirty="0">
                <a:latin typeface="楷体_GB2312" pitchFamily="49" charset="-122"/>
              </a:rPr>
              <a:t>被领导关系。仓管主任领导若干保管员</a:t>
            </a:r>
            <a:endParaRPr lang="zh-CN" altLang="en-US" sz="2000" dirty="0">
              <a:latin typeface="楷体_GB2312" pitchFamily="49" charset="-122"/>
            </a:endParaRPr>
          </a:p>
          <a:p>
            <a:pPr marL="1371600" lvl="2" indent="-457200" eaLnBrk="1" hangingPunct="1">
              <a:lnSpc>
                <a:spcPct val="90000"/>
              </a:lnSpc>
              <a:buClr>
                <a:schemeClr val="tx1"/>
              </a:buClr>
            </a:pPr>
            <a:r>
              <a:rPr lang="zh-CN" altLang="en-US" sz="2000" dirty="0">
                <a:latin typeface="楷体_GB2312" pitchFamily="49" charset="-122"/>
              </a:rPr>
              <a:t>供应商、项目、零件三者之间具有多对多关系</a:t>
            </a:r>
            <a:endParaRPr lang="zh-CN" altLang="en-US" sz="2000" dirty="0">
              <a:latin typeface="楷体_GB2312" pitchFamily="49" charset="-122"/>
            </a:endParaRPr>
          </a:p>
          <a:p>
            <a:pPr marL="1371600" lvl="2" indent="-457200" eaLnBrk="1" hangingPunct="1">
              <a:lnSpc>
                <a:spcPct val="90000"/>
              </a:lnSpc>
              <a:buClr>
                <a:schemeClr val="tx1"/>
              </a:buClr>
            </a:pP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673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pic>
        <p:nvPicPr>
          <p:cNvPr id="116740" name="Picture 5" descr="实例2"/>
          <p:cNvPicPr>
            <a:picLocks noChangeAspect="1"/>
          </p:cNvPicPr>
          <p:nvPr/>
        </p:nvPicPr>
        <p:blipFill>
          <a:blip r:embed="rId1"/>
          <a:stretch>
            <a:fillRect/>
          </a:stretch>
        </p:blipFill>
        <p:spPr>
          <a:xfrm>
            <a:off x="831850" y="1268413"/>
            <a:ext cx="7620000" cy="4848225"/>
          </a:xfrm>
          <a:prstGeom prst="rect">
            <a:avLst/>
          </a:prstGeom>
          <a:noFill/>
          <a:ln w="9525">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776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7764" name="Rectangle 3"/>
          <p:cNvSpPr>
            <a:spLocks noGrp="1"/>
          </p:cNvSpPr>
          <p:nvPr>
            <p:ph idx="1"/>
          </p:nvPr>
        </p:nvSpPr>
        <p:spPr>
          <a:xfrm>
            <a:off x="381000" y="1066800"/>
            <a:ext cx="8382000" cy="4953000"/>
          </a:xfrm>
          <a:ln/>
        </p:spPr>
        <p:txBody>
          <a:bodyPr vert="horz" wrap="square" lIns="91440" tIns="45720" rIns="91440" bIns="45720" anchor="t" anchorCtr="0"/>
          <a:p>
            <a:pPr marL="609600" indent="-609600">
              <a:spcBef>
                <a:spcPct val="0"/>
              </a:spcBef>
              <a:buClrTx/>
            </a:pPr>
            <a:r>
              <a:rPr lang="en-US" altLang="zh-CN" dirty="0"/>
              <a:t>E-R</a:t>
            </a:r>
            <a:r>
              <a:rPr lang="zh-CN" altLang="en-US" dirty="0"/>
              <a:t>图设计</a:t>
            </a:r>
            <a:r>
              <a:rPr lang="en-US" altLang="zh-CN" dirty="0"/>
              <a:t>:</a:t>
            </a:r>
            <a:r>
              <a:rPr lang="zh-CN" altLang="en-US" dirty="0"/>
              <a:t>动手练习</a:t>
            </a:r>
            <a:endParaRPr lang="zh-CN" altLang="en-US" dirty="0"/>
          </a:p>
          <a:p>
            <a:pPr marL="990600" lvl="1" indent="-533400" eaLnBrk="1" hangingPunct="1"/>
            <a:r>
              <a:rPr lang="zh-CN" altLang="en-US" dirty="0"/>
              <a:t>酒吧、啤酒</a:t>
            </a:r>
            <a:endParaRPr lang="zh-CN" altLang="en-US" dirty="0"/>
          </a:p>
          <a:p>
            <a:pPr marL="1371600" lvl="2" indent="-457200" eaLnBrk="1" hangingPunct="1">
              <a:buClr>
                <a:schemeClr val="tx1"/>
              </a:buClr>
            </a:pPr>
            <a:r>
              <a:rPr lang="zh-CN" altLang="en-US" dirty="0">
                <a:ea typeface="宋体" panose="02010600030101010101" pitchFamily="2" charset="-122"/>
              </a:rPr>
              <a:t>酒吧</a:t>
            </a:r>
            <a:r>
              <a:rPr lang="en-US" altLang="zh-CN" dirty="0">
                <a:ea typeface="宋体" panose="02010600030101010101" pitchFamily="2" charset="-122"/>
              </a:rPr>
              <a:t>(</a:t>
            </a:r>
            <a:r>
              <a:rPr lang="zh-CN" altLang="en-US" dirty="0">
                <a:ea typeface="宋体" panose="02010600030101010101" pitchFamily="2" charset="-122"/>
              </a:rPr>
              <a:t>名称，地址</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ea typeface="宋体" panose="02010600030101010101" pitchFamily="2" charset="-122"/>
              </a:rPr>
              <a:t>啤酒</a:t>
            </a:r>
            <a:r>
              <a:rPr lang="en-US" altLang="zh-CN" dirty="0">
                <a:ea typeface="宋体" panose="02010600030101010101" pitchFamily="2" charset="-122"/>
              </a:rPr>
              <a:t>(</a:t>
            </a:r>
            <a:r>
              <a:rPr lang="zh-CN" altLang="en-US" dirty="0">
                <a:ea typeface="宋体" panose="02010600030101010101" pitchFamily="2" charset="-122"/>
              </a:rPr>
              <a:t>名称，厂家</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solidFill>
                  <a:schemeClr val="accent2"/>
                </a:solidFill>
              </a:rPr>
              <a:t>考虑两实体间可能的联系，并请考虑啤酒的价格</a:t>
            </a:r>
            <a:endParaRPr lang="zh-CN" altLang="en-US" dirty="0"/>
          </a:p>
          <a:p>
            <a:pPr marL="990600" lvl="1" indent="-533400" eaLnBrk="1" hangingPunct="1">
              <a:spcBef>
                <a:spcPct val="0"/>
              </a:spcBef>
            </a:pPr>
            <a:r>
              <a:rPr lang="zh-CN" altLang="en-US" dirty="0"/>
              <a:t>演员、制片公司、电影</a:t>
            </a:r>
            <a:endParaRPr lang="zh-CN" altLang="en-US" dirty="0"/>
          </a:p>
          <a:p>
            <a:pPr marL="1371600" lvl="2" indent="-457200" eaLnBrk="1" hangingPunct="1">
              <a:spcBef>
                <a:spcPct val="0"/>
              </a:spcBef>
              <a:buClr>
                <a:schemeClr val="tx1"/>
              </a:buClr>
            </a:pPr>
            <a:r>
              <a:rPr lang="zh-CN" altLang="en-US" dirty="0">
                <a:ea typeface="宋体" panose="02010600030101010101" pitchFamily="2" charset="-122"/>
              </a:rPr>
              <a:t>演员</a:t>
            </a:r>
            <a:r>
              <a:rPr lang="en-US" altLang="zh-CN" dirty="0">
                <a:ea typeface="宋体" panose="02010600030101010101" pitchFamily="2" charset="-122"/>
              </a:rPr>
              <a:t>(</a:t>
            </a:r>
            <a:r>
              <a:rPr lang="zh-CN" altLang="en-US" dirty="0">
                <a:ea typeface="宋体" panose="02010600030101010101" pitchFamily="2" charset="-122"/>
              </a:rPr>
              <a:t>姓名，性别，出生日期，联系地址</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ea typeface="宋体" panose="02010600030101010101" pitchFamily="2" charset="-122"/>
              </a:rPr>
              <a:t>制片公司</a:t>
            </a:r>
            <a:r>
              <a:rPr lang="en-US" altLang="zh-CN" dirty="0">
                <a:ea typeface="宋体" panose="02010600030101010101" pitchFamily="2" charset="-122"/>
              </a:rPr>
              <a:t>(</a:t>
            </a:r>
            <a:r>
              <a:rPr lang="zh-CN" altLang="en-US" dirty="0">
                <a:ea typeface="宋体" panose="02010600030101010101" pitchFamily="2" charset="-122"/>
              </a:rPr>
              <a:t>名称，地址</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ea typeface="宋体" panose="02010600030101010101" pitchFamily="2" charset="-122"/>
              </a:rPr>
              <a:t>电影</a:t>
            </a:r>
            <a:r>
              <a:rPr lang="en-US" altLang="zh-CN" dirty="0">
                <a:ea typeface="宋体" panose="02010600030101010101" pitchFamily="2" charset="-122"/>
              </a:rPr>
              <a:t>(</a:t>
            </a:r>
            <a:r>
              <a:rPr lang="zh-CN" altLang="en-US" dirty="0">
                <a:ea typeface="宋体" panose="02010600030101010101" pitchFamily="2" charset="-122"/>
              </a:rPr>
              <a:t>片名，导演，片长，类型</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solidFill>
                  <a:schemeClr val="accent2"/>
                </a:solidFill>
              </a:rPr>
              <a:t>考虑三实体间可能的联系，并请考虑演员的片酬</a:t>
            </a:r>
            <a:endParaRPr lang="zh-CN" altLang="en-US" dirty="0">
              <a:solidFill>
                <a:schemeClr val="accent2"/>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878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8788"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方法举例：酒吧、啤酒</a:t>
            </a:r>
            <a:endParaRPr lang="zh-CN" altLang="en-US" dirty="0"/>
          </a:p>
        </p:txBody>
      </p:sp>
      <p:grpSp>
        <p:nvGrpSpPr>
          <p:cNvPr id="118789" name="Group 4"/>
          <p:cNvGrpSpPr/>
          <p:nvPr/>
        </p:nvGrpSpPr>
        <p:grpSpPr>
          <a:xfrm>
            <a:off x="1701800" y="1917700"/>
            <a:ext cx="5448300" cy="2578100"/>
            <a:chOff x="1072" y="1352"/>
            <a:chExt cx="3432" cy="1624"/>
          </a:xfrm>
        </p:grpSpPr>
        <p:sp>
          <p:nvSpPr>
            <p:cNvPr id="118791" name="AutoShape 5"/>
            <p:cNvSpPr/>
            <p:nvPr/>
          </p:nvSpPr>
          <p:spPr>
            <a:xfrm>
              <a:off x="2400" y="1848"/>
              <a:ext cx="816" cy="384"/>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供应</a:t>
              </a:r>
              <a:endParaRPr lang="zh-CN" altLang="en-US" sz="2400" b="0" dirty="0">
                <a:solidFill>
                  <a:schemeClr val="tx1"/>
                </a:solidFill>
                <a:ea typeface="Arial" panose="020B0604020202020204" pitchFamily="34" charset="0"/>
              </a:endParaRPr>
            </a:p>
          </p:txBody>
        </p:sp>
        <p:cxnSp>
          <p:nvCxnSpPr>
            <p:cNvPr id="118792" name="AutoShape 6"/>
            <p:cNvCxnSpPr>
              <a:stCxn id="118793" idx="1"/>
              <a:endCxn id="118791" idx="3"/>
            </p:cNvCxnSpPr>
            <p:nvPr/>
          </p:nvCxnSpPr>
          <p:spPr>
            <a:xfrm flipH="1">
              <a:off x="3216" y="2040"/>
              <a:ext cx="464" cy="0"/>
            </a:xfrm>
            <a:prstGeom prst="straightConnector1">
              <a:avLst/>
            </a:prstGeom>
            <a:ln w="9525" cap="flat" cmpd="sng">
              <a:solidFill>
                <a:schemeClr val="tx1"/>
              </a:solidFill>
              <a:prstDash val="solid"/>
              <a:headEnd type="none" w="med" len="med"/>
              <a:tailEnd type="none" w="med" len="med"/>
            </a:ln>
          </p:spPr>
        </p:cxnSp>
        <p:sp>
          <p:nvSpPr>
            <p:cNvPr id="118793" name="Text Box 7"/>
            <p:cNvSpPr txBox="1"/>
            <p:nvPr/>
          </p:nvSpPr>
          <p:spPr>
            <a:xfrm>
              <a:off x="3680" y="1912"/>
              <a:ext cx="682" cy="256"/>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啤酒</a:t>
              </a:r>
              <a:endParaRPr lang="zh-CN" altLang="en-US" sz="2000" b="0" dirty="0">
                <a:solidFill>
                  <a:schemeClr val="tx1"/>
                </a:solidFill>
                <a:ea typeface="Arial" panose="020B0604020202020204" pitchFamily="34" charset="0"/>
              </a:endParaRPr>
            </a:p>
          </p:txBody>
        </p:sp>
        <p:sp>
          <p:nvSpPr>
            <p:cNvPr id="118794" name="Oval 8"/>
            <p:cNvSpPr/>
            <p:nvPr/>
          </p:nvSpPr>
          <p:spPr>
            <a:xfrm>
              <a:off x="4072" y="2680"/>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度数</a:t>
              </a:r>
              <a:endParaRPr lang="zh-CN" altLang="en-US" sz="1600" b="0" dirty="0">
                <a:solidFill>
                  <a:schemeClr val="tx1"/>
                </a:solidFill>
                <a:ea typeface="Arial" panose="020B0604020202020204" pitchFamily="34" charset="0"/>
              </a:endParaRPr>
            </a:p>
          </p:txBody>
        </p:sp>
        <p:sp>
          <p:nvSpPr>
            <p:cNvPr id="118795" name="Oval 9"/>
            <p:cNvSpPr/>
            <p:nvPr/>
          </p:nvSpPr>
          <p:spPr>
            <a:xfrm>
              <a:off x="3592" y="2680"/>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品名</a:t>
              </a:r>
              <a:endParaRPr lang="zh-CN" altLang="en-US" sz="1600" b="0" dirty="0">
                <a:solidFill>
                  <a:schemeClr val="tx1"/>
                </a:solidFill>
                <a:ea typeface="Arial" panose="020B0604020202020204" pitchFamily="34" charset="0"/>
              </a:endParaRPr>
            </a:p>
          </p:txBody>
        </p:sp>
        <p:cxnSp>
          <p:nvCxnSpPr>
            <p:cNvPr id="118796" name="AutoShape 10"/>
            <p:cNvCxnSpPr>
              <a:stCxn id="118795" idx="0"/>
              <a:endCxn id="118793" idx="2"/>
            </p:cNvCxnSpPr>
            <p:nvPr/>
          </p:nvCxnSpPr>
          <p:spPr>
            <a:xfrm flipV="1">
              <a:off x="3808" y="2168"/>
              <a:ext cx="213" cy="512"/>
            </a:xfrm>
            <a:prstGeom prst="straightConnector1">
              <a:avLst/>
            </a:prstGeom>
            <a:ln w="9525" cap="flat" cmpd="sng">
              <a:solidFill>
                <a:schemeClr val="tx1"/>
              </a:solidFill>
              <a:prstDash val="solid"/>
              <a:headEnd type="none" w="med" len="med"/>
              <a:tailEnd type="none" w="med" len="med"/>
            </a:ln>
          </p:spPr>
        </p:cxnSp>
        <p:cxnSp>
          <p:nvCxnSpPr>
            <p:cNvPr id="118797" name="AutoShape 11"/>
            <p:cNvCxnSpPr>
              <a:stCxn id="118794" idx="0"/>
              <a:endCxn id="118793" idx="2"/>
            </p:cNvCxnSpPr>
            <p:nvPr/>
          </p:nvCxnSpPr>
          <p:spPr>
            <a:xfrm flipH="1" flipV="1">
              <a:off x="4021" y="2168"/>
              <a:ext cx="267" cy="512"/>
            </a:xfrm>
            <a:prstGeom prst="straightConnector1">
              <a:avLst/>
            </a:prstGeom>
            <a:ln w="9525" cap="flat" cmpd="sng">
              <a:solidFill>
                <a:schemeClr val="tx1"/>
              </a:solidFill>
              <a:prstDash val="solid"/>
              <a:headEnd type="none" w="med" len="med"/>
              <a:tailEnd type="none" w="med" len="med"/>
            </a:ln>
          </p:spPr>
        </p:cxnSp>
        <p:cxnSp>
          <p:nvCxnSpPr>
            <p:cNvPr id="118798" name="AutoShape 12"/>
            <p:cNvCxnSpPr>
              <a:stCxn id="118791" idx="1"/>
              <a:endCxn id="118799" idx="3"/>
            </p:cNvCxnSpPr>
            <p:nvPr/>
          </p:nvCxnSpPr>
          <p:spPr>
            <a:xfrm flipH="1">
              <a:off x="1944" y="2040"/>
              <a:ext cx="456" cy="0"/>
            </a:xfrm>
            <a:prstGeom prst="straightConnector1">
              <a:avLst/>
            </a:prstGeom>
            <a:ln w="9525" cap="flat" cmpd="sng">
              <a:solidFill>
                <a:schemeClr val="tx1"/>
              </a:solidFill>
              <a:prstDash val="solid"/>
              <a:headEnd type="none" w="med" len="med"/>
              <a:tailEnd type="none" w="med" len="med"/>
            </a:ln>
          </p:spPr>
        </p:cxnSp>
        <p:sp>
          <p:nvSpPr>
            <p:cNvPr id="118799" name="Text Box 13"/>
            <p:cNvSpPr txBox="1"/>
            <p:nvPr/>
          </p:nvSpPr>
          <p:spPr>
            <a:xfrm>
              <a:off x="1080" y="1912"/>
              <a:ext cx="864" cy="256"/>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酒吧</a:t>
              </a:r>
              <a:endParaRPr lang="zh-CN" altLang="en-US" sz="2000" b="0" dirty="0">
                <a:solidFill>
                  <a:schemeClr val="tx1"/>
                </a:solidFill>
                <a:ea typeface="Arial" panose="020B0604020202020204" pitchFamily="34" charset="0"/>
              </a:endParaRPr>
            </a:p>
          </p:txBody>
        </p:sp>
        <p:sp>
          <p:nvSpPr>
            <p:cNvPr id="118800" name="Oval 14"/>
            <p:cNvSpPr/>
            <p:nvPr/>
          </p:nvSpPr>
          <p:spPr>
            <a:xfrm>
              <a:off x="1552" y="2688"/>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地址</a:t>
              </a:r>
              <a:endParaRPr lang="zh-CN" altLang="en-US" sz="1600" b="0" dirty="0">
                <a:solidFill>
                  <a:schemeClr val="tx1"/>
                </a:solidFill>
                <a:ea typeface="Arial" panose="020B0604020202020204" pitchFamily="34" charset="0"/>
              </a:endParaRPr>
            </a:p>
          </p:txBody>
        </p:sp>
        <p:sp>
          <p:nvSpPr>
            <p:cNvPr id="118801" name="Oval 15"/>
            <p:cNvSpPr/>
            <p:nvPr/>
          </p:nvSpPr>
          <p:spPr>
            <a:xfrm>
              <a:off x="1072" y="2688"/>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名称</a:t>
              </a:r>
              <a:endParaRPr lang="zh-CN" altLang="en-US" sz="1600" b="0" dirty="0">
                <a:solidFill>
                  <a:schemeClr val="tx1"/>
                </a:solidFill>
                <a:ea typeface="Arial" panose="020B0604020202020204" pitchFamily="34" charset="0"/>
              </a:endParaRPr>
            </a:p>
          </p:txBody>
        </p:sp>
        <p:cxnSp>
          <p:nvCxnSpPr>
            <p:cNvPr id="118802" name="AutoShape 16"/>
            <p:cNvCxnSpPr>
              <a:stCxn id="118801" idx="0"/>
              <a:endCxn id="118799" idx="2"/>
            </p:cNvCxnSpPr>
            <p:nvPr/>
          </p:nvCxnSpPr>
          <p:spPr>
            <a:xfrm flipV="1">
              <a:off x="1288" y="2168"/>
              <a:ext cx="224" cy="520"/>
            </a:xfrm>
            <a:prstGeom prst="straightConnector1">
              <a:avLst/>
            </a:prstGeom>
            <a:ln w="9525" cap="flat" cmpd="sng">
              <a:solidFill>
                <a:schemeClr val="tx1"/>
              </a:solidFill>
              <a:prstDash val="solid"/>
              <a:headEnd type="none" w="med" len="med"/>
              <a:tailEnd type="none" w="med" len="med"/>
            </a:ln>
          </p:spPr>
        </p:cxnSp>
        <p:cxnSp>
          <p:nvCxnSpPr>
            <p:cNvPr id="118803" name="AutoShape 17"/>
            <p:cNvCxnSpPr>
              <a:stCxn id="118800" idx="0"/>
              <a:endCxn id="118799" idx="2"/>
            </p:cNvCxnSpPr>
            <p:nvPr/>
          </p:nvCxnSpPr>
          <p:spPr>
            <a:xfrm flipH="1" flipV="1">
              <a:off x="1512" y="2168"/>
              <a:ext cx="256" cy="520"/>
            </a:xfrm>
            <a:prstGeom prst="straightConnector1">
              <a:avLst/>
            </a:prstGeom>
            <a:ln w="9525" cap="flat" cmpd="sng">
              <a:solidFill>
                <a:schemeClr val="tx1"/>
              </a:solidFill>
              <a:prstDash val="solid"/>
              <a:headEnd type="none" w="med" len="med"/>
              <a:tailEnd type="none" w="med" len="med"/>
            </a:ln>
          </p:spPr>
        </p:cxnSp>
        <p:sp>
          <p:nvSpPr>
            <p:cNvPr id="118804" name="Oval 18"/>
            <p:cNvSpPr/>
            <p:nvPr/>
          </p:nvSpPr>
          <p:spPr>
            <a:xfrm>
              <a:off x="2592" y="1352"/>
              <a:ext cx="432" cy="28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bg1"/>
                  </a:solidFill>
                  <a:cs typeface="Arial" panose="020B0604020202020204" pitchFamily="34" charset="0"/>
                </a:rPr>
                <a:t>价格</a:t>
              </a:r>
              <a:endParaRPr lang="zh-CN" altLang="en-US" sz="1600" b="0" dirty="0">
                <a:solidFill>
                  <a:schemeClr val="bg1"/>
                </a:solidFill>
                <a:ea typeface="Arial" panose="020B0604020202020204" pitchFamily="34" charset="0"/>
              </a:endParaRPr>
            </a:p>
          </p:txBody>
        </p:sp>
        <p:cxnSp>
          <p:nvCxnSpPr>
            <p:cNvPr id="118805" name="AutoShape 19"/>
            <p:cNvCxnSpPr>
              <a:stCxn id="118804" idx="4"/>
              <a:endCxn id="118791" idx="0"/>
            </p:cNvCxnSpPr>
            <p:nvPr/>
          </p:nvCxnSpPr>
          <p:spPr>
            <a:xfrm>
              <a:off x="2808" y="1640"/>
              <a:ext cx="0" cy="208"/>
            </a:xfrm>
            <a:prstGeom prst="straightConnector1">
              <a:avLst/>
            </a:prstGeom>
            <a:ln w="9525" cap="flat" cmpd="sng">
              <a:solidFill>
                <a:schemeClr val="tx1"/>
              </a:solidFill>
              <a:prstDash val="solid"/>
              <a:headEnd type="none" w="med" len="med"/>
              <a:tailEnd type="none" w="med" len="med"/>
            </a:ln>
          </p:spPr>
        </p:cxnSp>
        <p:sp>
          <p:nvSpPr>
            <p:cNvPr id="118806" name="Text Box 20"/>
            <p:cNvSpPr txBox="1"/>
            <p:nvPr/>
          </p:nvSpPr>
          <p:spPr>
            <a:xfrm>
              <a:off x="2064" y="1728"/>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8807" name="Text Box 21"/>
            <p:cNvSpPr txBox="1"/>
            <p:nvPr/>
          </p:nvSpPr>
          <p:spPr>
            <a:xfrm>
              <a:off x="3312" y="1728"/>
              <a:ext cx="28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grpSp>
      <p:sp>
        <p:nvSpPr>
          <p:cNvPr id="118790" name="Text Box 22"/>
          <p:cNvSpPr txBox="1"/>
          <p:nvPr/>
        </p:nvSpPr>
        <p:spPr>
          <a:xfrm>
            <a:off x="1292225" y="4984750"/>
            <a:ext cx="63309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3600" b="0" dirty="0">
                <a:solidFill>
                  <a:schemeClr val="tx1"/>
                </a:solidFill>
                <a:cs typeface="Arial" panose="020B0604020202020204" pitchFamily="34" charset="0"/>
              </a:rPr>
              <a:t>为什么价格不作为啤酒的属性</a:t>
            </a:r>
            <a:r>
              <a:rPr lang="en-US" altLang="zh-CN" sz="3600" b="0" dirty="0">
                <a:solidFill>
                  <a:schemeClr val="tx1"/>
                </a:solidFill>
                <a:cs typeface="Arial" panose="020B0604020202020204" pitchFamily="34" charset="0"/>
              </a:rPr>
              <a:t>?</a:t>
            </a:r>
            <a:endParaRPr lang="en-US" altLang="zh-CN" sz="3600" b="0" dirty="0">
              <a:solidFill>
                <a:schemeClr val="tx1"/>
              </a:solidFill>
              <a:ea typeface="Arial" panose="020B060402020202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981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19812"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a:t>
            </a:r>
            <a:r>
              <a:rPr lang="en-US" altLang="zh-CN" dirty="0"/>
              <a:t>:</a:t>
            </a:r>
            <a:r>
              <a:rPr lang="zh-CN" altLang="en-US" dirty="0"/>
              <a:t>电影、制片公司、演员</a:t>
            </a:r>
            <a:r>
              <a:rPr lang="en-US" altLang="zh-CN" dirty="0"/>
              <a:t>(1)</a:t>
            </a:r>
            <a:endParaRPr lang="en-US" altLang="zh-CN" dirty="0"/>
          </a:p>
        </p:txBody>
      </p:sp>
      <p:sp>
        <p:nvSpPr>
          <p:cNvPr id="119813" name="AutoShape 4"/>
          <p:cNvSpPr/>
          <p:nvPr/>
        </p:nvSpPr>
        <p:spPr>
          <a:xfrm>
            <a:off x="3810000" y="43942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签约</a:t>
            </a:r>
            <a:endParaRPr lang="zh-CN" altLang="en-US" sz="2400" b="0" dirty="0">
              <a:solidFill>
                <a:schemeClr val="tx1"/>
              </a:solidFill>
              <a:ea typeface="Arial" panose="020B0604020202020204" pitchFamily="34" charset="0"/>
            </a:endParaRPr>
          </a:p>
        </p:txBody>
      </p:sp>
      <p:cxnSp>
        <p:nvCxnSpPr>
          <p:cNvPr id="119814" name="AutoShape 5"/>
          <p:cNvCxnSpPr>
            <a:stCxn id="119846" idx="1"/>
            <a:endCxn id="119813" idx="3"/>
          </p:cNvCxnSpPr>
          <p:nvPr/>
        </p:nvCxnSpPr>
        <p:spPr>
          <a:xfrm flipH="1">
            <a:off x="5105400" y="4699000"/>
            <a:ext cx="736600" cy="0"/>
          </a:xfrm>
          <a:prstGeom prst="straightConnector1">
            <a:avLst/>
          </a:prstGeom>
          <a:ln w="9525" cap="flat" cmpd="sng">
            <a:solidFill>
              <a:schemeClr val="tx1"/>
            </a:solidFill>
            <a:prstDash val="solid"/>
            <a:headEnd type="none" w="med" len="med"/>
            <a:tailEnd type="none" w="med" len="med"/>
          </a:ln>
        </p:spPr>
      </p:cxnSp>
      <p:grpSp>
        <p:nvGrpSpPr>
          <p:cNvPr id="119815" name="Group 6"/>
          <p:cNvGrpSpPr/>
          <p:nvPr/>
        </p:nvGrpSpPr>
        <p:grpSpPr>
          <a:xfrm>
            <a:off x="4775200" y="4495800"/>
            <a:ext cx="2971800" cy="1676400"/>
            <a:chOff x="104" y="1488"/>
            <a:chExt cx="1872" cy="1056"/>
          </a:xfrm>
        </p:grpSpPr>
        <p:sp>
          <p:nvSpPr>
            <p:cNvPr id="119846" name="Text Box 7"/>
            <p:cNvSpPr txBox="1"/>
            <p:nvPr/>
          </p:nvSpPr>
          <p:spPr>
            <a:xfrm>
              <a:off x="776" y="1488"/>
              <a:ext cx="682" cy="256"/>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演员</a:t>
              </a:r>
              <a:endParaRPr lang="zh-CN" altLang="en-US" sz="2000" b="0" dirty="0">
                <a:solidFill>
                  <a:schemeClr val="tx1"/>
                </a:solidFill>
                <a:ea typeface="Arial" panose="020B0604020202020204" pitchFamily="34" charset="0"/>
              </a:endParaRPr>
            </a:p>
          </p:txBody>
        </p:sp>
        <p:sp>
          <p:nvSpPr>
            <p:cNvPr id="119847" name="Oval 8"/>
            <p:cNvSpPr/>
            <p:nvPr/>
          </p:nvSpPr>
          <p:spPr>
            <a:xfrm>
              <a:off x="1064" y="2256"/>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生日</a:t>
              </a:r>
              <a:endParaRPr lang="zh-CN" altLang="en-US" sz="1600" b="0" dirty="0">
                <a:solidFill>
                  <a:schemeClr val="tx1"/>
                </a:solidFill>
                <a:ea typeface="Arial" panose="020B0604020202020204" pitchFamily="34" charset="0"/>
              </a:endParaRPr>
            </a:p>
          </p:txBody>
        </p:sp>
        <p:sp>
          <p:nvSpPr>
            <p:cNvPr id="119848" name="Oval 9"/>
            <p:cNvSpPr/>
            <p:nvPr/>
          </p:nvSpPr>
          <p:spPr>
            <a:xfrm>
              <a:off x="584" y="2256"/>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性别</a:t>
              </a:r>
              <a:endParaRPr lang="zh-CN" altLang="en-US" sz="1600" b="0" dirty="0">
                <a:solidFill>
                  <a:schemeClr val="tx1"/>
                </a:solidFill>
                <a:ea typeface="Arial" panose="020B0604020202020204" pitchFamily="34" charset="0"/>
              </a:endParaRPr>
            </a:p>
          </p:txBody>
        </p:sp>
        <p:sp>
          <p:nvSpPr>
            <p:cNvPr id="119849" name="Oval 10"/>
            <p:cNvSpPr/>
            <p:nvPr/>
          </p:nvSpPr>
          <p:spPr>
            <a:xfrm>
              <a:off x="1544" y="2256"/>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地址</a:t>
              </a:r>
              <a:endParaRPr lang="zh-CN" altLang="en-US" sz="1600" b="0" dirty="0">
                <a:solidFill>
                  <a:schemeClr val="tx1"/>
                </a:solidFill>
                <a:ea typeface="Arial" panose="020B0604020202020204" pitchFamily="34" charset="0"/>
              </a:endParaRPr>
            </a:p>
          </p:txBody>
        </p:sp>
        <p:sp>
          <p:nvSpPr>
            <p:cNvPr id="119850" name="Oval 11"/>
            <p:cNvSpPr/>
            <p:nvPr/>
          </p:nvSpPr>
          <p:spPr>
            <a:xfrm>
              <a:off x="104" y="2256"/>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姓名</a:t>
              </a:r>
              <a:endParaRPr lang="zh-CN" altLang="en-US" sz="1600" b="0" dirty="0">
                <a:solidFill>
                  <a:schemeClr val="tx1"/>
                </a:solidFill>
                <a:ea typeface="Arial" panose="020B0604020202020204" pitchFamily="34" charset="0"/>
              </a:endParaRPr>
            </a:p>
          </p:txBody>
        </p:sp>
        <p:cxnSp>
          <p:nvCxnSpPr>
            <p:cNvPr id="119851" name="AutoShape 12"/>
            <p:cNvCxnSpPr>
              <a:stCxn id="119850" idx="0"/>
              <a:endCxn id="119846" idx="2"/>
            </p:cNvCxnSpPr>
            <p:nvPr/>
          </p:nvCxnSpPr>
          <p:spPr>
            <a:xfrm flipV="1">
              <a:off x="320" y="1744"/>
              <a:ext cx="797" cy="512"/>
            </a:xfrm>
            <a:prstGeom prst="straightConnector1">
              <a:avLst/>
            </a:prstGeom>
            <a:ln w="9525" cap="flat" cmpd="sng">
              <a:solidFill>
                <a:schemeClr val="tx1"/>
              </a:solidFill>
              <a:prstDash val="solid"/>
              <a:headEnd type="none" w="med" len="med"/>
              <a:tailEnd type="none" w="med" len="med"/>
            </a:ln>
          </p:spPr>
        </p:cxnSp>
        <p:cxnSp>
          <p:nvCxnSpPr>
            <p:cNvPr id="119852" name="AutoShape 13"/>
            <p:cNvCxnSpPr>
              <a:stCxn id="119848" idx="0"/>
              <a:endCxn id="119846" idx="2"/>
            </p:cNvCxnSpPr>
            <p:nvPr/>
          </p:nvCxnSpPr>
          <p:spPr>
            <a:xfrm flipV="1">
              <a:off x="800" y="1744"/>
              <a:ext cx="317" cy="512"/>
            </a:xfrm>
            <a:prstGeom prst="straightConnector1">
              <a:avLst/>
            </a:prstGeom>
            <a:ln w="9525" cap="flat" cmpd="sng">
              <a:solidFill>
                <a:schemeClr val="tx1"/>
              </a:solidFill>
              <a:prstDash val="solid"/>
              <a:headEnd type="none" w="med" len="med"/>
              <a:tailEnd type="none" w="med" len="med"/>
            </a:ln>
          </p:spPr>
        </p:cxnSp>
        <p:cxnSp>
          <p:nvCxnSpPr>
            <p:cNvPr id="119853" name="AutoShape 14"/>
            <p:cNvCxnSpPr>
              <a:stCxn id="119847" idx="0"/>
              <a:endCxn id="119846" idx="2"/>
            </p:cNvCxnSpPr>
            <p:nvPr/>
          </p:nvCxnSpPr>
          <p:spPr>
            <a:xfrm flipH="1" flipV="1">
              <a:off x="1117" y="1744"/>
              <a:ext cx="163" cy="512"/>
            </a:xfrm>
            <a:prstGeom prst="straightConnector1">
              <a:avLst/>
            </a:prstGeom>
            <a:ln w="9525" cap="flat" cmpd="sng">
              <a:solidFill>
                <a:schemeClr val="tx1"/>
              </a:solidFill>
              <a:prstDash val="solid"/>
              <a:headEnd type="none" w="med" len="med"/>
              <a:tailEnd type="none" w="med" len="med"/>
            </a:ln>
          </p:spPr>
        </p:cxnSp>
        <p:cxnSp>
          <p:nvCxnSpPr>
            <p:cNvPr id="119854" name="AutoShape 15"/>
            <p:cNvCxnSpPr>
              <a:stCxn id="119849" idx="0"/>
              <a:endCxn id="119846" idx="2"/>
            </p:cNvCxnSpPr>
            <p:nvPr/>
          </p:nvCxnSpPr>
          <p:spPr>
            <a:xfrm flipH="1" flipV="1">
              <a:off x="1117" y="1744"/>
              <a:ext cx="643" cy="512"/>
            </a:xfrm>
            <a:prstGeom prst="straightConnector1">
              <a:avLst/>
            </a:prstGeom>
            <a:ln w="9525" cap="flat" cmpd="sng">
              <a:solidFill>
                <a:schemeClr val="tx1"/>
              </a:solidFill>
              <a:prstDash val="solid"/>
              <a:headEnd type="none" w="med" len="med"/>
              <a:tailEnd type="none" w="med" len="med"/>
            </a:ln>
          </p:spPr>
        </p:cxnSp>
      </p:grpSp>
      <p:sp>
        <p:nvSpPr>
          <p:cNvPr id="380944" name="Text Box 16"/>
          <p:cNvSpPr txBox="1"/>
          <p:nvPr/>
        </p:nvSpPr>
        <p:spPr>
          <a:xfrm>
            <a:off x="7772400" y="1828800"/>
            <a:ext cx="928688" cy="15557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600" b="0" dirty="0">
                <a:solidFill>
                  <a:srgbClr val="FF0000"/>
                </a:solidFill>
                <a:latin typeface="Arial Black" panose="020B0A04020102020204" pitchFamily="34" charset="0"/>
                <a:ea typeface="黑体" panose="02010609060101010101" pitchFamily="49" charset="-122"/>
              </a:rPr>
              <a:t>?</a:t>
            </a:r>
            <a:endParaRPr lang="en-US" altLang="zh-CN" sz="9600" b="0" dirty="0">
              <a:solidFill>
                <a:srgbClr val="FF0000"/>
              </a:solidFill>
              <a:latin typeface="Arial Black" panose="020B0A04020102020204" pitchFamily="34" charset="0"/>
              <a:ea typeface="黑体" panose="02010609060101010101" pitchFamily="49" charset="-122"/>
            </a:endParaRPr>
          </a:p>
        </p:txBody>
      </p:sp>
      <p:sp>
        <p:nvSpPr>
          <p:cNvPr id="119817" name="Text Box 17"/>
          <p:cNvSpPr txBox="1"/>
          <p:nvPr/>
        </p:nvSpPr>
        <p:spPr>
          <a:xfrm>
            <a:off x="1803400" y="2286000"/>
            <a:ext cx="1193800" cy="406400"/>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电影</a:t>
            </a:r>
            <a:endParaRPr lang="zh-CN" altLang="en-US" sz="2000" b="0" dirty="0">
              <a:solidFill>
                <a:schemeClr val="tx1"/>
              </a:solidFill>
              <a:ea typeface="Arial" panose="020B0604020202020204" pitchFamily="34" charset="0"/>
            </a:endParaRPr>
          </a:p>
        </p:txBody>
      </p:sp>
      <p:cxnSp>
        <p:nvCxnSpPr>
          <p:cNvPr id="119818" name="AutoShape 18"/>
          <p:cNvCxnSpPr>
            <a:stCxn id="119813" idx="1"/>
            <a:endCxn id="119825" idx="3"/>
          </p:cNvCxnSpPr>
          <p:nvPr/>
        </p:nvCxnSpPr>
        <p:spPr>
          <a:xfrm flipH="1">
            <a:off x="3086100" y="4699000"/>
            <a:ext cx="723900" cy="0"/>
          </a:xfrm>
          <a:prstGeom prst="straightConnector1">
            <a:avLst/>
          </a:prstGeom>
          <a:ln w="9525" cap="flat" cmpd="sng">
            <a:solidFill>
              <a:schemeClr val="tx1"/>
            </a:solidFill>
            <a:prstDash val="solid"/>
            <a:headEnd type="none" w="med" len="med"/>
            <a:tailEnd type="none" w="med" len="med"/>
          </a:ln>
        </p:spPr>
      </p:cxnSp>
      <p:sp>
        <p:nvSpPr>
          <p:cNvPr id="119819" name="Oval 19"/>
          <p:cNvSpPr/>
          <p:nvPr/>
        </p:nvSpPr>
        <p:spPr>
          <a:xfrm>
            <a:off x="571500" y="29337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类型</a:t>
            </a:r>
            <a:endParaRPr lang="zh-CN" altLang="en-US" sz="1600" b="0" dirty="0">
              <a:solidFill>
                <a:schemeClr val="tx1"/>
              </a:solidFill>
              <a:ea typeface="Arial" panose="020B0604020202020204" pitchFamily="34" charset="0"/>
            </a:endParaRPr>
          </a:p>
        </p:txBody>
      </p:sp>
      <p:sp>
        <p:nvSpPr>
          <p:cNvPr id="119820" name="Oval 20"/>
          <p:cNvSpPr/>
          <p:nvPr/>
        </p:nvSpPr>
        <p:spPr>
          <a:xfrm>
            <a:off x="571500" y="22606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片长</a:t>
            </a:r>
            <a:endParaRPr lang="zh-CN" altLang="en-US" sz="1600" b="0" dirty="0">
              <a:solidFill>
                <a:schemeClr val="tx1"/>
              </a:solidFill>
              <a:ea typeface="Arial" panose="020B0604020202020204" pitchFamily="34" charset="0"/>
            </a:endParaRPr>
          </a:p>
        </p:txBody>
      </p:sp>
      <p:sp>
        <p:nvSpPr>
          <p:cNvPr id="119821" name="Oval 21"/>
          <p:cNvSpPr/>
          <p:nvPr/>
        </p:nvSpPr>
        <p:spPr>
          <a:xfrm>
            <a:off x="571500" y="16002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片名</a:t>
            </a:r>
            <a:endParaRPr lang="zh-CN" altLang="en-US" sz="1600" b="0" dirty="0">
              <a:solidFill>
                <a:schemeClr val="tx1"/>
              </a:solidFill>
              <a:ea typeface="Arial" panose="020B0604020202020204" pitchFamily="34" charset="0"/>
            </a:endParaRPr>
          </a:p>
        </p:txBody>
      </p:sp>
      <p:cxnSp>
        <p:nvCxnSpPr>
          <p:cNvPr id="119822" name="AutoShape 22"/>
          <p:cNvCxnSpPr>
            <a:stCxn id="119819" idx="6"/>
            <a:endCxn id="119817" idx="1"/>
          </p:cNvCxnSpPr>
          <p:nvPr/>
        </p:nvCxnSpPr>
        <p:spPr>
          <a:xfrm flipV="1">
            <a:off x="1257300" y="2489200"/>
            <a:ext cx="546100" cy="673100"/>
          </a:xfrm>
          <a:prstGeom prst="straightConnector1">
            <a:avLst/>
          </a:prstGeom>
          <a:ln w="9525" cap="flat" cmpd="sng">
            <a:solidFill>
              <a:schemeClr val="tx1"/>
            </a:solidFill>
            <a:prstDash val="solid"/>
            <a:headEnd type="none" w="med" len="med"/>
            <a:tailEnd type="none" w="med" len="med"/>
          </a:ln>
        </p:spPr>
      </p:cxnSp>
      <p:cxnSp>
        <p:nvCxnSpPr>
          <p:cNvPr id="119823" name="AutoShape 23"/>
          <p:cNvCxnSpPr>
            <a:stCxn id="119820" idx="6"/>
            <a:endCxn id="119817" idx="1"/>
          </p:cNvCxnSpPr>
          <p:nvPr/>
        </p:nvCxnSpPr>
        <p:spPr>
          <a:xfrm>
            <a:off x="1257300" y="2489200"/>
            <a:ext cx="546100" cy="0"/>
          </a:xfrm>
          <a:prstGeom prst="straightConnector1">
            <a:avLst/>
          </a:prstGeom>
          <a:ln w="9525" cap="flat" cmpd="sng">
            <a:solidFill>
              <a:schemeClr val="tx1"/>
            </a:solidFill>
            <a:prstDash val="solid"/>
            <a:headEnd type="none" w="med" len="med"/>
            <a:tailEnd type="none" w="med" len="med"/>
          </a:ln>
        </p:spPr>
      </p:cxnSp>
      <p:cxnSp>
        <p:nvCxnSpPr>
          <p:cNvPr id="119824" name="AutoShape 24"/>
          <p:cNvCxnSpPr>
            <a:stCxn id="119821" idx="6"/>
            <a:endCxn id="119817" idx="1"/>
          </p:cNvCxnSpPr>
          <p:nvPr/>
        </p:nvCxnSpPr>
        <p:spPr>
          <a:xfrm>
            <a:off x="1257300" y="1828800"/>
            <a:ext cx="546100" cy="660400"/>
          </a:xfrm>
          <a:prstGeom prst="straightConnector1">
            <a:avLst/>
          </a:prstGeom>
          <a:ln w="9525" cap="flat" cmpd="sng">
            <a:solidFill>
              <a:schemeClr val="tx1"/>
            </a:solidFill>
            <a:prstDash val="solid"/>
            <a:headEnd type="none" w="med" len="med"/>
            <a:tailEnd type="none" w="med" len="med"/>
          </a:ln>
        </p:spPr>
      </p:cxnSp>
      <p:sp>
        <p:nvSpPr>
          <p:cNvPr id="119825" name="Text Box 25"/>
          <p:cNvSpPr txBox="1"/>
          <p:nvPr/>
        </p:nvSpPr>
        <p:spPr>
          <a:xfrm>
            <a:off x="1714500" y="4495800"/>
            <a:ext cx="1371600" cy="406400"/>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制片公司</a:t>
            </a:r>
            <a:endParaRPr lang="zh-CN" altLang="en-US" sz="2000" b="0" dirty="0">
              <a:solidFill>
                <a:schemeClr val="tx1"/>
              </a:solidFill>
              <a:ea typeface="Arial" panose="020B0604020202020204" pitchFamily="34" charset="0"/>
            </a:endParaRPr>
          </a:p>
        </p:txBody>
      </p:sp>
      <p:sp>
        <p:nvSpPr>
          <p:cNvPr id="119826" name="AutoShape 26"/>
          <p:cNvSpPr/>
          <p:nvPr/>
        </p:nvSpPr>
        <p:spPr>
          <a:xfrm>
            <a:off x="1752600" y="32766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投资</a:t>
            </a:r>
            <a:endParaRPr lang="zh-CN" altLang="en-US" sz="2400" b="0" dirty="0">
              <a:solidFill>
                <a:schemeClr val="tx1"/>
              </a:solidFill>
              <a:ea typeface="Arial" panose="020B0604020202020204" pitchFamily="34" charset="0"/>
            </a:endParaRPr>
          </a:p>
        </p:txBody>
      </p:sp>
      <p:cxnSp>
        <p:nvCxnSpPr>
          <p:cNvPr id="119827" name="AutoShape 27"/>
          <p:cNvCxnSpPr>
            <a:stCxn id="119826" idx="2"/>
            <a:endCxn id="119825" idx="0"/>
          </p:cNvCxnSpPr>
          <p:nvPr/>
        </p:nvCxnSpPr>
        <p:spPr>
          <a:xfrm>
            <a:off x="2400300" y="3886200"/>
            <a:ext cx="0" cy="609600"/>
          </a:xfrm>
          <a:prstGeom prst="straightConnector1">
            <a:avLst/>
          </a:prstGeom>
          <a:ln w="9525" cap="flat" cmpd="sng">
            <a:solidFill>
              <a:schemeClr val="tx1"/>
            </a:solidFill>
            <a:prstDash val="solid"/>
            <a:headEnd type="none" w="med" len="med"/>
            <a:tailEnd type="none" w="med" len="med"/>
          </a:ln>
        </p:spPr>
      </p:cxnSp>
      <p:sp>
        <p:nvSpPr>
          <p:cNvPr id="119828" name="Oval 28"/>
          <p:cNvSpPr/>
          <p:nvPr/>
        </p:nvSpPr>
        <p:spPr>
          <a:xfrm>
            <a:off x="2463800" y="57277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地址</a:t>
            </a:r>
            <a:endParaRPr lang="zh-CN" altLang="en-US" sz="1600" b="0" dirty="0">
              <a:solidFill>
                <a:schemeClr val="tx1"/>
              </a:solidFill>
              <a:ea typeface="Arial" panose="020B0604020202020204" pitchFamily="34" charset="0"/>
            </a:endParaRPr>
          </a:p>
        </p:txBody>
      </p:sp>
      <p:sp>
        <p:nvSpPr>
          <p:cNvPr id="119829" name="Oval 29"/>
          <p:cNvSpPr/>
          <p:nvPr/>
        </p:nvSpPr>
        <p:spPr>
          <a:xfrm>
            <a:off x="1701800" y="57277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名称</a:t>
            </a:r>
            <a:endParaRPr lang="zh-CN" altLang="en-US" sz="1600" b="0" dirty="0">
              <a:solidFill>
                <a:schemeClr val="tx1"/>
              </a:solidFill>
              <a:ea typeface="Arial" panose="020B0604020202020204" pitchFamily="34" charset="0"/>
            </a:endParaRPr>
          </a:p>
        </p:txBody>
      </p:sp>
      <p:cxnSp>
        <p:nvCxnSpPr>
          <p:cNvPr id="119830" name="AutoShape 30"/>
          <p:cNvCxnSpPr>
            <a:stCxn id="119829" idx="0"/>
            <a:endCxn id="119825" idx="2"/>
          </p:cNvCxnSpPr>
          <p:nvPr/>
        </p:nvCxnSpPr>
        <p:spPr>
          <a:xfrm flipV="1">
            <a:off x="2044700" y="4902200"/>
            <a:ext cx="355600" cy="825500"/>
          </a:xfrm>
          <a:prstGeom prst="straightConnector1">
            <a:avLst/>
          </a:prstGeom>
          <a:ln w="9525" cap="flat" cmpd="sng">
            <a:solidFill>
              <a:schemeClr val="tx1"/>
            </a:solidFill>
            <a:prstDash val="solid"/>
            <a:headEnd type="none" w="med" len="med"/>
            <a:tailEnd type="none" w="med" len="med"/>
          </a:ln>
        </p:spPr>
      </p:cxnSp>
      <p:cxnSp>
        <p:nvCxnSpPr>
          <p:cNvPr id="119831" name="AutoShape 31"/>
          <p:cNvCxnSpPr>
            <a:stCxn id="119828" idx="0"/>
            <a:endCxn id="119825" idx="2"/>
          </p:cNvCxnSpPr>
          <p:nvPr/>
        </p:nvCxnSpPr>
        <p:spPr>
          <a:xfrm flipH="1" flipV="1">
            <a:off x="2400300" y="4902200"/>
            <a:ext cx="406400" cy="825500"/>
          </a:xfrm>
          <a:prstGeom prst="straightConnector1">
            <a:avLst/>
          </a:prstGeom>
          <a:ln w="9525" cap="flat" cmpd="sng">
            <a:solidFill>
              <a:schemeClr val="tx1"/>
            </a:solidFill>
            <a:prstDash val="solid"/>
            <a:headEnd type="none" w="med" len="med"/>
            <a:tailEnd type="none" w="med" len="med"/>
          </a:ln>
        </p:spPr>
      </p:cxnSp>
      <p:cxnSp>
        <p:nvCxnSpPr>
          <p:cNvPr id="119832" name="AutoShape 32"/>
          <p:cNvCxnSpPr>
            <a:stCxn id="119817" idx="2"/>
            <a:endCxn id="119826" idx="0"/>
          </p:cNvCxnSpPr>
          <p:nvPr/>
        </p:nvCxnSpPr>
        <p:spPr>
          <a:xfrm>
            <a:off x="2400300" y="2692400"/>
            <a:ext cx="0" cy="584200"/>
          </a:xfrm>
          <a:prstGeom prst="straightConnector1">
            <a:avLst/>
          </a:prstGeom>
          <a:ln w="9525" cap="flat" cmpd="sng">
            <a:solidFill>
              <a:schemeClr val="tx1"/>
            </a:solidFill>
            <a:prstDash val="solid"/>
            <a:headEnd type="none" w="med" len="med"/>
            <a:tailEnd type="none" w="med" len="med"/>
          </a:ln>
        </p:spPr>
      </p:cxnSp>
      <p:sp>
        <p:nvSpPr>
          <p:cNvPr id="119833" name="Text Box 33"/>
          <p:cNvSpPr txBox="1"/>
          <p:nvPr/>
        </p:nvSpPr>
        <p:spPr>
          <a:xfrm>
            <a:off x="2438400" y="27432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9834" name="Text Box 34"/>
          <p:cNvSpPr txBox="1"/>
          <p:nvPr/>
        </p:nvSpPr>
        <p:spPr>
          <a:xfrm>
            <a:off x="2400300" y="39624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19835" name="Oval 35"/>
          <p:cNvSpPr/>
          <p:nvPr/>
        </p:nvSpPr>
        <p:spPr>
          <a:xfrm>
            <a:off x="4114800" y="3657600"/>
            <a:ext cx="685800" cy="457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bg1"/>
                </a:solidFill>
                <a:cs typeface="Arial" panose="020B0604020202020204" pitchFamily="34" charset="0"/>
              </a:rPr>
              <a:t>片酬</a:t>
            </a:r>
            <a:endParaRPr lang="zh-CN" altLang="en-US" sz="1600" b="0" dirty="0">
              <a:solidFill>
                <a:schemeClr val="bg1"/>
              </a:solidFill>
              <a:ea typeface="Arial" panose="020B0604020202020204" pitchFamily="34" charset="0"/>
            </a:endParaRPr>
          </a:p>
        </p:txBody>
      </p:sp>
      <p:cxnSp>
        <p:nvCxnSpPr>
          <p:cNvPr id="119836" name="AutoShape 36"/>
          <p:cNvCxnSpPr>
            <a:stCxn id="119835" idx="4"/>
            <a:endCxn id="119813" idx="0"/>
          </p:cNvCxnSpPr>
          <p:nvPr/>
        </p:nvCxnSpPr>
        <p:spPr>
          <a:xfrm>
            <a:off x="4457700" y="4114800"/>
            <a:ext cx="0" cy="279400"/>
          </a:xfrm>
          <a:prstGeom prst="straightConnector1">
            <a:avLst/>
          </a:prstGeom>
          <a:ln w="9525" cap="flat" cmpd="sng">
            <a:solidFill>
              <a:schemeClr val="tx1"/>
            </a:solidFill>
            <a:prstDash val="solid"/>
            <a:headEnd type="none" w="med" len="med"/>
            <a:tailEnd type="none" w="med" len="med"/>
          </a:ln>
        </p:spPr>
      </p:cxnSp>
      <p:sp>
        <p:nvSpPr>
          <p:cNvPr id="119837" name="Oval 37"/>
          <p:cNvSpPr/>
          <p:nvPr/>
        </p:nvSpPr>
        <p:spPr>
          <a:xfrm>
            <a:off x="2057400" y="15240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导演</a:t>
            </a:r>
            <a:endParaRPr lang="zh-CN" altLang="en-US" sz="1600" b="0" dirty="0">
              <a:solidFill>
                <a:schemeClr val="tx1"/>
              </a:solidFill>
              <a:ea typeface="Arial" panose="020B0604020202020204" pitchFamily="34" charset="0"/>
            </a:endParaRPr>
          </a:p>
        </p:txBody>
      </p:sp>
      <p:cxnSp>
        <p:nvCxnSpPr>
          <p:cNvPr id="119838" name="AutoShape 38"/>
          <p:cNvCxnSpPr>
            <a:stCxn id="119837" idx="4"/>
          </p:cNvCxnSpPr>
          <p:nvPr/>
        </p:nvCxnSpPr>
        <p:spPr>
          <a:xfrm>
            <a:off x="2400300" y="1981200"/>
            <a:ext cx="0" cy="304800"/>
          </a:xfrm>
          <a:prstGeom prst="straightConnector1">
            <a:avLst/>
          </a:prstGeom>
          <a:ln w="9525" cap="flat" cmpd="sng">
            <a:solidFill>
              <a:schemeClr val="tx1"/>
            </a:solidFill>
            <a:prstDash val="solid"/>
            <a:headEnd type="none" w="med" len="med"/>
            <a:tailEnd type="none" w="med" len="med"/>
          </a:ln>
        </p:spPr>
      </p:cxnSp>
      <p:sp>
        <p:nvSpPr>
          <p:cNvPr id="119839" name="AutoShape 39"/>
          <p:cNvSpPr/>
          <p:nvPr/>
        </p:nvSpPr>
        <p:spPr>
          <a:xfrm>
            <a:off x="5740400" y="21844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出演</a:t>
            </a:r>
            <a:endParaRPr lang="zh-CN" altLang="en-US" sz="2400" b="0" dirty="0">
              <a:solidFill>
                <a:schemeClr val="tx1"/>
              </a:solidFill>
              <a:ea typeface="Arial" panose="020B0604020202020204" pitchFamily="34" charset="0"/>
            </a:endParaRPr>
          </a:p>
        </p:txBody>
      </p:sp>
      <p:cxnSp>
        <p:nvCxnSpPr>
          <p:cNvPr id="119840" name="AutoShape 40"/>
          <p:cNvCxnSpPr>
            <a:stCxn id="119817" idx="3"/>
            <a:endCxn id="119839" idx="1"/>
          </p:cNvCxnSpPr>
          <p:nvPr/>
        </p:nvCxnSpPr>
        <p:spPr>
          <a:xfrm>
            <a:off x="2997200" y="2489200"/>
            <a:ext cx="2743200" cy="0"/>
          </a:xfrm>
          <a:prstGeom prst="straightConnector1">
            <a:avLst/>
          </a:prstGeom>
          <a:ln w="9525" cap="flat" cmpd="sng">
            <a:solidFill>
              <a:schemeClr val="tx1"/>
            </a:solidFill>
            <a:prstDash val="solid"/>
            <a:headEnd type="none" w="med" len="med"/>
            <a:tailEnd type="none" w="med" len="med"/>
          </a:ln>
        </p:spPr>
      </p:cxnSp>
      <p:cxnSp>
        <p:nvCxnSpPr>
          <p:cNvPr id="119841" name="AutoShape 41"/>
          <p:cNvCxnSpPr>
            <a:stCxn id="119839" idx="2"/>
            <a:endCxn id="119846" idx="0"/>
          </p:cNvCxnSpPr>
          <p:nvPr/>
        </p:nvCxnSpPr>
        <p:spPr>
          <a:xfrm flipH="1">
            <a:off x="6383338" y="2794000"/>
            <a:ext cx="4762" cy="1701800"/>
          </a:xfrm>
          <a:prstGeom prst="straightConnector1">
            <a:avLst/>
          </a:prstGeom>
          <a:ln w="9525" cap="flat" cmpd="sng">
            <a:solidFill>
              <a:schemeClr val="tx1"/>
            </a:solidFill>
            <a:prstDash val="solid"/>
            <a:headEnd type="none" w="med" len="med"/>
            <a:tailEnd type="none" w="med" len="med"/>
          </a:ln>
        </p:spPr>
      </p:cxnSp>
      <p:sp>
        <p:nvSpPr>
          <p:cNvPr id="119842" name="Text Box 42"/>
          <p:cNvSpPr txBox="1"/>
          <p:nvPr/>
        </p:nvSpPr>
        <p:spPr>
          <a:xfrm>
            <a:off x="6477000" y="33528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9843" name="Text Box 43"/>
          <p:cNvSpPr txBox="1"/>
          <p:nvPr/>
        </p:nvSpPr>
        <p:spPr>
          <a:xfrm>
            <a:off x="4114800" y="19812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19844" name="Text Box 44"/>
          <p:cNvSpPr txBox="1"/>
          <p:nvPr/>
        </p:nvSpPr>
        <p:spPr>
          <a:xfrm>
            <a:off x="5257800" y="41148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19845" name="Text Box 45"/>
          <p:cNvSpPr txBox="1"/>
          <p:nvPr/>
        </p:nvSpPr>
        <p:spPr>
          <a:xfrm>
            <a:off x="3352800" y="4114800"/>
            <a:ext cx="33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1</a:t>
            </a:r>
            <a:endParaRPr lang="en-US" altLang="zh-CN" sz="2400" b="0" dirty="0">
              <a:solidFill>
                <a:schemeClr val="tx1"/>
              </a:solidFill>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0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44"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083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20836"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a:t>
            </a:r>
            <a:r>
              <a:rPr lang="en-US" altLang="zh-CN" dirty="0"/>
              <a:t>:</a:t>
            </a:r>
            <a:r>
              <a:rPr lang="zh-CN" altLang="en-US" dirty="0"/>
              <a:t>电影、制片公司、演员</a:t>
            </a:r>
            <a:r>
              <a:rPr lang="en-US" altLang="zh-CN" dirty="0"/>
              <a:t>(2)</a:t>
            </a:r>
            <a:endParaRPr lang="en-US" altLang="zh-CN" dirty="0"/>
          </a:p>
        </p:txBody>
      </p:sp>
      <p:sp>
        <p:nvSpPr>
          <p:cNvPr id="120837" name="Text Box 4"/>
          <p:cNvSpPr txBox="1"/>
          <p:nvPr/>
        </p:nvSpPr>
        <p:spPr>
          <a:xfrm>
            <a:off x="1485900" y="2362200"/>
            <a:ext cx="1082675" cy="406400"/>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演员</a:t>
            </a:r>
            <a:endParaRPr lang="zh-CN" altLang="en-US" sz="2000" b="0" dirty="0">
              <a:solidFill>
                <a:schemeClr val="tx1"/>
              </a:solidFill>
              <a:ea typeface="Arial" panose="020B0604020202020204" pitchFamily="34" charset="0"/>
            </a:endParaRPr>
          </a:p>
        </p:txBody>
      </p:sp>
      <p:sp>
        <p:nvSpPr>
          <p:cNvPr id="120838" name="Text Box 5"/>
          <p:cNvSpPr txBox="1"/>
          <p:nvPr/>
        </p:nvSpPr>
        <p:spPr>
          <a:xfrm>
            <a:off x="4699000" y="2362200"/>
            <a:ext cx="1082675" cy="406400"/>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电影</a:t>
            </a:r>
            <a:endParaRPr lang="zh-CN" altLang="en-US" sz="2000" b="0" dirty="0">
              <a:solidFill>
                <a:schemeClr val="tx1"/>
              </a:solidFill>
              <a:ea typeface="Arial" panose="020B0604020202020204" pitchFamily="34" charset="0"/>
            </a:endParaRPr>
          </a:p>
        </p:txBody>
      </p:sp>
      <p:sp>
        <p:nvSpPr>
          <p:cNvPr id="120839" name="AutoShape 6"/>
          <p:cNvSpPr/>
          <p:nvPr/>
        </p:nvSpPr>
        <p:spPr>
          <a:xfrm>
            <a:off x="2946400" y="22606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出演</a:t>
            </a:r>
            <a:endParaRPr lang="zh-CN" altLang="en-US" sz="2400" b="0" dirty="0">
              <a:solidFill>
                <a:schemeClr val="tx1"/>
              </a:solidFill>
              <a:ea typeface="Arial" panose="020B0604020202020204" pitchFamily="34" charset="0"/>
            </a:endParaRPr>
          </a:p>
        </p:txBody>
      </p:sp>
      <p:cxnSp>
        <p:nvCxnSpPr>
          <p:cNvPr id="120840" name="AutoShape 7"/>
          <p:cNvCxnSpPr>
            <a:stCxn id="120837" idx="3"/>
            <a:endCxn id="120839" idx="1"/>
          </p:cNvCxnSpPr>
          <p:nvPr/>
        </p:nvCxnSpPr>
        <p:spPr>
          <a:xfrm>
            <a:off x="2568575" y="2565400"/>
            <a:ext cx="377825" cy="0"/>
          </a:xfrm>
          <a:prstGeom prst="straightConnector1">
            <a:avLst/>
          </a:prstGeom>
          <a:ln w="9525" cap="flat" cmpd="sng">
            <a:solidFill>
              <a:schemeClr val="tx1"/>
            </a:solidFill>
            <a:prstDash val="solid"/>
            <a:headEnd type="none" w="med" len="med"/>
            <a:tailEnd type="none" w="med" len="med"/>
          </a:ln>
        </p:spPr>
      </p:cxnSp>
      <p:cxnSp>
        <p:nvCxnSpPr>
          <p:cNvPr id="120841" name="AutoShape 8"/>
          <p:cNvCxnSpPr>
            <a:stCxn id="120839" idx="3"/>
            <a:endCxn id="120838" idx="1"/>
          </p:cNvCxnSpPr>
          <p:nvPr/>
        </p:nvCxnSpPr>
        <p:spPr>
          <a:xfrm>
            <a:off x="4241800" y="2565400"/>
            <a:ext cx="457200" cy="0"/>
          </a:xfrm>
          <a:prstGeom prst="straightConnector1">
            <a:avLst/>
          </a:prstGeom>
          <a:ln w="9525" cap="flat" cmpd="sng">
            <a:solidFill>
              <a:schemeClr val="tx1"/>
            </a:solidFill>
            <a:prstDash val="solid"/>
            <a:headEnd type="none" w="med" len="med"/>
            <a:tailEnd type="none" w="med" len="med"/>
          </a:ln>
        </p:spPr>
      </p:cxnSp>
      <p:sp>
        <p:nvSpPr>
          <p:cNvPr id="120842" name="Text Box 9"/>
          <p:cNvSpPr txBox="1"/>
          <p:nvPr/>
        </p:nvSpPr>
        <p:spPr>
          <a:xfrm>
            <a:off x="4165600" y="20828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20843" name="Text Box 10"/>
          <p:cNvSpPr txBox="1"/>
          <p:nvPr/>
        </p:nvSpPr>
        <p:spPr>
          <a:xfrm>
            <a:off x="2552700" y="21336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20844" name="Oval 11"/>
          <p:cNvSpPr/>
          <p:nvPr/>
        </p:nvSpPr>
        <p:spPr>
          <a:xfrm>
            <a:off x="19431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生日</a:t>
            </a:r>
            <a:endParaRPr lang="zh-CN" altLang="en-US" sz="1600" b="0" dirty="0">
              <a:solidFill>
                <a:schemeClr val="tx1"/>
              </a:solidFill>
              <a:ea typeface="Arial" panose="020B0604020202020204" pitchFamily="34" charset="0"/>
            </a:endParaRPr>
          </a:p>
        </p:txBody>
      </p:sp>
      <p:sp>
        <p:nvSpPr>
          <p:cNvPr id="120845" name="Oval 12"/>
          <p:cNvSpPr/>
          <p:nvPr/>
        </p:nvSpPr>
        <p:spPr>
          <a:xfrm>
            <a:off x="11811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性别</a:t>
            </a:r>
            <a:endParaRPr lang="zh-CN" altLang="en-US" sz="1600" b="0" dirty="0">
              <a:solidFill>
                <a:schemeClr val="tx1"/>
              </a:solidFill>
              <a:ea typeface="Arial" panose="020B0604020202020204" pitchFamily="34" charset="0"/>
            </a:endParaRPr>
          </a:p>
        </p:txBody>
      </p:sp>
      <p:sp>
        <p:nvSpPr>
          <p:cNvPr id="120846" name="Oval 13"/>
          <p:cNvSpPr/>
          <p:nvPr/>
        </p:nvSpPr>
        <p:spPr>
          <a:xfrm>
            <a:off x="27051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地址</a:t>
            </a:r>
            <a:endParaRPr lang="zh-CN" altLang="en-US" sz="1600" b="0" dirty="0">
              <a:solidFill>
                <a:schemeClr val="tx1"/>
              </a:solidFill>
              <a:ea typeface="Arial" panose="020B0604020202020204" pitchFamily="34" charset="0"/>
            </a:endParaRPr>
          </a:p>
        </p:txBody>
      </p:sp>
      <p:sp>
        <p:nvSpPr>
          <p:cNvPr id="120847" name="Oval 14"/>
          <p:cNvSpPr/>
          <p:nvPr/>
        </p:nvSpPr>
        <p:spPr>
          <a:xfrm>
            <a:off x="419100" y="35814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姓名</a:t>
            </a:r>
            <a:endParaRPr lang="zh-CN" altLang="en-US" sz="1600" b="0" dirty="0">
              <a:solidFill>
                <a:schemeClr val="tx1"/>
              </a:solidFill>
              <a:ea typeface="Arial" panose="020B0604020202020204" pitchFamily="34" charset="0"/>
            </a:endParaRPr>
          </a:p>
        </p:txBody>
      </p:sp>
      <p:sp>
        <p:nvSpPr>
          <p:cNvPr id="120848" name="Oval 15"/>
          <p:cNvSpPr/>
          <p:nvPr/>
        </p:nvSpPr>
        <p:spPr>
          <a:xfrm>
            <a:off x="6997700" y="32131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类型</a:t>
            </a:r>
            <a:endParaRPr lang="zh-CN" altLang="en-US" sz="1600" b="0" dirty="0">
              <a:solidFill>
                <a:schemeClr val="tx1"/>
              </a:solidFill>
              <a:ea typeface="Arial" panose="020B0604020202020204" pitchFamily="34" charset="0"/>
            </a:endParaRPr>
          </a:p>
        </p:txBody>
      </p:sp>
      <p:sp>
        <p:nvSpPr>
          <p:cNvPr id="120849" name="Oval 16"/>
          <p:cNvSpPr/>
          <p:nvPr/>
        </p:nvSpPr>
        <p:spPr>
          <a:xfrm>
            <a:off x="6997700" y="26162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片长</a:t>
            </a:r>
            <a:endParaRPr lang="zh-CN" altLang="en-US" sz="1600" b="0" dirty="0">
              <a:solidFill>
                <a:schemeClr val="tx1"/>
              </a:solidFill>
              <a:ea typeface="Arial" panose="020B0604020202020204" pitchFamily="34" charset="0"/>
            </a:endParaRPr>
          </a:p>
        </p:txBody>
      </p:sp>
      <p:sp>
        <p:nvSpPr>
          <p:cNvPr id="120850" name="Oval 17"/>
          <p:cNvSpPr/>
          <p:nvPr/>
        </p:nvSpPr>
        <p:spPr>
          <a:xfrm>
            <a:off x="6959600" y="15113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片名</a:t>
            </a:r>
            <a:endParaRPr lang="zh-CN" altLang="en-US" sz="1600" b="0" dirty="0">
              <a:solidFill>
                <a:schemeClr val="tx1"/>
              </a:solidFill>
              <a:ea typeface="Arial" panose="020B0604020202020204" pitchFamily="34" charset="0"/>
            </a:endParaRPr>
          </a:p>
        </p:txBody>
      </p:sp>
      <p:cxnSp>
        <p:nvCxnSpPr>
          <p:cNvPr id="120851" name="AutoShape 18"/>
          <p:cNvCxnSpPr>
            <a:stCxn id="120847" idx="0"/>
            <a:endCxn id="120837" idx="2"/>
          </p:cNvCxnSpPr>
          <p:nvPr/>
        </p:nvCxnSpPr>
        <p:spPr>
          <a:xfrm flipV="1">
            <a:off x="762000" y="2768600"/>
            <a:ext cx="1265238" cy="812800"/>
          </a:xfrm>
          <a:prstGeom prst="straightConnector1">
            <a:avLst/>
          </a:prstGeom>
          <a:ln w="9525" cap="flat" cmpd="sng">
            <a:solidFill>
              <a:schemeClr val="tx1"/>
            </a:solidFill>
            <a:prstDash val="solid"/>
            <a:headEnd type="none" w="med" len="med"/>
            <a:tailEnd type="none" w="med" len="med"/>
          </a:ln>
        </p:spPr>
      </p:cxnSp>
      <p:cxnSp>
        <p:nvCxnSpPr>
          <p:cNvPr id="120852" name="AutoShape 19"/>
          <p:cNvCxnSpPr>
            <a:stCxn id="120845" idx="0"/>
            <a:endCxn id="120837" idx="2"/>
          </p:cNvCxnSpPr>
          <p:nvPr/>
        </p:nvCxnSpPr>
        <p:spPr>
          <a:xfrm flipV="1">
            <a:off x="1524000" y="2768600"/>
            <a:ext cx="503238" cy="812800"/>
          </a:xfrm>
          <a:prstGeom prst="straightConnector1">
            <a:avLst/>
          </a:prstGeom>
          <a:ln w="9525" cap="flat" cmpd="sng">
            <a:solidFill>
              <a:schemeClr val="tx1"/>
            </a:solidFill>
            <a:prstDash val="solid"/>
            <a:headEnd type="none" w="med" len="med"/>
            <a:tailEnd type="none" w="med" len="med"/>
          </a:ln>
        </p:spPr>
      </p:cxnSp>
      <p:cxnSp>
        <p:nvCxnSpPr>
          <p:cNvPr id="120853" name="AutoShape 20"/>
          <p:cNvCxnSpPr>
            <a:stCxn id="120844" idx="0"/>
            <a:endCxn id="120837" idx="2"/>
          </p:cNvCxnSpPr>
          <p:nvPr/>
        </p:nvCxnSpPr>
        <p:spPr>
          <a:xfrm flipH="1" flipV="1">
            <a:off x="2027238" y="2768600"/>
            <a:ext cx="258762" cy="812800"/>
          </a:xfrm>
          <a:prstGeom prst="straightConnector1">
            <a:avLst/>
          </a:prstGeom>
          <a:ln w="9525" cap="flat" cmpd="sng">
            <a:solidFill>
              <a:schemeClr val="tx1"/>
            </a:solidFill>
            <a:prstDash val="solid"/>
            <a:headEnd type="none" w="med" len="med"/>
            <a:tailEnd type="none" w="med" len="med"/>
          </a:ln>
        </p:spPr>
      </p:cxnSp>
      <p:cxnSp>
        <p:nvCxnSpPr>
          <p:cNvPr id="120854" name="AutoShape 21"/>
          <p:cNvCxnSpPr>
            <a:stCxn id="120846" idx="0"/>
            <a:endCxn id="120837" idx="2"/>
          </p:cNvCxnSpPr>
          <p:nvPr/>
        </p:nvCxnSpPr>
        <p:spPr>
          <a:xfrm flipH="1" flipV="1">
            <a:off x="2027238" y="2768600"/>
            <a:ext cx="1020762" cy="812800"/>
          </a:xfrm>
          <a:prstGeom prst="straightConnector1">
            <a:avLst/>
          </a:prstGeom>
          <a:ln w="9525" cap="flat" cmpd="sng">
            <a:solidFill>
              <a:schemeClr val="tx1"/>
            </a:solidFill>
            <a:prstDash val="solid"/>
            <a:headEnd type="none" w="med" len="med"/>
            <a:tailEnd type="none" w="med" len="med"/>
          </a:ln>
        </p:spPr>
      </p:cxnSp>
      <p:cxnSp>
        <p:nvCxnSpPr>
          <p:cNvPr id="120855" name="AutoShape 22"/>
          <p:cNvCxnSpPr>
            <a:stCxn id="120848" idx="2"/>
            <a:endCxn id="120838" idx="3"/>
          </p:cNvCxnSpPr>
          <p:nvPr/>
        </p:nvCxnSpPr>
        <p:spPr>
          <a:xfrm flipH="1" flipV="1">
            <a:off x="5781675" y="2565400"/>
            <a:ext cx="1216025" cy="876300"/>
          </a:xfrm>
          <a:prstGeom prst="straightConnector1">
            <a:avLst/>
          </a:prstGeom>
          <a:ln w="9525" cap="flat" cmpd="sng">
            <a:solidFill>
              <a:schemeClr val="tx1"/>
            </a:solidFill>
            <a:prstDash val="solid"/>
            <a:headEnd type="none" w="med" len="med"/>
            <a:tailEnd type="none" w="med" len="med"/>
          </a:ln>
        </p:spPr>
      </p:cxnSp>
      <p:cxnSp>
        <p:nvCxnSpPr>
          <p:cNvPr id="120856" name="AutoShape 23"/>
          <p:cNvCxnSpPr>
            <a:stCxn id="120849" idx="2"/>
            <a:endCxn id="120838" idx="3"/>
          </p:cNvCxnSpPr>
          <p:nvPr/>
        </p:nvCxnSpPr>
        <p:spPr>
          <a:xfrm flipH="1" flipV="1">
            <a:off x="5781675" y="2565400"/>
            <a:ext cx="1216025" cy="279400"/>
          </a:xfrm>
          <a:prstGeom prst="straightConnector1">
            <a:avLst/>
          </a:prstGeom>
          <a:ln w="9525" cap="flat" cmpd="sng">
            <a:solidFill>
              <a:schemeClr val="tx1"/>
            </a:solidFill>
            <a:prstDash val="solid"/>
            <a:headEnd type="none" w="med" len="med"/>
            <a:tailEnd type="none" w="med" len="med"/>
          </a:ln>
        </p:spPr>
      </p:cxnSp>
      <p:cxnSp>
        <p:nvCxnSpPr>
          <p:cNvPr id="120857" name="AutoShape 24"/>
          <p:cNvCxnSpPr>
            <a:stCxn id="120850" idx="2"/>
            <a:endCxn id="120838" idx="3"/>
          </p:cNvCxnSpPr>
          <p:nvPr/>
        </p:nvCxnSpPr>
        <p:spPr>
          <a:xfrm flipH="1">
            <a:off x="5781675" y="1739900"/>
            <a:ext cx="1177925" cy="825500"/>
          </a:xfrm>
          <a:prstGeom prst="straightConnector1">
            <a:avLst/>
          </a:prstGeom>
          <a:ln w="9525" cap="flat" cmpd="sng">
            <a:solidFill>
              <a:schemeClr val="tx1"/>
            </a:solidFill>
            <a:prstDash val="solid"/>
            <a:headEnd type="none" w="med" len="med"/>
            <a:tailEnd type="none" w="med" len="med"/>
          </a:ln>
        </p:spPr>
      </p:cxnSp>
      <p:sp>
        <p:nvSpPr>
          <p:cNvPr id="120858" name="Text Box 25"/>
          <p:cNvSpPr txBox="1"/>
          <p:nvPr/>
        </p:nvSpPr>
        <p:spPr>
          <a:xfrm>
            <a:off x="4546600" y="4572000"/>
            <a:ext cx="1371600" cy="406400"/>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制片公司</a:t>
            </a:r>
            <a:endParaRPr lang="zh-CN" altLang="en-US" sz="2000" b="0" dirty="0">
              <a:solidFill>
                <a:schemeClr val="tx1"/>
              </a:solidFill>
              <a:ea typeface="Arial" panose="020B0604020202020204" pitchFamily="34" charset="0"/>
            </a:endParaRPr>
          </a:p>
        </p:txBody>
      </p:sp>
      <p:sp>
        <p:nvSpPr>
          <p:cNvPr id="120859" name="AutoShape 26"/>
          <p:cNvSpPr/>
          <p:nvPr/>
        </p:nvSpPr>
        <p:spPr>
          <a:xfrm>
            <a:off x="4584700" y="33528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投资</a:t>
            </a:r>
            <a:endParaRPr lang="zh-CN" altLang="en-US" sz="2400" b="0" dirty="0">
              <a:solidFill>
                <a:schemeClr val="tx1"/>
              </a:solidFill>
              <a:ea typeface="Arial" panose="020B0604020202020204" pitchFamily="34" charset="0"/>
            </a:endParaRPr>
          </a:p>
        </p:txBody>
      </p:sp>
      <p:cxnSp>
        <p:nvCxnSpPr>
          <p:cNvPr id="120860" name="AutoShape 27"/>
          <p:cNvCxnSpPr>
            <a:stCxn id="120859" idx="2"/>
            <a:endCxn id="120858" idx="0"/>
          </p:cNvCxnSpPr>
          <p:nvPr/>
        </p:nvCxnSpPr>
        <p:spPr>
          <a:xfrm>
            <a:off x="5232400" y="3962400"/>
            <a:ext cx="0" cy="609600"/>
          </a:xfrm>
          <a:prstGeom prst="straightConnector1">
            <a:avLst/>
          </a:prstGeom>
          <a:ln w="9525" cap="flat" cmpd="sng">
            <a:solidFill>
              <a:schemeClr val="tx1"/>
            </a:solidFill>
            <a:prstDash val="solid"/>
            <a:headEnd type="none" w="med" len="med"/>
            <a:tailEnd type="none" w="med" len="med"/>
          </a:ln>
        </p:spPr>
      </p:cxnSp>
      <p:sp>
        <p:nvSpPr>
          <p:cNvPr id="381980" name="Text Box 28"/>
          <p:cNvSpPr txBox="1"/>
          <p:nvPr/>
        </p:nvSpPr>
        <p:spPr>
          <a:xfrm>
            <a:off x="482600" y="4191000"/>
            <a:ext cx="3921125" cy="2014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Char char="•"/>
            </a:pPr>
            <a:r>
              <a:rPr lang="zh-CN" altLang="en-US" sz="1800" b="0" dirty="0">
                <a:solidFill>
                  <a:schemeClr val="tx1"/>
                </a:solidFill>
                <a:cs typeface="Arial" panose="020B0604020202020204" pitchFamily="34" charset="0"/>
              </a:rPr>
              <a:t>一个演员可出演多部电影</a:t>
            </a:r>
            <a:endParaRPr lang="zh-CN" altLang="en-US" sz="1800" b="0" dirty="0">
              <a:solidFill>
                <a:schemeClr val="tx1"/>
              </a:solidFill>
              <a:cs typeface="Arial" panose="020B0604020202020204" pitchFamily="34" charset="0"/>
            </a:endParaRPr>
          </a:p>
          <a:p>
            <a:pPr marL="0" lvl="0" indent="0" eaLnBrk="1" hangingPunct="1">
              <a:spcBef>
                <a:spcPct val="0"/>
              </a:spcBef>
              <a:buClrTx/>
              <a:buFontTx/>
              <a:buChar char="•"/>
            </a:pPr>
            <a:r>
              <a:rPr lang="zh-CN" altLang="en-US" sz="1800" b="0" dirty="0">
                <a:solidFill>
                  <a:schemeClr val="tx1"/>
                </a:solidFill>
                <a:cs typeface="Arial" panose="020B0604020202020204" pitchFamily="34" charset="0"/>
              </a:rPr>
              <a:t>一部电影由多个演员出演</a:t>
            </a:r>
            <a:endParaRPr lang="zh-CN" altLang="en-US" sz="1800" b="0" dirty="0">
              <a:solidFill>
                <a:schemeClr val="tx1"/>
              </a:solidFill>
              <a:cs typeface="Arial" panose="020B0604020202020204" pitchFamily="34" charset="0"/>
            </a:endParaRPr>
          </a:p>
          <a:p>
            <a:pPr marL="0" lvl="0" indent="0" eaLnBrk="1" hangingPunct="1">
              <a:spcBef>
                <a:spcPct val="0"/>
              </a:spcBef>
              <a:buClrTx/>
              <a:buFontTx/>
              <a:buChar char="•"/>
            </a:pPr>
            <a:r>
              <a:rPr lang="zh-CN" altLang="en-US" sz="1800" b="0" dirty="0">
                <a:solidFill>
                  <a:schemeClr val="tx1"/>
                </a:solidFill>
                <a:cs typeface="Arial" panose="020B0604020202020204" pitchFamily="34" charset="0"/>
              </a:rPr>
              <a:t>一个制片公司可投资拍摄多部影片</a:t>
            </a:r>
            <a:endParaRPr lang="zh-CN" altLang="en-US" sz="1800" b="0" dirty="0">
              <a:solidFill>
                <a:schemeClr val="tx1"/>
              </a:solidFill>
              <a:cs typeface="Arial" panose="020B0604020202020204" pitchFamily="34" charset="0"/>
            </a:endParaRPr>
          </a:p>
          <a:p>
            <a:pPr marL="0" lvl="0" indent="0" eaLnBrk="1" hangingPunct="1">
              <a:spcBef>
                <a:spcPct val="0"/>
              </a:spcBef>
              <a:buClrTx/>
              <a:buFontTx/>
              <a:buChar char="•"/>
            </a:pPr>
            <a:r>
              <a:rPr lang="zh-CN" altLang="en-US" sz="1800" b="0" dirty="0">
                <a:solidFill>
                  <a:srgbClr val="FF0000"/>
                </a:solidFill>
                <a:cs typeface="Arial" panose="020B0604020202020204" pitchFamily="34" charset="0"/>
              </a:rPr>
              <a:t>一部影片可由多家制片公司联合投资</a:t>
            </a:r>
            <a:endParaRPr lang="zh-CN" altLang="en-US" sz="1800" b="0" dirty="0">
              <a:solidFill>
                <a:srgbClr val="FF0000"/>
              </a:solidFill>
              <a:cs typeface="Arial" panose="020B0604020202020204" pitchFamily="34" charset="0"/>
            </a:endParaRPr>
          </a:p>
          <a:p>
            <a:pPr marL="0" lvl="0" indent="0" eaLnBrk="1" hangingPunct="1">
              <a:spcBef>
                <a:spcPct val="0"/>
              </a:spcBef>
              <a:buClrTx/>
              <a:buFontTx/>
              <a:buChar char="•"/>
            </a:pPr>
            <a:r>
              <a:rPr lang="zh-CN" altLang="en-US" sz="1800" b="0" dirty="0">
                <a:solidFill>
                  <a:srgbClr val="6600FF"/>
                </a:solidFill>
                <a:cs typeface="Arial" panose="020B0604020202020204" pitchFamily="34" charset="0"/>
              </a:rPr>
              <a:t>演员只通过某部电影与制片公司联系</a:t>
            </a:r>
            <a:endParaRPr lang="zh-CN" altLang="en-US" sz="1800" b="0" dirty="0">
              <a:solidFill>
                <a:srgbClr val="6600FF"/>
              </a:solidFill>
              <a:cs typeface="Arial" panose="020B0604020202020204" pitchFamily="34" charset="0"/>
            </a:endParaRPr>
          </a:p>
          <a:p>
            <a:pPr marL="0" lvl="0" indent="0" eaLnBrk="1" hangingPunct="1">
              <a:spcBef>
                <a:spcPct val="0"/>
              </a:spcBef>
              <a:buClrTx/>
              <a:buFontTx/>
              <a:buChar char="•"/>
            </a:pPr>
            <a:r>
              <a:rPr lang="zh-CN" altLang="en-US" sz="1800" b="0" dirty="0">
                <a:solidFill>
                  <a:schemeClr val="tx1"/>
                </a:solidFill>
                <a:cs typeface="Arial" panose="020B0604020202020204" pitchFamily="34" charset="0"/>
              </a:rPr>
              <a:t>同一演员在不同的影片中片酬不同</a:t>
            </a:r>
            <a:endParaRPr lang="zh-CN" altLang="en-US" sz="1800" b="0" dirty="0">
              <a:solidFill>
                <a:schemeClr val="tx1"/>
              </a:solidFill>
              <a:cs typeface="Arial" panose="020B0604020202020204" pitchFamily="34" charset="0"/>
            </a:endParaRPr>
          </a:p>
          <a:p>
            <a:pPr marL="0" lvl="0" indent="0" eaLnBrk="1" hangingPunct="1">
              <a:spcBef>
                <a:spcPct val="0"/>
              </a:spcBef>
              <a:buClrTx/>
              <a:buFontTx/>
              <a:buChar char="•"/>
            </a:pPr>
            <a:r>
              <a:rPr lang="zh-CN" altLang="en-US" sz="1800" b="0" dirty="0">
                <a:solidFill>
                  <a:schemeClr val="tx1"/>
                </a:solidFill>
                <a:cs typeface="Arial" panose="020B0604020202020204" pitchFamily="34" charset="0"/>
              </a:rPr>
              <a:t>同一影片对不同的演员给不同的片酬</a:t>
            </a:r>
            <a:endParaRPr lang="zh-CN" altLang="en-US" sz="1800" b="0" dirty="0">
              <a:solidFill>
                <a:schemeClr val="tx1"/>
              </a:solidFill>
              <a:ea typeface="Arial" panose="020B0604020202020204" pitchFamily="34" charset="0"/>
            </a:endParaRPr>
          </a:p>
        </p:txBody>
      </p:sp>
      <p:sp>
        <p:nvSpPr>
          <p:cNvPr id="120862" name="Oval 29"/>
          <p:cNvSpPr/>
          <p:nvPr/>
        </p:nvSpPr>
        <p:spPr>
          <a:xfrm>
            <a:off x="5283200" y="5803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地址</a:t>
            </a:r>
            <a:endParaRPr lang="zh-CN" altLang="en-US" sz="1600" b="0" dirty="0">
              <a:solidFill>
                <a:schemeClr val="tx1"/>
              </a:solidFill>
              <a:ea typeface="Arial" panose="020B0604020202020204" pitchFamily="34" charset="0"/>
            </a:endParaRPr>
          </a:p>
        </p:txBody>
      </p:sp>
      <p:sp>
        <p:nvSpPr>
          <p:cNvPr id="120863" name="Oval 30"/>
          <p:cNvSpPr/>
          <p:nvPr/>
        </p:nvSpPr>
        <p:spPr>
          <a:xfrm>
            <a:off x="4521200" y="58039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名称</a:t>
            </a:r>
            <a:endParaRPr lang="zh-CN" altLang="en-US" sz="1600" b="0" dirty="0">
              <a:solidFill>
                <a:schemeClr val="tx1"/>
              </a:solidFill>
              <a:ea typeface="Arial" panose="020B0604020202020204" pitchFamily="34" charset="0"/>
            </a:endParaRPr>
          </a:p>
        </p:txBody>
      </p:sp>
      <p:cxnSp>
        <p:nvCxnSpPr>
          <p:cNvPr id="120864" name="AutoShape 31"/>
          <p:cNvCxnSpPr>
            <a:stCxn id="120863" idx="0"/>
            <a:endCxn id="120858" idx="2"/>
          </p:cNvCxnSpPr>
          <p:nvPr/>
        </p:nvCxnSpPr>
        <p:spPr>
          <a:xfrm flipV="1">
            <a:off x="4864100" y="4978400"/>
            <a:ext cx="368300" cy="825500"/>
          </a:xfrm>
          <a:prstGeom prst="straightConnector1">
            <a:avLst/>
          </a:prstGeom>
          <a:ln w="9525" cap="flat" cmpd="sng">
            <a:solidFill>
              <a:schemeClr val="tx1"/>
            </a:solidFill>
            <a:prstDash val="solid"/>
            <a:headEnd type="none" w="med" len="med"/>
            <a:tailEnd type="none" w="med" len="med"/>
          </a:ln>
        </p:spPr>
      </p:cxnSp>
      <p:cxnSp>
        <p:nvCxnSpPr>
          <p:cNvPr id="120865" name="AutoShape 32"/>
          <p:cNvCxnSpPr>
            <a:stCxn id="120862" idx="0"/>
            <a:endCxn id="120858" idx="2"/>
          </p:cNvCxnSpPr>
          <p:nvPr/>
        </p:nvCxnSpPr>
        <p:spPr>
          <a:xfrm flipH="1" flipV="1">
            <a:off x="5232400" y="4978400"/>
            <a:ext cx="393700" cy="825500"/>
          </a:xfrm>
          <a:prstGeom prst="straightConnector1">
            <a:avLst/>
          </a:prstGeom>
          <a:ln w="9525" cap="flat" cmpd="sng">
            <a:solidFill>
              <a:schemeClr val="tx1"/>
            </a:solidFill>
            <a:prstDash val="solid"/>
            <a:headEnd type="none" w="med" len="med"/>
            <a:tailEnd type="none" w="med" len="med"/>
          </a:ln>
        </p:spPr>
      </p:cxnSp>
      <p:cxnSp>
        <p:nvCxnSpPr>
          <p:cNvPr id="120866" name="AutoShape 33"/>
          <p:cNvCxnSpPr>
            <a:stCxn id="120838" idx="2"/>
            <a:endCxn id="120859" idx="0"/>
          </p:cNvCxnSpPr>
          <p:nvPr/>
        </p:nvCxnSpPr>
        <p:spPr>
          <a:xfrm flipH="1">
            <a:off x="5232400" y="2768600"/>
            <a:ext cx="7938" cy="584200"/>
          </a:xfrm>
          <a:prstGeom prst="straightConnector1">
            <a:avLst/>
          </a:prstGeom>
          <a:ln w="9525" cap="flat" cmpd="sng">
            <a:solidFill>
              <a:schemeClr val="tx1"/>
            </a:solidFill>
            <a:prstDash val="solid"/>
            <a:headEnd type="none" w="med" len="med"/>
            <a:tailEnd type="none" w="med" len="med"/>
          </a:ln>
        </p:spPr>
      </p:cxnSp>
      <p:sp>
        <p:nvSpPr>
          <p:cNvPr id="120867" name="Text Box 34"/>
          <p:cNvSpPr txBox="1"/>
          <p:nvPr/>
        </p:nvSpPr>
        <p:spPr>
          <a:xfrm>
            <a:off x="5283200" y="28194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sp>
        <p:nvSpPr>
          <p:cNvPr id="120868" name="Text Box 35"/>
          <p:cNvSpPr txBox="1"/>
          <p:nvPr/>
        </p:nvSpPr>
        <p:spPr>
          <a:xfrm>
            <a:off x="5359400" y="40386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grpSp>
        <p:nvGrpSpPr>
          <p:cNvPr id="381988" name="Group 36"/>
          <p:cNvGrpSpPr/>
          <p:nvPr/>
        </p:nvGrpSpPr>
        <p:grpSpPr>
          <a:xfrm>
            <a:off x="3251200" y="1600200"/>
            <a:ext cx="685800" cy="660400"/>
            <a:chOff x="1888" y="1008"/>
            <a:chExt cx="432" cy="416"/>
          </a:xfrm>
        </p:grpSpPr>
        <p:sp>
          <p:nvSpPr>
            <p:cNvPr id="120879" name="Oval 37"/>
            <p:cNvSpPr/>
            <p:nvPr/>
          </p:nvSpPr>
          <p:spPr>
            <a:xfrm>
              <a:off x="1888" y="1008"/>
              <a:ext cx="432" cy="28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bg1"/>
                  </a:solidFill>
                  <a:cs typeface="Arial" panose="020B0604020202020204" pitchFamily="34" charset="0"/>
                </a:rPr>
                <a:t>片酬</a:t>
              </a:r>
              <a:endParaRPr lang="zh-CN" altLang="en-US" sz="1600" b="0" dirty="0">
                <a:solidFill>
                  <a:schemeClr val="bg1"/>
                </a:solidFill>
                <a:ea typeface="Arial" panose="020B0604020202020204" pitchFamily="34" charset="0"/>
              </a:endParaRPr>
            </a:p>
          </p:txBody>
        </p:sp>
        <p:cxnSp>
          <p:nvCxnSpPr>
            <p:cNvPr id="120880" name="AutoShape 38"/>
            <p:cNvCxnSpPr>
              <a:stCxn id="120879" idx="4"/>
              <a:endCxn id="120839" idx="0"/>
            </p:cNvCxnSpPr>
            <p:nvPr/>
          </p:nvCxnSpPr>
          <p:spPr>
            <a:xfrm>
              <a:off x="2104" y="1296"/>
              <a:ext cx="0" cy="128"/>
            </a:xfrm>
            <a:prstGeom prst="straightConnector1">
              <a:avLst/>
            </a:prstGeom>
            <a:ln w="9525" cap="flat" cmpd="sng">
              <a:solidFill>
                <a:schemeClr val="tx1"/>
              </a:solidFill>
              <a:prstDash val="solid"/>
              <a:headEnd type="none" w="med" len="med"/>
              <a:tailEnd type="none" w="med" len="med"/>
            </a:ln>
          </p:spPr>
        </p:cxnSp>
      </p:grpSp>
      <p:sp>
        <p:nvSpPr>
          <p:cNvPr id="381991" name="Text Box 39"/>
          <p:cNvSpPr txBox="1"/>
          <p:nvPr/>
        </p:nvSpPr>
        <p:spPr>
          <a:xfrm>
            <a:off x="6654800" y="3962400"/>
            <a:ext cx="2133600" cy="14335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8800" b="0" dirty="0">
                <a:solidFill>
                  <a:srgbClr val="FF0000"/>
                </a:solidFill>
                <a:latin typeface="Arial Black" panose="020B0A04020102020204" pitchFamily="34" charset="0"/>
                <a:ea typeface="黑体" panose="02010609060101010101" pitchFamily="49" charset="-122"/>
              </a:rPr>
              <a:t>OK</a:t>
            </a:r>
            <a:endParaRPr lang="en-US" altLang="zh-CN" sz="8800" b="0" dirty="0">
              <a:solidFill>
                <a:srgbClr val="FF0000"/>
              </a:solidFill>
              <a:latin typeface="Arial Black" panose="020B0A04020102020204" pitchFamily="34" charset="0"/>
              <a:ea typeface="黑体" panose="02010609060101010101" pitchFamily="49" charset="-122"/>
            </a:endParaRPr>
          </a:p>
        </p:txBody>
      </p:sp>
      <p:grpSp>
        <p:nvGrpSpPr>
          <p:cNvPr id="381992" name="Group 40"/>
          <p:cNvGrpSpPr/>
          <p:nvPr/>
        </p:nvGrpSpPr>
        <p:grpSpPr>
          <a:xfrm>
            <a:off x="1689100" y="1600200"/>
            <a:ext cx="685800" cy="762000"/>
            <a:chOff x="904" y="1008"/>
            <a:chExt cx="432" cy="480"/>
          </a:xfrm>
        </p:grpSpPr>
        <p:sp>
          <p:nvSpPr>
            <p:cNvPr id="120877" name="Oval 41"/>
            <p:cNvSpPr/>
            <p:nvPr/>
          </p:nvSpPr>
          <p:spPr>
            <a:xfrm>
              <a:off x="904" y="1008"/>
              <a:ext cx="432" cy="28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bg1"/>
                  </a:solidFill>
                  <a:cs typeface="Arial" panose="020B0604020202020204" pitchFamily="34" charset="0"/>
                </a:rPr>
                <a:t>片酬</a:t>
              </a:r>
              <a:endParaRPr lang="zh-CN" altLang="en-US" sz="1600" b="0" dirty="0">
                <a:solidFill>
                  <a:schemeClr val="bg1"/>
                </a:solidFill>
                <a:ea typeface="Arial" panose="020B0604020202020204" pitchFamily="34" charset="0"/>
              </a:endParaRPr>
            </a:p>
          </p:txBody>
        </p:sp>
        <p:cxnSp>
          <p:nvCxnSpPr>
            <p:cNvPr id="120878" name="AutoShape 42"/>
            <p:cNvCxnSpPr>
              <a:stCxn id="120877" idx="4"/>
              <a:endCxn id="120837" idx="0"/>
            </p:cNvCxnSpPr>
            <p:nvPr/>
          </p:nvCxnSpPr>
          <p:spPr>
            <a:xfrm flipH="1">
              <a:off x="1117" y="1296"/>
              <a:ext cx="3" cy="192"/>
            </a:xfrm>
            <a:prstGeom prst="straightConnector1">
              <a:avLst/>
            </a:prstGeom>
            <a:ln w="9525" cap="flat" cmpd="sng">
              <a:solidFill>
                <a:schemeClr val="tx1"/>
              </a:solidFill>
              <a:prstDash val="solid"/>
              <a:headEnd type="none" w="med" len="med"/>
              <a:tailEnd type="none" w="med" len="med"/>
            </a:ln>
          </p:spPr>
        </p:cxnSp>
      </p:grpSp>
      <p:grpSp>
        <p:nvGrpSpPr>
          <p:cNvPr id="381995" name="Group 43"/>
          <p:cNvGrpSpPr/>
          <p:nvPr/>
        </p:nvGrpSpPr>
        <p:grpSpPr>
          <a:xfrm>
            <a:off x="4889500" y="1600200"/>
            <a:ext cx="685800" cy="762000"/>
            <a:chOff x="2920" y="1008"/>
            <a:chExt cx="432" cy="480"/>
          </a:xfrm>
        </p:grpSpPr>
        <p:sp>
          <p:nvSpPr>
            <p:cNvPr id="120875" name="Oval 44"/>
            <p:cNvSpPr/>
            <p:nvPr/>
          </p:nvSpPr>
          <p:spPr>
            <a:xfrm>
              <a:off x="2920" y="1008"/>
              <a:ext cx="432" cy="28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bg1"/>
                  </a:solidFill>
                  <a:cs typeface="Arial" panose="020B0604020202020204" pitchFamily="34" charset="0"/>
                </a:rPr>
                <a:t>片酬</a:t>
              </a:r>
              <a:endParaRPr lang="zh-CN" altLang="en-US" sz="1600" b="0" dirty="0">
                <a:solidFill>
                  <a:schemeClr val="bg1"/>
                </a:solidFill>
                <a:ea typeface="Arial" panose="020B0604020202020204" pitchFamily="34" charset="0"/>
              </a:endParaRPr>
            </a:p>
          </p:txBody>
        </p:sp>
        <p:cxnSp>
          <p:nvCxnSpPr>
            <p:cNvPr id="120876" name="AutoShape 45"/>
            <p:cNvCxnSpPr>
              <a:stCxn id="120875" idx="4"/>
              <a:endCxn id="120838" idx="0"/>
            </p:cNvCxnSpPr>
            <p:nvPr/>
          </p:nvCxnSpPr>
          <p:spPr>
            <a:xfrm>
              <a:off x="3136" y="1296"/>
              <a:ext cx="5" cy="192"/>
            </a:xfrm>
            <a:prstGeom prst="straightConnector1">
              <a:avLst/>
            </a:prstGeom>
            <a:ln w="9525" cap="flat" cmpd="sng">
              <a:solidFill>
                <a:schemeClr val="tx1"/>
              </a:solidFill>
              <a:prstDash val="solid"/>
              <a:headEnd type="none" w="med" len="med"/>
              <a:tailEnd type="none" w="med" len="med"/>
            </a:ln>
          </p:spPr>
        </p:cxnSp>
      </p:grpSp>
      <p:sp>
        <p:nvSpPr>
          <p:cNvPr id="120873" name="Oval 46"/>
          <p:cNvSpPr/>
          <p:nvPr/>
        </p:nvSpPr>
        <p:spPr>
          <a:xfrm>
            <a:off x="6972300" y="20701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导演</a:t>
            </a:r>
            <a:endParaRPr lang="zh-CN" altLang="en-US" sz="1600" b="0" dirty="0">
              <a:solidFill>
                <a:schemeClr val="tx1"/>
              </a:solidFill>
              <a:ea typeface="Arial" panose="020B0604020202020204" pitchFamily="34" charset="0"/>
            </a:endParaRPr>
          </a:p>
        </p:txBody>
      </p:sp>
      <p:cxnSp>
        <p:nvCxnSpPr>
          <p:cNvPr id="120874" name="AutoShape 47"/>
          <p:cNvCxnSpPr>
            <a:stCxn id="120838" idx="3"/>
            <a:endCxn id="120873" idx="2"/>
          </p:cNvCxnSpPr>
          <p:nvPr/>
        </p:nvCxnSpPr>
        <p:spPr>
          <a:xfrm flipV="1">
            <a:off x="5781675" y="2298700"/>
            <a:ext cx="1190625" cy="266700"/>
          </a:xfrm>
          <a:prstGeom prst="straightConnector1">
            <a:avLst/>
          </a:prstGeom>
          <a:ln w="9525" cap="flat" cmpd="sng">
            <a:solidFill>
              <a:schemeClr val="tx1"/>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81992"/>
                                        </p:tgtEl>
                                        <p:attrNameLst>
                                          <p:attrName>style.visibility</p:attrName>
                                        </p:attrNameLst>
                                      </p:cBhvr>
                                      <p:to>
                                        <p:strVal val="visible"/>
                                      </p:to>
                                    </p:set>
                                  </p:childTnLst>
                                  <p:subTnLst>
                                    <p:set>
                                      <p:cBhvr override="childStyle">
                                        <p:cTn dur="1" fill="hold" display="0" masterRel="nextClick" afterEffect="1"/>
                                        <p:tgtEl>
                                          <p:spTgt spid="38199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81995"/>
                                        </p:tgtEl>
                                        <p:attrNameLst>
                                          <p:attrName>style.visibility</p:attrName>
                                        </p:attrNameLst>
                                      </p:cBhvr>
                                      <p:to>
                                        <p:strVal val="visible"/>
                                      </p:to>
                                    </p:set>
                                  </p:childTnLst>
                                  <p:subTnLst>
                                    <p:set>
                                      <p:cBhvr override="childStyle">
                                        <p:cTn dur="1" fill="hold" display="0" masterRel="nextClick" afterEffect="1"/>
                                        <p:tgtEl>
                                          <p:spTgt spid="38199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819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819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81991"/>
                                        </p:tgtEl>
                                        <p:attrNameLst>
                                          <p:attrName>style.visibility</p:attrName>
                                        </p:attrNameLst>
                                      </p:cBhvr>
                                      <p:to>
                                        <p:strVal val="visible"/>
                                      </p:to>
                                    </p:set>
                                    <p:animEffect transition="in" filter="blinds(horizontal)">
                                      <p:cBhvr>
                                        <p:cTn id="23" dur="500"/>
                                        <p:tgtEl>
                                          <p:spTgt spid="381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80" grpId="0"/>
      <p:bldP spid="381991"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1859"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21860"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a:t>
            </a:r>
            <a:r>
              <a:rPr lang="en-US" altLang="zh-CN" dirty="0"/>
              <a:t>:</a:t>
            </a:r>
            <a:r>
              <a:rPr lang="zh-CN" altLang="en-US" dirty="0"/>
              <a:t>电影、制片公司、演员</a:t>
            </a:r>
            <a:r>
              <a:rPr lang="en-US" altLang="zh-CN" dirty="0"/>
              <a:t>(2)</a:t>
            </a:r>
            <a:endParaRPr lang="en-US" altLang="zh-CN" dirty="0"/>
          </a:p>
        </p:txBody>
      </p:sp>
      <p:graphicFrame>
        <p:nvGraphicFramePr>
          <p:cNvPr id="382980" name="Group 4"/>
          <p:cNvGraphicFramePr>
            <a:graphicFrameLocks noGrp="1"/>
          </p:cNvGraphicFramePr>
          <p:nvPr/>
        </p:nvGraphicFramePr>
        <p:xfrm>
          <a:off x="152400" y="2286000"/>
          <a:ext cx="4114800" cy="2749550"/>
        </p:xfrm>
        <a:graphic>
          <a:graphicData uri="http://schemas.openxmlformats.org/drawingml/2006/table">
            <a:tbl>
              <a:tblPr/>
              <a:tblGrid>
                <a:gridCol w="1371600"/>
                <a:gridCol w="1676400"/>
                <a:gridCol w="1066800"/>
              </a:tblGrid>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演员</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电影</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片酬</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刘德华</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500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刘若英</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400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周星驰</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功夫</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35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李连杰</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英雄</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梁朝伟</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英雄</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83010" name="Group 34"/>
          <p:cNvGraphicFramePr>
            <a:graphicFrameLocks noGrp="1"/>
          </p:cNvGraphicFramePr>
          <p:nvPr/>
        </p:nvGraphicFramePr>
        <p:xfrm>
          <a:off x="4419600" y="2286000"/>
          <a:ext cx="4572000" cy="4022725"/>
        </p:xfrm>
        <a:graphic>
          <a:graphicData uri="http://schemas.openxmlformats.org/drawingml/2006/table">
            <a:tbl>
              <a:tblPr/>
              <a:tblGrid>
                <a:gridCol w="1600200"/>
                <a:gridCol w="2971800"/>
              </a:tblGrid>
              <a:tr h="45712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电影</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公司</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287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华谊兄弟太合影视投资公司</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12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环亚电影有限公司</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12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北京紫禁城影业公司</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12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功夫</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哥伦比亚</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12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英雄</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北京新画面影业</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12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英雄</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银都机构</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12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英雄</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精英娱乐</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83" marB="4568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1920" name="Text Box 63"/>
          <p:cNvSpPr txBox="1"/>
          <p:nvPr/>
        </p:nvSpPr>
        <p:spPr>
          <a:xfrm>
            <a:off x="1524000" y="1447800"/>
            <a:ext cx="100012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dirty="0">
                <a:solidFill>
                  <a:schemeClr val="hlink"/>
                </a:solidFill>
                <a:cs typeface="Arial" panose="020B0604020202020204" pitchFamily="34" charset="0"/>
              </a:rPr>
              <a:t>出演</a:t>
            </a:r>
            <a:endParaRPr lang="zh-CN" altLang="en-US" dirty="0">
              <a:solidFill>
                <a:schemeClr val="hlink"/>
              </a:solidFill>
              <a:ea typeface="Arial" panose="020B0604020202020204" pitchFamily="34" charset="0"/>
            </a:endParaRPr>
          </a:p>
        </p:txBody>
      </p:sp>
      <p:sp>
        <p:nvSpPr>
          <p:cNvPr id="121921" name="Text Box 64"/>
          <p:cNvSpPr txBox="1"/>
          <p:nvPr/>
        </p:nvSpPr>
        <p:spPr>
          <a:xfrm>
            <a:off x="5994400" y="1435100"/>
            <a:ext cx="100012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dirty="0">
                <a:solidFill>
                  <a:schemeClr val="hlink"/>
                </a:solidFill>
                <a:cs typeface="Arial" panose="020B0604020202020204" pitchFamily="34" charset="0"/>
              </a:rPr>
              <a:t>投资</a:t>
            </a:r>
            <a:endParaRPr lang="zh-CN" altLang="en-US" dirty="0">
              <a:solidFill>
                <a:schemeClr val="hlink"/>
              </a:solidFill>
              <a:ea typeface="Arial" panose="020B0604020202020204"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2883"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22884" name="Rectangle 3"/>
          <p:cNvSpPr>
            <a:spLocks noGrp="1"/>
          </p:cNvSpPr>
          <p:nvPr>
            <p:ph idx="1"/>
          </p:nvPr>
        </p:nvSpPr>
        <p:spPr>
          <a:xfrm>
            <a:off x="228600" y="762000"/>
            <a:ext cx="8686800" cy="1828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a:t>
            </a:r>
            <a:r>
              <a:rPr lang="en-US" altLang="zh-CN" dirty="0"/>
              <a:t>:</a:t>
            </a:r>
            <a:r>
              <a:rPr lang="zh-CN" altLang="en-US" dirty="0"/>
              <a:t>电影、制片公司、演员</a:t>
            </a:r>
            <a:r>
              <a:rPr lang="en-US" altLang="zh-CN" dirty="0"/>
              <a:t>(3)</a:t>
            </a:r>
            <a:endParaRPr lang="en-US" altLang="zh-CN" dirty="0"/>
          </a:p>
          <a:p>
            <a:pPr marL="609600" indent="-609600">
              <a:spcBef>
                <a:spcPct val="0"/>
              </a:spcBef>
              <a:buClrTx/>
              <a:buNone/>
            </a:pPr>
            <a:r>
              <a:rPr lang="en-US" altLang="zh-CN" dirty="0"/>
              <a:t>     </a:t>
            </a:r>
            <a:r>
              <a:rPr lang="zh-CN" altLang="en-US" dirty="0"/>
              <a:t>考虑</a:t>
            </a:r>
            <a:r>
              <a:rPr lang="en-US" altLang="zh-CN" dirty="0"/>
              <a:t>:</a:t>
            </a:r>
            <a:endParaRPr lang="en-US" altLang="zh-CN" dirty="0"/>
          </a:p>
          <a:p>
            <a:pPr marL="1371600" lvl="2" indent="-457200" eaLnBrk="1" hangingPunct="1">
              <a:buClr>
                <a:schemeClr val="tx1"/>
              </a:buClr>
            </a:pPr>
            <a:r>
              <a:rPr lang="zh-CN" altLang="en-US" dirty="0">
                <a:ea typeface="宋体" panose="02010600030101010101" pitchFamily="2" charset="-122"/>
              </a:rPr>
              <a:t>也许需要考虑各制片公司分摊片酬 情况</a:t>
            </a:r>
            <a:r>
              <a:rPr lang="en-US" altLang="zh-CN" dirty="0">
                <a:ea typeface="宋体" panose="02010600030101010101" pitchFamily="2" charset="-122"/>
              </a:rPr>
              <a:t>?   </a:t>
            </a:r>
            <a:endParaRPr lang="en-US" altLang="zh-CN" dirty="0">
              <a:ea typeface="宋体" panose="02010600030101010101" pitchFamily="2" charset="-122"/>
            </a:endParaRPr>
          </a:p>
        </p:txBody>
      </p:sp>
      <p:graphicFrame>
        <p:nvGraphicFramePr>
          <p:cNvPr id="384004" name="Group 4"/>
          <p:cNvGraphicFramePr>
            <a:graphicFrameLocks noGrp="1"/>
          </p:cNvGraphicFramePr>
          <p:nvPr/>
        </p:nvGraphicFramePr>
        <p:xfrm>
          <a:off x="914400" y="2514600"/>
          <a:ext cx="7239000" cy="3206750"/>
        </p:xfrm>
        <a:graphic>
          <a:graphicData uri="http://schemas.openxmlformats.org/drawingml/2006/table">
            <a:tbl>
              <a:tblPr/>
              <a:tblGrid>
                <a:gridCol w="1295400"/>
                <a:gridCol w="1600200"/>
                <a:gridCol w="3175000"/>
                <a:gridCol w="1168400"/>
              </a:tblGrid>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演员</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电影</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公司</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片酬</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刘德华</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华谊</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刘德华</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环亚</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刘德华</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紫禁城</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35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刘若英</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华谊</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刘若英</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环亚</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刘若英</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天下无贼</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紫禁城</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3907"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23908" name="Rectangle 3"/>
          <p:cNvSpPr>
            <a:spLocks noGrp="1"/>
          </p:cNvSpPr>
          <p:nvPr>
            <p:ph idx="1"/>
          </p:nvPr>
        </p:nvSpPr>
        <p:spPr>
          <a:xfrm>
            <a:off x="228600" y="762000"/>
            <a:ext cx="8686800" cy="685800"/>
          </a:xfrm>
          <a:ln/>
        </p:spPr>
        <p:txBody>
          <a:bodyPr vert="horz" wrap="square" lIns="91440" tIns="45720" rIns="91440" bIns="45720" anchor="t" anchorCtr="0"/>
          <a:p>
            <a:pPr marL="609600" indent="-609600">
              <a:spcBef>
                <a:spcPct val="0"/>
              </a:spcBef>
              <a:buClrTx/>
            </a:pPr>
            <a:r>
              <a:rPr lang="en-US" altLang="zh-CN" dirty="0"/>
              <a:t>E-R</a:t>
            </a:r>
            <a:r>
              <a:rPr lang="zh-CN" altLang="en-US" dirty="0"/>
              <a:t>方法举例</a:t>
            </a:r>
            <a:r>
              <a:rPr lang="en-US" altLang="zh-CN" dirty="0"/>
              <a:t>:</a:t>
            </a:r>
            <a:r>
              <a:rPr lang="zh-CN" altLang="en-US" dirty="0"/>
              <a:t>电影、制片公司、演员</a:t>
            </a:r>
            <a:r>
              <a:rPr lang="en-US" altLang="zh-CN" dirty="0"/>
              <a:t>(4)</a:t>
            </a:r>
            <a:endParaRPr lang="en-US" altLang="zh-CN" dirty="0"/>
          </a:p>
        </p:txBody>
      </p:sp>
      <p:sp>
        <p:nvSpPr>
          <p:cNvPr id="123909" name="Text Box 4"/>
          <p:cNvSpPr txBox="1"/>
          <p:nvPr/>
        </p:nvSpPr>
        <p:spPr>
          <a:xfrm>
            <a:off x="4737100" y="2260600"/>
            <a:ext cx="1082675" cy="406400"/>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电影</a:t>
            </a:r>
            <a:endParaRPr lang="zh-CN" altLang="en-US" sz="2000" b="0" dirty="0">
              <a:solidFill>
                <a:schemeClr val="tx1"/>
              </a:solidFill>
              <a:ea typeface="Arial" panose="020B0604020202020204" pitchFamily="34" charset="0"/>
            </a:endParaRPr>
          </a:p>
        </p:txBody>
      </p:sp>
      <p:sp>
        <p:nvSpPr>
          <p:cNvPr id="123910" name="AutoShape 5"/>
          <p:cNvSpPr/>
          <p:nvPr/>
        </p:nvSpPr>
        <p:spPr>
          <a:xfrm>
            <a:off x="2984500" y="2159000"/>
            <a:ext cx="1295400" cy="609600"/>
          </a:xfrm>
          <a:prstGeom prst="flowChartDecision">
            <a:avLst/>
          </a:prstGeom>
          <a:gradFill rotWithShape="0">
            <a:gsLst>
              <a:gs pos="0">
                <a:srgbClr val="0066CC"/>
              </a:gs>
              <a:gs pos="100000">
                <a:srgbClr val="3399FF"/>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b="0" dirty="0">
                <a:solidFill>
                  <a:schemeClr val="tx1"/>
                </a:solidFill>
                <a:cs typeface="Arial" panose="020B0604020202020204" pitchFamily="34" charset="0"/>
              </a:rPr>
              <a:t>合作</a:t>
            </a:r>
            <a:endParaRPr lang="zh-CN" altLang="en-US" sz="2400" b="0" dirty="0">
              <a:solidFill>
                <a:schemeClr val="tx1"/>
              </a:solidFill>
              <a:ea typeface="Arial" panose="020B0604020202020204" pitchFamily="34" charset="0"/>
            </a:endParaRPr>
          </a:p>
        </p:txBody>
      </p:sp>
      <p:cxnSp>
        <p:nvCxnSpPr>
          <p:cNvPr id="123911" name="AutoShape 6"/>
          <p:cNvCxnSpPr>
            <a:stCxn id="123910" idx="3"/>
            <a:endCxn id="123909" idx="1"/>
          </p:cNvCxnSpPr>
          <p:nvPr/>
        </p:nvCxnSpPr>
        <p:spPr>
          <a:xfrm>
            <a:off x="4279900" y="2463800"/>
            <a:ext cx="457200" cy="0"/>
          </a:xfrm>
          <a:prstGeom prst="straightConnector1">
            <a:avLst/>
          </a:prstGeom>
          <a:ln w="9525" cap="flat" cmpd="sng">
            <a:solidFill>
              <a:schemeClr val="tx1"/>
            </a:solidFill>
            <a:prstDash val="solid"/>
            <a:headEnd type="none" w="med" len="med"/>
            <a:tailEnd type="none" w="med" len="med"/>
          </a:ln>
        </p:spPr>
      </p:cxnSp>
      <p:sp>
        <p:nvSpPr>
          <p:cNvPr id="123912" name="Text Box 7"/>
          <p:cNvSpPr txBox="1"/>
          <p:nvPr/>
        </p:nvSpPr>
        <p:spPr>
          <a:xfrm>
            <a:off x="4241800" y="1943100"/>
            <a:ext cx="4556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M</a:t>
            </a:r>
            <a:endParaRPr lang="en-US" altLang="zh-CN" sz="2400" b="0" dirty="0">
              <a:solidFill>
                <a:schemeClr val="tx1"/>
              </a:solidFill>
              <a:ea typeface="Arial" panose="020B0604020202020204" pitchFamily="34" charset="0"/>
            </a:endParaRPr>
          </a:p>
        </p:txBody>
      </p:sp>
      <p:sp>
        <p:nvSpPr>
          <p:cNvPr id="123913" name="Oval 8"/>
          <p:cNvSpPr/>
          <p:nvPr/>
        </p:nvSpPr>
        <p:spPr>
          <a:xfrm>
            <a:off x="6362700" y="28448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类型</a:t>
            </a:r>
            <a:endParaRPr lang="zh-CN" altLang="en-US" sz="1600" b="0" dirty="0">
              <a:solidFill>
                <a:schemeClr val="tx1"/>
              </a:solidFill>
              <a:ea typeface="Arial" panose="020B0604020202020204" pitchFamily="34" charset="0"/>
            </a:endParaRPr>
          </a:p>
        </p:txBody>
      </p:sp>
      <p:sp>
        <p:nvSpPr>
          <p:cNvPr id="123914" name="Oval 9"/>
          <p:cNvSpPr/>
          <p:nvPr/>
        </p:nvSpPr>
        <p:spPr>
          <a:xfrm>
            <a:off x="6362700" y="22352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片长</a:t>
            </a:r>
            <a:endParaRPr lang="zh-CN" altLang="en-US" sz="1600" b="0" dirty="0">
              <a:solidFill>
                <a:schemeClr val="tx1"/>
              </a:solidFill>
              <a:ea typeface="Arial" panose="020B0604020202020204" pitchFamily="34" charset="0"/>
            </a:endParaRPr>
          </a:p>
        </p:txBody>
      </p:sp>
      <p:sp>
        <p:nvSpPr>
          <p:cNvPr id="123915" name="Oval 10"/>
          <p:cNvSpPr/>
          <p:nvPr/>
        </p:nvSpPr>
        <p:spPr>
          <a:xfrm>
            <a:off x="6362700" y="15748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片名</a:t>
            </a:r>
            <a:endParaRPr lang="zh-CN" altLang="en-US" sz="1600" b="0" dirty="0">
              <a:solidFill>
                <a:schemeClr val="tx1"/>
              </a:solidFill>
              <a:ea typeface="Arial" panose="020B0604020202020204" pitchFamily="34" charset="0"/>
            </a:endParaRPr>
          </a:p>
        </p:txBody>
      </p:sp>
      <p:cxnSp>
        <p:nvCxnSpPr>
          <p:cNvPr id="123916" name="AutoShape 11"/>
          <p:cNvCxnSpPr>
            <a:stCxn id="123913" idx="2"/>
            <a:endCxn id="123909" idx="3"/>
          </p:cNvCxnSpPr>
          <p:nvPr/>
        </p:nvCxnSpPr>
        <p:spPr>
          <a:xfrm flipH="1" flipV="1">
            <a:off x="5819775" y="2463800"/>
            <a:ext cx="542925" cy="609600"/>
          </a:xfrm>
          <a:prstGeom prst="straightConnector1">
            <a:avLst/>
          </a:prstGeom>
          <a:ln w="9525" cap="flat" cmpd="sng">
            <a:solidFill>
              <a:schemeClr val="tx1"/>
            </a:solidFill>
            <a:prstDash val="solid"/>
            <a:headEnd type="none" w="med" len="med"/>
            <a:tailEnd type="none" w="med" len="med"/>
          </a:ln>
        </p:spPr>
      </p:cxnSp>
      <p:cxnSp>
        <p:nvCxnSpPr>
          <p:cNvPr id="123917" name="AutoShape 12"/>
          <p:cNvCxnSpPr>
            <a:stCxn id="123914" idx="2"/>
            <a:endCxn id="123909" idx="3"/>
          </p:cNvCxnSpPr>
          <p:nvPr/>
        </p:nvCxnSpPr>
        <p:spPr>
          <a:xfrm flipH="1">
            <a:off x="5819775" y="2463800"/>
            <a:ext cx="542925" cy="0"/>
          </a:xfrm>
          <a:prstGeom prst="straightConnector1">
            <a:avLst/>
          </a:prstGeom>
          <a:ln w="9525" cap="flat" cmpd="sng">
            <a:solidFill>
              <a:schemeClr val="tx1"/>
            </a:solidFill>
            <a:prstDash val="solid"/>
            <a:headEnd type="none" w="med" len="med"/>
            <a:tailEnd type="none" w="med" len="med"/>
          </a:ln>
        </p:spPr>
      </p:cxnSp>
      <p:cxnSp>
        <p:nvCxnSpPr>
          <p:cNvPr id="123918" name="AutoShape 13"/>
          <p:cNvCxnSpPr>
            <a:stCxn id="123915" idx="2"/>
            <a:endCxn id="123909" idx="3"/>
          </p:cNvCxnSpPr>
          <p:nvPr/>
        </p:nvCxnSpPr>
        <p:spPr>
          <a:xfrm flipH="1">
            <a:off x="5819775" y="1803400"/>
            <a:ext cx="542925" cy="660400"/>
          </a:xfrm>
          <a:prstGeom prst="straightConnector1">
            <a:avLst/>
          </a:prstGeom>
          <a:ln w="9525" cap="flat" cmpd="sng">
            <a:solidFill>
              <a:schemeClr val="tx1"/>
            </a:solidFill>
            <a:prstDash val="solid"/>
            <a:headEnd type="none" w="med" len="med"/>
            <a:tailEnd type="none" w="med" len="med"/>
          </a:ln>
        </p:spPr>
      </p:cxnSp>
      <p:sp>
        <p:nvSpPr>
          <p:cNvPr id="123919" name="Text Box 14"/>
          <p:cNvSpPr txBox="1"/>
          <p:nvPr/>
        </p:nvSpPr>
        <p:spPr>
          <a:xfrm>
            <a:off x="901700" y="2260600"/>
            <a:ext cx="1371600" cy="406400"/>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制片公司</a:t>
            </a:r>
            <a:endParaRPr lang="zh-CN" altLang="en-US" sz="2000" b="0" dirty="0">
              <a:solidFill>
                <a:schemeClr val="tx1"/>
              </a:solidFill>
              <a:ea typeface="Arial" panose="020B0604020202020204" pitchFamily="34" charset="0"/>
            </a:endParaRPr>
          </a:p>
        </p:txBody>
      </p:sp>
      <p:cxnSp>
        <p:nvCxnSpPr>
          <p:cNvPr id="123920" name="AutoShape 15"/>
          <p:cNvCxnSpPr>
            <a:stCxn id="123910" idx="1"/>
            <a:endCxn id="123919" idx="3"/>
          </p:cNvCxnSpPr>
          <p:nvPr/>
        </p:nvCxnSpPr>
        <p:spPr>
          <a:xfrm flipH="1">
            <a:off x="2273300" y="2463800"/>
            <a:ext cx="711200" cy="0"/>
          </a:xfrm>
          <a:prstGeom prst="straightConnector1">
            <a:avLst/>
          </a:prstGeom>
          <a:ln w="9525" cap="flat" cmpd="sng">
            <a:solidFill>
              <a:schemeClr val="tx1"/>
            </a:solidFill>
            <a:prstDash val="solid"/>
            <a:headEnd type="none" w="med" len="med"/>
            <a:tailEnd type="none" w="med" len="med"/>
          </a:ln>
        </p:spPr>
      </p:cxnSp>
      <p:sp>
        <p:nvSpPr>
          <p:cNvPr id="123921" name="Oval 16"/>
          <p:cNvSpPr/>
          <p:nvPr/>
        </p:nvSpPr>
        <p:spPr>
          <a:xfrm>
            <a:off x="1612900" y="31623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地址</a:t>
            </a:r>
            <a:endParaRPr lang="zh-CN" altLang="en-US" sz="1600" b="0" dirty="0">
              <a:solidFill>
                <a:schemeClr val="tx1"/>
              </a:solidFill>
              <a:ea typeface="Arial" panose="020B0604020202020204" pitchFamily="34" charset="0"/>
            </a:endParaRPr>
          </a:p>
        </p:txBody>
      </p:sp>
      <p:sp>
        <p:nvSpPr>
          <p:cNvPr id="123922" name="Oval 17"/>
          <p:cNvSpPr/>
          <p:nvPr/>
        </p:nvSpPr>
        <p:spPr>
          <a:xfrm>
            <a:off x="850900" y="31623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名称</a:t>
            </a:r>
            <a:endParaRPr lang="zh-CN" altLang="en-US" sz="1600" b="0" dirty="0">
              <a:solidFill>
                <a:schemeClr val="tx1"/>
              </a:solidFill>
              <a:ea typeface="Arial" panose="020B0604020202020204" pitchFamily="34" charset="0"/>
            </a:endParaRPr>
          </a:p>
        </p:txBody>
      </p:sp>
      <p:cxnSp>
        <p:nvCxnSpPr>
          <p:cNvPr id="123923" name="AutoShape 18"/>
          <p:cNvCxnSpPr>
            <a:stCxn id="123922" idx="0"/>
            <a:endCxn id="123919" idx="2"/>
          </p:cNvCxnSpPr>
          <p:nvPr/>
        </p:nvCxnSpPr>
        <p:spPr>
          <a:xfrm flipV="1">
            <a:off x="1193800" y="2667000"/>
            <a:ext cx="393700" cy="495300"/>
          </a:xfrm>
          <a:prstGeom prst="straightConnector1">
            <a:avLst/>
          </a:prstGeom>
          <a:ln w="9525" cap="flat" cmpd="sng">
            <a:solidFill>
              <a:schemeClr val="tx1"/>
            </a:solidFill>
            <a:prstDash val="solid"/>
            <a:headEnd type="none" w="med" len="med"/>
            <a:tailEnd type="none" w="med" len="med"/>
          </a:ln>
        </p:spPr>
      </p:cxnSp>
      <p:cxnSp>
        <p:nvCxnSpPr>
          <p:cNvPr id="123924" name="AutoShape 19"/>
          <p:cNvCxnSpPr>
            <a:stCxn id="123921" idx="0"/>
            <a:endCxn id="123919" idx="2"/>
          </p:cNvCxnSpPr>
          <p:nvPr/>
        </p:nvCxnSpPr>
        <p:spPr>
          <a:xfrm flipH="1" flipV="1">
            <a:off x="1587500" y="2667000"/>
            <a:ext cx="368300" cy="495300"/>
          </a:xfrm>
          <a:prstGeom prst="straightConnector1">
            <a:avLst/>
          </a:prstGeom>
          <a:ln w="9525" cap="flat" cmpd="sng">
            <a:solidFill>
              <a:schemeClr val="tx1"/>
            </a:solidFill>
            <a:prstDash val="solid"/>
            <a:headEnd type="none" w="med" len="med"/>
            <a:tailEnd type="none" w="med" len="med"/>
          </a:ln>
        </p:spPr>
      </p:cxnSp>
      <p:grpSp>
        <p:nvGrpSpPr>
          <p:cNvPr id="123925" name="Group 20"/>
          <p:cNvGrpSpPr/>
          <p:nvPr/>
        </p:nvGrpSpPr>
        <p:grpSpPr>
          <a:xfrm>
            <a:off x="3289300" y="1498600"/>
            <a:ext cx="685800" cy="660400"/>
            <a:chOff x="1888" y="1008"/>
            <a:chExt cx="432" cy="416"/>
          </a:xfrm>
        </p:grpSpPr>
        <p:sp>
          <p:nvSpPr>
            <p:cNvPr id="123949" name="Oval 21"/>
            <p:cNvSpPr/>
            <p:nvPr/>
          </p:nvSpPr>
          <p:spPr>
            <a:xfrm>
              <a:off x="1888" y="1008"/>
              <a:ext cx="432" cy="28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bg1"/>
                  </a:solidFill>
                  <a:cs typeface="Arial" panose="020B0604020202020204" pitchFamily="34" charset="0"/>
                </a:rPr>
                <a:t>片酬</a:t>
              </a:r>
              <a:endParaRPr lang="zh-CN" altLang="en-US" sz="1600" b="0" dirty="0">
                <a:solidFill>
                  <a:schemeClr val="bg1"/>
                </a:solidFill>
                <a:ea typeface="Arial" panose="020B0604020202020204" pitchFamily="34" charset="0"/>
              </a:endParaRPr>
            </a:p>
          </p:txBody>
        </p:sp>
        <p:cxnSp>
          <p:nvCxnSpPr>
            <p:cNvPr id="123950" name="AutoShape 22"/>
            <p:cNvCxnSpPr>
              <a:stCxn id="123949" idx="4"/>
              <a:endCxn id="123910" idx="0"/>
            </p:cNvCxnSpPr>
            <p:nvPr/>
          </p:nvCxnSpPr>
          <p:spPr>
            <a:xfrm>
              <a:off x="2104" y="1296"/>
              <a:ext cx="0" cy="128"/>
            </a:xfrm>
            <a:prstGeom prst="straightConnector1">
              <a:avLst/>
            </a:prstGeom>
            <a:ln w="9525" cap="flat" cmpd="sng">
              <a:solidFill>
                <a:schemeClr val="tx1"/>
              </a:solidFill>
              <a:prstDash val="solid"/>
              <a:headEnd type="none" w="med" len="med"/>
              <a:tailEnd type="none" w="med" len="med"/>
            </a:ln>
          </p:spPr>
        </p:cxnSp>
      </p:grpSp>
      <p:cxnSp>
        <p:nvCxnSpPr>
          <p:cNvPr id="123926" name="AutoShape 23"/>
          <p:cNvCxnSpPr>
            <a:stCxn id="123940" idx="0"/>
            <a:endCxn id="123910" idx="2"/>
          </p:cNvCxnSpPr>
          <p:nvPr/>
        </p:nvCxnSpPr>
        <p:spPr>
          <a:xfrm flipV="1">
            <a:off x="3627438" y="2768600"/>
            <a:ext cx="4762" cy="622300"/>
          </a:xfrm>
          <a:prstGeom prst="straightConnector1">
            <a:avLst/>
          </a:prstGeom>
          <a:ln w="9525" cap="flat" cmpd="sng">
            <a:solidFill>
              <a:schemeClr val="tx1"/>
            </a:solidFill>
            <a:prstDash val="solid"/>
            <a:headEnd type="none" w="med" len="med"/>
            <a:tailEnd type="none" w="med" len="med"/>
          </a:ln>
        </p:spPr>
      </p:cxnSp>
      <p:sp>
        <p:nvSpPr>
          <p:cNvPr id="123927" name="Text Box 24"/>
          <p:cNvSpPr txBox="1"/>
          <p:nvPr/>
        </p:nvSpPr>
        <p:spPr>
          <a:xfrm>
            <a:off x="3670300" y="28194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N</a:t>
            </a:r>
            <a:endParaRPr lang="en-US" altLang="zh-CN" sz="2400" b="0" dirty="0">
              <a:solidFill>
                <a:schemeClr val="tx1"/>
              </a:solidFill>
              <a:ea typeface="Arial" panose="020B0604020202020204" pitchFamily="34" charset="0"/>
            </a:endParaRPr>
          </a:p>
        </p:txBody>
      </p:sp>
      <p:grpSp>
        <p:nvGrpSpPr>
          <p:cNvPr id="123928" name="Group 25"/>
          <p:cNvGrpSpPr/>
          <p:nvPr/>
        </p:nvGrpSpPr>
        <p:grpSpPr>
          <a:xfrm>
            <a:off x="2286000" y="3390900"/>
            <a:ext cx="2971800" cy="1282700"/>
            <a:chOff x="1728" y="2544"/>
            <a:chExt cx="1872" cy="808"/>
          </a:xfrm>
        </p:grpSpPr>
        <p:sp>
          <p:nvSpPr>
            <p:cNvPr id="123940" name="Text Box 26"/>
            <p:cNvSpPr txBox="1"/>
            <p:nvPr/>
          </p:nvSpPr>
          <p:spPr>
            <a:xfrm>
              <a:off x="2232" y="2544"/>
              <a:ext cx="682" cy="256"/>
            </a:xfrm>
            <a:prstGeom prst="rect">
              <a:avLst/>
            </a:prstGeom>
            <a:gradFill rotWithShape="0">
              <a:gsLst>
                <a:gs pos="0">
                  <a:srgbClr val="0099CC"/>
                </a:gs>
                <a:gs pos="100000">
                  <a:srgbClr val="66CCFF"/>
                </a:gs>
              </a:gsLst>
              <a:lin ang="0" scaled="1"/>
              <a:tileRect/>
            </a:gra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000" b="0" dirty="0">
                  <a:solidFill>
                    <a:schemeClr val="tx1"/>
                  </a:solidFill>
                  <a:cs typeface="Arial" panose="020B0604020202020204" pitchFamily="34" charset="0"/>
                </a:rPr>
                <a:t>演员</a:t>
              </a:r>
              <a:endParaRPr lang="zh-CN" altLang="en-US" sz="2000" b="0" dirty="0">
                <a:solidFill>
                  <a:schemeClr val="tx1"/>
                </a:solidFill>
                <a:ea typeface="Arial" panose="020B0604020202020204" pitchFamily="34" charset="0"/>
              </a:endParaRPr>
            </a:p>
          </p:txBody>
        </p:sp>
        <p:sp>
          <p:nvSpPr>
            <p:cNvPr id="123941" name="Oval 27"/>
            <p:cNvSpPr/>
            <p:nvPr/>
          </p:nvSpPr>
          <p:spPr>
            <a:xfrm>
              <a:off x="2688" y="3064"/>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生日</a:t>
              </a:r>
              <a:endParaRPr lang="zh-CN" altLang="en-US" sz="1600" b="0" dirty="0">
                <a:solidFill>
                  <a:schemeClr val="tx1"/>
                </a:solidFill>
                <a:ea typeface="Arial" panose="020B0604020202020204" pitchFamily="34" charset="0"/>
              </a:endParaRPr>
            </a:p>
          </p:txBody>
        </p:sp>
        <p:sp>
          <p:nvSpPr>
            <p:cNvPr id="123942" name="Oval 28"/>
            <p:cNvSpPr/>
            <p:nvPr/>
          </p:nvSpPr>
          <p:spPr>
            <a:xfrm>
              <a:off x="2208" y="3064"/>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性别</a:t>
              </a:r>
              <a:endParaRPr lang="zh-CN" altLang="en-US" sz="1600" b="0" dirty="0">
                <a:solidFill>
                  <a:schemeClr val="tx1"/>
                </a:solidFill>
                <a:ea typeface="Arial" panose="020B0604020202020204" pitchFamily="34" charset="0"/>
              </a:endParaRPr>
            </a:p>
          </p:txBody>
        </p:sp>
        <p:sp>
          <p:nvSpPr>
            <p:cNvPr id="123943" name="Oval 29"/>
            <p:cNvSpPr/>
            <p:nvPr/>
          </p:nvSpPr>
          <p:spPr>
            <a:xfrm>
              <a:off x="3168" y="3064"/>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地址</a:t>
              </a:r>
              <a:endParaRPr lang="zh-CN" altLang="en-US" sz="1600" b="0" dirty="0">
                <a:solidFill>
                  <a:schemeClr val="tx1"/>
                </a:solidFill>
                <a:ea typeface="Arial" panose="020B0604020202020204" pitchFamily="34" charset="0"/>
              </a:endParaRPr>
            </a:p>
          </p:txBody>
        </p:sp>
        <p:sp>
          <p:nvSpPr>
            <p:cNvPr id="123944" name="Oval 30"/>
            <p:cNvSpPr/>
            <p:nvPr/>
          </p:nvSpPr>
          <p:spPr>
            <a:xfrm>
              <a:off x="1728" y="3064"/>
              <a:ext cx="432" cy="288"/>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姓名</a:t>
              </a:r>
              <a:endParaRPr lang="zh-CN" altLang="en-US" sz="1600" b="0" dirty="0">
                <a:solidFill>
                  <a:schemeClr val="tx1"/>
                </a:solidFill>
                <a:ea typeface="Arial" panose="020B0604020202020204" pitchFamily="34" charset="0"/>
              </a:endParaRPr>
            </a:p>
          </p:txBody>
        </p:sp>
        <p:cxnSp>
          <p:nvCxnSpPr>
            <p:cNvPr id="123945" name="AutoShape 31"/>
            <p:cNvCxnSpPr>
              <a:stCxn id="123944" idx="0"/>
              <a:endCxn id="123940" idx="2"/>
            </p:cNvCxnSpPr>
            <p:nvPr/>
          </p:nvCxnSpPr>
          <p:spPr>
            <a:xfrm flipV="1">
              <a:off x="1944" y="2800"/>
              <a:ext cx="629" cy="264"/>
            </a:xfrm>
            <a:prstGeom prst="straightConnector1">
              <a:avLst/>
            </a:prstGeom>
            <a:ln w="9525" cap="flat" cmpd="sng">
              <a:solidFill>
                <a:schemeClr val="tx1"/>
              </a:solidFill>
              <a:prstDash val="solid"/>
              <a:headEnd type="none" w="med" len="med"/>
              <a:tailEnd type="none" w="med" len="med"/>
            </a:ln>
          </p:spPr>
        </p:cxnSp>
        <p:cxnSp>
          <p:nvCxnSpPr>
            <p:cNvPr id="123946" name="AutoShape 32"/>
            <p:cNvCxnSpPr>
              <a:stCxn id="123942" idx="0"/>
              <a:endCxn id="123940" idx="2"/>
            </p:cNvCxnSpPr>
            <p:nvPr/>
          </p:nvCxnSpPr>
          <p:spPr>
            <a:xfrm flipV="1">
              <a:off x="2424" y="2800"/>
              <a:ext cx="149" cy="264"/>
            </a:xfrm>
            <a:prstGeom prst="straightConnector1">
              <a:avLst/>
            </a:prstGeom>
            <a:ln w="9525" cap="flat" cmpd="sng">
              <a:solidFill>
                <a:schemeClr val="tx1"/>
              </a:solidFill>
              <a:prstDash val="solid"/>
              <a:headEnd type="none" w="med" len="med"/>
              <a:tailEnd type="none" w="med" len="med"/>
            </a:ln>
          </p:spPr>
        </p:cxnSp>
        <p:cxnSp>
          <p:nvCxnSpPr>
            <p:cNvPr id="123947" name="AutoShape 33"/>
            <p:cNvCxnSpPr>
              <a:stCxn id="123941" idx="0"/>
              <a:endCxn id="123940" idx="2"/>
            </p:cNvCxnSpPr>
            <p:nvPr/>
          </p:nvCxnSpPr>
          <p:spPr>
            <a:xfrm flipH="1" flipV="1">
              <a:off x="2573" y="2800"/>
              <a:ext cx="331" cy="264"/>
            </a:xfrm>
            <a:prstGeom prst="straightConnector1">
              <a:avLst/>
            </a:prstGeom>
            <a:ln w="9525" cap="flat" cmpd="sng">
              <a:solidFill>
                <a:schemeClr val="tx1"/>
              </a:solidFill>
              <a:prstDash val="solid"/>
              <a:headEnd type="none" w="med" len="med"/>
              <a:tailEnd type="none" w="med" len="med"/>
            </a:ln>
          </p:spPr>
        </p:cxnSp>
        <p:cxnSp>
          <p:nvCxnSpPr>
            <p:cNvPr id="123948" name="AutoShape 34"/>
            <p:cNvCxnSpPr>
              <a:stCxn id="123943" idx="0"/>
              <a:endCxn id="123940" idx="2"/>
            </p:cNvCxnSpPr>
            <p:nvPr/>
          </p:nvCxnSpPr>
          <p:spPr>
            <a:xfrm flipH="1" flipV="1">
              <a:off x="2573" y="2800"/>
              <a:ext cx="811" cy="264"/>
            </a:xfrm>
            <a:prstGeom prst="straightConnector1">
              <a:avLst/>
            </a:prstGeom>
            <a:ln w="9525" cap="flat" cmpd="sng">
              <a:solidFill>
                <a:schemeClr val="tx1"/>
              </a:solidFill>
              <a:prstDash val="solid"/>
              <a:headEnd type="none" w="med" len="med"/>
              <a:tailEnd type="none" w="med" len="med"/>
            </a:ln>
          </p:spPr>
        </p:cxnSp>
      </p:grpSp>
      <p:sp>
        <p:nvSpPr>
          <p:cNvPr id="123929" name="Text Box 35"/>
          <p:cNvSpPr txBox="1"/>
          <p:nvPr/>
        </p:nvSpPr>
        <p:spPr>
          <a:xfrm>
            <a:off x="2387600" y="1993900"/>
            <a:ext cx="3540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P</a:t>
            </a:r>
            <a:endParaRPr lang="en-US" altLang="zh-CN" sz="2400" b="0" dirty="0">
              <a:solidFill>
                <a:schemeClr val="tx1"/>
              </a:solidFill>
              <a:ea typeface="Arial" panose="020B0604020202020204" pitchFamily="34" charset="0"/>
            </a:endParaRPr>
          </a:p>
        </p:txBody>
      </p:sp>
      <p:sp>
        <p:nvSpPr>
          <p:cNvPr id="123930" name="Text Box 36"/>
          <p:cNvSpPr txBox="1"/>
          <p:nvPr/>
        </p:nvSpPr>
        <p:spPr>
          <a:xfrm>
            <a:off x="381000" y="5410200"/>
            <a:ext cx="4343400"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4400" b="0" dirty="0">
                <a:solidFill>
                  <a:schemeClr val="tx1"/>
                </a:solidFill>
                <a:latin typeface="新宋体" panose="02010609030101010101" charset="-122"/>
                <a:ea typeface="新宋体" panose="02010609030101010101" charset="-122"/>
              </a:rPr>
              <a:t>请根据语义取舍</a:t>
            </a:r>
            <a:endParaRPr lang="zh-CN" altLang="en-US" sz="4400" b="0" dirty="0">
              <a:solidFill>
                <a:schemeClr val="tx1"/>
              </a:solidFill>
              <a:latin typeface="新宋体" panose="02010609030101010101" charset="-122"/>
              <a:ea typeface="新宋体" panose="02010609030101010101" charset="-122"/>
            </a:endParaRPr>
          </a:p>
        </p:txBody>
      </p:sp>
      <p:sp>
        <p:nvSpPr>
          <p:cNvPr id="123931" name="Oval 37"/>
          <p:cNvSpPr/>
          <p:nvPr/>
        </p:nvSpPr>
        <p:spPr>
          <a:xfrm>
            <a:off x="4940300" y="3111500"/>
            <a:ext cx="685800" cy="457200"/>
          </a:xfrm>
          <a:prstGeom prst="ellipse">
            <a:avLst/>
          </a:prstGeom>
          <a:gradFill rotWithShape="0">
            <a:gsLst>
              <a:gs pos="0">
                <a:srgbClr val="3366CC"/>
              </a:gs>
              <a:gs pos="100000">
                <a:srgbClr val="99CCFF"/>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1600" b="0" dirty="0">
                <a:solidFill>
                  <a:schemeClr val="tx1"/>
                </a:solidFill>
                <a:cs typeface="Arial" panose="020B0604020202020204" pitchFamily="34" charset="0"/>
              </a:rPr>
              <a:t>导演</a:t>
            </a:r>
            <a:endParaRPr lang="zh-CN" altLang="en-US" sz="1600" b="0" dirty="0">
              <a:solidFill>
                <a:schemeClr val="tx1"/>
              </a:solidFill>
              <a:ea typeface="Arial" panose="020B0604020202020204" pitchFamily="34" charset="0"/>
            </a:endParaRPr>
          </a:p>
        </p:txBody>
      </p:sp>
      <p:cxnSp>
        <p:nvCxnSpPr>
          <p:cNvPr id="123932" name="AutoShape 38"/>
          <p:cNvCxnSpPr>
            <a:stCxn id="123931" idx="0"/>
            <a:endCxn id="123909" idx="2"/>
          </p:cNvCxnSpPr>
          <p:nvPr/>
        </p:nvCxnSpPr>
        <p:spPr>
          <a:xfrm flipH="1" flipV="1">
            <a:off x="5278438" y="2667000"/>
            <a:ext cx="4762" cy="444500"/>
          </a:xfrm>
          <a:prstGeom prst="straightConnector1">
            <a:avLst/>
          </a:prstGeom>
          <a:ln w="9525" cap="flat" cmpd="sng">
            <a:solidFill>
              <a:schemeClr val="tx1"/>
            </a:solidFill>
            <a:prstDash val="solid"/>
            <a:headEnd type="none" w="med" len="med"/>
            <a:tailEnd type="none" w="med" len="med"/>
          </a:ln>
        </p:spPr>
      </p:cxnSp>
      <p:grpSp>
        <p:nvGrpSpPr>
          <p:cNvPr id="123933" name="Group 39"/>
          <p:cNvGrpSpPr/>
          <p:nvPr/>
        </p:nvGrpSpPr>
        <p:grpSpPr>
          <a:xfrm>
            <a:off x="5346700" y="4711700"/>
            <a:ext cx="3810000" cy="1600200"/>
            <a:chOff x="1536" y="2448"/>
            <a:chExt cx="2400" cy="1008"/>
          </a:xfrm>
        </p:grpSpPr>
        <p:sp>
          <p:nvSpPr>
            <p:cNvPr id="123934" name="Text Box 40"/>
            <p:cNvSpPr txBox="1"/>
            <p:nvPr/>
          </p:nvSpPr>
          <p:spPr>
            <a:xfrm>
              <a:off x="1584" y="2496"/>
              <a:ext cx="235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50000"/>
                </a:spcBef>
                <a:buClrTx/>
                <a:buFontTx/>
                <a:buNone/>
              </a:pPr>
              <a:r>
                <a:rPr lang="zh-CN" altLang="en-US" sz="2000" b="0" dirty="0">
                  <a:solidFill>
                    <a:schemeClr val="tx1"/>
                  </a:solidFill>
                  <a:cs typeface="Arial" panose="020B0604020202020204" pitchFamily="34" charset="0"/>
                </a:rPr>
                <a:t>制片公司   电影   演员    片酬</a:t>
              </a:r>
              <a:endParaRPr lang="zh-CN" altLang="en-US" sz="2000" b="0" dirty="0">
                <a:solidFill>
                  <a:schemeClr val="tx1"/>
                </a:solidFill>
                <a:ea typeface="Arial" panose="020B0604020202020204" pitchFamily="34" charset="0"/>
              </a:endParaRPr>
            </a:p>
          </p:txBody>
        </p:sp>
        <p:sp>
          <p:nvSpPr>
            <p:cNvPr id="123935" name="Line 41"/>
            <p:cNvSpPr/>
            <p:nvPr/>
          </p:nvSpPr>
          <p:spPr>
            <a:xfrm>
              <a:off x="1536" y="2728"/>
              <a:ext cx="2160" cy="0"/>
            </a:xfrm>
            <a:prstGeom prst="line">
              <a:avLst/>
            </a:prstGeom>
            <a:ln w="9525" cap="flat" cmpd="sng">
              <a:solidFill>
                <a:schemeClr val="tx1"/>
              </a:solidFill>
              <a:prstDash val="solid"/>
              <a:headEnd type="none" w="med" len="med"/>
              <a:tailEnd type="none" w="med" len="med"/>
            </a:ln>
          </p:spPr>
        </p:sp>
        <p:sp>
          <p:nvSpPr>
            <p:cNvPr id="123936" name="Line 42"/>
            <p:cNvSpPr/>
            <p:nvPr/>
          </p:nvSpPr>
          <p:spPr>
            <a:xfrm>
              <a:off x="1544" y="2752"/>
              <a:ext cx="2160" cy="0"/>
            </a:xfrm>
            <a:prstGeom prst="line">
              <a:avLst/>
            </a:prstGeom>
            <a:ln w="9525" cap="flat" cmpd="sng">
              <a:solidFill>
                <a:schemeClr val="tx1"/>
              </a:solidFill>
              <a:prstDash val="solid"/>
              <a:headEnd type="none" w="med" len="med"/>
              <a:tailEnd type="none" w="med" len="med"/>
            </a:ln>
          </p:spPr>
        </p:sp>
        <p:sp>
          <p:nvSpPr>
            <p:cNvPr id="123937" name="Line 43"/>
            <p:cNvSpPr/>
            <p:nvPr/>
          </p:nvSpPr>
          <p:spPr>
            <a:xfrm>
              <a:off x="2304" y="2448"/>
              <a:ext cx="0" cy="1008"/>
            </a:xfrm>
            <a:prstGeom prst="line">
              <a:avLst/>
            </a:prstGeom>
            <a:ln w="9525" cap="flat" cmpd="sng">
              <a:solidFill>
                <a:schemeClr val="tx1"/>
              </a:solidFill>
              <a:prstDash val="solid"/>
              <a:headEnd type="none" w="med" len="med"/>
              <a:tailEnd type="none" w="med" len="med"/>
            </a:ln>
          </p:spPr>
        </p:sp>
        <p:sp>
          <p:nvSpPr>
            <p:cNvPr id="123938" name="Line 44"/>
            <p:cNvSpPr/>
            <p:nvPr/>
          </p:nvSpPr>
          <p:spPr>
            <a:xfrm>
              <a:off x="2784" y="2448"/>
              <a:ext cx="0" cy="1008"/>
            </a:xfrm>
            <a:prstGeom prst="line">
              <a:avLst/>
            </a:prstGeom>
            <a:ln w="9525" cap="flat" cmpd="sng">
              <a:solidFill>
                <a:schemeClr val="tx1"/>
              </a:solidFill>
              <a:prstDash val="solid"/>
              <a:headEnd type="none" w="med" len="med"/>
              <a:tailEnd type="none" w="med" len="med"/>
            </a:ln>
          </p:spPr>
        </p:sp>
        <p:sp>
          <p:nvSpPr>
            <p:cNvPr id="123939" name="Line 45"/>
            <p:cNvSpPr/>
            <p:nvPr/>
          </p:nvSpPr>
          <p:spPr>
            <a:xfrm>
              <a:off x="3264" y="2496"/>
              <a:ext cx="0" cy="960"/>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4931"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24932" name="Rectangle 3"/>
          <p:cNvSpPr>
            <a:spLocks noGrp="1"/>
          </p:cNvSpPr>
          <p:nvPr>
            <p:ph idx="1"/>
          </p:nvPr>
        </p:nvSpPr>
        <p:spPr>
          <a:xfrm>
            <a:off x="762000" y="914400"/>
            <a:ext cx="7620000" cy="3505200"/>
          </a:xfrm>
          <a:ln/>
        </p:spPr>
        <p:txBody>
          <a:bodyPr vert="horz" wrap="square" lIns="91440" tIns="45720" rIns="91440" bIns="45720" anchor="t" anchorCtr="0"/>
          <a:p>
            <a:pPr marL="609600" indent="-609600">
              <a:spcBef>
                <a:spcPct val="0"/>
              </a:spcBef>
              <a:buClrTx/>
            </a:pPr>
            <a:r>
              <a:rPr lang="zh-CN" altLang="en-US" dirty="0">
                <a:latin typeface="黑体" panose="02010609060101010101" pitchFamily="49" charset="-122"/>
                <a:ea typeface="黑体" panose="02010609060101010101" pitchFamily="49" charset="-122"/>
              </a:rPr>
              <a:t>作业</a:t>
            </a:r>
            <a:r>
              <a:rPr lang="en-US" altLang="zh-CN" dirty="0">
                <a:latin typeface="Arial" panose="020B0604020202020204" pitchFamily="34" charset="0"/>
                <a:ea typeface="黑体" panose="02010609060101010101" pitchFamily="49" charset="-122"/>
              </a:rPr>
              <a:t>1</a:t>
            </a:r>
            <a:r>
              <a:rPr lang="en-US" altLang="zh-CN" dirty="0">
                <a:latin typeface="黑体" panose="02010609060101010101" pitchFamily="49" charset="-122"/>
                <a:ea typeface="黑体" panose="02010609060101010101" pitchFamily="49" charset="-122"/>
              </a:rPr>
              <a:t> </a:t>
            </a:r>
            <a:r>
              <a:rPr lang="en-US" altLang="zh-CN" dirty="0"/>
              <a:t> E-R</a:t>
            </a:r>
            <a:r>
              <a:rPr lang="zh-CN" altLang="en-US" dirty="0"/>
              <a:t>图设计</a:t>
            </a:r>
            <a:r>
              <a:rPr lang="en-US" altLang="zh-CN" dirty="0"/>
              <a:t>:</a:t>
            </a:r>
            <a:r>
              <a:rPr lang="zh-CN" altLang="en-US" dirty="0"/>
              <a:t>校运会</a:t>
            </a:r>
            <a:endParaRPr lang="zh-CN" altLang="en-US" dirty="0"/>
          </a:p>
          <a:p>
            <a:pPr marL="990600" lvl="1" indent="-533400" eaLnBrk="1" hangingPunct="1"/>
            <a:r>
              <a:rPr lang="zh-CN" altLang="en-US" dirty="0"/>
              <a:t>代表团</a:t>
            </a:r>
            <a:r>
              <a:rPr lang="en-US" altLang="zh-CN" dirty="0"/>
              <a:t>(</a:t>
            </a:r>
            <a:r>
              <a:rPr lang="zh-CN" altLang="en-US" dirty="0"/>
              <a:t>系</a:t>
            </a:r>
            <a:r>
              <a:rPr lang="en-US" altLang="zh-CN" dirty="0"/>
              <a:t>/</a:t>
            </a:r>
            <a:r>
              <a:rPr lang="zh-CN" altLang="en-US" dirty="0"/>
              <a:t>学院</a:t>
            </a:r>
            <a:r>
              <a:rPr lang="en-US" altLang="zh-CN" dirty="0"/>
              <a:t>)</a:t>
            </a:r>
            <a:r>
              <a:rPr lang="zh-CN" altLang="en-US" dirty="0"/>
              <a:t>、运动员、比赛项目</a:t>
            </a:r>
            <a:r>
              <a:rPr lang="en-US" altLang="zh-CN" dirty="0"/>
              <a:t>, …</a:t>
            </a:r>
            <a:endParaRPr lang="en-US" altLang="zh-CN" dirty="0"/>
          </a:p>
          <a:p>
            <a:pPr marL="1371600" lvl="2" indent="-457200" eaLnBrk="1" hangingPunct="1">
              <a:buClr>
                <a:schemeClr val="tx1"/>
              </a:buClr>
            </a:pPr>
            <a:r>
              <a:rPr lang="zh-CN" altLang="en-US" dirty="0">
                <a:ea typeface="宋体" panose="02010600030101010101" pitchFamily="2" charset="-122"/>
              </a:rPr>
              <a:t>代表团</a:t>
            </a:r>
            <a:r>
              <a:rPr lang="en-US" altLang="zh-CN" dirty="0">
                <a:ea typeface="宋体" panose="02010600030101010101" pitchFamily="2" charset="-122"/>
              </a:rPr>
              <a:t>(</a:t>
            </a:r>
            <a:r>
              <a:rPr lang="zh-CN" altLang="en-US" dirty="0">
                <a:ea typeface="宋体" panose="02010600030101010101" pitchFamily="2" charset="-122"/>
              </a:rPr>
              <a:t>名称，</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ea typeface="宋体" panose="02010600030101010101" pitchFamily="2" charset="-122"/>
              </a:rPr>
              <a:t>运动员</a:t>
            </a:r>
            <a:r>
              <a:rPr lang="en-US" altLang="zh-CN" dirty="0">
                <a:ea typeface="宋体" panose="02010600030101010101" pitchFamily="2" charset="-122"/>
              </a:rPr>
              <a:t>(</a:t>
            </a:r>
            <a:r>
              <a:rPr lang="zh-CN" altLang="en-US" dirty="0">
                <a:ea typeface="宋体" panose="02010600030101010101" pitchFamily="2" charset="-122"/>
              </a:rPr>
              <a:t>编号，姓名，</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ea typeface="宋体" panose="02010600030101010101" pitchFamily="2" charset="-122"/>
              </a:rPr>
              <a:t>比赛项目</a:t>
            </a:r>
            <a:r>
              <a:rPr lang="en-US" altLang="zh-CN" dirty="0">
                <a:ea typeface="宋体" panose="02010600030101010101" pitchFamily="2" charset="-122"/>
              </a:rPr>
              <a:t>(</a:t>
            </a:r>
            <a:r>
              <a:rPr lang="zh-CN" altLang="en-US" dirty="0">
                <a:ea typeface="宋体" panose="02010600030101010101" pitchFamily="2" charset="-122"/>
              </a:rPr>
              <a:t>名称</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en-US" altLang="zh-CN" dirty="0">
                <a:ea typeface="宋体" panose="02010600030101010101" pitchFamily="2" charset="-122"/>
              </a:rPr>
              <a:t>… …</a:t>
            </a:r>
            <a:endParaRPr lang="en-US" altLang="zh-CN" dirty="0">
              <a:ea typeface="宋体" panose="02010600030101010101" pitchFamily="2" charset="-122"/>
            </a:endParaRPr>
          </a:p>
          <a:p>
            <a:pPr marL="1371600" lvl="2" indent="-457200" eaLnBrk="1" hangingPunct="1">
              <a:buClr>
                <a:schemeClr val="tx1"/>
              </a:buClr>
              <a:buNone/>
            </a:pPr>
            <a:r>
              <a:rPr lang="zh-CN" altLang="en-US" dirty="0">
                <a:ea typeface="宋体" panose="02010600030101010101" pitchFamily="2" charset="-122"/>
              </a:rPr>
              <a:t>请按你对校运会的了解画出</a:t>
            </a:r>
            <a:r>
              <a:rPr lang="en-US" altLang="zh-CN" dirty="0">
                <a:ea typeface="宋体" panose="02010600030101010101" pitchFamily="2" charset="-122"/>
              </a:rPr>
              <a:t>E-R</a:t>
            </a:r>
            <a:r>
              <a:rPr lang="zh-CN" altLang="en-US" dirty="0">
                <a:ea typeface="宋体" panose="02010600030101010101" pitchFamily="2" charset="-122"/>
              </a:rPr>
              <a:t>图</a:t>
            </a:r>
            <a:endParaRPr lang="zh-CN" altLang="en-US" dirty="0">
              <a:ea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5955" name="Rectangle 2"/>
          <p:cNvSpPr>
            <a:spLocks noGrp="1"/>
          </p:cNvSpPr>
          <p:nvPr>
            <p:ph type="title"/>
          </p:nvPr>
        </p:nvSpPr>
        <p:spPr>
          <a:xfrm>
            <a:off x="1435100" y="0"/>
            <a:ext cx="6629400" cy="533400"/>
          </a:xfrm>
          <a:ln/>
        </p:spPr>
        <p:txBody>
          <a:bodyPr vert="horz" wrap="square" lIns="91440" tIns="45720" rIns="91440" bIns="45720" anchor="ctr" anchorCtr="0"/>
          <a:p>
            <a:pPr eaLnBrk="1" hangingPunct="1"/>
            <a:r>
              <a:rPr lang="en-US" altLang="zh-CN" sz="3600" u="sng" dirty="0"/>
              <a:t>1.2.3 </a:t>
            </a:r>
            <a:r>
              <a:rPr lang="zh-CN" altLang="en-US" sz="3600" u="sng" dirty="0"/>
              <a:t>概念模型</a:t>
            </a:r>
            <a:r>
              <a:rPr lang="en-US" altLang="zh-CN" sz="3600" u="sng" dirty="0"/>
              <a:t>(cont)</a:t>
            </a:r>
            <a:endParaRPr lang="en-US" altLang="zh-CN" sz="3600" u="sng" dirty="0"/>
          </a:p>
        </p:txBody>
      </p:sp>
      <p:sp>
        <p:nvSpPr>
          <p:cNvPr id="125956" name="Rectangle 3"/>
          <p:cNvSpPr>
            <a:spLocks noGrp="1"/>
          </p:cNvSpPr>
          <p:nvPr>
            <p:ph idx="1"/>
          </p:nvPr>
        </p:nvSpPr>
        <p:spPr>
          <a:xfrm>
            <a:off x="762000" y="914400"/>
            <a:ext cx="7620000" cy="3505200"/>
          </a:xfrm>
          <a:ln/>
        </p:spPr>
        <p:txBody>
          <a:bodyPr vert="horz" wrap="square" lIns="91440" tIns="45720" rIns="91440" bIns="45720" anchor="t" anchorCtr="0"/>
          <a:p>
            <a:pPr marL="609600" indent="-609600">
              <a:spcBef>
                <a:spcPct val="0"/>
              </a:spcBef>
              <a:buClrTx/>
            </a:pPr>
            <a:r>
              <a:rPr lang="zh-CN" altLang="en-US" dirty="0">
                <a:latin typeface="黑体" panose="02010609060101010101" pitchFamily="49" charset="-122"/>
                <a:ea typeface="黑体" panose="02010609060101010101" pitchFamily="49" charset="-122"/>
              </a:rPr>
              <a:t>作业</a:t>
            </a:r>
            <a:r>
              <a:rPr lang="en-US" altLang="zh-CN" dirty="0">
                <a:latin typeface="Arial" panose="020B0604020202020204" pitchFamily="34" charset="0"/>
                <a:ea typeface="黑体" panose="02010609060101010101" pitchFamily="49" charset="-122"/>
              </a:rPr>
              <a:t>2</a:t>
            </a:r>
            <a:r>
              <a:rPr lang="en-US" altLang="zh-CN" dirty="0">
                <a:latin typeface="Arial" panose="020B0604020202020204" pitchFamily="34" charset="0"/>
              </a:rPr>
              <a:t> </a:t>
            </a:r>
            <a:r>
              <a:rPr lang="en-US" altLang="zh-CN" dirty="0"/>
              <a:t>    E-R</a:t>
            </a:r>
            <a:r>
              <a:rPr lang="zh-CN" altLang="en-US" dirty="0"/>
              <a:t>图设计</a:t>
            </a:r>
            <a:r>
              <a:rPr lang="en-US" altLang="zh-CN" dirty="0"/>
              <a:t>: </a:t>
            </a:r>
            <a:r>
              <a:rPr lang="zh-CN" altLang="en-US" dirty="0"/>
              <a:t>小型批发商</a:t>
            </a:r>
            <a:endParaRPr lang="zh-CN" altLang="en-US" dirty="0"/>
          </a:p>
          <a:p>
            <a:pPr marL="990600" lvl="1" indent="-533400" eaLnBrk="1" hangingPunct="1"/>
            <a:r>
              <a:rPr lang="zh-CN" altLang="en-US" dirty="0"/>
              <a:t>客户、产品、订单</a:t>
            </a:r>
            <a:endParaRPr lang="zh-CN" altLang="en-US" dirty="0"/>
          </a:p>
          <a:p>
            <a:pPr marL="1371600" lvl="2" indent="-457200" eaLnBrk="1" hangingPunct="1"/>
            <a:r>
              <a:rPr lang="zh-CN" altLang="en-US" dirty="0">
                <a:ea typeface="宋体" panose="02010600030101010101" pitchFamily="2" charset="-122"/>
              </a:rPr>
              <a:t>客户</a:t>
            </a:r>
            <a:r>
              <a:rPr lang="en-US" altLang="zh-CN" dirty="0">
                <a:ea typeface="宋体" panose="02010600030101010101" pitchFamily="2" charset="-122"/>
              </a:rPr>
              <a:t>(</a:t>
            </a:r>
            <a:r>
              <a:rPr lang="zh-CN" altLang="en-US" dirty="0">
                <a:ea typeface="宋体" panose="02010600030101010101" pitchFamily="2" charset="-122"/>
              </a:rPr>
              <a:t>名称，地址，联系人，电话</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ea typeface="宋体" panose="02010600030101010101" pitchFamily="2" charset="-122"/>
              </a:rPr>
              <a:t>产品</a:t>
            </a:r>
            <a:r>
              <a:rPr lang="en-US" altLang="zh-CN" dirty="0">
                <a:ea typeface="宋体" panose="02010600030101010101" pitchFamily="2" charset="-122"/>
              </a:rPr>
              <a:t>(</a:t>
            </a:r>
            <a:r>
              <a:rPr lang="zh-CN" altLang="en-US" dirty="0">
                <a:ea typeface="宋体" panose="02010600030101010101" pitchFamily="2" charset="-122"/>
              </a:rPr>
              <a:t>品名，规格，单价</a:t>
            </a:r>
            <a:r>
              <a:rPr lang="en-US" altLang="zh-CN" dirty="0">
                <a:ea typeface="宋体" panose="02010600030101010101" pitchFamily="2" charset="-122"/>
              </a:rPr>
              <a:t>)</a:t>
            </a:r>
            <a:endParaRPr lang="en-US" altLang="zh-CN" dirty="0">
              <a:ea typeface="宋体" panose="02010600030101010101" pitchFamily="2" charset="-122"/>
            </a:endParaRPr>
          </a:p>
          <a:p>
            <a:pPr marL="1371600" lvl="2" indent="-457200" eaLnBrk="1" hangingPunct="1">
              <a:buClr>
                <a:schemeClr val="tx1"/>
              </a:buClr>
            </a:pPr>
            <a:r>
              <a:rPr lang="zh-CN" altLang="en-US" dirty="0">
                <a:ea typeface="宋体" panose="02010600030101010101" pitchFamily="2" charset="-122"/>
              </a:rPr>
              <a:t>订单</a:t>
            </a:r>
            <a:r>
              <a:rPr lang="en-US" altLang="zh-CN" dirty="0">
                <a:ea typeface="宋体" panose="02010600030101010101" pitchFamily="2" charset="-122"/>
              </a:rPr>
              <a:t>(</a:t>
            </a:r>
            <a:r>
              <a:rPr lang="zh-CN" altLang="en-US" dirty="0">
                <a:ea typeface="宋体" panose="02010600030101010101" pitchFamily="2" charset="-122"/>
              </a:rPr>
              <a:t>订单号</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6979" name="Rectangle 2"/>
          <p:cNvSpPr/>
          <p:nvPr/>
        </p:nvSpPr>
        <p:spPr>
          <a:xfrm>
            <a:off x="977900" y="3419475"/>
            <a:ext cx="7848600" cy="7620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26980" name="Rectangle 3"/>
          <p:cNvSpPr>
            <a:spLocks noGrp="1"/>
          </p:cNvSpPr>
          <p:nvPr>
            <p:ph type="title"/>
          </p:nvPr>
        </p:nvSpPr>
        <p:spPr>
          <a:ln/>
        </p:spPr>
        <p:txBody>
          <a:bodyPr vert="horz" wrap="square" lIns="91440" tIns="45720" rIns="91440" bIns="45720" anchor="ctr" anchorCtr="0"/>
          <a:p>
            <a:pPr eaLnBrk="1" hangingPunct="1"/>
            <a:r>
              <a:rPr lang="en-US" altLang="zh-CN" dirty="0"/>
              <a:t>1.2 </a:t>
            </a:r>
            <a:r>
              <a:rPr lang="zh-CN" altLang="en-US" dirty="0"/>
              <a:t>数据模型</a:t>
            </a:r>
            <a:endParaRPr lang="zh-CN" altLang="en-US" dirty="0"/>
          </a:p>
        </p:txBody>
      </p:sp>
      <p:sp>
        <p:nvSpPr>
          <p:cNvPr id="126981" name="Rectangle 4"/>
          <p:cNvSpPr>
            <a:spLocks noGrp="1"/>
          </p:cNvSpPr>
          <p:nvPr>
            <p:ph idx="1"/>
          </p:nvPr>
        </p:nvSpPr>
        <p:spPr>
          <a:xfrm>
            <a:off x="990600" y="1143000"/>
            <a:ext cx="7543800" cy="545465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1.2.1  </a:t>
            </a:r>
            <a:r>
              <a:rPr lang="zh-CN" altLang="en-US" dirty="0">
                <a:solidFill>
                  <a:schemeClr val="tx1"/>
                </a:solidFill>
                <a:latin typeface="Arial Narrow" panose="020B0606020202030204" pitchFamily="34" charset="0"/>
                <a:ea typeface="仿宋_GB2312" pitchFamily="49" charset="-122"/>
              </a:rPr>
              <a:t>两大类数据模型</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1.2.2  </a:t>
            </a:r>
            <a:r>
              <a:rPr lang="zh-CN" altLang="en-US" dirty="0">
                <a:solidFill>
                  <a:schemeClr val="tx1"/>
                </a:solidFill>
                <a:latin typeface="Arial Narrow" panose="020B0606020202030204" pitchFamily="34" charset="0"/>
                <a:ea typeface="仿宋_GB2312" pitchFamily="49" charset="-122"/>
              </a:rPr>
              <a:t>数据模型的组成要素</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1.2.3</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概念模型</a:t>
            </a:r>
            <a:endParaRPr lang="zh-CN" altLang="en-US" dirty="0">
              <a:solidFill>
                <a:schemeClr val="tx1"/>
              </a:solidFill>
              <a:latin typeface="仿宋_GB2312" pitchFamily="49" charset="-122"/>
              <a:ea typeface="仿宋_GB2312" pitchFamily="49" charset="-122"/>
            </a:endParaRPr>
          </a:p>
          <a:p>
            <a:pPr algn="just"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1.2.4</a:t>
            </a:r>
            <a:r>
              <a:rPr lang="en-US" altLang="zh-CN" dirty="0">
                <a:solidFill>
                  <a:schemeClr val="bg1"/>
                </a:solidFill>
                <a:latin typeface="仿宋_GB2312" pitchFamily="49" charset="-122"/>
                <a:ea typeface="仿宋_GB2312" pitchFamily="49" charset="-122"/>
              </a:rPr>
              <a:t> </a:t>
            </a:r>
            <a:r>
              <a:rPr lang="zh-CN" altLang="en-US" dirty="0">
                <a:solidFill>
                  <a:schemeClr val="bg1"/>
                </a:solidFill>
                <a:latin typeface="仿宋_GB2312" pitchFamily="49" charset="-122"/>
                <a:ea typeface="仿宋_GB2312" pitchFamily="49" charset="-122"/>
              </a:rPr>
              <a:t>最常用的数据模型</a:t>
            </a:r>
            <a:endParaRPr lang="zh-CN" altLang="en-US" dirty="0">
              <a:solidFill>
                <a:schemeClr val="bg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1.2.5</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层次模型（</a:t>
            </a:r>
            <a:r>
              <a:rPr lang="zh-CN" altLang="en-US" dirty="0">
                <a:solidFill>
                  <a:srgbClr val="FF0000"/>
                </a:solidFill>
                <a:latin typeface="仿宋_GB2312" pitchFamily="49" charset="-122"/>
                <a:ea typeface="仿宋_GB2312" pitchFamily="49" charset="-122"/>
              </a:rPr>
              <a:t>树</a:t>
            </a:r>
            <a:r>
              <a:rPr lang="zh-CN" altLang="en-US" dirty="0">
                <a:solidFill>
                  <a:schemeClr val="tx1"/>
                </a:solidFill>
                <a:latin typeface="仿宋_GB2312" pitchFamily="49" charset="-122"/>
                <a:ea typeface="仿宋_GB2312" pitchFamily="49" charset="-122"/>
              </a:rPr>
              <a:t>的形式组织数据）</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1.2.6</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网状模型（</a:t>
            </a:r>
            <a:r>
              <a:rPr lang="zh-CN" altLang="en-US" dirty="0">
                <a:solidFill>
                  <a:srgbClr val="FF0000"/>
                </a:solidFill>
                <a:latin typeface="仿宋_GB2312" pitchFamily="49" charset="-122"/>
                <a:ea typeface="仿宋_GB2312" pitchFamily="49" charset="-122"/>
              </a:rPr>
              <a:t>图</a:t>
            </a:r>
            <a:r>
              <a:rPr lang="zh-CN" altLang="en-US" dirty="0">
                <a:solidFill>
                  <a:schemeClr val="tx1"/>
                </a:solidFill>
                <a:latin typeface="仿宋_GB2312" pitchFamily="49" charset="-122"/>
                <a:ea typeface="仿宋_GB2312" pitchFamily="49" charset="-122"/>
              </a:rPr>
              <a:t>的形式组织数据）</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1.2.7</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关系模型（</a:t>
            </a:r>
            <a:r>
              <a:rPr lang="zh-CN" altLang="en-US" dirty="0">
                <a:solidFill>
                  <a:srgbClr val="FF0000"/>
                </a:solidFill>
                <a:latin typeface="仿宋_GB2312" pitchFamily="49" charset="-122"/>
                <a:ea typeface="仿宋_GB2312" pitchFamily="49" charset="-122"/>
              </a:rPr>
              <a:t>表</a:t>
            </a:r>
            <a:r>
              <a:rPr lang="zh-CN" altLang="en-US" dirty="0">
                <a:solidFill>
                  <a:schemeClr val="tx1"/>
                </a:solidFill>
                <a:latin typeface="仿宋_GB2312" pitchFamily="49" charset="-122"/>
                <a:ea typeface="仿宋_GB2312" pitchFamily="49" charset="-122"/>
              </a:rPr>
              <a:t>的形式组织数据）</a:t>
            </a:r>
            <a:endParaRPr lang="zh-CN" altLang="en-US" dirty="0">
              <a:solidFill>
                <a:schemeClr val="tx1"/>
              </a:solidFill>
              <a:latin typeface="仿宋_GB2312" pitchFamily="49" charset="-122"/>
              <a:ea typeface="仿宋_GB2312" pitchFamily="49"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8003" name="Rectangle 2"/>
          <p:cNvSpPr>
            <a:spLocks noGrp="1"/>
          </p:cNvSpPr>
          <p:nvPr>
            <p:ph type="title"/>
          </p:nvPr>
        </p:nvSpPr>
        <p:spPr>
          <a:ln/>
        </p:spPr>
        <p:txBody>
          <a:bodyPr vert="horz" wrap="square" lIns="91440" tIns="45720" rIns="91440" bIns="45720" anchor="ctr" anchorCtr="0"/>
          <a:p>
            <a:pPr eaLnBrk="1" hangingPunct="1"/>
            <a:r>
              <a:rPr lang="en-US" altLang="zh-CN" dirty="0"/>
              <a:t>1.2.4  </a:t>
            </a:r>
            <a:r>
              <a:rPr lang="zh-CN" altLang="en-US" dirty="0"/>
              <a:t>常用数据模型</a:t>
            </a:r>
            <a:endParaRPr lang="zh-CN" altLang="en-US" dirty="0"/>
          </a:p>
        </p:txBody>
      </p:sp>
      <p:sp>
        <p:nvSpPr>
          <p:cNvPr id="128004" name="Rectangle 3"/>
          <p:cNvSpPr>
            <a:spLocks noGrp="1"/>
          </p:cNvSpPr>
          <p:nvPr>
            <p:ph idx="1"/>
          </p:nvPr>
        </p:nvSpPr>
        <p:spPr>
          <a:xfrm>
            <a:off x="1066800" y="1600200"/>
            <a:ext cx="7315200" cy="4343400"/>
          </a:xfrm>
          <a:ln/>
        </p:spPr>
        <p:txBody>
          <a:bodyPr vert="horz" wrap="square" lIns="91440" tIns="45720" rIns="91440" bIns="45720" anchor="t" anchorCtr="0"/>
          <a:p>
            <a:pPr eaLnBrk="1" hangingPunct="1"/>
            <a:r>
              <a:rPr lang="zh-CN" altLang="en-US" dirty="0"/>
              <a:t>非关系模型</a:t>
            </a:r>
            <a:endParaRPr lang="zh-CN" altLang="en-US" dirty="0"/>
          </a:p>
          <a:p>
            <a:pPr lvl="1" eaLnBrk="1" hangingPunct="1">
              <a:lnSpc>
                <a:spcPct val="120000"/>
              </a:lnSpc>
            </a:pPr>
            <a:r>
              <a:rPr lang="zh-CN" altLang="en-US" dirty="0"/>
              <a:t>层次模型（</a:t>
            </a:r>
            <a:r>
              <a:rPr lang="en-US" altLang="zh-CN" dirty="0"/>
              <a:t>Hierarchical Model</a:t>
            </a:r>
            <a:r>
              <a:rPr lang="zh-CN" altLang="en-US" dirty="0"/>
              <a:t>）</a:t>
            </a:r>
            <a:endParaRPr lang="zh-CN" altLang="en-US" dirty="0"/>
          </a:p>
          <a:p>
            <a:pPr lvl="1" algn="just" eaLnBrk="1" hangingPunct="1">
              <a:lnSpc>
                <a:spcPct val="120000"/>
              </a:lnSpc>
            </a:pPr>
            <a:r>
              <a:rPr lang="zh-CN" altLang="en-US" dirty="0"/>
              <a:t>网状模型  </a:t>
            </a:r>
            <a:r>
              <a:rPr lang="en-US" altLang="zh-CN" dirty="0"/>
              <a:t>(Network Model )</a:t>
            </a:r>
            <a:endParaRPr lang="en-US" altLang="zh-CN" dirty="0"/>
          </a:p>
          <a:p>
            <a:pPr lvl="2" algn="just" eaLnBrk="1" hangingPunct="1">
              <a:buNone/>
            </a:pPr>
            <a:endParaRPr lang="en-US" altLang="zh-CN" dirty="0"/>
          </a:p>
          <a:p>
            <a:pPr lvl="1" algn="just" eaLnBrk="1" hangingPunct="1"/>
            <a:r>
              <a:rPr lang="zh-CN" altLang="en-US" dirty="0"/>
              <a:t>数据结构：以基本层次联系为基本单位</a:t>
            </a:r>
            <a:endParaRPr lang="zh-CN" altLang="en-US" dirty="0"/>
          </a:p>
          <a:p>
            <a:pPr lvl="1" algn="just" eaLnBrk="1" hangingPunct="1">
              <a:lnSpc>
                <a:spcPct val="130000"/>
              </a:lnSpc>
              <a:buNone/>
            </a:pPr>
            <a:r>
              <a:rPr lang="zh-CN" altLang="en-US" dirty="0"/>
              <a:t>  </a:t>
            </a:r>
            <a:r>
              <a:rPr lang="zh-CN" altLang="en-US" sz="2400" dirty="0"/>
              <a:t>基本层次联系：两个记录以及它们之间的一对多（包括一对一</a:t>
            </a:r>
            <a:r>
              <a:rPr lang="en-US" altLang="zh-CN" sz="2400" dirty="0"/>
              <a:t>)</a:t>
            </a:r>
            <a:r>
              <a:rPr lang="zh-CN" altLang="en-US" sz="2400" dirty="0"/>
              <a:t>的联系</a:t>
            </a:r>
            <a:endParaRPr lang="zh-CN" altLang="en-US" sz="2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9027" name="Rectangle 2"/>
          <p:cNvSpPr>
            <a:spLocks noGrp="1"/>
          </p:cNvSpPr>
          <p:nvPr>
            <p:ph type="title"/>
          </p:nvPr>
        </p:nvSpPr>
        <p:spPr>
          <a:xfrm>
            <a:off x="685800" y="152400"/>
            <a:ext cx="7772400" cy="533400"/>
          </a:xfrm>
          <a:ln/>
        </p:spPr>
        <p:txBody>
          <a:bodyPr vert="horz" wrap="square" lIns="91440" tIns="45720" rIns="91440" bIns="45720" anchor="ctr" anchorCtr="0"/>
          <a:p>
            <a:pPr eaLnBrk="1" hangingPunct="1"/>
            <a:r>
              <a:rPr lang="en-US" altLang="zh-CN" u="sng" dirty="0"/>
              <a:t>1.2.4  </a:t>
            </a:r>
            <a:r>
              <a:rPr lang="zh-CN" altLang="en-US" u="sng" dirty="0"/>
              <a:t>常用数据模型</a:t>
            </a:r>
            <a:r>
              <a:rPr lang="en-US" altLang="zh-CN" u="sng" dirty="0"/>
              <a:t>(cont)</a:t>
            </a:r>
            <a:endParaRPr lang="en-US" altLang="zh-CN" u="sng" dirty="0"/>
          </a:p>
        </p:txBody>
      </p:sp>
      <p:sp>
        <p:nvSpPr>
          <p:cNvPr id="129028" name="Rectangle 3"/>
          <p:cNvSpPr>
            <a:spLocks noGrp="1"/>
          </p:cNvSpPr>
          <p:nvPr>
            <p:ph idx="1"/>
          </p:nvPr>
        </p:nvSpPr>
        <p:spPr>
          <a:xfrm>
            <a:off x="1066800" y="1600200"/>
            <a:ext cx="7315200" cy="4637088"/>
          </a:xfrm>
          <a:ln/>
        </p:spPr>
        <p:txBody>
          <a:bodyPr vert="horz" wrap="square" lIns="91440" tIns="45720" rIns="91440" bIns="45720" anchor="t" anchorCtr="0"/>
          <a:p>
            <a:pPr algn="just" eaLnBrk="1" hangingPunct="1"/>
            <a:r>
              <a:rPr lang="zh-CN" altLang="en-US" dirty="0"/>
              <a:t>关系模型</a:t>
            </a:r>
            <a:r>
              <a:rPr lang="en-US" altLang="zh-CN" dirty="0"/>
              <a:t>(</a:t>
            </a:r>
            <a:r>
              <a:rPr lang="en-US" altLang="zh-CN" b="0" dirty="0"/>
              <a:t>Relational Model</a:t>
            </a:r>
            <a:r>
              <a:rPr lang="en-US" altLang="zh-CN" dirty="0"/>
              <a:t>)  </a:t>
            </a:r>
            <a:endParaRPr lang="en-US" altLang="zh-CN" dirty="0"/>
          </a:p>
          <a:p>
            <a:pPr lvl="1" algn="just" eaLnBrk="1" hangingPunct="1"/>
            <a:r>
              <a:rPr lang="zh-CN" altLang="en-US" dirty="0"/>
              <a:t>数据结构：表</a:t>
            </a:r>
            <a:endParaRPr lang="zh-CN" altLang="en-US" dirty="0"/>
          </a:p>
          <a:p>
            <a:pPr lvl="1" algn="just" eaLnBrk="1" hangingPunct="1"/>
            <a:endParaRPr lang="zh-CN" altLang="en-US" dirty="0"/>
          </a:p>
          <a:p>
            <a:pPr algn="just" eaLnBrk="1" hangingPunct="1"/>
            <a:r>
              <a:rPr lang="zh-CN" altLang="en-US" dirty="0"/>
              <a:t>面向对象模型</a:t>
            </a:r>
            <a:r>
              <a:rPr lang="en-US" altLang="zh-CN" dirty="0"/>
              <a:t>(</a:t>
            </a:r>
            <a:r>
              <a:rPr lang="en-US" altLang="zh-CN" b="0" dirty="0"/>
              <a:t>Object Oriented Model</a:t>
            </a:r>
            <a:r>
              <a:rPr lang="zh-CN" altLang="en-US" dirty="0"/>
              <a:t>）</a:t>
            </a:r>
            <a:endParaRPr lang="zh-CN" altLang="en-US" dirty="0"/>
          </a:p>
          <a:p>
            <a:pPr lvl="1" algn="just" eaLnBrk="1" hangingPunct="1"/>
            <a:r>
              <a:rPr lang="zh-CN" altLang="en-US" dirty="0"/>
              <a:t>数据结构：对象</a:t>
            </a:r>
            <a:endParaRPr lang="zh-CN" altLang="en-US" dirty="0"/>
          </a:p>
          <a:p>
            <a:pPr lvl="1" algn="just" eaLnBrk="1" hangingPunct="1"/>
            <a:endParaRPr lang="zh-CN" altLang="en-US" dirty="0"/>
          </a:p>
          <a:p>
            <a:pPr algn="just" eaLnBrk="1" hangingPunct="1"/>
            <a:r>
              <a:rPr lang="zh-CN" altLang="en-US" dirty="0"/>
              <a:t>对象关系模型</a:t>
            </a:r>
            <a:r>
              <a:rPr lang="en-US" altLang="zh-CN" b="0" dirty="0"/>
              <a:t>(Object Relational Model)</a:t>
            </a:r>
            <a:endParaRPr lang="zh-CN" altLang="en-US" dirty="0"/>
          </a:p>
          <a:p>
            <a:pPr lvl="1" algn="just" eaLnBrk="1" hangingPunct="1"/>
            <a:r>
              <a:rPr lang="zh-CN" altLang="en-US" dirty="0"/>
              <a:t>数据结构：对象</a:t>
            </a:r>
            <a:endParaRPr lang="zh-CN" altLang="en-US" dirty="0"/>
          </a:p>
          <a:p>
            <a:pPr algn="just" eaLnBrk="1" hangingPunct="1"/>
            <a:endParaRPr lang="en-US" altLang="zh-CN" b="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0051" name="Rectangle 2"/>
          <p:cNvSpPr/>
          <p:nvPr/>
        </p:nvSpPr>
        <p:spPr>
          <a:xfrm>
            <a:off x="977900" y="4179888"/>
            <a:ext cx="7848600" cy="7620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0052" name="Rectangle 3"/>
          <p:cNvSpPr>
            <a:spLocks noGrp="1"/>
          </p:cNvSpPr>
          <p:nvPr>
            <p:ph type="title"/>
          </p:nvPr>
        </p:nvSpPr>
        <p:spPr>
          <a:ln/>
        </p:spPr>
        <p:txBody>
          <a:bodyPr vert="horz" wrap="square" lIns="91440" tIns="45720" rIns="91440" bIns="45720" anchor="ctr" anchorCtr="0"/>
          <a:p>
            <a:pPr eaLnBrk="1" hangingPunct="1"/>
            <a:r>
              <a:rPr lang="en-US" altLang="zh-CN" dirty="0"/>
              <a:t>1.2 </a:t>
            </a:r>
            <a:r>
              <a:rPr lang="zh-CN" altLang="en-US" dirty="0"/>
              <a:t>数据模型</a:t>
            </a:r>
            <a:endParaRPr lang="zh-CN" altLang="en-US" dirty="0"/>
          </a:p>
        </p:txBody>
      </p:sp>
      <p:sp>
        <p:nvSpPr>
          <p:cNvPr id="130053" name="Rectangle 4"/>
          <p:cNvSpPr>
            <a:spLocks noGrp="1"/>
          </p:cNvSpPr>
          <p:nvPr>
            <p:ph idx="1"/>
          </p:nvPr>
        </p:nvSpPr>
        <p:spPr>
          <a:xfrm>
            <a:off x="990600" y="1143000"/>
            <a:ext cx="7543800" cy="545465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1.2.1  </a:t>
            </a:r>
            <a:r>
              <a:rPr lang="zh-CN" altLang="en-US" dirty="0">
                <a:solidFill>
                  <a:schemeClr val="tx1"/>
                </a:solidFill>
                <a:latin typeface="Arial Narrow" panose="020B0606020202030204" pitchFamily="34" charset="0"/>
                <a:ea typeface="仿宋_GB2312" pitchFamily="49" charset="-122"/>
              </a:rPr>
              <a:t>两大类数据模型</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1.2.2  </a:t>
            </a:r>
            <a:r>
              <a:rPr lang="zh-CN" altLang="en-US" dirty="0">
                <a:solidFill>
                  <a:schemeClr val="tx1"/>
                </a:solidFill>
                <a:latin typeface="Arial Narrow" panose="020B0606020202030204" pitchFamily="34" charset="0"/>
                <a:ea typeface="仿宋_GB2312" pitchFamily="49" charset="-122"/>
              </a:rPr>
              <a:t>数据模型的组成要素</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1.2.3</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概念模型</a:t>
            </a:r>
            <a:endParaRPr lang="zh-CN" altLang="en-US" dirty="0">
              <a:solidFill>
                <a:schemeClr val="tx1"/>
              </a:solidFill>
              <a:latin typeface="仿宋_GB2312" pitchFamily="49" charset="-122"/>
              <a:ea typeface="仿宋_GB2312" pitchFamily="49" charset="-122"/>
            </a:endParaRPr>
          </a:p>
          <a:p>
            <a:pPr algn="just"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1.2.4</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最常用的数据模型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1.2.5</a:t>
            </a:r>
            <a:r>
              <a:rPr lang="en-US" altLang="zh-CN" dirty="0">
                <a:solidFill>
                  <a:schemeClr val="bg1"/>
                </a:solidFill>
                <a:latin typeface="仿宋_GB2312" pitchFamily="49" charset="-122"/>
                <a:ea typeface="仿宋_GB2312" pitchFamily="49" charset="-122"/>
              </a:rPr>
              <a:t> </a:t>
            </a:r>
            <a:r>
              <a:rPr lang="zh-CN" altLang="en-US" dirty="0">
                <a:solidFill>
                  <a:schemeClr val="bg1"/>
                </a:solidFill>
                <a:latin typeface="仿宋_GB2312" pitchFamily="49" charset="-122"/>
                <a:ea typeface="仿宋_GB2312" pitchFamily="49" charset="-122"/>
              </a:rPr>
              <a:t>层次模型</a:t>
            </a:r>
            <a:endParaRPr lang="zh-CN" altLang="en-US" dirty="0">
              <a:solidFill>
                <a:schemeClr val="bg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1.2.6</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网状模型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1.2.7</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关系模型</a:t>
            </a:r>
            <a:endParaRPr lang="zh-CN" altLang="en-US" dirty="0">
              <a:solidFill>
                <a:schemeClr val="tx1"/>
              </a:solidFill>
              <a:latin typeface="仿宋_GB2312" pitchFamily="49" charset="-122"/>
              <a:ea typeface="仿宋_GB2312" pitchFamily="49"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1075" name="Rectangle 2"/>
          <p:cNvSpPr>
            <a:spLocks noGrp="1"/>
          </p:cNvSpPr>
          <p:nvPr>
            <p:ph type="title"/>
          </p:nvPr>
        </p:nvSpPr>
        <p:spPr>
          <a:ln/>
        </p:spPr>
        <p:txBody>
          <a:bodyPr vert="horz" wrap="square" lIns="91440" tIns="45720" rIns="91440" bIns="45720" anchor="ctr" anchorCtr="0"/>
          <a:p>
            <a:pPr eaLnBrk="1" hangingPunct="1"/>
            <a:r>
              <a:rPr lang="en-US" altLang="zh-CN" dirty="0"/>
              <a:t>1.2.5  </a:t>
            </a:r>
            <a:r>
              <a:rPr lang="zh-CN" altLang="en-US" dirty="0"/>
              <a:t>层次模型</a:t>
            </a:r>
            <a:r>
              <a:rPr lang="en-US" altLang="zh-CN" dirty="0"/>
              <a:t>(cont)</a:t>
            </a:r>
            <a:endParaRPr lang="en-US" altLang="zh-CN" dirty="0"/>
          </a:p>
        </p:txBody>
      </p:sp>
      <p:sp>
        <p:nvSpPr>
          <p:cNvPr id="131076" name="Rectangle 3"/>
          <p:cNvSpPr>
            <a:spLocks noGrp="1"/>
          </p:cNvSpPr>
          <p:nvPr>
            <p:ph idx="1"/>
          </p:nvPr>
        </p:nvSpPr>
        <p:spPr>
          <a:xfrm>
            <a:off x="1066800" y="1600200"/>
            <a:ext cx="7315200" cy="4343400"/>
          </a:xfrm>
          <a:ln/>
        </p:spPr>
        <p:txBody>
          <a:bodyPr vert="horz" wrap="square" lIns="91440" tIns="45720" rIns="91440" bIns="45720" anchor="t" anchorCtr="0"/>
          <a:p>
            <a:pPr algn="just" eaLnBrk="1" hangingPunct="1">
              <a:lnSpc>
                <a:spcPct val="120000"/>
              </a:lnSpc>
              <a:buNone/>
            </a:pPr>
            <a:r>
              <a:rPr lang="en-US" altLang="zh-CN" dirty="0"/>
              <a:t>1. </a:t>
            </a:r>
            <a:r>
              <a:rPr lang="zh-CN" altLang="en-US" dirty="0"/>
              <a:t>层次数据模型的数据结构 </a:t>
            </a:r>
            <a:endParaRPr lang="zh-CN" altLang="en-US" dirty="0"/>
          </a:p>
          <a:p>
            <a:pPr algn="just" eaLnBrk="1" hangingPunct="1">
              <a:lnSpc>
                <a:spcPct val="120000"/>
              </a:lnSpc>
              <a:buNone/>
            </a:pPr>
            <a:r>
              <a:rPr lang="en-US" altLang="zh-CN" dirty="0"/>
              <a:t>2. </a:t>
            </a:r>
            <a:r>
              <a:rPr lang="zh-CN" altLang="en-US" dirty="0"/>
              <a:t>层次数据模型的数据操纵</a:t>
            </a:r>
            <a:endParaRPr lang="zh-CN" altLang="en-US" dirty="0"/>
          </a:p>
          <a:p>
            <a:pPr algn="just" eaLnBrk="1" hangingPunct="1">
              <a:lnSpc>
                <a:spcPct val="120000"/>
              </a:lnSpc>
              <a:buNone/>
            </a:pPr>
            <a:r>
              <a:rPr lang="en-US" altLang="zh-CN" dirty="0"/>
              <a:t>3. </a:t>
            </a:r>
            <a:r>
              <a:rPr lang="zh-CN" altLang="en-US" dirty="0"/>
              <a:t>层次数据模型的与完整性约束 </a:t>
            </a:r>
            <a:endParaRPr lang="zh-CN" altLang="en-US" dirty="0"/>
          </a:p>
          <a:p>
            <a:pPr algn="just" eaLnBrk="1" hangingPunct="1">
              <a:lnSpc>
                <a:spcPct val="120000"/>
              </a:lnSpc>
              <a:buNone/>
            </a:pPr>
            <a:r>
              <a:rPr lang="en-US" altLang="zh-CN" dirty="0"/>
              <a:t>4. </a:t>
            </a:r>
            <a:r>
              <a:rPr lang="zh-CN" altLang="en-US" dirty="0"/>
              <a:t>层次数据模型的存储结构 </a:t>
            </a:r>
            <a:endParaRPr lang="zh-CN" altLang="en-US" dirty="0"/>
          </a:p>
          <a:p>
            <a:pPr algn="just" eaLnBrk="1" hangingPunct="1">
              <a:lnSpc>
                <a:spcPct val="120000"/>
              </a:lnSpc>
              <a:buNone/>
            </a:pPr>
            <a:r>
              <a:rPr lang="en-US" altLang="zh-CN" dirty="0"/>
              <a:t>5. </a:t>
            </a:r>
            <a:r>
              <a:rPr lang="zh-CN" altLang="en-US" dirty="0"/>
              <a:t>层次数据模型的优缺点</a:t>
            </a:r>
            <a:r>
              <a:rPr lang="zh-CN" altLang="en-US" b="0" dirty="0"/>
              <a:t> </a:t>
            </a:r>
            <a:endParaRPr lang="zh-CN" altLang="en-US" b="0" dirty="0"/>
          </a:p>
          <a:p>
            <a:pPr algn="just" eaLnBrk="1" hangingPunct="1">
              <a:lnSpc>
                <a:spcPct val="120000"/>
              </a:lnSpc>
              <a:buNone/>
            </a:pPr>
            <a:r>
              <a:rPr lang="en-US" altLang="zh-CN" dirty="0"/>
              <a:t>6. </a:t>
            </a:r>
            <a:r>
              <a:rPr lang="zh-CN" altLang="en-US" dirty="0"/>
              <a:t>典型的层次数据库系统</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2099"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2100" name="Rectangle 3"/>
          <p:cNvSpPr>
            <a:spLocks noGrp="1"/>
          </p:cNvSpPr>
          <p:nvPr>
            <p:ph idx="1"/>
          </p:nvPr>
        </p:nvSpPr>
        <p:spPr>
          <a:xfrm>
            <a:off x="533400" y="914400"/>
            <a:ext cx="8382000" cy="4953000"/>
          </a:xfrm>
          <a:ln/>
        </p:spPr>
        <p:txBody>
          <a:bodyPr vert="horz" wrap="square" lIns="91440" tIns="45720" rIns="91440" bIns="45720" anchor="t" anchorCtr="0"/>
          <a:p>
            <a:pPr algn="just" eaLnBrk="1" hangingPunct="1">
              <a:lnSpc>
                <a:spcPct val="120000"/>
              </a:lnSpc>
              <a:buNone/>
            </a:pPr>
            <a:r>
              <a:rPr lang="en-US" altLang="zh-CN" sz="2800" dirty="0"/>
              <a:t>1. </a:t>
            </a:r>
            <a:r>
              <a:rPr lang="zh-CN" altLang="en-US" sz="2800" dirty="0"/>
              <a:t>层次数据模型的数据结构</a:t>
            </a:r>
            <a:r>
              <a:rPr lang="zh-CN" altLang="en-US" sz="2800" dirty="0">
                <a:solidFill>
                  <a:schemeClr val="tx1"/>
                </a:solidFill>
              </a:rPr>
              <a:t> </a:t>
            </a:r>
            <a:endParaRPr lang="zh-CN" altLang="en-US" sz="2800" dirty="0">
              <a:solidFill>
                <a:schemeClr val="tx1"/>
              </a:solidFill>
            </a:endParaRPr>
          </a:p>
          <a:p>
            <a:pPr algn="just" eaLnBrk="1" hangingPunct="1">
              <a:lnSpc>
                <a:spcPct val="120000"/>
              </a:lnSpc>
            </a:pPr>
            <a:r>
              <a:rPr lang="zh-CN" altLang="en-US" sz="2800" dirty="0">
                <a:solidFill>
                  <a:schemeClr val="accent2"/>
                </a:solidFill>
              </a:rPr>
              <a:t>层次模型</a:t>
            </a:r>
            <a:endParaRPr lang="zh-CN" altLang="en-US" sz="2800" dirty="0">
              <a:solidFill>
                <a:schemeClr val="accent2"/>
              </a:solidFill>
            </a:endParaRPr>
          </a:p>
          <a:p>
            <a:pPr lvl="1" algn="just" eaLnBrk="1" hangingPunct="1">
              <a:lnSpc>
                <a:spcPct val="140000"/>
              </a:lnSpc>
              <a:buNone/>
            </a:pPr>
            <a:r>
              <a:rPr lang="zh-CN" altLang="en-US" sz="2400" dirty="0"/>
              <a:t>满足下面两个条件的基本层次联系的集合为层次模型。</a:t>
            </a:r>
            <a:endParaRPr lang="zh-CN" altLang="en-US" sz="2400" dirty="0"/>
          </a:p>
          <a:p>
            <a:pPr lvl="1" algn="just" eaLnBrk="1" hangingPunct="1">
              <a:lnSpc>
                <a:spcPct val="140000"/>
              </a:lnSpc>
            </a:pPr>
            <a:r>
              <a:rPr lang="zh-CN" altLang="en-US" sz="2400" dirty="0"/>
              <a:t>有且只有一个结点没有双亲结点，这个结点称为根结点</a:t>
            </a:r>
            <a:endParaRPr lang="zh-CN" altLang="en-US" sz="2400" dirty="0"/>
          </a:p>
          <a:p>
            <a:pPr lvl="1" algn="just" eaLnBrk="1" hangingPunct="1">
              <a:lnSpc>
                <a:spcPct val="140000"/>
              </a:lnSpc>
            </a:pPr>
            <a:r>
              <a:rPr lang="zh-CN" altLang="en-US" sz="2400" dirty="0"/>
              <a:t>根以外的其它结点有且只有一个双亲结点</a:t>
            </a:r>
            <a:endParaRPr lang="zh-CN" altLang="en-US" dirty="0"/>
          </a:p>
          <a:p>
            <a:pPr algn="just" eaLnBrk="1" hangingPunct="1">
              <a:lnSpc>
                <a:spcPct val="140000"/>
              </a:lnSpc>
            </a:pPr>
            <a:r>
              <a:rPr lang="zh-CN" altLang="en-US" sz="2800" dirty="0">
                <a:solidFill>
                  <a:schemeClr val="accent2"/>
                </a:solidFill>
              </a:rPr>
              <a:t>层次模型中的几个术语</a:t>
            </a:r>
            <a:endParaRPr lang="zh-CN" altLang="en-US" sz="2800" dirty="0">
              <a:solidFill>
                <a:schemeClr val="accent2"/>
              </a:solidFill>
            </a:endParaRPr>
          </a:p>
          <a:p>
            <a:pPr lvl="1" algn="just" eaLnBrk="1" hangingPunct="1">
              <a:lnSpc>
                <a:spcPct val="140000"/>
              </a:lnSpc>
            </a:pPr>
            <a:r>
              <a:rPr lang="zh-CN" altLang="en-US" sz="2400" dirty="0"/>
              <a:t>根结点，双亲结点，兄弟结点，叶结点</a:t>
            </a:r>
            <a:endParaRPr lang="zh-CN" altLang="en-US" dirty="0"/>
          </a:p>
          <a:p>
            <a:pPr lvl="1" eaLnBrk="1" hangingPunct="1"/>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23"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3124" name="Rectangle 3"/>
          <p:cNvSpPr>
            <a:spLocks noGrp="1"/>
          </p:cNvSpPr>
          <p:nvPr>
            <p:ph idx="1"/>
          </p:nvPr>
        </p:nvSpPr>
        <p:spPr>
          <a:xfrm>
            <a:off x="533400" y="914400"/>
            <a:ext cx="8382000" cy="4953000"/>
          </a:xfrm>
          <a:ln/>
        </p:spPr>
        <p:txBody>
          <a:bodyPr vert="horz" wrap="square" lIns="91440" tIns="45720" rIns="91440" bIns="45720" anchor="t" anchorCtr="0"/>
          <a:p>
            <a:pPr algn="just" eaLnBrk="1" hangingPunct="1">
              <a:lnSpc>
                <a:spcPct val="120000"/>
              </a:lnSpc>
              <a:buNone/>
            </a:pPr>
            <a:r>
              <a:rPr lang="zh-CN" altLang="en-US" dirty="0"/>
              <a:t>层次数据模型的数据结构 </a:t>
            </a:r>
            <a:r>
              <a:rPr lang="en-US" altLang="zh-CN" dirty="0"/>
              <a:t>(</a:t>
            </a:r>
            <a:r>
              <a:rPr lang="zh-CN" altLang="en-US" dirty="0"/>
              <a:t>续</a:t>
            </a:r>
            <a:r>
              <a:rPr lang="en-US" altLang="zh-CN" dirty="0"/>
              <a:t>)</a:t>
            </a:r>
            <a:endParaRPr lang="en-US" altLang="zh-CN" dirty="0"/>
          </a:p>
        </p:txBody>
      </p:sp>
      <p:grpSp>
        <p:nvGrpSpPr>
          <p:cNvPr id="133125" name="Group 4"/>
          <p:cNvGrpSpPr/>
          <p:nvPr/>
        </p:nvGrpSpPr>
        <p:grpSpPr>
          <a:xfrm>
            <a:off x="2057400" y="1905000"/>
            <a:ext cx="5338763" cy="4673600"/>
            <a:chOff x="1524" y="1285"/>
            <a:chExt cx="2685" cy="2324"/>
          </a:xfrm>
        </p:grpSpPr>
        <p:grpSp>
          <p:nvGrpSpPr>
            <p:cNvPr id="133127" name="Group 5"/>
            <p:cNvGrpSpPr/>
            <p:nvPr/>
          </p:nvGrpSpPr>
          <p:grpSpPr>
            <a:xfrm>
              <a:off x="1524" y="1285"/>
              <a:ext cx="2685" cy="1876"/>
              <a:chOff x="1524" y="1285"/>
              <a:chExt cx="2685" cy="1876"/>
            </a:xfrm>
          </p:grpSpPr>
          <p:sp>
            <p:nvSpPr>
              <p:cNvPr id="133145" name="Rectangle 6"/>
              <p:cNvSpPr/>
              <p:nvPr/>
            </p:nvSpPr>
            <p:spPr>
              <a:xfrm>
                <a:off x="1524" y="1314"/>
                <a:ext cx="489"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latin typeface="黑体" panose="02010609060101010101" pitchFamily="49" charset="-122"/>
                    <a:ea typeface="黑体" panose="02010609060101010101" pitchFamily="49" charset="-122"/>
                  </a:rPr>
                  <a:t>         </a:t>
                </a:r>
                <a:endParaRPr lang="en-US" altLang="zh-CN" sz="2400" b="0" dirty="0">
                  <a:solidFill>
                    <a:schemeClr val="tx1"/>
                  </a:solidFill>
                  <a:ea typeface="黑体" panose="02010609060101010101" pitchFamily="49" charset="-122"/>
                </a:endParaRPr>
              </a:p>
            </p:txBody>
          </p:sp>
          <p:sp>
            <p:nvSpPr>
              <p:cNvPr id="133146" name="Rectangle 7"/>
              <p:cNvSpPr/>
              <p:nvPr/>
            </p:nvSpPr>
            <p:spPr>
              <a:xfrm>
                <a:off x="2134" y="1306"/>
                <a:ext cx="271"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47" name="Rectangle 8"/>
              <p:cNvSpPr/>
              <p:nvPr/>
            </p:nvSpPr>
            <p:spPr>
              <a:xfrm>
                <a:off x="2814" y="1306"/>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48" name="Rectangle 9"/>
              <p:cNvSpPr/>
              <p:nvPr/>
            </p:nvSpPr>
            <p:spPr>
              <a:xfrm>
                <a:off x="2898" y="1306"/>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49" name="Rectangle 10"/>
              <p:cNvSpPr/>
              <p:nvPr/>
            </p:nvSpPr>
            <p:spPr>
              <a:xfrm>
                <a:off x="2960" y="1314"/>
                <a:ext cx="109"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700" dirty="0">
                    <a:solidFill>
                      <a:srgbClr val="000000"/>
                    </a:solidFill>
                    <a:latin typeface="宋体" panose="02010600030101010101" pitchFamily="2" charset="-122"/>
                    <a:cs typeface="Arial" panose="020B0604020202020204" pitchFamily="34" charset="0"/>
                  </a:rPr>
                  <a:t>Ｒ</a:t>
                </a:r>
                <a:endParaRPr lang="zh-CN" altLang="en-US" sz="2400" b="0" dirty="0">
                  <a:solidFill>
                    <a:schemeClr val="tx1"/>
                  </a:solidFill>
                  <a:ea typeface="Arial" panose="020B0604020202020204" pitchFamily="34" charset="0"/>
                </a:endParaRPr>
              </a:p>
            </p:txBody>
          </p:sp>
          <p:sp>
            <p:nvSpPr>
              <p:cNvPr id="133150" name="Rectangle 11"/>
              <p:cNvSpPr/>
              <p:nvPr/>
            </p:nvSpPr>
            <p:spPr>
              <a:xfrm>
                <a:off x="3102" y="1306"/>
                <a:ext cx="108"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1  </a:t>
                </a:r>
                <a:endParaRPr lang="en-US" altLang="zh-CN" sz="2400" b="0" dirty="0">
                  <a:solidFill>
                    <a:schemeClr val="tx1"/>
                  </a:solidFill>
                  <a:ea typeface="Arial" panose="020B0604020202020204" pitchFamily="34" charset="0"/>
                </a:endParaRPr>
              </a:p>
            </p:txBody>
          </p:sp>
          <p:sp>
            <p:nvSpPr>
              <p:cNvPr id="133151" name="Rectangle 12"/>
              <p:cNvSpPr/>
              <p:nvPr/>
            </p:nvSpPr>
            <p:spPr>
              <a:xfrm>
                <a:off x="2806" y="1285"/>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52" name="Line 13"/>
              <p:cNvSpPr/>
              <p:nvPr/>
            </p:nvSpPr>
            <p:spPr>
              <a:xfrm>
                <a:off x="2806" y="1285"/>
                <a:ext cx="8" cy="1"/>
              </a:xfrm>
              <a:prstGeom prst="line">
                <a:avLst/>
              </a:prstGeom>
              <a:ln w="0" cap="flat" cmpd="sng">
                <a:solidFill>
                  <a:srgbClr val="000000"/>
                </a:solidFill>
                <a:prstDash val="solid"/>
                <a:headEnd type="none" w="med" len="med"/>
                <a:tailEnd type="none" w="med" len="med"/>
              </a:ln>
            </p:spPr>
          </p:sp>
          <p:sp>
            <p:nvSpPr>
              <p:cNvPr id="133153" name="Line 14"/>
              <p:cNvSpPr/>
              <p:nvPr/>
            </p:nvSpPr>
            <p:spPr>
              <a:xfrm>
                <a:off x="2806" y="1285"/>
                <a:ext cx="1" cy="7"/>
              </a:xfrm>
              <a:prstGeom prst="line">
                <a:avLst/>
              </a:prstGeom>
              <a:ln w="0" cap="flat" cmpd="sng">
                <a:solidFill>
                  <a:srgbClr val="000000"/>
                </a:solidFill>
                <a:prstDash val="solid"/>
                <a:headEnd type="none" w="med" len="med"/>
                <a:tailEnd type="none" w="med" len="med"/>
              </a:ln>
            </p:spPr>
          </p:sp>
          <p:sp>
            <p:nvSpPr>
              <p:cNvPr id="133154" name="Rectangle 15"/>
              <p:cNvSpPr/>
              <p:nvPr/>
            </p:nvSpPr>
            <p:spPr>
              <a:xfrm>
                <a:off x="2806" y="1285"/>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55" name="Line 16"/>
              <p:cNvSpPr/>
              <p:nvPr/>
            </p:nvSpPr>
            <p:spPr>
              <a:xfrm>
                <a:off x="2806" y="1285"/>
                <a:ext cx="8" cy="1"/>
              </a:xfrm>
              <a:prstGeom prst="line">
                <a:avLst/>
              </a:prstGeom>
              <a:ln w="0" cap="flat" cmpd="sng">
                <a:solidFill>
                  <a:srgbClr val="000000"/>
                </a:solidFill>
                <a:prstDash val="solid"/>
                <a:headEnd type="none" w="med" len="med"/>
                <a:tailEnd type="none" w="med" len="med"/>
              </a:ln>
            </p:spPr>
          </p:sp>
          <p:sp>
            <p:nvSpPr>
              <p:cNvPr id="133156" name="Line 17"/>
              <p:cNvSpPr/>
              <p:nvPr/>
            </p:nvSpPr>
            <p:spPr>
              <a:xfrm>
                <a:off x="2806" y="1285"/>
                <a:ext cx="1" cy="7"/>
              </a:xfrm>
              <a:prstGeom prst="line">
                <a:avLst/>
              </a:prstGeom>
              <a:ln w="0" cap="flat" cmpd="sng">
                <a:solidFill>
                  <a:srgbClr val="000000"/>
                </a:solidFill>
                <a:prstDash val="solid"/>
                <a:headEnd type="none" w="med" len="med"/>
                <a:tailEnd type="none" w="med" len="med"/>
              </a:ln>
            </p:spPr>
          </p:sp>
          <p:sp>
            <p:nvSpPr>
              <p:cNvPr id="133157" name="Rectangle 18"/>
              <p:cNvSpPr/>
              <p:nvPr/>
            </p:nvSpPr>
            <p:spPr>
              <a:xfrm>
                <a:off x="2814" y="1285"/>
                <a:ext cx="489"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58" name="Line 19"/>
              <p:cNvSpPr/>
              <p:nvPr/>
            </p:nvSpPr>
            <p:spPr>
              <a:xfrm>
                <a:off x="2814" y="1285"/>
                <a:ext cx="489" cy="1"/>
              </a:xfrm>
              <a:prstGeom prst="line">
                <a:avLst/>
              </a:prstGeom>
              <a:ln w="0" cap="flat" cmpd="sng">
                <a:solidFill>
                  <a:srgbClr val="000000"/>
                </a:solidFill>
                <a:prstDash val="solid"/>
                <a:headEnd type="none" w="med" len="med"/>
                <a:tailEnd type="none" w="med" len="med"/>
              </a:ln>
            </p:spPr>
          </p:sp>
          <p:sp>
            <p:nvSpPr>
              <p:cNvPr id="133159" name="Rectangle 20"/>
              <p:cNvSpPr/>
              <p:nvPr/>
            </p:nvSpPr>
            <p:spPr>
              <a:xfrm>
                <a:off x="3303" y="1285"/>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60" name="Line 21"/>
              <p:cNvSpPr/>
              <p:nvPr/>
            </p:nvSpPr>
            <p:spPr>
              <a:xfrm>
                <a:off x="3303" y="1285"/>
                <a:ext cx="8" cy="1"/>
              </a:xfrm>
              <a:prstGeom prst="line">
                <a:avLst/>
              </a:prstGeom>
              <a:ln w="0" cap="flat" cmpd="sng">
                <a:solidFill>
                  <a:srgbClr val="000000"/>
                </a:solidFill>
                <a:prstDash val="solid"/>
                <a:headEnd type="none" w="med" len="med"/>
                <a:tailEnd type="none" w="med" len="med"/>
              </a:ln>
            </p:spPr>
          </p:sp>
          <p:sp>
            <p:nvSpPr>
              <p:cNvPr id="133161" name="Line 22"/>
              <p:cNvSpPr/>
              <p:nvPr/>
            </p:nvSpPr>
            <p:spPr>
              <a:xfrm>
                <a:off x="3303" y="1285"/>
                <a:ext cx="1" cy="7"/>
              </a:xfrm>
              <a:prstGeom prst="line">
                <a:avLst/>
              </a:prstGeom>
              <a:ln w="0" cap="flat" cmpd="sng">
                <a:solidFill>
                  <a:srgbClr val="000000"/>
                </a:solidFill>
                <a:prstDash val="solid"/>
                <a:headEnd type="none" w="med" len="med"/>
                <a:tailEnd type="none" w="med" len="med"/>
              </a:ln>
            </p:spPr>
          </p:sp>
          <p:sp>
            <p:nvSpPr>
              <p:cNvPr id="133162" name="Rectangle 23"/>
              <p:cNvSpPr/>
              <p:nvPr/>
            </p:nvSpPr>
            <p:spPr>
              <a:xfrm>
                <a:off x="3303" y="1285"/>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63" name="Line 24"/>
              <p:cNvSpPr/>
              <p:nvPr/>
            </p:nvSpPr>
            <p:spPr>
              <a:xfrm>
                <a:off x="3303" y="1285"/>
                <a:ext cx="8" cy="1"/>
              </a:xfrm>
              <a:prstGeom prst="line">
                <a:avLst/>
              </a:prstGeom>
              <a:ln w="0" cap="flat" cmpd="sng">
                <a:solidFill>
                  <a:srgbClr val="000000"/>
                </a:solidFill>
                <a:prstDash val="solid"/>
                <a:headEnd type="none" w="med" len="med"/>
                <a:tailEnd type="none" w="med" len="med"/>
              </a:ln>
            </p:spPr>
          </p:sp>
          <p:sp>
            <p:nvSpPr>
              <p:cNvPr id="133164" name="Line 25"/>
              <p:cNvSpPr/>
              <p:nvPr/>
            </p:nvSpPr>
            <p:spPr>
              <a:xfrm>
                <a:off x="3303" y="1285"/>
                <a:ext cx="1" cy="7"/>
              </a:xfrm>
              <a:prstGeom prst="line">
                <a:avLst/>
              </a:prstGeom>
              <a:ln w="0" cap="flat" cmpd="sng">
                <a:solidFill>
                  <a:srgbClr val="000000"/>
                </a:solidFill>
                <a:prstDash val="solid"/>
                <a:headEnd type="none" w="med" len="med"/>
                <a:tailEnd type="none" w="med" len="med"/>
              </a:ln>
            </p:spPr>
          </p:sp>
          <p:sp>
            <p:nvSpPr>
              <p:cNvPr id="133165" name="Rectangle 26"/>
              <p:cNvSpPr/>
              <p:nvPr/>
            </p:nvSpPr>
            <p:spPr>
              <a:xfrm>
                <a:off x="2806" y="1292"/>
                <a:ext cx="8" cy="18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66" name="Line 27"/>
              <p:cNvSpPr/>
              <p:nvPr/>
            </p:nvSpPr>
            <p:spPr>
              <a:xfrm>
                <a:off x="2806" y="1292"/>
                <a:ext cx="1" cy="182"/>
              </a:xfrm>
              <a:prstGeom prst="line">
                <a:avLst/>
              </a:prstGeom>
              <a:ln w="0" cap="flat" cmpd="sng">
                <a:solidFill>
                  <a:srgbClr val="000000"/>
                </a:solidFill>
                <a:prstDash val="solid"/>
                <a:headEnd type="none" w="med" len="med"/>
                <a:tailEnd type="none" w="med" len="med"/>
              </a:ln>
            </p:spPr>
          </p:sp>
          <p:sp>
            <p:nvSpPr>
              <p:cNvPr id="133167" name="Rectangle 28"/>
              <p:cNvSpPr/>
              <p:nvPr/>
            </p:nvSpPr>
            <p:spPr>
              <a:xfrm>
                <a:off x="3303" y="1292"/>
                <a:ext cx="8" cy="18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68" name="Line 29"/>
              <p:cNvSpPr/>
              <p:nvPr/>
            </p:nvSpPr>
            <p:spPr>
              <a:xfrm>
                <a:off x="3303" y="1292"/>
                <a:ext cx="1" cy="182"/>
              </a:xfrm>
              <a:prstGeom prst="line">
                <a:avLst/>
              </a:prstGeom>
              <a:ln w="0" cap="flat" cmpd="sng">
                <a:solidFill>
                  <a:srgbClr val="000000"/>
                </a:solidFill>
                <a:prstDash val="solid"/>
                <a:headEnd type="none" w="med" len="med"/>
                <a:tailEnd type="none" w="med" len="med"/>
              </a:ln>
            </p:spPr>
          </p:sp>
          <p:sp>
            <p:nvSpPr>
              <p:cNvPr id="133169" name="Rectangle 30"/>
              <p:cNvSpPr/>
              <p:nvPr/>
            </p:nvSpPr>
            <p:spPr>
              <a:xfrm>
                <a:off x="2806" y="1474"/>
                <a:ext cx="8"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70" name="Line 31"/>
              <p:cNvSpPr/>
              <p:nvPr/>
            </p:nvSpPr>
            <p:spPr>
              <a:xfrm>
                <a:off x="2806" y="1474"/>
                <a:ext cx="8" cy="1"/>
              </a:xfrm>
              <a:prstGeom prst="line">
                <a:avLst/>
              </a:prstGeom>
              <a:ln w="0" cap="flat" cmpd="sng">
                <a:solidFill>
                  <a:srgbClr val="000000"/>
                </a:solidFill>
                <a:prstDash val="solid"/>
                <a:headEnd type="none" w="med" len="med"/>
                <a:tailEnd type="none" w="med" len="med"/>
              </a:ln>
            </p:spPr>
          </p:sp>
          <p:sp>
            <p:nvSpPr>
              <p:cNvPr id="133171" name="Line 32"/>
              <p:cNvSpPr/>
              <p:nvPr/>
            </p:nvSpPr>
            <p:spPr>
              <a:xfrm>
                <a:off x="2806" y="1474"/>
                <a:ext cx="1" cy="8"/>
              </a:xfrm>
              <a:prstGeom prst="line">
                <a:avLst/>
              </a:prstGeom>
              <a:ln w="0" cap="flat" cmpd="sng">
                <a:solidFill>
                  <a:srgbClr val="000000"/>
                </a:solidFill>
                <a:prstDash val="solid"/>
                <a:headEnd type="none" w="med" len="med"/>
                <a:tailEnd type="none" w="med" len="med"/>
              </a:ln>
            </p:spPr>
          </p:sp>
          <p:sp>
            <p:nvSpPr>
              <p:cNvPr id="133172" name="Rectangle 33"/>
              <p:cNvSpPr/>
              <p:nvPr/>
            </p:nvSpPr>
            <p:spPr>
              <a:xfrm>
                <a:off x="2806" y="1474"/>
                <a:ext cx="8"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73" name="Line 34"/>
              <p:cNvSpPr/>
              <p:nvPr/>
            </p:nvSpPr>
            <p:spPr>
              <a:xfrm>
                <a:off x="2806" y="1474"/>
                <a:ext cx="8" cy="1"/>
              </a:xfrm>
              <a:prstGeom prst="line">
                <a:avLst/>
              </a:prstGeom>
              <a:ln w="0" cap="flat" cmpd="sng">
                <a:solidFill>
                  <a:srgbClr val="000000"/>
                </a:solidFill>
                <a:prstDash val="solid"/>
                <a:headEnd type="none" w="med" len="med"/>
                <a:tailEnd type="none" w="med" len="med"/>
              </a:ln>
            </p:spPr>
          </p:sp>
          <p:sp>
            <p:nvSpPr>
              <p:cNvPr id="133174" name="Line 35"/>
              <p:cNvSpPr/>
              <p:nvPr/>
            </p:nvSpPr>
            <p:spPr>
              <a:xfrm>
                <a:off x="2806" y="1474"/>
                <a:ext cx="1" cy="8"/>
              </a:xfrm>
              <a:prstGeom prst="line">
                <a:avLst/>
              </a:prstGeom>
              <a:ln w="0" cap="flat" cmpd="sng">
                <a:solidFill>
                  <a:srgbClr val="000000"/>
                </a:solidFill>
                <a:prstDash val="solid"/>
                <a:headEnd type="none" w="med" len="med"/>
                <a:tailEnd type="none" w="med" len="med"/>
              </a:ln>
            </p:spPr>
          </p:sp>
          <p:sp>
            <p:nvSpPr>
              <p:cNvPr id="133175" name="Rectangle 36"/>
              <p:cNvSpPr/>
              <p:nvPr/>
            </p:nvSpPr>
            <p:spPr>
              <a:xfrm>
                <a:off x="2814" y="1474"/>
                <a:ext cx="489"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76" name="Line 37"/>
              <p:cNvSpPr/>
              <p:nvPr/>
            </p:nvSpPr>
            <p:spPr>
              <a:xfrm>
                <a:off x="2814" y="1474"/>
                <a:ext cx="489" cy="1"/>
              </a:xfrm>
              <a:prstGeom prst="line">
                <a:avLst/>
              </a:prstGeom>
              <a:ln w="0" cap="flat" cmpd="sng">
                <a:solidFill>
                  <a:srgbClr val="000000"/>
                </a:solidFill>
                <a:prstDash val="solid"/>
                <a:headEnd type="none" w="med" len="med"/>
                <a:tailEnd type="none" w="med" len="med"/>
              </a:ln>
            </p:spPr>
          </p:sp>
          <p:sp>
            <p:nvSpPr>
              <p:cNvPr id="133177" name="Rectangle 38"/>
              <p:cNvSpPr/>
              <p:nvPr/>
            </p:nvSpPr>
            <p:spPr>
              <a:xfrm>
                <a:off x="3303" y="1474"/>
                <a:ext cx="8"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78" name="Line 39"/>
              <p:cNvSpPr/>
              <p:nvPr/>
            </p:nvSpPr>
            <p:spPr>
              <a:xfrm>
                <a:off x="3303" y="1474"/>
                <a:ext cx="8" cy="1"/>
              </a:xfrm>
              <a:prstGeom prst="line">
                <a:avLst/>
              </a:prstGeom>
              <a:ln w="0" cap="flat" cmpd="sng">
                <a:solidFill>
                  <a:srgbClr val="000000"/>
                </a:solidFill>
                <a:prstDash val="solid"/>
                <a:headEnd type="none" w="med" len="med"/>
                <a:tailEnd type="none" w="med" len="med"/>
              </a:ln>
            </p:spPr>
          </p:sp>
          <p:sp>
            <p:nvSpPr>
              <p:cNvPr id="133179" name="Line 40"/>
              <p:cNvSpPr/>
              <p:nvPr/>
            </p:nvSpPr>
            <p:spPr>
              <a:xfrm>
                <a:off x="3303" y="1474"/>
                <a:ext cx="1" cy="8"/>
              </a:xfrm>
              <a:prstGeom prst="line">
                <a:avLst/>
              </a:prstGeom>
              <a:ln w="0" cap="flat" cmpd="sng">
                <a:solidFill>
                  <a:srgbClr val="000000"/>
                </a:solidFill>
                <a:prstDash val="solid"/>
                <a:headEnd type="none" w="med" len="med"/>
                <a:tailEnd type="none" w="med" len="med"/>
              </a:ln>
            </p:spPr>
          </p:sp>
          <p:sp>
            <p:nvSpPr>
              <p:cNvPr id="133180" name="Rectangle 41"/>
              <p:cNvSpPr/>
              <p:nvPr/>
            </p:nvSpPr>
            <p:spPr>
              <a:xfrm>
                <a:off x="3303" y="1474"/>
                <a:ext cx="8"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81" name="Line 42"/>
              <p:cNvSpPr/>
              <p:nvPr/>
            </p:nvSpPr>
            <p:spPr>
              <a:xfrm>
                <a:off x="3303" y="1474"/>
                <a:ext cx="8" cy="1"/>
              </a:xfrm>
              <a:prstGeom prst="line">
                <a:avLst/>
              </a:prstGeom>
              <a:ln w="0" cap="flat" cmpd="sng">
                <a:solidFill>
                  <a:srgbClr val="000000"/>
                </a:solidFill>
                <a:prstDash val="solid"/>
                <a:headEnd type="none" w="med" len="med"/>
                <a:tailEnd type="none" w="med" len="med"/>
              </a:ln>
            </p:spPr>
          </p:sp>
          <p:sp>
            <p:nvSpPr>
              <p:cNvPr id="133182" name="Line 43"/>
              <p:cNvSpPr/>
              <p:nvPr/>
            </p:nvSpPr>
            <p:spPr>
              <a:xfrm>
                <a:off x="3303" y="1474"/>
                <a:ext cx="1" cy="8"/>
              </a:xfrm>
              <a:prstGeom prst="line">
                <a:avLst/>
              </a:prstGeom>
              <a:ln w="0" cap="flat" cmpd="sng">
                <a:solidFill>
                  <a:srgbClr val="000000"/>
                </a:solidFill>
                <a:prstDash val="solid"/>
                <a:headEnd type="none" w="med" len="med"/>
                <a:tailEnd type="none" w="med" len="med"/>
              </a:ln>
            </p:spPr>
          </p:sp>
          <p:sp>
            <p:nvSpPr>
              <p:cNvPr id="133183" name="Rectangle 44"/>
              <p:cNvSpPr/>
              <p:nvPr/>
            </p:nvSpPr>
            <p:spPr>
              <a:xfrm>
                <a:off x="3312" y="1306"/>
                <a:ext cx="54"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84" name="Rectangle 45"/>
              <p:cNvSpPr/>
              <p:nvPr/>
            </p:nvSpPr>
            <p:spPr>
              <a:xfrm>
                <a:off x="3439" y="1314"/>
                <a:ext cx="403" cy="16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100" dirty="0">
                    <a:solidFill>
                      <a:srgbClr val="000000"/>
                    </a:solidFill>
                    <a:latin typeface="宋体" panose="02010600030101010101" pitchFamily="2" charset="-122"/>
                    <a:cs typeface="Arial" panose="020B0604020202020204" pitchFamily="34" charset="0"/>
                  </a:rPr>
                  <a:t>根结点</a:t>
                </a:r>
                <a:endParaRPr lang="zh-CN" altLang="en-US" b="0" dirty="0">
                  <a:solidFill>
                    <a:schemeClr val="tx1"/>
                  </a:solidFill>
                  <a:ea typeface="Arial" panose="020B0604020202020204" pitchFamily="34" charset="0"/>
                </a:endParaRPr>
              </a:p>
            </p:txBody>
          </p:sp>
          <p:sp>
            <p:nvSpPr>
              <p:cNvPr id="133185" name="Rectangle 46"/>
              <p:cNvSpPr/>
              <p:nvPr/>
            </p:nvSpPr>
            <p:spPr>
              <a:xfrm>
                <a:off x="1524" y="1806"/>
                <a:ext cx="109"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86" name="Rectangle 47"/>
              <p:cNvSpPr/>
              <p:nvPr/>
            </p:nvSpPr>
            <p:spPr>
              <a:xfrm>
                <a:off x="1524" y="2026"/>
                <a:ext cx="21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87" name="Rectangle 48"/>
              <p:cNvSpPr/>
              <p:nvPr/>
            </p:nvSpPr>
            <p:spPr>
              <a:xfrm>
                <a:off x="2072" y="2026"/>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88" name="Rectangle 49"/>
              <p:cNvSpPr/>
              <p:nvPr/>
            </p:nvSpPr>
            <p:spPr>
              <a:xfrm>
                <a:off x="2156" y="2026"/>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189" name="Rectangle 50"/>
              <p:cNvSpPr/>
              <p:nvPr/>
            </p:nvSpPr>
            <p:spPr>
              <a:xfrm>
                <a:off x="2218" y="2033"/>
                <a:ext cx="108" cy="1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700" dirty="0">
                    <a:solidFill>
                      <a:srgbClr val="000000"/>
                    </a:solidFill>
                    <a:latin typeface="宋体" panose="02010600030101010101" pitchFamily="2" charset="-122"/>
                    <a:cs typeface="Arial" panose="020B0604020202020204" pitchFamily="34" charset="0"/>
                  </a:rPr>
                  <a:t>Ｒ</a:t>
                </a:r>
                <a:endParaRPr lang="zh-CN" altLang="en-US" sz="2400" b="0" dirty="0">
                  <a:solidFill>
                    <a:schemeClr val="tx1"/>
                  </a:solidFill>
                  <a:ea typeface="Arial" panose="020B0604020202020204" pitchFamily="34" charset="0"/>
                </a:endParaRPr>
              </a:p>
            </p:txBody>
          </p:sp>
          <p:sp>
            <p:nvSpPr>
              <p:cNvPr id="133190" name="Rectangle 51"/>
              <p:cNvSpPr/>
              <p:nvPr/>
            </p:nvSpPr>
            <p:spPr>
              <a:xfrm>
                <a:off x="2362" y="2026"/>
                <a:ext cx="136"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2   </a:t>
                </a:r>
                <a:endParaRPr lang="en-US" altLang="zh-CN" sz="2400" b="0" dirty="0">
                  <a:solidFill>
                    <a:schemeClr val="tx1"/>
                  </a:solidFill>
                  <a:ea typeface="Arial" panose="020B0604020202020204" pitchFamily="34" charset="0"/>
                </a:endParaRPr>
              </a:p>
            </p:txBody>
          </p:sp>
          <p:sp>
            <p:nvSpPr>
              <p:cNvPr id="133191" name="Rectangle 52"/>
              <p:cNvSpPr/>
              <p:nvPr/>
            </p:nvSpPr>
            <p:spPr>
              <a:xfrm>
                <a:off x="2065" y="200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92" name="Line 53"/>
              <p:cNvSpPr/>
              <p:nvPr/>
            </p:nvSpPr>
            <p:spPr>
              <a:xfrm>
                <a:off x="2065" y="2004"/>
                <a:ext cx="7" cy="1"/>
              </a:xfrm>
              <a:prstGeom prst="line">
                <a:avLst/>
              </a:prstGeom>
              <a:ln w="0" cap="flat" cmpd="sng">
                <a:solidFill>
                  <a:srgbClr val="000000"/>
                </a:solidFill>
                <a:prstDash val="solid"/>
                <a:headEnd type="none" w="med" len="med"/>
                <a:tailEnd type="none" w="med" len="med"/>
              </a:ln>
            </p:spPr>
          </p:sp>
          <p:sp>
            <p:nvSpPr>
              <p:cNvPr id="133193" name="Line 54"/>
              <p:cNvSpPr/>
              <p:nvPr/>
            </p:nvSpPr>
            <p:spPr>
              <a:xfrm>
                <a:off x="2065" y="2004"/>
                <a:ext cx="1" cy="7"/>
              </a:xfrm>
              <a:prstGeom prst="line">
                <a:avLst/>
              </a:prstGeom>
              <a:ln w="0" cap="flat" cmpd="sng">
                <a:solidFill>
                  <a:srgbClr val="000000"/>
                </a:solidFill>
                <a:prstDash val="solid"/>
                <a:headEnd type="none" w="med" len="med"/>
                <a:tailEnd type="none" w="med" len="med"/>
              </a:ln>
            </p:spPr>
          </p:sp>
          <p:sp>
            <p:nvSpPr>
              <p:cNvPr id="133194" name="Rectangle 55"/>
              <p:cNvSpPr/>
              <p:nvPr/>
            </p:nvSpPr>
            <p:spPr>
              <a:xfrm>
                <a:off x="2065" y="200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95" name="Line 56"/>
              <p:cNvSpPr/>
              <p:nvPr/>
            </p:nvSpPr>
            <p:spPr>
              <a:xfrm>
                <a:off x="2065" y="2004"/>
                <a:ext cx="7" cy="1"/>
              </a:xfrm>
              <a:prstGeom prst="line">
                <a:avLst/>
              </a:prstGeom>
              <a:ln w="0" cap="flat" cmpd="sng">
                <a:solidFill>
                  <a:srgbClr val="000000"/>
                </a:solidFill>
                <a:prstDash val="solid"/>
                <a:headEnd type="none" w="med" len="med"/>
                <a:tailEnd type="none" w="med" len="med"/>
              </a:ln>
            </p:spPr>
          </p:sp>
          <p:sp>
            <p:nvSpPr>
              <p:cNvPr id="133196" name="Line 57"/>
              <p:cNvSpPr/>
              <p:nvPr/>
            </p:nvSpPr>
            <p:spPr>
              <a:xfrm>
                <a:off x="2065" y="2004"/>
                <a:ext cx="1" cy="7"/>
              </a:xfrm>
              <a:prstGeom prst="line">
                <a:avLst/>
              </a:prstGeom>
              <a:ln w="0" cap="flat" cmpd="sng">
                <a:solidFill>
                  <a:srgbClr val="000000"/>
                </a:solidFill>
                <a:prstDash val="solid"/>
                <a:headEnd type="none" w="med" len="med"/>
                <a:tailEnd type="none" w="med" len="med"/>
              </a:ln>
            </p:spPr>
          </p:sp>
          <p:sp>
            <p:nvSpPr>
              <p:cNvPr id="133197" name="Rectangle 58"/>
              <p:cNvSpPr/>
              <p:nvPr/>
            </p:nvSpPr>
            <p:spPr>
              <a:xfrm>
                <a:off x="2072" y="2004"/>
                <a:ext cx="555"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198" name="Line 59"/>
              <p:cNvSpPr/>
              <p:nvPr/>
            </p:nvSpPr>
            <p:spPr>
              <a:xfrm>
                <a:off x="2072" y="2004"/>
                <a:ext cx="555" cy="1"/>
              </a:xfrm>
              <a:prstGeom prst="line">
                <a:avLst/>
              </a:prstGeom>
              <a:ln w="0" cap="flat" cmpd="sng">
                <a:solidFill>
                  <a:srgbClr val="000000"/>
                </a:solidFill>
                <a:prstDash val="solid"/>
                <a:headEnd type="none" w="med" len="med"/>
                <a:tailEnd type="none" w="med" len="med"/>
              </a:ln>
            </p:spPr>
          </p:sp>
          <p:sp>
            <p:nvSpPr>
              <p:cNvPr id="133199" name="Rectangle 60"/>
              <p:cNvSpPr/>
              <p:nvPr/>
            </p:nvSpPr>
            <p:spPr>
              <a:xfrm>
                <a:off x="2627" y="200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00" name="Line 61"/>
              <p:cNvSpPr/>
              <p:nvPr/>
            </p:nvSpPr>
            <p:spPr>
              <a:xfrm>
                <a:off x="2627" y="2004"/>
                <a:ext cx="8" cy="1"/>
              </a:xfrm>
              <a:prstGeom prst="line">
                <a:avLst/>
              </a:prstGeom>
              <a:ln w="0" cap="flat" cmpd="sng">
                <a:solidFill>
                  <a:srgbClr val="000000"/>
                </a:solidFill>
                <a:prstDash val="solid"/>
                <a:headEnd type="none" w="med" len="med"/>
                <a:tailEnd type="none" w="med" len="med"/>
              </a:ln>
            </p:spPr>
          </p:sp>
          <p:sp>
            <p:nvSpPr>
              <p:cNvPr id="133201" name="Line 62"/>
              <p:cNvSpPr/>
              <p:nvPr/>
            </p:nvSpPr>
            <p:spPr>
              <a:xfrm>
                <a:off x="2627" y="2004"/>
                <a:ext cx="1" cy="7"/>
              </a:xfrm>
              <a:prstGeom prst="line">
                <a:avLst/>
              </a:prstGeom>
              <a:ln w="0" cap="flat" cmpd="sng">
                <a:solidFill>
                  <a:srgbClr val="000000"/>
                </a:solidFill>
                <a:prstDash val="solid"/>
                <a:headEnd type="none" w="med" len="med"/>
                <a:tailEnd type="none" w="med" len="med"/>
              </a:ln>
            </p:spPr>
          </p:sp>
          <p:sp>
            <p:nvSpPr>
              <p:cNvPr id="133202" name="Rectangle 63"/>
              <p:cNvSpPr/>
              <p:nvPr/>
            </p:nvSpPr>
            <p:spPr>
              <a:xfrm>
                <a:off x="2627" y="200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03" name="Line 64"/>
              <p:cNvSpPr/>
              <p:nvPr/>
            </p:nvSpPr>
            <p:spPr>
              <a:xfrm>
                <a:off x="2627" y="2004"/>
                <a:ext cx="8" cy="1"/>
              </a:xfrm>
              <a:prstGeom prst="line">
                <a:avLst/>
              </a:prstGeom>
              <a:ln w="0" cap="flat" cmpd="sng">
                <a:solidFill>
                  <a:srgbClr val="000000"/>
                </a:solidFill>
                <a:prstDash val="solid"/>
                <a:headEnd type="none" w="med" len="med"/>
                <a:tailEnd type="none" w="med" len="med"/>
              </a:ln>
            </p:spPr>
          </p:sp>
          <p:sp>
            <p:nvSpPr>
              <p:cNvPr id="133204" name="Line 65"/>
              <p:cNvSpPr/>
              <p:nvPr/>
            </p:nvSpPr>
            <p:spPr>
              <a:xfrm>
                <a:off x="2627" y="2004"/>
                <a:ext cx="1" cy="7"/>
              </a:xfrm>
              <a:prstGeom prst="line">
                <a:avLst/>
              </a:prstGeom>
              <a:ln w="0" cap="flat" cmpd="sng">
                <a:solidFill>
                  <a:srgbClr val="000000"/>
                </a:solidFill>
                <a:prstDash val="solid"/>
                <a:headEnd type="none" w="med" len="med"/>
                <a:tailEnd type="none" w="med" len="med"/>
              </a:ln>
            </p:spPr>
          </p:sp>
          <p:sp>
            <p:nvSpPr>
              <p:cNvPr id="133205" name="Rectangle 66"/>
              <p:cNvSpPr/>
              <p:nvPr/>
            </p:nvSpPr>
            <p:spPr>
              <a:xfrm>
                <a:off x="2065" y="2011"/>
                <a:ext cx="7" cy="183"/>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06" name="Line 67"/>
              <p:cNvSpPr/>
              <p:nvPr/>
            </p:nvSpPr>
            <p:spPr>
              <a:xfrm>
                <a:off x="2065" y="2011"/>
                <a:ext cx="1" cy="183"/>
              </a:xfrm>
              <a:prstGeom prst="line">
                <a:avLst/>
              </a:prstGeom>
              <a:ln w="0" cap="flat" cmpd="sng">
                <a:solidFill>
                  <a:srgbClr val="000000"/>
                </a:solidFill>
                <a:prstDash val="solid"/>
                <a:headEnd type="none" w="med" len="med"/>
                <a:tailEnd type="none" w="med" len="med"/>
              </a:ln>
            </p:spPr>
          </p:sp>
          <p:sp>
            <p:nvSpPr>
              <p:cNvPr id="133207" name="Rectangle 68"/>
              <p:cNvSpPr/>
              <p:nvPr/>
            </p:nvSpPr>
            <p:spPr>
              <a:xfrm>
                <a:off x="2627" y="2011"/>
                <a:ext cx="8" cy="183"/>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08" name="Line 69"/>
              <p:cNvSpPr/>
              <p:nvPr/>
            </p:nvSpPr>
            <p:spPr>
              <a:xfrm>
                <a:off x="2627" y="2011"/>
                <a:ext cx="1" cy="183"/>
              </a:xfrm>
              <a:prstGeom prst="line">
                <a:avLst/>
              </a:prstGeom>
              <a:ln w="0" cap="flat" cmpd="sng">
                <a:solidFill>
                  <a:srgbClr val="000000"/>
                </a:solidFill>
                <a:prstDash val="solid"/>
                <a:headEnd type="none" w="med" len="med"/>
                <a:tailEnd type="none" w="med" len="med"/>
              </a:ln>
            </p:spPr>
          </p:sp>
          <p:sp>
            <p:nvSpPr>
              <p:cNvPr id="133209" name="Rectangle 70"/>
              <p:cNvSpPr/>
              <p:nvPr/>
            </p:nvSpPr>
            <p:spPr>
              <a:xfrm>
                <a:off x="2065" y="219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10" name="Line 71"/>
              <p:cNvSpPr/>
              <p:nvPr/>
            </p:nvSpPr>
            <p:spPr>
              <a:xfrm>
                <a:off x="2065" y="2194"/>
                <a:ext cx="7" cy="1"/>
              </a:xfrm>
              <a:prstGeom prst="line">
                <a:avLst/>
              </a:prstGeom>
              <a:ln w="0" cap="flat" cmpd="sng">
                <a:solidFill>
                  <a:srgbClr val="000000"/>
                </a:solidFill>
                <a:prstDash val="solid"/>
                <a:headEnd type="none" w="med" len="med"/>
                <a:tailEnd type="none" w="med" len="med"/>
              </a:ln>
            </p:spPr>
          </p:sp>
          <p:sp>
            <p:nvSpPr>
              <p:cNvPr id="133211" name="Line 72"/>
              <p:cNvSpPr/>
              <p:nvPr/>
            </p:nvSpPr>
            <p:spPr>
              <a:xfrm>
                <a:off x="2065" y="2194"/>
                <a:ext cx="1" cy="7"/>
              </a:xfrm>
              <a:prstGeom prst="line">
                <a:avLst/>
              </a:prstGeom>
              <a:ln w="0" cap="flat" cmpd="sng">
                <a:solidFill>
                  <a:srgbClr val="000000"/>
                </a:solidFill>
                <a:prstDash val="solid"/>
                <a:headEnd type="none" w="med" len="med"/>
                <a:tailEnd type="none" w="med" len="med"/>
              </a:ln>
            </p:spPr>
          </p:sp>
          <p:sp>
            <p:nvSpPr>
              <p:cNvPr id="133212" name="Rectangle 73"/>
              <p:cNvSpPr/>
              <p:nvPr/>
            </p:nvSpPr>
            <p:spPr>
              <a:xfrm>
                <a:off x="2065" y="219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13" name="Line 74"/>
              <p:cNvSpPr/>
              <p:nvPr/>
            </p:nvSpPr>
            <p:spPr>
              <a:xfrm>
                <a:off x="2065" y="2194"/>
                <a:ext cx="7" cy="1"/>
              </a:xfrm>
              <a:prstGeom prst="line">
                <a:avLst/>
              </a:prstGeom>
              <a:ln w="0" cap="flat" cmpd="sng">
                <a:solidFill>
                  <a:srgbClr val="000000"/>
                </a:solidFill>
                <a:prstDash val="solid"/>
                <a:headEnd type="none" w="med" len="med"/>
                <a:tailEnd type="none" w="med" len="med"/>
              </a:ln>
            </p:spPr>
          </p:sp>
          <p:sp>
            <p:nvSpPr>
              <p:cNvPr id="133214" name="Line 75"/>
              <p:cNvSpPr/>
              <p:nvPr/>
            </p:nvSpPr>
            <p:spPr>
              <a:xfrm>
                <a:off x="2065" y="2194"/>
                <a:ext cx="1" cy="7"/>
              </a:xfrm>
              <a:prstGeom prst="line">
                <a:avLst/>
              </a:prstGeom>
              <a:ln w="0" cap="flat" cmpd="sng">
                <a:solidFill>
                  <a:srgbClr val="000000"/>
                </a:solidFill>
                <a:prstDash val="solid"/>
                <a:headEnd type="none" w="med" len="med"/>
                <a:tailEnd type="none" w="med" len="med"/>
              </a:ln>
            </p:spPr>
          </p:sp>
          <p:sp>
            <p:nvSpPr>
              <p:cNvPr id="133215" name="Rectangle 76"/>
              <p:cNvSpPr/>
              <p:nvPr/>
            </p:nvSpPr>
            <p:spPr>
              <a:xfrm>
                <a:off x="2072" y="2194"/>
                <a:ext cx="555"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16" name="Line 77"/>
              <p:cNvSpPr/>
              <p:nvPr/>
            </p:nvSpPr>
            <p:spPr>
              <a:xfrm>
                <a:off x="2072" y="2194"/>
                <a:ext cx="555" cy="1"/>
              </a:xfrm>
              <a:prstGeom prst="line">
                <a:avLst/>
              </a:prstGeom>
              <a:ln w="0" cap="flat" cmpd="sng">
                <a:solidFill>
                  <a:srgbClr val="000000"/>
                </a:solidFill>
                <a:prstDash val="solid"/>
                <a:headEnd type="none" w="med" len="med"/>
                <a:tailEnd type="none" w="med" len="med"/>
              </a:ln>
            </p:spPr>
          </p:sp>
          <p:sp>
            <p:nvSpPr>
              <p:cNvPr id="133217" name="Rectangle 78"/>
              <p:cNvSpPr/>
              <p:nvPr/>
            </p:nvSpPr>
            <p:spPr>
              <a:xfrm>
                <a:off x="2627" y="219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18" name="Line 79"/>
              <p:cNvSpPr/>
              <p:nvPr/>
            </p:nvSpPr>
            <p:spPr>
              <a:xfrm>
                <a:off x="2627" y="2194"/>
                <a:ext cx="8" cy="1"/>
              </a:xfrm>
              <a:prstGeom prst="line">
                <a:avLst/>
              </a:prstGeom>
              <a:ln w="0" cap="flat" cmpd="sng">
                <a:solidFill>
                  <a:srgbClr val="000000"/>
                </a:solidFill>
                <a:prstDash val="solid"/>
                <a:headEnd type="none" w="med" len="med"/>
                <a:tailEnd type="none" w="med" len="med"/>
              </a:ln>
            </p:spPr>
          </p:sp>
          <p:sp>
            <p:nvSpPr>
              <p:cNvPr id="133219" name="Line 80"/>
              <p:cNvSpPr/>
              <p:nvPr/>
            </p:nvSpPr>
            <p:spPr>
              <a:xfrm>
                <a:off x="2627" y="2194"/>
                <a:ext cx="1" cy="7"/>
              </a:xfrm>
              <a:prstGeom prst="line">
                <a:avLst/>
              </a:prstGeom>
              <a:ln w="0" cap="flat" cmpd="sng">
                <a:solidFill>
                  <a:srgbClr val="000000"/>
                </a:solidFill>
                <a:prstDash val="solid"/>
                <a:headEnd type="none" w="med" len="med"/>
                <a:tailEnd type="none" w="med" len="med"/>
              </a:ln>
            </p:spPr>
          </p:sp>
          <p:sp>
            <p:nvSpPr>
              <p:cNvPr id="133220" name="Rectangle 81"/>
              <p:cNvSpPr/>
              <p:nvPr/>
            </p:nvSpPr>
            <p:spPr>
              <a:xfrm>
                <a:off x="2627" y="219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21" name="Line 82"/>
              <p:cNvSpPr/>
              <p:nvPr/>
            </p:nvSpPr>
            <p:spPr>
              <a:xfrm>
                <a:off x="2627" y="2194"/>
                <a:ext cx="8" cy="1"/>
              </a:xfrm>
              <a:prstGeom prst="line">
                <a:avLst/>
              </a:prstGeom>
              <a:ln w="0" cap="flat" cmpd="sng">
                <a:solidFill>
                  <a:srgbClr val="000000"/>
                </a:solidFill>
                <a:prstDash val="solid"/>
                <a:headEnd type="none" w="med" len="med"/>
                <a:tailEnd type="none" w="med" len="med"/>
              </a:ln>
            </p:spPr>
          </p:sp>
          <p:sp>
            <p:nvSpPr>
              <p:cNvPr id="133222" name="Line 83"/>
              <p:cNvSpPr/>
              <p:nvPr/>
            </p:nvSpPr>
            <p:spPr>
              <a:xfrm>
                <a:off x="2627" y="2194"/>
                <a:ext cx="1" cy="7"/>
              </a:xfrm>
              <a:prstGeom prst="line">
                <a:avLst/>
              </a:prstGeom>
              <a:ln w="0" cap="flat" cmpd="sng">
                <a:solidFill>
                  <a:srgbClr val="000000"/>
                </a:solidFill>
                <a:prstDash val="solid"/>
                <a:headEnd type="none" w="med" len="med"/>
                <a:tailEnd type="none" w="med" len="med"/>
              </a:ln>
            </p:spPr>
          </p:sp>
          <p:sp>
            <p:nvSpPr>
              <p:cNvPr id="133223" name="Rectangle 84"/>
              <p:cNvSpPr/>
              <p:nvPr/>
            </p:nvSpPr>
            <p:spPr>
              <a:xfrm>
                <a:off x="2635" y="2026"/>
                <a:ext cx="55"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24" name="Rectangle 85"/>
              <p:cNvSpPr/>
              <p:nvPr/>
            </p:nvSpPr>
            <p:spPr>
              <a:xfrm>
                <a:off x="2770" y="2026"/>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25" name="Rectangle 86"/>
              <p:cNvSpPr/>
              <p:nvPr/>
            </p:nvSpPr>
            <p:spPr>
              <a:xfrm>
                <a:off x="2833" y="2033"/>
                <a:ext cx="537" cy="15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100" dirty="0">
                    <a:solidFill>
                      <a:srgbClr val="000000"/>
                    </a:solidFill>
                    <a:latin typeface="宋体" panose="02010600030101010101" pitchFamily="2" charset="-122"/>
                    <a:cs typeface="Arial" panose="020B0604020202020204" pitchFamily="34" charset="0"/>
                  </a:rPr>
                  <a:t>兄弟结点</a:t>
                </a:r>
                <a:endParaRPr lang="zh-CN" altLang="en-US" b="0" dirty="0">
                  <a:solidFill>
                    <a:schemeClr val="tx1"/>
                  </a:solidFill>
                  <a:ea typeface="Arial" panose="020B0604020202020204" pitchFamily="34" charset="0"/>
                </a:endParaRPr>
              </a:p>
            </p:txBody>
          </p:sp>
          <p:sp>
            <p:nvSpPr>
              <p:cNvPr id="133226" name="Rectangle 87"/>
              <p:cNvSpPr/>
              <p:nvPr/>
            </p:nvSpPr>
            <p:spPr>
              <a:xfrm>
                <a:off x="3380" y="2026"/>
                <a:ext cx="55"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27" name="Rectangle 88"/>
              <p:cNvSpPr/>
              <p:nvPr/>
            </p:nvSpPr>
            <p:spPr>
              <a:xfrm>
                <a:off x="3508" y="2033"/>
                <a:ext cx="109" cy="1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700" dirty="0">
                    <a:solidFill>
                      <a:srgbClr val="000000"/>
                    </a:solidFill>
                    <a:latin typeface="宋体" panose="02010600030101010101" pitchFamily="2" charset="-122"/>
                    <a:cs typeface="Arial" panose="020B0604020202020204" pitchFamily="34" charset="0"/>
                  </a:rPr>
                  <a:t>　</a:t>
                </a:r>
                <a:endParaRPr lang="zh-CN" altLang="en-US" sz="2400" b="0" dirty="0">
                  <a:solidFill>
                    <a:schemeClr val="tx1"/>
                  </a:solidFill>
                  <a:ea typeface="Arial" panose="020B0604020202020204" pitchFamily="34" charset="0"/>
                </a:endParaRPr>
              </a:p>
            </p:txBody>
          </p:sp>
          <p:sp>
            <p:nvSpPr>
              <p:cNvPr id="133228" name="Rectangle 89"/>
              <p:cNvSpPr/>
              <p:nvPr/>
            </p:nvSpPr>
            <p:spPr>
              <a:xfrm>
                <a:off x="3658" y="2026"/>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29" name="Rectangle 90"/>
              <p:cNvSpPr/>
              <p:nvPr/>
            </p:nvSpPr>
            <p:spPr>
              <a:xfrm>
                <a:off x="3742" y="2026"/>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30" name="Rectangle 91"/>
              <p:cNvSpPr/>
              <p:nvPr/>
            </p:nvSpPr>
            <p:spPr>
              <a:xfrm>
                <a:off x="3804" y="2033"/>
                <a:ext cx="109" cy="1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700" dirty="0">
                    <a:solidFill>
                      <a:srgbClr val="000000"/>
                    </a:solidFill>
                    <a:latin typeface="宋体" panose="02010600030101010101" pitchFamily="2" charset="-122"/>
                    <a:cs typeface="Arial" panose="020B0604020202020204" pitchFamily="34" charset="0"/>
                  </a:rPr>
                  <a:t>Ｒ</a:t>
                </a:r>
                <a:endParaRPr lang="zh-CN" altLang="en-US" sz="2400" b="0" dirty="0">
                  <a:solidFill>
                    <a:schemeClr val="tx1"/>
                  </a:solidFill>
                  <a:ea typeface="Arial" panose="020B0604020202020204" pitchFamily="34" charset="0"/>
                </a:endParaRPr>
              </a:p>
            </p:txBody>
          </p:sp>
          <p:sp>
            <p:nvSpPr>
              <p:cNvPr id="133231" name="Rectangle 92"/>
              <p:cNvSpPr/>
              <p:nvPr/>
            </p:nvSpPr>
            <p:spPr>
              <a:xfrm>
                <a:off x="3946" y="2026"/>
                <a:ext cx="55"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3</a:t>
                </a:r>
                <a:endParaRPr lang="en-US" altLang="zh-CN" sz="2400" b="0" dirty="0">
                  <a:solidFill>
                    <a:schemeClr val="tx1"/>
                  </a:solidFill>
                  <a:ea typeface="Arial" panose="020B0604020202020204" pitchFamily="34" charset="0"/>
                </a:endParaRPr>
              </a:p>
            </p:txBody>
          </p:sp>
          <p:sp>
            <p:nvSpPr>
              <p:cNvPr id="133232" name="Rectangle 93"/>
              <p:cNvSpPr/>
              <p:nvPr/>
            </p:nvSpPr>
            <p:spPr>
              <a:xfrm>
                <a:off x="3650" y="200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33" name="Line 94"/>
              <p:cNvSpPr/>
              <p:nvPr/>
            </p:nvSpPr>
            <p:spPr>
              <a:xfrm>
                <a:off x="3650" y="2004"/>
                <a:ext cx="8" cy="1"/>
              </a:xfrm>
              <a:prstGeom prst="line">
                <a:avLst/>
              </a:prstGeom>
              <a:ln w="0" cap="flat" cmpd="sng">
                <a:solidFill>
                  <a:srgbClr val="000000"/>
                </a:solidFill>
                <a:prstDash val="solid"/>
                <a:headEnd type="none" w="med" len="med"/>
                <a:tailEnd type="none" w="med" len="med"/>
              </a:ln>
            </p:spPr>
          </p:sp>
          <p:sp>
            <p:nvSpPr>
              <p:cNvPr id="133234" name="Line 95"/>
              <p:cNvSpPr/>
              <p:nvPr/>
            </p:nvSpPr>
            <p:spPr>
              <a:xfrm>
                <a:off x="3650" y="2004"/>
                <a:ext cx="1" cy="7"/>
              </a:xfrm>
              <a:prstGeom prst="line">
                <a:avLst/>
              </a:prstGeom>
              <a:ln w="0" cap="flat" cmpd="sng">
                <a:solidFill>
                  <a:srgbClr val="000000"/>
                </a:solidFill>
                <a:prstDash val="solid"/>
                <a:headEnd type="none" w="med" len="med"/>
                <a:tailEnd type="none" w="med" len="med"/>
              </a:ln>
            </p:spPr>
          </p:sp>
          <p:sp>
            <p:nvSpPr>
              <p:cNvPr id="133235" name="Rectangle 96"/>
              <p:cNvSpPr/>
              <p:nvPr/>
            </p:nvSpPr>
            <p:spPr>
              <a:xfrm>
                <a:off x="3650" y="200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36" name="Line 97"/>
              <p:cNvSpPr/>
              <p:nvPr/>
            </p:nvSpPr>
            <p:spPr>
              <a:xfrm>
                <a:off x="3650" y="2004"/>
                <a:ext cx="8" cy="1"/>
              </a:xfrm>
              <a:prstGeom prst="line">
                <a:avLst/>
              </a:prstGeom>
              <a:ln w="0" cap="flat" cmpd="sng">
                <a:solidFill>
                  <a:srgbClr val="000000"/>
                </a:solidFill>
                <a:prstDash val="solid"/>
                <a:headEnd type="none" w="med" len="med"/>
                <a:tailEnd type="none" w="med" len="med"/>
              </a:ln>
            </p:spPr>
          </p:sp>
          <p:sp>
            <p:nvSpPr>
              <p:cNvPr id="133237" name="Line 98"/>
              <p:cNvSpPr/>
              <p:nvPr/>
            </p:nvSpPr>
            <p:spPr>
              <a:xfrm>
                <a:off x="3650" y="2004"/>
                <a:ext cx="1" cy="7"/>
              </a:xfrm>
              <a:prstGeom prst="line">
                <a:avLst/>
              </a:prstGeom>
              <a:ln w="0" cap="flat" cmpd="sng">
                <a:solidFill>
                  <a:srgbClr val="000000"/>
                </a:solidFill>
                <a:prstDash val="solid"/>
                <a:headEnd type="none" w="med" len="med"/>
                <a:tailEnd type="none" w="med" len="med"/>
              </a:ln>
            </p:spPr>
          </p:sp>
          <p:sp>
            <p:nvSpPr>
              <p:cNvPr id="133238" name="Rectangle 99"/>
              <p:cNvSpPr/>
              <p:nvPr/>
            </p:nvSpPr>
            <p:spPr>
              <a:xfrm>
                <a:off x="3658" y="2004"/>
                <a:ext cx="489"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39" name="Line 100"/>
              <p:cNvSpPr/>
              <p:nvPr/>
            </p:nvSpPr>
            <p:spPr>
              <a:xfrm>
                <a:off x="3658" y="2004"/>
                <a:ext cx="489" cy="1"/>
              </a:xfrm>
              <a:prstGeom prst="line">
                <a:avLst/>
              </a:prstGeom>
              <a:ln w="0" cap="flat" cmpd="sng">
                <a:solidFill>
                  <a:srgbClr val="000000"/>
                </a:solidFill>
                <a:prstDash val="solid"/>
                <a:headEnd type="none" w="med" len="med"/>
                <a:tailEnd type="none" w="med" len="med"/>
              </a:ln>
            </p:spPr>
          </p:sp>
          <p:sp>
            <p:nvSpPr>
              <p:cNvPr id="133240" name="Rectangle 101"/>
              <p:cNvSpPr/>
              <p:nvPr/>
            </p:nvSpPr>
            <p:spPr>
              <a:xfrm>
                <a:off x="4147" y="200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41" name="Line 102"/>
              <p:cNvSpPr/>
              <p:nvPr/>
            </p:nvSpPr>
            <p:spPr>
              <a:xfrm>
                <a:off x="4147" y="2004"/>
                <a:ext cx="8" cy="1"/>
              </a:xfrm>
              <a:prstGeom prst="line">
                <a:avLst/>
              </a:prstGeom>
              <a:ln w="0" cap="flat" cmpd="sng">
                <a:solidFill>
                  <a:srgbClr val="000000"/>
                </a:solidFill>
                <a:prstDash val="solid"/>
                <a:headEnd type="none" w="med" len="med"/>
                <a:tailEnd type="none" w="med" len="med"/>
              </a:ln>
            </p:spPr>
          </p:sp>
          <p:sp>
            <p:nvSpPr>
              <p:cNvPr id="133242" name="Line 103"/>
              <p:cNvSpPr/>
              <p:nvPr/>
            </p:nvSpPr>
            <p:spPr>
              <a:xfrm>
                <a:off x="4147" y="2004"/>
                <a:ext cx="1" cy="7"/>
              </a:xfrm>
              <a:prstGeom prst="line">
                <a:avLst/>
              </a:prstGeom>
              <a:ln w="0" cap="flat" cmpd="sng">
                <a:solidFill>
                  <a:srgbClr val="000000"/>
                </a:solidFill>
                <a:prstDash val="solid"/>
                <a:headEnd type="none" w="med" len="med"/>
                <a:tailEnd type="none" w="med" len="med"/>
              </a:ln>
            </p:spPr>
          </p:sp>
          <p:sp>
            <p:nvSpPr>
              <p:cNvPr id="133243" name="Rectangle 104"/>
              <p:cNvSpPr/>
              <p:nvPr/>
            </p:nvSpPr>
            <p:spPr>
              <a:xfrm>
                <a:off x="4147" y="200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44" name="Line 105"/>
              <p:cNvSpPr/>
              <p:nvPr/>
            </p:nvSpPr>
            <p:spPr>
              <a:xfrm>
                <a:off x="4147" y="2004"/>
                <a:ext cx="8" cy="1"/>
              </a:xfrm>
              <a:prstGeom prst="line">
                <a:avLst/>
              </a:prstGeom>
              <a:ln w="0" cap="flat" cmpd="sng">
                <a:solidFill>
                  <a:srgbClr val="000000"/>
                </a:solidFill>
                <a:prstDash val="solid"/>
                <a:headEnd type="none" w="med" len="med"/>
                <a:tailEnd type="none" w="med" len="med"/>
              </a:ln>
            </p:spPr>
          </p:sp>
          <p:sp>
            <p:nvSpPr>
              <p:cNvPr id="133245" name="Line 106"/>
              <p:cNvSpPr/>
              <p:nvPr/>
            </p:nvSpPr>
            <p:spPr>
              <a:xfrm>
                <a:off x="4147" y="2004"/>
                <a:ext cx="1" cy="7"/>
              </a:xfrm>
              <a:prstGeom prst="line">
                <a:avLst/>
              </a:prstGeom>
              <a:ln w="0" cap="flat" cmpd="sng">
                <a:solidFill>
                  <a:srgbClr val="000000"/>
                </a:solidFill>
                <a:prstDash val="solid"/>
                <a:headEnd type="none" w="med" len="med"/>
                <a:tailEnd type="none" w="med" len="med"/>
              </a:ln>
            </p:spPr>
          </p:sp>
          <p:sp>
            <p:nvSpPr>
              <p:cNvPr id="133246" name="Rectangle 107"/>
              <p:cNvSpPr/>
              <p:nvPr/>
            </p:nvSpPr>
            <p:spPr>
              <a:xfrm>
                <a:off x="3650" y="2011"/>
                <a:ext cx="8" cy="183"/>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47" name="Line 108"/>
              <p:cNvSpPr/>
              <p:nvPr/>
            </p:nvSpPr>
            <p:spPr>
              <a:xfrm>
                <a:off x="3650" y="2011"/>
                <a:ext cx="1" cy="183"/>
              </a:xfrm>
              <a:prstGeom prst="line">
                <a:avLst/>
              </a:prstGeom>
              <a:ln w="0" cap="flat" cmpd="sng">
                <a:solidFill>
                  <a:srgbClr val="000000"/>
                </a:solidFill>
                <a:prstDash val="solid"/>
                <a:headEnd type="none" w="med" len="med"/>
                <a:tailEnd type="none" w="med" len="med"/>
              </a:ln>
            </p:spPr>
          </p:sp>
          <p:sp>
            <p:nvSpPr>
              <p:cNvPr id="133248" name="Rectangle 109"/>
              <p:cNvSpPr/>
              <p:nvPr/>
            </p:nvSpPr>
            <p:spPr>
              <a:xfrm>
                <a:off x="4147" y="2011"/>
                <a:ext cx="8" cy="183"/>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49" name="Line 110"/>
              <p:cNvSpPr/>
              <p:nvPr/>
            </p:nvSpPr>
            <p:spPr>
              <a:xfrm>
                <a:off x="4147" y="2011"/>
                <a:ext cx="1" cy="183"/>
              </a:xfrm>
              <a:prstGeom prst="line">
                <a:avLst/>
              </a:prstGeom>
              <a:ln w="0" cap="flat" cmpd="sng">
                <a:solidFill>
                  <a:srgbClr val="000000"/>
                </a:solidFill>
                <a:prstDash val="solid"/>
                <a:headEnd type="none" w="med" len="med"/>
                <a:tailEnd type="none" w="med" len="med"/>
              </a:ln>
            </p:spPr>
          </p:sp>
          <p:sp>
            <p:nvSpPr>
              <p:cNvPr id="133250" name="Rectangle 111"/>
              <p:cNvSpPr/>
              <p:nvPr/>
            </p:nvSpPr>
            <p:spPr>
              <a:xfrm>
                <a:off x="3650" y="219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51" name="Line 112"/>
              <p:cNvSpPr/>
              <p:nvPr/>
            </p:nvSpPr>
            <p:spPr>
              <a:xfrm>
                <a:off x="3650" y="2194"/>
                <a:ext cx="8" cy="1"/>
              </a:xfrm>
              <a:prstGeom prst="line">
                <a:avLst/>
              </a:prstGeom>
              <a:ln w="0" cap="flat" cmpd="sng">
                <a:solidFill>
                  <a:srgbClr val="000000"/>
                </a:solidFill>
                <a:prstDash val="solid"/>
                <a:headEnd type="none" w="med" len="med"/>
                <a:tailEnd type="none" w="med" len="med"/>
              </a:ln>
            </p:spPr>
          </p:sp>
          <p:sp>
            <p:nvSpPr>
              <p:cNvPr id="133252" name="Line 113"/>
              <p:cNvSpPr/>
              <p:nvPr/>
            </p:nvSpPr>
            <p:spPr>
              <a:xfrm>
                <a:off x="3650" y="2194"/>
                <a:ext cx="1" cy="7"/>
              </a:xfrm>
              <a:prstGeom prst="line">
                <a:avLst/>
              </a:prstGeom>
              <a:ln w="0" cap="flat" cmpd="sng">
                <a:solidFill>
                  <a:srgbClr val="000000"/>
                </a:solidFill>
                <a:prstDash val="solid"/>
                <a:headEnd type="none" w="med" len="med"/>
                <a:tailEnd type="none" w="med" len="med"/>
              </a:ln>
            </p:spPr>
          </p:sp>
          <p:sp>
            <p:nvSpPr>
              <p:cNvPr id="133253" name="Rectangle 114"/>
              <p:cNvSpPr/>
              <p:nvPr/>
            </p:nvSpPr>
            <p:spPr>
              <a:xfrm>
                <a:off x="3650" y="219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54" name="Line 115"/>
              <p:cNvSpPr/>
              <p:nvPr/>
            </p:nvSpPr>
            <p:spPr>
              <a:xfrm>
                <a:off x="3650" y="2194"/>
                <a:ext cx="8" cy="1"/>
              </a:xfrm>
              <a:prstGeom prst="line">
                <a:avLst/>
              </a:prstGeom>
              <a:ln w="0" cap="flat" cmpd="sng">
                <a:solidFill>
                  <a:srgbClr val="000000"/>
                </a:solidFill>
                <a:prstDash val="solid"/>
                <a:headEnd type="none" w="med" len="med"/>
                <a:tailEnd type="none" w="med" len="med"/>
              </a:ln>
            </p:spPr>
          </p:sp>
          <p:sp>
            <p:nvSpPr>
              <p:cNvPr id="133255" name="Line 116"/>
              <p:cNvSpPr/>
              <p:nvPr/>
            </p:nvSpPr>
            <p:spPr>
              <a:xfrm>
                <a:off x="3650" y="2194"/>
                <a:ext cx="1" cy="7"/>
              </a:xfrm>
              <a:prstGeom prst="line">
                <a:avLst/>
              </a:prstGeom>
              <a:ln w="0" cap="flat" cmpd="sng">
                <a:solidFill>
                  <a:srgbClr val="000000"/>
                </a:solidFill>
                <a:prstDash val="solid"/>
                <a:headEnd type="none" w="med" len="med"/>
                <a:tailEnd type="none" w="med" len="med"/>
              </a:ln>
            </p:spPr>
          </p:sp>
          <p:sp>
            <p:nvSpPr>
              <p:cNvPr id="133256" name="Rectangle 117"/>
              <p:cNvSpPr/>
              <p:nvPr/>
            </p:nvSpPr>
            <p:spPr>
              <a:xfrm>
                <a:off x="3658" y="2194"/>
                <a:ext cx="489"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57" name="Line 118"/>
              <p:cNvSpPr/>
              <p:nvPr/>
            </p:nvSpPr>
            <p:spPr>
              <a:xfrm>
                <a:off x="3658" y="2194"/>
                <a:ext cx="489" cy="1"/>
              </a:xfrm>
              <a:prstGeom prst="line">
                <a:avLst/>
              </a:prstGeom>
              <a:ln w="0" cap="flat" cmpd="sng">
                <a:solidFill>
                  <a:srgbClr val="000000"/>
                </a:solidFill>
                <a:prstDash val="solid"/>
                <a:headEnd type="none" w="med" len="med"/>
                <a:tailEnd type="none" w="med" len="med"/>
              </a:ln>
            </p:spPr>
          </p:sp>
          <p:sp>
            <p:nvSpPr>
              <p:cNvPr id="133258" name="Rectangle 119"/>
              <p:cNvSpPr/>
              <p:nvPr/>
            </p:nvSpPr>
            <p:spPr>
              <a:xfrm>
                <a:off x="4147" y="219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59" name="Line 120"/>
              <p:cNvSpPr/>
              <p:nvPr/>
            </p:nvSpPr>
            <p:spPr>
              <a:xfrm>
                <a:off x="4147" y="2194"/>
                <a:ext cx="8" cy="1"/>
              </a:xfrm>
              <a:prstGeom prst="line">
                <a:avLst/>
              </a:prstGeom>
              <a:ln w="0" cap="flat" cmpd="sng">
                <a:solidFill>
                  <a:srgbClr val="000000"/>
                </a:solidFill>
                <a:prstDash val="solid"/>
                <a:headEnd type="none" w="med" len="med"/>
                <a:tailEnd type="none" w="med" len="med"/>
              </a:ln>
            </p:spPr>
          </p:sp>
          <p:sp>
            <p:nvSpPr>
              <p:cNvPr id="133260" name="Line 121"/>
              <p:cNvSpPr/>
              <p:nvPr/>
            </p:nvSpPr>
            <p:spPr>
              <a:xfrm>
                <a:off x="4147" y="2194"/>
                <a:ext cx="1" cy="7"/>
              </a:xfrm>
              <a:prstGeom prst="line">
                <a:avLst/>
              </a:prstGeom>
              <a:ln w="0" cap="flat" cmpd="sng">
                <a:solidFill>
                  <a:srgbClr val="000000"/>
                </a:solidFill>
                <a:prstDash val="solid"/>
                <a:headEnd type="none" w="med" len="med"/>
                <a:tailEnd type="none" w="med" len="med"/>
              </a:ln>
            </p:spPr>
          </p:sp>
          <p:sp>
            <p:nvSpPr>
              <p:cNvPr id="133261" name="Rectangle 122"/>
              <p:cNvSpPr/>
              <p:nvPr/>
            </p:nvSpPr>
            <p:spPr>
              <a:xfrm>
                <a:off x="4147" y="2194"/>
                <a:ext cx="8"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62" name="Line 123"/>
              <p:cNvSpPr/>
              <p:nvPr/>
            </p:nvSpPr>
            <p:spPr>
              <a:xfrm>
                <a:off x="4147" y="2194"/>
                <a:ext cx="8" cy="1"/>
              </a:xfrm>
              <a:prstGeom prst="line">
                <a:avLst/>
              </a:prstGeom>
              <a:ln w="0" cap="flat" cmpd="sng">
                <a:solidFill>
                  <a:srgbClr val="000000"/>
                </a:solidFill>
                <a:prstDash val="solid"/>
                <a:headEnd type="none" w="med" len="med"/>
                <a:tailEnd type="none" w="med" len="med"/>
              </a:ln>
            </p:spPr>
          </p:sp>
          <p:sp>
            <p:nvSpPr>
              <p:cNvPr id="133263" name="Line 124"/>
              <p:cNvSpPr/>
              <p:nvPr/>
            </p:nvSpPr>
            <p:spPr>
              <a:xfrm>
                <a:off x="4147" y="2194"/>
                <a:ext cx="1" cy="7"/>
              </a:xfrm>
              <a:prstGeom prst="line">
                <a:avLst/>
              </a:prstGeom>
              <a:ln w="0" cap="flat" cmpd="sng">
                <a:solidFill>
                  <a:srgbClr val="000000"/>
                </a:solidFill>
                <a:prstDash val="solid"/>
                <a:headEnd type="none" w="med" len="med"/>
                <a:tailEnd type="none" w="med" len="med"/>
              </a:ln>
            </p:spPr>
          </p:sp>
          <p:sp>
            <p:nvSpPr>
              <p:cNvPr id="133264" name="Rectangle 125"/>
              <p:cNvSpPr/>
              <p:nvPr/>
            </p:nvSpPr>
            <p:spPr>
              <a:xfrm>
                <a:off x="4155" y="2026"/>
                <a:ext cx="54"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65" name="Rectangle 126"/>
              <p:cNvSpPr/>
              <p:nvPr/>
            </p:nvSpPr>
            <p:spPr>
              <a:xfrm>
                <a:off x="1524" y="2274"/>
                <a:ext cx="869"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66" name="Rectangle 127"/>
              <p:cNvSpPr/>
              <p:nvPr/>
            </p:nvSpPr>
            <p:spPr>
              <a:xfrm>
                <a:off x="3680" y="2282"/>
                <a:ext cx="402" cy="16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100" dirty="0">
                    <a:solidFill>
                      <a:srgbClr val="000000"/>
                    </a:solidFill>
                    <a:latin typeface="宋体" panose="02010600030101010101" pitchFamily="2" charset="-122"/>
                    <a:cs typeface="Arial" panose="020B0604020202020204" pitchFamily="34" charset="0"/>
                  </a:rPr>
                  <a:t>叶结点</a:t>
                </a:r>
                <a:endParaRPr lang="zh-CN" altLang="en-US" b="0" dirty="0">
                  <a:solidFill>
                    <a:schemeClr val="tx1"/>
                  </a:solidFill>
                  <a:ea typeface="Arial" panose="020B0604020202020204" pitchFamily="34" charset="0"/>
                </a:endParaRPr>
              </a:p>
            </p:txBody>
          </p:sp>
          <p:sp>
            <p:nvSpPr>
              <p:cNvPr id="133267" name="Rectangle 128"/>
              <p:cNvSpPr/>
              <p:nvPr/>
            </p:nvSpPr>
            <p:spPr>
              <a:xfrm>
                <a:off x="1531" y="2744"/>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268" name="Rectangle 129"/>
              <p:cNvSpPr/>
              <p:nvPr/>
            </p:nvSpPr>
            <p:spPr>
              <a:xfrm>
                <a:off x="1612" y="2752"/>
                <a:ext cx="108" cy="1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700" dirty="0">
                    <a:solidFill>
                      <a:srgbClr val="000000"/>
                    </a:solidFill>
                    <a:latin typeface="宋体" panose="02010600030101010101" pitchFamily="2" charset="-122"/>
                    <a:cs typeface="Arial" panose="020B0604020202020204" pitchFamily="34" charset="0"/>
                  </a:rPr>
                  <a:t>Ｒ</a:t>
                </a:r>
                <a:endParaRPr lang="zh-CN" altLang="en-US" sz="2400" b="0" dirty="0">
                  <a:solidFill>
                    <a:schemeClr val="tx1"/>
                  </a:solidFill>
                  <a:ea typeface="Arial" panose="020B0604020202020204" pitchFamily="34" charset="0"/>
                </a:endParaRPr>
              </a:p>
            </p:txBody>
          </p:sp>
          <p:sp>
            <p:nvSpPr>
              <p:cNvPr id="133269" name="Rectangle 130"/>
              <p:cNvSpPr/>
              <p:nvPr/>
            </p:nvSpPr>
            <p:spPr>
              <a:xfrm>
                <a:off x="1754" y="2744"/>
                <a:ext cx="109" cy="1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4  </a:t>
                </a:r>
                <a:endParaRPr lang="en-US" altLang="zh-CN" sz="2400" b="0" dirty="0">
                  <a:solidFill>
                    <a:schemeClr val="tx1"/>
                  </a:solidFill>
                  <a:ea typeface="Arial" panose="020B0604020202020204" pitchFamily="34" charset="0"/>
                </a:endParaRPr>
              </a:p>
            </p:txBody>
          </p:sp>
          <p:sp>
            <p:nvSpPr>
              <p:cNvPr id="133270" name="Rectangle 131"/>
              <p:cNvSpPr/>
              <p:nvPr/>
            </p:nvSpPr>
            <p:spPr>
              <a:xfrm>
                <a:off x="1524"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71" name="Line 132"/>
              <p:cNvSpPr/>
              <p:nvPr/>
            </p:nvSpPr>
            <p:spPr>
              <a:xfrm>
                <a:off x="1524" y="2724"/>
                <a:ext cx="7" cy="1"/>
              </a:xfrm>
              <a:prstGeom prst="line">
                <a:avLst/>
              </a:prstGeom>
              <a:ln w="0" cap="flat" cmpd="sng">
                <a:solidFill>
                  <a:srgbClr val="000000"/>
                </a:solidFill>
                <a:prstDash val="solid"/>
                <a:headEnd type="none" w="med" len="med"/>
                <a:tailEnd type="none" w="med" len="med"/>
              </a:ln>
            </p:spPr>
          </p:sp>
          <p:sp>
            <p:nvSpPr>
              <p:cNvPr id="133272" name="Line 133"/>
              <p:cNvSpPr/>
              <p:nvPr/>
            </p:nvSpPr>
            <p:spPr>
              <a:xfrm>
                <a:off x="1524" y="2724"/>
                <a:ext cx="1" cy="7"/>
              </a:xfrm>
              <a:prstGeom prst="line">
                <a:avLst/>
              </a:prstGeom>
              <a:ln w="0" cap="flat" cmpd="sng">
                <a:solidFill>
                  <a:srgbClr val="000000"/>
                </a:solidFill>
                <a:prstDash val="solid"/>
                <a:headEnd type="none" w="med" len="med"/>
                <a:tailEnd type="none" w="med" len="med"/>
              </a:ln>
            </p:spPr>
          </p:sp>
          <p:sp>
            <p:nvSpPr>
              <p:cNvPr id="133273" name="Rectangle 134"/>
              <p:cNvSpPr/>
              <p:nvPr/>
            </p:nvSpPr>
            <p:spPr>
              <a:xfrm>
                <a:off x="1524"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74" name="Line 135"/>
              <p:cNvSpPr/>
              <p:nvPr/>
            </p:nvSpPr>
            <p:spPr>
              <a:xfrm>
                <a:off x="1524" y="2724"/>
                <a:ext cx="7" cy="1"/>
              </a:xfrm>
              <a:prstGeom prst="line">
                <a:avLst/>
              </a:prstGeom>
              <a:ln w="0" cap="flat" cmpd="sng">
                <a:solidFill>
                  <a:srgbClr val="000000"/>
                </a:solidFill>
                <a:prstDash val="solid"/>
                <a:headEnd type="none" w="med" len="med"/>
                <a:tailEnd type="none" w="med" len="med"/>
              </a:ln>
            </p:spPr>
          </p:sp>
          <p:sp>
            <p:nvSpPr>
              <p:cNvPr id="133275" name="Line 136"/>
              <p:cNvSpPr/>
              <p:nvPr/>
            </p:nvSpPr>
            <p:spPr>
              <a:xfrm>
                <a:off x="1524" y="2724"/>
                <a:ext cx="1" cy="7"/>
              </a:xfrm>
              <a:prstGeom prst="line">
                <a:avLst/>
              </a:prstGeom>
              <a:ln w="0" cap="flat" cmpd="sng">
                <a:solidFill>
                  <a:srgbClr val="000000"/>
                </a:solidFill>
                <a:prstDash val="solid"/>
                <a:headEnd type="none" w="med" len="med"/>
                <a:tailEnd type="none" w="med" len="med"/>
              </a:ln>
            </p:spPr>
          </p:sp>
          <p:sp>
            <p:nvSpPr>
              <p:cNvPr id="133276" name="Rectangle 137"/>
              <p:cNvSpPr/>
              <p:nvPr/>
            </p:nvSpPr>
            <p:spPr>
              <a:xfrm>
                <a:off x="1531" y="2724"/>
                <a:ext cx="424"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77" name="Line 138"/>
              <p:cNvSpPr/>
              <p:nvPr/>
            </p:nvSpPr>
            <p:spPr>
              <a:xfrm>
                <a:off x="1531" y="2724"/>
                <a:ext cx="424" cy="1"/>
              </a:xfrm>
              <a:prstGeom prst="line">
                <a:avLst/>
              </a:prstGeom>
              <a:ln w="0" cap="flat" cmpd="sng">
                <a:solidFill>
                  <a:srgbClr val="000000"/>
                </a:solidFill>
                <a:prstDash val="solid"/>
                <a:headEnd type="none" w="med" len="med"/>
                <a:tailEnd type="none" w="med" len="med"/>
              </a:ln>
            </p:spPr>
          </p:sp>
          <p:sp>
            <p:nvSpPr>
              <p:cNvPr id="133278" name="Rectangle 139"/>
              <p:cNvSpPr/>
              <p:nvPr/>
            </p:nvSpPr>
            <p:spPr>
              <a:xfrm>
                <a:off x="1955"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79" name="Line 140"/>
              <p:cNvSpPr/>
              <p:nvPr/>
            </p:nvSpPr>
            <p:spPr>
              <a:xfrm>
                <a:off x="1955" y="2724"/>
                <a:ext cx="7" cy="1"/>
              </a:xfrm>
              <a:prstGeom prst="line">
                <a:avLst/>
              </a:prstGeom>
              <a:ln w="0" cap="flat" cmpd="sng">
                <a:solidFill>
                  <a:srgbClr val="000000"/>
                </a:solidFill>
                <a:prstDash val="solid"/>
                <a:headEnd type="none" w="med" len="med"/>
                <a:tailEnd type="none" w="med" len="med"/>
              </a:ln>
            </p:spPr>
          </p:sp>
          <p:sp>
            <p:nvSpPr>
              <p:cNvPr id="133280" name="Line 141"/>
              <p:cNvSpPr/>
              <p:nvPr/>
            </p:nvSpPr>
            <p:spPr>
              <a:xfrm>
                <a:off x="1955" y="2724"/>
                <a:ext cx="1" cy="7"/>
              </a:xfrm>
              <a:prstGeom prst="line">
                <a:avLst/>
              </a:prstGeom>
              <a:ln w="0" cap="flat" cmpd="sng">
                <a:solidFill>
                  <a:srgbClr val="000000"/>
                </a:solidFill>
                <a:prstDash val="solid"/>
                <a:headEnd type="none" w="med" len="med"/>
                <a:tailEnd type="none" w="med" len="med"/>
              </a:ln>
            </p:spPr>
          </p:sp>
          <p:sp>
            <p:nvSpPr>
              <p:cNvPr id="133281" name="Rectangle 142"/>
              <p:cNvSpPr/>
              <p:nvPr/>
            </p:nvSpPr>
            <p:spPr>
              <a:xfrm>
                <a:off x="1955"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82" name="Line 143"/>
              <p:cNvSpPr/>
              <p:nvPr/>
            </p:nvSpPr>
            <p:spPr>
              <a:xfrm>
                <a:off x="1955" y="2724"/>
                <a:ext cx="7" cy="1"/>
              </a:xfrm>
              <a:prstGeom prst="line">
                <a:avLst/>
              </a:prstGeom>
              <a:ln w="0" cap="flat" cmpd="sng">
                <a:solidFill>
                  <a:srgbClr val="000000"/>
                </a:solidFill>
                <a:prstDash val="solid"/>
                <a:headEnd type="none" w="med" len="med"/>
                <a:tailEnd type="none" w="med" len="med"/>
              </a:ln>
            </p:spPr>
          </p:sp>
          <p:sp>
            <p:nvSpPr>
              <p:cNvPr id="133283" name="Line 144"/>
              <p:cNvSpPr/>
              <p:nvPr/>
            </p:nvSpPr>
            <p:spPr>
              <a:xfrm>
                <a:off x="1955" y="2724"/>
                <a:ext cx="1" cy="7"/>
              </a:xfrm>
              <a:prstGeom prst="line">
                <a:avLst/>
              </a:prstGeom>
              <a:ln w="0" cap="flat" cmpd="sng">
                <a:solidFill>
                  <a:srgbClr val="000000"/>
                </a:solidFill>
                <a:prstDash val="solid"/>
                <a:headEnd type="none" w="med" len="med"/>
                <a:tailEnd type="none" w="med" len="med"/>
              </a:ln>
            </p:spPr>
          </p:sp>
          <p:sp>
            <p:nvSpPr>
              <p:cNvPr id="133284" name="Rectangle 145"/>
              <p:cNvSpPr/>
              <p:nvPr/>
            </p:nvSpPr>
            <p:spPr>
              <a:xfrm>
                <a:off x="1524" y="2731"/>
                <a:ext cx="7" cy="18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85" name="Line 146"/>
              <p:cNvSpPr/>
              <p:nvPr/>
            </p:nvSpPr>
            <p:spPr>
              <a:xfrm>
                <a:off x="1524" y="2731"/>
                <a:ext cx="1" cy="182"/>
              </a:xfrm>
              <a:prstGeom prst="line">
                <a:avLst/>
              </a:prstGeom>
              <a:ln w="0" cap="flat" cmpd="sng">
                <a:solidFill>
                  <a:srgbClr val="000000"/>
                </a:solidFill>
                <a:prstDash val="solid"/>
                <a:headEnd type="none" w="med" len="med"/>
                <a:tailEnd type="none" w="med" len="med"/>
              </a:ln>
            </p:spPr>
          </p:sp>
          <p:sp>
            <p:nvSpPr>
              <p:cNvPr id="133286" name="Rectangle 147"/>
              <p:cNvSpPr/>
              <p:nvPr/>
            </p:nvSpPr>
            <p:spPr>
              <a:xfrm>
                <a:off x="1955" y="2731"/>
                <a:ext cx="7" cy="18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87" name="Line 148"/>
              <p:cNvSpPr/>
              <p:nvPr/>
            </p:nvSpPr>
            <p:spPr>
              <a:xfrm>
                <a:off x="1955" y="2731"/>
                <a:ext cx="1" cy="182"/>
              </a:xfrm>
              <a:prstGeom prst="line">
                <a:avLst/>
              </a:prstGeom>
              <a:ln w="0" cap="flat" cmpd="sng">
                <a:solidFill>
                  <a:srgbClr val="000000"/>
                </a:solidFill>
                <a:prstDash val="solid"/>
                <a:headEnd type="none" w="med" len="med"/>
                <a:tailEnd type="none" w="med" len="med"/>
              </a:ln>
            </p:spPr>
          </p:sp>
          <p:sp>
            <p:nvSpPr>
              <p:cNvPr id="133288" name="Rectangle 149"/>
              <p:cNvSpPr/>
              <p:nvPr/>
            </p:nvSpPr>
            <p:spPr>
              <a:xfrm>
                <a:off x="1524"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89" name="Line 150"/>
              <p:cNvSpPr/>
              <p:nvPr/>
            </p:nvSpPr>
            <p:spPr>
              <a:xfrm>
                <a:off x="1524" y="2913"/>
                <a:ext cx="7" cy="1"/>
              </a:xfrm>
              <a:prstGeom prst="line">
                <a:avLst/>
              </a:prstGeom>
              <a:ln w="0" cap="flat" cmpd="sng">
                <a:solidFill>
                  <a:srgbClr val="000000"/>
                </a:solidFill>
                <a:prstDash val="solid"/>
                <a:headEnd type="none" w="med" len="med"/>
                <a:tailEnd type="none" w="med" len="med"/>
              </a:ln>
            </p:spPr>
          </p:sp>
          <p:sp>
            <p:nvSpPr>
              <p:cNvPr id="133290" name="Line 151"/>
              <p:cNvSpPr/>
              <p:nvPr/>
            </p:nvSpPr>
            <p:spPr>
              <a:xfrm>
                <a:off x="1524" y="2913"/>
                <a:ext cx="1" cy="8"/>
              </a:xfrm>
              <a:prstGeom prst="line">
                <a:avLst/>
              </a:prstGeom>
              <a:ln w="0" cap="flat" cmpd="sng">
                <a:solidFill>
                  <a:srgbClr val="000000"/>
                </a:solidFill>
                <a:prstDash val="solid"/>
                <a:headEnd type="none" w="med" len="med"/>
                <a:tailEnd type="none" w="med" len="med"/>
              </a:ln>
            </p:spPr>
          </p:sp>
          <p:sp>
            <p:nvSpPr>
              <p:cNvPr id="133291" name="Rectangle 152"/>
              <p:cNvSpPr/>
              <p:nvPr/>
            </p:nvSpPr>
            <p:spPr>
              <a:xfrm>
                <a:off x="1524"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92" name="Line 153"/>
              <p:cNvSpPr/>
              <p:nvPr/>
            </p:nvSpPr>
            <p:spPr>
              <a:xfrm>
                <a:off x="1524" y="2913"/>
                <a:ext cx="7" cy="1"/>
              </a:xfrm>
              <a:prstGeom prst="line">
                <a:avLst/>
              </a:prstGeom>
              <a:ln w="0" cap="flat" cmpd="sng">
                <a:solidFill>
                  <a:srgbClr val="000000"/>
                </a:solidFill>
                <a:prstDash val="solid"/>
                <a:headEnd type="none" w="med" len="med"/>
                <a:tailEnd type="none" w="med" len="med"/>
              </a:ln>
            </p:spPr>
          </p:sp>
          <p:sp>
            <p:nvSpPr>
              <p:cNvPr id="133293" name="Line 154"/>
              <p:cNvSpPr/>
              <p:nvPr/>
            </p:nvSpPr>
            <p:spPr>
              <a:xfrm>
                <a:off x="1524" y="2913"/>
                <a:ext cx="1" cy="8"/>
              </a:xfrm>
              <a:prstGeom prst="line">
                <a:avLst/>
              </a:prstGeom>
              <a:ln w="0" cap="flat" cmpd="sng">
                <a:solidFill>
                  <a:srgbClr val="000000"/>
                </a:solidFill>
                <a:prstDash val="solid"/>
                <a:headEnd type="none" w="med" len="med"/>
                <a:tailEnd type="none" w="med" len="med"/>
              </a:ln>
            </p:spPr>
          </p:sp>
          <p:sp>
            <p:nvSpPr>
              <p:cNvPr id="133294" name="Rectangle 155"/>
              <p:cNvSpPr/>
              <p:nvPr/>
            </p:nvSpPr>
            <p:spPr>
              <a:xfrm>
                <a:off x="1531" y="2913"/>
                <a:ext cx="424"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95" name="Line 156"/>
              <p:cNvSpPr/>
              <p:nvPr/>
            </p:nvSpPr>
            <p:spPr>
              <a:xfrm>
                <a:off x="1531" y="2913"/>
                <a:ext cx="424" cy="1"/>
              </a:xfrm>
              <a:prstGeom prst="line">
                <a:avLst/>
              </a:prstGeom>
              <a:ln w="0" cap="flat" cmpd="sng">
                <a:solidFill>
                  <a:srgbClr val="000000"/>
                </a:solidFill>
                <a:prstDash val="solid"/>
                <a:headEnd type="none" w="med" len="med"/>
                <a:tailEnd type="none" w="med" len="med"/>
              </a:ln>
            </p:spPr>
          </p:sp>
          <p:sp>
            <p:nvSpPr>
              <p:cNvPr id="133296" name="Rectangle 157"/>
              <p:cNvSpPr/>
              <p:nvPr/>
            </p:nvSpPr>
            <p:spPr>
              <a:xfrm>
                <a:off x="1955"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297" name="Line 158"/>
              <p:cNvSpPr/>
              <p:nvPr/>
            </p:nvSpPr>
            <p:spPr>
              <a:xfrm>
                <a:off x="1955" y="2913"/>
                <a:ext cx="7" cy="1"/>
              </a:xfrm>
              <a:prstGeom prst="line">
                <a:avLst/>
              </a:prstGeom>
              <a:ln w="0" cap="flat" cmpd="sng">
                <a:solidFill>
                  <a:srgbClr val="000000"/>
                </a:solidFill>
                <a:prstDash val="solid"/>
                <a:headEnd type="none" w="med" len="med"/>
                <a:tailEnd type="none" w="med" len="med"/>
              </a:ln>
            </p:spPr>
          </p:sp>
          <p:sp>
            <p:nvSpPr>
              <p:cNvPr id="133298" name="Line 159"/>
              <p:cNvSpPr/>
              <p:nvPr/>
            </p:nvSpPr>
            <p:spPr>
              <a:xfrm>
                <a:off x="1955" y="2913"/>
                <a:ext cx="1" cy="8"/>
              </a:xfrm>
              <a:prstGeom prst="line">
                <a:avLst/>
              </a:prstGeom>
              <a:ln w="0" cap="flat" cmpd="sng">
                <a:solidFill>
                  <a:srgbClr val="000000"/>
                </a:solidFill>
                <a:prstDash val="solid"/>
                <a:headEnd type="none" w="med" len="med"/>
                <a:tailEnd type="none" w="med" len="med"/>
              </a:ln>
            </p:spPr>
          </p:sp>
          <p:sp>
            <p:nvSpPr>
              <p:cNvPr id="133299" name="Rectangle 160"/>
              <p:cNvSpPr/>
              <p:nvPr/>
            </p:nvSpPr>
            <p:spPr>
              <a:xfrm>
                <a:off x="1955"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00" name="Line 161"/>
              <p:cNvSpPr/>
              <p:nvPr/>
            </p:nvSpPr>
            <p:spPr>
              <a:xfrm>
                <a:off x="1955" y="2913"/>
                <a:ext cx="7" cy="1"/>
              </a:xfrm>
              <a:prstGeom prst="line">
                <a:avLst/>
              </a:prstGeom>
              <a:ln w="0" cap="flat" cmpd="sng">
                <a:solidFill>
                  <a:srgbClr val="000000"/>
                </a:solidFill>
                <a:prstDash val="solid"/>
                <a:headEnd type="none" w="med" len="med"/>
                <a:tailEnd type="none" w="med" len="med"/>
              </a:ln>
            </p:spPr>
          </p:sp>
          <p:sp>
            <p:nvSpPr>
              <p:cNvPr id="133301" name="Line 162"/>
              <p:cNvSpPr/>
              <p:nvPr/>
            </p:nvSpPr>
            <p:spPr>
              <a:xfrm>
                <a:off x="1955" y="2913"/>
                <a:ext cx="1" cy="8"/>
              </a:xfrm>
              <a:prstGeom prst="line">
                <a:avLst/>
              </a:prstGeom>
              <a:ln w="0" cap="flat" cmpd="sng">
                <a:solidFill>
                  <a:srgbClr val="000000"/>
                </a:solidFill>
                <a:prstDash val="solid"/>
                <a:headEnd type="none" w="med" len="med"/>
                <a:tailEnd type="none" w="med" len="med"/>
              </a:ln>
            </p:spPr>
          </p:sp>
          <p:sp>
            <p:nvSpPr>
              <p:cNvPr id="133302" name="Rectangle 163"/>
              <p:cNvSpPr/>
              <p:nvPr/>
            </p:nvSpPr>
            <p:spPr>
              <a:xfrm>
                <a:off x="1962" y="2744"/>
                <a:ext cx="82"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303" name="Rectangle 164"/>
              <p:cNvSpPr/>
              <p:nvPr/>
            </p:nvSpPr>
            <p:spPr>
              <a:xfrm>
                <a:off x="2160" y="2752"/>
                <a:ext cx="537" cy="15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100" dirty="0">
                    <a:solidFill>
                      <a:srgbClr val="000000"/>
                    </a:solidFill>
                    <a:latin typeface="宋体" panose="02010600030101010101" pitchFamily="2" charset="-122"/>
                    <a:cs typeface="Arial" panose="020B0604020202020204" pitchFamily="34" charset="0"/>
                  </a:rPr>
                  <a:t>兄弟结点</a:t>
                </a:r>
                <a:endParaRPr lang="zh-CN" altLang="en-US" b="0" dirty="0">
                  <a:solidFill>
                    <a:schemeClr val="tx1"/>
                  </a:solidFill>
                  <a:ea typeface="Arial" panose="020B0604020202020204" pitchFamily="34" charset="0"/>
                </a:endParaRPr>
              </a:p>
            </p:txBody>
          </p:sp>
          <p:sp>
            <p:nvSpPr>
              <p:cNvPr id="133304" name="Rectangle 165"/>
              <p:cNvSpPr/>
              <p:nvPr/>
            </p:nvSpPr>
            <p:spPr>
              <a:xfrm>
                <a:off x="2708" y="2744"/>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305" name="Rectangle 166"/>
              <p:cNvSpPr/>
              <p:nvPr/>
            </p:nvSpPr>
            <p:spPr>
              <a:xfrm>
                <a:off x="2770" y="2752"/>
                <a:ext cx="109"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700" dirty="0">
                    <a:solidFill>
                      <a:srgbClr val="000000"/>
                    </a:solidFill>
                    <a:latin typeface="宋体" panose="02010600030101010101" pitchFamily="2" charset="-122"/>
                    <a:cs typeface="Arial" panose="020B0604020202020204" pitchFamily="34" charset="0"/>
                  </a:rPr>
                  <a:t>　</a:t>
                </a:r>
                <a:endParaRPr lang="zh-CN" altLang="en-US" sz="2400" b="0" dirty="0">
                  <a:solidFill>
                    <a:schemeClr val="tx1"/>
                  </a:solidFill>
                  <a:ea typeface="Arial" panose="020B0604020202020204" pitchFamily="34" charset="0"/>
                </a:endParaRPr>
              </a:p>
            </p:txBody>
          </p:sp>
          <p:sp>
            <p:nvSpPr>
              <p:cNvPr id="133306" name="Rectangle 167"/>
              <p:cNvSpPr/>
              <p:nvPr/>
            </p:nvSpPr>
            <p:spPr>
              <a:xfrm>
                <a:off x="2916" y="2744"/>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307" name="Rectangle 168"/>
              <p:cNvSpPr/>
              <p:nvPr/>
            </p:nvSpPr>
            <p:spPr>
              <a:xfrm>
                <a:off x="2993" y="2752"/>
                <a:ext cx="109"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700" dirty="0">
                    <a:solidFill>
                      <a:srgbClr val="000000"/>
                    </a:solidFill>
                    <a:latin typeface="宋体" panose="02010600030101010101" pitchFamily="2" charset="-122"/>
                    <a:cs typeface="Arial" panose="020B0604020202020204" pitchFamily="34" charset="0"/>
                  </a:rPr>
                  <a:t>Ｒ</a:t>
                </a:r>
                <a:endParaRPr lang="zh-CN" altLang="en-US" sz="2400" b="0" dirty="0">
                  <a:solidFill>
                    <a:schemeClr val="tx1"/>
                  </a:solidFill>
                  <a:ea typeface="Arial" panose="020B0604020202020204" pitchFamily="34" charset="0"/>
                </a:endParaRPr>
              </a:p>
            </p:txBody>
          </p:sp>
          <p:sp>
            <p:nvSpPr>
              <p:cNvPr id="133308" name="Rectangle 169"/>
              <p:cNvSpPr/>
              <p:nvPr/>
            </p:nvSpPr>
            <p:spPr>
              <a:xfrm>
                <a:off x="3135" y="2744"/>
                <a:ext cx="54" cy="1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5</a:t>
                </a:r>
                <a:endParaRPr lang="en-US" altLang="zh-CN" sz="2400" b="0" dirty="0">
                  <a:solidFill>
                    <a:schemeClr val="tx1"/>
                  </a:solidFill>
                  <a:ea typeface="Arial" panose="020B0604020202020204" pitchFamily="34" charset="0"/>
                </a:endParaRPr>
              </a:p>
            </p:txBody>
          </p:sp>
          <p:sp>
            <p:nvSpPr>
              <p:cNvPr id="133309" name="Rectangle 170"/>
              <p:cNvSpPr/>
              <p:nvPr/>
            </p:nvSpPr>
            <p:spPr>
              <a:xfrm>
                <a:off x="2909"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10" name="Line 171"/>
              <p:cNvSpPr/>
              <p:nvPr/>
            </p:nvSpPr>
            <p:spPr>
              <a:xfrm>
                <a:off x="2909" y="2724"/>
                <a:ext cx="7" cy="1"/>
              </a:xfrm>
              <a:prstGeom prst="line">
                <a:avLst/>
              </a:prstGeom>
              <a:ln w="0" cap="flat" cmpd="sng">
                <a:solidFill>
                  <a:srgbClr val="000000"/>
                </a:solidFill>
                <a:prstDash val="solid"/>
                <a:headEnd type="none" w="med" len="med"/>
                <a:tailEnd type="none" w="med" len="med"/>
              </a:ln>
            </p:spPr>
          </p:sp>
          <p:sp>
            <p:nvSpPr>
              <p:cNvPr id="133311" name="Line 172"/>
              <p:cNvSpPr/>
              <p:nvPr/>
            </p:nvSpPr>
            <p:spPr>
              <a:xfrm>
                <a:off x="2909" y="2724"/>
                <a:ext cx="1" cy="7"/>
              </a:xfrm>
              <a:prstGeom prst="line">
                <a:avLst/>
              </a:prstGeom>
              <a:ln w="0" cap="flat" cmpd="sng">
                <a:solidFill>
                  <a:srgbClr val="000000"/>
                </a:solidFill>
                <a:prstDash val="solid"/>
                <a:headEnd type="none" w="med" len="med"/>
                <a:tailEnd type="none" w="med" len="med"/>
              </a:ln>
            </p:spPr>
          </p:sp>
          <p:sp>
            <p:nvSpPr>
              <p:cNvPr id="133312" name="Rectangle 173"/>
              <p:cNvSpPr/>
              <p:nvPr/>
            </p:nvSpPr>
            <p:spPr>
              <a:xfrm>
                <a:off x="2909"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13" name="Line 174"/>
              <p:cNvSpPr/>
              <p:nvPr/>
            </p:nvSpPr>
            <p:spPr>
              <a:xfrm>
                <a:off x="2909" y="2724"/>
                <a:ext cx="7" cy="1"/>
              </a:xfrm>
              <a:prstGeom prst="line">
                <a:avLst/>
              </a:prstGeom>
              <a:ln w="0" cap="flat" cmpd="sng">
                <a:solidFill>
                  <a:srgbClr val="000000"/>
                </a:solidFill>
                <a:prstDash val="solid"/>
                <a:headEnd type="none" w="med" len="med"/>
                <a:tailEnd type="none" w="med" len="med"/>
              </a:ln>
            </p:spPr>
          </p:sp>
          <p:sp>
            <p:nvSpPr>
              <p:cNvPr id="133314" name="Line 175"/>
              <p:cNvSpPr/>
              <p:nvPr/>
            </p:nvSpPr>
            <p:spPr>
              <a:xfrm>
                <a:off x="2909" y="2724"/>
                <a:ext cx="1" cy="7"/>
              </a:xfrm>
              <a:prstGeom prst="line">
                <a:avLst/>
              </a:prstGeom>
              <a:ln w="0" cap="flat" cmpd="sng">
                <a:solidFill>
                  <a:srgbClr val="000000"/>
                </a:solidFill>
                <a:prstDash val="solid"/>
                <a:headEnd type="none" w="med" len="med"/>
                <a:tailEnd type="none" w="med" len="med"/>
              </a:ln>
            </p:spPr>
          </p:sp>
          <p:sp>
            <p:nvSpPr>
              <p:cNvPr id="133315" name="Rectangle 176"/>
              <p:cNvSpPr/>
              <p:nvPr/>
            </p:nvSpPr>
            <p:spPr>
              <a:xfrm>
                <a:off x="2916" y="2724"/>
                <a:ext cx="420"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16" name="Line 177"/>
              <p:cNvSpPr/>
              <p:nvPr/>
            </p:nvSpPr>
            <p:spPr>
              <a:xfrm>
                <a:off x="2916" y="2724"/>
                <a:ext cx="420" cy="1"/>
              </a:xfrm>
              <a:prstGeom prst="line">
                <a:avLst/>
              </a:prstGeom>
              <a:ln w="0" cap="flat" cmpd="sng">
                <a:solidFill>
                  <a:srgbClr val="000000"/>
                </a:solidFill>
                <a:prstDash val="solid"/>
                <a:headEnd type="none" w="med" len="med"/>
                <a:tailEnd type="none" w="med" len="med"/>
              </a:ln>
            </p:spPr>
          </p:sp>
          <p:sp>
            <p:nvSpPr>
              <p:cNvPr id="133317" name="Rectangle 178"/>
              <p:cNvSpPr/>
              <p:nvPr/>
            </p:nvSpPr>
            <p:spPr>
              <a:xfrm>
                <a:off x="3336"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18" name="Line 179"/>
              <p:cNvSpPr/>
              <p:nvPr/>
            </p:nvSpPr>
            <p:spPr>
              <a:xfrm>
                <a:off x="3336" y="2724"/>
                <a:ext cx="7" cy="1"/>
              </a:xfrm>
              <a:prstGeom prst="line">
                <a:avLst/>
              </a:prstGeom>
              <a:ln w="0" cap="flat" cmpd="sng">
                <a:solidFill>
                  <a:srgbClr val="000000"/>
                </a:solidFill>
                <a:prstDash val="solid"/>
                <a:headEnd type="none" w="med" len="med"/>
                <a:tailEnd type="none" w="med" len="med"/>
              </a:ln>
            </p:spPr>
          </p:sp>
          <p:sp>
            <p:nvSpPr>
              <p:cNvPr id="133319" name="Line 180"/>
              <p:cNvSpPr/>
              <p:nvPr/>
            </p:nvSpPr>
            <p:spPr>
              <a:xfrm>
                <a:off x="3336" y="2724"/>
                <a:ext cx="1" cy="7"/>
              </a:xfrm>
              <a:prstGeom prst="line">
                <a:avLst/>
              </a:prstGeom>
              <a:ln w="0" cap="flat" cmpd="sng">
                <a:solidFill>
                  <a:srgbClr val="000000"/>
                </a:solidFill>
                <a:prstDash val="solid"/>
                <a:headEnd type="none" w="med" len="med"/>
                <a:tailEnd type="none" w="med" len="med"/>
              </a:ln>
            </p:spPr>
          </p:sp>
          <p:sp>
            <p:nvSpPr>
              <p:cNvPr id="133320" name="Rectangle 181"/>
              <p:cNvSpPr/>
              <p:nvPr/>
            </p:nvSpPr>
            <p:spPr>
              <a:xfrm>
                <a:off x="3336" y="2724"/>
                <a:ext cx="7" cy="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21" name="Line 182"/>
              <p:cNvSpPr/>
              <p:nvPr/>
            </p:nvSpPr>
            <p:spPr>
              <a:xfrm>
                <a:off x="3336" y="2724"/>
                <a:ext cx="7" cy="1"/>
              </a:xfrm>
              <a:prstGeom prst="line">
                <a:avLst/>
              </a:prstGeom>
              <a:ln w="0" cap="flat" cmpd="sng">
                <a:solidFill>
                  <a:srgbClr val="000000"/>
                </a:solidFill>
                <a:prstDash val="solid"/>
                <a:headEnd type="none" w="med" len="med"/>
                <a:tailEnd type="none" w="med" len="med"/>
              </a:ln>
            </p:spPr>
          </p:sp>
          <p:sp>
            <p:nvSpPr>
              <p:cNvPr id="133322" name="Line 183"/>
              <p:cNvSpPr/>
              <p:nvPr/>
            </p:nvSpPr>
            <p:spPr>
              <a:xfrm>
                <a:off x="3336" y="2724"/>
                <a:ext cx="1" cy="7"/>
              </a:xfrm>
              <a:prstGeom prst="line">
                <a:avLst/>
              </a:prstGeom>
              <a:ln w="0" cap="flat" cmpd="sng">
                <a:solidFill>
                  <a:srgbClr val="000000"/>
                </a:solidFill>
                <a:prstDash val="solid"/>
                <a:headEnd type="none" w="med" len="med"/>
                <a:tailEnd type="none" w="med" len="med"/>
              </a:ln>
            </p:spPr>
          </p:sp>
          <p:sp>
            <p:nvSpPr>
              <p:cNvPr id="133323" name="Rectangle 184"/>
              <p:cNvSpPr/>
              <p:nvPr/>
            </p:nvSpPr>
            <p:spPr>
              <a:xfrm>
                <a:off x="2909" y="2731"/>
                <a:ext cx="7" cy="18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24" name="Line 185"/>
              <p:cNvSpPr/>
              <p:nvPr/>
            </p:nvSpPr>
            <p:spPr>
              <a:xfrm>
                <a:off x="2909" y="2731"/>
                <a:ext cx="1" cy="182"/>
              </a:xfrm>
              <a:prstGeom prst="line">
                <a:avLst/>
              </a:prstGeom>
              <a:ln w="0" cap="flat" cmpd="sng">
                <a:solidFill>
                  <a:srgbClr val="000000"/>
                </a:solidFill>
                <a:prstDash val="solid"/>
                <a:headEnd type="none" w="med" len="med"/>
                <a:tailEnd type="none" w="med" len="med"/>
              </a:ln>
            </p:spPr>
          </p:sp>
          <p:sp>
            <p:nvSpPr>
              <p:cNvPr id="133325" name="Rectangle 186"/>
              <p:cNvSpPr/>
              <p:nvPr/>
            </p:nvSpPr>
            <p:spPr>
              <a:xfrm>
                <a:off x="3336" y="2731"/>
                <a:ext cx="7" cy="18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26" name="Line 187"/>
              <p:cNvSpPr/>
              <p:nvPr/>
            </p:nvSpPr>
            <p:spPr>
              <a:xfrm>
                <a:off x="3336" y="2731"/>
                <a:ext cx="1" cy="182"/>
              </a:xfrm>
              <a:prstGeom prst="line">
                <a:avLst/>
              </a:prstGeom>
              <a:ln w="0" cap="flat" cmpd="sng">
                <a:solidFill>
                  <a:srgbClr val="000000"/>
                </a:solidFill>
                <a:prstDash val="solid"/>
                <a:headEnd type="none" w="med" len="med"/>
                <a:tailEnd type="none" w="med" len="med"/>
              </a:ln>
            </p:spPr>
          </p:sp>
          <p:sp>
            <p:nvSpPr>
              <p:cNvPr id="133327" name="Rectangle 188"/>
              <p:cNvSpPr/>
              <p:nvPr/>
            </p:nvSpPr>
            <p:spPr>
              <a:xfrm>
                <a:off x="2909"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28" name="Line 189"/>
              <p:cNvSpPr/>
              <p:nvPr/>
            </p:nvSpPr>
            <p:spPr>
              <a:xfrm>
                <a:off x="2909" y="2913"/>
                <a:ext cx="7" cy="1"/>
              </a:xfrm>
              <a:prstGeom prst="line">
                <a:avLst/>
              </a:prstGeom>
              <a:ln w="0" cap="flat" cmpd="sng">
                <a:solidFill>
                  <a:srgbClr val="000000"/>
                </a:solidFill>
                <a:prstDash val="solid"/>
                <a:headEnd type="none" w="med" len="med"/>
                <a:tailEnd type="none" w="med" len="med"/>
              </a:ln>
            </p:spPr>
          </p:sp>
          <p:sp>
            <p:nvSpPr>
              <p:cNvPr id="133329" name="Line 190"/>
              <p:cNvSpPr/>
              <p:nvPr/>
            </p:nvSpPr>
            <p:spPr>
              <a:xfrm>
                <a:off x="2909" y="2913"/>
                <a:ext cx="1" cy="8"/>
              </a:xfrm>
              <a:prstGeom prst="line">
                <a:avLst/>
              </a:prstGeom>
              <a:ln w="0" cap="flat" cmpd="sng">
                <a:solidFill>
                  <a:srgbClr val="000000"/>
                </a:solidFill>
                <a:prstDash val="solid"/>
                <a:headEnd type="none" w="med" len="med"/>
                <a:tailEnd type="none" w="med" len="med"/>
              </a:ln>
            </p:spPr>
          </p:sp>
          <p:sp>
            <p:nvSpPr>
              <p:cNvPr id="133330" name="Rectangle 191"/>
              <p:cNvSpPr/>
              <p:nvPr/>
            </p:nvSpPr>
            <p:spPr>
              <a:xfrm>
                <a:off x="2909"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31" name="Line 192"/>
              <p:cNvSpPr/>
              <p:nvPr/>
            </p:nvSpPr>
            <p:spPr>
              <a:xfrm>
                <a:off x="2909" y="2913"/>
                <a:ext cx="7" cy="1"/>
              </a:xfrm>
              <a:prstGeom prst="line">
                <a:avLst/>
              </a:prstGeom>
              <a:ln w="0" cap="flat" cmpd="sng">
                <a:solidFill>
                  <a:srgbClr val="000000"/>
                </a:solidFill>
                <a:prstDash val="solid"/>
                <a:headEnd type="none" w="med" len="med"/>
                <a:tailEnd type="none" w="med" len="med"/>
              </a:ln>
            </p:spPr>
          </p:sp>
          <p:sp>
            <p:nvSpPr>
              <p:cNvPr id="133332" name="Line 193"/>
              <p:cNvSpPr/>
              <p:nvPr/>
            </p:nvSpPr>
            <p:spPr>
              <a:xfrm>
                <a:off x="2909" y="2913"/>
                <a:ext cx="1" cy="8"/>
              </a:xfrm>
              <a:prstGeom prst="line">
                <a:avLst/>
              </a:prstGeom>
              <a:ln w="0" cap="flat" cmpd="sng">
                <a:solidFill>
                  <a:srgbClr val="000000"/>
                </a:solidFill>
                <a:prstDash val="solid"/>
                <a:headEnd type="none" w="med" len="med"/>
                <a:tailEnd type="none" w="med" len="med"/>
              </a:ln>
            </p:spPr>
          </p:sp>
          <p:sp>
            <p:nvSpPr>
              <p:cNvPr id="133333" name="Rectangle 194"/>
              <p:cNvSpPr/>
              <p:nvPr/>
            </p:nvSpPr>
            <p:spPr>
              <a:xfrm>
                <a:off x="2916" y="2913"/>
                <a:ext cx="420"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34" name="Line 195"/>
              <p:cNvSpPr/>
              <p:nvPr/>
            </p:nvSpPr>
            <p:spPr>
              <a:xfrm>
                <a:off x="2916" y="2913"/>
                <a:ext cx="420" cy="1"/>
              </a:xfrm>
              <a:prstGeom prst="line">
                <a:avLst/>
              </a:prstGeom>
              <a:ln w="0" cap="flat" cmpd="sng">
                <a:solidFill>
                  <a:srgbClr val="000000"/>
                </a:solidFill>
                <a:prstDash val="solid"/>
                <a:headEnd type="none" w="med" len="med"/>
                <a:tailEnd type="none" w="med" len="med"/>
              </a:ln>
            </p:spPr>
          </p:sp>
          <p:sp>
            <p:nvSpPr>
              <p:cNvPr id="133335" name="Rectangle 196"/>
              <p:cNvSpPr/>
              <p:nvPr/>
            </p:nvSpPr>
            <p:spPr>
              <a:xfrm>
                <a:off x="3336"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36" name="Line 197"/>
              <p:cNvSpPr/>
              <p:nvPr/>
            </p:nvSpPr>
            <p:spPr>
              <a:xfrm>
                <a:off x="3336" y="2913"/>
                <a:ext cx="7" cy="1"/>
              </a:xfrm>
              <a:prstGeom prst="line">
                <a:avLst/>
              </a:prstGeom>
              <a:ln w="0" cap="flat" cmpd="sng">
                <a:solidFill>
                  <a:srgbClr val="000000"/>
                </a:solidFill>
                <a:prstDash val="solid"/>
                <a:headEnd type="none" w="med" len="med"/>
                <a:tailEnd type="none" w="med" len="med"/>
              </a:ln>
            </p:spPr>
          </p:sp>
          <p:sp>
            <p:nvSpPr>
              <p:cNvPr id="133337" name="Line 198"/>
              <p:cNvSpPr/>
              <p:nvPr/>
            </p:nvSpPr>
            <p:spPr>
              <a:xfrm>
                <a:off x="3336" y="2913"/>
                <a:ext cx="1" cy="8"/>
              </a:xfrm>
              <a:prstGeom prst="line">
                <a:avLst/>
              </a:prstGeom>
              <a:ln w="0" cap="flat" cmpd="sng">
                <a:solidFill>
                  <a:srgbClr val="000000"/>
                </a:solidFill>
                <a:prstDash val="solid"/>
                <a:headEnd type="none" w="med" len="med"/>
                <a:tailEnd type="none" w="med" len="med"/>
              </a:ln>
            </p:spPr>
          </p:sp>
          <p:sp>
            <p:nvSpPr>
              <p:cNvPr id="133338" name="Rectangle 199"/>
              <p:cNvSpPr/>
              <p:nvPr/>
            </p:nvSpPr>
            <p:spPr>
              <a:xfrm>
                <a:off x="3336" y="2913"/>
                <a:ext cx="7" cy="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3339" name="Line 200"/>
              <p:cNvSpPr/>
              <p:nvPr/>
            </p:nvSpPr>
            <p:spPr>
              <a:xfrm>
                <a:off x="3336" y="2913"/>
                <a:ext cx="7" cy="1"/>
              </a:xfrm>
              <a:prstGeom prst="line">
                <a:avLst/>
              </a:prstGeom>
              <a:ln w="0" cap="flat" cmpd="sng">
                <a:solidFill>
                  <a:srgbClr val="000000"/>
                </a:solidFill>
                <a:prstDash val="solid"/>
                <a:headEnd type="none" w="med" len="med"/>
                <a:tailEnd type="none" w="med" len="med"/>
              </a:ln>
            </p:spPr>
          </p:sp>
          <p:sp>
            <p:nvSpPr>
              <p:cNvPr id="133340" name="Line 201"/>
              <p:cNvSpPr/>
              <p:nvPr/>
            </p:nvSpPr>
            <p:spPr>
              <a:xfrm>
                <a:off x="3336" y="2913"/>
                <a:ext cx="1" cy="8"/>
              </a:xfrm>
              <a:prstGeom prst="line">
                <a:avLst/>
              </a:prstGeom>
              <a:ln w="0" cap="flat" cmpd="sng">
                <a:solidFill>
                  <a:srgbClr val="000000"/>
                </a:solidFill>
                <a:prstDash val="solid"/>
                <a:headEnd type="none" w="med" len="med"/>
                <a:tailEnd type="none" w="med" len="med"/>
              </a:ln>
            </p:spPr>
          </p:sp>
          <p:sp>
            <p:nvSpPr>
              <p:cNvPr id="133341" name="Rectangle 202"/>
              <p:cNvSpPr/>
              <p:nvPr/>
            </p:nvSpPr>
            <p:spPr>
              <a:xfrm>
                <a:off x="1524" y="2992"/>
                <a:ext cx="27"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342" name="Rectangle 203"/>
              <p:cNvSpPr/>
              <p:nvPr/>
            </p:nvSpPr>
            <p:spPr>
              <a:xfrm>
                <a:off x="1586" y="3001"/>
                <a:ext cx="403" cy="16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100" dirty="0">
                    <a:solidFill>
                      <a:srgbClr val="000000"/>
                    </a:solidFill>
                    <a:latin typeface="宋体" panose="02010600030101010101" pitchFamily="2" charset="-122"/>
                    <a:cs typeface="Arial" panose="020B0604020202020204" pitchFamily="34" charset="0"/>
                  </a:rPr>
                  <a:t>叶结点</a:t>
                </a:r>
                <a:endParaRPr lang="zh-CN" altLang="en-US" b="0" dirty="0">
                  <a:solidFill>
                    <a:schemeClr val="tx1"/>
                  </a:solidFill>
                  <a:ea typeface="Arial" panose="020B0604020202020204" pitchFamily="34" charset="0"/>
                </a:endParaRPr>
              </a:p>
            </p:txBody>
          </p:sp>
          <p:sp>
            <p:nvSpPr>
              <p:cNvPr id="133343" name="Rectangle 204"/>
              <p:cNvSpPr/>
              <p:nvPr/>
            </p:nvSpPr>
            <p:spPr>
              <a:xfrm>
                <a:off x="2003" y="2992"/>
                <a:ext cx="353" cy="12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700" dirty="0">
                    <a:solidFill>
                      <a:srgbClr val="000000"/>
                    </a:solidFill>
                    <a:cs typeface="Arial" panose="020B0604020202020204" pitchFamily="34" charset="0"/>
                  </a:rPr>
                  <a:t>             </a:t>
                </a:r>
                <a:endParaRPr lang="en-US" altLang="zh-CN" sz="2400" b="0" dirty="0">
                  <a:solidFill>
                    <a:schemeClr val="tx1"/>
                  </a:solidFill>
                  <a:ea typeface="Arial" panose="020B0604020202020204" pitchFamily="34" charset="0"/>
                </a:endParaRPr>
              </a:p>
            </p:txBody>
          </p:sp>
          <p:sp>
            <p:nvSpPr>
              <p:cNvPr id="133344" name="Rectangle 205"/>
              <p:cNvSpPr/>
              <p:nvPr/>
            </p:nvSpPr>
            <p:spPr>
              <a:xfrm>
                <a:off x="2868" y="3001"/>
                <a:ext cx="402" cy="16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100" dirty="0">
                    <a:solidFill>
                      <a:srgbClr val="000000"/>
                    </a:solidFill>
                    <a:latin typeface="宋体" panose="02010600030101010101" pitchFamily="2" charset="-122"/>
                    <a:cs typeface="Arial" panose="020B0604020202020204" pitchFamily="34" charset="0"/>
                  </a:rPr>
                  <a:t>叶结点</a:t>
                </a:r>
                <a:endParaRPr lang="zh-CN" altLang="en-US" b="0" dirty="0">
                  <a:solidFill>
                    <a:schemeClr val="tx1"/>
                  </a:solidFill>
                  <a:ea typeface="Arial" panose="020B0604020202020204" pitchFamily="34" charset="0"/>
                </a:endParaRPr>
              </a:p>
            </p:txBody>
          </p:sp>
        </p:grpSp>
        <p:sp>
          <p:nvSpPr>
            <p:cNvPr id="133128" name="Rectangle 206"/>
            <p:cNvSpPr/>
            <p:nvPr/>
          </p:nvSpPr>
          <p:spPr>
            <a:xfrm>
              <a:off x="2445" y="3428"/>
              <a:ext cx="0" cy="18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endParaRPr lang="en-US" altLang="en-US" sz="2400" b="0" dirty="0">
                <a:solidFill>
                  <a:schemeClr val="tx1"/>
                </a:solidFill>
                <a:ea typeface="Arial" panose="020B0604020202020204" pitchFamily="34" charset="0"/>
              </a:endParaRPr>
            </a:p>
          </p:txBody>
        </p:sp>
        <p:sp>
          <p:nvSpPr>
            <p:cNvPr id="133129" name="Line 207"/>
            <p:cNvSpPr/>
            <p:nvPr/>
          </p:nvSpPr>
          <p:spPr>
            <a:xfrm>
              <a:off x="3072" y="1491"/>
              <a:ext cx="1" cy="237"/>
            </a:xfrm>
            <a:prstGeom prst="line">
              <a:avLst/>
            </a:prstGeom>
            <a:ln w="17463" cap="flat" cmpd="sng">
              <a:solidFill>
                <a:srgbClr val="000000"/>
              </a:solidFill>
              <a:prstDash val="solid"/>
              <a:headEnd type="none" w="med" len="med"/>
              <a:tailEnd type="none" w="med" len="med"/>
            </a:ln>
          </p:spPr>
        </p:sp>
        <p:sp>
          <p:nvSpPr>
            <p:cNvPr id="133130" name="Freeform 208"/>
            <p:cNvSpPr/>
            <p:nvPr/>
          </p:nvSpPr>
          <p:spPr>
            <a:xfrm>
              <a:off x="2352" y="1722"/>
              <a:ext cx="1534" cy="6"/>
            </a:xfrm>
            <a:custGeom>
              <a:avLst/>
              <a:gdLst/>
              <a:ahLst/>
              <a:cxnLst>
                <a:cxn ang="0">
                  <a:pos x="0" y="6"/>
                </a:cxn>
                <a:cxn ang="0">
                  <a:pos x="1534" y="0"/>
                </a:cxn>
              </a:cxnLst>
              <a:pathLst>
                <a:path w="1534" h="6">
                  <a:moveTo>
                    <a:pt x="0" y="6"/>
                  </a:moveTo>
                  <a:lnTo>
                    <a:pt x="1534" y="0"/>
                  </a:lnTo>
                </a:path>
              </a:pathLst>
            </a:custGeom>
            <a:solidFill>
              <a:srgbClr val="FFFFFF">
                <a:alpha val="100000"/>
              </a:srgbClr>
            </a:solidFill>
            <a:ln w="17463" cap="flat" cmpd="sng">
              <a:solidFill>
                <a:srgbClr val="000000">
                  <a:alpha val="100000"/>
                </a:srgbClr>
              </a:solidFill>
              <a:prstDash val="solid"/>
              <a:round/>
              <a:headEnd type="none" w="med" len="med"/>
              <a:tailEnd type="none" w="med" len="med"/>
            </a:ln>
          </p:spPr>
          <p:txBody>
            <a:bodyPr/>
            <a:p>
              <a:endParaRPr lang="en-US"/>
            </a:p>
          </p:txBody>
        </p:sp>
        <p:grpSp>
          <p:nvGrpSpPr>
            <p:cNvPr id="133131" name="Group 209"/>
            <p:cNvGrpSpPr/>
            <p:nvPr/>
          </p:nvGrpSpPr>
          <p:grpSpPr>
            <a:xfrm>
              <a:off x="3810" y="1728"/>
              <a:ext cx="121" cy="303"/>
              <a:chOff x="3866" y="1960"/>
              <a:chExt cx="121" cy="303"/>
            </a:xfrm>
          </p:grpSpPr>
          <p:sp>
            <p:nvSpPr>
              <p:cNvPr id="133143" name="Line 210"/>
              <p:cNvSpPr/>
              <p:nvPr/>
            </p:nvSpPr>
            <p:spPr>
              <a:xfrm>
                <a:off x="3924" y="1960"/>
                <a:ext cx="4" cy="194"/>
              </a:xfrm>
              <a:prstGeom prst="line">
                <a:avLst/>
              </a:prstGeom>
              <a:ln w="17463" cap="flat" cmpd="sng">
                <a:solidFill>
                  <a:srgbClr val="000000"/>
                </a:solidFill>
                <a:prstDash val="solid"/>
                <a:headEnd type="none" w="med" len="med"/>
                <a:tailEnd type="none" w="med" len="med"/>
              </a:ln>
            </p:spPr>
          </p:sp>
          <p:sp>
            <p:nvSpPr>
              <p:cNvPr id="133144" name="Freeform 211"/>
              <p:cNvSpPr/>
              <p:nvPr/>
            </p:nvSpPr>
            <p:spPr>
              <a:xfrm>
                <a:off x="3866" y="2146"/>
                <a:ext cx="121" cy="117"/>
              </a:xfrm>
              <a:custGeom>
                <a:avLst/>
                <a:gdLst/>
                <a:ahLst/>
                <a:cxnLst>
                  <a:cxn ang="0">
                    <a:pos x="0" y="0"/>
                  </a:cxn>
                  <a:cxn ang="0">
                    <a:pos x="62" y="117"/>
                  </a:cxn>
                  <a:cxn ang="0">
                    <a:pos x="121" y="0"/>
                  </a:cxn>
                  <a:cxn ang="0">
                    <a:pos x="0" y="0"/>
                  </a:cxn>
                </a:cxnLst>
                <a:pathLst>
                  <a:path w="121" h="117">
                    <a:moveTo>
                      <a:pt x="0" y="0"/>
                    </a:moveTo>
                    <a:lnTo>
                      <a:pt x="62" y="117"/>
                    </a:lnTo>
                    <a:lnTo>
                      <a:pt x="121" y="0"/>
                    </a:lnTo>
                    <a:lnTo>
                      <a:pt x="0" y="0"/>
                    </a:lnTo>
                    <a:close/>
                  </a:path>
                </a:pathLst>
              </a:custGeom>
              <a:solidFill>
                <a:srgbClr val="000000">
                  <a:alpha val="100000"/>
                </a:srgbClr>
              </a:solidFill>
              <a:ln w="9525">
                <a:noFill/>
              </a:ln>
            </p:spPr>
            <p:txBody>
              <a:bodyPr/>
              <a:p>
                <a:endParaRPr lang="en-US"/>
              </a:p>
            </p:txBody>
          </p:sp>
        </p:grpSp>
        <p:grpSp>
          <p:nvGrpSpPr>
            <p:cNvPr id="133132" name="Group 212"/>
            <p:cNvGrpSpPr/>
            <p:nvPr/>
          </p:nvGrpSpPr>
          <p:grpSpPr>
            <a:xfrm>
              <a:off x="2290" y="1728"/>
              <a:ext cx="121" cy="303"/>
              <a:chOff x="2346" y="1960"/>
              <a:chExt cx="121" cy="303"/>
            </a:xfrm>
          </p:grpSpPr>
          <p:sp>
            <p:nvSpPr>
              <p:cNvPr id="133141" name="Line 213"/>
              <p:cNvSpPr/>
              <p:nvPr/>
            </p:nvSpPr>
            <p:spPr>
              <a:xfrm>
                <a:off x="2408" y="1960"/>
                <a:ext cx="1" cy="194"/>
              </a:xfrm>
              <a:prstGeom prst="line">
                <a:avLst/>
              </a:prstGeom>
              <a:ln w="17463" cap="flat" cmpd="sng">
                <a:solidFill>
                  <a:srgbClr val="000000"/>
                </a:solidFill>
                <a:prstDash val="solid"/>
                <a:headEnd type="none" w="med" len="med"/>
                <a:tailEnd type="none" w="med" len="med"/>
              </a:ln>
            </p:spPr>
          </p:sp>
          <p:sp>
            <p:nvSpPr>
              <p:cNvPr id="133142" name="Freeform 214"/>
              <p:cNvSpPr/>
              <p:nvPr/>
            </p:nvSpPr>
            <p:spPr>
              <a:xfrm>
                <a:off x="2346" y="2146"/>
                <a:ext cx="121" cy="117"/>
              </a:xfrm>
              <a:custGeom>
                <a:avLst/>
                <a:gdLst/>
                <a:ahLst/>
                <a:cxnLst>
                  <a:cxn ang="0">
                    <a:pos x="0" y="0"/>
                  </a:cxn>
                  <a:cxn ang="0">
                    <a:pos x="62" y="117"/>
                  </a:cxn>
                  <a:cxn ang="0">
                    <a:pos x="121" y="0"/>
                  </a:cxn>
                  <a:cxn ang="0">
                    <a:pos x="0" y="0"/>
                  </a:cxn>
                </a:cxnLst>
                <a:pathLst>
                  <a:path w="121" h="117">
                    <a:moveTo>
                      <a:pt x="0" y="0"/>
                    </a:moveTo>
                    <a:lnTo>
                      <a:pt x="62" y="117"/>
                    </a:lnTo>
                    <a:lnTo>
                      <a:pt x="121" y="0"/>
                    </a:lnTo>
                    <a:lnTo>
                      <a:pt x="0" y="0"/>
                    </a:lnTo>
                    <a:close/>
                  </a:path>
                </a:pathLst>
              </a:custGeom>
              <a:solidFill>
                <a:srgbClr val="000000">
                  <a:alpha val="100000"/>
                </a:srgbClr>
              </a:solidFill>
              <a:ln w="9525">
                <a:noFill/>
              </a:ln>
            </p:spPr>
            <p:txBody>
              <a:bodyPr/>
              <a:p>
                <a:endParaRPr lang="en-US"/>
              </a:p>
            </p:txBody>
          </p:sp>
        </p:grpSp>
        <p:sp>
          <p:nvSpPr>
            <p:cNvPr id="133133" name="Line 215"/>
            <p:cNvSpPr/>
            <p:nvPr/>
          </p:nvSpPr>
          <p:spPr>
            <a:xfrm>
              <a:off x="2400" y="2211"/>
              <a:ext cx="1" cy="237"/>
            </a:xfrm>
            <a:prstGeom prst="line">
              <a:avLst/>
            </a:prstGeom>
            <a:ln w="17463" cap="flat" cmpd="sng">
              <a:solidFill>
                <a:srgbClr val="000000"/>
              </a:solidFill>
              <a:prstDash val="solid"/>
              <a:headEnd type="none" w="med" len="med"/>
              <a:tailEnd type="none" w="med" len="med"/>
            </a:ln>
          </p:spPr>
        </p:sp>
        <p:sp>
          <p:nvSpPr>
            <p:cNvPr id="133134" name="Line 216"/>
            <p:cNvSpPr/>
            <p:nvPr/>
          </p:nvSpPr>
          <p:spPr>
            <a:xfrm>
              <a:off x="1680" y="2448"/>
              <a:ext cx="1520" cy="1"/>
            </a:xfrm>
            <a:prstGeom prst="line">
              <a:avLst/>
            </a:prstGeom>
            <a:ln w="17463" cap="flat" cmpd="sng">
              <a:solidFill>
                <a:srgbClr val="000000"/>
              </a:solidFill>
              <a:prstDash val="solid"/>
              <a:headEnd type="none" w="med" len="med"/>
              <a:tailEnd type="none" w="med" len="med"/>
            </a:ln>
          </p:spPr>
        </p:sp>
        <p:grpSp>
          <p:nvGrpSpPr>
            <p:cNvPr id="133135" name="Group 217"/>
            <p:cNvGrpSpPr/>
            <p:nvPr/>
          </p:nvGrpSpPr>
          <p:grpSpPr>
            <a:xfrm>
              <a:off x="3138" y="2448"/>
              <a:ext cx="121" cy="303"/>
              <a:chOff x="3146" y="2676"/>
              <a:chExt cx="121" cy="303"/>
            </a:xfrm>
          </p:grpSpPr>
          <p:sp>
            <p:nvSpPr>
              <p:cNvPr id="133139" name="Line 218"/>
              <p:cNvSpPr/>
              <p:nvPr/>
            </p:nvSpPr>
            <p:spPr>
              <a:xfrm>
                <a:off x="3208" y="2676"/>
                <a:ext cx="1" cy="194"/>
              </a:xfrm>
              <a:prstGeom prst="line">
                <a:avLst/>
              </a:prstGeom>
              <a:ln w="17463" cap="flat" cmpd="sng">
                <a:solidFill>
                  <a:srgbClr val="000000"/>
                </a:solidFill>
                <a:prstDash val="solid"/>
                <a:headEnd type="none" w="med" len="med"/>
                <a:tailEnd type="none" w="med" len="med"/>
              </a:ln>
            </p:spPr>
          </p:sp>
          <p:sp>
            <p:nvSpPr>
              <p:cNvPr id="133140" name="Freeform 219"/>
              <p:cNvSpPr/>
              <p:nvPr/>
            </p:nvSpPr>
            <p:spPr>
              <a:xfrm>
                <a:off x="3146" y="2862"/>
                <a:ext cx="121" cy="117"/>
              </a:xfrm>
              <a:custGeom>
                <a:avLst/>
                <a:gdLst/>
                <a:ahLst/>
                <a:cxnLst>
                  <a:cxn ang="0">
                    <a:pos x="0" y="0"/>
                  </a:cxn>
                  <a:cxn ang="0">
                    <a:pos x="62" y="117"/>
                  </a:cxn>
                  <a:cxn ang="0">
                    <a:pos x="121" y="0"/>
                  </a:cxn>
                  <a:cxn ang="0">
                    <a:pos x="0" y="0"/>
                  </a:cxn>
                </a:cxnLst>
                <a:pathLst>
                  <a:path w="121" h="117">
                    <a:moveTo>
                      <a:pt x="0" y="0"/>
                    </a:moveTo>
                    <a:lnTo>
                      <a:pt x="62" y="117"/>
                    </a:lnTo>
                    <a:lnTo>
                      <a:pt x="121" y="0"/>
                    </a:lnTo>
                    <a:lnTo>
                      <a:pt x="0" y="0"/>
                    </a:lnTo>
                    <a:close/>
                  </a:path>
                </a:pathLst>
              </a:custGeom>
              <a:solidFill>
                <a:srgbClr val="000000">
                  <a:alpha val="100000"/>
                </a:srgbClr>
              </a:solidFill>
              <a:ln w="9525">
                <a:noFill/>
              </a:ln>
            </p:spPr>
            <p:txBody>
              <a:bodyPr/>
              <a:p>
                <a:endParaRPr lang="en-US"/>
              </a:p>
            </p:txBody>
          </p:sp>
        </p:grpSp>
        <p:grpSp>
          <p:nvGrpSpPr>
            <p:cNvPr id="133136" name="Group 220"/>
            <p:cNvGrpSpPr/>
            <p:nvPr/>
          </p:nvGrpSpPr>
          <p:grpSpPr>
            <a:xfrm>
              <a:off x="1618" y="2448"/>
              <a:ext cx="121" cy="303"/>
              <a:chOff x="1626" y="2676"/>
              <a:chExt cx="121" cy="303"/>
            </a:xfrm>
          </p:grpSpPr>
          <p:sp>
            <p:nvSpPr>
              <p:cNvPr id="133137" name="Line 221"/>
              <p:cNvSpPr/>
              <p:nvPr/>
            </p:nvSpPr>
            <p:spPr>
              <a:xfrm>
                <a:off x="1688" y="2676"/>
                <a:ext cx="1" cy="194"/>
              </a:xfrm>
              <a:prstGeom prst="line">
                <a:avLst/>
              </a:prstGeom>
              <a:ln w="17463" cap="flat" cmpd="sng">
                <a:solidFill>
                  <a:srgbClr val="000000"/>
                </a:solidFill>
                <a:prstDash val="solid"/>
                <a:headEnd type="none" w="med" len="med"/>
                <a:tailEnd type="none" w="med" len="med"/>
              </a:ln>
            </p:spPr>
          </p:sp>
          <p:sp>
            <p:nvSpPr>
              <p:cNvPr id="133138" name="Freeform 222"/>
              <p:cNvSpPr/>
              <p:nvPr/>
            </p:nvSpPr>
            <p:spPr>
              <a:xfrm>
                <a:off x="1626" y="2862"/>
                <a:ext cx="121" cy="117"/>
              </a:xfrm>
              <a:custGeom>
                <a:avLst/>
                <a:gdLst/>
                <a:ahLst/>
                <a:cxnLst>
                  <a:cxn ang="0">
                    <a:pos x="0" y="0"/>
                  </a:cxn>
                  <a:cxn ang="0">
                    <a:pos x="62" y="117"/>
                  </a:cxn>
                  <a:cxn ang="0">
                    <a:pos x="121" y="0"/>
                  </a:cxn>
                  <a:cxn ang="0">
                    <a:pos x="0" y="0"/>
                  </a:cxn>
                </a:cxnLst>
                <a:pathLst>
                  <a:path w="121" h="117">
                    <a:moveTo>
                      <a:pt x="0" y="0"/>
                    </a:moveTo>
                    <a:lnTo>
                      <a:pt x="62" y="117"/>
                    </a:lnTo>
                    <a:lnTo>
                      <a:pt x="121" y="0"/>
                    </a:lnTo>
                    <a:lnTo>
                      <a:pt x="0" y="0"/>
                    </a:lnTo>
                    <a:close/>
                  </a:path>
                </a:pathLst>
              </a:custGeom>
              <a:solidFill>
                <a:srgbClr val="000000">
                  <a:alpha val="100000"/>
                </a:srgbClr>
              </a:solidFill>
              <a:ln w="9525">
                <a:noFill/>
              </a:ln>
            </p:spPr>
            <p:txBody>
              <a:bodyPr/>
              <a:p>
                <a:endParaRPr lang="en-US"/>
              </a:p>
            </p:txBody>
          </p:sp>
        </p:grpSp>
      </p:grpSp>
      <p:sp>
        <p:nvSpPr>
          <p:cNvPr id="133126" name="Text Box 223"/>
          <p:cNvSpPr txBox="1"/>
          <p:nvPr/>
        </p:nvSpPr>
        <p:spPr>
          <a:xfrm>
            <a:off x="685800" y="2514600"/>
            <a:ext cx="1524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dirty="0">
                <a:solidFill>
                  <a:schemeClr val="accent2"/>
                </a:solidFill>
                <a:cs typeface="Arial" panose="020B0604020202020204" pitchFamily="34" charset="0"/>
              </a:rPr>
              <a:t>树结构</a:t>
            </a:r>
            <a:endParaRPr lang="zh-CN" altLang="en-US" sz="2800" dirty="0">
              <a:solidFill>
                <a:schemeClr val="accent2"/>
              </a:solidFill>
              <a:ea typeface="Arial" panose="020B0604020202020204"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4147"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4148" name="Rectangle 3"/>
          <p:cNvSpPr>
            <a:spLocks noGrp="1"/>
          </p:cNvSpPr>
          <p:nvPr>
            <p:ph idx="1"/>
          </p:nvPr>
        </p:nvSpPr>
        <p:spPr>
          <a:xfrm>
            <a:off x="533400" y="914400"/>
            <a:ext cx="8382000" cy="4953000"/>
          </a:xfrm>
          <a:ln/>
        </p:spPr>
        <p:txBody>
          <a:bodyPr vert="horz" wrap="square" lIns="91440" tIns="45720" rIns="91440" bIns="45720" anchor="t" anchorCtr="0"/>
          <a:p>
            <a:pPr algn="just" eaLnBrk="1" hangingPunct="1">
              <a:lnSpc>
                <a:spcPct val="120000"/>
              </a:lnSpc>
              <a:buNone/>
            </a:pPr>
            <a:r>
              <a:rPr lang="zh-CN" altLang="en-US" sz="2800" dirty="0"/>
              <a:t>层次数据模型的数据结构</a:t>
            </a:r>
            <a:r>
              <a:rPr lang="en-US" altLang="zh-CN" sz="2800" dirty="0"/>
              <a:t>(</a:t>
            </a:r>
            <a:r>
              <a:rPr lang="zh-CN" altLang="en-US" sz="2800" dirty="0"/>
              <a:t>续</a:t>
            </a:r>
            <a:r>
              <a:rPr lang="en-US" altLang="zh-CN" sz="2800" dirty="0"/>
              <a:t>)</a:t>
            </a:r>
            <a:r>
              <a:rPr lang="en-US" altLang="zh-CN" sz="2800" dirty="0">
                <a:solidFill>
                  <a:schemeClr val="tx1"/>
                </a:solidFill>
              </a:rPr>
              <a:t> </a:t>
            </a:r>
            <a:endParaRPr lang="en-US" altLang="zh-CN" sz="2800" dirty="0">
              <a:solidFill>
                <a:schemeClr val="tx1"/>
              </a:solidFill>
            </a:endParaRPr>
          </a:p>
          <a:p>
            <a:pPr algn="just" eaLnBrk="1" hangingPunct="1">
              <a:lnSpc>
                <a:spcPct val="130000"/>
              </a:lnSpc>
            </a:pPr>
            <a:r>
              <a:rPr lang="zh-CN" altLang="en-US" dirty="0">
                <a:solidFill>
                  <a:schemeClr val="tx1"/>
                </a:solidFill>
              </a:rPr>
              <a:t>表示方法</a:t>
            </a:r>
            <a:endParaRPr lang="zh-CN" altLang="en-US" dirty="0">
              <a:solidFill>
                <a:schemeClr val="tx1"/>
              </a:solidFill>
            </a:endParaRPr>
          </a:p>
          <a:p>
            <a:pPr lvl="1" algn="just" eaLnBrk="1" hangingPunct="1">
              <a:lnSpc>
                <a:spcPct val="130000"/>
              </a:lnSpc>
              <a:buNone/>
            </a:pPr>
            <a:r>
              <a:rPr lang="zh-CN" altLang="en-US" sz="2400" dirty="0">
                <a:solidFill>
                  <a:schemeClr val="accent2"/>
                </a:solidFill>
              </a:rPr>
              <a:t>实体型</a:t>
            </a:r>
            <a:r>
              <a:rPr lang="zh-CN" altLang="en-US" sz="2400" dirty="0"/>
              <a:t>：用记录类型描述。</a:t>
            </a:r>
            <a:endParaRPr lang="zh-CN" altLang="en-US" sz="2400" dirty="0"/>
          </a:p>
          <a:p>
            <a:pPr lvl="1" algn="just" eaLnBrk="1" hangingPunct="1">
              <a:lnSpc>
                <a:spcPct val="130000"/>
              </a:lnSpc>
              <a:buNone/>
            </a:pPr>
            <a:r>
              <a:rPr lang="zh-CN" altLang="en-US" sz="2400" dirty="0"/>
              <a:t>                每个结点表示一个记录类型。</a:t>
            </a:r>
            <a:endParaRPr lang="zh-CN" altLang="en-US" sz="2400" dirty="0"/>
          </a:p>
          <a:p>
            <a:pPr lvl="1" algn="just" eaLnBrk="1" hangingPunct="1">
              <a:lnSpc>
                <a:spcPct val="130000"/>
              </a:lnSpc>
              <a:buNone/>
            </a:pPr>
            <a:r>
              <a:rPr lang="zh-CN" altLang="en-US" sz="2400" dirty="0">
                <a:solidFill>
                  <a:schemeClr val="accent2"/>
                </a:solidFill>
              </a:rPr>
              <a:t>属性</a:t>
            </a:r>
            <a:r>
              <a:rPr lang="zh-CN" altLang="en-US" sz="2400" dirty="0"/>
              <a:t>：用字段描述。每个记录类型可包含若干个字段。</a:t>
            </a:r>
            <a:endParaRPr lang="zh-CN" altLang="en-US" sz="2400" dirty="0"/>
          </a:p>
          <a:p>
            <a:pPr lvl="1" algn="just" eaLnBrk="1" hangingPunct="1">
              <a:lnSpc>
                <a:spcPct val="130000"/>
              </a:lnSpc>
              <a:buNone/>
            </a:pPr>
            <a:r>
              <a:rPr lang="zh-CN" altLang="en-US" sz="2400" dirty="0">
                <a:solidFill>
                  <a:schemeClr val="accent2"/>
                </a:solidFill>
              </a:rPr>
              <a:t>联系</a:t>
            </a:r>
            <a:r>
              <a:rPr lang="zh-CN" altLang="en-US" sz="2400" dirty="0"/>
              <a:t>：用结点之间的连线表示记录（类）型之间的</a:t>
            </a:r>
            <a:endParaRPr lang="zh-CN" altLang="en-US" sz="2400" dirty="0"/>
          </a:p>
          <a:p>
            <a:pPr lvl="1" algn="just" eaLnBrk="1" hangingPunct="1">
              <a:lnSpc>
                <a:spcPct val="130000"/>
              </a:lnSpc>
              <a:buNone/>
            </a:pPr>
            <a:r>
              <a:rPr lang="zh-CN" altLang="en-US" sz="2400" dirty="0"/>
              <a:t>            </a:t>
            </a:r>
            <a:r>
              <a:rPr lang="zh-CN" altLang="en-US" sz="2400" dirty="0">
                <a:solidFill>
                  <a:schemeClr val="accent2"/>
                </a:solidFill>
              </a:rPr>
              <a:t>一对多的联系</a:t>
            </a:r>
            <a:endParaRPr lang="zh-CN" altLang="en-US" sz="2400" dirty="0">
              <a:solidFill>
                <a:schemeClr val="accent2"/>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5171"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5172" name="Rectangle 3"/>
          <p:cNvSpPr>
            <a:spLocks noGrp="1"/>
          </p:cNvSpPr>
          <p:nvPr>
            <p:ph idx="1"/>
          </p:nvPr>
        </p:nvSpPr>
        <p:spPr>
          <a:xfrm>
            <a:off x="368300" y="876300"/>
            <a:ext cx="6248400" cy="838200"/>
          </a:xfrm>
          <a:ln/>
        </p:spPr>
        <p:txBody>
          <a:bodyPr vert="horz" wrap="square" lIns="91440" tIns="45720" rIns="91440" bIns="45720" anchor="t" anchorCtr="0"/>
          <a:p>
            <a:pPr algn="just" eaLnBrk="1" hangingPunct="1">
              <a:lnSpc>
                <a:spcPct val="120000"/>
              </a:lnSpc>
              <a:buNone/>
            </a:pPr>
            <a:r>
              <a:rPr lang="zh-CN" altLang="en-US" dirty="0"/>
              <a:t>层次数据模型的数据结构</a:t>
            </a:r>
            <a:r>
              <a:rPr lang="en-US" altLang="zh-CN" dirty="0"/>
              <a:t>(</a:t>
            </a:r>
            <a:r>
              <a:rPr lang="zh-CN" altLang="en-US" dirty="0"/>
              <a:t>续</a:t>
            </a:r>
            <a:r>
              <a:rPr lang="en-US" altLang="zh-CN" dirty="0"/>
              <a:t>)</a:t>
            </a:r>
            <a:r>
              <a:rPr lang="en-US" altLang="zh-CN" dirty="0">
                <a:solidFill>
                  <a:schemeClr val="tx1"/>
                </a:solidFill>
              </a:rPr>
              <a:t> </a:t>
            </a:r>
            <a:endParaRPr lang="en-US" altLang="zh-CN" dirty="0">
              <a:solidFill>
                <a:schemeClr val="tx1"/>
              </a:solidFill>
            </a:endParaRPr>
          </a:p>
        </p:txBody>
      </p:sp>
      <p:grpSp>
        <p:nvGrpSpPr>
          <p:cNvPr id="135173" name="Group 4"/>
          <p:cNvGrpSpPr/>
          <p:nvPr/>
        </p:nvGrpSpPr>
        <p:grpSpPr>
          <a:xfrm>
            <a:off x="1193800" y="3530600"/>
            <a:ext cx="7759700" cy="2971800"/>
            <a:chOff x="344" y="1104"/>
            <a:chExt cx="4888" cy="2064"/>
          </a:xfrm>
        </p:grpSpPr>
        <p:sp>
          <p:nvSpPr>
            <p:cNvPr id="135184" name="Rectangle 5"/>
            <p:cNvSpPr/>
            <p:nvPr/>
          </p:nvSpPr>
          <p:spPr>
            <a:xfrm>
              <a:off x="3248" y="1104"/>
              <a:ext cx="73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地址</a:t>
              </a:r>
              <a:endParaRPr lang="zh-CN" altLang="en-US" sz="2800" dirty="0">
                <a:solidFill>
                  <a:schemeClr val="tx1"/>
                </a:solidFill>
                <a:ea typeface="华文新魏" panose="02010800040101010101" pitchFamily="2" charset="-122"/>
              </a:endParaRPr>
            </a:p>
          </p:txBody>
        </p:sp>
        <p:sp>
          <p:nvSpPr>
            <p:cNvPr id="135185" name="Rectangle 6"/>
            <p:cNvSpPr/>
            <p:nvPr/>
          </p:nvSpPr>
          <p:spPr>
            <a:xfrm>
              <a:off x="2512" y="1104"/>
              <a:ext cx="73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系名</a:t>
              </a:r>
              <a:endParaRPr lang="zh-CN" altLang="en-US" sz="2800" dirty="0">
                <a:solidFill>
                  <a:schemeClr val="tx1"/>
                </a:solidFill>
                <a:ea typeface="华文新魏" panose="02010800040101010101" pitchFamily="2" charset="-122"/>
              </a:endParaRPr>
            </a:p>
          </p:txBody>
        </p:sp>
        <p:sp>
          <p:nvSpPr>
            <p:cNvPr id="135186" name="Rectangle 7"/>
            <p:cNvSpPr/>
            <p:nvPr/>
          </p:nvSpPr>
          <p:spPr>
            <a:xfrm>
              <a:off x="1776" y="1104"/>
              <a:ext cx="73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系号</a:t>
              </a:r>
              <a:endParaRPr lang="zh-CN" altLang="en-US" sz="2800" dirty="0">
                <a:solidFill>
                  <a:schemeClr val="tx1"/>
                </a:solidFill>
                <a:ea typeface="华文新魏" panose="02010800040101010101" pitchFamily="2" charset="-122"/>
              </a:endParaRPr>
            </a:p>
          </p:txBody>
        </p:sp>
        <p:sp>
          <p:nvSpPr>
            <p:cNvPr id="135187" name="Line 8"/>
            <p:cNvSpPr/>
            <p:nvPr/>
          </p:nvSpPr>
          <p:spPr>
            <a:xfrm>
              <a:off x="1776" y="1104"/>
              <a:ext cx="2208" cy="0"/>
            </a:xfrm>
            <a:prstGeom prst="line">
              <a:avLst/>
            </a:prstGeom>
            <a:ln w="28575" cap="sq" cmpd="sng">
              <a:solidFill>
                <a:schemeClr val="tx1"/>
              </a:solidFill>
              <a:prstDash val="solid"/>
              <a:miter/>
              <a:headEnd type="none" w="med" len="med"/>
              <a:tailEnd type="none" w="med" len="med"/>
            </a:ln>
          </p:spPr>
        </p:sp>
        <p:sp>
          <p:nvSpPr>
            <p:cNvPr id="135188" name="Line 9"/>
            <p:cNvSpPr/>
            <p:nvPr/>
          </p:nvSpPr>
          <p:spPr>
            <a:xfrm>
              <a:off x="1776" y="1430"/>
              <a:ext cx="2208" cy="0"/>
            </a:xfrm>
            <a:prstGeom prst="line">
              <a:avLst/>
            </a:prstGeom>
            <a:ln w="28575" cap="sq" cmpd="sng">
              <a:solidFill>
                <a:schemeClr val="tx1"/>
              </a:solidFill>
              <a:prstDash val="solid"/>
              <a:miter/>
              <a:headEnd type="none" w="med" len="med"/>
              <a:tailEnd type="none" w="med" len="med"/>
            </a:ln>
          </p:spPr>
        </p:sp>
        <p:sp>
          <p:nvSpPr>
            <p:cNvPr id="135189" name="Line 10"/>
            <p:cNvSpPr/>
            <p:nvPr/>
          </p:nvSpPr>
          <p:spPr>
            <a:xfrm>
              <a:off x="1776" y="1104"/>
              <a:ext cx="0" cy="326"/>
            </a:xfrm>
            <a:prstGeom prst="line">
              <a:avLst/>
            </a:prstGeom>
            <a:ln w="28575" cap="sq" cmpd="sng">
              <a:solidFill>
                <a:schemeClr val="tx1"/>
              </a:solidFill>
              <a:prstDash val="solid"/>
              <a:miter/>
              <a:headEnd type="none" w="med" len="med"/>
              <a:tailEnd type="none" w="med" len="med"/>
            </a:ln>
          </p:spPr>
        </p:sp>
        <p:sp>
          <p:nvSpPr>
            <p:cNvPr id="135190" name="Line 11"/>
            <p:cNvSpPr/>
            <p:nvPr/>
          </p:nvSpPr>
          <p:spPr>
            <a:xfrm>
              <a:off x="2512" y="1104"/>
              <a:ext cx="0" cy="326"/>
            </a:xfrm>
            <a:prstGeom prst="line">
              <a:avLst/>
            </a:prstGeom>
            <a:ln w="12700" cap="flat" cmpd="sng">
              <a:solidFill>
                <a:schemeClr val="tx1"/>
              </a:solidFill>
              <a:prstDash val="solid"/>
              <a:miter/>
              <a:headEnd type="none" w="med" len="med"/>
              <a:tailEnd type="none" w="med" len="med"/>
            </a:ln>
          </p:spPr>
        </p:sp>
        <p:sp>
          <p:nvSpPr>
            <p:cNvPr id="135191" name="Line 12"/>
            <p:cNvSpPr/>
            <p:nvPr/>
          </p:nvSpPr>
          <p:spPr>
            <a:xfrm>
              <a:off x="3248" y="1104"/>
              <a:ext cx="0" cy="326"/>
            </a:xfrm>
            <a:prstGeom prst="line">
              <a:avLst/>
            </a:prstGeom>
            <a:ln w="12700" cap="flat" cmpd="sng">
              <a:solidFill>
                <a:schemeClr val="tx1"/>
              </a:solidFill>
              <a:prstDash val="solid"/>
              <a:miter/>
              <a:headEnd type="none" w="med" len="med"/>
              <a:tailEnd type="none" w="med" len="med"/>
            </a:ln>
          </p:spPr>
        </p:sp>
        <p:sp>
          <p:nvSpPr>
            <p:cNvPr id="135192" name="Line 13"/>
            <p:cNvSpPr/>
            <p:nvPr/>
          </p:nvSpPr>
          <p:spPr>
            <a:xfrm>
              <a:off x="3984" y="1104"/>
              <a:ext cx="0" cy="326"/>
            </a:xfrm>
            <a:prstGeom prst="line">
              <a:avLst/>
            </a:prstGeom>
            <a:ln w="28575" cap="sq" cmpd="sng">
              <a:solidFill>
                <a:schemeClr val="tx1"/>
              </a:solidFill>
              <a:prstDash val="solid"/>
              <a:miter/>
              <a:headEnd type="none" w="med" len="med"/>
              <a:tailEnd type="none" w="med" len="med"/>
            </a:ln>
          </p:spPr>
        </p:sp>
        <p:sp>
          <p:nvSpPr>
            <p:cNvPr id="135193" name="Rectangle 14"/>
            <p:cNvSpPr/>
            <p:nvPr/>
          </p:nvSpPr>
          <p:spPr>
            <a:xfrm>
              <a:off x="1568" y="2016"/>
              <a:ext cx="1080"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教研室名</a:t>
              </a:r>
              <a:endParaRPr lang="zh-CN" altLang="en-US" sz="2800" dirty="0">
                <a:solidFill>
                  <a:schemeClr val="tx1"/>
                </a:solidFill>
                <a:ea typeface="华文新魏" panose="02010800040101010101" pitchFamily="2" charset="-122"/>
              </a:endParaRPr>
            </a:p>
          </p:txBody>
        </p:sp>
        <p:sp>
          <p:nvSpPr>
            <p:cNvPr id="135194" name="Rectangle 15"/>
            <p:cNvSpPr/>
            <p:nvPr/>
          </p:nvSpPr>
          <p:spPr>
            <a:xfrm>
              <a:off x="488" y="2016"/>
              <a:ext cx="1080"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教研室号</a:t>
              </a:r>
              <a:endParaRPr lang="zh-CN" altLang="en-US" sz="2800" dirty="0">
                <a:solidFill>
                  <a:schemeClr val="tx1"/>
                </a:solidFill>
                <a:ea typeface="华文新魏" panose="02010800040101010101" pitchFamily="2" charset="-122"/>
              </a:endParaRPr>
            </a:p>
          </p:txBody>
        </p:sp>
        <p:sp>
          <p:nvSpPr>
            <p:cNvPr id="135195" name="Line 16"/>
            <p:cNvSpPr/>
            <p:nvPr/>
          </p:nvSpPr>
          <p:spPr>
            <a:xfrm>
              <a:off x="488" y="2016"/>
              <a:ext cx="2160" cy="0"/>
            </a:xfrm>
            <a:prstGeom prst="line">
              <a:avLst/>
            </a:prstGeom>
            <a:ln w="28575" cap="sq" cmpd="sng">
              <a:solidFill>
                <a:schemeClr val="tx1"/>
              </a:solidFill>
              <a:prstDash val="solid"/>
              <a:miter/>
              <a:headEnd type="none" w="med" len="med"/>
              <a:tailEnd type="none" w="med" len="med"/>
            </a:ln>
          </p:spPr>
        </p:sp>
        <p:sp>
          <p:nvSpPr>
            <p:cNvPr id="135196" name="Line 17"/>
            <p:cNvSpPr/>
            <p:nvPr/>
          </p:nvSpPr>
          <p:spPr>
            <a:xfrm>
              <a:off x="488" y="2342"/>
              <a:ext cx="2160" cy="0"/>
            </a:xfrm>
            <a:prstGeom prst="line">
              <a:avLst/>
            </a:prstGeom>
            <a:ln w="28575" cap="sq" cmpd="sng">
              <a:solidFill>
                <a:schemeClr val="tx1"/>
              </a:solidFill>
              <a:prstDash val="solid"/>
              <a:miter/>
              <a:headEnd type="none" w="med" len="med"/>
              <a:tailEnd type="none" w="med" len="med"/>
            </a:ln>
          </p:spPr>
        </p:sp>
        <p:sp>
          <p:nvSpPr>
            <p:cNvPr id="135197" name="Line 18"/>
            <p:cNvSpPr/>
            <p:nvPr/>
          </p:nvSpPr>
          <p:spPr>
            <a:xfrm>
              <a:off x="488" y="2016"/>
              <a:ext cx="0" cy="326"/>
            </a:xfrm>
            <a:prstGeom prst="line">
              <a:avLst/>
            </a:prstGeom>
            <a:ln w="28575" cap="sq" cmpd="sng">
              <a:solidFill>
                <a:schemeClr val="tx1"/>
              </a:solidFill>
              <a:prstDash val="solid"/>
              <a:miter/>
              <a:headEnd type="none" w="med" len="med"/>
              <a:tailEnd type="none" w="med" len="med"/>
            </a:ln>
          </p:spPr>
        </p:sp>
        <p:sp>
          <p:nvSpPr>
            <p:cNvPr id="135198" name="Line 19"/>
            <p:cNvSpPr/>
            <p:nvPr/>
          </p:nvSpPr>
          <p:spPr>
            <a:xfrm>
              <a:off x="1568" y="2016"/>
              <a:ext cx="0" cy="326"/>
            </a:xfrm>
            <a:prstGeom prst="line">
              <a:avLst/>
            </a:prstGeom>
            <a:ln w="12700" cap="flat" cmpd="sng">
              <a:solidFill>
                <a:schemeClr val="tx1"/>
              </a:solidFill>
              <a:prstDash val="solid"/>
              <a:miter/>
              <a:headEnd type="none" w="med" len="med"/>
              <a:tailEnd type="none" w="med" len="med"/>
            </a:ln>
          </p:spPr>
        </p:sp>
        <p:sp>
          <p:nvSpPr>
            <p:cNvPr id="135199" name="Line 20"/>
            <p:cNvSpPr/>
            <p:nvPr/>
          </p:nvSpPr>
          <p:spPr>
            <a:xfrm>
              <a:off x="2648" y="2016"/>
              <a:ext cx="0" cy="326"/>
            </a:xfrm>
            <a:prstGeom prst="line">
              <a:avLst/>
            </a:prstGeom>
            <a:ln w="28575" cap="sq" cmpd="sng">
              <a:solidFill>
                <a:schemeClr val="tx1"/>
              </a:solidFill>
              <a:prstDash val="solid"/>
              <a:miter/>
              <a:headEnd type="none" w="med" len="med"/>
              <a:tailEnd type="none" w="med" len="med"/>
            </a:ln>
          </p:spPr>
        </p:sp>
        <p:sp>
          <p:nvSpPr>
            <p:cNvPr id="135200" name="Rectangle 21"/>
            <p:cNvSpPr/>
            <p:nvPr/>
          </p:nvSpPr>
          <p:spPr>
            <a:xfrm>
              <a:off x="4496" y="2016"/>
              <a:ext cx="73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年级</a:t>
              </a:r>
              <a:endParaRPr lang="zh-CN" altLang="en-US" sz="2800" dirty="0">
                <a:solidFill>
                  <a:schemeClr val="tx1"/>
                </a:solidFill>
                <a:ea typeface="华文新魏" panose="02010800040101010101" pitchFamily="2" charset="-122"/>
              </a:endParaRPr>
            </a:p>
          </p:txBody>
        </p:sp>
        <p:sp>
          <p:nvSpPr>
            <p:cNvPr id="135201" name="Rectangle 22"/>
            <p:cNvSpPr/>
            <p:nvPr/>
          </p:nvSpPr>
          <p:spPr>
            <a:xfrm>
              <a:off x="3760" y="2016"/>
              <a:ext cx="73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姓名</a:t>
              </a:r>
              <a:endParaRPr lang="zh-CN" altLang="en-US" sz="2800" dirty="0">
                <a:solidFill>
                  <a:schemeClr val="tx1"/>
                </a:solidFill>
                <a:ea typeface="华文新魏" panose="02010800040101010101" pitchFamily="2" charset="-122"/>
              </a:endParaRPr>
            </a:p>
          </p:txBody>
        </p:sp>
        <p:sp>
          <p:nvSpPr>
            <p:cNvPr id="135202" name="Rectangle 23"/>
            <p:cNvSpPr/>
            <p:nvPr/>
          </p:nvSpPr>
          <p:spPr>
            <a:xfrm>
              <a:off x="3024" y="2016"/>
              <a:ext cx="73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学号</a:t>
              </a:r>
              <a:endParaRPr lang="zh-CN" altLang="en-US" sz="2800" dirty="0">
                <a:solidFill>
                  <a:schemeClr val="tx1"/>
                </a:solidFill>
                <a:ea typeface="华文新魏" panose="02010800040101010101" pitchFamily="2" charset="-122"/>
              </a:endParaRPr>
            </a:p>
          </p:txBody>
        </p:sp>
        <p:sp>
          <p:nvSpPr>
            <p:cNvPr id="135203" name="Line 24"/>
            <p:cNvSpPr/>
            <p:nvPr/>
          </p:nvSpPr>
          <p:spPr>
            <a:xfrm>
              <a:off x="3024" y="2016"/>
              <a:ext cx="2208" cy="0"/>
            </a:xfrm>
            <a:prstGeom prst="line">
              <a:avLst/>
            </a:prstGeom>
            <a:ln w="28575" cap="sq" cmpd="sng">
              <a:solidFill>
                <a:schemeClr val="tx1"/>
              </a:solidFill>
              <a:prstDash val="solid"/>
              <a:miter/>
              <a:headEnd type="none" w="med" len="med"/>
              <a:tailEnd type="none" w="med" len="med"/>
            </a:ln>
          </p:spPr>
        </p:sp>
        <p:sp>
          <p:nvSpPr>
            <p:cNvPr id="135204" name="Line 25"/>
            <p:cNvSpPr/>
            <p:nvPr/>
          </p:nvSpPr>
          <p:spPr>
            <a:xfrm>
              <a:off x="3024" y="2342"/>
              <a:ext cx="2208" cy="0"/>
            </a:xfrm>
            <a:prstGeom prst="line">
              <a:avLst/>
            </a:prstGeom>
            <a:ln w="28575" cap="sq" cmpd="sng">
              <a:solidFill>
                <a:schemeClr val="tx1"/>
              </a:solidFill>
              <a:prstDash val="solid"/>
              <a:miter/>
              <a:headEnd type="none" w="med" len="med"/>
              <a:tailEnd type="none" w="med" len="med"/>
            </a:ln>
          </p:spPr>
        </p:sp>
        <p:sp>
          <p:nvSpPr>
            <p:cNvPr id="135205" name="Line 26"/>
            <p:cNvSpPr/>
            <p:nvPr/>
          </p:nvSpPr>
          <p:spPr>
            <a:xfrm>
              <a:off x="3024" y="2016"/>
              <a:ext cx="0" cy="326"/>
            </a:xfrm>
            <a:prstGeom prst="line">
              <a:avLst/>
            </a:prstGeom>
            <a:ln w="28575" cap="sq" cmpd="sng">
              <a:solidFill>
                <a:schemeClr val="tx1"/>
              </a:solidFill>
              <a:prstDash val="solid"/>
              <a:miter/>
              <a:headEnd type="none" w="med" len="med"/>
              <a:tailEnd type="none" w="med" len="med"/>
            </a:ln>
          </p:spPr>
        </p:sp>
        <p:sp>
          <p:nvSpPr>
            <p:cNvPr id="135206" name="Line 27"/>
            <p:cNvSpPr/>
            <p:nvPr/>
          </p:nvSpPr>
          <p:spPr>
            <a:xfrm>
              <a:off x="3760" y="2016"/>
              <a:ext cx="0" cy="326"/>
            </a:xfrm>
            <a:prstGeom prst="line">
              <a:avLst/>
            </a:prstGeom>
            <a:ln w="12700" cap="flat" cmpd="sng">
              <a:solidFill>
                <a:schemeClr val="tx1"/>
              </a:solidFill>
              <a:prstDash val="solid"/>
              <a:miter/>
              <a:headEnd type="none" w="med" len="med"/>
              <a:tailEnd type="none" w="med" len="med"/>
            </a:ln>
          </p:spPr>
        </p:sp>
        <p:sp>
          <p:nvSpPr>
            <p:cNvPr id="135207" name="Line 28"/>
            <p:cNvSpPr/>
            <p:nvPr/>
          </p:nvSpPr>
          <p:spPr>
            <a:xfrm>
              <a:off x="4496" y="2016"/>
              <a:ext cx="0" cy="326"/>
            </a:xfrm>
            <a:prstGeom prst="line">
              <a:avLst/>
            </a:prstGeom>
            <a:ln w="12700" cap="flat" cmpd="sng">
              <a:solidFill>
                <a:schemeClr val="tx1"/>
              </a:solidFill>
              <a:prstDash val="solid"/>
              <a:miter/>
              <a:headEnd type="none" w="med" len="med"/>
              <a:tailEnd type="none" w="med" len="med"/>
            </a:ln>
          </p:spPr>
        </p:sp>
        <p:sp>
          <p:nvSpPr>
            <p:cNvPr id="135208" name="Line 29"/>
            <p:cNvSpPr/>
            <p:nvPr/>
          </p:nvSpPr>
          <p:spPr>
            <a:xfrm>
              <a:off x="5232" y="2016"/>
              <a:ext cx="0" cy="326"/>
            </a:xfrm>
            <a:prstGeom prst="line">
              <a:avLst/>
            </a:prstGeom>
            <a:ln w="28575" cap="sq" cmpd="sng">
              <a:solidFill>
                <a:schemeClr val="tx1"/>
              </a:solidFill>
              <a:prstDash val="solid"/>
              <a:miter/>
              <a:headEnd type="none" w="med" len="med"/>
              <a:tailEnd type="none" w="med" len="med"/>
            </a:ln>
          </p:spPr>
        </p:sp>
        <p:sp>
          <p:nvSpPr>
            <p:cNvPr id="135209" name="Rectangle 30"/>
            <p:cNvSpPr/>
            <p:nvPr/>
          </p:nvSpPr>
          <p:spPr>
            <a:xfrm>
              <a:off x="1976" y="2842"/>
              <a:ext cx="81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职称</a:t>
              </a:r>
              <a:endParaRPr lang="zh-CN" altLang="en-US" sz="2800" dirty="0">
                <a:solidFill>
                  <a:schemeClr val="tx1"/>
                </a:solidFill>
                <a:ea typeface="华文新魏" panose="02010800040101010101" pitchFamily="2" charset="-122"/>
              </a:endParaRPr>
            </a:p>
          </p:txBody>
        </p:sp>
        <p:sp>
          <p:nvSpPr>
            <p:cNvPr id="135210" name="Rectangle 31"/>
            <p:cNvSpPr/>
            <p:nvPr/>
          </p:nvSpPr>
          <p:spPr>
            <a:xfrm>
              <a:off x="1160" y="2842"/>
              <a:ext cx="81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姓名</a:t>
              </a:r>
              <a:endParaRPr lang="zh-CN" altLang="en-US" sz="2800" dirty="0">
                <a:solidFill>
                  <a:schemeClr val="tx1"/>
                </a:solidFill>
                <a:ea typeface="华文新魏" panose="02010800040101010101" pitchFamily="2" charset="-122"/>
              </a:endParaRPr>
            </a:p>
          </p:txBody>
        </p:sp>
        <p:sp>
          <p:nvSpPr>
            <p:cNvPr id="135211" name="Rectangle 32"/>
            <p:cNvSpPr/>
            <p:nvPr/>
          </p:nvSpPr>
          <p:spPr>
            <a:xfrm>
              <a:off x="344" y="2842"/>
              <a:ext cx="816" cy="32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职工号</a:t>
              </a:r>
              <a:endParaRPr lang="zh-CN" altLang="en-US" sz="2800" dirty="0">
                <a:solidFill>
                  <a:schemeClr val="tx1"/>
                </a:solidFill>
                <a:ea typeface="华文新魏" panose="02010800040101010101" pitchFamily="2" charset="-122"/>
              </a:endParaRPr>
            </a:p>
          </p:txBody>
        </p:sp>
        <p:sp>
          <p:nvSpPr>
            <p:cNvPr id="135212" name="Line 33"/>
            <p:cNvSpPr/>
            <p:nvPr/>
          </p:nvSpPr>
          <p:spPr>
            <a:xfrm>
              <a:off x="344" y="2842"/>
              <a:ext cx="2448" cy="0"/>
            </a:xfrm>
            <a:prstGeom prst="line">
              <a:avLst/>
            </a:prstGeom>
            <a:ln w="28575" cap="sq" cmpd="sng">
              <a:solidFill>
                <a:schemeClr val="tx1"/>
              </a:solidFill>
              <a:prstDash val="solid"/>
              <a:miter/>
              <a:headEnd type="none" w="med" len="med"/>
              <a:tailEnd type="none" w="med" len="med"/>
            </a:ln>
          </p:spPr>
        </p:sp>
        <p:sp>
          <p:nvSpPr>
            <p:cNvPr id="135213" name="Line 34"/>
            <p:cNvSpPr/>
            <p:nvPr/>
          </p:nvSpPr>
          <p:spPr>
            <a:xfrm>
              <a:off x="344" y="3168"/>
              <a:ext cx="2448" cy="0"/>
            </a:xfrm>
            <a:prstGeom prst="line">
              <a:avLst/>
            </a:prstGeom>
            <a:ln w="28575" cap="sq" cmpd="sng">
              <a:solidFill>
                <a:schemeClr val="tx1"/>
              </a:solidFill>
              <a:prstDash val="solid"/>
              <a:miter/>
              <a:headEnd type="none" w="med" len="med"/>
              <a:tailEnd type="none" w="med" len="med"/>
            </a:ln>
          </p:spPr>
        </p:sp>
        <p:sp>
          <p:nvSpPr>
            <p:cNvPr id="135214" name="Line 35"/>
            <p:cNvSpPr/>
            <p:nvPr/>
          </p:nvSpPr>
          <p:spPr>
            <a:xfrm>
              <a:off x="344" y="2842"/>
              <a:ext cx="0" cy="326"/>
            </a:xfrm>
            <a:prstGeom prst="line">
              <a:avLst/>
            </a:prstGeom>
            <a:ln w="28575" cap="sq" cmpd="sng">
              <a:solidFill>
                <a:schemeClr val="tx1"/>
              </a:solidFill>
              <a:prstDash val="solid"/>
              <a:miter/>
              <a:headEnd type="none" w="med" len="med"/>
              <a:tailEnd type="none" w="med" len="med"/>
            </a:ln>
          </p:spPr>
        </p:sp>
        <p:sp>
          <p:nvSpPr>
            <p:cNvPr id="135215" name="Line 36"/>
            <p:cNvSpPr/>
            <p:nvPr/>
          </p:nvSpPr>
          <p:spPr>
            <a:xfrm>
              <a:off x="1160" y="2842"/>
              <a:ext cx="0" cy="326"/>
            </a:xfrm>
            <a:prstGeom prst="line">
              <a:avLst/>
            </a:prstGeom>
            <a:ln w="12700" cap="flat" cmpd="sng">
              <a:solidFill>
                <a:schemeClr val="tx1"/>
              </a:solidFill>
              <a:prstDash val="solid"/>
              <a:miter/>
              <a:headEnd type="none" w="med" len="med"/>
              <a:tailEnd type="none" w="med" len="med"/>
            </a:ln>
          </p:spPr>
        </p:sp>
        <p:sp>
          <p:nvSpPr>
            <p:cNvPr id="135216" name="Line 37"/>
            <p:cNvSpPr/>
            <p:nvPr/>
          </p:nvSpPr>
          <p:spPr>
            <a:xfrm>
              <a:off x="1976" y="2842"/>
              <a:ext cx="0" cy="326"/>
            </a:xfrm>
            <a:prstGeom prst="line">
              <a:avLst/>
            </a:prstGeom>
            <a:ln w="12700" cap="flat" cmpd="sng">
              <a:solidFill>
                <a:schemeClr val="tx1"/>
              </a:solidFill>
              <a:prstDash val="solid"/>
              <a:miter/>
              <a:headEnd type="none" w="med" len="med"/>
              <a:tailEnd type="none" w="med" len="med"/>
            </a:ln>
          </p:spPr>
        </p:sp>
        <p:sp>
          <p:nvSpPr>
            <p:cNvPr id="135217" name="Line 38"/>
            <p:cNvSpPr/>
            <p:nvPr/>
          </p:nvSpPr>
          <p:spPr>
            <a:xfrm>
              <a:off x="2792" y="2842"/>
              <a:ext cx="0" cy="326"/>
            </a:xfrm>
            <a:prstGeom prst="line">
              <a:avLst/>
            </a:prstGeom>
            <a:ln w="28575" cap="sq" cmpd="sng">
              <a:solidFill>
                <a:schemeClr val="tx1"/>
              </a:solidFill>
              <a:prstDash val="solid"/>
              <a:miter/>
              <a:headEnd type="none" w="med" len="med"/>
              <a:tailEnd type="none" w="med" len="med"/>
            </a:ln>
          </p:spPr>
        </p:sp>
        <p:sp>
          <p:nvSpPr>
            <p:cNvPr id="135218" name="Line 39"/>
            <p:cNvSpPr/>
            <p:nvPr/>
          </p:nvSpPr>
          <p:spPr>
            <a:xfrm>
              <a:off x="1568" y="1680"/>
              <a:ext cx="0" cy="336"/>
            </a:xfrm>
            <a:prstGeom prst="line">
              <a:avLst/>
            </a:prstGeom>
            <a:ln w="28575" cap="flat" cmpd="sng">
              <a:solidFill>
                <a:schemeClr val="tx1"/>
              </a:solidFill>
              <a:prstDash val="solid"/>
              <a:miter/>
              <a:headEnd type="none" w="med" len="med"/>
              <a:tailEnd type="triangle" w="med" len="med"/>
            </a:ln>
          </p:spPr>
        </p:sp>
        <p:sp>
          <p:nvSpPr>
            <p:cNvPr id="135219" name="Line 40"/>
            <p:cNvSpPr/>
            <p:nvPr/>
          </p:nvSpPr>
          <p:spPr>
            <a:xfrm>
              <a:off x="4120" y="1680"/>
              <a:ext cx="0" cy="336"/>
            </a:xfrm>
            <a:prstGeom prst="line">
              <a:avLst/>
            </a:prstGeom>
            <a:ln w="28575" cap="flat" cmpd="sng">
              <a:solidFill>
                <a:schemeClr val="tx1"/>
              </a:solidFill>
              <a:prstDash val="solid"/>
              <a:miter/>
              <a:headEnd type="none" w="med" len="med"/>
              <a:tailEnd type="triangle" w="med" len="med"/>
            </a:ln>
          </p:spPr>
        </p:sp>
        <p:sp>
          <p:nvSpPr>
            <p:cNvPr id="135220" name="Line 41"/>
            <p:cNvSpPr/>
            <p:nvPr/>
          </p:nvSpPr>
          <p:spPr>
            <a:xfrm>
              <a:off x="1576" y="1680"/>
              <a:ext cx="2544" cy="0"/>
            </a:xfrm>
            <a:prstGeom prst="line">
              <a:avLst/>
            </a:prstGeom>
            <a:ln w="28575" cap="flat" cmpd="sng">
              <a:solidFill>
                <a:schemeClr val="tx1"/>
              </a:solidFill>
              <a:prstDash val="solid"/>
              <a:miter/>
              <a:headEnd type="none" w="med" len="med"/>
              <a:tailEnd type="none" w="med" len="med"/>
            </a:ln>
          </p:spPr>
        </p:sp>
        <p:sp>
          <p:nvSpPr>
            <p:cNvPr id="135221" name="Line 42"/>
            <p:cNvSpPr/>
            <p:nvPr/>
          </p:nvSpPr>
          <p:spPr>
            <a:xfrm flipH="1">
              <a:off x="1568" y="2352"/>
              <a:ext cx="0" cy="480"/>
            </a:xfrm>
            <a:prstGeom prst="line">
              <a:avLst/>
            </a:prstGeom>
            <a:ln w="28575" cap="flat" cmpd="sng">
              <a:solidFill>
                <a:schemeClr val="tx1"/>
              </a:solidFill>
              <a:prstDash val="solid"/>
              <a:miter/>
              <a:headEnd type="none" w="med" len="med"/>
              <a:tailEnd type="triangle" w="med" len="med"/>
            </a:ln>
          </p:spPr>
        </p:sp>
        <p:sp>
          <p:nvSpPr>
            <p:cNvPr id="135222" name="Line 43"/>
            <p:cNvSpPr/>
            <p:nvPr/>
          </p:nvSpPr>
          <p:spPr>
            <a:xfrm>
              <a:off x="2880" y="1440"/>
              <a:ext cx="0" cy="240"/>
            </a:xfrm>
            <a:prstGeom prst="line">
              <a:avLst/>
            </a:prstGeom>
            <a:ln w="28575" cap="flat" cmpd="sng">
              <a:solidFill>
                <a:schemeClr val="tx1"/>
              </a:solidFill>
              <a:prstDash val="solid"/>
              <a:miter/>
              <a:headEnd type="none" w="med" len="med"/>
              <a:tailEnd type="none" w="med" len="med"/>
            </a:ln>
          </p:spPr>
        </p:sp>
      </p:grpSp>
      <p:grpSp>
        <p:nvGrpSpPr>
          <p:cNvPr id="135174" name="Group 44"/>
          <p:cNvGrpSpPr/>
          <p:nvPr/>
        </p:nvGrpSpPr>
        <p:grpSpPr>
          <a:xfrm>
            <a:off x="660400" y="1779588"/>
            <a:ext cx="7010400" cy="1992312"/>
            <a:chOff x="816" y="809"/>
            <a:chExt cx="4416" cy="1255"/>
          </a:xfrm>
        </p:grpSpPr>
        <p:sp>
          <p:nvSpPr>
            <p:cNvPr id="135175" name="Rectangle 45"/>
            <p:cNvSpPr/>
            <p:nvPr/>
          </p:nvSpPr>
          <p:spPr>
            <a:xfrm>
              <a:off x="2403" y="809"/>
              <a:ext cx="944" cy="296"/>
            </a:xfrm>
            <a:prstGeom prst="rect">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28575" cap="flat" cmpd="sng">
              <a:solidFill>
                <a:srgbClr val="000000"/>
              </a:solidFill>
              <a:prstDash val="solid"/>
              <a:miter/>
              <a:headEnd type="none" w="med" len="med"/>
              <a:tailEnd type="none" w="med" len="med"/>
            </a:ln>
          </p:spPr>
          <p:txBody>
            <a:bodyPr lIns="0" tIns="0" rIns="0" bIns="0"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b="0" dirty="0">
                  <a:solidFill>
                    <a:srgbClr val="000000"/>
                  </a:solidFill>
                  <a:latin typeface="隶书" panose="02010509060101010101" charset="-122"/>
                  <a:ea typeface="隶书" panose="02010509060101010101" charset="-122"/>
                </a:rPr>
                <a:t>系</a:t>
              </a:r>
              <a:endParaRPr lang="zh-CN" altLang="en-US" sz="2800" b="0" dirty="0">
                <a:solidFill>
                  <a:srgbClr val="000000"/>
                </a:solidFill>
                <a:latin typeface="隶书" panose="02010509060101010101" charset="-122"/>
                <a:ea typeface="隶书" panose="02010509060101010101" charset="-122"/>
              </a:endParaRPr>
            </a:p>
          </p:txBody>
        </p:sp>
        <p:sp>
          <p:nvSpPr>
            <p:cNvPr id="135176" name="Rectangle 46"/>
            <p:cNvSpPr/>
            <p:nvPr/>
          </p:nvSpPr>
          <p:spPr>
            <a:xfrm>
              <a:off x="1461" y="1289"/>
              <a:ext cx="944" cy="296"/>
            </a:xfrm>
            <a:prstGeom prst="rect">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28575" cap="flat" cmpd="sng">
              <a:solidFill>
                <a:srgbClr val="000000"/>
              </a:solidFill>
              <a:prstDash val="solid"/>
              <a:miter/>
              <a:headEnd type="none" w="med" len="med"/>
              <a:tailEnd type="none" w="med" len="med"/>
            </a:ln>
          </p:spPr>
          <p:txBody>
            <a:bodyPr lIns="0" tIns="0" rIns="0" bIns="0"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b="0" dirty="0">
                  <a:solidFill>
                    <a:srgbClr val="000000"/>
                  </a:solidFill>
                  <a:latin typeface="隶书" panose="02010509060101010101" charset="-122"/>
                  <a:ea typeface="隶书" panose="02010509060101010101" charset="-122"/>
                </a:rPr>
                <a:t>教研室</a:t>
              </a:r>
              <a:endParaRPr lang="zh-CN" altLang="en-US" sz="2800" b="0" dirty="0">
                <a:solidFill>
                  <a:srgbClr val="000000"/>
                </a:solidFill>
                <a:latin typeface="隶书" panose="02010509060101010101" charset="-122"/>
                <a:ea typeface="隶书" panose="02010509060101010101" charset="-122"/>
              </a:endParaRPr>
            </a:p>
          </p:txBody>
        </p:sp>
        <p:sp>
          <p:nvSpPr>
            <p:cNvPr id="135177" name="Rectangle 47"/>
            <p:cNvSpPr/>
            <p:nvPr/>
          </p:nvSpPr>
          <p:spPr>
            <a:xfrm>
              <a:off x="3345" y="1289"/>
              <a:ext cx="944" cy="296"/>
            </a:xfrm>
            <a:prstGeom prst="rect">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28575" cap="flat" cmpd="sng">
              <a:solidFill>
                <a:srgbClr val="000000"/>
              </a:solidFill>
              <a:prstDash val="solid"/>
              <a:miter/>
              <a:headEnd type="none" w="med" len="med"/>
              <a:tailEnd type="none" w="med" len="med"/>
            </a:ln>
          </p:spPr>
          <p:txBody>
            <a:bodyPr lIns="0" tIns="0" rIns="0" bIns="0"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b="0" dirty="0">
                  <a:solidFill>
                    <a:srgbClr val="000000"/>
                  </a:solidFill>
                  <a:latin typeface="隶书" panose="02010509060101010101" charset="-122"/>
                  <a:ea typeface="隶书" panose="02010509060101010101" charset="-122"/>
                </a:rPr>
                <a:t>学生</a:t>
              </a:r>
              <a:endParaRPr lang="zh-CN" altLang="en-US" sz="2800" b="0" dirty="0">
                <a:solidFill>
                  <a:srgbClr val="000000"/>
                </a:solidFill>
                <a:latin typeface="隶书" panose="02010509060101010101" charset="-122"/>
                <a:ea typeface="隶书" panose="02010509060101010101" charset="-122"/>
              </a:endParaRPr>
            </a:p>
          </p:txBody>
        </p:sp>
        <p:sp>
          <p:nvSpPr>
            <p:cNvPr id="135178" name="Rectangle 48"/>
            <p:cNvSpPr/>
            <p:nvPr/>
          </p:nvSpPr>
          <p:spPr>
            <a:xfrm>
              <a:off x="1440" y="1769"/>
              <a:ext cx="944" cy="295"/>
            </a:xfrm>
            <a:prstGeom prst="rect">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28575" cap="flat" cmpd="sng">
              <a:solidFill>
                <a:srgbClr val="000000"/>
              </a:solidFill>
              <a:prstDash val="solid"/>
              <a:miter/>
              <a:headEnd type="none" w="med" len="med"/>
              <a:tailEnd type="none" w="med" len="med"/>
            </a:ln>
          </p:spPr>
          <p:txBody>
            <a:bodyPr lIns="0" tIns="0" rIns="0" bIns="0"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b="0" dirty="0">
                  <a:solidFill>
                    <a:srgbClr val="000000"/>
                  </a:solidFill>
                  <a:latin typeface="隶书" panose="02010509060101010101" charset="-122"/>
                  <a:ea typeface="隶书" panose="02010509060101010101" charset="-122"/>
                </a:rPr>
                <a:t>教员</a:t>
              </a:r>
              <a:endParaRPr lang="zh-CN" altLang="en-US" sz="2800" b="0" dirty="0">
                <a:solidFill>
                  <a:srgbClr val="000000"/>
                </a:solidFill>
                <a:latin typeface="隶书" panose="02010509060101010101" charset="-122"/>
                <a:ea typeface="隶书" panose="02010509060101010101" charset="-122"/>
              </a:endParaRPr>
            </a:p>
          </p:txBody>
        </p:sp>
        <p:sp>
          <p:nvSpPr>
            <p:cNvPr id="135179" name="Line 49"/>
            <p:cNvSpPr/>
            <p:nvPr/>
          </p:nvSpPr>
          <p:spPr>
            <a:xfrm flipH="1">
              <a:off x="1968" y="1103"/>
              <a:ext cx="592" cy="186"/>
            </a:xfrm>
            <a:prstGeom prst="line">
              <a:avLst/>
            </a:prstGeom>
            <a:ln w="28575" cap="flat" cmpd="sng">
              <a:solidFill>
                <a:srgbClr val="000000"/>
              </a:solidFill>
              <a:prstDash val="solid"/>
              <a:headEnd type="none" w="med" len="med"/>
              <a:tailEnd type="none" w="med" len="med"/>
            </a:ln>
          </p:spPr>
        </p:sp>
        <p:sp>
          <p:nvSpPr>
            <p:cNvPr id="135180" name="Line 50"/>
            <p:cNvSpPr/>
            <p:nvPr/>
          </p:nvSpPr>
          <p:spPr>
            <a:xfrm>
              <a:off x="3188" y="1103"/>
              <a:ext cx="604" cy="186"/>
            </a:xfrm>
            <a:prstGeom prst="line">
              <a:avLst/>
            </a:prstGeom>
            <a:ln w="28575" cap="flat" cmpd="sng">
              <a:solidFill>
                <a:srgbClr val="000000"/>
              </a:solidFill>
              <a:prstDash val="solid"/>
              <a:headEnd type="none" w="med" len="med"/>
              <a:tailEnd type="none" w="med" len="med"/>
            </a:ln>
          </p:spPr>
        </p:sp>
        <p:sp>
          <p:nvSpPr>
            <p:cNvPr id="135181" name="Line 51"/>
            <p:cNvSpPr/>
            <p:nvPr/>
          </p:nvSpPr>
          <p:spPr>
            <a:xfrm>
              <a:off x="1919" y="1577"/>
              <a:ext cx="1" cy="199"/>
            </a:xfrm>
            <a:prstGeom prst="line">
              <a:avLst/>
            </a:prstGeom>
            <a:ln w="28575" cap="flat" cmpd="sng">
              <a:solidFill>
                <a:srgbClr val="000000"/>
              </a:solidFill>
              <a:prstDash val="solid"/>
              <a:headEnd type="none" w="med" len="med"/>
              <a:tailEnd type="none" w="med" len="med"/>
            </a:ln>
          </p:spPr>
        </p:sp>
        <p:sp>
          <p:nvSpPr>
            <p:cNvPr id="135182" name="AutoShape 52"/>
            <p:cNvSpPr/>
            <p:nvPr/>
          </p:nvSpPr>
          <p:spPr>
            <a:xfrm>
              <a:off x="4128" y="861"/>
              <a:ext cx="1104" cy="284"/>
            </a:xfrm>
            <a:prstGeom prst="wedgeRoundRectCallout">
              <a:avLst>
                <a:gd name="adj1" fmla="val -107245"/>
                <a:gd name="adj2" fmla="val 61972"/>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lIns="0" tIns="0" rIns="0"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en-US" altLang="zh-CN" sz="2800" b="0" dirty="0">
                  <a:solidFill>
                    <a:schemeClr val="tx1"/>
                  </a:solidFill>
                  <a:ea typeface="华文新魏" panose="02010800040101010101" pitchFamily="2" charset="-122"/>
                </a:rPr>
                <a:t>1 : N</a:t>
              </a:r>
              <a:r>
                <a:rPr lang="zh-CN" altLang="en-US" sz="2800" b="0" dirty="0">
                  <a:solidFill>
                    <a:schemeClr val="tx1"/>
                  </a:solidFill>
                  <a:ea typeface="华文新魏" panose="02010800040101010101" pitchFamily="2" charset="-122"/>
                </a:rPr>
                <a:t>联系</a:t>
              </a:r>
              <a:endParaRPr lang="zh-CN" altLang="en-US" sz="2800" b="0" dirty="0">
                <a:solidFill>
                  <a:schemeClr val="tx1"/>
                </a:solidFill>
                <a:ea typeface="华文新魏" panose="02010800040101010101" pitchFamily="2" charset="-122"/>
              </a:endParaRPr>
            </a:p>
          </p:txBody>
        </p:sp>
        <p:sp>
          <p:nvSpPr>
            <p:cNvPr id="135183" name="AutoShape 53"/>
            <p:cNvSpPr/>
            <p:nvPr/>
          </p:nvSpPr>
          <p:spPr>
            <a:xfrm>
              <a:off x="816" y="809"/>
              <a:ext cx="864" cy="284"/>
            </a:xfrm>
            <a:prstGeom prst="wedgeRoundRectCallout">
              <a:avLst>
                <a:gd name="adj1" fmla="val 130556"/>
                <a:gd name="adj2" fmla="val 7394"/>
                <a:gd name="adj3" fmla="val 16667"/>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lIns="0" tIns="0" rIns="0" anchor="ctr" anchorCtr="1"/>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800" b="0" dirty="0">
                  <a:solidFill>
                    <a:schemeClr val="tx1"/>
                  </a:solidFill>
                  <a:ea typeface="华文新魏" panose="02010800040101010101" pitchFamily="2" charset="-122"/>
                </a:rPr>
                <a:t>实体型</a:t>
              </a:r>
              <a:endParaRPr lang="zh-CN" altLang="en-US" sz="2800" b="0" dirty="0">
                <a:solidFill>
                  <a:schemeClr val="tx1"/>
                </a:solidFill>
                <a:ea typeface="华文新魏" panose="02010800040101010101" pitchFamily="2" charset="-122"/>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6195"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6196" name="Rectangle 3"/>
          <p:cNvSpPr>
            <a:spLocks noGrp="1"/>
          </p:cNvSpPr>
          <p:nvPr>
            <p:ph idx="1"/>
          </p:nvPr>
        </p:nvSpPr>
        <p:spPr>
          <a:xfrm>
            <a:off x="533400" y="914400"/>
            <a:ext cx="6172200" cy="685800"/>
          </a:xfrm>
          <a:ln/>
        </p:spPr>
        <p:txBody>
          <a:bodyPr vert="horz" wrap="square" lIns="91440" tIns="45720" rIns="91440" bIns="45720" anchor="t" anchorCtr="0"/>
          <a:p>
            <a:pPr algn="just" eaLnBrk="1" hangingPunct="1">
              <a:lnSpc>
                <a:spcPct val="120000"/>
              </a:lnSpc>
              <a:buNone/>
            </a:pPr>
            <a:r>
              <a:rPr lang="zh-CN" altLang="en-US" dirty="0"/>
              <a:t>层次数据模型的数据结构</a:t>
            </a:r>
            <a:r>
              <a:rPr lang="en-US" altLang="zh-CN" dirty="0"/>
              <a:t>(</a:t>
            </a:r>
            <a:r>
              <a:rPr lang="zh-CN" altLang="en-US" dirty="0"/>
              <a:t>续</a:t>
            </a:r>
            <a:r>
              <a:rPr lang="en-US" altLang="zh-CN" dirty="0"/>
              <a:t>)</a:t>
            </a:r>
            <a:r>
              <a:rPr lang="en-US" altLang="zh-CN" dirty="0">
                <a:solidFill>
                  <a:schemeClr val="tx1"/>
                </a:solidFill>
              </a:rPr>
              <a:t> </a:t>
            </a:r>
            <a:endParaRPr lang="en-US" altLang="zh-CN" dirty="0">
              <a:solidFill>
                <a:schemeClr val="tx1"/>
              </a:solidFill>
            </a:endParaRPr>
          </a:p>
        </p:txBody>
      </p:sp>
      <p:grpSp>
        <p:nvGrpSpPr>
          <p:cNvPr id="136197" name="Group 4"/>
          <p:cNvGrpSpPr/>
          <p:nvPr/>
        </p:nvGrpSpPr>
        <p:grpSpPr>
          <a:xfrm>
            <a:off x="508000" y="1879600"/>
            <a:ext cx="8280400" cy="4216400"/>
            <a:chOff x="432" y="1344"/>
            <a:chExt cx="5216" cy="2656"/>
          </a:xfrm>
        </p:grpSpPr>
        <p:grpSp>
          <p:nvGrpSpPr>
            <p:cNvPr id="136198" name="Group 5"/>
            <p:cNvGrpSpPr/>
            <p:nvPr/>
          </p:nvGrpSpPr>
          <p:grpSpPr>
            <a:xfrm>
              <a:off x="1488" y="1344"/>
              <a:ext cx="2736" cy="296"/>
              <a:chOff x="1776" y="1344"/>
              <a:chExt cx="2208" cy="296"/>
            </a:xfrm>
          </p:grpSpPr>
          <p:sp>
            <p:nvSpPr>
              <p:cNvPr id="136300" name="Rectangle 6"/>
              <p:cNvSpPr/>
              <p:nvPr/>
            </p:nvSpPr>
            <p:spPr>
              <a:xfrm>
                <a:off x="3248" y="1344"/>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R1101</a:t>
                </a:r>
                <a:endParaRPr lang="en-US" altLang="zh-CN" sz="2800" dirty="0">
                  <a:solidFill>
                    <a:schemeClr val="tx1"/>
                  </a:solidFill>
                  <a:ea typeface="华文新魏" panose="02010800040101010101" pitchFamily="2" charset="-122"/>
                </a:endParaRPr>
              </a:p>
            </p:txBody>
          </p:sp>
          <p:sp>
            <p:nvSpPr>
              <p:cNvPr id="136301" name="Rectangle 7"/>
              <p:cNvSpPr/>
              <p:nvPr/>
            </p:nvSpPr>
            <p:spPr>
              <a:xfrm>
                <a:off x="2512" y="1344"/>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计算机</a:t>
                </a:r>
                <a:endParaRPr lang="zh-CN" altLang="en-US" sz="2800" dirty="0">
                  <a:solidFill>
                    <a:schemeClr val="tx1"/>
                  </a:solidFill>
                  <a:ea typeface="华文新魏" panose="02010800040101010101" pitchFamily="2" charset="-122"/>
                </a:endParaRPr>
              </a:p>
            </p:txBody>
          </p:sp>
          <p:sp>
            <p:nvSpPr>
              <p:cNvPr id="136302" name="Rectangle 8"/>
              <p:cNvSpPr/>
              <p:nvPr/>
            </p:nvSpPr>
            <p:spPr>
              <a:xfrm>
                <a:off x="1776" y="1344"/>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D02</a:t>
                </a:r>
                <a:endParaRPr lang="en-US" altLang="zh-CN" sz="2800" dirty="0">
                  <a:solidFill>
                    <a:schemeClr val="tx1"/>
                  </a:solidFill>
                  <a:ea typeface="华文新魏" panose="02010800040101010101" pitchFamily="2" charset="-122"/>
                </a:endParaRPr>
              </a:p>
            </p:txBody>
          </p:sp>
          <p:sp>
            <p:nvSpPr>
              <p:cNvPr id="136303" name="Line 9"/>
              <p:cNvSpPr/>
              <p:nvPr/>
            </p:nvSpPr>
            <p:spPr>
              <a:xfrm>
                <a:off x="1776" y="1344"/>
                <a:ext cx="2208" cy="0"/>
              </a:xfrm>
              <a:prstGeom prst="line">
                <a:avLst/>
              </a:prstGeom>
              <a:ln w="28575" cap="sq" cmpd="sng">
                <a:solidFill>
                  <a:schemeClr val="tx1"/>
                </a:solidFill>
                <a:prstDash val="solid"/>
                <a:miter/>
                <a:headEnd type="none" w="med" len="med"/>
                <a:tailEnd type="none" w="med" len="med"/>
              </a:ln>
            </p:spPr>
          </p:sp>
          <p:sp>
            <p:nvSpPr>
              <p:cNvPr id="136304" name="Line 10"/>
              <p:cNvSpPr/>
              <p:nvPr/>
            </p:nvSpPr>
            <p:spPr>
              <a:xfrm>
                <a:off x="1776" y="1640"/>
                <a:ext cx="2208" cy="0"/>
              </a:xfrm>
              <a:prstGeom prst="line">
                <a:avLst/>
              </a:prstGeom>
              <a:ln w="28575" cap="sq" cmpd="sng">
                <a:solidFill>
                  <a:schemeClr val="tx1"/>
                </a:solidFill>
                <a:prstDash val="solid"/>
                <a:miter/>
                <a:headEnd type="none" w="med" len="med"/>
                <a:tailEnd type="none" w="med" len="med"/>
              </a:ln>
            </p:spPr>
          </p:sp>
          <p:sp>
            <p:nvSpPr>
              <p:cNvPr id="136305" name="Line 11"/>
              <p:cNvSpPr/>
              <p:nvPr/>
            </p:nvSpPr>
            <p:spPr>
              <a:xfrm>
                <a:off x="1776" y="1344"/>
                <a:ext cx="0" cy="296"/>
              </a:xfrm>
              <a:prstGeom prst="line">
                <a:avLst/>
              </a:prstGeom>
              <a:ln w="28575" cap="sq" cmpd="sng">
                <a:solidFill>
                  <a:schemeClr val="tx1"/>
                </a:solidFill>
                <a:prstDash val="solid"/>
                <a:miter/>
                <a:headEnd type="none" w="med" len="med"/>
                <a:tailEnd type="none" w="med" len="med"/>
              </a:ln>
            </p:spPr>
          </p:sp>
          <p:sp>
            <p:nvSpPr>
              <p:cNvPr id="136306" name="Line 12"/>
              <p:cNvSpPr/>
              <p:nvPr/>
            </p:nvSpPr>
            <p:spPr>
              <a:xfrm>
                <a:off x="2512" y="1344"/>
                <a:ext cx="0" cy="296"/>
              </a:xfrm>
              <a:prstGeom prst="line">
                <a:avLst/>
              </a:prstGeom>
              <a:ln w="12700" cap="flat" cmpd="sng">
                <a:solidFill>
                  <a:schemeClr val="tx1"/>
                </a:solidFill>
                <a:prstDash val="solid"/>
                <a:miter/>
                <a:headEnd type="none" w="med" len="med"/>
                <a:tailEnd type="none" w="med" len="med"/>
              </a:ln>
            </p:spPr>
          </p:sp>
          <p:sp>
            <p:nvSpPr>
              <p:cNvPr id="136307" name="Line 13"/>
              <p:cNvSpPr/>
              <p:nvPr/>
            </p:nvSpPr>
            <p:spPr>
              <a:xfrm>
                <a:off x="3248" y="1344"/>
                <a:ext cx="0" cy="296"/>
              </a:xfrm>
              <a:prstGeom prst="line">
                <a:avLst/>
              </a:prstGeom>
              <a:ln w="12700" cap="flat" cmpd="sng">
                <a:solidFill>
                  <a:schemeClr val="tx1"/>
                </a:solidFill>
                <a:prstDash val="solid"/>
                <a:miter/>
                <a:headEnd type="none" w="med" len="med"/>
                <a:tailEnd type="none" w="med" len="med"/>
              </a:ln>
            </p:spPr>
          </p:sp>
          <p:sp>
            <p:nvSpPr>
              <p:cNvPr id="136308" name="Line 14"/>
              <p:cNvSpPr/>
              <p:nvPr/>
            </p:nvSpPr>
            <p:spPr>
              <a:xfrm>
                <a:off x="3984" y="1344"/>
                <a:ext cx="0" cy="296"/>
              </a:xfrm>
              <a:prstGeom prst="line">
                <a:avLst/>
              </a:prstGeom>
              <a:ln w="28575" cap="sq" cmpd="sng">
                <a:solidFill>
                  <a:schemeClr val="tx1"/>
                </a:solidFill>
                <a:prstDash val="solid"/>
                <a:miter/>
                <a:headEnd type="none" w="med" len="med"/>
                <a:tailEnd type="none" w="med" len="med"/>
              </a:ln>
            </p:spPr>
          </p:sp>
        </p:grpSp>
        <p:grpSp>
          <p:nvGrpSpPr>
            <p:cNvPr id="136199" name="Group 15"/>
            <p:cNvGrpSpPr/>
            <p:nvPr/>
          </p:nvGrpSpPr>
          <p:grpSpPr>
            <a:xfrm>
              <a:off x="488" y="2171"/>
              <a:ext cx="2160" cy="309"/>
              <a:chOff x="488" y="2171"/>
              <a:chExt cx="2160" cy="309"/>
            </a:xfrm>
          </p:grpSpPr>
          <p:sp>
            <p:nvSpPr>
              <p:cNvPr id="136293" name="Rectangle 16"/>
              <p:cNvSpPr/>
              <p:nvPr/>
            </p:nvSpPr>
            <p:spPr>
              <a:xfrm>
                <a:off x="1568" y="2171"/>
                <a:ext cx="1080"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数据库</a:t>
                </a:r>
                <a:endParaRPr lang="zh-CN" altLang="en-US" sz="2800" dirty="0">
                  <a:solidFill>
                    <a:schemeClr val="tx1"/>
                  </a:solidFill>
                  <a:ea typeface="华文新魏" panose="02010800040101010101" pitchFamily="2" charset="-122"/>
                </a:endParaRPr>
              </a:p>
            </p:txBody>
          </p:sp>
          <p:sp>
            <p:nvSpPr>
              <p:cNvPr id="136294" name="Rectangle 17"/>
              <p:cNvSpPr/>
              <p:nvPr/>
            </p:nvSpPr>
            <p:spPr>
              <a:xfrm>
                <a:off x="488" y="2171"/>
                <a:ext cx="1080"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R01</a:t>
                </a:r>
                <a:endParaRPr lang="en-US" altLang="zh-CN" sz="2800" dirty="0">
                  <a:solidFill>
                    <a:schemeClr val="tx1"/>
                  </a:solidFill>
                  <a:ea typeface="华文新魏" panose="02010800040101010101" pitchFamily="2" charset="-122"/>
                </a:endParaRPr>
              </a:p>
            </p:txBody>
          </p:sp>
          <p:sp>
            <p:nvSpPr>
              <p:cNvPr id="136295" name="Line 18"/>
              <p:cNvSpPr/>
              <p:nvPr/>
            </p:nvSpPr>
            <p:spPr>
              <a:xfrm>
                <a:off x="488" y="2171"/>
                <a:ext cx="2160" cy="0"/>
              </a:xfrm>
              <a:prstGeom prst="line">
                <a:avLst/>
              </a:prstGeom>
              <a:ln w="28575" cap="sq" cmpd="sng">
                <a:solidFill>
                  <a:schemeClr val="tx1"/>
                </a:solidFill>
                <a:prstDash val="solid"/>
                <a:miter/>
                <a:headEnd type="none" w="med" len="med"/>
                <a:tailEnd type="none" w="med" len="med"/>
              </a:ln>
            </p:spPr>
          </p:sp>
          <p:sp>
            <p:nvSpPr>
              <p:cNvPr id="136296" name="Line 19"/>
              <p:cNvSpPr/>
              <p:nvPr/>
            </p:nvSpPr>
            <p:spPr>
              <a:xfrm>
                <a:off x="488" y="2480"/>
                <a:ext cx="2160" cy="0"/>
              </a:xfrm>
              <a:prstGeom prst="line">
                <a:avLst/>
              </a:prstGeom>
              <a:ln w="28575" cap="sq" cmpd="sng">
                <a:solidFill>
                  <a:schemeClr val="tx1"/>
                </a:solidFill>
                <a:prstDash val="solid"/>
                <a:miter/>
                <a:headEnd type="none" w="med" len="med"/>
                <a:tailEnd type="none" w="med" len="med"/>
              </a:ln>
            </p:spPr>
          </p:sp>
          <p:sp>
            <p:nvSpPr>
              <p:cNvPr id="136297" name="Line 20"/>
              <p:cNvSpPr/>
              <p:nvPr/>
            </p:nvSpPr>
            <p:spPr>
              <a:xfrm>
                <a:off x="488" y="2171"/>
                <a:ext cx="0" cy="296"/>
              </a:xfrm>
              <a:prstGeom prst="line">
                <a:avLst/>
              </a:prstGeom>
              <a:ln w="28575" cap="sq" cmpd="sng">
                <a:solidFill>
                  <a:schemeClr val="tx1"/>
                </a:solidFill>
                <a:prstDash val="solid"/>
                <a:miter/>
                <a:headEnd type="none" w="med" len="med"/>
                <a:tailEnd type="none" w="med" len="med"/>
              </a:ln>
            </p:spPr>
          </p:sp>
          <p:sp>
            <p:nvSpPr>
              <p:cNvPr id="136298" name="Line 21"/>
              <p:cNvSpPr/>
              <p:nvPr/>
            </p:nvSpPr>
            <p:spPr>
              <a:xfrm>
                <a:off x="1568" y="2171"/>
                <a:ext cx="0" cy="296"/>
              </a:xfrm>
              <a:prstGeom prst="line">
                <a:avLst/>
              </a:prstGeom>
              <a:ln w="12700" cap="flat" cmpd="sng">
                <a:solidFill>
                  <a:schemeClr val="tx1"/>
                </a:solidFill>
                <a:prstDash val="solid"/>
                <a:miter/>
                <a:headEnd type="none" w="med" len="med"/>
                <a:tailEnd type="none" w="med" len="med"/>
              </a:ln>
            </p:spPr>
          </p:sp>
          <p:sp>
            <p:nvSpPr>
              <p:cNvPr id="136299" name="Line 22"/>
              <p:cNvSpPr/>
              <p:nvPr/>
            </p:nvSpPr>
            <p:spPr>
              <a:xfrm>
                <a:off x="2648" y="2171"/>
                <a:ext cx="0" cy="296"/>
              </a:xfrm>
              <a:prstGeom prst="line">
                <a:avLst/>
              </a:prstGeom>
              <a:ln w="28575" cap="sq" cmpd="sng">
                <a:solidFill>
                  <a:schemeClr val="tx1"/>
                </a:solidFill>
                <a:prstDash val="solid"/>
                <a:miter/>
                <a:headEnd type="none" w="med" len="med"/>
                <a:tailEnd type="none" w="med" len="med"/>
              </a:ln>
            </p:spPr>
          </p:sp>
        </p:grpSp>
        <p:grpSp>
          <p:nvGrpSpPr>
            <p:cNvPr id="136200" name="Group 23"/>
            <p:cNvGrpSpPr/>
            <p:nvPr/>
          </p:nvGrpSpPr>
          <p:grpSpPr>
            <a:xfrm>
              <a:off x="3024" y="2171"/>
              <a:ext cx="2208" cy="296"/>
              <a:chOff x="3024" y="2171"/>
              <a:chExt cx="2208" cy="296"/>
            </a:xfrm>
          </p:grpSpPr>
          <p:sp>
            <p:nvSpPr>
              <p:cNvPr id="136284" name="Rectangle 24"/>
              <p:cNvSpPr/>
              <p:nvPr/>
            </p:nvSpPr>
            <p:spPr>
              <a:xfrm>
                <a:off x="4496"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G1</a:t>
                </a:r>
                <a:endParaRPr lang="en-US" altLang="zh-CN" sz="2800" dirty="0">
                  <a:solidFill>
                    <a:schemeClr val="tx1"/>
                  </a:solidFill>
                  <a:ea typeface="华文新魏" panose="02010800040101010101" pitchFamily="2" charset="-122"/>
                </a:endParaRPr>
              </a:p>
            </p:txBody>
          </p:sp>
          <p:sp>
            <p:nvSpPr>
              <p:cNvPr id="136285" name="Rectangle 25"/>
              <p:cNvSpPr/>
              <p:nvPr/>
            </p:nvSpPr>
            <p:spPr>
              <a:xfrm>
                <a:off x="3760"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王明</a:t>
                </a:r>
                <a:endParaRPr lang="zh-CN" altLang="en-US" sz="2800" dirty="0">
                  <a:solidFill>
                    <a:schemeClr val="tx1"/>
                  </a:solidFill>
                  <a:ea typeface="华文新魏" panose="02010800040101010101" pitchFamily="2" charset="-122"/>
                </a:endParaRPr>
              </a:p>
            </p:txBody>
          </p:sp>
          <p:sp>
            <p:nvSpPr>
              <p:cNvPr id="136286" name="Rectangle 26"/>
              <p:cNvSpPr/>
              <p:nvPr/>
            </p:nvSpPr>
            <p:spPr>
              <a:xfrm>
                <a:off x="3024"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S0012</a:t>
                </a:r>
                <a:endParaRPr lang="en-US" altLang="zh-CN" sz="2800" dirty="0">
                  <a:solidFill>
                    <a:schemeClr val="tx1"/>
                  </a:solidFill>
                  <a:ea typeface="华文新魏" panose="02010800040101010101" pitchFamily="2" charset="-122"/>
                </a:endParaRPr>
              </a:p>
            </p:txBody>
          </p:sp>
          <p:sp>
            <p:nvSpPr>
              <p:cNvPr id="136287" name="Line 27"/>
              <p:cNvSpPr/>
              <p:nvPr/>
            </p:nvSpPr>
            <p:spPr>
              <a:xfrm>
                <a:off x="3024" y="2171"/>
                <a:ext cx="2208" cy="0"/>
              </a:xfrm>
              <a:prstGeom prst="line">
                <a:avLst/>
              </a:prstGeom>
              <a:ln w="28575" cap="sq" cmpd="sng">
                <a:solidFill>
                  <a:schemeClr val="tx1"/>
                </a:solidFill>
                <a:prstDash val="solid"/>
                <a:miter/>
                <a:headEnd type="none" w="med" len="med"/>
                <a:tailEnd type="none" w="med" len="med"/>
              </a:ln>
            </p:spPr>
          </p:sp>
          <p:sp>
            <p:nvSpPr>
              <p:cNvPr id="136288" name="Line 28"/>
              <p:cNvSpPr/>
              <p:nvPr/>
            </p:nvSpPr>
            <p:spPr>
              <a:xfrm>
                <a:off x="3024" y="2467"/>
                <a:ext cx="2208" cy="0"/>
              </a:xfrm>
              <a:prstGeom prst="line">
                <a:avLst/>
              </a:prstGeom>
              <a:ln w="28575" cap="sq" cmpd="sng">
                <a:solidFill>
                  <a:schemeClr val="tx1"/>
                </a:solidFill>
                <a:prstDash val="solid"/>
                <a:miter/>
                <a:headEnd type="none" w="med" len="med"/>
                <a:tailEnd type="none" w="med" len="med"/>
              </a:ln>
            </p:spPr>
          </p:sp>
          <p:sp>
            <p:nvSpPr>
              <p:cNvPr id="136289" name="Line 29"/>
              <p:cNvSpPr/>
              <p:nvPr/>
            </p:nvSpPr>
            <p:spPr>
              <a:xfrm>
                <a:off x="3024" y="2171"/>
                <a:ext cx="0" cy="296"/>
              </a:xfrm>
              <a:prstGeom prst="line">
                <a:avLst/>
              </a:prstGeom>
              <a:ln w="28575" cap="sq" cmpd="sng">
                <a:solidFill>
                  <a:schemeClr val="tx1"/>
                </a:solidFill>
                <a:prstDash val="solid"/>
                <a:miter/>
                <a:headEnd type="none" w="med" len="med"/>
                <a:tailEnd type="none" w="med" len="med"/>
              </a:ln>
            </p:spPr>
          </p:sp>
          <p:sp>
            <p:nvSpPr>
              <p:cNvPr id="136290" name="Line 30"/>
              <p:cNvSpPr/>
              <p:nvPr/>
            </p:nvSpPr>
            <p:spPr>
              <a:xfrm>
                <a:off x="3760" y="2171"/>
                <a:ext cx="0" cy="296"/>
              </a:xfrm>
              <a:prstGeom prst="line">
                <a:avLst/>
              </a:prstGeom>
              <a:ln w="12700" cap="flat" cmpd="sng">
                <a:solidFill>
                  <a:schemeClr val="tx1"/>
                </a:solidFill>
                <a:prstDash val="solid"/>
                <a:miter/>
                <a:headEnd type="none" w="med" len="med"/>
                <a:tailEnd type="none" w="med" len="med"/>
              </a:ln>
            </p:spPr>
          </p:sp>
          <p:sp>
            <p:nvSpPr>
              <p:cNvPr id="136291" name="Line 31"/>
              <p:cNvSpPr/>
              <p:nvPr/>
            </p:nvSpPr>
            <p:spPr>
              <a:xfrm>
                <a:off x="4496" y="2171"/>
                <a:ext cx="0" cy="296"/>
              </a:xfrm>
              <a:prstGeom prst="line">
                <a:avLst/>
              </a:prstGeom>
              <a:ln w="12700" cap="flat" cmpd="sng">
                <a:solidFill>
                  <a:schemeClr val="tx1"/>
                </a:solidFill>
                <a:prstDash val="solid"/>
                <a:miter/>
                <a:headEnd type="none" w="med" len="med"/>
                <a:tailEnd type="none" w="med" len="med"/>
              </a:ln>
            </p:spPr>
          </p:sp>
          <p:sp>
            <p:nvSpPr>
              <p:cNvPr id="136292" name="Line 32"/>
              <p:cNvSpPr/>
              <p:nvPr/>
            </p:nvSpPr>
            <p:spPr>
              <a:xfrm>
                <a:off x="5232" y="2171"/>
                <a:ext cx="0" cy="296"/>
              </a:xfrm>
              <a:prstGeom prst="line">
                <a:avLst/>
              </a:prstGeom>
              <a:ln w="28575" cap="sq" cmpd="sng">
                <a:solidFill>
                  <a:schemeClr val="tx1"/>
                </a:solidFill>
                <a:prstDash val="solid"/>
                <a:miter/>
                <a:headEnd type="none" w="med" len="med"/>
                <a:tailEnd type="none" w="med" len="med"/>
              </a:ln>
            </p:spPr>
          </p:sp>
        </p:grpSp>
        <p:grpSp>
          <p:nvGrpSpPr>
            <p:cNvPr id="136201" name="Group 33"/>
            <p:cNvGrpSpPr/>
            <p:nvPr/>
          </p:nvGrpSpPr>
          <p:grpSpPr>
            <a:xfrm>
              <a:off x="432" y="3400"/>
              <a:ext cx="2448" cy="296"/>
              <a:chOff x="344" y="3400"/>
              <a:chExt cx="2448" cy="296"/>
            </a:xfrm>
          </p:grpSpPr>
          <p:sp>
            <p:nvSpPr>
              <p:cNvPr id="136275" name="Rectangle 34"/>
              <p:cNvSpPr/>
              <p:nvPr/>
            </p:nvSpPr>
            <p:spPr>
              <a:xfrm>
                <a:off x="1976"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教授</a:t>
                </a:r>
                <a:endParaRPr lang="zh-CN" altLang="en-US" sz="2800" dirty="0">
                  <a:solidFill>
                    <a:schemeClr val="tx1"/>
                  </a:solidFill>
                  <a:ea typeface="华文新魏" panose="02010800040101010101" pitchFamily="2" charset="-122"/>
                </a:endParaRPr>
              </a:p>
            </p:txBody>
          </p:sp>
          <p:sp>
            <p:nvSpPr>
              <p:cNvPr id="136276" name="Rectangle 35"/>
              <p:cNvSpPr/>
              <p:nvPr/>
            </p:nvSpPr>
            <p:spPr>
              <a:xfrm>
                <a:off x="1160"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何璧</a:t>
                </a:r>
                <a:endParaRPr lang="zh-CN" altLang="en-US" sz="2800" dirty="0">
                  <a:solidFill>
                    <a:schemeClr val="tx1"/>
                  </a:solidFill>
                  <a:ea typeface="华文新魏" panose="02010800040101010101" pitchFamily="2" charset="-122"/>
                </a:endParaRPr>
              </a:p>
            </p:txBody>
          </p:sp>
          <p:sp>
            <p:nvSpPr>
              <p:cNvPr id="136277" name="Rectangle 36"/>
              <p:cNvSpPr/>
              <p:nvPr/>
            </p:nvSpPr>
            <p:spPr>
              <a:xfrm>
                <a:off x="344"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E1101</a:t>
                </a:r>
                <a:endParaRPr lang="en-US" altLang="zh-CN" sz="2800" dirty="0">
                  <a:solidFill>
                    <a:schemeClr val="tx1"/>
                  </a:solidFill>
                  <a:ea typeface="华文新魏" panose="02010800040101010101" pitchFamily="2" charset="-122"/>
                </a:endParaRPr>
              </a:p>
            </p:txBody>
          </p:sp>
          <p:sp>
            <p:nvSpPr>
              <p:cNvPr id="136278" name="Line 37"/>
              <p:cNvSpPr/>
              <p:nvPr/>
            </p:nvSpPr>
            <p:spPr>
              <a:xfrm>
                <a:off x="344" y="3400"/>
                <a:ext cx="2448" cy="0"/>
              </a:xfrm>
              <a:prstGeom prst="line">
                <a:avLst/>
              </a:prstGeom>
              <a:ln w="28575" cap="sq" cmpd="sng">
                <a:solidFill>
                  <a:schemeClr val="tx1"/>
                </a:solidFill>
                <a:prstDash val="solid"/>
                <a:miter/>
                <a:headEnd type="none" w="med" len="med"/>
                <a:tailEnd type="none" w="med" len="med"/>
              </a:ln>
            </p:spPr>
          </p:sp>
          <p:sp>
            <p:nvSpPr>
              <p:cNvPr id="136279" name="Line 38"/>
              <p:cNvSpPr/>
              <p:nvPr/>
            </p:nvSpPr>
            <p:spPr>
              <a:xfrm>
                <a:off x="344" y="3696"/>
                <a:ext cx="2448" cy="0"/>
              </a:xfrm>
              <a:prstGeom prst="line">
                <a:avLst/>
              </a:prstGeom>
              <a:ln w="28575" cap="sq" cmpd="sng">
                <a:solidFill>
                  <a:schemeClr val="tx1"/>
                </a:solidFill>
                <a:prstDash val="solid"/>
                <a:miter/>
                <a:headEnd type="none" w="med" len="med"/>
                <a:tailEnd type="none" w="med" len="med"/>
              </a:ln>
            </p:spPr>
          </p:sp>
          <p:sp>
            <p:nvSpPr>
              <p:cNvPr id="136280" name="Line 39"/>
              <p:cNvSpPr/>
              <p:nvPr/>
            </p:nvSpPr>
            <p:spPr>
              <a:xfrm>
                <a:off x="344" y="3400"/>
                <a:ext cx="0" cy="296"/>
              </a:xfrm>
              <a:prstGeom prst="line">
                <a:avLst/>
              </a:prstGeom>
              <a:ln w="28575" cap="sq" cmpd="sng">
                <a:solidFill>
                  <a:schemeClr val="tx1"/>
                </a:solidFill>
                <a:prstDash val="solid"/>
                <a:miter/>
                <a:headEnd type="none" w="med" len="med"/>
                <a:tailEnd type="none" w="med" len="med"/>
              </a:ln>
            </p:spPr>
          </p:sp>
          <p:sp>
            <p:nvSpPr>
              <p:cNvPr id="136281" name="Line 40"/>
              <p:cNvSpPr/>
              <p:nvPr/>
            </p:nvSpPr>
            <p:spPr>
              <a:xfrm>
                <a:off x="1160" y="3400"/>
                <a:ext cx="0" cy="296"/>
              </a:xfrm>
              <a:prstGeom prst="line">
                <a:avLst/>
              </a:prstGeom>
              <a:ln w="12700" cap="flat" cmpd="sng">
                <a:solidFill>
                  <a:schemeClr val="tx1"/>
                </a:solidFill>
                <a:prstDash val="solid"/>
                <a:miter/>
                <a:headEnd type="none" w="med" len="med"/>
                <a:tailEnd type="none" w="med" len="med"/>
              </a:ln>
            </p:spPr>
          </p:sp>
          <p:sp>
            <p:nvSpPr>
              <p:cNvPr id="136282" name="Line 41"/>
              <p:cNvSpPr/>
              <p:nvPr/>
            </p:nvSpPr>
            <p:spPr>
              <a:xfrm>
                <a:off x="1976" y="3400"/>
                <a:ext cx="0" cy="296"/>
              </a:xfrm>
              <a:prstGeom prst="line">
                <a:avLst/>
              </a:prstGeom>
              <a:ln w="12700" cap="flat" cmpd="sng">
                <a:solidFill>
                  <a:schemeClr val="tx1"/>
                </a:solidFill>
                <a:prstDash val="solid"/>
                <a:miter/>
                <a:headEnd type="none" w="med" len="med"/>
                <a:tailEnd type="none" w="med" len="med"/>
              </a:ln>
            </p:spPr>
          </p:sp>
          <p:sp>
            <p:nvSpPr>
              <p:cNvPr id="136283" name="Line 42"/>
              <p:cNvSpPr/>
              <p:nvPr/>
            </p:nvSpPr>
            <p:spPr>
              <a:xfrm>
                <a:off x="2792" y="3400"/>
                <a:ext cx="0" cy="296"/>
              </a:xfrm>
              <a:prstGeom prst="line">
                <a:avLst/>
              </a:prstGeom>
              <a:ln w="28575" cap="sq" cmpd="sng">
                <a:solidFill>
                  <a:schemeClr val="tx1"/>
                </a:solidFill>
                <a:prstDash val="solid"/>
                <a:miter/>
                <a:headEnd type="none" w="med" len="med"/>
                <a:tailEnd type="none" w="med" len="med"/>
              </a:ln>
            </p:spPr>
          </p:sp>
        </p:grpSp>
        <p:sp>
          <p:nvSpPr>
            <p:cNvPr id="136202" name="Line 43"/>
            <p:cNvSpPr/>
            <p:nvPr/>
          </p:nvSpPr>
          <p:spPr>
            <a:xfrm>
              <a:off x="1568" y="1866"/>
              <a:ext cx="0" cy="305"/>
            </a:xfrm>
            <a:prstGeom prst="line">
              <a:avLst/>
            </a:prstGeom>
            <a:ln w="28575" cap="flat" cmpd="sng">
              <a:solidFill>
                <a:schemeClr val="tx1"/>
              </a:solidFill>
              <a:prstDash val="solid"/>
              <a:miter/>
              <a:headEnd type="none" w="med" len="med"/>
              <a:tailEnd type="triangle" w="med" len="med"/>
            </a:ln>
          </p:spPr>
        </p:sp>
        <p:sp>
          <p:nvSpPr>
            <p:cNvPr id="136203" name="Line 44"/>
            <p:cNvSpPr/>
            <p:nvPr/>
          </p:nvSpPr>
          <p:spPr>
            <a:xfrm>
              <a:off x="4120" y="1866"/>
              <a:ext cx="0" cy="305"/>
            </a:xfrm>
            <a:prstGeom prst="line">
              <a:avLst/>
            </a:prstGeom>
            <a:ln w="28575" cap="flat" cmpd="sng">
              <a:solidFill>
                <a:schemeClr val="tx1"/>
              </a:solidFill>
              <a:prstDash val="solid"/>
              <a:miter/>
              <a:headEnd type="none" w="med" len="med"/>
              <a:tailEnd type="triangle" w="med" len="med"/>
            </a:ln>
          </p:spPr>
        </p:sp>
        <p:sp>
          <p:nvSpPr>
            <p:cNvPr id="136204" name="Line 45"/>
            <p:cNvSpPr/>
            <p:nvPr/>
          </p:nvSpPr>
          <p:spPr>
            <a:xfrm>
              <a:off x="1576" y="1866"/>
              <a:ext cx="2544" cy="0"/>
            </a:xfrm>
            <a:prstGeom prst="line">
              <a:avLst/>
            </a:prstGeom>
            <a:ln w="28575" cap="flat" cmpd="sng">
              <a:solidFill>
                <a:schemeClr val="tx1"/>
              </a:solidFill>
              <a:prstDash val="solid"/>
              <a:miter/>
              <a:headEnd type="none" w="med" len="med"/>
              <a:tailEnd type="none" w="med" len="med"/>
            </a:ln>
          </p:spPr>
        </p:sp>
        <p:sp>
          <p:nvSpPr>
            <p:cNvPr id="136205" name="Line 46"/>
            <p:cNvSpPr/>
            <p:nvPr/>
          </p:nvSpPr>
          <p:spPr>
            <a:xfrm flipH="1">
              <a:off x="3168" y="2928"/>
              <a:ext cx="0" cy="483"/>
            </a:xfrm>
            <a:prstGeom prst="line">
              <a:avLst/>
            </a:prstGeom>
            <a:ln w="28575" cap="flat" cmpd="sng">
              <a:solidFill>
                <a:schemeClr val="tx1"/>
              </a:solidFill>
              <a:prstDash val="solid"/>
              <a:miter/>
              <a:headEnd type="none" w="med" len="med"/>
              <a:tailEnd type="triangle" w="med" len="med"/>
            </a:ln>
          </p:spPr>
        </p:sp>
        <p:sp>
          <p:nvSpPr>
            <p:cNvPr id="136206" name="Line 47"/>
            <p:cNvSpPr/>
            <p:nvPr/>
          </p:nvSpPr>
          <p:spPr>
            <a:xfrm>
              <a:off x="2880" y="1649"/>
              <a:ext cx="0" cy="217"/>
            </a:xfrm>
            <a:prstGeom prst="line">
              <a:avLst/>
            </a:prstGeom>
            <a:ln w="28575" cap="flat" cmpd="sng">
              <a:solidFill>
                <a:schemeClr val="tx1"/>
              </a:solidFill>
              <a:prstDash val="solid"/>
              <a:miter/>
              <a:headEnd type="none" w="med" len="med"/>
              <a:tailEnd type="none" w="med" len="med"/>
            </a:ln>
          </p:spPr>
        </p:sp>
        <p:grpSp>
          <p:nvGrpSpPr>
            <p:cNvPr id="136207" name="Group 48"/>
            <p:cNvGrpSpPr/>
            <p:nvPr/>
          </p:nvGrpSpPr>
          <p:grpSpPr>
            <a:xfrm>
              <a:off x="3160" y="2472"/>
              <a:ext cx="2208" cy="296"/>
              <a:chOff x="3024" y="2171"/>
              <a:chExt cx="2208" cy="296"/>
            </a:xfrm>
          </p:grpSpPr>
          <p:sp>
            <p:nvSpPr>
              <p:cNvPr id="136266" name="Rectangle 49"/>
              <p:cNvSpPr/>
              <p:nvPr/>
            </p:nvSpPr>
            <p:spPr>
              <a:xfrm>
                <a:off x="4496"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G2</a:t>
                </a:r>
                <a:endParaRPr lang="en-US" altLang="zh-CN" sz="2800" dirty="0">
                  <a:solidFill>
                    <a:schemeClr val="tx1"/>
                  </a:solidFill>
                  <a:ea typeface="华文新魏" panose="02010800040101010101" pitchFamily="2" charset="-122"/>
                </a:endParaRPr>
              </a:p>
            </p:txBody>
          </p:sp>
          <p:sp>
            <p:nvSpPr>
              <p:cNvPr id="136267" name="Rectangle 50"/>
              <p:cNvSpPr/>
              <p:nvPr/>
            </p:nvSpPr>
            <p:spPr>
              <a:xfrm>
                <a:off x="3760"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郑直</a:t>
                </a:r>
                <a:endParaRPr lang="zh-CN" altLang="en-US" sz="2800" dirty="0">
                  <a:solidFill>
                    <a:schemeClr val="tx1"/>
                  </a:solidFill>
                  <a:ea typeface="华文新魏" panose="02010800040101010101" pitchFamily="2" charset="-122"/>
                </a:endParaRPr>
              </a:p>
            </p:txBody>
          </p:sp>
          <p:sp>
            <p:nvSpPr>
              <p:cNvPr id="136268" name="Rectangle 51"/>
              <p:cNvSpPr/>
              <p:nvPr/>
            </p:nvSpPr>
            <p:spPr>
              <a:xfrm>
                <a:off x="3024"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S0020</a:t>
                </a:r>
                <a:endParaRPr lang="en-US" altLang="zh-CN" sz="2800" dirty="0">
                  <a:solidFill>
                    <a:schemeClr val="tx1"/>
                  </a:solidFill>
                  <a:ea typeface="华文新魏" panose="02010800040101010101" pitchFamily="2" charset="-122"/>
                </a:endParaRPr>
              </a:p>
            </p:txBody>
          </p:sp>
          <p:sp>
            <p:nvSpPr>
              <p:cNvPr id="136269" name="Line 52"/>
              <p:cNvSpPr/>
              <p:nvPr/>
            </p:nvSpPr>
            <p:spPr>
              <a:xfrm>
                <a:off x="3024" y="2171"/>
                <a:ext cx="2208" cy="0"/>
              </a:xfrm>
              <a:prstGeom prst="line">
                <a:avLst/>
              </a:prstGeom>
              <a:ln w="28575" cap="sq" cmpd="sng">
                <a:solidFill>
                  <a:schemeClr val="tx1"/>
                </a:solidFill>
                <a:prstDash val="solid"/>
                <a:miter/>
                <a:headEnd type="none" w="med" len="med"/>
                <a:tailEnd type="none" w="med" len="med"/>
              </a:ln>
            </p:spPr>
          </p:sp>
          <p:sp>
            <p:nvSpPr>
              <p:cNvPr id="136270" name="Line 53"/>
              <p:cNvSpPr/>
              <p:nvPr/>
            </p:nvSpPr>
            <p:spPr>
              <a:xfrm>
                <a:off x="3024" y="2467"/>
                <a:ext cx="2208" cy="0"/>
              </a:xfrm>
              <a:prstGeom prst="line">
                <a:avLst/>
              </a:prstGeom>
              <a:ln w="28575" cap="sq" cmpd="sng">
                <a:solidFill>
                  <a:schemeClr val="tx1"/>
                </a:solidFill>
                <a:prstDash val="solid"/>
                <a:miter/>
                <a:headEnd type="none" w="med" len="med"/>
                <a:tailEnd type="none" w="med" len="med"/>
              </a:ln>
            </p:spPr>
          </p:sp>
          <p:sp>
            <p:nvSpPr>
              <p:cNvPr id="136271" name="Line 54"/>
              <p:cNvSpPr/>
              <p:nvPr/>
            </p:nvSpPr>
            <p:spPr>
              <a:xfrm>
                <a:off x="3024" y="2171"/>
                <a:ext cx="0" cy="296"/>
              </a:xfrm>
              <a:prstGeom prst="line">
                <a:avLst/>
              </a:prstGeom>
              <a:ln w="28575" cap="sq" cmpd="sng">
                <a:solidFill>
                  <a:schemeClr val="tx1"/>
                </a:solidFill>
                <a:prstDash val="solid"/>
                <a:miter/>
                <a:headEnd type="none" w="med" len="med"/>
                <a:tailEnd type="none" w="med" len="med"/>
              </a:ln>
            </p:spPr>
          </p:sp>
          <p:sp>
            <p:nvSpPr>
              <p:cNvPr id="136272" name="Line 55"/>
              <p:cNvSpPr/>
              <p:nvPr/>
            </p:nvSpPr>
            <p:spPr>
              <a:xfrm>
                <a:off x="3760" y="2171"/>
                <a:ext cx="0" cy="296"/>
              </a:xfrm>
              <a:prstGeom prst="line">
                <a:avLst/>
              </a:prstGeom>
              <a:ln w="12700" cap="flat" cmpd="sng">
                <a:solidFill>
                  <a:schemeClr val="tx1"/>
                </a:solidFill>
                <a:prstDash val="solid"/>
                <a:miter/>
                <a:headEnd type="none" w="med" len="med"/>
                <a:tailEnd type="none" w="med" len="med"/>
              </a:ln>
            </p:spPr>
          </p:sp>
          <p:sp>
            <p:nvSpPr>
              <p:cNvPr id="136273" name="Line 56"/>
              <p:cNvSpPr/>
              <p:nvPr/>
            </p:nvSpPr>
            <p:spPr>
              <a:xfrm>
                <a:off x="4496" y="2171"/>
                <a:ext cx="0" cy="296"/>
              </a:xfrm>
              <a:prstGeom prst="line">
                <a:avLst/>
              </a:prstGeom>
              <a:ln w="12700" cap="flat" cmpd="sng">
                <a:solidFill>
                  <a:schemeClr val="tx1"/>
                </a:solidFill>
                <a:prstDash val="solid"/>
                <a:miter/>
                <a:headEnd type="none" w="med" len="med"/>
                <a:tailEnd type="none" w="med" len="med"/>
              </a:ln>
            </p:spPr>
          </p:sp>
          <p:sp>
            <p:nvSpPr>
              <p:cNvPr id="136274" name="Line 57"/>
              <p:cNvSpPr/>
              <p:nvPr/>
            </p:nvSpPr>
            <p:spPr>
              <a:xfrm>
                <a:off x="5232" y="2171"/>
                <a:ext cx="0" cy="296"/>
              </a:xfrm>
              <a:prstGeom prst="line">
                <a:avLst/>
              </a:prstGeom>
              <a:ln w="28575" cap="sq" cmpd="sng">
                <a:solidFill>
                  <a:schemeClr val="tx1"/>
                </a:solidFill>
                <a:prstDash val="solid"/>
                <a:miter/>
                <a:headEnd type="none" w="med" len="med"/>
                <a:tailEnd type="none" w="med" len="med"/>
              </a:ln>
            </p:spPr>
          </p:sp>
        </p:grpSp>
        <p:grpSp>
          <p:nvGrpSpPr>
            <p:cNvPr id="136208" name="Group 58"/>
            <p:cNvGrpSpPr/>
            <p:nvPr/>
          </p:nvGrpSpPr>
          <p:grpSpPr>
            <a:xfrm>
              <a:off x="3328" y="2768"/>
              <a:ext cx="2208" cy="296"/>
              <a:chOff x="3024" y="2171"/>
              <a:chExt cx="2208" cy="296"/>
            </a:xfrm>
          </p:grpSpPr>
          <p:sp>
            <p:nvSpPr>
              <p:cNvPr id="136257" name="Rectangle 59"/>
              <p:cNvSpPr/>
              <p:nvPr/>
            </p:nvSpPr>
            <p:spPr>
              <a:xfrm>
                <a:off x="4496"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G3</a:t>
                </a:r>
                <a:endParaRPr lang="en-US" altLang="zh-CN" sz="2800" dirty="0">
                  <a:solidFill>
                    <a:schemeClr val="tx1"/>
                  </a:solidFill>
                  <a:ea typeface="华文新魏" panose="02010800040101010101" pitchFamily="2" charset="-122"/>
                </a:endParaRPr>
              </a:p>
            </p:txBody>
          </p:sp>
          <p:sp>
            <p:nvSpPr>
              <p:cNvPr id="136258" name="Rectangle 60"/>
              <p:cNvSpPr/>
              <p:nvPr/>
            </p:nvSpPr>
            <p:spPr>
              <a:xfrm>
                <a:off x="3760"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周密</a:t>
                </a:r>
                <a:endParaRPr lang="zh-CN" altLang="en-US" sz="2800" dirty="0">
                  <a:solidFill>
                    <a:schemeClr val="tx1"/>
                  </a:solidFill>
                  <a:ea typeface="华文新魏" panose="02010800040101010101" pitchFamily="2" charset="-122"/>
                </a:endParaRPr>
              </a:p>
            </p:txBody>
          </p:sp>
          <p:sp>
            <p:nvSpPr>
              <p:cNvPr id="136259" name="Rectangle 61"/>
              <p:cNvSpPr/>
              <p:nvPr/>
            </p:nvSpPr>
            <p:spPr>
              <a:xfrm>
                <a:off x="3024" y="2171"/>
                <a:ext cx="73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S0199</a:t>
                </a:r>
                <a:endParaRPr lang="en-US" altLang="zh-CN" sz="2800" dirty="0">
                  <a:solidFill>
                    <a:schemeClr val="tx1"/>
                  </a:solidFill>
                  <a:ea typeface="华文新魏" panose="02010800040101010101" pitchFamily="2" charset="-122"/>
                </a:endParaRPr>
              </a:p>
            </p:txBody>
          </p:sp>
          <p:sp>
            <p:nvSpPr>
              <p:cNvPr id="136260" name="Line 62"/>
              <p:cNvSpPr/>
              <p:nvPr/>
            </p:nvSpPr>
            <p:spPr>
              <a:xfrm>
                <a:off x="3024" y="2171"/>
                <a:ext cx="2208" cy="0"/>
              </a:xfrm>
              <a:prstGeom prst="line">
                <a:avLst/>
              </a:prstGeom>
              <a:ln w="28575" cap="sq" cmpd="sng">
                <a:solidFill>
                  <a:schemeClr val="tx1"/>
                </a:solidFill>
                <a:prstDash val="solid"/>
                <a:miter/>
                <a:headEnd type="none" w="med" len="med"/>
                <a:tailEnd type="none" w="med" len="med"/>
              </a:ln>
            </p:spPr>
          </p:sp>
          <p:sp>
            <p:nvSpPr>
              <p:cNvPr id="136261" name="Line 63"/>
              <p:cNvSpPr/>
              <p:nvPr/>
            </p:nvSpPr>
            <p:spPr>
              <a:xfrm>
                <a:off x="3024" y="2467"/>
                <a:ext cx="2208" cy="0"/>
              </a:xfrm>
              <a:prstGeom prst="line">
                <a:avLst/>
              </a:prstGeom>
              <a:ln w="28575" cap="sq" cmpd="sng">
                <a:solidFill>
                  <a:schemeClr val="tx1"/>
                </a:solidFill>
                <a:prstDash val="solid"/>
                <a:miter/>
                <a:headEnd type="none" w="med" len="med"/>
                <a:tailEnd type="none" w="med" len="med"/>
              </a:ln>
            </p:spPr>
          </p:sp>
          <p:sp>
            <p:nvSpPr>
              <p:cNvPr id="136262" name="Line 64"/>
              <p:cNvSpPr/>
              <p:nvPr/>
            </p:nvSpPr>
            <p:spPr>
              <a:xfrm>
                <a:off x="3024" y="2171"/>
                <a:ext cx="0" cy="296"/>
              </a:xfrm>
              <a:prstGeom prst="line">
                <a:avLst/>
              </a:prstGeom>
              <a:ln w="28575" cap="sq" cmpd="sng">
                <a:solidFill>
                  <a:schemeClr val="tx1"/>
                </a:solidFill>
                <a:prstDash val="solid"/>
                <a:miter/>
                <a:headEnd type="none" w="med" len="med"/>
                <a:tailEnd type="none" w="med" len="med"/>
              </a:ln>
            </p:spPr>
          </p:sp>
          <p:sp>
            <p:nvSpPr>
              <p:cNvPr id="136263" name="Line 65"/>
              <p:cNvSpPr/>
              <p:nvPr/>
            </p:nvSpPr>
            <p:spPr>
              <a:xfrm>
                <a:off x="3760" y="2171"/>
                <a:ext cx="0" cy="296"/>
              </a:xfrm>
              <a:prstGeom prst="line">
                <a:avLst/>
              </a:prstGeom>
              <a:ln w="12700" cap="flat" cmpd="sng">
                <a:solidFill>
                  <a:schemeClr val="tx1"/>
                </a:solidFill>
                <a:prstDash val="solid"/>
                <a:miter/>
                <a:headEnd type="none" w="med" len="med"/>
                <a:tailEnd type="none" w="med" len="med"/>
              </a:ln>
            </p:spPr>
          </p:sp>
          <p:sp>
            <p:nvSpPr>
              <p:cNvPr id="136264" name="Line 66"/>
              <p:cNvSpPr/>
              <p:nvPr/>
            </p:nvSpPr>
            <p:spPr>
              <a:xfrm>
                <a:off x="4496" y="2171"/>
                <a:ext cx="0" cy="296"/>
              </a:xfrm>
              <a:prstGeom prst="line">
                <a:avLst/>
              </a:prstGeom>
              <a:ln w="12700" cap="flat" cmpd="sng">
                <a:solidFill>
                  <a:schemeClr val="tx1"/>
                </a:solidFill>
                <a:prstDash val="solid"/>
                <a:miter/>
                <a:headEnd type="none" w="med" len="med"/>
                <a:tailEnd type="none" w="med" len="med"/>
              </a:ln>
            </p:spPr>
          </p:sp>
          <p:sp>
            <p:nvSpPr>
              <p:cNvPr id="136265" name="Line 67"/>
              <p:cNvSpPr/>
              <p:nvPr/>
            </p:nvSpPr>
            <p:spPr>
              <a:xfrm>
                <a:off x="5232" y="2171"/>
                <a:ext cx="0" cy="296"/>
              </a:xfrm>
              <a:prstGeom prst="line">
                <a:avLst/>
              </a:prstGeom>
              <a:ln w="28575" cap="sq" cmpd="sng">
                <a:solidFill>
                  <a:schemeClr val="tx1"/>
                </a:solidFill>
                <a:prstDash val="solid"/>
                <a:miter/>
                <a:headEnd type="none" w="med" len="med"/>
                <a:tailEnd type="none" w="med" len="med"/>
              </a:ln>
            </p:spPr>
          </p:sp>
        </p:grpSp>
        <p:grpSp>
          <p:nvGrpSpPr>
            <p:cNvPr id="136209" name="Group 68"/>
            <p:cNvGrpSpPr/>
            <p:nvPr/>
          </p:nvGrpSpPr>
          <p:grpSpPr>
            <a:xfrm>
              <a:off x="624" y="2475"/>
              <a:ext cx="2160" cy="309"/>
              <a:chOff x="488" y="2171"/>
              <a:chExt cx="2160" cy="309"/>
            </a:xfrm>
          </p:grpSpPr>
          <p:sp>
            <p:nvSpPr>
              <p:cNvPr id="136250" name="Rectangle 69"/>
              <p:cNvSpPr/>
              <p:nvPr/>
            </p:nvSpPr>
            <p:spPr>
              <a:xfrm>
                <a:off x="1568" y="2171"/>
                <a:ext cx="1080"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网络</a:t>
                </a:r>
                <a:endParaRPr lang="zh-CN" altLang="en-US" sz="2800" dirty="0">
                  <a:solidFill>
                    <a:schemeClr val="tx1"/>
                  </a:solidFill>
                  <a:ea typeface="华文新魏" panose="02010800040101010101" pitchFamily="2" charset="-122"/>
                </a:endParaRPr>
              </a:p>
            </p:txBody>
          </p:sp>
          <p:sp>
            <p:nvSpPr>
              <p:cNvPr id="136251" name="Rectangle 70"/>
              <p:cNvSpPr/>
              <p:nvPr/>
            </p:nvSpPr>
            <p:spPr>
              <a:xfrm>
                <a:off x="488" y="2171"/>
                <a:ext cx="1080"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R02</a:t>
                </a:r>
                <a:endParaRPr lang="en-US" altLang="zh-CN" sz="2800" dirty="0">
                  <a:solidFill>
                    <a:schemeClr val="tx1"/>
                  </a:solidFill>
                  <a:ea typeface="华文新魏" panose="02010800040101010101" pitchFamily="2" charset="-122"/>
                </a:endParaRPr>
              </a:p>
            </p:txBody>
          </p:sp>
          <p:sp>
            <p:nvSpPr>
              <p:cNvPr id="136252" name="Line 71"/>
              <p:cNvSpPr/>
              <p:nvPr/>
            </p:nvSpPr>
            <p:spPr>
              <a:xfrm>
                <a:off x="488" y="2171"/>
                <a:ext cx="2160" cy="0"/>
              </a:xfrm>
              <a:prstGeom prst="line">
                <a:avLst/>
              </a:prstGeom>
              <a:ln w="28575" cap="sq" cmpd="sng">
                <a:solidFill>
                  <a:schemeClr val="tx1"/>
                </a:solidFill>
                <a:prstDash val="solid"/>
                <a:miter/>
                <a:headEnd type="none" w="med" len="med"/>
                <a:tailEnd type="none" w="med" len="med"/>
              </a:ln>
            </p:spPr>
          </p:sp>
          <p:sp>
            <p:nvSpPr>
              <p:cNvPr id="136253" name="Line 72"/>
              <p:cNvSpPr/>
              <p:nvPr/>
            </p:nvSpPr>
            <p:spPr>
              <a:xfrm>
                <a:off x="488" y="2480"/>
                <a:ext cx="2160" cy="0"/>
              </a:xfrm>
              <a:prstGeom prst="line">
                <a:avLst/>
              </a:prstGeom>
              <a:ln w="28575" cap="sq" cmpd="sng">
                <a:solidFill>
                  <a:schemeClr val="tx1"/>
                </a:solidFill>
                <a:prstDash val="solid"/>
                <a:miter/>
                <a:headEnd type="none" w="med" len="med"/>
                <a:tailEnd type="none" w="med" len="med"/>
              </a:ln>
            </p:spPr>
          </p:sp>
          <p:sp>
            <p:nvSpPr>
              <p:cNvPr id="136254" name="Line 73"/>
              <p:cNvSpPr/>
              <p:nvPr/>
            </p:nvSpPr>
            <p:spPr>
              <a:xfrm>
                <a:off x="488" y="2171"/>
                <a:ext cx="0" cy="296"/>
              </a:xfrm>
              <a:prstGeom prst="line">
                <a:avLst/>
              </a:prstGeom>
              <a:ln w="28575" cap="sq" cmpd="sng">
                <a:solidFill>
                  <a:schemeClr val="tx1"/>
                </a:solidFill>
                <a:prstDash val="solid"/>
                <a:miter/>
                <a:headEnd type="none" w="med" len="med"/>
                <a:tailEnd type="none" w="med" len="med"/>
              </a:ln>
            </p:spPr>
          </p:sp>
          <p:sp>
            <p:nvSpPr>
              <p:cNvPr id="136255" name="Line 74"/>
              <p:cNvSpPr/>
              <p:nvPr/>
            </p:nvSpPr>
            <p:spPr>
              <a:xfrm>
                <a:off x="1568" y="2171"/>
                <a:ext cx="0" cy="296"/>
              </a:xfrm>
              <a:prstGeom prst="line">
                <a:avLst/>
              </a:prstGeom>
              <a:ln w="12700" cap="flat" cmpd="sng">
                <a:solidFill>
                  <a:schemeClr val="tx1"/>
                </a:solidFill>
                <a:prstDash val="solid"/>
                <a:miter/>
                <a:headEnd type="none" w="med" len="med"/>
                <a:tailEnd type="none" w="med" len="med"/>
              </a:ln>
            </p:spPr>
          </p:sp>
          <p:sp>
            <p:nvSpPr>
              <p:cNvPr id="136256" name="Line 75"/>
              <p:cNvSpPr/>
              <p:nvPr/>
            </p:nvSpPr>
            <p:spPr>
              <a:xfrm>
                <a:off x="2648" y="2171"/>
                <a:ext cx="0" cy="296"/>
              </a:xfrm>
              <a:prstGeom prst="line">
                <a:avLst/>
              </a:prstGeom>
              <a:ln w="28575" cap="sq" cmpd="sng">
                <a:solidFill>
                  <a:schemeClr val="tx1"/>
                </a:solidFill>
                <a:prstDash val="solid"/>
                <a:miter/>
                <a:headEnd type="none" w="med" len="med"/>
                <a:tailEnd type="none" w="med" len="med"/>
              </a:ln>
            </p:spPr>
          </p:sp>
        </p:grpSp>
        <p:grpSp>
          <p:nvGrpSpPr>
            <p:cNvPr id="136210" name="Group 76"/>
            <p:cNvGrpSpPr/>
            <p:nvPr/>
          </p:nvGrpSpPr>
          <p:grpSpPr>
            <a:xfrm>
              <a:off x="768" y="2784"/>
              <a:ext cx="2160" cy="309"/>
              <a:chOff x="488" y="2171"/>
              <a:chExt cx="2160" cy="309"/>
            </a:xfrm>
          </p:grpSpPr>
          <p:sp>
            <p:nvSpPr>
              <p:cNvPr id="136243" name="Rectangle 77"/>
              <p:cNvSpPr/>
              <p:nvPr/>
            </p:nvSpPr>
            <p:spPr>
              <a:xfrm>
                <a:off x="1568" y="2171"/>
                <a:ext cx="1080"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人工智能</a:t>
                </a:r>
                <a:endParaRPr lang="zh-CN" altLang="en-US" sz="2800" dirty="0">
                  <a:solidFill>
                    <a:schemeClr val="tx1"/>
                  </a:solidFill>
                  <a:ea typeface="华文新魏" panose="02010800040101010101" pitchFamily="2" charset="-122"/>
                </a:endParaRPr>
              </a:p>
            </p:txBody>
          </p:sp>
          <p:sp>
            <p:nvSpPr>
              <p:cNvPr id="136244" name="Rectangle 78"/>
              <p:cNvSpPr/>
              <p:nvPr/>
            </p:nvSpPr>
            <p:spPr>
              <a:xfrm>
                <a:off x="488" y="2171"/>
                <a:ext cx="1080"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R03</a:t>
                </a:r>
                <a:endParaRPr lang="en-US" altLang="zh-CN" sz="2800" dirty="0">
                  <a:solidFill>
                    <a:schemeClr val="tx1"/>
                  </a:solidFill>
                  <a:ea typeface="华文新魏" panose="02010800040101010101" pitchFamily="2" charset="-122"/>
                </a:endParaRPr>
              </a:p>
            </p:txBody>
          </p:sp>
          <p:sp>
            <p:nvSpPr>
              <p:cNvPr id="136245" name="Line 79"/>
              <p:cNvSpPr/>
              <p:nvPr/>
            </p:nvSpPr>
            <p:spPr>
              <a:xfrm>
                <a:off x="488" y="2171"/>
                <a:ext cx="2160" cy="0"/>
              </a:xfrm>
              <a:prstGeom prst="line">
                <a:avLst/>
              </a:prstGeom>
              <a:ln w="28575" cap="sq" cmpd="sng">
                <a:solidFill>
                  <a:schemeClr val="tx1"/>
                </a:solidFill>
                <a:prstDash val="solid"/>
                <a:miter/>
                <a:headEnd type="none" w="med" len="med"/>
                <a:tailEnd type="none" w="med" len="med"/>
              </a:ln>
            </p:spPr>
          </p:sp>
          <p:sp>
            <p:nvSpPr>
              <p:cNvPr id="136246" name="Line 80"/>
              <p:cNvSpPr/>
              <p:nvPr/>
            </p:nvSpPr>
            <p:spPr>
              <a:xfrm>
                <a:off x="488" y="2480"/>
                <a:ext cx="2160" cy="0"/>
              </a:xfrm>
              <a:prstGeom prst="line">
                <a:avLst/>
              </a:prstGeom>
              <a:ln w="28575" cap="sq" cmpd="sng">
                <a:solidFill>
                  <a:schemeClr val="tx1"/>
                </a:solidFill>
                <a:prstDash val="solid"/>
                <a:miter/>
                <a:headEnd type="none" w="med" len="med"/>
                <a:tailEnd type="none" w="med" len="med"/>
              </a:ln>
            </p:spPr>
          </p:sp>
          <p:sp>
            <p:nvSpPr>
              <p:cNvPr id="136247" name="Line 81"/>
              <p:cNvSpPr/>
              <p:nvPr/>
            </p:nvSpPr>
            <p:spPr>
              <a:xfrm>
                <a:off x="488" y="2171"/>
                <a:ext cx="0" cy="296"/>
              </a:xfrm>
              <a:prstGeom prst="line">
                <a:avLst/>
              </a:prstGeom>
              <a:ln w="28575" cap="sq" cmpd="sng">
                <a:solidFill>
                  <a:schemeClr val="tx1"/>
                </a:solidFill>
                <a:prstDash val="solid"/>
                <a:miter/>
                <a:headEnd type="none" w="med" len="med"/>
                <a:tailEnd type="none" w="med" len="med"/>
              </a:ln>
            </p:spPr>
          </p:sp>
          <p:sp>
            <p:nvSpPr>
              <p:cNvPr id="136248" name="Line 82"/>
              <p:cNvSpPr/>
              <p:nvPr/>
            </p:nvSpPr>
            <p:spPr>
              <a:xfrm>
                <a:off x="1568" y="2171"/>
                <a:ext cx="0" cy="296"/>
              </a:xfrm>
              <a:prstGeom prst="line">
                <a:avLst/>
              </a:prstGeom>
              <a:ln w="12700" cap="flat" cmpd="sng">
                <a:solidFill>
                  <a:schemeClr val="tx1"/>
                </a:solidFill>
                <a:prstDash val="solid"/>
                <a:miter/>
                <a:headEnd type="none" w="med" len="med"/>
                <a:tailEnd type="none" w="med" len="med"/>
              </a:ln>
            </p:spPr>
          </p:sp>
          <p:sp>
            <p:nvSpPr>
              <p:cNvPr id="136249" name="Line 83"/>
              <p:cNvSpPr/>
              <p:nvPr/>
            </p:nvSpPr>
            <p:spPr>
              <a:xfrm>
                <a:off x="2648" y="2171"/>
                <a:ext cx="0" cy="296"/>
              </a:xfrm>
              <a:prstGeom prst="line">
                <a:avLst/>
              </a:prstGeom>
              <a:ln w="28575" cap="sq" cmpd="sng">
                <a:solidFill>
                  <a:schemeClr val="tx1"/>
                </a:solidFill>
                <a:prstDash val="solid"/>
                <a:miter/>
                <a:headEnd type="none" w="med" len="med"/>
                <a:tailEnd type="none" w="med" len="med"/>
              </a:ln>
            </p:spPr>
          </p:sp>
        </p:grpSp>
        <p:sp>
          <p:nvSpPr>
            <p:cNvPr id="136211" name="Line 84"/>
            <p:cNvSpPr/>
            <p:nvPr/>
          </p:nvSpPr>
          <p:spPr>
            <a:xfrm>
              <a:off x="528" y="2488"/>
              <a:ext cx="0" cy="912"/>
            </a:xfrm>
            <a:prstGeom prst="line">
              <a:avLst/>
            </a:prstGeom>
            <a:ln w="28575" cap="flat" cmpd="sng">
              <a:solidFill>
                <a:schemeClr val="tx1"/>
              </a:solidFill>
              <a:prstDash val="solid"/>
              <a:miter/>
              <a:headEnd type="none" w="med" len="med"/>
              <a:tailEnd type="triangle" w="med" len="med"/>
            </a:ln>
          </p:spPr>
        </p:sp>
        <p:grpSp>
          <p:nvGrpSpPr>
            <p:cNvPr id="136212" name="Group 85"/>
            <p:cNvGrpSpPr/>
            <p:nvPr/>
          </p:nvGrpSpPr>
          <p:grpSpPr>
            <a:xfrm>
              <a:off x="560" y="3696"/>
              <a:ext cx="2448" cy="296"/>
              <a:chOff x="344" y="3400"/>
              <a:chExt cx="2448" cy="296"/>
            </a:xfrm>
          </p:grpSpPr>
          <p:sp>
            <p:nvSpPr>
              <p:cNvPr id="136234" name="Rectangle 86"/>
              <p:cNvSpPr/>
              <p:nvPr/>
            </p:nvSpPr>
            <p:spPr>
              <a:xfrm>
                <a:off x="1976"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讲师</a:t>
                </a:r>
                <a:endParaRPr lang="zh-CN" altLang="en-US" sz="2800" dirty="0">
                  <a:solidFill>
                    <a:schemeClr val="tx1"/>
                  </a:solidFill>
                  <a:ea typeface="华文新魏" panose="02010800040101010101" pitchFamily="2" charset="-122"/>
                </a:endParaRPr>
              </a:p>
            </p:txBody>
          </p:sp>
          <p:sp>
            <p:nvSpPr>
              <p:cNvPr id="136235" name="Rectangle 87"/>
              <p:cNvSpPr/>
              <p:nvPr/>
            </p:nvSpPr>
            <p:spPr>
              <a:xfrm>
                <a:off x="1160"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刘新</a:t>
                </a:r>
                <a:endParaRPr lang="zh-CN" altLang="en-US" sz="2800" dirty="0">
                  <a:solidFill>
                    <a:schemeClr val="tx1"/>
                  </a:solidFill>
                  <a:ea typeface="华文新魏" panose="02010800040101010101" pitchFamily="2" charset="-122"/>
                </a:endParaRPr>
              </a:p>
            </p:txBody>
          </p:sp>
          <p:sp>
            <p:nvSpPr>
              <p:cNvPr id="136236" name="Rectangle 88"/>
              <p:cNvSpPr/>
              <p:nvPr/>
            </p:nvSpPr>
            <p:spPr>
              <a:xfrm>
                <a:off x="344"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E3721</a:t>
                </a:r>
                <a:endParaRPr lang="en-US" altLang="zh-CN" sz="2800" dirty="0">
                  <a:solidFill>
                    <a:schemeClr val="tx1"/>
                  </a:solidFill>
                  <a:ea typeface="华文新魏" panose="02010800040101010101" pitchFamily="2" charset="-122"/>
                </a:endParaRPr>
              </a:p>
            </p:txBody>
          </p:sp>
          <p:sp>
            <p:nvSpPr>
              <p:cNvPr id="136237" name="Line 89"/>
              <p:cNvSpPr/>
              <p:nvPr/>
            </p:nvSpPr>
            <p:spPr>
              <a:xfrm>
                <a:off x="344" y="3400"/>
                <a:ext cx="2448" cy="0"/>
              </a:xfrm>
              <a:prstGeom prst="line">
                <a:avLst/>
              </a:prstGeom>
              <a:ln w="28575" cap="sq" cmpd="sng">
                <a:solidFill>
                  <a:schemeClr val="tx1"/>
                </a:solidFill>
                <a:prstDash val="solid"/>
                <a:miter/>
                <a:headEnd type="none" w="med" len="med"/>
                <a:tailEnd type="none" w="med" len="med"/>
              </a:ln>
            </p:spPr>
          </p:sp>
          <p:sp>
            <p:nvSpPr>
              <p:cNvPr id="136238" name="Line 90"/>
              <p:cNvSpPr/>
              <p:nvPr/>
            </p:nvSpPr>
            <p:spPr>
              <a:xfrm>
                <a:off x="344" y="3696"/>
                <a:ext cx="2448" cy="0"/>
              </a:xfrm>
              <a:prstGeom prst="line">
                <a:avLst/>
              </a:prstGeom>
              <a:ln w="28575" cap="sq" cmpd="sng">
                <a:solidFill>
                  <a:schemeClr val="tx1"/>
                </a:solidFill>
                <a:prstDash val="solid"/>
                <a:miter/>
                <a:headEnd type="none" w="med" len="med"/>
                <a:tailEnd type="none" w="med" len="med"/>
              </a:ln>
            </p:spPr>
          </p:sp>
          <p:sp>
            <p:nvSpPr>
              <p:cNvPr id="136239" name="Line 91"/>
              <p:cNvSpPr/>
              <p:nvPr/>
            </p:nvSpPr>
            <p:spPr>
              <a:xfrm>
                <a:off x="344" y="3400"/>
                <a:ext cx="0" cy="296"/>
              </a:xfrm>
              <a:prstGeom prst="line">
                <a:avLst/>
              </a:prstGeom>
              <a:ln w="28575" cap="sq" cmpd="sng">
                <a:solidFill>
                  <a:schemeClr val="tx1"/>
                </a:solidFill>
                <a:prstDash val="solid"/>
                <a:miter/>
                <a:headEnd type="none" w="med" len="med"/>
                <a:tailEnd type="none" w="med" len="med"/>
              </a:ln>
            </p:spPr>
          </p:sp>
          <p:sp>
            <p:nvSpPr>
              <p:cNvPr id="136240" name="Line 92"/>
              <p:cNvSpPr/>
              <p:nvPr/>
            </p:nvSpPr>
            <p:spPr>
              <a:xfrm>
                <a:off x="1160" y="3400"/>
                <a:ext cx="0" cy="296"/>
              </a:xfrm>
              <a:prstGeom prst="line">
                <a:avLst/>
              </a:prstGeom>
              <a:ln w="12700" cap="flat" cmpd="sng">
                <a:solidFill>
                  <a:schemeClr val="tx1"/>
                </a:solidFill>
                <a:prstDash val="solid"/>
                <a:miter/>
                <a:headEnd type="none" w="med" len="med"/>
                <a:tailEnd type="none" w="med" len="med"/>
              </a:ln>
            </p:spPr>
          </p:sp>
          <p:sp>
            <p:nvSpPr>
              <p:cNvPr id="136241" name="Line 93"/>
              <p:cNvSpPr/>
              <p:nvPr/>
            </p:nvSpPr>
            <p:spPr>
              <a:xfrm>
                <a:off x="1976" y="3400"/>
                <a:ext cx="0" cy="296"/>
              </a:xfrm>
              <a:prstGeom prst="line">
                <a:avLst/>
              </a:prstGeom>
              <a:ln w="12700" cap="flat" cmpd="sng">
                <a:solidFill>
                  <a:schemeClr val="tx1"/>
                </a:solidFill>
                <a:prstDash val="solid"/>
                <a:miter/>
                <a:headEnd type="none" w="med" len="med"/>
                <a:tailEnd type="none" w="med" len="med"/>
              </a:ln>
            </p:spPr>
          </p:sp>
          <p:sp>
            <p:nvSpPr>
              <p:cNvPr id="136242" name="Line 94"/>
              <p:cNvSpPr/>
              <p:nvPr/>
            </p:nvSpPr>
            <p:spPr>
              <a:xfrm>
                <a:off x="2792" y="3400"/>
                <a:ext cx="0" cy="296"/>
              </a:xfrm>
              <a:prstGeom prst="line">
                <a:avLst/>
              </a:prstGeom>
              <a:ln w="28575" cap="sq" cmpd="sng">
                <a:solidFill>
                  <a:schemeClr val="tx1"/>
                </a:solidFill>
                <a:prstDash val="solid"/>
                <a:miter/>
                <a:headEnd type="none" w="med" len="med"/>
                <a:tailEnd type="none" w="med" len="med"/>
              </a:ln>
            </p:spPr>
          </p:sp>
        </p:grpSp>
        <p:grpSp>
          <p:nvGrpSpPr>
            <p:cNvPr id="136213" name="Group 95"/>
            <p:cNvGrpSpPr/>
            <p:nvPr/>
          </p:nvGrpSpPr>
          <p:grpSpPr>
            <a:xfrm>
              <a:off x="3072" y="3408"/>
              <a:ext cx="2448" cy="296"/>
              <a:chOff x="344" y="3400"/>
              <a:chExt cx="2448" cy="296"/>
            </a:xfrm>
          </p:grpSpPr>
          <p:sp>
            <p:nvSpPr>
              <p:cNvPr id="136225" name="Rectangle 96"/>
              <p:cNvSpPr/>
              <p:nvPr/>
            </p:nvSpPr>
            <p:spPr>
              <a:xfrm>
                <a:off x="1976"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教授</a:t>
                </a:r>
                <a:endParaRPr lang="zh-CN" altLang="en-US" sz="2800" dirty="0">
                  <a:solidFill>
                    <a:schemeClr val="tx1"/>
                  </a:solidFill>
                  <a:ea typeface="华文新魏" panose="02010800040101010101" pitchFamily="2" charset="-122"/>
                </a:endParaRPr>
              </a:p>
            </p:txBody>
          </p:sp>
          <p:sp>
            <p:nvSpPr>
              <p:cNvPr id="136226" name="Rectangle 97"/>
              <p:cNvSpPr/>
              <p:nvPr/>
            </p:nvSpPr>
            <p:spPr>
              <a:xfrm>
                <a:off x="1160"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王恩</a:t>
                </a:r>
                <a:endParaRPr lang="zh-CN" altLang="en-US" sz="2800" dirty="0">
                  <a:solidFill>
                    <a:schemeClr val="tx1"/>
                  </a:solidFill>
                  <a:ea typeface="华文新魏" panose="02010800040101010101" pitchFamily="2" charset="-122"/>
                </a:endParaRPr>
              </a:p>
            </p:txBody>
          </p:sp>
          <p:sp>
            <p:nvSpPr>
              <p:cNvPr id="136227" name="Rectangle 98"/>
              <p:cNvSpPr/>
              <p:nvPr/>
            </p:nvSpPr>
            <p:spPr>
              <a:xfrm>
                <a:off x="344"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E1234</a:t>
                </a:r>
                <a:endParaRPr lang="en-US" altLang="zh-CN" sz="2800" dirty="0">
                  <a:solidFill>
                    <a:schemeClr val="tx1"/>
                  </a:solidFill>
                  <a:ea typeface="华文新魏" panose="02010800040101010101" pitchFamily="2" charset="-122"/>
                </a:endParaRPr>
              </a:p>
            </p:txBody>
          </p:sp>
          <p:sp>
            <p:nvSpPr>
              <p:cNvPr id="136228" name="Line 99"/>
              <p:cNvSpPr/>
              <p:nvPr/>
            </p:nvSpPr>
            <p:spPr>
              <a:xfrm>
                <a:off x="344" y="3400"/>
                <a:ext cx="2448" cy="0"/>
              </a:xfrm>
              <a:prstGeom prst="line">
                <a:avLst/>
              </a:prstGeom>
              <a:ln w="28575" cap="sq" cmpd="sng">
                <a:solidFill>
                  <a:schemeClr val="tx1"/>
                </a:solidFill>
                <a:prstDash val="solid"/>
                <a:miter/>
                <a:headEnd type="none" w="med" len="med"/>
                <a:tailEnd type="none" w="med" len="med"/>
              </a:ln>
            </p:spPr>
          </p:sp>
          <p:sp>
            <p:nvSpPr>
              <p:cNvPr id="136229" name="Line 100"/>
              <p:cNvSpPr/>
              <p:nvPr/>
            </p:nvSpPr>
            <p:spPr>
              <a:xfrm>
                <a:off x="344" y="3696"/>
                <a:ext cx="2448" cy="0"/>
              </a:xfrm>
              <a:prstGeom prst="line">
                <a:avLst/>
              </a:prstGeom>
              <a:ln w="28575" cap="sq" cmpd="sng">
                <a:solidFill>
                  <a:schemeClr val="tx1"/>
                </a:solidFill>
                <a:prstDash val="solid"/>
                <a:miter/>
                <a:headEnd type="none" w="med" len="med"/>
                <a:tailEnd type="none" w="med" len="med"/>
              </a:ln>
            </p:spPr>
          </p:sp>
          <p:sp>
            <p:nvSpPr>
              <p:cNvPr id="136230" name="Line 101"/>
              <p:cNvSpPr/>
              <p:nvPr/>
            </p:nvSpPr>
            <p:spPr>
              <a:xfrm>
                <a:off x="344" y="3400"/>
                <a:ext cx="0" cy="296"/>
              </a:xfrm>
              <a:prstGeom prst="line">
                <a:avLst/>
              </a:prstGeom>
              <a:ln w="28575" cap="sq" cmpd="sng">
                <a:solidFill>
                  <a:schemeClr val="tx1"/>
                </a:solidFill>
                <a:prstDash val="solid"/>
                <a:miter/>
                <a:headEnd type="none" w="med" len="med"/>
                <a:tailEnd type="none" w="med" len="med"/>
              </a:ln>
            </p:spPr>
          </p:sp>
          <p:sp>
            <p:nvSpPr>
              <p:cNvPr id="136231" name="Line 102"/>
              <p:cNvSpPr/>
              <p:nvPr/>
            </p:nvSpPr>
            <p:spPr>
              <a:xfrm>
                <a:off x="1160" y="3400"/>
                <a:ext cx="0" cy="296"/>
              </a:xfrm>
              <a:prstGeom prst="line">
                <a:avLst/>
              </a:prstGeom>
              <a:ln w="12700" cap="flat" cmpd="sng">
                <a:solidFill>
                  <a:schemeClr val="tx1"/>
                </a:solidFill>
                <a:prstDash val="solid"/>
                <a:miter/>
                <a:headEnd type="none" w="med" len="med"/>
                <a:tailEnd type="none" w="med" len="med"/>
              </a:ln>
            </p:spPr>
          </p:sp>
          <p:sp>
            <p:nvSpPr>
              <p:cNvPr id="136232" name="Line 103"/>
              <p:cNvSpPr/>
              <p:nvPr/>
            </p:nvSpPr>
            <p:spPr>
              <a:xfrm>
                <a:off x="1976" y="3400"/>
                <a:ext cx="0" cy="296"/>
              </a:xfrm>
              <a:prstGeom prst="line">
                <a:avLst/>
              </a:prstGeom>
              <a:ln w="12700" cap="flat" cmpd="sng">
                <a:solidFill>
                  <a:schemeClr val="tx1"/>
                </a:solidFill>
                <a:prstDash val="solid"/>
                <a:miter/>
                <a:headEnd type="none" w="med" len="med"/>
                <a:tailEnd type="none" w="med" len="med"/>
              </a:ln>
            </p:spPr>
          </p:sp>
          <p:sp>
            <p:nvSpPr>
              <p:cNvPr id="136233" name="Line 104"/>
              <p:cNvSpPr/>
              <p:nvPr/>
            </p:nvSpPr>
            <p:spPr>
              <a:xfrm>
                <a:off x="2792" y="3400"/>
                <a:ext cx="0" cy="296"/>
              </a:xfrm>
              <a:prstGeom prst="line">
                <a:avLst/>
              </a:prstGeom>
              <a:ln w="28575" cap="sq" cmpd="sng">
                <a:solidFill>
                  <a:schemeClr val="tx1"/>
                </a:solidFill>
                <a:prstDash val="solid"/>
                <a:miter/>
                <a:headEnd type="none" w="med" len="med"/>
                <a:tailEnd type="none" w="med" len="med"/>
              </a:ln>
            </p:spPr>
          </p:sp>
        </p:grpSp>
        <p:grpSp>
          <p:nvGrpSpPr>
            <p:cNvPr id="136214" name="Group 105"/>
            <p:cNvGrpSpPr/>
            <p:nvPr/>
          </p:nvGrpSpPr>
          <p:grpSpPr>
            <a:xfrm>
              <a:off x="3200" y="3704"/>
              <a:ext cx="2448" cy="296"/>
              <a:chOff x="344" y="3400"/>
              <a:chExt cx="2448" cy="296"/>
            </a:xfrm>
          </p:grpSpPr>
          <p:sp>
            <p:nvSpPr>
              <p:cNvPr id="136216" name="Rectangle 106"/>
              <p:cNvSpPr/>
              <p:nvPr/>
            </p:nvSpPr>
            <p:spPr>
              <a:xfrm>
                <a:off x="1976"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助教</a:t>
                </a:r>
                <a:endParaRPr lang="zh-CN" altLang="en-US" sz="2800" dirty="0">
                  <a:solidFill>
                    <a:schemeClr val="tx1"/>
                  </a:solidFill>
                  <a:ea typeface="华文新魏" panose="02010800040101010101" pitchFamily="2" charset="-122"/>
                </a:endParaRPr>
              </a:p>
            </p:txBody>
          </p:sp>
          <p:sp>
            <p:nvSpPr>
              <p:cNvPr id="136217" name="Rectangle 107"/>
              <p:cNvSpPr/>
              <p:nvPr/>
            </p:nvSpPr>
            <p:spPr>
              <a:xfrm>
                <a:off x="1160"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800" dirty="0">
                    <a:solidFill>
                      <a:schemeClr val="tx1"/>
                    </a:solidFill>
                    <a:ea typeface="华文新魏" panose="02010800040101010101" pitchFamily="2" charset="-122"/>
                  </a:rPr>
                  <a:t>付弈</a:t>
                </a:r>
                <a:endParaRPr lang="zh-CN" altLang="en-US" sz="2800" dirty="0">
                  <a:solidFill>
                    <a:schemeClr val="tx1"/>
                  </a:solidFill>
                  <a:ea typeface="华文新魏" panose="02010800040101010101" pitchFamily="2" charset="-122"/>
                </a:endParaRPr>
              </a:p>
            </p:txBody>
          </p:sp>
          <p:sp>
            <p:nvSpPr>
              <p:cNvPr id="136218" name="Rectangle 108"/>
              <p:cNvSpPr/>
              <p:nvPr/>
            </p:nvSpPr>
            <p:spPr>
              <a:xfrm>
                <a:off x="344" y="3400"/>
                <a:ext cx="816" cy="29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800" dirty="0">
                    <a:solidFill>
                      <a:schemeClr val="tx1"/>
                    </a:solidFill>
                    <a:ea typeface="华文新魏" panose="02010800040101010101" pitchFamily="2" charset="-122"/>
                  </a:rPr>
                  <a:t>E3721</a:t>
                </a:r>
                <a:endParaRPr lang="en-US" altLang="zh-CN" sz="2800" dirty="0">
                  <a:solidFill>
                    <a:schemeClr val="tx1"/>
                  </a:solidFill>
                  <a:ea typeface="华文新魏" panose="02010800040101010101" pitchFamily="2" charset="-122"/>
                </a:endParaRPr>
              </a:p>
            </p:txBody>
          </p:sp>
          <p:sp>
            <p:nvSpPr>
              <p:cNvPr id="136219" name="Line 109"/>
              <p:cNvSpPr/>
              <p:nvPr/>
            </p:nvSpPr>
            <p:spPr>
              <a:xfrm>
                <a:off x="344" y="3400"/>
                <a:ext cx="2448" cy="0"/>
              </a:xfrm>
              <a:prstGeom prst="line">
                <a:avLst/>
              </a:prstGeom>
              <a:ln w="28575" cap="sq" cmpd="sng">
                <a:solidFill>
                  <a:schemeClr val="tx1"/>
                </a:solidFill>
                <a:prstDash val="solid"/>
                <a:miter/>
                <a:headEnd type="none" w="med" len="med"/>
                <a:tailEnd type="none" w="med" len="med"/>
              </a:ln>
            </p:spPr>
          </p:sp>
          <p:sp>
            <p:nvSpPr>
              <p:cNvPr id="136220" name="Line 110"/>
              <p:cNvSpPr/>
              <p:nvPr/>
            </p:nvSpPr>
            <p:spPr>
              <a:xfrm>
                <a:off x="344" y="3696"/>
                <a:ext cx="2448" cy="0"/>
              </a:xfrm>
              <a:prstGeom prst="line">
                <a:avLst/>
              </a:prstGeom>
              <a:ln w="28575" cap="sq" cmpd="sng">
                <a:solidFill>
                  <a:schemeClr val="tx1"/>
                </a:solidFill>
                <a:prstDash val="solid"/>
                <a:miter/>
                <a:headEnd type="none" w="med" len="med"/>
                <a:tailEnd type="none" w="med" len="med"/>
              </a:ln>
            </p:spPr>
          </p:sp>
          <p:sp>
            <p:nvSpPr>
              <p:cNvPr id="136221" name="Line 111"/>
              <p:cNvSpPr/>
              <p:nvPr/>
            </p:nvSpPr>
            <p:spPr>
              <a:xfrm>
                <a:off x="344" y="3400"/>
                <a:ext cx="0" cy="296"/>
              </a:xfrm>
              <a:prstGeom prst="line">
                <a:avLst/>
              </a:prstGeom>
              <a:ln w="28575" cap="sq" cmpd="sng">
                <a:solidFill>
                  <a:schemeClr val="tx1"/>
                </a:solidFill>
                <a:prstDash val="solid"/>
                <a:miter/>
                <a:headEnd type="none" w="med" len="med"/>
                <a:tailEnd type="none" w="med" len="med"/>
              </a:ln>
            </p:spPr>
          </p:sp>
          <p:sp>
            <p:nvSpPr>
              <p:cNvPr id="136222" name="Line 112"/>
              <p:cNvSpPr/>
              <p:nvPr/>
            </p:nvSpPr>
            <p:spPr>
              <a:xfrm>
                <a:off x="1160" y="3400"/>
                <a:ext cx="0" cy="296"/>
              </a:xfrm>
              <a:prstGeom prst="line">
                <a:avLst/>
              </a:prstGeom>
              <a:ln w="12700" cap="flat" cmpd="sng">
                <a:solidFill>
                  <a:schemeClr val="tx1"/>
                </a:solidFill>
                <a:prstDash val="solid"/>
                <a:miter/>
                <a:headEnd type="none" w="med" len="med"/>
                <a:tailEnd type="none" w="med" len="med"/>
              </a:ln>
            </p:spPr>
          </p:sp>
          <p:sp>
            <p:nvSpPr>
              <p:cNvPr id="136223" name="Line 113"/>
              <p:cNvSpPr/>
              <p:nvPr/>
            </p:nvSpPr>
            <p:spPr>
              <a:xfrm>
                <a:off x="1976" y="3400"/>
                <a:ext cx="0" cy="296"/>
              </a:xfrm>
              <a:prstGeom prst="line">
                <a:avLst/>
              </a:prstGeom>
              <a:ln w="12700" cap="flat" cmpd="sng">
                <a:solidFill>
                  <a:schemeClr val="tx1"/>
                </a:solidFill>
                <a:prstDash val="solid"/>
                <a:miter/>
                <a:headEnd type="none" w="med" len="med"/>
                <a:tailEnd type="none" w="med" len="med"/>
              </a:ln>
            </p:spPr>
          </p:sp>
          <p:sp>
            <p:nvSpPr>
              <p:cNvPr id="136224" name="Line 114"/>
              <p:cNvSpPr/>
              <p:nvPr/>
            </p:nvSpPr>
            <p:spPr>
              <a:xfrm>
                <a:off x="2792" y="3400"/>
                <a:ext cx="0" cy="296"/>
              </a:xfrm>
              <a:prstGeom prst="line">
                <a:avLst/>
              </a:prstGeom>
              <a:ln w="28575" cap="sq" cmpd="sng">
                <a:solidFill>
                  <a:schemeClr val="tx1"/>
                </a:solidFill>
                <a:prstDash val="solid"/>
                <a:miter/>
                <a:headEnd type="none" w="med" len="med"/>
                <a:tailEnd type="none" w="med" len="med"/>
              </a:ln>
            </p:spPr>
          </p:sp>
        </p:grpSp>
        <p:sp>
          <p:nvSpPr>
            <p:cNvPr id="136215" name="Line 115"/>
            <p:cNvSpPr/>
            <p:nvPr/>
          </p:nvSpPr>
          <p:spPr>
            <a:xfrm>
              <a:off x="2928" y="2928"/>
              <a:ext cx="240" cy="0"/>
            </a:xfrm>
            <a:prstGeom prst="line">
              <a:avLst/>
            </a:prstGeom>
            <a:ln w="28575" cap="flat" cmpd="sng">
              <a:solidFill>
                <a:schemeClr val="tx1"/>
              </a:solidFill>
              <a:prstDash val="solid"/>
              <a:miter/>
              <a:headEnd type="none" w="med" len="med"/>
              <a:tailEnd type="none" w="med" len="med"/>
            </a:ln>
          </p:spPr>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7219"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7220" name="Rectangle 3"/>
          <p:cNvSpPr>
            <a:spLocks noGrp="1"/>
          </p:cNvSpPr>
          <p:nvPr>
            <p:ph idx="1"/>
          </p:nvPr>
        </p:nvSpPr>
        <p:spPr>
          <a:xfrm>
            <a:off x="228600" y="914400"/>
            <a:ext cx="8686800" cy="4953000"/>
          </a:xfrm>
          <a:ln/>
        </p:spPr>
        <p:txBody>
          <a:bodyPr vert="horz" wrap="square" lIns="91440" tIns="45720" rIns="91440" bIns="45720" anchor="t" anchorCtr="0"/>
          <a:p>
            <a:pPr algn="just" eaLnBrk="1" hangingPunct="1">
              <a:lnSpc>
                <a:spcPct val="120000"/>
              </a:lnSpc>
              <a:buNone/>
            </a:pPr>
            <a:r>
              <a:rPr lang="zh-CN" altLang="en-US" sz="2800" dirty="0"/>
              <a:t>层次数据模型的数据结构</a:t>
            </a:r>
            <a:r>
              <a:rPr lang="en-US" altLang="zh-CN" sz="2800" dirty="0"/>
              <a:t>(</a:t>
            </a:r>
            <a:r>
              <a:rPr lang="zh-CN" altLang="en-US" sz="2800" dirty="0"/>
              <a:t>续</a:t>
            </a:r>
            <a:r>
              <a:rPr lang="en-US" altLang="zh-CN" sz="2800" dirty="0"/>
              <a:t>)</a:t>
            </a:r>
            <a:r>
              <a:rPr lang="en-US" altLang="zh-CN" sz="2800" dirty="0">
                <a:solidFill>
                  <a:schemeClr val="tx1"/>
                </a:solidFill>
              </a:rPr>
              <a:t> </a:t>
            </a:r>
            <a:endParaRPr lang="en-US" altLang="zh-CN" sz="2800" dirty="0">
              <a:solidFill>
                <a:schemeClr val="tx1"/>
              </a:solidFill>
            </a:endParaRPr>
          </a:p>
          <a:p>
            <a:pPr algn="just" eaLnBrk="1" hangingPunct="1"/>
            <a:r>
              <a:rPr lang="zh-CN" altLang="en-US" sz="2800" dirty="0">
                <a:solidFill>
                  <a:schemeClr val="tx1"/>
                </a:solidFill>
              </a:rPr>
              <a:t>特点</a:t>
            </a:r>
            <a:endParaRPr lang="zh-CN" altLang="en-US" sz="2800" dirty="0">
              <a:solidFill>
                <a:schemeClr val="tx1"/>
              </a:solidFill>
            </a:endParaRPr>
          </a:p>
          <a:p>
            <a:pPr lvl="1" algn="just" eaLnBrk="1" hangingPunct="1">
              <a:lnSpc>
                <a:spcPct val="160000"/>
              </a:lnSpc>
            </a:pPr>
            <a:r>
              <a:rPr lang="zh-CN" altLang="en-US" sz="2400" dirty="0"/>
              <a:t>结点的双亲是唯一的</a:t>
            </a:r>
            <a:endParaRPr lang="zh-CN" altLang="en-US" sz="2400" dirty="0"/>
          </a:p>
          <a:p>
            <a:pPr lvl="1" algn="just" eaLnBrk="1" hangingPunct="1">
              <a:lnSpc>
                <a:spcPct val="160000"/>
              </a:lnSpc>
            </a:pPr>
            <a:r>
              <a:rPr lang="zh-CN" altLang="en-US" sz="2400" dirty="0"/>
              <a:t>只能直接处理一对多的实体联系</a:t>
            </a:r>
            <a:endParaRPr lang="zh-CN" altLang="en-US" sz="2400" dirty="0"/>
          </a:p>
          <a:p>
            <a:pPr lvl="1" algn="just" eaLnBrk="1" hangingPunct="1">
              <a:lnSpc>
                <a:spcPct val="160000"/>
              </a:lnSpc>
            </a:pPr>
            <a:r>
              <a:rPr lang="zh-CN" altLang="en-US" sz="2400" dirty="0"/>
              <a:t>每个记录类型定义一个排序字段，也称为码字段</a:t>
            </a:r>
            <a:endParaRPr lang="zh-CN" altLang="en-US" sz="2400" dirty="0"/>
          </a:p>
          <a:p>
            <a:pPr lvl="1" algn="just" eaLnBrk="1" hangingPunct="1">
              <a:lnSpc>
                <a:spcPct val="160000"/>
              </a:lnSpc>
            </a:pPr>
            <a:r>
              <a:rPr lang="zh-CN" altLang="en-US" sz="2400" dirty="0"/>
              <a:t>任何记录值只有按其路径查看时，才能显出它的全部意义</a:t>
            </a:r>
            <a:endParaRPr lang="zh-CN" altLang="en-US" sz="2400" dirty="0"/>
          </a:p>
          <a:p>
            <a:pPr lvl="1" algn="just" eaLnBrk="1" hangingPunct="1">
              <a:lnSpc>
                <a:spcPct val="160000"/>
              </a:lnSpc>
            </a:pPr>
            <a:r>
              <a:rPr lang="zh-CN" altLang="en-US" sz="2400" dirty="0"/>
              <a:t>没有一个子女记录值能够脱离双亲记录值而独立存在</a:t>
            </a:r>
            <a:endParaRPr lang="zh-CN" altLang="en-US" sz="24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8243"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8244" name="Rectangle 3"/>
          <p:cNvSpPr>
            <a:spLocks noGrp="1"/>
          </p:cNvSpPr>
          <p:nvPr>
            <p:ph idx="1"/>
          </p:nvPr>
        </p:nvSpPr>
        <p:spPr>
          <a:xfrm>
            <a:off x="228600" y="838200"/>
            <a:ext cx="8458200" cy="5562600"/>
          </a:xfrm>
          <a:ln/>
        </p:spPr>
        <p:txBody>
          <a:bodyPr vert="horz" wrap="square" lIns="91440" tIns="45720" rIns="91440" bIns="45720" anchor="t" anchorCtr="0"/>
          <a:p>
            <a:pPr algn="just" eaLnBrk="1" hangingPunct="1">
              <a:lnSpc>
                <a:spcPct val="120000"/>
              </a:lnSpc>
              <a:buNone/>
            </a:pPr>
            <a:r>
              <a:rPr lang="zh-CN" altLang="en-US" sz="2800" dirty="0"/>
              <a:t>层次数据模型的数据结构</a:t>
            </a:r>
            <a:r>
              <a:rPr lang="en-US" altLang="zh-CN" sz="2800" dirty="0"/>
              <a:t>(</a:t>
            </a:r>
            <a:r>
              <a:rPr lang="zh-CN" altLang="en-US" sz="2800" dirty="0"/>
              <a:t>续</a:t>
            </a:r>
            <a:r>
              <a:rPr lang="en-US" altLang="zh-CN" sz="2800" dirty="0"/>
              <a:t>) </a:t>
            </a:r>
            <a:endParaRPr lang="en-US" altLang="zh-CN" sz="2800" dirty="0"/>
          </a:p>
          <a:p>
            <a:pPr algn="just" eaLnBrk="1" hangingPunct="1">
              <a:lnSpc>
                <a:spcPct val="90000"/>
              </a:lnSpc>
            </a:pPr>
            <a:r>
              <a:rPr lang="zh-CN" altLang="en-US" sz="2800" dirty="0">
                <a:solidFill>
                  <a:schemeClr val="tx1"/>
                </a:solidFill>
              </a:rPr>
              <a:t>多对多联系在层次模型中的表示</a:t>
            </a:r>
            <a:endParaRPr lang="zh-CN" altLang="en-US" sz="2800" dirty="0">
              <a:solidFill>
                <a:schemeClr val="tx1"/>
              </a:solidFill>
            </a:endParaRPr>
          </a:p>
          <a:p>
            <a:pPr lvl="1" algn="just" eaLnBrk="1" hangingPunct="1">
              <a:lnSpc>
                <a:spcPct val="120000"/>
              </a:lnSpc>
            </a:pPr>
            <a:r>
              <a:rPr lang="zh-CN" altLang="en-US" sz="2400" dirty="0"/>
              <a:t>用层次模型</a:t>
            </a:r>
            <a:r>
              <a:rPr lang="zh-CN" altLang="en-US" sz="2400" dirty="0">
                <a:solidFill>
                  <a:schemeClr val="accent2"/>
                </a:solidFill>
              </a:rPr>
              <a:t>间接</a:t>
            </a:r>
            <a:r>
              <a:rPr lang="zh-CN" altLang="en-US" sz="2400" dirty="0"/>
              <a:t>表示多对多联系</a:t>
            </a:r>
            <a:endParaRPr lang="zh-CN" altLang="en-US" sz="2400" dirty="0"/>
          </a:p>
          <a:p>
            <a:pPr lvl="1" algn="just" eaLnBrk="1" hangingPunct="1">
              <a:lnSpc>
                <a:spcPct val="120000"/>
              </a:lnSpc>
            </a:pPr>
            <a:r>
              <a:rPr lang="zh-CN" altLang="en-US" sz="2400" dirty="0"/>
              <a:t>方法</a:t>
            </a:r>
            <a:endParaRPr lang="zh-CN" altLang="en-US" sz="2400" dirty="0"/>
          </a:p>
          <a:p>
            <a:pPr lvl="2" algn="just" eaLnBrk="1" hangingPunct="1">
              <a:lnSpc>
                <a:spcPct val="120000"/>
              </a:lnSpc>
              <a:buNone/>
            </a:pPr>
            <a:r>
              <a:rPr lang="zh-CN" altLang="en-US" sz="2000" dirty="0"/>
              <a:t>将多对多联系</a:t>
            </a:r>
            <a:r>
              <a:rPr lang="zh-CN" altLang="en-US" sz="2000" dirty="0">
                <a:solidFill>
                  <a:schemeClr val="accent2"/>
                </a:solidFill>
              </a:rPr>
              <a:t>分解</a:t>
            </a:r>
            <a:r>
              <a:rPr lang="zh-CN" altLang="en-US" sz="2000" dirty="0"/>
              <a:t>成一对多联系</a:t>
            </a:r>
            <a:endParaRPr lang="zh-CN" altLang="en-US" sz="2000" dirty="0"/>
          </a:p>
          <a:p>
            <a:pPr lvl="2" algn="just" eaLnBrk="1" hangingPunct="1">
              <a:lnSpc>
                <a:spcPct val="120000"/>
              </a:lnSpc>
              <a:buNone/>
            </a:pPr>
            <a:endParaRPr lang="zh-CN" altLang="en-US" sz="2000" dirty="0"/>
          </a:p>
          <a:p>
            <a:pPr lvl="2" algn="just" eaLnBrk="1" hangingPunct="1">
              <a:lnSpc>
                <a:spcPct val="120000"/>
              </a:lnSpc>
              <a:buNone/>
            </a:pPr>
            <a:endParaRPr lang="zh-CN" altLang="en-US" sz="2000" dirty="0"/>
          </a:p>
          <a:p>
            <a:pPr lvl="2" algn="just" eaLnBrk="1" hangingPunct="1">
              <a:lnSpc>
                <a:spcPct val="120000"/>
              </a:lnSpc>
              <a:buNone/>
            </a:pPr>
            <a:endParaRPr lang="zh-CN" altLang="en-US" sz="2000" dirty="0"/>
          </a:p>
          <a:p>
            <a:pPr lvl="2" algn="just" eaLnBrk="1" hangingPunct="1">
              <a:lnSpc>
                <a:spcPct val="120000"/>
              </a:lnSpc>
              <a:buNone/>
            </a:pPr>
            <a:endParaRPr lang="zh-CN" altLang="en-US" sz="2000" dirty="0"/>
          </a:p>
          <a:p>
            <a:pPr lvl="1" algn="just" eaLnBrk="1" hangingPunct="1">
              <a:lnSpc>
                <a:spcPct val="120000"/>
              </a:lnSpc>
            </a:pPr>
            <a:r>
              <a:rPr lang="zh-CN" altLang="en-US" sz="2400" dirty="0"/>
              <a:t>分解方法</a:t>
            </a:r>
            <a:endParaRPr lang="en-US" altLang="zh-CN" sz="2400" dirty="0"/>
          </a:p>
          <a:p>
            <a:pPr lvl="2" algn="just" eaLnBrk="1" hangingPunct="1">
              <a:lnSpc>
                <a:spcPct val="120000"/>
              </a:lnSpc>
            </a:pPr>
            <a:r>
              <a:rPr lang="zh-CN" altLang="en-US" sz="2000" dirty="0"/>
              <a:t>冗余数据法</a:t>
            </a:r>
            <a:endParaRPr lang="zh-CN" altLang="en-US" sz="2000" dirty="0"/>
          </a:p>
          <a:p>
            <a:pPr lvl="2" algn="just" eaLnBrk="1" hangingPunct="1">
              <a:lnSpc>
                <a:spcPct val="120000"/>
              </a:lnSpc>
            </a:pPr>
            <a:r>
              <a:rPr lang="zh-CN" altLang="en-US" sz="2000" dirty="0"/>
              <a:t>虚拟结点法</a:t>
            </a:r>
            <a:endParaRPr lang="zh-CN" altLang="en-US" sz="2000" dirty="0"/>
          </a:p>
        </p:txBody>
      </p:sp>
      <p:grpSp>
        <p:nvGrpSpPr>
          <p:cNvPr id="138245" name="Group 4"/>
          <p:cNvGrpSpPr/>
          <p:nvPr/>
        </p:nvGrpSpPr>
        <p:grpSpPr>
          <a:xfrm>
            <a:off x="914400" y="3810000"/>
            <a:ext cx="6858000" cy="1487488"/>
            <a:chOff x="912" y="2256"/>
            <a:chExt cx="4320" cy="937"/>
          </a:xfrm>
        </p:grpSpPr>
        <p:sp>
          <p:nvSpPr>
            <p:cNvPr id="138246" name="Rectangle 5"/>
            <p:cNvSpPr/>
            <p:nvPr/>
          </p:nvSpPr>
          <p:spPr>
            <a:xfrm>
              <a:off x="912" y="2279"/>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47" name="Rectangle 6"/>
            <p:cNvSpPr/>
            <p:nvPr/>
          </p:nvSpPr>
          <p:spPr>
            <a:xfrm>
              <a:off x="3420" y="2445"/>
              <a:ext cx="228" cy="35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48" name="Rectangle 7"/>
            <p:cNvSpPr/>
            <p:nvPr/>
          </p:nvSpPr>
          <p:spPr>
            <a:xfrm>
              <a:off x="3494" y="2468"/>
              <a:ext cx="81"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m</a:t>
              </a:r>
              <a:endParaRPr lang="en-US" altLang="zh-CN" sz="2000" i="1" dirty="0">
                <a:solidFill>
                  <a:srgbClr val="0000FF"/>
                </a:solidFill>
                <a:ea typeface="黑体" panose="02010609060101010101" pitchFamily="49" charset="-122"/>
              </a:endParaRPr>
            </a:p>
          </p:txBody>
        </p:sp>
        <p:sp>
          <p:nvSpPr>
            <p:cNvPr id="138249" name="Rectangle 8"/>
            <p:cNvSpPr/>
            <p:nvPr/>
          </p:nvSpPr>
          <p:spPr>
            <a:xfrm>
              <a:off x="3574" y="2468"/>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50" name="Rectangle 9"/>
            <p:cNvSpPr/>
            <p:nvPr/>
          </p:nvSpPr>
          <p:spPr>
            <a:xfrm>
              <a:off x="3494" y="2566"/>
              <a:ext cx="52"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n</a:t>
              </a:r>
              <a:endParaRPr lang="en-US" altLang="zh-CN" sz="2000" i="1" dirty="0">
                <a:solidFill>
                  <a:srgbClr val="0000FF"/>
                </a:solidFill>
                <a:ea typeface="黑体" panose="02010609060101010101" pitchFamily="49" charset="-122"/>
              </a:endParaRPr>
            </a:p>
          </p:txBody>
        </p:sp>
        <p:sp>
          <p:nvSpPr>
            <p:cNvPr id="138251" name="Rectangle 10"/>
            <p:cNvSpPr/>
            <p:nvPr/>
          </p:nvSpPr>
          <p:spPr>
            <a:xfrm>
              <a:off x="3494" y="2664"/>
              <a:ext cx="81"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m</a:t>
              </a:r>
              <a:endParaRPr lang="en-US" altLang="zh-CN" sz="2000" i="1" dirty="0">
                <a:solidFill>
                  <a:srgbClr val="0000FF"/>
                </a:solidFill>
                <a:ea typeface="黑体" panose="02010609060101010101" pitchFamily="49" charset="-122"/>
              </a:endParaRPr>
            </a:p>
          </p:txBody>
        </p:sp>
        <p:sp>
          <p:nvSpPr>
            <p:cNvPr id="138252" name="Rectangle 11"/>
            <p:cNvSpPr/>
            <p:nvPr/>
          </p:nvSpPr>
          <p:spPr>
            <a:xfrm>
              <a:off x="3574" y="2664"/>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53" name="Rectangle 12"/>
            <p:cNvSpPr/>
            <p:nvPr/>
          </p:nvSpPr>
          <p:spPr>
            <a:xfrm>
              <a:off x="3186" y="2271"/>
              <a:ext cx="498" cy="234"/>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54" name="Rectangle 13"/>
            <p:cNvSpPr/>
            <p:nvPr/>
          </p:nvSpPr>
          <p:spPr>
            <a:xfrm>
              <a:off x="3259" y="2332"/>
              <a:ext cx="31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Student</a:t>
              </a:r>
              <a:endParaRPr lang="en-US" altLang="zh-CN" sz="2000" i="1" dirty="0">
                <a:solidFill>
                  <a:srgbClr val="0000FF"/>
                </a:solidFill>
                <a:ea typeface="黑体" panose="02010609060101010101" pitchFamily="49" charset="-122"/>
              </a:endParaRPr>
            </a:p>
          </p:txBody>
        </p:sp>
        <p:sp>
          <p:nvSpPr>
            <p:cNvPr id="138255" name="Rectangle 14"/>
            <p:cNvSpPr/>
            <p:nvPr/>
          </p:nvSpPr>
          <p:spPr>
            <a:xfrm>
              <a:off x="3574" y="2332"/>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56" name="Rectangle 15"/>
            <p:cNvSpPr/>
            <p:nvPr/>
          </p:nvSpPr>
          <p:spPr>
            <a:xfrm>
              <a:off x="3992" y="2271"/>
              <a:ext cx="499" cy="234"/>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57" name="Rectangle 16"/>
            <p:cNvSpPr/>
            <p:nvPr/>
          </p:nvSpPr>
          <p:spPr>
            <a:xfrm>
              <a:off x="4066" y="2332"/>
              <a:ext cx="31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Student</a:t>
              </a:r>
              <a:endParaRPr lang="en-US" altLang="zh-CN" sz="2000" i="1" dirty="0">
                <a:solidFill>
                  <a:srgbClr val="0000FF"/>
                </a:solidFill>
                <a:ea typeface="黑体" panose="02010609060101010101" pitchFamily="49" charset="-122"/>
              </a:endParaRPr>
            </a:p>
          </p:txBody>
        </p:sp>
        <p:sp>
          <p:nvSpPr>
            <p:cNvPr id="138258" name="Rectangle 17"/>
            <p:cNvSpPr/>
            <p:nvPr/>
          </p:nvSpPr>
          <p:spPr>
            <a:xfrm>
              <a:off x="4381" y="2332"/>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59" name="Rectangle 18"/>
            <p:cNvSpPr/>
            <p:nvPr/>
          </p:nvSpPr>
          <p:spPr>
            <a:xfrm>
              <a:off x="3186" y="2664"/>
              <a:ext cx="498" cy="234"/>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60" name="Rectangle 19"/>
            <p:cNvSpPr/>
            <p:nvPr/>
          </p:nvSpPr>
          <p:spPr>
            <a:xfrm>
              <a:off x="3259" y="2725"/>
              <a:ext cx="271"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course</a:t>
              </a:r>
              <a:endParaRPr lang="en-US" altLang="zh-CN" sz="2000" i="1" dirty="0">
                <a:solidFill>
                  <a:srgbClr val="0000FF"/>
                </a:solidFill>
                <a:ea typeface="黑体" panose="02010609060101010101" pitchFamily="49" charset="-122"/>
              </a:endParaRPr>
            </a:p>
          </p:txBody>
        </p:sp>
        <p:sp>
          <p:nvSpPr>
            <p:cNvPr id="138261" name="Rectangle 20"/>
            <p:cNvSpPr/>
            <p:nvPr/>
          </p:nvSpPr>
          <p:spPr>
            <a:xfrm>
              <a:off x="3538" y="2725"/>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62" name="Rectangle 21"/>
            <p:cNvSpPr/>
            <p:nvPr/>
          </p:nvSpPr>
          <p:spPr>
            <a:xfrm>
              <a:off x="4007" y="2664"/>
              <a:ext cx="499" cy="234"/>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63" name="Rectangle 22"/>
            <p:cNvSpPr/>
            <p:nvPr/>
          </p:nvSpPr>
          <p:spPr>
            <a:xfrm>
              <a:off x="4080" y="2725"/>
              <a:ext cx="271"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course</a:t>
              </a:r>
              <a:endParaRPr lang="en-US" altLang="zh-CN" sz="2000" i="1" dirty="0">
                <a:solidFill>
                  <a:srgbClr val="0000FF"/>
                </a:solidFill>
                <a:ea typeface="黑体" panose="02010609060101010101" pitchFamily="49" charset="-122"/>
              </a:endParaRPr>
            </a:p>
          </p:txBody>
        </p:sp>
        <p:sp>
          <p:nvSpPr>
            <p:cNvPr id="138264" name="Rectangle 23"/>
            <p:cNvSpPr/>
            <p:nvPr/>
          </p:nvSpPr>
          <p:spPr>
            <a:xfrm>
              <a:off x="4359" y="2725"/>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65" name="Rectangle 24"/>
            <p:cNvSpPr/>
            <p:nvPr/>
          </p:nvSpPr>
          <p:spPr>
            <a:xfrm>
              <a:off x="4711" y="2286"/>
              <a:ext cx="499" cy="234"/>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66" name="Rectangle 25"/>
            <p:cNvSpPr/>
            <p:nvPr/>
          </p:nvSpPr>
          <p:spPr>
            <a:xfrm>
              <a:off x="4785" y="2347"/>
              <a:ext cx="271"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course</a:t>
              </a:r>
              <a:endParaRPr lang="en-US" altLang="zh-CN" sz="2000" i="1" dirty="0">
                <a:solidFill>
                  <a:srgbClr val="0000FF"/>
                </a:solidFill>
                <a:ea typeface="黑体" panose="02010609060101010101" pitchFamily="49" charset="-122"/>
              </a:endParaRPr>
            </a:p>
          </p:txBody>
        </p:sp>
        <p:sp>
          <p:nvSpPr>
            <p:cNvPr id="138267" name="Rectangle 26"/>
            <p:cNvSpPr/>
            <p:nvPr/>
          </p:nvSpPr>
          <p:spPr>
            <a:xfrm>
              <a:off x="5063" y="2347"/>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68" name="Rectangle 27"/>
            <p:cNvSpPr/>
            <p:nvPr/>
          </p:nvSpPr>
          <p:spPr>
            <a:xfrm>
              <a:off x="4733" y="2672"/>
              <a:ext cx="499" cy="234"/>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69" name="Rectangle 28"/>
            <p:cNvSpPr/>
            <p:nvPr/>
          </p:nvSpPr>
          <p:spPr>
            <a:xfrm>
              <a:off x="4807" y="2732"/>
              <a:ext cx="31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Student</a:t>
              </a:r>
              <a:endParaRPr lang="en-US" altLang="zh-CN" sz="2000" i="1" dirty="0">
                <a:solidFill>
                  <a:srgbClr val="0000FF"/>
                </a:solidFill>
                <a:ea typeface="黑体" panose="02010609060101010101" pitchFamily="49" charset="-122"/>
              </a:endParaRPr>
            </a:p>
          </p:txBody>
        </p:sp>
        <p:sp>
          <p:nvSpPr>
            <p:cNvPr id="138270" name="Rectangle 29"/>
            <p:cNvSpPr/>
            <p:nvPr/>
          </p:nvSpPr>
          <p:spPr>
            <a:xfrm>
              <a:off x="5122" y="2732"/>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71" name="Line 30"/>
            <p:cNvSpPr/>
            <p:nvPr/>
          </p:nvSpPr>
          <p:spPr>
            <a:xfrm>
              <a:off x="4931" y="2520"/>
              <a:ext cx="1" cy="159"/>
            </a:xfrm>
            <a:prstGeom prst="line">
              <a:avLst/>
            </a:prstGeom>
            <a:ln w="11113" cap="flat" cmpd="sng">
              <a:solidFill>
                <a:srgbClr val="000000"/>
              </a:solidFill>
              <a:prstDash val="solid"/>
              <a:headEnd type="none" w="med" len="med"/>
              <a:tailEnd type="none" w="med" len="med"/>
            </a:ln>
          </p:spPr>
        </p:sp>
        <p:sp>
          <p:nvSpPr>
            <p:cNvPr id="138272" name="Freeform 31"/>
            <p:cNvSpPr/>
            <p:nvPr/>
          </p:nvSpPr>
          <p:spPr>
            <a:xfrm>
              <a:off x="3574" y="2528"/>
              <a:ext cx="426" cy="76"/>
            </a:xfrm>
            <a:custGeom>
              <a:avLst/>
              <a:gdLst/>
              <a:ahLst/>
              <a:cxnLst>
                <a:cxn ang="0">
                  <a:pos x="316" y="0"/>
                </a:cxn>
                <a:cxn ang="0">
                  <a:pos x="316" y="23"/>
                </a:cxn>
                <a:cxn ang="0">
                  <a:pos x="0" y="23"/>
                </a:cxn>
                <a:cxn ang="0">
                  <a:pos x="0" y="60"/>
                </a:cxn>
                <a:cxn ang="0">
                  <a:pos x="316" y="60"/>
                </a:cxn>
                <a:cxn ang="0">
                  <a:pos x="316" y="76"/>
                </a:cxn>
                <a:cxn ang="0">
                  <a:pos x="426" y="38"/>
                </a:cxn>
                <a:cxn ang="0">
                  <a:pos x="316" y="0"/>
                </a:cxn>
              </a:cxnLst>
              <a:pathLst>
                <a:path w="426" h="76">
                  <a:moveTo>
                    <a:pt x="316" y="0"/>
                  </a:moveTo>
                  <a:lnTo>
                    <a:pt x="316" y="23"/>
                  </a:lnTo>
                  <a:lnTo>
                    <a:pt x="0" y="23"/>
                  </a:lnTo>
                  <a:lnTo>
                    <a:pt x="0" y="60"/>
                  </a:lnTo>
                  <a:lnTo>
                    <a:pt x="316" y="60"/>
                  </a:lnTo>
                  <a:lnTo>
                    <a:pt x="316" y="76"/>
                  </a:lnTo>
                  <a:lnTo>
                    <a:pt x="426" y="38"/>
                  </a:lnTo>
                  <a:lnTo>
                    <a:pt x="316" y="0"/>
                  </a:lnTo>
                  <a:close/>
                </a:path>
              </a:pathLst>
            </a:custGeom>
            <a:solidFill>
              <a:srgbClr val="FFFFFF">
                <a:alpha val="100000"/>
              </a:srgbClr>
            </a:solidFill>
            <a:ln w="11113" cap="flat" cmpd="sng">
              <a:solidFill>
                <a:srgbClr val="000000">
                  <a:alpha val="100000"/>
                </a:srgbClr>
              </a:solidFill>
              <a:prstDash val="solid"/>
              <a:round/>
              <a:headEnd type="none" w="med" len="med"/>
              <a:tailEnd type="none" w="med" len="med"/>
            </a:ln>
          </p:spPr>
          <p:txBody>
            <a:bodyPr/>
            <a:p>
              <a:endParaRPr lang="en-US"/>
            </a:p>
          </p:txBody>
        </p:sp>
        <p:sp>
          <p:nvSpPr>
            <p:cNvPr id="138273" name="Line 32"/>
            <p:cNvSpPr/>
            <p:nvPr/>
          </p:nvSpPr>
          <p:spPr>
            <a:xfrm>
              <a:off x="4242" y="2505"/>
              <a:ext cx="1" cy="159"/>
            </a:xfrm>
            <a:prstGeom prst="line">
              <a:avLst/>
            </a:prstGeom>
            <a:ln w="11113" cap="flat" cmpd="sng">
              <a:solidFill>
                <a:srgbClr val="000000"/>
              </a:solidFill>
              <a:prstDash val="solid"/>
              <a:headEnd type="none" w="med" len="med"/>
              <a:tailEnd type="none" w="med" len="med"/>
            </a:ln>
          </p:spPr>
        </p:sp>
        <p:sp>
          <p:nvSpPr>
            <p:cNvPr id="138274" name="Line 33"/>
            <p:cNvSpPr/>
            <p:nvPr/>
          </p:nvSpPr>
          <p:spPr>
            <a:xfrm>
              <a:off x="3435" y="2505"/>
              <a:ext cx="1" cy="159"/>
            </a:xfrm>
            <a:prstGeom prst="line">
              <a:avLst/>
            </a:prstGeom>
            <a:ln w="11113" cap="flat" cmpd="sng">
              <a:solidFill>
                <a:srgbClr val="000000"/>
              </a:solidFill>
              <a:prstDash val="solid"/>
              <a:headEnd type="none" w="med" len="med"/>
              <a:tailEnd type="none" w="med" len="med"/>
            </a:ln>
          </p:spPr>
        </p:sp>
        <p:sp>
          <p:nvSpPr>
            <p:cNvPr id="138275" name="Rectangle 34"/>
            <p:cNvSpPr/>
            <p:nvPr/>
          </p:nvSpPr>
          <p:spPr>
            <a:xfrm>
              <a:off x="4029" y="2966"/>
              <a:ext cx="492" cy="22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76" name="Rectangle 35"/>
            <p:cNvSpPr/>
            <p:nvPr/>
          </p:nvSpPr>
          <p:spPr>
            <a:xfrm>
              <a:off x="4102" y="3019"/>
              <a:ext cx="52"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1</a:t>
              </a:r>
              <a:endParaRPr lang="en-US" altLang="zh-CN" sz="2000" i="1" dirty="0">
                <a:solidFill>
                  <a:srgbClr val="0000FF"/>
                </a:solidFill>
                <a:ea typeface="黑体" panose="02010609060101010101" pitchFamily="49" charset="-122"/>
              </a:endParaRPr>
            </a:p>
          </p:txBody>
        </p:sp>
        <p:sp>
          <p:nvSpPr>
            <p:cNvPr id="138277" name="Rectangle 36"/>
            <p:cNvSpPr/>
            <p:nvPr/>
          </p:nvSpPr>
          <p:spPr>
            <a:xfrm>
              <a:off x="4154" y="3027"/>
              <a:ext cx="104"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300" b="0" dirty="0">
                  <a:solidFill>
                    <a:srgbClr val="000000"/>
                  </a:solidFill>
                  <a:latin typeface="宋体" panose="02010600030101010101" pitchFamily="2" charset="-122"/>
                  <a:cs typeface="Arial" panose="020B0604020202020204" pitchFamily="34" charset="0"/>
                </a:rPr>
                <a:t>：</a:t>
              </a:r>
              <a:endParaRPr lang="zh-CN" altLang="en-US" sz="2000" i="1" dirty="0">
                <a:solidFill>
                  <a:srgbClr val="0000FF"/>
                </a:solidFill>
                <a:ea typeface="黑体" panose="02010609060101010101" pitchFamily="49" charset="-122"/>
              </a:endParaRPr>
            </a:p>
          </p:txBody>
        </p:sp>
        <p:sp>
          <p:nvSpPr>
            <p:cNvPr id="138278" name="Rectangle 37"/>
            <p:cNvSpPr/>
            <p:nvPr/>
          </p:nvSpPr>
          <p:spPr>
            <a:xfrm>
              <a:off x="4257" y="3019"/>
              <a:ext cx="81"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m</a:t>
              </a:r>
              <a:endParaRPr lang="en-US" altLang="zh-CN" sz="2000" i="1" dirty="0">
                <a:solidFill>
                  <a:srgbClr val="0000FF"/>
                </a:solidFill>
                <a:ea typeface="黑体" panose="02010609060101010101" pitchFamily="49" charset="-122"/>
              </a:endParaRPr>
            </a:p>
          </p:txBody>
        </p:sp>
        <p:sp>
          <p:nvSpPr>
            <p:cNvPr id="138279" name="Rectangle 38"/>
            <p:cNvSpPr/>
            <p:nvPr/>
          </p:nvSpPr>
          <p:spPr>
            <a:xfrm>
              <a:off x="4337" y="3019"/>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80" name="Rectangle 39"/>
            <p:cNvSpPr/>
            <p:nvPr/>
          </p:nvSpPr>
          <p:spPr>
            <a:xfrm>
              <a:off x="4733" y="2966"/>
              <a:ext cx="492" cy="22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81" name="Rectangle 40"/>
            <p:cNvSpPr/>
            <p:nvPr/>
          </p:nvSpPr>
          <p:spPr>
            <a:xfrm>
              <a:off x="4807" y="3019"/>
              <a:ext cx="52"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1</a:t>
              </a:r>
              <a:endParaRPr lang="en-US" altLang="zh-CN" sz="2000" i="1" dirty="0">
                <a:solidFill>
                  <a:srgbClr val="0000FF"/>
                </a:solidFill>
                <a:ea typeface="黑体" panose="02010609060101010101" pitchFamily="49" charset="-122"/>
              </a:endParaRPr>
            </a:p>
          </p:txBody>
        </p:sp>
        <p:sp>
          <p:nvSpPr>
            <p:cNvPr id="138282" name="Rectangle 41"/>
            <p:cNvSpPr/>
            <p:nvPr/>
          </p:nvSpPr>
          <p:spPr>
            <a:xfrm>
              <a:off x="4858" y="3027"/>
              <a:ext cx="104"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1300" b="0" dirty="0">
                  <a:solidFill>
                    <a:srgbClr val="000000"/>
                  </a:solidFill>
                  <a:latin typeface="宋体" panose="02010600030101010101" pitchFamily="2" charset="-122"/>
                  <a:cs typeface="Arial" panose="020B0604020202020204" pitchFamily="34" charset="0"/>
                </a:rPr>
                <a:t>：</a:t>
              </a:r>
              <a:endParaRPr lang="zh-CN" altLang="en-US" sz="2000" i="1" dirty="0">
                <a:solidFill>
                  <a:srgbClr val="0000FF"/>
                </a:solidFill>
                <a:ea typeface="黑体" panose="02010609060101010101" pitchFamily="49" charset="-122"/>
              </a:endParaRPr>
            </a:p>
          </p:txBody>
        </p:sp>
        <p:sp>
          <p:nvSpPr>
            <p:cNvPr id="138283" name="Rectangle 42"/>
            <p:cNvSpPr/>
            <p:nvPr/>
          </p:nvSpPr>
          <p:spPr>
            <a:xfrm>
              <a:off x="4961" y="3019"/>
              <a:ext cx="81"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m</a:t>
              </a:r>
              <a:endParaRPr lang="en-US" altLang="zh-CN" sz="2000" i="1" dirty="0">
                <a:solidFill>
                  <a:srgbClr val="0000FF"/>
                </a:solidFill>
                <a:ea typeface="黑体" panose="02010609060101010101" pitchFamily="49" charset="-122"/>
              </a:endParaRPr>
            </a:p>
          </p:txBody>
        </p:sp>
        <p:sp>
          <p:nvSpPr>
            <p:cNvPr id="138284" name="Rectangle 43"/>
            <p:cNvSpPr/>
            <p:nvPr/>
          </p:nvSpPr>
          <p:spPr>
            <a:xfrm>
              <a:off x="5041" y="3019"/>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85" name="Rectangle 44"/>
            <p:cNvSpPr/>
            <p:nvPr/>
          </p:nvSpPr>
          <p:spPr>
            <a:xfrm>
              <a:off x="912" y="2256"/>
              <a:ext cx="271" cy="28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86" name="Rectangle 45"/>
            <p:cNvSpPr/>
            <p:nvPr/>
          </p:nvSpPr>
          <p:spPr>
            <a:xfrm>
              <a:off x="985" y="2316"/>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a:t>
              </a:r>
              <a:endParaRPr lang="en-US" altLang="zh-CN" sz="2000" i="1" dirty="0">
                <a:solidFill>
                  <a:srgbClr val="0000FF"/>
                </a:solidFill>
                <a:ea typeface="黑体" panose="02010609060101010101" pitchFamily="49" charset="-122"/>
              </a:endParaRPr>
            </a:p>
          </p:txBody>
        </p:sp>
        <p:sp>
          <p:nvSpPr>
            <p:cNvPr id="138287" name="Rectangle 46"/>
            <p:cNvSpPr/>
            <p:nvPr/>
          </p:nvSpPr>
          <p:spPr>
            <a:xfrm>
              <a:off x="1044" y="2354"/>
              <a:ext cx="36" cy="86"/>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ea typeface="黑体" panose="02010609060101010101" pitchFamily="49" charset="-122"/>
                </a:rPr>
                <a:t>1</a:t>
              </a:r>
              <a:endParaRPr lang="en-US" altLang="zh-CN" sz="2000" i="1" dirty="0">
                <a:solidFill>
                  <a:srgbClr val="0000FF"/>
                </a:solidFill>
                <a:ea typeface="黑体" panose="02010609060101010101" pitchFamily="49" charset="-122"/>
              </a:endParaRPr>
            </a:p>
          </p:txBody>
        </p:sp>
        <p:sp>
          <p:nvSpPr>
            <p:cNvPr id="138288" name="Rectangle 47"/>
            <p:cNvSpPr/>
            <p:nvPr/>
          </p:nvSpPr>
          <p:spPr>
            <a:xfrm>
              <a:off x="1081" y="2316"/>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89" name="Rectangle 48"/>
            <p:cNvSpPr/>
            <p:nvPr/>
          </p:nvSpPr>
          <p:spPr>
            <a:xfrm>
              <a:off x="1169" y="2309"/>
              <a:ext cx="278" cy="113"/>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90" name="Rectangle 49"/>
            <p:cNvSpPr/>
            <p:nvPr/>
          </p:nvSpPr>
          <p:spPr>
            <a:xfrm>
              <a:off x="1242" y="2369"/>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91" name="Rectangle 50"/>
            <p:cNvSpPr/>
            <p:nvPr/>
          </p:nvSpPr>
          <p:spPr>
            <a:xfrm>
              <a:off x="1550" y="2309"/>
              <a:ext cx="279" cy="113"/>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92" name="Rectangle 51"/>
            <p:cNvSpPr/>
            <p:nvPr/>
          </p:nvSpPr>
          <p:spPr>
            <a:xfrm>
              <a:off x="1623" y="2369"/>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93" name="Rectangle 52"/>
            <p:cNvSpPr/>
            <p:nvPr/>
          </p:nvSpPr>
          <p:spPr>
            <a:xfrm>
              <a:off x="1396" y="2634"/>
              <a:ext cx="279" cy="113"/>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94" name="Rectangle 53"/>
            <p:cNvSpPr/>
            <p:nvPr/>
          </p:nvSpPr>
          <p:spPr>
            <a:xfrm>
              <a:off x="1469" y="2694"/>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295" name="Line 54"/>
            <p:cNvSpPr/>
            <p:nvPr/>
          </p:nvSpPr>
          <p:spPr>
            <a:xfrm>
              <a:off x="1337" y="2422"/>
              <a:ext cx="96" cy="204"/>
            </a:xfrm>
            <a:prstGeom prst="line">
              <a:avLst/>
            </a:prstGeom>
            <a:ln w="11113" cap="flat" cmpd="sng">
              <a:solidFill>
                <a:srgbClr val="000000"/>
              </a:solidFill>
              <a:prstDash val="solid"/>
              <a:headEnd type="none" w="med" len="med"/>
              <a:tailEnd type="none" w="med" len="med"/>
            </a:ln>
          </p:spPr>
        </p:sp>
        <p:sp>
          <p:nvSpPr>
            <p:cNvPr id="138296" name="Line 55"/>
            <p:cNvSpPr/>
            <p:nvPr/>
          </p:nvSpPr>
          <p:spPr>
            <a:xfrm flipH="1">
              <a:off x="1579" y="2430"/>
              <a:ext cx="110" cy="196"/>
            </a:xfrm>
            <a:prstGeom prst="line">
              <a:avLst/>
            </a:prstGeom>
            <a:ln w="11113" cap="flat" cmpd="sng">
              <a:solidFill>
                <a:srgbClr val="000000"/>
              </a:solidFill>
              <a:prstDash val="solid"/>
              <a:headEnd type="none" w="med" len="med"/>
              <a:tailEnd type="none" w="med" len="med"/>
            </a:ln>
          </p:spPr>
        </p:sp>
        <p:sp>
          <p:nvSpPr>
            <p:cNvPr id="138297" name="Rectangle 56"/>
            <p:cNvSpPr/>
            <p:nvPr/>
          </p:nvSpPr>
          <p:spPr>
            <a:xfrm>
              <a:off x="1198" y="2604"/>
              <a:ext cx="271" cy="28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298" name="Rectangle 57"/>
            <p:cNvSpPr/>
            <p:nvPr/>
          </p:nvSpPr>
          <p:spPr>
            <a:xfrm>
              <a:off x="1271" y="2664"/>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a:t>
              </a:r>
              <a:endParaRPr lang="en-US" altLang="zh-CN" sz="2000" i="1" dirty="0">
                <a:solidFill>
                  <a:srgbClr val="0000FF"/>
                </a:solidFill>
                <a:ea typeface="黑体" panose="02010609060101010101" pitchFamily="49" charset="-122"/>
              </a:endParaRPr>
            </a:p>
          </p:txBody>
        </p:sp>
        <p:sp>
          <p:nvSpPr>
            <p:cNvPr id="138299" name="Rectangle 58"/>
            <p:cNvSpPr/>
            <p:nvPr/>
          </p:nvSpPr>
          <p:spPr>
            <a:xfrm>
              <a:off x="1330" y="2702"/>
              <a:ext cx="36" cy="86"/>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ea typeface="黑体" panose="02010609060101010101" pitchFamily="49" charset="-122"/>
                </a:rPr>
                <a:t>3</a:t>
              </a:r>
              <a:endParaRPr lang="en-US" altLang="zh-CN" sz="2000" i="1" dirty="0">
                <a:solidFill>
                  <a:srgbClr val="0000FF"/>
                </a:solidFill>
                <a:ea typeface="黑体" panose="02010609060101010101" pitchFamily="49" charset="-122"/>
              </a:endParaRPr>
            </a:p>
          </p:txBody>
        </p:sp>
        <p:sp>
          <p:nvSpPr>
            <p:cNvPr id="138300" name="Rectangle 59"/>
            <p:cNvSpPr/>
            <p:nvPr/>
          </p:nvSpPr>
          <p:spPr>
            <a:xfrm>
              <a:off x="1367" y="2664"/>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01" name="Rectangle 60"/>
            <p:cNvSpPr/>
            <p:nvPr/>
          </p:nvSpPr>
          <p:spPr>
            <a:xfrm>
              <a:off x="1418" y="2362"/>
              <a:ext cx="271" cy="28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02" name="Rectangle 61"/>
            <p:cNvSpPr/>
            <p:nvPr/>
          </p:nvSpPr>
          <p:spPr>
            <a:xfrm>
              <a:off x="1491" y="242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a:t>
              </a:r>
              <a:endParaRPr lang="en-US" altLang="zh-CN" sz="2000" i="1" dirty="0">
                <a:solidFill>
                  <a:srgbClr val="0000FF"/>
                </a:solidFill>
                <a:ea typeface="黑体" panose="02010609060101010101" pitchFamily="49" charset="-122"/>
              </a:endParaRPr>
            </a:p>
          </p:txBody>
        </p:sp>
        <p:sp>
          <p:nvSpPr>
            <p:cNvPr id="138303" name="Rectangle 62"/>
            <p:cNvSpPr/>
            <p:nvPr/>
          </p:nvSpPr>
          <p:spPr>
            <a:xfrm>
              <a:off x="1550" y="2460"/>
              <a:ext cx="36" cy="86"/>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ea typeface="黑体" panose="02010609060101010101" pitchFamily="49" charset="-122"/>
                </a:rPr>
                <a:t>2</a:t>
              </a:r>
              <a:endParaRPr lang="en-US" altLang="zh-CN" sz="2000" i="1" dirty="0">
                <a:solidFill>
                  <a:srgbClr val="0000FF"/>
                </a:solidFill>
                <a:ea typeface="黑体" panose="02010609060101010101" pitchFamily="49" charset="-122"/>
              </a:endParaRPr>
            </a:p>
          </p:txBody>
        </p:sp>
        <p:sp>
          <p:nvSpPr>
            <p:cNvPr id="138304" name="Rectangle 63"/>
            <p:cNvSpPr/>
            <p:nvPr/>
          </p:nvSpPr>
          <p:spPr>
            <a:xfrm>
              <a:off x="1587" y="2422"/>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05" name="Freeform 64"/>
            <p:cNvSpPr/>
            <p:nvPr/>
          </p:nvSpPr>
          <p:spPr>
            <a:xfrm>
              <a:off x="1807" y="2498"/>
              <a:ext cx="425" cy="75"/>
            </a:xfrm>
            <a:custGeom>
              <a:avLst/>
              <a:gdLst/>
              <a:ahLst/>
              <a:cxnLst>
                <a:cxn ang="0">
                  <a:pos x="315" y="0"/>
                </a:cxn>
                <a:cxn ang="0">
                  <a:pos x="315" y="22"/>
                </a:cxn>
                <a:cxn ang="0">
                  <a:pos x="0" y="22"/>
                </a:cxn>
                <a:cxn ang="0">
                  <a:pos x="0" y="60"/>
                </a:cxn>
                <a:cxn ang="0">
                  <a:pos x="315" y="60"/>
                </a:cxn>
                <a:cxn ang="0">
                  <a:pos x="315" y="75"/>
                </a:cxn>
                <a:cxn ang="0">
                  <a:pos x="425" y="38"/>
                </a:cxn>
                <a:cxn ang="0">
                  <a:pos x="315" y="0"/>
                </a:cxn>
              </a:cxnLst>
              <a:pathLst>
                <a:path w="425" h="75">
                  <a:moveTo>
                    <a:pt x="315" y="0"/>
                  </a:moveTo>
                  <a:lnTo>
                    <a:pt x="315" y="22"/>
                  </a:lnTo>
                  <a:lnTo>
                    <a:pt x="0" y="22"/>
                  </a:lnTo>
                  <a:lnTo>
                    <a:pt x="0" y="60"/>
                  </a:lnTo>
                  <a:lnTo>
                    <a:pt x="315" y="60"/>
                  </a:lnTo>
                  <a:lnTo>
                    <a:pt x="315" y="75"/>
                  </a:lnTo>
                  <a:lnTo>
                    <a:pt x="425" y="38"/>
                  </a:lnTo>
                  <a:lnTo>
                    <a:pt x="315" y="0"/>
                  </a:lnTo>
                  <a:close/>
                </a:path>
              </a:pathLst>
            </a:custGeom>
            <a:solidFill>
              <a:srgbClr val="FFFFFF">
                <a:alpha val="100000"/>
              </a:srgbClr>
            </a:solidFill>
            <a:ln w="11113" cap="flat" cmpd="sng">
              <a:solidFill>
                <a:srgbClr val="000000">
                  <a:alpha val="100000"/>
                </a:srgbClr>
              </a:solidFill>
              <a:prstDash val="solid"/>
              <a:round/>
              <a:headEnd type="none" w="med" len="med"/>
              <a:tailEnd type="none" w="med" len="med"/>
            </a:ln>
          </p:spPr>
          <p:txBody>
            <a:bodyPr/>
            <a:p>
              <a:endParaRPr lang="en-US"/>
            </a:p>
          </p:txBody>
        </p:sp>
        <p:sp>
          <p:nvSpPr>
            <p:cNvPr id="138306" name="Rectangle 65"/>
            <p:cNvSpPr/>
            <p:nvPr/>
          </p:nvSpPr>
          <p:spPr>
            <a:xfrm>
              <a:off x="2247" y="2309"/>
              <a:ext cx="279" cy="113"/>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07" name="Rectangle 66"/>
            <p:cNvSpPr/>
            <p:nvPr/>
          </p:nvSpPr>
          <p:spPr>
            <a:xfrm>
              <a:off x="2320" y="2369"/>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08" name="Rectangle 67"/>
            <p:cNvSpPr/>
            <p:nvPr/>
          </p:nvSpPr>
          <p:spPr>
            <a:xfrm>
              <a:off x="2680" y="2309"/>
              <a:ext cx="278" cy="113"/>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09" name="Rectangle 68"/>
            <p:cNvSpPr/>
            <p:nvPr/>
          </p:nvSpPr>
          <p:spPr>
            <a:xfrm>
              <a:off x="2753" y="2369"/>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10" name="Rectangle 69"/>
            <p:cNvSpPr/>
            <p:nvPr/>
          </p:nvSpPr>
          <p:spPr>
            <a:xfrm>
              <a:off x="2247" y="2634"/>
              <a:ext cx="279" cy="113"/>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11" name="Rectangle 70"/>
            <p:cNvSpPr/>
            <p:nvPr/>
          </p:nvSpPr>
          <p:spPr>
            <a:xfrm>
              <a:off x="2320" y="2694"/>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12" name="Rectangle 71"/>
            <p:cNvSpPr/>
            <p:nvPr/>
          </p:nvSpPr>
          <p:spPr>
            <a:xfrm>
              <a:off x="2680" y="2634"/>
              <a:ext cx="278" cy="113"/>
            </a:xfrm>
            <a:prstGeom prst="rect">
              <a:avLst/>
            </a:prstGeom>
            <a:solidFill>
              <a:srgbClr val="FFFFFF"/>
            </a:solidFill>
            <a:ln w="11113"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13" name="Rectangle 72"/>
            <p:cNvSpPr/>
            <p:nvPr/>
          </p:nvSpPr>
          <p:spPr>
            <a:xfrm>
              <a:off x="2753" y="2694"/>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14" name="Line 73"/>
            <p:cNvSpPr/>
            <p:nvPr/>
          </p:nvSpPr>
          <p:spPr>
            <a:xfrm>
              <a:off x="2401" y="2422"/>
              <a:ext cx="1" cy="204"/>
            </a:xfrm>
            <a:prstGeom prst="line">
              <a:avLst/>
            </a:prstGeom>
            <a:ln w="11113" cap="flat" cmpd="sng">
              <a:solidFill>
                <a:srgbClr val="000000"/>
              </a:solidFill>
              <a:prstDash val="solid"/>
              <a:headEnd type="none" w="med" len="med"/>
              <a:tailEnd type="none" w="med" len="med"/>
            </a:ln>
          </p:spPr>
        </p:sp>
        <p:sp>
          <p:nvSpPr>
            <p:cNvPr id="138315" name="Line 74"/>
            <p:cNvSpPr/>
            <p:nvPr/>
          </p:nvSpPr>
          <p:spPr>
            <a:xfrm>
              <a:off x="2401" y="2422"/>
              <a:ext cx="1" cy="219"/>
            </a:xfrm>
            <a:prstGeom prst="line">
              <a:avLst/>
            </a:prstGeom>
            <a:ln w="11113" cap="flat" cmpd="sng">
              <a:solidFill>
                <a:srgbClr val="000000"/>
              </a:solidFill>
              <a:prstDash val="solid"/>
              <a:headEnd type="none" w="med" len="med"/>
              <a:tailEnd type="none" w="med" len="med"/>
            </a:ln>
          </p:spPr>
        </p:sp>
        <p:sp>
          <p:nvSpPr>
            <p:cNvPr id="138316" name="Line 75"/>
            <p:cNvSpPr/>
            <p:nvPr/>
          </p:nvSpPr>
          <p:spPr>
            <a:xfrm>
              <a:off x="2812" y="2422"/>
              <a:ext cx="1" cy="219"/>
            </a:xfrm>
            <a:prstGeom prst="line">
              <a:avLst/>
            </a:prstGeom>
            <a:ln w="11113" cap="flat" cmpd="sng">
              <a:solidFill>
                <a:srgbClr val="000000"/>
              </a:solidFill>
              <a:prstDash val="solid"/>
              <a:headEnd type="none" w="med" len="med"/>
              <a:tailEnd type="none" w="med" len="med"/>
            </a:ln>
          </p:spPr>
        </p:sp>
        <p:sp>
          <p:nvSpPr>
            <p:cNvPr id="138317" name="Rectangle 76"/>
            <p:cNvSpPr/>
            <p:nvPr/>
          </p:nvSpPr>
          <p:spPr>
            <a:xfrm>
              <a:off x="2042" y="2256"/>
              <a:ext cx="271" cy="28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18" name="Rectangle 77"/>
            <p:cNvSpPr/>
            <p:nvPr/>
          </p:nvSpPr>
          <p:spPr>
            <a:xfrm>
              <a:off x="2115" y="2316"/>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a:t>
              </a:r>
              <a:endParaRPr lang="en-US" altLang="zh-CN" sz="2000" i="1" dirty="0">
                <a:solidFill>
                  <a:srgbClr val="0000FF"/>
                </a:solidFill>
                <a:ea typeface="黑体" panose="02010609060101010101" pitchFamily="49" charset="-122"/>
              </a:endParaRPr>
            </a:p>
          </p:txBody>
        </p:sp>
        <p:sp>
          <p:nvSpPr>
            <p:cNvPr id="138319" name="Rectangle 78"/>
            <p:cNvSpPr/>
            <p:nvPr/>
          </p:nvSpPr>
          <p:spPr>
            <a:xfrm>
              <a:off x="2174" y="2354"/>
              <a:ext cx="36" cy="86"/>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ea typeface="黑体" panose="02010609060101010101" pitchFamily="49" charset="-122"/>
                </a:rPr>
                <a:t>1</a:t>
              </a:r>
              <a:endParaRPr lang="en-US" altLang="zh-CN" sz="2000" i="1" dirty="0">
                <a:solidFill>
                  <a:srgbClr val="0000FF"/>
                </a:solidFill>
                <a:ea typeface="黑体" panose="02010609060101010101" pitchFamily="49" charset="-122"/>
              </a:endParaRPr>
            </a:p>
          </p:txBody>
        </p:sp>
        <p:sp>
          <p:nvSpPr>
            <p:cNvPr id="138320" name="Rectangle 79"/>
            <p:cNvSpPr/>
            <p:nvPr/>
          </p:nvSpPr>
          <p:spPr>
            <a:xfrm>
              <a:off x="2210" y="2316"/>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21" name="Rectangle 80"/>
            <p:cNvSpPr/>
            <p:nvPr/>
          </p:nvSpPr>
          <p:spPr>
            <a:xfrm>
              <a:off x="2504" y="2256"/>
              <a:ext cx="271" cy="28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22" name="Rectangle 81"/>
            <p:cNvSpPr/>
            <p:nvPr/>
          </p:nvSpPr>
          <p:spPr>
            <a:xfrm>
              <a:off x="2577" y="2316"/>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a:t>
              </a:r>
              <a:endParaRPr lang="en-US" altLang="zh-CN" sz="2000" i="1" dirty="0">
                <a:solidFill>
                  <a:srgbClr val="0000FF"/>
                </a:solidFill>
                <a:ea typeface="黑体" panose="02010609060101010101" pitchFamily="49" charset="-122"/>
              </a:endParaRPr>
            </a:p>
          </p:txBody>
        </p:sp>
        <p:sp>
          <p:nvSpPr>
            <p:cNvPr id="138323" name="Rectangle 82"/>
            <p:cNvSpPr/>
            <p:nvPr/>
          </p:nvSpPr>
          <p:spPr>
            <a:xfrm>
              <a:off x="2636" y="2354"/>
              <a:ext cx="36" cy="86"/>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ea typeface="黑体" panose="02010609060101010101" pitchFamily="49" charset="-122"/>
                </a:rPr>
                <a:t>2</a:t>
              </a:r>
              <a:endParaRPr lang="en-US" altLang="zh-CN" sz="2000" i="1" dirty="0">
                <a:solidFill>
                  <a:srgbClr val="0000FF"/>
                </a:solidFill>
                <a:ea typeface="黑体" panose="02010609060101010101" pitchFamily="49" charset="-122"/>
              </a:endParaRPr>
            </a:p>
          </p:txBody>
        </p:sp>
        <p:sp>
          <p:nvSpPr>
            <p:cNvPr id="138324" name="Rectangle 83"/>
            <p:cNvSpPr/>
            <p:nvPr/>
          </p:nvSpPr>
          <p:spPr>
            <a:xfrm>
              <a:off x="2672" y="2316"/>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25" name="Rectangle 84"/>
            <p:cNvSpPr/>
            <p:nvPr/>
          </p:nvSpPr>
          <p:spPr>
            <a:xfrm>
              <a:off x="2504" y="2611"/>
              <a:ext cx="271" cy="28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26" name="Rectangle 85"/>
            <p:cNvSpPr/>
            <p:nvPr/>
          </p:nvSpPr>
          <p:spPr>
            <a:xfrm>
              <a:off x="2577" y="267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a:t>
              </a:r>
              <a:endParaRPr lang="en-US" altLang="zh-CN" sz="2000" i="1" dirty="0">
                <a:solidFill>
                  <a:srgbClr val="0000FF"/>
                </a:solidFill>
                <a:ea typeface="黑体" panose="02010609060101010101" pitchFamily="49" charset="-122"/>
              </a:endParaRPr>
            </a:p>
          </p:txBody>
        </p:sp>
        <p:sp>
          <p:nvSpPr>
            <p:cNvPr id="138327" name="Rectangle 86"/>
            <p:cNvSpPr/>
            <p:nvPr/>
          </p:nvSpPr>
          <p:spPr>
            <a:xfrm>
              <a:off x="2636" y="2709"/>
              <a:ext cx="36" cy="86"/>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ea typeface="黑体" panose="02010609060101010101" pitchFamily="49" charset="-122"/>
                </a:rPr>
                <a:t>3</a:t>
              </a:r>
              <a:endParaRPr lang="en-US" altLang="zh-CN" sz="2000" i="1" dirty="0">
                <a:solidFill>
                  <a:srgbClr val="0000FF"/>
                </a:solidFill>
                <a:ea typeface="黑体" panose="02010609060101010101" pitchFamily="49" charset="-122"/>
              </a:endParaRPr>
            </a:p>
          </p:txBody>
        </p:sp>
        <p:sp>
          <p:nvSpPr>
            <p:cNvPr id="138328" name="Rectangle 87"/>
            <p:cNvSpPr/>
            <p:nvPr/>
          </p:nvSpPr>
          <p:spPr>
            <a:xfrm>
              <a:off x="2672" y="2672"/>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sp>
          <p:nvSpPr>
            <p:cNvPr id="138329" name="Rectangle 88"/>
            <p:cNvSpPr/>
            <p:nvPr/>
          </p:nvSpPr>
          <p:spPr>
            <a:xfrm>
              <a:off x="2042" y="2611"/>
              <a:ext cx="271" cy="28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38330" name="Rectangle 89"/>
            <p:cNvSpPr/>
            <p:nvPr/>
          </p:nvSpPr>
          <p:spPr>
            <a:xfrm>
              <a:off x="2115" y="267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S</a:t>
              </a:r>
              <a:endParaRPr lang="en-US" altLang="zh-CN" sz="2000" i="1" dirty="0">
                <a:solidFill>
                  <a:srgbClr val="0000FF"/>
                </a:solidFill>
                <a:ea typeface="黑体" panose="02010609060101010101" pitchFamily="49" charset="-122"/>
              </a:endParaRPr>
            </a:p>
          </p:txBody>
        </p:sp>
        <p:sp>
          <p:nvSpPr>
            <p:cNvPr id="138331" name="Rectangle 90"/>
            <p:cNvSpPr/>
            <p:nvPr/>
          </p:nvSpPr>
          <p:spPr>
            <a:xfrm>
              <a:off x="2174" y="2709"/>
              <a:ext cx="36" cy="86"/>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900" b="0" dirty="0">
                  <a:solidFill>
                    <a:srgbClr val="000000"/>
                  </a:solidFill>
                  <a:ea typeface="黑体" panose="02010609060101010101" pitchFamily="49" charset="-122"/>
                </a:rPr>
                <a:t>3</a:t>
              </a:r>
              <a:endParaRPr lang="en-US" altLang="zh-CN" sz="2000" i="1" dirty="0">
                <a:solidFill>
                  <a:srgbClr val="0000FF"/>
                </a:solidFill>
                <a:ea typeface="黑体" panose="02010609060101010101" pitchFamily="49" charset="-122"/>
              </a:endParaRPr>
            </a:p>
          </p:txBody>
        </p:sp>
        <p:sp>
          <p:nvSpPr>
            <p:cNvPr id="138332" name="Rectangle 91"/>
            <p:cNvSpPr/>
            <p:nvPr/>
          </p:nvSpPr>
          <p:spPr>
            <a:xfrm>
              <a:off x="2210" y="2672"/>
              <a:ext cx="26"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300" b="0" dirty="0">
                  <a:solidFill>
                    <a:srgbClr val="000000"/>
                  </a:solidFill>
                  <a:ea typeface="黑体" panose="02010609060101010101" pitchFamily="49" charset="-122"/>
                </a:rPr>
                <a:t> </a:t>
              </a:r>
              <a:endParaRPr lang="en-US" altLang="zh-CN" sz="2000" i="1" dirty="0">
                <a:solidFill>
                  <a:srgbClr val="0000FF"/>
                </a:solidFill>
                <a:ea typeface="黑体" panose="02010609060101010101" pitchFamily="49" charset="-122"/>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9267"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39268" name="Rectangle 3"/>
          <p:cNvSpPr>
            <a:spLocks noGrp="1"/>
          </p:cNvSpPr>
          <p:nvPr>
            <p:ph idx="1"/>
          </p:nvPr>
        </p:nvSpPr>
        <p:spPr>
          <a:xfrm>
            <a:off x="1231900" y="1181100"/>
            <a:ext cx="6019800" cy="4267200"/>
          </a:xfrm>
          <a:ln/>
        </p:spPr>
        <p:txBody>
          <a:bodyPr vert="horz" wrap="square" lIns="91440" tIns="45720" rIns="91440" bIns="45720" anchor="t" anchorCtr="0"/>
          <a:p>
            <a:pPr algn="just" eaLnBrk="1" hangingPunct="1">
              <a:lnSpc>
                <a:spcPct val="120000"/>
              </a:lnSpc>
              <a:buNone/>
            </a:pPr>
            <a:r>
              <a:rPr lang="en-US" altLang="zh-CN" dirty="0"/>
              <a:t>2. </a:t>
            </a:r>
            <a:r>
              <a:rPr lang="zh-CN" altLang="en-US" dirty="0"/>
              <a:t>层次数据模型的数据操纵</a:t>
            </a:r>
            <a:r>
              <a:rPr lang="zh-CN" altLang="en-US" dirty="0">
                <a:solidFill>
                  <a:schemeClr val="tx1"/>
                </a:solidFill>
              </a:rPr>
              <a:t> </a:t>
            </a:r>
            <a:endParaRPr lang="zh-CN" altLang="en-US" dirty="0">
              <a:solidFill>
                <a:schemeClr val="tx1"/>
              </a:solidFill>
            </a:endParaRPr>
          </a:p>
          <a:p>
            <a:pPr algn="just" eaLnBrk="1" hangingPunct="1">
              <a:lnSpc>
                <a:spcPct val="120000"/>
              </a:lnSpc>
            </a:pPr>
            <a:r>
              <a:rPr lang="zh-CN" altLang="en-US" dirty="0"/>
              <a:t> </a:t>
            </a:r>
            <a:r>
              <a:rPr lang="zh-CN" altLang="en-US" dirty="0">
                <a:solidFill>
                  <a:schemeClr val="tx1"/>
                </a:solidFill>
              </a:rPr>
              <a:t>查询</a:t>
            </a:r>
            <a:endParaRPr lang="zh-CN" altLang="en-US" dirty="0">
              <a:solidFill>
                <a:schemeClr val="tx1"/>
              </a:solidFill>
            </a:endParaRPr>
          </a:p>
          <a:p>
            <a:pPr algn="just" eaLnBrk="1" hangingPunct="1">
              <a:lnSpc>
                <a:spcPct val="120000"/>
              </a:lnSpc>
            </a:pPr>
            <a:r>
              <a:rPr lang="zh-CN" altLang="en-US" dirty="0">
                <a:solidFill>
                  <a:schemeClr val="tx1"/>
                </a:solidFill>
              </a:rPr>
              <a:t> 插入</a:t>
            </a:r>
            <a:endParaRPr lang="zh-CN" altLang="en-US" dirty="0">
              <a:solidFill>
                <a:schemeClr val="tx1"/>
              </a:solidFill>
            </a:endParaRPr>
          </a:p>
          <a:p>
            <a:pPr algn="just" eaLnBrk="1" hangingPunct="1">
              <a:lnSpc>
                <a:spcPct val="120000"/>
              </a:lnSpc>
            </a:pPr>
            <a:r>
              <a:rPr lang="zh-CN" altLang="en-US" dirty="0">
                <a:solidFill>
                  <a:schemeClr val="tx1"/>
                </a:solidFill>
              </a:rPr>
              <a:t> 删除</a:t>
            </a:r>
            <a:endParaRPr lang="zh-CN" altLang="en-US" dirty="0">
              <a:solidFill>
                <a:schemeClr val="tx1"/>
              </a:solidFill>
            </a:endParaRPr>
          </a:p>
          <a:p>
            <a:pPr algn="just" eaLnBrk="1" hangingPunct="1">
              <a:lnSpc>
                <a:spcPct val="120000"/>
              </a:lnSpc>
            </a:pPr>
            <a:r>
              <a:rPr lang="zh-CN" altLang="en-US" dirty="0">
                <a:solidFill>
                  <a:schemeClr val="tx1"/>
                </a:solidFill>
              </a:rPr>
              <a:t> 更新</a:t>
            </a:r>
            <a:endParaRPr lang="zh-CN" altLang="en-US" sz="3600" dirty="0">
              <a:solidFill>
                <a:schemeClr val="tx1"/>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0291"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40292" name="Rectangle 3"/>
          <p:cNvSpPr>
            <a:spLocks noGrp="1"/>
          </p:cNvSpPr>
          <p:nvPr>
            <p:ph idx="1"/>
          </p:nvPr>
        </p:nvSpPr>
        <p:spPr>
          <a:xfrm>
            <a:off x="609600" y="990600"/>
            <a:ext cx="8153400" cy="4267200"/>
          </a:xfrm>
          <a:ln/>
        </p:spPr>
        <p:txBody>
          <a:bodyPr vert="horz" wrap="square" lIns="91440" tIns="45720" rIns="91440" bIns="45720" anchor="t" anchorCtr="0"/>
          <a:p>
            <a:pPr algn="just" eaLnBrk="1" hangingPunct="1">
              <a:lnSpc>
                <a:spcPct val="120000"/>
              </a:lnSpc>
              <a:buNone/>
            </a:pPr>
            <a:r>
              <a:rPr lang="en-US" altLang="zh-CN" sz="2800" dirty="0"/>
              <a:t>3. </a:t>
            </a:r>
            <a:r>
              <a:rPr lang="zh-CN" altLang="en-US" sz="2800" dirty="0"/>
              <a:t>层次数据模型的完整性约束</a:t>
            </a:r>
            <a:endParaRPr lang="zh-CN" altLang="en-US" sz="2800" dirty="0"/>
          </a:p>
          <a:p>
            <a:pPr eaLnBrk="1" hangingPunct="1">
              <a:lnSpc>
                <a:spcPct val="130000"/>
              </a:lnSpc>
            </a:pPr>
            <a:r>
              <a:rPr lang="zh-CN" altLang="en-US" sz="2800" dirty="0">
                <a:solidFill>
                  <a:schemeClr val="tx1"/>
                </a:solidFill>
              </a:rPr>
              <a:t>无相应的双亲结点值就不能插入子女结点值</a:t>
            </a:r>
            <a:endParaRPr lang="zh-CN" altLang="en-US" sz="2800" dirty="0">
              <a:solidFill>
                <a:schemeClr val="tx1"/>
              </a:solidFill>
            </a:endParaRPr>
          </a:p>
          <a:p>
            <a:pPr eaLnBrk="1" hangingPunct="1">
              <a:lnSpc>
                <a:spcPct val="130000"/>
              </a:lnSpc>
            </a:pPr>
            <a:r>
              <a:rPr lang="zh-CN" altLang="en-US" sz="2800" dirty="0">
                <a:solidFill>
                  <a:schemeClr val="tx1"/>
                </a:solidFill>
              </a:rPr>
              <a:t>如果删除双亲结点值，则相应的子女结点值也被同时删除</a:t>
            </a:r>
            <a:endParaRPr lang="zh-CN" altLang="en-US" sz="2800" dirty="0">
              <a:solidFill>
                <a:schemeClr val="tx1"/>
              </a:solidFill>
            </a:endParaRPr>
          </a:p>
          <a:p>
            <a:pPr eaLnBrk="1" hangingPunct="1">
              <a:lnSpc>
                <a:spcPct val="130000"/>
              </a:lnSpc>
            </a:pPr>
            <a:r>
              <a:rPr lang="zh-CN" altLang="en-US" sz="2800" dirty="0">
                <a:solidFill>
                  <a:schemeClr val="tx1"/>
                </a:solidFill>
              </a:rPr>
              <a:t>更新操作时，应更新所有相应记录，以保证数据的一致性</a:t>
            </a:r>
            <a:endParaRPr lang="zh-CN" altLang="en-US" sz="2800" dirty="0">
              <a:solidFill>
                <a:schemeClr val="tx1"/>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1315"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41316" name="Rectangle 3"/>
          <p:cNvSpPr>
            <a:spLocks noGrp="1"/>
          </p:cNvSpPr>
          <p:nvPr>
            <p:ph idx="1"/>
          </p:nvPr>
        </p:nvSpPr>
        <p:spPr>
          <a:xfrm>
            <a:off x="609600" y="990600"/>
            <a:ext cx="8153400" cy="4953000"/>
          </a:xfrm>
          <a:ln/>
        </p:spPr>
        <p:txBody>
          <a:bodyPr vert="horz" wrap="square" lIns="91440" tIns="45720" rIns="91440" bIns="45720" anchor="t" anchorCtr="0"/>
          <a:p>
            <a:pPr algn="just" eaLnBrk="1" hangingPunct="1">
              <a:lnSpc>
                <a:spcPct val="120000"/>
              </a:lnSpc>
              <a:buNone/>
            </a:pPr>
            <a:r>
              <a:rPr lang="en-US" altLang="zh-CN" sz="2800" dirty="0"/>
              <a:t>4. </a:t>
            </a:r>
            <a:r>
              <a:rPr lang="zh-CN" altLang="en-US" sz="2800" dirty="0"/>
              <a:t>层次数据模型的存储结构</a:t>
            </a:r>
            <a:endParaRPr lang="zh-CN" altLang="en-US" sz="2800" dirty="0"/>
          </a:p>
          <a:p>
            <a:pPr eaLnBrk="1" hangingPunct="1"/>
            <a:r>
              <a:rPr lang="zh-CN" altLang="en-US" dirty="0">
                <a:solidFill>
                  <a:schemeClr val="accent2"/>
                </a:solidFill>
              </a:rPr>
              <a:t>邻接法</a:t>
            </a:r>
            <a:endParaRPr lang="zh-CN" altLang="en-US" dirty="0">
              <a:solidFill>
                <a:schemeClr val="accent2"/>
              </a:solidFill>
            </a:endParaRPr>
          </a:p>
          <a:p>
            <a:pPr lvl="1" eaLnBrk="1" hangingPunct="1">
              <a:lnSpc>
                <a:spcPct val="140000"/>
              </a:lnSpc>
              <a:buNone/>
            </a:pPr>
            <a:r>
              <a:rPr lang="zh-CN" altLang="en-US" sz="2400" dirty="0"/>
              <a:t>按照层次树</a:t>
            </a:r>
            <a:r>
              <a:rPr lang="zh-CN" altLang="en-US" sz="2400" dirty="0">
                <a:solidFill>
                  <a:srgbClr val="FF0000"/>
                </a:solidFill>
              </a:rPr>
              <a:t>前序遍历</a:t>
            </a:r>
            <a:r>
              <a:rPr lang="zh-CN" altLang="en-US" sz="2400" dirty="0"/>
              <a:t>的顺序把所有记录值依次邻接存</a:t>
            </a:r>
            <a:endParaRPr lang="zh-CN" altLang="en-US" sz="2400" dirty="0"/>
          </a:p>
          <a:p>
            <a:pPr lvl="1" eaLnBrk="1" hangingPunct="1">
              <a:lnSpc>
                <a:spcPct val="140000"/>
              </a:lnSpc>
              <a:buNone/>
            </a:pPr>
            <a:r>
              <a:rPr lang="zh-CN" altLang="en-US" sz="2400" dirty="0"/>
              <a:t>放，即通过物理空间的位置相邻来实现层次顺序</a:t>
            </a:r>
            <a:endParaRPr lang="zh-CN" altLang="en-US" dirty="0"/>
          </a:p>
          <a:p>
            <a:pPr eaLnBrk="1" hangingPunct="1">
              <a:lnSpc>
                <a:spcPct val="140000"/>
              </a:lnSpc>
            </a:pPr>
            <a:r>
              <a:rPr lang="zh-CN" altLang="en-US" dirty="0">
                <a:solidFill>
                  <a:schemeClr val="accent2"/>
                </a:solidFill>
              </a:rPr>
              <a:t>链接法</a:t>
            </a:r>
            <a:endParaRPr lang="zh-CN" altLang="en-US" dirty="0">
              <a:solidFill>
                <a:schemeClr val="accent2"/>
              </a:solidFill>
            </a:endParaRPr>
          </a:p>
          <a:p>
            <a:pPr lvl="1" eaLnBrk="1" hangingPunct="1">
              <a:lnSpc>
                <a:spcPct val="140000"/>
              </a:lnSpc>
              <a:buNone/>
            </a:pPr>
            <a:r>
              <a:rPr lang="zh-CN" altLang="en-US" sz="2400" dirty="0"/>
              <a:t>用指引元来反映数据之间的层次联系</a:t>
            </a:r>
            <a:endParaRPr lang="zh-CN" altLang="en-US" dirty="0"/>
          </a:p>
          <a:p>
            <a:pPr lvl="1" eaLnBrk="1" hangingPunct="1">
              <a:lnSpc>
                <a:spcPct val="140000"/>
              </a:lnSpc>
            </a:pPr>
            <a:r>
              <a:rPr lang="zh-CN" altLang="en-US" sz="2400" dirty="0"/>
              <a:t>子女－兄弟链接法</a:t>
            </a:r>
            <a:r>
              <a:rPr lang="en-US" altLang="zh-CN" sz="2400" dirty="0"/>
              <a:t>(</a:t>
            </a:r>
            <a:r>
              <a:rPr lang="zh-CN" altLang="en-US" sz="2400" dirty="0"/>
              <a:t>两指针：长女、近邻兄弟</a:t>
            </a:r>
            <a:r>
              <a:rPr lang="en-US" altLang="zh-CN" sz="2400" dirty="0"/>
              <a:t>)</a:t>
            </a:r>
            <a:endParaRPr lang="en-US" altLang="zh-CN" sz="2400" dirty="0"/>
          </a:p>
          <a:p>
            <a:pPr lvl="1" eaLnBrk="1" hangingPunct="1">
              <a:lnSpc>
                <a:spcPct val="140000"/>
              </a:lnSpc>
            </a:pPr>
            <a:r>
              <a:rPr lang="zh-CN" altLang="en-US" sz="2400" dirty="0"/>
              <a:t>层次序列链接法</a:t>
            </a:r>
            <a:r>
              <a:rPr lang="en-US" altLang="zh-CN" sz="2400" dirty="0"/>
              <a:t>(</a:t>
            </a:r>
            <a:r>
              <a:rPr lang="zh-CN" altLang="en-US" sz="2400" dirty="0"/>
              <a:t>前序</a:t>
            </a:r>
            <a:r>
              <a:rPr lang="en-US" altLang="zh-CN" sz="2400" dirty="0"/>
              <a:t>)  </a:t>
            </a:r>
            <a:endParaRPr lang="en-US" altLang="zh-CN" sz="24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2339"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pic>
        <p:nvPicPr>
          <p:cNvPr id="142340" name="Picture 6" descr="120"/>
          <p:cNvPicPr>
            <a:picLocks noChangeAspect="1"/>
          </p:cNvPicPr>
          <p:nvPr/>
        </p:nvPicPr>
        <p:blipFill>
          <a:blip r:embed="rId1"/>
          <a:stretch>
            <a:fillRect/>
          </a:stretch>
        </p:blipFill>
        <p:spPr>
          <a:xfrm>
            <a:off x="1042988" y="2060575"/>
            <a:ext cx="6697662" cy="2333625"/>
          </a:xfrm>
          <a:prstGeom prst="rect">
            <a:avLst/>
          </a:prstGeom>
          <a:noFill/>
          <a:ln w="9525">
            <a:noFill/>
          </a:ln>
        </p:spPr>
      </p:pic>
      <p:sp>
        <p:nvSpPr>
          <p:cNvPr id="142341" name="Text Box 7"/>
          <p:cNvSpPr txBox="1"/>
          <p:nvPr/>
        </p:nvSpPr>
        <p:spPr>
          <a:xfrm>
            <a:off x="3059113" y="4581525"/>
            <a:ext cx="3057525"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Tx/>
              <a:buFontTx/>
              <a:buNone/>
            </a:pPr>
            <a:r>
              <a:rPr lang="zh-CN" altLang="en-US" sz="1800" dirty="0">
                <a:solidFill>
                  <a:schemeClr val="tx1"/>
                </a:solidFill>
                <a:cs typeface="Arial" panose="020B0604020202020204" pitchFamily="34" charset="0"/>
              </a:rPr>
              <a:t>图</a:t>
            </a:r>
            <a:r>
              <a:rPr lang="en-US" altLang="zh-CN" sz="1800" dirty="0">
                <a:solidFill>
                  <a:schemeClr val="tx1"/>
                </a:solidFill>
                <a:cs typeface="Arial" panose="020B0604020202020204" pitchFamily="34" charset="0"/>
              </a:rPr>
              <a:t>1.20  </a:t>
            </a:r>
            <a:r>
              <a:rPr lang="zh-CN" altLang="en-US" sz="1800" dirty="0">
                <a:solidFill>
                  <a:schemeClr val="tx1"/>
                </a:solidFill>
                <a:cs typeface="Arial" panose="020B0604020202020204" pitchFamily="34" charset="0"/>
              </a:rPr>
              <a:t>层次数据库及其实例 </a:t>
            </a:r>
            <a:endParaRPr lang="zh-CN" altLang="en-US" sz="1800" dirty="0">
              <a:solidFill>
                <a:schemeClr val="tx1"/>
              </a:solidFill>
              <a:ea typeface="Arial" panose="020B0604020202020204" pitchFamily="34" charset="0"/>
            </a:endParaRPr>
          </a:p>
        </p:txBody>
      </p:sp>
      <p:grpSp>
        <p:nvGrpSpPr>
          <p:cNvPr id="552968" name="Group 8"/>
          <p:cNvGrpSpPr/>
          <p:nvPr/>
        </p:nvGrpSpPr>
        <p:grpSpPr>
          <a:xfrm>
            <a:off x="611188" y="5373688"/>
            <a:ext cx="8229600" cy="942975"/>
            <a:chOff x="385" y="3385"/>
            <a:chExt cx="5184" cy="594"/>
          </a:xfrm>
        </p:grpSpPr>
        <p:sp>
          <p:nvSpPr>
            <p:cNvPr id="142344" name="Rectangle 9"/>
            <p:cNvSpPr/>
            <p:nvPr/>
          </p:nvSpPr>
          <p:spPr>
            <a:xfrm>
              <a:off x="5271" y="3385"/>
              <a:ext cx="298"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a:t>
              </a:r>
              <a:endParaRPr lang="en-US" altLang="zh-CN" sz="1800" dirty="0">
                <a:ea typeface="Arial" panose="020B0604020202020204" pitchFamily="34" charset="0"/>
              </a:endParaRPr>
            </a:p>
          </p:txBody>
        </p:sp>
        <p:sp>
          <p:nvSpPr>
            <p:cNvPr id="142345" name="Rectangle 10"/>
            <p:cNvSpPr/>
            <p:nvPr/>
          </p:nvSpPr>
          <p:spPr>
            <a:xfrm>
              <a:off x="4946"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A1</a:t>
              </a:r>
              <a:endParaRPr lang="en-US" altLang="zh-CN" sz="1800" dirty="0">
                <a:ea typeface="Arial" panose="020B0604020202020204" pitchFamily="34" charset="0"/>
              </a:endParaRPr>
            </a:p>
          </p:txBody>
        </p:sp>
        <p:sp>
          <p:nvSpPr>
            <p:cNvPr id="142346" name="Rectangle 11"/>
            <p:cNvSpPr/>
            <p:nvPr/>
          </p:nvSpPr>
          <p:spPr>
            <a:xfrm>
              <a:off x="4622" y="3385"/>
              <a:ext cx="324"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A2</a:t>
              </a:r>
              <a:endParaRPr lang="en-US" altLang="zh-CN" sz="1800" dirty="0">
                <a:ea typeface="Arial" panose="020B0604020202020204" pitchFamily="34" charset="0"/>
              </a:endParaRPr>
            </a:p>
          </p:txBody>
        </p:sp>
        <p:sp>
          <p:nvSpPr>
            <p:cNvPr id="142347" name="Rectangle 12"/>
            <p:cNvSpPr/>
            <p:nvPr/>
          </p:nvSpPr>
          <p:spPr>
            <a:xfrm>
              <a:off x="4297"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C8</a:t>
              </a:r>
              <a:endParaRPr lang="en-US" altLang="zh-CN" sz="1800" dirty="0">
                <a:ea typeface="Arial" panose="020B0604020202020204" pitchFamily="34" charset="0"/>
              </a:endParaRPr>
            </a:p>
          </p:txBody>
        </p:sp>
        <p:sp>
          <p:nvSpPr>
            <p:cNvPr id="142348" name="Rectangle 13"/>
            <p:cNvSpPr/>
            <p:nvPr/>
          </p:nvSpPr>
          <p:spPr>
            <a:xfrm>
              <a:off x="3972"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C6</a:t>
              </a:r>
              <a:endParaRPr lang="en-US" altLang="zh-CN" sz="1800" dirty="0">
                <a:ea typeface="Arial" panose="020B0604020202020204" pitchFamily="34" charset="0"/>
              </a:endParaRPr>
            </a:p>
          </p:txBody>
        </p:sp>
        <p:sp>
          <p:nvSpPr>
            <p:cNvPr id="142349" name="Rectangle 14"/>
            <p:cNvSpPr/>
            <p:nvPr/>
          </p:nvSpPr>
          <p:spPr>
            <a:xfrm>
              <a:off x="3647"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C4</a:t>
              </a:r>
              <a:endParaRPr lang="en-US" altLang="zh-CN" sz="1800" dirty="0">
                <a:ea typeface="Arial" panose="020B0604020202020204" pitchFamily="34" charset="0"/>
              </a:endParaRPr>
            </a:p>
          </p:txBody>
        </p:sp>
        <p:sp>
          <p:nvSpPr>
            <p:cNvPr id="142350" name="Rectangle 15"/>
            <p:cNvSpPr/>
            <p:nvPr/>
          </p:nvSpPr>
          <p:spPr>
            <a:xfrm>
              <a:off x="3322"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B6</a:t>
              </a:r>
              <a:endParaRPr lang="en-US" altLang="zh-CN" sz="1800" dirty="0">
                <a:ea typeface="Arial" panose="020B0604020202020204" pitchFamily="34" charset="0"/>
              </a:endParaRPr>
            </a:p>
          </p:txBody>
        </p:sp>
        <p:sp>
          <p:nvSpPr>
            <p:cNvPr id="142351" name="Rectangle 16"/>
            <p:cNvSpPr/>
            <p:nvPr/>
          </p:nvSpPr>
          <p:spPr>
            <a:xfrm>
              <a:off x="2997"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C9</a:t>
              </a:r>
              <a:endParaRPr lang="en-US" altLang="zh-CN" sz="1800" dirty="0">
                <a:ea typeface="Arial" panose="020B0604020202020204" pitchFamily="34" charset="0"/>
              </a:endParaRPr>
            </a:p>
          </p:txBody>
        </p:sp>
        <p:sp>
          <p:nvSpPr>
            <p:cNvPr id="142352" name="Rectangle 17"/>
            <p:cNvSpPr/>
            <p:nvPr/>
          </p:nvSpPr>
          <p:spPr>
            <a:xfrm>
              <a:off x="2672"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C2</a:t>
              </a:r>
              <a:endParaRPr lang="en-US" altLang="zh-CN" sz="1800" dirty="0">
                <a:ea typeface="Arial" panose="020B0604020202020204" pitchFamily="34" charset="0"/>
              </a:endParaRPr>
            </a:p>
          </p:txBody>
        </p:sp>
        <p:sp>
          <p:nvSpPr>
            <p:cNvPr id="142353" name="Rectangle 18"/>
            <p:cNvSpPr/>
            <p:nvPr/>
          </p:nvSpPr>
          <p:spPr>
            <a:xfrm>
              <a:off x="2348" y="3385"/>
              <a:ext cx="324"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B4</a:t>
              </a:r>
              <a:endParaRPr lang="en-US" altLang="zh-CN" sz="1800" dirty="0">
                <a:ea typeface="Arial" panose="020B0604020202020204" pitchFamily="34" charset="0"/>
              </a:endParaRPr>
            </a:p>
          </p:txBody>
        </p:sp>
        <p:sp>
          <p:nvSpPr>
            <p:cNvPr id="142354" name="Rectangle 19"/>
            <p:cNvSpPr/>
            <p:nvPr/>
          </p:nvSpPr>
          <p:spPr>
            <a:xfrm>
              <a:off x="2011" y="3385"/>
              <a:ext cx="337"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600" dirty="0">
                  <a:cs typeface="Arial" panose="020B0604020202020204" pitchFamily="34" charset="0"/>
                </a:rPr>
                <a:t>C14</a:t>
              </a:r>
              <a:endParaRPr lang="en-US" altLang="zh-CN" sz="1600" dirty="0">
                <a:ea typeface="Arial" panose="020B0604020202020204" pitchFamily="34" charset="0"/>
              </a:endParaRPr>
            </a:p>
          </p:txBody>
        </p:sp>
        <p:sp>
          <p:nvSpPr>
            <p:cNvPr id="142355" name="Rectangle 20"/>
            <p:cNvSpPr/>
            <p:nvPr/>
          </p:nvSpPr>
          <p:spPr>
            <a:xfrm>
              <a:off x="1686"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C7</a:t>
              </a:r>
              <a:endParaRPr lang="en-US" altLang="zh-CN" sz="1800" dirty="0">
                <a:ea typeface="Arial" panose="020B0604020202020204" pitchFamily="34" charset="0"/>
              </a:endParaRPr>
            </a:p>
          </p:txBody>
        </p:sp>
        <p:sp>
          <p:nvSpPr>
            <p:cNvPr id="142356" name="Rectangle 21"/>
            <p:cNvSpPr/>
            <p:nvPr/>
          </p:nvSpPr>
          <p:spPr>
            <a:xfrm>
              <a:off x="1361"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C5</a:t>
              </a:r>
              <a:endParaRPr lang="en-US" altLang="zh-CN" sz="1800" dirty="0">
                <a:ea typeface="Arial" panose="020B0604020202020204" pitchFamily="34" charset="0"/>
              </a:endParaRPr>
            </a:p>
          </p:txBody>
        </p:sp>
        <p:sp>
          <p:nvSpPr>
            <p:cNvPr id="142357" name="Rectangle 22"/>
            <p:cNvSpPr/>
            <p:nvPr/>
          </p:nvSpPr>
          <p:spPr>
            <a:xfrm>
              <a:off x="1036"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C3</a:t>
              </a:r>
              <a:endParaRPr lang="en-US" altLang="zh-CN" sz="1800" dirty="0">
                <a:ea typeface="Arial" panose="020B0604020202020204" pitchFamily="34" charset="0"/>
              </a:endParaRPr>
            </a:p>
          </p:txBody>
        </p:sp>
        <p:sp>
          <p:nvSpPr>
            <p:cNvPr id="142358" name="Rectangle 23"/>
            <p:cNvSpPr/>
            <p:nvPr/>
          </p:nvSpPr>
          <p:spPr>
            <a:xfrm>
              <a:off x="711" y="3385"/>
              <a:ext cx="325"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B1</a:t>
              </a:r>
              <a:endParaRPr lang="en-US" altLang="zh-CN" sz="1800" dirty="0">
                <a:ea typeface="Arial" panose="020B0604020202020204" pitchFamily="34" charset="0"/>
              </a:endParaRPr>
            </a:p>
          </p:txBody>
        </p:sp>
        <p:sp>
          <p:nvSpPr>
            <p:cNvPr id="142359" name="Rectangle 24"/>
            <p:cNvSpPr/>
            <p:nvPr/>
          </p:nvSpPr>
          <p:spPr>
            <a:xfrm>
              <a:off x="385" y="3385"/>
              <a:ext cx="326" cy="227"/>
            </a:xfrm>
            <a:prstGeom prst="rect">
              <a:avLst/>
            </a:prstGeom>
            <a:noFill/>
            <a:ln w="2540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spcBef>
                  <a:spcPct val="0"/>
                </a:spcBef>
                <a:buClrTx/>
                <a:buFontTx/>
                <a:buNone/>
              </a:pPr>
              <a:r>
                <a:rPr lang="en-US" altLang="zh-CN" sz="1800" dirty="0">
                  <a:cs typeface="Arial" panose="020B0604020202020204" pitchFamily="34" charset="0"/>
                </a:rPr>
                <a:t>A1</a:t>
              </a:r>
              <a:endParaRPr lang="en-US" altLang="zh-CN" sz="1800" dirty="0">
                <a:ea typeface="Arial" panose="020B0604020202020204" pitchFamily="34" charset="0"/>
              </a:endParaRPr>
            </a:p>
          </p:txBody>
        </p:sp>
        <p:sp>
          <p:nvSpPr>
            <p:cNvPr id="142360" name="Line 25"/>
            <p:cNvSpPr/>
            <p:nvPr/>
          </p:nvSpPr>
          <p:spPr>
            <a:xfrm>
              <a:off x="385" y="3385"/>
              <a:ext cx="5184" cy="0"/>
            </a:xfrm>
            <a:prstGeom prst="line">
              <a:avLst/>
            </a:prstGeom>
            <a:ln w="12700" cap="rnd" cmpd="sng">
              <a:solidFill>
                <a:srgbClr val="000000"/>
              </a:solidFill>
              <a:prstDash val="solid"/>
              <a:headEnd type="none" w="med" len="med"/>
              <a:tailEnd type="none" w="med" len="med"/>
            </a:ln>
          </p:spPr>
        </p:sp>
        <p:sp>
          <p:nvSpPr>
            <p:cNvPr id="142361" name="Line 26"/>
            <p:cNvSpPr/>
            <p:nvPr/>
          </p:nvSpPr>
          <p:spPr>
            <a:xfrm>
              <a:off x="385" y="3612"/>
              <a:ext cx="5184" cy="0"/>
            </a:xfrm>
            <a:prstGeom prst="line">
              <a:avLst/>
            </a:prstGeom>
            <a:ln w="12700" cap="rnd" cmpd="sng">
              <a:solidFill>
                <a:srgbClr val="000000"/>
              </a:solidFill>
              <a:prstDash val="solid"/>
              <a:headEnd type="none" w="med" len="med"/>
              <a:tailEnd type="none" w="med" len="med"/>
            </a:ln>
          </p:spPr>
        </p:sp>
        <p:sp>
          <p:nvSpPr>
            <p:cNvPr id="142362" name="Line 27"/>
            <p:cNvSpPr/>
            <p:nvPr/>
          </p:nvSpPr>
          <p:spPr>
            <a:xfrm>
              <a:off x="385" y="3385"/>
              <a:ext cx="0" cy="227"/>
            </a:xfrm>
            <a:prstGeom prst="line">
              <a:avLst/>
            </a:prstGeom>
            <a:ln w="12700" cap="rnd" cmpd="sng">
              <a:solidFill>
                <a:srgbClr val="000000"/>
              </a:solidFill>
              <a:prstDash val="solid"/>
              <a:headEnd type="none" w="med" len="med"/>
              <a:tailEnd type="none" w="med" len="med"/>
            </a:ln>
          </p:spPr>
        </p:sp>
        <p:sp>
          <p:nvSpPr>
            <p:cNvPr id="142363" name="Line 28"/>
            <p:cNvSpPr/>
            <p:nvPr/>
          </p:nvSpPr>
          <p:spPr>
            <a:xfrm>
              <a:off x="5569" y="3385"/>
              <a:ext cx="0" cy="227"/>
            </a:xfrm>
            <a:prstGeom prst="line">
              <a:avLst/>
            </a:prstGeom>
            <a:ln w="12700" cap="rnd" cmpd="sng">
              <a:solidFill>
                <a:srgbClr val="000000"/>
              </a:solidFill>
              <a:prstDash val="solid"/>
              <a:headEnd type="none" w="med" len="med"/>
              <a:tailEnd type="none" w="med" len="med"/>
            </a:ln>
          </p:spPr>
        </p:sp>
        <p:sp>
          <p:nvSpPr>
            <p:cNvPr id="142364" name="Line 29"/>
            <p:cNvSpPr/>
            <p:nvPr/>
          </p:nvSpPr>
          <p:spPr>
            <a:xfrm>
              <a:off x="711" y="3385"/>
              <a:ext cx="0" cy="227"/>
            </a:xfrm>
            <a:prstGeom prst="line">
              <a:avLst/>
            </a:prstGeom>
            <a:ln w="12700" cap="rnd" cmpd="sng">
              <a:solidFill>
                <a:srgbClr val="000000"/>
              </a:solidFill>
              <a:prstDash val="solid"/>
              <a:headEnd type="none" w="med" len="med"/>
              <a:tailEnd type="none" w="med" len="med"/>
            </a:ln>
          </p:spPr>
        </p:sp>
        <p:sp>
          <p:nvSpPr>
            <p:cNvPr id="142365" name="Line 30"/>
            <p:cNvSpPr/>
            <p:nvPr/>
          </p:nvSpPr>
          <p:spPr>
            <a:xfrm>
              <a:off x="1036" y="3385"/>
              <a:ext cx="0" cy="227"/>
            </a:xfrm>
            <a:prstGeom prst="line">
              <a:avLst/>
            </a:prstGeom>
            <a:ln w="12700" cap="rnd" cmpd="sng">
              <a:solidFill>
                <a:srgbClr val="000000"/>
              </a:solidFill>
              <a:prstDash val="solid"/>
              <a:headEnd type="none" w="med" len="med"/>
              <a:tailEnd type="none" w="med" len="med"/>
            </a:ln>
          </p:spPr>
        </p:sp>
        <p:sp>
          <p:nvSpPr>
            <p:cNvPr id="142366" name="Line 31"/>
            <p:cNvSpPr/>
            <p:nvPr/>
          </p:nvSpPr>
          <p:spPr>
            <a:xfrm>
              <a:off x="1361" y="3385"/>
              <a:ext cx="0" cy="227"/>
            </a:xfrm>
            <a:prstGeom prst="line">
              <a:avLst/>
            </a:prstGeom>
            <a:ln w="12700" cap="rnd" cmpd="sng">
              <a:solidFill>
                <a:srgbClr val="000000"/>
              </a:solidFill>
              <a:prstDash val="solid"/>
              <a:headEnd type="none" w="med" len="med"/>
              <a:tailEnd type="none" w="med" len="med"/>
            </a:ln>
          </p:spPr>
        </p:sp>
        <p:sp>
          <p:nvSpPr>
            <p:cNvPr id="142367" name="Line 32"/>
            <p:cNvSpPr/>
            <p:nvPr/>
          </p:nvSpPr>
          <p:spPr>
            <a:xfrm>
              <a:off x="1686" y="3385"/>
              <a:ext cx="0" cy="227"/>
            </a:xfrm>
            <a:prstGeom prst="line">
              <a:avLst/>
            </a:prstGeom>
            <a:ln w="12700" cap="rnd" cmpd="sng">
              <a:solidFill>
                <a:srgbClr val="000000"/>
              </a:solidFill>
              <a:prstDash val="solid"/>
              <a:headEnd type="none" w="med" len="med"/>
              <a:tailEnd type="none" w="med" len="med"/>
            </a:ln>
          </p:spPr>
        </p:sp>
        <p:sp>
          <p:nvSpPr>
            <p:cNvPr id="142368" name="Line 33"/>
            <p:cNvSpPr/>
            <p:nvPr/>
          </p:nvSpPr>
          <p:spPr>
            <a:xfrm>
              <a:off x="2011" y="3385"/>
              <a:ext cx="0" cy="227"/>
            </a:xfrm>
            <a:prstGeom prst="line">
              <a:avLst/>
            </a:prstGeom>
            <a:ln w="12700" cap="rnd" cmpd="sng">
              <a:solidFill>
                <a:srgbClr val="000000"/>
              </a:solidFill>
              <a:prstDash val="solid"/>
              <a:headEnd type="none" w="med" len="med"/>
              <a:tailEnd type="none" w="med" len="med"/>
            </a:ln>
          </p:spPr>
        </p:sp>
        <p:sp>
          <p:nvSpPr>
            <p:cNvPr id="142369" name="Line 34"/>
            <p:cNvSpPr/>
            <p:nvPr/>
          </p:nvSpPr>
          <p:spPr>
            <a:xfrm>
              <a:off x="2348" y="3385"/>
              <a:ext cx="0" cy="227"/>
            </a:xfrm>
            <a:prstGeom prst="line">
              <a:avLst/>
            </a:prstGeom>
            <a:ln w="12700" cap="rnd" cmpd="sng">
              <a:solidFill>
                <a:srgbClr val="000000"/>
              </a:solidFill>
              <a:prstDash val="solid"/>
              <a:headEnd type="none" w="med" len="med"/>
              <a:tailEnd type="none" w="med" len="med"/>
            </a:ln>
          </p:spPr>
        </p:sp>
        <p:sp>
          <p:nvSpPr>
            <p:cNvPr id="142370" name="Line 35"/>
            <p:cNvSpPr/>
            <p:nvPr/>
          </p:nvSpPr>
          <p:spPr>
            <a:xfrm>
              <a:off x="2672" y="3385"/>
              <a:ext cx="0" cy="227"/>
            </a:xfrm>
            <a:prstGeom prst="line">
              <a:avLst/>
            </a:prstGeom>
            <a:ln w="12700" cap="rnd" cmpd="sng">
              <a:solidFill>
                <a:srgbClr val="000000"/>
              </a:solidFill>
              <a:prstDash val="solid"/>
              <a:headEnd type="none" w="med" len="med"/>
              <a:tailEnd type="none" w="med" len="med"/>
            </a:ln>
          </p:spPr>
        </p:sp>
        <p:sp>
          <p:nvSpPr>
            <p:cNvPr id="142371" name="Line 36"/>
            <p:cNvSpPr/>
            <p:nvPr/>
          </p:nvSpPr>
          <p:spPr>
            <a:xfrm>
              <a:off x="2997" y="3385"/>
              <a:ext cx="0" cy="227"/>
            </a:xfrm>
            <a:prstGeom prst="line">
              <a:avLst/>
            </a:prstGeom>
            <a:ln w="12700" cap="rnd" cmpd="sng">
              <a:solidFill>
                <a:srgbClr val="000000"/>
              </a:solidFill>
              <a:prstDash val="solid"/>
              <a:headEnd type="none" w="med" len="med"/>
              <a:tailEnd type="none" w="med" len="med"/>
            </a:ln>
          </p:spPr>
        </p:sp>
        <p:sp>
          <p:nvSpPr>
            <p:cNvPr id="142372" name="Line 37"/>
            <p:cNvSpPr/>
            <p:nvPr/>
          </p:nvSpPr>
          <p:spPr>
            <a:xfrm>
              <a:off x="3322" y="3385"/>
              <a:ext cx="0" cy="227"/>
            </a:xfrm>
            <a:prstGeom prst="line">
              <a:avLst/>
            </a:prstGeom>
            <a:ln w="12700" cap="rnd" cmpd="sng">
              <a:solidFill>
                <a:srgbClr val="000000"/>
              </a:solidFill>
              <a:prstDash val="solid"/>
              <a:headEnd type="none" w="med" len="med"/>
              <a:tailEnd type="none" w="med" len="med"/>
            </a:ln>
          </p:spPr>
        </p:sp>
        <p:sp>
          <p:nvSpPr>
            <p:cNvPr id="142373" name="Line 38"/>
            <p:cNvSpPr/>
            <p:nvPr/>
          </p:nvSpPr>
          <p:spPr>
            <a:xfrm>
              <a:off x="3647" y="3385"/>
              <a:ext cx="0" cy="227"/>
            </a:xfrm>
            <a:prstGeom prst="line">
              <a:avLst/>
            </a:prstGeom>
            <a:ln w="12700" cap="rnd" cmpd="sng">
              <a:solidFill>
                <a:srgbClr val="000000"/>
              </a:solidFill>
              <a:prstDash val="solid"/>
              <a:headEnd type="none" w="med" len="med"/>
              <a:tailEnd type="none" w="med" len="med"/>
            </a:ln>
          </p:spPr>
        </p:sp>
        <p:sp>
          <p:nvSpPr>
            <p:cNvPr id="142374" name="Line 39"/>
            <p:cNvSpPr/>
            <p:nvPr/>
          </p:nvSpPr>
          <p:spPr>
            <a:xfrm>
              <a:off x="3972" y="3385"/>
              <a:ext cx="0" cy="227"/>
            </a:xfrm>
            <a:prstGeom prst="line">
              <a:avLst/>
            </a:prstGeom>
            <a:ln w="12700" cap="rnd" cmpd="sng">
              <a:solidFill>
                <a:srgbClr val="000000"/>
              </a:solidFill>
              <a:prstDash val="solid"/>
              <a:headEnd type="none" w="med" len="med"/>
              <a:tailEnd type="none" w="med" len="med"/>
            </a:ln>
          </p:spPr>
        </p:sp>
        <p:sp>
          <p:nvSpPr>
            <p:cNvPr id="142375" name="Line 40"/>
            <p:cNvSpPr/>
            <p:nvPr/>
          </p:nvSpPr>
          <p:spPr>
            <a:xfrm>
              <a:off x="4297" y="3385"/>
              <a:ext cx="0" cy="227"/>
            </a:xfrm>
            <a:prstGeom prst="line">
              <a:avLst/>
            </a:prstGeom>
            <a:ln w="12700" cap="rnd" cmpd="sng">
              <a:solidFill>
                <a:srgbClr val="000000"/>
              </a:solidFill>
              <a:prstDash val="solid"/>
              <a:headEnd type="none" w="med" len="med"/>
              <a:tailEnd type="none" w="med" len="med"/>
            </a:ln>
          </p:spPr>
        </p:sp>
        <p:sp>
          <p:nvSpPr>
            <p:cNvPr id="142376" name="Line 41"/>
            <p:cNvSpPr/>
            <p:nvPr/>
          </p:nvSpPr>
          <p:spPr>
            <a:xfrm>
              <a:off x="4622" y="3385"/>
              <a:ext cx="0" cy="227"/>
            </a:xfrm>
            <a:prstGeom prst="line">
              <a:avLst/>
            </a:prstGeom>
            <a:ln w="12700" cap="rnd" cmpd="sng">
              <a:solidFill>
                <a:srgbClr val="000000"/>
              </a:solidFill>
              <a:prstDash val="solid"/>
              <a:headEnd type="none" w="med" len="med"/>
              <a:tailEnd type="none" w="med" len="med"/>
            </a:ln>
          </p:spPr>
        </p:sp>
        <p:sp>
          <p:nvSpPr>
            <p:cNvPr id="142377" name="Line 42"/>
            <p:cNvSpPr/>
            <p:nvPr/>
          </p:nvSpPr>
          <p:spPr>
            <a:xfrm>
              <a:off x="4946" y="3385"/>
              <a:ext cx="0" cy="227"/>
            </a:xfrm>
            <a:prstGeom prst="line">
              <a:avLst/>
            </a:prstGeom>
            <a:ln w="12700" cap="rnd" cmpd="sng">
              <a:solidFill>
                <a:srgbClr val="000000"/>
              </a:solidFill>
              <a:prstDash val="solid"/>
              <a:headEnd type="none" w="med" len="med"/>
              <a:tailEnd type="none" w="med" len="med"/>
            </a:ln>
          </p:spPr>
        </p:sp>
        <p:sp>
          <p:nvSpPr>
            <p:cNvPr id="142378" name="Line 43"/>
            <p:cNvSpPr/>
            <p:nvPr/>
          </p:nvSpPr>
          <p:spPr>
            <a:xfrm>
              <a:off x="5271" y="3385"/>
              <a:ext cx="0" cy="227"/>
            </a:xfrm>
            <a:prstGeom prst="line">
              <a:avLst/>
            </a:prstGeom>
            <a:ln w="12700" cap="rnd" cmpd="sng">
              <a:solidFill>
                <a:srgbClr val="000000"/>
              </a:solidFill>
              <a:prstDash val="solid"/>
              <a:headEnd type="none" w="med" len="med"/>
              <a:tailEnd type="none" w="med" len="med"/>
            </a:ln>
          </p:spPr>
        </p:sp>
        <p:sp>
          <p:nvSpPr>
            <p:cNvPr id="142379" name="Text Box 44"/>
            <p:cNvSpPr txBox="1"/>
            <p:nvPr/>
          </p:nvSpPr>
          <p:spPr>
            <a:xfrm>
              <a:off x="2200" y="3748"/>
              <a:ext cx="1056" cy="231"/>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algn="ctr" eaLnBrk="1" hangingPunct="1">
                <a:spcBef>
                  <a:spcPct val="0"/>
                </a:spcBef>
                <a:buClrTx/>
                <a:buFontTx/>
                <a:buNone/>
              </a:pPr>
              <a:r>
                <a:rPr lang="zh-CN" altLang="en-US" sz="1800" dirty="0">
                  <a:solidFill>
                    <a:schemeClr val="tx1"/>
                  </a:solidFill>
                  <a:cs typeface="Arial" panose="020B0604020202020204" pitchFamily="34" charset="0"/>
                </a:rPr>
                <a:t>图</a:t>
              </a:r>
              <a:r>
                <a:rPr lang="en-US" altLang="zh-CN" sz="1800" dirty="0">
                  <a:solidFill>
                    <a:schemeClr val="tx1"/>
                  </a:solidFill>
                  <a:cs typeface="Arial" panose="020B0604020202020204" pitchFamily="34" charset="0"/>
                </a:rPr>
                <a:t>1.21  </a:t>
              </a:r>
              <a:r>
                <a:rPr lang="zh-CN" altLang="en-US" sz="1800" dirty="0">
                  <a:solidFill>
                    <a:schemeClr val="tx1"/>
                  </a:solidFill>
                  <a:cs typeface="Arial" panose="020B0604020202020204" pitchFamily="34" charset="0"/>
                </a:rPr>
                <a:t>邻接法 </a:t>
              </a:r>
              <a:endParaRPr lang="zh-CN" altLang="en-US" sz="1800" dirty="0">
                <a:solidFill>
                  <a:schemeClr val="tx1"/>
                </a:solidFill>
                <a:ea typeface="Arial" panose="020B0604020202020204" pitchFamily="34" charset="0"/>
              </a:endParaRPr>
            </a:p>
          </p:txBody>
        </p:sp>
      </p:grpSp>
      <p:sp>
        <p:nvSpPr>
          <p:cNvPr id="142343" name="Rectangle 46"/>
          <p:cNvSpPr/>
          <p:nvPr/>
        </p:nvSpPr>
        <p:spPr>
          <a:xfrm>
            <a:off x="611188" y="1557338"/>
            <a:ext cx="7232650" cy="427037"/>
          </a:xfrm>
          <a:prstGeom prst="rect">
            <a:avLst/>
          </a:prstGeom>
          <a:noFill/>
          <a:ln w="25400">
            <a:noFill/>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000" b="0" dirty="0">
                <a:solidFill>
                  <a:schemeClr val="tx1"/>
                </a:solidFill>
                <a:cs typeface="Arial" panose="020B0604020202020204" pitchFamily="34" charset="0"/>
              </a:rPr>
              <a:t>按邻接法存放图</a:t>
            </a:r>
            <a:r>
              <a:rPr lang="en-US" altLang="zh-CN" sz="2000" b="0" dirty="0">
                <a:solidFill>
                  <a:schemeClr val="tx1"/>
                </a:solidFill>
                <a:cs typeface="Arial" panose="020B0604020202020204" pitchFamily="34" charset="0"/>
              </a:rPr>
              <a:t>1.20</a:t>
            </a:r>
            <a:r>
              <a:rPr lang="zh-CN" altLang="en-US" sz="2000" b="0" dirty="0">
                <a:solidFill>
                  <a:schemeClr val="tx1"/>
                </a:solidFill>
                <a:cs typeface="Arial" panose="020B0604020202020204" pitchFamily="34" charset="0"/>
              </a:rPr>
              <a:t>（</a:t>
            </a:r>
            <a:r>
              <a:rPr lang="en-US" altLang="zh-CN" sz="2000" b="0" dirty="0">
                <a:solidFill>
                  <a:schemeClr val="tx1"/>
                </a:solidFill>
                <a:cs typeface="Arial" panose="020B0604020202020204" pitchFamily="34" charset="0"/>
              </a:rPr>
              <a:t>b</a:t>
            </a:r>
            <a:r>
              <a:rPr lang="zh-CN" altLang="en-US" sz="2000" b="0" dirty="0">
                <a:solidFill>
                  <a:schemeClr val="tx1"/>
                </a:solidFill>
                <a:cs typeface="Arial" panose="020B0604020202020204" pitchFamily="34" charset="0"/>
              </a:rPr>
              <a:t>）中以根记录</a:t>
            </a:r>
            <a:r>
              <a:rPr lang="en-US" altLang="zh-CN" sz="2000" b="0" dirty="0">
                <a:solidFill>
                  <a:schemeClr val="tx1"/>
                </a:solidFill>
                <a:cs typeface="Arial" panose="020B0604020202020204" pitchFamily="34" charset="0"/>
              </a:rPr>
              <a:t>A1</a:t>
            </a:r>
            <a:r>
              <a:rPr lang="zh-CN" altLang="en-US" sz="2000" b="0" dirty="0">
                <a:solidFill>
                  <a:schemeClr val="tx1"/>
                </a:solidFill>
                <a:cs typeface="Arial" panose="020B0604020202020204" pitchFamily="34" charset="0"/>
              </a:rPr>
              <a:t>为首的层次记录实例集</a:t>
            </a:r>
            <a:r>
              <a:rPr lang="zh-CN" altLang="en-US" sz="2200" dirty="0">
                <a:solidFill>
                  <a:schemeClr val="tx1"/>
                </a:solidFill>
                <a:cs typeface="Arial" panose="020B0604020202020204" pitchFamily="34" charset="0"/>
              </a:rPr>
              <a:t> </a:t>
            </a:r>
            <a:endParaRPr lang="zh-CN" altLang="en-US" sz="2200" dirty="0">
              <a:solidFill>
                <a:schemeClr val="tx1"/>
              </a:solidFill>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2968"/>
                                        </p:tgtEl>
                                        <p:attrNameLst>
                                          <p:attrName>style.visibility</p:attrName>
                                        </p:attrNameLst>
                                      </p:cBhvr>
                                      <p:to>
                                        <p:strVal val="visible"/>
                                      </p:to>
                                    </p:set>
                                    <p:animEffect transition="in" filter="blinds(horizontal)">
                                      <p:cBhvr>
                                        <p:cTn id="7" dur="1000"/>
                                        <p:tgtEl>
                                          <p:spTgt spid="552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63"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pic>
        <p:nvPicPr>
          <p:cNvPr id="143364" name="Picture 5" descr="1"/>
          <p:cNvPicPr>
            <a:picLocks noChangeAspect="1"/>
          </p:cNvPicPr>
          <p:nvPr/>
        </p:nvPicPr>
        <p:blipFill>
          <a:blip r:embed="rId1"/>
          <a:stretch>
            <a:fillRect/>
          </a:stretch>
        </p:blipFill>
        <p:spPr>
          <a:xfrm>
            <a:off x="1042988" y="3141663"/>
            <a:ext cx="6408737" cy="2698750"/>
          </a:xfrm>
          <a:prstGeom prst="rect">
            <a:avLst/>
          </a:prstGeom>
          <a:noFill/>
          <a:ln w="9525">
            <a:noFill/>
          </a:ln>
        </p:spPr>
      </p:pic>
      <p:sp>
        <p:nvSpPr>
          <p:cNvPr id="143365" name="Rectangle 6"/>
          <p:cNvSpPr/>
          <p:nvPr/>
        </p:nvSpPr>
        <p:spPr>
          <a:xfrm>
            <a:off x="395288" y="1700213"/>
            <a:ext cx="7489825" cy="1322387"/>
          </a:xfrm>
          <a:prstGeom prst="rect">
            <a:avLst/>
          </a:prstGeom>
          <a:noFill/>
          <a:ln w="254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342900" lvl="0" indent="-342900" eaLnBrk="1" hangingPunct="1">
              <a:lnSpc>
                <a:spcPct val="130000"/>
              </a:lnSpc>
              <a:spcBef>
                <a:spcPct val="0"/>
              </a:spcBef>
              <a:buClr>
                <a:schemeClr val="accent1"/>
              </a:buClr>
              <a:buFont typeface="Wingdings" panose="05000000000000000000" pitchFamily="2" charset="2"/>
              <a:buChar char="n"/>
            </a:pPr>
            <a:r>
              <a:rPr lang="zh-CN" altLang="en-US" sz="2600" dirty="0">
                <a:latin typeface="Arial" panose="020B0604020202020204" pitchFamily="34" charset="0"/>
                <a:cs typeface="Arial" panose="020B0604020202020204" pitchFamily="34" charset="0"/>
              </a:rPr>
              <a:t>子女</a:t>
            </a:r>
            <a:r>
              <a:rPr lang="en-US" altLang="zh-CN" sz="2600" dirty="0">
                <a:latin typeface="Arial" panose="020B0604020202020204" pitchFamily="34" charset="0"/>
                <a:cs typeface="Arial" panose="020B0604020202020204" pitchFamily="34" charset="0"/>
              </a:rPr>
              <a:t>-</a:t>
            </a:r>
            <a:r>
              <a:rPr lang="zh-CN" altLang="en-US" sz="2600" dirty="0">
                <a:latin typeface="Arial" panose="020B0604020202020204" pitchFamily="34" charset="0"/>
                <a:cs typeface="Arial" panose="020B0604020202020204" pitchFamily="34" charset="0"/>
              </a:rPr>
              <a:t>兄弟链接法</a:t>
            </a:r>
            <a:endParaRPr lang="zh-CN" altLang="en-US" sz="2600" dirty="0">
              <a:latin typeface="Arial" panose="020B0604020202020204" pitchFamily="34" charset="0"/>
              <a:cs typeface="Arial" panose="020B0604020202020204" pitchFamily="34" charset="0"/>
            </a:endParaRPr>
          </a:p>
          <a:p>
            <a:pPr marL="457200" lvl="1" indent="0" eaLnBrk="1" hangingPunct="1">
              <a:lnSpc>
                <a:spcPct val="130000"/>
              </a:lnSpc>
              <a:spcBef>
                <a:spcPct val="0"/>
              </a:spcBef>
              <a:buClrTx/>
              <a:buSzPct val="75000"/>
              <a:buNone/>
            </a:pPr>
            <a:r>
              <a:rPr lang="zh-CN" altLang="en-US" sz="1800" b="0" dirty="0">
                <a:cs typeface="Arial" panose="020B0604020202020204" pitchFamily="34" charset="0"/>
              </a:rPr>
              <a:t>每个记录设两类指针，分别指向最左边的子女（每个记录型对应一个）和最近的兄弟</a:t>
            </a:r>
            <a:endParaRPr lang="zh-CN" altLang="en-US" sz="1800" b="0" dirty="0">
              <a:ea typeface="Arial" panose="020B0604020202020204" pitchFamily="34"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4387"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44388" name="Rectangle 5"/>
          <p:cNvSpPr>
            <a:spLocks noGrp="1"/>
          </p:cNvSpPr>
          <p:nvPr>
            <p:ph idx="1"/>
          </p:nvPr>
        </p:nvSpPr>
        <p:spPr>
          <a:xfrm>
            <a:off x="468313" y="1138238"/>
            <a:ext cx="8229600" cy="1150937"/>
          </a:xfrm>
          <a:ln/>
        </p:spPr>
        <p:txBody>
          <a:bodyPr vert="horz" wrap="square" lIns="91440" tIns="45720" rIns="91440" bIns="45720" anchor="t" anchorCtr="0"/>
          <a:p>
            <a:pPr eaLnBrk="1" hangingPunct="1"/>
            <a:r>
              <a:rPr lang="zh-CN" altLang="en-US" b="0" dirty="0"/>
              <a:t>层次序列链接法</a:t>
            </a:r>
            <a:endParaRPr lang="zh-CN" altLang="en-US" b="0" dirty="0"/>
          </a:p>
          <a:p>
            <a:pPr lvl="1" eaLnBrk="1" hangingPunct="1"/>
            <a:r>
              <a:rPr lang="zh-CN" altLang="en-US" dirty="0"/>
              <a:t>按树的前序穿越顺序链接各记录值</a:t>
            </a:r>
            <a:endParaRPr lang="zh-CN" altLang="en-US" dirty="0"/>
          </a:p>
        </p:txBody>
      </p:sp>
      <p:pic>
        <p:nvPicPr>
          <p:cNvPr id="144389" name="Picture 6" descr="1"/>
          <p:cNvPicPr>
            <a:picLocks noChangeAspect="1"/>
          </p:cNvPicPr>
          <p:nvPr/>
        </p:nvPicPr>
        <p:blipFill>
          <a:blip r:embed="rId1"/>
          <a:stretch>
            <a:fillRect/>
          </a:stretch>
        </p:blipFill>
        <p:spPr>
          <a:xfrm>
            <a:off x="1835150" y="2289175"/>
            <a:ext cx="4824413" cy="3779838"/>
          </a:xfrm>
          <a:prstGeom prst="rect">
            <a:avLst/>
          </a:prstGeom>
          <a:noFill/>
          <a:ln w="9525">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5411" name="Rectangle 2"/>
          <p:cNvSpPr>
            <a:spLocks noGrp="1"/>
          </p:cNvSpPr>
          <p:nvPr>
            <p:ph type="title"/>
          </p:nvPr>
        </p:nvSpPr>
        <p:spPr>
          <a:xfrm>
            <a:off x="685800" y="76200"/>
            <a:ext cx="813435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45412" name="Rectangle 3"/>
          <p:cNvSpPr>
            <a:spLocks noGrp="1"/>
          </p:cNvSpPr>
          <p:nvPr>
            <p:ph idx="1"/>
          </p:nvPr>
        </p:nvSpPr>
        <p:spPr>
          <a:xfrm>
            <a:off x="609600" y="990600"/>
            <a:ext cx="8153400" cy="5410200"/>
          </a:xfrm>
          <a:ln/>
        </p:spPr>
        <p:txBody>
          <a:bodyPr vert="horz" wrap="square" lIns="91440" tIns="45720" rIns="91440" bIns="45720" anchor="t" anchorCtr="0"/>
          <a:p>
            <a:pPr algn="just" eaLnBrk="1" hangingPunct="1">
              <a:lnSpc>
                <a:spcPct val="120000"/>
              </a:lnSpc>
              <a:buNone/>
            </a:pPr>
            <a:r>
              <a:rPr lang="en-US" altLang="zh-CN" sz="2800" dirty="0"/>
              <a:t>5. </a:t>
            </a:r>
            <a:r>
              <a:rPr lang="zh-CN" altLang="en-US" sz="2800" dirty="0"/>
              <a:t>层次数据模型的优缺点</a:t>
            </a:r>
            <a:endParaRPr lang="zh-CN" altLang="en-US" sz="2800" dirty="0"/>
          </a:p>
          <a:p>
            <a:pPr algn="just" eaLnBrk="1" hangingPunct="1"/>
            <a:r>
              <a:rPr lang="zh-CN" altLang="en-US" dirty="0">
                <a:solidFill>
                  <a:schemeClr val="accent2"/>
                </a:solidFill>
              </a:rPr>
              <a:t>优点</a:t>
            </a:r>
            <a:endParaRPr lang="zh-CN" altLang="en-US" dirty="0">
              <a:solidFill>
                <a:schemeClr val="accent2"/>
              </a:solidFill>
            </a:endParaRPr>
          </a:p>
          <a:p>
            <a:pPr lvl="1" algn="just" eaLnBrk="1" hangingPunct="1"/>
            <a:r>
              <a:rPr lang="zh-CN" altLang="en-US" sz="2400" dirty="0"/>
              <a:t>层次数据模型简单，对具有一对多的层次关系的部门描述自然、直观，容易理解</a:t>
            </a:r>
            <a:endParaRPr lang="zh-CN" altLang="en-US" sz="2400" dirty="0"/>
          </a:p>
          <a:p>
            <a:pPr lvl="1" algn="just" eaLnBrk="1" hangingPunct="1"/>
            <a:r>
              <a:rPr lang="zh-CN" altLang="en-US" sz="2400" dirty="0"/>
              <a:t>性能优于关系模型，不低于网状模型</a:t>
            </a:r>
            <a:endParaRPr lang="zh-CN" altLang="en-US" sz="2400" dirty="0"/>
          </a:p>
          <a:p>
            <a:pPr lvl="1" algn="just" eaLnBrk="1" hangingPunct="1"/>
            <a:r>
              <a:rPr lang="zh-CN" altLang="en-US" sz="2400" dirty="0"/>
              <a:t>层次数据模型提供了良好的完整性支持</a:t>
            </a:r>
            <a:endParaRPr lang="zh-CN" altLang="en-US" dirty="0"/>
          </a:p>
          <a:p>
            <a:pPr eaLnBrk="1" hangingPunct="1"/>
            <a:r>
              <a:rPr lang="zh-CN" altLang="en-US" dirty="0">
                <a:solidFill>
                  <a:schemeClr val="accent2"/>
                </a:solidFill>
              </a:rPr>
              <a:t>缺点</a:t>
            </a:r>
            <a:endParaRPr lang="zh-CN" altLang="en-US" dirty="0">
              <a:solidFill>
                <a:schemeClr val="accent2"/>
              </a:solidFill>
            </a:endParaRPr>
          </a:p>
          <a:p>
            <a:pPr lvl="1" eaLnBrk="1" hangingPunct="1"/>
            <a:r>
              <a:rPr lang="zh-CN" altLang="en-US" sz="2400" dirty="0"/>
              <a:t>多对多联系表示不自然</a:t>
            </a:r>
            <a:endParaRPr lang="zh-CN" altLang="en-US" sz="2400" dirty="0"/>
          </a:p>
          <a:p>
            <a:pPr lvl="1" eaLnBrk="1" hangingPunct="1"/>
            <a:r>
              <a:rPr lang="zh-CN" altLang="en-US" sz="2400" dirty="0"/>
              <a:t>对插入和删除操作的限制多</a:t>
            </a:r>
            <a:endParaRPr lang="zh-CN" altLang="en-US" sz="2400" dirty="0"/>
          </a:p>
          <a:p>
            <a:pPr lvl="1" eaLnBrk="1" hangingPunct="1"/>
            <a:r>
              <a:rPr lang="zh-CN" altLang="en-US" sz="2400" dirty="0"/>
              <a:t>查询子女结点必须通过双亲结点</a:t>
            </a:r>
            <a:endParaRPr lang="zh-CN" altLang="en-US" sz="2400" dirty="0"/>
          </a:p>
          <a:p>
            <a:pPr lvl="1" eaLnBrk="1" hangingPunct="1"/>
            <a:r>
              <a:rPr lang="zh-CN" altLang="en-US" sz="2400" dirty="0"/>
              <a:t>层次命令趋于程序化</a:t>
            </a:r>
            <a:endParaRPr lang="zh-CN" altLang="en-US" sz="24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6435" name="Rectangle 2"/>
          <p:cNvSpPr>
            <a:spLocks noGrp="1"/>
          </p:cNvSpPr>
          <p:nvPr>
            <p:ph type="title"/>
          </p:nvPr>
        </p:nvSpPr>
        <p:spPr>
          <a:xfrm>
            <a:off x="685800" y="76200"/>
            <a:ext cx="7772400" cy="609600"/>
          </a:xfrm>
          <a:ln/>
        </p:spPr>
        <p:txBody>
          <a:bodyPr vert="horz" wrap="square" lIns="91440" tIns="45720" rIns="91440" bIns="45720" anchor="ctr" anchorCtr="0"/>
          <a:p>
            <a:pPr eaLnBrk="1" hangingPunct="1"/>
            <a:r>
              <a:rPr lang="en-US" altLang="zh-CN" u="sng" dirty="0"/>
              <a:t>1.2.5  </a:t>
            </a:r>
            <a:r>
              <a:rPr lang="zh-CN" altLang="en-US" u="sng" dirty="0"/>
              <a:t>层次模型</a:t>
            </a:r>
            <a:r>
              <a:rPr lang="en-US" altLang="zh-CN" u="sng" dirty="0"/>
              <a:t>(cont)</a:t>
            </a:r>
            <a:endParaRPr lang="en-US" altLang="zh-CN" u="sng" dirty="0"/>
          </a:p>
        </p:txBody>
      </p:sp>
      <p:sp>
        <p:nvSpPr>
          <p:cNvPr id="146436" name="Rectangle 3"/>
          <p:cNvSpPr>
            <a:spLocks noGrp="1"/>
          </p:cNvSpPr>
          <p:nvPr>
            <p:ph idx="1"/>
          </p:nvPr>
        </p:nvSpPr>
        <p:spPr>
          <a:xfrm>
            <a:off x="609600" y="990600"/>
            <a:ext cx="8153400" cy="5246688"/>
          </a:xfrm>
          <a:ln/>
        </p:spPr>
        <p:txBody>
          <a:bodyPr vert="horz" wrap="square" lIns="91440" tIns="45720" rIns="91440" bIns="45720" anchor="t" anchorCtr="0"/>
          <a:p>
            <a:pPr algn="just" eaLnBrk="1" hangingPunct="1">
              <a:lnSpc>
                <a:spcPct val="120000"/>
              </a:lnSpc>
              <a:buNone/>
            </a:pPr>
            <a:r>
              <a:rPr lang="en-US" altLang="zh-CN" dirty="0"/>
              <a:t>6.</a:t>
            </a:r>
            <a:r>
              <a:rPr lang="zh-CN" altLang="en-US" dirty="0"/>
              <a:t>典型的层次数据库系统</a:t>
            </a:r>
            <a:endParaRPr lang="zh-CN" altLang="en-US" dirty="0"/>
          </a:p>
          <a:p>
            <a:pPr algn="just" eaLnBrk="1" hangingPunct="1">
              <a:lnSpc>
                <a:spcPct val="120000"/>
              </a:lnSpc>
              <a:buNone/>
            </a:pPr>
            <a:r>
              <a:rPr lang="zh-CN" altLang="en-US" sz="2800" dirty="0">
                <a:solidFill>
                  <a:schemeClr val="tx1"/>
                </a:solidFill>
              </a:rPr>
              <a:t>层次模型是数据库系统中最早出现的数据模型</a:t>
            </a:r>
            <a:endParaRPr lang="zh-CN" altLang="en-US" sz="2800" dirty="0">
              <a:solidFill>
                <a:schemeClr val="tx1"/>
              </a:solidFill>
            </a:endParaRPr>
          </a:p>
          <a:p>
            <a:pPr algn="just" eaLnBrk="1" hangingPunct="1">
              <a:lnSpc>
                <a:spcPct val="120000"/>
              </a:lnSpc>
              <a:buNone/>
            </a:pPr>
            <a:endParaRPr lang="zh-CN" altLang="en-US" dirty="0">
              <a:solidFill>
                <a:schemeClr val="tx1"/>
              </a:solidFill>
            </a:endParaRPr>
          </a:p>
          <a:p>
            <a:pPr eaLnBrk="1" hangingPunct="1"/>
            <a:r>
              <a:rPr lang="en-US" altLang="zh-CN" dirty="0">
                <a:solidFill>
                  <a:schemeClr val="accent2"/>
                </a:solidFill>
              </a:rPr>
              <a:t>IMS</a:t>
            </a:r>
            <a:r>
              <a:rPr lang="zh-CN" altLang="en-US" dirty="0">
                <a:solidFill>
                  <a:schemeClr val="accent2"/>
                </a:solidFill>
              </a:rPr>
              <a:t>数据库管理系统</a:t>
            </a:r>
            <a:endParaRPr lang="zh-CN" altLang="en-US" dirty="0">
              <a:solidFill>
                <a:schemeClr val="accent2"/>
              </a:solidFill>
            </a:endParaRPr>
          </a:p>
          <a:p>
            <a:pPr lvl="1" eaLnBrk="1" hangingPunct="1">
              <a:lnSpc>
                <a:spcPct val="190000"/>
              </a:lnSpc>
            </a:pPr>
            <a:r>
              <a:rPr lang="zh-CN" altLang="en-US" sz="2400" dirty="0"/>
              <a:t>第一个大型商用</a:t>
            </a:r>
            <a:r>
              <a:rPr lang="en-US" altLang="zh-CN" sz="2400" dirty="0"/>
              <a:t>DBMS</a:t>
            </a:r>
            <a:endParaRPr lang="en-US" altLang="zh-CN" sz="2400" dirty="0"/>
          </a:p>
          <a:p>
            <a:pPr lvl="1" eaLnBrk="1" hangingPunct="1">
              <a:lnSpc>
                <a:spcPct val="190000"/>
              </a:lnSpc>
            </a:pPr>
            <a:r>
              <a:rPr lang="en-US" altLang="zh-CN" sz="2400" dirty="0"/>
              <a:t>1968</a:t>
            </a:r>
            <a:r>
              <a:rPr lang="zh-CN" altLang="en-US" sz="2400" dirty="0"/>
              <a:t>年推出</a:t>
            </a:r>
            <a:endParaRPr lang="zh-CN" altLang="en-US" sz="2400" dirty="0"/>
          </a:p>
          <a:p>
            <a:pPr lvl="1" eaLnBrk="1" hangingPunct="1">
              <a:lnSpc>
                <a:spcPct val="190000"/>
              </a:lnSpc>
            </a:pPr>
            <a:r>
              <a:rPr lang="en-US" altLang="zh-CN" sz="2400" dirty="0"/>
              <a:t>IBM</a:t>
            </a:r>
            <a:r>
              <a:rPr lang="zh-CN" altLang="en-US" sz="2400" dirty="0"/>
              <a:t>公司研制</a:t>
            </a:r>
            <a:endParaRPr lang="zh-CN" altLang="en-US" sz="2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7459" name="Rectangle 2"/>
          <p:cNvSpPr/>
          <p:nvPr/>
        </p:nvSpPr>
        <p:spPr>
          <a:xfrm>
            <a:off x="977900" y="4899025"/>
            <a:ext cx="7848600" cy="7620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47460" name="Rectangle 3"/>
          <p:cNvSpPr>
            <a:spLocks noGrp="1"/>
          </p:cNvSpPr>
          <p:nvPr>
            <p:ph type="title"/>
          </p:nvPr>
        </p:nvSpPr>
        <p:spPr>
          <a:ln/>
        </p:spPr>
        <p:txBody>
          <a:bodyPr vert="horz" wrap="square" lIns="91440" tIns="45720" rIns="91440" bIns="45720" anchor="ctr" anchorCtr="0"/>
          <a:p>
            <a:pPr eaLnBrk="1" hangingPunct="1"/>
            <a:r>
              <a:rPr lang="en-US" altLang="zh-CN" dirty="0"/>
              <a:t>1.2 </a:t>
            </a:r>
            <a:r>
              <a:rPr lang="zh-CN" altLang="en-US" dirty="0"/>
              <a:t>数据模型</a:t>
            </a:r>
            <a:endParaRPr lang="zh-CN" altLang="en-US" dirty="0"/>
          </a:p>
        </p:txBody>
      </p:sp>
      <p:sp>
        <p:nvSpPr>
          <p:cNvPr id="147461" name="Rectangle 4"/>
          <p:cNvSpPr>
            <a:spLocks noGrp="1"/>
          </p:cNvSpPr>
          <p:nvPr>
            <p:ph idx="1"/>
          </p:nvPr>
        </p:nvSpPr>
        <p:spPr>
          <a:xfrm>
            <a:off x="990600" y="1143000"/>
            <a:ext cx="7543800" cy="545465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1.2.1  </a:t>
            </a:r>
            <a:r>
              <a:rPr lang="zh-CN" altLang="en-US" dirty="0">
                <a:solidFill>
                  <a:schemeClr val="tx1"/>
                </a:solidFill>
                <a:latin typeface="Arial Narrow" panose="020B0606020202030204" pitchFamily="34" charset="0"/>
                <a:ea typeface="仿宋_GB2312" pitchFamily="49" charset="-122"/>
              </a:rPr>
              <a:t>两大类数据模型</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1.2.2  </a:t>
            </a:r>
            <a:r>
              <a:rPr lang="zh-CN" altLang="en-US" dirty="0">
                <a:solidFill>
                  <a:schemeClr val="tx1"/>
                </a:solidFill>
                <a:latin typeface="Arial Narrow" panose="020B0606020202030204" pitchFamily="34" charset="0"/>
                <a:ea typeface="仿宋_GB2312" pitchFamily="49" charset="-122"/>
              </a:rPr>
              <a:t>数据模型的组成要素</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1.2.3</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概念模型</a:t>
            </a:r>
            <a:endParaRPr lang="zh-CN" altLang="en-US" dirty="0">
              <a:solidFill>
                <a:schemeClr val="tx1"/>
              </a:solidFill>
              <a:latin typeface="仿宋_GB2312" pitchFamily="49" charset="-122"/>
              <a:ea typeface="仿宋_GB2312" pitchFamily="49" charset="-122"/>
            </a:endParaRPr>
          </a:p>
          <a:p>
            <a:pPr algn="just"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1.2.4</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最常用的数据模型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1.2.5</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层次模型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1.2.6</a:t>
            </a:r>
            <a:r>
              <a:rPr lang="en-US" altLang="zh-CN" dirty="0">
                <a:solidFill>
                  <a:schemeClr val="bg1"/>
                </a:solidFill>
                <a:latin typeface="仿宋_GB2312" pitchFamily="49" charset="-122"/>
                <a:ea typeface="仿宋_GB2312" pitchFamily="49" charset="-122"/>
              </a:rPr>
              <a:t> </a:t>
            </a:r>
            <a:r>
              <a:rPr lang="zh-CN" altLang="en-US" dirty="0">
                <a:solidFill>
                  <a:schemeClr val="bg1"/>
                </a:solidFill>
                <a:latin typeface="仿宋_GB2312" pitchFamily="49" charset="-122"/>
                <a:ea typeface="仿宋_GB2312" pitchFamily="49" charset="-122"/>
              </a:rPr>
              <a:t>网状模型</a:t>
            </a:r>
            <a:endParaRPr lang="zh-CN" altLang="en-US" dirty="0">
              <a:solidFill>
                <a:schemeClr val="bg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1.2.7</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关系模型</a:t>
            </a:r>
            <a:endParaRPr lang="zh-CN" altLang="en-US" dirty="0">
              <a:solidFill>
                <a:schemeClr val="tx1"/>
              </a:solidFill>
              <a:latin typeface="仿宋_GB2312" pitchFamily="49" charset="-122"/>
              <a:ea typeface="仿宋_GB2312" pitchFamily="49"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8483" name="Rectangle 2"/>
          <p:cNvSpPr>
            <a:spLocks noGrp="1"/>
          </p:cNvSpPr>
          <p:nvPr>
            <p:ph type="title"/>
          </p:nvPr>
        </p:nvSpPr>
        <p:spPr>
          <a:ln/>
        </p:spPr>
        <p:txBody>
          <a:bodyPr vert="horz" wrap="square" lIns="91440" tIns="45720" rIns="91440" bIns="45720" anchor="ctr" anchorCtr="0"/>
          <a:p>
            <a:pPr eaLnBrk="1" hangingPunct="1"/>
            <a:r>
              <a:rPr lang="en-US" altLang="zh-CN" dirty="0"/>
              <a:t>1.2.6  </a:t>
            </a:r>
            <a:r>
              <a:rPr lang="zh-CN" altLang="en-US" dirty="0"/>
              <a:t>网状模型</a:t>
            </a:r>
            <a:endParaRPr lang="zh-CN" altLang="en-US" dirty="0"/>
          </a:p>
        </p:txBody>
      </p:sp>
      <p:sp>
        <p:nvSpPr>
          <p:cNvPr id="148484" name="Rectangle 3"/>
          <p:cNvSpPr>
            <a:spLocks noGrp="1"/>
          </p:cNvSpPr>
          <p:nvPr>
            <p:ph idx="1"/>
          </p:nvPr>
        </p:nvSpPr>
        <p:spPr>
          <a:xfrm>
            <a:off x="1066800" y="1600200"/>
            <a:ext cx="7315200" cy="4343400"/>
          </a:xfrm>
          <a:ln/>
        </p:spPr>
        <p:txBody>
          <a:bodyPr vert="horz" wrap="square" lIns="91440" tIns="45720" rIns="91440" bIns="45720" anchor="t" anchorCtr="0"/>
          <a:p>
            <a:pPr algn="just" eaLnBrk="1" hangingPunct="1">
              <a:lnSpc>
                <a:spcPct val="120000"/>
              </a:lnSpc>
              <a:buNone/>
            </a:pPr>
            <a:r>
              <a:rPr lang="en-US" altLang="zh-CN" dirty="0"/>
              <a:t>1. </a:t>
            </a:r>
            <a:r>
              <a:rPr lang="zh-CN" altLang="en-US" dirty="0"/>
              <a:t>网状数据模型的数据结构 </a:t>
            </a:r>
            <a:endParaRPr lang="zh-CN" altLang="en-US" dirty="0"/>
          </a:p>
          <a:p>
            <a:pPr algn="just" eaLnBrk="1" hangingPunct="1">
              <a:lnSpc>
                <a:spcPct val="120000"/>
              </a:lnSpc>
              <a:buNone/>
            </a:pPr>
            <a:r>
              <a:rPr lang="en-US" altLang="zh-CN" dirty="0"/>
              <a:t>2. </a:t>
            </a:r>
            <a:r>
              <a:rPr lang="zh-CN" altLang="en-US" dirty="0"/>
              <a:t>网状数据模型的数据操纵</a:t>
            </a:r>
            <a:endParaRPr lang="zh-CN" altLang="en-US" dirty="0"/>
          </a:p>
          <a:p>
            <a:pPr algn="just" eaLnBrk="1" hangingPunct="1">
              <a:lnSpc>
                <a:spcPct val="120000"/>
              </a:lnSpc>
              <a:buNone/>
            </a:pPr>
            <a:r>
              <a:rPr lang="en-US" altLang="zh-CN" dirty="0"/>
              <a:t>3. </a:t>
            </a:r>
            <a:r>
              <a:rPr lang="zh-CN" altLang="en-US" dirty="0"/>
              <a:t>网状数据模型的与完整性约束 </a:t>
            </a:r>
            <a:endParaRPr lang="zh-CN" altLang="en-US" dirty="0"/>
          </a:p>
          <a:p>
            <a:pPr algn="just" eaLnBrk="1" hangingPunct="1">
              <a:lnSpc>
                <a:spcPct val="120000"/>
              </a:lnSpc>
              <a:buNone/>
            </a:pPr>
            <a:r>
              <a:rPr lang="en-US" altLang="zh-CN" dirty="0"/>
              <a:t>4. </a:t>
            </a:r>
            <a:r>
              <a:rPr lang="zh-CN" altLang="en-US" dirty="0"/>
              <a:t>网状数据模型的存储结构 </a:t>
            </a:r>
            <a:endParaRPr lang="zh-CN" altLang="en-US" dirty="0"/>
          </a:p>
          <a:p>
            <a:pPr algn="just" eaLnBrk="1" hangingPunct="1">
              <a:lnSpc>
                <a:spcPct val="120000"/>
              </a:lnSpc>
              <a:buNone/>
            </a:pPr>
            <a:r>
              <a:rPr lang="en-US" altLang="zh-CN" dirty="0"/>
              <a:t>5. </a:t>
            </a:r>
            <a:r>
              <a:rPr lang="zh-CN" altLang="en-US" dirty="0"/>
              <a:t>网状数据模型的优缺点</a:t>
            </a:r>
            <a:r>
              <a:rPr lang="zh-CN" altLang="en-US" b="0" dirty="0"/>
              <a:t> </a:t>
            </a:r>
            <a:endParaRPr lang="zh-CN" altLang="en-US" b="0" dirty="0"/>
          </a:p>
          <a:p>
            <a:pPr algn="just" eaLnBrk="1" hangingPunct="1">
              <a:lnSpc>
                <a:spcPct val="120000"/>
              </a:lnSpc>
              <a:buNone/>
            </a:pPr>
            <a:r>
              <a:rPr lang="en-US" altLang="zh-CN" dirty="0"/>
              <a:t>6. </a:t>
            </a:r>
            <a:r>
              <a:rPr lang="zh-CN" altLang="en-US" dirty="0"/>
              <a:t>典型的网状数据库系统</a:t>
            </a:r>
            <a:endParaRPr lang="zh-CN" alt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9507"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49508" name="Rectangle 3"/>
          <p:cNvSpPr>
            <a:spLocks noGrp="1"/>
          </p:cNvSpPr>
          <p:nvPr>
            <p:ph idx="1"/>
          </p:nvPr>
        </p:nvSpPr>
        <p:spPr>
          <a:xfrm>
            <a:off x="762000" y="1066800"/>
            <a:ext cx="7315200" cy="4343400"/>
          </a:xfrm>
          <a:ln/>
        </p:spPr>
        <p:txBody>
          <a:bodyPr vert="horz" wrap="square" lIns="91440" tIns="45720" rIns="91440" bIns="45720" anchor="t" anchorCtr="0"/>
          <a:p>
            <a:pPr algn="just" eaLnBrk="1" hangingPunct="1">
              <a:lnSpc>
                <a:spcPct val="120000"/>
              </a:lnSpc>
              <a:buNone/>
            </a:pPr>
            <a:r>
              <a:rPr lang="en-US" altLang="zh-CN" dirty="0"/>
              <a:t>1. </a:t>
            </a:r>
            <a:r>
              <a:rPr lang="zh-CN" altLang="en-US" dirty="0"/>
              <a:t>网状数据模型的数据结构 </a:t>
            </a:r>
            <a:endParaRPr lang="zh-CN" altLang="en-US" dirty="0"/>
          </a:p>
          <a:p>
            <a:pPr eaLnBrk="1" hangingPunct="1">
              <a:lnSpc>
                <a:spcPct val="90000"/>
              </a:lnSpc>
            </a:pPr>
            <a:r>
              <a:rPr lang="zh-CN" altLang="en-US" dirty="0">
                <a:solidFill>
                  <a:schemeClr val="accent2"/>
                </a:solidFill>
              </a:rPr>
              <a:t>网状模型</a:t>
            </a:r>
            <a:endParaRPr lang="zh-CN" altLang="en-US" dirty="0">
              <a:solidFill>
                <a:schemeClr val="accent2"/>
              </a:solidFill>
            </a:endParaRPr>
          </a:p>
          <a:p>
            <a:pPr lvl="1" algn="just" eaLnBrk="1" hangingPunct="1">
              <a:lnSpc>
                <a:spcPct val="130000"/>
              </a:lnSpc>
              <a:buNone/>
            </a:pPr>
            <a:r>
              <a:rPr lang="zh-CN" altLang="en-US" dirty="0"/>
              <a:t>满足下面两个条件的基本层次联系的集合为网状模型。</a:t>
            </a:r>
            <a:endParaRPr lang="zh-CN" altLang="en-US" dirty="0"/>
          </a:p>
          <a:p>
            <a:pPr lvl="1" algn="just" eaLnBrk="1" hangingPunct="1">
              <a:lnSpc>
                <a:spcPct val="130000"/>
              </a:lnSpc>
              <a:buNone/>
            </a:pPr>
            <a:r>
              <a:rPr lang="en-US" altLang="zh-CN" dirty="0"/>
              <a:t>1. </a:t>
            </a:r>
            <a:r>
              <a:rPr lang="zh-CN" altLang="en-US" dirty="0"/>
              <a:t>允许一个以上的结点无双亲；</a:t>
            </a:r>
            <a:endParaRPr lang="zh-CN" altLang="en-US" dirty="0"/>
          </a:p>
          <a:p>
            <a:pPr lvl="1" algn="just" eaLnBrk="1" hangingPunct="1">
              <a:lnSpc>
                <a:spcPct val="130000"/>
              </a:lnSpc>
              <a:buNone/>
            </a:pPr>
            <a:r>
              <a:rPr lang="en-US" altLang="zh-CN" dirty="0"/>
              <a:t>2. </a:t>
            </a:r>
            <a:r>
              <a:rPr lang="zh-CN" altLang="en-US" dirty="0"/>
              <a:t>一个结点可以有多于一个的双亲</a:t>
            </a:r>
            <a:endParaRPr lang="zh-CN" altLang="en-US" dirty="0"/>
          </a:p>
          <a:p>
            <a:pPr lvl="1" algn="just" eaLnBrk="1" hangingPunct="1">
              <a:lnSpc>
                <a:spcPct val="130000"/>
              </a:lnSpc>
              <a:buNone/>
            </a:pPr>
            <a:r>
              <a:rPr lang="en-US" altLang="zh-CN" dirty="0"/>
              <a:t>(</a:t>
            </a:r>
            <a:r>
              <a:rPr lang="zh-CN" altLang="en-US" dirty="0"/>
              <a:t>排除树结构</a:t>
            </a:r>
            <a:r>
              <a:rPr lang="en-US" altLang="zh-CN" dirty="0"/>
              <a:t>)</a:t>
            </a:r>
            <a:endParaRPr lang="en-US" altLang="zh-CN"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0531"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0532" name="Rectangle 3"/>
          <p:cNvSpPr>
            <a:spLocks noGrp="1"/>
          </p:cNvSpPr>
          <p:nvPr>
            <p:ph idx="1"/>
          </p:nvPr>
        </p:nvSpPr>
        <p:spPr>
          <a:xfrm>
            <a:off x="762000" y="1066800"/>
            <a:ext cx="7315200" cy="43434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 </a:t>
            </a:r>
            <a:endParaRPr lang="en-US" altLang="zh-CN" b="0" dirty="0"/>
          </a:p>
        </p:txBody>
      </p:sp>
      <p:grpSp>
        <p:nvGrpSpPr>
          <p:cNvPr id="150533" name="Group 4"/>
          <p:cNvGrpSpPr/>
          <p:nvPr/>
        </p:nvGrpSpPr>
        <p:grpSpPr>
          <a:xfrm>
            <a:off x="1524000" y="2286000"/>
            <a:ext cx="2422525" cy="2127250"/>
            <a:chOff x="1632" y="1344"/>
            <a:chExt cx="1526" cy="1340"/>
          </a:xfrm>
        </p:grpSpPr>
        <p:grpSp>
          <p:nvGrpSpPr>
            <p:cNvPr id="150719" name="Group 5"/>
            <p:cNvGrpSpPr/>
            <p:nvPr/>
          </p:nvGrpSpPr>
          <p:grpSpPr>
            <a:xfrm>
              <a:off x="1632" y="1344"/>
              <a:ext cx="1526" cy="300"/>
              <a:chOff x="1248" y="1952"/>
              <a:chExt cx="1526" cy="300"/>
            </a:xfrm>
          </p:grpSpPr>
          <p:sp>
            <p:nvSpPr>
              <p:cNvPr id="150763" name="Rectangle 6"/>
              <p:cNvSpPr/>
              <p:nvPr/>
            </p:nvSpPr>
            <p:spPr>
              <a:xfrm>
                <a:off x="1264" y="1984"/>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0764" name="Rectangle 7"/>
              <p:cNvSpPr/>
              <p:nvPr/>
            </p:nvSpPr>
            <p:spPr>
              <a:xfrm>
                <a:off x="1374" y="2015"/>
                <a:ext cx="192"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dirty="0">
                    <a:solidFill>
                      <a:srgbClr val="000000"/>
                    </a:solidFill>
                    <a:latin typeface="宋体" panose="02010600030101010101" pitchFamily="2" charset="-122"/>
                    <a:cs typeface="Arial" panose="020B0604020202020204" pitchFamily="34" charset="0"/>
                  </a:rPr>
                  <a:t>Ｒ</a:t>
                </a:r>
                <a:endParaRPr lang="zh-CN" altLang="en-US" sz="2400" dirty="0">
                  <a:solidFill>
                    <a:schemeClr val="tx1"/>
                  </a:solidFill>
                  <a:ea typeface="Arial" panose="020B0604020202020204" pitchFamily="34" charset="0"/>
                </a:endParaRPr>
              </a:p>
            </p:txBody>
          </p:sp>
          <p:sp>
            <p:nvSpPr>
              <p:cNvPr id="150765" name="Rectangle 8"/>
              <p:cNvSpPr/>
              <p:nvPr/>
            </p:nvSpPr>
            <p:spPr>
              <a:xfrm>
                <a:off x="1562" y="1984"/>
                <a:ext cx="14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1 </a:t>
                </a:r>
                <a:endParaRPr lang="en-US" altLang="zh-CN" sz="2400" dirty="0">
                  <a:solidFill>
                    <a:schemeClr val="tx1"/>
                  </a:solidFill>
                  <a:ea typeface="Arial" panose="020B0604020202020204" pitchFamily="34" charset="0"/>
                </a:endParaRPr>
              </a:p>
            </p:txBody>
          </p:sp>
          <p:sp>
            <p:nvSpPr>
              <p:cNvPr id="150766" name="Rectangle 9"/>
              <p:cNvSpPr/>
              <p:nvPr/>
            </p:nvSpPr>
            <p:spPr>
              <a:xfrm>
                <a:off x="124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67" name="Line 10"/>
              <p:cNvSpPr/>
              <p:nvPr/>
            </p:nvSpPr>
            <p:spPr>
              <a:xfrm>
                <a:off x="1248" y="1952"/>
                <a:ext cx="16" cy="1"/>
              </a:xfrm>
              <a:prstGeom prst="line">
                <a:avLst/>
              </a:prstGeom>
              <a:ln w="0" cap="flat" cmpd="sng">
                <a:solidFill>
                  <a:srgbClr val="000000"/>
                </a:solidFill>
                <a:prstDash val="solid"/>
                <a:headEnd type="none" w="med" len="med"/>
                <a:tailEnd type="none" w="med" len="med"/>
              </a:ln>
            </p:spPr>
          </p:sp>
          <p:sp>
            <p:nvSpPr>
              <p:cNvPr id="150768" name="Line 11"/>
              <p:cNvSpPr/>
              <p:nvPr/>
            </p:nvSpPr>
            <p:spPr>
              <a:xfrm>
                <a:off x="1248" y="1952"/>
                <a:ext cx="1" cy="16"/>
              </a:xfrm>
              <a:prstGeom prst="line">
                <a:avLst/>
              </a:prstGeom>
              <a:ln w="0" cap="flat" cmpd="sng">
                <a:solidFill>
                  <a:srgbClr val="000000"/>
                </a:solidFill>
                <a:prstDash val="solid"/>
                <a:headEnd type="none" w="med" len="med"/>
                <a:tailEnd type="none" w="med" len="med"/>
              </a:ln>
            </p:spPr>
          </p:sp>
          <p:sp>
            <p:nvSpPr>
              <p:cNvPr id="150769" name="Rectangle 12"/>
              <p:cNvSpPr/>
              <p:nvPr/>
            </p:nvSpPr>
            <p:spPr>
              <a:xfrm>
                <a:off x="124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70" name="Line 13"/>
              <p:cNvSpPr/>
              <p:nvPr/>
            </p:nvSpPr>
            <p:spPr>
              <a:xfrm>
                <a:off x="1248" y="1952"/>
                <a:ext cx="16" cy="1"/>
              </a:xfrm>
              <a:prstGeom prst="line">
                <a:avLst/>
              </a:prstGeom>
              <a:ln w="0" cap="flat" cmpd="sng">
                <a:solidFill>
                  <a:srgbClr val="000000"/>
                </a:solidFill>
                <a:prstDash val="solid"/>
                <a:headEnd type="none" w="med" len="med"/>
                <a:tailEnd type="none" w="med" len="med"/>
              </a:ln>
            </p:spPr>
          </p:sp>
          <p:sp>
            <p:nvSpPr>
              <p:cNvPr id="150771" name="Line 14"/>
              <p:cNvSpPr/>
              <p:nvPr/>
            </p:nvSpPr>
            <p:spPr>
              <a:xfrm>
                <a:off x="1248" y="1952"/>
                <a:ext cx="1" cy="16"/>
              </a:xfrm>
              <a:prstGeom prst="line">
                <a:avLst/>
              </a:prstGeom>
              <a:ln w="0" cap="flat" cmpd="sng">
                <a:solidFill>
                  <a:srgbClr val="000000"/>
                </a:solidFill>
                <a:prstDash val="solid"/>
                <a:headEnd type="none" w="med" len="med"/>
                <a:tailEnd type="none" w="med" len="med"/>
              </a:ln>
            </p:spPr>
          </p:sp>
          <p:sp>
            <p:nvSpPr>
              <p:cNvPr id="150772" name="Rectangle 15"/>
              <p:cNvSpPr/>
              <p:nvPr/>
            </p:nvSpPr>
            <p:spPr>
              <a:xfrm>
                <a:off x="1264" y="1952"/>
                <a:ext cx="48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73" name="Line 16"/>
              <p:cNvSpPr/>
              <p:nvPr/>
            </p:nvSpPr>
            <p:spPr>
              <a:xfrm>
                <a:off x="1248" y="1968"/>
                <a:ext cx="487" cy="1"/>
              </a:xfrm>
              <a:prstGeom prst="line">
                <a:avLst/>
              </a:prstGeom>
              <a:ln w="0" cap="flat" cmpd="sng">
                <a:solidFill>
                  <a:srgbClr val="000000"/>
                </a:solidFill>
                <a:prstDash val="solid"/>
                <a:headEnd type="none" w="med" len="med"/>
                <a:tailEnd type="none" w="med" len="med"/>
              </a:ln>
            </p:spPr>
          </p:sp>
          <p:sp>
            <p:nvSpPr>
              <p:cNvPr id="150774" name="Rectangle 17"/>
              <p:cNvSpPr/>
              <p:nvPr/>
            </p:nvSpPr>
            <p:spPr>
              <a:xfrm>
                <a:off x="1751"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75" name="Line 18"/>
              <p:cNvSpPr/>
              <p:nvPr/>
            </p:nvSpPr>
            <p:spPr>
              <a:xfrm>
                <a:off x="1751" y="1952"/>
                <a:ext cx="16" cy="1"/>
              </a:xfrm>
              <a:prstGeom prst="line">
                <a:avLst/>
              </a:prstGeom>
              <a:ln w="0" cap="flat" cmpd="sng">
                <a:solidFill>
                  <a:srgbClr val="000000"/>
                </a:solidFill>
                <a:prstDash val="solid"/>
                <a:headEnd type="none" w="med" len="med"/>
                <a:tailEnd type="none" w="med" len="med"/>
              </a:ln>
            </p:spPr>
          </p:sp>
          <p:sp>
            <p:nvSpPr>
              <p:cNvPr id="150776" name="Line 19"/>
              <p:cNvSpPr/>
              <p:nvPr/>
            </p:nvSpPr>
            <p:spPr>
              <a:xfrm>
                <a:off x="1751" y="1952"/>
                <a:ext cx="1" cy="16"/>
              </a:xfrm>
              <a:prstGeom prst="line">
                <a:avLst/>
              </a:prstGeom>
              <a:ln w="0" cap="flat" cmpd="sng">
                <a:solidFill>
                  <a:srgbClr val="000000"/>
                </a:solidFill>
                <a:prstDash val="solid"/>
                <a:headEnd type="none" w="med" len="med"/>
                <a:tailEnd type="none" w="med" len="med"/>
              </a:ln>
            </p:spPr>
          </p:sp>
          <p:sp>
            <p:nvSpPr>
              <p:cNvPr id="150777" name="Rectangle 20"/>
              <p:cNvSpPr/>
              <p:nvPr/>
            </p:nvSpPr>
            <p:spPr>
              <a:xfrm>
                <a:off x="1751"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78" name="Line 21"/>
              <p:cNvSpPr/>
              <p:nvPr/>
            </p:nvSpPr>
            <p:spPr>
              <a:xfrm>
                <a:off x="1751" y="1952"/>
                <a:ext cx="16" cy="1"/>
              </a:xfrm>
              <a:prstGeom prst="line">
                <a:avLst/>
              </a:prstGeom>
              <a:ln w="0" cap="flat" cmpd="sng">
                <a:solidFill>
                  <a:srgbClr val="000000"/>
                </a:solidFill>
                <a:prstDash val="solid"/>
                <a:headEnd type="none" w="med" len="med"/>
                <a:tailEnd type="none" w="med" len="med"/>
              </a:ln>
            </p:spPr>
          </p:sp>
          <p:sp>
            <p:nvSpPr>
              <p:cNvPr id="150779" name="Line 22"/>
              <p:cNvSpPr/>
              <p:nvPr/>
            </p:nvSpPr>
            <p:spPr>
              <a:xfrm>
                <a:off x="1751" y="1952"/>
                <a:ext cx="1" cy="16"/>
              </a:xfrm>
              <a:prstGeom prst="line">
                <a:avLst/>
              </a:prstGeom>
              <a:ln w="0" cap="flat" cmpd="sng">
                <a:solidFill>
                  <a:srgbClr val="000000"/>
                </a:solidFill>
                <a:prstDash val="solid"/>
                <a:headEnd type="none" w="med" len="med"/>
                <a:tailEnd type="none" w="med" len="med"/>
              </a:ln>
            </p:spPr>
          </p:sp>
          <p:sp>
            <p:nvSpPr>
              <p:cNvPr id="150780" name="Rectangle 23"/>
              <p:cNvSpPr/>
              <p:nvPr/>
            </p:nvSpPr>
            <p:spPr>
              <a:xfrm>
                <a:off x="1248" y="1968"/>
                <a:ext cx="16"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81" name="Line 24"/>
              <p:cNvSpPr/>
              <p:nvPr/>
            </p:nvSpPr>
            <p:spPr>
              <a:xfrm>
                <a:off x="1248" y="1968"/>
                <a:ext cx="1" cy="268"/>
              </a:xfrm>
              <a:prstGeom prst="line">
                <a:avLst/>
              </a:prstGeom>
              <a:ln w="0" cap="flat" cmpd="sng">
                <a:solidFill>
                  <a:srgbClr val="000000"/>
                </a:solidFill>
                <a:prstDash val="solid"/>
                <a:headEnd type="none" w="med" len="med"/>
                <a:tailEnd type="none" w="med" len="med"/>
              </a:ln>
            </p:spPr>
          </p:sp>
          <p:sp>
            <p:nvSpPr>
              <p:cNvPr id="150782" name="Rectangle 25"/>
              <p:cNvSpPr/>
              <p:nvPr/>
            </p:nvSpPr>
            <p:spPr>
              <a:xfrm>
                <a:off x="1751" y="1968"/>
                <a:ext cx="16"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83" name="Line 26"/>
              <p:cNvSpPr/>
              <p:nvPr/>
            </p:nvSpPr>
            <p:spPr>
              <a:xfrm>
                <a:off x="1751" y="1968"/>
                <a:ext cx="1" cy="268"/>
              </a:xfrm>
              <a:prstGeom prst="line">
                <a:avLst/>
              </a:prstGeom>
              <a:ln w="0" cap="flat" cmpd="sng">
                <a:solidFill>
                  <a:srgbClr val="000000"/>
                </a:solidFill>
                <a:prstDash val="solid"/>
                <a:headEnd type="none" w="med" len="med"/>
                <a:tailEnd type="none" w="med" len="med"/>
              </a:ln>
            </p:spPr>
          </p:sp>
          <p:sp>
            <p:nvSpPr>
              <p:cNvPr id="150784" name="Rectangle 27"/>
              <p:cNvSpPr/>
              <p:nvPr/>
            </p:nvSpPr>
            <p:spPr>
              <a:xfrm>
                <a:off x="124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85" name="Line 28"/>
              <p:cNvSpPr/>
              <p:nvPr/>
            </p:nvSpPr>
            <p:spPr>
              <a:xfrm>
                <a:off x="1248" y="2236"/>
                <a:ext cx="16" cy="1"/>
              </a:xfrm>
              <a:prstGeom prst="line">
                <a:avLst/>
              </a:prstGeom>
              <a:ln w="0" cap="flat" cmpd="sng">
                <a:solidFill>
                  <a:srgbClr val="000000"/>
                </a:solidFill>
                <a:prstDash val="solid"/>
                <a:headEnd type="none" w="med" len="med"/>
                <a:tailEnd type="none" w="med" len="med"/>
              </a:ln>
            </p:spPr>
          </p:sp>
          <p:sp>
            <p:nvSpPr>
              <p:cNvPr id="150786" name="Line 29"/>
              <p:cNvSpPr/>
              <p:nvPr/>
            </p:nvSpPr>
            <p:spPr>
              <a:xfrm>
                <a:off x="1248" y="2236"/>
                <a:ext cx="1" cy="16"/>
              </a:xfrm>
              <a:prstGeom prst="line">
                <a:avLst/>
              </a:prstGeom>
              <a:ln w="0" cap="flat" cmpd="sng">
                <a:solidFill>
                  <a:srgbClr val="000000"/>
                </a:solidFill>
                <a:prstDash val="solid"/>
                <a:headEnd type="none" w="med" len="med"/>
                <a:tailEnd type="none" w="med" len="med"/>
              </a:ln>
            </p:spPr>
          </p:sp>
          <p:sp>
            <p:nvSpPr>
              <p:cNvPr id="150787" name="Rectangle 30"/>
              <p:cNvSpPr/>
              <p:nvPr/>
            </p:nvSpPr>
            <p:spPr>
              <a:xfrm>
                <a:off x="124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88" name="Line 31"/>
              <p:cNvSpPr/>
              <p:nvPr/>
            </p:nvSpPr>
            <p:spPr>
              <a:xfrm>
                <a:off x="1248" y="2236"/>
                <a:ext cx="16" cy="1"/>
              </a:xfrm>
              <a:prstGeom prst="line">
                <a:avLst/>
              </a:prstGeom>
              <a:ln w="0" cap="flat" cmpd="sng">
                <a:solidFill>
                  <a:srgbClr val="000000"/>
                </a:solidFill>
                <a:prstDash val="solid"/>
                <a:headEnd type="none" w="med" len="med"/>
                <a:tailEnd type="none" w="med" len="med"/>
              </a:ln>
            </p:spPr>
          </p:sp>
          <p:sp>
            <p:nvSpPr>
              <p:cNvPr id="150789" name="Line 32"/>
              <p:cNvSpPr/>
              <p:nvPr/>
            </p:nvSpPr>
            <p:spPr>
              <a:xfrm>
                <a:off x="1248" y="2236"/>
                <a:ext cx="1" cy="16"/>
              </a:xfrm>
              <a:prstGeom prst="line">
                <a:avLst/>
              </a:prstGeom>
              <a:ln w="0" cap="flat" cmpd="sng">
                <a:solidFill>
                  <a:srgbClr val="000000"/>
                </a:solidFill>
                <a:prstDash val="solid"/>
                <a:headEnd type="none" w="med" len="med"/>
                <a:tailEnd type="none" w="med" len="med"/>
              </a:ln>
            </p:spPr>
          </p:sp>
          <p:sp>
            <p:nvSpPr>
              <p:cNvPr id="150790" name="Rectangle 33"/>
              <p:cNvSpPr/>
              <p:nvPr/>
            </p:nvSpPr>
            <p:spPr>
              <a:xfrm>
                <a:off x="1264" y="2236"/>
                <a:ext cx="48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91" name="Line 34"/>
              <p:cNvSpPr/>
              <p:nvPr/>
            </p:nvSpPr>
            <p:spPr>
              <a:xfrm>
                <a:off x="1264" y="2236"/>
                <a:ext cx="487" cy="1"/>
              </a:xfrm>
              <a:prstGeom prst="line">
                <a:avLst/>
              </a:prstGeom>
              <a:ln w="0" cap="flat" cmpd="sng">
                <a:solidFill>
                  <a:srgbClr val="000000"/>
                </a:solidFill>
                <a:prstDash val="solid"/>
                <a:headEnd type="none" w="med" len="med"/>
                <a:tailEnd type="none" w="med" len="med"/>
              </a:ln>
            </p:spPr>
          </p:sp>
          <p:sp>
            <p:nvSpPr>
              <p:cNvPr id="150792" name="Rectangle 35"/>
              <p:cNvSpPr/>
              <p:nvPr/>
            </p:nvSpPr>
            <p:spPr>
              <a:xfrm>
                <a:off x="1751"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93" name="Line 36"/>
              <p:cNvSpPr/>
              <p:nvPr/>
            </p:nvSpPr>
            <p:spPr>
              <a:xfrm>
                <a:off x="1751" y="2236"/>
                <a:ext cx="16" cy="1"/>
              </a:xfrm>
              <a:prstGeom prst="line">
                <a:avLst/>
              </a:prstGeom>
              <a:ln w="0" cap="flat" cmpd="sng">
                <a:solidFill>
                  <a:srgbClr val="000000"/>
                </a:solidFill>
                <a:prstDash val="solid"/>
                <a:headEnd type="none" w="med" len="med"/>
                <a:tailEnd type="none" w="med" len="med"/>
              </a:ln>
            </p:spPr>
          </p:sp>
          <p:sp>
            <p:nvSpPr>
              <p:cNvPr id="150794" name="Line 37"/>
              <p:cNvSpPr/>
              <p:nvPr/>
            </p:nvSpPr>
            <p:spPr>
              <a:xfrm>
                <a:off x="1751" y="2236"/>
                <a:ext cx="1" cy="16"/>
              </a:xfrm>
              <a:prstGeom prst="line">
                <a:avLst/>
              </a:prstGeom>
              <a:ln w="0" cap="flat" cmpd="sng">
                <a:solidFill>
                  <a:srgbClr val="000000"/>
                </a:solidFill>
                <a:prstDash val="solid"/>
                <a:headEnd type="none" w="med" len="med"/>
                <a:tailEnd type="none" w="med" len="med"/>
              </a:ln>
            </p:spPr>
          </p:sp>
          <p:sp>
            <p:nvSpPr>
              <p:cNvPr id="150795" name="Rectangle 38"/>
              <p:cNvSpPr/>
              <p:nvPr/>
            </p:nvSpPr>
            <p:spPr>
              <a:xfrm>
                <a:off x="1751"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96" name="Line 39"/>
              <p:cNvSpPr/>
              <p:nvPr/>
            </p:nvSpPr>
            <p:spPr>
              <a:xfrm>
                <a:off x="1751" y="2236"/>
                <a:ext cx="16" cy="1"/>
              </a:xfrm>
              <a:prstGeom prst="line">
                <a:avLst/>
              </a:prstGeom>
              <a:ln w="0" cap="flat" cmpd="sng">
                <a:solidFill>
                  <a:srgbClr val="000000"/>
                </a:solidFill>
                <a:prstDash val="solid"/>
                <a:headEnd type="none" w="med" len="med"/>
                <a:tailEnd type="none" w="med" len="med"/>
              </a:ln>
            </p:spPr>
          </p:sp>
          <p:sp>
            <p:nvSpPr>
              <p:cNvPr id="150797" name="Line 40"/>
              <p:cNvSpPr/>
              <p:nvPr/>
            </p:nvSpPr>
            <p:spPr>
              <a:xfrm>
                <a:off x="1751" y="2236"/>
                <a:ext cx="1" cy="16"/>
              </a:xfrm>
              <a:prstGeom prst="line">
                <a:avLst/>
              </a:prstGeom>
              <a:ln w="0" cap="flat" cmpd="sng">
                <a:solidFill>
                  <a:srgbClr val="000000"/>
                </a:solidFill>
                <a:prstDash val="solid"/>
                <a:headEnd type="none" w="med" len="med"/>
                <a:tailEnd type="none" w="med" len="med"/>
              </a:ln>
            </p:spPr>
          </p:sp>
          <p:sp>
            <p:nvSpPr>
              <p:cNvPr id="150798" name="Rectangle 41"/>
              <p:cNvSpPr/>
              <p:nvPr/>
            </p:nvSpPr>
            <p:spPr>
              <a:xfrm>
                <a:off x="1767" y="1968"/>
                <a:ext cx="224" cy="26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8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0799" name="Rectangle 42"/>
              <p:cNvSpPr/>
              <p:nvPr/>
            </p:nvSpPr>
            <p:spPr>
              <a:xfrm>
                <a:off x="2223" y="1984"/>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0800" name="Rectangle 43"/>
              <p:cNvSpPr/>
              <p:nvPr/>
            </p:nvSpPr>
            <p:spPr>
              <a:xfrm>
                <a:off x="2333" y="1984"/>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0801" name="Rectangle 44"/>
              <p:cNvSpPr/>
              <p:nvPr/>
            </p:nvSpPr>
            <p:spPr>
              <a:xfrm>
                <a:off x="2428" y="2015"/>
                <a:ext cx="192"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dirty="0">
                    <a:solidFill>
                      <a:srgbClr val="000000"/>
                    </a:solidFill>
                    <a:latin typeface="宋体" panose="02010600030101010101" pitchFamily="2" charset="-122"/>
                    <a:cs typeface="Arial" panose="020B0604020202020204" pitchFamily="34" charset="0"/>
                  </a:rPr>
                  <a:t>Ｒ</a:t>
                </a:r>
                <a:endParaRPr lang="zh-CN" altLang="en-US" sz="2400" dirty="0">
                  <a:solidFill>
                    <a:schemeClr val="tx1"/>
                  </a:solidFill>
                  <a:ea typeface="Arial" panose="020B0604020202020204" pitchFamily="34" charset="0"/>
                </a:endParaRPr>
              </a:p>
            </p:txBody>
          </p:sp>
          <p:sp>
            <p:nvSpPr>
              <p:cNvPr id="150802" name="Rectangle 45"/>
              <p:cNvSpPr/>
              <p:nvPr/>
            </p:nvSpPr>
            <p:spPr>
              <a:xfrm>
                <a:off x="2616" y="1984"/>
                <a:ext cx="96"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2</a:t>
                </a:r>
                <a:endParaRPr lang="en-US" altLang="zh-CN" sz="2400" dirty="0">
                  <a:solidFill>
                    <a:schemeClr val="tx1"/>
                  </a:solidFill>
                  <a:ea typeface="Arial" panose="020B0604020202020204" pitchFamily="34" charset="0"/>
                </a:endParaRPr>
              </a:p>
            </p:txBody>
          </p:sp>
          <p:sp>
            <p:nvSpPr>
              <p:cNvPr id="150803" name="Rectangle 46"/>
              <p:cNvSpPr/>
              <p:nvPr/>
            </p:nvSpPr>
            <p:spPr>
              <a:xfrm>
                <a:off x="2318" y="1952"/>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04" name="Line 47"/>
              <p:cNvSpPr/>
              <p:nvPr/>
            </p:nvSpPr>
            <p:spPr>
              <a:xfrm>
                <a:off x="2318" y="1952"/>
                <a:ext cx="15" cy="1"/>
              </a:xfrm>
              <a:prstGeom prst="line">
                <a:avLst/>
              </a:prstGeom>
              <a:ln w="0" cap="flat" cmpd="sng">
                <a:solidFill>
                  <a:srgbClr val="000000"/>
                </a:solidFill>
                <a:prstDash val="solid"/>
                <a:headEnd type="none" w="med" len="med"/>
                <a:tailEnd type="none" w="med" len="med"/>
              </a:ln>
            </p:spPr>
          </p:sp>
          <p:sp>
            <p:nvSpPr>
              <p:cNvPr id="150805" name="Line 48"/>
              <p:cNvSpPr/>
              <p:nvPr/>
            </p:nvSpPr>
            <p:spPr>
              <a:xfrm>
                <a:off x="2318" y="1952"/>
                <a:ext cx="1" cy="16"/>
              </a:xfrm>
              <a:prstGeom prst="line">
                <a:avLst/>
              </a:prstGeom>
              <a:ln w="0" cap="flat" cmpd="sng">
                <a:solidFill>
                  <a:srgbClr val="000000"/>
                </a:solidFill>
                <a:prstDash val="solid"/>
                <a:headEnd type="none" w="med" len="med"/>
                <a:tailEnd type="none" w="med" len="med"/>
              </a:ln>
            </p:spPr>
          </p:sp>
          <p:sp>
            <p:nvSpPr>
              <p:cNvPr id="150806" name="Rectangle 49"/>
              <p:cNvSpPr/>
              <p:nvPr/>
            </p:nvSpPr>
            <p:spPr>
              <a:xfrm>
                <a:off x="2318" y="1952"/>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07" name="Line 50"/>
              <p:cNvSpPr/>
              <p:nvPr/>
            </p:nvSpPr>
            <p:spPr>
              <a:xfrm>
                <a:off x="2318" y="1952"/>
                <a:ext cx="15" cy="1"/>
              </a:xfrm>
              <a:prstGeom prst="line">
                <a:avLst/>
              </a:prstGeom>
              <a:ln w="0" cap="flat" cmpd="sng">
                <a:solidFill>
                  <a:srgbClr val="000000"/>
                </a:solidFill>
                <a:prstDash val="solid"/>
                <a:headEnd type="none" w="med" len="med"/>
                <a:tailEnd type="none" w="med" len="med"/>
              </a:ln>
            </p:spPr>
          </p:sp>
          <p:sp>
            <p:nvSpPr>
              <p:cNvPr id="150808" name="Line 51"/>
              <p:cNvSpPr/>
              <p:nvPr/>
            </p:nvSpPr>
            <p:spPr>
              <a:xfrm>
                <a:off x="2318" y="1952"/>
                <a:ext cx="1" cy="16"/>
              </a:xfrm>
              <a:prstGeom prst="line">
                <a:avLst/>
              </a:prstGeom>
              <a:ln w="0" cap="flat" cmpd="sng">
                <a:solidFill>
                  <a:srgbClr val="000000"/>
                </a:solidFill>
                <a:prstDash val="solid"/>
                <a:headEnd type="none" w="med" len="med"/>
                <a:tailEnd type="none" w="med" len="med"/>
              </a:ln>
            </p:spPr>
          </p:sp>
          <p:sp>
            <p:nvSpPr>
              <p:cNvPr id="150809" name="Rectangle 52"/>
              <p:cNvSpPr/>
              <p:nvPr/>
            </p:nvSpPr>
            <p:spPr>
              <a:xfrm>
                <a:off x="2333" y="1952"/>
                <a:ext cx="42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10" name="Line 53"/>
              <p:cNvSpPr/>
              <p:nvPr/>
            </p:nvSpPr>
            <p:spPr>
              <a:xfrm>
                <a:off x="2333" y="1952"/>
                <a:ext cx="425" cy="1"/>
              </a:xfrm>
              <a:prstGeom prst="line">
                <a:avLst/>
              </a:prstGeom>
              <a:ln w="0" cap="flat" cmpd="sng">
                <a:solidFill>
                  <a:srgbClr val="000000"/>
                </a:solidFill>
                <a:prstDash val="solid"/>
                <a:headEnd type="none" w="med" len="med"/>
                <a:tailEnd type="none" w="med" len="med"/>
              </a:ln>
            </p:spPr>
          </p:sp>
          <p:sp>
            <p:nvSpPr>
              <p:cNvPr id="150811" name="Rectangle 54"/>
              <p:cNvSpPr/>
              <p:nvPr/>
            </p:nvSpPr>
            <p:spPr>
              <a:xfrm>
                <a:off x="275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12" name="Line 55"/>
              <p:cNvSpPr/>
              <p:nvPr/>
            </p:nvSpPr>
            <p:spPr>
              <a:xfrm>
                <a:off x="2758" y="1952"/>
                <a:ext cx="16" cy="1"/>
              </a:xfrm>
              <a:prstGeom prst="line">
                <a:avLst/>
              </a:prstGeom>
              <a:ln w="0" cap="flat" cmpd="sng">
                <a:solidFill>
                  <a:srgbClr val="000000"/>
                </a:solidFill>
                <a:prstDash val="solid"/>
                <a:headEnd type="none" w="med" len="med"/>
                <a:tailEnd type="none" w="med" len="med"/>
              </a:ln>
            </p:spPr>
          </p:sp>
          <p:sp>
            <p:nvSpPr>
              <p:cNvPr id="150813" name="Line 56"/>
              <p:cNvSpPr/>
              <p:nvPr/>
            </p:nvSpPr>
            <p:spPr>
              <a:xfrm>
                <a:off x="2758" y="1952"/>
                <a:ext cx="1" cy="16"/>
              </a:xfrm>
              <a:prstGeom prst="line">
                <a:avLst/>
              </a:prstGeom>
              <a:ln w="0" cap="flat" cmpd="sng">
                <a:solidFill>
                  <a:srgbClr val="000000"/>
                </a:solidFill>
                <a:prstDash val="solid"/>
                <a:headEnd type="none" w="med" len="med"/>
                <a:tailEnd type="none" w="med" len="med"/>
              </a:ln>
            </p:spPr>
          </p:sp>
          <p:sp>
            <p:nvSpPr>
              <p:cNvPr id="150814" name="Rectangle 57"/>
              <p:cNvSpPr/>
              <p:nvPr/>
            </p:nvSpPr>
            <p:spPr>
              <a:xfrm>
                <a:off x="275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15" name="Line 58"/>
              <p:cNvSpPr/>
              <p:nvPr/>
            </p:nvSpPr>
            <p:spPr>
              <a:xfrm>
                <a:off x="2758" y="1952"/>
                <a:ext cx="16" cy="1"/>
              </a:xfrm>
              <a:prstGeom prst="line">
                <a:avLst/>
              </a:prstGeom>
              <a:ln w="0" cap="flat" cmpd="sng">
                <a:solidFill>
                  <a:srgbClr val="000000"/>
                </a:solidFill>
                <a:prstDash val="solid"/>
                <a:headEnd type="none" w="med" len="med"/>
                <a:tailEnd type="none" w="med" len="med"/>
              </a:ln>
            </p:spPr>
          </p:sp>
          <p:sp>
            <p:nvSpPr>
              <p:cNvPr id="150816" name="Line 59"/>
              <p:cNvSpPr/>
              <p:nvPr/>
            </p:nvSpPr>
            <p:spPr>
              <a:xfrm>
                <a:off x="2758" y="1952"/>
                <a:ext cx="1" cy="16"/>
              </a:xfrm>
              <a:prstGeom prst="line">
                <a:avLst/>
              </a:prstGeom>
              <a:ln w="0" cap="flat" cmpd="sng">
                <a:solidFill>
                  <a:srgbClr val="000000"/>
                </a:solidFill>
                <a:prstDash val="solid"/>
                <a:headEnd type="none" w="med" len="med"/>
                <a:tailEnd type="none" w="med" len="med"/>
              </a:ln>
            </p:spPr>
          </p:sp>
          <p:sp>
            <p:nvSpPr>
              <p:cNvPr id="150817" name="Rectangle 60"/>
              <p:cNvSpPr/>
              <p:nvPr/>
            </p:nvSpPr>
            <p:spPr>
              <a:xfrm>
                <a:off x="2318" y="1968"/>
                <a:ext cx="15"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18" name="Line 61"/>
              <p:cNvSpPr/>
              <p:nvPr/>
            </p:nvSpPr>
            <p:spPr>
              <a:xfrm>
                <a:off x="2318" y="1968"/>
                <a:ext cx="1" cy="268"/>
              </a:xfrm>
              <a:prstGeom prst="line">
                <a:avLst/>
              </a:prstGeom>
              <a:ln w="0" cap="flat" cmpd="sng">
                <a:solidFill>
                  <a:srgbClr val="000000"/>
                </a:solidFill>
                <a:prstDash val="solid"/>
                <a:headEnd type="none" w="med" len="med"/>
                <a:tailEnd type="none" w="med" len="med"/>
              </a:ln>
            </p:spPr>
          </p:sp>
          <p:sp>
            <p:nvSpPr>
              <p:cNvPr id="150819" name="Rectangle 62"/>
              <p:cNvSpPr/>
              <p:nvPr/>
            </p:nvSpPr>
            <p:spPr>
              <a:xfrm>
                <a:off x="2758" y="1968"/>
                <a:ext cx="16"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20" name="Line 63"/>
              <p:cNvSpPr/>
              <p:nvPr/>
            </p:nvSpPr>
            <p:spPr>
              <a:xfrm>
                <a:off x="2758" y="1968"/>
                <a:ext cx="1" cy="268"/>
              </a:xfrm>
              <a:prstGeom prst="line">
                <a:avLst/>
              </a:prstGeom>
              <a:ln w="0" cap="flat" cmpd="sng">
                <a:solidFill>
                  <a:srgbClr val="000000"/>
                </a:solidFill>
                <a:prstDash val="solid"/>
                <a:headEnd type="none" w="med" len="med"/>
                <a:tailEnd type="none" w="med" len="med"/>
              </a:ln>
            </p:spPr>
          </p:sp>
          <p:sp>
            <p:nvSpPr>
              <p:cNvPr id="150821" name="Rectangle 64"/>
              <p:cNvSpPr/>
              <p:nvPr/>
            </p:nvSpPr>
            <p:spPr>
              <a:xfrm>
                <a:off x="2318" y="223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22" name="Line 65"/>
              <p:cNvSpPr/>
              <p:nvPr/>
            </p:nvSpPr>
            <p:spPr>
              <a:xfrm>
                <a:off x="2318" y="2236"/>
                <a:ext cx="15" cy="1"/>
              </a:xfrm>
              <a:prstGeom prst="line">
                <a:avLst/>
              </a:prstGeom>
              <a:ln w="0" cap="flat" cmpd="sng">
                <a:solidFill>
                  <a:srgbClr val="000000"/>
                </a:solidFill>
                <a:prstDash val="solid"/>
                <a:headEnd type="none" w="med" len="med"/>
                <a:tailEnd type="none" w="med" len="med"/>
              </a:ln>
            </p:spPr>
          </p:sp>
          <p:sp>
            <p:nvSpPr>
              <p:cNvPr id="150823" name="Line 66"/>
              <p:cNvSpPr/>
              <p:nvPr/>
            </p:nvSpPr>
            <p:spPr>
              <a:xfrm>
                <a:off x="2318" y="2236"/>
                <a:ext cx="1" cy="16"/>
              </a:xfrm>
              <a:prstGeom prst="line">
                <a:avLst/>
              </a:prstGeom>
              <a:ln w="0" cap="flat" cmpd="sng">
                <a:solidFill>
                  <a:srgbClr val="000000"/>
                </a:solidFill>
                <a:prstDash val="solid"/>
                <a:headEnd type="none" w="med" len="med"/>
                <a:tailEnd type="none" w="med" len="med"/>
              </a:ln>
            </p:spPr>
          </p:sp>
          <p:sp>
            <p:nvSpPr>
              <p:cNvPr id="150824" name="Rectangle 67"/>
              <p:cNvSpPr/>
              <p:nvPr/>
            </p:nvSpPr>
            <p:spPr>
              <a:xfrm>
                <a:off x="2318" y="223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25" name="Line 68"/>
              <p:cNvSpPr/>
              <p:nvPr/>
            </p:nvSpPr>
            <p:spPr>
              <a:xfrm>
                <a:off x="2318" y="2236"/>
                <a:ext cx="15" cy="1"/>
              </a:xfrm>
              <a:prstGeom prst="line">
                <a:avLst/>
              </a:prstGeom>
              <a:ln w="0" cap="flat" cmpd="sng">
                <a:solidFill>
                  <a:srgbClr val="000000"/>
                </a:solidFill>
                <a:prstDash val="solid"/>
                <a:headEnd type="none" w="med" len="med"/>
                <a:tailEnd type="none" w="med" len="med"/>
              </a:ln>
            </p:spPr>
          </p:sp>
          <p:sp>
            <p:nvSpPr>
              <p:cNvPr id="150826" name="Line 69"/>
              <p:cNvSpPr/>
              <p:nvPr/>
            </p:nvSpPr>
            <p:spPr>
              <a:xfrm>
                <a:off x="2318" y="2236"/>
                <a:ext cx="1" cy="16"/>
              </a:xfrm>
              <a:prstGeom prst="line">
                <a:avLst/>
              </a:prstGeom>
              <a:ln w="0" cap="flat" cmpd="sng">
                <a:solidFill>
                  <a:srgbClr val="000000"/>
                </a:solidFill>
                <a:prstDash val="solid"/>
                <a:headEnd type="none" w="med" len="med"/>
                <a:tailEnd type="none" w="med" len="med"/>
              </a:ln>
            </p:spPr>
          </p:sp>
          <p:sp>
            <p:nvSpPr>
              <p:cNvPr id="150827" name="Rectangle 70"/>
              <p:cNvSpPr/>
              <p:nvPr/>
            </p:nvSpPr>
            <p:spPr>
              <a:xfrm>
                <a:off x="2333" y="2236"/>
                <a:ext cx="42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28" name="Line 71"/>
              <p:cNvSpPr/>
              <p:nvPr/>
            </p:nvSpPr>
            <p:spPr>
              <a:xfrm>
                <a:off x="2333" y="2236"/>
                <a:ext cx="425" cy="1"/>
              </a:xfrm>
              <a:prstGeom prst="line">
                <a:avLst/>
              </a:prstGeom>
              <a:ln w="0" cap="flat" cmpd="sng">
                <a:solidFill>
                  <a:srgbClr val="000000"/>
                </a:solidFill>
                <a:prstDash val="solid"/>
                <a:headEnd type="none" w="med" len="med"/>
                <a:tailEnd type="none" w="med" len="med"/>
              </a:ln>
            </p:spPr>
          </p:sp>
          <p:sp>
            <p:nvSpPr>
              <p:cNvPr id="150829" name="Rectangle 72"/>
              <p:cNvSpPr/>
              <p:nvPr/>
            </p:nvSpPr>
            <p:spPr>
              <a:xfrm>
                <a:off x="275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30" name="Line 73"/>
              <p:cNvSpPr/>
              <p:nvPr/>
            </p:nvSpPr>
            <p:spPr>
              <a:xfrm>
                <a:off x="2758" y="2236"/>
                <a:ext cx="16" cy="1"/>
              </a:xfrm>
              <a:prstGeom prst="line">
                <a:avLst/>
              </a:prstGeom>
              <a:ln w="0" cap="flat" cmpd="sng">
                <a:solidFill>
                  <a:srgbClr val="000000"/>
                </a:solidFill>
                <a:prstDash val="solid"/>
                <a:headEnd type="none" w="med" len="med"/>
                <a:tailEnd type="none" w="med" len="med"/>
              </a:ln>
            </p:spPr>
          </p:sp>
          <p:sp>
            <p:nvSpPr>
              <p:cNvPr id="150831" name="Line 74"/>
              <p:cNvSpPr/>
              <p:nvPr/>
            </p:nvSpPr>
            <p:spPr>
              <a:xfrm>
                <a:off x="2758" y="2236"/>
                <a:ext cx="1" cy="16"/>
              </a:xfrm>
              <a:prstGeom prst="line">
                <a:avLst/>
              </a:prstGeom>
              <a:ln w="0" cap="flat" cmpd="sng">
                <a:solidFill>
                  <a:srgbClr val="000000"/>
                </a:solidFill>
                <a:prstDash val="solid"/>
                <a:headEnd type="none" w="med" len="med"/>
                <a:tailEnd type="none" w="med" len="med"/>
              </a:ln>
            </p:spPr>
          </p:sp>
          <p:sp>
            <p:nvSpPr>
              <p:cNvPr id="150832" name="Rectangle 75"/>
              <p:cNvSpPr/>
              <p:nvPr/>
            </p:nvSpPr>
            <p:spPr>
              <a:xfrm>
                <a:off x="275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833" name="Line 76"/>
              <p:cNvSpPr/>
              <p:nvPr/>
            </p:nvSpPr>
            <p:spPr>
              <a:xfrm>
                <a:off x="2758" y="2236"/>
                <a:ext cx="16" cy="1"/>
              </a:xfrm>
              <a:prstGeom prst="line">
                <a:avLst/>
              </a:prstGeom>
              <a:ln w="0" cap="flat" cmpd="sng">
                <a:solidFill>
                  <a:srgbClr val="000000"/>
                </a:solidFill>
                <a:prstDash val="solid"/>
                <a:headEnd type="none" w="med" len="med"/>
                <a:tailEnd type="none" w="med" len="med"/>
              </a:ln>
            </p:spPr>
          </p:sp>
          <p:sp>
            <p:nvSpPr>
              <p:cNvPr id="150834" name="Line 77"/>
              <p:cNvSpPr/>
              <p:nvPr/>
            </p:nvSpPr>
            <p:spPr>
              <a:xfrm>
                <a:off x="2758" y="2236"/>
                <a:ext cx="1" cy="16"/>
              </a:xfrm>
              <a:prstGeom prst="line">
                <a:avLst/>
              </a:prstGeom>
              <a:ln w="0" cap="flat" cmpd="sng">
                <a:solidFill>
                  <a:srgbClr val="000000"/>
                </a:solidFill>
                <a:prstDash val="solid"/>
                <a:headEnd type="none" w="med" len="med"/>
                <a:tailEnd type="none" w="med" len="med"/>
              </a:ln>
            </p:spPr>
          </p:sp>
        </p:grpSp>
        <p:grpSp>
          <p:nvGrpSpPr>
            <p:cNvPr id="150720" name="Group 78"/>
            <p:cNvGrpSpPr/>
            <p:nvPr/>
          </p:nvGrpSpPr>
          <p:grpSpPr>
            <a:xfrm>
              <a:off x="2256" y="2400"/>
              <a:ext cx="409" cy="284"/>
              <a:chOff x="1814" y="2962"/>
              <a:chExt cx="409" cy="284"/>
            </a:xfrm>
          </p:grpSpPr>
          <p:sp>
            <p:nvSpPr>
              <p:cNvPr id="150729" name="Rectangle 79"/>
              <p:cNvSpPr/>
              <p:nvPr/>
            </p:nvSpPr>
            <p:spPr>
              <a:xfrm>
                <a:off x="1830" y="2993"/>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0730" name="Rectangle 80"/>
              <p:cNvSpPr/>
              <p:nvPr/>
            </p:nvSpPr>
            <p:spPr>
              <a:xfrm>
                <a:off x="1940" y="2993"/>
                <a:ext cx="235"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R3</a:t>
                </a:r>
                <a:endParaRPr lang="en-US" altLang="zh-CN" sz="2400" dirty="0">
                  <a:solidFill>
                    <a:schemeClr val="tx1"/>
                  </a:solidFill>
                  <a:ea typeface="Arial" panose="020B0604020202020204" pitchFamily="34" charset="0"/>
                </a:endParaRPr>
              </a:p>
            </p:txBody>
          </p:sp>
          <p:sp>
            <p:nvSpPr>
              <p:cNvPr id="150731" name="Rectangle 81"/>
              <p:cNvSpPr/>
              <p:nvPr/>
            </p:nvSpPr>
            <p:spPr>
              <a:xfrm>
                <a:off x="1814"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32" name="Line 82"/>
              <p:cNvSpPr/>
              <p:nvPr/>
            </p:nvSpPr>
            <p:spPr>
              <a:xfrm>
                <a:off x="1814" y="2962"/>
                <a:ext cx="16" cy="1"/>
              </a:xfrm>
              <a:prstGeom prst="line">
                <a:avLst/>
              </a:prstGeom>
              <a:ln w="0" cap="flat" cmpd="sng">
                <a:solidFill>
                  <a:srgbClr val="000000"/>
                </a:solidFill>
                <a:prstDash val="solid"/>
                <a:headEnd type="none" w="med" len="med"/>
                <a:tailEnd type="none" w="med" len="med"/>
              </a:ln>
            </p:spPr>
          </p:sp>
          <p:sp>
            <p:nvSpPr>
              <p:cNvPr id="150733" name="Line 83"/>
              <p:cNvSpPr/>
              <p:nvPr/>
            </p:nvSpPr>
            <p:spPr>
              <a:xfrm>
                <a:off x="1814" y="2962"/>
                <a:ext cx="1" cy="16"/>
              </a:xfrm>
              <a:prstGeom prst="line">
                <a:avLst/>
              </a:prstGeom>
              <a:ln w="0" cap="flat" cmpd="sng">
                <a:solidFill>
                  <a:srgbClr val="000000"/>
                </a:solidFill>
                <a:prstDash val="solid"/>
                <a:headEnd type="none" w="med" len="med"/>
                <a:tailEnd type="none" w="med" len="med"/>
              </a:ln>
            </p:spPr>
          </p:sp>
          <p:sp>
            <p:nvSpPr>
              <p:cNvPr id="150734" name="Rectangle 84"/>
              <p:cNvSpPr/>
              <p:nvPr/>
            </p:nvSpPr>
            <p:spPr>
              <a:xfrm>
                <a:off x="1814"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35" name="Line 85"/>
              <p:cNvSpPr/>
              <p:nvPr/>
            </p:nvSpPr>
            <p:spPr>
              <a:xfrm>
                <a:off x="1814" y="2962"/>
                <a:ext cx="16" cy="1"/>
              </a:xfrm>
              <a:prstGeom prst="line">
                <a:avLst/>
              </a:prstGeom>
              <a:ln w="0" cap="flat" cmpd="sng">
                <a:solidFill>
                  <a:srgbClr val="000000"/>
                </a:solidFill>
                <a:prstDash val="solid"/>
                <a:headEnd type="none" w="med" len="med"/>
                <a:tailEnd type="none" w="med" len="med"/>
              </a:ln>
            </p:spPr>
          </p:sp>
          <p:sp>
            <p:nvSpPr>
              <p:cNvPr id="150736" name="Line 86"/>
              <p:cNvSpPr/>
              <p:nvPr/>
            </p:nvSpPr>
            <p:spPr>
              <a:xfrm>
                <a:off x="1814" y="2962"/>
                <a:ext cx="1" cy="16"/>
              </a:xfrm>
              <a:prstGeom prst="line">
                <a:avLst/>
              </a:prstGeom>
              <a:ln w="0" cap="flat" cmpd="sng">
                <a:solidFill>
                  <a:srgbClr val="000000"/>
                </a:solidFill>
                <a:prstDash val="solid"/>
                <a:headEnd type="none" w="med" len="med"/>
                <a:tailEnd type="none" w="med" len="med"/>
              </a:ln>
            </p:spPr>
          </p:sp>
          <p:sp>
            <p:nvSpPr>
              <p:cNvPr id="150737" name="Rectangle 87"/>
              <p:cNvSpPr/>
              <p:nvPr/>
            </p:nvSpPr>
            <p:spPr>
              <a:xfrm>
                <a:off x="1830" y="2962"/>
                <a:ext cx="37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38" name="Line 88"/>
              <p:cNvSpPr/>
              <p:nvPr/>
            </p:nvSpPr>
            <p:spPr>
              <a:xfrm>
                <a:off x="1830" y="2962"/>
                <a:ext cx="377" cy="1"/>
              </a:xfrm>
              <a:prstGeom prst="line">
                <a:avLst/>
              </a:prstGeom>
              <a:ln w="0" cap="flat" cmpd="sng">
                <a:solidFill>
                  <a:srgbClr val="000000"/>
                </a:solidFill>
                <a:prstDash val="solid"/>
                <a:headEnd type="none" w="med" len="med"/>
                <a:tailEnd type="none" w="med" len="med"/>
              </a:ln>
            </p:spPr>
          </p:sp>
          <p:sp>
            <p:nvSpPr>
              <p:cNvPr id="150739" name="Rectangle 89"/>
              <p:cNvSpPr/>
              <p:nvPr/>
            </p:nvSpPr>
            <p:spPr>
              <a:xfrm>
                <a:off x="2207"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40" name="Line 90"/>
              <p:cNvSpPr/>
              <p:nvPr/>
            </p:nvSpPr>
            <p:spPr>
              <a:xfrm>
                <a:off x="2207" y="2962"/>
                <a:ext cx="16" cy="1"/>
              </a:xfrm>
              <a:prstGeom prst="line">
                <a:avLst/>
              </a:prstGeom>
              <a:ln w="0" cap="flat" cmpd="sng">
                <a:solidFill>
                  <a:srgbClr val="000000"/>
                </a:solidFill>
                <a:prstDash val="solid"/>
                <a:headEnd type="none" w="med" len="med"/>
                <a:tailEnd type="none" w="med" len="med"/>
              </a:ln>
            </p:spPr>
          </p:sp>
          <p:sp>
            <p:nvSpPr>
              <p:cNvPr id="150741" name="Line 91"/>
              <p:cNvSpPr/>
              <p:nvPr/>
            </p:nvSpPr>
            <p:spPr>
              <a:xfrm>
                <a:off x="2207" y="2962"/>
                <a:ext cx="1" cy="16"/>
              </a:xfrm>
              <a:prstGeom prst="line">
                <a:avLst/>
              </a:prstGeom>
              <a:ln w="0" cap="flat" cmpd="sng">
                <a:solidFill>
                  <a:srgbClr val="000000"/>
                </a:solidFill>
                <a:prstDash val="solid"/>
                <a:headEnd type="none" w="med" len="med"/>
                <a:tailEnd type="none" w="med" len="med"/>
              </a:ln>
            </p:spPr>
          </p:sp>
          <p:sp>
            <p:nvSpPr>
              <p:cNvPr id="150742" name="Rectangle 92"/>
              <p:cNvSpPr/>
              <p:nvPr/>
            </p:nvSpPr>
            <p:spPr>
              <a:xfrm>
                <a:off x="2207"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43" name="Line 93"/>
              <p:cNvSpPr/>
              <p:nvPr/>
            </p:nvSpPr>
            <p:spPr>
              <a:xfrm>
                <a:off x="2207" y="2962"/>
                <a:ext cx="16" cy="1"/>
              </a:xfrm>
              <a:prstGeom prst="line">
                <a:avLst/>
              </a:prstGeom>
              <a:ln w="0" cap="flat" cmpd="sng">
                <a:solidFill>
                  <a:srgbClr val="000000"/>
                </a:solidFill>
                <a:prstDash val="solid"/>
                <a:headEnd type="none" w="med" len="med"/>
                <a:tailEnd type="none" w="med" len="med"/>
              </a:ln>
            </p:spPr>
          </p:sp>
          <p:sp>
            <p:nvSpPr>
              <p:cNvPr id="150744" name="Line 94"/>
              <p:cNvSpPr/>
              <p:nvPr/>
            </p:nvSpPr>
            <p:spPr>
              <a:xfrm>
                <a:off x="2207" y="2962"/>
                <a:ext cx="1" cy="16"/>
              </a:xfrm>
              <a:prstGeom prst="line">
                <a:avLst/>
              </a:prstGeom>
              <a:ln w="0" cap="flat" cmpd="sng">
                <a:solidFill>
                  <a:srgbClr val="000000"/>
                </a:solidFill>
                <a:prstDash val="solid"/>
                <a:headEnd type="none" w="med" len="med"/>
                <a:tailEnd type="none" w="med" len="med"/>
              </a:ln>
            </p:spPr>
          </p:sp>
          <p:sp>
            <p:nvSpPr>
              <p:cNvPr id="150745" name="Rectangle 95"/>
              <p:cNvSpPr/>
              <p:nvPr/>
            </p:nvSpPr>
            <p:spPr>
              <a:xfrm>
                <a:off x="1814" y="2978"/>
                <a:ext cx="16" cy="25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46" name="Line 96"/>
              <p:cNvSpPr/>
              <p:nvPr/>
            </p:nvSpPr>
            <p:spPr>
              <a:xfrm>
                <a:off x="1814" y="2978"/>
                <a:ext cx="1" cy="252"/>
              </a:xfrm>
              <a:prstGeom prst="line">
                <a:avLst/>
              </a:prstGeom>
              <a:ln w="0" cap="flat" cmpd="sng">
                <a:solidFill>
                  <a:srgbClr val="000000"/>
                </a:solidFill>
                <a:prstDash val="solid"/>
                <a:headEnd type="none" w="med" len="med"/>
                <a:tailEnd type="none" w="med" len="med"/>
              </a:ln>
            </p:spPr>
          </p:sp>
          <p:sp>
            <p:nvSpPr>
              <p:cNvPr id="150747" name="Rectangle 97"/>
              <p:cNvSpPr/>
              <p:nvPr/>
            </p:nvSpPr>
            <p:spPr>
              <a:xfrm>
                <a:off x="2207" y="2978"/>
                <a:ext cx="16" cy="25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48" name="Line 98"/>
              <p:cNvSpPr/>
              <p:nvPr/>
            </p:nvSpPr>
            <p:spPr>
              <a:xfrm>
                <a:off x="2207" y="2978"/>
                <a:ext cx="1" cy="252"/>
              </a:xfrm>
              <a:prstGeom prst="line">
                <a:avLst/>
              </a:prstGeom>
              <a:ln w="0" cap="flat" cmpd="sng">
                <a:solidFill>
                  <a:srgbClr val="000000"/>
                </a:solidFill>
                <a:prstDash val="solid"/>
                <a:headEnd type="none" w="med" len="med"/>
                <a:tailEnd type="none" w="med" len="med"/>
              </a:ln>
            </p:spPr>
          </p:sp>
          <p:sp>
            <p:nvSpPr>
              <p:cNvPr id="150749" name="Rectangle 99"/>
              <p:cNvSpPr/>
              <p:nvPr/>
            </p:nvSpPr>
            <p:spPr>
              <a:xfrm>
                <a:off x="1814"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50" name="Line 100"/>
              <p:cNvSpPr/>
              <p:nvPr/>
            </p:nvSpPr>
            <p:spPr>
              <a:xfrm>
                <a:off x="1814" y="3230"/>
                <a:ext cx="16" cy="1"/>
              </a:xfrm>
              <a:prstGeom prst="line">
                <a:avLst/>
              </a:prstGeom>
              <a:ln w="0" cap="flat" cmpd="sng">
                <a:solidFill>
                  <a:srgbClr val="000000"/>
                </a:solidFill>
                <a:prstDash val="solid"/>
                <a:headEnd type="none" w="med" len="med"/>
                <a:tailEnd type="none" w="med" len="med"/>
              </a:ln>
            </p:spPr>
          </p:sp>
          <p:sp>
            <p:nvSpPr>
              <p:cNvPr id="150751" name="Line 101"/>
              <p:cNvSpPr/>
              <p:nvPr/>
            </p:nvSpPr>
            <p:spPr>
              <a:xfrm>
                <a:off x="1814" y="3230"/>
                <a:ext cx="1" cy="16"/>
              </a:xfrm>
              <a:prstGeom prst="line">
                <a:avLst/>
              </a:prstGeom>
              <a:ln w="0" cap="flat" cmpd="sng">
                <a:solidFill>
                  <a:srgbClr val="000000"/>
                </a:solidFill>
                <a:prstDash val="solid"/>
                <a:headEnd type="none" w="med" len="med"/>
                <a:tailEnd type="none" w="med" len="med"/>
              </a:ln>
            </p:spPr>
          </p:sp>
          <p:sp>
            <p:nvSpPr>
              <p:cNvPr id="150752" name="Rectangle 102"/>
              <p:cNvSpPr/>
              <p:nvPr/>
            </p:nvSpPr>
            <p:spPr>
              <a:xfrm>
                <a:off x="1814"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53" name="Line 103"/>
              <p:cNvSpPr/>
              <p:nvPr/>
            </p:nvSpPr>
            <p:spPr>
              <a:xfrm>
                <a:off x="1814" y="3230"/>
                <a:ext cx="16" cy="1"/>
              </a:xfrm>
              <a:prstGeom prst="line">
                <a:avLst/>
              </a:prstGeom>
              <a:ln w="0" cap="flat" cmpd="sng">
                <a:solidFill>
                  <a:srgbClr val="000000"/>
                </a:solidFill>
                <a:prstDash val="solid"/>
                <a:headEnd type="none" w="med" len="med"/>
                <a:tailEnd type="none" w="med" len="med"/>
              </a:ln>
            </p:spPr>
          </p:sp>
          <p:sp>
            <p:nvSpPr>
              <p:cNvPr id="150754" name="Line 104"/>
              <p:cNvSpPr/>
              <p:nvPr/>
            </p:nvSpPr>
            <p:spPr>
              <a:xfrm>
                <a:off x="1814" y="3230"/>
                <a:ext cx="1" cy="16"/>
              </a:xfrm>
              <a:prstGeom prst="line">
                <a:avLst/>
              </a:prstGeom>
              <a:ln w="0" cap="flat" cmpd="sng">
                <a:solidFill>
                  <a:srgbClr val="000000"/>
                </a:solidFill>
                <a:prstDash val="solid"/>
                <a:headEnd type="none" w="med" len="med"/>
                <a:tailEnd type="none" w="med" len="med"/>
              </a:ln>
            </p:spPr>
          </p:sp>
          <p:sp>
            <p:nvSpPr>
              <p:cNvPr id="150755" name="Rectangle 105"/>
              <p:cNvSpPr/>
              <p:nvPr/>
            </p:nvSpPr>
            <p:spPr>
              <a:xfrm>
                <a:off x="1830" y="3230"/>
                <a:ext cx="37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56" name="Line 106"/>
              <p:cNvSpPr/>
              <p:nvPr/>
            </p:nvSpPr>
            <p:spPr>
              <a:xfrm>
                <a:off x="1830" y="3230"/>
                <a:ext cx="377" cy="1"/>
              </a:xfrm>
              <a:prstGeom prst="line">
                <a:avLst/>
              </a:prstGeom>
              <a:ln w="0" cap="flat" cmpd="sng">
                <a:solidFill>
                  <a:srgbClr val="000000"/>
                </a:solidFill>
                <a:prstDash val="solid"/>
                <a:headEnd type="none" w="med" len="med"/>
                <a:tailEnd type="none" w="med" len="med"/>
              </a:ln>
            </p:spPr>
          </p:sp>
          <p:sp>
            <p:nvSpPr>
              <p:cNvPr id="150757" name="Rectangle 107"/>
              <p:cNvSpPr/>
              <p:nvPr/>
            </p:nvSpPr>
            <p:spPr>
              <a:xfrm>
                <a:off x="2207"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58" name="Line 108"/>
              <p:cNvSpPr/>
              <p:nvPr/>
            </p:nvSpPr>
            <p:spPr>
              <a:xfrm>
                <a:off x="2207" y="3230"/>
                <a:ext cx="16" cy="1"/>
              </a:xfrm>
              <a:prstGeom prst="line">
                <a:avLst/>
              </a:prstGeom>
              <a:ln w="0" cap="flat" cmpd="sng">
                <a:solidFill>
                  <a:srgbClr val="000000"/>
                </a:solidFill>
                <a:prstDash val="solid"/>
                <a:headEnd type="none" w="med" len="med"/>
                <a:tailEnd type="none" w="med" len="med"/>
              </a:ln>
            </p:spPr>
          </p:sp>
          <p:sp>
            <p:nvSpPr>
              <p:cNvPr id="150759" name="Line 109"/>
              <p:cNvSpPr/>
              <p:nvPr/>
            </p:nvSpPr>
            <p:spPr>
              <a:xfrm>
                <a:off x="2207" y="3230"/>
                <a:ext cx="1" cy="16"/>
              </a:xfrm>
              <a:prstGeom prst="line">
                <a:avLst/>
              </a:prstGeom>
              <a:ln w="0" cap="flat" cmpd="sng">
                <a:solidFill>
                  <a:srgbClr val="000000"/>
                </a:solidFill>
                <a:prstDash val="solid"/>
                <a:headEnd type="none" w="med" len="med"/>
                <a:tailEnd type="none" w="med" len="med"/>
              </a:ln>
            </p:spPr>
          </p:sp>
          <p:sp>
            <p:nvSpPr>
              <p:cNvPr id="150760" name="Rectangle 110"/>
              <p:cNvSpPr/>
              <p:nvPr/>
            </p:nvSpPr>
            <p:spPr>
              <a:xfrm>
                <a:off x="2207"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61" name="Line 111"/>
              <p:cNvSpPr/>
              <p:nvPr/>
            </p:nvSpPr>
            <p:spPr>
              <a:xfrm>
                <a:off x="2207" y="3230"/>
                <a:ext cx="16" cy="1"/>
              </a:xfrm>
              <a:prstGeom prst="line">
                <a:avLst/>
              </a:prstGeom>
              <a:ln w="0" cap="flat" cmpd="sng">
                <a:solidFill>
                  <a:srgbClr val="000000"/>
                </a:solidFill>
                <a:prstDash val="solid"/>
                <a:headEnd type="none" w="med" len="med"/>
                <a:tailEnd type="none" w="med" len="med"/>
              </a:ln>
            </p:spPr>
          </p:sp>
          <p:sp>
            <p:nvSpPr>
              <p:cNvPr id="150762" name="Line 112"/>
              <p:cNvSpPr/>
              <p:nvPr/>
            </p:nvSpPr>
            <p:spPr>
              <a:xfrm>
                <a:off x="2207" y="3230"/>
                <a:ext cx="1" cy="16"/>
              </a:xfrm>
              <a:prstGeom prst="line">
                <a:avLst/>
              </a:prstGeom>
              <a:ln w="0" cap="flat" cmpd="sng">
                <a:solidFill>
                  <a:srgbClr val="000000"/>
                </a:solidFill>
                <a:prstDash val="solid"/>
                <a:headEnd type="none" w="med" len="med"/>
                <a:tailEnd type="none" w="med" len="med"/>
              </a:ln>
            </p:spPr>
          </p:sp>
        </p:grpSp>
        <p:grpSp>
          <p:nvGrpSpPr>
            <p:cNvPr id="150721" name="Group 113"/>
            <p:cNvGrpSpPr/>
            <p:nvPr/>
          </p:nvGrpSpPr>
          <p:grpSpPr>
            <a:xfrm>
              <a:off x="1968" y="1632"/>
              <a:ext cx="1165" cy="788"/>
              <a:chOff x="1059" y="2347"/>
              <a:chExt cx="1165" cy="788"/>
            </a:xfrm>
          </p:grpSpPr>
          <p:sp>
            <p:nvSpPr>
              <p:cNvPr id="150722" name="Rectangle 114"/>
              <p:cNvSpPr/>
              <p:nvPr/>
            </p:nvSpPr>
            <p:spPr>
              <a:xfrm>
                <a:off x="1248" y="2347"/>
                <a:ext cx="976"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L1          L2</a:t>
                </a:r>
                <a:endParaRPr lang="en-US" altLang="zh-CN" sz="2400" dirty="0">
                  <a:solidFill>
                    <a:schemeClr val="tx1"/>
                  </a:solidFill>
                  <a:ea typeface="Arial" panose="020B0604020202020204" pitchFamily="34" charset="0"/>
                </a:endParaRPr>
              </a:p>
            </p:txBody>
          </p:sp>
          <p:sp>
            <p:nvSpPr>
              <p:cNvPr id="150723" name="Line 115"/>
              <p:cNvSpPr/>
              <p:nvPr/>
            </p:nvSpPr>
            <p:spPr>
              <a:xfrm>
                <a:off x="1059" y="2362"/>
                <a:ext cx="1" cy="458"/>
              </a:xfrm>
              <a:prstGeom prst="line">
                <a:avLst/>
              </a:prstGeom>
              <a:ln w="25400" cap="flat" cmpd="sng">
                <a:solidFill>
                  <a:srgbClr val="000000"/>
                </a:solidFill>
                <a:prstDash val="solid"/>
                <a:headEnd type="none" w="med" len="med"/>
                <a:tailEnd type="none" w="med" len="med"/>
              </a:ln>
            </p:spPr>
          </p:sp>
          <p:sp>
            <p:nvSpPr>
              <p:cNvPr id="150724" name="Line 116"/>
              <p:cNvSpPr/>
              <p:nvPr/>
            </p:nvSpPr>
            <p:spPr>
              <a:xfrm>
                <a:off x="1940" y="2362"/>
                <a:ext cx="1" cy="458"/>
              </a:xfrm>
              <a:prstGeom prst="line">
                <a:avLst/>
              </a:prstGeom>
              <a:ln w="25400" cap="flat" cmpd="sng">
                <a:solidFill>
                  <a:srgbClr val="000000"/>
                </a:solidFill>
                <a:prstDash val="solid"/>
                <a:headEnd type="none" w="med" len="med"/>
                <a:tailEnd type="none" w="med" len="med"/>
              </a:ln>
            </p:spPr>
          </p:sp>
          <p:sp>
            <p:nvSpPr>
              <p:cNvPr id="150725" name="Line 117"/>
              <p:cNvSpPr/>
              <p:nvPr/>
            </p:nvSpPr>
            <p:spPr>
              <a:xfrm>
                <a:off x="1059" y="2820"/>
                <a:ext cx="881" cy="1"/>
              </a:xfrm>
              <a:prstGeom prst="line">
                <a:avLst/>
              </a:prstGeom>
              <a:ln w="25400" cap="flat" cmpd="sng">
                <a:solidFill>
                  <a:srgbClr val="000000"/>
                </a:solidFill>
                <a:prstDash val="solid"/>
                <a:headEnd type="none" w="med" len="med"/>
                <a:tailEnd type="none" w="med" len="med"/>
              </a:ln>
            </p:spPr>
          </p:sp>
          <p:grpSp>
            <p:nvGrpSpPr>
              <p:cNvPr id="150726" name="Group 118"/>
              <p:cNvGrpSpPr/>
              <p:nvPr/>
            </p:nvGrpSpPr>
            <p:grpSpPr>
              <a:xfrm>
                <a:off x="1405" y="2820"/>
                <a:ext cx="173" cy="315"/>
                <a:chOff x="1405" y="2820"/>
                <a:chExt cx="173" cy="315"/>
              </a:xfrm>
            </p:grpSpPr>
            <p:sp>
              <p:nvSpPr>
                <p:cNvPr id="150727" name="Line 119"/>
                <p:cNvSpPr/>
                <p:nvPr/>
              </p:nvSpPr>
              <p:spPr>
                <a:xfrm>
                  <a:off x="1499" y="2820"/>
                  <a:ext cx="1" cy="189"/>
                </a:xfrm>
                <a:prstGeom prst="line">
                  <a:avLst/>
                </a:prstGeom>
                <a:ln w="25400" cap="flat" cmpd="sng">
                  <a:solidFill>
                    <a:srgbClr val="000000"/>
                  </a:solidFill>
                  <a:prstDash val="solid"/>
                  <a:headEnd type="none" w="med" len="med"/>
                  <a:tailEnd type="none" w="med" len="med"/>
                </a:ln>
              </p:spPr>
            </p:sp>
            <p:sp>
              <p:nvSpPr>
                <p:cNvPr id="150728" name="Freeform 120"/>
                <p:cNvSpPr/>
                <p:nvPr/>
              </p:nvSpPr>
              <p:spPr>
                <a:xfrm>
                  <a:off x="1405" y="2978"/>
                  <a:ext cx="173" cy="157"/>
                </a:xfrm>
                <a:custGeom>
                  <a:avLst/>
                  <a:gdLst/>
                  <a:ahLst/>
                  <a:cxnLst>
                    <a:cxn ang="0">
                      <a:pos x="0" y="0"/>
                    </a:cxn>
                    <a:cxn ang="0">
                      <a:pos x="94" y="157"/>
                    </a:cxn>
                    <a:cxn ang="0">
                      <a:pos x="173" y="0"/>
                    </a:cxn>
                    <a:cxn ang="0">
                      <a:pos x="0" y="0"/>
                    </a:cxn>
                  </a:cxnLst>
                  <a:pathLst>
                    <a:path w="173" h="157">
                      <a:moveTo>
                        <a:pt x="0" y="0"/>
                      </a:moveTo>
                      <a:lnTo>
                        <a:pt x="94" y="157"/>
                      </a:lnTo>
                      <a:lnTo>
                        <a:pt x="173" y="0"/>
                      </a:lnTo>
                      <a:lnTo>
                        <a:pt x="0" y="0"/>
                      </a:lnTo>
                      <a:close/>
                    </a:path>
                  </a:pathLst>
                </a:custGeom>
                <a:solidFill>
                  <a:srgbClr val="000000">
                    <a:alpha val="100000"/>
                  </a:srgbClr>
                </a:solidFill>
                <a:ln w="9525">
                  <a:noFill/>
                </a:ln>
              </p:spPr>
              <p:txBody>
                <a:bodyPr/>
                <a:p>
                  <a:endParaRPr lang="en-US"/>
                </a:p>
              </p:txBody>
            </p:sp>
          </p:grpSp>
        </p:grpSp>
      </p:grpSp>
      <p:grpSp>
        <p:nvGrpSpPr>
          <p:cNvPr id="150534" name="Group 121"/>
          <p:cNvGrpSpPr/>
          <p:nvPr/>
        </p:nvGrpSpPr>
        <p:grpSpPr>
          <a:xfrm>
            <a:off x="4495800" y="2286000"/>
            <a:ext cx="3606800" cy="3013075"/>
            <a:chOff x="2832" y="1440"/>
            <a:chExt cx="2272" cy="1898"/>
          </a:xfrm>
        </p:grpSpPr>
        <p:sp>
          <p:nvSpPr>
            <p:cNvPr id="150535" name="Rectangle 122"/>
            <p:cNvSpPr/>
            <p:nvPr/>
          </p:nvSpPr>
          <p:spPr>
            <a:xfrm>
              <a:off x="2832" y="1486"/>
              <a:ext cx="36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536" name="Rectangle 123"/>
            <p:cNvSpPr/>
            <p:nvPr/>
          </p:nvSpPr>
          <p:spPr>
            <a:xfrm>
              <a:off x="3213" y="148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537" name="Rectangle 124"/>
            <p:cNvSpPr/>
            <p:nvPr/>
          </p:nvSpPr>
          <p:spPr>
            <a:xfrm>
              <a:off x="3320" y="1486"/>
              <a:ext cx="27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R1 </a:t>
              </a:r>
              <a:endParaRPr lang="en-US" altLang="zh-CN" sz="2400" dirty="0">
                <a:solidFill>
                  <a:schemeClr val="tx1"/>
                </a:solidFill>
                <a:ea typeface="黑体" panose="02010609060101010101" pitchFamily="49" charset="-122"/>
              </a:endParaRPr>
            </a:p>
          </p:txBody>
        </p:sp>
        <p:sp>
          <p:nvSpPr>
            <p:cNvPr id="150538" name="Rectangle 125"/>
            <p:cNvSpPr/>
            <p:nvPr/>
          </p:nvSpPr>
          <p:spPr>
            <a:xfrm>
              <a:off x="31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39" name="Line 126"/>
            <p:cNvSpPr/>
            <p:nvPr/>
          </p:nvSpPr>
          <p:spPr>
            <a:xfrm>
              <a:off x="3198" y="1440"/>
              <a:ext cx="15" cy="1"/>
            </a:xfrm>
            <a:prstGeom prst="line">
              <a:avLst/>
            </a:prstGeom>
            <a:ln w="0" cap="flat" cmpd="sng">
              <a:solidFill>
                <a:srgbClr val="000000"/>
              </a:solidFill>
              <a:prstDash val="solid"/>
              <a:headEnd type="none" w="med" len="med"/>
              <a:tailEnd type="none" w="med" len="med"/>
            </a:ln>
          </p:spPr>
        </p:sp>
        <p:sp>
          <p:nvSpPr>
            <p:cNvPr id="150540" name="Line 127"/>
            <p:cNvSpPr/>
            <p:nvPr/>
          </p:nvSpPr>
          <p:spPr>
            <a:xfrm>
              <a:off x="3198" y="1440"/>
              <a:ext cx="1" cy="15"/>
            </a:xfrm>
            <a:prstGeom prst="line">
              <a:avLst/>
            </a:prstGeom>
            <a:ln w="0" cap="flat" cmpd="sng">
              <a:solidFill>
                <a:srgbClr val="000000"/>
              </a:solidFill>
              <a:prstDash val="solid"/>
              <a:headEnd type="none" w="med" len="med"/>
              <a:tailEnd type="none" w="med" len="med"/>
            </a:ln>
          </p:spPr>
        </p:sp>
        <p:sp>
          <p:nvSpPr>
            <p:cNvPr id="150541" name="Rectangle 128"/>
            <p:cNvSpPr/>
            <p:nvPr/>
          </p:nvSpPr>
          <p:spPr>
            <a:xfrm>
              <a:off x="31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42" name="Line 129"/>
            <p:cNvSpPr/>
            <p:nvPr/>
          </p:nvSpPr>
          <p:spPr>
            <a:xfrm>
              <a:off x="3198" y="1440"/>
              <a:ext cx="15" cy="1"/>
            </a:xfrm>
            <a:prstGeom prst="line">
              <a:avLst/>
            </a:prstGeom>
            <a:ln w="0" cap="flat" cmpd="sng">
              <a:solidFill>
                <a:srgbClr val="000000"/>
              </a:solidFill>
              <a:prstDash val="solid"/>
              <a:headEnd type="none" w="med" len="med"/>
              <a:tailEnd type="none" w="med" len="med"/>
            </a:ln>
          </p:spPr>
        </p:sp>
        <p:sp>
          <p:nvSpPr>
            <p:cNvPr id="150543" name="Line 130"/>
            <p:cNvSpPr/>
            <p:nvPr/>
          </p:nvSpPr>
          <p:spPr>
            <a:xfrm>
              <a:off x="3198" y="1440"/>
              <a:ext cx="1" cy="15"/>
            </a:xfrm>
            <a:prstGeom prst="line">
              <a:avLst/>
            </a:prstGeom>
            <a:ln w="0" cap="flat" cmpd="sng">
              <a:solidFill>
                <a:srgbClr val="000000"/>
              </a:solidFill>
              <a:prstDash val="solid"/>
              <a:headEnd type="none" w="med" len="med"/>
              <a:tailEnd type="none" w="med" len="med"/>
            </a:ln>
          </p:spPr>
        </p:sp>
        <p:sp>
          <p:nvSpPr>
            <p:cNvPr id="150544" name="Rectangle 131"/>
            <p:cNvSpPr/>
            <p:nvPr/>
          </p:nvSpPr>
          <p:spPr>
            <a:xfrm>
              <a:off x="3213" y="1440"/>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45" name="Line 132"/>
            <p:cNvSpPr/>
            <p:nvPr/>
          </p:nvSpPr>
          <p:spPr>
            <a:xfrm>
              <a:off x="3213" y="1440"/>
              <a:ext cx="382" cy="1"/>
            </a:xfrm>
            <a:prstGeom prst="line">
              <a:avLst/>
            </a:prstGeom>
            <a:ln w="0" cap="flat" cmpd="sng">
              <a:solidFill>
                <a:srgbClr val="000000"/>
              </a:solidFill>
              <a:prstDash val="solid"/>
              <a:headEnd type="none" w="med" len="med"/>
              <a:tailEnd type="none" w="med" len="med"/>
            </a:ln>
          </p:spPr>
        </p:sp>
        <p:sp>
          <p:nvSpPr>
            <p:cNvPr id="150546" name="Rectangle 133"/>
            <p:cNvSpPr/>
            <p:nvPr/>
          </p:nvSpPr>
          <p:spPr>
            <a:xfrm>
              <a:off x="3595"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47" name="Line 134"/>
            <p:cNvSpPr/>
            <p:nvPr/>
          </p:nvSpPr>
          <p:spPr>
            <a:xfrm>
              <a:off x="3595" y="1440"/>
              <a:ext cx="15" cy="1"/>
            </a:xfrm>
            <a:prstGeom prst="line">
              <a:avLst/>
            </a:prstGeom>
            <a:ln w="0" cap="flat" cmpd="sng">
              <a:solidFill>
                <a:srgbClr val="000000"/>
              </a:solidFill>
              <a:prstDash val="solid"/>
              <a:headEnd type="none" w="med" len="med"/>
              <a:tailEnd type="none" w="med" len="med"/>
            </a:ln>
          </p:spPr>
        </p:sp>
        <p:sp>
          <p:nvSpPr>
            <p:cNvPr id="150548" name="Line 135"/>
            <p:cNvSpPr/>
            <p:nvPr/>
          </p:nvSpPr>
          <p:spPr>
            <a:xfrm>
              <a:off x="3595" y="1440"/>
              <a:ext cx="1" cy="15"/>
            </a:xfrm>
            <a:prstGeom prst="line">
              <a:avLst/>
            </a:prstGeom>
            <a:ln w="0" cap="flat" cmpd="sng">
              <a:solidFill>
                <a:srgbClr val="000000"/>
              </a:solidFill>
              <a:prstDash val="solid"/>
              <a:headEnd type="none" w="med" len="med"/>
              <a:tailEnd type="none" w="med" len="med"/>
            </a:ln>
          </p:spPr>
        </p:sp>
        <p:sp>
          <p:nvSpPr>
            <p:cNvPr id="150549" name="Rectangle 136"/>
            <p:cNvSpPr/>
            <p:nvPr/>
          </p:nvSpPr>
          <p:spPr>
            <a:xfrm>
              <a:off x="3595"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50" name="Line 137"/>
            <p:cNvSpPr/>
            <p:nvPr/>
          </p:nvSpPr>
          <p:spPr>
            <a:xfrm>
              <a:off x="3595" y="1440"/>
              <a:ext cx="15" cy="1"/>
            </a:xfrm>
            <a:prstGeom prst="line">
              <a:avLst/>
            </a:prstGeom>
            <a:ln w="0" cap="flat" cmpd="sng">
              <a:solidFill>
                <a:srgbClr val="000000"/>
              </a:solidFill>
              <a:prstDash val="solid"/>
              <a:headEnd type="none" w="med" len="med"/>
              <a:tailEnd type="none" w="med" len="med"/>
            </a:ln>
          </p:spPr>
        </p:sp>
        <p:sp>
          <p:nvSpPr>
            <p:cNvPr id="150551" name="Line 138"/>
            <p:cNvSpPr/>
            <p:nvPr/>
          </p:nvSpPr>
          <p:spPr>
            <a:xfrm>
              <a:off x="3595" y="1440"/>
              <a:ext cx="1" cy="15"/>
            </a:xfrm>
            <a:prstGeom prst="line">
              <a:avLst/>
            </a:prstGeom>
            <a:ln w="0" cap="flat" cmpd="sng">
              <a:solidFill>
                <a:srgbClr val="000000"/>
              </a:solidFill>
              <a:prstDash val="solid"/>
              <a:headEnd type="none" w="med" len="med"/>
              <a:tailEnd type="none" w="med" len="med"/>
            </a:ln>
          </p:spPr>
        </p:sp>
        <p:sp>
          <p:nvSpPr>
            <p:cNvPr id="150552" name="Rectangle 139"/>
            <p:cNvSpPr/>
            <p:nvPr/>
          </p:nvSpPr>
          <p:spPr>
            <a:xfrm>
              <a:off x="3198" y="145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53" name="Line 140"/>
            <p:cNvSpPr/>
            <p:nvPr/>
          </p:nvSpPr>
          <p:spPr>
            <a:xfrm>
              <a:off x="3198" y="1455"/>
              <a:ext cx="1" cy="244"/>
            </a:xfrm>
            <a:prstGeom prst="line">
              <a:avLst/>
            </a:prstGeom>
            <a:ln w="0" cap="flat" cmpd="sng">
              <a:solidFill>
                <a:srgbClr val="000000"/>
              </a:solidFill>
              <a:prstDash val="solid"/>
              <a:headEnd type="none" w="med" len="med"/>
              <a:tailEnd type="none" w="med" len="med"/>
            </a:ln>
          </p:spPr>
        </p:sp>
        <p:sp>
          <p:nvSpPr>
            <p:cNvPr id="150554" name="Rectangle 141"/>
            <p:cNvSpPr/>
            <p:nvPr/>
          </p:nvSpPr>
          <p:spPr>
            <a:xfrm>
              <a:off x="3595" y="145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55" name="Line 142"/>
            <p:cNvSpPr/>
            <p:nvPr/>
          </p:nvSpPr>
          <p:spPr>
            <a:xfrm>
              <a:off x="3595" y="1455"/>
              <a:ext cx="1" cy="244"/>
            </a:xfrm>
            <a:prstGeom prst="line">
              <a:avLst/>
            </a:prstGeom>
            <a:ln w="0" cap="flat" cmpd="sng">
              <a:solidFill>
                <a:srgbClr val="000000"/>
              </a:solidFill>
              <a:prstDash val="solid"/>
              <a:headEnd type="none" w="med" len="med"/>
              <a:tailEnd type="none" w="med" len="med"/>
            </a:ln>
          </p:spPr>
        </p:sp>
        <p:sp>
          <p:nvSpPr>
            <p:cNvPr id="150556" name="Rectangle 143"/>
            <p:cNvSpPr/>
            <p:nvPr/>
          </p:nvSpPr>
          <p:spPr>
            <a:xfrm>
              <a:off x="31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57" name="Line 144"/>
            <p:cNvSpPr/>
            <p:nvPr/>
          </p:nvSpPr>
          <p:spPr>
            <a:xfrm>
              <a:off x="3198" y="1699"/>
              <a:ext cx="15" cy="1"/>
            </a:xfrm>
            <a:prstGeom prst="line">
              <a:avLst/>
            </a:prstGeom>
            <a:ln w="0" cap="flat" cmpd="sng">
              <a:solidFill>
                <a:srgbClr val="000000"/>
              </a:solidFill>
              <a:prstDash val="solid"/>
              <a:headEnd type="none" w="med" len="med"/>
              <a:tailEnd type="none" w="med" len="med"/>
            </a:ln>
          </p:spPr>
        </p:sp>
        <p:sp>
          <p:nvSpPr>
            <p:cNvPr id="150558" name="Line 145"/>
            <p:cNvSpPr/>
            <p:nvPr/>
          </p:nvSpPr>
          <p:spPr>
            <a:xfrm>
              <a:off x="3198" y="1699"/>
              <a:ext cx="1" cy="15"/>
            </a:xfrm>
            <a:prstGeom prst="line">
              <a:avLst/>
            </a:prstGeom>
            <a:ln w="0" cap="flat" cmpd="sng">
              <a:solidFill>
                <a:srgbClr val="000000"/>
              </a:solidFill>
              <a:prstDash val="solid"/>
              <a:headEnd type="none" w="med" len="med"/>
              <a:tailEnd type="none" w="med" len="med"/>
            </a:ln>
          </p:spPr>
        </p:sp>
        <p:sp>
          <p:nvSpPr>
            <p:cNvPr id="150559" name="Rectangle 146"/>
            <p:cNvSpPr/>
            <p:nvPr/>
          </p:nvSpPr>
          <p:spPr>
            <a:xfrm>
              <a:off x="31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60" name="Line 147"/>
            <p:cNvSpPr/>
            <p:nvPr/>
          </p:nvSpPr>
          <p:spPr>
            <a:xfrm>
              <a:off x="3198" y="1699"/>
              <a:ext cx="15" cy="1"/>
            </a:xfrm>
            <a:prstGeom prst="line">
              <a:avLst/>
            </a:prstGeom>
            <a:ln w="0" cap="flat" cmpd="sng">
              <a:solidFill>
                <a:srgbClr val="000000"/>
              </a:solidFill>
              <a:prstDash val="solid"/>
              <a:headEnd type="none" w="med" len="med"/>
              <a:tailEnd type="none" w="med" len="med"/>
            </a:ln>
          </p:spPr>
        </p:sp>
        <p:sp>
          <p:nvSpPr>
            <p:cNvPr id="150561" name="Line 148"/>
            <p:cNvSpPr/>
            <p:nvPr/>
          </p:nvSpPr>
          <p:spPr>
            <a:xfrm>
              <a:off x="3198" y="1699"/>
              <a:ext cx="1" cy="15"/>
            </a:xfrm>
            <a:prstGeom prst="line">
              <a:avLst/>
            </a:prstGeom>
            <a:ln w="0" cap="flat" cmpd="sng">
              <a:solidFill>
                <a:srgbClr val="000000"/>
              </a:solidFill>
              <a:prstDash val="solid"/>
              <a:headEnd type="none" w="med" len="med"/>
              <a:tailEnd type="none" w="med" len="med"/>
            </a:ln>
          </p:spPr>
        </p:sp>
        <p:sp>
          <p:nvSpPr>
            <p:cNvPr id="150562" name="Rectangle 149"/>
            <p:cNvSpPr/>
            <p:nvPr/>
          </p:nvSpPr>
          <p:spPr>
            <a:xfrm>
              <a:off x="3213" y="1699"/>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63" name="Line 150"/>
            <p:cNvSpPr/>
            <p:nvPr/>
          </p:nvSpPr>
          <p:spPr>
            <a:xfrm>
              <a:off x="3213" y="1699"/>
              <a:ext cx="382" cy="1"/>
            </a:xfrm>
            <a:prstGeom prst="line">
              <a:avLst/>
            </a:prstGeom>
            <a:ln w="0" cap="flat" cmpd="sng">
              <a:solidFill>
                <a:srgbClr val="000000"/>
              </a:solidFill>
              <a:prstDash val="solid"/>
              <a:headEnd type="none" w="med" len="med"/>
              <a:tailEnd type="none" w="med" len="med"/>
            </a:ln>
          </p:spPr>
        </p:sp>
        <p:sp>
          <p:nvSpPr>
            <p:cNvPr id="150564" name="Rectangle 151"/>
            <p:cNvSpPr/>
            <p:nvPr/>
          </p:nvSpPr>
          <p:spPr>
            <a:xfrm>
              <a:off x="3595"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65" name="Line 152"/>
            <p:cNvSpPr/>
            <p:nvPr/>
          </p:nvSpPr>
          <p:spPr>
            <a:xfrm>
              <a:off x="3595" y="1699"/>
              <a:ext cx="15" cy="1"/>
            </a:xfrm>
            <a:prstGeom prst="line">
              <a:avLst/>
            </a:prstGeom>
            <a:ln w="0" cap="flat" cmpd="sng">
              <a:solidFill>
                <a:srgbClr val="000000"/>
              </a:solidFill>
              <a:prstDash val="solid"/>
              <a:headEnd type="none" w="med" len="med"/>
              <a:tailEnd type="none" w="med" len="med"/>
            </a:ln>
          </p:spPr>
        </p:sp>
        <p:sp>
          <p:nvSpPr>
            <p:cNvPr id="150566" name="Line 153"/>
            <p:cNvSpPr/>
            <p:nvPr/>
          </p:nvSpPr>
          <p:spPr>
            <a:xfrm>
              <a:off x="3595" y="1699"/>
              <a:ext cx="1" cy="15"/>
            </a:xfrm>
            <a:prstGeom prst="line">
              <a:avLst/>
            </a:prstGeom>
            <a:ln w="0" cap="flat" cmpd="sng">
              <a:solidFill>
                <a:srgbClr val="000000"/>
              </a:solidFill>
              <a:prstDash val="solid"/>
              <a:headEnd type="none" w="med" len="med"/>
              <a:tailEnd type="none" w="med" len="med"/>
            </a:ln>
          </p:spPr>
        </p:sp>
        <p:sp>
          <p:nvSpPr>
            <p:cNvPr id="150567" name="Rectangle 154"/>
            <p:cNvSpPr/>
            <p:nvPr/>
          </p:nvSpPr>
          <p:spPr>
            <a:xfrm>
              <a:off x="3595"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68" name="Line 155"/>
            <p:cNvSpPr/>
            <p:nvPr/>
          </p:nvSpPr>
          <p:spPr>
            <a:xfrm>
              <a:off x="3595" y="1699"/>
              <a:ext cx="15" cy="1"/>
            </a:xfrm>
            <a:prstGeom prst="line">
              <a:avLst/>
            </a:prstGeom>
            <a:ln w="0" cap="flat" cmpd="sng">
              <a:solidFill>
                <a:srgbClr val="000000"/>
              </a:solidFill>
              <a:prstDash val="solid"/>
              <a:headEnd type="none" w="med" len="med"/>
              <a:tailEnd type="none" w="med" len="med"/>
            </a:ln>
          </p:spPr>
        </p:sp>
        <p:sp>
          <p:nvSpPr>
            <p:cNvPr id="150569" name="Line 156"/>
            <p:cNvSpPr/>
            <p:nvPr/>
          </p:nvSpPr>
          <p:spPr>
            <a:xfrm>
              <a:off x="3595" y="1699"/>
              <a:ext cx="1" cy="15"/>
            </a:xfrm>
            <a:prstGeom prst="line">
              <a:avLst/>
            </a:prstGeom>
            <a:ln w="0" cap="flat" cmpd="sng">
              <a:solidFill>
                <a:srgbClr val="000000"/>
              </a:solidFill>
              <a:prstDash val="solid"/>
              <a:headEnd type="none" w="med" len="med"/>
              <a:tailEnd type="none" w="med" len="med"/>
            </a:ln>
          </p:spPr>
        </p:sp>
        <p:sp>
          <p:nvSpPr>
            <p:cNvPr id="150570" name="Rectangle 157"/>
            <p:cNvSpPr/>
            <p:nvPr/>
          </p:nvSpPr>
          <p:spPr>
            <a:xfrm>
              <a:off x="3610" y="1486"/>
              <a:ext cx="9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571" name="Rectangle 158"/>
            <p:cNvSpPr/>
            <p:nvPr/>
          </p:nvSpPr>
          <p:spPr>
            <a:xfrm>
              <a:off x="4632" y="148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572" name="Rectangle 159"/>
            <p:cNvSpPr/>
            <p:nvPr/>
          </p:nvSpPr>
          <p:spPr>
            <a:xfrm>
              <a:off x="4723" y="1486"/>
              <a:ext cx="1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R2</a:t>
              </a:r>
              <a:endParaRPr lang="en-US" altLang="zh-CN" sz="2400" dirty="0">
                <a:solidFill>
                  <a:schemeClr val="tx1"/>
                </a:solidFill>
                <a:ea typeface="黑体" panose="02010609060101010101" pitchFamily="49" charset="-122"/>
              </a:endParaRPr>
            </a:p>
          </p:txBody>
        </p:sp>
        <p:sp>
          <p:nvSpPr>
            <p:cNvPr id="150573" name="Rectangle 160"/>
            <p:cNvSpPr/>
            <p:nvPr/>
          </p:nvSpPr>
          <p:spPr>
            <a:xfrm>
              <a:off x="4616" y="1440"/>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74" name="Line 161"/>
            <p:cNvSpPr/>
            <p:nvPr/>
          </p:nvSpPr>
          <p:spPr>
            <a:xfrm>
              <a:off x="4616" y="1440"/>
              <a:ext cx="16" cy="1"/>
            </a:xfrm>
            <a:prstGeom prst="line">
              <a:avLst/>
            </a:prstGeom>
            <a:ln w="0" cap="flat" cmpd="sng">
              <a:solidFill>
                <a:srgbClr val="000000"/>
              </a:solidFill>
              <a:prstDash val="solid"/>
              <a:headEnd type="none" w="med" len="med"/>
              <a:tailEnd type="none" w="med" len="med"/>
            </a:ln>
          </p:spPr>
        </p:sp>
        <p:sp>
          <p:nvSpPr>
            <p:cNvPr id="150575" name="Line 162"/>
            <p:cNvSpPr/>
            <p:nvPr/>
          </p:nvSpPr>
          <p:spPr>
            <a:xfrm>
              <a:off x="4616" y="1440"/>
              <a:ext cx="1" cy="15"/>
            </a:xfrm>
            <a:prstGeom prst="line">
              <a:avLst/>
            </a:prstGeom>
            <a:ln w="0" cap="flat" cmpd="sng">
              <a:solidFill>
                <a:srgbClr val="000000"/>
              </a:solidFill>
              <a:prstDash val="solid"/>
              <a:headEnd type="none" w="med" len="med"/>
              <a:tailEnd type="none" w="med" len="med"/>
            </a:ln>
          </p:spPr>
        </p:sp>
        <p:sp>
          <p:nvSpPr>
            <p:cNvPr id="150576" name="Rectangle 163"/>
            <p:cNvSpPr/>
            <p:nvPr/>
          </p:nvSpPr>
          <p:spPr>
            <a:xfrm>
              <a:off x="4616" y="1440"/>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77" name="Line 164"/>
            <p:cNvSpPr/>
            <p:nvPr/>
          </p:nvSpPr>
          <p:spPr>
            <a:xfrm>
              <a:off x="4616" y="1440"/>
              <a:ext cx="16" cy="1"/>
            </a:xfrm>
            <a:prstGeom prst="line">
              <a:avLst/>
            </a:prstGeom>
            <a:ln w="0" cap="flat" cmpd="sng">
              <a:solidFill>
                <a:srgbClr val="000000"/>
              </a:solidFill>
              <a:prstDash val="solid"/>
              <a:headEnd type="none" w="med" len="med"/>
              <a:tailEnd type="none" w="med" len="med"/>
            </a:ln>
          </p:spPr>
        </p:sp>
        <p:sp>
          <p:nvSpPr>
            <p:cNvPr id="150578" name="Line 165"/>
            <p:cNvSpPr/>
            <p:nvPr/>
          </p:nvSpPr>
          <p:spPr>
            <a:xfrm>
              <a:off x="4616" y="1440"/>
              <a:ext cx="1" cy="15"/>
            </a:xfrm>
            <a:prstGeom prst="line">
              <a:avLst/>
            </a:prstGeom>
            <a:ln w="0" cap="flat" cmpd="sng">
              <a:solidFill>
                <a:srgbClr val="000000"/>
              </a:solidFill>
              <a:prstDash val="solid"/>
              <a:headEnd type="none" w="med" len="med"/>
              <a:tailEnd type="none" w="med" len="med"/>
            </a:ln>
          </p:spPr>
        </p:sp>
        <p:sp>
          <p:nvSpPr>
            <p:cNvPr id="150579" name="Rectangle 166"/>
            <p:cNvSpPr/>
            <p:nvPr/>
          </p:nvSpPr>
          <p:spPr>
            <a:xfrm>
              <a:off x="4632" y="1440"/>
              <a:ext cx="36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80" name="Line 167"/>
            <p:cNvSpPr/>
            <p:nvPr/>
          </p:nvSpPr>
          <p:spPr>
            <a:xfrm>
              <a:off x="4632" y="1440"/>
              <a:ext cx="366" cy="1"/>
            </a:xfrm>
            <a:prstGeom prst="line">
              <a:avLst/>
            </a:prstGeom>
            <a:ln w="0" cap="flat" cmpd="sng">
              <a:solidFill>
                <a:srgbClr val="000000"/>
              </a:solidFill>
              <a:prstDash val="solid"/>
              <a:headEnd type="none" w="med" len="med"/>
              <a:tailEnd type="none" w="med" len="med"/>
            </a:ln>
          </p:spPr>
        </p:sp>
        <p:sp>
          <p:nvSpPr>
            <p:cNvPr id="150581" name="Rectangle 168"/>
            <p:cNvSpPr/>
            <p:nvPr/>
          </p:nvSpPr>
          <p:spPr>
            <a:xfrm>
              <a:off x="49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82" name="Line 169"/>
            <p:cNvSpPr/>
            <p:nvPr/>
          </p:nvSpPr>
          <p:spPr>
            <a:xfrm>
              <a:off x="4998" y="1440"/>
              <a:ext cx="15" cy="1"/>
            </a:xfrm>
            <a:prstGeom prst="line">
              <a:avLst/>
            </a:prstGeom>
            <a:ln w="0" cap="flat" cmpd="sng">
              <a:solidFill>
                <a:srgbClr val="000000"/>
              </a:solidFill>
              <a:prstDash val="solid"/>
              <a:headEnd type="none" w="med" len="med"/>
              <a:tailEnd type="none" w="med" len="med"/>
            </a:ln>
          </p:spPr>
        </p:sp>
        <p:sp>
          <p:nvSpPr>
            <p:cNvPr id="150583" name="Line 170"/>
            <p:cNvSpPr/>
            <p:nvPr/>
          </p:nvSpPr>
          <p:spPr>
            <a:xfrm>
              <a:off x="4998" y="1440"/>
              <a:ext cx="1" cy="15"/>
            </a:xfrm>
            <a:prstGeom prst="line">
              <a:avLst/>
            </a:prstGeom>
            <a:ln w="0" cap="flat" cmpd="sng">
              <a:solidFill>
                <a:srgbClr val="000000"/>
              </a:solidFill>
              <a:prstDash val="solid"/>
              <a:headEnd type="none" w="med" len="med"/>
              <a:tailEnd type="none" w="med" len="med"/>
            </a:ln>
          </p:spPr>
        </p:sp>
        <p:sp>
          <p:nvSpPr>
            <p:cNvPr id="150584" name="Rectangle 171"/>
            <p:cNvSpPr/>
            <p:nvPr/>
          </p:nvSpPr>
          <p:spPr>
            <a:xfrm>
              <a:off x="49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85" name="Line 172"/>
            <p:cNvSpPr/>
            <p:nvPr/>
          </p:nvSpPr>
          <p:spPr>
            <a:xfrm>
              <a:off x="4998" y="1440"/>
              <a:ext cx="15" cy="1"/>
            </a:xfrm>
            <a:prstGeom prst="line">
              <a:avLst/>
            </a:prstGeom>
            <a:ln w="0" cap="flat" cmpd="sng">
              <a:solidFill>
                <a:srgbClr val="000000"/>
              </a:solidFill>
              <a:prstDash val="solid"/>
              <a:headEnd type="none" w="med" len="med"/>
              <a:tailEnd type="none" w="med" len="med"/>
            </a:ln>
          </p:spPr>
        </p:sp>
        <p:sp>
          <p:nvSpPr>
            <p:cNvPr id="150586" name="Line 173"/>
            <p:cNvSpPr/>
            <p:nvPr/>
          </p:nvSpPr>
          <p:spPr>
            <a:xfrm>
              <a:off x="4998" y="1440"/>
              <a:ext cx="1" cy="15"/>
            </a:xfrm>
            <a:prstGeom prst="line">
              <a:avLst/>
            </a:prstGeom>
            <a:ln w="0" cap="flat" cmpd="sng">
              <a:solidFill>
                <a:srgbClr val="000000"/>
              </a:solidFill>
              <a:prstDash val="solid"/>
              <a:headEnd type="none" w="med" len="med"/>
              <a:tailEnd type="none" w="med" len="med"/>
            </a:ln>
          </p:spPr>
        </p:sp>
        <p:sp>
          <p:nvSpPr>
            <p:cNvPr id="150587" name="Rectangle 174"/>
            <p:cNvSpPr/>
            <p:nvPr/>
          </p:nvSpPr>
          <p:spPr>
            <a:xfrm>
              <a:off x="4616" y="1455"/>
              <a:ext cx="16"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88" name="Line 175"/>
            <p:cNvSpPr/>
            <p:nvPr/>
          </p:nvSpPr>
          <p:spPr>
            <a:xfrm>
              <a:off x="4616" y="1455"/>
              <a:ext cx="1" cy="244"/>
            </a:xfrm>
            <a:prstGeom prst="line">
              <a:avLst/>
            </a:prstGeom>
            <a:ln w="0" cap="flat" cmpd="sng">
              <a:solidFill>
                <a:srgbClr val="000000"/>
              </a:solidFill>
              <a:prstDash val="solid"/>
              <a:headEnd type="none" w="med" len="med"/>
              <a:tailEnd type="none" w="med" len="med"/>
            </a:ln>
          </p:spPr>
        </p:sp>
        <p:sp>
          <p:nvSpPr>
            <p:cNvPr id="150589" name="Rectangle 176"/>
            <p:cNvSpPr/>
            <p:nvPr/>
          </p:nvSpPr>
          <p:spPr>
            <a:xfrm>
              <a:off x="4998" y="145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90" name="Line 177"/>
            <p:cNvSpPr/>
            <p:nvPr/>
          </p:nvSpPr>
          <p:spPr>
            <a:xfrm>
              <a:off x="4998" y="1455"/>
              <a:ext cx="1" cy="244"/>
            </a:xfrm>
            <a:prstGeom prst="line">
              <a:avLst/>
            </a:prstGeom>
            <a:ln w="0" cap="flat" cmpd="sng">
              <a:solidFill>
                <a:srgbClr val="000000"/>
              </a:solidFill>
              <a:prstDash val="solid"/>
              <a:headEnd type="none" w="med" len="med"/>
              <a:tailEnd type="none" w="med" len="med"/>
            </a:ln>
          </p:spPr>
        </p:sp>
        <p:sp>
          <p:nvSpPr>
            <p:cNvPr id="150591" name="Rectangle 178"/>
            <p:cNvSpPr/>
            <p:nvPr/>
          </p:nvSpPr>
          <p:spPr>
            <a:xfrm>
              <a:off x="4616" y="1699"/>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92" name="Line 179"/>
            <p:cNvSpPr/>
            <p:nvPr/>
          </p:nvSpPr>
          <p:spPr>
            <a:xfrm>
              <a:off x="4616" y="1699"/>
              <a:ext cx="16" cy="1"/>
            </a:xfrm>
            <a:prstGeom prst="line">
              <a:avLst/>
            </a:prstGeom>
            <a:ln w="0" cap="flat" cmpd="sng">
              <a:solidFill>
                <a:srgbClr val="000000"/>
              </a:solidFill>
              <a:prstDash val="solid"/>
              <a:headEnd type="none" w="med" len="med"/>
              <a:tailEnd type="none" w="med" len="med"/>
            </a:ln>
          </p:spPr>
        </p:sp>
        <p:sp>
          <p:nvSpPr>
            <p:cNvPr id="150593" name="Line 180"/>
            <p:cNvSpPr/>
            <p:nvPr/>
          </p:nvSpPr>
          <p:spPr>
            <a:xfrm>
              <a:off x="4616" y="1699"/>
              <a:ext cx="1" cy="15"/>
            </a:xfrm>
            <a:prstGeom prst="line">
              <a:avLst/>
            </a:prstGeom>
            <a:ln w="0" cap="flat" cmpd="sng">
              <a:solidFill>
                <a:srgbClr val="000000"/>
              </a:solidFill>
              <a:prstDash val="solid"/>
              <a:headEnd type="none" w="med" len="med"/>
              <a:tailEnd type="none" w="med" len="med"/>
            </a:ln>
          </p:spPr>
        </p:sp>
        <p:sp>
          <p:nvSpPr>
            <p:cNvPr id="150594" name="Rectangle 181"/>
            <p:cNvSpPr/>
            <p:nvPr/>
          </p:nvSpPr>
          <p:spPr>
            <a:xfrm>
              <a:off x="4616" y="1699"/>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95" name="Line 182"/>
            <p:cNvSpPr/>
            <p:nvPr/>
          </p:nvSpPr>
          <p:spPr>
            <a:xfrm>
              <a:off x="4616" y="1699"/>
              <a:ext cx="16" cy="1"/>
            </a:xfrm>
            <a:prstGeom prst="line">
              <a:avLst/>
            </a:prstGeom>
            <a:ln w="0" cap="flat" cmpd="sng">
              <a:solidFill>
                <a:srgbClr val="000000"/>
              </a:solidFill>
              <a:prstDash val="solid"/>
              <a:headEnd type="none" w="med" len="med"/>
              <a:tailEnd type="none" w="med" len="med"/>
            </a:ln>
          </p:spPr>
        </p:sp>
        <p:sp>
          <p:nvSpPr>
            <p:cNvPr id="150596" name="Line 183"/>
            <p:cNvSpPr/>
            <p:nvPr/>
          </p:nvSpPr>
          <p:spPr>
            <a:xfrm>
              <a:off x="4616" y="1699"/>
              <a:ext cx="1" cy="15"/>
            </a:xfrm>
            <a:prstGeom prst="line">
              <a:avLst/>
            </a:prstGeom>
            <a:ln w="0" cap="flat" cmpd="sng">
              <a:solidFill>
                <a:srgbClr val="000000"/>
              </a:solidFill>
              <a:prstDash val="solid"/>
              <a:headEnd type="none" w="med" len="med"/>
              <a:tailEnd type="none" w="med" len="med"/>
            </a:ln>
          </p:spPr>
        </p:sp>
        <p:sp>
          <p:nvSpPr>
            <p:cNvPr id="150597" name="Rectangle 184"/>
            <p:cNvSpPr/>
            <p:nvPr/>
          </p:nvSpPr>
          <p:spPr>
            <a:xfrm>
              <a:off x="4632" y="1699"/>
              <a:ext cx="36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598" name="Line 185"/>
            <p:cNvSpPr/>
            <p:nvPr/>
          </p:nvSpPr>
          <p:spPr>
            <a:xfrm>
              <a:off x="4632" y="1699"/>
              <a:ext cx="366" cy="1"/>
            </a:xfrm>
            <a:prstGeom prst="line">
              <a:avLst/>
            </a:prstGeom>
            <a:ln w="0" cap="flat" cmpd="sng">
              <a:solidFill>
                <a:srgbClr val="000000"/>
              </a:solidFill>
              <a:prstDash val="solid"/>
              <a:headEnd type="none" w="med" len="med"/>
              <a:tailEnd type="none" w="med" len="med"/>
            </a:ln>
          </p:spPr>
        </p:sp>
        <p:sp>
          <p:nvSpPr>
            <p:cNvPr id="150599" name="Rectangle 186"/>
            <p:cNvSpPr/>
            <p:nvPr/>
          </p:nvSpPr>
          <p:spPr>
            <a:xfrm>
              <a:off x="49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00" name="Line 187"/>
            <p:cNvSpPr/>
            <p:nvPr/>
          </p:nvSpPr>
          <p:spPr>
            <a:xfrm>
              <a:off x="4998" y="1699"/>
              <a:ext cx="15" cy="1"/>
            </a:xfrm>
            <a:prstGeom prst="line">
              <a:avLst/>
            </a:prstGeom>
            <a:ln w="0" cap="flat" cmpd="sng">
              <a:solidFill>
                <a:srgbClr val="000000"/>
              </a:solidFill>
              <a:prstDash val="solid"/>
              <a:headEnd type="none" w="med" len="med"/>
              <a:tailEnd type="none" w="med" len="med"/>
            </a:ln>
          </p:spPr>
        </p:sp>
        <p:sp>
          <p:nvSpPr>
            <p:cNvPr id="150601" name="Line 188"/>
            <p:cNvSpPr/>
            <p:nvPr/>
          </p:nvSpPr>
          <p:spPr>
            <a:xfrm>
              <a:off x="4998" y="1699"/>
              <a:ext cx="1" cy="15"/>
            </a:xfrm>
            <a:prstGeom prst="line">
              <a:avLst/>
            </a:prstGeom>
            <a:ln w="0" cap="flat" cmpd="sng">
              <a:solidFill>
                <a:srgbClr val="000000"/>
              </a:solidFill>
              <a:prstDash val="solid"/>
              <a:headEnd type="none" w="med" len="med"/>
              <a:tailEnd type="none" w="med" len="med"/>
            </a:ln>
          </p:spPr>
        </p:sp>
        <p:sp>
          <p:nvSpPr>
            <p:cNvPr id="150602" name="Rectangle 189"/>
            <p:cNvSpPr/>
            <p:nvPr/>
          </p:nvSpPr>
          <p:spPr>
            <a:xfrm>
              <a:off x="49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03" name="Line 190"/>
            <p:cNvSpPr/>
            <p:nvPr/>
          </p:nvSpPr>
          <p:spPr>
            <a:xfrm>
              <a:off x="4998" y="1699"/>
              <a:ext cx="15" cy="1"/>
            </a:xfrm>
            <a:prstGeom prst="line">
              <a:avLst/>
            </a:prstGeom>
            <a:ln w="0" cap="flat" cmpd="sng">
              <a:solidFill>
                <a:srgbClr val="000000"/>
              </a:solidFill>
              <a:prstDash val="solid"/>
              <a:headEnd type="none" w="med" len="med"/>
              <a:tailEnd type="none" w="med" len="med"/>
            </a:ln>
          </p:spPr>
        </p:sp>
        <p:sp>
          <p:nvSpPr>
            <p:cNvPr id="150604" name="Line 191"/>
            <p:cNvSpPr/>
            <p:nvPr/>
          </p:nvSpPr>
          <p:spPr>
            <a:xfrm>
              <a:off x="4998" y="1699"/>
              <a:ext cx="1" cy="15"/>
            </a:xfrm>
            <a:prstGeom prst="line">
              <a:avLst/>
            </a:prstGeom>
            <a:ln w="0" cap="flat" cmpd="sng">
              <a:solidFill>
                <a:srgbClr val="000000"/>
              </a:solidFill>
              <a:prstDash val="solid"/>
              <a:headEnd type="none" w="med" len="med"/>
              <a:tailEnd type="none" w="med" len="med"/>
            </a:ln>
          </p:spPr>
        </p:sp>
        <p:sp>
          <p:nvSpPr>
            <p:cNvPr id="150605" name="Rectangle 192"/>
            <p:cNvSpPr/>
            <p:nvPr/>
          </p:nvSpPr>
          <p:spPr>
            <a:xfrm>
              <a:off x="2832" y="1821"/>
              <a:ext cx="225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L3</a:t>
              </a:r>
              <a:endParaRPr lang="en-US" altLang="zh-CN" sz="2400" dirty="0">
                <a:solidFill>
                  <a:schemeClr val="tx1"/>
                </a:solidFill>
                <a:ea typeface="黑体" panose="02010609060101010101" pitchFamily="49" charset="-122"/>
              </a:endParaRPr>
            </a:p>
          </p:txBody>
        </p:sp>
        <p:sp>
          <p:nvSpPr>
            <p:cNvPr id="150606" name="Rectangle 193"/>
            <p:cNvSpPr/>
            <p:nvPr/>
          </p:nvSpPr>
          <p:spPr>
            <a:xfrm>
              <a:off x="2851" y="2215"/>
              <a:ext cx="180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L1    L2         </a:t>
              </a:r>
              <a:endParaRPr lang="en-US" altLang="zh-CN" sz="2400" dirty="0">
                <a:solidFill>
                  <a:schemeClr val="tx1"/>
                </a:solidFill>
                <a:ea typeface="黑体" panose="02010609060101010101" pitchFamily="49" charset="-122"/>
              </a:endParaRPr>
            </a:p>
          </p:txBody>
        </p:sp>
        <p:sp>
          <p:nvSpPr>
            <p:cNvPr id="150607" name="Rectangle 194"/>
            <p:cNvSpPr/>
            <p:nvPr/>
          </p:nvSpPr>
          <p:spPr>
            <a:xfrm>
              <a:off x="4677" y="212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608" name="Rectangle 195"/>
            <p:cNvSpPr/>
            <p:nvPr/>
          </p:nvSpPr>
          <p:spPr>
            <a:xfrm>
              <a:off x="4784" y="2126"/>
              <a:ext cx="1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R3</a:t>
              </a:r>
              <a:endParaRPr lang="en-US" altLang="zh-CN" sz="2400" dirty="0">
                <a:solidFill>
                  <a:schemeClr val="tx1"/>
                </a:solidFill>
                <a:ea typeface="黑体" panose="02010609060101010101" pitchFamily="49" charset="-122"/>
              </a:endParaRPr>
            </a:p>
          </p:txBody>
        </p:sp>
        <p:sp>
          <p:nvSpPr>
            <p:cNvPr id="150609" name="Rectangle 196"/>
            <p:cNvSpPr/>
            <p:nvPr/>
          </p:nvSpPr>
          <p:spPr>
            <a:xfrm>
              <a:off x="4662"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10" name="Line 197"/>
            <p:cNvSpPr/>
            <p:nvPr/>
          </p:nvSpPr>
          <p:spPr>
            <a:xfrm>
              <a:off x="4662" y="2080"/>
              <a:ext cx="15" cy="1"/>
            </a:xfrm>
            <a:prstGeom prst="line">
              <a:avLst/>
            </a:prstGeom>
            <a:ln w="0" cap="flat" cmpd="sng">
              <a:solidFill>
                <a:srgbClr val="000000"/>
              </a:solidFill>
              <a:prstDash val="solid"/>
              <a:headEnd type="none" w="med" len="med"/>
              <a:tailEnd type="none" w="med" len="med"/>
            </a:ln>
          </p:spPr>
        </p:sp>
        <p:sp>
          <p:nvSpPr>
            <p:cNvPr id="150611" name="Line 198"/>
            <p:cNvSpPr/>
            <p:nvPr/>
          </p:nvSpPr>
          <p:spPr>
            <a:xfrm>
              <a:off x="4662" y="2080"/>
              <a:ext cx="1" cy="15"/>
            </a:xfrm>
            <a:prstGeom prst="line">
              <a:avLst/>
            </a:prstGeom>
            <a:ln w="0" cap="flat" cmpd="sng">
              <a:solidFill>
                <a:srgbClr val="000000"/>
              </a:solidFill>
              <a:prstDash val="solid"/>
              <a:headEnd type="none" w="med" len="med"/>
              <a:tailEnd type="none" w="med" len="med"/>
            </a:ln>
          </p:spPr>
        </p:sp>
        <p:sp>
          <p:nvSpPr>
            <p:cNvPr id="150612" name="Rectangle 199"/>
            <p:cNvSpPr/>
            <p:nvPr/>
          </p:nvSpPr>
          <p:spPr>
            <a:xfrm>
              <a:off x="4662"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13" name="Line 200"/>
            <p:cNvSpPr/>
            <p:nvPr/>
          </p:nvSpPr>
          <p:spPr>
            <a:xfrm>
              <a:off x="4662" y="2080"/>
              <a:ext cx="15" cy="1"/>
            </a:xfrm>
            <a:prstGeom prst="line">
              <a:avLst/>
            </a:prstGeom>
            <a:ln w="0" cap="flat" cmpd="sng">
              <a:solidFill>
                <a:srgbClr val="000000"/>
              </a:solidFill>
              <a:prstDash val="solid"/>
              <a:headEnd type="none" w="med" len="med"/>
              <a:tailEnd type="none" w="med" len="med"/>
            </a:ln>
          </p:spPr>
        </p:sp>
        <p:sp>
          <p:nvSpPr>
            <p:cNvPr id="150614" name="Line 201"/>
            <p:cNvSpPr/>
            <p:nvPr/>
          </p:nvSpPr>
          <p:spPr>
            <a:xfrm>
              <a:off x="4662" y="2080"/>
              <a:ext cx="1" cy="15"/>
            </a:xfrm>
            <a:prstGeom prst="line">
              <a:avLst/>
            </a:prstGeom>
            <a:ln w="0" cap="flat" cmpd="sng">
              <a:solidFill>
                <a:srgbClr val="000000"/>
              </a:solidFill>
              <a:prstDash val="solid"/>
              <a:headEnd type="none" w="med" len="med"/>
              <a:tailEnd type="none" w="med" len="med"/>
            </a:ln>
          </p:spPr>
        </p:sp>
        <p:sp>
          <p:nvSpPr>
            <p:cNvPr id="150615" name="Rectangle 202"/>
            <p:cNvSpPr/>
            <p:nvPr/>
          </p:nvSpPr>
          <p:spPr>
            <a:xfrm>
              <a:off x="4677" y="2080"/>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16" name="Line 203"/>
            <p:cNvSpPr/>
            <p:nvPr/>
          </p:nvSpPr>
          <p:spPr>
            <a:xfrm>
              <a:off x="4677" y="2080"/>
              <a:ext cx="382" cy="1"/>
            </a:xfrm>
            <a:prstGeom prst="line">
              <a:avLst/>
            </a:prstGeom>
            <a:ln w="0" cap="flat" cmpd="sng">
              <a:solidFill>
                <a:srgbClr val="000000"/>
              </a:solidFill>
              <a:prstDash val="solid"/>
              <a:headEnd type="none" w="med" len="med"/>
              <a:tailEnd type="none" w="med" len="med"/>
            </a:ln>
          </p:spPr>
        </p:sp>
        <p:sp>
          <p:nvSpPr>
            <p:cNvPr id="150617" name="Rectangle 204"/>
            <p:cNvSpPr/>
            <p:nvPr/>
          </p:nvSpPr>
          <p:spPr>
            <a:xfrm>
              <a:off x="5059"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18" name="Line 205"/>
            <p:cNvSpPr/>
            <p:nvPr/>
          </p:nvSpPr>
          <p:spPr>
            <a:xfrm>
              <a:off x="5059" y="2080"/>
              <a:ext cx="15" cy="1"/>
            </a:xfrm>
            <a:prstGeom prst="line">
              <a:avLst/>
            </a:prstGeom>
            <a:ln w="0" cap="flat" cmpd="sng">
              <a:solidFill>
                <a:srgbClr val="000000"/>
              </a:solidFill>
              <a:prstDash val="solid"/>
              <a:headEnd type="none" w="med" len="med"/>
              <a:tailEnd type="none" w="med" len="med"/>
            </a:ln>
          </p:spPr>
        </p:sp>
        <p:sp>
          <p:nvSpPr>
            <p:cNvPr id="150619" name="Line 206"/>
            <p:cNvSpPr/>
            <p:nvPr/>
          </p:nvSpPr>
          <p:spPr>
            <a:xfrm>
              <a:off x="5059" y="2080"/>
              <a:ext cx="1" cy="15"/>
            </a:xfrm>
            <a:prstGeom prst="line">
              <a:avLst/>
            </a:prstGeom>
            <a:ln w="0" cap="flat" cmpd="sng">
              <a:solidFill>
                <a:srgbClr val="000000"/>
              </a:solidFill>
              <a:prstDash val="solid"/>
              <a:headEnd type="none" w="med" len="med"/>
              <a:tailEnd type="none" w="med" len="med"/>
            </a:ln>
          </p:spPr>
        </p:sp>
        <p:sp>
          <p:nvSpPr>
            <p:cNvPr id="150620" name="Rectangle 207"/>
            <p:cNvSpPr/>
            <p:nvPr/>
          </p:nvSpPr>
          <p:spPr>
            <a:xfrm>
              <a:off x="5059"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21" name="Line 208"/>
            <p:cNvSpPr/>
            <p:nvPr/>
          </p:nvSpPr>
          <p:spPr>
            <a:xfrm>
              <a:off x="5059" y="2080"/>
              <a:ext cx="15" cy="1"/>
            </a:xfrm>
            <a:prstGeom prst="line">
              <a:avLst/>
            </a:prstGeom>
            <a:ln w="0" cap="flat" cmpd="sng">
              <a:solidFill>
                <a:srgbClr val="000000"/>
              </a:solidFill>
              <a:prstDash val="solid"/>
              <a:headEnd type="none" w="med" len="med"/>
              <a:tailEnd type="none" w="med" len="med"/>
            </a:ln>
          </p:spPr>
        </p:sp>
        <p:sp>
          <p:nvSpPr>
            <p:cNvPr id="150622" name="Line 209"/>
            <p:cNvSpPr/>
            <p:nvPr/>
          </p:nvSpPr>
          <p:spPr>
            <a:xfrm>
              <a:off x="5059" y="2080"/>
              <a:ext cx="1" cy="15"/>
            </a:xfrm>
            <a:prstGeom prst="line">
              <a:avLst/>
            </a:prstGeom>
            <a:ln w="0" cap="flat" cmpd="sng">
              <a:solidFill>
                <a:srgbClr val="000000"/>
              </a:solidFill>
              <a:prstDash val="solid"/>
              <a:headEnd type="none" w="med" len="med"/>
              <a:tailEnd type="none" w="med" len="med"/>
            </a:ln>
          </p:spPr>
        </p:sp>
        <p:sp>
          <p:nvSpPr>
            <p:cNvPr id="150623" name="Rectangle 210"/>
            <p:cNvSpPr/>
            <p:nvPr/>
          </p:nvSpPr>
          <p:spPr>
            <a:xfrm>
              <a:off x="4662" y="209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24" name="Line 211"/>
            <p:cNvSpPr/>
            <p:nvPr/>
          </p:nvSpPr>
          <p:spPr>
            <a:xfrm>
              <a:off x="4662" y="2095"/>
              <a:ext cx="1" cy="244"/>
            </a:xfrm>
            <a:prstGeom prst="line">
              <a:avLst/>
            </a:prstGeom>
            <a:ln w="0" cap="flat" cmpd="sng">
              <a:solidFill>
                <a:srgbClr val="000000"/>
              </a:solidFill>
              <a:prstDash val="solid"/>
              <a:headEnd type="none" w="med" len="med"/>
              <a:tailEnd type="none" w="med" len="med"/>
            </a:ln>
          </p:spPr>
        </p:sp>
        <p:sp>
          <p:nvSpPr>
            <p:cNvPr id="150625" name="Rectangle 212"/>
            <p:cNvSpPr/>
            <p:nvPr/>
          </p:nvSpPr>
          <p:spPr>
            <a:xfrm>
              <a:off x="5059" y="209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26" name="Line 213"/>
            <p:cNvSpPr/>
            <p:nvPr/>
          </p:nvSpPr>
          <p:spPr>
            <a:xfrm>
              <a:off x="5059" y="2095"/>
              <a:ext cx="1" cy="244"/>
            </a:xfrm>
            <a:prstGeom prst="line">
              <a:avLst/>
            </a:prstGeom>
            <a:ln w="0" cap="flat" cmpd="sng">
              <a:solidFill>
                <a:srgbClr val="000000"/>
              </a:solidFill>
              <a:prstDash val="solid"/>
              <a:headEnd type="none" w="med" len="med"/>
              <a:tailEnd type="none" w="med" len="med"/>
            </a:ln>
          </p:spPr>
        </p:sp>
        <p:sp>
          <p:nvSpPr>
            <p:cNvPr id="150627" name="Rectangle 214"/>
            <p:cNvSpPr/>
            <p:nvPr/>
          </p:nvSpPr>
          <p:spPr>
            <a:xfrm>
              <a:off x="4662"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28" name="Line 215"/>
            <p:cNvSpPr/>
            <p:nvPr/>
          </p:nvSpPr>
          <p:spPr>
            <a:xfrm>
              <a:off x="4662" y="2339"/>
              <a:ext cx="15" cy="1"/>
            </a:xfrm>
            <a:prstGeom prst="line">
              <a:avLst/>
            </a:prstGeom>
            <a:ln w="0" cap="flat" cmpd="sng">
              <a:solidFill>
                <a:srgbClr val="000000"/>
              </a:solidFill>
              <a:prstDash val="solid"/>
              <a:headEnd type="none" w="med" len="med"/>
              <a:tailEnd type="none" w="med" len="med"/>
            </a:ln>
          </p:spPr>
        </p:sp>
        <p:sp>
          <p:nvSpPr>
            <p:cNvPr id="150629" name="Line 216"/>
            <p:cNvSpPr/>
            <p:nvPr/>
          </p:nvSpPr>
          <p:spPr>
            <a:xfrm>
              <a:off x="4662" y="2339"/>
              <a:ext cx="1" cy="16"/>
            </a:xfrm>
            <a:prstGeom prst="line">
              <a:avLst/>
            </a:prstGeom>
            <a:ln w="0" cap="flat" cmpd="sng">
              <a:solidFill>
                <a:srgbClr val="000000"/>
              </a:solidFill>
              <a:prstDash val="solid"/>
              <a:headEnd type="none" w="med" len="med"/>
              <a:tailEnd type="none" w="med" len="med"/>
            </a:ln>
          </p:spPr>
        </p:sp>
        <p:sp>
          <p:nvSpPr>
            <p:cNvPr id="150630" name="Rectangle 217"/>
            <p:cNvSpPr/>
            <p:nvPr/>
          </p:nvSpPr>
          <p:spPr>
            <a:xfrm>
              <a:off x="4662"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31" name="Line 218"/>
            <p:cNvSpPr/>
            <p:nvPr/>
          </p:nvSpPr>
          <p:spPr>
            <a:xfrm>
              <a:off x="4662" y="2339"/>
              <a:ext cx="15" cy="1"/>
            </a:xfrm>
            <a:prstGeom prst="line">
              <a:avLst/>
            </a:prstGeom>
            <a:ln w="0" cap="flat" cmpd="sng">
              <a:solidFill>
                <a:srgbClr val="000000"/>
              </a:solidFill>
              <a:prstDash val="solid"/>
              <a:headEnd type="none" w="med" len="med"/>
              <a:tailEnd type="none" w="med" len="med"/>
            </a:ln>
          </p:spPr>
        </p:sp>
        <p:sp>
          <p:nvSpPr>
            <p:cNvPr id="150632" name="Line 219"/>
            <p:cNvSpPr/>
            <p:nvPr/>
          </p:nvSpPr>
          <p:spPr>
            <a:xfrm>
              <a:off x="4662" y="2339"/>
              <a:ext cx="1" cy="16"/>
            </a:xfrm>
            <a:prstGeom prst="line">
              <a:avLst/>
            </a:prstGeom>
            <a:ln w="0" cap="flat" cmpd="sng">
              <a:solidFill>
                <a:srgbClr val="000000"/>
              </a:solidFill>
              <a:prstDash val="solid"/>
              <a:headEnd type="none" w="med" len="med"/>
              <a:tailEnd type="none" w="med" len="med"/>
            </a:ln>
          </p:spPr>
        </p:sp>
        <p:sp>
          <p:nvSpPr>
            <p:cNvPr id="150633" name="Rectangle 220"/>
            <p:cNvSpPr/>
            <p:nvPr/>
          </p:nvSpPr>
          <p:spPr>
            <a:xfrm>
              <a:off x="4677" y="2339"/>
              <a:ext cx="382"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34" name="Line 221"/>
            <p:cNvSpPr/>
            <p:nvPr/>
          </p:nvSpPr>
          <p:spPr>
            <a:xfrm>
              <a:off x="4677" y="2339"/>
              <a:ext cx="382" cy="1"/>
            </a:xfrm>
            <a:prstGeom prst="line">
              <a:avLst/>
            </a:prstGeom>
            <a:ln w="0" cap="flat" cmpd="sng">
              <a:solidFill>
                <a:srgbClr val="000000"/>
              </a:solidFill>
              <a:prstDash val="solid"/>
              <a:headEnd type="none" w="med" len="med"/>
              <a:tailEnd type="none" w="med" len="med"/>
            </a:ln>
          </p:spPr>
        </p:sp>
        <p:sp>
          <p:nvSpPr>
            <p:cNvPr id="150635" name="Rectangle 222"/>
            <p:cNvSpPr/>
            <p:nvPr/>
          </p:nvSpPr>
          <p:spPr>
            <a:xfrm>
              <a:off x="5059"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36" name="Line 223"/>
            <p:cNvSpPr/>
            <p:nvPr/>
          </p:nvSpPr>
          <p:spPr>
            <a:xfrm>
              <a:off x="5059" y="2339"/>
              <a:ext cx="15" cy="1"/>
            </a:xfrm>
            <a:prstGeom prst="line">
              <a:avLst/>
            </a:prstGeom>
            <a:ln w="0" cap="flat" cmpd="sng">
              <a:solidFill>
                <a:srgbClr val="000000"/>
              </a:solidFill>
              <a:prstDash val="solid"/>
              <a:headEnd type="none" w="med" len="med"/>
              <a:tailEnd type="none" w="med" len="med"/>
            </a:ln>
          </p:spPr>
        </p:sp>
        <p:sp>
          <p:nvSpPr>
            <p:cNvPr id="150637" name="Line 224"/>
            <p:cNvSpPr/>
            <p:nvPr/>
          </p:nvSpPr>
          <p:spPr>
            <a:xfrm>
              <a:off x="5059" y="2339"/>
              <a:ext cx="1" cy="16"/>
            </a:xfrm>
            <a:prstGeom prst="line">
              <a:avLst/>
            </a:prstGeom>
            <a:ln w="0" cap="flat" cmpd="sng">
              <a:solidFill>
                <a:srgbClr val="000000"/>
              </a:solidFill>
              <a:prstDash val="solid"/>
              <a:headEnd type="none" w="med" len="med"/>
              <a:tailEnd type="none" w="med" len="med"/>
            </a:ln>
          </p:spPr>
        </p:sp>
        <p:sp>
          <p:nvSpPr>
            <p:cNvPr id="150638" name="Rectangle 225"/>
            <p:cNvSpPr/>
            <p:nvPr/>
          </p:nvSpPr>
          <p:spPr>
            <a:xfrm>
              <a:off x="5059"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39" name="Line 226"/>
            <p:cNvSpPr/>
            <p:nvPr/>
          </p:nvSpPr>
          <p:spPr>
            <a:xfrm>
              <a:off x="5059" y="2339"/>
              <a:ext cx="15" cy="1"/>
            </a:xfrm>
            <a:prstGeom prst="line">
              <a:avLst/>
            </a:prstGeom>
            <a:ln w="0" cap="flat" cmpd="sng">
              <a:solidFill>
                <a:srgbClr val="000000"/>
              </a:solidFill>
              <a:prstDash val="solid"/>
              <a:headEnd type="none" w="med" len="med"/>
              <a:tailEnd type="none" w="med" len="med"/>
            </a:ln>
          </p:spPr>
        </p:sp>
        <p:sp>
          <p:nvSpPr>
            <p:cNvPr id="150640" name="Line 227"/>
            <p:cNvSpPr/>
            <p:nvPr/>
          </p:nvSpPr>
          <p:spPr>
            <a:xfrm>
              <a:off x="5059" y="2339"/>
              <a:ext cx="1" cy="16"/>
            </a:xfrm>
            <a:prstGeom prst="line">
              <a:avLst/>
            </a:prstGeom>
            <a:ln w="0" cap="flat" cmpd="sng">
              <a:solidFill>
                <a:srgbClr val="000000"/>
              </a:solidFill>
              <a:prstDash val="solid"/>
              <a:headEnd type="none" w="med" len="med"/>
              <a:tailEnd type="none" w="med" len="med"/>
            </a:ln>
          </p:spPr>
        </p:sp>
        <p:sp>
          <p:nvSpPr>
            <p:cNvPr id="150641" name="Rectangle 228"/>
            <p:cNvSpPr/>
            <p:nvPr/>
          </p:nvSpPr>
          <p:spPr>
            <a:xfrm>
              <a:off x="2832" y="2461"/>
              <a:ext cx="225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L4</a:t>
              </a:r>
              <a:endParaRPr lang="en-US" altLang="zh-CN" sz="2400" dirty="0">
                <a:solidFill>
                  <a:schemeClr val="tx1"/>
                </a:solidFill>
                <a:ea typeface="黑体" panose="02010609060101010101" pitchFamily="49" charset="-122"/>
              </a:endParaRPr>
            </a:p>
          </p:txBody>
        </p:sp>
        <p:sp>
          <p:nvSpPr>
            <p:cNvPr id="150642" name="Rectangle 229"/>
            <p:cNvSpPr/>
            <p:nvPr/>
          </p:nvSpPr>
          <p:spPr>
            <a:xfrm>
              <a:off x="2832" y="2766"/>
              <a:ext cx="36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643" name="Rectangle 230"/>
            <p:cNvSpPr/>
            <p:nvPr/>
          </p:nvSpPr>
          <p:spPr>
            <a:xfrm>
              <a:off x="3213" y="276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644" name="Rectangle 231"/>
            <p:cNvSpPr/>
            <p:nvPr/>
          </p:nvSpPr>
          <p:spPr>
            <a:xfrm>
              <a:off x="3320" y="2766"/>
              <a:ext cx="27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R4 </a:t>
              </a:r>
              <a:endParaRPr lang="en-US" altLang="zh-CN" sz="2400" dirty="0">
                <a:solidFill>
                  <a:schemeClr val="tx1"/>
                </a:solidFill>
                <a:ea typeface="黑体" panose="02010609060101010101" pitchFamily="49" charset="-122"/>
              </a:endParaRPr>
            </a:p>
          </p:txBody>
        </p:sp>
        <p:sp>
          <p:nvSpPr>
            <p:cNvPr id="150645" name="Rectangle 232"/>
            <p:cNvSpPr/>
            <p:nvPr/>
          </p:nvSpPr>
          <p:spPr>
            <a:xfrm>
              <a:off x="319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46" name="Line 233"/>
            <p:cNvSpPr/>
            <p:nvPr/>
          </p:nvSpPr>
          <p:spPr>
            <a:xfrm>
              <a:off x="3198" y="2720"/>
              <a:ext cx="15" cy="1"/>
            </a:xfrm>
            <a:prstGeom prst="line">
              <a:avLst/>
            </a:prstGeom>
            <a:ln w="0" cap="flat" cmpd="sng">
              <a:solidFill>
                <a:srgbClr val="000000"/>
              </a:solidFill>
              <a:prstDash val="solid"/>
              <a:headEnd type="none" w="med" len="med"/>
              <a:tailEnd type="none" w="med" len="med"/>
            </a:ln>
          </p:spPr>
        </p:sp>
        <p:sp>
          <p:nvSpPr>
            <p:cNvPr id="150647" name="Line 234"/>
            <p:cNvSpPr/>
            <p:nvPr/>
          </p:nvSpPr>
          <p:spPr>
            <a:xfrm>
              <a:off x="3198" y="2720"/>
              <a:ext cx="1" cy="16"/>
            </a:xfrm>
            <a:prstGeom prst="line">
              <a:avLst/>
            </a:prstGeom>
            <a:ln w="0" cap="flat" cmpd="sng">
              <a:solidFill>
                <a:srgbClr val="000000"/>
              </a:solidFill>
              <a:prstDash val="solid"/>
              <a:headEnd type="none" w="med" len="med"/>
              <a:tailEnd type="none" w="med" len="med"/>
            </a:ln>
          </p:spPr>
        </p:sp>
        <p:sp>
          <p:nvSpPr>
            <p:cNvPr id="150648" name="Rectangle 235"/>
            <p:cNvSpPr/>
            <p:nvPr/>
          </p:nvSpPr>
          <p:spPr>
            <a:xfrm>
              <a:off x="319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49" name="Line 236"/>
            <p:cNvSpPr/>
            <p:nvPr/>
          </p:nvSpPr>
          <p:spPr>
            <a:xfrm>
              <a:off x="3198" y="2720"/>
              <a:ext cx="15" cy="1"/>
            </a:xfrm>
            <a:prstGeom prst="line">
              <a:avLst/>
            </a:prstGeom>
            <a:ln w="0" cap="flat" cmpd="sng">
              <a:solidFill>
                <a:srgbClr val="000000"/>
              </a:solidFill>
              <a:prstDash val="solid"/>
              <a:headEnd type="none" w="med" len="med"/>
              <a:tailEnd type="none" w="med" len="med"/>
            </a:ln>
          </p:spPr>
        </p:sp>
        <p:sp>
          <p:nvSpPr>
            <p:cNvPr id="150650" name="Line 237"/>
            <p:cNvSpPr/>
            <p:nvPr/>
          </p:nvSpPr>
          <p:spPr>
            <a:xfrm>
              <a:off x="3198" y="2720"/>
              <a:ext cx="1" cy="16"/>
            </a:xfrm>
            <a:prstGeom prst="line">
              <a:avLst/>
            </a:prstGeom>
            <a:ln w="0" cap="flat" cmpd="sng">
              <a:solidFill>
                <a:srgbClr val="000000"/>
              </a:solidFill>
              <a:prstDash val="solid"/>
              <a:headEnd type="none" w="med" len="med"/>
              <a:tailEnd type="none" w="med" len="med"/>
            </a:ln>
          </p:spPr>
        </p:sp>
        <p:sp>
          <p:nvSpPr>
            <p:cNvPr id="150651" name="Rectangle 238"/>
            <p:cNvSpPr/>
            <p:nvPr/>
          </p:nvSpPr>
          <p:spPr>
            <a:xfrm>
              <a:off x="3213" y="2720"/>
              <a:ext cx="382"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52" name="Line 239"/>
            <p:cNvSpPr/>
            <p:nvPr/>
          </p:nvSpPr>
          <p:spPr>
            <a:xfrm>
              <a:off x="3213" y="2720"/>
              <a:ext cx="382" cy="1"/>
            </a:xfrm>
            <a:prstGeom prst="line">
              <a:avLst/>
            </a:prstGeom>
            <a:ln w="0" cap="flat" cmpd="sng">
              <a:solidFill>
                <a:srgbClr val="000000"/>
              </a:solidFill>
              <a:prstDash val="solid"/>
              <a:headEnd type="none" w="med" len="med"/>
              <a:tailEnd type="none" w="med" len="med"/>
            </a:ln>
          </p:spPr>
        </p:sp>
        <p:sp>
          <p:nvSpPr>
            <p:cNvPr id="150653" name="Rectangle 240"/>
            <p:cNvSpPr/>
            <p:nvPr/>
          </p:nvSpPr>
          <p:spPr>
            <a:xfrm>
              <a:off x="3595"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54" name="Line 241"/>
            <p:cNvSpPr/>
            <p:nvPr/>
          </p:nvSpPr>
          <p:spPr>
            <a:xfrm>
              <a:off x="3595" y="2720"/>
              <a:ext cx="15" cy="1"/>
            </a:xfrm>
            <a:prstGeom prst="line">
              <a:avLst/>
            </a:prstGeom>
            <a:ln w="0" cap="flat" cmpd="sng">
              <a:solidFill>
                <a:srgbClr val="000000"/>
              </a:solidFill>
              <a:prstDash val="solid"/>
              <a:headEnd type="none" w="med" len="med"/>
              <a:tailEnd type="none" w="med" len="med"/>
            </a:ln>
          </p:spPr>
        </p:sp>
        <p:sp>
          <p:nvSpPr>
            <p:cNvPr id="150655" name="Line 242"/>
            <p:cNvSpPr/>
            <p:nvPr/>
          </p:nvSpPr>
          <p:spPr>
            <a:xfrm>
              <a:off x="3595" y="2720"/>
              <a:ext cx="1" cy="16"/>
            </a:xfrm>
            <a:prstGeom prst="line">
              <a:avLst/>
            </a:prstGeom>
            <a:ln w="0" cap="flat" cmpd="sng">
              <a:solidFill>
                <a:srgbClr val="000000"/>
              </a:solidFill>
              <a:prstDash val="solid"/>
              <a:headEnd type="none" w="med" len="med"/>
              <a:tailEnd type="none" w="med" len="med"/>
            </a:ln>
          </p:spPr>
        </p:sp>
        <p:sp>
          <p:nvSpPr>
            <p:cNvPr id="150656" name="Rectangle 243"/>
            <p:cNvSpPr/>
            <p:nvPr/>
          </p:nvSpPr>
          <p:spPr>
            <a:xfrm>
              <a:off x="3595"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57" name="Line 244"/>
            <p:cNvSpPr/>
            <p:nvPr/>
          </p:nvSpPr>
          <p:spPr>
            <a:xfrm>
              <a:off x="3595" y="2720"/>
              <a:ext cx="15" cy="1"/>
            </a:xfrm>
            <a:prstGeom prst="line">
              <a:avLst/>
            </a:prstGeom>
            <a:ln w="0" cap="flat" cmpd="sng">
              <a:solidFill>
                <a:srgbClr val="000000"/>
              </a:solidFill>
              <a:prstDash val="solid"/>
              <a:headEnd type="none" w="med" len="med"/>
              <a:tailEnd type="none" w="med" len="med"/>
            </a:ln>
          </p:spPr>
        </p:sp>
        <p:sp>
          <p:nvSpPr>
            <p:cNvPr id="150658" name="Line 245"/>
            <p:cNvSpPr/>
            <p:nvPr/>
          </p:nvSpPr>
          <p:spPr>
            <a:xfrm>
              <a:off x="3595" y="2720"/>
              <a:ext cx="1" cy="16"/>
            </a:xfrm>
            <a:prstGeom prst="line">
              <a:avLst/>
            </a:prstGeom>
            <a:ln w="0" cap="flat" cmpd="sng">
              <a:solidFill>
                <a:srgbClr val="000000"/>
              </a:solidFill>
              <a:prstDash val="solid"/>
              <a:headEnd type="none" w="med" len="med"/>
              <a:tailEnd type="none" w="med" len="med"/>
            </a:ln>
          </p:spPr>
        </p:sp>
        <p:sp>
          <p:nvSpPr>
            <p:cNvPr id="150659" name="Rectangle 246"/>
            <p:cNvSpPr/>
            <p:nvPr/>
          </p:nvSpPr>
          <p:spPr>
            <a:xfrm>
              <a:off x="3198"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60" name="Line 247"/>
            <p:cNvSpPr/>
            <p:nvPr/>
          </p:nvSpPr>
          <p:spPr>
            <a:xfrm>
              <a:off x="3198" y="2736"/>
              <a:ext cx="1" cy="244"/>
            </a:xfrm>
            <a:prstGeom prst="line">
              <a:avLst/>
            </a:prstGeom>
            <a:ln w="0" cap="flat" cmpd="sng">
              <a:solidFill>
                <a:srgbClr val="000000"/>
              </a:solidFill>
              <a:prstDash val="solid"/>
              <a:headEnd type="none" w="med" len="med"/>
              <a:tailEnd type="none" w="med" len="med"/>
            </a:ln>
          </p:spPr>
        </p:sp>
        <p:sp>
          <p:nvSpPr>
            <p:cNvPr id="150661" name="Rectangle 248"/>
            <p:cNvSpPr/>
            <p:nvPr/>
          </p:nvSpPr>
          <p:spPr>
            <a:xfrm>
              <a:off x="3595"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62" name="Line 249"/>
            <p:cNvSpPr/>
            <p:nvPr/>
          </p:nvSpPr>
          <p:spPr>
            <a:xfrm>
              <a:off x="3595" y="2736"/>
              <a:ext cx="1" cy="244"/>
            </a:xfrm>
            <a:prstGeom prst="line">
              <a:avLst/>
            </a:prstGeom>
            <a:ln w="0" cap="flat" cmpd="sng">
              <a:solidFill>
                <a:srgbClr val="000000"/>
              </a:solidFill>
              <a:prstDash val="solid"/>
              <a:headEnd type="none" w="med" len="med"/>
              <a:tailEnd type="none" w="med" len="med"/>
            </a:ln>
          </p:spPr>
        </p:sp>
        <p:sp>
          <p:nvSpPr>
            <p:cNvPr id="150663" name="Rectangle 250"/>
            <p:cNvSpPr/>
            <p:nvPr/>
          </p:nvSpPr>
          <p:spPr>
            <a:xfrm>
              <a:off x="319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64" name="Line 251"/>
            <p:cNvSpPr/>
            <p:nvPr/>
          </p:nvSpPr>
          <p:spPr>
            <a:xfrm>
              <a:off x="3198" y="2980"/>
              <a:ext cx="15" cy="1"/>
            </a:xfrm>
            <a:prstGeom prst="line">
              <a:avLst/>
            </a:prstGeom>
            <a:ln w="0" cap="flat" cmpd="sng">
              <a:solidFill>
                <a:srgbClr val="000000"/>
              </a:solidFill>
              <a:prstDash val="solid"/>
              <a:headEnd type="none" w="med" len="med"/>
              <a:tailEnd type="none" w="med" len="med"/>
            </a:ln>
          </p:spPr>
        </p:sp>
        <p:sp>
          <p:nvSpPr>
            <p:cNvPr id="150665" name="Line 252"/>
            <p:cNvSpPr/>
            <p:nvPr/>
          </p:nvSpPr>
          <p:spPr>
            <a:xfrm>
              <a:off x="3198" y="2980"/>
              <a:ext cx="1" cy="15"/>
            </a:xfrm>
            <a:prstGeom prst="line">
              <a:avLst/>
            </a:prstGeom>
            <a:ln w="0" cap="flat" cmpd="sng">
              <a:solidFill>
                <a:srgbClr val="000000"/>
              </a:solidFill>
              <a:prstDash val="solid"/>
              <a:headEnd type="none" w="med" len="med"/>
              <a:tailEnd type="none" w="med" len="med"/>
            </a:ln>
          </p:spPr>
        </p:sp>
        <p:sp>
          <p:nvSpPr>
            <p:cNvPr id="150666" name="Rectangle 253"/>
            <p:cNvSpPr/>
            <p:nvPr/>
          </p:nvSpPr>
          <p:spPr>
            <a:xfrm>
              <a:off x="319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67" name="Line 254"/>
            <p:cNvSpPr/>
            <p:nvPr/>
          </p:nvSpPr>
          <p:spPr>
            <a:xfrm>
              <a:off x="3198" y="2980"/>
              <a:ext cx="15" cy="1"/>
            </a:xfrm>
            <a:prstGeom prst="line">
              <a:avLst/>
            </a:prstGeom>
            <a:ln w="0" cap="flat" cmpd="sng">
              <a:solidFill>
                <a:srgbClr val="000000"/>
              </a:solidFill>
              <a:prstDash val="solid"/>
              <a:headEnd type="none" w="med" len="med"/>
              <a:tailEnd type="none" w="med" len="med"/>
            </a:ln>
          </p:spPr>
        </p:sp>
        <p:sp>
          <p:nvSpPr>
            <p:cNvPr id="150668" name="Line 255"/>
            <p:cNvSpPr/>
            <p:nvPr/>
          </p:nvSpPr>
          <p:spPr>
            <a:xfrm>
              <a:off x="3198" y="2980"/>
              <a:ext cx="1" cy="15"/>
            </a:xfrm>
            <a:prstGeom prst="line">
              <a:avLst/>
            </a:prstGeom>
            <a:ln w="0" cap="flat" cmpd="sng">
              <a:solidFill>
                <a:srgbClr val="000000"/>
              </a:solidFill>
              <a:prstDash val="solid"/>
              <a:headEnd type="none" w="med" len="med"/>
              <a:tailEnd type="none" w="med" len="med"/>
            </a:ln>
          </p:spPr>
        </p:sp>
        <p:sp>
          <p:nvSpPr>
            <p:cNvPr id="150669" name="Rectangle 256"/>
            <p:cNvSpPr/>
            <p:nvPr/>
          </p:nvSpPr>
          <p:spPr>
            <a:xfrm>
              <a:off x="3213" y="2980"/>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70" name="Line 257"/>
            <p:cNvSpPr/>
            <p:nvPr/>
          </p:nvSpPr>
          <p:spPr>
            <a:xfrm>
              <a:off x="3213" y="2980"/>
              <a:ext cx="382" cy="1"/>
            </a:xfrm>
            <a:prstGeom prst="line">
              <a:avLst/>
            </a:prstGeom>
            <a:ln w="0" cap="flat" cmpd="sng">
              <a:solidFill>
                <a:srgbClr val="000000"/>
              </a:solidFill>
              <a:prstDash val="solid"/>
              <a:headEnd type="none" w="med" len="med"/>
              <a:tailEnd type="none" w="med" len="med"/>
            </a:ln>
          </p:spPr>
        </p:sp>
        <p:sp>
          <p:nvSpPr>
            <p:cNvPr id="150671" name="Rectangle 258"/>
            <p:cNvSpPr/>
            <p:nvPr/>
          </p:nvSpPr>
          <p:spPr>
            <a:xfrm>
              <a:off x="3595"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72" name="Line 259"/>
            <p:cNvSpPr/>
            <p:nvPr/>
          </p:nvSpPr>
          <p:spPr>
            <a:xfrm>
              <a:off x="3595" y="2980"/>
              <a:ext cx="15" cy="1"/>
            </a:xfrm>
            <a:prstGeom prst="line">
              <a:avLst/>
            </a:prstGeom>
            <a:ln w="0" cap="flat" cmpd="sng">
              <a:solidFill>
                <a:srgbClr val="000000"/>
              </a:solidFill>
              <a:prstDash val="solid"/>
              <a:headEnd type="none" w="med" len="med"/>
              <a:tailEnd type="none" w="med" len="med"/>
            </a:ln>
          </p:spPr>
        </p:sp>
        <p:sp>
          <p:nvSpPr>
            <p:cNvPr id="150673" name="Line 260"/>
            <p:cNvSpPr/>
            <p:nvPr/>
          </p:nvSpPr>
          <p:spPr>
            <a:xfrm>
              <a:off x="3595" y="2980"/>
              <a:ext cx="1" cy="15"/>
            </a:xfrm>
            <a:prstGeom prst="line">
              <a:avLst/>
            </a:prstGeom>
            <a:ln w="0" cap="flat" cmpd="sng">
              <a:solidFill>
                <a:srgbClr val="000000"/>
              </a:solidFill>
              <a:prstDash val="solid"/>
              <a:headEnd type="none" w="med" len="med"/>
              <a:tailEnd type="none" w="med" len="med"/>
            </a:ln>
          </p:spPr>
        </p:sp>
        <p:sp>
          <p:nvSpPr>
            <p:cNvPr id="150674" name="Rectangle 261"/>
            <p:cNvSpPr/>
            <p:nvPr/>
          </p:nvSpPr>
          <p:spPr>
            <a:xfrm>
              <a:off x="3595"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75" name="Line 262"/>
            <p:cNvSpPr/>
            <p:nvPr/>
          </p:nvSpPr>
          <p:spPr>
            <a:xfrm>
              <a:off x="3595" y="2980"/>
              <a:ext cx="15" cy="1"/>
            </a:xfrm>
            <a:prstGeom prst="line">
              <a:avLst/>
            </a:prstGeom>
            <a:ln w="0" cap="flat" cmpd="sng">
              <a:solidFill>
                <a:srgbClr val="000000"/>
              </a:solidFill>
              <a:prstDash val="solid"/>
              <a:headEnd type="none" w="med" len="med"/>
              <a:tailEnd type="none" w="med" len="med"/>
            </a:ln>
          </p:spPr>
        </p:sp>
        <p:sp>
          <p:nvSpPr>
            <p:cNvPr id="150676" name="Line 263"/>
            <p:cNvSpPr/>
            <p:nvPr/>
          </p:nvSpPr>
          <p:spPr>
            <a:xfrm>
              <a:off x="3595" y="2980"/>
              <a:ext cx="1" cy="15"/>
            </a:xfrm>
            <a:prstGeom prst="line">
              <a:avLst/>
            </a:prstGeom>
            <a:ln w="0" cap="flat" cmpd="sng">
              <a:solidFill>
                <a:srgbClr val="000000"/>
              </a:solidFill>
              <a:prstDash val="solid"/>
              <a:headEnd type="none" w="med" len="med"/>
              <a:tailEnd type="none" w="med" len="med"/>
            </a:ln>
          </p:spPr>
        </p:sp>
        <p:sp>
          <p:nvSpPr>
            <p:cNvPr id="150677" name="Rectangle 264"/>
            <p:cNvSpPr/>
            <p:nvPr/>
          </p:nvSpPr>
          <p:spPr>
            <a:xfrm>
              <a:off x="3610" y="2766"/>
              <a:ext cx="10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678" name="Rectangle 265"/>
            <p:cNvSpPr/>
            <p:nvPr/>
          </p:nvSpPr>
          <p:spPr>
            <a:xfrm>
              <a:off x="4723" y="276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679" name="Rectangle 266"/>
            <p:cNvSpPr/>
            <p:nvPr/>
          </p:nvSpPr>
          <p:spPr>
            <a:xfrm>
              <a:off x="4815" y="2766"/>
              <a:ext cx="1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R5</a:t>
              </a:r>
              <a:endParaRPr lang="en-US" altLang="zh-CN" sz="2400" dirty="0">
                <a:solidFill>
                  <a:schemeClr val="tx1"/>
                </a:solidFill>
                <a:ea typeface="黑体" panose="02010609060101010101" pitchFamily="49" charset="-122"/>
              </a:endParaRPr>
            </a:p>
          </p:txBody>
        </p:sp>
        <p:sp>
          <p:nvSpPr>
            <p:cNvPr id="150680" name="Rectangle 267"/>
            <p:cNvSpPr/>
            <p:nvPr/>
          </p:nvSpPr>
          <p:spPr>
            <a:xfrm>
              <a:off x="470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81" name="Line 268"/>
            <p:cNvSpPr/>
            <p:nvPr/>
          </p:nvSpPr>
          <p:spPr>
            <a:xfrm>
              <a:off x="4708" y="2720"/>
              <a:ext cx="15" cy="1"/>
            </a:xfrm>
            <a:prstGeom prst="line">
              <a:avLst/>
            </a:prstGeom>
            <a:ln w="0" cap="flat" cmpd="sng">
              <a:solidFill>
                <a:srgbClr val="000000"/>
              </a:solidFill>
              <a:prstDash val="solid"/>
              <a:headEnd type="none" w="med" len="med"/>
              <a:tailEnd type="none" w="med" len="med"/>
            </a:ln>
          </p:spPr>
        </p:sp>
        <p:sp>
          <p:nvSpPr>
            <p:cNvPr id="150682" name="Line 269"/>
            <p:cNvSpPr/>
            <p:nvPr/>
          </p:nvSpPr>
          <p:spPr>
            <a:xfrm>
              <a:off x="4708" y="2720"/>
              <a:ext cx="1" cy="16"/>
            </a:xfrm>
            <a:prstGeom prst="line">
              <a:avLst/>
            </a:prstGeom>
            <a:ln w="0" cap="flat" cmpd="sng">
              <a:solidFill>
                <a:srgbClr val="000000"/>
              </a:solidFill>
              <a:prstDash val="solid"/>
              <a:headEnd type="none" w="med" len="med"/>
              <a:tailEnd type="none" w="med" len="med"/>
            </a:ln>
          </p:spPr>
        </p:sp>
        <p:sp>
          <p:nvSpPr>
            <p:cNvPr id="150683" name="Rectangle 270"/>
            <p:cNvSpPr/>
            <p:nvPr/>
          </p:nvSpPr>
          <p:spPr>
            <a:xfrm>
              <a:off x="470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84" name="Line 271"/>
            <p:cNvSpPr/>
            <p:nvPr/>
          </p:nvSpPr>
          <p:spPr>
            <a:xfrm>
              <a:off x="4708" y="2720"/>
              <a:ext cx="15" cy="1"/>
            </a:xfrm>
            <a:prstGeom prst="line">
              <a:avLst/>
            </a:prstGeom>
            <a:ln w="0" cap="flat" cmpd="sng">
              <a:solidFill>
                <a:srgbClr val="000000"/>
              </a:solidFill>
              <a:prstDash val="solid"/>
              <a:headEnd type="none" w="med" len="med"/>
              <a:tailEnd type="none" w="med" len="med"/>
            </a:ln>
          </p:spPr>
        </p:sp>
        <p:sp>
          <p:nvSpPr>
            <p:cNvPr id="150685" name="Line 272"/>
            <p:cNvSpPr/>
            <p:nvPr/>
          </p:nvSpPr>
          <p:spPr>
            <a:xfrm>
              <a:off x="4708" y="2720"/>
              <a:ext cx="1" cy="16"/>
            </a:xfrm>
            <a:prstGeom prst="line">
              <a:avLst/>
            </a:prstGeom>
            <a:ln w="0" cap="flat" cmpd="sng">
              <a:solidFill>
                <a:srgbClr val="000000"/>
              </a:solidFill>
              <a:prstDash val="solid"/>
              <a:headEnd type="none" w="med" len="med"/>
              <a:tailEnd type="none" w="med" len="med"/>
            </a:ln>
          </p:spPr>
        </p:sp>
        <p:sp>
          <p:nvSpPr>
            <p:cNvPr id="150686" name="Rectangle 273"/>
            <p:cNvSpPr/>
            <p:nvPr/>
          </p:nvSpPr>
          <p:spPr>
            <a:xfrm>
              <a:off x="4723" y="2720"/>
              <a:ext cx="36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87" name="Line 274"/>
            <p:cNvSpPr/>
            <p:nvPr/>
          </p:nvSpPr>
          <p:spPr>
            <a:xfrm>
              <a:off x="4723" y="2720"/>
              <a:ext cx="366" cy="1"/>
            </a:xfrm>
            <a:prstGeom prst="line">
              <a:avLst/>
            </a:prstGeom>
            <a:ln w="0" cap="flat" cmpd="sng">
              <a:solidFill>
                <a:srgbClr val="000000"/>
              </a:solidFill>
              <a:prstDash val="solid"/>
              <a:headEnd type="none" w="med" len="med"/>
              <a:tailEnd type="none" w="med" len="med"/>
            </a:ln>
          </p:spPr>
        </p:sp>
        <p:sp>
          <p:nvSpPr>
            <p:cNvPr id="150688" name="Rectangle 275"/>
            <p:cNvSpPr/>
            <p:nvPr/>
          </p:nvSpPr>
          <p:spPr>
            <a:xfrm>
              <a:off x="5089"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89" name="Line 276"/>
            <p:cNvSpPr/>
            <p:nvPr/>
          </p:nvSpPr>
          <p:spPr>
            <a:xfrm>
              <a:off x="5089" y="2720"/>
              <a:ext cx="15" cy="1"/>
            </a:xfrm>
            <a:prstGeom prst="line">
              <a:avLst/>
            </a:prstGeom>
            <a:ln w="0" cap="flat" cmpd="sng">
              <a:solidFill>
                <a:srgbClr val="000000"/>
              </a:solidFill>
              <a:prstDash val="solid"/>
              <a:headEnd type="none" w="med" len="med"/>
              <a:tailEnd type="none" w="med" len="med"/>
            </a:ln>
          </p:spPr>
        </p:sp>
        <p:sp>
          <p:nvSpPr>
            <p:cNvPr id="150690" name="Line 277"/>
            <p:cNvSpPr/>
            <p:nvPr/>
          </p:nvSpPr>
          <p:spPr>
            <a:xfrm>
              <a:off x="5089" y="2720"/>
              <a:ext cx="1" cy="16"/>
            </a:xfrm>
            <a:prstGeom prst="line">
              <a:avLst/>
            </a:prstGeom>
            <a:ln w="0" cap="flat" cmpd="sng">
              <a:solidFill>
                <a:srgbClr val="000000"/>
              </a:solidFill>
              <a:prstDash val="solid"/>
              <a:headEnd type="none" w="med" len="med"/>
              <a:tailEnd type="none" w="med" len="med"/>
            </a:ln>
          </p:spPr>
        </p:sp>
        <p:sp>
          <p:nvSpPr>
            <p:cNvPr id="150691" name="Rectangle 278"/>
            <p:cNvSpPr/>
            <p:nvPr/>
          </p:nvSpPr>
          <p:spPr>
            <a:xfrm>
              <a:off x="5089"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92" name="Line 279"/>
            <p:cNvSpPr/>
            <p:nvPr/>
          </p:nvSpPr>
          <p:spPr>
            <a:xfrm>
              <a:off x="5089" y="2720"/>
              <a:ext cx="15" cy="1"/>
            </a:xfrm>
            <a:prstGeom prst="line">
              <a:avLst/>
            </a:prstGeom>
            <a:ln w="0" cap="flat" cmpd="sng">
              <a:solidFill>
                <a:srgbClr val="000000"/>
              </a:solidFill>
              <a:prstDash val="solid"/>
              <a:headEnd type="none" w="med" len="med"/>
              <a:tailEnd type="none" w="med" len="med"/>
            </a:ln>
          </p:spPr>
        </p:sp>
        <p:sp>
          <p:nvSpPr>
            <p:cNvPr id="150693" name="Line 280"/>
            <p:cNvSpPr/>
            <p:nvPr/>
          </p:nvSpPr>
          <p:spPr>
            <a:xfrm>
              <a:off x="5089" y="2720"/>
              <a:ext cx="1" cy="16"/>
            </a:xfrm>
            <a:prstGeom prst="line">
              <a:avLst/>
            </a:prstGeom>
            <a:ln w="0" cap="flat" cmpd="sng">
              <a:solidFill>
                <a:srgbClr val="000000"/>
              </a:solidFill>
              <a:prstDash val="solid"/>
              <a:headEnd type="none" w="med" len="med"/>
              <a:tailEnd type="none" w="med" len="med"/>
            </a:ln>
          </p:spPr>
        </p:sp>
        <p:sp>
          <p:nvSpPr>
            <p:cNvPr id="150694" name="Rectangle 281"/>
            <p:cNvSpPr/>
            <p:nvPr/>
          </p:nvSpPr>
          <p:spPr>
            <a:xfrm>
              <a:off x="4708"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95" name="Line 282"/>
            <p:cNvSpPr/>
            <p:nvPr/>
          </p:nvSpPr>
          <p:spPr>
            <a:xfrm>
              <a:off x="4708" y="2736"/>
              <a:ext cx="1" cy="244"/>
            </a:xfrm>
            <a:prstGeom prst="line">
              <a:avLst/>
            </a:prstGeom>
            <a:ln w="0" cap="flat" cmpd="sng">
              <a:solidFill>
                <a:srgbClr val="000000"/>
              </a:solidFill>
              <a:prstDash val="solid"/>
              <a:headEnd type="none" w="med" len="med"/>
              <a:tailEnd type="none" w="med" len="med"/>
            </a:ln>
          </p:spPr>
        </p:sp>
        <p:sp>
          <p:nvSpPr>
            <p:cNvPr id="150696" name="Rectangle 283"/>
            <p:cNvSpPr/>
            <p:nvPr/>
          </p:nvSpPr>
          <p:spPr>
            <a:xfrm>
              <a:off x="5089"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97" name="Line 284"/>
            <p:cNvSpPr/>
            <p:nvPr/>
          </p:nvSpPr>
          <p:spPr>
            <a:xfrm>
              <a:off x="5089" y="2736"/>
              <a:ext cx="1" cy="244"/>
            </a:xfrm>
            <a:prstGeom prst="line">
              <a:avLst/>
            </a:prstGeom>
            <a:ln w="0" cap="flat" cmpd="sng">
              <a:solidFill>
                <a:srgbClr val="000000"/>
              </a:solidFill>
              <a:prstDash val="solid"/>
              <a:headEnd type="none" w="med" len="med"/>
              <a:tailEnd type="none" w="med" len="med"/>
            </a:ln>
          </p:spPr>
        </p:sp>
        <p:sp>
          <p:nvSpPr>
            <p:cNvPr id="150698" name="Rectangle 285"/>
            <p:cNvSpPr/>
            <p:nvPr/>
          </p:nvSpPr>
          <p:spPr>
            <a:xfrm>
              <a:off x="470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699" name="Line 286"/>
            <p:cNvSpPr/>
            <p:nvPr/>
          </p:nvSpPr>
          <p:spPr>
            <a:xfrm>
              <a:off x="4708" y="2980"/>
              <a:ext cx="15" cy="1"/>
            </a:xfrm>
            <a:prstGeom prst="line">
              <a:avLst/>
            </a:prstGeom>
            <a:ln w="0" cap="flat" cmpd="sng">
              <a:solidFill>
                <a:srgbClr val="000000"/>
              </a:solidFill>
              <a:prstDash val="solid"/>
              <a:headEnd type="none" w="med" len="med"/>
              <a:tailEnd type="none" w="med" len="med"/>
            </a:ln>
          </p:spPr>
        </p:sp>
        <p:sp>
          <p:nvSpPr>
            <p:cNvPr id="150700" name="Line 287"/>
            <p:cNvSpPr/>
            <p:nvPr/>
          </p:nvSpPr>
          <p:spPr>
            <a:xfrm>
              <a:off x="4708" y="2980"/>
              <a:ext cx="1" cy="15"/>
            </a:xfrm>
            <a:prstGeom prst="line">
              <a:avLst/>
            </a:prstGeom>
            <a:ln w="0" cap="flat" cmpd="sng">
              <a:solidFill>
                <a:srgbClr val="000000"/>
              </a:solidFill>
              <a:prstDash val="solid"/>
              <a:headEnd type="none" w="med" len="med"/>
              <a:tailEnd type="none" w="med" len="med"/>
            </a:ln>
          </p:spPr>
        </p:sp>
        <p:sp>
          <p:nvSpPr>
            <p:cNvPr id="150701" name="Rectangle 288"/>
            <p:cNvSpPr/>
            <p:nvPr/>
          </p:nvSpPr>
          <p:spPr>
            <a:xfrm>
              <a:off x="470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02" name="Line 289"/>
            <p:cNvSpPr/>
            <p:nvPr/>
          </p:nvSpPr>
          <p:spPr>
            <a:xfrm>
              <a:off x="4708" y="2980"/>
              <a:ext cx="15" cy="1"/>
            </a:xfrm>
            <a:prstGeom prst="line">
              <a:avLst/>
            </a:prstGeom>
            <a:ln w="0" cap="flat" cmpd="sng">
              <a:solidFill>
                <a:srgbClr val="000000"/>
              </a:solidFill>
              <a:prstDash val="solid"/>
              <a:headEnd type="none" w="med" len="med"/>
              <a:tailEnd type="none" w="med" len="med"/>
            </a:ln>
          </p:spPr>
        </p:sp>
        <p:sp>
          <p:nvSpPr>
            <p:cNvPr id="150703" name="Line 290"/>
            <p:cNvSpPr/>
            <p:nvPr/>
          </p:nvSpPr>
          <p:spPr>
            <a:xfrm>
              <a:off x="4708" y="2980"/>
              <a:ext cx="1" cy="15"/>
            </a:xfrm>
            <a:prstGeom prst="line">
              <a:avLst/>
            </a:prstGeom>
            <a:ln w="0" cap="flat" cmpd="sng">
              <a:solidFill>
                <a:srgbClr val="000000"/>
              </a:solidFill>
              <a:prstDash val="solid"/>
              <a:headEnd type="none" w="med" len="med"/>
              <a:tailEnd type="none" w="med" len="med"/>
            </a:ln>
          </p:spPr>
        </p:sp>
        <p:sp>
          <p:nvSpPr>
            <p:cNvPr id="150704" name="Rectangle 291"/>
            <p:cNvSpPr/>
            <p:nvPr/>
          </p:nvSpPr>
          <p:spPr>
            <a:xfrm>
              <a:off x="4723" y="2980"/>
              <a:ext cx="36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05" name="Line 292"/>
            <p:cNvSpPr/>
            <p:nvPr/>
          </p:nvSpPr>
          <p:spPr>
            <a:xfrm>
              <a:off x="4723" y="2980"/>
              <a:ext cx="366" cy="1"/>
            </a:xfrm>
            <a:prstGeom prst="line">
              <a:avLst/>
            </a:prstGeom>
            <a:ln w="0" cap="flat" cmpd="sng">
              <a:solidFill>
                <a:srgbClr val="000000"/>
              </a:solidFill>
              <a:prstDash val="solid"/>
              <a:headEnd type="none" w="med" len="med"/>
              <a:tailEnd type="none" w="med" len="med"/>
            </a:ln>
          </p:spPr>
        </p:sp>
        <p:sp>
          <p:nvSpPr>
            <p:cNvPr id="150706" name="Rectangle 293"/>
            <p:cNvSpPr/>
            <p:nvPr/>
          </p:nvSpPr>
          <p:spPr>
            <a:xfrm>
              <a:off x="5089"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07" name="Line 294"/>
            <p:cNvSpPr/>
            <p:nvPr/>
          </p:nvSpPr>
          <p:spPr>
            <a:xfrm>
              <a:off x="5089" y="2980"/>
              <a:ext cx="15" cy="1"/>
            </a:xfrm>
            <a:prstGeom prst="line">
              <a:avLst/>
            </a:prstGeom>
            <a:ln w="0" cap="flat" cmpd="sng">
              <a:solidFill>
                <a:srgbClr val="000000"/>
              </a:solidFill>
              <a:prstDash val="solid"/>
              <a:headEnd type="none" w="med" len="med"/>
              <a:tailEnd type="none" w="med" len="med"/>
            </a:ln>
          </p:spPr>
        </p:sp>
        <p:sp>
          <p:nvSpPr>
            <p:cNvPr id="150708" name="Line 295"/>
            <p:cNvSpPr/>
            <p:nvPr/>
          </p:nvSpPr>
          <p:spPr>
            <a:xfrm>
              <a:off x="5089" y="2980"/>
              <a:ext cx="1" cy="15"/>
            </a:xfrm>
            <a:prstGeom prst="line">
              <a:avLst/>
            </a:prstGeom>
            <a:ln w="0" cap="flat" cmpd="sng">
              <a:solidFill>
                <a:srgbClr val="000000"/>
              </a:solidFill>
              <a:prstDash val="solid"/>
              <a:headEnd type="none" w="med" len="med"/>
              <a:tailEnd type="none" w="med" len="med"/>
            </a:ln>
          </p:spPr>
        </p:sp>
        <p:sp>
          <p:nvSpPr>
            <p:cNvPr id="150709" name="Rectangle 296"/>
            <p:cNvSpPr/>
            <p:nvPr/>
          </p:nvSpPr>
          <p:spPr>
            <a:xfrm>
              <a:off x="5089"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0710" name="Line 297"/>
            <p:cNvSpPr/>
            <p:nvPr/>
          </p:nvSpPr>
          <p:spPr>
            <a:xfrm>
              <a:off x="5089" y="2980"/>
              <a:ext cx="15" cy="1"/>
            </a:xfrm>
            <a:prstGeom prst="line">
              <a:avLst/>
            </a:prstGeom>
            <a:ln w="0" cap="flat" cmpd="sng">
              <a:solidFill>
                <a:srgbClr val="000000"/>
              </a:solidFill>
              <a:prstDash val="solid"/>
              <a:headEnd type="none" w="med" len="med"/>
              <a:tailEnd type="none" w="med" len="med"/>
            </a:ln>
          </p:spPr>
        </p:sp>
        <p:sp>
          <p:nvSpPr>
            <p:cNvPr id="150711" name="Line 298"/>
            <p:cNvSpPr/>
            <p:nvPr/>
          </p:nvSpPr>
          <p:spPr>
            <a:xfrm>
              <a:off x="5089" y="2980"/>
              <a:ext cx="1" cy="15"/>
            </a:xfrm>
            <a:prstGeom prst="line">
              <a:avLst/>
            </a:prstGeom>
            <a:ln w="0" cap="flat" cmpd="sng">
              <a:solidFill>
                <a:srgbClr val="000000"/>
              </a:solidFill>
              <a:prstDash val="solid"/>
              <a:headEnd type="none" w="med" len="med"/>
              <a:tailEnd type="none" w="med" len="med"/>
            </a:ln>
          </p:spPr>
        </p:sp>
        <p:sp>
          <p:nvSpPr>
            <p:cNvPr id="150712" name="Rectangle 299"/>
            <p:cNvSpPr/>
            <p:nvPr/>
          </p:nvSpPr>
          <p:spPr>
            <a:xfrm>
              <a:off x="2832" y="3117"/>
              <a:ext cx="126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0713" name="Freeform 300"/>
            <p:cNvSpPr/>
            <p:nvPr/>
          </p:nvSpPr>
          <p:spPr>
            <a:xfrm>
              <a:off x="3534" y="1709"/>
              <a:ext cx="2" cy="516"/>
            </a:xfrm>
            <a:custGeom>
              <a:avLst/>
              <a:gdLst/>
              <a:ahLst/>
              <a:cxnLst>
                <a:cxn ang="0">
                  <a:pos x="0" y="0"/>
                </a:cxn>
                <a:cxn ang="0">
                  <a:pos x="2" y="516"/>
                </a:cxn>
              </a:cxnLst>
              <a:pathLst>
                <a:path w="2" h="516">
                  <a:moveTo>
                    <a:pt x="0" y="0"/>
                  </a:moveTo>
                  <a:lnTo>
                    <a:pt x="2" y="516"/>
                  </a:lnTo>
                </a:path>
              </a:pathLst>
            </a:custGeom>
            <a:solidFill>
              <a:srgbClr val="FFFFFF">
                <a:alpha val="100000"/>
              </a:srgbClr>
            </a:solidFill>
            <a:ln w="23813" cap="flat" cmpd="sng">
              <a:solidFill>
                <a:srgbClr val="000000">
                  <a:alpha val="100000"/>
                </a:srgbClr>
              </a:solidFill>
              <a:prstDash val="solid"/>
              <a:round/>
              <a:headEnd type="none" w="med" len="med"/>
              <a:tailEnd type="none" w="med" len="med"/>
            </a:ln>
          </p:spPr>
          <p:txBody>
            <a:bodyPr/>
            <a:p>
              <a:endParaRPr lang="en-US"/>
            </a:p>
          </p:txBody>
        </p:sp>
        <p:sp>
          <p:nvSpPr>
            <p:cNvPr id="150714" name="Freeform 301"/>
            <p:cNvSpPr/>
            <p:nvPr/>
          </p:nvSpPr>
          <p:spPr>
            <a:xfrm>
              <a:off x="3328" y="1716"/>
              <a:ext cx="4" cy="1027"/>
            </a:xfrm>
            <a:custGeom>
              <a:avLst/>
              <a:gdLst/>
              <a:ahLst/>
              <a:cxnLst>
                <a:cxn ang="0">
                  <a:pos x="0" y="0"/>
                </a:cxn>
                <a:cxn ang="0">
                  <a:pos x="4" y="1027"/>
                </a:cxn>
              </a:cxnLst>
              <a:pathLst>
                <a:path w="4" h="1027">
                  <a:moveTo>
                    <a:pt x="0" y="0"/>
                  </a:moveTo>
                  <a:lnTo>
                    <a:pt x="4" y="1027"/>
                  </a:lnTo>
                </a:path>
              </a:pathLst>
            </a:custGeom>
            <a:noFill/>
            <a:ln w="28575" cap="flat" cmpd="sng">
              <a:solidFill>
                <a:schemeClr val="tx1">
                  <a:alpha val="100000"/>
                </a:schemeClr>
              </a:solidFill>
              <a:prstDash val="solid"/>
              <a:round/>
              <a:headEnd type="none" w="med" len="med"/>
              <a:tailEnd type="triangle" w="med" len="med"/>
            </a:ln>
          </p:spPr>
          <p:txBody>
            <a:bodyPr/>
            <a:p>
              <a:endParaRPr lang="en-US"/>
            </a:p>
          </p:txBody>
        </p:sp>
        <p:sp>
          <p:nvSpPr>
            <p:cNvPr id="150715" name="Freeform 302"/>
            <p:cNvSpPr/>
            <p:nvPr/>
          </p:nvSpPr>
          <p:spPr>
            <a:xfrm>
              <a:off x="4799" y="1709"/>
              <a:ext cx="1" cy="352"/>
            </a:xfrm>
            <a:custGeom>
              <a:avLst/>
              <a:gdLst/>
              <a:ahLst/>
              <a:cxnLst>
                <a:cxn ang="0">
                  <a:pos x="0" y="0"/>
                </a:cxn>
                <a:cxn ang="0">
                  <a:pos x="0" y="352"/>
                </a:cxn>
              </a:cxnLst>
              <a:pathLst>
                <a:path w="1" h="352">
                  <a:moveTo>
                    <a:pt x="0" y="0"/>
                  </a:moveTo>
                  <a:lnTo>
                    <a:pt x="0" y="352"/>
                  </a:lnTo>
                </a:path>
              </a:pathLst>
            </a:custGeom>
            <a:noFill/>
            <a:ln w="28575" cap="flat" cmpd="sng">
              <a:solidFill>
                <a:schemeClr val="tx1">
                  <a:alpha val="100000"/>
                </a:schemeClr>
              </a:solidFill>
              <a:prstDash val="solid"/>
              <a:round/>
              <a:headEnd type="none" w="med" len="med"/>
              <a:tailEnd type="triangle" w="med" len="med"/>
            </a:ln>
          </p:spPr>
          <p:txBody>
            <a:bodyPr/>
            <a:p>
              <a:endParaRPr lang="en-US"/>
            </a:p>
          </p:txBody>
        </p:sp>
        <p:sp>
          <p:nvSpPr>
            <p:cNvPr id="150716" name="Line 303"/>
            <p:cNvSpPr/>
            <p:nvPr/>
          </p:nvSpPr>
          <p:spPr>
            <a:xfrm>
              <a:off x="4819" y="2359"/>
              <a:ext cx="0" cy="384"/>
            </a:xfrm>
            <a:prstGeom prst="line">
              <a:avLst/>
            </a:prstGeom>
            <a:ln w="28575" cap="flat" cmpd="sng">
              <a:solidFill>
                <a:schemeClr val="tx1"/>
              </a:solidFill>
              <a:prstDash val="solid"/>
              <a:headEnd type="none" w="med" len="med"/>
              <a:tailEnd type="triangle" w="med" len="med"/>
            </a:ln>
          </p:spPr>
        </p:sp>
        <p:sp>
          <p:nvSpPr>
            <p:cNvPr id="150717" name="Freeform 304"/>
            <p:cNvSpPr/>
            <p:nvPr/>
          </p:nvSpPr>
          <p:spPr>
            <a:xfrm>
              <a:off x="3536" y="2212"/>
              <a:ext cx="1139" cy="4"/>
            </a:xfrm>
            <a:custGeom>
              <a:avLst/>
              <a:gdLst/>
              <a:ahLst/>
              <a:cxnLst>
                <a:cxn ang="0">
                  <a:pos x="0" y="0"/>
                </a:cxn>
                <a:cxn ang="0">
                  <a:pos x="1139" y="4"/>
                </a:cxn>
              </a:cxnLst>
              <a:pathLst>
                <a:path w="1139" h="4">
                  <a:moveTo>
                    <a:pt x="0" y="0"/>
                  </a:moveTo>
                  <a:lnTo>
                    <a:pt x="1139" y="4"/>
                  </a:lnTo>
                </a:path>
              </a:pathLst>
            </a:custGeom>
            <a:noFill/>
            <a:ln w="28575" cap="flat" cmpd="sng">
              <a:solidFill>
                <a:schemeClr val="tx1">
                  <a:alpha val="100000"/>
                </a:schemeClr>
              </a:solidFill>
              <a:prstDash val="solid"/>
              <a:round/>
              <a:headEnd type="none" w="med" len="med"/>
              <a:tailEnd type="triangle" w="med" len="med"/>
            </a:ln>
          </p:spPr>
          <p:txBody>
            <a:bodyPr/>
            <a:p>
              <a:endParaRPr lang="en-US"/>
            </a:p>
          </p:txBody>
        </p:sp>
        <p:sp>
          <p:nvSpPr>
            <p:cNvPr id="150718" name="Line 305"/>
            <p:cNvSpPr/>
            <p:nvPr/>
          </p:nvSpPr>
          <p:spPr>
            <a:xfrm>
              <a:off x="3619" y="2839"/>
              <a:ext cx="1104" cy="0"/>
            </a:xfrm>
            <a:prstGeom prst="line">
              <a:avLst/>
            </a:prstGeom>
            <a:ln w="28575" cap="flat" cmpd="sng">
              <a:solidFill>
                <a:schemeClr val="tx1"/>
              </a:solidFill>
              <a:prstDash val="solid"/>
              <a:headEnd type="none" w="med" len="med"/>
              <a:tailEnd type="triangle" w="med" len="med"/>
            </a:ln>
          </p:spPr>
        </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1555"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1556" name="Rectangle 3"/>
          <p:cNvSpPr>
            <a:spLocks noGrp="1"/>
          </p:cNvSpPr>
          <p:nvPr>
            <p:ph idx="1"/>
          </p:nvPr>
        </p:nvSpPr>
        <p:spPr>
          <a:xfrm>
            <a:off x="304800" y="1066800"/>
            <a:ext cx="8610600" cy="50292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a:t>
            </a:r>
            <a:endParaRPr lang="en-US" altLang="zh-CN" dirty="0"/>
          </a:p>
          <a:p>
            <a:pPr algn="just" eaLnBrk="1" hangingPunct="1"/>
            <a:r>
              <a:rPr lang="zh-CN" altLang="en-US" dirty="0">
                <a:solidFill>
                  <a:schemeClr val="accent2"/>
                </a:solidFill>
              </a:rPr>
              <a:t>表示方法（与层次数据模型相同）</a:t>
            </a:r>
            <a:endParaRPr lang="zh-CN" altLang="en-US" dirty="0">
              <a:solidFill>
                <a:schemeClr val="accent2"/>
              </a:solidFill>
            </a:endParaRPr>
          </a:p>
          <a:p>
            <a:pPr lvl="1" algn="just" eaLnBrk="1" hangingPunct="1">
              <a:lnSpc>
                <a:spcPct val="120000"/>
              </a:lnSpc>
              <a:buNone/>
            </a:pPr>
            <a:r>
              <a:rPr lang="zh-CN" altLang="en-US" dirty="0">
                <a:solidFill>
                  <a:schemeClr val="accent2"/>
                </a:solidFill>
              </a:rPr>
              <a:t>实体型</a:t>
            </a:r>
            <a:r>
              <a:rPr lang="zh-CN" altLang="en-US" dirty="0"/>
              <a:t>：用记录类型描述。</a:t>
            </a:r>
            <a:endParaRPr lang="zh-CN" altLang="en-US" dirty="0"/>
          </a:p>
          <a:p>
            <a:pPr lvl="1" algn="just" eaLnBrk="1" hangingPunct="1">
              <a:lnSpc>
                <a:spcPct val="120000"/>
              </a:lnSpc>
              <a:buNone/>
            </a:pPr>
            <a:r>
              <a:rPr lang="zh-CN" altLang="en-US" dirty="0"/>
              <a:t>               每个结点表示一个记录类型。</a:t>
            </a:r>
            <a:endParaRPr lang="zh-CN" altLang="en-US" dirty="0"/>
          </a:p>
          <a:p>
            <a:pPr lvl="1" algn="just" eaLnBrk="1" hangingPunct="1">
              <a:lnSpc>
                <a:spcPct val="120000"/>
              </a:lnSpc>
              <a:buNone/>
            </a:pPr>
            <a:r>
              <a:rPr lang="zh-CN" altLang="en-US" dirty="0">
                <a:solidFill>
                  <a:schemeClr val="accent2"/>
                </a:solidFill>
              </a:rPr>
              <a:t>属性</a:t>
            </a:r>
            <a:r>
              <a:rPr lang="zh-CN" altLang="en-US" dirty="0"/>
              <a:t>：用字段描述。</a:t>
            </a:r>
            <a:endParaRPr lang="zh-CN" altLang="en-US" dirty="0"/>
          </a:p>
          <a:p>
            <a:pPr lvl="1" algn="just" eaLnBrk="1" hangingPunct="1">
              <a:lnSpc>
                <a:spcPct val="120000"/>
              </a:lnSpc>
              <a:buNone/>
            </a:pPr>
            <a:r>
              <a:rPr lang="zh-CN" altLang="en-US" dirty="0"/>
              <a:t>           每个记录类型可包含若干个字段。</a:t>
            </a:r>
            <a:endParaRPr lang="zh-CN" altLang="en-US" dirty="0"/>
          </a:p>
          <a:p>
            <a:pPr lvl="1" algn="just" eaLnBrk="1" hangingPunct="1">
              <a:lnSpc>
                <a:spcPct val="120000"/>
              </a:lnSpc>
              <a:buNone/>
            </a:pPr>
            <a:r>
              <a:rPr lang="zh-CN" altLang="en-US" dirty="0">
                <a:solidFill>
                  <a:schemeClr val="accent2"/>
                </a:solidFill>
              </a:rPr>
              <a:t>联系</a:t>
            </a:r>
            <a:r>
              <a:rPr lang="zh-CN" altLang="en-US" dirty="0"/>
              <a:t>：用结点之间的连线</a:t>
            </a:r>
            <a:r>
              <a:rPr lang="en-US" altLang="zh-CN" dirty="0"/>
              <a:t>(</a:t>
            </a:r>
            <a:r>
              <a:rPr lang="zh-CN" altLang="en-US" dirty="0"/>
              <a:t>有向边</a:t>
            </a:r>
            <a:r>
              <a:rPr lang="en-US" altLang="zh-CN" dirty="0"/>
              <a:t>)</a:t>
            </a:r>
            <a:r>
              <a:rPr lang="zh-CN" altLang="en-US" dirty="0"/>
              <a:t>表示记录（类）</a:t>
            </a:r>
            <a:endParaRPr lang="zh-CN" altLang="en-US" dirty="0"/>
          </a:p>
          <a:p>
            <a:pPr lvl="1" algn="just" eaLnBrk="1" hangingPunct="1">
              <a:lnSpc>
                <a:spcPct val="120000"/>
              </a:lnSpc>
              <a:buNone/>
            </a:pPr>
            <a:r>
              <a:rPr lang="zh-CN" altLang="en-US" dirty="0"/>
              <a:t>            型之间的</a:t>
            </a:r>
            <a:r>
              <a:rPr lang="zh-CN" altLang="en-US" dirty="0">
                <a:solidFill>
                  <a:schemeClr val="accent2"/>
                </a:solidFill>
              </a:rPr>
              <a:t>一对多</a:t>
            </a:r>
            <a:r>
              <a:rPr lang="en-US" altLang="zh-CN" dirty="0">
                <a:solidFill>
                  <a:schemeClr val="accent2"/>
                </a:solidFill>
              </a:rPr>
              <a:t>(</a:t>
            </a:r>
            <a:r>
              <a:rPr lang="zh-CN" altLang="en-US" dirty="0">
                <a:solidFill>
                  <a:schemeClr val="accent2"/>
                </a:solidFill>
              </a:rPr>
              <a:t>箭尾到箭头</a:t>
            </a:r>
            <a:r>
              <a:rPr lang="en-US" altLang="zh-CN" dirty="0">
                <a:solidFill>
                  <a:schemeClr val="accent2"/>
                </a:solidFill>
              </a:rPr>
              <a:t>)</a:t>
            </a:r>
            <a:r>
              <a:rPr lang="zh-CN" altLang="en-US" dirty="0">
                <a:solidFill>
                  <a:schemeClr val="accent2"/>
                </a:solidFill>
              </a:rPr>
              <a:t>的父子联系</a:t>
            </a:r>
            <a:r>
              <a:rPr lang="zh-CN" altLang="en-US" dirty="0"/>
              <a:t>。</a:t>
            </a:r>
            <a:endParaRPr lang="zh-CN" alt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2579"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2580" name="Rectangle 3"/>
          <p:cNvSpPr>
            <a:spLocks noGrp="1"/>
          </p:cNvSpPr>
          <p:nvPr>
            <p:ph idx="1"/>
          </p:nvPr>
        </p:nvSpPr>
        <p:spPr>
          <a:xfrm>
            <a:off x="762000" y="1066800"/>
            <a:ext cx="8077200" cy="5105400"/>
          </a:xfrm>
          <a:ln/>
        </p:spPr>
        <p:txBody>
          <a:bodyPr vert="horz" wrap="square" lIns="91440" tIns="45720" rIns="91440" bIns="45720" anchor="t" anchorCtr="0"/>
          <a:p>
            <a:pPr algn="just" eaLnBrk="1" hangingPunct="1">
              <a:lnSpc>
                <a:spcPct val="120000"/>
              </a:lnSpc>
              <a:buNone/>
            </a:pPr>
            <a:r>
              <a:rPr lang="zh-CN" altLang="en-US" sz="2800" dirty="0"/>
              <a:t>网状数据模型的数据结构</a:t>
            </a:r>
            <a:r>
              <a:rPr lang="en-US" altLang="zh-CN" sz="2800" dirty="0"/>
              <a:t>(</a:t>
            </a:r>
            <a:r>
              <a:rPr lang="zh-CN" altLang="en-US" sz="2800" dirty="0"/>
              <a:t>续</a:t>
            </a:r>
            <a:r>
              <a:rPr lang="en-US" altLang="zh-CN" sz="2800" dirty="0"/>
              <a:t>)</a:t>
            </a:r>
            <a:endParaRPr lang="en-US" altLang="zh-CN" sz="2800" dirty="0"/>
          </a:p>
          <a:p>
            <a:pPr algn="just" eaLnBrk="1" hangingPunct="1"/>
            <a:r>
              <a:rPr lang="zh-CN" altLang="en-US" sz="2800" dirty="0">
                <a:solidFill>
                  <a:schemeClr val="accent2"/>
                </a:solidFill>
              </a:rPr>
              <a:t>特点</a:t>
            </a:r>
            <a:endParaRPr lang="zh-CN" altLang="en-US" sz="2800" dirty="0">
              <a:solidFill>
                <a:schemeClr val="accent2"/>
              </a:solidFill>
            </a:endParaRPr>
          </a:p>
          <a:p>
            <a:pPr lvl="1" algn="just" eaLnBrk="1" hangingPunct="1">
              <a:lnSpc>
                <a:spcPct val="150000"/>
              </a:lnSpc>
            </a:pPr>
            <a:r>
              <a:rPr lang="zh-CN" altLang="en-US" sz="2400" dirty="0"/>
              <a:t>只能直接处理一对多的实体联系</a:t>
            </a:r>
            <a:endParaRPr lang="zh-CN" altLang="en-US" sz="2400" dirty="0"/>
          </a:p>
          <a:p>
            <a:pPr lvl="1" algn="just" eaLnBrk="1" hangingPunct="1">
              <a:lnSpc>
                <a:spcPct val="150000"/>
              </a:lnSpc>
            </a:pPr>
            <a:r>
              <a:rPr lang="zh-CN" altLang="en-US" sz="2400" dirty="0"/>
              <a:t>每个记录类型定义一个排序字段，也称为码字段</a:t>
            </a:r>
            <a:endParaRPr lang="zh-CN" altLang="en-US" sz="2400" dirty="0"/>
          </a:p>
          <a:p>
            <a:pPr lvl="1" algn="just" eaLnBrk="1" hangingPunct="1">
              <a:lnSpc>
                <a:spcPct val="150000"/>
              </a:lnSpc>
            </a:pPr>
            <a:r>
              <a:rPr lang="zh-CN" altLang="en-US" sz="2400" dirty="0"/>
              <a:t>任何记录值只有按其路径查看时，才能显出它的全部意义</a:t>
            </a:r>
            <a:endParaRPr lang="zh-CN" altLang="en-US" sz="2400" dirty="0"/>
          </a:p>
          <a:p>
            <a:pPr algn="just" eaLnBrk="1" hangingPunct="1">
              <a:lnSpc>
                <a:spcPct val="120000"/>
              </a:lnSpc>
              <a:buNone/>
            </a:pPr>
            <a:r>
              <a:rPr lang="zh-CN" altLang="en-US" sz="2800" dirty="0"/>
              <a:t> </a:t>
            </a:r>
            <a:endParaRPr lang="zh-CN" altLang="en-US" sz="28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3603"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3604" name="Rectangle 3"/>
          <p:cNvSpPr>
            <a:spLocks noGrp="1"/>
          </p:cNvSpPr>
          <p:nvPr>
            <p:ph idx="1"/>
          </p:nvPr>
        </p:nvSpPr>
        <p:spPr>
          <a:xfrm>
            <a:off x="762000" y="1066800"/>
            <a:ext cx="8077200" cy="51054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a:t>
            </a:r>
            <a:endParaRPr lang="en-US" altLang="zh-CN" dirty="0"/>
          </a:p>
          <a:p>
            <a:pPr eaLnBrk="1" hangingPunct="1"/>
            <a:r>
              <a:rPr lang="zh-CN" altLang="en-US" dirty="0">
                <a:solidFill>
                  <a:schemeClr val="accent2"/>
                </a:solidFill>
              </a:rPr>
              <a:t>网状模型与层次模型的区别</a:t>
            </a:r>
            <a:endParaRPr lang="zh-CN" altLang="en-US" dirty="0">
              <a:solidFill>
                <a:schemeClr val="accent2"/>
              </a:solidFill>
            </a:endParaRPr>
          </a:p>
          <a:p>
            <a:pPr lvl="1" eaLnBrk="1" hangingPunct="1"/>
            <a:r>
              <a:rPr lang="zh-CN" altLang="en-US" b="0" dirty="0"/>
              <a:t>网状模型允许多个结点没有双亲结点</a:t>
            </a:r>
            <a:endParaRPr lang="zh-CN" altLang="en-US" b="0" dirty="0"/>
          </a:p>
          <a:p>
            <a:pPr lvl="1" eaLnBrk="1" hangingPunct="1"/>
            <a:r>
              <a:rPr lang="zh-CN" altLang="en-US" b="0" dirty="0"/>
              <a:t>网状模型允许结点有多个双亲结点</a:t>
            </a:r>
            <a:endParaRPr lang="zh-CN" altLang="en-US" b="0" dirty="0"/>
          </a:p>
          <a:p>
            <a:pPr lvl="1" eaLnBrk="1" hangingPunct="1"/>
            <a:r>
              <a:rPr lang="zh-CN" altLang="en-US" b="0" dirty="0"/>
              <a:t>网状模型允许两个结点之间有多种联系（复合联系）</a:t>
            </a:r>
            <a:endParaRPr lang="zh-CN" altLang="en-US" b="0" dirty="0"/>
          </a:p>
          <a:p>
            <a:pPr lvl="1" eaLnBrk="1" hangingPunct="1"/>
            <a:r>
              <a:rPr lang="zh-CN" altLang="en-US" b="0" dirty="0"/>
              <a:t>网状模型可以更直接地去描述现实世界</a:t>
            </a:r>
            <a:endParaRPr lang="zh-CN" altLang="en-US" b="0" dirty="0"/>
          </a:p>
          <a:p>
            <a:pPr lvl="1" eaLnBrk="1" hangingPunct="1"/>
            <a:r>
              <a:rPr lang="zh-CN" altLang="en-US" b="0" dirty="0"/>
              <a:t>层次模型</a:t>
            </a:r>
            <a:r>
              <a:rPr lang="en-US" altLang="zh-CN" b="0" dirty="0"/>
              <a:t>(</a:t>
            </a:r>
            <a:r>
              <a:rPr lang="zh-CN" altLang="en-US" dirty="0"/>
              <a:t>树结构</a:t>
            </a:r>
            <a:r>
              <a:rPr lang="en-US" altLang="zh-CN" b="0" dirty="0"/>
              <a:t>)</a:t>
            </a:r>
            <a:r>
              <a:rPr lang="zh-CN" altLang="en-US" b="0" dirty="0"/>
              <a:t>实际上是网状模型</a:t>
            </a:r>
            <a:r>
              <a:rPr lang="en-US" altLang="zh-CN" b="0" dirty="0"/>
              <a:t>(</a:t>
            </a:r>
            <a:r>
              <a:rPr lang="zh-CN" altLang="en-US" dirty="0"/>
              <a:t>图结构</a:t>
            </a:r>
            <a:r>
              <a:rPr lang="en-US" altLang="zh-CN" b="0" dirty="0"/>
              <a:t>)</a:t>
            </a:r>
            <a:r>
              <a:rPr lang="zh-CN" altLang="en-US" b="0" dirty="0"/>
              <a:t>的一个特例</a:t>
            </a:r>
            <a:endParaRPr lang="zh-CN" altLang="en-US" dirty="0"/>
          </a:p>
          <a:p>
            <a:pPr algn="just" eaLnBrk="1" hangingPunct="1">
              <a:lnSpc>
                <a:spcPct val="120000"/>
              </a:lnSpc>
              <a:buNone/>
            </a:pPr>
            <a:r>
              <a:rPr lang="zh-CN" altLang="en-US" dirty="0"/>
              <a:t> </a:t>
            </a:r>
            <a:endParaRPr lang="zh-CN" alt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4627"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4628" name="Rectangle 3"/>
          <p:cNvSpPr>
            <a:spLocks noGrp="1"/>
          </p:cNvSpPr>
          <p:nvPr>
            <p:ph idx="1"/>
          </p:nvPr>
        </p:nvSpPr>
        <p:spPr>
          <a:xfrm>
            <a:off x="762000" y="1066800"/>
            <a:ext cx="8077200" cy="8382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 </a:t>
            </a:r>
            <a:endParaRPr lang="en-US" altLang="zh-CN" dirty="0"/>
          </a:p>
        </p:txBody>
      </p:sp>
      <p:grpSp>
        <p:nvGrpSpPr>
          <p:cNvPr id="154629" name="Group 4"/>
          <p:cNvGrpSpPr/>
          <p:nvPr/>
        </p:nvGrpSpPr>
        <p:grpSpPr>
          <a:xfrm>
            <a:off x="1524000" y="2286000"/>
            <a:ext cx="2422525" cy="2127250"/>
            <a:chOff x="1632" y="1344"/>
            <a:chExt cx="1526" cy="1340"/>
          </a:xfrm>
        </p:grpSpPr>
        <p:grpSp>
          <p:nvGrpSpPr>
            <p:cNvPr id="154815" name="Group 5"/>
            <p:cNvGrpSpPr/>
            <p:nvPr/>
          </p:nvGrpSpPr>
          <p:grpSpPr>
            <a:xfrm>
              <a:off x="1632" y="1344"/>
              <a:ext cx="1526" cy="300"/>
              <a:chOff x="1248" y="1952"/>
              <a:chExt cx="1526" cy="300"/>
            </a:xfrm>
          </p:grpSpPr>
          <p:sp>
            <p:nvSpPr>
              <p:cNvPr id="154859" name="Rectangle 6"/>
              <p:cNvSpPr/>
              <p:nvPr/>
            </p:nvSpPr>
            <p:spPr>
              <a:xfrm>
                <a:off x="1264" y="1984"/>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4860" name="Rectangle 7"/>
              <p:cNvSpPr/>
              <p:nvPr/>
            </p:nvSpPr>
            <p:spPr>
              <a:xfrm>
                <a:off x="1374" y="2015"/>
                <a:ext cx="192"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dirty="0">
                    <a:solidFill>
                      <a:srgbClr val="000000"/>
                    </a:solidFill>
                    <a:latin typeface="宋体" panose="02010600030101010101" pitchFamily="2" charset="-122"/>
                    <a:cs typeface="Arial" panose="020B0604020202020204" pitchFamily="34" charset="0"/>
                  </a:rPr>
                  <a:t>Ｒ</a:t>
                </a:r>
                <a:endParaRPr lang="zh-CN" altLang="en-US" sz="2400" dirty="0">
                  <a:solidFill>
                    <a:schemeClr val="tx1"/>
                  </a:solidFill>
                  <a:ea typeface="Arial" panose="020B0604020202020204" pitchFamily="34" charset="0"/>
                </a:endParaRPr>
              </a:p>
            </p:txBody>
          </p:sp>
          <p:sp>
            <p:nvSpPr>
              <p:cNvPr id="154861" name="Rectangle 8"/>
              <p:cNvSpPr/>
              <p:nvPr/>
            </p:nvSpPr>
            <p:spPr>
              <a:xfrm>
                <a:off x="1562" y="1984"/>
                <a:ext cx="14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1 </a:t>
                </a:r>
                <a:endParaRPr lang="en-US" altLang="zh-CN" sz="2400" dirty="0">
                  <a:solidFill>
                    <a:schemeClr val="tx1"/>
                  </a:solidFill>
                  <a:ea typeface="Arial" panose="020B0604020202020204" pitchFamily="34" charset="0"/>
                </a:endParaRPr>
              </a:p>
            </p:txBody>
          </p:sp>
          <p:sp>
            <p:nvSpPr>
              <p:cNvPr id="154862" name="Rectangle 9"/>
              <p:cNvSpPr/>
              <p:nvPr/>
            </p:nvSpPr>
            <p:spPr>
              <a:xfrm>
                <a:off x="124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63" name="Line 10"/>
              <p:cNvSpPr/>
              <p:nvPr/>
            </p:nvSpPr>
            <p:spPr>
              <a:xfrm>
                <a:off x="1248" y="1952"/>
                <a:ext cx="16" cy="1"/>
              </a:xfrm>
              <a:prstGeom prst="line">
                <a:avLst/>
              </a:prstGeom>
              <a:ln w="0" cap="flat" cmpd="sng">
                <a:solidFill>
                  <a:srgbClr val="000000"/>
                </a:solidFill>
                <a:prstDash val="solid"/>
                <a:headEnd type="none" w="med" len="med"/>
                <a:tailEnd type="none" w="med" len="med"/>
              </a:ln>
            </p:spPr>
          </p:sp>
          <p:sp>
            <p:nvSpPr>
              <p:cNvPr id="154864" name="Line 11"/>
              <p:cNvSpPr/>
              <p:nvPr/>
            </p:nvSpPr>
            <p:spPr>
              <a:xfrm>
                <a:off x="1248" y="1952"/>
                <a:ext cx="1" cy="16"/>
              </a:xfrm>
              <a:prstGeom prst="line">
                <a:avLst/>
              </a:prstGeom>
              <a:ln w="0" cap="flat" cmpd="sng">
                <a:solidFill>
                  <a:srgbClr val="000000"/>
                </a:solidFill>
                <a:prstDash val="solid"/>
                <a:headEnd type="none" w="med" len="med"/>
                <a:tailEnd type="none" w="med" len="med"/>
              </a:ln>
            </p:spPr>
          </p:sp>
          <p:sp>
            <p:nvSpPr>
              <p:cNvPr id="154865" name="Rectangle 12"/>
              <p:cNvSpPr/>
              <p:nvPr/>
            </p:nvSpPr>
            <p:spPr>
              <a:xfrm>
                <a:off x="124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66" name="Line 13"/>
              <p:cNvSpPr/>
              <p:nvPr/>
            </p:nvSpPr>
            <p:spPr>
              <a:xfrm>
                <a:off x="1248" y="1952"/>
                <a:ext cx="16" cy="1"/>
              </a:xfrm>
              <a:prstGeom prst="line">
                <a:avLst/>
              </a:prstGeom>
              <a:ln w="0" cap="flat" cmpd="sng">
                <a:solidFill>
                  <a:srgbClr val="000000"/>
                </a:solidFill>
                <a:prstDash val="solid"/>
                <a:headEnd type="none" w="med" len="med"/>
                <a:tailEnd type="none" w="med" len="med"/>
              </a:ln>
            </p:spPr>
          </p:sp>
          <p:sp>
            <p:nvSpPr>
              <p:cNvPr id="154867" name="Line 14"/>
              <p:cNvSpPr/>
              <p:nvPr/>
            </p:nvSpPr>
            <p:spPr>
              <a:xfrm>
                <a:off x="1248" y="1952"/>
                <a:ext cx="1" cy="16"/>
              </a:xfrm>
              <a:prstGeom prst="line">
                <a:avLst/>
              </a:prstGeom>
              <a:ln w="0" cap="flat" cmpd="sng">
                <a:solidFill>
                  <a:srgbClr val="000000"/>
                </a:solidFill>
                <a:prstDash val="solid"/>
                <a:headEnd type="none" w="med" len="med"/>
                <a:tailEnd type="none" w="med" len="med"/>
              </a:ln>
            </p:spPr>
          </p:sp>
          <p:sp>
            <p:nvSpPr>
              <p:cNvPr id="154868" name="Rectangle 15"/>
              <p:cNvSpPr/>
              <p:nvPr/>
            </p:nvSpPr>
            <p:spPr>
              <a:xfrm>
                <a:off x="1264" y="1952"/>
                <a:ext cx="48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69" name="Line 16"/>
              <p:cNvSpPr/>
              <p:nvPr/>
            </p:nvSpPr>
            <p:spPr>
              <a:xfrm>
                <a:off x="1248" y="1968"/>
                <a:ext cx="487" cy="1"/>
              </a:xfrm>
              <a:prstGeom prst="line">
                <a:avLst/>
              </a:prstGeom>
              <a:ln w="0" cap="flat" cmpd="sng">
                <a:solidFill>
                  <a:srgbClr val="000000"/>
                </a:solidFill>
                <a:prstDash val="solid"/>
                <a:headEnd type="none" w="med" len="med"/>
                <a:tailEnd type="none" w="med" len="med"/>
              </a:ln>
            </p:spPr>
          </p:sp>
          <p:sp>
            <p:nvSpPr>
              <p:cNvPr id="154870" name="Rectangle 17"/>
              <p:cNvSpPr/>
              <p:nvPr/>
            </p:nvSpPr>
            <p:spPr>
              <a:xfrm>
                <a:off x="1751"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71" name="Line 18"/>
              <p:cNvSpPr/>
              <p:nvPr/>
            </p:nvSpPr>
            <p:spPr>
              <a:xfrm>
                <a:off x="1751" y="1952"/>
                <a:ext cx="16" cy="1"/>
              </a:xfrm>
              <a:prstGeom prst="line">
                <a:avLst/>
              </a:prstGeom>
              <a:ln w="0" cap="flat" cmpd="sng">
                <a:solidFill>
                  <a:srgbClr val="000000"/>
                </a:solidFill>
                <a:prstDash val="solid"/>
                <a:headEnd type="none" w="med" len="med"/>
                <a:tailEnd type="none" w="med" len="med"/>
              </a:ln>
            </p:spPr>
          </p:sp>
          <p:sp>
            <p:nvSpPr>
              <p:cNvPr id="154872" name="Line 19"/>
              <p:cNvSpPr/>
              <p:nvPr/>
            </p:nvSpPr>
            <p:spPr>
              <a:xfrm>
                <a:off x="1751" y="1952"/>
                <a:ext cx="1" cy="16"/>
              </a:xfrm>
              <a:prstGeom prst="line">
                <a:avLst/>
              </a:prstGeom>
              <a:ln w="0" cap="flat" cmpd="sng">
                <a:solidFill>
                  <a:srgbClr val="000000"/>
                </a:solidFill>
                <a:prstDash val="solid"/>
                <a:headEnd type="none" w="med" len="med"/>
                <a:tailEnd type="none" w="med" len="med"/>
              </a:ln>
            </p:spPr>
          </p:sp>
          <p:sp>
            <p:nvSpPr>
              <p:cNvPr id="154873" name="Rectangle 20"/>
              <p:cNvSpPr/>
              <p:nvPr/>
            </p:nvSpPr>
            <p:spPr>
              <a:xfrm>
                <a:off x="1751"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74" name="Line 21"/>
              <p:cNvSpPr/>
              <p:nvPr/>
            </p:nvSpPr>
            <p:spPr>
              <a:xfrm>
                <a:off x="1751" y="1952"/>
                <a:ext cx="16" cy="1"/>
              </a:xfrm>
              <a:prstGeom prst="line">
                <a:avLst/>
              </a:prstGeom>
              <a:ln w="0" cap="flat" cmpd="sng">
                <a:solidFill>
                  <a:srgbClr val="000000"/>
                </a:solidFill>
                <a:prstDash val="solid"/>
                <a:headEnd type="none" w="med" len="med"/>
                <a:tailEnd type="none" w="med" len="med"/>
              </a:ln>
            </p:spPr>
          </p:sp>
          <p:sp>
            <p:nvSpPr>
              <p:cNvPr id="154875" name="Line 22"/>
              <p:cNvSpPr/>
              <p:nvPr/>
            </p:nvSpPr>
            <p:spPr>
              <a:xfrm>
                <a:off x="1751" y="1952"/>
                <a:ext cx="1" cy="16"/>
              </a:xfrm>
              <a:prstGeom prst="line">
                <a:avLst/>
              </a:prstGeom>
              <a:ln w="0" cap="flat" cmpd="sng">
                <a:solidFill>
                  <a:srgbClr val="000000"/>
                </a:solidFill>
                <a:prstDash val="solid"/>
                <a:headEnd type="none" w="med" len="med"/>
                <a:tailEnd type="none" w="med" len="med"/>
              </a:ln>
            </p:spPr>
          </p:sp>
          <p:sp>
            <p:nvSpPr>
              <p:cNvPr id="154876" name="Rectangle 23"/>
              <p:cNvSpPr/>
              <p:nvPr/>
            </p:nvSpPr>
            <p:spPr>
              <a:xfrm>
                <a:off x="1248" y="1968"/>
                <a:ext cx="16"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77" name="Line 24"/>
              <p:cNvSpPr/>
              <p:nvPr/>
            </p:nvSpPr>
            <p:spPr>
              <a:xfrm>
                <a:off x="1248" y="1968"/>
                <a:ext cx="1" cy="268"/>
              </a:xfrm>
              <a:prstGeom prst="line">
                <a:avLst/>
              </a:prstGeom>
              <a:ln w="0" cap="flat" cmpd="sng">
                <a:solidFill>
                  <a:srgbClr val="000000"/>
                </a:solidFill>
                <a:prstDash val="solid"/>
                <a:headEnd type="none" w="med" len="med"/>
                <a:tailEnd type="none" w="med" len="med"/>
              </a:ln>
            </p:spPr>
          </p:sp>
          <p:sp>
            <p:nvSpPr>
              <p:cNvPr id="154878" name="Rectangle 25"/>
              <p:cNvSpPr/>
              <p:nvPr/>
            </p:nvSpPr>
            <p:spPr>
              <a:xfrm>
                <a:off x="1751" y="1968"/>
                <a:ext cx="16"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79" name="Line 26"/>
              <p:cNvSpPr/>
              <p:nvPr/>
            </p:nvSpPr>
            <p:spPr>
              <a:xfrm>
                <a:off x="1751" y="1968"/>
                <a:ext cx="1" cy="268"/>
              </a:xfrm>
              <a:prstGeom prst="line">
                <a:avLst/>
              </a:prstGeom>
              <a:ln w="0" cap="flat" cmpd="sng">
                <a:solidFill>
                  <a:srgbClr val="000000"/>
                </a:solidFill>
                <a:prstDash val="solid"/>
                <a:headEnd type="none" w="med" len="med"/>
                <a:tailEnd type="none" w="med" len="med"/>
              </a:ln>
            </p:spPr>
          </p:sp>
          <p:sp>
            <p:nvSpPr>
              <p:cNvPr id="154880" name="Rectangle 27"/>
              <p:cNvSpPr/>
              <p:nvPr/>
            </p:nvSpPr>
            <p:spPr>
              <a:xfrm>
                <a:off x="124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81" name="Line 28"/>
              <p:cNvSpPr/>
              <p:nvPr/>
            </p:nvSpPr>
            <p:spPr>
              <a:xfrm>
                <a:off x="1248" y="2236"/>
                <a:ext cx="16" cy="1"/>
              </a:xfrm>
              <a:prstGeom prst="line">
                <a:avLst/>
              </a:prstGeom>
              <a:ln w="0" cap="flat" cmpd="sng">
                <a:solidFill>
                  <a:srgbClr val="000000"/>
                </a:solidFill>
                <a:prstDash val="solid"/>
                <a:headEnd type="none" w="med" len="med"/>
                <a:tailEnd type="none" w="med" len="med"/>
              </a:ln>
            </p:spPr>
          </p:sp>
          <p:sp>
            <p:nvSpPr>
              <p:cNvPr id="154882" name="Line 29"/>
              <p:cNvSpPr/>
              <p:nvPr/>
            </p:nvSpPr>
            <p:spPr>
              <a:xfrm>
                <a:off x="1248" y="2236"/>
                <a:ext cx="1" cy="16"/>
              </a:xfrm>
              <a:prstGeom prst="line">
                <a:avLst/>
              </a:prstGeom>
              <a:ln w="0" cap="flat" cmpd="sng">
                <a:solidFill>
                  <a:srgbClr val="000000"/>
                </a:solidFill>
                <a:prstDash val="solid"/>
                <a:headEnd type="none" w="med" len="med"/>
                <a:tailEnd type="none" w="med" len="med"/>
              </a:ln>
            </p:spPr>
          </p:sp>
          <p:sp>
            <p:nvSpPr>
              <p:cNvPr id="154883" name="Rectangle 30"/>
              <p:cNvSpPr/>
              <p:nvPr/>
            </p:nvSpPr>
            <p:spPr>
              <a:xfrm>
                <a:off x="124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84" name="Line 31"/>
              <p:cNvSpPr/>
              <p:nvPr/>
            </p:nvSpPr>
            <p:spPr>
              <a:xfrm>
                <a:off x="1248" y="2236"/>
                <a:ext cx="16" cy="1"/>
              </a:xfrm>
              <a:prstGeom prst="line">
                <a:avLst/>
              </a:prstGeom>
              <a:ln w="0" cap="flat" cmpd="sng">
                <a:solidFill>
                  <a:srgbClr val="000000"/>
                </a:solidFill>
                <a:prstDash val="solid"/>
                <a:headEnd type="none" w="med" len="med"/>
                <a:tailEnd type="none" w="med" len="med"/>
              </a:ln>
            </p:spPr>
          </p:sp>
          <p:sp>
            <p:nvSpPr>
              <p:cNvPr id="154885" name="Line 32"/>
              <p:cNvSpPr/>
              <p:nvPr/>
            </p:nvSpPr>
            <p:spPr>
              <a:xfrm>
                <a:off x="1248" y="2236"/>
                <a:ext cx="1" cy="16"/>
              </a:xfrm>
              <a:prstGeom prst="line">
                <a:avLst/>
              </a:prstGeom>
              <a:ln w="0" cap="flat" cmpd="sng">
                <a:solidFill>
                  <a:srgbClr val="000000"/>
                </a:solidFill>
                <a:prstDash val="solid"/>
                <a:headEnd type="none" w="med" len="med"/>
                <a:tailEnd type="none" w="med" len="med"/>
              </a:ln>
            </p:spPr>
          </p:sp>
          <p:sp>
            <p:nvSpPr>
              <p:cNvPr id="154886" name="Rectangle 33"/>
              <p:cNvSpPr/>
              <p:nvPr/>
            </p:nvSpPr>
            <p:spPr>
              <a:xfrm>
                <a:off x="1264" y="2236"/>
                <a:ext cx="48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87" name="Line 34"/>
              <p:cNvSpPr/>
              <p:nvPr/>
            </p:nvSpPr>
            <p:spPr>
              <a:xfrm>
                <a:off x="1264" y="2236"/>
                <a:ext cx="487" cy="1"/>
              </a:xfrm>
              <a:prstGeom prst="line">
                <a:avLst/>
              </a:prstGeom>
              <a:ln w="0" cap="flat" cmpd="sng">
                <a:solidFill>
                  <a:srgbClr val="000000"/>
                </a:solidFill>
                <a:prstDash val="solid"/>
                <a:headEnd type="none" w="med" len="med"/>
                <a:tailEnd type="none" w="med" len="med"/>
              </a:ln>
            </p:spPr>
          </p:sp>
          <p:sp>
            <p:nvSpPr>
              <p:cNvPr id="154888" name="Rectangle 35"/>
              <p:cNvSpPr/>
              <p:nvPr/>
            </p:nvSpPr>
            <p:spPr>
              <a:xfrm>
                <a:off x="1751"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89" name="Line 36"/>
              <p:cNvSpPr/>
              <p:nvPr/>
            </p:nvSpPr>
            <p:spPr>
              <a:xfrm>
                <a:off x="1751" y="2236"/>
                <a:ext cx="16" cy="1"/>
              </a:xfrm>
              <a:prstGeom prst="line">
                <a:avLst/>
              </a:prstGeom>
              <a:ln w="0" cap="flat" cmpd="sng">
                <a:solidFill>
                  <a:srgbClr val="000000"/>
                </a:solidFill>
                <a:prstDash val="solid"/>
                <a:headEnd type="none" w="med" len="med"/>
                <a:tailEnd type="none" w="med" len="med"/>
              </a:ln>
            </p:spPr>
          </p:sp>
          <p:sp>
            <p:nvSpPr>
              <p:cNvPr id="154890" name="Line 37"/>
              <p:cNvSpPr/>
              <p:nvPr/>
            </p:nvSpPr>
            <p:spPr>
              <a:xfrm>
                <a:off x="1751" y="2236"/>
                <a:ext cx="1" cy="16"/>
              </a:xfrm>
              <a:prstGeom prst="line">
                <a:avLst/>
              </a:prstGeom>
              <a:ln w="0" cap="flat" cmpd="sng">
                <a:solidFill>
                  <a:srgbClr val="000000"/>
                </a:solidFill>
                <a:prstDash val="solid"/>
                <a:headEnd type="none" w="med" len="med"/>
                <a:tailEnd type="none" w="med" len="med"/>
              </a:ln>
            </p:spPr>
          </p:sp>
          <p:sp>
            <p:nvSpPr>
              <p:cNvPr id="154891" name="Rectangle 38"/>
              <p:cNvSpPr/>
              <p:nvPr/>
            </p:nvSpPr>
            <p:spPr>
              <a:xfrm>
                <a:off x="1751"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92" name="Line 39"/>
              <p:cNvSpPr/>
              <p:nvPr/>
            </p:nvSpPr>
            <p:spPr>
              <a:xfrm>
                <a:off x="1751" y="2236"/>
                <a:ext cx="16" cy="1"/>
              </a:xfrm>
              <a:prstGeom prst="line">
                <a:avLst/>
              </a:prstGeom>
              <a:ln w="0" cap="flat" cmpd="sng">
                <a:solidFill>
                  <a:srgbClr val="000000"/>
                </a:solidFill>
                <a:prstDash val="solid"/>
                <a:headEnd type="none" w="med" len="med"/>
                <a:tailEnd type="none" w="med" len="med"/>
              </a:ln>
            </p:spPr>
          </p:sp>
          <p:sp>
            <p:nvSpPr>
              <p:cNvPr id="154893" name="Line 40"/>
              <p:cNvSpPr/>
              <p:nvPr/>
            </p:nvSpPr>
            <p:spPr>
              <a:xfrm>
                <a:off x="1751" y="2236"/>
                <a:ext cx="1" cy="16"/>
              </a:xfrm>
              <a:prstGeom prst="line">
                <a:avLst/>
              </a:prstGeom>
              <a:ln w="0" cap="flat" cmpd="sng">
                <a:solidFill>
                  <a:srgbClr val="000000"/>
                </a:solidFill>
                <a:prstDash val="solid"/>
                <a:headEnd type="none" w="med" len="med"/>
                <a:tailEnd type="none" w="med" len="med"/>
              </a:ln>
            </p:spPr>
          </p:sp>
          <p:sp>
            <p:nvSpPr>
              <p:cNvPr id="154894" name="Rectangle 41"/>
              <p:cNvSpPr/>
              <p:nvPr/>
            </p:nvSpPr>
            <p:spPr>
              <a:xfrm>
                <a:off x="1767" y="1968"/>
                <a:ext cx="224" cy="26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8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4895" name="Rectangle 42"/>
              <p:cNvSpPr/>
              <p:nvPr/>
            </p:nvSpPr>
            <p:spPr>
              <a:xfrm>
                <a:off x="2223" y="1984"/>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4896" name="Rectangle 43"/>
              <p:cNvSpPr/>
              <p:nvPr/>
            </p:nvSpPr>
            <p:spPr>
              <a:xfrm>
                <a:off x="2333" y="1984"/>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4897" name="Rectangle 44"/>
              <p:cNvSpPr/>
              <p:nvPr/>
            </p:nvSpPr>
            <p:spPr>
              <a:xfrm>
                <a:off x="2428" y="2015"/>
                <a:ext cx="192"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400" dirty="0">
                    <a:solidFill>
                      <a:srgbClr val="000000"/>
                    </a:solidFill>
                    <a:latin typeface="宋体" panose="02010600030101010101" pitchFamily="2" charset="-122"/>
                    <a:cs typeface="Arial" panose="020B0604020202020204" pitchFamily="34" charset="0"/>
                  </a:rPr>
                  <a:t>Ｒ</a:t>
                </a:r>
                <a:endParaRPr lang="zh-CN" altLang="en-US" sz="2400" dirty="0">
                  <a:solidFill>
                    <a:schemeClr val="tx1"/>
                  </a:solidFill>
                  <a:ea typeface="Arial" panose="020B0604020202020204" pitchFamily="34" charset="0"/>
                </a:endParaRPr>
              </a:p>
            </p:txBody>
          </p:sp>
          <p:sp>
            <p:nvSpPr>
              <p:cNvPr id="154898" name="Rectangle 45"/>
              <p:cNvSpPr/>
              <p:nvPr/>
            </p:nvSpPr>
            <p:spPr>
              <a:xfrm>
                <a:off x="2616" y="1984"/>
                <a:ext cx="96"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2</a:t>
                </a:r>
                <a:endParaRPr lang="en-US" altLang="zh-CN" sz="2400" dirty="0">
                  <a:solidFill>
                    <a:schemeClr val="tx1"/>
                  </a:solidFill>
                  <a:ea typeface="Arial" panose="020B0604020202020204" pitchFamily="34" charset="0"/>
                </a:endParaRPr>
              </a:p>
            </p:txBody>
          </p:sp>
          <p:sp>
            <p:nvSpPr>
              <p:cNvPr id="154899" name="Rectangle 46"/>
              <p:cNvSpPr/>
              <p:nvPr/>
            </p:nvSpPr>
            <p:spPr>
              <a:xfrm>
                <a:off x="2318" y="1952"/>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00" name="Line 47"/>
              <p:cNvSpPr/>
              <p:nvPr/>
            </p:nvSpPr>
            <p:spPr>
              <a:xfrm>
                <a:off x="2318" y="1952"/>
                <a:ext cx="15" cy="1"/>
              </a:xfrm>
              <a:prstGeom prst="line">
                <a:avLst/>
              </a:prstGeom>
              <a:ln w="0" cap="flat" cmpd="sng">
                <a:solidFill>
                  <a:srgbClr val="000000"/>
                </a:solidFill>
                <a:prstDash val="solid"/>
                <a:headEnd type="none" w="med" len="med"/>
                <a:tailEnd type="none" w="med" len="med"/>
              </a:ln>
            </p:spPr>
          </p:sp>
          <p:sp>
            <p:nvSpPr>
              <p:cNvPr id="154901" name="Line 48"/>
              <p:cNvSpPr/>
              <p:nvPr/>
            </p:nvSpPr>
            <p:spPr>
              <a:xfrm>
                <a:off x="2318" y="1952"/>
                <a:ext cx="1" cy="16"/>
              </a:xfrm>
              <a:prstGeom prst="line">
                <a:avLst/>
              </a:prstGeom>
              <a:ln w="0" cap="flat" cmpd="sng">
                <a:solidFill>
                  <a:srgbClr val="000000"/>
                </a:solidFill>
                <a:prstDash val="solid"/>
                <a:headEnd type="none" w="med" len="med"/>
                <a:tailEnd type="none" w="med" len="med"/>
              </a:ln>
            </p:spPr>
          </p:sp>
          <p:sp>
            <p:nvSpPr>
              <p:cNvPr id="154902" name="Rectangle 49"/>
              <p:cNvSpPr/>
              <p:nvPr/>
            </p:nvSpPr>
            <p:spPr>
              <a:xfrm>
                <a:off x="2318" y="1952"/>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03" name="Line 50"/>
              <p:cNvSpPr/>
              <p:nvPr/>
            </p:nvSpPr>
            <p:spPr>
              <a:xfrm>
                <a:off x="2318" y="1952"/>
                <a:ext cx="15" cy="1"/>
              </a:xfrm>
              <a:prstGeom prst="line">
                <a:avLst/>
              </a:prstGeom>
              <a:ln w="0" cap="flat" cmpd="sng">
                <a:solidFill>
                  <a:srgbClr val="000000"/>
                </a:solidFill>
                <a:prstDash val="solid"/>
                <a:headEnd type="none" w="med" len="med"/>
                <a:tailEnd type="none" w="med" len="med"/>
              </a:ln>
            </p:spPr>
          </p:sp>
          <p:sp>
            <p:nvSpPr>
              <p:cNvPr id="154904" name="Line 51"/>
              <p:cNvSpPr/>
              <p:nvPr/>
            </p:nvSpPr>
            <p:spPr>
              <a:xfrm>
                <a:off x="2318" y="1952"/>
                <a:ext cx="1" cy="16"/>
              </a:xfrm>
              <a:prstGeom prst="line">
                <a:avLst/>
              </a:prstGeom>
              <a:ln w="0" cap="flat" cmpd="sng">
                <a:solidFill>
                  <a:srgbClr val="000000"/>
                </a:solidFill>
                <a:prstDash val="solid"/>
                <a:headEnd type="none" w="med" len="med"/>
                <a:tailEnd type="none" w="med" len="med"/>
              </a:ln>
            </p:spPr>
          </p:sp>
          <p:sp>
            <p:nvSpPr>
              <p:cNvPr id="154905" name="Rectangle 52"/>
              <p:cNvSpPr/>
              <p:nvPr/>
            </p:nvSpPr>
            <p:spPr>
              <a:xfrm>
                <a:off x="2333" y="1952"/>
                <a:ext cx="42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06" name="Line 53"/>
              <p:cNvSpPr/>
              <p:nvPr/>
            </p:nvSpPr>
            <p:spPr>
              <a:xfrm>
                <a:off x="2333" y="1952"/>
                <a:ext cx="425" cy="1"/>
              </a:xfrm>
              <a:prstGeom prst="line">
                <a:avLst/>
              </a:prstGeom>
              <a:ln w="0" cap="flat" cmpd="sng">
                <a:solidFill>
                  <a:srgbClr val="000000"/>
                </a:solidFill>
                <a:prstDash val="solid"/>
                <a:headEnd type="none" w="med" len="med"/>
                <a:tailEnd type="none" w="med" len="med"/>
              </a:ln>
            </p:spPr>
          </p:sp>
          <p:sp>
            <p:nvSpPr>
              <p:cNvPr id="154907" name="Rectangle 54"/>
              <p:cNvSpPr/>
              <p:nvPr/>
            </p:nvSpPr>
            <p:spPr>
              <a:xfrm>
                <a:off x="275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08" name="Line 55"/>
              <p:cNvSpPr/>
              <p:nvPr/>
            </p:nvSpPr>
            <p:spPr>
              <a:xfrm>
                <a:off x="2758" y="1952"/>
                <a:ext cx="16" cy="1"/>
              </a:xfrm>
              <a:prstGeom prst="line">
                <a:avLst/>
              </a:prstGeom>
              <a:ln w="0" cap="flat" cmpd="sng">
                <a:solidFill>
                  <a:srgbClr val="000000"/>
                </a:solidFill>
                <a:prstDash val="solid"/>
                <a:headEnd type="none" w="med" len="med"/>
                <a:tailEnd type="none" w="med" len="med"/>
              </a:ln>
            </p:spPr>
          </p:sp>
          <p:sp>
            <p:nvSpPr>
              <p:cNvPr id="154909" name="Line 56"/>
              <p:cNvSpPr/>
              <p:nvPr/>
            </p:nvSpPr>
            <p:spPr>
              <a:xfrm>
                <a:off x="2758" y="1952"/>
                <a:ext cx="1" cy="16"/>
              </a:xfrm>
              <a:prstGeom prst="line">
                <a:avLst/>
              </a:prstGeom>
              <a:ln w="0" cap="flat" cmpd="sng">
                <a:solidFill>
                  <a:srgbClr val="000000"/>
                </a:solidFill>
                <a:prstDash val="solid"/>
                <a:headEnd type="none" w="med" len="med"/>
                <a:tailEnd type="none" w="med" len="med"/>
              </a:ln>
            </p:spPr>
          </p:sp>
          <p:sp>
            <p:nvSpPr>
              <p:cNvPr id="154910" name="Rectangle 57"/>
              <p:cNvSpPr/>
              <p:nvPr/>
            </p:nvSpPr>
            <p:spPr>
              <a:xfrm>
                <a:off x="2758" y="195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11" name="Line 58"/>
              <p:cNvSpPr/>
              <p:nvPr/>
            </p:nvSpPr>
            <p:spPr>
              <a:xfrm>
                <a:off x="2758" y="1952"/>
                <a:ext cx="16" cy="1"/>
              </a:xfrm>
              <a:prstGeom prst="line">
                <a:avLst/>
              </a:prstGeom>
              <a:ln w="0" cap="flat" cmpd="sng">
                <a:solidFill>
                  <a:srgbClr val="000000"/>
                </a:solidFill>
                <a:prstDash val="solid"/>
                <a:headEnd type="none" w="med" len="med"/>
                <a:tailEnd type="none" w="med" len="med"/>
              </a:ln>
            </p:spPr>
          </p:sp>
          <p:sp>
            <p:nvSpPr>
              <p:cNvPr id="154912" name="Line 59"/>
              <p:cNvSpPr/>
              <p:nvPr/>
            </p:nvSpPr>
            <p:spPr>
              <a:xfrm>
                <a:off x="2758" y="1952"/>
                <a:ext cx="1" cy="16"/>
              </a:xfrm>
              <a:prstGeom prst="line">
                <a:avLst/>
              </a:prstGeom>
              <a:ln w="0" cap="flat" cmpd="sng">
                <a:solidFill>
                  <a:srgbClr val="000000"/>
                </a:solidFill>
                <a:prstDash val="solid"/>
                <a:headEnd type="none" w="med" len="med"/>
                <a:tailEnd type="none" w="med" len="med"/>
              </a:ln>
            </p:spPr>
          </p:sp>
          <p:sp>
            <p:nvSpPr>
              <p:cNvPr id="154913" name="Rectangle 60"/>
              <p:cNvSpPr/>
              <p:nvPr/>
            </p:nvSpPr>
            <p:spPr>
              <a:xfrm>
                <a:off x="2318" y="1968"/>
                <a:ext cx="15"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14" name="Line 61"/>
              <p:cNvSpPr/>
              <p:nvPr/>
            </p:nvSpPr>
            <p:spPr>
              <a:xfrm>
                <a:off x="2318" y="1968"/>
                <a:ext cx="1" cy="268"/>
              </a:xfrm>
              <a:prstGeom prst="line">
                <a:avLst/>
              </a:prstGeom>
              <a:ln w="0" cap="flat" cmpd="sng">
                <a:solidFill>
                  <a:srgbClr val="000000"/>
                </a:solidFill>
                <a:prstDash val="solid"/>
                <a:headEnd type="none" w="med" len="med"/>
                <a:tailEnd type="none" w="med" len="med"/>
              </a:ln>
            </p:spPr>
          </p:sp>
          <p:sp>
            <p:nvSpPr>
              <p:cNvPr id="154915" name="Rectangle 62"/>
              <p:cNvSpPr/>
              <p:nvPr/>
            </p:nvSpPr>
            <p:spPr>
              <a:xfrm>
                <a:off x="2758" y="1968"/>
                <a:ext cx="16" cy="268"/>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16" name="Line 63"/>
              <p:cNvSpPr/>
              <p:nvPr/>
            </p:nvSpPr>
            <p:spPr>
              <a:xfrm>
                <a:off x="2758" y="1968"/>
                <a:ext cx="1" cy="268"/>
              </a:xfrm>
              <a:prstGeom prst="line">
                <a:avLst/>
              </a:prstGeom>
              <a:ln w="0" cap="flat" cmpd="sng">
                <a:solidFill>
                  <a:srgbClr val="000000"/>
                </a:solidFill>
                <a:prstDash val="solid"/>
                <a:headEnd type="none" w="med" len="med"/>
                <a:tailEnd type="none" w="med" len="med"/>
              </a:ln>
            </p:spPr>
          </p:sp>
          <p:sp>
            <p:nvSpPr>
              <p:cNvPr id="154917" name="Rectangle 64"/>
              <p:cNvSpPr/>
              <p:nvPr/>
            </p:nvSpPr>
            <p:spPr>
              <a:xfrm>
                <a:off x="2318" y="223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18" name="Line 65"/>
              <p:cNvSpPr/>
              <p:nvPr/>
            </p:nvSpPr>
            <p:spPr>
              <a:xfrm>
                <a:off x="2318" y="2236"/>
                <a:ext cx="15" cy="1"/>
              </a:xfrm>
              <a:prstGeom prst="line">
                <a:avLst/>
              </a:prstGeom>
              <a:ln w="0" cap="flat" cmpd="sng">
                <a:solidFill>
                  <a:srgbClr val="000000"/>
                </a:solidFill>
                <a:prstDash val="solid"/>
                <a:headEnd type="none" w="med" len="med"/>
                <a:tailEnd type="none" w="med" len="med"/>
              </a:ln>
            </p:spPr>
          </p:sp>
          <p:sp>
            <p:nvSpPr>
              <p:cNvPr id="154919" name="Line 66"/>
              <p:cNvSpPr/>
              <p:nvPr/>
            </p:nvSpPr>
            <p:spPr>
              <a:xfrm>
                <a:off x="2318" y="2236"/>
                <a:ext cx="1" cy="16"/>
              </a:xfrm>
              <a:prstGeom prst="line">
                <a:avLst/>
              </a:prstGeom>
              <a:ln w="0" cap="flat" cmpd="sng">
                <a:solidFill>
                  <a:srgbClr val="000000"/>
                </a:solidFill>
                <a:prstDash val="solid"/>
                <a:headEnd type="none" w="med" len="med"/>
                <a:tailEnd type="none" w="med" len="med"/>
              </a:ln>
            </p:spPr>
          </p:sp>
          <p:sp>
            <p:nvSpPr>
              <p:cNvPr id="154920" name="Rectangle 67"/>
              <p:cNvSpPr/>
              <p:nvPr/>
            </p:nvSpPr>
            <p:spPr>
              <a:xfrm>
                <a:off x="2318" y="223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21" name="Line 68"/>
              <p:cNvSpPr/>
              <p:nvPr/>
            </p:nvSpPr>
            <p:spPr>
              <a:xfrm>
                <a:off x="2318" y="2236"/>
                <a:ext cx="15" cy="1"/>
              </a:xfrm>
              <a:prstGeom prst="line">
                <a:avLst/>
              </a:prstGeom>
              <a:ln w="0" cap="flat" cmpd="sng">
                <a:solidFill>
                  <a:srgbClr val="000000"/>
                </a:solidFill>
                <a:prstDash val="solid"/>
                <a:headEnd type="none" w="med" len="med"/>
                <a:tailEnd type="none" w="med" len="med"/>
              </a:ln>
            </p:spPr>
          </p:sp>
          <p:sp>
            <p:nvSpPr>
              <p:cNvPr id="154922" name="Line 69"/>
              <p:cNvSpPr/>
              <p:nvPr/>
            </p:nvSpPr>
            <p:spPr>
              <a:xfrm>
                <a:off x="2318" y="2236"/>
                <a:ext cx="1" cy="16"/>
              </a:xfrm>
              <a:prstGeom prst="line">
                <a:avLst/>
              </a:prstGeom>
              <a:ln w="0" cap="flat" cmpd="sng">
                <a:solidFill>
                  <a:srgbClr val="000000"/>
                </a:solidFill>
                <a:prstDash val="solid"/>
                <a:headEnd type="none" w="med" len="med"/>
                <a:tailEnd type="none" w="med" len="med"/>
              </a:ln>
            </p:spPr>
          </p:sp>
          <p:sp>
            <p:nvSpPr>
              <p:cNvPr id="154923" name="Rectangle 70"/>
              <p:cNvSpPr/>
              <p:nvPr/>
            </p:nvSpPr>
            <p:spPr>
              <a:xfrm>
                <a:off x="2333" y="2236"/>
                <a:ext cx="42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24" name="Line 71"/>
              <p:cNvSpPr/>
              <p:nvPr/>
            </p:nvSpPr>
            <p:spPr>
              <a:xfrm>
                <a:off x="2333" y="2236"/>
                <a:ext cx="425" cy="1"/>
              </a:xfrm>
              <a:prstGeom prst="line">
                <a:avLst/>
              </a:prstGeom>
              <a:ln w="0" cap="flat" cmpd="sng">
                <a:solidFill>
                  <a:srgbClr val="000000"/>
                </a:solidFill>
                <a:prstDash val="solid"/>
                <a:headEnd type="none" w="med" len="med"/>
                <a:tailEnd type="none" w="med" len="med"/>
              </a:ln>
            </p:spPr>
          </p:sp>
          <p:sp>
            <p:nvSpPr>
              <p:cNvPr id="154925" name="Rectangle 72"/>
              <p:cNvSpPr/>
              <p:nvPr/>
            </p:nvSpPr>
            <p:spPr>
              <a:xfrm>
                <a:off x="275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26" name="Line 73"/>
              <p:cNvSpPr/>
              <p:nvPr/>
            </p:nvSpPr>
            <p:spPr>
              <a:xfrm>
                <a:off x="2758" y="2236"/>
                <a:ext cx="16" cy="1"/>
              </a:xfrm>
              <a:prstGeom prst="line">
                <a:avLst/>
              </a:prstGeom>
              <a:ln w="0" cap="flat" cmpd="sng">
                <a:solidFill>
                  <a:srgbClr val="000000"/>
                </a:solidFill>
                <a:prstDash val="solid"/>
                <a:headEnd type="none" w="med" len="med"/>
                <a:tailEnd type="none" w="med" len="med"/>
              </a:ln>
            </p:spPr>
          </p:sp>
          <p:sp>
            <p:nvSpPr>
              <p:cNvPr id="154927" name="Line 74"/>
              <p:cNvSpPr/>
              <p:nvPr/>
            </p:nvSpPr>
            <p:spPr>
              <a:xfrm>
                <a:off x="2758" y="2236"/>
                <a:ext cx="1" cy="16"/>
              </a:xfrm>
              <a:prstGeom prst="line">
                <a:avLst/>
              </a:prstGeom>
              <a:ln w="0" cap="flat" cmpd="sng">
                <a:solidFill>
                  <a:srgbClr val="000000"/>
                </a:solidFill>
                <a:prstDash val="solid"/>
                <a:headEnd type="none" w="med" len="med"/>
                <a:tailEnd type="none" w="med" len="med"/>
              </a:ln>
            </p:spPr>
          </p:sp>
          <p:sp>
            <p:nvSpPr>
              <p:cNvPr id="154928" name="Rectangle 75"/>
              <p:cNvSpPr/>
              <p:nvPr/>
            </p:nvSpPr>
            <p:spPr>
              <a:xfrm>
                <a:off x="2758" y="2236"/>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929" name="Line 76"/>
              <p:cNvSpPr/>
              <p:nvPr/>
            </p:nvSpPr>
            <p:spPr>
              <a:xfrm>
                <a:off x="2758" y="2236"/>
                <a:ext cx="16" cy="1"/>
              </a:xfrm>
              <a:prstGeom prst="line">
                <a:avLst/>
              </a:prstGeom>
              <a:ln w="0" cap="flat" cmpd="sng">
                <a:solidFill>
                  <a:srgbClr val="000000"/>
                </a:solidFill>
                <a:prstDash val="solid"/>
                <a:headEnd type="none" w="med" len="med"/>
                <a:tailEnd type="none" w="med" len="med"/>
              </a:ln>
            </p:spPr>
          </p:sp>
          <p:sp>
            <p:nvSpPr>
              <p:cNvPr id="154930" name="Line 77"/>
              <p:cNvSpPr/>
              <p:nvPr/>
            </p:nvSpPr>
            <p:spPr>
              <a:xfrm>
                <a:off x="2758" y="2236"/>
                <a:ext cx="1" cy="16"/>
              </a:xfrm>
              <a:prstGeom prst="line">
                <a:avLst/>
              </a:prstGeom>
              <a:ln w="0" cap="flat" cmpd="sng">
                <a:solidFill>
                  <a:srgbClr val="000000"/>
                </a:solidFill>
                <a:prstDash val="solid"/>
                <a:headEnd type="none" w="med" len="med"/>
                <a:tailEnd type="none" w="med" len="med"/>
              </a:ln>
            </p:spPr>
          </p:sp>
        </p:grpSp>
        <p:grpSp>
          <p:nvGrpSpPr>
            <p:cNvPr id="154816" name="Group 78"/>
            <p:cNvGrpSpPr/>
            <p:nvPr/>
          </p:nvGrpSpPr>
          <p:grpSpPr>
            <a:xfrm>
              <a:off x="2256" y="2400"/>
              <a:ext cx="409" cy="284"/>
              <a:chOff x="1814" y="2962"/>
              <a:chExt cx="409" cy="284"/>
            </a:xfrm>
          </p:grpSpPr>
          <p:sp>
            <p:nvSpPr>
              <p:cNvPr id="154825" name="Rectangle 79"/>
              <p:cNvSpPr/>
              <p:nvPr/>
            </p:nvSpPr>
            <p:spPr>
              <a:xfrm>
                <a:off x="1830" y="2993"/>
                <a:ext cx="4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4826" name="Rectangle 80"/>
              <p:cNvSpPr/>
              <p:nvPr/>
            </p:nvSpPr>
            <p:spPr>
              <a:xfrm>
                <a:off x="1940" y="2993"/>
                <a:ext cx="235"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R3</a:t>
                </a:r>
                <a:endParaRPr lang="en-US" altLang="zh-CN" sz="2400" dirty="0">
                  <a:solidFill>
                    <a:schemeClr val="tx1"/>
                  </a:solidFill>
                  <a:ea typeface="Arial" panose="020B0604020202020204" pitchFamily="34" charset="0"/>
                </a:endParaRPr>
              </a:p>
            </p:txBody>
          </p:sp>
          <p:sp>
            <p:nvSpPr>
              <p:cNvPr id="154827" name="Rectangle 81"/>
              <p:cNvSpPr/>
              <p:nvPr/>
            </p:nvSpPr>
            <p:spPr>
              <a:xfrm>
                <a:off x="1814"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28" name="Line 82"/>
              <p:cNvSpPr/>
              <p:nvPr/>
            </p:nvSpPr>
            <p:spPr>
              <a:xfrm>
                <a:off x="1814" y="2962"/>
                <a:ext cx="16" cy="1"/>
              </a:xfrm>
              <a:prstGeom prst="line">
                <a:avLst/>
              </a:prstGeom>
              <a:ln w="0" cap="flat" cmpd="sng">
                <a:solidFill>
                  <a:srgbClr val="000000"/>
                </a:solidFill>
                <a:prstDash val="solid"/>
                <a:headEnd type="none" w="med" len="med"/>
                <a:tailEnd type="none" w="med" len="med"/>
              </a:ln>
            </p:spPr>
          </p:sp>
          <p:sp>
            <p:nvSpPr>
              <p:cNvPr id="154829" name="Line 83"/>
              <p:cNvSpPr/>
              <p:nvPr/>
            </p:nvSpPr>
            <p:spPr>
              <a:xfrm>
                <a:off x="1814" y="2962"/>
                <a:ext cx="1" cy="16"/>
              </a:xfrm>
              <a:prstGeom prst="line">
                <a:avLst/>
              </a:prstGeom>
              <a:ln w="0" cap="flat" cmpd="sng">
                <a:solidFill>
                  <a:srgbClr val="000000"/>
                </a:solidFill>
                <a:prstDash val="solid"/>
                <a:headEnd type="none" w="med" len="med"/>
                <a:tailEnd type="none" w="med" len="med"/>
              </a:ln>
            </p:spPr>
          </p:sp>
          <p:sp>
            <p:nvSpPr>
              <p:cNvPr id="154830" name="Rectangle 84"/>
              <p:cNvSpPr/>
              <p:nvPr/>
            </p:nvSpPr>
            <p:spPr>
              <a:xfrm>
                <a:off x="1814"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31" name="Line 85"/>
              <p:cNvSpPr/>
              <p:nvPr/>
            </p:nvSpPr>
            <p:spPr>
              <a:xfrm>
                <a:off x="1814" y="2962"/>
                <a:ext cx="16" cy="1"/>
              </a:xfrm>
              <a:prstGeom prst="line">
                <a:avLst/>
              </a:prstGeom>
              <a:ln w="0" cap="flat" cmpd="sng">
                <a:solidFill>
                  <a:srgbClr val="000000"/>
                </a:solidFill>
                <a:prstDash val="solid"/>
                <a:headEnd type="none" w="med" len="med"/>
                <a:tailEnd type="none" w="med" len="med"/>
              </a:ln>
            </p:spPr>
          </p:sp>
          <p:sp>
            <p:nvSpPr>
              <p:cNvPr id="154832" name="Line 86"/>
              <p:cNvSpPr/>
              <p:nvPr/>
            </p:nvSpPr>
            <p:spPr>
              <a:xfrm>
                <a:off x="1814" y="2962"/>
                <a:ext cx="1" cy="16"/>
              </a:xfrm>
              <a:prstGeom prst="line">
                <a:avLst/>
              </a:prstGeom>
              <a:ln w="0" cap="flat" cmpd="sng">
                <a:solidFill>
                  <a:srgbClr val="000000"/>
                </a:solidFill>
                <a:prstDash val="solid"/>
                <a:headEnd type="none" w="med" len="med"/>
                <a:tailEnd type="none" w="med" len="med"/>
              </a:ln>
            </p:spPr>
          </p:sp>
          <p:sp>
            <p:nvSpPr>
              <p:cNvPr id="154833" name="Rectangle 87"/>
              <p:cNvSpPr/>
              <p:nvPr/>
            </p:nvSpPr>
            <p:spPr>
              <a:xfrm>
                <a:off x="1830" y="2962"/>
                <a:ext cx="37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34" name="Line 88"/>
              <p:cNvSpPr/>
              <p:nvPr/>
            </p:nvSpPr>
            <p:spPr>
              <a:xfrm>
                <a:off x="1830" y="2962"/>
                <a:ext cx="377" cy="1"/>
              </a:xfrm>
              <a:prstGeom prst="line">
                <a:avLst/>
              </a:prstGeom>
              <a:ln w="0" cap="flat" cmpd="sng">
                <a:solidFill>
                  <a:srgbClr val="000000"/>
                </a:solidFill>
                <a:prstDash val="solid"/>
                <a:headEnd type="none" w="med" len="med"/>
                <a:tailEnd type="none" w="med" len="med"/>
              </a:ln>
            </p:spPr>
          </p:sp>
          <p:sp>
            <p:nvSpPr>
              <p:cNvPr id="154835" name="Rectangle 89"/>
              <p:cNvSpPr/>
              <p:nvPr/>
            </p:nvSpPr>
            <p:spPr>
              <a:xfrm>
                <a:off x="2207"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36" name="Line 90"/>
              <p:cNvSpPr/>
              <p:nvPr/>
            </p:nvSpPr>
            <p:spPr>
              <a:xfrm>
                <a:off x="2207" y="2962"/>
                <a:ext cx="16" cy="1"/>
              </a:xfrm>
              <a:prstGeom prst="line">
                <a:avLst/>
              </a:prstGeom>
              <a:ln w="0" cap="flat" cmpd="sng">
                <a:solidFill>
                  <a:srgbClr val="000000"/>
                </a:solidFill>
                <a:prstDash val="solid"/>
                <a:headEnd type="none" w="med" len="med"/>
                <a:tailEnd type="none" w="med" len="med"/>
              </a:ln>
            </p:spPr>
          </p:sp>
          <p:sp>
            <p:nvSpPr>
              <p:cNvPr id="154837" name="Line 91"/>
              <p:cNvSpPr/>
              <p:nvPr/>
            </p:nvSpPr>
            <p:spPr>
              <a:xfrm>
                <a:off x="2207" y="2962"/>
                <a:ext cx="1" cy="16"/>
              </a:xfrm>
              <a:prstGeom prst="line">
                <a:avLst/>
              </a:prstGeom>
              <a:ln w="0" cap="flat" cmpd="sng">
                <a:solidFill>
                  <a:srgbClr val="000000"/>
                </a:solidFill>
                <a:prstDash val="solid"/>
                <a:headEnd type="none" w="med" len="med"/>
                <a:tailEnd type="none" w="med" len="med"/>
              </a:ln>
            </p:spPr>
          </p:sp>
          <p:sp>
            <p:nvSpPr>
              <p:cNvPr id="154838" name="Rectangle 92"/>
              <p:cNvSpPr/>
              <p:nvPr/>
            </p:nvSpPr>
            <p:spPr>
              <a:xfrm>
                <a:off x="2207" y="2962"/>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39" name="Line 93"/>
              <p:cNvSpPr/>
              <p:nvPr/>
            </p:nvSpPr>
            <p:spPr>
              <a:xfrm>
                <a:off x="2207" y="2962"/>
                <a:ext cx="16" cy="1"/>
              </a:xfrm>
              <a:prstGeom prst="line">
                <a:avLst/>
              </a:prstGeom>
              <a:ln w="0" cap="flat" cmpd="sng">
                <a:solidFill>
                  <a:srgbClr val="000000"/>
                </a:solidFill>
                <a:prstDash val="solid"/>
                <a:headEnd type="none" w="med" len="med"/>
                <a:tailEnd type="none" w="med" len="med"/>
              </a:ln>
            </p:spPr>
          </p:sp>
          <p:sp>
            <p:nvSpPr>
              <p:cNvPr id="154840" name="Line 94"/>
              <p:cNvSpPr/>
              <p:nvPr/>
            </p:nvSpPr>
            <p:spPr>
              <a:xfrm>
                <a:off x="2207" y="2962"/>
                <a:ext cx="1" cy="16"/>
              </a:xfrm>
              <a:prstGeom prst="line">
                <a:avLst/>
              </a:prstGeom>
              <a:ln w="0" cap="flat" cmpd="sng">
                <a:solidFill>
                  <a:srgbClr val="000000"/>
                </a:solidFill>
                <a:prstDash val="solid"/>
                <a:headEnd type="none" w="med" len="med"/>
                <a:tailEnd type="none" w="med" len="med"/>
              </a:ln>
            </p:spPr>
          </p:sp>
          <p:sp>
            <p:nvSpPr>
              <p:cNvPr id="154841" name="Rectangle 95"/>
              <p:cNvSpPr/>
              <p:nvPr/>
            </p:nvSpPr>
            <p:spPr>
              <a:xfrm>
                <a:off x="1814" y="2978"/>
                <a:ext cx="16" cy="25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42" name="Line 96"/>
              <p:cNvSpPr/>
              <p:nvPr/>
            </p:nvSpPr>
            <p:spPr>
              <a:xfrm>
                <a:off x="1814" y="2978"/>
                <a:ext cx="1" cy="252"/>
              </a:xfrm>
              <a:prstGeom prst="line">
                <a:avLst/>
              </a:prstGeom>
              <a:ln w="0" cap="flat" cmpd="sng">
                <a:solidFill>
                  <a:srgbClr val="000000"/>
                </a:solidFill>
                <a:prstDash val="solid"/>
                <a:headEnd type="none" w="med" len="med"/>
                <a:tailEnd type="none" w="med" len="med"/>
              </a:ln>
            </p:spPr>
          </p:sp>
          <p:sp>
            <p:nvSpPr>
              <p:cNvPr id="154843" name="Rectangle 97"/>
              <p:cNvSpPr/>
              <p:nvPr/>
            </p:nvSpPr>
            <p:spPr>
              <a:xfrm>
                <a:off x="2207" y="2978"/>
                <a:ext cx="16" cy="252"/>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44" name="Line 98"/>
              <p:cNvSpPr/>
              <p:nvPr/>
            </p:nvSpPr>
            <p:spPr>
              <a:xfrm>
                <a:off x="2207" y="2978"/>
                <a:ext cx="1" cy="252"/>
              </a:xfrm>
              <a:prstGeom prst="line">
                <a:avLst/>
              </a:prstGeom>
              <a:ln w="0" cap="flat" cmpd="sng">
                <a:solidFill>
                  <a:srgbClr val="000000"/>
                </a:solidFill>
                <a:prstDash val="solid"/>
                <a:headEnd type="none" w="med" len="med"/>
                <a:tailEnd type="none" w="med" len="med"/>
              </a:ln>
            </p:spPr>
          </p:sp>
          <p:sp>
            <p:nvSpPr>
              <p:cNvPr id="154845" name="Rectangle 99"/>
              <p:cNvSpPr/>
              <p:nvPr/>
            </p:nvSpPr>
            <p:spPr>
              <a:xfrm>
                <a:off x="1814"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46" name="Line 100"/>
              <p:cNvSpPr/>
              <p:nvPr/>
            </p:nvSpPr>
            <p:spPr>
              <a:xfrm>
                <a:off x="1814" y="3230"/>
                <a:ext cx="16" cy="1"/>
              </a:xfrm>
              <a:prstGeom prst="line">
                <a:avLst/>
              </a:prstGeom>
              <a:ln w="0" cap="flat" cmpd="sng">
                <a:solidFill>
                  <a:srgbClr val="000000"/>
                </a:solidFill>
                <a:prstDash val="solid"/>
                <a:headEnd type="none" w="med" len="med"/>
                <a:tailEnd type="none" w="med" len="med"/>
              </a:ln>
            </p:spPr>
          </p:sp>
          <p:sp>
            <p:nvSpPr>
              <p:cNvPr id="154847" name="Line 101"/>
              <p:cNvSpPr/>
              <p:nvPr/>
            </p:nvSpPr>
            <p:spPr>
              <a:xfrm>
                <a:off x="1814" y="3230"/>
                <a:ext cx="1" cy="16"/>
              </a:xfrm>
              <a:prstGeom prst="line">
                <a:avLst/>
              </a:prstGeom>
              <a:ln w="0" cap="flat" cmpd="sng">
                <a:solidFill>
                  <a:srgbClr val="000000"/>
                </a:solidFill>
                <a:prstDash val="solid"/>
                <a:headEnd type="none" w="med" len="med"/>
                <a:tailEnd type="none" w="med" len="med"/>
              </a:ln>
            </p:spPr>
          </p:sp>
          <p:sp>
            <p:nvSpPr>
              <p:cNvPr id="154848" name="Rectangle 102"/>
              <p:cNvSpPr/>
              <p:nvPr/>
            </p:nvSpPr>
            <p:spPr>
              <a:xfrm>
                <a:off x="1814"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49" name="Line 103"/>
              <p:cNvSpPr/>
              <p:nvPr/>
            </p:nvSpPr>
            <p:spPr>
              <a:xfrm>
                <a:off x="1814" y="3230"/>
                <a:ext cx="16" cy="1"/>
              </a:xfrm>
              <a:prstGeom prst="line">
                <a:avLst/>
              </a:prstGeom>
              <a:ln w="0" cap="flat" cmpd="sng">
                <a:solidFill>
                  <a:srgbClr val="000000"/>
                </a:solidFill>
                <a:prstDash val="solid"/>
                <a:headEnd type="none" w="med" len="med"/>
                <a:tailEnd type="none" w="med" len="med"/>
              </a:ln>
            </p:spPr>
          </p:sp>
          <p:sp>
            <p:nvSpPr>
              <p:cNvPr id="154850" name="Line 104"/>
              <p:cNvSpPr/>
              <p:nvPr/>
            </p:nvSpPr>
            <p:spPr>
              <a:xfrm>
                <a:off x="1814" y="3230"/>
                <a:ext cx="1" cy="16"/>
              </a:xfrm>
              <a:prstGeom prst="line">
                <a:avLst/>
              </a:prstGeom>
              <a:ln w="0" cap="flat" cmpd="sng">
                <a:solidFill>
                  <a:srgbClr val="000000"/>
                </a:solidFill>
                <a:prstDash val="solid"/>
                <a:headEnd type="none" w="med" len="med"/>
                <a:tailEnd type="none" w="med" len="med"/>
              </a:ln>
            </p:spPr>
          </p:sp>
          <p:sp>
            <p:nvSpPr>
              <p:cNvPr id="154851" name="Rectangle 105"/>
              <p:cNvSpPr/>
              <p:nvPr/>
            </p:nvSpPr>
            <p:spPr>
              <a:xfrm>
                <a:off x="1830" y="3230"/>
                <a:ext cx="377"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52" name="Line 106"/>
              <p:cNvSpPr/>
              <p:nvPr/>
            </p:nvSpPr>
            <p:spPr>
              <a:xfrm>
                <a:off x="1830" y="3230"/>
                <a:ext cx="377" cy="1"/>
              </a:xfrm>
              <a:prstGeom prst="line">
                <a:avLst/>
              </a:prstGeom>
              <a:ln w="0" cap="flat" cmpd="sng">
                <a:solidFill>
                  <a:srgbClr val="000000"/>
                </a:solidFill>
                <a:prstDash val="solid"/>
                <a:headEnd type="none" w="med" len="med"/>
                <a:tailEnd type="none" w="med" len="med"/>
              </a:ln>
            </p:spPr>
          </p:sp>
          <p:sp>
            <p:nvSpPr>
              <p:cNvPr id="154853" name="Rectangle 107"/>
              <p:cNvSpPr/>
              <p:nvPr/>
            </p:nvSpPr>
            <p:spPr>
              <a:xfrm>
                <a:off x="2207"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54" name="Line 108"/>
              <p:cNvSpPr/>
              <p:nvPr/>
            </p:nvSpPr>
            <p:spPr>
              <a:xfrm>
                <a:off x="2207" y="3230"/>
                <a:ext cx="16" cy="1"/>
              </a:xfrm>
              <a:prstGeom prst="line">
                <a:avLst/>
              </a:prstGeom>
              <a:ln w="0" cap="flat" cmpd="sng">
                <a:solidFill>
                  <a:srgbClr val="000000"/>
                </a:solidFill>
                <a:prstDash val="solid"/>
                <a:headEnd type="none" w="med" len="med"/>
                <a:tailEnd type="none" w="med" len="med"/>
              </a:ln>
            </p:spPr>
          </p:sp>
          <p:sp>
            <p:nvSpPr>
              <p:cNvPr id="154855" name="Line 109"/>
              <p:cNvSpPr/>
              <p:nvPr/>
            </p:nvSpPr>
            <p:spPr>
              <a:xfrm>
                <a:off x="2207" y="3230"/>
                <a:ext cx="1" cy="16"/>
              </a:xfrm>
              <a:prstGeom prst="line">
                <a:avLst/>
              </a:prstGeom>
              <a:ln w="0" cap="flat" cmpd="sng">
                <a:solidFill>
                  <a:srgbClr val="000000"/>
                </a:solidFill>
                <a:prstDash val="solid"/>
                <a:headEnd type="none" w="med" len="med"/>
                <a:tailEnd type="none" w="med" len="med"/>
              </a:ln>
            </p:spPr>
          </p:sp>
          <p:sp>
            <p:nvSpPr>
              <p:cNvPr id="154856" name="Rectangle 110"/>
              <p:cNvSpPr/>
              <p:nvPr/>
            </p:nvSpPr>
            <p:spPr>
              <a:xfrm>
                <a:off x="2207" y="3230"/>
                <a:ext cx="1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57" name="Line 111"/>
              <p:cNvSpPr/>
              <p:nvPr/>
            </p:nvSpPr>
            <p:spPr>
              <a:xfrm>
                <a:off x="2207" y="3230"/>
                <a:ext cx="16" cy="1"/>
              </a:xfrm>
              <a:prstGeom prst="line">
                <a:avLst/>
              </a:prstGeom>
              <a:ln w="0" cap="flat" cmpd="sng">
                <a:solidFill>
                  <a:srgbClr val="000000"/>
                </a:solidFill>
                <a:prstDash val="solid"/>
                <a:headEnd type="none" w="med" len="med"/>
                <a:tailEnd type="none" w="med" len="med"/>
              </a:ln>
            </p:spPr>
          </p:sp>
          <p:sp>
            <p:nvSpPr>
              <p:cNvPr id="154858" name="Line 112"/>
              <p:cNvSpPr/>
              <p:nvPr/>
            </p:nvSpPr>
            <p:spPr>
              <a:xfrm>
                <a:off x="2207" y="3230"/>
                <a:ext cx="1" cy="16"/>
              </a:xfrm>
              <a:prstGeom prst="line">
                <a:avLst/>
              </a:prstGeom>
              <a:ln w="0" cap="flat" cmpd="sng">
                <a:solidFill>
                  <a:srgbClr val="000000"/>
                </a:solidFill>
                <a:prstDash val="solid"/>
                <a:headEnd type="none" w="med" len="med"/>
                <a:tailEnd type="none" w="med" len="med"/>
              </a:ln>
            </p:spPr>
          </p:sp>
        </p:grpSp>
        <p:grpSp>
          <p:nvGrpSpPr>
            <p:cNvPr id="154817" name="Group 113"/>
            <p:cNvGrpSpPr/>
            <p:nvPr/>
          </p:nvGrpSpPr>
          <p:grpSpPr>
            <a:xfrm>
              <a:off x="1968" y="1632"/>
              <a:ext cx="1165" cy="788"/>
              <a:chOff x="1059" y="2347"/>
              <a:chExt cx="1165" cy="788"/>
            </a:xfrm>
          </p:grpSpPr>
          <p:sp>
            <p:nvSpPr>
              <p:cNvPr id="154818" name="Rectangle 114"/>
              <p:cNvSpPr/>
              <p:nvPr/>
            </p:nvSpPr>
            <p:spPr>
              <a:xfrm>
                <a:off x="1248" y="2347"/>
                <a:ext cx="976"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dirty="0">
                    <a:solidFill>
                      <a:srgbClr val="000000"/>
                    </a:solidFill>
                    <a:cs typeface="Arial" panose="020B0604020202020204" pitchFamily="34" charset="0"/>
                  </a:rPr>
                  <a:t> L1          L2</a:t>
                </a:r>
                <a:endParaRPr lang="en-US" altLang="zh-CN" sz="2400" dirty="0">
                  <a:solidFill>
                    <a:schemeClr val="tx1"/>
                  </a:solidFill>
                  <a:ea typeface="Arial" panose="020B0604020202020204" pitchFamily="34" charset="0"/>
                </a:endParaRPr>
              </a:p>
            </p:txBody>
          </p:sp>
          <p:sp>
            <p:nvSpPr>
              <p:cNvPr id="154819" name="Line 115"/>
              <p:cNvSpPr/>
              <p:nvPr/>
            </p:nvSpPr>
            <p:spPr>
              <a:xfrm>
                <a:off x="1059" y="2362"/>
                <a:ext cx="1" cy="458"/>
              </a:xfrm>
              <a:prstGeom prst="line">
                <a:avLst/>
              </a:prstGeom>
              <a:ln w="25400" cap="flat" cmpd="sng">
                <a:solidFill>
                  <a:srgbClr val="000000"/>
                </a:solidFill>
                <a:prstDash val="solid"/>
                <a:headEnd type="none" w="med" len="med"/>
                <a:tailEnd type="none" w="med" len="med"/>
              </a:ln>
            </p:spPr>
          </p:sp>
          <p:sp>
            <p:nvSpPr>
              <p:cNvPr id="154820" name="Line 116"/>
              <p:cNvSpPr/>
              <p:nvPr/>
            </p:nvSpPr>
            <p:spPr>
              <a:xfrm>
                <a:off x="1940" y="2362"/>
                <a:ext cx="1" cy="458"/>
              </a:xfrm>
              <a:prstGeom prst="line">
                <a:avLst/>
              </a:prstGeom>
              <a:ln w="25400" cap="flat" cmpd="sng">
                <a:solidFill>
                  <a:srgbClr val="000000"/>
                </a:solidFill>
                <a:prstDash val="solid"/>
                <a:headEnd type="none" w="med" len="med"/>
                <a:tailEnd type="none" w="med" len="med"/>
              </a:ln>
            </p:spPr>
          </p:sp>
          <p:sp>
            <p:nvSpPr>
              <p:cNvPr id="154821" name="Line 117"/>
              <p:cNvSpPr/>
              <p:nvPr/>
            </p:nvSpPr>
            <p:spPr>
              <a:xfrm>
                <a:off x="1059" y="2820"/>
                <a:ext cx="881" cy="1"/>
              </a:xfrm>
              <a:prstGeom prst="line">
                <a:avLst/>
              </a:prstGeom>
              <a:ln w="25400" cap="flat" cmpd="sng">
                <a:solidFill>
                  <a:srgbClr val="000000"/>
                </a:solidFill>
                <a:prstDash val="solid"/>
                <a:headEnd type="none" w="med" len="med"/>
                <a:tailEnd type="none" w="med" len="med"/>
              </a:ln>
            </p:spPr>
          </p:sp>
          <p:grpSp>
            <p:nvGrpSpPr>
              <p:cNvPr id="154822" name="Group 118"/>
              <p:cNvGrpSpPr/>
              <p:nvPr/>
            </p:nvGrpSpPr>
            <p:grpSpPr>
              <a:xfrm>
                <a:off x="1405" y="2820"/>
                <a:ext cx="173" cy="315"/>
                <a:chOff x="1405" y="2820"/>
                <a:chExt cx="173" cy="315"/>
              </a:xfrm>
            </p:grpSpPr>
            <p:sp>
              <p:nvSpPr>
                <p:cNvPr id="154823" name="Line 119"/>
                <p:cNvSpPr/>
                <p:nvPr/>
              </p:nvSpPr>
              <p:spPr>
                <a:xfrm>
                  <a:off x="1499" y="2820"/>
                  <a:ext cx="1" cy="189"/>
                </a:xfrm>
                <a:prstGeom prst="line">
                  <a:avLst/>
                </a:prstGeom>
                <a:ln w="25400" cap="flat" cmpd="sng">
                  <a:solidFill>
                    <a:srgbClr val="000000"/>
                  </a:solidFill>
                  <a:prstDash val="solid"/>
                  <a:headEnd type="none" w="med" len="med"/>
                  <a:tailEnd type="none" w="med" len="med"/>
                </a:ln>
              </p:spPr>
            </p:sp>
            <p:sp>
              <p:nvSpPr>
                <p:cNvPr id="154824" name="Freeform 120"/>
                <p:cNvSpPr/>
                <p:nvPr/>
              </p:nvSpPr>
              <p:spPr>
                <a:xfrm>
                  <a:off x="1405" y="2978"/>
                  <a:ext cx="173" cy="157"/>
                </a:xfrm>
                <a:custGeom>
                  <a:avLst/>
                  <a:gdLst/>
                  <a:ahLst/>
                  <a:cxnLst>
                    <a:cxn ang="0">
                      <a:pos x="0" y="0"/>
                    </a:cxn>
                    <a:cxn ang="0">
                      <a:pos x="94" y="157"/>
                    </a:cxn>
                    <a:cxn ang="0">
                      <a:pos x="173" y="0"/>
                    </a:cxn>
                    <a:cxn ang="0">
                      <a:pos x="0" y="0"/>
                    </a:cxn>
                  </a:cxnLst>
                  <a:pathLst>
                    <a:path w="173" h="157">
                      <a:moveTo>
                        <a:pt x="0" y="0"/>
                      </a:moveTo>
                      <a:lnTo>
                        <a:pt x="94" y="157"/>
                      </a:lnTo>
                      <a:lnTo>
                        <a:pt x="173" y="0"/>
                      </a:lnTo>
                      <a:lnTo>
                        <a:pt x="0" y="0"/>
                      </a:lnTo>
                      <a:close/>
                    </a:path>
                  </a:pathLst>
                </a:custGeom>
                <a:solidFill>
                  <a:srgbClr val="000000">
                    <a:alpha val="100000"/>
                  </a:srgbClr>
                </a:solidFill>
                <a:ln w="9525">
                  <a:noFill/>
                </a:ln>
              </p:spPr>
              <p:txBody>
                <a:bodyPr/>
                <a:p>
                  <a:endParaRPr lang="en-US"/>
                </a:p>
              </p:txBody>
            </p:sp>
          </p:grpSp>
        </p:grpSp>
      </p:grpSp>
      <p:grpSp>
        <p:nvGrpSpPr>
          <p:cNvPr id="154630" name="Group 121"/>
          <p:cNvGrpSpPr/>
          <p:nvPr/>
        </p:nvGrpSpPr>
        <p:grpSpPr>
          <a:xfrm>
            <a:off x="4495800" y="2286000"/>
            <a:ext cx="3606800" cy="3013075"/>
            <a:chOff x="2832" y="1440"/>
            <a:chExt cx="2272" cy="1898"/>
          </a:xfrm>
        </p:grpSpPr>
        <p:sp>
          <p:nvSpPr>
            <p:cNvPr id="154631" name="Rectangle 122"/>
            <p:cNvSpPr/>
            <p:nvPr/>
          </p:nvSpPr>
          <p:spPr>
            <a:xfrm>
              <a:off x="2832" y="1486"/>
              <a:ext cx="36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632" name="Rectangle 123"/>
            <p:cNvSpPr/>
            <p:nvPr/>
          </p:nvSpPr>
          <p:spPr>
            <a:xfrm>
              <a:off x="3213" y="148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633" name="Rectangle 124"/>
            <p:cNvSpPr/>
            <p:nvPr/>
          </p:nvSpPr>
          <p:spPr>
            <a:xfrm>
              <a:off x="3320" y="1486"/>
              <a:ext cx="27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R1 </a:t>
              </a:r>
              <a:endParaRPr lang="en-US" altLang="zh-CN" sz="2400" dirty="0">
                <a:solidFill>
                  <a:schemeClr val="tx1"/>
                </a:solidFill>
                <a:ea typeface="黑体" panose="02010609060101010101" pitchFamily="49" charset="-122"/>
              </a:endParaRPr>
            </a:p>
          </p:txBody>
        </p:sp>
        <p:sp>
          <p:nvSpPr>
            <p:cNvPr id="154634" name="Rectangle 125"/>
            <p:cNvSpPr/>
            <p:nvPr/>
          </p:nvSpPr>
          <p:spPr>
            <a:xfrm>
              <a:off x="31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35" name="Line 126"/>
            <p:cNvSpPr/>
            <p:nvPr/>
          </p:nvSpPr>
          <p:spPr>
            <a:xfrm>
              <a:off x="3198" y="1440"/>
              <a:ext cx="15" cy="1"/>
            </a:xfrm>
            <a:prstGeom prst="line">
              <a:avLst/>
            </a:prstGeom>
            <a:ln w="0" cap="flat" cmpd="sng">
              <a:solidFill>
                <a:srgbClr val="000000"/>
              </a:solidFill>
              <a:prstDash val="solid"/>
              <a:headEnd type="none" w="med" len="med"/>
              <a:tailEnd type="none" w="med" len="med"/>
            </a:ln>
          </p:spPr>
        </p:sp>
        <p:sp>
          <p:nvSpPr>
            <p:cNvPr id="154636" name="Line 127"/>
            <p:cNvSpPr/>
            <p:nvPr/>
          </p:nvSpPr>
          <p:spPr>
            <a:xfrm>
              <a:off x="3198" y="1440"/>
              <a:ext cx="1" cy="15"/>
            </a:xfrm>
            <a:prstGeom prst="line">
              <a:avLst/>
            </a:prstGeom>
            <a:ln w="0" cap="flat" cmpd="sng">
              <a:solidFill>
                <a:srgbClr val="000000"/>
              </a:solidFill>
              <a:prstDash val="solid"/>
              <a:headEnd type="none" w="med" len="med"/>
              <a:tailEnd type="none" w="med" len="med"/>
            </a:ln>
          </p:spPr>
        </p:sp>
        <p:sp>
          <p:nvSpPr>
            <p:cNvPr id="154637" name="Rectangle 128"/>
            <p:cNvSpPr/>
            <p:nvPr/>
          </p:nvSpPr>
          <p:spPr>
            <a:xfrm>
              <a:off x="31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38" name="Line 129"/>
            <p:cNvSpPr/>
            <p:nvPr/>
          </p:nvSpPr>
          <p:spPr>
            <a:xfrm>
              <a:off x="3198" y="1440"/>
              <a:ext cx="15" cy="1"/>
            </a:xfrm>
            <a:prstGeom prst="line">
              <a:avLst/>
            </a:prstGeom>
            <a:ln w="0" cap="flat" cmpd="sng">
              <a:solidFill>
                <a:srgbClr val="000000"/>
              </a:solidFill>
              <a:prstDash val="solid"/>
              <a:headEnd type="none" w="med" len="med"/>
              <a:tailEnd type="none" w="med" len="med"/>
            </a:ln>
          </p:spPr>
        </p:sp>
        <p:sp>
          <p:nvSpPr>
            <p:cNvPr id="154639" name="Line 130"/>
            <p:cNvSpPr/>
            <p:nvPr/>
          </p:nvSpPr>
          <p:spPr>
            <a:xfrm>
              <a:off x="3198" y="1440"/>
              <a:ext cx="1" cy="15"/>
            </a:xfrm>
            <a:prstGeom prst="line">
              <a:avLst/>
            </a:prstGeom>
            <a:ln w="0" cap="flat" cmpd="sng">
              <a:solidFill>
                <a:srgbClr val="000000"/>
              </a:solidFill>
              <a:prstDash val="solid"/>
              <a:headEnd type="none" w="med" len="med"/>
              <a:tailEnd type="none" w="med" len="med"/>
            </a:ln>
          </p:spPr>
        </p:sp>
        <p:sp>
          <p:nvSpPr>
            <p:cNvPr id="154640" name="Rectangle 131"/>
            <p:cNvSpPr/>
            <p:nvPr/>
          </p:nvSpPr>
          <p:spPr>
            <a:xfrm>
              <a:off x="3213" y="1440"/>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41" name="Line 132"/>
            <p:cNvSpPr/>
            <p:nvPr/>
          </p:nvSpPr>
          <p:spPr>
            <a:xfrm>
              <a:off x="3213" y="1440"/>
              <a:ext cx="382" cy="1"/>
            </a:xfrm>
            <a:prstGeom prst="line">
              <a:avLst/>
            </a:prstGeom>
            <a:ln w="0" cap="flat" cmpd="sng">
              <a:solidFill>
                <a:srgbClr val="000000"/>
              </a:solidFill>
              <a:prstDash val="solid"/>
              <a:headEnd type="none" w="med" len="med"/>
              <a:tailEnd type="none" w="med" len="med"/>
            </a:ln>
          </p:spPr>
        </p:sp>
        <p:sp>
          <p:nvSpPr>
            <p:cNvPr id="154642" name="Rectangle 133"/>
            <p:cNvSpPr/>
            <p:nvPr/>
          </p:nvSpPr>
          <p:spPr>
            <a:xfrm>
              <a:off x="3595"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43" name="Line 134"/>
            <p:cNvSpPr/>
            <p:nvPr/>
          </p:nvSpPr>
          <p:spPr>
            <a:xfrm>
              <a:off x="3595" y="1440"/>
              <a:ext cx="15" cy="1"/>
            </a:xfrm>
            <a:prstGeom prst="line">
              <a:avLst/>
            </a:prstGeom>
            <a:ln w="0" cap="flat" cmpd="sng">
              <a:solidFill>
                <a:srgbClr val="000000"/>
              </a:solidFill>
              <a:prstDash val="solid"/>
              <a:headEnd type="none" w="med" len="med"/>
              <a:tailEnd type="none" w="med" len="med"/>
            </a:ln>
          </p:spPr>
        </p:sp>
        <p:sp>
          <p:nvSpPr>
            <p:cNvPr id="154644" name="Line 135"/>
            <p:cNvSpPr/>
            <p:nvPr/>
          </p:nvSpPr>
          <p:spPr>
            <a:xfrm>
              <a:off x="3595" y="1440"/>
              <a:ext cx="1" cy="15"/>
            </a:xfrm>
            <a:prstGeom prst="line">
              <a:avLst/>
            </a:prstGeom>
            <a:ln w="0" cap="flat" cmpd="sng">
              <a:solidFill>
                <a:srgbClr val="000000"/>
              </a:solidFill>
              <a:prstDash val="solid"/>
              <a:headEnd type="none" w="med" len="med"/>
              <a:tailEnd type="none" w="med" len="med"/>
            </a:ln>
          </p:spPr>
        </p:sp>
        <p:sp>
          <p:nvSpPr>
            <p:cNvPr id="154645" name="Rectangle 136"/>
            <p:cNvSpPr/>
            <p:nvPr/>
          </p:nvSpPr>
          <p:spPr>
            <a:xfrm>
              <a:off x="3595"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46" name="Line 137"/>
            <p:cNvSpPr/>
            <p:nvPr/>
          </p:nvSpPr>
          <p:spPr>
            <a:xfrm>
              <a:off x="3595" y="1440"/>
              <a:ext cx="15" cy="1"/>
            </a:xfrm>
            <a:prstGeom prst="line">
              <a:avLst/>
            </a:prstGeom>
            <a:ln w="0" cap="flat" cmpd="sng">
              <a:solidFill>
                <a:srgbClr val="000000"/>
              </a:solidFill>
              <a:prstDash val="solid"/>
              <a:headEnd type="none" w="med" len="med"/>
              <a:tailEnd type="none" w="med" len="med"/>
            </a:ln>
          </p:spPr>
        </p:sp>
        <p:sp>
          <p:nvSpPr>
            <p:cNvPr id="154647" name="Line 138"/>
            <p:cNvSpPr/>
            <p:nvPr/>
          </p:nvSpPr>
          <p:spPr>
            <a:xfrm>
              <a:off x="3595" y="1440"/>
              <a:ext cx="1" cy="15"/>
            </a:xfrm>
            <a:prstGeom prst="line">
              <a:avLst/>
            </a:prstGeom>
            <a:ln w="0" cap="flat" cmpd="sng">
              <a:solidFill>
                <a:srgbClr val="000000"/>
              </a:solidFill>
              <a:prstDash val="solid"/>
              <a:headEnd type="none" w="med" len="med"/>
              <a:tailEnd type="none" w="med" len="med"/>
            </a:ln>
          </p:spPr>
        </p:sp>
        <p:sp>
          <p:nvSpPr>
            <p:cNvPr id="154648" name="Rectangle 139"/>
            <p:cNvSpPr/>
            <p:nvPr/>
          </p:nvSpPr>
          <p:spPr>
            <a:xfrm>
              <a:off x="3198" y="145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49" name="Line 140"/>
            <p:cNvSpPr/>
            <p:nvPr/>
          </p:nvSpPr>
          <p:spPr>
            <a:xfrm>
              <a:off x="3198" y="1455"/>
              <a:ext cx="1" cy="244"/>
            </a:xfrm>
            <a:prstGeom prst="line">
              <a:avLst/>
            </a:prstGeom>
            <a:ln w="0" cap="flat" cmpd="sng">
              <a:solidFill>
                <a:srgbClr val="000000"/>
              </a:solidFill>
              <a:prstDash val="solid"/>
              <a:headEnd type="none" w="med" len="med"/>
              <a:tailEnd type="none" w="med" len="med"/>
            </a:ln>
          </p:spPr>
        </p:sp>
        <p:sp>
          <p:nvSpPr>
            <p:cNvPr id="154650" name="Rectangle 141"/>
            <p:cNvSpPr/>
            <p:nvPr/>
          </p:nvSpPr>
          <p:spPr>
            <a:xfrm>
              <a:off x="3595" y="145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51" name="Line 142"/>
            <p:cNvSpPr/>
            <p:nvPr/>
          </p:nvSpPr>
          <p:spPr>
            <a:xfrm>
              <a:off x="3595" y="1455"/>
              <a:ext cx="1" cy="244"/>
            </a:xfrm>
            <a:prstGeom prst="line">
              <a:avLst/>
            </a:prstGeom>
            <a:ln w="0" cap="flat" cmpd="sng">
              <a:solidFill>
                <a:srgbClr val="000000"/>
              </a:solidFill>
              <a:prstDash val="solid"/>
              <a:headEnd type="none" w="med" len="med"/>
              <a:tailEnd type="none" w="med" len="med"/>
            </a:ln>
          </p:spPr>
        </p:sp>
        <p:sp>
          <p:nvSpPr>
            <p:cNvPr id="154652" name="Rectangle 143"/>
            <p:cNvSpPr/>
            <p:nvPr/>
          </p:nvSpPr>
          <p:spPr>
            <a:xfrm>
              <a:off x="31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53" name="Line 144"/>
            <p:cNvSpPr/>
            <p:nvPr/>
          </p:nvSpPr>
          <p:spPr>
            <a:xfrm>
              <a:off x="3198" y="1699"/>
              <a:ext cx="15" cy="1"/>
            </a:xfrm>
            <a:prstGeom prst="line">
              <a:avLst/>
            </a:prstGeom>
            <a:ln w="0" cap="flat" cmpd="sng">
              <a:solidFill>
                <a:srgbClr val="000000"/>
              </a:solidFill>
              <a:prstDash val="solid"/>
              <a:headEnd type="none" w="med" len="med"/>
              <a:tailEnd type="none" w="med" len="med"/>
            </a:ln>
          </p:spPr>
        </p:sp>
        <p:sp>
          <p:nvSpPr>
            <p:cNvPr id="154654" name="Line 145"/>
            <p:cNvSpPr/>
            <p:nvPr/>
          </p:nvSpPr>
          <p:spPr>
            <a:xfrm>
              <a:off x="3198" y="1699"/>
              <a:ext cx="1" cy="15"/>
            </a:xfrm>
            <a:prstGeom prst="line">
              <a:avLst/>
            </a:prstGeom>
            <a:ln w="0" cap="flat" cmpd="sng">
              <a:solidFill>
                <a:srgbClr val="000000"/>
              </a:solidFill>
              <a:prstDash val="solid"/>
              <a:headEnd type="none" w="med" len="med"/>
              <a:tailEnd type="none" w="med" len="med"/>
            </a:ln>
          </p:spPr>
        </p:sp>
        <p:sp>
          <p:nvSpPr>
            <p:cNvPr id="154655" name="Rectangle 146"/>
            <p:cNvSpPr/>
            <p:nvPr/>
          </p:nvSpPr>
          <p:spPr>
            <a:xfrm>
              <a:off x="31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56" name="Line 147"/>
            <p:cNvSpPr/>
            <p:nvPr/>
          </p:nvSpPr>
          <p:spPr>
            <a:xfrm>
              <a:off x="3198" y="1699"/>
              <a:ext cx="15" cy="1"/>
            </a:xfrm>
            <a:prstGeom prst="line">
              <a:avLst/>
            </a:prstGeom>
            <a:ln w="0" cap="flat" cmpd="sng">
              <a:solidFill>
                <a:srgbClr val="000000"/>
              </a:solidFill>
              <a:prstDash val="solid"/>
              <a:headEnd type="none" w="med" len="med"/>
              <a:tailEnd type="none" w="med" len="med"/>
            </a:ln>
          </p:spPr>
        </p:sp>
        <p:sp>
          <p:nvSpPr>
            <p:cNvPr id="154657" name="Line 148"/>
            <p:cNvSpPr/>
            <p:nvPr/>
          </p:nvSpPr>
          <p:spPr>
            <a:xfrm>
              <a:off x="3198" y="1699"/>
              <a:ext cx="1" cy="15"/>
            </a:xfrm>
            <a:prstGeom prst="line">
              <a:avLst/>
            </a:prstGeom>
            <a:ln w="0" cap="flat" cmpd="sng">
              <a:solidFill>
                <a:srgbClr val="000000"/>
              </a:solidFill>
              <a:prstDash val="solid"/>
              <a:headEnd type="none" w="med" len="med"/>
              <a:tailEnd type="none" w="med" len="med"/>
            </a:ln>
          </p:spPr>
        </p:sp>
        <p:sp>
          <p:nvSpPr>
            <p:cNvPr id="154658" name="Rectangle 149"/>
            <p:cNvSpPr/>
            <p:nvPr/>
          </p:nvSpPr>
          <p:spPr>
            <a:xfrm>
              <a:off x="3213" y="1699"/>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59" name="Line 150"/>
            <p:cNvSpPr/>
            <p:nvPr/>
          </p:nvSpPr>
          <p:spPr>
            <a:xfrm>
              <a:off x="3213" y="1699"/>
              <a:ext cx="382" cy="1"/>
            </a:xfrm>
            <a:prstGeom prst="line">
              <a:avLst/>
            </a:prstGeom>
            <a:ln w="0" cap="flat" cmpd="sng">
              <a:solidFill>
                <a:srgbClr val="000000"/>
              </a:solidFill>
              <a:prstDash val="solid"/>
              <a:headEnd type="none" w="med" len="med"/>
              <a:tailEnd type="none" w="med" len="med"/>
            </a:ln>
          </p:spPr>
        </p:sp>
        <p:sp>
          <p:nvSpPr>
            <p:cNvPr id="154660" name="Rectangle 151"/>
            <p:cNvSpPr/>
            <p:nvPr/>
          </p:nvSpPr>
          <p:spPr>
            <a:xfrm>
              <a:off x="3595"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61" name="Line 152"/>
            <p:cNvSpPr/>
            <p:nvPr/>
          </p:nvSpPr>
          <p:spPr>
            <a:xfrm>
              <a:off x="3595" y="1699"/>
              <a:ext cx="15" cy="1"/>
            </a:xfrm>
            <a:prstGeom prst="line">
              <a:avLst/>
            </a:prstGeom>
            <a:ln w="0" cap="flat" cmpd="sng">
              <a:solidFill>
                <a:srgbClr val="000000"/>
              </a:solidFill>
              <a:prstDash val="solid"/>
              <a:headEnd type="none" w="med" len="med"/>
              <a:tailEnd type="none" w="med" len="med"/>
            </a:ln>
          </p:spPr>
        </p:sp>
        <p:sp>
          <p:nvSpPr>
            <p:cNvPr id="154662" name="Line 153"/>
            <p:cNvSpPr/>
            <p:nvPr/>
          </p:nvSpPr>
          <p:spPr>
            <a:xfrm>
              <a:off x="3595" y="1699"/>
              <a:ext cx="1" cy="15"/>
            </a:xfrm>
            <a:prstGeom prst="line">
              <a:avLst/>
            </a:prstGeom>
            <a:ln w="0" cap="flat" cmpd="sng">
              <a:solidFill>
                <a:srgbClr val="000000"/>
              </a:solidFill>
              <a:prstDash val="solid"/>
              <a:headEnd type="none" w="med" len="med"/>
              <a:tailEnd type="none" w="med" len="med"/>
            </a:ln>
          </p:spPr>
        </p:sp>
        <p:sp>
          <p:nvSpPr>
            <p:cNvPr id="154663" name="Rectangle 154"/>
            <p:cNvSpPr/>
            <p:nvPr/>
          </p:nvSpPr>
          <p:spPr>
            <a:xfrm>
              <a:off x="3595"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64" name="Line 155"/>
            <p:cNvSpPr/>
            <p:nvPr/>
          </p:nvSpPr>
          <p:spPr>
            <a:xfrm>
              <a:off x="3595" y="1699"/>
              <a:ext cx="15" cy="1"/>
            </a:xfrm>
            <a:prstGeom prst="line">
              <a:avLst/>
            </a:prstGeom>
            <a:ln w="0" cap="flat" cmpd="sng">
              <a:solidFill>
                <a:srgbClr val="000000"/>
              </a:solidFill>
              <a:prstDash val="solid"/>
              <a:headEnd type="none" w="med" len="med"/>
              <a:tailEnd type="none" w="med" len="med"/>
            </a:ln>
          </p:spPr>
        </p:sp>
        <p:sp>
          <p:nvSpPr>
            <p:cNvPr id="154665" name="Line 156"/>
            <p:cNvSpPr/>
            <p:nvPr/>
          </p:nvSpPr>
          <p:spPr>
            <a:xfrm>
              <a:off x="3595" y="1699"/>
              <a:ext cx="1" cy="15"/>
            </a:xfrm>
            <a:prstGeom prst="line">
              <a:avLst/>
            </a:prstGeom>
            <a:ln w="0" cap="flat" cmpd="sng">
              <a:solidFill>
                <a:srgbClr val="000000"/>
              </a:solidFill>
              <a:prstDash val="solid"/>
              <a:headEnd type="none" w="med" len="med"/>
              <a:tailEnd type="none" w="med" len="med"/>
            </a:ln>
          </p:spPr>
        </p:sp>
        <p:sp>
          <p:nvSpPr>
            <p:cNvPr id="154666" name="Rectangle 157"/>
            <p:cNvSpPr/>
            <p:nvPr/>
          </p:nvSpPr>
          <p:spPr>
            <a:xfrm>
              <a:off x="3610" y="1486"/>
              <a:ext cx="9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667" name="Rectangle 158"/>
            <p:cNvSpPr/>
            <p:nvPr/>
          </p:nvSpPr>
          <p:spPr>
            <a:xfrm>
              <a:off x="4632" y="148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668" name="Rectangle 159"/>
            <p:cNvSpPr/>
            <p:nvPr/>
          </p:nvSpPr>
          <p:spPr>
            <a:xfrm>
              <a:off x="4723" y="1486"/>
              <a:ext cx="1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R2</a:t>
              </a:r>
              <a:endParaRPr lang="en-US" altLang="zh-CN" sz="2400" dirty="0">
                <a:solidFill>
                  <a:schemeClr val="tx1"/>
                </a:solidFill>
                <a:ea typeface="黑体" panose="02010609060101010101" pitchFamily="49" charset="-122"/>
              </a:endParaRPr>
            </a:p>
          </p:txBody>
        </p:sp>
        <p:sp>
          <p:nvSpPr>
            <p:cNvPr id="154669" name="Rectangle 160"/>
            <p:cNvSpPr/>
            <p:nvPr/>
          </p:nvSpPr>
          <p:spPr>
            <a:xfrm>
              <a:off x="4616" y="1440"/>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70" name="Line 161"/>
            <p:cNvSpPr/>
            <p:nvPr/>
          </p:nvSpPr>
          <p:spPr>
            <a:xfrm>
              <a:off x="4616" y="1440"/>
              <a:ext cx="16" cy="1"/>
            </a:xfrm>
            <a:prstGeom prst="line">
              <a:avLst/>
            </a:prstGeom>
            <a:ln w="0" cap="flat" cmpd="sng">
              <a:solidFill>
                <a:srgbClr val="000000"/>
              </a:solidFill>
              <a:prstDash val="solid"/>
              <a:headEnd type="none" w="med" len="med"/>
              <a:tailEnd type="none" w="med" len="med"/>
            </a:ln>
          </p:spPr>
        </p:sp>
        <p:sp>
          <p:nvSpPr>
            <p:cNvPr id="154671" name="Line 162"/>
            <p:cNvSpPr/>
            <p:nvPr/>
          </p:nvSpPr>
          <p:spPr>
            <a:xfrm>
              <a:off x="4616" y="1440"/>
              <a:ext cx="1" cy="15"/>
            </a:xfrm>
            <a:prstGeom prst="line">
              <a:avLst/>
            </a:prstGeom>
            <a:ln w="0" cap="flat" cmpd="sng">
              <a:solidFill>
                <a:srgbClr val="000000"/>
              </a:solidFill>
              <a:prstDash val="solid"/>
              <a:headEnd type="none" w="med" len="med"/>
              <a:tailEnd type="none" w="med" len="med"/>
            </a:ln>
          </p:spPr>
        </p:sp>
        <p:sp>
          <p:nvSpPr>
            <p:cNvPr id="154672" name="Rectangle 163"/>
            <p:cNvSpPr/>
            <p:nvPr/>
          </p:nvSpPr>
          <p:spPr>
            <a:xfrm>
              <a:off x="4616" y="1440"/>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73" name="Line 164"/>
            <p:cNvSpPr/>
            <p:nvPr/>
          </p:nvSpPr>
          <p:spPr>
            <a:xfrm>
              <a:off x="4616" y="1440"/>
              <a:ext cx="16" cy="1"/>
            </a:xfrm>
            <a:prstGeom prst="line">
              <a:avLst/>
            </a:prstGeom>
            <a:ln w="0" cap="flat" cmpd="sng">
              <a:solidFill>
                <a:srgbClr val="000000"/>
              </a:solidFill>
              <a:prstDash val="solid"/>
              <a:headEnd type="none" w="med" len="med"/>
              <a:tailEnd type="none" w="med" len="med"/>
            </a:ln>
          </p:spPr>
        </p:sp>
        <p:sp>
          <p:nvSpPr>
            <p:cNvPr id="154674" name="Line 165"/>
            <p:cNvSpPr/>
            <p:nvPr/>
          </p:nvSpPr>
          <p:spPr>
            <a:xfrm>
              <a:off x="4616" y="1440"/>
              <a:ext cx="1" cy="15"/>
            </a:xfrm>
            <a:prstGeom prst="line">
              <a:avLst/>
            </a:prstGeom>
            <a:ln w="0" cap="flat" cmpd="sng">
              <a:solidFill>
                <a:srgbClr val="000000"/>
              </a:solidFill>
              <a:prstDash val="solid"/>
              <a:headEnd type="none" w="med" len="med"/>
              <a:tailEnd type="none" w="med" len="med"/>
            </a:ln>
          </p:spPr>
        </p:sp>
        <p:sp>
          <p:nvSpPr>
            <p:cNvPr id="154675" name="Rectangle 166"/>
            <p:cNvSpPr/>
            <p:nvPr/>
          </p:nvSpPr>
          <p:spPr>
            <a:xfrm>
              <a:off x="4632" y="1440"/>
              <a:ext cx="36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76" name="Line 167"/>
            <p:cNvSpPr/>
            <p:nvPr/>
          </p:nvSpPr>
          <p:spPr>
            <a:xfrm>
              <a:off x="4632" y="1440"/>
              <a:ext cx="366" cy="1"/>
            </a:xfrm>
            <a:prstGeom prst="line">
              <a:avLst/>
            </a:prstGeom>
            <a:ln w="0" cap="flat" cmpd="sng">
              <a:solidFill>
                <a:srgbClr val="000000"/>
              </a:solidFill>
              <a:prstDash val="solid"/>
              <a:headEnd type="none" w="med" len="med"/>
              <a:tailEnd type="none" w="med" len="med"/>
            </a:ln>
          </p:spPr>
        </p:sp>
        <p:sp>
          <p:nvSpPr>
            <p:cNvPr id="154677" name="Rectangle 168"/>
            <p:cNvSpPr/>
            <p:nvPr/>
          </p:nvSpPr>
          <p:spPr>
            <a:xfrm>
              <a:off x="49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78" name="Line 169"/>
            <p:cNvSpPr/>
            <p:nvPr/>
          </p:nvSpPr>
          <p:spPr>
            <a:xfrm>
              <a:off x="4998" y="1440"/>
              <a:ext cx="15" cy="1"/>
            </a:xfrm>
            <a:prstGeom prst="line">
              <a:avLst/>
            </a:prstGeom>
            <a:ln w="0" cap="flat" cmpd="sng">
              <a:solidFill>
                <a:srgbClr val="000000"/>
              </a:solidFill>
              <a:prstDash val="solid"/>
              <a:headEnd type="none" w="med" len="med"/>
              <a:tailEnd type="none" w="med" len="med"/>
            </a:ln>
          </p:spPr>
        </p:sp>
        <p:sp>
          <p:nvSpPr>
            <p:cNvPr id="154679" name="Line 170"/>
            <p:cNvSpPr/>
            <p:nvPr/>
          </p:nvSpPr>
          <p:spPr>
            <a:xfrm>
              <a:off x="4998" y="1440"/>
              <a:ext cx="1" cy="15"/>
            </a:xfrm>
            <a:prstGeom prst="line">
              <a:avLst/>
            </a:prstGeom>
            <a:ln w="0" cap="flat" cmpd="sng">
              <a:solidFill>
                <a:srgbClr val="000000"/>
              </a:solidFill>
              <a:prstDash val="solid"/>
              <a:headEnd type="none" w="med" len="med"/>
              <a:tailEnd type="none" w="med" len="med"/>
            </a:ln>
          </p:spPr>
        </p:sp>
        <p:sp>
          <p:nvSpPr>
            <p:cNvPr id="154680" name="Rectangle 171"/>
            <p:cNvSpPr/>
            <p:nvPr/>
          </p:nvSpPr>
          <p:spPr>
            <a:xfrm>
              <a:off x="4998" y="144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81" name="Line 172"/>
            <p:cNvSpPr/>
            <p:nvPr/>
          </p:nvSpPr>
          <p:spPr>
            <a:xfrm>
              <a:off x="4998" y="1440"/>
              <a:ext cx="15" cy="1"/>
            </a:xfrm>
            <a:prstGeom prst="line">
              <a:avLst/>
            </a:prstGeom>
            <a:ln w="0" cap="flat" cmpd="sng">
              <a:solidFill>
                <a:srgbClr val="000000"/>
              </a:solidFill>
              <a:prstDash val="solid"/>
              <a:headEnd type="none" w="med" len="med"/>
              <a:tailEnd type="none" w="med" len="med"/>
            </a:ln>
          </p:spPr>
        </p:sp>
        <p:sp>
          <p:nvSpPr>
            <p:cNvPr id="154682" name="Line 173"/>
            <p:cNvSpPr/>
            <p:nvPr/>
          </p:nvSpPr>
          <p:spPr>
            <a:xfrm>
              <a:off x="4998" y="1440"/>
              <a:ext cx="1" cy="15"/>
            </a:xfrm>
            <a:prstGeom prst="line">
              <a:avLst/>
            </a:prstGeom>
            <a:ln w="0" cap="flat" cmpd="sng">
              <a:solidFill>
                <a:srgbClr val="000000"/>
              </a:solidFill>
              <a:prstDash val="solid"/>
              <a:headEnd type="none" w="med" len="med"/>
              <a:tailEnd type="none" w="med" len="med"/>
            </a:ln>
          </p:spPr>
        </p:sp>
        <p:sp>
          <p:nvSpPr>
            <p:cNvPr id="154683" name="Rectangle 174"/>
            <p:cNvSpPr/>
            <p:nvPr/>
          </p:nvSpPr>
          <p:spPr>
            <a:xfrm>
              <a:off x="4616" y="1455"/>
              <a:ext cx="16"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84" name="Line 175"/>
            <p:cNvSpPr/>
            <p:nvPr/>
          </p:nvSpPr>
          <p:spPr>
            <a:xfrm>
              <a:off x="4616" y="1455"/>
              <a:ext cx="1" cy="244"/>
            </a:xfrm>
            <a:prstGeom prst="line">
              <a:avLst/>
            </a:prstGeom>
            <a:ln w="0" cap="flat" cmpd="sng">
              <a:solidFill>
                <a:srgbClr val="000000"/>
              </a:solidFill>
              <a:prstDash val="solid"/>
              <a:headEnd type="none" w="med" len="med"/>
              <a:tailEnd type="none" w="med" len="med"/>
            </a:ln>
          </p:spPr>
        </p:sp>
        <p:sp>
          <p:nvSpPr>
            <p:cNvPr id="154685" name="Rectangle 176"/>
            <p:cNvSpPr/>
            <p:nvPr/>
          </p:nvSpPr>
          <p:spPr>
            <a:xfrm>
              <a:off x="4998" y="145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86" name="Line 177"/>
            <p:cNvSpPr/>
            <p:nvPr/>
          </p:nvSpPr>
          <p:spPr>
            <a:xfrm>
              <a:off x="4998" y="1455"/>
              <a:ext cx="1" cy="244"/>
            </a:xfrm>
            <a:prstGeom prst="line">
              <a:avLst/>
            </a:prstGeom>
            <a:ln w="0" cap="flat" cmpd="sng">
              <a:solidFill>
                <a:srgbClr val="000000"/>
              </a:solidFill>
              <a:prstDash val="solid"/>
              <a:headEnd type="none" w="med" len="med"/>
              <a:tailEnd type="none" w="med" len="med"/>
            </a:ln>
          </p:spPr>
        </p:sp>
        <p:sp>
          <p:nvSpPr>
            <p:cNvPr id="154687" name="Rectangle 178"/>
            <p:cNvSpPr/>
            <p:nvPr/>
          </p:nvSpPr>
          <p:spPr>
            <a:xfrm>
              <a:off x="4616" y="1699"/>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88" name="Line 179"/>
            <p:cNvSpPr/>
            <p:nvPr/>
          </p:nvSpPr>
          <p:spPr>
            <a:xfrm>
              <a:off x="4616" y="1699"/>
              <a:ext cx="16" cy="1"/>
            </a:xfrm>
            <a:prstGeom prst="line">
              <a:avLst/>
            </a:prstGeom>
            <a:ln w="0" cap="flat" cmpd="sng">
              <a:solidFill>
                <a:srgbClr val="000000"/>
              </a:solidFill>
              <a:prstDash val="solid"/>
              <a:headEnd type="none" w="med" len="med"/>
              <a:tailEnd type="none" w="med" len="med"/>
            </a:ln>
          </p:spPr>
        </p:sp>
        <p:sp>
          <p:nvSpPr>
            <p:cNvPr id="154689" name="Line 180"/>
            <p:cNvSpPr/>
            <p:nvPr/>
          </p:nvSpPr>
          <p:spPr>
            <a:xfrm>
              <a:off x="4616" y="1699"/>
              <a:ext cx="1" cy="15"/>
            </a:xfrm>
            <a:prstGeom prst="line">
              <a:avLst/>
            </a:prstGeom>
            <a:ln w="0" cap="flat" cmpd="sng">
              <a:solidFill>
                <a:srgbClr val="000000"/>
              </a:solidFill>
              <a:prstDash val="solid"/>
              <a:headEnd type="none" w="med" len="med"/>
              <a:tailEnd type="none" w="med" len="med"/>
            </a:ln>
          </p:spPr>
        </p:sp>
        <p:sp>
          <p:nvSpPr>
            <p:cNvPr id="154690" name="Rectangle 181"/>
            <p:cNvSpPr/>
            <p:nvPr/>
          </p:nvSpPr>
          <p:spPr>
            <a:xfrm>
              <a:off x="4616" y="1699"/>
              <a:ext cx="1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91" name="Line 182"/>
            <p:cNvSpPr/>
            <p:nvPr/>
          </p:nvSpPr>
          <p:spPr>
            <a:xfrm>
              <a:off x="4616" y="1699"/>
              <a:ext cx="16" cy="1"/>
            </a:xfrm>
            <a:prstGeom prst="line">
              <a:avLst/>
            </a:prstGeom>
            <a:ln w="0" cap="flat" cmpd="sng">
              <a:solidFill>
                <a:srgbClr val="000000"/>
              </a:solidFill>
              <a:prstDash val="solid"/>
              <a:headEnd type="none" w="med" len="med"/>
              <a:tailEnd type="none" w="med" len="med"/>
            </a:ln>
          </p:spPr>
        </p:sp>
        <p:sp>
          <p:nvSpPr>
            <p:cNvPr id="154692" name="Line 183"/>
            <p:cNvSpPr/>
            <p:nvPr/>
          </p:nvSpPr>
          <p:spPr>
            <a:xfrm>
              <a:off x="4616" y="1699"/>
              <a:ext cx="1" cy="15"/>
            </a:xfrm>
            <a:prstGeom prst="line">
              <a:avLst/>
            </a:prstGeom>
            <a:ln w="0" cap="flat" cmpd="sng">
              <a:solidFill>
                <a:srgbClr val="000000"/>
              </a:solidFill>
              <a:prstDash val="solid"/>
              <a:headEnd type="none" w="med" len="med"/>
              <a:tailEnd type="none" w="med" len="med"/>
            </a:ln>
          </p:spPr>
        </p:sp>
        <p:sp>
          <p:nvSpPr>
            <p:cNvPr id="154693" name="Rectangle 184"/>
            <p:cNvSpPr/>
            <p:nvPr/>
          </p:nvSpPr>
          <p:spPr>
            <a:xfrm>
              <a:off x="4632" y="1699"/>
              <a:ext cx="36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94" name="Line 185"/>
            <p:cNvSpPr/>
            <p:nvPr/>
          </p:nvSpPr>
          <p:spPr>
            <a:xfrm>
              <a:off x="4632" y="1699"/>
              <a:ext cx="366" cy="1"/>
            </a:xfrm>
            <a:prstGeom prst="line">
              <a:avLst/>
            </a:prstGeom>
            <a:ln w="0" cap="flat" cmpd="sng">
              <a:solidFill>
                <a:srgbClr val="000000"/>
              </a:solidFill>
              <a:prstDash val="solid"/>
              <a:headEnd type="none" w="med" len="med"/>
              <a:tailEnd type="none" w="med" len="med"/>
            </a:ln>
          </p:spPr>
        </p:sp>
        <p:sp>
          <p:nvSpPr>
            <p:cNvPr id="154695" name="Rectangle 186"/>
            <p:cNvSpPr/>
            <p:nvPr/>
          </p:nvSpPr>
          <p:spPr>
            <a:xfrm>
              <a:off x="49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96" name="Line 187"/>
            <p:cNvSpPr/>
            <p:nvPr/>
          </p:nvSpPr>
          <p:spPr>
            <a:xfrm>
              <a:off x="4998" y="1699"/>
              <a:ext cx="15" cy="1"/>
            </a:xfrm>
            <a:prstGeom prst="line">
              <a:avLst/>
            </a:prstGeom>
            <a:ln w="0" cap="flat" cmpd="sng">
              <a:solidFill>
                <a:srgbClr val="000000"/>
              </a:solidFill>
              <a:prstDash val="solid"/>
              <a:headEnd type="none" w="med" len="med"/>
              <a:tailEnd type="none" w="med" len="med"/>
            </a:ln>
          </p:spPr>
        </p:sp>
        <p:sp>
          <p:nvSpPr>
            <p:cNvPr id="154697" name="Line 188"/>
            <p:cNvSpPr/>
            <p:nvPr/>
          </p:nvSpPr>
          <p:spPr>
            <a:xfrm>
              <a:off x="4998" y="1699"/>
              <a:ext cx="1" cy="15"/>
            </a:xfrm>
            <a:prstGeom prst="line">
              <a:avLst/>
            </a:prstGeom>
            <a:ln w="0" cap="flat" cmpd="sng">
              <a:solidFill>
                <a:srgbClr val="000000"/>
              </a:solidFill>
              <a:prstDash val="solid"/>
              <a:headEnd type="none" w="med" len="med"/>
              <a:tailEnd type="none" w="med" len="med"/>
            </a:ln>
          </p:spPr>
        </p:sp>
        <p:sp>
          <p:nvSpPr>
            <p:cNvPr id="154698" name="Rectangle 189"/>
            <p:cNvSpPr/>
            <p:nvPr/>
          </p:nvSpPr>
          <p:spPr>
            <a:xfrm>
              <a:off x="4998" y="1699"/>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699" name="Line 190"/>
            <p:cNvSpPr/>
            <p:nvPr/>
          </p:nvSpPr>
          <p:spPr>
            <a:xfrm>
              <a:off x="4998" y="1699"/>
              <a:ext cx="15" cy="1"/>
            </a:xfrm>
            <a:prstGeom prst="line">
              <a:avLst/>
            </a:prstGeom>
            <a:ln w="0" cap="flat" cmpd="sng">
              <a:solidFill>
                <a:srgbClr val="000000"/>
              </a:solidFill>
              <a:prstDash val="solid"/>
              <a:headEnd type="none" w="med" len="med"/>
              <a:tailEnd type="none" w="med" len="med"/>
            </a:ln>
          </p:spPr>
        </p:sp>
        <p:sp>
          <p:nvSpPr>
            <p:cNvPr id="154700" name="Line 191"/>
            <p:cNvSpPr/>
            <p:nvPr/>
          </p:nvSpPr>
          <p:spPr>
            <a:xfrm>
              <a:off x="4998" y="1699"/>
              <a:ext cx="1" cy="15"/>
            </a:xfrm>
            <a:prstGeom prst="line">
              <a:avLst/>
            </a:prstGeom>
            <a:ln w="0" cap="flat" cmpd="sng">
              <a:solidFill>
                <a:srgbClr val="000000"/>
              </a:solidFill>
              <a:prstDash val="solid"/>
              <a:headEnd type="none" w="med" len="med"/>
              <a:tailEnd type="none" w="med" len="med"/>
            </a:ln>
          </p:spPr>
        </p:sp>
        <p:sp>
          <p:nvSpPr>
            <p:cNvPr id="154701" name="Rectangle 192"/>
            <p:cNvSpPr/>
            <p:nvPr/>
          </p:nvSpPr>
          <p:spPr>
            <a:xfrm>
              <a:off x="2832" y="1821"/>
              <a:ext cx="225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L3</a:t>
              </a:r>
              <a:endParaRPr lang="en-US" altLang="zh-CN" sz="2400" dirty="0">
                <a:solidFill>
                  <a:schemeClr val="tx1"/>
                </a:solidFill>
                <a:ea typeface="黑体" panose="02010609060101010101" pitchFamily="49" charset="-122"/>
              </a:endParaRPr>
            </a:p>
          </p:txBody>
        </p:sp>
        <p:sp>
          <p:nvSpPr>
            <p:cNvPr id="154702" name="Rectangle 193"/>
            <p:cNvSpPr/>
            <p:nvPr/>
          </p:nvSpPr>
          <p:spPr>
            <a:xfrm>
              <a:off x="2851" y="2215"/>
              <a:ext cx="180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L1    L2         </a:t>
              </a:r>
              <a:endParaRPr lang="en-US" altLang="zh-CN" sz="2400" dirty="0">
                <a:solidFill>
                  <a:schemeClr val="tx1"/>
                </a:solidFill>
                <a:ea typeface="黑体" panose="02010609060101010101" pitchFamily="49" charset="-122"/>
              </a:endParaRPr>
            </a:p>
          </p:txBody>
        </p:sp>
        <p:sp>
          <p:nvSpPr>
            <p:cNvPr id="154703" name="Rectangle 194"/>
            <p:cNvSpPr/>
            <p:nvPr/>
          </p:nvSpPr>
          <p:spPr>
            <a:xfrm>
              <a:off x="4677" y="212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704" name="Rectangle 195"/>
            <p:cNvSpPr/>
            <p:nvPr/>
          </p:nvSpPr>
          <p:spPr>
            <a:xfrm>
              <a:off x="4784" y="2126"/>
              <a:ext cx="1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R3</a:t>
              </a:r>
              <a:endParaRPr lang="en-US" altLang="zh-CN" sz="2400" dirty="0">
                <a:solidFill>
                  <a:schemeClr val="tx1"/>
                </a:solidFill>
                <a:ea typeface="黑体" panose="02010609060101010101" pitchFamily="49" charset="-122"/>
              </a:endParaRPr>
            </a:p>
          </p:txBody>
        </p:sp>
        <p:sp>
          <p:nvSpPr>
            <p:cNvPr id="154705" name="Rectangle 196"/>
            <p:cNvSpPr/>
            <p:nvPr/>
          </p:nvSpPr>
          <p:spPr>
            <a:xfrm>
              <a:off x="4662"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06" name="Line 197"/>
            <p:cNvSpPr/>
            <p:nvPr/>
          </p:nvSpPr>
          <p:spPr>
            <a:xfrm>
              <a:off x="4662" y="2080"/>
              <a:ext cx="15" cy="1"/>
            </a:xfrm>
            <a:prstGeom prst="line">
              <a:avLst/>
            </a:prstGeom>
            <a:ln w="0" cap="flat" cmpd="sng">
              <a:solidFill>
                <a:srgbClr val="000000"/>
              </a:solidFill>
              <a:prstDash val="solid"/>
              <a:headEnd type="none" w="med" len="med"/>
              <a:tailEnd type="none" w="med" len="med"/>
            </a:ln>
          </p:spPr>
        </p:sp>
        <p:sp>
          <p:nvSpPr>
            <p:cNvPr id="154707" name="Line 198"/>
            <p:cNvSpPr/>
            <p:nvPr/>
          </p:nvSpPr>
          <p:spPr>
            <a:xfrm>
              <a:off x="4662" y="2080"/>
              <a:ext cx="1" cy="15"/>
            </a:xfrm>
            <a:prstGeom prst="line">
              <a:avLst/>
            </a:prstGeom>
            <a:ln w="0" cap="flat" cmpd="sng">
              <a:solidFill>
                <a:srgbClr val="000000"/>
              </a:solidFill>
              <a:prstDash val="solid"/>
              <a:headEnd type="none" w="med" len="med"/>
              <a:tailEnd type="none" w="med" len="med"/>
            </a:ln>
          </p:spPr>
        </p:sp>
        <p:sp>
          <p:nvSpPr>
            <p:cNvPr id="154708" name="Rectangle 199"/>
            <p:cNvSpPr/>
            <p:nvPr/>
          </p:nvSpPr>
          <p:spPr>
            <a:xfrm>
              <a:off x="4662"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09" name="Line 200"/>
            <p:cNvSpPr/>
            <p:nvPr/>
          </p:nvSpPr>
          <p:spPr>
            <a:xfrm>
              <a:off x="4662" y="2080"/>
              <a:ext cx="15" cy="1"/>
            </a:xfrm>
            <a:prstGeom prst="line">
              <a:avLst/>
            </a:prstGeom>
            <a:ln w="0" cap="flat" cmpd="sng">
              <a:solidFill>
                <a:srgbClr val="000000"/>
              </a:solidFill>
              <a:prstDash val="solid"/>
              <a:headEnd type="none" w="med" len="med"/>
              <a:tailEnd type="none" w="med" len="med"/>
            </a:ln>
          </p:spPr>
        </p:sp>
        <p:sp>
          <p:nvSpPr>
            <p:cNvPr id="154710" name="Line 201"/>
            <p:cNvSpPr/>
            <p:nvPr/>
          </p:nvSpPr>
          <p:spPr>
            <a:xfrm>
              <a:off x="4662" y="2080"/>
              <a:ext cx="1" cy="15"/>
            </a:xfrm>
            <a:prstGeom prst="line">
              <a:avLst/>
            </a:prstGeom>
            <a:ln w="0" cap="flat" cmpd="sng">
              <a:solidFill>
                <a:srgbClr val="000000"/>
              </a:solidFill>
              <a:prstDash val="solid"/>
              <a:headEnd type="none" w="med" len="med"/>
              <a:tailEnd type="none" w="med" len="med"/>
            </a:ln>
          </p:spPr>
        </p:sp>
        <p:sp>
          <p:nvSpPr>
            <p:cNvPr id="154711" name="Rectangle 202"/>
            <p:cNvSpPr/>
            <p:nvPr/>
          </p:nvSpPr>
          <p:spPr>
            <a:xfrm>
              <a:off x="4677" y="2080"/>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12" name="Line 203"/>
            <p:cNvSpPr/>
            <p:nvPr/>
          </p:nvSpPr>
          <p:spPr>
            <a:xfrm>
              <a:off x="4677" y="2080"/>
              <a:ext cx="382" cy="1"/>
            </a:xfrm>
            <a:prstGeom prst="line">
              <a:avLst/>
            </a:prstGeom>
            <a:ln w="0" cap="flat" cmpd="sng">
              <a:solidFill>
                <a:srgbClr val="000000"/>
              </a:solidFill>
              <a:prstDash val="solid"/>
              <a:headEnd type="none" w="med" len="med"/>
              <a:tailEnd type="none" w="med" len="med"/>
            </a:ln>
          </p:spPr>
        </p:sp>
        <p:sp>
          <p:nvSpPr>
            <p:cNvPr id="154713" name="Rectangle 204"/>
            <p:cNvSpPr/>
            <p:nvPr/>
          </p:nvSpPr>
          <p:spPr>
            <a:xfrm>
              <a:off x="5059"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14" name="Line 205"/>
            <p:cNvSpPr/>
            <p:nvPr/>
          </p:nvSpPr>
          <p:spPr>
            <a:xfrm>
              <a:off x="5059" y="2080"/>
              <a:ext cx="15" cy="1"/>
            </a:xfrm>
            <a:prstGeom prst="line">
              <a:avLst/>
            </a:prstGeom>
            <a:ln w="0" cap="flat" cmpd="sng">
              <a:solidFill>
                <a:srgbClr val="000000"/>
              </a:solidFill>
              <a:prstDash val="solid"/>
              <a:headEnd type="none" w="med" len="med"/>
              <a:tailEnd type="none" w="med" len="med"/>
            </a:ln>
          </p:spPr>
        </p:sp>
        <p:sp>
          <p:nvSpPr>
            <p:cNvPr id="154715" name="Line 206"/>
            <p:cNvSpPr/>
            <p:nvPr/>
          </p:nvSpPr>
          <p:spPr>
            <a:xfrm>
              <a:off x="5059" y="2080"/>
              <a:ext cx="1" cy="15"/>
            </a:xfrm>
            <a:prstGeom prst="line">
              <a:avLst/>
            </a:prstGeom>
            <a:ln w="0" cap="flat" cmpd="sng">
              <a:solidFill>
                <a:srgbClr val="000000"/>
              </a:solidFill>
              <a:prstDash val="solid"/>
              <a:headEnd type="none" w="med" len="med"/>
              <a:tailEnd type="none" w="med" len="med"/>
            </a:ln>
          </p:spPr>
        </p:sp>
        <p:sp>
          <p:nvSpPr>
            <p:cNvPr id="154716" name="Rectangle 207"/>
            <p:cNvSpPr/>
            <p:nvPr/>
          </p:nvSpPr>
          <p:spPr>
            <a:xfrm>
              <a:off x="5059" y="20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17" name="Line 208"/>
            <p:cNvSpPr/>
            <p:nvPr/>
          </p:nvSpPr>
          <p:spPr>
            <a:xfrm>
              <a:off x="5059" y="2080"/>
              <a:ext cx="15" cy="1"/>
            </a:xfrm>
            <a:prstGeom prst="line">
              <a:avLst/>
            </a:prstGeom>
            <a:ln w="0" cap="flat" cmpd="sng">
              <a:solidFill>
                <a:srgbClr val="000000"/>
              </a:solidFill>
              <a:prstDash val="solid"/>
              <a:headEnd type="none" w="med" len="med"/>
              <a:tailEnd type="none" w="med" len="med"/>
            </a:ln>
          </p:spPr>
        </p:sp>
        <p:sp>
          <p:nvSpPr>
            <p:cNvPr id="154718" name="Line 209"/>
            <p:cNvSpPr/>
            <p:nvPr/>
          </p:nvSpPr>
          <p:spPr>
            <a:xfrm>
              <a:off x="5059" y="2080"/>
              <a:ext cx="1" cy="15"/>
            </a:xfrm>
            <a:prstGeom prst="line">
              <a:avLst/>
            </a:prstGeom>
            <a:ln w="0" cap="flat" cmpd="sng">
              <a:solidFill>
                <a:srgbClr val="000000"/>
              </a:solidFill>
              <a:prstDash val="solid"/>
              <a:headEnd type="none" w="med" len="med"/>
              <a:tailEnd type="none" w="med" len="med"/>
            </a:ln>
          </p:spPr>
        </p:sp>
        <p:sp>
          <p:nvSpPr>
            <p:cNvPr id="154719" name="Rectangle 210"/>
            <p:cNvSpPr/>
            <p:nvPr/>
          </p:nvSpPr>
          <p:spPr>
            <a:xfrm>
              <a:off x="4662" y="209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20" name="Line 211"/>
            <p:cNvSpPr/>
            <p:nvPr/>
          </p:nvSpPr>
          <p:spPr>
            <a:xfrm>
              <a:off x="4662" y="2095"/>
              <a:ext cx="1" cy="244"/>
            </a:xfrm>
            <a:prstGeom prst="line">
              <a:avLst/>
            </a:prstGeom>
            <a:ln w="0" cap="flat" cmpd="sng">
              <a:solidFill>
                <a:srgbClr val="000000"/>
              </a:solidFill>
              <a:prstDash val="solid"/>
              <a:headEnd type="none" w="med" len="med"/>
              <a:tailEnd type="none" w="med" len="med"/>
            </a:ln>
          </p:spPr>
        </p:sp>
        <p:sp>
          <p:nvSpPr>
            <p:cNvPr id="154721" name="Rectangle 212"/>
            <p:cNvSpPr/>
            <p:nvPr/>
          </p:nvSpPr>
          <p:spPr>
            <a:xfrm>
              <a:off x="5059" y="2095"/>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22" name="Line 213"/>
            <p:cNvSpPr/>
            <p:nvPr/>
          </p:nvSpPr>
          <p:spPr>
            <a:xfrm>
              <a:off x="5059" y="2095"/>
              <a:ext cx="1" cy="244"/>
            </a:xfrm>
            <a:prstGeom prst="line">
              <a:avLst/>
            </a:prstGeom>
            <a:ln w="0" cap="flat" cmpd="sng">
              <a:solidFill>
                <a:srgbClr val="000000"/>
              </a:solidFill>
              <a:prstDash val="solid"/>
              <a:headEnd type="none" w="med" len="med"/>
              <a:tailEnd type="none" w="med" len="med"/>
            </a:ln>
          </p:spPr>
        </p:sp>
        <p:sp>
          <p:nvSpPr>
            <p:cNvPr id="154723" name="Rectangle 214"/>
            <p:cNvSpPr/>
            <p:nvPr/>
          </p:nvSpPr>
          <p:spPr>
            <a:xfrm>
              <a:off x="4662"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24" name="Line 215"/>
            <p:cNvSpPr/>
            <p:nvPr/>
          </p:nvSpPr>
          <p:spPr>
            <a:xfrm>
              <a:off x="4662" y="2339"/>
              <a:ext cx="15" cy="1"/>
            </a:xfrm>
            <a:prstGeom prst="line">
              <a:avLst/>
            </a:prstGeom>
            <a:ln w="0" cap="flat" cmpd="sng">
              <a:solidFill>
                <a:srgbClr val="000000"/>
              </a:solidFill>
              <a:prstDash val="solid"/>
              <a:headEnd type="none" w="med" len="med"/>
              <a:tailEnd type="none" w="med" len="med"/>
            </a:ln>
          </p:spPr>
        </p:sp>
        <p:sp>
          <p:nvSpPr>
            <p:cNvPr id="154725" name="Line 216"/>
            <p:cNvSpPr/>
            <p:nvPr/>
          </p:nvSpPr>
          <p:spPr>
            <a:xfrm>
              <a:off x="4662" y="2339"/>
              <a:ext cx="1" cy="16"/>
            </a:xfrm>
            <a:prstGeom prst="line">
              <a:avLst/>
            </a:prstGeom>
            <a:ln w="0" cap="flat" cmpd="sng">
              <a:solidFill>
                <a:srgbClr val="000000"/>
              </a:solidFill>
              <a:prstDash val="solid"/>
              <a:headEnd type="none" w="med" len="med"/>
              <a:tailEnd type="none" w="med" len="med"/>
            </a:ln>
          </p:spPr>
        </p:sp>
        <p:sp>
          <p:nvSpPr>
            <p:cNvPr id="154726" name="Rectangle 217"/>
            <p:cNvSpPr/>
            <p:nvPr/>
          </p:nvSpPr>
          <p:spPr>
            <a:xfrm>
              <a:off x="4662"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27" name="Line 218"/>
            <p:cNvSpPr/>
            <p:nvPr/>
          </p:nvSpPr>
          <p:spPr>
            <a:xfrm>
              <a:off x="4662" y="2339"/>
              <a:ext cx="15" cy="1"/>
            </a:xfrm>
            <a:prstGeom prst="line">
              <a:avLst/>
            </a:prstGeom>
            <a:ln w="0" cap="flat" cmpd="sng">
              <a:solidFill>
                <a:srgbClr val="000000"/>
              </a:solidFill>
              <a:prstDash val="solid"/>
              <a:headEnd type="none" w="med" len="med"/>
              <a:tailEnd type="none" w="med" len="med"/>
            </a:ln>
          </p:spPr>
        </p:sp>
        <p:sp>
          <p:nvSpPr>
            <p:cNvPr id="154728" name="Line 219"/>
            <p:cNvSpPr/>
            <p:nvPr/>
          </p:nvSpPr>
          <p:spPr>
            <a:xfrm>
              <a:off x="4662" y="2339"/>
              <a:ext cx="1" cy="16"/>
            </a:xfrm>
            <a:prstGeom prst="line">
              <a:avLst/>
            </a:prstGeom>
            <a:ln w="0" cap="flat" cmpd="sng">
              <a:solidFill>
                <a:srgbClr val="000000"/>
              </a:solidFill>
              <a:prstDash val="solid"/>
              <a:headEnd type="none" w="med" len="med"/>
              <a:tailEnd type="none" w="med" len="med"/>
            </a:ln>
          </p:spPr>
        </p:sp>
        <p:sp>
          <p:nvSpPr>
            <p:cNvPr id="154729" name="Rectangle 220"/>
            <p:cNvSpPr/>
            <p:nvPr/>
          </p:nvSpPr>
          <p:spPr>
            <a:xfrm>
              <a:off x="4677" y="2339"/>
              <a:ext cx="382"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30" name="Line 221"/>
            <p:cNvSpPr/>
            <p:nvPr/>
          </p:nvSpPr>
          <p:spPr>
            <a:xfrm>
              <a:off x="4677" y="2339"/>
              <a:ext cx="382" cy="1"/>
            </a:xfrm>
            <a:prstGeom prst="line">
              <a:avLst/>
            </a:prstGeom>
            <a:ln w="0" cap="flat" cmpd="sng">
              <a:solidFill>
                <a:srgbClr val="000000"/>
              </a:solidFill>
              <a:prstDash val="solid"/>
              <a:headEnd type="none" w="med" len="med"/>
              <a:tailEnd type="none" w="med" len="med"/>
            </a:ln>
          </p:spPr>
        </p:sp>
        <p:sp>
          <p:nvSpPr>
            <p:cNvPr id="154731" name="Rectangle 222"/>
            <p:cNvSpPr/>
            <p:nvPr/>
          </p:nvSpPr>
          <p:spPr>
            <a:xfrm>
              <a:off x="5059"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32" name="Line 223"/>
            <p:cNvSpPr/>
            <p:nvPr/>
          </p:nvSpPr>
          <p:spPr>
            <a:xfrm>
              <a:off x="5059" y="2339"/>
              <a:ext cx="15" cy="1"/>
            </a:xfrm>
            <a:prstGeom prst="line">
              <a:avLst/>
            </a:prstGeom>
            <a:ln w="0" cap="flat" cmpd="sng">
              <a:solidFill>
                <a:srgbClr val="000000"/>
              </a:solidFill>
              <a:prstDash val="solid"/>
              <a:headEnd type="none" w="med" len="med"/>
              <a:tailEnd type="none" w="med" len="med"/>
            </a:ln>
          </p:spPr>
        </p:sp>
        <p:sp>
          <p:nvSpPr>
            <p:cNvPr id="154733" name="Line 224"/>
            <p:cNvSpPr/>
            <p:nvPr/>
          </p:nvSpPr>
          <p:spPr>
            <a:xfrm>
              <a:off x="5059" y="2339"/>
              <a:ext cx="1" cy="16"/>
            </a:xfrm>
            <a:prstGeom prst="line">
              <a:avLst/>
            </a:prstGeom>
            <a:ln w="0" cap="flat" cmpd="sng">
              <a:solidFill>
                <a:srgbClr val="000000"/>
              </a:solidFill>
              <a:prstDash val="solid"/>
              <a:headEnd type="none" w="med" len="med"/>
              <a:tailEnd type="none" w="med" len="med"/>
            </a:ln>
          </p:spPr>
        </p:sp>
        <p:sp>
          <p:nvSpPr>
            <p:cNvPr id="154734" name="Rectangle 225"/>
            <p:cNvSpPr/>
            <p:nvPr/>
          </p:nvSpPr>
          <p:spPr>
            <a:xfrm>
              <a:off x="5059" y="2339"/>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35" name="Line 226"/>
            <p:cNvSpPr/>
            <p:nvPr/>
          </p:nvSpPr>
          <p:spPr>
            <a:xfrm>
              <a:off x="5059" y="2339"/>
              <a:ext cx="15" cy="1"/>
            </a:xfrm>
            <a:prstGeom prst="line">
              <a:avLst/>
            </a:prstGeom>
            <a:ln w="0" cap="flat" cmpd="sng">
              <a:solidFill>
                <a:srgbClr val="000000"/>
              </a:solidFill>
              <a:prstDash val="solid"/>
              <a:headEnd type="none" w="med" len="med"/>
              <a:tailEnd type="none" w="med" len="med"/>
            </a:ln>
          </p:spPr>
        </p:sp>
        <p:sp>
          <p:nvSpPr>
            <p:cNvPr id="154736" name="Line 227"/>
            <p:cNvSpPr/>
            <p:nvPr/>
          </p:nvSpPr>
          <p:spPr>
            <a:xfrm>
              <a:off x="5059" y="2339"/>
              <a:ext cx="1" cy="16"/>
            </a:xfrm>
            <a:prstGeom prst="line">
              <a:avLst/>
            </a:prstGeom>
            <a:ln w="0" cap="flat" cmpd="sng">
              <a:solidFill>
                <a:srgbClr val="000000"/>
              </a:solidFill>
              <a:prstDash val="solid"/>
              <a:headEnd type="none" w="med" len="med"/>
              <a:tailEnd type="none" w="med" len="med"/>
            </a:ln>
          </p:spPr>
        </p:sp>
        <p:sp>
          <p:nvSpPr>
            <p:cNvPr id="154737" name="Rectangle 228"/>
            <p:cNvSpPr/>
            <p:nvPr/>
          </p:nvSpPr>
          <p:spPr>
            <a:xfrm>
              <a:off x="2832" y="2461"/>
              <a:ext cx="225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L4</a:t>
              </a:r>
              <a:endParaRPr lang="en-US" altLang="zh-CN" sz="2400" dirty="0">
                <a:solidFill>
                  <a:schemeClr val="tx1"/>
                </a:solidFill>
                <a:ea typeface="黑体" panose="02010609060101010101" pitchFamily="49" charset="-122"/>
              </a:endParaRPr>
            </a:p>
          </p:txBody>
        </p:sp>
        <p:sp>
          <p:nvSpPr>
            <p:cNvPr id="154738" name="Rectangle 229"/>
            <p:cNvSpPr/>
            <p:nvPr/>
          </p:nvSpPr>
          <p:spPr>
            <a:xfrm>
              <a:off x="2832" y="2766"/>
              <a:ext cx="36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739" name="Rectangle 230"/>
            <p:cNvSpPr/>
            <p:nvPr/>
          </p:nvSpPr>
          <p:spPr>
            <a:xfrm>
              <a:off x="3213" y="276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740" name="Rectangle 231"/>
            <p:cNvSpPr/>
            <p:nvPr/>
          </p:nvSpPr>
          <p:spPr>
            <a:xfrm>
              <a:off x="3320" y="2766"/>
              <a:ext cx="27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R4 </a:t>
              </a:r>
              <a:endParaRPr lang="en-US" altLang="zh-CN" sz="2400" dirty="0">
                <a:solidFill>
                  <a:schemeClr val="tx1"/>
                </a:solidFill>
                <a:ea typeface="黑体" panose="02010609060101010101" pitchFamily="49" charset="-122"/>
              </a:endParaRPr>
            </a:p>
          </p:txBody>
        </p:sp>
        <p:sp>
          <p:nvSpPr>
            <p:cNvPr id="154741" name="Rectangle 232"/>
            <p:cNvSpPr/>
            <p:nvPr/>
          </p:nvSpPr>
          <p:spPr>
            <a:xfrm>
              <a:off x="319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42" name="Line 233"/>
            <p:cNvSpPr/>
            <p:nvPr/>
          </p:nvSpPr>
          <p:spPr>
            <a:xfrm>
              <a:off x="3198" y="2720"/>
              <a:ext cx="15" cy="1"/>
            </a:xfrm>
            <a:prstGeom prst="line">
              <a:avLst/>
            </a:prstGeom>
            <a:ln w="0" cap="flat" cmpd="sng">
              <a:solidFill>
                <a:srgbClr val="000000"/>
              </a:solidFill>
              <a:prstDash val="solid"/>
              <a:headEnd type="none" w="med" len="med"/>
              <a:tailEnd type="none" w="med" len="med"/>
            </a:ln>
          </p:spPr>
        </p:sp>
        <p:sp>
          <p:nvSpPr>
            <p:cNvPr id="154743" name="Line 234"/>
            <p:cNvSpPr/>
            <p:nvPr/>
          </p:nvSpPr>
          <p:spPr>
            <a:xfrm>
              <a:off x="3198" y="2720"/>
              <a:ext cx="1" cy="16"/>
            </a:xfrm>
            <a:prstGeom prst="line">
              <a:avLst/>
            </a:prstGeom>
            <a:ln w="0" cap="flat" cmpd="sng">
              <a:solidFill>
                <a:srgbClr val="000000"/>
              </a:solidFill>
              <a:prstDash val="solid"/>
              <a:headEnd type="none" w="med" len="med"/>
              <a:tailEnd type="none" w="med" len="med"/>
            </a:ln>
          </p:spPr>
        </p:sp>
        <p:sp>
          <p:nvSpPr>
            <p:cNvPr id="154744" name="Rectangle 235"/>
            <p:cNvSpPr/>
            <p:nvPr/>
          </p:nvSpPr>
          <p:spPr>
            <a:xfrm>
              <a:off x="319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45" name="Line 236"/>
            <p:cNvSpPr/>
            <p:nvPr/>
          </p:nvSpPr>
          <p:spPr>
            <a:xfrm>
              <a:off x="3198" y="2720"/>
              <a:ext cx="15" cy="1"/>
            </a:xfrm>
            <a:prstGeom prst="line">
              <a:avLst/>
            </a:prstGeom>
            <a:ln w="0" cap="flat" cmpd="sng">
              <a:solidFill>
                <a:srgbClr val="000000"/>
              </a:solidFill>
              <a:prstDash val="solid"/>
              <a:headEnd type="none" w="med" len="med"/>
              <a:tailEnd type="none" w="med" len="med"/>
            </a:ln>
          </p:spPr>
        </p:sp>
        <p:sp>
          <p:nvSpPr>
            <p:cNvPr id="154746" name="Line 237"/>
            <p:cNvSpPr/>
            <p:nvPr/>
          </p:nvSpPr>
          <p:spPr>
            <a:xfrm>
              <a:off x="3198" y="2720"/>
              <a:ext cx="1" cy="16"/>
            </a:xfrm>
            <a:prstGeom prst="line">
              <a:avLst/>
            </a:prstGeom>
            <a:ln w="0" cap="flat" cmpd="sng">
              <a:solidFill>
                <a:srgbClr val="000000"/>
              </a:solidFill>
              <a:prstDash val="solid"/>
              <a:headEnd type="none" w="med" len="med"/>
              <a:tailEnd type="none" w="med" len="med"/>
            </a:ln>
          </p:spPr>
        </p:sp>
        <p:sp>
          <p:nvSpPr>
            <p:cNvPr id="154747" name="Rectangle 238"/>
            <p:cNvSpPr/>
            <p:nvPr/>
          </p:nvSpPr>
          <p:spPr>
            <a:xfrm>
              <a:off x="3213" y="2720"/>
              <a:ext cx="382"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48" name="Line 239"/>
            <p:cNvSpPr/>
            <p:nvPr/>
          </p:nvSpPr>
          <p:spPr>
            <a:xfrm>
              <a:off x="3213" y="2720"/>
              <a:ext cx="382" cy="1"/>
            </a:xfrm>
            <a:prstGeom prst="line">
              <a:avLst/>
            </a:prstGeom>
            <a:ln w="0" cap="flat" cmpd="sng">
              <a:solidFill>
                <a:srgbClr val="000000"/>
              </a:solidFill>
              <a:prstDash val="solid"/>
              <a:headEnd type="none" w="med" len="med"/>
              <a:tailEnd type="none" w="med" len="med"/>
            </a:ln>
          </p:spPr>
        </p:sp>
        <p:sp>
          <p:nvSpPr>
            <p:cNvPr id="154749" name="Rectangle 240"/>
            <p:cNvSpPr/>
            <p:nvPr/>
          </p:nvSpPr>
          <p:spPr>
            <a:xfrm>
              <a:off x="3595"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50" name="Line 241"/>
            <p:cNvSpPr/>
            <p:nvPr/>
          </p:nvSpPr>
          <p:spPr>
            <a:xfrm>
              <a:off x="3595" y="2720"/>
              <a:ext cx="15" cy="1"/>
            </a:xfrm>
            <a:prstGeom prst="line">
              <a:avLst/>
            </a:prstGeom>
            <a:ln w="0" cap="flat" cmpd="sng">
              <a:solidFill>
                <a:srgbClr val="000000"/>
              </a:solidFill>
              <a:prstDash val="solid"/>
              <a:headEnd type="none" w="med" len="med"/>
              <a:tailEnd type="none" w="med" len="med"/>
            </a:ln>
          </p:spPr>
        </p:sp>
        <p:sp>
          <p:nvSpPr>
            <p:cNvPr id="154751" name="Line 242"/>
            <p:cNvSpPr/>
            <p:nvPr/>
          </p:nvSpPr>
          <p:spPr>
            <a:xfrm>
              <a:off x="3595" y="2720"/>
              <a:ext cx="1" cy="16"/>
            </a:xfrm>
            <a:prstGeom prst="line">
              <a:avLst/>
            </a:prstGeom>
            <a:ln w="0" cap="flat" cmpd="sng">
              <a:solidFill>
                <a:srgbClr val="000000"/>
              </a:solidFill>
              <a:prstDash val="solid"/>
              <a:headEnd type="none" w="med" len="med"/>
              <a:tailEnd type="none" w="med" len="med"/>
            </a:ln>
          </p:spPr>
        </p:sp>
        <p:sp>
          <p:nvSpPr>
            <p:cNvPr id="154752" name="Rectangle 243"/>
            <p:cNvSpPr/>
            <p:nvPr/>
          </p:nvSpPr>
          <p:spPr>
            <a:xfrm>
              <a:off x="3595"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53" name="Line 244"/>
            <p:cNvSpPr/>
            <p:nvPr/>
          </p:nvSpPr>
          <p:spPr>
            <a:xfrm>
              <a:off x="3595" y="2720"/>
              <a:ext cx="15" cy="1"/>
            </a:xfrm>
            <a:prstGeom prst="line">
              <a:avLst/>
            </a:prstGeom>
            <a:ln w="0" cap="flat" cmpd="sng">
              <a:solidFill>
                <a:srgbClr val="000000"/>
              </a:solidFill>
              <a:prstDash val="solid"/>
              <a:headEnd type="none" w="med" len="med"/>
              <a:tailEnd type="none" w="med" len="med"/>
            </a:ln>
          </p:spPr>
        </p:sp>
        <p:sp>
          <p:nvSpPr>
            <p:cNvPr id="154754" name="Line 245"/>
            <p:cNvSpPr/>
            <p:nvPr/>
          </p:nvSpPr>
          <p:spPr>
            <a:xfrm>
              <a:off x="3595" y="2720"/>
              <a:ext cx="1" cy="16"/>
            </a:xfrm>
            <a:prstGeom prst="line">
              <a:avLst/>
            </a:prstGeom>
            <a:ln w="0" cap="flat" cmpd="sng">
              <a:solidFill>
                <a:srgbClr val="000000"/>
              </a:solidFill>
              <a:prstDash val="solid"/>
              <a:headEnd type="none" w="med" len="med"/>
              <a:tailEnd type="none" w="med" len="med"/>
            </a:ln>
          </p:spPr>
        </p:sp>
        <p:sp>
          <p:nvSpPr>
            <p:cNvPr id="154755" name="Rectangle 246"/>
            <p:cNvSpPr/>
            <p:nvPr/>
          </p:nvSpPr>
          <p:spPr>
            <a:xfrm>
              <a:off x="3198"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56" name="Line 247"/>
            <p:cNvSpPr/>
            <p:nvPr/>
          </p:nvSpPr>
          <p:spPr>
            <a:xfrm>
              <a:off x="3198" y="2736"/>
              <a:ext cx="1" cy="244"/>
            </a:xfrm>
            <a:prstGeom prst="line">
              <a:avLst/>
            </a:prstGeom>
            <a:ln w="0" cap="flat" cmpd="sng">
              <a:solidFill>
                <a:srgbClr val="000000"/>
              </a:solidFill>
              <a:prstDash val="solid"/>
              <a:headEnd type="none" w="med" len="med"/>
              <a:tailEnd type="none" w="med" len="med"/>
            </a:ln>
          </p:spPr>
        </p:sp>
        <p:sp>
          <p:nvSpPr>
            <p:cNvPr id="154757" name="Rectangle 248"/>
            <p:cNvSpPr/>
            <p:nvPr/>
          </p:nvSpPr>
          <p:spPr>
            <a:xfrm>
              <a:off x="3595"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58" name="Line 249"/>
            <p:cNvSpPr/>
            <p:nvPr/>
          </p:nvSpPr>
          <p:spPr>
            <a:xfrm>
              <a:off x="3595" y="2736"/>
              <a:ext cx="1" cy="244"/>
            </a:xfrm>
            <a:prstGeom prst="line">
              <a:avLst/>
            </a:prstGeom>
            <a:ln w="0" cap="flat" cmpd="sng">
              <a:solidFill>
                <a:srgbClr val="000000"/>
              </a:solidFill>
              <a:prstDash val="solid"/>
              <a:headEnd type="none" w="med" len="med"/>
              <a:tailEnd type="none" w="med" len="med"/>
            </a:ln>
          </p:spPr>
        </p:sp>
        <p:sp>
          <p:nvSpPr>
            <p:cNvPr id="154759" name="Rectangle 250"/>
            <p:cNvSpPr/>
            <p:nvPr/>
          </p:nvSpPr>
          <p:spPr>
            <a:xfrm>
              <a:off x="319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60" name="Line 251"/>
            <p:cNvSpPr/>
            <p:nvPr/>
          </p:nvSpPr>
          <p:spPr>
            <a:xfrm>
              <a:off x="3198" y="2980"/>
              <a:ext cx="15" cy="1"/>
            </a:xfrm>
            <a:prstGeom prst="line">
              <a:avLst/>
            </a:prstGeom>
            <a:ln w="0" cap="flat" cmpd="sng">
              <a:solidFill>
                <a:srgbClr val="000000"/>
              </a:solidFill>
              <a:prstDash val="solid"/>
              <a:headEnd type="none" w="med" len="med"/>
              <a:tailEnd type="none" w="med" len="med"/>
            </a:ln>
          </p:spPr>
        </p:sp>
        <p:sp>
          <p:nvSpPr>
            <p:cNvPr id="154761" name="Line 252"/>
            <p:cNvSpPr/>
            <p:nvPr/>
          </p:nvSpPr>
          <p:spPr>
            <a:xfrm>
              <a:off x="3198" y="2980"/>
              <a:ext cx="1" cy="15"/>
            </a:xfrm>
            <a:prstGeom prst="line">
              <a:avLst/>
            </a:prstGeom>
            <a:ln w="0" cap="flat" cmpd="sng">
              <a:solidFill>
                <a:srgbClr val="000000"/>
              </a:solidFill>
              <a:prstDash val="solid"/>
              <a:headEnd type="none" w="med" len="med"/>
              <a:tailEnd type="none" w="med" len="med"/>
            </a:ln>
          </p:spPr>
        </p:sp>
        <p:sp>
          <p:nvSpPr>
            <p:cNvPr id="154762" name="Rectangle 253"/>
            <p:cNvSpPr/>
            <p:nvPr/>
          </p:nvSpPr>
          <p:spPr>
            <a:xfrm>
              <a:off x="319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63" name="Line 254"/>
            <p:cNvSpPr/>
            <p:nvPr/>
          </p:nvSpPr>
          <p:spPr>
            <a:xfrm>
              <a:off x="3198" y="2980"/>
              <a:ext cx="15" cy="1"/>
            </a:xfrm>
            <a:prstGeom prst="line">
              <a:avLst/>
            </a:prstGeom>
            <a:ln w="0" cap="flat" cmpd="sng">
              <a:solidFill>
                <a:srgbClr val="000000"/>
              </a:solidFill>
              <a:prstDash val="solid"/>
              <a:headEnd type="none" w="med" len="med"/>
              <a:tailEnd type="none" w="med" len="med"/>
            </a:ln>
          </p:spPr>
        </p:sp>
        <p:sp>
          <p:nvSpPr>
            <p:cNvPr id="154764" name="Line 255"/>
            <p:cNvSpPr/>
            <p:nvPr/>
          </p:nvSpPr>
          <p:spPr>
            <a:xfrm>
              <a:off x="3198" y="2980"/>
              <a:ext cx="1" cy="15"/>
            </a:xfrm>
            <a:prstGeom prst="line">
              <a:avLst/>
            </a:prstGeom>
            <a:ln w="0" cap="flat" cmpd="sng">
              <a:solidFill>
                <a:srgbClr val="000000"/>
              </a:solidFill>
              <a:prstDash val="solid"/>
              <a:headEnd type="none" w="med" len="med"/>
              <a:tailEnd type="none" w="med" len="med"/>
            </a:ln>
          </p:spPr>
        </p:sp>
        <p:sp>
          <p:nvSpPr>
            <p:cNvPr id="154765" name="Rectangle 256"/>
            <p:cNvSpPr/>
            <p:nvPr/>
          </p:nvSpPr>
          <p:spPr>
            <a:xfrm>
              <a:off x="3213" y="2980"/>
              <a:ext cx="382"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66" name="Line 257"/>
            <p:cNvSpPr/>
            <p:nvPr/>
          </p:nvSpPr>
          <p:spPr>
            <a:xfrm>
              <a:off x="3213" y="2980"/>
              <a:ext cx="382" cy="1"/>
            </a:xfrm>
            <a:prstGeom prst="line">
              <a:avLst/>
            </a:prstGeom>
            <a:ln w="0" cap="flat" cmpd="sng">
              <a:solidFill>
                <a:srgbClr val="000000"/>
              </a:solidFill>
              <a:prstDash val="solid"/>
              <a:headEnd type="none" w="med" len="med"/>
              <a:tailEnd type="none" w="med" len="med"/>
            </a:ln>
          </p:spPr>
        </p:sp>
        <p:sp>
          <p:nvSpPr>
            <p:cNvPr id="154767" name="Rectangle 258"/>
            <p:cNvSpPr/>
            <p:nvPr/>
          </p:nvSpPr>
          <p:spPr>
            <a:xfrm>
              <a:off x="3595"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68" name="Line 259"/>
            <p:cNvSpPr/>
            <p:nvPr/>
          </p:nvSpPr>
          <p:spPr>
            <a:xfrm>
              <a:off x="3595" y="2980"/>
              <a:ext cx="15" cy="1"/>
            </a:xfrm>
            <a:prstGeom prst="line">
              <a:avLst/>
            </a:prstGeom>
            <a:ln w="0" cap="flat" cmpd="sng">
              <a:solidFill>
                <a:srgbClr val="000000"/>
              </a:solidFill>
              <a:prstDash val="solid"/>
              <a:headEnd type="none" w="med" len="med"/>
              <a:tailEnd type="none" w="med" len="med"/>
            </a:ln>
          </p:spPr>
        </p:sp>
        <p:sp>
          <p:nvSpPr>
            <p:cNvPr id="154769" name="Line 260"/>
            <p:cNvSpPr/>
            <p:nvPr/>
          </p:nvSpPr>
          <p:spPr>
            <a:xfrm>
              <a:off x="3595" y="2980"/>
              <a:ext cx="1" cy="15"/>
            </a:xfrm>
            <a:prstGeom prst="line">
              <a:avLst/>
            </a:prstGeom>
            <a:ln w="0" cap="flat" cmpd="sng">
              <a:solidFill>
                <a:srgbClr val="000000"/>
              </a:solidFill>
              <a:prstDash val="solid"/>
              <a:headEnd type="none" w="med" len="med"/>
              <a:tailEnd type="none" w="med" len="med"/>
            </a:ln>
          </p:spPr>
        </p:sp>
        <p:sp>
          <p:nvSpPr>
            <p:cNvPr id="154770" name="Rectangle 261"/>
            <p:cNvSpPr/>
            <p:nvPr/>
          </p:nvSpPr>
          <p:spPr>
            <a:xfrm>
              <a:off x="3595"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71" name="Line 262"/>
            <p:cNvSpPr/>
            <p:nvPr/>
          </p:nvSpPr>
          <p:spPr>
            <a:xfrm>
              <a:off x="3595" y="2980"/>
              <a:ext cx="15" cy="1"/>
            </a:xfrm>
            <a:prstGeom prst="line">
              <a:avLst/>
            </a:prstGeom>
            <a:ln w="0" cap="flat" cmpd="sng">
              <a:solidFill>
                <a:srgbClr val="000000"/>
              </a:solidFill>
              <a:prstDash val="solid"/>
              <a:headEnd type="none" w="med" len="med"/>
              <a:tailEnd type="none" w="med" len="med"/>
            </a:ln>
          </p:spPr>
        </p:sp>
        <p:sp>
          <p:nvSpPr>
            <p:cNvPr id="154772" name="Line 263"/>
            <p:cNvSpPr/>
            <p:nvPr/>
          </p:nvSpPr>
          <p:spPr>
            <a:xfrm>
              <a:off x="3595" y="2980"/>
              <a:ext cx="1" cy="15"/>
            </a:xfrm>
            <a:prstGeom prst="line">
              <a:avLst/>
            </a:prstGeom>
            <a:ln w="0" cap="flat" cmpd="sng">
              <a:solidFill>
                <a:srgbClr val="000000"/>
              </a:solidFill>
              <a:prstDash val="solid"/>
              <a:headEnd type="none" w="med" len="med"/>
              <a:tailEnd type="none" w="med" len="med"/>
            </a:ln>
          </p:spPr>
        </p:sp>
        <p:sp>
          <p:nvSpPr>
            <p:cNvPr id="154773" name="Rectangle 264"/>
            <p:cNvSpPr/>
            <p:nvPr/>
          </p:nvSpPr>
          <p:spPr>
            <a:xfrm>
              <a:off x="3610" y="2766"/>
              <a:ext cx="10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774" name="Rectangle 265"/>
            <p:cNvSpPr/>
            <p:nvPr/>
          </p:nvSpPr>
          <p:spPr>
            <a:xfrm>
              <a:off x="4723" y="2766"/>
              <a:ext cx="9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775" name="Rectangle 266"/>
            <p:cNvSpPr/>
            <p:nvPr/>
          </p:nvSpPr>
          <p:spPr>
            <a:xfrm>
              <a:off x="4815" y="2766"/>
              <a:ext cx="18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R5</a:t>
              </a:r>
              <a:endParaRPr lang="en-US" altLang="zh-CN" sz="2400" dirty="0">
                <a:solidFill>
                  <a:schemeClr val="tx1"/>
                </a:solidFill>
                <a:ea typeface="黑体" panose="02010609060101010101" pitchFamily="49" charset="-122"/>
              </a:endParaRPr>
            </a:p>
          </p:txBody>
        </p:sp>
        <p:sp>
          <p:nvSpPr>
            <p:cNvPr id="154776" name="Rectangle 267"/>
            <p:cNvSpPr/>
            <p:nvPr/>
          </p:nvSpPr>
          <p:spPr>
            <a:xfrm>
              <a:off x="470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77" name="Line 268"/>
            <p:cNvSpPr/>
            <p:nvPr/>
          </p:nvSpPr>
          <p:spPr>
            <a:xfrm>
              <a:off x="4708" y="2720"/>
              <a:ext cx="15" cy="1"/>
            </a:xfrm>
            <a:prstGeom prst="line">
              <a:avLst/>
            </a:prstGeom>
            <a:ln w="0" cap="flat" cmpd="sng">
              <a:solidFill>
                <a:srgbClr val="000000"/>
              </a:solidFill>
              <a:prstDash val="solid"/>
              <a:headEnd type="none" w="med" len="med"/>
              <a:tailEnd type="none" w="med" len="med"/>
            </a:ln>
          </p:spPr>
        </p:sp>
        <p:sp>
          <p:nvSpPr>
            <p:cNvPr id="154778" name="Line 269"/>
            <p:cNvSpPr/>
            <p:nvPr/>
          </p:nvSpPr>
          <p:spPr>
            <a:xfrm>
              <a:off x="4708" y="2720"/>
              <a:ext cx="1" cy="16"/>
            </a:xfrm>
            <a:prstGeom prst="line">
              <a:avLst/>
            </a:prstGeom>
            <a:ln w="0" cap="flat" cmpd="sng">
              <a:solidFill>
                <a:srgbClr val="000000"/>
              </a:solidFill>
              <a:prstDash val="solid"/>
              <a:headEnd type="none" w="med" len="med"/>
              <a:tailEnd type="none" w="med" len="med"/>
            </a:ln>
          </p:spPr>
        </p:sp>
        <p:sp>
          <p:nvSpPr>
            <p:cNvPr id="154779" name="Rectangle 270"/>
            <p:cNvSpPr/>
            <p:nvPr/>
          </p:nvSpPr>
          <p:spPr>
            <a:xfrm>
              <a:off x="4708"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80" name="Line 271"/>
            <p:cNvSpPr/>
            <p:nvPr/>
          </p:nvSpPr>
          <p:spPr>
            <a:xfrm>
              <a:off x="4708" y="2720"/>
              <a:ext cx="15" cy="1"/>
            </a:xfrm>
            <a:prstGeom prst="line">
              <a:avLst/>
            </a:prstGeom>
            <a:ln w="0" cap="flat" cmpd="sng">
              <a:solidFill>
                <a:srgbClr val="000000"/>
              </a:solidFill>
              <a:prstDash val="solid"/>
              <a:headEnd type="none" w="med" len="med"/>
              <a:tailEnd type="none" w="med" len="med"/>
            </a:ln>
          </p:spPr>
        </p:sp>
        <p:sp>
          <p:nvSpPr>
            <p:cNvPr id="154781" name="Line 272"/>
            <p:cNvSpPr/>
            <p:nvPr/>
          </p:nvSpPr>
          <p:spPr>
            <a:xfrm>
              <a:off x="4708" y="2720"/>
              <a:ext cx="1" cy="16"/>
            </a:xfrm>
            <a:prstGeom prst="line">
              <a:avLst/>
            </a:prstGeom>
            <a:ln w="0" cap="flat" cmpd="sng">
              <a:solidFill>
                <a:srgbClr val="000000"/>
              </a:solidFill>
              <a:prstDash val="solid"/>
              <a:headEnd type="none" w="med" len="med"/>
              <a:tailEnd type="none" w="med" len="med"/>
            </a:ln>
          </p:spPr>
        </p:sp>
        <p:sp>
          <p:nvSpPr>
            <p:cNvPr id="154782" name="Rectangle 273"/>
            <p:cNvSpPr/>
            <p:nvPr/>
          </p:nvSpPr>
          <p:spPr>
            <a:xfrm>
              <a:off x="4723" y="2720"/>
              <a:ext cx="366"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83" name="Line 274"/>
            <p:cNvSpPr/>
            <p:nvPr/>
          </p:nvSpPr>
          <p:spPr>
            <a:xfrm>
              <a:off x="4723" y="2720"/>
              <a:ext cx="366" cy="1"/>
            </a:xfrm>
            <a:prstGeom prst="line">
              <a:avLst/>
            </a:prstGeom>
            <a:ln w="0" cap="flat" cmpd="sng">
              <a:solidFill>
                <a:srgbClr val="000000"/>
              </a:solidFill>
              <a:prstDash val="solid"/>
              <a:headEnd type="none" w="med" len="med"/>
              <a:tailEnd type="none" w="med" len="med"/>
            </a:ln>
          </p:spPr>
        </p:sp>
        <p:sp>
          <p:nvSpPr>
            <p:cNvPr id="154784" name="Rectangle 275"/>
            <p:cNvSpPr/>
            <p:nvPr/>
          </p:nvSpPr>
          <p:spPr>
            <a:xfrm>
              <a:off x="5089"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85" name="Line 276"/>
            <p:cNvSpPr/>
            <p:nvPr/>
          </p:nvSpPr>
          <p:spPr>
            <a:xfrm>
              <a:off x="5089" y="2720"/>
              <a:ext cx="15" cy="1"/>
            </a:xfrm>
            <a:prstGeom prst="line">
              <a:avLst/>
            </a:prstGeom>
            <a:ln w="0" cap="flat" cmpd="sng">
              <a:solidFill>
                <a:srgbClr val="000000"/>
              </a:solidFill>
              <a:prstDash val="solid"/>
              <a:headEnd type="none" w="med" len="med"/>
              <a:tailEnd type="none" w="med" len="med"/>
            </a:ln>
          </p:spPr>
        </p:sp>
        <p:sp>
          <p:nvSpPr>
            <p:cNvPr id="154786" name="Line 277"/>
            <p:cNvSpPr/>
            <p:nvPr/>
          </p:nvSpPr>
          <p:spPr>
            <a:xfrm>
              <a:off x="5089" y="2720"/>
              <a:ext cx="1" cy="16"/>
            </a:xfrm>
            <a:prstGeom prst="line">
              <a:avLst/>
            </a:prstGeom>
            <a:ln w="0" cap="flat" cmpd="sng">
              <a:solidFill>
                <a:srgbClr val="000000"/>
              </a:solidFill>
              <a:prstDash val="solid"/>
              <a:headEnd type="none" w="med" len="med"/>
              <a:tailEnd type="none" w="med" len="med"/>
            </a:ln>
          </p:spPr>
        </p:sp>
        <p:sp>
          <p:nvSpPr>
            <p:cNvPr id="154787" name="Rectangle 278"/>
            <p:cNvSpPr/>
            <p:nvPr/>
          </p:nvSpPr>
          <p:spPr>
            <a:xfrm>
              <a:off x="5089" y="2720"/>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88" name="Line 279"/>
            <p:cNvSpPr/>
            <p:nvPr/>
          </p:nvSpPr>
          <p:spPr>
            <a:xfrm>
              <a:off x="5089" y="2720"/>
              <a:ext cx="15" cy="1"/>
            </a:xfrm>
            <a:prstGeom prst="line">
              <a:avLst/>
            </a:prstGeom>
            <a:ln w="0" cap="flat" cmpd="sng">
              <a:solidFill>
                <a:srgbClr val="000000"/>
              </a:solidFill>
              <a:prstDash val="solid"/>
              <a:headEnd type="none" w="med" len="med"/>
              <a:tailEnd type="none" w="med" len="med"/>
            </a:ln>
          </p:spPr>
        </p:sp>
        <p:sp>
          <p:nvSpPr>
            <p:cNvPr id="154789" name="Line 280"/>
            <p:cNvSpPr/>
            <p:nvPr/>
          </p:nvSpPr>
          <p:spPr>
            <a:xfrm>
              <a:off x="5089" y="2720"/>
              <a:ext cx="1" cy="16"/>
            </a:xfrm>
            <a:prstGeom prst="line">
              <a:avLst/>
            </a:prstGeom>
            <a:ln w="0" cap="flat" cmpd="sng">
              <a:solidFill>
                <a:srgbClr val="000000"/>
              </a:solidFill>
              <a:prstDash val="solid"/>
              <a:headEnd type="none" w="med" len="med"/>
              <a:tailEnd type="none" w="med" len="med"/>
            </a:ln>
          </p:spPr>
        </p:sp>
        <p:sp>
          <p:nvSpPr>
            <p:cNvPr id="154790" name="Rectangle 281"/>
            <p:cNvSpPr/>
            <p:nvPr/>
          </p:nvSpPr>
          <p:spPr>
            <a:xfrm>
              <a:off x="4708"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91" name="Line 282"/>
            <p:cNvSpPr/>
            <p:nvPr/>
          </p:nvSpPr>
          <p:spPr>
            <a:xfrm>
              <a:off x="4708" y="2736"/>
              <a:ext cx="1" cy="244"/>
            </a:xfrm>
            <a:prstGeom prst="line">
              <a:avLst/>
            </a:prstGeom>
            <a:ln w="0" cap="flat" cmpd="sng">
              <a:solidFill>
                <a:srgbClr val="000000"/>
              </a:solidFill>
              <a:prstDash val="solid"/>
              <a:headEnd type="none" w="med" len="med"/>
              <a:tailEnd type="none" w="med" len="med"/>
            </a:ln>
          </p:spPr>
        </p:sp>
        <p:sp>
          <p:nvSpPr>
            <p:cNvPr id="154792" name="Rectangle 283"/>
            <p:cNvSpPr/>
            <p:nvPr/>
          </p:nvSpPr>
          <p:spPr>
            <a:xfrm>
              <a:off x="5089" y="2736"/>
              <a:ext cx="15" cy="244"/>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93" name="Line 284"/>
            <p:cNvSpPr/>
            <p:nvPr/>
          </p:nvSpPr>
          <p:spPr>
            <a:xfrm>
              <a:off x="5089" y="2736"/>
              <a:ext cx="1" cy="244"/>
            </a:xfrm>
            <a:prstGeom prst="line">
              <a:avLst/>
            </a:prstGeom>
            <a:ln w="0" cap="flat" cmpd="sng">
              <a:solidFill>
                <a:srgbClr val="000000"/>
              </a:solidFill>
              <a:prstDash val="solid"/>
              <a:headEnd type="none" w="med" len="med"/>
              <a:tailEnd type="none" w="med" len="med"/>
            </a:ln>
          </p:spPr>
        </p:sp>
        <p:sp>
          <p:nvSpPr>
            <p:cNvPr id="154794" name="Rectangle 285"/>
            <p:cNvSpPr/>
            <p:nvPr/>
          </p:nvSpPr>
          <p:spPr>
            <a:xfrm>
              <a:off x="470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95" name="Line 286"/>
            <p:cNvSpPr/>
            <p:nvPr/>
          </p:nvSpPr>
          <p:spPr>
            <a:xfrm>
              <a:off x="4708" y="2980"/>
              <a:ext cx="15" cy="1"/>
            </a:xfrm>
            <a:prstGeom prst="line">
              <a:avLst/>
            </a:prstGeom>
            <a:ln w="0" cap="flat" cmpd="sng">
              <a:solidFill>
                <a:srgbClr val="000000"/>
              </a:solidFill>
              <a:prstDash val="solid"/>
              <a:headEnd type="none" w="med" len="med"/>
              <a:tailEnd type="none" w="med" len="med"/>
            </a:ln>
          </p:spPr>
        </p:sp>
        <p:sp>
          <p:nvSpPr>
            <p:cNvPr id="154796" name="Line 287"/>
            <p:cNvSpPr/>
            <p:nvPr/>
          </p:nvSpPr>
          <p:spPr>
            <a:xfrm>
              <a:off x="4708" y="2980"/>
              <a:ext cx="1" cy="15"/>
            </a:xfrm>
            <a:prstGeom prst="line">
              <a:avLst/>
            </a:prstGeom>
            <a:ln w="0" cap="flat" cmpd="sng">
              <a:solidFill>
                <a:srgbClr val="000000"/>
              </a:solidFill>
              <a:prstDash val="solid"/>
              <a:headEnd type="none" w="med" len="med"/>
              <a:tailEnd type="none" w="med" len="med"/>
            </a:ln>
          </p:spPr>
        </p:sp>
        <p:sp>
          <p:nvSpPr>
            <p:cNvPr id="154797" name="Rectangle 288"/>
            <p:cNvSpPr/>
            <p:nvPr/>
          </p:nvSpPr>
          <p:spPr>
            <a:xfrm>
              <a:off x="4708"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798" name="Line 289"/>
            <p:cNvSpPr/>
            <p:nvPr/>
          </p:nvSpPr>
          <p:spPr>
            <a:xfrm>
              <a:off x="4708" y="2980"/>
              <a:ext cx="15" cy="1"/>
            </a:xfrm>
            <a:prstGeom prst="line">
              <a:avLst/>
            </a:prstGeom>
            <a:ln w="0" cap="flat" cmpd="sng">
              <a:solidFill>
                <a:srgbClr val="000000"/>
              </a:solidFill>
              <a:prstDash val="solid"/>
              <a:headEnd type="none" w="med" len="med"/>
              <a:tailEnd type="none" w="med" len="med"/>
            </a:ln>
          </p:spPr>
        </p:sp>
        <p:sp>
          <p:nvSpPr>
            <p:cNvPr id="154799" name="Line 290"/>
            <p:cNvSpPr/>
            <p:nvPr/>
          </p:nvSpPr>
          <p:spPr>
            <a:xfrm>
              <a:off x="4708" y="2980"/>
              <a:ext cx="1" cy="15"/>
            </a:xfrm>
            <a:prstGeom prst="line">
              <a:avLst/>
            </a:prstGeom>
            <a:ln w="0" cap="flat" cmpd="sng">
              <a:solidFill>
                <a:srgbClr val="000000"/>
              </a:solidFill>
              <a:prstDash val="solid"/>
              <a:headEnd type="none" w="med" len="med"/>
              <a:tailEnd type="none" w="med" len="med"/>
            </a:ln>
          </p:spPr>
        </p:sp>
        <p:sp>
          <p:nvSpPr>
            <p:cNvPr id="154800" name="Rectangle 291"/>
            <p:cNvSpPr/>
            <p:nvPr/>
          </p:nvSpPr>
          <p:spPr>
            <a:xfrm>
              <a:off x="4723" y="2980"/>
              <a:ext cx="366"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01" name="Line 292"/>
            <p:cNvSpPr/>
            <p:nvPr/>
          </p:nvSpPr>
          <p:spPr>
            <a:xfrm>
              <a:off x="4723" y="2980"/>
              <a:ext cx="366" cy="1"/>
            </a:xfrm>
            <a:prstGeom prst="line">
              <a:avLst/>
            </a:prstGeom>
            <a:ln w="0" cap="flat" cmpd="sng">
              <a:solidFill>
                <a:srgbClr val="000000"/>
              </a:solidFill>
              <a:prstDash val="solid"/>
              <a:headEnd type="none" w="med" len="med"/>
              <a:tailEnd type="none" w="med" len="med"/>
            </a:ln>
          </p:spPr>
        </p:sp>
        <p:sp>
          <p:nvSpPr>
            <p:cNvPr id="154802" name="Rectangle 293"/>
            <p:cNvSpPr/>
            <p:nvPr/>
          </p:nvSpPr>
          <p:spPr>
            <a:xfrm>
              <a:off x="5089"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03" name="Line 294"/>
            <p:cNvSpPr/>
            <p:nvPr/>
          </p:nvSpPr>
          <p:spPr>
            <a:xfrm>
              <a:off x="5089" y="2980"/>
              <a:ext cx="15" cy="1"/>
            </a:xfrm>
            <a:prstGeom prst="line">
              <a:avLst/>
            </a:prstGeom>
            <a:ln w="0" cap="flat" cmpd="sng">
              <a:solidFill>
                <a:srgbClr val="000000"/>
              </a:solidFill>
              <a:prstDash val="solid"/>
              <a:headEnd type="none" w="med" len="med"/>
              <a:tailEnd type="none" w="med" len="med"/>
            </a:ln>
          </p:spPr>
        </p:sp>
        <p:sp>
          <p:nvSpPr>
            <p:cNvPr id="154804" name="Line 295"/>
            <p:cNvSpPr/>
            <p:nvPr/>
          </p:nvSpPr>
          <p:spPr>
            <a:xfrm>
              <a:off x="5089" y="2980"/>
              <a:ext cx="1" cy="15"/>
            </a:xfrm>
            <a:prstGeom prst="line">
              <a:avLst/>
            </a:prstGeom>
            <a:ln w="0" cap="flat" cmpd="sng">
              <a:solidFill>
                <a:srgbClr val="000000"/>
              </a:solidFill>
              <a:prstDash val="solid"/>
              <a:headEnd type="none" w="med" len="med"/>
              <a:tailEnd type="none" w="med" len="med"/>
            </a:ln>
          </p:spPr>
        </p:sp>
        <p:sp>
          <p:nvSpPr>
            <p:cNvPr id="154805" name="Rectangle 296"/>
            <p:cNvSpPr/>
            <p:nvPr/>
          </p:nvSpPr>
          <p:spPr>
            <a:xfrm>
              <a:off x="5089" y="2980"/>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4806" name="Line 297"/>
            <p:cNvSpPr/>
            <p:nvPr/>
          </p:nvSpPr>
          <p:spPr>
            <a:xfrm>
              <a:off x="5089" y="2980"/>
              <a:ext cx="15" cy="1"/>
            </a:xfrm>
            <a:prstGeom prst="line">
              <a:avLst/>
            </a:prstGeom>
            <a:ln w="0" cap="flat" cmpd="sng">
              <a:solidFill>
                <a:srgbClr val="000000"/>
              </a:solidFill>
              <a:prstDash val="solid"/>
              <a:headEnd type="none" w="med" len="med"/>
              <a:tailEnd type="none" w="med" len="med"/>
            </a:ln>
          </p:spPr>
        </p:sp>
        <p:sp>
          <p:nvSpPr>
            <p:cNvPr id="154807" name="Line 298"/>
            <p:cNvSpPr/>
            <p:nvPr/>
          </p:nvSpPr>
          <p:spPr>
            <a:xfrm>
              <a:off x="5089" y="2980"/>
              <a:ext cx="1" cy="15"/>
            </a:xfrm>
            <a:prstGeom prst="line">
              <a:avLst/>
            </a:prstGeom>
            <a:ln w="0" cap="flat" cmpd="sng">
              <a:solidFill>
                <a:srgbClr val="000000"/>
              </a:solidFill>
              <a:prstDash val="solid"/>
              <a:headEnd type="none" w="med" len="med"/>
              <a:tailEnd type="none" w="med" len="med"/>
            </a:ln>
          </p:spPr>
        </p:sp>
        <p:sp>
          <p:nvSpPr>
            <p:cNvPr id="154808" name="Rectangle 299"/>
            <p:cNvSpPr/>
            <p:nvPr/>
          </p:nvSpPr>
          <p:spPr>
            <a:xfrm>
              <a:off x="2832" y="3117"/>
              <a:ext cx="1260" cy="22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latin typeface="黑体" panose="02010609060101010101" pitchFamily="49" charset="-122"/>
                  <a:ea typeface="黑体" panose="02010609060101010101" pitchFamily="49" charset="-122"/>
                </a:rPr>
                <a:t>              </a:t>
              </a:r>
              <a:endParaRPr lang="en-US" altLang="zh-CN" sz="2400" dirty="0">
                <a:solidFill>
                  <a:schemeClr val="tx1"/>
                </a:solidFill>
                <a:ea typeface="黑体" panose="02010609060101010101" pitchFamily="49" charset="-122"/>
              </a:endParaRPr>
            </a:p>
          </p:txBody>
        </p:sp>
        <p:sp>
          <p:nvSpPr>
            <p:cNvPr id="154809" name="Freeform 300"/>
            <p:cNvSpPr/>
            <p:nvPr/>
          </p:nvSpPr>
          <p:spPr>
            <a:xfrm>
              <a:off x="3534" y="1709"/>
              <a:ext cx="2" cy="516"/>
            </a:xfrm>
            <a:custGeom>
              <a:avLst/>
              <a:gdLst/>
              <a:ahLst/>
              <a:cxnLst>
                <a:cxn ang="0">
                  <a:pos x="0" y="0"/>
                </a:cxn>
                <a:cxn ang="0">
                  <a:pos x="2" y="516"/>
                </a:cxn>
              </a:cxnLst>
              <a:pathLst>
                <a:path w="2" h="516">
                  <a:moveTo>
                    <a:pt x="0" y="0"/>
                  </a:moveTo>
                  <a:lnTo>
                    <a:pt x="2" y="516"/>
                  </a:lnTo>
                </a:path>
              </a:pathLst>
            </a:custGeom>
            <a:solidFill>
              <a:srgbClr val="FFFFFF">
                <a:alpha val="100000"/>
              </a:srgbClr>
            </a:solidFill>
            <a:ln w="23813" cap="flat" cmpd="sng">
              <a:solidFill>
                <a:srgbClr val="000000">
                  <a:alpha val="100000"/>
                </a:srgbClr>
              </a:solidFill>
              <a:prstDash val="solid"/>
              <a:round/>
              <a:headEnd type="none" w="med" len="med"/>
              <a:tailEnd type="none" w="med" len="med"/>
            </a:ln>
          </p:spPr>
          <p:txBody>
            <a:bodyPr/>
            <a:p>
              <a:endParaRPr lang="en-US"/>
            </a:p>
          </p:txBody>
        </p:sp>
        <p:sp>
          <p:nvSpPr>
            <p:cNvPr id="154810" name="Freeform 301"/>
            <p:cNvSpPr/>
            <p:nvPr/>
          </p:nvSpPr>
          <p:spPr>
            <a:xfrm>
              <a:off x="3328" y="1716"/>
              <a:ext cx="4" cy="1027"/>
            </a:xfrm>
            <a:custGeom>
              <a:avLst/>
              <a:gdLst/>
              <a:ahLst/>
              <a:cxnLst>
                <a:cxn ang="0">
                  <a:pos x="0" y="0"/>
                </a:cxn>
                <a:cxn ang="0">
                  <a:pos x="4" y="1027"/>
                </a:cxn>
              </a:cxnLst>
              <a:pathLst>
                <a:path w="4" h="1027">
                  <a:moveTo>
                    <a:pt x="0" y="0"/>
                  </a:moveTo>
                  <a:lnTo>
                    <a:pt x="4" y="1027"/>
                  </a:lnTo>
                </a:path>
              </a:pathLst>
            </a:custGeom>
            <a:noFill/>
            <a:ln w="28575" cap="flat" cmpd="sng">
              <a:solidFill>
                <a:schemeClr val="tx1">
                  <a:alpha val="100000"/>
                </a:schemeClr>
              </a:solidFill>
              <a:prstDash val="solid"/>
              <a:round/>
              <a:headEnd type="none" w="med" len="med"/>
              <a:tailEnd type="triangle" w="med" len="med"/>
            </a:ln>
          </p:spPr>
          <p:txBody>
            <a:bodyPr/>
            <a:p>
              <a:endParaRPr lang="en-US"/>
            </a:p>
          </p:txBody>
        </p:sp>
        <p:sp>
          <p:nvSpPr>
            <p:cNvPr id="154811" name="Freeform 302"/>
            <p:cNvSpPr/>
            <p:nvPr/>
          </p:nvSpPr>
          <p:spPr>
            <a:xfrm>
              <a:off x="4799" y="1709"/>
              <a:ext cx="1" cy="352"/>
            </a:xfrm>
            <a:custGeom>
              <a:avLst/>
              <a:gdLst/>
              <a:ahLst/>
              <a:cxnLst>
                <a:cxn ang="0">
                  <a:pos x="0" y="0"/>
                </a:cxn>
                <a:cxn ang="0">
                  <a:pos x="0" y="352"/>
                </a:cxn>
              </a:cxnLst>
              <a:pathLst>
                <a:path w="1" h="352">
                  <a:moveTo>
                    <a:pt x="0" y="0"/>
                  </a:moveTo>
                  <a:lnTo>
                    <a:pt x="0" y="352"/>
                  </a:lnTo>
                </a:path>
              </a:pathLst>
            </a:custGeom>
            <a:noFill/>
            <a:ln w="28575" cap="flat" cmpd="sng">
              <a:solidFill>
                <a:schemeClr val="tx1">
                  <a:alpha val="100000"/>
                </a:schemeClr>
              </a:solidFill>
              <a:prstDash val="solid"/>
              <a:round/>
              <a:headEnd type="none" w="med" len="med"/>
              <a:tailEnd type="triangle" w="med" len="med"/>
            </a:ln>
          </p:spPr>
          <p:txBody>
            <a:bodyPr/>
            <a:p>
              <a:endParaRPr lang="en-US"/>
            </a:p>
          </p:txBody>
        </p:sp>
        <p:sp>
          <p:nvSpPr>
            <p:cNvPr id="154812" name="Line 303"/>
            <p:cNvSpPr/>
            <p:nvPr/>
          </p:nvSpPr>
          <p:spPr>
            <a:xfrm>
              <a:off x="4819" y="2359"/>
              <a:ext cx="0" cy="384"/>
            </a:xfrm>
            <a:prstGeom prst="line">
              <a:avLst/>
            </a:prstGeom>
            <a:ln w="28575" cap="flat" cmpd="sng">
              <a:solidFill>
                <a:schemeClr val="tx1"/>
              </a:solidFill>
              <a:prstDash val="solid"/>
              <a:headEnd type="none" w="med" len="med"/>
              <a:tailEnd type="triangle" w="med" len="med"/>
            </a:ln>
          </p:spPr>
        </p:sp>
        <p:sp>
          <p:nvSpPr>
            <p:cNvPr id="154813" name="Freeform 304"/>
            <p:cNvSpPr/>
            <p:nvPr/>
          </p:nvSpPr>
          <p:spPr>
            <a:xfrm>
              <a:off x="3536" y="2212"/>
              <a:ext cx="1139" cy="4"/>
            </a:xfrm>
            <a:custGeom>
              <a:avLst/>
              <a:gdLst/>
              <a:ahLst/>
              <a:cxnLst>
                <a:cxn ang="0">
                  <a:pos x="0" y="0"/>
                </a:cxn>
                <a:cxn ang="0">
                  <a:pos x="1139" y="4"/>
                </a:cxn>
              </a:cxnLst>
              <a:pathLst>
                <a:path w="1139" h="4">
                  <a:moveTo>
                    <a:pt x="0" y="0"/>
                  </a:moveTo>
                  <a:lnTo>
                    <a:pt x="1139" y="4"/>
                  </a:lnTo>
                </a:path>
              </a:pathLst>
            </a:custGeom>
            <a:noFill/>
            <a:ln w="28575" cap="flat" cmpd="sng">
              <a:solidFill>
                <a:schemeClr val="tx1">
                  <a:alpha val="100000"/>
                </a:schemeClr>
              </a:solidFill>
              <a:prstDash val="solid"/>
              <a:round/>
              <a:headEnd type="none" w="med" len="med"/>
              <a:tailEnd type="triangle" w="med" len="med"/>
            </a:ln>
          </p:spPr>
          <p:txBody>
            <a:bodyPr/>
            <a:p>
              <a:endParaRPr lang="en-US"/>
            </a:p>
          </p:txBody>
        </p:sp>
        <p:sp>
          <p:nvSpPr>
            <p:cNvPr id="154814" name="Line 305"/>
            <p:cNvSpPr/>
            <p:nvPr/>
          </p:nvSpPr>
          <p:spPr>
            <a:xfrm>
              <a:off x="3619" y="2839"/>
              <a:ext cx="1104" cy="0"/>
            </a:xfrm>
            <a:prstGeom prst="line">
              <a:avLst/>
            </a:prstGeom>
            <a:ln w="28575" cap="flat" cmpd="sng">
              <a:solidFill>
                <a:schemeClr val="tx1"/>
              </a:solidFill>
              <a:prstDash val="solid"/>
              <a:headEnd type="none" w="med" len="med"/>
              <a:tailEnd type="triangle" w="med" len="med"/>
            </a:ln>
          </p:spPr>
        </p:sp>
      </p:gr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5651"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5652" name="Rectangle 3"/>
          <p:cNvSpPr>
            <a:spLocks noGrp="1"/>
          </p:cNvSpPr>
          <p:nvPr>
            <p:ph idx="1"/>
          </p:nvPr>
        </p:nvSpPr>
        <p:spPr>
          <a:xfrm>
            <a:off x="762000" y="1066800"/>
            <a:ext cx="8077200" cy="8382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 </a:t>
            </a:r>
            <a:endParaRPr lang="en-US" altLang="zh-CN" dirty="0"/>
          </a:p>
        </p:txBody>
      </p:sp>
      <p:grpSp>
        <p:nvGrpSpPr>
          <p:cNvPr id="155653" name="Group 4"/>
          <p:cNvGrpSpPr/>
          <p:nvPr/>
        </p:nvGrpSpPr>
        <p:grpSpPr>
          <a:xfrm>
            <a:off x="3429000" y="2286000"/>
            <a:ext cx="2133600" cy="2287588"/>
            <a:chOff x="3216" y="1728"/>
            <a:chExt cx="1208" cy="1297"/>
          </a:xfrm>
        </p:grpSpPr>
        <p:grpSp>
          <p:nvGrpSpPr>
            <p:cNvPr id="155654" name="Group 5"/>
            <p:cNvGrpSpPr/>
            <p:nvPr/>
          </p:nvGrpSpPr>
          <p:grpSpPr>
            <a:xfrm>
              <a:off x="3216" y="1728"/>
              <a:ext cx="1208" cy="294"/>
              <a:chOff x="3647" y="1468"/>
              <a:chExt cx="1208" cy="294"/>
            </a:xfrm>
          </p:grpSpPr>
          <p:sp>
            <p:nvSpPr>
              <p:cNvPr id="155686" name="Rectangle 6"/>
              <p:cNvSpPr/>
              <p:nvPr/>
            </p:nvSpPr>
            <p:spPr>
              <a:xfrm>
                <a:off x="3647" y="1499"/>
                <a:ext cx="41"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5687" name="Rectangle 7"/>
              <p:cNvSpPr/>
              <p:nvPr/>
            </p:nvSpPr>
            <p:spPr>
              <a:xfrm>
                <a:off x="3737" y="1499"/>
                <a:ext cx="83"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5688" name="Rectangle 8"/>
              <p:cNvSpPr/>
              <p:nvPr/>
            </p:nvSpPr>
            <p:spPr>
              <a:xfrm>
                <a:off x="3931" y="1499"/>
                <a:ext cx="41"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5689" name="Rectangle 9"/>
              <p:cNvSpPr/>
              <p:nvPr/>
            </p:nvSpPr>
            <p:spPr>
              <a:xfrm>
                <a:off x="4035" y="1499"/>
                <a:ext cx="83"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5690" name="Rectangle 10"/>
              <p:cNvSpPr/>
              <p:nvPr/>
            </p:nvSpPr>
            <p:spPr>
              <a:xfrm>
                <a:off x="4214" y="1530"/>
                <a:ext cx="166"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zh-CN" altLang="en-US" sz="2300" dirty="0">
                    <a:solidFill>
                      <a:srgbClr val="000000"/>
                    </a:solidFill>
                    <a:latin typeface="宋体" panose="02010600030101010101" pitchFamily="2" charset="-122"/>
                    <a:cs typeface="Arial" panose="020B0604020202020204" pitchFamily="34" charset="0"/>
                  </a:rPr>
                  <a:t>Ｒ</a:t>
                </a:r>
                <a:endParaRPr lang="zh-CN" altLang="en-US" sz="2400" dirty="0">
                  <a:solidFill>
                    <a:schemeClr val="tx1"/>
                  </a:solidFill>
                  <a:ea typeface="Arial" panose="020B0604020202020204" pitchFamily="34" charset="0"/>
                </a:endParaRPr>
              </a:p>
            </p:txBody>
          </p:sp>
          <p:sp>
            <p:nvSpPr>
              <p:cNvPr id="155691" name="Rectangle 11"/>
              <p:cNvSpPr/>
              <p:nvPr/>
            </p:nvSpPr>
            <p:spPr>
              <a:xfrm>
                <a:off x="4393" y="1499"/>
                <a:ext cx="83"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1</a:t>
                </a:r>
                <a:endParaRPr lang="en-US" altLang="zh-CN" sz="2400" dirty="0">
                  <a:solidFill>
                    <a:schemeClr val="tx1"/>
                  </a:solidFill>
                  <a:ea typeface="Arial" panose="020B0604020202020204" pitchFamily="34" charset="0"/>
                </a:endParaRPr>
              </a:p>
            </p:txBody>
          </p:sp>
          <p:sp>
            <p:nvSpPr>
              <p:cNvPr id="155692" name="Rectangle 12"/>
              <p:cNvSpPr/>
              <p:nvPr/>
            </p:nvSpPr>
            <p:spPr>
              <a:xfrm>
                <a:off x="4587" y="1499"/>
                <a:ext cx="124"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5693" name="Rectangle 13"/>
              <p:cNvSpPr/>
              <p:nvPr/>
            </p:nvSpPr>
            <p:spPr>
              <a:xfrm>
                <a:off x="3916" y="1468"/>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94" name="Line 14"/>
              <p:cNvSpPr/>
              <p:nvPr/>
            </p:nvSpPr>
            <p:spPr>
              <a:xfrm>
                <a:off x="3916" y="1468"/>
                <a:ext cx="15" cy="1"/>
              </a:xfrm>
              <a:prstGeom prst="line">
                <a:avLst/>
              </a:prstGeom>
              <a:ln w="0" cap="flat" cmpd="sng">
                <a:solidFill>
                  <a:srgbClr val="000000"/>
                </a:solidFill>
                <a:prstDash val="solid"/>
                <a:headEnd type="none" w="med" len="med"/>
                <a:tailEnd type="none" w="med" len="med"/>
              </a:ln>
            </p:spPr>
          </p:sp>
          <p:sp>
            <p:nvSpPr>
              <p:cNvPr id="155695" name="Line 15"/>
              <p:cNvSpPr/>
              <p:nvPr/>
            </p:nvSpPr>
            <p:spPr>
              <a:xfrm>
                <a:off x="3916" y="1468"/>
                <a:ext cx="1" cy="15"/>
              </a:xfrm>
              <a:prstGeom prst="line">
                <a:avLst/>
              </a:prstGeom>
              <a:ln w="0" cap="flat" cmpd="sng">
                <a:solidFill>
                  <a:srgbClr val="000000"/>
                </a:solidFill>
                <a:prstDash val="solid"/>
                <a:headEnd type="none" w="med" len="med"/>
                <a:tailEnd type="none" w="med" len="med"/>
              </a:ln>
            </p:spPr>
          </p:sp>
          <p:sp>
            <p:nvSpPr>
              <p:cNvPr id="155696" name="Rectangle 16"/>
              <p:cNvSpPr/>
              <p:nvPr/>
            </p:nvSpPr>
            <p:spPr>
              <a:xfrm>
                <a:off x="3916" y="1468"/>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97" name="Line 17"/>
              <p:cNvSpPr/>
              <p:nvPr/>
            </p:nvSpPr>
            <p:spPr>
              <a:xfrm>
                <a:off x="3916" y="1468"/>
                <a:ext cx="15" cy="1"/>
              </a:xfrm>
              <a:prstGeom prst="line">
                <a:avLst/>
              </a:prstGeom>
              <a:ln w="0" cap="flat" cmpd="sng">
                <a:solidFill>
                  <a:srgbClr val="000000"/>
                </a:solidFill>
                <a:prstDash val="solid"/>
                <a:headEnd type="none" w="med" len="med"/>
                <a:tailEnd type="none" w="med" len="med"/>
              </a:ln>
            </p:spPr>
          </p:sp>
          <p:sp>
            <p:nvSpPr>
              <p:cNvPr id="155698" name="Line 18"/>
              <p:cNvSpPr/>
              <p:nvPr/>
            </p:nvSpPr>
            <p:spPr>
              <a:xfrm>
                <a:off x="3916" y="1468"/>
                <a:ext cx="1" cy="15"/>
              </a:xfrm>
              <a:prstGeom prst="line">
                <a:avLst/>
              </a:prstGeom>
              <a:ln w="0" cap="flat" cmpd="sng">
                <a:solidFill>
                  <a:srgbClr val="000000"/>
                </a:solidFill>
                <a:prstDash val="solid"/>
                <a:headEnd type="none" w="med" len="med"/>
                <a:tailEnd type="none" w="med" len="med"/>
              </a:ln>
            </p:spPr>
          </p:sp>
          <p:sp>
            <p:nvSpPr>
              <p:cNvPr id="155699" name="Rectangle 19"/>
              <p:cNvSpPr/>
              <p:nvPr/>
            </p:nvSpPr>
            <p:spPr>
              <a:xfrm>
                <a:off x="3931" y="1468"/>
                <a:ext cx="909"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00" name="Line 20"/>
              <p:cNvSpPr/>
              <p:nvPr/>
            </p:nvSpPr>
            <p:spPr>
              <a:xfrm>
                <a:off x="3931" y="1468"/>
                <a:ext cx="909" cy="1"/>
              </a:xfrm>
              <a:prstGeom prst="line">
                <a:avLst/>
              </a:prstGeom>
              <a:ln w="0" cap="flat" cmpd="sng">
                <a:solidFill>
                  <a:srgbClr val="000000"/>
                </a:solidFill>
                <a:prstDash val="solid"/>
                <a:headEnd type="none" w="med" len="med"/>
                <a:tailEnd type="none" w="med" len="med"/>
              </a:ln>
            </p:spPr>
          </p:sp>
          <p:sp>
            <p:nvSpPr>
              <p:cNvPr id="155701" name="Rectangle 21"/>
              <p:cNvSpPr/>
              <p:nvPr/>
            </p:nvSpPr>
            <p:spPr>
              <a:xfrm>
                <a:off x="4840" y="1468"/>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02" name="Line 22"/>
              <p:cNvSpPr/>
              <p:nvPr/>
            </p:nvSpPr>
            <p:spPr>
              <a:xfrm>
                <a:off x="4840" y="1468"/>
                <a:ext cx="15" cy="1"/>
              </a:xfrm>
              <a:prstGeom prst="line">
                <a:avLst/>
              </a:prstGeom>
              <a:ln w="0" cap="flat" cmpd="sng">
                <a:solidFill>
                  <a:srgbClr val="000000"/>
                </a:solidFill>
                <a:prstDash val="solid"/>
                <a:headEnd type="none" w="med" len="med"/>
                <a:tailEnd type="none" w="med" len="med"/>
              </a:ln>
            </p:spPr>
          </p:sp>
          <p:sp>
            <p:nvSpPr>
              <p:cNvPr id="155703" name="Line 23"/>
              <p:cNvSpPr/>
              <p:nvPr/>
            </p:nvSpPr>
            <p:spPr>
              <a:xfrm>
                <a:off x="4840" y="1468"/>
                <a:ext cx="1" cy="15"/>
              </a:xfrm>
              <a:prstGeom prst="line">
                <a:avLst/>
              </a:prstGeom>
              <a:ln w="0" cap="flat" cmpd="sng">
                <a:solidFill>
                  <a:srgbClr val="000000"/>
                </a:solidFill>
                <a:prstDash val="solid"/>
                <a:headEnd type="none" w="med" len="med"/>
                <a:tailEnd type="none" w="med" len="med"/>
              </a:ln>
            </p:spPr>
          </p:sp>
          <p:sp>
            <p:nvSpPr>
              <p:cNvPr id="155704" name="Rectangle 24"/>
              <p:cNvSpPr/>
              <p:nvPr/>
            </p:nvSpPr>
            <p:spPr>
              <a:xfrm>
                <a:off x="4840" y="1468"/>
                <a:ext cx="15" cy="15"/>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05" name="Line 25"/>
              <p:cNvSpPr/>
              <p:nvPr/>
            </p:nvSpPr>
            <p:spPr>
              <a:xfrm>
                <a:off x="4840" y="1468"/>
                <a:ext cx="15" cy="1"/>
              </a:xfrm>
              <a:prstGeom prst="line">
                <a:avLst/>
              </a:prstGeom>
              <a:ln w="0" cap="flat" cmpd="sng">
                <a:solidFill>
                  <a:srgbClr val="000000"/>
                </a:solidFill>
                <a:prstDash val="solid"/>
                <a:headEnd type="none" w="med" len="med"/>
                <a:tailEnd type="none" w="med" len="med"/>
              </a:ln>
            </p:spPr>
          </p:sp>
          <p:sp>
            <p:nvSpPr>
              <p:cNvPr id="155706" name="Line 26"/>
              <p:cNvSpPr/>
              <p:nvPr/>
            </p:nvSpPr>
            <p:spPr>
              <a:xfrm>
                <a:off x="4840" y="1468"/>
                <a:ext cx="1" cy="15"/>
              </a:xfrm>
              <a:prstGeom prst="line">
                <a:avLst/>
              </a:prstGeom>
              <a:ln w="0" cap="flat" cmpd="sng">
                <a:solidFill>
                  <a:srgbClr val="000000"/>
                </a:solidFill>
                <a:prstDash val="solid"/>
                <a:headEnd type="none" w="med" len="med"/>
                <a:tailEnd type="none" w="med" len="med"/>
              </a:ln>
            </p:spPr>
          </p:sp>
          <p:sp>
            <p:nvSpPr>
              <p:cNvPr id="155707" name="Rectangle 27"/>
              <p:cNvSpPr/>
              <p:nvPr/>
            </p:nvSpPr>
            <p:spPr>
              <a:xfrm>
                <a:off x="3916" y="1483"/>
                <a:ext cx="15" cy="263"/>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08" name="Line 28"/>
              <p:cNvSpPr/>
              <p:nvPr/>
            </p:nvSpPr>
            <p:spPr>
              <a:xfrm>
                <a:off x="3916" y="1483"/>
                <a:ext cx="1" cy="263"/>
              </a:xfrm>
              <a:prstGeom prst="line">
                <a:avLst/>
              </a:prstGeom>
              <a:ln w="0" cap="flat" cmpd="sng">
                <a:solidFill>
                  <a:srgbClr val="000000"/>
                </a:solidFill>
                <a:prstDash val="solid"/>
                <a:headEnd type="none" w="med" len="med"/>
                <a:tailEnd type="none" w="med" len="med"/>
              </a:ln>
            </p:spPr>
          </p:sp>
          <p:sp>
            <p:nvSpPr>
              <p:cNvPr id="155709" name="Rectangle 29"/>
              <p:cNvSpPr/>
              <p:nvPr/>
            </p:nvSpPr>
            <p:spPr>
              <a:xfrm>
                <a:off x="4840" y="1483"/>
                <a:ext cx="15" cy="263"/>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10" name="Line 30"/>
              <p:cNvSpPr/>
              <p:nvPr/>
            </p:nvSpPr>
            <p:spPr>
              <a:xfrm>
                <a:off x="4840" y="1483"/>
                <a:ext cx="1" cy="263"/>
              </a:xfrm>
              <a:prstGeom prst="line">
                <a:avLst/>
              </a:prstGeom>
              <a:ln w="0" cap="flat" cmpd="sng">
                <a:solidFill>
                  <a:srgbClr val="000000"/>
                </a:solidFill>
                <a:prstDash val="solid"/>
                <a:headEnd type="none" w="med" len="med"/>
                <a:tailEnd type="none" w="med" len="med"/>
              </a:ln>
            </p:spPr>
          </p:sp>
          <p:sp>
            <p:nvSpPr>
              <p:cNvPr id="155711" name="Rectangle 31"/>
              <p:cNvSpPr/>
              <p:nvPr/>
            </p:nvSpPr>
            <p:spPr>
              <a:xfrm>
                <a:off x="3916" y="174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12" name="Line 32"/>
              <p:cNvSpPr/>
              <p:nvPr/>
            </p:nvSpPr>
            <p:spPr>
              <a:xfrm>
                <a:off x="3916" y="1746"/>
                <a:ext cx="15" cy="1"/>
              </a:xfrm>
              <a:prstGeom prst="line">
                <a:avLst/>
              </a:prstGeom>
              <a:ln w="0" cap="flat" cmpd="sng">
                <a:solidFill>
                  <a:srgbClr val="000000"/>
                </a:solidFill>
                <a:prstDash val="solid"/>
                <a:headEnd type="none" w="med" len="med"/>
                <a:tailEnd type="none" w="med" len="med"/>
              </a:ln>
            </p:spPr>
          </p:sp>
          <p:sp>
            <p:nvSpPr>
              <p:cNvPr id="155713" name="Line 33"/>
              <p:cNvSpPr/>
              <p:nvPr/>
            </p:nvSpPr>
            <p:spPr>
              <a:xfrm>
                <a:off x="3916" y="1746"/>
                <a:ext cx="1" cy="16"/>
              </a:xfrm>
              <a:prstGeom prst="line">
                <a:avLst/>
              </a:prstGeom>
              <a:ln w="0" cap="flat" cmpd="sng">
                <a:solidFill>
                  <a:srgbClr val="000000"/>
                </a:solidFill>
                <a:prstDash val="solid"/>
                <a:headEnd type="none" w="med" len="med"/>
                <a:tailEnd type="none" w="med" len="med"/>
              </a:ln>
            </p:spPr>
          </p:sp>
          <p:sp>
            <p:nvSpPr>
              <p:cNvPr id="155714" name="Rectangle 34"/>
              <p:cNvSpPr/>
              <p:nvPr/>
            </p:nvSpPr>
            <p:spPr>
              <a:xfrm>
                <a:off x="3916" y="174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15" name="Line 35"/>
              <p:cNvSpPr/>
              <p:nvPr/>
            </p:nvSpPr>
            <p:spPr>
              <a:xfrm>
                <a:off x="3916" y="1746"/>
                <a:ext cx="15" cy="1"/>
              </a:xfrm>
              <a:prstGeom prst="line">
                <a:avLst/>
              </a:prstGeom>
              <a:ln w="0" cap="flat" cmpd="sng">
                <a:solidFill>
                  <a:srgbClr val="000000"/>
                </a:solidFill>
                <a:prstDash val="solid"/>
                <a:headEnd type="none" w="med" len="med"/>
                <a:tailEnd type="none" w="med" len="med"/>
              </a:ln>
            </p:spPr>
          </p:sp>
          <p:sp>
            <p:nvSpPr>
              <p:cNvPr id="155716" name="Line 36"/>
              <p:cNvSpPr/>
              <p:nvPr/>
            </p:nvSpPr>
            <p:spPr>
              <a:xfrm>
                <a:off x="3916" y="1746"/>
                <a:ext cx="1" cy="16"/>
              </a:xfrm>
              <a:prstGeom prst="line">
                <a:avLst/>
              </a:prstGeom>
              <a:ln w="0" cap="flat" cmpd="sng">
                <a:solidFill>
                  <a:srgbClr val="000000"/>
                </a:solidFill>
                <a:prstDash val="solid"/>
                <a:headEnd type="none" w="med" len="med"/>
                <a:tailEnd type="none" w="med" len="med"/>
              </a:ln>
            </p:spPr>
          </p:sp>
          <p:sp>
            <p:nvSpPr>
              <p:cNvPr id="155717" name="Rectangle 37"/>
              <p:cNvSpPr/>
              <p:nvPr/>
            </p:nvSpPr>
            <p:spPr>
              <a:xfrm>
                <a:off x="3931" y="1746"/>
                <a:ext cx="909"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18" name="Line 38"/>
              <p:cNvSpPr/>
              <p:nvPr/>
            </p:nvSpPr>
            <p:spPr>
              <a:xfrm>
                <a:off x="3931" y="1746"/>
                <a:ext cx="909" cy="1"/>
              </a:xfrm>
              <a:prstGeom prst="line">
                <a:avLst/>
              </a:prstGeom>
              <a:ln w="0" cap="flat" cmpd="sng">
                <a:solidFill>
                  <a:srgbClr val="000000"/>
                </a:solidFill>
                <a:prstDash val="solid"/>
                <a:headEnd type="none" w="med" len="med"/>
                <a:tailEnd type="none" w="med" len="med"/>
              </a:ln>
            </p:spPr>
          </p:sp>
          <p:sp>
            <p:nvSpPr>
              <p:cNvPr id="155719" name="Rectangle 39"/>
              <p:cNvSpPr/>
              <p:nvPr/>
            </p:nvSpPr>
            <p:spPr>
              <a:xfrm>
                <a:off x="4840" y="174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20" name="Line 40"/>
              <p:cNvSpPr/>
              <p:nvPr/>
            </p:nvSpPr>
            <p:spPr>
              <a:xfrm>
                <a:off x="4840" y="1746"/>
                <a:ext cx="15" cy="1"/>
              </a:xfrm>
              <a:prstGeom prst="line">
                <a:avLst/>
              </a:prstGeom>
              <a:ln w="0" cap="flat" cmpd="sng">
                <a:solidFill>
                  <a:srgbClr val="000000"/>
                </a:solidFill>
                <a:prstDash val="solid"/>
                <a:headEnd type="none" w="med" len="med"/>
                <a:tailEnd type="none" w="med" len="med"/>
              </a:ln>
            </p:spPr>
          </p:sp>
          <p:sp>
            <p:nvSpPr>
              <p:cNvPr id="155721" name="Line 41"/>
              <p:cNvSpPr/>
              <p:nvPr/>
            </p:nvSpPr>
            <p:spPr>
              <a:xfrm>
                <a:off x="4840" y="1746"/>
                <a:ext cx="1" cy="16"/>
              </a:xfrm>
              <a:prstGeom prst="line">
                <a:avLst/>
              </a:prstGeom>
              <a:ln w="0" cap="flat" cmpd="sng">
                <a:solidFill>
                  <a:srgbClr val="000000"/>
                </a:solidFill>
                <a:prstDash val="solid"/>
                <a:headEnd type="none" w="med" len="med"/>
                <a:tailEnd type="none" w="med" len="med"/>
              </a:ln>
            </p:spPr>
          </p:sp>
          <p:sp>
            <p:nvSpPr>
              <p:cNvPr id="155722" name="Rectangle 42"/>
              <p:cNvSpPr/>
              <p:nvPr/>
            </p:nvSpPr>
            <p:spPr>
              <a:xfrm>
                <a:off x="4840" y="1746"/>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723" name="Line 43"/>
              <p:cNvSpPr/>
              <p:nvPr/>
            </p:nvSpPr>
            <p:spPr>
              <a:xfrm>
                <a:off x="4840" y="1746"/>
                <a:ext cx="15" cy="1"/>
              </a:xfrm>
              <a:prstGeom prst="line">
                <a:avLst/>
              </a:prstGeom>
              <a:ln w="0" cap="flat" cmpd="sng">
                <a:solidFill>
                  <a:srgbClr val="000000"/>
                </a:solidFill>
                <a:prstDash val="solid"/>
                <a:headEnd type="none" w="med" len="med"/>
                <a:tailEnd type="none" w="med" len="med"/>
              </a:ln>
            </p:spPr>
          </p:sp>
          <p:sp>
            <p:nvSpPr>
              <p:cNvPr id="155724" name="Line 44"/>
              <p:cNvSpPr/>
              <p:nvPr/>
            </p:nvSpPr>
            <p:spPr>
              <a:xfrm>
                <a:off x="4840" y="1746"/>
                <a:ext cx="1" cy="16"/>
              </a:xfrm>
              <a:prstGeom prst="line">
                <a:avLst/>
              </a:prstGeom>
              <a:ln w="0" cap="flat" cmpd="sng">
                <a:solidFill>
                  <a:srgbClr val="000000"/>
                </a:solidFill>
                <a:prstDash val="solid"/>
                <a:headEnd type="none" w="med" len="med"/>
                <a:tailEnd type="none" w="med" len="med"/>
              </a:ln>
            </p:spPr>
          </p:sp>
        </p:grpSp>
        <p:grpSp>
          <p:nvGrpSpPr>
            <p:cNvPr id="155655" name="Group 45"/>
            <p:cNvGrpSpPr/>
            <p:nvPr/>
          </p:nvGrpSpPr>
          <p:grpSpPr>
            <a:xfrm>
              <a:off x="3264" y="2031"/>
              <a:ext cx="1149" cy="994"/>
              <a:chOff x="3264" y="2031"/>
              <a:chExt cx="1149" cy="994"/>
            </a:xfrm>
          </p:grpSpPr>
          <p:sp>
            <p:nvSpPr>
              <p:cNvPr id="155656" name="Rectangle 46"/>
              <p:cNvSpPr/>
              <p:nvPr/>
            </p:nvSpPr>
            <p:spPr>
              <a:xfrm>
                <a:off x="3407" y="2112"/>
                <a:ext cx="758"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L1      L2</a:t>
                </a:r>
                <a:endParaRPr lang="en-US" altLang="zh-CN" sz="2400" dirty="0">
                  <a:solidFill>
                    <a:schemeClr val="tx1"/>
                  </a:solidFill>
                  <a:ea typeface="Arial" panose="020B0604020202020204" pitchFamily="34" charset="0"/>
                </a:endParaRPr>
              </a:p>
            </p:txBody>
          </p:sp>
          <p:sp>
            <p:nvSpPr>
              <p:cNvPr id="155657" name="Rectangle 47"/>
              <p:cNvSpPr/>
              <p:nvPr/>
            </p:nvSpPr>
            <p:spPr>
              <a:xfrm>
                <a:off x="3310" y="2341"/>
                <a:ext cx="331"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grpSp>
            <p:nvGrpSpPr>
              <p:cNvPr id="155658" name="Group 48"/>
              <p:cNvGrpSpPr/>
              <p:nvPr/>
            </p:nvGrpSpPr>
            <p:grpSpPr>
              <a:xfrm>
                <a:off x="3264" y="2736"/>
                <a:ext cx="1149" cy="289"/>
                <a:chOff x="3647" y="2448"/>
                <a:chExt cx="1149" cy="289"/>
              </a:xfrm>
            </p:grpSpPr>
            <p:sp>
              <p:nvSpPr>
                <p:cNvPr id="155664" name="Rectangle 49"/>
                <p:cNvSpPr/>
                <p:nvPr/>
              </p:nvSpPr>
              <p:spPr>
                <a:xfrm>
                  <a:off x="3647" y="2489"/>
                  <a:ext cx="124"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5665" name="Rectangle 50"/>
                <p:cNvSpPr/>
                <p:nvPr/>
              </p:nvSpPr>
              <p:spPr>
                <a:xfrm>
                  <a:off x="3931" y="2489"/>
                  <a:ext cx="41"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a:t>
                  </a:r>
                  <a:endParaRPr lang="en-US" altLang="zh-CN" sz="2400" dirty="0">
                    <a:solidFill>
                      <a:schemeClr val="tx1"/>
                    </a:solidFill>
                    <a:ea typeface="Arial" panose="020B0604020202020204" pitchFamily="34" charset="0"/>
                  </a:endParaRPr>
                </a:p>
              </p:txBody>
            </p:sp>
            <p:sp>
              <p:nvSpPr>
                <p:cNvPr id="155666" name="Rectangle 51"/>
                <p:cNvSpPr/>
                <p:nvPr/>
              </p:nvSpPr>
              <p:spPr>
                <a:xfrm>
                  <a:off x="4035" y="2489"/>
                  <a:ext cx="326" cy="199"/>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300" dirty="0">
                      <a:solidFill>
                        <a:srgbClr val="000000"/>
                      </a:solidFill>
                      <a:cs typeface="Arial" panose="020B0604020202020204" pitchFamily="34" charset="0"/>
                    </a:rPr>
                    <a:t>   R2</a:t>
                  </a:r>
                  <a:endParaRPr lang="en-US" altLang="zh-CN" sz="2400" dirty="0">
                    <a:solidFill>
                      <a:schemeClr val="tx1"/>
                    </a:solidFill>
                    <a:ea typeface="Arial" panose="020B0604020202020204" pitchFamily="34" charset="0"/>
                  </a:endParaRPr>
                </a:p>
              </p:txBody>
            </p:sp>
            <p:sp>
              <p:nvSpPr>
                <p:cNvPr id="155667" name="Rectangle 52"/>
                <p:cNvSpPr/>
                <p:nvPr/>
              </p:nvSpPr>
              <p:spPr>
                <a:xfrm>
                  <a:off x="3916" y="2474"/>
                  <a:ext cx="15" cy="24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68" name="Line 53"/>
                <p:cNvSpPr/>
                <p:nvPr/>
              </p:nvSpPr>
              <p:spPr>
                <a:xfrm>
                  <a:off x="3916" y="2474"/>
                  <a:ext cx="1" cy="247"/>
                </a:xfrm>
                <a:prstGeom prst="line">
                  <a:avLst/>
                </a:prstGeom>
                <a:ln w="0" cap="flat" cmpd="sng">
                  <a:solidFill>
                    <a:srgbClr val="000000"/>
                  </a:solidFill>
                  <a:prstDash val="solid"/>
                  <a:headEnd type="none" w="med" len="med"/>
                  <a:tailEnd type="none" w="med" len="med"/>
                </a:ln>
              </p:spPr>
            </p:sp>
            <p:sp>
              <p:nvSpPr>
                <p:cNvPr id="155669" name="Rectangle 54"/>
                <p:cNvSpPr/>
                <p:nvPr/>
              </p:nvSpPr>
              <p:spPr>
                <a:xfrm>
                  <a:off x="4781" y="2474"/>
                  <a:ext cx="15" cy="247"/>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70" name="Line 55"/>
                <p:cNvSpPr/>
                <p:nvPr/>
              </p:nvSpPr>
              <p:spPr>
                <a:xfrm>
                  <a:off x="4781" y="2474"/>
                  <a:ext cx="1" cy="247"/>
                </a:xfrm>
                <a:prstGeom prst="line">
                  <a:avLst/>
                </a:prstGeom>
                <a:ln w="0" cap="flat" cmpd="sng">
                  <a:solidFill>
                    <a:srgbClr val="000000"/>
                  </a:solidFill>
                  <a:prstDash val="solid"/>
                  <a:headEnd type="none" w="med" len="med"/>
                  <a:tailEnd type="none" w="med" len="med"/>
                </a:ln>
              </p:spPr>
            </p:sp>
            <p:sp>
              <p:nvSpPr>
                <p:cNvPr id="155671" name="Rectangle 56"/>
                <p:cNvSpPr/>
                <p:nvPr/>
              </p:nvSpPr>
              <p:spPr>
                <a:xfrm>
                  <a:off x="3916" y="2721"/>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72" name="Line 57"/>
                <p:cNvSpPr/>
                <p:nvPr/>
              </p:nvSpPr>
              <p:spPr>
                <a:xfrm>
                  <a:off x="3916" y="2721"/>
                  <a:ext cx="15" cy="1"/>
                </a:xfrm>
                <a:prstGeom prst="line">
                  <a:avLst/>
                </a:prstGeom>
                <a:ln w="0" cap="flat" cmpd="sng">
                  <a:solidFill>
                    <a:srgbClr val="000000"/>
                  </a:solidFill>
                  <a:prstDash val="solid"/>
                  <a:headEnd type="none" w="med" len="med"/>
                  <a:tailEnd type="none" w="med" len="med"/>
                </a:ln>
              </p:spPr>
            </p:sp>
            <p:sp>
              <p:nvSpPr>
                <p:cNvPr id="155673" name="Line 58"/>
                <p:cNvSpPr/>
                <p:nvPr/>
              </p:nvSpPr>
              <p:spPr>
                <a:xfrm>
                  <a:off x="3916" y="2721"/>
                  <a:ext cx="1" cy="16"/>
                </a:xfrm>
                <a:prstGeom prst="line">
                  <a:avLst/>
                </a:prstGeom>
                <a:ln w="0" cap="flat" cmpd="sng">
                  <a:solidFill>
                    <a:srgbClr val="000000"/>
                  </a:solidFill>
                  <a:prstDash val="solid"/>
                  <a:headEnd type="none" w="med" len="med"/>
                  <a:tailEnd type="none" w="med" len="med"/>
                </a:ln>
              </p:spPr>
            </p:sp>
            <p:sp>
              <p:nvSpPr>
                <p:cNvPr id="155674" name="Rectangle 59"/>
                <p:cNvSpPr/>
                <p:nvPr/>
              </p:nvSpPr>
              <p:spPr>
                <a:xfrm>
                  <a:off x="3916" y="2721"/>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75" name="Line 60"/>
                <p:cNvSpPr/>
                <p:nvPr/>
              </p:nvSpPr>
              <p:spPr>
                <a:xfrm>
                  <a:off x="3916" y="2721"/>
                  <a:ext cx="15" cy="1"/>
                </a:xfrm>
                <a:prstGeom prst="line">
                  <a:avLst/>
                </a:prstGeom>
                <a:ln w="0" cap="flat" cmpd="sng">
                  <a:solidFill>
                    <a:srgbClr val="000000"/>
                  </a:solidFill>
                  <a:prstDash val="solid"/>
                  <a:headEnd type="none" w="med" len="med"/>
                  <a:tailEnd type="none" w="med" len="med"/>
                </a:ln>
              </p:spPr>
            </p:sp>
            <p:sp>
              <p:nvSpPr>
                <p:cNvPr id="155676" name="Line 61"/>
                <p:cNvSpPr/>
                <p:nvPr/>
              </p:nvSpPr>
              <p:spPr>
                <a:xfrm>
                  <a:off x="3916" y="2721"/>
                  <a:ext cx="1" cy="16"/>
                </a:xfrm>
                <a:prstGeom prst="line">
                  <a:avLst/>
                </a:prstGeom>
                <a:ln w="0" cap="flat" cmpd="sng">
                  <a:solidFill>
                    <a:srgbClr val="000000"/>
                  </a:solidFill>
                  <a:prstDash val="solid"/>
                  <a:headEnd type="none" w="med" len="med"/>
                  <a:tailEnd type="none" w="med" len="med"/>
                </a:ln>
              </p:spPr>
            </p:sp>
            <p:sp>
              <p:nvSpPr>
                <p:cNvPr id="155677" name="Rectangle 62"/>
                <p:cNvSpPr/>
                <p:nvPr/>
              </p:nvSpPr>
              <p:spPr>
                <a:xfrm>
                  <a:off x="3931" y="2721"/>
                  <a:ext cx="850"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78" name="Line 63"/>
                <p:cNvSpPr/>
                <p:nvPr/>
              </p:nvSpPr>
              <p:spPr>
                <a:xfrm>
                  <a:off x="3931" y="2721"/>
                  <a:ext cx="850" cy="1"/>
                </a:xfrm>
                <a:prstGeom prst="line">
                  <a:avLst/>
                </a:prstGeom>
                <a:ln w="0" cap="flat" cmpd="sng">
                  <a:solidFill>
                    <a:srgbClr val="000000"/>
                  </a:solidFill>
                  <a:prstDash val="solid"/>
                  <a:headEnd type="none" w="med" len="med"/>
                  <a:tailEnd type="none" w="med" len="med"/>
                </a:ln>
              </p:spPr>
            </p:sp>
            <p:sp>
              <p:nvSpPr>
                <p:cNvPr id="155679" name="Rectangle 64"/>
                <p:cNvSpPr/>
                <p:nvPr/>
              </p:nvSpPr>
              <p:spPr>
                <a:xfrm>
                  <a:off x="4781" y="2721"/>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80" name="Line 65"/>
                <p:cNvSpPr/>
                <p:nvPr/>
              </p:nvSpPr>
              <p:spPr>
                <a:xfrm>
                  <a:off x="4781" y="2721"/>
                  <a:ext cx="15" cy="1"/>
                </a:xfrm>
                <a:prstGeom prst="line">
                  <a:avLst/>
                </a:prstGeom>
                <a:ln w="0" cap="flat" cmpd="sng">
                  <a:solidFill>
                    <a:srgbClr val="000000"/>
                  </a:solidFill>
                  <a:prstDash val="solid"/>
                  <a:headEnd type="none" w="med" len="med"/>
                  <a:tailEnd type="none" w="med" len="med"/>
                </a:ln>
              </p:spPr>
            </p:sp>
            <p:sp>
              <p:nvSpPr>
                <p:cNvPr id="155681" name="Line 66"/>
                <p:cNvSpPr/>
                <p:nvPr/>
              </p:nvSpPr>
              <p:spPr>
                <a:xfrm>
                  <a:off x="4781" y="2721"/>
                  <a:ext cx="1" cy="16"/>
                </a:xfrm>
                <a:prstGeom prst="line">
                  <a:avLst/>
                </a:prstGeom>
                <a:ln w="0" cap="flat" cmpd="sng">
                  <a:solidFill>
                    <a:srgbClr val="000000"/>
                  </a:solidFill>
                  <a:prstDash val="solid"/>
                  <a:headEnd type="none" w="med" len="med"/>
                  <a:tailEnd type="none" w="med" len="med"/>
                </a:ln>
              </p:spPr>
            </p:sp>
            <p:sp>
              <p:nvSpPr>
                <p:cNvPr id="155682" name="Rectangle 67"/>
                <p:cNvSpPr/>
                <p:nvPr/>
              </p:nvSpPr>
              <p:spPr>
                <a:xfrm>
                  <a:off x="4781" y="2721"/>
                  <a:ext cx="15" cy="16"/>
                </a:xfrm>
                <a:prstGeom prst="rect">
                  <a:avLst/>
                </a:prstGeom>
                <a:solidFill>
                  <a:srgbClr val="000000"/>
                </a:solid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55683" name="Line 68"/>
                <p:cNvSpPr/>
                <p:nvPr/>
              </p:nvSpPr>
              <p:spPr>
                <a:xfrm>
                  <a:off x="4781" y="2721"/>
                  <a:ext cx="15" cy="1"/>
                </a:xfrm>
                <a:prstGeom prst="line">
                  <a:avLst/>
                </a:prstGeom>
                <a:ln w="0" cap="flat" cmpd="sng">
                  <a:solidFill>
                    <a:srgbClr val="000000"/>
                  </a:solidFill>
                  <a:prstDash val="solid"/>
                  <a:headEnd type="none" w="med" len="med"/>
                  <a:tailEnd type="none" w="med" len="med"/>
                </a:ln>
              </p:spPr>
            </p:sp>
            <p:sp>
              <p:nvSpPr>
                <p:cNvPr id="155684" name="Line 69"/>
                <p:cNvSpPr/>
                <p:nvPr/>
              </p:nvSpPr>
              <p:spPr>
                <a:xfrm>
                  <a:off x="4781" y="2721"/>
                  <a:ext cx="1" cy="16"/>
                </a:xfrm>
                <a:prstGeom prst="line">
                  <a:avLst/>
                </a:prstGeom>
                <a:ln w="0" cap="flat" cmpd="sng">
                  <a:solidFill>
                    <a:srgbClr val="000000"/>
                  </a:solidFill>
                  <a:prstDash val="solid"/>
                  <a:headEnd type="none" w="med" len="med"/>
                  <a:tailEnd type="none" w="med" len="med"/>
                </a:ln>
              </p:spPr>
            </p:sp>
            <p:sp>
              <p:nvSpPr>
                <p:cNvPr id="155685" name="Line 70"/>
                <p:cNvSpPr/>
                <p:nvPr/>
              </p:nvSpPr>
              <p:spPr>
                <a:xfrm>
                  <a:off x="3936" y="2448"/>
                  <a:ext cx="850" cy="1"/>
                </a:xfrm>
                <a:prstGeom prst="line">
                  <a:avLst/>
                </a:prstGeom>
                <a:ln w="0" cap="flat" cmpd="sng">
                  <a:solidFill>
                    <a:srgbClr val="000000"/>
                  </a:solidFill>
                  <a:prstDash val="solid"/>
                  <a:headEnd type="none" w="med" len="med"/>
                  <a:tailEnd type="none" w="med" len="med"/>
                </a:ln>
              </p:spPr>
            </p:sp>
          </p:grpSp>
          <p:sp>
            <p:nvSpPr>
              <p:cNvPr id="155659" name="Freeform 71"/>
              <p:cNvSpPr/>
              <p:nvPr/>
            </p:nvSpPr>
            <p:spPr>
              <a:xfrm>
                <a:off x="3795" y="2035"/>
                <a:ext cx="1" cy="717"/>
              </a:xfrm>
              <a:custGeom>
                <a:avLst/>
                <a:gdLst/>
                <a:ahLst/>
                <a:cxnLst>
                  <a:cxn ang="0">
                    <a:pos x="0" y="0"/>
                  </a:cxn>
                  <a:cxn ang="0">
                    <a:pos x="0" y="717"/>
                  </a:cxn>
                </a:cxnLst>
                <a:pathLst>
                  <a:path w="1" h="717">
                    <a:moveTo>
                      <a:pt x="0" y="0"/>
                    </a:moveTo>
                    <a:lnTo>
                      <a:pt x="0" y="717"/>
                    </a:lnTo>
                  </a:path>
                </a:pathLst>
              </a:custGeom>
              <a:solidFill>
                <a:srgbClr val="FFFFFF">
                  <a:alpha val="100000"/>
                </a:srgbClr>
              </a:solidFill>
              <a:ln w="23813" cap="flat" cmpd="sng">
                <a:solidFill>
                  <a:srgbClr val="000000">
                    <a:alpha val="100000"/>
                  </a:srgbClr>
                </a:solidFill>
                <a:prstDash val="solid"/>
                <a:round/>
                <a:headEnd type="none" w="med" len="med"/>
                <a:tailEnd type="none" w="med" len="med"/>
              </a:ln>
            </p:spPr>
            <p:txBody>
              <a:bodyPr/>
              <a:p>
                <a:endParaRPr lang="en-US"/>
              </a:p>
            </p:txBody>
          </p:sp>
          <p:sp>
            <p:nvSpPr>
              <p:cNvPr id="155660" name="Freeform 72"/>
              <p:cNvSpPr/>
              <p:nvPr/>
            </p:nvSpPr>
            <p:spPr>
              <a:xfrm>
                <a:off x="3696" y="2592"/>
                <a:ext cx="164" cy="155"/>
              </a:xfrm>
              <a:custGeom>
                <a:avLst/>
                <a:gdLst/>
                <a:ahLst/>
                <a:cxnLst>
                  <a:cxn ang="0">
                    <a:pos x="0" y="0"/>
                  </a:cxn>
                  <a:cxn ang="0">
                    <a:pos x="89" y="155"/>
                  </a:cxn>
                  <a:cxn ang="0">
                    <a:pos x="164" y="0"/>
                  </a:cxn>
                  <a:cxn ang="0">
                    <a:pos x="0" y="0"/>
                  </a:cxn>
                </a:cxnLst>
                <a:pathLst>
                  <a:path w="164" h="155">
                    <a:moveTo>
                      <a:pt x="0" y="0"/>
                    </a:moveTo>
                    <a:lnTo>
                      <a:pt x="89" y="155"/>
                    </a:lnTo>
                    <a:lnTo>
                      <a:pt x="164" y="0"/>
                    </a:lnTo>
                    <a:lnTo>
                      <a:pt x="0" y="0"/>
                    </a:lnTo>
                    <a:close/>
                  </a:path>
                </a:pathLst>
              </a:custGeom>
              <a:solidFill>
                <a:srgbClr val="000000">
                  <a:alpha val="100000"/>
                </a:srgbClr>
              </a:solidFill>
              <a:ln w="9525">
                <a:noFill/>
              </a:ln>
            </p:spPr>
            <p:txBody>
              <a:bodyPr/>
              <a:p>
                <a:endParaRPr lang="en-US"/>
              </a:p>
            </p:txBody>
          </p:sp>
          <p:grpSp>
            <p:nvGrpSpPr>
              <p:cNvPr id="155661" name="Group 73"/>
              <p:cNvGrpSpPr/>
              <p:nvPr/>
            </p:nvGrpSpPr>
            <p:grpSpPr>
              <a:xfrm>
                <a:off x="4162" y="2031"/>
                <a:ext cx="164" cy="728"/>
                <a:chOff x="4497" y="1870"/>
                <a:chExt cx="164" cy="728"/>
              </a:xfrm>
            </p:grpSpPr>
            <p:sp>
              <p:nvSpPr>
                <p:cNvPr id="155662" name="Line 74"/>
                <p:cNvSpPr/>
                <p:nvPr/>
              </p:nvSpPr>
              <p:spPr>
                <a:xfrm>
                  <a:off x="4587" y="1870"/>
                  <a:ext cx="1" cy="604"/>
                </a:xfrm>
                <a:prstGeom prst="line">
                  <a:avLst/>
                </a:prstGeom>
                <a:ln w="23813" cap="flat" cmpd="sng">
                  <a:solidFill>
                    <a:srgbClr val="000000"/>
                  </a:solidFill>
                  <a:prstDash val="solid"/>
                  <a:headEnd type="none" w="med" len="med"/>
                  <a:tailEnd type="none" w="med" len="med"/>
                </a:ln>
              </p:spPr>
            </p:sp>
            <p:sp>
              <p:nvSpPr>
                <p:cNvPr id="155663" name="Freeform 75"/>
                <p:cNvSpPr/>
                <p:nvPr/>
              </p:nvSpPr>
              <p:spPr>
                <a:xfrm>
                  <a:off x="4497" y="2443"/>
                  <a:ext cx="164" cy="155"/>
                </a:xfrm>
                <a:custGeom>
                  <a:avLst/>
                  <a:gdLst/>
                  <a:ahLst/>
                  <a:cxnLst>
                    <a:cxn ang="0">
                      <a:pos x="0" y="0"/>
                    </a:cxn>
                    <a:cxn ang="0">
                      <a:pos x="90" y="155"/>
                    </a:cxn>
                    <a:cxn ang="0">
                      <a:pos x="164" y="0"/>
                    </a:cxn>
                    <a:cxn ang="0">
                      <a:pos x="0" y="0"/>
                    </a:cxn>
                  </a:cxnLst>
                  <a:pathLst>
                    <a:path w="164" h="155">
                      <a:moveTo>
                        <a:pt x="0" y="0"/>
                      </a:moveTo>
                      <a:lnTo>
                        <a:pt x="90" y="155"/>
                      </a:lnTo>
                      <a:lnTo>
                        <a:pt x="164" y="0"/>
                      </a:lnTo>
                      <a:lnTo>
                        <a:pt x="0" y="0"/>
                      </a:lnTo>
                      <a:close/>
                    </a:path>
                  </a:pathLst>
                </a:custGeom>
                <a:solidFill>
                  <a:srgbClr val="000000">
                    <a:alpha val="100000"/>
                  </a:srgbClr>
                </a:solidFill>
                <a:ln w="9525">
                  <a:noFill/>
                </a:ln>
              </p:spPr>
              <p:txBody>
                <a:bodyPr/>
                <a:p>
                  <a:endParaRPr lang="en-US"/>
                </a:p>
              </p:txBody>
            </p:sp>
          </p:grpSp>
        </p:gr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6675"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6676" name="Rectangle 3"/>
          <p:cNvSpPr>
            <a:spLocks noGrp="1"/>
          </p:cNvSpPr>
          <p:nvPr>
            <p:ph idx="1"/>
          </p:nvPr>
        </p:nvSpPr>
        <p:spPr>
          <a:xfrm>
            <a:off x="762000" y="1066800"/>
            <a:ext cx="8077200" cy="8382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 </a:t>
            </a:r>
            <a:endParaRPr lang="en-US" altLang="zh-CN" dirty="0"/>
          </a:p>
        </p:txBody>
      </p:sp>
      <p:grpSp>
        <p:nvGrpSpPr>
          <p:cNvPr id="156677" name="Group 4"/>
          <p:cNvGrpSpPr/>
          <p:nvPr/>
        </p:nvGrpSpPr>
        <p:grpSpPr>
          <a:xfrm>
            <a:off x="1981200" y="2133600"/>
            <a:ext cx="4876800" cy="3133725"/>
            <a:chOff x="1248" y="1344"/>
            <a:chExt cx="3072" cy="1974"/>
          </a:xfrm>
        </p:grpSpPr>
        <p:sp>
          <p:nvSpPr>
            <p:cNvPr id="156678" name="Text Box 5"/>
            <p:cNvSpPr txBox="1"/>
            <p:nvPr/>
          </p:nvSpPr>
          <p:spPr>
            <a:xfrm>
              <a:off x="1248" y="1344"/>
              <a:ext cx="91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学生宿舍</a:t>
              </a:r>
              <a:endParaRPr lang="zh-CN" altLang="en-US" sz="2400" dirty="0">
                <a:solidFill>
                  <a:schemeClr val="tx1"/>
                </a:solidFill>
                <a:ea typeface="Arial" panose="020B0604020202020204" pitchFamily="34" charset="0"/>
              </a:endParaRPr>
            </a:p>
          </p:txBody>
        </p:sp>
        <p:sp>
          <p:nvSpPr>
            <p:cNvPr id="156679" name="Text Box 6"/>
            <p:cNvSpPr txBox="1"/>
            <p:nvPr/>
          </p:nvSpPr>
          <p:spPr>
            <a:xfrm>
              <a:off x="1968" y="2256"/>
              <a:ext cx="91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学生</a:t>
              </a:r>
              <a:endParaRPr lang="zh-CN" altLang="en-US" sz="2400" dirty="0">
                <a:solidFill>
                  <a:schemeClr val="tx1"/>
                </a:solidFill>
                <a:ea typeface="Arial" panose="020B0604020202020204" pitchFamily="34" charset="0"/>
              </a:endParaRPr>
            </a:p>
          </p:txBody>
        </p:sp>
        <p:sp>
          <p:nvSpPr>
            <p:cNvPr id="156680" name="Text Box 7"/>
            <p:cNvSpPr txBox="1"/>
            <p:nvPr/>
          </p:nvSpPr>
          <p:spPr>
            <a:xfrm>
              <a:off x="3360" y="2256"/>
              <a:ext cx="91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教研室</a:t>
              </a:r>
              <a:endParaRPr lang="zh-CN" altLang="en-US" sz="2400" dirty="0">
                <a:solidFill>
                  <a:schemeClr val="tx1"/>
                </a:solidFill>
                <a:ea typeface="Arial" panose="020B0604020202020204" pitchFamily="34" charset="0"/>
              </a:endParaRPr>
            </a:p>
          </p:txBody>
        </p:sp>
        <p:sp>
          <p:nvSpPr>
            <p:cNvPr id="156681" name="Text Box 8"/>
            <p:cNvSpPr txBox="1"/>
            <p:nvPr/>
          </p:nvSpPr>
          <p:spPr>
            <a:xfrm>
              <a:off x="2784" y="1344"/>
              <a:ext cx="91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系</a:t>
              </a:r>
              <a:endParaRPr lang="zh-CN" altLang="en-US" sz="2400" dirty="0">
                <a:solidFill>
                  <a:schemeClr val="tx1"/>
                </a:solidFill>
                <a:ea typeface="Arial" panose="020B0604020202020204" pitchFamily="34" charset="0"/>
              </a:endParaRPr>
            </a:p>
          </p:txBody>
        </p:sp>
        <p:sp>
          <p:nvSpPr>
            <p:cNvPr id="156682" name="Text Box 9"/>
            <p:cNvSpPr txBox="1"/>
            <p:nvPr/>
          </p:nvSpPr>
          <p:spPr>
            <a:xfrm>
              <a:off x="3408" y="3024"/>
              <a:ext cx="91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教师</a:t>
              </a:r>
              <a:endParaRPr lang="zh-CN" altLang="en-US" sz="2400" dirty="0">
                <a:solidFill>
                  <a:schemeClr val="tx1"/>
                </a:solidFill>
                <a:ea typeface="Arial" panose="020B0604020202020204" pitchFamily="34" charset="0"/>
              </a:endParaRPr>
            </a:p>
          </p:txBody>
        </p:sp>
        <p:sp>
          <p:nvSpPr>
            <p:cNvPr id="156683" name="Line 10"/>
            <p:cNvSpPr/>
            <p:nvPr/>
          </p:nvSpPr>
          <p:spPr>
            <a:xfrm>
              <a:off x="1680" y="1632"/>
              <a:ext cx="624" cy="624"/>
            </a:xfrm>
            <a:prstGeom prst="line">
              <a:avLst/>
            </a:prstGeom>
            <a:ln w="9525" cap="flat" cmpd="sng">
              <a:solidFill>
                <a:schemeClr val="tx1"/>
              </a:solidFill>
              <a:prstDash val="solid"/>
              <a:headEnd type="none" w="med" len="med"/>
              <a:tailEnd type="triangle" w="med" len="med"/>
            </a:ln>
          </p:spPr>
        </p:sp>
        <p:sp>
          <p:nvSpPr>
            <p:cNvPr id="156684" name="Line 11"/>
            <p:cNvSpPr/>
            <p:nvPr/>
          </p:nvSpPr>
          <p:spPr>
            <a:xfrm flipH="1">
              <a:off x="2448" y="1632"/>
              <a:ext cx="768" cy="624"/>
            </a:xfrm>
            <a:prstGeom prst="line">
              <a:avLst/>
            </a:prstGeom>
            <a:ln w="9525" cap="flat" cmpd="sng">
              <a:solidFill>
                <a:schemeClr val="tx1"/>
              </a:solidFill>
              <a:prstDash val="solid"/>
              <a:headEnd type="none" w="med" len="med"/>
              <a:tailEnd type="triangle" w="med" len="med"/>
            </a:ln>
          </p:spPr>
        </p:sp>
        <p:sp>
          <p:nvSpPr>
            <p:cNvPr id="156685" name="Line 12"/>
            <p:cNvSpPr/>
            <p:nvPr/>
          </p:nvSpPr>
          <p:spPr>
            <a:xfrm>
              <a:off x="3264" y="1632"/>
              <a:ext cx="528" cy="624"/>
            </a:xfrm>
            <a:prstGeom prst="line">
              <a:avLst/>
            </a:prstGeom>
            <a:ln w="9525" cap="flat" cmpd="sng">
              <a:solidFill>
                <a:schemeClr val="tx1"/>
              </a:solidFill>
              <a:prstDash val="solid"/>
              <a:headEnd type="none" w="med" len="med"/>
              <a:tailEnd type="triangle" w="med" len="med"/>
            </a:ln>
          </p:spPr>
        </p:sp>
        <p:sp>
          <p:nvSpPr>
            <p:cNvPr id="156686" name="Line 13"/>
            <p:cNvSpPr/>
            <p:nvPr/>
          </p:nvSpPr>
          <p:spPr>
            <a:xfrm>
              <a:off x="3840" y="2544"/>
              <a:ext cx="0" cy="480"/>
            </a:xfrm>
            <a:prstGeom prst="line">
              <a:avLst/>
            </a:prstGeom>
            <a:ln w="9525" cap="flat" cmpd="sng">
              <a:solidFill>
                <a:schemeClr val="tx1"/>
              </a:solidFill>
              <a:prstDash val="solid"/>
              <a:headEnd type="none" w="med" len="med"/>
              <a:tailEnd type="triangle" w="med" len="med"/>
            </a:ln>
          </p:spPr>
        </p:sp>
      </p:gr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7699"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7700" name="Rectangle 3"/>
          <p:cNvSpPr>
            <a:spLocks noGrp="1"/>
          </p:cNvSpPr>
          <p:nvPr>
            <p:ph idx="1"/>
          </p:nvPr>
        </p:nvSpPr>
        <p:spPr>
          <a:xfrm>
            <a:off x="762000" y="1066800"/>
            <a:ext cx="8077200" cy="8382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 </a:t>
            </a:r>
            <a:endParaRPr lang="en-US" altLang="zh-CN" dirty="0"/>
          </a:p>
        </p:txBody>
      </p:sp>
      <p:grpSp>
        <p:nvGrpSpPr>
          <p:cNvPr id="157701" name="Group 4"/>
          <p:cNvGrpSpPr/>
          <p:nvPr/>
        </p:nvGrpSpPr>
        <p:grpSpPr>
          <a:xfrm>
            <a:off x="2514600" y="2286000"/>
            <a:ext cx="4648200" cy="2447925"/>
            <a:chOff x="1344" y="1440"/>
            <a:chExt cx="2928" cy="1542"/>
          </a:xfrm>
        </p:grpSpPr>
        <p:sp>
          <p:nvSpPr>
            <p:cNvPr id="157702" name="Text Box 5"/>
            <p:cNvSpPr txBox="1"/>
            <p:nvPr/>
          </p:nvSpPr>
          <p:spPr>
            <a:xfrm>
              <a:off x="3456" y="1440"/>
              <a:ext cx="67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父母</a:t>
              </a:r>
              <a:endParaRPr lang="zh-CN" altLang="en-US" sz="2400" b="0" dirty="0">
                <a:solidFill>
                  <a:schemeClr val="tx1"/>
                </a:solidFill>
                <a:ea typeface="Arial" panose="020B0604020202020204" pitchFamily="34" charset="0"/>
              </a:endParaRPr>
            </a:p>
          </p:txBody>
        </p:sp>
        <p:sp>
          <p:nvSpPr>
            <p:cNvPr id="157703" name="Text Box 6"/>
            <p:cNvSpPr txBox="1"/>
            <p:nvPr/>
          </p:nvSpPr>
          <p:spPr>
            <a:xfrm>
              <a:off x="1488" y="1440"/>
              <a:ext cx="67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人</a:t>
              </a:r>
              <a:endParaRPr lang="zh-CN" altLang="en-US" sz="2400" b="0" dirty="0">
                <a:solidFill>
                  <a:schemeClr val="tx1"/>
                </a:solidFill>
                <a:ea typeface="Arial" panose="020B0604020202020204" pitchFamily="34" charset="0"/>
              </a:endParaRPr>
            </a:p>
          </p:txBody>
        </p:sp>
        <p:sp>
          <p:nvSpPr>
            <p:cNvPr id="157704" name="Text Box 7"/>
            <p:cNvSpPr txBox="1"/>
            <p:nvPr/>
          </p:nvSpPr>
          <p:spPr>
            <a:xfrm>
              <a:off x="3504" y="2688"/>
              <a:ext cx="67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子女</a:t>
              </a:r>
              <a:endParaRPr lang="zh-CN" altLang="en-US" sz="2400" dirty="0">
                <a:solidFill>
                  <a:schemeClr val="tx1"/>
                </a:solidFill>
                <a:ea typeface="Arial" panose="020B0604020202020204" pitchFamily="34" charset="0"/>
              </a:endParaRPr>
            </a:p>
          </p:txBody>
        </p:sp>
        <p:sp>
          <p:nvSpPr>
            <p:cNvPr id="157705" name="Text Box 8"/>
            <p:cNvSpPr txBox="1"/>
            <p:nvPr/>
          </p:nvSpPr>
          <p:spPr>
            <a:xfrm>
              <a:off x="1488" y="2640"/>
              <a:ext cx="672"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树</a:t>
              </a:r>
              <a:endParaRPr lang="zh-CN" altLang="en-US" sz="2400" b="0" dirty="0">
                <a:solidFill>
                  <a:schemeClr val="tx1"/>
                </a:solidFill>
                <a:ea typeface="Arial" panose="020B0604020202020204" pitchFamily="34" charset="0"/>
              </a:endParaRPr>
            </a:p>
          </p:txBody>
        </p:sp>
        <p:sp>
          <p:nvSpPr>
            <p:cNvPr id="157706" name="Line 9"/>
            <p:cNvSpPr/>
            <p:nvPr/>
          </p:nvSpPr>
          <p:spPr>
            <a:xfrm>
              <a:off x="1680" y="1728"/>
              <a:ext cx="0" cy="912"/>
            </a:xfrm>
            <a:prstGeom prst="line">
              <a:avLst/>
            </a:prstGeom>
            <a:ln w="12700" cap="flat" cmpd="sng">
              <a:solidFill>
                <a:schemeClr val="tx1"/>
              </a:solidFill>
              <a:prstDash val="solid"/>
              <a:headEnd type="none" w="med" len="med"/>
              <a:tailEnd type="triangle" w="med" len="med"/>
            </a:ln>
          </p:spPr>
        </p:sp>
        <p:sp>
          <p:nvSpPr>
            <p:cNvPr id="157707" name="Line 10"/>
            <p:cNvSpPr/>
            <p:nvPr/>
          </p:nvSpPr>
          <p:spPr>
            <a:xfrm>
              <a:off x="1968" y="1728"/>
              <a:ext cx="0" cy="912"/>
            </a:xfrm>
            <a:prstGeom prst="line">
              <a:avLst/>
            </a:prstGeom>
            <a:ln w="12700" cap="flat" cmpd="sng">
              <a:solidFill>
                <a:schemeClr val="tx1"/>
              </a:solidFill>
              <a:prstDash val="solid"/>
              <a:headEnd type="none" w="med" len="med"/>
              <a:tailEnd type="triangle" w="med" len="med"/>
            </a:ln>
          </p:spPr>
        </p:sp>
        <p:sp>
          <p:nvSpPr>
            <p:cNvPr id="157708" name="Line 11"/>
            <p:cNvSpPr/>
            <p:nvPr/>
          </p:nvSpPr>
          <p:spPr>
            <a:xfrm>
              <a:off x="3696" y="1728"/>
              <a:ext cx="0" cy="960"/>
            </a:xfrm>
            <a:prstGeom prst="line">
              <a:avLst/>
            </a:prstGeom>
            <a:ln w="12700" cap="flat" cmpd="sng">
              <a:solidFill>
                <a:schemeClr val="tx1"/>
              </a:solidFill>
              <a:prstDash val="solid"/>
              <a:headEnd type="none" w="med" len="med"/>
              <a:tailEnd type="triangle" w="med" len="med"/>
            </a:ln>
          </p:spPr>
        </p:sp>
        <p:sp>
          <p:nvSpPr>
            <p:cNvPr id="157709" name="Line 12"/>
            <p:cNvSpPr/>
            <p:nvPr/>
          </p:nvSpPr>
          <p:spPr>
            <a:xfrm flipV="1">
              <a:off x="3936" y="1728"/>
              <a:ext cx="0" cy="960"/>
            </a:xfrm>
            <a:prstGeom prst="line">
              <a:avLst/>
            </a:prstGeom>
            <a:ln w="12700" cap="flat" cmpd="sng">
              <a:solidFill>
                <a:schemeClr val="tx1"/>
              </a:solidFill>
              <a:prstDash val="solid"/>
              <a:headEnd type="none" w="med" len="med"/>
              <a:tailEnd type="triangle" w="med" len="med"/>
            </a:ln>
          </p:spPr>
        </p:sp>
        <p:sp>
          <p:nvSpPr>
            <p:cNvPr id="157710" name="Text Box 13"/>
            <p:cNvSpPr txBox="1"/>
            <p:nvPr/>
          </p:nvSpPr>
          <p:spPr>
            <a:xfrm>
              <a:off x="1344" y="1920"/>
              <a:ext cx="288" cy="51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种植</a:t>
              </a:r>
              <a:endParaRPr lang="zh-CN" altLang="en-US" sz="2400" b="0" dirty="0">
                <a:solidFill>
                  <a:schemeClr val="tx1"/>
                </a:solidFill>
                <a:ea typeface="Arial" panose="020B0604020202020204" pitchFamily="34" charset="0"/>
              </a:endParaRPr>
            </a:p>
          </p:txBody>
        </p:sp>
        <p:sp>
          <p:nvSpPr>
            <p:cNvPr id="157711" name="Text Box 14"/>
            <p:cNvSpPr txBox="1"/>
            <p:nvPr/>
          </p:nvSpPr>
          <p:spPr>
            <a:xfrm>
              <a:off x="2016" y="1968"/>
              <a:ext cx="288" cy="51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砍伐</a:t>
              </a:r>
              <a:endParaRPr lang="zh-CN" altLang="en-US" sz="2400" b="0" dirty="0">
                <a:solidFill>
                  <a:schemeClr val="tx1"/>
                </a:solidFill>
                <a:ea typeface="Arial" panose="020B0604020202020204" pitchFamily="34" charset="0"/>
              </a:endParaRPr>
            </a:p>
          </p:txBody>
        </p:sp>
        <p:sp>
          <p:nvSpPr>
            <p:cNvPr id="157712" name="Text Box 15"/>
            <p:cNvSpPr txBox="1"/>
            <p:nvPr/>
          </p:nvSpPr>
          <p:spPr>
            <a:xfrm>
              <a:off x="3312" y="1920"/>
              <a:ext cx="288" cy="51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养育</a:t>
              </a:r>
              <a:endParaRPr lang="zh-CN" altLang="en-US" sz="2400" b="0" dirty="0">
                <a:solidFill>
                  <a:schemeClr val="tx1"/>
                </a:solidFill>
                <a:ea typeface="Arial" panose="020B0604020202020204" pitchFamily="34" charset="0"/>
              </a:endParaRPr>
            </a:p>
          </p:txBody>
        </p:sp>
        <p:sp>
          <p:nvSpPr>
            <p:cNvPr id="157713" name="Text Box 16"/>
            <p:cNvSpPr txBox="1"/>
            <p:nvPr/>
          </p:nvSpPr>
          <p:spPr>
            <a:xfrm>
              <a:off x="3984" y="1920"/>
              <a:ext cx="288" cy="51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赡养</a:t>
              </a:r>
              <a:endParaRPr lang="zh-CN" altLang="en-US" sz="2400" b="0" dirty="0">
                <a:solidFill>
                  <a:schemeClr val="tx1"/>
                </a:solidFill>
                <a:ea typeface="Arial" panose="020B0604020202020204" pitchFamily="34" charset="0"/>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8723"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8724" name="Rectangle 3"/>
          <p:cNvSpPr>
            <a:spLocks noGrp="1"/>
          </p:cNvSpPr>
          <p:nvPr>
            <p:ph idx="1"/>
          </p:nvPr>
        </p:nvSpPr>
        <p:spPr>
          <a:xfrm>
            <a:off x="762000" y="1066800"/>
            <a:ext cx="8077200" cy="4419600"/>
          </a:xfrm>
          <a:ln/>
        </p:spPr>
        <p:txBody>
          <a:bodyPr vert="horz" wrap="square" lIns="91440" tIns="45720" rIns="91440" bIns="45720" anchor="t" anchorCtr="0"/>
          <a:p>
            <a:pPr algn="just" eaLnBrk="1" hangingPunct="1">
              <a:lnSpc>
                <a:spcPct val="120000"/>
              </a:lnSpc>
              <a:buNone/>
            </a:pPr>
            <a:r>
              <a:rPr lang="zh-CN" altLang="en-US" dirty="0"/>
              <a:t>网状数据模型的数据结构</a:t>
            </a:r>
            <a:r>
              <a:rPr lang="en-US" altLang="zh-CN" dirty="0"/>
              <a:t>(</a:t>
            </a:r>
            <a:r>
              <a:rPr lang="zh-CN" altLang="en-US" dirty="0"/>
              <a:t>续</a:t>
            </a:r>
            <a:r>
              <a:rPr lang="en-US" altLang="zh-CN" dirty="0"/>
              <a:t>) </a:t>
            </a:r>
            <a:endParaRPr lang="en-US" altLang="zh-CN" dirty="0"/>
          </a:p>
          <a:p>
            <a:pPr algn="just" eaLnBrk="1" hangingPunct="1"/>
            <a:r>
              <a:rPr lang="zh-CN" altLang="en-US" dirty="0">
                <a:solidFill>
                  <a:schemeClr val="accent2"/>
                </a:solidFill>
              </a:rPr>
              <a:t>多对多联系在网状模型中的表示</a:t>
            </a:r>
            <a:endParaRPr lang="zh-CN" altLang="en-US" dirty="0">
              <a:solidFill>
                <a:schemeClr val="accent2"/>
              </a:solidFill>
            </a:endParaRPr>
          </a:p>
          <a:p>
            <a:pPr lvl="1" algn="just" eaLnBrk="1" hangingPunct="1">
              <a:lnSpc>
                <a:spcPct val="140000"/>
              </a:lnSpc>
            </a:pPr>
            <a:r>
              <a:rPr lang="zh-CN" altLang="en-US" b="0" dirty="0"/>
              <a:t>用网状模型</a:t>
            </a:r>
            <a:r>
              <a:rPr lang="zh-CN" altLang="en-US" b="0" dirty="0">
                <a:solidFill>
                  <a:schemeClr val="accent2"/>
                </a:solidFill>
              </a:rPr>
              <a:t>间接</a:t>
            </a:r>
            <a:r>
              <a:rPr lang="zh-CN" altLang="en-US" b="0" dirty="0"/>
              <a:t>表示多对多联系</a:t>
            </a:r>
            <a:endParaRPr lang="zh-CN" altLang="en-US" b="0" dirty="0"/>
          </a:p>
          <a:p>
            <a:pPr lvl="1" algn="just" eaLnBrk="1" hangingPunct="1">
              <a:lnSpc>
                <a:spcPct val="140000"/>
              </a:lnSpc>
            </a:pPr>
            <a:r>
              <a:rPr lang="zh-CN" altLang="en-US" b="0" dirty="0"/>
              <a:t>方法</a:t>
            </a:r>
            <a:endParaRPr lang="zh-CN" altLang="en-US" b="0" dirty="0"/>
          </a:p>
          <a:p>
            <a:pPr lvl="1" algn="just" eaLnBrk="1" hangingPunct="1">
              <a:lnSpc>
                <a:spcPct val="140000"/>
              </a:lnSpc>
              <a:buNone/>
            </a:pPr>
            <a:r>
              <a:rPr lang="zh-CN" altLang="en-US" b="0" dirty="0"/>
              <a:t>    将多对多联系</a:t>
            </a:r>
            <a:r>
              <a:rPr lang="zh-CN" altLang="en-US" b="0" dirty="0">
                <a:solidFill>
                  <a:schemeClr val="accent2"/>
                </a:solidFill>
              </a:rPr>
              <a:t>直接</a:t>
            </a:r>
            <a:r>
              <a:rPr lang="zh-CN" altLang="en-US" b="0" dirty="0"/>
              <a:t>分解成一对多联系</a:t>
            </a:r>
            <a:endParaRPr lang="zh-CN" altLang="en-US" dirty="0"/>
          </a:p>
          <a:p>
            <a:pPr algn="just" eaLnBrk="1" hangingPunct="1">
              <a:lnSpc>
                <a:spcPct val="120000"/>
              </a:lnSpc>
              <a:buNone/>
            </a:pPr>
            <a:endParaRPr lang="zh-CN" alt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9747"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59748" name="Rectangle 5"/>
          <p:cNvSpPr>
            <a:spLocks noGrp="1"/>
          </p:cNvSpPr>
          <p:nvPr>
            <p:ph idx="1"/>
          </p:nvPr>
        </p:nvSpPr>
        <p:spPr>
          <a:xfrm>
            <a:off x="2339975" y="5013325"/>
            <a:ext cx="5113338" cy="360363"/>
          </a:xfrm>
          <a:ln/>
        </p:spPr>
        <p:txBody>
          <a:bodyPr vert="horz" wrap="square" lIns="91440" tIns="45720" rIns="91440" bIns="45720" anchor="t" anchorCtr="0"/>
          <a:p>
            <a:pPr eaLnBrk="1" hangingPunct="1">
              <a:lnSpc>
                <a:spcPct val="80000"/>
              </a:lnSpc>
              <a:buNone/>
            </a:pPr>
            <a:r>
              <a:rPr lang="zh-CN" altLang="en-US" sz="1800" b="0" dirty="0">
                <a:solidFill>
                  <a:schemeClr val="tx1"/>
                </a:solidFill>
                <a:latin typeface="Arial" panose="020B0604020202020204" pitchFamily="34" charset="0"/>
              </a:rPr>
              <a:t>图</a:t>
            </a:r>
            <a:r>
              <a:rPr lang="en-US" altLang="zh-CN" sz="1800" b="0" dirty="0">
                <a:solidFill>
                  <a:schemeClr val="tx1"/>
                </a:solidFill>
                <a:latin typeface="Arial" panose="020B0604020202020204" pitchFamily="34" charset="0"/>
              </a:rPr>
              <a:t>1.24  </a:t>
            </a:r>
            <a:r>
              <a:rPr lang="zh-CN" altLang="en-US" sz="1800" b="0" dirty="0">
                <a:solidFill>
                  <a:schemeClr val="tx1"/>
                </a:solidFill>
                <a:latin typeface="Arial" panose="020B0604020202020204" pitchFamily="34" charset="0"/>
              </a:rPr>
              <a:t>学生</a:t>
            </a:r>
            <a:r>
              <a:rPr lang="en-US" altLang="zh-CN" sz="1800" b="0" dirty="0">
                <a:solidFill>
                  <a:schemeClr val="tx1"/>
                </a:solidFill>
                <a:latin typeface="Arial" panose="020B0604020202020204" pitchFamily="34" charset="0"/>
              </a:rPr>
              <a:t>/</a:t>
            </a:r>
            <a:r>
              <a:rPr lang="zh-CN" altLang="en-US" sz="1800" b="0" dirty="0">
                <a:solidFill>
                  <a:schemeClr val="tx1"/>
                </a:solidFill>
                <a:latin typeface="Arial" panose="020B0604020202020204" pitchFamily="34" charset="0"/>
              </a:rPr>
              <a:t>选课</a:t>
            </a:r>
            <a:r>
              <a:rPr lang="en-US" altLang="zh-CN" sz="1800" b="0" dirty="0">
                <a:solidFill>
                  <a:schemeClr val="tx1"/>
                </a:solidFill>
                <a:latin typeface="Arial" panose="020B0604020202020204" pitchFamily="34" charset="0"/>
              </a:rPr>
              <a:t>/</a:t>
            </a:r>
            <a:r>
              <a:rPr lang="zh-CN" altLang="en-US" sz="1800" b="0" dirty="0">
                <a:solidFill>
                  <a:schemeClr val="tx1"/>
                </a:solidFill>
                <a:latin typeface="Arial" panose="020B0604020202020204" pitchFamily="34" charset="0"/>
              </a:rPr>
              <a:t>课程的网状数据模型 </a:t>
            </a:r>
            <a:endParaRPr lang="zh-CN" altLang="en-US" sz="1800" b="0" dirty="0">
              <a:solidFill>
                <a:schemeClr val="tx1"/>
              </a:solidFill>
              <a:latin typeface="Arial" panose="020B0604020202020204" pitchFamily="34" charset="0"/>
            </a:endParaRPr>
          </a:p>
        </p:txBody>
      </p:sp>
      <p:pic>
        <p:nvPicPr>
          <p:cNvPr id="159749" name="Picture 6" descr="124"/>
          <p:cNvPicPr>
            <a:picLocks noChangeAspect="1"/>
          </p:cNvPicPr>
          <p:nvPr/>
        </p:nvPicPr>
        <p:blipFill>
          <a:blip r:embed="rId1"/>
          <a:stretch>
            <a:fillRect/>
          </a:stretch>
        </p:blipFill>
        <p:spPr>
          <a:xfrm>
            <a:off x="971550" y="1341438"/>
            <a:ext cx="7272338" cy="3024187"/>
          </a:xfrm>
          <a:prstGeom prst="rect">
            <a:avLst/>
          </a:prstGeom>
          <a:noFill/>
          <a:ln w="9525">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0771"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60772" name="Rectangle 3"/>
          <p:cNvSpPr>
            <a:spLocks noGrp="1"/>
          </p:cNvSpPr>
          <p:nvPr>
            <p:ph idx="1"/>
          </p:nvPr>
        </p:nvSpPr>
        <p:spPr>
          <a:xfrm>
            <a:off x="762000" y="1066800"/>
            <a:ext cx="7315200" cy="4343400"/>
          </a:xfrm>
          <a:ln/>
        </p:spPr>
        <p:txBody>
          <a:bodyPr vert="horz" wrap="square" lIns="91440" tIns="45720" rIns="91440" bIns="45720" anchor="t" anchorCtr="0"/>
          <a:p>
            <a:pPr algn="just" eaLnBrk="1" hangingPunct="1">
              <a:lnSpc>
                <a:spcPct val="120000"/>
              </a:lnSpc>
              <a:buNone/>
            </a:pPr>
            <a:r>
              <a:rPr lang="en-US" altLang="zh-CN" dirty="0"/>
              <a:t>2. </a:t>
            </a:r>
            <a:r>
              <a:rPr lang="zh-CN" altLang="en-US" dirty="0"/>
              <a:t>网状数据模型的数据操纵 </a:t>
            </a:r>
            <a:endParaRPr lang="zh-CN" altLang="en-US" dirty="0"/>
          </a:p>
          <a:p>
            <a:pPr algn="just" eaLnBrk="1" hangingPunct="1">
              <a:buClr>
                <a:srgbClr val="FF0000"/>
              </a:buClr>
            </a:pPr>
            <a:r>
              <a:rPr lang="zh-CN" altLang="en-US" dirty="0">
                <a:solidFill>
                  <a:schemeClr val="tx1"/>
                </a:solidFill>
              </a:rPr>
              <a:t>查询</a:t>
            </a:r>
            <a:endParaRPr lang="zh-CN" altLang="en-US" dirty="0">
              <a:solidFill>
                <a:schemeClr val="tx1"/>
              </a:solidFill>
            </a:endParaRPr>
          </a:p>
          <a:p>
            <a:pPr algn="just" eaLnBrk="1" hangingPunct="1">
              <a:buClr>
                <a:srgbClr val="FF0000"/>
              </a:buClr>
            </a:pPr>
            <a:r>
              <a:rPr lang="zh-CN" altLang="en-US" dirty="0">
                <a:solidFill>
                  <a:schemeClr val="tx1"/>
                </a:solidFill>
              </a:rPr>
              <a:t>插入</a:t>
            </a:r>
            <a:endParaRPr lang="zh-CN" altLang="en-US" dirty="0">
              <a:solidFill>
                <a:schemeClr val="tx1"/>
              </a:solidFill>
            </a:endParaRPr>
          </a:p>
          <a:p>
            <a:pPr algn="just" eaLnBrk="1" hangingPunct="1">
              <a:buClr>
                <a:srgbClr val="FF0000"/>
              </a:buClr>
            </a:pPr>
            <a:r>
              <a:rPr lang="zh-CN" altLang="en-US" dirty="0">
                <a:solidFill>
                  <a:schemeClr val="tx1"/>
                </a:solidFill>
              </a:rPr>
              <a:t>删除</a:t>
            </a:r>
            <a:endParaRPr lang="zh-CN" altLang="en-US" dirty="0">
              <a:solidFill>
                <a:schemeClr val="tx1"/>
              </a:solidFill>
            </a:endParaRPr>
          </a:p>
          <a:p>
            <a:pPr algn="just" eaLnBrk="1" hangingPunct="1">
              <a:buClr>
                <a:srgbClr val="FF0000"/>
              </a:buClr>
            </a:pPr>
            <a:r>
              <a:rPr lang="zh-CN" altLang="en-US" dirty="0">
                <a:solidFill>
                  <a:schemeClr val="tx1"/>
                </a:solidFill>
              </a:rPr>
              <a:t>更新</a:t>
            </a:r>
            <a:endParaRPr lang="zh-CN" altLang="en-US" dirty="0">
              <a:solidFill>
                <a:schemeClr val="tx1"/>
              </a:solidFil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1795"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61796" name="Rectangle 3"/>
          <p:cNvSpPr>
            <a:spLocks noGrp="1"/>
          </p:cNvSpPr>
          <p:nvPr>
            <p:ph idx="1"/>
          </p:nvPr>
        </p:nvSpPr>
        <p:spPr>
          <a:xfrm>
            <a:off x="762000" y="1066800"/>
            <a:ext cx="7924800" cy="5105400"/>
          </a:xfrm>
          <a:ln/>
        </p:spPr>
        <p:txBody>
          <a:bodyPr vert="horz" wrap="square" lIns="91440" tIns="45720" rIns="91440" bIns="45720" anchor="t" anchorCtr="0"/>
          <a:p>
            <a:pPr algn="just" eaLnBrk="1" hangingPunct="1">
              <a:lnSpc>
                <a:spcPct val="120000"/>
              </a:lnSpc>
              <a:buNone/>
            </a:pPr>
            <a:r>
              <a:rPr lang="en-US" altLang="zh-CN" dirty="0"/>
              <a:t>3. </a:t>
            </a:r>
            <a:r>
              <a:rPr lang="zh-CN" altLang="en-US" dirty="0"/>
              <a:t>网状数据模型的完整性约束 </a:t>
            </a:r>
            <a:endParaRPr lang="zh-CN" altLang="en-US" dirty="0"/>
          </a:p>
          <a:p>
            <a:pPr eaLnBrk="1" hangingPunct="1">
              <a:buNone/>
            </a:pPr>
            <a:r>
              <a:rPr lang="zh-CN" altLang="en-US" dirty="0">
                <a:solidFill>
                  <a:schemeClr val="accent2"/>
                </a:solidFill>
              </a:rPr>
              <a:t>网状数据库系统（如</a:t>
            </a:r>
            <a:r>
              <a:rPr lang="en-US" altLang="zh-CN" dirty="0">
                <a:solidFill>
                  <a:schemeClr val="accent2"/>
                </a:solidFill>
              </a:rPr>
              <a:t>DBTG</a:t>
            </a:r>
            <a:r>
              <a:rPr lang="zh-CN" altLang="en-US" dirty="0">
                <a:solidFill>
                  <a:schemeClr val="accent2"/>
                </a:solidFill>
              </a:rPr>
              <a:t>）对数据操纵加</a:t>
            </a:r>
            <a:endParaRPr lang="zh-CN" altLang="en-US" dirty="0">
              <a:solidFill>
                <a:schemeClr val="accent2"/>
              </a:solidFill>
            </a:endParaRPr>
          </a:p>
          <a:p>
            <a:pPr eaLnBrk="1" hangingPunct="1">
              <a:buNone/>
            </a:pPr>
            <a:r>
              <a:rPr lang="zh-CN" altLang="en-US" dirty="0">
                <a:solidFill>
                  <a:schemeClr val="accent2"/>
                </a:solidFill>
              </a:rPr>
              <a:t>了一些限制，提供了一定的完整性约束</a:t>
            </a:r>
            <a:endParaRPr lang="zh-CN" altLang="en-US" dirty="0">
              <a:solidFill>
                <a:schemeClr val="accent2"/>
              </a:solidFill>
            </a:endParaRPr>
          </a:p>
          <a:p>
            <a:pPr lvl="1" eaLnBrk="1" hangingPunct="1">
              <a:lnSpc>
                <a:spcPct val="120000"/>
              </a:lnSpc>
            </a:pPr>
            <a:r>
              <a:rPr lang="zh-CN" altLang="en-US" dirty="0"/>
              <a:t>码</a:t>
            </a:r>
            <a:endParaRPr lang="zh-CN" altLang="en-US" dirty="0"/>
          </a:p>
          <a:p>
            <a:pPr lvl="1" eaLnBrk="1" hangingPunct="1">
              <a:lnSpc>
                <a:spcPct val="120000"/>
              </a:lnSpc>
            </a:pPr>
            <a:r>
              <a:rPr lang="zh-CN" altLang="en-US" dirty="0"/>
              <a:t>双亲结点与子女结点之间是一对多联系</a:t>
            </a:r>
            <a:endParaRPr lang="zh-CN" altLang="en-US" dirty="0"/>
          </a:p>
          <a:p>
            <a:pPr lvl="1" eaLnBrk="1" hangingPunct="1">
              <a:lnSpc>
                <a:spcPct val="120000"/>
              </a:lnSpc>
            </a:pPr>
            <a:r>
              <a:rPr lang="zh-CN" altLang="en-US" dirty="0"/>
              <a:t>支持双亲记录和子女记录之间某些约束条件</a:t>
            </a:r>
            <a:endParaRPr lang="zh-CN" alt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2819"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62820" name="Rectangle 3"/>
          <p:cNvSpPr>
            <a:spLocks noGrp="1"/>
          </p:cNvSpPr>
          <p:nvPr>
            <p:ph idx="1"/>
          </p:nvPr>
        </p:nvSpPr>
        <p:spPr>
          <a:xfrm>
            <a:off x="762000" y="1066800"/>
            <a:ext cx="7924800" cy="5105400"/>
          </a:xfrm>
          <a:ln/>
        </p:spPr>
        <p:txBody>
          <a:bodyPr vert="horz" wrap="square" lIns="91440" tIns="45720" rIns="91440" bIns="45720" anchor="t" anchorCtr="0"/>
          <a:p>
            <a:pPr algn="just" eaLnBrk="1" hangingPunct="1">
              <a:lnSpc>
                <a:spcPct val="120000"/>
              </a:lnSpc>
              <a:buNone/>
            </a:pPr>
            <a:r>
              <a:rPr lang="zh-CN" altLang="en-US" dirty="0"/>
              <a:t>网状数据模型的完整性约束</a:t>
            </a:r>
            <a:r>
              <a:rPr lang="en-US" altLang="zh-CN" dirty="0"/>
              <a:t>(</a:t>
            </a:r>
            <a:r>
              <a:rPr lang="zh-CN" altLang="en-US" dirty="0"/>
              <a:t>续</a:t>
            </a:r>
            <a:r>
              <a:rPr lang="en-US" altLang="zh-CN" dirty="0"/>
              <a:t>) </a:t>
            </a:r>
            <a:endParaRPr lang="en-US" altLang="zh-CN" dirty="0"/>
          </a:p>
          <a:p>
            <a:pPr eaLnBrk="1" hangingPunct="1">
              <a:lnSpc>
                <a:spcPct val="130000"/>
              </a:lnSpc>
            </a:pPr>
            <a:r>
              <a:rPr lang="zh-CN" altLang="en-US" dirty="0">
                <a:solidFill>
                  <a:schemeClr val="accent2"/>
                </a:solidFill>
              </a:rPr>
              <a:t>完整性约束条件</a:t>
            </a:r>
            <a:endParaRPr lang="zh-CN" altLang="en-US" dirty="0">
              <a:solidFill>
                <a:schemeClr val="accent2"/>
              </a:solidFill>
            </a:endParaRPr>
          </a:p>
          <a:p>
            <a:pPr lvl="1" eaLnBrk="1" hangingPunct="1">
              <a:lnSpc>
                <a:spcPct val="130000"/>
              </a:lnSpc>
            </a:pPr>
            <a:r>
              <a:rPr lang="zh-CN" altLang="en-US" b="0" dirty="0"/>
              <a:t>允许插入尚未确定双亲结点值的子女结点值</a:t>
            </a:r>
            <a:endParaRPr lang="zh-CN" altLang="en-US" b="0" dirty="0"/>
          </a:p>
          <a:p>
            <a:pPr lvl="1" eaLnBrk="1" hangingPunct="1">
              <a:lnSpc>
                <a:spcPct val="130000"/>
              </a:lnSpc>
            </a:pPr>
            <a:r>
              <a:rPr lang="zh-CN" altLang="en-US" b="0" dirty="0"/>
              <a:t>允许只删除双亲结点值</a:t>
            </a:r>
            <a:endParaRPr lang="zh-CN" altLang="en-US" dirty="0"/>
          </a:p>
          <a:p>
            <a:pPr lvl="2" eaLnBrk="1" hangingPunct="1">
              <a:lnSpc>
                <a:spcPct val="120000"/>
              </a:lnSpc>
            </a:pPr>
            <a:endParaRPr lang="zh-CN" alt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43"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63844" name="Rectangle 3"/>
          <p:cNvSpPr>
            <a:spLocks noGrp="1"/>
          </p:cNvSpPr>
          <p:nvPr>
            <p:ph idx="1"/>
          </p:nvPr>
        </p:nvSpPr>
        <p:spPr>
          <a:xfrm>
            <a:off x="762000" y="1066800"/>
            <a:ext cx="7924800" cy="5105400"/>
          </a:xfrm>
          <a:ln/>
        </p:spPr>
        <p:txBody>
          <a:bodyPr vert="horz" wrap="square" lIns="91440" tIns="45720" rIns="91440" bIns="45720" anchor="t" anchorCtr="0"/>
          <a:p>
            <a:pPr algn="just" eaLnBrk="1" hangingPunct="1">
              <a:lnSpc>
                <a:spcPct val="120000"/>
              </a:lnSpc>
              <a:buNone/>
            </a:pPr>
            <a:r>
              <a:rPr lang="en-US" altLang="zh-CN" dirty="0"/>
              <a:t>4. </a:t>
            </a:r>
            <a:r>
              <a:rPr lang="zh-CN" altLang="en-US" dirty="0"/>
              <a:t>网状数据模型的存储结构</a:t>
            </a:r>
            <a:r>
              <a:rPr lang="zh-CN" altLang="en-US" sz="2800" dirty="0"/>
              <a:t> </a:t>
            </a:r>
            <a:endParaRPr lang="zh-CN" altLang="en-US" sz="2800" dirty="0"/>
          </a:p>
          <a:p>
            <a:pPr algn="just" eaLnBrk="1" hangingPunct="1">
              <a:lnSpc>
                <a:spcPct val="110000"/>
              </a:lnSpc>
            </a:pPr>
            <a:r>
              <a:rPr lang="zh-CN" altLang="en-US" dirty="0">
                <a:solidFill>
                  <a:schemeClr val="accent2"/>
                </a:solidFill>
              </a:rPr>
              <a:t>关键</a:t>
            </a:r>
            <a:endParaRPr lang="zh-CN" altLang="en-US" dirty="0">
              <a:solidFill>
                <a:schemeClr val="accent2"/>
              </a:solidFill>
            </a:endParaRPr>
          </a:p>
          <a:p>
            <a:pPr lvl="1" algn="just" eaLnBrk="1" hangingPunct="1">
              <a:lnSpc>
                <a:spcPct val="110000"/>
              </a:lnSpc>
            </a:pPr>
            <a:r>
              <a:rPr lang="zh-CN" altLang="en-US" sz="2400" b="0" dirty="0"/>
              <a:t>实现记录之间的联系</a:t>
            </a:r>
            <a:endParaRPr lang="zh-CN" altLang="en-US" dirty="0"/>
          </a:p>
          <a:p>
            <a:pPr algn="just" eaLnBrk="1" hangingPunct="1">
              <a:lnSpc>
                <a:spcPct val="110000"/>
              </a:lnSpc>
            </a:pPr>
            <a:r>
              <a:rPr lang="zh-CN" altLang="en-US" dirty="0">
                <a:solidFill>
                  <a:schemeClr val="accent2"/>
                </a:solidFill>
              </a:rPr>
              <a:t>常用方法</a:t>
            </a:r>
            <a:endParaRPr lang="zh-CN" altLang="en-US" dirty="0">
              <a:solidFill>
                <a:schemeClr val="accent2"/>
              </a:solidFill>
            </a:endParaRPr>
          </a:p>
          <a:p>
            <a:pPr lvl="1" algn="just" eaLnBrk="1" hangingPunct="1">
              <a:lnSpc>
                <a:spcPct val="110000"/>
              </a:lnSpc>
            </a:pPr>
            <a:r>
              <a:rPr lang="zh-CN" altLang="en-US" sz="2400" b="0" dirty="0"/>
              <a:t>单向链接</a:t>
            </a:r>
            <a:endParaRPr lang="zh-CN" altLang="en-US" sz="2400" b="0" dirty="0"/>
          </a:p>
          <a:p>
            <a:pPr lvl="1" algn="just" eaLnBrk="1" hangingPunct="1">
              <a:lnSpc>
                <a:spcPct val="110000"/>
              </a:lnSpc>
            </a:pPr>
            <a:r>
              <a:rPr lang="zh-CN" altLang="en-US" sz="2400" b="0" dirty="0"/>
              <a:t>双向链接</a:t>
            </a:r>
            <a:endParaRPr lang="zh-CN" altLang="en-US" sz="2400" b="0" dirty="0"/>
          </a:p>
          <a:p>
            <a:pPr lvl="1" algn="just" eaLnBrk="1" hangingPunct="1">
              <a:lnSpc>
                <a:spcPct val="110000"/>
              </a:lnSpc>
            </a:pPr>
            <a:r>
              <a:rPr lang="zh-CN" altLang="en-US" sz="2400" b="0" dirty="0"/>
              <a:t>环状链接</a:t>
            </a:r>
            <a:endParaRPr lang="zh-CN" altLang="en-US" sz="2400" b="0" dirty="0"/>
          </a:p>
          <a:p>
            <a:pPr lvl="1" algn="just" eaLnBrk="1" hangingPunct="1">
              <a:lnSpc>
                <a:spcPct val="110000"/>
              </a:lnSpc>
            </a:pPr>
            <a:r>
              <a:rPr lang="zh-CN" altLang="en-US" sz="2400" b="0" dirty="0"/>
              <a:t>向首链接</a:t>
            </a:r>
            <a:endParaRPr lang="zh-CN" altLang="en-US" dirty="0"/>
          </a:p>
        </p:txBody>
      </p:sp>
      <p:pic>
        <p:nvPicPr>
          <p:cNvPr id="163845" name="Picture 4" descr="125"/>
          <p:cNvPicPr>
            <a:picLocks noChangeAspect="1"/>
          </p:cNvPicPr>
          <p:nvPr/>
        </p:nvPicPr>
        <p:blipFill>
          <a:blip r:embed="rId1"/>
          <a:stretch>
            <a:fillRect/>
          </a:stretch>
        </p:blipFill>
        <p:spPr>
          <a:xfrm>
            <a:off x="4787900" y="2276475"/>
            <a:ext cx="3816350" cy="3535363"/>
          </a:xfrm>
          <a:prstGeom prst="rect">
            <a:avLst/>
          </a:prstGeom>
          <a:noFill/>
          <a:ln w="9525">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4867"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64868" name="Rectangle 3"/>
          <p:cNvSpPr>
            <a:spLocks noGrp="1"/>
          </p:cNvSpPr>
          <p:nvPr>
            <p:ph idx="1"/>
          </p:nvPr>
        </p:nvSpPr>
        <p:spPr>
          <a:xfrm>
            <a:off x="762000" y="1066800"/>
            <a:ext cx="7924800" cy="5105400"/>
          </a:xfrm>
          <a:ln/>
        </p:spPr>
        <p:txBody>
          <a:bodyPr vert="horz" wrap="square" lIns="91440" tIns="45720" rIns="91440" bIns="45720" anchor="t" anchorCtr="0"/>
          <a:p>
            <a:pPr algn="just" eaLnBrk="1" hangingPunct="1">
              <a:lnSpc>
                <a:spcPct val="120000"/>
              </a:lnSpc>
              <a:buNone/>
            </a:pPr>
            <a:r>
              <a:rPr lang="en-US" altLang="zh-CN" dirty="0"/>
              <a:t>5. </a:t>
            </a:r>
            <a:r>
              <a:rPr lang="zh-CN" altLang="en-US" dirty="0"/>
              <a:t>网状数据模型的优缺点</a:t>
            </a:r>
            <a:r>
              <a:rPr lang="zh-CN" altLang="en-US" sz="2800" dirty="0"/>
              <a:t> </a:t>
            </a:r>
            <a:endParaRPr lang="zh-CN" altLang="en-US" sz="2800" dirty="0"/>
          </a:p>
          <a:p>
            <a:pPr algn="just" eaLnBrk="1" hangingPunct="1"/>
            <a:r>
              <a:rPr lang="zh-CN" altLang="en-US" dirty="0"/>
              <a:t>优点</a:t>
            </a:r>
            <a:endParaRPr lang="zh-CN" altLang="en-US" dirty="0"/>
          </a:p>
          <a:p>
            <a:pPr lvl="1" algn="just" eaLnBrk="1" hangingPunct="1">
              <a:lnSpc>
                <a:spcPct val="120000"/>
              </a:lnSpc>
            </a:pPr>
            <a:r>
              <a:rPr lang="zh-CN" altLang="en-US" sz="2400" dirty="0"/>
              <a:t>能够更为直接地描述现实世界，如一个结点可以有多个双亲</a:t>
            </a:r>
            <a:endParaRPr lang="zh-CN" altLang="en-US" sz="2400" dirty="0"/>
          </a:p>
          <a:p>
            <a:pPr lvl="1" algn="just" eaLnBrk="1" hangingPunct="1">
              <a:lnSpc>
                <a:spcPct val="120000"/>
              </a:lnSpc>
            </a:pPr>
            <a:r>
              <a:rPr lang="zh-CN" altLang="en-US" sz="2400" dirty="0"/>
              <a:t>具有良好的性能，存取效率较高</a:t>
            </a:r>
            <a:endParaRPr lang="zh-CN" altLang="en-US" sz="2400" dirty="0"/>
          </a:p>
          <a:p>
            <a:pPr eaLnBrk="1" hangingPunct="1"/>
            <a:r>
              <a:rPr lang="zh-CN" altLang="en-US" dirty="0"/>
              <a:t>缺点</a:t>
            </a:r>
            <a:endParaRPr lang="zh-CN" altLang="en-US" dirty="0"/>
          </a:p>
          <a:p>
            <a:pPr lvl="1" eaLnBrk="1" hangingPunct="1">
              <a:lnSpc>
                <a:spcPct val="140000"/>
              </a:lnSpc>
            </a:pPr>
            <a:r>
              <a:rPr lang="zh-CN" altLang="en-US" sz="2400" dirty="0"/>
              <a:t>结构比较复杂，而且随着应用环境的扩大，数据库的结构就变得越来越复杂，不利于最终用户掌握</a:t>
            </a:r>
            <a:endParaRPr lang="zh-CN" altLang="en-US" sz="2400" dirty="0"/>
          </a:p>
          <a:p>
            <a:pPr lvl="1" eaLnBrk="1" hangingPunct="1">
              <a:lnSpc>
                <a:spcPct val="140000"/>
              </a:lnSpc>
            </a:pPr>
            <a:r>
              <a:rPr lang="en-US" altLang="zh-CN" sz="2400" dirty="0"/>
              <a:t>DDL</a:t>
            </a:r>
            <a:r>
              <a:rPr lang="zh-CN" altLang="en-US" sz="2400" dirty="0"/>
              <a:t>、</a:t>
            </a:r>
            <a:r>
              <a:rPr lang="en-US" altLang="zh-CN" sz="2400" dirty="0"/>
              <a:t>DML</a:t>
            </a:r>
            <a:r>
              <a:rPr lang="zh-CN" altLang="en-US" sz="2400" dirty="0"/>
              <a:t>语言复杂，用户不容易使用</a:t>
            </a:r>
            <a:endParaRPr lang="zh-CN" altLang="en-US" sz="24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5891"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1.2.6  </a:t>
            </a:r>
            <a:r>
              <a:rPr lang="zh-CN" altLang="en-US" u="sng" dirty="0"/>
              <a:t>网状模型</a:t>
            </a:r>
            <a:r>
              <a:rPr lang="en-US" altLang="zh-CN" u="sng" dirty="0"/>
              <a:t>(cont)</a:t>
            </a:r>
            <a:endParaRPr lang="en-US" altLang="zh-CN" u="sng" dirty="0"/>
          </a:p>
        </p:txBody>
      </p:sp>
      <p:sp>
        <p:nvSpPr>
          <p:cNvPr id="165892" name="Rectangle 3"/>
          <p:cNvSpPr>
            <a:spLocks noGrp="1"/>
          </p:cNvSpPr>
          <p:nvPr>
            <p:ph idx="1"/>
          </p:nvPr>
        </p:nvSpPr>
        <p:spPr>
          <a:xfrm>
            <a:off x="609600" y="914400"/>
            <a:ext cx="8153400" cy="5334000"/>
          </a:xfrm>
          <a:ln/>
        </p:spPr>
        <p:txBody>
          <a:bodyPr vert="horz" wrap="square" lIns="91440" tIns="45720" rIns="91440" bIns="45720" anchor="t" anchorCtr="0"/>
          <a:p>
            <a:pPr algn="just" eaLnBrk="1" hangingPunct="1">
              <a:lnSpc>
                <a:spcPct val="120000"/>
              </a:lnSpc>
              <a:buNone/>
            </a:pPr>
            <a:r>
              <a:rPr lang="en-US" altLang="zh-CN" dirty="0"/>
              <a:t>6.</a:t>
            </a:r>
            <a:r>
              <a:rPr lang="zh-CN" altLang="en-US" dirty="0"/>
              <a:t>典型的网状数据库系统</a:t>
            </a:r>
            <a:r>
              <a:rPr lang="zh-CN" altLang="en-US" sz="2800" dirty="0"/>
              <a:t> </a:t>
            </a:r>
            <a:endParaRPr lang="zh-CN" altLang="en-US" sz="2800" dirty="0"/>
          </a:p>
          <a:p>
            <a:pPr eaLnBrk="1" hangingPunct="1">
              <a:lnSpc>
                <a:spcPct val="90000"/>
              </a:lnSpc>
            </a:pPr>
            <a:r>
              <a:rPr lang="en-US" altLang="zh-CN" dirty="0">
                <a:solidFill>
                  <a:schemeClr val="accent2"/>
                </a:solidFill>
              </a:rPr>
              <a:t>DBTG</a:t>
            </a:r>
            <a:r>
              <a:rPr lang="zh-CN" altLang="en-US" dirty="0">
                <a:solidFill>
                  <a:schemeClr val="accent2"/>
                </a:solidFill>
              </a:rPr>
              <a:t>系统，亦称</a:t>
            </a:r>
            <a:r>
              <a:rPr lang="en-US" altLang="zh-CN" dirty="0">
                <a:solidFill>
                  <a:schemeClr val="accent2"/>
                </a:solidFill>
              </a:rPr>
              <a:t>CODASYL</a:t>
            </a:r>
            <a:r>
              <a:rPr lang="zh-CN" altLang="en-US" dirty="0">
                <a:solidFill>
                  <a:schemeClr val="accent2"/>
                </a:solidFill>
              </a:rPr>
              <a:t>系统</a:t>
            </a:r>
            <a:endParaRPr lang="zh-CN" altLang="en-US" dirty="0">
              <a:solidFill>
                <a:schemeClr val="accent2"/>
              </a:solidFill>
            </a:endParaRPr>
          </a:p>
          <a:p>
            <a:pPr lvl="1" algn="just" eaLnBrk="1" hangingPunct="1">
              <a:lnSpc>
                <a:spcPct val="120000"/>
              </a:lnSpc>
            </a:pPr>
            <a:r>
              <a:rPr lang="zh-CN" altLang="en-US" sz="2400" dirty="0"/>
              <a:t>由</a:t>
            </a:r>
            <a:r>
              <a:rPr lang="en-US" altLang="zh-CN" sz="2400" dirty="0"/>
              <a:t>DBTG(</a:t>
            </a:r>
            <a:r>
              <a:rPr lang="en-US" altLang="zh-CN" sz="2400" dirty="0">
                <a:ea typeface="楷体_GB2312" pitchFamily="49" charset="-122"/>
              </a:rPr>
              <a:t>Data Base Task Group</a:t>
            </a:r>
            <a:r>
              <a:rPr lang="en-US" altLang="zh-CN" sz="2400" dirty="0"/>
              <a:t>)</a:t>
            </a:r>
            <a:r>
              <a:rPr lang="zh-CN" altLang="en-US" sz="2400" dirty="0"/>
              <a:t>提出的一个系统方案</a:t>
            </a:r>
            <a:endParaRPr lang="zh-CN" altLang="en-US" sz="2400" dirty="0"/>
          </a:p>
          <a:p>
            <a:pPr lvl="1" algn="just" eaLnBrk="1" hangingPunct="1">
              <a:lnSpc>
                <a:spcPct val="120000"/>
              </a:lnSpc>
            </a:pPr>
            <a:r>
              <a:rPr lang="zh-CN" altLang="en-US" sz="2400" dirty="0"/>
              <a:t>奠定了数据库系统的基本概念、方法和技术</a:t>
            </a:r>
            <a:endParaRPr lang="zh-CN" altLang="en-US" sz="2400" dirty="0"/>
          </a:p>
          <a:p>
            <a:pPr lvl="1" eaLnBrk="1" hangingPunct="1">
              <a:lnSpc>
                <a:spcPct val="120000"/>
              </a:lnSpc>
            </a:pPr>
            <a:r>
              <a:rPr lang="en-US" altLang="zh-CN" sz="2400" dirty="0"/>
              <a:t>70</a:t>
            </a:r>
            <a:r>
              <a:rPr lang="zh-CN" altLang="en-US" sz="2400" dirty="0"/>
              <a:t>年代推出</a:t>
            </a:r>
            <a:endParaRPr lang="zh-CN" altLang="en-US" sz="2400" dirty="0"/>
          </a:p>
          <a:p>
            <a:pPr algn="just" eaLnBrk="1" hangingPunct="1">
              <a:lnSpc>
                <a:spcPct val="90000"/>
              </a:lnSpc>
            </a:pPr>
            <a:r>
              <a:rPr lang="zh-CN" altLang="en-US" dirty="0">
                <a:solidFill>
                  <a:schemeClr val="accent2"/>
                </a:solidFill>
              </a:rPr>
              <a:t>实际系统</a:t>
            </a:r>
            <a:endParaRPr lang="zh-CN" altLang="en-US" dirty="0">
              <a:solidFill>
                <a:schemeClr val="accent2"/>
              </a:solidFill>
            </a:endParaRPr>
          </a:p>
          <a:p>
            <a:pPr lvl="1" algn="just" eaLnBrk="1" hangingPunct="1">
              <a:lnSpc>
                <a:spcPct val="120000"/>
              </a:lnSpc>
            </a:pPr>
            <a:r>
              <a:rPr lang="en-US" altLang="zh-CN" sz="2400" dirty="0"/>
              <a:t>Cullinet  Software  Inc.</a:t>
            </a:r>
            <a:r>
              <a:rPr lang="zh-CN" altLang="en-US" sz="2400" dirty="0"/>
              <a:t>公司的 </a:t>
            </a:r>
            <a:r>
              <a:rPr lang="en-US" altLang="zh-CN" sz="2400" dirty="0"/>
              <a:t>IDMS</a:t>
            </a:r>
            <a:endParaRPr lang="en-US" altLang="zh-CN" sz="2400" dirty="0"/>
          </a:p>
          <a:p>
            <a:pPr lvl="1" algn="just" eaLnBrk="1" hangingPunct="1">
              <a:lnSpc>
                <a:spcPct val="120000"/>
              </a:lnSpc>
            </a:pPr>
            <a:r>
              <a:rPr lang="en-US" altLang="zh-CN" sz="2400" dirty="0"/>
              <a:t>Univac</a:t>
            </a:r>
            <a:r>
              <a:rPr lang="zh-CN" altLang="en-US" sz="2400" dirty="0"/>
              <a:t>公司的 </a:t>
            </a:r>
            <a:r>
              <a:rPr lang="en-US" altLang="zh-CN" sz="2400" dirty="0"/>
              <a:t>DMS1100</a:t>
            </a:r>
            <a:endParaRPr lang="en-US" altLang="zh-CN" sz="2400" dirty="0"/>
          </a:p>
          <a:p>
            <a:pPr lvl="1" algn="just" eaLnBrk="1" hangingPunct="1">
              <a:lnSpc>
                <a:spcPct val="120000"/>
              </a:lnSpc>
            </a:pPr>
            <a:r>
              <a:rPr lang="en-US" altLang="zh-CN" sz="2400" dirty="0"/>
              <a:t>Honeywell</a:t>
            </a:r>
            <a:r>
              <a:rPr lang="zh-CN" altLang="en-US" sz="2400" dirty="0"/>
              <a:t>公司的</a:t>
            </a:r>
            <a:r>
              <a:rPr lang="en-US" altLang="zh-CN" sz="2400" dirty="0"/>
              <a:t>IDS/2</a:t>
            </a:r>
            <a:endParaRPr lang="en-US" altLang="zh-CN" sz="2400" dirty="0"/>
          </a:p>
          <a:p>
            <a:pPr lvl="1" algn="just" eaLnBrk="1" hangingPunct="1">
              <a:lnSpc>
                <a:spcPct val="120000"/>
              </a:lnSpc>
            </a:pPr>
            <a:r>
              <a:rPr lang="en-US" altLang="zh-CN" sz="2400" dirty="0"/>
              <a:t>HP</a:t>
            </a:r>
            <a:r>
              <a:rPr lang="zh-CN" altLang="en-US" sz="2400" dirty="0"/>
              <a:t>公司的</a:t>
            </a:r>
            <a:r>
              <a:rPr lang="en-US" altLang="zh-CN" sz="2400" dirty="0"/>
              <a:t>IMAGE</a:t>
            </a:r>
            <a:endParaRPr lang="en-US" altLang="zh-CN" sz="24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6915" name="Rectangle 2"/>
          <p:cNvSpPr/>
          <p:nvPr/>
        </p:nvSpPr>
        <p:spPr>
          <a:xfrm>
            <a:off x="977900" y="5622925"/>
            <a:ext cx="7848600" cy="7620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66916" name="Rectangle 3"/>
          <p:cNvSpPr>
            <a:spLocks noGrp="1"/>
          </p:cNvSpPr>
          <p:nvPr>
            <p:ph type="title"/>
          </p:nvPr>
        </p:nvSpPr>
        <p:spPr>
          <a:ln/>
        </p:spPr>
        <p:txBody>
          <a:bodyPr vert="horz" wrap="square" lIns="91440" tIns="45720" rIns="91440" bIns="45720" anchor="ctr" anchorCtr="0"/>
          <a:p>
            <a:pPr eaLnBrk="1" hangingPunct="1"/>
            <a:r>
              <a:rPr lang="en-US" altLang="zh-CN" dirty="0"/>
              <a:t>1.2 </a:t>
            </a:r>
            <a:r>
              <a:rPr lang="zh-CN" altLang="en-US" dirty="0"/>
              <a:t>数据模型</a:t>
            </a:r>
            <a:endParaRPr lang="zh-CN" altLang="en-US" dirty="0"/>
          </a:p>
        </p:txBody>
      </p:sp>
      <p:sp>
        <p:nvSpPr>
          <p:cNvPr id="166917" name="Rectangle 4"/>
          <p:cNvSpPr>
            <a:spLocks noGrp="1"/>
          </p:cNvSpPr>
          <p:nvPr>
            <p:ph idx="1"/>
          </p:nvPr>
        </p:nvSpPr>
        <p:spPr>
          <a:xfrm>
            <a:off x="990600" y="1143000"/>
            <a:ext cx="7543800" cy="5454650"/>
          </a:xfrm>
          <a:ln/>
        </p:spPr>
        <p:txBody>
          <a:bodyPr vert="horz" wrap="square" lIns="91440" tIns="45720" rIns="91440" bIns="45720" anchor="t" anchorCtr="0"/>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1.2.1  </a:t>
            </a:r>
            <a:r>
              <a:rPr lang="zh-CN" altLang="en-US" dirty="0">
                <a:solidFill>
                  <a:schemeClr val="tx1"/>
                </a:solidFill>
                <a:latin typeface="Arial Narrow" panose="020B0606020202030204" pitchFamily="34" charset="0"/>
                <a:ea typeface="仿宋_GB2312" pitchFamily="49" charset="-122"/>
              </a:rPr>
              <a:t>两大类数据模型</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1.2.2  </a:t>
            </a:r>
            <a:r>
              <a:rPr lang="zh-CN" altLang="en-US" dirty="0">
                <a:solidFill>
                  <a:schemeClr val="tx1"/>
                </a:solidFill>
                <a:latin typeface="Arial Narrow" panose="020B0606020202030204" pitchFamily="34" charset="0"/>
                <a:ea typeface="仿宋_GB2312" pitchFamily="49" charset="-122"/>
              </a:rPr>
              <a:t>数据模型的组成要素</a:t>
            </a:r>
            <a:endParaRPr lang="zh-CN" altLang="en-US" dirty="0">
              <a:solidFill>
                <a:schemeClr val="tx1"/>
              </a:solidFill>
              <a:latin typeface="Arial Narrow" panose="020B0606020202030204" pitchFamily="34" charset="0"/>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1.2.3</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概念模型</a:t>
            </a:r>
            <a:endParaRPr lang="zh-CN" altLang="en-US" dirty="0">
              <a:solidFill>
                <a:schemeClr val="tx1"/>
              </a:solidFill>
              <a:latin typeface="仿宋_GB2312" pitchFamily="49" charset="-122"/>
              <a:ea typeface="仿宋_GB2312" pitchFamily="49" charset="-122"/>
            </a:endParaRPr>
          </a:p>
          <a:p>
            <a:pPr algn="just"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1.2.4</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最常用的数据模型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1.2.5</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层次模型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tx1"/>
                </a:solidFill>
                <a:latin typeface="Arial Narrow" panose="020B0606020202030204" pitchFamily="34" charset="0"/>
                <a:ea typeface="仿宋_GB2312" pitchFamily="49" charset="-122"/>
              </a:rPr>
              <a:t>1.2.6</a:t>
            </a:r>
            <a:r>
              <a:rPr lang="en-US" altLang="zh-CN" dirty="0">
                <a:solidFill>
                  <a:schemeClr val="tx1"/>
                </a:solidFill>
                <a:latin typeface="仿宋_GB2312" pitchFamily="49" charset="-122"/>
                <a:ea typeface="仿宋_GB2312" pitchFamily="49" charset="-122"/>
              </a:rPr>
              <a:t> </a:t>
            </a:r>
            <a:r>
              <a:rPr lang="zh-CN" altLang="en-US" dirty="0">
                <a:solidFill>
                  <a:schemeClr val="tx1"/>
                </a:solidFill>
                <a:latin typeface="仿宋_GB2312" pitchFamily="49" charset="-122"/>
                <a:ea typeface="仿宋_GB2312" pitchFamily="49" charset="-122"/>
              </a:rPr>
              <a:t>网状模型</a:t>
            </a:r>
            <a:endParaRPr lang="zh-CN" altLang="en-US" dirty="0">
              <a:solidFill>
                <a:schemeClr val="tx1"/>
              </a:solidFill>
              <a:latin typeface="仿宋_GB2312" pitchFamily="49" charset="-122"/>
              <a:ea typeface="仿宋_GB2312" pitchFamily="49" charset="-122"/>
            </a:endParaRPr>
          </a:p>
          <a:p>
            <a:pPr eaLnBrk="1" hangingPunct="1">
              <a:lnSpc>
                <a:spcPct val="150000"/>
              </a:lnSpc>
              <a:spcBef>
                <a:spcPct val="0"/>
              </a:spcBef>
              <a:buClrTx/>
              <a:buNone/>
            </a:pPr>
            <a:r>
              <a:rPr lang="en-US" altLang="zh-CN" dirty="0">
                <a:solidFill>
                  <a:schemeClr val="bg1"/>
                </a:solidFill>
                <a:latin typeface="Arial Narrow" panose="020B0606020202030204" pitchFamily="34" charset="0"/>
                <a:ea typeface="仿宋_GB2312" pitchFamily="49" charset="-122"/>
              </a:rPr>
              <a:t>1.2.7</a:t>
            </a:r>
            <a:r>
              <a:rPr lang="en-US" altLang="zh-CN" dirty="0">
                <a:solidFill>
                  <a:schemeClr val="bg1"/>
                </a:solidFill>
                <a:latin typeface="仿宋_GB2312" pitchFamily="49" charset="-122"/>
                <a:ea typeface="仿宋_GB2312" pitchFamily="49" charset="-122"/>
              </a:rPr>
              <a:t> </a:t>
            </a:r>
            <a:r>
              <a:rPr lang="zh-CN" altLang="en-US" dirty="0">
                <a:solidFill>
                  <a:schemeClr val="bg1"/>
                </a:solidFill>
                <a:latin typeface="仿宋_GB2312" pitchFamily="49" charset="-122"/>
                <a:ea typeface="仿宋_GB2312" pitchFamily="49" charset="-122"/>
              </a:rPr>
              <a:t>关系模型</a:t>
            </a:r>
            <a:endParaRPr lang="zh-CN" altLang="en-US" dirty="0">
              <a:solidFill>
                <a:schemeClr val="bg1"/>
              </a:solidFill>
              <a:latin typeface="仿宋_GB2312" pitchFamily="49" charset="-122"/>
              <a:ea typeface="仿宋_GB2312" pitchFamily="49" charset="-122"/>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7939" name="Rectangle 2"/>
          <p:cNvSpPr>
            <a:spLocks noGrp="1"/>
          </p:cNvSpPr>
          <p:nvPr>
            <p:ph type="title"/>
          </p:nvPr>
        </p:nvSpPr>
        <p:spPr>
          <a:ln/>
        </p:spPr>
        <p:txBody>
          <a:bodyPr vert="horz" wrap="square" lIns="91440" tIns="45720" rIns="91440" bIns="45720" anchor="ctr" anchorCtr="0"/>
          <a:p>
            <a:pPr eaLnBrk="1" hangingPunct="1"/>
            <a:r>
              <a:rPr lang="en-US" altLang="zh-CN" dirty="0"/>
              <a:t>1.2.7  </a:t>
            </a:r>
            <a:r>
              <a:rPr lang="zh-CN" altLang="en-US" dirty="0"/>
              <a:t>关系模型</a:t>
            </a:r>
            <a:endParaRPr lang="zh-CN" altLang="en-US" dirty="0"/>
          </a:p>
        </p:txBody>
      </p:sp>
      <p:sp>
        <p:nvSpPr>
          <p:cNvPr id="167940" name="Rectangle 3"/>
          <p:cNvSpPr>
            <a:spLocks noGrp="1"/>
          </p:cNvSpPr>
          <p:nvPr>
            <p:ph idx="1"/>
          </p:nvPr>
        </p:nvSpPr>
        <p:spPr>
          <a:xfrm>
            <a:off x="1066800" y="1600200"/>
            <a:ext cx="7315200" cy="4343400"/>
          </a:xfrm>
          <a:ln/>
        </p:spPr>
        <p:txBody>
          <a:bodyPr vert="horz" wrap="square" lIns="91440" tIns="45720" rIns="91440" bIns="45720" anchor="t" anchorCtr="0"/>
          <a:p>
            <a:pPr algn="just" eaLnBrk="1" hangingPunct="1">
              <a:lnSpc>
                <a:spcPct val="120000"/>
              </a:lnSpc>
              <a:buNone/>
            </a:pPr>
            <a:r>
              <a:rPr lang="en-US" altLang="zh-CN" dirty="0"/>
              <a:t>1. </a:t>
            </a:r>
            <a:r>
              <a:rPr lang="zh-CN" altLang="en-US" dirty="0"/>
              <a:t>关系数据模型的数据结构 </a:t>
            </a:r>
            <a:endParaRPr lang="zh-CN" altLang="en-US" dirty="0"/>
          </a:p>
          <a:p>
            <a:pPr algn="just" eaLnBrk="1" hangingPunct="1">
              <a:lnSpc>
                <a:spcPct val="120000"/>
              </a:lnSpc>
              <a:buNone/>
            </a:pPr>
            <a:r>
              <a:rPr lang="en-US" altLang="zh-CN" dirty="0"/>
              <a:t>2. </a:t>
            </a:r>
            <a:r>
              <a:rPr lang="zh-CN" altLang="en-US" dirty="0"/>
              <a:t>关系数据模型的数据操纵</a:t>
            </a:r>
            <a:endParaRPr lang="zh-CN" altLang="en-US" dirty="0"/>
          </a:p>
          <a:p>
            <a:pPr algn="just" eaLnBrk="1" hangingPunct="1">
              <a:lnSpc>
                <a:spcPct val="120000"/>
              </a:lnSpc>
              <a:buNone/>
            </a:pPr>
            <a:r>
              <a:rPr lang="en-US" altLang="zh-CN" dirty="0"/>
              <a:t>3. </a:t>
            </a:r>
            <a:r>
              <a:rPr lang="zh-CN" altLang="en-US" dirty="0"/>
              <a:t>关系数据模型的与完整性约束 </a:t>
            </a:r>
            <a:endParaRPr lang="zh-CN" altLang="en-US" dirty="0"/>
          </a:p>
          <a:p>
            <a:pPr algn="just" eaLnBrk="1" hangingPunct="1">
              <a:lnSpc>
                <a:spcPct val="120000"/>
              </a:lnSpc>
              <a:buNone/>
            </a:pPr>
            <a:r>
              <a:rPr lang="en-US" altLang="zh-CN" dirty="0"/>
              <a:t>4. </a:t>
            </a:r>
            <a:r>
              <a:rPr lang="zh-CN" altLang="en-US" dirty="0"/>
              <a:t>关系数据模型的存储结构 </a:t>
            </a:r>
            <a:endParaRPr lang="zh-CN" altLang="en-US" dirty="0"/>
          </a:p>
          <a:p>
            <a:pPr algn="just" eaLnBrk="1" hangingPunct="1">
              <a:lnSpc>
                <a:spcPct val="120000"/>
              </a:lnSpc>
              <a:buNone/>
            </a:pPr>
            <a:r>
              <a:rPr lang="en-US" altLang="zh-CN" dirty="0"/>
              <a:t>5. </a:t>
            </a:r>
            <a:r>
              <a:rPr lang="zh-CN" altLang="en-US" dirty="0"/>
              <a:t>关系数据模型的优缺点 </a:t>
            </a:r>
            <a:endParaRPr lang="zh-CN" altLang="en-US" dirty="0"/>
          </a:p>
          <a:p>
            <a:pPr algn="just" eaLnBrk="1" hangingPunct="1">
              <a:lnSpc>
                <a:spcPct val="120000"/>
              </a:lnSpc>
              <a:buNone/>
            </a:pPr>
            <a:r>
              <a:rPr lang="en-US" altLang="zh-CN" dirty="0"/>
              <a:t>6. </a:t>
            </a:r>
            <a:r>
              <a:rPr lang="zh-CN" altLang="en-US" dirty="0"/>
              <a:t>典型的关系数据库系统</a:t>
            </a:r>
            <a:endParaRPr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8963"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68964" name="Rectangle 3"/>
          <p:cNvSpPr>
            <a:spLocks noGrp="1"/>
          </p:cNvSpPr>
          <p:nvPr>
            <p:ph idx="1"/>
          </p:nvPr>
        </p:nvSpPr>
        <p:spPr>
          <a:xfrm>
            <a:off x="762000" y="1066800"/>
            <a:ext cx="7315200" cy="4343400"/>
          </a:xfrm>
          <a:ln/>
        </p:spPr>
        <p:txBody>
          <a:bodyPr vert="horz" wrap="square" lIns="91440" tIns="45720" rIns="91440" bIns="45720" anchor="t" anchorCtr="0"/>
          <a:p>
            <a:pPr algn="just" eaLnBrk="1" hangingPunct="1">
              <a:lnSpc>
                <a:spcPct val="140000"/>
              </a:lnSpc>
            </a:pPr>
            <a:r>
              <a:rPr lang="zh-CN" altLang="en-US" dirty="0">
                <a:solidFill>
                  <a:schemeClr val="tx1"/>
                </a:solidFill>
              </a:rPr>
              <a:t>最重要的一种数据模型。也是目前主要采用的数据模型</a:t>
            </a:r>
            <a:endParaRPr lang="zh-CN" altLang="en-US" dirty="0">
              <a:solidFill>
                <a:schemeClr val="tx1"/>
              </a:solidFill>
            </a:endParaRPr>
          </a:p>
          <a:p>
            <a:pPr algn="just" eaLnBrk="1" hangingPunct="1">
              <a:lnSpc>
                <a:spcPct val="140000"/>
              </a:lnSpc>
            </a:pPr>
            <a:r>
              <a:rPr lang="en-US" altLang="zh-CN" dirty="0">
                <a:solidFill>
                  <a:schemeClr val="tx1"/>
                </a:solidFill>
              </a:rPr>
              <a:t>1970</a:t>
            </a:r>
            <a:r>
              <a:rPr lang="zh-CN" altLang="en-US" dirty="0">
                <a:solidFill>
                  <a:schemeClr val="tx1"/>
                </a:solidFill>
              </a:rPr>
              <a:t>年由美国</a:t>
            </a:r>
            <a:r>
              <a:rPr lang="en-US" altLang="zh-CN" dirty="0">
                <a:solidFill>
                  <a:schemeClr val="tx1"/>
                </a:solidFill>
              </a:rPr>
              <a:t>IBM</a:t>
            </a:r>
            <a:r>
              <a:rPr lang="zh-CN" altLang="en-US" dirty="0">
                <a:solidFill>
                  <a:schemeClr val="tx1"/>
                </a:solidFill>
              </a:rPr>
              <a:t>公司</a:t>
            </a:r>
            <a:r>
              <a:rPr lang="en-US" altLang="zh-CN" dirty="0">
                <a:solidFill>
                  <a:schemeClr val="tx1"/>
                </a:solidFill>
              </a:rPr>
              <a:t>San Jose</a:t>
            </a:r>
            <a:r>
              <a:rPr lang="zh-CN" altLang="en-US" dirty="0">
                <a:solidFill>
                  <a:schemeClr val="tx1"/>
                </a:solidFill>
              </a:rPr>
              <a:t>研究室的研究员</a:t>
            </a:r>
            <a:r>
              <a:rPr lang="en-US" altLang="zh-CN" dirty="0">
                <a:solidFill>
                  <a:schemeClr val="tx1"/>
                </a:solidFill>
              </a:rPr>
              <a:t>E.F.Codd</a:t>
            </a:r>
            <a:r>
              <a:rPr lang="zh-CN" altLang="en-US" dirty="0">
                <a:solidFill>
                  <a:schemeClr val="tx1"/>
                </a:solidFill>
              </a:rPr>
              <a:t>提出</a:t>
            </a:r>
            <a:endParaRPr lang="zh-CN" altLang="en-US" dirty="0">
              <a:solidFill>
                <a:schemeClr val="tx1"/>
              </a:solidFill>
            </a:endParaRPr>
          </a:p>
          <a:p>
            <a:pPr algn="just" eaLnBrk="1" hangingPunct="1">
              <a:lnSpc>
                <a:spcPct val="140000"/>
              </a:lnSpc>
            </a:pPr>
            <a:r>
              <a:rPr lang="zh-CN" altLang="en-US" dirty="0">
                <a:solidFill>
                  <a:schemeClr val="tx1"/>
                </a:solidFill>
              </a:rPr>
              <a:t>本课程的重点</a:t>
            </a:r>
            <a:endParaRPr lang="zh-CN" altLang="en-US" dirty="0">
              <a:solidFill>
                <a:schemeClr val="tx1"/>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9987"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69988" name="Rectangle 3"/>
          <p:cNvSpPr>
            <a:spLocks noGrp="1"/>
          </p:cNvSpPr>
          <p:nvPr>
            <p:ph idx="1"/>
          </p:nvPr>
        </p:nvSpPr>
        <p:spPr>
          <a:xfrm>
            <a:off x="762000" y="901700"/>
            <a:ext cx="7543800" cy="2451100"/>
          </a:xfrm>
          <a:ln/>
        </p:spPr>
        <p:txBody>
          <a:bodyPr vert="horz" wrap="square" lIns="91440" tIns="45720" rIns="91440" bIns="45720" anchor="t" anchorCtr="0"/>
          <a:p>
            <a:pPr algn="just" eaLnBrk="1" hangingPunct="1">
              <a:lnSpc>
                <a:spcPct val="120000"/>
              </a:lnSpc>
              <a:buNone/>
            </a:pPr>
            <a:r>
              <a:rPr lang="en-US" altLang="zh-CN" dirty="0"/>
              <a:t>1. </a:t>
            </a:r>
            <a:r>
              <a:rPr lang="zh-CN" altLang="en-US" dirty="0"/>
              <a:t>关系数据模型的数据结构 </a:t>
            </a:r>
            <a:endParaRPr lang="zh-CN" altLang="en-US" dirty="0"/>
          </a:p>
          <a:p>
            <a:pPr>
              <a:spcBef>
                <a:spcPct val="0"/>
              </a:spcBef>
              <a:buClr>
                <a:srgbClr val="FF0000"/>
              </a:buClr>
            </a:pPr>
            <a:r>
              <a:rPr lang="zh-CN" altLang="en-US" sz="2400" dirty="0">
                <a:solidFill>
                  <a:schemeClr val="accent2"/>
                </a:solidFill>
              </a:rPr>
              <a:t>在用户观点下，关系模型中数据的逻辑结构是一张二维表，它由行和列组成。</a:t>
            </a:r>
            <a:r>
              <a:rPr lang="zh-CN" altLang="en-US" sz="2400" dirty="0">
                <a:solidFill>
                  <a:schemeClr val="accent2"/>
                </a:solidFill>
                <a:latin typeface="华文新魏" panose="02010800040101010101" pitchFamily="2" charset="-122"/>
              </a:rPr>
              <a:t>列表示属性</a:t>
            </a:r>
            <a:r>
              <a:rPr lang="zh-CN" altLang="en-US" sz="2400" dirty="0">
                <a:solidFill>
                  <a:schemeClr val="accent2"/>
                </a:solidFill>
                <a:latin typeface="华文新魏" panose="02010800040101010101" pitchFamily="2" charset="-122"/>
                <a:ea typeface="楷体_GB2312" pitchFamily="49" charset="-122"/>
              </a:rPr>
              <a:t>，</a:t>
            </a:r>
            <a:r>
              <a:rPr lang="zh-CN" altLang="en-US" sz="2400" dirty="0">
                <a:solidFill>
                  <a:schemeClr val="accent2"/>
                </a:solidFill>
                <a:latin typeface="华文新魏" panose="02010800040101010101" pitchFamily="2" charset="-122"/>
              </a:rPr>
              <a:t>表间的特定冗余列信息表示实体间的联系</a:t>
            </a:r>
            <a:endParaRPr lang="zh-CN" altLang="en-US" b="0" dirty="0">
              <a:latin typeface="华文新魏" panose="02010800040101010101" pitchFamily="2" charset="-122"/>
            </a:endParaRPr>
          </a:p>
        </p:txBody>
      </p:sp>
      <p:graphicFrame>
        <p:nvGraphicFramePr>
          <p:cNvPr id="169989" name="Object 4"/>
          <p:cNvGraphicFramePr>
            <a:graphicFrameLocks noChangeAspect="1"/>
          </p:cNvGraphicFramePr>
          <p:nvPr/>
        </p:nvGraphicFramePr>
        <p:xfrm>
          <a:off x="914400" y="2451100"/>
          <a:ext cx="7391400" cy="4195763"/>
        </p:xfrm>
        <a:graphic>
          <a:graphicData uri="http://schemas.openxmlformats.org/presentationml/2006/ole">
            <mc:AlternateContent xmlns:mc="http://schemas.openxmlformats.org/markup-compatibility/2006">
              <mc:Choice xmlns:v="urn:schemas-microsoft-com:vml" Requires="v">
                <p:oleObj spid="_x0000_s3083" name="" r:id="rId1" imgW="3401695" imgH="1677670" progId="Word.Document.8">
                  <p:embed/>
                </p:oleObj>
              </mc:Choice>
              <mc:Fallback>
                <p:oleObj name="" r:id="rId1" imgW="3401695" imgH="1677670" progId="Word.Document.8">
                  <p:embed/>
                  <p:pic>
                    <p:nvPicPr>
                      <p:cNvPr id="0" name="Picture 3082"/>
                      <p:cNvPicPr/>
                      <p:nvPr/>
                    </p:nvPicPr>
                    <p:blipFill>
                      <a:blip r:embed="rId2"/>
                      <a:stretch>
                        <a:fillRect/>
                      </a:stretch>
                    </p:blipFill>
                    <p:spPr>
                      <a:xfrm>
                        <a:off x="914400" y="2451100"/>
                        <a:ext cx="7391400" cy="4195763"/>
                      </a:xfrm>
                      <a:prstGeom prst="rect">
                        <a:avLst/>
                      </a:prstGeom>
                      <a:noFill/>
                      <a:ln w="38100">
                        <a:noFill/>
                        <a:miter/>
                      </a:ln>
                    </p:spPr>
                  </p:pic>
                </p:oleObj>
              </mc:Fallback>
            </mc:AlternateContent>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1011"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graphicFrame>
        <p:nvGraphicFramePr>
          <p:cNvPr id="468995" name="Group 3"/>
          <p:cNvGraphicFramePr>
            <a:graphicFrameLocks noGrp="1"/>
          </p:cNvGraphicFramePr>
          <p:nvPr/>
        </p:nvGraphicFramePr>
        <p:xfrm>
          <a:off x="685800" y="1143000"/>
          <a:ext cx="3048000" cy="2063750"/>
        </p:xfrm>
        <a:graphic>
          <a:graphicData uri="http://schemas.openxmlformats.org/drawingml/2006/table">
            <a:tbl>
              <a:tblPr/>
              <a:tblGrid>
                <a:gridCol w="762000"/>
                <a:gridCol w="762000"/>
                <a:gridCol w="762000"/>
                <a:gridCol w="762000"/>
              </a:tblGrid>
              <a:tr h="43186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学号</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姓名</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性别</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系别</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0101</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张</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男</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8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0102</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李</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女</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0203</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赵</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男</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MA</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69027" name="Group 35"/>
          <p:cNvGraphicFramePr>
            <a:graphicFrameLocks noGrp="1"/>
          </p:cNvGraphicFramePr>
          <p:nvPr/>
        </p:nvGraphicFramePr>
        <p:xfrm>
          <a:off x="5715000" y="1143000"/>
          <a:ext cx="2895600" cy="2063750"/>
        </p:xfrm>
        <a:graphic>
          <a:graphicData uri="http://schemas.openxmlformats.org/drawingml/2006/table">
            <a:tbl>
              <a:tblPr/>
              <a:tblGrid>
                <a:gridCol w="762000"/>
                <a:gridCol w="2133600"/>
              </a:tblGrid>
              <a:tr h="43186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系号</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系名</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计算机</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8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EN</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英语</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MA</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数学系</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69047" name="Group 55"/>
          <p:cNvGraphicFramePr>
            <a:graphicFrameLocks noGrp="1"/>
          </p:cNvGraphicFramePr>
          <p:nvPr/>
        </p:nvGraphicFramePr>
        <p:xfrm>
          <a:off x="5486400" y="4191000"/>
          <a:ext cx="2895600" cy="2063750"/>
        </p:xfrm>
        <a:graphic>
          <a:graphicData uri="http://schemas.openxmlformats.org/drawingml/2006/table">
            <a:tbl>
              <a:tblPr/>
              <a:tblGrid>
                <a:gridCol w="914400"/>
                <a:gridCol w="1981200"/>
              </a:tblGrid>
              <a:tr h="43186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课号</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课名</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CS145</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数据库</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8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CS148</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操作系统</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CS180</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数据结构</a:t>
                      </a:r>
                      <a:endParaRPr kumimoji="1" lang="zh-CN"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69067" name="Group 75"/>
          <p:cNvGraphicFramePr>
            <a:graphicFrameLocks noGrp="1"/>
          </p:cNvGraphicFramePr>
          <p:nvPr/>
        </p:nvGraphicFramePr>
        <p:xfrm>
          <a:off x="762000" y="4114800"/>
          <a:ext cx="2895600" cy="2063750"/>
        </p:xfrm>
        <a:graphic>
          <a:graphicData uri="http://schemas.openxmlformats.org/drawingml/2006/table">
            <a:tbl>
              <a:tblPr/>
              <a:tblGrid>
                <a:gridCol w="762000"/>
                <a:gridCol w="1143000"/>
                <a:gridCol w="990600"/>
              </a:tblGrid>
              <a:tr h="43186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学号</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课号</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成绩</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0101</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CS145</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88</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8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0101</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CS148</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90</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0102</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CS180</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87</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0203</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CS145</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78</a:t>
                      </a:r>
                      <a:endParaRPr kumimoji="1" lang="en-US" altLang="zh-CN" sz="20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cxnSp>
        <p:nvCxnSpPr>
          <p:cNvPr id="171110" name="AutoShape 101"/>
          <p:cNvCxnSpPr/>
          <p:nvPr/>
        </p:nvCxnSpPr>
        <p:spPr>
          <a:xfrm rot="5400000" flipV="1">
            <a:off x="4722813" y="-227012"/>
            <a:ext cx="1587" cy="2743200"/>
          </a:xfrm>
          <a:prstGeom prst="curvedConnector3">
            <a:avLst>
              <a:gd name="adj1" fmla="val -14400000"/>
            </a:avLst>
          </a:prstGeom>
          <a:ln w="9525" cap="flat" cmpd="sng">
            <a:solidFill>
              <a:schemeClr val="tx1"/>
            </a:solidFill>
            <a:prstDash val="solid"/>
            <a:headEnd type="none" w="med" len="med"/>
            <a:tailEnd type="triangle" w="med" len="med"/>
          </a:ln>
        </p:spPr>
      </p:cxnSp>
      <p:cxnSp>
        <p:nvCxnSpPr>
          <p:cNvPr id="171111" name="AutoShape 102"/>
          <p:cNvCxnSpPr/>
          <p:nvPr/>
        </p:nvCxnSpPr>
        <p:spPr>
          <a:xfrm rot="5400000" flipH="1">
            <a:off x="-463550" y="2508250"/>
            <a:ext cx="2755900" cy="457200"/>
          </a:xfrm>
          <a:prstGeom prst="curvedConnector4">
            <a:avLst>
              <a:gd name="adj1" fmla="val 7949"/>
              <a:gd name="adj2" fmla="val 150000"/>
            </a:avLst>
          </a:prstGeom>
          <a:ln w="9525" cap="flat" cmpd="sng">
            <a:solidFill>
              <a:schemeClr val="tx1"/>
            </a:solidFill>
            <a:prstDash val="solid"/>
            <a:headEnd type="none" w="med" len="med"/>
            <a:tailEnd type="triangle" w="med" len="med"/>
          </a:ln>
        </p:spPr>
      </p:cxnSp>
      <p:cxnSp>
        <p:nvCxnSpPr>
          <p:cNvPr id="171112" name="AutoShape 103"/>
          <p:cNvCxnSpPr/>
          <p:nvPr/>
        </p:nvCxnSpPr>
        <p:spPr>
          <a:xfrm rot="5400000" flipV="1">
            <a:off x="3981450" y="2228850"/>
            <a:ext cx="76200" cy="3848100"/>
          </a:xfrm>
          <a:prstGeom prst="curvedConnector3">
            <a:avLst>
              <a:gd name="adj1" fmla="val -300000"/>
            </a:avLst>
          </a:prstGeom>
          <a:ln w="9525" cap="flat" cmpd="sng">
            <a:solidFill>
              <a:schemeClr val="tx1"/>
            </a:solidFill>
            <a:prstDash val="solid"/>
            <a:headEnd type="none" w="med" len="med"/>
            <a:tailEnd type="triangle" w="med" len="med"/>
          </a:ln>
        </p:spPr>
      </p:cxn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2035"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2036" name="Rectangle 3"/>
          <p:cNvSpPr>
            <a:spLocks noGrp="1"/>
          </p:cNvSpPr>
          <p:nvPr>
            <p:ph idx="1"/>
          </p:nvPr>
        </p:nvSpPr>
        <p:spPr>
          <a:xfrm>
            <a:off x="457200" y="914400"/>
            <a:ext cx="8229600" cy="5257800"/>
          </a:xfrm>
          <a:ln/>
        </p:spPr>
        <p:txBody>
          <a:bodyPr vert="horz" wrap="square" lIns="91440" tIns="45720" rIns="91440" bIns="45720" anchor="t" anchorCtr="0"/>
          <a:p>
            <a:pPr algn="just" eaLnBrk="1" hangingPunct="1">
              <a:lnSpc>
                <a:spcPct val="130000"/>
              </a:lnSpc>
            </a:pPr>
            <a:r>
              <a:rPr lang="zh-CN" altLang="en-US" dirty="0"/>
              <a:t>关系模型的基本概念</a:t>
            </a:r>
            <a:endParaRPr lang="zh-CN" altLang="en-US" dirty="0"/>
          </a:p>
          <a:p>
            <a:pPr lvl="1" algn="just" eaLnBrk="1" hangingPunct="1">
              <a:lnSpc>
                <a:spcPct val="130000"/>
              </a:lnSpc>
            </a:pPr>
            <a:r>
              <a:rPr lang="zh-CN" altLang="en-US" dirty="0"/>
              <a:t>关系（</a:t>
            </a:r>
            <a:r>
              <a:rPr lang="en-US" altLang="zh-CN" dirty="0"/>
              <a:t>Relation</a:t>
            </a:r>
            <a:r>
              <a:rPr lang="zh-CN" altLang="en-US" dirty="0"/>
              <a:t>）</a:t>
            </a:r>
            <a:endParaRPr lang="zh-CN" altLang="en-US" dirty="0"/>
          </a:p>
          <a:p>
            <a:pPr lvl="2" algn="just" eaLnBrk="1" hangingPunct="1">
              <a:lnSpc>
                <a:spcPct val="130000"/>
              </a:lnSpc>
              <a:buNone/>
            </a:pPr>
            <a:r>
              <a:rPr lang="zh-CN" altLang="en-US" dirty="0"/>
              <a:t>一个关系对应通常说的一张表。</a:t>
            </a:r>
            <a:endParaRPr lang="zh-CN" altLang="en-US" dirty="0"/>
          </a:p>
          <a:p>
            <a:pPr lvl="1" algn="just" eaLnBrk="1" hangingPunct="1">
              <a:lnSpc>
                <a:spcPct val="130000"/>
              </a:lnSpc>
            </a:pPr>
            <a:r>
              <a:rPr lang="zh-CN" altLang="en-US" dirty="0"/>
              <a:t>元组（</a:t>
            </a:r>
            <a:r>
              <a:rPr lang="en-US" altLang="zh-CN" dirty="0"/>
              <a:t>Tuple</a:t>
            </a:r>
            <a:r>
              <a:rPr lang="zh-CN" altLang="en-US" dirty="0"/>
              <a:t>）</a:t>
            </a:r>
            <a:endParaRPr lang="zh-CN" altLang="en-US" dirty="0"/>
          </a:p>
          <a:p>
            <a:pPr lvl="2" algn="just" eaLnBrk="1" hangingPunct="1">
              <a:lnSpc>
                <a:spcPct val="130000"/>
              </a:lnSpc>
              <a:buNone/>
            </a:pPr>
            <a:r>
              <a:rPr lang="zh-CN" altLang="en-US" dirty="0"/>
              <a:t>表中的一行即为一个元组。</a:t>
            </a:r>
            <a:endParaRPr lang="zh-CN" altLang="en-US" dirty="0"/>
          </a:p>
          <a:p>
            <a:pPr lvl="1" algn="just" eaLnBrk="1" hangingPunct="1">
              <a:lnSpc>
                <a:spcPct val="130000"/>
              </a:lnSpc>
            </a:pPr>
            <a:r>
              <a:rPr lang="zh-CN" altLang="en-US" dirty="0"/>
              <a:t>属性（</a:t>
            </a:r>
            <a:r>
              <a:rPr lang="en-US" altLang="zh-CN" dirty="0"/>
              <a:t>Attribute</a:t>
            </a:r>
            <a:r>
              <a:rPr lang="zh-CN" altLang="en-US" dirty="0"/>
              <a:t>）</a:t>
            </a:r>
            <a:endParaRPr lang="zh-CN" altLang="en-US" dirty="0"/>
          </a:p>
          <a:p>
            <a:pPr lvl="2" algn="just" eaLnBrk="1" hangingPunct="1">
              <a:lnSpc>
                <a:spcPct val="130000"/>
              </a:lnSpc>
              <a:buNone/>
            </a:pPr>
            <a:r>
              <a:rPr lang="zh-CN" altLang="en-US" dirty="0"/>
              <a:t>表中的一列即为一个属性，给每一个属性起一个名称即属性名。</a:t>
            </a:r>
            <a:endParaRPr lang="zh-CN" alt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3059"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3060" name="Rectangle 3"/>
          <p:cNvSpPr>
            <a:spLocks noGrp="1"/>
          </p:cNvSpPr>
          <p:nvPr>
            <p:ph idx="1"/>
          </p:nvPr>
        </p:nvSpPr>
        <p:spPr>
          <a:xfrm>
            <a:off x="457200" y="914400"/>
            <a:ext cx="8305800" cy="5486400"/>
          </a:xfrm>
          <a:ln/>
        </p:spPr>
        <p:txBody>
          <a:bodyPr vert="horz" wrap="square" lIns="91440" tIns="45720" rIns="91440" bIns="45720" anchor="t" anchorCtr="0"/>
          <a:p>
            <a:pPr algn="just" eaLnBrk="1" hangingPunct="1">
              <a:lnSpc>
                <a:spcPct val="130000"/>
              </a:lnSpc>
            </a:pPr>
            <a:r>
              <a:rPr lang="zh-CN" altLang="en-US" dirty="0"/>
              <a:t>关系模型的基本概念</a:t>
            </a:r>
            <a:r>
              <a:rPr lang="en-US" altLang="zh-CN" dirty="0"/>
              <a:t>(</a:t>
            </a:r>
            <a:r>
              <a:rPr lang="zh-CN" altLang="en-US" dirty="0"/>
              <a:t>续</a:t>
            </a:r>
            <a:r>
              <a:rPr lang="en-US" altLang="zh-CN" dirty="0"/>
              <a:t>)</a:t>
            </a:r>
            <a:endParaRPr lang="en-US" altLang="zh-CN" dirty="0"/>
          </a:p>
          <a:p>
            <a:pPr lvl="1" algn="just" eaLnBrk="1" hangingPunct="1">
              <a:lnSpc>
                <a:spcPct val="90000"/>
              </a:lnSpc>
            </a:pPr>
            <a:r>
              <a:rPr lang="zh-CN" altLang="en-US" dirty="0"/>
              <a:t>主码（</a:t>
            </a:r>
            <a:r>
              <a:rPr lang="en-US" altLang="zh-CN" dirty="0"/>
              <a:t>Key</a:t>
            </a:r>
            <a:r>
              <a:rPr lang="zh-CN" altLang="en-US" dirty="0"/>
              <a:t>）</a:t>
            </a:r>
            <a:endParaRPr lang="zh-CN" altLang="en-US" dirty="0"/>
          </a:p>
          <a:p>
            <a:pPr lvl="2" algn="just" eaLnBrk="1" hangingPunct="1">
              <a:lnSpc>
                <a:spcPct val="90000"/>
              </a:lnSpc>
              <a:buNone/>
            </a:pPr>
            <a:r>
              <a:rPr lang="zh-CN" altLang="en-US" dirty="0"/>
              <a:t>表中的某个属性组，它可以唯一确定一个元组。</a:t>
            </a:r>
            <a:endParaRPr lang="zh-CN" altLang="en-US" dirty="0"/>
          </a:p>
          <a:p>
            <a:pPr lvl="1" algn="just" eaLnBrk="1" hangingPunct="1">
              <a:lnSpc>
                <a:spcPct val="90000"/>
              </a:lnSpc>
            </a:pPr>
            <a:r>
              <a:rPr lang="zh-CN" altLang="en-US" dirty="0"/>
              <a:t>域（</a:t>
            </a:r>
            <a:r>
              <a:rPr lang="en-US" altLang="zh-CN" dirty="0"/>
              <a:t>Domain</a:t>
            </a:r>
            <a:r>
              <a:rPr lang="zh-CN" altLang="en-US" dirty="0"/>
              <a:t>）</a:t>
            </a:r>
            <a:endParaRPr lang="zh-CN" altLang="en-US" dirty="0"/>
          </a:p>
          <a:p>
            <a:pPr lvl="2" algn="just" eaLnBrk="1" hangingPunct="1">
              <a:lnSpc>
                <a:spcPct val="90000"/>
              </a:lnSpc>
              <a:buNone/>
            </a:pPr>
            <a:r>
              <a:rPr lang="zh-CN" altLang="en-US" dirty="0"/>
              <a:t>属性的取值范围。</a:t>
            </a:r>
            <a:endParaRPr lang="zh-CN" altLang="en-US" dirty="0"/>
          </a:p>
          <a:p>
            <a:pPr lvl="1" algn="just" eaLnBrk="1" hangingPunct="1">
              <a:lnSpc>
                <a:spcPct val="90000"/>
              </a:lnSpc>
            </a:pPr>
            <a:r>
              <a:rPr lang="zh-CN" altLang="en-US" dirty="0"/>
              <a:t>分量</a:t>
            </a:r>
            <a:endParaRPr lang="zh-CN" altLang="en-US" dirty="0"/>
          </a:p>
          <a:p>
            <a:pPr lvl="2" algn="just" eaLnBrk="1" hangingPunct="1">
              <a:lnSpc>
                <a:spcPct val="90000"/>
              </a:lnSpc>
              <a:buNone/>
            </a:pPr>
            <a:r>
              <a:rPr lang="zh-CN" altLang="en-US" dirty="0"/>
              <a:t>元组中的一个属性值。</a:t>
            </a:r>
            <a:endParaRPr lang="zh-CN" altLang="en-US" dirty="0"/>
          </a:p>
          <a:p>
            <a:pPr lvl="1" eaLnBrk="1" hangingPunct="1">
              <a:lnSpc>
                <a:spcPct val="90000"/>
              </a:lnSpc>
            </a:pPr>
            <a:r>
              <a:rPr lang="zh-CN" altLang="en-US" dirty="0"/>
              <a:t>关系模式</a:t>
            </a:r>
            <a:endParaRPr lang="zh-CN" altLang="en-US" dirty="0"/>
          </a:p>
          <a:p>
            <a:pPr lvl="2" eaLnBrk="1" hangingPunct="1">
              <a:lnSpc>
                <a:spcPct val="90000"/>
              </a:lnSpc>
              <a:buNone/>
            </a:pPr>
            <a:r>
              <a:rPr lang="zh-CN" altLang="en-US" sz="2800" dirty="0"/>
              <a:t>对关系的描述</a:t>
            </a:r>
            <a:endParaRPr lang="zh-CN" altLang="en-US" sz="2800" dirty="0"/>
          </a:p>
          <a:p>
            <a:pPr lvl="2" eaLnBrk="1" hangingPunct="1">
              <a:lnSpc>
                <a:spcPct val="90000"/>
              </a:lnSpc>
              <a:buNone/>
            </a:pPr>
            <a:r>
              <a:rPr lang="zh-CN" altLang="en-US" sz="2800" dirty="0">
                <a:solidFill>
                  <a:schemeClr val="accent2"/>
                </a:solidFill>
              </a:rPr>
              <a:t>关系名（属性</a:t>
            </a:r>
            <a:r>
              <a:rPr lang="en-US" altLang="zh-CN" sz="2800" dirty="0">
                <a:solidFill>
                  <a:schemeClr val="accent2"/>
                </a:solidFill>
              </a:rPr>
              <a:t>1</a:t>
            </a:r>
            <a:r>
              <a:rPr lang="zh-CN" altLang="en-US" sz="2800" dirty="0">
                <a:solidFill>
                  <a:schemeClr val="accent2"/>
                </a:solidFill>
              </a:rPr>
              <a:t>，属性</a:t>
            </a:r>
            <a:r>
              <a:rPr lang="en-US" altLang="zh-CN" sz="2800" dirty="0">
                <a:solidFill>
                  <a:schemeClr val="accent2"/>
                </a:solidFill>
              </a:rPr>
              <a:t>2</a:t>
            </a:r>
            <a:r>
              <a:rPr lang="zh-CN" altLang="en-US" sz="2800" dirty="0">
                <a:solidFill>
                  <a:schemeClr val="accent2"/>
                </a:solidFill>
              </a:rPr>
              <a:t>，</a:t>
            </a:r>
            <a:r>
              <a:rPr lang="en-US" altLang="zh-CN" sz="2800" dirty="0">
                <a:solidFill>
                  <a:schemeClr val="accent2"/>
                </a:solidFill>
              </a:rPr>
              <a:t>…</a:t>
            </a:r>
            <a:r>
              <a:rPr lang="zh-CN" altLang="en-US" sz="2800" dirty="0">
                <a:solidFill>
                  <a:schemeClr val="accent2"/>
                </a:solidFill>
              </a:rPr>
              <a:t>，属性</a:t>
            </a:r>
            <a:r>
              <a:rPr lang="en-US" altLang="zh-CN" sz="2800" dirty="0">
                <a:solidFill>
                  <a:schemeClr val="accent2"/>
                </a:solidFill>
              </a:rPr>
              <a:t>n</a:t>
            </a:r>
            <a:r>
              <a:rPr lang="zh-CN" altLang="en-US" sz="2800" dirty="0">
                <a:solidFill>
                  <a:schemeClr val="accent2"/>
                </a:solidFill>
              </a:rPr>
              <a:t>）</a:t>
            </a:r>
            <a:endParaRPr lang="zh-CN" altLang="en-US" sz="2800" dirty="0">
              <a:solidFill>
                <a:schemeClr val="accent2"/>
              </a:solidFill>
            </a:endParaRPr>
          </a:p>
          <a:p>
            <a:pPr lvl="2" eaLnBrk="1" hangingPunct="1">
              <a:lnSpc>
                <a:spcPct val="90000"/>
              </a:lnSpc>
              <a:buNone/>
            </a:pPr>
            <a:r>
              <a:rPr lang="zh-CN" altLang="en-US" dirty="0"/>
              <a:t>学生（学号，姓名，年龄，性别，系，年级）</a:t>
            </a:r>
            <a:endParaRPr lang="zh-CN" alt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083"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4084" name="Rectangle 3"/>
          <p:cNvSpPr>
            <a:spLocks noGrp="1"/>
          </p:cNvSpPr>
          <p:nvPr>
            <p:ph idx="1"/>
          </p:nvPr>
        </p:nvSpPr>
        <p:spPr>
          <a:xfrm>
            <a:off x="457200" y="914400"/>
            <a:ext cx="8305800" cy="762000"/>
          </a:xfrm>
          <a:ln/>
        </p:spPr>
        <p:txBody>
          <a:bodyPr vert="horz" wrap="square" lIns="91440" tIns="45720" rIns="91440" bIns="45720" anchor="t" anchorCtr="0"/>
          <a:p>
            <a:pPr algn="just" eaLnBrk="1" hangingPunct="1">
              <a:lnSpc>
                <a:spcPct val="130000"/>
              </a:lnSpc>
            </a:pPr>
            <a:r>
              <a:rPr lang="zh-CN" altLang="en-US" dirty="0"/>
              <a:t>关系模型的基本概念</a:t>
            </a:r>
            <a:r>
              <a:rPr lang="en-US" altLang="zh-CN" dirty="0"/>
              <a:t>(</a:t>
            </a:r>
            <a:r>
              <a:rPr lang="zh-CN" altLang="en-US" dirty="0"/>
              <a:t>续</a:t>
            </a:r>
            <a:r>
              <a:rPr lang="en-US" altLang="zh-CN" dirty="0"/>
              <a:t>)</a:t>
            </a:r>
            <a:endParaRPr lang="en-US" altLang="zh-CN" dirty="0"/>
          </a:p>
        </p:txBody>
      </p:sp>
      <p:sp>
        <p:nvSpPr>
          <p:cNvPr id="174085" name="Rectangle 4"/>
          <p:cNvSpPr/>
          <p:nvPr/>
        </p:nvSpPr>
        <p:spPr>
          <a:xfrm>
            <a:off x="5562600" y="3060700"/>
            <a:ext cx="1219200" cy="22098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74086" name="Rectangle 5"/>
          <p:cNvSpPr/>
          <p:nvPr/>
        </p:nvSpPr>
        <p:spPr>
          <a:xfrm>
            <a:off x="1676400" y="3784600"/>
            <a:ext cx="6426200" cy="457200"/>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74087" name="AutoShape 6" descr="Large confetti"/>
          <p:cNvSpPr/>
          <p:nvPr/>
        </p:nvSpPr>
        <p:spPr>
          <a:xfrm>
            <a:off x="5791200" y="1917700"/>
            <a:ext cx="609600" cy="533400"/>
          </a:xfrm>
          <a:prstGeom prst="wedgeRoundRectCallout">
            <a:avLst>
              <a:gd name="adj1" fmla="val -8333"/>
              <a:gd name="adj2" fmla="val 175296"/>
              <a:gd name="adj3" fmla="val 16667"/>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2"/>
                </a:solidFill>
                <a:ea typeface="楷体_GB2312" pitchFamily="49" charset="-122"/>
              </a:rPr>
              <a:t>属性</a:t>
            </a:r>
            <a:endParaRPr lang="zh-CN" altLang="en-US" sz="2400" dirty="0">
              <a:solidFill>
                <a:schemeClr val="tx2"/>
              </a:solidFill>
              <a:ea typeface="楷体_GB2312" pitchFamily="49" charset="-122"/>
            </a:endParaRPr>
          </a:p>
        </p:txBody>
      </p:sp>
      <p:sp>
        <p:nvSpPr>
          <p:cNvPr id="174088" name="AutoShape 7" descr="Large confetti"/>
          <p:cNvSpPr/>
          <p:nvPr/>
        </p:nvSpPr>
        <p:spPr>
          <a:xfrm>
            <a:off x="8382000" y="3746500"/>
            <a:ext cx="609600" cy="533400"/>
          </a:xfrm>
          <a:prstGeom prst="wedgeRoundRectCallout">
            <a:avLst>
              <a:gd name="adj1" fmla="val -101565"/>
              <a:gd name="adj2" fmla="val 6847"/>
              <a:gd name="adj3" fmla="val 16667"/>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2"/>
                </a:solidFill>
                <a:ea typeface="楷体_GB2312" pitchFamily="49" charset="-122"/>
              </a:rPr>
              <a:t>元组</a:t>
            </a:r>
            <a:endParaRPr lang="zh-CN" altLang="en-US" sz="4400" b="0" dirty="0">
              <a:solidFill>
                <a:schemeClr val="tx2"/>
              </a:solidFill>
              <a:ea typeface="Arial" panose="020B0604020202020204" pitchFamily="34" charset="0"/>
            </a:endParaRPr>
          </a:p>
        </p:txBody>
      </p:sp>
      <p:sp>
        <p:nvSpPr>
          <p:cNvPr id="174089" name="Rectangle 8"/>
          <p:cNvSpPr/>
          <p:nvPr/>
        </p:nvSpPr>
        <p:spPr>
          <a:xfrm>
            <a:off x="5537200" y="4700588"/>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男</a:t>
            </a:r>
            <a:endParaRPr lang="zh-CN" altLang="en-US" sz="2400" dirty="0">
              <a:ea typeface="Arial" panose="020B0604020202020204" pitchFamily="34" charset="0"/>
            </a:endParaRPr>
          </a:p>
        </p:txBody>
      </p:sp>
      <p:sp>
        <p:nvSpPr>
          <p:cNvPr id="174090" name="Rectangle 9"/>
          <p:cNvSpPr/>
          <p:nvPr/>
        </p:nvSpPr>
        <p:spPr>
          <a:xfrm>
            <a:off x="5537200" y="4244975"/>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女</a:t>
            </a:r>
            <a:endParaRPr lang="zh-CN" altLang="en-US" sz="2400" dirty="0">
              <a:ea typeface="Arial" panose="020B0604020202020204" pitchFamily="34" charset="0"/>
            </a:endParaRPr>
          </a:p>
        </p:txBody>
      </p:sp>
      <p:sp>
        <p:nvSpPr>
          <p:cNvPr id="174091" name="Rectangle 10"/>
          <p:cNvSpPr/>
          <p:nvPr/>
        </p:nvSpPr>
        <p:spPr>
          <a:xfrm>
            <a:off x="5537200" y="3789363"/>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男</a:t>
            </a:r>
            <a:endParaRPr lang="zh-CN" altLang="en-US" sz="2400" dirty="0">
              <a:ea typeface="Arial" panose="020B0604020202020204" pitchFamily="34" charset="0"/>
            </a:endParaRPr>
          </a:p>
        </p:txBody>
      </p:sp>
      <p:sp>
        <p:nvSpPr>
          <p:cNvPr id="174092" name="Rectangle 11"/>
          <p:cNvSpPr/>
          <p:nvPr/>
        </p:nvSpPr>
        <p:spPr>
          <a:xfrm>
            <a:off x="5537200" y="3333750"/>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性别</a:t>
            </a:r>
            <a:endParaRPr lang="zh-CN" altLang="en-US" sz="2400" dirty="0">
              <a:ea typeface="Arial" panose="020B0604020202020204" pitchFamily="34" charset="0"/>
            </a:endParaRPr>
          </a:p>
        </p:txBody>
      </p:sp>
      <p:sp>
        <p:nvSpPr>
          <p:cNvPr id="174093" name="Rectangle 12"/>
          <p:cNvSpPr/>
          <p:nvPr/>
        </p:nvSpPr>
        <p:spPr>
          <a:xfrm>
            <a:off x="4267200" y="4700588"/>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19</a:t>
            </a:r>
            <a:endParaRPr lang="en-US" altLang="zh-CN" sz="2400" dirty="0">
              <a:ea typeface="Arial" panose="020B0604020202020204" pitchFamily="34" charset="0"/>
            </a:endParaRPr>
          </a:p>
        </p:txBody>
      </p:sp>
      <p:sp>
        <p:nvSpPr>
          <p:cNvPr id="174094" name="Rectangle 13"/>
          <p:cNvSpPr/>
          <p:nvPr/>
        </p:nvSpPr>
        <p:spPr>
          <a:xfrm>
            <a:off x="4267200" y="4244975"/>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22</a:t>
            </a:r>
            <a:endParaRPr lang="en-US" altLang="zh-CN" sz="2400" dirty="0">
              <a:ea typeface="Arial" panose="020B0604020202020204" pitchFamily="34" charset="0"/>
            </a:endParaRPr>
          </a:p>
        </p:txBody>
      </p:sp>
      <p:sp>
        <p:nvSpPr>
          <p:cNvPr id="174095" name="Rectangle 14"/>
          <p:cNvSpPr/>
          <p:nvPr/>
        </p:nvSpPr>
        <p:spPr>
          <a:xfrm>
            <a:off x="4279900" y="3810000"/>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21</a:t>
            </a:r>
            <a:endParaRPr lang="en-US" altLang="zh-CN" sz="2400" dirty="0">
              <a:ea typeface="Arial" panose="020B0604020202020204" pitchFamily="34" charset="0"/>
            </a:endParaRPr>
          </a:p>
        </p:txBody>
      </p:sp>
      <p:sp>
        <p:nvSpPr>
          <p:cNvPr id="174096" name="Rectangle 15"/>
          <p:cNvSpPr/>
          <p:nvPr/>
        </p:nvSpPr>
        <p:spPr>
          <a:xfrm>
            <a:off x="4267200" y="3333750"/>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年龄</a:t>
            </a:r>
            <a:endParaRPr lang="zh-CN" altLang="en-US" sz="2400" dirty="0">
              <a:ea typeface="Arial" panose="020B0604020202020204" pitchFamily="34" charset="0"/>
            </a:endParaRPr>
          </a:p>
        </p:txBody>
      </p:sp>
      <p:sp>
        <p:nvSpPr>
          <p:cNvPr id="174097" name="Rectangle 16"/>
          <p:cNvSpPr/>
          <p:nvPr/>
        </p:nvSpPr>
        <p:spPr>
          <a:xfrm>
            <a:off x="6807200" y="4244975"/>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D01</a:t>
            </a:r>
            <a:endParaRPr lang="en-US" altLang="zh-CN" sz="2400" dirty="0">
              <a:ea typeface="Arial" panose="020B0604020202020204" pitchFamily="34" charset="0"/>
            </a:endParaRPr>
          </a:p>
        </p:txBody>
      </p:sp>
      <p:sp>
        <p:nvSpPr>
          <p:cNvPr id="174098" name="Rectangle 17"/>
          <p:cNvSpPr/>
          <p:nvPr/>
        </p:nvSpPr>
        <p:spPr>
          <a:xfrm>
            <a:off x="2997200" y="4244975"/>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李红</a:t>
            </a:r>
            <a:endParaRPr lang="zh-CN" altLang="en-US" sz="2400" dirty="0">
              <a:ea typeface="Arial" panose="020B0604020202020204" pitchFamily="34" charset="0"/>
            </a:endParaRPr>
          </a:p>
        </p:txBody>
      </p:sp>
      <p:sp>
        <p:nvSpPr>
          <p:cNvPr id="174099" name="Rectangle 18"/>
          <p:cNvSpPr/>
          <p:nvPr/>
        </p:nvSpPr>
        <p:spPr>
          <a:xfrm>
            <a:off x="1727200" y="4244975"/>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S02</a:t>
            </a:r>
            <a:endParaRPr lang="en-US" altLang="zh-CN" sz="2400" dirty="0">
              <a:ea typeface="Arial" panose="020B0604020202020204" pitchFamily="34" charset="0"/>
            </a:endParaRPr>
          </a:p>
        </p:txBody>
      </p:sp>
      <p:sp>
        <p:nvSpPr>
          <p:cNvPr id="174100" name="Rectangle 19"/>
          <p:cNvSpPr/>
          <p:nvPr/>
        </p:nvSpPr>
        <p:spPr>
          <a:xfrm>
            <a:off x="6807200" y="4700588"/>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D02</a:t>
            </a:r>
            <a:endParaRPr lang="en-US" altLang="zh-CN" sz="2400" dirty="0">
              <a:ea typeface="Arial" panose="020B0604020202020204" pitchFamily="34" charset="0"/>
            </a:endParaRPr>
          </a:p>
        </p:txBody>
      </p:sp>
      <p:sp>
        <p:nvSpPr>
          <p:cNvPr id="174101" name="Rectangle 20"/>
          <p:cNvSpPr/>
          <p:nvPr/>
        </p:nvSpPr>
        <p:spPr>
          <a:xfrm>
            <a:off x="2997200" y="4700588"/>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王伟</a:t>
            </a:r>
            <a:endParaRPr lang="zh-CN" altLang="en-US" sz="2400" dirty="0">
              <a:ea typeface="Arial" panose="020B0604020202020204" pitchFamily="34" charset="0"/>
            </a:endParaRPr>
          </a:p>
        </p:txBody>
      </p:sp>
      <p:sp>
        <p:nvSpPr>
          <p:cNvPr id="174102" name="Rectangle 21"/>
          <p:cNvSpPr/>
          <p:nvPr/>
        </p:nvSpPr>
        <p:spPr>
          <a:xfrm>
            <a:off x="1727200" y="4700588"/>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S03</a:t>
            </a:r>
            <a:endParaRPr lang="en-US" altLang="zh-CN" sz="2400" dirty="0">
              <a:ea typeface="Arial" panose="020B0604020202020204" pitchFamily="34" charset="0"/>
            </a:endParaRPr>
          </a:p>
        </p:txBody>
      </p:sp>
      <p:sp>
        <p:nvSpPr>
          <p:cNvPr id="174103" name="Rectangle 22"/>
          <p:cNvSpPr/>
          <p:nvPr/>
        </p:nvSpPr>
        <p:spPr>
          <a:xfrm>
            <a:off x="6807200" y="3789363"/>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D01</a:t>
            </a:r>
            <a:endParaRPr lang="en-US" altLang="zh-CN" sz="2400" dirty="0">
              <a:ea typeface="Arial" panose="020B0604020202020204" pitchFamily="34" charset="0"/>
            </a:endParaRPr>
          </a:p>
        </p:txBody>
      </p:sp>
      <p:sp>
        <p:nvSpPr>
          <p:cNvPr id="174104" name="Rectangle 23"/>
          <p:cNvSpPr/>
          <p:nvPr/>
        </p:nvSpPr>
        <p:spPr>
          <a:xfrm>
            <a:off x="2997200" y="3789363"/>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张军</a:t>
            </a:r>
            <a:endParaRPr lang="zh-CN" altLang="en-US" sz="2400" dirty="0">
              <a:ea typeface="Arial" panose="020B0604020202020204" pitchFamily="34" charset="0"/>
            </a:endParaRPr>
          </a:p>
        </p:txBody>
      </p:sp>
      <p:sp>
        <p:nvSpPr>
          <p:cNvPr id="174105" name="Rectangle 24"/>
          <p:cNvSpPr/>
          <p:nvPr/>
        </p:nvSpPr>
        <p:spPr>
          <a:xfrm>
            <a:off x="1727200" y="3789363"/>
            <a:ext cx="1270000" cy="45561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en-US" altLang="zh-CN" sz="2400" dirty="0">
                <a:cs typeface="Arial" panose="020B0604020202020204" pitchFamily="34" charset="0"/>
              </a:rPr>
              <a:t>S01</a:t>
            </a:r>
            <a:endParaRPr lang="en-US" altLang="zh-CN" sz="2400" dirty="0">
              <a:ea typeface="Arial" panose="020B0604020202020204" pitchFamily="34" charset="0"/>
            </a:endParaRPr>
          </a:p>
        </p:txBody>
      </p:sp>
      <p:sp>
        <p:nvSpPr>
          <p:cNvPr id="174106" name="Rectangle 25"/>
          <p:cNvSpPr/>
          <p:nvPr/>
        </p:nvSpPr>
        <p:spPr>
          <a:xfrm>
            <a:off x="6807200" y="3333750"/>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系号</a:t>
            </a:r>
            <a:endParaRPr lang="zh-CN" altLang="en-US" sz="2400" dirty="0">
              <a:ea typeface="Arial" panose="020B0604020202020204" pitchFamily="34" charset="0"/>
            </a:endParaRPr>
          </a:p>
        </p:txBody>
      </p:sp>
      <p:sp>
        <p:nvSpPr>
          <p:cNvPr id="174107" name="Rectangle 26"/>
          <p:cNvSpPr/>
          <p:nvPr/>
        </p:nvSpPr>
        <p:spPr>
          <a:xfrm>
            <a:off x="2997200" y="3333750"/>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姓名</a:t>
            </a:r>
            <a:endParaRPr lang="zh-CN" altLang="en-US" sz="2400" dirty="0">
              <a:ea typeface="Arial" panose="020B0604020202020204" pitchFamily="34" charset="0"/>
            </a:endParaRPr>
          </a:p>
        </p:txBody>
      </p:sp>
      <p:sp>
        <p:nvSpPr>
          <p:cNvPr id="174108" name="Rectangle 27"/>
          <p:cNvSpPr/>
          <p:nvPr/>
        </p:nvSpPr>
        <p:spPr>
          <a:xfrm>
            <a:off x="1727200" y="3333750"/>
            <a:ext cx="1270000" cy="45561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buNone/>
            </a:pPr>
            <a:r>
              <a:rPr lang="zh-CN" altLang="en-US" sz="2400" dirty="0">
                <a:cs typeface="Arial" panose="020B0604020202020204" pitchFamily="34" charset="0"/>
              </a:rPr>
              <a:t>学号</a:t>
            </a:r>
            <a:endParaRPr lang="zh-CN" altLang="en-US" sz="2400" dirty="0">
              <a:ea typeface="Arial" panose="020B0604020202020204" pitchFamily="34" charset="0"/>
            </a:endParaRPr>
          </a:p>
        </p:txBody>
      </p:sp>
      <p:sp>
        <p:nvSpPr>
          <p:cNvPr id="174109" name="Line 28"/>
          <p:cNvSpPr/>
          <p:nvPr/>
        </p:nvSpPr>
        <p:spPr>
          <a:xfrm>
            <a:off x="1727200" y="3333750"/>
            <a:ext cx="6350000" cy="0"/>
          </a:xfrm>
          <a:prstGeom prst="line">
            <a:avLst/>
          </a:prstGeom>
          <a:ln w="28575" cap="sq" cmpd="sng">
            <a:solidFill>
              <a:schemeClr val="tx1"/>
            </a:solidFill>
            <a:prstDash val="solid"/>
            <a:headEnd type="none" w="med" len="med"/>
            <a:tailEnd type="none" w="med" len="med"/>
          </a:ln>
        </p:spPr>
      </p:sp>
      <p:sp>
        <p:nvSpPr>
          <p:cNvPr id="174110" name="Line 29"/>
          <p:cNvSpPr/>
          <p:nvPr/>
        </p:nvSpPr>
        <p:spPr>
          <a:xfrm>
            <a:off x="1727200" y="3789363"/>
            <a:ext cx="6350000" cy="0"/>
          </a:xfrm>
          <a:prstGeom prst="line">
            <a:avLst/>
          </a:prstGeom>
          <a:ln w="12700" cap="flat" cmpd="sng">
            <a:solidFill>
              <a:schemeClr val="tx1"/>
            </a:solidFill>
            <a:prstDash val="solid"/>
            <a:headEnd type="none" w="med" len="med"/>
            <a:tailEnd type="none" w="med" len="med"/>
          </a:ln>
        </p:spPr>
      </p:sp>
      <p:sp>
        <p:nvSpPr>
          <p:cNvPr id="174111" name="Line 30"/>
          <p:cNvSpPr/>
          <p:nvPr/>
        </p:nvSpPr>
        <p:spPr>
          <a:xfrm>
            <a:off x="1727200" y="5156200"/>
            <a:ext cx="6350000" cy="0"/>
          </a:xfrm>
          <a:prstGeom prst="line">
            <a:avLst/>
          </a:prstGeom>
          <a:ln w="28575" cap="sq" cmpd="sng">
            <a:solidFill>
              <a:schemeClr val="tx1"/>
            </a:solidFill>
            <a:prstDash val="solid"/>
            <a:headEnd type="none" w="med" len="med"/>
            <a:tailEnd type="none" w="med" len="med"/>
          </a:ln>
        </p:spPr>
      </p:sp>
      <p:sp>
        <p:nvSpPr>
          <p:cNvPr id="174112" name="Line 31"/>
          <p:cNvSpPr/>
          <p:nvPr/>
        </p:nvSpPr>
        <p:spPr>
          <a:xfrm>
            <a:off x="1727200" y="3333750"/>
            <a:ext cx="0" cy="1822450"/>
          </a:xfrm>
          <a:prstGeom prst="line">
            <a:avLst/>
          </a:prstGeom>
          <a:ln w="28575" cap="sq" cmpd="sng">
            <a:solidFill>
              <a:schemeClr val="tx1"/>
            </a:solidFill>
            <a:prstDash val="solid"/>
            <a:headEnd type="none" w="med" len="med"/>
            <a:tailEnd type="none" w="med" len="med"/>
          </a:ln>
        </p:spPr>
      </p:sp>
      <p:sp>
        <p:nvSpPr>
          <p:cNvPr id="174113" name="Line 32"/>
          <p:cNvSpPr/>
          <p:nvPr/>
        </p:nvSpPr>
        <p:spPr>
          <a:xfrm>
            <a:off x="2997200" y="3333750"/>
            <a:ext cx="0" cy="1822450"/>
          </a:xfrm>
          <a:prstGeom prst="line">
            <a:avLst/>
          </a:prstGeom>
          <a:ln w="12700" cap="flat" cmpd="sng">
            <a:solidFill>
              <a:schemeClr val="tx1"/>
            </a:solidFill>
            <a:prstDash val="solid"/>
            <a:headEnd type="none" w="med" len="med"/>
            <a:tailEnd type="none" w="med" len="med"/>
          </a:ln>
        </p:spPr>
      </p:sp>
      <p:sp>
        <p:nvSpPr>
          <p:cNvPr id="174114" name="Line 33"/>
          <p:cNvSpPr/>
          <p:nvPr/>
        </p:nvSpPr>
        <p:spPr>
          <a:xfrm>
            <a:off x="4267200" y="3333750"/>
            <a:ext cx="0" cy="1822450"/>
          </a:xfrm>
          <a:prstGeom prst="line">
            <a:avLst/>
          </a:prstGeom>
          <a:ln w="12700" cap="flat" cmpd="sng">
            <a:solidFill>
              <a:schemeClr val="tx1"/>
            </a:solidFill>
            <a:prstDash val="solid"/>
            <a:headEnd type="none" w="med" len="med"/>
            <a:tailEnd type="none" w="med" len="med"/>
          </a:ln>
        </p:spPr>
      </p:sp>
      <p:sp>
        <p:nvSpPr>
          <p:cNvPr id="174115" name="Line 34"/>
          <p:cNvSpPr/>
          <p:nvPr/>
        </p:nvSpPr>
        <p:spPr>
          <a:xfrm>
            <a:off x="8077200" y="3333750"/>
            <a:ext cx="0" cy="1822450"/>
          </a:xfrm>
          <a:prstGeom prst="line">
            <a:avLst/>
          </a:prstGeom>
          <a:ln w="28575" cap="sq" cmpd="sng">
            <a:solidFill>
              <a:schemeClr val="tx1"/>
            </a:solidFill>
            <a:prstDash val="solid"/>
            <a:headEnd type="none" w="med" len="med"/>
            <a:tailEnd type="none" w="med" len="med"/>
          </a:ln>
        </p:spPr>
      </p:sp>
      <p:sp>
        <p:nvSpPr>
          <p:cNvPr id="174116" name="Line 35"/>
          <p:cNvSpPr/>
          <p:nvPr/>
        </p:nvSpPr>
        <p:spPr>
          <a:xfrm>
            <a:off x="1727200" y="4244975"/>
            <a:ext cx="6350000" cy="0"/>
          </a:xfrm>
          <a:prstGeom prst="line">
            <a:avLst/>
          </a:prstGeom>
          <a:ln w="12700" cap="flat" cmpd="sng">
            <a:solidFill>
              <a:schemeClr val="tx1"/>
            </a:solidFill>
            <a:prstDash val="solid"/>
            <a:headEnd type="none" w="med" len="med"/>
            <a:tailEnd type="none" w="med" len="med"/>
          </a:ln>
        </p:spPr>
      </p:sp>
      <p:sp>
        <p:nvSpPr>
          <p:cNvPr id="174117" name="Line 36"/>
          <p:cNvSpPr/>
          <p:nvPr/>
        </p:nvSpPr>
        <p:spPr>
          <a:xfrm>
            <a:off x="1727200" y="4700588"/>
            <a:ext cx="6350000" cy="0"/>
          </a:xfrm>
          <a:prstGeom prst="line">
            <a:avLst/>
          </a:prstGeom>
          <a:ln w="12700" cap="flat" cmpd="sng">
            <a:solidFill>
              <a:schemeClr val="tx1"/>
            </a:solidFill>
            <a:prstDash val="solid"/>
            <a:headEnd type="none" w="med" len="med"/>
            <a:tailEnd type="none" w="med" len="med"/>
          </a:ln>
        </p:spPr>
      </p:sp>
      <p:sp>
        <p:nvSpPr>
          <p:cNvPr id="174118" name="Line 37"/>
          <p:cNvSpPr/>
          <p:nvPr/>
        </p:nvSpPr>
        <p:spPr>
          <a:xfrm>
            <a:off x="5537200" y="3333750"/>
            <a:ext cx="0" cy="1822450"/>
          </a:xfrm>
          <a:prstGeom prst="line">
            <a:avLst/>
          </a:prstGeom>
          <a:ln w="12700" cap="flat" cmpd="sng">
            <a:solidFill>
              <a:schemeClr val="tx1"/>
            </a:solidFill>
            <a:prstDash val="solid"/>
            <a:miter/>
            <a:headEnd type="none" w="med" len="med"/>
            <a:tailEnd type="none" w="med" len="med"/>
          </a:ln>
        </p:spPr>
      </p:sp>
      <p:sp>
        <p:nvSpPr>
          <p:cNvPr id="174119" name="Line 38"/>
          <p:cNvSpPr/>
          <p:nvPr/>
        </p:nvSpPr>
        <p:spPr>
          <a:xfrm>
            <a:off x="6807200" y="3333750"/>
            <a:ext cx="0" cy="1822450"/>
          </a:xfrm>
          <a:prstGeom prst="line">
            <a:avLst/>
          </a:prstGeom>
          <a:ln w="12700" cap="flat" cmpd="sng">
            <a:solidFill>
              <a:schemeClr val="tx1"/>
            </a:solidFill>
            <a:prstDash val="solid"/>
            <a:miter/>
            <a:headEnd type="none" w="med" len="med"/>
            <a:tailEnd type="none" w="med" len="med"/>
          </a:ln>
        </p:spPr>
      </p:sp>
      <p:sp>
        <p:nvSpPr>
          <p:cNvPr id="174120" name="AutoShape 39" descr="Large confetti"/>
          <p:cNvSpPr/>
          <p:nvPr/>
        </p:nvSpPr>
        <p:spPr>
          <a:xfrm>
            <a:off x="1905000" y="1765300"/>
            <a:ext cx="609600" cy="533400"/>
          </a:xfrm>
          <a:prstGeom prst="wedgeRoundRectCallout">
            <a:avLst>
              <a:gd name="adj1" fmla="val 27866"/>
              <a:gd name="adj2" fmla="val 241667"/>
              <a:gd name="adj3" fmla="val 16667"/>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2"/>
                </a:solidFill>
                <a:ea typeface="楷体_GB2312" pitchFamily="49" charset="-122"/>
              </a:rPr>
              <a:t>主码</a:t>
            </a:r>
            <a:endParaRPr lang="zh-CN" altLang="en-US" sz="4400" b="0" dirty="0">
              <a:solidFill>
                <a:schemeClr val="tx2"/>
              </a:solidFill>
              <a:ea typeface="Arial" panose="020B0604020202020204" pitchFamily="34" charset="0"/>
            </a:endParaRPr>
          </a:p>
        </p:txBody>
      </p:sp>
      <p:sp>
        <p:nvSpPr>
          <p:cNvPr id="174121" name="AutoShape 40" descr="Large confetti"/>
          <p:cNvSpPr/>
          <p:nvPr/>
        </p:nvSpPr>
        <p:spPr>
          <a:xfrm>
            <a:off x="228600" y="4127500"/>
            <a:ext cx="609600" cy="533400"/>
          </a:xfrm>
          <a:prstGeom prst="wedgeRoundRectCallout">
            <a:avLst>
              <a:gd name="adj1" fmla="val 75259"/>
              <a:gd name="adj2" fmla="val -26190"/>
              <a:gd name="adj3" fmla="val 16667"/>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2"/>
                </a:solidFill>
                <a:ea typeface="楷体_GB2312" pitchFamily="49" charset="-122"/>
              </a:rPr>
              <a:t>关系</a:t>
            </a:r>
            <a:endParaRPr lang="zh-CN" altLang="en-US" sz="4400" b="0" dirty="0">
              <a:solidFill>
                <a:schemeClr val="tx2"/>
              </a:solidFill>
              <a:ea typeface="Arial" panose="020B0604020202020204" pitchFamily="34" charset="0"/>
            </a:endParaRPr>
          </a:p>
        </p:txBody>
      </p:sp>
      <p:sp>
        <p:nvSpPr>
          <p:cNvPr id="174122" name="AutoShape 41" descr="Large confetti"/>
          <p:cNvSpPr/>
          <p:nvPr/>
        </p:nvSpPr>
        <p:spPr>
          <a:xfrm>
            <a:off x="7391400" y="2222500"/>
            <a:ext cx="609600" cy="533400"/>
          </a:xfrm>
          <a:prstGeom prst="wedgeRoundRectCallout">
            <a:avLst>
              <a:gd name="adj1" fmla="val -205731"/>
              <a:gd name="adj2" fmla="val 279764"/>
              <a:gd name="adj3" fmla="val 16667"/>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2"/>
                </a:solidFill>
                <a:ea typeface="楷体_GB2312" pitchFamily="49" charset="-122"/>
              </a:rPr>
              <a:t>分量</a:t>
            </a:r>
            <a:endParaRPr lang="zh-CN" altLang="en-US" sz="2400" dirty="0">
              <a:solidFill>
                <a:schemeClr val="tx2"/>
              </a:solidFill>
              <a:ea typeface="楷体_GB2312" pitchFamily="49" charset="-122"/>
            </a:endParaRPr>
          </a:p>
        </p:txBody>
      </p:sp>
      <p:sp>
        <p:nvSpPr>
          <p:cNvPr id="174123" name="AutoShape 42"/>
          <p:cNvSpPr/>
          <p:nvPr/>
        </p:nvSpPr>
        <p:spPr>
          <a:xfrm>
            <a:off x="977900" y="3365500"/>
            <a:ext cx="685800" cy="1752600"/>
          </a:xfrm>
          <a:prstGeom prst="leftBrace">
            <a:avLst>
              <a:gd name="adj1" fmla="val 21296"/>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74124" name="AutoShape 43" descr="Large confetti"/>
          <p:cNvSpPr/>
          <p:nvPr/>
        </p:nvSpPr>
        <p:spPr>
          <a:xfrm>
            <a:off x="381000" y="2451100"/>
            <a:ext cx="1295400" cy="533400"/>
          </a:xfrm>
          <a:prstGeom prst="wedgeRoundRectCallout">
            <a:avLst>
              <a:gd name="adj1" fmla="val 56250"/>
              <a:gd name="adj2" fmla="val 122023"/>
              <a:gd name="adj3" fmla="val 16667"/>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2"/>
                </a:solidFill>
                <a:ea typeface="楷体_GB2312" pitchFamily="49" charset="-122"/>
              </a:rPr>
              <a:t>关系模式</a:t>
            </a:r>
            <a:endParaRPr lang="zh-CN" altLang="en-US" sz="4400" b="0" dirty="0">
              <a:solidFill>
                <a:schemeClr val="tx2"/>
              </a:solidFill>
              <a:ea typeface="Arial" panose="020B0604020202020204" pitchFamily="34" charset="0"/>
            </a:endParaRPr>
          </a:p>
        </p:txBody>
      </p:sp>
      <p:sp>
        <p:nvSpPr>
          <p:cNvPr id="174125" name="Text Box 44"/>
          <p:cNvSpPr txBox="1"/>
          <p:nvPr/>
        </p:nvSpPr>
        <p:spPr>
          <a:xfrm>
            <a:off x="5562600" y="5651500"/>
            <a:ext cx="1301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2400" b="0" dirty="0">
                <a:solidFill>
                  <a:schemeClr val="tx1"/>
                </a:solidFill>
                <a:cs typeface="Arial" panose="020B0604020202020204" pitchFamily="34" charset="0"/>
              </a:rPr>
              <a:t>(</a:t>
            </a:r>
            <a:r>
              <a:rPr lang="zh-CN" altLang="en-US" sz="2400" b="0" dirty="0">
                <a:solidFill>
                  <a:schemeClr val="tx1"/>
                </a:solidFill>
                <a:cs typeface="Arial" panose="020B0604020202020204" pitchFamily="34" charset="0"/>
              </a:rPr>
              <a:t>男，女</a:t>
            </a:r>
            <a:r>
              <a:rPr lang="en-US" altLang="zh-CN" sz="2400" b="0" dirty="0">
                <a:solidFill>
                  <a:schemeClr val="tx1"/>
                </a:solidFill>
                <a:cs typeface="Arial" panose="020B0604020202020204" pitchFamily="34" charset="0"/>
              </a:rPr>
              <a:t>)</a:t>
            </a:r>
            <a:endParaRPr lang="en-US" altLang="zh-CN" sz="2400" b="0" dirty="0">
              <a:solidFill>
                <a:schemeClr val="tx1"/>
              </a:solidFill>
              <a:ea typeface="Arial" panose="020B0604020202020204" pitchFamily="34" charset="0"/>
            </a:endParaRPr>
          </a:p>
        </p:txBody>
      </p:sp>
      <p:sp>
        <p:nvSpPr>
          <p:cNvPr id="174126" name="AutoShape 45" descr="Large confetti"/>
          <p:cNvSpPr/>
          <p:nvPr/>
        </p:nvSpPr>
        <p:spPr>
          <a:xfrm>
            <a:off x="3657600" y="5651500"/>
            <a:ext cx="609600" cy="533400"/>
          </a:xfrm>
          <a:prstGeom prst="wedgeRoundRectCallout">
            <a:avLst>
              <a:gd name="adj1" fmla="val 276565"/>
              <a:gd name="adj2" fmla="val -7440"/>
              <a:gd name="adj3" fmla="val 16667"/>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2"/>
                </a:solidFill>
                <a:ea typeface="楷体_GB2312" pitchFamily="49" charset="-122"/>
              </a:rPr>
              <a:t>域</a:t>
            </a:r>
            <a:endParaRPr lang="zh-CN" altLang="en-US" sz="4400" b="0" dirty="0">
              <a:solidFill>
                <a:schemeClr val="tx2"/>
              </a:solidFill>
              <a:ea typeface="Arial" panose="020B0604020202020204" pitchFamily="34" charset="0"/>
            </a:endParaRPr>
          </a:p>
        </p:txBody>
      </p:sp>
      <p:sp>
        <p:nvSpPr>
          <p:cNvPr id="174127" name="Text Box 46"/>
          <p:cNvSpPr txBox="1"/>
          <p:nvPr/>
        </p:nvSpPr>
        <p:spPr>
          <a:xfrm>
            <a:off x="381000" y="3276600"/>
            <a:ext cx="7969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r>
              <a:rPr lang="zh-CN" altLang="en-US" sz="2400" dirty="0">
                <a:solidFill>
                  <a:schemeClr val="tx1"/>
                </a:solidFill>
                <a:cs typeface="Arial" panose="020B0604020202020204" pitchFamily="34" charset="0"/>
              </a:rPr>
              <a:t>学生</a:t>
            </a:r>
            <a:endParaRPr lang="zh-CN" altLang="en-US" sz="2400" dirty="0">
              <a:solidFill>
                <a:schemeClr val="tx1"/>
              </a:solidFill>
              <a:ea typeface="Arial" panose="020B0604020202020204"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5107"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5108" name="Rectangle 3"/>
          <p:cNvSpPr>
            <a:spLocks noGrp="1"/>
          </p:cNvSpPr>
          <p:nvPr>
            <p:ph idx="1"/>
          </p:nvPr>
        </p:nvSpPr>
        <p:spPr>
          <a:xfrm>
            <a:off x="533400" y="1066800"/>
            <a:ext cx="8077200" cy="5257800"/>
          </a:xfrm>
          <a:ln/>
        </p:spPr>
        <p:txBody>
          <a:bodyPr vert="horz" wrap="square" lIns="91440" tIns="45720" rIns="91440" bIns="45720" anchor="t" anchorCtr="0"/>
          <a:p>
            <a:pPr algn="just" eaLnBrk="1" hangingPunct="1">
              <a:lnSpc>
                <a:spcPct val="120000"/>
              </a:lnSpc>
              <a:buNone/>
            </a:pPr>
            <a:r>
              <a:rPr lang="zh-CN" altLang="en-US" dirty="0"/>
              <a:t>关系数据模型的数据结构</a:t>
            </a:r>
            <a:r>
              <a:rPr lang="en-US" altLang="zh-CN" dirty="0"/>
              <a:t>(</a:t>
            </a:r>
            <a:r>
              <a:rPr lang="zh-CN" altLang="en-US" dirty="0"/>
              <a:t>续</a:t>
            </a:r>
            <a:r>
              <a:rPr lang="en-US" altLang="zh-CN" dirty="0"/>
              <a:t>) </a:t>
            </a:r>
            <a:endParaRPr lang="en-US" altLang="zh-CN" dirty="0"/>
          </a:p>
          <a:p>
            <a:pPr eaLnBrk="1" hangingPunct="1"/>
            <a:r>
              <a:rPr lang="zh-CN" altLang="en-US" dirty="0">
                <a:solidFill>
                  <a:schemeClr val="accent2"/>
                </a:solidFill>
              </a:rPr>
              <a:t>实体及实体间的联系的表示方法</a:t>
            </a:r>
            <a:endParaRPr lang="zh-CN" altLang="en-US" dirty="0">
              <a:solidFill>
                <a:schemeClr val="accent2"/>
              </a:solidFill>
            </a:endParaRPr>
          </a:p>
          <a:p>
            <a:pPr lvl="1" eaLnBrk="1" hangingPunct="1">
              <a:lnSpc>
                <a:spcPct val="150000"/>
              </a:lnSpc>
            </a:pPr>
            <a:r>
              <a:rPr lang="zh-CN" altLang="en-US" b="0" dirty="0">
                <a:solidFill>
                  <a:schemeClr val="accent2"/>
                </a:solidFill>
              </a:rPr>
              <a:t>实体型</a:t>
            </a:r>
            <a:r>
              <a:rPr lang="zh-CN" altLang="en-US" b="0" dirty="0"/>
              <a:t>：直接用关系（表）表示。</a:t>
            </a:r>
            <a:endParaRPr lang="zh-CN" altLang="en-US" b="0" dirty="0"/>
          </a:p>
          <a:p>
            <a:pPr lvl="1" eaLnBrk="1" hangingPunct="1">
              <a:lnSpc>
                <a:spcPct val="150000"/>
              </a:lnSpc>
            </a:pPr>
            <a:r>
              <a:rPr lang="zh-CN" altLang="en-US" b="0" dirty="0">
                <a:solidFill>
                  <a:schemeClr val="accent2"/>
                </a:solidFill>
              </a:rPr>
              <a:t>属性</a:t>
            </a:r>
            <a:r>
              <a:rPr lang="zh-CN" altLang="en-US" b="0" dirty="0"/>
              <a:t>：用属性名表示。</a:t>
            </a:r>
            <a:endParaRPr lang="zh-CN" altLang="en-US" b="0" dirty="0"/>
          </a:p>
          <a:p>
            <a:pPr lvl="1" eaLnBrk="1" hangingPunct="1">
              <a:lnSpc>
                <a:spcPct val="150000"/>
              </a:lnSpc>
            </a:pPr>
            <a:r>
              <a:rPr lang="zh-CN" altLang="en-US" b="0" dirty="0">
                <a:solidFill>
                  <a:schemeClr val="accent2"/>
                </a:solidFill>
              </a:rPr>
              <a:t>一对一联系</a:t>
            </a:r>
            <a:r>
              <a:rPr lang="zh-CN" altLang="en-US" b="0" dirty="0"/>
              <a:t>：隐含在实体对应的关系中。</a:t>
            </a:r>
            <a:endParaRPr lang="zh-CN" altLang="en-US" b="0" dirty="0"/>
          </a:p>
          <a:p>
            <a:pPr lvl="1" eaLnBrk="1" hangingPunct="1">
              <a:lnSpc>
                <a:spcPct val="150000"/>
              </a:lnSpc>
            </a:pPr>
            <a:r>
              <a:rPr lang="zh-CN" altLang="en-US" b="0" dirty="0">
                <a:solidFill>
                  <a:schemeClr val="accent2"/>
                </a:solidFill>
              </a:rPr>
              <a:t>一对多联系</a:t>
            </a:r>
            <a:r>
              <a:rPr lang="zh-CN" altLang="en-US" b="0" dirty="0"/>
              <a:t>：隐含在实体对应的关系中。</a:t>
            </a:r>
            <a:endParaRPr lang="zh-CN" altLang="en-US" b="0" dirty="0"/>
          </a:p>
          <a:p>
            <a:pPr lvl="1" eaLnBrk="1" hangingPunct="1">
              <a:lnSpc>
                <a:spcPct val="150000"/>
              </a:lnSpc>
            </a:pPr>
            <a:r>
              <a:rPr lang="zh-CN" altLang="en-US" b="0" dirty="0">
                <a:solidFill>
                  <a:schemeClr val="accent2"/>
                </a:solidFill>
              </a:rPr>
              <a:t>多对多联系</a:t>
            </a:r>
            <a:r>
              <a:rPr lang="zh-CN" altLang="en-US" b="0" dirty="0"/>
              <a:t>：直接用关系表示</a:t>
            </a:r>
            <a:r>
              <a:rPr lang="zh-CN" altLang="en-US" dirty="0"/>
              <a:t>。</a:t>
            </a:r>
            <a:endParaRPr lang="zh-CN" alt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6131"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6132" name="Rectangle 3"/>
          <p:cNvSpPr>
            <a:spLocks noGrp="1"/>
          </p:cNvSpPr>
          <p:nvPr>
            <p:ph idx="1"/>
          </p:nvPr>
        </p:nvSpPr>
        <p:spPr>
          <a:xfrm>
            <a:off x="457200" y="914400"/>
            <a:ext cx="8077200" cy="5257800"/>
          </a:xfrm>
          <a:ln/>
        </p:spPr>
        <p:txBody>
          <a:bodyPr vert="horz" wrap="square" lIns="91440" tIns="45720" rIns="91440" bIns="45720" anchor="t" anchorCtr="0"/>
          <a:p>
            <a:pPr algn="just" eaLnBrk="1" hangingPunct="1">
              <a:lnSpc>
                <a:spcPct val="120000"/>
              </a:lnSpc>
              <a:buNone/>
            </a:pPr>
            <a:r>
              <a:rPr lang="zh-CN" altLang="en-US" dirty="0"/>
              <a:t>关系数据模型的数据结构</a:t>
            </a:r>
            <a:r>
              <a:rPr lang="en-US" altLang="zh-CN" dirty="0"/>
              <a:t>(</a:t>
            </a:r>
            <a:r>
              <a:rPr lang="zh-CN" altLang="en-US" dirty="0"/>
              <a:t>续</a:t>
            </a:r>
            <a:r>
              <a:rPr lang="en-US" altLang="zh-CN" dirty="0"/>
              <a:t>) </a:t>
            </a:r>
            <a:endParaRPr lang="en-US" altLang="zh-CN" dirty="0"/>
          </a:p>
          <a:p>
            <a:pPr lvl="1" algn="just" eaLnBrk="1" hangingPunct="1">
              <a:buNone/>
            </a:pPr>
            <a:r>
              <a:rPr lang="zh-CN" altLang="en-US" dirty="0"/>
              <a:t>例</a:t>
            </a:r>
            <a:r>
              <a:rPr lang="en-US" altLang="zh-CN" dirty="0"/>
              <a:t>1</a:t>
            </a:r>
            <a:endParaRPr lang="en-US" altLang="zh-CN" dirty="0"/>
          </a:p>
          <a:p>
            <a:pPr lvl="1" algn="just" eaLnBrk="1" hangingPunct="1">
              <a:buNone/>
            </a:pPr>
            <a:r>
              <a:rPr lang="zh-CN" altLang="en-US" dirty="0"/>
              <a:t>学生、系、系与学生之间的一对多联系：</a:t>
            </a:r>
            <a:endParaRPr lang="zh-CN" altLang="en-US" dirty="0"/>
          </a:p>
          <a:p>
            <a:pPr lvl="1" algn="just" eaLnBrk="1" hangingPunct="1">
              <a:buNone/>
            </a:pPr>
            <a:endParaRPr lang="zh-CN" altLang="en-US" sz="1400" dirty="0"/>
          </a:p>
          <a:p>
            <a:pPr lvl="1" algn="just" eaLnBrk="1" hangingPunct="1">
              <a:lnSpc>
                <a:spcPct val="120000"/>
              </a:lnSpc>
              <a:buNone/>
            </a:pPr>
            <a:r>
              <a:rPr lang="zh-CN" altLang="en-US" sz="2400" dirty="0">
                <a:solidFill>
                  <a:schemeClr val="accent2"/>
                </a:solidFill>
              </a:rPr>
              <a:t>学生（学号，姓名，年龄，性别，系号，年级）</a:t>
            </a:r>
            <a:endParaRPr lang="zh-CN" altLang="en-US" sz="2400" dirty="0">
              <a:solidFill>
                <a:schemeClr val="accent2"/>
              </a:solidFill>
            </a:endParaRPr>
          </a:p>
          <a:p>
            <a:pPr lvl="1" algn="just" eaLnBrk="1" hangingPunct="1">
              <a:lnSpc>
                <a:spcPct val="120000"/>
              </a:lnSpc>
              <a:buNone/>
            </a:pPr>
            <a:r>
              <a:rPr lang="zh-CN" altLang="en-US" sz="2400" dirty="0">
                <a:solidFill>
                  <a:schemeClr val="accent2"/>
                </a:solidFill>
              </a:rPr>
              <a:t>系 </a:t>
            </a:r>
            <a:r>
              <a:rPr lang="en-US" altLang="zh-CN" sz="2400" dirty="0">
                <a:solidFill>
                  <a:schemeClr val="accent2"/>
                </a:solidFill>
              </a:rPr>
              <a:t>(</a:t>
            </a:r>
            <a:r>
              <a:rPr lang="zh-CN" altLang="en-US" sz="2400" dirty="0">
                <a:solidFill>
                  <a:schemeClr val="accent2"/>
                </a:solidFill>
              </a:rPr>
              <a:t>系号，系名，办公地点</a:t>
            </a:r>
            <a:r>
              <a:rPr lang="en-US" altLang="zh-CN" sz="2400" dirty="0">
                <a:solidFill>
                  <a:schemeClr val="accent2"/>
                </a:solidFill>
              </a:rPr>
              <a:t>)</a:t>
            </a:r>
            <a:endParaRPr lang="en-US" altLang="zh-CN" sz="2400" dirty="0">
              <a:solidFill>
                <a:schemeClr val="accent2"/>
              </a:solidFill>
            </a:endParaRPr>
          </a:p>
          <a:p>
            <a:pPr lvl="1" algn="just" eaLnBrk="1" hangingPunct="1">
              <a:buNone/>
            </a:pPr>
            <a:endParaRPr lang="en-US" altLang="zh-CN" dirty="0">
              <a:solidFill>
                <a:schemeClr val="accent2"/>
              </a:solidFill>
            </a:endParaRPr>
          </a:p>
          <a:p>
            <a:pPr lvl="1" algn="just" eaLnBrk="1" hangingPunct="1">
              <a:buNone/>
            </a:pPr>
            <a:r>
              <a:rPr lang="zh-CN" altLang="en-US" dirty="0"/>
              <a:t>例</a:t>
            </a:r>
            <a:r>
              <a:rPr lang="en-US" altLang="zh-CN" dirty="0"/>
              <a:t>2</a:t>
            </a:r>
            <a:endParaRPr lang="en-US" altLang="zh-CN" dirty="0"/>
          </a:p>
          <a:p>
            <a:pPr lvl="1" algn="just" eaLnBrk="1" hangingPunct="1">
              <a:buNone/>
            </a:pPr>
            <a:r>
              <a:rPr lang="zh-CN" altLang="en-US" dirty="0"/>
              <a:t>系、系主任、系与系主任间的一对一联系</a:t>
            </a:r>
            <a:endParaRPr lang="zh-CN" altLang="en-US" dirty="0"/>
          </a:p>
          <a:p>
            <a:pPr lvl="1" algn="just" eaLnBrk="1" hangingPunct="1">
              <a:lnSpc>
                <a:spcPct val="120000"/>
              </a:lnSpc>
              <a:buNone/>
            </a:pPr>
            <a:r>
              <a:rPr lang="zh-CN" altLang="en-US" sz="2400" dirty="0">
                <a:solidFill>
                  <a:schemeClr val="accent2"/>
                </a:solidFill>
              </a:rPr>
              <a:t>系 </a:t>
            </a:r>
            <a:r>
              <a:rPr lang="en-US" altLang="zh-CN" sz="2400" dirty="0">
                <a:solidFill>
                  <a:schemeClr val="accent2"/>
                </a:solidFill>
              </a:rPr>
              <a:t>(</a:t>
            </a:r>
            <a:r>
              <a:rPr lang="zh-CN" altLang="en-US" sz="2400" dirty="0">
                <a:solidFill>
                  <a:schemeClr val="accent2"/>
                </a:solidFill>
              </a:rPr>
              <a:t>系号，系名，办公地点，系主任</a:t>
            </a:r>
            <a:r>
              <a:rPr lang="en-US" altLang="zh-CN" sz="2400" dirty="0">
                <a:solidFill>
                  <a:schemeClr val="accent2"/>
                </a:solidFill>
              </a:rPr>
              <a:t>)</a:t>
            </a:r>
            <a:endParaRPr lang="en-US" altLang="zh-CN"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7155"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7156" name="Rectangle 3"/>
          <p:cNvSpPr>
            <a:spLocks noGrp="1"/>
          </p:cNvSpPr>
          <p:nvPr>
            <p:ph idx="1"/>
          </p:nvPr>
        </p:nvSpPr>
        <p:spPr>
          <a:xfrm>
            <a:off x="457200" y="914400"/>
            <a:ext cx="8077200" cy="5257800"/>
          </a:xfrm>
          <a:ln/>
        </p:spPr>
        <p:txBody>
          <a:bodyPr vert="horz" wrap="square" lIns="91440" tIns="45720" rIns="91440" bIns="45720" anchor="t" anchorCtr="0"/>
          <a:p>
            <a:pPr algn="just" eaLnBrk="1" hangingPunct="1">
              <a:lnSpc>
                <a:spcPct val="120000"/>
              </a:lnSpc>
              <a:buNone/>
            </a:pPr>
            <a:r>
              <a:rPr lang="zh-CN" altLang="en-US" dirty="0"/>
              <a:t>关系数据模型的数据结构</a:t>
            </a:r>
            <a:r>
              <a:rPr lang="en-US" altLang="zh-CN" dirty="0"/>
              <a:t>(</a:t>
            </a:r>
            <a:r>
              <a:rPr lang="zh-CN" altLang="en-US" dirty="0"/>
              <a:t>续</a:t>
            </a:r>
            <a:r>
              <a:rPr lang="en-US" altLang="zh-CN" dirty="0"/>
              <a:t>) </a:t>
            </a:r>
            <a:endParaRPr lang="en-US" altLang="zh-CN" dirty="0"/>
          </a:p>
          <a:p>
            <a:pPr lvl="1" algn="just" eaLnBrk="1" hangingPunct="1">
              <a:buNone/>
            </a:pPr>
            <a:r>
              <a:rPr lang="zh-CN" altLang="en-US" sz="3200" dirty="0"/>
              <a:t>例</a:t>
            </a:r>
            <a:r>
              <a:rPr lang="en-US" altLang="zh-CN" sz="3200" dirty="0"/>
              <a:t>3</a:t>
            </a:r>
            <a:endParaRPr lang="en-US" altLang="zh-CN" sz="3200" dirty="0"/>
          </a:p>
          <a:p>
            <a:pPr lvl="1" algn="just" eaLnBrk="1" hangingPunct="1">
              <a:buNone/>
            </a:pPr>
            <a:r>
              <a:rPr lang="zh-CN" altLang="en-US" sz="3200" dirty="0"/>
              <a:t>学生、课程、学生与课程之间的多对多联系：</a:t>
            </a:r>
            <a:endParaRPr lang="zh-CN" altLang="en-US" sz="3200" dirty="0"/>
          </a:p>
          <a:p>
            <a:pPr lvl="1" algn="just" eaLnBrk="1" hangingPunct="1">
              <a:buNone/>
            </a:pPr>
            <a:r>
              <a:rPr lang="zh-CN" altLang="en-US" sz="3200" dirty="0"/>
              <a:t> </a:t>
            </a:r>
            <a:endParaRPr lang="zh-CN" altLang="en-US" sz="3200" dirty="0"/>
          </a:p>
          <a:p>
            <a:pPr lvl="1" algn="just" eaLnBrk="1" hangingPunct="1">
              <a:lnSpc>
                <a:spcPct val="140000"/>
              </a:lnSpc>
              <a:buNone/>
            </a:pPr>
            <a:r>
              <a:rPr lang="zh-CN" altLang="en-US" dirty="0">
                <a:solidFill>
                  <a:schemeClr val="accent2"/>
                </a:solidFill>
              </a:rPr>
              <a:t>学生（学号，姓名，年龄，性别，系号，年级）</a:t>
            </a:r>
            <a:endParaRPr lang="zh-CN" altLang="en-US" dirty="0">
              <a:solidFill>
                <a:schemeClr val="accent2"/>
              </a:solidFill>
            </a:endParaRPr>
          </a:p>
          <a:p>
            <a:pPr lvl="1" algn="just" eaLnBrk="1" hangingPunct="1">
              <a:lnSpc>
                <a:spcPct val="140000"/>
              </a:lnSpc>
              <a:buNone/>
            </a:pPr>
            <a:r>
              <a:rPr lang="zh-CN" altLang="en-US" dirty="0">
                <a:solidFill>
                  <a:schemeClr val="accent2"/>
                </a:solidFill>
              </a:rPr>
              <a:t>课程（课程号，课程名，学分）</a:t>
            </a:r>
            <a:endParaRPr lang="zh-CN" altLang="en-US" dirty="0">
              <a:solidFill>
                <a:schemeClr val="accent2"/>
              </a:solidFill>
            </a:endParaRPr>
          </a:p>
          <a:p>
            <a:pPr lvl="1" algn="just" eaLnBrk="1" hangingPunct="1">
              <a:lnSpc>
                <a:spcPct val="140000"/>
              </a:lnSpc>
              <a:buNone/>
            </a:pPr>
            <a:r>
              <a:rPr lang="zh-CN" altLang="en-US" dirty="0">
                <a:solidFill>
                  <a:srgbClr val="278E1C"/>
                </a:solidFill>
              </a:rPr>
              <a:t>选修（学号，课程号，成绩）</a:t>
            </a:r>
            <a:endParaRPr lang="zh-CN" altLang="en-US" sz="3200" dirty="0">
              <a:solidFill>
                <a:srgbClr val="278E1C"/>
              </a:solidFill>
            </a:endParaRPr>
          </a:p>
          <a:p>
            <a:pPr algn="just" eaLnBrk="1" hangingPunct="1"/>
            <a:endParaRPr lang="zh-CN" alt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8179"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8180" name="Rectangle 3"/>
          <p:cNvSpPr>
            <a:spLocks noGrp="1"/>
          </p:cNvSpPr>
          <p:nvPr>
            <p:ph idx="1"/>
          </p:nvPr>
        </p:nvSpPr>
        <p:spPr>
          <a:xfrm>
            <a:off x="457200" y="914400"/>
            <a:ext cx="8305800" cy="5257800"/>
          </a:xfrm>
          <a:ln/>
        </p:spPr>
        <p:txBody>
          <a:bodyPr vert="horz" wrap="square" lIns="91440" tIns="45720" rIns="91440" bIns="45720" anchor="t" anchorCtr="0"/>
          <a:p>
            <a:pPr algn="just" eaLnBrk="1" hangingPunct="1">
              <a:lnSpc>
                <a:spcPct val="120000"/>
              </a:lnSpc>
              <a:buNone/>
            </a:pPr>
            <a:r>
              <a:rPr lang="zh-CN" altLang="en-US" dirty="0"/>
              <a:t>关系数据模型的数据结构</a:t>
            </a:r>
            <a:r>
              <a:rPr lang="en-US" altLang="zh-CN" dirty="0"/>
              <a:t>(</a:t>
            </a:r>
            <a:r>
              <a:rPr lang="zh-CN" altLang="en-US" dirty="0"/>
              <a:t>续</a:t>
            </a:r>
            <a:r>
              <a:rPr lang="en-US" altLang="zh-CN" dirty="0"/>
              <a:t>) </a:t>
            </a:r>
            <a:endParaRPr lang="en-US" altLang="zh-CN" dirty="0"/>
          </a:p>
          <a:p>
            <a:pPr algn="just" eaLnBrk="1" hangingPunct="1"/>
            <a:r>
              <a:rPr lang="zh-CN" altLang="en-US" sz="2000" dirty="0">
                <a:solidFill>
                  <a:schemeClr val="accent2"/>
                </a:solidFill>
              </a:rPr>
              <a:t>关系必须是规范化的，满足一定的规范条件</a:t>
            </a:r>
            <a:endParaRPr lang="zh-CN" altLang="en-US" sz="2000" dirty="0">
              <a:solidFill>
                <a:schemeClr val="accent2"/>
              </a:solidFill>
            </a:endParaRPr>
          </a:p>
          <a:p>
            <a:pPr lvl="1" algn="just" eaLnBrk="1" hangingPunct="1">
              <a:lnSpc>
                <a:spcPct val="110000"/>
              </a:lnSpc>
              <a:buNone/>
            </a:pPr>
            <a:r>
              <a:rPr lang="zh-CN" altLang="en-US" sz="2000" b="0" dirty="0"/>
              <a:t>最基本的规范条件：关系的每一个分量必须是一个不可分的数据项。</a:t>
            </a:r>
            <a:endParaRPr lang="zh-CN" altLang="en-US" sz="2000" b="0" dirty="0"/>
          </a:p>
          <a:p>
            <a:pPr lvl="1" algn="just" eaLnBrk="1" hangingPunct="1">
              <a:lnSpc>
                <a:spcPct val="110000"/>
              </a:lnSpc>
              <a:buNone/>
            </a:pPr>
            <a:r>
              <a:rPr lang="zh-CN" altLang="en-US" sz="2000" b="0" dirty="0"/>
              <a:t>行、列无序，无重复的行</a:t>
            </a:r>
            <a:endParaRPr lang="zh-CN" altLang="en-US" sz="2000" dirty="0"/>
          </a:p>
          <a:p>
            <a:pPr algn="just" eaLnBrk="1" hangingPunct="1">
              <a:lnSpc>
                <a:spcPct val="120000"/>
              </a:lnSpc>
              <a:buNone/>
            </a:pPr>
            <a:endParaRPr lang="zh-CN" altLang="en-US" dirty="0"/>
          </a:p>
        </p:txBody>
      </p:sp>
      <p:graphicFrame>
        <p:nvGraphicFramePr>
          <p:cNvPr id="178181" name="Object 4"/>
          <p:cNvGraphicFramePr>
            <a:graphicFrameLocks noChangeAspect="1"/>
          </p:cNvGraphicFramePr>
          <p:nvPr/>
        </p:nvGraphicFramePr>
        <p:xfrm>
          <a:off x="276225" y="3082925"/>
          <a:ext cx="8867775" cy="2936875"/>
        </p:xfrm>
        <a:graphic>
          <a:graphicData uri="http://schemas.openxmlformats.org/presentationml/2006/ole">
            <mc:AlternateContent xmlns:mc="http://schemas.openxmlformats.org/markup-compatibility/2006">
              <mc:Choice xmlns:v="urn:schemas-microsoft-com:vml" Requires="v">
                <p:oleObj spid="_x0000_s3084" name="" r:id="rId1" imgW="6912610" imgH="1805940" progId="Word.Document.8">
                  <p:embed/>
                </p:oleObj>
              </mc:Choice>
              <mc:Fallback>
                <p:oleObj name="" r:id="rId1" imgW="6912610" imgH="1805940" progId="Word.Document.8">
                  <p:embed/>
                  <p:pic>
                    <p:nvPicPr>
                      <p:cNvPr id="0" name="Picture 3083"/>
                      <p:cNvPicPr/>
                      <p:nvPr/>
                    </p:nvPicPr>
                    <p:blipFill>
                      <a:blip r:embed="rId2"/>
                      <a:stretch>
                        <a:fillRect/>
                      </a:stretch>
                    </p:blipFill>
                    <p:spPr>
                      <a:xfrm>
                        <a:off x="276225" y="3082925"/>
                        <a:ext cx="8867775" cy="2936875"/>
                      </a:xfrm>
                      <a:prstGeom prst="rect">
                        <a:avLst/>
                      </a:prstGeom>
                      <a:noFill/>
                      <a:ln w="38100">
                        <a:noFill/>
                        <a:miter/>
                      </a:ln>
                    </p:spPr>
                  </p:pic>
                </p:oleObj>
              </mc:Fallback>
            </mc:AlternateContent>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9203"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79204" name="Rectangle 3"/>
          <p:cNvSpPr>
            <a:spLocks noGrp="1"/>
          </p:cNvSpPr>
          <p:nvPr>
            <p:ph idx="1"/>
          </p:nvPr>
        </p:nvSpPr>
        <p:spPr>
          <a:xfrm>
            <a:off x="762000" y="901700"/>
            <a:ext cx="7924800" cy="5041900"/>
          </a:xfrm>
          <a:ln/>
        </p:spPr>
        <p:txBody>
          <a:bodyPr vert="horz" wrap="square" lIns="91440" tIns="45720" rIns="91440" bIns="45720" anchor="t" anchorCtr="0"/>
          <a:p>
            <a:pPr algn="just" eaLnBrk="1" hangingPunct="1">
              <a:lnSpc>
                <a:spcPct val="120000"/>
              </a:lnSpc>
              <a:buNone/>
            </a:pPr>
            <a:r>
              <a:rPr lang="en-US" altLang="zh-CN" dirty="0"/>
              <a:t>2. </a:t>
            </a:r>
            <a:r>
              <a:rPr lang="zh-CN" altLang="en-US" dirty="0"/>
              <a:t>关系数据模型的数据操纵 </a:t>
            </a:r>
            <a:endParaRPr lang="zh-CN" altLang="en-US" dirty="0"/>
          </a:p>
          <a:p>
            <a:pPr algn="just" eaLnBrk="1" hangingPunct="1">
              <a:lnSpc>
                <a:spcPct val="140000"/>
              </a:lnSpc>
              <a:spcAft>
                <a:spcPct val="20000"/>
              </a:spcAft>
            </a:pPr>
            <a:r>
              <a:rPr lang="zh-CN" altLang="en-US" dirty="0">
                <a:solidFill>
                  <a:schemeClr val="tx1"/>
                </a:solidFill>
              </a:rPr>
              <a:t>查询、插入、删除、更新</a:t>
            </a:r>
            <a:endParaRPr lang="zh-CN" altLang="en-US" dirty="0">
              <a:solidFill>
                <a:schemeClr val="tx1"/>
              </a:solidFill>
            </a:endParaRPr>
          </a:p>
          <a:p>
            <a:pPr algn="just" eaLnBrk="1" hangingPunct="1">
              <a:lnSpc>
                <a:spcPct val="140000"/>
              </a:lnSpc>
              <a:spcAft>
                <a:spcPct val="20000"/>
              </a:spcAft>
            </a:pPr>
            <a:r>
              <a:rPr lang="zh-CN" altLang="en-US" dirty="0">
                <a:solidFill>
                  <a:schemeClr val="tx1"/>
                </a:solidFill>
              </a:rPr>
              <a:t>数据操作是集合操作，</a:t>
            </a:r>
            <a:r>
              <a:rPr lang="zh-CN" altLang="en-US" u="sng" dirty="0">
                <a:solidFill>
                  <a:schemeClr val="accent2"/>
                </a:solidFill>
              </a:rPr>
              <a:t>操作对象和操作结果都是关系，</a:t>
            </a:r>
            <a:r>
              <a:rPr lang="zh-CN" altLang="en-US" dirty="0">
                <a:solidFill>
                  <a:schemeClr val="tx1"/>
                </a:solidFill>
              </a:rPr>
              <a:t>即若干元组的集合</a:t>
            </a:r>
            <a:endParaRPr lang="zh-CN" altLang="en-US" dirty="0">
              <a:solidFill>
                <a:schemeClr val="tx1"/>
              </a:solidFill>
            </a:endParaRPr>
          </a:p>
          <a:p>
            <a:pPr algn="just" eaLnBrk="1" hangingPunct="1">
              <a:lnSpc>
                <a:spcPct val="140000"/>
              </a:lnSpc>
              <a:spcAft>
                <a:spcPct val="20000"/>
              </a:spcAft>
            </a:pPr>
            <a:r>
              <a:rPr lang="zh-CN" altLang="en-US" dirty="0">
                <a:solidFill>
                  <a:schemeClr val="tx1"/>
                </a:solidFill>
              </a:rPr>
              <a:t>存取路径对用户隐蔽，用户只要指出“作什么”，</a:t>
            </a:r>
            <a:r>
              <a:rPr lang="zh-CN" altLang="en-US" u="sng" dirty="0">
                <a:solidFill>
                  <a:schemeClr val="tx1"/>
                </a:solidFill>
              </a:rPr>
              <a:t>不必详细说明</a:t>
            </a:r>
            <a:r>
              <a:rPr lang="zh-CN" altLang="en-US" u="sng" dirty="0">
                <a:solidFill>
                  <a:schemeClr val="tx1"/>
                </a:solidFill>
                <a:latin typeface="Tahoma" panose="020B0604030504040204" pitchFamily="34" charset="0"/>
              </a:rPr>
              <a:t>“</a:t>
            </a:r>
            <a:r>
              <a:rPr lang="zh-CN" altLang="en-US" u="sng" dirty="0">
                <a:solidFill>
                  <a:schemeClr val="tx1"/>
                </a:solidFill>
              </a:rPr>
              <a:t>怎么作</a:t>
            </a:r>
            <a:r>
              <a:rPr lang="zh-CN" altLang="en-US" u="sng" dirty="0">
                <a:solidFill>
                  <a:schemeClr val="tx1"/>
                </a:solidFill>
                <a:latin typeface="Tahoma" panose="020B0604030504040204" pitchFamily="34" charset="0"/>
              </a:rPr>
              <a:t>”</a:t>
            </a:r>
            <a:endParaRPr lang="zh-CN" altLang="en-US" u="sng" dirty="0">
              <a:solidFill>
                <a:schemeClr val="tx1"/>
              </a:solidFil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0227"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80228" name="Rectangle 3"/>
          <p:cNvSpPr>
            <a:spLocks noGrp="1"/>
          </p:cNvSpPr>
          <p:nvPr>
            <p:ph idx="1"/>
          </p:nvPr>
        </p:nvSpPr>
        <p:spPr>
          <a:xfrm>
            <a:off x="762000" y="901700"/>
            <a:ext cx="7924800" cy="5041900"/>
          </a:xfrm>
          <a:ln/>
        </p:spPr>
        <p:txBody>
          <a:bodyPr vert="horz" wrap="square" lIns="91440" tIns="45720" rIns="91440" bIns="45720" anchor="t" anchorCtr="0"/>
          <a:p>
            <a:pPr algn="just" eaLnBrk="1" hangingPunct="1">
              <a:lnSpc>
                <a:spcPct val="120000"/>
              </a:lnSpc>
              <a:buNone/>
            </a:pPr>
            <a:r>
              <a:rPr lang="en-US" altLang="zh-CN" dirty="0"/>
              <a:t>3. </a:t>
            </a:r>
            <a:r>
              <a:rPr lang="zh-CN" altLang="en-US" dirty="0"/>
              <a:t>关系数据模型的数据约束 </a:t>
            </a:r>
            <a:endParaRPr lang="zh-CN" altLang="en-US" dirty="0"/>
          </a:p>
          <a:p>
            <a:pPr algn="just" eaLnBrk="1" hangingPunct="1">
              <a:lnSpc>
                <a:spcPct val="190000"/>
              </a:lnSpc>
            </a:pPr>
            <a:r>
              <a:rPr lang="zh-CN" altLang="en-US" dirty="0">
                <a:solidFill>
                  <a:schemeClr val="tx1"/>
                </a:solidFill>
              </a:rPr>
              <a:t>实体完整性</a:t>
            </a:r>
            <a:endParaRPr lang="zh-CN" altLang="en-US" dirty="0">
              <a:solidFill>
                <a:schemeClr val="tx1"/>
              </a:solidFill>
            </a:endParaRPr>
          </a:p>
          <a:p>
            <a:pPr algn="just" eaLnBrk="1" hangingPunct="1">
              <a:lnSpc>
                <a:spcPct val="190000"/>
              </a:lnSpc>
            </a:pPr>
            <a:r>
              <a:rPr lang="zh-CN" altLang="en-US" dirty="0">
                <a:solidFill>
                  <a:schemeClr val="tx1"/>
                </a:solidFill>
              </a:rPr>
              <a:t>参照完整性</a:t>
            </a:r>
            <a:endParaRPr lang="zh-CN" altLang="en-US" dirty="0">
              <a:solidFill>
                <a:schemeClr val="tx1"/>
              </a:solidFill>
            </a:endParaRPr>
          </a:p>
          <a:p>
            <a:pPr algn="just" eaLnBrk="1" hangingPunct="1">
              <a:lnSpc>
                <a:spcPct val="190000"/>
              </a:lnSpc>
            </a:pPr>
            <a:r>
              <a:rPr lang="zh-CN" altLang="en-US" dirty="0">
                <a:solidFill>
                  <a:schemeClr val="tx1"/>
                </a:solidFill>
              </a:rPr>
              <a:t>用户定义的完整性</a:t>
            </a:r>
            <a:endParaRPr lang="zh-CN" altLang="en-US" dirty="0">
              <a:solidFill>
                <a:schemeClr val="tx1"/>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1251"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81252" name="Rectangle 3"/>
          <p:cNvSpPr>
            <a:spLocks noGrp="1"/>
          </p:cNvSpPr>
          <p:nvPr>
            <p:ph idx="1"/>
          </p:nvPr>
        </p:nvSpPr>
        <p:spPr>
          <a:xfrm>
            <a:off x="762000" y="901700"/>
            <a:ext cx="7924800" cy="2451100"/>
          </a:xfrm>
          <a:ln/>
        </p:spPr>
        <p:txBody>
          <a:bodyPr vert="horz" wrap="square" lIns="91440" tIns="45720" rIns="91440" bIns="45720" anchor="t" anchorCtr="0"/>
          <a:p>
            <a:pPr algn="just" eaLnBrk="1" hangingPunct="1">
              <a:lnSpc>
                <a:spcPct val="120000"/>
              </a:lnSpc>
              <a:buNone/>
            </a:pPr>
            <a:r>
              <a:rPr lang="en-US" altLang="zh-CN" dirty="0"/>
              <a:t>4. </a:t>
            </a:r>
            <a:r>
              <a:rPr lang="zh-CN" altLang="en-US" dirty="0"/>
              <a:t>关系数据模型的存储结构 </a:t>
            </a:r>
            <a:endParaRPr lang="zh-CN" altLang="en-US" dirty="0"/>
          </a:p>
          <a:p>
            <a:pPr algn="just" eaLnBrk="1" hangingPunct="1">
              <a:lnSpc>
                <a:spcPct val="190000"/>
              </a:lnSpc>
            </a:pPr>
            <a:r>
              <a:rPr lang="zh-CN" altLang="en-US" dirty="0">
                <a:solidFill>
                  <a:schemeClr val="tx1"/>
                </a:solidFill>
              </a:rPr>
              <a:t>以文件形式存储</a:t>
            </a:r>
            <a:endParaRPr lang="zh-CN" altLang="en-US" dirty="0">
              <a:solidFill>
                <a:schemeClr val="tx1"/>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2275"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82276" name="Rectangle 3"/>
          <p:cNvSpPr>
            <a:spLocks noGrp="1"/>
          </p:cNvSpPr>
          <p:nvPr>
            <p:ph idx="1"/>
          </p:nvPr>
        </p:nvSpPr>
        <p:spPr>
          <a:xfrm>
            <a:off x="381000" y="901700"/>
            <a:ext cx="8305800" cy="5346700"/>
          </a:xfrm>
          <a:ln/>
        </p:spPr>
        <p:txBody>
          <a:bodyPr vert="horz" wrap="square" lIns="91440" tIns="45720" rIns="91440" bIns="45720" anchor="t" anchorCtr="0"/>
          <a:p>
            <a:pPr algn="just" eaLnBrk="1" hangingPunct="1">
              <a:lnSpc>
                <a:spcPct val="120000"/>
              </a:lnSpc>
              <a:buNone/>
            </a:pPr>
            <a:r>
              <a:rPr lang="en-US" altLang="zh-CN" dirty="0"/>
              <a:t>5. </a:t>
            </a:r>
            <a:r>
              <a:rPr lang="zh-CN" altLang="en-US" dirty="0"/>
              <a:t>关系数据模型的优缺点 </a:t>
            </a:r>
            <a:endParaRPr lang="zh-CN" altLang="en-US" dirty="0"/>
          </a:p>
          <a:p>
            <a:pPr algn="just" eaLnBrk="1" hangingPunct="1"/>
            <a:r>
              <a:rPr lang="zh-CN" altLang="en-US" dirty="0">
                <a:solidFill>
                  <a:schemeClr val="accent2"/>
                </a:solidFill>
              </a:rPr>
              <a:t>优点</a:t>
            </a:r>
            <a:endParaRPr lang="zh-CN" altLang="en-US" dirty="0">
              <a:solidFill>
                <a:schemeClr val="accent2"/>
              </a:solidFill>
            </a:endParaRPr>
          </a:p>
          <a:p>
            <a:pPr lvl="1" algn="just" eaLnBrk="1" hangingPunct="1"/>
            <a:r>
              <a:rPr lang="zh-CN" altLang="en-US" dirty="0"/>
              <a:t>建立在严格的数学概念的基础上</a:t>
            </a:r>
            <a:endParaRPr lang="zh-CN" altLang="en-US" dirty="0"/>
          </a:p>
          <a:p>
            <a:pPr lvl="1" algn="just" eaLnBrk="1" hangingPunct="1"/>
            <a:r>
              <a:rPr lang="zh-CN" altLang="en-US" dirty="0"/>
              <a:t>概念单一。结构简单、清晰，用户易懂易用</a:t>
            </a:r>
            <a:endParaRPr lang="zh-CN" altLang="en-US" dirty="0"/>
          </a:p>
          <a:p>
            <a:pPr lvl="2" algn="just" eaLnBrk="1" hangingPunct="1"/>
            <a:r>
              <a:rPr lang="zh-CN" altLang="en-US" dirty="0"/>
              <a:t>实体和各类联系都用关系来表示。</a:t>
            </a:r>
            <a:endParaRPr lang="zh-CN" altLang="en-US" dirty="0"/>
          </a:p>
          <a:p>
            <a:pPr lvl="2" algn="just" eaLnBrk="1" hangingPunct="1"/>
            <a:r>
              <a:rPr lang="zh-CN" altLang="en-US" dirty="0"/>
              <a:t>对数据的检索结果也是关系。</a:t>
            </a:r>
            <a:endParaRPr lang="zh-CN" altLang="en-US" dirty="0"/>
          </a:p>
          <a:p>
            <a:pPr lvl="1" algn="just" eaLnBrk="1" hangingPunct="1"/>
            <a:r>
              <a:rPr lang="zh-CN" altLang="en-US" dirty="0"/>
              <a:t>关系模型的存取路径对用户透明</a:t>
            </a:r>
            <a:endParaRPr lang="zh-CN" altLang="en-US" dirty="0"/>
          </a:p>
          <a:p>
            <a:pPr lvl="2" algn="just" eaLnBrk="1" hangingPunct="1">
              <a:lnSpc>
                <a:spcPct val="120000"/>
              </a:lnSpc>
            </a:pPr>
            <a:r>
              <a:rPr lang="zh-CN" altLang="en-US" dirty="0"/>
              <a:t>具有更高的数据独立性，更好的安全保密性</a:t>
            </a:r>
            <a:endParaRPr lang="zh-CN" altLang="en-US" dirty="0"/>
          </a:p>
          <a:p>
            <a:pPr lvl="2" algn="just" eaLnBrk="1" hangingPunct="1">
              <a:lnSpc>
                <a:spcPct val="120000"/>
              </a:lnSpc>
            </a:pPr>
            <a:r>
              <a:rPr lang="zh-CN" altLang="en-US" dirty="0"/>
              <a:t>简化了程序员的工作和数据库开发建立的工作</a:t>
            </a:r>
            <a:endParaRPr lang="zh-CN" alt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3299"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83300" name="Rectangle 3"/>
          <p:cNvSpPr>
            <a:spLocks noGrp="1"/>
          </p:cNvSpPr>
          <p:nvPr>
            <p:ph idx="1"/>
          </p:nvPr>
        </p:nvSpPr>
        <p:spPr>
          <a:xfrm>
            <a:off x="381000" y="901700"/>
            <a:ext cx="8305800" cy="5041900"/>
          </a:xfrm>
          <a:ln/>
        </p:spPr>
        <p:txBody>
          <a:bodyPr vert="horz" wrap="square" lIns="91440" tIns="45720" rIns="91440" bIns="45720" anchor="t" anchorCtr="0"/>
          <a:p>
            <a:pPr algn="just" eaLnBrk="1" hangingPunct="1">
              <a:lnSpc>
                <a:spcPct val="120000"/>
              </a:lnSpc>
              <a:buNone/>
            </a:pPr>
            <a:r>
              <a:rPr lang="zh-CN" altLang="en-US" dirty="0"/>
              <a:t>关系数据模型的优缺点</a:t>
            </a:r>
            <a:r>
              <a:rPr lang="en-US" altLang="zh-CN" dirty="0"/>
              <a:t>(</a:t>
            </a:r>
            <a:r>
              <a:rPr lang="zh-CN" altLang="en-US" dirty="0"/>
              <a:t>续</a:t>
            </a:r>
            <a:r>
              <a:rPr lang="en-US" altLang="zh-CN" dirty="0"/>
              <a:t>) </a:t>
            </a:r>
            <a:endParaRPr lang="en-US" altLang="zh-CN" dirty="0"/>
          </a:p>
          <a:p>
            <a:pPr algn="just" eaLnBrk="1" hangingPunct="1"/>
            <a:r>
              <a:rPr lang="zh-CN" altLang="en-US" dirty="0"/>
              <a:t>缺点</a:t>
            </a:r>
            <a:endParaRPr lang="zh-CN" altLang="en-US" dirty="0"/>
          </a:p>
          <a:p>
            <a:pPr lvl="1" algn="just" eaLnBrk="1" hangingPunct="1">
              <a:lnSpc>
                <a:spcPct val="140000"/>
              </a:lnSpc>
              <a:buNone/>
            </a:pPr>
            <a:r>
              <a:rPr lang="zh-CN" altLang="en-US" dirty="0"/>
              <a:t>存取路径对用户透明导致查询效率往往不如非</a:t>
            </a:r>
            <a:endParaRPr lang="zh-CN" altLang="en-US" dirty="0"/>
          </a:p>
          <a:p>
            <a:pPr lvl="1" algn="just" eaLnBrk="1" hangingPunct="1">
              <a:lnSpc>
                <a:spcPct val="140000"/>
              </a:lnSpc>
              <a:buNone/>
            </a:pPr>
            <a:r>
              <a:rPr lang="zh-CN" altLang="en-US" dirty="0"/>
              <a:t>关系数据模型</a:t>
            </a:r>
            <a:endParaRPr lang="zh-CN" altLang="en-US" dirty="0"/>
          </a:p>
          <a:p>
            <a:pPr lvl="1" algn="just" eaLnBrk="1" hangingPunct="1">
              <a:lnSpc>
                <a:spcPct val="140000"/>
              </a:lnSpc>
              <a:buNone/>
            </a:pPr>
            <a:r>
              <a:rPr lang="zh-CN" altLang="en-US" dirty="0"/>
              <a:t>为提高性能，必须对用户的</a:t>
            </a:r>
            <a:r>
              <a:rPr lang="zh-CN" altLang="en-US" u="sng" dirty="0"/>
              <a:t>查询请求进行优化</a:t>
            </a:r>
            <a:endParaRPr lang="zh-CN" altLang="en-US" dirty="0"/>
          </a:p>
          <a:p>
            <a:pPr lvl="1" algn="just" eaLnBrk="1" hangingPunct="1">
              <a:lnSpc>
                <a:spcPct val="140000"/>
              </a:lnSpc>
              <a:buNone/>
            </a:pPr>
            <a:r>
              <a:rPr lang="zh-CN" altLang="en-US" dirty="0"/>
              <a:t>增加了开发数据库管理系统的难度</a:t>
            </a:r>
            <a:endParaRPr lang="zh-CN" altLang="en-US" dirty="0"/>
          </a:p>
          <a:p>
            <a:pPr lvl="1" algn="just" eaLnBrk="1" hangingPunct="1">
              <a:lnSpc>
                <a:spcPct val="140000"/>
              </a:lnSpc>
              <a:buNone/>
            </a:pPr>
            <a:r>
              <a:rPr lang="zh-CN" altLang="en-US" dirty="0">
                <a:latin typeface="宋体" panose="02010600030101010101" pitchFamily="2" charset="-122"/>
              </a:rPr>
              <a:t>复杂的数据类型表示能力弱</a:t>
            </a:r>
            <a:endParaRPr lang="zh-CN" alt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23" name="Rectangle 2"/>
          <p:cNvSpPr>
            <a:spLocks noGrp="1"/>
          </p:cNvSpPr>
          <p:nvPr>
            <p:ph type="title"/>
          </p:nvPr>
        </p:nvSpPr>
        <p:spPr>
          <a:xfrm>
            <a:off x="685800" y="25400"/>
            <a:ext cx="7772400" cy="533400"/>
          </a:xfrm>
          <a:ln/>
        </p:spPr>
        <p:txBody>
          <a:bodyPr vert="horz" wrap="square" lIns="91440" tIns="45720" rIns="91440" bIns="45720" anchor="ctr" anchorCtr="0"/>
          <a:p>
            <a:pPr eaLnBrk="1" hangingPunct="1"/>
            <a:r>
              <a:rPr lang="en-US" altLang="zh-CN" u="sng" dirty="0"/>
              <a:t>1.2.7  </a:t>
            </a:r>
            <a:r>
              <a:rPr lang="zh-CN" altLang="en-US" u="sng" dirty="0"/>
              <a:t>关系模型</a:t>
            </a:r>
            <a:endParaRPr lang="zh-CN" altLang="en-US" u="sng" dirty="0"/>
          </a:p>
        </p:txBody>
      </p:sp>
      <p:sp>
        <p:nvSpPr>
          <p:cNvPr id="184324" name="Rectangle 3"/>
          <p:cNvSpPr>
            <a:spLocks noGrp="1"/>
          </p:cNvSpPr>
          <p:nvPr>
            <p:ph idx="1"/>
          </p:nvPr>
        </p:nvSpPr>
        <p:spPr>
          <a:xfrm>
            <a:off x="381000" y="901700"/>
            <a:ext cx="8305800" cy="5041900"/>
          </a:xfrm>
          <a:ln/>
        </p:spPr>
        <p:txBody>
          <a:bodyPr vert="horz" wrap="square" lIns="91440" tIns="45720" rIns="91440" bIns="45720" anchor="t" anchorCtr="0"/>
          <a:p>
            <a:pPr algn="just" eaLnBrk="1" hangingPunct="1">
              <a:lnSpc>
                <a:spcPct val="120000"/>
              </a:lnSpc>
              <a:buNone/>
            </a:pPr>
            <a:r>
              <a:rPr lang="en-US" altLang="zh-CN" dirty="0"/>
              <a:t>6. </a:t>
            </a:r>
            <a:r>
              <a:rPr lang="zh-CN" altLang="en-US" dirty="0"/>
              <a:t>典型的关系数据库系统</a:t>
            </a:r>
            <a:endParaRPr lang="zh-CN" altLang="en-US" dirty="0"/>
          </a:p>
          <a:p>
            <a:pPr lvl="1" eaLnBrk="1" hangingPunct="1"/>
            <a:r>
              <a:rPr lang="en-US" altLang="zh-CN" dirty="0"/>
              <a:t>ORACLE (Oracle)</a:t>
            </a:r>
            <a:endParaRPr lang="en-US" altLang="zh-CN" dirty="0"/>
          </a:p>
          <a:p>
            <a:pPr lvl="1" eaLnBrk="1" hangingPunct="1"/>
            <a:r>
              <a:rPr lang="en-US" altLang="zh-CN" dirty="0"/>
              <a:t>SYBASE (Sybase)</a:t>
            </a:r>
            <a:endParaRPr lang="en-US" altLang="zh-CN" dirty="0"/>
          </a:p>
          <a:p>
            <a:pPr lvl="1" eaLnBrk="1" hangingPunct="1"/>
            <a:r>
              <a:rPr lang="en-US" altLang="zh-CN" dirty="0"/>
              <a:t>INFORMIX (Informix)</a:t>
            </a:r>
            <a:endParaRPr lang="en-US" altLang="zh-CN" dirty="0"/>
          </a:p>
          <a:p>
            <a:pPr lvl="1" eaLnBrk="1" hangingPunct="1"/>
            <a:r>
              <a:rPr lang="en-US" altLang="zh-CN" dirty="0"/>
              <a:t>DB/2 (IBM)</a:t>
            </a:r>
            <a:endParaRPr lang="en-US" altLang="zh-CN" dirty="0"/>
          </a:p>
          <a:p>
            <a:pPr lvl="1" algn="just" eaLnBrk="1" hangingPunct="1"/>
            <a:r>
              <a:rPr lang="en-US" altLang="zh-CN" dirty="0"/>
              <a:t>SQL Server (Microsoft)</a:t>
            </a:r>
            <a:endParaRPr lang="en-US" altLang="zh-CN" dirty="0"/>
          </a:p>
          <a:p>
            <a:pPr lvl="1" algn="just" eaLnBrk="1" hangingPunct="1"/>
            <a:r>
              <a:rPr lang="en-US" altLang="zh-CN" dirty="0"/>
              <a:t>GaussDB(Huawei)</a:t>
            </a:r>
            <a:endParaRPr lang="en-US" altLang="zh-CN"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5347" name="Rectangle 2"/>
          <p:cNvSpPr/>
          <p:nvPr/>
        </p:nvSpPr>
        <p:spPr>
          <a:xfrm>
            <a:off x="457200" y="2997200"/>
            <a:ext cx="8001000" cy="7620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85348" name="Rectangle 3"/>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第</a:t>
            </a:r>
            <a:r>
              <a:rPr lang="en-US" altLang="zh-CN" dirty="0">
                <a:ea typeface="宋体" panose="02010600030101010101" pitchFamily="2" charset="-122"/>
              </a:rPr>
              <a:t>1</a:t>
            </a:r>
            <a:r>
              <a:rPr lang="zh-CN" altLang="en-US" dirty="0">
                <a:ea typeface="宋体" panose="02010600030101010101" pitchFamily="2" charset="-122"/>
              </a:rPr>
              <a:t>章  绪论</a:t>
            </a:r>
            <a:endParaRPr lang="zh-CN" altLang="en-US" dirty="0">
              <a:ea typeface="宋体" panose="02010600030101010101" pitchFamily="2" charset="-122"/>
            </a:endParaRPr>
          </a:p>
        </p:txBody>
      </p:sp>
      <p:sp>
        <p:nvSpPr>
          <p:cNvPr id="185349" name="Rectangle 4"/>
          <p:cNvSpPr>
            <a:spLocks noGrp="1"/>
          </p:cNvSpPr>
          <p:nvPr>
            <p:ph idx="1"/>
          </p:nvPr>
        </p:nvSpPr>
        <p:spPr>
          <a:ln/>
        </p:spPr>
        <p:txBody>
          <a:bodyPr vert="horz" wrap="square" lIns="91440" tIns="45720" rIns="91440" bIns="45720" anchor="t" anchorCtr="0"/>
          <a:p>
            <a:pPr lvl="1" eaLnBrk="1" hangingPunct="1">
              <a:lnSpc>
                <a:spcPct val="120000"/>
              </a:lnSpc>
              <a:buNone/>
            </a:pPr>
            <a:r>
              <a:rPr lang="en-US" altLang="zh-CN" sz="3600" dirty="0"/>
              <a:t>1.1 </a:t>
            </a:r>
            <a:r>
              <a:rPr lang="zh-CN" altLang="en-US" sz="3600" dirty="0">
                <a:latin typeface="宋体" panose="02010600030101010101" pitchFamily="2" charset="-122"/>
              </a:rPr>
              <a:t>数据库系统概述</a:t>
            </a:r>
            <a:endParaRPr lang="zh-CN" altLang="en-US" sz="3600" dirty="0">
              <a:latin typeface="宋体" panose="02010600030101010101" pitchFamily="2" charset="-122"/>
            </a:endParaRPr>
          </a:p>
          <a:p>
            <a:pPr lvl="1" eaLnBrk="1" hangingPunct="1">
              <a:lnSpc>
                <a:spcPct val="120000"/>
              </a:lnSpc>
              <a:buNone/>
            </a:pPr>
            <a:r>
              <a:rPr lang="en-US" altLang="zh-CN" sz="3600" dirty="0"/>
              <a:t>1.2 </a:t>
            </a:r>
            <a:r>
              <a:rPr lang="zh-CN" altLang="en-US" sz="3600" dirty="0">
                <a:latin typeface="宋体" panose="02010600030101010101" pitchFamily="2" charset="-122"/>
              </a:rPr>
              <a:t>数据模型</a:t>
            </a:r>
            <a:endParaRPr lang="zh-CN" altLang="en-US" sz="3600" dirty="0">
              <a:latin typeface="宋体" panose="02010600030101010101" pitchFamily="2" charset="-122"/>
            </a:endParaRPr>
          </a:p>
          <a:p>
            <a:pPr lvl="1" eaLnBrk="1" hangingPunct="1">
              <a:lnSpc>
                <a:spcPct val="120000"/>
              </a:lnSpc>
              <a:buNone/>
            </a:pPr>
            <a:r>
              <a:rPr lang="en-US" altLang="zh-CN" sz="3600" dirty="0">
                <a:solidFill>
                  <a:schemeClr val="bg1"/>
                </a:solidFill>
              </a:rPr>
              <a:t>1.3 </a:t>
            </a:r>
            <a:r>
              <a:rPr lang="zh-CN" altLang="en-US" sz="3600" dirty="0">
                <a:solidFill>
                  <a:schemeClr val="bg1"/>
                </a:solidFill>
                <a:latin typeface="宋体" panose="02010600030101010101" pitchFamily="2" charset="-122"/>
              </a:rPr>
              <a:t>数据库系统结构</a:t>
            </a:r>
            <a:endParaRPr lang="zh-CN" altLang="en-US" sz="3600" dirty="0">
              <a:solidFill>
                <a:schemeClr val="bg1"/>
              </a:solidFill>
              <a:latin typeface="宋体" panose="02010600030101010101" pitchFamily="2" charset="-122"/>
            </a:endParaRPr>
          </a:p>
          <a:p>
            <a:pPr lvl="1" eaLnBrk="1" hangingPunct="1">
              <a:lnSpc>
                <a:spcPct val="120000"/>
              </a:lnSpc>
              <a:buNone/>
            </a:pPr>
            <a:r>
              <a:rPr lang="en-US" altLang="zh-CN" sz="3600" dirty="0"/>
              <a:t>1.4 </a:t>
            </a:r>
            <a:r>
              <a:rPr lang="zh-CN" altLang="en-US" sz="3600" dirty="0">
                <a:latin typeface="宋体" panose="02010600030101010101" pitchFamily="2" charset="-122"/>
              </a:rPr>
              <a:t>数据库系统的组成</a:t>
            </a:r>
            <a:endParaRPr lang="zh-CN" altLang="en-US" sz="3600" dirty="0">
              <a:latin typeface="宋体" panose="02010600030101010101" pitchFamily="2" charset="-122"/>
            </a:endParaRPr>
          </a:p>
          <a:p>
            <a:pPr lvl="1" eaLnBrk="1" hangingPunct="1">
              <a:lnSpc>
                <a:spcPct val="120000"/>
              </a:lnSpc>
              <a:buNone/>
            </a:pPr>
            <a:r>
              <a:rPr lang="en-US" altLang="zh-CN" sz="3600" dirty="0"/>
              <a:t>1.5 </a:t>
            </a:r>
            <a:r>
              <a:rPr lang="zh-CN" altLang="en-US" sz="3600" dirty="0">
                <a:latin typeface="宋体" panose="02010600030101010101" pitchFamily="2" charset="-122"/>
              </a:rPr>
              <a:t>小结</a:t>
            </a:r>
            <a:endParaRPr lang="zh-CN" altLang="en-US" sz="3600" dirty="0">
              <a:latin typeface="宋体" panose="02010600030101010101" pitchFamily="2" charset="-122"/>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7395" name="Rectangle 3"/>
          <p:cNvSpPr>
            <a:spLocks noGrp="1"/>
          </p:cNvSpPr>
          <p:nvPr>
            <p:ph type="title"/>
          </p:nvPr>
        </p:nvSpPr>
        <p:spPr>
          <a:ln/>
        </p:spPr>
        <p:txBody>
          <a:bodyPr vert="horz" wrap="square" lIns="91440" tIns="45720" rIns="91440" bIns="45720" anchor="ctr" anchorCtr="0"/>
          <a:p>
            <a:pPr eaLnBrk="1" hangingPunct="1"/>
            <a:r>
              <a:rPr lang="en-US" altLang="zh-CN" dirty="0"/>
              <a:t>1.3 </a:t>
            </a:r>
            <a:r>
              <a:rPr lang="zh-CN" altLang="en-US" dirty="0"/>
              <a:t>数据库系统结构</a:t>
            </a:r>
            <a:endParaRPr lang="zh-CN" altLang="en-US" dirty="0"/>
          </a:p>
        </p:txBody>
      </p:sp>
      <p:sp>
        <p:nvSpPr>
          <p:cNvPr id="187396" name="Rectangle 6"/>
          <p:cNvSpPr>
            <a:spLocks noGrp="1"/>
          </p:cNvSpPr>
          <p:nvPr>
            <p:ph idx="1"/>
          </p:nvPr>
        </p:nvSpPr>
        <p:spPr>
          <a:xfrm>
            <a:off x="323850" y="1341438"/>
            <a:ext cx="8435975" cy="4895850"/>
          </a:xfrm>
          <a:ln/>
        </p:spPr>
        <p:txBody>
          <a:bodyPr vert="horz" wrap="square" lIns="91440" tIns="45720" rIns="91440" bIns="45720" anchor="t" anchorCtr="0"/>
          <a:p>
            <a:pPr eaLnBrk="1" hangingPunct="1"/>
            <a:r>
              <a:rPr lang="zh-CN" altLang="en-US" sz="2800" dirty="0"/>
              <a:t>从数据库管理系统角度看，数据库系统通常采用三级模式结构，是数据库系统内部的系统结构 </a:t>
            </a:r>
            <a:endParaRPr lang="zh-CN" altLang="en-US" sz="2800" dirty="0"/>
          </a:p>
          <a:p>
            <a:pPr eaLnBrk="1" hangingPunct="1">
              <a:buNone/>
            </a:pPr>
            <a:r>
              <a:rPr lang="zh-CN" altLang="en-US" sz="2800" dirty="0"/>
              <a:t> </a:t>
            </a:r>
            <a:endParaRPr lang="zh-CN" altLang="en-US" sz="2800" dirty="0"/>
          </a:p>
          <a:p>
            <a:pPr eaLnBrk="1" hangingPunct="1"/>
            <a:r>
              <a:rPr lang="zh-CN" altLang="en-US" sz="2800" dirty="0"/>
              <a:t>从数据库最终用户角度看（数据库系统外部的体系结构） ，数据库系统的结构分为</a:t>
            </a:r>
            <a:r>
              <a:rPr lang="en-US" altLang="zh-CN" sz="2800" dirty="0"/>
              <a:t>:</a:t>
            </a:r>
            <a:endParaRPr lang="en-US" altLang="zh-CN" sz="2800" dirty="0"/>
          </a:p>
          <a:p>
            <a:pPr lvl="1" eaLnBrk="1" hangingPunct="1"/>
            <a:r>
              <a:rPr lang="zh-CN" altLang="en-US" sz="2400" dirty="0"/>
              <a:t>单用户结构</a:t>
            </a:r>
            <a:endParaRPr lang="zh-CN" altLang="en-US" sz="2400" dirty="0"/>
          </a:p>
          <a:p>
            <a:pPr lvl="1" eaLnBrk="1" hangingPunct="1"/>
            <a:r>
              <a:rPr lang="zh-CN" altLang="en-US" sz="2400" dirty="0"/>
              <a:t>主从式结构</a:t>
            </a:r>
            <a:endParaRPr lang="zh-CN" altLang="en-US" sz="2400" dirty="0"/>
          </a:p>
          <a:p>
            <a:pPr lvl="1" eaLnBrk="1" hangingPunct="1"/>
            <a:r>
              <a:rPr lang="zh-CN" altLang="en-US" sz="2400" dirty="0"/>
              <a:t>分布式结构</a:t>
            </a:r>
            <a:endParaRPr lang="zh-CN" altLang="en-US" sz="2400" dirty="0"/>
          </a:p>
          <a:p>
            <a:pPr lvl="1" eaLnBrk="1" hangingPunct="1"/>
            <a:r>
              <a:rPr lang="zh-CN" altLang="en-US" sz="2400" dirty="0"/>
              <a:t>客户／服务器</a:t>
            </a:r>
            <a:endParaRPr lang="zh-CN" altLang="en-US" sz="2400" dirty="0"/>
          </a:p>
          <a:p>
            <a:pPr lvl="1" eaLnBrk="1" hangingPunct="1"/>
            <a:r>
              <a:rPr lang="zh-CN" altLang="en-US" sz="2400" dirty="0"/>
              <a:t>浏览器／应用服务器／数据库服务器多层结构等</a:t>
            </a:r>
            <a:endParaRPr lang="zh-CN" altLang="en-US" sz="24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8419" name="Rectangle 2"/>
          <p:cNvSpPr/>
          <p:nvPr/>
        </p:nvSpPr>
        <p:spPr>
          <a:xfrm>
            <a:off x="558800" y="1724025"/>
            <a:ext cx="8001000" cy="6858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88420" name="Rectangle 3"/>
          <p:cNvSpPr>
            <a:spLocks noGrp="1"/>
          </p:cNvSpPr>
          <p:nvPr>
            <p:ph type="title"/>
          </p:nvPr>
        </p:nvSpPr>
        <p:spPr>
          <a:ln/>
        </p:spPr>
        <p:txBody>
          <a:bodyPr vert="horz" wrap="square" lIns="91440" tIns="45720" rIns="91440" bIns="45720" anchor="ctr" anchorCtr="0"/>
          <a:p>
            <a:pPr eaLnBrk="1" hangingPunct="1"/>
            <a:r>
              <a:rPr lang="en-US" altLang="zh-CN" dirty="0"/>
              <a:t>1.3 </a:t>
            </a:r>
            <a:r>
              <a:rPr lang="zh-CN" altLang="en-US" dirty="0"/>
              <a:t>数据库系统结构</a:t>
            </a:r>
            <a:endParaRPr lang="zh-CN" altLang="en-US" dirty="0"/>
          </a:p>
        </p:txBody>
      </p:sp>
      <p:sp>
        <p:nvSpPr>
          <p:cNvPr id="188421" name="Rectangle 4"/>
          <p:cNvSpPr>
            <a:spLocks noGrp="1"/>
          </p:cNvSpPr>
          <p:nvPr>
            <p:ph idx="1"/>
          </p:nvPr>
        </p:nvSpPr>
        <p:spPr>
          <a:xfrm>
            <a:off x="685800" y="1447800"/>
            <a:ext cx="7848600" cy="3581400"/>
          </a:xfrm>
          <a:ln/>
        </p:spPr>
        <p:txBody>
          <a:bodyPr vert="horz" wrap="square" lIns="91440" tIns="45720" rIns="91440" bIns="45720" anchor="t" anchorCtr="0"/>
          <a:p>
            <a:pPr algn="just" eaLnBrk="1" hangingPunct="1">
              <a:lnSpc>
                <a:spcPct val="190000"/>
              </a:lnSpc>
              <a:buNone/>
            </a:pPr>
            <a:r>
              <a:rPr lang="en-US" altLang="zh-CN" dirty="0">
                <a:solidFill>
                  <a:schemeClr val="bg1"/>
                </a:solidFill>
              </a:rPr>
              <a:t>1.3.1 </a:t>
            </a:r>
            <a:r>
              <a:rPr lang="zh-CN" altLang="en-US" dirty="0">
                <a:solidFill>
                  <a:schemeClr val="bg1"/>
                </a:solidFill>
              </a:rPr>
              <a:t>数据库系统模式的概念</a:t>
            </a:r>
            <a:r>
              <a:rPr lang="zh-CN" altLang="en-US" dirty="0">
                <a:solidFill>
                  <a:schemeClr val="tx1"/>
                </a:solidFill>
              </a:rPr>
              <a:t> </a:t>
            </a:r>
            <a:endParaRPr lang="zh-CN" altLang="en-US" dirty="0">
              <a:solidFill>
                <a:schemeClr val="tx1"/>
              </a:solidFill>
            </a:endParaRPr>
          </a:p>
          <a:p>
            <a:pPr algn="just" eaLnBrk="1" hangingPunct="1">
              <a:lnSpc>
                <a:spcPct val="190000"/>
              </a:lnSpc>
              <a:buNone/>
            </a:pPr>
            <a:r>
              <a:rPr lang="en-US" altLang="zh-CN" dirty="0">
                <a:solidFill>
                  <a:schemeClr val="tx1"/>
                </a:solidFill>
              </a:rPr>
              <a:t>1.3.2  </a:t>
            </a:r>
            <a:r>
              <a:rPr lang="zh-CN" altLang="en-US" dirty="0">
                <a:solidFill>
                  <a:schemeClr val="tx1"/>
                </a:solidFill>
              </a:rPr>
              <a:t>数据库系统的三级模式结构 </a:t>
            </a:r>
            <a:endParaRPr lang="zh-CN" altLang="en-US" dirty="0">
              <a:solidFill>
                <a:schemeClr val="tx1"/>
              </a:solidFill>
            </a:endParaRPr>
          </a:p>
          <a:p>
            <a:pPr algn="just" eaLnBrk="1" hangingPunct="1">
              <a:lnSpc>
                <a:spcPct val="190000"/>
              </a:lnSpc>
              <a:buNone/>
            </a:pPr>
            <a:r>
              <a:rPr lang="en-US" altLang="zh-CN" dirty="0">
                <a:solidFill>
                  <a:schemeClr val="tx1"/>
                </a:solidFill>
              </a:rPr>
              <a:t>1.3.3 </a:t>
            </a:r>
            <a:r>
              <a:rPr lang="zh-CN" altLang="en-US" dirty="0">
                <a:solidFill>
                  <a:schemeClr val="tx1"/>
                </a:solidFill>
              </a:rPr>
              <a:t>数据库的二级映像功能与数据独立性</a:t>
            </a:r>
            <a:endParaRPr lang="zh-CN" altLang="en-US" dirty="0">
              <a:solidFill>
                <a:schemeClr val="tx1"/>
              </a:solidFil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9443"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数据库系统模式的概念</a:t>
            </a:r>
            <a:endParaRPr lang="zh-CN" altLang="en-US" u="sng" dirty="0"/>
          </a:p>
        </p:txBody>
      </p:sp>
      <p:sp>
        <p:nvSpPr>
          <p:cNvPr id="189444" name="Rectangle 3"/>
          <p:cNvSpPr>
            <a:spLocks noGrp="1"/>
          </p:cNvSpPr>
          <p:nvPr>
            <p:ph idx="1"/>
          </p:nvPr>
        </p:nvSpPr>
        <p:spPr>
          <a:xfrm>
            <a:off x="304800" y="838200"/>
            <a:ext cx="8305800" cy="5715000"/>
          </a:xfrm>
          <a:ln/>
        </p:spPr>
        <p:txBody>
          <a:bodyPr vert="horz" wrap="square" lIns="91440" tIns="45720" rIns="91440" bIns="45720" anchor="t" anchorCtr="0"/>
          <a:p>
            <a:pPr eaLnBrk="1" hangingPunct="1">
              <a:lnSpc>
                <a:spcPct val="90000"/>
              </a:lnSpc>
            </a:pPr>
            <a:r>
              <a:rPr lang="en-US" altLang="zh-CN" dirty="0">
                <a:solidFill>
                  <a:schemeClr val="tx1"/>
                </a:solidFill>
              </a:rPr>
              <a:t>“</a:t>
            </a:r>
            <a:r>
              <a:rPr lang="zh-CN" altLang="en-US" dirty="0">
                <a:solidFill>
                  <a:schemeClr val="tx1"/>
                </a:solidFill>
              </a:rPr>
              <a:t>型” 和“值” 的概念</a:t>
            </a:r>
            <a:endParaRPr lang="zh-CN" altLang="en-US" dirty="0">
              <a:solidFill>
                <a:schemeClr val="tx1"/>
              </a:solidFill>
            </a:endParaRPr>
          </a:p>
          <a:p>
            <a:pPr lvl="1" algn="just" eaLnBrk="1" hangingPunct="1">
              <a:lnSpc>
                <a:spcPct val="90000"/>
              </a:lnSpc>
            </a:pPr>
            <a:r>
              <a:rPr lang="zh-CN" altLang="en-US" sz="3200" dirty="0">
                <a:solidFill>
                  <a:schemeClr val="accent2"/>
                </a:solidFill>
              </a:rPr>
              <a:t>型</a:t>
            </a:r>
            <a:r>
              <a:rPr lang="zh-CN" altLang="en-US" sz="3200" dirty="0"/>
              <a:t>（</a:t>
            </a:r>
            <a:r>
              <a:rPr lang="en-US" altLang="zh-CN" sz="3200" dirty="0"/>
              <a:t>Type</a:t>
            </a:r>
            <a:r>
              <a:rPr lang="zh-CN" altLang="en-US" sz="3200" dirty="0"/>
              <a:t>）</a:t>
            </a:r>
            <a:endParaRPr lang="zh-CN" altLang="en-US" sz="3200" dirty="0"/>
          </a:p>
          <a:p>
            <a:pPr lvl="2" algn="just" eaLnBrk="1" hangingPunct="1">
              <a:lnSpc>
                <a:spcPct val="90000"/>
              </a:lnSpc>
              <a:buNone/>
            </a:pPr>
            <a:r>
              <a:rPr lang="zh-CN" altLang="en-US" sz="2800" dirty="0"/>
              <a:t>对某一类数据的结构和属性的说明</a:t>
            </a:r>
            <a:endParaRPr lang="zh-CN" altLang="en-US" sz="2800" dirty="0"/>
          </a:p>
          <a:p>
            <a:pPr lvl="1" algn="just" eaLnBrk="1" hangingPunct="1">
              <a:lnSpc>
                <a:spcPct val="90000"/>
              </a:lnSpc>
            </a:pPr>
            <a:r>
              <a:rPr lang="zh-CN" altLang="en-US" sz="3200" dirty="0">
                <a:solidFill>
                  <a:schemeClr val="accent2"/>
                </a:solidFill>
              </a:rPr>
              <a:t>值</a:t>
            </a:r>
            <a:r>
              <a:rPr lang="zh-CN" altLang="en-US" sz="3200" dirty="0"/>
              <a:t>（</a:t>
            </a:r>
            <a:r>
              <a:rPr lang="en-US" altLang="zh-CN" sz="3200" dirty="0"/>
              <a:t>Value</a:t>
            </a:r>
            <a:r>
              <a:rPr lang="zh-CN" altLang="en-US" sz="3200" dirty="0"/>
              <a:t>）</a:t>
            </a:r>
            <a:endParaRPr lang="zh-CN" altLang="en-US" sz="3200" dirty="0"/>
          </a:p>
          <a:p>
            <a:pPr lvl="2" algn="just" eaLnBrk="1" hangingPunct="1">
              <a:lnSpc>
                <a:spcPct val="90000"/>
              </a:lnSpc>
              <a:buNone/>
            </a:pPr>
            <a:r>
              <a:rPr lang="zh-CN" altLang="en-US" sz="2800" dirty="0"/>
              <a:t>是型的一个具体赋值</a:t>
            </a:r>
            <a:endParaRPr lang="zh-CN" altLang="en-US" sz="2800" dirty="0"/>
          </a:p>
          <a:p>
            <a:pPr lvl="1" eaLnBrk="1" hangingPunct="1">
              <a:lnSpc>
                <a:spcPct val="90000"/>
              </a:lnSpc>
              <a:spcAft>
                <a:spcPct val="20000"/>
              </a:spcAft>
            </a:pPr>
            <a:r>
              <a:rPr lang="zh-CN" altLang="en-US" sz="3200" b="0" dirty="0">
                <a:latin typeface="华文新魏" panose="02010800040101010101" pitchFamily="2" charset="-122"/>
              </a:rPr>
              <a:t>型是相对稳定的，值是变化的</a:t>
            </a:r>
            <a:endParaRPr lang="zh-CN" altLang="en-US" sz="3200" b="0" dirty="0">
              <a:latin typeface="华文新魏" panose="02010800040101010101" pitchFamily="2" charset="-122"/>
            </a:endParaRPr>
          </a:p>
          <a:p>
            <a:pPr lvl="2" algn="just" eaLnBrk="1" hangingPunct="1">
              <a:lnSpc>
                <a:spcPct val="90000"/>
              </a:lnSpc>
              <a:buNone/>
            </a:pPr>
            <a:r>
              <a:rPr lang="zh-CN" altLang="en-US" sz="2800" dirty="0"/>
              <a:t>例如：学生记录</a:t>
            </a:r>
            <a:endParaRPr lang="zh-CN" altLang="en-US" sz="2800" dirty="0"/>
          </a:p>
          <a:p>
            <a:pPr lvl="1" algn="just" eaLnBrk="1" hangingPunct="1">
              <a:lnSpc>
                <a:spcPct val="90000"/>
              </a:lnSpc>
              <a:buNone/>
            </a:pPr>
            <a:r>
              <a:rPr lang="zh-CN" altLang="en-US" dirty="0"/>
              <a:t>记录型：</a:t>
            </a:r>
            <a:endParaRPr lang="zh-CN" altLang="en-US" dirty="0"/>
          </a:p>
          <a:p>
            <a:pPr lvl="1" algn="just" eaLnBrk="1" hangingPunct="1">
              <a:lnSpc>
                <a:spcPct val="90000"/>
              </a:lnSpc>
              <a:buNone/>
            </a:pPr>
            <a:r>
              <a:rPr lang="zh-CN" altLang="en-US" dirty="0"/>
              <a:t>  （学号，姓名，性别，系别，年龄，籍贯）</a:t>
            </a:r>
            <a:endParaRPr lang="zh-CN" altLang="en-US" dirty="0"/>
          </a:p>
          <a:p>
            <a:pPr lvl="1" algn="just" eaLnBrk="1" hangingPunct="1">
              <a:lnSpc>
                <a:spcPct val="90000"/>
              </a:lnSpc>
              <a:buNone/>
            </a:pPr>
            <a:r>
              <a:rPr lang="zh-CN" altLang="en-US" dirty="0"/>
              <a:t>该记录型的一个记录值：</a:t>
            </a:r>
            <a:endParaRPr lang="zh-CN" altLang="en-US" dirty="0"/>
          </a:p>
          <a:p>
            <a:pPr lvl="1" algn="just" eaLnBrk="1" hangingPunct="1">
              <a:lnSpc>
                <a:spcPct val="90000"/>
              </a:lnSpc>
              <a:buNone/>
            </a:pPr>
            <a:r>
              <a:rPr lang="zh-CN" altLang="en-US" dirty="0"/>
              <a:t>  （</a:t>
            </a:r>
            <a:r>
              <a:rPr lang="en-US" altLang="zh-CN" dirty="0"/>
              <a:t>900201</a:t>
            </a:r>
            <a:r>
              <a:rPr lang="zh-CN" altLang="en-US" dirty="0"/>
              <a:t>，李明，男，计算机，</a:t>
            </a:r>
            <a:r>
              <a:rPr lang="en-US" altLang="zh-CN" dirty="0"/>
              <a:t>22</a:t>
            </a:r>
            <a:r>
              <a:rPr lang="zh-CN" altLang="en-US" dirty="0"/>
              <a:t>，江苏）</a:t>
            </a:r>
            <a:endParaRPr lang="zh-CN" alt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0467"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190468" name="Rectangle 3"/>
          <p:cNvSpPr>
            <a:spLocks noGrp="1"/>
          </p:cNvSpPr>
          <p:nvPr>
            <p:ph idx="1"/>
          </p:nvPr>
        </p:nvSpPr>
        <p:spPr>
          <a:xfrm>
            <a:off x="304800" y="838200"/>
            <a:ext cx="8305800" cy="5715000"/>
          </a:xfrm>
          <a:ln/>
        </p:spPr>
        <p:txBody>
          <a:bodyPr vert="horz" wrap="square" lIns="91440" tIns="45720" rIns="91440" bIns="45720" anchor="t" anchorCtr="0"/>
          <a:p>
            <a:pPr algn="just" eaLnBrk="1" hangingPunct="1">
              <a:lnSpc>
                <a:spcPct val="130000"/>
              </a:lnSpc>
              <a:buNone/>
            </a:pPr>
            <a:r>
              <a:rPr lang="zh-CN" altLang="en-US" dirty="0">
                <a:solidFill>
                  <a:srgbClr val="FF0000"/>
                </a:solidFill>
              </a:rPr>
              <a:t>数据库系统模式的概念</a:t>
            </a:r>
            <a:r>
              <a:rPr lang="en-US" altLang="zh-CN" dirty="0">
                <a:solidFill>
                  <a:srgbClr val="FF0000"/>
                </a:solidFill>
              </a:rPr>
              <a:t>(</a:t>
            </a:r>
            <a:r>
              <a:rPr lang="zh-CN" altLang="en-US" dirty="0">
                <a:solidFill>
                  <a:srgbClr val="FF0000"/>
                </a:solidFill>
              </a:rPr>
              <a:t>续</a:t>
            </a:r>
            <a:r>
              <a:rPr lang="en-US" altLang="zh-CN" dirty="0">
                <a:solidFill>
                  <a:srgbClr val="FF0000"/>
                </a:solidFill>
              </a:rPr>
              <a:t>)</a:t>
            </a:r>
            <a:endParaRPr lang="en-US" altLang="zh-CN" dirty="0">
              <a:solidFill>
                <a:srgbClr val="FF0000"/>
              </a:solidFill>
            </a:endParaRPr>
          </a:p>
          <a:p>
            <a:pPr eaLnBrk="1" hangingPunct="1">
              <a:lnSpc>
                <a:spcPct val="110000"/>
              </a:lnSpc>
            </a:pPr>
            <a:r>
              <a:rPr lang="zh-CN" altLang="en-US" sz="2400" dirty="0"/>
              <a:t>模式（</a:t>
            </a:r>
            <a:r>
              <a:rPr lang="en-US" altLang="zh-CN" sz="2400" dirty="0"/>
              <a:t>Schema</a:t>
            </a:r>
            <a:r>
              <a:rPr lang="zh-CN" altLang="en-US" sz="2400" dirty="0"/>
              <a:t>）</a:t>
            </a:r>
            <a:endParaRPr lang="zh-CN" altLang="en-US" sz="2400" dirty="0"/>
          </a:p>
          <a:p>
            <a:pPr lvl="1" algn="just" eaLnBrk="1" hangingPunct="1">
              <a:lnSpc>
                <a:spcPct val="110000"/>
              </a:lnSpc>
            </a:pPr>
            <a:r>
              <a:rPr lang="zh-CN" altLang="en-US" sz="2400" b="0" dirty="0"/>
              <a:t>数据库逻辑结构和特征的描述</a:t>
            </a:r>
            <a:endParaRPr lang="zh-CN" altLang="en-US" sz="2400" b="0" dirty="0"/>
          </a:p>
          <a:p>
            <a:pPr lvl="1" algn="just" eaLnBrk="1" hangingPunct="1">
              <a:lnSpc>
                <a:spcPct val="110000"/>
              </a:lnSpc>
            </a:pPr>
            <a:r>
              <a:rPr lang="zh-CN" altLang="en-US" sz="2400" b="0" dirty="0"/>
              <a:t>是型的描述，不涉及具体的值</a:t>
            </a:r>
            <a:endParaRPr lang="zh-CN" altLang="en-US" sz="2400" b="0" dirty="0"/>
          </a:p>
          <a:p>
            <a:pPr lvl="1" algn="just" eaLnBrk="1" hangingPunct="1">
              <a:lnSpc>
                <a:spcPct val="110000"/>
              </a:lnSpc>
            </a:pPr>
            <a:r>
              <a:rPr lang="zh-CN" altLang="en-US" sz="2400" b="0" dirty="0"/>
              <a:t>反映的是数据的结构及其联系</a:t>
            </a:r>
            <a:endParaRPr lang="zh-CN" altLang="en-US" sz="2400" b="0" dirty="0"/>
          </a:p>
          <a:p>
            <a:pPr lvl="1" algn="just" eaLnBrk="1" hangingPunct="1">
              <a:lnSpc>
                <a:spcPct val="110000"/>
              </a:lnSpc>
            </a:pPr>
            <a:r>
              <a:rPr lang="zh-CN" altLang="en-US" sz="2400" b="0" dirty="0"/>
              <a:t>模式是相对稳定的</a:t>
            </a:r>
            <a:endParaRPr lang="zh-CN" altLang="en-US" sz="2400" b="0" dirty="0"/>
          </a:p>
          <a:p>
            <a:pPr eaLnBrk="1" hangingPunct="1">
              <a:lnSpc>
                <a:spcPct val="110000"/>
              </a:lnSpc>
            </a:pPr>
            <a:r>
              <a:rPr lang="zh-CN" altLang="en-US" sz="2400" dirty="0"/>
              <a:t>模式的一个实例（</a:t>
            </a:r>
            <a:r>
              <a:rPr lang="en-US" altLang="zh-CN" sz="2400" dirty="0"/>
              <a:t>Instance</a:t>
            </a:r>
            <a:r>
              <a:rPr lang="zh-CN" altLang="en-US" sz="2400" dirty="0"/>
              <a:t>）</a:t>
            </a:r>
            <a:endParaRPr lang="zh-CN" altLang="en-US" sz="2400" dirty="0"/>
          </a:p>
          <a:p>
            <a:pPr lvl="1" eaLnBrk="1" hangingPunct="1">
              <a:lnSpc>
                <a:spcPct val="110000"/>
              </a:lnSpc>
            </a:pPr>
            <a:r>
              <a:rPr lang="zh-CN" altLang="en-US" sz="2400" b="0" dirty="0"/>
              <a:t>模式的一个具体值</a:t>
            </a:r>
            <a:endParaRPr lang="zh-CN" altLang="en-US" sz="2400" b="0" dirty="0"/>
          </a:p>
          <a:p>
            <a:pPr lvl="1" eaLnBrk="1" hangingPunct="1">
              <a:lnSpc>
                <a:spcPct val="110000"/>
              </a:lnSpc>
            </a:pPr>
            <a:r>
              <a:rPr lang="zh-CN" altLang="en-US" sz="2400" b="0" dirty="0"/>
              <a:t>反映数据库某一时刻的状态</a:t>
            </a:r>
            <a:endParaRPr lang="zh-CN" altLang="en-US" sz="2400" b="0" dirty="0"/>
          </a:p>
          <a:p>
            <a:pPr lvl="1" eaLnBrk="1" hangingPunct="1">
              <a:lnSpc>
                <a:spcPct val="110000"/>
              </a:lnSpc>
            </a:pPr>
            <a:r>
              <a:rPr lang="zh-CN" altLang="en-US" sz="2400" b="0" dirty="0"/>
              <a:t>同一个模式可以有很多实例</a:t>
            </a:r>
            <a:endParaRPr lang="zh-CN" altLang="en-US" sz="2400" b="0" dirty="0"/>
          </a:p>
          <a:p>
            <a:pPr lvl="1" eaLnBrk="1" hangingPunct="1">
              <a:lnSpc>
                <a:spcPct val="110000"/>
              </a:lnSpc>
            </a:pPr>
            <a:r>
              <a:rPr lang="zh-CN" altLang="en-US" sz="2400" b="0" dirty="0"/>
              <a:t>实例随数据库中的数据的更新而变动</a:t>
            </a:r>
            <a:endParaRPr lang="zh-CN" altLang="en-US" sz="2400" b="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1491" name="Rectangle 2"/>
          <p:cNvSpPr/>
          <p:nvPr/>
        </p:nvSpPr>
        <p:spPr>
          <a:xfrm>
            <a:off x="558800" y="2743200"/>
            <a:ext cx="8001000" cy="6858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91492" name="Rectangle 3"/>
          <p:cNvSpPr>
            <a:spLocks noGrp="1"/>
          </p:cNvSpPr>
          <p:nvPr>
            <p:ph type="title"/>
          </p:nvPr>
        </p:nvSpPr>
        <p:spPr>
          <a:ln/>
        </p:spPr>
        <p:txBody>
          <a:bodyPr vert="horz" wrap="square" lIns="91440" tIns="45720" rIns="91440" bIns="45720" anchor="ctr" anchorCtr="0"/>
          <a:p>
            <a:pPr eaLnBrk="1" hangingPunct="1"/>
            <a:r>
              <a:rPr lang="en-US" altLang="zh-CN" dirty="0"/>
              <a:t>1.3 </a:t>
            </a:r>
            <a:r>
              <a:rPr lang="zh-CN" altLang="en-US" dirty="0"/>
              <a:t>数据库系统结构</a:t>
            </a:r>
            <a:endParaRPr lang="zh-CN" altLang="en-US" dirty="0"/>
          </a:p>
        </p:txBody>
      </p:sp>
      <p:sp>
        <p:nvSpPr>
          <p:cNvPr id="191493" name="Rectangle 4"/>
          <p:cNvSpPr>
            <a:spLocks noGrp="1"/>
          </p:cNvSpPr>
          <p:nvPr>
            <p:ph idx="1"/>
          </p:nvPr>
        </p:nvSpPr>
        <p:spPr>
          <a:xfrm>
            <a:off x="685800" y="1447800"/>
            <a:ext cx="7848600" cy="3581400"/>
          </a:xfrm>
          <a:ln/>
        </p:spPr>
        <p:txBody>
          <a:bodyPr vert="horz" wrap="square" lIns="91440" tIns="45720" rIns="91440" bIns="45720" anchor="t" anchorCtr="0"/>
          <a:p>
            <a:pPr algn="just" eaLnBrk="1" hangingPunct="1">
              <a:lnSpc>
                <a:spcPct val="190000"/>
              </a:lnSpc>
              <a:buNone/>
            </a:pPr>
            <a:r>
              <a:rPr lang="en-US" altLang="zh-CN" dirty="0">
                <a:solidFill>
                  <a:schemeClr val="tx1"/>
                </a:solidFill>
              </a:rPr>
              <a:t>1.3.1 </a:t>
            </a:r>
            <a:r>
              <a:rPr lang="zh-CN" altLang="en-US" dirty="0">
                <a:solidFill>
                  <a:schemeClr val="tx1"/>
                </a:solidFill>
              </a:rPr>
              <a:t>数据库系统模式的概念 </a:t>
            </a:r>
            <a:endParaRPr lang="zh-CN" altLang="en-US" dirty="0">
              <a:solidFill>
                <a:schemeClr val="tx1"/>
              </a:solidFill>
            </a:endParaRPr>
          </a:p>
          <a:p>
            <a:pPr algn="just" eaLnBrk="1" hangingPunct="1">
              <a:lnSpc>
                <a:spcPct val="190000"/>
              </a:lnSpc>
              <a:buNone/>
            </a:pPr>
            <a:r>
              <a:rPr lang="en-US" altLang="zh-CN" dirty="0">
                <a:solidFill>
                  <a:schemeClr val="bg1"/>
                </a:solidFill>
              </a:rPr>
              <a:t>1.3.2  </a:t>
            </a:r>
            <a:r>
              <a:rPr lang="zh-CN" altLang="en-US" dirty="0">
                <a:solidFill>
                  <a:schemeClr val="bg1"/>
                </a:solidFill>
              </a:rPr>
              <a:t>数据库系统的三级模式结构</a:t>
            </a:r>
            <a:r>
              <a:rPr lang="zh-CN" altLang="en-US" dirty="0">
                <a:solidFill>
                  <a:schemeClr val="tx1"/>
                </a:solidFill>
              </a:rPr>
              <a:t> </a:t>
            </a:r>
            <a:endParaRPr lang="zh-CN" altLang="en-US" dirty="0">
              <a:solidFill>
                <a:schemeClr val="tx1"/>
              </a:solidFill>
            </a:endParaRPr>
          </a:p>
          <a:p>
            <a:pPr algn="just" eaLnBrk="1" hangingPunct="1">
              <a:lnSpc>
                <a:spcPct val="190000"/>
              </a:lnSpc>
              <a:buNone/>
            </a:pPr>
            <a:r>
              <a:rPr lang="en-US" altLang="zh-CN" dirty="0">
                <a:solidFill>
                  <a:schemeClr val="tx1"/>
                </a:solidFill>
              </a:rPr>
              <a:t>1.3.3 </a:t>
            </a:r>
            <a:r>
              <a:rPr lang="zh-CN" altLang="en-US" dirty="0">
                <a:solidFill>
                  <a:schemeClr val="tx1"/>
                </a:solidFill>
              </a:rPr>
              <a:t>数据库的二级映像功能与数据独立性</a:t>
            </a:r>
            <a:endParaRPr lang="zh-CN" altLang="en-US" dirty="0">
              <a:solidFill>
                <a:schemeClr val="tx1"/>
              </a:solidFil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2515"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sz="3200" u="sng" dirty="0"/>
              <a:t>1.3.2  </a:t>
            </a:r>
            <a:r>
              <a:rPr lang="zh-CN" altLang="en-US" sz="3200" u="sng" dirty="0"/>
              <a:t>数据库系统的三级模式结构</a:t>
            </a:r>
            <a:endParaRPr lang="zh-CN" altLang="en-US" sz="3200" u="sng" dirty="0"/>
          </a:p>
        </p:txBody>
      </p:sp>
      <p:sp>
        <p:nvSpPr>
          <p:cNvPr id="192516" name="Rectangle 3"/>
          <p:cNvSpPr>
            <a:spLocks noGrp="1"/>
          </p:cNvSpPr>
          <p:nvPr>
            <p:ph idx="1"/>
          </p:nvPr>
        </p:nvSpPr>
        <p:spPr>
          <a:xfrm>
            <a:off x="684213" y="1052513"/>
            <a:ext cx="7854950" cy="4606925"/>
          </a:xfrm>
          <a:ln/>
        </p:spPr>
        <p:txBody>
          <a:bodyPr vert="horz" wrap="square" lIns="91440" tIns="45720" rIns="91440" bIns="45720" anchor="t" anchorCtr="0"/>
          <a:p>
            <a:pPr eaLnBrk="1" hangingPunct="1"/>
            <a:r>
              <a:rPr lang="zh-CN" altLang="en-US" dirty="0"/>
              <a:t>模式（</a:t>
            </a:r>
            <a:r>
              <a:rPr lang="en-US" altLang="zh-CN" dirty="0"/>
              <a:t>Schema</a:t>
            </a:r>
            <a:r>
              <a:rPr lang="zh-CN" altLang="en-US" dirty="0"/>
              <a:t>）</a:t>
            </a:r>
            <a:endParaRPr lang="zh-CN" altLang="en-US" dirty="0"/>
          </a:p>
          <a:p>
            <a:pPr eaLnBrk="1" hangingPunct="1">
              <a:buNone/>
            </a:pPr>
            <a:r>
              <a:rPr lang="zh-CN" altLang="en-US" dirty="0"/>
              <a:t> </a:t>
            </a:r>
            <a:endParaRPr lang="zh-CN" altLang="en-US" dirty="0"/>
          </a:p>
          <a:p>
            <a:pPr eaLnBrk="1" hangingPunct="1"/>
            <a:r>
              <a:rPr lang="zh-CN" altLang="en-US" dirty="0"/>
              <a:t>外模式（</a:t>
            </a:r>
            <a:r>
              <a:rPr lang="en-US" altLang="zh-CN" dirty="0"/>
              <a:t>External Schema</a:t>
            </a:r>
            <a:r>
              <a:rPr lang="zh-CN" altLang="en-US" dirty="0"/>
              <a:t>）</a:t>
            </a:r>
            <a:endParaRPr lang="zh-CN" altLang="en-US" dirty="0"/>
          </a:p>
          <a:p>
            <a:pPr eaLnBrk="1" hangingPunct="1"/>
            <a:endParaRPr lang="zh-CN" altLang="en-US" dirty="0"/>
          </a:p>
          <a:p>
            <a:pPr eaLnBrk="1" hangingPunct="1"/>
            <a:r>
              <a:rPr lang="zh-CN" altLang="en-US" dirty="0"/>
              <a:t>内模式（</a:t>
            </a:r>
            <a:r>
              <a:rPr lang="en-US" altLang="zh-CN" dirty="0"/>
              <a:t>Internal Schema</a:t>
            </a:r>
            <a:r>
              <a:rPr lang="zh-CN" altLang="en-US" dirty="0"/>
              <a:t>） </a:t>
            </a:r>
            <a:endParaRPr lang="zh-CN" alt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3539" name="Rectangle 2"/>
          <p:cNvSpPr>
            <a:spLocks noGrp="1"/>
          </p:cNvSpPr>
          <p:nvPr>
            <p:ph type="title"/>
          </p:nvPr>
        </p:nvSpPr>
        <p:spPr>
          <a:xfrm>
            <a:off x="762000" y="0"/>
            <a:ext cx="7772400" cy="609600"/>
          </a:xfrm>
          <a:ln/>
        </p:spPr>
        <p:txBody>
          <a:bodyPr vert="horz" wrap="square" lIns="91440" tIns="45720" rIns="91440" bIns="45720" anchor="ctr" anchorCtr="0"/>
          <a:p>
            <a:pPr eaLnBrk="1" hangingPunct="1"/>
            <a:r>
              <a:rPr lang="en-US" altLang="zh-CN" sz="3200" u="sng" dirty="0"/>
              <a:t>1.3.2  </a:t>
            </a:r>
            <a:r>
              <a:rPr lang="zh-CN" altLang="en-US" sz="3200" u="sng" dirty="0"/>
              <a:t>数据库系统的三级模式结构</a:t>
            </a:r>
            <a:endParaRPr lang="zh-CN" altLang="en-US" sz="3200" u="sng" dirty="0"/>
          </a:p>
        </p:txBody>
      </p:sp>
      <p:grpSp>
        <p:nvGrpSpPr>
          <p:cNvPr id="193540" name="Group 3"/>
          <p:cNvGrpSpPr/>
          <p:nvPr/>
        </p:nvGrpSpPr>
        <p:grpSpPr>
          <a:xfrm>
            <a:off x="187325" y="1511300"/>
            <a:ext cx="8769350" cy="4813300"/>
            <a:chOff x="118" y="952"/>
            <a:chExt cx="5524" cy="3032"/>
          </a:xfrm>
        </p:grpSpPr>
        <p:sp>
          <p:nvSpPr>
            <p:cNvPr id="193541" name="AutoShape 4"/>
            <p:cNvSpPr/>
            <p:nvPr/>
          </p:nvSpPr>
          <p:spPr>
            <a:xfrm>
              <a:off x="2544" y="3456"/>
              <a:ext cx="720" cy="528"/>
            </a:xfrm>
            <a:prstGeom prst="flowChartMagneticDisk">
              <a:avLst/>
            </a:prstGeom>
            <a:gradFill rotWithShape="0">
              <a:gsLst>
                <a:gs pos="0">
                  <a:srgbClr val="182F76"/>
                </a:gs>
                <a:gs pos="50000">
                  <a:srgbClr val="3366FF"/>
                </a:gs>
                <a:gs pos="100000">
                  <a:srgbClr val="182F76"/>
                </a:gs>
              </a:gsLst>
              <a:lin ang="5400000" scaled="1"/>
              <a:tileRect/>
            </a:gra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bg1"/>
                  </a:solidFill>
                  <a:latin typeface="隶书" panose="02010509060101010101" charset="-122"/>
                  <a:ea typeface="隶书" panose="02010509060101010101" charset="-122"/>
                </a:rPr>
                <a:t>数据库</a:t>
              </a:r>
              <a:endParaRPr lang="zh-CN" altLang="en-US" sz="2400" b="0" dirty="0">
                <a:solidFill>
                  <a:schemeClr val="bg1"/>
                </a:solidFill>
                <a:latin typeface="Tahoma" panose="020B0604030504040204" pitchFamily="34" charset="0"/>
                <a:ea typeface="隶书" panose="02010509060101010101" charset="-122"/>
              </a:endParaRPr>
            </a:p>
          </p:txBody>
        </p:sp>
        <p:sp>
          <p:nvSpPr>
            <p:cNvPr id="193542" name="AutoShape 5"/>
            <p:cNvSpPr/>
            <p:nvPr/>
          </p:nvSpPr>
          <p:spPr>
            <a:xfrm>
              <a:off x="2832" y="3264"/>
              <a:ext cx="96" cy="192"/>
            </a:xfrm>
            <a:prstGeom prst="upDownArrow">
              <a:avLst>
                <a:gd name="adj1" fmla="val 50000"/>
                <a:gd name="adj2" fmla="val 40000"/>
              </a:avLst>
            </a:prstGeom>
            <a:solidFill>
              <a:schemeClr val="tx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93543" name="AutoShape 6"/>
            <p:cNvSpPr/>
            <p:nvPr/>
          </p:nvSpPr>
          <p:spPr>
            <a:xfrm>
              <a:off x="2832" y="2736"/>
              <a:ext cx="96" cy="192"/>
            </a:xfrm>
            <a:prstGeom prst="upDownArrow">
              <a:avLst>
                <a:gd name="adj1" fmla="val 50000"/>
                <a:gd name="adj2" fmla="val 40000"/>
              </a:avLst>
            </a:prstGeom>
            <a:solidFill>
              <a:srgbClr val="000000"/>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93544" name="AutoShape 7"/>
            <p:cNvSpPr/>
            <p:nvPr/>
          </p:nvSpPr>
          <p:spPr>
            <a:xfrm>
              <a:off x="2832" y="1920"/>
              <a:ext cx="96" cy="480"/>
            </a:xfrm>
            <a:prstGeom prst="upDownArrow">
              <a:avLst>
                <a:gd name="adj1" fmla="val 50000"/>
                <a:gd name="adj2" fmla="val 100000"/>
              </a:avLst>
            </a:prstGeom>
            <a:solidFill>
              <a:schemeClr val="tx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93545" name="Line 8"/>
            <p:cNvSpPr/>
            <p:nvPr/>
          </p:nvSpPr>
          <p:spPr>
            <a:xfrm>
              <a:off x="2928" y="2160"/>
              <a:ext cx="1680" cy="0"/>
            </a:xfrm>
            <a:prstGeom prst="line">
              <a:avLst/>
            </a:prstGeom>
            <a:ln w="101600" cap="sq" cmpd="sng">
              <a:solidFill>
                <a:schemeClr val="tx1"/>
              </a:solidFill>
              <a:prstDash val="solid"/>
              <a:headEnd type="none" w="sm" len="sm"/>
              <a:tailEnd type="none" w="sm" len="sm"/>
            </a:ln>
          </p:spPr>
        </p:sp>
        <p:sp>
          <p:nvSpPr>
            <p:cNvPr id="193546" name="Line 9"/>
            <p:cNvSpPr/>
            <p:nvPr/>
          </p:nvSpPr>
          <p:spPr>
            <a:xfrm>
              <a:off x="1200" y="2160"/>
              <a:ext cx="1680" cy="0"/>
            </a:xfrm>
            <a:prstGeom prst="line">
              <a:avLst/>
            </a:prstGeom>
            <a:ln w="101600" cap="sq" cmpd="sng">
              <a:solidFill>
                <a:schemeClr val="tx1"/>
              </a:solidFill>
              <a:prstDash val="solid"/>
              <a:headEnd type="none" w="sm" len="sm"/>
              <a:tailEnd type="none" w="sm" len="sm"/>
            </a:ln>
          </p:spPr>
        </p:sp>
        <p:sp>
          <p:nvSpPr>
            <p:cNvPr id="193547" name="Line 10"/>
            <p:cNvSpPr/>
            <p:nvPr/>
          </p:nvSpPr>
          <p:spPr>
            <a:xfrm flipV="1">
              <a:off x="1152" y="1920"/>
              <a:ext cx="0" cy="240"/>
            </a:xfrm>
            <a:prstGeom prst="line">
              <a:avLst/>
            </a:prstGeom>
            <a:ln w="101600" cap="sq" cmpd="sng">
              <a:solidFill>
                <a:schemeClr val="tx1"/>
              </a:solidFill>
              <a:prstDash val="solid"/>
              <a:headEnd type="none" w="sm" len="sm"/>
              <a:tailEnd type="triangle" w="sm" len="sm"/>
            </a:ln>
          </p:spPr>
        </p:sp>
        <p:sp>
          <p:nvSpPr>
            <p:cNvPr id="193548" name="Line 11"/>
            <p:cNvSpPr/>
            <p:nvPr/>
          </p:nvSpPr>
          <p:spPr>
            <a:xfrm flipV="1">
              <a:off x="4608" y="1920"/>
              <a:ext cx="0" cy="240"/>
            </a:xfrm>
            <a:prstGeom prst="line">
              <a:avLst/>
            </a:prstGeom>
            <a:ln w="101600" cap="sq" cmpd="sng">
              <a:solidFill>
                <a:schemeClr val="tx1"/>
              </a:solidFill>
              <a:prstDash val="solid"/>
              <a:headEnd type="none" w="sm" len="sm"/>
              <a:tailEnd type="triangle" w="sm" len="sm"/>
            </a:ln>
          </p:spPr>
        </p:sp>
        <p:sp>
          <p:nvSpPr>
            <p:cNvPr id="193549" name="Line 12"/>
            <p:cNvSpPr/>
            <p:nvPr/>
          </p:nvSpPr>
          <p:spPr>
            <a:xfrm flipH="1" flipV="1">
              <a:off x="480" y="1248"/>
              <a:ext cx="576" cy="336"/>
            </a:xfrm>
            <a:prstGeom prst="line">
              <a:avLst/>
            </a:prstGeom>
            <a:ln w="101600" cap="sq" cmpd="sng">
              <a:solidFill>
                <a:schemeClr val="tx1"/>
              </a:solidFill>
              <a:prstDash val="solid"/>
              <a:headEnd type="triangle" w="sm" len="sm"/>
              <a:tailEnd type="triangle" w="sm" len="sm"/>
            </a:ln>
          </p:spPr>
        </p:sp>
        <p:sp>
          <p:nvSpPr>
            <p:cNvPr id="193550" name="Line 13"/>
            <p:cNvSpPr/>
            <p:nvPr/>
          </p:nvSpPr>
          <p:spPr>
            <a:xfrm flipH="1" flipV="1">
              <a:off x="3936" y="1248"/>
              <a:ext cx="576" cy="336"/>
            </a:xfrm>
            <a:prstGeom prst="line">
              <a:avLst/>
            </a:prstGeom>
            <a:ln w="101600" cap="sq" cmpd="sng">
              <a:solidFill>
                <a:schemeClr val="tx1"/>
              </a:solidFill>
              <a:prstDash val="solid"/>
              <a:headEnd type="triangle" w="sm" len="sm"/>
              <a:tailEnd type="triangle" w="sm" len="sm"/>
            </a:ln>
          </p:spPr>
        </p:sp>
        <p:sp>
          <p:nvSpPr>
            <p:cNvPr id="193551" name="Line 14"/>
            <p:cNvSpPr/>
            <p:nvPr/>
          </p:nvSpPr>
          <p:spPr>
            <a:xfrm flipV="1">
              <a:off x="1248" y="1248"/>
              <a:ext cx="576" cy="336"/>
            </a:xfrm>
            <a:prstGeom prst="line">
              <a:avLst/>
            </a:prstGeom>
            <a:ln w="101600" cap="sq" cmpd="sng">
              <a:solidFill>
                <a:schemeClr val="tx1"/>
              </a:solidFill>
              <a:prstDash val="solid"/>
              <a:headEnd type="triangle" w="sm" len="sm"/>
              <a:tailEnd type="triangle" w="sm" len="sm"/>
            </a:ln>
          </p:spPr>
        </p:sp>
        <p:sp>
          <p:nvSpPr>
            <p:cNvPr id="193552" name="Line 15"/>
            <p:cNvSpPr/>
            <p:nvPr/>
          </p:nvSpPr>
          <p:spPr>
            <a:xfrm flipV="1">
              <a:off x="4704" y="1248"/>
              <a:ext cx="576" cy="336"/>
            </a:xfrm>
            <a:prstGeom prst="line">
              <a:avLst/>
            </a:prstGeom>
            <a:ln w="101600" cap="sq" cmpd="sng">
              <a:solidFill>
                <a:schemeClr val="tx1"/>
              </a:solidFill>
              <a:prstDash val="solid"/>
              <a:headEnd type="triangle" w="sm" len="sm"/>
              <a:tailEnd type="triangle" w="sm" len="sm"/>
            </a:ln>
          </p:spPr>
        </p:sp>
        <p:sp>
          <p:nvSpPr>
            <p:cNvPr id="193553" name="AutoShape 16"/>
            <p:cNvSpPr/>
            <p:nvPr/>
          </p:nvSpPr>
          <p:spPr>
            <a:xfrm>
              <a:off x="2832" y="1248"/>
              <a:ext cx="96" cy="336"/>
            </a:xfrm>
            <a:prstGeom prst="upDownArrow">
              <a:avLst>
                <a:gd name="adj1" fmla="val 50000"/>
                <a:gd name="adj2" fmla="val 70000"/>
              </a:avLst>
            </a:prstGeom>
            <a:solidFill>
              <a:schemeClr val="tx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93554" name="Text Box 17"/>
            <p:cNvSpPr txBox="1"/>
            <p:nvPr/>
          </p:nvSpPr>
          <p:spPr>
            <a:xfrm>
              <a:off x="118" y="2300"/>
              <a:ext cx="1812" cy="335"/>
            </a:xfrm>
            <a:prstGeom prst="rect">
              <a:avLst/>
            </a:prstGeom>
            <a:gradFill rotWithShape="0">
              <a:gsLst>
                <a:gs pos="0">
                  <a:srgbClr val="3366FF"/>
                </a:gs>
                <a:gs pos="100000">
                  <a:srgbClr val="0099FF"/>
                </a:gs>
              </a:gsLst>
              <a:lin ang="5400000" scaled="1"/>
              <a:tileRect/>
            </a:gradFill>
            <a:ln w="12700"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bg1"/>
                  </a:solidFill>
                  <a:latin typeface="隶书" panose="02010509060101010101" charset="-122"/>
                  <a:ea typeface="隶书" panose="02010509060101010101" charset="-122"/>
                </a:rPr>
                <a:t>外模式</a:t>
              </a:r>
              <a:r>
                <a:rPr lang="en-US" altLang="zh-CN" sz="2800" dirty="0">
                  <a:solidFill>
                    <a:schemeClr val="bg1"/>
                  </a:solidFill>
                  <a:latin typeface="隶书" panose="02010509060101010101" charset="-122"/>
                  <a:ea typeface="隶书" panose="02010509060101010101" charset="-122"/>
                </a:rPr>
                <a:t>/</a:t>
              </a:r>
              <a:r>
                <a:rPr lang="zh-CN" altLang="en-US" sz="2800" dirty="0">
                  <a:solidFill>
                    <a:schemeClr val="bg1"/>
                  </a:solidFill>
                  <a:latin typeface="隶书" panose="02010509060101010101" charset="-122"/>
                  <a:ea typeface="隶书" panose="02010509060101010101" charset="-122"/>
                </a:rPr>
                <a:t>模式映象</a:t>
              </a:r>
              <a:endParaRPr lang="zh-CN" altLang="en-US" sz="2400" b="0" dirty="0">
                <a:solidFill>
                  <a:schemeClr val="bg1"/>
                </a:solidFill>
                <a:latin typeface="隶书" panose="02010509060101010101" charset="-122"/>
                <a:ea typeface="隶书" panose="02010509060101010101" charset="-122"/>
              </a:endParaRPr>
            </a:p>
          </p:txBody>
        </p:sp>
        <p:sp>
          <p:nvSpPr>
            <p:cNvPr id="193555" name="Text Box 18"/>
            <p:cNvSpPr txBox="1"/>
            <p:nvPr/>
          </p:nvSpPr>
          <p:spPr>
            <a:xfrm>
              <a:off x="3830" y="2645"/>
              <a:ext cx="1812" cy="335"/>
            </a:xfrm>
            <a:prstGeom prst="rect">
              <a:avLst/>
            </a:prstGeom>
            <a:gradFill rotWithShape="0">
              <a:gsLst>
                <a:gs pos="0">
                  <a:srgbClr val="0000FF"/>
                </a:gs>
                <a:gs pos="100000">
                  <a:srgbClr val="0099FF"/>
                </a:gs>
              </a:gsLst>
              <a:lin ang="5400000" scaled="1"/>
              <a:tileRect/>
            </a:gradFill>
            <a:ln w="12700"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bg1"/>
                  </a:solidFill>
                  <a:latin typeface="隶书" panose="02010509060101010101" charset="-122"/>
                  <a:ea typeface="隶书" panose="02010509060101010101" charset="-122"/>
                </a:rPr>
                <a:t>模式</a:t>
              </a:r>
              <a:r>
                <a:rPr lang="en-US" altLang="zh-CN" sz="2800" dirty="0">
                  <a:solidFill>
                    <a:schemeClr val="bg1"/>
                  </a:solidFill>
                  <a:latin typeface="隶书" panose="02010509060101010101" charset="-122"/>
                  <a:ea typeface="隶书" panose="02010509060101010101" charset="-122"/>
                </a:rPr>
                <a:t>/</a:t>
              </a:r>
              <a:r>
                <a:rPr lang="zh-CN" altLang="en-US" sz="2800" dirty="0">
                  <a:solidFill>
                    <a:schemeClr val="bg1"/>
                  </a:solidFill>
                  <a:latin typeface="隶书" panose="02010509060101010101" charset="-122"/>
                  <a:ea typeface="隶书" panose="02010509060101010101" charset="-122"/>
                </a:rPr>
                <a:t>内模式映象</a:t>
              </a:r>
              <a:endParaRPr lang="zh-CN" altLang="en-US" sz="2400" b="0" dirty="0">
                <a:solidFill>
                  <a:schemeClr val="bg1"/>
                </a:solidFill>
                <a:latin typeface="隶书" panose="02010509060101010101" charset="-122"/>
                <a:ea typeface="隶书" panose="02010509060101010101" charset="-122"/>
              </a:endParaRPr>
            </a:p>
          </p:txBody>
        </p:sp>
        <p:sp>
          <p:nvSpPr>
            <p:cNvPr id="193556" name="Line 19"/>
            <p:cNvSpPr/>
            <p:nvPr/>
          </p:nvSpPr>
          <p:spPr>
            <a:xfrm flipV="1">
              <a:off x="1872" y="2208"/>
              <a:ext cx="960" cy="288"/>
            </a:xfrm>
            <a:prstGeom prst="line">
              <a:avLst/>
            </a:prstGeom>
            <a:ln w="101600" cap="sq" cmpd="sng">
              <a:solidFill>
                <a:schemeClr val="tx1"/>
              </a:solidFill>
              <a:prstDash val="solid"/>
              <a:headEnd type="triangle" w="sm" len="sm"/>
              <a:tailEnd type="triangle" w="sm" len="sm"/>
            </a:ln>
          </p:spPr>
        </p:sp>
        <p:sp>
          <p:nvSpPr>
            <p:cNvPr id="193557" name="Line 20"/>
            <p:cNvSpPr/>
            <p:nvPr/>
          </p:nvSpPr>
          <p:spPr>
            <a:xfrm flipV="1">
              <a:off x="2880" y="2832"/>
              <a:ext cx="960" cy="0"/>
            </a:xfrm>
            <a:prstGeom prst="line">
              <a:avLst/>
            </a:prstGeom>
            <a:ln w="101600" cap="sq" cmpd="sng">
              <a:solidFill>
                <a:schemeClr val="tx1"/>
              </a:solidFill>
              <a:prstDash val="solid"/>
              <a:headEnd type="triangle" w="sm" len="sm"/>
              <a:tailEnd type="triangle" w="sm" len="sm"/>
            </a:ln>
          </p:spPr>
        </p:sp>
        <p:sp>
          <p:nvSpPr>
            <p:cNvPr id="193558" name="Text Box 21"/>
            <p:cNvSpPr txBox="1"/>
            <p:nvPr/>
          </p:nvSpPr>
          <p:spPr>
            <a:xfrm>
              <a:off x="160"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A</a:t>
              </a:r>
              <a:endParaRPr lang="en-US" altLang="zh-CN" sz="2400" dirty="0">
                <a:solidFill>
                  <a:schemeClr val="bg1"/>
                </a:solidFill>
                <a:ea typeface="Arial" panose="020B0604020202020204" pitchFamily="34" charset="0"/>
              </a:endParaRPr>
            </a:p>
          </p:txBody>
        </p:sp>
        <p:sp>
          <p:nvSpPr>
            <p:cNvPr id="193559" name="Text Box 22"/>
            <p:cNvSpPr txBox="1"/>
            <p:nvPr/>
          </p:nvSpPr>
          <p:spPr>
            <a:xfrm>
              <a:off x="1336" y="952"/>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B</a:t>
              </a:r>
              <a:endParaRPr lang="en-US" altLang="zh-CN" sz="2400" dirty="0">
                <a:solidFill>
                  <a:schemeClr val="bg1"/>
                </a:solidFill>
                <a:ea typeface="Arial" panose="020B0604020202020204" pitchFamily="34" charset="0"/>
              </a:endParaRPr>
            </a:p>
          </p:txBody>
        </p:sp>
        <p:sp>
          <p:nvSpPr>
            <p:cNvPr id="193560" name="Text Box 23"/>
            <p:cNvSpPr txBox="1"/>
            <p:nvPr/>
          </p:nvSpPr>
          <p:spPr>
            <a:xfrm>
              <a:off x="2448"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C</a:t>
              </a:r>
              <a:endParaRPr lang="en-US" altLang="zh-CN" sz="2400" dirty="0">
                <a:solidFill>
                  <a:schemeClr val="bg1"/>
                </a:solidFill>
                <a:ea typeface="Arial" panose="020B0604020202020204" pitchFamily="34" charset="0"/>
              </a:endParaRPr>
            </a:p>
          </p:txBody>
        </p:sp>
        <p:sp>
          <p:nvSpPr>
            <p:cNvPr id="193561" name="Text Box 24"/>
            <p:cNvSpPr txBox="1"/>
            <p:nvPr/>
          </p:nvSpPr>
          <p:spPr>
            <a:xfrm>
              <a:off x="3624"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D</a:t>
              </a:r>
              <a:endParaRPr lang="en-US" altLang="zh-CN" sz="2400" dirty="0">
                <a:solidFill>
                  <a:schemeClr val="bg1"/>
                </a:solidFill>
                <a:ea typeface="Arial" panose="020B0604020202020204" pitchFamily="34" charset="0"/>
              </a:endParaRPr>
            </a:p>
          </p:txBody>
        </p:sp>
        <p:sp>
          <p:nvSpPr>
            <p:cNvPr id="193562" name="Text Box 25"/>
            <p:cNvSpPr txBox="1"/>
            <p:nvPr/>
          </p:nvSpPr>
          <p:spPr>
            <a:xfrm>
              <a:off x="4784"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E</a:t>
              </a:r>
              <a:endParaRPr lang="en-US" altLang="zh-CN" sz="2400" dirty="0">
                <a:solidFill>
                  <a:schemeClr val="bg1"/>
                </a:solidFill>
                <a:ea typeface="Arial" panose="020B0604020202020204" pitchFamily="34" charset="0"/>
              </a:endParaRPr>
            </a:p>
          </p:txBody>
        </p:sp>
        <p:sp>
          <p:nvSpPr>
            <p:cNvPr id="193563" name="Text Box 26"/>
            <p:cNvSpPr txBox="1"/>
            <p:nvPr/>
          </p:nvSpPr>
          <p:spPr>
            <a:xfrm>
              <a:off x="720" y="1632"/>
              <a:ext cx="816" cy="288"/>
            </a:xfrm>
            <a:prstGeom prst="rect">
              <a:avLst/>
            </a:prstGeom>
            <a:gradFill rotWithShape="0">
              <a:gsLst>
                <a:gs pos="0">
                  <a:schemeClr val="bg2"/>
                </a:gs>
                <a:gs pos="100000">
                  <a:schemeClr val="folHlink"/>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外模式</a:t>
              </a:r>
              <a:r>
                <a:rPr lang="en-US" altLang="zh-CN" sz="2400" dirty="0">
                  <a:solidFill>
                    <a:schemeClr val="tx1"/>
                  </a:solidFill>
                  <a:cs typeface="Arial" panose="020B0604020202020204" pitchFamily="34" charset="0"/>
                </a:rPr>
                <a:t>1</a:t>
              </a:r>
              <a:endParaRPr lang="en-US" altLang="zh-CN" sz="2400" dirty="0">
                <a:solidFill>
                  <a:schemeClr val="tx1"/>
                </a:solidFill>
                <a:ea typeface="Arial" panose="020B0604020202020204" pitchFamily="34" charset="0"/>
              </a:endParaRPr>
            </a:p>
          </p:txBody>
        </p:sp>
        <p:sp>
          <p:nvSpPr>
            <p:cNvPr id="193564" name="Text Box 27"/>
            <p:cNvSpPr txBox="1"/>
            <p:nvPr/>
          </p:nvSpPr>
          <p:spPr>
            <a:xfrm>
              <a:off x="2472" y="1608"/>
              <a:ext cx="816" cy="288"/>
            </a:xfrm>
            <a:prstGeom prst="rect">
              <a:avLst/>
            </a:prstGeom>
            <a:gradFill rotWithShape="0">
              <a:gsLst>
                <a:gs pos="0">
                  <a:schemeClr val="bg2"/>
                </a:gs>
                <a:gs pos="100000">
                  <a:schemeClr val="folHlink"/>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外模式</a:t>
              </a:r>
              <a:r>
                <a:rPr lang="en-US" altLang="zh-CN" sz="2400" dirty="0">
                  <a:solidFill>
                    <a:schemeClr val="tx1"/>
                  </a:solidFill>
                  <a:cs typeface="Arial" panose="020B0604020202020204" pitchFamily="34" charset="0"/>
                </a:rPr>
                <a:t>2</a:t>
              </a:r>
              <a:endParaRPr lang="en-US" altLang="zh-CN" sz="2400" dirty="0">
                <a:solidFill>
                  <a:schemeClr val="tx1"/>
                </a:solidFill>
                <a:ea typeface="Arial" panose="020B0604020202020204" pitchFamily="34" charset="0"/>
              </a:endParaRPr>
            </a:p>
          </p:txBody>
        </p:sp>
        <p:sp>
          <p:nvSpPr>
            <p:cNvPr id="193565" name="Text Box 28"/>
            <p:cNvSpPr txBox="1"/>
            <p:nvPr/>
          </p:nvSpPr>
          <p:spPr>
            <a:xfrm>
              <a:off x="4200" y="1608"/>
              <a:ext cx="816" cy="288"/>
            </a:xfrm>
            <a:prstGeom prst="rect">
              <a:avLst/>
            </a:prstGeom>
            <a:gradFill rotWithShape="0">
              <a:gsLst>
                <a:gs pos="0">
                  <a:schemeClr val="bg2"/>
                </a:gs>
                <a:gs pos="100000">
                  <a:schemeClr val="folHlink"/>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外模式</a:t>
              </a:r>
              <a:r>
                <a:rPr lang="en-US" altLang="zh-CN" sz="2400" dirty="0">
                  <a:solidFill>
                    <a:schemeClr val="tx1"/>
                  </a:solidFill>
                  <a:cs typeface="Arial" panose="020B0604020202020204" pitchFamily="34" charset="0"/>
                </a:rPr>
                <a:t>3</a:t>
              </a:r>
              <a:endParaRPr lang="en-US" altLang="zh-CN" sz="2400" dirty="0">
                <a:solidFill>
                  <a:schemeClr val="tx1"/>
                </a:solidFill>
                <a:ea typeface="Arial" panose="020B0604020202020204" pitchFamily="34" charset="0"/>
              </a:endParaRPr>
            </a:p>
          </p:txBody>
        </p:sp>
        <p:sp>
          <p:nvSpPr>
            <p:cNvPr id="193566" name="Text Box 29"/>
            <p:cNvSpPr txBox="1"/>
            <p:nvPr/>
          </p:nvSpPr>
          <p:spPr>
            <a:xfrm>
              <a:off x="2496" y="2400"/>
              <a:ext cx="816" cy="288"/>
            </a:xfrm>
            <a:prstGeom prst="rect">
              <a:avLst/>
            </a:prstGeom>
            <a:gradFill rotWithShape="0">
              <a:gsLst>
                <a:gs pos="0">
                  <a:srgbClr val="475E00"/>
                </a:gs>
                <a:gs pos="50000">
                  <a:srgbClr val="99CC00"/>
                </a:gs>
                <a:gs pos="100000">
                  <a:srgbClr val="475E00"/>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模式</a:t>
              </a:r>
              <a:endParaRPr lang="zh-CN" altLang="en-US" sz="2400" dirty="0">
                <a:solidFill>
                  <a:schemeClr val="tx1"/>
                </a:solidFill>
                <a:ea typeface="Arial" panose="020B0604020202020204" pitchFamily="34" charset="0"/>
              </a:endParaRPr>
            </a:p>
          </p:txBody>
        </p:sp>
        <p:sp>
          <p:nvSpPr>
            <p:cNvPr id="193567" name="Text Box 30"/>
            <p:cNvSpPr txBox="1"/>
            <p:nvPr/>
          </p:nvSpPr>
          <p:spPr>
            <a:xfrm>
              <a:off x="2480" y="2928"/>
              <a:ext cx="816" cy="288"/>
            </a:xfrm>
            <a:prstGeom prst="rect">
              <a:avLst/>
            </a:prstGeom>
            <a:gradFill rotWithShape="0">
              <a:gsLst>
                <a:gs pos="0">
                  <a:srgbClr val="003B00"/>
                </a:gs>
                <a:gs pos="50000">
                  <a:srgbClr val="008000"/>
                </a:gs>
                <a:gs pos="100000">
                  <a:srgbClr val="003B00"/>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内模式</a:t>
              </a:r>
              <a:endParaRPr lang="zh-CN" altLang="en-US" sz="2400" dirty="0">
                <a:solidFill>
                  <a:schemeClr val="bg1"/>
                </a:solidFill>
                <a:ea typeface="Arial" panose="020B0604020202020204" pitchFamily="34" charset="0"/>
              </a:endParaRPr>
            </a:p>
          </p:txBody>
        </p:sp>
      </p:gr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4563"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sz="3200" u="sng" dirty="0"/>
              <a:t>1.3.2  </a:t>
            </a:r>
            <a:r>
              <a:rPr lang="zh-CN" altLang="en-US" sz="3200" u="sng" dirty="0"/>
              <a:t>数据库系统的三级模式结构</a:t>
            </a:r>
            <a:endParaRPr lang="zh-CN" altLang="en-US" sz="3200" u="sng" dirty="0"/>
          </a:p>
        </p:txBody>
      </p:sp>
      <p:sp>
        <p:nvSpPr>
          <p:cNvPr id="194564" name="Rectangle 3"/>
          <p:cNvSpPr>
            <a:spLocks noGrp="1"/>
          </p:cNvSpPr>
          <p:nvPr>
            <p:ph idx="1"/>
          </p:nvPr>
        </p:nvSpPr>
        <p:spPr>
          <a:xfrm>
            <a:off x="304800" y="838200"/>
            <a:ext cx="8305800" cy="5715000"/>
          </a:xfrm>
          <a:ln/>
        </p:spPr>
        <p:txBody>
          <a:bodyPr vert="horz" wrap="square" lIns="91440" tIns="45720" rIns="91440" bIns="45720" anchor="t" anchorCtr="0"/>
          <a:p>
            <a:pPr algn="just" eaLnBrk="1" hangingPunct="1">
              <a:lnSpc>
                <a:spcPct val="130000"/>
              </a:lnSpc>
              <a:buNone/>
            </a:pPr>
            <a:r>
              <a:rPr lang="en-US" altLang="zh-CN" dirty="0">
                <a:solidFill>
                  <a:srgbClr val="FF0000"/>
                </a:solidFill>
              </a:rPr>
              <a:t>1. </a:t>
            </a:r>
            <a:r>
              <a:rPr lang="zh-CN" altLang="en-US" dirty="0">
                <a:solidFill>
                  <a:srgbClr val="FF0000"/>
                </a:solidFill>
              </a:rPr>
              <a:t>模式</a:t>
            </a:r>
            <a:endParaRPr lang="zh-CN" altLang="en-US" dirty="0">
              <a:solidFill>
                <a:srgbClr val="FF0000"/>
              </a:solidFill>
            </a:endParaRPr>
          </a:p>
          <a:p>
            <a:pPr algn="just" eaLnBrk="1" hangingPunct="1"/>
            <a:r>
              <a:rPr lang="zh-CN" altLang="en-US" sz="2400" dirty="0">
                <a:solidFill>
                  <a:schemeClr val="accent2"/>
                </a:solidFill>
              </a:rPr>
              <a:t>模式（也称逻辑模式、概念模式）</a:t>
            </a:r>
            <a:endParaRPr lang="zh-CN" altLang="en-US" sz="2400" dirty="0">
              <a:solidFill>
                <a:schemeClr val="accent2"/>
              </a:solidFill>
            </a:endParaRPr>
          </a:p>
          <a:p>
            <a:pPr lvl="1" algn="just" eaLnBrk="1" hangingPunct="1"/>
            <a:r>
              <a:rPr lang="zh-CN" altLang="en-US" sz="2200" dirty="0"/>
              <a:t>数据库中全体数据的逻辑结构和特征的描述</a:t>
            </a:r>
            <a:endParaRPr lang="zh-CN" altLang="en-US" sz="2200" dirty="0"/>
          </a:p>
          <a:p>
            <a:pPr lvl="1" algn="just" eaLnBrk="1" hangingPunct="1"/>
            <a:r>
              <a:rPr lang="zh-CN" altLang="en-US" sz="2200" dirty="0"/>
              <a:t>所有用户的公共数据视图，综合了所有用户的需求</a:t>
            </a:r>
            <a:endParaRPr lang="zh-CN" altLang="en-US" sz="2200" dirty="0"/>
          </a:p>
          <a:p>
            <a:pPr lvl="1" algn="just" eaLnBrk="1" hangingPunct="1"/>
            <a:r>
              <a:rPr lang="zh-CN" altLang="en-US" sz="2200" dirty="0"/>
              <a:t>全体性、逻辑性、特征性</a:t>
            </a:r>
            <a:r>
              <a:rPr lang="en-US" altLang="zh-CN" sz="2200" dirty="0"/>
              <a:t>(</a:t>
            </a:r>
            <a:r>
              <a:rPr lang="zh-CN" altLang="en-US" sz="2200" dirty="0"/>
              <a:t>名称</a:t>
            </a:r>
            <a:r>
              <a:rPr lang="en-US" altLang="zh-CN" sz="2200" dirty="0"/>
              <a:t>/</a:t>
            </a:r>
            <a:r>
              <a:rPr lang="zh-CN" altLang="en-US" sz="2200" dirty="0"/>
              <a:t>类型</a:t>
            </a:r>
            <a:r>
              <a:rPr lang="en-US" altLang="zh-CN" sz="2200" dirty="0"/>
              <a:t>/</a:t>
            </a:r>
            <a:r>
              <a:rPr lang="zh-CN" altLang="en-US" sz="2200" dirty="0"/>
              <a:t>长度</a:t>
            </a:r>
            <a:r>
              <a:rPr lang="en-US" altLang="zh-CN" sz="2200" dirty="0"/>
              <a:t>/</a:t>
            </a:r>
            <a:r>
              <a:rPr lang="zh-CN" altLang="en-US" sz="2200" dirty="0"/>
              <a:t>约束</a:t>
            </a:r>
            <a:r>
              <a:rPr lang="en-US" altLang="zh-CN" sz="2200" dirty="0"/>
              <a:t>)</a:t>
            </a:r>
            <a:r>
              <a:rPr lang="zh-CN" altLang="en-US" sz="2200" dirty="0"/>
              <a:t>、说明性</a:t>
            </a:r>
            <a:endParaRPr lang="zh-CN" altLang="en-US" sz="2200" dirty="0"/>
          </a:p>
          <a:p>
            <a:pPr algn="just" eaLnBrk="1" hangingPunct="1"/>
            <a:r>
              <a:rPr lang="zh-CN" altLang="en-US" sz="2400" dirty="0">
                <a:solidFill>
                  <a:schemeClr val="accent2"/>
                </a:solidFill>
              </a:rPr>
              <a:t>一个数据库只有一个模式</a:t>
            </a:r>
            <a:endParaRPr lang="zh-CN" altLang="en-US" sz="2400" dirty="0">
              <a:solidFill>
                <a:schemeClr val="accent2"/>
              </a:solidFill>
            </a:endParaRPr>
          </a:p>
          <a:p>
            <a:pPr algn="just" eaLnBrk="1" hangingPunct="1"/>
            <a:r>
              <a:rPr lang="zh-CN" altLang="en-US" sz="2400" dirty="0">
                <a:solidFill>
                  <a:schemeClr val="accent2"/>
                </a:solidFill>
              </a:rPr>
              <a:t>模式的地位：是数据库系统模式结构的中间层</a:t>
            </a:r>
            <a:endParaRPr lang="zh-CN" altLang="en-US" sz="2400" dirty="0">
              <a:solidFill>
                <a:schemeClr val="accent2"/>
              </a:solidFill>
            </a:endParaRPr>
          </a:p>
          <a:p>
            <a:pPr lvl="1" algn="just" eaLnBrk="1" hangingPunct="1"/>
            <a:r>
              <a:rPr lang="zh-CN" altLang="en-US" sz="2200" dirty="0"/>
              <a:t>与数据的物理存储细节和硬件环境无关</a:t>
            </a:r>
            <a:endParaRPr lang="zh-CN" altLang="en-US" sz="2200" dirty="0"/>
          </a:p>
          <a:p>
            <a:pPr lvl="1" algn="just" eaLnBrk="1" hangingPunct="1"/>
            <a:r>
              <a:rPr lang="zh-CN" altLang="en-US" sz="2200" dirty="0"/>
              <a:t>与具体的应用程序、开发工具及高级程序设计语言无关</a:t>
            </a:r>
            <a:endParaRPr lang="zh-CN" altLang="en-US" sz="2200" dirty="0"/>
          </a:p>
          <a:p>
            <a:pPr algn="just" eaLnBrk="1" hangingPunct="1"/>
            <a:r>
              <a:rPr lang="zh-CN" altLang="en-US" sz="2400" dirty="0">
                <a:solidFill>
                  <a:schemeClr val="accent2"/>
                </a:solidFill>
              </a:rPr>
              <a:t>模式的定义</a:t>
            </a:r>
            <a:endParaRPr lang="zh-CN" altLang="en-US" sz="2400" dirty="0">
              <a:solidFill>
                <a:schemeClr val="accent2"/>
              </a:solidFill>
            </a:endParaRPr>
          </a:p>
          <a:p>
            <a:pPr lvl="1" algn="just" eaLnBrk="1" hangingPunct="1"/>
            <a:r>
              <a:rPr lang="zh-CN" altLang="en-US" sz="2200" dirty="0"/>
              <a:t>数据的逻辑结构（数据项的名字、类型、取值范围等）</a:t>
            </a:r>
            <a:endParaRPr lang="zh-CN" altLang="en-US" sz="2200" dirty="0"/>
          </a:p>
          <a:p>
            <a:pPr lvl="1" algn="just" eaLnBrk="1" hangingPunct="1"/>
            <a:r>
              <a:rPr lang="zh-CN" altLang="en-US" sz="2200" dirty="0"/>
              <a:t>数据之间的联系</a:t>
            </a:r>
            <a:endParaRPr lang="zh-CN" altLang="en-US" sz="2200" dirty="0"/>
          </a:p>
          <a:p>
            <a:pPr lvl="1" algn="just" eaLnBrk="1" hangingPunct="1"/>
            <a:r>
              <a:rPr lang="zh-CN" altLang="en-US" sz="2200" dirty="0"/>
              <a:t>数据有关的安全性、完整性要求</a:t>
            </a:r>
            <a:endParaRPr lang="zh-CN" altLang="en-US" sz="22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5587"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sz="3200" u="sng" dirty="0"/>
              <a:t>1.3.2  </a:t>
            </a:r>
            <a:r>
              <a:rPr lang="zh-CN" altLang="en-US" sz="3200" u="sng" dirty="0"/>
              <a:t>数据库系统的三级模式结构</a:t>
            </a:r>
            <a:endParaRPr lang="zh-CN" altLang="en-US" sz="3200" u="sng" dirty="0"/>
          </a:p>
        </p:txBody>
      </p:sp>
      <p:sp>
        <p:nvSpPr>
          <p:cNvPr id="195588" name="Rectangle 3"/>
          <p:cNvSpPr>
            <a:spLocks noGrp="1"/>
          </p:cNvSpPr>
          <p:nvPr>
            <p:ph idx="1"/>
          </p:nvPr>
        </p:nvSpPr>
        <p:spPr>
          <a:xfrm>
            <a:off x="304800" y="838200"/>
            <a:ext cx="8305800" cy="5715000"/>
          </a:xfrm>
          <a:ln/>
        </p:spPr>
        <p:txBody>
          <a:bodyPr vert="horz" wrap="square" lIns="91440" tIns="45720" rIns="91440" bIns="45720" anchor="t" anchorCtr="0"/>
          <a:p>
            <a:pPr algn="just" eaLnBrk="1" hangingPunct="1">
              <a:lnSpc>
                <a:spcPct val="130000"/>
              </a:lnSpc>
              <a:buNone/>
            </a:pPr>
            <a:r>
              <a:rPr lang="en-US" altLang="zh-CN" sz="3600" dirty="0">
                <a:solidFill>
                  <a:srgbClr val="FF0000"/>
                </a:solidFill>
              </a:rPr>
              <a:t>2. </a:t>
            </a:r>
            <a:r>
              <a:rPr lang="zh-CN" altLang="en-US" sz="3600" dirty="0">
                <a:solidFill>
                  <a:srgbClr val="FF0000"/>
                </a:solidFill>
              </a:rPr>
              <a:t>外模式</a:t>
            </a:r>
            <a:endParaRPr lang="zh-CN" altLang="en-US" sz="3600" dirty="0">
              <a:solidFill>
                <a:srgbClr val="FF0000"/>
              </a:solidFill>
            </a:endParaRPr>
          </a:p>
          <a:p>
            <a:pPr algn="just" eaLnBrk="1" hangingPunct="1">
              <a:lnSpc>
                <a:spcPct val="150000"/>
              </a:lnSpc>
            </a:pPr>
            <a:r>
              <a:rPr lang="zh-CN" altLang="en-US" sz="2800" dirty="0">
                <a:solidFill>
                  <a:schemeClr val="accent2"/>
                </a:solidFill>
              </a:rPr>
              <a:t>外模式（也称子模式或用户模式）</a:t>
            </a:r>
            <a:endParaRPr lang="zh-CN" altLang="en-US" sz="2800" dirty="0">
              <a:solidFill>
                <a:schemeClr val="accent2"/>
              </a:solidFill>
            </a:endParaRPr>
          </a:p>
          <a:p>
            <a:pPr lvl="1" algn="just" eaLnBrk="1" hangingPunct="1">
              <a:lnSpc>
                <a:spcPct val="150000"/>
              </a:lnSpc>
            </a:pPr>
            <a:r>
              <a:rPr lang="zh-CN" altLang="en-US" sz="2400" dirty="0"/>
              <a:t>数据库用户（包括应用程序员和最终用户）使用的</a:t>
            </a:r>
            <a:r>
              <a:rPr lang="zh-CN" altLang="en-US" sz="2400" dirty="0">
                <a:solidFill>
                  <a:schemeClr val="accent2"/>
                </a:solidFill>
              </a:rPr>
              <a:t>局部</a:t>
            </a:r>
            <a:r>
              <a:rPr lang="zh-CN" altLang="en-US" sz="2400" dirty="0"/>
              <a:t>数据的逻辑结构和特征的描述</a:t>
            </a:r>
            <a:endParaRPr lang="zh-CN" altLang="en-US" sz="2400" dirty="0"/>
          </a:p>
          <a:p>
            <a:pPr lvl="1" algn="just" eaLnBrk="1" hangingPunct="1">
              <a:lnSpc>
                <a:spcPct val="150000"/>
              </a:lnSpc>
            </a:pPr>
            <a:r>
              <a:rPr lang="zh-CN" altLang="en-US" sz="2400" dirty="0"/>
              <a:t>数据库用户的数据视图，是与某一应用有关的数据的逻辑表示</a:t>
            </a:r>
            <a:endParaRPr lang="zh-CN" altLang="en-US" sz="24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6611"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sz="3200" u="sng" dirty="0"/>
              <a:t>1.3.2  </a:t>
            </a:r>
            <a:r>
              <a:rPr lang="zh-CN" altLang="en-US" sz="3200" u="sng" dirty="0"/>
              <a:t>数据库系统的三级模式结构</a:t>
            </a:r>
            <a:endParaRPr lang="zh-CN" altLang="en-US" sz="3200" u="sng" dirty="0"/>
          </a:p>
        </p:txBody>
      </p:sp>
      <p:sp>
        <p:nvSpPr>
          <p:cNvPr id="196612" name="Rectangle 3"/>
          <p:cNvSpPr>
            <a:spLocks noGrp="1"/>
          </p:cNvSpPr>
          <p:nvPr>
            <p:ph idx="1"/>
          </p:nvPr>
        </p:nvSpPr>
        <p:spPr>
          <a:xfrm>
            <a:off x="304800" y="838200"/>
            <a:ext cx="8305800" cy="5715000"/>
          </a:xfrm>
          <a:ln/>
        </p:spPr>
        <p:txBody>
          <a:bodyPr vert="horz" wrap="square" lIns="91440" tIns="45720" rIns="91440" bIns="45720" anchor="t" anchorCtr="0"/>
          <a:p>
            <a:pPr algn="just" eaLnBrk="1" hangingPunct="1">
              <a:lnSpc>
                <a:spcPct val="130000"/>
              </a:lnSpc>
              <a:buNone/>
            </a:pPr>
            <a:r>
              <a:rPr lang="zh-CN" altLang="en-US" dirty="0">
                <a:solidFill>
                  <a:srgbClr val="FF0000"/>
                </a:solidFill>
              </a:rPr>
              <a:t>外模式</a:t>
            </a:r>
            <a:r>
              <a:rPr lang="en-US" altLang="zh-CN" dirty="0">
                <a:solidFill>
                  <a:srgbClr val="FF0000"/>
                </a:solidFill>
              </a:rPr>
              <a:t>(</a:t>
            </a:r>
            <a:r>
              <a:rPr lang="zh-CN" altLang="en-US" dirty="0">
                <a:solidFill>
                  <a:srgbClr val="FF0000"/>
                </a:solidFill>
              </a:rPr>
              <a:t>续</a:t>
            </a:r>
            <a:r>
              <a:rPr lang="en-US" altLang="zh-CN" dirty="0">
                <a:solidFill>
                  <a:srgbClr val="FF0000"/>
                </a:solidFill>
              </a:rPr>
              <a:t>)</a:t>
            </a:r>
            <a:endParaRPr lang="en-US" altLang="zh-CN" dirty="0">
              <a:solidFill>
                <a:srgbClr val="FF0000"/>
              </a:solidFill>
            </a:endParaRPr>
          </a:p>
          <a:p>
            <a:pPr algn="just" eaLnBrk="1" hangingPunct="1">
              <a:lnSpc>
                <a:spcPct val="110000"/>
              </a:lnSpc>
            </a:pPr>
            <a:r>
              <a:rPr lang="zh-CN" altLang="en-US" sz="2800" dirty="0">
                <a:solidFill>
                  <a:schemeClr val="accent2"/>
                </a:solidFill>
              </a:rPr>
              <a:t>外模式的地位：介于模式与应用之间</a:t>
            </a:r>
            <a:endParaRPr lang="zh-CN" altLang="en-US" sz="2800" dirty="0">
              <a:solidFill>
                <a:schemeClr val="accent2"/>
              </a:solidFill>
            </a:endParaRPr>
          </a:p>
          <a:p>
            <a:pPr lvl="1" algn="just" eaLnBrk="1" hangingPunct="1">
              <a:lnSpc>
                <a:spcPct val="110000"/>
              </a:lnSpc>
            </a:pPr>
            <a:r>
              <a:rPr lang="zh-CN" altLang="en-US" sz="2400" dirty="0"/>
              <a:t>模式与外模式的关系：一对多</a:t>
            </a:r>
            <a:endParaRPr lang="zh-CN" altLang="en-US" sz="2400" dirty="0"/>
          </a:p>
          <a:p>
            <a:pPr lvl="2" algn="just" eaLnBrk="1" hangingPunct="1">
              <a:lnSpc>
                <a:spcPct val="110000"/>
              </a:lnSpc>
            </a:pPr>
            <a:r>
              <a:rPr lang="zh-CN" altLang="en-US" sz="2200" dirty="0"/>
              <a:t>外模式通常是模式的子集</a:t>
            </a:r>
            <a:r>
              <a:rPr lang="en-US" altLang="zh-CN" sz="2200" dirty="0"/>
              <a:t>(</a:t>
            </a:r>
            <a:r>
              <a:rPr lang="zh-CN" altLang="en-US" sz="2200" dirty="0"/>
              <a:t>可以重叠</a:t>
            </a:r>
            <a:r>
              <a:rPr lang="en-US" altLang="zh-CN" sz="2200" dirty="0"/>
              <a:t>)</a:t>
            </a:r>
            <a:endParaRPr lang="en-US" altLang="zh-CN" sz="2200" dirty="0"/>
          </a:p>
          <a:p>
            <a:pPr lvl="2" algn="just" eaLnBrk="1" hangingPunct="1">
              <a:lnSpc>
                <a:spcPct val="110000"/>
              </a:lnSpc>
            </a:pPr>
            <a:r>
              <a:rPr lang="zh-CN" altLang="en-US" sz="2200" dirty="0"/>
              <a:t>一个数据库可以有多个外模式。反映了不同的用户的应用需求、看待数据的方式、对数据保密的要求</a:t>
            </a:r>
            <a:endParaRPr lang="zh-CN" altLang="en-US" sz="2200" dirty="0"/>
          </a:p>
          <a:p>
            <a:pPr lvl="2" algn="just" eaLnBrk="1" hangingPunct="1">
              <a:lnSpc>
                <a:spcPct val="110000"/>
              </a:lnSpc>
            </a:pPr>
            <a:r>
              <a:rPr lang="zh-CN" altLang="en-US" sz="2200" dirty="0"/>
              <a:t>对模式中同一数据，在外模式中的结构、类型、长度、保密级别等都可以不同</a:t>
            </a:r>
            <a:endParaRPr lang="zh-CN" altLang="en-US" sz="2200" dirty="0"/>
          </a:p>
          <a:p>
            <a:pPr lvl="1" algn="just" eaLnBrk="1" hangingPunct="1">
              <a:lnSpc>
                <a:spcPct val="110000"/>
              </a:lnSpc>
            </a:pPr>
            <a:r>
              <a:rPr lang="zh-CN" altLang="en-US" sz="2400" dirty="0"/>
              <a:t>外模式与应用的关系：一对多</a:t>
            </a:r>
            <a:endParaRPr lang="zh-CN" altLang="en-US" sz="2400" dirty="0"/>
          </a:p>
          <a:p>
            <a:pPr lvl="2" algn="just" eaLnBrk="1" hangingPunct="1">
              <a:lnSpc>
                <a:spcPct val="110000"/>
              </a:lnSpc>
            </a:pPr>
            <a:r>
              <a:rPr lang="zh-CN" altLang="en-US" sz="2200" dirty="0"/>
              <a:t>同一外模式也可以为某一用户的多个应用系统所使用，</a:t>
            </a:r>
            <a:endParaRPr lang="zh-CN" altLang="en-US" sz="2200" dirty="0"/>
          </a:p>
          <a:p>
            <a:pPr lvl="2" algn="just" eaLnBrk="1" hangingPunct="1">
              <a:lnSpc>
                <a:spcPct val="110000"/>
              </a:lnSpc>
            </a:pPr>
            <a:r>
              <a:rPr lang="zh-CN" altLang="en-US" sz="2200" dirty="0"/>
              <a:t>但一个应用程序只能使用一个外模式。</a:t>
            </a:r>
            <a:endParaRPr lang="zh-CN" altLang="en-US" sz="18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7635"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sz="3200" u="sng" dirty="0"/>
              <a:t>1.3.2  </a:t>
            </a:r>
            <a:r>
              <a:rPr lang="zh-CN" altLang="en-US" sz="3200" u="sng" dirty="0"/>
              <a:t>数据库系统的三级模式结构</a:t>
            </a:r>
            <a:endParaRPr lang="zh-CN" altLang="en-US" sz="3200" u="sng" dirty="0"/>
          </a:p>
        </p:txBody>
      </p:sp>
      <p:sp>
        <p:nvSpPr>
          <p:cNvPr id="197636" name="Rectangle 3"/>
          <p:cNvSpPr>
            <a:spLocks noGrp="1"/>
          </p:cNvSpPr>
          <p:nvPr>
            <p:ph idx="1"/>
          </p:nvPr>
        </p:nvSpPr>
        <p:spPr>
          <a:xfrm>
            <a:off x="304800" y="838200"/>
            <a:ext cx="8305800" cy="5715000"/>
          </a:xfrm>
          <a:ln/>
        </p:spPr>
        <p:txBody>
          <a:bodyPr vert="horz" wrap="square" lIns="91440" tIns="45720" rIns="91440" bIns="45720" anchor="t" anchorCtr="0"/>
          <a:p>
            <a:pPr algn="just" eaLnBrk="1" hangingPunct="1">
              <a:lnSpc>
                <a:spcPct val="130000"/>
              </a:lnSpc>
              <a:buNone/>
            </a:pPr>
            <a:r>
              <a:rPr lang="zh-CN" altLang="en-US" sz="3600" dirty="0">
                <a:solidFill>
                  <a:srgbClr val="FF0000"/>
                </a:solidFill>
              </a:rPr>
              <a:t>外模式</a:t>
            </a:r>
            <a:r>
              <a:rPr lang="en-US" altLang="zh-CN" sz="3600" dirty="0">
                <a:solidFill>
                  <a:srgbClr val="FF0000"/>
                </a:solidFill>
              </a:rPr>
              <a:t>(</a:t>
            </a:r>
            <a:r>
              <a:rPr lang="zh-CN" altLang="en-US" sz="3600" dirty="0">
                <a:solidFill>
                  <a:srgbClr val="FF0000"/>
                </a:solidFill>
              </a:rPr>
              <a:t>续</a:t>
            </a:r>
            <a:r>
              <a:rPr lang="en-US" altLang="zh-CN" sz="3600" dirty="0">
                <a:solidFill>
                  <a:srgbClr val="FF0000"/>
                </a:solidFill>
              </a:rPr>
              <a:t>)</a:t>
            </a:r>
            <a:endParaRPr lang="en-US" altLang="zh-CN" sz="3600" dirty="0">
              <a:solidFill>
                <a:srgbClr val="FF0000"/>
              </a:solidFill>
            </a:endParaRPr>
          </a:p>
          <a:p>
            <a:pPr algn="just" eaLnBrk="1" hangingPunct="1"/>
            <a:r>
              <a:rPr lang="zh-CN" altLang="en-US" sz="2800" dirty="0">
                <a:solidFill>
                  <a:schemeClr val="accent2"/>
                </a:solidFill>
              </a:rPr>
              <a:t>外模式的用途</a:t>
            </a:r>
            <a:endParaRPr lang="zh-CN" altLang="en-US" sz="2800" dirty="0">
              <a:solidFill>
                <a:schemeClr val="accent2"/>
              </a:solidFill>
            </a:endParaRPr>
          </a:p>
          <a:p>
            <a:pPr lvl="1" algn="just" eaLnBrk="1" hangingPunct="1">
              <a:lnSpc>
                <a:spcPct val="150000"/>
              </a:lnSpc>
              <a:buNone/>
            </a:pPr>
            <a:r>
              <a:rPr lang="zh-CN" altLang="en-US" sz="2400" dirty="0"/>
              <a:t>保证数据库安全性的一个有力措施。</a:t>
            </a:r>
            <a:endParaRPr lang="zh-CN" altLang="en-US" sz="2400" dirty="0"/>
          </a:p>
          <a:p>
            <a:pPr lvl="1" algn="just" eaLnBrk="1" hangingPunct="1">
              <a:lnSpc>
                <a:spcPct val="150000"/>
              </a:lnSpc>
              <a:buNone/>
            </a:pPr>
            <a:r>
              <a:rPr lang="zh-CN" altLang="en-US" sz="2400" dirty="0"/>
              <a:t>每个用户只能看见和访问所对应的外模式中的数据</a:t>
            </a:r>
            <a:endParaRPr lang="zh-CN" altLang="en-US" sz="2400" dirty="0"/>
          </a:p>
          <a:p>
            <a:pPr eaLnBrk="1" hangingPunct="1"/>
            <a:endParaRPr lang="zh-CN" altLang="en-US" sz="2800" dirty="0"/>
          </a:p>
          <a:p>
            <a:pPr eaLnBrk="1" hangingPunct="1"/>
            <a:endParaRPr lang="zh-CN" altLang="en-US" sz="28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8659"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sz="3200" u="sng" dirty="0"/>
              <a:t>1.3.2  </a:t>
            </a:r>
            <a:r>
              <a:rPr lang="zh-CN" altLang="en-US" sz="3200" u="sng" dirty="0"/>
              <a:t>数据库系统的三级模式结构</a:t>
            </a:r>
            <a:endParaRPr lang="zh-CN" altLang="en-US" sz="3200" u="sng" dirty="0"/>
          </a:p>
        </p:txBody>
      </p:sp>
      <p:sp>
        <p:nvSpPr>
          <p:cNvPr id="198660" name="Rectangle 3"/>
          <p:cNvSpPr>
            <a:spLocks noGrp="1"/>
          </p:cNvSpPr>
          <p:nvPr>
            <p:ph idx="1"/>
          </p:nvPr>
        </p:nvSpPr>
        <p:spPr>
          <a:xfrm>
            <a:off x="304800" y="838200"/>
            <a:ext cx="8305800" cy="5715000"/>
          </a:xfrm>
          <a:ln/>
        </p:spPr>
        <p:txBody>
          <a:bodyPr vert="horz" wrap="square" lIns="91440" tIns="45720" rIns="91440" bIns="45720" anchor="t" anchorCtr="0"/>
          <a:p>
            <a:pPr algn="just" eaLnBrk="1" hangingPunct="1">
              <a:lnSpc>
                <a:spcPct val="130000"/>
              </a:lnSpc>
              <a:buNone/>
            </a:pPr>
            <a:r>
              <a:rPr lang="en-US" altLang="zh-CN" sz="3600" dirty="0">
                <a:solidFill>
                  <a:srgbClr val="FF0000"/>
                </a:solidFill>
              </a:rPr>
              <a:t>3. </a:t>
            </a:r>
            <a:r>
              <a:rPr lang="zh-CN" altLang="en-US" sz="3600" dirty="0">
                <a:solidFill>
                  <a:srgbClr val="FF0000"/>
                </a:solidFill>
              </a:rPr>
              <a:t>内模式</a:t>
            </a:r>
            <a:endParaRPr lang="zh-CN" altLang="en-US" sz="3600" dirty="0">
              <a:solidFill>
                <a:srgbClr val="FF0000"/>
              </a:solidFill>
            </a:endParaRPr>
          </a:p>
          <a:p>
            <a:pPr algn="just" eaLnBrk="1" hangingPunct="1"/>
            <a:r>
              <a:rPr lang="zh-CN" altLang="en-US" sz="2800" dirty="0">
                <a:solidFill>
                  <a:schemeClr val="accent2"/>
                </a:solidFill>
              </a:rPr>
              <a:t>内模式（也称存储模式、物理模式）</a:t>
            </a:r>
            <a:endParaRPr lang="zh-CN" altLang="en-US" sz="2800" dirty="0">
              <a:solidFill>
                <a:schemeClr val="accent2"/>
              </a:solidFill>
            </a:endParaRPr>
          </a:p>
          <a:p>
            <a:pPr lvl="1" algn="just" eaLnBrk="1" hangingPunct="1"/>
            <a:r>
              <a:rPr lang="zh-CN" altLang="en-US" sz="2400" b="0" dirty="0"/>
              <a:t>是数据物理结构和存储方式的描述</a:t>
            </a:r>
            <a:endParaRPr lang="zh-CN" altLang="en-US" sz="2400" b="0" dirty="0"/>
          </a:p>
          <a:p>
            <a:pPr lvl="1" algn="just" eaLnBrk="1" hangingPunct="1"/>
            <a:r>
              <a:rPr lang="zh-CN" altLang="en-US" sz="2400" b="0" dirty="0"/>
              <a:t>是数据在数据库内部的表示方式</a:t>
            </a:r>
            <a:endParaRPr lang="zh-CN" altLang="en-US" sz="2400" b="0" dirty="0"/>
          </a:p>
          <a:p>
            <a:pPr lvl="2" algn="just" eaLnBrk="1" hangingPunct="1"/>
            <a:r>
              <a:rPr lang="zh-CN" altLang="en-US" b="0" dirty="0"/>
              <a:t>记录的存储方式（顺序存储，按照</a:t>
            </a:r>
            <a:r>
              <a:rPr lang="en-US" altLang="zh-CN" b="0" dirty="0"/>
              <a:t>B</a:t>
            </a:r>
            <a:r>
              <a:rPr lang="zh-CN" altLang="en-US" b="0" dirty="0"/>
              <a:t>树结构存储，按</a:t>
            </a:r>
            <a:r>
              <a:rPr lang="en-US" altLang="zh-CN" b="0" dirty="0"/>
              <a:t>hash</a:t>
            </a:r>
            <a:r>
              <a:rPr lang="zh-CN" altLang="en-US" b="0" dirty="0"/>
              <a:t>方法存储）</a:t>
            </a:r>
            <a:endParaRPr lang="zh-CN" altLang="en-US" b="0" dirty="0"/>
          </a:p>
          <a:p>
            <a:pPr lvl="2" algn="just" eaLnBrk="1" hangingPunct="1"/>
            <a:r>
              <a:rPr lang="zh-CN" altLang="en-US" b="0" dirty="0"/>
              <a:t>索引的组织方式</a:t>
            </a:r>
            <a:endParaRPr lang="zh-CN" altLang="en-US" b="0" dirty="0"/>
          </a:p>
          <a:p>
            <a:pPr lvl="2" algn="just" eaLnBrk="1" hangingPunct="1"/>
            <a:r>
              <a:rPr lang="zh-CN" altLang="en-US" b="0" dirty="0"/>
              <a:t>数据是否压缩存储</a:t>
            </a:r>
            <a:endParaRPr lang="zh-CN" altLang="en-US" b="0" dirty="0"/>
          </a:p>
          <a:p>
            <a:pPr lvl="2" algn="just" eaLnBrk="1" hangingPunct="1"/>
            <a:r>
              <a:rPr lang="zh-CN" altLang="en-US" b="0" dirty="0"/>
              <a:t>数据是否加密</a:t>
            </a:r>
            <a:endParaRPr lang="zh-CN" altLang="en-US" b="0" dirty="0"/>
          </a:p>
          <a:p>
            <a:pPr lvl="2" algn="just" eaLnBrk="1" hangingPunct="1"/>
            <a:r>
              <a:rPr lang="zh-CN" altLang="en-US" b="0" dirty="0"/>
              <a:t>数据存储记录结构的规定</a:t>
            </a:r>
            <a:endParaRPr lang="zh-CN" altLang="en-US" dirty="0"/>
          </a:p>
          <a:p>
            <a:pPr algn="just" eaLnBrk="1" hangingPunct="1"/>
            <a:r>
              <a:rPr lang="zh-CN" altLang="en-US" sz="2800" dirty="0">
                <a:solidFill>
                  <a:schemeClr val="accent2"/>
                </a:solidFill>
              </a:rPr>
              <a:t>一个数据库只有一个内模式</a:t>
            </a:r>
            <a:endParaRPr lang="zh-CN" altLang="en-US" sz="2800" dirty="0">
              <a:solidFill>
                <a:schemeClr val="accent2"/>
              </a:solidFil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9683" name="Rectangle 2"/>
          <p:cNvSpPr/>
          <p:nvPr/>
        </p:nvSpPr>
        <p:spPr>
          <a:xfrm>
            <a:off x="558800" y="3751263"/>
            <a:ext cx="8001000" cy="6858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199684" name="Rectangle 3"/>
          <p:cNvSpPr>
            <a:spLocks noGrp="1"/>
          </p:cNvSpPr>
          <p:nvPr>
            <p:ph type="title"/>
          </p:nvPr>
        </p:nvSpPr>
        <p:spPr>
          <a:ln/>
        </p:spPr>
        <p:txBody>
          <a:bodyPr vert="horz" wrap="square" lIns="91440" tIns="45720" rIns="91440" bIns="45720" anchor="ctr" anchorCtr="0"/>
          <a:p>
            <a:pPr eaLnBrk="1" hangingPunct="1"/>
            <a:r>
              <a:rPr lang="en-US" altLang="zh-CN" dirty="0"/>
              <a:t>1.3 </a:t>
            </a:r>
            <a:r>
              <a:rPr lang="zh-CN" altLang="en-US" dirty="0"/>
              <a:t>数据库系统结构</a:t>
            </a:r>
            <a:endParaRPr lang="zh-CN" altLang="en-US" dirty="0"/>
          </a:p>
        </p:txBody>
      </p:sp>
      <p:sp>
        <p:nvSpPr>
          <p:cNvPr id="199685" name="Rectangle 4"/>
          <p:cNvSpPr>
            <a:spLocks noGrp="1"/>
          </p:cNvSpPr>
          <p:nvPr>
            <p:ph idx="1"/>
          </p:nvPr>
        </p:nvSpPr>
        <p:spPr>
          <a:xfrm>
            <a:off x="685800" y="1447800"/>
            <a:ext cx="7848600" cy="3581400"/>
          </a:xfrm>
          <a:ln/>
        </p:spPr>
        <p:txBody>
          <a:bodyPr vert="horz" wrap="square" lIns="91440" tIns="45720" rIns="91440" bIns="45720" anchor="t" anchorCtr="0"/>
          <a:p>
            <a:pPr algn="just" eaLnBrk="1" hangingPunct="1">
              <a:lnSpc>
                <a:spcPct val="190000"/>
              </a:lnSpc>
              <a:buNone/>
            </a:pPr>
            <a:r>
              <a:rPr lang="en-US" altLang="zh-CN" dirty="0">
                <a:solidFill>
                  <a:schemeClr val="tx1"/>
                </a:solidFill>
              </a:rPr>
              <a:t>1.3.1 </a:t>
            </a:r>
            <a:r>
              <a:rPr lang="zh-CN" altLang="en-US" dirty="0">
                <a:solidFill>
                  <a:schemeClr val="tx1"/>
                </a:solidFill>
              </a:rPr>
              <a:t>数据库系统模式的概念 </a:t>
            </a:r>
            <a:endParaRPr lang="zh-CN" altLang="en-US" dirty="0">
              <a:solidFill>
                <a:schemeClr val="tx1"/>
              </a:solidFill>
            </a:endParaRPr>
          </a:p>
          <a:p>
            <a:pPr algn="just" eaLnBrk="1" hangingPunct="1">
              <a:lnSpc>
                <a:spcPct val="190000"/>
              </a:lnSpc>
              <a:buNone/>
            </a:pPr>
            <a:r>
              <a:rPr lang="en-US" altLang="zh-CN" dirty="0">
                <a:solidFill>
                  <a:schemeClr val="tx1"/>
                </a:solidFill>
              </a:rPr>
              <a:t>1.3.2  </a:t>
            </a:r>
            <a:r>
              <a:rPr lang="zh-CN" altLang="en-US" dirty="0">
                <a:solidFill>
                  <a:schemeClr val="tx1"/>
                </a:solidFill>
              </a:rPr>
              <a:t>数据库系统的三级模式结构 </a:t>
            </a:r>
            <a:endParaRPr lang="zh-CN" altLang="en-US" dirty="0">
              <a:solidFill>
                <a:schemeClr val="tx1"/>
              </a:solidFill>
            </a:endParaRPr>
          </a:p>
          <a:p>
            <a:pPr algn="just" eaLnBrk="1" hangingPunct="1">
              <a:lnSpc>
                <a:spcPct val="190000"/>
              </a:lnSpc>
              <a:buNone/>
            </a:pPr>
            <a:r>
              <a:rPr lang="en-US" altLang="zh-CN" dirty="0">
                <a:solidFill>
                  <a:schemeClr val="bg1"/>
                </a:solidFill>
              </a:rPr>
              <a:t>1.3.3 </a:t>
            </a:r>
            <a:r>
              <a:rPr lang="zh-CN" altLang="en-US" dirty="0">
                <a:solidFill>
                  <a:schemeClr val="bg1"/>
                </a:solidFill>
              </a:rPr>
              <a:t>数据库的二级映像功能与数据独立性</a:t>
            </a:r>
            <a:endParaRPr lang="zh-CN" altLang="en-US" dirty="0">
              <a:solidFill>
                <a:schemeClr val="bg1"/>
              </a:solidFil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0707"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sz="3200" u="sng" dirty="0"/>
              <a:t>1.3.3  </a:t>
            </a:r>
            <a:r>
              <a:rPr lang="zh-CN" altLang="en-US" sz="3200" u="sng" dirty="0"/>
              <a:t>数据库系统的模式结构</a:t>
            </a:r>
            <a:endParaRPr lang="zh-CN" altLang="en-US" sz="3200" u="sng" dirty="0"/>
          </a:p>
        </p:txBody>
      </p:sp>
      <p:sp>
        <p:nvSpPr>
          <p:cNvPr id="200708" name="Rectangle 3"/>
          <p:cNvSpPr>
            <a:spLocks noGrp="1"/>
          </p:cNvSpPr>
          <p:nvPr>
            <p:ph idx="1"/>
          </p:nvPr>
        </p:nvSpPr>
        <p:spPr>
          <a:xfrm>
            <a:off x="304800" y="838200"/>
            <a:ext cx="8305800" cy="5715000"/>
          </a:xfrm>
          <a:ln/>
        </p:spPr>
        <p:txBody>
          <a:bodyPr vert="horz" wrap="square" lIns="91440" tIns="45720" rIns="91440" bIns="45720" anchor="t" anchorCtr="0"/>
          <a:p>
            <a:pPr algn="just" eaLnBrk="1" hangingPunct="1">
              <a:lnSpc>
                <a:spcPct val="130000"/>
              </a:lnSpc>
              <a:buNone/>
            </a:pPr>
            <a:r>
              <a:rPr lang="zh-CN" altLang="en-US" sz="3600" dirty="0">
                <a:solidFill>
                  <a:srgbClr val="FF0000"/>
                </a:solidFill>
                <a:ea typeface="楷体_GB2312" pitchFamily="49" charset="-122"/>
              </a:rPr>
              <a:t>三级模式与二级映象</a:t>
            </a:r>
            <a:endParaRPr lang="zh-CN" altLang="en-US" sz="3600" dirty="0">
              <a:solidFill>
                <a:srgbClr val="FF0000"/>
              </a:solidFill>
              <a:ea typeface="楷体_GB2312" pitchFamily="49" charset="-122"/>
            </a:endParaRPr>
          </a:p>
          <a:p>
            <a:pPr algn="just" eaLnBrk="1" hangingPunct="1"/>
            <a:r>
              <a:rPr lang="zh-CN" altLang="en-US" dirty="0">
                <a:solidFill>
                  <a:schemeClr val="tx1"/>
                </a:solidFill>
              </a:rPr>
              <a:t>三级模式是对数据的三个抽象级别</a:t>
            </a:r>
            <a:endParaRPr lang="zh-CN" altLang="en-US" dirty="0">
              <a:solidFill>
                <a:schemeClr val="tx1"/>
              </a:solidFill>
            </a:endParaRPr>
          </a:p>
          <a:p>
            <a:pPr algn="just" eaLnBrk="1" hangingPunct="1"/>
            <a:endParaRPr lang="zh-CN" altLang="en-US" dirty="0">
              <a:solidFill>
                <a:schemeClr val="tx1"/>
              </a:solidFill>
            </a:endParaRPr>
          </a:p>
          <a:p>
            <a:pPr algn="just" eaLnBrk="1" hangingPunct="1">
              <a:lnSpc>
                <a:spcPct val="130000"/>
              </a:lnSpc>
            </a:pPr>
            <a:r>
              <a:rPr lang="zh-CN" altLang="en-US" dirty="0">
                <a:solidFill>
                  <a:schemeClr val="tx1"/>
                </a:solidFill>
              </a:rPr>
              <a:t>二级映象在</a:t>
            </a:r>
            <a:r>
              <a:rPr lang="en-US" altLang="zh-CN" dirty="0">
                <a:solidFill>
                  <a:schemeClr val="tx1"/>
                </a:solidFill>
              </a:rPr>
              <a:t>DBMS</a:t>
            </a:r>
            <a:r>
              <a:rPr lang="zh-CN" altLang="en-US" dirty="0">
                <a:solidFill>
                  <a:schemeClr val="tx1"/>
                </a:solidFill>
              </a:rPr>
              <a:t>内部实现这三个抽象层次的联系和转换</a:t>
            </a:r>
            <a:endParaRPr lang="zh-CN" altLang="en-US" b="0" dirty="0">
              <a:solidFill>
                <a:schemeClr val="tx1"/>
              </a:solidFill>
            </a:endParaRPr>
          </a:p>
          <a:p>
            <a:pPr eaLnBrk="1" hangingPunct="1"/>
            <a:endParaRPr lang="zh-CN" altLang="en-US" sz="2800" dirty="0">
              <a:solidFill>
                <a:schemeClr val="tx1"/>
              </a:solidFill>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1731"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grpSp>
        <p:nvGrpSpPr>
          <p:cNvPr id="201732" name="Group 3"/>
          <p:cNvGrpSpPr/>
          <p:nvPr/>
        </p:nvGrpSpPr>
        <p:grpSpPr>
          <a:xfrm>
            <a:off x="187325" y="1511300"/>
            <a:ext cx="8769350" cy="4813300"/>
            <a:chOff x="118" y="952"/>
            <a:chExt cx="5524" cy="3032"/>
          </a:xfrm>
        </p:grpSpPr>
        <p:sp>
          <p:nvSpPr>
            <p:cNvPr id="201735" name="AutoShape 4"/>
            <p:cNvSpPr/>
            <p:nvPr/>
          </p:nvSpPr>
          <p:spPr>
            <a:xfrm>
              <a:off x="2544" y="3456"/>
              <a:ext cx="720" cy="528"/>
            </a:xfrm>
            <a:prstGeom prst="flowChartMagneticDisk">
              <a:avLst/>
            </a:prstGeom>
            <a:gradFill rotWithShape="0">
              <a:gsLst>
                <a:gs pos="0">
                  <a:srgbClr val="182F76"/>
                </a:gs>
                <a:gs pos="50000">
                  <a:srgbClr val="3366FF"/>
                </a:gs>
                <a:gs pos="100000">
                  <a:srgbClr val="182F76"/>
                </a:gs>
              </a:gsLst>
              <a:lin ang="5400000" scaled="1"/>
              <a:tileRect/>
            </a:gra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bg1"/>
                  </a:solidFill>
                  <a:latin typeface="隶书" panose="02010509060101010101" charset="-122"/>
                  <a:ea typeface="隶书" panose="02010509060101010101" charset="-122"/>
                </a:rPr>
                <a:t>数据库</a:t>
              </a:r>
              <a:endParaRPr lang="zh-CN" altLang="en-US" sz="2400" b="0" dirty="0">
                <a:solidFill>
                  <a:schemeClr val="bg1"/>
                </a:solidFill>
                <a:latin typeface="Tahoma" panose="020B0604030504040204" pitchFamily="34" charset="0"/>
                <a:ea typeface="隶书" panose="02010509060101010101" charset="-122"/>
              </a:endParaRPr>
            </a:p>
          </p:txBody>
        </p:sp>
        <p:sp>
          <p:nvSpPr>
            <p:cNvPr id="201736" name="AutoShape 5"/>
            <p:cNvSpPr/>
            <p:nvPr/>
          </p:nvSpPr>
          <p:spPr>
            <a:xfrm>
              <a:off x="2832" y="3264"/>
              <a:ext cx="96" cy="192"/>
            </a:xfrm>
            <a:prstGeom prst="upDownArrow">
              <a:avLst>
                <a:gd name="adj1" fmla="val 50000"/>
                <a:gd name="adj2" fmla="val 40000"/>
              </a:avLst>
            </a:prstGeom>
            <a:solidFill>
              <a:schemeClr val="tx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1737" name="AutoShape 6"/>
            <p:cNvSpPr/>
            <p:nvPr/>
          </p:nvSpPr>
          <p:spPr>
            <a:xfrm>
              <a:off x="2832" y="2736"/>
              <a:ext cx="96" cy="192"/>
            </a:xfrm>
            <a:prstGeom prst="upDownArrow">
              <a:avLst>
                <a:gd name="adj1" fmla="val 50000"/>
                <a:gd name="adj2" fmla="val 40000"/>
              </a:avLst>
            </a:prstGeom>
            <a:solidFill>
              <a:srgbClr val="000000"/>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1738" name="AutoShape 7"/>
            <p:cNvSpPr/>
            <p:nvPr/>
          </p:nvSpPr>
          <p:spPr>
            <a:xfrm>
              <a:off x="2832" y="1920"/>
              <a:ext cx="96" cy="480"/>
            </a:xfrm>
            <a:prstGeom prst="upDownArrow">
              <a:avLst>
                <a:gd name="adj1" fmla="val 50000"/>
                <a:gd name="adj2" fmla="val 100000"/>
              </a:avLst>
            </a:prstGeom>
            <a:solidFill>
              <a:schemeClr val="tx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1739" name="Line 8"/>
            <p:cNvSpPr/>
            <p:nvPr/>
          </p:nvSpPr>
          <p:spPr>
            <a:xfrm>
              <a:off x="2928" y="2160"/>
              <a:ext cx="1680" cy="0"/>
            </a:xfrm>
            <a:prstGeom prst="line">
              <a:avLst/>
            </a:prstGeom>
            <a:ln w="101600" cap="sq" cmpd="sng">
              <a:solidFill>
                <a:schemeClr val="tx1"/>
              </a:solidFill>
              <a:prstDash val="solid"/>
              <a:headEnd type="none" w="sm" len="sm"/>
              <a:tailEnd type="none" w="sm" len="sm"/>
            </a:ln>
          </p:spPr>
        </p:sp>
        <p:sp>
          <p:nvSpPr>
            <p:cNvPr id="201740" name="Line 9"/>
            <p:cNvSpPr/>
            <p:nvPr/>
          </p:nvSpPr>
          <p:spPr>
            <a:xfrm>
              <a:off x="1200" y="2160"/>
              <a:ext cx="1680" cy="0"/>
            </a:xfrm>
            <a:prstGeom prst="line">
              <a:avLst/>
            </a:prstGeom>
            <a:ln w="101600" cap="sq" cmpd="sng">
              <a:solidFill>
                <a:schemeClr val="tx1"/>
              </a:solidFill>
              <a:prstDash val="solid"/>
              <a:headEnd type="none" w="sm" len="sm"/>
              <a:tailEnd type="none" w="sm" len="sm"/>
            </a:ln>
          </p:spPr>
        </p:sp>
        <p:sp>
          <p:nvSpPr>
            <p:cNvPr id="201741" name="Line 10"/>
            <p:cNvSpPr/>
            <p:nvPr/>
          </p:nvSpPr>
          <p:spPr>
            <a:xfrm flipV="1">
              <a:off x="1152" y="1920"/>
              <a:ext cx="0" cy="240"/>
            </a:xfrm>
            <a:prstGeom prst="line">
              <a:avLst/>
            </a:prstGeom>
            <a:ln w="101600" cap="sq" cmpd="sng">
              <a:solidFill>
                <a:schemeClr val="tx1"/>
              </a:solidFill>
              <a:prstDash val="solid"/>
              <a:headEnd type="none" w="sm" len="sm"/>
              <a:tailEnd type="triangle" w="sm" len="sm"/>
            </a:ln>
          </p:spPr>
        </p:sp>
        <p:sp>
          <p:nvSpPr>
            <p:cNvPr id="201742" name="Line 11"/>
            <p:cNvSpPr/>
            <p:nvPr/>
          </p:nvSpPr>
          <p:spPr>
            <a:xfrm flipV="1">
              <a:off x="4608" y="1920"/>
              <a:ext cx="0" cy="240"/>
            </a:xfrm>
            <a:prstGeom prst="line">
              <a:avLst/>
            </a:prstGeom>
            <a:ln w="101600" cap="sq" cmpd="sng">
              <a:solidFill>
                <a:schemeClr val="tx1"/>
              </a:solidFill>
              <a:prstDash val="solid"/>
              <a:headEnd type="none" w="sm" len="sm"/>
              <a:tailEnd type="triangle" w="sm" len="sm"/>
            </a:ln>
          </p:spPr>
        </p:sp>
        <p:sp>
          <p:nvSpPr>
            <p:cNvPr id="201743" name="Line 12"/>
            <p:cNvSpPr/>
            <p:nvPr/>
          </p:nvSpPr>
          <p:spPr>
            <a:xfrm flipH="1" flipV="1">
              <a:off x="480" y="1248"/>
              <a:ext cx="576" cy="336"/>
            </a:xfrm>
            <a:prstGeom prst="line">
              <a:avLst/>
            </a:prstGeom>
            <a:ln w="101600" cap="sq" cmpd="sng">
              <a:solidFill>
                <a:schemeClr val="tx1"/>
              </a:solidFill>
              <a:prstDash val="solid"/>
              <a:headEnd type="triangle" w="sm" len="sm"/>
              <a:tailEnd type="triangle" w="sm" len="sm"/>
            </a:ln>
          </p:spPr>
        </p:sp>
        <p:sp>
          <p:nvSpPr>
            <p:cNvPr id="201744" name="Line 13"/>
            <p:cNvSpPr/>
            <p:nvPr/>
          </p:nvSpPr>
          <p:spPr>
            <a:xfrm flipH="1" flipV="1">
              <a:off x="3936" y="1248"/>
              <a:ext cx="576" cy="336"/>
            </a:xfrm>
            <a:prstGeom prst="line">
              <a:avLst/>
            </a:prstGeom>
            <a:ln w="101600" cap="sq" cmpd="sng">
              <a:solidFill>
                <a:schemeClr val="tx1"/>
              </a:solidFill>
              <a:prstDash val="solid"/>
              <a:headEnd type="triangle" w="sm" len="sm"/>
              <a:tailEnd type="triangle" w="sm" len="sm"/>
            </a:ln>
          </p:spPr>
        </p:sp>
        <p:sp>
          <p:nvSpPr>
            <p:cNvPr id="201745" name="Line 14"/>
            <p:cNvSpPr/>
            <p:nvPr/>
          </p:nvSpPr>
          <p:spPr>
            <a:xfrm flipV="1">
              <a:off x="1248" y="1248"/>
              <a:ext cx="576" cy="336"/>
            </a:xfrm>
            <a:prstGeom prst="line">
              <a:avLst/>
            </a:prstGeom>
            <a:ln w="101600" cap="sq" cmpd="sng">
              <a:solidFill>
                <a:schemeClr val="tx1"/>
              </a:solidFill>
              <a:prstDash val="solid"/>
              <a:headEnd type="triangle" w="sm" len="sm"/>
              <a:tailEnd type="triangle" w="sm" len="sm"/>
            </a:ln>
          </p:spPr>
        </p:sp>
        <p:sp>
          <p:nvSpPr>
            <p:cNvPr id="201746" name="Line 15"/>
            <p:cNvSpPr/>
            <p:nvPr/>
          </p:nvSpPr>
          <p:spPr>
            <a:xfrm flipV="1">
              <a:off x="4704" y="1248"/>
              <a:ext cx="576" cy="336"/>
            </a:xfrm>
            <a:prstGeom prst="line">
              <a:avLst/>
            </a:prstGeom>
            <a:ln w="101600" cap="sq" cmpd="sng">
              <a:solidFill>
                <a:schemeClr val="tx1"/>
              </a:solidFill>
              <a:prstDash val="solid"/>
              <a:headEnd type="triangle" w="sm" len="sm"/>
              <a:tailEnd type="triangle" w="sm" len="sm"/>
            </a:ln>
          </p:spPr>
        </p:sp>
        <p:sp>
          <p:nvSpPr>
            <p:cNvPr id="201747" name="AutoShape 16"/>
            <p:cNvSpPr/>
            <p:nvPr/>
          </p:nvSpPr>
          <p:spPr>
            <a:xfrm>
              <a:off x="2832" y="1248"/>
              <a:ext cx="96" cy="336"/>
            </a:xfrm>
            <a:prstGeom prst="upDownArrow">
              <a:avLst>
                <a:gd name="adj1" fmla="val 50000"/>
                <a:gd name="adj2" fmla="val 70000"/>
              </a:avLst>
            </a:prstGeom>
            <a:solidFill>
              <a:schemeClr val="tx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1748" name="Text Box 17"/>
            <p:cNvSpPr txBox="1"/>
            <p:nvPr/>
          </p:nvSpPr>
          <p:spPr>
            <a:xfrm>
              <a:off x="118" y="2300"/>
              <a:ext cx="1812" cy="335"/>
            </a:xfrm>
            <a:prstGeom prst="rect">
              <a:avLst/>
            </a:prstGeom>
            <a:gradFill rotWithShape="0">
              <a:gsLst>
                <a:gs pos="0">
                  <a:srgbClr val="3366FF"/>
                </a:gs>
                <a:gs pos="100000">
                  <a:srgbClr val="0099FF"/>
                </a:gs>
              </a:gsLst>
              <a:lin ang="5400000" scaled="1"/>
              <a:tileRect/>
            </a:gradFill>
            <a:ln w="12700"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bg1"/>
                  </a:solidFill>
                  <a:latin typeface="隶书" panose="02010509060101010101" charset="-122"/>
                  <a:ea typeface="隶书" panose="02010509060101010101" charset="-122"/>
                </a:rPr>
                <a:t>外模式</a:t>
              </a:r>
              <a:r>
                <a:rPr lang="en-US" altLang="zh-CN" sz="2800" dirty="0">
                  <a:solidFill>
                    <a:schemeClr val="bg1"/>
                  </a:solidFill>
                  <a:latin typeface="隶书" panose="02010509060101010101" charset="-122"/>
                  <a:ea typeface="隶书" panose="02010509060101010101" charset="-122"/>
                </a:rPr>
                <a:t>/</a:t>
              </a:r>
              <a:r>
                <a:rPr lang="zh-CN" altLang="en-US" sz="2800" dirty="0">
                  <a:solidFill>
                    <a:schemeClr val="bg1"/>
                  </a:solidFill>
                  <a:latin typeface="隶书" panose="02010509060101010101" charset="-122"/>
                  <a:ea typeface="隶书" panose="02010509060101010101" charset="-122"/>
                </a:rPr>
                <a:t>模式映象</a:t>
              </a:r>
              <a:endParaRPr lang="zh-CN" altLang="en-US" sz="2400" b="0" dirty="0">
                <a:solidFill>
                  <a:schemeClr val="bg1"/>
                </a:solidFill>
                <a:latin typeface="隶书" panose="02010509060101010101" charset="-122"/>
                <a:ea typeface="隶书" panose="02010509060101010101" charset="-122"/>
              </a:endParaRPr>
            </a:p>
          </p:txBody>
        </p:sp>
        <p:sp>
          <p:nvSpPr>
            <p:cNvPr id="201749" name="Text Box 18"/>
            <p:cNvSpPr txBox="1"/>
            <p:nvPr/>
          </p:nvSpPr>
          <p:spPr>
            <a:xfrm>
              <a:off x="3830" y="2645"/>
              <a:ext cx="1812" cy="335"/>
            </a:xfrm>
            <a:prstGeom prst="rect">
              <a:avLst/>
            </a:prstGeom>
            <a:gradFill rotWithShape="0">
              <a:gsLst>
                <a:gs pos="0">
                  <a:srgbClr val="0000FF"/>
                </a:gs>
                <a:gs pos="100000">
                  <a:srgbClr val="0099FF"/>
                </a:gs>
              </a:gsLst>
              <a:lin ang="5400000" scaled="1"/>
              <a:tileRect/>
            </a:gradFill>
            <a:ln w="12700"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800" dirty="0">
                  <a:solidFill>
                    <a:schemeClr val="bg1"/>
                  </a:solidFill>
                  <a:latin typeface="隶书" panose="02010509060101010101" charset="-122"/>
                  <a:ea typeface="隶书" panose="02010509060101010101" charset="-122"/>
                </a:rPr>
                <a:t>模式</a:t>
              </a:r>
              <a:r>
                <a:rPr lang="en-US" altLang="zh-CN" sz="2800" dirty="0">
                  <a:solidFill>
                    <a:schemeClr val="bg1"/>
                  </a:solidFill>
                  <a:latin typeface="隶书" panose="02010509060101010101" charset="-122"/>
                  <a:ea typeface="隶书" panose="02010509060101010101" charset="-122"/>
                </a:rPr>
                <a:t>/</a:t>
              </a:r>
              <a:r>
                <a:rPr lang="zh-CN" altLang="en-US" sz="2800" dirty="0">
                  <a:solidFill>
                    <a:schemeClr val="bg1"/>
                  </a:solidFill>
                  <a:latin typeface="隶书" panose="02010509060101010101" charset="-122"/>
                  <a:ea typeface="隶书" panose="02010509060101010101" charset="-122"/>
                </a:rPr>
                <a:t>内模式映象</a:t>
              </a:r>
              <a:endParaRPr lang="zh-CN" altLang="en-US" sz="2400" b="0" dirty="0">
                <a:solidFill>
                  <a:schemeClr val="bg1"/>
                </a:solidFill>
                <a:latin typeface="隶书" panose="02010509060101010101" charset="-122"/>
                <a:ea typeface="隶书" panose="02010509060101010101" charset="-122"/>
              </a:endParaRPr>
            </a:p>
          </p:txBody>
        </p:sp>
        <p:sp>
          <p:nvSpPr>
            <p:cNvPr id="201750" name="Line 19"/>
            <p:cNvSpPr/>
            <p:nvPr/>
          </p:nvSpPr>
          <p:spPr>
            <a:xfrm flipV="1">
              <a:off x="1872" y="2208"/>
              <a:ext cx="960" cy="288"/>
            </a:xfrm>
            <a:prstGeom prst="line">
              <a:avLst/>
            </a:prstGeom>
            <a:ln w="101600" cap="sq" cmpd="sng">
              <a:solidFill>
                <a:schemeClr val="tx1"/>
              </a:solidFill>
              <a:prstDash val="solid"/>
              <a:headEnd type="triangle" w="sm" len="sm"/>
              <a:tailEnd type="triangle" w="sm" len="sm"/>
            </a:ln>
          </p:spPr>
        </p:sp>
        <p:sp>
          <p:nvSpPr>
            <p:cNvPr id="201751" name="Line 20"/>
            <p:cNvSpPr/>
            <p:nvPr/>
          </p:nvSpPr>
          <p:spPr>
            <a:xfrm flipV="1">
              <a:off x="2880" y="2832"/>
              <a:ext cx="960" cy="0"/>
            </a:xfrm>
            <a:prstGeom prst="line">
              <a:avLst/>
            </a:prstGeom>
            <a:ln w="101600" cap="sq" cmpd="sng">
              <a:solidFill>
                <a:schemeClr val="tx1"/>
              </a:solidFill>
              <a:prstDash val="solid"/>
              <a:headEnd type="triangle" w="sm" len="sm"/>
              <a:tailEnd type="triangle" w="sm" len="sm"/>
            </a:ln>
          </p:spPr>
        </p:sp>
        <p:sp>
          <p:nvSpPr>
            <p:cNvPr id="201752" name="Text Box 21"/>
            <p:cNvSpPr txBox="1"/>
            <p:nvPr/>
          </p:nvSpPr>
          <p:spPr>
            <a:xfrm>
              <a:off x="160"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A</a:t>
              </a:r>
              <a:endParaRPr lang="en-US" altLang="zh-CN" sz="2400" dirty="0">
                <a:solidFill>
                  <a:schemeClr val="bg1"/>
                </a:solidFill>
                <a:ea typeface="Arial" panose="020B0604020202020204" pitchFamily="34" charset="0"/>
              </a:endParaRPr>
            </a:p>
          </p:txBody>
        </p:sp>
        <p:sp>
          <p:nvSpPr>
            <p:cNvPr id="201753" name="Text Box 22"/>
            <p:cNvSpPr txBox="1"/>
            <p:nvPr/>
          </p:nvSpPr>
          <p:spPr>
            <a:xfrm>
              <a:off x="1336" y="952"/>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B</a:t>
              </a:r>
              <a:endParaRPr lang="en-US" altLang="zh-CN" sz="2400" dirty="0">
                <a:solidFill>
                  <a:schemeClr val="bg1"/>
                </a:solidFill>
                <a:ea typeface="Arial" panose="020B0604020202020204" pitchFamily="34" charset="0"/>
              </a:endParaRPr>
            </a:p>
          </p:txBody>
        </p:sp>
        <p:sp>
          <p:nvSpPr>
            <p:cNvPr id="201754" name="Text Box 23"/>
            <p:cNvSpPr txBox="1"/>
            <p:nvPr/>
          </p:nvSpPr>
          <p:spPr>
            <a:xfrm>
              <a:off x="2448"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C</a:t>
              </a:r>
              <a:endParaRPr lang="en-US" altLang="zh-CN" sz="2400" dirty="0">
                <a:solidFill>
                  <a:schemeClr val="bg1"/>
                </a:solidFill>
                <a:ea typeface="Arial" panose="020B0604020202020204" pitchFamily="34" charset="0"/>
              </a:endParaRPr>
            </a:p>
          </p:txBody>
        </p:sp>
        <p:sp>
          <p:nvSpPr>
            <p:cNvPr id="201755" name="Text Box 24"/>
            <p:cNvSpPr txBox="1"/>
            <p:nvPr/>
          </p:nvSpPr>
          <p:spPr>
            <a:xfrm>
              <a:off x="3624"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D</a:t>
              </a:r>
              <a:endParaRPr lang="en-US" altLang="zh-CN" sz="2400" dirty="0">
                <a:solidFill>
                  <a:schemeClr val="bg1"/>
                </a:solidFill>
                <a:ea typeface="Arial" panose="020B0604020202020204" pitchFamily="34" charset="0"/>
              </a:endParaRPr>
            </a:p>
          </p:txBody>
        </p:sp>
        <p:sp>
          <p:nvSpPr>
            <p:cNvPr id="201756" name="Text Box 25"/>
            <p:cNvSpPr txBox="1"/>
            <p:nvPr/>
          </p:nvSpPr>
          <p:spPr>
            <a:xfrm>
              <a:off x="4784" y="960"/>
              <a:ext cx="816" cy="288"/>
            </a:xfrm>
            <a:prstGeom prst="rect">
              <a:avLst/>
            </a:prstGeom>
            <a:gradFill rotWithShape="0">
              <a:gsLst>
                <a:gs pos="0">
                  <a:srgbClr val="6600CC"/>
                </a:gs>
                <a:gs pos="100000">
                  <a:srgbClr val="6600FF"/>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应用</a:t>
              </a:r>
              <a:r>
                <a:rPr lang="en-US" altLang="zh-CN" sz="2400" dirty="0">
                  <a:solidFill>
                    <a:schemeClr val="bg1"/>
                  </a:solidFill>
                  <a:cs typeface="Arial" panose="020B0604020202020204" pitchFamily="34" charset="0"/>
                </a:rPr>
                <a:t>E</a:t>
              </a:r>
              <a:endParaRPr lang="en-US" altLang="zh-CN" sz="2400" dirty="0">
                <a:solidFill>
                  <a:schemeClr val="bg1"/>
                </a:solidFill>
                <a:ea typeface="Arial" panose="020B0604020202020204" pitchFamily="34" charset="0"/>
              </a:endParaRPr>
            </a:p>
          </p:txBody>
        </p:sp>
        <p:sp>
          <p:nvSpPr>
            <p:cNvPr id="201757" name="Text Box 26"/>
            <p:cNvSpPr txBox="1"/>
            <p:nvPr/>
          </p:nvSpPr>
          <p:spPr>
            <a:xfrm>
              <a:off x="720" y="1632"/>
              <a:ext cx="816" cy="288"/>
            </a:xfrm>
            <a:prstGeom prst="rect">
              <a:avLst/>
            </a:prstGeom>
            <a:gradFill rotWithShape="0">
              <a:gsLst>
                <a:gs pos="0">
                  <a:schemeClr val="bg2"/>
                </a:gs>
                <a:gs pos="100000">
                  <a:schemeClr val="folHlink"/>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外模式</a:t>
              </a:r>
              <a:r>
                <a:rPr lang="en-US" altLang="zh-CN" sz="2400" dirty="0">
                  <a:solidFill>
                    <a:schemeClr val="tx1"/>
                  </a:solidFill>
                  <a:cs typeface="Arial" panose="020B0604020202020204" pitchFamily="34" charset="0"/>
                </a:rPr>
                <a:t>1</a:t>
              </a:r>
              <a:endParaRPr lang="en-US" altLang="zh-CN" sz="2400" dirty="0">
                <a:solidFill>
                  <a:schemeClr val="tx1"/>
                </a:solidFill>
                <a:ea typeface="Arial" panose="020B0604020202020204" pitchFamily="34" charset="0"/>
              </a:endParaRPr>
            </a:p>
          </p:txBody>
        </p:sp>
        <p:sp>
          <p:nvSpPr>
            <p:cNvPr id="201758" name="Text Box 27"/>
            <p:cNvSpPr txBox="1"/>
            <p:nvPr/>
          </p:nvSpPr>
          <p:spPr>
            <a:xfrm>
              <a:off x="2472" y="1608"/>
              <a:ext cx="816" cy="288"/>
            </a:xfrm>
            <a:prstGeom prst="rect">
              <a:avLst/>
            </a:prstGeom>
            <a:gradFill rotWithShape="0">
              <a:gsLst>
                <a:gs pos="0">
                  <a:schemeClr val="bg2"/>
                </a:gs>
                <a:gs pos="100000">
                  <a:schemeClr val="folHlink"/>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外模式</a:t>
              </a:r>
              <a:r>
                <a:rPr lang="en-US" altLang="zh-CN" sz="2400" dirty="0">
                  <a:solidFill>
                    <a:schemeClr val="tx1"/>
                  </a:solidFill>
                  <a:cs typeface="Arial" panose="020B0604020202020204" pitchFamily="34" charset="0"/>
                </a:rPr>
                <a:t>2</a:t>
              </a:r>
              <a:endParaRPr lang="en-US" altLang="zh-CN" sz="2400" dirty="0">
                <a:solidFill>
                  <a:schemeClr val="tx1"/>
                </a:solidFill>
                <a:ea typeface="Arial" panose="020B0604020202020204" pitchFamily="34" charset="0"/>
              </a:endParaRPr>
            </a:p>
          </p:txBody>
        </p:sp>
        <p:sp>
          <p:nvSpPr>
            <p:cNvPr id="201759" name="Text Box 28"/>
            <p:cNvSpPr txBox="1"/>
            <p:nvPr/>
          </p:nvSpPr>
          <p:spPr>
            <a:xfrm>
              <a:off x="4200" y="1608"/>
              <a:ext cx="816" cy="288"/>
            </a:xfrm>
            <a:prstGeom prst="rect">
              <a:avLst/>
            </a:prstGeom>
            <a:gradFill rotWithShape="0">
              <a:gsLst>
                <a:gs pos="0">
                  <a:schemeClr val="bg2"/>
                </a:gs>
                <a:gs pos="100000">
                  <a:schemeClr val="folHlink"/>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外模式</a:t>
              </a:r>
              <a:r>
                <a:rPr lang="en-US" altLang="zh-CN" sz="2400" dirty="0">
                  <a:solidFill>
                    <a:schemeClr val="tx1"/>
                  </a:solidFill>
                  <a:cs typeface="Arial" panose="020B0604020202020204" pitchFamily="34" charset="0"/>
                </a:rPr>
                <a:t>3</a:t>
              </a:r>
              <a:endParaRPr lang="en-US" altLang="zh-CN" sz="2400" dirty="0">
                <a:solidFill>
                  <a:schemeClr val="tx1"/>
                </a:solidFill>
                <a:ea typeface="Arial" panose="020B0604020202020204" pitchFamily="34" charset="0"/>
              </a:endParaRPr>
            </a:p>
          </p:txBody>
        </p:sp>
        <p:sp>
          <p:nvSpPr>
            <p:cNvPr id="201760" name="Text Box 29"/>
            <p:cNvSpPr txBox="1"/>
            <p:nvPr/>
          </p:nvSpPr>
          <p:spPr>
            <a:xfrm>
              <a:off x="2496" y="2400"/>
              <a:ext cx="816" cy="288"/>
            </a:xfrm>
            <a:prstGeom prst="rect">
              <a:avLst/>
            </a:prstGeom>
            <a:gradFill rotWithShape="0">
              <a:gsLst>
                <a:gs pos="0">
                  <a:srgbClr val="475E00"/>
                </a:gs>
                <a:gs pos="50000">
                  <a:srgbClr val="99CC00"/>
                </a:gs>
                <a:gs pos="100000">
                  <a:srgbClr val="475E00"/>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tx1"/>
                  </a:solidFill>
                  <a:cs typeface="Arial" panose="020B0604020202020204" pitchFamily="34" charset="0"/>
                </a:rPr>
                <a:t>模式</a:t>
              </a:r>
              <a:endParaRPr lang="zh-CN" altLang="en-US" sz="2400" dirty="0">
                <a:solidFill>
                  <a:schemeClr val="tx1"/>
                </a:solidFill>
                <a:ea typeface="Arial" panose="020B0604020202020204" pitchFamily="34" charset="0"/>
              </a:endParaRPr>
            </a:p>
          </p:txBody>
        </p:sp>
        <p:sp>
          <p:nvSpPr>
            <p:cNvPr id="201761" name="Text Box 30"/>
            <p:cNvSpPr txBox="1"/>
            <p:nvPr/>
          </p:nvSpPr>
          <p:spPr>
            <a:xfrm>
              <a:off x="2480" y="2928"/>
              <a:ext cx="816" cy="288"/>
            </a:xfrm>
            <a:prstGeom prst="rect">
              <a:avLst/>
            </a:prstGeom>
            <a:gradFill rotWithShape="0">
              <a:gsLst>
                <a:gs pos="0">
                  <a:srgbClr val="003B00"/>
                </a:gs>
                <a:gs pos="50000">
                  <a:srgbClr val="008000"/>
                </a:gs>
                <a:gs pos="100000">
                  <a:srgbClr val="003B00"/>
                </a:gs>
              </a:gsLst>
              <a:lin ang="5400000" scaled="1"/>
              <a:tileRect/>
            </a:grad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50000"/>
                </a:spcBef>
                <a:buClrTx/>
                <a:buFontTx/>
                <a:buNone/>
              </a:pPr>
              <a:r>
                <a:rPr lang="zh-CN" altLang="en-US" sz="2400" dirty="0">
                  <a:solidFill>
                    <a:schemeClr val="bg1"/>
                  </a:solidFill>
                  <a:cs typeface="Arial" panose="020B0604020202020204" pitchFamily="34" charset="0"/>
                </a:rPr>
                <a:t>内模式</a:t>
              </a:r>
              <a:endParaRPr lang="zh-CN" altLang="en-US" sz="2400" dirty="0">
                <a:solidFill>
                  <a:schemeClr val="bg1"/>
                </a:solidFill>
                <a:ea typeface="Arial" panose="020B0604020202020204" pitchFamily="34" charset="0"/>
              </a:endParaRPr>
            </a:p>
          </p:txBody>
        </p:sp>
      </p:grpSp>
      <p:sp>
        <p:nvSpPr>
          <p:cNvPr id="201733" name="Line 31"/>
          <p:cNvSpPr/>
          <p:nvPr/>
        </p:nvSpPr>
        <p:spPr>
          <a:xfrm>
            <a:off x="254000" y="3225800"/>
            <a:ext cx="8610600" cy="0"/>
          </a:xfrm>
          <a:prstGeom prst="line">
            <a:avLst/>
          </a:prstGeom>
          <a:ln w="76200" cap="flat" cmpd="sng">
            <a:solidFill>
              <a:srgbClr val="FF0000"/>
            </a:solidFill>
            <a:prstDash val="sysDot"/>
            <a:headEnd type="none" w="med" len="med"/>
            <a:tailEnd type="none" w="med" len="med"/>
          </a:ln>
        </p:spPr>
      </p:sp>
      <p:sp>
        <p:nvSpPr>
          <p:cNvPr id="201734" name="Line 32"/>
          <p:cNvSpPr/>
          <p:nvPr/>
        </p:nvSpPr>
        <p:spPr>
          <a:xfrm>
            <a:off x="228600" y="4381500"/>
            <a:ext cx="8610600" cy="0"/>
          </a:xfrm>
          <a:prstGeom prst="line">
            <a:avLst/>
          </a:prstGeom>
          <a:ln w="76200" cap="flat" cmpd="sng">
            <a:solidFill>
              <a:srgbClr val="FF0000"/>
            </a:solidFill>
            <a:prstDash val="sysDot"/>
            <a:headEnd type="none" w="med" len="med"/>
            <a:tailEnd type="none" w="med" len="med"/>
          </a:ln>
        </p:spPr>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2755"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202756" name="Rectangle 3"/>
          <p:cNvSpPr>
            <a:spLocks noGrp="1"/>
          </p:cNvSpPr>
          <p:nvPr>
            <p:ph idx="1"/>
          </p:nvPr>
        </p:nvSpPr>
        <p:spPr>
          <a:xfrm>
            <a:off x="304800" y="838200"/>
            <a:ext cx="8305800" cy="4724400"/>
          </a:xfrm>
          <a:ln/>
        </p:spPr>
        <p:txBody>
          <a:bodyPr vert="horz" wrap="square" lIns="91440" tIns="45720" rIns="91440" bIns="45720" anchor="t" anchorCtr="0"/>
          <a:p>
            <a:pPr algn="just" eaLnBrk="1" hangingPunct="1">
              <a:lnSpc>
                <a:spcPct val="130000"/>
              </a:lnSpc>
              <a:buNone/>
            </a:pPr>
            <a:r>
              <a:rPr lang="en-US" altLang="zh-CN" sz="3600" dirty="0">
                <a:solidFill>
                  <a:srgbClr val="FF0000"/>
                </a:solidFill>
              </a:rPr>
              <a:t>1. </a:t>
            </a:r>
            <a:r>
              <a:rPr lang="zh-CN" altLang="en-US" sz="3600" dirty="0">
                <a:solidFill>
                  <a:srgbClr val="FF0000"/>
                </a:solidFill>
              </a:rPr>
              <a:t>外模式</a:t>
            </a:r>
            <a:r>
              <a:rPr lang="en-US" altLang="zh-CN" sz="3600" dirty="0">
                <a:solidFill>
                  <a:srgbClr val="FF0000"/>
                </a:solidFill>
              </a:rPr>
              <a:t>/</a:t>
            </a:r>
            <a:r>
              <a:rPr lang="zh-CN" altLang="en-US" sz="3600" dirty="0">
                <a:solidFill>
                  <a:srgbClr val="FF0000"/>
                </a:solidFill>
              </a:rPr>
              <a:t>模式映象</a:t>
            </a:r>
            <a:endParaRPr lang="zh-CN" altLang="en-US" sz="3600" dirty="0">
              <a:solidFill>
                <a:srgbClr val="FF0000"/>
              </a:solidFill>
            </a:endParaRPr>
          </a:p>
          <a:p>
            <a:pPr algn="just" eaLnBrk="1" hangingPunct="1">
              <a:lnSpc>
                <a:spcPct val="160000"/>
              </a:lnSpc>
            </a:pPr>
            <a:r>
              <a:rPr lang="zh-CN" altLang="en-US" dirty="0">
                <a:solidFill>
                  <a:schemeClr val="tx1"/>
                </a:solidFill>
              </a:rPr>
              <a:t>定义外模式与模式之间的对应关系</a:t>
            </a:r>
            <a:endParaRPr lang="zh-CN" altLang="en-US" dirty="0">
              <a:solidFill>
                <a:schemeClr val="tx1"/>
              </a:solidFill>
            </a:endParaRPr>
          </a:p>
          <a:p>
            <a:pPr algn="just" eaLnBrk="1" hangingPunct="1">
              <a:lnSpc>
                <a:spcPct val="160000"/>
              </a:lnSpc>
            </a:pPr>
            <a:r>
              <a:rPr lang="zh-CN" altLang="en-US" dirty="0">
                <a:solidFill>
                  <a:schemeClr val="tx1"/>
                </a:solidFill>
              </a:rPr>
              <a:t>每一个外模式都对应一个外模式／模式映象</a:t>
            </a:r>
            <a:endParaRPr lang="zh-CN" altLang="en-US" dirty="0">
              <a:solidFill>
                <a:schemeClr val="tx1"/>
              </a:solidFill>
            </a:endParaRPr>
          </a:p>
          <a:p>
            <a:pPr algn="just" eaLnBrk="1" hangingPunct="1">
              <a:lnSpc>
                <a:spcPct val="160000"/>
              </a:lnSpc>
            </a:pPr>
            <a:r>
              <a:rPr lang="zh-CN" altLang="en-US" dirty="0">
                <a:solidFill>
                  <a:schemeClr val="tx1"/>
                </a:solidFill>
              </a:rPr>
              <a:t>映象定义通常包含在各自外模式的描述中</a:t>
            </a:r>
            <a:endParaRPr lang="zh-CN" altLang="en-US" dirty="0">
              <a:solidFill>
                <a:schemeClr val="tx1"/>
              </a:solidFil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3779"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203780" name="Rectangle 3"/>
          <p:cNvSpPr>
            <a:spLocks noGrp="1"/>
          </p:cNvSpPr>
          <p:nvPr>
            <p:ph idx="1"/>
          </p:nvPr>
        </p:nvSpPr>
        <p:spPr>
          <a:xfrm>
            <a:off x="304800" y="838200"/>
            <a:ext cx="8305800" cy="4724400"/>
          </a:xfrm>
          <a:ln/>
        </p:spPr>
        <p:txBody>
          <a:bodyPr vert="horz" wrap="square" lIns="91440" tIns="45720" rIns="91440" bIns="45720" anchor="t" anchorCtr="0"/>
          <a:p>
            <a:pPr algn="just" eaLnBrk="1" hangingPunct="1">
              <a:lnSpc>
                <a:spcPct val="130000"/>
              </a:lnSpc>
              <a:buNone/>
            </a:pPr>
            <a:r>
              <a:rPr lang="en-US" altLang="zh-CN" sz="3600" dirty="0">
                <a:solidFill>
                  <a:srgbClr val="FF0000"/>
                </a:solidFill>
              </a:rPr>
              <a:t>1. </a:t>
            </a:r>
            <a:r>
              <a:rPr lang="zh-CN" altLang="en-US" sz="3600" dirty="0">
                <a:solidFill>
                  <a:srgbClr val="FF0000"/>
                </a:solidFill>
              </a:rPr>
              <a:t>外模式</a:t>
            </a:r>
            <a:r>
              <a:rPr lang="en-US" altLang="zh-CN" sz="3600" dirty="0">
                <a:solidFill>
                  <a:srgbClr val="FF0000"/>
                </a:solidFill>
              </a:rPr>
              <a:t>/</a:t>
            </a:r>
            <a:r>
              <a:rPr lang="zh-CN" altLang="en-US" sz="3600" dirty="0">
                <a:solidFill>
                  <a:srgbClr val="FF0000"/>
                </a:solidFill>
              </a:rPr>
              <a:t>模式映象的用途</a:t>
            </a:r>
            <a:endParaRPr lang="zh-CN" altLang="en-US" sz="3600" dirty="0">
              <a:solidFill>
                <a:srgbClr val="FF0000"/>
              </a:solidFill>
            </a:endParaRPr>
          </a:p>
          <a:p>
            <a:pPr algn="just" eaLnBrk="1" hangingPunct="1">
              <a:lnSpc>
                <a:spcPct val="90000"/>
              </a:lnSpc>
              <a:buNone/>
            </a:pPr>
            <a:r>
              <a:rPr lang="zh-CN" altLang="en-US" dirty="0">
                <a:solidFill>
                  <a:schemeClr val="accent2"/>
                </a:solidFill>
              </a:rPr>
              <a:t>    保证数据的逻辑独立性</a:t>
            </a:r>
            <a:endParaRPr lang="zh-CN" altLang="en-US" dirty="0">
              <a:solidFill>
                <a:schemeClr val="accent2"/>
              </a:solidFill>
            </a:endParaRPr>
          </a:p>
          <a:p>
            <a:pPr lvl="1" algn="just" eaLnBrk="1" hangingPunct="1">
              <a:lnSpc>
                <a:spcPct val="150000"/>
              </a:lnSpc>
            </a:pPr>
            <a:r>
              <a:rPr lang="zh-CN" altLang="en-US" dirty="0"/>
              <a:t>当模式改变时，数据库管理员修改有关的外模式／模式映象，使外模式保持不变</a:t>
            </a:r>
            <a:endParaRPr lang="zh-CN" altLang="en-US" dirty="0"/>
          </a:p>
          <a:p>
            <a:pPr lvl="1" algn="just" eaLnBrk="1" hangingPunct="1">
              <a:lnSpc>
                <a:spcPct val="150000"/>
              </a:lnSpc>
            </a:pPr>
            <a:r>
              <a:rPr lang="zh-CN" altLang="en-US" dirty="0"/>
              <a:t>应用程序是依据数据的外模式编写的，从而应用程序不必修改，保证了数据与程序的逻辑独立性，简称数据的逻辑独立性。</a:t>
            </a:r>
            <a:endParaRPr lang="zh-CN" altLang="en-US"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03"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204804" name="Rectangle 3"/>
          <p:cNvSpPr>
            <a:spLocks noGrp="1"/>
          </p:cNvSpPr>
          <p:nvPr>
            <p:ph idx="1"/>
          </p:nvPr>
        </p:nvSpPr>
        <p:spPr>
          <a:xfrm>
            <a:off x="304800" y="838200"/>
            <a:ext cx="8305800" cy="4724400"/>
          </a:xfrm>
          <a:ln/>
        </p:spPr>
        <p:txBody>
          <a:bodyPr vert="horz" wrap="square" lIns="91440" tIns="45720" rIns="91440" bIns="45720" anchor="t" anchorCtr="0"/>
          <a:p>
            <a:pPr algn="just" eaLnBrk="1" hangingPunct="1">
              <a:lnSpc>
                <a:spcPct val="130000"/>
              </a:lnSpc>
              <a:buNone/>
            </a:pPr>
            <a:r>
              <a:rPr lang="en-US" altLang="zh-CN" sz="3600" dirty="0">
                <a:solidFill>
                  <a:srgbClr val="FF0000"/>
                </a:solidFill>
              </a:rPr>
              <a:t>2. </a:t>
            </a:r>
            <a:r>
              <a:rPr lang="zh-CN" altLang="en-US" sz="3600" dirty="0">
                <a:solidFill>
                  <a:srgbClr val="FF0000"/>
                </a:solidFill>
              </a:rPr>
              <a:t>模式</a:t>
            </a:r>
            <a:r>
              <a:rPr lang="en-US" altLang="zh-CN" sz="3600" dirty="0">
                <a:solidFill>
                  <a:srgbClr val="FF0000"/>
                </a:solidFill>
              </a:rPr>
              <a:t>/</a:t>
            </a:r>
            <a:r>
              <a:rPr lang="zh-CN" altLang="en-US" sz="3600" dirty="0">
                <a:solidFill>
                  <a:srgbClr val="FF0000"/>
                </a:solidFill>
              </a:rPr>
              <a:t>内模式映象</a:t>
            </a:r>
            <a:endParaRPr lang="zh-CN" altLang="en-US" sz="3600" dirty="0">
              <a:solidFill>
                <a:srgbClr val="FF0000"/>
              </a:solidFill>
            </a:endParaRPr>
          </a:p>
          <a:p>
            <a:pPr algn="just" eaLnBrk="1" hangingPunct="1">
              <a:lnSpc>
                <a:spcPct val="150000"/>
              </a:lnSpc>
            </a:pPr>
            <a:r>
              <a:rPr lang="zh-CN" altLang="en-US" sz="2800" dirty="0">
                <a:solidFill>
                  <a:schemeClr val="tx1"/>
                </a:solidFill>
              </a:rPr>
              <a:t>模式／内模式映象定义了数据全局逻辑结构与存储结构之间的对应关系。例如，说明逻辑记录和字段在内部是如何表示的</a:t>
            </a:r>
            <a:endParaRPr lang="zh-CN" altLang="en-US" sz="2800" dirty="0">
              <a:solidFill>
                <a:schemeClr val="tx1"/>
              </a:solidFill>
            </a:endParaRPr>
          </a:p>
          <a:p>
            <a:pPr algn="just" eaLnBrk="1" hangingPunct="1">
              <a:lnSpc>
                <a:spcPct val="150000"/>
              </a:lnSpc>
            </a:pPr>
            <a:r>
              <a:rPr lang="zh-CN" altLang="en-US" sz="2800" dirty="0">
                <a:solidFill>
                  <a:schemeClr val="tx1"/>
                </a:solidFill>
              </a:rPr>
              <a:t>数据库中模式／内模式映象是唯一的</a:t>
            </a:r>
            <a:endParaRPr lang="zh-CN" altLang="en-US" sz="2800" dirty="0">
              <a:solidFill>
                <a:schemeClr val="tx1"/>
              </a:solidFill>
            </a:endParaRPr>
          </a:p>
          <a:p>
            <a:pPr algn="just" eaLnBrk="1" hangingPunct="1">
              <a:lnSpc>
                <a:spcPct val="150000"/>
              </a:lnSpc>
            </a:pPr>
            <a:r>
              <a:rPr lang="zh-CN" altLang="en-US" sz="2800" dirty="0">
                <a:solidFill>
                  <a:schemeClr val="tx1"/>
                </a:solidFill>
              </a:rPr>
              <a:t>该映象定义通常包含在模式描述中</a:t>
            </a:r>
            <a:endParaRPr lang="zh-CN" altLang="en-US" sz="2800" dirty="0">
              <a:solidFill>
                <a:schemeClr val="tx1"/>
              </a:solidFill>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5827"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205828" name="Rectangle 3"/>
          <p:cNvSpPr>
            <a:spLocks noGrp="1"/>
          </p:cNvSpPr>
          <p:nvPr>
            <p:ph idx="1"/>
          </p:nvPr>
        </p:nvSpPr>
        <p:spPr>
          <a:xfrm>
            <a:off x="304800" y="838200"/>
            <a:ext cx="8305800" cy="4724400"/>
          </a:xfrm>
          <a:ln/>
        </p:spPr>
        <p:txBody>
          <a:bodyPr vert="horz" wrap="square" lIns="91440" tIns="45720" rIns="91440" bIns="45720" anchor="t" anchorCtr="0"/>
          <a:p>
            <a:pPr algn="just" eaLnBrk="1" hangingPunct="1">
              <a:lnSpc>
                <a:spcPct val="130000"/>
              </a:lnSpc>
              <a:buNone/>
            </a:pPr>
            <a:r>
              <a:rPr lang="en-US" altLang="zh-CN" sz="3600" dirty="0">
                <a:solidFill>
                  <a:srgbClr val="FF0000"/>
                </a:solidFill>
              </a:rPr>
              <a:t>2. </a:t>
            </a:r>
            <a:r>
              <a:rPr lang="zh-CN" altLang="en-US" sz="3600" dirty="0">
                <a:solidFill>
                  <a:srgbClr val="FF0000"/>
                </a:solidFill>
              </a:rPr>
              <a:t>模式</a:t>
            </a:r>
            <a:r>
              <a:rPr lang="en-US" altLang="zh-CN" sz="3600" dirty="0">
                <a:solidFill>
                  <a:srgbClr val="FF0000"/>
                </a:solidFill>
              </a:rPr>
              <a:t>/</a:t>
            </a:r>
            <a:r>
              <a:rPr lang="zh-CN" altLang="en-US" sz="3600" dirty="0">
                <a:solidFill>
                  <a:srgbClr val="FF0000"/>
                </a:solidFill>
              </a:rPr>
              <a:t>内模式映象的用途</a:t>
            </a:r>
            <a:endParaRPr lang="zh-CN" altLang="en-US" sz="3600" dirty="0">
              <a:solidFill>
                <a:srgbClr val="FF0000"/>
              </a:solidFill>
            </a:endParaRPr>
          </a:p>
          <a:p>
            <a:pPr algn="just" eaLnBrk="1" hangingPunct="1">
              <a:buNone/>
            </a:pPr>
            <a:r>
              <a:rPr lang="zh-CN" altLang="en-US" dirty="0"/>
              <a:t>    </a:t>
            </a:r>
            <a:r>
              <a:rPr lang="zh-CN" altLang="en-US" dirty="0">
                <a:solidFill>
                  <a:schemeClr val="accent2"/>
                </a:solidFill>
              </a:rPr>
              <a:t>保证数据的物理独立性</a:t>
            </a:r>
            <a:endParaRPr lang="zh-CN" altLang="en-US" dirty="0">
              <a:solidFill>
                <a:schemeClr val="accent2"/>
              </a:solidFill>
            </a:endParaRPr>
          </a:p>
          <a:p>
            <a:pPr lvl="1" algn="just" eaLnBrk="1" hangingPunct="1">
              <a:lnSpc>
                <a:spcPct val="140000"/>
              </a:lnSpc>
            </a:pPr>
            <a:r>
              <a:rPr lang="zh-CN" altLang="en-US" dirty="0"/>
              <a:t>当数据库的存储结构改变了（例如选用了另一种存储结构），数据库管理员修改模式／内模式映象，使模式保持不变</a:t>
            </a:r>
            <a:endParaRPr lang="zh-CN" altLang="en-US" dirty="0"/>
          </a:p>
          <a:p>
            <a:pPr lvl="1" algn="just" eaLnBrk="1" hangingPunct="1">
              <a:lnSpc>
                <a:spcPct val="140000"/>
              </a:lnSpc>
            </a:pPr>
            <a:r>
              <a:rPr lang="zh-CN" altLang="en-US" dirty="0"/>
              <a:t>应用程序不受影响。保证了数据与程序的物理独立性，简称数据的物理独立性</a:t>
            </a:r>
            <a:endParaRPr lang="zh-CN" alt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6851" name="Rectangle 2"/>
          <p:cNvSpPr>
            <a:spLocks noGrp="1"/>
          </p:cNvSpPr>
          <p:nvPr>
            <p:ph type="title"/>
          </p:nvPr>
        </p:nvSpPr>
        <p:spPr>
          <a:xfrm>
            <a:off x="8382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206852" name="Rectangle 3"/>
          <p:cNvSpPr/>
          <p:nvPr/>
        </p:nvSpPr>
        <p:spPr>
          <a:xfrm>
            <a:off x="1562100" y="4737100"/>
            <a:ext cx="1524000" cy="381000"/>
          </a:xfrm>
          <a:prstGeom prst="rect">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6853" name="Oval 4"/>
          <p:cNvSpPr/>
          <p:nvPr/>
        </p:nvSpPr>
        <p:spPr>
          <a:xfrm>
            <a:off x="228600" y="4648200"/>
            <a:ext cx="609600" cy="533400"/>
          </a:xfrm>
          <a:prstGeom prst="ellipse">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grpSp>
        <p:nvGrpSpPr>
          <p:cNvPr id="206854" name="Group 5"/>
          <p:cNvGrpSpPr/>
          <p:nvPr/>
        </p:nvGrpSpPr>
        <p:grpSpPr>
          <a:xfrm>
            <a:off x="177800" y="4724400"/>
            <a:ext cx="3200400" cy="1311275"/>
            <a:chOff x="112" y="2976"/>
            <a:chExt cx="2016" cy="826"/>
          </a:xfrm>
        </p:grpSpPr>
        <p:sp>
          <p:nvSpPr>
            <p:cNvPr id="206877" name="Text Box 6"/>
            <p:cNvSpPr txBox="1"/>
            <p:nvPr/>
          </p:nvSpPr>
          <p:spPr>
            <a:xfrm>
              <a:off x="192" y="2976"/>
              <a:ext cx="1846" cy="82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en-US" altLang="zh-CN" sz="2000" dirty="0">
                  <a:solidFill>
                    <a:schemeClr val="tx1"/>
                  </a:solidFill>
                  <a:cs typeface="Arial" panose="020B0604020202020204" pitchFamily="34" charset="0"/>
                </a:rPr>
                <a:t>NO   XM    XB     CSRQ</a:t>
              </a:r>
              <a:endParaRPr lang="en-US" altLang="zh-CN" sz="2000" dirty="0">
                <a:solidFill>
                  <a:schemeClr val="tx1"/>
                </a:solidFill>
                <a:cs typeface="Arial" panose="020B0604020202020204" pitchFamily="34" charset="0"/>
              </a:endParaRPr>
            </a:p>
            <a:p>
              <a:pPr marL="457200" lvl="0" indent="-457200" eaLnBrk="1" hangingPunct="1">
                <a:spcBef>
                  <a:spcPct val="0"/>
                </a:spcBef>
                <a:buClrTx/>
                <a:buFontTx/>
                <a:buNone/>
              </a:pPr>
              <a:endParaRPr lang="en-US" altLang="zh-CN" sz="2000" dirty="0">
                <a:solidFill>
                  <a:schemeClr val="tx1"/>
                </a:solidFill>
                <a:cs typeface="Arial" panose="020B0604020202020204" pitchFamily="34" charset="0"/>
              </a:endParaRPr>
            </a:p>
            <a:p>
              <a:pPr marL="457200" lvl="0" indent="-457200" eaLnBrk="1" hangingPunct="1">
                <a:spcBef>
                  <a:spcPct val="0"/>
                </a:spcBef>
                <a:buClrTx/>
                <a:buFontTx/>
                <a:buAutoNum type="arabicPlain" startAt="301"/>
              </a:pPr>
              <a:r>
                <a:rPr lang="en-US" altLang="zh-CN" sz="2000" dirty="0">
                  <a:solidFill>
                    <a:schemeClr val="tx1"/>
                  </a:solidFill>
                  <a:cs typeface="Arial" panose="020B0604020202020204" pitchFamily="34" charset="0"/>
                </a:rPr>
                <a:t>   </a:t>
              </a:r>
              <a:r>
                <a:rPr lang="zh-CN" altLang="en-US" sz="2000" dirty="0">
                  <a:solidFill>
                    <a:schemeClr val="tx1"/>
                  </a:solidFill>
                  <a:cs typeface="Arial" panose="020B0604020202020204" pitchFamily="34" charset="0"/>
                </a:rPr>
                <a:t>赵     男      </a:t>
              </a:r>
              <a:r>
                <a:rPr lang="en-US" altLang="zh-CN" sz="2000" dirty="0">
                  <a:solidFill>
                    <a:schemeClr val="tx1"/>
                  </a:solidFill>
                  <a:cs typeface="Arial" panose="020B0604020202020204" pitchFamily="34" charset="0"/>
                </a:rPr>
                <a:t>85.07.01</a:t>
              </a:r>
              <a:endParaRPr lang="en-US" altLang="zh-CN" sz="2000" dirty="0">
                <a:solidFill>
                  <a:schemeClr val="tx1"/>
                </a:solidFill>
                <a:cs typeface="Arial" panose="020B0604020202020204" pitchFamily="34" charset="0"/>
              </a:endParaRPr>
            </a:p>
            <a:p>
              <a:pPr marL="457200" lvl="0" indent="-457200" eaLnBrk="1" hangingPunct="1">
                <a:spcBef>
                  <a:spcPct val="0"/>
                </a:spcBef>
                <a:buClrTx/>
                <a:buFontTx/>
                <a:buAutoNum type="arabicPlain" startAt="301"/>
              </a:pPr>
              <a:r>
                <a:rPr lang="en-US" altLang="zh-CN" sz="2000" dirty="0">
                  <a:solidFill>
                    <a:schemeClr val="tx1"/>
                  </a:solidFill>
                  <a:cs typeface="Arial" panose="020B0604020202020204" pitchFamily="34" charset="0"/>
                </a:rPr>
                <a:t>   </a:t>
              </a:r>
              <a:r>
                <a:rPr lang="zh-CN" altLang="en-US" sz="2000" dirty="0">
                  <a:solidFill>
                    <a:schemeClr val="tx1"/>
                  </a:solidFill>
                  <a:cs typeface="Arial" panose="020B0604020202020204" pitchFamily="34" charset="0"/>
                </a:rPr>
                <a:t>钱     女      </a:t>
              </a:r>
              <a:r>
                <a:rPr lang="en-US" altLang="zh-CN" sz="2000" dirty="0">
                  <a:solidFill>
                    <a:schemeClr val="tx1"/>
                  </a:solidFill>
                  <a:cs typeface="Arial" panose="020B0604020202020204" pitchFamily="34" charset="0"/>
                </a:rPr>
                <a:t>84.03.07</a:t>
              </a:r>
              <a:endParaRPr lang="en-US" altLang="zh-CN" sz="2000" dirty="0">
                <a:solidFill>
                  <a:schemeClr val="tx1"/>
                </a:solidFill>
                <a:ea typeface="Arial" panose="020B0604020202020204" pitchFamily="34" charset="0"/>
              </a:endParaRPr>
            </a:p>
          </p:txBody>
        </p:sp>
        <p:sp>
          <p:nvSpPr>
            <p:cNvPr id="206878" name="Line 7"/>
            <p:cNvSpPr/>
            <p:nvPr/>
          </p:nvSpPr>
          <p:spPr>
            <a:xfrm>
              <a:off x="112" y="3264"/>
              <a:ext cx="2016" cy="0"/>
            </a:xfrm>
            <a:prstGeom prst="line">
              <a:avLst/>
            </a:prstGeom>
            <a:ln w="9525" cap="flat" cmpd="sng">
              <a:solidFill>
                <a:schemeClr val="tx1"/>
              </a:solidFill>
              <a:prstDash val="solid"/>
              <a:headEnd type="none" w="med" len="med"/>
              <a:tailEnd type="none" w="med" len="med"/>
            </a:ln>
          </p:spPr>
        </p:sp>
        <p:sp>
          <p:nvSpPr>
            <p:cNvPr id="206879" name="Line 8"/>
            <p:cNvSpPr/>
            <p:nvPr/>
          </p:nvSpPr>
          <p:spPr>
            <a:xfrm>
              <a:off x="112" y="3296"/>
              <a:ext cx="2016" cy="0"/>
            </a:xfrm>
            <a:prstGeom prst="line">
              <a:avLst/>
            </a:prstGeom>
            <a:ln w="9525" cap="flat" cmpd="sng">
              <a:solidFill>
                <a:schemeClr val="tx1"/>
              </a:solidFill>
              <a:prstDash val="solid"/>
              <a:headEnd type="none" w="med" len="med"/>
              <a:tailEnd type="none" w="med" len="med"/>
            </a:ln>
          </p:spPr>
        </p:sp>
        <p:sp>
          <p:nvSpPr>
            <p:cNvPr id="206880" name="Line 9"/>
            <p:cNvSpPr/>
            <p:nvPr/>
          </p:nvSpPr>
          <p:spPr>
            <a:xfrm>
              <a:off x="528" y="3024"/>
              <a:ext cx="0" cy="768"/>
            </a:xfrm>
            <a:prstGeom prst="line">
              <a:avLst/>
            </a:prstGeom>
            <a:ln w="9525" cap="flat" cmpd="sng">
              <a:solidFill>
                <a:schemeClr val="tx1"/>
              </a:solidFill>
              <a:prstDash val="solid"/>
              <a:headEnd type="none" w="med" len="med"/>
              <a:tailEnd type="none" w="med" len="med"/>
            </a:ln>
          </p:spPr>
        </p:sp>
        <p:sp>
          <p:nvSpPr>
            <p:cNvPr id="206881" name="Line 10"/>
            <p:cNvSpPr/>
            <p:nvPr/>
          </p:nvSpPr>
          <p:spPr>
            <a:xfrm>
              <a:off x="960" y="3024"/>
              <a:ext cx="0" cy="768"/>
            </a:xfrm>
            <a:prstGeom prst="line">
              <a:avLst/>
            </a:prstGeom>
            <a:ln w="9525" cap="flat" cmpd="sng">
              <a:solidFill>
                <a:schemeClr val="tx1"/>
              </a:solidFill>
              <a:prstDash val="solid"/>
              <a:headEnd type="none" w="med" len="med"/>
              <a:tailEnd type="none" w="med" len="med"/>
            </a:ln>
          </p:spPr>
        </p:sp>
        <p:sp>
          <p:nvSpPr>
            <p:cNvPr id="206882" name="Line 11"/>
            <p:cNvSpPr/>
            <p:nvPr/>
          </p:nvSpPr>
          <p:spPr>
            <a:xfrm>
              <a:off x="1336" y="3024"/>
              <a:ext cx="0" cy="720"/>
            </a:xfrm>
            <a:prstGeom prst="line">
              <a:avLst/>
            </a:prstGeom>
            <a:ln w="9525" cap="flat" cmpd="sng">
              <a:solidFill>
                <a:schemeClr val="tx1"/>
              </a:solidFill>
              <a:prstDash val="solid"/>
              <a:headEnd type="none" w="med" len="med"/>
              <a:tailEnd type="none" w="med" len="med"/>
            </a:ln>
          </p:spPr>
        </p:sp>
      </p:grpSp>
      <p:sp>
        <p:nvSpPr>
          <p:cNvPr id="206855" name="AutoShape 12"/>
          <p:cNvSpPr/>
          <p:nvPr/>
        </p:nvSpPr>
        <p:spPr>
          <a:xfrm>
            <a:off x="762000" y="2819400"/>
            <a:ext cx="1524000" cy="1219200"/>
          </a:xfrm>
          <a:prstGeom prst="downArrow">
            <a:avLst>
              <a:gd name="adj1" fmla="val 50000"/>
              <a:gd name="adj2" fmla="val 25000"/>
            </a:avLst>
          </a:prstGeom>
          <a:gradFill rotWithShape="0">
            <a:gsLst>
              <a:gs pos="0">
                <a:srgbClr val="003399"/>
              </a:gs>
              <a:gs pos="100000">
                <a:srgbClr val="6699FF"/>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6856" name="Text Box 13"/>
          <p:cNvSpPr txBox="1"/>
          <p:nvPr/>
        </p:nvSpPr>
        <p:spPr>
          <a:xfrm>
            <a:off x="4127500" y="977900"/>
            <a:ext cx="4254500" cy="13239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600" dirty="0">
                <a:solidFill>
                  <a:schemeClr val="tx1"/>
                </a:solidFill>
                <a:cs typeface="Arial" panose="020B0604020202020204" pitchFamily="34" charset="0"/>
              </a:rPr>
              <a:t>Select xh as </a:t>
            </a:r>
            <a:r>
              <a:rPr lang="zh-CN" altLang="en-US" sz="1600" dirty="0">
                <a:solidFill>
                  <a:schemeClr val="tx1"/>
                </a:solidFill>
                <a:cs typeface="Arial" panose="020B0604020202020204" pitchFamily="34" charset="0"/>
              </a:rPr>
              <a:t>学号</a:t>
            </a:r>
            <a:r>
              <a:rPr lang="en-US" altLang="zh-CN" sz="1600" dirty="0">
                <a:solidFill>
                  <a:schemeClr val="tx1"/>
                </a:solidFill>
                <a:cs typeface="Arial" panose="020B0604020202020204" pitchFamily="34" charset="0"/>
              </a:rPr>
              <a:t>,</a:t>
            </a:r>
            <a:endParaRPr lang="en-US" altLang="zh-CN"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          xm as </a:t>
            </a:r>
            <a:r>
              <a:rPr lang="zh-CN" altLang="en-US" sz="1600" dirty="0">
                <a:solidFill>
                  <a:schemeClr val="tx1"/>
                </a:solidFill>
                <a:cs typeface="Arial" panose="020B0604020202020204" pitchFamily="34" charset="0"/>
              </a:rPr>
              <a:t>姓名</a:t>
            </a:r>
            <a:r>
              <a:rPr lang="en-US" altLang="zh-CN" sz="1600" dirty="0">
                <a:solidFill>
                  <a:schemeClr val="tx1"/>
                </a:solidFill>
                <a:cs typeface="Arial" panose="020B0604020202020204" pitchFamily="34" charset="0"/>
              </a:rPr>
              <a:t>, </a:t>
            </a:r>
            <a:endParaRPr lang="en-US" altLang="zh-CN"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           xb as </a:t>
            </a:r>
            <a:r>
              <a:rPr lang="zh-CN" altLang="en-US" sz="1600" dirty="0">
                <a:solidFill>
                  <a:schemeClr val="tx1"/>
                </a:solidFill>
                <a:cs typeface="Arial" panose="020B0604020202020204" pitchFamily="34" charset="0"/>
              </a:rPr>
              <a:t>性别</a:t>
            </a:r>
            <a:r>
              <a:rPr lang="en-US" altLang="zh-CN" sz="1600" dirty="0">
                <a:solidFill>
                  <a:schemeClr val="tx1"/>
                </a:solidFill>
                <a:cs typeface="Arial" panose="020B0604020202020204" pitchFamily="34" charset="0"/>
              </a:rPr>
              <a:t>,</a:t>
            </a:r>
            <a:endParaRPr lang="en-US" altLang="zh-CN"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          datediff(year,csrq,getdate()) as </a:t>
            </a:r>
            <a:r>
              <a:rPr lang="zh-CN" altLang="en-US" sz="1600" dirty="0">
                <a:solidFill>
                  <a:schemeClr val="tx1"/>
                </a:solidFill>
                <a:cs typeface="Arial" panose="020B0604020202020204" pitchFamily="34" charset="0"/>
              </a:rPr>
              <a:t>年龄</a:t>
            </a:r>
            <a:endParaRPr lang="zh-CN" altLang="en-US"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From student</a:t>
            </a:r>
            <a:endParaRPr lang="en-US" altLang="zh-CN" sz="1600" dirty="0">
              <a:solidFill>
                <a:schemeClr val="tx1"/>
              </a:solidFill>
              <a:ea typeface="Arial" panose="020B0604020202020204" pitchFamily="34" charset="0"/>
            </a:endParaRPr>
          </a:p>
        </p:txBody>
      </p:sp>
      <p:sp>
        <p:nvSpPr>
          <p:cNvPr id="206857" name="Text Box 14"/>
          <p:cNvSpPr txBox="1"/>
          <p:nvPr/>
        </p:nvSpPr>
        <p:spPr>
          <a:xfrm>
            <a:off x="4229100" y="4762500"/>
            <a:ext cx="4076700" cy="13239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eaLnBrk="1" hangingPunct="1">
              <a:spcBef>
                <a:spcPct val="0"/>
              </a:spcBef>
              <a:buClrTx/>
              <a:buFontTx/>
              <a:buNone/>
            </a:pPr>
            <a:r>
              <a:rPr lang="en-US" altLang="zh-CN" sz="1600" dirty="0">
                <a:solidFill>
                  <a:schemeClr val="tx1"/>
                </a:solidFill>
                <a:cs typeface="Arial" panose="020B0604020202020204" pitchFamily="34" charset="0"/>
              </a:rPr>
              <a:t>Select No as </a:t>
            </a:r>
            <a:r>
              <a:rPr lang="zh-CN" altLang="en-US" sz="1600" dirty="0">
                <a:solidFill>
                  <a:schemeClr val="tx1"/>
                </a:solidFill>
                <a:cs typeface="Arial" panose="020B0604020202020204" pitchFamily="34" charset="0"/>
              </a:rPr>
              <a:t>学号</a:t>
            </a:r>
            <a:r>
              <a:rPr lang="en-US" altLang="zh-CN" sz="1600" dirty="0">
                <a:solidFill>
                  <a:schemeClr val="tx1"/>
                </a:solidFill>
                <a:cs typeface="Arial" panose="020B0604020202020204" pitchFamily="34" charset="0"/>
              </a:rPr>
              <a:t>,</a:t>
            </a:r>
            <a:endParaRPr lang="en-US" altLang="zh-CN"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          xm as </a:t>
            </a:r>
            <a:r>
              <a:rPr lang="zh-CN" altLang="en-US" sz="1600" dirty="0">
                <a:solidFill>
                  <a:schemeClr val="tx1"/>
                </a:solidFill>
                <a:cs typeface="Arial" panose="020B0604020202020204" pitchFamily="34" charset="0"/>
              </a:rPr>
              <a:t>姓名</a:t>
            </a:r>
            <a:r>
              <a:rPr lang="en-US" altLang="zh-CN" sz="1600" dirty="0">
                <a:solidFill>
                  <a:schemeClr val="tx1"/>
                </a:solidFill>
                <a:cs typeface="Arial" panose="020B0604020202020204" pitchFamily="34" charset="0"/>
              </a:rPr>
              <a:t>, </a:t>
            </a:r>
            <a:endParaRPr lang="en-US" altLang="zh-CN"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           xb as </a:t>
            </a:r>
            <a:r>
              <a:rPr lang="zh-CN" altLang="en-US" sz="1600" dirty="0">
                <a:solidFill>
                  <a:schemeClr val="tx1"/>
                </a:solidFill>
                <a:cs typeface="Arial" panose="020B0604020202020204" pitchFamily="34" charset="0"/>
              </a:rPr>
              <a:t>性别</a:t>
            </a:r>
            <a:r>
              <a:rPr lang="en-US" altLang="zh-CN" sz="1600" dirty="0">
                <a:solidFill>
                  <a:schemeClr val="tx1"/>
                </a:solidFill>
                <a:cs typeface="Arial" panose="020B0604020202020204" pitchFamily="34" charset="0"/>
              </a:rPr>
              <a:t>,</a:t>
            </a:r>
            <a:endParaRPr lang="en-US" altLang="zh-CN"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          datediff(year,csrq,getdate()) as </a:t>
            </a:r>
            <a:r>
              <a:rPr lang="zh-CN" altLang="en-US" sz="1600" dirty="0">
                <a:solidFill>
                  <a:schemeClr val="tx1"/>
                </a:solidFill>
                <a:cs typeface="Arial" panose="020B0604020202020204" pitchFamily="34" charset="0"/>
              </a:rPr>
              <a:t>年龄</a:t>
            </a:r>
            <a:endParaRPr lang="zh-CN" altLang="en-US" sz="1600" dirty="0">
              <a:solidFill>
                <a:schemeClr val="tx1"/>
              </a:solidFill>
              <a:cs typeface="Arial" panose="020B0604020202020204" pitchFamily="34" charset="0"/>
            </a:endParaRPr>
          </a:p>
          <a:p>
            <a:pPr marL="0" lvl="0" indent="0" eaLnBrk="1" hangingPunct="1">
              <a:spcBef>
                <a:spcPct val="0"/>
              </a:spcBef>
              <a:buClrTx/>
              <a:buFontTx/>
              <a:buNone/>
            </a:pPr>
            <a:r>
              <a:rPr lang="en-US" altLang="zh-CN" sz="1600" dirty="0">
                <a:solidFill>
                  <a:schemeClr val="tx1"/>
                </a:solidFill>
                <a:cs typeface="Arial" panose="020B0604020202020204" pitchFamily="34" charset="0"/>
              </a:rPr>
              <a:t>From student</a:t>
            </a:r>
            <a:endParaRPr lang="en-US" altLang="zh-CN" sz="1600" dirty="0">
              <a:solidFill>
                <a:schemeClr val="tx1"/>
              </a:solidFill>
              <a:ea typeface="Arial" panose="020B0604020202020204" pitchFamily="34" charset="0"/>
            </a:endParaRPr>
          </a:p>
        </p:txBody>
      </p:sp>
      <p:grpSp>
        <p:nvGrpSpPr>
          <p:cNvPr id="206858" name="Group 15"/>
          <p:cNvGrpSpPr/>
          <p:nvPr/>
        </p:nvGrpSpPr>
        <p:grpSpPr>
          <a:xfrm>
            <a:off x="4724400" y="2844800"/>
            <a:ext cx="3200400" cy="1311275"/>
            <a:chOff x="2744" y="1832"/>
            <a:chExt cx="2016" cy="826"/>
          </a:xfrm>
        </p:grpSpPr>
        <p:sp>
          <p:nvSpPr>
            <p:cNvPr id="206871" name="Text Box 16"/>
            <p:cNvSpPr txBox="1"/>
            <p:nvPr/>
          </p:nvSpPr>
          <p:spPr>
            <a:xfrm>
              <a:off x="2760" y="1832"/>
              <a:ext cx="1844" cy="82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zh-CN" altLang="en-US" sz="2000" dirty="0">
                  <a:solidFill>
                    <a:schemeClr val="tx1"/>
                  </a:solidFill>
                  <a:cs typeface="Arial" panose="020B0604020202020204" pitchFamily="34" charset="0"/>
                </a:rPr>
                <a:t>学号   姓名   性别     年龄</a:t>
              </a:r>
              <a:endParaRPr lang="zh-CN" altLang="en-US" sz="2000" dirty="0">
                <a:solidFill>
                  <a:schemeClr val="tx1"/>
                </a:solidFill>
                <a:cs typeface="Arial" panose="020B0604020202020204" pitchFamily="34" charset="0"/>
              </a:endParaRPr>
            </a:p>
            <a:p>
              <a:pPr marL="457200" lvl="0" indent="-457200" eaLnBrk="1" hangingPunct="1">
                <a:spcBef>
                  <a:spcPct val="0"/>
                </a:spcBef>
                <a:buClrTx/>
                <a:buFontTx/>
                <a:buNone/>
              </a:pPr>
              <a:endParaRPr lang="zh-CN" altLang="en-US" sz="2000" dirty="0">
                <a:solidFill>
                  <a:schemeClr val="tx1"/>
                </a:solidFill>
                <a:cs typeface="Arial" panose="020B0604020202020204" pitchFamily="34" charset="0"/>
              </a:endParaRPr>
            </a:p>
            <a:p>
              <a:pPr marL="457200" lvl="0" indent="-457200" eaLnBrk="1" hangingPunct="1">
                <a:spcBef>
                  <a:spcPct val="0"/>
                </a:spcBef>
                <a:buClrTx/>
                <a:buFontTx/>
                <a:buAutoNum type="arabicPlain" startAt="301"/>
              </a:pPr>
              <a:r>
                <a:rPr lang="zh-CN" altLang="en-US" sz="2000" dirty="0">
                  <a:solidFill>
                    <a:schemeClr val="tx1"/>
                  </a:solidFill>
                  <a:cs typeface="Arial" panose="020B0604020202020204" pitchFamily="34" charset="0"/>
                </a:rPr>
                <a:t>    赵       男          </a:t>
              </a:r>
              <a:r>
                <a:rPr lang="en-US" altLang="zh-CN" sz="2000" dirty="0">
                  <a:solidFill>
                    <a:schemeClr val="tx1"/>
                  </a:solidFill>
                  <a:cs typeface="Arial" panose="020B0604020202020204" pitchFamily="34" charset="0"/>
                </a:rPr>
                <a:t>20</a:t>
              </a:r>
              <a:endParaRPr lang="en-US" altLang="zh-CN" sz="2000" dirty="0">
                <a:solidFill>
                  <a:schemeClr val="tx1"/>
                </a:solidFill>
                <a:cs typeface="Arial" panose="020B0604020202020204" pitchFamily="34" charset="0"/>
              </a:endParaRPr>
            </a:p>
            <a:p>
              <a:pPr marL="457200" lvl="0" indent="-457200" eaLnBrk="1" hangingPunct="1">
                <a:spcBef>
                  <a:spcPct val="0"/>
                </a:spcBef>
                <a:buClrTx/>
                <a:buFontTx/>
                <a:buAutoNum type="arabicPlain" startAt="301"/>
              </a:pPr>
              <a:r>
                <a:rPr lang="en-US" altLang="zh-CN" sz="2000" dirty="0">
                  <a:solidFill>
                    <a:schemeClr val="tx1"/>
                  </a:solidFill>
                  <a:cs typeface="Arial" panose="020B0604020202020204" pitchFamily="34" charset="0"/>
                </a:rPr>
                <a:t>    </a:t>
              </a:r>
              <a:r>
                <a:rPr lang="zh-CN" altLang="en-US" sz="2000" dirty="0">
                  <a:solidFill>
                    <a:schemeClr val="tx1"/>
                  </a:solidFill>
                  <a:cs typeface="Arial" panose="020B0604020202020204" pitchFamily="34" charset="0"/>
                </a:rPr>
                <a:t>钱       女          </a:t>
              </a:r>
              <a:r>
                <a:rPr lang="en-US" altLang="zh-CN" sz="2000" dirty="0">
                  <a:solidFill>
                    <a:schemeClr val="tx1"/>
                  </a:solidFill>
                  <a:cs typeface="Arial" panose="020B0604020202020204" pitchFamily="34" charset="0"/>
                </a:rPr>
                <a:t>21</a:t>
              </a:r>
              <a:endParaRPr lang="en-US" altLang="zh-CN" sz="2000" dirty="0">
                <a:solidFill>
                  <a:schemeClr val="tx1"/>
                </a:solidFill>
                <a:ea typeface="Arial" panose="020B0604020202020204" pitchFamily="34" charset="0"/>
              </a:endParaRPr>
            </a:p>
          </p:txBody>
        </p:sp>
        <p:sp>
          <p:nvSpPr>
            <p:cNvPr id="206872" name="Line 17"/>
            <p:cNvSpPr/>
            <p:nvPr/>
          </p:nvSpPr>
          <p:spPr>
            <a:xfrm>
              <a:off x="2744" y="2112"/>
              <a:ext cx="2016" cy="0"/>
            </a:xfrm>
            <a:prstGeom prst="line">
              <a:avLst/>
            </a:prstGeom>
            <a:ln w="9525" cap="flat" cmpd="sng">
              <a:solidFill>
                <a:schemeClr val="tx1"/>
              </a:solidFill>
              <a:prstDash val="solid"/>
              <a:headEnd type="none" w="med" len="med"/>
              <a:tailEnd type="none" w="med" len="med"/>
            </a:ln>
          </p:spPr>
        </p:sp>
        <p:sp>
          <p:nvSpPr>
            <p:cNvPr id="206873" name="Line 18"/>
            <p:cNvSpPr/>
            <p:nvPr/>
          </p:nvSpPr>
          <p:spPr>
            <a:xfrm>
              <a:off x="2744" y="2144"/>
              <a:ext cx="2016" cy="0"/>
            </a:xfrm>
            <a:prstGeom prst="line">
              <a:avLst/>
            </a:prstGeom>
            <a:ln w="9525" cap="flat" cmpd="sng">
              <a:solidFill>
                <a:schemeClr val="tx1"/>
              </a:solidFill>
              <a:prstDash val="solid"/>
              <a:headEnd type="none" w="med" len="med"/>
              <a:tailEnd type="none" w="med" len="med"/>
            </a:ln>
          </p:spPr>
        </p:sp>
        <p:sp>
          <p:nvSpPr>
            <p:cNvPr id="206874" name="Line 19"/>
            <p:cNvSpPr/>
            <p:nvPr/>
          </p:nvSpPr>
          <p:spPr>
            <a:xfrm>
              <a:off x="3184" y="1872"/>
              <a:ext cx="0" cy="768"/>
            </a:xfrm>
            <a:prstGeom prst="line">
              <a:avLst/>
            </a:prstGeom>
            <a:ln w="9525" cap="flat" cmpd="sng">
              <a:solidFill>
                <a:schemeClr val="tx1"/>
              </a:solidFill>
              <a:prstDash val="solid"/>
              <a:headEnd type="none" w="med" len="med"/>
              <a:tailEnd type="none" w="med" len="med"/>
            </a:ln>
          </p:spPr>
        </p:sp>
        <p:sp>
          <p:nvSpPr>
            <p:cNvPr id="206875" name="Line 20"/>
            <p:cNvSpPr/>
            <p:nvPr/>
          </p:nvSpPr>
          <p:spPr>
            <a:xfrm>
              <a:off x="3640" y="1872"/>
              <a:ext cx="0" cy="768"/>
            </a:xfrm>
            <a:prstGeom prst="line">
              <a:avLst/>
            </a:prstGeom>
            <a:ln w="9525" cap="flat" cmpd="sng">
              <a:solidFill>
                <a:schemeClr val="tx1"/>
              </a:solidFill>
              <a:prstDash val="solid"/>
              <a:headEnd type="none" w="med" len="med"/>
              <a:tailEnd type="none" w="med" len="med"/>
            </a:ln>
          </p:spPr>
        </p:sp>
        <p:sp>
          <p:nvSpPr>
            <p:cNvPr id="206876" name="Line 21"/>
            <p:cNvSpPr/>
            <p:nvPr/>
          </p:nvSpPr>
          <p:spPr>
            <a:xfrm>
              <a:off x="4136" y="1872"/>
              <a:ext cx="0" cy="720"/>
            </a:xfrm>
            <a:prstGeom prst="line">
              <a:avLst/>
            </a:prstGeom>
            <a:ln w="9525" cap="flat" cmpd="sng">
              <a:solidFill>
                <a:schemeClr val="tx1"/>
              </a:solidFill>
              <a:prstDash val="solid"/>
              <a:headEnd type="none" w="med" len="med"/>
              <a:tailEnd type="none" w="med" len="med"/>
            </a:ln>
          </p:spPr>
        </p:sp>
      </p:grpSp>
      <p:sp>
        <p:nvSpPr>
          <p:cNvPr id="206859" name="AutoShape 22"/>
          <p:cNvSpPr/>
          <p:nvPr/>
        </p:nvSpPr>
        <p:spPr>
          <a:xfrm>
            <a:off x="3429000" y="1447800"/>
            <a:ext cx="609600" cy="304800"/>
          </a:xfrm>
          <a:prstGeom prst="rightArrow">
            <a:avLst>
              <a:gd name="adj1" fmla="val 50000"/>
              <a:gd name="adj2" fmla="val 50000"/>
            </a:avLst>
          </a:prstGeom>
          <a:gradFill rotWithShape="0">
            <a:gsLst>
              <a:gs pos="0">
                <a:srgbClr val="3366CC"/>
              </a:gs>
              <a:gs pos="100000">
                <a:srgbClr val="99CCFF"/>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6860" name="AutoShape 23"/>
          <p:cNvSpPr/>
          <p:nvPr/>
        </p:nvSpPr>
        <p:spPr>
          <a:xfrm>
            <a:off x="3505200" y="5257800"/>
            <a:ext cx="609600" cy="304800"/>
          </a:xfrm>
          <a:prstGeom prst="rightArrow">
            <a:avLst>
              <a:gd name="adj1" fmla="val 50000"/>
              <a:gd name="adj2" fmla="val 50000"/>
            </a:avLst>
          </a:prstGeom>
          <a:gradFill rotWithShape="0">
            <a:gsLst>
              <a:gs pos="0">
                <a:srgbClr val="3366CC"/>
              </a:gs>
              <a:gs pos="100000">
                <a:srgbClr val="99CCFF"/>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6861" name="AutoShape 24"/>
          <p:cNvSpPr/>
          <p:nvPr/>
        </p:nvSpPr>
        <p:spPr>
          <a:xfrm>
            <a:off x="5689600" y="2362200"/>
            <a:ext cx="914400" cy="457200"/>
          </a:xfrm>
          <a:prstGeom prst="downArrow">
            <a:avLst>
              <a:gd name="adj1" fmla="val 50000"/>
              <a:gd name="adj2" fmla="val 52777"/>
            </a:avLst>
          </a:prstGeom>
          <a:gradFill rotWithShape="0">
            <a:gsLst>
              <a:gs pos="0">
                <a:srgbClr val="3366CC"/>
              </a:gs>
              <a:gs pos="100000">
                <a:srgbClr val="3399FF"/>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06862" name="AutoShape 25"/>
          <p:cNvSpPr/>
          <p:nvPr/>
        </p:nvSpPr>
        <p:spPr>
          <a:xfrm>
            <a:off x="5727700" y="4191000"/>
            <a:ext cx="838200" cy="533400"/>
          </a:xfrm>
          <a:prstGeom prst="upArrow">
            <a:avLst>
              <a:gd name="adj1" fmla="val 56064"/>
              <a:gd name="adj2" fmla="val 58333"/>
            </a:avLst>
          </a:prstGeom>
          <a:gradFill rotWithShape="0">
            <a:gsLst>
              <a:gs pos="0">
                <a:srgbClr val="3366CC"/>
              </a:gs>
              <a:gs pos="100000">
                <a:srgbClr val="3399FF"/>
              </a:gs>
            </a:gsLst>
            <a:lin ang="540000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pic>
        <p:nvPicPr>
          <p:cNvPr id="206863" name="Picture 26" descr="陈紫函的左眼"/>
          <p:cNvPicPr>
            <a:picLocks noChangeAspect="1"/>
          </p:cNvPicPr>
          <p:nvPr/>
        </p:nvPicPr>
        <p:blipFill>
          <a:blip r:embed="rId1"/>
          <a:stretch>
            <a:fillRect/>
          </a:stretch>
        </p:blipFill>
        <p:spPr>
          <a:xfrm>
            <a:off x="7696200" y="3429000"/>
            <a:ext cx="762000" cy="473075"/>
          </a:xfrm>
          <a:prstGeom prst="rect">
            <a:avLst/>
          </a:prstGeom>
          <a:noFill/>
          <a:ln w="9525">
            <a:noFill/>
          </a:ln>
        </p:spPr>
      </p:pic>
      <p:grpSp>
        <p:nvGrpSpPr>
          <p:cNvPr id="206864" name="Group 27"/>
          <p:cNvGrpSpPr/>
          <p:nvPr/>
        </p:nvGrpSpPr>
        <p:grpSpPr>
          <a:xfrm>
            <a:off x="101600" y="974725"/>
            <a:ext cx="3349625" cy="1311275"/>
            <a:chOff x="64" y="928"/>
            <a:chExt cx="2110" cy="826"/>
          </a:xfrm>
        </p:grpSpPr>
        <p:sp>
          <p:nvSpPr>
            <p:cNvPr id="206865" name="Text Box 28"/>
            <p:cNvSpPr txBox="1"/>
            <p:nvPr/>
          </p:nvSpPr>
          <p:spPr>
            <a:xfrm>
              <a:off x="128" y="928"/>
              <a:ext cx="2046" cy="82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457200" lvl="0" indent="-457200" eaLnBrk="1" hangingPunct="1">
                <a:spcBef>
                  <a:spcPct val="0"/>
                </a:spcBef>
                <a:buClrTx/>
                <a:buFontTx/>
                <a:buNone/>
              </a:pPr>
              <a:r>
                <a:rPr lang="en-US" altLang="zh-CN" sz="2000" dirty="0">
                  <a:solidFill>
                    <a:schemeClr val="tx1"/>
                  </a:solidFill>
                  <a:cs typeface="Arial" panose="020B0604020202020204" pitchFamily="34" charset="0"/>
                </a:rPr>
                <a:t>XH   XM     CSRQ      XB</a:t>
              </a:r>
              <a:endParaRPr lang="en-US" altLang="zh-CN" sz="2000" dirty="0">
                <a:solidFill>
                  <a:schemeClr val="tx1"/>
                </a:solidFill>
                <a:cs typeface="Arial" panose="020B0604020202020204" pitchFamily="34" charset="0"/>
              </a:endParaRPr>
            </a:p>
            <a:p>
              <a:pPr marL="457200" lvl="0" indent="-457200" eaLnBrk="1" hangingPunct="1">
                <a:spcBef>
                  <a:spcPct val="0"/>
                </a:spcBef>
                <a:buClrTx/>
                <a:buFontTx/>
                <a:buNone/>
              </a:pPr>
              <a:endParaRPr lang="en-US" altLang="zh-CN" sz="2000" dirty="0">
                <a:solidFill>
                  <a:schemeClr val="tx1"/>
                </a:solidFill>
                <a:cs typeface="Arial" panose="020B0604020202020204" pitchFamily="34" charset="0"/>
              </a:endParaRPr>
            </a:p>
            <a:p>
              <a:pPr marL="457200" lvl="0" indent="-457200" eaLnBrk="1" hangingPunct="1">
                <a:spcBef>
                  <a:spcPct val="0"/>
                </a:spcBef>
                <a:buClrTx/>
                <a:buFontTx/>
                <a:buAutoNum type="arabicPlain" startAt="301"/>
              </a:pPr>
              <a:r>
                <a:rPr lang="en-US" altLang="zh-CN" sz="2000" dirty="0">
                  <a:solidFill>
                    <a:schemeClr val="tx1"/>
                  </a:solidFill>
                  <a:cs typeface="Arial" panose="020B0604020202020204" pitchFamily="34" charset="0"/>
                </a:rPr>
                <a:t>   </a:t>
              </a:r>
              <a:r>
                <a:rPr lang="zh-CN" altLang="en-US" sz="2000" dirty="0">
                  <a:solidFill>
                    <a:schemeClr val="tx1"/>
                  </a:solidFill>
                  <a:cs typeface="Arial" panose="020B0604020202020204" pitchFamily="34" charset="0"/>
                </a:rPr>
                <a:t>赵      </a:t>
              </a:r>
              <a:r>
                <a:rPr lang="en-US" altLang="zh-CN" sz="2000" dirty="0">
                  <a:solidFill>
                    <a:schemeClr val="tx1"/>
                  </a:solidFill>
                  <a:cs typeface="Arial" panose="020B0604020202020204" pitchFamily="34" charset="0"/>
                </a:rPr>
                <a:t>85.07.01   </a:t>
              </a:r>
              <a:r>
                <a:rPr lang="zh-CN" altLang="en-US" sz="2000" dirty="0">
                  <a:solidFill>
                    <a:schemeClr val="tx1"/>
                  </a:solidFill>
                  <a:cs typeface="Arial" panose="020B0604020202020204" pitchFamily="34" charset="0"/>
                </a:rPr>
                <a:t>男</a:t>
              </a:r>
              <a:endParaRPr lang="zh-CN" altLang="en-US" sz="2000" dirty="0">
                <a:solidFill>
                  <a:schemeClr val="tx1"/>
                </a:solidFill>
                <a:cs typeface="Arial" panose="020B0604020202020204" pitchFamily="34" charset="0"/>
              </a:endParaRPr>
            </a:p>
            <a:p>
              <a:pPr marL="457200" lvl="0" indent="-457200" eaLnBrk="1" hangingPunct="1">
                <a:spcBef>
                  <a:spcPct val="0"/>
                </a:spcBef>
                <a:buClrTx/>
                <a:buFontTx/>
                <a:buAutoNum type="arabicPlain" startAt="301"/>
              </a:pPr>
              <a:r>
                <a:rPr lang="zh-CN" altLang="en-US" sz="2000" dirty="0">
                  <a:solidFill>
                    <a:schemeClr val="tx1"/>
                  </a:solidFill>
                  <a:cs typeface="Arial" panose="020B0604020202020204" pitchFamily="34" charset="0"/>
                </a:rPr>
                <a:t>   钱      </a:t>
              </a:r>
              <a:r>
                <a:rPr lang="en-US" altLang="zh-CN" sz="2000" dirty="0">
                  <a:solidFill>
                    <a:schemeClr val="tx1"/>
                  </a:solidFill>
                  <a:cs typeface="Arial" panose="020B0604020202020204" pitchFamily="34" charset="0"/>
                </a:rPr>
                <a:t>84.03.07   </a:t>
              </a:r>
              <a:r>
                <a:rPr lang="zh-CN" altLang="en-US" sz="2000" dirty="0">
                  <a:solidFill>
                    <a:schemeClr val="tx1"/>
                  </a:solidFill>
                  <a:cs typeface="Arial" panose="020B0604020202020204" pitchFamily="34" charset="0"/>
                </a:rPr>
                <a:t>女       </a:t>
              </a:r>
              <a:endParaRPr lang="zh-CN" altLang="en-US" sz="2000" dirty="0">
                <a:solidFill>
                  <a:schemeClr val="tx1"/>
                </a:solidFill>
                <a:ea typeface="Arial" panose="020B0604020202020204" pitchFamily="34" charset="0"/>
              </a:endParaRPr>
            </a:p>
          </p:txBody>
        </p:sp>
        <p:sp>
          <p:nvSpPr>
            <p:cNvPr id="206866" name="Line 29"/>
            <p:cNvSpPr/>
            <p:nvPr/>
          </p:nvSpPr>
          <p:spPr>
            <a:xfrm>
              <a:off x="64" y="1200"/>
              <a:ext cx="2016" cy="0"/>
            </a:xfrm>
            <a:prstGeom prst="line">
              <a:avLst/>
            </a:prstGeom>
            <a:ln w="9525" cap="flat" cmpd="sng">
              <a:solidFill>
                <a:schemeClr val="tx1"/>
              </a:solidFill>
              <a:prstDash val="solid"/>
              <a:headEnd type="none" w="med" len="med"/>
              <a:tailEnd type="none" w="med" len="med"/>
            </a:ln>
          </p:spPr>
        </p:sp>
        <p:sp>
          <p:nvSpPr>
            <p:cNvPr id="206867" name="Line 30"/>
            <p:cNvSpPr/>
            <p:nvPr/>
          </p:nvSpPr>
          <p:spPr>
            <a:xfrm>
              <a:off x="64" y="1232"/>
              <a:ext cx="2016" cy="0"/>
            </a:xfrm>
            <a:prstGeom prst="line">
              <a:avLst/>
            </a:prstGeom>
            <a:ln w="9525" cap="flat" cmpd="sng">
              <a:solidFill>
                <a:schemeClr val="tx1"/>
              </a:solidFill>
              <a:prstDash val="solid"/>
              <a:headEnd type="none" w="med" len="med"/>
              <a:tailEnd type="none" w="med" len="med"/>
            </a:ln>
          </p:spPr>
        </p:sp>
        <p:sp>
          <p:nvSpPr>
            <p:cNvPr id="206868" name="Line 31"/>
            <p:cNvSpPr/>
            <p:nvPr/>
          </p:nvSpPr>
          <p:spPr>
            <a:xfrm>
              <a:off x="480" y="960"/>
              <a:ext cx="0" cy="768"/>
            </a:xfrm>
            <a:prstGeom prst="line">
              <a:avLst/>
            </a:prstGeom>
            <a:ln w="9525" cap="flat" cmpd="sng">
              <a:solidFill>
                <a:schemeClr val="tx1"/>
              </a:solidFill>
              <a:prstDash val="solid"/>
              <a:headEnd type="none" w="med" len="med"/>
              <a:tailEnd type="none" w="med" len="med"/>
            </a:ln>
          </p:spPr>
        </p:sp>
        <p:sp>
          <p:nvSpPr>
            <p:cNvPr id="206869" name="Line 32"/>
            <p:cNvSpPr/>
            <p:nvPr/>
          </p:nvSpPr>
          <p:spPr>
            <a:xfrm>
              <a:off x="912" y="960"/>
              <a:ext cx="0" cy="768"/>
            </a:xfrm>
            <a:prstGeom prst="line">
              <a:avLst/>
            </a:prstGeom>
            <a:ln w="9525" cap="flat" cmpd="sng">
              <a:solidFill>
                <a:schemeClr val="tx1"/>
              </a:solidFill>
              <a:prstDash val="solid"/>
              <a:headEnd type="none" w="med" len="med"/>
              <a:tailEnd type="none" w="med" len="med"/>
            </a:ln>
          </p:spPr>
        </p:sp>
        <p:sp>
          <p:nvSpPr>
            <p:cNvPr id="206870" name="Line 33"/>
            <p:cNvSpPr/>
            <p:nvPr/>
          </p:nvSpPr>
          <p:spPr>
            <a:xfrm>
              <a:off x="1616" y="960"/>
              <a:ext cx="0" cy="720"/>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7875" name="Rectangle 2"/>
          <p:cNvSpPr>
            <a:spLocks noGrp="1"/>
          </p:cNvSpPr>
          <p:nvPr>
            <p:ph type="title"/>
          </p:nvPr>
        </p:nvSpPr>
        <p:spPr>
          <a:ln/>
        </p:spPr>
        <p:txBody>
          <a:bodyPr vert="horz" wrap="square" lIns="91440" tIns="45720" rIns="91440" bIns="45720" anchor="ctr" anchorCtr="0"/>
          <a:p>
            <a:pPr eaLnBrk="1" hangingPunct="1"/>
            <a:r>
              <a:rPr lang="en-US" altLang="zh-CN" dirty="0"/>
              <a:t>1.3.1  </a:t>
            </a:r>
            <a:r>
              <a:rPr lang="zh-CN" altLang="en-US" dirty="0"/>
              <a:t>数据库系统的模式结构</a:t>
            </a:r>
            <a:endParaRPr lang="zh-CN" altLang="en-US" dirty="0"/>
          </a:p>
        </p:txBody>
      </p:sp>
      <p:sp>
        <p:nvSpPr>
          <p:cNvPr id="207876" name="Rectangle 3"/>
          <p:cNvSpPr>
            <a:spLocks noGrp="1"/>
          </p:cNvSpPr>
          <p:nvPr>
            <p:ph idx="1"/>
          </p:nvPr>
        </p:nvSpPr>
        <p:spPr>
          <a:xfrm>
            <a:off x="1066800" y="1600200"/>
            <a:ext cx="6477000" cy="2895600"/>
          </a:xfrm>
          <a:ln/>
        </p:spPr>
        <p:txBody>
          <a:bodyPr vert="horz" wrap="square" lIns="91440" tIns="45720" rIns="91440" bIns="45720" anchor="t" anchorCtr="0"/>
          <a:p>
            <a:pPr algn="just" eaLnBrk="1" hangingPunct="1">
              <a:lnSpc>
                <a:spcPct val="130000"/>
              </a:lnSpc>
            </a:pPr>
            <a:r>
              <a:rPr lang="zh-CN" altLang="en-US" sz="2800" dirty="0">
                <a:solidFill>
                  <a:schemeClr val="tx1"/>
                </a:solidFill>
              </a:rPr>
              <a:t>数据库系统模式的概念</a:t>
            </a:r>
            <a:endParaRPr lang="zh-CN" altLang="en-US" sz="2800" dirty="0">
              <a:solidFill>
                <a:schemeClr val="tx1"/>
              </a:solidFill>
            </a:endParaRPr>
          </a:p>
          <a:p>
            <a:pPr algn="just" eaLnBrk="1" hangingPunct="1">
              <a:lnSpc>
                <a:spcPct val="130000"/>
              </a:lnSpc>
            </a:pPr>
            <a:r>
              <a:rPr lang="zh-CN" altLang="en-US" sz="2800" dirty="0">
                <a:solidFill>
                  <a:schemeClr val="tx1"/>
                </a:solidFill>
              </a:rPr>
              <a:t>数据库系统的三级模式结构</a:t>
            </a:r>
            <a:endParaRPr lang="zh-CN" altLang="en-US" sz="2800" dirty="0">
              <a:solidFill>
                <a:schemeClr val="tx1"/>
              </a:solidFill>
            </a:endParaRPr>
          </a:p>
          <a:p>
            <a:pPr algn="just" eaLnBrk="1" hangingPunct="1">
              <a:lnSpc>
                <a:spcPct val="130000"/>
              </a:lnSpc>
            </a:pPr>
            <a:r>
              <a:rPr lang="zh-CN" altLang="en-US" sz="2800" dirty="0">
                <a:solidFill>
                  <a:schemeClr val="tx1"/>
                </a:solidFill>
              </a:rPr>
              <a:t>数据库的二级映象功能与数据独立性</a:t>
            </a:r>
            <a:endParaRPr lang="zh-CN" altLang="en-US" sz="2800" dirty="0">
              <a:solidFill>
                <a:schemeClr val="tx1"/>
              </a:solidFill>
            </a:endParaRPr>
          </a:p>
          <a:p>
            <a:pPr algn="just" eaLnBrk="1" hangingPunct="1">
              <a:lnSpc>
                <a:spcPct val="130000"/>
              </a:lnSpc>
            </a:pPr>
            <a:r>
              <a:rPr lang="zh-CN" altLang="en-US" sz="2800" dirty="0">
                <a:solidFill>
                  <a:srgbClr val="FF0000"/>
                </a:solidFill>
              </a:rPr>
              <a:t>小结</a:t>
            </a:r>
            <a:endParaRPr lang="zh-CN" altLang="en-US" sz="2800" dirty="0">
              <a:solidFill>
                <a:srgbClr val="FF0000"/>
              </a:solidFill>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8899" name="Rectangle 2"/>
          <p:cNvSpPr>
            <a:spLocks noGrp="1"/>
          </p:cNvSpPr>
          <p:nvPr>
            <p:ph type="title"/>
          </p:nvPr>
        </p:nvSpPr>
        <p:spPr>
          <a:xfrm>
            <a:off x="1358900" y="-12700"/>
            <a:ext cx="7239000" cy="609600"/>
          </a:xfrm>
          <a:ln/>
        </p:spPr>
        <p:txBody>
          <a:bodyPr vert="horz" wrap="square" lIns="91440" tIns="45720" rIns="91440" bIns="45720" anchor="ctr" anchorCtr="0"/>
          <a:p>
            <a:pPr algn="l" eaLnBrk="1" hangingPunct="1"/>
            <a:r>
              <a:rPr lang="en-US" altLang="zh-CN" u="sng" dirty="0"/>
              <a:t>1.3.1  </a:t>
            </a:r>
            <a:r>
              <a:rPr lang="zh-CN" altLang="en-US" u="sng" dirty="0"/>
              <a:t>数据库系统的模式结构</a:t>
            </a:r>
            <a:endParaRPr lang="zh-CN" altLang="en-US" dirty="0"/>
          </a:p>
        </p:txBody>
      </p:sp>
      <p:sp>
        <p:nvSpPr>
          <p:cNvPr id="208900" name="Rectangle 3"/>
          <p:cNvSpPr>
            <a:spLocks noGrp="1"/>
          </p:cNvSpPr>
          <p:nvPr>
            <p:ph idx="1"/>
          </p:nvPr>
        </p:nvSpPr>
        <p:spPr>
          <a:xfrm>
            <a:off x="762000" y="1219200"/>
            <a:ext cx="7772400" cy="4114800"/>
          </a:xfrm>
          <a:ln/>
        </p:spPr>
        <p:txBody>
          <a:bodyPr vert="horz" wrap="square" lIns="91440" tIns="45720" rIns="91440" bIns="45720" anchor="t" anchorCtr="0"/>
          <a:p>
            <a:pPr algn="just" eaLnBrk="1" hangingPunct="1">
              <a:buNone/>
            </a:pPr>
            <a:r>
              <a:rPr lang="en-US" altLang="zh-CN" dirty="0"/>
              <a:t>   </a:t>
            </a:r>
            <a:r>
              <a:rPr lang="zh-CN" altLang="en-US" dirty="0"/>
              <a:t>小结</a:t>
            </a:r>
            <a:endParaRPr lang="zh-CN" altLang="en-US" dirty="0"/>
          </a:p>
          <a:p>
            <a:pPr algn="just" eaLnBrk="1" hangingPunct="1"/>
            <a:r>
              <a:rPr lang="zh-CN" altLang="en-US" dirty="0">
                <a:solidFill>
                  <a:schemeClr val="accent2"/>
                </a:solidFill>
              </a:rPr>
              <a:t>模式</a:t>
            </a:r>
            <a:endParaRPr lang="zh-CN" altLang="en-US" dirty="0">
              <a:solidFill>
                <a:schemeClr val="accent2"/>
              </a:solidFill>
            </a:endParaRPr>
          </a:p>
          <a:p>
            <a:pPr lvl="1" algn="just" eaLnBrk="1" hangingPunct="1">
              <a:lnSpc>
                <a:spcPct val="150000"/>
              </a:lnSpc>
            </a:pPr>
            <a:r>
              <a:rPr lang="zh-CN" altLang="en-US" dirty="0"/>
              <a:t>是数据库的中心与关键</a:t>
            </a:r>
            <a:endParaRPr lang="zh-CN" altLang="en-US" dirty="0"/>
          </a:p>
          <a:p>
            <a:pPr lvl="1" algn="just" eaLnBrk="1" hangingPunct="1">
              <a:lnSpc>
                <a:spcPct val="150000"/>
              </a:lnSpc>
            </a:pPr>
            <a:r>
              <a:rPr lang="zh-CN" altLang="en-US" dirty="0"/>
              <a:t>独立于数据库的其它层次</a:t>
            </a:r>
            <a:endParaRPr lang="zh-CN" altLang="en-US" dirty="0"/>
          </a:p>
          <a:p>
            <a:pPr lvl="1" algn="just" eaLnBrk="1" hangingPunct="1">
              <a:lnSpc>
                <a:spcPct val="150000"/>
              </a:lnSpc>
            </a:pPr>
            <a:r>
              <a:rPr lang="zh-CN" altLang="en-US" dirty="0"/>
              <a:t>设计数据库模式结构时应首先确定数据库的逻辑模式</a:t>
            </a:r>
            <a:endParaRPr lang="zh-CN" altLang="en-US"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9923" name="Rectangle 2"/>
          <p:cNvSpPr>
            <a:spLocks noGrp="1"/>
          </p:cNvSpPr>
          <p:nvPr>
            <p:ph type="title"/>
          </p:nvPr>
        </p:nvSpPr>
        <p:spPr>
          <a:xfrm>
            <a:off x="1358900" y="-12700"/>
            <a:ext cx="7239000" cy="609600"/>
          </a:xfrm>
          <a:ln/>
        </p:spPr>
        <p:txBody>
          <a:bodyPr vert="horz" wrap="square" lIns="91440" tIns="45720" rIns="91440" bIns="45720" anchor="ctr" anchorCtr="0"/>
          <a:p>
            <a:pPr algn="l" eaLnBrk="1" hangingPunct="1"/>
            <a:r>
              <a:rPr lang="en-US" altLang="zh-CN" u="sng" dirty="0"/>
              <a:t>1.3.1  </a:t>
            </a:r>
            <a:r>
              <a:rPr lang="zh-CN" altLang="en-US" u="sng" dirty="0"/>
              <a:t>数据库系统的模式结构</a:t>
            </a:r>
            <a:endParaRPr lang="zh-CN" altLang="en-US" dirty="0"/>
          </a:p>
        </p:txBody>
      </p:sp>
      <p:sp>
        <p:nvSpPr>
          <p:cNvPr id="209924" name="Rectangle 3"/>
          <p:cNvSpPr>
            <a:spLocks noGrp="1"/>
          </p:cNvSpPr>
          <p:nvPr>
            <p:ph idx="1"/>
          </p:nvPr>
        </p:nvSpPr>
        <p:spPr>
          <a:xfrm>
            <a:off x="762000" y="1219200"/>
            <a:ext cx="8001000" cy="4953000"/>
          </a:xfrm>
          <a:ln/>
        </p:spPr>
        <p:txBody>
          <a:bodyPr vert="horz" wrap="square" lIns="91440" tIns="45720" rIns="91440" bIns="45720" anchor="t" anchorCtr="0"/>
          <a:p>
            <a:pPr algn="just" eaLnBrk="1" hangingPunct="1">
              <a:buNone/>
            </a:pPr>
            <a:r>
              <a:rPr lang="en-US" altLang="zh-CN" dirty="0"/>
              <a:t>   </a:t>
            </a:r>
            <a:r>
              <a:rPr lang="zh-CN" altLang="en-US" dirty="0"/>
              <a:t>小结</a:t>
            </a:r>
            <a:endParaRPr lang="zh-CN" altLang="en-US" dirty="0"/>
          </a:p>
          <a:p>
            <a:pPr algn="just" eaLnBrk="1" hangingPunct="1"/>
            <a:r>
              <a:rPr lang="zh-CN" altLang="en-US" dirty="0">
                <a:solidFill>
                  <a:schemeClr val="accent2"/>
                </a:solidFill>
              </a:rPr>
              <a:t>内模式</a:t>
            </a:r>
            <a:endParaRPr lang="zh-CN" altLang="en-US" dirty="0">
              <a:solidFill>
                <a:schemeClr val="accent2"/>
              </a:solidFill>
            </a:endParaRPr>
          </a:p>
          <a:p>
            <a:pPr lvl="1" algn="just" eaLnBrk="1" hangingPunct="1">
              <a:lnSpc>
                <a:spcPct val="150000"/>
              </a:lnSpc>
            </a:pPr>
            <a:r>
              <a:rPr lang="zh-CN" altLang="en-US" dirty="0"/>
              <a:t>依赖于全局逻辑结构，但独立于数据库的用户视图即外模式，也独立于具体的存储设备。</a:t>
            </a:r>
            <a:endParaRPr lang="zh-CN" altLang="en-US" dirty="0"/>
          </a:p>
          <a:p>
            <a:pPr lvl="1" algn="just" eaLnBrk="1" hangingPunct="1">
              <a:lnSpc>
                <a:spcPct val="150000"/>
              </a:lnSpc>
            </a:pPr>
            <a:r>
              <a:rPr lang="zh-CN" altLang="en-US" dirty="0"/>
              <a:t>它将全局逻辑结构中所定义的数据结构及其联系按照一定的物理存储策略进行组织，以达到较好的时间与空间效率。</a:t>
            </a:r>
            <a:endParaRPr lang="zh-CN" altLang="en-US"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0947" name="Rectangle 2"/>
          <p:cNvSpPr>
            <a:spLocks noGrp="1"/>
          </p:cNvSpPr>
          <p:nvPr>
            <p:ph type="title"/>
          </p:nvPr>
        </p:nvSpPr>
        <p:spPr>
          <a:xfrm>
            <a:off x="1358900" y="0"/>
            <a:ext cx="7315200" cy="609600"/>
          </a:xfrm>
          <a:ln/>
        </p:spPr>
        <p:txBody>
          <a:bodyPr vert="horz" wrap="square" lIns="91440" tIns="45720" rIns="91440" bIns="45720" anchor="ctr" anchorCtr="0"/>
          <a:p>
            <a:pPr algn="l" eaLnBrk="1" hangingPunct="1"/>
            <a:r>
              <a:rPr lang="en-US" altLang="zh-CN" u="sng" dirty="0"/>
              <a:t>1.3.1  </a:t>
            </a:r>
            <a:r>
              <a:rPr lang="zh-CN" altLang="en-US" u="sng" dirty="0"/>
              <a:t>数据库系统的模式结构</a:t>
            </a:r>
            <a:endParaRPr lang="zh-CN" altLang="en-US" u="sng" dirty="0"/>
          </a:p>
        </p:txBody>
      </p:sp>
      <p:sp>
        <p:nvSpPr>
          <p:cNvPr id="210948" name="Rectangle 3"/>
          <p:cNvSpPr>
            <a:spLocks noGrp="1"/>
          </p:cNvSpPr>
          <p:nvPr>
            <p:ph idx="1"/>
          </p:nvPr>
        </p:nvSpPr>
        <p:spPr>
          <a:xfrm>
            <a:off x="685800" y="1143000"/>
            <a:ext cx="7772400" cy="4800600"/>
          </a:xfrm>
          <a:ln/>
        </p:spPr>
        <p:txBody>
          <a:bodyPr vert="horz" wrap="square" lIns="91440" tIns="45720" rIns="91440" bIns="45720" anchor="t" anchorCtr="0"/>
          <a:p>
            <a:pPr algn="just" eaLnBrk="1" hangingPunct="1">
              <a:buNone/>
            </a:pPr>
            <a:r>
              <a:rPr lang="en-US" altLang="zh-CN" dirty="0"/>
              <a:t>   </a:t>
            </a:r>
            <a:r>
              <a:rPr lang="zh-CN" altLang="en-US" dirty="0"/>
              <a:t>小结</a:t>
            </a:r>
            <a:endParaRPr lang="zh-CN" altLang="en-US" dirty="0"/>
          </a:p>
          <a:p>
            <a:pPr algn="just" eaLnBrk="1" hangingPunct="1"/>
            <a:r>
              <a:rPr lang="zh-CN" altLang="en-US" dirty="0">
                <a:solidFill>
                  <a:schemeClr val="accent2"/>
                </a:solidFill>
              </a:rPr>
              <a:t>外模式</a:t>
            </a:r>
            <a:endParaRPr lang="zh-CN" altLang="en-US" dirty="0">
              <a:solidFill>
                <a:schemeClr val="accent2"/>
              </a:solidFill>
            </a:endParaRPr>
          </a:p>
          <a:p>
            <a:pPr lvl="1" algn="just" eaLnBrk="1" hangingPunct="1">
              <a:lnSpc>
                <a:spcPct val="130000"/>
              </a:lnSpc>
            </a:pPr>
            <a:r>
              <a:rPr lang="zh-CN" altLang="en-US" dirty="0"/>
              <a:t>面向具体的应用程序，定义在逻辑模式之上，但独立于存储模式和存储设备</a:t>
            </a:r>
            <a:endParaRPr lang="zh-CN" altLang="en-US" dirty="0"/>
          </a:p>
          <a:p>
            <a:pPr lvl="1" algn="just" eaLnBrk="1" hangingPunct="1">
              <a:lnSpc>
                <a:spcPct val="130000"/>
              </a:lnSpc>
            </a:pPr>
            <a:r>
              <a:rPr lang="zh-CN" altLang="en-US" dirty="0"/>
              <a:t>设计外模式时应充分考虑到应用的扩充性。当应用需求发生较大变化，相应外模式不能满足其视图要求时，该外模式就得做相应改动</a:t>
            </a:r>
            <a:endParaRPr lang="zh-CN" altLang="en-US"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1971" name="Rectangle 2"/>
          <p:cNvSpPr>
            <a:spLocks noGrp="1"/>
          </p:cNvSpPr>
          <p:nvPr>
            <p:ph type="title"/>
          </p:nvPr>
        </p:nvSpPr>
        <p:spPr>
          <a:xfrm>
            <a:off x="10668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211972" name="Rectangle 3"/>
          <p:cNvSpPr>
            <a:spLocks noGrp="1"/>
          </p:cNvSpPr>
          <p:nvPr>
            <p:ph idx="1"/>
          </p:nvPr>
        </p:nvSpPr>
        <p:spPr>
          <a:xfrm>
            <a:off x="685800" y="1371600"/>
            <a:ext cx="7772400" cy="4114800"/>
          </a:xfrm>
          <a:ln/>
        </p:spPr>
        <p:txBody>
          <a:bodyPr vert="horz" wrap="square" lIns="91440" tIns="45720" rIns="91440" bIns="45720" anchor="t" anchorCtr="0"/>
          <a:p>
            <a:pPr algn="just" eaLnBrk="1" hangingPunct="1">
              <a:buNone/>
            </a:pPr>
            <a:r>
              <a:rPr lang="en-US" altLang="zh-CN" dirty="0"/>
              <a:t>   </a:t>
            </a:r>
            <a:r>
              <a:rPr lang="zh-CN" altLang="en-US" dirty="0"/>
              <a:t>小结</a:t>
            </a:r>
            <a:endParaRPr lang="zh-CN" altLang="en-US" dirty="0"/>
          </a:p>
          <a:p>
            <a:pPr algn="just" eaLnBrk="1" hangingPunct="1"/>
            <a:r>
              <a:rPr lang="zh-CN" altLang="en-US" dirty="0">
                <a:solidFill>
                  <a:schemeClr val="accent2"/>
                </a:solidFill>
              </a:rPr>
              <a:t>应用程序</a:t>
            </a:r>
            <a:endParaRPr lang="zh-CN" altLang="en-US" dirty="0">
              <a:solidFill>
                <a:schemeClr val="accent2"/>
              </a:solidFill>
            </a:endParaRPr>
          </a:p>
          <a:p>
            <a:pPr lvl="1" algn="just" eaLnBrk="1" hangingPunct="1">
              <a:lnSpc>
                <a:spcPct val="150000"/>
              </a:lnSpc>
            </a:pPr>
            <a:r>
              <a:rPr lang="zh-CN" altLang="en-US" dirty="0"/>
              <a:t>在外模式描述的数据结构上编制的，它依赖于特定的外模式，与数据库的模式和存储结构独立。</a:t>
            </a:r>
            <a:endParaRPr lang="zh-CN" altLang="en-US" dirty="0"/>
          </a:p>
          <a:p>
            <a:pPr lvl="1" algn="just" eaLnBrk="1" hangingPunct="1">
              <a:lnSpc>
                <a:spcPct val="150000"/>
              </a:lnSpc>
            </a:pPr>
            <a:r>
              <a:rPr lang="zh-CN" altLang="en-US" dirty="0"/>
              <a:t>不同的应用程序有时可以共用同一个外模式。</a:t>
            </a:r>
            <a:endParaRPr lang="zh-CN" alt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2995" name="Rectangle 2"/>
          <p:cNvSpPr>
            <a:spLocks noGrp="1"/>
          </p:cNvSpPr>
          <p:nvPr>
            <p:ph type="title"/>
          </p:nvPr>
        </p:nvSpPr>
        <p:spPr>
          <a:xfrm>
            <a:off x="1066800" y="0"/>
            <a:ext cx="7772400" cy="609600"/>
          </a:xfrm>
          <a:ln/>
        </p:spPr>
        <p:txBody>
          <a:bodyPr vert="horz" wrap="square" lIns="91440" tIns="45720" rIns="91440" bIns="45720" anchor="ctr" anchorCtr="0"/>
          <a:p>
            <a:pPr eaLnBrk="1" hangingPunct="1"/>
            <a:r>
              <a:rPr lang="en-US" altLang="zh-CN" u="sng" dirty="0"/>
              <a:t>1.3.1  </a:t>
            </a:r>
            <a:r>
              <a:rPr lang="zh-CN" altLang="en-US" u="sng" dirty="0"/>
              <a:t>数据库系统的模式结构</a:t>
            </a:r>
            <a:endParaRPr lang="zh-CN" altLang="en-US" u="sng" dirty="0"/>
          </a:p>
        </p:txBody>
      </p:sp>
      <p:sp>
        <p:nvSpPr>
          <p:cNvPr id="212996" name="Rectangle 3"/>
          <p:cNvSpPr>
            <a:spLocks noGrp="1"/>
          </p:cNvSpPr>
          <p:nvPr>
            <p:ph idx="1"/>
          </p:nvPr>
        </p:nvSpPr>
        <p:spPr>
          <a:xfrm>
            <a:off x="609600" y="1371600"/>
            <a:ext cx="8077200" cy="4724400"/>
          </a:xfrm>
          <a:ln/>
        </p:spPr>
        <p:txBody>
          <a:bodyPr vert="horz" wrap="square" lIns="91440" tIns="45720" rIns="91440" bIns="45720" anchor="t" anchorCtr="0"/>
          <a:p>
            <a:pPr algn="just" eaLnBrk="1" hangingPunct="1">
              <a:buNone/>
            </a:pPr>
            <a:r>
              <a:rPr lang="en-US" altLang="zh-CN" dirty="0"/>
              <a:t>   </a:t>
            </a:r>
            <a:r>
              <a:rPr lang="zh-CN" altLang="en-US" dirty="0"/>
              <a:t>小结</a:t>
            </a:r>
            <a:endParaRPr lang="zh-CN" altLang="en-US" dirty="0"/>
          </a:p>
          <a:p>
            <a:pPr algn="just" eaLnBrk="1" hangingPunct="1"/>
            <a:r>
              <a:rPr lang="zh-CN" altLang="en-US" dirty="0">
                <a:solidFill>
                  <a:schemeClr val="accent2"/>
                </a:solidFill>
              </a:rPr>
              <a:t>二级映象</a:t>
            </a:r>
            <a:endParaRPr lang="zh-CN" altLang="en-US" dirty="0">
              <a:solidFill>
                <a:schemeClr val="accent2"/>
              </a:solidFill>
            </a:endParaRPr>
          </a:p>
          <a:p>
            <a:pPr lvl="1" algn="just" eaLnBrk="1" hangingPunct="1">
              <a:lnSpc>
                <a:spcPct val="120000"/>
              </a:lnSpc>
            </a:pPr>
            <a:r>
              <a:rPr lang="zh-CN" altLang="en-US" dirty="0"/>
              <a:t>保证了数据库外模式的稳定性，从而从底层保证了应用程序的稳定性，除非应用需求本身发生变化，否则应用程序一般不需要修改。</a:t>
            </a:r>
            <a:endParaRPr lang="zh-CN" altLang="en-US" dirty="0"/>
          </a:p>
          <a:p>
            <a:pPr lvl="1" algn="just" eaLnBrk="1" hangingPunct="1">
              <a:lnSpc>
                <a:spcPct val="120000"/>
              </a:lnSpc>
            </a:pPr>
            <a:r>
              <a:rPr lang="zh-CN" altLang="en-US" dirty="0"/>
              <a:t>数据与程序之间的独立性，使得数据的定义和描述可以从应用程序中分离出去。</a:t>
            </a:r>
            <a:endParaRPr lang="zh-CN" altLang="en-US"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4019" name="Rectangle 2"/>
          <p:cNvSpPr/>
          <p:nvPr/>
        </p:nvSpPr>
        <p:spPr>
          <a:xfrm>
            <a:off x="558800" y="3175000"/>
            <a:ext cx="8001000" cy="685800"/>
          </a:xfrm>
          <a:prstGeom prst="rect">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14020" name="Rectangle 3"/>
          <p:cNvSpPr>
            <a:spLocks noGrp="1"/>
          </p:cNvSpPr>
          <p:nvPr>
            <p:ph type="title"/>
          </p:nvPr>
        </p:nvSpPr>
        <p:spPr>
          <a:ln/>
        </p:spPr>
        <p:txBody>
          <a:bodyPr vert="horz" wrap="square" lIns="91440" tIns="45720" rIns="91440" bIns="45720" anchor="ctr" anchorCtr="0"/>
          <a:p>
            <a:pPr eaLnBrk="1" hangingPunct="1"/>
            <a:r>
              <a:rPr lang="en-US" altLang="zh-CN" dirty="0"/>
              <a:t>1.3 </a:t>
            </a:r>
            <a:r>
              <a:rPr lang="zh-CN" altLang="en-US" dirty="0"/>
              <a:t>数据库系统结构</a:t>
            </a:r>
            <a:endParaRPr lang="zh-CN" altLang="en-US" dirty="0"/>
          </a:p>
        </p:txBody>
      </p:sp>
      <p:sp>
        <p:nvSpPr>
          <p:cNvPr id="214021" name="Rectangle 4"/>
          <p:cNvSpPr>
            <a:spLocks noGrp="1"/>
          </p:cNvSpPr>
          <p:nvPr>
            <p:ph idx="1"/>
          </p:nvPr>
        </p:nvSpPr>
        <p:spPr>
          <a:xfrm>
            <a:off x="685800" y="1447800"/>
            <a:ext cx="7848600" cy="3581400"/>
          </a:xfrm>
          <a:ln/>
        </p:spPr>
        <p:txBody>
          <a:bodyPr vert="horz" wrap="square" lIns="91440" tIns="45720" rIns="91440" bIns="45720" anchor="t" anchorCtr="0"/>
          <a:p>
            <a:pPr>
              <a:lnSpc>
                <a:spcPct val="150000"/>
              </a:lnSpc>
              <a:spcBef>
                <a:spcPct val="0"/>
              </a:spcBef>
              <a:buClrTx/>
              <a:buFontTx/>
              <a:buNone/>
            </a:pPr>
            <a:r>
              <a:rPr lang="en-US" altLang="zh-CN" sz="3600" dirty="0">
                <a:solidFill>
                  <a:schemeClr val="tx1"/>
                </a:solidFill>
                <a:latin typeface="Arial Narrow" panose="020B0606020202030204" pitchFamily="34" charset="0"/>
                <a:ea typeface="仿宋_GB2312" pitchFamily="49" charset="-122"/>
              </a:rPr>
              <a:t>1.3.1</a:t>
            </a:r>
            <a:r>
              <a:rPr lang="en-US" altLang="zh-CN" dirty="0">
                <a:solidFill>
                  <a:schemeClr val="tx1"/>
                </a:solidFill>
              </a:rPr>
              <a:t>  </a:t>
            </a:r>
            <a:r>
              <a:rPr lang="zh-CN" altLang="en-US" dirty="0">
                <a:solidFill>
                  <a:schemeClr val="tx1"/>
                </a:solidFill>
              </a:rPr>
              <a:t>数据库系统内部的模式结构 </a:t>
            </a:r>
            <a:endParaRPr lang="zh-CN" altLang="en-US" dirty="0">
              <a:solidFill>
                <a:schemeClr val="tx1"/>
              </a:solidFill>
            </a:endParaRPr>
          </a:p>
          <a:p>
            <a:pPr>
              <a:lnSpc>
                <a:spcPct val="150000"/>
              </a:lnSpc>
              <a:spcBef>
                <a:spcPct val="0"/>
              </a:spcBef>
              <a:buClrTx/>
              <a:buFontTx/>
              <a:buNone/>
            </a:pPr>
            <a:r>
              <a:rPr lang="zh-CN" altLang="en-US" dirty="0"/>
              <a:t>    </a:t>
            </a:r>
            <a:r>
              <a:rPr lang="zh-CN" altLang="en-US" sz="2400" dirty="0">
                <a:solidFill>
                  <a:schemeClr val="tx1"/>
                </a:solidFill>
              </a:rPr>
              <a:t>从</a:t>
            </a:r>
            <a:r>
              <a:rPr lang="zh-CN" altLang="en-US" sz="2400" dirty="0">
                <a:solidFill>
                  <a:schemeClr val="accent2"/>
                </a:solidFill>
              </a:rPr>
              <a:t>数据库管理系统</a:t>
            </a:r>
            <a:r>
              <a:rPr lang="zh-CN" altLang="en-US" sz="2400" dirty="0">
                <a:solidFill>
                  <a:schemeClr val="tx1"/>
                </a:solidFill>
              </a:rPr>
              <a:t>角度看</a:t>
            </a:r>
            <a:endParaRPr lang="zh-CN" altLang="en-US" sz="2400" dirty="0">
              <a:solidFill>
                <a:schemeClr val="tx1"/>
              </a:solidFill>
            </a:endParaRPr>
          </a:p>
          <a:p>
            <a:pPr>
              <a:lnSpc>
                <a:spcPct val="150000"/>
              </a:lnSpc>
              <a:spcBef>
                <a:spcPct val="0"/>
              </a:spcBef>
              <a:buClrTx/>
              <a:buFontTx/>
              <a:buNone/>
            </a:pPr>
            <a:r>
              <a:rPr lang="en-US" altLang="zh-CN" sz="3600" dirty="0">
                <a:solidFill>
                  <a:schemeClr val="bg1"/>
                </a:solidFill>
                <a:latin typeface="Arial Narrow" panose="020B0606020202030204" pitchFamily="34" charset="0"/>
                <a:ea typeface="仿宋_GB2312" pitchFamily="49" charset="-122"/>
              </a:rPr>
              <a:t>1.3.2  </a:t>
            </a:r>
            <a:r>
              <a:rPr lang="zh-CN" altLang="en-US" dirty="0">
                <a:solidFill>
                  <a:schemeClr val="bg1"/>
                </a:solidFill>
              </a:rPr>
              <a:t>数据库系统外部的体系结构</a:t>
            </a:r>
            <a:endParaRPr lang="zh-CN" altLang="en-US" dirty="0">
              <a:solidFill>
                <a:schemeClr val="bg1"/>
              </a:solidFill>
            </a:endParaRPr>
          </a:p>
          <a:p>
            <a:pPr>
              <a:lnSpc>
                <a:spcPct val="150000"/>
              </a:lnSpc>
              <a:spcBef>
                <a:spcPct val="0"/>
              </a:spcBef>
              <a:buClrTx/>
              <a:buFontTx/>
              <a:buNone/>
            </a:pPr>
            <a:r>
              <a:rPr lang="zh-CN" altLang="en-US" sz="2400" dirty="0"/>
              <a:t>     </a:t>
            </a:r>
            <a:r>
              <a:rPr lang="zh-CN" altLang="en-US" sz="2400" dirty="0">
                <a:solidFill>
                  <a:schemeClr val="tx1"/>
                </a:solidFill>
              </a:rPr>
              <a:t>从</a:t>
            </a:r>
            <a:r>
              <a:rPr lang="zh-CN" altLang="en-US" sz="2400" dirty="0">
                <a:solidFill>
                  <a:schemeClr val="accent2"/>
                </a:solidFill>
              </a:rPr>
              <a:t>数据库最终用户</a:t>
            </a:r>
            <a:r>
              <a:rPr lang="zh-CN" altLang="en-US" sz="2400" dirty="0">
                <a:solidFill>
                  <a:schemeClr val="tx1"/>
                </a:solidFill>
              </a:rPr>
              <a:t>角度看</a:t>
            </a:r>
            <a:endParaRPr lang="zh-CN" altLang="en-US" sz="2400" dirty="0">
              <a:solidFill>
                <a:schemeClr val="tx1"/>
              </a:solidFill>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5043" name="Rectangle 2"/>
          <p:cNvSpPr>
            <a:spLocks noGrp="1"/>
          </p:cNvSpPr>
          <p:nvPr>
            <p:ph type="title"/>
          </p:nvPr>
        </p:nvSpPr>
        <p:spPr>
          <a:xfrm>
            <a:off x="685800" y="152400"/>
            <a:ext cx="8458200" cy="1143000"/>
          </a:xfrm>
          <a:ln/>
        </p:spPr>
        <p:txBody>
          <a:bodyPr vert="horz" wrap="square" lIns="91440" tIns="45720" rIns="91440" bIns="45720" anchor="ctr" anchorCtr="0"/>
          <a:p>
            <a:pPr eaLnBrk="1" hangingPunct="1"/>
            <a:r>
              <a:rPr lang="en-US" altLang="zh-CN" dirty="0"/>
              <a:t>1.3.2  </a:t>
            </a:r>
            <a:r>
              <a:rPr lang="zh-CN" altLang="en-US" dirty="0"/>
              <a:t>数据库系统外部的体系结构</a:t>
            </a:r>
            <a:endParaRPr lang="zh-CN" altLang="en-US" dirty="0"/>
          </a:p>
        </p:txBody>
      </p:sp>
      <p:sp>
        <p:nvSpPr>
          <p:cNvPr id="215044" name="Rectangle 3"/>
          <p:cNvSpPr>
            <a:spLocks noGrp="1"/>
          </p:cNvSpPr>
          <p:nvPr>
            <p:ph idx="1"/>
          </p:nvPr>
        </p:nvSpPr>
        <p:spPr>
          <a:xfrm>
            <a:off x="1066800" y="1600200"/>
            <a:ext cx="7162800" cy="3886200"/>
          </a:xfrm>
          <a:ln/>
        </p:spPr>
        <p:txBody>
          <a:bodyPr vert="horz" wrap="square" lIns="91440" tIns="45720" rIns="91440" bIns="45720" anchor="t" anchorCtr="0"/>
          <a:p>
            <a:pPr algn="just" eaLnBrk="1" hangingPunct="1">
              <a:lnSpc>
                <a:spcPct val="140000"/>
              </a:lnSpc>
            </a:pPr>
            <a:r>
              <a:rPr lang="zh-CN" altLang="en-US" sz="2800" dirty="0">
                <a:solidFill>
                  <a:schemeClr val="tx1"/>
                </a:solidFill>
                <a:latin typeface="宋体" panose="02010600030101010101" pitchFamily="2" charset="-122"/>
              </a:rPr>
              <a:t>单用户结构</a:t>
            </a:r>
            <a:endParaRPr lang="zh-CN" altLang="en-US" sz="2800" dirty="0">
              <a:solidFill>
                <a:schemeClr val="tx1"/>
              </a:solidFill>
              <a:latin typeface="宋体" panose="02010600030101010101" pitchFamily="2" charset="-122"/>
            </a:endParaRPr>
          </a:p>
          <a:p>
            <a:pPr algn="just" eaLnBrk="1" hangingPunct="1">
              <a:lnSpc>
                <a:spcPct val="140000"/>
              </a:lnSpc>
            </a:pPr>
            <a:r>
              <a:rPr lang="zh-CN" altLang="en-US" sz="2800" dirty="0">
                <a:solidFill>
                  <a:schemeClr val="tx1"/>
                </a:solidFill>
                <a:latin typeface="宋体" panose="02010600030101010101" pitchFamily="2" charset="-122"/>
              </a:rPr>
              <a:t>主从式结构</a:t>
            </a:r>
            <a:endParaRPr lang="zh-CN" altLang="en-US" sz="2800" dirty="0">
              <a:solidFill>
                <a:schemeClr val="tx1"/>
              </a:solidFill>
              <a:latin typeface="宋体" panose="02010600030101010101" pitchFamily="2" charset="-122"/>
            </a:endParaRPr>
          </a:p>
          <a:p>
            <a:pPr algn="just" eaLnBrk="1" hangingPunct="1">
              <a:lnSpc>
                <a:spcPct val="140000"/>
              </a:lnSpc>
            </a:pPr>
            <a:r>
              <a:rPr lang="zh-CN" altLang="en-US" sz="2800" dirty="0">
                <a:solidFill>
                  <a:schemeClr val="tx1"/>
                </a:solidFill>
                <a:latin typeface="宋体" panose="02010600030101010101" pitchFamily="2" charset="-122"/>
              </a:rPr>
              <a:t>分布式结构</a:t>
            </a:r>
            <a:endParaRPr lang="zh-CN" altLang="en-US" sz="2800" dirty="0">
              <a:solidFill>
                <a:schemeClr val="tx1"/>
              </a:solidFill>
              <a:latin typeface="宋体" panose="02010600030101010101" pitchFamily="2" charset="-122"/>
            </a:endParaRPr>
          </a:p>
          <a:p>
            <a:pPr algn="just" eaLnBrk="1" hangingPunct="1">
              <a:lnSpc>
                <a:spcPct val="140000"/>
              </a:lnSpc>
            </a:pPr>
            <a:r>
              <a:rPr lang="zh-CN" altLang="en-US" sz="2800" dirty="0">
                <a:solidFill>
                  <a:schemeClr val="tx1"/>
                </a:solidFill>
              </a:rPr>
              <a:t>客户</a:t>
            </a:r>
            <a:r>
              <a:rPr lang="en-US" altLang="zh-CN" sz="2800" dirty="0">
                <a:solidFill>
                  <a:schemeClr val="tx1"/>
                </a:solidFill>
              </a:rPr>
              <a:t>/</a:t>
            </a:r>
            <a:r>
              <a:rPr lang="zh-CN" altLang="en-US" sz="2800" dirty="0">
                <a:solidFill>
                  <a:schemeClr val="tx1"/>
                </a:solidFill>
              </a:rPr>
              <a:t>服务器结构</a:t>
            </a:r>
            <a:endParaRPr lang="zh-CN" altLang="en-US" sz="2800" dirty="0">
              <a:solidFill>
                <a:schemeClr val="tx1"/>
              </a:solidFill>
            </a:endParaRPr>
          </a:p>
          <a:p>
            <a:pPr algn="just" eaLnBrk="1" hangingPunct="1">
              <a:lnSpc>
                <a:spcPct val="140000"/>
              </a:lnSpc>
            </a:pPr>
            <a:r>
              <a:rPr lang="zh-CN" altLang="en-US" sz="2800" dirty="0">
                <a:solidFill>
                  <a:schemeClr val="tx1"/>
                </a:solidFill>
              </a:rPr>
              <a:t>浏览器</a:t>
            </a:r>
            <a:r>
              <a:rPr lang="en-US" altLang="zh-CN" sz="2800" dirty="0">
                <a:solidFill>
                  <a:schemeClr val="tx1"/>
                </a:solidFill>
              </a:rPr>
              <a:t>/</a:t>
            </a:r>
            <a:r>
              <a:rPr lang="zh-CN" altLang="en-US" sz="2800" dirty="0">
                <a:solidFill>
                  <a:schemeClr val="tx1"/>
                </a:solidFill>
              </a:rPr>
              <a:t>应用服务器</a:t>
            </a:r>
            <a:r>
              <a:rPr lang="en-US" altLang="zh-CN" sz="2800" dirty="0">
                <a:solidFill>
                  <a:schemeClr val="tx1"/>
                </a:solidFill>
              </a:rPr>
              <a:t>/</a:t>
            </a:r>
            <a:r>
              <a:rPr lang="zh-CN" altLang="en-US" sz="2800" dirty="0">
                <a:solidFill>
                  <a:schemeClr val="tx1"/>
                </a:solidFill>
              </a:rPr>
              <a:t>数据库服务器结构</a:t>
            </a:r>
            <a:endParaRPr lang="zh-CN" altLang="en-US" sz="2800" dirty="0">
              <a:solidFill>
                <a:schemeClr val="tx1"/>
              </a:solidFill>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6067"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16068" name="Rectangle 3"/>
          <p:cNvSpPr>
            <a:spLocks noGrp="1"/>
          </p:cNvSpPr>
          <p:nvPr>
            <p:ph idx="1"/>
          </p:nvPr>
        </p:nvSpPr>
        <p:spPr>
          <a:xfrm>
            <a:off x="685800" y="914400"/>
            <a:ext cx="7924800" cy="4724400"/>
          </a:xfrm>
          <a:ln/>
        </p:spPr>
        <p:txBody>
          <a:bodyPr vert="horz" wrap="square" lIns="91440" tIns="45720" rIns="91440" bIns="45720" anchor="t" anchorCtr="0"/>
          <a:p>
            <a:pPr algn="just" eaLnBrk="1" hangingPunct="1">
              <a:lnSpc>
                <a:spcPct val="140000"/>
              </a:lnSpc>
              <a:buNone/>
            </a:pPr>
            <a:r>
              <a:rPr lang="en-US" altLang="zh-CN" dirty="0">
                <a:solidFill>
                  <a:srgbClr val="FF0000"/>
                </a:solidFill>
                <a:latin typeface="Arial" panose="020B0604020202020204" pitchFamily="34" charset="0"/>
              </a:rPr>
              <a:t>1.</a:t>
            </a:r>
            <a:r>
              <a:rPr lang="en-US" altLang="zh-CN" dirty="0">
                <a:solidFill>
                  <a:srgbClr val="FF0000"/>
                </a:solidFill>
                <a:latin typeface="宋体" panose="02010600030101010101" pitchFamily="2" charset="-122"/>
              </a:rPr>
              <a:t> </a:t>
            </a:r>
            <a:r>
              <a:rPr lang="zh-CN" altLang="en-US" dirty="0">
                <a:solidFill>
                  <a:srgbClr val="FF0000"/>
                </a:solidFill>
                <a:latin typeface="宋体" panose="02010600030101010101" pitchFamily="2" charset="-122"/>
              </a:rPr>
              <a:t>单用户数据库系统</a:t>
            </a:r>
            <a:endParaRPr lang="zh-CN" altLang="en-US" dirty="0">
              <a:solidFill>
                <a:srgbClr val="FF0000"/>
              </a:solidFill>
              <a:latin typeface="宋体" panose="02010600030101010101" pitchFamily="2" charset="-122"/>
            </a:endParaRPr>
          </a:p>
          <a:p>
            <a:pPr algn="just" eaLnBrk="1" hangingPunct="1">
              <a:lnSpc>
                <a:spcPct val="140000"/>
              </a:lnSpc>
            </a:pPr>
            <a:r>
              <a:rPr lang="zh-CN" altLang="en-US" dirty="0">
                <a:solidFill>
                  <a:schemeClr val="tx1"/>
                </a:solidFill>
                <a:latin typeface="宋体" panose="02010600030101010101" pitchFamily="2" charset="-122"/>
              </a:rPr>
              <a:t>整个数据库系统</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应用程序、</a:t>
            </a:r>
            <a:r>
              <a:rPr lang="en-US" altLang="zh-CN" dirty="0">
                <a:solidFill>
                  <a:schemeClr val="tx1"/>
                </a:solidFill>
                <a:latin typeface="宋体" panose="02010600030101010101" pitchFamily="2" charset="-122"/>
              </a:rPr>
              <a:t>DBMS</a:t>
            </a:r>
            <a:r>
              <a:rPr lang="zh-CN" altLang="en-US" dirty="0">
                <a:solidFill>
                  <a:schemeClr val="tx1"/>
                </a:solidFill>
                <a:latin typeface="宋体" panose="02010600030101010101" pitchFamily="2" charset="-122"/>
              </a:rPr>
              <a:t>、数据</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装在一台计算机上，为一个用户独占，不同机器之间不能共享数据。</a:t>
            </a:r>
            <a:endParaRPr lang="zh-CN" altLang="en-US" dirty="0">
              <a:solidFill>
                <a:schemeClr val="tx1"/>
              </a:solidFill>
              <a:latin typeface="宋体" panose="02010600030101010101" pitchFamily="2" charset="-122"/>
            </a:endParaRPr>
          </a:p>
          <a:p>
            <a:pPr lvl="1" algn="just" eaLnBrk="1" hangingPunct="1"/>
            <a:endParaRPr lang="zh-CN" altLang="en-US" dirty="0">
              <a:latin typeface="宋体" panose="02010600030101010101" pitchFamily="2" charset="-122"/>
            </a:endParaRPr>
          </a:p>
          <a:p>
            <a:pPr algn="just" eaLnBrk="1" hangingPunct="1"/>
            <a:r>
              <a:rPr lang="zh-CN" altLang="en-US" dirty="0">
                <a:solidFill>
                  <a:schemeClr val="tx1"/>
                </a:solidFill>
              </a:rPr>
              <a:t>早期的最简单的数据库系统</a:t>
            </a:r>
            <a:endParaRPr lang="zh-CN" altLang="en-US" dirty="0">
              <a:solidFill>
                <a:schemeClr val="tx1"/>
              </a:solidFill>
            </a:endParaRPr>
          </a:p>
          <a:p>
            <a:pPr algn="just" eaLnBrk="1" hangingPunct="1"/>
            <a:endParaRPr lang="zh-CN" altLang="en-US" dirty="0">
              <a:solidFill>
                <a:schemeClr val="tx1"/>
              </a:solidFill>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7091"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17092" name="Rectangle 3"/>
          <p:cNvSpPr>
            <a:spLocks noGrp="1"/>
          </p:cNvSpPr>
          <p:nvPr>
            <p:ph idx="1"/>
          </p:nvPr>
        </p:nvSpPr>
        <p:spPr>
          <a:xfrm>
            <a:off x="685800" y="914400"/>
            <a:ext cx="8077200" cy="5257800"/>
          </a:xfrm>
          <a:ln/>
        </p:spPr>
        <p:txBody>
          <a:bodyPr vert="horz" wrap="square" lIns="91440" tIns="45720" rIns="91440" bIns="45720" anchor="t" anchorCtr="0"/>
          <a:p>
            <a:pPr algn="just" eaLnBrk="1" hangingPunct="1">
              <a:lnSpc>
                <a:spcPct val="140000"/>
              </a:lnSpc>
              <a:buNone/>
            </a:pPr>
            <a:r>
              <a:rPr lang="en-US" altLang="zh-CN" dirty="0">
                <a:solidFill>
                  <a:srgbClr val="FF0000"/>
                </a:solidFill>
                <a:latin typeface="Arial" panose="020B0604020202020204" pitchFamily="34" charset="0"/>
              </a:rPr>
              <a:t>2.</a:t>
            </a:r>
            <a:r>
              <a:rPr lang="en-US" altLang="zh-CN" dirty="0">
                <a:solidFill>
                  <a:srgbClr val="FF0000"/>
                </a:solidFill>
                <a:latin typeface="宋体" panose="02010600030101010101" pitchFamily="2" charset="-122"/>
              </a:rPr>
              <a:t> </a:t>
            </a:r>
            <a:r>
              <a:rPr lang="zh-CN" altLang="en-US" dirty="0">
                <a:solidFill>
                  <a:srgbClr val="FF0000"/>
                </a:solidFill>
                <a:latin typeface="宋体" panose="02010600030101010101" pitchFamily="2" charset="-122"/>
              </a:rPr>
              <a:t>主从式结构的数据库系统</a:t>
            </a:r>
            <a:endParaRPr lang="zh-CN" altLang="en-US" dirty="0">
              <a:solidFill>
                <a:srgbClr val="FF0000"/>
              </a:solidFill>
              <a:latin typeface="宋体" panose="02010600030101010101" pitchFamily="2" charset="-122"/>
            </a:endParaRPr>
          </a:p>
          <a:p>
            <a:pPr algn="just" eaLnBrk="1" hangingPunct="1"/>
            <a:r>
              <a:rPr lang="zh-CN" altLang="en-US" dirty="0">
                <a:solidFill>
                  <a:schemeClr val="accent2"/>
                </a:solidFill>
                <a:latin typeface="宋体" panose="02010600030101010101" pitchFamily="2" charset="-122"/>
              </a:rPr>
              <a:t>一个主机带多个终端的多用户结构</a:t>
            </a:r>
            <a:endParaRPr lang="zh-CN" altLang="en-US" dirty="0">
              <a:solidFill>
                <a:schemeClr val="accent2"/>
              </a:solidFill>
              <a:latin typeface="宋体" panose="02010600030101010101" pitchFamily="2" charset="-122"/>
            </a:endParaRPr>
          </a:p>
          <a:p>
            <a:pPr lvl="1" algn="just" eaLnBrk="1" hangingPunct="1">
              <a:lnSpc>
                <a:spcPct val="130000"/>
              </a:lnSpc>
            </a:pPr>
            <a:r>
              <a:rPr lang="zh-CN" altLang="en-US" dirty="0">
                <a:latin typeface="宋体" panose="02010600030101010101" pitchFamily="2" charset="-122"/>
              </a:rPr>
              <a:t>数据库系统，包括应用程序、</a:t>
            </a:r>
            <a:r>
              <a:rPr lang="en-US" altLang="zh-CN" dirty="0">
                <a:latin typeface="宋体" panose="02010600030101010101" pitchFamily="2" charset="-122"/>
              </a:rPr>
              <a:t>DBMS</a:t>
            </a:r>
            <a:r>
              <a:rPr lang="zh-CN" altLang="en-US" dirty="0">
                <a:latin typeface="宋体" panose="02010600030101010101" pitchFamily="2" charset="-122"/>
              </a:rPr>
              <a:t>、数据，都集中存放在主机上，所有处理任务都由主机来完成</a:t>
            </a:r>
            <a:endParaRPr lang="zh-CN" altLang="en-US" dirty="0">
              <a:latin typeface="宋体" panose="02010600030101010101" pitchFamily="2" charset="-122"/>
            </a:endParaRPr>
          </a:p>
          <a:p>
            <a:pPr lvl="1" algn="just" eaLnBrk="1" hangingPunct="1">
              <a:lnSpc>
                <a:spcPct val="130000"/>
              </a:lnSpc>
            </a:pPr>
            <a:r>
              <a:rPr lang="zh-CN" altLang="en-US" dirty="0">
                <a:latin typeface="宋体" panose="02010600030101010101" pitchFamily="2" charset="-122"/>
              </a:rPr>
              <a:t>各个用户通过主机的终端并发地存取数据库，共享数据资源</a:t>
            </a:r>
            <a:endParaRPr lang="zh-CN" altLang="en-US" dirty="0">
              <a:latin typeface="宋体" panose="02010600030101010101" pitchFamily="2" charset="-122"/>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8115"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18116" name="Rectangle 3"/>
          <p:cNvSpPr>
            <a:spLocks noGrp="1"/>
          </p:cNvSpPr>
          <p:nvPr>
            <p:ph idx="1"/>
          </p:nvPr>
        </p:nvSpPr>
        <p:spPr>
          <a:xfrm>
            <a:off x="685800" y="914400"/>
            <a:ext cx="8077200" cy="5257800"/>
          </a:xfrm>
          <a:ln/>
        </p:spPr>
        <p:txBody>
          <a:bodyPr vert="horz" wrap="square" lIns="91440" tIns="45720" rIns="91440" bIns="45720" anchor="t" anchorCtr="0"/>
          <a:p>
            <a:pPr algn="just" eaLnBrk="1" hangingPunct="1">
              <a:lnSpc>
                <a:spcPct val="140000"/>
              </a:lnSpc>
              <a:buNone/>
            </a:pPr>
            <a:r>
              <a:rPr lang="zh-CN" altLang="en-US" dirty="0">
                <a:solidFill>
                  <a:srgbClr val="FF0000"/>
                </a:solidFill>
                <a:latin typeface="宋体" panose="02010600030101010101" pitchFamily="2" charset="-122"/>
              </a:rPr>
              <a:t>主从式结构的数据库系统</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续</a:t>
            </a:r>
            <a:r>
              <a:rPr lang="en-US" altLang="zh-CN" dirty="0">
                <a:solidFill>
                  <a:srgbClr val="FF0000"/>
                </a:solidFill>
                <a:latin typeface="宋体" panose="02010600030101010101" pitchFamily="2" charset="-122"/>
              </a:rPr>
              <a:t>)</a:t>
            </a:r>
            <a:endParaRPr lang="en-US" altLang="zh-CN" dirty="0">
              <a:solidFill>
                <a:srgbClr val="FF0000"/>
              </a:solidFill>
              <a:latin typeface="宋体" panose="02010600030101010101" pitchFamily="2" charset="-122"/>
            </a:endParaRPr>
          </a:p>
          <a:p>
            <a:pPr algn="just" eaLnBrk="1" hangingPunct="1"/>
            <a:r>
              <a:rPr lang="zh-CN" altLang="en-US" dirty="0">
                <a:solidFill>
                  <a:schemeClr val="accent2"/>
                </a:solidFill>
                <a:latin typeface="宋体" panose="02010600030101010101" pitchFamily="2" charset="-122"/>
              </a:rPr>
              <a:t>优点</a:t>
            </a:r>
            <a:endParaRPr lang="zh-CN" altLang="en-US" dirty="0">
              <a:solidFill>
                <a:schemeClr val="accent2"/>
              </a:solidFill>
              <a:latin typeface="宋体" panose="02010600030101010101" pitchFamily="2" charset="-122"/>
            </a:endParaRPr>
          </a:p>
          <a:p>
            <a:pPr lvl="1" algn="just" eaLnBrk="1" hangingPunct="1"/>
            <a:r>
              <a:rPr lang="zh-CN" altLang="en-US" dirty="0">
                <a:latin typeface="宋体" panose="02010600030101010101" pitchFamily="2" charset="-122"/>
              </a:rPr>
              <a:t>易于管理、控制与维护。</a:t>
            </a:r>
            <a:endParaRPr lang="zh-CN" altLang="en-US" dirty="0">
              <a:latin typeface="宋体" panose="02010600030101010101" pitchFamily="2" charset="-122"/>
            </a:endParaRPr>
          </a:p>
          <a:p>
            <a:pPr algn="just" eaLnBrk="1" hangingPunct="1"/>
            <a:r>
              <a:rPr lang="zh-CN" altLang="en-US" dirty="0">
                <a:solidFill>
                  <a:schemeClr val="accent2"/>
                </a:solidFill>
                <a:latin typeface="宋体" panose="02010600030101010101" pitchFamily="2" charset="-122"/>
              </a:rPr>
              <a:t>缺点</a:t>
            </a:r>
            <a:endParaRPr lang="zh-CN" altLang="en-US" dirty="0">
              <a:solidFill>
                <a:schemeClr val="accent2"/>
              </a:solidFill>
              <a:latin typeface="宋体" panose="02010600030101010101" pitchFamily="2" charset="-122"/>
            </a:endParaRPr>
          </a:p>
          <a:p>
            <a:pPr lvl="1" algn="just" eaLnBrk="1" hangingPunct="1"/>
            <a:r>
              <a:rPr lang="zh-CN" altLang="en-US" dirty="0">
                <a:latin typeface="宋体" panose="02010600030101010101" pitchFamily="2" charset="-122"/>
              </a:rPr>
              <a:t>当终端用户数目增加到一定程度后，主机的任务会过分繁重，成为瓶颈，从而使系统性能下降。</a:t>
            </a:r>
            <a:endParaRPr lang="zh-CN" altLang="en-US" dirty="0">
              <a:latin typeface="宋体" panose="02010600030101010101" pitchFamily="2" charset="-122"/>
            </a:endParaRPr>
          </a:p>
          <a:p>
            <a:pPr lvl="1" algn="just" eaLnBrk="1" hangingPunct="1"/>
            <a:r>
              <a:rPr lang="zh-CN" altLang="en-US" dirty="0">
                <a:latin typeface="宋体" panose="02010600030101010101" pitchFamily="2" charset="-122"/>
              </a:rPr>
              <a:t>系统的可靠性依赖主机</a:t>
            </a:r>
            <a:r>
              <a:rPr lang="en-US" altLang="zh-CN" dirty="0">
                <a:latin typeface="宋体" panose="02010600030101010101" pitchFamily="2" charset="-122"/>
              </a:rPr>
              <a:t>,</a:t>
            </a:r>
            <a:r>
              <a:rPr lang="zh-CN" altLang="en-US" dirty="0">
                <a:latin typeface="宋体" panose="02010600030101010101" pitchFamily="2" charset="-122"/>
              </a:rPr>
              <a:t>当主机出现故障时，整个系统都不能使用。</a:t>
            </a:r>
            <a:endParaRPr lang="zh-CN" altLang="en-US" dirty="0">
              <a:latin typeface="宋体" panose="02010600030101010101" pitchFamily="2" charset="-122"/>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9139"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19140" name="Rectangle 3"/>
          <p:cNvSpPr>
            <a:spLocks noGrp="1"/>
          </p:cNvSpPr>
          <p:nvPr>
            <p:ph idx="1"/>
          </p:nvPr>
        </p:nvSpPr>
        <p:spPr>
          <a:xfrm>
            <a:off x="685800" y="914400"/>
            <a:ext cx="8077200" cy="5257800"/>
          </a:xfrm>
          <a:ln/>
        </p:spPr>
        <p:txBody>
          <a:bodyPr vert="horz" wrap="square" lIns="91440" tIns="45720" rIns="91440" bIns="45720" anchor="t" anchorCtr="0"/>
          <a:p>
            <a:pPr algn="just" eaLnBrk="1" hangingPunct="1">
              <a:lnSpc>
                <a:spcPct val="140000"/>
              </a:lnSpc>
              <a:buNone/>
            </a:pPr>
            <a:r>
              <a:rPr lang="en-US" altLang="zh-CN" dirty="0">
                <a:solidFill>
                  <a:srgbClr val="FF0000"/>
                </a:solidFill>
                <a:latin typeface="Arial" panose="020B0604020202020204" pitchFamily="34" charset="0"/>
              </a:rPr>
              <a:t>3.</a:t>
            </a:r>
            <a:r>
              <a:rPr lang="en-US" altLang="zh-CN" dirty="0">
                <a:solidFill>
                  <a:srgbClr val="FF0000"/>
                </a:solidFill>
                <a:latin typeface="宋体" panose="02010600030101010101" pitchFamily="2" charset="-122"/>
              </a:rPr>
              <a:t> </a:t>
            </a:r>
            <a:r>
              <a:rPr lang="zh-CN" altLang="en-US" dirty="0">
                <a:solidFill>
                  <a:srgbClr val="FF0000"/>
                </a:solidFill>
                <a:latin typeface="宋体" panose="02010600030101010101" pitchFamily="2" charset="-122"/>
              </a:rPr>
              <a:t>分布式结构的数据库系统</a:t>
            </a:r>
            <a:endParaRPr lang="zh-CN" altLang="en-US" dirty="0">
              <a:solidFill>
                <a:srgbClr val="FF0000"/>
              </a:solidFill>
              <a:latin typeface="宋体" panose="02010600030101010101" pitchFamily="2" charset="-122"/>
            </a:endParaRPr>
          </a:p>
          <a:p>
            <a:pPr algn="just" eaLnBrk="1" hangingPunct="1"/>
            <a:r>
              <a:rPr lang="zh-CN" altLang="en-US" dirty="0">
                <a:solidFill>
                  <a:schemeClr val="accent2"/>
                </a:solidFill>
                <a:latin typeface="宋体" panose="02010600030101010101" pitchFamily="2" charset="-122"/>
              </a:rPr>
              <a:t>数据库中的数据在</a:t>
            </a:r>
            <a:r>
              <a:rPr lang="zh-CN" altLang="en-US" u="sng" dirty="0">
                <a:solidFill>
                  <a:srgbClr val="FF0000"/>
                </a:solidFill>
                <a:latin typeface="宋体" panose="02010600030101010101" pitchFamily="2" charset="-122"/>
              </a:rPr>
              <a:t>逻辑上是一个整体</a:t>
            </a:r>
            <a:r>
              <a:rPr lang="zh-CN" altLang="en-US" dirty="0">
                <a:solidFill>
                  <a:schemeClr val="accent2"/>
                </a:solidFill>
                <a:latin typeface="宋体" panose="02010600030101010101" pitchFamily="2" charset="-122"/>
              </a:rPr>
              <a:t>，但</a:t>
            </a:r>
            <a:r>
              <a:rPr lang="zh-CN" altLang="en-US" u="sng" dirty="0">
                <a:solidFill>
                  <a:srgbClr val="FF0000"/>
                </a:solidFill>
                <a:latin typeface="宋体" panose="02010600030101010101" pitchFamily="2" charset="-122"/>
              </a:rPr>
              <a:t>物理地分布</a:t>
            </a:r>
            <a:r>
              <a:rPr lang="zh-CN" altLang="en-US" dirty="0">
                <a:solidFill>
                  <a:schemeClr val="accent2"/>
                </a:solidFill>
                <a:latin typeface="宋体" panose="02010600030101010101" pitchFamily="2" charset="-122"/>
              </a:rPr>
              <a:t>在计算机网络的不同结点上。</a:t>
            </a:r>
            <a:endParaRPr lang="zh-CN" altLang="en-US" dirty="0">
              <a:solidFill>
                <a:schemeClr val="accent2"/>
              </a:solidFill>
              <a:latin typeface="宋体" panose="02010600030101010101" pitchFamily="2" charset="-122"/>
            </a:endParaRPr>
          </a:p>
          <a:p>
            <a:pPr lvl="1" algn="just" eaLnBrk="1" hangingPunct="1">
              <a:lnSpc>
                <a:spcPct val="130000"/>
              </a:lnSpc>
            </a:pPr>
            <a:r>
              <a:rPr lang="zh-CN" altLang="en-US" dirty="0">
                <a:latin typeface="宋体" panose="02010600030101010101" pitchFamily="2" charset="-122"/>
              </a:rPr>
              <a:t>网络中的每个结点都可以独立处理本地数据库中的数据，执行局部应用</a:t>
            </a:r>
            <a:endParaRPr lang="zh-CN" altLang="en-US" dirty="0">
              <a:latin typeface="宋体" panose="02010600030101010101" pitchFamily="2" charset="-122"/>
            </a:endParaRPr>
          </a:p>
          <a:p>
            <a:pPr lvl="1" algn="just" eaLnBrk="1" hangingPunct="1">
              <a:lnSpc>
                <a:spcPct val="130000"/>
              </a:lnSpc>
            </a:pPr>
            <a:r>
              <a:rPr lang="zh-CN" altLang="en-US" dirty="0">
                <a:latin typeface="宋体" panose="02010600030101010101" pitchFamily="2" charset="-122"/>
              </a:rPr>
              <a:t>同时也可以同时存取和处理多个异地数据库中的数据，执行全局应用</a:t>
            </a:r>
            <a:endParaRPr lang="zh-CN" altLang="en-US" dirty="0">
              <a:latin typeface="宋体" panose="02010600030101010101" pitchFamily="2" charset="-122"/>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0163"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20164" name="Rectangle 3"/>
          <p:cNvSpPr>
            <a:spLocks noGrp="1"/>
          </p:cNvSpPr>
          <p:nvPr>
            <p:ph idx="1"/>
          </p:nvPr>
        </p:nvSpPr>
        <p:spPr>
          <a:xfrm>
            <a:off x="685800" y="914400"/>
            <a:ext cx="8077200" cy="5257800"/>
          </a:xfrm>
          <a:ln/>
        </p:spPr>
        <p:txBody>
          <a:bodyPr vert="horz" wrap="square" lIns="91440" tIns="45720" rIns="91440" bIns="45720" anchor="t" anchorCtr="0"/>
          <a:p>
            <a:pPr algn="just" eaLnBrk="1" hangingPunct="1">
              <a:lnSpc>
                <a:spcPct val="140000"/>
              </a:lnSpc>
              <a:buNone/>
            </a:pPr>
            <a:r>
              <a:rPr lang="zh-CN" altLang="en-US" dirty="0">
                <a:solidFill>
                  <a:srgbClr val="FF0000"/>
                </a:solidFill>
                <a:latin typeface="宋体" panose="02010600030101010101" pitchFamily="2" charset="-122"/>
              </a:rPr>
              <a:t>分布式结构的数据库系统</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续</a:t>
            </a:r>
            <a:r>
              <a:rPr lang="en-US" altLang="zh-CN" dirty="0">
                <a:solidFill>
                  <a:srgbClr val="FF0000"/>
                </a:solidFill>
                <a:latin typeface="宋体" panose="02010600030101010101" pitchFamily="2" charset="-122"/>
              </a:rPr>
              <a:t>)</a:t>
            </a:r>
            <a:endParaRPr lang="en-US" altLang="zh-CN" dirty="0">
              <a:solidFill>
                <a:srgbClr val="FF0000"/>
              </a:solidFill>
              <a:latin typeface="宋体" panose="02010600030101010101" pitchFamily="2" charset="-122"/>
            </a:endParaRPr>
          </a:p>
          <a:p>
            <a:pPr algn="just" eaLnBrk="1" hangingPunct="1"/>
            <a:r>
              <a:rPr lang="zh-CN" altLang="en-US" dirty="0">
                <a:latin typeface="宋体" panose="02010600030101010101" pitchFamily="2" charset="-122"/>
              </a:rPr>
              <a:t>优点</a:t>
            </a:r>
            <a:endParaRPr lang="zh-CN" altLang="en-US" dirty="0">
              <a:latin typeface="宋体" panose="02010600030101010101" pitchFamily="2" charset="-122"/>
            </a:endParaRPr>
          </a:p>
          <a:p>
            <a:pPr lvl="1" algn="just" eaLnBrk="1" hangingPunct="1"/>
            <a:r>
              <a:rPr lang="zh-CN" altLang="en-US" dirty="0">
                <a:latin typeface="宋体" panose="02010600030101010101" pitchFamily="2" charset="-122"/>
              </a:rPr>
              <a:t>适应了地理上分散的公司、团体和组织对于数据库应用的需求。</a:t>
            </a:r>
            <a:endParaRPr lang="zh-CN" altLang="en-US" dirty="0">
              <a:latin typeface="宋体" panose="02010600030101010101" pitchFamily="2" charset="-122"/>
            </a:endParaRPr>
          </a:p>
          <a:p>
            <a:pPr algn="just" eaLnBrk="1" hangingPunct="1"/>
            <a:r>
              <a:rPr lang="zh-CN" altLang="en-US" dirty="0">
                <a:latin typeface="宋体" panose="02010600030101010101" pitchFamily="2" charset="-122"/>
              </a:rPr>
              <a:t>缺点</a:t>
            </a:r>
            <a:endParaRPr lang="zh-CN" altLang="en-US" dirty="0">
              <a:latin typeface="宋体" panose="02010600030101010101" pitchFamily="2" charset="-122"/>
            </a:endParaRPr>
          </a:p>
          <a:p>
            <a:pPr lvl="1" algn="just" eaLnBrk="1" hangingPunct="1"/>
            <a:r>
              <a:rPr lang="zh-CN" altLang="en-US" dirty="0">
                <a:latin typeface="宋体" panose="02010600030101010101" pitchFamily="2" charset="-122"/>
              </a:rPr>
              <a:t>数据的分布存放给数据的处理、管理与维护带来困难。</a:t>
            </a:r>
            <a:endParaRPr lang="zh-CN" altLang="en-US" dirty="0">
              <a:latin typeface="宋体" panose="02010600030101010101" pitchFamily="2" charset="-122"/>
            </a:endParaRPr>
          </a:p>
          <a:p>
            <a:pPr lvl="1" algn="just" eaLnBrk="1" hangingPunct="1"/>
            <a:r>
              <a:rPr lang="zh-CN" altLang="en-US" dirty="0">
                <a:latin typeface="宋体" panose="02010600030101010101" pitchFamily="2" charset="-122"/>
              </a:rPr>
              <a:t>当用户需要经常访问远程数据时，系统效率会明显地受到网络传输的制约</a:t>
            </a:r>
            <a:endParaRPr lang="zh-CN" altLang="en-US" dirty="0">
              <a:latin typeface="宋体" panose="02010600030101010101" pitchFamily="2" charset="-122"/>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1187"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21188" name="Rectangle 3"/>
          <p:cNvSpPr>
            <a:spLocks noGrp="1"/>
          </p:cNvSpPr>
          <p:nvPr>
            <p:ph idx="1"/>
          </p:nvPr>
        </p:nvSpPr>
        <p:spPr>
          <a:xfrm>
            <a:off x="685800" y="914400"/>
            <a:ext cx="8077200" cy="5257800"/>
          </a:xfrm>
          <a:ln/>
        </p:spPr>
        <p:txBody>
          <a:bodyPr vert="horz" wrap="square" lIns="91440" tIns="45720" rIns="91440" bIns="45720" anchor="t" anchorCtr="0"/>
          <a:p>
            <a:pPr algn="just" eaLnBrk="1" hangingPunct="1">
              <a:lnSpc>
                <a:spcPct val="140000"/>
              </a:lnSpc>
              <a:buNone/>
            </a:pPr>
            <a:r>
              <a:rPr lang="en-US" altLang="zh-CN" dirty="0">
                <a:solidFill>
                  <a:srgbClr val="FF0000"/>
                </a:solidFill>
                <a:latin typeface="Arial" panose="020B0604020202020204" pitchFamily="34" charset="0"/>
              </a:rPr>
              <a:t>3.</a:t>
            </a:r>
            <a:r>
              <a:rPr lang="en-US" altLang="zh-CN" dirty="0">
                <a:solidFill>
                  <a:srgbClr val="FF0000"/>
                </a:solidFill>
                <a:latin typeface="宋体" panose="02010600030101010101" pitchFamily="2" charset="-122"/>
              </a:rPr>
              <a:t> </a:t>
            </a:r>
            <a:r>
              <a:rPr lang="zh-CN" altLang="en-US" dirty="0">
                <a:solidFill>
                  <a:srgbClr val="FF0000"/>
                </a:solidFill>
                <a:latin typeface="宋体" panose="02010600030101010101" pitchFamily="2" charset="-122"/>
              </a:rPr>
              <a:t>客户</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服务器</a:t>
            </a:r>
            <a:r>
              <a:rPr lang="en-US" altLang="zh-CN" dirty="0">
                <a:solidFill>
                  <a:srgbClr val="FF0000"/>
                </a:solidFill>
                <a:latin typeface="宋体" panose="02010600030101010101" pitchFamily="2" charset="-122"/>
              </a:rPr>
              <a:t>(C/S)</a:t>
            </a:r>
            <a:r>
              <a:rPr lang="zh-CN" altLang="en-US" dirty="0">
                <a:solidFill>
                  <a:srgbClr val="FF0000"/>
                </a:solidFill>
                <a:latin typeface="宋体" panose="02010600030101010101" pitchFamily="2" charset="-122"/>
              </a:rPr>
              <a:t>结构的数据库系统</a:t>
            </a:r>
            <a:endParaRPr lang="zh-CN" altLang="en-US" dirty="0">
              <a:solidFill>
                <a:srgbClr val="FF0000"/>
              </a:solidFill>
              <a:latin typeface="宋体" panose="02010600030101010101" pitchFamily="2" charset="-122"/>
            </a:endParaRPr>
          </a:p>
          <a:p>
            <a:pPr algn="just" eaLnBrk="1" hangingPunct="1">
              <a:lnSpc>
                <a:spcPct val="120000"/>
              </a:lnSpc>
            </a:pPr>
            <a:r>
              <a:rPr lang="zh-CN" altLang="en-US" dirty="0">
                <a:solidFill>
                  <a:schemeClr val="accent2"/>
                </a:solidFill>
                <a:latin typeface="宋体" panose="02010600030101010101" pitchFamily="2" charset="-122"/>
              </a:rPr>
              <a:t>把</a:t>
            </a:r>
            <a:r>
              <a:rPr lang="en-US" altLang="zh-CN" dirty="0">
                <a:solidFill>
                  <a:schemeClr val="accent2"/>
                </a:solidFill>
                <a:latin typeface="宋体" panose="02010600030101010101" pitchFamily="2" charset="-122"/>
              </a:rPr>
              <a:t>DBMS</a:t>
            </a:r>
            <a:r>
              <a:rPr lang="zh-CN" altLang="en-US" dirty="0">
                <a:solidFill>
                  <a:schemeClr val="accent2"/>
                </a:solidFill>
                <a:latin typeface="宋体" panose="02010600030101010101" pitchFamily="2" charset="-122"/>
              </a:rPr>
              <a:t>功能和应用分开</a:t>
            </a:r>
            <a:endParaRPr lang="zh-CN" altLang="en-US" dirty="0">
              <a:solidFill>
                <a:schemeClr val="accent2"/>
              </a:solidFill>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网络中某个（些）结点上的计算机专门用于执行</a:t>
            </a:r>
            <a:r>
              <a:rPr lang="en-US" altLang="zh-CN" dirty="0">
                <a:latin typeface="宋体" panose="02010600030101010101" pitchFamily="2" charset="-122"/>
              </a:rPr>
              <a:t>DBMS</a:t>
            </a:r>
            <a:r>
              <a:rPr lang="zh-CN" altLang="en-US" dirty="0">
                <a:latin typeface="宋体" panose="02010600030101010101" pitchFamily="2" charset="-122"/>
              </a:rPr>
              <a:t>功能，称为数据库服务器，简称服务器</a:t>
            </a:r>
            <a:endParaRPr lang="zh-CN" altLang="en-US"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其他结点上的计算机安装</a:t>
            </a:r>
            <a:r>
              <a:rPr lang="en-US" altLang="zh-CN" dirty="0">
                <a:latin typeface="宋体" panose="02010600030101010101" pitchFamily="2" charset="-122"/>
              </a:rPr>
              <a:t>DBMS</a:t>
            </a:r>
            <a:r>
              <a:rPr lang="zh-CN" altLang="en-US" dirty="0">
                <a:latin typeface="宋体" panose="02010600030101010101" pitchFamily="2" charset="-122"/>
              </a:rPr>
              <a:t>的外围应用开发工具，用户的应用系统，称为客户机</a:t>
            </a:r>
            <a:endParaRPr lang="zh-CN" altLang="en-US" dirty="0">
              <a:latin typeface="宋体" panose="02010600030101010101" pitchFamily="2" charset="-122"/>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2211"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22212" name="Rectangle 3"/>
          <p:cNvSpPr>
            <a:spLocks noGrp="1"/>
          </p:cNvSpPr>
          <p:nvPr>
            <p:ph idx="1"/>
          </p:nvPr>
        </p:nvSpPr>
        <p:spPr>
          <a:xfrm>
            <a:off x="685800" y="914400"/>
            <a:ext cx="8077200" cy="5257800"/>
          </a:xfrm>
          <a:ln/>
        </p:spPr>
        <p:txBody>
          <a:bodyPr vert="horz" wrap="square" lIns="91440" tIns="45720" rIns="91440" bIns="45720" anchor="t" anchorCtr="0"/>
          <a:p>
            <a:pPr algn="just" eaLnBrk="1" hangingPunct="1">
              <a:lnSpc>
                <a:spcPct val="140000"/>
              </a:lnSpc>
              <a:buNone/>
            </a:pPr>
            <a:r>
              <a:rPr lang="zh-CN" altLang="en-US" dirty="0">
                <a:solidFill>
                  <a:srgbClr val="FF0000"/>
                </a:solidFill>
                <a:latin typeface="宋体" panose="02010600030101010101" pitchFamily="2" charset="-122"/>
              </a:rPr>
              <a:t>客户</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服务器</a:t>
            </a:r>
            <a:r>
              <a:rPr lang="en-US" altLang="zh-CN" dirty="0">
                <a:solidFill>
                  <a:srgbClr val="FF0000"/>
                </a:solidFill>
                <a:latin typeface="宋体" panose="02010600030101010101" pitchFamily="2" charset="-122"/>
              </a:rPr>
              <a:t>(C/S)</a:t>
            </a:r>
            <a:r>
              <a:rPr lang="zh-CN" altLang="en-US" dirty="0">
                <a:solidFill>
                  <a:srgbClr val="FF0000"/>
                </a:solidFill>
                <a:latin typeface="宋体" panose="02010600030101010101" pitchFamily="2" charset="-122"/>
              </a:rPr>
              <a:t>结构的数据库系统</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续</a:t>
            </a:r>
            <a:r>
              <a:rPr lang="en-US" altLang="zh-CN" dirty="0">
                <a:solidFill>
                  <a:srgbClr val="FF0000"/>
                </a:solidFill>
                <a:latin typeface="宋体" panose="02010600030101010101" pitchFamily="2" charset="-122"/>
              </a:rPr>
              <a:t>)</a:t>
            </a:r>
            <a:endParaRPr lang="en-US" altLang="zh-CN" dirty="0">
              <a:solidFill>
                <a:srgbClr val="FF0000"/>
              </a:solidFill>
              <a:latin typeface="宋体" panose="02010600030101010101" pitchFamily="2" charset="-122"/>
            </a:endParaRPr>
          </a:p>
          <a:p>
            <a:pPr algn="just" eaLnBrk="1" hangingPunct="1">
              <a:lnSpc>
                <a:spcPct val="120000"/>
              </a:lnSpc>
            </a:pPr>
            <a:r>
              <a:rPr lang="zh-CN" altLang="en-US" dirty="0">
                <a:solidFill>
                  <a:schemeClr val="accent2"/>
                </a:solidFill>
                <a:latin typeface="宋体" panose="02010600030101010101" pitchFamily="2" charset="-122"/>
              </a:rPr>
              <a:t>客户</a:t>
            </a:r>
            <a:r>
              <a:rPr lang="en-US" altLang="zh-CN" dirty="0">
                <a:solidFill>
                  <a:schemeClr val="accent2"/>
                </a:solidFill>
                <a:latin typeface="宋体" panose="02010600030101010101" pitchFamily="2" charset="-122"/>
              </a:rPr>
              <a:t>/</a:t>
            </a:r>
            <a:r>
              <a:rPr lang="zh-CN" altLang="en-US" dirty="0">
                <a:solidFill>
                  <a:schemeClr val="accent2"/>
                </a:solidFill>
                <a:latin typeface="宋体" panose="02010600030101010101" pitchFamily="2" charset="-122"/>
              </a:rPr>
              <a:t>服务器数据库系统的种类</a:t>
            </a:r>
            <a:endParaRPr lang="zh-CN" altLang="en-US" dirty="0">
              <a:solidFill>
                <a:schemeClr val="accent2"/>
              </a:solidFill>
              <a:latin typeface="宋体" panose="02010600030101010101" pitchFamily="2" charset="-122"/>
            </a:endParaRPr>
          </a:p>
          <a:p>
            <a:pPr lvl="1" algn="just" eaLnBrk="1" hangingPunct="1">
              <a:lnSpc>
                <a:spcPct val="120000"/>
              </a:lnSpc>
            </a:pPr>
            <a:r>
              <a:rPr lang="zh-CN" altLang="en-US" sz="3200" dirty="0">
                <a:latin typeface="宋体" panose="02010600030101010101" pitchFamily="2" charset="-122"/>
              </a:rPr>
              <a:t>集中的服务器结构</a:t>
            </a:r>
            <a:endParaRPr lang="zh-CN" altLang="en-US" sz="3200" dirty="0">
              <a:latin typeface="宋体" panose="02010600030101010101" pitchFamily="2" charset="-122"/>
            </a:endParaRPr>
          </a:p>
          <a:p>
            <a:pPr lvl="2" algn="just" eaLnBrk="1" hangingPunct="1">
              <a:lnSpc>
                <a:spcPct val="130000"/>
              </a:lnSpc>
            </a:pPr>
            <a:r>
              <a:rPr lang="zh-CN" altLang="en-US" dirty="0">
                <a:latin typeface="宋体" panose="02010600030101010101" pitchFamily="2" charset="-122"/>
              </a:rPr>
              <a:t>一台数据库服务器，多台客户机</a:t>
            </a:r>
            <a:endParaRPr lang="zh-CN" altLang="en-US" dirty="0">
              <a:latin typeface="宋体" panose="02010600030101010101" pitchFamily="2" charset="-122"/>
            </a:endParaRPr>
          </a:p>
          <a:p>
            <a:pPr lvl="1" algn="just" eaLnBrk="1" hangingPunct="1"/>
            <a:r>
              <a:rPr lang="zh-CN" altLang="en-US" sz="3200" dirty="0">
                <a:latin typeface="宋体" panose="02010600030101010101" pitchFamily="2" charset="-122"/>
              </a:rPr>
              <a:t>分布的服务器结构</a:t>
            </a:r>
            <a:endParaRPr lang="zh-CN" altLang="en-US" sz="3200" dirty="0">
              <a:latin typeface="宋体" panose="02010600030101010101" pitchFamily="2" charset="-122"/>
            </a:endParaRPr>
          </a:p>
          <a:p>
            <a:pPr lvl="2" algn="just" eaLnBrk="1" hangingPunct="1">
              <a:lnSpc>
                <a:spcPct val="150000"/>
              </a:lnSpc>
            </a:pPr>
            <a:r>
              <a:rPr lang="zh-CN" altLang="en-US" dirty="0">
                <a:latin typeface="宋体" panose="02010600030101010101" pitchFamily="2" charset="-122"/>
                <a:ea typeface="宋体" panose="02010600030101010101" pitchFamily="2" charset="-122"/>
              </a:rPr>
              <a:t>在网络中有多台数据库服务器</a:t>
            </a:r>
            <a:endParaRPr lang="zh-CN" altLang="en-US" dirty="0">
              <a:latin typeface="宋体" panose="02010600030101010101" pitchFamily="2" charset="-122"/>
              <a:ea typeface="宋体" panose="02010600030101010101" pitchFamily="2" charset="-122"/>
            </a:endParaRPr>
          </a:p>
          <a:p>
            <a:pPr lvl="2" algn="just" eaLnBrk="1" hangingPunct="1">
              <a:lnSpc>
                <a:spcPct val="150000"/>
              </a:lnSpc>
            </a:pPr>
            <a:r>
              <a:rPr lang="zh-CN" altLang="en-US" dirty="0">
                <a:latin typeface="宋体" panose="02010600030101010101" pitchFamily="2" charset="-122"/>
                <a:ea typeface="宋体" panose="02010600030101010101" pitchFamily="2" charset="-122"/>
              </a:rPr>
              <a:t>分布的服务器结构是客户／服务器与分布式数据库的结合</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3235"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23236" name="Rectangle 3"/>
          <p:cNvSpPr>
            <a:spLocks noGrp="1"/>
          </p:cNvSpPr>
          <p:nvPr>
            <p:ph idx="1"/>
          </p:nvPr>
        </p:nvSpPr>
        <p:spPr>
          <a:xfrm>
            <a:off x="279400" y="787400"/>
            <a:ext cx="8636000" cy="5638800"/>
          </a:xfrm>
          <a:ln/>
        </p:spPr>
        <p:txBody>
          <a:bodyPr vert="horz" wrap="square" lIns="91440" tIns="45720" rIns="91440" bIns="45720" anchor="t" anchorCtr="0"/>
          <a:p>
            <a:pPr algn="just" eaLnBrk="1" hangingPunct="1">
              <a:lnSpc>
                <a:spcPct val="140000"/>
              </a:lnSpc>
              <a:buNone/>
            </a:pPr>
            <a:r>
              <a:rPr lang="zh-CN" altLang="en-US" sz="2800" dirty="0">
                <a:solidFill>
                  <a:srgbClr val="FF0000"/>
                </a:solidFill>
                <a:latin typeface="宋体" panose="02010600030101010101" pitchFamily="2" charset="-122"/>
              </a:rPr>
              <a:t>客户</a:t>
            </a:r>
            <a:r>
              <a:rPr lang="en-US" altLang="zh-CN" sz="2800" dirty="0">
                <a:solidFill>
                  <a:srgbClr val="FF0000"/>
                </a:solidFill>
                <a:latin typeface="宋体" panose="02010600030101010101" pitchFamily="2" charset="-122"/>
              </a:rPr>
              <a:t>/</a:t>
            </a:r>
            <a:r>
              <a:rPr lang="zh-CN" altLang="en-US" sz="2800" dirty="0">
                <a:solidFill>
                  <a:srgbClr val="FF0000"/>
                </a:solidFill>
                <a:latin typeface="宋体" panose="02010600030101010101" pitchFamily="2" charset="-122"/>
              </a:rPr>
              <a:t>服务器</a:t>
            </a:r>
            <a:r>
              <a:rPr lang="en-US" altLang="zh-CN" sz="2800" dirty="0">
                <a:solidFill>
                  <a:srgbClr val="FF0000"/>
                </a:solidFill>
                <a:latin typeface="宋体" panose="02010600030101010101" pitchFamily="2" charset="-122"/>
              </a:rPr>
              <a:t>(C/S)</a:t>
            </a:r>
            <a:r>
              <a:rPr lang="zh-CN" altLang="en-US" sz="2800" dirty="0">
                <a:solidFill>
                  <a:srgbClr val="FF0000"/>
                </a:solidFill>
                <a:latin typeface="宋体" panose="02010600030101010101" pitchFamily="2" charset="-122"/>
              </a:rPr>
              <a:t>结构的数据库系统</a:t>
            </a:r>
            <a:r>
              <a:rPr lang="en-US" altLang="zh-CN" sz="2800" dirty="0">
                <a:solidFill>
                  <a:srgbClr val="FF0000"/>
                </a:solidFill>
                <a:latin typeface="宋体" panose="02010600030101010101" pitchFamily="2" charset="-122"/>
              </a:rPr>
              <a:t>(</a:t>
            </a:r>
            <a:r>
              <a:rPr lang="zh-CN" altLang="en-US" sz="2800" dirty="0">
                <a:solidFill>
                  <a:srgbClr val="FF0000"/>
                </a:solidFill>
                <a:latin typeface="宋体" panose="02010600030101010101" pitchFamily="2" charset="-122"/>
              </a:rPr>
              <a:t>续</a:t>
            </a:r>
            <a:r>
              <a:rPr lang="en-US" altLang="zh-CN" sz="2800" dirty="0">
                <a:solidFill>
                  <a:srgbClr val="FF0000"/>
                </a:solidFill>
                <a:latin typeface="宋体" panose="02010600030101010101" pitchFamily="2" charset="-122"/>
              </a:rPr>
              <a:t>)</a:t>
            </a:r>
            <a:endParaRPr lang="en-US" altLang="zh-CN" sz="2800" dirty="0">
              <a:solidFill>
                <a:srgbClr val="FF0000"/>
              </a:solidFill>
              <a:latin typeface="宋体" panose="02010600030101010101" pitchFamily="2" charset="-122"/>
            </a:endParaRPr>
          </a:p>
          <a:p>
            <a:pPr algn="just" eaLnBrk="1" hangingPunct="1">
              <a:lnSpc>
                <a:spcPct val="120000"/>
              </a:lnSpc>
            </a:pPr>
            <a:r>
              <a:rPr lang="zh-CN" altLang="en-US" sz="2800" dirty="0">
                <a:solidFill>
                  <a:schemeClr val="accent2"/>
                </a:solidFill>
                <a:latin typeface="宋体" panose="02010600030101010101" pitchFamily="2" charset="-122"/>
              </a:rPr>
              <a:t>客户</a:t>
            </a:r>
            <a:r>
              <a:rPr lang="en-US" altLang="zh-CN" sz="2800" dirty="0">
                <a:solidFill>
                  <a:schemeClr val="accent2"/>
                </a:solidFill>
                <a:latin typeface="宋体" panose="02010600030101010101" pitchFamily="2" charset="-122"/>
              </a:rPr>
              <a:t>/</a:t>
            </a:r>
            <a:r>
              <a:rPr lang="zh-CN" altLang="en-US" sz="2800" dirty="0">
                <a:solidFill>
                  <a:schemeClr val="accent2"/>
                </a:solidFill>
                <a:latin typeface="宋体" panose="02010600030101010101" pitchFamily="2" charset="-122"/>
              </a:rPr>
              <a:t>服务器结构的优点</a:t>
            </a:r>
            <a:endParaRPr lang="zh-CN" altLang="en-US" sz="2800" dirty="0">
              <a:solidFill>
                <a:schemeClr val="accent2"/>
              </a:solidFill>
              <a:latin typeface="宋体" panose="02010600030101010101" pitchFamily="2" charset="-122"/>
            </a:endParaRPr>
          </a:p>
          <a:p>
            <a:pPr lvl="1" algn="just" eaLnBrk="1" hangingPunct="1">
              <a:lnSpc>
                <a:spcPct val="150000"/>
              </a:lnSpc>
            </a:pPr>
            <a:r>
              <a:rPr lang="zh-CN" altLang="en-US" sz="2400" dirty="0">
                <a:latin typeface="宋体" panose="02010600030101010101" pitchFamily="2" charset="-122"/>
              </a:rPr>
              <a:t>客户端的用户请求被传送到数据库服务器，数据库服务器进行处理后，只将结果返回给用户，从而显著减少了数据传输量</a:t>
            </a:r>
            <a:endParaRPr lang="zh-CN" altLang="en-US" sz="2400" dirty="0">
              <a:latin typeface="宋体" panose="02010600030101010101" pitchFamily="2" charset="-122"/>
            </a:endParaRPr>
          </a:p>
          <a:p>
            <a:pPr lvl="1" algn="just" eaLnBrk="1" hangingPunct="1">
              <a:lnSpc>
                <a:spcPct val="150000"/>
              </a:lnSpc>
            </a:pPr>
            <a:r>
              <a:rPr lang="zh-CN" altLang="en-US" sz="2400" dirty="0">
                <a:latin typeface="宋体" panose="02010600030101010101" pitchFamily="2" charset="-122"/>
              </a:rPr>
              <a:t>数据库更加开放</a:t>
            </a:r>
            <a:endParaRPr lang="zh-CN" altLang="en-US" sz="2400" dirty="0">
              <a:latin typeface="宋体" panose="02010600030101010101" pitchFamily="2" charset="-122"/>
            </a:endParaRPr>
          </a:p>
          <a:p>
            <a:pPr lvl="2" algn="just" eaLnBrk="1" hangingPunct="1">
              <a:lnSpc>
                <a:spcPct val="150000"/>
              </a:lnSpc>
            </a:pPr>
            <a:r>
              <a:rPr lang="zh-CN" altLang="en-US" sz="2000" dirty="0">
                <a:latin typeface="宋体" panose="02010600030101010101" pitchFamily="2" charset="-122"/>
                <a:ea typeface="宋体" panose="02010600030101010101" pitchFamily="2" charset="-122"/>
              </a:rPr>
              <a:t>客户与服务器一般都能在多种不同的硬件和软件平台上运行</a:t>
            </a:r>
            <a:endParaRPr lang="zh-CN" altLang="en-US" sz="2000" dirty="0">
              <a:latin typeface="宋体" panose="02010600030101010101" pitchFamily="2" charset="-122"/>
              <a:ea typeface="宋体" panose="02010600030101010101" pitchFamily="2" charset="-122"/>
            </a:endParaRPr>
          </a:p>
          <a:p>
            <a:pPr lvl="2" algn="just" eaLnBrk="1" hangingPunct="1">
              <a:lnSpc>
                <a:spcPct val="150000"/>
              </a:lnSpc>
            </a:pPr>
            <a:r>
              <a:rPr lang="zh-CN" altLang="en-US" sz="2000" dirty="0">
                <a:latin typeface="宋体" panose="02010600030101010101" pitchFamily="2" charset="-122"/>
                <a:ea typeface="宋体" panose="02010600030101010101" pitchFamily="2" charset="-122"/>
              </a:rPr>
              <a:t>可以使用不同厂商的数据库应用开发工具</a:t>
            </a:r>
            <a:endParaRPr lang="zh-CN" altLang="en-US" sz="2000" dirty="0">
              <a:latin typeface="宋体" panose="02010600030101010101" pitchFamily="2" charset="-122"/>
              <a:ea typeface="宋体" panose="02010600030101010101" pitchFamily="2" charset="-122"/>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4259"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24260" name="Rectangle 3"/>
          <p:cNvSpPr>
            <a:spLocks noGrp="1"/>
          </p:cNvSpPr>
          <p:nvPr>
            <p:ph idx="1"/>
          </p:nvPr>
        </p:nvSpPr>
        <p:spPr>
          <a:xfrm>
            <a:off x="279400" y="787400"/>
            <a:ext cx="8636000" cy="5638800"/>
          </a:xfrm>
          <a:ln/>
        </p:spPr>
        <p:txBody>
          <a:bodyPr vert="horz" wrap="square" lIns="91440" tIns="45720" rIns="91440" bIns="45720" anchor="t" anchorCtr="0"/>
          <a:p>
            <a:pPr algn="just" eaLnBrk="1" hangingPunct="1">
              <a:lnSpc>
                <a:spcPct val="140000"/>
              </a:lnSpc>
              <a:buNone/>
            </a:pPr>
            <a:r>
              <a:rPr lang="zh-CN" altLang="en-US" sz="2800" dirty="0">
                <a:solidFill>
                  <a:srgbClr val="FF0000"/>
                </a:solidFill>
                <a:latin typeface="宋体" panose="02010600030101010101" pitchFamily="2" charset="-122"/>
              </a:rPr>
              <a:t>客户</a:t>
            </a:r>
            <a:r>
              <a:rPr lang="en-US" altLang="zh-CN" sz="2800" dirty="0">
                <a:solidFill>
                  <a:srgbClr val="FF0000"/>
                </a:solidFill>
                <a:latin typeface="宋体" panose="02010600030101010101" pitchFamily="2" charset="-122"/>
              </a:rPr>
              <a:t>/</a:t>
            </a:r>
            <a:r>
              <a:rPr lang="zh-CN" altLang="en-US" sz="2800" dirty="0">
                <a:solidFill>
                  <a:srgbClr val="FF0000"/>
                </a:solidFill>
                <a:latin typeface="宋体" panose="02010600030101010101" pitchFamily="2" charset="-122"/>
              </a:rPr>
              <a:t>服务器</a:t>
            </a:r>
            <a:r>
              <a:rPr lang="en-US" altLang="zh-CN" sz="2800" dirty="0">
                <a:solidFill>
                  <a:srgbClr val="FF0000"/>
                </a:solidFill>
                <a:latin typeface="宋体" panose="02010600030101010101" pitchFamily="2" charset="-122"/>
              </a:rPr>
              <a:t>(C/S)</a:t>
            </a:r>
            <a:r>
              <a:rPr lang="zh-CN" altLang="en-US" sz="2800" dirty="0">
                <a:solidFill>
                  <a:srgbClr val="FF0000"/>
                </a:solidFill>
                <a:latin typeface="宋体" panose="02010600030101010101" pitchFamily="2" charset="-122"/>
              </a:rPr>
              <a:t>结构的数据库系统</a:t>
            </a:r>
            <a:r>
              <a:rPr lang="en-US" altLang="zh-CN" sz="2800" dirty="0">
                <a:solidFill>
                  <a:srgbClr val="FF0000"/>
                </a:solidFill>
                <a:latin typeface="宋体" panose="02010600030101010101" pitchFamily="2" charset="-122"/>
              </a:rPr>
              <a:t>(</a:t>
            </a:r>
            <a:r>
              <a:rPr lang="zh-CN" altLang="en-US" sz="2800" dirty="0">
                <a:solidFill>
                  <a:srgbClr val="FF0000"/>
                </a:solidFill>
                <a:latin typeface="宋体" panose="02010600030101010101" pitchFamily="2" charset="-122"/>
              </a:rPr>
              <a:t>续</a:t>
            </a:r>
            <a:r>
              <a:rPr lang="en-US" altLang="zh-CN" sz="2800" dirty="0">
                <a:solidFill>
                  <a:srgbClr val="FF0000"/>
                </a:solidFill>
                <a:latin typeface="宋体" panose="02010600030101010101" pitchFamily="2" charset="-122"/>
              </a:rPr>
              <a:t>)</a:t>
            </a:r>
            <a:endParaRPr lang="en-US" altLang="zh-CN" sz="2800" dirty="0">
              <a:solidFill>
                <a:srgbClr val="FF0000"/>
              </a:solidFill>
              <a:latin typeface="宋体" panose="02010600030101010101" pitchFamily="2" charset="-122"/>
            </a:endParaRPr>
          </a:p>
          <a:p>
            <a:pPr algn="just" eaLnBrk="1" hangingPunct="1">
              <a:lnSpc>
                <a:spcPct val="120000"/>
              </a:lnSpc>
            </a:pPr>
            <a:r>
              <a:rPr lang="zh-CN" altLang="en-US" sz="2800" dirty="0">
                <a:solidFill>
                  <a:schemeClr val="accent2"/>
                </a:solidFill>
                <a:latin typeface="宋体" panose="02010600030101010101" pitchFamily="2" charset="-122"/>
              </a:rPr>
              <a:t>客户</a:t>
            </a:r>
            <a:r>
              <a:rPr lang="en-US" altLang="zh-CN" sz="2800" dirty="0">
                <a:solidFill>
                  <a:schemeClr val="accent2"/>
                </a:solidFill>
                <a:latin typeface="宋体" panose="02010600030101010101" pitchFamily="2" charset="-122"/>
              </a:rPr>
              <a:t>/</a:t>
            </a:r>
            <a:r>
              <a:rPr lang="zh-CN" altLang="en-US" sz="2800" dirty="0">
                <a:solidFill>
                  <a:schemeClr val="accent2"/>
                </a:solidFill>
                <a:latin typeface="宋体" panose="02010600030101010101" pitchFamily="2" charset="-122"/>
              </a:rPr>
              <a:t>服务器结构的缺点</a:t>
            </a:r>
            <a:endParaRPr lang="zh-CN" altLang="en-US" sz="2800" dirty="0">
              <a:solidFill>
                <a:schemeClr val="accent2"/>
              </a:solidFill>
              <a:latin typeface="宋体" panose="02010600030101010101" pitchFamily="2" charset="-122"/>
            </a:endParaRPr>
          </a:p>
          <a:p>
            <a:pPr lvl="1" algn="just" eaLnBrk="1" hangingPunct="1">
              <a:lnSpc>
                <a:spcPct val="120000"/>
              </a:lnSpc>
              <a:buNone/>
            </a:pPr>
            <a:r>
              <a:rPr lang="zh-CN" altLang="en-US" sz="2400" b="0" dirty="0">
                <a:solidFill>
                  <a:srgbClr val="FF0000"/>
                </a:solidFill>
                <a:latin typeface="Courier New" panose="02070309020205020404" pitchFamily="49" charset="0"/>
              </a:rPr>
              <a:t>“</a:t>
            </a:r>
            <a:r>
              <a:rPr lang="zh-CN" altLang="en-US" sz="2400" b="0" dirty="0">
                <a:solidFill>
                  <a:srgbClr val="FF0000"/>
                </a:solidFill>
                <a:latin typeface="宋体" panose="02010600030101010101" pitchFamily="2" charset="-122"/>
              </a:rPr>
              <a:t>胖客户</a:t>
            </a:r>
            <a:r>
              <a:rPr lang="zh-CN" altLang="en-US" sz="2400" b="0" dirty="0">
                <a:solidFill>
                  <a:srgbClr val="FF0000"/>
                </a:solidFill>
                <a:latin typeface="Courier New" panose="02070309020205020404" pitchFamily="49" charset="0"/>
              </a:rPr>
              <a:t>”</a:t>
            </a:r>
            <a:r>
              <a:rPr lang="zh-CN" altLang="en-US" sz="2400" b="0" dirty="0">
                <a:solidFill>
                  <a:srgbClr val="FF0000"/>
                </a:solidFill>
                <a:latin typeface="宋体" panose="02010600030101010101" pitchFamily="2" charset="-122"/>
              </a:rPr>
              <a:t>问题：</a:t>
            </a:r>
            <a:endParaRPr lang="zh-CN" altLang="en-US" sz="2000" b="0" dirty="0">
              <a:solidFill>
                <a:srgbClr val="FF0000"/>
              </a:solidFill>
              <a:latin typeface="宋体" panose="02010600030101010101" pitchFamily="2" charset="-122"/>
            </a:endParaRPr>
          </a:p>
          <a:p>
            <a:pPr lvl="1" algn="just" eaLnBrk="1" hangingPunct="1">
              <a:lnSpc>
                <a:spcPct val="120000"/>
              </a:lnSpc>
            </a:pPr>
            <a:r>
              <a:rPr lang="zh-CN" altLang="en-US" sz="2400" b="0" dirty="0">
                <a:latin typeface="宋体" panose="02010600030101010101" pitchFamily="2" charset="-122"/>
              </a:rPr>
              <a:t>系统安装复杂，工作量大。</a:t>
            </a:r>
            <a:endParaRPr lang="zh-CN" altLang="en-US" sz="2400" b="0" dirty="0">
              <a:latin typeface="宋体" panose="02010600030101010101" pitchFamily="2" charset="-122"/>
            </a:endParaRPr>
          </a:p>
          <a:p>
            <a:pPr lvl="1" algn="just" eaLnBrk="1" hangingPunct="1">
              <a:lnSpc>
                <a:spcPct val="120000"/>
              </a:lnSpc>
            </a:pPr>
            <a:r>
              <a:rPr lang="zh-CN" altLang="en-US" sz="2400" b="0" dirty="0">
                <a:latin typeface="宋体" panose="02010600030101010101" pitchFamily="2" charset="-122"/>
              </a:rPr>
              <a:t>应用维护困难，难于保密，造成安全性差。</a:t>
            </a:r>
            <a:endParaRPr lang="zh-CN" altLang="en-US" sz="2400" b="0" dirty="0">
              <a:latin typeface="宋体" panose="02010600030101010101" pitchFamily="2" charset="-122"/>
            </a:endParaRPr>
          </a:p>
          <a:p>
            <a:pPr lvl="1" algn="just" eaLnBrk="1" hangingPunct="1">
              <a:lnSpc>
                <a:spcPct val="120000"/>
              </a:lnSpc>
            </a:pPr>
            <a:r>
              <a:rPr lang="zh-CN" altLang="en-US" sz="2400" b="0" dirty="0">
                <a:latin typeface="宋体" panose="02010600030101010101" pitchFamily="2" charset="-122"/>
              </a:rPr>
              <a:t>相同的应用程序要重复安装在每一台客户机上，从系统总体来看，大大浪费了系统资源。</a:t>
            </a:r>
            <a:endParaRPr lang="zh-CN" altLang="en-US" sz="2400" b="0" dirty="0">
              <a:latin typeface="宋体" panose="02010600030101010101" pitchFamily="2" charset="-122"/>
            </a:endParaRPr>
          </a:p>
          <a:p>
            <a:pPr lvl="1" algn="just" eaLnBrk="1" hangingPunct="1">
              <a:lnSpc>
                <a:spcPct val="120000"/>
              </a:lnSpc>
              <a:buNone/>
            </a:pPr>
            <a:r>
              <a:rPr lang="zh-CN" altLang="en-US" sz="2000" b="0" dirty="0">
                <a:latin typeface="宋体" panose="02010600030101010101" pitchFamily="2" charset="-122"/>
              </a:rPr>
              <a:t>　</a:t>
            </a:r>
            <a:r>
              <a:rPr lang="zh-CN" altLang="en-US" sz="2000" b="0" dirty="0">
                <a:latin typeface="楷体_GB2312" pitchFamily="49" charset="-122"/>
                <a:ea typeface="楷体_GB2312" pitchFamily="49" charset="-122"/>
              </a:rPr>
              <a:t>系统规模达到数百数千台客户机，它们的硬件配置、操作系统又常常不同，要为每一个客户机安装应用程序和相应的工具模块，其安装维护代价便不可接受了</a:t>
            </a:r>
            <a:r>
              <a:rPr lang="zh-CN" altLang="en-US" sz="2400" b="0" dirty="0">
                <a:latin typeface="宋体" panose="02010600030101010101" pitchFamily="2" charset="-122"/>
              </a:rPr>
              <a:t>。</a:t>
            </a:r>
            <a:endParaRPr lang="zh-CN" altLang="en-US" sz="2400" b="0" dirty="0">
              <a:latin typeface="宋体" panose="02010600030101010101" pitchFamily="2" charset="-122"/>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283" name="Rectangle 2"/>
          <p:cNvSpPr>
            <a:spLocks noGrp="1"/>
          </p:cNvSpPr>
          <p:nvPr>
            <p:ph type="title"/>
          </p:nvPr>
        </p:nvSpPr>
        <p:spPr>
          <a:xfrm>
            <a:off x="990600" y="0"/>
            <a:ext cx="7696200" cy="533400"/>
          </a:xfrm>
          <a:ln/>
        </p:spPr>
        <p:txBody>
          <a:bodyPr vert="horz" wrap="square" lIns="91440" tIns="45720" rIns="91440" bIns="45720" anchor="ctr" anchorCtr="0"/>
          <a:p>
            <a:pPr eaLnBrk="1" hangingPunct="1"/>
            <a:r>
              <a:rPr lang="en-US" altLang="zh-CN" sz="3600" u="sng" dirty="0"/>
              <a:t>1.3.2  </a:t>
            </a:r>
            <a:r>
              <a:rPr lang="zh-CN" altLang="en-US" sz="3600" u="sng" dirty="0"/>
              <a:t>数据库系统外部的体系结构</a:t>
            </a:r>
            <a:endParaRPr lang="zh-CN" altLang="en-US" sz="3600" u="sng" dirty="0"/>
          </a:p>
        </p:txBody>
      </p:sp>
      <p:sp>
        <p:nvSpPr>
          <p:cNvPr id="225284" name="Rectangle 3"/>
          <p:cNvSpPr>
            <a:spLocks noGrp="1"/>
          </p:cNvSpPr>
          <p:nvPr>
            <p:ph idx="1"/>
          </p:nvPr>
        </p:nvSpPr>
        <p:spPr>
          <a:xfrm>
            <a:off x="685800" y="914400"/>
            <a:ext cx="8077200" cy="5257800"/>
          </a:xfrm>
          <a:ln/>
        </p:spPr>
        <p:txBody>
          <a:bodyPr vert="horz" wrap="square" lIns="91440" tIns="45720" rIns="91440" bIns="45720" anchor="t" anchorCtr="0"/>
          <a:p>
            <a:pPr algn="just" eaLnBrk="1" hangingPunct="1">
              <a:lnSpc>
                <a:spcPct val="140000"/>
              </a:lnSpc>
              <a:buNone/>
            </a:pPr>
            <a:r>
              <a:rPr lang="en-US" altLang="zh-CN" dirty="0">
                <a:solidFill>
                  <a:srgbClr val="FF0000"/>
                </a:solidFill>
                <a:latin typeface="Arial" panose="020B0604020202020204" pitchFamily="34" charset="0"/>
              </a:rPr>
              <a:t>4. </a:t>
            </a:r>
            <a:r>
              <a:rPr lang="zh-CN" altLang="en-US" dirty="0">
                <a:solidFill>
                  <a:srgbClr val="FF0000"/>
                </a:solidFill>
                <a:latin typeface="宋体" panose="02010600030101010101" pitchFamily="2" charset="-122"/>
              </a:rPr>
              <a:t>浏览器</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应用服务器</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数据库服务器结构</a:t>
            </a:r>
            <a:endParaRPr lang="zh-CN" altLang="en-US" dirty="0">
              <a:solidFill>
                <a:srgbClr val="FF0000"/>
              </a:solidFill>
              <a:latin typeface="宋体" panose="02010600030101010101" pitchFamily="2" charset="-122"/>
            </a:endParaRPr>
          </a:p>
          <a:p>
            <a:pPr algn="just" eaLnBrk="1" hangingPunct="1">
              <a:lnSpc>
                <a:spcPct val="90000"/>
              </a:lnSpc>
            </a:pPr>
            <a:r>
              <a:rPr lang="zh-CN" altLang="en-US" dirty="0">
                <a:solidFill>
                  <a:schemeClr val="accent2"/>
                </a:solidFill>
                <a:latin typeface="宋体" panose="02010600030101010101" pitchFamily="2" charset="-122"/>
              </a:rPr>
              <a:t>客户端：</a:t>
            </a:r>
            <a:endParaRPr lang="zh-CN" altLang="en-US" dirty="0">
              <a:solidFill>
                <a:schemeClr val="accent2"/>
              </a:solidFill>
              <a:latin typeface="宋体" panose="02010600030101010101" pitchFamily="2" charset="-122"/>
            </a:endParaRPr>
          </a:p>
          <a:p>
            <a:pPr algn="just" eaLnBrk="1" hangingPunct="1">
              <a:lnSpc>
                <a:spcPct val="90000"/>
              </a:lnSpc>
              <a:buNone/>
            </a:pPr>
            <a:r>
              <a:rPr lang="zh-CN" altLang="en-US" sz="2800" b="0" dirty="0"/>
              <a:t>    </a:t>
            </a:r>
            <a:r>
              <a:rPr lang="zh-CN" altLang="en-US" sz="2800" b="0" dirty="0">
                <a:solidFill>
                  <a:schemeClr val="tx1"/>
                </a:solidFill>
              </a:rPr>
              <a:t>浏览器软件、用户界面</a:t>
            </a:r>
            <a:endParaRPr lang="zh-CN" altLang="en-US" sz="2800" b="0" dirty="0">
              <a:solidFill>
                <a:schemeClr val="tx1"/>
              </a:solidFill>
            </a:endParaRPr>
          </a:p>
          <a:p>
            <a:pPr algn="just" eaLnBrk="1" hangingPunct="1">
              <a:lnSpc>
                <a:spcPct val="90000"/>
              </a:lnSpc>
              <a:buNone/>
            </a:pPr>
            <a:r>
              <a:rPr lang="zh-CN" altLang="en-US" sz="2800" b="0" dirty="0">
                <a:solidFill>
                  <a:schemeClr val="tx1"/>
                </a:solidFill>
              </a:rPr>
              <a:t>    浏览器的界面统一，广大用户容易掌握</a:t>
            </a:r>
            <a:endParaRPr lang="zh-CN" altLang="en-US" sz="2800" b="0" dirty="0">
              <a:solidFill>
                <a:schemeClr val="tx1"/>
              </a:solidFill>
            </a:endParaRPr>
          </a:p>
          <a:p>
            <a:pPr algn="just" eaLnBrk="1" hangingPunct="1">
              <a:lnSpc>
                <a:spcPct val="90000"/>
              </a:lnSpc>
              <a:buNone/>
            </a:pPr>
            <a:r>
              <a:rPr lang="zh-CN" altLang="en-US" sz="2800" b="0" dirty="0">
                <a:solidFill>
                  <a:schemeClr val="tx1"/>
                </a:solidFill>
              </a:rPr>
              <a:t>    大大减少了安装、维护、培训时间与费用。</a:t>
            </a:r>
            <a:endParaRPr lang="zh-CN" altLang="en-US" dirty="0">
              <a:solidFill>
                <a:schemeClr val="tx1"/>
              </a:solidFill>
              <a:latin typeface="宋体" panose="02010600030101010101" pitchFamily="2" charset="-122"/>
            </a:endParaRPr>
          </a:p>
          <a:p>
            <a:pPr algn="just" eaLnBrk="1" hangingPunct="1">
              <a:lnSpc>
                <a:spcPct val="90000"/>
              </a:lnSpc>
            </a:pPr>
            <a:r>
              <a:rPr lang="zh-CN" altLang="en-US" dirty="0">
                <a:solidFill>
                  <a:schemeClr val="accent2"/>
                </a:solidFill>
                <a:latin typeface="宋体" panose="02010600030101010101" pitchFamily="2" charset="-122"/>
              </a:rPr>
              <a:t>服务器端分为两部分：</a:t>
            </a:r>
            <a:endParaRPr lang="zh-CN" altLang="en-US" dirty="0">
              <a:solidFill>
                <a:schemeClr val="accent2"/>
              </a:solidFill>
              <a:latin typeface="宋体" panose="02010600030101010101" pitchFamily="2" charset="-122"/>
            </a:endParaRPr>
          </a:p>
          <a:p>
            <a:pPr lvl="1" algn="just" eaLnBrk="1" hangingPunct="1">
              <a:lnSpc>
                <a:spcPct val="90000"/>
              </a:lnSpc>
            </a:pPr>
            <a:r>
              <a:rPr lang="en-US" altLang="zh-CN" b="0" dirty="0"/>
              <a:t>Web</a:t>
            </a:r>
            <a:r>
              <a:rPr lang="zh-CN" altLang="en-US" b="0" dirty="0"/>
              <a:t>服务器、应用服务器</a:t>
            </a:r>
            <a:endParaRPr lang="zh-CN" altLang="en-US" b="0" dirty="0"/>
          </a:p>
          <a:p>
            <a:pPr lvl="1" algn="just" eaLnBrk="1" hangingPunct="1">
              <a:lnSpc>
                <a:spcPct val="90000"/>
              </a:lnSpc>
            </a:pPr>
            <a:r>
              <a:rPr lang="zh-CN" altLang="en-US" b="0" dirty="0"/>
              <a:t>数据库服务器等</a:t>
            </a:r>
            <a:endParaRPr lang="zh-CN" altLang="en-US" b="0" dirty="0"/>
          </a:p>
          <a:p>
            <a:pPr lvl="1" algn="just" eaLnBrk="1" hangingPunct="1">
              <a:lnSpc>
                <a:spcPct val="90000"/>
              </a:lnSpc>
              <a:buNone/>
            </a:pPr>
            <a:r>
              <a:rPr lang="zh-CN" altLang="en-US" b="0" dirty="0"/>
              <a:t>大大减少了系统开发和维护代价</a:t>
            </a:r>
            <a:endParaRPr lang="zh-CN" altLang="en-US" b="0" dirty="0"/>
          </a:p>
          <a:p>
            <a:pPr lvl="1" algn="just" eaLnBrk="1" hangingPunct="1">
              <a:lnSpc>
                <a:spcPct val="90000"/>
              </a:lnSpc>
              <a:buNone/>
            </a:pPr>
            <a:r>
              <a:rPr lang="zh-CN" altLang="en-US" b="0" dirty="0"/>
              <a:t>能够支持数万甚至更多的用户</a:t>
            </a:r>
            <a:endParaRPr lang="zh-CN" altLang="en-US" b="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6307" name="Rectangle 2"/>
          <p:cNvSpPr/>
          <p:nvPr/>
        </p:nvSpPr>
        <p:spPr>
          <a:xfrm>
            <a:off x="774700" y="32766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cs typeface="楷体_GB231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cs typeface="仿宋_GB2312"/>
              </a:defRPr>
            </a:lvl5pPr>
          </a:lstStyle>
          <a:p>
            <a:pPr marL="0" lvl="0" indent="0" algn="ctr" eaLnBrk="1" hangingPunct="1">
              <a:spcBef>
                <a:spcPct val="0"/>
              </a:spcBef>
              <a:buClrTx/>
              <a:buFontTx/>
              <a:buNone/>
            </a:pPr>
            <a:endParaRPr lang="en-US" altLang="en-US" sz="1400" dirty="0">
              <a:solidFill>
                <a:schemeClr val="tx1"/>
              </a:solidFill>
              <a:ea typeface="Arial" panose="020B0604020202020204" pitchFamily="34" charset="0"/>
            </a:endParaRPr>
          </a:p>
        </p:txBody>
      </p:sp>
      <p:sp>
        <p:nvSpPr>
          <p:cNvPr id="226308" name="Rectangle 3"/>
          <p:cNvSpPr>
            <a:spLocks noGrp="1"/>
          </p:cNvSpPr>
          <p:nvPr>
            <p:ph idx="1"/>
          </p:nvPr>
        </p:nvSpPr>
        <p:spPr>
          <a:xfrm>
            <a:off x="762000" y="1168400"/>
            <a:ext cx="7696200" cy="4953000"/>
          </a:xfrm>
          <a:ln/>
        </p:spPr>
        <p:txBody>
          <a:bodyPr vert="horz" wrap="square" lIns="91440" tIns="45720" rIns="91440" bIns="45720" anchor="t" anchorCtr="0"/>
          <a:p>
            <a:pPr eaLnBrk="1" hangingPunct="1">
              <a:lnSpc>
                <a:spcPct val="150000"/>
              </a:lnSpc>
              <a:spcBef>
                <a:spcPct val="0"/>
              </a:spcBef>
              <a:buNone/>
            </a:pPr>
            <a:r>
              <a:rPr lang="en-US" altLang="zh-CN" sz="2800" dirty="0">
                <a:solidFill>
                  <a:schemeClr val="tx1"/>
                </a:solidFill>
                <a:latin typeface="Arial Narrow" panose="020B0606020202030204" pitchFamily="34" charset="0"/>
                <a:ea typeface="楷体_GB2312" pitchFamily="49" charset="-122"/>
              </a:rPr>
              <a:t>1.1</a:t>
            </a:r>
            <a:r>
              <a:rPr lang="en-US" altLang="zh-CN" sz="2800" dirty="0">
                <a:solidFill>
                  <a:schemeClr val="tx1"/>
                </a:solidFill>
                <a:latin typeface="楷体_GB2312" pitchFamily="49" charset="-122"/>
                <a:ea typeface="楷体_GB2312" pitchFamily="49" charset="-122"/>
              </a:rPr>
              <a:t> </a:t>
            </a:r>
            <a:r>
              <a:rPr lang="zh-CN" altLang="en-US" sz="2800" dirty="0">
                <a:solidFill>
                  <a:schemeClr val="tx1"/>
                </a:solidFill>
                <a:latin typeface="楷体_GB2312" pitchFamily="49" charset="-122"/>
                <a:ea typeface="楷体_GB2312" pitchFamily="49" charset="-122"/>
              </a:rPr>
              <a:t>数据库系统概述</a:t>
            </a:r>
            <a:r>
              <a:rPr lang="en-US" altLang="zh-CN" sz="2800" dirty="0">
                <a:solidFill>
                  <a:srgbClr val="FF0000"/>
                </a:solidFill>
                <a:latin typeface="Arial Narrow" panose="020B0606020202030204" pitchFamily="34" charset="0"/>
                <a:ea typeface="楷体_GB2312" pitchFamily="49" charset="-122"/>
              </a:rPr>
              <a:t>(Overview of DBS)</a:t>
            </a:r>
            <a:endParaRPr lang="en-US" altLang="zh-CN" sz="2800" dirty="0">
              <a:solidFill>
                <a:srgbClr val="FF0000"/>
              </a:solidFill>
              <a:latin typeface="Arial Narrow" panose="020B0606020202030204" pitchFamily="34" charset="0"/>
              <a:ea typeface="楷体_GB2312" pitchFamily="49" charset="-122"/>
            </a:endParaRPr>
          </a:p>
          <a:p>
            <a:pPr eaLnBrk="1" hangingPunct="1">
              <a:lnSpc>
                <a:spcPct val="150000"/>
              </a:lnSpc>
              <a:spcBef>
                <a:spcPct val="0"/>
              </a:spcBef>
              <a:buNone/>
            </a:pPr>
            <a:r>
              <a:rPr lang="en-US" altLang="zh-CN" sz="2800" dirty="0">
                <a:solidFill>
                  <a:schemeClr val="tx1"/>
                </a:solidFill>
                <a:latin typeface="Arial Narrow" panose="020B0606020202030204" pitchFamily="34" charset="0"/>
                <a:ea typeface="楷体_GB2312" pitchFamily="49" charset="-122"/>
              </a:rPr>
              <a:t>1.2</a:t>
            </a:r>
            <a:r>
              <a:rPr lang="en-US" altLang="zh-CN" sz="2800" dirty="0">
                <a:solidFill>
                  <a:schemeClr val="tx1"/>
                </a:solidFill>
                <a:latin typeface="楷体_GB2312" pitchFamily="49" charset="-122"/>
                <a:ea typeface="楷体_GB2312" pitchFamily="49" charset="-122"/>
              </a:rPr>
              <a:t> </a:t>
            </a:r>
            <a:r>
              <a:rPr lang="zh-CN" altLang="en-US" sz="2800" dirty="0">
                <a:solidFill>
                  <a:schemeClr val="tx1"/>
                </a:solidFill>
                <a:latin typeface="楷体_GB2312" pitchFamily="49" charset="-122"/>
                <a:ea typeface="楷体_GB2312" pitchFamily="49" charset="-122"/>
              </a:rPr>
              <a:t>数据模型</a:t>
            </a:r>
            <a:r>
              <a:rPr lang="en-US" altLang="zh-CN" sz="2800" dirty="0">
                <a:latin typeface="Arial Narrow" panose="020B0606020202030204" pitchFamily="34" charset="0"/>
                <a:ea typeface="楷体_GB2312" pitchFamily="49" charset="-122"/>
              </a:rPr>
              <a:t>(data model)</a:t>
            </a:r>
            <a:endParaRPr lang="en-US" altLang="zh-CN" sz="2800" dirty="0">
              <a:latin typeface="Arial Narrow" panose="020B0606020202030204" pitchFamily="34" charset="0"/>
              <a:ea typeface="楷体_GB2312" pitchFamily="49" charset="-122"/>
            </a:endParaRPr>
          </a:p>
          <a:p>
            <a:pPr eaLnBrk="1" hangingPunct="1">
              <a:lnSpc>
                <a:spcPct val="150000"/>
              </a:lnSpc>
              <a:spcBef>
                <a:spcPct val="0"/>
              </a:spcBef>
              <a:buNone/>
            </a:pPr>
            <a:r>
              <a:rPr lang="en-US" altLang="zh-CN" sz="2800" dirty="0">
                <a:solidFill>
                  <a:schemeClr val="tx1"/>
                </a:solidFill>
                <a:latin typeface="Arial Narrow" panose="020B0606020202030204" pitchFamily="34" charset="0"/>
                <a:ea typeface="楷体_GB2312" pitchFamily="49" charset="-122"/>
              </a:rPr>
              <a:t>1.3</a:t>
            </a:r>
            <a:r>
              <a:rPr lang="en-US" altLang="zh-CN" sz="2800" dirty="0">
                <a:solidFill>
                  <a:schemeClr val="tx1"/>
                </a:solidFill>
                <a:latin typeface="楷体_GB2312" pitchFamily="49" charset="-122"/>
                <a:ea typeface="楷体_GB2312" pitchFamily="49" charset="-122"/>
              </a:rPr>
              <a:t> </a:t>
            </a:r>
            <a:r>
              <a:rPr lang="zh-CN" altLang="en-US" sz="2800" dirty="0">
                <a:solidFill>
                  <a:schemeClr val="tx1"/>
                </a:solidFill>
                <a:latin typeface="楷体_GB2312" pitchFamily="49" charset="-122"/>
                <a:ea typeface="楷体_GB2312" pitchFamily="49" charset="-122"/>
              </a:rPr>
              <a:t>数据库系统结构</a:t>
            </a:r>
            <a:r>
              <a:rPr lang="en-US" altLang="zh-CN" sz="2800" dirty="0">
                <a:solidFill>
                  <a:srgbClr val="FF0000"/>
                </a:solidFill>
                <a:latin typeface="Arial Narrow" panose="020B0606020202030204" pitchFamily="34" charset="0"/>
                <a:ea typeface="楷体_GB2312" pitchFamily="49" charset="-122"/>
              </a:rPr>
              <a:t>(the structure of DBS)</a:t>
            </a:r>
            <a:r>
              <a:rPr lang="en-US" altLang="zh-CN" sz="2800" dirty="0">
                <a:solidFill>
                  <a:schemeClr val="tx1"/>
                </a:solidFill>
                <a:latin typeface="楷体_GB2312" pitchFamily="49" charset="-122"/>
                <a:ea typeface="楷体_GB2312" pitchFamily="49" charset="-122"/>
              </a:rPr>
              <a:t> </a:t>
            </a:r>
            <a:endParaRPr lang="en-US" altLang="zh-CN" sz="2800" dirty="0">
              <a:solidFill>
                <a:schemeClr val="tx1"/>
              </a:solidFill>
              <a:latin typeface="楷体_GB2312" pitchFamily="49" charset="-122"/>
              <a:ea typeface="楷体_GB2312" pitchFamily="49" charset="-122"/>
            </a:endParaRPr>
          </a:p>
          <a:p>
            <a:pPr eaLnBrk="1" hangingPunct="1">
              <a:lnSpc>
                <a:spcPct val="150000"/>
              </a:lnSpc>
              <a:spcBef>
                <a:spcPct val="0"/>
              </a:spcBef>
              <a:buNone/>
            </a:pPr>
            <a:r>
              <a:rPr lang="en-US" altLang="zh-CN" sz="2800" dirty="0">
                <a:solidFill>
                  <a:schemeClr val="bg1"/>
                </a:solidFill>
                <a:latin typeface="Arial Narrow" panose="020B0606020202030204" pitchFamily="34" charset="0"/>
                <a:ea typeface="楷体_GB2312" pitchFamily="49" charset="-122"/>
              </a:rPr>
              <a:t>1.4</a:t>
            </a:r>
            <a:r>
              <a:rPr lang="en-US" altLang="zh-CN" sz="2800" dirty="0">
                <a:solidFill>
                  <a:schemeClr val="bg1"/>
                </a:solidFill>
                <a:latin typeface="楷体_GB2312" pitchFamily="49" charset="-122"/>
                <a:ea typeface="楷体_GB2312" pitchFamily="49" charset="-122"/>
              </a:rPr>
              <a:t> </a:t>
            </a:r>
            <a:r>
              <a:rPr lang="zh-CN" altLang="en-US" sz="2800" dirty="0">
                <a:solidFill>
                  <a:schemeClr val="bg1"/>
                </a:solidFill>
                <a:latin typeface="楷体_GB2312" pitchFamily="49" charset="-122"/>
                <a:ea typeface="楷体_GB2312" pitchFamily="49" charset="-122"/>
              </a:rPr>
              <a:t>数据库系统的组成</a:t>
            </a:r>
            <a:r>
              <a:rPr lang="en-US" altLang="zh-CN" sz="2800" dirty="0">
                <a:solidFill>
                  <a:schemeClr val="bg1"/>
                </a:solidFill>
                <a:latin typeface="Arial Narrow" panose="020B0606020202030204" pitchFamily="34" charset="0"/>
                <a:ea typeface="楷体_GB2312" pitchFamily="49" charset="-122"/>
              </a:rPr>
              <a:t>(the components of DBS)</a:t>
            </a:r>
            <a:r>
              <a:rPr lang="en-US" altLang="zh-CN" sz="2800" dirty="0">
                <a:solidFill>
                  <a:schemeClr val="tx1"/>
                </a:solidFill>
                <a:latin typeface="楷体_GB2312" pitchFamily="49" charset="-122"/>
                <a:ea typeface="楷体_GB2312" pitchFamily="49" charset="-122"/>
              </a:rPr>
              <a:t> </a:t>
            </a:r>
            <a:endParaRPr lang="en-US" altLang="zh-CN" sz="2800" dirty="0">
              <a:solidFill>
                <a:schemeClr val="tx1"/>
              </a:solidFill>
              <a:latin typeface="楷体_GB2312" pitchFamily="49" charset="-122"/>
              <a:ea typeface="楷体_GB2312" pitchFamily="49" charset="-122"/>
            </a:endParaRPr>
          </a:p>
          <a:p>
            <a:pPr eaLnBrk="1" hangingPunct="1">
              <a:lnSpc>
                <a:spcPct val="150000"/>
              </a:lnSpc>
              <a:spcBef>
                <a:spcPct val="0"/>
              </a:spcBef>
              <a:buNone/>
            </a:pPr>
            <a:r>
              <a:rPr lang="en-US" altLang="zh-CN" sz="2800" dirty="0">
                <a:solidFill>
                  <a:schemeClr val="tx1"/>
                </a:solidFill>
                <a:latin typeface="Arial Narrow" panose="020B0606020202030204" pitchFamily="34" charset="0"/>
                <a:ea typeface="楷体_GB2312" pitchFamily="49" charset="-122"/>
              </a:rPr>
              <a:t>1.5 </a:t>
            </a:r>
            <a:r>
              <a:rPr lang="zh-CN" altLang="en-US" sz="2800" dirty="0">
                <a:solidFill>
                  <a:schemeClr val="tx1"/>
                </a:solidFill>
                <a:latin typeface="Arial Narrow" panose="020B0606020202030204" pitchFamily="34" charset="0"/>
                <a:ea typeface="楷体_GB2312" pitchFamily="49" charset="-122"/>
              </a:rPr>
              <a:t>数据库访问过程</a:t>
            </a:r>
            <a:r>
              <a:rPr lang="en-US" altLang="zh-CN" sz="2800" dirty="0">
                <a:latin typeface="Arial Narrow" panose="020B0606020202030204" pitchFamily="34" charset="0"/>
                <a:ea typeface="楷体_GB2312" pitchFamily="49" charset="-122"/>
              </a:rPr>
              <a:t>(the process of accessing DB)</a:t>
            </a:r>
            <a:r>
              <a:rPr lang="en-US" altLang="zh-CN" sz="2800" dirty="0">
                <a:solidFill>
                  <a:srgbClr val="CC0066"/>
                </a:solidFill>
                <a:latin typeface="Arial Narrow" panose="020B0606020202030204" pitchFamily="34" charset="0"/>
                <a:ea typeface="楷体_GB2312" pitchFamily="49" charset="-122"/>
              </a:rPr>
              <a:t> </a:t>
            </a:r>
            <a:endParaRPr lang="en-US" altLang="zh-CN" sz="2800" dirty="0">
              <a:solidFill>
                <a:srgbClr val="CC0066"/>
              </a:solidFill>
              <a:latin typeface="Arial Narrow" panose="020B0606020202030204" pitchFamily="34" charset="0"/>
              <a:ea typeface="楷体_GB2312" pitchFamily="49" charset="-122"/>
            </a:endParaRPr>
          </a:p>
          <a:p>
            <a:pPr eaLnBrk="1" hangingPunct="1">
              <a:lnSpc>
                <a:spcPct val="150000"/>
              </a:lnSpc>
              <a:spcBef>
                <a:spcPct val="0"/>
              </a:spcBef>
              <a:buNone/>
            </a:pPr>
            <a:r>
              <a:rPr lang="en-US" altLang="zh-CN" sz="2800" dirty="0">
                <a:solidFill>
                  <a:schemeClr val="tx1"/>
                </a:solidFill>
                <a:latin typeface="Arial Narrow" panose="020B0606020202030204" pitchFamily="34" charset="0"/>
                <a:ea typeface="楷体_GB2312" pitchFamily="49" charset="-122"/>
              </a:rPr>
              <a:t>1.6 </a:t>
            </a:r>
            <a:r>
              <a:rPr lang="zh-CN" altLang="en-US" sz="2800" dirty="0">
                <a:solidFill>
                  <a:schemeClr val="tx1"/>
                </a:solidFill>
                <a:latin typeface="Arial Narrow" panose="020B0606020202030204" pitchFamily="34" charset="0"/>
                <a:ea typeface="楷体_GB2312" pitchFamily="49" charset="-122"/>
              </a:rPr>
              <a:t>数据库系统特点</a:t>
            </a:r>
            <a:r>
              <a:rPr lang="en-US" altLang="zh-CN" sz="2800" dirty="0">
                <a:latin typeface="Arial Narrow" panose="020B0606020202030204" pitchFamily="34" charset="0"/>
                <a:ea typeface="楷体_GB2312" pitchFamily="49" charset="-122"/>
              </a:rPr>
              <a:t>(the characteristic of DBS)</a:t>
            </a:r>
            <a:r>
              <a:rPr lang="en-US" altLang="zh-CN" sz="2800" dirty="0">
                <a:solidFill>
                  <a:schemeClr val="tx1"/>
                </a:solidFill>
                <a:latin typeface="Arial Narrow" panose="020B0606020202030204" pitchFamily="34" charset="0"/>
                <a:ea typeface="楷体_GB2312" pitchFamily="49" charset="-122"/>
              </a:rPr>
              <a:t> </a:t>
            </a:r>
            <a:endParaRPr lang="en-US" altLang="zh-CN" sz="2800" dirty="0">
              <a:solidFill>
                <a:schemeClr val="tx1"/>
              </a:solidFill>
              <a:latin typeface="楷体_GB2312" pitchFamily="49" charset="-122"/>
              <a:ea typeface="楷体_GB2312" pitchFamily="49" charset="-122"/>
            </a:endParaRPr>
          </a:p>
          <a:p>
            <a:pPr eaLnBrk="1" hangingPunct="1">
              <a:lnSpc>
                <a:spcPct val="150000"/>
              </a:lnSpc>
              <a:spcBef>
                <a:spcPct val="0"/>
              </a:spcBef>
              <a:buNone/>
            </a:pPr>
            <a:r>
              <a:rPr lang="en-US" altLang="zh-CN" sz="2800" dirty="0">
                <a:solidFill>
                  <a:schemeClr val="tx1"/>
                </a:solidFill>
                <a:latin typeface="Arial Narrow" panose="020B0606020202030204" pitchFamily="34" charset="0"/>
                <a:ea typeface="楷体_GB2312" pitchFamily="49" charset="-122"/>
              </a:rPr>
              <a:t>1.7</a:t>
            </a:r>
            <a:r>
              <a:rPr lang="en-US" altLang="zh-CN" sz="2800" dirty="0">
                <a:solidFill>
                  <a:schemeClr val="tx1"/>
                </a:solidFill>
                <a:latin typeface="Arial" panose="020B0604020202020204" pitchFamily="34" charset="0"/>
                <a:ea typeface="楷体_GB2312" pitchFamily="49" charset="-122"/>
              </a:rPr>
              <a:t> </a:t>
            </a:r>
            <a:r>
              <a:rPr lang="zh-CN" altLang="en-US" sz="2800" dirty="0">
                <a:solidFill>
                  <a:schemeClr val="tx1"/>
                </a:solidFill>
                <a:latin typeface="Arial" panose="020B0604020202020204" pitchFamily="34" charset="0"/>
                <a:ea typeface="楷体_GB2312" pitchFamily="49" charset="-122"/>
              </a:rPr>
              <a:t>数据库技术的研究领域</a:t>
            </a:r>
            <a:endParaRPr lang="zh-CN" altLang="en-US" sz="2800" dirty="0">
              <a:solidFill>
                <a:schemeClr val="tx1"/>
              </a:solidFill>
              <a:latin typeface="Arial" panose="020B0604020202020204" pitchFamily="34" charset="0"/>
              <a:ea typeface="楷体_GB2312" pitchFamily="49" charset="-122"/>
            </a:endParaRPr>
          </a:p>
          <a:p>
            <a:pPr eaLnBrk="1" hangingPunct="1">
              <a:lnSpc>
                <a:spcPct val="150000"/>
              </a:lnSpc>
              <a:spcBef>
                <a:spcPct val="0"/>
              </a:spcBef>
              <a:buNone/>
            </a:pPr>
            <a:r>
              <a:rPr lang="en-US" altLang="zh-CN" sz="2800" dirty="0">
                <a:solidFill>
                  <a:schemeClr val="tx1"/>
                </a:solidFill>
                <a:latin typeface="Arial Narrow" panose="020B0606020202030204" pitchFamily="34" charset="0"/>
                <a:ea typeface="楷体_GB2312" pitchFamily="49" charset="-122"/>
              </a:rPr>
              <a:t>1.8</a:t>
            </a:r>
            <a:r>
              <a:rPr lang="en-US" altLang="zh-CN" sz="2800" dirty="0">
                <a:solidFill>
                  <a:schemeClr val="tx1"/>
                </a:solidFill>
                <a:latin typeface="楷体_GB2312" pitchFamily="49" charset="-122"/>
                <a:ea typeface="楷体_GB2312" pitchFamily="49" charset="-122"/>
              </a:rPr>
              <a:t> </a:t>
            </a:r>
            <a:r>
              <a:rPr lang="zh-CN" altLang="en-US" sz="2800" dirty="0">
                <a:solidFill>
                  <a:schemeClr val="tx1"/>
                </a:solidFill>
                <a:latin typeface="楷体_GB2312" pitchFamily="49" charset="-122"/>
                <a:ea typeface="楷体_GB2312" pitchFamily="49" charset="-122"/>
              </a:rPr>
              <a:t>小结</a:t>
            </a:r>
            <a:r>
              <a:rPr lang="en-US" altLang="zh-CN" sz="2800" dirty="0">
                <a:latin typeface="Arial Narrow" panose="020B0606020202030204" pitchFamily="34" charset="0"/>
                <a:ea typeface="楷体_GB2312" pitchFamily="49" charset="-122"/>
              </a:rPr>
              <a:t>(summary)</a:t>
            </a:r>
            <a:endParaRPr lang="en-US" altLang="zh-CN" sz="2800" dirty="0">
              <a:latin typeface="Arial Narrow" panose="020B0606020202030204" pitchFamily="34" charset="0"/>
              <a:ea typeface="楷体_GB2312" pitchFamily="49" charset="-122"/>
            </a:endParaRPr>
          </a:p>
        </p:txBody>
      </p:sp>
      <p:sp>
        <p:nvSpPr>
          <p:cNvPr id="226309"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1</a:t>
            </a:r>
            <a:r>
              <a:rPr lang="zh-CN" altLang="en-US" dirty="0"/>
              <a:t>章 绪论</a:t>
            </a:r>
            <a:endParaRPr lang="zh-CN" altLang="en-US"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7331" name="Rectangle 2"/>
          <p:cNvSpPr>
            <a:spLocks noGrp="1"/>
          </p:cNvSpPr>
          <p:nvPr>
            <p:ph type="title"/>
          </p:nvPr>
        </p:nvSpPr>
        <p:spPr>
          <a:ln/>
        </p:spPr>
        <p:txBody>
          <a:bodyPr vert="horz" wrap="square" lIns="91440" tIns="45720" rIns="91440" bIns="45720" anchor="ctr" anchorCtr="0"/>
          <a:p>
            <a:pPr eaLnBrk="1" hangingPunct="1"/>
            <a:r>
              <a:rPr lang="en-US" altLang="zh-CN" dirty="0"/>
              <a:t>1.4 </a:t>
            </a:r>
            <a:r>
              <a:rPr lang="zh-CN" altLang="en-US" dirty="0"/>
              <a:t>数据库系统的组成</a:t>
            </a:r>
            <a:endParaRPr lang="zh-CN" altLang="en-US" dirty="0"/>
          </a:p>
        </p:txBody>
      </p:sp>
      <p:sp>
        <p:nvSpPr>
          <p:cNvPr id="227332" name="Rectangle 3"/>
          <p:cNvSpPr>
            <a:spLocks noGrp="1"/>
          </p:cNvSpPr>
          <p:nvPr>
            <p:ph idx="1"/>
          </p:nvPr>
        </p:nvSpPr>
        <p:spPr>
          <a:xfrm>
            <a:off x="762000" y="1447800"/>
            <a:ext cx="7848600" cy="3581400"/>
          </a:xfrm>
          <a:ln/>
        </p:spPr>
        <p:txBody>
          <a:bodyPr vert="horz" wrap="square" lIns="91440" tIns="45720" rIns="91440" bIns="45720" anchor="t" anchorCtr="0"/>
          <a:p>
            <a:pPr algn="just" eaLnBrk="1" hangingPunct="1">
              <a:lnSpc>
                <a:spcPct val="140000"/>
              </a:lnSpc>
            </a:pPr>
            <a:r>
              <a:rPr lang="zh-CN" altLang="en-US" sz="2800" dirty="0">
                <a:solidFill>
                  <a:schemeClr val="tx1"/>
                </a:solidFill>
              </a:rPr>
              <a:t>数据库</a:t>
            </a:r>
            <a:endParaRPr lang="zh-CN" altLang="en-US" sz="2800" dirty="0">
              <a:solidFill>
                <a:schemeClr val="tx1"/>
              </a:solidFill>
            </a:endParaRPr>
          </a:p>
          <a:p>
            <a:pPr algn="just" eaLnBrk="1" hangingPunct="1">
              <a:lnSpc>
                <a:spcPct val="140000"/>
              </a:lnSpc>
            </a:pPr>
            <a:r>
              <a:rPr lang="zh-CN" altLang="en-US" sz="2800" dirty="0">
                <a:solidFill>
                  <a:schemeClr val="tx1"/>
                </a:solidFill>
              </a:rPr>
              <a:t>数据库管理系统（及其开发工具）</a:t>
            </a:r>
            <a:endParaRPr lang="zh-CN" altLang="en-US" sz="2800" dirty="0">
              <a:solidFill>
                <a:schemeClr val="tx1"/>
              </a:solidFill>
            </a:endParaRPr>
          </a:p>
          <a:p>
            <a:pPr algn="just" eaLnBrk="1" hangingPunct="1">
              <a:lnSpc>
                <a:spcPct val="140000"/>
              </a:lnSpc>
            </a:pPr>
            <a:r>
              <a:rPr lang="zh-CN" altLang="en-US" sz="2800" dirty="0">
                <a:solidFill>
                  <a:schemeClr val="tx1"/>
                </a:solidFill>
              </a:rPr>
              <a:t>应用系统</a:t>
            </a:r>
            <a:endParaRPr lang="zh-CN" altLang="en-US" sz="2800" dirty="0">
              <a:solidFill>
                <a:schemeClr val="tx1"/>
              </a:solidFill>
            </a:endParaRPr>
          </a:p>
          <a:p>
            <a:pPr algn="just" eaLnBrk="1" hangingPunct="1">
              <a:lnSpc>
                <a:spcPct val="140000"/>
              </a:lnSpc>
            </a:pPr>
            <a:r>
              <a:rPr lang="zh-CN" altLang="en-US" sz="2800" dirty="0">
                <a:solidFill>
                  <a:schemeClr val="tx1"/>
                </a:solidFill>
              </a:rPr>
              <a:t>数据库管理员</a:t>
            </a:r>
            <a:endParaRPr lang="zh-CN" altLang="en-US" sz="2800" dirty="0">
              <a:solidFill>
                <a:schemeClr val="tx1"/>
              </a:solidFill>
            </a:endParaRPr>
          </a:p>
          <a:p>
            <a:pPr algn="just" eaLnBrk="1" hangingPunct="1">
              <a:lnSpc>
                <a:spcPct val="140000"/>
              </a:lnSpc>
            </a:pPr>
            <a:r>
              <a:rPr lang="zh-CN" altLang="en-US" sz="2800" dirty="0">
                <a:solidFill>
                  <a:schemeClr val="tx1"/>
                </a:solidFill>
              </a:rPr>
              <a:t>（用户）</a:t>
            </a:r>
            <a:endParaRPr lang="zh-CN" altLang="en-US" sz="2800" dirty="0">
              <a:solidFill>
                <a:schemeClr val="tx1"/>
              </a:solidFill>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8355"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28356" name="Rectangle 3"/>
          <p:cNvSpPr>
            <a:spLocks noGrp="1"/>
          </p:cNvSpPr>
          <p:nvPr>
            <p:ph idx="1"/>
          </p:nvPr>
        </p:nvSpPr>
        <p:spPr>
          <a:xfrm>
            <a:off x="457200" y="990600"/>
            <a:ext cx="8077200" cy="5181600"/>
          </a:xfrm>
          <a:ln/>
        </p:spPr>
        <p:txBody>
          <a:bodyPr vert="horz" wrap="square" lIns="91440" tIns="45720" rIns="91440" bIns="45720" anchor="t" anchorCtr="0"/>
          <a:p>
            <a:pPr algn="just" eaLnBrk="1" hangingPunct="1">
              <a:lnSpc>
                <a:spcPct val="140000"/>
              </a:lnSpc>
              <a:buNone/>
            </a:pPr>
            <a:r>
              <a:rPr lang="zh-CN" altLang="en-US" dirty="0">
                <a:solidFill>
                  <a:srgbClr val="FF0000"/>
                </a:solidFill>
                <a:latin typeface="Arial" panose="020B0604020202020204" pitchFamily="34" charset="0"/>
              </a:rPr>
              <a:t>一</a:t>
            </a:r>
            <a:r>
              <a:rPr lang="en-US" altLang="zh-CN" dirty="0">
                <a:solidFill>
                  <a:srgbClr val="FF0000"/>
                </a:solidFill>
                <a:latin typeface="Arial" panose="020B0604020202020204" pitchFamily="34" charset="0"/>
              </a:rPr>
              <a:t>.</a:t>
            </a:r>
            <a:r>
              <a:rPr lang="en-US" altLang="zh-CN" dirty="0">
                <a:solidFill>
                  <a:srgbClr val="FF0000"/>
                </a:solidFill>
              </a:rPr>
              <a:t> </a:t>
            </a:r>
            <a:r>
              <a:rPr lang="zh-CN" altLang="en-US" dirty="0">
                <a:solidFill>
                  <a:srgbClr val="FF0000"/>
                </a:solidFill>
              </a:rPr>
              <a:t>硬件平台及数据库</a:t>
            </a:r>
            <a:endParaRPr lang="zh-CN" altLang="en-US" dirty="0">
              <a:solidFill>
                <a:srgbClr val="FF0000"/>
              </a:solidFill>
            </a:endParaRPr>
          </a:p>
          <a:p>
            <a:pPr algn="just" eaLnBrk="1" hangingPunct="1"/>
            <a:r>
              <a:rPr lang="zh-CN" altLang="en-US" dirty="0">
                <a:solidFill>
                  <a:schemeClr val="accent2"/>
                </a:solidFill>
              </a:rPr>
              <a:t>数据库系统对硬件资源的要求</a:t>
            </a:r>
            <a:endParaRPr lang="zh-CN" altLang="en-US" dirty="0">
              <a:solidFill>
                <a:schemeClr val="accent2"/>
              </a:solidFill>
            </a:endParaRPr>
          </a:p>
          <a:p>
            <a:pPr algn="just" eaLnBrk="1" hangingPunct="1">
              <a:buNone/>
            </a:pPr>
            <a:r>
              <a:rPr lang="en-US" altLang="zh-CN" dirty="0">
                <a:solidFill>
                  <a:schemeClr val="tx1"/>
                </a:solidFill>
              </a:rPr>
              <a:t>(1) </a:t>
            </a:r>
            <a:r>
              <a:rPr lang="zh-CN" altLang="en-US" dirty="0">
                <a:solidFill>
                  <a:schemeClr val="tx1"/>
                </a:solidFill>
              </a:rPr>
              <a:t>足够大的内存</a:t>
            </a:r>
            <a:endParaRPr lang="zh-CN" altLang="en-US" dirty="0">
              <a:solidFill>
                <a:schemeClr val="tx1"/>
              </a:solidFill>
            </a:endParaRPr>
          </a:p>
          <a:p>
            <a:pPr lvl="1" algn="just" eaLnBrk="1" hangingPunct="1"/>
            <a:r>
              <a:rPr lang="zh-CN" altLang="en-US" b="0" dirty="0"/>
              <a:t>操作系统</a:t>
            </a:r>
            <a:endParaRPr lang="zh-CN" altLang="en-US" b="0" dirty="0"/>
          </a:p>
          <a:p>
            <a:pPr lvl="1" algn="just" eaLnBrk="1" hangingPunct="1"/>
            <a:r>
              <a:rPr lang="en-US" altLang="zh-CN" b="0" dirty="0"/>
              <a:t>DBMS</a:t>
            </a:r>
            <a:r>
              <a:rPr lang="zh-CN" altLang="en-US" b="0" dirty="0"/>
              <a:t>的核心模块</a:t>
            </a:r>
            <a:endParaRPr lang="zh-CN" altLang="en-US" b="0" dirty="0"/>
          </a:p>
          <a:p>
            <a:pPr lvl="1" algn="just" eaLnBrk="1" hangingPunct="1"/>
            <a:r>
              <a:rPr lang="zh-CN" altLang="en-US" b="0" dirty="0"/>
              <a:t>数据缓冲区</a:t>
            </a:r>
            <a:endParaRPr lang="zh-CN" altLang="en-US" b="0" dirty="0"/>
          </a:p>
          <a:p>
            <a:pPr lvl="1" algn="just" eaLnBrk="1" hangingPunct="1"/>
            <a:r>
              <a:rPr lang="zh-CN" altLang="en-US" b="0" dirty="0"/>
              <a:t>应用程序</a:t>
            </a:r>
            <a:endParaRPr lang="zh-CN" altLang="en-US" b="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9379"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29380" name="Rectangle 3"/>
          <p:cNvSpPr>
            <a:spLocks noGrp="1"/>
          </p:cNvSpPr>
          <p:nvPr>
            <p:ph idx="1"/>
          </p:nvPr>
        </p:nvSpPr>
        <p:spPr>
          <a:xfrm>
            <a:off x="457200" y="990600"/>
            <a:ext cx="8077200" cy="5181600"/>
          </a:xfrm>
          <a:ln/>
        </p:spPr>
        <p:txBody>
          <a:bodyPr vert="horz" wrap="square" lIns="91440" tIns="45720" rIns="91440" bIns="45720" anchor="t" anchorCtr="0"/>
          <a:p>
            <a:pPr algn="just" eaLnBrk="1" hangingPunct="1">
              <a:buNone/>
            </a:pPr>
            <a:r>
              <a:rPr lang="en-US" altLang="zh-CN" dirty="0">
                <a:solidFill>
                  <a:schemeClr val="accent2"/>
                </a:solidFill>
              </a:rPr>
              <a:t>      </a:t>
            </a:r>
            <a:r>
              <a:rPr lang="zh-CN" altLang="en-US" dirty="0">
                <a:solidFill>
                  <a:schemeClr val="accent2"/>
                </a:solidFill>
              </a:rPr>
              <a:t>数据库系统对硬件资源的要求</a:t>
            </a:r>
            <a:r>
              <a:rPr lang="en-US" altLang="zh-CN" dirty="0">
                <a:solidFill>
                  <a:schemeClr val="accent2"/>
                </a:solidFill>
              </a:rPr>
              <a:t>(</a:t>
            </a:r>
            <a:r>
              <a:rPr lang="zh-CN" altLang="en-US" dirty="0">
                <a:solidFill>
                  <a:schemeClr val="accent2"/>
                </a:solidFill>
              </a:rPr>
              <a:t>续</a:t>
            </a:r>
            <a:r>
              <a:rPr lang="en-US" altLang="zh-CN" dirty="0">
                <a:solidFill>
                  <a:schemeClr val="accent2"/>
                </a:solidFill>
              </a:rPr>
              <a:t>)</a:t>
            </a:r>
            <a:endParaRPr lang="en-US" altLang="zh-CN" dirty="0">
              <a:solidFill>
                <a:schemeClr val="accent2"/>
              </a:solidFill>
            </a:endParaRPr>
          </a:p>
          <a:p>
            <a:pPr algn="just" eaLnBrk="1" hangingPunct="1">
              <a:buNone/>
            </a:pPr>
            <a:r>
              <a:rPr lang="en-US" altLang="zh-CN" dirty="0">
                <a:solidFill>
                  <a:schemeClr val="tx1"/>
                </a:solidFill>
              </a:rPr>
              <a:t>    (2) </a:t>
            </a:r>
            <a:r>
              <a:rPr lang="zh-CN" altLang="en-US" dirty="0">
                <a:solidFill>
                  <a:schemeClr val="tx1"/>
                </a:solidFill>
              </a:rPr>
              <a:t>足够大的外存</a:t>
            </a:r>
            <a:endParaRPr lang="zh-CN" altLang="en-US" dirty="0">
              <a:solidFill>
                <a:schemeClr val="tx1"/>
              </a:solidFill>
            </a:endParaRPr>
          </a:p>
          <a:p>
            <a:pPr lvl="1" algn="just" eaLnBrk="1" hangingPunct="1"/>
            <a:r>
              <a:rPr lang="zh-CN" altLang="en-US" dirty="0"/>
              <a:t> 磁盘</a:t>
            </a:r>
            <a:endParaRPr lang="zh-CN" altLang="en-US" dirty="0"/>
          </a:p>
          <a:p>
            <a:pPr lvl="2" eaLnBrk="1" hangingPunct="1"/>
            <a:r>
              <a:rPr lang="zh-CN" altLang="en-US" b="0" dirty="0"/>
              <a:t>操作系统</a:t>
            </a:r>
            <a:endParaRPr lang="zh-CN" altLang="en-US" b="0" dirty="0"/>
          </a:p>
          <a:p>
            <a:pPr lvl="2" eaLnBrk="1" hangingPunct="1"/>
            <a:r>
              <a:rPr lang="en-US" altLang="zh-CN" b="0" dirty="0"/>
              <a:t>DBMS</a:t>
            </a:r>
            <a:endParaRPr lang="en-US" altLang="zh-CN" b="0" dirty="0"/>
          </a:p>
          <a:p>
            <a:pPr lvl="2" eaLnBrk="1" hangingPunct="1"/>
            <a:r>
              <a:rPr lang="zh-CN" altLang="en-US" b="0" dirty="0"/>
              <a:t>应用程序</a:t>
            </a:r>
            <a:endParaRPr lang="zh-CN" altLang="en-US" b="0" dirty="0"/>
          </a:p>
          <a:p>
            <a:pPr lvl="2" algn="just" eaLnBrk="1" hangingPunct="1"/>
            <a:r>
              <a:rPr lang="zh-CN" altLang="en-US" b="0" dirty="0"/>
              <a:t>数据库及其备份</a:t>
            </a:r>
            <a:endParaRPr lang="zh-CN" altLang="en-US" sz="2800" dirty="0"/>
          </a:p>
          <a:p>
            <a:pPr lvl="1" algn="just" eaLnBrk="1" hangingPunct="1"/>
            <a:r>
              <a:rPr lang="zh-CN" altLang="en-US" dirty="0"/>
              <a:t> 光盘、磁带、软盘</a:t>
            </a:r>
            <a:endParaRPr lang="zh-CN" altLang="en-US" dirty="0"/>
          </a:p>
          <a:p>
            <a:pPr lvl="2" algn="just" eaLnBrk="1" hangingPunct="1"/>
            <a:r>
              <a:rPr lang="zh-CN" altLang="en-US" b="0" dirty="0"/>
              <a:t>数据备份</a:t>
            </a:r>
            <a:endParaRPr lang="zh-CN" altLang="en-US" sz="2800" dirty="0"/>
          </a:p>
          <a:p>
            <a:pPr lvl="1" algn="just" eaLnBrk="1" hangingPunct="1">
              <a:buNone/>
            </a:pPr>
            <a:r>
              <a:rPr lang="en-US" altLang="zh-CN" sz="3200" dirty="0"/>
              <a:t>(3) </a:t>
            </a:r>
            <a:r>
              <a:rPr lang="zh-CN" altLang="en-US" sz="3200" dirty="0"/>
              <a:t>较高的通道能力，提高数据传送率</a:t>
            </a:r>
            <a:endParaRPr lang="zh-CN" altLang="en-US" sz="32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0403"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0404" name="Rectangle 3"/>
          <p:cNvSpPr>
            <a:spLocks noGrp="1"/>
          </p:cNvSpPr>
          <p:nvPr>
            <p:ph idx="1"/>
          </p:nvPr>
        </p:nvSpPr>
        <p:spPr>
          <a:xfrm>
            <a:off x="685800" y="990600"/>
            <a:ext cx="8077200" cy="5181600"/>
          </a:xfrm>
          <a:ln/>
        </p:spPr>
        <p:txBody>
          <a:bodyPr vert="horz" wrap="square" lIns="91440" tIns="45720" rIns="91440" bIns="45720" anchor="t" anchorCtr="0"/>
          <a:p>
            <a:pPr algn="just" eaLnBrk="1" hangingPunct="1">
              <a:lnSpc>
                <a:spcPct val="140000"/>
              </a:lnSpc>
              <a:buNone/>
            </a:pPr>
            <a:r>
              <a:rPr lang="zh-CN" altLang="en-US" dirty="0">
                <a:solidFill>
                  <a:srgbClr val="FF0000"/>
                </a:solidFill>
                <a:latin typeface="Arial" panose="020B0604020202020204" pitchFamily="34" charset="0"/>
              </a:rPr>
              <a:t>二</a:t>
            </a:r>
            <a:r>
              <a:rPr lang="en-US" altLang="zh-CN" dirty="0">
                <a:solidFill>
                  <a:srgbClr val="FF0000"/>
                </a:solidFill>
                <a:latin typeface="Arial" panose="020B0604020202020204" pitchFamily="34" charset="0"/>
              </a:rPr>
              <a:t>.</a:t>
            </a:r>
            <a:r>
              <a:rPr lang="en-US" altLang="zh-CN" dirty="0">
                <a:solidFill>
                  <a:srgbClr val="FF0000"/>
                </a:solidFill>
              </a:rPr>
              <a:t> </a:t>
            </a:r>
            <a:r>
              <a:rPr lang="zh-CN" altLang="en-US" dirty="0">
                <a:solidFill>
                  <a:srgbClr val="FF0000"/>
                </a:solidFill>
              </a:rPr>
              <a:t>软件</a:t>
            </a:r>
            <a:endParaRPr lang="zh-CN" altLang="en-US" dirty="0">
              <a:solidFill>
                <a:srgbClr val="FF0000"/>
              </a:solidFill>
            </a:endParaRPr>
          </a:p>
          <a:p>
            <a:pPr algn="just" eaLnBrk="1" hangingPunct="1">
              <a:lnSpc>
                <a:spcPct val="110000"/>
              </a:lnSpc>
            </a:pPr>
            <a:r>
              <a:rPr lang="en-US" altLang="zh-CN" dirty="0">
                <a:solidFill>
                  <a:schemeClr val="tx1"/>
                </a:solidFill>
              </a:rPr>
              <a:t>DBMS</a:t>
            </a:r>
            <a:endParaRPr lang="en-US" altLang="zh-CN" dirty="0">
              <a:solidFill>
                <a:schemeClr val="tx1"/>
              </a:solidFill>
            </a:endParaRPr>
          </a:p>
          <a:p>
            <a:pPr algn="just" eaLnBrk="1" hangingPunct="1">
              <a:lnSpc>
                <a:spcPct val="110000"/>
              </a:lnSpc>
            </a:pPr>
            <a:r>
              <a:rPr lang="zh-CN" altLang="en-US" dirty="0">
                <a:solidFill>
                  <a:schemeClr val="tx1"/>
                </a:solidFill>
              </a:rPr>
              <a:t>操作系统</a:t>
            </a:r>
            <a:endParaRPr lang="zh-CN" altLang="en-US" dirty="0">
              <a:solidFill>
                <a:schemeClr val="tx1"/>
              </a:solidFill>
            </a:endParaRPr>
          </a:p>
          <a:p>
            <a:pPr algn="just" eaLnBrk="1" hangingPunct="1">
              <a:lnSpc>
                <a:spcPct val="110000"/>
              </a:lnSpc>
            </a:pPr>
            <a:r>
              <a:rPr lang="zh-CN" altLang="en-US" dirty="0">
                <a:solidFill>
                  <a:schemeClr val="tx1"/>
                </a:solidFill>
              </a:rPr>
              <a:t>与数据库接口的高级语言及其编译系统</a:t>
            </a:r>
            <a:endParaRPr lang="zh-CN" altLang="en-US" dirty="0">
              <a:solidFill>
                <a:schemeClr val="tx1"/>
              </a:solidFill>
            </a:endParaRPr>
          </a:p>
          <a:p>
            <a:pPr algn="just" eaLnBrk="1" hangingPunct="1">
              <a:lnSpc>
                <a:spcPct val="110000"/>
              </a:lnSpc>
            </a:pPr>
            <a:r>
              <a:rPr lang="zh-CN" altLang="en-US" dirty="0">
                <a:solidFill>
                  <a:schemeClr val="tx1"/>
                </a:solidFill>
              </a:rPr>
              <a:t>以</a:t>
            </a:r>
            <a:r>
              <a:rPr lang="en-US" altLang="zh-CN" dirty="0">
                <a:solidFill>
                  <a:schemeClr val="tx1"/>
                </a:solidFill>
              </a:rPr>
              <a:t>DBMS</a:t>
            </a:r>
            <a:r>
              <a:rPr lang="zh-CN" altLang="en-US" dirty="0">
                <a:solidFill>
                  <a:schemeClr val="tx1"/>
                </a:solidFill>
              </a:rPr>
              <a:t>为核心的应用开发工具</a:t>
            </a:r>
            <a:endParaRPr lang="zh-CN" altLang="en-US" dirty="0">
              <a:solidFill>
                <a:schemeClr val="tx1"/>
              </a:solidFill>
            </a:endParaRPr>
          </a:p>
          <a:p>
            <a:pPr algn="just" eaLnBrk="1" hangingPunct="1">
              <a:lnSpc>
                <a:spcPct val="110000"/>
              </a:lnSpc>
            </a:pPr>
            <a:r>
              <a:rPr lang="zh-CN" altLang="en-US" dirty="0">
                <a:solidFill>
                  <a:schemeClr val="tx1"/>
                </a:solidFill>
              </a:rPr>
              <a:t>为特定应用环境开发的数据库应用系统</a:t>
            </a:r>
            <a:endParaRPr lang="zh-CN" altLang="en-US" dirty="0">
              <a:solidFill>
                <a:schemeClr val="tx1"/>
              </a:solidFill>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1427"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1428" name="Rectangle 3"/>
          <p:cNvSpPr>
            <a:spLocks noGrp="1"/>
          </p:cNvSpPr>
          <p:nvPr>
            <p:ph idx="1"/>
          </p:nvPr>
        </p:nvSpPr>
        <p:spPr>
          <a:xfrm>
            <a:off x="685800" y="990600"/>
            <a:ext cx="8077200" cy="5181600"/>
          </a:xfrm>
          <a:ln/>
        </p:spPr>
        <p:txBody>
          <a:bodyPr vert="horz" wrap="square" lIns="91440" tIns="45720" rIns="91440" bIns="45720" anchor="t" anchorCtr="0"/>
          <a:p>
            <a:pPr algn="just" eaLnBrk="1" hangingPunct="1">
              <a:lnSpc>
                <a:spcPct val="140000"/>
              </a:lnSpc>
              <a:buNone/>
            </a:pPr>
            <a:r>
              <a:rPr lang="zh-CN" altLang="en-US" dirty="0">
                <a:solidFill>
                  <a:srgbClr val="FF0000"/>
                </a:solidFill>
                <a:latin typeface="Arial" panose="020B0604020202020204" pitchFamily="34" charset="0"/>
              </a:rPr>
              <a:t>三</a:t>
            </a:r>
            <a:r>
              <a:rPr lang="en-US" altLang="zh-CN" dirty="0">
                <a:solidFill>
                  <a:srgbClr val="FF0000"/>
                </a:solidFill>
                <a:latin typeface="Arial" panose="020B0604020202020204" pitchFamily="34" charset="0"/>
              </a:rPr>
              <a:t>.</a:t>
            </a:r>
            <a:r>
              <a:rPr lang="en-US" altLang="zh-CN" dirty="0">
                <a:solidFill>
                  <a:srgbClr val="FF0000"/>
                </a:solidFill>
              </a:rPr>
              <a:t> </a:t>
            </a:r>
            <a:r>
              <a:rPr lang="zh-CN" altLang="en-US" dirty="0">
                <a:solidFill>
                  <a:srgbClr val="FF0000"/>
                </a:solidFill>
              </a:rPr>
              <a:t>人员</a:t>
            </a:r>
            <a:endParaRPr lang="zh-CN" altLang="en-US" dirty="0">
              <a:solidFill>
                <a:srgbClr val="FF0000"/>
              </a:solidFill>
            </a:endParaRPr>
          </a:p>
          <a:p>
            <a:pPr algn="just" eaLnBrk="1" hangingPunct="1">
              <a:lnSpc>
                <a:spcPct val="120000"/>
              </a:lnSpc>
            </a:pPr>
            <a:r>
              <a:rPr lang="zh-CN" altLang="en-US" dirty="0">
                <a:solidFill>
                  <a:schemeClr val="tx1"/>
                </a:solidFill>
              </a:rPr>
              <a:t>数据库管理员</a:t>
            </a:r>
            <a:endParaRPr lang="zh-CN" altLang="en-US" dirty="0">
              <a:solidFill>
                <a:schemeClr val="tx1"/>
              </a:solidFill>
            </a:endParaRPr>
          </a:p>
          <a:p>
            <a:pPr algn="just" eaLnBrk="1" hangingPunct="1">
              <a:lnSpc>
                <a:spcPct val="120000"/>
              </a:lnSpc>
            </a:pPr>
            <a:r>
              <a:rPr lang="zh-CN" altLang="en-US" dirty="0">
                <a:solidFill>
                  <a:schemeClr val="tx1"/>
                </a:solidFill>
              </a:rPr>
              <a:t>系统分析员</a:t>
            </a:r>
            <a:endParaRPr lang="zh-CN" altLang="en-US" dirty="0">
              <a:solidFill>
                <a:schemeClr val="tx1"/>
              </a:solidFill>
            </a:endParaRPr>
          </a:p>
          <a:p>
            <a:pPr algn="just" eaLnBrk="1" hangingPunct="1">
              <a:lnSpc>
                <a:spcPct val="120000"/>
              </a:lnSpc>
            </a:pPr>
            <a:r>
              <a:rPr lang="zh-CN" altLang="en-US" dirty="0">
                <a:solidFill>
                  <a:schemeClr val="tx1"/>
                </a:solidFill>
              </a:rPr>
              <a:t>数据库设计人员</a:t>
            </a:r>
            <a:endParaRPr lang="zh-CN" altLang="en-US" dirty="0">
              <a:solidFill>
                <a:schemeClr val="tx1"/>
              </a:solidFill>
            </a:endParaRPr>
          </a:p>
          <a:p>
            <a:pPr algn="just" eaLnBrk="1" hangingPunct="1">
              <a:lnSpc>
                <a:spcPct val="120000"/>
              </a:lnSpc>
            </a:pPr>
            <a:r>
              <a:rPr lang="zh-CN" altLang="en-US" dirty="0">
                <a:solidFill>
                  <a:schemeClr val="tx1"/>
                </a:solidFill>
              </a:rPr>
              <a:t>应用程序员</a:t>
            </a:r>
            <a:endParaRPr lang="zh-CN" altLang="en-US" dirty="0">
              <a:solidFill>
                <a:schemeClr val="tx1"/>
              </a:solidFill>
            </a:endParaRPr>
          </a:p>
          <a:p>
            <a:pPr algn="just" eaLnBrk="1" hangingPunct="1">
              <a:lnSpc>
                <a:spcPct val="120000"/>
              </a:lnSpc>
            </a:pPr>
            <a:r>
              <a:rPr lang="en-US" altLang="zh-CN" dirty="0">
                <a:solidFill>
                  <a:schemeClr val="tx1"/>
                </a:solidFill>
              </a:rPr>
              <a:t>(</a:t>
            </a:r>
            <a:r>
              <a:rPr lang="zh-CN" altLang="en-US" dirty="0">
                <a:solidFill>
                  <a:schemeClr val="tx1"/>
                </a:solidFill>
              </a:rPr>
              <a:t>最终用户</a:t>
            </a:r>
            <a:r>
              <a:rPr lang="en-US" altLang="zh-CN" dirty="0">
                <a:solidFill>
                  <a:schemeClr val="tx1"/>
                </a:solidFill>
              </a:rPr>
              <a:t>)</a:t>
            </a:r>
            <a:endParaRPr lang="en-US" altLang="zh-CN" dirty="0">
              <a:solidFill>
                <a:schemeClr val="tx1"/>
              </a:solidFill>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2451"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2452" name="Rectangle 3"/>
          <p:cNvSpPr>
            <a:spLocks noGrp="1"/>
          </p:cNvSpPr>
          <p:nvPr>
            <p:ph idx="1"/>
          </p:nvPr>
        </p:nvSpPr>
        <p:spPr>
          <a:xfrm>
            <a:off x="685800" y="990600"/>
            <a:ext cx="8077200" cy="5181600"/>
          </a:xfrm>
          <a:ln/>
        </p:spPr>
        <p:txBody>
          <a:bodyPr vert="horz" wrap="square" lIns="91440" tIns="45720" rIns="91440" bIns="45720" anchor="t" anchorCtr="0"/>
          <a:p>
            <a:pPr algn="just" eaLnBrk="1" hangingPunct="1">
              <a:lnSpc>
                <a:spcPct val="140000"/>
              </a:lnSpc>
              <a:buNone/>
            </a:pPr>
            <a:r>
              <a:rPr lang="en-US" altLang="zh-CN" dirty="0">
                <a:solidFill>
                  <a:schemeClr val="accent2"/>
                </a:solidFill>
                <a:latin typeface="Arial" panose="020B0604020202020204" pitchFamily="34" charset="0"/>
              </a:rPr>
              <a:t>1. </a:t>
            </a:r>
            <a:r>
              <a:rPr lang="zh-CN" altLang="en-US" dirty="0">
                <a:solidFill>
                  <a:schemeClr val="accent2"/>
                </a:solidFill>
              </a:rPr>
              <a:t>数据库管理员</a:t>
            </a:r>
            <a:r>
              <a:rPr lang="en-US" altLang="zh-CN" dirty="0">
                <a:solidFill>
                  <a:schemeClr val="accent2"/>
                </a:solidFill>
              </a:rPr>
              <a:t>(DBA)</a:t>
            </a:r>
            <a:endParaRPr lang="en-US" altLang="zh-CN" dirty="0">
              <a:solidFill>
                <a:schemeClr val="accent2"/>
              </a:solidFill>
            </a:endParaRPr>
          </a:p>
          <a:p>
            <a:pPr algn="just" eaLnBrk="1" hangingPunct="1">
              <a:lnSpc>
                <a:spcPct val="160000"/>
              </a:lnSpc>
            </a:pPr>
            <a:r>
              <a:rPr lang="zh-CN" altLang="en-US" dirty="0">
                <a:solidFill>
                  <a:schemeClr val="tx1"/>
                </a:solidFill>
              </a:rPr>
              <a:t>决定数据库中的信息内容和结构</a:t>
            </a:r>
            <a:endParaRPr lang="zh-CN" altLang="en-US" dirty="0">
              <a:solidFill>
                <a:schemeClr val="tx1"/>
              </a:solidFill>
            </a:endParaRPr>
          </a:p>
          <a:p>
            <a:pPr algn="just" eaLnBrk="1" hangingPunct="1">
              <a:lnSpc>
                <a:spcPct val="160000"/>
              </a:lnSpc>
            </a:pPr>
            <a:r>
              <a:rPr lang="zh-CN" altLang="en-US" dirty="0">
                <a:solidFill>
                  <a:schemeClr val="tx1"/>
                </a:solidFill>
              </a:rPr>
              <a:t>决定数据库的存储结构和存取策略</a:t>
            </a:r>
            <a:endParaRPr lang="zh-CN" altLang="en-US" dirty="0">
              <a:solidFill>
                <a:schemeClr val="tx1"/>
              </a:solidFill>
            </a:endParaRPr>
          </a:p>
          <a:p>
            <a:pPr algn="just" eaLnBrk="1" hangingPunct="1">
              <a:lnSpc>
                <a:spcPct val="160000"/>
              </a:lnSpc>
            </a:pPr>
            <a:r>
              <a:rPr lang="zh-CN" altLang="en-US" dirty="0">
                <a:solidFill>
                  <a:schemeClr val="tx1"/>
                </a:solidFill>
              </a:rPr>
              <a:t>定义数据的安全性要求和完整性约束条件</a:t>
            </a:r>
            <a:endParaRPr lang="zh-CN" altLang="en-US" dirty="0">
              <a:solidFill>
                <a:schemeClr val="tx1"/>
              </a:solidFill>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3475"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3476" name="Rectangle 3"/>
          <p:cNvSpPr>
            <a:spLocks noGrp="1"/>
          </p:cNvSpPr>
          <p:nvPr>
            <p:ph idx="1"/>
          </p:nvPr>
        </p:nvSpPr>
        <p:spPr>
          <a:xfrm>
            <a:off x="685800" y="990600"/>
            <a:ext cx="8077200" cy="5181600"/>
          </a:xfrm>
          <a:ln/>
        </p:spPr>
        <p:txBody>
          <a:bodyPr vert="horz" wrap="square" lIns="91440" tIns="45720" rIns="91440" bIns="45720" anchor="t" anchorCtr="0"/>
          <a:p>
            <a:pPr algn="just" eaLnBrk="1" hangingPunct="1">
              <a:lnSpc>
                <a:spcPct val="140000"/>
              </a:lnSpc>
              <a:buNone/>
            </a:pPr>
            <a:r>
              <a:rPr lang="zh-CN" altLang="en-US" dirty="0">
                <a:solidFill>
                  <a:schemeClr val="accent2"/>
                </a:solidFill>
              </a:rPr>
              <a:t>数据库管理员</a:t>
            </a:r>
            <a:r>
              <a:rPr lang="en-US" altLang="zh-CN" dirty="0">
                <a:solidFill>
                  <a:schemeClr val="accent2"/>
                </a:solidFill>
              </a:rPr>
              <a:t>(</a:t>
            </a:r>
            <a:r>
              <a:rPr lang="zh-CN" altLang="en-US" dirty="0">
                <a:solidFill>
                  <a:schemeClr val="accent2"/>
                </a:solidFill>
              </a:rPr>
              <a:t>续</a:t>
            </a:r>
            <a:r>
              <a:rPr lang="en-US" altLang="zh-CN" dirty="0">
                <a:solidFill>
                  <a:schemeClr val="accent2"/>
                </a:solidFill>
              </a:rPr>
              <a:t>)</a:t>
            </a:r>
            <a:endParaRPr lang="en-US" altLang="zh-CN" dirty="0">
              <a:solidFill>
                <a:schemeClr val="accent2"/>
              </a:solidFill>
            </a:endParaRPr>
          </a:p>
          <a:p>
            <a:pPr algn="just" eaLnBrk="1" hangingPunct="1">
              <a:lnSpc>
                <a:spcPct val="110000"/>
              </a:lnSpc>
            </a:pPr>
            <a:r>
              <a:rPr lang="zh-CN" altLang="en-US" dirty="0">
                <a:solidFill>
                  <a:schemeClr val="tx1"/>
                </a:solidFill>
                <a:latin typeface="宋体" panose="02010600030101010101" pitchFamily="2" charset="-122"/>
              </a:rPr>
              <a:t>监控数据库的使用和运行</a:t>
            </a:r>
            <a:endParaRPr lang="zh-CN" altLang="en-US" dirty="0">
              <a:solidFill>
                <a:schemeClr val="tx1"/>
              </a:solidFill>
              <a:latin typeface="宋体" panose="02010600030101010101" pitchFamily="2" charset="-122"/>
            </a:endParaRPr>
          </a:p>
          <a:p>
            <a:pPr lvl="1" eaLnBrk="1" hangingPunct="1">
              <a:lnSpc>
                <a:spcPct val="110000"/>
              </a:lnSpc>
            </a:pPr>
            <a:r>
              <a:rPr lang="zh-CN" altLang="en-US" dirty="0">
                <a:latin typeface="宋体" panose="02010600030101010101" pitchFamily="2" charset="-122"/>
              </a:rPr>
              <a:t>周期性转储数据库</a:t>
            </a:r>
            <a:endParaRPr lang="zh-CN" altLang="en-US" dirty="0">
              <a:latin typeface="宋体" panose="02010600030101010101" pitchFamily="2" charset="-122"/>
            </a:endParaRPr>
          </a:p>
          <a:p>
            <a:pPr lvl="2" eaLnBrk="1" hangingPunct="1">
              <a:lnSpc>
                <a:spcPct val="110000"/>
              </a:lnSpc>
            </a:pPr>
            <a:r>
              <a:rPr lang="zh-CN" altLang="en-US" dirty="0">
                <a:latin typeface="宋体" panose="02010600030101010101" pitchFamily="2" charset="-122"/>
              </a:rPr>
              <a:t>数据文件</a:t>
            </a:r>
            <a:endParaRPr lang="zh-CN" altLang="en-US" dirty="0">
              <a:latin typeface="宋体" panose="02010600030101010101" pitchFamily="2" charset="-122"/>
            </a:endParaRPr>
          </a:p>
          <a:p>
            <a:pPr lvl="2" eaLnBrk="1" hangingPunct="1">
              <a:lnSpc>
                <a:spcPct val="110000"/>
              </a:lnSpc>
            </a:pPr>
            <a:r>
              <a:rPr lang="zh-CN" altLang="en-US" dirty="0">
                <a:latin typeface="宋体" panose="02010600030101010101" pitchFamily="2" charset="-122"/>
              </a:rPr>
              <a:t>日志文件</a:t>
            </a:r>
            <a:endParaRPr lang="zh-CN" altLang="en-US" dirty="0">
              <a:latin typeface="宋体" panose="02010600030101010101" pitchFamily="2" charset="-122"/>
            </a:endParaRPr>
          </a:p>
          <a:p>
            <a:pPr lvl="1" eaLnBrk="1" hangingPunct="1">
              <a:lnSpc>
                <a:spcPct val="110000"/>
              </a:lnSpc>
            </a:pPr>
            <a:r>
              <a:rPr lang="zh-CN" altLang="en-US" dirty="0">
                <a:latin typeface="宋体" panose="02010600030101010101" pitchFamily="2" charset="-122"/>
              </a:rPr>
              <a:t>系统故障恢复</a:t>
            </a:r>
            <a:endParaRPr lang="zh-CN" altLang="en-US" dirty="0">
              <a:latin typeface="宋体" panose="02010600030101010101" pitchFamily="2" charset="-122"/>
            </a:endParaRPr>
          </a:p>
          <a:p>
            <a:pPr lvl="1" eaLnBrk="1" hangingPunct="1">
              <a:lnSpc>
                <a:spcPct val="110000"/>
              </a:lnSpc>
            </a:pPr>
            <a:r>
              <a:rPr lang="zh-CN" altLang="en-US" dirty="0">
                <a:latin typeface="宋体" panose="02010600030101010101" pitchFamily="2" charset="-122"/>
              </a:rPr>
              <a:t>介质故障恢复</a:t>
            </a:r>
            <a:endParaRPr lang="zh-CN" altLang="en-US" dirty="0">
              <a:latin typeface="宋体" panose="02010600030101010101" pitchFamily="2" charset="-122"/>
            </a:endParaRPr>
          </a:p>
          <a:p>
            <a:pPr lvl="1" eaLnBrk="1" hangingPunct="1">
              <a:lnSpc>
                <a:spcPct val="110000"/>
              </a:lnSpc>
            </a:pPr>
            <a:r>
              <a:rPr lang="zh-CN" altLang="en-US" dirty="0">
                <a:latin typeface="宋体" panose="02010600030101010101" pitchFamily="2" charset="-122"/>
              </a:rPr>
              <a:t>监视审计文件</a:t>
            </a:r>
            <a:endParaRPr lang="zh-CN" altLang="en-US" dirty="0">
              <a:latin typeface="宋体" panose="02010600030101010101" pitchFamily="2" charset="-122"/>
            </a:endParaRPr>
          </a:p>
          <a:p>
            <a:pPr lvl="1" eaLnBrk="1" hangingPunct="1">
              <a:lnSpc>
                <a:spcPct val="110000"/>
              </a:lnSpc>
            </a:pPr>
            <a:endParaRPr lang="zh-CN" altLang="en-US"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4499"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4500" name="Rectangle 3"/>
          <p:cNvSpPr>
            <a:spLocks noGrp="1"/>
          </p:cNvSpPr>
          <p:nvPr>
            <p:ph idx="1"/>
          </p:nvPr>
        </p:nvSpPr>
        <p:spPr>
          <a:xfrm>
            <a:off x="685800" y="990600"/>
            <a:ext cx="8077200" cy="5181600"/>
          </a:xfrm>
          <a:ln/>
        </p:spPr>
        <p:txBody>
          <a:bodyPr vert="horz" wrap="square" lIns="91440" tIns="45720" rIns="91440" bIns="45720" anchor="t" anchorCtr="0"/>
          <a:p>
            <a:pPr algn="just" eaLnBrk="1" hangingPunct="1">
              <a:lnSpc>
                <a:spcPct val="140000"/>
              </a:lnSpc>
              <a:buNone/>
            </a:pPr>
            <a:r>
              <a:rPr lang="zh-CN" altLang="en-US" dirty="0">
                <a:solidFill>
                  <a:schemeClr val="accent2"/>
                </a:solidFill>
              </a:rPr>
              <a:t>数据库管理员</a:t>
            </a:r>
            <a:r>
              <a:rPr lang="en-US" altLang="zh-CN" dirty="0">
                <a:solidFill>
                  <a:schemeClr val="accent2"/>
                </a:solidFill>
              </a:rPr>
              <a:t>(</a:t>
            </a:r>
            <a:r>
              <a:rPr lang="zh-CN" altLang="en-US" dirty="0">
                <a:solidFill>
                  <a:schemeClr val="accent2"/>
                </a:solidFill>
              </a:rPr>
              <a:t>续</a:t>
            </a:r>
            <a:r>
              <a:rPr lang="en-US" altLang="zh-CN" dirty="0">
                <a:solidFill>
                  <a:schemeClr val="accent2"/>
                </a:solidFill>
              </a:rPr>
              <a:t>)</a:t>
            </a:r>
            <a:endParaRPr lang="en-US" altLang="zh-CN" dirty="0">
              <a:solidFill>
                <a:schemeClr val="accent2"/>
              </a:solidFill>
            </a:endParaRPr>
          </a:p>
          <a:p>
            <a:pPr eaLnBrk="1" hangingPunct="1">
              <a:lnSpc>
                <a:spcPct val="120000"/>
              </a:lnSpc>
            </a:pPr>
            <a:r>
              <a:rPr lang="zh-CN" altLang="en-US" dirty="0">
                <a:solidFill>
                  <a:schemeClr val="tx1"/>
                </a:solidFill>
              </a:rPr>
              <a:t>数据库的改进和重组</a:t>
            </a:r>
            <a:endParaRPr lang="zh-CN" altLang="en-US" dirty="0">
              <a:solidFill>
                <a:schemeClr val="tx1"/>
              </a:solidFill>
            </a:endParaRPr>
          </a:p>
          <a:p>
            <a:pPr lvl="1" algn="just" eaLnBrk="1" hangingPunct="1">
              <a:lnSpc>
                <a:spcPct val="120000"/>
              </a:lnSpc>
            </a:pPr>
            <a:r>
              <a:rPr lang="zh-CN" altLang="en-US" dirty="0">
                <a:latin typeface="宋体" panose="02010600030101010101" pitchFamily="2" charset="-122"/>
              </a:rPr>
              <a:t>性能监控和调优</a:t>
            </a:r>
            <a:endParaRPr lang="zh-CN" altLang="en-US"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数据重组</a:t>
            </a:r>
            <a:endParaRPr lang="zh-CN" altLang="en-US" dirty="0">
              <a:latin typeface="宋体" panose="02010600030101010101" pitchFamily="2" charset="-122"/>
            </a:endParaRPr>
          </a:p>
          <a:p>
            <a:pPr algn="just" eaLnBrk="1" hangingPunct="1">
              <a:lnSpc>
                <a:spcPct val="120000"/>
              </a:lnSpc>
            </a:pPr>
            <a:r>
              <a:rPr lang="zh-CN" altLang="en-US" dirty="0">
                <a:solidFill>
                  <a:schemeClr val="tx1"/>
                </a:solidFill>
              </a:rPr>
              <a:t>数据库重构</a:t>
            </a:r>
            <a:endParaRPr lang="zh-CN" altLang="en-US" dirty="0">
              <a:solidFill>
                <a:schemeClr val="tx1"/>
              </a:solidFill>
            </a:endParaRPr>
          </a:p>
          <a:p>
            <a:pPr lvl="1" eaLnBrk="1" hangingPunct="1">
              <a:lnSpc>
                <a:spcPct val="110000"/>
              </a:lnSpc>
            </a:pPr>
            <a:endParaRPr lang="zh-CN" altLang="en-US"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5523"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5524" name="Rectangle 3"/>
          <p:cNvSpPr>
            <a:spLocks noGrp="1"/>
          </p:cNvSpPr>
          <p:nvPr>
            <p:ph idx="1"/>
          </p:nvPr>
        </p:nvSpPr>
        <p:spPr>
          <a:xfrm>
            <a:off x="381000" y="990600"/>
            <a:ext cx="8534400" cy="5181600"/>
          </a:xfrm>
          <a:ln/>
        </p:spPr>
        <p:txBody>
          <a:bodyPr vert="horz" wrap="square" lIns="91440" tIns="45720" rIns="91440" bIns="45720" anchor="t" anchorCtr="0"/>
          <a:p>
            <a:pPr algn="just" eaLnBrk="1" hangingPunct="1">
              <a:lnSpc>
                <a:spcPct val="140000"/>
              </a:lnSpc>
              <a:buNone/>
            </a:pPr>
            <a:r>
              <a:rPr lang="en-US" altLang="zh-CN" dirty="0">
                <a:solidFill>
                  <a:schemeClr val="accent2"/>
                </a:solidFill>
                <a:latin typeface="Arial" panose="020B0604020202020204" pitchFamily="34" charset="0"/>
              </a:rPr>
              <a:t>2. </a:t>
            </a:r>
            <a:r>
              <a:rPr lang="zh-CN" altLang="en-US" dirty="0">
                <a:solidFill>
                  <a:schemeClr val="accent2"/>
                </a:solidFill>
              </a:rPr>
              <a:t>系统分析员</a:t>
            </a:r>
            <a:endParaRPr lang="zh-CN" altLang="en-US" dirty="0">
              <a:solidFill>
                <a:schemeClr val="accent2"/>
              </a:solidFill>
            </a:endParaRPr>
          </a:p>
          <a:p>
            <a:pPr algn="just" eaLnBrk="1" hangingPunct="1">
              <a:lnSpc>
                <a:spcPct val="210000"/>
              </a:lnSpc>
              <a:spcAft>
                <a:spcPct val="30000"/>
              </a:spcAft>
            </a:pPr>
            <a:r>
              <a:rPr lang="zh-CN" altLang="en-US" dirty="0">
                <a:solidFill>
                  <a:schemeClr val="tx1"/>
                </a:solidFill>
              </a:rPr>
              <a:t>负责应用系统的需求分析和规范说明</a:t>
            </a:r>
            <a:endParaRPr lang="zh-CN" altLang="en-US" dirty="0">
              <a:solidFill>
                <a:schemeClr val="tx1"/>
              </a:solidFill>
            </a:endParaRPr>
          </a:p>
          <a:p>
            <a:pPr algn="just" eaLnBrk="1" hangingPunct="1">
              <a:spcAft>
                <a:spcPct val="30000"/>
              </a:spcAft>
            </a:pPr>
            <a:r>
              <a:rPr lang="zh-CN" altLang="en-US" dirty="0">
                <a:solidFill>
                  <a:schemeClr val="tx1"/>
                </a:solidFill>
              </a:rPr>
              <a:t>与用户及</a:t>
            </a:r>
            <a:r>
              <a:rPr lang="en-US" altLang="zh-CN" dirty="0">
                <a:solidFill>
                  <a:schemeClr val="tx1"/>
                </a:solidFill>
              </a:rPr>
              <a:t>DBA</a:t>
            </a:r>
            <a:r>
              <a:rPr lang="zh-CN" altLang="en-US" dirty="0">
                <a:solidFill>
                  <a:schemeClr val="tx1"/>
                </a:solidFill>
              </a:rPr>
              <a:t>协商，确定系统的硬软件配置</a:t>
            </a:r>
            <a:endParaRPr lang="zh-CN" altLang="en-US" dirty="0">
              <a:solidFill>
                <a:schemeClr val="tx1"/>
              </a:solidFill>
            </a:endParaRPr>
          </a:p>
          <a:p>
            <a:pPr algn="just" eaLnBrk="1" hangingPunct="1">
              <a:spcAft>
                <a:spcPct val="30000"/>
              </a:spcAft>
            </a:pPr>
            <a:r>
              <a:rPr lang="zh-CN" altLang="en-US" dirty="0">
                <a:solidFill>
                  <a:schemeClr val="tx1"/>
                </a:solidFill>
              </a:rPr>
              <a:t>参与数据库系统的概要设计</a:t>
            </a:r>
            <a:endParaRPr lang="zh-CN" altLang="en-US" dirty="0">
              <a:solidFill>
                <a:schemeClr val="tx1"/>
              </a:solidFill>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6547"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6548" name="Rectangle 3"/>
          <p:cNvSpPr>
            <a:spLocks noGrp="1"/>
          </p:cNvSpPr>
          <p:nvPr>
            <p:ph idx="1"/>
          </p:nvPr>
        </p:nvSpPr>
        <p:spPr>
          <a:xfrm>
            <a:off x="381000" y="990600"/>
            <a:ext cx="8534400" cy="5181600"/>
          </a:xfrm>
          <a:ln/>
        </p:spPr>
        <p:txBody>
          <a:bodyPr vert="horz" wrap="square" lIns="91440" tIns="45720" rIns="91440" bIns="45720" anchor="t" anchorCtr="0"/>
          <a:p>
            <a:pPr algn="just" eaLnBrk="1" hangingPunct="1">
              <a:lnSpc>
                <a:spcPct val="140000"/>
              </a:lnSpc>
              <a:buNone/>
            </a:pPr>
            <a:r>
              <a:rPr lang="en-US" altLang="zh-CN" dirty="0">
                <a:solidFill>
                  <a:schemeClr val="accent2"/>
                </a:solidFill>
                <a:latin typeface="Arial" panose="020B0604020202020204" pitchFamily="34" charset="0"/>
              </a:rPr>
              <a:t>3. </a:t>
            </a:r>
            <a:r>
              <a:rPr lang="zh-CN" altLang="en-US" dirty="0">
                <a:solidFill>
                  <a:schemeClr val="accent2"/>
                </a:solidFill>
              </a:rPr>
              <a:t>数据库设计人员</a:t>
            </a:r>
            <a:endParaRPr lang="zh-CN" altLang="en-US" dirty="0">
              <a:solidFill>
                <a:schemeClr val="accent2"/>
              </a:solidFill>
            </a:endParaRPr>
          </a:p>
          <a:p>
            <a:pPr algn="just" eaLnBrk="1" hangingPunct="1">
              <a:lnSpc>
                <a:spcPct val="200000"/>
              </a:lnSpc>
              <a:buClr>
                <a:schemeClr val="tx1"/>
              </a:buClr>
            </a:pPr>
            <a:r>
              <a:rPr lang="zh-CN" altLang="en-US" dirty="0">
                <a:solidFill>
                  <a:schemeClr val="tx1"/>
                </a:solidFill>
              </a:rPr>
              <a:t>参加用户需求调查和系统分析</a:t>
            </a:r>
            <a:endParaRPr lang="zh-CN" altLang="en-US" dirty="0">
              <a:solidFill>
                <a:schemeClr val="tx1"/>
              </a:solidFill>
            </a:endParaRPr>
          </a:p>
          <a:p>
            <a:pPr algn="just" eaLnBrk="1" hangingPunct="1">
              <a:lnSpc>
                <a:spcPct val="200000"/>
              </a:lnSpc>
              <a:buClr>
                <a:schemeClr val="tx1"/>
              </a:buClr>
            </a:pPr>
            <a:r>
              <a:rPr lang="zh-CN" altLang="en-US" dirty="0">
                <a:solidFill>
                  <a:schemeClr val="tx1"/>
                </a:solidFill>
              </a:rPr>
              <a:t>确定数据库中的数据</a:t>
            </a:r>
            <a:endParaRPr lang="zh-CN" altLang="en-US" dirty="0">
              <a:solidFill>
                <a:schemeClr val="tx1"/>
              </a:solidFill>
            </a:endParaRPr>
          </a:p>
          <a:p>
            <a:pPr algn="just" eaLnBrk="1" hangingPunct="1">
              <a:lnSpc>
                <a:spcPct val="200000"/>
              </a:lnSpc>
              <a:buClr>
                <a:schemeClr val="tx1"/>
              </a:buClr>
            </a:pPr>
            <a:r>
              <a:rPr lang="zh-CN" altLang="en-US" dirty="0">
                <a:solidFill>
                  <a:schemeClr val="tx1"/>
                </a:solidFill>
              </a:rPr>
              <a:t>设计数据库各级模式</a:t>
            </a:r>
            <a:endParaRPr lang="zh-CN" altLang="en-US" dirty="0">
              <a:solidFill>
                <a:schemeClr val="tx1"/>
              </a:solidFill>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7571"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7572" name="Rectangle 3"/>
          <p:cNvSpPr>
            <a:spLocks noGrp="1"/>
          </p:cNvSpPr>
          <p:nvPr>
            <p:ph idx="1"/>
          </p:nvPr>
        </p:nvSpPr>
        <p:spPr>
          <a:xfrm>
            <a:off x="381000" y="990600"/>
            <a:ext cx="8534400" cy="5181600"/>
          </a:xfrm>
          <a:ln/>
        </p:spPr>
        <p:txBody>
          <a:bodyPr vert="horz" wrap="square" lIns="91440" tIns="45720" rIns="91440" bIns="45720" anchor="t" anchorCtr="0"/>
          <a:p>
            <a:pPr algn="just" eaLnBrk="1" hangingPunct="1">
              <a:lnSpc>
                <a:spcPct val="140000"/>
              </a:lnSpc>
              <a:buNone/>
            </a:pPr>
            <a:r>
              <a:rPr lang="en-US" altLang="zh-CN" dirty="0">
                <a:solidFill>
                  <a:schemeClr val="accent2"/>
                </a:solidFill>
                <a:latin typeface="Arial" panose="020B0604020202020204" pitchFamily="34" charset="0"/>
              </a:rPr>
              <a:t>4. </a:t>
            </a:r>
            <a:r>
              <a:rPr lang="zh-CN" altLang="en-US" dirty="0">
                <a:solidFill>
                  <a:schemeClr val="accent2"/>
                </a:solidFill>
              </a:rPr>
              <a:t>应用程序员</a:t>
            </a:r>
            <a:endParaRPr lang="zh-CN" altLang="en-US" dirty="0">
              <a:solidFill>
                <a:schemeClr val="accent2"/>
              </a:solidFill>
            </a:endParaRPr>
          </a:p>
          <a:p>
            <a:pPr algn="just" eaLnBrk="1" hangingPunct="1">
              <a:lnSpc>
                <a:spcPct val="190000"/>
              </a:lnSpc>
            </a:pPr>
            <a:r>
              <a:rPr lang="zh-CN" altLang="en-US" dirty="0">
                <a:solidFill>
                  <a:schemeClr val="tx1"/>
                </a:solidFill>
              </a:rPr>
              <a:t>设计和编写应用系统的程序模块</a:t>
            </a:r>
            <a:endParaRPr lang="zh-CN" altLang="en-US" dirty="0">
              <a:solidFill>
                <a:schemeClr val="tx1"/>
              </a:solidFill>
            </a:endParaRPr>
          </a:p>
          <a:p>
            <a:pPr algn="just" eaLnBrk="1" hangingPunct="1">
              <a:lnSpc>
                <a:spcPct val="190000"/>
              </a:lnSpc>
            </a:pPr>
            <a:r>
              <a:rPr lang="zh-CN" altLang="en-US" dirty="0">
                <a:solidFill>
                  <a:schemeClr val="tx1"/>
                </a:solidFill>
              </a:rPr>
              <a:t>进行调试和安装</a:t>
            </a:r>
            <a:endParaRPr lang="zh-CN" altLang="en-US" dirty="0">
              <a:solidFill>
                <a:schemeClr val="tx1"/>
              </a:solidFill>
            </a:endParaRPr>
          </a:p>
          <a:p>
            <a:pPr eaLnBrk="1" hangingPunct="1"/>
            <a:endParaRPr lang="zh-CN" altLang="en-US" dirty="0">
              <a:solidFill>
                <a:schemeClr val="tx1"/>
              </a:solidFill>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8595"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8596" name="Rectangle 3"/>
          <p:cNvSpPr>
            <a:spLocks noGrp="1"/>
          </p:cNvSpPr>
          <p:nvPr>
            <p:ph idx="1"/>
          </p:nvPr>
        </p:nvSpPr>
        <p:spPr>
          <a:xfrm>
            <a:off x="381000" y="990600"/>
            <a:ext cx="8534400" cy="5181600"/>
          </a:xfrm>
          <a:ln/>
        </p:spPr>
        <p:txBody>
          <a:bodyPr vert="horz" wrap="square" lIns="91440" tIns="45720" rIns="91440" bIns="45720" anchor="t" anchorCtr="0"/>
          <a:p>
            <a:pPr algn="just" eaLnBrk="1" hangingPunct="1">
              <a:lnSpc>
                <a:spcPct val="140000"/>
              </a:lnSpc>
              <a:buNone/>
            </a:pPr>
            <a:r>
              <a:rPr lang="en-US" altLang="zh-CN" dirty="0">
                <a:solidFill>
                  <a:schemeClr val="accent2"/>
                </a:solidFill>
                <a:latin typeface="Arial" panose="020B0604020202020204" pitchFamily="34" charset="0"/>
              </a:rPr>
              <a:t>5. </a:t>
            </a:r>
            <a:r>
              <a:rPr lang="zh-CN" altLang="en-US" dirty="0">
                <a:solidFill>
                  <a:schemeClr val="accent2"/>
                </a:solidFill>
              </a:rPr>
              <a:t>用户</a:t>
            </a:r>
            <a:endParaRPr lang="zh-CN" altLang="en-US" dirty="0">
              <a:solidFill>
                <a:schemeClr val="accent2"/>
              </a:solidFill>
            </a:endParaRPr>
          </a:p>
          <a:p>
            <a:pPr algn="just" eaLnBrk="1" hangingPunct="1">
              <a:lnSpc>
                <a:spcPct val="190000"/>
              </a:lnSpc>
            </a:pPr>
            <a:r>
              <a:rPr lang="zh-CN" altLang="en-US" dirty="0">
                <a:solidFill>
                  <a:schemeClr val="tx1"/>
                </a:solidFill>
              </a:rPr>
              <a:t>偶然用户</a:t>
            </a:r>
            <a:endParaRPr lang="zh-CN" altLang="en-US" dirty="0">
              <a:solidFill>
                <a:schemeClr val="tx1"/>
              </a:solidFill>
            </a:endParaRPr>
          </a:p>
          <a:p>
            <a:pPr lvl="1" algn="just" eaLnBrk="1" hangingPunct="1"/>
            <a:r>
              <a:rPr lang="zh-CN" altLang="en-US" dirty="0"/>
              <a:t>企业或组织机构的高中级管理人员</a:t>
            </a:r>
            <a:endParaRPr lang="zh-CN" altLang="en-US" dirty="0"/>
          </a:p>
          <a:p>
            <a:pPr algn="just" eaLnBrk="1" hangingPunct="1">
              <a:lnSpc>
                <a:spcPct val="170000"/>
              </a:lnSpc>
            </a:pPr>
            <a:r>
              <a:rPr lang="zh-CN" altLang="en-US" dirty="0">
                <a:solidFill>
                  <a:schemeClr val="tx1"/>
                </a:solidFill>
              </a:rPr>
              <a:t>简单用户</a:t>
            </a:r>
            <a:endParaRPr lang="zh-CN" altLang="en-US" dirty="0">
              <a:solidFill>
                <a:schemeClr val="tx1"/>
              </a:solidFill>
            </a:endParaRPr>
          </a:p>
          <a:p>
            <a:pPr lvl="1" algn="just" eaLnBrk="1" hangingPunct="1"/>
            <a:r>
              <a:rPr lang="zh-CN" altLang="en-US" dirty="0"/>
              <a:t>银行的职员、机票预定人员、旅馆总台服务员</a:t>
            </a:r>
            <a:endParaRPr lang="zh-CN" altLang="en-US" dirty="0"/>
          </a:p>
          <a:p>
            <a:pPr eaLnBrk="1" hangingPunct="1"/>
            <a:endParaRPr lang="zh-CN" altLang="en-US"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9619" name="Rectangle 2"/>
          <p:cNvSpPr>
            <a:spLocks noGrp="1"/>
          </p:cNvSpPr>
          <p:nvPr>
            <p:ph type="title"/>
          </p:nvPr>
        </p:nvSpPr>
        <p:spPr>
          <a:xfrm>
            <a:off x="685800" y="88900"/>
            <a:ext cx="7772400" cy="393700"/>
          </a:xfrm>
          <a:ln/>
        </p:spPr>
        <p:txBody>
          <a:bodyPr vert="horz" wrap="square" lIns="91440" tIns="45720" rIns="91440" bIns="45720" anchor="ctr" anchorCtr="0"/>
          <a:p>
            <a:pPr eaLnBrk="1" hangingPunct="1"/>
            <a:r>
              <a:rPr lang="en-US" altLang="zh-CN" u="sng" dirty="0"/>
              <a:t>1.4 </a:t>
            </a:r>
            <a:r>
              <a:rPr lang="zh-CN" altLang="en-US" u="sng" dirty="0"/>
              <a:t>数据库系统的组成</a:t>
            </a:r>
            <a:endParaRPr lang="zh-CN" altLang="en-US" u="sng" dirty="0"/>
          </a:p>
        </p:txBody>
      </p:sp>
      <p:sp>
        <p:nvSpPr>
          <p:cNvPr id="239620" name="Rectangle 3"/>
          <p:cNvSpPr>
            <a:spLocks noGrp="1"/>
          </p:cNvSpPr>
          <p:nvPr>
            <p:ph idx="1"/>
          </p:nvPr>
        </p:nvSpPr>
        <p:spPr>
          <a:xfrm>
            <a:off x="381000" y="990600"/>
            <a:ext cx="8534400" cy="5181600"/>
          </a:xfrm>
          <a:ln/>
        </p:spPr>
        <p:txBody>
          <a:bodyPr vert="horz" wrap="square" lIns="91440" tIns="45720" rIns="91440" bIns="45720" anchor="t" anchorCtr="0"/>
          <a:p>
            <a:pPr algn="just" eaLnBrk="1" hangingPunct="1">
              <a:lnSpc>
                <a:spcPct val="140000"/>
              </a:lnSpc>
              <a:buNone/>
            </a:pPr>
            <a:r>
              <a:rPr lang="zh-CN" altLang="en-US" dirty="0">
                <a:solidFill>
                  <a:schemeClr val="accent2"/>
                </a:solidFill>
              </a:rPr>
              <a:t>用户</a:t>
            </a:r>
            <a:r>
              <a:rPr lang="en-US" altLang="zh-CN" dirty="0">
                <a:solidFill>
                  <a:schemeClr val="accent2"/>
                </a:solidFill>
              </a:rPr>
              <a:t>(</a:t>
            </a:r>
            <a:r>
              <a:rPr lang="zh-CN" altLang="en-US" dirty="0">
                <a:solidFill>
                  <a:schemeClr val="accent2"/>
                </a:solidFill>
              </a:rPr>
              <a:t>续</a:t>
            </a:r>
            <a:r>
              <a:rPr lang="en-US" altLang="zh-CN" dirty="0">
                <a:solidFill>
                  <a:schemeClr val="accent2"/>
                </a:solidFill>
              </a:rPr>
              <a:t>)</a:t>
            </a:r>
            <a:endParaRPr lang="en-US" altLang="zh-CN" dirty="0">
              <a:solidFill>
                <a:schemeClr val="accent2"/>
              </a:solidFill>
            </a:endParaRPr>
          </a:p>
          <a:p>
            <a:pPr algn="just" eaLnBrk="1" hangingPunct="1">
              <a:lnSpc>
                <a:spcPct val="120000"/>
              </a:lnSpc>
            </a:pPr>
            <a:r>
              <a:rPr lang="zh-CN" altLang="en-US" dirty="0">
                <a:solidFill>
                  <a:schemeClr val="tx1"/>
                </a:solidFill>
              </a:rPr>
              <a:t>复杂用户</a:t>
            </a:r>
            <a:endParaRPr lang="zh-CN" altLang="en-US" dirty="0">
              <a:solidFill>
                <a:schemeClr val="tx1"/>
              </a:solidFill>
            </a:endParaRPr>
          </a:p>
          <a:p>
            <a:pPr lvl="1" algn="just" eaLnBrk="1" hangingPunct="1">
              <a:lnSpc>
                <a:spcPct val="140000"/>
              </a:lnSpc>
            </a:pPr>
            <a:r>
              <a:rPr lang="zh-CN" altLang="en-US" dirty="0"/>
              <a:t>工程师、科学家、经济学家、科技工作者等</a:t>
            </a:r>
            <a:endParaRPr lang="zh-CN" altLang="en-US" dirty="0"/>
          </a:p>
          <a:p>
            <a:pPr lvl="1" algn="just" eaLnBrk="1" hangingPunct="1">
              <a:lnSpc>
                <a:spcPct val="160000"/>
              </a:lnSpc>
            </a:pPr>
            <a:r>
              <a:rPr lang="zh-CN" altLang="en-US" dirty="0"/>
              <a:t>直接使用数据库语言访问数据库，甚至能够基于数据库管理系统的</a:t>
            </a:r>
            <a:r>
              <a:rPr lang="en-US" altLang="zh-CN" dirty="0"/>
              <a:t>API</a:t>
            </a:r>
            <a:r>
              <a:rPr lang="zh-CN" altLang="en-US" dirty="0"/>
              <a:t>编制自己的应用程序</a:t>
            </a:r>
            <a:endParaRPr lang="zh-CN" altLang="en-US"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0643" name="Rectangle 2"/>
          <p:cNvSpPr>
            <a:spLocks noGrp="1"/>
          </p:cNvSpPr>
          <p:nvPr>
            <p:ph type="title"/>
          </p:nvPr>
        </p:nvSpPr>
        <p:spPr>
          <a:ln/>
        </p:spPr>
        <p:txBody>
          <a:bodyPr vert="horz" wrap="square" lIns="91440" tIns="45720" rIns="91440" bIns="45720" anchor="ctr" anchorCtr="0"/>
          <a:p>
            <a:pPr eaLnBrk="1" hangingPunct="1"/>
            <a:r>
              <a:rPr lang="en-US" altLang="zh-CN" dirty="0"/>
              <a:t>1.5 </a:t>
            </a:r>
            <a:r>
              <a:rPr lang="zh-CN" altLang="en-US" dirty="0"/>
              <a:t>数据库系统的特点</a:t>
            </a:r>
            <a:endParaRPr lang="zh-CN" altLang="en-US" dirty="0"/>
          </a:p>
        </p:txBody>
      </p:sp>
      <p:sp>
        <p:nvSpPr>
          <p:cNvPr id="240644" name="Rectangle 3"/>
          <p:cNvSpPr>
            <a:spLocks noGrp="1"/>
          </p:cNvSpPr>
          <p:nvPr>
            <p:ph idx="1"/>
          </p:nvPr>
        </p:nvSpPr>
        <p:spPr>
          <a:xfrm>
            <a:off x="1295400" y="1295400"/>
            <a:ext cx="5029200" cy="4953000"/>
          </a:xfrm>
          <a:ln/>
        </p:spPr>
        <p:txBody>
          <a:bodyPr vert="horz" wrap="square" lIns="91440" tIns="45720" rIns="91440" bIns="45720" anchor="t" anchorCtr="0"/>
          <a:p>
            <a:pPr algn="just" eaLnBrk="1" hangingPunct="1">
              <a:lnSpc>
                <a:spcPct val="120000"/>
              </a:lnSpc>
            </a:pPr>
            <a:r>
              <a:rPr lang="zh-CN" altLang="en-US" sz="2800" dirty="0">
                <a:solidFill>
                  <a:schemeClr val="tx1"/>
                </a:solidFill>
              </a:rPr>
              <a:t>数据结构化</a:t>
            </a:r>
            <a:endParaRPr lang="zh-CN" altLang="en-US" sz="2800" dirty="0">
              <a:solidFill>
                <a:schemeClr val="tx1"/>
              </a:solidFill>
            </a:endParaRPr>
          </a:p>
          <a:p>
            <a:pPr algn="just" eaLnBrk="1" hangingPunct="1">
              <a:lnSpc>
                <a:spcPct val="120000"/>
              </a:lnSpc>
            </a:pPr>
            <a:r>
              <a:rPr lang="zh-CN" altLang="en-US" sz="2800" dirty="0">
                <a:solidFill>
                  <a:schemeClr val="tx1"/>
                </a:solidFill>
              </a:rPr>
              <a:t>数据共享性高</a:t>
            </a:r>
            <a:endParaRPr lang="zh-CN" altLang="en-US" sz="2800" dirty="0">
              <a:solidFill>
                <a:schemeClr val="tx1"/>
              </a:solidFill>
            </a:endParaRPr>
          </a:p>
          <a:p>
            <a:pPr algn="just" eaLnBrk="1" hangingPunct="1">
              <a:lnSpc>
                <a:spcPct val="120000"/>
              </a:lnSpc>
            </a:pPr>
            <a:r>
              <a:rPr lang="zh-CN" altLang="en-US" sz="2800" dirty="0">
                <a:solidFill>
                  <a:schemeClr val="tx1"/>
                </a:solidFill>
              </a:rPr>
              <a:t>数据冗余低</a:t>
            </a:r>
            <a:endParaRPr lang="zh-CN" altLang="en-US" sz="2800" dirty="0">
              <a:solidFill>
                <a:schemeClr val="tx1"/>
              </a:solidFill>
            </a:endParaRPr>
          </a:p>
          <a:p>
            <a:pPr algn="just" eaLnBrk="1" hangingPunct="1">
              <a:lnSpc>
                <a:spcPct val="120000"/>
              </a:lnSpc>
            </a:pPr>
            <a:r>
              <a:rPr lang="zh-CN" altLang="en-US" sz="2800" dirty="0">
                <a:solidFill>
                  <a:schemeClr val="tx1"/>
                </a:solidFill>
              </a:rPr>
              <a:t>数据独立性高</a:t>
            </a:r>
            <a:endParaRPr lang="zh-CN" altLang="en-US" sz="2800" dirty="0">
              <a:solidFill>
                <a:schemeClr val="tx1"/>
              </a:solidFill>
            </a:endParaRPr>
          </a:p>
          <a:p>
            <a:pPr algn="just" eaLnBrk="1" hangingPunct="1">
              <a:lnSpc>
                <a:spcPct val="120000"/>
              </a:lnSpc>
            </a:pPr>
            <a:r>
              <a:rPr lang="zh-CN" altLang="en-US" sz="2800" dirty="0">
                <a:solidFill>
                  <a:schemeClr val="tx1"/>
                </a:solidFill>
              </a:rPr>
              <a:t>数据安全性</a:t>
            </a:r>
            <a:endParaRPr lang="zh-CN" altLang="en-US" sz="2800" dirty="0">
              <a:solidFill>
                <a:schemeClr val="tx1"/>
              </a:solidFill>
            </a:endParaRPr>
          </a:p>
          <a:p>
            <a:pPr algn="just" eaLnBrk="1" hangingPunct="1">
              <a:lnSpc>
                <a:spcPct val="120000"/>
              </a:lnSpc>
            </a:pPr>
            <a:r>
              <a:rPr lang="zh-CN" altLang="en-US" sz="2800" dirty="0">
                <a:solidFill>
                  <a:schemeClr val="tx1"/>
                </a:solidFill>
              </a:rPr>
              <a:t>数据完整性</a:t>
            </a:r>
            <a:endParaRPr lang="zh-CN" altLang="en-US" sz="2800" dirty="0">
              <a:solidFill>
                <a:schemeClr val="tx1"/>
              </a:solidFill>
            </a:endParaRPr>
          </a:p>
          <a:p>
            <a:pPr algn="just" eaLnBrk="1" hangingPunct="1">
              <a:lnSpc>
                <a:spcPct val="120000"/>
              </a:lnSpc>
            </a:pPr>
            <a:r>
              <a:rPr lang="zh-CN" altLang="en-US" sz="2800" dirty="0">
                <a:solidFill>
                  <a:schemeClr val="tx1"/>
                </a:solidFill>
              </a:rPr>
              <a:t>恢复能力强</a:t>
            </a:r>
            <a:endParaRPr lang="zh-CN" altLang="en-US" sz="2800" dirty="0">
              <a:solidFill>
                <a:schemeClr val="tx1"/>
              </a:solidFill>
            </a:endParaRPr>
          </a:p>
          <a:p>
            <a:pPr algn="just" eaLnBrk="1" hangingPunct="1">
              <a:lnSpc>
                <a:spcPct val="120000"/>
              </a:lnSpc>
            </a:pPr>
            <a:r>
              <a:rPr lang="zh-CN" altLang="en-US" sz="2800" dirty="0">
                <a:solidFill>
                  <a:schemeClr val="tx1"/>
                </a:solidFill>
              </a:rPr>
              <a:t>数据一致性</a:t>
            </a:r>
            <a:endParaRPr lang="zh-CN" altLang="en-US" sz="2800" dirty="0">
              <a:solidFill>
                <a:schemeClr val="tx1"/>
              </a:solidFill>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1667" name="Rectangle 2"/>
          <p:cNvSpPr>
            <a:spLocks noGrp="1"/>
          </p:cNvSpPr>
          <p:nvPr>
            <p:ph type="title"/>
          </p:nvPr>
        </p:nvSpPr>
        <p:spPr>
          <a:ln/>
        </p:spPr>
        <p:txBody>
          <a:bodyPr vert="horz" wrap="square" lIns="91440" tIns="45720" rIns="91440" bIns="45720" anchor="ctr" anchorCtr="0"/>
          <a:p>
            <a:pPr eaLnBrk="1" hangingPunct="1"/>
            <a:r>
              <a:rPr lang="en-US" altLang="zh-CN" dirty="0"/>
              <a:t>1.6 </a:t>
            </a:r>
            <a:r>
              <a:rPr lang="zh-CN" altLang="en-US" dirty="0"/>
              <a:t>小结</a:t>
            </a:r>
            <a:endParaRPr lang="zh-CN" altLang="en-US" dirty="0"/>
          </a:p>
        </p:txBody>
      </p:sp>
      <p:sp>
        <p:nvSpPr>
          <p:cNvPr id="241668" name="Rectangle 3"/>
          <p:cNvSpPr>
            <a:spLocks noGrp="1"/>
          </p:cNvSpPr>
          <p:nvPr>
            <p:ph idx="1"/>
          </p:nvPr>
        </p:nvSpPr>
        <p:spPr>
          <a:xfrm>
            <a:off x="381000" y="1295400"/>
            <a:ext cx="8458200" cy="5410200"/>
          </a:xfrm>
          <a:ln/>
        </p:spPr>
        <p:txBody>
          <a:bodyPr vert="horz" wrap="square" lIns="91440" tIns="45720" rIns="91440" bIns="45720" anchor="t" anchorCtr="0"/>
          <a:p>
            <a:pPr eaLnBrk="1" hangingPunct="1">
              <a:lnSpc>
                <a:spcPct val="110000"/>
              </a:lnSpc>
              <a:spcBef>
                <a:spcPct val="10000"/>
              </a:spcBef>
              <a:spcAft>
                <a:spcPct val="10000"/>
              </a:spcAft>
              <a:buClrTx/>
            </a:pPr>
            <a:r>
              <a:rPr lang="zh-CN" altLang="en-US" dirty="0">
                <a:solidFill>
                  <a:schemeClr val="tx2"/>
                </a:solidFill>
                <a:latin typeface="华文行楷" panose="02010800040101010101" pitchFamily="2" charset="-122"/>
              </a:rPr>
              <a:t>数据管理技术的三个阶段及特点</a:t>
            </a:r>
            <a:endParaRPr lang="zh-CN" altLang="en-US" dirty="0">
              <a:solidFill>
                <a:schemeClr val="tx2"/>
              </a:solidFill>
              <a:latin typeface="华文行楷" panose="02010800040101010101" pitchFamily="2" charset="-122"/>
            </a:endParaRPr>
          </a:p>
          <a:p>
            <a:pPr eaLnBrk="1" hangingPunct="1">
              <a:lnSpc>
                <a:spcPct val="110000"/>
              </a:lnSpc>
              <a:spcBef>
                <a:spcPct val="10000"/>
              </a:spcBef>
              <a:spcAft>
                <a:spcPct val="10000"/>
              </a:spcAft>
              <a:buClrTx/>
            </a:pPr>
            <a:r>
              <a:rPr lang="zh-CN" altLang="en-US" dirty="0">
                <a:solidFill>
                  <a:schemeClr val="tx2"/>
                </a:solidFill>
                <a:latin typeface="华文行楷" panose="02010800040101010101" pitchFamily="2" charset="-122"/>
              </a:rPr>
              <a:t>数据模型及其三要素</a:t>
            </a:r>
            <a:endParaRPr lang="zh-CN" altLang="en-US" dirty="0">
              <a:solidFill>
                <a:schemeClr val="tx2"/>
              </a:solidFill>
              <a:latin typeface="华文行楷" panose="02010800040101010101" pitchFamily="2" charset="-122"/>
            </a:endParaRPr>
          </a:p>
          <a:p>
            <a:pPr eaLnBrk="1" hangingPunct="1">
              <a:lnSpc>
                <a:spcPct val="110000"/>
              </a:lnSpc>
              <a:spcBef>
                <a:spcPct val="10000"/>
              </a:spcBef>
              <a:spcAft>
                <a:spcPct val="10000"/>
              </a:spcAft>
              <a:buClrTx/>
            </a:pPr>
            <a:r>
              <a:rPr lang="zh-CN" altLang="en-US" dirty="0">
                <a:solidFill>
                  <a:srgbClr val="FF0000"/>
                </a:solidFill>
                <a:latin typeface="华文行楷" panose="02010800040101010101" pitchFamily="2" charset="-122"/>
              </a:rPr>
              <a:t>概念模型：</a:t>
            </a:r>
            <a:r>
              <a:rPr lang="en-US" altLang="zh-CN" dirty="0">
                <a:solidFill>
                  <a:srgbClr val="FF0000"/>
                </a:solidFill>
              </a:rPr>
              <a:t>E-R</a:t>
            </a:r>
            <a:r>
              <a:rPr lang="zh-CN" altLang="en-US" dirty="0">
                <a:solidFill>
                  <a:srgbClr val="FF0000"/>
                </a:solidFill>
                <a:latin typeface="华文行楷" panose="02010800040101010101" pitchFamily="2" charset="-122"/>
              </a:rPr>
              <a:t>模型</a:t>
            </a:r>
            <a:endParaRPr lang="zh-CN" altLang="en-US" dirty="0">
              <a:solidFill>
                <a:srgbClr val="FF0000"/>
              </a:solidFill>
              <a:latin typeface="华文行楷" panose="02010800040101010101" pitchFamily="2" charset="-122"/>
            </a:endParaRPr>
          </a:p>
          <a:p>
            <a:pPr eaLnBrk="1" hangingPunct="1">
              <a:lnSpc>
                <a:spcPct val="110000"/>
              </a:lnSpc>
              <a:spcBef>
                <a:spcPct val="10000"/>
              </a:spcBef>
              <a:spcAft>
                <a:spcPct val="10000"/>
              </a:spcAft>
              <a:buClrTx/>
            </a:pPr>
            <a:r>
              <a:rPr lang="zh-CN" altLang="en-US" dirty="0">
                <a:solidFill>
                  <a:schemeClr val="tx2"/>
                </a:solidFill>
                <a:latin typeface="华文行楷" panose="02010800040101010101" pitchFamily="2" charset="-122"/>
              </a:rPr>
              <a:t>三种主要的数据模型</a:t>
            </a:r>
            <a:endParaRPr lang="zh-CN" altLang="en-US" dirty="0">
              <a:solidFill>
                <a:schemeClr val="tx2"/>
              </a:solidFill>
              <a:latin typeface="华文行楷" panose="02010800040101010101" pitchFamily="2" charset="-122"/>
            </a:endParaRPr>
          </a:p>
          <a:p>
            <a:pPr eaLnBrk="1" hangingPunct="1">
              <a:lnSpc>
                <a:spcPct val="110000"/>
              </a:lnSpc>
              <a:spcBef>
                <a:spcPct val="10000"/>
              </a:spcBef>
              <a:spcAft>
                <a:spcPct val="10000"/>
              </a:spcAft>
              <a:buClrTx/>
            </a:pPr>
            <a:r>
              <a:rPr lang="zh-CN" altLang="en-US" dirty="0">
                <a:solidFill>
                  <a:srgbClr val="FF0000"/>
                </a:solidFill>
                <a:latin typeface="华文行楷" panose="02010800040101010101" pitchFamily="2" charset="-122"/>
              </a:rPr>
              <a:t>关系模型</a:t>
            </a:r>
            <a:endParaRPr lang="zh-CN" altLang="en-US" dirty="0">
              <a:solidFill>
                <a:srgbClr val="FF0000"/>
              </a:solidFill>
              <a:latin typeface="华文行楷" panose="02010800040101010101" pitchFamily="2" charset="-122"/>
            </a:endParaRPr>
          </a:p>
          <a:p>
            <a:pPr eaLnBrk="1" hangingPunct="1">
              <a:lnSpc>
                <a:spcPct val="110000"/>
              </a:lnSpc>
              <a:spcBef>
                <a:spcPct val="10000"/>
              </a:spcBef>
              <a:spcAft>
                <a:spcPct val="10000"/>
              </a:spcAft>
              <a:buClrTx/>
            </a:pPr>
            <a:r>
              <a:rPr lang="zh-CN" altLang="en-US" dirty="0">
                <a:solidFill>
                  <a:srgbClr val="FF0000"/>
                </a:solidFill>
                <a:latin typeface="华文行楷" panose="02010800040101010101" pitchFamily="2" charset="-122"/>
              </a:rPr>
              <a:t>数据库的三级模式和两级映象、数据独立性</a:t>
            </a:r>
            <a:endParaRPr lang="zh-CN" altLang="en-US" dirty="0">
              <a:solidFill>
                <a:srgbClr val="FF0000"/>
              </a:solidFill>
              <a:latin typeface="华文行楷" panose="02010800040101010101" pitchFamily="2" charset="-122"/>
            </a:endParaRPr>
          </a:p>
          <a:p>
            <a:pPr eaLnBrk="1" hangingPunct="1">
              <a:lnSpc>
                <a:spcPct val="110000"/>
              </a:lnSpc>
              <a:spcBef>
                <a:spcPct val="10000"/>
              </a:spcBef>
              <a:spcAft>
                <a:spcPct val="10000"/>
              </a:spcAft>
              <a:buClrTx/>
            </a:pPr>
            <a:r>
              <a:rPr lang="zh-CN" altLang="en-US" dirty="0">
                <a:solidFill>
                  <a:schemeClr val="tx2"/>
                </a:solidFill>
                <a:latin typeface="华文行楷" panose="02010800040101010101" pitchFamily="2" charset="-122"/>
              </a:rPr>
              <a:t>数据库系统的组成</a:t>
            </a:r>
            <a:endParaRPr lang="zh-CN" altLang="en-US" sz="2800" dirty="0">
              <a:solidFill>
                <a:schemeClr val="tx1"/>
              </a:solidFill>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2691" name="Rectangle 2"/>
          <p:cNvSpPr>
            <a:spLocks noGrp="1"/>
          </p:cNvSpPr>
          <p:nvPr>
            <p:ph type="title"/>
          </p:nvPr>
        </p:nvSpPr>
        <p:spPr>
          <a:ln/>
        </p:spPr>
        <p:txBody>
          <a:bodyPr vert="horz" wrap="square" lIns="91440" tIns="45720" rIns="91440" bIns="45720" anchor="ctr" anchorCtr="0"/>
          <a:p>
            <a:pPr eaLnBrk="1" hangingPunct="1"/>
            <a:r>
              <a:rPr lang="zh-CN" altLang="en-US" dirty="0"/>
              <a:t>本章书面作业</a:t>
            </a:r>
            <a:endParaRPr lang="zh-CN" altLang="en-US" dirty="0"/>
          </a:p>
        </p:txBody>
      </p:sp>
      <p:sp>
        <p:nvSpPr>
          <p:cNvPr id="242692" name="Rectangle 3"/>
          <p:cNvSpPr>
            <a:spLocks noGrp="1"/>
          </p:cNvSpPr>
          <p:nvPr>
            <p:ph idx="1"/>
          </p:nvPr>
        </p:nvSpPr>
        <p:spPr>
          <a:xfrm>
            <a:off x="381000" y="1219200"/>
            <a:ext cx="8458200" cy="2819400"/>
          </a:xfrm>
          <a:ln/>
        </p:spPr>
        <p:txBody>
          <a:bodyPr vert="horz" wrap="square" lIns="91440" tIns="45720" rIns="91440" bIns="45720" anchor="t" anchorCtr="0"/>
          <a:p>
            <a:pPr eaLnBrk="1" hangingPunct="1">
              <a:lnSpc>
                <a:spcPct val="110000"/>
              </a:lnSpc>
              <a:spcBef>
                <a:spcPct val="10000"/>
              </a:spcBef>
              <a:spcAft>
                <a:spcPct val="10000"/>
              </a:spcAft>
              <a:buClrTx/>
              <a:buNone/>
            </a:pPr>
            <a:r>
              <a:rPr lang="en-US" altLang="zh-CN" sz="3600" dirty="0">
                <a:solidFill>
                  <a:schemeClr val="tx2"/>
                </a:solidFill>
              </a:rPr>
              <a:t>P30</a:t>
            </a:r>
            <a:r>
              <a:rPr lang="zh-CN" altLang="en-US" sz="3600" dirty="0">
                <a:solidFill>
                  <a:schemeClr val="tx2"/>
                </a:solidFill>
                <a:latin typeface="华文行楷" panose="02010800040101010101" pitchFamily="2" charset="-122"/>
              </a:rPr>
              <a:t>习题</a:t>
            </a:r>
            <a:endParaRPr lang="zh-CN" altLang="en-US" sz="3600" dirty="0">
              <a:solidFill>
                <a:schemeClr val="tx2"/>
              </a:solidFill>
              <a:latin typeface="华文行楷" panose="02010800040101010101" pitchFamily="2" charset="-122"/>
            </a:endParaRPr>
          </a:p>
          <a:p>
            <a:pPr eaLnBrk="1" hangingPunct="1">
              <a:lnSpc>
                <a:spcPct val="110000"/>
              </a:lnSpc>
              <a:spcBef>
                <a:spcPct val="10000"/>
              </a:spcBef>
              <a:spcAft>
                <a:spcPct val="10000"/>
              </a:spcAft>
              <a:buClrTx/>
            </a:pPr>
            <a:r>
              <a:rPr lang="en-US" altLang="zh-CN" b="0" dirty="0">
                <a:solidFill>
                  <a:schemeClr val="tx2"/>
                </a:solidFill>
              </a:rPr>
              <a:t>5,6,8,12,14,15 </a:t>
            </a:r>
            <a:r>
              <a:rPr lang="zh-CN" altLang="en-US" b="0" dirty="0">
                <a:solidFill>
                  <a:schemeClr val="tx2"/>
                </a:solidFill>
              </a:rPr>
              <a:t>题</a:t>
            </a:r>
            <a:endParaRPr lang="zh-CN" altLang="en-US" dirty="0">
              <a:solidFill>
                <a:schemeClr val="tx1"/>
              </a:solidFill>
            </a:endParaRPr>
          </a:p>
        </p:txBody>
      </p:sp>
    </p:spTree>
  </p:cSld>
  <p:clrMapOvr>
    <a:masterClrMapping/>
  </p:clrMapOvr>
</p:sld>
</file>

<file path=ppt/theme/theme1.xml><?xml version="1.0" encoding="utf-8"?>
<a:theme xmlns:a="http://schemas.openxmlformats.org/drawingml/2006/main" name="kyl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kylin">
      <a:majorFont>
        <a:latin typeface="Times New Roman"/>
        <a:ea typeface="经典细隶书简"/>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kyli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yli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yli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yli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yli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yli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yli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kylin</Template>
  <TotalTime>0</TotalTime>
  <Words>33111</Words>
  <Application>WPS Presentation</Application>
  <PresentationFormat>全屏显示(4:3)</PresentationFormat>
  <Paragraphs>4121</Paragraphs>
  <Slides>224</Slides>
  <Notes>9</Notes>
  <HiddenSlides>0</HiddenSlides>
  <MMClips>0</MMClips>
  <ScaleCrop>false</ScaleCrop>
  <HeadingPairs>
    <vt:vector size="8" baseType="variant">
      <vt:variant>
        <vt:lpstr>已用的字体</vt:lpstr>
      </vt:variant>
      <vt:variant>
        <vt:i4>34</vt:i4>
      </vt:variant>
      <vt:variant>
        <vt:lpstr>主题</vt:lpstr>
      </vt:variant>
      <vt:variant>
        <vt:i4>1</vt:i4>
      </vt:variant>
      <vt:variant>
        <vt:lpstr>嵌入 OLE 服务器</vt:lpstr>
      </vt:variant>
      <vt:variant>
        <vt:i4>9</vt:i4>
      </vt:variant>
      <vt:variant>
        <vt:lpstr>幻灯片标题</vt:lpstr>
      </vt:variant>
      <vt:variant>
        <vt:i4>224</vt:i4>
      </vt:variant>
    </vt:vector>
  </HeadingPairs>
  <TitlesOfParts>
    <vt:vector size="268" baseType="lpstr">
      <vt:lpstr>Arial</vt:lpstr>
      <vt:lpstr>SimSun</vt:lpstr>
      <vt:lpstr>Wingdings</vt:lpstr>
      <vt:lpstr>Times New Roman</vt:lpstr>
      <vt:lpstr>宋体</vt:lpstr>
      <vt:lpstr>经典细隶书简</vt:lpstr>
      <vt:lpstr>隶书</vt:lpstr>
      <vt:lpstr>楷体_GB2312</vt:lpstr>
      <vt:lpstr>新宋体</vt:lpstr>
      <vt:lpstr>仿宋_GB2312</vt:lpstr>
      <vt:lpstr>仿宋</vt:lpstr>
      <vt:lpstr>Tahoma</vt:lpstr>
      <vt:lpstr>Verdana,宋体</vt:lpstr>
      <vt:lpstr>黑体</vt:lpstr>
      <vt:lpstr>华文新魏</vt:lpstr>
      <vt:lpstr>Arial Narrow</vt:lpstr>
      <vt:lpstr>OPPOSans M</vt:lpstr>
      <vt:lpstr>Space Grotesk Light</vt:lpstr>
      <vt:lpstr>微软雅黑</vt:lpstr>
      <vt:lpstr>+mn-ea</vt:lpstr>
      <vt:lpstr>华文隶书</vt:lpstr>
      <vt:lpstr>Times</vt:lpstr>
      <vt:lpstr>Impact</vt:lpstr>
      <vt:lpstr>Arial Black</vt:lpstr>
      <vt:lpstr>Courier New</vt:lpstr>
      <vt:lpstr>华文行楷</vt:lpstr>
      <vt:lpstr>经典细隶书简</vt:lpstr>
      <vt:lpstr>楷体_GB2312</vt:lpstr>
      <vt:lpstr>仿宋_GB2312</vt:lpstr>
      <vt:lpstr>Bookman Old Style</vt:lpstr>
      <vt:lpstr>Arial Unicode MS</vt:lpstr>
      <vt:lpstr>OPPOSans M</vt:lpstr>
      <vt:lpstr>微软雅黑</vt:lpstr>
      <vt:lpstr>DengXian</vt:lpstr>
      <vt:lpstr>kylin</vt:lpstr>
      <vt:lpstr>Flash.Movie</vt:lpstr>
      <vt:lpstr>Flash.Movie</vt:lpstr>
      <vt:lpstr>Flash.Movie</vt:lpstr>
      <vt:lpstr>Flash.Movie</vt:lpstr>
      <vt:lpstr>Flash.Movie</vt:lpstr>
      <vt:lpstr>Flash.Movie</vt:lpstr>
      <vt:lpstr>Word.Picture.8</vt:lpstr>
      <vt:lpstr>Word.Document.8</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nakanosan</cp:lastModifiedBy>
  <cp:revision>241</cp:revision>
  <dcterms:created xsi:type="dcterms:W3CDTF">2026-06-17T19:25:39Z</dcterms:created>
  <dcterms:modified xsi:type="dcterms:W3CDTF">2026-06-17T19:25:39Z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A11B735A09FFBB64B3F4326A0A186AA9_43</vt:lpwstr>
  </property>
  <property fmtid="{D5CDD505-2E9C-101B-9397-08002B2CF9AE}" pid="3" name="KSOProductBuildVer">
    <vt:lpwstr>1033-12.1.2.26885</vt:lpwstr>
  </property>
</Properties>
</file>