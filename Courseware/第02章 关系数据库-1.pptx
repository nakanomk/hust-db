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23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4" r:id="rId66"/>
    <p:sldId id="319" r:id="rId67"/>
    <p:sldId id="320" r:id="rId68"/>
    <p:sldId id="321" r:id="rId69"/>
    <p:sldId id="322" r:id="rId7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4550"/>
    <p:restoredTop sz="86412"/>
  </p:normalViewPr>
  <p:slideViewPr>
    <p:cSldViewPr showGuides="1">
      <p:cViewPr varScale="1">
        <p:scale>
          <a:sx n="72" d="100"/>
          <a:sy n="72" d="100"/>
        </p:scale>
        <p:origin x="432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notesMaster" Target="notesMasters/notesMaster1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46ACEB-D643-4272-A5CA-8F190FF08869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47D863-3CB7-4658-A0D9-7C5177CD412E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F432A2-4703-4413-A7B6-45E28AE731D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94674-1C4F-45C6-9B48-A75718037B92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15240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2.1  </a:t>
            </a:r>
            <a:r>
              <a:rPr lang="zh-CN" altLang="en-US" dirty="0"/>
              <a:t>关系模式概述</a:t>
            </a:r>
            <a:endParaRPr lang="zh-CN" altLang="en-US" dirty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IBM</a:t>
            </a:r>
            <a:r>
              <a:rPr lang="zh-CN" altLang="en-US" dirty="0">
                <a:solidFill>
                  <a:schemeClr val="tx1"/>
                </a:solidFill>
              </a:rPr>
              <a:t>公司的</a:t>
            </a:r>
            <a:r>
              <a:rPr lang="en-US" altLang="zh-CN" dirty="0">
                <a:solidFill>
                  <a:schemeClr val="tx1"/>
                </a:solidFill>
              </a:rPr>
              <a:t>E.F.Codd</a:t>
            </a:r>
            <a:r>
              <a:rPr lang="zh-CN" altLang="en-US" dirty="0">
                <a:solidFill>
                  <a:schemeClr val="tx1"/>
                </a:solidFill>
              </a:rPr>
              <a:t>于</a:t>
            </a:r>
            <a:r>
              <a:rPr lang="en-US" altLang="zh-CN" dirty="0">
                <a:solidFill>
                  <a:schemeClr val="tx1"/>
                </a:solidFill>
              </a:rPr>
              <a:t>70</a:t>
            </a:r>
            <a:r>
              <a:rPr lang="zh-CN" altLang="en-US" dirty="0">
                <a:solidFill>
                  <a:schemeClr val="tx1"/>
                </a:solidFill>
              </a:rPr>
              <a:t>年代初提出关系数据理论，他因此获得</a:t>
            </a:r>
            <a:r>
              <a:rPr lang="en-US" altLang="zh-CN" dirty="0">
                <a:solidFill>
                  <a:schemeClr val="tx1"/>
                </a:solidFill>
              </a:rPr>
              <a:t>1981</a:t>
            </a:r>
            <a:r>
              <a:rPr lang="zh-CN" altLang="en-US" dirty="0">
                <a:solidFill>
                  <a:schemeClr val="tx1"/>
                </a:solidFill>
              </a:rPr>
              <a:t>年的</a:t>
            </a:r>
            <a:r>
              <a:rPr lang="en-US" altLang="zh-CN" dirty="0">
                <a:solidFill>
                  <a:schemeClr val="tx1"/>
                </a:solidFill>
              </a:rPr>
              <a:t>ACM</a:t>
            </a:r>
            <a:r>
              <a:rPr lang="zh-CN" altLang="en-US" dirty="0">
                <a:solidFill>
                  <a:schemeClr val="tx1"/>
                </a:solidFill>
              </a:rPr>
              <a:t>图灵奖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dirty="0"/>
              <a:t>1970</a:t>
            </a:r>
            <a:r>
              <a:rPr lang="zh-CN" altLang="en-US" sz="2400" dirty="0"/>
              <a:t>年提出关系数据模型</a:t>
            </a:r>
            <a:endParaRPr lang="zh-CN" altLang="en-US" sz="2400" dirty="0"/>
          </a:p>
          <a:p>
            <a:pPr lvl="2" algn="just" eaLnBrk="1" hangingPunct="1">
              <a:lnSpc>
                <a:spcPct val="90000"/>
              </a:lnSpc>
            </a:pPr>
            <a:r>
              <a:rPr lang="en-US" altLang="zh-CN" sz="2000" dirty="0"/>
              <a:t>E.F.Codd, “A Relational Model of Data for Large Shared Data Banks”, 《Communication of the ACM》,1970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dirty="0"/>
              <a:t>之后，提出了关系代数和关系演算的概念</a:t>
            </a:r>
            <a:endParaRPr lang="zh-CN" altLang="en-US" sz="2400" dirty="0"/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dirty="0"/>
              <a:t>1972</a:t>
            </a:r>
            <a:r>
              <a:rPr lang="zh-CN" altLang="en-US" sz="2400" dirty="0"/>
              <a:t>年提出了关系的第一、第二、第三范式</a:t>
            </a:r>
            <a:endParaRPr lang="zh-CN" altLang="en-US" sz="2400" dirty="0"/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dirty="0"/>
              <a:t>1974</a:t>
            </a:r>
            <a:r>
              <a:rPr lang="zh-CN" altLang="en-US" sz="2400" dirty="0"/>
              <a:t>年提出了关系的</a:t>
            </a:r>
            <a:r>
              <a:rPr lang="en-US" altLang="zh-CN" sz="3200" dirty="0"/>
              <a:t>BC</a:t>
            </a:r>
            <a:r>
              <a:rPr lang="zh-CN" altLang="en-US" sz="2400" dirty="0"/>
              <a:t>范式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关系理论是建立在</a:t>
            </a:r>
            <a:r>
              <a:rPr lang="zh-CN" altLang="en-US" dirty="0">
                <a:solidFill>
                  <a:srgbClr val="FF0000"/>
                </a:solidFill>
              </a:rPr>
              <a:t>集合代数</a:t>
            </a:r>
            <a:r>
              <a:rPr lang="zh-CN" altLang="en-US" dirty="0">
                <a:solidFill>
                  <a:schemeClr val="tx1"/>
                </a:solidFill>
              </a:rPr>
              <a:t>理论基础上的，有着坚实的数学基础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80</a:t>
            </a:r>
            <a:r>
              <a:rPr lang="zh-CN" altLang="en-US" dirty="0">
                <a:solidFill>
                  <a:schemeClr val="tx1"/>
                </a:solidFill>
              </a:rPr>
              <a:t>年代后，关系数据库系统成为最重要、最流行的数据库系统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457200" y="827088"/>
            <a:ext cx="8153400" cy="5410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/>
              <a:t>典型实验系统</a:t>
            </a:r>
            <a:endParaRPr lang="zh-CN" altLang="en-US" dirty="0"/>
          </a:p>
          <a:p>
            <a:pPr lvl="1" algn="just" eaLnBrk="1" hangingPunct="1"/>
            <a:r>
              <a:rPr lang="en-US" altLang="zh-CN" dirty="0"/>
              <a:t>System R (</a:t>
            </a:r>
            <a:r>
              <a:rPr lang="zh-CN" altLang="en-US" dirty="0"/>
              <a:t>由</a:t>
            </a:r>
            <a:r>
              <a:rPr lang="en-US" altLang="zh-CN" dirty="0"/>
              <a:t>IBM</a:t>
            </a:r>
            <a:r>
              <a:rPr lang="zh-CN" altLang="en-US" dirty="0"/>
              <a:t>公司研制</a:t>
            </a:r>
            <a:r>
              <a:rPr lang="en-US" altLang="zh-CN" dirty="0"/>
              <a:t>)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University INGRES(</a:t>
            </a:r>
            <a:r>
              <a:rPr lang="zh-CN" altLang="en-US" dirty="0"/>
              <a:t>由加州</a:t>
            </a:r>
            <a:r>
              <a:rPr lang="en-US" altLang="zh-CN" dirty="0"/>
              <a:t>Berkeley</a:t>
            </a:r>
            <a:r>
              <a:rPr lang="zh-CN" altLang="en-US" dirty="0"/>
              <a:t>分校研制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/>
            <a:r>
              <a:rPr lang="zh-CN" altLang="en-US" dirty="0"/>
              <a:t>典型商用系统</a:t>
            </a:r>
            <a:endParaRPr lang="zh-CN" altLang="en-US" dirty="0"/>
          </a:p>
          <a:p>
            <a:pPr lvl="1" algn="just" eaLnBrk="1" hangingPunct="1"/>
            <a:r>
              <a:rPr lang="en-US" altLang="zh-CN" dirty="0"/>
              <a:t>ORACLE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SYBASE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INFORMIX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DB2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Microsoft SQL Server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Access</a:t>
            </a:r>
            <a:r>
              <a:rPr lang="zh-CN" altLang="en-US" dirty="0"/>
              <a:t>，</a:t>
            </a:r>
            <a:r>
              <a:rPr lang="en-US" altLang="zh-CN" dirty="0"/>
              <a:t>Foxpro</a:t>
            </a:r>
            <a:r>
              <a:rPr lang="zh-CN" altLang="en-US" dirty="0"/>
              <a:t>，</a:t>
            </a:r>
            <a:r>
              <a:rPr lang="en-US" altLang="zh-CN" dirty="0"/>
              <a:t>Foxbase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OpenGauss</a:t>
            </a:r>
            <a:r>
              <a:rPr lang="zh-CN" altLang="en-US" dirty="0"/>
              <a:t>，</a:t>
            </a:r>
            <a:r>
              <a:rPr lang="en-US" altLang="zh-CN" dirty="0"/>
              <a:t>GaussDB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8153400" cy="5105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/>
              <a:t>关系数据库系统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是支持关系模型的数据库系统</a:t>
            </a:r>
            <a:endParaRPr lang="zh-CN" altLang="en-US" dirty="0"/>
          </a:p>
          <a:p>
            <a:pPr algn="just" eaLnBrk="1" hangingPunct="1"/>
            <a:r>
              <a:rPr lang="zh-CN" altLang="en-US" dirty="0"/>
              <a:t>关系模型的组成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关系数据结构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关系操作集合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关系完整性约束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8153400" cy="5105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dirty="0"/>
              <a:t>1. </a:t>
            </a:r>
            <a:r>
              <a:rPr lang="zh-CN" altLang="en-US" dirty="0"/>
              <a:t>关系数据结构</a:t>
            </a:r>
            <a:endParaRPr lang="zh-CN" altLang="en-US" dirty="0"/>
          </a:p>
          <a:p>
            <a:pPr algn="just" eaLnBrk="1" hangingPunct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单一的数据结构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----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dirty="0"/>
              <a:t>现实世界的实体以及实体间的各种联系均用关系来表示</a:t>
            </a:r>
            <a:endParaRPr lang="zh-CN" altLang="en-US" dirty="0"/>
          </a:p>
          <a:p>
            <a:pPr algn="just" eaLnBrk="1" hangingPunct="1"/>
            <a:r>
              <a:rPr lang="zh-CN" altLang="en-US" dirty="0">
                <a:solidFill>
                  <a:schemeClr val="accent2"/>
                </a:solidFill>
              </a:rPr>
              <a:t>数据的逻辑结构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----</a:t>
            </a:r>
            <a:r>
              <a:rPr lang="zh-CN" altLang="en-US" dirty="0">
                <a:solidFill>
                  <a:schemeClr val="accent2"/>
                </a:solidFill>
              </a:rPr>
              <a:t>二维表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从用户角度，关系模型中数据的逻辑结构是一张二维表。 </a:t>
            </a:r>
            <a:endParaRPr lang="zh-CN" altLang="en-US" dirty="0"/>
          </a:p>
          <a:p>
            <a:pPr lvl="1" algn="just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838200" y="990600"/>
            <a:ext cx="7315200" cy="5105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dirty="0"/>
              <a:t>2. </a:t>
            </a:r>
            <a:r>
              <a:rPr lang="zh-CN" altLang="en-US" dirty="0"/>
              <a:t>关系操作集合</a:t>
            </a:r>
            <a:endParaRPr lang="zh-CN" altLang="en-US" dirty="0"/>
          </a:p>
          <a:p>
            <a:pPr algn="just" eaLnBrk="1" hangingPunct="1"/>
            <a:r>
              <a:rPr lang="en-US" altLang="zh-CN" dirty="0">
                <a:solidFill>
                  <a:schemeClr val="tx1"/>
                </a:solidFill>
              </a:rPr>
              <a:t>1) </a:t>
            </a:r>
            <a:r>
              <a:rPr lang="zh-CN" altLang="en-US" dirty="0">
                <a:solidFill>
                  <a:schemeClr val="tx1"/>
                </a:solidFill>
              </a:rPr>
              <a:t>常用的关系操作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2) </a:t>
            </a:r>
            <a:r>
              <a:rPr lang="zh-CN" altLang="en-US" dirty="0">
                <a:solidFill>
                  <a:schemeClr val="tx1"/>
                </a:solidFill>
              </a:rPr>
              <a:t>关系操作的特点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3) </a:t>
            </a:r>
            <a:r>
              <a:rPr lang="zh-CN" altLang="en-US" dirty="0">
                <a:solidFill>
                  <a:schemeClr val="tx1"/>
                </a:solidFill>
              </a:rPr>
              <a:t>关系数据语言的种类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4) </a:t>
            </a:r>
            <a:r>
              <a:rPr lang="zh-CN" altLang="en-US" dirty="0">
                <a:solidFill>
                  <a:schemeClr val="tx1"/>
                </a:solidFill>
              </a:rPr>
              <a:t>关系数据语言的特点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105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/>
              <a:t>关系操作集合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/>
            <a:r>
              <a:rPr lang="en-US" altLang="zh-CN" dirty="0">
                <a:solidFill>
                  <a:schemeClr val="accent2"/>
                </a:solidFill>
              </a:rPr>
              <a:t>1) </a:t>
            </a:r>
            <a:r>
              <a:rPr lang="zh-CN" altLang="en-US" dirty="0">
                <a:solidFill>
                  <a:schemeClr val="accent2"/>
                </a:solidFill>
              </a:rPr>
              <a:t>常用的关系操作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查询</a:t>
            </a:r>
            <a:endParaRPr lang="zh-CN" altLang="en-US" dirty="0"/>
          </a:p>
          <a:p>
            <a:pPr lvl="2" eaLnBrk="1" hangingPunct="1">
              <a:buClr>
                <a:schemeClr val="tx1"/>
              </a:buClr>
            </a:pPr>
            <a:r>
              <a:rPr lang="zh-CN" altLang="en-US" sz="2800" dirty="0">
                <a:ea typeface="宋体" panose="02010600030101010101" pitchFamily="2" charset="-122"/>
              </a:rPr>
              <a:t>选择</a:t>
            </a:r>
            <a:r>
              <a:rPr lang="en-US" altLang="zh-CN" sz="2800" dirty="0">
                <a:ea typeface="宋体" panose="02010600030101010101" pitchFamily="2" charset="-122"/>
              </a:rPr>
              <a:t>(select)</a:t>
            </a:r>
            <a:r>
              <a:rPr lang="zh-CN" altLang="en-US" sz="2800" dirty="0">
                <a:ea typeface="宋体" panose="02010600030101010101" pitchFamily="2" charset="-122"/>
              </a:rPr>
              <a:t>、投影</a:t>
            </a:r>
            <a:r>
              <a:rPr lang="en-US" altLang="zh-CN" sz="2800" dirty="0">
                <a:ea typeface="宋体" panose="02010600030101010101" pitchFamily="2" charset="-122"/>
              </a:rPr>
              <a:t>(project)</a:t>
            </a:r>
            <a:r>
              <a:rPr lang="zh-CN" altLang="en-US" sz="2800" dirty="0">
                <a:ea typeface="宋体" panose="02010600030101010101" pitchFamily="2" charset="-122"/>
              </a:rPr>
              <a:t>、连接</a:t>
            </a:r>
            <a:r>
              <a:rPr lang="en-US" altLang="zh-CN" sz="2800" dirty="0">
                <a:ea typeface="宋体" panose="02010600030101010101" pitchFamily="2" charset="-122"/>
              </a:rPr>
              <a:t>(join)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</a:pPr>
            <a:r>
              <a:rPr lang="zh-CN" altLang="en-US" sz="2800" dirty="0">
                <a:ea typeface="宋体" panose="02010600030101010101" pitchFamily="2" charset="-122"/>
              </a:rPr>
              <a:t>除</a:t>
            </a:r>
            <a:r>
              <a:rPr lang="en-US" altLang="zh-CN" sz="2800" dirty="0">
                <a:ea typeface="宋体" panose="02010600030101010101" pitchFamily="2" charset="-122"/>
              </a:rPr>
              <a:t>(divide)</a:t>
            </a:r>
            <a:r>
              <a:rPr lang="zh-CN" altLang="en-US" sz="2800" dirty="0">
                <a:ea typeface="宋体" panose="02010600030101010101" pitchFamily="2" charset="-122"/>
              </a:rPr>
              <a:t>、并</a:t>
            </a:r>
            <a:r>
              <a:rPr lang="en-US" altLang="zh-CN" sz="2800" dirty="0">
                <a:ea typeface="宋体" panose="02010600030101010101" pitchFamily="2" charset="-122"/>
              </a:rPr>
              <a:t>(union)</a:t>
            </a:r>
            <a:r>
              <a:rPr lang="zh-CN" altLang="en-US" sz="2800" dirty="0">
                <a:ea typeface="宋体" panose="02010600030101010101" pitchFamily="2" charset="-122"/>
              </a:rPr>
              <a:t>、交</a:t>
            </a:r>
            <a:r>
              <a:rPr lang="en-US" altLang="zh-CN" sz="2800" dirty="0">
                <a:ea typeface="宋体" panose="02010600030101010101" pitchFamily="2" charset="-122"/>
              </a:rPr>
              <a:t>(intersection)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</a:pPr>
            <a:r>
              <a:rPr lang="zh-CN" altLang="en-US" sz="2800" dirty="0">
                <a:ea typeface="宋体" panose="02010600030101010101" pitchFamily="2" charset="-122"/>
              </a:rPr>
              <a:t>差</a:t>
            </a:r>
            <a:r>
              <a:rPr lang="en-US" altLang="zh-CN" sz="2800" dirty="0">
                <a:ea typeface="宋体" panose="02010600030101010101" pitchFamily="2" charset="-122"/>
              </a:rPr>
              <a:t>(difference)</a:t>
            </a:r>
            <a:endParaRPr lang="en-US" altLang="zh-CN" dirty="0"/>
          </a:p>
          <a:p>
            <a:pPr lvl="1" algn="just" eaLnBrk="1" hangingPunct="1"/>
            <a:r>
              <a:rPr lang="zh-CN" altLang="en-US" dirty="0"/>
              <a:t>数据更新</a:t>
            </a:r>
            <a:endParaRPr lang="zh-CN" altLang="en-US" dirty="0"/>
          </a:p>
          <a:p>
            <a:pPr lvl="2" algn="just" eaLnBrk="1" hangingPunct="1"/>
            <a:r>
              <a:rPr lang="zh-CN" altLang="en-US" sz="2800" dirty="0">
                <a:ea typeface="宋体" panose="02010600030101010101" pitchFamily="2" charset="-122"/>
              </a:rPr>
              <a:t>插入</a:t>
            </a:r>
            <a:r>
              <a:rPr lang="en-US" altLang="zh-CN" sz="2800" dirty="0">
                <a:ea typeface="宋体" panose="02010600030101010101" pitchFamily="2" charset="-122"/>
              </a:rPr>
              <a:t>(insert)</a:t>
            </a:r>
            <a:r>
              <a:rPr lang="zh-CN" altLang="en-US" sz="2800" dirty="0">
                <a:ea typeface="宋体" panose="02010600030101010101" pitchFamily="2" charset="-122"/>
              </a:rPr>
              <a:t>、删除</a:t>
            </a:r>
            <a:r>
              <a:rPr lang="en-US" altLang="zh-CN" sz="2800" dirty="0">
                <a:ea typeface="宋体" panose="02010600030101010101" pitchFamily="2" charset="-122"/>
              </a:rPr>
              <a:t>(delete)</a:t>
            </a:r>
            <a:r>
              <a:rPr lang="zh-CN" altLang="en-US" sz="2800" dirty="0">
                <a:ea typeface="宋体" panose="02010600030101010101" pitchFamily="2" charset="-122"/>
              </a:rPr>
              <a:t>、修改</a:t>
            </a:r>
            <a:r>
              <a:rPr lang="en-US" altLang="zh-CN" sz="2800" dirty="0">
                <a:ea typeface="宋体" panose="02010600030101010101" pitchFamily="2" charset="-122"/>
              </a:rPr>
              <a:t>(update)</a:t>
            </a:r>
            <a:endParaRPr lang="en-US" altLang="zh-CN" dirty="0"/>
          </a:p>
          <a:p>
            <a:pPr lvl="1" algn="just" eaLnBrk="1" hangingPunct="1"/>
            <a:r>
              <a:rPr lang="zh-CN" altLang="en-US" dirty="0"/>
              <a:t>查询的表达能力是其中最主要的部分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78486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关系操作集合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2) </a:t>
            </a:r>
            <a:r>
              <a:rPr lang="zh-CN" altLang="en-US" dirty="0">
                <a:solidFill>
                  <a:schemeClr val="accent2"/>
                </a:solidFill>
              </a:rPr>
              <a:t>关系操作的特点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Tx/>
            </a:pPr>
            <a:r>
              <a:rPr lang="zh-CN" altLang="en-US" dirty="0"/>
              <a:t>集合操作方式，即操作的对象和结果都是集合。</a:t>
            </a:r>
            <a:r>
              <a:rPr lang="en-US" altLang="zh-CN" dirty="0"/>
              <a:t>(set at a time)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非关系数据模型的数据操作方式：一次一记录</a:t>
            </a:r>
            <a:endParaRPr lang="zh-CN" altLang="en-US" dirty="0"/>
          </a:p>
          <a:p>
            <a:pPr lvl="2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(record at a time)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文件系统的数据操作方式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7848600" cy="4876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关系操作集合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3) </a:t>
            </a:r>
            <a:r>
              <a:rPr lang="zh-CN" altLang="en-US" dirty="0">
                <a:solidFill>
                  <a:schemeClr val="accent2"/>
                </a:solidFill>
              </a:rPr>
              <a:t>关系数据语言的种类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关系代数语言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元组关系演算语言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关系数据语言    关系演算语言    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域关系演算语言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关系代数和关系演算结合的语言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269" name="AutoShape 4"/>
          <p:cNvSpPr/>
          <p:nvPr/>
        </p:nvSpPr>
        <p:spPr>
          <a:xfrm>
            <a:off x="2552700" y="3479800"/>
            <a:ext cx="381000" cy="1981200"/>
          </a:xfrm>
          <a:prstGeom prst="leftBrace">
            <a:avLst>
              <a:gd name="adj1" fmla="val 43333"/>
              <a:gd name="adj2" fmla="val 50000"/>
            </a:avLst>
          </a:prstGeom>
          <a:noFill/>
          <a:ln w="76200" cap="sq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400" dirty="0">
              <a:solidFill>
                <a:schemeClr val="accent2"/>
              </a:solidFill>
            </a:endParaRPr>
          </a:p>
        </p:txBody>
      </p:sp>
      <p:sp>
        <p:nvSpPr>
          <p:cNvPr id="11270" name="AutoShape 5"/>
          <p:cNvSpPr/>
          <p:nvPr/>
        </p:nvSpPr>
        <p:spPr>
          <a:xfrm>
            <a:off x="5181600" y="39624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76200" cap="sq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7848600" cy="4876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关系操作集合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关系数据语言的种类</a:t>
            </a:r>
            <a:r>
              <a:rPr lang="en-US" altLang="zh-CN" dirty="0">
                <a:solidFill>
                  <a:schemeClr val="accent2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续</a:t>
            </a:r>
            <a:r>
              <a:rPr lang="en-US" altLang="zh-CN" dirty="0">
                <a:solidFill>
                  <a:schemeClr val="accent2"/>
                </a:solidFill>
              </a:rPr>
              <a:t>)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关系代数语言  </a:t>
            </a:r>
            <a:endParaRPr lang="zh-CN" altLang="en-US" dirty="0"/>
          </a:p>
          <a:p>
            <a:pPr lvl="2" algn="just" eaLnBrk="1" hangingPunct="1"/>
            <a:r>
              <a:rPr lang="zh-CN" altLang="en-US" sz="2800" dirty="0"/>
              <a:t>用对关系的运算来表达查询要求</a:t>
            </a:r>
            <a:endParaRPr lang="zh-CN" altLang="en-US" sz="2800" dirty="0"/>
          </a:p>
          <a:p>
            <a:pPr lvl="2" algn="just" eaLnBrk="1" hangingPunct="1"/>
            <a:r>
              <a:rPr lang="zh-CN" altLang="en-US" sz="2800" dirty="0"/>
              <a:t>典型代表：</a:t>
            </a:r>
            <a:r>
              <a:rPr lang="en-US" altLang="zh-CN" sz="2800" dirty="0"/>
              <a:t>ISBL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715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/>
              <a:t>关系操作集合</a:t>
            </a:r>
            <a:r>
              <a:rPr lang="en-US" altLang="zh-CN" sz="2800" dirty="0"/>
              <a:t>(</a:t>
            </a:r>
            <a:r>
              <a:rPr lang="zh-CN" altLang="en-US" sz="2800" dirty="0"/>
              <a:t>续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关系数据语言的种类</a:t>
            </a:r>
            <a:r>
              <a:rPr lang="en-US" altLang="zh-CN" sz="2800" dirty="0">
                <a:solidFill>
                  <a:schemeClr val="accent2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续</a:t>
            </a:r>
            <a:r>
              <a:rPr lang="en-US" altLang="zh-CN" sz="2800" dirty="0">
                <a:solidFill>
                  <a:schemeClr val="accent2"/>
                </a:solidFill>
              </a:rPr>
              <a:t>)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dirty="0"/>
              <a:t>关系演算语言：用谓词来表达查询要求</a:t>
            </a:r>
            <a:endParaRPr lang="zh-CN" altLang="en-US" sz="2400" dirty="0"/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000" dirty="0"/>
              <a:t>元组关系演算语言</a:t>
            </a:r>
            <a:endParaRPr lang="zh-CN" altLang="en-US" dirty="0"/>
          </a:p>
          <a:p>
            <a:pPr lvl="3" algn="just" eaLnBrk="1" hangingPunct="1">
              <a:lnSpc>
                <a:spcPct val="120000"/>
              </a:lnSpc>
            </a:pPr>
            <a:r>
              <a:rPr lang="zh-CN" altLang="en-US" dirty="0"/>
              <a:t>谓词变元的基本对象是元组变量</a:t>
            </a:r>
            <a:endParaRPr lang="zh-CN" altLang="en-US" dirty="0"/>
          </a:p>
          <a:p>
            <a:pPr lvl="3" algn="just" eaLnBrk="1" hangingPunct="1">
              <a:lnSpc>
                <a:spcPct val="120000"/>
              </a:lnSpc>
            </a:pPr>
            <a:r>
              <a:rPr lang="zh-CN" altLang="en-US" dirty="0"/>
              <a:t>典型代表：</a:t>
            </a:r>
            <a:r>
              <a:rPr lang="en-US" altLang="zh-CN" dirty="0"/>
              <a:t>APLHA, QUEL</a:t>
            </a:r>
            <a:endParaRPr lang="en-US" altLang="zh-CN" sz="1800" dirty="0"/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000" dirty="0"/>
              <a:t>域关系演算语言    </a:t>
            </a:r>
            <a:endParaRPr lang="zh-CN" altLang="en-US" sz="2000" dirty="0"/>
          </a:p>
          <a:p>
            <a:pPr lvl="3" algn="just" eaLnBrk="1" hangingPunct="1">
              <a:lnSpc>
                <a:spcPct val="120000"/>
              </a:lnSpc>
            </a:pPr>
            <a:r>
              <a:rPr lang="zh-CN" altLang="en-US" dirty="0"/>
              <a:t>谓词变元的基本对象是域变量</a:t>
            </a:r>
            <a:endParaRPr lang="zh-CN" altLang="en-US" dirty="0"/>
          </a:p>
          <a:p>
            <a:pPr lvl="3" algn="just" eaLnBrk="1" hangingPunct="1">
              <a:lnSpc>
                <a:spcPct val="120000"/>
              </a:lnSpc>
            </a:pPr>
            <a:r>
              <a:rPr lang="zh-CN" altLang="en-US" dirty="0"/>
              <a:t>典型代表：</a:t>
            </a:r>
            <a:r>
              <a:rPr lang="en-US" altLang="zh-CN" dirty="0"/>
              <a:t>QBE(Query By Example)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dirty="0"/>
              <a:t>具有关系代数和关系演算双重特点的语言</a:t>
            </a:r>
            <a:endParaRPr lang="zh-CN" altLang="en-US" sz="2400" dirty="0"/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000" dirty="0"/>
              <a:t>典型代表：</a:t>
            </a:r>
            <a:r>
              <a:rPr lang="en-US" altLang="zh-CN" sz="2000" dirty="0"/>
              <a:t>SQL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  </a:t>
            </a:r>
            <a:r>
              <a:rPr lang="zh-CN" altLang="en-US" u="sng" dirty="0"/>
              <a:t>关系模式概述</a:t>
            </a:r>
            <a:endParaRPr lang="zh-CN" altLang="en-US" u="sng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715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/>
              <a:t>关系操作集合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4) </a:t>
            </a:r>
            <a:r>
              <a:rPr lang="zh-CN" altLang="en-US" dirty="0">
                <a:solidFill>
                  <a:schemeClr val="accent2"/>
                </a:solidFill>
              </a:rPr>
              <a:t>关系数据语言的特点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关系语言是一种高度非过程化的语言</a:t>
            </a:r>
            <a:endParaRPr lang="zh-CN" altLang="en-US" dirty="0"/>
          </a:p>
          <a:p>
            <a:pPr lvl="2" algn="just" eaLnBrk="1" hangingPunct="1"/>
            <a:r>
              <a:rPr lang="zh-CN" altLang="en-US" sz="2600" dirty="0"/>
              <a:t>存取路径的选择由</a:t>
            </a:r>
            <a:r>
              <a:rPr lang="en-US" altLang="zh-CN" sz="2600" dirty="0"/>
              <a:t>DBMS</a:t>
            </a:r>
            <a:r>
              <a:rPr lang="zh-CN" altLang="en-US" sz="2600" dirty="0"/>
              <a:t>的优化机制来完成</a:t>
            </a:r>
            <a:endParaRPr lang="zh-CN" altLang="en-US" sz="2600" dirty="0"/>
          </a:p>
          <a:p>
            <a:pPr lvl="2" algn="just" eaLnBrk="1" hangingPunct="1"/>
            <a:r>
              <a:rPr lang="zh-CN" altLang="en-US" sz="2600" dirty="0"/>
              <a:t>用户不必用循环结构就可以完成数据操作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能够嵌入高级语言中使用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关系代数、元组关系演算和域关系演算三种语言在表达能力上完全等价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关系模式概述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715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关系的三类完整性约束</a:t>
            </a:r>
            <a:endParaRPr lang="zh-CN" altLang="en-US" dirty="0"/>
          </a:p>
          <a:p>
            <a:pPr algn="just" eaLnBrk="1" hangingPunct="1"/>
            <a:r>
              <a:rPr lang="zh-CN" altLang="en-US" dirty="0">
                <a:solidFill>
                  <a:schemeClr val="accent2"/>
                </a:solidFill>
              </a:rPr>
              <a:t>实体完整性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通常由关系系统自动支持</a:t>
            </a:r>
            <a:endParaRPr lang="zh-CN" altLang="en-US" dirty="0"/>
          </a:p>
          <a:p>
            <a:pPr algn="just" eaLnBrk="1" hangingPunct="1"/>
            <a:r>
              <a:rPr lang="zh-CN" altLang="en-US" dirty="0">
                <a:solidFill>
                  <a:schemeClr val="accent2"/>
                </a:solidFill>
              </a:rPr>
              <a:t>参照完整性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早期系统不支持，目前大型系统能自动支持</a:t>
            </a:r>
            <a:endParaRPr lang="zh-CN" altLang="en-US" dirty="0"/>
          </a:p>
          <a:p>
            <a:pPr algn="just" eaLnBrk="1" hangingPunct="1"/>
            <a:r>
              <a:rPr lang="zh-CN" altLang="en-US" dirty="0">
                <a:solidFill>
                  <a:schemeClr val="accent2"/>
                </a:solidFill>
              </a:rPr>
              <a:t>用户定义的完整性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反映应用领域需要遵循的约束条件，体现了具体领域中的语义约束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用户定义后由系统支持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/>
          <p:nvPr/>
        </p:nvSpPr>
        <p:spPr>
          <a:xfrm>
            <a:off x="863600" y="21844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9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关系数据结构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2.2.1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</a:rPr>
              <a:t>2.2.2  </a:t>
            </a:r>
            <a:r>
              <a:rPr lang="zh-CN" altLang="en-US" dirty="0">
                <a:solidFill>
                  <a:schemeClr val="tx1"/>
                </a:solidFill>
              </a:rPr>
              <a:t>关系模式</a:t>
            </a:r>
            <a:endParaRPr lang="zh-CN" altLang="en-US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</a:rPr>
              <a:t>2.2.3  </a:t>
            </a:r>
            <a:r>
              <a:rPr lang="zh-CN" altLang="en-US" dirty="0">
                <a:solidFill>
                  <a:schemeClr val="tx1"/>
                </a:solidFill>
              </a:rPr>
              <a:t>关系数据库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77724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2.2.1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US" altLang="zh-CN" dirty="0"/>
              <a:t>1. </a:t>
            </a:r>
            <a:r>
              <a:rPr lang="zh-CN" altLang="en-US" dirty="0"/>
              <a:t>域（</a:t>
            </a:r>
            <a:r>
              <a:rPr lang="en-US" altLang="zh-CN" dirty="0"/>
              <a:t>Domain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/>
            <a:r>
              <a:rPr lang="en-US" altLang="zh-CN" dirty="0"/>
              <a:t>2. </a:t>
            </a:r>
            <a:r>
              <a:rPr lang="zh-CN" altLang="en-US" dirty="0"/>
              <a:t>笛卡尔积（</a:t>
            </a:r>
            <a:r>
              <a:rPr lang="en-US" altLang="zh-CN" dirty="0"/>
              <a:t>Cartesian Product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/>
            <a:r>
              <a:rPr lang="en-US" altLang="zh-CN" dirty="0"/>
              <a:t>3. </a:t>
            </a:r>
            <a:r>
              <a:rPr lang="zh-CN" altLang="en-US" dirty="0"/>
              <a:t>关系（</a:t>
            </a:r>
            <a:r>
              <a:rPr lang="en-US" altLang="zh-CN" dirty="0"/>
              <a:t>Relation</a:t>
            </a:r>
            <a:r>
              <a:rPr lang="zh-CN" altLang="en-US" dirty="0"/>
              <a:t>）</a:t>
            </a:r>
            <a:endParaRPr lang="zh-CN" altLang="en-US" dirty="0"/>
          </a:p>
          <a:p>
            <a:pPr algn="just" eaLnBrk="1" hangingPunct="1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Clr>
                <a:srgbClr val="FF0000"/>
              </a:buClr>
            </a:pPr>
            <a:r>
              <a:rPr lang="en-US" altLang="zh-CN" dirty="0"/>
              <a:t>1. </a:t>
            </a:r>
            <a:r>
              <a:rPr lang="zh-CN" altLang="en-US" dirty="0"/>
              <a:t>域（</a:t>
            </a:r>
            <a:r>
              <a:rPr lang="en-US" altLang="zh-CN" dirty="0"/>
              <a:t>Domain</a:t>
            </a:r>
            <a:r>
              <a:rPr lang="zh-CN" altLang="en-US" dirty="0"/>
              <a:t>）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dirty="0"/>
              <a:t>是一组具有相同数据类型的值的集合。如：</a:t>
            </a:r>
            <a:endParaRPr lang="zh-CN" altLang="en-US" dirty="0"/>
          </a:p>
          <a:p>
            <a:pPr lvl="2" algn="just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整数</a:t>
            </a:r>
            <a:endParaRPr lang="zh-CN" altLang="en-US" sz="2800" dirty="0"/>
          </a:p>
          <a:p>
            <a:pPr lvl="2" algn="just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实数</a:t>
            </a:r>
            <a:endParaRPr lang="zh-CN" altLang="en-US" sz="2800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介于某个取值范围的整数</a:t>
            </a:r>
            <a:endParaRPr lang="zh-CN" altLang="en-US" sz="2800" dirty="0"/>
          </a:p>
          <a:p>
            <a:pPr lvl="2" algn="just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长度指定长度的字符串集合</a:t>
            </a:r>
            <a:endParaRPr lang="zh-CN" altLang="en-US" sz="2800" dirty="0"/>
          </a:p>
          <a:p>
            <a:pPr lvl="2" algn="just" eaLnBrk="1" hangingPunct="1">
              <a:buFont typeface="Wingdings" panose="05000000000000000000" pitchFamily="2" charset="2"/>
              <a:buChar char="§"/>
            </a:pPr>
            <a:r>
              <a:rPr lang="en-US" altLang="zh-CN" sz="2800" dirty="0"/>
              <a:t>{‘</a:t>
            </a:r>
            <a:r>
              <a:rPr lang="zh-CN" altLang="en-US" sz="2800" dirty="0"/>
              <a:t>男’，‘女’</a:t>
            </a:r>
            <a:r>
              <a:rPr lang="en-US" altLang="zh-CN" sz="2800" dirty="0"/>
              <a:t>}</a:t>
            </a:r>
            <a:endParaRPr lang="en-US" altLang="zh-CN" sz="2800" dirty="0"/>
          </a:p>
          <a:p>
            <a:pPr lvl="2" algn="just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/>
              <a:t>介于某个取值范围的日期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en-US" altLang="zh-CN" dirty="0"/>
              <a:t>2. </a:t>
            </a:r>
            <a:r>
              <a:rPr lang="zh-CN" altLang="en-US" dirty="0"/>
              <a:t>笛卡尔积（</a:t>
            </a:r>
            <a:r>
              <a:rPr lang="en-US" altLang="zh-CN" dirty="0"/>
              <a:t>Cartesian Product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）笛卡尔积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给定一组域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1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2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latin typeface="Arial" panose="020B0604020202020204" pitchFamily="34" charset="0"/>
              </a:rPr>
              <a:t>…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i="1" baseline="-25000" dirty="0">
                <a:latin typeface="Arial" panose="020B0604020202020204" pitchFamily="34" charset="0"/>
              </a:rPr>
              <a:t>n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zh-CN" altLang="en-US" dirty="0"/>
              <a:t>这些域中可以有相同的。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1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2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…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i="1" baseline="-25000" dirty="0">
                <a:latin typeface="Arial" panose="020B0604020202020204" pitchFamily="34" charset="0"/>
              </a:rPr>
              <a:t>n</a:t>
            </a:r>
            <a:r>
              <a:rPr lang="zh-CN" altLang="en-US" dirty="0"/>
              <a:t>的</a:t>
            </a:r>
            <a:r>
              <a:rPr lang="zh-CN" altLang="en-US" dirty="0">
                <a:ea typeface="黑体" panose="02010609060101010101" pitchFamily="49" charset="-122"/>
              </a:rPr>
              <a:t>笛卡尔积</a:t>
            </a:r>
            <a:r>
              <a:rPr lang="zh-CN" altLang="en-US" dirty="0"/>
              <a:t>为：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1</a:t>
            </a:r>
            <a:r>
              <a:rPr lang="en-US" altLang="zh-CN" b="0" dirty="0">
                <a:latin typeface="Arial" panose="020B0604020202020204" pitchFamily="34" charset="0"/>
              </a:rPr>
              <a:t>×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2</a:t>
            </a:r>
            <a:r>
              <a:rPr lang="en-US" altLang="zh-CN" b="0" dirty="0">
                <a:latin typeface="Arial" panose="020B0604020202020204" pitchFamily="34" charset="0"/>
              </a:rPr>
              <a:t>×…×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i="1" baseline="-25000" dirty="0">
                <a:latin typeface="Arial" panose="020B0604020202020204" pitchFamily="34" charset="0"/>
              </a:rPr>
              <a:t>n</a:t>
            </a:r>
            <a:r>
              <a:rPr lang="zh-CN" altLang="en-US" b="0" dirty="0">
                <a:latin typeface="Arial" panose="020B0604020202020204" pitchFamily="34" charset="0"/>
              </a:rPr>
              <a:t>＝</a:t>
            </a:r>
            <a:endParaRPr lang="zh-CN" altLang="en-US" b="0" dirty="0"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b="0" dirty="0">
                <a:latin typeface="Arial" panose="020B0604020202020204" pitchFamily="34" charset="0"/>
              </a:rPr>
              <a:t>｛（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1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baseline="-25000" dirty="0">
                <a:latin typeface="Arial" panose="020B0604020202020204" pitchFamily="34" charset="0"/>
              </a:rPr>
              <a:t>2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latin typeface="Arial" panose="020B0604020202020204" pitchFamily="34" charset="0"/>
              </a:rPr>
              <a:t>…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i="1" baseline="-25000" dirty="0">
                <a:latin typeface="Arial" panose="020B0604020202020204" pitchFamily="34" charset="0"/>
              </a:rPr>
              <a:t>n</a:t>
            </a:r>
            <a:r>
              <a:rPr lang="zh-CN" altLang="en-US" b="0" dirty="0">
                <a:latin typeface="Arial" panose="020B0604020202020204" pitchFamily="34" charset="0"/>
              </a:rPr>
              <a:t>）｜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i="1" baseline="-25000" dirty="0">
                <a:latin typeface="Arial" panose="020B0604020202020204" pitchFamily="34" charset="0"/>
              </a:rPr>
              <a:t>i</a:t>
            </a:r>
            <a:r>
              <a:rPr lang="en-US" altLang="zh-CN" b="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b="0" i="1" dirty="0">
                <a:latin typeface="Arial" panose="020B0604020202020204" pitchFamily="34" charset="0"/>
              </a:rPr>
              <a:t>D</a:t>
            </a:r>
            <a:r>
              <a:rPr lang="en-US" altLang="zh-CN" b="0" i="1" baseline="-25000" dirty="0">
                <a:latin typeface="Arial" panose="020B0604020202020204" pitchFamily="34" charset="0"/>
              </a:rPr>
              <a:t>i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i</a:t>
            </a:r>
            <a:r>
              <a:rPr lang="zh-CN" altLang="en-US" b="0" dirty="0">
                <a:latin typeface="Arial" panose="020B0604020202020204" pitchFamily="34" charset="0"/>
              </a:rPr>
              <a:t>＝</a:t>
            </a:r>
            <a:r>
              <a:rPr lang="en-US" altLang="zh-CN" b="0" dirty="0">
                <a:latin typeface="Arial" panose="020B0604020202020204" pitchFamily="34" charset="0"/>
              </a:rPr>
              <a:t>1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latin typeface="Arial" panose="020B0604020202020204" pitchFamily="34" charset="0"/>
              </a:rPr>
              <a:t>2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latin typeface="Arial" panose="020B0604020202020204" pitchFamily="34" charset="0"/>
              </a:rPr>
              <a:t>…</a:t>
            </a:r>
            <a:r>
              <a:rPr lang="zh-CN" altLang="en-US" b="0" dirty="0"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latin typeface="Arial" panose="020B0604020202020204" pitchFamily="34" charset="0"/>
              </a:rPr>
              <a:t>n</a:t>
            </a:r>
            <a:r>
              <a:rPr lang="zh-CN" altLang="en-US" b="0" dirty="0">
                <a:latin typeface="Arial" panose="020B0604020202020204" pitchFamily="34" charset="0"/>
              </a:rPr>
              <a:t>｝</a:t>
            </a:r>
            <a:endParaRPr lang="zh-CN" altLang="en-US" b="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  <a:p>
            <a:pPr lvl="1" eaLnBrk="1" hangingPunct="1"/>
            <a:r>
              <a:rPr lang="zh-CN" altLang="en-US" dirty="0">
                <a:ea typeface="楷体_GB2312" pitchFamily="49" charset="-122"/>
              </a:rPr>
              <a:t>所有域的所有取值的一个组合</a:t>
            </a:r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r>
              <a:rPr lang="zh-CN" altLang="en-US" dirty="0">
                <a:ea typeface="楷体_GB2312" pitchFamily="49" charset="-122"/>
              </a:rPr>
              <a:t>不能重复</a:t>
            </a:r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2819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笛卡尔积（续）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例：设</a:t>
            </a:r>
            <a:endParaRPr lang="zh-CN" altLang="en-US" dirty="0"/>
          </a:p>
          <a:p>
            <a:pPr lvl="1" eaLnBrk="1" hangingPunct="1">
              <a:spcBef>
                <a:spcPct val="10000"/>
              </a:spcBef>
              <a:buNone/>
            </a:pPr>
            <a:r>
              <a:rPr lang="zh-CN" altLang="en-US" dirty="0"/>
              <a:t>		     </a:t>
            </a:r>
            <a:r>
              <a:rPr lang="en-US" altLang="zh-CN" sz="2400" dirty="0"/>
              <a:t>D</a:t>
            </a:r>
            <a:r>
              <a:rPr lang="en-US" altLang="zh-CN" sz="2400" baseline="-20000" dirty="0"/>
              <a:t>1</a:t>
            </a:r>
            <a:r>
              <a:rPr lang="zh-CN" altLang="en-US" sz="2400" dirty="0"/>
              <a:t>为姓名集合 </a:t>
            </a:r>
            <a:r>
              <a:rPr lang="en-US" altLang="zh-CN" sz="2400" dirty="0"/>
              <a:t>= {</a:t>
            </a:r>
            <a:r>
              <a:rPr lang="zh-CN" altLang="en-US" sz="2400" dirty="0"/>
              <a:t>刘德华，王菲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sz="2400" dirty="0"/>
              <a:t>		      D</a:t>
            </a:r>
            <a:r>
              <a:rPr lang="en-US" altLang="zh-CN" sz="2400" baseline="-20000" dirty="0"/>
              <a:t>2</a:t>
            </a:r>
            <a:r>
              <a:rPr lang="zh-CN" altLang="en-US" sz="2400" dirty="0"/>
              <a:t>为性别集合 </a:t>
            </a:r>
            <a:r>
              <a:rPr lang="en-US" altLang="zh-CN" sz="2400" dirty="0"/>
              <a:t>= {</a:t>
            </a:r>
            <a:r>
              <a:rPr lang="zh-CN" altLang="en-US" sz="2400" dirty="0"/>
              <a:t>男，女</a:t>
            </a:r>
            <a:r>
              <a:rPr lang="zh-CN" altLang="en-US" sz="2400" baseline="-20000" dirty="0"/>
              <a:t> 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则</a:t>
            </a:r>
            <a:r>
              <a:rPr lang="en-US" altLang="zh-CN" sz="2400" dirty="0"/>
              <a:t>D</a:t>
            </a:r>
            <a:r>
              <a:rPr lang="en-US" altLang="zh-CN" sz="2400" baseline="-18000" dirty="0"/>
              <a:t>1</a:t>
            </a:r>
            <a:r>
              <a:rPr lang="en-US" altLang="zh-CN" sz="2400" dirty="0"/>
              <a:t>×D</a:t>
            </a:r>
            <a:r>
              <a:rPr lang="en-US" altLang="zh-CN" sz="2400" baseline="-18000" dirty="0"/>
              <a:t>2</a:t>
            </a:r>
            <a:r>
              <a:rPr lang="zh-CN" altLang="en-US" sz="2400" dirty="0"/>
              <a:t>是个二元组集合，元组个数为</a:t>
            </a:r>
            <a:r>
              <a:rPr lang="en-US" altLang="zh-CN" sz="2400" dirty="0"/>
              <a:t>2×2</a:t>
            </a:r>
            <a:r>
              <a:rPr lang="zh-CN" altLang="en-US" sz="2400" dirty="0"/>
              <a:t>，是所有可能的（姓名，性别）元组集合</a:t>
            </a:r>
            <a:endParaRPr lang="zh-CN" altLang="en-US" dirty="0"/>
          </a:p>
        </p:txBody>
      </p:sp>
      <p:graphicFrame>
        <p:nvGraphicFramePr>
          <p:cNvPr id="24604" name="Group 28"/>
          <p:cNvGraphicFramePr>
            <a:graphicFrameLocks noGrp="1"/>
          </p:cNvGraphicFramePr>
          <p:nvPr/>
        </p:nvGraphicFramePr>
        <p:xfrm>
          <a:off x="2971800" y="3962400"/>
          <a:ext cx="4648200" cy="2620963"/>
        </p:xfrm>
        <a:graphic>
          <a:graphicData uri="http://schemas.openxmlformats.org/drawingml/2006/table">
            <a:tbl>
              <a:tblPr/>
              <a:tblGrid>
                <a:gridCol w="2324100"/>
                <a:gridCol w="2324100"/>
              </a:tblGrid>
              <a:tr h="5478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刘德华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-20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刘德华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-20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王菲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-20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王菲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29" name="Text Box 24"/>
          <p:cNvSpPr txBox="1"/>
          <p:nvPr/>
        </p:nvSpPr>
        <p:spPr>
          <a:xfrm>
            <a:off x="838200" y="4876800"/>
            <a:ext cx="19129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D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×D</a:t>
            </a:r>
            <a:r>
              <a:rPr lang="en-US" altLang="zh-CN" baseline="-18000" dirty="0">
                <a:solidFill>
                  <a:schemeClr val="tx1"/>
                </a:solidFill>
              </a:rPr>
              <a:t>2  </a:t>
            </a:r>
            <a:r>
              <a:rPr lang="en-US" altLang="zh-CN" dirty="0">
                <a:solidFill>
                  <a:schemeClr val="tx1"/>
                </a:solidFill>
              </a:rPr>
              <a:t>= 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笛卡尔积（续）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元组（</a:t>
            </a:r>
            <a:r>
              <a:rPr lang="en-US" altLang="zh-CN" dirty="0">
                <a:solidFill>
                  <a:schemeClr val="accent2"/>
                </a:solidFill>
              </a:rPr>
              <a:t>Tuple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/>
            <a:r>
              <a:rPr lang="zh-CN" altLang="en-US" dirty="0"/>
              <a:t>笛卡尔积中每一个元素（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）叫作一个</a:t>
            </a:r>
            <a:r>
              <a:rPr lang="en-US" altLang="zh-CN" i="1" dirty="0">
                <a:ea typeface="黑体" panose="02010609060101010101" pitchFamily="49" charset="-122"/>
              </a:rPr>
              <a:t>n</a:t>
            </a:r>
            <a:r>
              <a:rPr lang="zh-CN" altLang="en-US" dirty="0">
                <a:ea typeface="黑体" panose="02010609060101010101" pitchFamily="49" charset="-122"/>
              </a:rPr>
              <a:t>元组</a:t>
            </a:r>
            <a:r>
              <a:rPr lang="zh-CN" altLang="en-US" dirty="0"/>
              <a:t>（</a:t>
            </a:r>
            <a:r>
              <a:rPr lang="en-US" altLang="zh-CN" dirty="0"/>
              <a:t>n-tuple</a:t>
            </a:r>
            <a:r>
              <a:rPr lang="zh-CN" altLang="en-US" dirty="0"/>
              <a:t>）或简称</a:t>
            </a:r>
            <a:r>
              <a:rPr lang="zh-CN" altLang="en-US" dirty="0">
                <a:ea typeface="黑体" panose="02010609060101010101" pitchFamily="49" charset="-122"/>
              </a:rPr>
              <a:t>元组</a:t>
            </a:r>
            <a:r>
              <a:rPr lang="zh-CN" altLang="en-US" dirty="0"/>
              <a:t>。</a:t>
            </a:r>
            <a:r>
              <a:rPr lang="zh-CN" altLang="en-US" i="1" dirty="0"/>
              <a:t> </a:t>
            </a:r>
            <a:endParaRPr lang="zh-CN" altLang="en-US" dirty="0"/>
          </a:p>
          <a:p>
            <a:pPr eaLnBrk="1" hangingPunct="1"/>
            <a:r>
              <a:rPr lang="en-US" altLang="zh-CN" dirty="0">
                <a:solidFill>
                  <a:schemeClr val="accent2"/>
                </a:solidFill>
              </a:rPr>
              <a:t>3) </a:t>
            </a:r>
            <a:r>
              <a:rPr lang="zh-CN" altLang="en-US" dirty="0">
                <a:solidFill>
                  <a:schemeClr val="accent2"/>
                </a:solidFill>
              </a:rPr>
              <a:t>分量（</a:t>
            </a:r>
            <a:r>
              <a:rPr lang="en-US" altLang="zh-CN" dirty="0">
                <a:solidFill>
                  <a:schemeClr val="accent2"/>
                </a:solidFill>
              </a:rPr>
              <a:t>Component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/>
            <a:r>
              <a:rPr lang="zh-CN" altLang="en-US" dirty="0"/>
              <a:t>笛卡尔积元素（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）中的每一个值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zh-CN" altLang="en-US" dirty="0"/>
              <a:t>叫作一个</a:t>
            </a:r>
            <a:r>
              <a:rPr lang="zh-CN" altLang="en-US" dirty="0">
                <a:ea typeface="黑体" panose="02010609060101010101" pitchFamily="49" charset="-122"/>
              </a:rPr>
              <a:t>分量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笛卡尔积（续）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4</a:t>
            </a:r>
            <a:r>
              <a:rPr lang="zh-CN" altLang="en-US" dirty="0">
                <a:solidFill>
                  <a:schemeClr val="accent2"/>
                </a:solidFill>
              </a:rPr>
              <a:t>）基数（</a:t>
            </a:r>
            <a:r>
              <a:rPr lang="en-US" altLang="zh-CN" dirty="0">
                <a:solidFill>
                  <a:schemeClr val="accent2"/>
                </a:solidFill>
              </a:rPr>
              <a:t>Cardinal number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若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zh-CN" altLang="en-US" dirty="0"/>
              <a:t>（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）为有限集，其基数为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i</a:t>
            </a:r>
            <a:r>
              <a:rPr lang="zh-CN" altLang="en-US" dirty="0"/>
              <a:t>（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），则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的基数</a:t>
            </a:r>
            <a:r>
              <a:rPr lang="en-US" altLang="zh-CN" i="1" dirty="0"/>
              <a:t>M</a:t>
            </a:r>
            <a:r>
              <a:rPr lang="zh-CN" altLang="en-US" dirty="0"/>
              <a:t>为：</a:t>
            </a:r>
            <a:endParaRPr lang="zh-CN" altLang="en-US" dirty="0"/>
          </a:p>
          <a:p>
            <a:pPr lvl="1" algn="just" eaLnBrk="1" hangingPunct="1"/>
            <a:endParaRPr lang="zh-CN" altLang="en-US" dirty="0"/>
          </a:p>
          <a:p>
            <a:pPr lvl="1" algn="just" eaLnBrk="1" hangingPunct="1"/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在上例中，基数：</a:t>
            </a:r>
            <a:r>
              <a:rPr lang="en-US" altLang="zh-CN" dirty="0"/>
              <a:t>2×2</a:t>
            </a:r>
            <a:r>
              <a:rPr lang="zh-CN" altLang="en-US" dirty="0"/>
              <a:t>＝</a:t>
            </a:r>
            <a:r>
              <a:rPr lang="en-US" altLang="zh-CN" dirty="0"/>
              <a:t>4</a:t>
            </a:r>
            <a:r>
              <a:rPr lang="zh-CN" altLang="en-US" dirty="0"/>
              <a:t>，即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共有</a:t>
            </a:r>
            <a:r>
              <a:rPr lang="en-US" altLang="zh-CN" dirty="0"/>
              <a:t>2×2</a:t>
            </a:r>
            <a:r>
              <a:rPr lang="zh-CN" altLang="en-US" dirty="0"/>
              <a:t>＝</a:t>
            </a:r>
            <a:r>
              <a:rPr lang="en-US" altLang="zh-CN" dirty="0"/>
              <a:t>4</a:t>
            </a:r>
            <a:r>
              <a:rPr lang="zh-CN" altLang="en-US" dirty="0"/>
              <a:t>个元组</a:t>
            </a:r>
            <a:endParaRPr lang="zh-CN" altLang="en-US" dirty="0"/>
          </a:p>
        </p:txBody>
      </p:sp>
      <p:graphicFrame>
        <p:nvGraphicFramePr>
          <p:cNvPr id="23557" name="Object 4"/>
          <p:cNvGraphicFramePr>
            <a:graphicFrameLocks noChangeAspect="1"/>
          </p:cNvGraphicFramePr>
          <p:nvPr/>
        </p:nvGraphicFramePr>
        <p:xfrm>
          <a:off x="3221038" y="3473450"/>
          <a:ext cx="20923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11200" imgH="368300" progId="Equation.3">
                  <p:embed/>
                </p:oleObj>
              </mc:Choice>
              <mc:Fallback>
                <p:oleObj name="" r:id="rId1" imgW="711200" imgH="368300" progId="Equation.3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21038" y="3473450"/>
                        <a:ext cx="2092325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dirty="0"/>
              <a:t>笛卡尔积（续）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dirty="0">
                <a:solidFill>
                  <a:schemeClr val="accent2"/>
                </a:solidFill>
              </a:rPr>
              <a:t>基数（续）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例：设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en-US" dirty="0"/>
              <a:t>		     </a:t>
            </a:r>
            <a:r>
              <a:rPr lang="en-US" altLang="zh-CN" sz="2400" dirty="0"/>
              <a:t>D</a:t>
            </a:r>
            <a:r>
              <a:rPr lang="en-US" altLang="zh-CN" sz="2400" baseline="-20000" dirty="0"/>
              <a:t>1</a:t>
            </a:r>
            <a:r>
              <a:rPr lang="zh-CN" altLang="en-US" sz="2400" dirty="0"/>
              <a:t>为教师集合（</a:t>
            </a:r>
            <a:r>
              <a:rPr lang="en-US" altLang="zh-CN" sz="2400" dirty="0"/>
              <a:t>T</a:t>
            </a:r>
            <a:r>
              <a:rPr lang="zh-CN" altLang="en-US" sz="2400" dirty="0"/>
              <a:t>）</a:t>
            </a:r>
            <a:r>
              <a:rPr lang="en-US" altLang="zh-CN" sz="2400" dirty="0"/>
              <a:t>= {</a:t>
            </a:r>
            <a:r>
              <a:rPr lang="zh-CN" altLang="en-US" sz="2400" dirty="0"/>
              <a:t>赵，钱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		      D</a:t>
            </a:r>
            <a:r>
              <a:rPr lang="en-US" altLang="zh-CN" sz="2400" baseline="-20000" dirty="0"/>
              <a:t>2</a:t>
            </a:r>
            <a:r>
              <a:rPr lang="zh-CN" altLang="en-US" sz="2400" dirty="0"/>
              <a:t>为学生集合（</a:t>
            </a:r>
            <a:r>
              <a:rPr lang="en-US" altLang="zh-CN" sz="2400" dirty="0"/>
              <a:t>S</a:t>
            </a:r>
            <a:r>
              <a:rPr lang="zh-CN" altLang="en-US" sz="2400" dirty="0"/>
              <a:t>）</a:t>
            </a:r>
            <a:r>
              <a:rPr lang="en-US" altLang="zh-CN" sz="2400" dirty="0"/>
              <a:t>= {s</a:t>
            </a:r>
            <a:r>
              <a:rPr lang="en-US" altLang="zh-CN" sz="2400" baseline="-20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s</a:t>
            </a:r>
            <a:r>
              <a:rPr lang="en-US" altLang="zh-CN" sz="2400" baseline="-20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s</a:t>
            </a:r>
            <a:r>
              <a:rPr lang="en-US" altLang="zh-CN" sz="2400" baseline="-20000" dirty="0"/>
              <a:t>3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		      D</a:t>
            </a:r>
            <a:r>
              <a:rPr lang="en-US" altLang="zh-CN" sz="2400" baseline="-20000" dirty="0"/>
              <a:t>3</a:t>
            </a:r>
            <a:r>
              <a:rPr lang="zh-CN" altLang="en-US" sz="2400" dirty="0"/>
              <a:t>为课程集合（</a:t>
            </a:r>
            <a:r>
              <a:rPr lang="en-US" altLang="zh-CN" sz="2400" dirty="0"/>
              <a:t>C</a:t>
            </a:r>
            <a:r>
              <a:rPr lang="zh-CN" altLang="en-US" sz="2400" dirty="0"/>
              <a:t>）</a:t>
            </a:r>
            <a:r>
              <a:rPr lang="en-US" altLang="zh-CN" sz="2400" dirty="0"/>
              <a:t>= {</a:t>
            </a:r>
            <a:r>
              <a:rPr lang="zh-CN" altLang="en-US" sz="2400" dirty="0"/>
              <a:t>数据库，操作系统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则</a:t>
            </a:r>
            <a:r>
              <a:rPr lang="en-US" altLang="zh-CN" sz="2400" dirty="0"/>
              <a:t>D</a:t>
            </a:r>
            <a:r>
              <a:rPr lang="en-US" altLang="zh-CN" sz="2400" baseline="-18000" dirty="0"/>
              <a:t>1</a:t>
            </a:r>
            <a:r>
              <a:rPr lang="en-US" altLang="zh-CN" sz="2400" dirty="0"/>
              <a:t>×D</a:t>
            </a:r>
            <a:r>
              <a:rPr lang="en-US" altLang="zh-CN" sz="2400" baseline="-18000" dirty="0"/>
              <a:t>2</a:t>
            </a:r>
            <a:r>
              <a:rPr lang="en-US" altLang="zh-CN" sz="2400" dirty="0"/>
              <a:t>×D</a:t>
            </a:r>
            <a:r>
              <a:rPr lang="en-US" altLang="zh-CN" sz="2400" baseline="-18000" dirty="0"/>
              <a:t>3</a:t>
            </a:r>
            <a:r>
              <a:rPr lang="zh-CN" altLang="en-US" sz="2400" dirty="0"/>
              <a:t>是个三元组集合，元组个数为</a:t>
            </a:r>
            <a:r>
              <a:rPr lang="en-US" altLang="zh-CN" sz="2400" dirty="0"/>
              <a:t>2×3×2</a:t>
            </a:r>
            <a:r>
              <a:rPr lang="zh-CN" altLang="en-US" sz="2400" dirty="0"/>
              <a:t>，是所有可能的（教师，学生，课程）元组集合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在本例中，基数：</a:t>
            </a:r>
            <a:r>
              <a:rPr lang="en-US" altLang="zh-CN" dirty="0">
                <a:solidFill>
                  <a:schemeClr val="accent2"/>
                </a:solidFill>
              </a:rPr>
              <a:t>2×3×2</a:t>
            </a:r>
            <a:r>
              <a:rPr lang="zh-CN" altLang="en-US" dirty="0">
                <a:solidFill>
                  <a:schemeClr val="accent2"/>
                </a:solidFill>
              </a:rPr>
              <a:t>＝</a:t>
            </a:r>
            <a:r>
              <a:rPr lang="en-US" altLang="zh-CN" dirty="0">
                <a:solidFill>
                  <a:schemeClr val="accent2"/>
                </a:solidFill>
              </a:rPr>
              <a:t>12</a:t>
            </a:r>
            <a:r>
              <a:rPr lang="zh-CN" altLang="en-US" dirty="0">
                <a:solidFill>
                  <a:schemeClr val="accent2"/>
                </a:solidFill>
              </a:rPr>
              <a:t>，即</a:t>
            </a:r>
            <a:r>
              <a:rPr lang="en-US" altLang="zh-CN" i="1" dirty="0">
                <a:solidFill>
                  <a:schemeClr val="accent2"/>
                </a:solidFill>
              </a:rPr>
              <a:t>D</a:t>
            </a:r>
            <a:r>
              <a:rPr lang="en-US" altLang="zh-CN" baseline="-25000" dirty="0">
                <a:solidFill>
                  <a:schemeClr val="accent2"/>
                </a:solidFill>
              </a:rPr>
              <a:t>1</a:t>
            </a:r>
            <a:r>
              <a:rPr lang="en-US" altLang="zh-CN" dirty="0">
                <a:solidFill>
                  <a:schemeClr val="accent2"/>
                </a:solidFill>
              </a:rPr>
              <a:t>×</a:t>
            </a:r>
            <a:r>
              <a:rPr lang="en-US" altLang="zh-CN" i="1" dirty="0">
                <a:solidFill>
                  <a:schemeClr val="accent2"/>
                </a:solidFill>
              </a:rPr>
              <a:t>D</a:t>
            </a:r>
            <a:r>
              <a:rPr lang="en-US" altLang="zh-CN" baseline="-25000" dirty="0">
                <a:solidFill>
                  <a:schemeClr val="accent2"/>
                </a:solidFill>
              </a:rPr>
              <a:t>2</a:t>
            </a:r>
            <a:r>
              <a:rPr lang="en-US" altLang="zh-CN" dirty="0">
                <a:solidFill>
                  <a:schemeClr val="accent2"/>
                </a:solidFill>
              </a:rPr>
              <a:t>×</a:t>
            </a:r>
            <a:r>
              <a:rPr lang="en-US" altLang="zh-CN" i="1" dirty="0">
                <a:solidFill>
                  <a:schemeClr val="accent2"/>
                </a:solidFill>
              </a:rPr>
              <a:t>D</a:t>
            </a:r>
            <a:r>
              <a:rPr lang="en-US" altLang="zh-CN" baseline="-25000" dirty="0">
                <a:solidFill>
                  <a:schemeClr val="accent2"/>
                </a:solidFill>
              </a:rPr>
              <a:t>3</a:t>
            </a:r>
            <a:r>
              <a:rPr lang="zh-CN" altLang="en-US" dirty="0">
                <a:solidFill>
                  <a:schemeClr val="accent2"/>
                </a:solidFill>
              </a:rPr>
              <a:t>共有</a:t>
            </a:r>
            <a:r>
              <a:rPr lang="en-US" altLang="zh-CN" dirty="0">
                <a:solidFill>
                  <a:schemeClr val="accent2"/>
                </a:solidFill>
              </a:rPr>
              <a:t>2×3×2</a:t>
            </a:r>
            <a:r>
              <a:rPr lang="zh-CN" altLang="en-US" dirty="0">
                <a:solidFill>
                  <a:schemeClr val="accent2"/>
                </a:solidFill>
              </a:rPr>
              <a:t>＝</a:t>
            </a:r>
            <a:r>
              <a:rPr lang="en-US" altLang="zh-CN" dirty="0">
                <a:solidFill>
                  <a:schemeClr val="accent2"/>
                </a:solidFill>
              </a:rPr>
              <a:t>12</a:t>
            </a:r>
            <a:r>
              <a:rPr lang="zh-CN" altLang="en-US" dirty="0">
                <a:solidFill>
                  <a:schemeClr val="accent2"/>
                </a:solidFill>
              </a:rPr>
              <a:t>个元组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你能列出全部</a:t>
            </a:r>
            <a:r>
              <a:rPr lang="en-US" altLang="zh-CN" dirty="0"/>
              <a:t>12</a:t>
            </a:r>
            <a:r>
              <a:rPr lang="zh-CN" altLang="en-US" dirty="0"/>
              <a:t>个元组吗？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笛卡尔积（续）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5) </a:t>
            </a:r>
            <a:r>
              <a:rPr lang="zh-CN" altLang="en-US" dirty="0">
                <a:solidFill>
                  <a:schemeClr val="accent2"/>
                </a:solidFill>
              </a:rPr>
              <a:t>笛卡尔积的表示方法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/>
            <a:r>
              <a:rPr lang="zh-CN" altLang="en-US" dirty="0"/>
              <a:t>笛卡尔积可表示为一个二维表。表中的每行对应一个元组，表中的每列对应一个域。</a:t>
            </a:r>
            <a:endParaRPr lang="zh-CN" altLang="en-US" dirty="0"/>
          </a:p>
          <a:p>
            <a:pPr lvl="1"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在上例中，</a:t>
            </a:r>
            <a:r>
              <a:rPr lang="en-US" altLang="zh-CN" dirty="0"/>
              <a:t>12</a:t>
            </a:r>
            <a:r>
              <a:rPr lang="zh-CN" altLang="en-US" dirty="0"/>
              <a:t>个元组可列成一张二维表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29698" name="Group 2"/>
          <p:cNvGraphicFramePr>
            <a:graphicFrameLocks noGrp="1"/>
          </p:cNvGraphicFramePr>
          <p:nvPr/>
        </p:nvGraphicFramePr>
        <p:xfrm>
          <a:off x="1219200" y="228600"/>
          <a:ext cx="7086600" cy="6003925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2362200"/>
              </a:tblGrid>
              <a:tr h="51811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教师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学生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课程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15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en-US" altLang="zh-CN" dirty="0"/>
              <a:t>3. </a:t>
            </a:r>
            <a:r>
              <a:rPr lang="zh-CN" altLang="en-US" dirty="0"/>
              <a:t>关系（</a:t>
            </a:r>
            <a:r>
              <a:rPr lang="en-US" altLang="zh-CN" dirty="0"/>
              <a:t>Relation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1)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的子集叫作在域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上的</a:t>
            </a:r>
            <a:r>
              <a:rPr lang="zh-CN" altLang="en-US" dirty="0">
                <a:ea typeface="黑体" panose="02010609060101010101" pitchFamily="49" charset="-122"/>
              </a:rPr>
              <a:t>关系</a:t>
            </a:r>
            <a:r>
              <a:rPr lang="zh-CN" altLang="en-US" dirty="0"/>
              <a:t>，表示为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                 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  <a:r>
              <a:rPr lang="en-US" altLang="zh-CN" i="1" dirty="0"/>
              <a:t>R</a:t>
            </a:r>
            <a:r>
              <a:rPr lang="zh-CN" altLang="en-US" i="1" dirty="0"/>
              <a:t>：</a:t>
            </a:r>
            <a:r>
              <a:rPr lang="zh-CN" altLang="en-US" dirty="0"/>
              <a:t>关系名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         </a:t>
            </a:r>
            <a:r>
              <a:rPr lang="en-US" altLang="zh-CN" i="1" dirty="0"/>
              <a:t>n</a:t>
            </a:r>
            <a:r>
              <a:rPr lang="zh-CN" altLang="en-US" i="1" dirty="0"/>
              <a:t>：</a:t>
            </a:r>
            <a:r>
              <a:rPr lang="zh-CN" altLang="en-US" dirty="0"/>
              <a:t>关系的</a:t>
            </a:r>
            <a:r>
              <a:rPr lang="zh-CN" altLang="en-US" dirty="0">
                <a:ea typeface="黑体" panose="02010609060101010101" pitchFamily="49" charset="-122"/>
              </a:rPr>
              <a:t>目</a:t>
            </a:r>
            <a:r>
              <a:rPr lang="zh-CN" altLang="en-US" dirty="0"/>
              <a:t>或</a:t>
            </a:r>
            <a:r>
              <a:rPr lang="zh-CN" altLang="en-US" dirty="0">
                <a:ea typeface="黑体" panose="02010609060101010101" pitchFamily="49" charset="-122"/>
              </a:rPr>
              <a:t>度</a:t>
            </a:r>
            <a:r>
              <a:rPr lang="zh-CN" altLang="en-US" dirty="0"/>
              <a:t>（</a:t>
            </a:r>
            <a:r>
              <a:rPr lang="en-US" altLang="zh-CN" dirty="0"/>
              <a:t>Degree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/>
            <a:r>
              <a:rPr lang="zh-CN" altLang="en-US" b="0" dirty="0"/>
              <a:t>关系是笛卡尔积中</a:t>
            </a:r>
            <a:r>
              <a:rPr lang="zh-CN" altLang="en-US" dirty="0">
                <a:solidFill>
                  <a:srgbClr val="FF0000"/>
                </a:solidFill>
              </a:rPr>
              <a:t>有意义的子集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b="0" dirty="0"/>
              <a:t>关系也可以表示为二维表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</p:txBody>
      </p:sp>
      <p:graphicFrame>
        <p:nvGraphicFramePr>
          <p:cNvPr id="31748" name="Group 4"/>
          <p:cNvGraphicFramePr>
            <a:graphicFrameLocks noGrp="1"/>
          </p:cNvGraphicFramePr>
          <p:nvPr/>
        </p:nvGraphicFramePr>
        <p:xfrm>
          <a:off x="381000" y="2895600"/>
          <a:ext cx="2209800" cy="1492250"/>
        </p:xfrm>
        <a:graphic>
          <a:graphicData uri="http://schemas.openxmlformats.org/drawingml/2006/table">
            <a:tbl>
              <a:tblPr/>
              <a:tblGrid>
                <a:gridCol w="1143000"/>
                <a:gridCol w="1066800"/>
              </a:tblGrid>
              <a:tr h="5476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刘德华</a:t>
                      </a:r>
                      <a:endParaRPr kumimoji="1" lang="zh-CN" altLang="en-US" sz="2400" b="1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王菲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762" name="Group 18"/>
          <p:cNvGraphicFramePr>
            <a:graphicFrameLocks noGrp="1"/>
          </p:cNvGraphicFramePr>
          <p:nvPr/>
        </p:nvGraphicFramePr>
        <p:xfrm>
          <a:off x="3352800" y="2438400"/>
          <a:ext cx="5334000" cy="2346325"/>
        </p:xfrm>
        <a:graphic>
          <a:graphicData uri="http://schemas.openxmlformats.org/drawingml/2006/table">
            <a:tbl>
              <a:tblPr/>
              <a:tblGrid>
                <a:gridCol w="1371600"/>
                <a:gridCol w="1676400"/>
                <a:gridCol w="2286000"/>
              </a:tblGrid>
              <a:tr h="51802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教师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1" marB="45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学生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课程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570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0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570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570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钱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038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2)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元组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zh-CN" altLang="en-US" dirty="0"/>
              <a:t>关系中的每个元素是关系中的元组，通常用</a:t>
            </a:r>
            <a:r>
              <a:rPr lang="en-US" altLang="zh-CN" i="1" dirty="0"/>
              <a:t>t</a:t>
            </a:r>
            <a:r>
              <a:rPr lang="zh-CN" altLang="en-US" dirty="0"/>
              <a:t>表示。</a:t>
            </a:r>
            <a:endParaRPr lang="zh-CN" altLang="en-US" dirty="0"/>
          </a:p>
          <a:p>
            <a:pPr algn="just" eaLnBrk="1" hangingPunct="1"/>
            <a:r>
              <a:rPr lang="en-US" altLang="zh-CN" dirty="0">
                <a:solidFill>
                  <a:schemeClr val="accent2"/>
                </a:solidFill>
              </a:rPr>
              <a:t>3) </a:t>
            </a:r>
            <a:r>
              <a:rPr lang="zh-CN" altLang="en-US" dirty="0">
                <a:solidFill>
                  <a:schemeClr val="accent2"/>
                </a:solidFill>
              </a:rPr>
              <a:t>单元关系与二元关系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单元</a:t>
            </a:r>
            <a:r>
              <a:rPr lang="zh-CN" altLang="en-US" dirty="0"/>
              <a:t>关系（</a:t>
            </a:r>
            <a:r>
              <a:rPr lang="en-US" altLang="zh-CN" dirty="0"/>
              <a:t>Unary relation</a:t>
            </a:r>
            <a:r>
              <a:rPr lang="zh-CN" altLang="en-US" dirty="0"/>
              <a:t>）。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=2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二元</a:t>
            </a:r>
            <a:r>
              <a:rPr lang="zh-CN" altLang="en-US" dirty="0"/>
              <a:t>关系（</a:t>
            </a:r>
            <a:r>
              <a:rPr lang="en-US" altLang="zh-CN" dirty="0"/>
              <a:t>Binary relation</a:t>
            </a:r>
            <a:r>
              <a:rPr lang="zh-CN" altLang="en-US" dirty="0"/>
              <a:t>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4) 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关系的表示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zh-CN" altLang="en-US" dirty="0"/>
              <a:t>   关系也是一个二维表，表的每行对应一个元组，表的每列对应一个域。</a:t>
            </a:r>
            <a:endParaRPr lang="zh-CN" altLang="en-US" dirty="0"/>
          </a:p>
          <a:p>
            <a:pPr lvl="1"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dirty="0">
                <a:solidFill>
                  <a:schemeClr val="accent2"/>
                </a:solidFill>
              </a:rPr>
              <a:t>5) </a:t>
            </a:r>
            <a:r>
              <a:rPr lang="zh-CN" altLang="en-US" dirty="0">
                <a:solidFill>
                  <a:schemeClr val="accent2"/>
                </a:solidFill>
              </a:rPr>
              <a:t>属性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   关系中不同列可以对应相同的域，为了加以区分，必须对每列起一个名字，称为属性（</a:t>
            </a:r>
            <a:r>
              <a:rPr lang="en-US" altLang="zh-CN" dirty="0"/>
              <a:t>Attribute</a:t>
            </a:r>
            <a:r>
              <a:rPr lang="zh-CN" altLang="en-US" dirty="0"/>
              <a:t>）。</a:t>
            </a:r>
            <a:endParaRPr lang="zh-CN" altLang="en-US" dirty="0"/>
          </a:p>
          <a:p>
            <a:pPr lvl="1" algn="just" eaLnBrk="1" hangingPunct="1">
              <a:buNone/>
            </a:pPr>
            <a:endParaRPr lang="zh-CN" altLang="en-US" i="1" dirty="0"/>
          </a:p>
          <a:p>
            <a:pPr lvl="1" algn="just" eaLnBrk="1" hangingPunct="1">
              <a:buNone/>
            </a:pPr>
            <a:r>
              <a:rPr lang="en-US" altLang="zh-CN" i="1" dirty="0"/>
              <a:t>n</a:t>
            </a:r>
            <a:r>
              <a:rPr lang="zh-CN" altLang="en-US" dirty="0"/>
              <a:t>目关系必有</a:t>
            </a:r>
            <a:r>
              <a:rPr lang="en-US" altLang="zh-CN" i="1" dirty="0"/>
              <a:t>n</a:t>
            </a:r>
            <a:r>
              <a:rPr lang="zh-CN" altLang="en-US" dirty="0"/>
              <a:t>个属性。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6)</a:t>
            </a:r>
            <a:r>
              <a:rPr lang="zh-CN" altLang="en-US" dirty="0">
                <a:solidFill>
                  <a:schemeClr val="accent2"/>
                </a:solidFill>
              </a:rPr>
              <a:t>码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zh-CN" altLang="en-US" sz="3200" u="sng" dirty="0">
                <a:solidFill>
                  <a:srgbClr val="FF0000"/>
                </a:solidFill>
              </a:rPr>
              <a:t>候选码（</a:t>
            </a:r>
            <a:r>
              <a:rPr lang="en-US" altLang="zh-CN" sz="3200" u="sng" dirty="0">
                <a:solidFill>
                  <a:srgbClr val="FF0000"/>
                </a:solidFill>
              </a:rPr>
              <a:t>Candidate key</a:t>
            </a:r>
            <a:r>
              <a:rPr lang="zh-CN" altLang="en-US" sz="3200" u="sng" dirty="0">
                <a:solidFill>
                  <a:srgbClr val="FF0000"/>
                </a:solidFill>
              </a:rPr>
              <a:t>）</a:t>
            </a:r>
            <a:endParaRPr lang="zh-CN" altLang="en-US" sz="32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 eaLnBrk="1" hangingPunct="1">
              <a:buNone/>
            </a:pPr>
            <a:r>
              <a:rPr lang="zh-CN" altLang="en-US" dirty="0"/>
              <a:t>   若关系中的某一属性组的值能唯一地标识一个元组，</a:t>
            </a:r>
            <a:r>
              <a:rPr lang="zh-CN" altLang="en-US" dirty="0">
                <a:solidFill>
                  <a:schemeClr val="accent2"/>
                </a:solidFill>
              </a:rPr>
              <a:t>且去掉这组属性中的任意属性或属性组都不能唯一标识元组</a:t>
            </a:r>
            <a:r>
              <a:rPr lang="zh-CN" altLang="en-US" dirty="0"/>
              <a:t>，则称该属性组为候选码。在最简单的情况下，候选码只包含一个属性。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全码（</a:t>
            </a:r>
            <a:r>
              <a:rPr lang="en-US" altLang="zh-CN" u="sng" dirty="0">
                <a:solidFill>
                  <a:srgbClr val="FF0000"/>
                </a:solidFill>
              </a:rPr>
              <a:t>All-key</a:t>
            </a:r>
            <a:r>
              <a:rPr lang="zh-CN" altLang="en-US" u="sng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buNone/>
            </a:pPr>
            <a:r>
              <a:rPr lang="zh-CN" altLang="en-US" dirty="0"/>
              <a:t>   在最极端的情况下，关系模式的所有属性组是这个关系模式的候选码，称为全码（</a:t>
            </a:r>
            <a:r>
              <a:rPr lang="en-US" altLang="zh-CN" dirty="0"/>
              <a:t>All-key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zh-CN" altLang="en-US" dirty="0">
                <a:solidFill>
                  <a:schemeClr val="accent2"/>
                </a:solidFill>
              </a:rPr>
              <a:t>码（续）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主码</a:t>
            </a:r>
            <a:r>
              <a:rPr lang="en-US" altLang="zh-CN" u="sng" dirty="0">
                <a:solidFill>
                  <a:srgbClr val="FF0000"/>
                </a:solidFill>
              </a:rPr>
              <a:t>(Primary Key)</a:t>
            </a:r>
            <a:endParaRPr lang="en-US" altLang="zh-CN" dirty="0">
              <a:solidFill>
                <a:srgbClr val="FF0000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若一个关系有多个候选码，则选定其中一个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为</a:t>
            </a:r>
            <a:r>
              <a:rPr lang="zh-CN" altLang="en-US" dirty="0">
                <a:ea typeface="黑体" panose="02010609060101010101" pitchFamily="49" charset="-122"/>
              </a:rPr>
              <a:t>主码</a:t>
            </a:r>
            <a:r>
              <a:rPr lang="zh-CN" altLang="en-US" dirty="0"/>
              <a:t>（</a:t>
            </a:r>
            <a:r>
              <a:rPr lang="en-US" altLang="zh-CN" dirty="0"/>
              <a:t>Primary key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候选码的诸属性称为</a:t>
            </a:r>
            <a:r>
              <a:rPr lang="zh-CN" altLang="en-US" u="sng" dirty="0">
                <a:solidFill>
                  <a:srgbClr val="FF0000"/>
                </a:solidFill>
              </a:rPr>
              <a:t>主属性</a:t>
            </a:r>
            <a:r>
              <a:rPr lang="zh-CN" altLang="en-US" dirty="0"/>
              <a:t>（</a:t>
            </a:r>
            <a:r>
              <a:rPr lang="en-US" altLang="zh-CN" dirty="0"/>
              <a:t>Prime attribute</a:t>
            </a:r>
            <a:r>
              <a:rPr lang="zh-CN" altLang="en-US" dirty="0"/>
              <a:t>）。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不包含在任何侯选码中的属性称为</a:t>
            </a:r>
            <a:r>
              <a:rPr lang="zh-CN" altLang="en-US" u="sng" dirty="0"/>
              <a:t>非码属性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Non-key attribute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外码</a:t>
            </a:r>
            <a:r>
              <a:rPr lang="en-US" altLang="zh-CN" u="sng" dirty="0">
                <a:solidFill>
                  <a:srgbClr val="FF0000"/>
                </a:solidFill>
              </a:rPr>
              <a:t>(Foreign Key)</a:t>
            </a:r>
            <a:endParaRPr lang="en-US" altLang="zh-CN" u="sng" dirty="0">
              <a:solidFill>
                <a:srgbClr val="FF0000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的属性组，跟与</a:t>
            </a:r>
            <a:r>
              <a:rPr lang="en-US" altLang="zh-CN" dirty="0"/>
              <a:t>R</a:t>
            </a:r>
            <a:r>
              <a:rPr lang="zh-CN" altLang="en-US" dirty="0"/>
              <a:t>联系的另一关系</a:t>
            </a:r>
            <a:r>
              <a:rPr lang="en-US" altLang="zh-CN" dirty="0"/>
              <a:t>S</a:t>
            </a:r>
            <a:r>
              <a:rPr lang="zh-CN" altLang="en-US" dirty="0"/>
              <a:t>中的码相对应，则称这个属性组为外码。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36866" name="Group 2"/>
          <p:cNvGraphicFramePr>
            <a:graphicFrameLocks noGrp="1"/>
          </p:cNvGraphicFramePr>
          <p:nvPr/>
        </p:nvGraphicFramePr>
        <p:xfrm>
          <a:off x="685800" y="1143000"/>
          <a:ext cx="38100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609600"/>
                <a:gridCol w="914400"/>
                <a:gridCol w="762000"/>
                <a:gridCol w="7620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ID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6904" name="Group 40"/>
          <p:cNvGraphicFramePr>
            <a:graphicFrameLocks noGrp="1"/>
          </p:cNvGraphicFramePr>
          <p:nvPr/>
        </p:nvGraphicFramePr>
        <p:xfrm>
          <a:off x="5715000" y="1143000"/>
          <a:ext cx="28956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21336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英语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6924" name="Group 60"/>
          <p:cNvGraphicFramePr>
            <a:graphicFrameLocks noGrp="1"/>
          </p:cNvGraphicFramePr>
          <p:nvPr/>
        </p:nvGraphicFramePr>
        <p:xfrm>
          <a:off x="5486400" y="4191000"/>
          <a:ext cx="2895600" cy="2063750"/>
        </p:xfrm>
        <a:graphic>
          <a:graphicData uri="http://schemas.openxmlformats.org/drawingml/2006/table">
            <a:tbl>
              <a:tblPr/>
              <a:tblGrid>
                <a:gridCol w="914400"/>
                <a:gridCol w="19812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课号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课名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6944" name="Group 80"/>
          <p:cNvGraphicFramePr>
            <a:graphicFrameLocks noGrp="1"/>
          </p:cNvGraphicFramePr>
          <p:nvPr/>
        </p:nvGraphicFramePr>
        <p:xfrm>
          <a:off x="762000" y="4114800"/>
          <a:ext cx="28956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9906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课号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3899" name="AutoShape 106"/>
          <p:cNvCxnSpPr/>
          <p:nvPr/>
        </p:nvCxnSpPr>
        <p:spPr>
          <a:xfrm rot="5400000" flipV="1">
            <a:off x="5103813" y="152400"/>
            <a:ext cx="1587" cy="1981200"/>
          </a:xfrm>
          <a:prstGeom prst="curvedConnector3">
            <a:avLst>
              <a:gd name="adj1" fmla="val -14400000"/>
            </a:avLst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900" name="AutoShape 107"/>
          <p:cNvCxnSpPr/>
          <p:nvPr/>
        </p:nvCxnSpPr>
        <p:spPr>
          <a:xfrm rot="5400000" flipH="1">
            <a:off x="-463550" y="2508250"/>
            <a:ext cx="2755900" cy="457200"/>
          </a:xfrm>
          <a:prstGeom prst="curvedConnector4">
            <a:avLst>
              <a:gd name="adj1" fmla="val 46083"/>
              <a:gd name="adj2" fmla="val 150000"/>
            </a:avLst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901" name="AutoShape 108"/>
          <p:cNvCxnSpPr/>
          <p:nvPr/>
        </p:nvCxnSpPr>
        <p:spPr>
          <a:xfrm rot="5400000" flipV="1">
            <a:off x="3981450" y="2228850"/>
            <a:ext cx="76200" cy="3848100"/>
          </a:xfrm>
          <a:prstGeom prst="curvedConnector3">
            <a:avLst>
              <a:gd name="adj1" fmla="val -300000"/>
            </a:avLst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3902" name="AutoShape 109"/>
          <p:cNvSpPr/>
          <p:nvPr/>
        </p:nvSpPr>
        <p:spPr>
          <a:xfrm>
            <a:off x="1066800" y="152400"/>
            <a:ext cx="1219200" cy="409575"/>
          </a:xfrm>
          <a:prstGeom prst="wedgeRoundRectCallout">
            <a:avLst>
              <a:gd name="adj1" fmla="val -51301"/>
              <a:gd name="adj2" fmla="val 198060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候选码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903" name="AutoShape 110"/>
          <p:cNvSpPr/>
          <p:nvPr/>
        </p:nvSpPr>
        <p:spPr>
          <a:xfrm>
            <a:off x="2819400" y="228600"/>
            <a:ext cx="1219200" cy="409575"/>
          </a:xfrm>
          <a:prstGeom prst="wedgeRoundRectCallout">
            <a:avLst>
              <a:gd name="adj1" fmla="val -137500"/>
              <a:gd name="adj2" fmla="val 188759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候选码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904" name="AutoShape 111"/>
          <p:cNvSpPr/>
          <p:nvPr/>
        </p:nvSpPr>
        <p:spPr>
          <a:xfrm>
            <a:off x="1219200" y="3276600"/>
            <a:ext cx="1219200" cy="409575"/>
          </a:xfrm>
          <a:prstGeom prst="wedgeRoundRectCallout">
            <a:avLst>
              <a:gd name="adj1" fmla="val -60546"/>
              <a:gd name="adj2" fmla="val -487208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905" name="AutoShape 112"/>
          <p:cNvSpPr/>
          <p:nvPr/>
        </p:nvSpPr>
        <p:spPr>
          <a:xfrm>
            <a:off x="4114800" y="2971800"/>
            <a:ext cx="1219200" cy="409575"/>
          </a:xfrm>
          <a:prstGeom prst="wedgeRoundRectCallout">
            <a:avLst>
              <a:gd name="adj1" fmla="val -48176"/>
              <a:gd name="adj2" fmla="val -419769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906" name="AutoShape 113"/>
          <p:cNvSpPr/>
          <p:nvPr/>
        </p:nvSpPr>
        <p:spPr>
          <a:xfrm>
            <a:off x="6248400" y="228600"/>
            <a:ext cx="1219200" cy="409575"/>
          </a:xfrm>
          <a:prstGeom prst="wedgeRoundRectCallout">
            <a:avLst>
              <a:gd name="adj1" fmla="val -63542"/>
              <a:gd name="adj2" fmla="val 204264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907" name="AutoShape 114"/>
          <p:cNvSpPr/>
          <p:nvPr/>
        </p:nvSpPr>
        <p:spPr>
          <a:xfrm>
            <a:off x="2743200" y="3352800"/>
            <a:ext cx="1219200" cy="409575"/>
          </a:xfrm>
          <a:prstGeom prst="wedgeRoundRectCallout">
            <a:avLst>
              <a:gd name="adj1" fmla="val -149870"/>
              <a:gd name="adj2" fmla="val 133722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7) </a:t>
            </a:r>
            <a:r>
              <a:rPr lang="zh-CN" altLang="en-US" dirty="0">
                <a:solidFill>
                  <a:schemeClr val="accent2"/>
                </a:solidFill>
              </a:rPr>
              <a:t>三类关系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基本关系</a:t>
            </a:r>
            <a:r>
              <a:rPr lang="zh-CN" altLang="en-US" dirty="0">
                <a:solidFill>
                  <a:srgbClr val="FF0000"/>
                </a:solidFill>
              </a:rPr>
              <a:t>（基本表或基表）</a:t>
            </a:r>
            <a:endParaRPr lang="zh-CN" altLang="en-US" dirty="0">
              <a:solidFill>
                <a:srgbClr val="FF0000"/>
              </a:solidFill>
            </a:endParaRPr>
          </a:p>
          <a:p>
            <a:pPr lvl="2" eaLnBrk="1" hangingPunct="1">
              <a:buNone/>
            </a:pPr>
            <a:r>
              <a:rPr lang="zh-CN" altLang="en-US" dirty="0"/>
              <a:t>实际存在的表，是实际存储数据的逻辑表示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查询表</a:t>
            </a:r>
            <a:endParaRPr lang="zh-CN" altLang="en-US" dirty="0">
              <a:solidFill>
                <a:srgbClr val="FF0000"/>
              </a:solidFill>
            </a:endParaRPr>
          </a:p>
          <a:p>
            <a:pPr lvl="2" algn="just" eaLnBrk="1" hangingPunct="1">
              <a:buNone/>
            </a:pPr>
            <a:r>
              <a:rPr lang="zh-CN" altLang="en-US" dirty="0"/>
              <a:t>查询结果对应的表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视图表</a:t>
            </a:r>
            <a:endParaRPr lang="zh-CN" altLang="en-US" dirty="0">
              <a:solidFill>
                <a:srgbClr val="FF0000"/>
              </a:solidFill>
            </a:endParaRPr>
          </a:p>
          <a:p>
            <a:pPr lvl="2" algn="just" eaLnBrk="1" hangingPunct="1">
              <a:buNone/>
            </a:pPr>
            <a:r>
              <a:rPr lang="zh-CN" altLang="en-US" dirty="0"/>
              <a:t>由基本表或其他视图表导出的表，是虚表，不对</a:t>
            </a:r>
            <a:endParaRPr lang="zh-CN" altLang="en-US" dirty="0"/>
          </a:p>
          <a:p>
            <a:pPr lvl="2" algn="just" eaLnBrk="1" hangingPunct="1">
              <a:buNone/>
            </a:pPr>
            <a:r>
              <a:rPr lang="zh-CN" altLang="en-US" dirty="0"/>
              <a:t>应实际存储的数据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8) </a:t>
            </a:r>
            <a:r>
              <a:rPr lang="zh-CN" altLang="en-US" dirty="0">
                <a:solidFill>
                  <a:schemeClr val="accent2"/>
                </a:solidFill>
              </a:rPr>
              <a:t>关系的基本性质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① 列是同质的（</a:t>
            </a:r>
            <a:r>
              <a:rPr lang="en-US" altLang="zh-CN" dirty="0"/>
              <a:t>Homogeneous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zh-CN" altLang="en-US" dirty="0"/>
              <a:t>每一列中的分量是同一类型的数据，来自同一个域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② 不同的列可出自同一个域</a:t>
            </a:r>
            <a:endParaRPr lang="zh-CN" altLang="en-US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zh-CN" altLang="en-US" dirty="0"/>
              <a:t>其中的每一列称为一个属性</a:t>
            </a:r>
            <a:r>
              <a:rPr lang="en-US" altLang="zh-CN" dirty="0"/>
              <a:t>, </a:t>
            </a:r>
            <a:r>
              <a:rPr lang="zh-CN" altLang="en-US" dirty="0"/>
              <a:t>不同的属性要给予不同的属性名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③ 列的顺序无所谓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     </a:t>
            </a:r>
            <a:r>
              <a:rPr lang="zh-CN" altLang="en-US" sz="2800" dirty="0">
                <a:solidFill>
                  <a:schemeClr val="tx1"/>
                </a:solidFill>
              </a:rPr>
              <a:t>列的次序可以任意交换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sz="2800" dirty="0"/>
              <a:t>关系（续）</a:t>
            </a:r>
            <a:endParaRPr lang="zh-CN" altLang="en-US" sz="2800" dirty="0"/>
          </a:p>
          <a:p>
            <a:pPr eaLnBrk="1" hangingPunct="1">
              <a:buClr>
                <a:srgbClr val="FF0000"/>
              </a:buClr>
            </a:pPr>
            <a:r>
              <a:rPr lang="zh-CN" altLang="en-US" sz="2800" dirty="0">
                <a:solidFill>
                  <a:schemeClr val="accent2"/>
                </a:solidFill>
              </a:rPr>
              <a:t>关系的基本性质</a:t>
            </a:r>
            <a:r>
              <a:rPr lang="en-US" altLang="zh-CN" sz="2800" dirty="0">
                <a:solidFill>
                  <a:schemeClr val="accent2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性质</a:t>
            </a:r>
            <a:r>
              <a:rPr lang="en-US" altLang="zh-CN" sz="2800" dirty="0">
                <a:solidFill>
                  <a:schemeClr val="accent2"/>
                </a:solidFill>
              </a:rPr>
              <a:t>)</a:t>
            </a:r>
            <a:endParaRPr lang="en-US" altLang="zh-CN" sz="28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/>
              <a:t>④ </a:t>
            </a:r>
            <a:r>
              <a:rPr lang="zh-CN" altLang="en-US" dirty="0"/>
              <a:t>任意两个元组不能完全相同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由笛卡尔积的性质决定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但许多关系数据库产品没有遵循这一性质。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Oracle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FoxPro</a:t>
            </a:r>
            <a:r>
              <a:rPr lang="zh-CN" altLang="en-US" sz="2400" dirty="0">
                <a:solidFill>
                  <a:schemeClr val="tx1"/>
                </a:solidFill>
              </a:rPr>
              <a:t>等都允许关系表中存在两个完全相同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的元组，除非用户特别定义了相应的约束条件。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zh-CN" altLang="en-US" dirty="0">
                <a:solidFill>
                  <a:schemeClr val="accent2"/>
                </a:solidFill>
              </a:rPr>
              <a:t>关系的基本性质</a:t>
            </a:r>
            <a:r>
              <a:rPr lang="en-US" altLang="zh-CN" dirty="0">
                <a:solidFill>
                  <a:schemeClr val="accent2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性质</a:t>
            </a:r>
            <a:r>
              <a:rPr lang="en-US" altLang="zh-CN" dirty="0">
                <a:solidFill>
                  <a:schemeClr val="accent2"/>
                </a:solidFill>
              </a:rPr>
              <a:t>)</a:t>
            </a:r>
            <a:endParaRPr lang="en-US" altLang="zh-CN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en-US" altLang="zh-CN" dirty="0"/>
              <a:t>⑤ </a:t>
            </a:r>
            <a:r>
              <a:rPr lang="zh-CN" altLang="en-US" dirty="0"/>
              <a:t>行的顺序无所谓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行的次序可以任意交换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⑥ 分量必须取原子值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每一个分量都必须是不可分的数据项。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这是规范条件中最基本的一条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3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198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非规范化的关系：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很容易转化为规范的关系。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怎么转？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38916" name="Rectangle 5"/>
          <p:cNvSpPr>
            <a:spLocks noGrp="1"/>
          </p:cNvSpPr>
          <p:nvPr>
            <p:ph type="title"/>
          </p:nvPr>
        </p:nvSpPr>
        <p:spPr>
          <a:xfrm>
            <a:off x="755650" y="0"/>
            <a:ext cx="7772400" cy="5397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u="sng" dirty="0"/>
              <a:t>2.2.1 </a:t>
            </a:r>
            <a:r>
              <a:rPr lang="zh-CN" altLang="en-US" sz="4000" u="sng" dirty="0"/>
              <a:t>关系</a:t>
            </a:r>
            <a:endParaRPr lang="zh-CN" altLang="en-US" sz="4000" u="sng" dirty="0"/>
          </a:p>
        </p:txBody>
      </p:sp>
      <p:pic>
        <p:nvPicPr>
          <p:cNvPr id="38917" name="Picture 6" descr="b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3241675"/>
            <a:ext cx="8204200" cy="2357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182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/>
              <a:t>关系（续）</a:t>
            </a: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chemeClr val="accent2"/>
                </a:solidFill>
              </a:rPr>
              <a:t>9) </a:t>
            </a:r>
            <a:r>
              <a:rPr lang="zh-CN" altLang="en-US" dirty="0">
                <a:solidFill>
                  <a:schemeClr val="accent2"/>
                </a:solidFill>
              </a:rPr>
              <a:t>数据结构 </a:t>
            </a:r>
            <a:r>
              <a:rPr lang="en-US" altLang="zh-CN" dirty="0">
                <a:solidFill>
                  <a:schemeClr val="accent2"/>
                </a:solidFill>
              </a:rPr>
              <a:t>– </a:t>
            </a:r>
            <a:r>
              <a:rPr lang="zh-CN" altLang="en-US" dirty="0">
                <a:solidFill>
                  <a:schemeClr val="accent2"/>
                </a:solidFill>
              </a:rPr>
              <a:t>单一的结构：表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>
              <a:buClr>
                <a:srgbClr val="FF0000"/>
              </a:buClr>
            </a:pPr>
            <a:r>
              <a:rPr lang="zh-CN" altLang="en-US" dirty="0"/>
              <a:t>实体，联系均用表来表示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39941" name="Group 4"/>
          <p:cNvGrpSpPr/>
          <p:nvPr/>
        </p:nvGrpSpPr>
        <p:grpSpPr>
          <a:xfrm>
            <a:off x="228600" y="2590800"/>
            <a:ext cx="3505200" cy="4127500"/>
            <a:chOff x="144" y="1632"/>
            <a:chExt cx="2208" cy="2600"/>
          </a:xfrm>
        </p:grpSpPr>
        <p:sp>
          <p:nvSpPr>
            <p:cNvPr id="39944" name="Text Box 5"/>
            <p:cNvSpPr txBox="1"/>
            <p:nvPr/>
          </p:nvSpPr>
          <p:spPr>
            <a:xfrm>
              <a:off x="288" y="2776"/>
              <a:ext cx="576" cy="32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学生</a:t>
              </a:r>
              <a:endParaRPr lang="zh-CN" altLang="en-US" sz="2400" b="0" dirty="0"/>
            </a:p>
          </p:txBody>
        </p:sp>
        <p:sp>
          <p:nvSpPr>
            <p:cNvPr id="39945" name="Text Box 6"/>
            <p:cNvSpPr txBox="1"/>
            <p:nvPr/>
          </p:nvSpPr>
          <p:spPr>
            <a:xfrm>
              <a:off x="912" y="3905"/>
              <a:ext cx="576" cy="32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课程</a:t>
              </a:r>
              <a:endParaRPr lang="zh-CN" altLang="en-US" sz="2400" b="0" dirty="0"/>
            </a:p>
          </p:txBody>
        </p:sp>
        <p:sp>
          <p:nvSpPr>
            <p:cNvPr id="39946" name="AutoShape 7"/>
            <p:cNvSpPr/>
            <p:nvPr/>
          </p:nvSpPr>
          <p:spPr>
            <a:xfrm>
              <a:off x="144" y="3268"/>
              <a:ext cx="816" cy="454"/>
            </a:xfrm>
            <a:prstGeom prst="diamond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bg1"/>
                  </a:solidFill>
                  <a:ea typeface="楷体_GB2312" pitchFamily="49" charset="-122"/>
                </a:rPr>
                <a:t>选修</a:t>
              </a:r>
              <a:endParaRPr lang="zh-CN" altLang="en-US" sz="2800" dirty="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39947" name="Text Box 8"/>
            <p:cNvSpPr txBox="1"/>
            <p:nvPr/>
          </p:nvSpPr>
          <p:spPr>
            <a:xfrm>
              <a:off x="144" y="3321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39948" name="AutoShape 9"/>
            <p:cNvSpPr/>
            <p:nvPr/>
          </p:nvSpPr>
          <p:spPr>
            <a:xfrm>
              <a:off x="144" y="2132"/>
              <a:ext cx="816" cy="454"/>
            </a:xfrm>
            <a:prstGeom prst="diamond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bg1"/>
                  </a:solidFill>
                  <a:ea typeface="楷体_GB2312" pitchFamily="49" charset="-122"/>
                </a:rPr>
                <a:t>属于</a:t>
              </a:r>
              <a:endParaRPr lang="zh-CN" altLang="en-US" sz="2800" dirty="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39949" name="Line 10"/>
            <p:cNvSpPr/>
            <p:nvPr/>
          </p:nvSpPr>
          <p:spPr>
            <a:xfrm flipV="1">
              <a:off x="576" y="2586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0" name="Line 11"/>
            <p:cNvSpPr/>
            <p:nvPr/>
          </p:nvSpPr>
          <p:spPr>
            <a:xfrm flipV="1">
              <a:off x="576" y="3086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1" name="Line 12"/>
            <p:cNvSpPr/>
            <p:nvPr/>
          </p:nvSpPr>
          <p:spPr>
            <a:xfrm flipH="1" flipV="1">
              <a:off x="576" y="3722"/>
              <a:ext cx="480" cy="1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2" name="Text Box 13"/>
            <p:cNvSpPr txBox="1"/>
            <p:nvPr/>
          </p:nvSpPr>
          <p:spPr>
            <a:xfrm>
              <a:off x="1056" y="1632"/>
              <a:ext cx="576" cy="32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系</a:t>
              </a:r>
              <a:endParaRPr lang="zh-CN" altLang="en-US" sz="2800" dirty="0">
                <a:ea typeface="楷体_GB2312" pitchFamily="49" charset="-122"/>
              </a:endParaRPr>
            </a:p>
          </p:txBody>
        </p:sp>
        <p:sp>
          <p:nvSpPr>
            <p:cNvPr id="39953" name="Line 14"/>
            <p:cNvSpPr/>
            <p:nvPr/>
          </p:nvSpPr>
          <p:spPr>
            <a:xfrm flipV="1">
              <a:off x="576" y="1942"/>
              <a:ext cx="576" cy="1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54" name="Text Box 15"/>
            <p:cNvSpPr txBox="1"/>
            <p:nvPr/>
          </p:nvSpPr>
          <p:spPr>
            <a:xfrm>
              <a:off x="1632" y="2805"/>
              <a:ext cx="576" cy="32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教师</a:t>
              </a:r>
              <a:endParaRPr lang="zh-CN" altLang="en-US" sz="2400" b="0" dirty="0"/>
            </a:p>
          </p:txBody>
        </p:sp>
        <p:sp>
          <p:nvSpPr>
            <p:cNvPr id="39955" name="AutoShape 16"/>
            <p:cNvSpPr/>
            <p:nvPr/>
          </p:nvSpPr>
          <p:spPr>
            <a:xfrm>
              <a:off x="1536" y="3304"/>
              <a:ext cx="816" cy="455"/>
            </a:xfrm>
            <a:prstGeom prst="diamond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bg1"/>
                  </a:solidFill>
                  <a:ea typeface="楷体_GB2312" pitchFamily="49" charset="-122"/>
                </a:rPr>
                <a:t>教授</a:t>
              </a:r>
              <a:endParaRPr lang="zh-CN" altLang="en-US" sz="2800" dirty="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39956" name="Line 17"/>
            <p:cNvSpPr/>
            <p:nvPr/>
          </p:nvSpPr>
          <p:spPr>
            <a:xfrm flipV="1">
              <a:off x="1920" y="3123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7" name="AutoShape 18"/>
            <p:cNvSpPr/>
            <p:nvPr/>
          </p:nvSpPr>
          <p:spPr>
            <a:xfrm>
              <a:off x="1536" y="2112"/>
              <a:ext cx="576" cy="455"/>
            </a:xfrm>
            <a:prstGeom prst="diamond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bg1"/>
                  </a:solidFill>
                  <a:ea typeface="楷体_GB2312" pitchFamily="49" charset="-122"/>
                </a:rPr>
                <a:t>工作</a:t>
              </a:r>
              <a:endParaRPr lang="zh-CN" altLang="en-US" sz="2800" dirty="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39958" name="Line 19"/>
            <p:cNvSpPr/>
            <p:nvPr/>
          </p:nvSpPr>
          <p:spPr>
            <a:xfrm flipH="1">
              <a:off x="1344" y="3759"/>
              <a:ext cx="624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9" name="Line 20"/>
            <p:cNvSpPr/>
            <p:nvPr/>
          </p:nvSpPr>
          <p:spPr>
            <a:xfrm flipH="1" flipV="1">
              <a:off x="1344" y="1942"/>
              <a:ext cx="480" cy="1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0" name="Line 21"/>
            <p:cNvSpPr/>
            <p:nvPr/>
          </p:nvSpPr>
          <p:spPr>
            <a:xfrm>
              <a:off x="1824" y="2544"/>
              <a:ext cx="4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42" name="AutoShape 22"/>
          <p:cNvSpPr/>
          <p:nvPr/>
        </p:nvSpPr>
        <p:spPr>
          <a:xfrm>
            <a:off x="3673475" y="4089400"/>
            <a:ext cx="990600" cy="863600"/>
          </a:xfrm>
          <a:prstGeom prst="rightArrow">
            <a:avLst>
              <a:gd name="adj1" fmla="val 50000"/>
              <a:gd name="adj2" fmla="val 28676"/>
            </a:avLst>
          </a:prstGeom>
          <a:gradFill rotWithShape="0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4803775" y="2781300"/>
            <a:ext cx="4075113" cy="3205163"/>
          </a:xfrm>
          <a:prstGeom prst="rect">
            <a:avLst/>
          </a:prstGeom>
          <a:gradFill rotWithShape="0">
            <a:gsLst>
              <a:gs pos="0">
                <a:srgbClr val="2F4776"/>
              </a:gs>
              <a:gs pos="50000">
                <a:srgbClr val="6666FF"/>
              </a:gs>
              <a:gs pos="100000">
                <a:srgbClr val="2F4776"/>
              </a:gs>
            </a:gsLst>
            <a:lin ang="5400000" scaled="1"/>
          </a:gradFill>
          <a:ln w="9525">
            <a:miter lim="800000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66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系代码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系名称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endParaRPr kumimoji="1" lang="en-US" altLang="zh-CN" sz="2400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学生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学号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姓名 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性别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系别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endParaRPr kumimoji="1" lang="zh-CN" altLang="en-US" sz="2400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课程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课号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名称 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学分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endParaRPr kumimoji="1" lang="en-US" altLang="zh-CN" sz="2400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选课</a:t>
            </a:r>
            <a:r>
              <a:rPr kumimoji="1" lang="en-US" altLang="zh-CN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u="sng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学号</a:t>
            </a:r>
            <a:r>
              <a:rPr kumimoji="1" lang="en-US" altLang="zh-CN" sz="2400" u="sng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u="sng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课号</a:t>
            </a:r>
            <a:r>
              <a:rPr kumimoji="1" lang="en-US" altLang="zh-CN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成绩</a:t>
            </a:r>
            <a:r>
              <a:rPr kumimoji="1" lang="en-US" altLang="zh-CN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endParaRPr kumimoji="1" lang="en-US" altLang="zh-CN" sz="2400" kern="1200" cap="none" spc="0" normalizeH="0" baseline="0" noProof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教师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工号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姓名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系别</a:t>
            </a:r>
            <a:r>
              <a:rPr kumimoji="1" lang="en-US" altLang="zh-CN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endParaRPr kumimoji="1" lang="en-US" altLang="zh-CN" sz="2400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授课</a:t>
            </a:r>
            <a:r>
              <a:rPr kumimoji="1" lang="en-US" altLang="zh-CN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u="sng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工号</a:t>
            </a:r>
            <a:r>
              <a:rPr kumimoji="1" lang="en-US" altLang="zh-CN" sz="2400" u="sng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u="sng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课号</a:t>
            </a:r>
            <a:r>
              <a:rPr kumimoji="1" lang="en-US" altLang="zh-CN" sz="24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endParaRPr kumimoji="1" lang="en-US" altLang="zh-CN" sz="2400" kern="1200" cap="none" spc="0" normalizeH="0" baseline="0" noProof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关系数据结构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</a:rPr>
              <a:t>2.2.1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2.2.2  </a:t>
            </a:r>
            <a:r>
              <a:rPr lang="zh-CN" altLang="en-US" dirty="0">
                <a:solidFill>
                  <a:srgbClr val="FF0000"/>
                </a:solidFill>
              </a:rPr>
              <a:t>关系模式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</a:rPr>
              <a:t>2.2.3  </a:t>
            </a:r>
            <a:r>
              <a:rPr lang="zh-CN" altLang="en-US" dirty="0">
                <a:solidFill>
                  <a:schemeClr val="tx1"/>
                </a:solidFill>
              </a:rPr>
              <a:t>关系数据库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关系模式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755650" y="1268413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．什么是关系模式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．定义关系模式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  </a:t>
            </a:r>
            <a:r>
              <a:rPr lang="zh-CN" altLang="en-US" dirty="0">
                <a:solidFill>
                  <a:schemeClr val="tx1"/>
                </a:solidFill>
              </a:rPr>
              <a:t>关系模式与关系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关系模式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78486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1.  </a:t>
            </a:r>
            <a:r>
              <a:rPr lang="zh-CN" altLang="en-US" dirty="0">
                <a:solidFill>
                  <a:srgbClr val="FF0000"/>
                </a:solidFill>
              </a:rPr>
              <a:t>什么是关系模式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 algn="just" eaLnBrk="1" hangingPunct="1">
              <a:buNone/>
            </a:pPr>
            <a:r>
              <a:rPr lang="zh-CN" altLang="en-US" dirty="0"/>
              <a:t>关系模式（</a:t>
            </a:r>
            <a:r>
              <a:rPr lang="en-US" altLang="zh-CN" dirty="0"/>
              <a:t>Relation Schema</a:t>
            </a:r>
            <a:r>
              <a:rPr lang="zh-CN" altLang="en-US" dirty="0"/>
              <a:t>）是型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关系是值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关系模式是对关系的描述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元组集合的结构</a:t>
            </a:r>
            <a:endParaRPr lang="zh-CN" altLang="en-US" dirty="0"/>
          </a:p>
          <a:p>
            <a:pPr lvl="2" algn="just" eaLnBrk="1" hangingPunct="1">
              <a:buNone/>
            </a:pPr>
            <a:r>
              <a:rPr lang="zh-CN" altLang="en-US" dirty="0"/>
              <a:t>属性构成</a:t>
            </a:r>
            <a:endParaRPr lang="zh-CN" altLang="en-US" dirty="0"/>
          </a:p>
          <a:p>
            <a:pPr lvl="2" algn="just" eaLnBrk="1" hangingPunct="1">
              <a:buNone/>
            </a:pPr>
            <a:r>
              <a:rPr lang="zh-CN" altLang="en-US" dirty="0"/>
              <a:t>属性来自的域           </a:t>
            </a:r>
            <a:endParaRPr lang="zh-CN" altLang="en-US" dirty="0"/>
          </a:p>
          <a:p>
            <a:pPr lvl="2" algn="just" eaLnBrk="1" hangingPunct="1">
              <a:buNone/>
            </a:pPr>
            <a:r>
              <a:rPr lang="zh-CN" altLang="en-US" dirty="0"/>
              <a:t>属性与域之间的映象关系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元组语义以及完整性约束条件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属性间的数据依赖关系集合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关系模式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78486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2.  </a:t>
            </a:r>
            <a:r>
              <a:rPr lang="zh-CN" altLang="en-US" dirty="0">
                <a:solidFill>
                  <a:srgbClr val="FF0000"/>
                </a:solidFill>
              </a:rPr>
              <a:t>定义关系模式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关系模式可以形式化地表示为：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buNone/>
            </a:pPr>
            <a:r>
              <a:rPr lang="zh-CN" altLang="en-US" sz="3200" dirty="0">
                <a:solidFill>
                  <a:schemeClr val="accent2"/>
                </a:solidFill>
              </a:rPr>
              <a:t>    	</a:t>
            </a:r>
            <a:r>
              <a:rPr lang="en-US" altLang="zh-CN" sz="3200" i="1" dirty="0">
                <a:solidFill>
                  <a:schemeClr val="accent2"/>
                </a:solidFill>
              </a:rPr>
              <a:t>R</a:t>
            </a:r>
            <a:r>
              <a:rPr lang="zh-CN" altLang="en-US" sz="3200" dirty="0">
                <a:solidFill>
                  <a:schemeClr val="accent2"/>
                </a:solidFill>
              </a:rPr>
              <a:t>（</a:t>
            </a:r>
            <a:r>
              <a:rPr lang="en-US" altLang="zh-CN" sz="3200" i="1" dirty="0">
                <a:solidFill>
                  <a:schemeClr val="accent2"/>
                </a:solidFill>
              </a:rPr>
              <a:t>U</a:t>
            </a:r>
            <a:r>
              <a:rPr lang="zh-CN" altLang="en-US" sz="3200" dirty="0">
                <a:solidFill>
                  <a:schemeClr val="accent2"/>
                </a:solidFill>
              </a:rPr>
              <a:t>，</a:t>
            </a:r>
            <a:r>
              <a:rPr lang="en-US" altLang="zh-CN" sz="3200" i="1" dirty="0">
                <a:solidFill>
                  <a:schemeClr val="accent2"/>
                </a:solidFill>
              </a:rPr>
              <a:t>D</a:t>
            </a:r>
            <a:r>
              <a:rPr lang="zh-CN" altLang="en-US" sz="3200" dirty="0">
                <a:solidFill>
                  <a:schemeClr val="accent2"/>
                </a:solidFill>
              </a:rPr>
              <a:t>，</a:t>
            </a:r>
            <a:r>
              <a:rPr lang="en-US" altLang="zh-CN" sz="3200" dirty="0">
                <a:solidFill>
                  <a:schemeClr val="accent2"/>
                </a:solidFill>
              </a:rPr>
              <a:t>dom</a:t>
            </a:r>
            <a:r>
              <a:rPr lang="zh-CN" altLang="en-US" sz="3200" dirty="0">
                <a:solidFill>
                  <a:schemeClr val="accent2"/>
                </a:solidFill>
              </a:rPr>
              <a:t>，</a:t>
            </a:r>
            <a:r>
              <a:rPr lang="en-US" altLang="zh-CN" sz="3200" i="1" dirty="0">
                <a:solidFill>
                  <a:schemeClr val="accent2"/>
                </a:solidFill>
              </a:rPr>
              <a:t>F</a:t>
            </a:r>
            <a:r>
              <a:rPr lang="zh-CN" altLang="en-US" sz="3200" dirty="0">
                <a:solidFill>
                  <a:schemeClr val="accent2"/>
                </a:solidFill>
              </a:rPr>
              <a:t>）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R      </a:t>
            </a:r>
            <a:r>
              <a:rPr lang="zh-CN" altLang="en-US" dirty="0"/>
              <a:t>关系名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U</a:t>
            </a:r>
            <a:r>
              <a:rPr lang="en-US" altLang="zh-CN" dirty="0"/>
              <a:t>       </a:t>
            </a:r>
            <a:r>
              <a:rPr lang="zh-CN" altLang="en-US" dirty="0"/>
              <a:t>组成该关系的属性名集合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D</a:t>
            </a:r>
            <a:r>
              <a:rPr lang="en-US" altLang="zh-CN" dirty="0"/>
              <a:t>       </a:t>
            </a:r>
            <a:r>
              <a:rPr lang="zh-CN" altLang="en-US" dirty="0"/>
              <a:t>属性组</a:t>
            </a:r>
            <a:r>
              <a:rPr lang="en-US" altLang="zh-CN" i="1" dirty="0"/>
              <a:t>U</a:t>
            </a:r>
            <a:r>
              <a:rPr lang="zh-CN" altLang="en-US" dirty="0"/>
              <a:t>中属性所来自的域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		</a:t>
            </a:r>
            <a:r>
              <a:rPr lang="en-US" altLang="zh-CN" dirty="0"/>
              <a:t>dom   </a:t>
            </a:r>
            <a:r>
              <a:rPr lang="zh-CN" altLang="en-US" dirty="0"/>
              <a:t>属性向域的映象集合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F</a:t>
            </a:r>
            <a:r>
              <a:rPr lang="en-US" altLang="zh-CN" dirty="0"/>
              <a:t>        </a:t>
            </a:r>
            <a:r>
              <a:rPr lang="zh-CN" altLang="en-US" dirty="0"/>
              <a:t>属性间的数据依赖关系集合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关系模式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78486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zh-CN" altLang="en-US" dirty="0">
                <a:solidFill>
                  <a:srgbClr val="FF0000"/>
                </a:solidFill>
              </a:rPr>
              <a:t>定义关系模式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续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关系模式通常可以简记为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	</a:t>
            </a:r>
            <a:r>
              <a:rPr lang="en-US" altLang="zh-CN" i="1" dirty="0">
                <a:solidFill>
                  <a:schemeClr val="tx1"/>
                </a:solidFill>
              </a:rPr>
              <a:t>R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U</a:t>
            </a:r>
            <a:r>
              <a:rPr lang="en-US" altLang="zh-CN" dirty="0">
                <a:solidFill>
                  <a:schemeClr val="tx1"/>
                </a:solidFill>
              </a:rPr>
              <a:t>)   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或</a:t>
            </a: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i="1" dirty="0">
                <a:solidFill>
                  <a:schemeClr val="tx1"/>
                </a:solidFill>
              </a:rPr>
              <a:t>R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i="1" baseline="-25000" dirty="0">
                <a:solidFill>
                  <a:schemeClr val="tx1"/>
                </a:solidFill>
              </a:rPr>
              <a:t>n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i="1" dirty="0">
                <a:solidFill>
                  <a:schemeClr val="tx1"/>
                </a:solidFill>
              </a:rPr>
              <a:t>R   </a:t>
            </a:r>
            <a:r>
              <a:rPr lang="zh-CN" altLang="en-US" dirty="0">
                <a:solidFill>
                  <a:schemeClr val="tx1"/>
                </a:solidFill>
              </a:rPr>
              <a:t>关系名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A</a:t>
            </a:r>
            <a:r>
              <a:rPr lang="en-US" altLang="zh-CN" sz="3200" baseline="-25000" dirty="0"/>
              <a:t>1</a:t>
            </a:r>
            <a:r>
              <a:rPr lang="zh-CN" altLang="en-US" sz="3200" dirty="0"/>
              <a:t>，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，</a:t>
            </a:r>
            <a:r>
              <a:rPr lang="en-US" altLang="zh-CN" sz="3200" dirty="0"/>
              <a:t>…</a:t>
            </a:r>
            <a:r>
              <a:rPr lang="zh-CN" altLang="en-US" sz="3200" dirty="0"/>
              <a:t>，</a:t>
            </a:r>
            <a:r>
              <a:rPr lang="en-US" altLang="zh-CN" sz="3200" i="1" dirty="0"/>
              <a:t>A</a:t>
            </a:r>
            <a:r>
              <a:rPr lang="en-US" altLang="zh-CN" sz="3200" i="1" baseline="-25000" dirty="0"/>
              <a:t>n      </a:t>
            </a:r>
            <a:r>
              <a:rPr lang="zh-CN" altLang="en-US" sz="3200" dirty="0"/>
              <a:t>属性名</a:t>
            </a:r>
            <a:endParaRPr lang="zh-CN" altLang="en-US" dirty="0"/>
          </a:p>
          <a:p>
            <a:pPr lvl="1" eaLnBrk="1" hangingPunct="1">
              <a:lnSpc>
                <a:spcPct val="170000"/>
              </a:lnSpc>
              <a:buNone/>
            </a:pPr>
            <a:r>
              <a:rPr lang="zh-CN" altLang="en-US" dirty="0"/>
              <a:t>注：域名及属性向域的映象常常直接说明为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       属性的类型、长度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关系模式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7848600" cy="525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zh-CN" altLang="en-US" dirty="0">
                <a:solidFill>
                  <a:srgbClr val="FF0000"/>
                </a:solidFill>
              </a:rPr>
              <a:t>关系模式与关系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just" eaLnBrk="1" hangingPunct="1">
              <a:buNone/>
            </a:pPr>
            <a:r>
              <a:rPr lang="zh-CN" altLang="en-US" u="sng" dirty="0">
                <a:solidFill>
                  <a:schemeClr val="accent2"/>
                </a:solidFill>
              </a:rPr>
              <a:t>关系模式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对关系结构的描述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静态的、稳定的</a:t>
            </a:r>
            <a:endParaRPr lang="zh-CN" altLang="en-US" dirty="0"/>
          </a:p>
          <a:p>
            <a:pPr algn="just" eaLnBrk="1" hangingPunct="1">
              <a:buNone/>
            </a:pPr>
            <a:r>
              <a:rPr lang="zh-CN" altLang="en-US" u="sng" dirty="0">
                <a:solidFill>
                  <a:schemeClr val="accent2"/>
                </a:solidFill>
              </a:rPr>
              <a:t>关系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关系模式在某一时刻的状态或内容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动态的、随时间不断变化的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关系模式和关系往往统称为关系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通过上下文加以区别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关系数据结构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</a:rPr>
              <a:t>2.2.1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</a:rPr>
              <a:t>2.2.2  </a:t>
            </a:r>
            <a:r>
              <a:rPr lang="zh-CN" altLang="en-US" dirty="0">
                <a:solidFill>
                  <a:schemeClr val="tx1"/>
                </a:solidFill>
              </a:rPr>
              <a:t>关系模式</a:t>
            </a:r>
            <a:endParaRPr lang="zh-CN" altLang="en-US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2.2.3  </a:t>
            </a:r>
            <a:r>
              <a:rPr lang="zh-CN" altLang="en-US" dirty="0">
                <a:solidFill>
                  <a:srgbClr val="FF0000"/>
                </a:solidFill>
              </a:rPr>
              <a:t>关系数据库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关系数据库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关系数据库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关系数据库的型与值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关系数据库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76962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zh-CN" altLang="en-US" dirty="0">
                <a:solidFill>
                  <a:srgbClr val="FF0000"/>
                </a:solidFill>
              </a:rPr>
              <a:t>关系数据库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在一个给定的应用领域中，所有实体及实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体之间联系的</a:t>
            </a:r>
            <a:r>
              <a:rPr lang="zh-CN" altLang="en-US" dirty="0">
                <a:solidFill>
                  <a:schemeClr val="accent2"/>
                </a:solidFill>
              </a:rPr>
              <a:t>关系的集合</a:t>
            </a:r>
            <a:r>
              <a:rPr lang="zh-CN" altLang="en-US" dirty="0">
                <a:solidFill>
                  <a:schemeClr val="tx1"/>
                </a:solidFill>
              </a:rPr>
              <a:t>构成一个关系数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据库。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b="0" dirty="0"/>
              <a:t>其</a:t>
            </a:r>
            <a:r>
              <a:rPr lang="zh-CN" altLang="en-US" b="0" dirty="0">
                <a:solidFill>
                  <a:schemeClr val="accent2"/>
                </a:solidFill>
              </a:rPr>
              <a:t>型</a:t>
            </a:r>
            <a:r>
              <a:rPr lang="zh-CN" altLang="en-US" b="0" dirty="0"/>
              <a:t>是关系模式的集合，即数据库描述，称作数据库的内涵</a:t>
            </a:r>
            <a:r>
              <a:rPr lang="en-US" altLang="zh-CN" b="0" dirty="0"/>
              <a:t>(Intension)</a:t>
            </a:r>
            <a:endParaRPr lang="en-US" altLang="zh-CN" b="0" dirty="0"/>
          </a:p>
          <a:p>
            <a:pPr lvl="1" eaLnBrk="1" hangingPunct="1"/>
            <a:r>
              <a:rPr lang="zh-CN" altLang="en-US" b="0" dirty="0"/>
              <a:t>其</a:t>
            </a:r>
            <a:r>
              <a:rPr lang="zh-CN" altLang="en-US" b="0" dirty="0">
                <a:solidFill>
                  <a:schemeClr val="accent2"/>
                </a:solidFill>
              </a:rPr>
              <a:t>值</a:t>
            </a:r>
            <a:r>
              <a:rPr lang="zh-CN" altLang="en-US" b="0" dirty="0"/>
              <a:t>是某一时刻关系的集合，称作数据库的外延</a:t>
            </a:r>
            <a:r>
              <a:rPr lang="en-US" altLang="zh-CN" b="0" dirty="0"/>
              <a:t>(Extension)</a:t>
            </a:r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关系数据库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762000" y="1066800"/>
            <a:ext cx="8153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en-US" altLang="zh-CN" sz="2800" dirty="0">
                <a:solidFill>
                  <a:srgbClr val="FF0000"/>
                </a:solidFill>
              </a:rPr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关系数据库的型与值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关系数据库也有型和值之分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u="sng" dirty="0">
                <a:solidFill>
                  <a:schemeClr val="accent2"/>
                </a:solidFill>
              </a:rPr>
              <a:t>关系数据库的型</a:t>
            </a:r>
            <a:r>
              <a:rPr lang="zh-CN" altLang="en-US" sz="2800" dirty="0">
                <a:solidFill>
                  <a:schemeClr val="accent2"/>
                </a:solidFill>
              </a:rPr>
              <a:t>称为关系数据库模式，是对关系数据库的描述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sz="2400" dirty="0"/>
              <a:t>若干域的定义</a:t>
            </a:r>
            <a:endParaRPr lang="zh-CN" altLang="en-US" sz="2400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sz="2400" dirty="0"/>
              <a:t>在这些域上定义的若干关系模式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u="sng" dirty="0">
                <a:solidFill>
                  <a:schemeClr val="accent2"/>
                </a:solidFill>
              </a:rPr>
              <a:t>关系数据库的值</a:t>
            </a:r>
            <a:r>
              <a:rPr lang="zh-CN" altLang="en-US" sz="2800" dirty="0">
                <a:solidFill>
                  <a:schemeClr val="accent2"/>
                </a:solidFill>
              </a:rPr>
              <a:t>是这些关系模式在某一时刻对应的关系的集合，通常简称为关系数据库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/>
          <p:nvPr/>
        </p:nvSpPr>
        <p:spPr>
          <a:xfrm>
            <a:off x="863600" y="2755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05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关系的完整性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105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关系模型的完整性规则是对关系的某种约束条件。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关系模型中三类完整性约束：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实体完整性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参照完整性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用户定义的完整性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实体完整性和参照完整性是关系模型必须满足的完整性约束条件，被称作是关系的两个</a:t>
            </a:r>
            <a:r>
              <a:rPr lang="zh-CN" altLang="en-US" sz="2800" u="sng" dirty="0">
                <a:solidFill>
                  <a:schemeClr val="accent2"/>
                </a:solidFill>
              </a:rPr>
              <a:t>不变性</a:t>
            </a:r>
            <a:r>
              <a:rPr lang="zh-CN" altLang="en-US" sz="2800" dirty="0">
                <a:solidFill>
                  <a:schemeClr val="tx1"/>
                </a:solidFill>
              </a:rPr>
              <a:t>，应该由关系系统自动支持。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关系的完整性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990600" y="12192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2.3.1 </a:t>
            </a:r>
            <a:r>
              <a:rPr lang="zh-CN" altLang="en-US" dirty="0">
                <a:solidFill>
                  <a:srgbClr val="FF0000"/>
                </a:solidFill>
              </a:rPr>
              <a:t>实体完整性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2.3.2. </a:t>
            </a:r>
            <a:r>
              <a:rPr lang="zh-CN" altLang="en-US" dirty="0">
                <a:solidFill>
                  <a:schemeClr val="tx1"/>
                </a:solidFill>
              </a:rPr>
              <a:t>参照完整性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2.3.3. </a:t>
            </a:r>
            <a:r>
              <a:rPr lang="zh-CN" altLang="en-US" dirty="0">
                <a:solidFill>
                  <a:schemeClr val="tx1"/>
                </a:solidFill>
              </a:rPr>
              <a:t>用户定义的完整性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实体完整性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3886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3600" dirty="0"/>
              <a:t>实体完整性规则（</a:t>
            </a:r>
            <a:r>
              <a:rPr lang="en-US" altLang="zh-CN" sz="3600" dirty="0"/>
              <a:t>Entity Integrity</a:t>
            </a:r>
            <a:r>
              <a:rPr lang="zh-CN" altLang="en-US" sz="3600" dirty="0"/>
              <a:t>）</a:t>
            </a:r>
            <a:endParaRPr lang="zh-CN" altLang="en-US" sz="3600" dirty="0"/>
          </a:p>
          <a:p>
            <a:pPr algn="just" eaLnBrk="1" hangingPunct="1"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若属性</a:t>
            </a:r>
            <a:r>
              <a:rPr lang="en-US" altLang="zh-CN" sz="3600" i="1" dirty="0">
                <a:solidFill>
                  <a:schemeClr val="tx1"/>
                </a:solidFill>
              </a:rPr>
              <a:t>A</a:t>
            </a:r>
            <a:r>
              <a:rPr lang="zh-CN" altLang="en-US" sz="3600" dirty="0">
                <a:solidFill>
                  <a:schemeClr val="tx1"/>
                </a:solidFill>
              </a:rPr>
              <a:t>是基本关系</a:t>
            </a:r>
            <a:r>
              <a:rPr lang="en-US" altLang="zh-CN" sz="3600" i="1" dirty="0">
                <a:solidFill>
                  <a:schemeClr val="tx1"/>
                </a:solidFill>
              </a:rPr>
              <a:t>R</a:t>
            </a:r>
            <a:r>
              <a:rPr lang="zh-CN" altLang="en-US" sz="3600" dirty="0">
                <a:solidFill>
                  <a:schemeClr val="tx1"/>
                </a:solidFill>
              </a:rPr>
              <a:t>的主属性，则属性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sz="3600" i="1" dirty="0">
                <a:solidFill>
                  <a:schemeClr val="tx1"/>
                </a:solidFill>
              </a:rPr>
              <a:t>A</a:t>
            </a:r>
            <a:r>
              <a:rPr lang="zh-CN" altLang="en-US" sz="3600" dirty="0">
                <a:solidFill>
                  <a:schemeClr val="tx1"/>
                </a:solidFill>
              </a:rPr>
              <a:t>不能取空值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algn="just" eaLnBrk="1" hangingPunct="1">
              <a:buNone/>
            </a:pPr>
            <a:r>
              <a:rPr lang="en-US" altLang="zh-CN" sz="2600" dirty="0"/>
              <a:t>Student(SNO,Sname,Gender,Birthdate,Depart,Addr) </a:t>
            </a:r>
            <a:endParaRPr lang="en-US" altLang="zh-CN" sz="2600" dirty="0"/>
          </a:p>
          <a:p>
            <a:pPr lvl="1" algn="just" eaLnBrk="1" hangingPunct="1">
              <a:buNone/>
            </a:pPr>
            <a:r>
              <a:rPr lang="en-US" altLang="zh-CN" dirty="0"/>
              <a:t>SNO</a:t>
            </a:r>
            <a:r>
              <a:rPr lang="zh-CN" altLang="en-US" dirty="0"/>
              <a:t>属性为主码，则其不能取空值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实体完整性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spcAft>
                <a:spcPct val="20000"/>
              </a:spcAft>
              <a:buNone/>
            </a:pPr>
            <a:r>
              <a:rPr lang="zh-CN" altLang="en-US" sz="3000" dirty="0"/>
              <a:t>关系模型必须遵守实体完整性规则的原因</a:t>
            </a:r>
            <a:endParaRPr lang="zh-CN" altLang="en-US" sz="3000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(1) </a:t>
            </a:r>
            <a:r>
              <a:rPr lang="zh-CN" altLang="en-US" sz="2400" dirty="0">
                <a:solidFill>
                  <a:schemeClr val="tx1"/>
                </a:solidFill>
              </a:rPr>
              <a:t>实体完整性规则是针对基本关系而言的。一个基本表通常对应现实世界的一个实体集或多对多联系。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(2) </a:t>
            </a:r>
            <a:r>
              <a:rPr lang="zh-CN" altLang="en-US" sz="2400" dirty="0">
                <a:solidFill>
                  <a:schemeClr val="tx1"/>
                </a:solidFill>
              </a:rPr>
              <a:t>现实世界中的实体和实体间的联系都是可区分的，即它们具有某种唯一性标识。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(3) </a:t>
            </a:r>
            <a:r>
              <a:rPr lang="zh-CN" altLang="en-US" sz="2400" dirty="0">
                <a:solidFill>
                  <a:schemeClr val="tx1"/>
                </a:solidFill>
              </a:rPr>
              <a:t>相应地，关系模型中以主码作为唯一性标识。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(4) </a:t>
            </a:r>
            <a:r>
              <a:rPr lang="zh-CN" altLang="en-US" sz="2400" dirty="0">
                <a:solidFill>
                  <a:schemeClr val="tx1"/>
                </a:solidFill>
              </a:rPr>
              <a:t>主码中的属性即主属性不能取空值。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空值就是“不知道”或“无意义”的值。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主属性取空值，就说明存在某个不可标识的实体，即存在不可区分的实体，这与第（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）点相矛盾，因此这个规则称为实体完整性。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2.3.1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实体完整性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600" dirty="0"/>
              <a:t>注意</a:t>
            </a:r>
            <a:endParaRPr lang="zh-CN" altLang="en-US" sz="3600" dirty="0"/>
          </a:p>
          <a:p>
            <a:pPr eaLnBrk="1" hangingPunct="1"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实体完整性规则规定基本关系的所有</a:t>
            </a:r>
            <a:endParaRPr lang="zh-CN" altLang="en-US" sz="36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主属性都不能取空值</a:t>
            </a:r>
            <a:endParaRPr lang="zh-CN" altLang="en-US" sz="36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zh-CN" altLang="en-US" sz="3600" dirty="0"/>
              <a:t>例</a:t>
            </a:r>
            <a:endParaRPr lang="zh-CN" altLang="en-US" sz="3600" dirty="0"/>
          </a:p>
          <a:p>
            <a:pPr lvl="1" eaLnBrk="1" hangingPunct="1">
              <a:buNone/>
            </a:pPr>
            <a:r>
              <a:rPr lang="zh-CN" altLang="en-US" sz="3200" dirty="0"/>
              <a:t>选修（</a:t>
            </a:r>
            <a:r>
              <a:rPr lang="zh-CN" altLang="en-US" sz="3200" u="sng" dirty="0"/>
              <a:t>学号，课程号</a:t>
            </a:r>
            <a:r>
              <a:rPr lang="zh-CN" altLang="en-US" sz="3200" dirty="0"/>
              <a:t>，成绩）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zh-CN" altLang="en-US" sz="3200" dirty="0"/>
              <a:t>“学号、课程号”为主码，则两个属性都不能取空值。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关系的完整性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990600" y="12192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2.3.1 </a:t>
            </a:r>
            <a:r>
              <a:rPr lang="zh-CN" altLang="en-US" dirty="0">
                <a:solidFill>
                  <a:schemeClr val="tx1"/>
                </a:solidFill>
              </a:rPr>
              <a:t>实体完整性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2.3.2. </a:t>
            </a:r>
            <a:r>
              <a:rPr lang="zh-CN" altLang="en-US" dirty="0">
                <a:solidFill>
                  <a:srgbClr val="FF0000"/>
                </a:solidFill>
              </a:rPr>
              <a:t>参照完整性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2.3.3. </a:t>
            </a:r>
            <a:r>
              <a:rPr lang="zh-CN" altLang="en-US" dirty="0">
                <a:solidFill>
                  <a:schemeClr val="tx1"/>
                </a:solidFill>
              </a:rPr>
              <a:t>用户定义的完整性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990600" y="1219200"/>
            <a:ext cx="67818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关系间的引用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外码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参照完整性规则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zh-CN" altLang="en-US" dirty="0">
                <a:solidFill>
                  <a:srgbClr val="FF0000"/>
                </a:solidFill>
              </a:rPr>
              <a:t>关系间的引用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在关系模型中实体及实体间的联系都是用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关系来描述的，因此可能存在着关系与关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系间的引用。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accent2"/>
                </a:solidFill>
              </a:rPr>
              <a:t>1  </a:t>
            </a:r>
            <a:r>
              <a:rPr lang="zh-CN" altLang="en-US" dirty="0">
                <a:solidFill>
                  <a:schemeClr val="accent2"/>
                </a:solidFill>
              </a:rPr>
              <a:t>学生实体、系别实体以及系别与学生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        间的一对多联系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/>
              <a:t>  　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dirty="0">
                <a:solidFill>
                  <a:srgbClr val="FF0000"/>
                </a:solidFill>
              </a:rPr>
              <a:t>系别</a:t>
            </a:r>
            <a:r>
              <a:rPr lang="zh-CN" altLang="en-US" dirty="0"/>
              <a:t>，年龄）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　  系别（</a:t>
            </a:r>
            <a:r>
              <a:rPr lang="zh-CN" altLang="en-US" u="sng" dirty="0">
                <a:solidFill>
                  <a:srgbClr val="FF0000"/>
                </a:solidFill>
              </a:rPr>
              <a:t>系号</a:t>
            </a:r>
            <a:r>
              <a:rPr lang="zh-CN" altLang="en-US" dirty="0"/>
              <a:t>，系名）</a:t>
            </a:r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graphicFrame>
        <p:nvGraphicFramePr>
          <p:cNvPr id="62467" name="Group 3"/>
          <p:cNvGraphicFramePr>
            <a:graphicFrameLocks noGrp="1"/>
          </p:cNvGraphicFramePr>
          <p:nvPr/>
        </p:nvGraphicFramePr>
        <p:xfrm>
          <a:off x="381000" y="914400"/>
          <a:ext cx="6477000" cy="25908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</a:tblGrid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年龄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2505" name="Group 41"/>
          <p:cNvGraphicFramePr>
            <a:graphicFrameLocks noGrp="1"/>
          </p:cNvGraphicFramePr>
          <p:nvPr/>
        </p:nvGraphicFramePr>
        <p:xfrm>
          <a:off x="3048000" y="3886200"/>
          <a:ext cx="4724400" cy="2592388"/>
        </p:xfrm>
        <a:graphic>
          <a:graphicData uri="http://schemas.openxmlformats.org/drawingml/2006/table">
            <a:tbl>
              <a:tblPr/>
              <a:tblGrid>
                <a:gridCol w="1243013"/>
                <a:gridCol w="3481387"/>
              </a:tblGrid>
              <a:tr h="5181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系号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98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英语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98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0478" name="AutoShape 61"/>
          <p:cNvCxnSpPr/>
          <p:nvPr/>
        </p:nvCxnSpPr>
        <p:spPr>
          <a:xfrm rot="5400000">
            <a:off x="4100513" y="3071813"/>
            <a:ext cx="384175" cy="1244600"/>
          </a:xfrm>
          <a:prstGeom prst="curvedConnector3">
            <a:avLst>
              <a:gd name="adj1" fmla="val 50000"/>
            </a:avLst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zh-CN" altLang="en-US" dirty="0">
                <a:solidFill>
                  <a:srgbClr val="FF0000"/>
                </a:solidFill>
              </a:rPr>
              <a:t>外码（</a:t>
            </a:r>
            <a:r>
              <a:rPr lang="en-US" altLang="zh-CN" dirty="0">
                <a:solidFill>
                  <a:srgbClr val="FF0000"/>
                </a:solidFill>
              </a:rPr>
              <a:t>Foreign Key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是基本关系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的一个或一组属性，但不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是关系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的码。如果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与基本关系</a:t>
            </a:r>
            <a:r>
              <a:rPr lang="en-US" altLang="zh-CN" i="1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的主码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相对应，则称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是基本关系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外码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基本关系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i="1" dirty="0">
                <a:solidFill>
                  <a:schemeClr val="tx1"/>
                </a:solidFill>
              </a:rPr>
              <a:t>称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参照关系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Referencing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Relation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基本关系</a:t>
            </a:r>
            <a:r>
              <a:rPr lang="en-US" altLang="zh-CN" i="1" dirty="0">
                <a:solidFill>
                  <a:schemeClr val="tx1"/>
                </a:solidFill>
              </a:rPr>
              <a:t>S</a:t>
            </a:r>
            <a:r>
              <a:rPr lang="zh-CN" altLang="en-US" i="1" dirty="0">
                <a:solidFill>
                  <a:schemeClr val="tx1"/>
                </a:solidFill>
              </a:rPr>
              <a:t>称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被参照关系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Referenced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Relation</a:t>
            </a:r>
            <a:r>
              <a:rPr lang="zh-CN" altLang="en-US" dirty="0">
                <a:solidFill>
                  <a:schemeClr val="tx1"/>
                </a:solidFill>
              </a:rPr>
              <a:t>）或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目标关系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Target Relation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外码（续）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说明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关系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i="1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不一定是不同的关系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目标关系</a:t>
            </a:r>
            <a:r>
              <a:rPr lang="en-US" altLang="zh-CN" i="1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的主码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</a:rPr>
              <a:t>s </a:t>
            </a:r>
            <a:r>
              <a:rPr lang="zh-CN" altLang="en-US" dirty="0">
                <a:solidFill>
                  <a:schemeClr val="tx1"/>
                </a:solidFill>
              </a:rPr>
              <a:t>和参照关系的外码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必须定义在同一个（或一组）域上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外码并不一定要与相应的主码同名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  当外码与相应的主码属于不同关系时，往往   取相同的名字，以便于识别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graphicFrame>
        <p:nvGraphicFramePr>
          <p:cNvPr id="65539" name="Group 3"/>
          <p:cNvGraphicFramePr>
            <a:graphicFrameLocks noGrp="1"/>
          </p:cNvGraphicFramePr>
          <p:nvPr/>
        </p:nvGraphicFramePr>
        <p:xfrm>
          <a:off x="1752600" y="1143000"/>
          <a:ext cx="38100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5577" name="Group 41"/>
          <p:cNvGraphicFramePr>
            <a:graphicFrameLocks noGrp="1"/>
          </p:cNvGraphicFramePr>
          <p:nvPr/>
        </p:nvGraphicFramePr>
        <p:xfrm>
          <a:off x="3048000" y="3886200"/>
          <a:ext cx="28956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21336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英语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3550" name="AutoShape 61"/>
          <p:cNvCxnSpPr/>
          <p:nvPr/>
        </p:nvCxnSpPr>
        <p:spPr>
          <a:xfrm rot="5400000">
            <a:off x="3582988" y="3049588"/>
            <a:ext cx="682625" cy="990600"/>
          </a:xfrm>
          <a:prstGeom prst="curvedConnector3">
            <a:avLst>
              <a:gd name="adj1" fmla="val 50000"/>
            </a:avLst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63551" name="AutoShape 62"/>
          <p:cNvSpPr/>
          <p:nvPr/>
        </p:nvSpPr>
        <p:spPr>
          <a:xfrm>
            <a:off x="228600" y="2514600"/>
            <a:ext cx="1219200" cy="409575"/>
          </a:xfrm>
          <a:prstGeom prst="wedgeRoundRectCallout">
            <a:avLst>
              <a:gd name="adj1" fmla="val 78255"/>
              <a:gd name="adj2" fmla="val -329069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52" name="AutoShape 63"/>
          <p:cNvSpPr/>
          <p:nvPr/>
        </p:nvSpPr>
        <p:spPr>
          <a:xfrm>
            <a:off x="5562600" y="762000"/>
            <a:ext cx="1219200" cy="409575"/>
          </a:xfrm>
          <a:prstGeom prst="wedgeRoundRectCallout">
            <a:avLst>
              <a:gd name="adj1" fmla="val -117838"/>
              <a:gd name="adj2" fmla="val 100000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53" name="AutoShape 64"/>
          <p:cNvSpPr/>
          <p:nvPr/>
        </p:nvSpPr>
        <p:spPr>
          <a:xfrm>
            <a:off x="533400" y="4876800"/>
            <a:ext cx="1219200" cy="409575"/>
          </a:xfrm>
          <a:prstGeom prst="wedgeRoundRectCallout">
            <a:avLst>
              <a:gd name="adj1" fmla="val 155468"/>
              <a:gd name="adj2" fmla="val -224032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主码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54" name="Text Box 65"/>
          <p:cNvSpPr txBox="1"/>
          <p:nvPr/>
        </p:nvSpPr>
        <p:spPr>
          <a:xfrm>
            <a:off x="609600" y="1143000"/>
            <a:ext cx="89852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学生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3555" name="Text Box 66"/>
          <p:cNvSpPr txBox="1"/>
          <p:nvPr/>
        </p:nvSpPr>
        <p:spPr>
          <a:xfrm>
            <a:off x="609600" y="3657600"/>
            <a:ext cx="89852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系别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3556" name="AutoShape 67"/>
          <p:cNvSpPr/>
          <p:nvPr/>
        </p:nvSpPr>
        <p:spPr>
          <a:xfrm>
            <a:off x="6477000" y="1585913"/>
            <a:ext cx="685800" cy="803275"/>
          </a:xfrm>
          <a:prstGeom prst="wedgeRoundRectCallout">
            <a:avLst>
              <a:gd name="adj1" fmla="val -170602"/>
              <a:gd name="adj2" fmla="val 45255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参照关系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57" name="AutoShape 68"/>
          <p:cNvSpPr/>
          <p:nvPr/>
        </p:nvSpPr>
        <p:spPr>
          <a:xfrm>
            <a:off x="6934200" y="3613150"/>
            <a:ext cx="990600" cy="1196975"/>
          </a:xfrm>
          <a:prstGeom prst="wedgeRoundRectCallout">
            <a:avLst>
              <a:gd name="adj1" fmla="val -133495"/>
              <a:gd name="adj2" fmla="val 45227"/>
              <a:gd name="adj3" fmla="val 1666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被参照关系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58" name="Text Box 69"/>
          <p:cNvSpPr txBox="1"/>
          <p:nvPr/>
        </p:nvSpPr>
        <p:spPr>
          <a:xfrm>
            <a:off x="6019800" y="2514600"/>
            <a:ext cx="2667000" cy="958850"/>
          </a:xfrm>
          <a:prstGeom prst="rect">
            <a:avLst/>
          </a:prstGeom>
          <a:solidFill>
            <a:srgbClr val="6666FF"/>
          </a:solidFill>
          <a:ln w="12700" cap="sq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bg1"/>
                </a:solidFill>
              </a:rPr>
              <a:t>外码与主码可以不同名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zh-CN" altLang="en-US" dirty="0">
                <a:solidFill>
                  <a:srgbClr val="FF0000"/>
                </a:solidFill>
              </a:rPr>
              <a:t>参照完整性规则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若属性（或属性组）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是基本关系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的外码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它与基本关系</a:t>
            </a:r>
            <a:r>
              <a:rPr lang="en-US" altLang="zh-CN" i="1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的主码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相对应（基本关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系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i="1" dirty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不一定是不同的关系），则对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于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中每个元组在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上的值必须为：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3333FF"/>
                </a:solidFill>
                <a:sym typeface="Symbol" panose="05050102010706020507" pitchFamily="18" charset="2"/>
              </a:rPr>
              <a:t></a:t>
            </a:r>
            <a:r>
              <a:rPr lang="zh-CN" altLang="en-US" dirty="0">
                <a:solidFill>
                  <a:srgbClr val="3333FF"/>
                </a:solidFill>
              </a:rPr>
              <a:t> 或者取空值（</a:t>
            </a:r>
            <a:r>
              <a:rPr lang="en-US" altLang="zh-CN" i="1" dirty="0">
                <a:solidFill>
                  <a:srgbClr val="3333FF"/>
                </a:solidFill>
              </a:rPr>
              <a:t>F</a:t>
            </a:r>
            <a:r>
              <a:rPr lang="zh-CN" altLang="en-US" dirty="0">
                <a:solidFill>
                  <a:srgbClr val="3333FF"/>
                </a:solidFill>
              </a:rPr>
              <a:t>的每个属性值均为空值）</a:t>
            </a:r>
            <a:endParaRPr lang="zh-CN" altLang="en-US" dirty="0">
              <a:solidFill>
                <a:srgbClr val="3333FF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rgbClr val="3333FF"/>
                </a:solidFill>
                <a:sym typeface="Symbol" panose="05050102010706020507" pitchFamily="18" charset="2"/>
              </a:rPr>
              <a:t></a:t>
            </a:r>
            <a:r>
              <a:rPr lang="zh-CN" altLang="en-US" dirty="0">
                <a:solidFill>
                  <a:srgbClr val="3333FF"/>
                </a:solidFill>
              </a:rPr>
              <a:t> 或者等于</a:t>
            </a:r>
            <a:r>
              <a:rPr lang="en-US" altLang="zh-CN" i="1" dirty="0">
                <a:solidFill>
                  <a:srgbClr val="3333FF"/>
                </a:solidFill>
              </a:rPr>
              <a:t>S</a:t>
            </a:r>
            <a:r>
              <a:rPr lang="zh-CN" altLang="en-US" dirty="0">
                <a:solidFill>
                  <a:srgbClr val="3333FF"/>
                </a:solidFill>
              </a:rPr>
              <a:t>中某个元组的主码值。</a:t>
            </a:r>
            <a:endParaRPr lang="zh-CN" altLang="en-US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参照完整性规则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续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学生关系中每个元组的“</a:t>
            </a:r>
            <a:r>
              <a:rPr lang="zh-CN" altLang="en-US" dirty="0">
                <a:solidFill>
                  <a:schemeClr val="accent2"/>
                </a:solidFill>
              </a:rPr>
              <a:t>系别</a:t>
            </a:r>
            <a:r>
              <a:rPr lang="zh-CN" altLang="en-US" dirty="0">
                <a:solidFill>
                  <a:schemeClr val="tx1"/>
                </a:solidFill>
              </a:rPr>
              <a:t>”属性只能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取下面两类值：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r>
              <a:rPr lang="zh-CN" altLang="en-US" dirty="0">
                <a:solidFill>
                  <a:schemeClr val="accent2"/>
                </a:solidFill>
              </a:rPr>
              <a:t>空值</a:t>
            </a:r>
            <a:r>
              <a:rPr lang="zh-CN" altLang="en-US" dirty="0">
                <a:solidFill>
                  <a:schemeClr val="tx1"/>
                </a:solidFill>
              </a:rPr>
              <a:t>，表示尚未给该学生分配到系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）非空值，这时该值必须是</a:t>
            </a:r>
            <a:r>
              <a:rPr lang="zh-CN" altLang="en-US" dirty="0">
                <a:solidFill>
                  <a:schemeClr val="accent2"/>
                </a:solidFill>
              </a:rPr>
              <a:t>系别关系中某个元组的“系号”值</a:t>
            </a:r>
            <a:r>
              <a:rPr lang="zh-CN" altLang="en-US" dirty="0">
                <a:solidFill>
                  <a:schemeClr val="tx1"/>
                </a:solidFill>
              </a:rPr>
              <a:t>，表示该学生不可能分配到一个不存在的系中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参照完整性规则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续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例</a:t>
            </a:r>
            <a:r>
              <a:rPr lang="en-US" altLang="zh-CN" dirty="0">
                <a:solidFill>
                  <a:schemeClr val="accent2"/>
                </a:solidFill>
              </a:rPr>
              <a:t>2  </a:t>
            </a:r>
            <a:r>
              <a:rPr lang="zh-CN" altLang="en-US" dirty="0">
                <a:solidFill>
                  <a:schemeClr val="accent2"/>
                </a:solidFill>
              </a:rPr>
              <a:t>选修（</a:t>
            </a:r>
            <a:r>
              <a:rPr lang="zh-CN" altLang="en-US" u="sng" dirty="0">
                <a:solidFill>
                  <a:schemeClr val="accent2"/>
                </a:solidFill>
              </a:rPr>
              <a:t>学号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zh-CN" altLang="en-US" u="sng" dirty="0">
                <a:solidFill>
                  <a:schemeClr val="accent2"/>
                </a:solidFill>
              </a:rPr>
              <a:t>课程号</a:t>
            </a:r>
            <a:r>
              <a:rPr lang="zh-CN" altLang="en-US" dirty="0">
                <a:solidFill>
                  <a:schemeClr val="accent2"/>
                </a:solidFill>
              </a:rPr>
              <a:t>，成绩）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“学号”和“课程号”是选修关系中的主属性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按照实体完整性和参照完整性规则，它们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只能取相应被参照关系中已经存在的主码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值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5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2.3.2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参照完整性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7847013" cy="472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Clr>
                <a:srgbClr val="FF33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参照完整性规则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续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>
                <a:srgbClr val="FF33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例</a:t>
            </a:r>
            <a:r>
              <a:rPr lang="en-US" altLang="zh-CN" sz="2800" dirty="0">
                <a:solidFill>
                  <a:schemeClr val="accent2"/>
                </a:solidFill>
              </a:rPr>
              <a:t>3  </a:t>
            </a:r>
            <a:r>
              <a:rPr lang="zh-CN" altLang="en-US" sz="2800" dirty="0">
                <a:solidFill>
                  <a:schemeClr val="accent2"/>
                </a:solidFill>
              </a:rPr>
              <a:t>分组（</a:t>
            </a:r>
            <a:r>
              <a:rPr lang="zh-CN" altLang="en-US" sz="2800" u="sng" dirty="0">
                <a:solidFill>
                  <a:schemeClr val="accent2"/>
                </a:solidFill>
              </a:rPr>
              <a:t>学号</a:t>
            </a:r>
            <a:r>
              <a:rPr lang="zh-CN" altLang="en-US" sz="2800" dirty="0">
                <a:solidFill>
                  <a:schemeClr val="accent2"/>
                </a:solidFill>
              </a:rPr>
              <a:t>，姓名，</a:t>
            </a:r>
            <a:r>
              <a:rPr lang="zh-CN" altLang="en-US" sz="2800" i="1" dirty="0">
                <a:solidFill>
                  <a:schemeClr val="accent2"/>
                </a:solidFill>
              </a:rPr>
              <a:t>搭档</a:t>
            </a:r>
            <a:r>
              <a:rPr lang="zh-CN" altLang="en-US" sz="2800" dirty="0">
                <a:solidFill>
                  <a:schemeClr val="accent2"/>
                </a:solidFill>
              </a:rPr>
              <a:t>）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graphicFrame>
        <p:nvGraphicFramePr>
          <p:cNvPr id="67589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195513" y="2781300"/>
          <a:ext cx="3670300" cy="374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160010" imgH="5448300" progId="Word.Document.8">
                  <p:embed/>
                </p:oleObj>
              </mc:Choice>
              <mc:Fallback>
                <p:oleObj name="" r:id="rId1" imgW="5160010" imgH="5448300" progId="Word.Document.8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195513" y="2781300"/>
                        <a:ext cx="3670300" cy="3749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关系的完整性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990600" y="1219200"/>
            <a:ext cx="6172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2.3.1 </a:t>
            </a:r>
            <a:r>
              <a:rPr lang="zh-CN" altLang="en-US" dirty="0">
                <a:solidFill>
                  <a:schemeClr val="tx1"/>
                </a:solidFill>
              </a:rPr>
              <a:t>实体完整性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2.3.2. </a:t>
            </a:r>
            <a:r>
              <a:rPr lang="zh-CN" altLang="en-US" dirty="0">
                <a:solidFill>
                  <a:schemeClr val="tx1"/>
                </a:solidFill>
              </a:rPr>
              <a:t>参照完整性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2.3.3. </a:t>
            </a:r>
            <a:r>
              <a:rPr lang="zh-CN" altLang="en-US" dirty="0">
                <a:solidFill>
                  <a:srgbClr val="FF0000"/>
                </a:solidFill>
              </a:rPr>
              <a:t>用户定义的完整性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2.3.3</a:t>
            </a:r>
            <a:r>
              <a:rPr lang="en-US" altLang="zh-CN" u="sng" dirty="0">
                <a:latin typeface="经典细隶书简" pitchFamily="49" charset="-122"/>
              </a:rPr>
              <a:t>  </a:t>
            </a:r>
            <a:r>
              <a:rPr lang="zh-CN" altLang="en-US" u="sng" dirty="0">
                <a:latin typeface="经典细隶书简" pitchFamily="49" charset="-122"/>
              </a:rPr>
              <a:t>用户定义的完整性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077200" cy="530542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用户定义的完整性是针对某一具体关系数据库的约束条件，反映某一具体应用所涉及的数据必须满足的语义要求。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如</a:t>
            </a:r>
            <a:r>
              <a:rPr lang="en-US" altLang="zh-CN" sz="2400" dirty="0"/>
              <a:t>SNO</a:t>
            </a:r>
            <a:r>
              <a:rPr lang="zh-CN" altLang="en-US" sz="2400" dirty="0"/>
              <a:t>要求是</a:t>
            </a:r>
            <a:r>
              <a:rPr lang="en-US" altLang="zh-CN" sz="2400" dirty="0"/>
              <a:t>8</a:t>
            </a:r>
            <a:r>
              <a:rPr lang="zh-CN" altLang="en-US" sz="2400" dirty="0"/>
              <a:t>位整数</a:t>
            </a:r>
            <a:endParaRPr lang="zh-CN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Gender</a:t>
            </a:r>
            <a:r>
              <a:rPr lang="zh-CN" altLang="en-US" sz="2400" dirty="0"/>
              <a:t>取值为“男”或“女”</a:t>
            </a:r>
            <a:endParaRPr lang="zh-CN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学分只能在</a:t>
            </a:r>
            <a:r>
              <a:rPr lang="en-US" altLang="zh-CN" sz="2400" dirty="0"/>
              <a:t>(1,2,3,4)</a:t>
            </a:r>
            <a:r>
              <a:rPr lang="zh-CN" altLang="en-US" sz="2400" dirty="0"/>
              <a:t>中取值</a:t>
            </a:r>
            <a:endParaRPr lang="zh-CN" altLang="en-US" sz="2400" dirty="0"/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关系模型应提供定义和检验这类完整性的机制，以便用统一的系统的方法处理它们，而不要由应用程序承担这一功能。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2.3 </a:t>
            </a:r>
            <a:r>
              <a:rPr lang="zh-CN" altLang="en-US" u="sng" dirty="0">
                <a:latin typeface="经典细隶书简" pitchFamily="49" charset="-122"/>
              </a:rPr>
              <a:t>关系的完整性</a:t>
            </a:r>
            <a:endParaRPr lang="zh-CN" altLang="en-US" u="sng" dirty="0">
              <a:latin typeface="经典细隶书简" pitchFamily="49" charset="-122"/>
            </a:endParaRPr>
          </a:p>
        </p:txBody>
      </p:sp>
      <p:graphicFrame>
        <p:nvGraphicFramePr>
          <p:cNvPr id="71683" name="Group 3"/>
          <p:cNvGraphicFramePr>
            <a:graphicFrameLocks noGrp="1"/>
          </p:cNvGraphicFramePr>
          <p:nvPr/>
        </p:nvGraphicFramePr>
        <p:xfrm>
          <a:off x="304800" y="1447800"/>
          <a:ext cx="4114800" cy="1981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供应商号</a:t>
                      </a:r>
                      <a:endParaRPr kumimoji="1" lang="zh-CN" altLang="en-US" sz="2000" b="1" i="0" u="sng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所在城市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北京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宇宙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上海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黎明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天津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709" name="Group 29"/>
          <p:cNvGraphicFramePr>
            <a:graphicFrameLocks noGrp="1"/>
          </p:cNvGraphicFramePr>
          <p:nvPr/>
        </p:nvGraphicFramePr>
        <p:xfrm>
          <a:off x="304800" y="4546600"/>
          <a:ext cx="4114800" cy="1592263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零件号</a:t>
                      </a:r>
                      <a:endParaRPr kumimoji="1" lang="zh-CN" altLang="en-US" sz="2000" b="1" i="0" u="sng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颜色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S10 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708" name="Rectangle 51"/>
          <p:cNvSpPr/>
          <p:nvPr/>
        </p:nvSpPr>
        <p:spPr>
          <a:xfrm>
            <a:off x="4724400" y="673100"/>
            <a:ext cx="4419600" cy="338772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269875" algn="just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今要向关系</a:t>
            </a:r>
            <a:r>
              <a:rPr lang="en-US" altLang="zh-CN" sz="2400" b="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400" b="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中插入新行，新行的值分别列出如下。哪些行能够插入？</a:t>
            </a:r>
            <a:endParaRPr lang="zh-CN" altLang="en-US" sz="2400" b="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A.  (‘037’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，‘绿’，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null)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B.  (null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，‘黄’，‘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T20’)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C.  (‘201’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，‘红’，‘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T20’)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D.  (‘105’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，‘蓝’，‘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B01’)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E.  (‘101’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，‘黄’，‘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T11’)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Null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表示为空</a:t>
            </a:r>
            <a:endParaRPr lang="zh-CN" altLang="en-US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70709" name="Rectangle 52"/>
          <p:cNvSpPr/>
          <p:nvPr/>
        </p:nvSpPr>
        <p:spPr>
          <a:xfrm>
            <a:off x="-36512" y="4064000"/>
            <a:ext cx="6192837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零件关系</a:t>
            </a:r>
            <a:r>
              <a:rPr lang="en-US" altLang="zh-CN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（主码是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零件号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，外码是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供应商号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</a:t>
            </a:r>
            <a:endParaRPr lang="zh-CN" altLang="en-US" sz="20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710" name="Rectangle 53"/>
          <p:cNvSpPr/>
          <p:nvPr/>
        </p:nvSpPr>
        <p:spPr>
          <a:xfrm>
            <a:off x="179388" y="914400"/>
            <a:ext cx="4724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供应商关系</a:t>
            </a:r>
            <a:r>
              <a:rPr lang="en-US" altLang="zh-CN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（主码是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供应商号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44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683" name="Rectangle 2"/>
          <p:cNvSpPr/>
          <p:nvPr/>
        </p:nvSpPr>
        <p:spPr>
          <a:xfrm>
            <a:off x="863600" y="3390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71684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685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l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kylin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kyli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yli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9859</Words>
  <Application>WPS Presentation</Application>
  <PresentationFormat>全屏显示(4:3)</PresentationFormat>
  <Paragraphs>1197</Paragraphs>
  <Slides>68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9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黑体</vt:lpstr>
      <vt:lpstr>Symbol</vt:lpstr>
      <vt:lpstr>华文新魏</vt:lpstr>
      <vt:lpstr>微软雅黑</vt:lpstr>
      <vt:lpstr>Arial Unicode MS</vt:lpstr>
      <vt:lpstr>kylin</vt:lpstr>
      <vt:lpstr>Equation.3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kylin</dc:creator>
  <cp:lastModifiedBy>nakanosan</cp:lastModifiedBy>
  <cp:revision>31</cp:revision>
  <dcterms:created xsi:type="dcterms:W3CDTF">2026-06-17T19:28:06Z</dcterms:created>
  <dcterms:modified xsi:type="dcterms:W3CDTF">2026-06-17T19:28:06Z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23323CE81792C3A246F5326A8C5C6D3C_43</vt:lpwstr>
  </property>
  <property fmtid="{D5CDD505-2E9C-101B-9397-08002B2CF9AE}" pid="3" name="KSOProductBuildVer">
    <vt:lpwstr>1033-12.1.2.26885</vt:lpwstr>
  </property>
</Properties>
</file>