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323" r:id="rId3"/>
    <p:sldId id="324" r:id="rId4"/>
    <p:sldId id="325" r:id="rId5"/>
    <p:sldId id="326" r:id="rId6"/>
    <p:sldId id="327" r:id="rId7"/>
    <p:sldId id="328" r:id="rId8"/>
    <p:sldId id="332" r:id="rId9"/>
    <p:sldId id="329" r:id="rId10"/>
    <p:sldId id="330" r:id="rId11"/>
    <p:sldId id="331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98" r:id="rId24"/>
    <p:sldId id="349" r:id="rId25"/>
    <p:sldId id="350" r:id="rId26"/>
    <p:sldId id="351" r:id="rId27"/>
    <p:sldId id="352" r:id="rId28"/>
    <p:sldId id="393" r:id="rId29"/>
    <p:sldId id="394" r:id="rId30"/>
    <p:sldId id="395" r:id="rId31"/>
    <p:sldId id="396" r:id="rId32"/>
    <p:sldId id="397" r:id="rId33"/>
    <p:sldId id="353" r:id="rId34"/>
    <p:sldId id="354" r:id="rId35"/>
    <p:sldId id="355" r:id="rId36"/>
    <p:sldId id="356" r:id="rId37"/>
    <p:sldId id="357" r:id="rId38"/>
    <p:sldId id="358" r:id="rId39"/>
    <p:sldId id="359" r:id="rId40"/>
    <p:sldId id="360" r:id="rId41"/>
    <p:sldId id="361" r:id="rId42"/>
    <p:sldId id="362" r:id="rId43"/>
    <p:sldId id="363" r:id="rId44"/>
    <p:sldId id="364" r:id="rId45"/>
    <p:sldId id="365" r:id="rId46"/>
    <p:sldId id="366" r:id="rId47"/>
    <p:sldId id="367" r:id="rId48"/>
    <p:sldId id="368" r:id="rId49"/>
    <p:sldId id="369" r:id="rId50"/>
    <p:sldId id="370" r:id="rId51"/>
    <p:sldId id="371" r:id="rId52"/>
    <p:sldId id="372" r:id="rId53"/>
    <p:sldId id="373" r:id="rId54"/>
    <p:sldId id="374" r:id="rId55"/>
    <p:sldId id="375" r:id="rId56"/>
    <p:sldId id="376" r:id="rId57"/>
    <p:sldId id="377" r:id="rId58"/>
    <p:sldId id="378" r:id="rId59"/>
    <p:sldId id="379" r:id="rId60"/>
    <p:sldId id="380" r:id="rId61"/>
    <p:sldId id="381" r:id="rId62"/>
    <p:sldId id="382" r:id="rId63"/>
    <p:sldId id="383" r:id="rId64"/>
    <p:sldId id="384" r:id="rId65"/>
    <p:sldId id="385" r:id="rId66"/>
    <p:sldId id="386" r:id="rId67"/>
    <p:sldId id="387" r:id="rId68"/>
    <p:sldId id="388" r:id="rId69"/>
    <p:sldId id="389" r:id="rId70"/>
    <p:sldId id="390" r:id="rId71"/>
    <p:sldId id="391" r:id="rId72"/>
    <p:sldId id="392" r:id="rId7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0"/>
    <p:restoredTop sz="86412"/>
  </p:normalViewPr>
  <p:slideViewPr>
    <p:cSldViewPr showGuides="1">
      <p:cViewPr varScale="1">
        <p:scale>
          <a:sx n="101" d="100"/>
          <a:sy n="101" d="100"/>
        </p:scale>
        <p:origin x="153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7" Type="http://schemas.openxmlformats.org/officeDocument/2006/relationships/tableStyles" Target="tableStyles.xml"/><Relationship Id="rId76" Type="http://schemas.openxmlformats.org/officeDocument/2006/relationships/viewProps" Target="viewProps.xml"/><Relationship Id="rId75" Type="http://schemas.openxmlformats.org/officeDocument/2006/relationships/presProps" Target="presProps.xml"/><Relationship Id="rId74" Type="http://schemas.openxmlformats.org/officeDocument/2006/relationships/notesMaster" Target="notesMasters/notesMaster1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430312-8A07-4AFA-AFA4-1F76B6674C0A}" type="datetimeFigureOut">
              <a:rPr kumimoji="1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7C711F-8C18-4F0C-8738-425093C077F3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1" lang="en-US" sz="32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9196FC-C6B5-4896-B6E6-C15E97190E00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9D8CAC5-BC72-4755-97D2-87B38BE567D2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kumimoji="1"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kumimoji="1"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863600" y="33909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2.1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关系模型概述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2.2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关系数据结构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2.3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关系的完整性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2.4</a:t>
            </a:r>
            <a:r>
              <a:rPr lang="en-US" altLang="zh-CN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endParaRPr lang="zh-CN" altLang="en-US" sz="4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2.5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2.6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关系数据库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graphicFrame>
        <p:nvGraphicFramePr>
          <p:cNvPr id="77826" name="Group 2"/>
          <p:cNvGraphicFramePr>
            <a:graphicFrameLocks noGrp="1"/>
          </p:cNvGraphicFramePr>
          <p:nvPr/>
        </p:nvGraphicFramePr>
        <p:xfrm>
          <a:off x="304800" y="1447800"/>
          <a:ext cx="4114800" cy="1981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供应商号</a:t>
                      </a:r>
                      <a:endParaRPr kumimoji="1" lang="zh-CN" altLang="en-US" sz="2000" b="1" i="0" u="sng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供应商名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所在城市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红星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北京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宇宙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上海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T20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黎明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天津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立新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重庆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852" name="Group 28"/>
          <p:cNvGraphicFramePr>
            <a:graphicFrameLocks noGrp="1"/>
          </p:cNvGraphicFramePr>
          <p:nvPr/>
        </p:nvGraphicFramePr>
        <p:xfrm>
          <a:off x="304800" y="4546600"/>
          <a:ext cx="4114800" cy="1592263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sng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零件号</a:t>
                      </a:r>
                      <a:endParaRPr kumimoji="1" lang="zh-CN" altLang="en-US" sz="2000" b="1" i="0" u="sng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颜色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供应商号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红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S10 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蓝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T20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47" name="Rectangle 50"/>
          <p:cNvSpPr/>
          <p:nvPr/>
        </p:nvSpPr>
        <p:spPr>
          <a:xfrm>
            <a:off x="4787900" y="682625"/>
            <a:ext cx="4419600" cy="338772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269875" algn="just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今要向关系</a:t>
            </a:r>
            <a:r>
              <a:rPr lang="en-US" altLang="zh-CN" sz="2400" b="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400" b="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中插入新行，新行的值分别列出如下。哪些行能够插入？</a:t>
            </a:r>
            <a:endParaRPr lang="zh-CN" altLang="en-US" sz="2400" b="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A.  (‘037’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，‘绿’，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null)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B.  (null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，‘黄’，‘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T20’)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C.  (‘201’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，‘红’，‘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T20’)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D.  (‘105’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，‘蓝’，‘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B01’)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E.  (‘101’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，‘黄’，‘</a:t>
            </a: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T11’)</a:t>
            </a:r>
            <a:endParaRPr lang="en-US" altLang="zh-CN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  <a:p>
            <a:pPr marL="0" lvl="0" indent="269875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Null</a:t>
            </a:r>
            <a:r>
              <a:rPr lang="zh-CN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表示为空</a:t>
            </a:r>
            <a:endParaRPr lang="zh-CN" altLang="en-US" sz="2400" b="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4148" name="Rectangle 51"/>
          <p:cNvSpPr/>
          <p:nvPr/>
        </p:nvSpPr>
        <p:spPr>
          <a:xfrm>
            <a:off x="-107950" y="4064000"/>
            <a:ext cx="619125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零件关系</a:t>
            </a:r>
            <a:r>
              <a:rPr lang="en-US" altLang="zh-CN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（主码是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零件号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，外码是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供应商号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 </a:t>
            </a:r>
            <a:endParaRPr lang="zh-CN" altLang="en-US" sz="20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49" name="Rectangle 52"/>
          <p:cNvSpPr/>
          <p:nvPr/>
        </p:nvSpPr>
        <p:spPr>
          <a:xfrm>
            <a:off x="-107950" y="895350"/>
            <a:ext cx="4724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供应商关系</a:t>
            </a:r>
            <a:r>
              <a:rPr lang="en-US" altLang="zh-CN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（主码是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供应商号</a:t>
            </a:r>
            <a:r>
              <a:rPr lang="zh-CN" altLang="en-US" sz="2000" b="0" dirty="0">
                <a:solidFill>
                  <a:schemeClr val="tx1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sz="44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50" name="Rectangle 53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复习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2.4  </a:t>
            </a:r>
            <a:r>
              <a:rPr lang="zh-CN" altLang="en-US" dirty="0"/>
              <a:t>关系代数</a:t>
            </a:r>
            <a:endParaRPr lang="zh-CN" altLang="en-US" dirty="0"/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1066800" y="1143000"/>
            <a:ext cx="655320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2.4.1 </a:t>
            </a:r>
            <a:r>
              <a:rPr lang="zh-CN" altLang="en-US" dirty="0">
                <a:solidFill>
                  <a:srgbClr val="FF0000"/>
                </a:solidFill>
              </a:rPr>
              <a:t>关系代数概述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2.4.2 </a:t>
            </a:r>
            <a:r>
              <a:rPr lang="zh-CN" altLang="en-US" dirty="0">
                <a:solidFill>
                  <a:schemeClr val="tx1"/>
                </a:solidFill>
              </a:rPr>
              <a:t>传统的集合运算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2.4.3 </a:t>
            </a:r>
            <a:r>
              <a:rPr lang="zh-CN" altLang="en-US" dirty="0">
                <a:solidFill>
                  <a:schemeClr val="tx1"/>
                </a:solidFill>
              </a:rPr>
              <a:t>专门的关系运算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2.4.1  </a:t>
            </a:r>
            <a:r>
              <a:rPr lang="zh-CN" altLang="en-US" u="sng" dirty="0"/>
              <a:t>关系代数概述</a:t>
            </a:r>
            <a:endParaRPr lang="zh-CN" altLang="en-US" u="sng"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1116013" y="1700213"/>
            <a:ext cx="655320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05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关系代数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关系代数运算的三个要素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05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关系代数运算的分类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2.4.1  </a:t>
            </a:r>
            <a:r>
              <a:rPr lang="zh-CN" altLang="en-US" u="sng" dirty="0"/>
              <a:t>关系代数概述</a:t>
            </a:r>
            <a:endParaRPr lang="zh-CN" altLang="en-US" u="sng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1066800" y="1143000"/>
            <a:ext cx="655320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关系代数概述（续）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关系代数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一种抽象的查询语言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	用对关系的运算来表达查询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2.4.1  </a:t>
            </a:r>
            <a:r>
              <a:rPr lang="zh-CN" altLang="en-US" u="sng" dirty="0"/>
              <a:t>关系代数概述</a:t>
            </a:r>
            <a:endParaRPr lang="zh-CN" altLang="en-US" u="sng" dirty="0"/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838200" y="1066800"/>
            <a:ext cx="762000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关系代数概述（续）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关系代数运算的三个要素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运算对象：关系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运算结果：关系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运算符：四类（集合、关系、比较、逻辑）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2.4.1  </a:t>
            </a:r>
            <a:r>
              <a:rPr lang="zh-CN" altLang="en-US" u="sng" dirty="0"/>
              <a:t>关系代数概述</a:t>
            </a:r>
            <a:endParaRPr lang="zh-CN" altLang="en-US" u="sng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838200" y="1066800"/>
            <a:ext cx="7620000" cy="560228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关系代数概述（续）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关系代数运算的分类</a:t>
            </a:r>
            <a:endParaRPr lang="zh-CN" altLang="en-US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zh-CN" altLang="en-US" dirty="0"/>
              <a:t>传统的集合运算</a:t>
            </a:r>
            <a:endParaRPr lang="zh-CN" altLang="en-US" dirty="0"/>
          </a:p>
          <a:p>
            <a:pPr lvl="2" algn="just" eaLnBrk="1" hangingPunct="1">
              <a:buNone/>
            </a:pPr>
            <a:r>
              <a:rPr lang="zh-CN" altLang="en-US" dirty="0"/>
              <a:t>            并、差、交、广义笛卡尔积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专门的关系运算</a:t>
            </a:r>
            <a:endParaRPr lang="zh-CN" altLang="en-US" dirty="0"/>
          </a:p>
          <a:p>
            <a:pPr lvl="2" algn="just" eaLnBrk="1" hangingPunct="1">
              <a:buNone/>
            </a:pPr>
            <a:r>
              <a:rPr lang="zh-CN" altLang="en-US" dirty="0"/>
              <a:t>            选择、投影、连接、除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en-US" altLang="zh-CN" dirty="0">
                <a:solidFill>
                  <a:schemeClr val="accent2"/>
                </a:solidFill>
              </a:rPr>
              <a:t>(</a:t>
            </a:r>
            <a:r>
              <a:rPr lang="zh-CN" altLang="en-US" dirty="0">
                <a:solidFill>
                  <a:schemeClr val="accent2"/>
                </a:solidFill>
              </a:rPr>
              <a:t>基本的关系运算</a:t>
            </a:r>
            <a:endParaRPr lang="zh-CN" altLang="en-US" dirty="0">
              <a:solidFill>
                <a:schemeClr val="accent2"/>
              </a:solidFill>
            </a:endParaRPr>
          </a:p>
          <a:p>
            <a:pPr lvl="2"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		并、差、广义笛卡尔积、选择、投影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扩展的关系运算</a:t>
            </a:r>
            <a:endParaRPr lang="zh-CN" altLang="en-US" dirty="0">
              <a:solidFill>
                <a:schemeClr val="accent2"/>
              </a:solidFill>
            </a:endParaRPr>
          </a:p>
          <a:p>
            <a:pPr lvl="2"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		</a:t>
            </a:r>
            <a:r>
              <a:rPr lang="en-US" altLang="zh-CN" dirty="0">
                <a:solidFill>
                  <a:schemeClr val="accent2"/>
                </a:solidFill>
              </a:rPr>
              <a:t>……)</a:t>
            </a:r>
            <a:endParaRPr lang="en-US" altLang="zh-CN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2.4.1  </a:t>
            </a:r>
            <a:r>
              <a:rPr lang="zh-CN" altLang="en-US" u="sng" dirty="0"/>
              <a:t>关系代数概述</a:t>
            </a:r>
            <a:endParaRPr lang="zh-CN" altLang="en-US" u="sng" dirty="0"/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609600" y="838200"/>
            <a:ext cx="7924800" cy="5410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关系代数概述（续）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集合运算符</a:t>
            </a:r>
            <a:endParaRPr lang="zh-CN" altLang="en-US" sz="2000" dirty="0"/>
          </a:p>
          <a:p>
            <a:pPr lvl="2" algn="just" eaLnBrk="1" hangingPunct="1"/>
            <a:r>
              <a:rPr lang="zh-CN" altLang="en-US" sz="2000" dirty="0"/>
              <a:t>将关系看成元组的集合</a:t>
            </a:r>
            <a:endParaRPr lang="zh-CN" altLang="en-US" sz="2000" dirty="0"/>
          </a:p>
          <a:p>
            <a:pPr lvl="2" algn="just" eaLnBrk="1" hangingPunct="1">
              <a:spcAft>
                <a:spcPct val="20000"/>
              </a:spcAft>
            </a:pPr>
            <a:r>
              <a:rPr lang="zh-CN" altLang="en-US" sz="2000" dirty="0"/>
              <a:t>运算是从关系的“水平”方向即行的角度来进行</a:t>
            </a:r>
            <a:endParaRPr lang="zh-CN" altLang="en-US" sz="1800" dirty="0"/>
          </a:p>
          <a:p>
            <a:pPr lvl="1" algn="just" eaLnBrk="1" hangingPunct="1"/>
            <a:r>
              <a:rPr lang="zh-CN" altLang="en-US" dirty="0"/>
              <a:t>专门的关系运算符</a:t>
            </a:r>
            <a:endParaRPr lang="zh-CN" altLang="en-US" dirty="0"/>
          </a:p>
          <a:p>
            <a:pPr lvl="2" algn="just" eaLnBrk="1" hangingPunct="1">
              <a:spcAft>
                <a:spcPct val="20000"/>
              </a:spcAft>
            </a:pPr>
            <a:r>
              <a:rPr lang="zh-CN" altLang="en-US" sz="2000" dirty="0"/>
              <a:t>不仅涉及行而且涉及列</a:t>
            </a:r>
            <a:endParaRPr lang="zh-CN" altLang="en-US" sz="2000" dirty="0"/>
          </a:p>
          <a:p>
            <a:pPr lvl="1" algn="just" eaLnBrk="1" hangingPunct="1"/>
            <a:r>
              <a:rPr lang="zh-CN" altLang="en-US" dirty="0"/>
              <a:t>算术比较符</a:t>
            </a:r>
            <a:endParaRPr lang="zh-CN" altLang="en-US" dirty="0"/>
          </a:p>
          <a:p>
            <a:pPr lvl="2" algn="just" eaLnBrk="1" hangingPunct="1">
              <a:spcAft>
                <a:spcPct val="20000"/>
              </a:spcAft>
            </a:pPr>
            <a:r>
              <a:rPr lang="zh-CN" altLang="en-US" sz="2000" dirty="0">
                <a:solidFill>
                  <a:srgbClr val="FF0000"/>
                </a:solidFill>
              </a:rPr>
              <a:t>辅助</a:t>
            </a:r>
            <a:r>
              <a:rPr lang="zh-CN" altLang="en-US" sz="2000" dirty="0"/>
              <a:t>专门的关系运算符进行操作</a:t>
            </a:r>
            <a:endParaRPr lang="zh-CN" altLang="en-US" sz="2000" dirty="0"/>
          </a:p>
          <a:p>
            <a:pPr lvl="1" algn="just" eaLnBrk="1" hangingPunct="1"/>
            <a:r>
              <a:rPr lang="zh-CN" altLang="en-US" dirty="0"/>
              <a:t>逻辑运算符</a:t>
            </a:r>
            <a:endParaRPr lang="zh-CN" altLang="en-US" sz="2400" dirty="0"/>
          </a:p>
          <a:p>
            <a:pPr lvl="2" algn="just" eaLnBrk="1" hangingPunct="1"/>
            <a:r>
              <a:rPr lang="zh-CN" altLang="en-US" sz="2000" dirty="0">
                <a:solidFill>
                  <a:srgbClr val="FF0000"/>
                </a:solidFill>
              </a:rPr>
              <a:t>辅助</a:t>
            </a:r>
            <a:r>
              <a:rPr lang="zh-CN" altLang="en-US" sz="2000" dirty="0"/>
              <a:t>专门的关系运算符进行操作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2.4.1  </a:t>
            </a:r>
            <a:r>
              <a:rPr lang="zh-CN" altLang="en-US" u="sng" dirty="0"/>
              <a:t>关系代数概述</a:t>
            </a:r>
            <a:endParaRPr lang="zh-CN" altLang="en-US" u="sng" dirty="0"/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609600" y="838200"/>
            <a:ext cx="7924800" cy="99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关系代数概述（续）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83972" name="Group 4"/>
          <p:cNvGraphicFramePr>
            <a:graphicFrameLocks noGrp="1"/>
          </p:cNvGraphicFramePr>
          <p:nvPr/>
        </p:nvGraphicFramePr>
        <p:xfrm>
          <a:off x="1295400" y="3124200"/>
          <a:ext cx="7010400" cy="3078163"/>
        </p:xfrm>
        <a:graphic>
          <a:graphicData uri="http://schemas.openxmlformats.org/drawingml/2006/table">
            <a:tbl>
              <a:tblPr/>
              <a:tblGrid>
                <a:gridCol w="685800"/>
                <a:gridCol w="1143000"/>
                <a:gridCol w="1600200"/>
                <a:gridCol w="685800"/>
                <a:gridCol w="1066800"/>
                <a:gridCol w="1828800"/>
              </a:tblGrid>
              <a:tr h="30781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集合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2" marB="4567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∪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∩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×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并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交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广义笛卡尔积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比较运算符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＞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≥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＜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≤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     ≠ 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大于等于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小于等于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等于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不等于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2" marB="456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3988" name="Group 20"/>
          <p:cNvGraphicFramePr>
            <a:graphicFrameLocks noGrp="1"/>
          </p:cNvGraphicFramePr>
          <p:nvPr/>
        </p:nvGraphicFramePr>
        <p:xfrm>
          <a:off x="1295400" y="2514600"/>
          <a:ext cx="7010400" cy="609600"/>
        </p:xfrm>
        <a:graphic>
          <a:graphicData uri="http://schemas.openxmlformats.org/drawingml/2006/table">
            <a:tbl>
              <a:tblPr/>
              <a:tblGrid>
                <a:gridCol w="1828800"/>
                <a:gridCol w="1600200"/>
                <a:gridCol w="1752600"/>
                <a:gridCol w="1828800"/>
              </a:tblGrid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含义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含义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7" name="Rectangle 36"/>
          <p:cNvSpPr/>
          <p:nvPr/>
        </p:nvSpPr>
        <p:spPr>
          <a:xfrm>
            <a:off x="1476375" y="1700213"/>
            <a:ext cx="6324600" cy="685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表</a:t>
            </a:r>
            <a:r>
              <a:rPr lang="en-US" altLang="zh-CN" sz="2400" dirty="0">
                <a:solidFill>
                  <a:schemeClr val="tx1"/>
                </a:solidFill>
              </a:rPr>
              <a:t>2.4  </a:t>
            </a:r>
            <a:r>
              <a:rPr lang="zh-CN" altLang="en-US" sz="2400" dirty="0">
                <a:solidFill>
                  <a:schemeClr val="tx1"/>
                </a:solidFill>
              </a:rPr>
              <a:t>关系代数运算符</a:t>
            </a:r>
            <a:r>
              <a:rPr lang="zh-CN" altLang="en-US" sz="2400" b="0" dirty="0">
                <a:solidFill>
                  <a:schemeClr val="tx1"/>
                </a:solidFill>
              </a:rPr>
              <a:t> 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2.4.1  </a:t>
            </a:r>
            <a:r>
              <a:rPr lang="zh-CN" altLang="en-US" u="sng" dirty="0"/>
              <a:t>关系代数概述</a:t>
            </a:r>
            <a:endParaRPr lang="zh-CN" altLang="en-US" u="sng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609600" y="838200"/>
            <a:ext cx="7924800" cy="990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关系代数概述（续）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84996" name="Group 4"/>
          <p:cNvGraphicFramePr>
            <a:graphicFrameLocks noGrp="1"/>
          </p:cNvGraphicFramePr>
          <p:nvPr/>
        </p:nvGraphicFramePr>
        <p:xfrm>
          <a:off x="1295400" y="3048000"/>
          <a:ext cx="7010400" cy="2566988"/>
        </p:xfrm>
        <a:graphic>
          <a:graphicData uri="http://schemas.openxmlformats.org/drawingml/2006/table">
            <a:tbl>
              <a:tblPr/>
              <a:tblGrid>
                <a:gridCol w="1447800"/>
                <a:gridCol w="1066800"/>
                <a:gridCol w="914400"/>
                <a:gridCol w="1447800"/>
                <a:gridCol w="1143000"/>
                <a:gridCol w="990600"/>
              </a:tblGrid>
              <a:tr h="2566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专门的关系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σ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π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÷ 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选择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投影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连接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除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逻辑运算符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∧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∨  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非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5012" name="Group 20"/>
          <p:cNvGraphicFramePr>
            <a:graphicFrameLocks noGrp="1"/>
          </p:cNvGraphicFramePr>
          <p:nvPr/>
        </p:nvGraphicFramePr>
        <p:xfrm>
          <a:off x="1295400" y="2438400"/>
          <a:ext cx="7010400" cy="609600"/>
        </p:xfrm>
        <a:graphic>
          <a:graphicData uri="http://schemas.openxmlformats.org/drawingml/2006/table">
            <a:tbl>
              <a:tblPr/>
              <a:tblGrid>
                <a:gridCol w="1447800"/>
                <a:gridCol w="1981200"/>
                <a:gridCol w="1447800"/>
                <a:gridCol w="2133600"/>
              </a:tblGrid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含义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运算符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含义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21" name="AutoShape 36"/>
          <p:cNvSpPr>
            <a:spLocks noChangeAspect="1"/>
          </p:cNvSpPr>
          <p:nvPr/>
        </p:nvSpPr>
        <p:spPr>
          <a:xfrm rot="5400000" flipV="1">
            <a:off x="3213100" y="4178300"/>
            <a:ext cx="203200" cy="381000"/>
          </a:xfrm>
          <a:prstGeom prst="flowChartCollate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2322" name="Rectangle 37"/>
          <p:cNvSpPr/>
          <p:nvPr/>
        </p:nvSpPr>
        <p:spPr>
          <a:xfrm>
            <a:off x="1752600" y="1676400"/>
            <a:ext cx="5943600" cy="609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表</a:t>
            </a:r>
            <a:r>
              <a:rPr lang="en-US" altLang="zh-CN" sz="2400" dirty="0">
                <a:solidFill>
                  <a:schemeClr val="tx1"/>
                </a:solidFill>
              </a:rPr>
              <a:t>2.4  </a:t>
            </a:r>
            <a:r>
              <a:rPr lang="zh-CN" altLang="en-US" sz="2400" dirty="0">
                <a:solidFill>
                  <a:schemeClr val="tx1"/>
                </a:solidFill>
              </a:rPr>
              <a:t>关系代数运算符（续）</a:t>
            </a:r>
            <a:r>
              <a:rPr lang="zh-CN" altLang="en-US" sz="2400" b="0" dirty="0">
                <a:solidFill>
                  <a:schemeClr val="tx1"/>
                </a:solidFill>
              </a:rPr>
              <a:t> 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2.4  </a:t>
            </a:r>
            <a:r>
              <a:rPr lang="zh-CN" altLang="en-US" dirty="0"/>
              <a:t>关系代数</a:t>
            </a:r>
            <a:endParaRPr lang="zh-CN" altLang="en-US" dirty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1066800" y="1143000"/>
            <a:ext cx="655320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2.4.1 </a:t>
            </a:r>
            <a:r>
              <a:rPr lang="zh-CN" altLang="en-US" dirty="0">
                <a:solidFill>
                  <a:schemeClr val="tx1"/>
                </a:solidFill>
              </a:rPr>
              <a:t>关系代数概述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2.4.2 </a:t>
            </a:r>
            <a:r>
              <a:rPr lang="zh-CN" altLang="en-US" dirty="0">
                <a:solidFill>
                  <a:srgbClr val="FF0000"/>
                </a:solidFill>
              </a:rPr>
              <a:t>传统的集合运算</a:t>
            </a:r>
            <a:endParaRPr lang="zh-CN" altLang="en-US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2.4.3 </a:t>
            </a:r>
            <a:r>
              <a:rPr lang="zh-CN" altLang="en-US" dirty="0">
                <a:solidFill>
                  <a:schemeClr val="tx1"/>
                </a:solidFill>
              </a:rPr>
              <a:t>专门的关系运算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2.4.2  </a:t>
            </a:r>
            <a:r>
              <a:rPr lang="zh-CN" altLang="en-US" dirty="0"/>
              <a:t>传统的集合运算</a:t>
            </a:r>
            <a:endParaRPr lang="zh-CN" altLang="en-US"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1143000" y="1295400"/>
            <a:ext cx="6553200" cy="3352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并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差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交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4. </a:t>
            </a:r>
            <a:r>
              <a:rPr lang="zh-CN" altLang="en-US" dirty="0">
                <a:solidFill>
                  <a:schemeClr val="tx1"/>
                </a:solidFill>
              </a:rPr>
              <a:t>广义笛卡尔积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4648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1. </a:t>
            </a:r>
            <a:r>
              <a:rPr lang="zh-CN" altLang="en-US" dirty="0">
                <a:solidFill>
                  <a:schemeClr val="tx1"/>
                </a:solidFill>
              </a:rPr>
              <a:t>并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chemeClr val="accent2"/>
                </a:solidFill>
              </a:rPr>
              <a:t>和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endParaRPr lang="en-US" altLang="zh-CN" i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algn="just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r>
              <a:rPr lang="zh-CN" altLang="en-US" dirty="0"/>
              <a:t>（即两个关系都有</a:t>
            </a:r>
            <a:r>
              <a:rPr lang="en-US" altLang="zh-CN" i="1" dirty="0"/>
              <a:t>n</a:t>
            </a:r>
            <a:r>
              <a:rPr lang="zh-CN" altLang="en-US" dirty="0"/>
              <a:t>个属性）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相应的属性取自同一个域</a:t>
            </a:r>
            <a:r>
              <a:rPr lang="en-US" altLang="zh-CN" dirty="0"/>
              <a:t>(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</a:rPr>
              <a:t>对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个属性的域必须和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个属性的域相同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/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∪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dirty="0"/>
              <a:t>仍为</a:t>
            </a:r>
            <a:r>
              <a:rPr lang="en-US" altLang="zh-CN" dirty="0"/>
              <a:t>n</a:t>
            </a:r>
            <a:r>
              <a:rPr lang="zh-CN" altLang="en-US" dirty="0"/>
              <a:t>目关系，由属于</a:t>
            </a:r>
            <a:r>
              <a:rPr lang="en-US" altLang="zh-CN" i="1" dirty="0"/>
              <a:t>R</a:t>
            </a:r>
            <a:r>
              <a:rPr lang="zh-CN" altLang="en-US" dirty="0"/>
              <a:t>或属于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sz="3200" i="1" dirty="0">
                <a:latin typeface="Arial" panose="020B0604020202020204" pitchFamily="34" charset="0"/>
              </a:rPr>
              <a:t>             </a:t>
            </a:r>
            <a:r>
              <a:rPr lang="en-US" altLang="zh-CN" sz="3200" i="1" dirty="0">
                <a:latin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</a:rPr>
              <a:t>∪</a:t>
            </a:r>
            <a:r>
              <a:rPr lang="en-US" altLang="zh-CN" sz="3200" i="1" dirty="0">
                <a:latin typeface="Arial" panose="020B0604020202020204" pitchFamily="34" charset="0"/>
              </a:rPr>
              <a:t>S</a:t>
            </a:r>
            <a:r>
              <a:rPr lang="en-US" altLang="zh-CN" sz="3200" dirty="0">
                <a:latin typeface="Arial" panose="020B0604020202020204" pitchFamily="34" charset="0"/>
              </a:rPr>
              <a:t> = { </a:t>
            </a:r>
            <a:r>
              <a:rPr lang="en-US" altLang="zh-CN" sz="3200" i="1" dirty="0">
                <a:latin typeface="Arial" panose="020B0604020202020204" pitchFamily="34" charset="0"/>
              </a:rPr>
              <a:t>t </a:t>
            </a:r>
            <a:r>
              <a:rPr lang="en-US" altLang="zh-CN" sz="3200" dirty="0">
                <a:latin typeface="Arial" panose="020B0604020202020204" pitchFamily="34" charset="0"/>
              </a:rPr>
              <a:t>| </a:t>
            </a:r>
            <a:r>
              <a:rPr lang="en-US" altLang="zh-CN" sz="3200" i="1" dirty="0">
                <a:latin typeface="Arial" panose="020B0604020202020204" pitchFamily="34" charset="0"/>
              </a:rPr>
              <a:t>t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i="1" dirty="0">
                <a:latin typeface="Arial" panose="020B0604020202020204" pitchFamily="34" charset="0"/>
              </a:rPr>
              <a:t>R </a:t>
            </a:r>
            <a:r>
              <a:rPr lang="en-US" altLang="zh-CN" sz="3200" dirty="0">
                <a:latin typeface="Arial" panose="020B0604020202020204" pitchFamily="34" charset="0"/>
              </a:rPr>
              <a:t>∨ </a:t>
            </a:r>
            <a:r>
              <a:rPr lang="en-US" altLang="zh-CN" sz="3200" i="1" dirty="0">
                <a:latin typeface="Arial" panose="020B0604020202020204" pitchFamily="34" charset="0"/>
              </a:rPr>
              <a:t>t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i="1" dirty="0">
                <a:latin typeface="Arial" panose="020B0604020202020204" pitchFamily="34" charset="0"/>
              </a:rPr>
              <a:t>S </a:t>
            </a:r>
            <a:r>
              <a:rPr lang="en-US" altLang="zh-CN" sz="3200" dirty="0">
                <a:latin typeface="Arial" panose="020B0604020202020204" pitchFamily="34" charset="0"/>
              </a:rPr>
              <a:t>}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5365" name="Group 4"/>
          <p:cNvGrpSpPr/>
          <p:nvPr/>
        </p:nvGrpSpPr>
        <p:grpSpPr>
          <a:xfrm>
            <a:off x="5181600" y="1066800"/>
            <a:ext cx="2667000" cy="1143000"/>
            <a:chOff x="1776" y="2256"/>
            <a:chExt cx="1680" cy="720"/>
          </a:xfrm>
        </p:grpSpPr>
        <p:sp>
          <p:nvSpPr>
            <p:cNvPr id="15366" name="Oval 5" descr="宽上对角线"/>
            <p:cNvSpPr/>
            <p:nvPr/>
          </p:nvSpPr>
          <p:spPr>
            <a:xfrm>
              <a:off x="2352" y="2256"/>
              <a:ext cx="1104" cy="720"/>
            </a:xfrm>
            <a:prstGeom prst="ellipse">
              <a:avLst/>
            </a:prstGeom>
            <a:blipFill rotWithShape="0">
              <a:blip r:embed="rId1"/>
            </a:blip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5367" name="Oval 6" descr="宽上对角线"/>
            <p:cNvSpPr/>
            <p:nvPr/>
          </p:nvSpPr>
          <p:spPr>
            <a:xfrm>
              <a:off x="1776" y="2256"/>
              <a:ext cx="1104" cy="720"/>
            </a:xfrm>
            <a:prstGeom prst="ellipse">
              <a:avLst/>
            </a:prstGeom>
            <a:blipFill rotWithShape="0">
              <a:blip r:embed="rId1"/>
            </a:blip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5368" name="Oval 7" descr="宽上对角线"/>
            <p:cNvSpPr/>
            <p:nvPr/>
          </p:nvSpPr>
          <p:spPr>
            <a:xfrm>
              <a:off x="2352" y="2256"/>
              <a:ext cx="1104" cy="7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5369" name="Text Box 8"/>
            <p:cNvSpPr txBox="1"/>
            <p:nvPr/>
          </p:nvSpPr>
          <p:spPr>
            <a:xfrm>
              <a:off x="2304" y="2380"/>
              <a:ext cx="72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</a:rPr>
                <a:t>R</a:t>
              </a:r>
              <a:r>
                <a:rPr lang="en-US" altLang="zh-CN" dirty="0">
                  <a:solidFill>
                    <a:schemeClr val="tx1"/>
                  </a:solidFill>
                  <a:sym typeface="Symbol" panose="05050102010706020507" pitchFamily="18" charset="2"/>
                </a:rPr>
                <a:t></a:t>
              </a:r>
              <a:r>
                <a:rPr lang="en-US" altLang="zh-CN" dirty="0">
                  <a:solidFill>
                    <a:schemeClr val="tx1"/>
                  </a:solidFill>
                </a:rPr>
                <a:t>S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609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并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95236" name="Group 4"/>
          <p:cNvGraphicFramePr>
            <a:graphicFrameLocks noGrp="1"/>
          </p:cNvGraphicFramePr>
          <p:nvPr/>
        </p:nvGraphicFramePr>
        <p:xfrm>
          <a:off x="1676400" y="1828800"/>
          <a:ext cx="2743200" cy="207327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5260" name="Group 28"/>
          <p:cNvGraphicFramePr>
            <a:graphicFrameLocks noGrp="1"/>
          </p:cNvGraphicFramePr>
          <p:nvPr/>
        </p:nvGraphicFramePr>
        <p:xfrm>
          <a:off x="5867400" y="2819400"/>
          <a:ext cx="2743200" cy="260667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3353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8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5288" name="Group 56"/>
          <p:cNvGraphicFramePr>
            <a:graphicFrameLocks noGrp="1"/>
          </p:cNvGraphicFramePr>
          <p:nvPr/>
        </p:nvGraphicFramePr>
        <p:xfrm>
          <a:off x="1752600" y="4419600"/>
          <a:ext cx="2667000" cy="2073275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59" name="Rectangle 80"/>
          <p:cNvSpPr/>
          <p:nvPr/>
        </p:nvSpPr>
        <p:spPr>
          <a:xfrm>
            <a:off x="1143000" y="22860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sz="2400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460" name="Rectangle 81"/>
          <p:cNvSpPr/>
          <p:nvPr/>
        </p:nvSpPr>
        <p:spPr>
          <a:xfrm>
            <a:off x="1219200" y="48006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sz="2400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461" name="Rectangle 82"/>
          <p:cNvSpPr/>
          <p:nvPr/>
        </p:nvSpPr>
        <p:spPr>
          <a:xfrm>
            <a:off x="6781800" y="1600200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∪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462" name="Line 83"/>
          <p:cNvSpPr/>
          <p:nvPr/>
        </p:nvSpPr>
        <p:spPr>
          <a:xfrm>
            <a:off x="4419600" y="2590800"/>
            <a:ext cx="1371600" cy="99060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63" name="Line 84"/>
          <p:cNvSpPr/>
          <p:nvPr/>
        </p:nvSpPr>
        <p:spPr>
          <a:xfrm>
            <a:off x="4419600" y="3124200"/>
            <a:ext cx="1447800" cy="106680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64" name="Line 85"/>
          <p:cNvSpPr/>
          <p:nvPr/>
        </p:nvSpPr>
        <p:spPr>
          <a:xfrm>
            <a:off x="4419600" y="3581400"/>
            <a:ext cx="1447800" cy="160020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65" name="Line 86"/>
          <p:cNvSpPr/>
          <p:nvPr/>
        </p:nvSpPr>
        <p:spPr>
          <a:xfrm flipV="1">
            <a:off x="4419600" y="4267200"/>
            <a:ext cx="1371600" cy="91440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66" name="Line 87"/>
          <p:cNvSpPr/>
          <p:nvPr/>
        </p:nvSpPr>
        <p:spPr>
          <a:xfrm flipV="1">
            <a:off x="4419600" y="4648200"/>
            <a:ext cx="1447800" cy="106680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467" name="Line 88"/>
          <p:cNvSpPr/>
          <p:nvPr/>
        </p:nvSpPr>
        <p:spPr>
          <a:xfrm flipV="1">
            <a:off x="4419600" y="5257800"/>
            <a:ext cx="1447800" cy="990600"/>
          </a:xfrm>
          <a:prstGeom prst="line">
            <a:avLst/>
          </a:prstGeom>
          <a:ln w="28575" cap="sq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609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并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7413" name="Rectangle 4"/>
          <p:cNvSpPr/>
          <p:nvPr/>
        </p:nvSpPr>
        <p:spPr>
          <a:xfrm>
            <a:off x="1143000" y="22860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sz="2400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4" name="Rectangle 5"/>
          <p:cNvSpPr/>
          <p:nvPr/>
        </p:nvSpPr>
        <p:spPr>
          <a:xfrm>
            <a:off x="1219200" y="48006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sz="2400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5" name="Rectangle 6"/>
          <p:cNvSpPr/>
          <p:nvPr/>
        </p:nvSpPr>
        <p:spPr>
          <a:xfrm>
            <a:off x="6781800" y="1600200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∪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sz="2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6263" name="Group 7"/>
          <p:cNvGraphicFramePr>
            <a:graphicFrameLocks noGrp="1"/>
          </p:cNvGraphicFramePr>
          <p:nvPr/>
        </p:nvGraphicFramePr>
        <p:xfrm>
          <a:off x="1752600" y="1676400"/>
          <a:ext cx="2743200" cy="2209800"/>
        </p:xfrm>
        <a:graphic>
          <a:graphicData uri="http://schemas.openxmlformats.org/drawingml/2006/table">
            <a:tbl>
              <a:tblPr/>
              <a:tblGrid>
                <a:gridCol w="914400"/>
                <a:gridCol w="1028700"/>
                <a:gridCol w="800100"/>
              </a:tblGrid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285" name="Group 29"/>
          <p:cNvGraphicFramePr>
            <a:graphicFrameLocks noGrp="1"/>
          </p:cNvGraphicFramePr>
          <p:nvPr/>
        </p:nvGraphicFramePr>
        <p:xfrm>
          <a:off x="1752600" y="4343400"/>
          <a:ext cx="2743200" cy="1600200"/>
        </p:xfrm>
        <a:graphic>
          <a:graphicData uri="http://schemas.openxmlformats.org/drawingml/2006/table">
            <a:tbl>
              <a:tblPr/>
              <a:tblGrid>
                <a:gridCol w="1014413"/>
                <a:gridCol w="814387"/>
                <a:gridCol w="914400"/>
              </a:tblGrid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303" name="Group 47"/>
          <p:cNvGraphicFramePr>
            <a:graphicFrameLocks noGrp="1"/>
          </p:cNvGraphicFramePr>
          <p:nvPr/>
        </p:nvGraphicFramePr>
        <p:xfrm>
          <a:off x="5638800" y="2667000"/>
          <a:ext cx="2971800" cy="2592388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990600"/>
              </a:tblGrid>
              <a:tr h="518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9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4648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2. </a:t>
            </a:r>
            <a:r>
              <a:rPr lang="zh-CN" altLang="en-US" dirty="0">
                <a:solidFill>
                  <a:schemeClr val="tx1"/>
                </a:solidFill>
              </a:rPr>
              <a:t>差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chemeClr val="accent2"/>
                </a:solidFill>
              </a:rPr>
              <a:t>和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endParaRPr lang="en-US" altLang="zh-CN" i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algn="just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r>
              <a:rPr lang="zh-CN" altLang="en-US" dirty="0"/>
              <a:t>（即两个关系都有</a:t>
            </a:r>
            <a:r>
              <a:rPr lang="en-US" altLang="zh-CN" i="1" dirty="0"/>
              <a:t>n</a:t>
            </a:r>
            <a:r>
              <a:rPr lang="zh-CN" altLang="en-US" dirty="0"/>
              <a:t>个属性）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相应的属性取自同一个域</a:t>
            </a:r>
            <a:r>
              <a:rPr lang="en-US" altLang="zh-CN" dirty="0"/>
              <a:t>(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</a:rPr>
              <a:t>对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个属性的域必须和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个属性的域相同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/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 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-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dirty="0"/>
              <a:t>仍为</a:t>
            </a:r>
            <a:r>
              <a:rPr lang="en-US" altLang="zh-CN" dirty="0"/>
              <a:t>n</a:t>
            </a:r>
            <a:r>
              <a:rPr lang="zh-CN" altLang="en-US" dirty="0"/>
              <a:t>目关系，由属于</a:t>
            </a:r>
            <a:r>
              <a:rPr lang="en-US" altLang="zh-CN" i="1" dirty="0"/>
              <a:t>R</a:t>
            </a:r>
            <a:r>
              <a:rPr lang="zh-CN" altLang="en-US" dirty="0"/>
              <a:t>但不属于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sz="3200" i="1" dirty="0">
                <a:latin typeface="Arial" panose="020B0604020202020204" pitchFamily="34" charset="0"/>
              </a:rPr>
              <a:t>             </a:t>
            </a:r>
            <a:r>
              <a:rPr lang="en-US" altLang="zh-CN" sz="3200" i="1" dirty="0">
                <a:latin typeface="Arial" panose="020B0604020202020204" pitchFamily="34" charset="0"/>
              </a:rPr>
              <a:t>R </a:t>
            </a:r>
            <a:r>
              <a:rPr lang="en-US" altLang="zh-CN" sz="3200" dirty="0">
                <a:latin typeface="Arial" panose="020B0604020202020204" pitchFamily="34" charset="0"/>
              </a:rPr>
              <a:t>- </a:t>
            </a:r>
            <a:r>
              <a:rPr lang="en-US" altLang="zh-CN" sz="3200" i="1" dirty="0">
                <a:latin typeface="Arial" panose="020B0604020202020204" pitchFamily="34" charset="0"/>
              </a:rPr>
              <a:t>S</a:t>
            </a:r>
            <a:r>
              <a:rPr lang="en-US" altLang="zh-CN" sz="3200" dirty="0">
                <a:latin typeface="Arial" panose="020B0604020202020204" pitchFamily="34" charset="0"/>
              </a:rPr>
              <a:t>  =  { </a:t>
            </a:r>
            <a:r>
              <a:rPr lang="en-US" altLang="zh-CN" sz="3200" i="1" dirty="0">
                <a:latin typeface="Arial" panose="020B0604020202020204" pitchFamily="34" charset="0"/>
              </a:rPr>
              <a:t>t </a:t>
            </a:r>
            <a:r>
              <a:rPr lang="en-US" altLang="zh-CN" sz="3200" dirty="0">
                <a:latin typeface="Arial" panose="020B0604020202020204" pitchFamily="34" charset="0"/>
              </a:rPr>
              <a:t>| </a:t>
            </a:r>
            <a:r>
              <a:rPr lang="en-US" altLang="zh-CN" sz="3200" i="1" dirty="0">
                <a:latin typeface="Arial" panose="020B0604020202020204" pitchFamily="34" charset="0"/>
              </a:rPr>
              <a:t>t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i="1" dirty="0">
                <a:latin typeface="Arial" panose="020B0604020202020204" pitchFamily="34" charset="0"/>
              </a:rPr>
              <a:t>R </a:t>
            </a:r>
            <a:r>
              <a:rPr lang="en-US" altLang="zh-CN" sz="3200" dirty="0">
                <a:latin typeface="Arial" panose="020B0604020202020204" pitchFamily="34" charset="0"/>
              </a:rPr>
              <a:t>∧ </a:t>
            </a:r>
            <a:r>
              <a:rPr lang="en-US" altLang="zh-CN" sz="3200" i="1" dirty="0">
                <a:latin typeface="Arial" panose="020B0604020202020204" pitchFamily="34" charset="0"/>
              </a:rPr>
              <a:t>t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200" i="1" dirty="0">
                <a:latin typeface="Arial" panose="020B0604020202020204" pitchFamily="34" charset="0"/>
              </a:rPr>
              <a:t>S</a:t>
            </a:r>
            <a:r>
              <a:rPr lang="en-US" altLang="zh-CN" sz="3200" dirty="0">
                <a:latin typeface="Arial" panose="020B0604020202020204" pitchFamily="34" charset="0"/>
              </a:rPr>
              <a:t> }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grpSp>
        <p:nvGrpSpPr>
          <p:cNvPr id="18437" name="Group 4"/>
          <p:cNvGrpSpPr/>
          <p:nvPr/>
        </p:nvGrpSpPr>
        <p:grpSpPr>
          <a:xfrm>
            <a:off x="4267200" y="1143000"/>
            <a:ext cx="2971800" cy="1143000"/>
            <a:chOff x="2688" y="720"/>
            <a:chExt cx="1872" cy="720"/>
          </a:xfrm>
        </p:grpSpPr>
        <p:sp>
          <p:nvSpPr>
            <p:cNvPr id="18438" name="Oval 5" descr="宽上对角线"/>
            <p:cNvSpPr/>
            <p:nvPr/>
          </p:nvSpPr>
          <p:spPr>
            <a:xfrm>
              <a:off x="2688" y="720"/>
              <a:ext cx="1104" cy="720"/>
            </a:xfrm>
            <a:prstGeom prst="ellipse">
              <a:avLst/>
            </a:prstGeom>
            <a:blipFill rotWithShape="0">
              <a:blip r:embed="rId1"/>
            </a:blip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8439" name="Oval 6" descr="小棋盘"/>
            <p:cNvSpPr/>
            <p:nvPr/>
          </p:nvSpPr>
          <p:spPr>
            <a:xfrm>
              <a:off x="2688" y="720"/>
              <a:ext cx="1104" cy="720"/>
            </a:xfrm>
            <a:prstGeom prst="ellipse">
              <a:avLst/>
            </a:prstGeom>
            <a:blipFill rotWithShape="0">
              <a:blip r:embed="rId2"/>
            </a:blip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8440" name="Text Box 7"/>
            <p:cNvSpPr txBox="1"/>
            <p:nvPr/>
          </p:nvSpPr>
          <p:spPr>
            <a:xfrm>
              <a:off x="2832" y="864"/>
              <a:ext cx="72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600" dirty="0">
                  <a:solidFill>
                    <a:schemeClr val="tx1"/>
                  </a:solidFill>
                </a:rPr>
                <a:t>R</a:t>
              </a:r>
              <a:r>
                <a:rPr lang="en-US" altLang="zh-CN" sz="3600" dirty="0">
                  <a:solidFill>
                    <a:schemeClr val="tx1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3600" dirty="0">
                  <a:solidFill>
                    <a:schemeClr val="tx1"/>
                  </a:solidFill>
                </a:rPr>
                <a:t>S</a:t>
              </a:r>
              <a:endParaRPr lang="en-US" altLang="zh-CN" sz="3600" dirty="0">
                <a:solidFill>
                  <a:schemeClr val="tx1"/>
                </a:solidFill>
              </a:endParaRPr>
            </a:p>
          </p:txBody>
        </p:sp>
        <p:sp>
          <p:nvSpPr>
            <p:cNvPr id="18441" name="Oval 8"/>
            <p:cNvSpPr/>
            <p:nvPr/>
          </p:nvSpPr>
          <p:spPr>
            <a:xfrm>
              <a:off x="3456" y="720"/>
              <a:ext cx="1104" cy="72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685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差（续）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98308" name="Group 4"/>
          <p:cNvGraphicFramePr>
            <a:graphicFrameLocks noGrp="1"/>
          </p:cNvGraphicFramePr>
          <p:nvPr/>
        </p:nvGraphicFramePr>
        <p:xfrm>
          <a:off x="1676400" y="1828800"/>
          <a:ext cx="2743200" cy="207327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332" name="Group 28"/>
          <p:cNvGraphicFramePr>
            <a:graphicFrameLocks noGrp="1"/>
          </p:cNvGraphicFramePr>
          <p:nvPr/>
        </p:nvGraphicFramePr>
        <p:xfrm>
          <a:off x="5867400" y="3429000"/>
          <a:ext cx="2743200" cy="1036638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8348" name="Group 44"/>
          <p:cNvGraphicFramePr>
            <a:graphicFrameLocks noGrp="1"/>
          </p:cNvGraphicFramePr>
          <p:nvPr/>
        </p:nvGraphicFramePr>
        <p:xfrm>
          <a:off x="1752600" y="4419600"/>
          <a:ext cx="2667000" cy="2073275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519" name="Rectangle 68"/>
          <p:cNvSpPr/>
          <p:nvPr/>
        </p:nvSpPr>
        <p:spPr>
          <a:xfrm>
            <a:off x="685800" y="21336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520" name="Rectangle 69"/>
          <p:cNvSpPr/>
          <p:nvPr/>
        </p:nvSpPr>
        <p:spPr>
          <a:xfrm>
            <a:off x="609600" y="46482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521" name="Rectangle 70"/>
          <p:cNvSpPr/>
          <p:nvPr/>
        </p:nvSpPr>
        <p:spPr>
          <a:xfrm>
            <a:off x="6629400" y="1981200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609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差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0485" name="Rectangle 4"/>
          <p:cNvSpPr/>
          <p:nvPr/>
        </p:nvSpPr>
        <p:spPr>
          <a:xfrm>
            <a:off x="685800" y="22098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86" name="Rectangle 5"/>
          <p:cNvSpPr/>
          <p:nvPr/>
        </p:nvSpPr>
        <p:spPr>
          <a:xfrm>
            <a:off x="762000" y="45720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87" name="Rectangle 6"/>
          <p:cNvSpPr/>
          <p:nvPr/>
        </p:nvSpPr>
        <p:spPr>
          <a:xfrm>
            <a:off x="6781800" y="1600200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99335" name="Group 7"/>
          <p:cNvGraphicFramePr>
            <a:graphicFrameLocks noGrp="1"/>
          </p:cNvGraphicFramePr>
          <p:nvPr/>
        </p:nvGraphicFramePr>
        <p:xfrm>
          <a:off x="1752600" y="1676400"/>
          <a:ext cx="2743200" cy="2228850"/>
        </p:xfrm>
        <a:graphic>
          <a:graphicData uri="http://schemas.openxmlformats.org/drawingml/2006/table">
            <a:tbl>
              <a:tblPr/>
              <a:tblGrid>
                <a:gridCol w="914400"/>
                <a:gridCol w="1028700"/>
                <a:gridCol w="800100"/>
              </a:tblGrid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357" name="Group 29"/>
          <p:cNvGraphicFramePr>
            <a:graphicFrameLocks noGrp="1"/>
          </p:cNvGraphicFramePr>
          <p:nvPr/>
        </p:nvGraphicFramePr>
        <p:xfrm>
          <a:off x="1752600" y="4343400"/>
          <a:ext cx="2743200" cy="1600200"/>
        </p:xfrm>
        <a:graphic>
          <a:graphicData uri="http://schemas.openxmlformats.org/drawingml/2006/table">
            <a:tbl>
              <a:tblPr/>
              <a:tblGrid>
                <a:gridCol w="1014413"/>
                <a:gridCol w="814387"/>
                <a:gridCol w="914400"/>
              </a:tblGrid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9375" name="Group 47"/>
          <p:cNvGraphicFramePr>
            <a:graphicFrameLocks noGrp="1"/>
          </p:cNvGraphicFramePr>
          <p:nvPr/>
        </p:nvGraphicFramePr>
        <p:xfrm>
          <a:off x="5638800" y="2667000"/>
          <a:ext cx="2971800" cy="1555750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990600"/>
              </a:tblGrid>
              <a:tr h="518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82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82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5" marB="456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395288" y="1282700"/>
            <a:ext cx="83058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交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chemeClr val="accent2"/>
                </a:solidFill>
              </a:rPr>
              <a:t>和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endParaRPr lang="en-US" altLang="zh-CN" i="1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algn="just" eaLnBrk="1" hangingPunct="1"/>
            <a:r>
              <a:rPr lang="zh-CN" altLang="en-US" dirty="0"/>
              <a:t>具有相同的目</a:t>
            </a:r>
            <a:r>
              <a:rPr lang="en-US" altLang="zh-CN" i="1" dirty="0"/>
              <a:t>n</a:t>
            </a:r>
            <a:r>
              <a:rPr lang="zh-CN" altLang="en-US" dirty="0"/>
              <a:t>（即两个关系都有</a:t>
            </a:r>
            <a:r>
              <a:rPr lang="en-US" altLang="zh-CN" i="1" dirty="0"/>
              <a:t>n</a:t>
            </a:r>
            <a:r>
              <a:rPr lang="zh-CN" altLang="en-US" dirty="0"/>
              <a:t>个属性）</a:t>
            </a:r>
            <a:endParaRPr lang="zh-CN" altLang="en-US" dirty="0"/>
          </a:p>
          <a:p>
            <a:pPr lvl="1" algn="just" eaLnBrk="1" hangingPunct="1"/>
            <a:r>
              <a:rPr lang="zh-CN" altLang="en-US" dirty="0"/>
              <a:t>相应的属性取自同一个域</a:t>
            </a:r>
            <a:r>
              <a:rPr lang="en-US" altLang="zh-CN" dirty="0"/>
              <a:t>(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</a:rPr>
              <a:t>对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个属性的域必须和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S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i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个属性的域相同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/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 </a:t>
            </a:r>
            <a:r>
              <a:rPr lang="en-US" altLang="zh-CN" dirty="0">
                <a:solidFill>
                  <a:schemeClr val="accent2"/>
                </a:solidFill>
              </a:rPr>
              <a:t>∩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dirty="0"/>
              <a:t>仍为</a:t>
            </a:r>
            <a:r>
              <a:rPr lang="en-US" altLang="zh-CN" dirty="0"/>
              <a:t>n</a:t>
            </a:r>
            <a:r>
              <a:rPr lang="zh-CN" altLang="en-US" dirty="0"/>
              <a:t>目关系，由既属于</a:t>
            </a:r>
            <a:r>
              <a:rPr lang="en-US" altLang="zh-CN" i="1" dirty="0"/>
              <a:t>R</a:t>
            </a:r>
            <a:r>
              <a:rPr lang="zh-CN" altLang="en-US" dirty="0"/>
              <a:t>又属于</a:t>
            </a:r>
            <a:r>
              <a:rPr lang="en-US" altLang="zh-CN" i="1" dirty="0"/>
              <a:t>S</a:t>
            </a:r>
            <a:r>
              <a:rPr lang="zh-CN" altLang="en-US" dirty="0"/>
              <a:t>的元组组成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sz="3200" i="1" dirty="0">
                <a:latin typeface="Arial" panose="020B0604020202020204" pitchFamily="34" charset="0"/>
              </a:rPr>
              <a:t>             </a:t>
            </a:r>
            <a:r>
              <a:rPr lang="en-US" altLang="zh-CN" sz="3200" i="1" dirty="0">
                <a:latin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</a:rPr>
              <a:t>∩</a:t>
            </a:r>
            <a:r>
              <a:rPr lang="en-US" altLang="zh-CN" sz="3200" i="1" dirty="0">
                <a:latin typeface="Arial" panose="020B0604020202020204" pitchFamily="34" charset="0"/>
              </a:rPr>
              <a:t>S</a:t>
            </a:r>
            <a:r>
              <a:rPr lang="en-US" altLang="zh-CN" sz="3200" dirty="0">
                <a:latin typeface="Arial" panose="020B0604020202020204" pitchFamily="34" charset="0"/>
              </a:rPr>
              <a:t> = { </a:t>
            </a:r>
            <a:r>
              <a:rPr lang="en-US" altLang="zh-CN" sz="3200" i="1" dirty="0">
                <a:latin typeface="Arial" panose="020B0604020202020204" pitchFamily="34" charset="0"/>
              </a:rPr>
              <a:t>t</a:t>
            </a:r>
            <a:r>
              <a:rPr lang="en-US" altLang="zh-CN" sz="3200" dirty="0">
                <a:latin typeface="Arial" panose="020B0604020202020204" pitchFamily="34" charset="0"/>
              </a:rPr>
              <a:t>|</a:t>
            </a:r>
            <a:r>
              <a:rPr lang="en-US" altLang="zh-CN" sz="3200" i="1" dirty="0">
                <a:latin typeface="Arial" panose="020B0604020202020204" pitchFamily="34" charset="0"/>
              </a:rPr>
              <a:t>t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i="1" dirty="0">
                <a:latin typeface="Arial" panose="020B0604020202020204" pitchFamily="34" charset="0"/>
              </a:rPr>
              <a:t>R </a:t>
            </a:r>
            <a:r>
              <a:rPr lang="en-US" altLang="zh-CN" sz="3200" dirty="0">
                <a:latin typeface="Arial" panose="020B0604020202020204" pitchFamily="34" charset="0"/>
              </a:rPr>
              <a:t>∧ </a:t>
            </a:r>
            <a:r>
              <a:rPr lang="en-US" altLang="zh-CN" sz="3200" i="1" dirty="0">
                <a:latin typeface="Arial" panose="020B0604020202020204" pitchFamily="34" charset="0"/>
              </a:rPr>
              <a:t>t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200" i="1" dirty="0">
                <a:latin typeface="Arial" panose="020B0604020202020204" pitchFamily="34" charset="0"/>
              </a:rPr>
              <a:t>S </a:t>
            </a:r>
            <a:r>
              <a:rPr lang="en-US" altLang="zh-CN" sz="3200" dirty="0">
                <a:latin typeface="Arial" panose="020B0604020202020204" pitchFamily="34" charset="0"/>
              </a:rPr>
              <a:t>}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vl="1" algn="just" eaLnBrk="1" hangingPunct="1">
              <a:buNone/>
            </a:pPr>
            <a:r>
              <a:rPr lang="en-US" altLang="zh-CN" sz="3200" i="1" dirty="0">
                <a:latin typeface="Arial" panose="020B0604020202020204" pitchFamily="34" charset="0"/>
              </a:rPr>
              <a:t>        	 R</a:t>
            </a:r>
            <a:r>
              <a:rPr lang="en-US" altLang="zh-CN" sz="3200" dirty="0">
                <a:latin typeface="Arial" panose="020B0604020202020204" pitchFamily="34" charset="0"/>
              </a:rPr>
              <a:t>∩</a:t>
            </a:r>
            <a:r>
              <a:rPr lang="en-US" altLang="zh-CN" sz="3200" i="1" dirty="0">
                <a:latin typeface="Arial" panose="020B0604020202020204" pitchFamily="34" charset="0"/>
              </a:rPr>
              <a:t>S</a:t>
            </a:r>
            <a:r>
              <a:rPr lang="en-US" altLang="zh-CN" sz="3200" dirty="0">
                <a:latin typeface="Arial" panose="020B0604020202020204" pitchFamily="34" charset="0"/>
              </a:rPr>
              <a:t> = </a:t>
            </a:r>
            <a:r>
              <a:rPr lang="en-US" altLang="zh-CN" sz="3200" i="1" dirty="0">
                <a:latin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</a:rPr>
              <a:t> - (</a:t>
            </a:r>
            <a:r>
              <a:rPr lang="en-US" altLang="zh-CN" sz="3200" i="1" dirty="0">
                <a:latin typeface="Arial" panose="020B0604020202020204" pitchFamily="34" charset="0"/>
              </a:rPr>
              <a:t>R </a:t>
            </a:r>
            <a:r>
              <a:rPr lang="en-US" altLang="zh-CN" sz="3200" dirty="0">
                <a:latin typeface="Arial" panose="020B0604020202020204" pitchFamily="34" charset="0"/>
              </a:rPr>
              <a:t>- </a:t>
            </a:r>
            <a:r>
              <a:rPr lang="en-US" altLang="zh-CN" sz="3200" i="1" dirty="0">
                <a:latin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</a:rPr>
              <a:t>）</a:t>
            </a:r>
            <a:r>
              <a:rPr lang="en-US" altLang="zh-CN" sz="3200" dirty="0">
                <a:latin typeface="Arial" panose="020B0604020202020204" pitchFamily="34" charset="0"/>
              </a:rPr>
              <a:t>= S - (S - R)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grpSp>
        <p:nvGrpSpPr>
          <p:cNvPr id="21509" name="Group 4"/>
          <p:cNvGrpSpPr/>
          <p:nvPr/>
        </p:nvGrpSpPr>
        <p:grpSpPr>
          <a:xfrm>
            <a:off x="4419600" y="1143000"/>
            <a:ext cx="2662238" cy="1143000"/>
            <a:chOff x="1776" y="2256"/>
            <a:chExt cx="1677" cy="720"/>
          </a:xfrm>
        </p:grpSpPr>
        <p:sp>
          <p:nvSpPr>
            <p:cNvPr id="21513" name="Oval 5" descr="宽上对角线"/>
            <p:cNvSpPr/>
            <p:nvPr/>
          </p:nvSpPr>
          <p:spPr>
            <a:xfrm>
              <a:off x="1776" y="2256"/>
              <a:ext cx="1101" cy="7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1514" name="Oval 6" descr="宽上对角线"/>
            <p:cNvSpPr/>
            <p:nvPr/>
          </p:nvSpPr>
          <p:spPr>
            <a:xfrm>
              <a:off x="2352" y="2256"/>
              <a:ext cx="1101" cy="7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1515" name="Oval 7" descr="宽上对角线"/>
            <p:cNvSpPr/>
            <p:nvPr/>
          </p:nvSpPr>
          <p:spPr>
            <a:xfrm>
              <a:off x="2352" y="2304"/>
              <a:ext cx="527" cy="624"/>
            </a:xfrm>
            <a:prstGeom prst="ellipse">
              <a:avLst/>
            </a:prstGeom>
            <a:blipFill rotWithShape="0">
              <a:blip r:embed="rId1"/>
            </a:blip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510" name="Text Box 8"/>
          <p:cNvSpPr txBox="1"/>
          <p:nvPr/>
        </p:nvSpPr>
        <p:spPr>
          <a:xfrm>
            <a:off x="5257800" y="1371600"/>
            <a:ext cx="11398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R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</a:t>
            </a:r>
            <a:r>
              <a:rPr lang="en-US" altLang="zh-CN" dirty="0">
                <a:solidFill>
                  <a:schemeClr val="tx1"/>
                </a:solidFill>
              </a:rPr>
              <a:t>S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21511" name="Text Box 9"/>
          <p:cNvSpPr txBox="1"/>
          <p:nvPr/>
        </p:nvSpPr>
        <p:spPr>
          <a:xfrm>
            <a:off x="6227763" y="1412875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S-R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  <p:sp>
        <p:nvSpPr>
          <p:cNvPr id="21512" name="Text Box 10"/>
          <p:cNvSpPr txBox="1"/>
          <p:nvPr/>
        </p:nvSpPr>
        <p:spPr>
          <a:xfrm>
            <a:off x="4427538" y="1341438"/>
            <a:ext cx="863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R-S</a:t>
            </a:r>
            <a:endParaRPr lang="en-US" altLang="zh-CN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charRg st="137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>
                                            <p:txEl>
                                              <p:charRg st="137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>
                                            <p:txEl>
                                              <p:charRg st="137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9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交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01380" name="Group 4"/>
          <p:cNvGraphicFramePr>
            <a:graphicFrameLocks noGrp="1"/>
          </p:cNvGraphicFramePr>
          <p:nvPr/>
        </p:nvGraphicFramePr>
        <p:xfrm>
          <a:off x="1371600" y="1676400"/>
          <a:ext cx="2743200" cy="207327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04" name="Group 28"/>
          <p:cNvGraphicFramePr>
            <a:graphicFrameLocks noGrp="1"/>
          </p:cNvGraphicFramePr>
          <p:nvPr/>
        </p:nvGraphicFramePr>
        <p:xfrm>
          <a:off x="5486400" y="1905000"/>
          <a:ext cx="2743200" cy="1570038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3350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2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1424" name="Group 48"/>
          <p:cNvGraphicFramePr>
            <a:graphicFrameLocks noGrp="1"/>
          </p:cNvGraphicFramePr>
          <p:nvPr/>
        </p:nvGraphicFramePr>
        <p:xfrm>
          <a:off x="1447800" y="4267200"/>
          <a:ext cx="2667000" cy="2087563"/>
        </p:xfrm>
        <a:graphic>
          <a:graphicData uri="http://schemas.openxmlformats.org/drawingml/2006/table">
            <a:tbl>
              <a:tblPr/>
              <a:tblGrid>
                <a:gridCol w="889000"/>
                <a:gridCol w="889000"/>
                <a:gridCol w="889000"/>
              </a:tblGrid>
              <a:tr h="53319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95" name="Rectangle 72"/>
          <p:cNvSpPr/>
          <p:nvPr/>
        </p:nvSpPr>
        <p:spPr>
          <a:xfrm>
            <a:off x="533400" y="19812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96" name="Rectangle 73"/>
          <p:cNvSpPr/>
          <p:nvPr/>
        </p:nvSpPr>
        <p:spPr>
          <a:xfrm>
            <a:off x="685800" y="44958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97" name="Rectangle 74"/>
          <p:cNvSpPr/>
          <p:nvPr/>
        </p:nvSpPr>
        <p:spPr>
          <a:xfrm>
            <a:off x="5867400" y="1066800"/>
            <a:ext cx="19050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R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∩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 S</a:t>
            </a:r>
            <a:r>
              <a:rPr lang="en-US" altLang="zh-CN" b="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endParaRPr lang="en-US" altLang="zh-CN" b="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2598" name="Rectangle 75"/>
          <p:cNvSpPr/>
          <p:nvPr/>
        </p:nvSpPr>
        <p:spPr>
          <a:xfrm>
            <a:off x="6400800" y="3733800"/>
            <a:ext cx="8382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-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1452" name="Group 76"/>
          <p:cNvGraphicFramePr>
            <a:graphicFrameLocks noGrp="1"/>
          </p:cNvGraphicFramePr>
          <p:nvPr/>
        </p:nvGraphicFramePr>
        <p:xfrm>
          <a:off x="5562600" y="4800600"/>
          <a:ext cx="2743200" cy="1036638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96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交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3557" name="Rectangle 4"/>
          <p:cNvSpPr/>
          <p:nvPr/>
        </p:nvSpPr>
        <p:spPr>
          <a:xfrm>
            <a:off x="533400" y="19812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58" name="Rectangle 5"/>
          <p:cNvSpPr/>
          <p:nvPr/>
        </p:nvSpPr>
        <p:spPr>
          <a:xfrm>
            <a:off x="685800" y="44958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59" name="Rectangle 6"/>
          <p:cNvSpPr/>
          <p:nvPr/>
        </p:nvSpPr>
        <p:spPr>
          <a:xfrm>
            <a:off x="5791200" y="1524000"/>
            <a:ext cx="19050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∩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S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2407" name="Group 7"/>
          <p:cNvGraphicFramePr>
            <a:graphicFrameLocks noGrp="1"/>
          </p:cNvGraphicFramePr>
          <p:nvPr/>
        </p:nvGraphicFramePr>
        <p:xfrm>
          <a:off x="1752600" y="1676400"/>
          <a:ext cx="2743200" cy="2228850"/>
        </p:xfrm>
        <a:graphic>
          <a:graphicData uri="http://schemas.openxmlformats.org/drawingml/2006/table">
            <a:tbl>
              <a:tblPr/>
              <a:tblGrid>
                <a:gridCol w="914400"/>
                <a:gridCol w="1028700"/>
                <a:gridCol w="800100"/>
              </a:tblGrid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2429" name="Group 29"/>
          <p:cNvGraphicFramePr>
            <a:graphicFrameLocks noGrp="1"/>
          </p:cNvGraphicFramePr>
          <p:nvPr/>
        </p:nvGraphicFramePr>
        <p:xfrm>
          <a:off x="1752600" y="4343400"/>
          <a:ext cx="2743200" cy="1600200"/>
        </p:xfrm>
        <a:graphic>
          <a:graphicData uri="http://schemas.openxmlformats.org/drawingml/2006/table">
            <a:tbl>
              <a:tblPr/>
              <a:tblGrid>
                <a:gridCol w="1014413"/>
                <a:gridCol w="814387"/>
                <a:gridCol w="914400"/>
              </a:tblGrid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2447" name="Group 47"/>
          <p:cNvGraphicFramePr>
            <a:graphicFrameLocks noGrp="1"/>
          </p:cNvGraphicFramePr>
          <p:nvPr/>
        </p:nvGraphicFramePr>
        <p:xfrm>
          <a:off x="5715000" y="2743200"/>
          <a:ext cx="2209800" cy="1219200"/>
        </p:xfrm>
        <a:graphic>
          <a:graphicData uri="http://schemas.openxmlformats.org/drawingml/2006/table">
            <a:tbl>
              <a:tblPr/>
              <a:tblGrid>
                <a:gridCol w="736600"/>
                <a:gridCol w="736600"/>
                <a:gridCol w="736600"/>
              </a:tblGrid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609600" y="914400"/>
            <a:ext cx="8229600" cy="5410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引入一个记号：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 (</a:t>
            </a:r>
            <a:r>
              <a:rPr lang="zh-CN" altLang="en-US" i="1" dirty="0">
                <a:solidFill>
                  <a:schemeClr val="accent2"/>
                </a:solidFill>
              </a:rPr>
              <a:t>连接</a:t>
            </a:r>
            <a:r>
              <a:rPr lang="en-US" altLang="zh-CN" i="1" dirty="0">
                <a:solidFill>
                  <a:schemeClr val="accent2"/>
                </a:solidFill>
              </a:rPr>
              <a:t>)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i="1" dirty="0"/>
              <a:t>    R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目关系，</a:t>
            </a:r>
            <a:r>
              <a:rPr lang="en-US" altLang="zh-CN" i="1" dirty="0"/>
              <a:t>S</a:t>
            </a:r>
            <a:r>
              <a:rPr lang="zh-CN" altLang="en-US" dirty="0"/>
              <a:t>为</a:t>
            </a:r>
            <a:r>
              <a:rPr lang="en-US" altLang="zh-CN" i="1" dirty="0"/>
              <a:t>m</a:t>
            </a:r>
            <a:r>
              <a:rPr lang="zh-CN" altLang="en-US" dirty="0"/>
              <a:t>目关系。 </a:t>
            </a:r>
            <a:r>
              <a:rPr lang="en-US" altLang="zh-CN" sz="3200" i="1" dirty="0"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latin typeface="Arial" panose="020B0604020202020204" pitchFamily="34" charset="0"/>
              </a:rPr>
              <a:t>r</a:t>
            </a:r>
            <a:r>
              <a:rPr lang="en-US" altLang="zh-CN" baseline="-30000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 </a:t>
            </a:r>
            <a:r>
              <a:rPr lang="en-US" altLang="zh-CN" sz="3200" i="1" dirty="0"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latin typeface="Arial" panose="020B0604020202020204" pitchFamily="34" charset="0"/>
              </a:rPr>
              <a:t>s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zh-CN" altLang="en-US" dirty="0"/>
              <a:t>， </a:t>
            </a:r>
            <a:r>
              <a:rPr lang="en-US" altLang="zh-CN" sz="3200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zh-CN" altLang="en-US" dirty="0"/>
              <a:t>称为元组的连接。它是一个</a:t>
            </a:r>
            <a:r>
              <a:rPr lang="en-US" altLang="zh-CN" i="1" dirty="0"/>
              <a:t>n</a:t>
            </a:r>
            <a:r>
              <a:rPr lang="en-US" altLang="zh-CN" dirty="0"/>
              <a:t> + </a:t>
            </a:r>
            <a:r>
              <a:rPr lang="en-US" altLang="zh-CN" i="1" dirty="0"/>
              <a:t>m</a:t>
            </a:r>
            <a:r>
              <a:rPr lang="zh-CN" altLang="en-US" dirty="0"/>
              <a:t>列的元组，前</a:t>
            </a:r>
            <a:r>
              <a:rPr lang="en-US" altLang="zh-CN" i="1" dirty="0"/>
              <a:t>n</a:t>
            </a:r>
            <a:r>
              <a:rPr lang="zh-CN" altLang="en-US" dirty="0"/>
              <a:t>个分量为</a:t>
            </a:r>
            <a:r>
              <a:rPr lang="en-US" altLang="zh-CN" i="1" dirty="0"/>
              <a:t>R</a:t>
            </a:r>
            <a:r>
              <a:rPr lang="zh-CN" altLang="en-US" dirty="0"/>
              <a:t>中的一个</a:t>
            </a:r>
            <a:r>
              <a:rPr lang="en-US" altLang="zh-CN" i="1" dirty="0"/>
              <a:t>n</a:t>
            </a:r>
            <a:r>
              <a:rPr lang="zh-CN" altLang="en-US" dirty="0"/>
              <a:t>元组，后</a:t>
            </a:r>
            <a:r>
              <a:rPr lang="en-US" altLang="zh-CN" i="1" dirty="0"/>
              <a:t>m</a:t>
            </a:r>
            <a:r>
              <a:rPr lang="zh-CN" altLang="en-US" dirty="0"/>
              <a:t>个分量为</a:t>
            </a:r>
            <a:r>
              <a:rPr lang="en-US" altLang="zh-CN" i="1" dirty="0"/>
              <a:t>S</a:t>
            </a:r>
            <a:r>
              <a:rPr lang="zh-CN" altLang="en-US" dirty="0"/>
              <a:t>中的一个</a:t>
            </a:r>
            <a:r>
              <a:rPr lang="en-US" altLang="zh-CN" i="1" dirty="0"/>
              <a:t>m</a:t>
            </a:r>
            <a:r>
              <a:rPr lang="zh-CN" altLang="en-US" dirty="0"/>
              <a:t>元组。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dirty="0"/>
              <a:t>若</a:t>
            </a:r>
            <a:r>
              <a:rPr lang="en-US" altLang="zh-CN" sz="3200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= (r</a:t>
            </a:r>
            <a:r>
              <a:rPr lang="en-US" altLang="zh-CN" baseline="-20000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baseline="-20000" dirty="0">
                <a:latin typeface="Arial" panose="020B0604020202020204" pitchFamily="34" charset="0"/>
              </a:rPr>
              <a:t> 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baseline="-20000" dirty="0">
                <a:latin typeface="Arial" panose="020B0604020202020204" pitchFamily="34" charset="0"/>
              </a:rPr>
              <a:t>n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， </a:t>
            </a:r>
            <a:r>
              <a:rPr lang="en-US" altLang="zh-CN" sz="3200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 = (s</a:t>
            </a:r>
            <a:r>
              <a:rPr lang="en-US" altLang="zh-CN" baseline="-20000" dirty="0">
                <a:latin typeface="Arial" panose="020B0604020202020204" pitchFamily="34" charset="0"/>
              </a:rPr>
              <a:t>1 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… 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s</a:t>
            </a:r>
            <a:r>
              <a:rPr lang="en-US" altLang="zh-CN" baseline="-20000" dirty="0">
                <a:latin typeface="Arial" panose="020B0604020202020204" pitchFamily="34" charset="0"/>
              </a:rPr>
              <a:t>m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zh-CN" altLang="en-US" dirty="0"/>
              <a:t>则</a:t>
            </a:r>
            <a:endParaRPr lang="zh-CN" altLang="en-US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3200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 </a:t>
            </a:r>
            <a:r>
              <a:rPr lang="en-US" altLang="zh-CN" sz="3200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Tahoma" panose="020B0604030504040204" pitchFamily="34" charset="0"/>
                <a:ea typeface="华文新魏" panose="02010800040101010101" pitchFamily="2" charset="-122"/>
              </a:rPr>
              <a:t> = </a:t>
            </a:r>
            <a:r>
              <a:rPr lang="en-US" altLang="zh-CN" dirty="0">
                <a:latin typeface="Arial" panose="020B0604020202020204" pitchFamily="34" charset="0"/>
                <a:ea typeface="华文新魏" panose="02010800040101010101" pitchFamily="2" charset="-122"/>
              </a:rPr>
              <a:t>(r</a:t>
            </a:r>
            <a:r>
              <a:rPr lang="en-US" altLang="zh-CN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华文新魏" panose="02010800040101010101" pitchFamily="2" charset="-122"/>
              </a:rPr>
              <a:t>…</a:t>
            </a:r>
            <a:r>
              <a:rPr lang="en-US" altLang="zh-CN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华文新魏" panose="02010800040101010101" pitchFamily="2" charset="-122"/>
              </a:rPr>
              <a:t>r</a:t>
            </a:r>
            <a:r>
              <a:rPr lang="en-US" altLang="zh-CN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n</a:t>
            </a:r>
            <a:r>
              <a:rPr lang="zh-CN" altLang="en-US" dirty="0">
                <a:latin typeface="Arial" panose="020B0604020202020204" pitchFamily="34" charset="0"/>
                <a:ea typeface="华文新魏" panose="02010800040101010101" pitchFamily="2" charset="-122"/>
              </a:rPr>
              <a:t>， </a:t>
            </a:r>
            <a:r>
              <a:rPr lang="en-US" altLang="zh-CN" dirty="0">
                <a:latin typeface="Arial" panose="020B0604020202020204" pitchFamily="34" charset="0"/>
                <a:ea typeface="华文新魏" panose="02010800040101010101" pitchFamily="2" charset="-122"/>
              </a:rPr>
              <a:t>s</a:t>
            </a:r>
            <a:r>
              <a:rPr lang="en-US" altLang="zh-CN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1 </a:t>
            </a:r>
            <a:r>
              <a:rPr lang="zh-CN" altLang="en-US" dirty="0">
                <a:latin typeface="Arial" panose="020B0604020202020204" pitchFamily="34" charset="0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华文新魏" panose="02010800040101010101" pitchFamily="2" charset="-122"/>
              </a:rPr>
              <a:t>… </a:t>
            </a:r>
            <a:r>
              <a:rPr lang="zh-CN" altLang="en-US" dirty="0">
                <a:latin typeface="Arial" panose="020B0604020202020204" pitchFamily="34" charset="0"/>
                <a:ea typeface="华文新魏" panose="02010800040101010101" pitchFamily="2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华文新魏" panose="02010800040101010101" pitchFamily="2" charset="-122"/>
              </a:rPr>
              <a:t>s</a:t>
            </a:r>
            <a:r>
              <a:rPr lang="en-US" altLang="zh-CN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m</a:t>
            </a:r>
            <a:r>
              <a:rPr lang="en-US" altLang="zh-CN" dirty="0">
                <a:latin typeface="Arial" panose="020B0604020202020204" pitchFamily="34" charset="0"/>
                <a:ea typeface="华文新魏" panose="02010800040101010101" pitchFamily="2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24581" name="Arc 4"/>
          <p:cNvSpPr/>
          <p:nvPr/>
        </p:nvSpPr>
        <p:spPr>
          <a:xfrm rot="-4200000">
            <a:off x="1676400" y="2651125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sp>
        <p:nvSpPr>
          <p:cNvPr id="24582" name="Arc 5"/>
          <p:cNvSpPr/>
          <p:nvPr/>
        </p:nvSpPr>
        <p:spPr>
          <a:xfrm rot="-4200000">
            <a:off x="4052888" y="1123950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sp>
        <p:nvSpPr>
          <p:cNvPr id="24583" name="Arc 6"/>
          <p:cNvSpPr/>
          <p:nvPr/>
        </p:nvSpPr>
        <p:spPr>
          <a:xfrm rot="-4200000">
            <a:off x="1316038" y="5603875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4. </a:t>
            </a:r>
            <a:r>
              <a:rPr lang="zh-CN" altLang="en-US" dirty="0">
                <a:solidFill>
                  <a:schemeClr val="tx1"/>
                </a:solidFill>
              </a:rPr>
              <a:t>广义笛卡尔积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zh-CN" i="1" dirty="0"/>
              <a:t>n</a:t>
            </a:r>
            <a:r>
              <a:rPr lang="zh-CN" altLang="en-US" dirty="0"/>
              <a:t>目关系，</a:t>
            </a:r>
            <a:r>
              <a:rPr lang="en-US" altLang="zh-CN" i="1" dirty="0"/>
              <a:t>k</a:t>
            </a:r>
            <a:r>
              <a:rPr lang="en-US" altLang="zh-CN" baseline="-30000" dirty="0">
                <a:latin typeface="Arial" panose="020B0604020202020204" pitchFamily="34" charset="0"/>
              </a:rPr>
              <a:t>1</a:t>
            </a:r>
            <a:r>
              <a:rPr lang="zh-CN" altLang="en-US" dirty="0"/>
              <a:t>个元组</a:t>
            </a:r>
            <a:endParaRPr lang="zh-CN" altLang="en-US" dirty="0"/>
          </a:p>
          <a:p>
            <a:pPr algn="just" eaLnBrk="1" hangingPunct="1">
              <a:lnSpc>
                <a:spcPct val="80000"/>
              </a:lnSpc>
            </a:pP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altLang="zh-CN" i="1" dirty="0"/>
              <a:t>m</a:t>
            </a:r>
            <a:r>
              <a:rPr lang="zh-CN" altLang="en-US" dirty="0"/>
              <a:t>目关系，</a:t>
            </a:r>
            <a:r>
              <a:rPr lang="en-US" altLang="zh-CN" i="1" dirty="0"/>
              <a:t>k</a:t>
            </a:r>
            <a:r>
              <a:rPr lang="en-US" altLang="zh-CN" baseline="-30000" dirty="0">
                <a:latin typeface="Arial" panose="020B0604020202020204" pitchFamily="34" charset="0"/>
              </a:rPr>
              <a:t>2</a:t>
            </a:r>
            <a:r>
              <a:rPr lang="zh-CN" altLang="en-US" dirty="0"/>
              <a:t>个元组</a:t>
            </a:r>
            <a:endParaRPr lang="zh-CN" altLang="en-US" dirty="0"/>
          </a:p>
          <a:p>
            <a:pPr algn="just" eaLnBrk="1" hangingPunct="1"/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×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buClr>
                <a:schemeClr val="tx1"/>
              </a:buClr>
            </a:pPr>
            <a:r>
              <a:rPr lang="zh-CN" altLang="en-US" dirty="0"/>
              <a:t>列：（</a:t>
            </a:r>
            <a:r>
              <a:rPr lang="en-US" altLang="zh-CN" i="1" dirty="0"/>
              <a:t>n</a:t>
            </a:r>
            <a:r>
              <a:rPr lang="en-US" altLang="zh-CN" dirty="0"/>
              <a:t>+</a:t>
            </a:r>
            <a:r>
              <a:rPr lang="en-US" altLang="zh-CN" i="1" dirty="0"/>
              <a:t>m</a:t>
            </a:r>
            <a:r>
              <a:rPr lang="zh-CN" altLang="en-US" dirty="0"/>
              <a:t>）列的元组的集合</a:t>
            </a:r>
            <a:endParaRPr lang="zh-CN" altLang="en-US" dirty="0"/>
          </a:p>
          <a:p>
            <a:pPr lvl="2" algn="just"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dirty="0"/>
              <a:t>元组的前</a:t>
            </a:r>
            <a:r>
              <a:rPr lang="en-US" altLang="zh-CN" i="1" dirty="0"/>
              <a:t>n</a:t>
            </a:r>
            <a:r>
              <a:rPr lang="zh-CN" altLang="en-US" dirty="0"/>
              <a:t>列是关系</a:t>
            </a:r>
            <a:r>
              <a:rPr lang="en-US" altLang="zh-CN" i="1" dirty="0"/>
              <a:t>R</a:t>
            </a:r>
            <a:r>
              <a:rPr lang="zh-CN" altLang="en-US" dirty="0"/>
              <a:t>的一个元组</a:t>
            </a:r>
            <a:endParaRPr lang="zh-CN" altLang="en-US" dirty="0"/>
          </a:p>
          <a:p>
            <a:pPr lvl="2" algn="just"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dirty="0"/>
              <a:t>后</a:t>
            </a:r>
            <a:r>
              <a:rPr lang="en-US" altLang="zh-CN" i="1" dirty="0"/>
              <a:t>m</a:t>
            </a:r>
            <a:r>
              <a:rPr lang="zh-CN" altLang="en-US" dirty="0"/>
              <a:t>列是关系</a:t>
            </a:r>
            <a:r>
              <a:rPr lang="en-US" altLang="zh-CN" i="1" dirty="0"/>
              <a:t>S</a:t>
            </a:r>
            <a:r>
              <a:rPr lang="zh-CN" altLang="en-US" dirty="0"/>
              <a:t>的一个元组</a:t>
            </a:r>
            <a:endParaRPr lang="zh-CN" altLang="en-US" dirty="0"/>
          </a:p>
          <a:p>
            <a:pPr lvl="1" algn="just" eaLnBrk="1" hangingPunct="1">
              <a:buClr>
                <a:schemeClr val="tx1"/>
              </a:buClr>
            </a:pPr>
            <a:r>
              <a:rPr lang="zh-CN" altLang="en-US" dirty="0"/>
              <a:t>行：</a:t>
            </a:r>
            <a:r>
              <a:rPr lang="en-US" altLang="zh-CN" i="1" dirty="0"/>
              <a:t>k</a:t>
            </a:r>
            <a:r>
              <a:rPr lang="en-US" altLang="zh-CN" baseline="-30000" dirty="0"/>
              <a:t>1</a:t>
            </a:r>
            <a:r>
              <a:rPr lang="en-US" altLang="zh-CN" dirty="0"/>
              <a:t>×</a:t>
            </a:r>
            <a:r>
              <a:rPr lang="en-US" altLang="zh-CN" i="1" dirty="0"/>
              <a:t>k</a:t>
            </a:r>
            <a:r>
              <a:rPr lang="en-US" altLang="zh-CN" baseline="-30000" dirty="0"/>
              <a:t>2</a:t>
            </a:r>
            <a:r>
              <a:rPr lang="zh-CN" altLang="en-US" dirty="0"/>
              <a:t>个元组</a:t>
            </a:r>
            <a:endParaRPr lang="zh-CN" altLang="en-US" dirty="0"/>
          </a:p>
          <a:p>
            <a:pPr lvl="2" algn="just"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zh-CN" sz="2800" i="1" dirty="0">
                <a:latin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</a:rPr>
              <a:t>×</a:t>
            </a:r>
            <a:r>
              <a:rPr lang="en-US" altLang="zh-CN" sz="2800" i="1" dirty="0">
                <a:latin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</a:rPr>
              <a:t> = {</a:t>
            </a:r>
            <a:r>
              <a:rPr lang="en-US" altLang="zh-CN" sz="2800" i="1" dirty="0">
                <a:latin typeface="Arial" panose="020B0604020202020204" pitchFamily="34" charset="0"/>
              </a:rPr>
              <a:t>t</a:t>
            </a:r>
            <a:r>
              <a:rPr lang="en-US" altLang="zh-CN" sz="2800" baseline="-30000" dirty="0">
                <a:latin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i="1" dirty="0">
                <a:latin typeface="Arial" panose="020B0604020202020204" pitchFamily="34" charset="0"/>
              </a:rPr>
              <a:t>t</a:t>
            </a:r>
            <a:r>
              <a:rPr lang="en-US" altLang="zh-CN" sz="2800" baseline="-30000" dirty="0">
                <a:latin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</a:rPr>
              <a:t> |</a:t>
            </a:r>
            <a:r>
              <a:rPr lang="en-US" altLang="zh-CN" sz="2800" i="1" dirty="0">
                <a:latin typeface="Arial" panose="020B0604020202020204" pitchFamily="34" charset="0"/>
              </a:rPr>
              <a:t>t</a:t>
            </a:r>
            <a:r>
              <a:rPr lang="en-US" altLang="zh-CN" sz="2800" baseline="-30000" dirty="0">
                <a:latin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latin typeface="Arial" panose="020B0604020202020204" pitchFamily="34" charset="0"/>
              </a:rPr>
              <a:t>R</a:t>
            </a:r>
            <a:r>
              <a:rPr lang="en-US" altLang="zh-CN" sz="2800" dirty="0">
                <a:latin typeface="Arial" panose="020B0604020202020204" pitchFamily="34" charset="0"/>
              </a:rPr>
              <a:t> ∧ </a:t>
            </a:r>
            <a:r>
              <a:rPr lang="en-US" altLang="zh-CN" sz="2800" i="1" dirty="0">
                <a:latin typeface="Arial" panose="020B0604020202020204" pitchFamily="34" charset="0"/>
              </a:rPr>
              <a:t>t</a:t>
            </a:r>
            <a:r>
              <a:rPr lang="en-US" altLang="zh-CN" sz="2800" baseline="-30000" dirty="0">
                <a:latin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latin typeface="Arial" panose="020B0604020202020204" pitchFamily="34" charset="0"/>
              </a:rPr>
              <a:t>S</a:t>
            </a:r>
            <a:r>
              <a:rPr lang="en-US" altLang="zh-CN" sz="2800" dirty="0">
                <a:latin typeface="Arial" panose="020B0604020202020204" pitchFamily="34" charset="0"/>
              </a:rPr>
              <a:t> }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5605" name="Arc 4"/>
          <p:cNvSpPr/>
          <p:nvPr/>
        </p:nvSpPr>
        <p:spPr>
          <a:xfrm rot="-4200000">
            <a:off x="3181350" y="5886450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2.4.2  </a:t>
            </a:r>
            <a:r>
              <a:rPr lang="zh-CN" altLang="en-US" u="sng" dirty="0"/>
              <a:t>传统的集合运算</a:t>
            </a:r>
            <a:endParaRPr lang="zh-CN" altLang="en-US" u="sng" dirty="0"/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广义笛卡尔积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续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04452" name="Group 4"/>
          <p:cNvGraphicFramePr>
            <a:graphicFrameLocks noGrp="1"/>
          </p:cNvGraphicFramePr>
          <p:nvPr/>
        </p:nvGraphicFramePr>
        <p:xfrm>
          <a:off x="1524000" y="1905000"/>
          <a:ext cx="1905000" cy="2073275"/>
        </p:xfrm>
        <a:graphic>
          <a:graphicData uri="http://schemas.openxmlformats.org/drawingml/2006/table">
            <a:tbl>
              <a:tblPr/>
              <a:tblGrid>
                <a:gridCol w="635000"/>
                <a:gridCol w="635000"/>
                <a:gridCol w="6350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476" name="Group 28"/>
          <p:cNvGraphicFramePr>
            <a:graphicFrameLocks noGrp="1"/>
          </p:cNvGraphicFramePr>
          <p:nvPr/>
        </p:nvGraphicFramePr>
        <p:xfrm>
          <a:off x="4572000" y="1524000"/>
          <a:ext cx="2514600" cy="4765675"/>
        </p:xfrm>
        <a:graphic>
          <a:graphicData uri="http://schemas.openxmlformats.org/drawingml/2006/table">
            <a:tbl>
              <a:tblPr/>
              <a:tblGrid>
                <a:gridCol w="850900"/>
                <a:gridCol w="858838"/>
                <a:gridCol w="804862"/>
              </a:tblGrid>
              <a:tr h="51814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R.C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0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0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0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4524" name="Group 76"/>
          <p:cNvGraphicFramePr>
            <a:graphicFrameLocks noGrp="1"/>
          </p:cNvGraphicFramePr>
          <p:nvPr/>
        </p:nvGraphicFramePr>
        <p:xfrm>
          <a:off x="1600200" y="4343400"/>
          <a:ext cx="1219200" cy="207327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714" name="Rectangle 94"/>
          <p:cNvSpPr/>
          <p:nvPr/>
        </p:nvSpPr>
        <p:spPr>
          <a:xfrm>
            <a:off x="762000" y="26670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715" name="Rectangle 95"/>
          <p:cNvSpPr/>
          <p:nvPr/>
        </p:nvSpPr>
        <p:spPr>
          <a:xfrm>
            <a:off x="762000" y="4800600"/>
            <a:ext cx="304800" cy="838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i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716" name="Rectangle 96"/>
          <p:cNvSpPr/>
          <p:nvPr/>
        </p:nvSpPr>
        <p:spPr>
          <a:xfrm>
            <a:off x="5715000" y="838200"/>
            <a:ext cx="1752600" cy="762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R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×</a:t>
            </a:r>
            <a:r>
              <a:rPr lang="en-US" altLang="zh-CN" i="1" dirty="0">
                <a:solidFill>
                  <a:schemeClr val="tx1"/>
                </a:solidFill>
                <a:latin typeface="Arial" panose="020B0604020202020204" pitchFamily="34" charset="0"/>
              </a:rPr>
              <a:t> S</a:t>
            </a:r>
            <a:r>
              <a:rPr lang="en-US" altLang="zh-CN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4545" name="Group 97"/>
          <p:cNvGraphicFramePr>
            <a:graphicFrameLocks noGrp="1"/>
          </p:cNvGraphicFramePr>
          <p:nvPr/>
        </p:nvGraphicFramePr>
        <p:xfrm>
          <a:off x="7086600" y="1524000"/>
          <a:ext cx="1657350" cy="4762500"/>
        </p:xfrm>
        <a:graphic>
          <a:graphicData uri="http://schemas.openxmlformats.org/drawingml/2006/table">
            <a:tbl>
              <a:tblPr/>
              <a:tblGrid>
                <a:gridCol w="877888"/>
                <a:gridCol w="779462"/>
              </a:tblGrid>
              <a:tr h="51814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S.C</a:t>
                      </a:r>
                      <a:endParaRPr kumimoji="1" lang="en-US" altLang="zh-CN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300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2.4  </a:t>
            </a:r>
            <a:r>
              <a:rPr lang="zh-CN" altLang="en-US" dirty="0"/>
              <a:t>关系代数</a:t>
            </a:r>
            <a:endParaRPr lang="zh-CN" altLang="en-US" dirty="0"/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1066800" y="1143000"/>
            <a:ext cx="6553200" cy="426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2.4.1 </a:t>
            </a:r>
            <a:r>
              <a:rPr lang="zh-CN" altLang="en-US" dirty="0">
                <a:solidFill>
                  <a:schemeClr val="tx1"/>
                </a:solidFill>
              </a:rPr>
              <a:t>关系代数概述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2.4.2 </a:t>
            </a:r>
            <a:r>
              <a:rPr lang="zh-CN" altLang="en-US" dirty="0">
                <a:solidFill>
                  <a:schemeClr val="tx1"/>
                </a:solidFill>
              </a:rPr>
              <a:t>传统的集合运算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2.4.3 </a:t>
            </a:r>
            <a:r>
              <a:rPr lang="zh-CN" altLang="en-US" dirty="0">
                <a:solidFill>
                  <a:srgbClr val="FF0000"/>
                </a:solidFill>
              </a:rPr>
              <a:t>专门的关系运算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2.4.3  </a:t>
            </a:r>
            <a:r>
              <a:rPr lang="zh-CN" altLang="en-US" dirty="0"/>
              <a:t>专门的关系运算</a:t>
            </a:r>
            <a:endParaRPr lang="zh-CN" altLang="en-US" dirty="0"/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990600" y="1219200"/>
            <a:ext cx="6553200" cy="3810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4000" dirty="0">
                <a:solidFill>
                  <a:schemeClr val="tx1"/>
                </a:solidFill>
              </a:rPr>
              <a:t>1. </a:t>
            </a:r>
            <a:r>
              <a:rPr lang="zh-CN" altLang="en-US" sz="4000" dirty="0">
                <a:solidFill>
                  <a:schemeClr val="tx1"/>
                </a:solidFill>
              </a:rPr>
              <a:t>选择  </a:t>
            </a:r>
            <a:r>
              <a:rPr lang="en-US" altLang="zh-CN" sz="4000" dirty="0">
                <a:solidFill>
                  <a:schemeClr val="tx1"/>
                </a:solidFill>
              </a:rPr>
              <a:t>σ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sz="4000" dirty="0">
                <a:solidFill>
                  <a:schemeClr val="tx1"/>
                </a:solidFill>
              </a:rPr>
              <a:t>2. </a:t>
            </a:r>
            <a:r>
              <a:rPr lang="zh-CN" altLang="en-US" sz="4000" dirty="0">
                <a:solidFill>
                  <a:schemeClr val="tx1"/>
                </a:solidFill>
              </a:rPr>
              <a:t>投影  </a:t>
            </a:r>
            <a:r>
              <a:rPr lang="en-US" altLang="zh-CN" sz="4000" dirty="0">
                <a:solidFill>
                  <a:schemeClr val="tx1"/>
                </a:solidFill>
                <a:latin typeface="Arial" panose="020B0604020202020204" pitchFamily="34" charset="0"/>
              </a:rPr>
              <a:t>π</a:t>
            </a:r>
            <a:endParaRPr lang="en-US" altLang="zh-CN" sz="4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4000" dirty="0">
                <a:solidFill>
                  <a:schemeClr val="tx1"/>
                </a:solidFill>
              </a:rPr>
              <a:t>3. </a:t>
            </a:r>
            <a:r>
              <a:rPr lang="zh-CN" altLang="en-US" sz="4000" dirty="0">
                <a:solidFill>
                  <a:schemeClr val="tx1"/>
                </a:solidFill>
              </a:rPr>
              <a:t>连接</a:t>
            </a:r>
            <a:endParaRPr lang="zh-CN" altLang="en-US" sz="40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sz="4000" dirty="0">
                <a:solidFill>
                  <a:schemeClr val="tx1"/>
                </a:solidFill>
              </a:rPr>
              <a:t>4. </a:t>
            </a:r>
            <a:r>
              <a:rPr lang="zh-CN" altLang="en-US" sz="4000" dirty="0">
                <a:solidFill>
                  <a:schemeClr val="tx1"/>
                </a:solidFill>
              </a:rPr>
              <a:t>除      </a:t>
            </a:r>
            <a:r>
              <a:rPr lang="en-US" altLang="zh-CN" sz="4000" dirty="0">
                <a:solidFill>
                  <a:schemeClr val="tx1"/>
                </a:solidFill>
              </a:rPr>
              <a:t>÷</a:t>
            </a:r>
            <a:endParaRPr lang="en-US" altLang="zh-CN" sz="4000" dirty="0">
              <a:solidFill>
                <a:schemeClr val="tx1"/>
              </a:solidFill>
            </a:endParaRPr>
          </a:p>
        </p:txBody>
      </p:sp>
      <p:sp>
        <p:nvSpPr>
          <p:cNvPr id="28677" name="AutoShape 4"/>
          <p:cNvSpPr/>
          <p:nvPr/>
        </p:nvSpPr>
        <p:spPr>
          <a:xfrm rot="5400000">
            <a:off x="3314700" y="2857500"/>
            <a:ext cx="228600" cy="304800"/>
          </a:xfrm>
          <a:prstGeom prst="flowChartCollate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684213" y="1125538"/>
            <a:ext cx="7920037" cy="5105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引入几个记号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2"/>
                </a:solidFill>
              </a:rPr>
              <a:t>（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  <a:r>
              <a:rPr lang="zh-CN" altLang="en-US" dirty="0">
                <a:solidFill>
                  <a:schemeClr val="accent2"/>
                </a:solidFill>
              </a:rPr>
              <a:t>） </a:t>
            </a:r>
            <a:r>
              <a:rPr lang="en-US" altLang="zh-CN" dirty="0">
                <a:solidFill>
                  <a:schemeClr val="accent2"/>
                </a:solidFill>
              </a:rPr>
              <a:t>R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en-US" altLang="zh-CN" dirty="0">
                <a:solidFill>
                  <a:schemeClr val="accent2"/>
                </a:solidFill>
              </a:rPr>
              <a:t>t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chemeClr val="accent2"/>
                </a:solidFill>
              </a:rPr>
              <a:t>R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en-US" altLang="zh-CN" dirty="0">
                <a:solidFill>
                  <a:schemeClr val="accent2"/>
                </a:solidFill>
              </a:rPr>
              <a:t>t[A</a:t>
            </a:r>
            <a:r>
              <a:rPr lang="en-US" altLang="zh-CN" baseline="-25000" dirty="0">
                <a:solidFill>
                  <a:schemeClr val="accent2"/>
                </a:solidFill>
              </a:rPr>
              <a:t>i</a:t>
            </a:r>
            <a:r>
              <a:rPr lang="en-US" altLang="zh-CN" dirty="0">
                <a:solidFill>
                  <a:schemeClr val="accent2"/>
                </a:solidFill>
              </a:rPr>
              <a:t>]</a:t>
            </a:r>
            <a:endParaRPr lang="en-US" altLang="zh-CN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设关系模式为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baseline="-30000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baseline="-30000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…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i="1" baseline="-30000" dirty="0">
                <a:solidFill>
                  <a:schemeClr val="tx1"/>
                </a:solidFill>
              </a:rPr>
              <a:t>n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它的一个关系设为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表示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</a:rPr>
              <a:t>的一个元组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i="1" baseline="-30000" dirty="0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dirty="0">
                <a:solidFill>
                  <a:schemeClr val="tx1"/>
                </a:solidFill>
              </a:rPr>
              <a:t>则表示元组</a:t>
            </a:r>
            <a:r>
              <a:rPr lang="en-US" altLang="zh-CN" i="1" dirty="0">
                <a:solidFill>
                  <a:schemeClr val="tx1"/>
                </a:solidFill>
              </a:rPr>
              <a:t>t</a:t>
            </a:r>
            <a:r>
              <a:rPr lang="zh-CN" altLang="en-US" dirty="0">
                <a:solidFill>
                  <a:schemeClr val="tx1"/>
                </a:solidFill>
              </a:rPr>
              <a:t>中相应于属性</a:t>
            </a:r>
            <a:r>
              <a:rPr lang="en-US" altLang="zh-CN" i="1" dirty="0">
                <a:solidFill>
                  <a:schemeClr val="tx1"/>
                </a:solidFill>
              </a:rPr>
              <a:t>A</a:t>
            </a:r>
            <a:r>
              <a:rPr lang="en-US" altLang="zh-CN" i="1" baseline="-30000" dirty="0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的一个分量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838200" y="1066800"/>
            <a:ext cx="7620000" cy="5105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2"/>
                </a:solidFill>
              </a:rPr>
              <a:t>（</a:t>
            </a:r>
            <a:r>
              <a:rPr lang="en-US" altLang="zh-CN" dirty="0">
                <a:solidFill>
                  <a:schemeClr val="accent2"/>
                </a:solidFill>
              </a:rPr>
              <a:t>2</a:t>
            </a:r>
            <a:r>
              <a:rPr lang="zh-CN" altLang="en-US" dirty="0">
                <a:solidFill>
                  <a:schemeClr val="accent2"/>
                </a:solidFill>
              </a:rPr>
              <a:t>） </a:t>
            </a:r>
            <a:r>
              <a:rPr lang="en-US" altLang="zh-CN" dirty="0">
                <a:solidFill>
                  <a:schemeClr val="accent2"/>
                </a:solidFill>
              </a:rPr>
              <a:t>A</a:t>
            </a:r>
            <a:r>
              <a:rPr lang="zh-CN" altLang="en-US" dirty="0">
                <a:solidFill>
                  <a:schemeClr val="accent2"/>
                </a:solidFill>
              </a:rPr>
              <a:t>，</a:t>
            </a:r>
            <a:r>
              <a:rPr lang="en-US" altLang="zh-CN" dirty="0">
                <a:solidFill>
                  <a:schemeClr val="accent2"/>
                </a:solidFill>
              </a:rPr>
              <a:t>t[A]</a:t>
            </a:r>
            <a:r>
              <a:rPr lang="zh-CN" altLang="en-US" dirty="0">
                <a:solidFill>
                  <a:schemeClr val="accent2"/>
                </a:solidFill>
              </a:rPr>
              <a:t>，  </a:t>
            </a:r>
            <a:r>
              <a:rPr lang="en-US" altLang="zh-CN" dirty="0">
                <a:solidFill>
                  <a:schemeClr val="accent2"/>
                </a:solidFill>
              </a:rPr>
              <a:t>A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dirty="0"/>
              <a:t>   </a:t>
            </a:r>
            <a:r>
              <a:rPr lang="zh-CN" altLang="en-US" dirty="0"/>
              <a:t>若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}</a:t>
            </a:r>
            <a:r>
              <a:rPr lang="zh-CN" altLang="en-US" dirty="0"/>
              <a:t>，其中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n</a:t>
            </a:r>
            <a:r>
              <a:rPr lang="zh-CN" altLang="en-US" dirty="0"/>
              <a:t>中的一部分，则</a:t>
            </a:r>
            <a:r>
              <a:rPr lang="en-US" altLang="zh-CN" i="1" dirty="0"/>
              <a:t>A</a:t>
            </a:r>
            <a:r>
              <a:rPr lang="zh-CN" altLang="en-US" dirty="0"/>
              <a:t>称为属性列或域列。</a:t>
            </a:r>
            <a:r>
              <a:rPr lang="en-US" altLang="zh-CN" i="1" dirty="0">
                <a:solidFill>
                  <a:srgbClr val="FF0000"/>
                </a:solidFill>
              </a:rPr>
              <a:t>t[A]</a:t>
            </a:r>
            <a:r>
              <a:rPr lang="en-US" altLang="zh-CN" dirty="0"/>
              <a:t>=(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en-US" altLang="zh-CN" dirty="0"/>
              <a:t>]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])</a:t>
            </a:r>
            <a:r>
              <a:rPr lang="zh-CN" altLang="en-US" dirty="0"/>
              <a:t>表示元组</a:t>
            </a:r>
            <a:r>
              <a:rPr lang="en-US" altLang="zh-CN" i="1" dirty="0"/>
              <a:t>t</a:t>
            </a:r>
            <a:r>
              <a:rPr lang="zh-CN" altLang="en-US" dirty="0"/>
              <a:t>在属性列</a:t>
            </a:r>
            <a:r>
              <a:rPr lang="en-US" altLang="zh-CN" i="1" dirty="0"/>
              <a:t>A</a:t>
            </a:r>
            <a:r>
              <a:rPr lang="zh-CN" altLang="en-US" dirty="0"/>
              <a:t>上诸分量的集合。</a:t>
            </a:r>
            <a:r>
              <a:rPr lang="en-US" altLang="zh-CN" i="1" dirty="0">
                <a:solidFill>
                  <a:srgbClr val="E02920"/>
                </a:solidFill>
              </a:rPr>
              <a:t>A</a:t>
            </a:r>
            <a:r>
              <a:rPr lang="zh-CN" altLang="en-US" dirty="0"/>
              <a:t>则表示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n</a:t>
            </a:r>
            <a:r>
              <a:rPr lang="en-US" altLang="zh-CN" dirty="0"/>
              <a:t>}</a:t>
            </a:r>
            <a:r>
              <a:rPr lang="zh-CN" altLang="en-US" dirty="0"/>
              <a:t>中去掉</a:t>
            </a:r>
            <a:r>
              <a:rPr lang="en-US" altLang="zh-CN" dirty="0"/>
              <a:t>{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</a:t>
            </a:r>
            <a:r>
              <a:rPr lang="en-US" altLang="zh-CN" baseline="-30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i="1" dirty="0"/>
              <a:t>A</a:t>
            </a:r>
            <a:r>
              <a:rPr lang="en-US" altLang="zh-CN" i="1" baseline="-30000" dirty="0"/>
              <a:t>ik</a:t>
            </a:r>
            <a:r>
              <a:rPr lang="en-US" altLang="zh-CN" dirty="0"/>
              <a:t>}</a:t>
            </a:r>
            <a:r>
              <a:rPr lang="zh-CN" altLang="en-US" dirty="0"/>
              <a:t>后剩余的属性组。 </a:t>
            </a:r>
            <a:endParaRPr lang="zh-CN" altLang="en-US" dirty="0"/>
          </a:p>
        </p:txBody>
      </p:sp>
      <p:sp>
        <p:nvSpPr>
          <p:cNvPr id="30725" name="Line 4"/>
          <p:cNvSpPr/>
          <p:nvPr/>
        </p:nvSpPr>
        <p:spPr>
          <a:xfrm>
            <a:off x="4067175" y="1341438"/>
            <a:ext cx="228600" cy="0"/>
          </a:xfrm>
          <a:prstGeom prst="line">
            <a:avLst/>
          </a:prstGeom>
          <a:ln w="285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6" name="Line 5"/>
          <p:cNvSpPr/>
          <p:nvPr/>
        </p:nvSpPr>
        <p:spPr>
          <a:xfrm>
            <a:off x="3911600" y="4437063"/>
            <a:ext cx="228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2.4.1  </a:t>
            </a:r>
            <a:r>
              <a:rPr lang="zh-CN" altLang="en-US" u="sng" dirty="0"/>
              <a:t>关系代数概述</a:t>
            </a:r>
            <a:endParaRPr lang="zh-CN" altLang="en-US" u="sng" dirty="0"/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609600" y="914400"/>
            <a:ext cx="8229600" cy="5410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关系代数概述（续）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（</a:t>
            </a:r>
            <a:r>
              <a:rPr lang="en-US" altLang="zh-CN" sz="2800" dirty="0">
                <a:solidFill>
                  <a:schemeClr val="accent2"/>
                </a:solidFill>
              </a:rPr>
              <a:t>3</a:t>
            </a:r>
            <a:r>
              <a:rPr lang="zh-CN" altLang="en-US" sz="2800" dirty="0">
                <a:solidFill>
                  <a:schemeClr val="accent2"/>
                </a:solidFill>
              </a:rPr>
              <a:t>） 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aseline="-30000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800" dirty="0">
                <a:solidFill>
                  <a:schemeClr val="accent2"/>
                </a:solidFill>
              </a:rPr>
              <a:t> </a:t>
            </a:r>
            <a:r>
              <a:rPr lang="en-US" altLang="zh-CN" sz="2800" i="1" dirty="0">
                <a:solidFill>
                  <a:schemeClr val="accent2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baseline="-30000" dirty="0">
                <a:solidFill>
                  <a:schemeClr val="accent2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800" dirty="0">
                <a:solidFill>
                  <a:schemeClr val="accent2"/>
                </a:solidFill>
              </a:rPr>
              <a:t> </a:t>
            </a:r>
            <a:r>
              <a:rPr lang="en-US" altLang="zh-CN" sz="2800" i="1" dirty="0">
                <a:solidFill>
                  <a:schemeClr val="accent2"/>
                </a:solidFill>
              </a:rPr>
              <a:t> (</a:t>
            </a:r>
            <a:r>
              <a:rPr lang="zh-CN" altLang="en-US" sz="2800" i="1" dirty="0">
                <a:solidFill>
                  <a:schemeClr val="accent2"/>
                </a:solidFill>
              </a:rPr>
              <a:t>连接</a:t>
            </a:r>
            <a:r>
              <a:rPr lang="en-US" altLang="zh-CN" sz="2800" i="1" dirty="0">
                <a:solidFill>
                  <a:schemeClr val="accent2"/>
                </a:solidFill>
              </a:rPr>
              <a:t>)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400" i="1" dirty="0"/>
              <a:t>    R</a:t>
            </a:r>
            <a:r>
              <a:rPr lang="zh-CN" altLang="en-US" sz="2400" dirty="0"/>
              <a:t>为</a:t>
            </a:r>
            <a:r>
              <a:rPr lang="en-US" altLang="zh-CN" sz="2400" i="1" dirty="0"/>
              <a:t>n</a:t>
            </a:r>
            <a:r>
              <a:rPr lang="zh-CN" altLang="en-US" sz="2400" dirty="0"/>
              <a:t>目关系，</a:t>
            </a:r>
            <a:r>
              <a:rPr lang="en-US" altLang="zh-CN" sz="2400" i="1" dirty="0"/>
              <a:t>S</a:t>
            </a:r>
            <a:r>
              <a:rPr lang="zh-CN" altLang="en-US" sz="2400" dirty="0"/>
              <a:t>为</a:t>
            </a:r>
            <a:r>
              <a:rPr lang="en-US" altLang="zh-CN" sz="2400" i="1" dirty="0"/>
              <a:t>m</a:t>
            </a:r>
            <a:r>
              <a:rPr lang="zh-CN" altLang="en-US" sz="2400" dirty="0"/>
              <a:t>目关系。 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latin typeface="Arial" panose="020B0604020202020204" pitchFamily="34" charset="0"/>
              </a:rPr>
              <a:t>r</a:t>
            </a:r>
            <a:r>
              <a:rPr lang="en-US" altLang="zh-CN" sz="2400" baseline="-300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R</a:t>
            </a:r>
            <a:r>
              <a:rPr lang="zh-CN" altLang="en-US" sz="2400" dirty="0"/>
              <a:t>， 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latin typeface="Arial" panose="020B0604020202020204" pitchFamily="34" charset="0"/>
              </a:rPr>
              <a:t>s</a:t>
            </a:r>
            <a:r>
              <a:rPr lang="en-US" altLang="zh-CN" sz="2400" i="1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sz="2400" i="1" dirty="0"/>
              <a:t>S</a:t>
            </a:r>
            <a:r>
              <a:rPr lang="zh-CN" altLang="en-US" sz="2400" dirty="0"/>
              <a:t>，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zh-CN" altLang="en-US" sz="2400" dirty="0"/>
              <a:t>称为元组的连接。它是一个</a:t>
            </a:r>
            <a:r>
              <a:rPr lang="en-US" altLang="zh-CN" sz="2400" i="1" dirty="0"/>
              <a:t>n</a:t>
            </a:r>
            <a:r>
              <a:rPr lang="en-US" altLang="zh-CN" sz="2400" dirty="0"/>
              <a:t> + </a:t>
            </a:r>
            <a:r>
              <a:rPr lang="en-US" altLang="zh-CN" sz="2400" i="1" dirty="0"/>
              <a:t>m</a:t>
            </a:r>
            <a:r>
              <a:rPr lang="zh-CN" altLang="en-US" sz="2400" dirty="0"/>
              <a:t>列的元组，前</a:t>
            </a:r>
            <a:r>
              <a:rPr lang="en-US" altLang="zh-CN" sz="2400" i="1" dirty="0"/>
              <a:t>n</a:t>
            </a:r>
            <a:r>
              <a:rPr lang="zh-CN" altLang="en-US" sz="2400" dirty="0"/>
              <a:t>个分量为</a:t>
            </a:r>
            <a:r>
              <a:rPr lang="en-US" altLang="zh-CN" sz="2400" i="1" dirty="0"/>
              <a:t>R</a:t>
            </a:r>
            <a:r>
              <a:rPr lang="zh-CN" altLang="en-US" sz="2400" dirty="0"/>
              <a:t>中的一个</a:t>
            </a:r>
            <a:r>
              <a:rPr lang="en-US" altLang="zh-CN" sz="2400" i="1" dirty="0"/>
              <a:t>n</a:t>
            </a:r>
            <a:r>
              <a:rPr lang="zh-CN" altLang="en-US" sz="2400" dirty="0"/>
              <a:t>元组，后</a:t>
            </a:r>
            <a:r>
              <a:rPr lang="en-US" altLang="zh-CN" sz="2400" i="1" dirty="0"/>
              <a:t>m</a:t>
            </a:r>
            <a:r>
              <a:rPr lang="zh-CN" altLang="en-US" sz="2400" dirty="0"/>
              <a:t>个分量为</a:t>
            </a:r>
            <a:r>
              <a:rPr lang="en-US" altLang="zh-CN" sz="2400" i="1" dirty="0"/>
              <a:t>S</a:t>
            </a:r>
            <a:r>
              <a:rPr lang="zh-CN" altLang="en-US" sz="2400" dirty="0"/>
              <a:t>中的一个</a:t>
            </a:r>
            <a:r>
              <a:rPr lang="en-US" altLang="zh-CN" sz="2400" i="1" dirty="0"/>
              <a:t>m</a:t>
            </a:r>
            <a:r>
              <a:rPr lang="zh-CN" altLang="en-US" sz="2400" dirty="0"/>
              <a:t>元组。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zh-CN" altLang="en-US" sz="2400" dirty="0"/>
              <a:t>若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</a:rPr>
              <a:t> = (r</a:t>
            </a:r>
            <a:r>
              <a:rPr lang="en-US" altLang="zh-CN" sz="2400" baseline="-20000" dirty="0">
                <a:latin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…</a:t>
            </a:r>
            <a:r>
              <a:rPr lang="en-US" altLang="zh-CN" sz="2400" baseline="-20000" dirty="0"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r</a:t>
            </a:r>
            <a:r>
              <a:rPr lang="en-US" altLang="zh-CN" sz="2400" baseline="-20000" dirty="0">
                <a:latin typeface="Arial" panose="020B0604020202020204" pitchFamily="34" charset="0"/>
              </a:rPr>
              <a:t>n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r>
              <a:rPr lang="zh-CN" altLang="en-US" sz="2400" dirty="0">
                <a:latin typeface="Arial" panose="020B0604020202020204" pitchFamily="34" charset="0"/>
              </a:rPr>
              <a:t>，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dirty="0">
                <a:latin typeface="Arial" panose="020B0604020202020204" pitchFamily="34" charset="0"/>
              </a:rPr>
              <a:t> = (s</a:t>
            </a:r>
            <a:r>
              <a:rPr lang="en-US" altLang="zh-CN" sz="2400" baseline="-20000" dirty="0">
                <a:latin typeface="Arial" panose="020B0604020202020204" pitchFamily="34" charset="0"/>
              </a:rPr>
              <a:t>1 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… 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s</a:t>
            </a:r>
            <a:r>
              <a:rPr lang="en-US" altLang="zh-CN" sz="2400" baseline="-20000" dirty="0">
                <a:latin typeface="Arial" panose="020B0604020202020204" pitchFamily="34" charset="0"/>
              </a:rPr>
              <a:t>m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zh-CN" altLang="en-US" sz="2400" dirty="0"/>
              <a:t>则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dirty="0">
                <a:latin typeface="Tahoma" panose="020B0604030504040204" pitchFamily="34" charset="0"/>
                <a:ea typeface="华文新魏" panose="02010800040101010101" pitchFamily="2" charset="-122"/>
              </a:rPr>
              <a:t> = </a:t>
            </a:r>
            <a:r>
              <a:rPr lang="en-US" altLang="zh-CN" sz="2400" dirty="0">
                <a:latin typeface="Arial" panose="020B0604020202020204" pitchFamily="34" charset="0"/>
                <a:ea typeface="华文新魏" panose="02010800040101010101" pitchFamily="2" charset="-122"/>
              </a:rPr>
              <a:t>(r</a:t>
            </a:r>
            <a:r>
              <a:rPr lang="en-US" altLang="zh-CN" sz="2400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  <a:ea typeface="华文新魏" panose="02010800040101010101" pitchFamily="2" charset="-122"/>
              </a:rPr>
              <a:t>…</a:t>
            </a:r>
            <a:r>
              <a:rPr lang="en-US" altLang="zh-CN" sz="2400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  <a:ea typeface="华文新魏" panose="02010800040101010101" pitchFamily="2" charset="-122"/>
              </a:rPr>
              <a:t>r</a:t>
            </a:r>
            <a:r>
              <a:rPr lang="en-US" altLang="zh-CN" sz="2400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n</a:t>
            </a:r>
            <a:r>
              <a:rPr lang="zh-CN" altLang="en-US" sz="2400" dirty="0">
                <a:latin typeface="Arial" panose="020B0604020202020204" pitchFamily="34" charset="0"/>
                <a:ea typeface="华文新魏" panose="02010800040101010101" pitchFamily="2" charset="-122"/>
              </a:rPr>
              <a:t>， </a:t>
            </a:r>
            <a:r>
              <a:rPr lang="en-US" altLang="zh-CN" sz="2400" dirty="0">
                <a:latin typeface="Arial" panose="020B0604020202020204" pitchFamily="34" charset="0"/>
                <a:ea typeface="华文新魏" panose="02010800040101010101" pitchFamily="2" charset="-122"/>
              </a:rPr>
              <a:t>s</a:t>
            </a:r>
            <a:r>
              <a:rPr lang="en-US" altLang="zh-CN" sz="2400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1 </a:t>
            </a:r>
            <a:r>
              <a:rPr lang="zh-CN" altLang="en-US" sz="2400" dirty="0">
                <a:latin typeface="Arial" panose="020B0604020202020204" pitchFamily="34" charset="0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  <a:ea typeface="华文新魏" panose="02010800040101010101" pitchFamily="2" charset="-122"/>
              </a:rPr>
              <a:t>… </a:t>
            </a:r>
            <a:r>
              <a:rPr lang="zh-CN" altLang="en-US" sz="2400" dirty="0">
                <a:latin typeface="Arial" panose="020B0604020202020204" pitchFamily="34" charset="0"/>
                <a:ea typeface="华文新魏" panose="02010800040101010101" pitchFamily="2" charset="-122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  <a:ea typeface="华文新魏" panose="02010800040101010101" pitchFamily="2" charset="-122"/>
              </a:rPr>
              <a:t>s</a:t>
            </a:r>
            <a:r>
              <a:rPr lang="en-US" altLang="zh-CN" sz="2400" baseline="-20000" dirty="0">
                <a:latin typeface="Arial" panose="020B0604020202020204" pitchFamily="34" charset="0"/>
                <a:ea typeface="华文新魏" panose="02010800040101010101" pitchFamily="2" charset="-122"/>
              </a:rPr>
              <a:t>m</a:t>
            </a:r>
            <a:r>
              <a:rPr lang="en-US" altLang="zh-CN" sz="2400" dirty="0">
                <a:latin typeface="Arial" panose="020B0604020202020204" pitchFamily="34" charset="0"/>
                <a:ea typeface="华文新魏" panose="02010800040101010101" pitchFamily="2" charset="-122"/>
              </a:rPr>
              <a:t>)</a:t>
            </a:r>
            <a:endParaRPr lang="en-US" altLang="zh-CN" sz="2400" dirty="0"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31749" name="Arc 4"/>
          <p:cNvSpPr/>
          <p:nvPr/>
        </p:nvSpPr>
        <p:spPr>
          <a:xfrm rot="-4200000">
            <a:off x="7753350" y="2533650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  <p:sp>
        <p:nvSpPr>
          <p:cNvPr id="31750" name="Arc 5"/>
          <p:cNvSpPr/>
          <p:nvPr/>
        </p:nvSpPr>
        <p:spPr>
          <a:xfrm rot="-4200000">
            <a:off x="1835150" y="1771650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609600" y="914400"/>
            <a:ext cx="8229600" cy="5410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2"/>
                </a:solidFill>
              </a:rPr>
              <a:t>（</a:t>
            </a:r>
            <a:r>
              <a:rPr lang="en-US" altLang="zh-CN" dirty="0">
                <a:solidFill>
                  <a:schemeClr val="accent2"/>
                </a:solidFill>
              </a:rPr>
              <a:t>3</a:t>
            </a:r>
            <a:r>
              <a:rPr lang="zh-CN" altLang="en-US" dirty="0">
                <a:solidFill>
                  <a:schemeClr val="accent2"/>
                </a:solidFill>
              </a:rPr>
              <a:t>）象集</a:t>
            </a:r>
            <a:r>
              <a:rPr lang="en-US" altLang="zh-CN" i="1" dirty="0">
                <a:solidFill>
                  <a:schemeClr val="accent2"/>
                </a:solidFill>
              </a:rPr>
              <a:t>Z</a:t>
            </a:r>
            <a:r>
              <a:rPr lang="en-US" altLang="zh-CN" baseline="-30000" dirty="0">
                <a:solidFill>
                  <a:schemeClr val="accent2"/>
                </a:solidFill>
              </a:rPr>
              <a:t>x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/>
              <a:t>给定一个关系</a:t>
            </a:r>
            <a:r>
              <a:rPr lang="en-US" altLang="zh-CN" i="1" dirty="0"/>
              <a:t>R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zh-CN" altLang="en-US" dirty="0"/>
              <a:t>，</a:t>
            </a:r>
            <a:r>
              <a:rPr lang="en-US" altLang="zh-CN" i="1" dirty="0"/>
              <a:t>Z</a:t>
            </a:r>
            <a:r>
              <a:rPr lang="zh-CN" altLang="en-US" dirty="0"/>
              <a:t>），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n-US" altLang="zh-CN" i="1" dirty="0"/>
              <a:t>Z</a:t>
            </a:r>
            <a:r>
              <a:rPr lang="zh-CN" altLang="en-US" dirty="0"/>
              <a:t>为属性</a:t>
            </a:r>
            <a:r>
              <a:rPr lang="zh-CN" altLang="en-US" dirty="0">
                <a:solidFill>
                  <a:srgbClr val="FF0000"/>
                </a:solidFill>
              </a:rPr>
              <a:t>组</a:t>
            </a:r>
            <a:r>
              <a:rPr lang="zh-CN" altLang="en-US" dirty="0"/>
              <a:t>。当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zh-CN" altLang="en-US" dirty="0"/>
              <a:t>时，</a:t>
            </a:r>
            <a:r>
              <a:rPr lang="en-US" altLang="zh-CN" i="1" dirty="0"/>
              <a:t>x</a:t>
            </a:r>
            <a:r>
              <a:rPr lang="zh-CN" altLang="en-US" dirty="0"/>
              <a:t>在</a:t>
            </a:r>
            <a:r>
              <a:rPr lang="en-US" altLang="zh-CN" i="1" dirty="0"/>
              <a:t>R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FF0000"/>
                </a:solidFill>
              </a:rPr>
              <a:t>象集</a:t>
            </a:r>
            <a:r>
              <a:rPr lang="zh-CN" altLang="en-US" dirty="0"/>
              <a:t>（</a:t>
            </a:r>
            <a:r>
              <a:rPr lang="en-US" altLang="zh-CN" dirty="0"/>
              <a:t>Images Set</a:t>
            </a:r>
            <a:r>
              <a:rPr lang="zh-CN" altLang="en-US" dirty="0"/>
              <a:t>）为：</a:t>
            </a:r>
            <a:endParaRPr lang="zh-CN" altLang="en-US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	           </a:t>
            </a:r>
            <a:r>
              <a:rPr lang="en-US" altLang="zh-CN" i="1" dirty="0">
                <a:solidFill>
                  <a:srgbClr val="E02920"/>
                </a:solidFill>
              </a:rPr>
              <a:t>Z</a:t>
            </a:r>
            <a:r>
              <a:rPr lang="en-US" altLang="zh-CN" baseline="-30000" dirty="0">
                <a:solidFill>
                  <a:srgbClr val="E02920"/>
                </a:solidFill>
              </a:rPr>
              <a:t>x</a:t>
            </a:r>
            <a:r>
              <a:rPr lang="en-US" altLang="zh-CN" dirty="0"/>
              <a:t>={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Z</a:t>
            </a:r>
            <a:r>
              <a:rPr lang="en-US" altLang="zh-CN" dirty="0"/>
              <a:t>]|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  <a:endParaRPr lang="en-US" altLang="zh-CN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dirty="0"/>
              <a:t> 	</a:t>
            </a:r>
            <a:r>
              <a:rPr lang="zh-CN" altLang="en-US" dirty="0"/>
              <a:t>它表示</a:t>
            </a:r>
            <a:r>
              <a:rPr lang="en-US" altLang="zh-CN" i="1" dirty="0"/>
              <a:t>R</a:t>
            </a:r>
            <a:r>
              <a:rPr lang="zh-CN" altLang="en-US" dirty="0"/>
              <a:t>中属性组</a:t>
            </a:r>
            <a:r>
              <a:rPr lang="en-US" altLang="zh-CN" i="1" dirty="0"/>
              <a:t>X</a:t>
            </a:r>
            <a:r>
              <a:rPr lang="zh-CN" altLang="en-US" dirty="0"/>
              <a:t>上值为</a:t>
            </a:r>
            <a:r>
              <a:rPr lang="en-US" altLang="zh-CN" i="1" dirty="0"/>
              <a:t>x</a:t>
            </a:r>
            <a:r>
              <a:rPr lang="zh-CN" altLang="en-US" dirty="0"/>
              <a:t>的诸元组在</a:t>
            </a:r>
            <a:r>
              <a:rPr lang="en-US" altLang="zh-CN" i="1" dirty="0"/>
              <a:t>Z</a:t>
            </a:r>
            <a:r>
              <a:rPr lang="zh-CN" altLang="en-US" dirty="0"/>
              <a:t>上分量的集合。 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graphicFrame>
        <p:nvGraphicFramePr>
          <p:cNvPr id="152578" name="Group 2"/>
          <p:cNvGraphicFramePr>
            <a:graphicFrameLocks noGrp="1"/>
          </p:cNvGraphicFramePr>
          <p:nvPr/>
        </p:nvGraphicFramePr>
        <p:xfrm>
          <a:off x="381000" y="1168400"/>
          <a:ext cx="3048000" cy="206375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</a:tblGrid>
              <a:tr h="4318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0203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吴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610" name="Group 34"/>
          <p:cNvGraphicFramePr>
            <a:graphicFrameLocks noGrp="1"/>
          </p:cNvGraphicFramePr>
          <p:nvPr/>
        </p:nvGraphicFramePr>
        <p:xfrm>
          <a:off x="381000" y="4419600"/>
          <a:ext cx="2895600" cy="2063750"/>
        </p:xfrm>
        <a:graphic>
          <a:graphicData uri="http://schemas.openxmlformats.org/drawingml/2006/table">
            <a:tbl>
              <a:tblPr/>
              <a:tblGrid>
                <a:gridCol w="762000"/>
                <a:gridCol w="1143000"/>
                <a:gridCol w="990600"/>
              </a:tblGrid>
              <a:tr h="43186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课号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CS145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8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CS148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CS180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0203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CS145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853" name="Text Box 60"/>
          <p:cNvSpPr txBox="1"/>
          <p:nvPr/>
        </p:nvSpPr>
        <p:spPr>
          <a:xfrm>
            <a:off x="3657600" y="381000"/>
            <a:ext cx="5270500" cy="2941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关系模式</a:t>
            </a:r>
            <a:r>
              <a:rPr lang="en-US" altLang="zh-CN" sz="2400" dirty="0">
                <a:solidFill>
                  <a:schemeClr val="tx1"/>
                </a:solidFill>
              </a:rPr>
              <a:t>: </a:t>
            </a:r>
            <a:r>
              <a:rPr lang="zh-CN" altLang="en-US" sz="2400" dirty="0">
                <a:solidFill>
                  <a:schemeClr val="tx1"/>
                </a:solidFill>
              </a:rPr>
              <a:t>学生</a:t>
            </a:r>
            <a:r>
              <a:rPr lang="en-US" altLang="zh-CN" sz="2400" dirty="0">
                <a:solidFill>
                  <a:schemeClr val="tx1"/>
                </a:solidFill>
              </a:rPr>
              <a:t>(</a:t>
            </a:r>
            <a:r>
              <a:rPr lang="zh-CN" altLang="en-US" sz="2400" dirty="0">
                <a:solidFill>
                  <a:schemeClr val="tx1"/>
                </a:solidFill>
              </a:rPr>
              <a:t>学号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姓名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性别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系别</a:t>
            </a:r>
            <a:r>
              <a:rPr lang="en-US" altLang="zh-CN" sz="2400" dirty="0">
                <a:solidFill>
                  <a:schemeClr val="tx1"/>
                </a:solidFill>
              </a:rPr>
              <a:t>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元组</a:t>
            </a:r>
            <a:r>
              <a:rPr lang="en-US" altLang="zh-CN" sz="2400" dirty="0">
                <a:solidFill>
                  <a:schemeClr val="accent2"/>
                </a:solidFill>
              </a:rPr>
              <a:t>t  </a:t>
            </a:r>
            <a:r>
              <a:rPr lang="en-US" altLang="zh-CN" sz="2400" dirty="0">
                <a:solidFill>
                  <a:schemeClr val="tx1"/>
                </a:solidFill>
              </a:rPr>
              <a:t> =   (0102,</a:t>
            </a:r>
            <a:r>
              <a:rPr lang="zh-CN" altLang="en-US" sz="2400" dirty="0">
                <a:solidFill>
                  <a:schemeClr val="tx1"/>
                </a:solidFill>
              </a:rPr>
              <a:t>李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女</a:t>
            </a:r>
            <a:r>
              <a:rPr lang="en-US" altLang="zh-CN" sz="2400" dirty="0">
                <a:solidFill>
                  <a:schemeClr val="tx1"/>
                </a:solidFill>
              </a:rPr>
              <a:t>,CS)  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 R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t[</a:t>
            </a:r>
            <a:r>
              <a:rPr lang="zh-CN" altLang="en-US" sz="2400" dirty="0">
                <a:solidFill>
                  <a:schemeClr val="tx1"/>
                </a:solidFill>
              </a:rPr>
              <a:t>性别</a:t>
            </a:r>
            <a:r>
              <a:rPr lang="en-US" altLang="zh-CN" sz="2400" dirty="0">
                <a:solidFill>
                  <a:schemeClr val="tx1"/>
                </a:solidFill>
              </a:rPr>
              <a:t>]  =    </a:t>
            </a:r>
            <a:r>
              <a:rPr lang="zh-CN" altLang="en-US" sz="2400" dirty="0">
                <a:solidFill>
                  <a:schemeClr val="tx1"/>
                </a:solidFill>
              </a:rPr>
              <a:t>女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属性组</a:t>
            </a:r>
            <a:r>
              <a:rPr lang="en-US" altLang="zh-CN" sz="2400" dirty="0">
                <a:solidFill>
                  <a:schemeClr val="tx1"/>
                </a:solidFill>
              </a:rPr>
              <a:t>X  =   {</a:t>
            </a:r>
            <a:r>
              <a:rPr lang="zh-CN" altLang="en-US" sz="2400" dirty="0">
                <a:solidFill>
                  <a:schemeClr val="tx1"/>
                </a:solidFill>
              </a:rPr>
              <a:t>性别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系别</a:t>
            </a:r>
            <a:r>
              <a:rPr lang="en-US" altLang="zh-CN" sz="2400" dirty="0">
                <a:solidFill>
                  <a:schemeClr val="tx1"/>
                </a:solidFill>
              </a:rPr>
              <a:t>}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t[X]</a:t>
            </a:r>
            <a:r>
              <a:rPr lang="en-US" altLang="zh-CN" sz="2400" dirty="0">
                <a:solidFill>
                  <a:schemeClr val="tx1"/>
                </a:solidFill>
              </a:rPr>
              <a:t> = t[</a:t>
            </a:r>
            <a:r>
              <a:rPr lang="zh-CN" altLang="en-US" sz="2400" dirty="0">
                <a:solidFill>
                  <a:schemeClr val="tx1"/>
                </a:solidFill>
              </a:rPr>
              <a:t>性别</a:t>
            </a:r>
            <a:r>
              <a:rPr lang="en-US" altLang="zh-CN" sz="2400" dirty="0">
                <a:solidFill>
                  <a:schemeClr val="tx1"/>
                </a:solidFill>
              </a:rPr>
              <a:t>,</a:t>
            </a:r>
            <a:r>
              <a:rPr lang="zh-CN" altLang="en-US" sz="2400" dirty="0">
                <a:solidFill>
                  <a:schemeClr val="tx1"/>
                </a:solidFill>
              </a:rPr>
              <a:t>系别</a:t>
            </a:r>
            <a:r>
              <a:rPr lang="en-US" altLang="zh-CN" sz="2400" dirty="0">
                <a:solidFill>
                  <a:schemeClr val="tx1"/>
                </a:solidFill>
              </a:rPr>
              <a:t>] =  </a:t>
            </a:r>
            <a:r>
              <a:rPr lang="en-US" altLang="zh-CN" sz="2400" dirty="0">
                <a:solidFill>
                  <a:schemeClr val="accent2"/>
                </a:solidFill>
              </a:rPr>
              <a:t>(</a:t>
            </a:r>
            <a:r>
              <a:rPr lang="zh-CN" altLang="en-US" sz="2400" dirty="0">
                <a:solidFill>
                  <a:schemeClr val="accent2"/>
                </a:solidFill>
              </a:rPr>
              <a:t>女</a:t>
            </a:r>
            <a:r>
              <a:rPr lang="en-US" altLang="zh-CN" sz="2400" dirty="0">
                <a:solidFill>
                  <a:schemeClr val="accent2"/>
                </a:solidFill>
              </a:rPr>
              <a:t>,CS) = </a:t>
            </a:r>
            <a:r>
              <a:rPr lang="en-US" altLang="zh-CN" i="1" dirty="0"/>
              <a:t>x</a:t>
            </a:r>
            <a:r>
              <a:rPr lang="en-US" altLang="zh-CN" i="1" dirty="0">
                <a:solidFill>
                  <a:schemeClr val="tx1"/>
                </a:solidFill>
              </a:rPr>
              <a:t> </a:t>
            </a:r>
            <a:endParaRPr lang="en-US" altLang="zh-CN" i="1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象集</a:t>
            </a:r>
            <a:r>
              <a:rPr lang="en-US" altLang="zh-CN" sz="2400" dirty="0">
                <a:solidFill>
                  <a:schemeClr val="tx1"/>
                </a:solidFill>
              </a:rPr>
              <a:t>Z</a:t>
            </a:r>
            <a:r>
              <a:rPr lang="en-US" altLang="zh-CN" sz="2400" i="1" baseline="-25000" dirty="0">
                <a:solidFill>
                  <a:schemeClr val="tx1"/>
                </a:solidFill>
              </a:rPr>
              <a:t>X </a:t>
            </a:r>
            <a:r>
              <a:rPr lang="en-US" altLang="zh-CN" sz="2400" dirty="0">
                <a:solidFill>
                  <a:schemeClr val="tx1"/>
                </a:solidFill>
              </a:rPr>
              <a:t>=  ? </a:t>
            </a:r>
            <a:r>
              <a:rPr lang="zh-CN" altLang="en-US" sz="2400" dirty="0">
                <a:solidFill>
                  <a:schemeClr val="tx1"/>
                </a:solidFill>
              </a:rPr>
              <a:t>含义是什么？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3854" name="Text Box 61"/>
          <p:cNvSpPr txBox="1"/>
          <p:nvPr/>
        </p:nvSpPr>
        <p:spPr>
          <a:xfrm>
            <a:off x="2362200" y="685800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X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33855" name="Text Box 62"/>
          <p:cNvSpPr txBox="1"/>
          <p:nvPr/>
        </p:nvSpPr>
        <p:spPr>
          <a:xfrm>
            <a:off x="914400" y="685800"/>
            <a:ext cx="4318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Z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33856" name="Text Box 63"/>
          <p:cNvSpPr txBox="1"/>
          <p:nvPr/>
        </p:nvSpPr>
        <p:spPr>
          <a:xfrm>
            <a:off x="546100" y="3898900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X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33857" name="Text Box 64"/>
          <p:cNvSpPr txBox="1"/>
          <p:nvPr/>
        </p:nvSpPr>
        <p:spPr>
          <a:xfrm>
            <a:off x="1511300" y="3924300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Y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33858" name="Text Box 65"/>
          <p:cNvSpPr txBox="1"/>
          <p:nvPr/>
        </p:nvSpPr>
        <p:spPr>
          <a:xfrm>
            <a:off x="2565400" y="3949700"/>
            <a:ext cx="4318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Z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33859" name="Text Box 66"/>
          <p:cNvSpPr txBox="1"/>
          <p:nvPr/>
        </p:nvSpPr>
        <p:spPr>
          <a:xfrm>
            <a:off x="3505200" y="4191000"/>
            <a:ext cx="533400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</a:rPr>
              <a:t>y</a:t>
            </a:r>
            <a:r>
              <a:rPr lang="en-US" altLang="zh-CN" sz="2400" dirty="0">
                <a:solidFill>
                  <a:schemeClr val="tx1"/>
                </a:solidFill>
              </a:rPr>
              <a:t>=CS145,    Z</a:t>
            </a:r>
            <a:r>
              <a:rPr lang="en-US" altLang="zh-CN" sz="2400" baseline="-25000" dirty="0">
                <a:solidFill>
                  <a:schemeClr val="tx1"/>
                </a:solidFill>
              </a:rPr>
              <a:t>y</a:t>
            </a:r>
            <a:r>
              <a:rPr lang="en-US" altLang="zh-CN" sz="2400" dirty="0">
                <a:solidFill>
                  <a:schemeClr val="tx1"/>
                </a:solidFill>
              </a:rPr>
              <a:t> = ?      X</a:t>
            </a:r>
            <a:r>
              <a:rPr lang="en-US" altLang="zh-CN" sz="2400" baseline="-25000" dirty="0">
                <a:solidFill>
                  <a:schemeClr val="tx1"/>
                </a:solidFill>
              </a:rPr>
              <a:t>y</a:t>
            </a:r>
            <a:r>
              <a:rPr lang="en-US" altLang="zh-CN" sz="2400" dirty="0">
                <a:solidFill>
                  <a:schemeClr val="tx1"/>
                </a:solidFill>
              </a:rPr>
              <a:t> = ?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</a:rPr>
              <a:t>x</a:t>
            </a:r>
            <a:r>
              <a:rPr lang="en-US" altLang="zh-CN" sz="2400" dirty="0">
                <a:solidFill>
                  <a:schemeClr val="tx1"/>
                </a:solidFill>
              </a:rPr>
              <a:t>=0101,     Y</a:t>
            </a:r>
            <a:r>
              <a:rPr lang="en-US" altLang="zh-CN" sz="2400" baseline="-25000" dirty="0">
                <a:solidFill>
                  <a:schemeClr val="tx1"/>
                </a:solidFill>
              </a:rPr>
              <a:t>x</a:t>
            </a:r>
            <a:r>
              <a:rPr lang="en-US" altLang="zh-CN" sz="2400" dirty="0">
                <a:solidFill>
                  <a:schemeClr val="tx1"/>
                </a:solidFill>
              </a:rPr>
              <a:t> = ?        Z</a:t>
            </a:r>
            <a:r>
              <a:rPr lang="en-US" altLang="zh-CN" sz="2400" baseline="-25000" dirty="0">
                <a:solidFill>
                  <a:schemeClr val="tx1"/>
                </a:solidFill>
              </a:rPr>
              <a:t>x</a:t>
            </a:r>
            <a:r>
              <a:rPr lang="en-US" altLang="zh-CN" sz="2400" dirty="0">
                <a:solidFill>
                  <a:schemeClr val="tx1"/>
                </a:solidFill>
              </a:rPr>
              <a:t> = ?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设 </a:t>
            </a:r>
            <a:r>
              <a:rPr lang="en-US" altLang="zh-CN" sz="2400" dirty="0">
                <a:solidFill>
                  <a:schemeClr val="tx1"/>
                </a:solidFill>
              </a:rPr>
              <a:t>P={</a:t>
            </a:r>
            <a:r>
              <a:rPr lang="zh-CN" altLang="en-US" sz="2400" dirty="0">
                <a:solidFill>
                  <a:schemeClr val="tx1"/>
                </a:solidFill>
              </a:rPr>
              <a:t>学号，成绩</a:t>
            </a:r>
            <a:r>
              <a:rPr lang="en-US" altLang="zh-CN" sz="2400" dirty="0">
                <a:solidFill>
                  <a:schemeClr val="tx1"/>
                </a:solidFill>
              </a:rPr>
              <a:t>} , Q = {</a:t>
            </a:r>
            <a:r>
              <a:rPr lang="zh-CN" altLang="en-US" sz="2400" dirty="0">
                <a:solidFill>
                  <a:schemeClr val="tx1"/>
                </a:solidFill>
              </a:rPr>
              <a:t>课号，成绩</a:t>
            </a:r>
            <a:r>
              <a:rPr lang="en-US" altLang="zh-CN" sz="2400" dirty="0">
                <a:solidFill>
                  <a:schemeClr val="tx1"/>
                </a:solidFill>
              </a:rPr>
              <a:t>}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</a:rPr>
              <a:t>y</a:t>
            </a:r>
            <a:r>
              <a:rPr lang="en-US" altLang="zh-CN" sz="2400" dirty="0">
                <a:solidFill>
                  <a:schemeClr val="tx1"/>
                </a:solidFill>
              </a:rPr>
              <a:t>=CS145 </a:t>
            </a:r>
            <a:r>
              <a:rPr lang="zh-CN" altLang="en-US" sz="2400" dirty="0">
                <a:solidFill>
                  <a:schemeClr val="tx1"/>
                </a:solidFill>
              </a:rPr>
              <a:t>， </a:t>
            </a:r>
            <a:r>
              <a:rPr lang="en-US" altLang="zh-CN" sz="2400" dirty="0">
                <a:solidFill>
                  <a:schemeClr val="tx1"/>
                </a:solidFill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</a:rPr>
              <a:t>Y</a:t>
            </a:r>
            <a:r>
              <a:rPr lang="en-US" altLang="zh-CN" sz="2400" dirty="0">
                <a:solidFill>
                  <a:schemeClr val="tx1"/>
                </a:solidFill>
              </a:rPr>
              <a:t> = ?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</a:rPr>
              <a:t>x</a:t>
            </a:r>
            <a:r>
              <a:rPr lang="en-US" altLang="zh-CN" sz="2400" dirty="0">
                <a:solidFill>
                  <a:schemeClr val="tx1"/>
                </a:solidFill>
              </a:rPr>
              <a:t>=0101,        Q</a:t>
            </a:r>
            <a:r>
              <a:rPr lang="en-US" altLang="zh-CN" sz="2400" baseline="-25000" dirty="0">
                <a:solidFill>
                  <a:schemeClr val="tx1"/>
                </a:solidFill>
              </a:rPr>
              <a:t>X</a:t>
            </a:r>
            <a:r>
              <a:rPr lang="en-US" altLang="zh-CN" sz="2400" dirty="0">
                <a:solidFill>
                  <a:schemeClr val="tx1"/>
                </a:solidFill>
              </a:rPr>
              <a:t> = ? 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33860" name="Text Box 67"/>
          <p:cNvSpPr txBox="1"/>
          <p:nvPr/>
        </p:nvSpPr>
        <p:spPr>
          <a:xfrm>
            <a:off x="1362075" y="171450"/>
            <a:ext cx="477838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经典综艺体简" pitchFamily="49" charset="-122"/>
              </a:rPr>
              <a:t>R</a:t>
            </a:r>
            <a:endParaRPr lang="en-US" altLang="zh-CN" dirty="0">
              <a:solidFill>
                <a:srgbClr val="FF0000"/>
              </a:solidFill>
              <a:ea typeface="经典综艺体简" pitchFamily="49" charset="-122"/>
            </a:endParaRPr>
          </a:p>
        </p:txBody>
      </p:sp>
      <p:sp>
        <p:nvSpPr>
          <p:cNvPr id="33861" name="Text Box 68"/>
          <p:cNvSpPr txBox="1"/>
          <p:nvPr/>
        </p:nvSpPr>
        <p:spPr>
          <a:xfrm>
            <a:off x="1600200" y="3352800"/>
            <a:ext cx="409575" cy="57943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rgbClr val="FF0000"/>
                </a:solidFill>
                <a:ea typeface="经典综艺体简" pitchFamily="49" charset="-122"/>
              </a:rPr>
              <a:t>S</a:t>
            </a:r>
            <a:endParaRPr lang="en-US" altLang="zh-CN" dirty="0">
              <a:solidFill>
                <a:srgbClr val="FF0000"/>
              </a:solidFill>
              <a:ea typeface="经典综艺体简" pitchFamily="49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533400" y="838200"/>
            <a:ext cx="83820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4000" dirty="0">
                <a:solidFill>
                  <a:schemeClr val="tx1"/>
                </a:solidFill>
              </a:rPr>
              <a:t>1. </a:t>
            </a:r>
            <a:r>
              <a:rPr lang="zh-CN" altLang="en-US" sz="4000" dirty="0">
                <a:solidFill>
                  <a:schemeClr val="tx1"/>
                </a:solidFill>
              </a:rPr>
              <a:t>选择  </a:t>
            </a:r>
            <a:r>
              <a:rPr lang="en-US" altLang="zh-CN" sz="4000" dirty="0">
                <a:solidFill>
                  <a:schemeClr val="tx1"/>
                </a:solidFill>
              </a:rPr>
              <a:t>σ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lvl="1" algn="just" eaLnBrk="1" hangingPunct="1"/>
            <a:r>
              <a:rPr lang="zh-CN" altLang="en-US" dirty="0"/>
              <a:t>在关系</a:t>
            </a:r>
            <a:r>
              <a:rPr lang="en-US" altLang="zh-CN" i="1" dirty="0"/>
              <a:t>R</a:t>
            </a:r>
            <a:r>
              <a:rPr lang="zh-CN" altLang="en-US" dirty="0"/>
              <a:t>中选择满足给定条件的诸元组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               </a:t>
            </a:r>
            <a:r>
              <a:rPr lang="en-US" altLang="zh-CN" sz="3200" dirty="0">
                <a:solidFill>
                  <a:schemeClr val="accent2"/>
                </a:solidFill>
                <a:latin typeface="Arial" panose="020B0604020202020204" pitchFamily="34" charset="0"/>
              </a:rPr>
              <a:t>σ</a:t>
            </a:r>
            <a:r>
              <a:rPr lang="en-US" altLang="zh-CN" baseline="-30000" dirty="0">
                <a:solidFill>
                  <a:schemeClr val="accent2"/>
                </a:solidFill>
                <a:latin typeface="Arial" panose="020B0604020202020204" pitchFamily="34" charset="0"/>
              </a:rPr>
              <a:t>F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) = {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|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∧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F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altLang="zh-CN" i="1" dirty="0">
                <a:solidFill>
                  <a:schemeClr val="accent2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)= '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真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'}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lvl="1" algn="just" eaLnBrk="1" hangingPunct="1"/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</a:t>
            </a:r>
            <a:r>
              <a:rPr lang="zh-CN" altLang="en-US" dirty="0"/>
              <a:t>：选择条件，是一个逻辑表达式，基本形式为：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accent2"/>
                </a:solidFill>
              </a:rPr>
              <a:t>           </a:t>
            </a:r>
            <a:r>
              <a:rPr lang="en-US" altLang="zh-CN" dirty="0">
                <a:solidFill>
                  <a:schemeClr val="accent2"/>
                </a:solidFill>
              </a:rPr>
              <a:t>[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( ]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i="1" dirty="0">
                <a:solidFill>
                  <a:schemeClr val="accent2"/>
                </a:solidFill>
              </a:rPr>
              <a:t>X</a:t>
            </a:r>
            <a:r>
              <a:rPr lang="en-US" altLang="zh-CN" baseline="-25000" dirty="0">
                <a:solidFill>
                  <a:schemeClr val="accent2"/>
                </a:solidFill>
              </a:rPr>
              <a:t>1</a:t>
            </a:r>
            <a:r>
              <a:rPr lang="en-US" altLang="zh-CN" dirty="0">
                <a:solidFill>
                  <a:schemeClr val="accent2"/>
                </a:solidFill>
              </a:rPr>
              <a:t>θ</a:t>
            </a:r>
            <a:r>
              <a:rPr lang="en-US" altLang="zh-CN" i="1" dirty="0">
                <a:solidFill>
                  <a:schemeClr val="accent2"/>
                </a:solidFill>
              </a:rPr>
              <a:t>Y</a:t>
            </a:r>
            <a:r>
              <a:rPr lang="en-US" altLang="zh-CN" baseline="-25000" dirty="0">
                <a:solidFill>
                  <a:schemeClr val="accent2"/>
                </a:solidFill>
              </a:rPr>
              <a:t>1</a:t>
            </a:r>
            <a:r>
              <a:rPr lang="en-US" altLang="zh-CN" dirty="0">
                <a:solidFill>
                  <a:schemeClr val="accent2"/>
                </a:solidFill>
              </a:rPr>
              <a:t> [ )][</a:t>
            </a:r>
            <a:r>
              <a:rPr lang="en-US" altLang="zh-CN" i="1" dirty="0">
                <a:solidFill>
                  <a:schemeClr val="accent2"/>
                </a:solidFill>
              </a:rPr>
              <a:t>φ </a:t>
            </a:r>
            <a:r>
              <a:rPr lang="en-US" altLang="zh-CN" dirty="0">
                <a:solidFill>
                  <a:schemeClr val="accent2"/>
                </a:solidFill>
              </a:rPr>
              <a:t>[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( ]</a:t>
            </a:r>
            <a:r>
              <a:rPr lang="en-US" altLang="zh-CN" i="1" dirty="0">
                <a:solidFill>
                  <a:schemeClr val="accent2"/>
                </a:solidFill>
              </a:rPr>
              <a:t> X</a:t>
            </a:r>
            <a:r>
              <a:rPr lang="en-US" altLang="zh-CN" baseline="-25000" dirty="0">
                <a:solidFill>
                  <a:schemeClr val="accent2"/>
                </a:solidFill>
              </a:rPr>
              <a:t>2</a:t>
            </a:r>
            <a:r>
              <a:rPr lang="en-US" altLang="zh-CN" dirty="0">
                <a:solidFill>
                  <a:schemeClr val="accent2"/>
                </a:solidFill>
              </a:rPr>
              <a:t>θ</a:t>
            </a:r>
            <a:r>
              <a:rPr lang="en-US" altLang="zh-CN" i="1" dirty="0">
                <a:solidFill>
                  <a:schemeClr val="accent2"/>
                </a:solidFill>
              </a:rPr>
              <a:t>Y</a:t>
            </a:r>
            <a:r>
              <a:rPr lang="en-US" altLang="zh-CN" baseline="-25000" dirty="0">
                <a:solidFill>
                  <a:schemeClr val="accent2"/>
                </a:solidFill>
              </a:rPr>
              <a:t>2</a:t>
            </a:r>
            <a:r>
              <a:rPr lang="en-US" altLang="zh-CN" dirty="0">
                <a:solidFill>
                  <a:schemeClr val="accent2"/>
                </a:solidFill>
              </a:rPr>
              <a:t> [ )]]…</a:t>
            </a:r>
            <a:endParaRPr lang="en-US" altLang="zh-CN" dirty="0">
              <a:solidFill>
                <a:schemeClr val="accent2"/>
              </a:solidFill>
            </a:endParaRPr>
          </a:p>
          <a:p>
            <a:pPr lvl="2" algn="just" eaLnBrk="1" hangingPunct="1"/>
            <a:r>
              <a:rPr lang="en-US" altLang="zh-CN" dirty="0"/>
              <a:t>θ</a:t>
            </a:r>
            <a:r>
              <a:rPr lang="zh-CN" altLang="en-US" dirty="0"/>
              <a:t>：比较运算符（＞，≥，＜，≤，＝或</a:t>
            </a:r>
            <a:r>
              <a:rPr lang="en-US" altLang="zh-CN" dirty="0"/>
              <a:t>&lt;&gt;</a:t>
            </a:r>
            <a:r>
              <a:rPr lang="zh-CN" altLang="en-US" dirty="0"/>
              <a:t>）</a:t>
            </a:r>
            <a:endParaRPr lang="zh-CN" altLang="en-US" dirty="0"/>
          </a:p>
          <a:p>
            <a:pPr lvl="2" algn="just" eaLnBrk="1" hangingPunct="1"/>
            <a:r>
              <a:rPr lang="en-US" altLang="zh-CN" dirty="0"/>
              <a:t>X</a:t>
            </a:r>
            <a:r>
              <a:rPr lang="en-US" altLang="zh-CN" sz="2800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en-US" altLang="zh-CN" baseline="-25000" dirty="0"/>
              <a:t>1</a:t>
            </a:r>
            <a:r>
              <a:rPr lang="zh-CN" altLang="en-US" dirty="0"/>
              <a:t>等：属性名、常量、简单函数；属性名也可以用它的序号来代替；</a:t>
            </a:r>
            <a:endParaRPr lang="zh-CN" altLang="en-US" dirty="0"/>
          </a:p>
          <a:p>
            <a:pPr lvl="2" algn="just" eaLnBrk="1" hangingPunct="1"/>
            <a:r>
              <a:rPr lang="en-US" altLang="zh-CN" dirty="0"/>
              <a:t>φ</a:t>
            </a:r>
            <a:r>
              <a:rPr lang="zh-CN" altLang="en-US" dirty="0"/>
              <a:t>：逻辑运算符（∧或∨）</a:t>
            </a:r>
            <a:endParaRPr lang="zh-CN" altLang="en-US" dirty="0"/>
          </a:p>
          <a:p>
            <a:pPr lvl="2" algn="just" eaLnBrk="1" hangingPunct="1"/>
            <a:r>
              <a:rPr lang="en-US" altLang="zh-CN" dirty="0"/>
              <a:t>[ ]</a:t>
            </a:r>
            <a:r>
              <a:rPr lang="zh-CN" altLang="en-US" dirty="0"/>
              <a:t>：表示任选项</a:t>
            </a:r>
            <a:endParaRPr lang="zh-CN" altLang="en-US" dirty="0"/>
          </a:p>
          <a:p>
            <a:pPr lvl="2" algn="just" eaLnBrk="1" hangingPunct="1"/>
            <a:r>
              <a:rPr lang="en-US" altLang="zh-CN" dirty="0"/>
              <a:t>…</a:t>
            </a:r>
            <a:r>
              <a:rPr lang="zh-CN" altLang="en-US" dirty="0"/>
              <a:t>：表示上述格式可以重复下去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533400" y="838200"/>
            <a:ext cx="8382000" cy="68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4000" dirty="0">
                <a:solidFill>
                  <a:schemeClr val="tx1"/>
                </a:solidFill>
              </a:rPr>
              <a:t>选择</a:t>
            </a:r>
            <a:r>
              <a:rPr lang="en-US" altLang="zh-CN" sz="4000" dirty="0">
                <a:solidFill>
                  <a:schemeClr val="tx1"/>
                </a:solidFill>
              </a:rPr>
              <a:t>(</a:t>
            </a:r>
            <a:r>
              <a:rPr lang="zh-CN" altLang="en-US" sz="4000" dirty="0">
                <a:solidFill>
                  <a:schemeClr val="tx1"/>
                </a:solidFill>
              </a:rPr>
              <a:t>续</a:t>
            </a:r>
            <a:r>
              <a:rPr lang="en-US" altLang="zh-CN" sz="4000" dirty="0">
                <a:solidFill>
                  <a:schemeClr val="tx1"/>
                </a:solidFill>
              </a:rPr>
              <a:t>)  </a:t>
            </a:r>
            <a:endParaRPr lang="en-US" altLang="zh-CN" sz="4000" dirty="0">
              <a:solidFill>
                <a:schemeClr val="tx1"/>
              </a:solidFill>
            </a:endParaRPr>
          </a:p>
        </p:txBody>
      </p:sp>
      <p:graphicFrame>
        <p:nvGraphicFramePr>
          <p:cNvPr id="108548" name="Group 4"/>
          <p:cNvGraphicFramePr>
            <a:graphicFrameLocks noGrp="1"/>
          </p:cNvGraphicFramePr>
          <p:nvPr/>
        </p:nvGraphicFramePr>
        <p:xfrm>
          <a:off x="762000" y="2590800"/>
          <a:ext cx="3124200" cy="2590800"/>
        </p:xfrm>
        <a:graphic>
          <a:graphicData uri="http://schemas.openxmlformats.org/drawingml/2006/table">
            <a:tbl>
              <a:tblPr/>
              <a:tblGrid>
                <a:gridCol w="1041400"/>
                <a:gridCol w="1041400"/>
                <a:gridCol w="1041400"/>
              </a:tblGrid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71" name="Text Box 30"/>
          <p:cNvSpPr txBox="1"/>
          <p:nvPr/>
        </p:nvSpPr>
        <p:spPr>
          <a:xfrm>
            <a:off x="1600200" y="1752600"/>
            <a:ext cx="838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sz="36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72" name="Text Box 31"/>
          <p:cNvSpPr txBox="1"/>
          <p:nvPr/>
        </p:nvSpPr>
        <p:spPr>
          <a:xfrm>
            <a:off x="5791200" y="990600"/>
            <a:ext cx="1600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600" b="0" baseline="-200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A&lt;5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(R)</a:t>
            </a:r>
            <a:r>
              <a:rPr lang="en-US" altLang="zh-CN" sz="3600" b="0" dirty="0">
                <a:solidFill>
                  <a:schemeClr val="tx1"/>
                </a:solidFill>
              </a:rPr>
              <a:t> 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graphicFrame>
        <p:nvGraphicFramePr>
          <p:cNvPr id="108576" name="Group 32"/>
          <p:cNvGraphicFramePr>
            <a:graphicFrameLocks noGrp="1"/>
          </p:cNvGraphicFramePr>
          <p:nvPr/>
        </p:nvGraphicFramePr>
        <p:xfrm>
          <a:off x="4953000" y="1752600"/>
          <a:ext cx="3048000" cy="2073275"/>
        </p:xfrm>
        <a:graphic>
          <a:graphicData uri="http://schemas.openxmlformats.org/drawingml/2006/table">
            <a:tbl>
              <a:tblPr/>
              <a:tblGrid>
                <a:gridCol w="1016000"/>
                <a:gridCol w="1016000"/>
                <a:gridCol w="10160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895" name="Text Box 54"/>
          <p:cNvSpPr txBox="1"/>
          <p:nvPr/>
        </p:nvSpPr>
        <p:spPr>
          <a:xfrm>
            <a:off x="5410200" y="40386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600" b="0" baseline="-200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A&lt;5 </a:t>
            </a:r>
            <a:r>
              <a:rPr lang="en-US" altLang="zh-CN" sz="28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 </a:t>
            </a:r>
            <a:r>
              <a:rPr lang="en-US" altLang="zh-CN" sz="3600" b="0" baseline="-200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C=7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(R)</a:t>
            </a:r>
            <a:r>
              <a:rPr lang="en-US" altLang="zh-CN" sz="3600" b="0" dirty="0">
                <a:solidFill>
                  <a:schemeClr val="tx1"/>
                </a:solidFill>
              </a:rPr>
              <a:t> 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graphicFrame>
        <p:nvGraphicFramePr>
          <p:cNvPr id="108599" name="Group 55"/>
          <p:cNvGraphicFramePr>
            <a:graphicFrameLocks noGrp="1"/>
          </p:cNvGraphicFramePr>
          <p:nvPr/>
        </p:nvGraphicFramePr>
        <p:xfrm>
          <a:off x="5257800" y="4876800"/>
          <a:ext cx="2514600" cy="1554163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  <a:gridCol w="838200"/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3" marB="456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533400" y="838200"/>
            <a:ext cx="8382000" cy="68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4000" dirty="0">
                <a:solidFill>
                  <a:schemeClr val="tx1"/>
                </a:solidFill>
              </a:rPr>
              <a:t>选择</a:t>
            </a:r>
            <a:r>
              <a:rPr lang="en-US" altLang="zh-CN" sz="4000" dirty="0">
                <a:solidFill>
                  <a:schemeClr val="tx1"/>
                </a:solidFill>
              </a:rPr>
              <a:t>(</a:t>
            </a:r>
            <a:r>
              <a:rPr lang="zh-CN" altLang="en-US" sz="4000" dirty="0">
                <a:solidFill>
                  <a:schemeClr val="tx1"/>
                </a:solidFill>
              </a:rPr>
              <a:t>续</a:t>
            </a:r>
            <a:r>
              <a:rPr lang="en-US" altLang="zh-CN" sz="4000" dirty="0">
                <a:solidFill>
                  <a:schemeClr val="tx1"/>
                </a:solidFill>
              </a:rPr>
              <a:t>)  </a:t>
            </a:r>
            <a:endParaRPr lang="en-US" altLang="zh-CN" sz="4000" dirty="0">
              <a:solidFill>
                <a:schemeClr val="tx1"/>
              </a:solidFill>
            </a:endParaRPr>
          </a:p>
        </p:txBody>
      </p:sp>
      <p:graphicFrame>
        <p:nvGraphicFramePr>
          <p:cNvPr id="109572" name="Group 4"/>
          <p:cNvGraphicFramePr>
            <a:graphicFrameLocks noGrp="1"/>
          </p:cNvGraphicFramePr>
          <p:nvPr/>
        </p:nvGraphicFramePr>
        <p:xfrm>
          <a:off x="304800" y="2971800"/>
          <a:ext cx="4191000" cy="2786063"/>
        </p:xfrm>
        <a:graphic>
          <a:graphicData uri="http://schemas.openxmlformats.org/drawingml/2006/table">
            <a:tbl>
              <a:tblPr/>
              <a:tblGrid>
                <a:gridCol w="1047750"/>
                <a:gridCol w="1047750"/>
                <a:gridCol w="1047750"/>
                <a:gridCol w="1047750"/>
              </a:tblGrid>
              <a:tr h="896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SEX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DEPT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系别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30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8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8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0203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8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吴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901" name="Text Box 36"/>
          <p:cNvSpPr txBox="1"/>
          <p:nvPr/>
        </p:nvSpPr>
        <p:spPr>
          <a:xfrm>
            <a:off x="5562600" y="19812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600" b="0" baseline="-200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Dept=</a:t>
            </a:r>
            <a:r>
              <a:rPr lang="en-US" altLang="zh-CN" sz="3600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‘</a:t>
            </a:r>
            <a:r>
              <a:rPr lang="en-US" altLang="zh-CN" sz="3600" b="0" baseline="-200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CS</a:t>
            </a:r>
            <a:r>
              <a:rPr lang="en-US" altLang="zh-CN" sz="3600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’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(S)</a:t>
            </a:r>
            <a:r>
              <a:rPr lang="en-US" altLang="zh-CN" sz="3600" b="0" dirty="0">
                <a:solidFill>
                  <a:schemeClr val="tx1"/>
                </a:solidFill>
              </a:rPr>
              <a:t> 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  <p:sp>
        <p:nvSpPr>
          <p:cNvPr id="36902" name="Text Box 37"/>
          <p:cNvSpPr txBox="1"/>
          <p:nvPr/>
        </p:nvSpPr>
        <p:spPr>
          <a:xfrm>
            <a:off x="1981200" y="2133600"/>
            <a:ext cx="838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sz="36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9606" name="Group 38"/>
          <p:cNvGraphicFramePr>
            <a:graphicFrameLocks noGrp="1"/>
          </p:cNvGraphicFramePr>
          <p:nvPr/>
        </p:nvGraphicFramePr>
        <p:xfrm>
          <a:off x="4724400" y="2971800"/>
          <a:ext cx="4191000" cy="2276475"/>
        </p:xfrm>
        <a:graphic>
          <a:graphicData uri="http://schemas.openxmlformats.org/drawingml/2006/table">
            <a:tbl>
              <a:tblPr/>
              <a:tblGrid>
                <a:gridCol w="1047750"/>
                <a:gridCol w="1047750"/>
                <a:gridCol w="1047750"/>
                <a:gridCol w="1047750"/>
              </a:tblGrid>
              <a:tr h="89606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SNO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学号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SEX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性别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DEPT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系别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13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13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13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吴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930" name="Text Box 65"/>
          <p:cNvSpPr txBox="1"/>
          <p:nvPr/>
        </p:nvSpPr>
        <p:spPr>
          <a:xfrm>
            <a:off x="5562600" y="12192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600" b="0" baseline="-200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4=</a:t>
            </a:r>
            <a:r>
              <a:rPr lang="en-US" altLang="zh-CN" sz="3600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‘</a:t>
            </a:r>
            <a:r>
              <a:rPr lang="en-US" altLang="zh-CN" sz="3600" b="0" baseline="-200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CS</a:t>
            </a:r>
            <a:r>
              <a:rPr lang="en-US" altLang="zh-CN" sz="3600" b="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’</a:t>
            </a: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(S)</a:t>
            </a:r>
            <a:r>
              <a:rPr lang="en-US" altLang="zh-CN" sz="3600" b="0" dirty="0">
                <a:solidFill>
                  <a:schemeClr val="tx1"/>
                </a:solidFill>
              </a:rPr>
              <a:t> </a:t>
            </a:r>
            <a:endParaRPr lang="en-US" altLang="zh-CN" sz="36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533400" y="838200"/>
            <a:ext cx="83820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选择</a:t>
            </a:r>
            <a:r>
              <a:rPr lang="en-US" altLang="zh-CN" sz="4000" dirty="0">
                <a:solidFill>
                  <a:schemeClr val="tx1"/>
                </a:solidFill>
              </a:rPr>
              <a:t>(</a:t>
            </a:r>
            <a:r>
              <a:rPr lang="zh-CN" altLang="en-US" sz="4000" dirty="0">
                <a:solidFill>
                  <a:schemeClr val="tx1"/>
                </a:solidFill>
              </a:rPr>
              <a:t>续</a:t>
            </a:r>
            <a:r>
              <a:rPr lang="en-US" altLang="zh-CN" sz="4000" dirty="0">
                <a:solidFill>
                  <a:schemeClr val="tx1"/>
                </a:solidFill>
              </a:rPr>
              <a:t>)  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示例：用关系表达式表达下列查询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dirty="0"/>
              <a:t>找前页关系</a:t>
            </a:r>
            <a:r>
              <a:rPr lang="en-US" altLang="zh-CN" dirty="0"/>
              <a:t>S</a:t>
            </a:r>
            <a:r>
              <a:rPr lang="zh-CN" altLang="en-US" dirty="0"/>
              <a:t>中计算机系</a:t>
            </a:r>
            <a:r>
              <a:rPr lang="en-US" altLang="zh-CN" dirty="0"/>
              <a:t>( ‘CS’)</a:t>
            </a:r>
            <a:r>
              <a:rPr lang="zh-CN" altLang="en-US" dirty="0"/>
              <a:t>全部的男生</a:t>
            </a:r>
            <a:endParaRPr lang="zh-CN" altLang="en-US" dirty="0"/>
          </a:p>
          <a:p>
            <a:pPr lvl="1" algn="ctr" eaLnBrk="1" hangingPunct="1">
              <a:buNone/>
            </a:pPr>
            <a:r>
              <a:rPr lang="zh-CN" altLang="en-US" sz="5400" dirty="0">
                <a:sym typeface="Symbol" panose="05050102010706020507" pitchFamily="18" charset="2"/>
              </a:rPr>
              <a:t></a:t>
            </a:r>
            <a:r>
              <a:rPr lang="en-US" altLang="zh-CN" sz="4400" baseline="-20000" dirty="0">
                <a:sym typeface="Symbol" panose="05050102010706020507" pitchFamily="18" charset="2"/>
              </a:rPr>
              <a:t>Dept=‘CS’ ∧</a:t>
            </a:r>
            <a:r>
              <a:rPr lang="en-US" altLang="zh-CN" sz="4400" dirty="0">
                <a:sym typeface="Symbol" panose="05050102010706020507" pitchFamily="18" charset="2"/>
              </a:rPr>
              <a:t> </a:t>
            </a:r>
            <a:r>
              <a:rPr lang="en-US" altLang="zh-CN" sz="4400" baseline="-20000" dirty="0">
                <a:sym typeface="Symbol" panose="05050102010706020507" pitchFamily="18" charset="2"/>
              </a:rPr>
              <a:t>SEX=‘</a:t>
            </a:r>
            <a:r>
              <a:rPr lang="zh-CN" altLang="en-US" sz="4400" baseline="-20000" dirty="0">
                <a:sym typeface="Symbol" panose="05050102010706020507" pitchFamily="18" charset="2"/>
              </a:rPr>
              <a:t>男’</a:t>
            </a:r>
            <a:r>
              <a:rPr lang="zh-CN" altLang="en-US" sz="4400" dirty="0">
                <a:sym typeface="Symbol" panose="05050102010706020507" pitchFamily="18" charset="2"/>
              </a:rPr>
              <a:t>（</a:t>
            </a:r>
            <a:r>
              <a:rPr lang="en-US" altLang="zh-CN" sz="4400" dirty="0">
                <a:sym typeface="Symbol" panose="05050102010706020507" pitchFamily="18" charset="2"/>
              </a:rPr>
              <a:t>S</a:t>
            </a:r>
            <a:r>
              <a:rPr lang="zh-CN" altLang="en-US" sz="4400" dirty="0">
                <a:sym typeface="Symbol" panose="05050102010706020507" pitchFamily="18" charset="2"/>
              </a:rPr>
              <a:t>）</a:t>
            </a:r>
            <a:endParaRPr lang="zh-CN" altLang="en-US" sz="4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838200"/>
            <a:ext cx="8382000" cy="5638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投影 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π</a:t>
            </a:r>
            <a:endParaRPr kumimoji="1" lang="en-US" altLang="zh-CN" sz="4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从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中选择出若干属性列组成新的关系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   </a:t>
            </a: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π</a:t>
            </a:r>
            <a:r>
              <a:rPr kumimoji="1" lang="en-US" altLang="zh-CN" sz="2800" b="1" i="1" u="none" strike="noStrike" kern="0" cap="none" spc="0" normalizeH="0" baseline="-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(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R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) = {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t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[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] | 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t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</a:t>
            </a:r>
            <a:r>
              <a:rPr kumimoji="1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R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} 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sym typeface="Symbol" panose="05050102010706020507" pitchFamily="18" charset="2"/>
              </a:rPr>
              <a:t>, AR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	  A</a:t>
            </a:r>
            <a:r>
              <a:rPr kumimoji="1" lang="zh-CN" altLang="en-US" sz="24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：</a:t>
            </a: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R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 pitchFamily="49" charset="-122"/>
              </a:rPr>
              <a:t>中的属性列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 pitchFamily="49" charset="-122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</a:rPr>
              <a:t>投影的结果中要去掉相同的行</a:t>
            </a: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</a:endParaRPr>
          </a:p>
        </p:txBody>
      </p:sp>
      <p:grpSp>
        <p:nvGrpSpPr>
          <p:cNvPr id="38917" name="Group 4"/>
          <p:cNvGrpSpPr/>
          <p:nvPr/>
        </p:nvGrpSpPr>
        <p:grpSpPr>
          <a:xfrm>
            <a:off x="1295400" y="4724400"/>
            <a:ext cx="2209800" cy="1581150"/>
            <a:chOff x="576" y="2928"/>
            <a:chExt cx="1536" cy="996"/>
          </a:xfrm>
        </p:grpSpPr>
        <p:sp>
          <p:nvSpPr>
            <p:cNvPr id="38935" name="Rectangle 5"/>
            <p:cNvSpPr/>
            <p:nvPr/>
          </p:nvSpPr>
          <p:spPr>
            <a:xfrm>
              <a:off x="1600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36" name="Rectangle 6"/>
            <p:cNvSpPr/>
            <p:nvPr/>
          </p:nvSpPr>
          <p:spPr>
            <a:xfrm>
              <a:off x="1088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37" name="Rectangle 7"/>
            <p:cNvSpPr/>
            <p:nvPr/>
          </p:nvSpPr>
          <p:spPr>
            <a:xfrm>
              <a:off x="576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38" name="Rectangle 8"/>
            <p:cNvSpPr/>
            <p:nvPr/>
          </p:nvSpPr>
          <p:spPr>
            <a:xfrm>
              <a:off x="1600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39" name="Rectangle 9"/>
            <p:cNvSpPr/>
            <p:nvPr/>
          </p:nvSpPr>
          <p:spPr>
            <a:xfrm>
              <a:off x="1088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0" name="Rectangle 10"/>
            <p:cNvSpPr/>
            <p:nvPr/>
          </p:nvSpPr>
          <p:spPr>
            <a:xfrm>
              <a:off x="576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1" name="Rectangle 11"/>
            <p:cNvSpPr/>
            <p:nvPr/>
          </p:nvSpPr>
          <p:spPr>
            <a:xfrm>
              <a:off x="1600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2" name="Rectangle 12"/>
            <p:cNvSpPr/>
            <p:nvPr/>
          </p:nvSpPr>
          <p:spPr>
            <a:xfrm>
              <a:off x="1088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3" name="Rectangle 13"/>
            <p:cNvSpPr/>
            <p:nvPr/>
          </p:nvSpPr>
          <p:spPr>
            <a:xfrm>
              <a:off x="576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24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4" name="Rectangle 14"/>
            <p:cNvSpPr/>
            <p:nvPr/>
          </p:nvSpPr>
          <p:spPr>
            <a:xfrm>
              <a:off x="1600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accent2"/>
                  </a:solidFill>
                  <a:latin typeface="Arial" panose="020B0604020202020204" pitchFamily="34" charset="0"/>
                </a:rPr>
                <a:t>C</a:t>
              </a:r>
              <a:endParaRPr lang="en-US" altLang="zh-CN" sz="2400" b="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5" name="Rectangle 15"/>
            <p:cNvSpPr/>
            <p:nvPr/>
          </p:nvSpPr>
          <p:spPr>
            <a:xfrm>
              <a:off x="1088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accent2"/>
                  </a:solidFill>
                  <a:latin typeface="Arial" panose="020B0604020202020204" pitchFamily="34" charset="0"/>
                </a:rPr>
                <a:t>B</a:t>
              </a:r>
              <a:endParaRPr lang="en-US" altLang="zh-CN" sz="2400" b="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6" name="Rectangle 16"/>
            <p:cNvSpPr/>
            <p:nvPr/>
          </p:nvSpPr>
          <p:spPr>
            <a:xfrm>
              <a:off x="576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accent2"/>
                  </a:solidFill>
                  <a:latin typeface="Arial" panose="020B0604020202020204" pitchFamily="34" charset="0"/>
                </a:rPr>
                <a:t>A</a:t>
              </a:r>
              <a:endParaRPr lang="en-US" altLang="zh-CN" sz="2400" b="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7" name="Line 17"/>
            <p:cNvSpPr/>
            <p:nvPr/>
          </p:nvSpPr>
          <p:spPr>
            <a:xfrm>
              <a:off x="576" y="2928"/>
              <a:ext cx="15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8" name="Line 18"/>
            <p:cNvSpPr/>
            <p:nvPr/>
          </p:nvSpPr>
          <p:spPr>
            <a:xfrm>
              <a:off x="576" y="3177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49" name="Line 19"/>
            <p:cNvSpPr/>
            <p:nvPr/>
          </p:nvSpPr>
          <p:spPr>
            <a:xfrm>
              <a:off x="576" y="3426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0" name="Line 20"/>
            <p:cNvSpPr/>
            <p:nvPr/>
          </p:nvSpPr>
          <p:spPr>
            <a:xfrm>
              <a:off x="576" y="3675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1" name="Line 21"/>
            <p:cNvSpPr/>
            <p:nvPr/>
          </p:nvSpPr>
          <p:spPr>
            <a:xfrm>
              <a:off x="576" y="3924"/>
              <a:ext cx="15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2" name="Line 22"/>
            <p:cNvSpPr/>
            <p:nvPr/>
          </p:nvSpPr>
          <p:spPr>
            <a:xfrm>
              <a:off x="576" y="2928"/>
              <a:ext cx="0" cy="99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3" name="Line 23"/>
            <p:cNvSpPr/>
            <p:nvPr/>
          </p:nvSpPr>
          <p:spPr>
            <a:xfrm>
              <a:off x="1088" y="2928"/>
              <a:ext cx="0" cy="9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4" name="Line 24"/>
            <p:cNvSpPr/>
            <p:nvPr/>
          </p:nvSpPr>
          <p:spPr>
            <a:xfrm>
              <a:off x="1600" y="2928"/>
              <a:ext cx="0" cy="9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5" name="Line 25"/>
            <p:cNvSpPr/>
            <p:nvPr/>
          </p:nvSpPr>
          <p:spPr>
            <a:xfrm>
              <a:off x="2112" y="2928"/>
              <a:ext cx="0" cy="99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11642" name="Group 26"/>
          <p:cNvGraphicFramePr>
            <a:graphicFrameLocks noGrp="1"/>
          </p:cNvGraphicFramePr>
          <p:nvPr/>
        </p:nvGraphicFramePr>
        <p:xfrm>
          <a:off x="4953000" y="4800600"/>
          <a:ext cx="1600200" cy="1371600"/>
        </p:xfrm>
        <a:graphic>
          <a:graphicData uri="http://schemas.openxmlformats.org/drawingml/2006/table">
            <a:tbl>
              <a:tblPr/>
              <a:tblGrid>
                <a:gridCol w="762000"/>
                <a:gridCol w="838200"/>
              </a:tblGrid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32" name="Text Box 40"/>
          <p:cNvSpPr txBox="1"/>
          <p:nvPr/>
        </p:nvSpPr>
        <p:spPr>
          <a:xfrm>
            <a:off x="2057400" y="4038600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sz="2800" b="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8933" name="Text Box 41"/>
          <p:cNvSpPr txBox="1"/>
          <p:nvPr/>
        </p:nvSpPr>
        <p:spPr>
          <a:xfrm>
            <a:off x="3886200" y="4129088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sz="280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rPr>
              <a:t>B , C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rPr>
              <a:t>(R)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仿宋_GB2312" pitchFamily="49" charset="-122"/>
              <a:sym typeface="Symbol" panose="05050102010706020507" pitchFamily="18" charset="2"/>
            </a:endParaRPr>
          </a:p>
        </p:txBody>
      </p:sp>
      <p:sp>
        <p:nvSpPr>
          <p:cNvPr id="38934" name="Text Box 42"/>
          <p:cNvSpPr txBox="1"/>
          <p:nvPr/>
        </p:nvSpPr>
        <p:spPr>
          <a:xfrm>
            <a:off x="5791200" y="4084638"/>
            <a:ext cx="1676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sz="280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rPr>
              <a:t>2 ,3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  <a:sym typeface="Symbol" panose="05050102010706020507" pitchFamily="18" charset="2"/>
              </a:rPr>
              <a:t>(R)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ea typeface="仿宋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533400" y="838200"/>
            <a:ext cx="8382000" cy="35814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投影</a:t>
            </a:r>
            <a:r>
              <a:rPr lang="en-US" altLang="zh-CN" sz="4000" dirty="0">
                <a:solidFill>
                  <a:schemeClr val="tx1"/>
                </a:solidFill>
              </a:rPr>
              <a:t>(</a:t>
            </a:r>
            <a:r>
              <a:rPr lang="zh-CN" altLang="en-US" sz="4000" dirty="0">
                <a:solidFill>
                  <a:schemeClr val="tx1"/>
                </a:solidFill>
              </a:rPr>
              <a:t>续</a:t>
            </a:r>
            <a:r>
              <a:rPr lang="en-US" altLang="zh-CN" sz="4000" dirty="0">
                <a:solidFill>
                  <a:schemeClr val="tx1"/>
                </a:solidFill>
              </a:rPr>
              <a:t>)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lvl="1" algn="just" eaLnBrk="1" hangingPunct="1"/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] </a:t>
            </a:r>
            <a:r>
              <a:rPr lang="zh-CN" altLang="en-US" dirty="0"/>
              <a:t>查询前述学生关系</a:t>
            </a:r>
            <a:r>
              <a:rPr lang="en-US" altLang="zh-CN" dirty="0"/>
              <a:t>S</a:t>
            </a:r>
            <a:r>
              <a:rPr lang="zh-CN" altLang="en-US" dirty="0"/>
              <a:t>中的姓名和所在系</a:t>
            </a: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	    </a:t>
            </a:r>
            <a:r>
              <a:rPr lang="en-US" altLang="zh-CN" dirty="0">
                <a:latin typeface="Arial" panose="020B0604020202020204" pitchFamily="34" charset="0"/>
              </a:rPr>
              <a:t>π</a:t>
            </a:r>
            <a:r>
              <a:rPr lang="en-US" altLang="zh-CN" baseline="-30000" dirty="0">
                <a:latin typeface="Arial" panose="020B0604020202020204" pitchFamily="34" charset="0"/>
              </a:rPr>
              <a:t>Sna</a:t>
            </a:r>
            <a:r>
              <a:rPr lang="zh-CN" altLang="en-US" baseline="-30000" dirty="0">
                <a:latin typeface="Arial" panose="020B0604020202020204" pitchFamily="34" charset="0"/>
              </a:rPr>
              <a:t>，</a:t>
            </a:r>
            <a:r>
              <a:rPr lang="en-US" altLang="zh-CN" baseline="-30000" dirty="0">
                <a:latin typeface="Arial" panose="020B0604020202020204" pitchFamily="34" charset="0"/>
              </a:rPr>
              <a:t>Dept</a:t>
            </a:r>
            <a:r>
              <a:rPr lang="en-US" altLang="zh-CN" dirty="0">
                <a:latin typeface="Arial" panose="020B0604020202020204" pitchFamily="34" charset="0"/>
              </a:rPr>
              <a:t>(S)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algn="just" eaLnBrk="1" hangingPunct="1">
              <a:buNone/>
            </a:pPr>
            <a:endParaRPr lang="en-US" altLang="zh-CN" dirty="0">
              <a:latin typeface="Arial" panose="020B0604020202020204" pitchFamily="34" charset="0"/>
            </a:endParaRPr>
          </a:p>
          <a:p>
            <a:pPr lvl="1" algn="just" eaLnBrk="1" hangingPunct="1">
              <a:buNone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zh-CN" altLang="en-US" dirty="0">
                <a:latin typeface="Arial" panose="020B0604020202020204" pitchFamily="34" charset="0"/>
              </a:rPr>
              <a:t>或      </a:t>
            </a:r>
            <a:r>
              <a:rPr lang="en-US" altLang="zh-CN" dirty="0">
                <a:latin typeface="Arial" panose="020B0604020202020204" pitchFamily="34" charset="0"/>
              </a:rPr>
              <a:t>π</a:t>
            </a:r>
            <a:r>
              <a:rPr lang="en-US" altLang="zh-CN" baseline="-30000" dirty="0">
                <a:latin typeface="Arial" panose="020B0604020202020204" pitchFamily="34" charset="0"/>
              </a:rPr>
              <a:t>2</a:t>
            </a:r>
            <a:r>
              <a:rPr lang="zh-CN" altLang="en-US" baseline="-30000" dirty="0">
                <a:latin typeface="Arial" panose="020B0604020202020204" pitchFamily="34" charset="0"/>
              </a:rPr>
              <a:t>，</a:t>
            </a:r>
            <a:r>
              <a:rPr lang="en-US" altLang="zh-CN" baseline="-30000" dirty="0">
                <a:latin typeface="Arial" panose="020B0604020202020204" pitchFamily="34" charset="0"/>
              </a:rPr>
              <a:t>5</a:t>
            </a:r>
            <a:r>
              <a:rPr lang="en-US" altLang="zh-CN" dirty="0">
                <a:latin typeface="Arial" panose="020B0604020202020204" pitchFamily="34" charset="0"/>
              </a:rPr>
              <a:t>(S)</a:t>
            </a:r>
            <a:endParaRPr lang="en-US" altLang="zh-CN" dirty="0">
              <a:latin typeface="Arial" panose="020B0604020202020204" pitchFamily="34" charset="0"/>
            </a:endParaRPr>
          </a:p>
          <a:p>
            <a:pPr lvl="1" algn="just" eaLnBrk="1" hangingPunct="1">
              <a:buNone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zh-CN" altLang="en-US" dirty="0">
                <a:latin typeface="Arial" panose="020B0604020202020204" pitchFamily="34" charset="0"/>
              </a:rPr>
              <a:t>查询结果：</a:t>
            </a:r>
            <a:r>
              <a:rPr lang="zh-CN" altLang="en-US" sz="4000" dirty="0">
                <a:latin typeface="Arial" panose="020B0604020202020204" pitchFamily="34" charset="0"/>
              </a:rPr>
              <a:t>    </a:t>
            </a:r>
            <a:endParaRPr lang="zh-CN" altLang="en-US" sz="4000" dirty="0">
              <a:latin typeface="Arial" panose="020B0604020202020204" pitchFamily="34" charset="0"/>
            </a:endParaRPr>
          </a:p>
        </p:txBody>
      </p:sp>
      <p:graphicFrame>
        <p:nvGraphicFramePr>
          <p:cNvPr id="112644" name="Group 4"/>
          <p:cNvGraphicFramePr>
            <a:graphicFrameLocks noGrp="1"/>
          </p:cNvGraphicFramePr>
          <p:nvPr/>
        </p:nvGraphicFramePr>
        <p:xfrm>
          <a:off x="4267200" y="3581400"/>
          <a:ext cx="2095500" cy="2786063"/>
        </p:xfrm>
        <a:graphic>
          <a:graphicData uri="http://schemas.openxmlformats.org/drawingml/2006/table">
            <a:tbl>
              <a:tblPr/>
              <a:tblGrid>
                <a:gridCol w="1047750"/>
                <a:gridCol w="1047750"/>
              </a:tblGrid>
              <a:tr h="896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SNA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姓名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DEPT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系别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30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8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8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赵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8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吴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40964" name="Rectangle 3"/>
          <p:cNvSpPr>
            <a:spLocks noGrp="1"/>
          </p:cNvSpPr>
          <p:nvPr>
            <p:ph idx="1"/>
          </p:nvPr>
        </p:nvSpPr>
        <p:spPr>
          <a:xfrm>
            <a:off x="533400" y="838200"/>
            <a:ext cx="8382000" cy="3962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4000" dirty="0">
                <a:solidFill>
                  <a:schemeClr val="tx1"/>
                </a:solidFill>
              </a:rPr>
              <a:t>投影</a:t>
            </a:r>
            <a:r>
              <a:rPr lang="en-US" altLang="zh-CN" sz="4000" dirty="0">
                <a:solidFill>
                  <a:schemeClr val="tx1"/>
                </a:solidFill>
              </a:rPr>
              <a:t>(</a:t>
            </a:r>
            <a:r>
              <a:rPr lang="zh-CN" altLang="en-US" sz="4000" dirty="0">
                <a:solidFill>
                  <a:schemeClr val="tx1"/>
                </a:solidFill>
              </a:rPr>
              <a:t>续</a:t>
            </a:r>
            <a:r>
              <a:rPr lang="en-US" altLang="zh-CN" sz="4000" dirty="0">
                <a:solidFill>
                  <a:schemeClr val="tx1"/>
                </a:solidFill>
              </a:rPr>
              <a:t>)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] </a:t>
            </a:r>
            <a:r>
              <a:rPr lang="zh-CN" altLang="en-US" sz="2400" dirty="0"/>
              <a:t>写出查询</a:t>
            </a:r>
            <a:r>
              <a:rPr lang="en-US" altLang="zh-CN" sz="2400" dirty="0"/>
              <a:t>0203</a:t>
            </a:r>
            <a:r>
              <a:rPr lang="zh-CN" altLang="en-US" sz="2400" dirty="0"/>
              <a:t>号学生是哪个系的关系代表达式</a:t>
            </a:r>
            <a:endParaRPr lang="zh-CN" altLang="en-US" sz="2400" dirty="0"/>
          </a:p>
          <a:p>
            <a:pPr lvl="1" algn="ctr" eaLnBrk="1" hangingPunct="1">
              <a:lnSpc>
                <a:spcPct val="120000"/>
              </a:lnSpc>
              <a:buNone/>
            </a:pPr>
            <a:r>
              <a:rPr lang="zh-CN" altLang="en-US" sz="3200" dirty="0"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sym typeface="Symbol" panose="05050102010706020507" pitchFamily="18" charset="2"/>
              </a:rPr>
              <a:t>Dept</a:t>
            </a:r>
            <a:r>
              <a:rPr lang="en-US" altLang="zh-CN" sz="3200" dirty="0">
                <a:sym typeface="Symbol" panose="05050102010706020507" pitchFamily="18" charset="2"/>
              </a:rPr>
              <a:t>( </a:t>
            </a:r>
            <a:r>
              <a:rPr lang="en-US" altLang="zh-CN" sz="3200" baseline="-20000" dirty="0">
                <a:sym typeface="Symbol" panose="05050102010706020507" pitchFamily="18" charset="2"/>
              </a:rPr>
              <a:t>SNO=‘0203’</a:t>
            </a:r>
            <a:r>
              <a:rPr lang="en-US" altLang="zh-CN" sz="3200" dirty="0">
                <a:sym typeface="Symbol" panose="05050102010706020507" pitchFamily="18" charset="2"/>
              </a:rPr>
              <a:t> (S))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3200" dirty="0">
                <a:sym typeface="Symbol" panose="05050102010706020507" pitchFamily="18" charset="2"/>
              </a:rPr>
              <a:t>可不可以写成：</a:t>
            </a:r>
            <a:endParaRPr lang="zh-CN" altLang="en-US" sz="3200" dirty="0">
              <a:sym typeface="Symbol" panose="05050102010706020507" pitchFamily="18" charset="2"/>
            </a:endParaRPr>
          </a:p>
          <a:p>
            <a:pPr lvl="1" algn="ctr" eaLnBrk="1" hangingPunct="1">
              <a:lnSpc>
                <a:spcPct val="120000"/>
              </a:lnSpc>
              <a:buNone/>
            </a:pPr>
            <a:r>
              <a:rPr lang="zh-CN" altLang="en-US" sz="3200" dirty="0">
                <a:sym typeface="Symbol" panose="05050102010706020507" pitchFamily="18" charset="2"/>
              </a:rPr>
              <a:t></a:t>
            </a:r>
            <a:r>
              <a:rPr lang="en-US" altLang="zh-CN" sz="3200" baseline="-20000" dirty="0">
                <a:sym typeface="Symbol" panose="05050102010706020507" pitchFamily="18" charset="2"/>
              </a:rPr>
              <a:t>SNO=‘0203’</a:t>
            </a:r>
            <a:r>
              <a:rPr lang="en-US" altLang="zh-CN" sz="3200" dirty="0">
                <a:sym typeface="Symbol" panose="05050102010706020507" pitchFamily="18" charset="2"/>
              </a:rPr>
              <a:t> (</a:t>
            </a:r>
            <a:r>
              <a:rPr lang="en-US" altLang="zh-CN" sz="3200" baseline="-18000" dirty="0">
                <a:sym typeface="Symbol" panose="05050102010706020507" pitchFamily="18" charset="2"/>
              </a:rPr>
              <a:t>Dept</a:t>
            </a:r>
            <a:r>
              <a:rPr lang="en-US" altLang="zh-CN" sz="3200" dirty="0">
                <a:sym typeface="Symbol" panose="05050102010706020507" pitchFamily="18" charset="2"/>
              </a:rPr>
              <a:t> (S))        ?</a:t>
            </a:r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41988" name="Rectangle 3"/>
          <p:cNvSpPr>
            <a:spLocks noGrp="1"/>
          </p:cNvSpPr>
          <p:nvPr>
            <p:ph idx="1"/>
          </p:nvPr>
        </p:nvSpPr>
        <p:spPr>
          <a:xfrm>
            <a:off x="179388" y="838200"/>
            <a:ext cx="8736012" cy="5410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4000" dirty="0">
                <a:solidFill>
                  <a:schemeClr val="tx1"/>
                </a:solidFill>
              </a:rPr>
              <a:t>投影</a:t>
            </a:r>
            <a:r>
              <a:rPr lang="en-US" altLang="zh-CN" sz="4000" dirty="0">
                <a:solidFill>
                  <a:schemeClr val="tx1"/>
                </a:solidFill>
              </a:rPr>
              <a:t>(</a:t>
            </a:r>
            <a:r>
              <a:rPr lang="zh-CN" altLang="en-US" sz="4000" dirty="0">
                <a:solidFill>
                  <a:schemeClr val="tx1"/>
                </a:solidFill>
              </a:rPr>
              <a:t>续</a:t>
            </a:r>
            <a:r>
              <a:rPr lang="en-US" altLang="zh-CN" sz="4000" dirty="0">
                <a:solidFill>
                  <a:schemeClr val="tx1"/>
                </a:solidFill>
              </a:rPr>
              <a:t>)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1800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] </a:t>
            </a:r>
            <a:r>
              <a:rPr lang="zh-CN" altLang="en-US" sz="2400" dirty="0"/>
              <a:t>写出“列出</a:t>
            </a:r>
            <a:r>
              <a:rPr lang="en-US" altLang="zh-CN" sz="2400" dirty="0"/>
              <a:t>CS</a:t>
            </a:r>
            <a:r>
              <a:rPr lang="zh-CN" altLang="en-US" sz="2400" dirty="0"/>
              <a:t>系和</a:t>
            </a:r>
            <a:r>
              <a:rPr lang="en-US" altLang="zh-CN" sz="2400" dirty="0"/>
              <a:t>MA</a:t>
            </a:r>
            <a:r>
              <a:rPr lang="zh-CN" altLang="en-US" sz="2400" dirty="0"/>
              <a:t>系学生学号和姓名”的表达式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</a:pPr>
            <a:endParaRPr lang="zh-CN" altLang="en-US" sz="2400" dirty="0"/>
          </a:p>
          <a:p>
            <a:pPr lvl="1" eaLnBrk="1" hangingPunct="1">
              <a:buNone/>
            </a:pPr>
            <a:r>
              <a:rPr lang="zh-CN" altLang="en-US" dirty="0"/>
              <a:t>方案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 algn="ctr" eaLnBrk="1" hangingPunct="1">
              <a:buNone/>
            </a:pPr>
            <a:r>
              <a:rPr lang="zh-CN" altLang="en-US" dirty="0">
                <a:sym typeface="Symbol" panose="05050102010706020507" pitchFamily="18" charset="2"/>
              </a:rPr>
              <a:t>∏</a:t>
            </a:r>
            <a:r>
              <a:rPr lang="en-US" altLang="zh-CN" baseline="-25000" dirty="0">
                <a:sym typeface="Symbol" panose="05050102010706020507" pitchFamily="18" charset="2"/>
              </a:rPr>
              <a:t>SNO,SNA</a:t>
            </a:r>
            <a:r>
              <a:rPr lang="en-US" altLang="zh-CN" dirty="0">
                <a:sym typeface="Symbol" panose="05050102010706020507" pitchFamily="18" charset="2"/>
              </a:rPr>
              <a:t>(</a:t>
            </a:r>
            <a:r>
              <a:rPr lang="en-US" altLang="zh-CN" baseline="-20000" dirty="0">
                <a:sym typeface="Symbol" panose="05050102010706020507" pitchFamily="18" charset="2"/>
              </a:rPr>
              <a:t>DEPT = ‘CS’∨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aseline="-20000" dirty="0">
                <a:sym typeface="Symbol" panose="05050102010706020507" pitchFamily="18" charset="2"/>
              </a:rPr>
              <a:t>DEPT =‘MA’</a:t>
            </a:r>
            <a:r>
              <a:rPr lang="en-US" altLang="zh-CN" dirty="0">
                <a:sym typeface="Symbol" panose="05050102010706020507" pitchFamily="18" charset="2"/>
              </a:rPr>
              <a:t>(S))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	</a:t>
            </a:r>
            <a:endParaRPr lang="en-US" altLang="zh-CN" dirty="0"/>
          </a:p>
          <a:p>
            <a:pPr lvl="1" eaLnBrk="1" hangingPunct="1">
              <a:buNone/>
            </a:pPr>
            <a:r>
              <a:rPr lang="zh-CN" altLang="en-US" dirty="0"/>
              <a:t>方案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 algn="ctr" eaLnBrk="1" hangingPunct="1">
              <a:buNone/>
            </a:pPr>
            <a:r>
              <a:rPr lang="zh-CN" altLang="en-US" dirty="0">
                <a:sym typeface="Symbol" panose="05050102010706020507" pitchFamily="18" charset="2"/>
              </a:rPr>
              <a:t>∏</a:t>
            </a:r>
            <a:r>
              <a:rPr lang="en-US" altLang="zh-CN" baseline="-25000" dirty="0">
                <a:sym typeface="Symbol" panose="05050102010706020507" pitchFamily="18" charset="2"/>
              </a:rPr>
              <a:t>SNO,SNA</a:t>
            </a:r>
            <a:r>
              <a:rPr lang="en-US" altLang="zh-CN" dirty="0">
                <a:sym typeface="Symbol" panose="05050102010706020507" pitchFamily="18" charset="2"/>
              </a:rPr>
              <a:t>(</a:t>
            </a:r>
            <a:r>
              <a:rPr lang="en-US" altLang="zh-CN" baseline="-20000" dirty="0">
                <a:sym typeface="Symbol" panose="05050102010706020507" pitchFamily="18" charset="2"/>
              </a:rPr>
              <a:t>DEPT =‘CS’ </a:t>
            </a:r>
            <a:r>
              <a:rPr lang="en-US" altLang="zh-CN" dirty="0">
                <a:sym typeface="Symbol" panose="05050102010706020507" pitchFamily="18" charset="2"/>
              </a:rPr>
              <a:t>(S) ∪</a:t>
            </a:r>
            <a:r>
              <a:rPr lang="en-US" altLang="zh-CN" baseline="-20000" dirty="0">
                <a:sym typeface="Symbol" panose="05050102010706020507" pitchFamily="18" charset="2"/>
              </a:rPr>
              <a:t>DEPT =‘MA’</a:t>
            </a:r>
            <a:r>
              <a:rPr lang="en-US" altLang="zh-CN" dirty="0">
                <a:sym typeface="Symbol" panose="05050102010706020507" pitchFamily="18" charset="2"/>
              </a:rPr>
              <a:t>(S))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charRg st="37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8">
                                            <p:txEl>
                                              <p:charRg st="37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8">
                                            <p:txEl>
                                              <p:charRg st="37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charRg st="42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988">
                                            <p:txEl>
                                              <p:charRg st="42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88">
                                            <p:txEl>
                                              <p:charRg st="42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charRg st="80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988">
                                            <p:txEl>
                                              <p:charRg st="80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988">
                                            <p:txEl>
                                              <p:charRg st="80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charRg st="8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8">
                                            <p:txEl>
                                              <p:charRg st="8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8">
                                            <p:txEl>
                                              <p:charRg st="82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charRg st="87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988">
                                            <p:txEl>
                                              <p:charRg st="87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988">
                                            <p:txEl>
                                              <p:charRg st="87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533400" y="838200"/>
            <a:ext cx="8382000" cy="914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4000" dirty="0">
                <a:solidFill>
                  <a:schemeClr val="tx1"/>
                </a:solidFill>
              </a:rPr>
              <a:t>选择与投影的区别</a:t>
            </a:r>
            <a:r>
              <a:rPr lang="en-US" altLang="zh-CN" sz="4000" dirty="0">
                <a:solidFill>
                  <a:schemeClr val="tx1"/>
                </a:solidFill>
              </a:rPr>
              <a:t>:    </a:t>
            </a:r>
            <a:r>
              <a:rPr lang="zh-CN" altLang="en-US" sz="4000" dirty="0">
                <a:solidFill>
                  <a:schemeClr val="tx1"/>
                </a:solidFill>
              </a:rPr>
              <a:t>行  </a:t>
            </a:r>
            <a:r>
              <a:rPr lang="en-US" altLang="zh-CN" sz="4000" dirty="0">
                <a:solidFill>
                  <a:schemeClr val="tx1"/>
                </a:solidFill>
              </a:rPr>
              <a:t>vs.  </a:t>
            </a:r>
            <a:r>
              <a:rPr lang="zh-CN" altLang="en-US" sz="4000" dirty="0">
                <a:solidFill>
                  <a:schemeClr val="tx1"/>
                </a:solidFill>
              </a:rPr>
              <a:t>列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graphicFrame>
        <p:nvGraphicFramePr>
          <p:cNvPr id="115716" name="Group 4"/>
          <p:cNvGraphicFramePr>
            <a:graphicFrameLocks noGrp="1"/>
          </p:cNvGraphicFramePr>
          <p:nvPr/>
        </p:nvGraphicFramePr>
        <p:xfrm>
          <a:off x="1295400" y="4813300"/>
          <a:ext cx="3429000" cy="1373188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4000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857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35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748" name="Group 36"/>
          <p:cNvGraphicFramePr>
            <a:graphicFrameLocks noGrp="1"/>
          </p:cNvGraphicFramePr>
          <p:nvPr/>
        </p:nvGraphicFramePr>
        <p:xfrm>
          <a:off x="5486400" y="4889500"/>
          <a:ext cx="2057400" cy="12192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857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90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3067" name="AutoShape 58"/>
          <p:cNvSpPr/>
          <p:nvPr/>
        </p:nvSpPr>
        <p:spPr>
          <a:xfrm>
            <a:off x="2057400" y="4660900"/>
            <a:ext cx="304800" cy="1752600"/>
          </a:xfrm>
          <a:prstGeom prst="downArrow">
            <a:avLst>
              <a:gd name="adj1" fmla="val 50000"/>
              <a:gd name="adj2" fmla="val 14375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3068" name="AutoShape 59"/>
          <p:cNvSpPr/>
          <p:nvPr/>
        </p:nvSpPr>
        <p:spPr>
          <a:xfrm>
            <a:off x="2895600" y="4660900"/>
            <a:ext cx="304800" cy="1752600"/>
          </a:xfrm>
          <a:prstGeom prst="downArrow">
            <a:avLst>
              <a:gd name="adj1" fmla="val 50000"/>
              <a:gd name="adj2" fmla="val 14375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3069" name="AutoShape 60"/>
          <p:cNvSpPr/>
          <p:nvPr/>
        </p:nvSpPr>
        <p:spPr>
          <a:xfrm>
            <a:off x="4114800" y="4660900"/>
            <a:ext cx="304800" cy="1752600"/>
          </a:xfrm>
          <a:prstGeom prst="downArrow">
            <a:avLst>
              <a:gd name="adj1" fmla="val 50000"/>
              <a:gd name="adj2" fmla="val 14375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graphicFrame>
        <p:nvGraphicFramePr>
          <p:cNvPr id="115773" name="Group 61"/>
          <p:cNvGraphicFramePr>
            <a:graphicFrameLocks noGrp="1"/>
          </p:cNvGraphicFramePr>
          <p:nvPr/>
        </p:nvGraphicFramePr>
        <p:xfrm>
          <a:off x="1295400" y="2489200"/>
          <a:ext cx="3429000" cy="1295400"/>
        </p:xfrm>
        <a:graphic>
          <a:graphicData uri="http://schemas.openxmlformats.org/drawingml/2006/table">
            <a:tbl>
              <a:tblPr/>
              <a:tblGrid>
                <a:gridCol w="685800"/>
                <a:gridCol w="609600"/>
                <a:gridCol w="762000"/>
                <a:gridCol w="685800"/>
                <a:gridCol w="685800"/>
              </a:tblGrid>
              <a:tr h="323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23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429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3102" name="AutoShape 93"/>
          <p:cNvSpPr/>
          <p:nvPr/>
        </p:nvSpPr>
        <p:spPr>
          <a:xfrm>
            <a:off x="762000" y="2870200"/>
            <a:ext cx="4495800" cy="228600"/>
          </a:xfrm>
          <a:prstGeom prst="rightArrow">
            <a:avLst>
              <a:gd name="adj1" fmla="val 50000"/>
              <a:gd name="adj2" fmla="val 491666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43103" name="AutoShape 94"/>
          <p:cNvSpPr/>
          <p:nvPr/>
        </p:nvSpPr>
        <p:spPr>
          <a:xfrm>
            <a:off x="685800" y="3479800"/>
            <a:ext cx="4495800" cy="228600"/>
          </a:xfrm>
          <a:prstGeom prst="rightArrow">
            <a:avLst>
              <a:gd name="adj1" fmla="val 50000"/>
              <a:gd name="adj2" fmla="val 491666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graphicFrame>
        <p:nvGraphicFramePr>
          <p:cNvPr id="115807" name="Group 95"/>
          <p:cNvGraphicFramePr>
            <a:graphicFrameLocks noGrp="1"/>
          </p:cNvGraphicFramePr>
          <p:nvPr/>
        </p:nvGraphicFramePr>
        <p:xfrm>
          <a:off x="5181600" y="2946400"/>
          <a:ext cx="3429000" cy="628650"/>
        </p:xfrm>
        <a:graphic>
          <a:graphicData uri="http://schemas.openxmlformats.org/drawingml/2006/table">
            <a:tbl>
              <a:tblPr/>
              <a:tblGrid>
                <a:gridCol w="685800"/>
                <a:gridCol w="609600"/>
                <a:gridCol w="762000"/>
                <a:gridCol w="685800"/>
                <a:gridCol w="685800"/>
              </a:tblGrid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238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3124" name="Rectangle 115"/>
          <p:cNvSpPr/>
          <p:nvPr/>
        </p:nvSpPr>
        <p:spPr>
          <a:xfrm>
            <a:off x="5486400" y="1536700"/>
            <a:ext cx="2579688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5400" b="0" dirty="0">
                <a:solidFill>
                  <a:schemeClr val="tx1"/>
                </a:solidFill>
                <a:sym typeface="Symbol" panose="05050102010706020507" pitchFamily="18" charset="2"/>
              </a:rPr>
              <a:t>选择</a:t>
            </a:r>
            <a:r>
              <a:rPr lang="en-US" altLang="zh-CN" sz="5400" b="0" dirty="0">
                <a:solidFill>
                  <a:schemeClr val="tx1"/>
                </a:solidFill>
                <a:sym typeface="Symbol" panose="05050102010706020507" pitchFamily="18" charset="2"/>
              </a:rPr>
              <a:t>:</a:t>
            </a:r>
            <a:endParaRPr lang="en-US" altLang="zh-CN" sz="5400" b="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43125" name="Rectangle 116"/>
          <p:cNvSpPr/>
          <p:nvPr/>
        </p:nvSpPr>
        <p:spPr>
          <a:xfrm>
            <a:off x="5334000" y="3746500"/>
            <a:ext cx="2387600" cy="914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5400" b="0" baseline="-20000" dirty="0">
                <a:solidFill>
                  <a:schemeClr val="tx1"/>
                </a:solidFill>
                <a:ea typeface="仿宋_GB2312" pitchFamily="49" charset="-122"/>
              </a:rPr>
              <a:t> </a:t>
            </a:r>
            <a:r>
              <a:rPr lang="zh-CN" altLang="en-US" sz="5400" b="0" dirty="0">
                <a:solidFill>
                  <a:schemeClr val="tx1"/>
                </a:solidFill>
              </a:rPr>
              <a:t>投影</a:t>
            </a:r>
            <a:r>
              <a:rPr lang="en-US" altLang="zh-CN" sz="5400" b="0" dirty="0">
                <a:solidFill>
                  <a:schemeClr val="tx1"/>
                </a:solidFill>
              </a:rPr>
              <a:t>:</a:t>
            </a:r>
            <a:r>
              <a:rPr lang="en-US" altLang="zh-CN" sz="5400" b="0" dirty="0">
                <a:solidFill>
                  <a:schemeClr val="tx1"/>
                </a:solidFill>
                <a:ea typeface="仿宋_GB2312" pitchFamily="49" charset="-122"/>
                <a:sym typeface="Symbol" panose="05050102010706020507" pitchFamily="18" charset="2"/>
              </a:rPr>
              <a:t></a:t>
            </a:r>
            <a:endParaRPr lang="en-US" altLang="zh-CN" sz="5400" b="0" dirty="0">
              <a:solidFill>
                <a:schemeClr val="tx1"/>
              </a:solidFill>
              <a:ea typeface="仿宋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79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sz="4000" dirty="0">
                <a:solidFill>
                  <a:schemeClr val="tx1"/>
                </a:solidFill>
              </a:rPr>
              <a:t>3. </a:t>
            </a:r>
            <a:r>
              <a:rPr lang="zh-CN" altLang="en-US" sz="4000" dirty="0">
                <a:solidFill>
                  <a:schemeClr val="tx1"/>
                </a:solidFill>
              </a:rPr>
              <a:t>连接</a:t>
            </a:r>
            <a:endParaRPr lang="zh-CN" altLang="en-US" sz="4000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又称</a:t>
            </a:r>
            <a:r>
              <a:rPr lang="en-US" altLang="zh-CN" dirty="0"/>
              <a:t>θ</a:t>
            </a:r>
            <a:r>
              <a:rPr lang="zh-CN" altLang="en-US" dirty="0"/>
              <a:t>连接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从两个关系的笛卡尔积中选取属性间满足一定条件的元组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sz="2400" i="1" dirty="0"/>
              <a:t>	</a:t>
            </a:r>
            <a:r>
              <a:rPr lang="zh-CN" altLang="en-US" sz="2400" dirty="0"/>
              <a:t>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R         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= {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|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∧ 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∧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]θ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] }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lnSpc>
                <a:spcPct val="120000"/>
              </a:lnSpc>
            </a:pPr>
            <a:r>
              <a:rPr lang="en-US" altLang="zh-CN" i="1" dirty="0"/>
              <a:t>A</a:t>
            </a:r>
            <a:r>
              <a:rPr lang="zh-CN" altLang="en-US" dirty="0"/>
              <a:t>和</a:t>
            </a:r>
            <a:r>
              <a:rPr lang="en-US" altLang="zh-CN" i="1" dirty="0"/>
              <a:t>B</a:t>
            </a:r>
            <a:r>
              <a:rPr lang="zh-CN" altLang="en-US" i="1" dirty="0"/>
              <a:t>：</a:t>
            </a:r>
            <a:r>
              <a:rPr lang="zh-CN" altLang="en-US" dirty="0"/>
              <a:t>分别为</a:t>
            </a:r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上度数相等且可比的属性组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</a:pPr>
            <a:r>
              <a:rPr lang="en-US" altLang="zh-CN" dirty="0"/>
              <a:t>θ</a:t>
            </a:r>
            <a:r>
              <a:rPr lang="zh-CN" altLang="en-US" dirty="0"/>
              <a:t>：比较运算符 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	连接运算从</a:t>
            </a:r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的广义笛卡尔积</a:t>
            </a:r>
            <a:r>
              <a:rPr lang="en-US" altLang="zh-CN" i="1" dirty="0"/>
              <a:t>R</a:t>
            </a:r>
            <a:r>
              <a:rPr lang="en-US" altLang="zh-CN" dirty="0"/>
              <a:t>×</a:t>
            </a:r>
            <a:r>
              <a:rPr lang="en-US" altLang="zh-CN" i="1" dirty="0"/>
              <a:t>S</a:t>
            </a:r>
            <a:r>
              <a:rPr lang="zh-CN" altLang="en-US" dirty="0"/>
              <a:t>中选取（</a:t>
            </a:r>
            <a:r>
              <a:rPr lang="en-US" altLang="zh-CN" i="1" dirty="0"/>
              <a:t>R</a:t>
            </a:r>
            <a:r>
              <a:rPr lang="zh-CN" altLang="en-US" dirty="0"/>
              <a:t>关系）在</a:t>
            </a:r>
            <a:r>
              <a:rPr lang="en-US" altLang="zh-CN" i="1" dirty="0"/>
              <a:t>A</a:t>
            </a:r>
            <a:r>
              <a:rPr lang="zh-CN" altLang="en-US" dirty="0"/>
              <a:t>属性组上的值与（</a:t>
            </a:r>
            <a:r>
              <a:rPr lang="en-US" altLang="zh-CN" i="1" dirty="0"/>
              <a:t>S</a:t>
            </a:r>
            <a:r>
              <a:rPr lang="zh-CN" altLang="en-US" dirty="0"/>
              <a:t>关系）在</a:t>
            </a:r>
            <a:r>
              <a:rPr lang="en-US" altLang="zh-CN" i="1" dirty="0"/>
              <a:t>B</a:t>
            </a:r>
            <a:r>
              <a:rPr lang="zh-CN" altLang="en-US" dirty="0"/>
              <a:t>属性组上值满足比较关系的元组。 </a:t>
            </a:r>
            <a:endParaRPr lang="zh-CN" altLang="en-US" dirty="0"/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1524000" y="3670300"/>
            <a:ext cx="9144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-20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A </a:t>
            </a:r>
            <a:r>
              <a:rPr kumimoji="1" lang="en-US" altLang="zh-CN" sz="3200" kern="1200" cap="none" spc="0" normalizeH="0" baseline="-20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  <a:sym typeface="Symbol" panose="05050102010706020507" pitchFamily="18" charset="2"/>
              </a:rPr>
              <a:t></a:t>
            </a:r>
            <a:r>
              <a:rPr kumimoji="1" lang="en-US" altLang="zh-CN" sz="3200" kern="1200" cap="none" spc="0" normalizeH="0" baseline="-20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 B</a:t>
            </a:r>
            <a:endParaRPr kumimoji="1" lang="en-US" altLang="zh-CN" sz="2400" kern="1200" cap="none" spc="0" normalizeH="0" baseline="-2000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44038" name="AutoShape 5"/>
          <p:cNvSpPr/>
          <p:nvPr/>
        </p:nvSpPr>
        <p:spPr>
          <a:xfrm rot="5400000">
            <a:off x="1866900" y="3513138"/>
            <a:ext cx="228600" cy="304800"/>
          </a:xfrm>
          <a:prstGeom prst="flowChartCollate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400" dirty="0">
              <a:solidFill>
                <a:srgbClr val="FF0000"/>
              </a:solidFill>
              <a:ea typeface="经典综艺体简" pitchFamily="49" charset="-122"/>
            </a:endParaRPr>
          </a:p>
        </p:txBody>
      </p:sp>
      <p:sp>
        <p:nvSpPr>
          <p:cNvPr id="44039" name="Arc 6"/>
          <p:cNvSpPr/>
          <p:nvPr/>
        </p:nvSpPr>
        <p:spPr>
          <a:xfrm rot="-4200000">
            <a:off x="3397250" y="3409950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534400" cy="2133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连接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续</a:t>
            </a:r>
            <a:r>
              <a:rPr kumimoji="1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  </a:t>
            </a:r>
            <a:r>
              <a:rPr kumimoji="1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（）</a:t>
            </a:r>
            <a:endParaRPr kumimoji="1" lang="en-US" altLang="zh-CN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   R      S </a:t>
            </a:r>
            <a:r>
              <a:rPr kumimoji="1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= </a:t>
            </a:r>
            <a:r>
              <a:rPr kumimoji="1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</a:t>
            </a:r>
            <a:r>
              <a:rPr kumimoji="1" lang="en-US" altLang="zh-CN" sz="4000" b="0" i="0" u="none" strike="noStrike" kern="0" cap="none" spc="0" normalizeH="0" baseline="-16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R[A]</a:t>
            </a:r>
            <a:r>
              <a:rPr kumimoji="1" lang="en-US" altLang="zh-CN" sz="4000" b="0" i="0" u="none" strike="noStrike" kern="0" cap="none" spc="0" normalizeH="0" baseline="-1600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  <a:sym typeface="Symbol" panose="05050102010706020507" pitchFamily="18" charset="2"/>
              </a:rPr>
              <a:t></a:t>
            </a:r>
            <a:r>
              <a:rPr kumimoji="1" lang="en-US" altLang="zh-CN" sz="4000" b="0" i="0" u="none" strike="noStrike" kern="0" cap="none" spc="0" normalizeH="0" baseline="-16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S[B]</a:t>
            </a:r>
            <a:r>
              <a:rPr kumimoji="1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1" lang="en-US" altLang="zh-CN" sz="4000" b="0" i="0" u="none" strike="noStrike" kern="0" cap="none" spc="0" normalizeH="0" baseline="-16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1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R×S)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5061" name="Group 4"/>
          <p:cNvGrpSpPr/>
          <p:nvPr/>
        </p:nvGrpSpPr>
        <p:grpSpPr>
          <a:xfrm>
            <a:off x="1219200" y="1981200"/>
            <a:ext cx="914400" cy="531813"/>
            <a:chOff x="864" y="2229"/>
            <a:chExt cx="576" cy="335"/>
          </a:xfrm>
        </p:grpSpPr>
        <p:sp>
          <p:nvSpPr>
            <p:cNvPr id="117765" name="Text Box 5"/>
            <p:cNvSpPr txBox="1">
              <a:spLocks noChangeArrowheads="1"/>
            </p:cNvSpPr>
            <p:nvPr/>
          </p:nvSpPr>
          <p:spPr bwMode="auto">
            <a:xfrm>
              <a:off x="864" y="2304"/>
              <a:ext cx="576" cy="26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-2000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 </a:t>
              </a:r>
              <a:r>
                <a:rPr kumimoji="1" lang="en-US" altLang="zh-CN" sz="3200" kern="1200" cap="none" spc="0" normalizeH="0" baseline="-2000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Symbol" panose="05050102010706020507" pitchFamily="18" charset="2"/>
                </a:rPr>
                <a:t></a:t>
              </a:r>
              <a:r>
                <a:rPr kumimoji="1" lang="en-US" altLang="zh-CN" sz="3200" kern="1200" cap="none" spc="0" normalizeH="0" baseline="-2000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 B</a:t>
              </a:r>
              <a:endParaRPr kumimoji="1" lang="en-US" altLang="zh-CN" sz="2400" kern="1200" cap="none" spc="0" normalizeH="0" baseline="-20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5144" name="AutoShape 6"/>
            <p:cNvSpPr/>
            <p:nvPr/>
          </p:nvSpPr>
          <p:spPr>
            <a:xfrm rot="5400000">
              <a:off x="1080" y="2205"/>
              <a:ext cx="144" cy="192"/>
            </a:xfrm>
            <a:prstGeom prst="flowChartCollat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400" dirty="0">
                <a:solidFill>
                  <a:srgbClr val="FF0000"/>
                </a:solidFill>
                <a:ea typeface="经典综艺体简" pitchFamily="49" charset="-122"/>
              </a:endParaRPr>
            </a:p>
          </p:txBody>
        </p:sp>
      </p:grpSp>
      <p:grpSp>
        <p:nvGrpSpPr>
          <p:cNvPr id="45062" name="Group 7"/>
          <p:cNvGrpSpPr/>
          <p:nvPr/>
        </p:nvGrpSpPr>
        <p:grpSpPr>
          <a:xfrm>
            <a:off x="457200" y="3733800"/>
            <a:ext cx="2209800" cy="1581150"/>
            <a:chOff x="576" y="2928"/>
            <a:chExt cx="1536" cy="996"/>
          </a:xfrm>
        </p:grpSpPr>
        <p:sp>
          <p:nvSpPr>
            <p:cNvPr id="45122" name="Rectangle 8"/>
            <p:cNvSpPr/>
            <p:nvPr/>
          </p:nvSpPr>
          <p:spPr>
            <a:xfrm>
              <a:off x="1600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9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23" name="Rectangle 9"/>
            <p:cNvSpPr/>
            <p:nvPr/>
          </p:nvSpPr>
          <p:spPr>
            <a:xfrm>
              <a:off x="1088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8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24" name="Rectangle 10"/>
            <p:cNvSpPr/>
            <p:nvPr/>
          </p:nvSpPr>
          <p:spPr>
            <a:xfrm>
              <a:off x="576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7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25" name="Rectangle 11"/>
            <p:cNvSpPr/>
            <p:nvPr/>
          </p:nvSpPr>
          <p:spPr>
            <a:xfrm>
              <a:off x="1600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6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26" name="Rectangle 12"/>
            <p:cNvSpPr/>
            <p:nvPr/>
          </p:nvSpPr>
          <p:spPr>
            <a:xfrm>
              <a:off x="1088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rgbClr val="6600CC"/>
                  </a:solidFill>
                  <a:latin typeface="Arial" panose="020B0604020202020204" pitchFamily="34" charset="0"/>
                </a:rPr>
                <a:t>5</a:t>
              </a:r>
              <a:endParaRPr lang="en-US" altLang="zh-CN" sz="2000" b="0" dirty="0">
                <a:solidFill>
                  <a:srgbClr val="6600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27" name="Rectangle 13"/>
            <p:cNvSpPr/>
            <p:nvPr/>
          </p:nvSpPr>
          <p:spPr>
            <a:xfrm>
              <a:off x="576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4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28" name="Rectangle 14"/>
            <p:cNvSpPr/>
            <p:nvPr/>
          </p:nvSpPr>
          <p:spPr>
            <a:xfrm>
              <a:off x="1600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3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29" name="Rectangle 15"/>
            <p:cNvSpPr/>
            <p:nvPr/>
          </p:nvSpPr>
          <p:spPr>
            <a:xfrm>
              <a:off x="1088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rgbClr val="6600CC"/>
                  </a:solidFill>
                  <a:latin typeface="Arial" panose="020B0604020202020204" pitchFamily="34" charset="0"/>
                </a:rPr>
                <a:t>2</a:t>
              </a:r>
              <a:endParaRPr lang="en-US" altLang="zh-CN" sz="2000" b="0" dirty="0">
                <a:solidFill>
                  <a:srgbClr val="6600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30" name="Rectangle 16"/>
            <p:cNvSpPr/>
            <p:nvPr/>
          </p:nvSpPr>
          <p:spPr>
            <a:xfrm>
              <a:off x="576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tx1"/>
                  </a:solidFill>
                  <a:latin typeface="Arial" panose="020B0604020202020204" pitchFamily="34" charset="0"/>
                </a:rPr>
                <a:t>1</a:t>
              </a:r>
              <a:endParaRPr lang="en-US" altLang="zh-CN" sz="2000" b="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31" name="Rectangle 17"/>
            <p:cNvSpPr/>
            <p:nvPr/>
          </p:nvSpPr>
          <p:spPr>
            <a:xfrm>
              <a:off x="1600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accent2"/>
                  </a:solidFill>
                  <a:latin typeface="Arial" panose="020B0604020202020204" pitchFamily="34" charset="0"/>
                </a:rPr>
                <a:t>C</a:t>
              </a:r>
              <a:endParaRPr lang="en-US" altLang="zh-CN" sz="2000" b="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32" name="Rectangle 18"/>
            <p:cNvSpPr/>
            <p:nvPr/>
          </p:nvSpPr>
          <p:spPr>
            <a:xfrm>
              <a:off x="1088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accent2"/>
                  </a:solidFill>
                  <a:latin typeface="Arial" panose="020B0604020202020204" pitchFamily="34" charset="0"/>
                </a:rPr>
                <a:t>B</a:t>
              </a:r>
              <a:endParaRPr lang="en-US" altLang="zh-CN" sz="2000" b="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33" name="Rectangle 19"/>
            <p:cNvSpPr/>
            <p:nvPr/>
          </p:nvSpPr>
          <p:spPr>
            <a:xfrm>
              <a:off x="576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0" dirty="0">
                  <a:solidFill>
                    <a:schemeClr val="accent2"/>
                  </a:solidFill>
                  <a:latin typeface="Arial" panose="020B0604020202020204" pitchFamily="34" charset="0"/>
                </a:rPr>
                <a:t>A</a:t>
              </a:r>
              <a:endParaRPr lang="en-US" altLang="zh-CN" sz="2000" b="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34" name="Line 20"/>
            <p:cNvSpPr/>
            <p:nvPr/>
          </p:nvSpPr>
          <p:spPr>
            <a:xfrm>
              <a:off x="576" y="2928"/>
              <a:ext cx="15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5" name="Line 21"/>
            <p:cNvSpPr/>
            <p:nvPr/>
          </p:nvSpPr>
          <p:spPr>
            <a:xfrm>
              <a:off x="576" y="3177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6" name="Line 22"/>
            <p:cNvSpPr/>
            <p:nvPr/>
          </p:nvSpPr>
          <p:spPr>
            <a:xfrm>
              <a:off x="576" y="3426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7" name="Line 23"/>
            <p:cNvSpPr/>
            <p:nvPr/>
          </p:nvSpPr>
          <p:spPr>
            <a:xfrm>
              <a:off x="576" y="3675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8" name="Line 24"/>
            <p:cNvSpPr/>
            <p:nvPr/>
          </p:nvSpPr>
          <p:spPr>
            <a:xfrm>
              <a:off x="576" y="3924"/>
              <a:ext cx="15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39" name="Line 25"/>
            <p:cNvSpPr/>
            <p:nvPr/>
          </p:nvSpPr>
          <p:spPr>
            <a:xfrm>
              <a:off x="576" y="2928"/>
              <a:ext cx="0" cy="99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0" name="Line 26"/>
            <p:cNvSpPr/>
            <p:nvPr/>
          </p:nvSpPr>
          <p:spPr>
            <a:xfrm>
              <a:off x="1088" y="2928"/>
              <a:ext cx="0" cy="9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1" name="Line 27"/>
            <p:cNvSpPr/>
            <p:nvPr/>
          </p:nvSpPr>
          <p:spPr>
            <a:xfrm>
              <a:off x="1600" y="2928"/>
              <a:ext cx="0" cy="9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42" name="Line 28"/>
            <p:cNvSpPr/>
            <p:nvPr/>
          </p:nvSpPr>
          <p:spPr>
            <a:xfrm>
              <a:off x="2112" y="2928"/>
              <a:ext cx="0" cy="99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17789" name="Group 29"/>
          <p:cNvGraphicFramePr>
            <a:graphicFrameLocks noGrp="1"/>
          </p:cNvGraphicFramePr>
          <p:nvPr/>
        </p:nvGraphicFramePr>
        <p:xfrm>
          <a:off x="3124200" y="3886200"/>
          <a:ext cx="1600200" cy="1193800"/>
        </p:xfrm>
        <a:graphic>
          <a:graphicData uri="http://schemas.openxmlformats.org/drawingml/2006/table">
            <a:tbl>
              <a:tblPr/>
              <a:tblGrid>
                <a:gridCol w="762000"/>
                <a:gridCol w="838200"/>
              </a:tblGrid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7803" name="Group 43"/>
          <p:cNvGraphicFramePr>
            <a:graphicFrameLocks noGrp="1"/>
          </p:cNvGraphicFramePr>
          <p:nvPr/>
        </p:nvGraphicFramePr>
        <p:xfrm>
          <a:off x="5257800" y="3662363"/>
          <a:ext cx="3505200" cy="1749425"/>
        </p:xfrm>
        <a:graphic>
          <a:graphicData uri="http://schemas.openxmlformats.org/drawingml/2006/table">
            <a:tbl>
              <a:tblPr/>
              <a:tblGrid>
                <a:gridCol w="701675"/>
                <a:gridCol w="700088"/>
                <a:gridCol w="701675"/>
                <a:gridCol w="700087"/>
                <a:gridCol w="701675"/>
              </a:tblGrid>
              <a:tr h="39638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01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01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01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5109" name="Group 75"/>
          <p:cNvGrpSpPr/>
          <p:nvPr/>
        </p:nvGrpSpPr>
        <p:grpSpPr>
          <a:xfrm>
            <a:off x="6324600" y="2667000"/>
            <a:ext cx="1295400" cy="730250"/>
            <a:chOff x="3984" y="1824"/>
            <a:chExt cx="816" cy="460"/>
          </a:xfrm>
        </p:grpSpPr>
        <p:sp>
          <p:nvSpPr>
            <p:cNvPr id="45119" name="Text Box 76"/>
            <p:cNvSpPr txBox="1"/>
            <p:nvPr/>
          </p:nvSpPr>
          <p:spPr>
            <a:xfrm>
              <a:off x="3984" y="1824"/>
              <a:ext cx="8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600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R    S 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20" name="AutoShape 77"/>
            <p:cNvSpPr/>
            <p:nvPr/>
          </p:nvSpPr>
          <p:spPr>
            <a:xfrm rot="5400000">
              <a:off x="4336" y="1896"/>
              <a:ext cx="144" cy="192"/>
            </a:xfrm>
            <a:prstGeom prst="flowChartCollat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5121" name="Text Box 78"/>
            <p:cNvSpPr txBox="1"/>
            <p:nvPr/>
          </p:nvSpPr>
          <p:spPr>
            <a:xfrm>
              <a:off x="4128" y="2024"/>
              <a:ext cx="57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B &lt; D</a:t>
              </a:r>
              <a:endParaRPr lang="en-US" altLang="zh-CN" sz="2400" b="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45110" name="Text Box 79"/>
          <p:cNvSpPr txBox="1"/>
          <p:nvPr/>
        </p:nvSpPr>
        <p:spPr>
          <a:xfrm>
            <a:off x="1219200" y="2819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5111" name="Text Box 80"/>
          <p:cNvSpPr txBox="1"/>
          <p:nvPr/>
        </p:nvSpPr>
        <p:spPr>
          <a:xfrm>
            <a:off x="3657600" y="27432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5112" name="Line 81"/>
          <p:cNvSpPr/>
          <p:nvPr/>
        </p:nvSpPr>
        <p:spPr>
          <a:xfrm>
            <a:off x="2667000" y="4343400"/>
            <a:ext cx="4572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5113" name="Line 82"/>
          <p:cNvSpPr/>
          <p:nvPr/>
        </p:nvSpPr>
        <p:spPr>
          <a:xfrm>
            <a:off x="2667000" y="4357688"/>
            <a:ext cx="457200" cy="595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45114" name="Line 83"/>
          <p:cNvSpPr/>
          <p:nvPr/>
        </p:nvSpPr>
        <p:spPr>
          <a:xfrm flipV="1">
            <a:off x="2667000" y="4800600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sp>
      <p:grpSp>
        <p:nvGrpSpPr>
          <p:cNvPr id="45115" name="Group 84"/>
          <p:cNvGrpSpPr/>
          <p:nvPr/>
        </p:nvGrpSpPr>
        <p:grpSpPr>
          <a:xfrm>
            <a:off x="6400800" y="5448300"/>
            <a:ext cx="1295400" cy="717550"/>
            <a:chOff x="3888" y="3408"/>
            <a:chExt cx="816" cy="452"/>
          </a:xfrm>
        </p:grpSpPr>
        <p:sp>
          <p:nvSpPr>
            <p:cNvPr id="45116" name="Text Box 85"/>
            <p:cNvSpPr txBox="1"/>
            <p:nvPr/>
          </p:nvSpPr>
          <p:spPr>
            <a:xfrm>
              <a:off x="3888" y="3408"/>
              <a:ext cx="8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600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R    S 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117" name="AutoShape 86"/>
            <p:cNvSpPr/>
            <p:nvPr/>
          </p:nvSpPr>
          <p:spPr>
            <a:xfrm rot="5400000">
              <a:off x="4248" y="3528"/>
              <a:ext cx="144" cy="192"/>
            </a:xfrm>
            <a:prstGeom prst="flowChartCollat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5118" name="Text Box 87"/>
            <p:cNvSpPr txBox="1"/>
            <p:nvPr/>
          </p:nvSpPr>
          <p:spPr>
            <a:xfrm>
              <a:off x="4032" y="3600"/>
              <a:ext cx="57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2 &lt; 1</a:t>
              </a:r>
              <a:endParaRPr lang="en-US" altLang="zh-CN" sz="2400" b="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两类常用连接运算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等值连接</a:t>
            </a:r>
            <a:endParaRPr lang="zh-CN" altLang="en-US" sz="3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θ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为“＝”的连接运算称为等值连接</a:t>
            </a:r>
            <a:r>
              <a:rPr lang="zh-CN" altLang="en-US" sz="3200" dirty="0">
                <a:latin typeface="Arial" panose="020B0604020202020204" pitchFamily="34" charset="0"/>
              </a:rPr>
              <a:t>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lvl="2" algn="just" eaLnBrk="1" hangingPunct="1">
              <a:buFont typeface="Wingdings" panose="05000000000000000000" pitchFamily="2" charset="2"/>
              <a:buChar char="§"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等值连接的含义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  </a:t>
            </a:r>
            <a:r>
              <a:rPr lang="zh-CN" altLang="en-US" sz="2800" dirty="0">
                <a:latin typeface="Arial" panose="020B0604020202020204" pitchFamily="34" charset="0"/>
              </a:rPr>
              <a:t>从关系</a:t>
            </a:r>
            <a:r>
              <a:rPr lang="en-US" altLang="zh-CN" sz="2800" i="1" dirty="0">
                <a:latin typeface="Arial" panose="020B0604020202020204" pitchFamily="34" charset="0"/>
              </a:rPr>
              <a:t>R</a:t>
            </a:r>
            <a:r>
              <a:rPr lang="zh-CN" altLang="en-US" sz="2800" dirty="0">
                <a:latin typeface="Arial" panose="020B0604020202020204" pitchFamily="34" charset="0"/>
              </a:rPr>
              <a:t>与</a:t>
            </a:r>
            <a:r>
              <a:rPr lang="en-US" altLang="zh-CN" sz="2800" i="1" dirty="0">
                <a:latin typeface="Arial" panose="020B0604020202020204" pitchFamily="34" charset="0"/>
              </a:rPr>
              <a:t>S</a:t>
            </a:r>
            <a:r>
              <a:rPr lang="zh-CN" altLang="en-US" sz="2800" dirty="0">
                <a:latin typeface="Arial" panose="020B0604020202020204" pitchFamily="34" charset="0"/>
              </a:rPr>
              <a:t>的广义笛卡尔积中选取</a:t>
            </a:r>
            <a:r>
              <a:rPr lang="en-US" altLang="zh-CN" sz="2800" i="1" dirty="0">
                <a:latin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</a:rPr>
              <a:t>、</a:t>
            </a:r>
            <a:r>
              <a:rPr lang="en-US" altLang="zh-CN" sz="2800" i="1" dirty="0">
                <a:latin typeface="Arial" panose="020B0604020202020204" pitchFamily="34" charset="0"/>
              </a:rPr>
              <a:t>B</a:t>
            </a:r>
            <a:r>
              <a:rPr lang="zh-CN" altLang="en-US" sz="2800" dirty="0">
                <a:latin typeface="Arial" panose="020B0604020202020204" pitchFamily="34" charset="0"/>
              </a:rPr>
              <a:t>属性值相等的那些元组，即等值连接为：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lvl="3" algn="just" eaLnBrk="1" hangingPunct="1">
              <a:buSzTx/>
              <a:buFont typeface="Wingdings" panose="05000000000000000000" pitchFamily="2" charset="2"/>
              <a:buChar char="§"/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lvl="2" eaLnBrk="1" hangingPunct="1"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R       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= {</a:t>
            </a: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aseline="-30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aseline="-30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|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800" i="1" baseline="-300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∧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</a:rPr>
              <a:t>s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∧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] = 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800" baseline="-30000" dirty="0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[</a:t>
            </a:r>
            <a:r>
              <a:rPr lang="en-US" altLang="zh-CN" sz="2800" i="1" dirty="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] } 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6085" name="Group 4"/>
          <p:cNvGrpSpPr/>
          <p:nvPr/>
        </p:nvGrpSpPr>
        <p:grpSpPr>
          <a:xfrm>
            <a:off x="1676400" y="4876800"/>
            <a:ext cx="914400" cy="531813"/>
            <a:chOff x="864" y="2229"/>
            <a:chExt cx="576" cy="335"/>
          </a:xfrm>
        </p:grpSpPr>
        <p:sp>
          <p:nvSpPr>
            <p:cNvPr id="118789" name="Text Box 5"/>
            <p:cNvSpPr txBox="1">
              <a:spLocks noChangeArrowheads="1"/>
            </p:cNvSpPr>
            <p:nvPr/>
          </p:nvSpPr>
          <p:spPr bwMode="auto">
            <a:xfrm>
              <a:off x="864" y="2304"/>
              <a:ext cx="576" cy="26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kern="1200" cap="none" spc="0" normalizeH="0" baseline="-2000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 </a:t>
              </a:r>
              <a:r>
                <a:rPr kumimoji="1" lang="en-US" altLang="zh-CN" sz="3200" kern="1200" cap="none" spc="0" normalizeH="0" baseline="-2000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  <a:sym typeface="Symbol" panose="05050102010706020507" pitchFamily="18" charset="2"/>
                </a:rPr>
                <a:t></a:t>
              </a:r>
              <a:r>
                <a:rPr kumimoji="1" lang="en-US" altLang="zh-CN" sz="3200" kern="1200" cap="none" spc="0" normalizeH="0" baseline="-20000" noProof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 B</a:t>
              </a:r>
              <a:endParaRPr kumimoji="1" lang="en-US" altLang="zh-CN" sz="2400" kern="1200" cap="none" spc="0" normalizeH="0" baseline="-2000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6088" name="AutoShape 6"/>
            <p:cNvSpPr/>
            <p:nvPr/>
          </p:nvSpPr>
          <p:spPr>
            <a:xfrm rot="5400000">
              <a:off x="1080" y="2205"/>
              <a:ext cx="144" cy="192"/>
            </a:xfrm>
            <a:prstGeom prst="flowChartCollat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400" dirty="0">
                <a:solidFill>
                  <a:srgbClr val="FF0000"/>
                </a:solidFill>
                <a:ea typeface="经典综艺体简" pitchFamily="49" charset="-122"/>
              </a:endParaRPr>
            </a:p>
          </p:txBody>
        </p:sp>
      </p:grpSp>
      <p:sp>
        <p:nvSpPr>
          <p:cNvPr id="46086" name="Arc 7"/>
          <p:cNvSpPr/>
          <p:nvPr/>
        </p:nvSpPr>
        <p:spPr>
          <a:xfrm rot="-4200000">
            <a:off x="3384550" y="4679950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79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两类常用连接运算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续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algn="just" eaLnBrk="1" hangingPunct="1"/>
            <a:r>
              <a:rPr lang="zh-CN" altLang="en-US" sz="3200" dirty="0">
                <a:solidFill>
                  <a:srgbClr val="FF0000"/>
                </a:solidFill>
              </a:rPr>
              <a:t>自然连接</a:t>
            </a:r>
            <a:endParaRPr lang="zh-CN" altLang="en-US" sz="32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自然连接是一种特殊的等值连接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两个关系中进行比较的分量必须是相同的属性组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在结果中把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重复的属性列</a:t>
            </a:r>
            <a:r>
              <a:rPr lang="zh-CN" altLang="en-US" dirty="0">
                <a:ea typeface="宋体" panose="02010600030101010101" pitchFamily="2" charset="-122"/>
              </a:rPr>
              <a:t>去掉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algn="just" eaLnBrk="1" hangingPunct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自然连接的含义</a:t>
            </a:r>
            <a:endParaRPr lang="zh-CN" altLang="en-US" dirty="0">
              <a:ea typeface="宋体" panose="02010600030101010101" pitchFamily="2" charset="-122"/>
            </a:endParaRPr>
          </a:p>
          <a:p>
            <a:pPr lvl="2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i="1" dirty="0"/>
              <a:t>	</a:t>
            </a:r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具有相同的属性组</a:t>
            </a:r>
            <a:r>
              <a:rPr lang="en-US" altLang="zh-CN" i="1" dirty="0"/>
              <a:t>B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en-US" altLang="zh-CN" i="1" dirty="0"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 = {</a:t>
            </a:r>
            <a:r>
              <a:rPr lang="en-US" altLang="zh-CN" sz="3200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i="1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 | t</a:t>
            </a:r>
            <a:r>
              <a:rPr lang="en-US" altLang="zh-CN" baseline="-30000" dirty="0"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∧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latin typeface="Arial" panose="020B0604020202020204" pitchFamily="34" charset="0"/>
              </a:rPr>
              <a:t>s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∧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en-US" altLang="zh-CN" dirty="0">
                <a:latin typeface="Arial" panose="020B0604020202020204" pitchFamily="34" charset="0"/>
              </a:rPr>
              <a:t>] = 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en-US" altLang="zh-CN" i="1" dirty="0">
                <a:latin typeface="Arial" panose="020B0604020202020204" pitchFamily="34" charset="0"/>
              </a:rPr>
              <a:t>B</a:t>
            </a:r>
            <a:r>
              <a:rPr lang="en-US" altLang="zh-CN" dirty="0">
                <a:latin typeface="Arial" panose="020B0604020202020204" pitchFamily="34" charset="0"/>
              </a:rPr>
              <a:t>] }</a:t>
            </a:r>
            <a:r>
              <a:rPr lang="en-US" altLang="zh-CN" dirty="0"/>
              <a:t>  </a:t>
            </a:r>
            <a:endParaRPr lang="en-US" altLang="zh-CN" dirty="0"/>
          </a:p>
        </p:txBody>
      </p:sp>
      <p:grpSp>
        <p:nvGrpSpPr>
          <p:cNvPr id="47109" name="Group 4"/>
          <p:cNvGrpSpPr/>
          <p:nvPr/>
        </p:nvGrpSpPr>
        <p:grpSpPr>
          <a:xfrm>
            <a:off x="1676400" y="4876800"/>
            <a:ext cx="914400" cy="457200"/>
            <a:chOff x="864" y="2229"/>
            <a:chExt cx="576" cy="288"/>
          </a:xfrm>
        </p:grpSpPr>
        <p:sp>
          <p:nvSpPr>
            <p:cNvPr id="119813" name="Text Box 5"/>
            <p:cNvSpPr txBox="1">
              <a:spLocks noChangeArrowheads="1"/>
            </p:cNvSpPr>
            <p:nvPr/>
          </p:nvSpPr>
          <p:spPr bwMode="auto">
            <a:xfrm>
              <a:off x="864" y="2304"/>
              <a:ext cx="576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endParaRPr kumimoji="1" lang="en-US" altLang="zh-CN" sz="2400" kern="1200" cap="none" spc="0" normalizeH="0" baseline="-2000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7112" name="AutoShape 6"/>
            <p:cNvSpPr/>
            <p:nvPr/>
          </p:nvSpPr>
          <p:spPr>
            <a:xfrm rot="5400000">
              <a:off x="1080" y="2205"/>
              <a:ext cx="144" cy="192"/>
            </a:xfrm>
            <a:prstGeom prst="flowChartCollate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400" dirty="0">
                <a:solidFill>
                  <a:srgbClr val="FF0000"/>
                </a:solidFill>
                <a:ea typeface="经典综艺体简" pitchFamily="49" charset="-122"/>
              </a:endParaRPr>
            </a:p>
          </p:txBody>
        </p:sp>
      </p:grpSp>
      <p:sp>
        <p:nvSpPr>
          <p:cNvPr id="47110" name="Arc 7"/>
          <p:cNvSpPr/>
          <p:nvPr/>
        </p:nvSpPr>
        <p:spPr>
          <a:xfrm rot="-4200000">
            <a:off x="3257550" y="4641850"/>
            <a:ext cx="152400" cy="2667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21600" h="25110" fill="none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</a:path>
              <a:path w="21600" h="25110" stroke="0">
                <a:moveTo>
                  <a:pt x="7836" y="-1"/>
                </a:moveTo>
                <a:cubicBezTo>
                  <a:pt x="16134" y="3230"/>
                  <a:pt x="21600" y="11222"/>
                  <a:pt x="21600" y="20128"/>
                </a:cubicBezTo>
                <a:cubicBezTo>
                  <a:pt x="21600" y="21805"/>
                  <a:pt x="21404" y="23477"/>
                  <a:pt x="21017" y="25109"/>
                </a:cubicBezTo>
                <a:lnTo>
                  <a:pt x="0" y="20128"/>
                </a:lnTo>
                <a:lnTo>
                  <a:pt x="7836" y="-1"/>
                </a:lnTo>
                <a:close/>
              </a:path>
            </a:pathLst>
          </a:custGeom>
          <a:noFill/>
          <a:ln w="28575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48132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133" name="Text Box 4"/>
          <p:cNvSpPr txBox="1"/>
          <p:nvPr/>
        </p:nvSpPr>
        <p:spPr>
          <a:xfrm>
            <a:off x="3962400" y="10668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134" name="Text Box 5"/>
          <p:cNvSpPr txBox="1"/>
          <p:nvPr/>
        </p:nvSpPr>
        <p:spPr>
          <a:xfrm>
            <a:off x="838200" y="2057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48135" name="Group 6"/>
          <p:cNvGrpSpPr/>
          <p:nvPr/>
        </p:nvGrpSpPr>
        <p:grpSpPr>
          <a:xfrm>
            <a:off x="4876800" y="838200"/>
            <a:ext cx="3429000" cy="2286000"/>
            <a:chOff x="-3" y="-3"/>
            <a:chExt cx="1171" cy="2832"/>
          </a:xfrm>
        </p:grpSpPr>
        <p:grpSp>
          <p:nvGrpSpPr>
            <p:cNvPr id="48272" name="Group 7"/>
            <p:cNvGrpSpPr/>
            <p:nvPr/>
          </p:nvGrpSpPr>
          <p:grpSpPr>
            <a:xfrm>
              <a:off x="0" y="0"/>
              <a:ext cx="1165" cy="2826"/>
              <a:chOff x="0" y="0"/>
              <a:chExt cx="1165" cy="2826"/>
            </a:xfrm>
          </p:grpSpPr>
          <p:grpSp>
            <p:nvGrpSpPr>
              <p:cNvPr id="48274" name="Group 8"/>
              <p:cNvGrpSpPr/>
              <p:nvPr/>
            </p:nvGrpSpPr>
            <p:grpSpPr>
              <a:xfrm>
                <a:off x="0" y="0"/>
                <a:ext cx="417" cy="442"/>
                <a:chOff x="0" y="0"/>
                <a:chExt cx="417" cy="442"/>
              </a:xfrm>
            </p:grpSpPr>
            <p:sp>
              <p:nvSpPr>
                <p:cNvPr id="48317" name="Rectangle 9"/>
                <p:cNvSpPr/>
                <p:nvPr/>
              </p:nvSpPr>
              <p:spPr>
                <a:xfrm>
                  <a:off x="43" y="0"/>
                  <a:ext cx="331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18" name="Rectangle 10"/>
                <p:cNvSpPr/>
                <p:nvPr/>
              </p:nvSpPr>
              <p:spPr>
                <a:xfrm>
                  <a:off x="0" y="0"/>
                  <a:ext cx="417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75" name="Group 11"/>
              <p:cNvGrpSpPr/>
              <p:nvPr/>
            </p:nvGrpSpPr>
            <p:grpSpPr>
              <a:xfrm>
                <a:off x="417" y="0"/>
                <a:ext cx="302" cy="442"/>
                <a:chOff x="417" y="0"/>
                <a:chExt cx="302" cy="442"/>
              </a:xfrm>
            </p:grpSpPr>
            <p:sp>
              <p:nvSpPr>
                <p:cNvPr id="48315" name="Rectangle 12"/>
                <p:cNvSpPr/>
                <p:nvPr/>
              </p:nvSpPr>
              <p:spPr>
                <a:xfrm>
                  <a:off x="460" y="0"/>
                  <a:ext cx="216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16" name="Rectangle 13"/>
                <p:cNvSpPr/>
                <p:nvPr/>
              </p:nvSpPr>
              <p:spPr>
                <a:xfrm>
                  <a:off x="417" y="0"/>
                  <a:ext cx="302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76" name="Group 14"/>
              <p:cNvGrpSpPr/>
              <p:nvPr/>
            </p:nvGrpSpPr>
            <p:grpSpPr>
              <a:xfrm>
                <a:off x="719" y="0"/>
                <a:ext cx="446" cy="442"/>
                <a:chOff x="719" y="0"/>
                <a:chExt cx="446" cy="442"/>
              </a:xfrm>
            </p:grpSpPr>
            <p:sp>
              <p:nvSpPr>
                <p:cNvPr id="48313" name="Rectangle 15"/>
                <p:cNvSpPr/>
                <p:nvPr/>
              </p:nvSpPr>
              <p:spPr>
                <a:xfrm>
                  <a:off x="762" y="0"/>
                  <a:ext cx="360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14" name="Rectangle 16"/>
                <p:cNvSpPr/>
                <p:nvPr/>
              </p:nvSpPr>
              <p:spPr>
                <a:xfrm>
                  <a:off x="719" y="0"/>
                  <a:ext cx="446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77" name="Group 17"/>
              <p:cNvGrpSpPr/>
              <p:nvPr/>
            </p:nvGrpSpPr>
            <p:grpSpPr>
              <a:xfrm>
                <a:off x="0" y="442"/>
                <a:ext cx="417" cy="596"/>
                <a:chOff x="0" y="442"/>
                <a:chExt cx="417" cy="596"/>
              </a:xfrm>
            </p:grpSpPr>
            <p:sp>
              <p:nvSpPr>
                <p:cNvPr id="48311" name="Rectangle 18"/>
                <p:cNvSpPr/>
                <p:nvPr/>
              </p:nvSpPr>
              <p:spPr>
                <a:xfrm>
                  <a:off x="43" y="442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12" name="Rectangle 19"/>
                <p:cNvSpPr/>
                <p:nvPr/>
              </p:nvSpPr>
              <p:spPr>
                <a:xfrm>
                  <a:off x="0" y="442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78" name="Group 20"/>
              <p:cNvGrpSpPr/>
              <p:nvPr/>
            </p:nvGrpSpPr>
            <p:grpSpPr>
              <a:xfrm>
                <a:off x="417" y="442"/>
                <a:ext cx="302" cy="596"/>
                <a:chOff x="417" y="442"/>
                <a:chExt cx="302" cy="596"/>
              </a:xfrm>
            </p:grpSpPr>
            <p:sp>
              <p:nvSpPr>
                <p:cNvPr id="48309" name="Rectangle 21"/>
                <p:cNvSpPr/>
                <p:nvPr/>
              </p:nvSpPr>
              <p:spPr>
                <a:xfrm>
                  <a:off x="460" y="442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10" name="Rectangle 22"/>
                <p:cNvSpPr/>
                <p:nvPr/>
              </p:nvSpPr>
              <p:spPr>
                <a:xfrm>
                  <a:off x="417" y="442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79" name="Group 23"/>
              <p:cNvGrpSpPr/>
              <p:nvPr/>
            </p:nvGrpSpPr>
            <p:grpSpPr>
              <a:xfrm>
                <a:off x="719" y="442"/>
                <a:ext cx="446" cy="596"/>
                <a:chOff x="719" y="442"/>
                <a:chExt cx="446" cy="596"/>
              </a:xfrm>
            </p:grpSpPr>
            <p:sp>
              <p:nvSpPr>
                <p:cNvPr id="48307" name="Rectangle 24"/>
                <p:cNvSpPr/>
                <p:nvPr/>
              </p:nvSpPr>
              <p:spPr>
                <a:xfrm>
                  <a:off x="762" y="442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08" name="Rectangle 25"/>
                <p:cNvSpPr/>
                <p:nvPr/>
              </p:nvSpPr>
              <p:spPr>
                <a:xfrm>
                  <a:off x="719" y="442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0" name="Group 26"/>
              <p:cNvGrpSpPr/>
              <p:nvPr/>
            </p:nvGrpSpPr>
            <p:grpSpPr>
              <a:xfrm>
                <a:off x="0" y="1038"/>
                <a:ext cx="417" cy="596"/>
                <a:chOff x="0" y="1038"/>
                <a:chExt cx="417" cy="596"/>
              </a:xfrm>
            </p:grpSpPr>
            <p:sp>
              <p:nvSpPr>
                <p:cNvPr id="48305" name="Rectangle 27"/>
                <p:cNvSpPr/>
                <p:nvPr/>
              </p:nvSpPr>
              <p:spPr>
                <a:xfrm>
                  <a:off x="43" y="1038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06" name="Rectangle 28"/>
                <p:cNvSpPr/>
                <p:nvPr/>
              </p:nvSpPr>
              <p:spPr>
                <a:xfrm>
                  <a:off x="0" y="1038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1" name="Group 29"/>
              <p:cNvGrpSpPr/>
              <p:nvPr/>
            </p:nvGrpSpPr>
            <p:grpSpPr>
              <a:xfrm>
                <a:off x="417" y="1038"/>
                <a:ext cx="302" cy="596"/>
                <a:chOff x="417" y="1038"/>
                <a:chExt cx="302" cy="596"/>
              </a:xfrm>
            </p:grpSpPr>
            <p:sp>
              <p:nvSpPr>
                <p:cNvPr id="48303" name="Rectangle 30"/>
                <p:cNvSpPr/>
                <p:nvPr/>
              </p:nvSpPr>
              <p:spPr>
                <a:xfrm>
                  <a:off x="460" y="1038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04" name="Rectangle 31"/>
                <p:cNvSpPr/>
                <p:nvPr/>
              </p:nvSpPr>
              <p:spPr>
                <a:xfrm>
                  <a:off x="417" y="1038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2" name="Group 32"/>
              <p:cNvGrpSpPr/>
              <p:nvPr/>
            </p:nvGrpSpPr>
            <p:grpSpPr>
              <a:xfrm>
                <a:off x="719" y="1038"/>
                <a:ext cx="446" cy="596"/>
                <a:chOff x="719" y="1038"/>
                <a:chExt cx="446" cy="596"/>
              </a:xfrm>
            </p:grpSpPr>
            <p:sp>
              <p:nvSpPr>
                <p:cNvPr id="48301" name="Rectangle 33"/>
                <p:cNvSpPr/>
                <p:nvPr/>
              </p:nvSpPr>
              <p:spPr>
                <a:xfrm>
                  <a:off x="762" y="1038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6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02" name="Rectangle 34"/>
                <p:cNvSpPr/>
                <p:nvPr/>
              </p:nvSpPr>
              <p:spPr>
                <a:xfrm>
                  <a:off x="719" y="1038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3" name="Group 35"/>
              <p:cNvGrpSpPr/>
              <p:nvPr/>
            </p:nvGrpSpPr>
            <p:grpSpPr>
              <a:xfrm>
                <a:off x="0" y="1634"/>
                <a:ext cx="417" cy="596"/>
                <a:chOff x="0" y="1634"/>
                <a:chExt cx="417" cy="596"/>
              </a:xfrm>
            </p:grpSpPr>
            <p:sp>
              <p:nvSpPr>
                <p:cNvPr id="48299" name="Rectangle 36"/>
                <p:cNvSpPr/>
                <p:nvPr/>
              </p:nvSpPr>
              <p:spPr>
                <a:xfrm>
                  <a:off x="43" y="1634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300" name="Rectangle 37"/>
                <p:cNvSpPr/>
                <p:nvPr/>
              </p:nvSpPr>
              <p:spPr>
                <a:xfrm>
                  <a:off x="0" y="1634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4" name="Group 38"/>
              <p:cNvGrpSpPr/>
              <p:nvPr/>
            </p:nvGrpSpPr>
            <p:grpSpPr>
              <a:xfrm>
                <a:off x="417" y="1634"/>
                <a:ext cx="302" cy="596"/>
                <a:chOff x="417" y="1634"/>
                <a:chExt cx="302" cy="596"/>
              </a:xfrm>
            </p:grpSpPr>
            <p:sp>
              <p:nvSpPr>
                <p:cNvPr id="48297" name="Rectangle 39"/>
                <p:cNvSpPr/>
                <p:nvPr/>
              </p:nvSpPr>
              <p:spPr>
                <a:xfrm>
                  <a:off x="460" y="1634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98" name="Rectangle 40"/>
                <p:cNvSpPr/>
                <p:nvPr/>
              </p:nvSpPr>
              <p:spPr>
                <a:xfrm>
                  <a:off x="417" y="1634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5" name="Group 41"/>
              <p:cNvGrpSpPr/>
              <p:nvPr/>
            </p:nvGrpSpPr>
            <p:grpSpPr>
              <a:xfrm>
                <a:off x="719" y="1634"/>
                <a:ext cx="446" cy="596"/>
                <a:chOff x="719" y="1634"/>
                <a:chExt cx="446" cy="596"/>
              </a:xfrm>
            </p:grpSpPr>
            <p:sp>
              <p:nvSpPr>
                <p:cNvPr id="48295" name="Rectangle 42"/>
                <p:cNvSpPr/>
                <p:nvPr/>
              </p:nvSpPr>
              <p:spPr>
                <a:xfrm>
                  <a:off x="762" y="1634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8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96" name="Rectangle 43"/>
                <p:cNvSpPr/>
                <p:nvPr/>
              </p:nvSpPr>
              <p:spPr>
                <a:xfrm>
                  <a:off x="719" y="1634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6" name="Group 44"/>
              <p:cNvGrpSpPr/>
              <p:nvPr/>
            </p:nvGrpSpPr>
            <p:grpSpPr>
              <a:xfrm>
                <a:off x="0" y="2230"/>
                <a:ext cx="417" cy="596"/>
                <a:chOff x="0" y="2230"/>
                <a:chExt cx="417" cy="596"/>
              </a:xfrm>
            </p:grpSpPr>
            <p:sp>
              <p:nvSpPr>
                <p:cNvPr id="48293" name="Rectangle 45"/>
                <p:cNvSpPr/>
                <p:nvPr/>
              </p:nvSpPr>
              <p:spPr>
                <a:xfrm>
                  <a:off x="43" y="2230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94" name="Rectangle 46"/>
                <p:cNvSpPr/>
                <p:nvPr/>
              </p:nvSpPr>
              <p:spPr>
                <a:xfrm>
                  <a:off x="0" y="2230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7" name="Group 47"/>
              <p:cNvGrpSpPr/>
              <p:nvPr/>
            </p:nvGrpSpPr>
            <p:grpSpPr>
              <a:xfrm>
                <a:off x="417" y="2230"/>
                <a:ext cx="302" cy="596"/>
                <a:chOff x="417" y="2230"/>
                <a:chExt cx="302" cy="596"/>
              </a:xfrm>
            </p:grpSpPr>
            <p:sp>
              <p:nvSpPr>
                <p:cNvPr id="48291" name="Rectangle 48"/>
                <p:cNvSpPr/>
                <p:nvPr/>
              </p:nvSpPr>
              <p:spPr>
                <a:xfrm>
                  <a:off x="460" y="2230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4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92" name="Rectangle 49"/>
                <p:cNvSpPr/>
                <p:nvPr/>
              </p:nvSpPr>
              <p:spPr>
                <a:xfrm>
                  <a:off x="417" y="2230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88" name="Group 50"/>
              <p:cNvGrpSpPr/>
              <p:nvPr/>
            </p:nvGrpSpPr>
            <p:grpSpPr>
              <a:xfrm>
                <a:off x="719" y="2230"/>
                <a:ext cx="446" cy="596"/>
                <a:chOff x="719" y="2230"/>
                <a:chExt cx="446" cy="596"/>
              </a:xfrm>
            </p:grpSpPr>
            <p:sp>
              <p:nvSpPr>
                <p:cNvPr id="48289" name="Rectangle 51"/>
                <p:cNvSpPr/>
                <p:nvPr/>
              </p:nvSpPr>
              <p:spPr>
                <a:xfrm>
                  <a:off x="762" y="2230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90" name="Rectangle 52"/>
                <p:cNvSpPr/>
                <p:nvPr/>
              </p:nvSpPr>
              <p:spPr>
                <a:xfrm>
                  <a:off x="719" y="2230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8273" name="Rectangle 53"/>
            <p:cNvSpPr/>
            <p:nvPr/>
          </p:nvSpPr>
          <p:spPr>
            <a:xfrm>
              <a:off x="-3" y="-3"/>
              <a:ext cx="1171" cy="283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136" name="Group 54"/>
          <p:cNvGrpSpPr/>
          <p:nvPr/>
        </p:nvGrpSpPr>
        <p:grpSpPr>
          <a:xfrm>
            <a:off x="228600" y="2895600"/>
            <a:ext cx="1752600" cy="3429000"/>
            <a:chOff x="-3" y="-3"/>
            <a:chExt cx="740" cy="3211"/>
          </a:xfrm>
        </p:grpSpPr>
        <p:grpSp>
          <p:nvGrpSpPr>
            <p:cNvPr id="48234" name="Group 55"/>
            <p:cNvGrpSpPr/>
            <p:nvPr/>
          </p:nvGrpSpPr>
          <p:grpSpPr>
            <a:xfrm>
              <a:off x="0" y="0"/>
              <a:ext cx="734" cy="3205"/>
              <a:chOff x="0" y="0"/>
              <a:chExt cx="734" cy="3205"/>
            </a:xfrm>
          </p:grpSpPr>
          <p:grpSp>
            <p:nvGrpSpPr>
              <p:cNvPr id="48236" name="Group 56"/>
              <p:cNvGrpSpPr/>
              <p:nvPr/>
            </p:nvGrpSpPr>
            <p:grpSpPr>
              <a:xfrm>
                <a:off x="0" y="0"/>
                <a:ext cx="360" cy="499"/>
                <a:chOff x="0" y="0"/>
                <a:chExt cx="360" cy="499"/>
              </a:xfrm>
            </p:grpSpPr>
            <p:sp>
              <p:nvSpPr>
                <p:cNvPr id="48270" name="Rectangle 57"/>
                <p:cNvSpPr/>
                <p:nvPr/>
              </p:nvSpPr>
              <p:spPr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endParaRPr lang="en-US" altLang="zh-CN" sz="2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71" name="Rectangle 58"/>
                <p:cNvSpPr/>
                <p:nvPr/>
              </p:nvSpPr>
              <p:spPr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37" name="Group 59"/>
              <p:cNvGrpSpPr/>
              <p:nvPr/>
            </p:nvGrpSpPr>
            <p:grpSpPr>
              <a:xfrm>
                <a:off x="360" y="0"/>
                <a:ext cx="374" cy="499"/>
                <a:chOff x="360" y="0"/>
                <a:chExt cx="374" cy="499"/>
              </a:xfrm>
            </p:grpSpPr>
            <p:sp>
              <p:nvSpPr>
                <p:cNvPr id="48268" name="Rectangle 60"/>
                <p:cNvSpPr/>
                <p:nvPr/>
              </p:nvSpPr>
              <p:spPr>
                <a:xfrm>
                  <a:off x="403" y="0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E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69" name="Rectangle 61"/>
                <p:cNvSpPr/>
                <p:nvPr/>
              </p:nvSpPr>
              <p:spPr>
                <a:xfrm>
                  <a:off x="360" y="0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38" name="Group 62"/>
              <p:cNvGrpSpPr/>
              <p:nvPr/>
            </p:nvGrpSpPr>
            <p:grpSpPr>
              <a:xfrm>
                <a:off x="0" y="499"/>
                <a:ext cx="360" cy="499"/>
                <a:chOff x="0" y="499"/>
                <a:chExt cx="360" cy="499"/>
              </a:xfrm>
            </p:grpSpPr>
            <p:sp>
              <p:nvSpPr>
                <p:cNvPr id="48266" name="Rectangle 63"/>
                <p:cNvSpPr/>
                <p:nvPr/>
              </p:nvSpPr>
              <p:spPr>
                <a:xfrm>
                  <a:off x="43" y="499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67" name="Rectangle 64"/>
                <p:cNvSpPr/>
                <p:nvPr/>
              </p:nvSpPr>
              <p:spPr>
                <a:xfrm>
                  <a:off x="0" y="499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39" name="Group 65"/>
              <p:cNvGrpSpPr/>
              <p:nvPr/>
            </p:nvGrpSpPr>
            <p:grpSpPr>
              <a:xfrm>
                <a:off x="360" y="499"/>
                <a:ext cx="374" cy="499"/>
                <a:chOff x="360" y="499"/>
                <a:chExt cx="374" cy="499"/>
              </a:xfrm>
            </p:grpSpPr>
            <p:sp>
              <p:nvSpPr>
                <p:cNvPr id="48264" name="Rectangle 66"/>
                <p:cNvSpPr/>
                <p:nvPr/>
              </p:nvSpPr>
              <p:spPr>
                <a:xfrm>
                  <a:off x="403" y="499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65" name="Rectangle 67"/>
                <p:cNvSpPr/>
                <p:nvPr/>
              </p:nvSpPr>
              <p:spPr>
                <a:xfrm>
                  <a:off x="360" y="499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40" name="Group 68"/>
              <p:cNvGrpSpPr/>
              <p:nvPr/>
            </p:nvGrpSpPr>
            <p:grpSpPr>
              <a:xfrm>
                <a:off x="0" y="998"/>
                <a:ext cx="360" cy="499"/>
                <a:chOff x="0" y="998"/>
                <a:chExt cx="360" cy="499"/>
              </a:xfrm>
            </p:grpSpPr>
            <p:sp>
              <p:nvSpPr>
                <p:cNvPr id="48262" name="Rectangle 69"/>
                <p:cNvSpPr/>
                <p:nvPr/>
              </p:nvSpPr>
              <p:spPr>
                <a:xfrm>
                  <a:off x="43" y="998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63" name="Rectangle 70"/>
                <p:cNvSpPr/>
                <p:nvPr/>
              </p:nvSpPr>
              <p:spPr>
                <a:xfrm>
                  <a:off x="0" y="998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41" name="Group 71"/>
              <p:cNvGrpSpPr/>
              <p:nvPr/>
            </p:nvGrpSpPr>
            <p:grpSpPr>
              <a:xfrm>
                <a:off x="360" y="998"/>
                <a:ext cx="374" cy="499"/>
                <a:chOff x="360" y="998"/>
                <a:chExt cx="374" cy="499"/>
              </a:xfrm>
            </p:grpSpPr>
            <p:sp>
              <p:nvSpPr>
                <p:cNvPr id="48260" name="Rectangle 72"/>
                <p:cNvSpPr/>
                <p:nvPr/>
              </p:nvSpPr>
              <p:spPr>
                <a:xfrm>
                  <a:off x="403" y="998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7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61" name="Rectangle 73"/>
                <p:cNvSpPr/>
                <p:nvPr/>
              </p:nvSpPr>
              <p:spPr>
                <a:xfrm>
                  <a:off x="360" y="998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42" name="Group 74"/>
              <p:cNvGrpSpPr/>
              <p:nvPr/>
            </p:nvGrpSpPr>
            <p:grpSpPr>
              <a:xfrm>
                <a:off x="0" y="1497"/>
                <a:ext cx="360" cy="710"/>
                <a:chOff x="0" y="1497"/>
                <a:chExt cx="360" cy="710"/>
              </a:xfrm>
            </p:grpSpPr>
            <p:sp>
              <p:nvSpPr>
                <p:cNvPr id="48258" name="Rectangle 75"/>
                <p:cNvSpPr/>
                <p:nvPr/>
              </p:nvSpPr>
              <p:spPr>
                <a:xfrm>
                  <a:off x="43" y="1497"/>
                  <a:ext cx="274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59" name="Rectangle 76"/>
                <p:cNvSpPr/>
                <p:nvPr/>
              </p:nvSpPr>
              <p:spPr>
                <a:xfrm>
                  <a:off x="0" y="1497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43" name="Group 77"/>
              <p:cNvGrpSpPr/>
              <p:nvPr/>
            </p:nvGrpSpPr>
            <p:grpSpPr>
              <a:xfrm>
                <a:off x="360" y="1497"/>
                <a:ext cx="374" cy="710"/>
                <a:chOff x="360" y="1497"/>
                <a:chExt cx="374" cy="710"/>
              </a:xfrm>
            </p:grpSpPr>
            <p:sp>
              <p:nvSpPr>
                <p:cNvPr id="48256" name="Rectangle 78"/>
                <p:cNvSpPr/>
                <p:nvPr/>
              </p:nvSpPr>
              <p:spPr>
                <a:xfrm>
                  <a:off x="403" y="1497"/>
                  <a:ext cx="288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10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57" name="Rectangle 79"/>
                <p:cNvSpPr/>
                <p:nvPr/>
              </p:nvSpPr>
              <p:spPr>
                <a:xfrm>
                  <a:off x="360" y="1497"/>
                  <a:ext cx="374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44" name="Group 80"/>
              <p:cNvGrpSpPr/>
              <p:nvPr/>
            </p:nvGrpSpPr>
            <p:grpSpPr>
              <a:xfrm>
                <a:off x="0" y="2207"/>
                <a:ext cx="360" cy="499"/>
                <a:chOff x="0" y="2207"/>
                <a:chExt cx="360" cy="499"/>
              </a:xfrm>
            </p:grpSpPr>
            <p:sp>
              <p:nvSpPr>
                <p:cNvPr id="48254" name="Rectangle 81"/>
                <p:cNvSpPr/>
                <p:nvPr/>
              </p:nvSpPr>
              <p:spPr>
                <a:xfrm>
                  <a:off x="43" y="2207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55" name="Rectangle 82"/>
                <p:cNvSpPr/>
                <p:nvPr/>
              </p:nvSpPr>
              <p:spPr>
                <a:xfrm>
                  <a:off x="0" y="2207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45" name="Group 83"/>
              <p:cNvGrpSpPr/>
              <p:nvPr/>
            </p:nvGrpSpPr>
            <p:grpSpPr>
              <a:xfrm>
                <a:off x="360" y="2207"/>
                <a:ext cx="374" cy="499"/>
                <a:chOff x="360" y="2207"/>
                <a:chExt cx="374" cy="499"/>
              </a:xfrm>
            </p:grpSpPr>
            <p:sp>
              <p:nvSpPr>
                <p:cNvPr id="48252" name="Rectangle 84"/>
                <p:cNvSpPr/>
                <p:nvPr/>
              </p:nvSpPr>
              <p:spPr>
                <a:xfrm>
                  <a:off x="403" y="2207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53" name="Rectangle 85"/>
                <p:cNvSpPr/>
                <p:nvPr/>
              </p:nvSpPr>
              <p:spPr>
                <a:xfrm>
                  <a:off x="360" y="2207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46" name="Group 86"/>
              <p:cNvGrpSpPr/>
              <p:nvPr/>
            </p:nvGrpSpPr>
            <p:grpSpPr>
              <a:xfrm>
                <a:off x="0" y="2706"/>
                <a:ext cx="360" cy="499"/>
                <a:chOff x="0" y="2706"/>
                <a:chExt cx="360" cy="499"/>
              </a:xfrm>
            </p:grpSpPr>
            <p:sp>
              <p:nvSpPr>
                <p:cNvPr id="48250" name="Rectangle 87"/>
                <p:cNvSpPr/>
                <p:nvPr/>
              </p:nvSpPr>
              <p:spPr>
                <a:xfrm>
                  <a:off x="43" y="2706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51" name="Rectangle 88"/>
                <p:cNvSpPr/>
                <p:nvPr/>
              </p:nvSpPr>
              <p:spPr>
                <a:xfrm>
                  <a:off x="0" y="2706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247" name="Group 89"/>
              <p:cNvGrpSpPr/>
              <p:nvPr/>
            </p:nvGrpSpPr>
            <p:grpSpPr>
              <a:xfrm>
                <a:off x="360" y="2706"/>
                <a:ext cx="374" cy="499"/>
                <a:chOff x="360" y="2706"/>
                <a:chExt cx="374" cy="499"/>
              </a:xfrm>
            </p:grpSpPr>
            <p:sp>
              <p:nvSpPr>
                <p:cNvPr id="48248" name="Rectangle 90"/>
                <p:cNvSpPr/>
                <p:nvPr/>
              </p:nvSpPr>
              <p:spPr>
                <a:xfrm>
                  <a:off x="403" y="2706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49" name="Rectangle 91"/>
                <p:cNvSpPr/>
                <p:nvPr/>
              </p:nvSpPr>
              <p:spPr>
                <a:xfrm>
                  <a:off x="360" y="2706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8235" name="Rectangle 92"/>
            <p:cNvSpPr/>
            <p:nvPr/>
          </p:nvSpPr>
          <p:spPr>
            <a:xfrm>
              <a:off x="-3" y="-3"/>
              <a:ext cx="740" cy="3211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137" name="Group 93"/>
          <p:cNvGrpSpPr/>
          <p:nvPr/>
        </p:nvGrpSpPr>
        <p:grpSpPr>
          <a:xfrm>
            <a:off x="3048000" y="3429000"/>
            <a:ext cx="5181600" cy="3124200"/>
            <a:chOff x="-3" y="-3"/>
            <a:chExt cx="1628" cy="4984"/>
          </a:xfrm>
        </p:grpSpPr>
        <p:grpSp>
          <p:nvGrpSpPr>
            <p:cNvPr id="48142" name="Group 94"/>
            <p:cNvGrpSpPr/>
            <p:nvPr/>
          </p:nvGrpSpPr>
          <p:grpSpPr>
            <a:xfrm>
              <a:off x="0" y="0"/>
              <a:ext cx="1622" cy="4978"/>
              <a:chOff x="0" y="0"/>
              <a:chExt cx="1622" cy="4978"/>
            </a:xfrm>
          </p:grpSpPr>
          <p:grpSp>
            <p:nvGrpSpPr>
              <p:cNvPr id="48144" name="Group 95"/>
              <p:cNvGrpSpPr/>
              <p:nvPr/>
            </p:nvGrpSpPr>
            <p:grpSpPr>
              <a:xfrm>
                <a:off x="0" y="0"/>
                <a:ext cx="322" cy="1038"/>
                <a:chOff x="0" y="0"/>
                <a:chExt cx="322" cy="1038"/>
              </a:xfrm>
            </p:grpSpPr>
            <p:sp>
              <p:nvSpPr>
                <p:cNvPr id="48232" name="Rectangle 96"/>
                <p:cNvSpPr/>
                <p:nvPr/>
              </p:nvSpPr>
              <p:spPr>
                <a:xfrm>
                  <a:off x="43" y="0"/>
                  <a:ext cx="236" cy="10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33" name="Rectangle 97"/>
                <p:cNvSpPr/>
                <p:nvPr/>
              </p:nvSpPr>
              <p:spPr>
                <a:xfrm>
                  <a:off x="0" y="0"/>
                  <a:ext cx="322" cy="103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45" name="Group 98"/>
              <p:cNvGrpSpPr/>
              <p:nvPr/>
            </p:nvGrpSpPr>
            <p:grpSpPr>
              <a:xfrm>
                <a:off x="322" y="0"/>
                <a:ext cx="347" cy="1038"/>
                <a:chOff x="322" y="0"/>
                <a:chExt cx="347" cy="1038"/>
              </a:xfrm>
            </p:grpSpPr>
            <p:sp>
              <p:nvSpPr>
                <p:cNvPr id="48230" name="Rectangle 99"/>
                <p:cNvSpPr/>
                <p:nvPr/>
              </p:nvSpPr>
              <p:spPr>
                <a:xfrm>
                  <a:off x="365" y="0"/>
                  <a:ext cx="261" cy="10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R.B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31" name="Rectangle 100"/>
                <p:cNvSpPr/>
                <p:nvPr/>
              </p:nvSpPr>
              <p:spPr>
                <a:xfrm>
                  <a:off x="322" y="0"/>
                  <a:ext cx="347" cy="103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46" name="Group 101"/>
              <p:cNvGrpSpPr/>
              <p:nvPr/>
            </p:nvGrpSpPr>
            <p:grpSpPr>
              <a:xfrm>
                <a:off x="669" y="0"/>
                <a:ext cx="301" cy="1038"/>
                <a:chOff x="669" y="0"/>
                <a:chExt cx="301" cy="1038"/>
              </a:xfrm>
            </p:grpSpPr>
            <p:sp>
              <p:nvSpPr>
                <p:cNvPr id="48228" name="Rectangle 102"/>
                <p:cNvSpPr/>
                <p:nvPr/>
              </p:nvSpPr>
              <p:spPr>
                <a:xfrm>
                  <a:off x="712" y="0"/>
                  <a:ext cx="215" cy="10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C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29" name="Rectangle 103"/>
                <p:cNvSpPr/>
                <p:nvPr/>
              </p:nvSpPr>
              <p:spPr>
                <a:xfrm>
                  <a:off x="669" y="0"/>
                  <a:ext cx="301" cy="103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47" name="Group 104"/>
              <p:cNvGrpSpPr/>
              <p:nvPr/>
            </p:nvGrpSpPr>
            <p:grpSpPr>
              <a:xfrm>
                <a:off x="970" y="0"/>
                <a:ext cx="321" cy="1038"/>
                <a:chOff x="970" y="0"/>
                <a:chExt cx="321" cy="1038"/>
              </a:xfrm>
            </p:grpSpPr>
            <p:sp>
              <p:nvSpPr>
                <p:cNvPr id="48226" name="Rectangle 105"/>
                <p:cNvSpPr/>
                <p:nvPr/>
              </p:nvSpPr>
              <p:spPr>
                <a:xfrm>
                  <a:off x="1013" y="0"/>
                  <a:ext cx="235" cy="10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S.B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27" name="Rectangle 106"/>
                <p:cNvSpPr/>
                <p:nvPr/>
              </p:nvSpPr>
              <p:spPr>
                <a:xfrm>
                  <a:off x="970" y="0"/>
                  <a:ext cx="321" cy="103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48" name="Group 107"/>
              <p:cNvGrpSpPr/>
              <p:nvPr/>
            </p:nvGrpSpPr>
            <p:grpSpPr>
              <a:xfrm>
                <a:off x="1291" y="0"/>
                <a:ext cx="331" cy="1038"/>
                <a:chOff x="1291" y="0"/>
                <a:chExt cx="331" cy="1038"/>
              </a:xfrm>
            </p:grpSpPr>
            <p:sp>
              <p:nvSpPr>
                <p:cNvPr id="48224" name="Rectangle 108"/>
                <p:cNvSpPr/>
                <p:nvPr/>
              </p:nvSpPr>
              <p:spPr>
                <a:xfrm>
                  <a:off x="1334" y="0"/>
                  <a:ext cx="245" cy="10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E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25" name="Rectangle 109"/>
                <p:cNvSpPr/>
                <p:nvPr/>
              </p:nvSpPr>
              <p:spPr>
                <a:xfrm>
                  <a:off x="1291" y="0"/>
                  <a:ext cx="331" cy="103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49" name="Group 110"/>
              <p:cNvGrpSpPr/>
              <p:nvPr/>
            </p:nvGrpSpPr>
            <p:grpSpPr>
              <a:xfrm>
                <a:off x="0" y="1038"/>
                <a:ext cx="322" cy="788"/>
                <a:chOff x="0" y="1038"/>
                <a:chExt cx="322" cy="788"/>
              </a:xfrm>
            </p:grpSpPr>
            <p:sp>
              <p:nvSpPr>
                <p:cNvPr id="48222" name="Rectangle 111"/>
                <p:cNvSpPr/>
                <p:nvPr/>
              </p:nvSpPr>
              <p:spPr>
                <a:xfrm>
                  <a:off x="43" y="1038"/>
                  <a:ext cx="236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23" name="Rectangle 112"/>
                <p:cNvSpPr/>
                <p:nvPr/>
              </p:nvSpPr>
              <p:spPr>
                <a:xfrm>
                  <a:off x="0" y="1038"/>
                  <a:ext cx="322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0" name="Group 113"/>
              <p:cNvGrpSpPr/>
              <p:nvPr/>
            </p:nvGrpSpPr>
            <p:grpSpPr>
              <a:xfrm>
                <a:off x="322" y="1038"/>
                <a:ext cx="347" cy="788"/>
                <a:chOff x="322" y="1038"/>
                <a:chExt cx="347" cy="788"/>
              </a:xfrm>
            </p:grpSpPr>
            <p:sp>
              <p:nvSpPr>
                <p:cNvPr id="48220" name="Rectangle 114"/>
                <p:cNvSpPr/>
                <p:nvPr/>
              </p:nvSpPr>
              <p:spPr>
                <a:xfrm>
                  <a:off x="365" y="1038"/>
                  <a:ext cx="261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21" name="Rectangle 115"/>
                <p:cNvSpPr/>
                <p:nvPr/>
              </p:nvSpPr>
              <p:spPr>
                <a:xfrm>
                  <a:off x="322" y="1038"/>
                  <a:ext cx="347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1" name="Group 116"/>
              <p:cNvGrpSpPr/>
              <p:nvPr/>
            </p:nvGrpSpPr>
            <p:grpSpPr>
              <a:xfrm>
                <a:off x="669" y="1038"/>
                <a:ext cx="301" cy="788"/>
                <a:chOff x="669" y="1038"/>
                <a:chExt cx="301" cy="788"/>
              </a:xfrm>
            </p:grpSpPr>
            <p:sp>
              <p:nvSpPr>
                <p:cNvPr id="48218" name="Rectangle 117"/>
                <p:cNvSpPr/>
                <p:nvPr/>
              </p:nvSpPr>
              <p:spPr>
                <a:xfrm>
                  <a:off x="712" y="1038"/>
                  <a:ext cx="21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19" name="Rectangle 118"/>
                <p:cNvSpPr/>
                <p:nvPr/>
              </p:nvSpPr>
              <p:spPr>
                <a:xfrm>
                  <a:off x="669" y="1038"/>
                  <a:ext cx="30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2" name="Group 119"/>
              <p:cNvGrpSpPr/>
              <p:nvPr/>
            </p:nvGrpSpPr>
            <p:grpSpPr>
              <a:xfrm>
                <a:off x="970" y="1038"/>
                <a:ext cx="321" cy="788"/>
                <a:chOff x="970" y="1038"/>
                <a:chExt cx="321" cy="788"/>
              </a:xfrm>
            </p:grpSpPr>
            <p:sp>
              <p:nvSpPr>
                <p:cNvPr id="48216" name="Rectangle 120"/>
                <p:cNvSpPr/>
                <p:nvPr/>
              </p:nvSpPr>
              <p:spPr>
                <a:xfrm>
                  <a:off x="1013" y="1038"/>
                  <a:ext cx="23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17" name="Rectangle 121"/>
                <p:cNvSpPr/>
                <p:nvPr/>
              </p:nvSpPr>
              <p:spPr>
                <a:xfrm>
                  <a:off x="970" y="1038"/>
                  <a:ext cx="32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3" name="Group 122"/>
              <p:cNvGrpSpPr/>
              <p:nvPr/>
            </p:nvGrpSpPr>
            <p:grpSpPr>
              <a:xfrm>
                <a:off x="1291" y="1038"/>
                <a:ext cx="331" cy="788"/>
                <a:chOff x="1291" y="1038"/>
                <a:chExt cx="331" cy="788"/>
              </a:xfrm>
            </p:grpSpPr>
            <p:sp>
              <p:nvSpPr>
                <p:cNvPr id="48214" name="Rectangle 123"/>
                <p:cNvSpPr/>
                <p:nvPr/>
              </p:nvSpPr>
              <p:spPr>
                <a:xfrm>
                  <a:off x="1334" y="1038"/>
                  <a:ext cx="24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7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15" name="Rectangle 124"/>
                <p:cNvSpPr/>
                <p:nvPr/>
              </p:nvSpPr>
              <p:spPr>
                <a:xfrm>
                  <a:off x="1291" y="1038"/>
                  <a:ext cx="33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4" name="Group 125"/>
              <p:cNvGrpSpPr/>
              <p:nvPr/>
            </p:nvGrpSpPr>
            <p:grpSpPr>
              <a:xfrm>
                <a:off x="0" y="1826"/>
                <a:ext cx="322" cy="788"/>
                <a:chOff x="0" y="1826"/>
                <a:chExt cx="322" cy="788"/>
              </a:xfrm>
            </p:grpSpPr>
            <p:sp>
              <p:nvSpPr>
                <p:cNvPr id="48212" name="Rectangle 126"/>
                <p:cNvSpPr/>
                <p:nvPr/>
              </p:nvSpPr>
              <p:spPr>
                <a:xfrm>
                  <a:off x="43" y="1826"/>
                  <a:ext cx="236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13" name="Rectangle 127"/>
                <p:cNvSpPr/>
                <p:nvPr/>
              </p:nvSpPr>
              <p:spPr>
                <a:xfrm>
                  <a:off x="0" y="1826"/>
                  <a:ext cx="322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5" name="Group 128"/>
              <p:cNvGrpSpPr/>
              <p:nvPr/>
            </p:nvGrpSpPr>
            <p:grpSpPr>
              <a:xfrm>
                <a:off x="322" y="1826"/>
                <a:ext cx="347" cy="788"/>
                <a:chOff x="322" y="1826"/>
                <a:chExt cx="347" cy="788"/>
              </a:xfrm>
            </p:grpSpPr>
            <p:sp>
              <p:nvSpPr>
                <p:cNvPr id="48210" name="Rectangle 129"/>
                <p:cNvSpPr/>
                <p:nvPr/>
              </p:nvSpPr>
              <p:spPr>
                <a:xfrm>
                  <a:off x="365" y="1826"/>
                  <a:ext cx="261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11" name="Rectangle 130"/>
                <p:cNvSpPr/>
                <p:nvPr/>
              </p:nvSpPr>
              <p:spPr>
                <a:xfrm>
                  <a:off x="322" y="1826"/>
                  <a:ext cx="347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6" name="Group 131"/>
              <p:cNvGrpSpPr/>
              <p:nvPr/>
            </p:nvGrpSpPr>
            <p:grpSpPr>
              <a:xfrm>
                <a:off x="669" y="1826"/>
                <a:ext cx="301" cy="788"/>
                <a:chOff x="669" y="1826"/>
                <a:chExt cx="301" cy="788"/>
              </a:xfrm>
            </p:grpSpPr>
            <p:sp>
              <p:nvSpPr>
                <p:cNvPr id="48208" name="Rectangle 132"/>
                <p:cNvSpPr/>
                <p:nvPr/>
              </p:nvSpPr>
              <p:spPr>
                <a:xfrm>
                  <a:off x="712" y="1826"/>
                  <a:ext cx="21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09" name="Rectangle 133"/>
                <p:cNvSpPr/>
                <p:nvPr/>
              </p:nvSpPr>
              <p:spPr>
                <a:xfrm>
                  <a:off x="669" y="1826"/>
                  <a:ext cx="30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7" name="Group 134"/>
              <p:cNvGrpSpPr/>
              <p:nvPr/>
            </p:nvGrpSpPr>
            <p:grpSpPr>
              <a:xfrm>
                <a:off x="970" y="1826"/>
                <a:ext cx="321" cy="788"/>
                <a:chOff x="970" y="1826"/>
                <a:chExt cx="321" cy="788"/>
              </a:xfrm>
            </p:grpSpPr>
            <p:sp>
              <p:nvSpPr>
                <p:cNvPr id="48206" name="Rectangle 135"/>
                <p:cNvSpPr/>
                <p:nvPr/>
              </p:nvSpPr>
              <p:spPr>
                <a:xfrm>
                  <a:off x="1013" y="1826"/>
                  <a:ext cx="23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07" name="Rectangle 136"/>
                <p:cNvSpPr/>
                <p:nvPr/>
              </p:nvSpPr>
              <p:spPr>
                <a:xfrm>
                  <a:off x="970" y="1826"/>
                  <a:ext cx="32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8" name="Group 137"/>
              <p:cNvGrpSpPr/>
              <p:nvPr/>
            </p:nvGrpSpPr>
            <p:grpSpPr>
              <a:xfrm>
                <a:off x="1291" y="1826"/>
                <a:ext cx="331" cy="788"/>
                <a:chOff x="1291" y="1826"/>
                <a:chExt cx="331" cy="788"/>
              </a:xfrm>
            </p:grpSpPr>
            <p:sp>
              <p:nvSpPr>
                <p:cNvPr id="48204" name="Rectangle 138"/>
                <p:cNvSpPr/>
                <p:nvPr/>
              </p:nvSpPr>
              <p:spPr>
                <a:xfrm>
                  <a:off x="1334" y="1826"/>
                  <a:ext cx="24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10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05" name="Rectangle 139"/>
                <p:cNvSpPr/>
                <p:nvPr/>
              </p:nvSpPr>
              <p:spPr>
                <a:xfrm>
                  <a:off x="1291" y="1826"/>
                  <a:ext cx="33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59" name="Group 140"/>
              <p:cNvGrpSpPr/>
              <p:nvPr/>
            </p:nvGrpSpPr>
            <p:grpSpPr>
              <a:xfrm>
                <a:off x="0" y="2614"/>
                <a:ext cx="322" cy="788"/>
                <a:chOff x="0" y="2614"/>
                <a:chExt cx="322" cy="788"/>
              </a:xfrm>
            </p:grpSpPr>
            <p:sp>
              <p:nvSpPr>
                <p:cNvPr id="48202" name="Rectangle 141"/>
                <p:cNvSpPr/>
                <p:nvPr/>
              </p:nvSpPr>
              <p:spPr>
                <a:xfrm>
                  <a:off x="43" y="2614"/>
                  <a:ext cx="236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03" name="Rectangle 142"/>
                <p:cNvSpPr/>
                <p:nvPr/>
              </p:nvSpPr>
              <p:spPr>
                <a:xfrm>
                  <a:off x="0" y="2614"/>
                  <a:ext cx="322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0" name="Group 143"/>
              <p:cNvGrpSpPr/>
              <p:nvPr/>
            </p:nvGrpSpPr>
            <p:grpSpPr>
              <a:xfrm>
                <a:off x="322" y="2614"/>
                <a:ext cx="347" cy="788"/>
                <a:chOff x="322" y="2614"/>
                <a:chExt cx="347" cy="788"/>
              </a:xfrm>
            </p:grpSpPr>
            <p:sp>
              <p:nvSpPr>
                <p:cNvPr id="48200" name="Rectangle 144"/>
                <p:cNvSpPr/>
                <p:nvPr/>
              </p:nvSpPr>
              <p:spPr>
                <a:xfrm>
                  <a:off x="365" y="2614"/>
                  <a:ext cx="261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201" name="Rectangle 145"/>
                <p:cNvSpPr/>
                <p:nvPr/>
              </p:nvSpPr>
              <p:spPr>
                <a:xfrm>
                  <a:off x="322" y="2614"/>
                  <a:ext cx="347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1" name="Group 146"/>
              <p:cNvGrpSpPr/>
              <p:nvPr/>
            </p:nvGrpSpPr>
            <p:grpSpPr>
              <a:xfrm>
                <a:off x="669" y="2614"/>
                <a:ext cx="301" cy="788"/>
                <a:chOff x="669" y="2614"/>
                <a:chExt cx="301" cy="788"/>
              </a:xfrm>
            </p:grpSpPr>
            <p:sp>
              <p:nvSpPr>
                <p:cNvPr id="48198" name="Rectangle 147"/>
                <p:cNvSpPr/>
                <p:nvPr/>
              </p:nvSpPr>
              <p:spPr>
                <a:xfrm>
                  <a:off x="712" y="2614"/>
                  <a:ext cx="21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6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9" name="Rectangle 148"/>
                <p:cNvSpPr/>
                <p:nvPr/>
              </p:nvSpPr>
              <p:spPr>
                <a:xfrm>
                  <a:off x="669" y="2614"/>
                  <a:ext cx="30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2" name="Group 149"/>
              <p:cNvGrpSpPr/>
              <p:nvPr/>
            </p:nvGrpSpPr>
            <p:grpSpPr>
              <a:xfrm>
                <a:off x="970" y="2614"/>
                <a:ext cx="321" cy="788"/>
                <a:chOff x="970" y="2614"/>
                <a:chExt cx="321" cy="788"/>
              </a:xfrm>
            </p:grpSpPr>
            <p:sp>
              <p:nvSpPr>
                <p:cNvPr id="48196" name="Rectangle 150"/>
                <p:cNvSpPr/>
                <p:nvPr/>
              </p:nvSpPr>
              <p:spPr>
                <a:xfrm>
                  <a:off x="1013" y="2614"/>
                  <a:ext cx="23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7" name="Rectangle 151"/>
                <p:cNvSpPr/>
                <p:nvPr/>
              </p:nvSpPr>
              <p:spPr>
                <a:xfrm>
                  <a:off x="970" y="2614"/>
                  <a:ext cx="32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3" name="Group 152"/>
              <p:cNvGrpSpPr/>
              <p:nvPr/>
            </p:nvGrpSpPr>
            <p:grpSpPr>
              <a:xfrm>
                <a:off x="1291" y="2614"/>
                <a:ext cx="331" cy="788"/>
                <a:chOff x="1291" y="2614"/>
                <a:chExt cx="331" cy="788"/>
              </a:xfrm>
            </p:grpSpPr>
            <p:sp>
              <p:nvSpPr>
                <p:cNvPr id="48194" name="Rectangle 153"/>
                <p:cNvSpPr/>
                <p:nvPr/>
              </p:nvSpPr>
              <p:spPr>
                <a:xfrm>
                  <a:off x="1334" y="2614"/>
                  <a:ext cx="24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7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5" name="Rectangle 154"/>
                <p:cNvSpPr/>
                <p:nvPr/>
              </p:nvSpPr>
              <p:spPr>
                <a:xfrm>
                  <a:off x="1291" y="2614"/>
                  <a:ext cx="33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4" name="Group 155"/>
              <p:cNvGrpSpPr/>
              <p:nvPr/>
            </p:nvGrpSpPr>
            <p:grpSpPr>
              <a:xfrm>
                <a:off x="0" y="3402"/>
                <a:ext cx="322" cy="788"/>
                <a:chOff x="0" y="3402"/>
                <a:chExt cx="322" cy="788"/>
              </a:xfrm>
            </p:grpSpPr>
            <p:sp>
              <p:nvSpPr>
                <p:cNvPr id="48192" name="Rectangle 156"/>
                <p:cNvSpPr/>
                <p:nvPr/>
              </p:nvSpPr>
              <p:spPr>
                <a:xfrm>
                  <a:off x="43" y="3402"/>
                  <a:ext cx="236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3" name="Rectangle 157"/>
                <p:cNvSpPr/>
                <p:nvPr/>
              </p:nvSpPr>
              <p:spPr>
                <a:xfrm>
                  <a:off x="0" y="3402"/>
                  <a:ext cx="322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5" name="Group 158"/>
              <p:cNvGrpSpPr/>
              <p:nvPr/>
            </p:nvGrpSpPr>
            <p:grpSpPr>
              <a:xfrm>
                <a:off x="322" y="3402"/>
                <a:ext cx="347" cy="788"/>
                <a:chOff x="322" y="3402"/>
                <a:chExt cx="347" cy="788"/>
              </a:xfrm>
            </p:grpSpPr>
            <p:sp>
              <p:nvSpPr>
                <p:cNvPr id="48190" name="Rectangle 159"/>
                <p:cNvSpPr/>
                <p:nvPr/>
              </p:nvSpPr>
              <p:spPr>
                <a:xfrm>
                  <a:off x="365" y="3402"/>
                  <a:ext cx="261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91" name="Rectangle 160"/>
                <p:cNvSpPr/>
                <p:nvPr/>
              </p:nvSpPr>
              <p:spPr>
                <a:xfrm>
                  <a:off x="322" y="3402"/>
                  <a:ext cx="347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6" name="Group 161"/>
              <p:cNvGrpSpPr/>
              <p:nvPr/>
            </p:nvGrpSpPr>
            <p:grpSpPr>
              <a:xfrm>
                <a:off x="669" y="3402"/>
                <a:ext cx="301" cy="788"/>
                <a:chOff x="669" y="3402"/>
                <a:chExt cx="301" cy="788"/>
              </a:xfrm>
            </p:grpSpPr>
            <p:sp>
              <p:nvSpPr>
                <p:cNvPr id="48188" name="Rectangle 162"/>
                <p:cNvSpPr/>
                <p:nvPr/>
              </p:nvSpPr>
              <p:spPr>
                <a:xfrm>
                  <a:off x="712" y="3402"/>
                  <a:ext cx="21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6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9" name="Rectangle 163"/>
                <p:cNvSpPr/>
                <p:nvPr/>
              </p:nvSpPr>
              <p:spPr>
                <a:xfrm>
                  <a:off x="669" y="3402"/>
                  <a:ext cx="30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7" name="Group 164"/>
              <p:cNvGrpSpPr/>
              <p:nvPr/>
            </p:nvGrpSpPr>
            <p:grpSpPr>
              <a:xfrm>
                <a:off x="970" y="3402"/>
                <a:ext cx="321" cy="788"/>
                <a:chOff x="970" y="3402"/>
                <a:chExt cx="321" cy="788"/>
              </a:xfrm>
            </p:grpSpPr>
            <p:sp>
              <p:nvSpPr>
                <p:cNvPr id="48186" name="Rectangle 165"/>
                <p:cNvSpPr/>
                <p:nvPr/>
              </p:nvSpPr>
              <p:spPr>
                <a:xfrm>
                  <a:off x="1013" y="3402"/>
                  <a:ext cx="23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7" name="Rectangle 166"/>
                <p:cNvSpPr/>
                <p:nvPr/>
              </p:nvSpPr>
              <p:spPr>
                <a:xfrm>
                  <a:off x="970" y="3402"/>
                  <a:ext cx="32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8" name="Group 167"/>
              <p:cNvGrpSpPr/>
              <p:nvPr/>
            </p:nvGrpSpPr>
            <p:grpSpPr>
              <a:xfrm>
                <a:off x="1291" y="3402"/>
                <a:ext cx="331" cy="788"/>
                <a:chOff x="1291" y="3402"/>
                <a:chExt cx="331" cy="788"/>
              </a:xfrm>
            </p:grpSpPr>
            <p:sp>
              <p:nvSpPr>
                <p:cNvPr id="48184" name="Rectangle 168"/>
                <p:cNvSpPr/>
                <p:nvPr/>
              </p:nvSpPr>
              <p:spPr>
                <a:xfrm>
                  <a:off x="1334" y="3402"/>
                  <a:ext cx="24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10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5" name="Rectangle 169"/>
                <p:cNvSpPr/>
                <p:nvPr/>
              </p:nvSpPr>
              <p:spPr>
                <a:xfrm>
                  <a:off x="1291" y="3402"/>
                  <a:ext cx="33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69" name="Group 170"/>
              <p:cNvGrpSpPr/>
              <p:nvPr/>
            </p:nvGrpSpPr>
            <p:grpSpPr>
              <a:xfrm>
                <a:off x="0" y="4190"/>
                <a:ext cx="322" cy="788"/>
                <a:chOff x="0" y="4190"/>
                <a:chExt cx="322" cy="788"/>
              </a:xfrm>
            </p:grpSpPr>
            <p:sp>
              <p:nvSpPr>
                <p:cNvPr id="48182" name="Rectangle 171"/>
                <p:cNvSpPr/>
                <p:nvPr/>
              </p:nvSpPr>
              <p:spPr>
                <a:xfrm>
                  <a:off x="43" y="4190"/>
                  <a:ext cx="236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3" name="Rectangle 172"/>
                <p:cNvSpPr/>
                <p:nvPr/>
              </p:nvSpPr>
              <p:spPr>
                <a:xfrm>
                  <a:off x="0" y="4190"/>
                  <a:ext cx="322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70" name="Group 173"/>
              <p:cNvGrpSpPr/>
              <p:nvPr/>
            </p:nvGrpSpPr>
            <p:grpSpPr>
              <a:xfrm>
                <a:off x="322" y="4190"/>
                <a:ext cx="347" cy="788"/>
                <a:chOff x="322" y="4190"/>
                <a:chExt cx="347" cy="788"/>
              </a:xfrm>
            </p:grpSpPr>
            <p:sp>
              <p:nvSpPr>
                <p:cNvPr id="48180" name="Rectangle 174"/>
                <p:cNvSpPr/>
                <p:nvPr/>
              </p:nvSpPr>
              <p:spPr>
                <a:xfrm>
                  <a:off x="365" y="4190"/>
                  <a:ext cx="261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81" name="Rectangle 175"/>
                <p:cNvSpPr/>
                <p:nvPr/>
              </p:nvSpPr>
              <p:spPr>
                <a:xfrm>
                  <a:off x="322" y="4190"/>
                  <a:ext cx="347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71" name="Group 176"/>
              <p:cNvGrpSpPr/>
              <p:nvPr/>
            </p:nvGrpSpPr>
            <p:grpSpPr>
              <a:xfrm>
                <a:off x="669" y="4190"/>
                <a:ext cx="301" cy="788"/>
                <a:chOff x="669" y="4190"/>
                <a:chExt cx="301" cy="788"/>
              </a:xfrm>
            </p:grpSpPr>
            <p:sp>
              <p:nvSpPr>
                <p:cNvPr id="48178" name="Rectangle 177"/>
                <p:cNvSpPr/>
                <p:nvPr/>
              </p:nvSpPr>
              <p:spPr>
                <a:xfrm>
                  <a:off x="712" y="4190"/>
                  <a:ext cx="21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8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79" name="Rectangle 178"/>
                <p:cNvSpPr/>
                <p:nvPr/>
              </p:nvSpPr>
              <p:spPr>
                <a:xfrm>
                  <a:off x="669" y="4190"/>
                  <a:ext cx="30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72" name="Group 179"/>
              <p:cNvGrpSpPr/>
              <p:nvPr/>
            </p:nvGrpSpPr>
            <p:grpSpPr>
              <a:xfrm>
                <a:off x="970" y="4190"/>
                <a:ext cx="321" cy="788"/>
                <a:chOff x="970" y="4190"/>
                <a:chExt cx="321" cy="788"/>
              </a:xfrm>
            </p:grpSpPr>
            <p:sp>
              <p:nvSpPr>
                <p:cNvPr id="48176" name="Rectangle 180"/>
                <p:cNvSpPr/>
                <p:nvPr/>
              </p:nvSpPr>
              <p:spPr>
                <a:xfrm>
                  <a:off x="1013" y="4190"/>
                  <a:ext cx="23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6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77" name="Rectangle 181"/>
                <p:cNvSpPr/>
                <p:nvPr/>
              </p:nvSpPr>
              <p:spPr>
                <a:xfrm>
                  <a:off x="970" y="4190"/>
                  <a:ext cx="32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8173" name="Group 182"/>
              <p:cNvGrpSpPr/>
              <p:nvPr/>
            </p:nvGrpSpPr>
            <p:grpSpPr>
              <a:xfrm>
                <a:off x="1291" y="4190"/>
                <a:ext cx="331" cy="788"/>
                <a:chOff x="1291" y="4190"/>
                <a:chExt cx="331" cy="788"/>
              </a:xfrm>
            </p:grpSpPr>
            <p:sp>
              <p:nvSpPr>
                <p:cNvPr id="48174" name="Rectangle 183"/>
                <p:cNvSpPr/>
                <p:nvPr/>
              </p:nvSpPr>
              <p:spPr>
                <a:xfrm>
                  <a:off x="1334" y="4190"/>
                  <a:ext cx="245" cy="7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6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10</a:t>
                  </a:r>
                  <a:endParaRPr lang="en-US" altLang="zh-CN" sz="10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8175" name="Rectangle 184"/>
                <p:cNvSpPr/>
                <p:nvPr/>
              </p:nvSpPr>
              <p:spPr>
                <a:xfrm>
                  <a:off x="1291" y="4190"/>
                  <a:ext cx="331" cy="788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8143" name="Rectangle 185"/>
            <p:cNvSpPr/>
            <p:nvPr/>
          </p:nvSpPr>
          <p:spPr>
            <a:xfrm>
              <a:off x="-3" y="-3"/>
              <a:ext cx="1628" cy="4984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138" name="Group 186"/>
          <p:cNvGrpSpPr/>
          <p:nvPr/>
        </p:nvGrpSpPr>
        <p:grpSpPr>
          <a:xfrm>
            <a:off x="2514600" y="2667000"/>
            <a:ext cx="1295400" cy="730250"/>
            <a:chOff x="3984" y="1824"/>
            <a:chExt cx="816" cy="460"/>
          </a:xfrm>
        </p:grpSpPr>
        <p:sp>
          <p:nvSpPr>
            <p:cNvPr id="48139" name="Text Box 187"/>
            <p:cNvSpPr txBox="1"/>
            <p:nvPr/>
          </p:nvSpPr>
          <p:spPr>
            <a:xfrm>
              <a:off x="3984" y="1824"/>
              <a:ext cx="8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600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R    S 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140" name="AutoShape 188"/>
            <p:cNvSpPr/>
            <p:nvPr/>
          </p:nvSpPr>
          <p:spPr>
            <a:xfrm rot="5400000">
              <a:off x="4336" y="1896"/>
              <a:ext cx="144" cy="192"/>
            </a:xfrm>
            <a:prstGeom prst="flowChartCollat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8141" name="Text Box 189"/>
            <p:cNvSpPr txBox="1"/>
            <p:nvPr/>
          </p:nvSpPr>
          <p:spPr>
            <a:xfrm>
              <a:off x="4128" y="2024"/>
              <a:ext cx="57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C &lt; E</a:t>
              </a:r>
              <a:endParaRPr lang="en-US" altLang="zh-CN" sz="2400" b="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157" name="Text Box 4"/>
          <p:cNvSpPr txBox="1"/>
          <p:nvPr/>
        </p:nvSpPr>
        <p:spPr>
          <a:xfrm>
            <a:off x="3962400" y="10668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158" name="Text Box 5"/>
          <p:cNvSpPr txBox="1"/>
          <p:nvPr/>
        </p:nvSpPr>
        <p:spPr>
          <a:xfrm>
            <a:off x="838200" y="2057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49159" name="Group 6"/>
          <p:cNvGrpSpPr/>
          <p:nvPr/>
        </p:nvGrpSpPr>
        <p:grpSpPr>
          <a:xfrm>
            <a:off x="4876800" y="838200"/>
            <a:ext cx="3429000" cy="2286000"/>
            <a:chOff x="-3" y="-3"/>
            <a:chExt cx="1171" cy="2832"/>
          </a:xfrm>
        </p:grpSpPr>
        <p:grpSp>
          <p:nvGrpSpPr>
            <p:cNvPr id="49281" name="Group 7"/>
            <p:cNvGrpSpPr/>
            <p:nvPr/>
          </p:nvGrpSpPr>
          <p:grpSpPr>
            <a:xfrm>
              <a:off x="0" y="0"/>
              <a:ext cx="1165" cy="2826"/>
              <a:chOff x="0" y="0"/>
              <a:chExt cx="1165" cy="2826"/>
            </a:xfrm>
          </p:grpSpPr>
          <p:grpSp>
            <p:nvGrpSpPr>
              <p:cNvPr id="49283" name="Group 8"/>
              <p:cNvGrpSpPr/>
              <p:nvPr/>
            </p:nvGrpSpPr>
            <p:grpSpPr>
              <a:xfrm>
                <a:off x="0" y="0"/>
                <a:ext cx="417" cy="442"/>
                <a:chOff x="0" y="0"/>
                <a:chExt cx="417" cy="442"/>
              </a:xfrm>
            </p:grpSpPr>
            <p:sp>
              <p:nvSpPr>
                <p:cNvPr id="49326" name="Rectangle 9"/>
                <p:cNvSpPr/>
                <p:nvPr/>
              </p:nvSpPr>
              <p:spPr>
                <a:xfrm>
                  <a:off x="43" y="0"/>
                  <a:ext cx="331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27" name="Rectangle 10"/>
                <p:cNvSpPr/>
                <p:nvPr/>
              </p:nvSpPr>
              <p:spPr>
                <a:xfrm>
                  <a:off x="0" y="0"/>
                  <a:ext cx="417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84" name="Group 11"/>
              <p:cNvGrpSpPr/>
              <p:nvPr/>
            </p:nvGrpSpPr>
            <p:grpSpPr>
              <a:xfrm>
                <a:off x="417" y="0"/>
                <a:ext cx="302" cy="442"/>
                <a:chOff x="417" y="0"/>
                <a:chExt cx="302" cy="442"/>
              </a:xfrm>
            </p:grpSpPr>
            <p:sp>
              <p:nvSpPr>
                <p:cNvPr id="49324" name="Rectangle 12"/>
                <p:cNvSpPr/>
                <p:nvPr/>
              </p:nvSpPr>
              <p:spPr>
                <a:xfrm>
                  <a:off x="460" y="0"/>
                  <a:ext cx="216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25" name="Rectangle 13"/>
                <p:cNvSpPr/>
                <p:nvPr/>
              </p:nvSpPr>
              <p:spPr>
                <a:xfrm>
                  <a:off x="417" y="0"/>
                  <a:ext cx="302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85" name="Group 14"/>
              <p:cNvGrpSpPr/>
              <p:nvPr/>
            </p:nvGrpSpPr>
            <p:grpSpPr>
              <a:xfrm>
                <a:off x="719" y="0"/>
                <a:ext cx="446" cy="442"/>
                <a:chOff x="719" y="0"/>
                <a:chExt cx="446" cy="442"/>
              </a:xfrm>
            </p:grpSpPr>
            <p:sp>
              <p:nvSpPr>
                <p:cNvPr id="49322" name="Rectangle 15"/>
                <p:cNvSpPr/>
                <p:nvPr/>
              </p:nvSpPr>
              <p:spPr>
                <a:xfrm>
                  <a:off x="762" y="0"/>
                  <a:ext cx="360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23" name="Rectangle 16"/>
                <p:cNvSpPr/>
                <p:nvPr/>
              </p:nvSpPr>
              <p:spPr>
                <a:xfrm>
                  <a:off x="719" y="0"/>
                  <a:ext cx="446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86" name="Group 17"/>
              <p:cNvGrpSpPr/>
              <p:nvPr/>
            </p:nvGrpSpPr>
            <p:grpSpPr>
              <a:xfrm>
                <a:off x="0" y="442"/>
                <a:ext cx="417" cy="596"/>
                <a:chOff x="0" y="442"/>
                <a:chExt cx="417" cy="596"/>
              </a:xfrm>
            </p:grpSpPr>
            <p:sp>
              <p:nvSpPr>
                <p:cNvPr id="49320" name="Rectangle 18"/>
                <p:cNvSpPr/>
                <p:nvPr/>
              </p:nvSpPr>
              <p:spPr>
                <a:xfrm>
                  <a:off x="43" y="442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21" name="Rectangle 19"/>
                <p:cNvSpPr/>
                <p:nvPr/>
              </p:nvSpPr>
              <p:spPr>
                <a:xfrm>
                  <a:off x="0" y="442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87" name="Group 20"/>
              <p:cNvGrpSpPr/>
              <p:nvPr/>
            </p:nvGrpSpPr>
            <p:grpSpPr>
              <a:xfrm>
                <a:off x="417" y="442"/>
                <a:ext cx="302" cy="596"/>
                <a:chOff x="417" y="442"/>
                <a:chExt cx="302" cy="596"/>
              </a:xfrm>
            </p:grpSpPr>
            <p:sp>
              <p:nvSpPr>
                <p:cNvPr id="49318" name="Rectangle 21"/>
                <p:cNvSpPr/>
                <p:nvPr/>
              </p:nvSpPr>
              <p:spPr>
                <a:xfrm>
                  <a:off x="460" y="442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19" name="Rectangle 22"/>
                <p:cNvSpPr/>
                <p:nvPr/>
              </p:nvSpPr>
              <p:spPr>
                <a:xfrm>
                  <a:off x="417" y="442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88" name="Group 23"/>
              <p:cNvGrpSpPr/>
              <p:nvPr/>
            </p:nvGrpSpPr>
            <p:grpSpPr>
              <a:xfrm>
                <a:off x="719" y="442"/>
                <a:ext cx="446" cy="596"/>
                <a:chOff x="719" y="442"/>
                <a:chExt cx="446" cy="596"/>
              </a:xfrm>
            </p:grpSpPr>
            <p:sp>
              <p:nvSpPr>
                <p:cNvPr id="49316" name="Rectangle 24"/>
                <p:cNvSpPr/>
                <p:nvPr/>
              </p:nvSpPr>
              <p:spPr>
                <a:xfrm>
                  <a:off x="762" y="442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17" name="Rectangle 25"/>
                <p:cNvSpPr/>
                <p:nvPr/>
              </p:nvSpPr>
              <p:spPr>
                <a:xfrm>
                  <a:off x="719" y="442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89" name="Group 26"/>
              <p:cNvGrpSpPr/>
              <p:nvPr/>
            </p:nvGrpSpPr>
            <p:grpSpPr>
              <a:xfrm>
                <a:off x="0" y="1038"/>
                <a:ext cx="417" cy="596"/>
                <a:chOff x="0" y="1038"/>
                <a:chExt cx="417" cy="596"/>
              </a:xfrm>
            </p:grpSpPr>
            <p:sp>
              <p:nvSpPr>
                <p:cNvPr id="49314" name="Rectangle 27"/>
                <p:cNvSpPr/>
                <p:nvPr/>
              </p:nvSpPr>
              <p:spPr>
                <a:xfrm>
                  <a:off x="43" y="1038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15" name="Rectangle 28"/>
                <p:cNvSpPr/>
                <p:nvPr/>
              </p:nvSpPr>
              <p:spPr>
                <a:xfrm>
                  <a:off x="0" y="1038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90" name="Group 29"/>
              <p:cNvGrpSpPr/>
              <p:nvPr/>
            </p:nvGrpSpPr>
            <p:grpSpPr>
              <a:xfrm>
                <a:off x="417" y="1038"/>
                <a:ext cx="302" cy="596"/>
                <a:chOff x="417" y="1038"/>
                <a:chExt cx="302" cy="596"/>
              </a:xfrm>
            </p:grpSpPr>
            <p:sp>
              <p:nvSpPr>
                <p:cNvPr id="49312" name="Rectangle 30"/>
                <p:cNvSpPr/>
                <p:nvPr/>
              </p:nvSpPr>
              <p:spPr>
                <a:xfrm>
                  <a:off x="460" y="1038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13" name="Rectangle 31"/>
                <p:cNvSpPr/>
                <p:nvPr/>
              </p:nvSpPr>
              <p:spPr>
                <a:xfrm>
                  <a:off x="417" y="1038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91" name="Group 32"/>
              <p:cNvGrpSpPr/>
              <p:nvPr/>
            </p:nvGrpSpPr>
            <p:grpSpPr>
              <a:xfrm>
                <a:off x="719" y="1038"/>
                <a:ext cx="446" cy="596"/>
                <a:chOff x="719" y="1038"/>
                <a:chExt cx="446" cy="596"/>
              </a:xfrm>
            </p:grpSpPr>
            <p:sp>
              <p:nvSpPr>
                <p:cNvPr id="49310" name="Rectangle 33"/>
                <p:cNvSpPr/>
                <p:nvPr/>
              </p:nvSpPr>
              <p:spPr>
                <a:xfrm>
                  <a:off x="762" y="1038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6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11" name="Rectangle 34"/>
                <p:cNvSpPr/>
                <p:nvPr/>
              </p:nvSpPr>
              <p:spPr>
                <a:xfrm>
                  <a:off x="719" y="1038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92" name="Group 35"/>
              <p:cNvGrpSpPr/>
              <p:nvPr/>
            </p:nvGrpSpPr>
            <p:grpSpPr>
              <a:xfrm>
                <a:off x="0" y="1634"/>
                <a:ext cx="417" cy="596"/>
                <a:chOff x="0" y="1634"/>
                <a:chExt cx="417" cy="596"/>
              </a:xfrm>
            </p:grpSpPr>
            <p:sp>
              <p:nvSpPr>
                <p:cNvPr id="49308" name="Rectangle 36"/>
                <p:cNvSpPr/>
                <p:nvPr/>
              </p:nvSpPr>
              <p:spPr>
                <a:xfrm>
                  <a:off x="43" y="1634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09" name="Rectangle 37"/>
                <p:cNvSpPr/>
                <p:nvPr/>
              </p:nvSpPr>
              <p:spPr>
                <a:xfrm>
                  <a:off x="0" y="1634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93" name="Group 38"/>
              <p:cNvGrpSpPr/>
              <p:nvPr/>
            </p:nvGrpSpPr>
            <p:grpSpPr>
              <a:xfrm>
                <a:off x="417" y="1634"/>
                <a:ext cx="302" cy="596"/>
                <a:chOff x="417" y="1634"/>
                <a:chExt cx="302" cy="596"/>
              </a:xfrm>
            </p:grpSpPr>
            <p:sp>
              <p:nvSpPr>
                <p:cNvPr id="49306" name="Rectangle 39"/>
                <p:cNvSpPr/>
                <p:nvPr/>
              </p:nvSpPr>
              <p:spPr>
                <a:xfrm>
                  <a:off x="460" y="1634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07" name="Rectangle 40"/>
                <p:cNvSpPr/>
                <p:nvPr/>
              </p:nvSpPr>
              <p:spPr>
                <a:xfrm>
                  <a:off x="417" y="1634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94" name="Group 41"/>
              <p:cNvGrpSpPr/>
              <p:nvPr/>
            </p:nvGrpSpPr>
            <p:grpSpPr>
              <a:xfrm>
                <a:off x="719" y="1634"/>
                <a:ext cx="446" cy="596"/>
                <a:chOff x="719" y="1634"/>
                <a:chExt cx="446" cy="596"/>
              </a:xfrm>
            </p:grpSpPr>
            <p:sp>
              <p:nvSpPr>
                <p:cNvPr id="49304" name="Rectangle 42"/>
                <p:cNvSpPr/>
                <p:nvPr/>
              </p:nvSpPr>
              <p:spPr>
                <a:xfrm>
                  <a:off x="762" y="1634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8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05" name="Rectangle 43"/>
                <p:cNvSpPr/>
                <p:nvPr/>
              </p:nvSpPr>
              <p:spPr>
                <a:xfrm>
                  <a:off x="719" y="1634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95" name="Group 44"/>
              <p:cNvGrpSpPr/>
              <p:nvPr/>
            </p:nvGrpSpPr>
            <p:grpSpPr>
              <a:xfrm>
                <a:off x="0" y="2230"/>
                <a:ext cx="417" cy="596"/>
                <a:chOff x="0" y="2230"/>
                <a:chExt cx="417" cy="596"/>
              </a:xfrm>
            </p:grpSpPr>
            <p:sp>
              <p:nvSpPr>
                <p:cNvPr id="49302" name="Rectangle 45"/>
                <p:cNvSpPr/>
                <p:nvPr/>
              </p:nvSpPr>
              <p:spPr>
                <a:xfrm>
                  <a:off x="43" y="2230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03" name="Rectangle 46"/>
                <p:cNvSpPr/>
                <p:nvPr/>
              </p:nvSpPr>
              <p:spPr>
                <a:xfrm>
                  <a:off x="0" y="2230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96" name="Group 47"/>
              <p:cNvGrpSpPr/>
              <p:nvPr/>
            </p:nvGrpSpPr>
            <p:grpSpPr>
              <a:xfrm>
                <a:off x="417" y="2230"/>
                <a:ext cx="302" cy="596"/>
                <a:chOff x="417" y="2230"/>
                <a:chExt cx="302" cy="596"/>
              </a:xfrm>
            </p:grpSpPr>
            <p:sp>
              <p:nvSpPr>
                <p:cNvPr id="49300" name="Rectangle 48"/>
                <p:cNvSpPr/>
                <p:nvPr/>
              </p:nvSpPr>
              <p:spPr>
                <a:xfrm>
                  <a:off x="460" y="2230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4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301" name="Rectangle 49"/>
                <p:cNvSpPr/>
                <p:nvPr/>
              </p:nvSpPr>
              <p:spPr>
                <a:xfrm>
                  <a:off x="417" y="2230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97" name="Group 50"/>
              <p:cNvGrpSpPr/>
              <p:nvPr/>
            </p:nvGrpSpPr>
            <p:grpSpPr>
              <a:xfrm>
                <a:off x="719" y="2230"/>
                <a:ext cx="446" cy="596"/>
                <a:chOff x="719" y="2230"/>
                <a:chExt cx="446" cy="596"/>
              </a:xfrm>
            </p:grpSpPr>
            <p:sp>
              <p:nvSpPr>
                <p:cNvPr id="49298" name="Rectangle 51"/>
                <p:cNvSpPr/>
                <p:nvPr/>
              </p:nvSpPr>
              <p:spPr>
                <a:xfrm>
                  <a:off x="762" y="2230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99" name="Rectangle 52"/>
                <p:cNvSpPr/>
                <p:nvPr/>
              </p:nvSpPr>
              <p:spPr>
                <a:xfrm>
                  <a:off x="719" y="2230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9282" name="Rectangle 53"/>
            <p:cNvSpPr/>
            <p:nvPr/>
          </p:nvSpPr>
          <p:spPr>
            <a:xfrm>
              <a:off x="-3" y="-3"/>
              <a:ext cx="1171" cy="283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160" name="Group 54"/>
          <p:cNvGrpSpPr/>
          <p:nvPr/>
        </p:nvGrpSpPr>
        <p:grpSpPr>
          <a:xfrm>
            <a:off x="228600" y="2895600"/>
            <a:ext cx="1752600" cy="3429000"/>
            <a:chOff x="-3" y="-3"/>
            <a:chExt cx="740" cy="3211"/>
          </a:xfrm>
        </p:grpSpPr>
        <p:grpSp>
          <p:nvGrpSpPr>
            <p:cNvPr id="49243" name="Group 55"/>
            <p:cNvGrpSpPr/>
            <p:nvPr/>
          </p:nvGrpSpPr>
          <p:grpSpPr>
            <a:xfrm>
              <a:off x="0" y="0"/>
              <a:ext cx="734" cy="3205"/>
              <a:chOff x="0" y="0"/>
              <a:chExt cx="734" cy="3205"/>
            </a:xfrm>
          </p:grpSpPr>
          <p:grpSp>
            <p:nvGrpSpPr>
              <p:cNvPr id="49245" name="Group 56"/>
              <p:cNvGrpSpPr/>
              <p:nvPr/>
            </p:nvGrpSpPr>
            <p:grpSpPr>
              <a:xfrm>
                <a:off x="0" y="0"/>
                <a:ext cx="360" cy="499"/>
                <a:chOff x="0" y="0"/>
                <a:chExt cx="360" cy="499"/>
              </a:xfrm>
            </p:grpSpPr>
            <p:sp>
              <p:nvSpPr>
                <p:cNvPr id="49279" name="Rectangle 57"/>
                <p:cNvSpPr/>
                <p:nvPr/>
              </p:nvSpPr>
              <p:spPr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endParaRPr lang="en-US" altLang="zh-CN" sz="2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80" name="Rectangle 58"/>
                <p:cNvSpPr/>
                <p:nvPr/>
              </p:nvSpPr>
              <p:spPr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46" name="Group 59"/>
              <p:cNvGrpSpPr/>
              <p:nvPr/>
            </p:nvGrpSpPr>
            <p:grpSpPr>
              <a:xfrm>
                <a:off x="360" y="0"/>
                <a:ext cx="374" cy="499"/>
                <a:chOff x="360" y="0"/>
                <a:chExt cx="374" cy="499"/>
              </a:xfrm>
            </p:grpSpPr>
            <p:sp>
              <p:nvSpPr>
                <p:cNvPr id="49277" name="Rectangle 60"/>
                <p:cNvSpPr/>
                <p:nvPr/>
              </p:nvSpPr>
              <p:spPr>
                <a:xfrm>
                  <a:off x="403" y="0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E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78" name="Rectangle 61"/>
                <p:cNvSpPr/>
                <p:nvPr/>
              </p:nvSpPr>
              <p:spPr>
                <a:xfrm>
                  <a:off x="360" y="0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47" name="Group 62"/>
              <p:cNvGrpSpPr/>
              <p:nvPr/>
            </p:nvGrpSpPr>
            <p:grpSpPr>
              <a:xfrm>
                <a:off x="0" y="499"/>
                <a:ext cx="360" cy="499"/>
                <a:chOff x="0" y="499"/>
                <a:chExt cx="360" cy="499"/>
              </a:xfrm>
            </p:grpSpPr>
            <p:sp>
              <p:nvSpPr>
                <p:cNvPr id="49275" name="Rectangle 63"/>
                <p:cNvSpPr/>
                <p:nvPr/>
              </p:nvSpPr>
              <p:spPr>
                <a:xfrm>
                  <a:off x="43" y="499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76" name="Rectangle 64"/>
                <p:cNvSpPr/>
                <p:nvPr/>
              </p:nvSpPr>
              <p:spPr>
                <a:xfrm>
                  <a:off x="0" y="499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48" name="Group 65"/>
              <p:cNvGrpSpPr/>
              <p:nvPr/>
            </p:nvGrpSpPr>
            <p:grpSpPr>
              <a:xfrm>
                <a:off x="360" y="499"/>
                <a:ext cx="374" cy="499"/>
                <a:chOff x="360" y="499"/>
                <a:chExt cx="374" cy="499"/>
              </a:xfrm>
            </p:grpSpPr>
            <p:sp>
              <p:nvSpPr>
                <p:cNvPr id="49273" name="Rectangle 66"/>
                <p:cNvSpPr/>
                <p:nvPr/>
              </p:nvSpPr>
              <p:spPr>
                <a:xfrm>
                  <a:off x="403" y="499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74" name="Rectangle 67"/>
                <p:cNvSpPr/>
                <p:nvPr/>
              </p:nvSpPr>
              <p:spPr>
                <a:xfrm>
                  <a:off x="360" y="499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49" name="Group 68"/>
              <p:cNvGrpSpPr/>
              <p:nvPr/>
            </p:nvGrpSpPr>
            <p:grpSpPr>
              <a:xfrm>
                <a:off x="0" y="998"/>
                <a:ext cx="360" cy="499"/>
                <a:chOff x="0" y="998"/>
                <a:chExt cx="360" cy="499"/>
              </a:xfrm>
            </p:grpSpPr>
            <p:sp>
              <p:nvSpPr>
                <p:cNvPr id="49271" name="Rectangle 69"/>
                <p:cNvSpPr/>
                <p:nvPr/>
              </p:nvSpPr>
              <p:spPr>
                <a:xfrm>
                  <a:off x="43" y="998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72" name="Rectangle 70"/>
                <p:cNvSpPr/>
                <p:nvPr/>
              </p:nvSpPr>
              <p:spPr>
                <a:xfrm>
                  <a:off x="0" y="998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50" name="Group 71"/>
              <p:cNvGrpSpPr/>
              <p:nvPr/>
            </p:nvGrpSpPr>
            <p:grpSpPr>
              <a:xfrm>
                <a:off x="360" y="998"/>
                <a:ext cx="374" cy="499"/>
                <a:chOff x="360" y="998"/>
                <a:chExt cx="374" cy="499"/>
              </a:xfrm>
            </p:grpSpPr>
            <p:sp>
              <p:nvSpPr>
                <p:cNvPr id="49269" name="Rectangle 72"/>
                <p:cNvSpPr/>
                <p:nvPr/>
              </p:nvSpPr>
              <p:spPr>
                <a:xfrm>
                  <a:off x="403" y="998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7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70" name="Rectangle 73"/>
                <p:cNvSpPr/>
                <p:nvPr/>
              </p:nvSpPr>
              <p:spPr>
                <a:xfrm>
                  <a:off x="360" y="998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51" name="Group 74"/>
              <p:cNvGrpSpPr/>
              <p:nvPr/>
            </p:nvGrpSpPr>
            <p:grpSpPr>
              <a:xfrm>
                <a:off x="0" y="1497"/>
                <a:ext cx="360" cy="710"/>
                <a:chOff x="0" y="1497"/>
                <a:chExt cx="360" cy="710"/>
              </a:xfrm>
            </p:grpSpPr>
            <p:sp>
              <p:nvSpPr>
                <p:cNvPr id="49267" name="Rectangle 75"/>
                <p:cNvSpPr/>
                <p:nvPr/>
              </p:nvSpPr>
              <p:spPr>
                <a:xfrm>
                  <a:off x="43" y="1497"/>
                  <a:ext cx="274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68" name="Rectangle 76"/>
                <p:cNvSpPr/>
                <p:nvPr/>
              </p:nvSpPr>
              <p:spPr>
                <a:xfrm>
                  <a:off x="0" y="1497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52" name="Group 77"/>
              <p:cNvGrpSpPr/>
              <p:nvPr/>
            </p:nvGrpSpPr>
            <p:grpSpPr>
              <a:xfrm>
                <a:off x="360" y="1497"/>
                <a:ext cx="374" cy="710"/>
                <a:chOff x="360" y="1497"/>
                <a:chExt cx="374" cy="710"/>
              </a:xfrm>
            </p:grpSpPr>
            <p:sp>
              <p:nvSpPr>
                <p:cNvPr id="49265" name="Rectangle 78"/>
                <p:cNvSpPr/>
                <p:nvPr/>
              </p:nvSpPr>
              <p:spPr>
                <a:xfrm>
                  <a:off x="403" y="1497"/>
                  <a:ext cx="288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10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66" name="Rectangle 79"/>
                <p:cNvSpPr/>
                <p:nvPr/>
              </p:nvSpPr>
              <p:spPr>
                <a:xfrm>
                  <a:off x="360" y="1497"/>
                  <a:ext cx="374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53" name="Group 80"/>
              <p:cNvGrpSpPr/>
              <p:nvPr/>
            </p:nvGrpSpPr>
            <p:grpSpPr>
              <a:xfrm>
                <a:off x="0" y="2207"/>
                <a:ext cx="360" cy="499"/>
                <a:chOff x="0" y="2207"/>
                <a:chExt cx="360" cy="499"/>
              </a:xfrm>
            </p:grpSpPr>
            <p:sp>
              <p:nvSpPr>
                <p:cNvPr id="49263" name="Rectangle 81"/>
                <p:cNvSpPr/>
                <p:nvPr/>
              </p:nvSpPr>
              <p:spPr>
                <a:xfrm>
                  <a:off x="43" y="2207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64" name="Rectangle 82"/>
                <p:cNvSpPr/>
                <p:nvPr/>
              </p:nvSpPr>
              <p:spPr>
                <a:xfrm>
                  <a:off x="0" y="2207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54" name="Group 83"/>
              <p:cNvGrpSpPr/>
              <p:nvPr/>
            </p:nvGrpSpPr>
            <p:grpSpPr>
              <a:xfrm>
                <a:off x="360" y="2207"/>
                <a:ext cx="374" cy="499"/>
                <a:chOff x="360" y="2207"/>
                <a:chExt cx="374" cy="499"/>
              </a:xfrm>
            </p:grpSpPr>
            <p:sp>
              <p:nvSpPr>
                <p:cNvPr id="49261" name="Rectangle 84"/>
                <p:cNvSpPr/>
                <p:nvPr/>
              </p:nvSpPr>
              <p:spPr>
                <a:xfrm>
                  <a:off x="403" y="2207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62" name="Rectangle 85"/>
                <p:cNvSpPr/>
                <p:nvPr/>
              </p:nvSpPr>
              <p:spPr>
                <a:xfrm>
                  <a:off x="360" y="2207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55" name="Group 86"/>
              <p:cNvGrpSpPr/>
              <p:nvPr/>
            </p:nvGrpSpPr>
            <p:grpSpPr>
              <a:xfrm>
                <a:off x="0" y="2706"/>
                <a:ext cx="360" cy="499"/>
                <a:chOff x="0" y="2706"/>
                <a:chExt cx="360" cy="499"/>
              </a:xfrm>
            </p:grpSpPr>
            <p:sp>
              <p:nvSpPr>
                <p:cNvPr id="49259" name="Rectangle 87"/>
                <p:cNvSpPr/>
                <p:nvPr/>
              </p:nvSpPr>
              <p:spPr>
                <a:xfrm>
                  <a:off x="43" y="2706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60" name="Rectangle 88"/>
                <p:cNvSpPr/>
                <p:nvPr/>
              </p:nvSpPr>
              <p:spPr>
                <a:xfrm>
                  <a:off x="0" y="2706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256" name="Group 89"/>
              <p:cNvGrpSpPr/>
              <p:nvPr/>
            </p:nvGrpSpPr>
            <p:grpSpPr>
              <a:xfrm>
                <a:off x="360" y="2706"/>
                <a:ext cx="374" cy="499"/>
                <a:chOff x="360" y="2706"/>
                <a:chExt cx="374" cy="499"/>
              </a:xfrm>
            </p:grpSpPr>
            <p:sp>
              <p:nvSpPr>
                <p:cNvPr id="49257" name="Rectangle 90"/>
                <p:cNvSpPr/>
                <p:nvPr/>
              </p:nvSpPr>
              <p:spPr>
                <a:xfrm>
                  <a:off x="403" y="2706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58" name="Rectangle 91"/>
                <p:cNvSpPr/>
                <p:nvPr/>
              </p:nvSpPr>
              <p:spPr>
                <a:xfrm>
                  <a:off x="360" y="2706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9244" name="Rectangle 92"/>
            <p:cNvSpPr/>
            <p:nvPr/>
          </p:nvSpPr>
          <p:spPr>
            <a:xfrm>
              <a:off x="-3" y="-3"/>
              <a:ext cx="740" cy="3211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161" name="Group 93"/>
          <p:cNvGrpSpPr/>
          <p:nvPr/>
        </p:nvGrpSpPr>
        <p:grpSpPr>
          <a:xfrm>
            <a:off x="2514600" y="2667000"/>
            <a:ext cx="1295400" cy="730250"/>
            <a:chOff x="3984" y="1824"/>
            <a:chExt cx="816" cy="460"/>
          </a:xfrm>
        </p:grpSpPr>
        <p:sp>
          <p:nvSpPr>
            <p:cNvPr id="49240" name="Text Box 94"/>
            <p:cNvSpPr txBox="1"/>
            <p:nvPr/>
          </p:nvSpPr>
          <p:spPr>
            <a:xfrm>
              <a:off x="3984" y="1824"/>
              <a:ext cx="8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600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R    S 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241" name="AutoShape 95"/>
            <p:cNvSpPr/>
            <p:nvPr/>
          </p:nvSpPr>
          <p:spPr>
            <a:xfrm rot="5400000">
              <a:off x="4336" y="1896"/>
              <a:ext cx="144" cy="192"/>
            </a:xfrm>
            <a:prstGeom prst="flowChartCollat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49242" name="Text Box 96"/>
            <p:cNvSpPr txBox="1"/>
            <p:nvPr/>
          </p:nvSpPr>
          <p:spPr>
            <a:xfrm>
              <a:off x="4128" y="2024"/>
              <a:ext cx="57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2 =1</a:t>
              </a:r>
              <a:endParaRPr lang="en-US" altLang="zh-CN" sz="2400" b="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grpSp>
        <p:nvGrpSpPr>
          <p:cNvPr id="49162" name="Group 97"/>
          <p:cNvGrpSpPr/>
          <p:nvPr/>
        </p:nvGrpSpPr>
        <p:grpSpPr>
          <a:xfrm>
            <a:off x="2819400" y="3505200"/>
            <a:ext cx="5562600" cy="2674938"/>
            <a:chOff x="-3" y="-3"/>
            <a:chExt cx="2205" cy="2501"/>
          </a:xfrm>
        </p:grpSpPr>
        <p:grpSp>
          <p:nvGrpSpPr>
            <p:cNvPr id="49163" name="Group 98"/>
            <p:cNvGrpSpPr/>
            <p:nvPr/>
          </p:nvGrpSpPr>
          <p:grpSpPr>
            <a:xfrm>
              <a:off x="0" y="0"/>
              <a:ext cx="2199" cy="2495"/>
              <a:chOff x="0" y="0"/>
              <a:chExt cx="2199" cy="2495"/>
            </a:xfrm>
          </p:grpSpPr>
          <p:grpSp>
            <p:nvGrpSpPr>
              <p:cNvPr id="49165" name="Group 99"/>
              <p:cNvGrpSpPr/>
              <p:nvPr/>
            </p:nvGrpSpPr>
            <p:grpSpPr>
              <a:xfrm>
                <a:off x="0" y="0"/>
                <a:ext cx="390" cy="499"/>
                <a:chOff x="0" y="0"/>
                <a:chExt cx="390" cy="499"/>
              </a:xfrm>
            </p:grpSpPr>
            <p:sp>
              <p:nvSpPr>
                <p:cNvPr id="49238" name="Rectangle 100"/>
                <p:cNvSpPr/>
                <p:nvPr/>
              </p:nvSpPr>
              <p:spPr>
                <a:xfrm>
                  <a:off x="43" y="0"/>
                  <a:ext cx="30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39" name="Rectangle 101"/>
                <p:cNvSpPr/>
                <p:nvPr/>
              </p:nvSpPr>
              <p:spPr>
                <a:xfrm>
                  <a:off x="0" y="0"/>
                  <a:ext cx="39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66" name="Group 102"/>
              <p:cNvGrpSpPr/>
              <p:nvPr/>
            </p:nvGrpSpPr>
            <p:grpSpPr>
              <a:xfrm>
                <a:off x="390" y="0"/>
                <a:ext cx="523" cy="499"/>
                <a:chOff x="390" y="0"/>
                <a:chExt cx="523" cy="499"/>
              </a:xfrm>
            </p:grpSpPr>
            <p:sp>
              <p:nvSpPr>
                <p:cNvPr id="49236" name="Rectangle 103"/>
                <p:cNvSpPr/>
                <p:nvPr/>
              </p:nvSpPr>
              <p:spPr>
                <a:xfrm>
                  <a:off x="433" y="0"/>
                  <a:ext cx="437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R.B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37" name="Rectangle 104"/>
                <p:cNvSpPr/>
                <p:nvPr/>
              </p:nvSpPr>
              <p:spPr>
                <a:xfrm>
                  <a:off x="390" y="0"/>
                  <a:ext cx="523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67" name="Group 105"/>
              <p:cNvGrpSpPr/>
              <p:nvPr/>
            </p:nvGrpSpPr>
            <p:grpSpPr>
              <a:xfrm>
                <a:off x="913" y="0"/>
                <a:ext cx="362" cy="499"/>
                <a:chOff x="913" y="0"/>
                <a:chExt cx="362" cy="499"/>
              </a:xfrm>
            </p:grpSpPr>
            <p:sp>
              <p:nvSpPr>
                <p:cNvPr id="49234" name="Rectangle 106"/>
                <p:cNvSpPr/>
                <p:nvPr/>
              </p:nvSpPr>
              <p:spPr>
                <a:xfrm>
                  <a:off x="956" y="0"/>
                  <a:ext cx="276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C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35" name="Rectangle 107"/>
                <p:cNvSpPr/>
                <p:nvPr/>
              </p:nvSpPr>
              <p:spPr>
                <a:xfrm>
                  <a:off x="913" y="0"/>
                  <a:ext cx="36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68" name="Group 108"/>
              <p:cNvGrpSpPr/>
              <p:nvPr/>
            </p:nvGrpSpPr>
            <p:grpSpPr>
              <a:xfrm>
                <a:off x="1275" y="0"/>
                <a:ext cx="504" cy="499"/>
                <a:chOff x="1275" y="0"/>
                <a:chExt cx="504" cy="499"/>
              </a:xfrm>
            </p:grpSpPr>
            <p:sp>
              <p:nvSpPr>
                <p:cNvPr id="49232" name="Rectangle 109"/>
                <p:cNvSpPr/>
                <p:nvPr/>
              </p:nvSpPr>
              <p:spPr>
                <a:xfrm>
                  <a:off x="1318" y="0"/>
                  <a:ext cx="41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S.B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33" name="Rectangle 110"/>
                <p:cNvSpPr/>
                <p:nvPr/>
              </p:nvSpPr>
              <p:spPr>
                <a:xfrm>
                  <a:off x="1275" y="0"/>
                  <a:ext cx="50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69" name="Group 111"/>
              <p:cNvGrpSpPr/>
              <p:nvPr/>
            </p:nvGrpSpPr>
            <p:grpSpPr>
              <a:xfrm>
                <a:off x="1779" y="0"/>
                <a:ext cx="420" cy="499"/>
                <a:chOff x="1779" y="0"/>
                <a:chExt cx="420" cy="499"/>
              </a:xfrm>
            </p:grpSpPr>
            <p:sp>
              <p:nvSpPr>
                <p:cNvPr id="49230" name="Rectangle 112"/>
                <p:cNvSpPr/>
                <p:nvPr/>
              </p:nvSpPr>
              <p:spPr>
                <a:xfrm>
                  <a:off x="1822" y="0"/>
                  <a:ext cx="33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E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31" name="Rectangle 113"/>
                <p:cNvSpPr/>
                <p:nvPr/>
              </p:nvSpPr>
              <p:spPr>
                <a:xfrm>
                  <a:off x="1779" y="0"/>
                  <a:ext cx="42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0" name="Group 114"/>
              <p:cNvGrpSpPr/>
              <p:nvPr/>
            </p:nvGrpSpPr>
            <p:grpSpPr>
              <a:xfrm>
                <a:off x="0" y="499"/>
                <a:ext cx="390" cy="499"/>
                <a:chOff x="0" y="499"/>
                <a:chExt cx="390" cy="499"/>
              </a:xfrm>
            </p:grpSpPr>
            <p:sp>
              <p:nvSpPr>
                <p:cNvPr id="49228" name="Rectangle 115"/>
                <p:cNvSpPr/>
                <p:nvPr/>
              </p:nvSpPr>
              <p:spPr>
                <a:xfrm>
                  <a:off x="43" y="499"/>
                  <a:ext cx="30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29" name="Rectangle 116"/>
                <p:cNvSpPr/>
                <p:nvPr/>
              </p:nvSpPr>
              <p:spPr>
                <a:xfrm>
                  <a:off x="0" y="499"/>
                  <a:ext cx="39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1" name="Group 117"/>
              <p:cNvGrpSpPr/>
              <p:nvPr/>
            </p:nvGrpSpPr>
            <p:grpSpPr>
              <a:xfrm>
                <a:off x="390" y="499"/>
                <a:ext cx="523" cy="499"/>
                <a:chOff x="390" y="499"/>
                <a:chExt cx="523" cy="499"/>
              </a:xfrm>
            </p:grpSpPr>
            <p:sp>
              <p:nvSpPr>
                <p:cNvPr id="49226" name="Rectangle 118"/>
                <p:cNvSpPr/>
                <p:nvPr/>
              </p:nvSpPr>
              <p:spPr>
                <a:xfrm>
                  <a:off x="433" y="499"/>
                  <a:ext cx="437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27" name="Rectangle 119"/>
                <p:cNvSpPr/>
                <p:nvPr/>
              </p:nvSpPr>
              <p:spPr>
                <a:xfrm>
                  <a:off x="390" y="499"/>
                  <a:ext cx="523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2" name="Group 120"/>
              <p:cNvGrpSpPr/>
              <p:nvPr/>
            </p:nvGrpSpPr>
            <p:grpSpPr>
              <a:xfrm>
                <a:off x="913" y="499"/>
                <a:ext cx="362" cy="499"/>
                <a:chOff x="913" y="499"/>
                <a:chExt cx="362" cy="499"/>
              </a:xfrm>
            </p:grpSpPr>
            <p:sp>
              <p:nvSpPr>
                <p:cNvPr id="49224" name="Rectangle 121"/>
                <p:cNvSpPr/>
                <p:nvPr/>
              </p:nvSpPr>
              <p:spPr>
                <a:xfrm>
                  <a:off x="956" y="499"/>
                  <a:ext cx="276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25" name="Rectangle 122"/>
                <p:cNvSpPr/>
                <p:nvPr/>
              </p:nvSpPr>
              <p:spPr>
                <a:xfrm>
                  <a:off x="913" y="499"/>
                  <a:ext cx="36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3" name="Group 123"/>
              <p:cNvGrpSpPr/>
              <p:nvPr/>
            </p:nvGrpSpPr>
            <p:grpSpPr>
              <a:xfrm>
                <a:off x="1275" y="499"/>
                <a:ext cx="504" cy="499"/>
                <a:chOff x="1275" y="499"/>
                <a:chExt cx="504" cy="499"/>
              </a:xfrm>
            </p:grpSpPr>
            <p:sp>
              <p:nvSpPr>
                <p:cNvPr id="49222" name="Rectangle 124"/>
                <p:cNvSpPr/>
                <p:nvPr/>
              </p:nvSpPr>
              <p:spPr>
                <a:xfrm>
                  <a:off x="1318" y="499"/>
                  <a:ext cx="41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23" name="Rectangle 125"/>
                <p:cNvSpPr/>
                <p:nvPr/>
              </p:nvSpPr>
              <p:spPr>
                <a:xfrm>
                  <a:off x="1275" y="499"/>
                  <a:ext cx="50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4" name="Group 126"/>
              <p:cNvGrpSpPr/>
              <p:nvPr/>
            </p:nvGrpSpPr>
            <p:grpSpPr>
              <a:xfrm>
                <a:off x="1779" y="499"/>
                <a:ext cx="420" cy="499"/>
                <a:chOff x="1779" y="499"/>
                <a:chExt cx="420" cy="499"/>
              </a:xfrm>
            </p:grpSpPr>
            <p:sp>
              <p:nvSpPr>
                <p:cNvPr id="49220" name="Rectangle 127"/>
                <p:cNvSpPr/>
                <p:nvPr/>
              </p:nvSpPr>
              <p:spPr>
                <a:xfrm>
                  <a:off x="1822" y="499"/>
                  <a:ext cx="33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21" name="Rectangle 128"/>
                <p:cNvSpPr/>
                <p:nvPr/>
              </p:nvSpPr>
              <p:spPr>
                <a:xfrm>
                  <a:off x="1779" y="499"/>
                  <a:ext cx="42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5" name="Group 129"/>
              <p:cNvGrpSpPr/>
              <p:nvPr/>
            </p:nvGrpSpPr>
            <p:grpSpPr>
              <a:xfrm>
                <a:off x="0" y="998"/>
                <a:ext cx="390" cy="499"/>
                <a:chOff x="0" y="998"/>
                <a:chExt cx="390" cy="499"/>
              </a:xfrm>
            </p:grpSpPr>
            <p:sp>
              <p:nvSpPr>
                <p:cNvPr id="49218" name="Rectangle 130"/>
                <p:cNvSpPr/>
                <p:nvPr/>
              </p:nvSpPr>
              <p:spPr>
                <a:xfrm>
                  <a:off x="43" y="998"/>
                  <a:ext cx="30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19" name="Rectangle 131"/>
                <p:cNvSpPr/>
                <p:nvPr/>
              </p:nvSpPr>
              <p:spPr>
                <a:xfrm>
                  <a:off x="0" y="998"/>
                  <a:ext cx="39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6" name="Group 132"/>
              <p:cNvGrpSpPr/>
              <p:nvPr/>
            </p:nvGrpSpPr>
            <p:grpSpPr>
              <a:xfrm>
                <a:off x="390" y="998"/>
                <a:ext cx="523" cy="499"/>
                <a:chOff x="390" y="998"/>
                <a:chExt cx="523" cy="499"/>
              </a:xfrm>
            </p:grpSpPr>
            <p:sp>
              <p:nvSpPr>
                <p:cNvPr id="49216" name="Rectangle 133"/>
                <p:cNvSpPr/>
                <p:nvPr/>
              </p:nvSpPr>
              <p:spPr>
                <a:xfrm>
                  <a:off x="433" y="998"/>
                  <a:ext cx="437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17" name="Rectangle 134"/>
                <p:cNvSpPr/>
                <p:nvPr/>
              </p:nvSpPr>
              <p:spPr>
                <a:xfrm>
                  <a:off x="390" y="998"/>
                  <a:ext cx="523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7" name="Group 135"/>
              <p:cNvGrpSpPr/>
              <p:nvPr/>
            </p:nvGrpSpPr>
            <p:grpSpPr>
              <a:xfrm>
                <a:off x="913" y="998"/>
                <a:ext cx="362" cy="499"/>
                <a:chOff x="913" y="998"/>
                <a:chExt cx="362" cy="499"/>
              </a:xfrm>
            </p:grpSpPr>
            <p:sp>
              <p:nvSpPr>
                <p:cNvPr id="49214" name="Rectangle 136"/>
                <p:cNvSpPr/>
                <p:nvPr/>
              </p:nvSpPr>
              <p:spPr>
                <a:xfrm>
                  <a:off x="956" y="998"/>
                  <a:ext cx="276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6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15" name="Rectangle 137"/>
                <p:cNvSpPr/>
                <p:nvPr/>
              </p:nvSpPr>
              <p:spPr>
                <a:xfrm>
                  <a:off x="913" y="998"/>
                  <a:ext cx="36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8" name="Group 138"/>
              <p:cNvGrpSpPr/>
              <p:nvPr/>
            </p:nvGrpSpPr>
            <p:grpSpPr>
              <a:xfrm>
                <a:off x="1275" y="998"/>
                <a:ext cx="504" cy="499"/>
                <a:chOff x="1275" y="998"/>
                <a:chExt cx="504" cy="499"/>
              </a:xfrm>
            </p:grpSpPr>
            <p:sp>
              <p:nvSpPr>
                <p:cNvPr id="49212" name="Rectangle 139"/>
                <p:cNvSpPr/>
                <p:nvPr/>
              </p:nvSpPr>
              <p:spPr>
                <a:xfrm>
                  <a:off x="1318" y="998"/>
                  <a:ext cx="41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13" name="Rectangle 140"/>
                <p:cNvSpPr/>
                <p:nvPr/>
              </p:nvSpPr>
              <p:spPr>
                <a:xfrm>
                  <a:off x="1275" y="998"/>
                  <a:ext cx="50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79" name="Group 141"/>
              <p:cNvGrpSpPr/>
              <p:nvPr/>
            </p:nvGrpSpPr>
            <p:grpSpPr>
              <a:xfrm>
                <a:off x="1779" y="998"/>
                <a:ext cx="420" cy="499"/>
                <a:chOff x="1779" y="998"/>
                <a:chExt cx="420" cy="499"/>
              </a:xfrm>
            </p:grpSpPr>
            <p:sp>
              <p:nvSpPr>
                <p:cNvPr id="49210" name="Rectangle 142"/>
                <p:cNvSpPr/>
                <p:nvPr/>
              </p:nvSpPr>
              <p:spPr>
                <a:xfrm>
                  <a:off x="1822" y="998"/>
                  <a:ext cx="33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7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11" name="Rectangle 143"/>
                <p:cNvSpPr/>
                <p:nvPr/>
              </p:nvSpPr>
              <p:spPr>
                <a:xfrm>
                  <a:off x="1779" y="998"/>
                  <a:ext cx="42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0" name="Group 144"/>
              <p:cNvGrpSpPr/>
              <p:nvPr/>
            </p:nvGrpSpPr>
            <p:grpSpPr>
              <a:xfrm>
                <a:off x="0" y="1497"/>
                <a:ext cx="390" cy="499"/>
                <a:chOff x="0" y="1497"/>
                <a:chExt cx="390" cy="499"/>
              </a:xfrm>
            </p:grpSpPr>
            <p:sp>
              <p:nvSpPr>
                <p:cNvPr id="49208" name="Rectangle 145"/>
                <p:cNvSpPr/>
                <p:nvPr/>
              </p:nvSpPr>
              <p:spPr>
                <a:xfrm>
                  <a:off x="43" y="1497"/>
                  <a:ext cx="30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09" name="Rectangle 146"/>
                <p:cNvSpPr/>
                <p:nvPr/>
              </p:nvSpPr>
              <p:spPr>
                <a:xfrm>
                  <a:off x="0" y="1497"/>
                  <a:ext cx="39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1" name="Group 147"/>
              <p:cNvGrpSpPr/>
              <p:nvPr/>
            </p:nvGrpSpPr>
            <p:grpSpPr>
              <a:xfrm>
                <a:off x="390" y="1497"/>
                <a:ext cx="523" cy="499"/>
                <a:chOff x="390" y="1497"/>
                <a:chExt cx="523" cy="499"/>
              </a:xfrm>
            </p:grpSpPr>
            <p:sp>
              <p:nvSpPr>
                <p:cNvPr id="49206" name="Rectangle 148"/>
                <p:cNvSpPr/>
                <p:nvPr/>
              </p:nvSpPr>
              <p:spPr>
                <a:xfrm>
                  <a:off x="433" y="1497"/>
                  <a:ext cx="437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07" name="Rectangle 149"/>
                <p:cNvSpPr/>
                <p:nvPr/>
              </p:nvSpPr>
              <p:spPr>
                <a:xfrm>
                  <a:off x="390" y="1497"/>
                  <a:ext cx="523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2" name="Group 150"/>
              <p:cNvGrpSpPr/>
              <p:nvPr/>
            </p:nvGrpSpPr>
            <p:grpSpPr>
              <a:xfrm>
                <a:off x="913" y="1497"/>
                <a:ext cx="362" cy="499"/>
                <a:chOff x="913" y="1497"/>
                <a:chExt cx="362" cy="499"/>
              </a:xfrm>
            </p:grpSpPr>
            <p:sp>
              <p:nvSpPr>
                <p:cNvPr id="49204" name="Rectangle 151"/>
                <p:cNvSpPr/>
                <p:nvPr/>
              </p:nvSpPr>
              <p:spPr>
                <a:xfrm>
                  <a:off x="956" y="1497"/>
                  <a:ext cx="276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8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05" name="Rectangle 152"/>
                <p:cNvSpPr/>
                <p:nvPr/>
              </p:nvSpPr>
              <p:spPr>
                <a:xfrm>
                  <a:off x="913" y="1497"/>
                  <a:ext cx="36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3" name="Group 153"/>
              <p:cNvGrpSpPr/>
              <p:nvPr/>
            </p:nvGrpSpPr>
            <p:grpSpPr>
              <a:xfrm>
                <a:off x="1275" y="1497"/>
                <a:ext cx="504" cy="499"/>
                <a:chOff x="1275" y="1497"/>
                <a:chExt cx="504" cy="499"/>
              </a:xfrm>
            </p:grpSpPr>
            <p:sp>
              <p:nvSpPr>
                <p:cNvPr id="49202" name="Rectangle 154"/>
                <p:cNvSpPr/>
                <p:nvPr/>
              </p:nvSpPr>
              <p:spPr>
                <a:xfrm>
                  <a:off x="1318" y="1497"/>
                  <a:ext cx="41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03" name="Rectangle 155"/>
                <p:cNvSpPr/>
                <p:nvPr/>
              </p:nvSpPr>
              <p:spPr>
                <a:xfrm>
                  <a:off x="1275" y="1497"/>
                  <a:ext cx="50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4" name="Group 156"/>
              <p:cNvGrpSpPr/>
              <p:nvPr/>
            </p:nvGrpSpPr>
            <p:grpSpPr>
              <a:xfrm>
                <a:off x="1779" y="1497"/>
                <a:ext cx="420" cy="499"/>
                <a:chOff x="1779" y="1497"/>
                <a:chExt cx="420" cy="499"/>
              </a:xfrm>
            </p:grpSpPr>
            <p:sp>
              <p:nvSpPr>
                <p:cNvPr id="49200" name="Rectangle 157"/>
                <p:cNvSpPr/>
                <p:nvPr/>
              </p:nvSpPr>
              <p:spPr>
                <a:xfrm>
                  <a:off x="1822" y="1497"/>
                  <a:ext cx="33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10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201" name="Rectangle 158"/>
                <p:cNvSpPr/>
                <p:nvPr/>
              </p:nvSpPr>
              <p:spPr>
                <a:xfrm>
                  <a:off x="1779" y="1497"/>
                  <a:ext cx="42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5" name="Group 159"/>
              <p:cNvGrpSpPr/>
              <p:nvPr/>
            </p:nvGrpSpPr>
            <p:grpSpPr>
              <a:xfrm>
                <a:off x="0" y="1996"/>
                <a:ext cx="390" cy="499"/>
                <a:chOff x="0" y="1996"/>
                <a:chExt cx="390" cy="499"/>
              </a:xfrm>
            </p:grpSpPr>
            <p:sp>
              <p:nvSpPr>
                <p:cNvPr id="49198" name="Rectangle 160"/>
                <p:cNvSpPr/>
                <p:nvPr/>
              </p:nvSpPr>
              <p:spPr>
                <a:xfrm>
                  <a:off x="43" y="1996"/>
                  <a:ext cx="30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199" name="Rectangle 161"/>
                <p:cNvSpPr/>
                <p:nvPr/>
              </p:nvSpPr>
              <p:spPr>
                <a:xfrm>
                  <a:off x="0" y="1996"/>
                  <a:ext cx="39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6" name="Group 162"/>
              <p:cNvGrpSpPr/>
              <p:nvPr/>
            </p:nvGrpSpPr>
            <p:grpSpPr>
              <a:xfrm>
                <a:off x="390" y="1996"/>
                <a:ext cx="523" cy="499"/>
                <a:chOff x="390" y="1996"/>
                <a:chExt cx="523" cy="499"/>
              </a:xfrm>
            </p:grpSpPr>
            <p:sp>
              <p:nvSpPr>
                <p:cNvPr id="49196" name="Rectangle 163"/>
                <p:cNvSpPr/>
                <p:nvPr/>
              </p:nvSpPr>
              <p:spPr>
                <a:xfrm>
                  <a:off x="433" y="1996"/>
                  <a:ext cx="437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197" name="Rectangle 164"/>
                <p:cNvSpPr/>
                <p:nvPr/>
              </p:nvSpPr>
              <p:spPr>
                <a:xfrm>
                  <a:off x="390" y="1996"/>
                  <a:ext cx="523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7" name="Group 165"/>
              <p:cNvGrpSpPr/>
              <p:nvPr/>
            </p:nvGrpSpPr>
            <p:grpSpPr>
              <a:xfrm>
                <a:off x="913" y="1996"/>
                <a:ext cx="362" cy="499"/>
                <a:chOff x="913" y="1996"/>
                <a:chExt cx="362" cy="499"/>
              </a:xfrm>
            </p:grpSpPr>
            <p:sp>
              <p:nvSpPr>
                <p:cNvPr id="49194" name="Rectangle 166"/>
                <p:cNvSpPr/>
                <p:nvPr/>
              </p:nvSpPr>
              <p:spPr>
                <a:xfrm>
                  <a:off x="956" y="1996"/>
                  <a:ext cx="276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8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195" name="Rectangle 167"/>
                <p:cNvSpPr/>
                <p:nvPr/>
              </p:nvSpPr>
              <p:spPr>
                <a:xfrm>
                  <a:off x="913" y="1996"/>
                  <a:ext cx="362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8" name="Group 168"/>
              <p:cNvGrpSpPr/>
              <p:nvPr/>
            </p:nvGrpSpPr>
            <p:grpSpPr>
              <a:xfrm>
                <a:off x="1275" y="1996"/>
                <a:ext cx="504" cy="499"/>
                <a:chOff x="1275" y="1996"/>
                <a:chExt cx="504" cy="499"/>
              </a:xfrm>
            </p:grpSpPr>
            <p:sp>
              <p:nvSpPr>
                <p:cNvPr id="49192" name="Rectangle 169"/>
                <p:cNvSpPr/>
                <p:nvPr/>
              </p:nvSpPr>
              <p:spPr>
                <a:xfrm>
                  <a:off x="1318" y="1996"/>
                  <a:ext cx="41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193" name="Rectangle 170"/>
                <p:cNvSpPr/>
                <p:nvPr/>
              </p:nvSpPr>
              <p:spPr>
                <a:xfrm>
                  <a:off x="1275" y="1996"/>
                  <a:ext cx="50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9189" name="Group 171"/>
              <p:cNvGrpSpPr/>
              <p:nvPr/>
            </p:nvGrpSpPr>
            <p:grpSpPr>
              <a:xfrm>
                <a:off x="1779" y="1996"/>
                <a:ext cx="420" cy="499"/>
                <a:chOff x="1779" y="1996"/>
                <a:chExt cx="420" cy="499"/>
              </a:xfrm>
            </p:grpSpPr>
            <p:sp>
              <p:nvSpPr>
                <p:cNvPr id="49190" name="Rectangle 172"/>
                <p:cNvSpPr/>
                <p:nvPr/>
              </p:nvSpPr>
              <p:spPr>
                <a:xfrm>
                  <a:off x="1822" y="1996"/>
                  <a:ext cx="33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9191" name="Rectangle 173"/>
                <p:cNvSpPr/>
                <p:nvPr/>
              </p:nvSpPr>
              <p:spPr>
                <a:xfrm>
                  <a:off x="1779" y="1996"/>
                  <a:ext cx="42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9164" name="Rectangle 174"/>
            <p:cNvSpPr/>
            <p:nvPr/>
          </p:nvSpPr>
          <p:spPr>
            <a:xfrm>
              <a:off x="-3" y="-3"/>
              <a:ext cx="2205" cy="2501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0181" name="Text Box 4"/>
          <p:cNvSpPr txBox="1"/>
          <p:nvPr/>
        </p:nvSpPr>
        <p:spPr>
          <a:xfrm>
            <a:off x="3962400" y="10668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0182" name="Text Box 5"/>
          <p:cNvSpPr txBox="1"/>
          <p:nvPr/>
        </p:nvSpPr>
        <p:spPr>
          <a:xfrm>
            <a:off x="838200" y="20574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50183" name="Group 6"/>
          <p:cNvGrpSpPr/>
          <p:nvPr/>
        </p:nvGrpSpPr>
        <p:grpSpPr>
          <a:xfrm>
            <a:off x="4876800" y="838200"/>
            <a:ext cx="3429000" cy="2286000"/>
            <a:chOff x="-3" y="-3"/>
            <a:chExt cx="1171" cy="2832"/>
          </a:xfrm>
        </p:grpSpPr>
        <p:grpSp>
          <p:nvGrpSpPr>
            <p:cNvPr id="50268" name="Group 7"/>
            <p:cNvGrpSpPr/>
            <p:nvPr/>
          </p:nvGrpSpPr>
          <p:grpSpPr>
            <a:xfrm>
              <a:off x="0" y="0"/>
              <a:ext cx="1165" cy="2826"/>
              <a:chOff x="0" y="0"/>
              <a:chExt cx="1165" cy="2826"/>
            </a:xfrm>
          </p:grpSpPr>
          <p:grpSp>
            <p:nvGrpSpPr>
              <p:cNvPr id="50270" name="Group 8"/>
              <p:cNvGrpSpPr/>
              <p:nvPr/>
            </p:nvGrpSpPr>
            <p:grpSpPr>
              <a:xfrm>
                <a:off x="0" y="0"/>
                <a:ext cx="417" cy="442"/>
                <a:chOff x="0" y="0"/>
                <a:chExt cx="417" cy="442"/>
              </a:xfrm>
            </p:grpSpPr>
            <p:sp>
              <p:nvSpPr>
                <p:cNvPr id="50313" name="Rectangle 9"/>
                <p:cNvSpPr/>
                <p:nvPr/>
              </p:nvSpPr>
              <p:spPr>
                <a:xfrm>
                  <a:off x="43" y="0"/>
                  <a:ext cx="331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14" name="Rectangle 10"/>
                <p:cNvSpPr/>
                <p:nvPr/>
              </p:nvSpPr>
              <p:spPr>
                <a:xfrm>
                  <a:off x="0" y="0"/>
                  <a:ext cx="417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1" name="Group 11"/>
              <p:cNvGrpSpPr/>
              <p:nvPr/>
            </p:nvGrpSpPr>
            <p:grpSpPr>
              <a:xfrm>
                <a:off x="417" y="0"/>
                <a:ext cx="302" cy="442"/>
                <a:chOff x="417" y="0"/>
                <a:chExt cx="302" cy="442"/>
              </a:xfrm>
            </p:grpSpPr>
            <p:sp>
              <p:nvSpPr>
                <p:cNvPr id="50311" name="Rectangle 12"/>
                <p:cNvSpPr/>
                <p:nvPr/>
              </p:nvSpPr>
              <p:spPr>
                <a:xfrm>
                  <a:off x="460" y="0"/>
                  <a:ext cx="216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rgbClr val="FF0000"/>
                      </a:solidFill>
                      <a:latin typeface="Arial" panose="020B0604020202020204" pitchFamily="34" charset="0"/>
                    </a:rPr>
                    <a:t>B</a:t>
                  </a:r>
                  <a:endParaRPr lang="en-US" altLang="zh-CN" sz="2400" b="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12" name="Rectangle 13"/>
                <p:cNvSpPr/>
                <p:nvPr/>
              </p:nvSpPr>
              <p:spPr>
                <a:xfrm>
                  <a:off x="417" y="0"/>
                  <a:ext cx="302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2" name="Group 14"/>
              <p:cNvGrpSpPr/>
              <p:nvPr/>
            </p:nvGrpSpPr>
            <p:grpSpPr>
              <a:xfrm>
                <a:off x="719" y="0"/>
                <a:ext cx="446" cy="442"/>
                <a:chOff x="719" y="0"/>
                <a:chExt cx="446" cy="442"/>
              </a:xfrm>
            </p:grpSpPr>
            <p:sp>
              <p:nvSpPr>
                <p:cNvPr id="50309" name="Rectangle 15"/>
                <p:cNvSpPr/>
                <p:nvPr/>
              </p:nvSpPr>
              <p:spPr>
                <a:xfrm>
                  <a:off x="762" y="0"/>
                  <a:ext cx="360" cy="4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C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10" name="Rectangle 16"/>
                <p:cNvSpPr/>
                <p:nvPr/>
              </p:nvSpPr>
              <p:spPr>
                <a:xfrm>
                  <a:off x="719" y="0"/>
                  <a:ext cx="446" cy="44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3" name="Group 17"/>
              <p:cNvGrpSpPr/>
              <p:nvPr/>
            </p:nvGrpSpPr>
            <p:grpSpPr>
              <a:xfrm>
                <a:off x="0" y="442"/>
                <a:ext cx="417" cy="596"/>
                <a:chOff x="0" y="442"/>
                <a:chExt cx="417" cy="596"/>
              </a:xfrm>
            </p:grpSpPr>
            <p:sp>
              <p:nvSpPr>
                <p:cNvPr id="50307" name="Rectangle 18"/>
                <p:cNvSpPr/>
                <p:nvPr/>
              </p:nvSpPr>
              <p:spPr>
                <a:xfrm>
                  <a:off x="43" y="442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08" name="Rectangle 19"/>
                <p:cNvSpPr/>
                <p:nvPr/>
              </p:nvSpPr>
              <p:spPr>
                <a:xfrm>
                  <a:off x="0" y="442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4" name="Group 20"/>
              <p:cNvGrpSpPr/>
              <p:nvPr/>
            </p:nvGrpSpPr>
            <p:grpSpPr>
              <a:xfrm>
                <a:off x="417" y="442"/>
                <a:ext cx="302" cy="596"/>
                <a:chOff x="417" y="442"/>
                <a:chExt cx="302" cy="596"/>
              </a:xfrm>
            </p:grpSpPr>
            <p:sp>
              <p:nvSpPr>
                <p:cNvPr id="50305" name="Rectangle 21"/>
                <p:cNvSpPr/>
                <p:nvPr/>
              </p:nvSpPr>
              <p:spPr>
                <a:xfrm>
                  <a:off x="460" y="442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06" name="Rectangle 22"/>
                <p:cNvSpPr/>
                <p:nvPr/>
              </p:nvSpPr>
              <p:spPr>
                <a:xfrm>
                  <a:off x="417" y="442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5" name="Group 23"/>
              <p:cNvGrpSpPr/>
              <p:nvPr/>
            </p:nvGrpSpPr>
            <p:grpSpPr>
              <a:xfrm>
                <a:off x="719" y="442"/>
                <a:ext cx="446" cy="596"/>
                <a:chOff x="719" y="442"/>
                <a:chExt cx="446" cy="596"/>
              </a:xfrm>
            </p:grpSpPr>
            <p:sp>
              <p:nvSpPr>
                <p:cNvPr id="50303" name="Rectangle 24"/>
                <p:cNvSpPr/>
                <p:nvPr/>
              </p:nvSpPr>
              <p:spPr>
                <a:xfrm>
                  <a:off x="762" y="442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04" name="Rectangle 25"/>
                <p:cNvSpPr/>
                <p:nvPr/>
              </p:nvSpPr>
              <p:spPr>
                <a:xfrm>
                  <a:off x="719" y="442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6" name="Group 26"/>
              <p:cNvGrpSpPr/>
              <p:nvPr/>
            </p:nvGrpSpPr>
            <p:grpSpPr>
              <a:xfrm>
                <a:off x="0" y="1038"/>
                <a:ext cx="417" cy="596"/>
                <a:chOff x="0" y="1038"/>
                <a:chExt cx="417" cy="596"/>
              </a:xfrm>
            </p:grpSpPr>
            <p:sp>
              <p:nvSpPr>
                <p:cNvPr id="50301" name="Rectangle 27"/>
                <p:cNvSpPr/>
                <p:nvPr/>
              </p:nvSpPr>
              <p:spPr>
                <a:xfrm>
                  <a:off x="43" y="1038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02" name="Rectangle 28"/>
                <p:cNvSpPr/>
                <p:nvPr/>
              </p:nvSpPr>
              <p:spPr>
                <a:xfrm>
                  <a:off x="0" y="1038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7" name="Group 29"/>
              <p:cNvGrpSpPr/>
              <p:nvPr/>
            </p:nvGrpSpPr>
            <p:grpSpPr>
              <a:xfrm>
                <a:off x="417" y="1038"/>
                <a:ext cx="302" cy="596"/>
                <a:chOff x="417" y="1038"/>
                <a:chExt cx="302" cy="596"/>
              </a:xfrm>
            </p:grpSpPr>
            <p:sp>
              <p:nvSpPr>
                <p:cNvPr id="50299" name="Rectangle 30"/>
                <p:cNvSpPr/>
                <p:nvPr/>
              </p:nvSpPr>
              <p:spPr>
                <a:xfrm>
                  <a:off x="460" y="1038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300" name="Rectangle 31"/>
                <p:cNvSpPr/>
                <p:nvPr/>
              </p:nvSpPr>
              <p:spPr>
                <a:xfrm>
                  <a:off x="417" y="1038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8" name="Group 32"/>
              <p:cNvGrpSpPr/>
              <p:nvPr/>
            </p:nvGrpSpPr>
            <p:grpSpPr>
              <a:xfrm>
                <a:off x="719" y="1038"/>
                <a:ext cx="446" cy="596"/>
                <a:chOff x="719" y="1038"/>
                <a:chExt cx="446" cy="596"/>
              </a:xfrm>
            </p:grpSpPr>
            <p:sp>
              <p:nvSpPr>
                <p:cNvPr id="50297" name="Rectangle 33"/>
                <p:cNvSpPr/>
                <p:nvPr/>
              </p:nvSpPr>
              <p:spPr>
                <a:xfrm>
                  <a:off x="762" y="1038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6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98" name="Rectangle 34"/>
                <p:cNvSpPr/>
                <p:nvPr/>
              </p:nvSpPr>
              <p:spPr>
                <a:xfrm>
                  <a:off x="719" y="1038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79" name="Group 35"/>
              <p:cNvGrpSpPr/>
              <p:nvPr/>
            </p:nvGrpSpPr>
            <p:grpSpPr>
              <a:xfrm>
                <a:off x="0" y="1634"/>
                <a:ext cx="417" cy="596"/>
                <a:chOff x="0" y="1634"/>
                <a:chExt cx="417" cy="596"/>
              </a:xfrm>
            </p:grpSpPr>
            <p:sp>
              <p:nvSpPr>
                <p:cNvPr id="50295" name="Rectangle 36"/>
                <p:cNvSpPr/>
                <p:nvPr/>
              </p:nvSpPr>
              <p:spPr>
                <a:xfrm>
                  <a:off x="43" y="1634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96" name="Rectangle 37"/>
                <p:cNvSpPr/>
                <p:nvPr/>
              </p:nvSpPr>
              <p:spPr>
                <a:xfrm>
                  <a:off x="0" y="1634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80" name="Group 38"/>
              <p:cNvGrpSpPr/>
              <p:nvPr/>
            </p:nvGrpSpPr>
            <p:grpSpPr>
              <a:xfrm>
                <a:off x="417" y="1634"/>
                <a:ext cx="302" cy="596"/>
                <a:chOff x="417" y="1634"/>
                <a:chExt cx="302" cy="596"/>
              </a:xfrm>
            </p:grpSpPr>
            <p:sp>
              <p:nvSpPr>
                <p:cNvPr id="50293" name="Rectangle 39"/>
                <p:cNvSpPr/>
                <p:nvPr/>
              </p:nvSpPr>
              <p:spPr>
                <a:xfrm>
                  <a:off x="460" y="1634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94" name="Rectangle 40"/>
                <p:cNvSpPr/>
                <p:nvPr/>
              </p:nvSpPr>
              <p:spPr>
                <a:xfrm>
                  <a:off x="417" y="1634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81" name="Group 41"/>
              <p:cNvGrpSpPr/>
              <p:nvPr/>
            </p:nvGrpSpPr>
            <p:grpSpPr>
              <a:xfrm>
                <a:off x="719" y="1634"/>
                <a:ext cx="446" cy="596"/>
                <a:chOff x="719" y="1634"/>
                <a:chExt cx="446" cy="596"/>
              </a:xfrm>
            </p:grpSpPr>
            <p:sp>
              <p:nvSpPr>
                <p:cNvPr id="50291" name="Rectangle 42"/>
                <p:cNvSpPr/>
                <p:nvPr/>
              </p:nvSpPr>
              <p:spPr>
                <a:xfrm>
                  <a:off x="762" y="1634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8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92" name="Rectangle 43"/>
                <p:cNvSpPr/>
                <p:nvPr/>
              </p:nvSpPr>
              <p:spPr>
                <a:xfrm>
                  <a:off x="719" y="1634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82" name="Group 44"/>
              <p:cNvGrpSpPr/>
              <p:nvPr/>
            </p:nvGrpSpPr>
            <p:grpSpPr>
              <a:xfrm>
                <a:off x="0" y="2230"/>
                <a:ext cx="417" cy="596"/>
                <a:chOff x="0" y="2230"/>
                <a:chExt cx="417" cy="596"/>
              </a:xfrm>
            </p:grpSpPr>
            <p:sp>
              <p:nvSpPr>
                <p:cNvPr id="50289" name="Rectangle 45"/>
                <p:cNvSpPr/>
                <p:nvPr/>
              </p:nvSpPr>
              <p:spPr>
                <a:xfrm>
                  <a:off x="43" y="2230"/>
                  <a:ext cx="331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a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90" name="Rectangle 46"/>
                <p:cNvSpPr/>
                <p:nvPr/>
              </p:nvSpPr>
              <p:spPr>
                <a:xfrm>
                  <a:off x="0" y="2230"/>
                  <a:ext cx="417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83" name="Group 47"/>
              <p:cNvGrpSpPr/>
              <p:nvPr/>
            </p:nvGrpSpPr>
            <p:grpSpPr>
              <a:xfrm>
                <a:off x="417" y="2230"/>
                <a:ext cx="302" cy="596"/>
                <a:chOff x="417" y="2230"/>
                <a:chExt cx="302" cy="596"/>
              </a:xfrm>
            </p:grpSpPr>
            <p:sp>
              <p:nvSpPr>
                <p:cNvPr id="50287" name="Rectangle 48"/>
                <p:cNvSpPr/>
                <p:nvPr/>
              </p:nvSpPr>
              <p:spPr>
                <a:xfrm>
                  <a:off x="460" y="2230"/>
                  <a:ext cx="216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4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88" name="Rectangle 49"/>
                <p:cNvSpPr/>
                <p:nvPr/>
              </p:nvSpPr>
              <p:spPr>
                <a:xfrm>
                  <a:off x="417" y="2230"/>
                  <a:ext cx="302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84" name="Group 50"/>
              <p:cNvGrpSpPr/>
              <p:nvPr/>
            </p:nvGrpSpPr>
            <p:grpSpPr>
              <a:xfrm>
                <a:off x="719" y="2230"/>
                <a:ext cx="446" cy="596"/>
                <a:chOff x="719" y="2230"/>
                <a:chExt cx="446" cy="596"/>
              </a:xfrm>
            </p:grpSpPr>
            <p:sp>
              <p:nvSpPr>
                <p:cNvPr id="50285" name="Rectangle 51"/>
                <p:cNvSpPr/>
                <p:nvPr/>
              </p:nvSpPr>
              <p:spPr>
                <a:xfrm>
                  <a:off x="762" y="2230"/>
                  <a:ext cx="360" cy="59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86" name="Rectangle 52"/>
                <p:cNvSpPr/>
                <p:nvPr/>
              </p:nvSpPr>
              <p:spPr>
                <a:xfrm>
                  <a:off x="719" y="2230"/>
                  <a:ext cx="446" cy="596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0269" name="Rectangle 53"/>
            <p:cNvSpPr/>
            <p:nvPr/>
          </p:nvSpPr>
          <p:spPr>
            <a:xfrm>
              <a:off x="-3" y="-3"/>
              <a:ext cx="1171" cy="283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184" name="Group 54"/>
          <p:cNvGrpSpPr/>
          <p:nvPr/>
        </p:nvGrpSpPr>
        <p:grpSpPr>
          <a:xfrm>
            <a:off x="228600" y="2895600"/>
            <a:ext cx="1752600" cy="3429000"/>
            <a:chOff x="-3" y="-3"/>
            <a:chExt cx="740" cy="3211"/>
          </a:xfrm>
        </p:grpSpPr>
        <p:grpSp>
          <p:nvGrpSpPr>
            <p:cNvPr id="50230" name="Group 55"/>
            <p:cNvGrpSpPr/>
            <p:nvPr/>
          </p:nvGrpSpPr>
          <p:grpSpPr>
            <a:xfrm>
              <a:off x="0" y="0"/>
              <a:ext cx="734" cy="3205"/>
              <a:chOff x="0" y="0"/>
              <a:chExt cx="734" cy="3205"/>
            </a:xfrm>
          </p:grpSpPr>
          <p:grpSp>
            <p:nvGrpSpPr>
              <p:cNvPr id="50232" name="Group 56"/>
              <p:cNvGrpSpPr/>
              <p:nvPr/>
            </p:nvGrpSpPr>
            <p:grpSpPr>
              <a:xfrm>
                <a:off x="0" y="0"/>
                <a:ext cx="360" cy="499"/>
                <a:chOff x="0" y="0"/>
                <a:chExt cx="360" cy="499"/>
              </a:xfrm>
            </p:grpSpPr>
            <p:sp>
              <p:nvSpPr>
                <p:cNvPr id="50266" name="Rectangle 57"/>
                <p:cNvSpPr/>
                <p:nvPr/>
              </p:nvSpPr>
              <p:spPr>
                <a:xfrm>
                  <a:off x="43" y="0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B</a:t>
                  </a:r>
                  <a:endParaRPr lang="en-US" altLang="zh-CN" sz="2400" i="1" dirty="0">
                    <a:solidFill>
                      <a:srgbClr val="FF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67" name="Rectangle 58"/>
                <p:cNvSpPr/>
                <p:nvPr/>
              </p:nvSpPr>
              <p:spPr>
                <a:xfrm>
                  <a:off x="0" y="0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33" name="Group 59"/>
              <p:cNvGrpSpPr/>
              <p:nvPr/>
            </p:nvGrpSpPr>
            <p:grpSpPr>
              <a:xfrm>
                <a:off x="360" y="0"/>
                <a:ext cx="374" cy="499"/>
                <a:chOff x="360" y="0"/>
                <a:chExt cx="374" cy="499"/>
              </a:xfrm>
            </p:grpSpPr>
            <p:sp>
              <p:nvSpPr>
                <p:cNvPr id="50264" name="Rectangle 60"/>
                <p:cNvSpPr/>
                <p:nvPr/>
              </p:nvSpPr>
              <p:spPr>
                <a:xfrm>
                  <a:off x="403" y="0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E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65" name="Rectangle 61"/>
                <p:cNvSpPr/>
                <p:nvPr/>
              </p:nvSpPr>
              <p:spPr>
                <a:xfrm>
                  <a:off x="360" y="0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34" name="Group 62"/>
              <p:cNvGrpSpPr/>
              <p:nvPr/>
            </p:nvGrpSpPr>
            <p:grpSpPr>
              <a:xfrm>
                <a:off x="0" y="499"/>
                <a:ext cx="360" cy="499"/>
                <a:chOff x="0" y="499"/>
                <a:chExt cx="360" cy="499"/>
              </a:xfrm>
            </p:grpSpPr>
            <p:sp>
              <p:nvSpPr>
                <p:cNvPr id="50262" name="Rectangle 63"/>
                <p:cNvSpPr/>
                <p:nvPr/>
              </p:nvSpPr>
              <p:spPr>
                <a:xfrm>
                  <a:off x="43" y="499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63" name="Rectangle 64"/>
                <p:cNvSpPr/>
                <p:nvPr/>
              </p:nvSpPr>
              <p:spPr>
                <a:xfrm>
                  <a:off x="0" y="499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35" name="Group 65"/>
              <p:cNvGrpSpPr/>
              <p:nvPr/>
            </p:nvGrpSpPr>
            <p:grpSpPr>
              <a:xfrm>
                <a:off x="360" y="499"/>
                <a:ext cx="374" cy="499"/>
                <a:chOff x="360" y="499"/>
                <a:chExt cx="374" cy="499"/>
              </a:xfrm>
            </p:grpSpPr>
            <p:sp>
              <p:nvSpPr>
                <p:cNvPr id="50260" name="Rectangle 66"/>
                <p:cNvSpPr/>
                <p:nvPr/>
              </p:nvSpPr>
              <p:spPr>
                <a:xfrm>
                  <a:off x="403" y="499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61" name="Rectangle 67"/>
                <p:cNvSpPr/>
                <p:nvPr/>
              </p:nvSpPr>
              <p:spPr>
                <a:xfrm>
                  <a:off x="360" y="499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36" name="Group 68"/>
              <p:cNvGrpSpPr/>
              <p:nvPr/>
            </p:nvGrpSpPr>
            <p:grpSpPr>
              <a:xfrm>
                <a:off x="0" y="998"/>
                <a:ext cx="360" cy="499"/>
                <a:chOff x="0" y="998"/>
                <a:chExt cx="360" cy="499"/>
              </a:xfrm>
            </p:grpSpPr>
            <p:sp>
              <p:nvSpPr>
                <p:cNvPr id="50258" name="Rectangle 69"/>
                <p:cNvSpPr/>
                <p:nvPr/>
              </p:nvSpPr>
              <p:spPr>
                <a:xfrm>
                  <a:off x="43" y="998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59" name="Rectangle 70"/>
                <p:cNvSpPr/>
                <p:nvPr/>
              </p:nvSpPr>
              <p:spPr>
                <a:xfrm>
                  <a:off x="0" y="998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37" name="Group 71"/>
              <p:cNvGrpSpPr/>
              <p:nvPr/>
            </p:nvGrpSpPr>
            <p:grpSpPr>
              <a:xfrm>
                <a:off x="360" y="998"/>
                <a:ext cx="374" cy="499"/>
                <a:chOff x="360" y="998"/>
                <a:chExt cx="374" cy="499"/>
              </a:xfrm>
            </p:grpSpPr>
            <p:sp>
              <p:nvSpPr>
                <p:cNvPr id="50256" name="Rectangle 72"/>
                <p:cNvSpPr/>
                <p:nvPr/>
              </p:nvSpPr>
              <p:spPr>
                <a:xfrm>
                  <a:off x="403" y="998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7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57" name="Rectangle 73"/>
                <p:cNvSpPr/>
                <p:nvPr/>
              </p:nvSpPr>
              <p:spPr>
                <a:xfrm>
                  <a:off x="360" y="998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38" name="Group 74"/>
              <p:cNvGrpSpPr/>
              <p:nvPr/>
            </p:nvGrpSpPr>
            <p:grpSpPr>
              <a:xfrm>
                <a:off x="0" y="1497"/>
                <a:ext cx="360" cy="710"/>
                <a:chOff x="0" y="1497"/>
                <a:chExt cx="360" cy="710"/>
              </a:xfrm>
            </p:grpSpPr>
            <p:sp>
              <p:nvSpPr>
                <p:cNvPr id="50254" name="Rectangle 75"/>
                <p:cNvSpPr/>
                <p:nvPr/>
              </p:nvSpPr>
              <p:spPr>
                <a:xfrm>
                  <a:off x="43" y="1497"/>
                  <a:ext cx="274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55" name="Rectangle 76"/>
                <p:cNvSpPr/>
                <p:nvPr/>
              </p:nvSpPr>
              <p:spPr>
                <a:xfrm>
                  <a:off x="0" y="1497"/>
                  <a:ext cx="360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39" name="Group 77"/>
              <p:cNvGrpSpPr/>
              <p:nvPr/>
            </p:nvGrpSpPr>
            <p:grpSpPr>
              <a:xfrm>
                <a:off x="360" y="1497"/>
                <a:ext cx="374" cy="710"/>
                <a:chOff x="360" y="1497"/>
                <a:chExt cx="374" cy="710"/>
              </a:xfrm>
            </p:grpSpPr>
            <p:sp>
              <p:nvSpPr>
                <p:cNvPr id="50252" name="Rectangle 78"/>
                <p:cNvSpPr/>
                <p:nvPr/>
              </p:nvSpPr>
              <p:spPr>
                <a:xfrm>
                  <a:off x="403" y="1497"/>
                  <a:ext cx="288" cy="7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10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53" name="Rectangle 79"/>
                <p:cNvSpPr/>
                <p:nvPr/>
              </p:nvSpPr>
              <p:spPr>
                <a:xfrm>
                  <a:off x="360" y="1497"/>
                  <a:ext cx="374" cy="710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40" name="Group 80"/>
              <p:cNvGrpSpPr/>
              <p:nvPr/>
            </p:nvGrpSpPr>
            <p:grpSpPr>
              <a:xfrm>
                <a:off x="0" y="2207"/>
                <a:ext cx="360" cy="499"/>
                <a:chOff x="0" y="2207"/>
                <a:chExt cx="360" cy="499"/>
              </a:xfrm>
            </p:grpSpPr>
            <p:sp>
              <p:nvSpPr>
                <p:cNvPr id="50250" name="Rectangle 81"/>
                <p:cNvSpPr/>
                <p:nvPr/>
              </p:nvSpPr>
              <p:spPr>
                <a:xfrm>
                  <a:off x="43" y="2207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51" name="Rectangle 82"/>
                <p:cNvSpPr/>
                <p:nvPr/>
              </p:nvSpPr>
              <p:spPr>
                <a:xfrm>
                  <a:off x="0" y="2207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41" name="Group 83"/>
              <p:cNvGrpSpPr/>
              <p:nvPr/>
            </p:nvGrpSpPr>
            <p:grpSpPr>
              <a:xfrm>
                <a:off x="360" y="2207"/>
                <a:ext cx="374" cy="499"/>
                <a:chOff x="360" y="2207"/>
                <a:chExt cx="374" cy="499"/>
              </a:xfrm>
            </p:grpSpPr>
            <p:sp>
              <p:nvSpPr>
                <p:cNvPr id="50248" name="Rectangle 84"/>
                <p:cNvSpPr/>
                <p:nvPr/>
              </p:nvSpPr>
              <p:spPr>
                <a:xfrm>
                  <a:off x="403" y="2207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49" name="Rectangle 85"/>
                <p:cNvSpPr/>
                <p:nvPr/>
              </p:nvSpPr>
              <p:spPr>
                <a:xfrm>
                  <a:off x="360" y="2207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42" name="Group 86"/>
              <p:cNvGrpSpPr/>
              <p:nvPr/>
            </p:nvGrpSpPr>
            <p:grpSpPr>
              <a:xfrm>
                <a:off x="0" y="2706"/>
                <a:ext cx="360" cy="499"/>
                <a:chOff x="0" y="2706"/>
                <a:chExt cx="360" cy="499"/>
              </a:xfrm>
            </p:grpSpPr>
            <p:sp>
              <p:nvSpPr>
                <p:cNvPr id="50246" name="Rectangle 87"/>
                <p:cNvSpPr/>
                <p:nvPr/>
              </p:nvSpPr>
              <p:spPr>
                <a:xfrm>
                  <a:off x="43" y="2706"/>
                  <a:ext cx="274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i="1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b</a:t>
                  </a:r>
                  <a:r>
                    <a:rPr lang="en-US" altLang="zh-CN" sz="2400" baseline="-300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47" name="Rectangle 88"/>
                <p:cNvSpPr/>
                <p:nvPr/>
              </p:nvSpPr>
              <p:spPr>
                <a:xfrm>
                  <a:off x="0" y="2706"/>
                  <a:ext cx="360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243" name="Group 89"/>
              <p:cNvGrpSpPr/>
              <p:nvPr/>
            </p:nvGrpSpPr>
            <p:grpSpPr>
              <a:xfrm>
                <a:off x="360" y="2706"/>
                <a:ext cx="374" cy="499"/>
                <a:chOff x="360" y="2706"/>
                <a:chExt cx="374" cy="499"/>
              </a:xfrm>
            </p:grpSpPr>
            <p:sp>
              <p:nvSpPr>
                <p:cNvPr id="50244" name="Rectangle 90"/>
                <p:cNvSpPr/>
                <p:nvPr/>
              </p:nvSpPr>
              <p:spPr>
                <a:xfrm>
                  <a:off x="403" y="2706"/>
                  <a:ext cx="288" cy="49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0000" tIns="46800" rIns="90000" bIns="4680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400" dirty="0">
                      <a:solidFill>
                        <a:schemeClr val="tx1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  <a:p>
                  <a:pPr marL="0" lvl="0" indent="0" algn="ctr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2400" b="0" dirty="0">
                    <a:solidFill>
                      <a:schemeClr val="tx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245" name="Rectangle 91"/>
                <p:cNvSpPr/>
                <p:nvPr/>
              </p:nvSpPr>
              <p:spPr>
                <a:xfrm>
                  <a:off x="360" y="2706"/>
                  <a:ext cx="374" cy="499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3300"/>
                    </a:buClr>
                    <a:buFont typeface="Wingdings" panose="05000000000000000000" pitchFamily="2" charset="2"/>
                    <a:buChar char="§"/>
                    <a:defRPr kumimoji="1" sz="3200">
                      <a:solidFill>
                        <a:srgbClr val="FF3300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kumimoji="1"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 b="1">
                      <a:solidFill>
                        <a:schemeClr val="tx1"/>
                      </a:solidFill>
                      <a:latin typeface="+mn-lt"/>
                      <a:ea typeface="楷体_GB2312" pitchFamily="49" charset="-122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Char char="•"/>
                    <a:defRPr kumimoji="1" sz="20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§"/>
                    <a:defRPr kumimoji="1" sz="2000" b="1">
                      <a:solidFill>
                        <a:schemeClr val="tx1"/>
                      </a:solidFill>
                      <a:latin typeface="+mn-lt"/>
                      <a:ea typeface="仿宋_GB2312" pitchFamily="49" charset="-122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en-US" altLang="zh-CN" sz="14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0231" name="Rectangle 92"/>
            <p:cNvSpPr/>
            <p:nvPr/>
          </p:nvSpPr>
          <p:spPr>
            <a:xfrm>
              <a:off x="-3" y="-3"/>
              <a:ext cx="740" cy="3211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185" name="Group 93"/>
          <p:cNvGrpSpPr/>
          <p:nvPr/>
        </p:nvGrpSpPr>
        <p:grpSpPr>
          <a:xfrm>
            <a:off x="3124200" y="2895600"/>
            <a:ext cx="1295400" cy="654050"/>
            <a:chOff x="3984" y="1824"/>
            <a:chExt cx="816" cy="412"/>
          </a:xfrm>
        </p:grpSpPr>
        <p:sp>
          <p:nvSpPr>
            <p:cNvPr id="50227" name="Text Box 94"/>
            <p:cNvSpPr txBox="1"/>
            <p:nvPr/>
          </p:nvSpPr>
          <p:spPr>
            <a:xfrm>
              <a:off x="3984" y="1824"/>
              <a:ext cx="8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3600" b="0" baseline="-200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</a:rPr>
                <a:t>R    S 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228" name="AutoShape 95"/>
            <p:cNvSpPr/>
            <p:nvPr/>
          </p:nvSpPr>
          <p:spPr>
            <a:xfrm rot="5400000">
              <a:off x="4336" y="1896"/>
              <a:ext cx="144" cy="192"/>
            </a:xfrm>
            <a:prstGeom prst="flowChartCollat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50229" name="Text Box 96"/>
            <p:cNvSpPr txBox="1"/>
            <p:nvPr/>
          </p:nvSpPr>
          <p:spPr>
            <a:xfrm>
              <a:off x="4128" y="2024"/>
              <a:ext cx="57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endParaRPr lang="en-US" altLang="en-US" sz="2400" b="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endParaRPr>
            </a:p>
          </p:txBody>
        </p:sp>
      </p:grpSp>
      <p:sp>
        <p:nvSpPr>
          <p:cNvPr id="50186" name="Rectangle 97"/>
          <p:cNvSpPr/>
          <p:nvPr/>
        </p:nvSpPr>
        <p:spPr>
          <a:xfrm>
            <a:off x="3816350" y="3581400"/>
            <a:ext cx="768350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187" name="Rectangle 98"/>
          <p:cNvSpPr/>
          <p:nvPr/>
        </p:nvSpPr>
        <p:spPr>
          <a:xfrm>
            <a:off x="3708400" y="3581400"/>
            <a:ext cx="984250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188" name="Rectangle 99"/>
          <p:cNvSpPr/>
          <p:nvPr/>
        </p:nvSpPr>
        <p:spPr>
          <a:xfrm>
            <a:off x="4800600" y="3581400"/>
            <a:ext cx="1103313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189" name="Rectangle 100"/>
          <p:cNvSpPr/>
          <p:nvPr/>
        </p:nvSpPr>
        <p:spPr>
          <a:xfrm>
            <a:off x="4692650" y="3581400"/>
            <a:ext cx="1319213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190" name="Rectangle 101"/>
          <p:cNvSpPr/>
          <p:nvPr/>
        </p:nvSpPr>
        <p:spPr>
          <a:xfrm>
            <a:off x="6119813" y="3581400"/>
            <a:ext cx="696912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191" name="Rectangle 102"/>
          <p:cNvSpPr/>
          <p:nvPr/>
        </p:nvSpPr>
        <p:spPr>
          <a:xfrm>
            <a:off x="6011863" y="3581400"/>
            <a:ext cx="912812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192" name="Rectangle 103"/>
          <p:cNvSpPr/>
          <p:nvPr/>
        </p:nvSpPr>
        <p:spPr>
          <a:xfrm>
            <a:off x="6924675" y="3581400"/>
            <a:ext cx="1271588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193" name="Rectangle 104"/>
          <p:cNvSpPr/>
          <p:nvPr/>
        </p:nvSpPr>
        <p:spPr>
          <a:xfrm>
            <a:off x="7129463" y="3578225"/>
            <a:ext cx="842962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194" name="Rectangle 105"/>
          <p:cNvSpPr/>
          <p:nvPr/>
        </p:nvSpPr>
        <p:spPr>
          <a:xfrm>
            <a:off x="3816350" y="4114800"/>
            <a:ext cx="768350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195" name="Rectangle 106"/>
          <p:cNvSpPr/>
          <p:nvPr/>
        </p:nvSpPr>
        <p:spPr>
          <a:xfrm>
            <a:off x="3708400" y="4114800"/>
            <a:ext cx="984250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196" name="Rectangle 107"/>
          <p:cNvSpPr/>
          <p:nvPr/>
        </p:nvSpPr>
        <p:spPr>
          <a:xfrm>
            <a:off x="4800600" y="4114800"/>
            <a:ext cx="1103313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197" name="Rectangle 108"/>
          <p:cNvSpPr/>
          <p:nvPr/>
        </p:nvSpPr>
        <p:spPr>
          <a:xfrm>
            <a:off x="4692650" y="4114800"/>
            <a:ext cx="1319213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198" name="Rectangle 109"/>
          <p:cNvSpPr/>
          <p:nvPr/>
        </p:nvSpPr>
        <p:spPr>
          <a:xfrm>
            <a:off x="6119813" y="4114800"/>
            <a:ext cx="696912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199" name="Rectangle 110"/>
          <p:cNvSpPr/>
          <p:nvPr/>
        </p:nvSpPr>
        <p:spPr>
          <a:xfrm>
            <a:off x="6011863" y="4114800"/>
            <a:ext cx="912812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00" name="Rectangle 111"/>
          <p:cNvSpPr/>
          <p:nvPr/>
        </p:nvSpPr>
        <p:spPr>
          <a:xfrm>
            <a:off x="6924675" y="4114800"/>
            <a:ext cx="1271588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01" name="Rectangle 112"/>
          <p:cNvSpPr/>
          <p:nvPr/>
        </p:nvSpPr>
        <p:spPr>
          <a:xfrm>
            <a:off x="7129463" y="4111625"/>
            <a:ext cx="842962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02" name="Rectangle 113"/>
          <p:cNvSpPr/>
          <p:nvPr/>
        </p:nvSpPr>
        <p:spPr>
          <a:xfrm>
            <a:off x="3816350" y="4648200"/>
            <a:ext cx="768350" cy="534988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03" name="Rectangle 114"/>
          <p:cNvSpPr/>
          <p:nvPr/>
        </p:nvSpPr>
        <p:spPr>
          <a:xfrm>
            <a:off x="3708400" y="4648200"/>
            <a:ext cx="984250" cy="534988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04" name="Rectangle 115"/>
          <p:cNvSpPr/>
          <p:nvPr/>
        </p:nvSpPr>
        <p:spPr>
          <a:xfrm>
            <a:off x="4800600" y="4648200"/>
            <a:ext cx="1103313" cy="534988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05" name="Rectangle 116"/>
          <p:cNvSpPr/>
          <p:nvPr/>
        </p:nvSpPr>
        <p:spPr>
          <a:xfrm>
            <a:off x="4692650" y="4648200"/>
            <a:ext cx="1319213" cy="534988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06" name="Rectangle 117"/>
          <p:cNvSpPr/>
          <p:nvPr/>
        </p:nvSpPr>
        <p:spPr>
          <a:xfrm>
            <a:off x="6119813" y="4648200"/>
            <a:ext cx="696912" cy="534988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6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07" name="Rectangle 118"/>
          <p:cNvSpPr/>
          <p:nvPr/>
        </p:nvSpPr>
        <p:spPr>
          <a:xfrm>
            <a:off x="6011863" y="4648200"/>
            <a:ext cx="912812" cy="534988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08" name="Rectangle 119"/>
          <p:cNvSpPr/>
          <p:nvPr/>
        </p:nvSpPr>
        <p:spPr>
          <a:xfrm>
            <a:off x="6924675" y="4648200"/>
            <a:ext cx="1271588" cy="534988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09" name="Rectangle 120"/>
          <p:cNvSpPr/>
          <p:nvPr/>
        </p:nvSpPr>
        <p:spPr>
          <a:xfrm>
            <a:off x="7129463" y="4645025"/>
            <a:ext cx="842962" cy="534988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7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10" name="Rectangle 121"/>
          <p:cNvSpPr/>
          <p:nvPr/>
        </p:nvSpPr>
        <p:spPr>
          <a:xfrm>
            <a:off x="3816350" y="5183188"/>
            <a:ext cx="768350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11" name="Rectangle 122"/>
          <p:cNvSpPr/>
          <p:nvPr/>
        </p:nvSpPr>
        <p:spPr>
          <a:xfrm>
            <a:off x="3708400" y="5183188"/>
            <a:ext cx="984250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12" name="Rectangle 123"/>
          <p:cNvSpPr/>
          <p:nvPr/>
        </p:nvSpPr>
        <p:spPr>
          <a:xfrm>
            <a:off x="4800600" y="5183188"/>
            <a:ext cx="1103313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13" name="Rectangle 124"/>
          <p:cNvSpPr/>
          <p:nvPr/>
        </p:nvSpPr>
        <p:spPr>
          <a:xfrm>
            <a:off x="4692650" y="5183188"/>
            <a:ext cx="1319213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14" name="Rectangle 125"/>
          <p:cNvSpPr/>
          <p:nvPr/>
        </p:nvSpPr>
        <p:spPr>
          <a:xfrm>
            <a:off x="6119813" y="5183188"/>
            <a:ext cx="696912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15" name="Rectangle 126"/>
          <p:cNvSpPr/>
          <p:nvPr/>
        </p:nvSpPr>
        <p:spPr>
          <a:xfrm>
            <a:off x="6011863" y="5183188"/>
            <a:ext cx="912812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16" name="Rectangle 127"/>
          <p:cNvSpPr/>
          <p:nvPr/>
        </p:nvSpPr>
        <p:spPr>
          <a:xfrm>
            <a:off x="6924675" y="5183188"/>
            <a:ext cx="1271588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17" name="Rectangle 128"/>
          <p:cNvSpPr/>
          <p:nvPr/>
        </p:nvSpPr>
        <p:spPr>
          <a:xfrm>
            <a:off x="7129463" y="5178425"/>
            <a:ext cx="842962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10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18" name="Rectangle 129"/>
          <p:cNvSpPr/>
          <p:nvPr/>
        </p:nvSpPr>
        <p:spPr>
          <a:xfrm>
            <a:off x="3816350" y="5716588"/>
            <a:ext cx="768350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4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19" name="Rectangle 130"/>
          <p:cNvSpPr/>
          <p:nvPr/>
        </p:nvSpPr>
        <p:spPr>
          <a:xfrm>
            <a:off x="3708400" y="5716588"/>
            <a:ext cx="984250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20" name="Rectangle 131"/>
          <p:cNvSpPr/>
          <p:nvPr/>
        </p:nvSpPr>
        <p:spPr>
          <a:xfrm>
            <a:off x="4800600" y="5716588"/>
            <a:ext cx="1103313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400" baseline="-30000" dirty="0">
                <a:solidFill>
                  <a:srgbClr val="FF0000"/>
                </a:solidFill>
                <a:latin typeface="Arial" panose="020B0604020202020204" pitchFamily="34" charset="0"/>
              </a:rPr>
              <a:t>3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21" name="Rectangle 132"/>
          <p:cNvSpPr/>
          <p:nvPr/>
        </p:nvSpPr>
        <p:spPr>
          <a:xfrm>
            <a:off x="4692650" y="5716588"/>
            <a:ext cx="1319213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22" name="Rectangle 133"/>
          <p:cNvSpPr/>
          <p:nvPr/>
        </p:nvSpPr>
        <p:spPr>
          <a:xfrm>
            <a:off x="6119813" y="5716588"/>
            <a:ext cx="696912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8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23" name="Rectangle 134"/>
          <p:cNvSpPr/>
          <p:nvPr/>
        </p:nvSpPr>
        <p:spPr>
          <a:xfrm>
            <a:off x="6011863" y="5716588"/>
            <a:ext cx="912812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24" name="Rectangle 135"/>
          <p:cNvSpPr/>
          <p:nvPr/>
        </p:nvSpPr>
        <p:spPr>
          <a:xfrm>
            <a:off x="6924675" y="5716588"/>
            <a:ext cx="1271588" cy="533400"/>
          </a:xfrm>
          <a:prstGeom prst="rect">
            <a:avLst/>
          </a:prstGeom>
          <a:noFill/>
          <a:ln w="7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0225" name="Rectangle 136"/>
          <p:cNvSpPr/>
          <p:nvPr/>
        </p:nvSpPr>
        <p:spPr>
          <a:xfrm>
            <a:off x="7129463" y="5711825"/>
            <a:ext cx="842962" cy="5334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0226" name="Rectangle 137"/>
          <p:cNvSpPr/>
          <p:nvPr/>
        </p:nvSpPr>
        <p:spPr>
          <a:xfrm>
            <a:off x="3713163" y="3578225"/>
            <a:ext cx="4483100" cy="2674938"/>
          </a:xfrm>
          <a:prstGeom prst="rect">
            <a:avLst/>
          </a:prstGeom>
          <a:noFill/>
          <a:ln w="11112" cap="flat" cmpd="sng">
            <a:solidFill>
              <a:srgbClr val="A0A0A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1204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51205" name="Group 4"/>
          <p:cNvGrpSpPr/>
          <p:nvPr/>
        </p:nvGrpSpPr>
        <p:grpSpPr>
          <a:xfrm>
            <a:off x="914400" y="2057400"/>
            <a:ext cx="1828800" cy="2971800"/>
            <a:chOff x="1056" y="720"/>
            <a:chExt cx="1152" cy="1872"/>
          </a:xfrm>
        </p:grpSpPr>
        <p:sp>
          <p:nvSpPr>
            <p:cNvPr id="51232" name="Rectangle 5"/>
            <p:cNvSpPr/>
            <p:nvPr/>
          </p:nvSpPr>
          <p:spPr>
            <a:xfrm>
              <a:off x="1056" y="960"/>
              <a:ext cx="288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</a:rPr>
                <a:t>A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</a:endParaRPr>
            </a:p>
          </p:txBody>
        </p:sp>
        <p:sp>
          <p:nvSpPr>
            <p:cNvPr id="51233" name="Rectangle 6"/>
            <p:cNvSpPr/>
            <p:nvPr/>
          </p:nvSpPr>
          <p:spPr>
            <a:xfrm>
              <a:off x="1344" y="960"/>
              <a:ext cx="288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Helvetica" pitchFamily="34" charset="0"/>
                </a:rPr>
                <a:t>B</a:t>
              </a:r>
              <a:endParaRPr lang="en-US" altLang="zh-CN" sz="2400" i="1" dirty="0">
                <a:solidFill>
                  <a:srgbClr val="FF0000"/>
                </a:solidFill>
                <a:latin typeface="Helvetica" pitchFamily="34" charset="0"/>
              </a:endParaRPr>
            </a:p>
          </p:txBody>
        </p:sp>
        <p:sp>
          <p:nvSpPr>
            <p:cNvPr id="51234" name="Rectangle 7"/>
            <p:cNvSpPr/>
            <p:nvPr/>
          </p:nvSpPr>
          <p:spPr>
            <a:xfrm>
              <a:off x="1056" y="1344"/>
              <a:ext cx="288" cy="124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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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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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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1235" name="Rectangle 8"/>
            <p:cNvSpPr/>
            <p:nvPr/>
          </p:nvSpPr>
          <p:spPr>
            <a:xfrm>
              <a:off x="1344" y="1344"/>
              <a:ext cx="288" cy="124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latin typeface="Helvetica" pitchFamily="34" charset="0"/>
                  <a:sym typeface="Symbol" panose="05050102010706020507" pitchFamily="18" charset="2"/>
                </a:rPr>
                <a:t>1</a:t>
              </a:r>
              <a:endParaRPr lang="en-US" altLang="zh-CN" sz="2400" i="1" dirty="0"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2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4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latin typeface="Helvetica" pitchFamily="34" charset="0"/>
                  <a:sym typeface="Symbol" panose="05050102010706020507" pitchFamily="18" charset="2"/>
                </a:rPr>
                <a:t>1</a:t>
              </a:r>
              <a:endParaRPr lang="en-US" altLang="zh-CN" sz="2400" i="1" dirty="0"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accent2"/>
                  </a:solidFill>
                  <a:latin typeface="Helvetica" pitchFamily="34" charset="0"/>
                  <a:sym typeface="Symbol" panose="05050102010706020507" pitchFamily="18" charset="2"/>
                </a:rPr>
                <a:t>2</a:t>
              </a:r>
              <a:endParaRPr lang="en-US" altLang="zh-CN" sz="2400" i="1" dirty="0">
                <a:solidFill>
                  <a:schemeClr val="accent2"/>
                </a:solidFill>
                <a:latin typeface="Helvetica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1236" name="Rectangle 9"/>
            <p:cNvSpPr/>
            <p:nvPr/>
          </p:nvSpPr>
          <p:spPr>
            <a:xfrm>
              <a:off x="1632" y="960"/>
              <a:ext cx="288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</a:rPr>
                <a:t>C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</a:endParaRPr>
            </a:p>
          </p:txBody>
        </p:sp>
        <p:sp>
          <p:nvSpPr>
            <p:cNvPr id="51237" name="Rectangle 10"/>
            <p:cNvSpPr/>
            <p:nvPr/>
          </p:nvSpPr>
          <p:spPr>
            <a:xfrm>
              <a:off x="1920" y="960"/>
              <a:ext cx="288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Helvetica" pitchFamily="34" charset="0"/>
                </a:rPr>
                <a:t>D</a:t>
              </a:r>
              <a:endParaRPr lang="en-US" altLang="zh-CN" sz="2400" i="1" dirty="0">
                <a:solidFill>
                  <a:srgbClr val="FF0000"/>
                </a:solidFill>
                <a:latin typeface="Helvetica" pitchFamily="34" charset="0"/>
              </a:endParaRPr>
            </a:p>
          </p:txBody>
        </p:sp>
        <p:sp>
          <p:nvSpPr>
            <p:cNvPr id="51238" name="Rectangle 11"/>
            <p:cNvSpPr/>
            <p:nvPr/>
          </p:nvSpPr>
          <p:spPr>
            <a:xfrm>
              <a:off x="1632" y="1344"/>
              <a:ext cx="288" cy="124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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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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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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1239" name="Rectangle 12"/>
            <p:cNvSpPr/>
            <p:nvPr/>
          </p:nvSpPr>
          <p:spPr>
            <a:xfrm>
              <a:off x="1920" y="1344"/>
              <a:ext cx="288" cy="124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Helvetica" pitchFamily="34" charset="0"/>
                  <a:sym typeface="Symbol" panose="05050102010706020507" pitchFamily="18" charset="2"/>
                </a:rPr>
                <a:t>a</a:t>
              </a:r>
              <a:endParaRPr lang="en-US" altLang="zh-CN" sz="2400" dirty="0"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a</a:t>
              </a:r>
              <a:endParaRPr lang="en-US" altLang="zh-CN" sz="2400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b</a:t>
              </a:r>
              <a:endParaRPr lang="en-US" altLang="zh-CN" sz="2400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Helvetica" pitchFamily="34" charset="0"/>
                  <a:sym typeface="Symbol" panose="05050102010706020507" pitchFamily="18" charset="2"/>
                </a:rPr>
                <a:t>a</a:t>
              </a:r>
              <a:endParaRPr lang="en-US" altLang="zh-CN" sz="2400" dirty="0"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accent2"/>
                  </a:solidFill>
                  <a:latin typeface="Helvetica" pitchFamily="34" charset="0"/>
                  <a:sym typeface="Symbol" panose="05050102010706020507" pitchFamily="18" charset="2"/>
                </a:rPr>
                <a:t>b</a:t>
              </a:r>
              <a:endParaRPr lang="en-US" altLang="zh-CN" sz="2400" dirty="0">
                <a:solidFill>
                  <a:schemeClr val="accent2"/>
                </a:solidFill>
                <a:latin typeface="Helvetica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1240" name="Text Box 13"/>
            <p:cNvSpPr txBox="1"/>
            <p:nvPr/>
          </p:nvSpPr>
          <p:spPr>
            <a:xfrm>
              <a:off x="1506" y="720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</a:rPr>
                <a:t>R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</a:endParaRPr>
            </a:p>
          </p:txBody>
        </p:sp>
      </p:grpSp>
      <p:grpSp>
        <p:nvGrpSpPr>
          <p:cNvPr id="51206" name="Group 14"/>
          <p:cNvGrpSpPr/>
          <p:nvPr/>
        </p:nvGrpSpPr>
        <p:grpSpPr>
          <a:xfrm>
            <a:off x="3505200" y="1981200"/>
            <a:ext cx="1371600" cy="2819400"/>
            <a:chOff x="3264" y="720"/>
            <a:chExt cx="864" cy="1776"/>
          </a:xfrm>
        </p:grpSpPr>
        <p:sp>
          <p:nvSpPr>
            <p:cNvPr id="51225" name="Rectangle 15"/>
            <p:cNvSpPr/>
            <p:nvPr/>
          </p:nvSpPr>
          <p:spPr>
            <a:xfrm>
              <a:off x="3264" y="1008"/>
              <a:ext cx="288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Helvetica" pitchFamily="34" charset="0"/>
                </a:rPr>
                <a:t>B</a:t>
              </a:r>
              <a:endParaRPr lang="en-US" altLang="zh-CN" sz="2400" i="1" dirty="0">
                <a:solidFill>
                  <a:srgbClr val="FF0000"/>
                </a:solidFill>
                <a:latin typeface="Helvetica" pitchFamily="34" charset="0"/>
              </a:endParaRPr>
            </a:p>
          </p:txBody>
        </p:sp>
        <p:sp>
          <p:nvSpPr>
            <p:cNvPr id="51226" name="Rectangle 16"/>
            <p:cNvSpPr/>
            <p:nvPr/>
          </p:nvSpPr>
          <p:spPr>
            <a:xfrm>
              <a:off x="3264" y="1392"/>
              <a:ext cx="288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latin typeface="Helvetica" pitchFamily="34" charset="0"/>
                  <a:sym typeface="Symbol" panose="05050102010706020507" pitchFamily="18" charset="2"/>
                </a:rPr>
                <a:t>1</a:t>
              </a:r>
              <a:endParaRPr lang="en-US" altLang="zh-CN" sz="2400" i="1" dirty="0"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3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latin typeface="Helvetica" pitchFamily="34" charset="0"/>
                  <a:sym typeface="Symbol" panose="05050102010706020507" pitchFamily="18" charset="2"/>
                </a:rPr>
                <a:t>1</a:t>
              </a:r>
              <a:endParaRPr lang="en-US" altLang="zh-CN" sz="2400" i="1" dirty="0"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2"/>
                  </a:solidFill>
                  <a:latin typeface="Helvetica" pitchFamily="34" charset="0"/>
                  <a:sym typeface="Symbol" panose="05050102010706020507" pitchFamily="18" charset="2"/>
                </a:rPr>
                <a:t>2</a:t>
              </a:r>
              <a:endParaRPr lang="en-US" altLang="zh-CN" sz="2400" i="1" dirty="0">
                <a:solidFill>
                  <a:schemeClr val="tx2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3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1227" name="Rectangle 17"/>
            <p:cNvSpPr/>
            <p:nvPr/>
          </p:nvSpPr>
          <p:spPr>
            <a:xfrm>
              <a:off x="3552" y="1008"/>
              <a:ext cx="288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rgbClr val="FF0000"/>
                  </a:solidFill>
                  <a:latin typeface="Helvetica" pitchFamily="34" charset="0"/>
                </a:rPr>
                <a:t>D</a:t>
              </a:r>
              <a:endParaRPr lang="en-US" altLang="zh-CN" sz="2400" i="1" dirty="0">
                <a:solidFill>
                  <a:srgbClr val="FF0000"/>
                </a:solidFill>
                <a:latin typeface="Helvetica" pitchFamily="34" charset="0"/>
              </a:endParaRPr>
            </a:p>
          </p:txBody>
        </p:sp>
        <p:sp>
          <p:nvSpPr>
            <p:cNvPr id="51228" name="Rectangle 18"/>
            <p:cNvSpPr/>
            <p:nvPr/>
          </p:nvSpPr>
          <p:spPr>
            <a:xfrm>
              <a:off x="3552" y="1392"/>
              <a:ext cx="288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Helvetica" pitchFamily="34" charset="0"/>
                  <a:sym typeface="Symbol" panose="05050102010706020507" pitchFamily="18" charset="2"/>
                </a:rPr>
                <a:t>a</a:t>
              </a:r>
              <a:endParaRPr lang="en-US" altLang="zh-CN" sz="2400" dirty="0"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a</a:t>
              </a:r>
              <a:endParaRPr lang="en-US" altLang="zh-CN" sz="2400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latin typeface="Helvetica" pitchFamily="34" charset="0"/>
                  <a:sym typeface="Symbol" panose="05050102010706020507" pitchFamily="18" charset="2"/>
                </a:rPr>
                <a:t>a</a:t>
              </a:r>
              <a:endParaRPr lang="en-US" altLang="zh-CN" sz="2400" dirty="0"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2"/>
                  </a:solidFill>
                  <a:latin typeface="Helvetica" pitchFamily="34" charset="0"/>
                  <a:sym typeface="Symbol" panose="05050102010706020507" pitchFamily="18" charset="2"/>
                </a:rPr>
                <a:t>b</a:t>
              </a:r>
              <a:endParaRPr lang="en-US" altLang="zh-CN" sz="2400" dirty="0">
                <a:solidFill>
                  <a:schemeClr val="tx2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b</a:t>
              </a:r>
              <a:endParaRPr lang="en-US" altLang="zh-CN" sz="2400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1229" name="Rectangle 19"/>
            <p:cNvSpPr/>
            <p:nvPr/>
          </p:nvSpPr>
          <p:spPr>
            <a:xfrm>
              <a:off x="3840" y="1008"/>
              <a:ext cx="288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</a:rPr>
                <a:t>E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</a:endParaRPr>
            </a:p>
          </p:txBody>
        </p:sp>
        <p:sp>
          <p:nvSpPr>
            <p:cNvPr id="51230" name="Rectangle 20"/>
            <p:cNvSpPr/>
            <p:nvPr/>
          </p:nvSpPr>
          <p:spPr>
            <a:xfrm>
              <a:off x="3840" y="1392"/>
              <a:ext cx="288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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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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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  <a:sym typeface="Symbol" panose="05050102010706020507" pitchFamily="18" charset="2"/>
                </a:rPr>
                <a:t>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1231" name="Text Box 21"/>
            <p:cNvSpPr txBox="1"/>
            <p:nvPr/>
          </p:nvSpPr>
          <p:spPr>
            <a:xfrm>
              <a:off x="3583" y="720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i="1" dirty="0">
                  <a:solidFill>
                    <a:schemeClr val="tx1"/>
                  </a:solidFill>
                  <a:latin typeface="Helvetica" pitchFamily="34" charset="0"/>
                </a:rPr>
                <a:t>S</a:t>
              </a:r>
              <a:endParaRPr lang="en-US" altLang="zh-CN" sz="2400" i="1" dirty="0">
                <a:solidFill>
                  <a:schemeClr val="tx1"/>
                </a:solidFill>
                <a:latin typeface="Helvetica" pitchFamily="34" charset="0"/>
              </a:endParaRPr>
            </a:p>
          </p:txBody>
        </p:sp>
      </p:grpSp>
      <p:sp>
        <p:nvSpPr>
          <p:cNvPr id="51207" name="Rectangle 22"/>
          <p:cNvSpPr/>
          <p:nvPr/>
        </p:nvSpPr>
        <p:spPr>
          <a:xfrm>
            <a:off x="5791200" y="3048000"/>
            <a:ext cx="434975" cy="182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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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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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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</p:txBody>
      </p:sp>
      <p:sp>
        <p:nvSpPr>
          <p:cNvPr id="51208" name="Rectangle 23"/>
          <p:cNvSpPr/>
          <p:nvPr/>
        </p:nvSpPr>
        <p:spPr>
          <a:xfrm>
            <a:off x="6226175" y="3048000"/>
            <a:ext cx="434975" cy="182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latin typeface="Helvetica" pitchFamily="34" charset="0"/>
                <a:sym typeface="Symbol" panose="05050102010706020507" pitchFamily="18" charset="2"/>
              </a:rPr>
              <a:t>1</a:t>
            </a:r>
            <a:endParaRPr lang="en-US" altLang="zh-CN" sz="2400" i="1" dirty="0"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latin typeface="Helvetica" pitchFamily="34" charset="0"/>
                <a:sym typeface="Symbol" panose="05050102010706020507" pitchFamily="18" charset="2"/>
              </a:rPr>
              <a:t>1</a:t>
            </a:r>
            <a:endParaRPr lang="en-US" altLang="zh-CN" sz="2400" i="1" dirty="0"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latin typeface="Helvetica" pitchFamily="34" charset="0"/>
                <a:sym typeface="Symbol" panose="05050102010706020507" pitchFamily="18" charset="2"/>
              </a:rPr>
              <a:t>1</a:t>
            </a:r>
            <a:endParaRPr lang="en-US" altLang="zh-CN" sz="2400" i="1" dirty="0"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latin typeface="Helvetica" pitchFamily="34" charset="0"/>
                <a:sym typeface="Symbol" panose="05050102010706020507" pitchFamily="18" charset="2"/>
              </a:rPr>
              <a:t>1</a:t>
            </a:r>
            <a:endParaRPr lang="en-US" altLang="zh-CN" sz="2400" i="1" dirty="0"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2"/>
                </a:solidFill>
                <a:latin typeface="Helvetica" pitchFamily="34" charset="0"/>
                <a:sym typeface="Symbol" panose="05050102010706020507" pitchFamily="18" charset="2"/>
              </a:rPr>
              <a:t>2</a:t>
            </a:r>
            <a:endParaRPr lang="en-US" altLang="zh-CN" sz="2400" i="1" dirty="0">
              <a:solidFill>
                <a:schemeClr val="tx2"/>
              </a:solidFill>
              <a:latin typeface="Helvetica" pitchFamily="34" charset="0"/>
              <a:sym typeface="Symbol" panose="05050102010706020507" pitchFamily="18" charset="2"/>
            </a:endParaRPr>
          </a:p>
        </p:txBody>
      </p:sp>
      <p:sp>
        <p:nvSpPr>
          <p:cNvPr id="51209" name="Rectangle 24"/>
          <p:cNvSpPr/>
          <p:nvPr/>
        </p:nvSpPr>
        <p:spPr>
          <a:xfrm>
            <a:off x="6661150" y="3048000"/>
            <a:ext cx="436563" cy="182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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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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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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</p:txBody>
      </p:sp>
      <p:sp>
        <p:nvSpPr>
          <p:cNvPr id="51210" name="Rectangle 25"/>
          <p:cNvSpPr/>
          <p:nvPr/>
        </p:nvSpPr>
        <p:spPr>
          <a:xfrm>
            <a:off x="7097713" y="3048000"/>
            <a:ext cx="434975" cy="182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Helvetica" pitchFamily="34" charset="0"/>
                <a:sym typeface="Symbol" panose="05050102010706020507" pitchFamily="18" charset="2"/>
              </a:rPr>
              <a:t>a</a:t>
            </a:r>
            <a:endParaRPr lang="en-US" altLang="zh-CN" sz="2400" dirty="0"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Helvetica" pitchFamily="34" charset="0"/>
                <a:sym typeface="Symbol" panose="05050102010706020507" pitchFamily="18" charset="2"/>
              </a:rPr>
              <a:t>a</a:t>
            </a:r>
            <a:endParaRPr lang="en-US" altLang="zh-CN" sz="2400" dirty="0"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Helvetica" pitchFamily="34" charset="0"/>
                <a:sym typeface="Symbol" panose="05050102010706020507" pitchFamily="18" charset="2"/>
              </a:rPr>
              <a:t>a</a:t>
            </a:r>
            <a:endParaRPr lang="en-US" altLang="zh-CN" sz="2400" dirty="0"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Helvetica" pitchFamily="34" charset="0"/>
                <a:sym typeface="Symbol" panose="05050102010706020507" pitchFamily="18" charset="2"/>
              </a:rPr>
              <a:t>a</a:t>
            </a:r>
            <a:endParaRPr lang="en-US" altLang="zh-CN" sz="2400" dirty="0"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2"/>
                </a:solidFill>
                <a:latin typeface="Helvetica" pitchFamily="34" charset="0"/>
                <a:sym typeface="Symbol" panose="05050102010706020507" pitchFamily="18" charset="2"/>
              </a:rPr>
              <a:t>b</a:t>
            </a:r>
            <a:endParaRPr lang="en-US" altLang="zh-CN" sz="2400" dirty="0">
              <a:solidFill>
                <a:schemeClr val="tx2"/>
              </a:solidFill>
              <a:latin typeface="Helvetica" pitchFamily="34" charset="0"/>
              <a:sym typeface="Symbol" panose="05050102010706020507" pitchFamily="18" charset="2"/>
            </a:endParaRPr>
          </a:p>
        </p:txBody>
      </p:sp>
      <p:sp>
        <p:nvSpPr>
          <p:cNvPr id="51211" name="Rectangle 26"/>
          <p:cNvSpPr/>
          <p:nvPr/>
        </p:nvSpPr>
        <p:spPr>
          <a:xfrm>
            <a:off x="7532688" y="3048000"/>
            <a:ext cx="434975" cy="1828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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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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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  <a:sym typeface="Symbol" panose="05050102010706020507" pitchFamily="18" charset="2"/>
              </a:rPr>
              <a:t>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  <a:sym typeface="Symbol" panose="05050102010706020507" pitchFamily="18" charset="2"/>
            </a:endParaRPr>
          </a:p>
        </p:txBody>
      </p:sp>
      <p:sp>
        <p:nvSpPr>
          <p:cNvPr id="51212" name="Rectangle 27"/>
          <p:cNvSpPr/>
          <p:nvPr/>
        </p:nvSpPr>
        <p:spPr>
          <a:xfrm>
            <a:off x="5791200" y="2452688"/>
            <a:ext cx="434975" cy="4968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</a:rPr>
              <a:t>A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</a:endParaRPr>
          </a:p>
        </p:txBody>
      </p:sp>
      <p:sp>
        <p:nvSpPr>
          <p:cNvPr id="51213" name="Rectangle 28"/>
          <p:cNvSpPr/>
          <p:nvPr/>
        </p:nvSpPr>
        <p:spPr>
          <a:xfrm>
            <a:off x="6226175" y="2452688"/>
            <a:ext cx="434975" cy="4968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</a:rPr>
              <a:t>B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</a:endParaRPr>
          </a:p>
        </p:txBody>
      </p:sp>
      <p:sp>
        <p:nvSpPr>
          <p:cNvPr id="51214" name="Rectangle 29"/>
          <p:cNvSpPr/>
          <p:nvPr/>
        </p:nvSpPr>
        <p:spPr>
          <a:xfrm>
            <a:off x="6661150" y="2452688"/>
            <a:ext cx="436563" cy="4968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</a:rPr>
              <a:t>C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</a:endParaRPr>
          </a:p>
        </p:txBody>
      </p:sp>
      <p:sp>
        <p:nvSpPr>
          <p:cNvPr id="51215" name="Rectangle 30"/>
          <p:cNvSpPr/>
          <p:nvPr/>
        </p:nvSpPr>
        <p:spPr>
          <a:xfrm>
            <a:off x="7097713" y="2452688"/>
            <a:ext cx="434975" cy="4968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</a:rPr>
              <a:t>D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</a:endParaRPr>
          </a:p>
        </p:txBody>
      </p:sp>
      <p:sp>
        <p:nvSpPr>
          <p:cNvPr id="51216" name="Rectangle 31"/>
          <p:cNvSpPr/>
          <p:nvPr/>
        </p:nvSpPr>
        <p:spPr>
          <a:xfrm>
            <a:off x="7532688" y="2452688"/>
            <a:ext cx="434975" cy="4968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</a:rPr>
              <a:t>E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</a:endParaRPr>
          </a:p>
        </p:txBody>
      </p:sp>
      <p:sp>
        <p:nvSpPr>
          <p:cNvPr id="51217" name="Rectangle 32"/>
          <p:cNvSpPr/>
          <p:nvPr/>
        </p:nvSpPr>
        <p:spPr>
          <a:xfrm>
            <a:off x="6553200" y="1981200"/>
            <a:ext cx="1143000" cy="4095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35000"/>
              </a:spcBef>
              <a:buClr>
                <a:schemeClr val="tx2"/>
              </a:buClr>
              <a:buFont typeface="Monotype Sorts" pitchFamily="2" charset="2"/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Helvetica" pitchFamily="34" charset="0"/>
              </a:rPr>
              <a:t>R     S</a:t>
            </a:r>
            <a:endParaRPr lang="en-US" altLang="zh-CN" sz="2400" i="1" dirty="0">
              <a:solidFill>
                <a:schemeClr val="tx1"/>
              </a:solidFill>
              <a:latin typeface="Helvetica" pitchFamily="34" charset="0"/>
            </a:endParaRPr>
          </a:p>
        </p:txBody>
      </p:sp>
      <p:sp>
        <p:nvSpPr>
          <p:cNvPr id="51218" name="AutoShape 33"/>
          <p:cNvSpPr/>
          <p:nvPr/>
        </p:nvSpPr>
        <p:spPr>
          <a:xfrm rot="-5400000" flipV="1">
            <a:off x="6956425" y="2133600"/>
            <a:ext cx="152400" cy="152400"/>
          </a:xfrm>
          <a:prstGeom prst="flowChartCollate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1219" name="Line 34"/>
          <p:cNvSpPr/>
          <p:nvPr/>
        </p:nvSpPr>
        <p:spPr>
          <a:xfrm>
            <a:off x="2743200" y="32766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20" name="Line 35"/>
          <p:cNvSpPr/>
          <p:nvPr/>
        </p:nvSpPr>
        <p:spPr>
          <a:xfrm>
            <a:off x="2743200" y="3276600"/>
            <a:ext cx="7620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21" name="Line 36"/>
          <p:cNvSpPr/>
          <p:nvPr/>
        </p:nvSpPr>
        <p:spPr>
          <a:xfrm flipV="1">
            <a:off x="2743200" y="3429000"/>
            <a:ext cx="68580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22" name="Line 37"/>
          <p:cNvSpPr/>
          <p:nvPr/>
        </p:nvSpPr>
        <p:spPr>
          <a:xfrm flipV="1">
            <a:off x="2743200" y="3962400"/>
            <a:ext cx="7620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223" name="Line 38"/>
          <p:cNvSpPr/>
          <p:nvPr/>
        </p:nvSpPr>
        <p:spPr>
          <a:xfrm flipV="1">
            <a:off x="2743200" y="4343400"/>
            <a:ext cx="7620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" name="Rectangle 3"/>
          <p:cNvSpPr txBox="1">
            <a:spLocks noChangeArrowheads="1"/>
          </p:cNvSpPr>
          <p:nvPr/>
        </p:nvSpPr>
        <p:spPr bwMode="auto">
          <a:xfrm>
            <a:off x="342900" y="5289550"/>
            <a:ext cx="8534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 b="1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外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连接（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outer join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）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保留悬浮元组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(dangling tuple)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左</a:t>
            </a:r>
            <a:r>
              <a:rPr kumimoji="1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外连接，右外连接 </a:t>
            </a:r>
            <a:r>
              <a:rPr kumimoji="1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P51</a:t>
            </a:r>
            <a:endParaRPr kumimoji="1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52229" name="Group 4"/>
          <p:cNvGrpSpPr/>
          <p:nvPr/>
        </p:nvGrpSpPr>
        <p:grpSpPr>
          <a:xfrm>
            <a:off x="457200" y="3124200"/>
            <a:ext cx="2209800" cy="1581150"/>
            <a:chOff x="576" y="2928"/>
            <a:chExt cx="1536" cy="996"/>
          </a:xfrm>
        </p:grpSpPr>
        <p:sp>
          <p:nvSpPr>
            <p:cNvPr id="52271" name="Rectangle 5"/>
            <p:cNvSpPr/>
            <p:nvPr/>
          </p:nvSpPr>
          <p:spPr>
            <a:xfrm>
              <a:off x="1600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9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72" name="Rectangle 6"/>
            <p:cNvSpPr/>
            <p:nvPr/>
          </p:nvSpPr>
          <p:spPr>
            <a:xfrm>
              <a:off x="1088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8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73" name="Rectangle 7"/>
            <p:cNvSpPr/>
            <p:nvPr/>
          </p:nvSpPr>
          <p:spPr>
            <a:xfrm>
              <a:off x="576" y="3675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7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74" name="Rectangle 8"/>
            <p:cNvSpPr/>
            <p:nvPr/>
          </p:nvSpPr>
          <p:spPr>
            <a:xfrm>
              <a:off x="1600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accent2"/>
                  </a:solidFill>
                  <a:latin typeface="Arial" panose="020B0604020202020204" pitchFamily="34" charset="0"/>
                </a:rPr>
                <a:t>6</a:t>
              </a:r>
              <a:endParaRPr lang="en-US" altLang="zh-CN" sz="2000" dirty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75" name="Rectangle 9"/>
            <p:cNvSpPr/>
            <p:nvPr/>
          </p:nvSpPr>
          <p:spPr>
            <a:xfrm>
              <a:off x="1088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5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76" name="Rectangle 10"/>
            <p:cNvSpPr/>
            <p:nvPr/>
          </p:nvSpPr>
          <p:spPr>
            <a:xfrm>
              <a:off x="576" y="3426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4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77" name="Rectangle 11"/>
            <p:cNvSpPr/>
            <p:nvPr/>
          </p:nvSpPr>
          <p:spPr>
            <a:xfrm>
              <a:off x="1600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3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52278" name="Rectangle 12"/>
            <p:cNvSpPr/>
            <p:nvPr/>
          </p:nvSpPr>
          <p:spPr>
            <a:xfrm>
              <a:off x="1088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2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79" name="Rectangle 13"/>
            <p:cNvSpPr/>
            <p:nvPr/>
          </p:nvSpPr>
          <p:spPr>
            <a:xfrm>
              <a:off x="576" y="3177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1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80" name="Rectangle 14"/>
            <p:cNvSpPr/>
            <p:nvPr/>
          </p:nvSpPr>
          <p:spPr>
            <a:xfrm>
              <a:off x="1600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81" name="Rectangle 15"/>
            <p:cNvSpPr/>
            <p:nvPr/>
          </p:nvSpPr>
          <p:spPr>
            <a:xfrm>
              <a:off x="1088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82" name="Rectangle 16"/>
            <p:cNvSpPr/>
            <p:nvPr/>
          </p:nvSpPr>
          <p:spPr>
            <a:xfrm>
              <a:off x="576" y="2928"/>
              <a:ext cx="51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20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283" name="Line 17"/>
            <p:cNvSpPr/>
            <p:nvPr/>
          </p:nvSpPr>
          <p:spPr>
            <a:xfrm>
              <a:off x="576" y="2928"/>
              <a:ext cx="15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4" name="Line 18"/>
            <p:cNvSpPr/>
            <p:nvPr/>
          </p:nvSpPr>
          <p:spPr>
            <a:xfrm>
              <a:off x="576" y="3177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5" name="Line 19"/>
            <p:cNvSpPr/>
            <p:nvPr/>
          </p:nvSpPr>
          <p:spPr>
            <a:xfrm>
              <a:off x="576" y="3426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6" name="Line 20"/>
            <p:cNvSpPr/>
            <p:nvPr/>
          </p:nvSpPr>
          <p:spPr>
            <a:xfrm>
              <a:off x="576" y="3675"/>
              <a:ext cx="15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7" name="Line 21"/>
            <p:cNvSpPr/>
            <p:nvPr/>
          </p:nvSpPr>
          <p:spPr>
            <a:xfrm>
              <a:off x="576" y="3924"/>
              <a:ext cx="153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8" name="Line 22"/>
            <p:cNvSpPr/>
            <p:nvPr/>
          </p:nvSpPr>
          <p:spPr>
            <a:xfrm>
              <a:off x="576" y="2928"/>
              <a:ext cx="0" cy="99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9" name="Line 23"/>
            <p:cNvSpPr/>
            <p:nvPr/>
          </p:nvSpPr>
          <p:spPr>
            <a:xfrm>
              <a:off x="1088" y="2928"/>
              <a:ext cx="0" cy="9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0" name="Line 24"/>
            <p:cNvSpPr/>
            <p:nvPr/>
          </p:nvSpPr>
          <p:spPr>
            <a:xfrm>
              <a:off x="1600" y="2928"/>
              <a:ext cx="0" cy="9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1" name="Line 25"/>
            <p:cNvSpPr/>
            <p:nvPr/>
          </p:nvSpPr>
          <p:spPr>
            <a:xfrm>
              <a:off x="2112" y="2928"/>
              <a:ext cx="0" cy="99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24954" name="Group 26"/>
          <p:cNvGraphicFramePr>
            <a:graphicFrameLocks noGrp="1"/>
          </p:cNvGraphicFramePr>
          <p:nvPr/>
        </p:nvGraphicFramePr>
        <p:xfrm>
          <a:off x="2971800" y="3124200"/>
          <a:ext cx="1600200" cy="1193800"/>
        </p:xfrm>
        <a:graphic>
          <a:graphicData uri="http://schemas.openxmlformats.org/drawingml/2006/table">
            <a:tbl>
              <a:tblPr/>
              <a:tblGrid>
                <a:gridCol w="762000"/>
                <a:gridCol w="838200"/>
              </a:tblGrid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44" name="Text Box 40"/>
          <p:cNvSpPr txBox="1"/>
          <p:nvPr/>
        </p:nvSpPr>
        <p:spPr>
          <a:xfrm>
            <a:off x="1143000" y="19812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245" name="Text Box 41"/>
          <p:cNvSpPr txBox="1"/>
          <p:nvPr/>
        </p:nvSpPr>
        <p:spPr>
          <a:xfrm>
            <a:off x="3505200" y="1981200"/>
            <a:ext cx="53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24970" name="Group 42"/>
          <p:cNvGraphicFramePr>
            <a:graphicFrameLocks noGrp="1"/>
          </p:cNvGraphicFramePr>
          <p:nvPr/>
        </p:nvGraphicFramePr>
        <p:xfrm>
          <a:off x="5029200" y="3111500"/>
          <a:ext cx="3505200" cy="1333500"/>
        </p:xfrm>
        <a:graphic>
          <a:graphicData uri="http://schemas.openxmlformats.org/drawingml/2006/table">
            <a:tbl>
              <a:tblPr/>
              <a:tblGrid>
                <a:gridCol w="876300"/>
                <a:gridCol w="876300"/>
                <a:gridCol w="876300"/>
                <a:gridCol w="876300"/>
              </a:tblGrid>
              <a:tr h="444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68" name="Text Box 64"/>
          <p:cNvSpPr txBox="1"/>
          <p:nvPr/>
        </p:nvSpPr>
        <p:spPr>
          <a:xfrm>
            <a:off x="5943600" y="1981200"/>
            <a:ext cx="1600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sz="3600" b="0" baseline="-20000" dirty="0">
                <a:solidFill>
                  <a:schemeClr val="tx1"/>
                </a:solidFill>
                <a:latin typeface="Arial" panose="020B0604020202020204" pitchFamily="34" charset="0"/>
                <a:ea typeface="仿宋_GB2312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    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269" name="AutoShape 65"/>
          <p:cNvSpPr/>
          <p:nvPr/>
        </p:nvSpPr>
        <p:spPr>
          <a:xfrm rot="5400000">
            <a:off x="6654800" y="2122488"/>
            <a:ext cx="304800" cy="3048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52270" name="Text Box 66"/>
          <p:cNvSpPr txBox="1"/>
          <p:nvPr/>
        </p:nvSpPr>
        <p:spPr>
          <a:xfrm>
            <a:off x="304800" y="5181600"/>
            <a:ext cx="8370888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思考：如何用其它运算表达该自然连接？</a:t>
            </a:r>
            <a:endParaRPr lang="zh-CN" altLang="en-US" dirty="0">
              <a:solidFill>
                <a:schemeClr val="tx1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已知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R(A,B,C),S(C,D)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如何用积、选择、投影等运算表达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与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的自然连接？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2" eaLnBrk="1" hangingPunct="1">
              <a:buNone/>
            </a:pPr>
            <a:r>
              <a:rPr lang="en-US" altLang="zh-CN" sz="3600" b="0" dirty="0">
                <a:latin typeface="Arial" panose="020B0604020202020204" pitchFamily="34" charset="0"/>
                <a:sym typeface="Symbol" panose="05050102010706020507" pitchFamily="18" charset="2"/>
              </a:rPr>
              <a:t>R   S  = ∏</a:t>
            </a:r>
            <a:r>
              <a:rPr lang="en-US" altLang="zh-CN" sz="3600" b="0" baseline="-25000" dirty="0">
                <a:latin typeface="Arial" panose="020B0604020202020204" pitchFamily="34" charset="0"/>
                <a:sym typeface="Symbol" panose="05050102010706020507" pitchFamily="18" charset="2"/>
              </a:rPr>
              <a:t>1,2,3,5</a:t>
            </a:r>
            <a:r>
              <a:rPr lang="en-US" altLang="zh-CN" sz="3600" b="0" dirty="0">
                <a:latin typeface="Arial" panose="020B0604020202020204" pitchFamily="34" charset="0"/>
                <a:sym typeface="Symbol" panose="05050102010706020507" pitchFamily="18" charset="2"/>
              </a:rPr>
              <a:t>(</a:t>
            </a:r>
            <a:r>
              <a:rPr lang="en-US" altLang="zh-CN" sz="3600" b="0" baseline="-20000" dirty="0">
                <a:latin typeface="Arial" panose="020B0604020202020204" pitchFamily="34" charset="0"/>
                <a:sym typeface="Symbol" panose="05050102010706020507" pitchFamily="18" charset="2"/>
              </a:rPr>
              <a:t>3=4 </a:t>
            </a:r>
            <a:r>
              <a:rPr lang="en-US" altLang="zh-CN" sz="3600" b="0" dirty="0">
                <a:latin typeface="Arial" panose="020B0604020202020204" pitchFamily="34" charset="0"/>
                <a:sym typeface="Symbol" panose="05050102010706020507" pitchFamily="18" charset="2"/>
              </a:rPr>
              <a:t>(R</a:t>
            </a:r>
            <a:r>
              <a:rPr lang="en-US" altLang="zh-CN" sz="3600" b="0" dirty="0">
                <a:latin typeface="Arial" panose="020B0604020202020204" pitchFamily="34" charset="0"/>
              </a:rPr>
              <a:t>×S))</a:t>
            </a:r>
            <a:endParaRPr lang="en-US" altLang="zh-CN" sz="3600" b="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endParaRPr lang="en-US" altLang="zh-CN" sz="3600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2229" name="AutoShape 4"/>
          <p:cNvSpPr/>
          <p:nvPr/>
        </p:nvSpPr>
        <p:spPr>
          <a:xfrm rot="5400000">
            <a:off x="1778000" y="2971800"/>
            <a:ext cx="304800" cy="3048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charRg st="4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76200" y="990600"/>
            <a:ext cx="8534400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</a:t>
            </a:r>
            <a:r>
              <a:rPr lang="zh-CN" altLang="en-US" dirty="0">
                <a:solidFill>
                  <a:srgbClr val="FF0000"/>
                </a:solidFill>
              </a:rPr>
              <a:t>复习：象集</a:t>
            </a:r>
            <a:endParaRPr lang="zh-CN" altLang="en-US" dirty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/>
              <a:t>   给定一个关系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zh-CN" altLang="en-US" i="1" dirty="0">
                <a:latin typeface="Arial" panose="020B0604020202020204" pitchFamily="34" charset="0"/>
              </a:rPr>
              <a:t>（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zh-CN" altLang="en-US" i="1" dirty="0"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latin typeface="Arial" panose="020B0604020202020204" pitchFamily="34" charset="0"/>
              </a:rPr>
              <a:t>Z</a:t>
            </a:r>
            <a:r>
              <a:rPr lang="zh-CN" altLang="en-US" i="1" dirty="0">
                <a:latin typeface="Arial" panose="020B0604020202020204" pitchFamily="34" charset="0"/>
              </a:rPr>
              <a:t>）</a:t>
            </a:r>
            <a:r>
              <a:rPr lang="zh-CN" altLang="en-US" dirty="0"/>
              <a:t>，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zh-CN" altLang="en-US" dirty="0"/>
              <a:t>和</a:t>
            </a:r>
            <a:r>
              <a:rPr lang="en-US" altLang="zh-CN" i="1" dirty="0">
                <a:latin typeface="Arial" panose="020B0604020202020204" pitchFamily="34" charset="0"/>
              </a:rPr>
              <a:t>Z</a:t>
            </a:r>
            <a:r>
              <a:rPr lang="zh-CN" altLang="en-US" dirty="0"/>
              <a:t>为属性</a:t>
            </a:r>
            <a:r>
              <a:rPr lang="zh-CN" altLang="en-US" dirty="0">
                <a:solidFill>
                  <a:srgbClr val="FF0000"/>
                </a:solidFill>
              </a:rPr>
              <a:t>组</a:t>
            </a:r>
            <a:r>
              <a:rPr lang="zh-CN" altLang="en-US" dirty="0"/>
              <a:t>。当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]=</a:t>
            </a:r>
            <a:r>
              <a:rPr lang="en-US" altLang="zh-CN" i="1" dirty="0"/>
              <a:t>x</a:t>
            </a:r>
            <a:r>
              <a:rPr lang="zh-CN" altLang="en-US" dirty="0"/>
              <a:t>时，</a:t>
            </a:r>
            <a:r>
              <a:rPr lang="en-US" altLang="zh-CN" i="1" dirty="0"/>
              <a:t>x</a:t>
            </a:r>
            <a:r>
              <a:rPr lang="zh-CN" altLang="en-US" dirty="0"/>
              <a:t>在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FF0000"/>
                </a:solidFill>
              </a:rPr>
              <a:t>象集</a:t>
            </a:r>
            <a:r>
              <a:rPr lang="zh-CN" altLang="en-US" dirty="0"/>
              <a:t>（</a:t>
            </a:r>
            <a:r>
              <a:rPr lang="en-US" altLang="zh-CN" dirty="0"/>
              <a:t>Images Set</a:t>
            </a:r>
            <a:r>
              <a:rPr lang="zh-CN" altLang="en-US" dirty="0"/>
              <a:t>）为：</a:t>
            </a:r>
            <a:endParaRPr lang="zh-CN" altLang="en-US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dirty="0"/>
              <a:t>	          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en-US" altLang="zh-CN" i="1" dirty="0">
                <a:solidFill>
                  <a:srgbClr val="E02920"/>
                </a:solidFill>
                <a:latin typeface="Arial" panose="020B0604020202020204" pitchFamily="34" charset="0"/>
              </a:rPr>
              <a:t>Z</a:t>
            </a:r>
            <a:r>
              <a:rPr lang="en-US" altLang="zh-CN" baseline="-30000" dirty="0">
                <a:solidFill>
                  <a:srgbClr val="E02920"/>
                </a:solidFill>
              </a:rPr>
              <a:t>x</a:t>
            </a:r>
            <a:r>
              <a:rPr lang="en-US" altLang="zh-CN" dirty="0"/>
              <a:t>={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dirty="0"/>
              <a:t>[</a:t>
            </a:r>
            <a:r>
              <a:rPr lang="en-US" altLang="zh-CN" dirty="0">
                <a:latin typeface="Arial" panose="020B0604020202020204" pitchFamily="34" charset="0"/>
              </a:rPr>
              <a:t>Z</a:t>
            </a:r>
            <a:r>
              <a:rPr lang="en-US" altLang="zh-CN" dirty="0"/>
              <a:t>]|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t</a:t>
            </a:r>
            <a:r>
              <a:rPr lang="en-US" altLang="zh-CN" dirty="0"/>
              <a:t>[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en-US" altLang="zh-CN" dirty="0"/>
              <a:t>]=</a:t>
            </a:r>
            <a:r>
              <a:rPr lang="en-US" altLang="zh-CN" i="1" dirty="0"/>
              <a:t>x</a:t>
            </a:r>
            <a:r>
              <a:rPr lang="en-US" altLang="zh-CN" dirty="0"/>
              <a:t>}</a:t>
            </a:r>
            <a:endParaRPr lang="en-US" altLang="zh-CN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dirty="0"/>
              <a:t> 	</a:t>
            </a:r>
            <a:r>
              <a:rPr lang="zh-CN" altLang="en-US" dirty="0"/>
              <a:t>它表示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zh-CN" altLang="en-US" dirty="0"/>
              <a:t>中属性组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zh-CN" altLang="en-US" dirty="0"/>
              <a:t>上值为</a:t>
            </a:r>
            <a:r>
              <a:rPr lang="en-US" altLang="zh-CN" i="1" dirty="0"/>
              <a:t>x</a:t>
            </a:r>
            <a:r>
              <a:rPr lang="zh-CN" altLang="en-US" dirty="0"/>
              <a:t>的诸元组在</a:t>
            </a:r>
            <a:r>
              <a:rPr lang="en-US" altLang="zh-CN" i="1" dirty="0">
                <a:latin typeface="Arial" panose="020B0604020202020204" pitchFamily="34" charset="0"/>
              </a:rPr>
              <a:t>Z</a:t>
            </a:r>
            <a:r>
              <a:rPr lang="zh-CN" altLang="en-US" dirty="0"/>
              <a:t>上分量的集合。 </a:t>
            </a:r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5300" name="Rectangle 3"/>
          <p:cNvSpPr>
            <a:spLocks noGrp="1"/>
          </p:cNvSpPr>
          <p:nvPr>
            <p:ph idx="1"/>
          </p:nvPr>
        </p:nvSpPr>
        <p:spPr>
          <a:xfrm>
            <a:off x="457200" y="762000"/>
            <a:ext cx="31242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复习：象集</a:t>
            </a:r>
            <a:r>
              <a:rPr lang="zh-CN" altLang="en-US" dirty="0"/>
              <a:t> </a:t>
            </a:r>
            <a:endParaRPr lang="zh-CN" altLang="en-US" dirty="0"/>
          </a:p>
        </p:txBody>
      </p:sp>
      <p:graphicFrame>
        <p:nvGraphicFramePr>
          <p:cNvPr id="128004" name="Group 4"/>
          <p:cNvGraphicFramePr>
            <a:graphicFrameLocks noGrp="1"/>
          </p:cNvGraphicFramePr>
          <p:nvPr/>
        </p:nvGraphicFramePr>
        <p:xfrm>
          <a:off x="1752600" y="2057400"/>
          <a:ext cx="1771650" cy="368300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042" name="Group 42"/>
          <p:cNvGraphicFramePr>
            <a:graphicFrameLocks noGrp="1"/>
          </p:cNvGraphicFramePr>
          <p:nvPr/>
        </p:nvGraphicFramePr>
        <p:xfrm>
          <a:off x="4648200" y="2057400"/>
          <a:ext cx="2286000" cy="1828800"/>
        </p:xfrm>
        <a:graphic>
          <a:graphicData uri="http://schemas.openxmlformats.org/drawingml/2006/table">
            <a:tbl>
              <a:tblPr/>
              <a:tblGrid>
                <a:gridCol w="831850"/>
                <a:gridCol w="727075"/>
                <a:gridCol w="727075"/>
              </a:tblGrid>
              <a:tr h="33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361" name="Rectangle 64"/>
          <p:cNvSpPr/>
          <p:nvPr/>
        </p:nvSpPr>
        <p:spPr>
          <a:xfrm>
            <a:off x="2428875" y="1420813"/>
            <a:ext cx="4762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R </a:t>
            </a:r>
            <a:endParaRPr lang="en-US" altLang="zh-CN" sz="28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5362" name="Rectangle 65"/>
          <p:cNvSpPr/>
          <p:nvPr/>
        </p:nvSpPr>
        <p:spPr>
          <a:xfrm>
            <a:off x="5562600" y="1371600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S </a:t>
            </a:r>
            <a:endParaRPr lang="en-US" altLang="zh-CN" sz="28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5363" name="Text Box 66"/>
          <p:cNvSpPr txBox="1"/>
          <p:nvPr/>
        </p:nvSpPr>
        <p:spPr>
          <a:xfrm>
            <a:off x="4495800" y="4114800"/>
            <a:ext cx="4419600" cy="16478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X={A},Y={B,C},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当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取值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(a1)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时的象集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en-US" altLang="zh-CN" sz="28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Y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上的投影</a:t>
            </a:r>
            <a:r>
              <a:rPr lang="en-US" altLang="zh-CN" dirty="0">
                <a:solidFill>
                  <a:schemeClr val="tx1"/>
                </a:solidFill>
                <a:latin typeface="Tahoma" panose="020B0604030504040204" pitchFamily="34" charset="0"/>
              </a:rPr>
              <a:t>π</a:t>
            </a:r>
            <a:r>
              <a:rPr lang="en-US" altLang="zh-CN" sz="2800" baseline="-25000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(S)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5181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sz="3600" dirty="0">
                <a:solidFill>
                  <a:schemeClr val="tx1"/>
                </a:solidFill>
              </a:rPr>
              <a:t>5. </a:t>
            </a:r>
            <a:r>
              <a:rPr lang="zh-CN" altLang="en-US" sz="3600" dirty="0">
                <a:solidFill>
                  <a:schemeClr val="tx1"/>
                </a:solidFill>
              </a:rPr>
              <a:t>除 （查询</a:t>
            </a:r>
            <a:r>
              <a:rPr lang="en-US" altLang="zh-CN" sz="3600" dirty="0">
                <a:solidFill>
                  <a:schemeClr val="tx1"/>
                </a:solidFill>
              </a:rPr>
              <a:t>…</a:t>
            </a:r>
            <a:r>
              <a:rPr lang="zh-CN" altLang="en-US" sz="3600" dirty="0">
                <a:solidFill>
                  <a:schemeClr val="tx1"/>
                </a:solidFill>
              </a:rPr>
              <a:t>所有</a:t>
            </a:r>
            <a:r>
              <a:rPr lang="en-US" altLang="zh-CN" sz="3600" dirty="0">
                <a:solidFill>
                  <a:schemeClr val="tx1"/>
                </a:solidFill>
              </a:rPr>
              <a:t>/</a:t>
            </a:r>
            <a:r>
              <a:rPr lang="zh-CN" altLang="en-US" sz="3600" dirty="0">
                <a:solidFill>
                  <a:schemeClr val="tx1"/>
                </a:solidFill>
              </a:rPr>
              <a:t>全部的</a:t>
            </a:r>
            <a:r>
              <a:rPr lang="en-US" altLang="zh-CN" sz="3600" dirty="0">
                <a:solidFill>
                  <a:schemeClr val="tx1"/>
                </a:solidFill>
              </a:rPr>
              <a:t>…</a:t>
            </a:r>
            <a:r>
              <a:rPr lang="zh-CN" altLang="en-US" sz="3600" dirty="0">
                <a:solidFill>
                  <a:schemeClr val="tx1"/>
                </a:solidFill>
              </a:rPr>
              <a:t>）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给定关系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R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i="1" dirty="0">
                <a:solidFill>
                  <a:schemeClr val="accent2"/>
                </a:solidFill>
                <a:latin typeface="Arial" panose="020B0604020202020204" pitchFamily="34" charset="0"/>
              </a:rPr>
              <a:t>Y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S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400" i="1" dirty="0">
                <a:solidFill>
                  <a:schemeClr val="accent2"/>
                </a:solidFill>
                <a:latin typeface="Arial" panose="020B0604020202020204" pitchFamily="34" charset="0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Z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，其中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Z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为属性组。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中的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中的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可以有不同的属性名，但必须出自相同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的域集。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的除运算得到一个新的关系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P(X)</a:t>
            </a:r>
            <a:r>
              <a:rPr lang="zh-CN" altLang="en-US" sz="2400" i="1" dirty="0">
                <a:solidFill>
                  <a:schemeClr val="tx1"/>
                </a:solidFill>
                <a:latin typeface="Arial" panose="020B0604020202020204" pitchFamily="34" charset="0"/>
              </a:rPr>
              <a:t>，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是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中</a:t>
            </a:r>
            <a:endParaRPr lang="zh-CN" altLang="en-US" sz="2400" i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满足下列条件的元组在</a:t>
            </a:r>
            <a:r>
              <a:rPr lang="en-US" altLang="zh-CN" sz="2400" i="1" dirty="0">
                <a:solidFill>
                  <a:srgbClr val="FF0000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属性列上的投影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：元组在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上分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4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量值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的象集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en-US" altLang="zh-CN" sz="2400" i="1" baseline="-30000" dirty="0">
                <a:solidFill>
                  <a:schemeClr val="tx1"/>
                </a:solidFill>
                <a:latin typeface="Arial" panose="020B0604020202020204" pitchFamily="34" charset="0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包含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在</a:t>
            </a:r>
            <a:r>
              <a:rPr lang="en-US" altLang="zh-CN" sz="2400" i="1" dirty="0">
                <a:solidFill>
                  <a:schemeClr val="tx1"/>
                </a:solidFill>
                <a:latin typeface="Arial" panose="020B0604020202020204" pitchFamily="34" charset="0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上投影的集合。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zh-CN" altLang="en-US" dirty="0">
                <a:latin typeface="Arial" panose="020B0604020202020204" pitchFamily="34" charset="0"/>
              </a:rPr>
              <a:t>   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÷</a:t>
            </a:r>
            <a:r>
              <a:rPr lang="en-US" altLang="zh-CN" i="1" dirty="0"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 = {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] | 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∧π</a:t>
            </a:r>
            <a:r>
              <a:rPr lang="en-US" altLang="zh-CN" baseline="-30000" dirty="0">
                <a:latin typeface="Arial" panose="020B0604020202020204" pitchFamily="34" charset="0"/>
              </a:rPr>
              <a:t>Y</a:t>
            </a:r>
            <a:r>
              <a:rPr lang="en-US" altLang="zh-CN" dirty="0">
                <a:latin typeface="Arial" panose="020B0604020202020204" pitchFamily="34" charset="0"/>
              </a:rPr>
              <a:t> (</a:t>
            </a:r>
            <a:r>
              <a:rPr lang="en-US" altLang="zh-CN" i="1" dirty="0">
                <a:latin typeface="Arial" panose="020B0604020202020204" pitchFamily="34" charset="0"/>
              </a:rPr>
              <a:t>S</a:t>
            </a:r>
            <a:r>
              <a:rPr lang="en-US" altLang="zh-CN" dirty="0">
                <a:latin typeface="Arial" panose="020B0604020202020204" pitchFamily="34" charset="0"/>
              </a:rPr>
              <a:t>)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en-US" altLang="zh-CN" i="1" baseline="-30000" dirty="0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 }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140000"/>
              </a:lnSpc>
              <a:buNone/>
            </a:pPr>
            <a:r>
              <a:rPr lang="en-US" altLang="zh-CN" sz="2400" i="1" dirty="0">
                <a:latin typeface="Arial" panose="020B0604020202020204" pitchFamily="34" charset="0"/>
              </a:rPr>
              <a:t>	</a:t>
            </a:r>
            <a:r>
              <a:rPr lang="en-US" altLang="zh-CN" i="1" dirty="0">
                <a:latin typeface="Arial" panose="020B0604020202020204" pitchFamily="34" charset="0"/>
              </a:rPr>
              <a:t>Y</a:t>
            </a:r>
            <a:r>
              <a:rPr lang="en-US" altLang="zh-CN" i="1" baseline="-30000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在</a:t>
            </a:r>
            <a:r>
              <a:rPr lang="en-US" altLang="zh-CN" i="1" dirty="0">
                <a:latin typeface="Arial" panose="020B0604020202020204" pitchFamily="34" charset="0"/>
              </a:rPr>
              <a:t>R</a:t>
            </a:r>
            <a:r>
              <a:rPr lang="zh-CN" altLang="en-US" dirty="0">
                <a:latin typeface="Arial" panose="020B0604020202020204" pitchFamily="34" charset="0"/>
              </a:rPr>
              <a:t>中的象集，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 = </a:t>
            </a:r>
            <a:r>
              <a:rPr lang="en-US" altLang="zh-CN" i="1" dirty="0">
                <a:latin typeface="Arial" panose="020B0604020202020204" pitchFamily="34" charset="0"/>
              </a:rPr>
              <a:t>t</a:t>
            </a:r>
            <a:r>
              <a:rPr lang="en-US" altLang="zh-CN" baseline="-30000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[</a:t>
            </a:r>
            <a:r>
              <a:rPr lang="en-US" altLang="zh-CN" i="1" dirty="0">
                <a:latin typeface="Arial" panose="020B0604020202020204" pitchFamily="34" charset="0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]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除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续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49" name="Text Box 4"/>
          <p:cNvSpPr txBox="1"/>
          <p:nvPr/>
        </p:nvSpPr>
        <p:spPr>
          <a:xfrm>
            <a:off x="3048000" y="1444625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50" name="Text Box 5"/>
          <p:cNvSpPr txBox="1"/>
          <p:nvPr/>
        </p:nvSpPr>
        <p:spPr>
          <a:xfrm>
            <a:off x="5181600" y="1393825"/>
            <a:ext cx="4556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0054" name="Group 6"/>
          <p:cNvGraphicFramePr>
            <a:graphicFrameLocks noGrp="1"/>
          </p:cNvGraphicFramePr>
          <p:nvPr/>
        </p:nvGraphicFramePr>
        <p:xfrm>
          <a:off x="2362200" y="2286000"/>
          <a:ext cx="1828800" cy="31083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077" name="Group 29"/>
          <p:cNvGraphicFramePr>
            <a:graphicFrameLocks noGrp="1"/>
          </p:cNvGraphicFramePr>
          <p:nvPr/>
        </p:nvGraphicFramePr>
        <p:xfrm>
          <a:off x="4419600" y="2286000"/>
          <a:ext cx="1828800" cy="1554163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88" name="Rectangle 43"/>
          <p:cNvSpPr/>
          <p:nvPr/>
        </p:nvSpPr>
        <p:spPr>
          <a:xfrm>
            <a:off x="3505200" y="5638800"/>
            <a:ext cx="5619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Y</a:t>
            </a:r>
            <a:r>
              <a:rPr lang="en-US" altLang="zh-CN" sz="2800" i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x</a:t>
            </a:r>
            <a:endParaRPr lang="en-US" altLang="zh-CN" sz="2800" i="1" baseline="-25000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57389" name="Rectangle 44"/>
          <p:cNvSpPr/>
          <p:nvPr/>
        </p:nvSpPr>
        <p:spPr>
          <a:xfrm>
            <a:off x="4419600" y="4114800"/>
            <a:ext cx="10525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2800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y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)</a:t>
            </a:r>
            <a:endParaRPr lang="en-US" altLang="zh-CN" sz="2800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  <p:sp>
        <p:nvSpPr>
          <p:cNvPr id="57390" name="Rectangle 45"/>
          <p:cNvSpPr/>
          <p:nvPr/>
        </p:nvSpPr>
        <p:spPr>
          <a:xfrm>
            <a:off x="2286000" y="5638800"/>
            <a:ext cx="10699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R 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 S</a:t>
            </a:r>
            <a:endParaRPr lang="en-US" altLang="zh-CN" sz="28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381000" y="838200"/>
            <a:ext cx="8534400" cy="838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Clr>
                <a:schemeClr val="tx1"/>
              </a:buClr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除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</a:rPr>
              <a:t>续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1076" name="Group 4"/>
          <p:cNvGraphicFramePr>
            <a:graphicFrameLocks noGrp="1"/>
          </p:cNvGraphicFramePr>
          <p:nvPr/>
        </p:nvGraphicFramePr>
        <p:xfrm>
          <a:off x="2044700" y="1828800"/>
          <a:ext cx="2428875" cy="3683000"/>
        </p:xfrm>
        <a:graphic>
          <a:graphicData uri="http://schemas.openxmlformats.org/drawingml/2006/table">
            <a:tbl>
              <a:tblPr/>
              <a:tblGrid>
                <a:gridCol w="809625"/>
                <a:gridCol w="809625"/>
                <a:gridCol w="809625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  <a:tr h="463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114" name="Group 42"/>
          <p:cNvGraphicFramePr>
            <a:graphicFrameLocks noGrp="1"/>
          </p:cNvGraphicFramePr>
          <p:nvPr/>
        </p:nvGraphicFramePr>
        <p:xfrm>
          <a:off x="4940300" y="1828800"/>
          <a:ext cx="2298700" cy="1828800"/>
        </p:xfrm>
        <a:graphic>
          <a:graphicData uri="http://schemas.openxmlformats.org/drawingml/2006/table">
            <a:tbl>
              <a:tblPr/>
              <a:tblGrid>
                <a:gridCol w="836613"/>
                <a:gridCol w="730250"/>
                <a:gridCol w="731837"/>
              </a:tblGrid>
              <a:tr h="330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33" name="Rectangle 64"/>
          <p:cNvSpPr/>
          <p:nvPr/>
        </p:nvSpPr>
        <p:spPr>
          <a:xfrm>
            <a:off x="3038475" y="1190625"/>
            <a:ext cx="476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R </a:t>
            </a:r>
            <a:endParaRPr lang="en-US" altLang="zh-CN" sz="28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8434" name="Rectangle 65"/>
          <p:cNvSpPr/>
          <p:nvPr/>
        </p:nvSpPr>
        <p:spPr>
          <a:xfrm>
            <a:off x="5872163" y="1190625"/>
            <a:ext cx="4603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S </a:t>
            </a:r>
            <a:endParaRPr lang="en-US" altLang="zh-CN" sz="28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8435" name="Rectangle 66"/>
          <p:cNvSpPr/>
          <p:nvPr/>
        </p:nvSpPr>
        <p:spPr>
          <a:xfrm>
            <a:off x="4643438" y="4564063"/>
            <a:ext cx="14684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</a:t>
            </a:r>
            <a:r>
              <a:rPr lang="en-US" altLang="zh-CN" sz="28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S =</a:t>
            </a:r>
            <a:endParaRPr lang="en-US" altLang="zh-CN" sz="2800" dirty="0">
              <a:solidFill>
                <a:schemeClr val="tx1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131139" name="Group 67"/>
          <p:cNvGraphicFramePr>
            <a:graphicFrameLocks noGrp="1"/>
          </p:cNvGraphicFramePr>
          <p:nvPr/>
        </p:nvGraphicFramePr>
        <p:xfrm>
          <a:off x="6159500" y="4343400"/>
          <a:ext cx="809625" cy="920750"/>
        </p:xfrm>
        <a:graphic>
          <a:graphicData uri="http://schemas.openxmlformats.org/drawingml/2006/table">
            <a:tbl>
              <a:tblPr/>
              <a:tblGrid>
                <a:gridCol w="809625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44" name="Rectangle 75"/>
          <p:cNvSpPr/>
          <p:nvPr/>
        </p:nvSpPr>
        <p:spPr>
          <a:xfrm>
            <a:off x="1193800" y="5867400"/>
            <a:ext cx="66754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457200" lvl="1" indent="0" eaLnBrk="1" hangingPunct="1">
              <a:spcBef>
                <a:spcPct val="35000"/>
              </a:spcBef>
              <a:buNone/>
            </a:pPr>
            <a:r>
              <a:rPr lang="en-US" altLang="zh-CN" dirty="0"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</a:t>
            </a:r>
            <a:r>
              <a:rPr lang="en-US" altLang="zh-CN" dirty="0">
                <a:latin typeface="Arial" panose="020B0604020202020204" pitchFamily="34" charset="0"/>
              </a:rPr>
              <a:t>S =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(R)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 </a:t>
            </a:r>
            <a:r>
              <a:rPr lang="en-US" altLang="zh-CN" sz="32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Arial" panose="020B0604020202020204" pitchFamily="34" charset="0"/>
              </a:rPr>
              <a:t>(R)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 </a:t>
            </a:r>
            <a:r>
              <a:rPr lang="en-US" altLang="zh-CN" sz="32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en-US" altLang="zh-CN" dirty="0">
                <a:latin typeface="Arial" panose="020B0604020202020204" pitchFamily="34" charset="0"/>
              </a:rPr>
              <a:t>(S) </a:t>
            </a:r>
            <a:r>
              <a:rPr lang="en-US" altLang="zh-CN" dirty="0">
                <a:latin typeface="Arial" panose="020B0604020202020204" pitchFamily="34" charset="0"/>
                <a:sym typeface="Symbol" panose="05050102010706020507" pitchFamily="18" charset="2"/>
              </a:rPr>
              <a:t></a:t>
            </a:r>
            <a:r>
              <a:rPr lang="en-US" altLang="zh-CN" dirty="0">
                <a:latin typeface="Arial" panose="020B0604020202020204" pitchFamily="34" charset="0"/>
              </a:rPr>
              <a:t> R)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graphicFrame>
        <p:nvGraphicFramePr>
          <p:cNvPr id="132099" name="Group 3"/>
          <p:cNvGraphicFramePr>
            <a:graphicFrameLocks noGrp="1"/>
          </p:cNvGraphicFramePr>
          <p:nvPr/>
        </p:nvGraphicFramePr>
        <p:xfrm>
          <a:off x="609600" y="1143000"/>
          <a:ext cx="2362200" cy="3203575"/>
        </p:xfrm>
        <a:graphic>
          <a:graphicData uri="http://schemas.openxmlformats.org/drawingml/2006/table">
            <a:tbl>
              <a:tblPr/>
              <a:tblGrid>
                <a:gridCol w="609600"/>
                <a:gridCol w="571500"/>
                <a:gridCol w="590550"/>
                <a:gridCol w="59055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141" name="Group 45"/>
          <p:cNvGraphicFramePr>
            <a:graphicFrameLocks noGrp="1"/>
          </p:cNvGraphicFramePr>
          <p:nvPr/>
        </p:nvGraphicFramePr>
        <p:xfrm>
          <a:off x="3429000" y="1222375"/>
          <a:ext cx="838200" cy="1189038"/>
        </p:xfrm>
        <a:graphic>
          <a:graphicData uri="http://schemas.openxmlformats.org/drawingml/2006/table">
            <a:tbl>
              <a:tblPr/>
              <a:tblGrid>
                <a:gridCol w="419100"/>
                <a:gridCol w="419100"/>
              </a:tblGrid>
              <a:tr h="39634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4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39634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2155" name="Group 59"/>
          <p:cNvGraphicFramePr>
            <a:graphicFrameLocks noGrp="1"/>
          </p:cNvGraphicFramePr>
          <p:nvPr/>
        </p:nvGraphicFramePr>
        <p:xfrm>
          <a:off x="7734300" y="4648200"/>
          <a:ext cx="1104900" cy="1549400"/>
        </p:xfrm>
        <a:graphic>
          <a:graphicData uri="http://schemas.openxmlformats.org/drawingml/2006/table">
            <a:tbl>
              <a:tblPr/>
              <a:tblGrid>
                <a:gridCol w="552450"/>
                <a:gridCol w="552450"/>
              </a:tblGrid>
              <a:tr h="533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2169" name="Group 73"/>
          <p:cNvGraphicFramePr>
            <a:graphicFrameLocks noGrp="1"/>
          </p:cNvGraphicFramePr>
          <p:nvPr/>
        </p:nvGraphicFramePr>
        <p:xfrm>
          <a:off x="4749800" y="1143000"/>
          <a:ext cx="1181100" cy="1819275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2186" name="Group 90"/>
          <p:cNvGraphicFramePr>
            <a:graphicFrameLocks noGrp="1"/>
          </p:cNvGraphicFramePr>
          <p:nvPr/>
        </p:nvGraphicFramePr>
        <p:xfrm>
          <a:off x="6477000" y="1143000"/>
          <a:ext cx="2362200" cy="3209925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  <a:gridCol w="59055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4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525" name="Rectangle 132"/>
          <p:cNvSpPr/>
          <p:nvPr/>
        </p:nvSpPr>
        <p:spPr>
          <a:xfrm>
            <a:off x="1568450" y="612775"/>
            <a:ext cx="4572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R</a:t>
            </a: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endParaRPr lang="en-US" altLang="zh-CN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9526" name="Rectangle 133"/>
          <p:cNvSpPr/>
          <p:nvPr/>
        </p:nvSpPr>
        <p:spPr>
          <a:xfrm>
            <a:off x="4683125" y="715963"/>
            <a:ext cx="1317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AB 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(R)</a:t>
            </a:r>
            <a:endParaRPr lang="en-US" altLang="zh-CN" sz="2400" dirty="0">
              <a:solidFill>
                <a:schemeClr val="tx1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sp>
        <p:nvSpPr>
          <p:cNvPr id="59527" name="Rectangle 134"/>
          <p:cNvSpPr/>
          <p:nvPr/>
        </p:nvSpPr>
        <p:spPr>
          <a:xfrm>
            <a:off x="3663950" y="609600"/>
            <a:ext cx="44291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S</a:t>
            </a: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endParaRPr lang="en-US" altLang="zh-CN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9528" name="Rectangle 135"/>
          <p:cNvSpPr/>
          <p:nvPr/>
        </p:nvSpPr>
        <p:spPr>
          <a:xfrm>
            <a:off x="6259513" y="685800"/>
            <a:ext cx="2828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AB 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(R) 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 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CD 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(S) </a:t>
            </a:r>
            <a:endParaRPr lang="en-US" altLang="zh-CN" sz="2400" dirty="0">
              <a:solidFill>
                <a:schemeClr val="tx1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sp>
        <p:nvSpPr>
          <p:cNvPr id="59529" name="Rectangle 136"/>
          <p:cNvSpPr/>
          <p:nvPr/>
        </p:nvSpPr>
        <p:spPr>
          <a:xfrm>
            <a:off x="182563" y="4724400"/>
            <a:ext cx="3181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AB 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(R) </a:t>
            </a:r>
            <a:r>
              <a:rPr lang="en-US" altLang="zh-CN" sz="20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 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CD 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(S)-R </a:t>
            </a:r>
            <a:endParaRPr lang="en-US" altLang="zh-CN" sz="2400" dirty="0">
              <a:solidFill>
                <a:schemeClr val="tx1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132233" name="Group 137"/>
          <p:cNvGraphicFramePr>
            <a:graphicFrameLocks noGrp="1"/>
          </p:cNvGraphicFramePr>
          <p:nvPr/>
        </p:nvGraphicFramePr>
        <p:xfrm>
          <a:off x="609600" y="5257800"/>
          <a:ext cx="2362200" cy="92075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  <a:gridCol w="590550"/>
                <a:gridCol w="59055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547" name="Rectangle 154"/>
          <p:cNvSpPr/>
          <p:nvPr/>
        </p:nvSpPr>
        <p:spPr>
          <a:xfrm>
            <a:off x="3489325" y="5105400"/>
            <a:ext cx="12493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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S=</a:t>
            </a:r>
            <a:endParaRPr lang="en-US" altLang="zh-CN" sz="2400" dirty="0">
              <a:solidFill>
                <a:schemeClr val="tx1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132251" name="Group 155"/>
          <p:cNvGraphicFramePr>
            <a:graphicFrameLocks noGrp="1"/>
          </p:cNvGraphicFramePr>
          <p:nvPr/>
        </p:nvGraphicFramePr>
        <p:xfrm>
          <a:off x="6229350" y="5022850"/>
          <a:ext cx="1181100" cy="920750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559" name="Rectangle 166"/>
          <p:cNvSpPr/>
          <p:nvPr/>
        </p:nvSpPr>
        <p:spPr>
          <a:xfrm>
            <a:off x="5876925" y="5222875"/>
            <a:ext cx="3159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-</a:t>
            </a:r>
            <a:endParaRPr lang="en-US" altLang="zh-CN" sz="2400" dirty="0">
              <a:solidFill>
                <a:schemeClr val="tx1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sp>
        <p:nvSpPr>
          <p:cNvPr id="59560" name="Rectangle 167"/>
          <p:cNvSpPr/>
          <p:nvPr/>
        </p:nvSpPr>
        <p:spPr>
          <a:xfrm>
            <a:off x="7386638" y="5249863"/>
            <a:ext cx="4333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=</a:t>
            </a:r>
            <a:endParaRPr lang="en-US" altLang="zh-CN" sz="2400" dirty="0">
              <a:solidFill>
                <a:schemeClr val="tx1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  <p:graphicFrame>
        <p:nvGraphicFramePr>
          <p:cNvPr id="132264" name="Group 168"/>
          <p:cNvGraphicFramePr>
            <a:graphicFrameLocks noGrp="1"/>
          </p:cNvGraphicFramePr>
          <p:nvPr/>
        </p:nvGraphicFramePr>
        <p:xfrm>
          <a:off x="4686300" y="4581525"/>
          <a:ext cx="1181100" cy="1819275"/>
        </p:xfrm>
        <a:graphic>
          <a:graphicData uri="http://schemas.openxmlformats.org/drawingml/2006/table">
            <a:tbl>
              <a:tblPr/>
              <a:tblGrid>
                <a:gridCol w="590550"/>
                <a:gridCol w="59055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graphicFrame>
        <p:nvGraphicFramePr>
          <p:cNvPr id="133167" name="Group 47"/>
          <p:cNvGraphicFramePr>
            <a:graphicFrameLocks noGrp="1"/>
          </p:cNvGraphicFramePr>
          <p:nvPr/>
        </p:nvGraphicFramePr>
        <p:xfrm>
          <a:off x="457200" y="1557338"/>
          <a:ext cx="2997200" cy="2073275"/>
        </p:xfrm>
        <a:graphic>
          <a:graphicData uri="http://schemas.openxmlformats.org/drawingml/2006/table">
            <a:tbl>
              <a:tblPr/>
              <a:tblGrid>
                <a:gridCol w="1066800"/>
                <a:gridCol w="965200"/>
                <a:gridCol w="965200"/>
              </a:tblGrid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张军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物理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王红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5183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张军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</a:tbl>
          </a:graphicData>
        </a:graphic>
      </p:graphicFrame>
      <p:grpSp>
        <p:nvGrpSpPr>
          <p:cNvPr id="60442" name="Group 25"/>
          <p:cNvGrpSpPr/>
          <p:nvPr/>
        </p:nvGrpSpPr>
        <p:grpSpPr>
          <a:xfrm>
            <a:off x="4495800" y="1905000"/>
            <a:ext cx="1676400" cy="1346200"/>
            <a:chOff x="2688" y="3376"/>
            <a:chExt cx="480" cy="848"/>
          </a:xfrm>
        </p:grpSpPr>
        <p:sp>
          <p:nvSpPr>
            <p:cNvPr id="60454" name="Rectangle 26"/>
            <p:cNvSpPr/>
            <p:nvPr/>
          </p:nvSpPr>
          <p:spPr>
            <a:xfrm>
              <a:off x="2688" y="3941"/>
              <a:ext cx="480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物理</a:t>
              </a:r>
              <a:endPara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455" name="Rectangle 27"/>
            <p:cNvSpPr/>
            <p:nvPr/>
          </p:nvSpPr>
          <p:spPr>
            <a:xfrm>
              <a:off x="2688" y="3659"/>
              <a:ext cx="480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数学</a:t>
              </a:r>
              <a:endPara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456" name="Rectangle 28"/>
            <p:cNvSpPr/>
            <p:nvPr/>
          </p:nvSpPr>
          <p:spPr>
            <a:xfrm>
              <a:off x="2688" y="3376"/>
              <a:ext cx="480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课程</a:t>
              </a:r>
              <a:endPara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457" name="Line 29"/>
            <p:cNvSpPr/>
            <p:nvPr/>
          </p:nvSpPr>
          <p:spPr>
            <a:xfrm>
              <a:off x="2688" y="3376"/>
              <a:ext cx="4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8" name="Line 30"/>
            <p:cNvSpPr/>
            <p:nvPr/>
          </p:nvSpPr>
          <p:spPr>
            <a:xfrm>
              <a:off x="2688" y="3659"/>
              <a:ext cx="4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9" name="Line 31"/>
            <p:cNvSpPr/>
            <p:nvPr/>
          </p:nvSpPr>
          <p:spPr>
            <a:xfrm>
              <a:off x="2688" y="3941"/>
              <a:ext cx="4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0" name="Line 32"/>
            <p:cNvSpPr/>
            <p:nvPr/>
          </p:nvSpPr>
          <p:spPr>
            <a:xfrm>
              <a:off x="2688" y="4224"/>
              <a:ext cx="4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1" name="Line 33"/>
            <p:cNvSpPr/>
            <p:nvPr/>
          </p:nvSpPr>
          <p:spPr>
            <a:xfrm>
              <a:off x="2688" y="3376"/>
              <a:ext cx="0" cy="84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2" name="Line 34"/>
            <p:cNvSpPr/>
            <p:nvPr/>
          </p:nvSpPr>
          <p:spPr>
            <a:xfrm>
              <a:off x="3168" y="3376"/>
              <a:ext cx="0" cy="84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0443" name="Group 35"/>
          <p:cNvGrpSpPr/>
          <p:nvPr/>
        </p:nvGrpSpPr>
        <p:grpSpPr>
          <a:xfrm>
            <a:off x="7162800" y="1828800"/>
            <a:ext cx="1524000" cy="1231900"/>
            <a:chOff x="4512" y="1152"/>
            <a:chExt cx="960" cy="776"/>
          </a:xfrm>
        </p:grpSpPr>
        <p:sp>
          <p:nvSpPr>
            <p:cNvPr id="60446" name="Rectangle 36"/>
            <p:cNvSpPr/>
            <p:nvPr/>
          </p:nvSpPr>
          <p:spPr>
            <a:xfrm>
              <a:off x="4512" y="1533"/>
              <a:ext cx="960" cy="39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tx1"/>
                  </a:solidFill>
                  <a:latin typeface="宋体" panose="02010600030101010101" pitchFamily="2" charset="-122"/>
                </a:rPr>
                <a:t>张军</a:t>
              </a:r>
              <a:endPara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447" name="Rectangle 37"/>
            <p:cNvSpPr/>
            <p:nvPr/>
          </p:nvSpPr>
          <p:spPr>
            <a:xfrm>
              <a:off x="4512" y="1152"/>
              <a:ext cx="960" cy="38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姓名</a:t>
              </a:r>
              <a:endPara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448" name="Line 38"/>
            <p:cNvSpPr/>
            <p:nvPr/>
          </p:nvSpPr>
          <p:spPr>
            <a:xfrm>
              <a:off x="4512" y="1152"/>
              <a:ext cx="9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49" name="Line 39"/>
            <p:cNvSpPr/>
            <p:nvPr/>
          </p:nvSpPr>
          <p:spPr>
            <a:xfrm>
              <a:off x="4512" y="1533"/>
              <a:ext cx="9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0" name="Line 40"/>
            <p:cNvSpPr/>
            <p:nvPr/>
          </p:nvSpPr>
          <p:spPr>
            <a:xfrm>
              <a:off x="4512" y="1923"/>
              <a:ext cx="96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1" name="Line 41"/>
            <p:cNvSpPr/>
            <p:nvPr/>
          </p:nvSpPr>
          <p:spPr>
            <a:xfrm>
              <a:off x="4512" y="1928"/>
              <a:ext cx="96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2" name="Line 42"/>
            <p:cNvSpPr/>
            <p:nvPr/>
          </p:nvSpPr>
          <p:spPr>
            <a:xfrm>
              <a:off x="4512" y="1152"/>
              <a:ext cx="0" cy="76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53" name="Line 43"/>
            <p:cNvSpPr/>
            <p:nvPr/>
          </p:nvSpPr>
          <p:spPr>
            <a:xfrm>
              <a:off x="5472" y="1152"/>
              <a:ext cx="0" cy="76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0444" name="Rectangle 44"/>
          <p:cNvSpPr/>
          <p:nvPr/>
        </p:nvSpPr>
        <p:spPr>
          <a:xfrm>
            <a:off x="3657600" y="2209800"/>
            <a:ext cx="490538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4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</a:t>
            </a:r>
            <a:endParaRPr lang="en-US" altLang="zh-CN" sz="44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0445" name="Rectangle 45"/>
          <p:cNvSpPr/>
          <p:nvPr/>
        </p:nvSpPr>
        <p:spPr>
          <a:xfrm>
            <a:off x="6324600" y="2217738"/>
            <a:ext cx="511175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4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=</a:t>
            </a:r>
            <a:endParaRPr lang="en-US" altLang="zh-CN" sz="44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2.4.3  </a:t>
            </a:r>
            <a:r>
              <a:rPr lang="zh-CN" altLang="en-US" u="sng" dirty="0"/>
              <a:t>专门的关系运算</a:t>
            </a:r>
            <a:endParaRPr lang="zh-CN" altLang="en-US" u="sng" dirty="0"/>
          </a:p>
        </p:txBody>
      </p:sp>
      <p:sp>
        <p:nvSpPr>
          <p:cNvPr id="61444" name="Text Box 3"/>
          <p:cNvSpPr txBox="1"/>
          <p:nvPr/>
        </p:nvSpPr>
        <p:spPr>
          <a:xfrm>
            <a:off x="1600200" y="1660525"/>
            <a:ext cx="3810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en-US" altLang="zh-CN" sz="4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</a:t>
            </a:r>
            <a:endParaRPr lang="en-US" altLang="zh-CN" sz="4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61445" name="Group 4"/>
          <p:cNvGrpSpPr/>
          <p:nvPr/>
        </p:nvGrpSpPr>
        <p:grpSpPr>
          <a:xfrm>
            <a:off x="685800" y="1371600"/>
            <a:ext cx="762000" cy="1346200"/>
            <a:chOff x="2688" y="3376"/>
            <a:chExt cx="480" cy="848"/>
          </a:xfrm>
        </p:grpSpPr>
        <p:sp>
          <p:nvSpPr>
            <p:cNvPr id="61532" name="Rectangle 5"/>
            <p:cNvSpPr/>
            <p:nvPr/>
          </p:nvSpPr>
          <p:spPr>
            <a:xfrm>
              <a:off x="2688" y="3941"/>
              <a:ext cx="480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物理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33" name="Rectangle 6"/>
            <p:cNvSpPr/>
            <p:nvPr/>
          </p:nvSpPr>
          <p:spPr>
            <a:xfrm>
              <a:off x="2688" y="3659"/>
              <a:ext cx="480" cy="28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数学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34" name="Rectangle 7"/>
            <p:cNvSpPr/>
            <p:nvPr/>
          </p:nvSpPr>
          <p:spPr>
            <a:xfrm>
              <a:off x="2688" y="3376"/>
              <a:ext cx="480" cy="28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课程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35" name="Line 8"/>
            <p:cNvSpPr/>
            <p:nvPr/>
          </p:nvSpPr>
          <p:spPr>
            <a:xfrm>
              <a:off x="2688" y="3376"/>
              <a:ext cx="4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36" name="Line 9"/>
            <p:cNvSpPr/>
            <p:nvPr/>
          </p:nvSpPr>
          <p:spPr>
            <a:xfrm>
              <a:off x="2688" y="3659"/>
              <a:ext cx="4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37" name="Line 10"/>
            <p:cNvSpPr/>
            <p:nvPr/>
          </p:nvSpPr>
          <p:spPr>
            <a:xfrm>
              <a:off x="2688" y="3941"/>
              <a:ext cx="4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38" name="Line 11"/>
            <p:cNvSpPr/>
            <p:nvPr/>
          </p:nvSpPr>
          <p:spPr>
            <a:xfrm>
              <a:off x="2688" y="4224"/>
              <a:ext cx="4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39" name="Line 12"/>
            <p:cNvSpPr/>
            <p:nvPr/>
          </p:nvSpPr>
          <p:spPr>
            <a:xfrm>
              <a:off x="2688" y="3376"/>
              <a:ext cx="0" cy="84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40" name="Line 13"/>
            <p:cNvSpPr/>
            <p:nvPr/>
          </p:nvSpPr>
          <p:spPr>
            <a:xfrm>
              <a:off x="3168" y="3376"/>
              <a:ext cx="0" cy="84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446" name="Text Box 14"/>
          <p:cNvSpPr txBox="1"/>
          <p:nvPr/>
        </p:nvSpPr>
        <p:spPr>
          <a:xfrm>
            <a:off x="3429000" y="1676400"/>
            <a:ext cx="6096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50000"/>
              </a:spcBef>
              <a:buClrTx/>
              <a:buFontTx/>
              <a:buNone/>
            </a:pPr>
            <a:r>
              <a:rPr lang="zh-CN" altLang="en-US" sz="4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＝</a:t>
            </a:r>
            <a:endParaRPr lang="zh-CN" altLang="en-US" sz="4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61447" name="Group 15"/>
          <p:cNvGrpSpPr/>
          <p:nvPr/>
        </p:nvGrpSpPr>
        <p:grpSpPr>
          <a:xfrm>
            <a:off x="4191000" y="1066800"/>
            <a:ext cx="2032000" cy="1976438"/>
            <a:chOff x="624" y="960"/>
            <a:chExt cx="1280" cy="1245"/>
          </a:xfrm>
        </p:grpSpPr>
        <p:sp>
          <p:nvSpPr>
            <p:cNvPr id="61513" name="Rectangle 16"/>
            <p:cNvSpPr/>
            <p:nvPr/>
          </p:nvSpPr>
          <p:spPr>
            <a:xfrm>
              <a:off x="1296" y="1956"/>
              <a:ext cx="6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物理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14" name="Rectangle 17"/>
            <p:cNvSpPr/>
            <p:nvPr/>
          </p:nvSpPr>
          <p:spPr>
            <a:xfrm>
              <a:off x="624" y="1956"/>
              <a:ext cx="67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王红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15" name="Rectangle 18"/>
            <p:cNvSpPr/>
            <p:nvPr/>
          </p:nvSpPr>
          <p:spPr>
            <a:xfrm>
              <a:off x="1296" y="1707"/>
              <a:ext cx="6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数学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16" name="Rectangle 19"/>
            <p:cNvSpPr/>
            <p:nvPr/>
          </p:nvSpPr>
          <p:spPr>
            <a:xfrm>
              <a:off x="624" y="1707"/>
              <a:ext cx="67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张军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17" name="Rectangle 20"/>
            <p:cNvSpPr/>
            <p:nvPr/>
          </p:nvSpPr>
          <p:spPr>
            <a:xfrm>
              <a:off x="1296" y="1458"/>
              <a:ext cx="6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数学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18" name="Rectangle 21"/>
            <p:cNvSpPr/>
            <p:nvPr/>
          </p:nvSpPr>
          <p:spPr>
            <a:xfrm>
              <a:off x="624" y="1458"/>
              <a:ext cx="67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王红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19" name="Rectangle 22"/>
            <p:cNvSpPr/>
            <p:nvPr/>
          </p:nvSpPr>
          <p:spPr>
            <a:xfrm>
              <a:off x="1296" y="1209"/>
              <a:ext cx="6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物理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20" name="Rectangle 23"/>
            <p:cNvSpPr/>
            <p:nvPr/>
          </p:nvSpPr>
          <p:spPr>
            <a:xfrm>
              <a:off x="624" y="1209"/>
              <a:ext cx="67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张军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21" name="Rectangle 24"/>
            <p:cNvSpPr/>
            <p:nvPr/>
          </p:nvSpPr>
          <p:spPr>
            <a:xfrm>
              <a:off x="1296" y="960"/>
              <a:ext cx="608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课程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22" name="Rectangle 25"/>
            <p:cNvSpPr/>
            <p:nvPr/>
          </p:nvSpPr>
          <p:spPr>
            <a:xfrm>
              <a:off x="624" y="960"/>
              <a:ext cx="67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姓名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23" name="Line 26"/>
            <p:cNvSpPr/>
            <p:nvPr/>
          </p:nvSpPr>
          <p:spPr>
            <a:xfrm>
              <a:off x="624" y="960"/>
              <a:ext cx="12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24" name="Line 27"/>
            <p:cNvSpPr/>
            <p:nvPr/>
          </p:nvSpPr>
          <p:spPr>
            <a:xfrm>
              <a:off x="624" y="1209"/>
              <a:ext cx="12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25" name="Line 28"/>
            <p:cNvSpPr/>
            <p:nvPr/>
          </p:nvSpPr>
          <p:spPr>
            <a:xfrm>
              <a:off x="624" y="1458"/>
              <a:ext cx="12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26" name="Line 29"/>
            <p:cNvSpPr/>
            <p:nvPr/>
          </p:nvSpPr>
          <p:spPr>
            <a:xfrm>
              <a:off x="624" y="1707"/>
              <a:ext cx="12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27" name="Line 30"/>
            <p:cNvSpPr/>
            <p:nvPr/>
          </p:nvSpPr>
          <p:spPr>
            <a:xfrm>
              <a:off x="624" y="2205"/>
              <a:ext cx="128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28" name="Line 31"/>
            <p:cNvSpPr/>
            <p:nvPr/>
          </p:nvSpPr>
          <p:spPr>
            <a:xfrm>
              <a:off x="624" y="960"/>
              <a:ext cx="0" cy="124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29" name="Line 32"/>
            <p:cNvSpPr/>
            <p:nvPr/>
          </p:nvSpPr>
          <p:spPr>
            <a:xfrm>
              <a:off x="1296" y="960"/>
              <a:ext cx="0" cy="12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30" name="Line 33"/>
            <p:cNvSpPr/>
            <p:nvPr/>
          </p:nvSpPr>
          <p:spPr>
            <a:xfrm>
              <a:off x="1904" y="960"/>
              <a:ext cx="0" cy="1245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31" name="Line 34"/>
            <p:cNvSpPr/>
            <p:nvPr/>
          </p:nvSpPr>
          <p:spPr>
            <a:xfrm>
              <a:off x="624" y="1956"/>
              <a:ext cx="128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448" name="Group 35"/>
          <p:cNvGrpSpPr/>
          <p:nvPr/>
        </p:nvGrpSpPr>
        <p:grpSpPr>
          <a:xfrm>
            <a:off x="2209800" y="1481138"/>
            <a:ext cx="1066800" cy="1195387"/>
            <a:chOff x="3376" y="1368"/>
            <a:chExt cx="672" cy="753"/>
          </a:xfrm>
        </p:grpSpPr>
        <p:sp>
          <p:nvSpPr>
            <p:cNvPr id="61504" name="Rectangle 36"/>
            <p:cNvSpPr/>
            <p:nvPr/>
          </p:nvSpPr>
          <p:spPr>
            <a:xfrm>
              <a:off x="3376" y="1872"/>
              <a:ext cx="67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王红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05" name="Rectangle 37"/>
            <p:cNvSpPr/>
            <p:nvPr/>
          </p:nvSpPr>
          <p:spPr>
            <a:xfrm>
              <a:off x="3376" y="1617"/>
              <a:ext cx="672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张军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06" name="Rectangle 38"/>
            <p:cNvSpPr/>
            <p:nvPr/>
          </p:nvSpPr>
          <p:spPr>
            <a:xfrm>
              <a:off x="3376" y="1368"/>
              <a:ext cx="67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姓名</a:t>
              </a:r>
              <a:endParaRPr lang="zh-CN" altLang="en-US" sz="2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507" name="Line 39"/>
            <p:cNvSpPr/>
            <p:nvPr/>
          </p:nvSpPr>
          <p:spPr>
            <a:xfrm>
              <a:off x="3376" y="1368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08" name="Line 40"/>
            <p:cNvSpPr/>
            <p:nvPr/>
          </p:nvSpPr>
          <p:spPr>
            <a:xfrm>
              <a:off x="3376" y="1617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09" name="Line 41"/>
            <p:cNvSpPr/>
            <p:nvPr/>
          </p:nvSpPr>
          <p:spPr>
            <a:xfrm>
              <a:off x="3376" y="1872"/>
              <a:ext cx="6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10" name="Line 42"/>
            <p:cNvSpPr/>
            <p:nvPr/>
          </p:nvSpPr>
          <p:spPr>
            <a:xfrm>
              <a:off x="3376" y="2121"/>
              <a:ext cx="672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11" name="Line 43"/>
            <p:cNvSpPr/>
            <p:nvPr/>
          </p:nvSpPr>
          <p:spPr>
            <a:xfrm>
              <a:off x="3376" y="1368"/>
              <a:ext cx="0" cy="753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512" name="Line 44"/>
            <p:cNvSpPr/>
            <p:nvPr/>
          </p:nvSpPr>
          <p:spPr>
            <a:xfrm>
              <a:off x="4048" y="1368"/>
              <a:ext cx="0" cy="753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449" name="AutoShape 45"/>
          <p:cNvSpPr/>
          <p:nvPr/>
        </p:nvSpPr>
        <p:spPr>
          <a:xfrm>
            <a:off x="6934200" y="2438400"/>
            <a:ext cx="1905000" cy="762000"/>
          </a:xfrm>
          <a:prstGeom prst="wedgeRoundRectCallout">
            <a:avLst>
              <a:gd name="adj1" fmla="val -78333"/>
              <a:gd name="adj2" fmla="val 14479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60000"/>
              </a:spcBef>
              <a:buClrTx/>
              <a:buFontTx/>
              <a:buNone/>
            </a:pPr>
            <a:r>
              <a:rPr lang="zh-CN" altLang="en-US" baseline="-2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没有选修全部课程的学生</a:t>
            </a:r>
            <a:endParaRPr lang="zh-CN" altLang="en-US" baseline="-20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1450" name="AutoShape 46"/>
          <p:cNvSpPr/>
          <p:nvPr/>
        </p:nvSpPr>
        <p:spPr>
          <a:xfrm>
            <a:off x="7086600" y="914400"/>
            <a:ext cx="1676400" cy="838200"/>
          </a:xfrm>
          <a:prstGeom prst="wedgeRoundRectCallout">
            <a:avLst>
              <a:gd name="adj1" fmla="val -98676"/>
              <a:gd name="adj2" fmla="val 89394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60000"/>
              </a:spcBef>
              <a:buClrTx/>
              <a:buFontTx/>
              <a:buNone/>
            </a:pPr>
            <a:r>
              <a:rPr lang="zh-CN" altLang="en-US" baseline="-2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所有学生选修全部课程</a:t>
            </a:r>
            <a:endParaRPr lang="zh-CN" altLang="en-US" baseline="-20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1451" name="Group 47"/>
          <p:cNvGrpSpPr/>
          <p:nvPr/>
        </p:nvGrpSpPr>
        <p:grpSpPr>
          <a:xfrm>
            <a:off x="381000" y="2971800"/>
            <a:ext cx="6324600" cy="1976438"/>
            <a:chOff x="288" y="2256"/>
            <a:chExt cx="3984" cy="1245"/>
          </a:xfrm>
        </p:grpSpPr>
        <p:sp>
          <p:nvSpPr>
            <p:cNvPr id="61463" name="Text Box 48"/>
            <p:cNvSpPr txBox="1"/>
            <p:nvPr/>
          </p:nvSpPr>
          <p:spPr>
            <a:xfrm>
              <a:off x="1632" y="2691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64" name="Text Box 49"/>
            <p:cNvSpPr txBox="1"/>
            <p:nvPr/>
          </p:nvSpPr>
          <p:spPr>
            <a:xfrm>
              <a:off x="3264" y="2681"/>
              <a:ext cx="384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4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＝</a:t>
              </a:r>
              <a:endParaRPr lang="zh-CN" altLang="en-US" sz="4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grpSp>
          <p:nvGrpSpPr>
            <p:cNvPr id="61465" name="Group 50"/>
            <p:cNvGrpSpPr/>
            <p:nvPr/>
          </p:nvGrpSpPr>
          <p:grpSpPr>
            <a:xfrm>
              <a:off x="1968" y="2412"/>
              <a:ext cx="1280" cy="996"/>
              <a:chOff x="576" y="2979"/>
              <a:chExt cx="1280" cy="996"/>
            </a:xfrm>
          </p:grpSpPr>
          <p:sp>
            <p:nvSpPr>
              <p:cNvPr id="61488" name="Rectangle 51"/>
              <p:cNvSpPr/>
              <p:nvPr/>
            </p:nvSpPr>
            <p:spPr>
              <a:xfrm>
                <a:off x="1248" y="3726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数学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89" name="Rectangle 52"/>
              <p:cNvSpPr/>
              <p:nvPr/>
            </p:nvSpPr>
            <p:spPr>
              <a:xfrm>
                <a:off x="576" y="3726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张军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90" name="Rectangle 53"/>
              <p:cNvSpPr/>
              <p:nvPr/>
            </p:nvSpPr>
            <p:spPr>
              <a:xfrm>
                <a:off x="1248" y="3477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数学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91" name="Rectangle 54"/>
              <p:cNvSpPr/>
              <p:nvPr/>
            </p:nvSpPr>
            <p:spPr>
              <a:xfrm>
                <a:off x="576" y="3477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王红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92" name="Rectangle 55"/>
              <p:cNvSpPr/>
              <p:nvPr/>
            </p:nvSpPr>
            <p:spPr>
              <a:xfrm>
                <a:off x="1248" y="3228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物理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93" name="Rectangle 56"/>
              <p:cNvSpPr/>
              <p:nvPr/>
            </p:nvSpPr>
            <p:spPr>
              <a:xfrm>
                <a:off x="576" y="3228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张军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94" name="Rectangle 57"/>
              <p:cNvSpPr/>
              <p:nvPr/>
            </p:nvSpPr>
            <p:spPr>
              <a:xfrm>
                <a:off x="1248" y="2979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课程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95" name="Rectangle 58"/>
              <p:cNvSpPr/>
              <p:nvPr/>
            </p:nvSpPr>
            <p:spPr>
              <a:xfrm>
                <a:off x="576" y="2979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姓名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96" name="Line 59"/>
              <p:cNvSpPr/>
              <p:nvPr/>
            </p:nvSpPr>
            <p:spPr>
              <a:xfrm>
                <a:off x="576" y="2979"/>
                <a:ext cx="12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97" name="Line 60"/>
              <p:cNvSpPr/>
              <p:nvPr/>
            </p:nvSpPr>
            <p:spPr>
              <a:xfrm>
                <a:off x="576" y="3228"/>
                <a:ext cx="12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98" name="Line 61"/>
              <p:cNvSpPr/>
              <p:nvPr/>
            </p:nvSpPr>
            <p:spPr>
              <a:xfrm>
                <a:off x="576" y="3477"/>
                <a:ext cx="12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99" name="Line 62"/>
              <p:cNvSpPr/>
              <p:nvPr/>
            </p:nvSpPr>
            <p:spPr>
              <a:xfrm>
                <a:off x="576" y="3726"/>
                <a:ext cx="12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00" name="Line 63"/>
              <p:cNvSpPr/>
              <p:nvPr/>
            </p:nvSpPr>
            <p:spPr>
              <a:xfrm>
                <a:off x="576" y="3975"/>
                <a:ext cx="12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01" name="Line 64"/>
              <p:cNvSpPr/>
              <p:nvPr/>
            </p:nvSpPr>
            <p:spPr>
              <a:xfrm>
                <a:off x="576" y="2979"/>
                <a:ext cx="0" cy="9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02" name="Line 65"/>
              <p:cNvSpPr/>
              <p:nvPr/>
            </p:nvSpPr>
            <p:spPr>
              <a:xfrm>
                <a:off x="1248" y="2979"/>
                <a:ext cx="0" cy="99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03" name="Line 66"/>
              <p:cNvSpPr/>
              <p:nvPr/>
            </p:nvSpPr>
            <p:spPr>
              <a:xfrm>
                <a:off x="1856" y="2979"/>
                <a:ext cx="0" cy="996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1466" name="Group 67"/>
            <p:cNvGrpSpPr/>
            <p:nvPr/>
          </p:nvGrpSpPr>
          <p:grpSpPr>
            <a:xfrm>
              <a:off x="288" y="2256"/>
              <a:ext cx="1280" cy="1245"/>
              <a:chOff x="624" y="960"/>
              <a:chExt cx="1280" cy="1245"/>
            </a:xfrm>
          </p:grpSpPr>
          <p:sp>
            <p:nvSpPr>
              <p:cNvPr id="61469" name="Rectangle 68"/>
              <p:cNvSpPr/>
              <p:nvPr/>
            </p:nvSpPr>
            <p:spPr>
              <a:xfrm>
                <a:off x="1296" y="1956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物理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0" name="Rectangle 69"/>
              <p:cNvSpPr/>
              <p:nvPr/>
            </p:nvSpPr>
            <p:spPr>
              <a:xfrm>
                <a:off x="624" y="1956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王红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1" name="Rectangle 70"/>
              <p:cNvSpPr/>
              <p:nvPr/>
            </p:nvSpPr>
            <p:spPr>
              <a:xfrm>
                <a:off x="1296" y="1707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数学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2" name="Rectangle 71"/>
              <p:cNvSpPr/>
              <p:nvPr/>
            </p:nvSpPr>
            <p:spPr>
              <a:xfrm>
                <a:off x="624" y="1707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张军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3" name="Rectangle 72"/>
              <p:cNvSpPr/>
              <p:nvPr/>
            </p:nvSpPr>
            <p:spPr>
              <a:xfrm>
                <a:off x="1296" y="1458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数学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4" name="Rectangle 73"/>
              <p:cNvSpPr/>
              <p:nvPr/>
            </p:nvSpPr>
            <p:spPr>
              <a:xfrm>
                <a:off x="624" y="1458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王红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5" name="Rectangle 74"/>
              <p:cNvSpPr/>
              <p:nvPr/>
            </p:nvSpPr>
            <p:spPr>
              <a:xfrm>
                <a:off x="1296" y="1209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物理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6" name="Rectangle 75"/>
              <p:cNvSpPr/>
              <p:nvPr/>
            </p:nvSpPr>
            <p:spPr>
              <a:xfrm>
                <a:off x="624" y="1209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张军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7" name="Rectangle 76"/>
              <p:cNvSpPr/>
              <p:nvPr/>
            </p:nvSpPr>
            <p:spPr>
              <a:xfrm>
                <a:off x="1296" y="960"/>
                <a:ext cx="608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课程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8" name="Rectangle 77"/>
              <p:cNvSpPr/>
              <p:nvPr/>
            </p:nvSpPr>
            <p:spPr>
              <a:xfrm>
                <a:off x="624" y="960"/>
                <a:ext cx="67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anose="05000000000000000000" pitchFamily="2" charset="2"/>
                  <a:buChar char="§"/>
                  <a:defRPr kumimoji="1" sz="3200">
                    <a:solidFill>
                      <a:srgbClr val="FF33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kumimoji="1"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Char char="•"/>
                  <a:defRPr kumimoji="1"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§"/>
                  <a:defRPr kumimoji="1" sz="2000" b="1">
                    <a:solidFill>
                      <a:schemeClr val="tx1"/>
                    </a:solidFill>
                    <a:latin typeface="+mn-lt"/>
                    <a:ea typeface="仿宋_GB2312" pitchFamily="49" charset="-122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姓名</a:t>
                </a:r>
                <a:endPara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61479" name="Line 78"/>
              <p:cNvSpPr/>
              <p:nvPr/>
            </p:nvSpPr>
            <p:spPr>
              <a:xfrm>
                <a:off x="624" y="960"/>
                <a:ext cx="12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0" name="Line 79"/>
              <p:cNvSpPr/>
              <p:nvPr/>
            </p:nvSpPr>
            <p:spPr>
              <a:xfrm>
                <a:off x="624" y="1209"/>
                <a:ext cx="12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1" name="Line 80"/>
              <p:cNvSpPr/>
              <p:nvPr/>
            </p:nvSpPr>
            <p:spPr>
              <a:xfrm>
                <a:off x="624" y="1458"/>
                <a:ext cx="12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2" name="Line 81"/>
              <p:cNvSpPr/>
              <p:nvPr/>
            </p:nvSpPr>
            <p:spPr>
              <a:xfrm>
                <a:off x="624" y="1707"/>
                <a:ext cx="12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3" name="Line 82"/>
              <p:cNvSpPr/>
              <p:nvPr/>
            </p:nvSpPr>
            <p:spPr>
              <a:xfrm>
                <a:off x="624" y="2205"/>
                <a:ext cx="1280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4" name="Line 83"/>
              <p:cNvSpPr/>
              <p:nvPr/>
            </p:nvSpPr>
            <p:spPr>
              <a:xfrm>
                <a:off x="624" y="960"/>
                <a:ext cx="0" cy="1245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5" name="Line 84"/>
              <p:cNvSpPr/>
              <p:nvPr/>
            </p:nvSpPr>
            <p:spPr>
              <a:xfrm>
                <a:off x="1296" y="960"/>
                <a:ext cx="0" cy="124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6" name="Line 85"/>
              <p:cNvSpPr/>
              <p:nvPr/>
            </p:nvSpPr>
            <p:spPr>
              <a:xfrm>
                <a:off x="1904" y="960"/>
                <a:ext cx="0" cy="1245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87" name="Line 86"/>
              <p:cNvSpPr/>
              <p:nvPr/>
            </p:nvSpPr>
            <p:spPr>
              <a:xfrm>
                <a:off x="624" y="1956"/>
                <a:ext cx="12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1467" name="Text Box 87"/>
            <p:cNvSpPr txBox="1"/>
            <p:nvPr/>
          </p:nvSpPr>
          <p:spPr>
            <a:xfrm>
              <a:off x="3696" y="2624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姓名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468" name="Text Box 88"/>
            <p:cNvSpPr txBox="1"/>
            <p:nvPr/>
          </p:nvSpPr>
          <p:spPr>
            <a:xfrm>
              <a:off x="3696" y="2880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王红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1452" name="Group 89"/>
          <p:cNvGrpSpPr/>
          <p:nvPr/>
        </p:nvGrpSpPr>
        <p:grpSpPr>
          <a:xfrm>
            <a:off x="2895600" y="5308600"/>
            <a:ext cx="4343400" cy="1216025"/>
            <a:chOff x="1824" y="3488"/>
            <a:chExt cx="2736" cy="766"/>
          </a:xfrm>
        </p:grpSpPr>
        <p:sp>
          <p:nvSpPr>
            <p:cNvPr id="61454" name="Text Box 90"/>
            <p:cNvSpPr txBox="1"/>
            <p:nvPr/>
          </p:nvSpPr>
          <p:spPr>
            <a:xfrm>
              <a:off x="1824" y="3488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姓名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455" name="Text Box 91"/>
            <p:cNvSpPr txBox="1"/>
            <p:nvPr/>
          </p:nvSpPr>
          <p:spPr>
            <a:xfrm>
              <a:off x="1824" y="3744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王红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456" name="Text Box 92"/>
            <p:cNvSpPr txBox="1"/>
            <p:nvPr/>
          </p:nvSpPr>
          <p:spPr>
            <a:xfrm>
              <a:off x="1824" y="3998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张军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457" name="Text Box 93"/>
            <p:cNvSpPr txBox="1"/>
            <p:nvPr/>
          </p:nvSpPr>
          <p:spPr>
            <a:xfrm>
              <a:off x="2880" y="3648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姓名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458" name="Text Box 94"/>
            <p:cNvSpPr txBox="1"/>
            <p:nvPr/>
          </p:nvSpPr>
          <p:spPr>
            <a:xfrm>
              <a:off x="2880" y="3904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王红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459" name="Text Box 95"/>
            <p:cNvSpPr txBox="1"/>
            <p:nvPr/>
          </p:nvSpPr>
          <p:spPr>
            <a:xfrm>
              <a:off x="2496" y="3667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华文新魏" panose="0201080004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60" name="Text Box 96"/>
            <p:cNvSpPr txBox="1"/>
            <p:nvPr/>
          </p:nvSpPr>
          <p:spPr>
            <a:xfrm>
              <a:off x="3504" y="3648"/>
              <a:ext cx="384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4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Symbol" panose="05050102010706020507" pitchFamily="18" charset="2"/>
                </a:rPr>
                <a:t>＝</a:t>
              </a:r>
              <a:endParaRPr lang="zh-CN" altLang="en-US" sz="4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1461" name="Text Box 97"/>
            <p:cNvSpPr txBox="1"/>
            <p:nvPr/>
          </p:nvSpPr>
          <p:spPr>
            <a:xfrm>
              <a:off x="3984" y="3632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姓名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1462" name="Text Box 98"/>
            <p:cNvSpPr txBox="1"/>
            <p:nvPr/>
          </p:nvSpPr>
          <p:spPr>
            <a:xfrm>
              <a:off x="3984" y="3888"/>
              <a:ext cx="576" cy="25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kumimoji="1"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kumimoji="1"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kumimoji="1"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kumimoji="1"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张军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61453" name="AutoShape 99"/>
          <p:cNvSpPr/>
          <p:nvPr/>
        </p:nvSpPr>
        <p:spPr>
          <a:xfrm>
            <a:off x="7239000" y="3962400"/>
            <a:ext cx="1676400" cy="762000"/>
          </a:xfrm>
          <a:prstGeom prst="wedgeRoundRectCallout">
            <a:avLst>
              <a:gd name="adj1" fmla="val -82199"/>
              <a:gd name="adj2" fmla="val 15479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>
              <a:spcBef>
                <a:spcPct val="60000"/>
              </a:spcBef>
              <a:buClrTx/>
              <a:buFontTx/>
              <a:buNone/>
            </a:pPr>
            <a:r>
              <a:rPr lang="zh-CN" altLang="en-US" baseline="-2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选修了全部课程的学生</a:t>
            </a:r>
            <a:endParaRPr lang="zh-CN" altLang="en-US" baseline="-200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xfrm>
            <a:off x="2133600" y="2133600"/>
            <a:ext cx="4876800" cy="167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sz="72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72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综合举例</a:t>
            </a:r>
            <a:endParaRPr lang="zh-CN" altLang="en-US" sz="72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graphicFrame>
        <p:nvGraphicFramePr>
          <p:cNvPr id="136195" name="Group 3"/>
          <p:cNvGraphicFramePr>
            <a:graphicFrameLocks noGrp="1"/>
          </p:cNvGraphicFramePr>
          <p:nvPr/>
        </p:nvGraphicFramePr>
        <p:xfrm>
          <a:off x="4406900" y="762000"/>
          <a:ext cx="4572000" cy="2581275"/>
        </p:xfrm>
        <a:graphic>
          <a:graphicData uri="http://schemas.openxmlformats.org/drawingml/2006/table">
            <a:tbl>
              <a:tblPr/>
              <a:tblGrid>
                <a:gridCol w="914400"/>
                <a:gridCol w="990600"/>
                <a:gridCol w="1066800"/>
                <a:gridCol w="762000"/>
                <a:gridCol w="8382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性别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Ssex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Sage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Sdept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女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IS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530" name="Text Box 41"/>
          <p:cNvSpPr txBox="1"/>
          <p:nvPr/>
        </p:nvSpPr>
        <p:spPr>
          <a:xfrm>
            <a:off x="457200" y="838200"/>
            <a:ext cx="21336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 </a:t>
            </a:r>
            <a:r>
              <a:rPr lang="zh-CN" altLang="en-US" sz="3600" dirty="0">
                <a:solidFill>
                  <a:schemeClr val="tx1"/>
                </a:solidFill>
              </a:rPr>
              <a:t>例题背景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63531" name="Text Box 42"/>
          <p:cNvSpPr txBox="1"/>
          <p:nvPr/>
        </p:nvSpPr>
        <p:spPr>
          <a:xfrm>
            <a:off x="3733800" y="838200"/>
            <a:ext cx="409575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36235" name="Group 43"/>
          <p:cNvGraphicFramePr>
            <a:graphicFrameLocks noGrp="1"/>
          </p:cNvGraphicFramePr>
          <p:nvPr/>
        </p:nvGraphicFramePr>
        <p:xfrm>
          <a:off x="152400" y="2286000"/>
          <a:ext cx="4114800" cy="3829050"/>
        </p:xfrm>
        <a:graphic>
          <a:graphicData uri="http://schemas.openxmlformats.org/drawingml/2006/table">
            <a:tbl>
              <a:tblPr/>
              <a:tblGrid>
                <a:gridCol w="914400"/>
                <a:gridCol w="1295400"/>
                <a:gridCol w="914400"/>
                <a:gridCol w="990600"/>
              </a:tblGrid>
              <a:tr h="6950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课程名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Cname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先行课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Cpno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学分</a:t>
                      </a:r>
                      <a:endParaRPr kumimoji="1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Ccredit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数据库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数学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421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信息系统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数据处理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9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PASCAL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579" name="Text Box 90"/>
          <p:cNvSpPr txBox="1"/>
          <p:nvPr/>
        </p:nvSpPr>
        <p:spPr>
          <a:xfrm>
            <a:off x="1600200" y="1600200"/>
            <a:ext cx="477838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136283" name="Group 91"/>
          <p:cNvGraphicFramePr>
            <a:graphicFrameLocks noGrp="1"/>
          </p:cNvGraphicFramePr>
          <p:nvPr/>
        </p:nvGraphicFramePr>
        <p:xfrm>
          <a:off x="4419600" y="3429000"/>
          <a:ext cx="3048000" cy="3019425"/>
        </p:xfrm>
        <a:graphic>
          <a:graphicData uri="http://schemas.openxmlformats.org/drawingml/2006/table">
            <a:tbl>
              <a:tblPr/>
              <a:tblGrid>
                <a:gridCol w="990600"/>
                <a:gridCol w="9906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Grade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95002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610" name="Text Box 121"/>
          <p:cNvSpPr txBox="1"/>
          <p:nvPr/>
        </p:nvSpPr>
        <p:spPr>
          <a:xfrm>
            <a:off x="8001000" y="3810000"/>
            <a:ext cx="7032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chemeClr val="tx1"/>
                </a:solidFill>
              </a:rPr>
              <a:t>SC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64516" name="Rectangle 3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4800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1]</a:t>
            </a: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dirty="0">
                <a:solidFill>
                  <a:schemeClr val="tx1"/>
                </a:solidFill>
              </a:rPr>
              <a:t>查询信息系</a:t>
            </a:r>
            <a:r>
              <a:rPr lang="en-US" altLang="zh-CN" dirty="0">
                <a:solidFill>
                  <a:schemeClr val="tx1"/>
                </a:solidFill>
              </a:rPr>
              <a:t>(IS)</a:t>
            </a:r>
            <a:r>
              <a:rPr lang="zh-CN" altLang="en-US" dirty="0">
                <a:solidFill>
                  <a:schemeClr val="tx1"/>
                </a:solidFill>
              </a:rPr>
              <a:t>的全体学生</a:t>
            </a:r>
            <a:r>
              <a:rPr lang="zh-CN" altLang="en-US" b="0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Sdept =‘IS’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(S)  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或  </a:t>
            </a:r>
            <a:r>
              <a:rPr lang="en-US" altLang="zh-CN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5 =‘IS’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(S)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2]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查询年龄小于</a:t>
            </a:r>
            <a:r>
              <a:rPr lang="en-US" altLang="zh-CN" dirty="0">
                <a:solidFill>
                  <a:schemeClr val="tx1"/>
                </a:solidFill>
              </a:rPr>
              <a:t>20</a:t>
            </a:r>
            <a:r>
              <a:rPr lang="zh-CN" altLang="en-US" dirty="0">
                <a:solidFill>
                  <a:schemeClr val="tx1"/>
                </a:solidFill>
              </a:rPr>
              <a:t>岁的学生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Sage &lt;20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(S)  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或  </a:t>
            </a:r>
            <a:r>
              <a:rPr lang="en-US" altLang="zh-CN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4&lt;20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(S)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4495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dirty="0">
                <a:solidFill>
                  <a:schemeClr val="tx1"/>
                </a:solidFill>
              </a:rPr>
              <a:t>查询学生的姓名和所在系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br>
              <a:rPr lang="zh-CN" altLang="en-US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Sname, Sdept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(S) 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或 </a:t>
            </a:r>
            <a:r>
              <a:rPr lang="en-US" altLang="zh-CN" baseline="-18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2,5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(S) 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查选修了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号课程的学生的学号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3200" b="0" dirty="0">
                <a:sym typeface="Symbol" panose="05050102010706020507" pitchFamily="18" charset="2"/>
              </a:rPr>
              <a:t>   </a:t>
            </a:r>
            <a:endParaRPr lang="zh-CN" altLang="en-US" sz="3200" b="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3200" b="0" dirty="0">
                <a:sym typeface="Symbol" panose="05050102010706020507" pitchFamily="18" charset="2"/>
              </a:rPr>
              <a:t>    </a:t>
            </a:r>
            <a:r>
              <a:rPr lang="zh-CN" altLang="en-US" sz="3200" dirty="0">
                <a:latin typeface="Arial" panose="020B0604020202020204" pitchFamily="34" charset="0"/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Sno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(</a:t>
            </a:r>
            <a:r>
              <a:rPr lang="en-US" altLang="zh-CN" sz="3200" baseline="-20000" dirty="0">
                <a:latin typeface="Arial" panose="020B0604020202020204" pitchFamily="34" charset="0"/>
                <a:sym typeface="Symbol" panose="05050102010706020507" pitchFamily="18" charset="2"/>
              </a:rPr>
              <a:t>Cno =‘2’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(SC) )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4648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查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号课程的学生学号和成绩</a:t>
            </a:r>
            <a:endParaRPr lang="zh-CN" altLang="en-US" sz="36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br>
              <a:rPr lang="zh-CN" altLang="en-US" sz="1800" b="0" dirty="0">
                <a:solidFill>
                  <a:schemeClr val="tx1"/>
                </a:solidFill>
                <a:sym typeface="Symbol" panose="05050102010706020507" pitchFamily="18" charset="2"/>
              </a:rPr>
            </a:br>
            <a:r>
              <a:rPr lang="zh-CN" altLang="en-US" sz="3600" b="0" dirty="0">
                <a:solidFill>
                  <a:schemeClr val="tx1"/>
                </a:solidFill>
                <a:sym typeface="Symbol" panose="05050102010706020507" pitchFamily="18" charset="2"/>
              </a:rPr>
              <a:t>        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</a:t>
            </a:r>
            <a:r>
              <a:rPr lang="en-US" altLang="zh-CN" sz="3600" baseline="-18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Sno,Grade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(</a:t>
            </a:r>
            <a:r>
              <a:rPr lang="en-US" altLang="zh-CN" sz="3600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Cno =‘2’ 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(SC) )</a:t>
            </a:r>
            <a:endParaRPr lang="en-US" altLang="zh-CN" sz="36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36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查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2</a:t>
            </a: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号课程的学生姓名和成绩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zh-CN" altLang="en-US" sz="3600" b="0" dirty="0">
                <a:sym typeface="Symbol" panose="05050102010706020507" pitchFamily="18" charset="2"/>
              </a:rPr>
              <a:t>   </a:t>
            </a:r>
            <a:r>
              <a:rPr lang="zh-CN" altLang="en-US" sz="3600" dirty="0">
                <a:latin typeface="Arial" panose="020B0604020202020204" pitchFamily="34" charset="0"/>
                <a:sym typeface="Symbol" panose="05050102010706020507" pitchFamily="18" charset="2"/>
              </a:rPr>
              <a:t></a:t>
            </a:r>
            <a:r>
              <a:rPr lang="en-US" altLang="zh-CN" sz="36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Sname,Grade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4000" dirty="0">
                <a:latin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zh-CN" sz="3200" baseline="-20000" dirty="0">
                <a:latin typeface="Arial" panose="020B0604020202020204" pitchFamily="34" charset="0"/>
                <a:sym typeface="Symbol" panose="05050102010706020507" pitchFamily="18" charset="2"/>
              </a:rPr>
              <a:t>Cno =‘2’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(S    SC) </a:t>
            </a:r>
            <a:r>
              <a:rPr lang="en-US" altLang="zh-CN" sz="3600" dirty="0"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600" b="0" dirty="0">
                <a:sym typeface="Symbol" panose="05050102010706020507" pitchFamily="18" charset="2"/>
              </a:rPr>
              <a:t> </a:t>
            </a:r>
            <a:endParaRPr lang="en-US" altLang="zh-CN" sz="3600" b="0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Sname,Grade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( </a:t>
            </a:r>
            <a:r>
              <a:rPr lang="en-US" altLang="zh-CN" sz="32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Sno,Grade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(</a:t>
            </a:r>
            <a:r>
              <a:rPr lang="en-US" altLang="zh-CN" sz="3200" baseline="-20000" dirty="0">
                <a:latin typeface="Arial" panose="020B0604020202020204" pitchFamily="34" charset="0"/>
                <a:sym typeface="Symbol" panose="05050102010706020507" pitchFamily="18" charset="2"/>
              </a:rPr>
              <a:t>Cno =‘2’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(SC))   S)</a:t>
            </a:r>
            <a:endParaRPr lang="en-US" altLang="zh-CN" sz="32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latin typeface="Arial" panose="020B0604020202020204" pitchFamily="34" charset="0"/>
                <a:sym typeface="Symbol" panose="05050102010706020507" pitchFamily="18" charset="2"/>
              </a:rPr>
              <a:t>Sname,Grade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((</a:t>
            </a:r>
            <a:r>
              <a:rPr lang="en-US" altLang="zh-CN" sz="3200" baseline="-20000" dirty="0">
                <a:latin typeface="Arial" panose="020B0604020202020204" pitchFamily="34" charset="0"/>
                <a:sym typeface="Symbol" panose="05050102010706020507" pitchFamily="18" charset="2"/>
              </a:rPr>
              <a:t>Cno =‘2’ </a:t>
            </a:r>
            <a:r>
              <a:rPr lang="en-US" altLang="zh-CN" sz="3200" dirty="0">
                <a:latin typeface="Arial" panose="020B0604020202020204" pitchFamily="34" charset="0"/>
                <a:sym typeface="Symbol" panose="05050102010706020507" pitchFamily="18" charset="2"/>
              </a:rPr>
              <a:t>(SC))   S)</a:t>
            </a:r>
            <a:endParaRPr lang="en-US" altLang="zh-CN" sz="32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6565" name="AutoShape 4"/>
          <p:cNvSpPr/>
          <p:nvPr/>
        </p:nvSpPr>
        <p:spPr>
          <a:xfrm rot="5400000">
            <a:off x="5562600" y="39624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6566" name="AutoShape 5"/>
          <p:cNvSpPr/>
          <p:nvPr/>
        </p:nvSpPr>
        <p:spPr>
          <a:xfrm rot="5400000">
            <a:off x="7315200" y="45720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6567" name="AutoShape 6"/>
          <p:cNvSpPr/>
          <p:nvPr/>
        </p:nvSpPr>
        <p:spPr>
          <a:xfrm rot="5400000">
            <a:off x="5549900" y="51562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67588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3733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查选修“数学”的学生学号，姓名及该课程的成绩</a:t>
            </a:r>
            <a:endParaRPr lang="zh-CN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</a:t>
            </a:r>
            <a:r>
              <a:rPr lang="en-US" altLang="zh-CN" baseline="-18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Sno,Sname,Grade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(</a:t>
            </a:r>
            <a:r>
              <a:rPr lang="en-US" altLang="zh-CN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Cname =‘</a:t>
            </a:r>
            <a:r>
              <a:rPr lang="zh-CN" altLang="en-US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数学’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    SC     C  ) )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</a:t>
            </a:r>
            <a:r>
              <a:rPr lang="en-US" altLang="zh-CN" baseline="-18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Sno,Sname,Grade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 S    (SC   </a:t>
            </a:r>
            <a:r>
              <a:rPr lang="en-US" altLang="zh-CN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Cname =‘</a:t>
            </a:r>
            <a:r>
              <a:rPr lang="zh-CN" altLang="en-US" baseline="-200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数学’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(C)  ) )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 pitchFamily="18" charset="2"/>
              </a:rPr>
              <a:t>  </a:t>
            </a:r>
            <a:endParaRPr lang="en-US" altLang="zh-CN" b="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7589" name="AutoShape 4"/>
          <p:cNvSpPr/>
          <p:nvPr/>
        </p:nvSpPr>
        <p:spPr>
          <a:xfrm rot="5400000">
            <a:off x="7812088" y="21844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7590" name="AutoShape 5"/>
          <p:cNvSpPr/>
          <p:nvPr/>
        </p:nvSpPr>
        <p:spPr>
          <a:xfrm rot="5400000">
            <a:off x="6646863" y="2238375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7591" name="AutoShape 6"/>
          <p:cNvSpPr/>
          <p:nvPr/>
        </p:nvSpPr>
        <p:spPr>
          <a:xfrm rot="5400000">
            <a:off x="5245100" y="32385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7592" name="AutoShape 7"/>
          <p:cNvSpPr/>
          <p:nvPr/>
        </p:nvSpPr>
        <p:spPr>
          <a:xfrm rot="5400000">
            <a:off x="4114800" y="3249613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68612" name="Rectangle 3"/>
          <p:cNvSpPr>
            <a:spLocks noGrp="1"/>
          </p:cNvSpPr>
          <p:nvPr>
            <p:ph idx="1"/>
          </p:nvPr>
        </p:nvSpPr>
        <p:spPr>
          <a:xfrm>
            <a:off x="330200" y="1052513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8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查至少选修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号和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3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号课程的学生学号</a:t>
            </a:r>
            <a:endParaRPr lang="zh-CN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zh-CN" altLang="en-US" dirty="0"/>
              <a:t>首先建立一个临时关系</a:t>
            </a:r>
            <a:r>
              <a:rPr lang="en-US" altLang="zh-CN" i="1" dirty="0"/>
              <a:t>K</a:t>
            </a:r>
            <a:r>
              <a:rPr lang="zh-CN" altLang="en-US" dirty="0"/>
              <a:t>： 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 </a:t>
            </a:r>
            <a:endParaRPr lang="zh-CN" altLang="en-US" dirty="0"/>
          </a:p>
          <a:p>
            <a:pPr lvl="1" algn="just" eaLnBrk="1" hangingPunct="1">
              <a:buNone/>
            </a:pPr>
            <a:endParaRPr lang="zh-CN" altLang="en-US" dirty="0"/>
          </a:p>
          <a:p>
            <a:pPr lvl="1" algn="just" eaLnBrk="1" hangingPunct="1">
              <a:buNone/>
            </a:pP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dirty="0"/>
              <a:t>然后求：</a:t>
            </a:r>
            <a:r>
              <a:rPr lang="en-US" altLang="zh-CN" sz="3200" b="0" dirty="0"/>
              <a:t>SC÷</a:t>
            </a:r>
            <a:r>
              <a:rPr lang="en-US" altLang="zh-CN" sz="3200" b="0" i="1" dirty="0"/>
              <a:t>K  or  </a:t>
            </a:r>
            <a:r>
              <a:rPr lang="en-US" altLang="zh-CN" sz="4400" b="0" dirty="0"/>
              <a:t>π</a:t>
            </a:r>
            <a:r>
              <a:rPr lang="en-US" altLang="zh-CN" sz="3200" b="0" baseline="-30000" dirty="0"/>
              <a:t>Sno.Cno</a:t>
            </a:r>
            <a:r>
              <a:rPr lang="en-US" altLang="zh-CN" sz="3200" b="0" dirty="0"/>
              <a:t>(SC)÷</a:t>
            </a:r>
            <a:r>
              <a:rPr lang="en-US" altLang="zh-CN" sz="3200" b="0" i="1" dirty="0"/>
              <a:t>K</a:t>
            </a:r>
            <a:endParaRPr lang="en-US" altLang="zh-CN" sz="3200" b="0" i="1" dirty="0"/>
          </a:p>
          <a:p>
            <a:pPr lvl="1" eaLnBrk="1" hangingPunct="1"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sym typeface="Symbol" panose="05050102010706020507" pitchFamily="18" charset="2"/>
              </a:rPr>
              <a:t>Sno,Cno</a:t>
            </a:r>
            <a:r>
              <a:rPr lang="en-US" altLang="zh-CN" sz="3200" dirty="0">
                <a:sym typeface="Symbol" panose="05050102010706020507" pitchFamily="18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SC</a:t>
            </a:r>
            <a:r>
              <a:rPr lang="en-US" altLang="zh-CN" sz="3200" dirty="0">
                <a:sym typeface="Symbol" panose="05050102010706020507" pitchFamily="18" charset="2"/>
              </a:rPr>
              <a:t>) </a:t>
            </a:r>
            <a:r>
              <a:rPr lang="en-US" altLang="zh-CN" sz="3200" dirty="0">
                <a:latin typeface="Arial Narrow" panose="020B0606020202030204" pitchFamily="34" charset="0"/>
                <a:sym typeface="Symbol" panose="05050102010706020507" pitchFamily="18" charset="2"/>
              </a:rPr>
              <a:t> </a:t>
            </a:r>
            <a:r>
              <a:rPr lang="en-US" altLang="zh-CN" sz="3600" b="0" dirty="0">
                <a:sym typeface="Symbol" panose="05050102010706020507" pitchFamily="18" charset="2"/>
              </a:rPr>
              <a:t></a:t>
            </a:r>
            <a:r>
              <a:rPr lang="en-US" altLang="zh-CN" sz="3200" dirty="0">
                <a:sym typeface="Symbol" panose="05050102010706020507" pitchFamily="18" charset="2"/>
              </a:rPr>
              <a:t> </a:t>
            </a:r>
            <a:r>
              <a:rPr lang="en-US" altLang="zh-CN" sz="3200" baseline="-25000" dirty="0">
                <a:sym typeface="Symbol" panose="05050102010706020507" pitchFamily="18" charset="2"/>
              </a:rPr>
              <a:t>Cno=‘1’ </a:t>
            </a:r>
            <a:r>
              <a:rPr lang="en-US" altLang="zh-CN" sz="32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zh-CN" sz="3200" baseline="-25000" dirty="0">
                <a:sym typeface="Symbol" panose="05050102010706020507" pitchFamily="18" charset="2"/>
              </a:rPr>
              <a:t> Cno = ‘3’</a:t>
            </a:r>
            <a:r>
              <a:rPr lang="en-US" altLang="zh-CN" sz="3200" dirty="0">
                <a:sym typeface="Symbol" panose="05050102010706020507" pitchFamily="18" charset="2"/>
              </a:rPr>
              <a:t>(C)</a:t>
            </a:r>
            <a:r>
              <a:rPr lang="en-US" altLang="zh-CN" sz="3200" b="0" dirty="0">
                <a:sym typeface="Symbol" panose="05050102010706020507" pitchFamily="18" charset="2"/>
              </a:rPr>
              <a:t> </a:t>
            </a:r>
            <a:endParaRPr lang="en-US" altLang="zh-CN" sz="3200" b="0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</a:t>
            </a:r>
            <a:r>
              <a:rPr lang="en-US" altLang="zh-CN" sz="3200" baseline="-18000" dirty="0">
                <a:sym typeface="Symbol" panose="05050102010706020507" pitchFamily="18" charset="2"/>
              </a:rPr>
              <a:t>1</a:t>
            </a:r>
            <a:r>
              <a:rPr lang="en-US" altLang="zh-CN" sz="3200" dirty="0"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ym typeface="Symbol" panose="05050102010706020507" pitchFamily="18" charset="2"/>
              </a:rPr>
              <a:t>2 =‘1’ ^  5=‘3’  </a:t>
            </a:r>
            <a:r>
              <a:rPr lang="en-US" altLang="zh-CN" dirty="0">
                <a:sym typeface="Symbol" panose="05050102010706020507" pitchFamily="18" charset="2"/>
              </a:rPr>
              <a:t>(SC    SC) </a:t>
            </a:r>
            <a:r>
              <a:rPr lang="en-US" altLang="zh-CN" sz="3200" dirty="0">
                <a:sym typeface="Symbol" panose="05050102010706020507" pitchFamily="18" charset="2"/>
              </a:rPr>
              <a:t>)</a:t>
            </a:r>
            <a:endParaRPr lang="en-US" altLang="zh-CN" sz="3200" dirty="0">
              <a:sym typeface="Symbol" panose="05050102010706020507" pitchFamily="18" charset="2"/>
            </a:endParaRPr>
          </a:p>
        </p:txBody>
      </p:sp>
      <p:graphicFrame>
        <p:nvGraphicFramePr>
          <p:cNvPr id="141316" name="Group 4"/>
          <p:cNvGraphicFramePr>
            <a:graphicFrameLocks noGrp="1"/>
          </p:cNvGraphicFramePr>
          <p:nvPr/>
        </p:nvGraphicFramePr>
        <p:xfrm>
          <a:off x="5181600" y="1981200"/>
          <a:ext cx="1066800" cy="1554163"/>
        </p:xfrm>
        <a:graphic>
          <a:graphicData uri="http://schemas.openxmlformats.org/drawingml/2006/table">
            <a:tbl>
              <a:tblPr/>
              <a:tblGrid>
                <a:gridCol w="1066800"/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1326" name="Text Box 14"/>
          <p:cNvSpPr txBox="1">
            <a:spLocks noChangeArrowheads="1"/>
          </p:cNvSpPr>
          <p:nvPr/>
        </p:nvSpPr>
        <p:spPr bwMode="auto">
          <a:xfrm>
            <a:off x="3581400" y="5595938"/>
            <a:ext cx="9144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-20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1=1</a:t>
            </a:r>
            <a:endParaRPr kumimoji="1" lang="en-US" altLang="zh-CN" sz="2400" kern="1200" cap="none" spc="0" normalizeH="0" baseline="-2000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  <p:sp>
        <p:nvSpPr>
          <p:cNvPr id="7" name="AutoShape 7"/>
          <p:cNvSpPr/>
          <p:nvPr/>
        </p:nvSpPr>
        <p:spPr>
          <a:xfrm rot="5400000">
            <a:off x="3924300" y="5381625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charRg st="41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charRg st="70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>
                                            <p:txEl>
                                              <p:charRg st="111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6" grpId="0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69636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9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查至少选修了一门其直接先行课为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5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号课</a:t>
            </a:r>
            <a:endParaRPr lang="zh-CN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          程的学生姓名</a:t>
            </a:r>
            <a:endParaRPr lang="zh-CN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zh-CN" altLang="en-US" sz="2600" dirty="0"/>
              <a:t>     </a:t>
            </a:r>
            <a:r>
              <a:rPr lang="en-US" altLang="zh-CN" sz="2800" dirty="0">
                <a:solidFill>
                  <a:schemeClr val="tx1"/>
                </a:solidFill>
              </a:rPr>
              <a:t>π</a:t>
            </a:r>
            <a:r>
              <a:rPr lang="en-US" altLang="zh-CN" sz="2800" baseline="-30000" dirty="0">
                <a:solidFill>
                  <a:schemeClr val="tx1"/>
                </a:solidFill>
              </a:rPr>
              <a:t>Sname</a:t>
            </a:r>
            <a:r>
              <a:rPr lang="en-US" altLang="zh-CN" sz="2800" dirty="0">
                <a:solidFill>
                  <a:schemeClr val="tx1"/>
                </a:solidFill>
              </a:rPr>
              <a:t>(σ</a:t>
            </a:r>
            <a:r>
              <a:rPr lang="en-US" altLang="zh-CN" sz="2800" baseline="-30000" dirty="0">
                <a:solidFill>
                  <a:schemeClr val="tx1"/>
                </a:solidFill>
              </a:rPr>
              <a:t>Cpno='5'</a:t>
            </a:r>
            <a:r>
              <a:rPr lang="en-US" altLang="zh-CN" sz="2800" dirty="0">
                <a:solidFill>
                  <a:schemeClr val="tx1"/>
                </a:solidFill>
              </a:rPr>
              <a:t>(C      SC     S))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或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600" dirty="0">
                <a:solidFill>
                  <a:schemeClr val="tx1"/>
                </a:solidFill>
              </a:rPr>
              <a:t>      </a:t>
            </a:r>
            <a:r>
              <a:rPr lang="en-US" altLang="zh-CN" sz="2800" dirty="0">
                <a:solidFill>
                  <a:schemeClr val="tx1"/>
                </a:solidFill>
              </a:rPr>
              <a:t>π</a:t>
            </a:r>
            <a:r>
              <a:rPr lang="en-US" altLang="zh-CN" sz="2800" baseline="-30000" dirty="0">
                <a:solidFill>
                  <a:schemeClr val="tx1"/>
                </a:solidFill>
              </a:rPr>
              <a:t>Sname</a:t>
            </a:r>
            <a:r>
              <a:rPr lang="en-US" altLang="zh-CN" sz="2800" dirty="0">
                <a:solidFill>
                  <a:schemeClr val="tx1"/>
                </a:solidFill>
              </a:rPr>
              <a:t>(σ</a:t>
            </a:r>
            <a:r>
              <a:rPr lang="en-US" altLang="zh-CN" sz="2800" baseline="-30000" dirty="0">
                <a:solidFill>
                  <a:schemeClr val="tx1"/>
                </a:solidFill>
              </a:rPr>
              <a:t>Cpno='5'</a:t>
            </a:r>
            <a:r>
              <a:rPr lang="en-US" altLang="zh-CN" sz="2800" dirty="0">
                <a:solidFill>
                  <a:schemeClr val="tx1"/>
                </a:solidFill>
              </a:rPr>
              <a:t>(C)      SC     π</a:t>
            </a:r>
            <a:r>
              <a:rPr lang="en-US" altLang="zh-CN" sz="2800" baseline="-30000" dirty="0">
                <a:solidFill>
                  <a:schemeClr val="tx1"/>
                </a:solidFill>
              </a:rPr>
              <a:t>Sno</a:t>
            </a:r>
            <a:r>
              <a:rPr lang="zh-CN" altLang="en-US" sz="2800" baseline="-30000" dirty="0">
                <a:solidFill>
                  <a:schemeClr val="tx1"/>
                </a:solidFill>
              </a:rPr>
              <a:t>，</a:t>
            </a:r>
            <a:r>
              <a:rPr lang="en-US" altLang="zh-CN" sz="2800" baseline="-30000" dirty="0">
                <a:solidFill>
                  <a:schemeClr val="tx1"/>
                </a:solidFill>
              </a:rPr>
              <a:t>Sname</a:t>
            </a:r>
            <a:r>
              <a:rPr lang="en-US" altLang="zh-CN" sz="2800" dirty="0">
                <a:solidFill>
                  <a:schemeClr val="tx1"/>
                </a:solidFill>
              </a:rPr>
              <a:t>(S))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或   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π</a:t>
            </a:r>
            <a:r>
              <a:rPr lang="en-US" altLang="zh-CN" sz="2800" baseline="-30000" dirty="0">
                <a:solidFill>
                  <a:schemeClr val="tx1"/>
                </a:solidFill>
              </a:rPr>
              <a:t>Sname </a:t>
            </a:r>
            <a:r>
              <a:rPr lang="en-US" altLang="zh-CN" sz="2800" dirty="0">
                <a:solidFill>
                  <a:schemeClr val="tx1"/>
                </a:solidFill>
              </a:rPr>
              <a:t>(π</a:t>
            </a:r>
            <a:r>
              <a:rPr lang="en-US" altLang="zh-CN" sz="2800" baseline="-30000" dirty="0">
                <a:solidFill>
                  <a:schemeClr val="tx1"/>
                </a:solidFill>
              </a:rPr>
              <a:t>Sno </a:t>
            </a:r>
            <a:r>
              <a:rPr lang="en-US" altLang="zh-CN" sz="2800" dirty="0">
                <a:solidFill>
                  <a:schemeClr val="tx1"/>
                </a:solidFill>
              </a:rPr>
              <a:t>(σ</a:t>
            </a:r>
            <a:r>
              <a:rPr lang="en-US" altLang="zh-CN" sz="2800" baseline="-30000" dirty="0">
                <a:solidFill>
                  <a:schemeClr val="tx1"/>
                </a:solidFill>
              </a:rPr>
              <a:t>Cpno='5' </a:t>
            </a:r>
            <a:r>
              <a:rPr lang="en-US" altLang="zh-CN" sz="2800" dirty="0">
                <a:solidFill>
                  <a:schemeClr val="tx1"/>
                </a:solidFill>
              </a:rPr>
              <a:t>(C)      SC)         π</a:t>
            </a:r>
            <a:r>
              <a:rPr lang="en-US" altLang="zh-CN" sz="2800" baseline="-30000" dirty="0">
                <a:solidFill>
                  <a:schemeClr val="tx1"/>
                </a:solidFill>
              </a:rPr>
              <a:t>Sno</a:t>
            </a:r>
            <a:r>
              <a:rPr lang="zh-CN" altLang="en-US" sz="2800" baseline="-30000" dirty="0">
                <a:solidFill>
                  <a:schemeClr val="tx1"/>
                </a:solidFill>
              </a:rPr>
              <a:t>，</a:t>
            </a:r>
            <a:r>
              <a:rPr lang="en-US" altLang="zh-CN" sz="2800" baseline="-30000" dirty="0">
                <a:solidFill>
                  <a:schemeClr val="tx1"/>
                </a:solidFill>
              </a:rPr>
              <a:t>Sname </a:t>
            </a:r>
            <a:r>
              <a:rPr lang="en-US" altLang="zh-CN" sz="2800" dirty="0">
                <a:solidFill>
                  <a:schemeClr val="tx1"/>
                </a:solidFill>
              </a:rPr>
              <a:t>(S))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 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9637" name="AutoShape 4"/>
          <p:cNvSpPr/>
          <p:nvPr/>
        </p:nvSpPr>
        <p:spPr>
          <a:xfrm rot="5400000">
            <a:off x="3492500" y="23368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9638" name="AutoShape 5"/>
          <p:cNvSpPr/>
          <p:nvPr/>
        </p:nvSpPr>
        <p:spPr>
          <a:xfrm rot="5400000">
            <a:off x="4356100" y="22860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9639" name="AutoShape 6"/>
          <p:cNvSpPr/>
          <p:nvPr/>
        </p:nvSpPr>
        <p:spPr>
          <a:xfrm rot="5400000">
            <a:off x="3635375" y="3344863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9640" name="AutoShape 7"/>
          <p:cNvSpPr/>
          <p:nvPr/>
        </p:nvSpPr>
        <p:spPr>
          <a:xfrm rot="5400000">
            <a:off x="4630738" y="3357563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9641" name="AutoShape 8"/>
          <p:cNvSpPr/>
          <p:nvPr/>
        </p:nvSpPr>
        <p:spPr>
          <a:xfrm rot="5400000">
            <a:off x="4067175" y="43434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69642" name="AutoShape 9"/>
          <p:cNvSpPr/>
          <p:nvPr/>
        </p:nvSpPr>
        <p:spPr>
          <a:xfrm rot="5400000">
            <a:off x="5280025" y="4352925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4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81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84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137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charRg st="143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animBg="1"/>
      <p:bldP spid="69638" grpId="0" animBg="1"/>
      <p:bldP spid="69639" grpId="0" animBg="1"/>
      <p:bldP spid="69640" grpId="0" animBg="1"/>
      <p:bldP spid="69641" grpId="0" animBg="1"/>
      <p:bldP spid="6964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10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查询选修了全部课程的学生学号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b="0" dirty="0">
                <a:solidFill>
                  <a:schemeClr val="tx1"/>
                </a:solidFill>
                <a:sym typeface="Symbol" panose="05050102010706020507" pitchFamily="18" charset="2"/>
              </a:rPr>
              <a:t>            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Sno,Cno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SC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) </a:t>
            </a: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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Cno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(C)</a:t>
            </a:r>
            <a:endParaRPr lang="en-US" altLang="zh-CN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None/>
            </a:pPr>
            <a:endParaRPr lang="en-US" altLang="zh-CN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683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71684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562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13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查全部学生都选修了的课程号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             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2800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Sno,Cno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SC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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sz="2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Sno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(S)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14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查凡是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95001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选修的课他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她都选修了的这样的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   学生学号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          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Sno,Cno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SC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) </a:t>
            </a:r>
            <a:r>
              <a:rPr lang="en-US" altLang="zh-CN" dirty="0">
                <a:solidFill>
                  <a:schemeClr val="tx1"/>
                </a:solidFill>
                <a:latin typeface="Arial Narrow" panose="020B0606020202030204" pitchFamily="34" charset="0"/>
                <a:sym typeface="Symbol" panose="05050102010706020507" pitchFamily="18" charset="2"/>
              </a:rPr>
              <a:t>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25000" dirty="0">
                <a:solidFill>
                  <a:schemeClr val="tx1"/>
                </a:solidFill>
                <a:sym typeface="Symbol" panose="05050102010706020507" pitchFamily="18" charset="2"/>
              </a:rPr>
              <a:t>Cno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36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Sno=‘95001’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(SC))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[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15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20204" pitchFamily="34" charset="0"/>
              </a:rPr>
              <a:t>]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查至少选修了两门课程的学生学号 </a:t>
            </a:r>
            <a:endParaRPr lang="zh-CN" altLang="en-US" sz="2800" dirty="0">
              <a:solidFill>
                <a:schemeClr val="tx1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         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solidFill>
                  <a:schemeClr val="tx1"/>
                </a:solidFill>
                <a:sym typeface="Symbol" panose="05050102010706020507" pitchFamily="18" charset="2"/>
              </a:rPr>
              <a:t>Sno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800" baseline="-20000" dirty="0">
                <a:solidFill>
                  <a:schemeClr val="tx1"/>
                </a:solidFill>
                <a:sym typeface="Symbol" panose="05050102010706020507" pitchFamily="18" charset="2"/>
              </a:rPr>
              <a:t>2 &lt;&gt; 5 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(SC    SC)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71685" name="AutoShape 4"/>
          <p:cNvSpPr/>
          <p:nvPr/>
        </p:nvSpPr>
        <p:spPr>
          <a:xfrm rot="5400000">
            <a:off x="3848100" y="5194300"/>
            <a:ext cx="228600" cy="228600"/>
          </a:xfrm>
          <a:prstGeom prst="flowChartCollate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44389" name="Text Box 5"/>
          <p:cNvSpPr txBox="1">
            <a:spLocks noChangeArrowheads="1"/>
          </p:cNvSpPr>
          <p:nvPr/>
        </p:nvSpPr>
        <p:spPr bwMode="auto">
          <a:xfrm>
            <a:off x="3505200" y="5295900"/>
            <a:ext cx="9144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-20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1=1</a:t>
            </a:r>
            <a:endParaRPr kumimoji="1" lang="en-US" altLang="zh-CN" sz="2400" kern="1200" cap="none" spc="0" normalizeH="0" baseline="-2000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仿宋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charRg st="2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charRg st="102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charRg st="175" end="2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animBg="1"/>
      <p:bldP spid="14438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页脚占位符 2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2707" name="Text Box 2"/>
          <p:cNvSpPr txBox="1"/>
          <p:nvPr/>
        </p:nvSpPr>
        <p:spPr>
          <a:xfrm>
            <a:off x="2132013" y="2200275"/>
            <a:ext cx="5067300" cy="15557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9600" dirty="0">
                <a:solidFill>
                  <a:schemeClr val="tx1"/>
                </a:solidFill>
                <a:ea typeface="楷体_GB2312" pitchFamily="49" charset="-122"/>
              </a:rPr>
              <a:t>小结一下</a:t>
            </a:r>
            <a:endParaRPr lang="zh-CN" altLang="en-US" sz="9600" dirty="0">
              <a:solidFill>
                <a:schemeClr val="tx1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3731" name="Rectangle 2"/>
          <p:cNvSpPr>
            <a:spLocks noGrp="1"/>
          </p:cNvSpPr>
          <p:nvPr>
            <p:ph type="title"/>
          </p:nvPr>
        </p:nvSpPr>
        <p:spPr>
          <a:xfrm>
            <a:off x="1295400" y="76200"/>
            <a:ext cx="67818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u="sng" dirty="0"/>
              <a:t>2.4  </a:t>
            </a:r>
            <a:r>
              <a:rPr lang="zh-CN" altLang="en-US" u="sng" dirty="0"/>
              <a:t>关系代数</a:t>
            </a:r>
            <a:endParaRPr lang="zh-CN" altLang="en-US" u="sng" dirty="0"/>
          </a:p>
        </p:txBody>
      </p:sp>
      <p:sp>
        <p:nvSpPr>
          <p:cNvPr id="73732" name="Rectangle 3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257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种基本运算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并、差、笛卡尔积、投影、选择</a:t>
            </a:r>
            <a:endParaRPr lang="zh-CN" altLang="en-US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其它运算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交、连接、除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均可用</a:t>
            </a:r>
            <a:r>
              <a:rPr lang="en-US" altLang="zh-CN" dirty="0"/>
              <a:t>5</a:t>
            </a:r>
            <a:r>
              <a:rPr lang="zh-CN" altLang="en-US" dirty="0"/>
              <a:t>种基本运算来表达，引进它们并不增加语言的能力，但可以简化表达</a:t>
            </a:r>
            <a:endParaRPr lang="zh-CN" altLang="en-US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S  = R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ea typeface="宋体" panose="02010600030101010101" pitchFamily="2" charset="-122"/>
              </a:rPr>
              <a:t> (R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ea typeface="宋体" panose="02010600030101010101" pitchFamily="2" charset="-122"/>
              </a:rPr>
              <a:t> S)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R   S  = ∏</a:t>
            </a:r>
            <a:r>
              <a:rPr lang="zh-CN" altLang="en-US" baseline="-25000" dirty="0">
                <a:ea typeface="宋体" panose="02010600030101010101" pitchFamily="2" charset="-122"/>
                <a:sym typeface="Symbol" panose="05050102010706020507" pitchFamily="18" charset="2"/>
              </a:rPr>
              <a:t>属性列表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(</a:t>
            </a:r>
            <a:r>
              <a:rPr lang="zh-CN" altLang="en-US" baseline="-20000" dirty="0">
                <a:ea typeface="宋体" panose="02010600030101010101" pitchFamily="2" charset="-122"/>
                <a:sym typeface="Symbol" panose="05050102010706020507" pitchFamily="18" charset="2"/>
              </a:rPr>
              <a:t>相同的属性列值相等</a:t>
            </a:r>
            <a:r>
              <a:rPr lang="en-US" altLang="zh-CN" baseline="-20000" dirty="0">
                <a:ea typeface="宋体" panose="02010600030101010101" pitchFamily="2" charset="-122"/>
                <a:sym typeface="Symbol" panose="05050102010706020507" pitchFamily="18" charset="2"/>
              </a:rPr>
              <a:t>(R)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(R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×S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))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 </a:t>
            </a:r>
            <a:r>
              <a:rPr lang="en-US" altLang="zh-CN" dirty="0">
                <a:ea typeface="宋体" panose="02010600030101010101" pitchFamily="2" charset="-122"/>
              </a:rPr>
              <a:t>S =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(R)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 </a:t>
            </a:r>
            <a:r>
              <a:rPr lang="en-US" altLang="zh-CN" baseline="-18000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baseline="-18000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(R)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 </a:t>
            </a:r>
            <a:r>
              <a:rPr lang="en-US" altLang="zh-CN" baseline="-18000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(S)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ea typeface="宋体" panose="02010600030101010101" pitchFamily="2" charset="-122"/>
              </a:rPr>
              <a:t> R)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关系代数中，这些运算经有限次复合后形成的式子称为关系</a:t>
            </a:r>
            <a:r>
              <a:rPr lang="zh-CN" altLang="en-US" dirty="0">
                <a:solidFill>
                  <a:srgbClr val="FF0000"/>
                </a:solidFill>
              </a:rPr>
              <a:t>代数表达式</a:t>
            </a:r>
            <a:endParaRPr lang="zh-CN" altLang="en-US" sz="36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73733" name="AutoShape 4"/>
          <p:cNvSpPr/>
          <p:nvPr/>
        </p:nvSpPr>
        <p:spPr>
          <a:xfrm rot="-5400000" flipV="1">
            <a:off x="1778000" y="4508500"/>
            <a:ext cx="152400" cy="152400"/>
          </a:xfrm>
          <a:prstGeom prst="flowChartCollate">
            <a:avLst/>
          </a:prstGeom>
          <a:solidFill>
            <a:schemeClr val="bg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4755" name="Rectangle 2"/>
          <p:cNvSpPr/>
          <p:nvPr/>
        </p:nvSpPr>
        <p:spPr>
          <a:xfrm>
            <a:off x="863600" y="39878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kumimoji="1"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kumimoji="1"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74756" name="Rectangle 3"/>
          <p:cNvSpPr>
            <a:spLocks noGrp="1"/>
          </p:cNvSpPr>
          <p:nvPr>
            <p:ph idx="1"/>
          </p:nvPr>
        </p:nvSpPr>
        <p:spPr>
          <a:xfrm>
            <a:off x="977900" y="1498600"/>
            <a:ext cx="73279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2.1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关系模型概述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2.2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关系数据结构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2.3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关系的完整性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2.4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关系代数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2.5</a:t>
            </a:r>
            <a:r>
              <a:rPr lang="en-US" altLang="zh-CN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关系演算</a:t>
            </a:r>
            <a:endParaRPr lang="zh-CN" altLang="en-US" sz="4000" b="0" dirty="0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2.6</a:t>
            </a:r>
            <a:r>
              <a:rPr lang="en-US" altLang="zh-CN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4000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小结</a:t>
            </a:r>
            <a:endParaRPr lang="zh-CN" altLang="en-US" sz="4000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757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关系数据库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yl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kylin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kyli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yli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yli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11006</Words>
  <Application>WPS Presentation</Application>
  <PresentationFormat>全屏显示(4:3)</PresentationFormat>
  <Paragraphs>3099</Paragraphs>
  <Slides>71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99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Arial Narrow</vt:lpstr>
      <vt:lpstr>华文新魏</vt:lpstr>
      <vt:lpstr>Symbol</vt:lpstr>
      <vt:lpstr>Tahoma</vt:lpstr>
      <vt:lpstr>经典综艺体简</vt:lpstr>
      <vt:lpstr>DengXian</vt:lpstr>
      <vt:lpstr>Helvetica</vt:lpstr>
      <vt:lpstr>Monotype Sorts</vt:lpstr>
      <vt:lpstr>Wingdings</vt:lpstr>
      <vt:lpstr>华文行楷</vt:lpstr>
      <vt:lpstr>黑体</vt:lpstr>
      <vt:lpstr>微软雅黑</vt:lpstr>
      <vt:lpstr>Arial Unicode MS</vt:lpstr>
      <vt:lpstr>Bookman Old Style</vt:lpstr>
      <vt:lpstr>MS PGothic</vt:lpstr>
      <vt:lpstr>kylin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kylin</dc:creator>
  <cp:lastModifiedBy>nakanosan</cp:lastModifiedBy>
  <cp:revision>61</cp:revision>
  <dcterms:created xsi:type="dcterms:W3CDTF">2026-06-17T19:28:18Z</dcterms:created>
  <dcterms:modified xsi:type="dcterms:W3CDTF">2026-06-17T19:28:18Z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CA76298CB7EDE9F652F5326AEA9F9DB8_43</vt:lpwstr>
  </property>
  <property fmtid="{D5CDD505-2E9C-101B-9397-08002B2CF9AE}" pid="3" name="KSOProductBuildVer">
    <vt:lpwstr>1033-12.1.2.26885</vt:lpwstr>
  </property>
</Properties>
</file>