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392" r:id="rId3"/>
    <p:sldId id="430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402" r:id="rId14"/>
    <p:sldId id="403" r:id="rId15"/>
    <p:sldId id="404" r:id="rId16"/>
    <p:sldId id="405" r:id="rId17"/>
    <p:sldId id="406" r:id="rId18"/>
    <p:sldId id="407" r:id="rId19"/>
    <p:sldId id="408" r:id="rId20"/>
    <p:sldId id="409" r:id="rId21"/>
    <p:sldId id="410" r:id="rId22"/>
    <p:sldId id="411" r:id="rId23"/>
    <p:sldId id="412" r:id="rId24"/>
    <p:sldId id="413" r:id="rId25"/>
    <p:sldId id="414" r:id="rId26"/>
    <p:sldId id="415" r:id="rId27"/>
    <p:sldId id="416" r:id="rId28"/>
    <p:sldId id="417" r:id="rId29"/>
    <p:sldId id="418" r:id="rId30"/>
    <p:sldId id="419" r:id="rId31"/>
    <p:sldId id="420" r:id="rId32"/>
    <p:sldId id="421" r:id="rId33"/>
    <p:sldId id="422" r:id="rId34"/>
    <p:sldId id="423" r:id="rId35"/>
    <p:sldId id="424" r:id="rId36"/>
    <p:sldId id="425" r:id="rId37"/>
    <p:sldId id="429" r:id="rId3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34550"/>
    <p:restoredTop sz="86412"/>
  </p:normalViewPr>
  <p:slideViewPr>
    <p:cSldViewPr showGuides="1">
      <p:cViewPr varScale="1">
        <p:scale>
          <a:sx n="62" d="100"/>
          <a:sy n="62" d="100"/>
        </p:scale>
        <p:origin x="717" y="8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notesMaster" Target="notesMasters/notesMaster1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6F4175-EA63-4345-A266-E0B7215420C3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9C526-7852-4313-8029-813B7D9902BF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C6DED8-6B76-4333-8AC2-91B256AEC23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C6DED8-6B76-4333-8AC2-91B256AEC23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C6DED8-6B76-4333-8AC2-91B256AEC23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C6DED8-6B76-4333-8AC2-91B256AEC23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C6DED8-6B76-4333-8AC2-91B256AEC23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C6DED8-6B76-4333-8AC2-91B256AEC23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C6DED8-6B76-4333-8AC2-91B256AEC23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C6DED8-6B76-4333-8AC2-91B256AEC23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C6DED8-6B76-4333-8AC2-91B256AEC23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C6DED8-6B76-4333-8AC2-91B256AEC23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C6DED8-6B76-4333-8AC2-91B256AEC23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447800"/>
            <a:ext cx="77724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0300" y="6540500"/>
            <a:ext cx="36830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b="0">
                <a:solidFill>
                  <a:srgbClr val="6600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C6DED8-6B76-4333-8AC2-91B256AEC23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57150" y="6521450"/>
            <a:ext cx="1114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57EA32-3EF9-4675-8BE9-467D0807E5E9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Picture 9" descr="华工校徽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00" y="63500"/>
            <a:ext cx="990600" cy="7508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§"/>
        <a:defRPr kumimoji="1" sz="3200" b="1">
          <a:solidFill>
            <a:srgbClr val="FF33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60000"/>
        <a:buChar char="•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5" name="Rectangle 2"/>
          <p:cNvSpPr/>
          <p:nvPr/>
        </p:nvSpPr>
        <p:spPr>
          <a:xfrm>
            <a:off x="863600" y="39878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2.1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关系模型概述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2.2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关系数据结构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2.3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关系的完整性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2.4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关系代数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2.5</a:t>
            </a:r>
            <a:r>
              <a:rPr lang="en-US" altLang="zh-CN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关系演算</a:t>
            </a:r>
            <a:endParaRPr lang="zh-CN" altLang="en-US" sz="40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2.6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小结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7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关系数据库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  </a:t>
            </a:r>
            <a:r>
              <a:rPr lang="zh-CN" altLang="en-US" u="sng" dirty="0"/>
              <a:t>关系演算</a:t>
            </a:r>
            <a:endParaRPr lang="zh-CN" altLang="en-US" u="sng" dirty="0"/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1066800" y="1143000"/>
            <a:ext cx="6553200" cy="3276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2.5.1 </a:t>
            </a:r>
            <a:r>
              <a:rPr lang="zh-CN" altLang="en-US" dirty="0"/>
              <a:t>元组关系演算</a:t>
            </a:r>
            <a:endParaRPr lang="zh-CN" altLang="en-US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2.5.2 </a:t>
            </a:r>
            <a:r>
              <a:rPr lang="zh-CN" altLang="en-US" dirty="0">
                <a:solidFill>
                  <a:schemeClr val="tx1"/>
                </a:solidFill>
              </a:rPr>
              <a:t>域关系演算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48006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zh-CN" altLang="en-US" dirty="0">
                <a:solidFill>
                  <a:srgbClr val="FF0000"/>
                </a:solidFill>
              </a:rPr>
              <a:t>原子公式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>
                <a:solidFill>
                  <a:srgbClr val="FF0000"/>
                </a:solidFill>
              </a:rPr>
              <a:t>以下三类</a:t>
            </a:r>
            <a:endParaRPr lang="zh-CN" altLang="en-US" dirty="0">
              <a:solidFill>
                <a:srgbClr val="FF0000"/>
              </a:solidFill>
            </a:endParaRPr>
          </a:p>
          <a:p>
            <a:pPr lvl="2" eaLnBrk="1" hangingPunct="1"/>
            <a:r>
              <a:rPr lang="en-US" altLang="zh-CN" sz="2800" i="1" dirty="0">
                <a:solidFill>
                  <a:srgbClr val="FF3300"/>
                </a:solidFill>
              </a:rPr>
              <a:t>t∈R</a:t>
            </a:r>
            <a:r>
              <a:rPr lang="zh-CN" altLang="en-US" sz="2800" i="1" dirty="0">
                <a:solidFill>
                  <a:srgbClr val="FF3300"/>
                </a:solidFill>
              </a:rPr>
              <a:t>，写成</a:t>
            </a:r>
            <a:r>
              <a:rPr lang="en-US" altLang="zh-CN" sz="2800" i="1" dirty="0">
                <a:solidFill>
                  <a:srgbClr val="FF3300"/>
                </a:solidFill>
              </a:rPr>
              <a:t>R(t)</a:t>
            </a:r>
            <a:endParaRPr lang="en-US" altLang="zh-CN" sz="2800" dirty="0"/>
          </a:p>
          <a:p>
            <a:pPr lvl="2" eaLnBrk="1" hangingPunct="1">
              <a:buNone/>
            </a:pPr>
            <a:r>
              <a:rPr lang="en-US" altLang="zh-CN" sz="2800" dirty="0"/>
              <a:t>  t</a:t>
            </a:r>
            <a:r>
              <a:rPr lang="zh-CN" altLang="en-US" sz="2800" dirty="0"/>
              <a:t>是关系</a:t>
            </a:r>
            <a:r>
              <a:rPr lang="en-US" altLang="zh-CN" sz="2800" i="1" dirty="0"/>
              <a:t>R</a:t>
            </a:r>
            <a:r>
              <a:rPr lang="zh-CN" altLang="en-US" sz="2800" dirty="0"/>
              <a:t>中的一个元组</a:t>
            </a:r>
            <a:endParaRPr lang="zh-CN" altLang="en-US" sz="2800" dirty="0"/>
          </a:p>
          <a:p>
            <a:pPr lvl="2" eaLnBrk="1" hangingPunct="1"/>
            <a:r>
              <a:rPr lang="en-US" altLang="zh-CN" sz="2800" i="1" dirty="0">
                <a:solidFill>
                  <a:srgbClr val="FF3300"/>
                </a:solidFill>
              </a:rPr>
              <a:t>t[i] </a:t>
            </a:r>
            <a:r>
              <a:rPr lang="en-US" altLang="zh-CN" sz="2800" i="1" dirty="0">
                <a:solidFill>
                  <a:srgbClr val="FF3300"/>
                </a:solidFill>
                <a:sym typeface="Symbol" panose="05050102010706020507" pitchFamily="18" charset="2"/>
              </a:rPr>
              <a:t> </a:t>
            </a:r>
            <a:r>
              <a:rPr lang="en-US" altLang="zh-CN" sz="2800" i="1" dirty="0">
                <a:solidFill>
                  <a:srgbClr val="FF3300"/>
                </a:solidFill>
              </a:rPr>
              <a:t>u[j]</a:t>
            </a:r>
            <a:endParaRPr lang="en-US" altLang="zh-CN" sz="2800" i="1" dirty="0">
              <a:solidFill>
                <a:srgbClr val="FF3300"/>
              </a:solidFill>
            </a:endParaRPr>
          </a:p>
          <a:p>
            <a:pPr lvl="2" eaLnBrk="1" hangingPunct="1">
              <a:buNone/>
            </a:pPr>
            <a:r>
              <a:rPr lang="en-US" altLang="zh-CN" sz="2800" i="1" dirty="0"/>
              <a:t>   t[i]</a:t>
            </a:r>
            <a:r>
              <a:rPr lang="zh-CN" altLang="en-US" sz="2800" dirty="0"/>
              <a:t>与</a:t>
            </a:r>
            <a:r>
              <a:rPr lang="en-US" altLang="zh-CN" sz="2800" i="1" dirty="0"/>
              <a:t>u[j]</a:t>
            </a:r>
            <a:r>
              <a:rPr lang="zh-CN" altLang="en-US" sz="2800" dirty="0"/>
              <a:t>为元组分量，他们之间满足比较关系</a:t>
            </a:r>
            <a:r>
              <a:rPr lang="zh-CN" altLang="en-US" sz="2800" i="1" dirty="0">
                <a:sym typeface="Symbol" panose="05050102010706020507" pitchFamily="18" charset="2"/>
              </a:rPr>
              <a:t></a:t>
            </a:r>
            <a:r>
              <a:rPr lang="zh-CN" altLang="en-US" sz="2800" dirty="0"/>
              <a:t> </a:t>
            </a:r>
            <a:r>
              <a:rPr lang="en-US" altLang="zh-CN" sz="2800" dirty="0"/>
              <a:t>,</a:t>
            </a:r>
            <a:r>
              <a:rPr lang="zh-CN" altLang="en-US" sz="2800" dirty="0"/>
              <a:t>元组</a:t>
            </a:r>
            <a:r>
              <a:rPr lang="en-US" altLang="zh-CN" sz="2800" i="1" dirty="0"/>
              <a:t>t</a:t>
            </a:r>
            <a:r>
              <a:rPr lang="zh-CN" altLang="en-US" sz="2800" dirty="0"/>
              <a:t>的第</a:t>
            </a:r>
            <a:r>
              <a:rPr lang="en-US" altLang="zh-CN" sz="2800" i="1" dirty="0"/>
              <a:t>i</a:t>
            </a:r>
            <a:r>
              <a:rPr lang="zh-CN" altLang="en-US" sz="2800" dirty="0"/>
              <a:t>个分量与元组</a:t>
            </a:r>
            <a:r>
              <a:rPr lang="en-US" altLang="zh-CN" sz="2800" i="1" dirty="0"/>
              <a:t>u</a:t>
            </a:r>
            <a:r>
              <a:rPr lang="zh-CN" altLang="en-US" sz="2800" dirty="0"/>
              <a:t>的第</a:t>
            </a:r>
            <a:r>
              <a:rPr lang="en-US" altLang="zh-CN" sz="2800" i="1" dirty="0"/>
              <a:t>j</a:t>
            </a:r>
            <a:r>
              <a:rPr lang="zh-CN" altLang="en-US" sz="2800" dirty="0"/>
              <a:t>个分量满足比较关系</a:t>
            </a:r>
            <a:r>
              <a:rPr lang="zh-CN" altLang="en-US" sz="2800" i="1" dirty="0">
                <a:sym typeface="Symbol" panose="05050102010706020507" pitchFamily="18" charset="2"/>
              </a:rPr>
              <a:t></a:t>
            </a:r>
            <a:endParaRPr lang="zh-CN" altLang="en-US" sz="2800" dirty="0"/>
          </a:p>
          <a:p>
            <a:pPr lvl="2" eaLnBrk="1" hangingPunct="1"/>
            <a:r>
              <a:rPr lang="en-US" altLang="zh-CN" sz="2800" i="1" dirty="0">
                <a:solidFill>
                  <a:srgbClr val="FF3300"/>
                </a:solidFill>
              </a:rPr>
              <a:t>t[i] </a:t>
            </a:r>
            <a:r>
              <a:rPr lang="en-US" altLang="zh-CN" sz="2800" i="1" dirty="0">
                <a:solidFill>
                  <a:srgbClr val="FF3300"/>
                </a:solidFill>
                <a:sym typeface="Symbol" panose="05050102010706020507" pitchFamily="18" charset="2"/>
              </a:rPr>
              <a:t></a:t>
            </a:r>
            <a:r>
              <a:rPr lang="en-US" altLang="zh-CN" sz="2800" i="1" dirty="0">
                <a:solidFill>
                  <a:srgbClr val="FF3300"/>
                </a:solidFill>
              </a:rPr>
              <a:t> c</a:t>
            </a:r>
            <a:endParaRPr lang="en-US" altLang="zh-CN" sz="2800" i="1" dirty="0">
              <a:solidFill>
                <a:srgbClr val="FF3300"/>
              </a:solidFill>
            </a:endParaRPr>
          </a:p>
          <a:p>
            <a:pPr lvl="2" eaLnBrk="1" hangingPunct="1">
              <a:buNone/>
            </a:pPr>
            <a:r>
              <a:rPr lang="en-US" altLang="zh-CN" sz="2800" dirty="0"/>
              <a:t>  </a:t>
            </a:r>
            <a:r>
              <a:rPr lang="zh-CN" altLang="en-US" sz="2800" dirty="0"/>
              <a:t>分量</a:t>
            </a:r>
            <a:r>
              <a:rPr lang="en-US" altLang="zh-CN" sz="2800" i="1" dirty="0"/>
              <a:t>t[i]</a:t>
            </a:r>
            <a:r>
              <a:rPr lang="zh-CN" altLang="en-US" sz="2800" dirty="0"/>
              <a:t>与常量</a:t>
            </a:r>
            <a:r>
              <a:rPr lang="en-US" altLang="zh-CN" sz="2800" i="1" dirty="0"/>
              <a:t>c</a:t>
            </a:r>
            <a:r>
              <a:rPr lang="zh-CN" altLang="en-US" sz="2800" dirty="0"/>
              <a:t>之间满足比较关系</a:t>
            </a:r>
            <a:r>
              <a:rPr lang="zh-CN" altLang="en-US" sz="2800" i="1" dirty="0">
                <a:sym typeface="Symbol" panose="05050102010706020507" pitchFamily="18" charset="2"/>
              </a:rPr>
              <a:t></a:t>
            </a:r>
            <a:r>
              <a:rPr lang="zh-CN" altLang="en-US" sz="2800" i="1" dirty="0"/>
              <a:t> </a:t>
            </a:r>
            <a:endParaRPr lang="zh-CN" altLang="en-US" sz="28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6148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48006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20000"/>
              </a:lnSpc>
              <a:buClr>
                <a:srgbClr val="FF0000"/>
              </a:buClr>
            </a:pPr>
            <a:r>
              <a:rPr lang="zh-CN" altLang="en-US" sz="3200" dirty="0">
                <a:solidFill>
                  <a:srgbClr val="FF0000"/>
                </a:solidFill>
              </a:rPr>
              <a:t>公式的递归定义</a:t>
            </a:r>
            <a:endParaRPr lang="zh-CN" altLang="en-US" sz="3200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2800" dirty="0"/>
              <a:t>原子公式是公式</a:t>
            </a:r>
            <a:endParaRPr lang="zh-CN" altLang="en-US" sz="2800" dirty="0"/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2800" dirty="0"/>
              <a:t>如果</a:t>
            </a:r>
            <a:r>
              <a:rPr lang="en-US" altLang="zh-CN" sz="2800" i="1" dirty="0"/>
              <a:t>P</a:t>
            </a:r>
            <a:r>
              <a:rPr lang="zh-CN" altLang="en-US" sz="2800" dirty="0"/>
              <a:t>是公式，那么</a:t>
            </a:r>
            <a:r>
              <a:rPr lang="zh-CN" altLang="en-US" sz="2800" i="1" dirty="0"/>
              <a:t>┑</a:t>
            </a:r>
            <a:r>
              <a:rPr lang="en-US" altLang="zh-CN" sz="2800" i="1" dirty="0"/>
              <a:t>P</a:t>
            </a:r>
            <a:r>
              <a:rPr lang="zh-CN" altLang="en-US" sz="2800" dirty="0"/>
              <a:t>也是公式</a:t>
            </a:r>
            <a:endParaRPr lang="zh-CN" altLang="en-US" sz="2800" dirty="0"/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2800" dirty="0"/>
              <a:t>如果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1</a:t>
            </a:r>
            <a:r>
              <a:rPr lang="en-US" altLang="zh-CN" sz="2800" dirty="0"/>
              <a:t> , 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2</a:t>
            </a:r>
            <a:r>
              <a:rPr lang="zh-CN" altLang="en-US" sz="2800" dirty="0"/>
              <a:t>是公式，则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1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</a:t>
            </a:r>
            <a:r>
              <a:rPr lang="en-US" altLang="zh-CN" sz="2800" dirty="0"/>
              <a:t> 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2</a:t>
            </a:r>
            <a:r>
              <a:rPr lang="en-US" altLang="zh-CN" sz="2800" dirty="0"/>
              <a:t> , </a:t>
            </a:r>
            <a:r>
              <a:rPr lang="en-US" altLang="zh-CN" sz="2800" i="1" baseline="-16000" dirty="0"/>
              <a:t> 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1 </a:t>
            </a:r>
            <a:r>
              <a:rPr lang="en-US" altLang="zh-CN" sz="2800" dirty="0">
                <a:sym typeface="Symbol" panose="05050102010706020507" pitchFamily="18" charset="2"/>
              </a:rPr>
              <a:t></a:t>
            </a:r>
            <a:r>
              <a:rPr lang="en-US" altLang="zh-CN" sz="2800" i="1" baseline="-16000" dirty="0"/>
              <a:t> 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2 </a:t>
            </a:r>
            <a:r>
              <a:rPr lang="en-US" altLang="zh-CN" sz="2800" dirty="0"/>
              <a:t>, 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1 </a:t>
            </a:r>
            <a:r>
              <a:rPr lang="en-US" altLang="zh-CN" sz="2800" dirty="0">
                <a:sym typeface="Symbol" panose="05050102010706020507" pitchFamily="18" charset="2"/>
              </a:rPr>
              <a:t></a:t>
            </a:r>
            <a:r>
              <a:rPr lang="en-US" altLang="zh-CN" sz="2800" i="1" baseline="-16000" dirty="0"/>
              <a:t> 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2</a:t>
            </a:r>
            <a:r>
              <a:rPr lang="zh-CN" altLang="en-US" sz="2800" dirty="0"/>
              <a:t>也是公式</a:t>
            </a:r>
            <a:endParaRPr lang="zh-CN" altLang="en-US" sz="2800" dirty="0"/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2800" dirty="0"/>
              <a:t>如果</a:t>
            </a:r>
            <a:r>
              <a:rPr lang="en-US" altLang="zh-CN" sz="2800" i="1" dirty="0"/>
              <a:t>P(t)</a:t>
            </a:r>
            <a:r>
              <a:rPr lang="zh-CN" altLang="en-US" sz="2800" dirty="0"/>
              <a:t>是公式，则</a:t>
            </a:r>
            <a:r>
              <a:rPr lang="zh-CN" altLang="en-US" sz="2800" dirty="0">
                <a:sym typeface="Symbol" panose="05050102010706020507" pitchFamily="18" charset="2"/>
              </a:rPr>
              <a:t></a:t>
            </a:r>
            <a:r>
              <a:rPr lang="en-US" altLang="zh-CN" sz="2800" i="1" dirty="0">
                <a:sym typeface="Symbol" panose="05050102010706020507" pitchFamily="18" charset="2"/>
              </a:rPr>
              <a:t>t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sym typeface="Symbol" panose="05050102010706020507" pitchFamily="18" charset="2"/>
              </a:rPr>
              <a:t> (</a:t>
            </a:r>
            <a:r>
              <a:rPr lang="en-US" altLang="zh-CN" sz="2800" i="1" dirty="0"/>
              <a:t>P(t))</a:t>
            </a:r>
            <a:r>
              <a:rPr lang="zh-CN" altLang="en-US" sz="2800" dirty="0"/>
              <a:t>是公式</a:t>
            </a:r>
            <a:endParaRPr lang="zh-CN" altLang="en-US" sz="2800" dirty="0"/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2800" dirty="0"/>
              <a:t>如果</a:t>
            </a:r>
            <a:r>
              <a:rPr lang="en-US" altLang="zh-CN" sz="2800" i="1" dirty="0"/>
              <a:t>P(t)</a:t>
            </a:r>
            <a:r>
              <a:rPr lang="zh-CN" altLang="en-US" sz="2800" dirty="0"/>
              <a:t>是公式，则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>
                <a:sym typeface="Symbol" panose="05050102010706020507" pitchFamily="18" charset="2"/>
              </a:rPr>
              <a:t>t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sym typeface="Symbol" panose="05050102010706020507" pitchFamily="18" charset="2"/>
              </a:rPr>
              <a:t> (</a:t>
            </a:r>
            <a:r>
              <a:rPr lang="en-US" altLang="zh-CN" sz="2800" i="1" dirty="0"/>
              <a:t>P(t))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也是公式</a:t>
            </a:r>
            <a:endParaRPr lang="zh-CN" altLang="en-US" sz="28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36576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buClr>
                <a:srgbClr val="FF0000"/>
              </a:buClr>
            </a:pPr>
            <a:r>
              <a:rPr lang="zh-CN" altLang="en-US" sz="3600" dirty="0">
                <a:solidFill>
                  <a:srgbClr val="FF0000"/>
                </a:solidFill>
              </a:rPr>
              <a:t>运算优先级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从高到低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en-US" altLang="zh-CN" sz="3600" dirty="0">
              <a:solidFill>
                <a:srgbClr val="FF0000"/>
              </a:solidFill>
            </a:endParaRPr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3200" dirty="0"/>
              <a:t>括号优先</a:t>
            </a:r>
            <a:endParaRPr lang="zh-CN" altLang="en-US" sz="3200" dirty="0"/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3200" dirty="0"/>
              <a:t>算术比较运算符 </a:t>
            </a:r>
            <a:r>
              <a:rPr lang="en-US" altLang="zh-CN" sz="3200" dirty="0"/>
              <a:t>(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&gt; ≥ = &lt; ≤ ≠)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3200" dirty="0"/>
              <a:t>量词次之， </a:t>
            </a:r>
            <a:r>
              <a:rPr lang="zh-CN" altLang="en-US" sz="3200" dirty="0">
                <a:sym typeface="Symbol" panose="05050102010706020507" pitchFamily="18" charset="2"/>
              </a:rPr>
              <a:t>高于</a:t>
            </a:r>
            <a:endParaRPr lang="zh-CN" altLang="en-US" sz="3200" i="1" dirty="0">
              <a:sym typeface="Symbol" panose="05050102010706020507" pitchFamily="18" charset="2"/>
            </a:endParaRPr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3200" dirty="0">
                <a:sym typeface="Symbol" panose="05050102010706020507" pitchFamily="18" charset="2"/>
              </a:rPr>
              <a:t>逻辑运算符</a:t>
            </a:r>
            <a:r>
              <a:rPr lang="en-US" altLang="zh-CN" sz="3200" dirty="0">
                <a:sym typeface="Symbol" panose="05050102010706020507" pitchFamily="18" charset="2"/>
              </a:rPr>
              <a:t>:</a:t>
            </a:r>
            <a:r>
              <a:rPr lang="en-US" altLang="zh-CN" sz="3200" i="1" dirty="0"/>
              <a:t>┑, </a:t>
            </a:r>
            <a:r>
              <a:rPr lang="en-US" altLang="zh-CN" sz="3200" dirty="0">
                <a:sym typeface="Symbol" panose="05050102010706020507" pitchFamily="18" charset="2"/>
              </a:rPr>
              <a:t></a:t>
            </a:r>
            <a:r>
              <a:rPr lang="en-US" altLang="zh-CN" sz="3200" dirty="0"/>
              <a:t> , </a:t>
            </a:r>
            <a:r>
              <a:rPr lang="en-US" altLang="zh-CN" sz="3200" dirty="0">
                <a:sym typeface="Symbol" panose="05050102010706020507" pitchFamily="18" charset="2"/>
              </a:rPr>
              <a:t></a:t>
            </a:r>
            <a:r>
              <a:rPr lang="en-US" altLang="zh-CN" sz="3200" i="1" baseline="-16000" dirty="0"/>
              <a:t> </a:t>
            </a:r>
            <a:endParaRPr lang="en-US" altLang="zh-CN" sz="3200" i="1" baseline="-1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26670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zh-CN" altLang="en-US" sz="3000" dirty="0">
                <a:sym typeface="Symbol" panose="05050102010706020507" pitchFamily="18" charset="2"/>
              </a:rPr>
              <a:t>公式的等价性</a:t>
            </a:r>
            <a:endParaRPr lang="zh-CN" altLang="en-US" sz="3000" dirty="0"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zh-CN" sz="2600" i="1" dirty="0"/>
              <a:t>P</a:t>
            </a:r>
            <a:r>
              <a:rPr lang="en-US" altLang="zh-CN" sz="2600" i="1" baseline="-16000" dirty="0"/>
              <a:t>1</a:t>
            </a:r>
            <a:r>
              <a:rPr lang="en-US" altLang="zh-CN" sz="2600" dirty="0"/>
              <a:t> </a:t>
            </a:r>
            <a:r>
              <a:rPr lang="en-US" altLang="zh-CN" sz="2600" dirty="0">
                <a:sym typeface="Symbol" panose="05050102010706020507" pitchFamily="18" charset="2"/>
              </a:rPr>
              <a:t></a:t>
            </a:r>
            <a:r>
              <a:rPr lang="en-US" altLang="zh-CN" sz="2600" i="1" dirty="0"/>
              <a:t>P</a:t>
            </a:r>
            <a:r>
              <a:rPr lang="en-US" altLang="zh-CN" sz="2600" i="1" baseline="-16000" dirty="0"/>
              <a:t>2  </a:t>
            </a:r>
            <a:r>
              <a:rPr lang="en-US" altLang="zh-CN" sz="2600" b="0" dirty="0">
                <a:solidFill>
                  <a:srgbClr val="FF3300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600" i="1" dirty="0">
                <a:sym typeface="Symbol" panose="05050102010706020507" pitchFamily="18" charset="2"/>
              </a:rPr>
              <a:t> </a:t>
            </a:r>
            <a:r>
              <a:rPr lang="en-US" altLang="zh-CN" sz="2600" i="1" dirty="0"/>
              <a:t>┑(┑P</a:t>
            </a:r>
            <a:r>
              <a:rPr lang="en-US" altLang="zh-CN" sz="2600" i="1" baseline="-16000" dirty="0"/>
              <a:t>1 </a:t>
            </a:r>
            <a:r>
              <a:rPr lang="en-US" altLang="zh-CN" sz="2600" dirty="0">
                <a:sym typeface="Symbol" panose="05050102010706020507" pitchFamily="18" charset="2"/>
              </a:rPr>
              <a:t></a:t>
            </a:r>
            <a:r>
              <a:rPr lang="en-US" altLang="zh-CN" sz="2600" i="1" baseline="-16000" dirty="0"/>
              <a:t> </a:t>
            </a:r>
            <a:r>
              <a:rPr lang="en-US" altLang="zh-CN" sz="2600" i="1" dirty="0"/>
              <a:t>┑P</a:t>
            </a:r>
            <a:r>
              <a:rPr lang="en-US" altLang="zh-CN" sz="2600" i="1" baseline="-16000" dirty="0"/>
              <a:t>2</a:t>
            </a:r>
            <a:r>
              <a:rPr lang="en-US" altLang="zh-CN" sz="2600" i="1" dirty="0"/>
              <a:t>)</a:t>
            </a:r>
            <a:endParaRPr lang="en-US" altLang="zh-CN" sz="2600" i="1" dirty="0"/>
          </a:p>
          <a:p>
            <a:pPr lvl="2" eaLnBrk="1" hangingPunct="1"/>
            <a:r>
              <a:rPr lang="en-US" altLang="zh-CN" sz="2600" dirty="0">
                <a:sym typeface="Symbol" panose="05050102010706020507" pitchFamily="18" charset="2"/>
              </a:rPr>
              <a:t></a:t>
            </a:r>
            <a:r>
              <a:rPr lang="en-US" altLang="zh-CN" sz="2600" i="1" dirty="0">
                <a:sym typeface="Symbol" panose="05050102010706020507" pitchFamily="18" charset="2"/>
              </a:rPr>
              <a:t> t</a:t>
            </a:r>
            <a:r>
              <a:rPr lang="en-US" altLang="zh-CN" sz="2600" dirty="0">
                <a:sym typeface="Symbol" panose="05050102010706020507" pitchFamily="18" charset="2"/>
              </a:rPr>
              <a:t> </a:t>
            </a:r>
            <a:r>
              <a:rPr lang="en-US" altLang="zh-CN" sz="2600" i="1" dirty="0">
                <a:sym typeface="Symbol" panose="05050102010706020507" pitchFamily="18" charset="2"/>
              </a:rPr>
              <a:t>(</a:t>
            </a:r>
            <a:r>
              <a:rPr lang="en-US" altLang="zh-CN" sz="2600" i="1" dirty="0"/>
              <a:t>P(t)) </a:t>
            </a:r>
            <a:r>
              <a:rPr lang="en-US" altLang="zh-CN" sz="2600" b="0" dirty="0">
                <a:solidFill>
                  <a:srgbClr val="FF3300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600" i="1" dirty="0">
                <a:sym typeface="Symbol" panose="05050102010706020507" pitchFamily="18" charset="2"/>
              </a:rPr>
              <a:t> </a:t>
            </a:r>
            <a:r>
              <a:rPr lang="en-US" altLang="zh-CN" sz="2600" i="1" dirty="0"/>
              <a:t>┑</a:t>
            </a:r>
            <a:r>
              <a:rPr lang="en-US" altLang="zh-CN" sz="2600" dirty="0">
                <a:sym typeface="Symbol" panose="05050102010706020507" pitchFamily="18" charset="2"/>
              </a:rPr>
              <a:t></a:t>
            </a:r>
            <a:r>
              <a:rPr lang="en-US" altLang="zh-CN" sz="2600" i="1" dirty="0">
                <a:sym typeface="Symbol" panose="05050102010706020507" pitchFamily="18" charset="2"/>
              </a:rPr>
              <a:t>t  (</a:t>
            </a:r>
            <a:r>
              <a:rPr lang="en-US" altLang="zh-CN" sz="2600" i="1" dirty="0"/>
              <a:t>┑P(t))</a:t>
            </a:r>
            <a:endParaRPr lang="en-US" altLang="zh-CN" sz="2600" i="1" dirty="0"/>
          </a:p>
          <a:p>
            <a:pPr lvl="2" eaLnBrk="1" hangingPunct="1"/>
            <a:r>
              <a:rPr lang="en-US" altLang="zh-CN" sz="2600" i="1" dirty="0"/>
              <a:t>P</a:t>
            </a:r>
            <a:r>
              <a:rPr lang="en-US" altLang="zh-CN" sz="2600" i="1" baseline="-16000" dirty="0"/>
              <a:t>1</a:t>
            </a:r>
            <a:r>
              <a:rPr lang="en-US" altLang="zh-CN" sz="2600" dirty="0"/>
              <a:t> </a:t>
            </a:r>
            <a:r>
              <a:rPr lang="en-US" altLang="zh-CN" sz="2600" dirty="0">
                <a:sym typeface="Symbol" panose="05050102010706020507" pitchFamily="18" charset="2"/>
              </a:rPr>
              <a:t> </a:t>
            </a:r>
            <a:r>
              <a:rPr lang="en-US" altLang="zh-CN" sz="2600" i="1" dirty="0"/>
              <a:t>P</a:t>
            </a:r>
            <a:r>
              <a:rPr lang="en-US" altLang="zh-CN" sz="2600" i="1" baseline="-16000" dirty="0"/>
              <a:t>2  </a:t>
            </a:r>
            <a:r>
              <a:rPr lang="en-US" altLang="zh-CN" sz="2600" b="0" dirty="0">
                <a:solidFill>
                  <a:srgbClr val="FF3300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600" i="1" dirty="0">
                <a:sym typeface="Symbol" panose="05050102010706020507" pitchFamily="18" charset="2"/>
              </a:rPr>
              <a:t>  </a:t>
            </a:r>
            <a:r>
              <a:rPr lang="en-US" altLang="zh-CN" sz="2600" i="1" dirty="0"/>
              <a:t>┑P</a:t>
            </a:r>
            <a:r>
              <a:rPr lang="en-US" altLang="zh-CN" sz="2600" i="1" baseline="-16000" dirty="0"/>
              <a:t>1 </a:t>
            </a:r>
            <a:r>
              <a:rPr lang="en-US" altLang="zh-CN" sz="2600" dirty="0">
                <a:sym typeface="Symbol" panose="05050102010706020507" pitchFamily="18" charset="2"/>
              </a:rPr>
              <a:t></a:t>
            </a:r>
            <a:r>
              <a:rPr lang="en-US" altLang="zh-CN" sz="2600" i="1" dirty="0"/>
              <a:t>P</a:t>
            </a:r>
            <a:r>
              <a:rPr lang="en-US" altLang="zh-CN" sz="2600" i="1" baseline="-16000" dirty="0"/>
              <a:t>2</a:t>
            </a:r>
            <a:endParaRPr lang="en-US" altLang="zh-CN" dirty="0"/>
          </a:p>
          <a:p>
            <a:pPr lvl="2" eaLnBrk="1" hangingPunct="1"/>
            <a:endParaRPr lang="en-US" altLang="zh-CN" sz="3200" dirty="0"/>
          </a:p>
        </p:txBody>
      </p:sp>
      <p:graphicFrame>
        <p:nvGraphicFramePr>
          <p:cNvPr id="157700" name="Group 4"/>
          <p:cNvGraphicFramePr>
            <a:graphicFrameLocks noGrp="1"/>
          </p:cNvGraphicFramePr>
          <p:nvPr/>
        </p:nvGraphicFramePr>
        <p:xfrm>
          <a:off x="1295400" y="3581400"/>
          <a:ext cx="5867400" cy="2590800"/>
        </p:xfrm>
        <a:graphic>
          <a:graphicData uri="http://schemas.openxmlformats.org/drawingml/2006/table">
            <a:tbl>
              <a:tblPr/>
              <a:tblGrid>
                <a:gridCol w="917575"/>
                <a:gridCol w="669925"/>
                <a:gridCol w="1068388"/>
                <a:gridCol w="1535112"/>
                <a:gridCol w="1676400"/>
              </a:tblGrid>
              <a:tr h="376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┑p</a:t>
                      </a:r>
                      <a:endParaRPr kumimoji="1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 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q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┑p 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q</a:t>
                      </a:r>
                      <a:endParaRPr kumimoji="1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26670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sz="3000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sz="3000" dirty="0">
                <a:latin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sz="3000" dirty="0">
                <a:latin typeface="Arial" panose="020B0604020202020204" pitchFamily="34" charset="0"/>
                <a:sym typeface="Symbol" panose="05050102010706020507" pitchFamily="18" charset="2"/>
              </a:rPr>
              <a:t>1]</a:t>
            </a:r>
            <a:endParaRPr lang="en-US" altLang="zh-CN" dirty="0">
              <a:latin typeface="Arial" panose="020B0604020202020204" pitchFamily="34" charset="0"/>
            </a:endParaRPr>
          </a:p>
          <a:p>
            <a:pPr lvl="2" eaLnBrk="1" hangingPunct="1"/>
            <a:endParaRPr lang="en-US" altLang="zh-CN" sz="3200" dirty="0"/>
          </a:p>
        </p:txBody>
      </p:sp>
      <p:graphicFrame>
        <p:nvGraphicFramePr>
          <p:cNvPr id="158724" name="Group 4"/>
          <p:cNvGraphicFramePr>
            <a:graphicFrameLocks noGrp="1"/>
          </p:cNvGraphicFramePr>
          <p:nvPr/>
        </p:nvGraphicFramePr>
        <p:xfrm>
          <a:off x="1260475" y="1905000"/>
          <a:ext cx="2209800" cy="1828800"/>
        </p:xfrm>
        <a:graphic>
          <a:graphicData uri="http://schemas.openxmlformats.org/drawingml/2006/table">
            <a:tbl>
              <a:tblPr/>
              <a:tblGrid>
                <a:gridCol w="736600"/>
                <a:gridCol w="736600"/>
                <a:gridCol w="7366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8746" name="Group 26"/>
          <p:cNvGraphicFramePr>
            <a:graphicFrameLocks noGrp="1"/>
          </p:cNvGraphicFramePr>
          <p:nvPr/>
        </p:nvGraphicFramePr>
        <p:xfrm>
          <a:off x="5410200" y="1905000"/>
          <a:ext cx="1981200" cy="1828800"/>
        </p:xfrm>
        <a:graphic>
          <a:graphicData uri="http://schemas.openxmlformats.org/drawingml/2006/table">
            <a:tbl>
              <a:tblPr/>
              <a:tblGrid>
                <a:gridCol w="660400"/>
                <a:gridCol w="660400"/>
                <a:gridCol w="6604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65" name="Text Box 48"/>
          <p:cNvSpPr txBox="1"/>
          <p:nvPr/>
        </p:nvSpPr>
        <p:spPr>
          <a:xfrm>
            <a:off x="2022475" y="12954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R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9266" name="Text Box 49"/>
          <p:cNvSpPr txBox="1"/>
          <p:nvPr/>
        </p:nvSpPr>
        <p:spPr>
          <a:xfrm>
            <a:off x="6019800" y="12954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graphicFrame>
        <p:nvGraphicFramePr>
          <p:cNvPr id="158770" name="Group 50"/>
          <p:cNvGraphicFramePr>
            <a:graphicFrameLocks noGrp="1"/>
          </p:cNvGraphicFramePr>
          <p:nvPr/>
        </p:nvGraphicFramePr>
        <p:xfrm>
          <a:off x="1447800" y="4876800"/>
          <a:ext cx="1981200" cy="1371600"/>
        </p:xfrm>
        <a:graphic>
          <a:graphicData uri="http://schemas.openxmlformats.org/drawingml/2006/table">
            <a:tbl>
              <a:tblPr/>
              <a:tblGrid>
                <a:gridCol w="660400"/>
                <a:gridCol w="660400"/>
                <a:gridCol w="6604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85" name="Text Box 68"/>
          <p:cNvSpPr txBox="1"/>
          <p:nvPr/>
        </p:nvSpPr>
        <p:spPr>
          <a:xfrm>
            <a:off x="1143000" y="3962400"/>
            <a:ext cx="24638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{ t |  S(t)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 t[A] &gt;2}</a:t>
            </a:r>
            <a:endParaRPr lang="en-US" altLang="zh-CN" sz="2400" dirty="0">
              <a:solidFill>
                <a:schemeClr val="tx1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158789" name="Group 69"/>
          <p:cNvGraphicFramePr>
            <a:graphicFrameLocks noGrp="1"/>
          </p:cNvGraphicFramePr>
          <p:nvPr/>
        </p:nvGraphicFramePr>
        <p:xfrm>
          <a:off x="5334000" y="4800600"/>
          <a:ext cx="1981200" cy="1371600"/>
        </p:xfrm>
        <a:graphic>
          <a:graphicData uri="http://schemas.openxmlformats.org/drawingml/2006/table">
            <a:tbl>
              <a:tblPr/>
              <a:tblGrid>
                <a:gridCol w="660400"/>
                <a:gridCol w="660400"/>
                <a:gridCol w="6604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304" name="Text Box 87"/>
          <p:cNvSpPr txBox="1"/>
          <p:nvPr/>
        </p:nvSpPr>
        <p:spPr>
          <a:xfrm>
            <a:off x="4724400" y="3886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{ t |  R(t)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┑</a:t>
            </a:r>
            <a:r>
              <a:rPr lang="en-US" altLang="zh-CN" sz="2400" dirty="0">
                <a:solidFill>
                  <a:schemeClr val="tx1"/>
                </a:solidFill>
              </a:rPr>
              <a:t>S(t)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 }</a:t>
            </a:r>
            <a:endParaRPr lang="en-US" altLang="zh-CN" sz="2400" dirty="0">
              <a:solidFill>
                <a:schemeClr val="tx1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9305" name="Text Box 68"/>
          <p:cNvSpPr txBox="1"/>
          <p:nvPr/>
        </p:nvSpPr>
        <p:spPr>
          <a:xfrm>
            <a:off x="1069975" y="4340225"/>
            <a:ext cx="266858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{ t |  t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∈</a:t>
            </a:r>
            <a:r>
              <a:rPr lang="en-US" altLang="zh-CN" sz="2400" i="1" dirty="0"/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S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 t[A] &gt;2}</a:t>
            </a:r>
            <a:endParaRPr lang="en-US" altLang="zh-CN" sz="2400" dirty="0">
              <a:solidFill>
                <a:schemeClr val="tx1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26670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sz="3000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sz="3000" dirty="0">
                <a:latin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sz="3000" dirty="0">
                <a:latin typeface="Arial" panose="020B0604020202020204" pitchFamily="34" charset="0"/>
                <a:sym typeface="Symbol" panose="05050102010706020507" pitchFamily="18" charset="2"/>
              </a:rPr>
              <a:t>2]</a:t>
            </a:r>
            <a:endParaRPr lang="en-US" altLang="zh-CN" dirty="0">
              <a:latin typeface="Arial" panose="020B0604020202020204" pitchFamily="34" charset="0"/>
            </a:endParaRPr>
          </a:p>
          <a:p>
            <a:pPr lvl="2" eaLnBrk="1" hangingPunct="1"/>
            <a:endParaRPr lang="en-US" altLang="zh-CN" sz="3200" dirty="0"/>
          </a:p>
        </p:txBody>
      </p:sp>
      <p:graphicFrame>
        <p:nvGraphicFramePr>
          <p:cNvPr id="159748" name="Group 4"/>
          <p:cNvGraphicFramePr>
            <a:graphicFrameLocks noGrp="1"/>
          </p:cNvGraphicFramePr>
          <p:nvPr/>
        </p:nvGraphicFramePr>
        <p:xfrm>
          <a:off x="1260475" y="1905000"/>
          <a:ext cx="2209800" cy="1828800"/>
        </p:xfrm>
        <a:graphic>
          <a:graphicData uri="http://schemas.openxmlformats.org/drawingml/2006/table">
            <a:tbl>
              <a:tblPr/>
              <a:tblGrid>
                <a:gridCol w="736600"/>
                <a:gridCol w="736600"/>
                <a:gridCol w="7366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9770" name="Group 26"/>
          <p:cNvGraphicFramePr>
            <a:graphicFrameLocks noGrp="1"/>
          </p:cNvGraphicFramePr>
          <p:nvPr/>
        </p:nvGraphicFramePr>
        <p:xfrm>
          <a:off x="5410200" y="1905000"/>
          <a:ext cx="1981200" cy="1828800"/>
        </p:xfrm>
        <a:graphic>
          <a:graphicData uri="http://schemas.openxmlformats.org/drawingml/2006/table">
            <a:tbl>
              <a:tblPr/>
              <a:tblGrid>
                <a:gridCol w="660400"/>
                <a:gridCol w="660400"/>
                <a:gridCol w="6604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289" name="Text Box 48"/>
          <p:cNvSpPr txBox="1"/>
          <p:nvPr/>
        </p:nvSpPr>
        <p:spPr>
          <a:xfrm>
            <a:off x="2022475" y="12954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R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0290" name="Text Box 49"/>
          <p:cNvSpPr txBox="1"/>
          <p:nvPr/>
        </p:nvSpPr>
        <p:spPr>
          <a:xfrm>
            <a:off x="6019800" y="12954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graphicFrame>
        <p:nvGraphicFramePr>
          <p:cNvPr id="159794" name="Group 50"/>
          <p:cNvGraphicFramePr>
            <a:graphicFrameLocks noGrp="1"/>
          </p:cNvGraphicFramePr>
          <p:nvPr/>
        </p:nvGraphicFramePr>
        <p:xfrm>
          <a:off x="2971800" y="4724400"/>
          <a:ext cx="1981200" cy="1371600"/>
        </p:xfrm>
        <a:graphic>
          <a:graphicData uri="http://schemas.openxmlformats.org/drawingml/2006/table">
            <a:tbl>
              <a:tblPr/>
              <a:tblGrid>
                <a:gridCol w="660400"/>
                <a:gridCol w="660400"/>
                <a:gridCol w="6604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309" name="Text Box 68"/>
          <p:cNvSpPr txBox="1"/>
          <p:nvPr/>
        </p:nvSpPr>
        <p:spPr>
          <a:xfrm>
            <a:off x="1628775" y="3789363"/>
            <a:ext cx="4860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{ t |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solidFill>
                  <a:schemeClr val="tx1"/>
                </a:solidFill>
              </a:rPr>
              <a:t>u) (S(t)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 </a:t>
            </a:r>
            <a:r>
              <a:rPr lang="en-US" altLang="zh-CN" sz="2400" dirty="0">
                <a:solidFill>
                  <a:schemeClr val="tx1"/>
                </a:solidFill>
              </a:rPr>
              <a:t>R(u)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t[C] &lt; u[B])}</a:t>
            </a:r>
            <a:endParaRPr lang="en-US" altLang="zh-CN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0310" name="Text Box 68"/>
          <p:cNvSpPr txBox="1"/>
          <p:nvPr/>
        </p:nvSpPr>
        <p:spPr>
          <a:xfrm>
            <a:off x="1704975" y="4195763"/>
            <a:ext cx="4691063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{ t | t 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∈</a:t>
            </a:r>
            <a:r>
              <a:rPr lang="en-US" altLang="zh-CN" sz="2400" dirty="0">
                <a:solidFill>
                  <a:schemeClr val="tx1"/>
                </a:solidFill>
              </a:rPr>
              <a:t> S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 (</a:t>
            </a:r>
            <a:r>
              <a:rPr lang="en-US" altLang="zh-CN" sz="2400" u="sng" dirty="0">
                <a:solidFill>
                  <a:srgbClr val="FF0000"/>
                </a:solidFill>
              </a:rPr>
              <a:t>u</a:t>
            </a:r>
            <a:r>
              <a:rPr lang="en-US" altLang="zh-CN" sz="2400" u="sng" dirty="0">
                <a:solidFill>
                  <a:srgbClr val="FF0000"/>
                </a:solidFill>
                <a:latin typeface="宋体" panose="02010600030101010101" pitchFamily="2" charset="-122"/>
              </a:rPr>
              <a:t>∈R</a:t>
            </a:r>
            <a:r>
              <a:rPr lang="en-US" altLang="zh-CN" sz="2400" dirty="0">
                <a:solidFill>
                  <a:schemeClr val="tx1"/>
                </a:solidFill>
              </a:rPr>
              <a:t>) (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t[C] &lt; u[B])}</a:t>
            </a:r>
            <a:endParaRPr lang="en-US" altLang="zh-CN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0311" name="椭圆 1"/>
          <p:cNvSpPr/>
          <p:nvPr/>
        </p:nvSpPr>
        <p:spPr>
          <a:xfrm>
            <a:off x="4643438" y="2924175"/>
            <a:ext cx="3600450" cy="217488"/>
          </a:xfrm>
          <a:prstGeom prst="ellipse">
            <a:avLst/>
          </a:prstGeom>
          <a:noFill/>
          <a:ln w="9525" cap="flat" cmpd="sng">
            <a:solidFill>
              <a:srgbClr val="6600FF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12" name="文本框 2"/>
          <p:cNvSpPr txBox="1"/>
          <p:nvPr/>
        </p:nvSpPr>
        <p:spPr>
          <a:xfrm>
            <a:off x="8388350" y="2852738"/>
            <a:ext cx="3603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</a:rPr>
              <a:t>t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0313" name="椭圆 13"/>
          <p:cNvSpPr/>
          <p:nvPr/>
        </p:nvSpPr>
        <p:spPr>
          <a:xfrm>
            <a:off x="539750" y="2492375"/>
            <a:ext cx="3600450" cy="215900"/>
          </a:xfrm>
          <a:prstGeom prst="ellipse">
            <a:avLst/>
          </a:prstGeom>
          <a:noFill/>
          <a:ln w="9525" cap="flat" cmpd="sng">
            <a:solidFill>
              <a:srgbClr val="6600FF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14" name="文本框 14"/>
          <p:cNvSpPr txBox="1"/>
          <p:nvPr/>
        </p:nvSpPr>
        <p:spPr>
          <a:xfrm>
            <a:off x="179388" y="2319338"/>
            <a:ext cx="3603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</a:rPr>
              <a:t>u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26670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sz="3000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sz="3000" dirty="0">
                <a:latin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sz="3000" dirty="0">
                <a:latin typeface="Arial" panose="020B0604020202020204" pitchFamily="34" charset="0"/>
                <a:sym typeface="Symbol" panose="05050102010706020507" pitchFamily="18" charset="2"/>
              </a:rPr>
              <a:t>3]</a:t>
            </a:r>
            <a:endParaRPr lang="en-US" altLang="zh-CN" dirty="0">
              <a:latin typeface="Arial" panose="020B0604020202020204" pitchFamily="34" charset="0"/>
            </a:endParaRPr>
          </a:p>
          <a:p>
            <a:pPr lvl="2" eaLnBrk="1" hangingPunct="1"/>
            <a:endParaRPr lang="en-US" altLang="zh-CN" sz="3200" dirty="0"/>
          </a:p>
        </p:txBody>
      </p:sp>
      <p:graphicFrame>
        <p:nvGraphicFramePr>
          <p:cNvPr id="160772" name="Group 4"/>
          <p:cNvGraphicFramePr>
            <a:graphicFrameLocks noGrp="1"/>
          </p:cNvGraphicFramePr>
          <p:nvPr/>
        </p:nvGraphicFramePr>
        <p:xfrm>
          <a:off x="1260475" y="1905000"/>
          <a:ext cx="2209800" cy="1828800"/>
        </p:xfrm>
        <a:graphic>
          <a:graphicData uri="http://schemas.openxmlformats.org/drawingml/2006/table">
            <a:tbl>
              <a:tblPr/>
              <a:tblGrid>
                <a:gridCol w="736600"/>
                <a:gridCol w="736600"/>
                <a:gridCol w="7366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0794" name="Group 26"/>
          <p:cNvGraphicFramePr>
            <a:graphicFrameLocks noGrp="1"/>
          </p:cNvGraphicFramePr>
          <p:nvPr/>
        </p:nvGraphicFramePr>
        <p:xfrm>
          <a:off x="5410200" y="1905000"/>
          <a:ext cx="1981200" cy="1828800"/>
        </p:xfrm>
        <a:graphic>
          <a:graphicData uri="http://schemas.openxmlformats.org/drawingml/2006/table">
            <a:tbl>
              <a:tblPr/>
              <a:tblGrid>
                <a:gridCol w="660400"/>
                <a:gridCol w="660400"/>
                <a:gridCol w="6604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13" name="Text Box 48"/>
          <p:cNvSpPr txBox="1"/>
          <p:nvPr/>
        </p:nvSpPr>
        <p:spPr>
          <a:xfrm>
            <a:off x="2022475" y="12954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R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1314" name="Text Box 49"/>
          <p:cNvSpPr txBox="1"/>
          <p:nvPr/>
        </p:nvSpPr>
        <p:spPr>
          <a:xfrm>
            <a:off x="6019800" y="12954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graphicFrame>
        <p:nvGraphicFramePr>
          <p:cNvPr id="160818" name="Group 50"/>
          <p:cNvGraphicFramePr>
            <a:graphicFrameLocks noGrp="1"/>
          </p:cNvGraphicFramePr>
          <p:nvPr/>
        </p:nvGraphicFramePr>
        <p:xfrm>
          <a:off x="3124200" y="4800600"/>
          <a:ext cx="1981200" cy="1371600"/>
        </p:xfrm>
        <a:graphic>
          <a:graphicData uri="http://schemas.openxmlformats.org/drawingml/2006/table">
            <a:tbl>
              <a:tblPr/>
              <a:tblGrid>
                <a:gridCol w="660400"/>
                <a:gridCol w="660400"/>
                <a:gridCol w="6604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33" name="Text Box 68"/>
          <p:cNvSpPr txBox="1"/>
          <p:nvPr/>
        </p:nvSpPr>
        <p:spPr>
          <a:xfrm>
            <a:off x="1857375" y="4114800"/>
            <a:ext cx="48783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{ t | (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solidFill>
                  <a:schemeClr val="tx1"/>
                </a:solidFill>
              </a:rPr>
              <a:t>u)( R(t)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chemeClr val="tx1"/>
                </a:solidFill>
              </a:rPr>
              <a:t> S(u)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t[C] &gt; u[A])}</a:t>
            </a:r>
            <a:endParaRPr lang="en-US" altLang="zh-CN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26670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sz="3000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sz="3000" dirty="0">
                <a:latin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sz="3000" dirty="0">
                <a:latin typeface="Arial" panose="020B0604020202020204" pitchFamily="34" charset="0"/>
                <a:sym typeface="Symbol" panose="05050102010706020507" pitchFamily="18" charset="2"/>
              </a:rPr>
              <a:t>4]</a:t>
            </a:r>
            <a:endParaRPr lang="en-US" altLang="zh-CN" dirty="0">
              <a:latin typeface="Arial" panose="020B0604020202020204" pitchFamily="34" charset="0"/>
            </a:endParaRPr>
          </a:p>
          <a:p>
            <a:pPr lvl="2" eaLnBrk="1" hangingPunct="1"/>
            <a:endParaRPr lang="en-US" altLang="zh-CN" sz="3200" dirty="0"/>
          </a:p>
        </p:txBody>
      </p:sp>
      <p:graphicFrame>
        <p:nvGraphicFramePr>
          <p:cNvPr id="161796" name="Group 4"/>
          <p:cNvGraphicFramePr>
            <a:graphicFrameLocks noGrp="1"/>
          </p:cNvGraphicFramePr>
          <p:nvPr/>
        </p:nvGraphicFramePr>
        <p:xfrm>
          <a:off x="4876800" y="838200"/>
          <a:ext cx="2209800" cy="1828800"/>
        </p:xfrm>
        <a:graphic>
          <a:graphicData uri="http://schemas.openxmlformats.org/drawingml/2006/table">
            <a:tbl>
              <a:tblPr/>
              <a:tblGrid>
                <a:gridCol w="736600"/>
                <a:gridCol w="736600"/>
                <a:gridCol w="7366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1818" name="Group 26"/>
          <p:cNvGraphicFramePr>
            <a:graphicFrameLocks noGrp="1"/>
          </p:cNvGraphicFramePr>
          <p:nvPr/>
        </p:nvGraphicFramePr>
        <p:xfrm>
          <a:off x="7162800" y="838200"/>
          <a:ext cx="1981200" cy="1828800"/>
        </p:xfrm>
        <a:graphic>
          <a:graphicData uri="http://schemas.openxmlformats.org/drawingml/2006/table">
            <a:tbl>
              <a:tblPr/>
              <a:tblGrid>
                <a:gridCol w="660400"/>
                <a:gridCol w="660400"/>
                <a:gridCol w="6604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50000">
                          <a:schemeClr val="accent2"/>
                        </a:gs>
                        <a:gs pos="100000">
                          <a:srgbClr val="FFFF99"/>
                        </a:gs>
                      </a:gsLst>
                      <a:lin ang="2700000" scaled="1"/>
                    </a:gra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37" name="Text Box 48"/>
          <p:cNvSpPr txBox="1"/>
          <p:nvPr/>
        </p:nvSpPr>
        <p:spPr>
          <a:xfrm>
            <a:off x="4191000" y="10668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R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2338" name="Text Box 49"/>
          <p:cNvSpPr txBox="1"/>
          <p:nvPr/>
        </p:nvSpPr>
        <p:spPr>
          <a:xfrm>
            <a:off x="8229600" y="3810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S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2339" name="Text Box 50"/>
          <p:cNvSpPr txBox="1"/>
          <p:nvPr/>
        </p:nvSpPr>
        <p:spPr>
          <a:xfrm>
            <a:off x="0" y="1905000"/>
            <a:ext cx="6556375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R1=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{ t | (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u)</a:t>
            </a:r>
            <a:r>
              <a:rPr lang="en-US" altLang="zh-CN" sz="2400" dirty="0">
                <a:solidFill>
                  <a:schemeClr val="tx1"/>
                </a:solidFill>
              </a:rPr>
              <a:t>(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v)</a:t>
            </a:r>
            <a:r>
              <a:rPr lang="en-US" altLang="zh-CN" sz="2400" dirty="0">
                <a:solidFill>
                  <a:schemeClr val="tx1"/>
                </a:solidFill>
              </a:rPr>
              <a:t>(R(u)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 S(v)   u[A]&gt;v[B]</a:t>
            </a:r>
            <a:endParaRPr lang="en-US" altLang="zh-CN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            t[A]=u[B] t[B]=v[C] t[C]=u[A])}  </a:t>
            </a:r>
            <a:endParaRPr lang="en-US" altLang="zh-CN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61843" name="Group 51"/>
          <p:cNvGraphicFramePr>
            <a:graphicFrameLocks noGrp="1"/>
          </p:cNvGraphicFramePr>
          <p:nvPr/>
        </p:nvGraphicFramePr>
        <p:xfrm>
          <a:off x="228600" y="3632200"/>
          <a:ext cx="2209800" cy="1371600"/>
        </p:xfrm>
        <a:graphic>
          <a:graphicData uri="http://schemas.openxmlformats.org/drawingml/2006/table">
            <a:tbl>
              <a:tblPr/>
              <a:tblGrid>
                <a:gridCol w="736600"/>
                <a:gridCol w="736600"/>
                <a:gridCol w="7366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U[A]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U[B]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U[C]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1861" name="Group 69"/>
          <p:cNvGraphicFramePr>
            <a:graphicFrameLocks noGrp="1"/>
          </p:cNvGraphicFramePr>
          <p:nvPr/>
        </p:nvGraphicFramePr>
        <p:xfrm>
          <a:off x="2590800" y="3619500"/>
          <a:ext cx="2209800" cy="1371600"/>
        </p:xfrm>
        <a:graphic>
          <a:graphicData uri="http://schemas.openxmlformats.org/drawingml/2006/table">
            <a:tbl>
              <a:tblPr/>
              <a:tblGrid>
                <a:gridCol w="736600"/>
                <a:gridCol w="736600"/>
                <a:gridCol w="7366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V[A]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V[B]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V[C]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1879" name="Group 87"/>
          <p:cNvGraphicFramePr>
            <a:graphicFrameLocks noGrp="1"/>
          </p:cNvGraphicFramePr>
          <p:nvPr/>
        </p:nvGraphicFramePr>
        <p:xfrm>
          <a:off x="228600" y="5092700"/>
          <a:ext cx="2209800" cy="457200"/>
        </p:xfrm>
        <a:graphic>
          <a:graphicData uri="http://schemas.openxmlformats.org/drawingml/2006/table">
            <a:tbl>
              <a:tblPr/>
              <a:tblGrid>
                <a:gridCol w="736600"/>
                <a:gridCol w="736600"/>
                <a:gridCol w="7366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1889" name="Group 97"/>
          <p:cNvGraphicFramePr>
            <a:graphicFrameLocks noGrp="1"/>
          </p:cNvGraphicFramePr>
          <p:nvPr/>
        </p:nvGraphicFramePr>
        <p:xfrm>
          <a:off x="215900" y="5626100"/>
          <a:ext cx="2209800" cy="457200"/>
        </p:xfrm>
        <a:graphic>
          <a:graphicData uri="http://schemas.openxmlformats.org/drawingml/2006/table">
            <a:tbl>
              <a:tblPr/>
              <a:tblGrid>
                <a:gridCol w="736600"/>
                <a:gridCol w="736600"/>
                <a:gridCol w="7366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1899" name="Group 107"/>
          <p:cNvGraphicFramePr>
            <a:graphicFrameLocks noGrp="1"/>
          </p:cNvGraphicFramePr>
          <p:nvPr/>
        </p:nvGraphicFramePr>
        <p:xfrm>
          <a:off x="2590800" y="6159500"/>
          <a:ext cx="2209800" cy="457200"/>
        </p:xfrm>
        <a:graphic>
          <a:graphicData uri="http://schemas.openxmlformats.org/drawingml/2006/table">
            <a:tbl>
              <a:tblPr/>
              <a:tblGrid>
                <a:gridCol w="736600"/>
                <a:gridCol w="736600"/>
                <a:gridCol w="7366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</a:tbl>
          </a:graphicData>
        </a:graphic>
      </p:graphicFrame>
      <p:sp>
        <p:nvSpPr>
          <p:cNvPr id="12406" name="Text Box 117"/>
          <p:cNvSpPr txBox="1"/>
          <p:nvPr/>
        </p:nvSpPr>
        <p:spPr>
          <a:xfrm>
            <a:off x="152400" y="3124200"/>
            <a:ext cx="477838" cy="57943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经典综艺体简" pitchFamily="49" charset="-122"/>
              </a:rPr>
              <a:t>U</a:t>
            </a:r>
            <a:endParaRPr lang="en-US" altLang="zh-CN" dirty="0">
              <a:solidFill>
                <a:srgbClr val="FF0000"/>
              </a:solidFill>
              <a:ea typeface="经典综艺体简" pitchFamily="49" charset="-122"/>
            </a:endParaRPr>
          </a:p>
        </p:txBody>
      </p:sp>
      <p:sp>
        <p:nvSpPr>
          <p:cNvPr id="12407" name="Text Box 118"/>
          <p:cNvSpPr txBox="1"/>
          <p:nvPr/>
        </p:nvSpPr>
        <p:spPr>
          <a:xfrm>
            <a:off x="4800600" y="3352800"/>
            <a:ext cx="477838" cy="57943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经典综艺体简" pitchFamily="49" charset="-122"/>
              </a:rPr>
              <a:t>V</a:t>
            </a:r>
            <a:endParaRPr lang="en-US" altLang="zh-CN" dirty="0">
              <a:solidFill>
                <a:srgbClr val="FF0000"/>
              </a:solidFill>
              <a:ea typeface="经典综艺体简" pitchFamily="49" charset="-122"/>
            </a:endParaRPr>
          </a:p>
        </p:txBody>
      </p:sp>
      <p:graphicFrame>
        <p:nvGraphicFramePr>
          <p:cNvPr id="161911" name="Group 119"/>
          <p:cNvGraphicFramePr>
            <a:graphicFrameLocks noGrp="1"/>
          </p:cNvGraphicFramePr>
          <p:nvPr/>
        </p:nvGraphicFramePr>
        <p:xfrm>
          <a:off x="2590800" y="5626100"/>
          <a:ext cx="2209800" cy="457200"/>
        </p:xfrm>
        <a:graphic>
          <a:graphicData uri="http://schemas.openxmlformats.org/drawingml/2006/table">
            <a:tbl>
              <a:tblPr/>
              <a:tblGrid>
                <a:gridCol w="736600"/>
                <a:gridCol w="736600"/>
                <a:gridCol w="7366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1921" name="Group 129"/>
          <p:cNvGraphicFramePr>
            <a:graphicFrameLocks noGrp="1"/>
          </p:cNvGraphicFramePr>
          <p:nvPr/>
        </p:nvGraphicFramePr>
        <p:xfrm>
          <a:off x="6400800" y="3733800"/>
          <a:ext cx="2514600" cy="2590800"/>
        </p:xfrm>
        <a:graphic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</a:tblGrid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R.B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S.C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R.A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444" name="Text Box 155"/>
          <p:cNvSpPr txBox="1"/>
          <p:nvPr/>
        </p:nvSpPr>
        <p:spPr>
          <a:xfrm>
            <a:off x="7035800" y="3124200"/>
            <a:ext cx="93980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经典综艺体简" pitchFamily="49" charset="-122"/>
              </a:rPr>
              <a:t>R1</a:t>
            </a:r>
            <a:endParaRPr lang="en-US" altLang="zh-CN" dirty="0">
              <a:solidFill>
                <a:srgbClr val="FF0000"/>
              </a:solidFill>
              <a:ea typeface="经典综艺体简" pitchFamily="49" charset="-122"/>
            </a:endParaRPr>
          </a:p>
        </p:txBody>
      </p:sp>
      <p:graphicFrame>
        <p:nvGraphicFramePr>
          <p:cNvPr id="161948" name="Group 156"/>
          <p:cNvGraphicFramePr>
            <a:graphicFrameLocks noGrp="1"/>
          </p:cNvGraphicFramePr>
          <p:nvPr/>
        </p:nvGraphicFramePr>
        <p:xfrm>
          <a:off x="203200" y="6172200"/>
          <a:ext cx="2209800" cy="457200"/>
        </p:xfrm>
        <a:graphic>
          <a:graphicData uri="http://schemas.openxmlformats.org/drawingml/2006/table">
            <a:tbl>
              <a:tblPr/>
              <a:tblGrid>
                <a:gridCol w="736600"/>
                <a:gridCol w="736600"/>
                <a:gridCol w="7366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1958" name="Group 166"/>
          <p:cNvGraphicFramePr>
            <a:graphicFrameLocks noGrp="1"/>
          </p:cNvGraphicFramePr>
          <p:nvPr/>
        </p:nvGraphicFramePr>
        <p:xfrm>
          <a:off x="2590800" y="5080000"/>
          <a:ext cx="2209800" cy="457200"/>
        </p:xfrm>
        <a:graphic>
          <a:graphicData uri="http://schemas.openxmlformats.org/drawingml/2006/table">
            <a:tbl>
              <a:tblPr/>
              <a:tblGrid>
                <a:gridCol w="736600"/>
                <a:gridCol w="736600"/>
                <a:gridCol w="7366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</a:tbl>
          </a:graphicData>
        </a:graphic>
      </p:graphicFrame>
      <p:sp>
        <p:nvSpPr>
          <p:cNvPr id="12465" name="AutoShape 176"/>
          <p:cNvSpPr/>
          <p:nvPr/>
        </p:nvSpPr>
        <p:spPr>
          <a:xfrm>
            <a:off x="5029200" y="4343400"/>
            <a:ext cx="1219200" cy="762000"/>
          </a:xfrm>
          <a:prstGeom prst="notchedRightArrow">
            <a:avLst>
              <a:gd name="adj1" fmla="val 50000"/>
              <a:gd name="adj2" fmla="val 40000"/>
            </a:avLst>
          </a:prstGeom>
          <a:gradFill rotWithShape="0">
            <a:gsLst>
              <a:gs pos="0">
                <a:srgbClr val="6699FF"/>
              </a:gs>
              <a:gs pos="100000">
                <a:srgbClr val="6666FF"/>
              </a:gs>
            </a:gsLst>
            <a:lin ang="5400000" scaled="1"/>
            <a:tileRect/>
          </a:gra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>
          <a:xfrm>
            <a:off x="2133600" y="2133600"/>
            <a:ext cx="4876800" cy="167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sz="72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72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综合举例</a:t>
            </a:r>
            <a:endParaRPr lang="zh-CN" altLang="en-US" sz="72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graphicFrame>
        <p:nvGraphicFramePr>
          <p:cNvPr id="163843" name="Group 3"/>
          <p:cNvGraphicFramePr>
            <a:graphicFrameLocks noGrp="1"/>
          </p:cNvGraphicFramePr>
          <p:nvPr/>
        </p:nvGraphicFramePr>
        <p:xfrm>
          <a:off x="4406900" y="762000"/>
          <a:ext cx="4572000" cy="2581275"/>
        </p:xfrm>
        <a:graphic>
          <a:graphicData uri="http://schemas.openxmlformats.org/drawingml/2006/table">
            <a:tbl>
              <a:tblPr/>
              <a:tblGrid>
                <a:gridCol w="914400"/>
                <a:gridCol w="990600"/>
                <a:gridCol w="1066800"/>
                <a:gridCol w="762000"/>
                <a:gridCol w="8382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性别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Ssex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年龄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Sage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Sdept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378" name="Text Box 41"/>
          <p:cNvSpPr txBox="1"/>
          <p:nvPr/>
        </p:nvSpPr>
        <p:spPr>
          <a:xfrm>
            <a:off x="457200" y="838200"/>
            <a:ext cx="21336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 </a:t>
            </a:r>
            <a:r>
              <a:rPr lang="zh-CN" altLang="en-US" sz="3600" dirty="0">
                <a:solidFill>
                  <a:schemeClr val="tx1"/>
                </a:solidFill>
              </a:rPr>
              <a:t>例题背景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14379" name="Text Box 42"/>
          <p:cNvSpPr txBox="1"/>
          <p:nvPr/>
        </p:nvSpPr>
        <p:spPr>
          <a:xfrm>
            <a:off x="3733800" y="838200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163883" name="Group 43"/>
          <p:cNvGraphicFramePr>
            <a:graphicFrameLocks noGrp="1"/>
          </p:cNvGraphicFramePr>
          <p:nvPr/>
        </p:nvGraphicFramePr>
        <p:xfrm>
          <a:off x="152400" y="2286000"/>
          <a:ext cx="4038600" cy="3829050"/>
        </p:xfrm>
        <a:graphic>
          <a:graphicData uri="http://schemas.openxmlformats.org/drawingml/2006/table">
            <a:tbl>
              <a:tblPr/>
              <a:tblGrid>
                <a:gridCol w="914400"/>
                <a:gridCol w="1219200"/>
                <a:gridCol w="914400"/>
                <a:gridCol w="990600"/>
              </a:tblGrid>
              <a:tr h="6950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课程名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Cname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先行课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Cpno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学分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Ccredit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信息系统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数据结构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数据处理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PASCAL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427" name="Text Box 90"/>
          <p:cNvSpPr txBox="1"/>
          <p:nvPr/>
        </p:nvSpPr>
        <p:spPr>
          <a:xfrm>
            <a:off x="1600200" y="1600200"/>
            <a:ext cx="4778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163931" name="Group 91"/>
          <p:cNvGraphicFramePr>
            <a:graphicFrameLocks noGrp="1"/>
          </p:cNvGraphicFramePr>
          <p:nvPr/>
        </p:nvGraphicFramePr>
        <p:xfrm>
          <a:off x="4419600" y="3429000"/>
          <a:ext cx="3048000" cy="3019425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10668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Grade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458" name="Text Box 121"/>
          <p:cNvSpPr txBox="1"/>
          <p:nvPr/>
        </p:nvSpPr>
        <p:spPr>
          <a:xfrm>
            <a:off x="8001000" y="3810000"/>
            <a:ext cx="7032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SC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686800" cy="56388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[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例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1] 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查询信息系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(IS)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的全体学生</a:t>
            </a:r>
            <a:b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</a:b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  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</a:t>
            </a:r>
            <a:r>
              <a:rPr kumimoji="1" lang="en-US" altLang="zh-CN" sz="2800" b="1" i="0" u="none" strike="noStrike" kern="0" cap="none" spc="0" normalizeH="0" baseline="-2000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Sdept</a:t>
            </a:r>
            <a:r>
              <a:rPr kumimoji="1" lang="en-US" altLang="zh-CN" sz="2800" b="1" i="0" u="none" strike="noStrike" kern="0" cap="none" spc="0" normalizeH="0" baseline="-200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=‘IS’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(S) </a:t>
            </a:r>
            <a:b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</a:b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        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{t |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S(t) 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t[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Sdept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]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’IS’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}</a:t>
            </a:r>
            <a:b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</a:b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[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例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2]  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查询年龄小于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20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岁的学生</a:t>
            </a:r>
            <a:b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</a:b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   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</a:t>
            </a:r>
            <a:r>
              <a:rPr kumimoji="1" lang="en-US" altLang="zh-CN" sz="2800" b="1" i="0" u="none" strike="noStrike" kern="0" cap="none" spc="0" normalizeH="0" baseline="-200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Sage &lt;20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(S)</a:t>
            </a:r>
            <a:b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</a:b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       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{t |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S(t) 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t[Sage] &lt;20}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     {t | 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t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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t[Sage] &lt;20}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[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例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3]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查询学生的姓名和所在系</a:t>
            </a:r>
            <a:b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</a:b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  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</a:t>
            </a:r>
            <a:r>
              <a:rPr kumimoji="1" lang="en-US" altLang="zh-CN" sz="2800" b="1" i="0" u="none" strike="noStrike" kern="0" cap="none" spc="0" normalizeH="0" baseline="-1800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Sname</a:t>
            </a:r>
            <a:r>
              <a:rPr kumimoji="1" lang="en-US" altLang="zh-CN" sz="2800" b="1" i="0" u="none" strike="noStrike" kern="0" cap="none" spc="0" normalizeH="0" baseline="-180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, </a:t>
            </a:r>
            <a:r>
              <a:rPr kumimoji="1" lang="en-US" altLang="zh-CN" sz="2800" b="1" i="0" u="none" strike="noStrike" kern="0" cap="none" spc="0" normalizeH="0" baseline="-1800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Sdept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(S)  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或 </a:t>
            </a:r>
            <a:r>
              <a:rPr kumimoji="1" lang="en-US" altLang="zh-CN" sz="2800" b="1" i="0" u="none" strike="noStrike" kern="0" cap="none" spc="0" normalizeH="0" baseline="-180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2,5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(S) </a:t>
            </a:r>
            <a:b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</a:b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{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t| (u)(S(u)  t[1]=u[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Sname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]  t[2] = u[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Sdept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])}</a:t>
            </a:r>
            <a:b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</a:b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638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65200"/>
            <a:ext cx="8686800" cy="50292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[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例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4]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查选修了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2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号课程的学生的学号</a:t>
            </a:r>
            <a:b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</a:b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        </a:t>
            </a:r>
            <a:r>
              <a:rPr kumimoji="1" lang="en-US" altLang="zh-CN" sz="3200" b="1" i="0" u="none" strike="noStrike" kern="0" cap="none" spc="0" normalizeH="0" baseline="-1800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Sno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(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</a:t>
            </a:r>
            <a:r>
              <a:rPr kumimoji="1" lang="en-US" altLang="zh-CN" sz="2800" b="1" i="0" u="none" strike="noStrike" kern="0" cap="none" spc="0" normalizeH="0" baseline="-2000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Cno</a:t>
            </a:r>
            <a:r>
              <a:rPr kumimoji="1" lang="en-US" altLang="zh-CN" sz="2800" b="1" i="0" u="none" strike="noStrike" kern="0" cap="none" spc="0" normalizeH="0" baseline="-200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=‘2’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(SC) 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)</a:t>
            </a:r>
            <a:b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</a:b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{t| (u)(SC(u)  u[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Cno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]=‘2’  t[1] = u[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Sno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])}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sym typeface="Symbol" panose="05050102010706020507" pitchFamily="18" charset="2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 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{t| 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t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∈S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(u)(SC(u)  u[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Cno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]=‘2’  t[1] = u[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Sno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])}</a:t>
            </a:r>
            <a:b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</a:b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{t[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Sno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] | 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t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∈S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(</a:t>
            </a:r>
            <a:r>
              <a:rPr kumimoji="1" lang="en-US" altLang="zh-CN" sz="2800" b="1" i="0" u="sng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u</a:t>
            </a:r>
            <a:r>
              <a:rPr kumimoji="1" lang="en-US" altLang="zh-CN" sz="2800" b="1" i="0" u="sng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∈SC</a:t>
            </a:r>
            <a:r>
              <a:rPr kumimoji="1" lang="en-US" altLang="zh-CN" sz="2800" b="1" i="0" u="sng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u</a:t>
            </a:r>
            <a:r>
              <a:rPr kumimoji="1" lang="en-US" altLang="zh-CN" sz="2800" b="1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[</a:t>
            </a:r>
            <a:r>
              <a:rPr kumimoji="1" lang="en-US" altLang="zh-CN" sz="2800" b="1" i="0" u="sng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Sno</a:t>
            </a:r>
            <a:r>
              <a:rPr kumimoji="1" lang="en-US" altLang="zh-CN" sz="2800" b="1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]= t[</a:t>
            </a:r>
            <a:r>
              <a:rPr kumimoji="1" lang="en-US" altLang="zh-CN" sz="2800" b="1" i="0" u="sng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Sno</a:t>
            </a:r>
            <a:r>
              <a:rPr kumimoji="1" lang="en-US" altLang="zh-CN" sz="2800" b="1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]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)(u[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Cno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]=‘2’ )}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[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例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5]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查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2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号课程的学生学号和成绩</a:t>
            </a:r>
            <a:b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</a:b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       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</a:t>
            </a:r>
            <a:r>
              <a:rPr kumimoji="1" lang="en-US" altLang="zh-CN" sz="3200" b="1" i="0" u="none" strike="noStrike" kern="0" cap="none" spc="0" normalizeH="0" baseline="-1800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Sno,Grade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(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</a:t>
            </a:r>
            <a:r>
              <a:rPr kumimoji="1" lang="en-US" altLang="zh-CN" sz="2800" b="1" i="0" u="none" strike="noStrike" kern="0" cap="none" spc="0" normalizeH="0" baseline="-2000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Cno</a:t>
            </a:r>
            <a:r>
              <a:rPr kumimoji="1" lang="en-US" altLang="zh-CN" sz="2800" b="1" i="0" u="none" strike="noStrike" kern="0" cap="none" spc="0" normalizeH="0" baseline="-200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=‘2’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(SC) 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)</a:t>
            </a:r>
            <a:b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</a:b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{t| (u)(SC(u)  u[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Cno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]=‘2’  t[1] = u[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Sno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]</a:t>
            </a:r>
            <a:b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</a:b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             t[2] = u[Grade] )}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</a:t>
            </a:r>
            <a:b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</a:b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228600" y="965200"/>
            <a:ext cx="8686800" cy="50292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6] </a:t>
            </a:r>
            <a:r>
              <a:rPr lang="zh-CN" altLang="en-US" sz="3200" dirty="0">
                <a:sym typeface="Symbol" panose="05050102010706020507" pitchFamily="18" charset="2"/>
              </a:rPr>
              <a:t>查选修</a:t>
            </a:r>
            <a:r>
              <a:rPr lang="en-US" altLang="zh-CN" sz="3200" dirty="0">
                <a:sym typeface="Symbol" panose="05050102010706020507" pitchFamily="18" charset="2"/>
              </a:rPr>
              <a:t>2</a:t>
            </a:r>
            <a:r>
              <a:rPr lang="zh-CN" altLang="en-US" sz="3200" dirty="0">
                <a:sym typeface="Symbol" panose="05050102010706020507" pitchFamily="18" charset="2"/>
              </a:rPr>
              <a:t>号课程的学生姓名和成绩</a:t>
            </a:r>
            <a:br>
              <a:rPr lang="zh-CN" altLang="en-US" sz="3200" dirty="0">
                <a:sym typeface="Symbol" panose="05050102010706020507" pitchFamily="18" charset="2"/>
              </a:rPr>
            </a:br>
            <a:r>
              <a:rPr lang="zh-CN" altLang="en-US" sz="3200" dirty="0">
                <a:sym typeface="Symbol" panose="05050102010706020507" pitchFamily="18" charset="2"/>
              </a:rPr>
              <a:t>         </a:t>
            </a:r>
            <a:r>
              <a:rPr lang="zh-CN" altLang="en-US" sz="3200" dirty="0">
                <a:solidFill>
                  <a:schemeClr val="accent2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3200" baseline="-18000" dirty="0">
                <a:solidFill>
                  <a:schemeClr val="accent2"/>
                </a:solidFill>
                <a:sym typeface="Symbol" panose="05050102010706020507" pitchFamily="18" charset="2"/>
              </a:rPr>
              <a:t>Sname,Grade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chemeClr val="accent2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0000" dirty="0">
                <a:solidFill>
                  <a:schemeClr val="accent2"/>
                </a:solidFill>
                <a:sym typeface="Symbol" panose="05050102010706020507" pitchFamily="18" charset="2"/>
              </a:rPr>
              <a:t>Cno =‘2’ 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(S |</a:t>
            </a:r>
            <a:r>
              <a:rPr lang="en-US" altLang="zh-CN" sz="2400" dirty="0">
                <a:solidFill>
                  <a:schemeClr val="accent2"/>
                </a:solidFill>
                <a:latin typeface="宋体" panose="02010600030101010101" pitchFamily="2" charset="-122"/>
              </a:rPr>
              <a:t>×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| SC) 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lang="en-US" altLang="zh-CN" sz="3200" dirty="0">
                <a:sym typeface="Symbol" panose="05050102010706020507" pitchFamily="18" charset="2"/>
              </a:rPr>
              <a:t> </a:t>
            </a:r>
            <a:endParaRPr lang="en-US" altLang="zh-CN" sz="3200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br>
              <a:rPr lang="en-US" altLang="zh-CN" sz="3200" dirty="0">
                <a:sym typeface="Symbol" panose="05050102010706020507" pitchFamily="18" charset="2"/>
              </a:rPr>
            </a:br>
            <a:r>
              <a:rPr lang="en-US" altLang="zh-CN" sz="32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{t| (u) (v)(S(u)  SC(v)  v[Cno]=‘2’</a:t>
            </a:r>
            <a:br>
              <a:rPr lang="en-US" altLang="zh-CN" dirty="0">
                <a:sym typeface="Symbol" panose="05050102010706020507" pitchFamily="18" charset="2"/>
              </a:rPr>
            </a:br>
            <a:r>
              <a:rPr lang="en-US" altLang="zh-CN" dirty="0">
                <a:sym typeface="Symbol" panose="05050102010706020507" pitchFamily="18" charset="2"/>
              </a:rPr>
              <a:t>             </a:t>
            </a:r>
            <a:r>
              <a:rPr lang="en-US" altLang="zh-CN" dirty="0">
                <a:solidFill>
                  <a:srgbClr val="FF3300"/>
                </a:solidFill>
                <a:sym typeface="Symbol" panose="05050102010706020507" pitchFamily="18" charset="2"/>
              </a:rPr>
              <a:t> u[Sno] = v[Sno]</a:t>
            </a:r>
            <a:br>
              <a:rPr lang="en-US" altLang="zh-CN" dirty="0">
                <a:solidFill>
                  <a:srgbClr val="FF3300"/>
                </a:solidFill>
                <a:sym typeface="Symbol" panose="05050102010706020507" pitchFamily="18" charset="2"/>
              </a:rPr>
            </a:br>
            <a:r>
              <a:rPr lang="en-US" altLang="zh-CN" dirty="0">
                <a:sym typeface="Symbol" panose="05050102010706020507" pitchFamily="18" charset="2"/>
              </a:rPr>
              <a:t>              t[1] = u[Sname] </a:t>
            </a:r>
            <a:br>
              <a:rPr lang="en-US" altLang="zh-CN" dirty="0">
                <a:sym typeface="Symbol" panose="05050102010706020507" pitchFamily="18" charset="2"/>
              </a:rPr>
            </a:br>
            <a:r>
              <a:rPr lang="en-US" altLang="zh-CN" dirty="0">
                <a:sym typeface="Symbol" panose="05050102010706020507" pitchFamily="18" charset="2"/>
              </a:rPr>
              <a:t>              t[2] = v[Grade])}</a:t>
            </a:r>
            <a:r>
              <a:rPr lang="en-US" altLang="zh-CN" sz="3200" dirty="0">
                <a:sym typeface="Symbol" panose="05050102010706020507" pitchFamily="18" charset="2"/>
              </a:rPr>
              <a:t> </a:t>
            </a: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>
          <a:xfrm>
            <a:off x="228600" y="965200"/>
            <a:ext cx="8686800" cy="50292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7]  </a:t>
            </a:r>
            <a:r>
              <a:rPr lang="zh-CN" altLang="en-US" dirty="0">
                <a:sym typeface="Symbol" panose="05050102010706020507" pitchFamily="18" charset="2"/>
              </a:rPr>
              <a:t>查选修“数学”的学生学号，姓名及该课程的成绩</a:t>
            </a:r>
            <a:br>
              <a:rPr lang="zh-CN" altLang="en-US" dirty="0">
                <a:sym typeface="Symbol" panose="05050102010706020507" pitchFamily="18" charset="2"/>
              </a:rPr>
            </a:br>
            <a:r>
              <a:rPr lang="zh-CN" altLang="en-US" sz="3200" dirty="0">
                <a:solidFill>
                  <a:schemeClr val="accent2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3200" baseline="-18000" dirty="0">
                <a:solidFill>
                  <a:schemeClr val="accent2"/>
                </a:solidFill>
                <a:sym typeface="Symbol" panose="05050102010706020507" pitchFamily="18" charset="2"/>
              </a:rPr>
              <a:t>Sno,Sname,Grade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chemeClr val="accent2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0000" dirty="0">
                <a:solidFill>
                  <a:schemeClr val="accent2"/>
                </a:solidFill>
                <a:sym typeface="Symbol" panose="05050102010706020507" pitchFamily="18" charset="2"/>
              </a:rPr>
              <a:t>Cname =‘</a:t>
            </a:r>
            <a:r>
              <a:rPr lang="zh-CN" altLang="en-US" baseline="-20000" dirty="0">
                <a:solidFill>
                  <a:schemeClr val="accent2"/>
                </a:solidFill>
                <a:sym typeface="Symbol" panose="05050102010706020507" pitchFamily="18" charset="2"/>
              </a:rPr>
              <a:t>数学’ 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(S |</a:t>
            </a:r>
            <a:r>
              <a:rPr lang="en-US" altLang="zh-CN" sz="2400" dirty="0">
                <a:solidFill>
                  <a:schemeClr val="accent2"/>
                </a:solidFill>
                <a:latin typeface="宋体" panose="02010600030101010101" pitchFamily="2" charset="-122"/>
              </a:rPr>
              <a:t>×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| SC |</a:t>
            </a:r>
            <a:r>
              <a:rPr lang="en-US" altLang="zh-CN" sz="2400" dirty="0">
                <a:solidFill>
                  <a:schemeClr val="accent2"/>
                </a:solidFill>
                <a:latin typeface="宋体" panose="02010600030101010101" pitchFamily="2" charset="-122"/>
              </a:rPr>
              <a:t>×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| C  ) 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br>
              <a:rPr lang="en-US" altLang="zh-CN" sz="3200" dirty="0">
                <a:sym typeface="Symbol" panose="05050102010706020507" pitchFamily="18" charset="2"/>
              </a:rPr>
            </a:br>
            <a:endParaRPr lang="en-US" altLang="zh-CN" sz="32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{t| (u) (v) (w)(S(u)  SC(v)  C[w] </a:t>
            </a:r>
            <a:br>
              <a:rPr lang="en-US" altLang="zh-CN" dirty="0">
                <a:sym typeface="Symbol" panose="05050102010706020507" pitchFamily="18" charset="2"/>
              </a:rPr>
            </a:br>
            <a:r>
              <a:rPr lang="en-US" altLang="zh-CN" dirty="0">
                <a:sym typeface="Symbol" panose="05050102010706020507" pitchFamily="18" charset="2"/>
              </a:rPr>
              <a:t>  w[Cname]=‘</a:t>
            </a:r>
            <a:r>
              <a:rPr lang="zh-CN" altLang="en-US" dirty="0">
                <a:sym typeface="Symbol" panose="05050102010706020507" pitchFamily="18" charset="2"/>
              </a:rPr>
              <a:t>数学’</a:t>
            </a:r>
            <a:br>
              <a:rPr lang="zh-CN" altLang="en-US" dirty="0">
                <a:sym typeface="Symbol" panose="05050102010706020507" pitchFamily="18" charset="2"/>
              </a:rPr>
            </a:b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FF3300"/>
                </a:solidFill>
                <a:sym typeface="Symbol" panose="05050102010706020507" pitchFamily="18" charset="2"/>
              </a:rPr>
              <a:t> </a:t>
            </a:r>
            <a:r>
              <a:rPr lang="en-US" altLang="zh-CN" dirty="0">
                <a:solidFill>
                  <a:srgbClr val="FF3300"/>
                </a:solidFill>
                <a:sym typeface="Symbol" panose="05050102010706020507" pitchFamily="18" charset="2"/>
              </a:rPr>
              <a:t>u[Sno] = v[Sno]   v[Cno] = w[Cno]</a:t>
            </a:r>
            <a:br>
              <a:rPr lang="en-US" altLang="zh-CN" dirty="0">
                <a:solidFill>
                  <a:srgbClr val="FF3300"/>
                </a:solidFill>
                <a:sym typeface="Symbol" panose="05050102010706020507" pitchFamily="18" charset="2"/>
              </a:rPr>
            </a:br>
            <a:r>
              <a:rPr lang="en-US" altLang="zh-CN" dirty="0">
                <a:sym typeface="Symbol" panose="05050102010706020507" pitchFamily="18" charset="2"/>
              </a:rPr>
              <a:t>  t[1] = u[Sno] 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sym typeface="Symbol" panose="05050102010706020507" pitchFamily="18" charset="2"/>
              </a:rPr>
              <a:t>     t[2] = u[Sname]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sym typeface="Symbol" panose="05050102010706020507" pitchFamily="18" charset="2"/>
              </a:rPr>
              <a:t>     t[3] = v[Grade])}</a:t>
            </a:r>
            <a:r>
              <a:rPr lang="en-US" altLang="zh-CN" sz="3200" dirty="0">
                <a:sym typeface="Symbol" panose="05050102010706020507" pitchFamily="18" charset="2"/>
              </a:rPr>
              <a:t> </a:t>
            </a:r>
            <a:endParaRPr lang="en-US" altLang="zh-CN" sz="32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228600" y="965200"/>
            <a:ext cx="8686800" cy="50292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8]  </a:t>
            </a:r>
            <a:r>
              <a:rPr lang="zh-CN" altLang="en-US" dirty="0">
                <a:sym typeface="Symbol" panose="05050102010706020507" pitchFamily="18" charset="2"/>
              </a:rPr>
              <a:t>查至少选修</a:t>
            </a:r>
            <a:r>
              <a:rPr lang="en-US" altLang="zh-CN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号和</a:t>
            </a:r>
            <a:r>
              <a:rPr lang="en-US" altLang="zh-CN" dirty="0">
                <a:sym typeface="Symbol" panose="05050102010706020507" pitchFamily="18" charset="2"/>
              </a:rPr>
              <a:t>3</a:t>
            </a:r>
            <a:r>
              <a:rPr lang="zh-CN" altLang="en-US" dirty="0">
                <a:sym typeface="Symbol" panose="05050102010706020507" pitchFamily="18" charset="2"/>
              </a:rPr>
              <a:t>号课程的学生学号</a:t>
            </a:r>
            <a:br>
              <a:rPr lang="zh-CN" altLang="en-US" dirty="0">
                <a:sym typeface="Symbol" panose="05050102010706020507" pitchFamily="18" charset="2"/>
              </a:rPr>
            </a:br>
            <a:r>
              <a:rPr lang="zh-CN" altLang="en-US" dirty="0">
                <a:sym typeface="Symbol" panose="05050102010706020507" pitchFamily="18" charset="2"/>
              </a:rPr>
              <a:t>           </a:t>
            </a:r>
            <a:r>
              <a:rPr lang="zh-CN" altLang="en-US" sz="3200" dirty="0">
                <a:solidFill>
                  <a:schemeClr val="accent2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3200" baseline="-18000" dirty="0">
                <a:solidFill>
                  <a:schemeClr val="accent2"/>
                </a:solidFill>
                <a:sym typeface="Symbol" panose="05050102010706020507" pitchFamily="18" charset="2"/>
              </a:rPr>
              <a:t>Sno,Cno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SC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) 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 </a:t>
            </a:r>
            <a:r>
              <a:rPr lang="en-US" altLang="zh-CN" sz="3600" dirty="0">
                <a:solidFill>
                  <a:schemeClr val="accent2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3200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Cno=‘1’ </a:t>
            </a:r>
            <a:r>
              <a:rPr lang="en-US" altLang="zh-CN" sz="3200" baseline="-25000" dirty="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zh-CN" sz="3200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 Cno = ‘3’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(C) </a:t>
            </a:r>
            <a:b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          </a:t>
            </a:r>
            <a:r>
              <a:rPr lang="en-US" altLang="zh-CN" sz="3200" baseline="-18000" dirty="0">
                <a:solidFill>
                  <a:schemeClr val="accent2"/>
                </a:solidFill>
                <a:sym typeface="Symbol" panose="05050102010706020507" pitchFamily="18" charset="2"/>
              </a:rPr>
              <a:t>Sno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chemeClr val="accent2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0000" dirty="0">
                <a:solidFill>
                  <a:schemeClr val="accent2"/>
                </a:solidFill>
                <a:sym typeface="Symbol" panose="05050102010706020507" pitchFamily="18" charset="2"/>
              </a:rPr>
              <a:t>2 =‘1’ ^  5=‘3’  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(SC |</a:t>
            </a:r>
            <a:r>
              <a:rPr lang="en-US" altLang="zh-CN" sz="2400" dirty="0">
                <a:solidFill>
                  <a:schemeClr val="accent2"/>
                </a:solidFill>
                <a:latin typeface="宋体" panose="02010600030101010101" pitchFamily="2" charset="-122"/>
              </a:rPr>
              <a:t>×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| SC) 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endParaRPr lang="en-US" altLang="zh-CN" sz="32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lvl="1" eaLnBrk="1" hangingPunct="1"/>
            <a:endParaRPr lang="en-US" altLang="zh-CN" sz="32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sz="3200" dirty="0">
                <a:sym typeface="Symbol" panose="05050102010706020507" pitchFamily="18" charset="2"/>
              </a:rPr>
              <a:t>            </a:t>
            </a:r>
            <a:r>
              <a:rPr lang="en-US" altLang="zh-CN" dirty="0">
                <a:sym typeface="Symbol" panose="05050102010706020507" pitchFamily="18" charset="2"/>
              </a:rPr>
              <a:t>{t| (u) (v) ( SC(u)  SC(v) 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Font typeface="Symbol" panose="05050102010706020507" pitchFamily="18" charset="2"/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             u[Sno] = v[Sno]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Font typeface="Symbol" panose="05050102010706020507" pitchFamily="18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u[Cno]=‘1’   v[Cno] = ‘3’ 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Font typeface="Symbol" panose="05050102010706020507" pitchFamily="18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 t[1] = u[Sno])}</a:t>
            </a:r>
            <a:r>
              <a:rPr lang="en-US" altLang="zh-CN" sz="3200" dirty="0">
                <a:sym typeface="Symbol" panose="05050102010706020507" pitchFamily="18" charset="2"/>
              </a:rPr>
              <a:t> </a:t>
            </a:r>
            <a:endParaRPr lang="en-US" altLang="zh-CN" sz="3200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endParaRPr lang="en-US" altLang="zh-CN" sz="3200" dirty="0">
              <a:sym typeface="Symbol" panose="05050102010706020507" pitchFamily="18" charset="2"/>
            </a:endParaRPr>
          </a:p>
        </p:txBody>
      </p:sp>
      <p:sp>
        <p:nvSpPr>
          <p:cNvPr id="168964" name="Text Box 4"/>
          <p:cNvSpPr txBox="1">
            <a:spLocks noChangeArrowheads="1"/>
          </p:cNvSpPr>
          <p:nvPr/>
        </p:nvSpPr>
        <p:spPr bwMode="auto">
          <a:xfrm>
            <a:off x="5257800" y="2362200"/>
            <a:ext cx="91440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kern="1200" cap="none" spc="0" normalizeH="0" baseline="-20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1=1</a:t>
            </a:r>
            <a:endParaRPr kumimoji="1" lang="en-US" altLang="zh-CN" sz="2400" kern="1200" cap="none" spc="0" normalizeH="0" baseline="-20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xfrm>
            <a:off x="228600" y="965200"/>
            <a:ext cx="8686800" cy="50292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sz="3200" dirty="0">
                <a:latin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9]  </a:t>
            </a:r>
            <a:r>
              <a:rPr lang="zh-CN" altLang="en-US" sz="3200" dirty="0"/>
              <a:t>求选修了全部课程的学生学号</a:t>
            </a:r>
            <a:endParaRPr lang="zh-CN" altLang="en-US" sz="3200" dirty="0"/>
          </a:p>
          <a:p>
            <a:pPr lvl="1" eaLnBrk="1" hangingPunct="1">
              <a:buNone/>
            </a:pPr>
            <a:br>
              <a:rPr lang="zh-CN" altLang="en-US" sz="3200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lang="zh-CN" altLang="en-US" sz="3200" dirty="0">
                <a:solidFill>
                  <a:schemeClr val="accent2"/>
                </a:solidFill>
                <a:sym typeface="Symbol" panose="05050102010706020507" pitchFamily="18" charset="2"/>
              </a:rPr>
              <a:t>            </a:t>
            </a:r>
            <a:r>
              <a:rPr lang="en-US" altLang="zh-CN" sz="3200" baseline="-18000" dirty="0">
                <a:solidFill>
                  <a:schemeClr val="accent2"/>
                </a:solidFill>
                <a:sym typeface="Symbol" panose="05050102010706020507" pitchFamily="18" charset="2"/>
              </a:rPr>
              <a:t>Sno,Cno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(SC) 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 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3200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Cno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(C)</a:t>
            </a:r>
            <a:endParaRPr lang="en-US" altLang="zh-CN" sz="32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endParaRPr lang="en-US" altLang="zh-CN" sz="32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sz="3200" dirty="0"/>
              <a:t>			{t | (</a:t>
            </a:r>
            <a:r>
              <a:rPr lang="en-US" altLang="zh-CN" sz="3200" dirty="0">
                <a:sym typeface="Symbol" panose="05050102010706020507" pitchFamily="18" charset="2"/>
              </a:rPr>
              <a:t>s)(</a:t>
            </a:r>
            <a:r>
              <a:rPr lang="en-US" altLang="zh-CN" sz="3200" dirty="0"/>
              <a:t> </a:t>
            </a:r>
            <a:r>
              <a:rPr lang="en-US" altLang="zh-CN" sz="3200" dirty="0">
                <a:sym typeface="Symbol" panose="05050102010706020507" pitchFamily="18" charset="2"/>
              </a:rPr>
              <a:t>u) (SC(s)  C(u) </a:t>
            </a:r>
            <a:endParaRPr lang="en-US" altLang="zh-CN" sz="3200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			</a:t>
            </a:r>
            <a:r>
              <a:rPr lang="en-US" altLang="zh-CN" sz="3200" dirty="0">
                <a:solidFill>
                  <a:srgbClr val="FF0000"/>
                </a:solidFill>
              </a:rPr>
              <a:t> s[CNO] = u[CNO]</a:t>
            </a:r>
            <a:r>
              <a:rPr lang="en-US" altLang="zh-CN" sz="3200" dirty="0"/>
              <a:t> </a:t>
            </a:r>
            <a:endParaRPr lang="en-US" altLang="zh-CN" sz="3200" dirty="0"/>
          </a:p>
          <a:p>
            <a:pPr lvl="1" eaLnBrk="1" hangingPunct="1">
              <a:buNone/>
            </a:pPr>
            <a:r>
              <a:rPr lang="en-US" altLang="zh-CN" sz="3200" dirty="0">
                <a:sym typeface="Symbol" panose="05050102010706020507" pitchFamily="18" charset="2"/>
              </a:rPr>
              <a:t>			</a:t>
            </a:r>
            <a:r>
              <a:rPr lang="en-US" altLang="zh-CN" sz="3200" dirty="0"/>
              <a:t> t[1] </a:t>
            </a:r>
            <a:r>
              <a:rPr lang="en-US" altLang="zh-CN" sz="3200" dirty="0">
                <a:sym typeface="Symbol" panose="05050102010706020507" pitchFamily="18" charset="2"/>
              </a:rPr>
              <a:t> s[SNO] </a:t>
            </a:r>
            <a:r>
              <a:rPr lang="en-US" altLang="zh-CN" sz="3200" dirty="0"/>
              <a:t>)}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17101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65200"/>
            <a:ext cx="8686800" cy="55880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[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例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10] 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求选修了王敏同学所选修的全部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        课程的学生姓名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ctr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课程，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王敏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选之  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  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所求同学选之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ctr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{t |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uC ( sSC  wS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 s[CNO] = u[CNO]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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w[SNO]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 s[SNO]  w[SNAME] = “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王敏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”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)) 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ctr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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ctr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s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¹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SC  w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¹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S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 s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¹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[CNO] = u[CNO]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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w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¹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[SNO]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     s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¹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[SNO]  w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¹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[SNAME] = t[SNAME]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)}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228600" y="965200"/>
            <a:ext cx="8686800" cy="5588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spcBef>
                <a:spcPct val="15000"/>
              </a:spcBef>
            </a:pPr>
            <a:r>
              <a:rPr lang="zh-CN" altLang="en-US" dirty="0"/>
              <a:t>元组关系演算与关系代数的等价性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</a:pPr>
            <a:r>
              <a:rPr lang="zh-CN" altLang="en-US" dirty="0"/>
              <a:t>投影</a:t>
            </a:r>
            <a:endParaRPr lang="zh-CN" altLang="en-US" dirty="0"/>
          </a:p>
          <a:p>
            <a:pPr lvl="1" algn="ctr" eaLnBrk="1" hangingPunct="1">
              <a:lnSpc>
                <a:spcPct val="90000"/>
              </a:lnSpc>
              <a:spcBef>
                <a:spcPct val="15000"/>
              </a:spcBef>
              <a:buNone/>
            </a:pPr>
            <a:r>
              <a:rPr lang="zh-CN" altLang="en-US" dirty="0"/>
              <a:t>∏</a:t>
            </a:r>
            <a:r>
              <a:rPr lang="en-US" altLang="zh-CN" baseline="-14000" dirty="0"/>
              <a:t>A</a:t>
            </a:r>
            <a:r>
              <a:rPr lang="en-US" altLang="zh-CN" dirty="0"/>
              <a:t>( R ) = { t |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R ( s[A] = t[A] ) }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</a:pPr>
            <a:r>
              <a:rPr lang="zh-CN" altLang="en-US" dirty="0"/>
              <a:t>选择</a:t>
            </a:r>
            <a:endParaRPr lang="zh-CN" altLang="en-US" dirty="0"/>
          </a:p>
          <a:p>
            <a:pPr lvl="1" algn="ctr" eaLnBrk="1" hangingPunct="1">
              <a:lnSpc>
                <a:spcPct val="90000"/>
              </a:lnSpc>
              <a:spcBef>
                <a:spcPct val="15000"/>
              </a:spcBef>
              <a:buNone/>
            </a:pPr>
            <a:r>
              <a:rPr lang="zh-CN" altLang="en-US" dirty="0">
                <a:sym typeface="Symbol" panose="05050102010706020507" pitchFamily="18" charset="2"/>
              </a:rPr>
              <a:t></a:t>
            </a:r>
            <a:r>
              <a:rPr lang="en-US" altLang="zh-CN" baseline="-14000" dirty="0">
                <a:sym typeface="Symbol" panose="05050102010706020507" pitchFamily="18" charset="2"/>
              </a:rPr>
              <a:t>F(A)</a:t>
            </a:r>
            <a:r>
              <a:rPr lang="en-US" altLang="zh-CN" dirty="0">
                <a:sym typeface="Symbol" panose="05050102010706020507" pitchFamily="18" charset="2"/>
              </a:rPr>
              <a:t>(R) = </a:t>
            </a:r>
            <a:r>
              <a:rPr lang="en-US" altLang="zh-CN" dirty="0"/>
              <a:t>{ t | t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R </a:t>
            </a:r>
            <a:r>
              <a:rPr lang="en-US" altLang="zh-CN" sz="3000" dirty="0">
                <a:sym typeface="Symbol" panose="05050102010706020507" pitchFamily="18" charset="2"/>
              </a:rPr>
              <a:t> </a:t>
            </a:r>
            <a:r>
              <a:rPr lang="en-US" altLang="zh-CN" dirty="0"/>
              <a:t> F(t[A]) }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</a:pPr>
            <a:r>
              <a:rPr lang="zh-CN" altLang="en-US" dirty="0"/>
              <a:t>广义笛卡儿积</a:t>
            </a:r>
            <a:endParaRPr lang="zh-CN" altLang="en-US" dirty="0"/>
          </a:p>
          <a:p>
            <a:pPr lvl="1" algn="ctr" eaLnBrk="1" hangingPunct="1">
              <a:lnSpc>
                <a:spcPct val="90000"/>
              </a:lnSpc>
              <a:spcBef>
                <a:spcPct val="15000"/>
              </a:spcBef>
              <a:buNone/>
            </a:pPr>
            <a:r>
              <a:rPr lang="en-US" altLang="zh-CN" dirty="0"/>
              <a:t>R(A) </a:t>
            </a:r>
            <a:r>
              <a:rPr lang="en-US" altLang="zh-CN" dirty="0">
                <a:sym typeface="Symbol" panose="05050102010706020507" pitchFamily="18" charset="2"/>
              </a:rPr>
              <a:t> </a:t>
            </a:r>
            <a:r>
              <a:rPr lang="en-US" altLang="zh-CN" dirty="0"/>
              <a:t>S(B) = { t | </a:t>
            </a:r>
            <a:r>
              <a:rPr lang="en-US" altLang="zh-CN" dirty="0">
                <a:sym typeface="Symbol" panose="05050102010706020507" pitchFamily="18" charset="2"/>
              </a:rPr>
              <a:t>uR</a:t>
            </a:r>
            <a:r>
              <a:rPr lang="en-US" altLang="zh-CN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S( t[A] = u[A] 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algn="ctr" eaLnBrk="1" hangingPunct="1">
              <a:lnSpc>
                <a:spcPct val="90000"/>
              </a:lnSpc>
              <a:spcBef>
                <a:spcPct val="1500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t[B] = s[B])}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</a:pPr>
            <a:r>
              <a:rPr lang="zh-CN" altLang="en-US" dirty="0"/>
              <a:t>并</a:t>
            </a:r>
            <a:endParaRPr lang="zh-CN" altLang="en-US" dirty="0"/>
          </a:p>
          <a:p>
            <a:pPr lvl="1" algn="ctr" eaLnBrk="1" hangingPunct="1">
              <a:lnSpc>
                <a:spcPct val="90000"/>
              </a:lnSpc>
              <a:spcBef>
                <a:spcPct val="15000"/>
              </a:spcBef>
              <a:buNone/>
            </a:pPr>
            <a:r>
              <a:rPr lang="en-US" altLang="zh-CN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S={ t | t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R</a:t>
            </a:r>
            <a:r>
              <a:rPr lang="en-US" altLang="zh-CN" sz="3000" i="1" baseline="-16000" dirty="0"/>
              <a:t> </a:t>
            </a:r>
            <a:r>
              <a:rPr lang="en-US" altLang="zh-CN" sz="3000" dirty="0">
                <a:sym typeface="Symbol" panose="05050102010706020507" pitchFamily="18" charset="2"/>
              </a:rPr>
              <a:t></a:t>
            </a:r>
            <a:r>
              <a:rPr lang="en-US" altLang="zh-CN" dirty="0"/>
              <a:t> t</a:t>
            </a:r>
            <a:r>
              <a:rPr lang="en-US" altLang="zh-CN" dirty="0">
                <a:sym typeface="Symbol" panose="05050102010706020507" pitchFamily="18" charset="2"/>
              </a:rPr>
              <a:t>S</a:t>
            </a:r>
            <a:r>
              <a:rPr lang="en-US" altLang="zh-CN" dirty="0"/>
              <a:t>}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</a:pPr>
            <a:r>
              <a:rPr lang="zh-CN" altLang="en-US" dirty="0"/>
              <a:t>差</a:t>
            </a:r>
            <a:endParaRPr lang="zh-CN" altLang="en-US" dirty="0"/>
          </a:p>
          <a:p>
            <a:pPr lvl="1" algn="ctr" eaLnBrk="1" hangingPunct="1">
              <a:lnSpc>
                <a:spcPct val="90000"/>
              </a:lnSpc>
              <a:spcBef>
                <a:spcPct val="15000"/>
              </a:spcBef>
              <a:buNone/>
            </a:pPr>
            <a:r>
              <a:rPr lang="en-US" altLang="zh-CN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S={ t | t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R </a:t>
            </a:r>
            <a:r>
              <a:rPr lang="en-US" altLang="zh-CN" sz="3000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 </a:t>
            </a:r>
            <a:r>
              <a:rPr lang="en-US" altLang="zh-CN" sz="3000" i="1" dirty="0"/>
              <a:t>┑</a:t>
            </a:r>
            <a:r>
              <a:rPr lang="en-US" altLang="zh-CN" dirty="0"/>
              <a:t>t</a:t>
            </a:r>
            <a:r>
              <a:rPr lang="en-US" altLang="zh-CN" dirty="0">
                <a:sym typeface="Symbol" panose="05050102010706020507" pitchFamily="18" charset="2"/>
              </a:rPr>
              <a:t>S</a:t>
            </a:r>
            <a:r>
              <a:rPr lang="en-US" altLang="zh-CN" dirty="0"/>
              <a:t>}</a:t>
            </a:r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  </a:t>
            </a:r>
            <a:r>
              <a:rPr lang="zh-CN" altLang="en-US" u="sng" dirty="0"/>
              <a:t>关系演算</a:t>
            </a:r>
            <a:endParaRPr lang="zh-CN" altLang="en-US" u="sng" dirty="0"/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1066800" y="1143000"/>
            <a:ext cx="6553200" cy="3276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2.5.1 </a:t>
            </a:r>
            <a:r>
              <a:rPr lang="zh-CN" altLang="en-US" dirty="0">
                <a:solidFill>
                  <a:schemeClr val="tx1"/>
                </a:solidFill>
              </a:rPr>
              <a:t>元组关系演算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2.5.2 </a:t>
            </a:r>
            <a:r>
              <a:rPr lang="zh-CN" altLang="en-US" dirty="0">
                <a:solidFill>
                  <a:srgbClr val="FF0000"/>
                </a:solidFill>
              </a:rPr>
              <a:t>域关系演算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2.5.2  </a:t>
            </a:r>
            <a:r>
              <a:rPr lang="zh-CN" altLang="en-US" dirty="0"/>
              <a:t>域关系演算</a:t>
            </a:r>
            <a:endParaRPr lang="zh-CN" altLang="en-US" dirty="0"/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dirty="0"/>
              <a:t>形式化定义</a:t>
            </a:r>
            <a:endParaRPr lang="zh-CN" altLang="en-US" dirty="0"/>
          </a:p>
          <a:p>
            <a:pPr lvl="1" algn="ctr" eaLnBrk="1" hangingPunct="1">
              <a:lnSpc>
                <a:spcPct val="120000"/>
              </a:lnSpc>
              <a:buNone/>
            </a:pPr>
            <a:r>
              <a:rPr lang="en-US" altLang="zh-CN" i="1" dirty="0">
                <a:solidFill>
                  <a:srgbClr val="FF3300"/>
                </a:solidFill>
              </a:rPr>
              <a:t>{  &lt;x</a:t>
            </a:r>
            <a:r>
              <a:rPr lang="en-US" altLang="zh-CN" i="1" baseline="-14000" dirty="0">
                <a:solidFill>
                  <a:srgbClr val="FF3300"/>
                </a:solidFill>
              </a:rPr>
              <a:t>1 </a:t>
            </a:r>
            <a:r>
              <a:rPr lang="en-US" altLang="zh-CN" i="1" dirty="0">
                <a:solidFill>
                  <a:srgbClr val="FF3300"/>
                </a:solidFill>
              </a:rPr>
              <a:t>x</a:t>
            </a:r>
            <a:r>
              <a:rPr lang="en-US" altLang="zh-CN" i="1" baseline="-14000" dirty="0">
                <a:solidFill>
                  <a:srgbClr val="FF3300"/>
                </a:solidFill>
              </a:rPr>
              <a:t>2</a:t>
            </a:r>
            <a:r>
              <a:rPr lang="en-US" altLang="zh-CN" i="1" dirty="0">
                <a:solidFill>
                  <a:srgbClr val="FF3300"/>
                </a:solidFill>
              </a:rPr>
              <a:t> …x</a:t>
            </a:r>
            <a:r>
              <a:rPr lang="en-US" altLang="zh-CN" i="1" baseline="-14000" dirty="0">
                <a:solidFill>
                  <a:srgbClr val="FF3300"/>
                </a:solidFill>
              </a:rPr>
              <a:t>n </a:t>
            </a:r>
            <a:r>
              <a:rPr lang="en-US" altLang="zh-CN" i="1" dirty="0">
                <a:solidFill>
                  <a:srgbClr val="FF3300"/>
                </a:solidFill>
              </a:rPr>
              <a:t>&gt; | P</a:t>
            </a:r>
            <a:r>
              <a:rPr lang="zh-CN" altLang="en-US" i="1" dirty="0">
                <a:solidFill>
                  <a:srgbClr val="FF3300"/>
                </a:solidFill>
              </a:rPr>
              <a:t>（ </a:t>
            </a:r>
            <a:r>
              <a:rPr lang="en-US" altLang="zh-CN" i="1" dirty="0">
                <a:solidFill>
                  <a:srgbClr val="FF3300"/>
                </a:solidFill>
              </a:rPr>
              <a:t>x</a:t>
            </a:r>
            <a:r>
              <a:rPr lang="en-US" altLang="zh-CN" i="1" baseline="-14000" dirty="0">
                <a:solidFill>
                  <a:srgbClr val="FF3300"/>
                </a:solidFill>
              </a:rPr>
              <a:t>1</a:t>
            </a:r>
            <a:r>
              <a:rPr lang="en-US" altLang="zh-CN" i="1" dirty="0">
                <a:solidFill>
                  <a:srgbClr val="FF3300"/>
                </a:solidFill>
              </a:rPr>
              <a:t> , </a:t>
            </a:r>
            <a:r>
              <a:rPr lang="en-US" altLang="zh-CN" i="1" baseline="-14000" dirty="0">
                <a:solidFill>
                  <a:srgbClr val="FF3300"/>
                </a:solidFill>
              </a:rPr>
              <a:t> </a:t>
            </a:r>
            <a:r>
              <a:rPr lang="en-US" altLang="zh-CN" i="1" dirty="0">
                <a:solidFill>
                  <a:srgbClr val="FF3300"/>
                </a:solidFill>
              </a:rPr>
              <a:t>x</a:t>
            </a:r>
            <a:r>
              <a:rPr lang="en-US" altLang="zh-CN" i="1" baseline="-14000" dirty="0">
                <a:solidFill>
                  <a:srgbClr val="FF3300"/>
                </a:solidFill>
              </a:rPr>
              <a:t>2</a:t>
            </a:r>
            <a:r>
              <a:rPr lang="en-US" altLang="zh-CN" i="1" dirty="0">
                <a:solidFill>
                  <a:srgbClr val="FF3300"/>
                </a:solidFill>
              </a:rPr>
              <a:t> , … , x</a:t>
            </a:r>
            <a:r>
              <a:rPr lang="en-US" altLang="zh-CN" i="1" baseline="-14000" dirty="0">
                <a:solidFill>
                  <a:srgbClr val="FF3300"/>
                </a:solidFill>
              </a:rPr>
              <a:t>n</a:t>
            </a:r>
            <a:r>
              <a:rPr lang="en-US" altLang="zh-CN" i="1" dirty="0">
                <a:solidFill>
                  <a:srgbClr val="FF3300"/>
                </a:solidFill>
              </a:rPr>
              <a:t> </a:t>
            </a:r>
            <a:r>
              <a:rPr lang="zh-CN" altLang="en-US" i="1" dirty="0">
                <a:solidFill>
                  <a:srgbClr val="FF3300"/>
                </a:solidFill>
              </a:rPr>
              <a:t>）</a:t>
            </a:r>
            <a:r>
              <a:rPr lang="en-US" altLang="zh-CN" i="1" dirty="0">
                <a:solidFill>
                  <a:srgbClr val="FF3300"/>
                </a:solidFill>
              </a:rPr>
              <a:t>}</a:t>
            </a:r>
            <a:endParaRPr lang="en-US" altLang="zh-CN" i="1" dirty="0">
              <a:solidFill>
                <a:srgbClr val="FF3300"/>
              </a:solidFill>
            </a:endParaRPr>
          </a:p>
          <a:p>
            <a:pPr lvl="1" algn="ctr" eaLnBrk="1" hangingPunct="1">
              <a:lnSpc>
                <a:spcPct val="120000"/>
              </a:lnSpc>
              <a:buNone/>
            </a:pPr>
            <a:r>
              <a:rPr lang="en-US" altLang="zh-CN" i="1" dirty="0"/>
              <a:t>x</a:t>
            </a:r>
            <a:r>
              <a:rPr lang="en-US" altLang="zh-CN" i="1" baseline="-14000" dirty="0"/>
              <a:t>i</a:t>
            </a:r>
            <a:r>
              <a:rPr lang="zh-CN" altLang="en-US" dirty="0"/>
              <a:t>代表域变量，</a:t>
            </a:r>
            <a:r>
              <a:rPr lang="en-US" altLang="zh-CN" i="1" dirty="0"/>
              <a:t>P</a:t>
            </a:r>
            <a:r>
              <a:rPr lang="zh-CN" altLang="en-US" dirty="0"/>
              <a:t>为由原子构成的公式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原子公式</a:t>
            </a:r>
            <a:endParaRPr lang="zh-CN" altLang="en-US" dirty="0"/>
          </a:p>
          <a:p>
            <a:pPr lvl="2" eaLnBrk="1" hangingPunct="1">
              <a:lnSpc>
                <a:spcPct val="120000"/>
              </a:lnSpc>
            </a:pPr>
            <a:r>
              <a:rPr lang="en-US" altLang="zh-CN" sz="2700" i="1" dirty="0">
                <a:solidFill>
                  <a:srgbClr val="FF3300"/>
                </a:solidFill>
              </a:rPr>
              <a:t>&lt; x</a:t>
            </a:r>
            <a:r>
              <a:rPr lang="en-US" altLang="zh-CN" sz="2700" i="1" baseline="-14000" dirty="0">
                <a:solidFill>
                  <a:srgbClr val="FF3300"/>
                </a:solidFill>
              </a:rPr>
              <a:t>1</a:t>
            </a:r>
            <a:r>
              <a:rPr lang="en-US" altLang="zh-CN" sz="2700" i="1" dirty="0">
                <a:solidFill>
                  <a:srgbClr val="FF3300"/>
                </a:solidFill>
              </a:rPr>
              <a:t> , </a:t>
            </a:r>
            <a:r>
              <a:rPr lang="en-US" altLang="zh-CN" sz="2700" i="1" baseline="-14000" dirty="0">
                <a:solidFill>
                  <a:srgbClr val="FF3300"/>
                </a:solidFill>
              </a:rPr>
              <a:t> </a:t>
            </a:r>
            <a:r>
              <a:rPr lang="en-US" altLang="zh-CN" sz="2700" i="1" dirty="0">
                <a:solidFill>
                  <a:srgbClr val="FF3300"/>
                </a:solidFill>
              </a:rPr>
              <a:t>x</a:t>
            </a:r>
            <a:r>
              <a:rPr lang="en-US" altLang="zh-CN" sz="2700" i="1" baseline="-14000" dirty="0">
                <a:solidFill>
                  <a:srgbClr val="FF3300"/>
                </a:solidFill>
              </a:rPr>
              <a:t>2</a:t>
            </a:r>
            <a:r>
              <a:rPr lang="en-US" altLang="zh-CN" sz="2700" i="1" dirty="0">
                <a:solidFill>
                  <a:srgbClr val="FF3300"/>
                </a:solidFill>
              </a:rPr>
              <a:t> , … , x</a:t>
            </a:r>
            <a:r>
              <a:rPr lang="en-US" altLang="zh-CN" sz="2700" i="1" baseline="-14000" dirty="0">
                <a:solidFill>
                  <a:srgbClr val="FF3300"/>
                </a:solidFill>
              </a:rPr>
              <a:t>n </a:t>
            </a:r>
            <a:r>
              <a:rPr lang="en-US" altLang="zh-CN" sz="2700" i="1" dirty="0">
                <a:solidFill>
                  <a:srgbClr val="FF3300"/>
                </a:solidFill>
              </a:rPr>
              <a:t>&gt; </a:t>
            </a:r>
            <a:r>
              <a:rPr lang="en-US" altLang="zh-CN" sz="2700" i="1" dirty="0">
                <a:solidFill>
                  <a:srgbClr val="FF3300"/>
                </a:solidFill>
                <a:sym typeface="Symbol" panose="05050102010706020507" pitchFamily="18" charset="2"/>
              </a:rPr>
              <a:t> R</a:t>
            </a:r>
            <a:r>
              <a:rPr lang="zh-CN" altLang="en-US" sz="2700" i="1" dirty="0">
                <a:solidFill>
                  <a:srgbClr val="FF3300"/>
                </a:solidFill>
                <a:sym typeface="Symbol" panose="05050102010706020507" pitchFamily="18" charset="2"/>
              </a:rPr>
              <a:t>，记</a:t>
            </a:r>
            <a:r>
              <a:rPr lang="en-US" altLang="zh-CN" sz="2700" i="1" dirty="0">
                <a:solidFill>
                  <a:srgbClr val="FF3300"/>
                </a:solidFill>
                <a:sym typeface="Symbol" panose="05050102010706020507" pitchFamily="18" charset="2"/>
              </a:rPr>
              <a:t>R(</a:t>
            </a:r>
            <a:r>
              <a:rPr lang="en-US" altLang="zh-CN" sz="2700" i="1" dirty="0">
                <a:solidFill>
                  <a:srgbClr val="FF3300"/>
                </a:solidFill>
              </a:rPr>
              <a:t>x</a:t>
            </a:r>
            <a:r>
              <a:rPr lang="en-US" altLang="zh-CN" sz="2700" i="1" baseline="-14000" dirty="0">
                <a:solidFill>
                  <a:srgbClr val="FF3300"/>
                </a:solidFill>
              </a:rPr>
              <a:t>1</a:t>
            </a:r>
            <a:r>
              <a:rPr lang="en-US" altLang="zh-CN" sz="2700" i="1" dirty="0">
                <a:solidFill>
                  <a:srgbClr val="FF3300"/>
                </a:solidFill>
              </a:rPr>
              <a:t> , </a:t>
            </a:r>
            <a:r>
              <a:rPr lang="en-US" altLang="zh-CN" sz="2700" i="1" baseline="-14000" dirty="0">
                <a:solidFill>
                  <a:srgbClr val="FF3300"/>
                </a:solidFill>
              </a:rPr>
              <a:t> </a:t>
            </a:r>
            <a:r>
              <a:rPr lang="en-US" altLang="zh-CN" sz="2700" i="1" dirty="0">
                <a:solidFill>
                  <a:srgbClr val="FF3300"/>
                </a:solidFill>
              </a:rPr>
              <a:t>x</a:t>
            </a:r>
            <a:r>
              <a:rPr lang="en-US" altLang="zh-CN" sz="2700" i="1" baseline="-14000" dirty="0">
                <a:solidFill>
                  <a:srgbClr val="FF3300"/>
                </a:solidFill>
              </a:rPr>
              <a:t>2</a:t>
            </a:r>
            <a:r>
              <a:rPr lang="en-US" altLang="zh-CN" sz="2700" i="1" dirty="0">
                <a:solidFill>
                  <a:srgbClr val="FF3300"/>
                </a:solidFill>
              </a:rPr>
              <a:t> , … , x</a:t>
            </a:r>
            <a:r>
              <a:rPr lang="en-US" altLang="zh-CN" sz="2700" i="1" baseline="-14000" dirty="0">
                <a:solidFill>
                  <a:srgbClr val="FF3300"/>
                </a:solidFill>
              </a:rPr>
              <a:t>n </a:t>
            </a:r>
            <a:r>
              <a:rPr lang="en-US" altLang="zh-CN" sz="2700" i="1" dirty="0">
                <a:solidFill>
                  <a:srgbClr val="FF3300"/>
                </a:solidFill>
                <a:sym typeface="Symbol" panose="05050102010706020507" pitchFamily="18" charset="2"/>
              </a:rPr>
              <a:t>)</a:t>
            </a:r>
            <a:endParaRPr lang="en-US" altLang="zh-CN" sz="2700" i="1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lvl="3" eaLnBrk="1" hangingPunct="1">
              <a:lnSpc>
                <a:spcPct val="120000"/>
              </a:lnSpc>
              <a:buNone/>
            </a:pPr>
            <a:r>
              <a:rPr lang="en-US" altLang="zh-CN" sz="2400" i="1" dirty="0"/>
              <a:t>x</a:t>
            </a:r>
            <a:r>
              <a:rPr lang="en-US" altLang="zh-CN" sz="2400" i="1" baseline="-14000" dirty="0"/>
              <a:t>i</a:t>
            </a:r>
            <a:r>
              <a:rPr lang="zh-CN" altLang="en-US" sz="2300" dirty="0"/>
              <a:t>是域变量或域常量</a:t>
            </a:r>
            <a:endParaRPr lang="zh-CN" altLang="en-US" sz="2300" dirty="0"/>
          </a:p>
          <a:p>
            <a:pPr lvl="2" eaLnBrk="1" hangingPunct="1">
              <a:lnSpc>
                <a:spcPct val="120000"/>
              </a:lnSpc>
            </a:pPr>
            <a:r>
              <a:rPr lang="en-US" altLang="zh-CN" sz="2700" i="1" dirty="0">
                <a:solidFill>
                  <a:srgbClr val="FF3300"/>
                </a:solidFill>
              </a:rPr>
              <a:t>x </a:t>
            </a:r>
            <a:r>
              <a:rPr lang="en-US" altLang="zh-CN" sz="2700" i="1" dirty="0">
                <a:solidFill>
                  <a:srgbClr val="FF3300"/>
                </a:solidFill>
                <a:sym typeface="Symbol" panose="05050102010706020507" pitchFamily="18" charset="2"/>
              </a:rPr>
              <a:t> </a:t>
            </a:r>
            <a:r>
              <a:rPr lang="en-US" altLang="zh-CN" sz="2700" i="1" dirty="0">
                <a:solidFill>
                  <a:srgbClr val="FF3300"/>
                </a:solidFill>
              </a:rPr>
              <a:t>y</a:t>
            </a:r>
            <a:endParaRPr lang="en-US" altLang="zh-CN" sz="2700" i="1" dirty="0">
              <a:solidFill>
                <a:srgbClr val="FF3300"/>
              </a:solidFill>
            </a:endParaRPr>
          </a:p>
          <a:p>
            <a:pPr lvl="3" eaLnBrk="1" hangingPunct="1">
              <a:lnSpc>
                <a:spcPct val="120000"/>
              </a:lnSpc>
              <a:buNone/>
            </a:pPr>
            <a:r>
              <a:rPr lang="zh-CN" altLang="en-US" sz="2300" dirty="0"/>
              <a:t>域变量</a:t>
            </a:r>
            <a:r>
              <a:rPr lang="en-US" altLang="zh-CN" sz="2300" i="1" dirty="0"/>
              <a:t>x</a:t>
            </a:r>
            <a:r>
              <a:rPr lang="zh-CN" altLang="en-US" sz="2300" dirty="0"/>
              <a:t>与</a:t>
            </a:r>
            <a:r>
              <a:rPr lang="en-US" altLang="zh-CN" sz="2300" i="1" dirty="0"/>
              <a:t>y</a:t>
            </a:r>
            <a:r>
              <a:rPr lang="zh-CN" altLang="en-US" sz="2300" dirty="0"/>
              <a:t>之间满足比较关系</a:t>
            </a:r>
            <a:r>
              <a:rPr lang="zh-CN" altLang="en-US" sz="2300" i="1" dirty="0">
                <a:sym typeface="Symbol" panose="05050102010706020507" pitchFamily="18" charset="2"/>
              </a:rPr>
              <a:t></a:t>
            </a:r>
            <a:r>
              <a:rPr lang="zh-CN" altLang="en-US" sz="2300" dirty="0"/>
              <a:t> </a:t>
            </a:r>
            <a:endParaRPr lang="zh-CN" altLang="en-US" sz="2300" dirty="0"/>
          </a:p>
          <a:p>
            <a:pPr lvl="2" eaLnBrk="1" hangingPunct="1">
              <a:lnSpc>
                <a:spcPct val="120000"/>
              </a:lnSpc>
            </a:pPr>
            <a:r>
              <a:rPr lang="en-US" altLang="zh-CN" sz="2700" i="1" dirty="0">
                <a:solidFill>
                  <a:srgbClr val="FF3300"/>
                </a:solidFill>
              </a:rPr>
              <a:t>x </a:t>
            </a:r>
            <a:r>
              <a:rPr lang="en-US" altLang="zh-CN" sz="2700" i="1" dirty="0">
                <a:solidFill>
                  <a:srgbClr val="FF3300"/>
                </a:solidFill>
                <a:sym typeface="Symbol" panose="05050102010706020507" pitchFamily="18" charset="2"/>
              </a:rPr>
              <a:t></a:t>
            </a:r>
            <a:r>
              <a:rPr lang="en-US" altLang="zh-CN" sz="2700" i="1" dirty="0">
                <a:solidFill>
                  <a:srgbClr val="FF3300"/>
                </a:solidFill>
              </a:rPr>
              <a:t> c</a:t>
            </a:r>
            <a:endParaRPr lang="en-US" altLang="zh-CN" sz="2700" i="1" dirty="0">
              <a:solidFill>
                <a:srgbClr val="FF3300"/>
              </a:solidFill>
            </a:endParaRPr>
          </a:p>
          <a:p>
            <a:pPr lvl="3" eaLnBrk="1" hangingPunct="1">
              <a:lnSpc>
                <a:spcPct val="120000"/>
              </a:lnSpc>
              <a:buNone/>
            </a:pPr>
            <a:r>
              <a:rPr lang="zh-CN" altLang="en-US" sz="2300" dirty="0"/>
              <a:t>域变量</a:t>
            </a:r>
            <a:r>
              <a:rPr lang="en-US" altLang="zh-CN" sz="2300" i="1" dirty="0"/>
              <a:t>x</a:t>
            </a:r>
            <a:r>
              <a:rPr lang="zh-CN" altLang="en-US" sz="2300" dirty="0"/>
              <a:t>与常量</a:t>
            </a:r>
            <a:r>
              <a:rPr lang="en-US" altLang="zh-CN" sz="2300" i="1" dirty="0"/>
              <a:t>c</a:t>
            </a:r>
            <a:r>
              <a:rPr lang="zh-CN" altLang="en-US" sz="2300" dirty="0"/>
              <a:t>之间满足比较关系</a:t>
            </a:r>
            <a:r>
              <a:rPr lang="zh-CN" altLang="en-US" sz="2300" i="1" dirty="0">
                <a:sym typeface="Symbol" panose="05050102010706020507" pitchFamily="18" charset="2"/>
              </a:rPr>
              <a:t></a:t>
            </a:r>
            <a:endParaRPr lang="zh-CN" altLang="en-US" sz="2300" i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2.5.2  </a:t>
            </a:r>
            <a:r>
              <a:rPr lang="zh-CN" altLang="en-US" u="sng" dirty="0"/>
              <a:t>域关系演算</a:t>
            </a:r>
            <a:endParaRPr lang="zh-CN" altLang="en-US" u="sng" dirty="0"/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20000"/>
              </a:lnSpc>
              <a:buClr>
                <a:srgbClr val="FF0000"/>
              </a:buClr>
            </a:pPr>
            <a:r>
              <a:rPr lang="zh-CN" altLang="en-US" sz="3200" dirty="0">
                <a:solidFill>
                  <a:srgbClr val="FF0000"/>
                </a:solidFill>
              </a:rPr>
              <a:t>公式的递归定义</a:t>
            </a:r>
            <a:endParaRPr lang="zh-CN" altLang="en-US" sz="3200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2800" dirty="0"/>
              <a:t>原子公式是公式</a:t>
            </a:r>
            <a:endParaRPr lang="zh-CN" altLang="en-US" sz="2800" dirty="0"/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2800" dirty="0"/>
              <a:t>如果</a:t>
            </a:r>
            <a:r>
              <a:rPr lang="en-US" altLang="zh-CN" sz="2800" i="1" dirty="0"/>
              <a:t>P</a:t>
            </a:r>
            <a:r>
              <a:rPr lang="zh-CN" altLang="en-US" sz="2800" dirty="0"/>
              <a:t>是公式，那么</a:t>
            </a:r>
            <a:r>
              <a:rPr lang="zh-CN" altLang="en-US" sz="2800" i="1" dirty="0"/>
              <a:t>┑</a:t>
            </a:r>
            <a:r>
              <a:rPr lang="en-US" altLang="zh-CN" sz="2800" i="1" dirty="0"/>
              <a:t>P</a:t>
            </a:r>
            <a:r>
              <a:rPr lang="zh-CN" altLang="en-US" sz="2800" dirty="0"/>
              <a:t>也是公式</a:t>
            </a:r>
            <a:endParaRPr lang="zh-CN" altLang="en-US" sz="2800" dirty="0"/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2800" dirty="0"/>
              <a:t>如果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1</a:t>
            </a:r>
            <a:r>
              <a:rPr lang="en-US" altLang="zh-CN" sz="2800" dirty="0"/>
              <a:t> , 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2</a:t>
            </a:r>
            <a:r>
              <a:rPr lang="zh-CN" altLang="en-US" sz="2800" dirty="0"/>
              <a:t>是公式，则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1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</a:t>
            </a:r>
            <a:r>
              <a:rPr lang="en-US" altLang="zh-CN" sz="2800" dirty="0"/>
              <a:t> 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2</a:t>
            </a:r>
            <a:r>
              <a:rPr lang="en-US" altLang="zh-CN" sz="2800" dirty="0"/>
              <a:t> , </a:t>
            </a:r>
            <a:r>
              <a:rPr lang="en-US" altLang="zh-CN" sz="2800" i="1" baseline="-16000" dirty="0"/>
              <a:t> 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1 </a:t>
            </a:r>
            <a:r>
              <a:rPr lang="en-US" altLang="zh-CN" sz="2800" dirty="0">
                <a:sym typeface="Symbol" panose="05050102010706020507" pitchFamily="18" charset="2"/>
              </a:rPr>
              <a:t></a:t>
            </a:r>
            <a:r>
              <a:rPr lang="en-US" altLang="zh-CN" sz="2800" i="1" baseline="-16000" dirty="0"/>
              <a:t> 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2 </a:t>
            </a:r>
            <a:r>
              <a:rPr lang="en-US" altLang="zh-CN" sz="2800" dirty="0"/>
              <a:t>, 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1 </a:t>
            </a:r>
            <a:r>
              <a:rPr lang="en-US" altLang="zh-CN" sz="2800" dirty="0">
                <a:sym typeface="Symbol" panose="05050102010706020507" pitchFamily="18" charset="2"/>
              </a:rPr>
              <a:t></a:t>
            </a:r>
            <a:r>
              <a:rPr lang="en-US" altLang="zh-CN" sz="2800" i="1" baseline="-16000" dirty="0"/>
              <a:t> </a:t>
            </a:r>
            <a:r>
              <a:rPr lang="en-US" altLang="zh-CN" sz="2800" i="1" dirty="0"/>
              <a:t>P</a:t>
            </a:r>
            <a:r>
              <a:rPr lang="en-US" altLang="zh-CN" sz="2800" i="1" baseline="-16000" dirty="0"/>
              <a:t>2</a:t>
            </a:r>
            <a:r>
              <a:rPr lang="zh-CN" altLang="en-US" sz="2800" dirty="0"/>
              <a:t>也是公式</a:t>
            </a:r>
            <a:endParaRPr lang="zh-CN" altLang="en-US" sz="2800" dirty="0"/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2800" dirty="0"/>
              <a:t>如果</a:t>
            </a:r>
            <a:r>
              <a:rPr lang="en-US" altLang="zh-CN" sz="2800" i="1" dirty="0"/>
              <a:t>P(t)</a:t>
            </a:r>
            <a:r>
              <a:rPr lang="zh-CN" altLang="en-US" sz="2800" dirty="0"/>
              <a:t>是公式，则</a:t>
            </a:r>
            <a:r>
              <a:rPr lang="zh-CN" altLang="en-US" sz="2800" dirty="0">
                <a:sym typeface="Symbol" panose="05050102010706020507" pitchFamily="18" charset="2"/>
              </a:rPr>
              <a:t></a:t>
            </a:r>
            <a:r>
              <a:rPr lang="en-US" altLang="zh-CN" sz="2800" i="1" dirty="0">
                <a:sym typeface="Symbol" panose="05050102010706020507" pitchFamily="18" charset="2"/>
              </a:rPr>
              <a:t>t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sym typeface="Symbol" panose="05050102010706020507" pitchFamily="18" charset="2"/>
              </a:rPr>
              <a:t> (</a:t>
            </a:r>
            <a:r>
              <a:rPr lang="en-US" altLang="zh-CN" sz="2800" i="1" dirty="0"/>
              <a:t>P(t))</a:t>
            </a:r>
            <a:r>
              <a:rPr lang="zh-CN" altLang="en-US" sz="2800" dirty="0"/>
              <a:t>是公式</a:t>
            </a:r>
            <a:endParaRPr lang="zh-CN" altLang="en-US" sz="2800" dirty="0"/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2800" dirty="0"/>
              <a:t>如果</a:t>
            </a:r>
            <a:r>
              <a:rPr lang="en-US" altLang="zh-CN" sz="2800" i="1" dirty="0"/>
              <a:t>P(t)</a:t>
            </a:r>
            <a:r>
              <a:rPr lang="zh-CN" altLang="en-US" sz="2800" dirty="0"/>
              <a:t>是公式，则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>
                <a:sym typeface="Symbol" panose="05050102010706020507" pitchFamily="18" charset="2"/>
              </a:rPr>
              <a:t>t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sym typeface="Symbol" panose="05050102010706020507" pitchFamily="18" charset="2"/>
              </a:rPr>
              <a:t> (</a:t>
            </a:r>
            <a:r>
              <a:rPr lang="en-US" altLang="zh-CN" sz="2800" i="1" dirty="0"/>
              <a:t>P(t))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也是公式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运算符优先级同元组关系演算</a:t>
            </a:r>
            <a:endParaRPr lang="zh-CN" altLang="en-US" sz="2800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2.5.2  </a:t>
            </a:r>
            <a:r>
              <a:rPr lang="zh-CN" altLang="en-US" u="sng" dirty="0"/>
              <a:t>域关系演算</a:t>
            </a:r>
            <a:endParaRPr lang="zh-CN" altLang="en-US" u="sng" dirty="0"/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7620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20000"/>
              </a:lnSpc>
              <a:buClr>
                <a:srgbClr val="FF0000"/>
              </a:buClr>
            </a:pPr>
            <a:r>
              <a:rPr lang="en-US" altLang="zh-CN" sz="3200" dirty="0">
                <a:latin typeface="Arial" panose="020B0604020202020204" pitchFamily="34" charset="0"/>
              </a:rPr>
              <a:t>[</a:t>
            </a:r>
            <a:r>
              <a:rPr lang="zh-CN" altLang="en-US" sz="3200" dirty="0">
                <a:latin typeface="Arial" panose="020B0604020202020204" pitchFamily="34" charset="0"/>
              </a:rPr>
              <a:t>例</a:t>
            </a:r>
            <a:r>
              <a:rPr lang="en-US" altLang="zh-CN" sz="3200" dirty="0">
                <a:latin typeface="Arial" panose="020B0604020202020204" pitchFamily="34" charset="0"/>
              </a:rPr>
              <a:t>1]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graphicFrame>
        <p:nvGraphicFramePr>
          <p:cNvPr id="176132" name="Group 4"/>
          <p:cNvGraphicFramePr>
            <a:graphicFrameLocks noGrp="1"/>
          </p:cNvGraphicFramePr>
          <p:nvPr/>
        </p:nvGraphicFramePr>
        <p:xfrm>
          <a:off x="1676400" y="1905000"/>
          <a:ext cx="1905000" cy="1828800"/>
        </p:xfrm>
        <a:graphic>
          <a:graphicData uri="http://schemas.openxmlformats.org/drawingml/2006/table">
            <a:tbl>
              <a:tblPr/>
              <a:tblGrid>
                <a:gridCol w="635000"/>
                <a:gridCol w="635000"/>
                <a:gridCol w="6350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6154" name="Group 26"/>
          <p:cNvGraphicFramePr>
            <a:graphicFrameLocks noGrp="1"/>
          </p:cNvGraphicFramePr>
          <p:nvPr/>
        </p:nvGraphicFramePr>
        <p:xfrm>
          <a:off x="4038600" y="1905000"/>
          <a:ext cx="1676400" cy="1828800"/>
        </p:xfrm>
        <a:graphic>
          <a:graphicData uri="http://schemas.openxmlformats.org/drawingml/2006/table">
            <a:tbl>
              <a:tblPr/>
              <a:tblGrid>
                <a:gridCol w="558800"/>
                <a:gridCol w="558800"/>
                <a:gridCol w="5588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73" name="Text Box 48"/>
          <p:cNvSpPr txBox="1"/>
          <p:nvPr/>
        </p:nvSpPr>
        <p:spPr>
          <a:xfrm>
            <a:off x="2514600" y="1295400"/>
            <a:ext cx="685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R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26674" name="Text Box 49"/>
          <p:cNvSpPr txBox="1"/>
          <p:nvPr/>
        </p:nvSpPr>
        <p:spPr>
          <a:xfrm>
            <a:off x="4419600" y="1270000"/>
            <a:ext cx="685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S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graphicFrame>
        <p:nvGraphicFramePr>
          <p:cNvPr id="176178" name="Group 50"/>
          <p:cNvGraphicFramePr>
            <a:graphicFrameLocks noGrp="1"/>
          </p:cNvGraphicFramePr>
          <p:nvPr/>
        </p:nvGraphicFramePr>
        <p:xfrm>
          <a:off x="3733800" y="5029200"/>
          <a:ext cx="1676400" cy="1036638"/>
        </p:xfrm>
        <a:graphic>
          <a:graphicData uri="http://schemas.openxmlformats.org/drawingml/2006/table">
            <a:tbl>
              <a:tblPr/>
              <a:tblGrid>
                <a:gridCol w="558800"/>
                <a:gridCol w="558800"/>
                <a:gridCol w="558800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89" name="Text Box 64"/>
          <p:cNvSpPr txBox="1"/>
          <p:nvPr/>
        </p:nvSpPr>
        <p:spPr>
          <a:xfrm>
            <a:off x="1600200" y="4191000"/>
            <a:ext cx="6172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R1={ x y z | R( x, y, z)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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x&lt;5  y&gt;3}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76193" name="Group 65"/>
          <p:cNvGraphicFramePr>
            <a:graphicFrameLocks noGrp="1"/>
          </p:cNvGraphicFramePr>
          <p:nvPr/>
        </p:nvGraphicFramePr>
        <p:xfrm>
          <a:off x="6172200" y="1917700"/>
          <a:ext cx="1447800" cy="1371600"/>
        </p:xfrm>
        <a:graphic>
          <a:graphicData uri="http://schemas.openxmlformats.org/drawingml/2006/table">
            <a:tbl>
              <a:tblPr/>
              <a:tblGrid>
                <a:gridCol w="752475"/>
                <a:gridCol w="695325"/>
              </a:tblGrid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704" name="Text Box 79"/>
          <p:cNvSpPr txBox="1"/>
          <p:nvPr/>
        </p:nvSpPr>
        <p:spPr>
          <a:xfrm>
            <a:off x="6553200" y="1295400"/>
            <a:ext cx="685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folHlink"/>
                </a:solidFill>
              </a:rPr>
              <a:t>W</a:t>
            </a:r>
            <a:endParaRPr lang="en-US" altLang="zh-CN" sz="360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2.5.2  </a:t>
            </a:r>
            <a:r>
              <a:rPr lang="zh-CN" altLang="en-US" u="sng" dirty="0"/>
              <a:t>域关系演算</a:t>
            </a:r>
            <a:endParaRPr lang="zh-CN" altLang="en-US" u="sng" dirty="0"/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7620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20000"/>
              </a:lnSpc>
              <a:buClr>
                <a:srgbClr val="FF0000"/>
              </a:buClr>
            </a:pPr>
            <a:r>
              <a:rPr lang="en-US" altLang="zh-CN" sz="3200" dirty="0">
                <a:latin typeface="Arial" panose="020B0604020202020204" pitchFamily="34" charset="0"/>
              </a:rPr>
              <a:t>[</a:t>
            </a:r>
            <a:r>
              <a:rPr lang="zh-CN" altLang="en-US" sz="3200" dirty="0">
                <a:latin typeface="Arial" panose="020B0604020202020204" pitchFamily="34" charset="0"/>
              </a:rPr>
              <a:t>例</a:t>
            </a:r>
            <a:r>
              <a:rPr lang="en-US" altLang="zh-CN" sz="3200" dirty="0">
                <a:latin typeface="Arial" panose="020B0604020202020204" pitchFamily="34" charset="0"/>
              </a:rPr>
              <a:t>2]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graphicFrame>
        <p:nvGraphicFramePr>
          <p:cNvPr id="177156" name="Group 4"/>
          <p:cNvGraphicFramePr>
            <a:graphicFrameLocks noGrp="1"/>
          </p:cNvGraphicFramePr>
          <p:nvPr/>
        </p:nvGraphicFramePr>
        <p:xfrm>
          <a:off x="1676400" y="1905000"/>
          <a:ext cx="1905000" cy="1828800"/>
        </p:xfrm>
        <a:graphic>
          <a:graphicData uri="http://schemas.openxmlformats.org/drawingml/2006/table">
            <a:tbl>
              <a:tblPr/>
              <a:tblGrid>
                <a:gridCol w="635000"/>
                <a:gridCol w="635000"/>
                <a:gridCol w="6350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7178" name="Group 26"/>
          <p:cNvGraphicFramePr>
            <a:graphicFrameLocks noGrp="1"/>
          </p:cNvGraphicFramePr>
          <p:nvPr/>
        </p:nvGraphicFramePr>
        <p:xfrm>
          <a:off x="4038600" y="1905000"/>
          <a:ext cx="1676400" cy="1828800"/>
        </p:xfrm>
        <a:graphic>
          <a:graphicData uri="http://schemas.openxmlformats.org/drawingml/2006/table">
            <a:tbl>
              <a:tblPr/>
              <a:tblGrid>
                <a:gridCol w="558800"/>
                <a:gridCol w="558800"/>
                <a:gridCol w="5588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697" name="Text Box 48"/>
          <p:cNvSpPr txBox="1"/>
          <p:nvPr/>
        </p:nvSpPr>
        <p:spPr>
          <a:xfrm>
            <a:off x="2514600" y="1295400"/>
            <a:ext cx="685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R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27698" name="Text Box 49"/>
          <p:cNvSpPr txBox="1"/>
          <p:nvPr/>
        </p:nvSpPr>
        <p:spPr>
          <a:xfrm>
            <a:off x="4419600" y="1270000"/>
            <a:ext cx="685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S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graphicFrame>
        <p:nvGraphicFramePr>
          <p:cNvPr id="177202" name="Group 50"/>
          <p:cNvGraphicFramePr>
            <a:graphicFrameLocks noGrp="1"/>
          </p:cNvGraphicFramePr>
          <p:nvPr/>
        </p:nvGraphicFramePr>
        <p:xfrm>
          <a:off x="3733800" y="5029200"/>
          <a:ext cx="1676400" cy="1036638"/>
        </p:xfrm>
        <a:graphic>
          <a:graphicData uri="http://schemas.openxmlformats.org/drawingml/2006/table">
            <a:tbl>
              <a:tblPr/>
              <a:tblGrid>
                <a:gridCol w="558800"/>
                <a:gridCol w="558800"/>
                <a:gridCol w="558800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713" name="Text Box 64"/>
          <p:cNvSpPr txBox="1"/>
          <p:nvPr/>
        </p:nvSpPr>
        <p:spPr>
          <a:xfrm>
            <a:off x="1600200" y="4191000"/>
            <a:ext cx="6172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R1={ x y z | R( y, x, z)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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x&lt;5  y&gt;3}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77217" name="Group 65"/>
          <p:cNvGraphicFramePr>
            <a:graphicFrameLocks noGrp="1"/>
          </p:cNvGraphicFramePr>
          <p:nvPr/>
        </p:nvGraphicFramePr>
        <p:xfrm>
          <a:off x="6172200" y="1905000"/>
          <a:ext cx="1447800" cy="1384300"/>
        </p:xfrm>
        <a:graphic>
          <a:graphicData uri="http://schemas.openxmlformats.org/drawingml/2006/table">
            <a:tbl>
              <a:tblPr/>
              <a:tblGrid>
                <a:gridCol w="752475"/>
                <a:gridCol w="695325"/>
              </a:tblGrid>
              <a:tr h="4699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728" name="Text Box 79"/>
          <p:cNvSpPr txBox="1"/>
          <p:nvPr/>
        </p:nvSpPr>
        <p:spPr>
          <a:xfrm>
            <a:off x="6553200" y="1295400"/>
            <a:ext cx="685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folHlink"/>
                </a:solidFill>
              </a:rPr>
              <a:t>W</a:t>
            </a:r>
            <a:endParaRPr lang="en-US" altLang="zh-CN" sz="360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2.5.2  </a:t>
            </a:r>
            <a:r>
              <a:rPr lang="zh-CN" altLang="en-US" u="sng" dirty="0"/>
              <a:t>域关系演算</a:t>
            </a:r>
            <a:endParaRPr lang="zh-CN" altLang="en-US" u="sng" dirty="0"/>
          </a:p>
        </p:txBody>
      </p:sp>
      <p:sp>
        <p:nvSpPr>
          <p:cNvPr id="28676" name="Rectangle 3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7620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20000"/>
              </a:lnSpc>
              <a:buClr>
                <a:srgbClr val="FF0000"/>
              </a:buClr>
            </a:pPr>
            <a:r>
              <a:rPr lang="en-US" altLang="zh-CN" sz="3200" dirty="0">
                <a:latin typeface="Arial" panose="020B0604020202020204" pitchFamily="34" charset="0"/>
              </a:rPr>
              <a:t>[</a:t>
            </a:r>
            <a:r>
              <a:rPr lang="zh-CN" altLang="en-US" sz="3200" dirty="0">
                <a:latin typeface="Arial" panose="020B0604020202020204" pitchFamily="34" charset="0"/>
              </a:rPr>
              <a:t>例</a:t>
            </a:r>
            <a:r>
              <a:rPr lang="en-US" altLang="zh-CN" sz="3200" dirty="0">
                <a:latin typeface="Arial" panose="020B0604020202020204" pitchFamily="34" charset="0"/>
              </a:rPr>
              <a:t>3]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graphicFrame>
        <p:nvGraphicFramePr>
          <p:cNvPr id="178180" name="Group 4"/>
          <p:cNvGraphicFramePr>
            <a:graphicFrameLocks noGrp="1"/>
          </p:cNvGraphicFramePr>
          <p:nvPr/>
        </p:nvGraphicFramePr>
        <p:xfrm>
          <a:off x="1676400" y="1905000"/>
          <a:ext cx="1905000" cy="1828800"/>
        </p:xfrm>
        <a:graphic>
          <a:graphicData uri="http://schemas.openxmlformats.org/drawingml/2006/table">
            <a:tbl>
              <a:tblPr/>
              <a:tblGrid>
                <a:gridCol w="635000"/>
                <a:gridCol w="635000"/>
                <a:gridCol w="6350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202" name="Group 26"/>
          <p:cNvGraphicFramePr>
            <a:graphicFrameLocks noGrp="1"/>
          </p:cNvGraphicFramePr>
          <p:nvPr/>
        </p:nvGraphicFramePr>
        <p:xfrm>
          <a:off x="4038600" y="1905000"/>
          <a:ext cx="1676400" cy="1828800"/>
        </p:xfrm>
        <a:graphic>
          <a:graphicData uri="http://schemas.openxmlformats.org/drawingml/2006/table">
            <a:tbl>
              <a:tblPr/>
              <a:tblGrid>
                <a:gridCol w="558800"/>
                <a:gridCol w="558800"/>
                <a:gridCol w="5588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721" name="Text Box 48"/>
          <p:cNvSpPr txBox="1"/>
          <p:nvPr/>
        </p:nvSpPr>
        <p:spPr>
          <a:xfrm>
            <a:off x="2514600" y="1295400"/>
            <a:ext cx="685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R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28722" name="Text Box 49"/>
          <p:cNvSpPr txBox="1"/>
          <p:nvPr/>
        </p:nvSpPr>
        <p:spPr>
          <a:xfrm>
            <a:off x="4419600" y="1270000"/>
            <a:ext cx="685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folHlink"/>
                </a:solidFill>
              </a:rPr>
              <a:t>S</a:t>
            </a:r>
            <a:endParaRPr lang="en-US" altLang="zh-CN" sz="3600" dirty="0">
              <a:solidFill>
                <a:schemeClr val="folHlink"/>
              </a:solidFill>
            </a:endParaRPr>
          </a:p>
        </p:txBody>
      </p:sp>
      <p:sp>
        <p:nvSpPr>
          <p:cNvPr id="28723" name="Text Box 50"/>
          <p:cNvSpPr txBox="1"/>
          <p:nvPr/>
        </p:nvSpPr>
        <p:spPr>
          <a:xfrm>
            <a:off x="381000" y="3937000"/>
            <a:ext cx="8382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R2={ x y z| (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800" dirty="0">
                <a:solidFill>
                  <a:schemeClr val="tx1"/>
                </a:solidFill>
              </a:rPr>
              <a:t>u) (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v</a:t>
            </a:r>
            <a:r>
              <a:rPr lang="en-US" altLang="zh-CN" sz="2800" dirty="0">
                <a:solidFill>
                  <a:schemeClr val="tx1"/>
                </a:solidFill>
              </a:rPr>
              <a:t>) (R(z, x, u)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W(y, v)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u&gt;v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)}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78227" name="Group 51"/>
          <p:cNvGraphicFramePr>
            <a:graphicFrameLocks noGrp="1"/>
          </p:cNvGraphicFramePr>
          <p:nvPr/>
        </p:nvGraphicFramePr>
        <p:xfrm>
          <a:off x="6172200" y="1917700"/>
          <a:ext cx="1447800" cy="1371600"/>
        </p:xfrm>
        <a:graphic>
          <a:graphicData uri="http://schemas.openxmlformats.org/drawingml/2006/table">
            <a:tbl>
              <a:tblPr/>
              <a:tblGrid>
                <a:gridCol w="752475"/>
                <a:gridCol w="695325"/>
              </a:tblGrid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FFFF99"/>
                        </a:gs>
                        <a:gs pos="100000">
                          <a:schemeClr val="accent2"/>
                        </a:gs>
                      </a:gsLst>
                      <a:lin ang="2700000" scaled="1"/>
                    </a:gradFill>
                  </a:tcPr>
                </a:tc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</a:tbl>
          </a:graphicData>
        </a:graphic>
      </p:graphicFrame>
      <p:sp>
        <p:nvSpPr>
          <p:cNvPr id="28738" name="Text Box 65"/>
          <p:cNvSpPr txBox="1"/>
          <p:nvPr/>
        </p:nvSpPr>
        <p:spPr>
          <a:xfrm>
            <a:off x="6553200" y="1295400"/>
            <a:ext cx="685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W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graphicFrame>
        <p:nvGraphicFramePr>
          <p:cNvPr id="178242" name="Group 66"/>
          <p:cNvGraphicFramePr>
            <a:graphicFrameLocks noGrp="1"/>
          </p:cNvGraphicFramePr>
          <p:nvPr/>
        </p:nvGraphicFramePr>
        <p:xfrm>
          <a:off x="3200400" y="4622800"/>
          <a:ext cx="2895600" cy="1828800"/>
        </p:xfrm>
        <a:graphic>
          <a:graphicData uri="http://schemas.openxmlformats.org/drawingml/2006/table">
            <a:tbl>
              <a:tblPr/>
              <a:tblGrid>
                <a:gridCol w="965200"/>
                <a:gridCol w="965200"/>
                <a:gridCol w="9652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8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8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2.5.2  </a:t>
            </a:r>
            <a:r>
              <a:rPr lang="zh-CN" altLang="en-US" u="sng" dirty="0"/>
              <a:t>域关系演算</a:t>
            </a:r>
            <a:endParaRPr lang="zh-CN" altLang="en-US" u="sng" dirty="0"/>
          </a:p>
        </p:txBody>
      </p:sp>
      <p:sp>
        <p:nvSpPr>
          <p:cNvPr id="29700" name="Rectangle 3"/>
          <p:cNvSpPr>
            <a:spLocks noGrp="1"/>
          </p:cNvSpPr>
          <p:nvPr>
            <p:ph idx="1"/>
          </p:nvPr>
        </p:nvSpPr>
        <p:spPr>
          <a:xfrm>
            <a:off x="228600" y="596900"/>
            <a:ext cx="8610600" cy="7620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20000"/>
              </a:lnSpc>
              <a:buClr>
                <a:srgbClr val="FF0000"/>
              </a:buClr>
            </a:pPr>
            <a:r>
              <a:rPr lang="en-US" altLang="zh-CN" sz="3200" dirty="0">
                <a:latin typeface="Arial" panose="020B0604020202020204" pitchFamily="34" charset="0"/>
              </a:rPr>
              <a:t>[</a:t>
            </a:r>
            <a:r>
              <a:rPr lang="zh-CN" altLang="en-US" sz="3200" dirty="0">
                <a:latin typeface="Arial" panose="020B0604020202020204" pitchFamily="34" charset="0"/>
              </a:rPr>
              <a:t>例</a:t>
            </a:r>
            <a:r>
              <a:rPr lang="en-US" altLang="zh-CN" sz="3200" dirty="0">
                <a:latin typeface="Arial" panose="020B0604020202020204" pitchFamily="34" charset="0"/>
              </a:rPr>
              <a:t>4]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graphicFrame>
        <p:nvGraphicFramePr>
          <p:cNvPr id="179204" name="Group 4"/>
          <p:cNvGraphicFramePr>
            <a:graphicFrameLocks noGrp="1"/>
          </p:cNvGraphicFramePr>
          <p:nvPr/>
        </p:nvGraphicFramePr>
        <p:xfrm>
          <a:off x="1676400" y="1714500"/>
          <a:ext cx="1905000" cy="1828800"/>
        </p:xfrm>
        <a:graphic>
          <a:graphicData uri="http://schemas.openxmlformats.org/drawingml/2006/table">
            <a:tbl>
              <a:tblPr/>
              <a:tblGrid>
                <a:gridCol w="635000"/>
                <a:gridCol w="635000"/>
                <a:gridCol w="6350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9226" name="Group 26"/>
          <p:cNvGraphicFramePr>
            <a:graphicFrameLocks noGrp="1"/>
          </p:cNvGraphicFramePr>
          <p:nvPr/>
        </p:nvGraphicFramePr>
        <p:xfrm>
          <a:off x="4038600" y="1714500"/>
          <a:ext cx="1676400" cy="1828800"/>
        </p:xfrm>
        <a:graphic>
          <a:graphicData uri="http://schemas.openxmlformats.org/drawingml/2006/table">
            <a:tbl>
              <a:tblPr/>
              <a:tblGrid>
                <a:gridCol w="558800"/>
                <a:gridCol w="558800"/>
                <a:gridCol w="5588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745" name="Text Box 48"/>
          <p:cNvSpPr txBox="1"/>
          <p:nvPr/>
        </p:nvSpPr>
        <p:spPr>
          <a:xfrm>
            <a:off x="2514600" y="1104900"/>
            <a:ext cx="685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R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29746" name="Text Box 49"/>
          <p:cNvSpPr txBox="1"/>
          <p:nvPr/>
        </p:nvSpPr>
        <p:spPr>
          <a:xfrm>
            <a:off x="4419600" y="1079500"/>
            <a:ext cx="685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S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29747" name="Text Box 50"/>
          <p:cNvSpPr txBox="1"/>
          <p:nvPr/>
        </p:nvSpPr>
        <p:spPr>
          <a:xfrm>
            <a:off x="457200" y="3556000"/>
            <a:ext cx="7924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R2={xyz| R(x, y, z)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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(</a:t>
            </a:r>
            <a:r>
              <a:rPr lang="en-US" altLang="zh-CN" sz="2800" dirty="0">
                <a:solidFill>
                  <a:schemeClr val="tx1"/>
                </a:solidFill>
              </a:rPr>
              <a:t>S( x, y, z)  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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 y=4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}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79251" name="Group 51"/>
          <p:cNvGraphicFramePr>
            <a:graphicFrameLocks noGrp="1"/>
          </p:cNvGraphicFramePr>
          <p:nvPr/>
        </p:nvGraphicFramePr>
        <p:xfrm>
          <a:off x="6172200" y="1714500"/>
          <a:ext cx="1447800" cy="1384300"/>
        </p:xfrm>
        <a:graphic>
          <a:graphicData uri="http://schemas.openxmlformats.org/drawingml/2006/table">
            <a:tbl>
              <a:tblPr/>
              <a:tblGrid>
                <a:gridCol w="752475"/>
                <a:gridCol w="695325"/>
              </a:tblGrid>
              <a:tr h="4699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762" name="Text Box 65"/>
          <p:cNvSpPr txBox="1"/>
          <p:nvPr/>
        </p:nvSpPr>
        <p:spPr>
          <a:xfrm>
            <a:off x="6553200" y="1104900"/>
            <a:ext cx="685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folHlink"/>
                </a:solidFill>
              </a:rPr>
              <a:t>W</a:t>
            </a:r>
            <a:endParaRPr lang="en-US" altLang="zh-CN" sz="3600" dirty="0">
              <a:solidFill>
                <a:schemeClr val="folHlink"/>
              </a:solidFill>
            </a:endParaRPr>
          </a:p>
        </p:txBody>
      </p:sp>
      <p:graphicFrame>
        <p:nvGraphicFramePr>
          <p:cNvPr id="179266" name="Group 66"/>
          <p:cNvGraphicFramePr>
            <a:graphicFrameLocks noGrp="1"/>
          </p:cNvGraphicFramePr>
          <p:nvPr/>
        </p:nvGraphicFramePr>
        <p:xfrm>
          <a:off x="2667000" y="4191000"/>
          <a:ext cx="3276600" cy="2286000"/>
        </p:xfrm>
        <a:graphic>
          <a:graphicData uri="http://schemas.openxmlformats.org/drawingml/2006/table">
            <a:tbl>
              <a:tblPr/>
              <a:tblGrid>
                <a:gridCol w="1092200"/>
                <a:gridCol w="1092200"/>
                <a:gridCol w="1092200"/>
              </a:tblGrid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2.5.2  </a:t>
            </a:r>
            <a:r>
              <a:rPr lang="zh-CN" altLang="en-US" u="sng" dirty="0"/>
              <a:t>域关系演算</a:t>
            </a:r>
            <a:endParaRPr lang="zh-CN" altLang="en-US" u="sng" dirty="0"/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xfrm>
            <a:off x="2133600" y="2133600"/>
            <a:ext cx="4876800" cy="167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sz="66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66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综合举例</a:t>
            </a:r>
            <a:endParaRPr lang="zh-CN" altLang="en-US" sz="66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2.5.2  </a:t>
            </a:r>
            <a:r>
              <a:rPr lang="zh-CN" altLang="en-US" u="sng" dirty="0"/>
              <a:t>域关系演算</a:t>
            </a:r>
            <a:endParaRPr lang="zh-CN" altLang="en-US" u="sng" dirty="0"/>
          </a:p>
        </p:txBody>
      </p:sp>
      <p:graphicFrame>
        <p:nvGraphicFramePr>
          <p:cNvPr id="181251" name="Group 3"/>
          <p:cNvGraphicFramePr>
            <a:graphicFrameLocks noGrp="1"/>
          </p:cNvGraphicFramePr>
          <p:nvPr/>
        </p:nvGraphicFramePr>
        <p:xfrm>
          <a:off x="4406900" y="762000"/>
          <a:ext cx="4572000" cy="2581275"/>
        </p:xfrm>
        <a:graphic>
          <a:graphicData uri="http://schemas.openxmlformats.org/drawingml/2006/table">
            <a:tbl>
              <a:tblPr/>
              <a:tblGrid>
                <a:gridCol w="914400"/>
                <a:gridCol w="990600"/>
                <a:gridCol w="1066800"/>
                <a:gridCol w="762000"/>
                <a:gridCol w="8382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性别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Ssex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年龄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Sage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Sdept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786" name="Text Box 41"/>
          <p:cNvSpPr txBox="1"/>
          <p:nvPr/>
        </p:nvSpPr>
        <p:spPr>
          <a:xfrm>
            <a:off x="457200" y="838200"/>
            <a:ext cx="21336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 </a:t>
            </a:r>
            <a:r>
              <a:rPr lang="zh-CN" altLang="en-US" sz="3600" dirty="0">
                <a:solidFill>
                  <a:schemeClr val="tx1"/>
                </a:solidFill>
              </a:rPr>
              <a:t>例题背景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1787" name="Text Box 42"/>
          <p:cNvSpPr txBox="1"/>
          <p:nvPr/>
        </p:nvSpPr>
        <p:spPr>
          <a:xfrm>
            <a:off x="3733800" y="838200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181291" name="Group 43"/>
          <p:cNvGraphicFramePr>
            <a:graphicFrameLocks noGrp="1"/>
          </p:cNvGraphicFramePr>
          <p:nvPr/>
        </p:nvGraphicFramePr>
        <p:xfrm>
          <a:off x="152400" y="2286000"/>
          <a:ext cx="4114800" cy="3829050"/>
        </p:xfrm>
        <a:graphic>
          <a:graphicData uri="http://schemas.openxmlformats.org/drawingml/2006/table">
            <a:tbl>
              <a:tblPr/>
              <a:tblGrid>
                <a:gridCol w="914400"/>
                <a:gridCol w="1295400"/>
                <a:gridCol w="914400"/>
                <a:gridCol w="990600"/>
              </a:tblGrid>
              <a:tr h="6950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课程名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Cname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先行课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Cpno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学分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Ccredit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信息系统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数据结构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数据处理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PASCAL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835" name="Text Box 90"/>
          <p:cNvSpPr txBox="1"/>
          <p:nvPr/>
        </p:nvSpPr>
        <p:spPr>
          <a:xfrm>
            <a:off x="1600200" y="1600200"/>
            <a:ext cx="4778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181339" name="Group 91"/>
          <p:cNvGraphicFramePr>
            <a:graphicFrameLocks noGrp="1"/>
          </p:cNvGraphicFramePr>
          <p:nvPr/>
        </p:nvGraphicFramePr>
        <p:xfrm>
          <a:off x="4419600" y="3429000"/>
          <a:ext cx="3048000" cy="3019425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10668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Grade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866" name="Text Box 121"/>
          <p:cNvSpPr txBox="1"/>
          <p:nvPr/>
        </p:nvSpPr>
        <p:spPr>
          <a:xfrm>
            <a:off x="8001000" y="3810000"/>
            <a:ext cx="7032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SC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2.5.2  </a:t>
            </a:r>
            <a:r>
              <a:rPr lang="zh-CN" altLang="en-US" u="sng" dirty="0"/>
              <a:t>域关系演算</a:t>
            </a:r>
            <a:endParaRPr lang="zh-CN" altLang="en-US" u="sng" dirty="0"/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1] </a:t>
            </a:r>
            <a:r>
              <a:rPr lang="zh-CN" altLang="en-US" dirty="0"/>
              <a:t>查询信息系</a:t>
            </a:r>
            <a:r>
              <a:rPr lang="en-US" altLang="zh-CN" dirty="0"/>
              <a:t>(IS)</a:t>
            </a:r>
            <a:r>
              <a:rPr lang="zh-CN" altLang="en-US" dirty="0"/>
              <a:t>的全体学生</a:t>
            </a:r>
            <a:br>
              <a:rPr lang="zh-CN" altLang="en-US" dirty="0"/>
            </a:br>
            <a:r>
              <a:rPr lang="zh-CN" altLang="en-US" dirty="0"/>
              <a:t>          </a:t>
            </a: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0000" dirty="0">
                <a:solidFill>
                  <a:schemeClr val="accent2"/>
                </a:solidFill>
                <a:sym typeface="Symbol" panose="05050102010706020507" pitchFamily="18" charset="2"/>
              </a:rPr>
              <a:t>Sdept =‘IS’ 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(S) </a:t>
            </a:r>
            <a:b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       </a:t>
            </a:r>
            <a:r>
              <a:rPr lang="en-US" altLang="zh-CN" dirty="0"/>
              <a:t>{t | </a:t>
            </a:r>
            <a:r>
              <a:rPr lang="en-US" altLang="zh-CN" dirty="0">
                <a:sym typeface="Symbol" panose="05050102010706020507" pitchFamily="18" charset="2"/>
              </a:rPr>
              <a:t>S(t) </a:t>
            </a:r>
            <a:r>
              <a:rPr lang="en-US" altLang="zh-CN" dirty="0"/>
              <a:t> t[Sdept] </a:t>
            </a:r>
            <a:r>
              <a:rPr lang="en-US" altLang="zh-CN" dirty="0">
                <a:sym typeface="Symbol" panose="05050102010706020507" pitchFamily="18" charset="2"/>
              </a:rPr>
              <a:t>’IS’</a:t>
            </a:r>
            <a:r>
              <a:rPr lang="en-US" altLang="zh-CN" dirty="0"/>
              <a:t>}</a:t>
            </a:r>
            <a:br>
              <a:rPr lang="en-US" altLang="zh-CN" dirty="0"/>
            </a:br>
            <a:r>
              <a:rPr lang="en-US" altLang="zh-CN" dirty="0"/>
              <a:t>         </a:t>
            </a:r>
            <a:r>
              <a:rPr lang="en-US" altLang="zh-CN" dirty="0">
                <a:solidFill>
                  <a:srgbClr val="FF0000"/>
                </a:solidFill>
              </a:rPr>
              <a:t>{abcde |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S(a,b,c,d,e) </a:t>
            </a:r>
            <a:r>
              <a:rPr lang="en-US" altLang="zh-CN" dirty="0">
                <a:solidFill>
                  <a:srgbClr val="FF0000"/>
                </a:solidFill>
              </a:rPr>
              <a:t> e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’IS’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  <a:br>
              <a:rPr lang="en-US" altLang="zh-CN" dirty="0">
                <a:solidFill>
                  <a:srgbClr val="FF0000"/>
                </a:solidFill>
              </a:rPr>
            </a:br>
            <a:endParaRPr lang="en-US" altLang="zh-CN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2]  </a:t>
            </a:r>
            <a:r>
              <a:rPr lang="zh-CN" altLang="en-US" dirty="0"/>
              <a:t>查询年龄小于</a:t>
            </a:r>
            <a:r>
              <a:rPr lang="en-US" altLang="zh-CN" dirty="0"/>
              <a:t>20</a:t>
            </a:r>
            <a:r>
              <a:rPr lang="zh-CN" altLang="en-US" dirty="0"/>
              <a:t>岁的学生</a:t>
            </a:r>
            <a:br>
              <a:rPr lang="zh-CN" altLang="en-US" dirty="0"/>
            </a:br>
            <a:r>
              <a:rPr lang="zh-CN" altLang="en-US" dirty="0"/>
              <a:t>           </a:t>
            </a:r>
            <a:r>
              <a:rPr lang="zh-CN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0000" dirty="0">
                <a:solidFill>
                  <a:schemeClr val="accent2"/>
                </a:solidFill>
                <a:sym typeface="Symbol" panose="05050102010706020507" pitchFamily="18" charset="2"/>
              </a:rPr>
              <a:t>Sage &lt;20 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(S)</a:t>
            </a:r>
            <a:br>
              <a:rPr lang="en-US" altLang="zh-CN" dirty="0">
                <a:solidFill>
                  <a:srgbClr val="003399"/>
                </a:solidFill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003399"/>
                </a:solidFill>
                <a:sym typeface="Symbol" panose="05050102010706020507" pitchFamily="18" charset="2"/>
              </a:rPr>
              <a:t>         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{t | </a:t>
            </a:r>
            <a:r>
              <a:rPr lang="en-US" altLang="zh-CN" dirty="0">
                <a:sym typeface="Symbol" panose="05050102010706020507" pitchFamily="18" charset="2"/>
              </a:rPr>
              <a:t>S(t) </a:t>
            </a:r>
            <a:r>
              <a:rPr lang="en-US" altLang="zh-CN" dirty="0"/>
              <a:t> t[Sage] &lt;20}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b="0" dirty="0"/>
              <a:t>            </a:t>
            </a:r>
            <a:r>
              <a:rPr lang="en-US" altLang="zh-CN" dirty="0">
                <a:solidFill>
                  <a:srgbClr val="FF0000"/>
                </a:solidFill>
              </a:rPr>
              <a:t>{abcde |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S(a,b,c,d,e) </a:t>
            </a:r>
            <a:r>
              <a:rPr lang="en-US" altLang="zh-CN" dirty="0">
                <a:solidFill>
                  <a:srgbClr val="FF0000"/>
                </a:solidFill>
              </a:rPr>
              <a:t> d &lt;20}</a:t>
            </a:r>
            <a:br>
              <a:rPr lang="en-US" altLang="zh-CN" dirty="0">
                <a:solidFill>
                  <a:srgbClr val="FF0000"/>
                </a:solidFill>
              </a:rPr>
            </a:b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2.5.2  </a:t>
            </a:r>
            <a:r>
              <a:rPr lang="zh-CN" altLang="en-US" u="sng" dirty="0"/>
              <a:t>域关系演算</a:t>
            </a:r>
            <a:endParaRPr lang="zh-CN" altLang="en-US" u="sng" dirty="0"/>
          </a:p>
        </p:txBody>
      </p:sp>
      <p:sp>
        <p:nvSpPr>
          <p:cNvPr id="33796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dirty="0">
                <a:latin typeface="Arial" panose="020B0604020202020204" pitchFamily="34" charset="0"/>
              </a:rPr>
              <a:t>[</a:t>
            </a:r>
            <a:r>
              <a:rPr lang="zh-CN" altLang="en-US" dirty="0">
                <a:latin typeface="Arial" panose="020B0604020202020204" pitchFamily="34" charset="0"/>
              </a:rPr>
              <a:t>例</a:t>
            </a:r>
            <a:r>
              <a:rPr lang="en-US" altLang="zh-CN" dirty="0">
                <a:latin typeface="Arial" panose="020B0604020202020204" pitchFamily="34" charset="0"/>
              </a:rPr>
              <a:t>3]</a:t>
            </a:r>
            <a:r>
              <a:rPr lang="en-US" altLang="zh-CN" b="0" dirty="0"/>
              <a:t> </a:t>
            </a:r>
            <a:r>
              <a:rPr lang="zh-CN" altLang="en-US" dirty="0"/>
              <a:t>查询学生的姓名和所在系</a:t>
            </a:r>
            <a:endParaRPr lang="zh-CN" altLang="en-US" dirty="0"/>
          </a:p>
          <a:p>
            <a:pPr lvl="1" eaLnBrk="1" hangingPunct="1">
              <a:buNone/>
            </a:pPr>
            <a:br>
              <a:rPr lang="zh-CN" altLang="en-US" b="0" dirty="0"/>
            </a:br>
            <a:r>
              <a:rPr lang="zh-CN" altLang="en-US" b="0" dirty="0"/>
              <a:t>          </a:t>
            </a:r>
            <a:r>
              <a:rPr lang="zh-CN" altLang="en-US" dirty="0">
                <a:solidFill>
                  <a:srgbClr val="003399"/>
                </a:solidFill>
                <a:sym typeface="Symbol" panose="05050102010706020507" pitchFamily="18" charset="2"/>
              </a:rPr>
              <a:t></a:t>
            </a:r>
            <a:r>
              <a:rPr lang="en-US" altLang="zh-CN" baseline="-18000" dirty="0">
                <a:solidFill>
                  <a:srgbClr val="003399"/>
                </a:solidFill>
                <a:sym typeface="Symbol" panose="05050102010706020507" pitchFamily="18" charset="2"/>
              </a:rPr>
              <a:t>Sname, Sdept</a:t>
            </a:r>
            <a:r>
              <a:rPr lang="en-US" altLang="zh-CN" dirty="0">
                <a:solidFill>
                  <a:srgbClr val="003399"/>
                </a:solidFill>
                <a:sym typeface="Symbol" panose="05050102010706020507" pitchFamily="18" charset="2"/>
              </a:rPr>
              <a:t>(S)  </a:t>
            </a:r>
            <a:r>
              <a:rPr lang="zh-CN" altLang="en-US" dirty="0">
                <a:solidFill>
                  <a:srgbClr val="003399"/>
                </a:solidFill>
                <a:sym typeface="Symbol" panose="05050102010706020507" pitchFamily="18" charset="2"/>
              </a:rPr>
              <a:t>或 </a:t>
            </a:r>
            <a:r>
              <a:rPr lang="en-US" altLang="zh-CN" baseline="-18000" dirty="0">
                <a:solidFill>
                  <a:srgbClr val="003399"/>
                </a:solidFill>
                <a:sym typeface="Symbol" panose="05050102010706020507" pitchFamily="18" charset="2"/>
              </a:rPr>
              <a:t>2,5</a:t>
            </a:r>
            <a:r>
              <a:rPr lang="en-US" altLang="zh-CN" dirty="0">
                <a:solidFill>
                  <a:srgbClr val="003399"/>
                </a:solidFill>
                <a:sym typeface="Symbol" panose="05050102010706020507" pitchFamily="18" charset="2"/>
              </a:rPr>
              <a:t>(S)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br>
              <a:rPr lang="en-US" altLang="zh-CN" dirty="0">
                <a:sym typeface="Symbol" panose="05050102010706020507" pitchFamily="18" charset="2"/>
              </a:rPr>
            </a:b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b="0" dirty="0">
                <a:sym typeface="Symbol" panose="05050102010706020507" pitchFamily="18" charset="2"/>
              </a:rPr>
              <a:t>{</a:t>
            </a:r>
            <a:r>
              <a:rPr lang="en-US" altLang="zh-CN" dirty="0">
                <a:sym typeface="Symbol" panose="05050102010706020507" pitchFamily="18" charset="2"/>
              </a:rPr>
              <a:t>t| (u)(S(u)  t[1]=u[Sname]  t[2] = u[Sdept])}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b="0" dirty="0">
                <a:sym typeface="Symbol" panose="05050102010706020507" pitchFamily="18" charset="2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{ab| (u) (v)(w)( S(u,a,v,w,b))}</a:t>
            </a:r>
            <a:b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</a:br>
            <a:br>
              <a:rPr lang="en-US" altLang="zh-CN" b="0" dirty="0">
                <a:sym typeface="Symbol" panose="05050102010706020507" pitchFamily="18" charset="2"/>
              </a:rPr>
            </a:br>
            <a:endParaRPr lang="en-US" altLang="zh-CN" b="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228600" y="965200"/>
            <a:ext cx="8686800" cy="53594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4] </a:t>
            </a:r>
            <a:r>
              <a:rPr lang="zh-CN" altLang="en-US" sz="3200" dirty="0">
                <a:sym typeface="Symbol" panose="05050102010706020507" pitchFamily="18" charset="2"/>
              </a:rPr>
              <a:t>查选修了</a:t>
            </a:r>
            <a:r>
              <a:rPr lang="en-US" altLang="zh-CN" sz="3200" dirty="0">
                <a:sym typeface="Symbol" panose="05050102010706020507" pitchFamily="18" charset="2"/>
              </a:rPr>
              <a:t>2</a:t>
            </a:r>
            <a:r>
              <a:rPr lang="zh-CN" altLang="en-US" sz="3200" dirty="0">
                <a:sym typeface="Symbol" panose="05050102010706020507" pitchFamily="18" charset="2"/>
              </a:rPr>
              <a:t>号课程的学生的学号</a:t>
            </a:r>
            <a:br>
              <a:rPr lang="zh-CN" altLang="en-US" sz="3200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lang="zh-CN" altLang="en-US" sz="3200" dirty="0">
                <a:solidFill>
                  <a:schemeClr val="accent2"/>
                </a:solidFill>
                <a:sym typeface="Symbol" panose="05050102010706020507" pitchFamily="18" charset="2"/>
              </a:rPr>
              <a:t>         </a:t>
            </a:r>
            <a:r>
              <a:rPr lang="en-US" altLang="zh-CN" sz="3200" baseline="-18000" dirty="0">
                <a:solidFill>
                  <a:schemeClr val="accent2"/>
                </a:solidFill>
                <a:sym typeface="Symbol" panose="05050102010706020507" pitchFamily="18" charset="2"/>
              </a:rPr>
              <a:t>Sno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chemeClr val="accent2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0000" dirty="0">
                <a:solidFill>
                  <a:schemeClr val="accent2"/>
                </a:solidFill>
                <a:sym typeface="Symbol" panose="05050102010706020507" pitchFamily="18" charset="2"/>
              </a:rPr>
              <a:t>Cno =‘2’ 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(SC) 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br>
              <a:rPr lang="en-US" altLang="zh-CN" sz="3200" b="0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lang="en-US" altLang="zh-CN" dirty="0">
                <a:sym typeface="Symbol" panose="05050102010706020507" pitchFamily="18" charset="2"/>
              </a:rPr>
              <a:t>{t| (u)(SC(u)  u[Cno]=‘2’  t[1] = u[Sno])}</a:t>
            </a:r>
            <a:br>
              <a:rPr lang="en-US" altLang="zh-CN" sz="3200" b="0" dirty="0">
                <a:sym typeface="Symbol" panose="05050102010706020507" pitchFamily="18" charset="2"/>
              </a:rPr>
            </a:br>
            <a:r>
              <a:rPr lang="en-US" altLang="zh-CN" sz="3200" b="0" dirty="0">
                <a:sym typeface="Symbol" panose="05050102010706020507" pitchFamily="18" charset="2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{t| (u)SC(t,’2’,u)}</a:t>
            </a:r>
            <a:b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</a:br>
            <a:endParaRPr lang="en-US" altLang="zh-CN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5] </a:t>
            </a:r>
            <a:r>
              <a:rPr lang="zh-CN" altLang="en-US" sz="3200" dirty="0">
                <a:sym typeface="Symbol" panose="05050102010706020507" pitchFamily="18" charset="2"/>
              </a:rPr>
              <a:t>查</a:t>
            </a:r>
            <a:r>
              <a:rPr lang="en-US" altLang="zh-CN" sz="3200" dirty="0">
                <a:sym typeface="Symbol" panose="05050102010706020507" pitchFamily="18" charset="2"/>
              </a:rPr>
              <a:t>2</a:t>
            </a:r>
            <a:r>
              <a:rPr lang="zh-CN" altLang="en-US" sz="3200" dirty="0">
                <a:sym typeface="Symbol" panose="05050102010706020507" pitchFamily="18" charset="2"/>
              </a:rPr>
              <a:t>号课程的学生学号和成绩</a:t>
            </a:r>
            <a:br>
              <a:rPr lang="zh-CN" altLang="en-US" sz="3200" dirty="0">
                <a:sym typeface="Symbol" panose="05050102010706020507" pitchFamily="18" charset="2"/>
              </a:rPr>
            </a:br>
            <a:r>
              <a:rPr lang="zh-CN" altLang="en-US" sz="3200" dirty="0">
                <a:sym typeface="Symbol" panose="05050102010706020507" pitchFamily="18" charset="2"/>
              </a:rPr>
              <a:t>         </a:t>
            </a:r>
            <a:r>
              <a:rPr lang="zh-CN" altLang="en-US" sz="3200" dirty="0">
                <a:solidFill>
                  <a:schemeClr val="accent2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3200" baseline="-18000" dirty="0">
                <a:solidFill>
                  <a:schemeClr val="accent2"/>
                </a:solidFill>
                <a:sym typeface="Symbol" panose="05050102010706020507" pitchFamily="18" charset="2"/>
              </a:rPr>
              <a:t>Sno,Grade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chemeClr val="accent2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0000" dirty="0">
                <a:solidFill>
                  <a:schemeClr val="accent2"/>
                </a:solidFill>
                <a:sym typeface="Symbol" panose="05050102010706020507" pitchFamily="18" charset="2"/>
              </a:rPr>
              <a:t>Cno =‘2’ 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(SC) </a:t>
            </a: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b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lang="en-US" altLang="zh-CN" dirty="0">
                <a:sym typeface="Symbol" panose="05050102010706020507" pitchFamily="18" charset="2"/>
              </a:rPr>
              <a:t>{t| (u)(SC(u)  u[Cno]=‘2’  t[1] = u[Sno]</a:t>
            </a:r>
            <a:br>
              <a:rPr lang="en-US" altLang="zh-CN" dirty="0">
                <a:sym typeface="Symbol" panose="05050102010706020507" pitchFamily="18" charset="2"/>
              </a:rPr>
            </a:br>
            <a:r>
              <a:rPr lang="en-US" altLang="zh-CN" dirty="0">
                <a:sym typeface="Symbol" panose="05050102010706020507" pitchFamily="18" charset="2"/>
              </a:rPr>
              <a:t>              t[2] = u[Grade] )}</a:t>
            </a:r>
            <a:r>
              <a:rPr lang="en-US" altLang="zh-CN" sz="3200" dirty="0">
                <a:sym typeface="Symbol" panose="05050102010706020507" pitchFamily="18" charset="2"/>
              </a:rPr>
              <a:t> </a:t>
            </a:r>
            <a:endParaRPr lang="en-US" altLang="zh-CN" sz="32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b="0" dirty="0">
                <a:sym typeface="Symbol" panose="05050102010706020507" pitchFamily="18" charset="2"/>
              </a:rPr>
              <a:t>   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{xy| SC(x,’2’,y) }</a:t>
            </a:r>
            <a:r>
              <a:rPr lang="en-US" altLang="zh-CN" sz="3600" b="0" dirty="0">
                <a:sym typeface="Symbol" panose="05050102010706020507" pitchFamily="18" charset="2"/>
              </a:rPr>
              <a:t> </a:t>
            </a:r>
            <a:endParaRPr lang="en-US" altLang="zh-CN" sz="3600" b="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dirty="0">
                <a:solidFill>
                  <a:schemeClr val="accent2"/>
                </a:solidFill>
                <a:sym typeface="Symbol" panose="05050102010706020507" pitchFamily="18" charset="2"/>
              </a:rPr>
              <a:t>   </a:t>
            </a:r>
            <a:r>
              <a:rPr lang="zh-CN" altLang="en-US" sz="3200" dirty="0">
                <a:solidFill>
                  <a:schemeClr val="accent2"/>
                </a:solidFill>
                <a:sym typeface="Symbol" panose="05050102010706020507" pitchFamily="18" charset="2"/>
              </a:rPr>
              <a:t>求姓名和成绩呢？</a:t>
            </a:r>
            <a:endParaRPr lang="zh-CN" altLang="en-US" sz="32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2.5.1  </a:t>
            </a:r>
            <a:r>
              <a:rPr lang="zh-CN" altLang="en-US" u="sng" dirty="0"/>
              <a:t>元组关系演算</a:t>
            </a:r>
            <a:endParaRPr lang="zh-CN" altLang="en-US" u="sng" dirty="0"/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>
          <a:xfrm>
            <a:off x="228600" y="965200"/>
            <a:ext cx="8686800" cy="56642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zh-CN" altLang="en-US" sz="3200" dirty="0">
                <a:latin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6]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altLang="zh-CN" sz="3200" dirty="0">
                <a:sym typeface="Symbol" panose="05050102010706020507" pitchFamily="18" charset="2"/>
              </a:rPr>
              <a:t>R(A, B)</a:t>
            </a:r>
            <a:r>
              <a:rPr lang="zh-CN" altLang="en-US" sz="3200" dirty="0">
                <a:latin typeface="宋体" panose="02010600030101010101" pitchFamily="2" charset="-122"/>
                <a:sym typeface="Symbol" panose="05050102010706020507" pitchFamily="18" charset="2"/>
              </a:rPr>
              <a:t>是二元关系</a:t>
            </a:r>
            <a:r>
              <a:rPr lang="en-US" altLang="zh-CN" sz="3200" dirty="0">
                <a:latin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3200" dirty="0">
                <a:latin typeface="宋体" panose="02010600030101010101" pitchFamily="2" charset="-122"/>
                <a:sym typeface="Symbol" panose="05050102010706020507" pitchFamily="18" charset="2"/>
              </a:rPr>
              <a:t>求</a:t>
            </a:r>
            <a:r>
              <a:rPr lang="en-US" altLang="zh-CN" sz="3200" dirty="0">
                <a:latin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sz="3200" dirty="0">
                <a:latin typeface="宋体" panose="02010600030101010101" pitchFamily="2" charset="-122"/>
                <a:sym typeface="Symbol" panose="05050102010706020507" pitchFamily="18" charset="2"/>
              </a:rPr>
              <a:t>中的那些元</a:t>
            </a:r>
            <a:endParaRPr lang="zh-CN" altLang="en-US" sz="32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zh-CN" altLang="en-US" sz="3200" dirty="0">
                <a:latin typeface="宋体" panose="02010600030101010101" pitchFamily="2" charset="-122"/>
                <a:sym typeface="Symbol" panose="05050102010706020507" pitchFamily="18" charset="2"/>
              </a:rPr>
              <a:t> 组，其属性列交换后组成的元组仍在</a:t>
            </a:r>
            <a:r>
              <a:rPr lang="en-US" altLang="zh-CN" sz="3200" dirty="0">
                <a:latin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sz="3200" dirty="0">
                <a:latin typeface="宋体" panose="02010600030101010101" pitchFamily="2" charset="-122"/>
                <a:sym typeface="Symbol" panose="05050102010706020507" pitchFamily="18" charset="2"/>
              </a:rPr>
              <a:t>中。</a:t>
            </a:r>
            <a:endParaRPr lang="zh-CN" altLang="en-US" sz="32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endParaRPr lang="zh-CN" altLang="en-US" sz="32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关系代数表达式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:</a:t>
            </a:r>
            <a:endParaRPr lang="en-US" altLang="zh-CN" sz="3600" dirty="0">
              <a:solidFill>
                <a:schemeClr val="accent2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20000"/>
              </a:lnSpc>
              <a:buClr>
                <a:schemeClr val="folHlink"/>
              </a:buClr>
              <a:buSzPct val="60000"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∏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R.A, R.B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(</a:t>
            </a:r>
            <a:r>
              <a:rPr lang="en-US" altLang="zh-CN" baseline="-25000" dirty="0">
                <a:solidFill>
                  <a:schemeClr val="tx1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R.A=S.BR.B=S.A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(R  R))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元组关系演算表达式：</a:t>
            </a:r>
            <a:endParaRPr lang="zh-CN" altLang="en-US" sz="2800" dirty="0">
              <a:solidFill>
                <a:schemeClr val="accent2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20000"/>
              </a:lnSpc>
              <a:buClr>
                <a:schemeClr val="folHlink"/>
              </a:buClr>
              <a:buSzPct val="60000"/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{ t | t∈R  u∈R (t[A]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＝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u[B] ∧ t[B]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＝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u[A])}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域关系演算表达式：</a:t>
            </a:r>
            <a:endParaRPr lang="zh-CN" altLang="en-US" sz="2800" dirty="0">
              <a:solidFill>
                <a:schemeClr val="accent2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b="0" dirty="0"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</a:t>
            </a:r>
            <a:r>
              <a:rPr lang="en-US" altLang="zh-CN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{a b| R(a, b)  R(b, a)}</a:t>
            </a:r>
            <a:endParaRPr lang="en-US" altLang="zh-CN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6867" name="Rectangle 2"/>
          <p:cNvSpPr/>
          <p:nvPr/>
        </p:nvSpPr>
        <p:spPr>
          <a:xfrm>
            <a:off x="863600" y="46228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2.1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关系模型概述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2.2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关系数据结构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2.3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关系的完整性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2.4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关系代数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2.5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关系演算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2.6</a:t>
            </a:r>
            <a:r>
              <a:rPr lang="en-US" altLang="zh-CN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小结</a:t>
            </a:r>
            <a:endParaRPr lang="zh-CN" altLang="en-US" sz="40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869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关系数据库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2.6  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244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关系模型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关系数据结构及定义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完整性约束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关系代数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:5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个基本运算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其它运算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关系演算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元组、域</a:t>
            </a:r>
            <a:endParaRPr lang="zh-CN" altLang="en-US" sz="4000" b="0" dirty="0">
              <a:solidFill>
                <a:schemeClr val="tx1"/>
              </a:solidFill>
              <a:ea typeface="仿宋_GB2312" pitchFamily="49" charset="-122"/>
            </a:endParaRPr>
          </a:p>
          <a:p>
            <a:pPr eaLnBrk="1" hangingPunct="1">
              <a:buNone/>
            </a:pPr>
            <a:endParaRPr lang="zh-CN" alt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章书面作业</a:t>
            </a:r>
            <a:endParaRPr lang="zh-CN" altLang="en-US" dirty="0"/>
          </a:p>
        </p:txBody>
      </p:sp>
      <p:sp>
        <p:nvSpPr>
          <p:cNvPr id="38916" name="Rectangle 3"/>
          <p:cNvSpPr>
            <a:spLocks noGrp="1"/>
          </p:cNvSpPr>
          <p:nvPr>
            <p:ph idx="1"/>
          </p:nvPr>
        </p:nvSpPr>
        <p:spPr>
          <a:xfrm>
            <a:off x="533400" y="1066800"/>
            <a:ext cx="8229600" cy="4343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4800" b="0" dirty="0">
                <a:solidFill>
                  <a:schemeClr val="tx1"/>
                </a:solidFill>
                <a:ea typeface="仿宋_GB2312" pitchFamily="49" charset="-122"/>
              </a:rPr>
              <a:t>P70-72 </a:t>
            </a:r>
            <a:r>
              <a:rPr lang="zh-CN" altLang="en-US" sz="4800" b="0" dirty="0">
                <a:solidFill>
                  <a:schemeClr val="tx1"/>
                </a:solidFill>
                <a:ea typeface="黑体" panose="02010609060101010101" pitchFamily="49" charset="-122"/>
              </a:rPr>
              <a:t>习题</a:t>
            </a:r>
            <a:endParaRPr lang="zh-CN" altLang="en-US" sz="4800" b="0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4800" b="0" dirty="0">
                <a:solidFill>
                  <a:schemeClr val="tx1"/>
                </a:solidFill>
                <a:ea typeface="仿宋_GB2312" pitchFamily="49" charset="-122"/>
              </a:rPr>
              <a:t>4,5,6,7,8. </a:t>
            </a:r>
            <a:r>
              <a:rPr lang="zh-CN" altLang="en-US" sz="4800" b="0" dirty="0">
                <a:solidFill>
                  <a:schemeClr val="tx1"/>
                </a:solidFill>
                <a:ea typeface="仿宋_GB2312" pitchFamily="49" charset="-122"/>
              </a:rPr>
              <a:t>其中</a:t>
            </a:r>
            <a:r>
              <a:rPr lang="en-US" altLang="zh-CN" sz="4800" b="0" dirty="0">
                <a:solidFill>
                  <a:schemeClr val="tx1"/>
                </a:solidFill>
                <a:ea typeface="仿宋_GB2312" pitchFamily="49" charset="-122"/>
              </a:rPr>
              <a:t>6</a:t>
            </a:r>
            <a:r>
              <a:rPr lang="zh-CN" altLang="en-US" sz="4800" b="0" dirty="0">
                <a:solidFill>
                  <a:schemeClr val="tx1"/>
                </a:solidFill>
                <a:ea typeface="仿宋_GB2312" pitchFamily="49" charset="-122"/>
              </a:rPr>
              <a:t>改题为</a:t>
            </a:r>
            <a:endParaRPr lang="zh-CN" altLang="en-US" sz="4800" b="0" dirty="0">
              <a:solidFill>
                <a:schemeClr val="tx1"/>
              </a:solidFill>
              <a:ea typeface="仿宋_GB2312" pitchFamily="49" charset="-122"/>
            </a:endParaRPr>
          </a:p>
          <a:p>
            <a:pPr eaLnBrk="1" hangingPunct="1">
              <a:buNone/>
            </a:pPr>
            <a:r>
              <a:rPr lang="zh-CN" altLang="en-US" sz="4800" b="0" dirty="0">
                <a:solidFill>
                  <a:schemeClr val="tx1"/>
                </a:solidFill>
                <a:ea typeface="仿宋_GB2312" pitchFamily="49" charset="-122"/>
              </a:rPr>
              <a:t>	请用关系代数完成如下查询：</a:t>
            </a:r>
            <a:endParaRPr lang="zh-CN" alt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yl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B2B2B2"/>
      </a:folHlink>
    </a:clrScheme>
    <a:fontScheme name="kylin">
      <a:majorFont>
        <a:latin typeface="Times New Roman"/>
        <a:ea typeface="经典细隶书简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kyli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yli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6716</Words>
  <Application>WPS Presentation</Application>
  <PresentationFormat>全屏显示(4:3)</PresentationFormat>
  <Paragraphs>1454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60" baseType="lpstr">
      <vt:lpstr>Arial</vt:lpstr>
      <vt:lpstr>SimSun</vt:lpstr>
      <vt:lpstr>Wingdings</vt:lpstr>
      <vt:lpstr>Times New Roman</vt:lpstr>
      <vt:lpstr>宋体</vt:lpstr>
      <vt:lpstr>经典细隶书简</vt:lpstr>
      <vt:lpstr>隶书</vt:lpstr>
      <vt:lpstr>楷体_GB2312</vt:lpstr>
      <vt:lpstr>新宋体</vt:lpstr>
      <vt:lpstr>仿宋_GB2312</vt:lpstr>
      <vt:lpstr>仿宋</vt:lpstr>
      <vt:lpstr>Calibri</vt:lpstr>
      <vt:lpstr>Arial Narrow</vt:lpstr>
      <vt:lpstr>Symbol</vt:lpstr>
      <vt:lpstr>黑体</vt:lpstr>
      <vt:lpstr>Tahoma</vt:lpstr>
      <vt:lpstr>华文行楷</vt:lpstr>
      <vt:lpstr>经典综艺体简</vt:lpstr>
      <vt:lpstr>DengXian</vt:lpstr>
      <vt:lpstr>微软雅黑</vt:lpstr>
      <vt:lpstr>Arial Unicode MS</vt:lpstr>
      <vt:lpstr>MS PGothic</vt:lpstr>
      <vt:lpstr>方正宋体S-超大字符集</vt:lpstr>
      <vt:lpstr>kylin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Workgroup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kylin</dc:creator>
  <cp:lastModifiedBy>nakanosan</cp:lastModifiedBy>
  <cp:revision>68</cp:revision>
  <dcterms:created xsi:type="dcterms:W3CDTF">2026-06-17T19:28:24Z</dcterms:created>
  <dcterms:modified xsi:type="dcterms:W3CDTF">2026-06-17T19:28:24Z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19FD3A9F59DE155A58F5326AE0AE3D0F_43</vt:lpwstr>
  </property>
  <property fmtid="{D5CDD505-2E9C-101B-9397-08002B2CF9AE}" pid="3" name="KSOProductBuildVer">
    <vt:lpwstr>1033-12.1.2.26885</vt:lpwstr>
  </property>
</Properties>
</file>