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3"/>
  </p:notesMasterIdLst>
  <p:sldIdLst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358" r:id="rId30"/>
    <p:sldId id="359" r:id="rId31"/>
    <p:sldId id="360" r:id="rId32"/>
    <p:sldId id="299" r:id="rId33"/>
    <p:sldId id="300" r:id="rId34"/>
    <p:sldId id="301" r:id="rId35"/>
    <p:sldId id="302" r:id="rId36"/>
    <p:sldId id="303" r:id="rId37"/>
    <p:sldId id="304" r:id="rId38"/>
    <p:sldId id="305" r:id="rId39"/>
    <p:sldId id="306" r:id="rId40"/>
    <p:sldId id="307" r:id="rId41"/>
    <p:sldId id="308" r:id="rId42"/>
    <p:sldId id="309" r:id="rId43"/>
    <p:sldId id="310" r:id="rId44"/>
    <p:sldId id="311" r:id="rId45"/>
    <p:sldId id="312" r:id="rId46"/>
    <p:sldId id="313" r:id="rId47"/>
    <p:sldId id="314" r:id="rId48"/>
    <p:sldId id="315" r:id="rId49"/>
    <p:sldId id="316" r:id="rId50"/>
    <p:sldId id="317" r:id="rId51"/>
    <p:sldId id="361" r:id="rId52"/>
    <p:sldId id="362" r:id="rId53"/>
    <p:sldId id="318" r:id="rId54"/>
    <p:sldId id="319" r:id="rId55"/>
    <p:sldId id="320" r:id="rId56"/>
    <p:sldId id="321" r:id="rId57"/>
    <p:sldId id="322" r:id="rId58"/>
    <p:sldId id="323" r:id="rId59"/>
    <p:sldId id="324" r:id="rId60"/>
    <p:sldId id="325" r:id="rId61"/>
    <p:sldId id="326" r:id="rId62"/>
    <p:sldId id="328" r:id="rId63"/>
    <p:sldId id="329" r:id="rId64"/>
    <p:sldId id="330" r:id="rId65"/>
    <p:sldId id="331" r:id="rId66"/>
    <p:sldId id="332" r:id="rId67"/>
    <p:sldId id="333" r:id="rId68"/>
    <p:sldId id="334" r:id="rId69"/>
    <p:sldId id="335" r:id="rId70"/>
    <p:sldId id="336" r:id="rId71"/>
    <p:sldId id="337" r:id="rId72"/>
    <p:sldId id="338" r:id="rId73"/>
    <p:sldId id="339" r:id="rId74"/>
    <p:sldId id="340" r:id="rId75"/>
    <p:sldId id="341" r:id="rId76"/>
    <p:sldId id="342" r:id="rId77"/>
    <p:sldId id="343" r:id="rId78"/>
    <p:sldId id="344" r:id="rId79"/>
    <p:sldId id="345" r:id="rId80"/>
    <p:sldId id="346" r:id="rId81"/>
    <p:sldId id="347" r:id="rId82"/>
    <p:sldId id="348" r:id="rId83"/>
    <p:sldId id="349" r:id="rId84"/>
    <p:sldId id="350" r:id="rId85"/>
    <p:sldId id="351" r:id="rId86"/>
    <p:sldId id="352" r:id="rId87"/>
    <p:sldId id="353" r:id="rId88"/>
    <p:sldId id="354" r:id="rId89"/>
    <p:sldId id="355" r:id="rId90"/>
    <p:sldId id="356" r:id="rId91"/>
    <p:sldId id="357" r:id="rId92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CC"/>
    <a:srgbClr val="6600FF"/>
    <a:srgbClr val="6666FF"/>
    <a:srgbClr val="6699FF"/>
    <a:srgbClr val="0099FF"/>
    <a:srgbClr val="278E1C"/>
    <a:srgbClr val="FF00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306"/>
    <p:restoredTop sz="86449"/>
  </p:normalViewPr>
  <p:slideViewPr>
    <p:cSldViewPr showGuides="1">
      <p:cViewPr varScale="1">
        <p:scale>
          <a:sx n="72" d="100"/>
          <a:sy n="72" d="100"/>
        </p:scale>
        <p:origin x="1125" y="2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89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6" Type="http://schemas.openxmlformats.org/officeDocument/2006/relationships/tableStyles" Target="tableStyles.xml"/><Relationship Id="rId95" Type="http://schemas.openxmlformats.org/officeDocument/2006/relationships/viewProps" Target="viewProps.xml"/><Relationship Id="rId94" Type="http://schemas.openxmlformats.org/officeDocument/2006/relationships/presProps" Target="presProps.xml"/><Relationship Id="rId93" Type="http://schemas.openxmlformats.org/officeDocument/2006/relationships/notesMaster" Target="notesMasters/notesMaster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0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0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90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0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0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CD94C1-2259-48F3-9796-728D0BD23B80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A462CCF-B962-431E-A0FA-FEFC12906CA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A462CCF-B962-431E-A0FA-FEFC12906CA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A462CCF-B962-431E-A0FA-FEFC12906CA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A462CCF-B962-431E-A0FA-FEFC12906CA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A462CCF-B962-431E-A0FA-FEFC12906CA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A462CCF-B962-431E-A0FA-FEFC12906CA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A462CCF-B962-431E-A0FA-FEFC12906CA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A462CCF-B962-431E-A0FA-FEFC12906CA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endParaRPr kumimoji="1" lang="en-US" sz="3200" b="1" i="0" u="none" strike="noStrike" kern="0" cap="none" spc="0" normalizeH="0" baseline="0" noProof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A462CCF-B962-431E-A0FA-FEFC12906CA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A462CCF-B962-431E-A0FA-FEFC12906CA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152400"/>
            <a:ext cx="1943100" cy="6019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6900" cy="6019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A462CCF-B962-431E-A0FA-FEFC12906CA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85800" y="1447800"/>
            <a:ext cx="7772400" cy="4724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00300" y="6540500"/>
            <a:ext cx="3683000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b="0">
                <a:solidFill>
                  <a:srgbClr val="6600FF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A462CCF-B962-431E-A0FA-FEFC12906CA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Text Box 9"/>
          <p:cNvSpPr txBox="1">
            <a:spLocks noChangeArrowheads="1"/>
          </p:cNvSpPr>
          <p:nvPr/>
        </p:nvSpPr>
        <p:spPr bwMode="auto">
          <a:xfrm>
            <a:off x="57150" y="6521450"/>
            <a:ext cx="11144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047910-08D6-42DD-BEBE-AE9C85F9279C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Picture 12" descr="华工校徽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00" y="63500"/>
            <a:ext cx="990600" cy="7508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§"/>
        <a:defRPr kumimoji="1" sz="3200" b="1">
          <a:solidFill>
            <a:srgbClr val="FF33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kumimoji="1"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="1">
          <a:solidFill>
            <a:schemeClr val="tx1"/>
          </a:solidFill>
          <a:latin typeface="+mn-lt"/>
          <a:ea typeface="楷体_GB2312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60000"/>
        <a:buChar char="•"/>
        <a:defRPr kumimoji="1"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075" name="Rectangle 2"/>
          <p:cNvSpPr/>
          <p:nvPr/>
        </p:nvSpPr>
        <p:spPr>
          <a:xfrm>
            <a:off x="863600" y="1524000"/>
            <a:ext cx="7747000" cy="6096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3076" name="Rectangle 3"/>
          <p:cNvSpPr>
            <a:spLocks noGrp="1"/>
          </p:cNvSpPr>
          <p:nvPr>
            <p:ph idx="1"/>
          </p:nvPr>
        </p:nvSpPr>
        <p:spPr>
          <a:xfrm>
            <a:off x="977900" y="1498600"/>
            <a:ext cx="7327900" cy="449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bg1"/>
                </a:solidFill>
                <a:latin typeface="Arial Narrow" panose="020B0606020202030204" pitchFamily="34" charset="0"/>
                <a:ea typeface="楷体_GB2312" pitchFamily="49" charset="-122"/>
              </a:rPr>
              <a:t>3.1</a:t>
            </a:r>
            <a:r>
              <a:rPr lang="en-US" altLang="zh-CN" sz="36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概述</a:t>
            </a:r>
            <a:endParaRPr lang="zh-CN" altLang="en-US" sz="3600" b="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3.2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数据定义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3.3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查询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3.4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数据更新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3.5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视图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3.6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数据控制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3.7 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嵌入式</a:t>
            </a: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SQL</a:t>
            </a:r>
            <a:endParaRPr lang="en-US" altLang="zh-CN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3.8 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小结</a:t>
            </a:r>
            <a:endParaRPr lang="zh-CN" altLang="en-US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</p:txBody>
      </p:sp>
      <p:sp>
        <p:nvSpPr>
          <p:cNvPr id="3077" name="Rectangle 4"/>
          <p:cNvSpPr>
            <a:spLocks noGrp="1"/>
          </p:cNvSpPr>
          <p:nvPr>
            <p:ph type="title"/>
          </p:nvPr>
        </p:nvSpPr>
        <p:spPr>
          <a:xfrm>
            <a:off x="1116013" y="0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/>
              <a:t>第</a:t>
            </a:r>
            <a:r>
              <a:rPr lang="en-US" altLang="zh-CN" sz="4000" dirty="0"/>
              <a:t>3</a:t>
            </a:r>
            <a:r>
              <a:rPr lang="zh-CN" altLang="en-US" sz="4000" dirty="0"/>
              <a:t>章 关系数据库的标准语言</a:t>
            </a:r>
            <a:r>
              <a:rPr lang="en-US" altLang="zh-CN" sz="4000" dirty="0"/>
              <a:t>SQL</a:t>
            </a:r>
            <a:endParaRPr lang="en-US" altLang="zh-CN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09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3.1  </a:t>
            </a:r>
            <a:r>
              <a:rPr lang="zh-CN" altLang="en-US" dirty="0"/>
              <a:t>概述</a:t>
            </a:r>
            <a:endParaRPr lang="zh-CN" altLang="en-US" dirty="0"/>
          </a:p>
        </p:txBody>
      </p:sp>
      <p:sp>
        <p:nvSpPr>
          <p:cNvPr id="4100" name="Rectangle 3"/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51816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solidFill>
                  <a:schemeClr val="tx1"/>
                </a:solidFill>
              </a:rPr>
              <a:t>SQL</a:t>
            </a:r>
            <a:r>
              <a:rPr lang="zh-CN" altLang="en-US" dirty="0">
                <a:solidFill>
                  <a:schemeClr val="tx1"/>
                </a:solidFill>
              </a:rPr>
              <a:t>是结构化查询语言（</a:t>
            </a:r>
            <a:r>
              <a:rPr lang="en-US" altLang="zh-CN" dirty="0">
                <a:solidFill>
                  <a:schemeClr val="tx1"/>
                </a:solidFill>
              </a:rPr>
              <a:t>Structured Query Language</a:t>
            </a:r>
            <a:r>
              <a:rPr lang="zh-CN" altLang="en-US" dirty="0">
                <a:solidFill>
                  <a:schemeClr val="tx1"/>
                </a:solidFill>
              </a:rPr>
              <a:t>）的缩写，其功能包括</a:t>
            </a:r>
            <a:r>
              <a:rPr lang="zh-CN" altLang="en-US" dirty="0">
                <a:solidFill>
                  <a:srgbClr val="FF0000"/>
                </a:solidFill>
              </a:rPr>
              <a:t>数据查询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zh-CN" altLang="en-US" dirty="0">
                <a:solidFill>
                  <a:srgbClr val="FF0000"/>
                </a:solidFill>
              </a:rPr>
              <a:t>数据操纵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zh-CN" altLang="en-US" dirty="0">
                <a:solidFill>
                  <a:srgbClr val="FF0000"/>
                </a:solidFill>
              </a:rPr>
              <a:t>数据定义</a:t>
            </a:r>
            <a:r>
              <a:rPr lang="zh-CN" altLang="en-US" dirty="0">
                <a:solidFill>
                  <a:schemeClr val="tx1"/>
                </a:solidFill>
              </a:rPr>
              <a:t>和</a:t>
            </a:r>
            <a:r>
              <a:rPr lang="zh-CN" altLang="en-US" dirty="0">
                <a:solidFill>
                  <a:srgbClr val="FF0000"/>
                </a:solidFill>
              </a:rPr>
              <a:t>数据控制</a:t>
            </a:r>
            <a:r>
              <a:rPr lang="zh-CN" altLang="en-US" dirty="0">
                <a:solidFill>
                  <a:schemeClr val="tx1"/>
                </a:solidFill>
              </a:rPr>
              <a:t>四个部分。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</a:rPr>
              <a:t>SQL </a:t>
            </a:r>
            <a:r>
              <a:rPr lang="zh-CN" altLang="en-US" dirty="0">
                <a:solidFill>
                  <a:schemeClr val="tx1"/>
                </a:solidFill>
              </a:rPr>
              <a:t>语言简洁、方便实用、功能齐全，已成为目前应用最广的关系数据库语言。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本章要求</a:t>
            </a:r>
            <a:endParaRPr lang="zh-CN" altLang="en-US" dirty="0">
              <a:solidFill>
                <a:schemeClr val="tx1"/>
              </a:solidFill>
            </a:endParaRPr>
          </a:p>
          <a:p>
            <a:pPr lvl="1" eaLnBrk="1" hangingPunct="1"/>
            <a:r>
              <a:rPr lang="zh-CN" altLang="en-US" dirty="0"/>
              <a:t>了解 </a:t>
            </a:r>
            <a:r>
              <a:rPr lang="en-US" altLang="zh-CN" dirty="0"/>
              <a:t>SQL</a:t>
            </a:r>
            <a:r>
              <a:rPr lang="zh-CN" altLang="en-US" dirty="0"/>
              <a:t>语言的特点</a:t>
            </a:r>
            <a:r>
              <a:rPr lang="en-US" altLang="zh-CN" dirty="0"/>
              <a:t>;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掌握</a:t>
            </a:r>
            <a:r>
              <a:rPr lang="en-US" altLang="zh-CN" dirty="0"/>
              <a:t>SQL</a:t>
            </a:r>
            <a:r>
              <a:rPr lang="zh-CN" altLang="en-US" dirty="0"/>
              <a:t>语言的四大功能及使用方法</a:t>
            </a:r>
            <a:r>
              <a:rPr lang="en-US" altLang="zh-CN" dirty="0"/>
              <a:t>;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重点掌握其数据查询功能及其使用。 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12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3.1  </a:t>
            </a:r>
            <a:r>
              <a:rPr lang="zh-CN" altLang="en-US" u="sng" dirty="0"/>
              <a:t>概述</a:t>
            </a:r>
            <a:endParaRPr lang="zh-CN" altLang="en-US" u="sng" dirty="0"/>
          </a:p>
        </p:txBody>
      </p:sp>
      <p:sp>
        <p:nvSpPr>
          <p:cNvPr id="5124" name="Rectangle 3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181600"/>
          </a:xfrm>
          <a:ln/>
        </p:spPr>
        <p:txBody>
          <a:bodyPr vert="horz" wrap="square" lIns="91440" tIns="45720" rIns="91440" bIns="45720" anchor="t" anchorCtr="0"/>
          <a:p>
            <a:pPr lvl="1" eaLnBrk="1" hangingPunct="1"/>
            <a:r>
              <a:rPr lang="en-US" altLang="zh-CN" dirty="0"/>
              <a:t>1974</a:t>
            </a:r>
            <a:r>
              <a:rPr lang="zh-CN" altLang="en-US" dirty="0"/>
              <a:t>年由</a:t>
            </a:r>
            <a:r>
              <a:rPr lang="en-US" altLang="zh-CN" dirty="0"/>
              <a:t>CHAMBERLIN</a:t>
            </a:r>
            <a:r>
              <a:rPr lang="zh-CN" altLang="en-US" dirty="0"/>
              <a:t>和</a:t>
            </a:r>
            <a:r>
              <a:rPr lang="en-US" altLang="zh-CN" dirty="0"/>
              <a:t>BOYCE</a:t>
            </a:r>
            <a:r>
              <a:rPr lang="zh-CN" altLang="en-US" dirty="0"/>
              <a:t>提出，当时称为</a:t>
            </a:r>
            <a:r>
              <a:rPr lang="en-US" altLang="zh-CN" dirty="0"/>
              <a:t>SEQUEL(</a:t>
            </a:r>
            <a:r>
              <a:rPr lang="en-US" altLang="zh-CN" dirty="0">
                <a:solidFill>
                  <a:srgbClr val="FF3300"/>
                </a:solidFill>
              </a:rPr>
              <a:t>S</a:t>
            </a:r>
            <a:r>
              <a:rPr lang="en-US" altLang="zh-CN" dirty="0"/>
              <a:t>TUCTURED </a:t>
            </a:r>
            <a:r>
              <a:rPr lang="en-US" altLang="zh-CN" dirty="0">
                <a:solidFill>
                  <a:srgbClr val="FF3300"/>
                </a:solidFill>
              </a:rPr>
              <a:t>E</a:t>
            </a:r>
            <a:r>
              <a:rPr lang="en-US" altLang="zh-CN" dirty="0"/>
              <a:t>NGLISH </a:t>
            </a:r>
            <a:r>
              <a:rPr lang="en-US" altLang="zh-CN" dirty="0">
                <a:solidFill>
                  <a:srgbClr val="FF3300"/>
                </a:solidFill>
              </a:rPr>
              <a:t>QUE</a:t>
            </a:r>
            <a:r>
              <a:rPr lang="en-US" altLang="zh-CN" dirty="0"/>
              <a:t>RY </a:t>
            </a:r>
            <a:r>
              <a:rPr lang="en-US" altLang="zh-CN" dirty="0">
                <a:solidFill>
                  <a:srgbClr val="FF3300"/>
                </a:solidFill>
              </a:rPr>
              <a:t>L</a:t>
            </a:r>
            <a:r>
              <a:rPr lang="en-US" altLang="zh-CN" dirty="0"/>
              <a:t>ANGUAGE)</a:t>
            </a:r>
            <a:r>
              <a:rPr lang="zh-CN" altLang="en-US" dirty="0"/>
              <a:t>；</a:t>
            </a:r>
            <a:endParaRPr lang="zh-CN" altLang="en-US" dirty="0"/>
          </a:p>
          <a:p>
            <a:pPr lvl="1" eaLnBrk="1" hangingPunct="1"/>
            <a:r>
              <a:rPr lang="en-US" altLang="zh-CN" dirty="0"/>
              <a:t>IBM</a:t>
            </a:r>
            <a:r>
              <a:rPr lang="zh-CN" altLang="en-US" dirty="0"/>
              <a:t>公司对其进行了修改，并用于其</a:t>
            </a:r>
            <a:r>
              <a:rPr lang="en-US" altLang="zh-CN" dirty="0"/>
              <a:t>SYSTEM R</a:t>
            </a:r>
            <a:r>
              <a:rPr lang="zh-CN" altLang="en-US" dirty="0"/>
              <a:t>关系数据库系统中；</a:t>
            </a:r>
            <a:endParaRPr lang="zh-CN" altLang="en-US" dirty="0"/>
          </a:p>
          <a:p>
            <a:pPr lvl="1" eaLnBrk="1" hangingPunct="1"/>
            <a:r>
              <a:rPr lang="en-US" altLang="zh-CN" dirty="0"/>
              <a:t>1981</a:t>
            </a:r>
            <a:r>
              <a:rPr lang="zh-CN" altLang="en-US" dirty="0"/>
              <a:t>年 </a:t>
            </a:r>
            <a:r>
              <a:rPr lang="en-US" altLang="zh-CN" dirty="0"/>
              <a:t>IBM</a:t>
            </a:r>
            <a:r>
              <a:rPr lang="zh-CN" altLang="en-US" dirty="0"/>
              <a:t>推出其商用关系关系数据库</a:t>
            </a:r>
            <a:r>
              <a:rPr lang="en-US" altLang="zh-CN" dirty="0"/>
              <a:t>SQL/DS</a:t>
            </a:r>
            <a:r>
              <a:rPr lang="zh-CN" altLang="en-US" dirty="0"/>
              <a:t>，并将其名字改为</a:t>
            </a:r>
            <a:r>
              <a:rPr lang="en-US" altLang="zh-CN" dirty="0"/>
              <a:t>SQL</a:t>
            </a:r>
            <a:r>
              <a:rPr lang="zh-CN" altLang="en-US" dirty="0"/>
              <a:t>，由于</a:t>
            </a:r>
            <a:r>
              <a:rPr lang="en-US" altLang="zh-CN" dirty="0"/>
              <a:t>SQL</a:t>
            </a:r>
            <a:r>
              <a:rPr lang="zh-CN" altLang="en-US" dirty="0"/>
              <a:t>语言功能强大，简洁易用，因此得到了广泛的使用； 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广泛应用于各种大型数据库，如</a:t>
            </a:r>
            <a:r>
              <a:rPr lang="en-US" altLang="zh-CN" dirty="0"/>
              <a:t>SYBASE</a:t>
            </a:r>
            <a:r>
              <a:rPr lang="zh-CN" altLang="en-US" dirty="0"/>
              <a:t>、</a:t>
            </a:r>
            <a:r>
              <a:rPr lang="en-US" altLang="zh-CN" dirty="0"/>
              <a:t>INFORMIX</a:t>
            </a:r>
            <a:r>
              <a:rPr lang="zh-CN" altLang="en-US" dirty="0"/>
              <a:t>、 </a:t>
            </a:r>
            <a:r>
              <a:rPr lang="en-US" altLang="zh-CN" dirty="0"/>
              <a:t>ORACLE</a:t>
            </a:r>
            <a:r>
              <a:rPr lang="zh-CN" altLang="en-US" dirty="0"/>
              <a:t>、</a:t>
            </a:r>
            <a:r>
              <a:rPr lang="en-US" altLang="zh-CN" dirty="0"/>
              <a:t>DB2</a:t>
            </a:r>
            <a:r>
              <a:rPr lang="zh-CN" altLang="en-US" dirty="0"/>
              <a:t>、</a:t>
            </a:r>
            <a:r>
              <a:rPr lang="en-US" altLang="zh-CN" dirty="0"/>
              <a:t>INGRES</a:t>
            </a:r>
            <a:r>
              <a:rPr lang="zh-CN" altLang="en-US" dirty="0"/>
              <a:t>等，也用于各种小型数据库，如</a:t>
            </a:r>
            <a:r>
              <a:rPr lang="en-US" altLang="zh-CN" dirty="0"/>
              <a:t>FOXPRO</a:t>
            </a:r>
            <a:r>
              <a:rPr lang="zh-CN" altLang="en-US" dirty="0"/>
              <a:t>、</a:t>
            </a:r>
            <a:r>
              <a:rPr lang="en-US" altLang="zh-CN" dirty="0"/>
              <a:t>ACCESS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14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3.1  </a:t>
            </a:r>
            <a:r>
              <a:rPr lang="zh-CN" altLang="en-US" u="sng" dirty="0"/>
              <a:t>概述</a:t>
            </a:r>
            <a:endParaRPr lang="zh-CN" altLang="en-US" u="sng" dirty="0"/>
          </a:p>
        </p:txBody>
      </p:sp>
      <p:sp>
        <p:nvSpPr>
          <p:cNvPr id="6148" name="Rectangle 3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181600"/>
          </a:xfrm>
          <a:ln/>
        </p:spPr>
        <p:txBody>
          <a:bodyPr vert="horz" wrap="square" lIns="91440" tIns="45720" rIns="91440" bIns="45720" anchor="t" anchorCtr="0"/>
          <a:p>
            <a:pPr lvl="1" eaLnBrk="1" hangingPunct="1"/>
            <a:r>
              <a:rPr lang="en-US" altLang="zh-CN" dirty="0"/>
              <a:t>1982</a:t>
            </a:r>
            <a:r>
              <a:rPr lang="zh-CN" altLang="en-US" dirty="0"/>
              <a:t>年，</a:t>
            </a:r>
            <a:r>
              <a:rPr lang="en-US" altLang="zh-CN" dirty="0"/>
              <a:t>ANSI</a:t>
            </a:r>
            <a:r>
              <a:rPr lang="zh-CN" altLang="en-US" dirty="0"/>
              <a:t>开始制定</a:t>
            </a:r>
            <a:r>
              <a:rPr lang="en-US" altLang="zh-CN" dirty="0"/>
              <a:t>SQL</a:t>
            </a:r>
            <a:r>
              <a:rPr lang="zh-CN" altLang="en-US" dirty="0"/>
              <a:t>标准；</a:t>
            </a:r>
            <a:endParaRPr lang="zh-CN" altLang="en-US" dirty="0"/>
          </a:p>
          <a:p>
            <a:pPr lvl="1" eaLnBrk="1" hangingPunct="1"/>
            <a:r>
              <a:rPr lang="en-US" altLang="zh-CN" dirty="0"/>
              <a:t>1986</a:t>
            </a:r>
            <a:r>
              <a:rPr lang="zh-CN" altLang="en-US" dirty="0"/>
              <a:t>年，美国国家标准化协会公布了</a:t>
            </a:r>
            <a:r>
              <a:rPr lang="en-US" altLang="zh-CN" dirty="0"/>
              <a:t>SQL</a:t>
            </a:r>
            <a:r>
              <a:rPr lang="zh-CN" altLang="en-US" dirty="0"/>
              <a:t>语言的第一个标准</a:t>
            </a:r>
            <a:r>
              <a:rPr lang="en-US" altLang="zh-CN" dirty="0"/>
              <a:t>SQL86</a:t>
            </a:r>
            <a:r>
              <a:rPr lang="zh-CN" altLang="en-US" dirty="0"/>
              <a:t>；</a:t>
            </a:r>
            <a:endParaRPr lang="zh-CN" altLang="en-US" dirty="0"/>
          </a:p>
          <a:p>
            <a:pPr lvl="1" eaLnBrk="1" hangingPunct="1"/>
            <a:r>
              <a:rPr lang="en-US" altLang="zh-CN" dirty="0"/>
              <a:t>1987</a:t>
            </a:r>
            <a:r>
              <a:rPr lang="zh-CN" altLang="en-US" dirty="0"/>
              <a:t>年，</a:t>
            </a:r>
            <a:r>
              <a:rPr lang="en-US" altLang="zh-CN" dirty="0"/>
              <a:t>ISO</a:t>
            </a:r>
            <a:r>
              <a:rPr lang="zh-CN" altLang="en-US" dirty="0"/>
              <a:t>通过了</a:t>
            </a:r>
            <a:r>
              <a:rPr lang="en-US" altLang="zh-CN" dirty="0"/>
              <a:t>SQL86</a:t>
            </a:r>
            <a:r>
              <a:rPr lang="zh-CN" altLang="en-US" dirty="0"/>
              <a:t>标准；</a:t>
            </a:r>
            <a:endParaRPr lang="zh-CN" altLang="en-US" dirty="0"/>
          </a:p>
          <a:p>
            <a:pPr lvl="1" eaLnBrk="1" hangingPunct="1"/>
            <a:r>
              <a:rPr lang="en-US" altLang="zh-CN" dirty="0"/>
              <a:t>1989</a:t>
            </a:r>
            <a:r>
              <a:rPr lang="zh-CN" altLang="en-US" dirty="0"/>
              <a:t>年，</a:t>
            </a:r>
            <a:r>
              <a:rPr lang="en-US" altLang="zh-CN" dirty="0"/>
              <a:t>ISO</a:t>
            </a:r>
            <a:r>
              <a:rPr lang="zh-CN" altLang="en-US" dirty="0"/>
              <a:t>对</a:t>
            </a:r>
            <a:r>
              <a:rPr lang="en-US" altLang="zh-CN" dirty="0"/>
              <a:t>SQL86</a:t>
            </a:r>
            <a:r>
              <a:rPr lang="zh-CN" altLang="en-US" dirty="0"/>
              <a:t>进行了补充，推出了</a:t>
            </a:r>
            <a:r>
              <a:rPr lang="en-US" altLang="zh-CN" dirty="0"/>
              <a:t>SQL89</a:t>
            </a:r>
            <a:r>
              <a:rPr lang="zh-CN" altLang="en-US" dirty="0"/>
              <a:t>标准；</a:t>
            </a:r>
            <a:endParaRPr lang="zh-CN" altLang="en-US" dirty="0"/>
          </a:p>
          <a:p>
            <a:pPr lvl="1" eaLnBrk="1" hangingPunct="1"/>
            <a:r>
              <a:rPr lang="en-US" altLang="zh-CN" dirty="0"/>
              <a:t>1992</a:t>
            </a:r>
            <a:r>
              <a:rPr lang="zh-CN" altLang="en-US" dirty="0"/>
              <a:t>年，</a:t>
            </a:r>
            <a:r>
              <a:rPr lang="en-US" altLang="zh-CN" dirty="0"/>
              <a:t>ISO</a:t>
            </a:r>
            <a:r>
              <a:rPr lang="zh-CN" altLang="en-US" dirty="0"/>
              <a:t>又推出了</a:t>
            </a:r>
            <a:r>
              <a:rPr lang="en-US" altLang="zh-CN" dirty="0"/>
              <a:t>SQL92</a:t>
            </a:r>
            <a:r>
              <a:rPr lang="zh-CN" altLang="en-US" dirty="0"/>
              <a:t>标准，也称为</a:t>
            </a:r>
            <a:r>
              <a:rPr lang="en-US" altLang="zh-CN" dirty="0"/>
              <a:t>SQL2</a:t>
            </a:r>
            <a:r>
              <a:rPr lang="zh-CN" altLang="en-US" dirty="0"/>
              <a:t>；</a:t>
            </a:r>
            <a:endParaRPr lang="zh-CN" altLang="en-US" dirty="0"/>
          </a:p>
          <a:p>
            <a:pPr lvl="1" eaLnBrk="1" hangingPunct="1"/>
            <a:r>
              <a:rPr lang="en-US" altLang="zh-CN" dirty="0"/>
              <a:t>SQL99</a:t>
            </a:r>
            <a:r>
              <a:rPr lang="zh-CN" altLang="en-US" dirty="0"/>
              <a:t>（也称为</a:t>
            </a:r>
            <a:r>
              <a:rPr lang="en-US" altLang="zh-CN" dirty="0"/>
              <a:t>SQL3</a:t>
            </a:r>
            <a:r>
              <a:rPr lang="zh-CN" altLang="en-US" dirty="0"/>
              <a:t>）增加了面向对象的功能</a:t>
            </a:r>
            <a:endParaRPr lang="zh-CN" altLang="en-US" dirty="0"/>
          </a:p>
          <a:p>
            <a:pPr lvl="1" eaLnBrk="1" hangingPunct="1"/>
            <a:r>
              <a:rPr lang="en-US" altLang="zh-CN" dirty="0"/>
              <a:t>ISO/IEC 9075-*:2003 ,XML</a:t>
            </a:r>
            <a:r>
              <a:rPr lang="zh-CN" altLang="en-US" dirty="0"/>
              <a:t>扩展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3.1  </a:t>
            </a:r>
            <a:r>
              <a:rPr lang="zh-CN" altLang="en-US" u="sng" dirty="0"/>
              <a:t>概述</a:t>
            </a:r>
            <a:endParaRPr lang="zh-CN" altLang="en-US" u="sng" dirty="0"/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xfrm>
            <a:off x="228600" y="1676400"/>
            <a:ext cx="8686800" cy="2514600"/>
          </a:xfrm>
          <a:ln/>
        </p:spPr>
        <p:txBody>
          <a:bodyPr vert="horz" wrap="square" lIns="91440" tIns="45720" rIns="91440" bIns="45720" anchor="t" anchorCtr="0"/>
          <a:p>
            <a:pPr lvl="1" eaLnBrk="1" hangingPunct="1"/>
            <a:r>
              <a:rPr lang="en-US" altLang="zh-CN" sz="360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3.1.1 SQL</a:t>
            </a:r>
            <a:r>
              <a:rPr lang="zh-CN" altLang="en-US" sz="360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语言的特点</a:t>
            </a:r>
            <a:endParaRPr lang="zh-CN" altLang="en-US" sz="3600" dirty="0">
              <a:solidFill>
                <a:srgbClr val="FF0000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lvl="1" eaLnBrk="1" hangingPunct="1"/>
            <a:r>
              <a:rPr lang="en-US" altLang="zh-CN" sz="3600" dirty="0">
                <a:latin typeface="Arial" panose="020B0604020202020204" pitchFamily="34" charset="0"/>
                <a:ea typeface="楷体_GB2312" pitchFamily="49" charset="-122"/>
              </a:rPr>
              <a:t>3.1.2 SQL</a:t>
            </a:r>
            <a:r>
              <a:rPr lang="zh-CN" altLang="en-US" sz="3600" dirty="0">
                <a:latin typeface="Arial" panose="020B0604020202020204" pitchFamily="34" charset="0"/>
                <a:ea typeface="楷体_GB2312" pitchFamily="49" charset="-122"/>
              </a:rPr>
              <a:t>语言的基本概念</a:t>
            </a:r>
            <a:endParaRPr lang="zh-CN" altLang="en-US" sz="3600" dirty="0"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819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3.1.1  SQL</a:t>
            </a:r>
            <a:r>
              <a:rPr lang="zh-CN" altLang="en-US" u="sng" dirty="0"/>
              <a:t>语言的特点</a:t>
            </a:r>
            <a:endParaRPr lang="zh-CN" altLang="en-US" u="sng" dirty="0"/>
          </a:p>
        </p:txBody>
      </p:sp>
      <p:sp>
        <p:nvSpPr>
          <p:cNvPr id="8196" name="Rectangle 3"/>
          <p:cNvSpPr>
            <a:spLocks noGrp="1"/>
          </p:cNvSpPr>
          <p:nvPr>
            <p:ph idx="1"/>
          </p:nvPr>
        </p:nvSpPr>
        <p:spPr>
          <a:xfrm>
            <a:off x="228600" y="723900"/>
            <a:ext cx="8686800" cy="5867400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10000"/>
              </a:lnSpc>
            </a:pPr>
            <a:r>
              <a:rPr lang="zh-CN" altLang="en-US" dirty="0"/>
              <a:t>综合统一</a:t>
            </a:r>
            <a:endParaRPr lang="zh-CN" altLang="en-US" dirty="0"/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zh-CN" altLang="en-US" dirty="0"/>
              <a:t>集</a:t>
            </a:r>
            <a:r>
              <a:rPr lang="en-US" altLang="zh-CN" dirty="0"/>
              <a:t>DDL</a:t>
            </a:r>
            <a:r>
              <a:rPr lang="zh-CN" altLang="en-US" dirty="0"/>
              <a:t>，</a:t>
            </a:r>
            <a:r>
              <a:rPr lang="en-US" altLang="zh-CN" dirty="0"/>
              <a:t>DML</a:t>
            </a:r>
            <a:r>
              <a:rPr lang="zh-CN" altLang="en-US" dirty="0"/>
              <a:t>，</a:t>
            </a:r>
            <a:r>
              <a:rPr lang="en-US" altLang="zh-CN" dirty="0"/>
              <a:t>DCL</a:t>
            </a:r>
            <a:r>
              <a:rPr lang="zh-CN" altLang="en-US" dirty="0"/>
              <a:t>于一体</a:t>
            </a:r>
            <a:endParaRPr lang="zh-CN" altLang="en-US" dirty="0"/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zh-CN" altLang="en-US" dirty="0"/>
              <a:t>单一的结构</a:t>
            </a:r>
            <a:r>
              <a:rPr lang="en-US" altLang="zh-CN" dirty="0"/>
              <a:t>----</a:t>
            </a:r>
            <a:r>
              <a:rPr lang="zh-CN" altLang="en-US" dirty="0"/>
              <a:t>关系，带来了数据操作符的统一</a:t>
            </a:r>
            <a:endParaRPr lang="zh-CN" altLang="en-US" dirty="0"/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/>
              <a:t>面向集合的操作方式</a:t>
            </a:r>
            <a:endParaRPr lang="zh-CN" altLang="en-US" dirty="0"/>
          </a:p>
          <a:p>
            <a:pPr lvl="2" eaLnBrk="1" hangingPunct="1">
              <a:lnSpc>
                <a:spcPct val="110000"/>
              </a:lnSpc>
              <a:spcBef>
                <a:spcPct val="10000"/>
              </a:spcBef>
              <a:buFont typeface="Wingdings" panose="05000000000000000000" pitchFamily="2" charset="2"/>
              <a:buChar char="§"/>
            </a:pPr>
            <a:r>
              <a:rPr lang="zh-CN" altLang="en-US" dirty="0"/>
              <a:t>一次一集合</a:t>
            </a:r>
            <a:endParaRPr lang="zh-CN" altLang="en-US" dirty="0"/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/>
              <a:t>高度非过程化</a:t>
            </a:r>
            <a:endParaRPr lang="zh-CN" altLang="en-US" dirty="0"/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zh-CN" altLang="en-US" dirty="0"/>
              <a:t>用户只需提出“做什么”，无须告诉“怎么做”，不必了解存取路径</a:t>
            </a:r>
            <a:endParaRPr lang="zh-CN" altLang="en-US" dirty="0"/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/>
              <a:t>以同一种语法结构提供两种使用方式</a:t>
            </a:r>
            <a:endParaRPr lang="zh-CN" altLang="en-US" dirty="0"/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zh-CN" altLang="en-US" dirty="0"/>
              <a:t>自含式</a:t>
            </a:r>
            <a:r>
              <a:rPr lang="en-US" altLang="zh-CN" dirty="0"/>
              <a:t>(</a:t>
            </a:r>
            <a:r>
              <a:rPr lang="zh-CN" altLang="en-US" dirty="0"/>
              <a:t>交互式</a:t>
            </a:r>
            <a:r>
              <a:rPr lang="en-US" altLang="zh-CN" dirty="0"/>
              <a:t>)</a:t>
            </a:r>
            <a:r>
              <a:rPr lang="zh-CN" altLang="en-US" dirty="0"/>
              <a:t>语言（用户使用）</a:t>
            </a:r>
            <a:endParaRPr lang="zh-CN" altLang="en-US" dirty="0"/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zh-CN" altLang="en-US" dirty="0"/>
              <a:t>嵌入式语言（程序员使用）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语言简洁，易学易用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921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3.1.1  SQL</a:t>
            </a:r>
            <a:r>
              <a:rPr lang="zh-CN" altLang="en-US" u="sng" dirty="0"/>
              <a:t>语言的特点</a:t>
            </a:r>
            <a:endParaRPr lang="zh-CN" altLang="en-US" u="sng" dirty="0"/>
          </a:p>
        </p:txBody>
      </p:sp>
      <p:sp>
        <p:nvSpPr>
          <p:cNvPr id="9220" name="Rectangle 3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723900"/>
          </a:xfrm>
          <a:ln/>
        </p:spPr>
        <p:txBody>
          <a:bodyPr vert="horz" wrap="square" lIns="91440" tIns="45720" rIns="91440" bIns="45720" anchor="t" anchorCtr="0"/>
          <a:p>
            <a:pPr lvl="1" algn="ctr" eaLnBrk="1" hangingPunct="1">
              <a:lnSpc>
                <a:spcPct val="110000"/>
              </a:lnSpc>
              <a:buNone/>
            </a:pPr>
            <a:r>
              <a:rPr lang="zh-CN" altLang="en-US" sz="3200" dirty="0"/>
              <a:t>表</a:t>
            </a:r>
            <a:r>
              <a:rPr lang="en-US" altLang="zh-CN" sz="3200" dirty="0"/>
              <a:t>3.1 SQL</a:t>
            </a:r>
            <a:r>
              <a:rPr lang="zh-CN" altLang="en-US" sz="3200" dirty="0"/>
              <a:t>语言的动词</a:t>
            </a:r>
            <a:r>
              <a:rPr lang="en-US" altLang="zh-CN" sz="3200" dirty="0"/>
              <a:t>(9</a:t>
            </a:r>
            <a:r>
              <a:rPr lang="zh-CN" altLang="en-US" sz="3200" dirty="0"/>
              <a:t>个</a:t>
            </a:r>
            <a:r>
              <a:rPr lang="en-US" altLang="zh-CN" sz="3200" dirty="0"/>
              <a:t>)</a:t>
            </a:r>
            <a:endParaRPr lang="en-US" altLang="zh-CN" sz="3200" dirty="0"/>
          </a:p>
        </p:txBody>
      </p:sp>
      <p:graphicFrame>
        <p:nvGraphicFramePr>
          <p:cNvPr id="572420" name="Group 4"/>
          <p:cNvGraphicFramePr>
            <a:graphicFrameLocks noGrp="1"/>
          </p:cNvGraphicFramePr>
          <p:nvPr/>
        </p:nvGraphicFramePr>
        <p:xfrm>
          <a:off x="762000" y="2028825"/>
          <a:ext cx="7620000" cy="2571750"/>
        </p:xfrm>
        <a:graphic>
          <a:graphicData uri="http://schemas.openxmlformats.org/drawingml/2006/table">
            <a:tbl>
              <a:tblPr/>
              <a:tblGrid>
                <a:gridCol w="2381250"/>
                <a:gridCol w="5238750"/>
              </a:tblGrid>
              <a:tr h="5179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SQL</a:t>
                      </a: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功能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634" marB="45634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动词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634" marB="456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5383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数据查询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数据定义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数据操纵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数据控制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34" marB="45634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Select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Create, Drop, Alter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Insert, Update, Delete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Grant, Revoke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34" marB="456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024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3.1  </a:t>
            </a:r>
            <a:r>
              <a:rPr lang="zh-CN" altLang="en-US" u="sng" dirty="0"/>
              <a:t>概述</a:t>
            </a:r>
            <a:endParaRPr lang="zh-CN" altLang="en-US" u="sng" dirty="0"/>
          </a:p>
        </p:txBody>
      </p:sp>
      <p:sp>
        <p:nvSpPr>
          <p:cNvPr id="10244" name="Rectangle 3"/>
          <p:cNvSpPr>
            <a:spLocks noGrp="1"/>
          </p:cNvSpPr>
          <p:nvPr>
            <p:ph idx="1"/>
          </p:nvPr>
        </p:nvSpPr>
        <p:spPr>
          <a:xfrm>
            <a:off x="228600" y="1676400"/>
            <a:ext cx="8686800" cy="2514600"/>
          </a:xfrm>
          <a:ln/>
        </p:spPr>
        <p:txBody>
          <a:bodyPr vert="horz" wrap="square" lIns="91440" tIns="45720" rIns="91440" bIns="45720" anchor="t" anchorCtr="0"/>
          <a:p>
            <a:pPr lvl="1" eaLnBrk="1" hangingPunct="1"/>
            <a:r>
              <a:rPr lang="en-US" altLang="zh-CN" sz="3600" dirty="0">
                <a:latin typeface="Arial" panose="020B0604020202020204" pitchFamily="34" charset="0"/>
                <a:ea typeface="楷体_GB2312" pitchFamily="49" charset="-122"/>
              </a:rPr>
              <a:t>3.1.1 SQL</a:t>
            </a:r>
            <a:r>
              <a:rPr lang="zh-CN" altLang="en-US" sz="3600" dirty="0">
                <a:latin typeface="Arial" panose="020B0604020202020204" pitchFamily="34" charset="0"/>
                <a:ea typeface="楷体_GB2312" pitchFamily="49" charset="-122"/>
              </a:rPr>
              <a:t>语言的特点</a:t>
            </a:r>
            <a:endParaRPr lang="zh-CN" altLang="en-US" sz="3600" dirty="0">
              <a:latin typeface="Arial" panose="020B0604020202020204" pitchFamily="34" charset="0"/>
              <a:ea typeface="楷体_GB2312" pitchFamily="49" charset="-122"/>
            </a:endParaRPr>
          </a:p>
          <a:p>
            <a:pPr lvl="1" eaLnBrk="1" hangingPunct="1"/>
            <a:r>
              <a:rPr lang="en-US" altLang="zh-CN" sz="360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3.1.2 SQL</a:t>
            </a:r>
            <a:r>
              <a:rPr lang="zh-CN" altLang="en-US" sz="360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语言的基本概念</a:t>
            </a:r>
            <a:endParaRPr lang="zh-CN" altLang="en-US" sz="3600" dirty="0">
              <a:solidFill>
                <a:srgbClr val="FF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126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3.1.2  SQL</a:t>
            </a:r>
            <a:r>
              <a:rPr lang="zh-CN" altLang="en-US" u="sng" dirty="0"/>
              <a:t>语言的基本概念</a:t>
            </a:r>
            <a:endParaRPr lang="zh-CN" altLang="en-US" u="sng" dirty="0"/>
          </a:p>
        </p:txBody>
      </p:sp>
      <p:sp>
        <p:nvSpPr>
          <p:cNvPr id="11268" name="Rectangle 3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473700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10000"/>
              </a:lnSpc>
            </a:pPr>
            <a:r>
              <a:rPr lang="zh-CN" altLang="en-US" sz="3200" dirty="0">
                <a:solidFill>
                  <a:srgbClr val="FF0000"/>
                </a:solidFill>
              </a:rPr>
              <a:t>基本表</a:t>
            </a:r>
            <a:r>
              <a:rPr lang="en-US" altLang="zh-CN" sz="3200" dirty="0">
                <a:solidFill>
                  <a:srgbClr val="FF0000"/>
                </a:solidFill>
              </a:rPr>
              <a:t>(Base Table)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zh-CN" altLang="en-US" sz="2800" dirty="0"/>
              <a:t>本身独立存在的表。一个关系就对应一个表</a:t>
            </a:r>
            <a:endParaRPr lang="zh-CN" altLang="en-US" sz="2800" dirty="0"/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zh-CN" altLang="en-US" sz="2800" dirty="0"/>
              <a:t>可带索引</a:t>
            </a:r>
            <a:endParaRPr lang="zh-CN" altLang="en-US" sz="2800" dirty="0"/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zh-CN" altLang="en-US" sz="2800" dirty="0"/>
              <a:t>索引与表均放在存储文件中</a:t>
            </a:r>
            <a:endParaRPr lang="zh-CN" altLang="en-US" sz="2800" dirty="0"/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3200" dirty="0">
                <a:solidFill>
                  <a:srgbClr val="FF0000"/>
                </a:solidFill>
              </a:rPr>
              <a:t>视图</a:t>
            </a:r>
            <a:r>
              <a:rPr lang="en-US" altLang="zh-CN" sz="3200" dirty="0">
                <a:solidFill>
                  <a:srgbClr val="FF0000"/>
                </a:solidFill>
              </a:rPr>
              <a:t>(View)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lvl="2" eaLnBrk="1" hangingPunct="1">
              <a:lnSpc>
                <a:spcPct val="110000"/>
              </a:lnSpc>
              <a:spcBef>
                <a:spcPct val="10000"/>
              </a:spcBef>
              <a:buFont typeface="Wingdings" panose="05000000000000000000" pitchFamily="2" charset="2"/>
              <a:buChar char="§"/>
            </a:pPr>
            <a:r>
              <a:rPr lang="zh-CN" altLang="en-US" sz="2800" dirty="0"/>
              <a:t>从一个或几个基本表导出的表</a:t>
            </a:r>
            <a:endParaRPr lang="zh-CN" altLang="en-US" sz="2800" dirty="0"/>
          </a:p>
          <a:p>
            <a:pPr lvl="2" eaLnBrk="1" hangingPunct="1">
              <a:lnSpc>
                <a:spcPct val="110000"/>
              </a:lnSpc>
              <a:spcBef>
                <a:spcPct val="10000"/>
              </a:spcBef>
              <a:buFont typeface="Wingdings" panose="05000000000000000000" pitchFamily="2" charset="2"/>
              <a:buChar char="§"/>
            </a:pPr>
            <a:r>
              <a:rPr lang="zh-CN" altLang="en-US" sz="2800" dirty="0"/>
              <a:t>本身不独立存储在数据库中，即只存放其定义，并不存放视图对应的数据，这些数据仍存放在基本表中。</a:t>
            </a:r>
            <a:endParaRPr lang="zh-CN" altLang="en-US" sz="2800" dirty="0"/>
          </a:p>
          <a:p>
            <a:pPr lvl="2" eaLnBrk="1" hangingPunct="1">
              <a:lnSpc>
                <a:spcPct val="110000"/>
              </a:lnSpc>
              <a:spcBef>
                <a:spcPct val="10000"/>
              </a:spcBef>
              <a:buFont typeface="Wingdings" panose="05000000000000000000" pitchFamily="2" charset="2"/>
              <a:buChar char="§"/>
            </a:pPr>
            <a:r>
              <a:rPr lang="zh-CN" altLang="en-US" sz="2800" dirty="0"/>
              <a:t>虚表。概念上同基本表。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229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3.1.2  SQL</a:t>
            </a:r>
            <a:r>
              <a:rPr lang="zh-CN" altLang="en-US" u="sng" dirty="0"/>
              <a:t>语言的基本概念</a:t>
            </a:r>
            <a:endParaRPr lang="zh-CN" altLang="en-US" u="sng" dirty="0"/>
          </a:p>
        </p:txBody>
      </p:sp>
      <p:sp>
        <p:nvSpPr>
          <p:cNvPr id="12292" name="Rectangle 3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473700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10000"/>
              </a:lnSpc>
            </a:pPr>
            <a:r>
              <a:rPr lang="zh-CN" altLang="en-US" sz="3200" dirty="0">
                <a:solidFill>
                  <a:srgbClr val="FF0000"/>
                </a:solidFill>
              </a:rPr>
              <a:t>游标</a:t>
            </a:r>
            <a:r>
              <a:rPr lang="en-US" altLang="zh-CN" sz="3200" dirty="0">
                <a:solidFill>
                  <a:srgbClr val="FF0000"/>
                </a:solidFill>
              </a:rPr>
              <a:t>(Cursor)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zh-CN" altLang="en-US" sz="2800" dirty="0"/>
              <a:t>在内存中生成的临时表，游标指向临时表中当前正在被处理的元组，相当于一个指针。 </a:t>
            </a:r>
            <a:endParaRPr lang="zh-CN" altLang="en-US" sz="2800" dirty="0"/>
          </a:p>
          <a:p>
            <a:pPr lvl="1">
              <a:spcBef>
                <a:spcPct val="0"/>
              </a:spcBef>
            </a:pPr>
            <a:r>
              <a:rPr lang="zh-CN" altLang="en-US" sz="3200" dirty="0">
                <a:solidFill>
                  <a:srgbClr val="FF0000"/>
                </a:solidFill>
                <a:latin typeface="宋体" panose="02010600030101010101" pitchFamily="2" charset="-122"/>
              </a:rPr>
              <a:t>子查询</a:t>
            </a:r>
            <a:endParaRPr lang="zh-CN" altLang="en-US" sz="3200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lvl="2">
              <a:spcBef>
                <a:spcPct val="0"/>
              </a:spcBef>
            </a:pPr>
            <a:r>
              <a:rPr lang="zh-CN" altLang="en-US" sz="2800" dirty="0">
                <a:latin typeface="楷体_GB2312" pitchFamily="49" charset="-122"/>
              </a:rPr>
              <a:t>嵌套在查询语句中的查询</a:t>
            </a:r>
            <a:endParaRPr lang="zh-CN" altLang="en-US" sz="2800" dirty="0">
              <a:latin typeface="楷体_GB2312" pitchFamily="49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331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3.1.2  SQL</a:t>
            </a:r>
            <a:r>
              <a:rPr lang="zh-CN" altLang="en-US" u="sng" dirty="0"/>
              <a:t>语言的基本概念</a:t>
            </a:r>
            <a:endParaRPr lang="zh-CN" altLang="en-US" u="sng" dirty="0"/>
          </a:p>
        </p:txBody>
      </p:sp>
      <p:sp>
        <p:nvSpPr>
          <p:cNvPr id="13316" name="Rectangle 3"/>
          <p:cNvSpPr>
            <a:spLocks noGrp="1"/>
          </p:cNvSpPr>
          <p:nvPr>
            <p:ph idx="1"/>
          </p:nvPr>
        </p:nvSpPr>
        <p:spPr>
          <a:xfrm>
            <a:off x="228600" y="5334000"/>
            <a:ext cx="8686800" cy="723900"/>
          </a:xfrm>
          <a:ln/>
        </p:spPr>
        <p:txBody>
          <a:bodyPr vert="horz" wrap="square" lIns="91440" tIns="45720" rIns="91440" bIns="45720" anchor="t" anchorCtr="0"/>
          <a:p>
            <a:pPr lvl="1" algn="ctr" eaLnBrk="1" hangingPunct="1">
              <a:lnSpc>
                <a:spcPct val="110000"/>
              </a:lnSpc>
              <a:buNone/>
            </a:pPr>
            <a:r>
              <a:rPr lang="zh-CN" altLang="en-US" sz="3200" dirty="0"/>
              <a:t>图</a:t>
            </a:r>
            <a:r>
              <a:rPr lang="en-US" altLang="zh-CN" sz="3200" dirty="0"/>
              <a:t>3.1 SQL</a:t>
            </a:r>
            <a:r>
              <a:rPr lang="zh-CN" altLang="en-US" sz="3200" dirty="0"/>
              <a:t>对关系数据库模式的支持</a:t>
            </a:r>
            <a:endParaRPr lang="zh-CN" altLang="en-US" sz="3200" dirty="0"/>
          </a:p>
        </p:txBody>
      </p:sp>
      <p:sp>
        <p:nvSpPr>
          <p:cNvPr id="13317" name="Text Box 4"/>
          <p:cNvSpPr txBox="1"/>
          <p:nvPr/>
        </p:nvSpPr>
        <p:spPr>
          <a:xfrm>
            <a:off x="2878138" y="1270000"/>
            <a:ext cx="904875" cy="39211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SQL</a:t>
            </a:r>
            <a:endParaRPr lang="en-US" altLang="zh-CN" sz="2400" dirty="0">
              <a:solidFill>
                <a:srgbClr val="0000FF"/>
              </a:solidFill>
            </a:endParaRPr>
          </a:p>
        </p:txBody>
      </p:sp>
      <p:sp>
        <p:nvSpPr>
          <p:cNvPr id="13318" name="Text Box 5"/>
          <p:cNvSpPr txBox="1"/>
          <p:nvPr/>
        </p:nvSpPr>
        <p:spPr>
          <a:xfrm>
            <a:off x="2743200" y="2184400"/>
            <a:ext cx="1039813" cy="39211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视图</a:t>
            </a:r>
            <a:r>
              <a:rPr lang="en-US" altLang="zh-CN" sz="2400" dirty="0">
                <a:solidFill>
                  <a:srgbClr val="0000FF"/>
                </a:solidFill>
              </a:rPr>
              <a:t>1</a:t>
            </a:r>
            <a:endParaRPr lang="en-US" altLang="zh-CN" sz="2400" dirty="0">
              <a:solidFill>
                <a:srgbClr val="0000FF"/>
              </a:solidFill>
            </a:endParaRPr>
          </a:p>
        </p:txBody>
      </p:sp>
      <p:sp>
        <p:nvSpPr>
          <p:cNvPr id="13319" name="Text Box 6"/>
          <p:cNvSpPr txBox="1"/>
          <p:nvPr/>
        </p:nvSpPr>
        <p:spPr>
          <a:xfrm>
            <a:off x="4800600" y="2184400"/>
            <a:ext cx="1093788" cy="39211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视图</a:t>
            </a:r>
            <a:r>
              <a:rPr lang="en-US" altLang="zh-CN" sz="2400" dirty="0">
                <a:solidFill>
                  <a:srgbClr val="0000FF"/>
                </a:solidFill>
              </a:rPr>
              <a:t>2</a:t>
            </a:r>
            <a:endParaRPr lang="en-US" altLang="zh-CN" sz="2400" dirty="0">
              <a:solidFill>
                <a:srgbClr val="0000FF"/>
              </a:solidFill>
            </a:endParaRPr>
          </a:p>
        </p:txBody>
      </p:sp>
      <p:sp>
        <p:nvSpPr>
          <p:cNvPr id="13320" name="Text Box 7"/>
          <p:cNvSpPr txBox="1"/>
          <p:nvPr/>
        </p:nvSpPr>
        <p:spPr>
          <a:xfrm>
            <a:off x="990600" y="3228975"/>
            <a:ext cx="1435100" cy="39211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基本表</a:t>
            </a:r>
            <a:r>
              <a:rPr lang="en-US" altLang="zh-CN" sz="2400" dirty="0">
                <a:solidFill>
                  <a:srgbClr val="0000FF"/>
                </a:solidFill>
              </a:rPr>
              <a:t>1</a:t>
            </a:r>
            <a:endParaRPr lang="en-US" altLang="zh-CN" sz="2400" dirty="0">
              <a:solidFill>
                <a:srgbClr val="0000FF"/>
              </a:solidFill>
            </a:endParaRPr>
          </a:p>
        </p:txBody>
      </p:sp>
      <p:sp>
        <p:nvSpPr>
          <p:cNvPr id="13321" name="Text Box 8"/>
          <p:cNvSpPr txBox="1"/>
          <p:nvPr/>
        </p:nvSpPr>
        <p:spPr>
          <a:xfrm>
            <a:off x="2590800" y="3228975"/>
            <a:ext cx="1371600" cy="39211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基本表</a:t>
            </a:r>
            <a:r>
              <a:rPr lang="en-US" altLang="zh-CN" sz="2400" dirty="0">
                <a:solidFill>
                  <a:srgbClr val="0000FF"/>
                </a:solidFill>
              </a:rPr>
              <a:t>2</a:t>
            </a:r>
            <a:endParaRPr lang="en-US" altLang="zh-CN" sz="2400" dirty="0">
              <a:solidFill>
                <a:srgbClr val="0000FF"/>
              </a:solidFill>
            </a:endParaRPr>
          </a:p>
        </p:txBody>
      </p:sp>
      <p:sp>
        <p:nvSpPr>
          <p:cNvPr id="13322" name="Text Box 9"/>
          <p:cNvSpPr txBox="1"/>
          <p:nvPr/>
        </p:nvSpPr>
        <p:spPr>
          <a:xfrm>
            <a:off x="4114800" y="3228975"/>
            <a:ext cx="1371600" cy="39211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基本表</a:t>
            </a:r>
            <a:r>
              <a:rPr lang="en-US" altLang="zh-CN" sz="2400" dirty="0">
                <a:solidFill>
                  <a:srgbClr val="0000FF"/>
                </a:solidFill>
              </a:rPr>
              <a:t>3</a:t>
            </a:r>
            <a:endParaRPr lang="en-US" altLang="zh-CN" sz="2400" dirty="0">
              <a:solidFill>
                <a:srgbClr val="0000FF"/>
              </a:solidFill>
            </a:endParaRPr>
          </a:p>
        </p:txBody>
      </p:sp>
      <p:sp>
        <p:nvSpPr>
          <p:cNvPr id="13323" name="Text Box 10"/>
          <p:cNvSpPr txBox="1"/>
          <p:nvPr/>
        </p:nvSpPr>
        <p:spPr>
          <a:xfrm>
            <a:off x="5592763" y="3228975"/>
            <a:ext cx="1417637" cy="39211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基本表</a:t>
            </a:r>
            <a:r>
              <a:rPr lang="en-US" altLang="zh-CN" sz="2400" dirty="0">
                <a:solidFill>
                  <a:srgbClr val="0000FF"/>
                </a:solidFill>
              </a:rPr>
              <a:t>4</a:t>
            </a:r>
            <a:endParaRPr lang="en-US" altLang="zh-CN" sz="2400" dirty="0">
              <a:solidFill>
                <a:srgbClr val="0000FF"/>
              </a:solidFill>
            </a:endParaRPr>
          </a:p>
        </p:txBody>
      </p:sp>
      <p:sp>
        <p:nvSpPr>
          <p:cNvPr id="13324" name="Text Box 11"/>
          <p:cNvSpPr txBox="1"/>
          <p:nvPr/>
        </p:nvSpPr>
        <p:spPr>
          <a:xfrm>
            <a:off x="2451100" y="4405313"/>
            <a:ext cx="1752600" cy="52228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存储文件</a:t>
            </a:r>
            <a:r>
              <a:rPr lang="en-US" altLang="zh-CN" sz="2400" dirty="0">
                <a:solidFill>
                  <a:srgbClr val="0000FF"/>
                </a:solidFill>
              </a:rPr>
              <a:t>1</a:t>
            </a:r>
            <a:endParaRPr lang="en-US" altLang="zh-CN" sz="2400" dirty="0">
              <a:solidFill>
                <a:srgbClr val="0000FF"/>
              </a:solidFill>
            </a:endParaRPr>
          </a:p>
        </p:txBody>
      </p:sp>
      <p:sp>
        <p:nvSpPr>
          <p:cNvPr id="13325" name="Text Box 12"/>
          <p:cNvSpPr txBox="1"/>
          <p:nvPr/>
        </p:nvSpPr>
        <p:spPr>
          <a:xfrm>
            <a:off x="5080000" y="4405313"/>
            <a:ext cx="1943100" cy="52228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存储文件</a:t>
            </a:r>
            <a:r>
              <a:rPr lang="en-US" altLang="zh-CN" sz="2400" dirty="0">
                <a:solidFill>
                  <a:srgbClr val="0000FF"/>
                </a:solidFill>
              </a:rPr>
              <a:t>2</a:t>
            </a:r>
            <a:endParaRPr lang="en-US" altLang="zh-CN" sz="2400" dirty="0">
              <a:solidFill>
                <a:srgbClr val="0000FF"/>
              </a:solidFill>
            </a:endParaRPr>
          </a:p>
        </p:txBody>
      </p:sp>
      <p:sp>
        <p:nvSpPr>
          <p:cNvPr id="13326" name="Line 13"/>
          <p:cNvSpPr/>
          <p:nvPr/>
        </p:nvSpPr>
        <p:spPr>
          <a:xfrm flipH="1">
            <a:off x="1822450" y="1662113"/>
            <a:ext cx="1206500" cy="1566862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3327" name="Line 14"/>
          <p:cNvSpPr/>
          <p:nvPr/>
        </p:nvSpPr>
        <p:spPr>
          <a:xfrm>
            <a:off x="3330575" y="1662113"/>
            <a:ext cx="0" cy="522287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3328" name="Line 15"/>
          <p:cNvSpPr/>
          <p:nvPr/>
        </p:nvSpPr>
        <p:spPr>
          <a:xfrm>
            <a:off x="3481388" y="1662113"/>
            <a:ext cx="1960562" cy="522287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3329" name="Line 16"/>
          <p:cNvSpPr/>
          <p:nvPr/>
        </p:nvSpPr>
        <p:spPr>
          <a:xfrm>
            <a:off x="3330575" y="2576513"/>
            <a:ext cx="0" cy="652462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3330" name="Line 17"/>
          <p:cNvSpPr/>
          <p:nvPr/>
        </p:nvSpPr>
        <p:spPr>
          <a:xfrm flipH="1">
            <a:off x="4687888" y="2576513"/>
            <a:ext cx="603250" cy="652462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3331" name="Line 18"/>
          <p:cNvSpPr/>
          <p:nvPr/>
        </p:nvSpPr>
        <p:spPr>
          <a:xfrm>
            <a:off x="5592763" y="2576513"/>
            <a:ext cx="603250" cy="652462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3332" name="Line 19"/>
          <p:cNvSpPr/>
          <p:nvPr/>
        </p:nvSpPr>
        <p:spPr>
          <a:xfrm>
            <a:off x="3330575" y="3621088"/>
            <a:ext cx="0" cy="78422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3333" name="Line 20"/>
          <p:cNvSpPr/>
          <p:nvPr/>
        </p:nvSpPr>
        <p:spPr>
          <a:xfrm>
            <a:off x="1822450" y="3621088"/>
            <a:ext cx="1357313" cy="78422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3334" name="Line 21"/>
          <p:cNvSpPr/>
          <p:nvPr/>
        </p:nvSpPr>
        <p:spPr>
          <a:xfrm flipV="1">
            <a:off x="3632200" y="3621088"/>
            <a:ext cx="1055688" cy="78422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3335" name="Line 22"/>
          <p:cNvSpPr/>
          <p:nvPr/>
        </p:nvSpPr>
        <p:spPr>
          <a:xfrm>
            <a:off x="6045200" y="3621088"/>
            <a:ext cx="0" cy="78422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3336" name="Text Box 23"/>
          <p:cNvSpPr txBox="1"/>
          <p:nvPr/>
        </p:nvSpPr>
        <p:spPr>
          <a:xfrm>
            <a:off x="7315200" y="2057400"/>
            <a:ext cx="1295400" cy="5222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外模式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13337" name="Text Box 24"/>
          <p:cNvSpPr txBox="1"/>
          <p:nvPr/>
        </p:nvSpPr>
        <p:spPr>
          <a:xfrm>
            <a:off x="7239000" y="3200400"/>
            <a:ext cx="1220788" cy="5222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模式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13338" name="Text Box 25"/>
          <p:cNvSpPr txBox="1"/>
          <p:nvPr/>
        </p:nvSpPr>
        <p:spPr>
          <a:xfrm>
            <a:off x="7239000" y="4343400"/>
            <a:ext cx="1447800" cy="5222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内模式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13339" name="Line 26"/>
          <p:cNvSpPr/>
          <p:nvPr/>
        </p:nvSpPr>
        <p:spPr>
          <a:xfrm>
            <a:off x="914400" y="1922463"/>
            <a:ext cx="7540625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3340" name="Line 27"/>
          <p:cNvSpPr/>
          <p:nvPr/>
        </p:nvSpPr>
        <p:spPr>
          <a:xfrm>
            <a:off x="917575" y="2836863"/>
            <a:ext cx="7540625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3341" name="Line 28"/>
          <p:cNvSpPr/>
          <p:nvPr/>
        </p:nvSpPr>
        <p:spPr>
          <a:xfrm>
            <a:off x="917575" y="4013200"/>
            <a:ext cx="7540625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ysDot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4339" name="Rectangle 2"/>
          <p:cNvSpPr/>
          <p:nvPr/>
        </p:nvSpPr>
        <p:spPr>
          <a:xfrm>
            <a:off x="863600" y="2082800"/>
            <a:ext cx="7747000" cy="6096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14340" name="Rectangle 3"/>
          <p:cNvSpPr>
            <a:spLocks noGrp="1"/>
          </p:cNvSpPr>
          <p:nvPr>
            <p:ph idx="1"/>
          </p:nvPr>
        </p:nvSpPr>
        <p:spPr>
          <a:xfrm>
            <a:off x="977900" y="1498600"/>
            <a:ext cx="7327900" cy="449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3.1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概述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bg1"/>
                </a:solidFill>
                <a:latin typeface="Arial Narrow" panose="020B0606020202030204" pitchFamily="34" charset="0"/>
                <a:ea typeface="楷体_GB2312" pitchFamily="49" charset="-122"/>
              </a:rPr>
              <a:t>3.2</a:t>
            </a:r>
            <a:r>
              <a:rPr lang="en-US" altLang="zh-CN" sz="36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数据定义</a:t>
            </a:r>
            <a:endParaRPr lang="zh-CN" altLang="en-US" sz="3600" b="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3.3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查询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3.4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数据更新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3.5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视图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3.6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数据控制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3.7 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嵌入式</a:t>
            </a: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SQL</a:t>
            </a:r>
            <a:endParaRPr lang="en-US" altLang="zh-CN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3.8 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小结</a:t>
            </a:r>
            <a:endParaRPr lang="zh-CN" altLang="en-US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</p:txBody>
      </p:sp>
      <p:sp>
        <p:nvSpPr>
          <p:cNvPr id="14341" name="Rectangle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 </a:t>
            </a:r>
            <a:r>
              <a:rPr lang="en-US" altLang="zh-CN" dirty="0"/>
              <a:t>SQL</a:t>
            </a:r>
            <a:endParaRPr lang="en-US" altLang="zh-C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536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3.2  </a:t>
            </a:r>
            <a:r>
              <a:rPr lang="zh-CN" altLang="en-US" u="sng" dirty="0"/>
              <a:t>数据定义</a:t>
            </a:r>
            <a:endParaRPr lang="zh-CN" altLang="en-US" u="sng" dirty="0"/>
          </a:p>
        </p:txBody>
      </p:sp>
      <p:sp>
        <p:nvSpPr>
          <p:cNvPr id="15364" name="Rectangle 3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723900"/>
          </a:xfrm>
          <a:ln/>
        </p:spPr>
        <p:txBody>
          <a:bodyPr vert="horz" wrap="square" lIns="91440" tIns="45720" rIns="91440" bIns="45720" anchor="t" anchorCtr="0"/>
          <a:p>
            <a:pPr lvl="1" algn="ctr" eaLnBrk="1" hangingPunct="1">
              <a:lnSpc>
                <a:spcPct val="110000"/>
              </a:lnSpc>
              <a:buNone/>
            </a:pPr>
            <a:r>
              <a:rPr lang="zh-CN" altLang="en-US" sz="3200" dirty="0"/>
              <a:t>表</a:t>
            </a:r>
            <a:r>
              <a:rPr lang="en-US" altLang="zh-CN" sz="3200" dirty="0"/>
              <a:t>3.2 SQL</a:t>
            </a:r>
            <a:r>
              <a:rPr lang="zh-CN" altLang="en-US" sz="3200" dirty="0"/>
              <a:t>的数据定义语句</a:t>
            </a:r>
            <a:endParaRPr lang="zh-CN" altLang="en-US" sz="3200" dirty="0"/>
          </a:p>
        </p:txBody>
      </p:sp>
      <p:graphicFrame>
        <p:nvGraphicFramePr>
          <p:cNvPr id="578564" name="Group 4"/>
          <p:cNvGraphicFramePr>
            <a:graphicFrameLocks noGrp="1"/>
          </p:cNvGraphicFramePr>
          <p:nvPr/>
        </p:nvGraphicFramePr>
        <p:xfrm>
          <a:off x="457200" y="2057400"/>
          <a:ext cx="8305800" cy="3708400"/>
        </p:xfrm>
        <a:graphic>
          <a:graphicData uri="http://schemas.openxmlformats.org/drawingml/2006/table">
            <a:tbl>
              <a:tblPr/>
              <a:tblGrid>
                <a:gridCol w="1724025"/>
                <a:gridCol w="2428875"/>
                <a:gridCol w="2076450"/>
                <a:gridCol w="2076450"/>
              </a:tblGrid>
              <a:tr h="660400">
                <a:tc row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操作对象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操作方式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  <a:tr h="609600">
                <a:tc vMerge="1"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创建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删除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修改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2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表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Create Table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Drop Table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Alter Table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2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视图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Create View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Drop View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2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索引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Create Index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Drop Index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638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3.2  </a:t>
            </a:r>
            <a:r>
              <a:rPr lang="zh-CN" altLang="en-US" u="sng" dirty="0"/>
              <a:t>数据定义</a:t>
            </a:r>
            <a:endParaRPr lang="zh-CN" altLang="en-US" u="sng" dirty="0"/>
          </a:p>
        </p:txBody>
      </p:sp>
      <p:sp>
        <p:nvSpPr>
          <p:cNvPr id="16388" name="Rectangle 3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723900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10000"/>
              </a:lnSpc>
            </a:pPr>
            <a:r>
              <a:rPr lang="en-US" altLang="zh-CN" sz="3200" dirty="0"/>
              <a:t>SQL Server</a:t>
            </a:r>
            <a:r>
              <a:rPr lang="zh-CN" altLang="en-US" sz="3200" dirty="0"/>
              <a:t>、</a:t>
            </a:r>
            <a:r>
              <a:rPr lang="en-US" altLang="zh-CN" sz="3200" dirty="0"/>
              <a:t>GaussDB</a:t>
            </a:r>
            <a:endParaRPr lang="en-US" altLang="zh-CN" sz="3200" dirty="0"/>
          </a:p>
        </p:txBody>
      </p:sp>
      <p:graphicFrame>
        <p:nvGraphicFramePr>
          <p:cNvPr id="579588" name="Group 4"/>
          <p:cNvGraphicFramePr>
            <a:graphicFrameLocks noGrp="1"/>
          </p:cNvGraphicFramePr>
          <p:nvPr/>
        </p:nvGraphicFramePr>
        <p:xfrm>
          <a:off x="228600" y="1905000"/>
          <a:ext cx="8686800" cy="4105275"/>
        </p:xfrm>
        <a:graphic>
          <a:graphicData uri="http://schemas.openxmlformats.org/drawingml/2006/table">
            <a:tbl>
              <a:tblPr/>
              <a:tblGrid>
                <a:gridCol w="1828800"/>
                <a:gridCol w="2514600"/>
                <a:gridCol w="2171700"/>
                <a:gridCol w="2171700"/>
              </a:tblGrid>
              <a:tr h="660502">
                <a:tc row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操作对象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操作方式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  <a:tr h="609694">
                <a:tc vMerge="1"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创建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删除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修改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4502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数据库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Create Database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Drop Database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Alter Database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4502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存储过程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Create Procedure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Drop Procedure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Alter Procedure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4502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触发器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Create Trigger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Drop Trigger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Alter Trigger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741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3.2  </a:t>
            </a:r>
            <a:r>
              <a:rPr lang="zh-CN" altLang="en-US" u="sng" dirty="0"/>
              <a:t>数据定义</a:t>
            </a:r>
            <a:endParaRPr lang="zh-CN" altLang="en-US" u="sng" dirty="0"/>
          </a:p>
        </p:txBody>
      </p:sp>
      <p:sp>
        <p:nvSpPr>
          <p:cNvPr id="17412" name="Rectangle 3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15000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10000"/>
              </a:lnSpc>
            </a:pPr>
            <a:r>
              <a:rPr lang="en-US" altLang="zh-CN" sz="3200" dirty="0"/>
              <a:t>SQL</a:t>
            </a:r>
            <a:r>
              <a:rPr lang="zh-CN" altLang="en-US" sz="3200" dirty="0"/>
              <a:t>的数据类型</a:t>
            </a:r>
            <a:endParaRPr lang="zh-CN" altLang="en-US" sz="3200" dirty="0"/>
          </a:p>
          <a:p>
            <a:pPr lvl="2" eaLnBrk="1" hangingPunct="1">
              <a:buFont typeface="Wingdings" panose="05000000000000000000" pitchFamily="2" charset="2"/>
              <a:buChar char="§"/>
            </a:pPr>
            <a:r>
              <a:rPr lang="en-US" altLang="zh-CN" dirty="0"/>
              <a:t>char</a:t>
            </a:r>
            <a:r>
              <a:rPr lang="zh-CN" altLang="en-US" dirty="0"/>
              <a:t>（</a:t>
            </a:r>
            <a:r>
              <a:rPr lang="en-US" altLang="zh-CN" dirty="0"/>
              <a:t>n</a:t>
            </a:r>
            <a:r>
              <a:rPr lang="zh-CN" altLang="en-US" dirty="0"/>
              <a:t>）：固定长度的字符串</a:t>
            </a:r>
            <a:endParaRPr lang="zh-CN" altLang="en-US" dirty="0"/>
          </a:p>
          <a:p>
            <a:pPr lvl="2" eaLnBrk="1" hangingPunct="1">
              <a:buFont typeface="Wingdings" panose="05000000000000000000" pitchFamily="2" charset="2"/>
              <a:buChar char="§"/>
            </a:pPr>
            <a:r>
              <a:rPr lang="en-US" altLang="zh-CN" dirty="0"/>
              <a:t>varchar</a:t>
            </a:r>
            <a:r>
              <a:rPr lang="zh-CN" altLang="en-US" dirty="0"/>
              <a:t>（</a:t>
            </a:r>
            <a:r>
              <a:rPr lang="en-US" altLang="zh-CN" dirty="0"/>
              <a:t>n</a:t>
            </a:r>
            <a:r>
              <a:rPr lang="zh-CN" altLang="en-US" dirty="0"/>
              <a:t>）：可变长字符串</a:t>
            </a:r>
            <a:endParaRPr lang="zh-CN" altLang="en-US" dirty="0"/>
          </a:p>
          <a:p>
            <a:pPr lvl="2" eaLnBrk="1" hangingPunct="1">
              <a:buFont typeface="Wingdings" panose="05000000000000000000" pitchFamily="2" charset="2"/>
              <a:buChar char="§"/>
            </a:pPr>
            <a:r>
              <a:rPr lang="en-US" altLang="zh-CN" dirty="0"/>
              <a:t>int</a:t>
            </a:r>
            <a:r>
              <a:rPr lang="zh-CN" altLang="en-US" dirty="0"/>
              <a:t>：整数</a:t>
            </a:r>
            <a:endParaRPr lang="zh-CN" altLang="en-US" dirty="0"/>
          </a:p>
          <a:p>
            <a:pPr lvl="2" eaLnBrk="1" hangingPunct="1">
              <a:buFont typeface="Wingdings" panose="05000000000000000000" pitchFamily="2" charset="2"/>
              <a:buChar char="§"/>
            </a:pPr>
            <a:r>
              <a:rPr lang="en-US" altLang="zh-CN" dirty="0"/>
              <a:t>smallint</a:t>
            </a:r>
            <a:r>
              <a:rPr lang="zh-CN" altLang="en-US" dirty="0"/>
              <a:t>：小整数类型</a:t>
            </a:r>
            <a:endParaRPr lang="zh-CN" altLang="en-US" dirty="0"/>
          </a:p>
          <a:p>
            <a:pPr lvl="2" eaLnBrk="1" hangingPunct="1">
              <a:buFont typeface="Wingdings" panose="05000000000000000000" pitchFamily="2" charset="2"/>
              <a:buChar char="§"/>
            </a:pPr>
            <a:r>
              <a:rPr lang="en-US" altLang="zh-CN" dirty="0"/>
              <a:t>numeric</a:t>
            </a:r>
            <a:r>
              <a:rPr lang="zh-CN" altLang="en-US" dirty="0"/>
              <a:t>（</a:t>
            </a:r>
            <a:r>
              <a:rPr lang="en-US" altLang="zh-CN" dirty="0"/>
              <a:t>p</a:t>
            </a:r>
            <a:r>
              <a:rPr lang="zh-CN" altLang="en-US" dirty="0"/>
              <a:t>，</a:t>
            </a:r>
            <a:r>
              <a:rPr lang="en-US" altLang="zh-CN" dirty="0"/>
              <a:t>d</a:t>
            </a:r>
            <a:r>
              <a:rPr lang="zh-CN" altLang="en-US" dirty="0"/>
              <a:t>）：定点数，小数点左边</a:t>
            </a:r>
            <a:r>
              <a:rPr lang="en-US" altLang="zh-CN" dirty="0"/>
              <a:t>p</a:t>
            </a:r>
            <a:r>
              <a:rPr lang="zh-CN" altLang="en-US" dirty="0"/>
              <a:t>位，右边</a:t>
            </a:r>
            <a:r>
              <a:rPr lang="en-US" altLang="zh-CN" dirty="0"/>
              <a:t>q</a:t>
            </a:r>
            <a:r>
              <a:rPr lang="zh-CN" altLang="en-US" dirty="0"/>
              <a:t>位</a:t>
            </a:r>
            <a:endParaRPr lang="zh-CN" altLang="en-US" dirty="0"/>
          </a:p>
          <a:p>
            <a:pPr lvl="2" eaLnBrk="1" hangingPunct="1">
              <a:buFont typeface="Wingdings" panose="05000000000000000000" pitchFamily="2" charset="2"/>
              <a:buChar char="§"/>
            </a:pPr>
            <a:r>
              <a:rPr lang="en-US" altLang="zh-CN" dirty="0"/>
              <a:t>real</a:t>
            </a:r>
            <a:r>
              <a:rPr lang="zh-CN" altLang="en-US" dirty="0"/>
              <a:t>：浮点数</a:t>
            </a:r>
            <a:endParaRPr lang="zh-CN" altLang="en-US" dirty="0"/>
          </a:p>
          <a:p>
            <a:pPr lvl="2" eaLnBrk="1" hangingPunct="1">
              <a:buFont typeface="Wingdings" panose="05000000000000000000" pitchFamily="2" charset="2"/>
              <a:buChar char="§"/>
            </a:pPr>
            <a:r>
              <a:rPr lang="en-US" altLang="zh-CN" dirty="0"/>
              <a:t>double precision</a:t>
            </a:r>
            <a:r>
              <a:rPr lang="zh-CN" altLang="en-US" dirty="0"/>
              <a:t>：双精度浮点数</a:t>
            </a:r>
            <a:endParaRPr lang="zh-CN" altLang="en-US" dirty="0"/>
          </a:p>
          <a:p>
            <a:pPr lvl="2" eaLnBrk="1" hangingPunct="1">
              <a:buFont typeface="Wingdings" panose="05000000000000000000" pitchFamily="2" charset="2"/>
              <a:buChar char="§"/>
            </a:pPr>
            <a:r>
              <a:rPr lang="en-US" altLang="zh-CN" dirty="0"/>
              <a:t>date</a:t>
            </a:r>
            <a:r>
              <a:rPr lang="zh-CN" altLang="en-US" dirty="0"/>
              <a:t>：日期（年、月、日）</a:t>
            </a:r>
            <a:endParaRPr lang="zh-CN" altLang="en-US" dirty="0"/>
          </a:p>
          <a:p>
            <a:pPr lvl="2" eaLnBrk="1" hangingPunct="1">
              <a:buFont typeface="Wingdings" panose="05000000000000000000" pitchFamily="2" charset="2"/>
              <a:buChar char="§"/>
            </a:pPr>
            <a:r>
              <a:rPr lang="en-US" altLang="zh-CN" dirty="0"/>
              <a:t>time</a:t>
            </a:r>
            <a:r>
              <a:rPr lang="zh-CN" altLang="en-US" dirty="0"/>
              <a:t>：时间（小时、分、秒）</a:t>
            </a:r>
            <a:endParaRPr lang="zh-CN" altLang="en-US" dirty="0"/>
          </a:p>
          <a:p>
            <a:pPr lvl="2" eaLnBrk="1" hangingPunct="1">
              <a:buFont typeface="Wingdings" panose="05000000000000000000" pitchFamily="2" charset="2"/>
              <a:buChar char="§"/>
            </a:pPr>
            <a:r>
              <a:rPr lang="en-US" altLang="zh-CN" dirty="0"/>
              <a:t>interval</a:t>
            </a:r>
            <a:r>
              <a:rPr lang="zh-CN" altLang="en-US" dirty="0"/>
              <a:t>：两个</a:t>
            </a:r>
            <a:r>
              <a:rPr lang="en-US" altLang="zh-CN" dirty="0"/>
              <a:t>date</a:t>
            </a:r>
            <a:r>
              <a:rPr lang="zh-CN" altLang="en-US" dirty="0"/>
              <a:t>或</a:t>
            </a:r>
            <a:r>
              <a:rPr lang="en-US" altLang="zh-CN" dirty="0"/>
              <a:t>time</a:t>
            </a:r>
            <a:r>
              <a:rPr lang="zh-CN" altLang="en-US" dirty="0"/>
              <a:t>类型数据之间的差</a:t>
            </a:r>
            <a:endParaRPr lang="zh-CN" altLang="en-US" dirty="0"/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Char char="§"/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843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3.2  </a:t>
            </a:r>
            <a:r>
              <a:rPr lang="zh-CN" altLang="en-US" u="sng" dirty="0"/>
              <a:t>数据定义</a:t>
            </a:r>
            <a:endParaRPr lang="zh-CN" altLang="en-US" u="sng" dirty="0"/>
          </a:p>
        </p:txBody>
      </p:sp>
      <p:sp>
        <p:nvSpPr>
          <p:cNvPr id="18436" name="Rectangle 3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15000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10000"/>
              </a:lnSpc>
            </a:pPr>
            <a:r>
              <a:rPr lang="en-US" altLang="zh-CN" sz="3200" dirty="0"/>
              <a:t>SQL Server</a:t>
            </a:r>
            <a:r>
              <a:rPr lang="zh-CN" altLang="en-US" sz="3200" dirty="0"/>
              <a:t>的数据类型</a:t>
            </a:r>
            <a:endParaRPr lang="zh-CN" altLang="en-US" sz="3200" dirty="0"/>
          </a:p>
          <a:p>
            <a:pPr lvl="1" eaLnBrk="1" hangingPunct="1"/>
            <a:r>
              <a:rPr lang="zh-CN" altLang="en-US" sz="2600" dirty="0"/>
              <a:t>精确数字</a:t>
            </a:r>
            <a:endParaRPr lang="zh-CN" altLang="en-US" sz="2600" dirty="0"/>
          </a:p>
          <a:p>
            <a:pPr lvl="2" eaLnBrk="1" hangingPunct="1"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</a:pPr>
            <a:r>
              <a:rPr lang="zh-CN" altLang="en-US" dirty="0">
                <a:ea typeface="宋体" panose="02010600030101010101" pitchFamily="2" charset="-122"/>
              </a:rPr>
              <a:t>整数</a:t>
            </a:r>
            <a:endParaRPr lang="zh-CN" altLang="en-US" dirty="0">
              <a:ea typeface="宋体" panose="02010600030101010101" pitchFamily="2" charset="-122"/>
            </a:endParaRPr>
          </a:p>
          <a:p>
            <a:pPr lvl="3" eaLnBrk="1" hangingPunct="1">
              <a:buSzTx/>
            </a:pPr>
            <a:r>
              <a:rPr lang="en-US" altLang="zh-CN" sz="2400" dirty="0"/>
              <a:t>bigint</a:t>
            </a:r>
            <a:br>
              <a:rPr lang="en-US" altLang="zh-CN" sz="2400" dirty="0"/>
            </a:br>
            <a:r>
              <a:rPr lang="zh-CN" altLang="en-US" sz="2400" dirty="0"/>
              <a:t>从 </a:t>
            </a:r>
            <a:r>
              <a:rPr lang="en-US" altLang="zh-CN" sz="2400" dirty="0"/>
              <a:t>-2^63 (-9223372036854775808) </a:t>
            </a:r>
            <a:r>
              <a:rPr lang="zh-CN" altLang="en-US" sz="2400" dirty="0"/>
              <a:t>到 </a:t>
            </a:r>
            <a:r>
              <a:rPr lang="en-US" altLang="zh-CN" sz="2400" dirty="0"/>
              <a:t>2^63-1 (9223372036854775807) </a:t>
            </a:r>
            <a:r>
              <a:rPr lang="zh-CN" altLang="en-US" sz="2400" dirty="0"/>
              <a:t>的整型数据。</a:t>
            </a:r>
            <a:endParaRPr lang="zh-CN" altLang="en-US" sz="2400" dirty="0"/>
          </a:p>
          <a:p>
            <a:pPr lvl="3" eaLnBrk="1" hangingPunct="1">
              <a:buSzTx/>
            </a:pPr>
            <a:r>
              <a:rPr lang="en-US" altLang="zh-CN" sz="2400" dirty="0">
                <a:solidFill>
                  <a:srgbClr val="FF0000"/>
                </a:solidFill>
              </a:rPr>
              <a:t>int</a:t>
            </a:r>
            <a:br>
              <a:rPr lang="en-US" altLang="zh-CN" sz="2400" dirty="0"/>
            </a:br>
            <a:r>
              <a:rPr lang="zh-CN" altLang="en-US" sz="2400" dirty="0"/>
              <a:t>从 </a:t>
            </a:r>
            <a:r>
              <a:rPr lang="en-US" altLang="zh-CN" sz="2400" dirty="0"/>
              <a:t>-2^31 (-2,147,483,648) </a:t>
            </a:r>
            <a:r>
              <a:rPr lang="zh-CN" altLang="en-US" sz="2400" dirty="0"/>
              <a:t>到 </a:t>
            </a:r>
            <a:r>
              <a:rPr lang="en-US" altLang="zh-CN" sz="2400" dirty="0"/>
              <a:t>2^31 - 1 (2,147,483,647) </a:t>
            </a:r>
            <a:r>
              <a:rPr lang="zh-CN" altLang="en-US" sz="2400" dirty="0"/>
              <a:t>的整型数据。</a:t>
            </a:r>
            <a:endParaRPr lang="zh-CN" altLang="en-US" sz="2400" dirty="0"/>
          </a:p>
          <a:p>
            <a:pPr lvl="3" eaLnBrk="1" hangingPunct="1">
              <a:buSzTx/>
            </a:pPr>
            <a:r>
              <a:rPr lang="en-US" altLang="zh-CN" sz="2400" dirty="0">
                <a:solidFill>
                  <a:srgbClr val="FF0000"/>
                </a:solidFill>
              </a:rPr>
              <a:t>smallint</a:t>
            </a:r>
            <a:br>
              <a:rPr lang="en-US" altLang="zh-CN" sz="2400" dirty="0">
                <a:solidFill>
                  <a:srgbClr val="FF0000"/>
                </a:solidFill>
              </a:rPr>
            </a:br>
            <a:r>
              <a:rPr lang="zh-CN" altLang="en-US" sz="2400" dirty="0"/>
              <a:t>从 </a:t>
            </a:r>
            <a:r>
              <a:rPr lang="en-US" altLang="zh-CN" sz="2400" dirty="0"/>
              <a:t>-2^15 (-32,768) </a:t>
            </a:r>
            <a:r>
              <a:rPr lang="zh-CN" altLang="en-US" sz="2400" dirty="0"/>
              <a:t>到 </a:t>
            </a:r>
            <a:r>
              <a:rPr lang="en-US" altLang="zh-CN" sz="2400" dirty="0"/>
              <a:t>2^15 - 1 (32,767) </a:t>
            </a:r>
            <a:r>
              <a:rPr lang="zh-CN" altLang="en-US" sz="2400" dirty="0"/>
              <a:t>的整数数据。</a:t>
            </a:r>
            <a:endParaRPr lang="zh-CN" altLang="en-US" sz="2400" dirty="0"/>
          </a:p>
          <a:p>
            <a:pPr lvl="3" eaLnBrk="1" hangingPunct="1">
              <a:buSzTx/>
            </a:pPr>
            <a:r>
              <a:rPr lang="en-US" altLang="zh-CN" sz="2400" dirty="0"/>
              <a:t>tinyint</a:t>
            </a:r>
            <a:br>
              <a:rPr lang="en-US" altLang="zh-CN" sz="2400" dirty="0"/>
            </a:br>
            <a:r>
              <a:rPr lang="zh-CN" altLang="en-US" sz="2400" dirty="0"/>
              <a:t>从 </a:t>
            </a:r>
            <a:r>
              <a:rPr lang="en-US" altLang="zh-CN" sz="2400" dirty="0"/>
              <a:t>0 </a:t>
            </a:r>
            <a:r>
              <a:rPr lang="zh-CN" altLang="en-US" sz="2400" dirty="0"/>
              <a:t>到 </a:t>
            </a:r>
            <a:r>
              <a:rPr lang="en-US" altLang="zh-CN" sz="2400" dirty="0"/>
              <a:t>255 </a:t>
            </a:r>
            <a:r>
              <a:rPr lang="zh-CN" altLang="en-US" sz="2400" dirty="0"/>
              <a:t>的整数数据。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945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3.2  </a:t>
            </a:r>
            <a:r>
              <a:rPr lang="zh-CN" altLang="en-US" u="sng" dirty="0"/>
              <a:t>数据定义</a:t>
            </a:r>
            <a:endParaRPr lang="zh-CN" altLang="en-US" u="sng" dirty="0"/>
          </a:p>
        </p:txBody>
      </p:sp>
      <p:sp>
        <p:nvSpPr>
          <p:cNvPr id="19460" name="Rectangle 3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15000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10000"/>
              </a:lnSpc>
            </a:pPr>
            <a:r>
              <a:rPr lang="en-US" altLang="zh-CN" sz="3200" dirty="0"/>
              <a:t>SQL Server</a:t>
            </a:r>
            <a:r>
              <a:rPr lang="zh-CN" altLang="en-US" sz="3200" dirty="0"/>
              <a:t>的数据类型</a:t>
            </a:r>
            <a:r>
              <a:rPr lang="en-US" altLang="zh-CN" sz="3200" dirty="0"/>
              <a:t>(</a:t>
            </a:r>
            <a:r>
              <a:rPr lang="zh-CN" altLang="en-US" sz="3200" dirty="0"/>
              <a:t>续</a:t>
            </a:r>
            <a:r>
              <a:rPr lang="en-US" altLang="zh-CN" sz="3200" dirty="0"/>
              <a:t>)</a:t>
            </a:r>
            <a:endParaRPr lang="en-US" altLang="zh-CN" sz="3200" dirty="0"/>
          </a:p>
          <a:p>
            <a:pPr lvl="1" eaLnBrk="1" hangingPunct="1"/>
            <a:r>
              <a:rPr lang="zh-CN" altLang="en-US" sz="2600" dirty="0"/>
              <a:t>精确数字</a:t>
            </a:r>
            <a:r>
              <a:rPr lang="en-US" altLang="zh-CN" sz="2600" dirty="0"/>
              <a:t>(</a:t>
            </a:r>
            <a:r>
              <a:rPr lang="zh-CN" altLang="en-US" sz="2600" dirty="0"/>
              <a:t>续</a:t>
            </a:r>
            <a:r>
              <a:rPr lang="en-US" altLang="zh-CN" sz="2600" dirty="0"/>
              <a:t>)</a:t>
            </a:r>
            <a:endParaRPr lang="en-US" altLang="zh-CN" sz="2600" dirty="0"/>
          </a:p>
          <a:p>
            <a:pPr lvl="2" eaLnBrk="1" hangingPunct="1"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altLang="zh-CN" dirty="0">
                <a:ea typeface="宋体" panose="02010600030101010101" pitchFamily="2" charset="-122"/>
              </a:rPr>
              <a:t>bit</a:t>
            </a:r>
            <a:endParaRPr lang="en-US" altLang="zh-CN" dirty="0">
              <a:ea typeface="宋体" panose="02010600030101010101" pitchFamily="2" charset="-122"/>
            </a:endParaRPr>
          </a:p>
          <a:p>
            <a:pPr lvl="3" eaLnBrk="1" hangingPunct="1">
              <a:buSzTx/>
              <a:buChar char="•"/>
            </a:pPr>
            <a:r>
              <a:rPr lang="en-US" altLang="zh-CN" sz="2400" dirty="0"/>
              <a:t>bit</a:t>
            </a:r>
            <a:br>
              <a:rPr lang="en-US" altLang="zh-CN" sz="2400" dirty="0"/>
            </a:br>
            <a:r>
              <a:rPr lang="en-US" altLang="zh-CN" sz="2400" dirty="0"/>
              <a:t>1 </a:t>
            </a:r>
            <a:r>
              <a:rPr lang="zh-CN" altLang="en-US" sz="2400" dirty="0"/>
              <a:t>或 </a:t>
            </a:r>
            <a:r>
              <a:rPr lang="en-US" altLang="zh-CN" sz="2400" dirty="0"/>
              <a:t>0 </a:t>
            </a:r>
            <a:r>
              <a:rPr lang="zh-CN" altLang="en-US" sz="2400" dirty="0"/>
              <a:t>的整数数据。</a:t>
            </a:r>
            <a:endParaRPr lang="zh-CN" altLang="en-US" sz="2400" dirty="0"/>
          </a:p>
          <a:p>
            <a:pPr lvl="2" eaLnBrk="1" hangingPunct="1"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altLang="zh-CN" dirty="0">
                <a:ea typeface="宋体" panose="02010600030101010101" pitchFamily="2" charset="-122"/>
              </a:rPr>
              <a:t>decimal </a:t>
            </a:r>
            <a:r>
              <a:rPr lang="zh-CN" altLang="en-US" dirty="0">
                <a:ea typeface="宋体" panose="02010600030101010101" pitchFamily="2" charset="-122"/>
              </a:rPr>
              <a:t>和 </a:t>
            </a:r>
            <a:r>
              <a:rPr lang="en-US" altLang="zh-CN" dirty="0">
                <a:ea typeface="宋体" panose="02010600030101010101" pitchFamily="2" charset="-122"/>
              </a:rPr>
              <a:t>numeric</a:t>
            </a:r>
            <a:endParaRPr lang="en-US" altLang="zh-CN" dirty="0">
              <a:ea typeface="宋体" panose="02010600030101010101" pitchFamily="2" charset="-122"/>
            </a:endParaRPr>
          </a:p>
          <a:p>
            <a:pPr lvl="3" eaLnBrk="1" hangingPunct="1">
              <a:buSzTx/>
            </a:pPr>
            <a:r>
              <a:rPr lang="en-US" altLang="zh-CN" sz="2400" dirty="0"/>
              <a:t>decimal</a:t>
            </a:r>
            <a:br>
              <a:rPr lang="en-US" altLang="zh-CN" sz="2400" dirty="0"/>
            </a:br>
            <a:r>
              <a:rPr lang="zh-CN" altLang="en-US" sz="2400" dirty="0"/>
              <a:t>从 </a:t>
            </a:r>
            <a:r>
              <a:rPr lang="en-US" altLang="zh-CN" sz="2400" dirty="0"/>
              <a:t>-10^38 +1 </a:t>
            </a:r>
            <a:r>
              <a:rPr lang="zh-CN" altLang="en-US" sz="2400" dirty="0"/>
              <a:t>到 </a:t>
            </a:r>
            <a:r>
              <a:rPr lang="en-US" altLang="zh-CN" sz="2400" dirty="0"/>
              <a:t>10^38 –1 </a:t>
            </a:r>
            <a:r>
              <a:rPr lang="zh-CN" altLang="en-US" sz="2400" dirty="0"/>
              <a:t>的固定精度和小数位的数字数据。</a:t>
            </a:r>
            <a:endParaRPr lang="zh-CN" altLang="en-US" sz="2400" dirty="0"/>
          </a:p>
          <a:p>
            <a:pPr lvl="3" eaLnBrk="1" hangingPunct="1">
              <a:buSzTx/>
            </a:pPr>
            <a:r>
              <a:rPr lang="en-US" altLang="zh-CN" sz="2400" dirty="0">
                <a:solidFill>
                  <a:srgbClr val="FF0000"/>
                </a:solidFill>
              </a:rPr>
              <a:t>numeric</a:t>
            </a:r>
            <a:br>
              <a:rPr lang="en-US" altLang="zh-CN" sz="2400" dirty="0"/>
            </a:br>
            <a:r>
              <a:rPr lang="zh-CN" altLang="en-US" sz="2400" dirty="0"/>
              <a:t>功能上等同于 </a:t>
            </a:r>
            <a:r>
              <a:rPr lang="en-US" altLang="zh-CN" sz="2400" dirty="0"/>
              <a:t>decimal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048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3.2  </a:t>
            </a:r>
            <a:r>
              <a:rPr lang="zh-CN" altLang="en-US" u="sng" dirty="0"/>
              <a:t>数据定义</a:t>
            </a:r>
            <a:endParaRPr lang="zh-CN" altLang="en-US" u="sng" dirty="0"/>
          </a:p>
        </p:txBody>
      </p:sp>
      <p:sp>
        <p:nvSpPr>
          <p:cNvPr id="20484" name="Rectangle 3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15000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10000"/>
              </a:lnSpc>
            </a:pPr>
            <a:r>
              <a:rPr lang="en-US" altLang="zh-CN" sz="3200" dirty="0"/>
              <a:t>SQL Server</a:t>
            </a:r>
            <a:r>
              <a:rPr lang="zh-CN" altLang="en-US" sz="3200" dirty="0"/>
              <a:t>的数据类型</a:t>
            </a:r>
            <a:r>
              <a:rPr lang="en-US" altLang="zh-CN" sz="3200" dirty="0"/>
              <a:t>(</a:t>
            </a:r>
            <a:r>
              <a:rPr lang="zh-CN" altLang="en-US" sz="3200" dirty="0"/>
              <a:t>续</a:t>
            </a:r>
            <a:r>
              <a:rPr lang="en-US" altLang="zh-CN" sz="3200" dirty="0"/>
              <a:t>)</a:t>
            </a:r>
            <a:endParaRPr lang="en-US" altLang="zh-CN" sz="3200" dirty="0"/>
          </a:p>
          <a:p>
            <a:pPr lvl="1" eaLnBrk="1" hangingPunct="1"/>
            <a:r>
              <a:rPr lang="zh-CN" altLang="en-US" sz="2600" dirty="0"/>
              <a:t>精确数字</a:t>
            </a:r>
            <a:r>
              <a:rPr lang="en-US" altLang="zh-CN" sz="2600" dirty="0"/>
              <a:t>(</a:t>
            </a:r>
            <a:r>
              <a:rPr lang="zh-CN" altLang="en-US" sz="2600" dirty="0"/>
              <a:t>续</a:t>
            </a:r>
            <a:r>
              <a:rPr lang="en-US" altLang="zh-CN" sz="2600" dirty="0"/>
              <a:t>)</a:t>
            </a:r>
            <a:endParaRPr lang="en-US" altLang="zh-CN" sz="2600" dirty="0"/>
          </a:p>
          <a:p>
            <a:pPr lvl="2" eaLnBrk="1" hangingPunct="1"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altLang="zh-CN" dirty="0">
                <a:ea typeface="宋体" panose="02010600030101010101" pitchFamily="2" charset="-122"/>
              </a:rPr>
              <a:t>money </a:t>
            </a:r>
            <a:r>
              <a:rPr lang="zh-CN" altLang="en-US" dirty="0">
                <a:ea typeface="宋体" panose="02010600030101010101" pitchFamily="2" charset="-122"/>
              </a:rPr>
              <a:t>和 </a:t>
            </a:r>
            <a:r>
              <a:rPr lang="en-US" altLang="zh-CN" dirty="0">
                <a:ea typeface="宋体" panose="02010600030101010101" pitchFamily="2" charset="-122"/>
              </a:rPr>
              <a:t>smallmoney</a:t>
            </a:r>
            <a:endParaRPr lang="en-US" altLang="zh-CN" dirty="0">
              <a:ea typeface="宋体" panose="02010600030101010101" pitchFamily="2" charset="-122"/>
            </a:endParaRPr>
          </a:p>
          <a:p>
            <a:pPr lvl="3" eaLnBrk="1" hangingPunct="1">
              <a:buSzTx/>
            </a:pPr>
            <a:r>
              <a:rPr lang="en-US" altLang="zh-CN" sz="2400" dirty="0">
                <a:solidFill>
                  <a:srgbClr val="FF0000"/>
                </a:solidFill>
              </a:rPr>
              <a:t>money</a:t>
            </a:r>
            <a:br>
              <a:rPr lang="en-US" altLang="zh-CN" sz="2400" dirty="0"/>
            </a:br>
            <a:r>
              <a:rPr lang="zh-CN" altLang="en-US" sz="2400" dirty="0"/>
              <a:t>货币数据值介于 </a:t>
            </a:r>
            <a:r>
              <a:rPr lang="en-US" altLang="zh-CN" sz="2400" dirty="0"/>
              <a:t>-2^63 (-922,337,203,685,477.5808) </a:t>
            </a:r>
            <a:r>
              <a:rPr lang="zh-CN" altLang="en-US" sz="2400" dirty="0"/>
              <a:t>与 </a:t>
            </a:r>
            <a:r>
              <a:rPr lang="en-US" altLang="zh-CN" sz="2400" dirty="0"/>
              <a:t>2^63 - 1 (+922,337,203,685,477.5807) </a:t>
            </a:r>
            <a:r>
              <a:rPr lang="zh-CN" altLang="en-US" sz="2400" dirty="0"/>
              <a:t>之间，精确到货币单位的千分之十。</a:t>
            </a:r>
            <a:endParaRPr lang="zh-CN" altLang="en-US" sz="2400" dirty="0"/>
          </a:p>
          <a:p>
            <a:pPr lvl="3" eaLnBrk="1" hangingPunct="1">
              <a:buSzTx/>
            </a:pPr>
            <a:r>
              <a:rPr lang="en-US" altLang="zh-CN" sz="2400" dirty="0"/>
              <a:t>smallmoney</a:t>
            </a:r>
            <a:br>
              <a:rPr lang="en-US" altLang="zh-CN" sz="2400" dirty="0"/>
            </a:br>
            <a:r>
              <a:rPr lang="zh-CN" altLang="en-US" sz="2400" dirty="0"/>
              <a:t>货币数据值介于 </a:t>
            </a:r>
            <a:r>
              <a:rPr lang="en-US" altLang="zh-CN" sz="2400" dirty="0"/>
              <a:t>-214,748.3648 </a:t>
            </a:r>
            <a:r>
              <a:rPr lang="zh-CN" altLang="en-US" sz="2400" dirty="0"/>
              <a:t>与 </a:t>
            </a:r>
            <a:r>
              <a:rPr lang="en-US" altLang="zh-CN" sz="2400" dirty="0"/>
              <a:t>+214,748.3647 </a:t>
            </a:r>
            <a:r>
              <a:rPr lang="zh-CN" altLang="en-US" sz="2400" dirty="0"/>
              <a:t>之间，精确到货币单位的千分之十。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150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3.2  </a:t>
            </a:r>
            <a:r>
              <a:rPr lang="zh-CN" altLang="en-US" u="sng" dirty="0"/>
              <a:t>数据定义</a:t>
            </a:r>
            <a:endParaRPr lang="zh-CN" altLang="en-US" u="sng" dirty="0"/>
          </a:p>
        </p:txBody>
      </p:sp>
      <p:sp>
        <p:nvSpPr>
          <p:cNvPr id="21508" name="Rectangle 3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15000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10000"/>
              </a:lnSpc>
            </a:pPr>
            <a:r>
              <a:rPr lang="en-US" altLang="zh-CN" sz="3200" dirty="0"/>
              <a:t>SQL Server</a:t>
            </a:r>
            <a:r>
              <a:rPr lang="zh-CN" altLang="en-US" sz="3200" dirty="0"/>
              <a:t>的数据类型</a:t>
            </a:r>
            <a:r>
              <a:rPr lang="en-US" altLang="zh-CN" sz="3200" dirty="0"/>
              <a:t>(</a:t>
            </a:r>
            <a:r>
              <a:rPr lang="zh-CN" altLang="en-US" sz="3200" dirty="0"/>
              <a:t>续</a:t>
            </a:r>
            <a:r>
              <a:rPr lang="en-US" altLang="zh-CN" sz="3200" dirty="0"/>
              <a:t>)</a:t>
            </a:r>
            <a:endParaRPr lang="en-US" altLang="zh-CN" sz="32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600" dirty="0"/>
              <a:t>近似数字</a:t>
            </a:r>
            <a:endParaRPr lang="zh-CN" altLang="en-US" sz="2600" dirty="0"/>
          </a:p>
          <a:p>
            <a:pPr lvl="2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altLang="zh-CN" sz="2600" dirty="0">
                <a:ea typeface="宋体" panose="02010600030101010101" pitchFamily="2" charset="-122"/>
              </a:rPr>
              <a:t>float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lvl="3" eaLnBrk="1" hangingPunct="1">
              <a:lnSpc>
                <a:spcPct val="9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600" dirty="0"/>
              <a:t>从 </a:t>
            </a:r>
            <a:r>
              <a:rPr lang="en-US" altLang="zh-CN" sz="2600" dirty="0"/>
              <a:t>-1.79E + 308 </a:t>
            </a:r>
            <a:r>
              <a:rPr lang="zh-CN" altLang="en-US" sz="2600" dirty="0"/>
              <a:t>到 </a:t>
            </a:r>
            <a:r>
              <a:rPr lang="en-US" altLang="zh-CN" sz="2600" dirty="0"/>
              <a:t>1.79E + 308 </a:t>
            </a:r>
            <a:r>
              <a:rPr lang="zh-CN" altLang="en-US" sz="2600" dirty="0"/>
              <a:t>的浮点精度数字。</a:t>
            </a:r>
            <a:endParaRPr lang="zh-CN" altLang="en-US" sz="2600" dirty="0"/>
          </a:p>
          <a:p>
            <a:pPr lvl="2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altLang="zh-CN" sz="2600" dirty="0">
                <a:ea typeface="宋体" panose="02010600030101010101" pitchFamily="2" charset="-122"/>
              </a:rPr>
              <a:t>real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lvl="3" eaLnBrk="1" hangingPunct="1">
              <a:lnSpc>
                <a:spcPct val="9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600" dirty="0"/>
              <a:t>从 </a:t>
            </a:r>
            <a:r>
              <a:rPr lang="en-US" altLang="zh-CN" sz="2600" dirty="0"/>
              <a:t>-3.40E + 38 </a:t>
            </a:r>
            <a:r>
              <a:rPr lang="zh-CN" altLang="en-US" sz="2600" dirty="0"/>
              <a:t>到 </a:t>
            </a:r>
            <a:r>
              <a:rPr lang="en-US" altLang="zh-CN" sz="2600" dirty="0"/>
              <a:t>3.40E + 38 </a:t>
            </a:r>
            <a:r>
              <a:rPr lang="zh-CN" altLang="en-US" sz="2600" dirty="0"/>
              <a:t>的浮点精度数字。</a:t>
            </a:r>
            <a:endParaRPr lang="zh-CN" altLang="en-US" sz="26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600" dirty="0"/>
              <a:t>datetime </a:t>
            </a:r>
            <a:r>
              <a:rPr lang="zh-CN" altLang="en-US" sz="2600" dirty="0"/>
              <a:t>和 </a:t>
            </a:r>
            <a:r>
              <a:rPr lang="en-US" altLang="zh-CN" sz="2600" dirty="0"/>
              <a:t>smalldatetime</a:t>
            </a:r>
            <a:endParaRPr lang="en-US" altLang="zh-CN" sz="2600" dirty="0"/>
          </a:p>
          <a:p>
            <a:pPr lvl="2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altLang="zh-CN" sz="2600" dirty="0">
                <a:solidFill>
                  <a:srgbClr val="FF0000"/>
                </a:solidFill>
                <a:ea typeface="宋体" panose="02010600030101010101" pitchFamily="2" charset="-122"/>
              </a:rPr>
              <a:t>datetime</a:t>
            </a:r>
            <a:br>
              <a:rPr lang="en-US" altLang="zh-CN" sz="2600" dirty="0">
                <a:solidFill>
                  <a:srgbClr val="FF0000"/>
                </a:solidFill>
                <a:ea typeface="宋体" panose="02010600030101010101" pitchFamily="2" charset="-122"/>
              </a:rPr>
            </a:br>
            <a:r>
              <a:rPr lang="zh-CN" altLang="en-US" sz="2600" dirty="0">
                <a:ea typeface="宋体" panose="02010600030101010101" pitchFamily="2" charset="-122"/>
              </a:rPr>
              <a:t>从 </a:t>
            </a:r>
            <a:r>
              <a:rPr lang="en-US" altLang="zh-CN" sz="2600" dirty="0">
                <a:ea typeface="宋体" panose="02010600030101010101" pitchFamily="2" charset="-122"/>
              </a:rPr>
              <a:t>1753 </a:t>
            </a:r>
            <a:r>
              <a:rPr lang="zh-CN" altLang="en-US" sz="2600" dirty="0">
                <a:ea typeface="宋体" panose="02010600030101010101" pitchFamily="2" charset="-122"/>
              </a:rPr>
              <a:t>年 </a:t>
            </a:r>
            <a:r>
              <a:rPr lang="en-US" altLang="zh-CN" sz="2600" dirty="0">
                <a:ea typeface="宋体" panose="02010600030101010101" pitchFamily="2" charset="-122"/>
              </a:rPr>
              <a:t>1 </a:t>
            </a:r>
            <a:r>
              <a:rPr lang="zh-CN" altLang="en-US" sz="2600" dirty="0">
                <a:ea typeface="宋体" panose="02010600030101010101" pitchFamily="2" charset="-122"/>
              </a:rPr>
              <a:t>月 </a:t>
            </a:r>
            <a:r>
              <a:rPr lang="en-US" altLang="zh-CN" sz="2600" dirty="0">
                <a:ea typeface="宋体" panose="02010600030101010101" pitchFamily="2" charset="-122"/>
              </a:rPr>
              <a:t>1 </a:t>
            </a:r>
            <a:r>
              <a:rPr lang="zh-CN" altLang="en-US" sz="2600" dirty="0">
                <a:ea typeface="宋体" panose="02010600030101010101" pitchFamily="2" charset="-122"/>
              </a:rPr>
              <a:t>日到 </a:t>
            </a:r>
            <a:r>
              <a:rPr lang="en-US" altLang="zh-CN" sz="2600" dirty="0">
                <a:ea typeface="宋体" panose="02010600030101010101" pitchFamily="2" charset="-122"/>
              </a:rPr>
              <a:t>9999 </a:t>
            </a:r>
            <a:r>
              <a:rPr lang="zh-CN" altLang="en-US" sz="2600" dirty="0">
                <a:ea typeface="宋体" panose="02010600030101010101" pitchFamily="2" charset="-122"/>
              </a:rPr>
              <a:t>年 </a:t>
            </a:r>
            <a:r>
              <a:rPr lang="en-US" altLang="zh-CN" sz="2600" dirty="0">
                <a:ea typeface="宋体" panose="02010600030101010101" pitchFamily="2" charset="-122"/>
              </a:rPr>
              <a:t>12 </a:t>
            </a:r>
            <a:r>
              <a:rPr lang="zh-CN" altLang="en-US" sz="2600" dirty="0">
                <a:ea typeface="宋体" panose="02010600030101010101" pitchFamily="2" charset="-122"/>
              </a:rPr>
              <a:t>月 </a:t>
            </a:r>
            <a:r>
              <a:rPr lang="en-US" altLang="zh-CN" sz="2600" dirty="0">
                <a:ea typeface="宋体" panose="02010600030101010101" pitchFamily="2" charset="-122"/>
              </a:rPr>
              <a:t>31 </a:t>
            </a:r>
            <a:r>
              <a:rPr lang="zh-CN" altLang="en-US" sz="2600" dirty="0">
                <a:ea typeface="宋体" panose="02010600030101010101" pitchFamily="2" charset="-122"/>
              </a:rPr>
              <a:t>日的日期和时间数据，精确到百分之三秒（或 </a:t>
            </a:r>
            <a:r>
              <a:rPr lang="en-US" altLang="zh-CN" sz="2600" dirty="0">
                <a:ea typeface="宋体" panose="02010600030101010101" pitchFamily="2" charset="-122"/>
              </a:rPr>
              <a:t>3.33 </a:t>
            </a:r>
            <a:r>
              <a:rPr lang="zh-CN" altLang="en-US" sz="2600" dirty="0">
                <a:ea typeface="宋体" panose="02010600030101010101" pitchFamily="2" charset="-122"/>
              </a:rPr>
              <a:t>毫秒）。</a:t>
            </a:r>
            <a:endParaRPr lang="zh-CN" altLang="en-US" sz="2600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altLang="zh-CN" sz="2600" dirty="0">
                <a:ea typeface="宋体" panose="02010600030101010101" pitchFamily="2" charset="-122"/>
              </a:rPr>
              <a:t>smalldatetime</a:t>
            </a:r>
            <a:br>
              <a:rPr lang="en-US" altLang="zh-CN" sz="2600" dirty="0">
                <a:ea typeface="宋体" panose="02010600030101010101" pitchFamily="2" charset="-122"/>
              </a:rPr>
            </a:br>
            <a:r>
              <a:rPr lang="zh-CN" altLang="en-US" sz="2600" dirty="0">
                <a:ea typeface="宋体" panose="02010600030101010101" pitchFamily="2" charset="-122"/>
              </a:rPr>
              <a:t>从 </a:t>
            </a:r>
            <a:r>
              <a:rPr lang="en-US" altLang="zh-CN" sz="2600" dirty="0">
                <a:ea typeface="宋体" panose="02010600030101010101" pitchFamily="2" charset="-122"/>
              </a:rPr>
              <a:t>1900 </a:t>
            </a:r>
            <a:r>
              <a:rPr lang="zh-CN" altLang="en-US" sz="2600" dirty="0">
                <a:ea typeface="宋体" panose="02010600030101010101" pitchFamily="2" charset="-122"/>
              </a:rPr>
              <a:t>年 </a:t>
            </a:r>
            <a:r>
              <a:rPr lang="en-US" altLang="zh-CN" sz="2600" dirty="0">
                <a:ea typeface="宋体" panose="02010600030101010101" pitchFamily="2" charset="-122"/>
              </a:rPr>
              <a:t>1 </a:t>
            </a:r>
            <a:r>
              <a:rPr lang="zh-CN" altLang="en-US" sz="2600" dirty="0">
                <a:ea typeface="宋体" panose="02010600030101010101" pitchFamily="2" charset="-122"/>
              </a:rPr>
              <a:t>月 </a:t>
            </a:r>
            <a:r>
              <a:rPr lang="en-US" altLang="zh-CN" sz="2600" dirty="0">
                <a:ea typeface="宋体" panose="02010600030101010101" pitchFamily="2" charset="-122"/>
              </a:rPr>
              <a:t>1 </a:t>
            </a:r>
            <a:r>
              <a:rPr lang="zh-CN" altLang="en-US" sz="2600" dirty="0">
                <a:ea typeface="宋体" panose="02010600030101010101" pitchFamily="2" charset="-122"/>
              </a:rPr>
              <a:t>日到 </a:t>
            </a:r>
            <a:r>
              <a:rPr lang="en-US" altLang="zh-CN" sz="2600" dirty="0">
                <a:ea typeface="宋体" panose="02010600030101010101" pitchFamily="2" charset="-122"/>
              </a:rPr>
              <a:t>2079 </a:t>
            </a:r>
            <a:r>
              <a:rPr lang="zh-CN" altLang="en-US" sz="2600" dirty="0">
                <a:ea typeface="宋体" panose="02010600030101010101" pitchFamily="2" charset="-122"/>
              </a:rPr>
              <a:t>年 </a:t>
            </a:r>
            <a:r>
              <a:rPr lang="en-US" altLang="zh-CN" sz="2600" dirty="0">
                <a:ea typeface="宋体" panose="02010600030101010101" pitchFamily="2" charset="-122"/>
              </a:rPr>
              <a:t>6 </a:t>
            </a:r>
            <a:r>
              <a:rPr lang="zh-CN" altLang="en-US" sz="2600" dirty="0">
                <a:ea typeface="宋体" panose="02010600030101010101" pitchFamily="2" charset="-122"/>
              </a:rPr>
              <a:t>月 </a:t>
            </a:r>
            <a:r>
              <a:rPr lang="en-US" altLang="zh-CN" sz="2600" dirty="0">
                <a:ea typeface="宋体" panose="02010600030101010101" pitchFamily="2" charset="-122"/>
              </a:rPr>
              <a:t>6 </a:t>
            </a:r>
            <a:r>
              <a:rPr lang="zh-CN" altLang="en-US" sz="2600" dirty="0">
                <a:ea typeface="宋体" panose="02010600030101010101" pitchFamily="2" charset="-122"/>
              </a:rPr>
              <a:t>日的日期和时间数据，精确到分钟。</a:t>
            </a:r>
            <a:endParaRPr lang="zh-CN" altLang="en-US" sz="26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253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3.2  </a:t>
            </a:r>
            <a:r>
              <a:rPr lang="zh-CN" altLang="en-US" u="sng" dirty="0"/>
              <a:t>数据定义</a:t>
            </a:r>
            <a:endParaRPr lang="zh-CN" altLang="en-US" u="sng" dirty="0"/>
          </a:p>
        </p:txBody>
      </p:sp>
      <p:sp>
        <p:nvSpPr>
          <p:cNvPr id="22532" name="Rectangle 3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15000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10000"/>
              </a:lnSpc>
            </a:pPr>
            <a:r>
              <a:rPr lang="en-US" altLang="zh-CN" sz="3200" dirty="0"/>
              <a:t>SQL Server</a:t>
            </a:r>
            <a:r>
              <a:rPr lang="zh-CN" altLang="en-US" sz="3200" dirty="0"/>
              <a:t>的数据类型</a:t>
            </a:r>
            <a:r>
              <a:rPr lang="en-US" altLang="zh-CN" sz="3200" dirty="0"/>
              <a:t>(</a:t>
            </a:r>
            <a:r>
              <a:rPr lang="zh-CN" altLang="en-US" sz="3200" dirty="0"/>
              <a:t>续</a:t>
            </a:r>
            <a:r>
              <a:rPr lang="en-US" altLang="zh-CN" sz="3200" dirty="0"/>
              <a:t>)</a:t>
            </a:r>
            <a:endParaRPr lang="en-US" altLang="zh-CN" sz="3200" dirty="0"/>
          </a:p>
          <a:p>
            <a:pPr lvl="1" eaLnBrk="1" hangingPunct="1"/>
            <a:r>
              <a:rPr lang="zh-CN" altLang="en-US" sz="2600" dirty="0"/>
              <a:t>字符串</a:t>
            </a:r>
            <a:endParaRPr lang="zh-CN" altLang="en-US" sz="2600" dirty="0"/>
          </a:p>
          <a:p>
            <a:pPr lvl="2" eaLnBrk="1" hangingPunct="1"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altLang="zh-CN" sz="2600" dirty="0">
                <a:solidFill>
                  <a:srgbClr val="FF0000"/>
                </a:solidFill>
                <a:ea typeface="宋体" panose="02010600030101010101" pitchFamily="2" charset="-122"/>
              </a:rPr>
              <a:t>char</a:t>
            </a:r>
            <a:br>
              <a:rPr lang="en-US" altLang="zh-CN" sz="2600" dirty="0">
                <a:ea typeface="宋体" panose="02010600030101010101" pitchFamily="2" charset="-122"/>
              </a:rPr>
            </a:br>
            <a:r>
              <a:rPr lang="zh-CN" altLang="en-US" sz="2600" dirty="0">
                <a:ea typeface="宋体" panose="02010600030101010101" pitchFamily="2" charset="-122"/>
              </a:rPr>
              <a:t>固定长度的非 </a:t>
            </a:r>
            <a:r>
              <a:rPr lang="en-US" altLang="zh-CN" sz="2600" dirty="0">
                <a:ea typeface="宋体" panose="02010600030101010101" pitchFamily="2" charset="-122"/>
              </a:rPr>
              <a:t>Unicode </a:t>
            </a:r>
            <a:r>
              <a:rPr lang="zh-CN" altLang="en-US" sz="2600" dirty="0">
                <a:ea typeface="宋体" panose="02010600030101010101" pitchFamily="2" charset="-122"/>
              </a:rPr>
              <a:t>字符数据，最大长度为 </a:t>
            </a:r>
            <a:r>
              <a:rPr lang="en-US" altLang="zh-CN" sz="2600" dirty="0">
                <a:ea typeface="宋体" panose="02010600030101010101" pitchFamily="2" charset="-122"/>
              </a:rPr>
              <a:t>8,000 </a:t>
            </a:r>
            <a:r>
              <a:rPr lang="zh-CN" altLang="en-US" sz="2600" dirty="0">
                <a:ea typeface="宋体" panose="02010600030101010101" pitchFamily="2" charset="-122"/>
              </a:rPr>
              <a:t>个字符。</a:t>
            </a:r>
            <a:endParaRPr lang="zh-CN" altLang="en-US" sz="2600" dirty="0">
              <a:ea typeface="宋体" panose="02010600030101010101" pitchFamily="2" charset="-122"/>
            </a:endParaRPr>
          </a:p>
          <a:p>
            <a:pPr lvl="2" eaLnBrk="1" hangingPunct="1"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altLang="zh-CN" sz="2600" dirty="0">
                <a:solidFill>
                  <a:srgbClr val="FF0000"/>
                </a:solidFill>
                <a:ea typeface="宋体" panose="02010600030101010101" pitchFamily="2" charset="-122"/>
              </a:rPr>
              <a:t>varchar</a:t>
            </a:r>
            <a:br>
              <a:rPr lang="en-US" altLang="zh-CN" sz="2600" dirty="0">
                <a:ea typeface="宋体" panose="02010600030101010101" pitchFamily="2" charset="-122"/>
              </a:rPr>
            </a:br>
            <a:r>
              <a:rPr lang="zh-CN" altLang="en-US" sz="2600" dirty="0">
                <a:ea typeface="宋体" panose="02010600030101010101" pitchFamily="2" charset="-122"/>
              </a:rPr>
              <a:t>可变长度的非 </a:t>
            </a:r>
            <a:r>
              <a:rPr lang="en-US" altLang="zh-CN" sz="2600" dirty="0">
                <a:ea typeface="宋体" panose="02010600030101010101" pitchFamily="2" charset="-122"/>
              </a:rPr>
              <a:t>Unicode </a:t>
            </a:r>
            <a:r>
              <a:rPr lang="zh-CN" altLang="en-US" sz="2600" dirty="0">
                <a:ea typeface="宋体" panose="02010600030101010101" pitchFamily="2" charset="-122"/>
              </a:rPr>
              <a:t>数据，最长为 </a:t>
            </a:r>
            <a:r>
              <a:rPr lang="en-US" altLang="zh-CN" sz="2600" dirty="0">
                <a:ea typeface="宋体" panose="02010600030101010101" pitchFamily="2" charset="-122"/>
              </a:rPr>
              <a:t>8,000 </a:t>
            </a:r>
            <a:r>
              <a:rPr lang="zh-CN" altLang="en-US" sz="2600" dirty="0">
                <a:ea typeface="宋体" panose="02010600030101010101" pitchFamily="2" charset="-122"/>
              </a:rPr>
              <a:t>个字符。</a:t>
            </a:r>
            <a:endParaRPr lang="zh-CN" altLang="en-US" sz="2600" dirty="0">
              <a:ea typeface="宋体" panose="02010600030101010101" pitchFamily="2" charset="-122"/>
            </a:endParaRPr>
          </a:p>
          <a:p>
            <a:pPr lvl="2" eaLnBrk="1" hangingPunct="1"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altLang="zh-CN" sz="2600" dirty="0">
                <a:ea typeface="宋体" panose="02010600030101010101" pitchFamily="2" charset="-122"/>
              </a:rPr>
              <a:t>text</a:t>
            </a:r>
            <a:br>
              <a:rPr lang="en-US" altLang="zh-CN" sz="2600" dirty="0">
                <a:ea typeface="宋体" panose="02010600030101010101" pitchFamily="2" charset="-122"/>
              </a:rPr>
            </a:br>
            <a:r>
              <a:rPr lang="zh-CN" altLang="en-US" sz="2600" dirty="0">
                <a:ea typeface="宋体" panose="02010600030101010101" pitchFamily="2" charset="-122"/>
              </a:rPr>
              <a:t>可变长度的非 </a:t>
            </a:r>
            <a:r>
              <a:rPr lang="en-US" altLang="zh-CN" sz="2600" dirty="0">
                <a:ea typeface="宋体" panose="02010600030101010101" pitchFamily="2" charset="-122"/>
              </a:rPr>
              <a:t>Unicode </a:t>
            </a:r>
            <a:r>
              <a:rPr lang="zh-CN" altLang="en-US" sz="2600" dirty="0">
                <a:ea typeface="宋体" panose="02010600030101010101" pitchFamily="2" charset="-122"/>
              </a:rPr>
              <a:t>数据，最大长度为 </a:t>
            </a:r>
            <a:r>
              <a:rPr lang="en-US" altLang="zh-CN" sz="2600" dirty="0">
                <a:ea typeface="宋体" panose="02010600030101010101" pitchFamily="2" charset="-122"/>
              </a:rPr>
              <a:t>2^31 - 1 (2,147,483,647) </a:t>
            </a:r>
            <a:r>
              <a:rPr lang="zh-CN" altLang="en-US" sz="2600" dirty="0">
                <a:ea typeface="宋体" panose="02010600030101010101" pitchFamily="2" charset="-122"/>
              </a:rPr>
              <a:t>个字符。</a:t>
            </a:r>
            <a:endParaRPr lang="zh-CN" altLang="en-US" sz="26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355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3.2  </a:t>
            </a:r>
            <a:r>
              <a:rPr lang="zh-CN" altLang="en-US" u="sng" dirty="0"/>
              <a:t>数据定义</a:t>
            </a:r>
            <a:endParaRPr lang="zh-CN" altLang="en-US" u="sng" dirty="0"/>
          </a:p>
        </p:txBody>
      </p:sp>
      <p:sp>
        <p:nvSpPr>
          <p:cNvPr id="23556" name="Rectangle 3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15000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10000"/>
              </a:lnSpc>
            </a:pPr>
            <a:r>
              <a:rPr lang="en-US" altLang="zh-CN" sz="3200" dirty="0"/>
              <a:t>SQL Server 2000</a:t>
            </a:r>
            <a:r>
              <a:rPr lang="zh-CN" altLang="en-US" sz="3200" dirty="0"/>
              <a:t>的数据类型</a:t>
            </a:r>
            <a:r>
              <a:rPr lang="en-US" altLang="zh-CN" sz="3200" dirty="0"/>
              <a:t>(</a:t>
            </a:r>
            <a:r>
              <a:rPr lang="zh-CN" altLang="en-US" sz="3200" dirty="0"/>
              <a:t>续</a:t>
            </a:r>
            <a:r>
              <a:rPr lang="en-US" altLang="zh-CN" sz="3200" dirty="0"/>
              <a:t>)</a:t>
            </a:r>
            <a:endParaRPr lang="en-US" altLang="zh-CN" sz="3200" dirty="0"/>
          </a:p>
          <a:p>
            <a:pPr lvl="1" eaLnBrk="1" hangingPunct="1"/>
            <a:r>
              <a:rPr lang="en-US" altLang="zh-CN" sz="2600" dirty="0"/>
              <a:t>unicode </a:t>
            </a:r>
            <a:r>
              <a:rPr lang="zh-CN" altLang="en-US" sz="2600" dirty="0"/>
              <a:t>字符串</a:t>
            </a:r>
            <a:endParaRPr lang="zh-CN" altLang="en-US" sz="2600" dirty="0"/>
          </a:p>
          <a:p>
            <a:pPr lvl="2" eaLnBrk="1" hangingPunct="1"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altLang="zh-CN" sz="2600" dirty="0">
                <a:ea typeface="宋体" panose="02010600030101010101" pitchFamily="2" charset="-122"/>
              </a:rPr>
              <a:t>nchar</a:t>
            </a:r>
            <a:br>
              <a:rPr lang="en-US" altLang="zh-CN" sz="2600" dirty="0">
                <a:ea typeface="宋体" panose="02010600030101010101" pitchFamily="2" charset="-122"/>
              </a:rPr>
            </a:br>
            <a:r>
              <a:rPr lang="zh-CN" altLang="en-US" sz="2600" dirty="0">
                <a:ea typeface="宋体" panose="02010600030101010101" pitchFamily="2" charset="-122"/>
              </a:rPr>
              <a:t>固定长度的 </a:t>
            </a:r>
            <a:r>
              <a:rPr lang="en-US" altLang="zh-CN" sz="2600" dirty="0">
                <a:ea typeface="宋体" panose="02010600030101010101" pitchFamily="2" charset="-122"/>
              </a:rPr>
              <a:t>Unicode </a:t>
            </a:r>
            <a:r>
              <a:rPr lang="zh-CN" altLang="en-US" sz="2600" dirty="0">
                <a:ea typeface="宋体" panose="02010600030101010101" pitchFamily="2" charset="-122"/>
              </a:rPr>
              <a:t>数据，最大长度为 </a:t>
            </a:r>
            <a:r>
              <a:rPr lang="en-US" altLang="zh-CN" sz="2600" dirty="0">
                <a:ea typeface="宋体" panose="02010600030101010101" pitchFamily="2" charset="-122"/>
              </a:rPr>
              <a:t>4,000 </a:t>
            </a:r>
            <a:r>
              <a:rPr lang="zh-CN" altLang="en-US" sz="2600" dirty="0">
                <a:ea typeface="宋体" panose="02010600030101010101" pitchFamily="2" charset="-122"/>
              </a:rPr>
              <a:t>个字符。 </a:t>
            </a:r>
            <a:endParaRPr lang="zh-CN" altLang="en-US" sz="2600" dirty="0">
              <a:ea typeface="宋体" panose="02010600030101010101" pitchFamily="2" charset="-122"/>
            </a:endParaRPr>
          </a:p>
          <a:p>
            <a:pPr lvl="2" eaLnBrk="1" hangingPunct="1"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altLang="zh-CN" sz="2600" dirty="0">
                <a:ea typeface="宋体" panose="02010600030101010101" pitchFamily="2" charset="-122"/>
              </a:rPr>
              <a:t>nvarchar</a:t>
            </a:r>
            <a:br>
              <a:rPr lang="en-US" altLang="zh-CN" sz="2600" dirty="0">
                <a:ea typeface="宋体" panose="02010600030101010101" pitchFamily="2" charset="-122"/>
              </a:rPr>
            </a:br>
            <a:r>
              <a:rPr lang="zh-CN" altLang="en-US" sz="2600" dirty="0">
                <a:ea typeface="宋体" panose="02010600030101010101" pitchFamily="2" charset="-122"/>
              </a:rPr>
              <a:t>可变长度 </a:t>
            </a:r>
            <a:r>
              <a:rPr lang="en-US" altLang="zh-CN" sz="2600" dirty="0">
                <a:ea typeface="宋体" panose="02010600030101010101" pitchFamily="2" charset="-122"/>
              </a:rPr>
              <a:t>Unicode </a:t>
            </a:r>
            <a:r>
              <a:rPr lang="zh-CN" altLang="en-US" sz="2600" dirty="0">
                <a:ea typeface="宋体" panose="02010600030101010101" pitchFamily="2" charset="-122"/>
              </a:rPr>
              <a:t>数据，其最大长度为 </a:t>
            </a:r>
            <a:r>
              <a:rPr lang="en-US" altLang="zh-CN" sz="2600" dirty="0">
                <a:ea typeface="宋体" panose="02010600030101010101" pitchFamily="2" charset="-122"/>
              </a:rPr>
              <a:t>4,000 </a:t>
            </a:r>
            <a:r>
              <a:rPr lang="zh-CN" altLang="en-US" sz="2600" dirty="0">
                <a:ea typeface="宋体" panose="02010600030101010101" pitchFamily="2" charset="-122"/>
              </a:rPr>
              <a:t>字符。</a:t>
            </a:r>
            <a:r>
              <a:rPr lang="en-US" altLang="zh-CN" sz="2600" dirty="0">
                <a:ea typeface="宋体" panose="02010600030101010101" pitchFamily="2" charset="-122"/>
              </a:rPr>
              <a:t>sysname </a:t>
            </a:r>
            <a:r>
              <a:rPr lang="zh-CN" altLang="en-US" sz="2600" dirty="0">
                <a:ea typeface="宋体" panose="02010600030101010101" pitchFamily="2" charset="-122"/>
              </a:rPr>
              <a:t>是系统提供用户定义的数据类型，在功能上等同于 </a:t>
            </a:r>
            <a:r>
              <a:rPr lang="en-US" altLang="zh-CN" sz="2600" dirty="0">
                <a:ea typeface="宋体" panose="02010600030101010101" pitchFamily="2" charset="-122"/>
              </a:rPr>
              <a:t>nvarchar(128)</a:t>
            </a:r>
            <a:r>
              <a:rPr lang="zh-CN" altLang="en-US" sz="2600" dirty="0">
                <a:ea typeface="宋体" panose="02010600030101010101" pitchFamily="2" charset="-122"/>
              </a:rPr>
              <a:t>，用于引用数据库对象名。</a:t>
            </a:r>
            <a:endParaRPr lang="zh-CN" altLang="en-US" sz="2600" dirty="0">
              <a:ea typeface="宋体" panose="02010600030101010101" pitchFamily="2" charset="-122"/>
            </a:endParaRPr>
          </a:p>
          <a:p>
            <a:pPr lvl="2" eaLnBrk="1" hangingPunct="1"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altLang="zh-CN" sz="2600" dirty="0">
                <a:ea typeface="宋体" panose="02010600030101010101" pitchFamily="2" charset="-122"/>
              </a:rPr>
              <a:t>ntext</a:t>
            </a:r>
            <a:br>
              <a:rPr lang="en-US" altLang="zh-CN" sz="2600" dirty="0">
                <a:ea typeface="宋体" panose="02010600030101010101" pitchFamily="2" charset="-122"/>
              </a:rPr>
            </a:br>
            <a:r>
              <a:rPr lang="zh-CN" altLang="en-US" sz="2600" dirty="0">
                <a:ea typeface="宋体" panose="02010600030101010101" pitchFamily="2" charset="-122"/>
              </a:rPr>
              <a:t>可变长度 </a:t>
            </a:r>
            <a:r>
              <a:rPr lang="en-US" altLang="zh-CN" sz="2600" dirty="0">
                <a:ea typeface="宋体" panose="02010600030101010101" pitchFamily="2" charset="-122"/>
              </a:rPr>
              <a:t>Unicode </a:t>
            </a:r>
            <a:r>
              <a:rPr lang="zh-CN" altLang="en-US" sz="2600" dirty="0">
                <a:ea typeface="宋体" panose="02010600030101010101" pitchFamily="2" charset="-122"/>
              </a:rPr>
              <a:t>数据，其最大长度为 </a:t>
            </a:r>
            <a:r>
              <a:rPr lang="en-US" altLang="zh-CN" sz="2600" dirty="0">
                <a:ea typeface="宋体" panose="02010600030101010101" pitchFamily="2" charset="-122"/>
              </a:rPr>
              <a:t>2^30 - 1 (1,073,741,823) </a:t>
            </a:r>
            <a:r>
              <a:rPr lang="zh-CN" altLang="en-US" sz="2600" dirty="0">
                <a:ea typeface="宋体" panose="02010600030101010101" pitchFamily="2" charset="-122"/>
              </a:rPr>
              <a:t>个字符。</a:t>
            </a:r>
            <a:endParaRPr lang="zh-CN" altLang="en-US" sz="26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457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3.2  </a:t>
            </a:r>
            <a:r>
              <a:rPr lang="zh-CN" altLang="en-US" u="sng" dirty="0"/>
              <a:t>数据定义</a:t>
            </a:r>
            <a:endParaRPr lang="zh-CN" altLang="en-US" u="sng" dirty="0"/>
          </a:p>
        </p:txBody>
      </p:sp>
      <p:sp>
        <p:nvSpPr>
          <p:cNvPr id="24580" name="Rectangle 3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15000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10000"/>
              </a:lnSpc>
            </a:pPr>
            <a:r>
              <a:rPr lang="en-US" altLang="zh-CN" sz="3200" dirty="0"/>
              <a:t>SQL Server</a:t>
            </a:r>
            <a:r>
              <a:rPr lang="zh-CN" altLang="en-US" sz="3200" dirty="0"/>
              <a:t>的数据类型</a:t>
            </a:r>
            <a:r>
              <a:rPr lang="en-US" altLang="zh-CN" sz="3200" dirty="0"/>
              <a:t>(</a:t>
            </a:r>
            <a:r>
              <a:rPr lang="zh-CN" altLang="en-US" sz="3200" dirty="0"/>
              <a:t>续</a:t>
            </a:r>
            <a:r>
              <a:rPr lang="en-US" altLang="zh-CN" sz="3200" dirty="0"/>
              <a:t>)</a:t>
            </a:r>
            <a:endParaRPr lang="en-US" altLang="zh-CN" sz="3200" dirty="0"/>
          </a:p>
          <a:p>
            <a:pPr lvl="1" eaLnBrk="1" hangingPunct="1"/>
            <a:r>
              <a:rPr lang="zh-CN" altLang="en-US" sz="2600" dirty="0"/>
              <a:t>二进制字符串</a:t>
            </a:r>
            <a:endParaRPr lang="zh-CN" altLang="en-US" sz="2600" dirty="0"/>
          </a:p>
          <a:p>
            <a:pPr lvl="2" eaLnBrk="1" hangingPunct="1"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altLang="zh-CN" sz="2600" dirty="0">
                <a:ea typeface="宋体" panose="02010600030101010101" pitchFamily="2" charset="-122"/>
              </a:rPr>
              <a:t>binary</a:t>
            </a:r>
            <a:br>
              <a:rPr lang="en-US" altLang="zh-CN" sz="2600" dirty="0">
                <a:ea typeface="宋体" panose="02010600030101010101" pitchFamily="2" charset="-122"/>
              </a:rPr>
            </a:br>
            <a:r>
              <a:rPr lang="zh-CN" altLang="en-US" sz="2600" dirty="0">
                <a:ea typeface="宋体" panose="02010600030101010101" pitchFamily="2" charset="-122"/>
              </a:rPr>
              <a:t>固定长度的二进制数据，其最大长度为 </a:t>
            </a:r>
            <a:r>
              <a:rPr lang="en-US" altLang="zh-CN" sz="2600" dirty="0">
                <a:ea typeface="宋体" panose="02010600030101010101" pitchFamily="2" charset="-122"/>
              </a:rPr>
              <a:t>8,000 </a:t>
            </a:r>
            <a:r>
              <a:rPr lang="zh-CN" altLang="en-US" sz="2600" dirty="0">
                <a:ea typeface="宋体" panose="02010600030101010101" pitchFamily="2" charset="-122"/>
              </a:rPr>
              <a:t>个字节。</a:t>
            </a:r>
            <a:endParaRPr lang="zh-CN" altLang="en-US" sz="2600" dirty="0">
              <a:ea typeface="宋体" panose="02010600030101010101" pitchFamily="2" charset="-122"/>
            </a:endParaRPr>
          </a:p>
          <a:p>
            <a:pPr lvl="2" eaLnBrk="1" hangingPunct="1"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altLang="zh-CN" sz="2600" dirty="0">
                <a:ea typeface="宋体" panose="02010600030101010101" pitchFamily="2" charset="-122"/>
              </a:rPr>
              <a:t>varbinary</a:t>
            </a:r>
            <a:br>
              <a:rPr lang="en-US" altLang="zh-CN" sz="2600" dirty="0">
                <a:ea typeface="宋体" panose="02010600030101010101" pitchFamily="2" charset="-122"/>
              </a:rPr>
            </a:br>
            <a:r>
              <a:rPr lang="zh-CN" altLang="en-US" sz="2600" dirty="0">
                <a:ea typeface="宋体" panose="02010600030101010101" pitchFamily="2" charset="-122"/>
              </a:rPr>
              <a:t>可变长度的二进制数据，其最大长度为 </a:t>
            </a:r>
            <a:r>
              <a:rPr lang="en-US" altLang="zh-CN" sz="2600" dirty="0">
                <a:ea typeface="宋体" panose="02010600030101010101" pitchFamily="2" charset="-122"/>
              </a:rPr>
              <a:t>8,000 </a:t>
            </a:r>
            <a:r>
              <a:rPr lang="zh-CN" altLang="en-US" sz="2600" dirty="0">
                <a:ea typeface="宋体" panose="02010600030101010101" pitchFamily="2" charset="-122"/>
              </a:rPr>
              <a:t>个字节。</a:t>
            </a:r>
            <a:endParaRPr lang="zh-CN" altLang="en-US" sz="2600" dirty="0">
              <a:ea typeface="宋体" panose="02010600030101010101" pitchFamily="2" charset="-122"/>
            </a:endParaRPr>
          </a:p>
          <a:p>
            <a:pPr lvl="2" eaLnBrk="1" hangingPunct="1"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altLang="zh-CN" sz="2600" dirty="0">
                <a:ea typeface="宋体" panose="02010600030101010101" pitchFamily="2" charset="-122"/>
              </a:rPr>
              <a:t>image</a:t>
            </a:r>
            <a:br>
              <a:rPr lang="en-US" altLang="zh-CN" sz="2600" dirty="0">
                <a:ea typeface="宋体" panose="02010600030101010101" pitchFamily="2" charset="-122"/>
              </a:rPr>
            </a:br>
            <a:r>
              <a:rPr lang="zh-CN" altLang="en-US" sz="2600" dirty="0">
                <a:ea typeface="宋体" panose="02010600030101010101" pitchFamily="2" charset="-122"/>
              </a:rPr>
              <a:t>可变长度的二进制数据，其最大长度为 </a:t>
            </a:r>
            <a:r>
              <a:rPr lang="en-US" altLang="zh-CN" sz="2600" dirty="0">
                <a:ea typeface="宋体" panose="02010600030101010101" pitchFamily="2" charset="-122"/>
              </a:rPr>
              <a:t>2^31 - 1 (2,147,483,647) </a:t>
            </a:r>
            <a:r>
              <a:rPr lang="zh-CN" altLang="en-US" sz="2600" dirty="0">
                <a:ea typeface="宋体" panose="02010600030101010101" pitchFamily="2" charset="-122"/>
              </a:rPr>
              <a:t>个字节。</a:t>
            </a:r>
            <a:endParaRPr lang="zh-CN" altLang="en-US" sz="26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560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3.2  </a:t>
            </a:r>
            <a:r>
              <a:rPr lang="zh-CN" altLang="en-US" u="sng" dirty="0"/>
              <a:t>数据定义</a:t>
            </a:r>
            <a:endParaRPr lang="zh-CN" altLang="en-US" u="sng" dirty="0"/>
          </a:p>
        </p:txBody>
      </p:sp>
      <p:sp>
        <p:nvSpPr>
          <p:cNvPr id="25604" name="Rectangle 3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15000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1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数据库的创建与删除</a:t>
            </a:r>
            <a:endParaRPr lang="zh-CN" altLang="en-US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sz="2200" dirty="0"/>
              <a:t>   </a:t>
            </a:r>
            <a:r>
              <a:rPr lang="en-US" altLang="zh-CN" sz="2200" b="0" dirty="0">
                <a:solidFill>
                  <a:schemeClr val="accent2"/>
                </a:solidFill>
                <a:latin typeface="Arial" panose="020B0604020202020204" pitchFamily="34" charset="0"/>
              </a:rPr>
              <a:t>Create Database / Drop Database</a:t>
            </a:r>
            <a:endParaRPr lang="en-US" altLang="zh-CN" sz="2200" b="0" dirty="0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200" dirty="0">
                <a:solidFill>
                  <a:srgbClr val="FF0000"/>
                </a:solidFill>
              </a:rPr>
              <a:t>语法</a:t>
            </a:r>
            <a:r>
              <a:rPr lang="en-US" altLang="zh-CN" sz="2200" dirty="0">
                <a:solidFill>
                  <a:srgbClr val="FF0000"/>
                </a:solidFill>
              </a:rPr>
              <a:t>: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1400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             </a:t>
            </a:r>
            <a:r>
              <a:rPr lang="en-US" altLang="zh-CN" sz="2000" b="0" dirty="0">
                <a:solidFill>
                  <a:schemeClr val="accent2"/>
                </a:solidFill>
                <a:latin typeface="Arial" panose="020B0604020202020204" pitchFamily="34" charset="0"/>
                <a:ea typeface="楷体_GB2312" pitchFamily="49" charset="-122"/>
              </a:rPr>
              <a:t>CREATE DATABASE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000" i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数据库名 </a:t>
            </a:r>
            <a:b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</a:b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          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[</a:t>
            </a:r>
            <a:r>
              <a:rPr lang="en-US" altLang="zh-CN" sz="2000" dirty="0">
                <a:solidFill>
                  <a:schemeClr val="accent2"/>
                </a:solidFill>
                <a:latin typeface="Arial" panose="020B0604020202020204" pitchFamily="34" charset="0"/>
                <a:ea typeface="楷体_GB2312" pitchFamily="49" charset="-122"/>
              </a:rPr>
              <a:t> ON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b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</a:b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           [ &lt; 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文件 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&gt; [ ,...</a:t>
            </a:r>
            <a:r>
              <a:rPr lang="en-US" altLang="zh-CN" sz="2000" i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n 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] ]   [ , &lt; 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文件组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&gt; [ ,...</a:t>
            </a:r>
            <a:r>
              <a:rPr lang="en-US" altLang="zh-CN" sz="2000" i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n 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] ] ] </a:t>
            </a:r>
            <a:b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</a:b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          [ </a:t>
            </a:r>
            <a:r>
              <a:rPr lang="en-US" altLang="zh-CN" sz="2000" dirty="0">
                <a:solidFill>
                  <a:schemeClr val="accent2"/>
                </a:solidFill>
                <a:latin typeface="Arial" panose="020B0604020202020204" pitchFamily="34" charset="0"/>
                <a:ea typeface="楷体_GB2312" pitchFamily="49" charset="-122"/>
              </a:rPr>
              <a:t>LOG ON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{ &lt; 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文件 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&gt; [ ,...</a:t>
            </a:r>
            <a:r>
              <a:rPr lang="en-US" altLang="zh-CN" sz="2000" i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n 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] } ] </a:t>
            </a:r>
            <a:b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</a:b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	    &lt; 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文件 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&gt; ::=     ( [ </a:t>
            </a:r>
            <a:r>
              <a:rPr lang="en-US" altLang="zh-CN" sz="2000" dirty="0">
                <a:solidFill>
                  <a:schemeClr val="accent2"/>
                </a:solidFill>
                <a:latin typeface="Arial" panose="020B0604020202020204" pitchFamily="34" charset="0"/>
                <a:ea typeface="楷体_GB2312" pitchFamily="49" charset="-122"/>
              </a:rPr>
              <a:t>NAME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= </a:t>
            </a:r>
            <a:r>
              <a:rPr lang="zh-CN" altLang="en-US" sz="2000" i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逻辑文件名 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, ]</a:t>
            </a:r>
            <a:b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</a:b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          </a:t>
            </a:r>
            <a:r>
              <a:rPr lang="en-US" altLang="zh-CN" sz="2000" dirty="0">
                <a:solidFill>
                  <a:schemeClr val="accent2"/>
                </a:solidFill>
                <a:latin typeface="Arial" panose="020B0604020202020204" pitchFamily="34" charset="0"/>
                <a:ea typeface="楷体_GB2312" pitchFamily="49" charset="-122"/>
              </a:rPr>
              <a:t>FILENAME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= ‘</a:t>
            </a:r>
            <a:r>
              <a:rPr lang="zh-CN" altLang="en-US" sz="2000" i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物理文件名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’</a:t>
            </a:r>
            <a:b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</a:b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        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[ , </a:t>
            </a:r>
            <a:r>
              <a:rPr lang="en-US" altLang="zh-CN" sz="2000" dirty="0">
                <a:solidFill>
                  <a:schemeClr val="accent2"/>
                </a:solidFill>
                <a:latin typeface="Arial" panose="020B0604020202020204" pitchFamily="34" charset="0"/>
                <a:ea typeface="楷体_GB2312" pitchFamily="49" charset="-122"/>
              </a:rPr>
              <a:t>SIZE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= </a:t>
            </a:r>
            <a:r>
              <a:rPr lang="zh-CN" altLang="en-US" sz="2000" i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文件初始大小 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]</a:t>
            </a:r>
            <a:b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</a:b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        [ , </a:t>
            </a:r>
            <a:r>
              <a:rPr lang="en-US" altLang="zh-CN" sz="2000" dirty="0">
                <a:solidFill>
                  <a:schemeClr val="accent2"/>
                </a:solidFill>
                <a:latin typeface="Arial" panose="020B0604020202020204" pitchFamily="34" charset="0"/>
                <a:ea typeface="楷体_GB2312" pitchFamily="49" charset="-122"/>
              </a:rPr>
              <a:t>MAXSIZE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= { </a:t>
            </a:r>
            <a:r>
              <a:rPr lang="zh-CN" altLang="en-US" sz="2000" i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文件最大大小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| </a:t>
            </a:r>
            <a:r>
              <a:rPr lang="en-US" altLang="zh-CN" sz="2000" dirty="0">
                <a:solidFill>
                  <a:schemeClr val="accent2"/>
                </a:solidFill>
                <a:latin typeface="Arial" panose="020B0604020202020204" pitchFamily="34" charset="0"/>
                <a:ea typeface="楷体_GB2312" pitchFamily="49" charset="-122"/>
              </a:rPr>
              <a:t>UNLIMITED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} ]</a:t>
            </a:r>
            <a:b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</a:b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        [ , </a:t>
            </a:r>
            <a:r>
              <a:rPr lang="en-US" altLang="zh-CN" sz="2000" dirty="0">
                <a:solidFill>
                  <a:schemeClr val="accent2"/>
                </a:solidFill>
                <a:latin typeface="Arial" panose="020B0604020202020204" pitchFamily="34" charset="0"/>
                <a:ea typeface="楷体_GB2312" pitchFamily="49" charset="-122"/>
              </a:rPr>
              <a:t>FILEGROWTH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= </a:t>
            </a:r>
            <a:r>
              <a:rPr lang="zh-CN" altLang="en-US" sz="2000" i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增量值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] ) [ ,...</a:t>
            </a:r>
            <a:r>
              <a:rPr lang="en-US" altLang="zh-CN" sz="2000" i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]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         &lt;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文件组 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&gt; ::= </a:t>
            </a:r>
            <a:r>
              <a:rPr lang="en-US" altLang="zh-CN" sz="2000" dirty="0">
                <a:solidFill>
                  <a:schemeClr val="accent2"/>
                </a:solidFill>
                <a:latin typeface="Arial" panose="020B0604020202020204" pitchFamily="34" charset="0"/>
                <a:ea typeface="楷体_GB2312" pitchFamily="49" charset="-122"/>
              </a:rPr>
              <a:t>FILEGROUP </a:t>
            </a:r>
            <a:r>
              <a:rPr lang="zh-CN" altLang="en-US" sz="2000" i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组名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&lt; 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文件 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&gt; [ ,...</a:t>
            </a:r>
            <a:r>
              <a:rPr lang="en-US" altLang="zh-CN" sz="2000" i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]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662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3.2  </a:t>
            </a:r>
            <a:r>
              <a:rPr lang="zh-CN" altLang="en-US" u="sng" dirty="0"/>
              <a:t>数据定义</a:t>
            </a:r>
            <a:endParaRPr lang="zh-CN" altLang="en-US" u="sng" dirty="0"/>
          </a:p>
        </p:txBody>
      </p:sp>
      <p:sp>
        <p:nvSpPr>
          <p:cNvPr id="26628" name="Rectangle 3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762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</a:pPr>
            <a:r>
              <a:rPr lang="en-US" altLang="zh-CN" sz="3600" dirty="0">
                <a:solidFill>
                  <a:schemeClr val="tx1"/>
                </a:solidFill>
              </a:rPr>
              <a:t>Create Database </a:t>
            </a:r>
            <a:r>
              <a:rPr lang="zh-CN" altLang="en-US" sz="3600" dirty="0">
                <a:solidFill>
                  <a:schemeClr val="tx1"/>
                </a:solidFill>
              </a:rPr>
              <a:t>示例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26629" name="Text Box 4"/>
          <p:cNvSpPr txBox="1"/>
          <p:nvPr/>
        </p:nvSpPr>
        <p:spPr>
          <a:xfrm>
            <a:off x="685800" y="1600200"/>
            <a:ext cx="7086600" cy="46640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CREATE DATABASE 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</a:rPr>
              <a:t>[example]</a:t>
            </a:r>
            <a:r>
              <a:rPr lang="en-US" altLang="zh-CN" sz="2000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  ON </a:t>
            </a:r>
            <a:endParaRPr lang="en-US" altLang="zh-CN" sz="2000" dirty="0">
              <a:solidFill>
                <a:srgbClr val="0000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(NAME = 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</a:rPr>
              <a:t>'example_Data'</a:t>
            </a:r>
            <a:r>
              <a:rPr lang="en-US" altLang="zh-CN" sz="2000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,</a:t>
            </a:r>
            <a:endParaRPr lang="en-US" altLang="zh-CN" sz="2000" dirty="0">
              <a:solidFill>
                <a:srgbClr val="0000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 FILENAME = 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</a:rPr>
              <a:t>'C:\Program Files\Microsoft SQLServer\MSSQL\data\example_Data.MDF'</a:t>
            </a:r>
            <a:r>
              <a:rPr lang="en-US" altLang="zh-CN" sz="2000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 , </a:t>
            </a:r>
            <a:endParaRPr lang="en-US" altLang="zh-CN" sz="2000" dirty="0">
              <a:solidFill>
                <a:srgbClr val="0000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SIZE = 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en-US" altLang="zh-CN" sz="2000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, </a:t>
            </a:r>
            <a:endParaRPr lang="en-US" altLang="zh-CN" sz="2000" dirty="0">
              <a:solidFill>
                <a:srgbClr val="0000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FILEGROWTH = 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</a:rPr>
              <a:t>10%</a:t>
            </a:r>
            <a:r>
              <a:rPr lang="en-US" altLang="zh-CN" sz="2000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) </a:t>
            </a:r>
            <a:endParaRPr lang="en-US" altLang="zh-CN" sz="2000" dirty="0">
              <a:solidFill>
                <a:srgbClr val="0000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LOG ON </a:t>
            </a:r>
            <a:endParaRPr lang="en-US" altLang="zh-CN" sz="2000" dirty="0">
              <a:solidFill>
                <a:srgbClr val="0000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(NAME = 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</a:rPr>
              <a:t>'example_Log'</a:t>
            </a:r>
            <a:r>
              <a:rPr lang="en-US" altLang="zh-CN" sz="2000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, </a:t>
            </a:r>
            <a:endParaRPr lang="en-US" altLang="zh-CN" sz="2000" dirty="0">
              <a:solidFill>
                <a:srgbClr val="0000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FILENAME =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</a:rPr>
              <a:t>'C:\Program Files\Microsoft SQL Server\MSSQL\data\example_Log.LDF'</a:t>
            </a:r>
            <a:r>
              <a:rPr lang="en-US" altLang="zh-CN" sz="2000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 , SIZE = 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en-US" altLang="zh-CN" sz="2000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, </a:t>
            </a:r>
            <a:endParaRPr lang="en-US" altLang="zh-CN" sz="2000" dirty="0">
              <a:solidFill>
                <a:srgbClr val="0000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spcBef>
                <a:spcPct val="5000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99"/>
                </a:solidFill>
                <a:latin typeface="Arial" panose="020B0604020202020204" pitchFamily="34" charset="0"/>
                <a:ea typeface="楷体_GB2312" pitchFamily="49" charset="-122"/>
              </a:rPr>
              <a:t>FILEGROWTH = 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</a:rPr>
              <a:t>10%)</a:t>
            </a:r>
            <a:endParaRPr lang="en-US" altLang="zh-CN" sz="2000" dirty="0">
              <a:solidFill>
                <a:srgbClr val="0000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765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3.2  </a:t>
            </a:r>
            <a:r>
              <a:rPr lang="zh-CN" altLang="en-US" u="sng" dirty="0"/>
              <a:t>数据定义</a:t>
            </a:r>
            <a:endParaRPr lang="zh-CN" altLang="en-US" u="sng" dirty="0"/>
          </a:p>
        </p:txBody>
      </p:sp>
      <p:sp>
        <p:nvSpPr>
          <p:cNvPr id="27652" name="Rectangle 3"/>
          <p:cNvSpPr>
            <a:spLocks noGrp="1"/>
          </p:cNvSpPr>
          <p:nvPr>
            <p:ph idx="1"/>
          </p:nvPr>
        </p:nvSpPr>
        <p:spPr>
          <a:xfrm>
            <a:off x="228600" y="1676400"/>
            <a:ext cx="8686800" cy="2514600"/>
          </a:xfrm>
          <a:ln/>
        </p:spPr>
        <p:txBody>
          <a:bodyPr vert="horz" wrap="square" lIns="91440" tIns="45720" rIns="91440" bIns="45720" anchor="t" anchorCtr="0"/>
          <a:p>
            <a:pPr lvl="1" eaLnBrk="1" hangingPunct="1"/>
            <a:r>
              <a:rPr lang="en-US" altLang="zh-CN" sz="360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3.2.1 </a:t>
            </a:r>
            <a:r>
              <a:rPr lang="zh-CN" altLang="en-US" sz="360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表的定义、删除与修改</a:t>
            </a:r>
            <a:endParaRPr lang="zh-CN" altLang="en-US" sz="3600" dirty="0">
              <a:solidFill>
                <a:srgbClr val="FF0000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lvl="1" eaLnBrk="1" hangingPunct="1"/>
            <a:r>
              <a:rPr lang="en-US" altLang="zh-CN" sz="3600" dirty="0">
                <a:latin typeface="Arial" panose="020B0604020202020204" pitchFamily="34" charset="0"/>
                <a:ea typeface="楷体_GB2312" pitchFamily="49" charset="-122"/>
              </a:rPr>
              <a:t>3.2.2 </a:t>
            </a:r>
            <a:r>
              <a:rPr lang="zh-CN" altLang="en-US" sz="3600" dirty="0">
                <a:latin typeface="Arial" panose="020B0604020202020204" pitchFamily="34" charset="0"/>
                <a:ea typeface="楷体_GB2312" pitchFamily="49" charset="-122"/>
              </a:rPr>
              <a:t>建立与删除索引</a:t>
            </a:r>
            <a:endParaRPr lang="zh-CN" altLang="en-US" sz="3600" dirty="0"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867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3.2.1  </a:t>
            </a:r>
            <a:r>
              <a:rPr lang="zh-CN" altLang="en-US" u="sng" dirty="0"/>
              <a:t>表的定义、删除与修改</a:t>
            </a:r>
            <a:endParaRPr lang="zh-CN" altLang="en-US" u="sng" dirty="0"/>
          </a:p>
        </p:txBody>
      </p:sp>
      <p:sp>
        <p:nvSpPr>
          <p:cNvPr id="28676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5334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Clr>
                <a:srgbClr val="0000FF"/>
              </a:buClr>
            </a:pPr>
            <a:r>
              <a:rPr lang="en-US" altLang="zh-CN" sz="2800" dirty="0"/>
              <a:t>1. </a:t>
            </a:r>
            <a:r>
              <a:rPr lang="zh-CN" altLang="en-US" sz="2800" dirty="0"/>
              <a:t>基本表的定义</a:t>
            </a:r>
            <a:r>
              <a:rPr lang="en-US" altLang="zh-CN" sz="2800" dirty="0"/>
              <a:t>(</a:t>
            </a:r>
            <a:r>
              <a:rPr lang="zh-CN" altLang="en-US" sz="2800" dirty="0"/>
              <a:t>创建</a:t>
            </a:r>
            <a:r>
              <a:rPr lang="en-US" altLang="zh-CN" sz="2800" dirty="0"/>
              <a:t>)</a:t>
            </a:r>
            <a:br>
              <a:rPr lang="en-US" altLang="zh-CN" sz="2800" dirty="0"/>
            </a:br>
            <a:r>
              <a:rPr lang="en-US" altLang="zh-CN" sz="2400" i="1" dirty="0">
                <a:solidFill>
                  <a:schemeClr val="accent2"/>
                </a:solidFill>
              </a:rPr>
              <a:t>create  table</a:t>
            </a:r>
            <a:r>
              <a:rPr lang="en-US" altLang="zh-CN" sz="2400" dirty="0">
                <a:solidFill>
                  <a:schemeClr val="tx1"/>
                </a:solidFill>
              </a:rPr>
              <a:t>   &lt;</a:t>
            </a:r>
            <a:r>
              <a:rPr lang="zh-CN" altLang="en-US" sz="2400" dirty="0">
                <a:solidFill>
                  <a:schemeClr val="tx1"/>
                </a:solidFill>
              </a:rPr>
              <a:t>表名</a:t>
            </a:r>
            <a:r>
              <a:rPr lang="en-US" altLang="zh-CN" sz="2400" dirty="0">
                <a:solidFill>
                  <a:schemeClr val="tx1"/>
                </a:solidFill>
              </a:rPr>
              <a:t>&gt;</a:t>
            </a: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sz="2400" dirty="0"/>
              <a:t>          </a:t>
            </a:r>
            <a:r>
              <a:rPr lang="en-US" altLang="zh-CN" sz="2400" dirty="0"/>
              <a:t>&lt;</a:t>
            </a:r>
            <a:r>
              <a:rPr lang="zh-CN" altLang="en-US" sz="2400" dirty="0"/>
              <a:t>列名</a:t>
            </a:r>
            <a:r>
              <a:rPr lang="en-US" altLang="zh-CN" sz="2400" dirty="0"/>
              <a:t>&gt; &lt; </a:t>
            </a:r>
            <a:r>
              <a:rPr lang="zh-CN" altLang="en-US" sz="2400" dirty="0"/>
              <a:t>数据类型</a:t>
            </a:r>
            <a:r>
              <a:rPr lang="en-US" altLang="zh-CN" sz="2400" dirty="0"/>
              <a:t>&gt;  [</a:t>
            </a:r>
            <a:r>
              <a:rPr lang="zh-CN" altLang="en-US" sz="2400" i="1" dirty="0"/>
              <a:t>列级完整性约束条件</a:t>
            </a:r>
            <a:r>
              <a:rPr lang="en-US" altLang="zh-CN" sz="2400" dirty="0"/>
              <a:t>]</a:t>
            </a:r>
            <a:endParaRPr lang="en-US" altLang="zh-CN" sz="2400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2400" dirty="0"/>
              <a:t>          [</a:t>
            </a:r>
            <a:r>
              <a:rPr lang="zh-CN" altLang="en-US" sz="2400" dirty="0"/>
              <a:t>，</a:t>
            </a:r>
            <a:r>
              <a:rPr lang="en-US" altLang="zh-CN" sz="2400" dirty="0"/>
              <a:t>&lt;</a:t>
            </a:r>
            <a:r>
              <a:rPr lang="zh-CN" altLang="en-US" sz="2400" dirty="0"/>
              <a:t>列名</a:t>
            </a:r>
            <a:r>
              <a:rPr lang="en-US" altLang="zh-CN" sz="2400" dirty="0"/>
              <a:t>&gt; &lt;</a:t>
            </a:r>
            <a:r>
              <a:rPr lang="zh-CN" altLang="en-US" sz="2400" dirty="0"/>
              <a:t>数据类型</a:t>
            </a:r>
            <a:r>
              <a:rPr lang="en-US" altLang="zh-CN" sz="2400" dirty="0"/>
              <a:t>&gt;  [</a:t>
            </a:r>
            <a:r>
              <a:rPr lang="zh-CN" altLang="en-US" sz="2400" i="1" dirty="0"/>
              <a:t>列级完整性约束条件</a:t>
            </a:r>
            <a:r>
              <a:rPr lang="en-US" altLang="zh-CN" sz="2400" dirty="0"/>
              <a:t>]]</a:t>
            </a:r>
            <a:endParaRPr lang="en-US" altLang="zh-CN" sz="2400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2400" dirty="0"/>
              <a:t>          ……</a:t>
            </a:r>
            <a:endParaRPr lang="en-US" altLang="zh-CN" sz="2400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2400" dirty="0"/>
              <a:t>		    [</a:t>
            </a:r>
            <a:r>
              <a:rPr lang="zh-CN" altLang="en-US" sz="2400" dirty="0"/>
              <a:t>，</a:t>
            </a:r>
            <a:r>
              <a:rPr lang="en-US" altLang="zh-CN" sz="2400" dirty="0"/>
              <a:t>&lt;</a:t>
            </a:r>
            <a:r>
              <a:rPr lang="zh-CN" altLang="en-US" sz="2400" dirty="0"/>
              <a:t>表级完整性约束条件</a:t>
            </a:r>
            <a:r>
              <a:rPr lang="en-US" altLang="zh-CN" sz="2400" dirty="0"/>
              <a:t>&gt;]</a:t>
            </a:r>
            <a:endParaRPr lang="en-US" altLang="zh-CN" sz="2400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2400" dirty="0"/>
              <a:t>		    </a:t>
            </a:r>
            <a:r>
              <a:rPr lang="zh-CN" altLang="en-US" sz="2400" dirty="0"/>
              <a:t>）</a:t>
            </a:r>
            <a:endParaRPr lang="zh-CN" altLang="en-US" sz="2400" dirty="0"/>
          </a:p>
          <a:p>
            <a:pPr lvl="1" algn="just" eaLnBrk="1" hangingPunct="1">
              <a:lnSpc>
                <a:spcPct val="120000"/>
              </a:lnSpc>
            </a:pPr>
            <a:r>
              <a:rPr lang="en-US" altLang="zh-CN" sz="2000" dirty="0">
                <a:solidFill>
                  <a:schemeClr val="accent2"/>
                </a:solidFill>
              </a:rPr>
              <a:t>&lt;</a:t>
            </a:r>
            <a:r>
              <a:rPr lang="zh-CN" altLang="en-US" sz="2000" dirty="0">
                <a:solidFill>
                  <a:schemeClr val="accent2"/>
                </a:solidFill>
              </a:rPr>
              <a:t>表名</a:t>
            </a:r>
            <a:r>
              <a:rPr lang="en-US" altLang="zh-CN" sz="2000" dirty="0">
                <a:solidFill>
                  <a:schemeClr val="accent2"/>
                </a:solidFill>
              </a:rPr>
              <a:t>&gt;</a:t>
            </a:r>
            <a:r>
              <a:rPr lang="zh-CN" altLang="en-US" sz="2000" dirty="0"/>
              <a:t>：所要定义的基本表的名字</a:t>
            </a:r>
            <a:endParaRPr lang="zh-CN" altLang="en-US" sz="2000" dirty="0"/>
          </a:p>
          <a:p>
            <a:pPr lvl="1" algn="just" eaLnBrk="1" hangingPunct="1">
              <a:lnSpc>
                <a:spcPct val="120000"/>
              </a:lnSpc>
            </a:pPr>
            <a:r>
              <a:rPr lang="en-US" altLang="zh-CN" sz="2000" dirty="0">
                <a:solidFill>
                  <a:schemeClr val="accent2"/>
                </a:solidFill>
              </a:rPr>
              <a:t>&lt;</a:t>
            </a:r>
            <a:r>
              <a:rPr lang="zh-CN" altLang="en-US" sz="2000" dirty="0">
                <a:solidFill>
                  <a:schemeClr val="accent2"/>
                </a:solidFill>
              </a:rPr>
              <a:t>列名</a:t>
            </a:r>
            <a:r>
              <a:rPr lang="en-US" altLang="zh-CN" sz="2000" dirty="0">
                <a:solidFill>
                  <a:schemeClr val="accent2"/>
                </a:solidFill>
              </a:rPr>
              <a:t>&gt;</a:t>
            </a:r>
            <a:r>
              <a:rPr lang="zh-CN" altLang="en-US" sz="2000" dirty="0"/>
              <a:t>：组成该表的各个属性（列）</a:t>
            </a:r>
            <a:endParaRPr lang="zh-CN" altLang="en-US" sz="2000" dirty="0"/>
          </a:p>
          <a:p>
            <a:pPr lvl="1" algn="just" eaLnBrk="1" hangingPunct="1">
              <a:lnSpc>
                <a:spcPct val="120000"/>
              </a:lnSpc>
            </a:pPr>
            <a:r>
              <a:rPr lang="en-US" altLang="zh-CN" sz="2000" dirty="0">
                <a:solidFill>
                  <a:schemeClr val="accent2"/>
                </a:solidFill>
              </a:rPr>
              <a:t>&lt;</a:t>
            </a:r>
            <a:r>
              <a:rPr lang="zh-CN" altLang="en-US" sz="2000" dirty="0">
                <a:solidFill>
                  <a:schemeClr val="accent2"/>
                </a:solidFill>
              </a:rPr>
              <a:t>列级完整性约束条件</a:t>
            </a:r>
            <a:r>
              <a:rPr lang="en-US" altLang="zh-CN" sz="2000" dirty="0">
                <a:solidFill>
                  <a:schemeClr val="accent2"/>
                </a:solidFill>
              </a:rPr>
              <a:t>&gt;</a:t>
            </a:r>
            <a:r>
              <a:rPr lang="zh-CN" altLang="en-US" sz="2000" dirty="0">
                <a:solidFill>
                  <a:schemeClr val="accent2"/>
                </a:solidFill>
              </a:rPr>
              <a:t>：</a:t>
            </a:r>
            <a:r>
              <a:rPr lang="zh-CN" altLang="en-US" sz="2000" dirty="0"/>
              <a:t>涉及相应属性列的完整性约束条件</a:t>
            </a:r>
            <a:endParaRPr lang="zh-CN" altLang="en-US" sz="2000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sz="2000" dirty="0">
                <a:solidFill>
                  <a:schemeClr val="accent2"/>
                </a:solidFill>
              </a:rPr>
              <a:t>&lt;</a:t>
            </a:r>
            <a:r>
              <a:rPr lang="zh-CN" altLang="en-US" sz="2000" dirty="0">
                <a:solidFill>
                  <a:schemeClr val="accent2"/>
                </a:solidFill>
              </a:rPr>
              <a:t>表级完整性约束条件</a:t>
            </a:r>
            <a:r>
              <a:rPr lang="en-US" altLang="zh-CN" sz="2000" dirty="0">
                <a:solidFill>
                  <a:schemeClr val="accent2"/>
                </a:solidFill>
              </a:rPr>
              <a:t>&gt;</a:t>
            </a:r>
            <a:r>
              <a:rPr lang="zh-CN" altLang="en-US" sz="2000" dirty="0">
                <a:solidFill>
                  <a:schemeClr val="accent2"/>
                </a:solidFill>
              </a:rPr>
              <a:t>：</a:t>
            </a:r>
            <a:r>
              <a:rPr lang="zh-CN" altLang="en-US" sz="2000" dirty="0"/>
              <a:t>涉及一个或多个属性列的完整性约束条件 </a:t>
            </a:r>
            <a:endParaRPr lang="zh-CN" altLang="en-US" sz="2000" dirty="0"/>
          </a:p>
          <a:p>
            <a:pPr lvl="1" eaLnBrk="1" hangingPunct="1">
              <a:lnSpc>
                <a:spcPct val="120000"/>
              </a:lnSpc>
              <a:buNone/>
            </a:pPr>
            <a:endParaRPr lang="zh-CN" alt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969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3.2.1  </a:t>
            </a:r>
            <a:r>
              <a:rPr lang="zh-CN" altLang="en-US" u="sng" dirty="0"/>
              <a:t>表的定义、删除与修改</a:t>
            </a:r>
            <a:endParaRPr lang="zh-CN" altLang="en-US" u="sng" dirty="0"/>
          </a:p>
        </p:txBody>
      </p:sp>
      <p:sp>
        <p:nvSpPr>
          <p:cNvPr id="29700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5105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Clr>
                <a:srgbClr val="0000FF"/>
              </a:buClr>
            </a:pPr>
            <a:r>
              <a:rPr lang="zh-CN" altLang="en-US" dirty="0"/>
              <a:t>最常用的完整性约束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buClr>
                <a:srgbClr val="0000FF"/>
              </a:buClr>
            </a:pPr>
            <a:r>
              <a:rPr lang="zh-CN" altLang="en-US" dirty="0"/>
              <a:t>主码约束：    </a:t>
            </a:r>
            <a:r>
              <a:rPr lang="en-US" altLang="zh-CN" dirty="0"/>
              <a:t>primary key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唯一性约束：</a:t>
            </a:r>
            <a:r>
              <a:rPr lang="en-US" altLang="zh-CN" dirty="0"/>
              <a:t>unique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非空值约束：</a:t>
            </a:r>
            <a:r>
              <a:rPr lang="en-US" altLang="zh-CN" dirty="0"/>
              <a:t>not null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参照完整性约束：</a:t>
            </a:r>
            <a:r>
              <a:rPr lang="en-US" altLang="zh-CN" dirty="0"/>
              <a:t>foreign  key 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自定义的完整性约束：</a:t>
            </a:r>
            <a:r>
              <a:rPr lang="en-US" altLang="zh-CN" dirty="0"/>
              <a:t>check(</a:t>
            </a:r>
            <a:r>
              <a:rPr lang="zh-CN" altLang="en-US" dirty="0"/>
              <a:t>条件</a:t>
            </a:r>
            <a:r>
              <a:rPr lang="en-US" altLang="zh-CN" dirty="0"/>
              <a:t>) </a:t>
            </a:r>
            <a:endParaRPr lang="en-US" altLang="zh-CN" dirty="0"/>
          </a:p>
          <a:p>
            <a:pPr lvl="1" eaLnBrk="1" hangingPunct="1"/>
            <a:endParaRPr lang="en-US" altLang="zh-CN" dirty="0"/>
          </a:p>
          <a:p>
            <a:pPr lvl="1" eaLnBrk="1" hangingPunct="1">
              <a:buNone/>
            </a:pPr>
            <a:r>
              <a:rPr lang="en-US" altLang="zh-CN" sz="3200" dirty="0">
                <a:solidFill>
                  <a:schemeClr val="accent2"/>
                </a:solidFill>
              </a:rPr>
              <a:t>Primary key </a:t>
            </a:r>
            <a:r>
              <a:rPr lang="zh-CN" altLang="en-US" sz="3200" dirty="0">
                <a:solidFill>
                  <a:schemeClr val="accent2"/>
                </a:solidFill>
              </a:rPr>
              <a:t>与 </a:t>
            </a:r>
            <a:r>
              <a:rPr lang="en-US" altLang="zh-CN" sz="3200" dirty="0">
                <a:solidFill>
                  <a:schemeClr val="accent2"/>
                </a:solidFill>
              </a:rPr>
              <a:t>unique </a:t>
            </a:r>
            <a:r>
              <a:rPr lang="zh-CN" altLang="en-US" sz="3200" dirty="0">
                <a:solidFill>
                  <a:schemeClr val="accent2"/>
                </a:solidFill>
              </a:rPr>
              <a:t>的区别</a:t>
            </a:r>
            <a:r>
              <a:rPr lang="en-US" altLang="zh-CN" sz="3200" dirty="0">
                <a:solidFill>
                  <a:schemeClr val="accent2"/>
                </a:solidFill>
              </a:rPr>
              <a:t>?</a:t>
            </a:r>
            <a:endParaRPr lang="en-US" altLang="zh-CN" sz="32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072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3.2.1  </a:t>
            </a:r>
            <a:r>
              <a:rPr lang="zh-CN" altLang="en-US" u="sng" dirty="0"/>
              <a:t>表的定义、删除与修改</a:t>
            </a:r>
            <a:endParaRPr lang="zh-CN" altLang="en-US" u="sng" dirty="0"/>
          </a:p>
        </p:txBody>
      </p:sp>
      <p:sp>
        <p:nvSpPr>
          <p:cNvPr id="30724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5334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Clr>
                <a:srgbClr val="0000FF"/>
              </a:buClr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create  table</a:t>
            </a:r>
            <a:r>
              <a:rPr lang="en-US" altLang="zh-CN" dirty="0">
                <a:solidFill>
                  <a:schemeClr val="tx1"/>
                </a:solidFill>
              </a:rPr>
              <a:t>   </a:t>
            </a:r>
            <a:r>
              <a:rPr lang="en-US" altLang="en-US" dirty="0">
                <a:solidFill>
                  <a:schemeClr val="tx1"/>
                </a:solidFill>
              </a:rPr>
              <a:t>表名 (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Clr>
                <a:srgbClr val="0000FF"/>
              </a:buClr>
              <a:buNone/>
            </a:pPr>
            <a:r>
              <a:rPr lang="en-US" altLang="zh-CN" dirty="0">
                <a:solidFill>
                  <a:schemeClr val="tx1"/>
                </a:solidFill>
              </a:rPr>
              <a:t>       </a:t>
            </a:r>
            <a:r>
              <a:rPr lang="en-US" altLang="en-US" dirty="0">
                <a:solidFill>
                  <a:schemeClr val="tx1"/>
                </a:solidFill>
              </a:rPr>
              <a:t>{ &lt;列定义 &gt; | &lt; 表约束 &gt; } [ ,...n ] 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Clr>
                <a:srgbClr val="0000FF"/>
              </a:buClr>
              <a:buNone/>
            </a:pPr>
            <a:r>
              <a:rPr lang="en-US" altLang="en-US" dirty="0">
                <a:solidFill>
                  <a:schemeClr val="tx1"/>
                </a:solidFill>
              </a:rPr>
              <a:t>)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Clr>
                <a:srgbClr val="0000FF"/>
              </a:buClr>
              <a:buNone/>
            </a:pPr>
            <a:endParaRPr lang="en-US" altLang="en-US" sz="1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Clr>
                <a:srgbClr val="0000FF"/>
              </a:buClr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&lt;</a:t>
            </a:r>
            <a:r>
              <a:rPr lang="zh-CN" altLang="en-US" sz="2800" dirty="0">
                <a:solidFill>
                  <a:schemeClr val="tx1"/>
                </a:solidFill>
              </a:rPr>
              <a:t>列定义</a:t>
            </a:r>
            <a:r>
              <a:rPr lang="en-US" altLang="zh-CN" sz="2800" dirty="0">
                <a:solidFill>
                  <a:schemeClr val="tx1"/>
                </a:solidFill>
              </a:rPr>
              <a:t>&gt;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chemeClr val="tx1"/>
                </a:solidFill>
              </a:rPr>
              <a:t>::= {</a:t>
            </a:r>
            <a:r>
              <a:rPr lang="zh-CN" altLang="en-US" sz="2800" dirty="0">
                <a:solidFill>
                  <a:schemeClr val="tx1"/>
                </a:solidFill>
              </a:rPr>
              <a:t>列名  数据类型</a:t>
            </a:r>
            <a:r>
              <a:rPr lang="en-US" altLang="zh-CN" sz="2800" dirty="0">
                <a:solidFill>
                  <a:schemeClr val="tx1"/>
                </a:solidFill>
              </a:rPr>
              <a:t>}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Clr>
                <a:srgbClr val="0000FF"/>
              </a:buClr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[ [ </a:t>
            </a:r>
            <a:r>
              <a:rPr lang="en-US" altLang="zh-CN" sz="2800" dirty="0">
                <a:solidFill>
                  <a:schemeClr val="accent2"/>
                </a:solidFill>
              </a:rPr>
              <a:t>DEFAULT</a:t>
            </a:r>
            <a:r>
              <a:rPr lang="en-US" altLang="zh-CN" sz="2800" dirty="0">
                <a:solidFill>
                  <a:schemeClr val="tx1"/>
                </a:solidFill>
              </a:rPr>
              <a:t> </a:t>
            </a:r>
            <a:r>
              <a:rPr lang="zh-CN" altLang="en-US" sz="2800" dirty="0">
                <a:solidFill>
                  <a:schemeClr val="tx1"/>
                </a:solidFill>
              </a:rPr>
              <a:t>常量表达式 </a:t>
            </a:r>
            <a:r>
              <a:rPr lang="en-US" altLang="zh-CN" sz="2800" dirty="0">
                <a:solidFill>
                  <a:schemeClr val="tx1"/>
                </a:solidFill>
              </a:rPr>
              <a:t>] | 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Clr>
                <a:srgbClr val="0000FF"/>
              </a:buClr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  [ </a:t>
            </a:r>
            <a:r>
              <a:rPr lang="en-US" altLang="zh-CN" sz="2800" dirty="0">
                <a:solidFill>
                  <a:schemeClr val="accent2"/>
                </a:solidFill>
              </a:rPr>
              <a:t>IDENTITY</a:t>
            </a:r>
            <a:r>
              <a:rPr lang="en-US" altLang="zh-CN" sz="2800" dirty="0">
                <a:solidFill>
                  <a:schemeClr val="tx1"/>
                </a:solidFill>
              </a:rPr>
              <a:t> [ ( </a:t>
            </a:r>
            <a:r>
              <a:rPr lang="zh-CN" altLang="en-US" sz="2800" dirty="0">
                <a:solidFill>
                  <a:schemeClr val="tx1"/>
                </a:solidFill>
              </a:rPr>
              <a:t>种子</a:t>
            </a:r>
            <a:r>
              <a:rPr lang="en-US" altLang="zh-CN" sz="2800" dirty="0">
                <a:solidFill>
                  <a:schemeClr val="tx1"/>
                </a:solidFill>
              </a:rPr>
              <a:t>, </a:t>
            </a:r>
            <a:r>
              <a:rPr lang="zh-CN" altLang="en-US" sz="2800" dirty="0">
                <a:solidFill>
                  <a:schemeClr val="tx1"/>
                </a:solidFill>
              </a:rPr>
              <a:t>增量</a:t>
            </a:r>
            <a:r>
              <a:rPr lang="en-US" altLang="zh-CN" sz="2800" dirty="0">
                <a:solidFill>
                  <a:schemeClr val="tx1"/>
                </a:solidFill>
              </a:rPr>
              <a:t>)] ]]    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Clr>
                <a:srgbClr val="0000FF"/>
              </a:buClr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   [ &lt;</a:t>
            </a:r>
            <a:r>
              <a:rPr lang="zh-CN" altLang="en-US" sz="2800" dirty="0">
                <a:solidFill>
                  <a:schemeClr val="tx1"/>
                </a:solidFill>
              </a:rPr>
              <a:t>列约束</a:t>
            </a:r>
            <a:r>
              <a:rPr lang="en-US" altLang="zh-CN" sz="2800" dirty="0">
                <a:solidFill>
                  <a:schemeClr val="tx1"/>
                </a:solidFill>
              </a:rPr>
              <a:t>&gt; ] [ ...n ]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174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3.2.1  </a:t>
            </a:r>
            <a:r>
              <a:rPr lang="zh-CN" altLang="en-US" u="sng" dirty="0"/>
              <a:t>表的定义、删除与修改</a:t>
            </a:r>
            <a:endParaRPr lang="zh-CN" altLang="en-US" u="sng" dirty="0"/>
          </a:p>
        </p:txBody>
      </p:sp>
      <p:sp>
        <p:nvSpPr>
          <p:cNvPr id="31748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5334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Clr>
                <a:srgbClr val="0000FF"/>
              </a:buClr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&lt;</a:t>
            </a:r>
            <a:r>
              <a:rPr lang="zh-CN" altLang="en-US" sz="2800" b="0" dirty="0">
                <a:solidFill>
                  <a:schemeClr val="tx1"/>
                </a:solidFill>
                <a:latin typeface="Arial" panose="020B0604020202020204" pitchFamily="34" charset="0"/>
              </a:rPr>
              <a:t>列约束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&gt; ::= [</a:t>
            </a:r>
            <a:r>
              <a:rPr lang="en-US" altLang="zh-CN" sz="2800" b="0" dirty="0">
                <a:solidFill>
                  <a:schemeClr val="accent2"/>
                </a:solidFill>
                <a:latin typeface="Arial" panose="020B0604020202020204" pitchFamily="34" charset="0"/>
              </a:rPr>
              <a:t> CONSTRAINT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800" b="0" dirty="0">
                <a:solidFill>
                  <a:schemeClr val="tx1"/>
                </a:solidFill>
                <a:latin typeface="Arial" panose="020B0604020202020204" pitchFamily="34" charset="0"/>
              </a:rPr>
              <a:t>约束名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]</a:t>
            </a:r>
            <a:endParaRPr lang="en-US" altLang="zh-CN" sz="2800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buClr>
                <a:srgbClr val="0000FF"/>
              </a:buClr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{ [ NULL | NOT NULL ] </a:t>
            </a:r>
            <a:endParaRPr lang="en-US" altLang="zh-CN" sz="2800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buClr>
                <a:srgbClr val="0000FF"/>
              </a:buClr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| [ { </a:t>
            </a:r>
            <a:r>
              <a:rPr lang="en-US" altLang="zh-CN" sz="2800" b="0" dirty="0">
                <a:solidFill>
                  <a:schemeClr val="accent2"/>
                </a:solidFill>
                <a:latin typeface="Arial" panose="020B0604020202020204" pitchFamily="34" charset="0"/>
              </a:rPr>
              <a:t>PRIMARY KEY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| </a:t>
            </a:r>
            <a:r>
              <a:rPr lang="en-US" altLang="zh-CN" sz="2800" b="0" dirty="0">
                <a:solidFill>
                  <a:schemeClr val="accent2"/>
                </a:solidFill>
                <a:latin typeface="Arial" panose="020B0604020202020204" pitchFamily="34" charset="0"/>
              </a:rPr>
              <a:t>UNIQUE 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} [ </a:t>
            </a:r>
            <a:r>
              <a:rPr lang="en-US" altLang="zh-CN" sz="2800" b="0" dirty="0">
                <a:solidFill>
                  <a:schemeClr val="accent2"/>
                </a:solidFill>
                <a:latin typeface="Arial" panose="020B0604020202020204" pitchFamily="34" charset="0"/>
              </a:rPr>
              <a:t>CLUSTERED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| </a:t>
            </a:r>
            <a:r>
              <a:rPr lang="en-US" altLang="zh-CN" sz="2800" b="0" dirty="0">
                <a:solidFill>
                  <a:schemeClr val="accent2"/>
                </a:solidFill>
                <a:latin typeface="Arial" panose="020B0604020202020204" pitchFamily="34" charset="0"/>
              </a:rPr>
              <a:t>NONCLUSTERED 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] ] </a:t>
            </a:r>
            <a:endParaRPr lang="en-US" altLang="zh-CN" sz="2800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buClr>
                <a:srgbClr val="0000FF"/>
              </a:buClr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| [ [ </a:t>
            </a:r>
            <a:r>
              <a:rPr lang="en-US" altLang="zh-CN" sz="2800" b="0" dirty="0">
                <a:solidFill>
                  <a:schemeClr val="accent2"/>
                </a:solidFill>
                <a:latin typeface="Arial" panose="020B0604020202020204" pitchFamily="34" charset="0"/>
              </a:rPr>
              <a:t>FOREIGN KEY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] </a:t>
            </a:r>
            <a:r>
              <a:rPr lang="en-US" altLang="zh-CN" sz="2800" b="0" dirty="0">
                <a:solidFill>
                  <a:schemeClr val="accent2"/>
                </a:solidFill>
                <a:latin typeface="Arial" panose="020B0604020202020204" pitchFamily="34" charset="0"/>
              </a:rPr>
              <a:t>REFERENCES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800" b="0" dirty="0">
                <a:solidFill>
                  <a:schemeClr val="tx1"/>
                </a:solidFill>
                <a:latin typeface="Arial" panose="020B0604020202020204" pitchFamily="34" charset="0"/>
              </a:rPr>
              <a:t>被引用表 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[ ( </a:t>
            </a:r>
            <a:r>
              <a:rPr lang="zh-CN" altLang="en-US" sz="2800" b="0" dirty="0">
                <a:solidFill>
                  <a:schemeClr val="tx1"/>
                </a:solidFill>
                <a:latin typeface="Arial" panose="020B0604020202020204" pitchFamily="34" charset="0"/>
              </a:rPr>
              <a:t>被引用的列 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) ]</a:t>
            </a:r>
            <a:endParaRPr lang="en-US" altLang="zh-CN" sz="2800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buClr>
                <a:srgbClr val="0000FF"/>
              </a:buClr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     [ </a:t>
            </a:r>
            <a:r>
              <a:rPr lang="en-US" altLang="zh-CN" sz="2800" b="0" dirty="0">
                <a:solidFill>
                  <a:schemeClr val="accent2"/>
                </a:solidFill>
                <a:latin typeface="Arial" panose="020B0604020202020204" pitchFamily="34" charset="0"/>
              </a:rPr>
              <a:t>ON DELETE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{</a:t>
            </a:r>
            <a:r>
              <a:rPr lang="en-US" altLang="zh-CN" sz="2800" b="0" dirty="0">
                <a:solidFill>
                  <a:schemeClr val="accent2"/>
                </a:solidFill>
                <a:latin typeface="Arial" panose="020B0604020202020204" pitchFamily="34" charset="0"/>
              </a:rPr>
              <a:t> CASCADE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| </a:t>
            </a:r>
            <a:r>
              <a:rPr lang="en-US" altLang="zh-CN" sz="2800" b="0" dirty="0">
                <a:solidFill>
                  <a:schemeClr val="accent2"/>
                </a:solidFill>
                <a:latin typeface="Arial" panose="020B0604020202020204" pitchFamily="34" charset="0"/>
              </a:rPr>
              <a:t>NO ACTION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} ]</a:t>
            </a:r>
            <a:endParaRPr lang="en-US" altLang="zh-CN" sz="2800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buClr>
                <a:srgbClr val="0000FF"/>
              </a:buClr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     [ </a:t>
            </a:r>
            <a:r>
              <a:rPr lang="en-US" altLang="zh-CN" sz="2800" b="0" dirty="0">
                <a:solidFill>
                  <a:schemeClr val="accent2"/>
                </a:solidFill>
                <a:latin typeface="Arial" panose="020B0604020202020204" pitchFamily="34" charset="0"/>
              </a:rPr>
              <a:t>ON UPDATE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{</a:t>
            </a:r>
            <a:r>
              <a:rPr lang="en-US" altLang="zh-CN" sz="2800" b="0" dirty="0">
                <a:solidFill>
                  <a:schemeClr val="accent2"/>
                </a:solidFill>
                <a:latin typeface="Arial" panose="020B0604020202020204" pitchFamily="34" charset="0"/>
              </a:rPr>
              <a:t> CASCADE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| </a:t>
            </a:r>
            <a:r>
              <a:rPr lang="en-US" altLang="zh-CN" sz="2800" b="0" dirty="0">
                <a:solidFill>
                  <a:schemeClr val="accent2"/>
                </a:solidFill>
                <a:latin typeface="Arial" panose="020B0604020202020204" pitchFamily="34" charset="0"/>
              </a:rPr>
              <a:t>NO ACTION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} ] ] </a:t>
            </a:r>
            <a:endParaRPr lang="en-US" altLang="zh-CN" sz="2800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buClr>
                <a:srgbClr val="0000FF"/>
              </a:buClr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| </a:t>
            </a:r>
            <a:r>
              <a:rPr lang="en-US" altLang="zh-CN" sz="2800" b="0" dirty="0">
                <a:solidFill>
                  <a:schemeClr val="accent2"/>
                </a:solidFill>
                <a:latin typeface="Arial" panose="020B0604020202020204" pitchFamily="34" charset="0"/>
              </a:rPr>
              <a:t>CHECK 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( </a:t>
            </a:r>
            <a:r>
              <a:rPr lang="zh-CN" altLang="en-US" sz="2800" b="0" dirty="0">
                <a:solidFill>
                  <a:schemeClr val="tx1"/>
                </a:solidFill>
                <a:latin typeface="Arial" panose="020B0604020202020204" pitchFamily="34" charset="0"/>
              </a:rPr>
              <a:t>逻辑表达式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) } </a:t>
            </a:r>
            <a:endParaRPr lang="en-US" altLang="zh-CN" sz="28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277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3.2.1  </a:t>
            </a:r>
            <a:r>
              <a:rPr lang="zh-CN" altLang="en-US" u="sng" dirty="0"/>
              <a:t>表的定义、删除与修改</a:t>
            </a:r>
            <a:endParaRPr lang="zh-CN" altLang="en-US" u="sng" dirty="0"/>
          </a:p>
        </p:txBody>
      </p:sp>
      <p:sp>
        <p:nvSpPr>
          <p:cNvPr id="32772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5334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&lt;</a:t>
            </a:r>
            <a:r>
              <a:rPr lang="zh-CN" altLang="en-US" sz="2800" b="0" dirty="0">
                <a:solidFill>
                  <a:schemeClr val="tx1"/>
                </a:solidFill>
                <a:latin typeface="Arial" panose="020B0604020202020204" pitchFamily="34" charset="0"/>
              </a:rPr>
              <a:t>表约束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&gt; ::= [ </a:t>
            </a:r>
            <a:r>
              <a:rPr lang="en-US" altLang="zh-CN" sz="2800" b="0" dirty="0">
                <a:solidFill>
                  <a:schemeClr val="accent2"/>
                </a:solidFill>
                <a:latin typeface="Arial" panose="020B0604020202020204" pitchFamily="34" charset="0"/>
              </a:rPr>
              <a:t>CONSTRAINT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800" b="0" dirty="0">
                <a:solidFill>
                  <a:schemeClr val="tx1"/>
                </a:solidFill>
                <a:latin typeface="Arial" panose="020B0604020202020204" pitchFamily="34" charset="0"/>
              </a:rPr>
              <a:t>约束名 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]</a:t>
            </a:r>
            <a:endParaRPr lang="en-US" altLang="zh-CN" sz="2800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   { [ { </a:t>
            </a:r>
            <a:r>
              <a:rPr lang="en-US" altLang="zh-CN" sz="2800" b="0" dirty="0">
                <a:solidFill>
                  <a:schemeClr val="accent2"/>
                </a:solidFill>
                <a:latin typeface="Arial" panose="020B0604020202020204" pitchFamily="34" charset="0"/>
              </a:rPr>
              <a:t>PRIMARY KEY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| </a:t>
            </a:r>
            <a:r>
              <a:rPr lang="en-US" altLang="zh-CN" sz="2800" b="0" dirty="0">
                <a:solidFill>
                  <a:schemeClr val="accent2"/>
                </a:solidFill>
                <a:latin typeface="Arial" panose="020B0604020202020204" pitchFamily="34" charset="0"/>
              </a:rPr>
              <a:t>UNIQUE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}</a:t>
            </a:r>
            <a:endParaRPr lang="en-US" altLang="zh-CN" sz="2800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       [ </a:t>
            </a:r>
            <a:r>
              <a:rPr lang="en-US" altLang="zh-CN" sz="2800" b="0" dirty="0">
                <a:solidFill>
                  <a:schemeClr val="accent2"/>
                </a:solidFill>
                <a:latin typeface="Arial" panose="020B0604020202020204" pitchFamily="34" charset="0"/>
              </a:rPr>
              <a:t>CLUSTERED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| </a:t>
            </a:r>
            <a:r>
              <a:rPr lang="en-US" altLang="zh-CN" sz="2800" b="0" dirty="0">
                <a:solidFill>
                  <a:schemeClr val="accent2"/>
                </a:solidFill>
                <a:latin typeface="Arial" panose="020B0604020202020204" pitchFamily="34" charset="0"/>
              </a:rPr>
              <a:t>NONCLUSTERED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]</a:t>
            </a:r>
            <a:endParaRPr lang="en-US" altLang="zh-CN" sz="2800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       { ( </a:t>
            </a:r>
            <a:r>
              <a:rPr lang="zh-CN" altLang="en-US" sz="2800" b="0" dirty="0">
                <a:solidFill>
                  <a:schemeClr val="tx1"/>
                </a:solidFill>
                <a:latin typeface="Arial" panose="020B0604020202020204" pitchFamily="34" charset="0"/>
              </a:rPr>
              <a:t>列名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[ </a:t>
            </a:r>
            <a:r>
              <a:rPr lang="en-US" altLang="zh-CN" sz="2800" b="0" dirty="0">
                <a:solidFill>
                  <a:schemeClr val="accent2"/>
                </a:solidFill>
                <a:latin typeface="Arial" panose="020B0604020202020204" pitchFamily="34" charset="0"/>
              </a:rPr>
              <a:t>ASC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| </a:t>
            </a:r>
            <a:r>
              <a:rPr lang="en-US" altLang="zh-CN" sz="2800" b="0" dirty="0">
                <a:solidFill>
                  <a:schemeClr val="accent2"/>
                </a:solidFill>
                <a:latin typeface="Arial" panose="020B0604020202020204" pitchFamily="34" charset="0"/>
              </a:rPr>
              <a:t>DESC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] [ ,...n ] ) } ] </a:t>
            </a:r>
            <a:endParaRPr lang="en-US" altLang="zh-CN" sz="2800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   | </a:t>
            </a:r>
            <a:r>
              <a:rPr lang="en-US" altLang="zh-CN" sz="2800" b="0" dirty="0">
                <a:solidFill>
                  <a:schemeClr val="accent2"/>
                </a:solidFill>
                <a:latin typeface="Arial" panose="020B0604020202020204" pitchFamily="34" charset="0"/>
              </a:rPr>
              <a:t>FOREIGN KEY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[ (</a:t>
            </a:r>
            <a:r>
              <a:rPr lang="zh-CN" altLang="en-US" sz="2800" b="0" dirty="0">
                <a:solidFill>
                  <a:schemeClr val="tx1"/>
                </a:solidFill>
                <a:latin typeface="Arial" panose="020B0604020202020204" pitchFamily="34" charset="0"/>
              </a:rPr>
              <a:t>列名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[ ,...n ] ) ]</a:t>
            </a:r>
            <a:endParaRPr lang="en-US" altLang="zh-CN" sz="2800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       </a:t>
            </a:r>
            <a:r>
              <a:rPr lang="en-US" altLang="zh-CN" sz="2800" b="0" dirty="0">
                <a:solidFill>
                  <a:schemeClr val="accent2"/>
                </a:solidFill>
                <a:latin typeface="Arial" panose="020B0604020202020204" pitchFamily="34" charset="0"/>
              </a:rPr>
              <a:t>REFERENCES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800" b="0" dirty="0">
                <a:solidFill>
                  <a:schemeClr val="tx1"/>
                </a:solidFill>
                <a:latin typeface="Arial" panose="020B0604020202020204" pitchFamily="34" charset="0"/>
              </a:rPr>
              <a:t>被引用表 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[ (</a:t>
            </a:r>
            <a:r>
              <a:rPr lang="zh-CN" altLang="en-US" sz="2800" b="0" dirty="0">
                <a:solidFill>
                  <a:schemeClr val="tx1"/>
                </a:solidFill>
                <a:latin typeface="Arial" panose="020B0604020202020204" pitchFamily="34" charset="0"/>
              </a:rPr>
              <a:t>被引用列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[ ,...n ] ) ]</a:t>
            </a:r>
            <a:endParaRPr lang="en-US" altLang="zh-CN" sz="2800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       [ </a:t>
            </a:r>
            <a:r>
              <a:rPr lang="en-US" altLang="zh-CN" sz="2800" b="0" dirty="0">
                <a:solidFill>
                  <a:schemeClr val="accent2"/>
                </a:solidFill>
                <a:latin typeface="Arial" panose="020B0604020202020204" pitchFamily="34" charset="0"/>
              </a:rPr>
              <a:t>ON DELETE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{ </a:t>
            </a:r>
            <a:r>
              <a:rPr lang="en-US" altLang="zh-CN" sz="2800" b="0" dirty="0">
                <a:solidFill>
                  <a:schemeClr val="accent2"/>
                </a:solidFill>
                <a:latin typeface="Arial" panose="020B0604020202020204" pitchFamily="34" charset="0"/>
              </a:rPr>
              <a:t>CASCADE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| </a:t>
            </a:r>
            <a:r>
              <a:rPr lang="en-US" altLang="zh-CN" sz="2800" b="0" dirty="0">
                <a:solidFill>
                  <a:schemeClr val="accent2"/>
                </a:solidFill>
                <a:latin typeface="Arial" panose="020B0604020202020204" pitchFamily="34" charset="0"/>
              </a:rPr>
              <a:t>NO ACTION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} ]</a:t>
            </a:r>
            <a:endParaRPr lang="en-US" altLang="zh-CN" sz="2800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       [ </a:t>
            </a:r>
            <a:r>
              <a:rPr lang="en-US" altLang="zh-CN" sz="2800" b="0" dirty="0">
                <a:solidFill>
                  <a:schemeClr val="accent2"/>
                </a:solidFill>
                <a:latin typeface="Arial" panose="020B0604020202020204" pitchFamily="34" charset="0"/>
              </a:rPr>
              <a:t>ON UPDATE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{ </a:t>
            </a:r>
            <a:r>
              <a:rPr lang="en-US" altLang="zh-CN" sz="2800" b="0" dirty="0">
                <a:solidFill>
                  <a:schemeClr val="accent2"/>
                </a:solidFill>
                <a:latin typeface="Arial" panose="020B0604020202020204" pitchFamily="34" charset="0"/>
              </a:rPr>
              <a:t>CASCADE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| </a:t>
            </a:r>
            <a:r>
              <a:rPr lang="en-US" altLang="zh-CN" sz="2800" b="0" dirty="0">
                <a:solidFill>
                  <a:schemeClr val="accent2"/>
                </a:solidFill>
                <a:latin typeface="Arial" panose="020B0604020202020204" pitchFamily="34" charset="0"/>
              </a:rPr>
              <a:t>NO ACTION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} ]</a:t>
            </a:r>
            <a:endParaRPr lang="en-US" altLang="zh-CN" sz="2800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   | </a:t>
            </a:r>
            <a:r>
              <a:rPr lang="en-US" altLang="zh-CN" sz="2800" b="0" dirty="0">
                <a:solidFill>
                  <a:schemeClr val="accent2"/>
                </a:solidFill>
                <a:latin typeface="Arial" panose="020B0604020202020204" pitchFamily="34" charset="0"/>
              </a:rPr>
              <a:t>CHECK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  (</a:t>
            </a:r>
            <a:r>
              <a:rPr lang="zh-CN" altLang="en-US" sz="2800" b="0" dirty="0">
                <a:solidFill>
                  <a:schemeClr val="tx1"/>
                </a:solidFill>
                <a:latin typeface="Arial" panose="020B0604020202020204" pitchFamily="34" charset="0"/>
              </a:rPr>
              <a:t>逻辑表达式</a:t>
            </a:r>
            <a:r>
              <a:rPr lang="en-US" altLang="zh-CN" sz="2800" b="0" dirty="0">
                <a:solidFill>
                  <a:schemeClr val="tx1"/>
                </a:solidFill>
                <a:latin typeface="Arial" panose="020B0604020202020204" pitchFamily="34" charset="0"/>
              </a:rPr>
              <a:t>) }</a:t>
            </a:r>
            <a:endParaRPr lang="en-US" altLang="zh-CN" sz="28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379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3.2.1  </a:t>
            </a:r>
            <a:r>
              <a:rPr lang="zh-CN" altLang="en-US" u="sng" dirty="0"/>
              <a:t>表的定义、删除与修改</a:t>
            </a:r>
            <a:endParaRPr lang="zh-CN" altLang="en-US" u="sng" dirty="0"/>
          </a:p>
        </p:txBody>
      </p:sp>
      <p:sp>
        <p:nvSpPr>
          <p:cNvPr id="33796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45720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1] </a:t>
            </a:r>
            <a:r>
              <a:rPr lang="zh-CN" altLang="en-US" sz="2800" dirty="0">
                <a:solidFill>
                  <a:schemeClr val="tx1"/>
                </a:solidFill>
              </a:rPr>
              <a:t>已知如下关系模式：</a:t>
            </a:r>
            <a:endParaRPr lang="zh-CN" altLang="en-US" sz="2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  </a:t>
            </a:r>
            <a:r>
              <a:rPr lang="en-US" altLang="zh-CN" sz="2800" dirty="0">
                <a:solidFill>
                  <a:schemeClr val="tx1"/>
                </a:solidFill>
              </a:rPr>
              <a:t>T</a:t>
            </a:r>
            <a:r>
              <a:rPr lang="zh-CN" altLang="en-US" sz="2800" dirty="0">
                <a:solidFill>
                  <a:schemeClr val="tx1"/>
                </a:solidFill>
              </a:rPr>
              <a:t>（</a:t>
            </a:r>
            <a:r>
              <a:rPr lang="zh-CN" altLang="en-US" sz="2800" u="sng" dirty="0"/>
              <a:t>教师号</a:t>
            </a:r>
            <a:r>
              <a:rPr lang="zh-CN" altLang="en-US" sz="2800" dirty="0">
                <a:solidFill>
                  <a:schemeClr val="tx1"/>
                </a:solidFill>
              </a:rPr>
              <a:t>，姓名，职称）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endParaRPr lang="zh-CN" altLang="en-US" sz="2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  </a:t>
            </a:r>
            <a:r>
              <a:rPr lang="en-US" altLang="zh-CN" sz="2800" dirty="0">
                <a:solidFill>
                  <a:schemeClr val="tx1"/>
                </a:solidFill>
              </a:rPr>
              <a:t>C</a:t>
            </a:r>
            <a:r>
              <a:rPr lang="zh-CN" altLang="en-US" sz="2800" dirty="0">
                <a:solidFill>
                  <a:schemeClr val="tx1"/>
                </a:solidFill>
              </a:rPr>
              <a:t>（</a:t>
            </a:r>
            <a:r>
              <a:rPr lang="zh-CN" altLang="en-US" sz="2800" u="sng" dirty="0"/>
              <a:t>课程号</a:t>
            </a:r>
            <a:r>
              <a:rPr lang="zh-CN" altLang="en-US" sz="2800" dirty="0">
                <a:solidFill>
                  <a:schemeClr val="tx1"/>
                </a:solidFill>
              </a:rPr>
              <a:t>，课程名，学时数）</a:t>
            </a:r>
            <a:endParaRPr lang="zh-CN" altLang="en-US" sz="2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 </a:t>
            </a:r>
            <a:r>
              <a:rPr lang="en-US" altLang="zh-CN" sz="2800" dirty="0">
                <a:solidFill>
                  <a:schemeClr val="tx1"/>
                </a:solidFill>
              </a:rPr>
              <a:t>TC</a:t>
            </a:r>
            <a:r>
              <a:rPr lang="zh-CN" altLang="en-US" sz="2800" dirty="0">
                <a:solidFill>
                  <a:schemeClr val="tx1"/>
                </a:solidFill>
              </a:rPr>
              <a:t>（</a:t>
            </a:r>
            <a:r>
              <a:rPr lang="zh-CN" altLang="en-US" sz="2800" u="sng" dirty="0"/>
              <a:t>教师号，课程号</a:t>
            </a:r>
            <a:r>
              <a:rPr lang="zh-CN" altLang="en-US" sz="2800" dirty="0">
                <a:solidFill>
                  <a:schemeClr val="tx1"/>
                </a:solidFill>
              </a:rPr>
              <a:t>，教室）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 请完成表的建立。除学时数为整数外，其余列均为指定长度的字符串，可自行指定合理的长度。考虑主键约束和参照完整性约束的定义</a:t>
            </a:r>
            <a:r>
              <a:rPr lang="en-US" altLang="zh-CN" sz="2800" dirty="0">
                <a:solidFill>
                  <a:schemeClr val="tx1"/>
                </a:solidFill>
              </a:rPr>
              <a:t>(TC</a:t>
            </a:r>
            <a:r>
              <a:rPr lang="zh-CN" altLang="en-US" sz="2800" dirty="0">
                <a:solidFill>
                  <a:schemeClr val="tx1"/>
                </a:solidFill>
              </a:rPr>
              <a:t>与</a:t>
            </a:r>
            <a:r>
              <a:rPr lang="en-US" altLang="zh-CN" sz="2800" dirty="0">
                <a:solidFill>
                  <a:schemeClr val="tx1"/>
                </a:solidFill>
              </a:rPr>
              <a:t>T</a:t>
            </a:r>
            <a:r>
              <a:rPr lang="zh-CN" altLang="en-US" sz="2800" dirty="0">
                <a:solidFill>
                  <a:schemeClr val="tx1"/>
                </a:solidFill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</a:rPr>
              <a:t>C</a:t>
            </a:r>
            <a:r>
              <a:rPr lang="zh-CN" altLang="en-US" sz="2800" dirty="0">
                <a:solidFill>
                  <a:schemeClr val="tx1"/>
                </a:solidFill>
              </a:rPr>
              <a:t>存在参照引用关系</a:t>
            </a:r>
            <a:r>
              <a:rPr lang="en-US" altLang="zh-CN" sz="2800" dirty="0">
                <a:solidFill>
                  <a:schemeClr val="tx1"/>
                </a:solidFill>
              </a:rPr>
              <a:t>)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481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3.2.1  </a:t>
            </a:r>
            <a:r>
              <a:rPr lang="zh-CN" altLang="en-US" u="sng" dirty="0"/>
              <a:t>表的定义、删除与修改</a:t>
            </a:r>
            <a:endParaRPr lang="zh-CN" altLang="en-US" u="sng" dirty="0"/>
          </a:p>
        </p:txBody>
      </p:sp>
      <p:sp>
        <p:nvSpPr>
          <p:cNvPr id="34820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5257800"/>
          </a:xfrm>
          <a:ln/>
        </p:spPr>
        <p:txBody>
          <a:bodyPr vert="horz" wrap="square" lIns="91440" tIns="45720" rIns="91440" bIns="45720" anchor="t" anchorCtr="0"/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create table</a:t>
            </a:r>
            <a:r>
              <a:rPr lang="en-US" altLang="zh-CN" sz="2400" dirty="0">
                <a:solidFill>
                  <a:schemeClr val="tx1"/>
                </a:solidFill>
              </a:rPr>
              <a:t> T(</a:t>
            </a:r>
            <a:r>
              <a:rPr lang="zh-CN" altLang="en-US" sz="2400" dirty="0">
                <a:solidFill>
                  <a:schemeClr val="tx1"/>
                </a:solidFill>
              </a:rPr>
              <a:t>教师号 </a:t>
            </a:r>
            <a:r>
              <a:rPr lang="en-US" altLang="zh-CN" sz="2400" dirty="0">
                <a:solidFill>
                  <a:schemeClr val="accent2"/>
                </a:solidFill>
              </a:rPr>
              <a:t>char</a:t>
            </a:r>
            <a:r>
              <a:rPr lang="en-US" altLang="zh-CN" sz="2400" dirty="0">
                <a:solidFill>
                  <a:schemeClr val="tx1"/>
                </a:solidFill>
              </a:rPr>
              <a:t>(10) not null</a:t>
            </a:r>
            <a:r>
              <a:rPr lang="en-US" altLang="zh-CN" sz="2400" u="sng" dirty="0">
                <a:solidFill>
                  <a:schemeClr val="tx1"/>
                </a:solidFill>
              </a:rPr>
              <a:t>,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                   </a:t>
            </a:r>
            <a:r>
              <a:rPr lang="zh-CN" altLang="en-US" sz="2400" dirty="0">
                <a:solidFill>
                  <a:schemeClr val="tx1"/>
                </a:solidFill>
              </a:rPr>
              <a:t>姓名 </a:t>
            </a:r>
            <a:r>
              <a:rPr lang="en-US" altLang="zh-CN" sz="2400" dirty="0">
                <a:solidFill>
                  <a:schemeClr val="accent2"/>
                </a:solidFill>
              </a:rPr>
              <a:t>char</a:t>
            </a:r>
            <a:r>
              <a:rPr lang="en-US" altLang="zh-CN" sz="2400" dirty="0">
                <a:solidFill>
                  <a:schemeClr val="tx1"/>
                </a:solidFill>
              </a:rPr>
              <a:t>(10) not null </a:t>
            </a:r>
            <a:r>
              <a:rPr lang="en-US" altLang="zh-CN" sz="2400" dirty="0">
                <a:solidFill>
                  <a:schemeClr val="accent2"/>
                </a:solidFill>
              </a:rPr>
              <a:t>unique</a:t>
            </a:r>
            <a:r>
              <a:rPr lang="en-US" altLang="zh-CN" sz="2400" dirty="0">
                <a:solidFill>
                  <a:schemeClr val="tx1"/>
                </a:solidFill>
              </a:rPr>
              <a:t>,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                   </a:t>
            </a:r>
            <a:r>
              <a:rPr lang="zh-CN" altLang="en-US" sz="2400" dirty="0">
                <a:solidFill>
                  <a:schemeClr val="tx1"/>
                </a:solidFill>
              </a:rPr>
              <a:t>职称 </a:t>
            </a:r>
            <a:r>
              <a:rPr lang="en-US" altLang="zh-CN" sz="2400" dirty="0">
                <a:solidFill>
                  <a:schemeClr val="accent2"/>
                </a:solidFill>
              </a:rPr>
              <a:t>char</a:t>
            </a:r>
            <a:r>
              <a:rPr lang="en-US" altLang="zh-CN" sz="2400" dirty="0">
                <a:solidFill>
                  <a:schemeClr val="tx1"/>
                </a:solidFill>
              </a:rPr>
              <a:t>(10),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                   </a:t>
            </a:r>
            <a:r>
              <a:rPr lang="en-US" altLang="zh-CN" sz="2400" dirty="0">
                <a:solidFill>
                  <a:schemeClr val="accent2"/>
                </a:solidFill>
              </a:rPr>
              <a:t>primary key</a:t>
            </a:r>
            <a:r>
              <a:rPr lang="en-US" altLang="zh-CN" sz="2400" dirty="0">
                <a:solidFill>
                  <a:schemeClr val="tx1"/>
                </a:solidFill>
              </a:rPr>
              <a:t> (</a:t>
            </a:r>
            <a:r>
              <a:rPr lang="zh-CN" altLang="en-US" sz="2400" dirty="0">
                <a:solidFill>
                  <a:schemeClr val="tx1"/>
                </a:solidFill>
              </a:rPr>
              <a:t>教师号</a:t>
            </a:r>
            <a:r>
              <a:rPr lang="en-US" altLang="zh-CN" sz="2400" dirty="0">
                <a:solidFill>
                  <a:schemeClr val="tx1"/>
                </a:solidFill>
              </a:rPr>
              <a:t>))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create table</a:t>
            </a:r>
            <a:r>
              <a:rPr lang="en-US" altLang="zh-CN" sz="2400" dirty="0">
                <a:solidFill>
                  <a:schemeClr val="tx1"/>
                </a:solidFill>
              </a:rPr>
              <a:t>  C (</a:t>
            </a:r>
            <a:r>
              <a:rPr lang="zh-CN" altLang="en-US" sz="2400" dirty="0">
                <a:solidFill>
                  <a:schemeClr val="tx1"/>
                </a:solidFill>
              </a:rPr>
              <a:t>课程号 </a:t>
            </a:r>
            <a:r>
              <a:rPr lang="en-US" altLang="zh-CN" sz="2400" dirty="0">
                <a:solidFill>
                  <a:schemeClr val="accent2"/>
                </a:solidFill>
              </a:rPr>
              <a:t>char</a:t>
            </a:r>
            <a:r>
              <a:rPr lang="en-US" altLang="zh-CN" sz="2400" dirty="0">
                <a:solidFill>
                  <a:schemeClr val="tx1"/>
                </a:solidFill>
              </a:rPr>
              <a:t>(10) not null ,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                     </a:t>
            </a:r>
            <a:r>
              <a:rPr lang="zh-CN" altLang="en-US" sz="2400" dirty="0">
                <a:solidFill>
                  <a:schemeClr val="tx1"/>
                </a:solidFill>
              </a:rPr>
              <a:t>课程名 </a:t>
            </a:r>
            <a:r>
              <a:rPr lang="en-US" altLang="zh-CN" sz="2400" dirty="0">
                <a:solidFill>
                  <a:schemeClr val="accent2"/>
                </a:solidFill>
              </a:rPr>
              <a:t>char</a:t>
            </a:r>
            <a:r>
              <a:rPr lang="en-US" altLang="zh-CN" sz="2400" dirty="0">
                <a:solidFill>
                  <a:schemeClr val="tx1"/>
                </a:solidFill>
              </a:rPr>
              <a:t>(10) not null,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                     </a:t>
            </a:r>
            <a:r>
              <a:rPr lang="zh-CN" altLang="en-US" sz="2400" dirty="0">
                <a:solidFill>
                  <a:schemeClr val="tx1"/>
                </a:solidFill>
              </a:rPr>
              <a:t>学时数  </a:t>
            </a:r>
            <a:r>
              <a:rPr lang="en-US" altLang="zh-CN" sz="2400" dirty="0">
                <a:solidFill>
                  <a:schemeClr val="accent2"/>
                </a:solidFill>
              </a:rPr>
              <a:t>int</a:t>
            </a:r>
            <a:r>
              <a:rPr lang="en-US" altLang="zh-CN" sz="2400" dirty="0">
                <a:solidFill>
                  <a:schemeClr val="tx1"/>
                </a:solidFill>
              </a:rPr>
              <a:t> ,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                         </a:t>
            </a:r>
            <a:r>
              <a:rPr lang="en-US" altLang="zh-CN" sz="2400" dirty="0">
                <a:solidFill>
                  <a:schemeClr val="accent2"/>
                </a:solidFill>
              </a:rPr>
              <a:t>primary key</a:t>
            </a:r>
            <a:r>
              <a:rPr lang="en-US" altLang="zh-CN" sz="2400" dirty="0">
                <a:solidFill>
                  <a:schemeClr val="tx1"/>
                </a:solidFill>
              </a:rPr>
              <a:t> (</a:t>
            </a:r>
            <a:r>
              <a:rPr lang="zh-CN" altLang="en-US" sz="2400" dirty="0">
                <a:solidFill>
                  <a:schemeClr val="tx1"/>
                </a:solidFill>
              </a:rPr>
              <a:t>课程号 </a:t>
            </a:r>
            <a:r>
              <a:rPr lang="en-US" altLang="zh-CN" sz="2400" dirty="0">
                <a:solidFill>
                  <a:schemeClr val="tx1"/>
                </a:solidFill>
              </a:rPr>
              <a:t>))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create table</a:t>
            </a:r>
            <a:r>
              <a:rPr lang="en-US" altLang="zh-CN" sz="2400" dirty="0">
                <a:solidFill>
                  <a:schemeClr val="tx1"/>
                </a:solidFill>
              </a:rPr>
              <a:t>  TC (</a:t>
            </a:r>
            <a:r>
              <a:rPr lang="zh-CN" altLang="en-US" sz="2400" dirty="0">
                <a:solidFill>
                  <a:schemeClr val="tx1"/>
                </a:solidFill>
              </a:rPr>
              <a:t>教师号 </a:t>
            </a:r>
            <a:r>
              <a:rPr lang="en-US" altLang="zh-CN" sz="2400" dirty="0">
                <a:solidFill>
                  <a:schemeClr val="accent2"/>
                </a:solidFill>
              </a:rPr>
              <a:t>char</a:t>
            </a:r>
            <a:r>
              <a:rPr lang="en-US" altLang="zh-CN" sz="2400" dirty="0">
                <a:solidFill>
                  <a:schemeClr val="tx1"/>
                </a:solidFill>
              </a:rPr>
              <a:t>(10) not null,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                        </a:t>
            </a:r>
            <a:r>
              <a:rPr lang="zh-CN" altLang="en-US" sz="2400" dirty="0">
                <a:solidFill>
                  <a:schemeClr val="tx1"/>
                </a:solidFill>
              </a:rPr>
              <a:t>课程号 </a:t>
            </a:r>
            <a:r>
              <a:rPr lang="en-US" altLang="zh-CN" sz="2400" dirty="0">
                <a:solidFill>
                  <a:schemeClr val="tx1"/>
                </a:solidFill>
              </a:rPr>
              <a:t>char(10) not null,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                        </a:t>
            </a:r>
            <a:r>
              <a:rPr lang="zh-CN" altLang="en-US" sz="2400" dirty="0">
                <a:solidFill>
                  <a:schemeClr val="tx1"/>
                </a:solidFill>
              </a:rPr>
              <a:t>教室  </a:t>
            </a:r>
            <a:r>
              <a:rPr lang="en-US" altLang="zh-CN" sz="2400" dirty="0">
                <a:solidFill>
                  <a:schemeClr val="accent2"/>
                </a:solidFill>
              </a:rPr>
              <a:t>char</a:t>
            </a:r>
            <a:r>
              <a:rPr lang="en-US" altLang="zh-CN" sz="2400" dirty="0">
                <a:solidFill>
                  <a:schemeClr val="tx1"/>
                </a:solidFill>
              </a:rPr>
              <a:t>(10) ,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                            </a:t>
            </a:r>
            <a:r>
              <a:rPr lang="en-US" altLang="zh-CN" sz="2400" dirty="0">
                <a:solidFill>
                  <a:schemeClr val="accent2"/>
                </a:solidFill>
              </a:rPr>
              <a:t>primary key</a:t>
            </a:r>
            <a:r>
              <a:rPr lang="en-US" altLang="zh-CN" sz="2400" dirty="0">
                <a:solidFill>
                  <a:schemeClr val="tx1"/>
                </a:solidFill>
              </a:rPr>
              <a:t> (</a:t>
            </a:r>
            <a:r>
              <a:rPr lang="zh-CN" altLang="en-US" sz="2400" dirty="0">
                <a:solidFill>
                  <a:schemeClr val="tx1"/>
                </a:solidFill>
              </a:rPr>
              <a:t>教师号</a:t>
            </a:r>
            <a:r>
              <a:rPr lang="en-US" altLang="zh-CN" sz="2400" dirty="0">
                <a:solidFill>
                  <a:schemeClr val="tx1"/>
                </a:solidFill>
              </a:rPr>
              <a:t>,</a:t>
            </a:r>
            <a:r>
              <a:rPr lang="zh-CN" altLang="en-US" sz="2400" dirty="0">
                <a:solidFill>
                  <a:schemeClr val="tx1"/>
                </a:solidFill>
              </a:rPr>
              <a:t>课程号</a:t>
            </a:r>
            <a:r>
              <a:rPr lang="en-US" altLang="zh-CN" sz="2400" dirty="0">
                <a:solidFill>
                  <a:schemeClr val="tx1"/>
                </a:solidFill>
              </a:rPr>
              <a:t>) ,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                        </a:t>
            </a:r>
            <a:r>
              <a:rPr lang="en-US" altLang="zh-CN" sz="2400" dirty="0">
                <a:solidFill>
                  <a:schemeClr val="accent2"/>
                </a:solidFill>
              </a:rPr>
              <a:t>foreign key</a:t>
            </a:r>
            <a:r>
              <a:rPr lang="en-US" altLang="zh-CN" sz="2400" dirty="0">
                <a:solidFill>
                  <a:schemeClr val="tx1"/>
                </a:solidFill>
              </a:rPr>
              <a:t> (</a:t>
            </a:r>
            <a:r>
              <a:rPr lang="zh-CN" altLang="en-US" sz="2400" dirty="0">
                <a:solidFill>
                  <a:schemeClr val="tx1"/>
                </a:solidFill>
              </a:rPr>
              <a:t>教师号 </a:t>
            </a:r>
            <a:r>
              <a:rPr lang="en-US" altLang="zh-CN" sz="2400" dirty="0">
                <a:solidFill>
                  <a:schemeClr val="tx1"/>
                </a:solidFill>
              </a:rPr>
              <a:t>)  </a:t>
            </a:r>
            <a:r>
              <a:rPr lang="en-US" altLang="zh-CN" sz="2400" dirty="0">
                <a:solidFill>
                  <a:schemeClr val="accent2"/>
                </a:solidFill>
              </a:rPr>
              <a:t>references</a:t>
            </a:r>
            <a:r>
              <a:rPr lang="en-US" altLang="zh-CN" sz="2400" dirty="0">
                <a:solidFill>
                  <a:schemeClr val="tx1"/>
                </a:solidFill>
              </a:rPr>
              <a:t> T(</a:t>
            </a:r>
            <a:r>
              <a:rPr lang="zh-CN" altLang="en-US" sz="2400" dirty="0">
                <a:solidFill>
                  <a:schemeClr val="tx1"/>
                </a:solidFill>
              </a:rPr>
              <a:t>教师号 </a:t>
            </a:r>
            <a:r>
              <a:rPr lang="en-US" altLang="zh-CN" sz="2400" dirty="0">
                <a:solidFill>
                  <a:schemeClr val="tx1"/>
                </a:solidFill>
              </a:rPr>
              <a:t>),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                        </a:t>
            </a:r>
            <a:r>
              <a:rPr lang="en-US" altLang="zh-CN" sz="2400" dirty="0">
                <a:solidFill>
                  <a:schemeClr val="accent2"/>
                </a:solidFill>
              </a:rPr>
              <a:t>foreign key</a:t>
            </a:r>
            <a:r>
              <a:rPr lang="en-US" altLang="zh-CN" sz="2400" dirty="0">
                <a:solidFill>
                  <a:schemeClr val="tx1"/>
                </a:solidFill>
              </a:rPr>
              <a:t> (</a:t>
            </a:r>
            <a:r>
              <a:rPr lang="zh-CN" altLang="en-US" sz="2400" dirty="0">
                <a:solidFill>
                  <a:schemeClr val="tx1"/>
                </a:solidFill>
              </a:rPr>
              <a:t>课程号 </a:t>
            </a:r>
            <a:r>
              <a:rPr lang="en-US" altLang="zh-CN" sz="2400" dirty="0">
                <a:solidFill>
                  <a:schemeClr val="tx1"/>
                </a:solidFill>
              </a:rPr>
              <a:t>)  </a:t>
            </a:r>
            <a:r>
              <a:rPr lang="en-US" altLang="zh-CN" sz="2400" dirty="0">
                <a:solidFill>
                  <a:schemeClr val="accent2"/>
                </a:solidFill>
              </a:rPr>
              <a:t>references</a:t>
            </a:r>
            <a:r>
              <a:rPr lang="en-US" altLang="zh-CN" sz="2400" dirty="0">
                <a:solidFill>
                  <a:schemeClr val="tx1"/>
                </a:solidFill>
              </a:rPr>
              <a:t> C(</a:t>
            </a:r>
            <a:r>
              <a:rPr lang="zh-CN" altLang="en-US" sz="2400" dirty="0">
                <a:solidFill>
                  <a:schemeClr val="tx1"/>
                </a:solidFill>
              </a:rPr>
              <a:t>课程号 </a:t>
            </a:r>
            <a:r>
              <a:rPr lang="en-US" altLang="zh-CN" sz="2400" dirty="0">
                <a:solidFill>
                  <a:schemeClr val="tx1"/>
                </a:solidFill>
              </a:rPr>
              <a:t>))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584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3.2.1  </a:t>
            </a:r>
            <a:r>
              <a:rPr lang="zh-CN" altLang="en-US" u="sng" dirty="0"/>
              <a:t>表的定义、删除与修改</a:t>
            </a:r>
            <a:endParaRPr lang="zh-CN" altLang="en-US" u="sng" dirty="0"/>
          </a:p>
        </p:txBody>
      </p:sp>
      <p:sp>
        <p:nvSpPr>
          <p:cNvPr id="35844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5334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Clr>
                <a:srgbClr val="0000FF"/>
              </a:buClr>
            </a:pPr>
            <a:r>
              <a:rPr lang="en-US" altLang="zh-CN" dirty="0"/>
              <a:t>2. </a:t>
            </a:r>
            <a:r>
              <a:rPr lang="zh-CN" altLang="en-US" dirty="0"/>
              <a:t>删除基本表</a:t>
            </a:r>
            <a:br>
              <a:rPr lang="zh-CN" altLang="en-US" dirty="0"/>
            </a:br>
            <a:r>
              <a:rPr lang="en-US" altLang="zh-CN" sz="2800" i="1" dirty="0">
                <a:solidFill>
                  <a:schemeClr val="accent2"/>
                </a:solidFill>
              </a:rPr>
              <a:t>drop  table</a:t>
            </a:r>
            <a:r>
              <a:rPr lang="en-US" altLang="zh-CN" sz="2800" dirty="0">
                <a:solidFill>
                  <a:schemeClr val="tx1"/>
                </a:solidFill>
              </a:rPr>
              <a:t>   &lt;</a:t>
            </a:r>
            <a:r>
              <a:rPr lang="zh-CN" altLang="en-US" sz="2800" dirty="0">
                <a:solidFill>
                  <a:schemeClr val="tx1"/>
                </a:solidFill>
              </a:rPr>
              <a:t>表名</a:t>
            </a:r>
            <a:r>
              <a:rPr lang="en-US" altLang="zh-CN" sz="2800" dirty="0">
                <a:solidFill>
                  <a:schemeClr val="tx1"/>
                </a:solidFill>
              </a:rPr>
              <a:t>&gt;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Clr>
                <a:srgbClr val="0000FF"/>
              </a:buClr>
            </a:pPr>
            <a:r>
              <a:rPr lang="zh-CN" altLang="en-US" sz="2400" dirty="0"/>
              <a:t>删除基本表后，基本表的定义、表中数据、索引都被删除；同本表导出的视图的定义有可能被保留，但将无法使用。</a:t>
            </a:r>
            <a:endParaRPr lang="zh-CN" altLang="en-US" sz="2400" dirty="0"/>
          </a:p>
          <a:p>
            <a:pPr lvl="1" eaLnBrk="1" hangingPunct="1">
              <a:lnSpc>
                <a:spcPct val="120000"/>
              </a:lnSpc>
              <a:buClr>
                <a:srgbClr val="0000FF"/>
              </a:buClr>
            </a:pPr>
            <a:r>
              <a:rPr lang="zh-CN" altLang="en-US" sz="2400" dirty="0"/>
              <a:t>例：删除前面建的三个表</a:t>
            </a:r>
            <a:r>
              <a:rPr lang="en-US" altLang="zh-CN" sz="2400" dirty="0"/>
              <a:t>:T,C,TC</a:t>
            </a:r>
            <a:endParaRPr lang="en-US" altLang="zh-CN" sz="2400" dirty="0"/>
          </a:p>
          <a:p>
            <a:pPr lvl="1" eaLnBrk="1" hangingPunct="1">
              <a:lnSpc>
                <a:spcPct val="120000"/>
              </a:lnSpc>
              <a:buClr>
                <a:srgbClr val="0000FF"/>
              </a:buClr>
              <a:buNone/>
            </a:pPr>
            <a:r>
              <a:rPr lang="en-US" altLang="zh-CN" sz="2400" dirty="0"/>
              <a:t>            </a:t>
            </a:r>
            <a:r>
              <a:rPr lang="en-US" altLang="zh-CN" sz="2400" dirty="0">
                <a:solidFill>
                  <a:schemeClr val="accent2"/>
                </a:solidFill>
              </a:rPr>
              <a:t>Drop table</a:t>
            </a:r>
            <a:r>
              <a:rPr lang="en-US" altLang="zh-CN" sz="2400" dirty="0"/>
              <a:t> TC</a:t>
            </a:r>
            <a:endParaRPr lang="en-US" altLang="zh-CN" sz="2400" dirty="0"/>
          </a:p>
          <a:p>
            <a:pPr lvl="1" eaLnBrk="1" hangingPunct="1">
              <a:lnSpc>
                <a:spcPct val="120000"/>
              </a:lnSpc>
              <a:buClr>
                <a:srgbClr val="0000FF"/>
              </a:buClr>
              <a:buNone/>
            </a:pPr>
            <a:r>
              <a:rPr lang="en-US" altLang="zh-CN" sz="2400" dirty="0"/>
              <a:t>            </a:t>
            </a:r>
            <a:r>
              <a:rPr lang="en-US" altLang="zh-CN" sz="2400" dirty="0">
                <a:solidFill>
                  <a:schemeClr val="accent2"/>
                </a:solidFill>
              </a:rPr>
              <a:t>Drop table</a:t>
            </a:r>
            <a:r>
              <a:rPr lang="en-US" altLang="zh-CN" sz="2400" dirty="0"/>
              <a:t> T</a:t>
            </a:r>
            <a:endParaRPr lang="en-US" altLang="zh-CN" sz="2400" dirty="0"/>
          </a:p>
          <a:p>
            <a:pPr lvl="1" eaLnBrk="1" hangingPunct="1">
              <a:lnSpc>
                <a:spcPct val="120000"/>
              </a:lnSpc>
              <a:buClr>
                <a:srgbClr val="0000FF"/>
              </a:buClr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            Drop table</a:t>
            </a:r>
            <a:r>
              <a:rPr lang="en-US" altLang="zh-CN" sz="2400" dirty="0"/>
              <a:t> C</a:t>
            </a:r>
            <a:endParaRPr lang="en-US" altLang="zh-CN" sz="2400" dirty="0"/>
          </a:p>
          <a:p>
            <a:pPr lvl="1" eaLnBrk="1" hangingPunct="1">
              <a:lnSpc>
                <a:spcPct val="120000"/>
              </a:lnSpc>
              <a:buClr>
                <a:srgbClr val="0000FF"/>
              </a:buClr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问：三条删除命令可不可以变动次序？比如将第一条挪到后面？</a:t>
            </a:r>
            <a:endParaRPr lang="zh-CN" altLang="en-US" sz="2400" dirty="0"/>
          </a:p>
          <a:p>
            <a:pPr lvl="1" eaLnBrk="1" hangingPunct="1">
              <a:lnSpc>
                <a:spcPct val="120000"/>
              </a:lnSpc>
              <a:buNone/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686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3.2.1  </a:t>
            </a:r>
            <a:r>
              <a:rPr lang="zh-CN" altLang="en-US" u="sng" dirty="0"/>
              <a:t>表的定义、删除与修改</a:t>
            </a:r>
            <a:endParaRPr lang="zh-CN" altLang="en-US" u="sng" dirty="0"/>
          </a:p>
        </p:txBody>
      </p:sp>
      <p:sp>
        <p:nvSpPr>
          <p:cNvPr id="36868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5334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Clr>
                <a:srgbClr val="0000FF"/>
              </a:buClr>
            </a:pPr>
            <a:r>
              <a:rPr lang="en-US" altLang="zh-CN" dirty="0"/>
              <a:t>3. </a:t>
            </a:r>
            <a:r>
              <a:rPr lang="zh-CN" altLang="en-US" dirty="0"/>
              <a:t>修改基本表</a:t>
            </a:r>
            <a:br>
              <a:rPr lang="zh-CN" altLang="en-US" dirty="0"/>
            </a:br>
            <a:r>
              <a:rPr lang="en-US" altLang="zh-CN" sz="2800" dirty="0"/>
              <a:t>ALTER TABLE &lt;</a:t>
            </a:r>
            <a:r>
              <a:rPr lang="zh-CN" altLang="en-US" sz="2800" dirty="0"/>
              <a:t>表名</a:t>
            </a:r>
            <a:r>
              <a:rPr lang="en-US" altLang="zh-CN" sz="2800" dirty="0"/>
              <a:t>&gt;</a:t>
            </a:r>
            <a:endParaRPr lang="en-US" altLang="zh-CN" sz="2800" dirty="0"/>
          </a:p>
          <a:p>
            <a:pPr lvl="2" algn="just" eaLnBrk="1" hangingPunct="1">
              <a:buNone/>
            </a:pPr>
            <a:r>
              <a:rPr lang="en-US" altLang="zh-CN" dirty="0"/>
              <a:t>[ ADD &lt;</a:t>
            </a:r>
            <a:r>
              <a:rPr lang="zh-CN" altLang="en-US" dirty="0"/>
              <a:t>新列名</a:t>
            </a:r>
            <a:r>
              <a:rPr lang="en-US" altLang="zh-CN" dirty="0"/>
              <a:t>&gt; &lt;</a:t>
            </a:r>
            <a:r>
              <a:rPr lang="zh-CN" altLang="en-US" dirty="0"/>
              <a:t>数据类型</a:t>
            </a:r>
            <a:r>
              <a:rPr lang="en-US" altLang="zh-CN" dirty="0"/>
              <a:t>&gt; [ </a:t>
            </a:r>
            <a:r>
              <a:rPr lang="zh-CN" altLang="en-US" dirty="0"/>
              <a:t>完整性约束 </a:t>
            </a:r>
            <a:r>
              <a:rPr lang="en-US" altLang="zh-CN" dirty="0"/>
              <a:t>] ]</a:t>
            </a:r>
            <a:endParaRPr lang="en-US" altLang="zh-CN" dirty="0"/>
          </a:p>
          <a:p>
            <a:pPr lvl="2" algn="just" eaLnBrk="1" hangingPunct="1">
              <a:buNone/>
            </a:pPr>
            <a:r>
              <a:rPr lang="en-US" altLang="zh-CN" dirty="0"/>
              <a:t>[ DROP [Constraint]&lt;</a:t>
            </a:r>
            <a:r>
              <a:rPr lang="zh-CN" altLang="en-US" dirty="0"/>
              <a:t>完整性约束名</a:t>
            </a:r>
            <a:r>
              <a:rPr lang="en-US" altLang="zh-CN" dirty="0"/>
              <a:t>&gt; |Column &lt;</a:t>
            </a:r>
            <a:r>
              <a:rPr lang="zh-CN" altLang="en-US" dirty="0"/>
              <a:t>列名</a:t>
            </a:r>
            <a:r>
              <a:rPr lang="en-US" altLang="zh-CN" dirty="0"/>
              <a:t>&gt;]</a:t>
            </a:r>
            <a:endParaRPr lang="en-US" altLang="zh-CN" dirty="0"/>
          </a:p>
          <a:p>
            <a:pPr lvl="2" algn="just" eaLnBrk="1" hangingPunct="1">
              <a:buNone/>
            </a:pPr>
            <a:r>
              <a:rPr lang="en-US" altLang="zh-CN" dirty="0"/>
              <a:t>[ MODIFY &lt;</a:t>
            </a:r>
            <a:r>
              <a:rPr lang="zh-CN" altLang="en-US" dirty="0"/>
              <a:t>列名</a:t>
            </a:r>
            <a:r>
              <a:rPr lang="en-US" altLang="zh-CN" dirty="0"/>
              <a:t>&gt; &lt;</a:t>
            </a:r>
            <a:r>
              <a:rPr lang="zh-CN" altLang="en-US" dirty="0"/>
              <a:t>数据类型</a:t>
            </a:r>
            <a:r>
              <a:rPr lang="en-US" altLang="zh-CN" dirty="0"/>
              <a:t>&gt; ]</a:t>
            </a:r>
            <a:endParaRPr lang="en-US" altLang="zh-CN" dirty="0"/>
          </a:p>
          <a:p>
            <a:pPr lvl="2" algn="just" eaLnBrk="1" hangingPunct="1">
              <a:buNone/>
            </a:pPr>
            <a:endParaRPr lang="en-US" altLang="zh-CN" sz="2000" dirty="0"/>
          </a:p>
          <a:p>
            <a:pPr lvl="1" algn="just" eaLnBrk="1" hangingPunct="1"/>
            <a:r>
              <a:rPr lang="en-US" altLang="zh-CN" sz="2400" dirty="0">
                <a:solidFill>
                  <a:schemeClr val="accent2"/>
                </a:solidFill>
              </a:rPr>
              <a:t>&lt;</a:t>
            </a:r>
            <a:r>
              <a:rPr lang="zh-CN" altLang="en-US" sz="2400" dirty="0">
                <a:solidFill>
                  <a:schemeClr val="accent2"/>
                </a:solidFill>
              </a:rPr>
              <a:t>表名</a:t>
            </a:r>
            <a:r>
              <a:rPr lang="en-US" altLang="zh-CN" sz="2400" dirty="0">
                <a:solidFill>
                  <a:schemeClr val="accent2"/>
                </a:solidFill>
              </a:rPr>
              <a:t>&gt;</a:t>
            </a:r>
            <a:r>
              <a:rPr lang="zh-CN" altLang="en-US" sz="2400" dirty="0"/>
              <a:t>：要修改的基本表</a:t>
            </a:r>
            <a:endParaRPr lang="zh-CN" altLang="en-US" sz="2400" dirty="0"/>
          </a:p>
          <a:p>
            <a:pPr lvl="1" algn="just" eaLnBrk="1" hangingPunct="1"/>
            <a:r>
              <a:rPr lang="en-US" altLang="zh-CN" sz="2400" dirty="0">
                <a:solidFill>
                  <a:schemeClr val="accent2"/>
                </a:solidFill>
              </a:rPr>
              <a:t>ADD</a:t>
            </a:r>
            <a:r>
              <a:rPr lang="zh-CN" altLang="en-US" sz="2400" dirty="0">
                <a:solidFill>
                  <a:schemeClr val="accent2"/>
                </a:solidFill>
              </a:rPr>
              <a:t>子句</a:t>
            </a:r>
            <a:r>
              <a:rPr lang="zh-CN" altLang="en-US" sz="2400" dirty="0"/>
              <a:t>：增加新列和新的完整性约束条件</a:t>
            </a:r>
            <a:endParaRPr lang="zh-CN" altLang="en-US" sz="2400" dirty="0"/>
          </a:p>
          <a:p>
            <a:pPr lvl="1" algn="just" eaLnBrk="1" hangingPunct="1"/>
            <a:r>
              <a:rPr lang="en-US" altLang="zh-CN" sz="2400" dirty="0">
                <a:solidFill>
                  <a:schemeClr val="accent2"/>
                </a:solidFill>
              </a:rPr>
              <a:t>DROP</a:t>
            </a:r>
            <a:r>
              <a:rPr lang="zh-CN" altLang="en-US" sz="2400" dirty="0">
                <a:solidFill>
                  <a:schemeClr val="accent2"/>
                </a:solidFill>
              </a:rPr>
              <a:t>子句</a:t>
            </a:r>
            <a:r>
              <a:rPr lang="zh-CN" altLang="en-US" sz="2400" dirty="0"/>
              <a:t>：删除指定的完整性约束条件或列</a:t>
            </a:r>
            <a:endParaRPr lang="zh-CN" altLang="en-US" sz="2400" dirty="0"/>
          </a:p>
          <a:p>
            <a:pPr lvl="1" algn="just" eaLnBrk="1" hangingPunct="1"/>
            <a:r>
              <a:rPr lang="en-US" altLang="zh-CN" sz="2400" dirty="0">
                <a:solidFill>
                  <a:schemeClr val="accent2"/>
                </a:solidFill>
              </a:rPr>
              <a:t>MODIFY</a:t>
            </a:r>
            <a:r>
              <a:rPr lang="zh-CN" altLang="en-US" sz="2400" dirty="0">
                <a:solidFill>
                  <a:schemeClr val="accent2"/>
                </a:solidFill>
              </a:rPr>
              <a:t>子句</a:t>
            </a:r>
            <a:r>
              <a:rPr lang="zh-CN" altLang="en-US" sz="2400" dirty="0"/>
              <a:t>：用于修改列名和数据类型</a:t>
            </a:r>
            <a:endParaRPr lang="zh-CN" altLang="en-US" sz="2400" dirty="0"/>
          </a:p>
          <a:p>
            <a:pPr lvl="1" algn="just" eaLnBrk="1" hangingPunct="1"/>
            <a:r>
              <a:rPr lang="zh-CN" altLang="en-US" sz="2400" dirty="0">
                <a:ea typeface="楷体_GB2312" pitchFamily="49" charset="-122"/>
              </a:rPr>
              <a:t>注：这只是一个简化后的语法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789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3.2.1  </a:t>
            </a:r>
            <a:r>
              <a:rPr lang="zh-CN" altLang="en-US" u="sng" dirty="0"/>
              <a:t>表的定义、删除与修改</a:t>
            </a:r>
            <a:endParaRPr lang="zh-CN" altLang="en-US" u="sng" dirty="0"/>
          </a:p>
        </p:txBody>
      </p:sp>
      <p:sp>
        <p:nvSpPr>
          <p:cNvPr id="37892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53340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2] </a:t>
            </a:r>
            <a:r>
              <a:rPr lang="zh-CN" altLang="en-US" sz="2800" dirty="0">
                <a:solidFill>
                  <a:schemeClr val="tx1"/>
                </a:solidFill>
              </a:rPr>
              <a:t>向前述表</a:t>
            </a:r>
            <a:r>
              <a:rPr lang="en-US" altLang="zh-CN" sz="2800" dirty="0">
                <a:solidFill>
                  <a:schemeClr val="tx1"/>
                </a:solidFill>
              </a:rPr>
              <a:t>T</a:t>
            </a:r>
            <a:r>
              <a:rPr lang="zh-CN" altLang="en-US" sz="2800" dirty="0">
                <a:solidFill>
                  <a:schemeClr val="tx1"/>
                </a:solidFill>
              </a:rPr>
              <a:t>（</a:t>
            </a:r>
            <a:r>
              <a:rPr lang="zh-CN" altLang="en-US" sz="2800" u="sng" dirty="0"/>
              <a:t>教师号</a:t>
            </a:r>
            <a:r>
              <a:rPr lang="zh-CN" altLang="en-US" sz="2800" dirty="0">
                <a:solidFill>
                  <a:schemeClr val="tx1"/>
                </a:solidFill>
              </a:rPr>
              <a:t>，姓名，职称）中增加“参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 加工作时间”列，其数据类型为日期型。</a:t>
            </a:r>
            <a:endParaRPr lang="zh-CN" altLang="en-US" sz="2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 </a:t>
            </a:r>
            <a:r>
              <a:rPr lang="en-US" altLang="zh-CN" sz="2800" dirty="0">
                <a:solidFill>
                  <a:schemeClr val="accent2"/>
                </a:solidFill>
              </a:rPr>
              <a:t>alter table</a:t>
            </a:r>
            <a:r>
              <a:rPr lang="en-US" altLang="zh-CN" sz="2800" dirty="0">
                <a:solidFill>
                  <a:schemeClr val="tx1"/>
                </a:solidFill>
              </a:rPr>
              <a:t>   T   </a:t>
            </a:r>
            <a:r>
              <a:rPr lang="en-US" altLang="zh-CN" sz="2800" dirty="0">
                <a:solidFill>
                  <a:schemeClr val="accent2"/>
                </a:solidFill>
              </a:rPr>
              <a:t>add</a:t>
            </a:r>
            <a:r>
              <a:rPr lang="en-US" altLang="zh-CN" sz="2800" dirty="0">
                <a:solidFill>
                  <a:schemeClr val="tx1"/>
                </a:solidFill>
              </a:rPr>
              <a:t>  </a:t>
            </a:r>
            <a:r>
              <a:rPr lang="zh-CN" altLang="en-US" sz="2800" dirty="0">
                <a:solidFill>
                  <a:schemeClr val="tx1"/>
                </a:solidFill>
              </a:rPr>
              <a:t>参加工作时间  </a:t>
            </a:r>
            <a:r>
              <a:rPr lang="en-US" altLang="zh-CN" sz="2800" dirty="0">
                <a:solidFill>
                  <a:schemeClr val="accent2"/>
                </a:solidFill>
              </a:rPr>
              <a:t>date [null]</a:t>
            </a:r>
            <a:endParaRPr lang="en-US" altLang="zh-CN" sz="2800" dirty="0">
              <a:solidFill>
                <a:schemeClr val="accent2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</a:t>
            </a: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说明：新增加的列一律为空值，且除非表为空表或为列指定默认值，不允许新增约束为</a:t>
            </a:r>
            <a:r>
              <a:rPr lang="en-US" altLang="zh-CN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[</a:t>
            </a:r>
            <a:r>
              <a:rPr lang="en-US" altLang="zh-CN" sz="2800" dirty="0">
                <a:solidFill>
                  <a:schemeClr val="accent2"/>
                </a:solidFill>
                <a:ea typeface="楷体_GB2312" pitchFamily="49" charset="-122"/>
              </a:rPr>
              <a:t>not null</a:t>
            </a:r>
            <a:r>
              <a:rPr lang="en-US" altLang="zh-CN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]</a:t>
            </a: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的列。</a:t>
            </a:r>
            <a:endParaRPr lang="zh-CN" altLang="en-US" sz="28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endParaRPr lang="zh-CN" altLang="en-US" sz="28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3] </a:t>
            </a:r>
            <a:r>
              <a:rPr lang="zh-CN" altLang="en-US" sz="2800" dirty="0">
                <a:solidFill>
                  <a:schemeClr val="tx1"/>
                </a:solidFill>
              </a:rPr>
              <a:t>将表</a:t>
            </a:r>
            <a:r>
              <a:rPr lang="en-US" altLang="zh-CN" sz="2800" dirty="0">
                <a:solidFill>
                  <a:schemeClr val="tx1"/>
                </a:solidFill>
              </a:rPr>
              <a:t>C</a:t>
            </a:r>
            <a:r>
              <a:rPr lang="zh-CN" altLang="en-US" sz="2800" dirty="0">
                <a:solidFill>
                  <a:schemeClr val="tx1"/>
                </a:solidFill>
              </a:rPr>
              <a:t>中的学时数改为</a:t>
            </a:r>
            <a:r>
              <a:rPr lang="en-US" altLang="zh-CN" sz="2800" dirty="0">
                <a:solidFill>
                  <a:schemeClr val="tx1"/>
                </a:solidFill>
              </a:rPr>
              <a:t>smallint</a:t>
            </a:r>
            <a:r>
              <a:rPr lang="zh-CN" altLang="en-US" sz="2800" dirty="0">
                <a:solidFill>
                  <a:schemeClr val="tx1"/>
                </a:solidFill>
              </a:rPr>
              <a:t>型。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 </a:t>
            </a:r>
            <a:r>
              <a:rPr lang="en-US" altLang="zh-CN" sz="2800" dirty="0">
                <a:solidFill>
                  <a:schemeClr val="accent2"/>
                </a:solidFill>
              </a:rPr>
              <a:t>alter table</a:t>
            </a:r>
            <a:r>
              <a:rPr lang="en-US" altLang="zh-CN" sz="2800" dirty="0">
                <a:solidFill>
                  <a:schemeClr val="tx1"/>
                </a:solidFill>
              </a:rPr>
              <a:t>   C  </a:t>
            </a:r>
            <a:r>
              <a:rPr lang="en-US" altLang="zh-CN" sz="2800" dirty="0">
                <a:solidFill>
                  <a:schemeClr val="accent2"/>
                </a:solidFill>
              </a:rPr>
              <a:t>modify</a:t>
            </a:r>
            <a:r>
              <a:rPr lang="en-US" altLang="zh-CN" sz="2800" dirty="0">
                <a:solidFill>
                  <a:schemeClr val="tx1"/>
                </a:solidFill>
              </a:rPr>
              <a:t> </a:t>
            </a:r>
            <a:r>
              <a:rPr lang="zh-CN" altLang="en-US" sz="2800" dirty="0">
                <a:solidFill>
                  <a:schemeClr val="tx1"/>
                </a:solidFill>
              </a:rPr>
              <a:t>学时数 </a:t>
            </a:r>
            <a:r>
              <a:rPr lang="en-US" altLang="zh-CN" sz="2800" dirty="0">
                <a:solidFill>
                  <a:schemeClr val="accent2"/>
                </a:solidFill>
              </a:rPr>
              <a:t>smallint</a:t>
            </a:r>
            <a:endParaRPr lang="en-US" altLang="zh-CN" sz="2800" dirty="0">
              <a:solidFill>
                <a:schemeClr val="accent2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  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说明：修改列的定义可能破坏原有数据。</a:t>
            </a:r>
            <a:endParaRPr lang="zh-CN" altLang="en-US" sz="2800" dirty="0">
              <a:solidFill>
                <a:schemeClr val="tx1"/>
              </a:solidFill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891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3.2.1  </a:t>
            </a:r>
            <a:r>
              <a:rPr lang="zh-CN" altLang="en-US" u="sng" dirty="0"/>
              <a:t>表的定义、删除与修改</a:t>
            </a:r>
            <a:endParaRPr lang="zh-CN" altLang="en-US" u="sng" dirty="0"/>
          </a:p>
        </p:txBody>
      </p:sp>
      <p:sp>
        <p:nvSpPr>
          <p:cNvPr id="38916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4038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4] </a:t>
            </a:r>
            <a:r>
              <a:rPr lang="zh-CN" altLang="en-US" sz="2800" dirty="0">
                <a:solidFill>
                  <a:schemeClr val="tx1"/>
                </a:solidFill>
              </a:rPr>
              <a:t>删除教师姓名必须取唯一值的约束。</a:t>
            </a:r>
            <a:endParaRPr lang="zh-CN" altLang="en-US" sz="2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 </a:t>
            </a:r>
            <a:r>
              <a:rPr lang="en-US" altLang="zh-CN" sz="2800" dirty="0">
                <a:solidFill>
                  <a:schemeClr val="accent2"/>
                </a:solidFill>
              </a:rPr>
              <a:t>alter table</a:t>
            </a:r>
            <a:r>
              <a:rPr lang="en-US" altLang="zh-CN" sz="2800" dirty="0">
                <a:solidFill>
                  <a:schemeClr val="tx1"/>
                </a:solidFill>
              </a:rPr>
              <a:t>   T   </a:t>
            </a:r>
            <a:r>
              <a:rPr lang="en-US" altLang="zh-CN" sz="2800" dirty="0">
                <a:solidFill>
                  <a:schemeClr val="accent2"/>
                </a:solidFill>
              </a:rPr>
              <a:t>drop</a:t>
            </a:r>
            <a:r>
              <a:rPr lang="en-US" altLang="zh-CN" sz="2800" dirty="0">
                <a:solidFill>
                  <a:schemeClr val="tx1"/>
                </a:solidFill>
              </a:rPr>
              <a:t> </a:t>
            </a:r>
            <a:r>
              <a:rPr lang="en-US" altLang="zh-CN" sz="2800" dirty="0">
                <a:solidFill>
                  <a:schemeClr val="accent2"/>
                </a:solidFill>
              </a:rPr>
              <a:t>unique(</a:t>
            </a:r>
            <a:r>
              <a:rPr lang="zh-CN" altLang="en-US" sz="2800" dirty="0">
                <a:solidFill>
                  <a:schemeClr val="tx1"/>
                </a:solidFill>
              </a:rPr>
              <a:t>姓名</a:t>
            </a:r>
            <a:r>
              <a:rPr lang="en-US" altLang="zh-CN" sz="2800" dirty="0">
                <a:solidFill>
                  <a:schemeClr val="accent2"/>
                </a:solidFill>
              </a:rPr>
              <a:t>)</a:t>
            </a:r>
            <a:endParaRPr lang="en-US" altLang="zh-CN" sz="2800" dirty="0">
              <a:solidFill>
                <a:schemeClr val="accent2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</a:t>
            </a:r>
            <a:endParaRPr lang="en-US" altLang="zh-CN" sz="28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5] </a:t>
            </a:r>
            <a:r>
              <a:rPr lang="zh-CN" altLang="en-US" sz="2800" dirty="0">
                <a:solidFill>
                  <a:schemeClr val="tx1"/>
                </a:solidFill>
              </a:rPr>
              <a:t>将表</a:t>
            </a:r>
            <a:r>
              <a:rPr lang="en-US" altLang="zh-CN" sz="2800" dirty="0">
                <a:solidFill>
                  <a:schemeClr val="tx1"/>
                </a:solidFill>
              </a:rPr>
              <a:t>T</a:t>
            </a:r>
            <a:r>
              <a:rPr lang="zh-CN" altLang="en-US" sz="2800" dirty="0">
                <a:solidFill>
                  <a:schemeClr val="tx1"/>
                </a:solidFill>
              </a:rPr>
              <a:t>中的“参加工作时间”列去掉。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 </a:t>
            </a:r>
            <a:r>
              <a:rPr lang="en-US" altLang="zh-CN" sz="2800" dirty="0">
                <a:solidFill>
                  <a:schemeClr val="accent2"/>
                </a:solidFill>
              </a:rPr>
              <a:t>alter table</a:t>
            </a:r>
            <a:r>
              <a:rPr lang="en-US" altLang="zh-CN" sz="2800" dirty="0">
                <a:solidFill>
                  <a:schemeClr val="tx1"/>
                </a:solidFill>
              </a:rPr>
              <a:t>   C  </a:t>
            </a:r>
            <a:r>
              <a:rPr lang="en-US" altLang="zh-CN" sz="2800" dirty="0">
                <a:solidFill>
                  <a:schemeClr val="accent2"/>
                </a:solidFill>
              </a:rPr>
              <a:t>drop  column</a:t>
            </a:r>
            <a:r>
              <a:rPr lang="en-US" altLang="zh-CN" sz="2800" dirty="0">
                <a:solidFill>
                  <a:schemeClr val="tx1"/>
                </a:solidFill>
              </a:rPr>
              <a:t> </a:t>
            </a:r>
            <a:r>
              <a:rPr lang="zh-CN" altLang="en-US" sz="2800" dirty="0">
                <a:solidFill>
                  <a:schemeClr val="tx1"/>
                </a:solidFill>
              </a:rPr>
              <a:t>参加工作时间</a:t>
            </a:r>
            <a:endParaRPr lang="zh-CN" altLang="en-US" sz="2800" dirty="0">
              <a:solidFill>
                <a:schemeClr val="accent2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</a:t>
            </a:r>
            <a:endParaRPr lang="zh-CN" altLang="en-US" sz="2800" dirty="0">
              <a:solidFill>
                <a:schemeClr val="tx1"/>
              </a:solidFill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993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3.2  </a:t>
            </a:r>
            <a:r>
              <a:rPr lang="zh-CN" altLang="en-US" u="sng" dirty="0"/>
              <a:t>数据定义</a:t>
            </a:r>
            <a:endParaRPr lang="zh-CN" altLang="en-US" u="sng" dirty="0"/>
          </a:p>
        </p:txBody>
      </p:sp>
      <p:sp>
        <p:nvSpPr>
          <p:cNvPr id="39940" name="Rectangle 3"/>
          <p:cNvSpPr>
            <a:spLocks noGrp="1"/>
          </p:cNvSpPr>
          <p:nvPr>
            <p:ph idx="1"/>
          </p:nvPr>
        </p:nvSpPr>
        <p:spPr>
          <a:xfrm>
            <a:off x="228600" y="1676400"/>
            <a:ext cx="8686800" cy="2514600"/>
          </a:xfrm>
          <a:ln/>
        </p:spPr>
        <p:txBody>
          <a:bodyPr vert="horz" wrap="square" lIns="91440" tIns="45720" rIns="91440" bIns="45720" anchor="t" anchorCtr="0"/>
          <a:p>
            <a:pPr lvl="1" eaLnBrk="1" hangingPunct="1"/>
            <a:r>
              <a:rPr lang="en-US" altLang="zh-CN" sz="3600" dirty="0">
                <a:latin typeface="Arial" panose="020B0604020202020204" pitchFamily="34" charset="0"/>
                <a:ea typeface="楷体_GB2312" pitchFamily="49" charset="-122"/>
              </a:rPr>
              <a:t>3.2.1 </a:t>
            </a:r>
            <a:r>
              <a:rPr lang="zh-CN" altLang="en-US" sz="3600" dirty="0">
                <a:latin typeface="Arial" panose="020B0604020202020204" pitchFamily="34" charset="0"/>
                <a:ea typeface="楷体_GB2312" pitchFamily="49" charset="-122"/>
              </a:rPr>
              <a:t>表的定义、删除与修改</a:t>
            </a:r>
            <a:endParaRPr lang="zh-CN" altLang="en-US" sz="3600" dirty="0">
              <a:latin typeface="Arial" panose="020B0604020202020204" pitchFamily="34" charset="0"/>
              <a:ea typeface="楷体_GB2312" pitchFamily="49" charset="-122"/>
            </a:endParaRPr>
          </a:p>
          <a:p>
            <a:pPr lvl="1" eaLnBrk="1" hangingPunct="1"/>
            <a:r>
              <a:rPr lang="en-US" altLang="zh-CN" sz="360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3.2.2 </a:t>
            </a:r>
            <a:r>
              <a:rPr lang="zh-CN" altLang="en-US" sz="360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建立与删除索引</a:t>
            </a:r>
            <a:endParaRPr lang="zh-CN" altLang="en-US" sz="3600" dirty="0">
              <a:solidFill>
                <a:srgbClr val="FF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096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3.2.2   </a:t>
            </a:r>
            <a:r>
              <a:rPr lang="zh-CN" altLang="en-US" u="sng" dirty="0"/>
              <a:t>建立与删除索引</a:t>
            </a:r>
            <a:endParaRPr lang="zh-CN" altLang="en-US" u="sng" dirty="0"/>
          </a:p>
        </p:txBody>
      </p:sp>
      <p:sp>
        <p:nvSpPr>
          <p:cNvPr id="40964" name="Rectangle 3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4102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/>
            <a:r>
              <a:rPr lang="zh-CN" altLang="en-US" dirty="0"/>
              <a:t>建立索引是加快查询速度的有效手段</a:t>
            </a:r>
            <a:endParaRPr lang="zh-CN" altLang="en-US" dirty="0"/>
          </a:p>
          <a:p>
            <a:pPr algn="just" eaLnBrk="1" hangingPunct="1"/>
            <a:r>
              <a:rPr lang="zh-CN" altLang="en-US" dirty="0"/>
              <a:t>建立索引</a:t>
            </a:r>
            <a:endParaRPr lang="zh-CN" altLang="en-US" dirty="0"/>
          </a:p>
          <a:p>
            <a:pPr lvl="1" algn="just" eaLnBrk="1" hangingPunct="1"/>
            <a:r>
              <a:rPr lang="en-US" altLang="zh-CN" dirty="0"/>
              <a:t>DBA</a:t>
            </a:r>
            <a:r>
              <a:rPr lang="zh-CN" altLang="en-US" dirty="0"/>
              <a:t>或表的属主（即建立表的人）根据需要建立</a:t>
            </a:r>
            <a:endParaRPr lang="zh-CN" altLang="en-US" dirty="0"/>
          </a:p>
          <a:p>
            <a:pPr lvl="1" algn="just" eaLnBrk="1" hangingPunct="1"/>
            <a:r>
              <a:rPr lang="zh-CN" altLang="en-US" dirty="0"/>
              <a:t>有些</a:t>
            </a:r>
            <a:r>
              <a:rPr lang="en-US" altLang="zh-CN" dirty="0"/>
              <a:t>DBMS</a:t>
            </a:r>
            <a:r>
              <a:rPr lang="zh-CN" altLang="en-US" dirty="0"/>
              <a:t>自动建立以下列上的索引</a:t>
            </a:r>
            <a:endParaRPr lang="zh-CN" altLang="en-US" dirty="0"/>
          </a:p>
          <a:p>
            <a:pPr lvl="2" algn="just" eaLnBrk="1" hangingPunct="1"/>
            <a:r>
              <a:rPr lang="zh-CN" altLang="en-US" dirty="0"/>
              <a:t> </a:t>
            </a:r>
            <a:r>
              <a:rPr lang="en-US" altLang="zh-CN" sz="2800" dirty="0"/>
              <a:t>PRIMARY  KEY</a:t>
            </a:r>
            <a:endParaRPr lang="en-US" altLang="zh-CN" sz="2800" dirty="0"/>
          </a:p>
          <a:p>
            <a:pPr lvl="2" algn="just" eaLnBrk="1" hangingPunct="1"/>
            <a:r>
              <a:rPr lang="en-US" altLang="zh-CN" sz="2800" dirty="0"/>
              <a:t> UNIQUE</a:t>
            </a:r>
            <a:endParaRPr lang="en-US" altLang="zh-CN" dirty="0"/>
          </a:p>
          <a:p>
            <a:pPr algn="just" eaLnBrk="1" hangingPunct="1"/>
            <a:r>
              <a:rPr lang="zh-CN" altLang="en-US" dirty="0"/>
              <a:t>维护索引</a:t>
            </a:r>
            <a:endParaRPr lang="zh-CN" altLang="en-US" dirty="0"/>
          </a:p>
          <a:p>
            <a:pPr lvl="1" algn="just" eaLnBrk="1" hangingPunct="1"/>
            <a:r>
              <a:rPr lang="zh-CN" altLang="en-US" dirty="0"/>
              <a:t> </a:t>
            </a:r>
            <a:r>
              <a:rPr lang="en-US" altLang="zh-CN" dirty="0"/>
              <a:t>DBMS</a:t>
            </a:r>
            <a:r>
              <a:rPr lang="zh-CN" altLang="en-US" dirty="0"/>
              <a:t>自动完成</a:t>
            </a:r>
            <a:r>
              <a:rPr lang="zh-CN" altLang="en-US" dirty="0">
                <a:latin typeface="Courier New" panose="02070309020205020404" pitchFamily="49" charset="0"/>
              </a:rPr>
              <a:t> </a:t>
            </a:r>
            <a:endParaRPr lang="zh-CN" altLang="en-US" dirty="0"/>
          </a:p>
          <a:p>
            <a:pPr algn="just" eaLnBrk="1" hangingPunct="1"/>
            <a:r>
              <a:rPr lang="zh-CN" altLang="en-US" dirty="0"/>
              <a:t>使用索引</a:t>
            </a:r>
            <a:endParaRPr lang="zh-CN" altLang="en-US" dirty="0"/>
          </a:p>
          <a:p>
            <a:pPr lvl="1" algn="just" eaLnBrk="1" hangingPunct="1"/>
            <a:r>
              <a:rPr lang="zh-CN" altLang="en-US" dirty="0"/>
              <a:t> </a:t>
            </a:r>
            <a:r>
              <a:rPr lang="en-US" altLang="zh-CN" dirty="0"/>
              <a:t>DBMS</a:t>
            </a:r>
            <a:r>
              <a:rPr lang="zh-CN" altLang="en-US" dirty="0"/>
              <a:t>自动选择是否使用索引以及使用哪些索引</a:t>
            </a:r>
            <a:endParaRPr lang="zh-CN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198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3.2.2   </a:t>
            </a:r>
            <a:r>
              <a:rPr lang="zh-CN" altLang="en-US" u="sng" dirty="0"/>
              <a:t>建立与删除索引</a:t>
            </a:r>
            <a:endParaRPr lang="zh-CN" altLang="en-US" u="sng" dirty="0"/>
          </a:p>
        </p:txBody>
      </p:sp>
      <p:sp>
        <p:nvSpPr>
          <p:cNvPr id="41988" name="Rectangle 3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105400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buNone/>
            </a:pPr>
            <a:r>
              <a:rPr lang="en-US" altLang="zh-CN" sz="3600" dirty="0">
                <a:solidFill>
                  <a:srgbClr val="FF3300"/>
                </a:solidFill>
              </a:rPr>
              <a:t>1. </a:t>
            </a:r>
            <a:r>
              <a:rPr lang="zh-CN" altLang="en-US" sz="3600" dirty="0">
                <a:solidFill>
                  <a:srgbClr val="FF3300"/>
                </a:solidFill>
              </a:rPr>
              <a:t>建立索引</a:t>
            </a:r>
            <a:endParaRPr lang="zh-CN" altLang="en-US" sz="3600" dirty="0">
              <a:solidFill>
                <a:srgbClr val="FF3300"/>
              </a:solidFill>
            </a:endParaRPr>
          </a:p>
          <a:p>
            <a:pPr lvl="1" eaLnBrk="1" hangingPunct="1"/>
            <a:r>
              <a:rPr lang="zh-CN" altLang="en-US" dirty="0">
                <a:solidFill>
                  <a:schemeClr val="accent2"/>
                </a:solidFill>
              </a:rPr>
              <a:t>语法</a:t>
            </a:r>
            <a:r>
              <a:rPr lang="en-US" altLang="zh-CN" dirty="0">
                <a:solidFill>
                  <a:schemeClr val="accent2"/>
                </a:solidFill>
              </a:rPr>
              <a:t>:</a:t>
            </a:r>
            <a:endParaRPr lang="en-US" altLang="zh-CN" dirty="0">
              <a:solidFill>
                <a:schemeClr val="accent2"/>
              </a:solidFill>
            </a:endParaRPr>
          </a:p>
          <a:p>
            <a:pPr lvl="1" eaLnBrk="1" hangingPunct="1">
              <a:buNone/>
            </a:pPr>
            <a:r>
              <a:rPr lang="en-US" altLang="zh-CN" i="1" dirty="0">
                <a:solidFill>
                  <a:srgbClr val="FF3300"/>
                </a:solidFill>
              </a:rPr>
              <a:t>create </a:t>
            </a:r>
            <a:r>
              <a:rPr lang="en-US" altLang="zh-CN" sz="2600" dirty="0"/>
              <a:t> [</a:t>
            </a:r>
            <a:r>
              <a:rPr lang="en-US" altLang="zh-CN" i="1" dirty="0">
                <a:solidFill>
                  <a:srgbClr val="FF3300"/>
                </a:solidFill>
              </a:rPr>
              <a:t>unique</a:t>
            </a:r>
            <a:r>
              <a:rPr lang="en-US" altLang="zh-CN" sz="2600" dirty="0"/>
              <a:t>/</a:t>
            </a:r>
            <a:r>
              <a:rPr lang="en-US" altLang="zh-CN" sz="2600" i="1" dirty="0">
                <a:solidFill>
                  <a:srgbClr val="FF3300"/>
                </a:solidFill>
              </a:rPr>
              <a:t>distinct</a:t>
            </a:r>
            <a:r>
              <a:rPr lang="en-US" altLang="zh-CN" sz="2600" dirty="0"/>
              <a:t>]  [</a:t>
            </a:r>
            <a:r>
              <a:rPr lang="en-US" altLang="zh-CN" sz="2600" i="1" dirty="0">
                <a:solidFill>
                  <a:srgbClr val="FF3300"/>
                </a:solidFill>
              </a:rPr>
              <a:t>cluster</a:t>
            </a:r>
            <a:r>
              <a:rPr lang="en-US" altLang="zh-CN" sz="2600" dirty="0"/>
              <a:t>]  </a:t>
            </a:r>
            <a:r>
              <a:rPr lang="en-US" altLang="zh-CN" sz="2600" i="1" dirty="0">
                <a:solidFill>
                  <a:srgbClr val="FF3300"/>
                </a:solidFill>
              </a:rPr>
              <a:t>index</a:t>
            </a:r>
            <a:r>
              <a:rPr lang="en-US" altLang="zh-CN" sz="2600" i="1" dirty="0"/>
              <a:t> </a:t>
            </a:r>
            <a:r>
              <a:rPr lang="en-US" altLang="zh-CN" sz="2600" dirty="0"/>
              <a:t> </a:t>
            </a:r>
            <a:r>
              <a:rPr lang="zh-CN" altLang="en-US" sz="2600" dirty="0"/>
              <a:t>索引名</a:t>
            </a:r>
            <a:endParaRPr lang="zh-CN" altLang="en-US" sz="2600" dirty="0"/>
          </a:p>
          <a:p>
            <a:pPr lvl="1" algn="ctr" eaLnBrk="1" hangingPunct="1">
              <a:buNone/>
            </a:pPr>
            <a:r>
              <a:rPr lang="en-US" altLang="zh-CN" i="1" dirty="0">
                <a:solidFill>
                  <a:srgbClr val="FF3300"/>
                </a:solidFill>
              </a:rPr>
              <a:t>on </a:t>
            </a:r>
            <a:r>
              <a:rPr lang="en-US" altLang="zh-CN" sz="2600" dirty="0"/>
              <a:t> </a:t>
            </a:r>
            <a:r>
              <a:rPr lang="zh-CN" altLang="en-US" sz="2600" dirty="0"/>
              <a:t>表名 </a:t>
            </a:r>
            <a:r>
              <a:rPr lang="en-US" altLang="zh-CN" sz="2600" dirty="0"/>
              <a:t>(</a:t>
            </a:r>
            <a:r>
              <a:rPr lang="zh-CN" altLang="en-US" sz="2600" dirty="0"/>
              <a:t>列名 </a:t>
            </a:r>
            <a:r>
              <a:rPr lang="en-US" altLang="zh-CN" sz="2600" dirty="0"/>
              <a:t>[</a:t>
            </a:r>
            <a:r>
              <a:rPr lang="en-US" altLang="zh-CN" sz="2600" i="1" dirty="0">
                <a:solidFill>
                  <a:srgbClr val="FF3300"/>
                </a:solidFill>
              </a:rPr>
              <a:t>a</a:t>
            </a:r>
            <a:r>
              <a:rPr lang="en-US" altLang="zh-CN" i="1" dirty="0">
                <a:solidFill>
                  <a:srgbClr val="FF3300"/>
                </a:solidFill>
              </a:rPr>
              <a:t>sc</a:t>
            </a:r>
            <a:r>
              <a:rPr lang="en-US" altLang="zh-CN" sz="2600" dirty="0"/>
              <a:t>/</a:t>
            </a:r>
            <a:r>
              <a:rPr lang="en-US" altLang="zh-CN" sz="2600" i="1" dirty="0">
                <a:solidFill>
                  <a:srgbClr val="FF3300"/>
                </a:solidFill>
              </a:rPr>
              <a:t>desc</a:t>
            </a:r>
            <a:r>
              <a:rPr lang="en-US" altLang="zh-CN" sz="2600" dirty="0"/>
              <a:t>]  [ , </a:t>
            </a:r>
            <a:r>
              <a:rPr lang="zh-CN" altLang="en-US" sz="2600" dirty="0"/>
              <a:t>列名</a:t>
            </a:r>
            <a:r>
              <a:rPr lang="en-US" altLang="zh-CN" sz="2600" u="sng" dirty="0">
                <a:solidFill>
                  <a:srgbClr val="FF3300"/>
                </a:solidFill>
              </a:rPr>
              <a:t>asc</a:t>
            </a:r>
            <a:r>
              <a:rPr lang="en-US" altLang="zh-CN" sz="2600" dirty="0"/>
              <a:t>/</a:t>
            </a:r>
            <a:r>
              <a:rPr lang="en-US" altLang="zh-CN" sz="2600" i="1" dirty="0">
                <a:solidFill>
                  <a:srgbClr val="FF3300"/>
                </a:solidFill>
              </a:rPr>
              <a:t>desc</a:t>
            </a:r>
            <a:r>
              <a:rPr lang="en-US" altLang="zh-CN" sz="2600" dirty="0"/>
              <a:t>]]…)</a:t>
            </a:r>
            <a:endParaRPr lang="en-US" altLang="zh-CN" sz="2600" dirty="0"/>
          </a:p>
          <a:p>
            <a:pPr eaLnBrk="1" hangingPunct="1">
              <a:spcBef>
                <a:spcPct val="35000"/>
              </a:spcBef>
              <a:buNone/>
            </a:pPr>
            <a:r>
              <a:rPr lang="en-US" altLang="zh-CN" sz="3000" dirty="0">
                <a:solidFill>
                  <a:srgbClr val="FF0000"/>
                </a:solidFill>
              </a:rPr>
              <a:t>    </a:t>
            </a:r>
            <a:r>
              <a:rPr lang="en-US" altLang="zh-CN" sz="2800" dirty="0">
                <a:solidFill>
                  <a:srgbClr val="FF0000"/>
                </a:solidFill>
              </a:rPr>
              <a:t>unique</a:t>
            </a:r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r>
              <a:rPr lang="en-US" altLang="zh-CN" sz="2800" dirty="0">
                <a:solidFill>
                  <a:srgbClr val="FF0000"/>
                </a:solidFill>
              </a:rPr>
              <a:t>distinct</a:t>
            </a:r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r>
              <a:rPr lang="zh-CN" altLang="en-US" sz="3000" dirty="0"/>
              <a:t>：</a:t>
            </a:r>
            <a:r>
              <a:rPr lang="zh-CN" altLang="en-US" sz="2400" dirty="0">
                <a:solidFill>
                  <a:schemeClr val="tx1"/>
                </a:solidFill>
              </a:rPr>
              <a:t>唯一性索引，不允许表中不同的行在索引列上取相同值。若已有相同值存在，则系统给出提示信息，不建此索引。系统还拒绝违背唯一性的插入、更新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eaLnBrk="1" hangingPunct="1">
              <a:spcBef>
                <a:spcPct val="35000"/>
              </a:spcBef>
              <a:buNone/>
            </a:pPr>
            <a:r>
              <a:rPr lang="zh-CN" altLang="en-US" sz="3000" dirty="0"/>
              <a:t>    </a:t>
            </a:r>
            <a:r>
              <a:rPr lang="en-US" altLang="zh-CN" sz="2800" dirty="0">
                <a:solidFill>
                  <a:srgbClr val="FF0000"/>
                </a:solidFill>
              </a:rPr>
              <a:t>cluster</a:t>
            </a:r>
            <a:r>
              <a:rPr lang="zh-CN" altLang="en-US" sz="2400" dirty="0">
                <a:solidFill>
                  <a:srgbClr val="FF0000"/>
                </a:solidFill>
              </a:rPr>
              <a:t>：</a:t>
            </a:r>
            <a:r>
              <a:rPr lang="zh-CN" altLang="en-US" sz="2400" dirty="0">
                <a:solidFill>
                  <a:schemeClr val="tx1"/>
                </a:solidFill>
              </a:rPr>
              <a:t>聚簇索引，表中元组按索引项的值排序并物理地聚集在一起。一个基本表上只能建一个聚簇索引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eaLnBrk="1" hangingPunct="1">
              <a:spcBef>
                <a:spcPct val="35000"/>
              </a:spcBef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     </a:t>
            </a:r>
            <a:r>
              <a:rPr lang="en-US" altLang="zh-CN" sz="2800" dirty="0">
                <a:solidFill>
                  <a:srgbClr val="FF0000"/>
                </a:solidFill>
              </a:rPr>
              <a:t>asc/desc</a:t>
            </a:r>
            <a:r>
              <a:rPr lang="zh-CN" altLang="en-US" sz="2400" dirty="0">
                <a:solidFill>
                  <a:srgbClr val="FF0000"/>
                </a:solidFill>
              </a:rPr>
              <a:t>：</a:t>
            </a:r>
            <a:r>
              <a:rPr lang="zh-CN" altLang="en-US" sz="2400" dirty="0">
                <a:solidFill>
                  <a:schemeClr val="tx1"/>
                </a:solidFill>
              </a:rPr>
              <a:t>索引表中索引值的排序次序，缺省为</a:t>
            </a:r>
            <a:r>
              <a:rPr lang="en-US" altLang="zh-CN" sz="2400" dirty="0">
                <a:solidFill>
                  <a:schemeClr val="tx1"/>
                </a:solidFill>
              </a:rPr>
              <a:t>asc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301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3.2.2   </a:t>
            </a:r>
            <a:r>
              <a:rPr lang="zh-CN" altLang="en-US" u="sng" dirty="0"/>
              <a:t>建立与删除索引</a:t>
            </a:r>
            <a:endParaRPr lang="zh-CN" altLang="en-US" u="sng" dirty="0"/>
          </a:p>
        </p:txBody>
      </p:sp>
      <p:sp>
        <p:nvSpPr>
          <p:cNvPr id="43012" name="Rectangle 3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4864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[</a:t>
            </a:r>
            <a:r>
              <a:rPr lang="zh-CN" altLang="en-US" sz="2400" dirty="0">
                <a:solidFill>
                  <a:schemeClr val="tx1"/>
                </a:solidFill>
              </a:rPr>
              <a:t>例</a:t>
            </a:r>
            <a:r>
              <a:rPr lang="en-US" altLang="zh-CN" sz="2400" dirty="0">
                <a:solidFill>
                  <a:schemeClr val="tx1"/>
                </a:solidFill>
              </a:rPr>
              <a:t>6] </a:t>
            </a:r>
            <a:r>
              <a:rPr lang="zh-CN" altLang="en-US" sz="2400" dirty="0">
                <a:solidFill>
                  <a:schemeClr val="tx1"/>
                </a:solidFill>
              </a:rPr>
              <a:t>对教师表按姓名的字典升序建立简单索引。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         </a:t>
            </a:r>
            <a:r>
              <a:rPr lang="en-US" altLang="zh-CN" sz="2400" dirty="0">
                <a:solidFill>
                  <a:schemeClr val="accent2"/>
                </a:solidFill>
              </a:rPr>
              <a:t>create index </a:t>
            </a:r>
            <a:r>
              <a:rPr lang="en-US" altLang="zh-CN" sz="2400" dirty="0">
                <a:solidFill>
                  <a:schemeClr val="tx1"/>
                </a:solidFill>
              </a:rPr>
              <a:t>tname_idx</a:t>
            </a:r>
            <a:r>
              <a:rPr lang="en-US" altLang="zh-CN" sz="2400" dirty="0">
                <a:solidFill>
                  <a:schemeClr val="accent2"/>
                </a:solidFill>
              </a:rPr>
              <a:t>  on </a:t>
            </a:r>
            <a:r>
              <a:rPr lang="en-US" altLang="zh-CN" sz="2400" dirty="0">
                <a:solidFill>
                  <a:schemeClr val="tx1"/>
                </a:solidFill>
              </a:rPr>
              <a:t>T (</a:t>
            </a:r>
            <a:r>
              <a:rPr lang="zh-CN" altLang="en-US" sz="2400" dirty="0">
                <a:solidFill>
                  <a:schemeClr val="tx1"/>
                </a:solidFill>
              </a:rPr>
              <a:t>姓名</a:t>
            </a:r>
            <a:r>
              <a:rPr lang="en-US" altLang="zh-CN" sz="2400" dirty="0">
                <a:solidFill>
                  <a:schemeClr val="tx1"/>
                </a:solidFill>
              </a:rPr>
              <a:t>)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[</a:t>
            </a:r>
            <a:r>
              <a:rPr lang="zh-CN" altLang="en-US" sz="2400" dirty="0">
                <a:solidFill>
                  <a:schemeClr val="tx1"/>
                </a:solidFill>
              </a:rPr>
              <a:t>例</a:t>
            </a:r>
            <a:r>
              <a:rPr lang="en-US" altLang="zh-CN" sz="2400" dirty="0">
                <a:solidFill>
                  <a:schemeClr val="tx1"/>
                </a:solidFill>
              </a:rPr>
              <a:t>7] </a:t>
            </a:r>
            <a:r>
              <a:rPr lang="zh-CN" altLang="en-US" sz="2400" dirty="0">
                <a:solidFill>
                  <a:schemeClr val="tx1"/>
                </a:solidFill>
              </a:rPr>
              <a:t>下面的示例为 </a:t>
            </a:r>
            <a:r>
              <a:rPr lang="en-US" altLang="zh-CN" sz="2400" dirty="0">
                <a:solidFill>
                  <a:schemeClr val="tx1"/>
                </a:solidFill>
              </a:rPr>
              <a:t>emp_pay </a:t>
            </a:r>
            <a:r>
              <a:rPr lang="zh-CN" altLang="en-US" sz="2400" dirty="0">
                <a:solidFill>
                  <a:schemeClr val="tx1"/>
                </a:solidFill>
              </a:rPr>
              <a:t>表的 </a:t>
            </a:r>
            <a:r>
              <a:rPr lang="en-US" altLang="zh-CN" sz="2400" dirty="0">
                <a:solidFill>
                  <a:schemeClr val="tx1"/>
                </a:solidFill>
              </a:rPr>
              <a:t>employeeID </a:t>
            </a:r>
            <a:r>
              <a:rPr lang="zh-CN" altLang="en-US" sz="2400" dirty="0">
                <a:solidFill>
                  <a:schemeClr val="tx1"/>
                </a:solidFill>
              </a:rPr>
              <a:t>列创建索引，并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          且强制唯一性。因为指定了 </a:t>
            </a: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</a:rPr>
              <a:t>CLUSTERED</a:t>
            </a:r>
            <a:r>
              <a:rPr lang="en-US" altLang="zh-CN" sz="2400" dirty="0">
                <a:solidFill>
                  <a:schemeClr val="tx1"/>
                </a:solidFill>
              </a:rPr>
              <a:t> </a:t>
            </a:r>
            <a:r>
              <a:rPr lang="zh-CN" altLang="en-US" sz="2400" dirty="0">
                <a:solidFill>
                  <a:schemeClr val="tx1"/>
                </a:solidFill>
              </a:rPr>
              <a:t>子句，所以该索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          引将对磁盘上的数据进行物理排序。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         </a:t>
            </a:r>
            <a:r>
              <a:rPr lang="en-US" altLang="zh-CN" sz="2000" dirty="0">
                <a:solidFill>
                  <a:schemeClr val="accent2"/>
                </a:solidFill>
                <a:latin typeface="Arial" panose="020B0604020202020204" pitchFamily="34" charset="0"/>
              </a:rPr>
              <a:t>CREATE TABLE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</a:rPr>
              <a:t> emp_pay  (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</a:rPr>
              <a:t>               employeeID </a:t>
            </a:r>
            <a:r>
              <a:rPr lang="en-US" altLang="zh-CN" sz="2000" dirty="0">
                <a:solidFill>
                  <a:schemeClr val="accent2"/>
                </a:solidFill>
                <a:latin typeface="Arial" panose="020B0604020202020204" pitchFamily="34" charset="0"/>
              </a:rPr>
              <a:t>  int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</a:rPr>
              <a:t>   NOT NULL,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</a:rPr>
              <a:t>               base_pay  </a:t>
            </a:r>
            <a:r>
              <a:rPr lang="en-US" altLang="zh-CN" sz="2000" dirty="0">
                <a:solidFill>
                  <a:schemeClr val="accent2"/>
                </a:solidFill>
                <a:latin typeface="Arial" panose="020B0604020202020204" pitchFamily="34" charset="0"/>
              </a:rPr>
              <a:t> money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</a:rPr>
              <a:t>   NOT NULL,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</a:rPr>
              <a:t>              commission   </a:t>
            </a:r>
            <a:r>
              <a:rPr lang="en-US" altLang="zh-CN" sz="2000" dirty="0">
                <a:solidFill>
                  <a:schemeClr val="accent2"/>
                </a:solidFill>
                <a:latin typeface="Arial" panose="020B0604020202020204" pitchFamily="34" charset="0"/>
              </a:rPr>
              <a:t>decimal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</a:rPr>
              <a:t>(2, 2)   NOT NULL )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       </a:t>
            </a:r>
            <a:r>
              <a:rPr lang="en-US" altLang="zh-CN" sz="2400" dirty="0">
                <a:solidFill>
                  <a:schemeClr val="accent2"/>
                </a:solidFill>
                <a:latin typeface="Arial" panose="020B0604020202020204" pitchFamily="34" charset="0"/>
              </a:rPr>
              <a:t>CREATE UNIQUE CLUSTERED INDEX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 employeeID_ind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       </a:t>
            </a:r>
            <a:r>
              <a:rPr lang="en-US" altLang="zh-CN" sz="2400" dirty="0">
                <a:solidFill>
                  <a:schemeClr val="accent2"/>
                </a:solidFill>
                <a:latin typeface="Arial" panose="020B0604020202020204" pitchFamily="34" charset="0"/>
              </a:rPr>
              <a:t>ON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   emp_pay (employeeID)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403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3.2.2   </a:t>
            </a:r>
            <a:r>
              <a:rPr lang="zh-CN" altLang="en-US" u="sng" dirty="0"/>
              <a:t>建立与删除索引</a:t>
            </a:r>
            <a:endParaRPr lang="zh-CN" altLang="en-US" u="sng" dirty="0"/>
          </a:p>
        </p:txBody>
      </p:sp>
      <p:sp>
        <p:nvSpPr>
          <p:cNvPr id="44036" name="Rectangle 3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2578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[</a:t>
            </a:r>
            <a:r>
              <a:rPr lang="zh-CN" altLang="en-US" sz="2400" dirty="0">
                <a:solidFill>
                  <a:schemeClr val="tx1"/>
                </a:solidFill>
              </a:rPr>
              <a:t>例</a:t>
            </a:r>
            <a:r>
              <a:rPr lang="en-US" altLang="zh-CN" sz="2400" dirty="0">
                <a:solidFill>
                  <a:schemeClr val="tx1"/>
                </a:solidFill>
              </a:rPr>
              <a:t>8] </a:t>
            </a:r>
            <a:r>
              <a:rPr lang="zh-CN" altLang="en-US" sz="2400" dirty="0">
                <a:solidFill>
                  <a:schemeClr val="tx1"/>
                </a:solidFill>
              </a:rPr>
              <a:t>下面的示例为 </a:t>
            </a:r>
            <a:r>
              <a:rPr lang="en-US" altLang="zh-CN" sz="2400" dirty="0">
                <a:solidFill>
                  <a:schemeClr val="tx1"/>
                </a:solidFill>
              </a:rPr>
              <a:t>order_emp </a:t>
            </a:r>
            <a:r>
              <a:rPr lang="zh-CN" altLang="en-US" sz="2400" dirty="0">
                <a:solidFill>
                  <a:schemeClr val="tx1"/>
                </a:solidFill>
              </a:rPr>
              <a:t>表的 </a:t>
            </a:r>
            <a:r>
              <a:rPr lang="en-US" altLang="zh-CN" sz="2400" dirty="0">
                <a:solidFill>
                  <a:schemeClr val="tx1"/>
                </a:solidFill>
              </a:rPr>
              <a:t>orderID </a:t>
            </a:r>
            <a:r>
              <a:rPr lang="zh-CN" altLang="en-US" sz="2400" dirty="0">
                <a:solidFill>
                  <a:schemeClr val="tx1"/>
                </a:solidFill>
              </a:rPr>
              <a:t>列和 </a:t>
            </a:r>
            <a:r>
              <a:rPr lang="en-US" altLang="zh-CN" sz="2400" dirty="0">
                <a:solidFill>
                  <a:schemeClr val="tx1"/>
                </a:solidFill>
              </a:rPr>
              <a:t>employeeID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      </a:t>
            </a:r>
            <a:r>
              <a:rPr lang="zh-CN" altLang="en-US" sz="2400" dirty="0">
                <a:solidFill>
                  <a:schemeClr val="tx1"/>
                </a:solidFill>
              </a:rPr>
              <a:t>列创建简单的组合索引。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          </a:t>
            </a:r>
            <a:r>
              <a:rPr lang="en-US" altLang="zh-CN" sz="2400" dirty="0">
                <a:solidFill>
                  <a:schemeClr val="accent2"/>
                </a:solidFill>
                <a:latin typeface="Arial" panose="020B0604020202020204" pitchFamily="34" charset="0"/>
              </a:rPr>
              <a:t>CREATE TABLE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 order_emp  (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         orderID   </a:t>
            </a:r>
            <a:r>
              <a:rPr lang="en-US" altLang="zh-CN" sz="2400" dirty="0">
                <a:solidFill>
                  <a:schemeClr val="accent2"/>
                </a:solidFill>
                <a:latin typeface="Arial" panose="020B0604020202020204" pitchFamily="34" charset="0"/>
              </a:rPr>
              <a:t>int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  IDENTITY(1000, 1),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         employeeID </a:t>
            </a:r>
            <a:r>
              <a:rPr lang="en-US" altLang="zh-CN" sz="2400" dirty="0">
                <a:solidFill>
                  <a:schemeClr val="accent2"/>
                </a:solidFill>
                <a:latin typeface="Arial" panose="020B0604020202020204" pitchFamily="34" charset="0"/>
              </a:rPr>
              <a:t>int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NOT NULL,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         orderdate </a:t>
            </a:r>
            <a:r>
              <a:rPr lang="en-US" altLang="zh-CN" sz="2400" dirty="0">
                <a:solidFill>
                  <a:schemeClr val="accent2"/>
                </a:solidFill>
                <a:latin typeface="Arial" panose="020B0604020202020204" pitchFamily="34" charset="0"/>
              </a:rPr>
              <a:t>datetime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 NOT NULL </a:t>
            </a:r>
            <a:r>
              <a:rPr lang="en-US" altLang="zh-CN" sz="2400" dirty="0">
                <a:solidFill>
                  <a:schemeClr val="accent2"/>
                </a:solidFill>
                <a:latin typeface="Arial" panose="020B0604020202020204" pitchFamily="34" charset="0"/>
              </a:rPr>
              <a:t>DEFAULT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GETDATE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(),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         orderamount </a:t>
            </a:r>
            <a:r>
              <a:rPr lang="en-US" altLang="zh-CN" sz="2400" dirty="0">
                <a:solidFill>
                  <a:schemeClr val="accent2"/>
                </a:solidFill>
                <a:latin typeface="Arial" panose="020B0604020202020204" pitchFamily="34" charset="0"/>
              </a:rPr>
              <a:t>money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 NOT NULL )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400" dirty="0">
                <a:solidFill>
                  <a:schemeClr val="accent2"/>
                </a:solidFill>
                <a:latin typeface="Arial" panose="020B0604020202020204" pitchFamily="34" charset="0"/>
              </a:rPr>
              <a:t>        CREATE   INDEX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 emp_order_ind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        </a:t>
            </a:r>
            <a:r>
              <a:rPr lang="en-US" altLang="zh-CN" sz="2400" dirty="0">
                <a:solidFill>
                  <a:schemeClr val="accent2"/>
                </a:solidFill>
                <a:latin typeface="Arial" panose="020B0604020202020204" pitchFamily="34" charset="0"/>
              </a:rPr>
              <a:t>ON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   order_emp (orderID, employeeID)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505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3.2.2   </a:t>
            </a:r>
            <a:r>
              <a:rPr lang="zh-CN" altLang="en-US" u="sng" dirty="0"/>
              <a:t>建立与删除索引</a:t>
            </a:r>
            <a:endParaRPr lang="zh-CN" altLang="en-US" u="sng" dirty="0"/>
          </a:p>
        </p:txBody>
      </p:sp>
      <p:sp>
        <p:nvSpPr>
          <p:cNvPr id="45060" name="Rectangle 3"/>
          <p:cNvSpPr>
            <a:spLocks noGrp="1"/>
          </p:cNvSpPr>
          <p:nvPr>
            <p:ph idx="1"/>
          </p:nvPr>
        </p:nvSpPr>
        <p:spPr>
          <a:xfrm>
            <a:off x="685800" y="1066800"/>
            <a:ext cx="8001000" cy="1752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solidFill>
                  <a:srgbClr val="FF0000"/>
                </a:solidFill>
              </a:rPr>
              <a:t>思考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zh-CN" altLang="en-US" dirty="0">
                <a:solidFill>
                  <a:srgbClr val="FF0000"/>
                </a:solidFill>
              </a:rPr>
              <a:t>提问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endParaRPr lang="zh-CN" altLang="en-US" dirty="0">
              <a:solidFill>
                <a:srgbClr val="FF0000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什么情况下适合建立聚簇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(cluster)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索引？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05188" name="Text Box 4"/>
          <p:cNvSpPr txBox="1"/>
          <p:nvPr/>
        </p:nvSpPr>
        <p:spPr>
          <a:xfrm>
            <a:off x="762000" y="2857500"/>
            <a:ext cx="7239000" cy="29162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lnSpc>
                <a:spcPct val="130000"/>
              </a:lnSpc>
              <a:buClr>
                <a:schemeClr val="folHlink"/>
              </a:buClr>
              <a:buSzPct val="50000"/>
              <a:buNone/>
            </a:pPr>
            <a:r>
              <a:rPr lang="zh-CN" altLang="en-US" dirty="0">
                <a:solidFill>
                  <a:schemeClr val="tx1"/>
                </a:solidFill>
                <a:latin typeface="Tahoma" panose="020B0604030504040204" pitchFamily="34" charset="0"/>
              </a:rPr>
              <a:t>适用情况</a:t>
            </a:r>
            <a:endParaRPr lang="zh-CN" altLang="en-US" dirty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lnSpc>
                <a:spcPct val="13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zh-CN" altLang="en-US" dirty="0">
                <a:solidFill>
                  <a:schemeClr val="tx1"/>
                </a:solidFill>
                <a:latin typeface="Tahoma" panose="020B0604030504040204" pitchFamily="34" charset="0"/>
              </a:rPr>
              <a:t> 被索引的列被经常用于检索</a:t>
            </a:r>
            <a:endParaRPr lang="zh-CN" altLang="en-US" dirty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lnSpc>
                <a:spcPct val="13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zh-CN" altLang="en-US" dirty="0">
                <a:solidFill>
                  <a:schemeClr val="tx1"/>
                </a:solidFill>
                <a:latin typeface="Tahoma" panose="020B0604030504040204" pitchFamily="34" charset="0"/>
              </a:rPr>
              <a:t> 很少对基表进行增删操作</a:t>
            </a:r>
            <a:endParaRPr lang="zh-CN" altLang="en-US" dirty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lnSpc>
                <a:spcPct val="13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zh-CN" altLang="en-US" dirty="0">
                <a:solidFill>
                  <a:schemeClr val="tx1"/>
                </a:solidFill>
                <a:latin typeface="Tahoma" panose="020B0604030504040204" pitchFamily="34" charset="0"/>
              </a:rPr>
              <a:t> 很少对其中的变长列进行修改操作</a:t>
            </a:r>
            <a:endParaRPr lang="zh-CN" altLang="en-US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5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5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518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608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3.2.2   </a:t>
            </a:r>
            <a:r>
              <a:rPr lang="zh-CN" altLang="en-US" u="sng" dirty="0"/>
              <a:t>建立与删除索引</a:t>
            </a:r>
            <a:endParaRPr lang="zh-CN" altLang="en-US" u="sng" dirty="0"/>
          </a:p>
        </p:txBody>
      </p:sp>
      <p:sp>
        <p:nvSpPr>
          <p:cNvPr id="46084" name="Rectangle 3"/>
          <p:cNvSpPr>
            <a:spLocks noGrp="1"/>
          </p:cNvSpPr>
          <p:nvPr>
            <p:ph idx="1"/>
          </p:nvPr>
        </p:nvSpPr>
        <p:spPr>
          <a:xfrm>
            <a:off x="215900" y="977900"/>
            <a:ext cx="8686800" cy="5499100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30000"/>
              </a:lnSpc>
              <a:buNone/>
            </a:pPr>
            <a:r>
              <a:rPr lang="en-US" altLang="zh-CN" sz="3600" dirty="0">
                <a:solidFill>
                  <a:srgbClr val="FF3300"/>
                </a:solidFill>
              </a:rPr>
              <a:t>2. </a:t>
            </a:r>
            <a:r>
              <a:rPr lang="zh-CN" altLang="en-US" sz="3600" dirty="0">
                <a:solidFill>
                  <a:srgbClr val="FF3300"/>
                </a:solidFill>
              </a:rPr>
              <a:t>删除索引</a:t>
            </a:r>
            <a:endParaRPr lang="zh-CN" altLang="en-US" sz="3600" dirty="0">
              <a:solidFill>
                <a:srgbClr val="FF3300"/>
              </a:solidFill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3200" dirty="0">
                <a:solidFill>
                  <a:srgbClr val="FF3300"/>
                </a:solidFill>
              </a:rPr>
              <a:t>语法</a:t>
            </a:r>
            <a:r>
              <a:rPr lang="en-US" altLang="zh-CN" sz="3200" dirty="0">
                <a:solidFill>
                  <a:srgbClr val="FF3300"/>
                </a:solidFill>
              </a:rPr>
              <a:t>:</a:t>
            </a:r>
            <a:endParaRPr lang="en-US" altLang="zh-CN" sz="3200" dirty="0">
              <a:solidFill>
                <a:srgbClr val="FF3300"/>
              </a:solidFill>
            </a:endParaRPr>
          </a:p>
          <a:p>
            <a:pPr lvl="1" eaLnBrk="1" hangingPunct="1">
              <a:lnSpc>
                <a:spcPct val="130000"/>
              </a:lnSpc>
              <a:buNone/>
            </a:pPr>
            <a:r>
              <a:rPr lang="en-US" altLang="zh-CN" sz="3200" i="1" dirty="0">
                <a:solidFill>
                  <a:srgbClr val="FF3300"/>
                </a:solidFill>
              </a:rPr>
              <a:t>  drop </a:t>
            </a:r>
            <a:r>
              <a:rPr lang="en-US" altLang="zh-CN" sz="3200" dirty="0"/>
              <a:t> </a:t>
            </a:r>
            <a:r>
              <a:rPr lang="en-US" altLang="zh-CN" sz="3200" i="1" dirty="0">
                <a:solidFill>
                  <a:srgbClr val="FF3300"/>
                </a:solidFill>
              </a:rPr>
              <a:t>index</a:t>
            </a:r>
            <a:r>
              <a:rPr lang="en-US" altLang="zh-CN" sz="3200" i="1" dirty="0"/>
              <a:t> </a:t>
            </a:r>
            <a:r>
              <a:rPr lang="en-US" altLang="zh-CN" sz="3200" dirty="0"/>
              <a:t> </a:t>
            </a:r>
            <a:r>
              <a:rPr lang="zh-CN" altLang="en-US" sz="3200" dirty="0"/>
              <a:t>索引名</a:t>
            </a:r>
            <a:endParaRPr lang="zh-CN" altLang="en-US" sz="3200" dirty="0"/>
          </a:p>
          <a:p>
            <a:pPr lvl="1" eaLnBrk="1" hangingPunct="1">
              <a:lnSpc>
                <a:spcPct val="130000"/>
              </a:lnSpc>
            </a:pPr>
            <a:r>
              <a:rPr lang="en-US" altLang="zh-CN" sz="3200" dirty="0"/>
              <a:t>Why not :  </a:t>
            </a:r>
            <a:r>
              <a:rPr lang="en-US" altLang="zh-CN" sz="3200" i="1" dirty="0">
                <a:solidFill>
                  <a:srgbClr val="FF3300"/>
                </a:solidFill>
              </a:rPr>
              <a:t>on </a:t>
            </a:r>
            <a:r>
              <a:rPr lang="en-US" altLang="zh-CN" sz="3200" dirty="0"/>
              <a:t> </a:t>
            </a:r>
            <a:r>
              <a:rPr lang="zh-CN" altLang="en-US" sz="3200" dirty="0"/>
              <a:t>表名  ？</a:t>
            </a:r>
            <a:r>
              <a:rPr lang="en-US" altLang="zh-CN" sz="3200" dirty="0">
                <a:solidFill>
                  <a:srgbClr val="FF0000"/>
                </a:solidFill>
              </a:rPr>
              <a:t>(</a:t>
            </a:r>
            <a:r>
              <a:rPr lang="zh-CN" altLang="en-US" sz="3200" dirty="0">
                <a:solidFill>
                  <a:srgbClr val="FF0000"/>
                </a:solidFill>
              </a:rPr>
              <a:t>提问</a:t>
            </a:r>
            <a:r>
              <a:rPr lang="en-US" altLang="zh-CN" sz="3200" dirty="0">
                <a:solidFill>
                  <a:srgbClr val="FF0000"/>
                </a:solidFill>
              </a:rPr>
              <a:t>)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3200" dirty="0"/>
              <a:t>[</a:t>
            </a:r>
            <a:r>
              <a:rPr lang="zh-CN" altLang="en-US" sz="3200" dirty="0"/>
              <a:t>例</a:t>
            </a:r>
            <a:r>
              <a:rPr lang="en-US" altLang="zh-CN" sz="3200" dirty="0"/>
              <a:t>9]  </a:t>
            </a:r>
            <a:r>
              <a:rPr lang="zh-CN" altLang="en-US" sz="3200" dirty="0"/>
              <a:t>删除</a:t>
            </a:r>
            <a:r>
              <a:rPr lang="en-US" altLang="zh-CN" sz="3200" dirty="0"/>
              <a:t>order_emp </a:t>
            </a:r>
            <a:r>
              <a:rPr lang="zh-CN" altLang="en-US" sz="3200" dirty="0"/>
              <a:t>表中 </a:t>
            </a:r>
            <a:r>
              <a:rPr lang="en-US" altLang="zh-CN" sz="3200" dirty="0"/>
              <a:t>orderID </a:t>
            </a:r>
            <a:r>
              <a:rPr lang="zh-CN" altLang="en-US" sz="3200" dirty="0"/>
              <a:t>列和 </a:t>
            </a:r>
            <a:r>
              <a:rPr lang="en-US" altLang="zh-CN" sz="3200" dirty="0"/>
              <a:t>employeeID</a:t>
            </a:r>
            <a:r>
              <a:rPr lang="zh-CN" altLang="en-US" sz="3200" dirty="0"/>
              <a:t>列的组合索引</a:t>
            </a:r>
            <a:r>
              <a:rPr lang="en-US" altLang="zh-CN" sz="3200" dirty="0"/>
              <a:t>emp_order_ind</a:t>
            </a:r>
            <a:r>
              <a:rPr lang="zh-CN" altLang="en-US" sz="3200" dirty="0"/>
              <a:t>。</a:t>
            </a:r>
            <a:endParaRPr lang="zh-CN" altLang="en-US" sz="3200" dirty="0"/>
          </a:p>
          <a:p>
            <a:pPr lvl="1" eaLnBrk="1" hangingPunct="1">
              <a:lnSpc>
                <a:spcPct val="130000"/>
              </a:lnSpc>
              <a:buNone/>
            </a:pPr>
            <a:r>
              <a:rPr lang="zh-CN" altLang="en-US" sz="3200" dirty="0">
                <a:solidFill>
                  <a:schemeClr val="accent2"/>
                </a:solidFill>
              </a:rPr>
              <a:t>  </a:t>
            </a:r>
            <a:r>
              <a:rPr lang="en-US" altLang="zh-CN" sz="3200" dirty="0">
                <a:solidFill>
                  <a:schemeClr val="accent2"/>
                </a:solidFill>
              </a:rPr>
              <a:t>Drop index</a:t>
            </a:r>
            <a:r>
              <a:rPr lang="en-US" altLang="zh-CN" sz="3200" dirty="0"/>
              <a:t> emp_order_ind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7107" name="Rectangle 2"/>
          <p:cNvSpPr/>
          <p:nvPr/>
        </p:nvSpPr>
        <p:spPr>
          <a:xfrm>
            <a:off x="863600" y="2628900"/>
            <a:ext cx="7747000" cy="6096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47108" name="Rectangle 3"/>
          <p:cNvSpPr>
            <a:spLocks noGrp="1"/>
          </p:cNvSpPr>
          <p:nvPr>
            <p:ph idx="1"/>
          </p:nvPr>
        </p:nvSpPr>
        <p:spPr>
          <a:xfrm>
            <a:off x="977900" y="1498600"/>
            <a:ext cx="7327900" cy="449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3.1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概述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3.2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数据定义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bg1"/>
                </a:solidFill>
                <a:latin typeface="Arial Narrow" panose="020B0606020202030204" pitchFamily="34" charset="0"/>
                <a:ea typeface="楷体_GB2312" pitchFamily="49" charset="-122"/>
              </a:rPr>
              <a:t>3.3</a:t>
            </a:r>
            <a:r>
              <a:rPr lang="en-US" altLang="zh-CN" sz="36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查询</a:t>
            </a:r>
            <a:endParaRPr lang="zh-CN" altLang="en-US" sz="3600" b="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3.4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数据更新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3.5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视图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3.6</a:t>
            </a:r>
            <a:r>
              <a:rPr lang="en-US" altLang="zh-CN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数据控制</a:t>
            </a:r>
            <a:endParaRPr lang="zh-CN" altLang="en-US" sz="36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3.7 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嵌入式</a:t>
            </a: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SQL</a:t>
            </a:r>
            <a:endParaRPr lang="en-US" altLang="zh-CN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3.8 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小结</a:t>
            </a:r>
            <a:endParaRPr lang="zh-CN" altLang="en-US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</p:txBody>
      </p:sp>
      <p:sp>
        <p:nvSpPr>
          <p:cNvPr id="47109" name="Rectangle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 </a:t>
            </a:r>
            <a:r>
              <a:rPr lang="en-US" altLang="zh-CN" dirty="0"/>
              <a:t>SQL</a:t>
            </a:r>
            <a:endParaRPr lang="en-US" altLang="zh-CN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8131" name="Rectangle 2"/>
          <p:cNvSpPr>
            <a:spLocks noGrp="1"/>
          </p:cNvSpPr>
          <p:nvPr>
            <p:ph idx="1"/>
          </p:nvPr>
        </p:nvSpPr>
        <p:spPr>
          <a:xfrm>
            <a:off x="1066800" y="1447800"/>
            <a:ext cx="7467600" cy="3987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3.3.1  </a:t>
            </a:r>
            <a:r>
              <a:rPr lang="zh-CN" altLang="en-US" sz="4000" b="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概述</a:t>
            </a:r>
            <a:endParaRPr lang="zh-CN" altLang="en-US" sz="4000" b="0" dirty="0">
              <a:solidFill>
                <a:srgbClr val="FF0000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3.3.2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单表查询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3.3.3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连接查询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3.3.4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嵌套查询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3.3.5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集合查询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3.3.6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小结 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8132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3.3   </a:t>
            </a:r>
            <a:r>
              <a:rPr lang="zh-CN" altLang="en-US" dirty="0"/>
              <a:t>查询</a:t>
            </a:r>
            <a:endParaRPr lang="zh-CN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915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3.3.1   </a:t>
            </a:r>
            <a:r>
              <a:rPr lang="zh-CN" altLang="en-US" u="sng" dirty="0"/>
              <a:t>概述</a:t>
            </a:r>
            <a:endParaRPr lang="zh-CN" altLang="en-US" u="sng" dirty="0"/>
          </a:p>
        </p:txBody>
      </p:sp>
      <p:sp>
        <p:nvSpPr>
          <p:cNvPr id="49156" name="Rectangle 3"/>
          <p:cNvSpPr>
            <a:spLocks noGrp="1"/>
          </p:cNvSpPr>
          <p:nvPr>
            <p:ph idx="1"/>
          </p:nvPr>
        </p:nvSpPr>
        <p:spPr>
          <a:xfrm>
            <a:off x="215900" y="977900"/>
            <a:ext cx="8686800" cy="4889500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30000"/>
              </a:lnSpc>
              <a:buNone/>
            </a:pPr>
            <a:r>
              <a:rPr lang="en-US" altLang="zh-CN" sz="3600" dirty="0">
                <a:solidFill>
                  <a:srgbClr val="FF3300"/>
                </a:solidFill>
              </a:rPr>
              <a:t>1. </a:t>
            </a:r>
            <a:r>
              <a:rPr lang="zh-CN" altLang="en-US" sz="3600" dirty="0">
                <a:solidFill>
                  <a:srgbClr val="FF3300"/>
                </a:solidFill>
              </a:rPr>
              <a:t>基本结构</a:t>
            </a:r>
            <a:endParaRPr lang="zh-CN" altLang="en-US" sz="3600" dirty="0">
              <a:solidFill>
                <a:srgbClr val="FF3300"/>
              </a:solidFill>
            </a:endParaRPr>
          </a:p>
          <a:p>
            <a:pPr lvl="1" eaLnBrk="1" hangingPunct="1">
              <a:lnSpc>
                <a:spcPct val="130000"/>
              </a:lnSpc>
              <a:buNone/>
            </a:pPr>
            <a:r>
              <a:rPr lang="zh-CN" altLang="en-US" sz="3600" dirty="0">
                <a:solidFill>
                  <a:srgbClr val="FF3300"/>
                </a:solidFill>
              </a:rPr>
              <a:t>            </a:t>
            </a:r>
            <a:r>
              <a:rPr lang="en-US" altLang="zh-CN" sz="3600" dirty="0">
                <a:solidFill>
                  <a:schemeClr val="accent2"/>
                </a:solidFill>
              </a:rPr>
              <a:t>select</a:t>
            </a:r>
            <a:r>
              <a:rPr lang="en-US" altLang="zh-CN" sz="3600" dirty="0">
                <a:solidFill>
                  <a:srgbClr val="FF3300"/>
                </a:solidFill>
              </a:rPr>
              <a:t>  </a:t>
            </a:r>
            <a:r>
              <a:rPr lang="en-US" altLang="zh-CN" sz="3600" dirty="0"/>
              <a:t> </a:t>
            </a:r>
            <a:r>
              <a:rPr lang="en-US" altLang="zh-CN" sz="3600" i="1" dirty="0"/>
              <a:t>A</a:t>
            </a:r>
            <a:r>
              <a:rPr lang="en-US" altLang="zh-CN" sz="3600" i="1" baseline="-16000" dirty="0"/>
              <a:t>1</a:t>
            </a:r>
            <a:r>
              <a:rPr lang="en-US" altLang="zh-CN" sz="3600" i="1" dirty="0"/>
              <a:t> , A</a:t>
            </a:r>
            <a:r>
              <a:rPr lang="en-US" altLang="zh-CN" sz="3600" i="1" baseline="-16000" dirty="0"/>
              <a:t>2</a:t>
            </a:r>
            <a:r>
              <a:rPr lang="en-US" altLang="zh-CN" sz="3600" i="1" dirty="0"/>
              <a:t> , … , A</a:t>
            </a:r>
            <a:r>
              <a:rPr lang="en-US" altLang="zh-CN" sz="3600" i="1" baseline="-16000" dirty="0"/>
              <a:t>n</a:t>
            </a:r>
            <a:r>
              <a:rPr lang="en-US" altLang="zh-CN" sz="3600" dirty="0"/>
              <a:t>	</a:t>
            </a:r>
            <a:endParaRPr lang="en-US" altLang="zh-CN" sz="3600" dirty="0"/>
          </a:p>
          <a:p>
            <a:pPr lvl="1" eaLnBrk="1" hangingPunct="1">
              <a:buNone/>
            </a:pPr>
            <a:r>
              <a:rPr lang="en-US" altLang="zh-CN" sz="3600" dirty="0"/>
              <a:t>			</a:t>
            </a:r>
            <a:r>
              <a:rPr lang="en-US" altLang="zh-CN" sz="3600" dirty="0">
                <a:solidFill>
                  <a:schemeClr val="accent2"/>
                </a:solidFill>
              </a:rPr>
              <a:t>from  </a:t>
            </a:r>
            <a:r>
              <a:rPr lang="en-US" altLang="zh-CN" sz="3600" dirty="0"/>
              <a:t>  </a:t>
            </a:r>
            <a:r>
              <a:rPr lang="en-US" altLang="zh-CN" sz="3600" i="1" dirty="0"/>
              <a:t>r</a:t>
            </a:r>
            <a:r>
              <a:rPr lang="en-US" altLang="zh-CN" sz="3600" i="1" baseline="-16000" dirty="0"/>
              <a:t>1</a:t>
            </a:r>
            <a:r>
              <a:rPr lang="en-US" altLang="zh-CN" sz="3600" i="1" dirty="0"/>
              <a:t> ,</a:t>
            </a:r>
            <a:r>
              <a:rPr lang="en-US" altLang="zh-CN" sz="3600" i="1" dirty="0">
                <a:sym typeface="Symbol" panose="05050102010706020507" pitchFamily="18" charset="2"/>
              </a:rPr>
              <a:t> </a:t>
            </a:r>
            <a:r>
              <a:rPr lang="en-US" altLang="zh-CN" sz="3600" i="1" dirty="0"/>
              <a:t>r</a:t>
            </a:r>
            <a:r>
              <a:rPr lang="en-US" altLang="zh-CN" sz="3600" i="1" baseline="-16000" dirty="0"/>
              <a:t>2</a:t>
            </a:r>
            <a:r>
              <a:rPr lang="en-US" altLang="zh-CN" sz="3600" i="1" dirty="0"/>
              <a:t> , …</a:t>
            </a:r>
            <a:r>
              <a:rPr lang="en-US" altLang="zh-CN" sz="3600" i="1" dirty="0">
                <a:sym typeface="Symbol" panose="05050102010706020507" pitchFamily="18" charset="2"/>
              </a:rPr>
              <a:t> </a:t>
            </a:r>
            <a:r>
              <a:rPr lang="en-US" altLang="zh-CN" sz="3600" i="1" dirty="0"/>
              <a:t>, r</a:t>
            </a:r>
            <a:r>
              <a:rPr lang="en-US" altLang="zh-CN" sz="3600" i="1" baseline="-16000" dirty="0"/>
              <a:t>m</a:t>
            </a:r>
            <a:endParaRPr lang="en-US" altLang="zh-CN" sz="3600" dirty="0"/>
          </a:p>
          <a:p>
            <a:pPr lvl="1" eaLnBrk="1" hangingPunct="1">
              <a:buNone/>
            </a:pPr>
            <a:r>
              <a:rPr lang="en-US" altLang="zh-CN" sz="3600" dirty="0"/>
              <a:t>			</a:t>
            </a:r>
            <a:r>
              <a:rPr lang="en-US" altLang="zh-CN" sz="3600" dirty="0">
                <a:solidFill>
                  <a:schemeClr val="accent2"/>
                </a:solidFill>
              </a:rPr>
              <a:t>where </a:t>
            </a:r>
            <a:r>
              <a:rPr lang="en-US" altLang="zh-CN" sz="3600" dirty="0"/>
              <a:t> </a:t>
            </a:r>
            <a:r>
              <a:rPr lang="en-US" altLang="zh-CN" sz="3600" i="1" dirty="0"/>
              <a:t>P</a:t>
            </a:r>
            <a:endParaRPr lang="en-US" altLang="zh-CN" sz="3600" i="1" dirty="0"/>
          </a:p>
          <a:p>
            <a:pPr lvl="1" eaLnBrk="1" hangingPunct="1">
              <a:spcBef>
                <a:spcPct val="0"/>
              </a:spcBef>
              <a:buNone/>
            </a:pPr>
            <a:r>
              <a:rPr lang="en-US" altLang="zh-CN" sz="3600" i="1" dirty="0"/>
              <a:t>				 </a:t>
            </a:r>
            <a:r>
              <a:rPr lang="en-US" altLang="zh-CN" sz="3600" i="1" dirty="0">
                <a:sym typeface="Symbol" panose="05050102010706020507" pitchFamily="18" charset="2"/>
              </a:rPr>
              <a:t> </a:t>
            </a:r>
            <a:endParaRPr lang="en-US" altLang="zh-CN" sz="3600" i="1" dirty="0">
              <a:sym typeface="Symbol" panose="05050102010706020507" pitchFamily="18" charset="2"/>
            </a:endParaRPr>
          </a:p>
          <a:p>
            <a:pPr lvl="1" eaLnBrk="1" hangingPunct="1">
              <a:spcBef>
                <a:spcPct val="5000"/>
              </a:spcBef>
              <a:buNone/>
            </a:pPr>
            <a:r>
              <a:rPr lang="en-US" altLang="zh-CN" sz="3600" i="1" dirty="0"/>
              <a:t>		∏</a:t>
            </a:r>
            <a:r>
              <a:rPr lang="en-US" altLang="zh-CN" sz="3600" i="1" baseline="-25000" dirty="0"/>
              <a:t>A1 , A2 , … , An</a:t>
            </a:r>
            <a:r>
              <a:rPr lang="en-US" altLang="zh-CN" sz="3600" i="1" dirty="0"/>
              <a:t>(</a:t>
            </a:r>
            <a:r>
              <a:rPr lang="en-US" altLang="zh-CN" sz="3600" i="1" dirty="0">
                <a:sym typeface="Symbol" panose="05050102010706020507" pitchFamily="18" charset="2"/>
              </a:rPr>
              <a:t></a:t>
            </a:r>
            <a:r>
              <a:rPr lang="en-US" altLang="zh-CN" sz="3600" i="1" baseline="-16000" dirty="0"/>
              <a:t>p</a:t>
            </a:r>
            <a:r>
              <a:rPr lang="en-US" altLang="zh-CN" sz="3600" i="1" dirty="0"/>
              <a:t>(r</a:t>
            </a:r>
            <a:r>
              <a:rPr lang="en-US" altLang="zh-CN" sz="3600" i="1" baseline="-16000" dirty="0"/>
              <a:t>1 </a:t>
            </a:r>
            <a:r>
              <a:rPr lang="en-US" altLang="zh-CN" sz="3600" i="1" dirty="0">
                <a:sym typeface="Symbol" panose="05050102010706020507" pitchFamily="18" charset="2"/>
              </a:rPr>
              <a:t> </a:t>
            </a:r>
            <a:r>
              <a:rPr lang="en-US" altLang="zh-CN" sz="3600" i="1" dirty="0"/>
              <a:t>r</a:t>
            </a:r>
            <a:r>
              <a:rPr lang="en-US" altLang="zh-CN" sz="3600" i="1" baseline="-16000" dirty="0"/>
              <a:t>2 </a:t>
            </a:r>
            <a:r>
              <a:rPr lang="en-US" altLang="zh-CN" sz="3600" i="1" dirty="0">
                <a:sym typeface="Symbol" panose="05050102010706020507" pitchFamily="18" charset="2"/>
              </a:rPr>
              <a:t> </a:t>
            </a:r>
            <a:r>
              <a:rPr lang="en-US" altLang="zh-CN" sz="3600" i="1" dirty="0"/>
              <a:t>…</a:t>
            </a:r>
            <a:r>
              <a:rPr lang="en-US" altLang="zh-CN" sz="3600" i="1" dirty="0">
                <a:sym typeface="Symbol" panose="05050102010706020507" pitchFamily="18" charset="2"/>
              </a:rPr>
              <a:t>  </a:t>
            </a:r>
            <a:r>
              <a:rPr lang="en-US" altLang="zh-CN" sz="3600" i="1" dirty="0"/>
              <a:t>r</a:t>
            </a:r>
            <a:r>
              <a:rPr lang="en-US" altLang="zh-CN" sz="3600" i="1" baseline="-16000" dirty="0"/>
              <a:t>m</a:t>
            </a:r>
            <a:r>
              <a:rPr lang="en-US" altLang="zh-CN" sz="3600" i="1" dirty="0"/>
              <a:t>))</a:t>
            </a:r>
            <a:endParaRPr lang="en-US" altLang="zh-CN" sz="3600" i="1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017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3.3.1   </a:t>
            </a:r>
            <a:r>
              <a:rPr lang="zh-CN" altLang="en-US" u="sng" dirty="0"/>
              <a:t>概述</a:t>
            </a:r>
            <a:endParaRPr lang="zh-CN" altLang="en-US" u="sng" dirty="0"/>
          </a:p>
        </p:txBody>
      </p:sp>
      <p:sp>
        <p:nvSpPr>
          <p:cNvPr id="50180" name="Rectangle 3"/>
          <p:cNvSpPr>
            <a:spLocks noGrp="1"/>
          </p:cNvSpPr>
          <p:nvPr>
            <p:ph idx="1"/>
          </p:nvPr>
        </p:nvSpPr>
        <p:spPr>
          <a:xfrm>
            <a:off x="0" y="977900"/>
            <a:ext cx="9144000" cy="5475288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30000"/>
              </a:lnSpc>
              <a:buNone/>
            </a:pPr>
            <a:r>
              <a:rPr lang="en-US" altLang="zh-CN" sz="3600" dirty="0">
                <a:solidFill>
                  <a:srgbClr val="FF3300"/>
                </a:solidFill>
              </a:rPr>
              <a:t>2. </a:t>
            </a:r>
            <a:r>
              <a:rPr lang="zh-CN" altLang="en-US" sz="3600" dirty="0">
                <a:solidFill>
                  <a:srgbClr val="FF3300"/>
                </a:solidFill>
              </a:rPr>
              <a:t>语法</a:t>
            </a:r>
            <a:r>
              <a:rPr lang="en-US" altLang="zh-CN" sz="3600" dirty="0">
                <a:solidFill>
                  <a:srgbClr val="FF3300"/>
                </a:solidFill>
              </a:rPr>
              <a:t>(</a:t>
            </a:r>
            <a:r>
              <a:rPr lang="zh-CN" altLang="en-US" sz="3600" dirty="0">
                <a:solidFill>
                  <a:srgbClr val="FF3300"/>
                </a:solidFill>
              </a:rPr>
              <a:t>简化</a:t>
            </a:r>
            <a:r>
              <a:rPr lang="en-US" altLang="zh-CN" sz="3600" dirty="0">
                <a:solidFill>
                  <a:srgbClr val="FF3300"/>
                </a:solidFill>
              </a:rPr>
              <a:t>)</a:t>
            </a:r>
            <a:endParaRPr lang="en-US" altLang="zh-CN" sz="3600" dirty="0">
              <a:solidFill>
                <a:srgbClr val="FF3300"/>
              </a:solidFill>
            </a:endParaRPr>
          </a:p>
          <a:p>
            <a:pPr lvl="1" eaLnBrk="1" hangingPunct="1">
              <a:lnSpc>
                <a:spcPct val="130000"/>
              </a:lnSpc>
              <a:buNone/>
            </a:pPr>
            <a:r>
              <a:rPr lang="en-US" altLang="zh-CN" sz="3600" dirty="0">
                <a:solidFill>
                  <a:srgbClr val="FF3300"/>
                </a:solidFill>
              </a:rPr>
              <a:t> </a:t>
            </a:r>
            <a:r>
              <a:rPr lang="en-US" altLang="zh-CN" sz="2400" b="0" dirty="0">
                <a:solidFill>
                  <a:srgbClr val="023DD0"/>
                </a:solidFill>
                <a:latin typeface="Arial" panose="020B0604020202020204" pitchFamily="34" charset="0"/>
                <a:ea typeface="楷体_GB2312" pitchFamily="49" charset="-122"/>
              </a:rPr>
              <a:t>SELECT</a:t>
            </a:r>
            <a:r>
              <a:rPr lang="en-US" altLang="zh-CN" sz="2400" b="0" dirty="0">
                <a:latin typeface="Arial" panose="020B0604020202020204" pitchFamily="34" charset="0"/>
                <a:ea typeface="楷体_GB2312" pitchFamily="49" charset="-122"/>
              </a:rPr>
              <a:t> [ ALL | DISTINCT ]</a:t>
            </a:r>
            <a:br>
              <a:rPr lang="en-US" altLang="zh-CN" sz="2400" b="0" dirty="0">
                <a:latin typeface="Arial" panose="020B0604020202020204" pitchFamily="34" charset="0"/>
                <a:ea typeface="楷体_GB2312" pitchFamily="49" charset="-122"/>
              </a:rPr>
            </a:br>
            <a:r>
              <a:rPr lang="en-US" altLang="zh-CN" sz="2400" b="0" dirty="0">
                <a:latin typeface="Arial" panose="020B0604020202020204" pitchFamily="34" charset="0"/>
                <a:ea typeface="楷体_GB2312" pitchFamily="49" charset="-122"/>
              </a:rPr>
              <a:t>    [ TOP n [ PERCENT ] [ WITH TIES ]]  &lt;</a:t>
            </a:r>
            <a:r>
              <a:rPr lang="zh-CN" altLang="en-US" sz="2400" b="0" i="1" dirty="0">
                <a:latin typeface="Arial" panose="020B0604020202020204" pitchFamily="34" charset="0"/>
                <a:ea typeface="楷体_GB2312" pitchFamily="49" charset="-122"/>
              </a:rPr>
              <a:t>选择列表</a:t>
            </a:r>
            <a:r>
              <a:rPr lang="en-US" altLang="zh-CN" sz="2400" b="0" i="1" dirty="0">
                <a:latin typeface="Arial" panose="020B0604020202020204" pitchFamily="34" charset="0"/>
                <a:ea typeface="楷体_GB2312" pitchFamily="49" charset="-122"/>
              </a:rPr>
              <a:t>&gt;</a:t>
            </a:r>
            <a:br>
              <a:rPr lang="en-US" altLang="zh-CN" sz="2400" b="0" dirty="0">
                <a:latin typeface="Arial" panose="020B0604020202020204" pitchFamily="34" charset="0"/>
                <a:ea typeface="楷体_GB2312" pitchFamily="49" charset="-122"/>
              </a:rPr>
            </a:br>
            <a:r>
              <a:rPr lang="en-US" altLang="zh-CN" sz="2400" b="0" dirty="0">
                <a:latin typeface="Arial" panose="020B0604020202020204" pitchFamily="34" charset="0"/>
                <a:ea typeface="楷体_GB2312" pitchFamily="49" charset="-122"/>
              </a:rPr>
              <a:t>[ </a:t>
            </a:r>
            <a:r>
              <a:rPr lang="en-US" altLang="zh-CN" sz="2400" b="0" dirty="0">
                <a:solidFill>
                  <a:srgbClr val="023DD0"/>
                </a:solidFill>
                <a:latin typeface="Arial" panose="020B0604020202020204" pitchFamily="34" charset="0"/>
                <a:ea typeface="楷体_GB2312" pitchFamily="49" charset="-122"/>
              </a:rPr>
              <a:t>INTO</a:t>
            </a:r>
            <a:r>
              <a:rPr lang="en-US" altLang="zh-CN" sz="2400" b="0" dirty="0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0" i="1" dirty="0">
                <a:latin typeface="Arial" panose="020B0604020202020204" pitchFamily="34" charset="0"/>
                <a:ea typeface="楷体_GB2312" pitchFamily="49" charset="-122"/>
              </a:rPr>
              <a:t>新表名</a:t>
            </a:r>
            <a:r>
              <a:rPr lang="en-US" altLang="zh-CN" sz="2400" b="0" dirty="0">
                <a:latin typeface="Arial" panose="020B0604020202020204" pitchFamily="34" charset="0"/>
                <a:ea typeface="楷体_GB2312" pitchFamily="49" charset="-122"/>
              </a:rPr>
              <a:t>] </a:t>
            </a:r>
            <a:br>
              <a:rPr lang="en-US" altLang="zh-CN" sz="2400" b="0" dirty="0">
                <a:latin typeface="Arial" panose="020B0604020202020204" pitchFamily="34" charset="0"/>
                <a:ea typeface="楷体_GB2312" pitchFamily="49" charset="-122"/>
              </a:rPr>
            </a:br>
            <a:r>
              <a:rPr lang="en-US" altLang="zh-CN" sz="2400" b="0" dirty="0">
                <a:latin typeface="Arial" panose="020B0604020202020204" pitchFamily="34" charset="0"/>
                <a:ea typeface="楷体_GB2312" pitchFamily="49" charset="-122"/>
              </a:rPr>
              <a:t>[ </a:t>
            </a:r>
            <a:r>
              <a:rPr lang="en-US" altLang="zh-CN" sz="2400" b="0" dirty="0">
                <a:solidFill>
                  <a:srgbClr val="023DD0"/>
                </a:solidFill>
                <a:latin typeface="Arial" panose="020B0604020202020204" pitchFamily="34" charset="0"/>
                <a:ea typeface="楷体_GB2312" pitchFamily="49" charset="-122"/>
              </a:rPr>
              <a:t>FROM</a:t>
            </a:r>
            <a:r>
              <a:rPr lang="en-US" altLang="zh-CN" sz="2400" b="0" dirty="0">
                <a:latin typeface="Arial" panose="020B0604020202020204" pitchFamily="34" charset="0"/>
                <a:ea typeface="楷体_GB2312" pitchFamily="49" charset="-122"/>
              </a:rPr>
              <a:t> { &lt;</a:t>
            </a:r>
            <a:r>
              <a:rPr lang="zh-CN" altLang="en-US" sz="2400" b="0" dirty="0">
                <a:latin typeface="Arial" panose="020B0604020202020204" pitchFamily="34" charset="0"/>
                <a:ea typeface="楷体_GB2312" pitchFamily="49" charset="-122"/>
              </a:rPr>
              <a:t>表来源</a:t>
            </a:r>
            <a:r>
              <a:rPr lang="en-US" altLang="zh-CN" sz="2400" b="0" dirty="0">
                <a:latin typeface="Arial" panose="020B0604020202020204" pitchFamily="34" charset="0"/>
                <a:ea typeface="楷体_GB2312" pitchFamily="49" charset="-122"/>
              </a:rPr>
              <a:t>&gt; } [ ,...n ] ] </a:t>
            </a:r>
            <a:endParaRPr lang="en-US" altLang="zh-CN" sz="2400" b="0" dirty="0">
              <a:latin typeface="Arial" panose="020B0604020202020204" pitchFamily="34" charset="0"/>
              <a:ea typeface="楷体_GB2312" pitchFamily="49" charset="-122"/>
            </a:endParaRPr>
          </a:p>
          <a:p>
            <a:pPr lvl="1" eaLnBrk="1" hangingPunct="1">
              <a:lnSpc>
                <a:spcPct val="130000"/>
              </a:lnSpc>
              <a:buNone/>
            </a:pPr>
            <a:r>
              <a:rPr lang="en-US" altLang="zh-CN" sz="2400" b="0" dirty="0">
                <a:latin typeface="Arial" panose="020B0604020202020204" pitchFamily="34" charset="0"/>
                <a:ea typeface="楷体_GB2312" pitchFamily="49" charset="-122"/>
              </a:rPr>
              <a:t>	[ </a:t>
            </a:r>
            <a:r>
              <a:rPr lang="en-US" altLang="zh-CN" sz="2400" b="0" dirty="0">
                <a:solidFill>
                  <a:srgbClr val="023DD0"/>
                </a:solidFill>
                <a:latin typeface="Arial" panose="020B0604020202020204" pitchFamily="34" charset="0"/>
                <a:ea typeface="楷体_GB2312" pitchFamily="49" charset="-122"/>
              </a:rPr>
              <a:t>WHERE</a:t>
            </a:r>
            <a:r>
              <a:rPr lang="en-US" altLang="zh-CN" sz="2400" b="0" dirty="0">
                <a:latin typeface="Arial" panose="020B0604020202020204" pitchFamily="34" charset="0"/>
                <a:ea typeface="楷体_GB2312" pitchFamily="49" charset="-122"/>
              </a:rPr>
              <a:t> &lt;</a:t>
            </a:r>
            <a:r>
              <a:rPr lang="zh-CN" altLang="en-US" sz="2400" b="0" dirty="0">
                <a:latin typeface="Arial" panose="020B0604020202020204" pitchFamily="34" charset="0"/>
                <a:ea typeface="楷体_GB2312" pitchFamily="49" charset="-122"/>
              </a:rPr>
              <a:t>条件表达式</a:t>
            </a:r>
            <a:r>
              <a:rPr lang="en-US" altLang="zh-CN" sz="2400" b="0" dirty="0">
                <a:latin typeface="Arial" panose="020B0604020202020204" pitchFamily="34" charset="0"/>
                <a:ea typeface="楷体_GB2312" pitchFamily="49" charset="-122"/>
              </a:rPr>
              <a:t>&gt;</a:t>
            </a:r>
            <a:r>
              <a:rPr lang="en-US" altLang="zh-CN" sz="2400" b="0" i="1" dirty="0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2400" b="0" dirty="0">
                <a:latin typeface="Arial" panose="020B0604020202020204" pitchFamily="34" charset="0"/>
                <a:ea typeface="楷体_GB2312" pitchFamily="49" charset="-122"/>
              </a:rPr>
              <a:t>] </a:t>
            </a:r>
            <a:br>
              <a:rPr lang="en-US" altLang="zh-CN" sz="2400" b="0" dirty="0">
                <a:latin typeface="Arial" panose="020B0604020202020204" pitchFamily="34" charset="0"/>
                <a:ea typeface="楷体_GB2312" pitchFamily="49" charset="-122"/>
              </a:rPr>
            </a:br>
            <a:r>
              <a:rPr lang="en-US" altLang="zh-CN" sz="2400" b="0" dirty="0">
                <a:latin typeface="Arial" panose="020B0604020202020204" pitchFamily="34" charset="0"/>
                <a:ea typeface="楷体_GB2312" pitchFamily="49" charset="-122"/>
              </a:rPr>
              <a:t>[ </a:t>
            </a:r>
            <a:r>
              <a:rPr lang="en-US" altLang="zh-CN" sz="2400" b="0" dirty="0">
                <a:solidFill>
                  <a:srgbClr val="023DD0"/>
                </a:solidFill>
                <a:latin typeface="Arial" panose="020B0604020202020204" pitchFamily="34" charset="0"/>
                <a:ea typeface="楷体_GB2312" pitchFamily="49" charset="-122"/>
              </a:rPr>
              <a:t>GROUP BY</a:t>
            </a:r>
            <a:r>
              <a:rPr lang="en-US" altLang="zh-CN" sz="2400" b="0" dirty="0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2400" b="0" i="1" dirty="0">
                <a:latin typeface="Arial" panose="020B0604020202020204" pitchFamily="34" charset="0"/>
                <a:ea typeface="楷体_GB2312" pitchFamily="49" charset="-122"/>
              </a:rPr>
              <a:t> &lt;</a:t>
            </a:r>
            <a:r>
              <a:rPr lang="zh-CN" altLang="en-US" sz="2400" b="0" i="1" dirty="0">
                <a:latin typeface="Arial" panose="020B0604020202020204" pitchFamily="34" charset="0"/>
                <a:ea typeface="楷体_GB2312" pitchFamily="49" charset="-122"/>
              </a:rPr>
              <a:t>分组表达式</a:t>
            </a:r>
            <a:r>
              <a:rPr lang="en-US" altLang="zh-CN" sz="2400" b="0" i="1" dirty="0">
                <a:latin typeface="Arial" panose="020B0604020202020204" pitchFamily="34" charset="0"/>
                <a:ea typeface="楷体_GB2312" pitchFamily="49" charset="-122"/>
              </a:rPr>
              <a:t>&gt; </a:t>
            </a:r>
            <a:r>
              <a:rPr lang="en-US" altLang="zh-CN" sz="2400" b="0" dirty="0">
                <a:latin typeface="Arial" panose="020B0604020202020204" pitchFamily="34" charset="0"/>
                <a:ea typeface="楷体_GB2312" pitchFamily="49" charset="-122"/>
              </a:rPr>
              <a:t>[ ,...n ]</a:t>
            </a:r>
            <a:r>
              <a:rPr lang="en-US" altLang="zh-CN" sz="2400" b="0" i="1" dirty="0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2400" b="0" dirty="0">
                <a:latin typeface="Arial" panose="020B0604020202020204" pitchFamily="34" charset="0"/>
                <a:ea typeface="楷体_GB2312" pitchFamily="49" charset="-122"/>
              </a:rPr>
              <a:t>] </a:t>
            </a:r>
            <a:br>
              <a:rPr lang="en-US" altLang="zh-CN" sz="2400" b="0" dirty="0">
                <a:latin typeface="Arial" panose="020B0604020202020204" pitchFamily="34" charset="0"/>
                <a:ea typeface="楷体_GB2312" pitchFamily="49" charset="-122"/>
              </a:rPr>
            </a:br>
            <a:r>
              <a:rPr lang="en-US" altLang="zh-CN" sz="2400" b="0" dirty="0">
                <a:latin typeface="Arial" panose="020B0604020202020204" pitchFamily="34" charset="0"/>
                <a:ea typeface="楷体_GB2312" pitchFamily="49" charset="-122"/>
              </a:rPr>
              <a:t>[ </a:t>
            </a:r>
            <a:r>
              <a:rPr lang="en-US" altLang="zh-CN" sz="2400" b="0" dirty="0">
                <a:solidFill>
                  <a:srgbClr val="023DD0"/>
                </a:solidFill>
                <a:latin typeface="Arial" panose="020B0604020202020204" pitchFamily="34" charset="0"/>
                <a:ea typeface="楷体_GB2312" pitchFamily="49" charset="-122"/>
              </a:rPr>
              <a:t>HAVING</a:t>
            </a:r>
            <a:r>
              <a:rPr lang="en-US" altLang="zh-CN" sz="2400" b="0" dirty="0">
                <a:latin typeface="Arial" panose="020B0604020202020204" pitchFamily="34" charset="0"/>
                <a:ea typeface="楷体_GB2312" pitchFamily="49" charset="-122"/>
              </a:rPr>
              <a:t> &lt;</a:t>
            </a:r>
            <a:r>
              <a:rPr lang="zh-CN" altLang="en-US" sz="2400" b="0" dirty="0">
                <a:latin typeface="Arial" panose="020B0604020202020204" pitchFamily="34" charset="0"/>
                <a:ea typeface="楷体_GB2312" pitchFamily="49" charset="-122"/>
              </a:rPr>
              <a:t>组条件</a:t>
            </a:r>
            <a:r>
              <a:rPr lang="en-US" altLang="zh-CN" sz="2400" b="0" dirty="0">
                <a:latin typeface="Arial" panose="020B0604020202020204" pitchFamily="34" charset="0"/>
                <a:ea typeface="楷体_GB2312" pitchFamily="49" charset="-122"/>
              </a:rPr>
              <a:t>&gt;</a:t>
            </a:r>
            <a:r>
              <a:rPr lang="en-US" altLang="zh-CN" sz="2400" b="0" i="1" dirty="0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2400" b="0" dirty="0">
                <a:latin typeface="Arial" panose="020B0604020202020204" pitchFamily="34" charset="0"/>
                <a:ea typeface="楷体_GB2312" pitchFamily="49" charset="-122"/>
              </a:rPr>
              <a:t>] </a:t>
            </a:r>
            <a:br>
              <a:rPr lang="en-US" altLang="zh-CN" sz="2400" b="0" dirty="0">
                <a:latin typeface="Arial" panose="020B0604020202020204" pitchFamily="34" charset="0"/>
                <a:ea typeface="楷体_GB2312" pitchFamily="49" charset="-122"/>
              </a:rPr>
            </a:br>
            <a:r>
              <a:rPr lang="en-US" altLang="zh-CN" sz="2400" b="0" dirty="0">
                <a:latin typeface="Arial" panose="020B0604020202020204" pitchFamily="34" charset="0"/>
                <a:ea typeface="楷体_GB2312" pitchFamily="49" charset="-122"/>
              </a:rPr>
              <a:t>[ </a:t>
            </a:r>
            <a:r>
              <a:rPr lang="en-US" altLang="zh-CN" sz="2400" b="0" dirty="0">
                <a:solidFill>
                  <a:srgbClr val="023DD0"/>
                </a:solidFill>
                <a:latin typeface="Arial" panose="020B0604020202020204" pitchFamily="34" charset="0"/>
                <a:ea typeface="楷体_GB2312" pitchFamily="49" charset="-122"/>
              </a:rPr>
              <a:t>ORDER BY</a:t>
            </a:r>
            <a:r>
              <a:rPr lang="en-US" altLang="zh-CN" sz="2400" b="0" dirty="0">
                <a:latin typeface="Arial" panose="020B0604020202020204" pitchFamily="34" charset="0"/>
                <a:ea typeface="楷体_GB2312" pitchFamily="49" charset="-122"/>
              </a:rPr>
              <a:t>  { </a:t>
            </a:r>
            <a:r>
              <a:rPr lang="zh-CN" altLang="en-US" sz="2400" b="0" dirty="0">
                <a:latin typeface="Arial" panose="020B0604020202020204" pitchFamily="34" charset="0"/>
                <a:ea typeface="楷体_GB2312" pitchFamily="49" charset="-122"/>
              </a:rPr>
              <a:t>排序表达式 </a:t>
            </a:r>
            <a:r>
              <a:rPr lang="en-US" altLang="zh-CN" sz="2400" b="0" dirty="0">
                <a:latin typeface="Arial" panose="020B0604020202020204" pitchFamily="34" charset="0"/>
                <a:ea typeface="楷体_GB2312" pitchFamily="49" charset="-122"/>
              </a:rPr>
              <a:t>| </a:t>
            </a:r>
            <a:r>
              <a:rPr lang="zh-CN" altLang="en-US" sz="2400" b="0" dirty="0">
                <a:latin typeface="Arial" panose="020B0604020202020204" pitchFamily="34" charset="0"/>
                <a:ea typeface="楷体_GB2312" pitchFamily="49" charset="-122"/>
              </a:rPr>
              <a:t>列序号 </a:t>
            </a:r>
            <a:r>
              <a:rPr lang="en-US" altLang="zh-CN" sz="2400" b="0" dirty="0">
                <a:latin typeface="Arial" panose="020B0604020202020204" pitchFamily="34" charset="0"/>
                <a:ea typeface="楷体_GB2312" pitchFamily="49" charset="-122"/>
              </a:rPr>
              <a:t>[ ASC | DESC ] } [ ,...n ] ]</a:t>
            </a:r>
            <a:endParaRPr lang="en-US" altLang="zh-CN" sz="2400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120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3.3.1   </a:t>
            </a:r>
            <a:r>
              <a:rPr lang="zh-CN" altLang="en-US" u="sng" dirty="0"/>
              <a:t>概述</a:t>
            </a:r>
            <a:endParaRPr lang="zh-CN" altLang="en-US" u="sng" dirty="0"/>
          </a:p>
        </p:txBody>
      </p:sp>
      <p:sp>
        <p:nvSpPr>
          <p:cNvPr id="51204" name="Rectangle 3"/>
          <p:cNvSpPr>
            <a:spLocks noGrp="1"/>
          </p:cNvSpPr>
          <p:nvPr>
            <p:ph idx="1"/>
          </p:nvPr>
        </p:nvSpPr>
        <p:spPr>
          <a:xfrm>
            <a:off x="215900" y="977900"/>
            <a:ext cx="8686800" cy="5499100"/>
          </a:xfrm>
          <a:ln/>
        </p:spPr>
        <p:txBody>
          <a:bodyPr vert="horz" wrap="square" lIns="91440" tIns="45720" rIns="91440" bIns="45720" anchor="t" anchorCtr="0"/>
          <a:p>
            <a:pPr lvl="1" algn="just" eaLnBrk="1" hangingPunct="1"/>
            <a:r>
              <a:rPr lang="en-US" altLang="zh-CN" sz="3200" dirty="0">
                <a:solidFill>
                  <a:srgbClr val="FF0000"/>
                </a:solidFill>
              </a:rPr>
              <a:t>SELECT</a:t>
            </a:r>
            <a:r>
              <a:rPr lang="zh-CN" altLang="en-US" sz="3200" dirty="0">
                <a:solidFill>
                  <a:srgbClr val="FF0000"/>
                </a:solidFill>
              </a:rPr>
              <a:t>子句</a:t>
            </a:r>
            <a:r>
              <a:rPr lang="zh-CN" altLang="en-US" sz="3200" dirty="0"/>
              <a:t>：指定要显示的属性列</a:t>
            </a:r>
            <a:endParaRPr lang="zh-CN" altLang="en-US" sz="3200" dirty="0"/>
          </a:p>
          <a:p>
            <a:pPr lvl="1" algn="just" eaLnBrk="1" hangingPunct="1"/>
            <a:r>
              <a:rPr lang="en-US" altLang="zh-CN" sz="3200" dirty="0">
                <a:solidFill>
                  <a:srgbClr val="FF0000"/>
                </a:solidFill>
              </a:rPr>
              <a:t>FROM</a:t>
            </a:r>
            <a:r>
              <a:rPr lang="zh-CN" altLang="en-US" sz="3200" dirty="0">
                <a:solidFill>
                  <a:srgbClr val="FF0000"/>
                </a:solidFill>
              </a:rPr>
              <a:t>子句</a:t>
            </a:r>
            <a:r>
              <a:rPr lang="zh-CN" altLang="en-US" sz="3200" dirty="0"/>
              <a:t>：指定查询对象</a:t>
            </a:r>
            <a:r>
              <a:rPr lang="en-US" altLang="zh-CN" sz="3200" dirty="0"/>
              <a:t>(</a:t>
            </a:r>
            <a:r>
              <a:rPr lang="zh-CN" altLang="en-US" sz="3200" dirty="0"/>
              <a:t>基本表或视图</a:t>
            </a:r>
            <a:r>
              <a:rPr lang="en-US" altLang="zh-CN" sz="3200" dirty="0"/>
              <a:t>)</a:t>
            </a:r>
            <a:endParaRPr lang="en-US" altLang="zh-CN" sz="3200" dirty="0"/>
          </a:p>
          <a:p>
            <a:pPr lvl="1" algn="just" eaLnBrk="1" hangingPunct="1"/>
            <a:r>
              <a:rPr lang="en-US" altLang="zh-CN" sz="3200" dirty="0">
                <a:solidFill>
                  <a:srgbClr val="FF0000"/>
                </a:solidFill>
              </a:rPr>
              <a:t>WHERE</a:t>
            </a:r>
            <a:r>
              <a:rPr lang="zh-CN" altLang="en-US" sz="3200" dirty="0">
                <a:solidFill>
                  <a:srgbClr val="FF0000"/>
                </a:solidFill>
              </a:rPr>
              <a:t>子句</a:t>
            </a:r>
            <a:r>
              <a:rPr lang="zh-CN" altLang="en-US" sz="3200" dirty="0"/>
              <a:t>：指定查询条件</a:t>
            </a:r>
            <a:endParaRPr lang="zh-CN" altLang="en-US" sz="3200" dirty="0"/>
          </a:p>
          <a:p>
            <a:pPr lvl="1" algn="just" eaLnBrk="1" hangingPunct="1"/>
            <a:r>
              <a:rPr lang="en-US" altLang="zh-CN" sz="3200" dirty="0">
                <a:solidFill>
                  <a:srgbClr val="FF0000"/>
                </a:solidFill>
              </a:rPr>
              <a:t>GROUP BY</a:t>
            </a:r>
            <a:r>
              <a:rPr lang="zh-CN" altLang="en-US" sz="3200" dirty="0">
                <a:solidFill>
                  <a:srgbClr val="FF0000"/>
                </a:solidFill>
              </a:rPr>
              <a:t>子句</a:t>
            </a:r>
            <a:r>
              <a:rPr lang="zh-CN" altLang="en-US" sz="3200" dirty="0"/>
              <a:t>：对查询结果按指定列的值分组，该属性列值相等的元组为一个组。通常会在每组中作用集函数</a:t>
            </a:r>
            <a:r>
              <a:rPr lang="en-US" altLang="zh-CN" sz="3200" dirty="0"/>
              <a:t>(</a:t>
            </a:r>
            <a:r>
              <a:rPr lang="zh-CN" altLang="en-US" sz="3200" dirty="0"/>
              <a:t>如求和、平均</a:t>
            </a:r>
            <a:r>
              <a:rPr lang="en-US" altLang="zh-CN" sz="3200" dirty="0"/>
              <a:t>)</a:t>
            </a:r>
            <a:r>
              <a:rPr lang="zh-CN" altLang="en-US" sz="3200" dirty="0"/>
              <a:t>。</a:t>
            </a:r>
            <a:endParaRPr lang="zh-CN" altLang="en-US" sz="3200" dirty="0"/>
          </a:p>
          <a:p>
            <a:pPr lvl="1" algn="just" eaLnBrk="1" hangingPunct="1"/>
            <a:r>
              <a:rPr lang="en-US" altLang="zh-CN" sz="3200" dirty="0">
                <a:solidFill>
                  <a:srgbClr val="FF0000"/>
                </a:solidFill>
              </a:rPr>
              <a:t>HAVING</a:t>
            </a:r>
            <a:r>
              <a:rPr lang="zh-CN" altLang="en-US" sz="3200" dirty="0">
                <a:solidFill>
                  <a:srgbClr val="FF0000"/>
                </a:solidFill>
              </a:rPr>
              <a:t>短语</a:t>
            </a:r>
            <a:r>
              <a:rPr lang="zh-CN" altLang="en-US" sz="3200" dirty="0"/>
              <a:t>：筛选出只有满足指定条件的组</a:t>
            </a:r>
            <a:r>
              <a:rPr lang="en-US" altLang="zh-CN" sz="3200" dirty="0"/>
              <a:t>(</a:t>
            </a:r>
            <a:r>
              <a:rPr lang="zh-CN" altLang="en-US" sz="3200" dirty="0"/>
              <a:t>作用于组的集函数计算结果满足条件</a:t>
            </a:r>
            <a:r>
              <a:rPr lang="en-US" altLang="zh-CN" sz="3200" dirty="0"/>
              <a:t>)</a:t>
            </a:r>
            <a:endParaRPr lang="en-US" altLang="zh-CN" sz="3200" dirty="0"/>
          </a:p>
          <a:p>
            <a:pPr lvl="1" eaLnBrk="1" hangingPunct="1"/>
            <a:r>
              <a:rPr lang="en-US" altLang="zh-CN" sz="3200" dirty="0">
                <a:solidFill>
                  <a:srgbClr val="FF0000"/>
                </a:solidFill>
              </a:rPr>
              <a:t>ORDER BY</a:t>
            </a:r>
            <a:r>
              <a:rPr lang="zh-CN" altLang="en-US" sz="3200" dirty="0">
                <a:solidFill>
                  <a:srgbClr val="FF0000"/>
                </a:solidFill>
              </a:rPr>
              <a:t>子句</a:t>
            </a:r>
            <a:r>
              <a:rPr lang="zh-CN" altLang="en-US" sz="3200" dirty="0"/>
              <a:t>：对查询结果表按指定列值的升序或降序排序 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页脚占位符 2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2227" name="Text Box 2"/>
          <p:cNvSpPr txBox="1"/>
          <p:nvPr/>
        </p:nvSpPr>
        <p:spPr>
          <a:xfrm>
            <a:off x="228600" y="838200"/>
            <a:ext cx="8458200" cy="5532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楷体_GB2312" pitchFamily="49" charset="-122"/>
              </a:rPr>
              <a:t>3. SELECT </a:t>
            </a:r>
            <a:r>
              <a:rPr lang="zh-CN" altLang="en-US" sz="2400" dirty="0">
                <a:latin typeface="Arial" panose="020B0604020202020204" pitchFamily="34" charset="0"/>
                <a:ea typeface="楷体_GB2312" pitchFamily="49" charset="-122"/>
              </a:rPr>
              <a:t>子句</a:t>
            </a:r>
            <a:endParaRPr lang="zh-CN" altLang="en-US" sz="2400" dirty="0"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指定由查询返回的列。</a:t>
            </a:r>
            <a:endParaRPr lang="zh-CN" altLang="en-US" sz="24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Arial" panose="020B0604020202020204" pitchFamily="34" charset="0"/>
                <a:ea typeface="楷体_GB2312" pitchFamily="49" charset="-122"/>
              </a:rPr>
              <a:t>语法</a:t>
            </a:r>
            <a:endParaRPr lang="zh-CN" altLang="en-US" sz="2400" dirty="0"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spcBef>
                <a:spcPct val="5000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SELECT [ ALL | DISTINCT ]</a:t>
            </a:r>
            <a:b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</a:b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    [ TOP </a:t>
            </a:r>
            <a:r>
              <a:rPr lang="en-US" altLang="zh-CN" sz="2400" b="0" i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n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[ PERCENT ]]  &lt;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选择列表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&gt;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spcBef>
                <a:spcPct val="5000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&lt; 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选择列表 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&gt; ::=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spcBef>
                <a:spcPct val="5000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    {    * 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spcBef>
                <a:spcPct val="5000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       | { 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表名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| 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视图名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| 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表别名 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}.*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spcBef>
                <a:spcPct val="5000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       | { 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列名 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| 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表达式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} [ [ AS ] 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列别名 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]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spcBef>
                <a:spcPct val="5000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       | 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列别名 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= 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表达式</a:t>
            </a:r>
            <a:endParaRPr lang="zh-CN" altLang="en-US" sz="24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spcBef>
                <a:spcPct val="5000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   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}    [ ,...n ]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2228" name="Rectangle 13"/>
          <p:cNvSpPr>
            <a:spLocks noGrp="1"/>
          </p:cNvSpPr>
          <p:nvPr>
            <p:ph type="title" idx="4294967295"/>
          </p:nvPr>
        </p:nvSpPr>
        <p:spPr>
          <a:xfrm>
            <a:off x="684213" y="0"/>
            <a:ext cx="7772400" cy="83661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3.3.1 </a:t>
            </a:r>
            <a:r>
              <a:rPr lang="zh-CN" altLang="en-US" u="sng" dirty="0"/>
              <a:t>概述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页脚占位符 2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3251" name="Text Box 2"/>
          <p:cNvSpPr txBox="1"/>
          <p:nvPr/>
        </p:nvSpPr>
        <p:spPr>
          <a:xfrm>
            <a:off x="228600" y="838200"/>
            <a:ext cx="8458200" cy="40719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楷体_GB2312" pitchFamily="49" charset="-122"/>
              </a:rPr>
              <a:t>4. FROM </a:t>
            </a:r>
            <a:r>
              <a:rPr lang="zh-CN" altLang="en-US" sz="2400" dirty="0">
                <a:latin typeface="Arial" panose="020B0604020202020204" pitchFamily="34" charset="0"/>
                <a:ea typeface="楷体_GB2312" pitchFamily="49" charset="-122"/>
              </a:rPr>
              <a:t>子句</a:t>
            </a:r>
            <a:endParaRPr lang="zh-CN" altLang="en-US" sz="2400" dirty="0"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指定数据的来源。</a:t>
            </a:r>
            <a:endParaRPr lang="zh-CN" altLang="en-US" sz="24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Arial" panose="020B0604020202020204" pitchFamily="34" charset="0"/>
                <a:ea typeface="楷体_GB2312" pitchFamily="49" charset="-122"/>
              </a:rPr>
              <a:t>语法</a:t>
            </a:r>
            <a:endParaRPr lang="zh-CN" altLang="en-US" sz="2400" dirty="0"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spcBef>
                <a:spcPct val="5000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&lt;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表来源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&gt; ::=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spcBef>
                <a:spcPct val="5000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   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表名 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[ [ AS ] 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表别名 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] 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spcBef>
                <a:spcPct val="5000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   | 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视图名 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[ [ AS ] 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表别名 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]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spcBef>
                <a:spcPct val="5000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   | 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返回行集的函数 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[ [ AS ] 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表别名 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]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spcBef>
                <a:spcPct val="5000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   | &lt;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联接表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&gt;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3252" name="Rectangle 4"/>
          <p:cNvSpPr>
            <a:spLocks noGrp="1"/>
          </p:cNvSpPr>
          <p:nvPr>
            <p:ph type="title" idx="4294967295"/>
          </p:nvPr>
        </p:nvSpPr>
        <p:spPr>
          <a:xfrm>
            <a:off x="684213" y="0"/>
            <a:ext cx="7772400" cy="90805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3.3.1 </a:t>
            </a:r>
            <a:r>
              <a:rPr lang="zh-CN" altLang="en-US" u="sng" dirty="0"/>
              <a:t>概述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页脚占位符 2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4275" name="Text Box 2"/>
          <p:cNvSpPr txBox="1"/>
          <p:nvPr/>
        </p:nvSpPr>
        <p:spPr>
          <a:xfrm>
            <a:off x="228600" y="838200"/>
            <a:ext cx="8458200" cy="531336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楷体_GB2312" pitchFamily="49" charset="-122"/>
              </a:rPr>
              <a:t>4. FROM </a:t>
            </a:r>
            <a:r>
              <a:rPr lang="zh-CN" altLang="en-US" sz="2400" dirty="0">
                <a:latin typeface="Arial" panose="020B0604020202020204" pitchFamily="34" charset="0"/>
                <a:ea typeface="楷体_GB2312" pitchFamily="49" charset="-122"/>
              </a:rPr>
              <a:t>子句</a:t>
            </a:r>
            <a:r>
              <a:rPr lang="en-US" altLang="zh-CN" sz="2400" dirty="0"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zh-CN" altLang="en-US" sz="2400" dirty="0">
                <a:latin typeface="Arial" panose="020B0604020202020204" pitchFamily="34" charset="0"/>
                <a:ea typeface="楷体_GB2312" pitchFamily="49" charset="-122"/>
              </a:rPr>
              <a:t>续</a:t>
            </a:r>
            <a:r>
              <a:rPr lang="en-US" altLang="zh-CN" sz="2400" dirty="0">
                <a:latin typeface="Arial" panose="020B0604020202020204" pitchFamily="34" charset="0"/>
                <a:ea typeface="楷体_GB2312" pitchFamily="49" charset="-122"/>
              </a:rPr>
              <a:t>)</a:t>
            </a:r>
            <a:endParaRPr lang="en-US" altLang="zh-CN" sz="2400" dirty="0"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spcBef>
                <a:spcPct val="5000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&lt;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联接表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&gt; ::=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spcBef>
                <a:spcPct val="5000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    &lt; 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表来源 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&gt; &lt; 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联接类型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&gt; &lt;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表来源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&gt; ON &lt; 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条件表达式 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&gt;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spcBef>
                <a:spcPct val="5000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   | &lt;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表来源 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&gt; CROSS JOIN &lt; 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表来源 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&gt;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spcBef>
                <a:spcPct val="5000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   | &lt;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联接表 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&gt;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spcBef>
                <a:spcPct val="50000"/>
              </a:spcBef>
              <a:buClrTx/>
              <a:buFontTx/>
              <a:buNone/>
            </a:pP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spcBef>
                <a:spcPct val="50000"/>
              </a:spcBef>
              <a:buClrTx/>
              <a:buFontTx/>
              <a:buNone/>
            </a:pP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spcBef>
                <a:spcPct val="5000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&lt; 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联接类型 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&gt; ::= [ INNER | 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spcBef>
                <a:spcPct val="5000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                          { { LEFT | RIGHT | FULL } [OUTER] } ] 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lvl="0" indent="0">
              <a:spcBef>
                <a:spcPct val="5000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                         JOIN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4276" name="Rectangle 3"/>
          <p:cNvSpPr>
            <a:spLocks noGrp="1"/>
          </p:cNvSpPr>
          <p:nvPr>
            <p:ph type="title" idx="4294967295"/>
          </p:nvPr>
        </p:nvSpPr>
        <p:spPr>
          <a:xfrm>
            <a:off x="684213" y="0"/>
            <a:ext cx="7772400" cy="90805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3.3.1 </a:t>
            </a:r>
            <a:r>
              <a:rPr lang="zh-CN" altLang="en-US" u="sng" dirty="0"/>
              <a:t>概述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graphicFrame>
        <p:nvGraphicFramePr>
          <p:cNvPr id="613378" name="Group 2"/>
          <p:cNvGraphicFramePr>
            <a:graphicFrameLocks noGrp="1"/>
          </p:cNvGraphicFramePr>
          <p:nvPr/>
        </p:nvGraphicFramePr>
        <p:xfrm>
          <a:off x="4267200" y="762000"/>
          <a:ext cx="4724400" cy="2581275"/>
        </p:xfrm>
        <a:graphic>
          <a:graphicData uri="http://schemas.openxmlformats.org/drawingml/2006/table">
            <a:tbl>
              <a:tblPr/>
              <a:tblGrid>
                <a:gridCol w="944563"/>
                <a:gridCol w="1023937"/>
                <a:gridCol w="1003300"/>
                <a:gridCol w="914400"/>
                <a:gridCol w="83820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Sno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姓名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Sname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性别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Ssex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生日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Sbirth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系别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Sdept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86-1-1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87-3-8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王敏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87-5-1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张立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88-8-2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IS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5337" name="Text Box 40"/>
          <p:cNvSpPr txBox="1"/>
          <p:nvPr/>
        </p:nvSpPr>
        <p:spPr>
          <a:xfrm>
            <a:off x="2667000" y="838200"/>
            <a:ext cx="1676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Student</a:t>
            </a:r>
            <a:endParaRPr lang="en-US" altLang="zh-CN" dirty="0">
              <a:solidFill>
                <a:schemeClr val="tx1"/>
              </a:solidFill>
            </a:endParaRPr>
          </a:p>
        </p:txBody>
      </p:sp>
      <p:graphicFrame>
        <p:nvGraphicFramePr>
          <p:cNvPr id="613417" name="Group 41"/>
          <p:cNvGraphicFramePr>
            <a:graphicFrameLocks noGrp="1"/>
          </p:cNvGraphicFramePr>
          <p:nvPr/>
        </p:nvGraphicFramePr>
        <p:xfrm>
          <a:off x="152400" y="2286000"/>
          <a:ext cx="4038600" cy="3829050"/>
        </p:xfrm>
        <a:graphic>
          <a:graphicData uri="http://schemas.openxmlformats.org/drawingml/2006/table">
            <a:tbl>
              <a:tblPr/>
              <a:tblGrid>
                <a:gridCol w="914400"/>
                <a:gridCol w="1066800"/>
                <a:gridCol w="990600"/>
                <a:gridCol w="1066800"/>
              </a:tblGrid>
              <a:tr h="6950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Cno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课程名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Cname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先行课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Cpno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学分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Ccredit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42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数据库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42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数学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42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信息系统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操作系统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数据结构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数据处理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PASCAL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5385" name="Text Box 88"/>
          <p:cNvSpPr txBox="1"/>
          <p:nvPr/>
        </p:nvSpPr>
        <p:spPr>
          <a:xfrm>
            <a:off x="1295400" y="1600200"/>
            <a:ext cx="142716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Course</a:t>
            </a:r>
            <a:endParaRPr lang="en-US" altLang="zh-CN" dirty="0">
              <a:solidFill>
                <a:schemeClr val="tx1"/>
              </a:solidFill>
            </a:endParaRPr>
          </a:p>
        </p:txBody>
      </p:sp>
      <p:graphicFrame>
        <p:nvGraphicFramePr>
          <p:cNvPr id="613465" name="Group 89"/>
          <p:cNvGraphicFramePr>
            <a:graphicFrameLocks noGrp="1"/>
          </p:cNvGraphicFramePr>
          <p:nvPr/>
        </p:nvGraphicFramePr>
        <p:xfrm>
          <a:off x="4279900" y="3429000"/>
          <a:ext cx="3048000" cy="3019425"/>
        </p:xfrm>
        <a:graphic>
          <a:graphicData uri="http://schemas.openxmlformats.org/drawingml/2006/table">
            <a:tbl>
              <a:tblPr/>
              <a:tblGrid>
                <a:gridCol w="990600"/>
                <a:gridCol w="990600"/>
                <a:gridCol w="106680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成绩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Grade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85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5416" name="Text Box 119"/>
          <p:cNvSpPr txBox="1"/>
          <p:nvPr/>
        </p:nvSpPr>
        <p:spPr>
          <a:xfrm>
            <a:off x="7620000" y="3505200"/>
            <a:ext cx="70326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SC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55417" name="Rectangle 120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3.3.1 </a:t>
            </a:r>
            <a:r>
              <a:rPr lang="zh-CN" altLang="en-US" u="sng" dirty="0"/>
              <a:t>概述</a:t>
            </a:r>
            <a:endParaRPr lang="zh-CN" altLang="en-US" u="sng" dirty="0"/>
          </a:p>
        </p:txBody>
      </p:sp>
      <p:sp>
        <p:nvSpPr>
          <p:cNvPr id="55418" name="Text Box 121"/>
          <p:cNvSpPr txBox="1"/>
          <p:nvPr/>
        </p:nvSpPr>
        <p:spPr>
          <a:xfrm>
            <a:off x="273050" y="568325"/>
            <a:ext cx="2003425" cy="7620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4400" dirty="0">
                <a:solidFill>
                  <a:srgbClr val="FF0000"/>
                </a:solidFill>
                <a:ea typeface="黑体" panose="02010609060101010101" pitchFamily="49" charset="-122"/>
              </a:rPr>
              <a:t>4.  </a:t>
            </a:r>
            <a:r>
              <a:rPr lang="zh-CN" altLang="en-US" sz="4400" dirty="0">
                <a:solidFill>
                  <a:srgbClr val="FF0000"/>
                </a:solidFill>
                <a:ea typeface="黑体" panose="02010609060101010101" pitchFamily="49" charset="-122"/>
              </a:rPr>
              <a:t>背景</a:t>
            </a:r>
            <a:endParaRPr lang="zh-CN" altLang="en-US" sz="4400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graphicFrame>
        <p:nvGraphicFramePr>
          <p:cNvPr id="614417" name="Group 17"/>
          <p:cNvGraphicFramePr>
            <a:graphicFrameLocks noGrp="1"/>
          </p:cNvGraphicFramePr>
          <p:nvPr/>
        </p:nvGraphicFramePr>
        <p:xfrm>
          <a:off x="2700338" y="1196975"/>
          <a:ext cx="4608513" cy="3103563"/>
        </p:xfrm>
        <a:graphic>
          <a:graphicData uri="http://schemas.openxmlformats.org/drawingml/2006/table">
            <a:tbl>
              <a:tblPr/>
              <a:tblGrid>
                <a:gridCol w="2074113"/>
                <a:gridCol w="2534399"/>
              </a:tblGrid>
              <a:tr h="1030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系号</a:t>
                      </a:r>
                      <a:endParaRPr kumimoji="1" lang="zh-CN" alt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DeptId</a:t>
                      </a:r>
                      <a:endParaRPr kumimoji="1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26" marB="4572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系名</a:t>
                      </a:r>
                      <a:endParaRPr kumimoji="1" lang="zh-CN" alt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DeptName</a:t>
                      </a:r>
                      <a:endParaRPr kumimoji="1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26" marB="4572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26" marB="4572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26" marB="4572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IS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26" marB="4572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信息系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26" marB="4572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26" marB="4572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数学系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26" marB="4572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EN</a:t>
                      </a:r>
                      <a:endParaRPr kumimoji="1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26" marB="4572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英文系</a:t>
                      </a:r>
                      <a:endParaRPr kumimoji="1" lang="zh-CN" alt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51" marR="91451" marT="45726" marB="4572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6343" name="Text Box 37"/>
          <p:cNvSpPr txBox="1"/>
          <p:nvPr/>
        </p:nvSpPr>
        <p:spPr>
          <a:xfrm>
            <a:off x="1258888" y="1268413"/>
            <a:ext cx="1019175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Dept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56344" name="Rectangle 38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3.3.1 </a:t>
            </a:r>
            <a:r>
              <a:rPr lang="zh-CN" altLang="en-US" u="sng" dirty="0"/>
              <a:t>概述</a:t>
            </a:r>
            <a:endParaRPr lang="zh-CN" altLang="en-US" u="sng" dirty="0"/>
          </a:p>
        </p:txBody>
      </p:sp>
      <p:sp>
        <p:nvSpPr>
          <p:cNvPr id="56345" name="Text Box 37"/>
          <p:cNvSpPr txBox="1"/>
          <p:nvPr/>
        </p:nvSpPr>
        <p:spPr>
          <a:xfrm>
            <a:off x="1320800" y="4578350"/>
            <a:ext cx="800100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Sex</a:t>
            </a:r>
            <a:endParaRPr lang="en-US" altLang="zh-CN" dirty="0">
              <a:solidFill>
                <a:schemeClr val="tx1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627313" y="4437063"/>
          <a:ext cx="4176713" cy="2341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836"/>
                <a:gridCol w="2059876"/>
              </a:tblGrid>
              <a:tr h="13049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性别号</a:t>
                      </a:r>
                      <a:endParaRPr kumimoji="1" lang="zh-CN" alt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SexId</a:t>
                      </a:r>
                      <a:endParaRPr kumimoji="1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endParaRPr lang="zh-CN" altLang="en-US" sz="1800" dirty="0"/>
                    </a:p>
                  </a:txBody>
                  <a:tcPr marL="91445" marR="91445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性别名</a:t>
                      </a:r>
                      <a:endParaRPr kumimoji="1" lang="zh-CN" alt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SexName</a:t>
                      </a:r>
                      <a:endParaRPr kumimoji="1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endParaRPr lang="zh-CN" altLang="en-US" sz="1800" dirty="0"/>
                    </a:p>
                  </a:txBody>
                  <a:tcPr marL="91445" marR="91445" marT="45733" marB="457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32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743" marB="4574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女</a:t>
                      </a:r>
                      <a:endParaRPr kumimoji="1" lang="zh-CN" alt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743" marB="4574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32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743" marB="4574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男</a:t>
                      </a:r>
                      <a:endParaRPr kumimoji="1" lang="zh-CN" alt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743" marB="4574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页脚占位符 2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7347" name="Rectangle 2"/>
          <p:cNvSpPr/>
          <p:nvPr/>
        </p:nvSpPr>
        <p:spPr>
          <a:xfrm>
            <a:off x="304800" y="914400"/>
            <a:ext cx="8229600" cy="5200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dirty="0">
                <a:solidFill>
                  <a:schemeClr val="tx1"/>
                </a:solidFill>
              </a:rPr>
              <a:t>  </a:t>
            </a:r>
            <a:r>
              <a:rPr lang="zh-CN" altLang="en-US" dirty="0">
                <a:solidFill>
                  <a:schemeClr val="tx1"/>
                </a:solidFill>
              </a:rPr>
              <a:t>创建数据库</a:t>
            </a:r>
            <a:br>
              <a:rPr lang="zh-CN" altLang="en-US" dirty="0">
                <a:solidFill>
                  <a:schemeClr val="tx1"/>
                </a:solidFill>
              </a:rPr>
            </a:br>
            <a:r>
              <a:rPr lang="zh-CN" altLang="en-US" dirty="0">
                <a:solidFill>
                  <a:schemeClr val="tx1"/>
                </a:solidFill>
              </a:rPr>
              <a:t>         </a:t>
            </a:r>
            <a:r>
              <a:rPr lang="en-US" altLang="zh-CN" sz="2400" dirty="0">
                <a:solidFill>
                  <a:schemeClr val="accent2"/>
                </a:solidFill>
                <a:latin typeface="Arial Narrow" panose="020B0606020202030204" pitchFamily="34" charset="0"/>
              </a:rPr>
              <a:t>CREATE DATABASE [dbo]  ON </a:t>
            </a:r>
            <a:endParaRPr lang="en-US" altLang="zh-CN" sz="2400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914400" lvl="2" indent="0" eaLnBrk="1" hangingPunct="1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(NAME =</a:t>
            </a:r>
            <a:r>
              <a:rPr lang="en-US" altLang="zh-CN" dirty="0">
                <a:latin typeface="Arial Narrow" panose="020B0606020202030204" pitchFamily="3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33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‘dbo_Data'</a:t>
            </a:r>
            <a:r>
              <a:rPr lang="en-US" altLang="zh-CN" dirty="0">
                <a:latin typeface="Arial Narrow" panose="020B0606020202030204" pitchFamily="34" charset="0"/>
                <a:ea typeface="宋体" panose="02010600030101010101" pitchFamily="2" charset="-122"/>
              </a:rPr>
              <a:t>, </a:t>
            </a:r>
            <a:endParaRPr lang="en-US" altLang="zh-CN" dirty="0"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 marL="914400" lvl="2" indent="0" eaLnBrk="1" hangingPunct="1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Arial Narrow" panose="020B0606020202030204" pitchFamily="3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FILENAME =</a:t>
            </a:r>
            <a:r>
              <a:rPr lang="en-US" altLang="zh-CN" dirty="0">
                <a:latin typeface="Arial Narrow" panose="020B0606020202030204" pitchFamily="34" charset="0"/>
                <a:ea typeface="宋体" panose="02010600030101010101" pitchFamily="2" charset="-122"/>
              </a:rPr>
              <a:t> '</a:t>
            </a:r>
            <a:r>
              <a:rPr lang="en-US" altLang="zh-CN" dirty="0">
                <a:solidFill>
                  <a:srgbClr val="FF33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C:\Program Files\Microsoft SQL Server\MSSQL\data\dbo_Data.MDF'</a:t>
            </a:r>
            <a:r>
              <a:rPr lang="en-US" altLang="zh-CN" dirty="0">
                <a:latin typeface="Arial Narrow" panose="020B0606020202030204" pitchFamily="34" charset="0"/>
                <a:ea typeface="宋体" panose="02010600030101010101" pitchFamily="2" charset="-122"/>
              </a:rPr>
              <a:t> , </a:t>
            </a:r>
            <a:endParaRPr lang="en-US" altLang="zh-CN" dirty="0"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 marL="914400" lvl="2" indent="0" eaLnBrk="1" hangingPunct="1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Arial Narrow" panose="020B0606020202030204" pitchFamily="3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SIZE</a:t>
            </a:r>
            <a:r>
              <a:rPr lang="en-US" altLang="zh-CN" dirty="0">
                <a:latin typeface="Arial Narrow" panose="020B0606020202030204" pitchFamily="34" charset="0"/>
                <a:ea typeface="宋体" panose="02010600030101010101" pitchFamily="2" charset="-122"/>
              </a:rPr>
              <a:t> = 1, 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FILEGROWTH </a:t>
            </a:r>
            <a:r>
              <a:rPr lang="en-US" altLang="zh-CN" dirty="0">
                <a:latin typeface="Arial Narrow" panose="020B0606020202030204" pitchFamily="34" charset="0"/>
                <a:ea typeface="宋体" panose="02010600030101010101" pitchFamily="2" charset="-122"/>
              </a:rPr>
              <a:t>= 10%)</a:t>
            </a:r>
            <a:br>
              <a:rPr lang="en-US" altLang="zh-CN" dirty="0">
                <a:latin typeface="Arial Narrow" panose="020B060602020203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 Narrow" panose="020B0606020202030204" pitchFamily="34" charset="0"/>
                <a:ea typeface="宋体" panose="02010600030101010101" pitchFamily="2" charset="-122"/>
              </a:rPr>
              <a:t> </a:t>
            </a:r>
            <a:endParaRPr lang="en-US" altLang="zh-CN" dirty="0"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 marL="914400" lvl="2" indent="0" eaLnBrk="1" hangingPunct="1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66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LOG</a:t>
            </a:r>
            <a:r>
              <a:rPr lang="en-US" altLang="zh-CN" dirty="0">
                <a:latin typeface="Arial Narrow" panose="020B0606020202030204" pitchFamily="3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ON</a:t>
            </a:r>
            <a:r>
              <a:rPr lang="en-US" altLang="zh-CN" dirty="0">
                <a:latin typeface="Arial Narrow" panose="020B0606020202030204" pitchFamily="34" charset="0"/>
                <a:ea typeface="宋体" panose="02010600030101010101" pitchFamily="2" charset="-122"/>
              </a:rPr>
              <a:t> </a:t>
            </a:r>
            <a:endParaRPr lang="en-US" altLang="zh-CN" dirty="0"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 marL="914400" lvl="2" indent="0" eaLnBrk="1" hangingPunct="1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Arial Narrow" panose="020B0606020202030204" pitchFamily="34" charset="0"/>
                <a:ea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NAME</a:t>
            </a:r>
            <a:r>
              <a:rPr lang="en-US" altLang="zh-CN" dirty="0">
                <a:latin typeface="Arial Narrow" panose="020B0606020202030204" pitchFamily="34" charset="0"/>
                <a:ea typeface="宋体" panose="02010600030101010101" pitchFamily="2" charset="-122"/>
              </a:rPr>
              <a:t> = </a:t>
            </a:r>
            <a:r>
              <a:rPr lang="en-US" altLang="zh-CN" dirty="0">
                <a:solidFill>
                  <a:srgbClr val="FF33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‘dbo_Log',  </a:t>
            </a:r>
            <a:endParaRPr lang="en-US" altLang="zh-CN" dirty="0">
              <a:solidFill>
                <a:srgbClr val="FF330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 marL="914400" lvl="2" indent="0" eaLnBrk="1" hangingPunct="1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33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FILENAME = 'C:\Program Files\Microsoft SQL Server\MSSQL\data\dbo_Log.LDF'</a:t>
            </a:r>
            <a:r>
              <a:rPr lang="en-US" altLang="zh-CN" dirty="0">
                <a:latin typeface="Arial Narrow" panose="020B0606020202030204" pitchFamily="34" charset="0"/>
                <a:ea typeface="宋体" panose="02010600030101010101" pitchFamily="2" charset="-122"/>
              </a:rPr>
              <a:t> , </a:t>
            </a:r>
            <a:endParaRPr lang="en-US" altLang="zh-CN" dirty="0"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 marL="914400" lvl="2" indent="0" eaLnBrk="1" hangingPunct="1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SIZE</a:t>
            </a:r>
            <a:r>
              <a:rPr lang="en-US" altLang="zh-CN" dirty="0">
                <a:latin typeface="Arial Narrow" panose="020B0606020202030204" pitchFamily="34" charset="0"/>
                <a:ea typeface="宋体" panose="02010600030101010101" pitchFamily="2" charset="-122"/>
              </a:rPr>
              <a:t> = 1, 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FILEGROWTH</a:t>
            </a:r>
            <a:r>
              <a:rPr lang="en-US" altLang="zh-CN" dirty="0">
                <a:latin typeface="Arial Narrow" panose="020B0606020202030204" pitchFamily="34" charset="0"/>
                <a:ea typeface="宋体" panose="02010600030101010101" pitchFamily="2" charset="-122"/>
              </a:rPr>
              <a:t> = 10%)</a:t>
            </a:r>
            <a:endParaRPr lang="en-US" altLang="zh-CN" dirty="0"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 marL="914400" lvl="2" indent="0" eaLnBrk="1" hangingPunct="1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 Narrow" panose="020B0606020202030204" pitchFamily="34" charset="0"/>
                <a:ea typeface="宋体" panose="02010600030101010101" pitchFamily="2" charset="-122"/>
              </a:rPr>
              <a:t> </a:t>
            </a:r>
            <a:endParaRPr lang="en-US" altLang="zh-CN" sz="2800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7348" name="Rectangle 4"/>
          <p:cNvSpPr>
            <a:spLocks noGrp="1"/>
          </p:cNvSpPr>
          <p:nvPr>
            <p:ph type="title" idx="4294967295"/>
          </p:nvPr>
        </p:nvSpPr>
        <p:spPr>
          <a:xfrm>
            <a:off x="684213" y="0"/>
            <a:ext cx="7772400" cy="68421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u="sng" dirty="0"/>
              <a:t>3.3.1 </a:t>
            </a:r>
            <a:r>
              <a:rPr lang="zh-CN" altLang="en-US" sz="4000" u="sng" dirty="0"/>
              <a:t>概述</a:t>
            </a:r>
            <a:endParaRPr lang="zh-CN" altLang="en-US" sz="4000" u="sng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页脚占位符 2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8371" name="Rectangle 2"/>
          <p:cNvSpPr/>
          <p:nvPr/>
        </p:nvSpPr>
        <p:spPr>
          <a:xfrm>
            <a:off x="990600" y="63500"/>
            <a:ext cx="6019800" cy="533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fontAlgn="t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bg1"/>
                </a:solidFill>
              </a:rPr>
              <a:t>3.2 </a:t>
            </a:r>
            <a:r>
              <a:rPr lang="zh-CN" altLang="en-US" sz="3600" b="0" dirty="0">
                <a:solidFill>
                  <a:schemeClr val="bg1"/>
                </a:solidFill>
              </a:rPr>
              <a:t>数据定义</a:t>
            </a:r>
            <a:endParaRPr lang="zh-CN" altLang="en-US" sz="3600" b="0" dirty="0">
              <a:solidFill>
                <a:schemeClr val="bg1"/>
              </a:solidFill>
            </a:endParaRPr>
          </a:p>
        </p:txBody>
      </p:sp>
      <p:sp>
        <p:nvSpPr>
          <p:cNvPr id="58372" name="Rectangle 3"/>
          <p:cNvSpPr/>
          <p:nvPr/>
        </p:nvSpPr>
        <p:spPr>
          <a:xfrm>
            <a:off x="127000" y="1219200"/>
            <a:ext cx="8610600" cy="521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800" dirty="0">
                <a:solidFill>
                  <a:schemeClr val="tx1"/>
                </a:solidFill>
              </a:rPr>
              <a:t>  </a:t>
            </a:r>
            <a:r>
              <a:rPr lang="zh-CN" altLang="en-US" sz="2800" dirty="0">
                <a:solidFill>
                  <a:schemeClr val="tx1"/>
                </a:solidFill>
              </a:rPr>
              <a:t>建表</a:t>
            </a:r>
            <a:r>
              <a:rPr lang="en-US" altLang="zh-CN" sz="2800" dirty="0">
                <a:solidFill>
                  <a:schemeClr val="tx1"/>
                </a:solidFill>
              </a:rPr>
              <a:t>Course</a:t>
            </a:r>
            <a:br>
              <a:rPr lang="en-US" altLang="zh-CN" sz="2800" dirty="0">
                <a:solidFill>
                  <a:schemeClr val="tx1"/>
                </a:solidFill>
              </a:rPr>
            </a:br>
            <a:endParaRPr lang="en-US" altLang="zh-CN" sz="2800" dirty="0">
              <a:solidFill>
                <a:schemeClr val="tx1"/>
              </a:solidFill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CREATE TABLE </a:t>
            </a:r>
            <a:r>
              <a:rPr lang="en-US" altLang="zh-CN" dirty="0">
                <a:latin typeface="Arial Narrow" panose="020B0606020202030204" pitchFamily="34" charset="0"/>
              </a:rPr>
              <a:t>dbo.course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 (</a:t>
            </a:r>
            <a:endParaRPr lang="en-US" altLang="zh-CN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	</a:t>
            </a:r>
            <a:r>
              <a:rPr lang="en-US" altLang="zh-CN" dirty="0">
                <a:latin typeface="Arial Narrow" panose="020B0606020202030204" pitchFamily="34" charset="0"/>
              </a:rPr>
              <a:t>cno 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char (</a:t>
            </a:r>
            <a:r>
              <a:rPr lang="en-US" altLang="zh-CN" dirty="0">
                <a:latin typeface="Arial Narrow" panose="020B0606020202030204" pitchFamily="34" charset="0"/>
              </a:rPr>
              <a:t>5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)  NOT NULL </a:t>
            </a:r>
            <a:endParaRPr lang="en-US" altLang="zh-CN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	   CONSTRAINT </a:t>
            </a:r>
            <a:r>
              <a:rPr lang="en-US" altLang="zh-CN" dirty="0">
                <a:latin typeface="Arial Narrow" panose="020B0606020202030204" pitchFamily="34" charset="0"/>
              </a:rPr>
              <a:t>PK_course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 PRIMARY KEY      CLUSTERED ,</a:t>
            </a:r>
            <a:endParaRPr lang="en-US" altLang="zh-CN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	</a:t>
            </a:r>
            <a:r>
              <a:rPr lang="en-US" altLang="zh-CN" dirty="0">
                <a:latin typeface="Arial Narrow" panose="020B0606020202030204" pitchFamily="34" charset="0"/>
              </a:rPr>
              <a:t>cname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 char (</a:t>
            </a:r>
            <a:r>
              <a:rPr lang="en-US" altLang="zh-CN" dirty="0">
                <a:latin typeface="Arial Narrow" panose="020B0606020202030204" pitchFamily="34" charset="0"/>
              </a:rPr>
              <a:t>30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)  NULL ,</a:t>
            </a:r>
            <a:endParaRPr lang="en-US" altLang="zh-CN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	</a:t>
            </a:r>
            <a:r>
              <a:rPr lang="en-US" altLang="zh-CN" dirty="0">
                <a:latin typeface="Arial Narrow" panose="020B0606020202030204" pitchFamily="34" charset="0"/>
              </a:rPr>
              <a:t>cpno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 char (</a:t>
            </a:r>
            <a:r>
              <a:rPr lang="en-US" altLang="zh-CN" dirty="0">
                <a:latin typeface="Arial Narrow" panose="020B0606020202030204" pitchFamily="34" charset="0"/>
              </a:rPr>
              <a:t>5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)  NULL ,</a:t>
            </a:r>
            <a:endParaRPr lang="en-US" altLang="zh-CN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	</a:t>
            </a:r>
            <a:r>
              <a:rPr lang="en-US" altLang="zh-CN" dirty="0">
                <a:latin typeface="Arial Narrow" panose="020B0606020202030204" pitchFamily="34" charset="0"/>
              </a:rPr>
              <a:t>ccredit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 smallint NULL</a:t>
            </a:r>
            <a:endParaRPr lang="en-US" altLang="zh-CN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) </a:t>
            </a:r>
            <a:endParaRPr lang="en-US" altLang="zh-CN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GO</a:t>
            </a:r>
            <a:endParaRPr lang="en-US" altLang="zh-CN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914400" lvl="2" indent="0" eaLnBrk="1" hangingPunct="1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en-US" altLang="zh-CN" sz="2800" dirty="0">
              <a:solidFill>
                <a:schemeClr val="accent2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8373" name="Rectangle 5"/>
          <p:cNvSpPr>
            <a:spLocks noGrp="1"/>
          </p:cNvSpPr>
          <p:nvPr>
            <p:ph type="title" idx="4294967295"/>
          </p:nvPr>
        </p:nvSpPr>
        <p:spPr>
          <a:xfrm>
            <a:off x="900113" y="0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3.3.1 </a:t>
            </a:r>
            <a:r>
              <a:rPr lang="zh-CN" altLang="en-US" u="sng" dirty="0"/>
              <a:t>概述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页脚占位符 2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9395" name="Rectangle 2"/>
          <p:cNvSpPr/>
          <p:nvPr/>
        </p:nvSpPr>
        <p:spPr>
          <a:xfrm>
            <a:off x="304800" y="1219200"/>
            <a:ext cx="8610600" cy="4478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dirty="0">
                <a:solidFill>
                  <a:schemeClr val="tx1"/>
                </a:solidFill>
              </a:rPr>
              <a:t>  </a:t>
            </a:r>
            <a:r>
              <a:rPr lang="zh-CN" altLang="en-US" dirty="0">
                <a:solidFill>
                  <a:schemeClr val="tx1"/>
                </a:solidFill>
              </a:rPr>
              <a:t>建表</a:t>
            </a:r>
            <a:r>
              <a:rPr lang="en-US" altLang="zh-CN" dirty="0">
                <a:solidFill>
                  <a:schemeClr val="tx1"/>
                </a:solidFill>
              </a:rPr>
              <a:t>Dept</a:t>
            </a:r>
            <a:br>
              <a:rPr lang="en-US" altLang="zh-CN" dirty="0">
                <a:solidFill>
                  <a:schemeClr val="tx1"/>
                </a:solidFill>
              </a:rPr>
            </a:br>
            <a:endParaRPr lang="en-US" altLang="zh-CN" dirty="0">
              <a:solidFill>
                <a:schemeClr val="tx1"/>
              </a:solidFill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accent2"/>
                </a:solidFill>
                <a:latin typeface="Arial Narrow" panose="020B0606020202030204" pitchFamily="34" charset="0"/>
              </a:rPr>
              <a:t>CREATE TABLE </a:t>
            </a:r>
            <a:r>
              <a:rPr lang="en-US" altLang="zh-CN" sz="3200" dirty="0">
                <a:latin typeface="Arial Narrow" panose="020B0606020202030204" pitchFamily="34" charset="0"/>
              </a:rPr>
              <a:t>dbo.dept</a:t>
            </a:r>
            <a:r>
              <a:rPr lang="en-US" altLang="zh-CN" sz="3200" dirty="0">
                <a:solidFill>
                  <a:schemeClr val="accent2"/>
                </a:solidFill>
                <a:latin typeface="Arial Narrow" panose="020B0606020202030204" pitchFamily="34" charset="0"/>
              </a:rPr>
              <a:t> (</a:t>
            </a:r>
            <a:endParaRPr lang="en-US" altLang="zh-CN" sz="3200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accent2"/>
                </a:solidFill>
                <a:latin typeface="Arial Narrow" panose="020B0606020202030204" pitchFamily="34" charset="0"/>
              </a:rPr>
              <a:t>	</a:t>
            </a:r>
            <a:r>
              <a:rPr lang="en-US" altLang="zh-CN" sz="3200" dirty="0">
                <a:latin typeface="Arial Narrow" panose="020B0606020202030204" pitchFamily="34" charset="0"/>
              </a:rPr>
              <a:t>deptid</a:t>
            </a:r>
            <a:r>
              <a:rPr lang="en-US" altLang="zh-CN" sz="3200" dirty="0">
                <a:solidFill>
                  <a:schemeClr val="accent2"/>
                </a:solidFill>
                <a:latin typeface="Arial Narrow" panose="020B0606020202030204" pitchFamily="34" charset="0"/>
              </a:rPr>
              <a:t> char (</a:t>
            </a:r>
            <a:r>
              <a:rPr lang="en-US" altLang="zh-CN" sz="3200" dirty="0">
                <a:latin typeface="Arial Narrow" panose="020B0606020202030204" pitchFamily="34" charset="0"/>
              </a:rPr>
              <a:t>4</a:t>
            </a:r>
            <a:r>
              <a:rPr lang="en-US" altLang="zh-CN" sz="3200" dirty="0">
                <a:solidFill>
                  <a:schemeClr val="accent2"/>
                </a:solidFill>
                <a:latin typeface="Arial Narrow" panose="020B0606020202030204" pitchFamily="34" charset="0"/>
              </a:rPr>
              <a:t>)  NOT NULL </a:t>
            </a:r>
            <a:endParaRPr lang="en-US" altLang="zh-CN" sz="3200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accent2"/>
                </a:solidFill>
                <a:latin typeface="Arial Narrow" panose="020B0606020202030204" pitchFamily="34" charset="0"/>
              </a:rPr>
              <a:t>	   CONSTRAINT </a:t>
            </a:r>
            <a:r>
              <a:rPr lang="en-US" altLang="zh-CN" sz="3200" dirty="0">
                <a:latin typeface="Arial Narrow" panose="020B0606020202030204" pitchFamily="34" charset="0"/>
              </a:rPr>
              <a:t>PK_dept</a:t>
            </a:r>
            <a:r>
              <a:rPr lang="en-US" altLang="zh-CN" sz="3200" dirty="0">
                <a:solidFill>
                  <a:schemeClr val="accent2"/>
                </a:solidFill>
                <a:latin typeface="Arial Narrow" panose="020B0606020202030204" pitchFamily="34" charset="0"/>
              </a:rPr>
              <a:t> PRIMARY KEY  CLUSTERED ,</a:t>
            </a:r>
            <a:endParaRPr lang="en-US" altLang="zh-CN" sz="3200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accent2"/>
                </a:solidFill>
                <a:latin typeface="Arial Narrow" panose="020B0606020202030204" pitchFamily="34" charset="0"/>
              </a:rPr>
              <a:t>	</a:t>
            </a:r>
            <a:r>
              <a:rPr lang="en-US" altLang="zh-CN" sz="3200" dirty="0">
                <a:latin typeface="Arial Narrow" panose="020B0606020202030204" pitchFamily="34" charset="0"/>
              </a:rPr>
              <a:t>deptname</a:t>
            </a:r>
            <a:r>
              <a:rPr lang="en-US" altLang="zh-CN" sz="3200" dirty="0">
                <a:solidFill>
                  <a:schemeClr val="accent2"/>
                </a:solidFill>
                <a:latin typeface="Arial Narrow" panose="020B0606020202030204" pitchFamily="34" charset="0"/>
              </a:rPr>
              <a:t> char (</a:t>
            </a:r>
            <a:r>
              <a:rPr lang="en-US" altLang="zh-CN" sz="3200" dirty="0">
                <a:latin typeface="Arial Narrow" panose="020B0606020202030204" pitchFamily="34" charset="0"/>
              </a:rPr>
              <a:t>10</a:t>
            </a:r>
            <a:r>
              <a:rPr lang="en-US" altLang="zh-CN" sz="3200" dirty="0">
                <a:solidFill>
                  <a:schemeClr val="accent2"/>
                </a:solidFill>
                <a:latin typeface="Arial Narrow" panose="020B0606020202030204" pitchFamily="34" charset="0"/>
              </a:rPr>
              <a:t>)  NULL</a:t>
            </a:r>
            <a:endParaRPr lang="en-US" altLang="zh-CN" sz="3200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accent2"/>
                </a:solidFill>
                <a:latin typeface="Arial Narrow" panose="020B0606020202030204" pitchFamily="34" charset="0"/>
              </a:rPr>
              <a:t>) </a:t>
            </a:r>
            <a:endParaRPr lang="en-US" altLang="zh-CN" sz="3200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accent2"/>
                </a:solidFill>
                <a:latin typeface="Arial Narrow" panose="020B0606020202030204" pitchFamily="34" charset="0"/>
              </a:rPr>
              <a:t>GO</a:t>
            </a:r>
            <a:endParaRPr lang="en-US" altLang="zh-CN" sz="3200" dirty="0">
              <a:solidFill>
                <a:schemeClr val="accent2"/>
              </a:solidFill>
              <a:latin typeface="Arial Narrow" panose="020B0606020202030204" pitchFamily="34" charset="0"/>
            </a:endParaRPr>
          </a:p>
        </p:txBody>
      </p:sp>
      <p:sp>
        <p:nvSpPr>
          <p:cNvPr id="59396" name="Rectangle 4"/>
          <p:cNvSpPr>
            <a:spLocks noGrp="1"/>
          </p:cNvSpPr>
          <p:nvPr>
            <p:ph type="title" idx="4294967295"/>
          </p:nvPr>
        </p:nvSpPr>
        <p:spPr>
          <a:xfrm>
            <a:off x="685800" y="152400"/>
            <a:ext cx="7772400" cy="90011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3.3.1 </a:t>
            </a:r>
            <a:r>
              <a:rPr lang="zh-CN" altLang="en-US" u="sng" dirty="0"/>
              <a:t>概述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页脚占位符 2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0419" name="Rectangle 2"/>
          <p:cNvSpPr/>
          <p:nvPr/>
        </p:nvSpPr>
        <p:spPr>
          <a:xfrm>
            <a:off x="381000" y="1219200"/>
            <a:ext cx="8534400" cy="4524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dirty="0">
                <a:solidFill>
                  <a:schemeClr val="tx1"/>
                </a:solidFill>
              </a:rPr>
              <a:t>  </a:t>
            </a:r>
            <a:r>
              <a:rPr lang="zh-CN" altLang="en-US" dirty="0">
                <a:solidFill>
                  <a:schemeClr val="tx1"/>
                </a:solidFill>
              </a:rPr>
              <a:t>建表</a:t>
            </a:r>
            <a:r>
              <a:rPr lang="en-US" altLang="zh-CN" dirty="0">
                <a:solidFill>
                  <a:schemeClr val="tx1"/>
                </a:solidFill>
              </a:rPr>
              <a:t>Sex</a:t>
            </a:r>
            <a:br>
              <a:rPr lang="en-US" altLang="zh-CN" dirty="0">
                <a:solidFill>
                  <a:schemeClr val="tx1"/>
                </a:solidFill>
              </a:rPr>
            </a:br>
            <a:endParaRPr lang="en-US" altLang="zh-CN" dirty="0">
              <a:solidFill>
                <a:schemeClr val="tx1"/>
              </a:solidFill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accent2"/>
                </a:solidFill>
                <a:latin typeface="Arial Narrow" panose="020B0606020202030204" pitchFamily="34" charset="0"/>
              </a:rPr>
              <a:t>CREATE TABLE </a:t>
            </a:r>
            <a:r>
              <a:rPr lang="en-US" altLang="zh-CN" sz="3200" dirty="0">
                <a:latin typeface="Arial Narrow" panose="020B0606020202030204" pitchFamily="34" charset="0"/>
              </a:rPr>
              <a:t>dbo.sex</a:t>
            </a:r>
            <a:r>
              <a:rPr lang="en-US" altLang="zh-CN" sz="3200" dirty="0">
                <a:solidFill>
                  <a:schemeClr val="accent2"/>
                </a:solidFill>
                <a:latin typeface="Arial Narrow" panose="020B0606020202030204" pitchFamily="34" charset="0"/>
              </a:rPr>
              <a:t> (</a:t>
            </a:r>
            <a:endParaRPr lang="en-US" altLang="zh-CN" sz="3200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accent2"/>
                </a:solidFill>
                <a:latin typeface="Arial Narrow" panose="020B0606020202030204" pitchFamily="34" charset="0"/>
              </a:rPr>
              <a:t>	</a:t>
            </a:r>
            <a:r>
              <a:rPr lang="en-US" altLang="zh-CN" sz="3200" dirty="0">
                <a:latin typeface="Arial Narrow" panose="020B0606020202030204" pitchFamily="34" charset="0"/>
              </a:rPr>
              <a:t>sexid</a:t>
            </a:r>
            <a:r>
              <a:rPr lang="en-US" altLang="zh-CN" sz="3200" dirty="0">
                <a:solidFill>
                  <a:schemeClr val="accent2"/>
                </a:solidFill>
                <a:latin typeface="Arial Narrow" panose="020B0606020202030204" pitchFamily="34" charset="0"/>
              </a:rPr>
              <a:t> char (</a:t>
            </a:r>
            <a:r>
              <a:rPr lang="en-US" altLang="zh-CN" sz="3200" dirty="0">
                <a:latin typeface="Arial Narrow" panose="020B0606020202030204" pitchFamily="34" charset="0"/>
              </a:rPr>
              <a:t>1</a:t>
            </a:r>
            <a:r>
              <a:rPr lang="en-US" altLang="zh-CN" sz="3200" dirty="0">
                <a:solidFill>
                  <a:schemeClr val="accent2"/>
                </a:solidFill>
                <a:latin typeface="Arial Narrow" panose="020B0606020202030204" pitchFamily="34" charset="0"/>
              </a:rPr>
              <a:t>)  NOT NULL</a:t>
            </a:r>
            <a:endParaRPr lang="en-US" altLang="zh-CN" sz="3200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accent2"/>
                </a:solidFill>
                <a:latin typeface="Arial Narrow" panose="020B0606020202030204" pitchFamily="34" charset="0"/>
              </a:rPr>
              <a:t>	  CONSTRAINT </a:t>
            </a:r>
            <a:r>
              <a:rPr lang="en-US" altLang="zh-CN" sz="3200" dirty="0">
                <a:latin typeface="Arial Narrow" panose="020B0606020202030204" pitchFamily="34" charset="0"/>
              </a:rPr>
              <a:t>PK_sex</a:t>
            </a:r>
            <a:r>
              <a:rPr lang="en-US" altLang="zh-CN" sz="3200" dirty="0">
                <a:solidFill>
                  <a:schemeClr val="accent2"/>
                </a:solidFill>
                <a:latin typeface="Arial Narrow" panose="020B0606020202030204" pitchFamily="34" charset="0"/>
              </a:rPr>
              <a:t> PRIMARY KEY  CLUSTERED  ,</a:t>
            </a:r>
            <a:endParaRPr lang="en-US" altLang="zh-CN" sz="3200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accent2"/>
                </a:solidFill>
                <a:latin typeface="Arial Narrow" panose="020B0606020202030204" pitchFamily="34" charset="0"/>
              </a:rPr>
              <a:t>	</a:t>
            </a:r>
            <a:r>
              <a:rPr lang="en-US" altLang="zh-CN" sz="3200" dirty="0">
                <a:latin typeface="Arial Narrow" panose="020B0606020202030204" pitchFamily="34" charset="0"/>
              </a:rPr>
              <a:t>sexname</a:t>
            </a:r>
            <a:r>
              <a:rPr lang="en-US" altLang="zh-CN" sz="3200" dirty="0">
                <a:solidFill>
                  <a:schemeClr val="accent2"/>
                </a:solidFill>
                <a:latin typeface="Arial Narrow" panose="020B0606020202030204" pitchFamily="34" charset="0"/>
              </a:rPr>
              <a:t> char (</a:t>
            </a:r>
            <a:r>
              <a:rPr lang="en-US" altLang="zh-CN" sz="3200" dirty="0">
                <a:latin typeface="Arial Narrow" panose="020B0606020202030204" pitchFamily="34" charset="0"/>
              </a:rPr>
              <a:t>2</a:t>
            </a:r>
            <a:r>
              <a:rPr lang="en-US" altLang="zh-CN" sz="3200" dirty="0">
                <a:solidFill>
                  <a:schemeClr val="accent2"/>
                </a:solidFill>
                <a:latin typeface="Arial Narrow" panose="020B0606020202030204" pitchFamily="34" charset="0"/>
              </a:rPr>
              <a:t>)  NULL </a:t>
            </a:r>
            <a:endParaRPr lang="en-US" altLang="zh-CN" sz="3200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accent2"/>
                </a:solidFill>
                <a:latin typeface="Arial Narrow" panose="020B0606020202030204" pitchFamily="34" charset="0"/>
              </a:rPr>
              <a:t>) </a:t>
            </a:r>
            <a:endParaRPr lang="en-US" altLang="zh-CN" sz="3200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accent2"/>
                </a:solidFill>
                <a:latin typeface="Arial Narrow" panose="020B0606020202030204" pitchFamily="34" charset="0"/>
              </a:rPr>
              <a:t>GO</a:t>
            </a:r>
            <a:endParaRPr lang="en-US" altLang="zh-CN" sz="3200" dirty="0">
              <a:solidFill>
                <a:schemeClr val="accent2"/>
              </a:solidFill>
              <a:latin typeface="Arial Narrow" panose="020B0606020202030204" pitchFamily="34" charset="0"/>
            </a:endParaRPr>
          </a:p>
        </p:txBody>
      </p:sp>
      <p:sp>
        <p:nvSpPr>
          <p:cNvPr id="60420" name="Rectangle 4"/>
          <p:cNvSpPr>
            <a:spLocks noGrp="1"/>
          </p:cNvSpPr>
          <p:nvPr>
            <p:ph type="title" idx="4294967295"/>
          </p:nvPr>
        </p:nvSpPr>
        <p:spPr>
          <a:xfrm>
            <a:off x="684213" y="57150"/>
            <a:ext cx="7772400" cy="83661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3.3.1 </a:t>
            </a:r>
            <a:r>
              <a:rPr lang="zh-CN" altLang="en-US" u="sng" dirty="0"/>
              <a:t>概述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页脚占位符 2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1443" name="Rectangle 2"/>
          <p:cNvSpPr/>
          <p:nvPr/>
        </p:nvSpPr>
        <p:spPr>
          <a:xfrm>
            <a:off x="228600" y="787400"/>
            <a:ext cx="8458200" cy="6070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800" dirty="0">
                <a:solidFill>
                  <a:schemeClr val="tx1"/>
                </a:solidFill>
              </a:rPr>
              <a:t>  </a:t>
            </a:r>
            <a:r>
              <a:rPr lang="zh-CN" altLang="en-US" sz="2800" dirty="0">
                <a:solidFill>
                  <a:schemeClr val="tx1"/>
                </a:solidFill>
              </a:rPr>
              <a:t>建表</a:t>
            </a:r>
            <a:r>
              <a:rPr lang="en-US" altLang="zh-CN" sz="2800" dirty="0">
                <a:solidFill>
                  <a:schemeClr val="tx1"/>
                </a:solidFill>
              </a:rPr>
              <a:t>Student</a:t>
            </a:r>
            <a:br>
              <a:rPr lang="en-US" altLang="zh-CN" sz="2800" dirty="0">
                <a:solidFill>
                  <a:schemeClr val="tx1"/>
                </a:solidFill>
              </a:rPr>
            </a:br>
            <a:endParaRPr lang="en-US" altLang="zh-CN" sz="2800" dirty="0">
              <a:solidFill>
                <a:schemeClr val="tx1"/>
              </a:solidFill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CREATE TABLE </a:t>
            </a:r>
            <a:r>
              <a:rPr lang="en-US" altLang="zh-CN" dirty="0">
                <a:latin typeface="Arial Narrow" panose="020B0606020202030204" pitchFamily="34" charset="0"/>
              </a:rPr>
              <a:t>dbo.student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 (</a:t>
            </a:r>
            <a:endParaRPr lang="en-US" altLang="zh-CN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	</a:t>
            </a:r>
            <a:r>
              <a:rPr lang="en-US" altLang="zh-CN" dirty="0">
                <a:latin typeface="Arial Narrow" panose="020B0606020202030204" pitchFamily="34" charset="0"/>
              </a:rPr>
              <a:t>sno 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char (</a:t>
            </a:r>
            <a:r>
              <a:rPr lang="en-US" altLang="zh-CN" dirty="0">
                <a:latin typeface="Arial Narrow" panose="020B0606020202030204" pitchFamily="34" charset="0"/>
              </a:rPr>
              <a:t>8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)  NOT NULL</a:t>
            </a:r>
            <a:endParaRPr lang="en-US" altLang="zh-CN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	  CONSTRAINT </a:t>
            </a:r>
            <a:r>
              <a:rPr lang="en-US" altLang="zh-CN" dirty="0">
                <a:latin typeface="Arial Narrow" panose="020B0606020202030204" pitchFamily="34" charset="0"/>
              </a:rPr>
              <a:t>PK_student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 PRIMARY KEY  CLUSTERED  ,</a:t>
            </a:r>
            <a:endParaRPr lang="en-US" altLang="zh-CN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	</a:t>
            </a:r>
            <a:r>
              <a:rPr lang="en-US" altLang="zh-CN" dirty="0">
                <a:latin typeface="Arial Narrow" panose="020B0606020202030204" pitchFamily="34" charset="0"/>
              </a:rPr>
              <a:t>sname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 char (</a:t>
            </a:r>
            <a:r>
              <a:rPr lang="en-US" altLang="zh-CN" dirty="0">
                <a:latin typeface="Arial Narrow" panose="020B0606020202030204" pitchFamily="34" charset="0"/>
              </a:rPr>
              <a:t>6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)  NULL ,</a:t>
            </a:r>
            <a:endParaRPr lang="en-US" altLang="zh-CN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	</a:t>
            </a:r>
            <a:r>
              <a:rPr lang="en-US" altLang="zh-CN" dirty="0">
                <a:latin typeface="Arial Narrow" panose="020B0606020202030204" pitchFamily="34" charset="0"/>
              </a:rPr>
              <a:t>ssex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 char (</a:t>
            </a:r>
            <a:r>
              <a:rPr lang="en-US" altLang="zh-CN" dirty="0">
                <a:latin typeface="Arial Narrow" panose="020B0606020202030204" pitchFamily="34" charset="0"/>
              </a:rPr>
              <a:t>1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)  NULL</a:t>
            </a:r>
            <a:endParaRPr lang="en-US" altLang="zh-CN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          REFERENCES </a:t>
            </a:r>
            <a:r>
              <a:rPr lang="en-US" altLang="zh-CN" dirty="0">
                <a:latin typeface="Arial Narrow" panose="020B0606020202030204" pitchFamily="34" charset="0"/>
              </a:rPr>
              <a:t>dbo.sex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(id) ,</a:t>
            </a:r>
            <a:endParaRPr lang="en-US" altLang="zh-CN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	</a:t>
            </a:r>
            <a:r>
              <a:rPr lang="en-US" altLang="zh-CN" dirty="0">
                <a:latin typeface="Arial Narrow" panose="020B0606020202030204" pitchFamily="34" charset="0"/>
              </a:rPr>
              <a:t>sbirth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 datetime NOT NULL ,</a:t>
            </a:r>
            <a:endParaRPr lang="en-US" altLang="zh-CN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	</a:t>
            </a:r>
            <a:r>
              <a:rPr lang="en-US" altLang="zh-CN" dirty="0">
                <a:latin typeface="Arial Narrow" panose="020B0606020202030204" pitchFamily="34" charset="0"/>
              </a:rPr>
              <a:t>sdept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 char (</a:t>
            </a:r>
            <a:r>
              <a:rPr lang="en-US" altLang="zh-CN" dirty="0">
                <a:latin typeface="Arial Narrow" panose="020B0606020202030204" pitchFamily="34" charset="0"/>
              </a:rPr>
              <a:t>4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)  NULL </a:t>
            </a:r>
            <a:endParaRPr lang="en-US" altLang="zh-CN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          REFERENCES </a:t>
            </a:r>
            <a:r>
              <a:rPr lang="en-US" altLang="zh-CN" dirty="0">
                <a:latin typeface="Arial Narrow" panose="020B0606020202030204" pitchFamily="34" charset="0"/>
              </a:rPr>
              <a:t>dbo.dept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(deptid)</a:t>
            </a:r>
            <a:endParaRPr lang="en-US" altLang="zh-CN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) </a:t>
            </a:r>
            <a:endParaRPr lang="en-US" altLang="zh-CN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GO</a:t>
            </a:r>
            <a:endParaRPr lang="en-US" altLang="zh-CN" dirty="0">
              <a:solidFill>
                <a:schemeClr val="accent2"/>
              </a:solidFill>
              <a:latin typeface="Arial Narrow" panose="020B0606020202030204" pitchFamily="34" charset="0"/>
            </a:endParaRPr>
          </a:p>
        </p:txBody>
      </p:sp>
      <p:sp>
        <p:nvSpPr>
          <p:cNvPr id="61444" name="Rectangle 4"/>
          <p:cNvSpPr>
            <a:spLocks noGrp="1"/>
          </p:cNvSpPr>
          <p:nvPr>
            <p:ph type="title" idx="4294967295"/>
          </p:nvPr>
        </p:nvSpPr>
        <p:spPr>
          <a:xfrm>
            <a:off x="755650" y="57150"/>
            <a:ext cx="7772400" cy="77946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3.3.1 </a:t>
            </a:r>
            <a:r>
              <a:rPr lang="zh-CN" altLang="en-US" u="sng" dirty="0"/>
              <a:t>概述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页脚占位符 2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2467" name="Rectangle 2"/>
          <p:cNvSpPr/>
          <p:nvPr/>
        </p:nvSpPr>
        <p:spPr>
          <a:xfrm>
            <a:off x="228600" y="990600"/>
            <a:ext cx="8458200" cy="5694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altLang="zh-CN" sz="2800" dirty="0">
                <a:solidFill>
                  <a:schemeClr val="tx1"/>
                </a:solidFill>
              </a:rPr>
              <a:t>  </a:t>
            </a:r>
            <a:r>
              <a:rPr lang="zh-CN" altLang="en-US" sz="2800" dirty="0">
                <a:solidFill>
                  <a:schemeClr val="tx1"/>
                </a:solidFill>
              </a:rPr>
              <a:t>建表</a:t>
            </a:r>
            <a:r>
              <a:rPr lang="en-US" altLang="zh-CN" sz="2800" dirty="0">
                <a:solidFill>
                  <a:schemeClr val="tx1"/>
                </a:solidFill>
              </a:rPr>
              <a:t>SC</a:t>
            </a:r>
            <a:br>
              <a:rPr lang="en-US" altLang="zh-CN" sz="2800" dirty="0">
                <a:solidFill>
                  <a:schemeClr val="tx1"/>
                </a:solidFill>
              </a:rPr>
            </a:br>
            <a:endParaRPr lang="en-US" altLang="zh-CN" sz="2800" dirty="0">
              <a:solidFill>
                <a:schemeClr val="tx1"/>
              </a:solidFill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CREATE TABLE </a:t>
            </a:r>
            <a:r>
              <a:rPr lang="en-US" altLang="zh-CN" dirty="0">
                <a:latin typeface="Arial Narrow" panose="020B0606020202030204" pitchFamily="34" charset="0"/>
              </a:rPr>
              <a:t>dbo.sc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 (</a:t>
            </a:r>
            <a:endParaRPr lang="en-US" altLang="zh-CN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	</a:t>
            </a:r>
            <a:r>
              <a:rPr lang="en-US" altLang="zh-CN" dirty="0">
                <a:latin typeface="Arial Narrow" panose="020B0606020202030204" pitchFamily="34" charset="0"/>
              </a:rPr>
              <a:t>sno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 char (</a:t>
            </a:r>
            <a:r>
              <a:rPr lang="en-US" altLang="zh-CN" dirty="0">
                <a:latin typeface="Arial Narrow" panose="020B0606020202030204" pitchFamily="34" charset="0"/>
              </a:rPr>
              <a:t>8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)  NOT NULL</a:t>
            </a:r>
            <a:endParaRPr lang="en-US" altLang="zh-CN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          REFERENCES </a:t>
            </a:r>
            <a:r>
              <a:rPr lang="en-US" altLang="zh-CN" dirty="0">
                <a:latin typeface="Arial Narrow" panose="020B0606020202030204" pitchFamily="34" charset="0"/>
              </a:rPr>
              <a:t>dbo.student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 (sno)  ,</a:t>
            </a:r>
            <a:endParaRPr lang="en-US" altLang="zh-CN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	</a:t>
            </a:r>
            <a:r>
              <a:rPr lang="en-US" altLang="zh-CN" dirty="0">
                <a:latin typeface="Arial Narrow" panose="020B0606020202030204" pitchFamily="34" charset="0"/>
              </a:rPr>
              <a:t>cno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 char (</a:t>
            </a:r>
            <a:r>
              <a:rPr lang="en-US" altLang="zh-CN" dirty="0">
                <a:latin typeface="Arial Narrow" panose="020B0606020202030204" pitchFamily="34" charset="0"/>
              </a:rPr>
              <a:t>5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)  NOT NULL </a:t>
            </a:r>
            <a:endParaRPr lang="en-US" altLang="zh-CN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	 REFERENCES </a:t>
            </a:r>
            <a:r>
              <a:rPr lang="en-US" altLang="zh-CN" dirty="0">
                <a:latin typeface="Arial Narrow" panose="020B0606020202030204" pitchFamily="34" charset="0"/>
              </a:rPr>
              <a:t>dbo.course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 (cno) ,</a:t>
            </a:r>
            <a:endParaRPr lang="en-US" altLang="zh-CN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	</a:t>
            </a:r>
            <a:r>
              <a:rPr lang="en-US" altLang="zh-CN" dirty="0">
                <a:latin typeface="Arial Narrow" panose="020B0606020202030204" pitchFamily="34" charset="0"/>
              </a:rPr>
              <a:t>grade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 smallint NULL </a:t>
            </a:r>
            <a:endParaRPr lang="en-US" altLang="zh-CN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     CONSTRAINT [</a:t>
            </a:r>
            <a:r>
              <a:rPr lang="en-US" altLang="zh-CN" dirty="0">
                <a:latin typeface="Arial Narrow" panose="020B0606020202030204" pitchFamily="34" charset="0"/>
              </a:rPr>
              <a:t>PK_sc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] PRIMARY KEY  CLUSTERED   (sno,cno)</a:t>
            </a:r>
            <a:endParaRPr lang="en-US" altLang="zh-CN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endParaRPr lang="en-US" altLang="zh-CN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) </a:t>
            </a:r>
            <a:endParaRPr lang="en-US" altLang="zh-CN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GO</a:t>
            </a:r>
            <a:endParaRPr lang="en-US" altLang="zh-CN" dirty="0">
              <a:solidFill>
                <a:schemeClr val="accent2"/>
              </a:solidFill>
              <a:latin typeface="Arial Narrow" panose="020B0606020202030204" pitchFamily="34" charset="0"/>
            </a:endParaRPr>
          </a:p>
        </p:txBody>
      </p:sp>
      <p:sp>
        <p:nvSpPr>
          <p:cNvPr id="62468" name="Rectangle 4"/>
          <p:cNvSpPr>
            <a:spLocks noGrp="1"/>
          </p:cNvSpPr>
          <p:nvPr>
            <p:ph type="title" idx="4294967295"/>
          </p:nvPr>
        </p:nvSpPr>
        <p:spPr>
          <a:xfrm>
            <a:off x="755650" y="0"/>
            <a:ext cx="7772400" cy="83661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3.3.1 </a:t>
            </a:r>
            <a:r>
              <a:rPr lang="zh-CN" altLang="en-US" u="sng" dirty="0"/>
              <a:t>概述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349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3.3.1   </a:t>
            </a:r>
            <a:r>
              <a:rPr lang="zh-CN" altLang="en-US" u="sng" dirty="0"/>
              <a:t>概述</a:t>
            </a:r>
            <a:endParaRPr lang="zh-CN" altLang="en-US" u="sng" dirty="0"/>
          </a:p>
        </p:txBody>
      </p:sp>
      <p:sp>
        <p:nvSpPr>
          <p:cNvPr id="63492" name="Rectangle 3"/>
          <p:cNvSpPr>
            <a:spLocks noGrp="1"/>
          </p:cNvSpPr>
          <p:nvPr>
            <p:ph idx="1"/>
          </p:nvPr>
        </p:nvSpPr>
        <p:spPr>
          <a:xfrm>
            <a:off x="215900" y="977900"/>
            <a:ext cx="8686800" cy="5499100"/>
          </a:xfrm>
          <a:ln/>
        </p:spPr>
        <p:txBody>
          <a:bodyPr vert="horz" wrap="square" lIns="91440" tIns="45720" rIns="91440" bIns="45720" anchor="t" anchorCtr="0"/>
          <a:p>
            <a:pPr lvl="1" algn="just" eaLnBrk="1" hangingPunct="1"/>
            <a:r>
              <a:rPr lang="zh-CN" altLang="en-US" sz="3600" dirty="0">
                <a:solidFill>
                  <a:srgbClr val="FF0000"/>
                </a:solidFill>
              </a:rPr>
              <a:t>思考：前述五表的建立顺序可以随意变更吗？</a:t>
            </a:r>
            <a:r>
              <a:rPr lang="en-US" altLang="zh-CN" sz="3600" dirty="0">
                <a:solidFill>
                  <a:srgbClr val="FF0000"/>
                </a:solidFill>
              </a:rPr>
              <a:t>(</a:t>
            </a:r>
            <a:r>
              <a:rPr lang="zh-CN" altLang="en-US" sz="3600" dirty="0">
                <a:solidFill>
                  <a:srgbClr val="FF0000"/>
                </a:solidFill>
              </a:rPr>
              <a:t>提问</a:t>
            </a:r>
            <a:r>
              <a:rPr lang="en-US" altLang="zh-CN" sz="3600" dirty="0">
                <a:solidFill>
                  <a:srgbClr val="FF0000"/>
                </a:solidFill>
              </a:rPr>
              <a:t>)</a:t>
            </a:r>
            <a:endParaRPr lang="en-US" altLang="zh-CN" sz="3600" dirty="0"/>
          </a:p>
        </p:txBody>
      </p:sp>
      <p:sp>
        <p:nvSpPr>
          <p:cNvPr id="621572" name="Text Box 4"/>
          <p:cNvSpPr txBox="1"/>
          <p:nvPr/>
        </p:nvSpPr>
        <p:spPr>
          <a:xfrm>
            <a:off x="685800" y="2590800"/>
            <a:ext cx="7572375" cy="372586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>
                <a:schemeClr val="accent2"/>
              </a:buClr>
            </a:pPr>
            <a:r>
              <a:rPr lang="en-US" altLang="zh-CN" sz="2800" dirty="0">
                <a:solidFill>
                  <a:schemeClr val="tx1"/>
                </a:solidFill>
              </a:rPr>
              <a:t> </a:t>
            </a:r>
            <a:r>
              <a:rPr lang="zh-CN" altLang="en-US" sz="2800" dirty="0">
                <a:solidFill>
                  <a:schemeClr val="tx1"/>
                </a:solidFill>
              </a:rPr>
              <a:t>在建表</a:t>
            </a:r>
            <a:r>
              <a:rPr lang="en-US" altLang="zh-CN" sz="2800" dirty="0">
                <a:solidFill>
                  <a:schemeClr val="tx1"/>
                </a:solidFill>
              </a:rPr>
              <a:t>SC</a:t>
            </a:r>
            <a:r>
              <a:rPr lang="zh-CN" altLang="en-US" sz="2800" dirty="0">
                <a:solidFill>
                  <a:schemeClr val="tx1"/>
                </a:solidFill>
              </a:rPr>
              <a:t>之前，应先建</a:t>
            </a:r>
            <a:r>
              <a:rPr lang="en-US" altLang="zh-CN" sz="2800" dirty="0">
                <a:solidFill>
                  <a:schemeClr val="tx1"/>
                </a:solidFill>
              </a:rPr>
              <a:t>Student</a:t>
            </a:r>
            <a:r>
              <a:rPr lang="zh-CN" altLang="en-US" sz="2800" dirty="0">
                <a:solidFill>
                  <a:schemeClr val="tx1"/>
                </a:solidFill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</a:rPr>
              <a:t>Course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Clr>
                <a:schemeClr val="accent2"/>
              </a:buClr>
            </a:pPr>
            <a:r>
              <a:rPr lang="en-US" altLang="zh-CN" sz="2800" dirty="0">
                <a:solidFill>
                  <a:schemeClr val="tx1"/>
                </a:solidFill>
              </a:rPr>
              <a:t> </a:t>
            </a:r>
            <a:r>
              <a:rPr lang="zh-CN" altLang="en-US" sz="2800" dirty="0">
                <a:solidFill>
                  <a:schemeClr val="tx1"/>
                </a:solidFill>
              </a:rPr>
              <a:t>在建表</a:t>
            </a:r>
            <a:r>
              <a:rPr lang="en-US" altLang="zh-CN" sz="2800" dirty="0">
                <a:solidFill>
                  <a:schemeClr val="tx1"/>
                </a:solidFill>
              </a:rPr>
              <a:t>Student</a:t>
            </a:r>
            <a:r>
              <a:rPr lang="zh-CN" altLang="en-US" sz="2800" dirty="0">
                <a:solidFill>
                  <a:schemeClr val="tx1"/>
                </a:solidFill>
              </a:rPr>
              <a:t>之前，应先建</a:t>
            </a:r>
            <a:r>
              <a:rPr lang="en-US" altLang="zh-CN" sz="2800" dirty="0">
                <a:solidFill>
                  <a:schemeClr val="tx1"/>
                </a:solidFill>
              </a:rPr>
              <a:t>Sex</a:t>
            </a:r>
            <a:r>
              <a:rPr lang="zh-CN" altLang="en-US" sz="2800" dirty="0">
                <a:solidFill>
                  <a:schemeClr val="tx1"/>
                </a:solidFill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</a:rPr>
              <a:t>Dept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Clr>
                <a:schemeClr val="accent2"/>
              </a:buClr>
            </a:pPr>
            <a:r>
              <a:rPr lang="en-US" altLang="zh-CN" sz="2800" dirty="0">
                <a:solidFill>
                  <a:schemeClr val="tx1"/>
                </a:solidFill>
              </a:rPr>
              <a:t> </a:t>
            </a:r>
            <a:r>
              <a:rPr lang="zh-CN" altLang="en-US" sz="2800" dirty="0">
                <a:solidFill>
                  <a:schemeClr val="tx1"/>
                </a:solidFill>
              </a:rPr>
              <a:t>所以</a:t>
            </a:r>
            <a:r>
              <a:rPr lang="en-US" altLang="zh-CN" sz="2800" dirty="0">
                <a:solidFill>
                  <a:schemeClr val="tx1"/>
                </a:solidFill>
              </a:rPr>
              <a:t>: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457200" lvl="1" indent="0" eaLnBrk="1" hangingPunct="1">
              <a:spcBef>
                <a:spcPct val="50000"/>
              </a:spcBef>
            </a:pPr>
            <a:r>
              <a:rPr lang="zh-CN" altLang="en-US" dirty="0"/>
              <a:t>先建</a:t>
            </a:r>
            <a:r>
              <a:rPr lang="en-US" altLang="zh-CN" dirty="0"/>
              <a:t>Course, Dept, Sex. </a:t>
            </a:r>
            <a:r>
              <a:rPr lang="zh-CN" altLang="en-US" dirty="0"/>
              <a:t>三表顺序可随意</a:t>
            </a:r>
            <a:endParaRPr lang="zh-CN" altLang="en-US" dirty="0"/>
          </a:p>
          <a:p>
            <a:pPr marL="457200" lvl="1" indent="0" eaLnBrk="1" hangingPunct="1">
              <a:spcBef>
                <a:spcPct val="50000"/>
              </a:spcBef>
            </a:pPr>
            <a:r>
              <a:rPr lang="zh-CN" altLang="en-US" dirty="0"/>
              <a:t>次建</a:t>
            </a:r>
            <a:r>
              <a:rPr lang="en-US" altLang="zh-CN" dirty="0"/>
              <a:t>student</a:t>
            </a:r>
            <a:endParaRPr lang="en-US" altLang="zh-CN" dirty="0"/>
          </a:p>
          <a:p>
            <a:pPr marL="457200" lvl="1" indent="0" eaLnBrk="1" hangingPunct="1">
              <a:spcBef>
                <a:spcPct val="50000"/>
              </a:spcBef>
            </a:pPr>
            <a:r>
              <a:rPr lang="zh-CN" altLang="en-US" dirty="0"/>
              <a:t>后建</a:t>
            </a:r>
            <a:r>
              <a:rPr lang="en-US" altLang="zh-CN" dirty="0"/>
              <a:t>SC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1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1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157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4515" name="Rectangle 2"/>
          <p:cNvSpPr>
            <a:spLocks noGrp="1"/>
          </p:cNvSpPr>
          <p:nvPr>
            <p:ph idx="1"/>
          </p:nvPr>
        </p:nvSpPr>
        <p:spPr>
          <a:xfrm>
            <a:off x="1066800" y="1447800"/>
            <a:ext cx="7467600" cy="3987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3.3.1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概述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3.3.2  </a:t>
            </a:r>
            <a:r>
              <a:rPr lang="zh-CN" altLang="en-US" sz="4000" b="0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单表查询</a:t>
            </a:r>
            <a:endParaRPr lang="zh-CN" altLang="en-US" sz="4000" b="0" dirty="0">
              <a:solidFill>
                <a:srgbClr val="FF0000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3.3.3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连接查询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3.3.4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嵌套查询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3.3.5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集合查询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3.3.6  </a:t>
            </a:r>
            <a:r>
              <a:rPr lang="zh-CN" altLang="en-US" sz="4000" b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小结 </a:t>
            </a:r>
            <a:endParaRPr lang="zh-CN" altLang="en-US" sz="4000" b="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4516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3.3   </a:t>
            </a:r>
            <a:r>
              <a:rPr lang="zh-CN" altLang="en-US" dirty="0"/>
              <a:t>查询</a:t>
            </a:r>
            <a:endParaRPr lang="zh-CN" alt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553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3.3.2  </a:t>
            </a:r>
            <a:r>
              <a:rPr lang="zh-CN" altLang="en-US" u="sng" dirty="0"/>
              <a:t>单表查询</a:t>
            </a:r>
            <a:endParaRPr lang="zh-CN" altLang="en-US" u="sng" dirty="0"/>
          </a:p>
        </p:txBody>
      </p:sp>
      <p:sp>
        <p:nvSpPr>
          <p:cNvPr id="65540" name="Rectangle 3"/>
          <p:cNvSpPr>
            <a:spLocks noGrp="1"/>
          </p:cNvSpPr>
          <p:nvPr>
            <p:ph idx="1"/>
          </p:nvPr>
        </p:nvSpPr>
        <p:spPr>
          <a:xfrm>
            <a:off x="914400" y="990600"/>
            <a:ext cx="7696200" cy="51054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3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查询仅涉及一个表，是一种最简单的查询操作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选择表中的若干列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选择表中的若干元组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对查询结果排序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使用集函数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对查询结果分组</a:t>
            </a:r>
            <a:r>
              <a:rPr lang="zh-CN" altLang="en-US" sz="2800" dirty="0"/>
              <a:t> 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656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3.3.2  </a:t>
            </a:r>
            <a:r>
              <a:rPr lang="zh-CN" altLang="en-US" u="sng" dirty="0"/>
              <a:t>单表查询</a:t>
            </a:r>
            <a:endParaRPr lang="zh-CN" altLang="en-US" u="sng" dirty="0"/>
          </a:p>
        </p:txBody>
      </p:sp>
      <p:sp>
        <p:nvSpPr>
          <p:cNvPr id="66564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54864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10]  </a:t>
            </a:r>
            <a:r>
              <a:rPr lang="zh-CN" altLang="en-US" sz="2800" dirty="0">
                <a:solidFill>
                  <a:schemeClr val="tx1"/>
                </a:solidFill>
              </a:rPr>
              <a:t>查询全体学生的学号与姓名。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i="1" dirty="0"/>
              <a:t> 		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/>
              <a:t>      Sno,Sname</a:t>
            </a:r>
            <a:endParaRPr lang="en-US" altLang="zh-CN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		</a:t>
            </a:r>
            <a:r>
              <a:rPr lang="en-US" altLang="zh-CN" i="1" dirty="0">
                <a:solidFill>
                  <a:schemeClr val="accent2"/>
                </a:solidFill>
              </a:rPr>
              <a:t> from</a:t>
            </a:r>
            <a:r>
              <a:rPr lang="en-US" altLang="zh-CN" i="1" dirty="0"/>
              <a:t>       Student </a:t>
            </a:r>
            <a:endParaRPr lang="en-US" altLang="zh-CN" i="1" dirty="0"/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11] </a:t>
            </a:r>
            <a:r>
              <a:rPr lang="zh-CN" altLang="en-US" sz="2800" dirty="0">
                <a:solidFill>
                  <a:schemeClr val="tx1"/>
                </a:solidFill>
              </a:rPr>
              <a:t>查询全体学生的姓名、学号与所在系。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i="1" dirty="0">
                <a:solidFill>
                  <a:schemeClr val="accent2"/>
                </a:solidFill>
              </a:rPr>
              <a:t>           </a:t>
            </a:r>
            <a:r>
              <a:rPr lang="en-US" altLang="zh-CN" sz="2800" i="1" dirty="0">
                <a:solidFill>
                  <a:schemeClr val="accent2"/>
                </a:solidFill>
              </a:rPr>
              <a:t>select </a:t>
            </a:r>
            <a:r>
              <a:rPr lang="en-US" altLang="zh-CN" sz="2800" i="1" dirty="0">
                <a:solidFill>
                  <a:schemeClr val="tx1"/>
                </a:solidFill>
              </a:rPr>
              <a:t>     Sname,Sno,Sdept</a:t>
            </a:r>
            <a:endParaRPr lang="en-US" altLang="zh-CN" sz="2800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		 </a:t>
            </a:r>
            <a:r>
              <a:rPr lang="en-US" altLang="zh-CN" i="1" dirty="0">
                <a:solidFill>
                  <a:schemeClr val="accent2"/>
                </a:solidFill>
              </a:rPr>
              <a:t>from </a:t>
            </a:r>
            <a:r>
              <a:rPr lang="en-US" altLang="zh-CN" i="1" dirty="0"/>
              <a:t>      Student </a:t>
            </a:r>
            <a:endParaRPr lang="en-US" altLang="zh-CN" i="1" dirty="0"/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12] </a:t>
            </a:r>
            <a:r>
              <a:rPr lang="zh-CN" altLang="en-US" sz="2800" dirty="0">
                <a:solidFill>
                  <a:schemeClr val="tx1"/>
                </a:solidFill>
              </a:rPr>
              <a:t>查询全体学生的详细记录。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i="1" dirty="0">
                <a:solidFill>
                  <a:schemeClr val="accent2"/>
                </a:solidFill>
              </a:rPr>
              <a:t>           </a:t>
            </a:r>
            <a:r>
              <a:rPr lang="en-US" altLang="zh-CN" sz="2800" i="1" dirty="0">
                <a:solidFill>
                  <a:schemeClr val="accent2"/>
                </a:solidFill>
              </a:rPr>
              <a:t>select </a:t>
            </a:r>
            <a:r>
              <a:rPr lang="en-US" altLang="zh-CN" sz="2800" i="1" dirty="0">
                <a:solidFill>
                  <a:schemeClr val="tx1"/>
                </a:solidFill>
              </a:rPr>
              <a:t>     *</a:t>
            </a:r>
            <a:endParaRPr lang="en-US" altLang="zh-CN" sz="2800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		 </a:t>
            </a:r>
            <a:r>
              <a:rPr lang="en-US" altLang="zh-CN" i="1" dirty="0">
                <a:solidFill>
                  <a:schemeClr val="accent2"/>
                </a:solidFill>
              </a:rPr>
              <a:t>from </a:t>
            </a:r>
            <a:r>
              <a:rPr lang="en-US" altLang="zh-CN" i="1" dirty="0"/>
              <a:t>      Student</a:t>
            </a:r>
            <a:endParaRPr lang="en-US" altLang="zh-CN" i="1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758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3.3.2  </a:t>
            </a:r>
            <a:r>
              <a:rPr lang="zh-CN" altLang="en-US" u="sng" dirty="0"/>
              <a:t>单表查询</a:t>
            </a:r>
            <a:endParaRPr lang="zh-CN" altLang="en-US" u="sng" dirty="0"/>
          </a:p>
        </p:txBody>
      </p:sp>
      <p:sp>
        <p:nvSpPr>
          <p:cNvPr id="67588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5486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Select</a:t>
            </a:r>
            <a:r>
              <a:rPr lang="zh-CN" altLang="en-US" sz="2800" dirty="0">
                <a:solidFill>
                  <a:schemeClr val="tx1"/>
                </a:solidFill>
              </a:rPr>
              <a:t>中的目标列表达式不仅可以是表中的列，也可以是表达式</a:t>
            </a:r>
            <a:r>
              <a:rPr lang="en-US" altLang="zh-CN" sz="2800" dirty="0">
                <a:solidFill>
                  <a:schemeClr val="tx1"/>
                </a:solidFill>
              </a:rPr>
              <a:t>(</a:t>
            </a:r>
            <a:r>
              <a:rPr lang="zh-CN" altLang="en-US" sz="2800" dirty="0">
                <a:solidFill>
                  <a:schemeClr val="tx1"/>
                </a:solidFill>
              </a:rPr>
              <a:t>常量，函数及复合表达式</a:t>
            </a:r>
            <a:r>
              <a:rPr lang="en-US" altLang="zh-CN" sz="2800" dirty="0">
                <a:solidFill>
                  <a:schemeClr val="tx1"/>
                </a:solidFill>
              </a:rPr>
              <a:t>)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13] </a:t>
            </a:r>
            <a:r>
              <a:rPr lang="zh-CN" altLang="en-US" sz="2800" dirty="0">
                <a:solidFill>
                  <a:schemeClr val="tx1"/>
                </a:solidFill>
              </a:rPr>
              <a:t>查询全体学生的学号、姓名与年龄，并按年龄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   从大到小排序</a:t>
            </a:r>
            <a:r>
              <a:rPr lang="en-US" altLang="zh-CN" sz="2800" dirty="0">
                <a:solidFill>
                  <a:schemeClr val="tx1"/>
                </a:solidFill>
              </a:rPr>
              <a:t>,</a:t>
            </a:r>
            <a:r>
              <a:rPr lang="zh-CN" altLang="en-US" sz="2800" dirty="0">
                <a:solidFill>
                  <a:schemeClr val="tx1"/>
                </a:solidFill>
              </a:rPr>
              <a:t>并在结果表前加一列‘</a:t>
            </a:r>
            <a:r>
              <a:rPr lang="en-US" altLang="zh-CN" sz="2800" dirty="0">
                <a:solidFill>
                  <a:schemeClr val="tx1"/>
                </a:solidFill>
              </a:rPr>
              <a:t>2005’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select </a:t>
            </a:r>
            <a:r>
              <a:rPr lang="en-US" altLang="zh-CN" i="1" dirty="0"/>
              <a:t>     </a:t>
            </a:r>
            <a:r>
              <a:rPr lang="zh-CN" altLang="en-US" i="1" dirty="0"/>
              <a:t>年度</a:t>
            </a:r>
            <a:r>
              <a:rPr lang="en-US" altLang="zh-CN" i="1" dirty="0"/>
              <a:t>=</a:t>
            </a:r>
            <a:r>
              <a:rPr lang="en-US" altLang="zh-CN" i="1" dirty="0">
                <a:solidFill>
                  <a:srgbClr val="FF0000"/>
                </a:solidFill>
              </a:rPr>
              <a:t>‘2005’</a:t>
            </a:r>
            <a:r>
              <a:rPr lang="en-US" altLang="zh-CN" i="1" dirty="0"/>
              <a:t>, Sno as </a:t>
            </a:r>
            <a:r>
              <a:rPr lang="en-US" altLang="zh-CN" i="1" dirty="0">
                <a:solidFill>
                  <a:srgbClr val="FF0000"/>
                </a:solidFill>
              </a:rPr>
              <a:t>‘</a:t>
            </a:r>
            <a:r>
              <a:rPr lang="zh-CN" altLang="en-US" i="1" dirty="0">
                <a:solidFill>
                  <a:srgbClr val="FF0000"/>
                </a:solidFill>
              </a:rPr>
              <a:t>学号’</a:t>
            </a:r>
            <a:r>
              <a:rPr lang="en-US" altLang="zh-CN" i="1" dirty="0"/>
              <a:t>, Sname,</a:t>
            </a:r>
            <a:r>
              <a:rPr lang="en-US" altLang="zh-CN" i="1" dirty="0">
                <a:solidFill>
                  <a:srgbClr val="FF3300"/>
                </a:solidFill>
              </a:rPr>
              <a:t> </a:t>
            </a:r>
            <a:endParaRPr lang="en-US" altLang="zh-CN" i="1" dirty="0">
              <a:solidFill>
                <a:srgbClr val="FF3300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>
                <a:solidFill>
                  <a:srgbClr val="FF3300"/>
                </a:solidFill>
              </a:rPr>
              <a:t>               datediff</a:t>
            </a:r>
            <a:r>
              <a:rPr lang="en-US" altLang="zh-CN" i="1" dirty="0"/>
              <a:t>(</a:t>
            </a:r>
            <a:r>
              <a:rPr lang="en-US" altLang="zh-CN" i="1" dirty="0">
                <a:solidFill>
                  <a:srgbClr val="FF3300"/>
                </a:solidFill>
              </a:rPr>
              <a:t>year</a:t>
            </a:r>
            <a:r>
              <a:rPr lang="en-US" altLang="zh-CN" i="1" dirty="0"/>
              <a:t>,sbirth,</a:t>
            </a:r>
            <a:r>
              <a:rPr lang="en-US" altLang="zh-CN" i="1" dirty="0">
                <a:solidFill>
                  <a:srgbClr val="FF3300"/>
                </a:solidFill>
              </a:rPr>
              <a:t>getdate</a:t>
            </a:r>
            <a:r>
              <a:rPr lang="en-US" altLang="zh-CN" i="1" dirty="0"/>
              <a:t>()) </a:t>
            </a:r>
            <a:r>
              <a:rPr lang="en-US" altLang="zh-CN" i="1" dirty="0">
                <a:solidFill>
                  <a:schemeClr val="accent2"/>
                </a:solidFill>
              </a:rPr>
              <a:t>as</a:t>
            </a:r>
            <a:r>
              <a:rPr lang="en-US" altLang="zh-CN" i="1" dirty="0"/>
              <a:t> age</a:t>
            </a:r>
            <a:endParaRPr lang="en-US" altLang="zh-CN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from </a:t>
            </a:r>
            <a:r>
              <a:rPr lang="en-US" altLang="zh-CN" i="1" dirty="0"/>
              <a:t>      Student </a:t>
            </a:r>
            <a:endParaRPr lang="en-US" altLang="zh-CN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Order by</a:t>
            </a:r>
            <a:r>
              <a:rPr lang="en-US" altLang="zh-CN" i="1" dirty="0"/>
              <a:t>  age  </a:t>
            </a:r>
            <a:r>
              <a:rPr lang="en-US" altLang="zh-CN" i="1" dirty="0">
                <a:solidFill>
                  <a:schemeClr val="accent2"/>
                </a:solidFill>
              </a:rPr>
              <a:t>DESC</a:t>
            </a:r>
            <a:endParaRPr lang="en-US" altLang="zh-CN" i="1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i="1" dirty="0"/>
              <a:t>注：</a:t>
            </a:r>
            <a:r>
              <a:rPr lang="en-US" altLang="zh-CN" i="1" dirty="0">
                <a:solidFill>
                  <a:srgbClr val="FF0000"/>
                </a:solidFill>
              </a:rPr>
              <a:t>datediff()</a:t>
            </a:r>
            <a:r>
              <a:rPr lang="zh-CN" altLang="en-US" i="1" dirty="0"/>
              <a:t>是</a:t>
            </a:r>
            <a:r>
              <a:rPr lang="en-US" altLang="zh-CN" i="1" dirty="0"/>
              <a:t>Microsoft SQL Server</a:t>
            </a:r>
            <a:r>
              <a:rPr lang="zh-CN" altLang="en-US" i="1" dirty="0"/>
              <a:t>的函数</a:t>
            </a:r>
            <a:endParaRPr lang="zh-CN" altLang="en-US" i="1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861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3.3.2  </a:t>
            </a:r>
            <a:r>
              <a:rPr lang="zh-CN" altLang="en-US" u="sng" dirty="0"/>
              <a:t>单表查询</a:t>
            </a:r>
            <a:endParaRPr lang="zh-CN" altLang="en-US" u="sng" dirty="0"/>
          </a:p>
        </p:txBody>
      </p:sp>
      <p:sp>
        <p:nvSpPr>
          <p:cNvPr id="68612" name="Rectangle 3"/>
          <p:cNvSpPr>
            <a:spLocks noGrp="1"/>
          </p:cNvSpPr>
          <p:nvPr>
            <p:ph idx="1"/>
          </p:nvPr>
        </p:nvSpPr>
        <p:spPr>
          <a:xfrm>
            <a:off x="1905000" y="1295400"/>
            <a:ext cx="4724400" cy="762000"/>
          </a:xfrm>
          <a:ln/>
        </p:spPr>
        <p:txBody>
          <a:bodyPr vert="horz" wrap="square" lIns="91440" tIns="45720" rIns="91440" bIns="45720" anchor="t" anchorCtr="0"/>
          <a:p>
            <a:pPr algn="ctr"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13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的某一查询结果</a:t>
            </a:r>
            <a:endParaRPr lang="zh-CN" altLang="en-US" i="1" dirty="0">
              <a:solidFill>
                <a:schemeClr val="accent2"/>
              </a:solidFill>
              <a:ea typeface="楷体_GB2312" pitchFamily="49" charset="-122"/>
            </a:endParaRPr>
          </a:p>
        </p:txBody>
      </p:sp>
      <p:graphicFrame>
        <p:nvGraphicFramePr>
          <p:cNvPr id="626692" name="Group 4"/>
          <p:cNvGraphicFramePr>
            <a:graphicFrameLocks noGrp="1"/>
          </p:cNvGraphicFramePr>
          <p:nvPr/>
        </p:nvGraphicFramePr>
        <p:xfrm>
          <a:off x="1295400" y="2209800"/>
          <a:ext cx="6172200" cy="2622550"/>
        </p:xfrm>
        <a:graphic>
          <a:graphicData uri="http://schemas.openxmlformats.org/drawingml/2006/table">
            <a:tbl>
              <a:tblPr/>
              <a:tblGrid>
                <a:gridCol w="1828800"/>
                <a:gridCol w="1447800"/>
                <a:gridCol w="1447800"/>
                <a:gridCol w="1447800"/>
              </a:tblGrid>
              <a:tr h="51828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年度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1" marB="4573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学号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Sname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age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40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2005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8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2005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05002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8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2005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05003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王敏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8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2005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05004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张立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963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3.3.2  </a:t>
            </a:r>
            <a:r>
              <a:rPr lang="zh-CN" altLang="en-US" u="sng" dirty="0"/>
              <a:t>单表查询</a:t>
            </a:r>
            <a:endParaRPr lang="zh-CN" altLang="en-US" u="sng" dirty="0"/>
          </a:p>
        </p:txBody>
      </p:sp>
      <p:sp>
        <p:nvSpPr>
          <p:cNvPr id="69636" name="Rectangle 3"/>
          <p:cNvSpPr>
            <a:spLocks noGrp="1"/>
          </p:cNvSpPr>
          <p:nvPr>
            <p:ph idx="1"/>
          </p:nvPr>
        </p:nvSpPr>
        <p:spPr>
          <a:xfrm>
            <a:off x="152400" y="787400"/>
            <a:ext cx="8686800" cy="5486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当查询出的结果有重复行的时候</a:t>
            </a:r>
            <a:r>
              <a:rPr lang="en-US" altLang="zh-CN" sz="2800" dirty="0">
                <a:solidFill>
                  <a:schemeClr val="tx1"/>
                </a:solidFill>
              </a:rPr>
              <a:t>,</a:t>
            </a:r>
            <a:r>
              <a:rPr lang="zh-CN" altLang="en-US" sz="2800" dirty="0">
                <a:solidFill>
                  <a:schemeClr val="tx1"/>
                </a:solidFill>
              </a:rPr>
              <a:t>可用关键字</a:t>
            </a:r>
            <a:r>
              <a:rPr lang="en-US" altLang="zh-CN" sz="2800" dirty="0"/>
              <a:t>distinct</a:t>
            </a:r>
            <a:r>
              <a:rPr lang="zh-CN" altLang="en-US" sz="2800" dirty="0">
                <a:solidFill>
                  <a:schemeClr val="tx1"/>
                </a:solidFill>
              </a:rPr>
              <a:t>或</a:t>
            </a:r>
            <a:r>
              <a:rPr lang="en-US" altLang="zh-CN" sz="2800" dirty="0"/>
              <a:t>unique</a:t>
            </a:r>
            <a:r>
              <a:rPr lang="zh-CN" altLang="en-US" sz="2800" dirty="0">
                <a:solidFill>
                  <a:schemeClr val="tx1"/>
                </a:solidFill>
              </a:rPr>
              <a:t>指明消除重复</a:t>
            </a:r>
            <a:r>
              <a:rPr lang="en-US" altLang="zh-CN" sz="2800" dirty="0">
                <a:solidFill>
                  <a:schemeClr val="tx1"/>
                </a:solidFill>
              </a:rPr>
              <a:t>,</a:t>
            </a:r>
            <a:r>
              <a:rPr lang="zh-CN" altLang="en-US" sz="2800" dirty="0">
                <a:solidFill>
                  <a:schemeClr val="tx1"/>
                </a:solidFill>
              </a:rPr>
              <a:t>关键字</a:t>
            </a:r>
            <a:r>
              <a:rPr lang="en-US" altLang="zh-CN" sz="2800" dirty="0">
                <a:solidFill>
                  <a:srgbClr val="FF0000"/>
                </a:solidFill>
              </a:rPr>
              <a:t>all</a:t>
            </a:r>
            <a:r>
              <a:rPr lang="zh-CN" altLang="en-US" sz="2800" dirty="0">
                <a:solidFill>
                  <a:schemeClr val="tx1"/>
                </a:solidFill>
              </a:rPr>
              <a:t>强调保留重复的行。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14] </a:t>
            </a:r>
            <a:r>
              <a:rPr lang="zh-CN" altLang="en-US" sz="2800" dirty="0">
                <a:solidFill>
                  <a:schemeClr val="tx1"/>
                </a:solidFill>
              </a:rPr>
              <a:t>查询选修了课程的学生学号。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i="1" dirty="0">
                <a:solidFill>
                  <a:schemeClr val="accent2"/>
                </a:solidFill>
              </a:rPr>
              <a:t>           </a:t>
            </a:r>
            <a:r>
              <a:rPr lang="en-US" altLang="zh-CN" i="1" dirty="0">
                <a:solidFill>
                  <a:schemeClr val="accent2"/>
                </a:solidFill>
              </a:rPr>
              <a:t>select     distinct</a:t>
            </a:r>
            <a:r>
              <a:rPr lang="en-US" altLang="zh-CN" i="1" dirty="0">
                <a:solidFill>
                  <a:schemeClr val="tx1"/>
                </a:solidFill>
              </a:rPr>
              <a:t>   SNO</a:t>
            </a:r>
            <a:endParaRPr lang="en-US" altLang="zh-CN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  </a:t>
            </a:r>
            <a:r>
              <a:rPr lang="en-US" altLang="zh-CN" sz="3200" i="1" dirty="0">
                <a:solidFill>
                  <a:schemeClr val="accent2"/>
                </a:solidFill>
              </a:rPr>
              <a:t>     from </a:t>
            </a:r>
            <a:r>
              <a:rPr lang="en-US" altLang="zh-CN" sz="3200" i="1" dirty="0"/>
              <a:t>     SC</a:t>
            </a:r>
            <a:endParaRPr lang="en-US" altLang="zh-CN" sz="3200" i="1" dirty="0"/>
          </a:p>
        </p:txBody>
      </p:sp>
      <p:graphicFrame>
        <p:nvGraphicFramePr>
          <p:cNvPr id="627716" name="Group 4"/>
          <p:cNvGraphicFramePr>
            <a:graphicFrameLocks noGrp="1"/>
          </p:cNvGraphicFramePr>
          <p:nvPr/>
        </p:nvGraphicFramePr>
        <p:xfrm>
          <a:off x="2971800" y="3962400"/>
          <a:ext cx="3429000" cy="2425700"/>
        </p:xfrm>
        <a:graphic>
          <a:graphicData uri="http://schemas.openxmlformats.org/drawingml/2006/table">
            <a:tbl>
              <a:tblPr/>
              <a:tblGrid>
                <a:gridCol w="1327150"/>
                <a:gridCol w="1050925"/>
                <a:gridCol w="1050925"/>
              </a:tblGrid>
              <a:tr h="180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Sno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Cno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grade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2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30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88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89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80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27744" name="Group 32"/>
          <p:cNvGraphicFramePr>
            <a:graphicFrameLocks noGrp="1"/>
          </p:cNvGraphicFramePr>
          <p:nvPr/>
        </p:nvGraphicFramePr>
        <p:xfrm>
          <a:off x="7086600" y="3924300"/>
          <a:ext cx="1327150" cy="2425700"/>
        </p:xfrm>
        <a:graphic>
          <a:graphicData uri="http://schemas.openxmlformats.org/drawingml/2006/table">
            <a:tbl>
              <a:tblPr/>
              <a:tblGrid>
                <a:gridCol w="1327150"/>
              </a:tblGrid>
              <a:tr h="180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Sno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2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30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89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27760" name="Group 48"/>
          <p:cNvGraphicFramePr>
            <a:graphicFrameLocks noGrp="1"/>
          </p:cNvGraphicFramePr>
          <p:nvPr/>
        </p:nvGraphicFramePr>
        <p:xfrm>
          <a:off x="1219200" y="4495800"/>
          <a:ext cx="1327150" cy="1495425"/>
        </p:xfrm>
        <a:graphic>
          <a:graphicData uri="http://schemas.openxmlformats.org/drawingml/2006/table">
            <a:tbl>
              <a:tblPr/>
              <a:tblGrid>
                <a:gridCol w="1327150"/>
              </a:tblGrid>
              <a:tr h="180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Sno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5492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889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05002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</a:tbl>
          </a:graphicData>
        </a:graphic>
      </p:graphicFrame>
      <p:sp>
        <p:nvSpPr>
          <p:cNvPr id="69681" name="Text Box 60"/>
          <p:cNvSpPr txBox="1"/>
          <p:nvPr/>
        </p:nvSpPr>
        <p:spPr>
          <a:xfrm>
            <a:off x="6477000" y="3352800"/>
            <a:ext cx="2363788" cy="396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不带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</a:rPr>
              <a:t>distinct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的结果</a:t>
            </a:r>
            <a:endParaRPr lang="zh-CN" altLang="en-US" sz="20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065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3.3.2  </a:t>
            </a:r>
            <a:r>
              <a:rPr lang="zh-CN" altLang="en-US" u="sng" dirty="0"/>
              <a:t>单表查询</a:t>
            </a:r>
            <a:endParaRPr lang="zh-CN" altLang="en-US" u="sng" dirty="0"/>
          </a:p>
        </p:txBody>
      </p:sp>
      <p:sp>
        <p:nvSpPr>
          <p:cNvPr id="70660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838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Where</a:t>
            </a:r>
            <a:r>
              <a:rPr lang="zh-CN" altLang="en-US" sz="2800" dirty="0">
                <a:solidFill>
                  <a:schemeClr val="tx1"/>
                </a:solidFill>
              </a:rPr>
              <a:t>子句常用的查询条件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628740" name="Group 4"/>
          <p:cNvGraphicFramePr>
            <a:graphicFrameLocks noGrp="1"/>
          </p:cNvGraphicFramePr>
          <p:nvPr/>
        </p:nvGraphicFramePr>
        <p:xfrm>
          <a:off x="381000" y="1828800"/>
          <a:ext cx="8305800" cy="4429125"/>
        </p:xfrm>
        <a:graphic>
          <a:graphicData uri="http://schemas.openxmlformats.org/drawingml/2006/table">
            <a:tbl>
              <a:tblPr/>
              <a:tblGrid>
                <a:gridCol w="1828800"/>
                <a:gridCol w="6477000"/>
              </a:tblGrid>
              <a:tr h="58097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查询条件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谓词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4487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比较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=,&gt;,&lt;,&gt;=,&lt;=,!=,!&gt;,!&lt;</a:t>
                      </a:r>
                      <a:b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NOT + </a:t>
                      </a: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上述比较运算符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097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确定范围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Between and</a:t>
                      </a: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 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Not Between and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097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确定集合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In, Not In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097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字符匹配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Like, Not Like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38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空值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IS NULL, IS NOT NULL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097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多重条件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AND,OR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168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3.3.2  </a:t>
            </a:r>
            <a:r>
              <a:rPr lang="zh-CN" altLang="en-US" u="sng" dirty="0"/>
              <a:t>单表查询</a:t>
            </a:r>
            <a:endParaRPr lang="zh-CN" altLang="en-US" u="sng" dirty="0"/>
          </a:p>
        </p:txBody>
      </p:sp>
      <p:sp>
        <p:nvSpPr>
          <p:cNvPr id="71684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54864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15]  </a:t>
            </a:r>
            <a:r>
              <a:rPr lang="zh-CN" altLang="en-US" sz="2800" dirty="0">
                <a:solidFill>
                  <a:schemeClr val="tx1"/>
                </a:solidFill>
              </a:rPr>
              <a:t>列出计算机系</a:t>
            </a:r>
            <a:r>
              <a:rPr lang="en-US" altLang="zh-CN" sz="2800" dirty="0">
                <a:solidFill>
                  <a:schemeClr val="tx1"/>
                </a:solidFill>
              </a:rPr>
              <a:t>(CS)</a:t>
            </a:r>
            <a:r>
              <a:rPr lang="zh-CN" altLang="en-US" sz="2800" dirty="0">
                <a:solidFill>
                  <a:schemeClr val="tx1"/>
                </a:solidFill>
              </a:rPr>
              <a:t>全体学生的名单。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i="1" dirty="0"/>
              <a:t> 		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/>
              <a:t>      Sname</a:t>
            </a:r>
            <a:endParaRPr lang="en-US" altLang="zh-CN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		 </a:t>
            </a:r>
            <a:r>
              <a:rPr lang="en-US" altLang="zh-CN" i="1" dirty="0">
                <a:solidFill>
                  <a:schemeClr val="accent2"/>
                </a:solidFill>
              </a:rPr>
              <a:t>from</a:t>
            </a:r>
            <a:r>
              <a:rPr lang="en-US" altLang="zh-CN" i="1" dirty="0"/>
              <a:t>       Student </a:t>
            </a:r>
            <a:endParaRPr lang="en-US" altLang="zh-CN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		</a:t>
            </a:r>
            <a:r>
              <a:rPr lang="en-US" altLang="zh-CN" i="1" dirty="0">
                <a:solidFill>
                  <a:schemeClr val="accent2"/>
                </a:solidFill>
              </a:rPr>
              <a:t>where</a:t>
            </a:r>
            <a:r>
              <a:rPr lang="en-US" altLang="zh-CN" i="1" dirty="0"/>
              <a:t>     Sdept = </a:t>
            </a:r>
            <a:r>
              <a:rPr lang="en-US" altLang="zh-CN" i="1" dirty="0">
                <a:solidFill>
                  <a:srgbClr val="FF0000"/>
                </a:solidFill>
              </a:rPr>
              <a:t>‘CS’</a:t>
            </a:r>
            <a:endParaRPr lang="en-US" altLang="zh-CN" i="1" dirty="0">
              <a:solidFill>
                <a:srgbClr val="FF0000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16] </a:t>
            </a:r>
            <a:r>
              <a:rPr lang="zh-CN" altLang="en-US" sz="2800" dirty="0">
                <a:solidFill>
                  <a:schemeClr val="tx1"/>
                </a:solidFill>
              </a:rPr>
              <a:t>查询所有年龄在</a:t>
            </a:r>
            <a:r>
              <a:rPr lang="en-US" altLang="zh-CN" sz="2800" dirty="0">
                <a:solidFill>
                  <a:schemeClr val="tx1"/>
                </a:solidFill>
              </a:rPr>
              <a:t>20</a:t>
            </a:r>
            <a:r>
              <a:rPr lang="zh-CN" altLang="en-US" sz="2800" dirty="0">
                <a:solidFill>
                  <a:schemeClr val="tx1"/>
                </a:solidFill>
              </a:rPr>
              <a:t>岁以下的学生姓名及年龄。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i="1" dirty="0">
                <a:solidFill>
                  <a:schemeClr val="accent2"/>
                </a:solidFill>
              </a:rPr>
              <a:t>           </a:t>
            </a:r>
            <a:r>
              <a:rPr lang="en-US" altLang="zh-CN" sz="2800" i="1" dirty="0">
                <a:solidFill>
                  <a:schemeClr val="accent2"/>
                </a:solidFill>
              </a:rPr>
              <a:t>select </a:t>
            </a:r>
            <a:r>
              <a:rPr lang="en-US" altLang="zh-CN" sz="2800" i="1" dirty="0">
                <a:solidFill>
                  <a:schemeClr val="tx1"/>
                </a:solidFill>
              </a:rPr>
              <a:t> sname, </a:t>
            </a:r>
            <a:endParaRPr lang="en-US" altLang="zh-CN" sz="2800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800" i="1" dirty="0">
                <a:solidFill>
                  <a:schemeClr val="tx1"/>
                </a:solidFill>
              </a:rPr>
              <a:t>                      </a:t>
            </a:r>
            <a:r>
              <a:rPr lang="en-US" altLang="zh-CN" i="1" dirty="0"/>
              <a:t>datediff</a:t>
            </a:r>
            <a:r>
              <a:rPr lang="en-US" altLang="zh-CN" i="1" dirty="0">
                <a:solidFill>
                  <a:schemeClr val="tx1"/>
                </a:solidFill>
              </a:rPr>
              <a:t>(</a:t>
            </a:r>
            <a:r>
              <a:rPr lang="en-US" altLang="zh-CN" i="1" dirty="0">
                <a:solidFill>
                  <a:srgbClr val="FF0000"/>
                </a:solidFill>
              </a:rPr>
              <a:t>year</a:t>
            </a:r>
            <a:r>
              <a:rPr lang="en-US" altLang="zh-CN" i="1" dirty="0">
                <a:solidFill>
                  <a:schemeClr val="tx1"/>
                </a:solidFill>
              </a:rPr>
              <a:t>,sbirth,</a:t>
            </a:r>
            <a:r>
              <a:rPr lang="en-US" altLang="zh-CN" i="1" dirty="0"/>
              <a:t>getdate</a:t>
            </a:r>
            <a:r>
              <a:rPr lang="en-US" altLang="zh-CN" i="1" dirty="0">
                <a:solidFill>
                  <a:schemeClr val="tx1"/>
                </a:solidFill>
              </a:rPr>
              <a:t>())</a:t>
            </a:r>
            <a:r>
              <a:rPr lang="en-US" altLang="zh-CN" i="1" dirty="0"/>
              <a:t> </a:t>
            </a:r>
            <a:r>
              <a:rPr lang="en-US" altLang="zh-CN" i="1" dirty="0">
                <a:solidFill>
                  <a:schemeClr val="accent2"/>
                </a:solidFill>
              </a:rPr>
              <a:t>as</a:t>
            </a:r>
            <a:r>
              <a:rPr lang="en-US" altLang="zh-CN" i="1" dirty="0"/>
              <a:t> </a:t>
            </a:r>
            <a:r>
              <a:rPr lang="en-US" altLang="zh-CN" i="1" dirty="0">
                <a:solidFill>
                  <a:schemeClr val="tx1"/>
                </a:solidFill>
              </a:rPr>
              <a:t>age</a:t>
            </a:r>
            <a:endParaRPr lang="en-US" altLang="zh-CN" sz="2800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		 </a:t>
            </a:r>
            <a:r>
              <a:rPr lang="en-US" altLang="zh-CN" i="1" dirty="0">
                <a:solidFill>
                  <a:schemeClr val="accent2"/>
                </a:solidFill>
              </a:rPr>
              <a:t>from </a:t>
            </a:r>
            <a:r>
              <a:rPr lang="en-US" altLang="zh-CN" i="1" dirty="0"/>
              <a:t>   Student</a:t>
            </a:r>
            <a:endParaRPr lang="en-US" altLang="zh-CN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    </a:t>
            </a:r>
            <a:r>
              <a:rPr lang="en-US" altLang="zh-CN" i="1" dirty="0">
                <a:solidFill>
                  <a:schemeClr val="accent2"/>
                </a:solidFill>
              </a:rPr>
              <a:t> where</a:t>
            </a:r>
            <a:r>
              <a:rPr lang="en-US" altLang="zh-CN" i="1" dirty="0"/>
              <a:t> </a:t>
            </a:r>
            <a:r>
              <a:rPr lang="en-US" altLang="zh-CN" i="1" dirty="0">
                <a:solidFill>
                  <a:srgbClr val="FF3300"/>
                </a:solidFill>
              </a:rPr>
              <a:t>datediff</a:t>
            </a:r>
            <a:r>
              <a:rPr lang="en-US" altLang="zh-CN" i="1" dirty="0"/>
              <a:t>(</a:t>
            </a:r>
            <a:r>
              <a:rPr lang="en-US" altLang="zh-CN" i="1" dirty="0">
                <a:solidFill>
                  <a:srgbClr val="FF0000"/>
                </a:solidFill>
              </a:rPr>
              <a:t>year</a:t>
            </a:r>
            <a:r>
              <a:rPr lang="en-US" altLang="zh-CN" i="1" dirty="0"/>
              <a:t>,sbirth,</a:t>
            </a:r>
            <a:r>
              <a:rPr lang="en-US" altLang="zh-CN" i="1" dirty="0">
                <a:solidFill>
                  <a:srgbClr val="FF3300"/>
                </a:solidFill>
              </a:rPr>
              <a:t>getdate</a:t>
            </a:r>
            <a:r>
              <a:rPr lang="en-US" altLang="zh-CN" i="1" dirty="0"/>
              <a:t>()) &lt; 20</a:t>
            </a:r>
            <a:endParaRPr lang="en-US" altLang="zh-CN" i="1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270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3.3.2  </a:t>
            </a:r>
            <a:r>
              <a:rPr lang="zh-CN" altLang="en-US" u="sng" dirty="0"/>
              <a:t>单表查询</a:t>
            </a:r>
            <a:endParaRPr lang="zh-CN" altLang="en-US" u="sng" dirty="0"/>
          </a:p>
        </p:txBody>
      </p:sp>
      <p:sp>
        <p:nvSpPr>
          <p:cNvPr id="72708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54864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17]  </a:t>
            </a:r>
            <a:r>
              <a:rPr lang="zh-CN" altLang="en-US" sz="2800" dirty="0">
                <a:solidFill>
                  <a:schemeClr val="tx1"/>
                </a:solidFill>
              </a:rPr>
              <a:t>列出计算机系</a:t>
            </a:r>
            <a:r>
              <a:rPr lang="en-US" altLang="zh-CN" sz="2800" dirty="0">
                <a:solidFill>
                  <a:schemeClr val="tx1"/>
                </a:solidFill>
              </a:rPr>
              <a:t>(CS)20</a:t>
            </a:r>
            <a:r>
              <a:rPr lang="zh-CN" altLang="en-US" sz="2800" dirty="0">
                <a:solidFill>
                  <a:schemeClr val="tx1"/>
                </a:solidFill>
              </a:rPr>
              <a:t>岁以下的全体女生</a:t>
            </a:r>
            <a:r>
              <a:rPr lang="en-US" altLang="zh-CN" sz="2800" dirty="0">
                <a:solidFill>
                  <a:schemeClr val="tx1"/>
                </a:solidFill>
              </a:rPr>
              <a:t>(</a:t>
            </a:r>
            <a:r>
              <a:rPr lang="zh-CN" altLang="en-US" sz="2800" dirty="0">
                <a:solidFill>
                  <a:schemeClr val="tx1"/>
                </a:solidFill>
              </a:rPr>
              <a:t>已知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     性别码为</a:t>
            </a:r>
            <a:r>
              <a:rPr lang="en-US" altLang="zh-CN" sz="2800" dirty="0">
                <a:solidFill>
                  <a:schemeClr val="tx1"/>
                </a:solidFill>
              </a:rPr>
              <a:t>1)</a:t>
            </a:r>
            <a:r>
              <a:rPr lang="zh-CN" altLang="en-US" sz="2800" dirty="0">
                <a:solidFill>
                  <a:schemeClr val="tx1"/>
                </a:solidFill>
              </a:rPr>
              <a:t>的名单。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i="1" dirty="0"/>
              <a:t> 		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/>
              <a:t>      Sname     </a:t>
            </a:r>
            <a:endParaRPr lang="en-US" altLang="zh-CN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     </a:t>
            </a:r>
            <a:r>
              <a:rPr lang="en-US" altLang="zh-CN" i="1" dirty="0">
                <a:solidFill>
                  <a:schemeClr val="accent2"/>
                </a:solidFill>
              </a:rPr>
              <a:t>from</a:t>
            </a:r>
            <a:r>
              <a:rPr lang="en-US" altLang="zh-CN" i="1" dirty="0"/>
              <a:t>    Student </a:t>
            </a:r>
            <a:endParaRPr lang="en-US" altLang="zh-CN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		</a:t>
            </a:r>
            <a:r>
              <a:rPr lang="en-US" altLang="zh-CN" i="1" dirty="0">
                <a:solidFill>
                  <a:schemeClr val="accent2"/>
                </a:solidFill>
              </a:rPr>
              <a:t>where</a:t>
            </a:r>
            <a:r>
              <a:rPr lang="en-US" altLang="zh-CN" i="1" dirty="0"/>
              <a:t>     Sdept = </a:t>
            </a:r>
            <a:r>
              <a:rPr lang="en-US" altLang="zh-CN" i="1" dirty="0">
                <a:solidFill>
                  <a:srgbClr val="FF0000"/>
                </a:solidFill>
              </a:rPr>
              <a:t>‘CS’</a:t>
            </a:r>
            <a:endParaRPr lang="en-US" altLang="zh-CN" i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                   </a:t>
            </a:r>
            <a:r>
              <a:rPr lang="en-US" altLang="zh-CN" i="1" dirty="0">
                <a:solidFill>
                  <a:schemeClr val="accent2"/>
                </a:solidFill>
              </a:rPr>
              <a:t>and</a:t>
            </a:r>
            <a:r>
              <a:rPr lang="en-US" altLang="zh-CN" i="1" dirty="0"/>
              <a:t> </a:t>
            </a:r>
            <a:r>
              <a:rPr lang="en-US" altLang="zh-CN" i="1" dirty="0">
                <a:solidFill>
                  <a:srgbClr val="FF3300"/>
                </a:solidFill>
              </a:rPr>
              <a:t>DateDiff</a:t>
            </a:r>
            <a:r>
              <a:rPr lang="en-US" altLang="zh-CN" i="1" dirty="0"/>
              <a:t>(</a:t>
            </a:r>
            <a:r>
              <a:rPr lang="en-US" altLang="zh-CN" i="1" dirty="0">
                <a:solidFill>
                  <a:srgbClr val="FF3300"/>
                </a:solidFill>
              </a:rPr>
              <a:t>year</a:t>
            </a:r>
            <a:r>
              <a:rPr lang="en-US" altLang="zh-CN" i="1" dirty="0"/>
              <a:t>,sbirth,</a:t>
            </a:r>
            <a:r>
              <a:rPr lang="en-US" altLang="zh-CN" i="1" dirty="0">
                <a:solidFill>
                  <a:srgbClr val="FF3300"/>
                </a:solidFill>
              </a:rPr>
              <a:t>getdate</a:t>
            </a:r>
            <a:r>
              <a:rPr lang="en-US" altLang="zh-CN" i="1" dirty="0"/>
              <a:t>()) &lt; 20</a:t>
            </a:r>
            <a:endParaRPr lang="en-US" altLang="zh-CN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                   </a:t>
            </a:r>
            <a:r>
              <a:rPr lang="en-US" altLang="zh-CN" i="1" dirty="0">
                <a:solidFill>
                  <a:schemeClr val="accent2"/>
                </a:solidFill>
              </a:rPr>
              <a:t>and</a:t>
            </a:r>
            <a:r>
              <a:rPr lang="en-US" altLang="zh-CN" i="1" dirty="0"/>
              <a:t> Ssex = </a:t>
            </a:r>
            <a:r>
              <a:rPr lang="en-US" altLang="zh-CN" i="1" dirty="0">
                <a:solidFill>
                  <a:srgbClr val="FF0000"/>
                </a:solidFill>
              </a:rPr>
              <a:t>‘1’</a:t>
            </a:r>
            <a:endParaRPr lang="en-US" altLang="zh-CN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373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3.3.2  </a:t>
            </a:r>
            <a:r>
              <a:rPr lang="zh-CN" altLang="en-US" u="sng" dirty="0"/>
              <a:t>单表查询</a:t>
            </a:r>
            <a:endParaRPr lang="zh-CN" altLang="en-US" u="sng" dirty="0"/>
          </a:p>
        </p:txBody>
      </p:sp>
      <p:sp>
        <p:nvSpPr>
          <p:cNvPr id="73732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43434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18]  </a:t>
            </a:r>
            <a:r>
              <a:rPr lang="zh-CN" altLang="en-US" sz="2800" b="0" dirty="0">
                <a:solidFill>
                  <a:schemeClr val="tx1"/>
                </a:solidFill>
              </a:rPr>
              <a:t>列出至少有一门课考试不及格的学生的学号。</a:t>
            </a:r>
            <a:endParaRPr lang="zh-CN" altLang="en-US" sz="2800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endParaRPr lang="zh-CN" altLang="en-US" sz="2800" b="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b="0" i="1" dirty="0"/>
              <a:t> 		</a:t>
            </a:r>
            <a:r>
              <a:rPr lang="en-US" altLang="zh-CN" sz="3200" i="1" dirty="0">
                <a:solidFill>
                  <a:schemeClr val="accent2"/>
                </a:solidFill>
              </a:rPr>
              <a:t>select</a:t>
            </a:r>
            <a:r>
              <a:rPr lang="en-US" altLang="zh-CN" sz="3200" i="1" dirty="0"/>
              <a:t>      </a:t>
            </a:r>
            <a:r>
              <a:rPr lang="en-US" altLang="zh-CN" sz="3200" i="1" dirty="0">
                <a:solidFill>
                  <a:schemeClr val="accent2"/>
                </a:solidFill>
              </a:rPr>
              <a:t>DISTINCT </a:t>
            </a:r>
            <a:r>
              <a:rPr lang="en-US" altLang="zh-CN" sz="3200" i="1" dirty="0"/>
              <a:t> Sno</a:t>
            </a:r>
            <a:endParaRPr lang="en-US" altLang="zh-CN" sz="3200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		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      SC </a:t>
            </a:r>
            <a:endParaRPr lang="en-US" altLang="zh-CN" sz="3200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		</a:t>
            </a:r>
            <a:r>
              <a:rPr lang="en-US" altLang="zh-CN" sz="3200" i="1" dirty="0">
                <a:solidFill>
                  <a:schemeClr val="accent2"/>
                </a:solidFill>
              </a:rPr>
              <a:t>where</a:t>
            </a:r>
            <a:r>
              <a:rPr lang="en-US" altLang="zh-CN" sz="3200" i="1" dirty="0"/>
              <a:t>     Grade &lt; 60</a:t>
            </a:r>
            <a:endParaRPr lang="en-US" altLang="zh-CN" sz="3200" i="1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475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3.3.2  </a:t>
            </a:r>
            <a:r>
              <a:rPr lang="zh-CN" altLang="en-US" u="sng" dirty="0"/>
              <a:t>单表查询</a:t>
            </a:r>
            <a:endParaRPr lang="zh-CN" altLang="en-US" u="sng" dirty="0"/>
          </a:p>
        </p:txBody>
      </p:sp>
      <p:sp>
        <p:nvSpPr>
          <p:cNvPr id="74756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43434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19] </a:t>
            </a:r>
            <a:r>
              <a:rPr lang="zh-CN" altLang="en-US" sz="2800" dirty="0">
                <a:solidFill>
                  <a:schemeClr val="tx1"/>
                </a:solidFill>
              </a:rPr>
              <a:t>列出年龄在</a:t>
            </a:r>
            <a:r>
              <a:rPr lang="en-US" altLang="zh-CN" sz="2800" dirty="0">
                <a:solidFill>
                  <a:schemeClr val="tx1"/>
                </a:solidFill>
              </a:rPr>
              <a:t>18~21</a:t>
            </a:r>
            <a:r>
              <a:rPr lang="zh-CN" altLang="en-US" sz="2800" dirty="0">
                <a:solidFill>
                  <a:schemeClr val="tx1"/>
                </a:solidFill>
              </a:rPr>
              <a:t>岁</a:t>
            </a:r>
            <a:r>
              <a:rPr lang="en-US" altLang="zh-CN" sz="2800" dirty="0">
                <a:solidFill>
                  <a:schemeClr val="tx1"/>
                </a:solidFill>
              </a:rPr>
              <a:t>(</a:t>
            </a:r>
            <a:r>
              <a:rPr lang="zh-CN" altLang="en-US" sz="2800" dirty="0">
                <a:solidFill>
                  <a:schemeClr val="tx1"/>
                </a:solidFill>
              </a:rPr>
              <a:t>含</a:t>
            </a:r>
            <a:r>
              <a:rPr lang="en-US" altLang="zh-CN" sz="2800" dirty="0">
                <a:solidFill>
                  <a:schemeClr val="tx1"/>
                </a:solidFill>
              </a:rPr>
              <a:t>18,21)</a:t>
            </a:r>
            <a:r>
              <a:rPr lang="zh-CN" altLang="en-US" sz="2800" dirty="0">
                <a:solidFill>
                  <a:schemeClr val="tx1"/>
                </a:solidFill>
              </a:rPr>
              <a:t>的学生的姓名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   和年龄</a:t>
            </a:r>
            <a:endParaRPr lang="zh-CN" altLang="en-US" sz="2800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select </a:t>
            </a:r>
            <a:r>
              <a:rPr lang="en-US" altLang="zh-CN" i="1" dirty="0"/>
              <a:t>     Sname,</a:t>
            </a:r>
            <a:r>
              <a:rPr lang="en-US" altLang="zh-CN" i="1" dirty="0">
                <a:solidFill>
                  <a:srgbClr val="FF3300"/>
                </a:solidFill>
              </a:rPr>
              <a:t> datediff</a:t>
            </a:r>
            <a:r>
              <a:rPr lang="en-US" altLang="zh-CN" i="1" dirty="0"/>
              <a:t>(</a:t>
            </a:r>
            <a:r>
              <a:rPr lang="en-US" altLang="zh-CN" i="1" dirty="0">
                <a:solidFill>
                  <a:srgbClr val="FF3300"/>
                </a:solidFill>
              </a:rPr>
              <a:t>year</a:t>
            </a:r>
            <a:r>
              <a:rPr lang="en-US" altLang="zh-CN" i="1" dirty="0"/>
              <a:t>,sbirth,</a:t>
            </a:r>
            <a:r>
              <a:rPr lang="en-US" altLang="zh-CN" i="1" dirty="0">
                <a:solidFill>
                  <a:srgbClr val="FF3300"/>
                </a:solidFill>
              </a:rPr>
              <a:t>getdate</a:t>
            </a:r>
            <a:r>
              <a:rPr lang="en-US" altLang="zh-CN" i="1" dirty="0"/>
              <a:t>()) as age</a:t>
            </a:r>
            <a:endParaRPr lang="en-US" altLang="zh-CN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from </a:t>
            </a:r>
            <a:r>
              <a:rPr lang="en-US" altLang="zh-CN" i="1" dirty="0"/>
              <a:t>      Student </a:t>
            </a:r>
            <a:endParaRPr lang="en-US" altLang="zh-CN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where </a:t>
            </a:r>
            <a:r>
              <a:rPr lang="en-US" altLang="zh-CN" i="1" dirty="0">
                <a:solidFill>
                  <a:srgbClr val="FF3300"/>
                </a:solidFill>
              </a:rPr>
              <a:t>datediff</a:t>
            </a:r>
            <a:r>
              <a:rPr lang="en-US" altLang="zh-CN" i="1" dirty="0"/>
              <a:t>(</a:t>
            </a:r>
            <a:r>
              <a:rPr lang="en-US" altLang="zh-CN" i="1" dirty="0">
                <a:solidFill>
                  <a:srgbClr val="FF3300"/>
                </a:solidFill>
              </a:rPr>
              <a:t>year</a:t>
            </a:r>
            <a:r>
              <a:rPr lang="en-US" altLang="zh-CN" i="1" dirty="0"/>
              <a:t>,sbirth,</a:t>
            </a:r>
            <a:r>
              <a:rPr lang="en-US" altLang="zh-CN" i="1" dirty="0">
                <a:solidFill>
                  <a:srgbClr val="FF3300"/>
                </a:solidFill>
              </a:rPr>
              <a:t>getdate</a:t>
            </a:r>
            <a:r>
              <a:rPr lang="en-US" altLang="zh-CN" i="1" dirty="0"/>
              <a:t>())</a:t>
            </a:r>
            <a:r>
              <a:rPr lang="en-US" altLang="zh-CN" i="1" dirty="0">
                <a:solidFill>
                  <a:schemeClr val="accent2"/>
                </a:solidFill>
              </a:rPr>
              <a:t> </a:t>
            </a:r>
            <a:endParaRPr lang="en-US" altLang="zh-CN" i="1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 between </a:t>
            </a:r>
            <a:r>
              <a:rPr lang="en-US" altLang="zh-CN" i="1" dirty="0"/>
              <a:t>18</a:t>
            </a:r>
            <a:r>
              <a:rPr lang="en-US" altLang="zh-CN" i="1" dirty="0">
                <a:solidFill>
                  <a:schemeClr val="accent2"/>
                </a:solidFill>
              </a:rPr>
              <a:t> and </a:t>
            </a:r>
            <a:r>
              <a:rPr lang="en-US" altLang="zh-CN" i="1" dirty="0"/>
              <a:t>21</a:t>
            </a:r>
            <a:endParaRPr lang="en-US" altLang="zh-CN" i="1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577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3.3.2  </a:t>
            </a:r>
            <a:r>
              <a:rPr lang="zh-CN" altLang="en-US" u="sng" dirty="0"/>
              <a:t>单表查询</a:t>
            </a:r>
            <a:endParaRPr lang="zh-CN" altLang="en-US" u="sng" dirty="0"/>
          </a:p>
        </p:txBody>
      </p:sp>
      <p:sp>
        <p:nvSpPr>
          <p:cNvPr id="75780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54864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20] </a:t>
            </a:r>
            <a:r>
              <a:rPr lang="zh-CN" altLang="en-US" sz="2800" dirty="0">
                <a:solidFill>
                  <a:schemeClr val="tx1"/>
                </a:solidFill>
              </a:rPr>
              <a:t>列出计算机系</a:t>
            </a:r>
            <a:r>
              <a:rPr lang="en-US" altLang="zh-CN" sz="2800" dirty="0">
                <a:solidFill>
                  <a:schemeClr val="tx1"/>
                </a:solidFill>
              </a:rPr>
              <a:t>(CS)</a:t>
            </a:r>
            <a:r>
              <a:rPr lang="zh-CN" altLang="en-US" sz="2800" dirty="0">
                <a:solidFill>
                  <a:schemeClr val="tx1"/>
                </a:solidFill>
              </a:rPr>
              <a:t>和信息系</a:t>
            </a:r>
            <a:r>
              <a:rPr lang="en-US" altLang="zh-CN" sz="2800" dirty="0">
                <a:solidFill>
                  <a:schemeClr val="tx1"/>
                </a:solidFill>
              </a:rPr>
              <a:t>(IS)</a:t>
            </a:r>
            <a:r>
              <a:rPr lang="zh-CN" altLang="en-US" sz="2800" dirty="0">
                <a:solidFill>
                  <a:schemeClr val="tx1"/>
                </a:solidFill>
              </a:rPr>
              <a:t>的学生学号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   和姓名</a:t>
            </a:r>
            <a:endParaRPr lang="zh-CN" altLang="en-US" sz="2800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i="1" dirty="0">
                <a:solidFill>
                  <a:schemeClr val="accent2"/>
                </a:solidFill>
              </a:rPr>
              <a:t>      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/>
              <a:t>      Sno, Sname</a:t>
            </a:r>
            <a:endParaRPr lang="en-US" altLang="zh-CN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		 </a:t>
            </a:r>
            <a:r>
              <a:rPr lang="en-US" altLang="zh-CN" i="1" dirty="0">
                <a:solidFill>
                  <a:schemeClr val="accent2"/>
                </a:solidFill>
              </a:rPr>
              <a:t>from</a:t>
            </a:r>
            <a:r>
              <a:rPr lang="en-US" altLang="zh-CN" i="1" dirty="0"/>
              <a:t>       Student </a:t>
            </a:r>
            <a:endParaRPr lang="en-US" altLang="zh-CN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		</a:t>
            </a:r>
            <a:r>
              <a:rPr lang="en-US" altLang="zh-CN" i="1" dirty="0">
                <a:solidFill>
                  <a:schemeClr val="accent2"/>
                </a:solidFill>
              </a:rPr>
              <a:t>where</a:t>
            </a:r>
            <a:r>
              <a:rPr lang="en-US" altLang="zh-CN" i="1" dirty="0"/>
              <a:t>     Sdept </a:t>
            </a:r>
            <a:r>
              <a:rPr lang="en-US" altLang="zh-CN" i="1" dirty="0">
                <a:solidFill>
                  <a:schemeClr val="accent2"/>
                </a:solidFill>
              </a:rPr>
              <a:t> IN </a:t>
            </a:r>
            <a:r>
              <a:rPr lang="en-US" altLang="zh-CN" i="1" dirty="0"/>
              <a:t>(</a:t>
            </a:r>
            <a:r>
              <a:rPr lang="en-US" altLang="zh-CN" i="1" dirty="0">
                <a:solidFill>
                  <a:srgbClr val="FF0000"/>
                </a:solidFill>
              </a:rPr>
              <a:t>‘CS’</a:t>
            </a:r>
            <a:r>
              <a:rPr lang="en-US" altLang="zh-CN" i="1" dirty="0"/>
              <a:t>, </a:t>
            </a:r>
            <a:r>
              <a:rPr lang="en-US" altLang="zh-CN" i="1" dirty="0">
                <a:solidFill>
                  <a:srgbClr val="FF0000"/>
                </a:solidFill>
              </a:rPr>
              <a:t>‘ IS’</a:t>
            </a:r>
            <a:r>
              <a:rPr lang="en-US" altLang="zh-CN" i="1" dirty="0"/>
              <a:t>)</a:t>
            </a:r>
            <a:endParaRPr lang="en-US" altLang="zh-CN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i="1" dirty="0"/>
              <a:t>或</a:t>
            </a:r>
            <a:br>
              <a:rPr lang="zh-CN" altLang="en-US" i="1" dirty="0"/>
            </a:br>
            <a:r>
              <a:rPr lang="zh-CN" altLang="en-US" i="1" dirty="0"/>
              <a:t>  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/>
              <a:t>      Sno, Sname</a:t>
            </a:r>
            <a:endParaRPr lang="en-US" altLang="zh-CN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		 </a:t>
            </a:r>
            <a:r>
              <a:rPr lang="en-US" altLang="zh-CN" i="1" dirty="0">
                <a:solidFill>
                  <a:schemeClr val="accent2"/>
                </a:solidFill>
              </a:rPr>
              <a:t>from</a:t>
            </a:r>
            <a:r>
              <a:rPr lang="en-US" altLang="zh-CN" i="1" dirty="0"/>
              <a:t>       Student </a:t>
            </a:r>
            <a:endParaRPr lang="en-US" altLang="zh-CN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		</a:t>
            </a:r>
            <a:r>
              <a:rPr lang="en-US" altLang="zh-CN" i="1" dirty="0">
                <a:solidFill>
                  <a:schemeClr val="accent2"/>
                </a:solidFill>
              </a:rPr>
              <a:t>where</a:t>
            </a:r>
            <a:r>
              <a:rPr lang="en-US" altLang="zh-CN" i="1" dirty="0"/>
              <a:t>     Sdept  = </a:t>
            </a:r>
            <a:r>
              <a:rPr lang="en-US" altLang="zh-CN" i="1" dirty="0">
                <a:solidFill>
                  <a:srgbClr val="FF0000"/>
                </a:solidFill>
              </a:rPr>
              <a:t>‘CS’</a:t>
            </a:r>
            <a:r>
              <a:rPr lang="en-US" altLang="zh-CN" i="1" dirty="0"/>
              <a:t>  </a:t>
            </a:r>
            <a:r>
              <a:rPr lang="en-US" altLang="zh-CN" i="1" dirty="0">
                <a:solidFill>
                  <a:schemeClr val="accent2"/>
                </a:solidFill>
              </a:rPr>
              <a:t>or</a:t>
            </a:r>
            <a:r>
              <a:rPr lang="en-US" altLang="zh-CN" i="1" dirty="0"/>
              <a:t>  Sdept = </a:t>
            </a:r>
            <a:r>
              <a:rPr lang="en-US" altLang="zh-CN" i="1" dirty="0">
                <a:solidFill>
                  <a:srgbClr val="FF0000"/>
                </a:solidFill>
              </a:rPr>
              <a:t>‘ IS’</a:t>
            </a:r>
            <a:endParaRPr lang="en-US" altLang="zh-CN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charRg st="133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charRg st="160" end="1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charRg st="183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680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3.3.2  </a:t>
            </a:r>
            <a:r>
              <a:rPr lang="zh-CN" altLang="en-US" u="sng" dirty="0"/>
              <a:t>单表查询</a:t>
            </a:r>
            <a:endParaRPr lang="zh-CN" altLang="en-US" u="sng" dirty="0"/>
          </a:p>
        </p:txBody>
      </p:sp>
      <p:sp>
        <p:nvSpPr>
          <p:cNvPr id="76804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57150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21] </a:t>
            </a:r>
            <a:r>
              <a:rPr lang="zh-CN" altLang="en-US" sz="2800" dirty="0">
                <a:solidFill>
                  <a:schemeClr val="tx1"/>
                </a:solidFill>
              </a:rPr>
              <a:t>列出学号为‘</a:t>
            </a:r>
            <a:r>
              <a:rPr lang="en-US" altLang="zh-CN" sz="2800" dirty="0">
                <a:solidFill>
                  <a:schemeClr val="tx1"/>
                </a:solidFill>
              </a:rPr>
              <a:t>05’</a:t>
            </a:r>
            <a:r>
              <a:rPr lang="zh-CN" altLang="en-US" sz="2800" dirty="0">
                <a:solidFill>
                  <a:schemeClr val="tx1"/>
                </a:solidFill>
              </a:rPr>
              <a:t>打头的学生学号和姓名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</a:t>
            </a:r>
            <a:r>
              <a:rPr lang="zh-CN" altLang="en-US" sz="2800" i="1" dirty="0">
                <a:solidFill>
                  <a:schemeClr val="tx1"/>
                </a:solidFill>
              </a:rPr>
              <a:t>	</a:t>
            </a:r>
            <a:r>
              <a:rPr lang="en-US" altLang="zh-CN" sz="2800" i="1" dirty="0">
                <a:solidFill>
                  <a:schemeClr val="accent2"/>
                </a:solidFill>
              </a:rPr>
              <a:t>select</a:t>
            </a:r>
            <a:r>
              <a:rPr lang="en-US" altLang="zh-CN" sz="2800" i="1" dirty="0">
                <a:solidFill>
                  <a:schemeClr val="tx1"/>
                </a:solidFill>
              </a:rPr>
              <a:t>      Sno, Sname</a:t>
            </a:r>
            <a:endParaRPr lang="en-US" altLang="zh-CN" sz="2800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		 </a:t>
            </a:r>
            <a:r>
              <a:rPr lang="en-US" altLang="zh-CN" i="1" dirty="0">
                <a:solidFill>
                  <a:schemeClr val="accent2"/>
                </a:solidFill>
              </a:rPr>
              <a:t>from</a:t>
            </a:r>
            <a:r>
              <a:rPr lang="en-US" altLang="zh-CN" i="1" dirty="0"/>
              <a:t>       Student </a:t>
            </a:r>
            <a:endParaRPr lang="en-US" altLang="zh-CN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		</a:t>
            </a:r>
            <a:r>
              <a:rPr lang="en-US" altLang="zh-CN" i="1" dirty="0">
                <a:solidFill>
                  <a:schemeClr val="accent2"/>
                </a:solidFill>
              </a:rPr>
              <a:t>where</a:t>
            </a:r>
            <a:r>
              <a:rPr lang="en-US" altLang="zh-CN" i="1" dirty="0"/>
              <a:t>     Sno LIKE  </a:t>
            </a:r>
            <a:r>
              <a:rPr lang="en-US" altLang="zh-CN" i="1" dirty="0">
                <a:solidFill>
                  <a:srgbClr val="FF0000"/>
                </a:solidFill>
              </a:rPr>
              <a:t>’05%’</a:t>
            </a:r>
            <a:endParaRPr lang="en-US" altLang="zh-CN" i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22]  </a:t>
            </a:r>
            <a:r>
              <a:rPr lang="zh-CN" altLang="en-US" sz="2800" dirty="0">
                <a:solidFill>
                  <a:schemeClr val="tx1"/>
                </a:solidFill>
              </a:rPr>
              <a:t>列出学号为‘</a:t>
            </a:r>
            <a:r>
              <a:rPr lang="en-US" altLang="zh-CN" sz="2800" dirty="0">
                <a:solidFill>
                  <a:schemeClr val="tx1"/>
                </a:solidFill>
              </a:rPr>
              <a:t>050302’</a:t>
            </a:r>
            <a:r>
              <a:rPr lang="zh-CN" altLang="en-US" sz="2800" dirty="0">
                <a:solidFill>
                  <a:schemeClr val="tx1"/>
                </a:solidFill>
              </a:rPr>
              <a:t>打头</a:t>
            </a:r>
            <a:r>
              <a:rPr lang="en-US" altLang="zh-CN" sz="2800" dirty="0">
                <a:solidFill>
                  <a:schemeClr val="tx1"/>
                </a:solidFill>
              </a:rPr>
              <a:t>,</a:t>
            </a:r>
            <a:r>
              <a:rPr lang="zh-CN" altLang="en-US" sz="2800" dirty="0">
                <a:solidFill>
                  <a:schemeClr val="tx1"/>
                </a:solidFill>
              </a:rPr>
              <a:t>最后两位不详的学生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    学号和姓名。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i="1" dirty="0">
                <a:solidFill>
                  <a:schemeClr val="accent2"/>
                </a:solidFill>
              </a:rPr>
              <a:t>            </a:t>
            </a:r>
            <a:r>
              <a:rPr lang="en-US" altLang="zh-CN" sz="2800" i="1" dirty="0">
                <a:solidFill>
                  <a:schemeClr val="accent2"/>
                </a:solidFill>
              </a:rPr>
              <a:t>select</a:t>
            </a:r>
            <a:r>
              <a:rPr lang="en-US" altLang="zh-CN" sz="2800" i="1" dirty="0">
                <a:solidFill>
                  <a:schemeClr val="tx1"/>
                </a:solidFill>
              </a:rPr>
              <a:t>      Sno, Sname</a:t>
            </a:r>
            <a:endParaRPr lang="en-US" altLang="zh-CN" sz="2800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		 </a:t>
            </a:r>
            <a:r>
              <a:rPr lang="en-US" altLang="zh-CN" i="1" dirty="0">
                <a:solidFill>
                  <a:schemeClr val="accent2"/>
                </a:solidFill>
              </a:rPr>
              <a:t>from</a:t>
            </a:r>
            <a:r>
              <a:rPr lang="en-US" altLang="zh-CN" i="1" dirty="0"/>
              <a:t>       Student </a:t>
            </a:r>
            <a:endParaRPr lang="en-US" altLang="zh-CN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		</a:t>
            </a:r>
            <a:r>
              <a:rPr lang="en-US" altLang="zh-CN" i="1" dirty="0">
                <a:solidFill>
                  <a:schemeClr val="accent2"/>
                </a:solidFill>
              </a:rPr>
              <a:t>where</a:t>
            </a:r>
            <a:r>
              <a:rPr lang="en-US" altLang="zh-CN" i="1" dirty="0"/>
              <a:t>     Sno LIKE  </a:t>
            </a:r>
            <a:r>
              <a:rPr lang="en-US" altLang="zh-CN" i="1" dirty="0">
                <a:solidFill>
                  <a:srgbClr val="FF0000"/>
                </a:solidFill>
              </a:rPr>
              <a:t>’050300__’</a:t>
            </a:r>
            <a:endParaRPr lang="en-US" altLang="zh-CN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782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3.3.2  </a:t>
            </a:r>
            <a:r>
              <a:rPr lang="zh-CN" altLang="en-US" u="sng" dirty="0"/>
              <a:t>单表查询</a:t>
            </a:r>
            <a:endParaRPr lang="zh-CN" altLang="en-US" u="sng" dirty="0"/>
          </a:p>
        </p:txBody>
      </p:sp>
      <p:sp>
        <p:nvSpPr>
          <p:cNvPr id="77828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57150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23] </a:t>
            </a:r>
            <a:r>
              <a:rPr lang="zh-CN" altLang="en-US" sz="2800" dirty="0">
                <a:solidFill>
                  <a:schemeClr val="tx1"/>
                </a:solidFill>
              </a:rPr>
              <a:t>列出所有“杨”姓同学的学号和姓名。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i="1" dirty="0">
                <a:solidFill>
                  <a:schemeClr val="tx1"/>
                </a:solidFill>
              </a:rPr>
              <a:t>    	</a:t>
            </a:r>
            <a:r>
              <a:rPr lang="en-US" altLang="zh-CN" sz="2800" i="1" dirty="0">
                <a:solidFill>
                  <a:schemeClr val="accent2"/>
                </a:solidFill>
              </a:rPr>
              <a:t>select</a:t>
            </a:r>
            <a:r>
              <a:rPr lang="en-US" altLang="zh-CN" sz="2800" i="1" dirty="0">
                <a:solidFill>
                  <a:schemeClr val="tx1"/>
                </a:solidFill>
              </a:rPr>
              <a:t>      Sno, Sname</a:t>
            </a:r>
            <a:endParaRPr lang="en-US" altLang="zh-CN" sz="2800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		 </a:t>
            </a:r>
            <a:r>
              <a:rPr lang="en-US" altLang="zh-CN" i="1" dirty="0">
                <a:solidFill>
                  <a:schemeClr val="accent2"/>
                </a:solidFill>
              </a:rPr>
              <a:t>from</a:t>
            </a:r>
            <a:r>
              <a:rPr lang="en-US" altLang="zh-CN" i="1" dirty="0"/>
              <a:t>       Student </a:t>
            </a:r>
            <a:endParaRPr lang="en-US" altLang="zh-CN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		</a:t>
            </a:r>
            <a:r>
              <a:rPr lang="en-US" altLang="zh-CN" i="1" dirty="0">
                <a:solidFill>
                  <a:schemeClr val="accent2"/>
                </a:solidFill>
              </a:rPr>
              <a:t>where</a:t>
            </a:r>
            <a:r>
              <a:rPr lang="en-US" altLang="zh-CN" i="1" dirty="0"/>
              <a:t>     Sname LIKE  </a:t>
            </a:r>
            <a:r>
              <a:rPr lang="en-US" altLang="zh-CN" i="1" dirty="0">
                <a:solidFill>
                  <a:srgbClr val="FF0000"/>
                </a:solidFill>
              </a:rPr>
              <a:t>’</a:t>
            </a:r>
            <a:r>
              <a:rPr lang="zh-CN" altLang="en-US" i="1" dirty="0">
                <a:solidFill>
                  <a:srgbClr val="FF0000"/>
                </a:solidFill>
              </a:rPr>
              <a:t>杨</a:t>
            </a:r>
            <a:r>
              <a:rPr lang="en-US" altLang="zh-CN" i="1" dirty="0">
                <a:solidFill>
                  <a:srgbClr val="FF0000"/>
                </a:solidFill>
              </a:rPr>
              <a:t>%’</a:t>
            </a:r>
            <a:endParaRPr lang="en-US" altLang="zh-CN" i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endParaRPr lang="en-US" altLang="zh-CN" i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24] </a:t>
            </a:r>
            <a:r>
              <a:rPr lang="zh-CN" altLang="en-US" sz="2800" dirty="0">
                <a:solidFill>
                  <a:schemeClr val="tx1"/>
                </a:solidFill>
              </a:rPr>
              <a:t>列出所有名为‘小萍’</a:t>
            </a:r>
            <a:r>
              <a:rPr lang="en-US" altLang="zh-CN" sz="2800" dirty="0">
                <a:solidFill>
                  <a:schemeClr val="tx1"/>
                </a:solidFill>
              </a:rPr>
              <a:t>(</a:t>
            </a:r>
            <a:r>
              <a:rPr lang="zh-CN" altLang="en-US" sz="2800" dirty="0">
                <a:solidFill>
                  <a:schemeClr val="tx1"/>
                </a:solidFill>
              </a:rPr>
              <a:t>姓不详</a:t>
            </a:r>
            <a:r>
              <a:rPr lang="en-US" altLang="zh-CN" sz="2800" dirty="0">
                <a:solidFill>
                  <a:schemeClr val="tx1"/>
                </a:solidFill>
              </a:rPr>
              <a:t>)</a:t>
            </a:r>
            <a:r>
              <a:rPr lang="zh-CN" altLang="en-US" sz="2800" dirty="0">
                <a:solidFill>
                  <a:schemeClr val="tx1"/>
                </a:solidFill>
              </a:rPr>
              <a:t>的学生学号和姓名。</a:t>
            </a:r>
            <a:br>
              <a:rPr lang="zh-CN" altLang="en-US" sz="2800" dirty="0">
                <a:solidFill>
                  <a:schemeClr val="tx1"/>
                </a:solidFill>
              </a:rPr>
            </a:br>
            <a:r>
              <a:rPr lang="zh-CN" altLang="en-US" sz="2800" i="1" dirty="0">
                <a:solidFill>
                  <a:schemeClr val="tx1"/>
                </a:solidFill>
              </a:rPr>
              <a:t>	</a:t>
            </a:r>
            <a:r>
              <a:rPr lang="en-US" altLang="zh-CN" sz="2800" i="1" dirty="0">
                <a:solidFill>
                  <a:schemeClr val="accent2"/>
                </a:solidFill>
              </a:rPr>
              <a:t>select</a:t>
            </a:r>
            <a:r>
              <a:rPr lang="en-US" altLang="zh-CN" sz="2800" i="1" dirty="0">
                <a:solidFill>
                  <a:schemeClr val="tx1"/>
                </a:solidFill>
              </a:rPr>
              <a:t>      Sno, Sname</a:t>
            </a:r>
            <a:endParaRPr lang="en-US" altLang="zh-CN" sz="2800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		 </a:t>
            </a:r>
            <a:r>
              <a:rPr lang="en-US" altLang="zh-CN" i="1" dirty="0">
                <a:solidFill>
                  <a:schemeClr val="accent2"/>
                </a:solidFill>
              </a:rPr>
              <a:t>from</a:t>
            </a:r>
            <a:r>
              <a:rPr lang="en-US" altLang="zh-CN" i="1" dirty="0"/>
              <a:t>       Student </a:t>
            </a:r>
            <a:endParaRPr lang="en-US" altLang="zh-CN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		</a:t>
            </a:r>
            <a:r>
              <a:rPr lang="en-US" altLang="zh-CN" i="1" dirty="0">
                <a:solidFill>
                  <a:schemeClr val="accent2"/>
                </a:solidFill>
              </a:rPr>
              <a:t>where</a:t>
            </a:r>
            <a:r>
              <a:rPr lang="en-US" altLang="zh-CN" i="1" dirty="0"/>
              <a:t>     Sname LIKE  </a:t>
            </a:r>
            <a:r>
              <a:rPr lang="en-US" altLang="zh-CN" i="1" dirty="0">
                <a:solidFill>
                  <a:srgbClr val="FF0000"/>
                </a:solidFill>
              </a:rPr>
              <a:t>’%</a:t>
            </a:r>
            <a:r>
              <a:rPr lang="zh-CN" altLang="en-US" i="1" dirty="0">
                <a:solidFill>
                  <a:srgbClr val="FF0000"/>
                </a:solidFill>
              </a:rPr>
              <a:t>小萍’</a:t>
            </a:r>
            <a:endParaRPr lang="zh-CN" altLang="en-US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885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3.3.2  </a:t>
            </a:r>
            <a:r>
              <a:rPr lang="zh-CN" altLang="en-US" u="sng" dirty="0"/>
              <a:t>单表查询</a:t>
            </a:r>
            <a:endParaRPr lang="zh-CN" altLang="en-US" u="sng" dirty="0"/>
          </a:p>
        </p:txBody>
      </p:sp>
      <p:sp>
        <p:nvSpPr>
          <p:cNvPr id="78852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50292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25] </a:t>
            </a:r>
            <a:r>
              <a:rPr lang="zh-CN" altLang="en-US" sz="2800" dirty="0">
                <a:solidFill>
                  <a:schemeClr val="tx1"/>
                </a:solidFill>
              </a:rPr>
              <a:t>查询名字第二个字是“阳”的学生学号和姓名。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i="1" dirty="0">
                <a:solidFill>
                  <a:schemeClr val="tx1"/>
                </a:solidFill>
              </a:rPr>
              <a:t>    	</a:t>
            </a:r>
            <a:r>
              <a:rPr lang="en-US" altLang="zh-CN" sz="2800" i="1" dirty="0">
                <a:solidFill>
                  <a:schemeClr val="accent2"/>
                </a:solidFill>
              </a:rPr>
              <a:t>select</a:t>
            </a:r>
            <a:r>
              <a:rPr lang="en-US" altLang="zh-CN" sz="2800" i="1" dirty="0">
                <a:solidFill>
                  <a:schemeClr val="tx1"/>
                </a:solidFill>
              </a:rPr>
              <a:t>      Sno, Sname</a:t>
            </a:r>
            <a:endParaRPr lang="en-US" altLang="zh-CN" sz="2800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		 </a:t>
            </a:r>
            <a:r>
              <a:rPr lang="en-US" altLang="zh-CN" i="1" dirty="0">
                <a:solidFill>
                  <a:schemeClr val="accent2"/>
                </a:solidFill>
              </a:rPr>
              <a:t>from</a:t>
            </a:r>
            <a:r>
              <a:rPr lang="en-US" altLang="zh-CN" i="1" dirty="0"/>
              <a:t>       Student </a:t>
            </a:r>
            <a:endParaRPr lang="en-US" altLang="zh-CN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		</a:t>
            </a:r>
            <a:r>
              <a:rPr lang="en-US" altLang="zh-CN" i="1" dirty="0">
                <a:solidFill>
                  <a:schemeClr val="accent2"/>
                </a:solidFill>
              </a:rPr>
              <a:t>where</a:t>
            </a:r>
            <a:r>
              <a:rPr lang="en-US" altLang="zh-CN" i="1" dirty="0"/>
              <a:t>     Sname LIKE  </a:t>
            </a:r>
            <a:r>
              <a:rPr lang="en-US" altLang="zh-CN" i="1" dirty="0">
                <a:solidFill>
                  <a:srgbClr val="FF0000"/>
                </a:solidFill>
              </a:rPr>
              <a:t>’_</a:t>
            </a:r>
            <a:r>
              <a:rPr lang="zh-CN" altLang="en-US" i="1" dirty="0">
                <a:solidFill>
                  <a:srgbClr val="FF0000"/>
                </a:solidFill>
              </a:rPr>
              <a:t>阳</a:t>
            </a:r>
            <a:r>
              <a:rPr lang="en-US" altLang="zh-CN" i="1" dirty="0">
                <a:solidFill>
                  <a:srgbClr val="FF0000"/>
                </a:solidFill>
              </a:rPr>
              <a:t>%’</a:t>
            </a:r>
            <a:endParaRPr lang="en-US" altLang="zh-CN" i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i="1" dirty="0"/>
              <a:t>说明：如今中文版的</a:t>
            </a:r>
            <a:r>
              <a:rPr lang="en-US" altLang="zh-CN" i="1" dirty="0"/>
              <a:t>SQL Server</a:t>
            </a:r>
            <a:r>
              <a:rPr lang="zh-CN" altLang="en-US" i="1" dirty="0"/>
              <a:t>将一个汉字当一个字符处理，故本题“阳”字前只需一个</a:t>
            </a:r>
            <a:r>
              <a:rPr lang="en-US" altLang="zh-CN" i="1" dirty="0"/>
              <a:t>_</a:t>
            </a:r>
            <a:r>
              <a:rPr lang="zh-CN" altLang="en-US" i="1" dirty="0"/>
              <a:t>号，代表一个汉字。</a:t>
            </a:r>
            <a:r>
              <a:rPr lang="en-US" altLang="zh-CN" i="1" dirty="0"/>
              <a:t>(</a:t>
            </a:r>
            <a:r>
              <a:rPr lang="zh-CN" altLang="en-US" i="1" dirty="0"/>
              <a:t>课本上强调了两个</a:t>
            </a:r>
            <a:r>
              <a:rPr lang="en-US" altLang="zh-CN" i="1" dirty="0"/>
              <a:t>_)</a:t>
            </a:r>
            <a:endParaRPr lang="en-US" altLang="zh-CN" i="1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987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3.3.2  </a:t>
            </a:r>
            <a:r>
              <a:rPr lang="zh-CN" altLang="en-US" u="sng" dirty="0"/>
              <a:t>单表查询</a:t>
            </a:r>
            <a:endParaRPr lang="zh-CN" altLang="en-US" u="sng" dirty="0"/>
          </a:p>
        </p:txBody>
      </p:sp>
      <p:sp>
        <p:nvSpPr>
          <p:cNvPr id="79876" name="Rectangle 3"/>
          <p:cNvSpPr>
            <a:spLocks noGrp="1"/>
          </p:cNvSpPr>
          <p:nvPr>
            <p:ph idx="1"/>
          </p:nvPr>
        </p:nvSpPr>
        <p:spPr>
          <a:xfrm>
            <a:off x="0" y="914400"/>
            <a:ext cx="9036050" cy="54864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>
                <a:schemeClr val="accent2"/>
              </a:buClr>
            </a:pPr>
            <a:r>
              <a:rPr lang="zh-CN" altLang="en-US" sz="2800" dirty="0">
                <a:solidFill>
                  <a:schemeClr val="tx1"/>
                </a:solidFill>
              </a:rPr>
              <a:t>如果要查询的对象字符串本身含有</a:t>
            </a:r>
            <a:r>
              <a:rPr lang="en-US" altLang="zh-CN" sz="2800" dirty="0">
                <a:solidFill>
                  <a:schemeClr val="tx1"/>
                </a:solidFill>
              </a:rPr>
              <a:t>%</a:t>
            </a:r>
            <a:r>
              <a:rPr lang="zh-CN" altLang="en-US" sz="2800" dirty="0">
                <a:solidFill>
                  <a:schemeClr val="tx1"/>
                </a:solidFill>
              </a:rPr>
              <a:t>或</a:t>
            </a:r>
            <a:r>
              <a:rPr lang="en-US" altLang="zh-CN" sz="2800" dirty="0">
                <a:solidFill>
                  <a:schemeClr val="tx1"/>
                </a:solidFill>
              </a:rPr>
              <a:t>_</a:t>
            </a:r>
            <a:r>
              <a:rPr lang="zh-CN" altLang="en-US" sz="2800" dirty="0">
                <a:solidFill>
                  <a:schemeClr val="tx1"/>
                </a:solidFill>
              </a:rPr>
              <a:t>，就要用</a:t>
            </a:r>
            <a:r>
              <a:rPr lang="en-US" altLang="zh-CN" sz="2800" dirty="0">
                <a:solidFill>
                  <a:schemeClr val="tx1"/>
                </a:solidFill>
              </a:rPr>
              <a:t>ESCAPE</a:t>
            </a:r>
            <a:r>
              <a:rPr lang="zh-CN" altLang="en-US" sz="2800" dirty="0">
                <a:solidFill>
                  <a:schemeClr val="tx1"/>
                </a:solidFill>
              </a:rPr>
              <a:t>转义子句指明转义字符后的字符是文字的一部分，而不是通配符。</a:t>
            </a:r>
            <a:r>
              <a:rPr lang="en-US" altLang="zh-CN" sz="2800" dirty="0">
                <a:solidFill>
                  <a:srgbClr val="FF0000"/>
                </a:solidFill>
              </a:rPr>
              <a:t>(10%, db_2)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26] </a:t>
            </a:r>
            <a:r>
              <a:rPr lang="zh-CN" altLang="en-US" sz="2800" dirty="0">
                <a:solidFill>
                  <a:schemeClr val="tx1"/>
                </a:solidFill>
              </a:rPr>
              <a:t>查询课程名前缀为‘</a:t>
            </a:r>
            <a:r>
              <a:rPr lang="en-US" altLang="zh-CN" sz="2800" dirty="0">
                <a:solidFill>
                  <a:schemeClr val="tx1"/>
                </a:solidFill>
              </a:rPr>
              <a:t>DB_’</a:t>
            </a:r>
            <a:r>
              <a:rPr lang="zh-CN" altLang="en-US" sz="2800" dirty="0">
                <a:solidFill>
                  <a:schemeClr val="tx1"/>
                </a:solidFill>
              </a:rPr>
              <a:t>的课程号</a:t>
            </a:r>
            <a:r>
              <a:rPr lang="en-US" altLang="zh-CN" sz="2800" dirty="0">
                <a:solidFill>
                  <a:schemeClr val="tx1"/>
                </a:solidFill>
              </a:rPr>
              <a:t>,</a:t>
            </a:r>
            <a:r>
              <a:rPr lang="zh-CN" altLang="en-US" sz="2800" dirty="0">
                <a:solidFill>
                  <a:schemeClr val="tx1"/>
                </a:solidFill>
              </a:rPr>
              <a:t>课程名和学分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   </a:t>
            </a:r>
            <a:r>
              <a:rPr lang="en-US" altLang="zh-CN" sz="2800" dirty="0">
                <a:solidFill>
                  <a:schemeClr val="tx1"/>
                </a:solidFill>
              </a:rPr>
              <a:t>(</a:t>
            </a:r>
            <a:r>
              <a:rPr lang="zh-CN" altLang="en-US" sz="2800" dirty="0">
                <a:solidFill>
                  <a:schemeClr val="tx1"/>
                </a:solidFill>
              </a:rPr>
              <a:t>可能包括</a:t>
            </a:r>
            <a:r>
              <a:rPr lang="en-US" altLang="zh-CN" sz="2800" dirty="0">
                <a:solidFill>
                  <a:schemeClr val="tx1"/>
                </a:solidFill>
              </a:rPr>
              <a:t>DB_2,DB_Design</a:t>
            </a:r>
            <a:r>
              <a:rPr lang="zh-CN" altLang="en-US" sz="2800" dirty="0">
                <a:solidFill>
                  <a:schemeClr val="tx1"/>
                </a:solidFill>
              </a:rPr>
              <a:t>等课程</a:t>
            </a:r>
            <a:r>
              <a:rPr lang="en-US" altLang="zh-CN" sz="2800" dirty="0">
                <a:solidFill>
                  <a:schemeClr val="tx1"/>
                </a:solidFill>
              </a:rPr>
              <a:t>)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i="1" dirty="0">
                <a:solidFill>
                  <a:schemeClr val="tx1"/>
                </a:solidFill>
              </a:rPr>
              <a:t>    	</a:t>
            </a:r>
            <a:r>
              <a:rPr lang="en-US" altLang="zh-CN" sz="2800" i="1" dirty="0">
                <a:solidFill>
                  <a:schemeClr val="accent2"/>
                </a:solidFill>
              </a:rPr>
              <a:t>select</a:t>
            </a:r>
            <a:r>
              <a:rPr lang="en-US" altLang="zh-CN" sz="2800" i="1" dirty="0">
                <a:solidFill>
                  <a:schemeClr val="tx1"/>
                </a:solidFill>
              </a:rPr>
              <a:t>      Cno, Cname, Ccredit</a:t>
            </a:r>
            <a:endParaRPr lang="en-US" altLang="zh-CN" sz="2800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		 </a:t>
            </a:r>
            <a:r>
              <a:rPr lang="en-US" altLang="zh-CN" i="1" dirty="0">
                <a:solidFill>
                  <a:schemeClr val="accent2"/>
                </a:solidFill>
              </a:rPr>
              <a:t>from</a:t>
            </a:r>
            <a:r>
              <a:rPr lang="en-US" altLang="zh-CN" i="1" dirty="0"/>
              <a:t>       Course </a:t>
            </a:r>
            <a:endParaRPr lang="en-US" altLang="zh-CN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		</a:t>
            </a:r>
            <a:r>
              <a:rPr lang="en-US" altLang="zh-CN" i="1" dirty="0">
                <a:solidFill>
                  <a:schemeClr val="accent2"/>
                </a:solidFill>
              </a:rPr>
              <a:t>where</a:t>
            </a:r>
            <a:r>
              <a:rPr lang="en-US" altLang="zh-CN" i="1" dirty="0"/>
              <a:t>     Cname  LIKE  </a:t>
            </a:r>
            <a:r>
              <a:rPr lang="en-US" altLang="zh-CN" i="1" dirty="0">
                <a:solidFill>
                  <a:srgbClr val="FF0000"/>
                </a:solidFill>
              </a:rPr>
              <a:t>'</a:t>
            </a:r>
            <a:r>
              <a:rPr lang="en-US" altLang="zh-CN" i="1" dirty="0"/>
              <a:t> </a:t>
            </a:r>
            <a:r>
              <a:rPr lang="en-US" altLang="zh-CN" i="1" dirty="0">
                <a:solidFill>
                  <a:srgbClr val="FF0000"/>
                </a:solidFill>
              </a:rPr>
              <a:t>DB\_%'</a:t>
            </a:r>
            <a:r>
              <a:rPr lang="en-US" altLang="zh-CN" i="1" dirty="0"/>
              <a:t>   </a:t>
            </a:r>
            <a:r>
              <a:rPr lang="en-US" altLang="zh-CN" i="1" dirty="0">
                <a:solidFill>
                  <a:schemeClr val="accent2"/>
                </a:solidFill>
              </a:rPr>
              <a:t>ESCAPE </a:t>
            </a:r>
            <a:r>
              <a:rPr lang="en-US" altLang="zh-CN" i="1" dirty="0"/>
              <a:t> </a:t>
            </a:r>
            <a:r>
              <a:rPr lang="en-US" altLang="zh-CN" i="1" dirty="0">
                <a:solidFill>
                  <a:srgbClr val="FF0000"/>
                </a:solidFill>
              </a:rPr>
              <a:t>'\ '</a:t>
            </a:r>
            <a:endParaRPr lang="en-US" altLang="zh-CN" i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i="1" dirty="0">
                <a:solidFill>
                  <a:srgbClr val="FF0000"/>
                </a:solidFill>
              </a:rPr>
              <a:t>注：如果被查找的字串确定，如‘</a:t>
            </a:r>
            <a:r>
              <a:rPr lang="en-US" altLang="zh-CN" sz="2800" i="1" dirty="0">
                <a:solidFill>
                  <a:srgbClr val="FF0000"/>
                </a:solidFill>
              </a:rPr>
              <a:t>DB_2’</a:t>
            </a:r>
            <a:r>
              <a:rPr lang="zh-CN" altLang="en-US" sz="2800" i="1" dirty="0">
                <a:solidFill>
                  <a:srgbClr val="FF0000"/>
                </a:solidFill>
              </a:rPr>
              <a:t>，可直接用</a:t>
            </a:r>
            <a:r>
              <a:rPr lang="en-US" altLang="zh-CN" sz="2800" i="1" dirty="0">
                <a:solidFill>
                  <a:srgbClr val="FF0000"/>
                </a:solidFill>
              </a:rPr>
              <a:t>=</a:t>
            </a:r>
            <a:r>
              <a:rPr lang="zh-CN" altLang="en-US" sz="2800" i="1" dirty="0">
                <a:solidFill>
                  <a:srgbClr val="FF0000"/>
                </a:solidFill>
              </a:rPr>
              <a:t>号</a:t>
            </a:r>
            <a:endParaRPr lang="zh-CN" altLang="en-US" sz="2800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8089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3.3.2  </a:t>
            </a:r>
            <a:r>
              <a:rPr lang="zh-CN" altLang="en-US" u="sng" dirty="0"/>
              <a:t>单表查询</a:t>
            </a:r>
            <a:endParaRPr lang="zh-CN" altLang="en-US" u="sng" dirty="0"/>
          </a:p>
        </p:txBody>
      </p:sp>
      <p:sp>
        <p:nvSpPr>
          <p:cNvPr id="80900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54864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27] </a:t>
            </a:r>
            <a:r>
              <a:rPr lang="zh-CN" altLang="en-US" sz="2800" dirty="0">
                <a:solidFill>
                  <a:schemeClr val="tx1"/>
                </a:solidFill>
              </a:rPr>
              <a:t>查询课程名前缀为‘</a:t>
            </a:r>
            <a:r>
              <a:rPr lang="en-US" altLang="zh-CN" sz="2800" dirty="0">
                <a:solidFill>
                  <a:schemeClr val="tx1"/>
                </a:solidFill>
              </a:rPr>
              <a:t>DB_’,</a:t>
            </a:r>
            <a:r>
              <a:rPr lang="zh-CN" altLang="en-US" sz="2800" dirty="0">
                <a:solidFill>
                  <a:schemeClr val="tx1"/>
                </a:solidFill>
              </a:rPr>
              <a:t>倒数第</a:t>
            </a:r>
            <a:r>
              <a:rPr lang="en-US" altLang="zh-CN" sz="2800" dirty="0">
                <a:solidFill>
                  <a:schemeClr val="tx1"/>
                </a:solidFill>
              </a:rPr>
              <a:t>3</a:t>
            </a:r>
            <a:r>
              <a:rPr lang="zh-CN" altLang="en-US" sz="2800" dirty="0">
                <a:solidFill>
                  <a:schemeClr val="tx1"/>
                </a:solidFill>
              </a:rPr>
              <a:t>个字母为</a:t>
            </a:r>
            <a:r>
              <a:rPr lang="en-US" altLang="zh-CN" sz="2800" i="1" dirty="0">
                <a:solidFill>
                  <a:schemeClr val="tx1"/>
                </a:solidFill>
              </a:rPr>
              <a:t>i</a:t>
            </a:r>
            <a:r>
              <a:rPr lang="zh-CN" altLang="en-US" sz="2800" dirty="0">
                <a:solidFill>
                  <a:schemeClr val="tx1"/>
                </a:solidFill>
              </a:rPr>
              <a:t>的课程号</a:t>
            </a:r>
            <a:r>
              <a:rPr lang="en-US" altLang="zh-CN" sz="2800" dirty="0">
                <a:solidFill>
                  <a:schemeClr val="tx1"/>
                </a:solidFill>
              </a:rPr>
              <a:t>,</a:t>
            </a:r>
            <a:r>
              <a:rPr lang="zh-CN" altLang="en-US" sz="2800" dirty="0">
                <a:solidFill>
                  <a:schemeClr val="tx1"/>
                </a:solidFill>
              </a:rPr>
              <a:t>课程名和学分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   </a:t>
            </a:r>
            <a:r>
              <a:rPr lang="en-US" altLang="zh-CN" sz="2800" dirty="0">
                <a:solidFill>
                  <a:schemeClr val="tx1"/>
                </a:solidFill>
              </a:rPr>
              <a:t>(</a:t>
            </a:r>
            <a:r>
              <a:rPr lang="zh-CN" altLang="en-US" sz="2800" dirty="0">
                <a:solidFill>
                  <a:schemeClr val="tx1"/>
                </a:solidFill>
              </a:rPr>
              <a:t>可能像</a:t>
            </a:r>
            <a:r>
              <a:rPr lang="en-US" altLang="zh-CN" sz="2800" dirty="0">
                <a:solidFill>
                  <a:schemeClr val="tx1"/>
                </a:solidFill>
              </a:rPr>
              <a:t>DB_Design</a:t>
            </a:r>
            <a:r>
              <a:rPr lang="zh-CN" altLang="en-US" sz="2800" dirty="0">
                <a:solidFill>
                  <a:schemeClr val="tx1"/>
                </a:solidFill>
              </a:rPr>
              <a:t>的课程</a:t>
            </a:r>
            <a:r>
              <a:rPr lang="en-US" altLang="zh-CN" sz="2800" dirty="0">
                <a:solidFill>
                  <a:schemeClr val="tx1"/>
                </a:solidFill>
              </a:rPr>
              <a:t>)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i="1" dirty="0">
                <a:solidFill>
                  <a:schemeClr val="tx1"/>
                </a:solidFill>
              </a:rPr>
              <a:t>    	</a:t>
            </a:r>
            <a:r>
              <a:rPr lang="en-US" altLang="zh-CN" sz="2800" i="1" dirty="0">
                <a:solidFill>
                  <a:schemeClr val="accent2"/>
                </a:solidFill>
              </a:rPr>
              <a:t>select</a:t>
            </a:r>
            <a:r>
              <a:rPr lang="en-US" altLang="zh-CN" sz="2800" i="1" dirty="0">
                <a:solidFill>
                  <a:schemeClr val="tx1"/>
                </a:solidFill>
              </a:rPr>
              <a:t>      Cno, Cname, Ccredit</a:t>
            </a:r>
            <a:endParaRPr lang="en-US" altLang="zh-CN" sz="2800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		 </a:t>
            </a:r>
            <a:r>
              <a:rPr lang="en-US" altLang="zh-CN" i="1" dirty="0">
                <a:solidFill>
                  <a:schemeClr val="accent2"/>
                </a:solidFill>
              </a:rPr>
              <a:t>from</a:t>
            </a:r>
            <a:r>
              <a:rPr lang="en-US" altLang="zh-CN" i="1" dirty="0"/>
              <a:t>       Course </a:t>
            </a:r>
            <a:endParaRPr lang="en-US" altLang="zh-CN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/>
              <a:t>		</a:t>
            </a:r>
            <a:r>
              <a:rPr lang="en-US" altLang="zh-CN" i="1" dirty="0">
                <a:solidFill>
                  <a:schemeClr val="accent2"/>
                </a:solidFill>
              </a:rPr>
              <a:t>where</a:t>
            </a:r>
            <a:r>
              <a:rPr lang="en-US" altLang="zh-CN" i="1" dirty="0"/>
              <a:t>     Cname  LIKE  </a:t>
            </a:r>
            <a:r>
              <a:rPr lang="en-US" altLang="zh-CN" i="1" dirty="0">
                <a:solidFill>
                  <a:srgbClr val="FF0000"/>
                </a:solidFill>
              </a:rPr>
              <a:t>'</a:t>
            </a:r>
            <a:r>
              <a:rPr lang="en-US" altLang="zh-CN" i="1" dirty="0"/>
              <a:t> </a:t>
            </a:r>
            <a:r>
              <a:rPr lang="en-US" altLang="zh-CN" i="1" dirty="0">
                <a:solidFill>
                  <a:srgbClr val="FF0000"/>
                </a:solidFill>
              </a:rPr>
              <a:t>DB\_%i__'</a:t>
            </a:r>
            <a:r>
              <a:rPr lang="en-US" altLang="zh-CN" i="1" dirty="0"/>
              <a:t>   </a:t>
            </a:r>
            <a:r>
              <a:rPr lang="en-US" altLang="zh-CN" i="1" dirty="0">
                <a:solidFill>
                  <a:schemeClr val="accent2"/>
                </a:solidFill>
              </a:rPr>
              <a:t>ESCAPE </a:t>
            </a:r>
            <a:r>
              <a:rPr lang="en-US" altLang="zh-CN" i="1" dirty="0"/>
              <a:t> </a:t>
            </a:r>
            <a:r>
              <a:rPr lang="en-US" altLang="zh-CN" i="1" dirty="0">
                <a:solidFill>
                  <a:srgbClr val="FF0000"/>
                </a:solidFill>
              </a:rPr>
              <a:t>'\ '</a:t>
            </a:r>
            <a:endParaRPr lang="en-US" altLang="zh-CN" i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i="1" dirty="0">
                <a:solidFill>
                  <a:srgbClr val="FF0000"/>
                </a:solidFill>
              </a:rPr>
              <a:t>注：这次后面有两个</a:t>
            </a:r>
            <a:r>
              <a:rPr lang="en-US" altLang="zh-CN" sz="2800" i="1" dirty="0">
                <a:solidFill>
                  <a:srgbClr val="FF0000"/>
                </a:solidFill>
              </a:rPr>
              <a:t>_</a:t>
            </a:r>
            <a:r>
              <a:rPr lang="zh-CN" altLang="en-US" sz="2800" i="1" dirty="0">
                <a:solidFill>
                  <a:srgbClr val="FF0000"/>
                </a:solidFill>
              </a:rPr>
              <a:t>号。</a:t>
            </a:r>
            <a:endParaRPr lang="zh-CN" altLang="en-US" sz="2800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8192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3.3.2  </a:t>
            </a:r>
            <a:r>
              <a:rPr lang="zh-CN" altLang="en-US" u="sng" dirty="0"/>
              <a:t>单表查询</a:t>
            </a:r>
            <a:endParaRPr lang="zh-CN" altLang="en-US" u="sng" dirty="0"/>
          </a:p>
        </p:txBody>
      </p:sp>
      <p:sp>
        <p:nvSpPr>
          <p:cNvPr id="81924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54864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28] </a:t>
            </a:r>
            <a:r>
              <a:rPr lang="zh-CN" altLang="en-US" dirty="0">
                <a:solidFill>
                  <a:schemeClr val="tx1"/>
                </a:solidFill>
              </a:rPr>
              <a:t>查询选课记录中，有选课登记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即有学号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 和课程号登记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r>
              <a:rPr lang="zh-CN" altLang="en-US" dirty="0">
                <a:solidFill>
                  <a:schemeClr val="tx1"/>
                </a:solidFill>
              </a:rPr>
              <a:t>，但无成绩的学号与对应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 的课程号。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 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>
                <a:solidFill>
                  <a:schemeClr val="tx1"/>
                </a:solidFill>
              </a:rPr>
              <a:t>      Sno, Cno</a:t>
            </a:r>
            <a:endParaRPr lang="en-US" altLang="zh-CN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	   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      SC </a:t>
            </a:r>
            <a:endParaRPr lang="en-US" altLang="zh-CN" sz="3200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		  </a:t>
            </a:r>
            <a:r>
              <a:rPr lang="en-US" altLang="zh-CN" sz="3200" i="1" dirty="0">
                <a:solidFill>
                  <a:schemeClr val="accent2"/>
                </a:solidFill>
              </a:rPr>
              <a:t>where</a:t>
            </a:r>
            <a:r>
              <a:rPr lang="en-US" altLang="zh-CN" sz="3200" i="1" dirty="0"/>
              <a:t>     Grade  </a:t>
            </a:r>
            <a:r>
              <a:rPr lang="en-US" altLang="zh-CN" sz="3200" i="1" dirty="0">
                <a:solidFill>
                  <a:schemeClr val="accent2"/>
                </a:solidFill>
              </a:rPr>
              <a:t>IS  </a:t>
            </a:r>
            <a:r>
              <a:rPr lang="en-US" altLang="zh-CN" sz="3200" i="1" dirty="0"/>
              <a:t>NULL</a:t>
            </a:r>
            <a:endParaRPr lang="en-US" altLang="zh-CN" sz="3200" i="1" dirty="0"/>
          </a:p>
          <a:p>
            <a:pPr lvl="1" eaLnBrk="1" hangingPunct="1">
              <a:lnSpc>
                <a:spcPct val="120000"/>
              </a:lnSpc>
              <a:buNone/>
            </a:pPr>
            <a:endParaRPr lang="en-US" altLang="zh-CN" sz="3200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sz="3200" i="1" dirty="0"/>
              <a:t>查询有成绩记载的呢？  </a:t>
            </a:r>
            <a:r>
              <a:rPr lang="en-US" altLang="zh-CN" sz="3200" i="1" dirty="0"/>
              <a:t>Grade </a:t>
            </a:r>
            <a:r>
              <a:rPr lang="en-US" altLang="zh-CN" sz="3200" i="1" dirty="0">
                <a:solidFill>
                  <a:schemeClr val="accent2"/>
                </a:solidFill>
              </a:rPr>
              <a:t>is</a:t>
            </a:r>
            <a:r>
              <a:rPr lang="en-US" altLang="zh-CN" sz="3200" i="1" dirty="0"/>
              <a:t> not null</a:t>
            </a:r>
            <a:endParaRPr lang="en-US" altLang="zh-CN" sz="3200" i="1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8294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3.3.2  </a:t>
            </a:r>
            <a:r>
              <a:rPr lang="zh-CN" altLang="en-US" u="sng" dirty="0"/>
              <a:t>单表查询</a:t>
            </a:r>
            <a:endParaRPr lang="zh-CN" altLang="en-US" u="sng" dirty="0"/>
          </a:p>
        </p:txBody>
      </p:sp>
      <p:sp>
        <p:nvSpPr>
          <p:cNvPr id="82948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54864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>
                <a:schemeClr val="accent2"/>
              </a:buClr>
            </a:pPr>
            <a:r>
              <a:rPr lang="zh-CN" altLang="en-US" dirty="0">
                <a:solidFill>
                  <a:schemeClr val="tx1"/>
                </a:solidFill>
              </a:rPr>
              <a:t>用</a:t>
            </a:r>
            <a:r>
              <a:rPr lang="en-US" altLang="zh-CN" dirty="0">
                <a:solidFill>
                  <a:schemeClr val="tx1"/>
                </a:solidFill>
              </a:rPr>
              <a:t>order by</a:t>
            </a:r>
            <a:r>
              <a:rPr lang="zh-CN" altLang="en-US" dirty="0">
                <a:solidFill>
                  <a:schemeClr val="tx1"/>
                </a:solidFill>
              </a:rPr>
              <a:t>对查询的结果排序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29] </a:t>
            </a:r>
            <a:r>
              <a:rPr lang="zh-CN" altLang="en-US" dirty="0">
                <a:solidFill>
                  <a:schemeClr val="tx1"/>
                </a:solidFill>
              </a:rPr>
              <a:t>列出选修课程代号为‘</a:t>
            </a:r>
            <a:r>
              <a:rPr lang="en-US" altLang="zh-CN" dirty="0">
                <a:solidFill>
                  <a:schemeClr val="tx1"/>
                </a:solidFill>
              </a:rPr>
              <a:t>3’ </a:t>
            </a:r>
            <a:r>
              <a:rPr lang="zh-CN" altLang="en-US" dirty="0">
                <a:solidFill>
                  <a:schemeClr val="tx1"/>
                </a:solidFill>
              </a:rPr>
              <a:t>的全部学生的学号和成绩，并按成绩从高到低排序。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 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>
                <a:solidFill>
                  <a:schemeClr val="tx1"/>
                </a:solidFill>
              </a:rPr>
              <a:t>      Sno, Grade</a:t>
            </a:r>
            <a:endParaRPr lang="en-US" altLang="zh-CN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		  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      SC </a:t>
            </a:r>
            <a:endParaRPr lang="en-US" altLang="zh-CN" sz="3200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		  </a:t>
            </a:r>
            <a:r>
              <a:rPr lang="en-US" altLang="zh-CN" sz="3200" i="1" dirty="0">
                <a:solidFill>
                  <a:schemeClr val="accent2"/>
                </a:solidFill>
              </a:rPr>
              <a:t>where</a:t>
            </a:r>
            <a:r>
              <a:rPr lang="en-US" altLang="zh-CN" sz="3200" i="1" dirty="0"/>
              <a:t>     Cno = </a:t>
            </a:r>
            <a:r>
              <a:rPr lang="en-US" altLang="zh-CN" sz="3200" i="1" dirty="0">
                <a:solidFill>
                  <a:srgbClr val="FF0000"/>
                </a:solidFill>
              </a:rPr>
              <a:t>‘3’</a:t>
            </a:r>
            <a:endParaRPr lang="en-US" altLang="zh-CN" sz="3200" i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       </a:t>
            </a:r>
            <a:r>
              <a:rPr lang="en-US" altLang="zh-CN" sz="3200" i="1" dirty="0">
                <a:solidFill>
                  <a:schemeClr val="accent2"/>
                </a:solidFill>
              </a:rPr>
              <a:t>order   by  </a:t>
            </a:r>
            <a:r>
              <a:rPr lang="en-US" altLang="zh-CN" sz="3200" i="1" dirty="0"/>
              <a:t> Grade  </a:t>
            </a:r>
            <a:r>
              <a:rPr lang="en-US" altLang="zh-CN" sz="3200" i="1" dirty="0">
                <a:solidFill>
                  <a:schemeClr val="accent2"/>
                </a:solidFill>
              </a:rPr>
              <a:t>Desc</a:t>
            </a:r>
            <a:endParaRPr lang="en-US" altLang="zh-CN" sz="3200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8397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3.3.2  </a:t>
            </a:r>
            <a:r>
              <a:rPr lang="zh-CN" altLang="en-US" u="sng" dirty="0"/>
              <a:t>单表查询</a:t>
            </a:r>
            <a:endParaRPr lang="zh-CN" altLang="en-US" u="sng" dirty="0"/>
          </a:p>
        </p:txBody>
      </p:sp>
      <p:sp>
        <p:nvSpPr>
          <p:cNvPr id="83972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56388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30] </a:t>
            </a:r>
            <a:r>
              <a:rPr lang="zh-CN" altLang="en-US" dirty="0">
                <a:solidFill>
                  <a:schemeClr val="tx1"/>
                </a:solidFill>
              </a:rPr>
              <a:t>查询全体学生情况，查询结果按所在系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 的系号升序排列，同一系中的学生则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 按先男生后女生的顺序排列。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 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>
                <a:solidFill>
                  <a:schemeClr val="tx1"/>
                </a:solidFill>
              </a:rPr>
              <a:t>      *</a:t>
            </a:r>
            <a:endParaRPr lang="en-US" altLang="zh-CN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		  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      Student</a:t>
            </a:r>
            <a:endParaRPr lang="en-US" altLang="zh-CN" sz="3200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		  </a:t>
            </a:r>
            <a:r>
              <a:rPr lang="en-US" altLang="zh-CN" sz="3200" i="1" dirty="0">
                <a:solidFill>
                  <a:schemeClr val="accent2"/>
                </a:solidFill>
              </a:rPr>
              <a:t>order   by  </a:t>
            </a:r>
            <a:r>
              <a:rPr lang="en-US" altLang="zh-CN" sz="3200" i="1" dirty="0"/>
              <a:t> sdept  </a:t>
            </a:r>
            <a:r>
              <a:rPr lang="en-US" altLang="zh-CN" sz="3200" i="1" dirty="0">
                <a:solidFill>
                  <a:schemeClr val="accent2"/>
                </a:solidFill>
              </a:rPr>
              <a:t>asc</a:t>
            </a:r>
            <a:r>
              <a:rPr lang="en-US" altLang="zh-CN" sz="3200" i="1" dirty="0"/>
              <a:t>,  ssex  </a:t>
            </a:r>
            <a:r>
              <a:rPr lang="en-US" altLang="zh-CN" sz="3200" i="1" dirty="0">
                <a:solidFill>
                  <a:schemeClr val="accent2"/>
                </a:solidFill>
              </a:rPr>
              <a:t>desc</a:t>
            </a:r>
            <a:endParaRPr lang="en-US" altLang="zh-CN" sz="3200" i="1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>
                <a:solidFill>
                  <a:schemeClr val="accent2"/>
                </a:solidFill>
              </a:rPr>
              <a:t>   </a:t>
            </a:r>
            <a:r>
              <a:rPr lang="zh-CN" altLang="en-US" sz="3200" i="1" dirty="0">
                <a:solidFill>
                  <a:schemeClr val="accent2"/>
                </a:solidFill>
              </a:rPr>
              <a:t>注：由于性别代码男为‘</a:t>
            </a:r>
            <a:r>
              <a:rPr lang="en-US" altLang="zh-CN" sz="3200" i="1" dirty="0">
                <a:solidFill>
                  <a:schemeClr val="accent2"/>
                </a:solidFill>
              </a:rPr>
              <a:t>2’,</a:t>
            </a:r>
            <a:r>
              <a:rPr lang="zh-CN" altLang="en-US" sz="3200" i="1" dirty="0">
                <a:solidFill>
                  <a:schemeClr val="accent2"/>
                </a:solidFill>
              </a:rPr>
              <a:t>女为‘</a:t>
            </a:r>
            <a:r>
              <a:rPr lang="en-US" altLang="zh-CN" sz="3200" i="1" dirty="0">
                <a:solidFill>
                  <a:schemeClr val="accent2"/>
                </a:solidFill>
              </a:rPr>
              <a:t>1’</a:t>
            </a:r>
            <a:r>
              <a:rPr lang="zh-CN" altLang="en-US" sz="3200" i="1" dirty="0">
                <a:solidFill>
                  <a:schemeClr val="accent2"/>
                </a:solidFill>
              </a:rPr>
              <a:t>，故女生在前需用降序。</a:t>
            </a:r>
            <a:endParaRPr lang="zh-CN" altLang="en-US" sz="3200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8499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3.3.2  </a:t>
            </a:r>
            <a:r>
              <a:rPr lang="zh-CN" altLang="en-US" u="sng" dirty="0"/>
              <a:t>单表查询</a:t>
            </a:r>
            <a:endParaRPr lang="zh-CN" altLang="en-US" u="sng" dirty="0"/>
          </a:p>
        </p:txBody>
      </p:sp>
      <p:sp>
        <p:nvSpPr>
          <p:cNvPr id="84996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5943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>
                <a:schemeClr val="accent2"/>
              </a:buClr>
            </a:pPr>
            <a:r>
              <a:rPr lang="zh-CN" altLang="en-US" dirty="0">
                <a:solidFill>
                  <a:schemeClr val="tx1"/>
                </a:solidFill>
              </a:rPr>
              <a:t>集函数</a:t>
            </a:r>
            <a:endParaRPr lang="zh-CN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accent2"/>
                </a:solidFill>
              </a:rPr>
              <a:t>Count ([Distinct|All] *)</a:t>
            </a:r>
            <a:r>
              <a:rPr lang="en-US" altLang="zh-CN" dirty="0"/>
              <a:t>           </a:t>
            </a:r>
            <a:r>
              <a:rPr lang="zh-CN" altLang="en-US" dirty="0"/>
              <a:t>统计元组个数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FF0000"/>
                </a:solidFill>
              </a:rPr>
              <a:t>计数</a:t>
            </a:r>
            <a:r>
              <a:rPr lang="en-US" altLang="zh-CN" dirty="0"/>
              <a:t>)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accent2"/>
                </a:solidFill>
              </a:rPr>
              <a:t>Count ([Distinct|All]&lt;</a:t>
            </a:r>
            <a:r>
              <a:rPr lang="zh-CN" altLang="en-US" dirty="0">
                <a:solidFill>
                  <a:schemeClr val="accent2"/>
                </a:solidFill>
              </a:rPr>
              <a:t>列名</a:t>
            </a:r>
            <a:r>
              <a:rPr lang="en-US" altLang="zh-CN" dirty="0">
                <a:solidFill>
                  <a:schemeClr val="accent2"/>
                </a:solidFill>
              </a:rPr>
              <a:t>&gt;)  </a:t>
            </a:r>
            <a:r>
              <a:rPr lang="zh-CN" altLang="en-US" dirty="0"/>
              <a:t>统计一列中值的</a:t>
            </a:r>
            <a:r>
              <a:rPr lang="zh-CN" altLang="en-US" dirty="0">
                <a:solidFill>
                  <a:srgbClr val="FF0000"/>
                </a:solidFill>
              </a:rPr>
              <a:t>个数</a:t>
            </a:r>
            <a:endParaRPr lang="zh-CN" altLang="en-US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accent2"/>
                </a:solidFill>
              </a:rPr>
              <a:t>SUM([Distinct|All]&lt;</a:t>
            </a:r>
            <a:r>
              <a:rPr lang="zh-CN" altLang="en-US" dirty="0">
                <a:solidFill>
                  <a:schemeClr val="accent2"/>
                </a:solidFill>
              </a:rPr>
              <a:t>列名</a:t>
            </a:r>
            <a:r>
              <a:rPr lang="en-US" altLang="zh-CN" dirty="0">
                <a:solidFill>
                  <a:schemeClr val="accent2"/>
                </a:solidFill>
              </a:rPr>
              <a:t>&gt;)     </a:t>
            </a:r>
            <a:r>
              <a:rPr lang="zh-CN" altLang="en-US" dirty="0"/>
              <a:t>统计一列值的总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  <a:endParaRPr lang="zh-CN" altLang="en-US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accent2"/>
                </a:solidFill>
              </a:rPr>
              <a:t>AVG([Distinct|All]&lt;</a:t>
            </a:r>
            <a:r>
              <a:rPr lang="zh-CN" altLang="en-US" dirty="0">
                <a:solidFill>
                  <a:schemeClr val="accent2"/>
                </a:solidFill>
              </a:rPr>
              <a:t>列名</a:t>
            </a:r>
            <a:r>
              <a:rPr lang="en-US" altLang="zh-CN" dirty="0">
                <a:solidFill>
                  <a:schemeClr val="accent2"/>
                </a:solidFill>
              </a:rPr>
              <a:t>&gt;)     </a:t>
            </a:r>
            <a:r>
              <a:rPr lang="zh-CN" altLang="en-US" dirty="0"/>
              <a:t>计算一列值的</a:t>
            </a:r>
            <a:r>
              <a:rPr lang="zh-CN" altLang="en-US" dirty="0">
                <a:solidFill>
                  <a:srgbClr val="FF0000"/>
                </a:solidFill>
              </a:rPr>
              <a:t>平均值</a:t>
            </a:r>
            <a:endParaRPr lang="zh-CN" altLang="en-US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accent2"/>
                </a:solidFill>
              </a:rPr>
              <a:t>MAX([Distinct|All]&lt;</a:t>
            </a:r>
            <a:r>
              <a:rPr lang="zh-CN" altLang="en-US" dirty="0">
                <a:solidFill>
                  <a:schemeClr val="accent2"/>
                </a:solidFill>
              </a:rPr>
              <a:t>列名</a:t>
            </a:r>
            <a:r>
              <a:rPr lang="en-US" altLang="zh-CN" dirty="0">
                <a:solidFill>
                  <a:schemeClr val="accent2"/>
                </a:solidFill>
              </a:rPr>
              <a:t>&gt;)    </a:t>
            </a:r>
            <a:r>
              <a:rPr lang="zh-CN" altLang="en-US" dirty="0"/>
              <a:t>求一列值的</a:t>
            </a:r>
            <a:r>
              <a:rPr lang="zh-CN" altLang="en-US" dirty="0">
                <a:solidFill>
                  <a:srgbClr val="FF0000"/>
                </a:solidFill>
              </a:rPr>
              <a:t>最大值</a:t>
            </a:r>
            <a:endParaRPr lang="zh-CN" altLang="en-US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accent2"/>
                </a:solidFill>
              </a:rPr>
              <a:t>MIN([Distinct|All]&lt;</a:t>
            </a:r>
            <a:r>
              <a:rPr lang="zh-CN" altLang="en-US" dirty="0">
                <a:solidFill>
                  <a:schemeClr val="accent2"/>
                </a:solidFill>
              </a:rPr>
              <a:t>列名</a:t>
            </a:r>
            <a:r>
              <a:rPr lang="en-US" altLang="zh-CN" dirty="0">
                <a:solidFill>
                  <a:schemeClr val="accent2"/>
                </a:solidFill>
              </a:rPr>
              <a:t>&gt;)     </a:t>
            </a:r>
            <a:r>
              <a:rPr lang="zh-CN" altLang="en-US" dirty="0"/>
              <a:t>求一列值的</a:t>
            </a:r>
            <a:r>
              <a:rPr lang="zh-CN" altLang="en-US" dirty="0">
                <a:solidFill>
                  <a:srgbClr val="FF0000"/>
                </a:solidFill>
              </a:rPr>
              <a:t>最小值</a:t>
            </a:r>
            <a:r>
              <a:rPr lang="zh-CN" altLang="en-US" dirty="0"/>
              <a:t> </a:t>
            </a:r>
            <a:endParaRPr lang="zh-CN" altLang="en-US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    </a:t>
            </a:r>
            <a:r>
              <a:rPr lang="zh-CN" altLang="en-US" sz="2800" i="1" dirty="0">
                <a:solidFill>
                  <a:schemeClr val="tx1"/>
                </a:solidFill>
              </a:rPr>
              <a:t>注：指定</a:t>
            </a:r>
            <a:r>
              <a:rPr lang="en-US" altLang="zh-CN" sz="2800" i="1" dirty="0">
                <a:solidFill>
                  <a:schemeClr val="accent2"/>
                </a:solidFill>
              </a:rPr>
              <a:t>Distinct</a:t>
            </a:r>
            <a:r>
              <a:rPr lang="zh-CN" altLang="en-US" sz="2800" i="1" dirty="0">
                <a:solidFill>
                  <a:schemeClr val="tx1"/>
                </a:solidFill>
              </a:rPr>
              <a:t>短语，则表示重复的只算一次。默认为</a:t>
            </a:r>
            <a:r>
              <a:rPr lang="en-US" altLang="zh-CN" sz="2800" i="1" dirty="0">
                <a:solidFill>
                  <a:schemeClr val="tx1"/>
                </a:solidFill>
              </a:rPr>
              <a:t>All</a:t>
            </a:r>
            <a:r>
              <a:rPr lang="zh-CN" altLang="en-US" sz="2800" i="1" dirty="0">
                <a:solidFill>
                  <a:schemeClr val="tx1"/>
                </a:solidFill>
              </a:rPr>
              <a:t>。</a:t>
            </a:r>
            <a:r>
              <a:rPr lang="zh-CN" altLang="en-US" dirty="0">
                <a:solidFill>
                  <a:schemeClr val="tx1"/>
                </a:solidFill>
              </a:rPr>
              <a:t>         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8601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3.3.2  </a:t>
            </a:r>
            <a:r>
              <a:rPr lang="zh-CN" altLang="en-US" u="sng" dirty="0"/>
              <a:t>单表查询</a:t>
            </a:r>
            <a:endParaRPr lang="zh-CN" altLang="en-US" u="sng" dirty="0"/>
          </a:p>
        </p:txBody>
      </p:sp>
      <p:sp>
        <p:nvSpPr>
          <p:cNvPr id="86020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56388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31] </a:t>
            </a:r>
            <a:r>
              <a:rPr lang="zh-CN" altLang="en-US" dirty="0">
                <a:solidFill>
                  <a:schemeClr val="tx1"/>
                </a:solidFill>
              </a:rPr>
              <a:t>求学生名册上的总人数。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 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>
                <a:solidFill>
                  <a:schemeClr val="tx1"/>
                </a:solidFill>
              </a:rPr>
              <a:t>      </a:t>
            </a:r>
            <a:r>
              <a:rPr lang="en-US" altLang="zh-CN" i="1" dirty="0">
                <a:solidFill>
                  <a:srgbClr val="FF0000"/>
                </a:solidFill>
              </a:rPr>
              <a:t>count</a:t>
            </a:r>
            <a:r>
              <a:rPr lang="en-US" altLang="zh-CN" i="1" dirty="0">
                <a:solidFill>
                  <a:schemeClr val="tx1"/>
                </a:solidFill>
              </a:rPr>
              <a:t>(*)</a:t>
            </a:r>
            <a:endParaRPr lang="en-US" altLang="zh-CN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		  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      Student</a:t>
            </a:r>
            <a:endParaRPr lang="en-US" altLang="zh-CN" sz="3200" i="1" dirty="0"/>
          </a:p>
          <a:p>
            <a:pPr lvl="1" eaLnBrk="1" hangingPunct="1">
              <a:lnSpc>
                <a:spcPct val="120000"/>
              </a:lnSpc>
              <a:buNone/>
            </a:pPr>
            <a:endParaRPr lang="en-US" altLang="zh-CN" sz="3200" i="1" dirty="0"/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32] </a:t>
            </a:r>
            <a:r>
              <a:rPr lang="zh-CN" altLang="en-US" dirty="0">
                <a:solidFill>
                  <a:schemeClr val="tx1"/>
                </a:solidFill>
              </a:rPr>
              <a:t>求选修了课程的学生总人数。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 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>
                <a:solidFill>
                  <a:schemeClr val="tx1"/>
                </a:solidFill>
              </a:rPr>
              <a:t>      </a:t>
            </a:r>
            <a:r>
              <a:rPr lang="en-US" altLang="zh-CN" i="1" dirty="0">
                <a:solidFill>
                  <a:srgbClr val="FF0000"/>
                </a:solidFill>
              </a:rPr>
              <a:t>count</a:t>
            </a:r>
            <a:r>
              <a:rPr lang="en-US" altLang="zh-CN" i="1" dirty="0">
                <a:solidFill>
                  <a:schemeClr val="tx1"/>
                </a:solidFill>
              </a:rPr>
              <a:t>(</a:t>
            </a:r>
            <a:r>
              <a:rPr lang="en-US" altLang="zh-CN" i="1" dirty="0">
                <a:solidFill>
                  <a:schemeClr val="accent2"/>
                </a:solidFill>
              </a:rPr>
              <a:t>distinct</a:t>
            </a:r>
            <a:r>
              <a:rPr lang="en-US" altLang="zh-CN" i="1" dirty="0">
                <a:solidFill>
                  <a:schemeClr val="tx1"/>
                </a:solidFill>
              </a:rPr>
              <a:t>  sno)</a:t>
            </a:r>
            <a:endParaRPr lang="en-US" altLang="zh-CN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		  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      SC</a:t>
            </a:r>
            <a:endParaRPr lang="en-US" altLang="zh-CN" sz="3200" i="1" dirty="0"/>
          </a:p>
          <a:p>
            <a:pPr lvl="1" eaLnBrk="1" hangingPunct="1">
              <a:lnSpc>
                <a:spcPct val="120000"/>
              </a:lnSpc>
              <a:buNone/>
            </a:pPr>
            <a:endParaRPr lang="en-US" altLang="zh-CN" sz="3200" i="1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8704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3.3.2  </a:t>
            </a:r>
            <a:r>
              <a:rPr lang="zh-CN" altLang="en-US" u="sng" dirty="0"/>
              <a:t>单表查询</a:t>
            </a:r>
            <a:endParaRPr lang="zh-CN" altLang="en-US" u="sng" dirty="0"/>
          </a:p>
        </p:txBody>
      </p:sp>
      <p:sp>
        <p:nvSpPr>
          <p:cNvPr id="87044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56388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33] </a:t>
            </a:r>
            <a:r>
              <a:rPr lang="zh-CN" altLang="en-US" dirty="0">
                <a:solidFill>
                  <a:schemeClr val="tx1"/>
                </a:solidFill>
              </a:rPr>
              <a:t>求女生的总人数。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 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>
                <a:solidFill>
                  <a:schemeClr val="tx1"/>
                </a:solidFill>
              </a:rPr>
              <a:t>      </a:t>
            </a:r>
            <a:r>
              <a:rPr lang="en-US" altLang="zh-CN" i="1" dirty="0">
                <a:solidFill>
                  <a:srgbClr val="FF0000"/>
                </a:solidFill>
              </a:rPr>
              <a:t>count</a:t>
            </a:r>
            <a:r>
              <a:rPr lang="en-US" altLang="zh-CN" i="1" dirty="0">
                <a:solidFill>
                  <a:schemeClr val="tx1"/>
                </a:solidFill>
              </a:rPr>
              <a:t>(*)</a:t>
            </a:r>
            <a:endParaRPr lang="en-US" altLang="zh-CN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		  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      Student</a:t>
            </a:r>
            <a:endParaRPr lang="en-US" altLang="zh-CN" sz="3200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       </a:t>
            </a:r>
            <a:r>
              <a:rPr lang="en-US" altLang="zh-CN" sz="3200" i="1" dirty="0">
                <a:solidFill>
                  <a:schemeClr val="accent2"/>
                </a:solidFill>
              </a:rPr>
              <a:t>where</a:t>
            </a:r>
            <a:r>
              <a:rPr lang="en-US" altLang="zh-CN" sz="3200" i="1" dirty="0"/>
              <a:t>     ssex = </a:t>
            </a:r>
            <a:r>
              <a:rPr lang="en-US" altLang="zh-CN" sz="3200" i="1" dirty="0">
                <a:solidFill>
                  <a:srgbClr val="FF0000"/>
                </a:solidFill>
              </a:rPr>
              <a:t>‘1’</a:t>
            </a:r>
            <a:endParaRPr lang="en-US" altLang="zh-CN" sz="3200" i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34] </a:t>
            </a:r>
            <a:r>
              <a:rPr lang="zh-CN" altLang="en-US" dirty="0">
                <a:solidFill>
                  <a:schemeClr val="tx1"/>
                </a:solidFill>
              </a:rPr>
              <a:t>求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号课程的学生平均成绩。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 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>
                <a:solidFill>
                  <a:schemeClr val="tx1"/>
                </a:solidFill>
              </a:rPr>
              <a:t>      </a:t>
            </a:r>
            <a:r>
              <a:rPr lang="en-US" altLang="zh-CN" i="1" dirty="0">
                <a:solidFill>
                  <a:srgbClr val="FF0000"/>
                </a:solidFill>
              </a:rPr>
              <a:t>avg</a:t>
            </a:r>
            <a:r>
              <a:rPr lang="en-US" altLang="zh-CN" i="1" dirty="0">
                <a:solidFill>
                  <a:schemeClr val="tx1"/>
                </a:solidFill>
              </a:rPr>
              <a:t>(grade)</a:t>
            </a:r>
            <a:endParaRPr lang="en-US" altLang="zh-CN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		  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      SC</a:t>
            </a:r>
            <a:endParaRPr lang="en-US" altLang="zh-CN" sz="3200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      </a:t>
            </a:r>
            <a:r>
              <a:rPr lang="en-US" altLang="zh-CN" sz="3200" i="1" dirty="0">
                <a:solidFill>
                  <a:schemeClr val="accent2"/>
                </a:solidFill>
              </a:rPr>
              <a:t> where</a:t>
            </a:r>
            <a:r>
              <a:rPr lang="en-US" altLang="zh-CN" sz="3200" i="1" dirty="0"/>
              <a:t>     Cno=</a:t>
            </a:r>
            <a:r>
              <a:rPr lang="en-US" altLang="zh-CN" sz="3200" i="1" dirty="0">
                <a:solidFill>
                  <a:srgbClr val="FF0000"/>
                </a:solidFill>
              </a:rPr>
              <a:t>‘1’</a:t>
            </a:r>
            <a:r>
              <a:rPr lang="en-US" altLang="zh-CN" sz="3200" i="1" dirty="0"/>
              <a:t> </a:t>
            </a:r>
            <a:endParaRPr lang="en-US" altLang="zh-CN" sz="32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charRg st="120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charRg st="155" end="1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charRg st="174" end="2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8806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3.3.2  </a:t>
            </a:r>
            <a:r>
              <a:rPr lang="zh-CN" altLang="en-US" u="sng" dirty="0"/>
              <a:t>单表查询</a:t>
            </a:r>
            <a:endParaRPr lang="zh-CN" altLang="en-US" u="sng" dirty="0"/>
          </a:p>
        </p:txBody>
      </p:sp>
      <p:sp>
        <p:nvSpPr>
          <p:cNvPr id="88068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56388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35]  </a:t>
            </a:r>
            <a:r>
              <a:rPr lang="zh-CN" altLang="en-US" dirty="0">
                <a:solidFill>
                  <a:schemeClr val="tx1"/>
                </a:solidFill>
              </a:rPr>
              <a:t>求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号课程的最高成绩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i="1" dirty="0">
                <a:solidFill>
                  <a:schemeClr val="tx1"/>
                </a:solidFill>
              </a:rPr>
              <a:t>     	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>
                <a:solidFill>
                  <a:schemeClr val="tx1"/>
                </a:solidFill>
              </a:rPr>
              <a:t>      </a:t>
            </a:r>
            <a:r>
              <a:rPr lang="en-US" altLang="zh-CN" i="1" dirty="0"/>
              <a:t>MAX</a:t>
            </a:r>
            <a:r>
              <a:rPr lang="en-US" altLang="zh-CN" i="1" dirty="0">
                <a:solidFill>
                  <a:schemeClr val="tx1"/>
                </a:solidFill>
              </a:rPr>
              <a:t>(Grade)</a:t>
            </a:r>
            <a:endParaRPr lang="en-US" altLang="zh-CN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		 </a:t>
            </a:r>
            <a:r>
              <a:rPr lang="en-US" altLang="zh-CN" sz="3200" i="1" dirty="0">
                <a:solidFill>
                  <a:schemeClr val="accent2"/>
                </a:solidFill>
              </a:rPr>
              <a:t>from</a:t>
            </a:r>
            <a:r>
              <a:rPr lang="en-US" altLang="zh-CN" sz="3200" i="1" dirty="0"/>
              <a:t>       SC </a:t>
            </a:r>
            <a:endParaRPr lang="en-US" altLang="zh-CN" sz="3200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		</a:t>
            </a:r>
            <a:r>
              <a:rPr lang="en-US" altLang="zh-CN" sz="3200" i="1" dirty="0">
                <a:solidFill>
                  <a:schemeClr val="accent2"/>
                </a:solidFill>
              </a:rPr>
              <a:t>where</a:t>
            </a:r>
            <a:r>
              <a:rPr lang="en-US" altLang="zh-CN" sz="3200" i="1" dirty="0"/>
              <a:t>     Cno = </a:t>
            </a:r>
            <a:r>
              <a:rPr lang="en-US" altLang="zh-CN" sz="3200" i="1" dirty="0">
                <a:solidFill>
                  <a:srgbClr val="FF0000"/>
                </a:solidFill>
              </a:rPr>
              <a:t>‘1’</a:t>
            </a:r>
            <a:br>
              <a:rPr lang="en-US" altLang="zh-CN" sz="3200" i="1" dirty="0">
                <a:solidFill>
                  <a:srgbClr val="FF0000"/>
                </a:solidFill>
              </a:rPr>
            </a:br>
            <a:endParaRPr lang="en-US" altLang="zh-CN" sz="32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charRg st="18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charRg st="47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charRg st="65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8909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3.3.2  </a:t>
            </a:r>
            <a:r>
              <a:rPr lang="zh-CN" altLang="en-US" u="sng" dirty="0"/>
              <a:t>单表查询</a:t>
            </a:r>
            <a:endParaRPr lang="zh-CN" altLang="en-US" u="sng" dirty="0"/>
          </a:p>
        </p:txBody>
      </p:sp>
      <p:sp>
        <p:nvSpPr>
          <p:cNvPr id="89092" name="Rectangle 3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54102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>
                <a:schemeClr val="accent2"/>
              </a:buClr>
            </a:pPr>
            <a:r>
              <a:rPr lang="zh-CN" altLang="en-US" dirty="0">
                <a:solidFill>
                  <a:schemeClr val="tx1"/>
                </a:solidFill>
              </a:rPr>
              <a:t>对查询结果分组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i="1" dirty="0">
                <a:solidFill>
                  <a:schemeClr val="accent2"/>
                </a:solidFill>
              </a:rPr>
              <a:t>Group by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35] </a:t>
            </a:r>
            <a:r>
              <a:rPr lang="zh-CN" altLang="en-US" sz="2800" dirty="0">
                <a:solidFill>
                  <a:schemeClr val="tx1"/>
                </a:solidFill>
              </a:rPr>
              <a:t>列出每门课程号及相应的选修人数，按选修人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     数的多少，从高到低排序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br>
              <a:rPr lang="zh-CN" altLang="en-US" sz="2800" b="0" dirty="0">
                <a:solidFill>
                  <a:schemeClr val="tx1"/>
                </a:solidFill>
              </a:rPr>
            </a:br>
            <a:r>
              <a:rPr lang="zh-CN" altLang="en-US" i="1" dirty="0">
                <a:solidFill>
                  <a:schemeClr val="tx1"/>
                </a:solidFill>
              </a:rPr>
              <a:t>	   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>
                <a:solidFill>
                  <a:schemeClr val="tx1"/>
                </a:solidFill>
              </a:rPr>
              <a:t>      Cno, </a:t>
            </a:r>
            <a:r>
              <a:rPr lang="en-US" altLang="zh-CN" i="1" dirty="0"/>
              <a:t>Count</a:t>
            </a:r>
            <a:r>
              <a:rPr lang="en-US" altLang="zh-CN" i="1" dirty="0">
                <a:solidFill>
                  <a:schemeClr val="tx1"/>
                </a:solidFill>
              </a:rPr>
              <a:t>(Sno)</a:t>
            </a:r>
            <a:endParaRPr lang="en-US" altLang="zh-CN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i="1" dirty="0"/>
              <a:t>            </a:t>
            </a:r>
            <a:r>
              <a:rPr lang="en-US" altLang="zh-CN" i="1" dirty="0">
                <a:solidFill>
                  <a:schemeClr val="accent2"/>
                </a:solidFill>
              </a:rPr>
              <a:t>from</a:t>
            </a:r>
            <a:r>
              <a:rPr lang="en-US" altLang="zh-CN" i="1" dirty="0"/>
              <a:t>       SC </a:t>
            </a:r>
            <a:endParaRPr lang="en-US" altLang="zh-CN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		  </a:t>
            </a:r>
            <a:r>
              <a:rPr lang="en-US" altLang="zh-CN" sz="3200" i="1" dirty="0">
                <a:solidFill>
                  <a:schemeClr val="accent2"/>
                </a:solidFill>
              </a:rPr>
              <a:t>group   by</a:t>
            </a:r>
            <a:r>
              <a:rPr lang="en-US" altLang="zh-CN" sz="3200" i="1" dirty="0"/>
              <a:t>   Cno </a:t>
            </a:r>
            <a:br>
              <a:rPr lang="en-US" altLang="zh-CN" sz="3200" i="1" dirty="0"/>
            </a:br>
            <a:r>
              <a:rPr lang="en-US" altLang="zh-CN" sz="3200" i="1" dirty="0"/>
              <a:t>    </a:t>
            </a:r>
            <a:r>
              <a:rPr lang="en-US" altLang="zh-CN" sz="3200" i="1" dirty="0">
                <a:solidFill>
                  <a:schemeClr val="accent2"/>
                </a:solidFill>
              </a:rPr>
              <a:t>order   by  </a:t>
            </a:r>
            <a:r>
              <a:rPr lang="en-US" altLang="zh-CN" sz="3200" i="1" dirty="0"/>
              <a:t> </a:t>
            </a:r>
            <a:r>
              <a:rPr lang="en-US" altLang="zh-CN" sz="3200" i="1" dirty="0">
                <a:solidFill>
                  <a:srgbClr val="FF0000"/>
                </a:solidFill>
              </a:rPr>
              <a:t>Count</a:t>
            </a:r>
            <a:r>
              <a:rPr lang="en-US" altLang="zh-CN" sz="3200" i="1" dirty="0"/>
              <a:t>(Sno)</a:t>
            </a:r>
            <a:r>
              <a:rPr lang="en-US" altLang="zh-CN" sz="3200" i="1" dirty="0">
                <a:solidFill>
                  <a:schemeClr val="accent2"/>
                </a:solidFill>
              </a:rPr>
              <a:t>   Desc</a:t>
            </a:r>
            <a:endParaRPr lang="en-US" altLang="zh-CN" sz="3200" i="1" dirty="0">
              <a:solidFill>
                <a:schemeClr val="accent2"/>
              </a:solidFill>
            </a:endParaRPr>
          </a:p>
        </p:txBody>
      </p:sp>
      <p:graphicFrame>
        <p:nvGraphicFramePr>
          <p:cNvPr id="647172" name="Group 4"/>
          <p:cNvGraphicFramePr>
            <a:graphicFrameLocks noGrp="1"/>
          </p:cNvGraphicFramePr>
          <p:nvPr/>
        </p:nvGraphicFramePr>
        <p:xfrm>
          <a:off x="6324600" y="2438400"/>
          <a:ext cx="2378075" cy="1936750"/>
        </p:xfrm>
        <a:graphic>
          <a:graphicData uri="http://schemas.openxmlformats.org/drawingml/2006/table">
            <a:tbl>
              <a:tblPr/>
              <a:tblGrid>
                <a:gridCol w="1327150"/>
                <a:gridCol w="1050925"/>
              </a:tblGrid>
              <a:tr h="180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Cno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5492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48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730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90115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3.3.2  </a:t>
            </a:r>
            <a:r>
              <a:rPr lang="zh-CN" altLang="en-US" u="sng" dirty="0"/>
              <a:t>单表查询</a:t>
            </a:r>
            <a:endParaRPr lang="zh-CN" altLang="en-US" u="sng" dirty="0"/>
          </a:p>
        </p:txBody>
      </p:sp>
      <p:sp>
        <p:nvSpPr>
          <p:cNvPr id="90116" name="Rectangle 3"/>
          <p:cNvSpPr>
            <a:spLocks noGrp="1"/>
          </p:cNvSpPr>
          <p:nvPr>
            <p:ph idx="1"/>
          </p:nvPr>
        </p:nvSpPr>
        <p:spPr>
          <a:xfrm>
            <a:off x="152400" y="990600"/>
            <a:ext cx="8686800" cy="4419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36]  </a:t>
            </a:r>
            <a:r>
              <a:rPr lang="zh-CN" altLang="en-US" dirty="0">
                <a:solidFill>
                  <a:schemeClr val="tx1"/>
                </a:solidFill>
              </a:rPr>
              <a:t>列出选修了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门课以上的学生学号。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br>
              <a:rPr lang="zh-CN" altLang="en-US" sz="2800" dirty="0">
                <a:solidFill>
                  <a:schemeClr val="tx1"/>
                </a:solidFill>
              </a:rPr>
            </a:br>
            <a:r>
              <a:rPr lang="zh-CN" altLang="en-US" sz="2800" b="0" i="1" dirty="0">
                <a:solidFill>
                  <a:schemeClr val="tx1"/>
                </a:solidFill>
              </a:rPr>
              <a:t>	    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>
                <a:solidFill>
                  <a:schemeClr val="tx1"/>
                </a:solidFill>
              </a:rPr>
              <a:t>      Sno</a:t>
            </a:r>
            <a:endParaRPr lang="en-US" altLang="zh-CN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   from   </a:t>
            </a:r>
            <a:r>
              <a:rPr lang="en-US" altLang="zh-CN" i="1" dirty="0">
                <a:solidFill>
                  <a:schemeClr val="tx1"/>
                </a:solidFill>
              </a:rPr>
              <a:t>SC</a:t>
            </a:r>
            <a:endParaRPr lang="en-US" altLang="zh-CN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tx1"/>
                </a:solidFill>
              </a:rPr>
              <a:t>            </a:t>
            </a:r>
            <a:r>
              <a:rPr lang="en-US" altLang="zh-CN" i="1" dirty="0">
                <a:solidFill>
                  <a:schemeClr val="accent2"/>
                </a:solidFill>
              </a:rPr>
              <a:t>group  by</a:t>
            </a:r>
            <a:r>
              <a:rPr lang="en-US" altLang="zh-CN" i="1" dirty="0">
                <a:solidFill>
                  <a:schemeClr val="tx1"/>
                </a:solidFill>
              </a:rPr>
              <a:t>  Sno </a:t>
            </a:r>
            <a:endParaRPr lang="en-US" altLang="zh-CN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		   </a:t>
            </a:r>
            <a:r>
              <a:rPr lang="en-US" altLang="zh-CN" sz="3200" i="1" dirty="0">
                <a:solidFill>
                  <a:schemeClr val="accent2"/>
                </a:solidFill>
              </a:rPr>
              <a:t>having</a:t>
            </a:r>
            <a:r>
              <a:rPr lang="en-US" altLang="zh-CN" sz="3200" i="1" dirty="0"/>
              <a:t>   </a:t>
            </a:r>
            <a:r>
              <a:rPr lang="en-US" altLang="zh-CN" sz="3200" i="1" dirty="0">
                <a:solidFill>
                  <a:srgbClr val="FF3300"/>
                </a:solidFill>
              </a:rPr>
              <a:t>count</a:t>
            </a:r>
            <a:r>
              <a:rPr lang="en-US" altLang="zh-CN" sz="3200" i="1" dirty="0"/>
              <a:t>(*) &gt; 3</a:t>
            </a:r>
            <a:endParaRPr lang="en-US" altLang="zh-CN" sz="3200" i="1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91139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3.3.2  </a:t>
            </a:r>
            <a:r>
              <a:rPr lang="zh-CN" altLang="en-US" u="sng" dirty="0"/>
              <a:t>单表查询</a:t>
            </a:r>
            <a:endParaRPr lang="zh-CN" altLang="en-US" u="sng" dirty="0"/>
          </a:p>
        </p:txBody>
      </p:sp>
      <p:sp>
        <p:nvSpPr>
          <p:cNvPr id="91140" name="Rectangle 3"/>
          <p:cNvSpPr>
            <a:spLocks noGrp="1"/>
          </p:cNvSpPr>
          <p:nvPr>
            <p:ph idx="1"/>
          </p:nvPr>
        </p:nvSpPr>
        <p:spPr>
          <a:xfrm>
            <a:off x="152400" y="990600"/>
            <a:ext cx="8686800" cy="58674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37] </a:t>
            </a:r>
            <a:r>
              <a:rPr lang="zh-CN" altLang="en-US" dirty="0">
                <a:solidFill>
                  <a:schemeClr val="tx1"/>
                </a:solidFill>
              </a:rPr>
              <a:t>查询至少有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门课程成绩在</a:t>
            </a:r>
            <a:r>
              <a:rPr lang="en-US" altLang="zh-CN" dirty="0">
                <a:solidFill>
                  <a:schemeClr val="tx1"/>
                </a:solidFill>
              </a:rPr>
              <a:t>90</a:t>
            </a:r>
            <a:r>
              <a:rPr lang="zh-CN" altLang="en-US" dirty="0">
                <a:solidFill>
                  <a:schemeClr val="tx1"/>
                </a:solidFill>
              </a:rPr>
              <a:t>分以上的学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 生的学号及（</a:t>
            </a:r>
            <a:r>
              <a:rPr lang="en-US" altLang="zh-CN" dirty="0">
                <a:solidFill>
                  <a:schemeClr val="tx1"/>
                </a:solidFill>
              </a:rPr>
              <a:t>90</a:t>
            </a:r>
            <a:r>
              <a:rPr lang="zh-CN" altLang="en-US" dirty="0">
                <a:solidFill>
                  <a:schemeClr val="tx1"/>
                </a:solidFill>
              </a:rPr>
              <a:t>分以上的）课程数。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i="1" dirty="0">
                <a:solidFill>
                  <a:schemeClr val="tx1"/>
                </a:solidFill>
              </a:rPr>
              <a:t> 	          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>
                <a:solidFill>
                  <a:schemeClr val="tx1"/>
                </a:solidFill>
              </a:rPr>
              <a:t>      Sno, </a:t>
            </a:r>
            <a:r>
              <a:rPr lang="en-US" altLang="zh-CN" i="1" dirty="0">
                <a:solidFill>
                  <a:srgbClr val="FF0000"/>
                </a:solidFill>
              </a:rPr>
              <a:t>count</a:t>
            </a:r>
            <a:r>
              <a:rPr lang="en-US" altLang="zh-CN" i="1" dirty="0">
                <a:solidFill>
                  <a:schemeClr val="tx1"/>
                </a:solidFill>
              </a:rPr>
              <a:t>(*)</a:t>
            </a:r>
            <a:endParaRPr lang="en-US" altLang="zh-CN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   from   </a:t>
            </a:r>
            <a:r>
              <a:rPr lang="en-US" altLang="zh-CN" i="1" dirty="0">
                <a:solidFill>
                  <a:schemeClr val="tx1"/>
                </a:solidFill>
              </a:rPr>
              <a:t>SC</a:t>
            </a:r>
            <a:endParaRPr lang="en-US" altLang="zh-CN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tx1"/>
                </a:solidFill>
              </a:rPr>
              <a:t>            </a:t>
            </a:r>
            <a:r>
              <a:rPr lang="en-US" altLang="zh-CN" i="1" dirty="0">
                <a:solidFill>
                  <a:schemeClr val="accent2"/>
                </a:solidFill>
              </a:rPr>
              <a:t>where</a:t>
            </a:r>
            <a:r>
              <a:rPr lang="en-US" altLang="zh-CN" i="1" dirty="0">
                <a:solidFill>
                  <a:schemeClr val="tx1"/>
                </a:solidFill>
              </a:rPr>
              <a:t>  grade &gt; =90</a:t>
            </a:r>
            <a:endParaRPr lang="en-US" altLang="zh-CN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tx1"/>
                </a:solidFill>
              </a:rPr>
              <a:t>            </a:t>
            </a:r>
            <a:r>
              <a:rPr lang="en-US" altLang="zh-CN" i="1" dirty="0">
                <a:solidFill>
                  <a:schemeClr val="accent2"/>
                </a:solidFill>
              </a:rPr>
              <a:t>group  by</a:t>
            </a:r>
            <a:r>
              <a:rPr lang="en-US" altLang="zh-CN" i="1" dirty="0">
                <a:solidFill>
                  <a:schemeClr val="tx1"/>
                </a:solidFill>
              </a:rPr>
              <a:t>  Sno </a:t>
            </a:r>
            <a:endParaRPr lang="en-US" altLang="zh-CN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		   </a:t>
            </a:r>
            <a:r>
              <a:rPr lang="en-US" altLang="zh-CN" sz="3200" i="1" dirty="0">
                <a:solidFill>
                  <a:schemeClr val="accent2"/>
                </a:solidFill>
              </a:rPr>
              <a:t>having</a:t>
            </a:r>
            <a:r>
              <a:rPr lang="en-US" altLang="zh-CN" sz="3200" i="1" dirty="0"/>
              <a:t>   </a:t>
            </a:r>
            <a:r>
              <a:rPr lang="en-US" altLang="zh-CN" sz="3200" i="1" dirty="0">
                <a:solidFill>
                  <a:srgbClr val="FF3300"/>
                </a:solidFill>
              </a:rPr>
              <a:t>count</a:t>
            </a:r>
            <a:r>
              <a:rPr lang="en-US" altLang="zh-CN" sz="3200" i="1" dirty="0"/>
              <a:t>(*) &gt; 3</a:t>
            </a:r>
            <a:endParaRPr lang="en-US" altLang="zh-CN" sz="3200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sz="3200" i="1" dirty="0"/>
              <a:t>问：查询三门课以上不及格的学生呢？</a:t>
            </a:r>
            <a:endParaRPr lang="zh-CN" altLang="en-US" sz="32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charRg st="56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charRg st="94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charRg st="117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charRg st="148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charRg st="176" end="2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charRg st="203" end="2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92163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3.3.2  </a:t>
            </a:r>
            <a:r>
              <a:rPr lang="zh-CN" altLang="en-US" u="sng" dirty="0"/>
              <a:t>单表查询</a:t>
            </a:r>
            <a:endParaRPr lang="zh-CN" altLang="en-US" u="sng" dirty="0"/>
          </a:p>
        </p:txBody>
      </p:sp>
      <p:sp>
        <p:nvSpPr>
          <p:cNvPr id="92164" name="Rectangle 3"/>
          <p:cNvSpPr>
            <a:spLocks noGrp="1"/>
          </p:cNvSpPr>
          <p:nvPr>
            <p:ph idx="1"/>
          </p:nvPr>
        </p:nvSpPr>
        <p:spPr>
          <a:xfrm>
            <a:off x="152400" y="990600"/>
            <a:ext cx="8686800" cy="41910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>
                <a:srgbClr val="FF0000"/>
              </a:buClr>
            </a:pPr>
            <a:r>
              <a:rPr lang="en-US" altLang="zh-CN" sz="3600" i="1" dirty="0">
                <a:solidFill>
                  <a:schemeClr val="accent2"/>
                </a:solidFill>
                <a:latin typeface="Arial" panose="020B0604020202020204" pitchFamily="34" charset="0"/>
              </a:rPr>
              <a:t>Where</a:t>
            </a:r>
            <a:r>
              <a:rPr lang="zh-CN" altLang="en-US" sz="3600" dirty="0">
                <a:solidFill>
                  <a:srgbClr val="FF0000"/>
                </a:solidFill>
              </a:rPr>
              <a:t>与</a:t>
            </a:r>
            <a:r>
              <a:rPr lang="en-US" altLang="zh-CN" sz="3600" i="1" dirty="0">
                <a:solidFill>
                  <a:schemeClr val="accent2"/>
                </a:solidFill>
                <a:latin typeface="Arial" panose="020B0604020202020204" pitchFamily="34" charset="0"/>
              </a:rPr>
              <a:t>having</a:t>
            </a:r>
            <a:endParaRPr lang="en-US" altLang="zh-CN" sz="3600" i="1" dirty="0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20000"/>
              </a:lnSpc>
              <a:buClr>
                <a:schemeClr val="accent2"/>
              </a:buClr>
            </a:pP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WHERE</a:t>
            </a:r>
            <a:r>
              <a:rPr lang="zh-CN" altLang="en-US" dirty="0">
                <a:solidFill>
                  <a:schemeClr val="tx1"/>
                </a:solidFill>
              </a:rPr>
              <a:t>子句作用于基表或视图，从中选择满足条件的元组。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10000"/>
              </a:lnSpc>
              <a:buClr>
                <a:schemeClr val="accent2"/>
              </a:buClr>
            </a:pP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HAVING</a:t>
            </a:r>
            <a:r>
              <a:rPr lang="zh-CN" altLang="en-US" dirty="0">
                <a:solidFill>
                  <a:schemeClr val="tx1"/>
                </a:solidFill>
              </a:rPr>
              <a:t>短语作用于组，从中选择满足条件的组，它总是跟集函数相关</a:t>
            </a:r>
            <a:r>
              <a:rPr lang="zh-CN" altLang="en-US" sz="3600" dirty="0">
                <a:solidFill>
                  <a:schemeClr val="tx1"/>
                </a:solidFill>
              </a:rPr>
              <a:t>。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93187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3.3.2  </a:t>
            </a:r>
            <a:r>
              <a:rPr lang="zh-CN" altLang="en-US" u="sng" dirty="0"/>
              <a:t>单表查询</a:t>
            </a:r>
            <a:endParaRPr lang="zh-CN" altLang="en-US" u="sng" dirty="0"/>
          </a:p>
        </p:txBody>
      </p:sp>
      <p:sp>
        <p:nvSpPr>
          <p:cNvPr id="93188" name="Rectangle 3"/>
          <p:cNvSpPr>
            <a:spLocks noGrp="1"/>
          </p:cNvSpPr>
          <p:nvPr>
            <p:ph idx="1"/>
          </p:nvPr>
        </p:nvSpPr>
        <p:spPr>
          <a:xfrm>
            <a:off x="152400" y="990600"/>
            <a:ext cx="8686800" cy="5181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38] </a:t>
            </a:r>
            <a:r>
              <a:rPr lang="zh-CN" altLang="en-US" dirty="0">
                <a:solidFill>
                  <a:schemeClr val="tx1"/>
                </a:solidFill>
              </a:rPr>
              <a:t>列出平均成绩在</a:t>
            </a:r>
            <a:r>
              <a:rPr lang="en-US" altLang="zh-CN" dirty="0">
                <a:solidFill>
                  <a:schemeClr val="tx1"/>
                </a:solidFill>
              </a:rPr>
              <a:t>80</a:t>
            </a:r>
            <a:r>
              <a:rPr lang="zh-CN" altLang="en-US" dirty="0">
                <a:solidFill>
                  <a:schemeClr val="tx1"/>
                </a:solidFill>
              </a:rPr>
              <a:t>分以上的学生学号及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平均成绩，并按平均成绩从高到低排序。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i="1" dirty="0">
                <a:solidFill>
                  <a:schemeClr val="tx1"/>
                </a:solidFill>
              </a:rPr>
              <a:t>	          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>
                <a:solidFill>
                  <a:schemeClr val="tx1"/>
                </a:solidFill>
              </a:rPr>
              <a:t>      Sno, </a:t>
            </a:r>
            <a:r>
              <a:rPr lang="en-US" altLang="zh-CN" i="1" dirty="0">
                <a:solidFill>
                  <a:srgbClr val="FF0000"/>
                </a:solidFill>
              </a:rPr>
              <a:t>avg</a:t>
            </a:r>
            <a:r>
              <a:rPr lang="en-US" altLang="zh-CN" i="1" dirty="0">
                <a:solidFill>
                  <a:schemeClr val="tx1"/>
                </a:solidFill>
              </a:rPr>
              <a:t>(grade)</a:t>
            </a:r>
            <a:endParaRPr lang="en-US" altLang="zh-CN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   from   </a:t>
            </a:r>
            <a:r>
              <a:rPr lang="en-US" altLang="zh-CN" i="1" dirty="0">
                <a:solidFill>
                  <a:schemeClr val="tx1"/>
                </a:solidFill>
              </a:rPr>
              <a:t>SC</a:t>
            </a:r>
            <a:endParaRPr lang="en-US" altLang="zh-CN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   group  by</a:t>
            </a:r>
            <a:r>
              <a:rPr lang="en-US" altLang="zh-CN" i="1" dirty="0">
                <a:solidFill>
                  <a:schemeClr val="tx1"/>
                </a:solidFill>
              </a:rPr>
              <a:t>  Sno </a:t>
            </a:r>
            <a:endParaRPr lang="en-US" altLang="zh-CN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/>
              <a:t>		   </a:t>
            </a:r>
            <a:r>
              <a:rPr lang="en-US" altLang="zh-CN" sz="3200" i="1" dirty="0">
                <a:solidFill>
                  <a:schemeClr val="accent2"/>
                </a:solidFill>
              </a:rPr>
              <a:t>having</a:t>
            </a:r>
            <a:r>
              <a:rPr lang="en-US" altLang="zh-CN" sz="3200" i="1" dirty="0"/>
              <a:t>   </a:t>
            </a:r>
            <a:r>
              <a:rPr lang="en-US" altLang="zh-CN" sz="3200" i="1" dirty="0">
                <a:solidFill>
                  <a:srgbClr val="FF3300"/>
                </a:solidFill>
              </a:rPr>
              <a:t>avg</a:t>
            </a:r>
            <a:r>
              <a:rPr lang="en-US" altLang="zh-CN" sz="3200" i="1" dirty="0"/>
              <a:t>(grade) &gt;=80</a:t>
            </a:r>
            <a:endParaRPr lang="en-US" altLang="zh-CN" sz="3200" i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</a:t>
            </a:r>
            <a:r>
              <a:rPr lang="en-US" altLang="zh-CN" sz="3200" i="1" dirty="0">
                <a:solidFill>
                  <a:schemeClr val="accent2"/>
                </a:solidFill>
              </a:rPr>
              <a:t>order  by</a:t>
            </a:r>
            <a:r>
              <a:rPr lang="en-US" altLang="zh-CN" sz="3200" i="1" dirty="0"/>
              <a:t>  </a:t>
            </a:r>
            <a:r>
              <a:rPr lang="en-US" altLang="zh-CN" sz="3200" i="1" dirty="0">
                <a:solidFill>
                  <a:srgbClr val="FF3300"/>
                </a:solidFill>
              </a:rPr>
              <a:t>avg</a:t>
            </a:r>
            <a:r>
              <a:rPr lang="en-US" altLang="zh-CN" sz="3200" i="1" dirty="0"/>
              <a:t>(grade)  </a:t>
            </a:r>
            <a:r>
              <a:rPr lang="en-US" altLang="zh-CN" sz="3200" i="1" dirty="0">
                <a:solidFill>
                  <a:schemeClr val="accent2"/>
                </a:solidFill>
              </a:rPr>
              <a:t>desc</a:t>
            </a:r>
            <a:endParaRPr lang="en-US" altLang="zh-CN" sz="3200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1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94211" name="Rectangle 2"/>
          <p:cNvSpPr>
            <a:spLocks noGrp="1"/>
          </p:cNvSpPr>
          <p:nvPr>
            <p:ph type="title"/>
          </p:nvPr>
        </p:nvSpPr>
        <p:spPr>
          <a:xfrm>
            <a:off x="1295400" y="0"/>
            <a:ext cx="76200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3.3.2  </a:t>
            </a:r>
            <a:r>
              <a:rPr lang="zh-CN" altLang="en-US" u="sng" dirty="0"/>
              <a:t>单表查询</a:t>
            </a:r>
            <a:endParaRPr lang="zh-CN" altLang="en-US" u="sng" dirty="0"/>
          </a:p>
        </p:txBody>
      </p:sp>
      <p:sp>
        <p:nvSpPr>
          <p:cNvPr id="94212" name="Rectangle 3"/>
          <p:cNvSpPr>
            <a:spLocks noGrp="1"/>
          </p:cNvSpPr>
          <p:nvPr>
            <p:ph idx="1"/>
          </p:nvPr>
        </p:nvSpPr>
        <p:spPr>
          <a:xfrm>
            <a:off x="152400" y="990600"/>
            <a:ext cx="8686800" cy="54102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[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39] </a:t>
            </a:r>
            <a:r>
              <a:rPr lang="zh-CN" altLang="en-US" dirty="0">
                <a:solidFill>
                  <a:schemeClr val="tx1"/>
                </a:solidFill>
              </a:rPr>
              <a:t>列出每门课程的平均成绩，并按平均成绩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从高到低排序。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400" i="1" dirty="0">
                <a:solidFill>
                  <a:schemeClr val="tx1"/>
                </a:solidFill>
              </a:rPr>
              <a:t>	          </a:t>
            </a:r>
            <a:r>
              <a:rPr lang="en-US" altLang="zh-CN" i="1" dirty="0">
                <a:solidFill>
                  <a:schemeClr val="accent2"/>
                </a:solidFill>
              </a:rPr>
              <a:t>select</a:t>
            </a:r>
            <a:r>
              <a:rPr lang="en-US" altLang="zh-CN" i="1" dirty="0">
                <a:solidFill>
                  <a:schemeClr val="tx1"/>
                </a:solidFill>
              </a:rPr>
              <a:t>      Cno, </a:t>
            </a:r>
            <a:r>
              <a:rPr lang="en-US" altLang="zh-CN" i="1" dirty="0">
                <a:solidFill>
                  <a:srgbClr val="FF0000"/>
                </a:solidFill>
              </a:rPr>
              <a:t>avg</a:t>
            </a:r>
            <a:r>
              <a:rPr lang="en-US" altLang="zh-CN" i="1" dirty="0">
                <a:solidFill>
                  <a:schemeClr val="tx1"/>
                </a:solidFill>
              </a:rPr>
              <a:t>(grade)</a:t>
            </a:r>
            <a:endParaRPr lang="en-US" altLang="zh-CN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  from   </a:t>
            </a:r>
            <a:r>
              <a:rPr lang="en-US" altLang="zh-CN" i="1" dirty="0">
                <a:solidFill>
                  <a:schemeClr val="tx1"/>
                </a:solidFill>
              </a:rPr>
              <a:t>SC</a:t>
            </a:r>
            <a:endParaRPr lang="en-US" altLang="zh-CN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i="1" dirty="0">
                <a:solidFill>
                  <a:schemeClr val="accent2"/>
                </a:solidFill>
              </a:rPr>
              <a:t>           group  by</a:t>
            </a:r>
            <a:r>
              <a:rPr lang="en-US" altLang="zh-CN" i="1" dirty="0">
                <a:solidFill>
                  <a:schemeClr val="tx1"/>
                </a:solidFill>
              </a:rPr>
              <a:t>  Cno </a:t>
            </a:r>
            <a:endParaRPr lang="en-US" altLang="zh-CN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3200" i="1" dirty="0">
                <a:solidFill>
                  <a:schemeClr val="accent2"/>
                </a:solidFill>
              </a:rPr>
              <a:t>      order  by</a:t>
            </a:r>
            <a:r>
              <a:rPr lang="en-US" altLang="zh-CN" sz="3200" i="1" dirty="0"/>
              <a:t>  </a:t>
            </a:r>
            <a:r>
              <a:rPr lang="en-US" altLang="zh-CN" sz="3200" i="1" dirty="0">
                <a:solidFill>
                  <a:srgbClr val="FF3300"/>
                </a:solidFill>
              </a:rPr>
              <a:t>avg</a:t>
            </a:r>
            <a:r>
              <a:rPr lang="en-US" altLang="zh-CN" sz="3200" i="1" dirty="0"/>
              <a:t>(grade)  </a:t>
            </a:r>
            <a:r>
              <a:rPr lang="en-US" altLang="zh-CN" sz="3200" i="1" dirty="0">
                <a:solidFill>
                  <a:schemeClr val="accent2"/>
                </a:solidFill>
              </a:rPr>
              <a:t>desc</a:t>
            </a:r>
            <a:endParaRPr lang="en-US" altLang="zh-CN" sz="3200" i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i="1" dirty="0">
                <a:solidFill>
                  <a:srgbClr val="FF0000"/>
                </a:solidFill>
              </a:rPr>
              <a:t>    </a:t>
            </a:r>
            <a:r>
              <a:rPr lang="zh-CN" altLang="en-US" i="1" dirty="0">
                <a:solidFill>
                  <a:srgbClr val="FF0000"/>
                </a:solidFill>
              </a:rPr>
              <a:t>注</a:t>
            </a:r>
            <a:r>
              <a:rPr lang="zh-CN" altLang="en-US" i="1" dirty="0">
                <a:solidFill>
                  <a:srgbClr val="FF00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</a:rPr>
              <a:t>group by</a:t>
            </a:r>
            <a:r>
              <a:rPr lang="zh-CN" altLang="en-US" i="1" dirty="0">
                <a:solidFill>
                  <a:srgbClr val="FF0000"/>
                </a:solidFill>
                <a:latin typeface="宋体" panose="02010600030101010101" pitchFamily="2" charset="-122"/>
              </a:rPr>
              <a:t>之后的列表，必包含</a:t>
            </a:r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</a:rPr>
              <a:t>select</a:t>
            </a:r>
            <a:r>
              <a:rPr lang="zh-CN" altLang="en-US" i="1" dirty="0">
                <a:solidFill>
                  <a:srgbClr val="FF0000"/>
                </a:solidFill>
                <a:latin typeface="宋体" panose="02010600030101010101" pitchFamily="2" charset="-122"/>
              </a:rPr>
              <a:t>列表中除去集函数之后的列表</a:t>
            </a:r>
            <a:endParaRPr lang="zh-CN" altLang="en-US" i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charRg st="43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charRg st="82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charRg st="104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charRg st="131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charRg st="165" end="2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kylingray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33CC"/>
      </a:hlink>
      <a:folHlink>
        <a:srgbClr val="B2B2B2"/>
      </a:folHlink>
    </a:clrScheme>
    <a:fontScheme name="kylingray">
      <a:majorFont>
        <a:latin typeface="Times New Roman"/>
        <a:ea typeface="经典细隶书简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6600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6600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kylingray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ylingray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ylingray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ylingray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ylingray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ylingray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ylingray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kylingray</Template>
  <TotalTime>0</TotalTime>
  <Words>20437</Words>
  <Application>WPS Presentation</Application>
  <PresentationFormat>全屏显示(4:3)</PresentationFormat>
  <Paragraphs>1498</Paragraphs>
  <Slides>90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90</vt:i4>
      </vt:variant>
    </vt:vector>
  </HeadingPairs>
  <TitlesOfParts>
    <vt:vector size="109" baseType="lpstr">
      <vt:lpstr>Arial</vt:lpstr>
      <vt:lpstr>SimSun</vt:lpstr>
      <vt:lpstr>Wingdings</vt:lpstr>
      <vt:lpstr>Times New Roman</vt:lpstr>
      <vt:lpstr>宋体</vt:lpstr>
      <vt:lpstr>经典细隶书简</vt:lpstr>
      <vt:lpstr>隶书</vt:lpstr>
      <vt:lpstr>楷体_GB2312</vt:lpstr>
      <vt:lpstr>新宋体</vt:lpstr>
      <vt:lpstr>仿宋_GB2312</vt:lpstr>
      <vt:lpstr>仿宋</vt:lpstr>
      <vt:lpstr>Arial Narrow</vt:lpstr>
      <vt:lpstr>Courier New</vt:lpstr>
      <vt:lpstr>Tahoma</vt:lpstr>
      <vt:lpstr>Symbol</vt:lpstr>
      <vt:lpstr>黑体</vt:lpstr>
      <vt:lpstr>微软雅黑</vt:lpstr>
      <vt:lpstr>Arial Unicode MS</vt:lpstr>
      <vt:lpstr>kylingray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Workgroup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关系数据库的标准语言SQL</dc:title>
  <dc:creator>kylin</dc:creator>
  <cp:lastModifiedBy>nakanosan</cp:lastModifiedBy>
  <cp:revision>64</cp:revision>
  <dcterms:created xsi:type="dcterms:W3CDTF">2026-06-17T19:28:29Z</dcterms:created>
  <dcterms:modified xsi:type="dcterms:W3CDTF">2026-06-17T19:28:29Z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76952E639ABA50075DF5326AEA338866_43</vt:lpwstr>
  </property>
  <property fmtid="{D5CDD505-2E9C-101B-9397-08002B2CF9AE}" pid="3" name="KSOProductBuildVer">
    <vt:lpwstr>1033-12.1.2.26885</vt:lpwstr>
  </property>
</Properties>
</file>