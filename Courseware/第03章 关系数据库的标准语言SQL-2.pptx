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31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19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7" r:id="rId6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79" d="100"/>
          <a:sy n="79" d="100"/>
        </p:scale>
        <p:origin x="903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BCEECB-B57C-4317-BF9D-58A779BBA3F4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B002D0-C7AD-4F9C-9DCC-3263887F876A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E5BD9B-2A9D-437C-BC26-01AA2E5EC38B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B86F98-15CA-4609-8C76-14C0251F9E2B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3600" y="26289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398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概述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单表查询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3.3.3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连接查询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3.3.4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嵌套查询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3.3.5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集合查询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3.3.6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小结 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3.3   </a:t>
            </a:r>
            <a:r>
              <a:rPr lang="zh-CN" altLang="en-US" dirty="0"/>
              <a:t>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10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同时涉及多个表的查询称为连接查询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用来连接两个表的条件称为连接条件或连接谓词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一般格式：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[&lt;</a:t>
            </a:r>
            <a:r>
              <a:rPr lang="zh-CN" altLang="en-US" sz="2400" dirty="0">
                <a:solidFill>
                  <a:schemeClr val="tx1"/>
                </a:solidFill>
              </a:rPr>
              <a:t>表名</a:t>
            </a:r>
            <a:r>
              <a:rPr lang="en-US" altLang="zh-CN" sz="2400" dirty="0">
                <a:solidFill>
                  <a:schemeClr val="tx1"/>
                </a:solidFill>
              </a:rPr>
              <a:t>1&gt;.]&lt;</a:t>
            </a:r>
            <a:r>
              <a:rPr lang="zh-CN" altLang="en-US" sz="2400" dirty="0">
                <a:solidFill>
                  <a:schemeClr val="tx1"/>
                </a:solidFill>
              </a:rPr>
              <a:t>列名</a:t>
            </a:r>
            <a:r>
              <a:rPr lang="en-US" altLang="zh-CN" sz="2400" dirty="0">
                <a:solidFill>
                  <a:schemeClr val="tx1"/>
                </a:solidFill>
              </a:rPr>
              <a:t>1&gt;  &lt;</a:t>
            </a:r>
            <a:r>
              <a:rPr lang="zh-CN" altLang="en-US" sz="2400" dirty="0">
                <a:solidFill>
                  <a:schemeClr val="tx1"/>
                </a:solidFill>
              </a:rPr>
              <a:t>比较运算符</a:t>
            </a:r>
            <a:r>
              <a:rPr lang="en-US" altLang="zh-CN" sz="2400" dirty="0">
                <a:solidFill>
                  <a:schemeClr val="tx1"/>
                </a:solidFill>
              </a:rPr>
              <a:t>&gt;  [&lt;</a:t>
            </a:r>
            <a:r>
              <a:rPr lang="zh-CN" altLang="en-US" sz="2400" dirty="0">
                <a:solidFill>
                  <a:schemeClr val="tx1"/>
                </a:solidFill>
              </a:rPr>
              <a:t>表名</a:t>
            </a:r>
            <a:r>
              <a:rPr lang="en-US" altLang="zh-CN" sz="2400" dirty="0">
                <a:solidFill>
                  <a:schemeClr val="tx1"/>
                </a:solidFill>
              </a:rPr>
              <a:t>2&gt;.]&lt;</a:t>
            </a:r>
            <a:r>
              <a:rPr lang="zh-CN" altLang="en-US" sz="2400" dirty="0">
                <a:solidFill>
                  <a:schemeClr val="tx1"/>
                </a:solidFill>
              </a:rPr>
              <a:t>列名</a:t>
            </a:r>
            <a:r>
              <a:rPr lang="en-US" altLang="zh-CN" sz="2400" dirty="0">
                <a:solidFill>
                  <a:schemeClr val="tx1"/>
                </a:solidFill>
              </a:rPr>
              <a:t>2&gt;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3200" dirty="0"/>
              <a:t>   </a:t>
            </a:r>
            <a:r>
              <a:rPr lang="zh-CN" altLang="en-US" dirty="0"/>
              <a:t>比较运算符：</a:t>
            </a:r>
            <a:r>
              <a:rPr lang="en-US" altLang="zh-CN" dirty="0"/>
              <a:t>=</a:t>
            </a:r>
            <a:r>
              <a:rPr lang="zh-CN" altLang="en-US" dirty="0"/>
              <a:t>、</a:t>
            </a:r>
            <a:r>
              <a:rPr lang="en-US" altLang="zh-CN" dirty="0"/>
              <a:t>&gt;</a:t>
            </a:r>
            <a:r>
              <a:rPr lang="zh-CN" altLang="en-US" dirty="0"/>
              <a:t>、</a:t>
            </a:r>
            <a:r>
              <a:rPr lang="en-US" altLang="zh-CN" dirty="0"/>
              <a:t>&lt;</a:t>
            </a:r>
            <a:r>
              <a:rPr lang="zh-CN" altLang="en-US" dirty="0"/>
              <a:t>、</a:t>
            </a:r>
            <a:r>
              <a:rPr lang="en-US" altLang="zh-CN" dirty="0"/>
              <a:t>&gt;=</a:t>
            </a:r>
            <a:r>
              <a:rPr lang="zh-CN" altLang="en-US" dirty="0"/>
              <a:t>、</a:t>
            </a:r>
            <a:r>
              <a:rPr lang="en-US" altLang="zh-CN" dirty="0"/>
              <a:t>&lt;=</a:t>
            </a:r>
            <a:r>
              <a:rPr lang="zh-CN" altLang="en-US" dirty="0"/>
              <a:t>、</a:t>
            </a:r>
            <a:r>
              <a:rPr lang="en-US" altLang="zh-CN" dirty="0"/>
              <a:t>!=</a:t>
            </a:r>
            <a:endParaRPr lang="en-US" altLang="zh-CN" sz="3200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[&lt;</a:t>
            </a:r>
            <a:r>
              <a:rPr lang="zh-CN" altLang="en-US" sz="2800" dirty="0">
                <a:solidFill>
                  <a:schemeClr val="tx1"/>
                </a:solidFill>
              </a:rPr>
              <a:t>表名</a:t>
            </a:r>
            <a:r>
              <a:rPr lang="en-US" altLang="zh-CN" sz="2800" dirty="0">
                <a:solidFill>
                  <a:schemeClr val="tx1"/>
                </a:solidFill>
              </a:rPr>
              <a:t>1&gt;.]&lt;</a:t>
            </a:r>
            <a:r>
              <a:rPr lang="zh-CN" altLang="en-US" sz="2800" dirty="0">
                <a:solidFill>
                  <a:schemeClr val="tx1"/>
                </a:solidFill>
              </a:rPr>
              <a:t>列名</a:t>
            </a:r>
            <a:r>
              <a:rPr lang="en-US" altLang="zh-CN" sz="2800" dirty="0">
                <a:solidFill>
                  <a:schemeClr val="tx1"/>
                </a:solidFill>
              </a:rPr>
              <a:t>1&gt; BETWEEN [&lt;</a:t>
            </a:r>
            <a:r>
              <a:rPr lang="zh-CN" altLang="en-US" sz="2800" dirty="0">
                <a:solidFill>
                  <a:schemeClr val="tx1"/>
                </a:solidFill>
              </a:rPr>
              <a:t>表名</a:t>
            </a:r>
            <a:r>
              <a:rPr lang="en-US" altLang="zh-CN" sz="2800" dirty="0">
                <a:solidFill>
                  <a:schemeClr val="tx1"/>
                </a:solidFill>
              </a:rPr>
              <a:t>2&gt;.]&lt;</a:t>
            </a:r>
            <a:r>
              <a:rPr lang="zh-CN" altLang="en-US" sz="2800" dirty="0">
                <a:solidFill>
                  <a:schemeClr val="tx1"/>
                </a:solidFill>
              </a:rPr>
              <a:t>列名</a:t>
            </a:r>
            <a:r>
              <a:rPr lang="en-US" altLang="zh-CN" sz="2800" dirty="0">
                <a:solidFill>
                  <a:schemeClr val="tx1"/>
                </a:solidFill>
              </a:rPr>
              <a:t>2&gt; AND [&lt;</a:t>
            </a:r>
            <a:r>
              <a:rPr lang="zh-CN" altLang="en-US" sz="2800" dirty="0">
                <a:solidFill>
                  <a:schemeClr val="tx1"/>
                </a:solidFill>
              </a:rPr>
              <a:t>表名</a:t>
            </a:r>
            <a:r>
              <a:rPr lang="en-US" altLang="zh-CN" sz="2800" dirty="0">
                <a:solidFill>
                  <a:schemeClr val="tx1"/>
                </a:solidFill>
              </a:rPr>
              <a:t>2&gt;.]&lt;</a:t>
            </a:r>
            <a:r>
              <a:rPr lang="zh-CN" altLang="en-US" sz="2800" dirty="0">
                <a:solidFill>
                  <a:schemeClr val="tx1"/>
                </a:solidFill>
              </a:rPr>
              <a:t>列名</a:t>
            </a:r>
            <a:r>
              <a:rPr lang="en-US" altLang="zh-CN" sz="2800" dirty="0">
                <a:solidFill>
                  <a:schemeClr val="tx1"/>
                </a:solidFill>
              </a:rPr>
              <a:t>3&gt;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381000" y="990600"/>
            <a:ext cx="7010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/>
              <a:t>SQL</a:t>
            </a:r>
            <a:r>
              <a:rPr lang="zh-CN" altLang="en-US" sz="2800" dirty="0"/>
              <a:t>中连接查询的主要类型</a:t>
            </a:r>
            <a:endParaRPr lang="zh-CN" altLang="en-US" sz="28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dirty="0"/>
              <a:t> 	</a:t>
            </a:r>
            <a:r>
              <a:rPr lang="zh-CN" altLang="en-US" dirty="0"/>
              <a:t>广义笛卡尔积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 	等值连接</a:t>
            </a:r>
            <a:r>
              <a:rPr lang="en-US" altLang="zh-CN" dirty="0"/>
              <a:t>(</a:t>
            </a:r>
            <a:r>
              <a:rPr lang="zh-CN" altLang="en-US" dirty="0"/>
              <a:t>含自然连接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/>
              <a:t> 	</a:t>
            </a:r>
            <a:r>
              <a:rPr lang="zh-CN" altLang="en-US" dirty="0"/>
              <a:t>非等值连接查询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 	自身连接查询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 	外连接查询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 	复合条件连接查询</a:t>
            </a:r>
            <a:endParaRPr lang="zh-CN" altLang="en-US" sz="32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11266" name="Group 2"/>
          <p:cNvGraphicFramePr>
            <a:graphicFrameLocks noGrp="1"/>
          </p:cNvGraphicFramePr>
          <p:nvPr/>
        </p:nvGraphicFramePr>
        <p:xfrm>
          <a:off x="4267200" y="762000"/>
          <a:ext cx="4724400" cy="2581275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  <a:gridCol w="1003300"/>
                <a:gridCol w="914400"/>
                <a:gridCol w="8382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Ssex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生日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Sbirth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86-1-1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87-3-8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87-5-1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88-8-2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09" name="Text Box 40"/>
          <p:cNvSpPr txBox="1"/>
          <p:nvPr/>
        </p:nvSpPr>
        <p:spPr>
          <a:xfrm>
            <a:off x="2667000" y="838200"/>
            <a:ext cx="1676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Student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1305" name="Group 41"/>
          <p:cNvGraphicFramePr>
            <a:graphicFrameLocks noGrp="1"/>
          </p:cNvGraphicFramePr>
          <p:nvPr/>
        </p:nvGraphicFramePr>
        <p:xfrm>
          <a:off x="152400" y="2286000"/>
          <a:ext cx="4038600" cy="3829050"/>
        </p:xfrm>
        <a:graphic>
          <a:graphicData uri="http://schemas.openxmlformats.org/drawingml/2006/table">
            <a:tbl>
              <a:tblPr/>
              <a:tblGrid>
                <a:gridCol w="914400"/>
                <a:gridCol w="1066800"/>
                <a:gridCol w="990600"/>
                <a:gridCol w="1066800"/>
              </a:tblGrid>
              <a:tr h="6950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57" name="Text Box 88"/>
          <p:cNvSpPr txBox="1"/>
          <p:nvPr/>
        </p:nvSpPr>
        <p:spPr>
          <a:xfrm>
            <a:off x="1295400" y="1600200"/>
            <a:ext cx="14271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Course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1353" name="Group 89"/>
          <p:cNvGraphicFramePr>
            <a:graphicFrameLocks noGrp="1"/>
          </p:cNvGraphicFramePr>
          <p:nvPr/>
        </p:nvGraphicFramePr>
        <p:xfrm>
          <a:off x="4279900" y="3429000"/>
          <a:ext cx="3048000" cy="301942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88" name="Text Box 119"/>
          <p:cNvSpPr txBox="1"/>
          <p:nvPr/>
        </p:nvSpPr>
        <p:spPr>
          <a:xfrm>
            <a:off x="7620000" y="3505200"/>
            <a:ext cx="703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289" name="Rectangle 120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12305" name="Group 17"/>
          <p:cNvGraphicFramePr>
            <a:graphicFrameLocks noGrp="1"/>
          </p:cNvGraphicFramePr>
          <p:nvPr/>
        </p:nvGraphicFramePr>
        <p:xfrm>
          <a:off x="2843213" y="1916113"/>
          <a:ext cx="5181600" cy="3103563"/>
        </p:xfrm>
        <a:graphic>
          <a:graphicData uri="http://schemas.openxmlformats.org/drawingml/2006/table">
            <a:tbl>
              <a:tblPr/>
              <a:tblGrid>
                <a:gridCol w="2332037"/>
                <a:gridCol w="2849563"/>
              </a:tblGrid>
              <a:tr h="103045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系号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DeptId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DeptName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数学系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英文系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15" name="Text Box 37"/>
          <p:cNvSpPr txBox="1"/>
          <p:nvPr/>
        </p:nvSpPr>
        <p:spPr>
          <a:xfrm>
            <a:off x="1166813" y="1992313"/>
            <a:ext cx="101917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Dept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216" name="Rectangle 38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4876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40]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sz="3600" dirty="0">
                <a:solidFill>
                  <a:schemeClr val="tx1"/>
                </a:solidFill>
              </a:rPr>
              <a:t>列出所有选修课程的学生姓名，课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           程名和该课程的考试成绩。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	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>
                <a:solidFill>
                  <a:schemeClr val="tx1"/>
                </a:solidFill>
              </a:rPr>
              <a:t>     Sname,cname,grade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 from     </a:t>
            </a:r>
            <a:r>
              <a:rPr lang="en-US" altLang="zh-CN" sz="3600" i="1" dirty="0">
                <a:solidFill>
                  <a:schemeClr val="tx1"/>
                </a:solidFill>
              </a:rPr>
              <a:t>Student,Course,SC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      where</a:t>
            </a:r>
            <a:r>
              <a:rPr lang="en-US" altLang="zh-CN" sz="3600" i="1" dirty="0">
                <a:solidFill>
                  <a:schemeClr val="tx1"/>
                </a:solidFill>
              </a:rPr>
              <a:t>   student.sno = SC.sno  </a:t>
            </a:r>
            <a:r>
              <a:rPr lang="en-US" altLang="zh-CN" sz="3600" i="1" dirty="0">
                <a:solidFill>
                  <a:schemeClr val="accent2"/>
                </a:solidFill>
              </a:rPr>
              <a:t>and</a:t>
            </a:r>
            <a:endParaRPr lang="en-US" altLang="zh-CN" sz="3600" i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3600" i="1" dirty="0">
                <a:solidFill>
                  <a:schemeClr val="tx1"/>
                </a:solidFill>
              </a:rPr>
              <a:t>                         course.cno = SC.cno</a:t>
            </a:r>
            <a:endParaRPr lang="en-US" altLang="zh-CN" sz="360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4876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或者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</a:rPr>
              <a:t>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Sname,cname,grade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from   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</a:t>
            </a:r>
            <a:r>
              <a:rPr lang="en-US" altLang="zh-CN" i="1" dirty="0">
                <a:solidFill>
                  <a:schemeClr val="accent2"/>
                </a:solidFill>
              </a:rPr>
              <a:t>inner join</a:t>
            </a:r>
            <a:r>
              <a:rPr lang="en-US" altLang="zh-CN" i="1" dirty="0">
                <a:solidFill>
                  <a:schemeClr val="tx1"/>
                </a:solidFill>
              </a:rPr>
              <a:t> Student </a:t>
            </a:r>
            <a:r>
              <a:rPr lang="en-US" altLang="zh-CN" i="1" dirty="0">
                <a:solidFill>
                  <a:schemeClr val="accent2"/>
                </a:solidFill>
              </a:rPr>
              <a:t>on</a:t>
            </a:r>
            <a:r>
              <a:rPr lang="en-US" altLang="zh-CN" i="1" dirty="0">
                <a:solidFill>
                  <a:schemeClr val="tx1"/>
                </a:solidFill>
              </a:rPr>
              <a:t> student.sno = SC.sno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inner join </a:t>
            </a:r>
            <a:r>
              <a:rPr lang="en-US" altLang="zh-CN" i="1" dirty="0">
                <a:solidFill>
                  <a:schemeClr val="tx1"/>
                </a:solidFill>
              </a:rPr>
              <a:t>Course</a:t>
            </a:r>
            <a:r>
              <a:rPr lang="en-US" altLang="zh-CN" i="1" dirty="0">
                <a:solidFill>
                  <a:schemeClr val="accent2"/>
                </a:solidFill>
              </a:rPr>
              <a:t> on </a:t>
            </a:r>
            <a:r>
              <a:rPr lang="en-US" altLang="zh-CN" i="1" dirty="0">
                <a:solidFill>
                  <a:schemeClr val="tx1"/>
                </a:solidFill>
              </a:rPr>
              <a:t>  course.cno = SC.cno</a:t>
            </a:r>
            <a:endParaRPr lang="en-US" altLang="zh-CN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/>
        </p:nvGraphicFramePr>
        <p:xfrm>
          <a:off x="1295400" y="2362200"/>
          <a:ext cx="6324600" cy="3475038"/>
        </p:xfrm>
        <a:graphic>
          <a:graphicData uri="http://schemas.openxmlformats.org/drawingml/2006/table">
            <a:tbl>
              <a:tblPr/>
              <a:tblGrid>
                <a:gridCol w="2055813"/>
                <a:gridCol w="2055812"/>
                <a:gridCol w="2212975"/>
              </a:tblGrid>
              <a:tr h="5791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8" name="Rectangle 33"/>
          <p:cNvSpPr>
            <a:spLocks noGrp="1"/>
          </p:cNvSpPr>
          <p:nvPr>
            <p:ph idx="1"/>
          </p:nvPr>
        </p:nvSpPr>
        <p:spPr>
          <a:xfrm>
            <a:off x="3124200" y="1219200"/>
            <a:ext cx="2667000" cy="838200"/>
          </a:xfrm>
          <a:ln/>
        </p:spPr>
        <p:txBody>
          <a:bodyPr vert="horz" wrap="square" lIns="91440" tIns="45720" rIns="91440" bIns="45720" anchor="t" anchorCtr="0"/>
          <a:p>
            <a:pPr algn="ctr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查询结果           </a:t>
            </a:r>
            <a:endParaRPr lang="zh-CN" altLang="en-US" sz="4000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4876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41]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sz="3600" dirty="0">
                <a:solidFill>
                  <a:schemeClr val="tx1"/>
                </a:solidFill>
              </a:rPr>
              <a:t>列出每门课的间接先修课</a:t>
            </a:r>
            <a:r>
              <a:rPr lang="en-US" altLang="zh-CN" sz="3600" dirty="0">
                <a:solidFill>
                  <a:schemeClr val="tx1"/>
                </a:solidFill>
              </a:rPr>
              <a:t>(</a:t>
            </a:r>
            <a:r>
              <a:rPr lang="zh-CN" altLang="en-US" sz="3600" dirty="0">
                <a:solidFill>
                  <a:schemeClr val="tx1"/>
                </a:solidFill>
              </a:rPr>
              <a:t>即先修课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           的先修课</a:t>
            </a:r>
            <a:r>
              <a:rPr lang="en-US" altLang="zh-CN" sz="3600" dirty="0">
                <a:solidFill>
                  <a:schemeClr val="tx1"/>
                </a:solidFill>
              </a:rPr>
              <a:t>)</a:t>
            </a:r>
            <a:r>
              <a:rPr lang="zh-CN" altLang="en-US" sz="3600" dirty="0">
                <a:solidFill>
                  <a:schemeClr val="tx1"/>
                </a:solidFill>
              </a:rPr>
              <a:t>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	 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FIRST.Cno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SECOND.Cpno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from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Course  FIRST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Course  SECOND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where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FIRST.Cpno = SECOND.Cno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4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charRg st="4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charRg st="4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7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2">
                                            <p:txEl>
                                              <p:charRg st="7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2">
                                            <p:txEl>
                                              <p:charRg st="7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116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2">
                                            <p:txEl>
                                              <p:charRg st="116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2">
                                            <p:txEl>
                                              <p:charRg st="116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graphicFrame>
        <p:nvGraphicFramePr>
          <p:cNvPr id="16387" name="Group 3"/>
          <p:cNvGraphicFramePr>
            <a:graphicFrameLocks noGrp="1"/>
          </p:cNvGraphicFramePr>
          <p:nvPr/>
        </p:nvGraphicFramePr>
        <p:xfrm>
          <a:off x="228600" y="914400"/>
          <a:ext cx="4038600" cy="3829050"/>
        </p:xfrm>
        <a:graphic>
          <a:graphicData uri="http://schemas.openxmlformats.org/drawingml/2006/table">
            <a:tbl>
              <a:tblPr/>
              <a:tblGrid>
                <a:gridCol w="914400"/>
                <a:gridCol w="1066800"/>
                <a:gridCol w="990600"/>
                <a:gridCol w="1066800"/>
              </a:tblGrid>
              <a:tr h="6950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434" name="Group 50"/>
          <p:cNvGraphicFramePr>
            <a:graphicFrameLocks noGrp="1"/>
          </p:cNvGraphicFramePr>
          <p:nvPr/>
        </p:nvGraphicFramePr>
        <p:xfrm>
          <a:off x="4648200" y="914400"/>
          <a:ext cx="4038600" cy="3829050"/>
        </p:xfrm>
        <a:graphic>
          <a:graphicData uri="http://schemas.openxmlformats.org/drawingml/2006/table">
            <a:tbl>
              <a:tblPr/>
              <a:tblGrid>
                <a:gridCol w="914400"/>
                <a:gridCol w="1066800"/>
                <a:gridCol w="990600"/>
                <a:gridCol w="1066800"/>
              </a:tblGrid>
              <a:tr h="6950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  <p:sp>
        <p:nvSpPr>
          <p:cNvPr id="13410" name="Text Box 97"/>
          <p:cNvSpPr txBox="1"/>
          <p:nvPr/>
        </p:nvSpPr>
        <p:spPr>
          <a:xfrm>
            <a:off x="152400" y="4724400"/>
            <a:ext cx="2532063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经典综艺体简" pitchFamily="49" charset="-122"/>
              </a:rPr>
              <a:t>Course(First)</a:t>
            </a:r>
            <a:endParaRPr lang="en-US" altLang="zh-CN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sp>
        <p:nvSpPr>
          <p:cNvPr id="13411" name="Text Box 98"/>
          <p:cNvSpPr txBox="1"/>
          <p:nvPr/>
        </p:nvSpPr>
        <p:spPr>
          <a:xfrm>
            <a:off x="5791200" y="4711700"/>
            <a:ext cx="289560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ea typeface="经典综艺体简" pitchFamily="49" charset="-122"/>
              </a:rPr>
              <a:t>Course(Second)</a:t>
            </a:r>
            <a:endParaRPr lang="en-US" altLang="zh-CN" dirty="0">
              <a:solidFill>
                <a:schemeClr val="tx1"/>
              </a:solidFill>
              <a:ea typeface="经典综艺体简" pitchFamily="49" charset="-122"/>
            </a:endParaRPr>
          </a:p>
        </p:txBody>
      </p:sp>
      <p:graphicFrame>
        <p:nvGraphicFramePr>
          <p:cNvPr id="16483" name="Group 99"/>
          <p:cNvGraphicFramePr>
            <a:graphicFrameLocks noGrp="1"/>
          </p:cNvGraphicFramePr>
          <p:nvPr/>
        </p:nvGraphicFramePr>
        <p:xfrm>
          <a:off x="3352800" y="4953000"/>
          <a:ext cx="2209800" cy="1643063"/>
        </p:xfrm>
        <a:graphic>
          <a:graphicData uri="http://schemas.openxmlformats.org/drawingml/2006/table">
            <a:tbl>
              <a:tblPr/>
              <a:tblGrid>
                <a:gridCol w="1233488"/>
                <a:gridCol w="976312"/>
              </a:tblGrid>
              <a:tr h="39631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Cpno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1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1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427" name="Text Box 118"/>
          <p:cNvSpPr txBox="1"/>
          <p:nvPr/>
        </p:nvSpPr>
        <p:spPr>
          <a:xfrm>
            <a:off x="914400" y="5562600"/>
            <a:ext cx="1816100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查询结果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42] </a:t>
            </a:r>
            <a:r>
              <a:rPr lang="zh-CN" altLang="en-US" sz="3600" dirty="0">
                <a:solidFill>
                  <a:schemeClr val="tx1"/>
                </a:solidFill>
              </a:rPr>
              <a:t>求至少选修了“</a:t>
            </a:r>
            <a:r>
              <a:rPr lang="en-US" altLang="zh-CN" sz="3600" dirty="0">
                <a:solidFill>
                  <a:schemeClr val="tx1"/>
                </a:solidFill>
              </a:rPr>
              <a:t>1”</a:t>
            </a:r>
            <a:r>
              <a:rPr lang="zh-CN" altLang="en-US" sz="3600" dirty="0">
                <a:solidFill>
                  <a:schemeClr val="tx1"/>
                </a:solidFill>
              </a:rPr>
              <a:t>号和“</a:t>
            </a:r>
            <a:r>
              <a:rPr lang="en-US" altLang="zh-CN" sz="3600" dirty="0">
                <a:solidFill>
                  <a:schemeClr val="tx1"/>
                </a:solidFill>
              </a:rPr>
              <a:t>2”</a:t>
            </a:r>
            <a:r>
              <a:rPr lang="zh-CN" altLang="en-US" sz="3600" dirty="0">
                <a:solidFill>
                  <a:schemeClr val="tx1"/>
                </a:solidFill>
              </a:rPr>
              <a:t>号课程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            的学生学号。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	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distinct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X.sno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from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SC  X</a:t>
            </a:r>
            <a:r>
              <a:rPr lang="zh-CN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SC   Y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where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X.sno = Y.sno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and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 X.cno =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‘1’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and</a:t>
            </a:r>
            <a:endParaRPr lang="en-US" altLang="zh-CN" i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 Y.cno =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‘2’</a:t>
            </a:r>
            <a:endParaRPr lang="en-US" altLang="zh-CN" i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4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charRg st="4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charRg st="4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71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0">
                                            <p:txEl>
                                              <p:charRg st="71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0">
                                            <p:txEl>
                                              <p:charRg st="71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9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40">
                                            <p:txEl>
                                              <p:charRg st="9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0">
                                            <p:txEl>
                                              <p:charRg st="9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127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0">
                                            <p:txEl>
                                              <p:charRg st="127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0">
                                            <p:txEl>
                                              <p:charRg st="127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161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0">
                                            <p:txEl>
                                              <p:charRg st="161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40">
                                            <p:txEl>
                                              <p:charRg st="161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4876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外连接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5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accent2"/>
                </a:solidFill>
              </a:rPr>
              <a:t>外连接与普通连接的区别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普通连接操作只输出满足连接条件的元组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外连接操作以指定表为连接主体，将主体表中不满足连接条件的元组一并输出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43] </a:t>
            </a:r>
            <a:r>
              <a:rPr lang="zh-CN" altLang="en-US" dirty="0">
                <a:solidFill>
                  <a:schemeClr val="tx1"/>
                </a:solidFill>
              </a:rPr>
              <a:t>列出每个学生的学号，姓名及选修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的课程号及该课程的成绩。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 i="1" dirty="0">
                <a:solidFill>
                  <a:schemeClr val="tx1"/>
                </a:solidFill>
              </a:rPr>
              <a:t>              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select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Student.Sno,Student.Sname, 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Sc.Cno, SC.grade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          from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Student 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          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</a:rPr>
              <a:t>left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outer  join SC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          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on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  Student.Sno = SC.Sno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rgbClr val="FF0000"/>
                </a:solidFill>
                <a:latin typeface="Arial" panose="020B0604020202020204" pitchFamily="34" charset="0"/>
              </a:rPr>
              <a:t>注：此为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</a:rPr>
              <a:t>SQL Server </a:t>
            </a:r>
            <a:r>
              <a:rPr lang="zh-CN" altLang="en-US" sz="2800" i="1" dirty="0">
                <a:solidFill>
                  <a:srgbClr val="FF0000"/>
                </a:solidFill>
                <a:latin typeface="Arial" panose="020B0604020202020204" pitchFamily="34" charset="0"/>
              </a:rPr>
              <a:t>版本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zh-CN" altLang="en-US" sz="2800" i="1" dirty="0">
                <a:solidFill>
                  <a:srgbClr val="FF0000"/>
                </a:solidFill>
                <a:latin typeface="Arial" panose="020B0604020202020204" pitchFamily="34" charset="0"/>
              </a:rPr>
              <a:t>标准版本为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</a:rPr>
              <a:t>: </a:t>
            </a:r>
            <a:endParaRPr lang="en-US" altLang="zh-CN" sz="2800" i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</a:rPr>
              <a:t>… from student,sc where student.sno=SC.sno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(*)</a:t>
            </a:r>
            <a:endParaRPr lang="en-US" altLang="zh-CN" sz="2800" i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3187700" y="838200"/>
            <a:ext cx="2362200" cy="838200"/>
          </a:xfrm>
          <a:ln/>
        </p:spPr>
        <p:txBody>
          <a:bodyPr vert="horz" wrap="square" lIns="91440" tIns="45720" rIns="91440" bIns="45720" anchor="t" anchorCtr="0"/>
          <a:p>
            <a:pPr algn="ctr"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  <a:ea typeface="楷体_GB2312" pitchFamily="49" charset="-122"/>
              </a:rPr>
              <a:t>查询结果</a:t>
            </a:r>
            <a:endParaRPr lang="zh-CN" altLang="en-US" i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0484" name="Group 4"/>
          <p:cNvGraphicFramePr>
            <a:graphicFrameLocks noGrp="1"/>
          </p:cNvGraphicFramePr>
          <p:nvPr/>
        </p:nvGraphicFramePr>
        <p:xfrm>
          <a:off x="381000" y="1524000"/>
          <a:ext cx="8380413" cy="4632325"/>
        </p:xfrm>
        <a:graphic>
          <a:graphicData uri="http://schemas.openxmlformats.org/drawingml/2006/table">
            <a:tbl>
              <a:tblPr/>
              <a:tblGrid>
                <a:gridCol w="2055813"/>
                <a:gridCol w="2055812"/>
                <a:gridCol w="2055813"/>
                <a:gridCol w="2212975"/>
              </a:tblGrid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05003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4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05004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5" marB="456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>
                <a:srgbClr val="FF0000"/>
              </a:buClr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外连接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在表名后面加外连接操作符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(*)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(+)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指定非主体表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非主体表有一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万能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的虚行，该行全部由空值组成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“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籁子</a:t>
            </a:r>
            <a:r>
              <a:rPr lang="zh-CN" altLang="en-US" sz="2800" dirty="0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) </a:t>
            </a: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虚行可以和主体表中所有不满足连接条件的元组进行连接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由于虚行各列全部是空值，因此与虚行连接的结果中，来自非主体表的属性值全部是空值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sz="2800" dirty="0">
                <a:latin typeface="宋体" panose="02010600030101010101" pitchFamily="2" charset="-122"/>
              </a:rPr>
              <a:t>右外连接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sz="2800" dirty="0">
                <a:latin typeface="宋体" panose="02010600030101010101" pitchFamily="2" charset="-122"/>
              </a:rPr>
              <a:t>左外连接 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44] </a:t>
            </a:r>
            <a:r>
              <a:rPr lang="zh-CN" altLang="en-US" dirty="0">
                <a:solidFill>
                  <a:schemeClr val="tx1"/>
                </a:solidFill>
              </a:rPr>
              <a:t>查询选修了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号课程，且成绩在</a:t>
            </a:r>
            <a:r>
              <a:rPr lang="en-US" altLang="zh-CN" dirty="0">
                <a:solidFill>
                  <a:schemeClr val="tx1"/>
                </a:solidFill>
              </a:rPr>
              <a:t>90</a:t>
            </a:r>
            <a:r>
              <a:rPr lang="zh-CN" altLang="en-US" dirty="0">
                <a:solidFill>
                  <a:schemeClr val="tx1"/>
                </a:solidFill>
              </a:rPr>
              <a:t>分以上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的学生学号，姓名及成绩，并按成绩从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高到低排序。（多条件）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sz="2400" i="1" dirty="0">
                <a:solidFill>
                  <a:schemeClr val="tx1"/>
                </a:solidFill>
              </a:rPr>
              <a:t>    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student.sno,sname,grade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student,SC 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student.sno = sc.sno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                       cno = </a:t>
            </a:r>
            <a:r>
              <a:rPr lang="en-US" altLang="zh-CN" sz="3200" i="1" dirty="0">
                <a:solidFill>
                  <a:srgbClr val="FF0000"/>
                </a:solidFill>
              </a:rPr>
              <a:t>‘1’</a:t>
            </a:r>
            <a:r>
              <a:rPr lang="en-US" altLang="zh-CN" sz="3200" i="1" dirty="0"/>
              <a:t>  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                       grade &gt; 90</a:t>
            </a:r>
            <a:br>
              <a:rPr lang="en-US" altLang="zh-CN" sz="3200" i="1" dirty="0"/>
            </a:b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order  by</a:t>
            </a:r>
            <a:r>
              <a:rPr lang="en-US" altLang="zh-CN" sz="3200" i="1" dirty="0"/>
              <a:t>  grade  </a:t>
            </a:r>
            <a:r>
              <a:rPr lang="en-US" altLang="zh-CN" sz="3200" i="1" dirty="0">
                <a:solidFill>
                  <a:schemeClr val="accent2"/>
                </a:solidFill>
              </a:rPr>
              <a:t>desc</a:t>
            </a:r>
            <a:endParaRPr lang="en-US" altLang="zh-CN" sz="32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3.3.3  </a:t>
            </a:r>
            <a:r>
              <a:rPr lang="zh-CN" altLang="en-US" u="sng" dirty="0"/>
              <a:t>连接查询</a:t>
            </a:r>
            <a:endParaRPr lang="zh-CN" altLang="en-US" u="sng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</a:t>
            </a:r>
            <a:r>
              <a:rPr lang="zh-CN" altLang="en-US" i="1" dirty="0">
                <a:solidFill>
                  <a:schemeClr val="tx1"/>
                </a:solidFill>
              </a:rPr>
              <a:t>用</a:t>
            </a:r>
            <a:r>
              <a:rPr lang="en-US" altLang="zh-CN" i="1" dirty="0">
                <a:solidFill>
                  <a:schemeClr val="tx1"/>
                </a:solidFill>
              </a:rPr>
              <a:t>join</a:t>
            </a:r>
            <a:r>
              <a:rPr lang="zh-CN" altLang="en-US" i="1" dirty="0">
                <a:solidFill>
                  <a:schemeClr val="tx1"/>
                </a:solidFill>
              </a:rPr>
              <a:t>表达</a:t>
            </a:r>
            <a:r>
              <a:rPr lang="en-US" altLang="zh-CN" i="1" dirty="0">
                <a:solidFill>
                  <a:schemeClr val="tx1"/>
                </a:solidFill>
              </a:rPr>
              <a:t>: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select</a:t>
            </a:r>
            <a:r>
              <a:rPr lang="en-US" altLang="zh-CN" i="1" dirty="0">
                <a:solidFill>
                  <a:schemeClr val="tx1"/>
                </a:solidFill>
              </a:rPr>
              <a:t>      student.sno,sname,grade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SC 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      </a:t>
            </a:r>
            <a:r>
              <a:rPr lang="en-US" altLang="zh-CN" sz="3200" i="1" dirty="0">
                <a:solidFill>
                  <a:schemeClr val="accent2"/>
                </a:solidFill>
              </a:rPr>
              <a:t>inner join</a:t>
            </a:r>
            <a:r>
              <a:rPr lang="en-US" altLang="zh-CN" sz="3200" i="1" dirty="0"/>
              <a:t> student </a:t>
            </a:r>
            <a:r>
              <a:rPr lang="en-US" altLang="zh-CN" sz="3200" i="1" dirty="0">
                <a:solidFill>
                  <a:schemeClr val="accent2"/>
                </a:solidFill>
              </a:rPr>
              <a:t>on</a:t>
            </a:r>
            <a:r>
              <a:rPr lang="en-US" altLang="zh-CN" sz="3200" i="1" dirty="0"/>
              <a:t> student.sno = sc.sno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cno = </a:t>
            </a:r>
            <a:r>
              <a:rPr lang="en-US" altLang="zh-CN" sz="3200" i="1" dirty="0">
                <a:solidFill>
                  <a:srgbClr val="FF0000"/>
                </a:solidFill>
              </a:rPr>
              <a:t>‘1’</a:t>
            </a:r>
            <a:r>
              <a:rPr lang="en-US" altLang="zh-CN" sz="3200" i="1" dirty="0"/>
              <a:t>  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                       grade &gt; 90</a:t>
            </a:r>
            <a:br>
              <a:rPr lang="en-US" altLang="zh-CN" sz="3200" i="1" dirty="0"/>
            </a:b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order  by</a:t>
            </a:r>
            <a:r>
              <a:rPr lang="en-US" altLang="zh-CN" sz="3200" i="1" dirty="0"/>
              <a:t>  grade  </a:t>
            </a:r>
            <a:r>
              <a:rPr lang="en-US" altLang="zh-CN" sz="3200" i="1" dirty="0">
                <a:solidFill>
                  <a:schemeClr val="accent2"/>
                </a:solidFill>
              </a:rPr>
              <a:t>desc</a:t>
            </a:r>
            <a:endParaRPr lang="en-US" altLang="zh-CN" sz="32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19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66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88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137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170" end="2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398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概述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单表查询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3.3.3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连接查询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3.3.4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嵌套查询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3.3.5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集合查询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3.3.6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小结 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3.3   </a:t>
            </a:r>
            <a:r>
              <a:rPr lang="zh-CN" altLang="en-US" dirty="0"/>
              <a:t>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/>
              <a:t>嵌套查询</a:t>
            </a:r>
            <a:endParaRPr lang="zh-CN" altLang="en-US" dirty="0"/>
          </a:p>
          <a:p>
            <a:pPr lvl="1" eaLnBrk="1" hangingPunct="1">
              <a:spcAft>
                <a:spcPct val="40000"/>
              </a:spcAft>
            </a:pPr>
            <a:r>
              <a:rPr lang="zh-CN" altLang="en-US" dirty="0"/>
              <a:t>一个</a:t>
            </a:r>
            <a:r>
              <a:rPr lang="en-US" altLang="zh-CN" dirty="0">
                <a:latin typeface="Arial Narrow" panose="020B0606020202030204" pitchFamily="34" charset="0"/>
              </a:rPr>
              <a:t>SELECT-FROM-WHERE</a:t>
            </a:r>
            <a:r>
              <a:rPr lang="zh-CN" altLang="en-US" dirty="0"/>
              <a:t>语句称为一个查询块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将一个查询块嵌套在另一个查询块的</a:t>
            </a:r>
            <a:r>
              <a:rPr lang="en-US" altLang="zh-CN" dirty="0"/>
              <a:t>WHERE</a:t>
            </a:r>
            <a:r>
              <a:rPr lang="zh-CN" altLang="en-US" dirty="0"/>
              <a:t>子句或</a:t>
            </a:r>
            <a:r>
              <a:rPr lang="en-US" altLang="zh-CN" dirty="0"/>
              <a:t>HAVING</a:t>
            </a:r>
            <a:r>
              <a:rPr lang="zh-CN" altLang="en-US" dirty="0"/>
              <a:t>短语的条件中的查询称为嵌套查询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zh-CN" altLang="en-US" sz="2800" dirty="0">
                <a:solidFill>
                  <a:srgbClr val="0099FF"/>
                </a:solidFill>
              </a:rPr>
              <a:t>         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SELECT 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Sname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		      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外层查询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父查询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FROM 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Student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      WHERE 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Sno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IN</a:t>
            </a:r>
            <a:endParaRPr lang="en-US" altLang="zh-CN" sz="2800" i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           </a:t>
            </a:r>
            <a:r>
              <a:rPr lang="zh-CN" altLang="en-US" sz="2800" i="1" dirty="0">
                <a:solidFill>
                  <a:schemeClr val="tx1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SELECT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Sno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            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内层查询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子查询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               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FROM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SC</a:t>
            </a:r>
            <a:endParaRPr lang="en-US" altLang="zh-CN" sz="28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                WHERE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</a:rPr>
              <a:t>Cno=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</a:rPr>
              <a:t>' 2 '</a:t>
            </a:r>
            <a:r>
              <a:rPr lang="zh-CN" altLang="en-US" sz="2800" i="1" dirty="0">
                <a:solidFill>
                  <a:schemeClr val="tx1"/>
                </a:solidFill>
                <a:latin typeface="Arial" panose="020B0604020202020204" pitchFamily="34" charset="0"/>
              </a:rPr>
              <a:t>）</a:t>
            </a:r>
            <a:endParaRPr lang="zh-CN" altLang="en-US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/>
              <a:t>嵌套查询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spcAft>
                <a:spcPct val="40000"/>
              </a:spcAft>
            </a:pPr>
            <a:r>
              <a:rPr lang="zh-CN" altLang="en-US" dirty="0"/>
              <a:t>子查询内不能使用</a:t>
            </a:r>
            <a:r>
              <a:rPr lang="en-US" altLang="zh-CN" dirty="0"/>
              <a:t>ORDER BY</a:t>
            </a:r>
            <a:r>
              <a:rPr lang="zh-CN" altLang="en-US" dirty="0"/>
              <a:t>子句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spcAft>
                <a:spcPct val="40000"/>
              </a:spcAft>
            </a:pPr>
            <a:r>
              <a:rPr lang="zh-CN" altLang="en-US" dirty="0"/>
              <a:t>有些嵌套查询可以用连接运算替代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引出子查询的谓词</a:t>
            </a:r>
            <a:r>
              <a:rPr lang="en-US" altLang="zh-CN" dirty="0"/>
              <a:t>:</a:t>
            </a:r>
            <a:endParaRPr lang="en-US" altLang="zh-CN" dirty="0"/>
          </a:p>
          <a:p>
            <a:pPr lvl="2" eaLnBrk="1" hangingPunct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宋体" panose="02010600030101010101" pitchFamily="2" charset="-122"/>
              </a:rPr>
              <a:t>带有</a:t>
            </a:r>
            <a:r>
              <a:rPr lang="en-US" altLang="zh-CN" dirty="0">
                <a:latin typeface="宋体" panose="02010600030101010101" pitchFamily="2" charset="-122"/>
              </a:rPr>
              <a:t>IN</a:t>
            </a:r>
            <a:r>
              <a:rPr lang="zh-CN" altLang="en-US" dirty="0">
                <a:latin typeface="宋体" panose="02010600030101010101" pitchFamily="2" charset="-122"/>
              </a:rPr>
              <a:t>谓词的子查询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宋体" panose="02010600030101010101" pitchFamily="2" charset="-122"/>
              </a:rPr>
              <a:t>带有比较运算符的子查询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宋体" panose="02010600030101010101" pitchFamily="2" charset="-122"/>
              </a:rPr>
              <a:t>带有</a:t>
            </a:r>
            <a:r>
              <a:rPr lang="en-US" altLang="zh-CN" dirty="0">
                <a:latin typeface="宋体" panose="02010600030101010101" pitchFamily="2" charset="-122"/>
              </a:rPr>
              <a:t>ANY</a:t>
            </a:r>
            <a:r>
              <a:rPr lang="zh-CN" altLang="en-US" dirty="0">
                <a:latin typeface="宋体" panose="02010600030101010101" pitchFamily="2" charset="-122"/>
              </a:rPr>
              <a:t>或</a:t>
            </a:r>
            <a:r>
              <a:rPr lang="en-US" altLang="zh-CN" dirty="0">
                <a:latin typeface="宋体" panose="02010600030101010101" pitchFamily="2" charset="-122"/>
              </a:rPr>
              <a:t>ALL</a:t>
            </a:r>
            <a:r>
              <a:rPr lang="zh-CN" altLang="en-US" dirty="0">
                <a:latin typeface="宋体" panose="02010600030101010101" pitchFamily="2" charset="-122"/>
              </a:rPr>
              <a:t>谓词的子查询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2" eaLnBrk="1" hangingPunct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宋体" panose="02010600030101010101" pitchFamily="2" charset="-122"/>
              </a:rPr>
              <a:t>带有</a:t>
            </a:r>
            <a:r>
              <a:rPr lang="en-US" altLang="zh-CN" dirty="0">
                <a:latin typeface="宋体" panose="02010600030101010101" pitchFamily="2" charset="-122"/>
              </a:rPr>
              <a:t>EXISTS</a:t>
            </a:r>
            <a:r>
              <a:rPr lang="zh-CN" altLang="en-US" dirty="0">
                <a:latin typeface="宋体" panose="02010600030101010101" pitchFamily="2" charset="-122"/>
              </a:rPr>
              <a:t>谓词的子查询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45] </a:t>
            </a:r>
            <a:r>
              <a:rPr lang="zh-CN" altLang="en-US" dirty="0">
                <a:solidFill>
                  <a:schemeClr val="tx1"/>
                </a:solidFill>
              </a:rPr>
              <a:t>列出与“刘晨”在同一系的学生。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第一步：“刘晨”所在的系是？</a:t>
            </a:r>
            <a:endParaRPr lang="zh-CN" altLang="en-US" sz="2400" dirty="0">
              <a:solidFill>
                <a:schemeClr val="tx1"/>
              </a:solidFill>
              <a:ea typeface="楷体_GB2312" pitchFamily="49" charset="-122"/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sz="2400" i="1" dirty="0">
                <a:solidFill>
                  <a:schemeClr val="tx1"/>
                </a:solidFill>
              </a:rPr>
              <a:t>   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sdept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sname = 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刘晨’</a:t>
            </a:r>
            <a:endParaRPr lang="zh-CN" altLang="en-US" sz="3200" i="1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ea typeface="楷体_GB2312" pitchFamily="49" charset="-122"/>
              </a:rPr>
              <a:t>第二步：列出刘晨所在系的学生</a:t>
            </a:r>
            <a:endParaRPr lang="zh-CN" altLang="en-US" sz="2400" dirty="0">
              <a:solidFill>
                <a:schemeClr val="tx1"/>
              </a:solidFill>
              <a:ea typeface="楷体_GB2312" pitchFamily="49" charset="-122"/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*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sdept =  (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刘晨’所在的系</a:t>
            </a:r>
            <a:r>
              <a:rPr lang="en-US" altLang="zh-CN" sz="3200" i="1" dirty="0"/>
              <a:t>)</a:t>
            </a:r>
            <a:endParaRPr lang="en-US" altLang="zh-CN" sz="3200" i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zh-CN" sz="240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029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</a:rPr>
              <a:t>嵌套查询：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*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200" i="1" dirty="0"/>
              <a:t>   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sdept   IN</a:t>
            </a:r>
            <a:endParaRPr lang="en-US" altLang="zh-CN" sz="3200" i="1" dirty="0">
              <a:ea typeface="楷体_GB2312" pitchFamily="49" charset="-122"/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          (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sdept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200" i="1" dirty="0"/>
              <a:t>  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buNone/>
            </a:pPr>
            <a:r>
              <a:rPr lang="en-US" altLang="zh-CN" sz="3200" i="1" dirty="0"/>
              <a:t>		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sname = 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刘晨’</a:t>
            </a:r>
            <a:r>
              <a:rPr lang="en-US" altLang="zh-CN" sz="3200" i="1" dirty="0"/>
              <a:t>)</a:t>
            </a:r>
            <a:endParaRPr lang="en-US" altLang="zh-CN" sz="3200" i="1" dirty="0"/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本例中，用“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=”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取代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IN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也行</a:t>
            </a:r>
            <a:r>
              <a:rPr lang="zh-CN" altLang="en-US" sz="3600" i="1" dirty="0">
                <a:solidFill>
                  <a:schemeClr val="accent2"/>
                </a:solidFill>
              </a:rPr>
              <a:t>            </a:t>
            </a:r>
            <a:endParaRPr lang="zh-CN" altLang="en-US" sz="36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029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    </a:t>
            </a:r>
            <a:r>
              <a:rPr lang="zh-CN" altLang="en-US" sz="3600" dirty="0">
                <a:solidFill>
                  <a:schemeClr val="tx1"/>
                </a:solidFill>
              </a:rPr>
              <a:t>可用自身连接完成本查询：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sz="3600" i="1" dirty="0">
                <a:solidFill>
                  <a:schemeClr val="accent2"/>
                </a:solidFill>
              </a:rPr>
              <a:t>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>
                <a:solidFill>
                  <a:schemeClr val="tx1"/>
                </a:solidFill>
              </a:rPr>
              <a:t>      s1.*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600" i="1" dirty="0"/>
              <a:t> 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    student s1, student s2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		   </a:t>
            </a:r>
            <a:r>
              <a:rPr lang="en-US" altLang="zh-CN" sz="3600" i="1" dirty="0">
                <a:solidFill>
                  <a:schemeClr val="accent2"/>
                </a:solidFill>
              </a:rPr>
              <a:t>where</a:t>
            </a:r>
            <a:r>
              <a:rPr lang="en-US" altLang="zh-CN" sz="3600" i="1" dirty="0"/>
              <a:t>     s1.sdept = s2.sdept  </a:t>
            </a:r>
            <a:r>
              <a:rPr lang="en-US" altLang="zh-CN" sz="3600" i="1" dirty="0">
                <a:solidFill>
                  <a:schemeClr val="accent2"/>
                </a:solidFill>
              </a:rPr>
              <a:t>and </a:t>
            </a:r>
            <a:endParaRPr lang="en-US" altLang="zh-CN" sz="3600" i="1" dirty="0">
              <a:solidFill>
                <a:schemeClr val="accent2"/>
              </a:solidFill>
              <a:ea typeface="楷体_GB2312" pitchFamily="49" charset="-122"/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sz="3600" i="1" dirty="0">
                <a:solidFill>
                  <a:schemeClr val="tx1"/>
                </a:solidFill>
              </a:rPr>
              <a:t>                          </a:t>
            </a:r>
            <a:r>
              <a:rPr lang="en-US" altLang="zh-CN" sz="3600" i="1" dirty="0">
                <a:solidFill>
                  <a:srgbClr val="FF0000"/>
                </a:solidFill>
              </a:rPr>
              <a:t>s2.sname</a:t>
            </a:r>
            <a:r>
              <a:rPr lang="en-US" altLang="zh-CN" sz="3600" i="1" dirty="0">
                <a:solidFill>
                  <a:schemeClr val="tx1"/>
                </a:solidFill>
              </a:rPr>
              <a:t> = </a:t>
            </a:r>
            <a:r>
              <a:rPr lang="en-US" altLang="zh-CN" sz="3600" i="1" dirty="0">
                <a:solidFill>
                  <a:srgbClr val="FF0000"/>
                </a:solidFill>
              </a:rPr>
              <a:t>‘</a:t>
            </a:r>
            <a:r>
              <a:rPr lang="zh-CN" altLang="en-US" sz="3600" i="1" dirty="0">
                <a:solidFill>
                  <a:srgbClr val="FF0000"/>
                </a:solidFill>
              </a:rPr>
              <a:t>刘晨’</a:t>
            </a:r>
            <a:endParaRPr lang="zh-CN" altLang="en-US" sz="36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17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>
                                            <p:txEl>
                                              <p:charRg st="17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>
                                            <p:txEl>
                                              <p:charRg st="17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4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8">
                                            <p:txEl>
                                              <p:charRg st="4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8">
                                            <p:txEl>
                                              <p:charRg st="4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8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8">
                                            <p:txEl>
                                              <p:charRg st="8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charRg st="128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8">
                                            <p:txEl>
                                              <p:charRg st="128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8">
                                            <p:txEl>
                                              <p:charRg st="128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46] </a:t>
            </a:r>
            <a:r>
              <a:rPr lang="zh-CN" altLang="en-US" dirty="0">
                <a:solidFill>
                  <a:schemeClr val="tx1"/>
                </a:solidFill>
              </a:rPr>
              <a:t>列出选修了课程名为“数据库”的学生学号和姓名。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 typeface="Wingdings" panose="05000000000000000000" pitchFamily="2" charset="2"/>
              <a:buChar char="§"/>
            </a:pPr>
            <a:r>
              <a:rPr lang="zh-CN" altLang="en-US" sz="2800" i="1" dirty="0">
                <a:solidFill>
                  <a:schemeClr val="tx1"/>
                </a:solidFill>
              </a:rPr>
              <a:t>用自然连接方法：</a:t>
            </a:r>
            <a:r>
              <a:rPr lang="zh-CN" altLang="en-US" sz="2800" b="0" i="1" dirty="0">
                <a:solidFill>
                  <a:schemeClr val="tx1"/>
                </a:solidFill>
              </a:rPr>
              <a:t> </a:t>
            </a:r>
            <a:endParaRPr lang="zh-CN" altLang="en-US" sz="2800" b="0" i="1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sz="2800" b="0" i="1" dirty="0">
                <a:solidFill>
                  <a:schemeClr val="tx1"/>
                </a:solidFill>
              </a:rPr>
              <a:t>    	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student.sno,sname 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student,  course,  SC 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student.sno = sc.sno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  sc.cno  =  course.cno  </a:t>
            </a:r>
            <a:r>
              <a:rPr lang="en-US" altLang="zh-CN" sz="3200" i="1" dirty="0">
                <a:solidFill>
                  <a:schemeClr val="accent2"/>
                </a:solidFill>
              </a:rPr>
              <a:t>and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  course.cname = 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数据库’</a:t>
            </a:r>
            <a:endParaRPr lang="zh-CN" altLang="en-US" sz="3200" i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</a:pPr>
            <a:r>
              <a:rPr lang="zh-CN" altLang="en-US" i="1" dirty="0">
                <a:solidFill>
                  <a:schemeClr val="tx1"/>
                </a:solidFill>
              </a:rPr>
              <a:t>用嵌套查询方法：</a:t>
            </a:r>
            <a:endParaRPr lang="zh-CN" altLang="en-US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课程名为‘数据库’的课程代号是什么？</a:t>
            </a:r>
            <a:br>
              <a:rPr lang="zh-CN" altLang="en-US" dirty="0"/>
            </a:br>
            <a:r>
              <a:rPr lang="zh-CN" altLang="en-US" i="1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cno</a:t>
            </a:r>
            <a:r>
              <a:rPr lang="en-US" altLang="zh-CN" i="1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course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i="1" dirty="0"/>
              <a:t>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cname =</a:t>
            </a:r>
            <a:r>
              <a:rPr lang="en-US" altLang="zh-CN" i="1" dirty="0"/>
              <a:t> ‘</a:t>
            </a:r>
            <a:r>
              <a:rPr lang="zh-CN" altLang="en-US" i="1" dirty="0"/>
              <a:t>数据库’ </a:t>
            </a:r>
            <a:endParaRPr lang="zh-CN" altLang="en-US" i="1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列出选修了上述课程的学生学号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 sno</a:t>
            </a:r>
            <a:r>
              <a:rPr lang="en-US" altLang="zh-CN" i="1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r>
              <a:rPr lang="en-US" altLang="zh-CN" i="1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cno</a:t>
            </a:r>
            <a:r>
              <a:rPr lang="en-US" altLang="zh-CN" i="1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in</a:t>
            </a:r>
            <a:r>
              <a:rPr lang="en-US" altLang="zh-CN" i="1" dirty="0"/>
              <a:t>  </a:t>
            </a:r>
            <a:r>
              <a:rPr lang="en-US" altLang="zh-CN" i="1" dirty="0">
                <a:solidFill>
                  <a:schemeClr val="tx1"/>
                </a:solidFill>
              </a:rPr>
              <a:t>(1)</a:t>
            </a:r>
            <a:endParaRPr lang="en-US" altLang="zh-CN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列出上述学号对应的姓名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顺带列出学号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br>
              <a:rPr lang="en-US" altLang="zh-CN" dirty="0"/>
            </a:b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sno, sname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>
                <a:solidFill>
                  <a:schemeClr val="tx1"/>
                </a:solidFill>
              </a:rPr>
              <a:t> student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sno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in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(2)</a:t>
            </a:r>
            <a:endParaRPr lang="en-US" altLang="zh-CN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</a:pPr>
            <a:r>
              <a:rPr lang="zh-CN" altLang="en-US" sz="2800" i="1" dirty="0">
                <a:solidFill>
                  <a:schemeClr val="tx1"/>
                </a:solidFill>
              </a:rPr>
              <a:t>用一句完整的语句表达：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3200" i="1" dirty="0">
                <a:solidFill>
                  <a:schemeClr val="accent2"/>
                </a:solidFill>
              </a:rPr>
              <a:t>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    sno,sname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		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 </a:t>
            </a:r>
            <a:r>
              <a:rPr lang="en-US" altLang="zh-CN" sz="3200" i="1" dirty="0"/>
              <a:t> sno </a:t>
            </a:r>
            <a:r>
              <a:rPr lang="en-US" altLang="zh-CN" sz="3200" i="1" dirty="0">
                <a:solidFill>
                  <a:schemeClr val="accent2"/>
                </a:solidFill>
              </a:rPr>
              <a:t> in</a:t>
            </a:r>
            <a:r>
              <a:rPr lang="en-US" altLang="zh-CN" sz="3200" i="1" dirty="0"/>
              <a:t>  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(</a:t>
            </a:r>
            <a:r>
              <a:rPr lang="en-US" altLang="zh-CN" sz="3200" i="1" dirty="0">
                <a:solidFill>
                  <a:schemeClr val="accent2"/>
                </a:solidFill>
              </a:rPr>
              <a:t>select </a:t>
            </a:r>
            <a:r>
              <a:rPr lang="en-US" altLang="zh-CN" sz="3200" i="1" dirty="0"/>
              <a:t> sno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sc 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cno  =  (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cno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course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cname = 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数据库’ </a:t>
            </a:r>
            <a:br>
              <a:rPr lang="zh-CN" altLang="en-US" sz="3200" i="1" dirty="0">
                <a:solidFill>
                  <a:srgbClr val="FF0000"/>
                </a:solidFill>
              </a:rPr>
            </a:br>
            <a:r>
              <a:rPr lang="zh-CN" altLang="en-US" sz="3200" i="1" dirty="0"/>
              <a:t>          </a:t>
            </a:r>
            <a:r>
              <a:rPr lang="en-US" altLang="zh-CN" sz="3200" i="1" dirty="0"/>
              <a:t>))</a:t>
            </a:r>
            <a:endParaRPr lang="en-US" altLang="zh-CN" sz="3200" i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带有</a:t>
            </a:r>
            <a:r>
              <a:rPr lang="en-US" altLang="zh-CN" sz="2800" dirty="0"/>
              <a:t>ANY</a:t>
            </a:r>
            <a:r>
              <a:rPr lang="zh-CN" altLang="en-US" sz="2800" dirty="0"/>
              <a:t>或</a:t>
            </a:r>
            <a:r>
              <a:rPr lang="en-US" altLang="zh-CN" sz="2800" dirty="0"/>
              <a:t>ALL</a:t>
            </a:r>
            <a:r>
              <a:rPr lang="zh-CN" altLang="en-US" sz="2800" dirty="0"/>
              <a:t>谓词的子查询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&gt; ANY	</a:t>
            </a:r>
            <a:r>
              <a:rPr lang="zh-CN" altLang="en-US" sz="2400" dirty="0"/>
              <a:t>大于子查询结果中的某个值       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&gt; ALL	</a:t>
            </a:r>
            <a:r>
              <a:rPr lang="zh-CN" altLang="en-US" sz="2400" dirty="0"/>
              <a:t>大于子查询结果中的所有值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&lt; ANY	</a:t>
            </a:r>
            <a:r>
              <a:rPr lang="zh-CN" altLang="en-US" sz="2400" dirty="0"/>
              <a:t>小于子查询结果中的某个值    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&lt; ALL	</a:t>
            </a:r>
            <a:r>
              <a:rPr lang="zh-CN" altLang="en-US" sz="2400" dirty="0"/>
              <a:t>小于子查询结果中的所有值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&gt;= ANY	</a:t>
            </a:r>
            <a:r>
              <a:rPr lang="zh-CN" altLang="en-US" sz="2400" dirty="0"/>
              <a:t>大于等于子查询结果中的某个值    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&gt;= ALL	</a:t>
            </a:r>
            <a:r>
              <a:rPr lang="zh-CN" altLang="en-US" sz="2400" dirty="0"/>
              <a:t>大于等于子查询结果中的所有值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&lt;= ANY	</a:t>
            </a:r>
            <a:r>
              <a:rPr lang="zh-CN" altLang="en-US" sz="2400" dirty="0"/>
              <a:t>小于等于子查询结果中的某个值    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&lt;= ALL	</a:t>
            </a:r>
            <a:r>
              <a:rPr lang="zh-CN" altLang="en-US" sz="2400" dirty="0"/>
              <a:t>小于等于子查询结果中的所有值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= ANY	</a:t>
            </a:r>
            <a:r>
              <a:rPr lang="zh-CN" altLang="en-US" sz="2400" dirty="0"/>
              <a:t>等于子查询结果中的某个值        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=ALL	</a:t>
            </a:r>
            <a:r>
              <a:rPr lang="zh-CN" altLang="en-US" sz="2400" dirty="0"/>
              <a:t>等于子查询结果中的所有值（通常没有实际意义）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!=</a:t>
            </a:r>
            <a:r>
              <a:rPr lang="zh-CN" altLang="en-US" sz="2400" dirty="0"/>
              <a:t>（或</a:t>
            </a:r>
            <a:r>
              <a:rPr lang="en-US" altLang="zh-CN" sz="2400" dirty="0"/>
              <a:t>&lt;&gt;</a:t>
            </a:r>
            <a:r>
              <a:rPr lang="zh-CN" altLang="en-US" sz="2400" dirty="0"/>
              <a:t>）</a:t>
            </a:r>
            <a:r>
              <a:rPr lang="en-US" altLang="zh-CN" sz="2400" dirty="0"/>
              <a:t>ANY	</a:t>
            </a:r>
            <a:r>
              <a:rPr lang="zh-CN" altLang="en-US" sz="2400" dirty="0"/>
              <a:t>不等于子查询结果中的某个值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!=</a:t>
            </a:r>
            <a:r>
              <a:rPr lang="zh-CN" altLang="en-US" sz="2400" dirty="0"/>
              <a:t>（或</a:t>
            </a:r>
            <a:r>
              <a:rPr lang="en-US" altLang="zh-CN" sz="2400" dirty="0"/>
              <a:t>&lt;&gt;</a:t>
            </a:r>
            <a:r>
              <a:rPr lang="zh-CN" altLang="en-US" sz="2400" dirty="0"/>
              <a:t>）</a:t>
            </a:r>
            <a:r>
              <a:rPr lang="en-US" altLang="zh-CN" sz="2400" dirty="0"/>
              <a:t>ALL	</a:t>
            </a:r>
            <a:r>
              <a:rPr lang="zh-CN" altLang="en-US" sz="2400" dirty="0"/>
              <a:t>不等于子查询结果中的任何一个值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854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47] </a:t>
            </a:r>
            <a:r>
              <a:rPr lang="zh-CN" altLang="en-US" dirty="0">
                <a:solidFill>
                  <a:schemeClr val="tx1"/>
                </a:solidFill>
              </a:rPr>
              <a:t>求‘</a:t>
            </a:r>
            <a:r>
              <a:rPr lang="en-US" altLang="zh-CN" dirty="0">
                <a:solidFill>
                  <a:schemeClr val="tx1"/>
                </a:solidFill>
              </a:rPr>
              <a:t>IS’</a:t>
            </a:r>
            <a:r>
              <a:rPr lang="zh-CN" altLang="en-US" dirty="0">
                <a:solidFill>
                  <a:schemeClr val="tx1"/>
                </a:solidFill>
              </a:rPr>
              <a:t>系中比‘</a:t>
            </a:r>
            <a:r>
              <a:rPr lang="en-US" altLang="zh-CN" dirty="0">
                <a:solidFill>
                  <a:schemeClr val="tx1"/>
                </a:solidFill>
              </a:rPr>
              <a:t>CS’</a:t>
            </a:r>
            <a:r>
              <a:rPr lang="zh-CN" altLang="en-US" dirty="0">
                <a:solidFill>
                  <a:schemeClr val="tx1"/>
                </a:solidFill>
              </a:rPr>
              <a:t>系所有学生年龄都要小的学生学号和姓名。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None/>
            </a:pPr>
            <a:r>
              <a:rPr lang="zh-CN" altLang="en-US" sz="2800" b="0" i="1" dirty="0">
                <a:solidFill>
                  <a:schemeClr val="tx1"/>
                </a:solidFill>
              </a:rPr>
              <a:t>      	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sno,sname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student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 </a:t>
            </a:r>
            <a:r>
              <a:rPr lang="en-US" altLang="zh-CN" sz="3200" i="1" dirty="0"/>
              <a:t> sbirth &gt; all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(</a:t>
            </a:r>
            <a:r>
              <a:rPr lang="en-US" altLang="zh-CN" sz="3200" i="1" dirty="0">
                <a:solidFill>
                  <a:schemeClr val="accent2"/>
                </a:solidFill>
              </a:rPr>
              <a:t>select </a:t>
            </a:r>
            <a:r>
              <a:rPr lang="en-US" altLang="zh-CN" sz="3200" i="1" dirty="0"/>
              <a:t> sbirth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student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sdept = </a:t>
            </a:r>
            <a:r>
              <a:rPr lang="en-US" altLang="zh-CN" sz="3200" i="1" dirty="0">
                <a:solidFill>
                  <a:srgbClr val="FF0000"/>
                </a:solidFill>
              </a:rPr>
              <a:t>‘CS’</a:t>
            </a:r>
            <a:r>
              <a:rPr lang="en-US" altLang="zh-CN" sz="3200" i="1" dirty="0"/>
              <a:t>) 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sdept  = </a:t>
            </a:r>
            <a:r>
              <a:rPr lang="en-US" altLang="zh-CN" sz="3200" i="1" dirty="0">
                <a:solidFill>
                  <a:srgbClr val="FF0000"/>
                </a:solidFill>
              </a:rPr>
              <a:t>‘IS’</a:t>
            </a:r>
            <a:endParaRPr lang="en-US" altLang="zh-CN" sz="3200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>
                <a:solidFill>
                  <a:srgbClr val="FF0000"/>
                </a:solidFill>
              </a:rPr>
              <a:t>       </a:t>
            </a:r>
            <a:r>
              <a:rPr lang="zh-CN" altLang="en-US" sz="3200" i="1" dirty="0">
                <a:solidFill>
                  <a:srgbClr val="FF0000"/>
                </a:solidFill>
              </a:rPr>
              <a:t>注意：大于号以及那对括号</a:t>
            </a:r>
            <a:endParaRPr lang="zh-CN" altLang="en-US" sz="32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854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47] </a:t>
            </a:r>
            <a:r>
              <a:rPr lang="zh-CN" altLang="en-US" dirty="0">
                <a:solidFill>
                  <a:schemeClr val="tx1"/>
                </a:solidFill>
              </a:rPr>
              <a:t>可以用集函数完成本查询。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None/>
            </a:pPr>
            <a:r>
              <a:rPr lang="zh-CN" altLang="en-US" sz="2800" b="0" i="1" dirty="0">
                <a:solidFill>
                  <a:schemeClr val="tx1"/>
                </a:solidFill>
              </a:rPr>
              <a:t>      	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sno,sname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student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 </a:t>
            </a:r>
            <a:r>
              <a:rPr lang="en-US" altLang="zh-CN" sz="3200" i="1" dirty="0"/>
              <a:t> sbirth &gt;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(</a:t>
            </a:r>
            <a:r>
              <a:rPr lang="en-US" altLang="zh-CN" sz="3200" i="1" dirty="0">
                <a:solidFill>
                  <a:schemeClr val="accent2"/>
                </a:solidFill>
              </a:rPr>
              <a:t>select </a:t>
            </a:r>
            <a:r>
              <a:rPr lang="en-US" altLang="zh-CN" sz="3200" i="1" dirty="0"/>
              <a:t> </a:t>
            </a:r>
            <a:r>
              <a:rPr lang="en-US" altLang="zh-CN" sz="3200" i="1" dirty="0">
                <a:solidFill>
                  <a:srgbClr val="FF0000"/>
                </a:solidFill>
              </a:rPr>
              <a:t>max</a:t>
            </a:r>
            <a:r>
              <a:rPr lang="en-US" altLang="zh-CN" sz="3200" i="1" dirty="0"/>
              <a:t>(sbirth)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student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sdept = </a:t>
            </a:r>
            <a:r>
              <a:rPr lang="en-US" altLang="zh-CN" sz="3200" i="1" dirty="0">
                <a:solidFill>
                  <a:srgbClr val="FF0000"/>
                </a:solidFill>
              </a:rPr>
              <a:t>‘CS’</a:t>
            </a:r>
            <a:r>
              <a:rPr lang="en-US" altLang="zh-CN" sz="3200" i="1" dirty="0"/>
              <a:t>) 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sdept  = </a:t>
            </a:r>
            <a:r>
              <a:rPr lang="en-US" altLang="zh-CN" sz="3200" i="1" dirty="0">
                <a:solidFill>
                  <a:srgbClr val="FF0000"/>
                </a:solidFill>
              </a:rPr>
              <a:t>‘IS’</a:t>
            </a:r>
            <a:endParaRPr lang="en-US" altLang="zh-CN" sz="3200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>
                <a:solidFill>
                  <a:srgbClr val="FF0000"/>
                </a:solidFill>
              </a:rPr>
              <a:t>       </a:t>
            </a:r>
            <a:r>
              <a:rPr lang="zh-CN" altLang="en-US" sz="3200" i="1" dirty="0">
                <a:solidFill>
                  <a:srgbClr val="FF0000"/>
                </a:solidFill>
              </a:rPr>
              <a:t>注：用集函数效率要高于前者</a:t>
            </a:r>
            <a:endParaRPr lang="zh-CN" altLang="en-US" sz="32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1689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</a:pPr>
            <a:r>
              <a:rPr lang="zh-CN" altLang="en-US" sz="3600" dirty="0">
                <a:solidFill>
                  <a:srgbClr val="FF0000"/>
                </a:solidFill>
              </a:rPr>
              <a:t>带有</a:t>
            </a:r>
            <a:r>
              <a:rPr lang="en-US" altLang="zh-CN" sz="3600" dirty="0">
                <a:solidFill>
                  <a:srgbClr val="FF0000"/>
                </a:solidFill>
              </a:rPr>
              <a:t>EXISTS</a:t>
            </a:r>
            <a:r>
              <a:rPr lang="zh-CN" altLang="en-US" sz="3600" dirty="0">
                <a:solidFill>
                  <a:srgbClr val="FF0000"/>
                </a:solidFill>
              </a:rPr>
              <a:t>谓词的查询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lvl="1" algn="just" eaLnBrk="1" hangingPunct="1"/>
            <a:r>
              <a:rPr lang="en-US" altLang="zh-CN" sz="3200" dirty="0"/>
              <a:t>EXISTS</a:t>
            </a:r>
            <a:r>
              <a:rPr lang="zh-CN" altLang="en-US" sz="3200" dirty="0"/>
              <a:t>代表存在量词</a:t>
            </a:r>
            <a:r>
              <a:rPr lang="zh-CN" altLang="en-US" dirty="0">
                <a:sym typeface="Symbol" panose="05050102010706020507" pitchFamily="18" charset="2"/>
              </a:rPr>
              <a:t>。带有</a:t>
            </a:r>
            <a:r>
              <a:rPr lang="en-US" altLang="zh-CN" dirty="0">
                <a:sym typeface="Symbol" panose="05050102010706020507" pitchFamily="18" charset="2"/>
              </a:rPr>
              <a:t>EXISTS </a:t>
            </a:r>
            <a:r>
              <a:rPr lang="zh-CN" altLang="en-US" dirty="0">
                <a:sym typeface="Symbol" panose="05050102010706020507" pitchFamily="18" charset="2"/>
              </a:rPr>
              <a:t>谓词的子查询不返回任何数据，只产生逻辑真值“</a:t>
            </a:r>
            <a:r>
              <a:rPr lang="en-US" altLang="zh-CN" dirty="0">
                <a:sym typeface="Symbol" panose="05050102010706020507" pitchFamily="18" charset="2"/>
              </a:rPr>
              <a:t>true”</a:t>
            </a:r>
            <a:r>
              <a:rPr lang="zh-CN" altLang="en-US" dirty="0">
                <a:sym typeface="Symbol" panose="05050102010706020507" pitchFamily="18" charset="2"/>
              </a:rPr>
              <a:t>或逻辑假值“</a:t>
            </a:r>
            <a:r>
              <a:rPr lang="en-US" altLang="zh-CN" dirty="0">
                <a:sym typeface="Symbol" panose="05050102010706020507" pitchFamily="18" charset="2"/>
              </a:rPr>
              <a:t>false”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   </a:t>
            </a:r>
            <a:r>
              <a:rPr lang="en-US" altLang="zh-CN" i="1" dirty="0">
                <a:solidFill>
                  <a:schemeClr val="accent2"/>
                </a:solidFill>
                <a:sym typeface="Symbol" panose="05050102010706020507" pitchFamily="18" charset="2"/>
              </a:rPr>
              <a:t>Select</a:t>
            </a:r>
            <a:r>
              <a:rPr lang="en-US" altLang="zh-CN" i="1" dirty="0">
                <a:sym typeface="Symbol" panose="05050102010706020507" pitchFamily="18" charset="2"/>
              </a:rPr>
              <a:t> sname </a:t>
            </a:r>
            <a:r>
              <a:rPr lang="en-US" altLang="zh-CN" i="1" dirty="0">
                <a:solidFill>
                  <a:schemeClr val="accent2"/>
                </a:solidFill>
                <a:sym typeface="Symbol" panose="05050102010706020507" pitchFamily="18" charset="2"/>
              </a:rPr>
              <a:t>from</a:t>
            </a:r>
            <a:r>
              <a:rPr lang="en-US" altLang="zh-CN" i="1" dirty="0">
                <a:sym typeface="Symbol" panose="05050102010706020507" pitchFamily="18" charset="2"/>
              </a:rPr>
              <a:t> student </a:t>
            </a:r>
            <a:r>
              <a:rPr lang="en-US" altLang="zh-CN" i="1" dirty="0">
                <a:solidFill>
                  <a:schemeClr val="accent2"/>
                </a:solidFill>
                <a:sym typeface="Symbol" panose="05050102010706020507" pitchFamily="18" charset="2"/>
              </a:rPr>
              <a:t>where</a:t>
            </a:r>
            <a:r>
              <a:rPr lang="en-US" altLang="zh-CN" i="1" dirty="0">
                <a:sym typeface="Symbol" panose="05050102010706020507" pitchFamily="18" charset="2"/>
              </a:rPr>
              <a:t> exists (</a:t>
            </a:r>
            <a:r>
              <a:rPr lang="en-US" altLang="zh-CN" i="1" dirty="0">
                <a:solidFill>
                  <a:schemeClr val="accent2"/>
                </a:solidFill>
                <a:sym typeface="Symbol" panose="05050102010706020507" pitchFamily="18" charset="2"/>
              </a:rPr>
              <a:t>select</a:t>
            </a:r>
            <a:r>
              <a:rPr lang="en-US" altLang="zh-CN" i="1" dirty="0">
                <a:sym typeface="Symbol" panose="05050102010706020507" pitchFamily="18" charset="2"/>
              </a:rPr>
              <a:t> * …)</a:t>
            </a:r>
            <a:endParaRPr lang="en-US" altLang="zh-CN" i="1" dirty="0">
              <a:sym typeface="Symbol" panose="05050102010706020507" pitchFamily="18" charset="2"/>
            </a:endParaRPr>
          </a:p>
          <a:p>
            <a:pPr lvl="1" algn="just" eaLnBrk="1" hangingPunct="1"/>
            <a:r>
              <a:rPr lang="zh-CN" altLang="en-US" dirty="0"/>
              <a:t>若内层查询结果非空，则返回真值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若内层查询结果为空，则返回假值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由</a:t>
            </a:r>
            <a:r>
              <a:rPr lang="en-US" altLang="zh-CN" dirty="0"/>
              <a:t>EXISTS</a:t>
            </a:r>
            <a:r>
              <a:rPr lang="zh-CN" altLang="en-US" dirty="0"/>
              <a:t>引出的子查询，其目标列表达式通常都用* ，因为带</a:t>
            </a:r>
            <a:r>
              <a:rPr lang="en-US" altLang="zh-CN" dirty="0"/>
              <a:t>EXISTS</a:t>
            </a:r>
            <a:r>
              <a:rPr lang="zh-CN" altLang="en-US" dirty="0"/>
              <a:t>的子查询只返回真值或假值，给出列名无实际意义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48] </a:t>
            </a:r>
            <a:r>
              <a:rPr lang="zh-CN" altLang="en-US" dirty="0">
                <a:solidFill>
                  <a:schemeClr val="tx1"/>
                </a:solidFill>
              </a:rPr>
              <a:t>列出选修了课程名为“数据库”的学生学号和姓名。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 typeface="Wingdings" panose="05000000000000000000" pitchFamily="2" charset="2"/>
              <a:buChar char="§"/>
            </a:pPr>
            <a:r>
              <a:rPr lang="zh-CN" altLang="en-US" sz="2800" i="1" dirty="0">
                <a:solidFill>
                  <a:schemeClr val="tx1"/>
                </a:solidFill>
              </a:rPr>
              <a:t>方法一</a:t>
            </a:r>
            <a:r>
              <a:rPr lang="zh-CN" altLang="en-US" sz="2800" b="0" i="1" dirty="0">
                <a:solidFill>
                  <a:schemeClr val="tx1"/>
                </a:solidFill>
              </a:rPr>
              <a:t> ：</a:t>
            </a:r>
            <a:endParaRPr lang="zh-CN" altLang="en-US" sz="2800" b="0" i="1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sz="2800" b="0" i="1" dirty="0">
                <a:solidFill>
                  <a:schemeClr val="tx1"/>
                </a:solidFill>
              </a:rPr>
              <a:t>    	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student.sno,sname 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student,  course,  SC 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student.sno = sc.sno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  sc.cno  =  course.cno  </a:t>
            </a:r>
            <a:r>
              <a:rPr lang="en-US" altLang="zh-CN" sz="3200" i="1" dirty="0">
                <a:solidFill>
                  <a:schemeClr val="accent2"/>
                </a:solidFill>
              </a:rPr>
              <a:t>and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             course.cname = 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数据库’</a:t>
            </a:r>
            <a:endParaRPr lang="zh-CN" altLang="en-US" sz="3200" i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</a:pPr>
            <a:r>
              <a:rPr lang="zh-CN" altLang="en-US" sz="2800" i="1" dirty="0">
                <a:solidFill>
                  <a:schemeClr val="tx1"/>
                </a:solidFill>
              </a:rPr>
              <a:t>方法二：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3200" i="1" dirty="0">
                <a:solidFill>
                  <a:schemeClr val="accent2"/>
                </a:solidFill>
              </a:rPr>
              <a:t>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    sno,sname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		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 </a:t>
            </a:r>
            <a:r>
              <a:rPr lang="en-US" altLang="zh-CN" sz="3200" i="1" dirty="0"/>
              <a:t> sno </a:t>
            </a:r>
            <a:r>
              <a:rPr lang="en-US" altLang="zh-CN" sz="3200" i="1" dirty="0">
                <a:solidFill>
                  <a:schemeClr val="accent2"/>
                </a:solidFill>
              </a:rPr>
              <a:t> in</a:t>
            </a:r>
            <a:r>
              <a:rPr lang="en-US" altLang="zh-CN" sz="3200" i="1" dirty="0"/>
              <a:t>  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(</a:t>
            </a:r>
            <a:r>
              <a:rPr lang="en-US" altLang="zh-CN" sz="3200" i="1" dirty="0">
                <a:solidFill>
                  <a:schemeClr val="accent2"/>
                </a:solidFill>
              </a:rPr>
              <a:t>select </a:t>
            </a:r>
            <a:r>
              <a:rPr lang="en-US" altLang="zh-CN" sz="3200" i="1" dirty="0"/>
              <a:t> sno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sc 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cno  =  (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cno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course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cname = 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数据库’ </a:t>
            </a:r>
            <a:br>
              <a:rPr lang="zh-CN" altLang="en-US" sz="3200" i="1" dirty="0">
                <a:solidFill>
                  <a:srgbClr val="FF0000"/>
                </a:solidFill>
              </a:rPr>
            </a:br>
            <a:r>
              <a:rPr lang="zh-CN" altLang="en-US" sz="3200" i="1" dirty="0"/>
              <a:t>          </a:t>
            </a:r>
            <a:r>
              <a:rPr lang="en-US" altLang="zh-CN" sz="3200" i="1" dirty="0"/>
              <a:t>))</a:t>
            </a:r>
            <a:endParaRPr lang="en-US" altLang="zh-CN" sz="3200" i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</a:pPr>
            <a:r>
              <a:rPr lang="zh-CN" altLang="en-US" sz="2800" i="1" dirty="0">
                <a:solidFill>
                  <a:schemeClr val="tx1"/>
                </a:solidFill>
              </a:rPr>
              <a:t>方法三：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3200" i="1" dirty="0">
                <a:solidFill>
                  <a:schemeClr val="accent2"/>
                </a:solidFill>
              </a:rPr>
              <a:t>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    sno,sname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		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 </a:t>
            </a:r>
            <a:r>
              <a:rPr lang="en-US" altLang="zh-CN" sz="3200" i="1" dirty="0"/>
              <a:t>  exists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(</a:t>
            </a:r>
            <a:r>
              <a:rPr lang="en-US" altLang="zh-CN" sz="3200" i="1" dirty="0">
                <a:solidFill>
                  <a:schemeClr val="accent2"/>
                </a:solidFill>
              </a:rPr>
              <a:t>select </a:t>
            </a:r>
            <a:r>
              <a:rPr lang="en-US" altLang="zh-CN" sz="3200" i="1" dirty="0"/>
              <a:t> *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sc 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cno  =  (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cno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course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cname = ‘</a:t>
            </a:r>
            <a:r>
              <a:rPr lang="zh-CN" altLang="en-US" sz="3200" i="1" dirty="0">
                <a:solidFill>
                  <a:srgbClr val="FF3300"/>
                </a:solidFill>
              </a:rPr>
              <a:t>数据库</a:t>
            </a:r>
            <a:r>
              <a:rPr lang="zh-CN" altLang="en-US" sz="3200" i="1" dirty="0"/>
              <a:t> </a:t>
            </a:r>
            <a:r>
              <a:rPr lang="en-US" altLang="zh-CN" sz="3200" i="1" dirty="0"/>
              <a:t>‘)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   </a:t>
            </a:r>
            <a:r>
              <a:rPr lang="en-US" altLang="zh-CN" sz="3200" i="1" u="sng" dirty="0"/>
              <a:t>sno = student.sno</a:t>
            </a:r>
            <a:r>
              <a:rPr lang="en-US" altLang="zh-CN" sz="3200" i="1" dirty="0"/>
              <a:t>  )</a:t>
            </a:r>
            <a:endParaRPr lang="en-US" altLang="zh-CN" sz="3200" i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854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49]  </a:t>
            </a:r>
            <a:r>
              <a:rPr lang="zh-CN" altLang="en-US" dirty="0">
                <a:solidFill>
                  <a:schemeClr val="tx1"/>
                </a:solidFill>
              </a:rPr>
              <a:t>没有选修“数据库”的学生学号和姓名</a:t>
            </a:r>
            <a:r>
              <a:rPr lang="en-US" altLang="zh-CN" dirty="0">
                <a:solidFill>
                  <a:schemeClr val="tx1"/>
                </a:solidFill>
              </a:rPr>
              <a:t>?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ClrTx/>
              <a:buNone/>
            </a:pPr>
            <a:r>
              <a:rPr lang="en-US" altLang="zh-CN" sz="2800" b="0" i="1" dirty="0">
                <a:solidFill>
                  <a:schemeClr val="tx1"/>
                </a:solidFill>
              </a:rPr>
              <a:t>      	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/>
              <a:t>     </a:t>
            </a:r>
            <a:r>
              <a:rPr lang="en-US" altLang="zh-CN" sz="3600" i="1" dirty="0">
                <a:solidFill>
                  <a:schemeClr val="tx1"/>
                </a:solidFill>
              </a:rPr>
              <a:t>sno,sname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 </a:t>
            </a:r>
            <a:r>
              <a:rPr lang="en-US" altLang="zh-CN" sz="3200" i="1" dirty="0"/>
              <a:t>  not  exists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(</a:t>
            </a:r>
            <a:r>
              <a:rPr lang="en-US" altLang="zh-CN" sz="3200" i="1" dirty="0">
                <a:solidFill>
                  <a:schemeClr val="accent2"/>
                </a:solidFill>
              </a:rPr>
              <a:t>select </a:t>
            </a:r>
            <a:r>
              <a:rPr lang="en-US" altLang="zh-CN" sz="3200" i="1" dirty="0"/>
              <a:t> *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sc 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cno  =  (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cno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course</a:t>
            </a:r>
            <a:endParaRPr lang="en-US" altLang="zh-CN" sz="3200" i="1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cname = </a:t>
            </a:r>
            <a:r>
              <a:rPr lang="en-US" altLang="zh-CN" sz="3200" i="1" dirty="0">
                <a:solidFill>
                  <a:srgbClr val="FF0000"/>
                </a:solidFill>
              </a:rPr>
              <a:t>‘</a:t>
            </a:r>
            <a:r>
              <a:rPr lang="zh-CN" altLang="en-US" sz="3200" i="1" dirty="0">
                <a:solidFill>
                  <a:srgbClr val="FF0000"/>
                </a:solidFill>
              </a:rPr>
              <a:t>数据库’</a:t>
            </a:r>
            <a:r>
              <a:rPr lang="en-US" altLang="zh-CN" sz="3200" i="1" dirty="0"/>
              <a:t>)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3200" i="1" dirty="0"/>
              <a:t>                       </a:t>
            </a:r>
            <a:r>
              <a:rPr lang="en-US" altLang="zh-CN" sz="3200" i="1" u="sng" dirty="0"/>
              <a:t>sno = student.sno</a:t>
            </a:r>
            <a:r>
              <a:rPr lang="en-US" altLang="zh-CN" sz="3200" i="1" dirty="0"/>
              <a:t>  )</a:t>
            </a:r>
            <a:endParaRPr lang="en-US" altLang="zh-CN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2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>
                                            <p:txEl>
                                              <p:charRg st="2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>
                                            <p:txEl>
                                              <p:charRg st="2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2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2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8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892">
                                            <p:txEl>
                                              <p:charRg st="8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92">
                                            <p:txEl>
                                              <p:charRg st="8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10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2">
                                            <p:txEl>
                                              <p:charRg st="10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2">
                                            <p:txEl>
                                              <p:charRg st="10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14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2">
                                            <p:txEl>
                                              <p:charRg st="14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2">
                                            <p:txEl>
                                              <p:charRg st="14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16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2">
                                            <p:txEl>
                                              <p:charRg st="16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2">
                                            <p:txEl>
                                              <p:charRg st="16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219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2">
                                            <p:txEl>
                                              <p:charRg st="219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2">
                                            <p:txEl>
                                              <p:charRg st="219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272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892">
                                            <p:txEl>
                                              <p:charRg st="272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92">
                                            <p:txEl>
                                              <p:charRg st="272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8547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不是所有的带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exists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not exists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谓词的子查询都能被其它形式的子查询等价代换，但所有带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、比较运算符，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ANY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ALL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等谓词的子查询都能被带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exists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谓词的子查询等价替换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SQL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语言中没有全称量词</a:t>
            </a:r>
            <a:r>
              <a:rPr lang="zh-CN" altLang="en-US" sz="3600" dirty="0">
                <a:sym typeface="Symbol" panose="05050102010706020507" pitchFamily="18" charset="2"/>
              </a:rPr>
              <a:t>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。但总可以把带有全称量词的谓词转换为等价的带有存在量词的谓词：</a:t>
            </a:r>
            <a:endParaRPr lang="zh-CN" altLang="en-US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(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) 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P 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≡  </a:t>
            </a:r>
            <a:r>
              <a:rPr lang="en-US" altLang="zh-CN" sz="3400" dirty="0">
                <a:solidFill>
                  <a:srgbClr val="FF0000"/>
                </a:solidFill>
              </a:rPr>
              <a:t>┑(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x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3400" dirty="0">
                <a:solidFill>
                  <a:srgbClr val="FF0000"/>
                </a:solidFill>
              </a:rPr>
              <a:t>┑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P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))</a:t>
            </a:r>
            <a:endParaRPr lang="en-US" altLang="zh-CN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854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[</a:t>
            </a:r>
            <a:r>
              <a:rPr lang="zh-CN" altLang="en-US" sz="3600" dirty="0">
                <a:solidFill>
                  <a:schemeClr val="tx1"/>
                </a:solidFill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</a:rPr>
              <a:t>50]  </a:t>
            </a:r>
            <a:r>
              <a:rPr lang="zh-CN" altLang="en-US" sz="3600" dirty="0">
                <a:solidFill>
                  <a:schemeClr val="tx1"/>
                </a:solidFill>
              </a:rPr>
              <a:t>查询选修了全部课程的学生姓名。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ClrTx/>
              <a:buNone/>
            </a:pPr>
            <a:r>
              <a:rPr lang="zh-CN" altLang="en-US" b="0" i="1" dirty="0">
                <a:solidFill>
                  <a:schemeClr val="tx1"/>
                </a:solidFill>
              </a:rPr>
              <a:t>      	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>
                <a:solidFill>
                  <a:schemeClr val="tx1"/>
                </a:solidFill>
              </a:rPr>
              <a:t>    sname</a:t>
            </a:r>
            <a:endParaRPr lang="en-US" altLang="zh-CN" sz="36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600" i="1" dirty="0"/>
              <a:t>		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 student</a:t>
            </a:r>
            <a:endParaRPr lang="en-US" altLang="zh-CN" sz="3600" i="1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600" i="1" dirty="0"/>
              <a:t>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 </a:t>
            </a:r>
            <a:r>
              <a:rPr lang="en-US" altLang="zh-CN" sz="3600" i="1" dirty="0"/>
              <a:t> not  exists</a:t>
            </a:r>
            <a:endParaRPr lang="en-US" altLang="zh-CN" sz="3600" i="1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600" i="1" dirty="0"/>
              <a:t>             (</a:t>
            </a:r>
            <a:r>
              <a:rPr lang="en-US" altLang="zh-CN" sz="3600" i="1" dirty="0">
                <a:solidFill>
                  <a:schemeClr val="accent2"/>
                </a:solidFill>
              </a:rPr>
              <a:t>select </a:t>
            </a:r>
            <a:r>
              <a:rPr lang="en-US" altLang="zh-CN" sz="3600" i="1" dirty="0"/>
              <a:t> *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course  </a:t>
            </a:r>
            <a:endParaRPr lang="en-US" altLang="zh-CN" sz="3600" i="1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600" i="1" dirty="0"/>
              <a:t> 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</a:t>
            </a:r>
            <a:r>
              <a:rPr lang="en-US" altLang="zh-CN" sz="3600" i="1" dirty="0"/>
              <a:t>  not  exists (</a:t>
            </a:r>
            <a:endParaRPr lang="en-US" altLang="zh-CN" sz="3600" i="1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600" i="1" dirty="0"/>
              <a:t>      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/>
              <a:t> *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sc</a:t>
            </a:r>
            <a:endParaRPr lang="en-US" altLang="zh-CN" sz="3600" i="1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600" i="1" dirty="0"/>
              <a:t>      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</a:t>
            </a:r>
            <a:r>
              <a:rPr lang="en-US" altLang="zh-CN" sz="3600" i="1" dirty="0"/>
              <a:t> sno = student.sno  </a:t>
            </a:r>
            <a:r>
              <a:rPr lang="en-US" altLang="zh-CN" sz="3600" i="1" dirty="0">
                <a:solidFill>
                  <a:schemeClr val="accent2"/>
                </a:solidFill>
              </a:rPr>
              <a:t>and </a:t>
            </a:r>
            <a:endParaRPr lang="en-US" altLang="zh-CN" sz="36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600" i="1" dirty="0"/>
              <a:t>                              cno = course.cno  ))</a:t>
            </a:r>
            <a:endParaRPr lang="en-US" altLang="zh-CN" sz="3600" i="1" dirty="0"/>
          </a:p>
        </p:txBody>
      </p:sp>
      <p:sp>
        <p:nvSpPr>
          <p:cNvPr id="41988" name="AutoShape 4"/>
          <p:cNvSpPr/>
          <p:nvPr/>
        </p:nvSpPr>
        <p:spPr>
          <a:xfrm>
            <a:off x="5638800" y="152400"/>
            <a:ext cx="3352800" cy="3124200"/>
          </a:xfrm>
          <a:prstGeom prst="wedgeRectCallout">
            <a:avLst>
              <a:gd name="adj1" fmla="val -67898"/>
              <a:gd name="adj2" fmla="val 35009"/>
            </a:avLst>
          </a:prstGeom>
          <a:solidFill>
            <a:srgbClr val="FFFF99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student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中求满足下列条件的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sname: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course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中不存在这样的课程，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SC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中没有该学生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(sno)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的该课程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(cno)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的成绩记录。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1989" name="Text Box 5"/>
          <p:cNvSpPr txBox="1"/>
          <p:nvPr/>
        </p:nvSpPr>
        <p:spPr>
          <a:xfrm>
            <a:off x="0" y="5483225"/>
            <a:ext cx="5867400" cy="1281113"/>
          </a:xfrm>
          <a:prstGeom prst="rect">
            <a:avLst/>
          </a:prstGeom>
          <a:solidFill>
            <a:srgbClr val="FFFF00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just" eaLnBrk="1" hangingPunct="1">
              <a:lnSpc>
                <a:spcPct val="95000"/>
              </a:lnSpc>
              <a:buClr>
                <a:schemeClr val="bg2"/>
              </a:buClr>
              <a:buSzPct val="50000"/>
              <a:buFont typeface="Monotype Sorts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任意课程，所求学生选之</a:t>
            </a:r>
            <a:endParaRPr lang="zh-CN" altLang="en-US" sz="24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ctr" eaLnBrk="1" hangingPunct="1">
              <a:lnSpc>
                <a:spcPct val="95000"/>
              </a:lnSpc>
              <a:buClr>
                <a:schemeClr val="bg2"/>
              </a:buClr>
              <a:buSzPct val="50000"/>
              <a:buFont typeface="Monotype Sorts" pitchFamily="2" charset="2"/>
              <a:buNone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  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marL="0" lvl="0" indent="0" algn="just" eaLnBrk="1" hangingPunct="1">
              <a:lnSpc>
                <a:spcPct val="95000"/>
              </a:lnSpc>
              <a:buClr>
                <a:schemeClr val="bg2"/>
              </a:buClr>
              <a:buSzPct val="50000"/>
              <a:buFont typeface="Monotype Sorts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不存在任何一门课程，所求学生没有选之</a:t>
            </a:r>
            <a:endParaRPr lang="zh-CN" altLang="en-US" sz="2400" b="0" baseline="-20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/>
      <p:bldP spid="4198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3492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SQL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语言中也没有逻辑蕴函逻辑运算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。但总可以利用谓词演算将一个逻辑蕴函的谓词等价转换为：</a:t>
            </a:r>
            <a:endParaRPr lang="zh-CN" altLang="en-US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3600" i="1" dirty="0">
                <a:solidFill>
                  <a:srgbClr val="FF0000"/>
                </a:solidFill>
                <a:sym typeface="Symbol" panose="05050102010706020507" pitchFamily="18" charset="2"/>
              </a:rPr>
              <a:t>               </a:t>
            </a:r>
            <a:r>
              <a:rPr lang="en-US" altLang="zh-CN" sz="5400" i="1" dirty="0">
                <a:solidFill>
                  <a:srgbClr val="FF0000"/>
                </a:solidFill>
                <a:sym typeface="Symbol" panose="05050102010706020507" pitchFamily="18" charset="2"/>
              </a:rPr>
              <a:t>p→q </a:t>
            </a:r>
            <a:r>
              <a:rPr lang="en-US" altLang="zh-CN" sz="5400" dirty="0">
                <a:solidFill>
                  <a:srgbClr val="FF0000"/>
                </a:solidFill>
                <a:sym typeface="Symbol" panose="05050102010706020507" pitchFamily="18" charset="2"/>
              </a:rPr>
              <a:t>≡  </a:t>
            </a:r>
            <a:r>
              <a:rPr lang="en-US" altLang="zh-CN" sz="5400" dirty="0">
                <a:solidFill>
                  <a:srgbClr val="FF0000"/>
                </a:solidFill>
              </a:rPr>
              <a:t>┑</a:t>
            </a:r>
            <a:r>
              <a:rPr lang="en-US" altLang="zh-CN" sz="5400" i="1" dirty="0">
                <a:solidFill>
                  <a:srgbClr val="FF0000"/>
                </a:solidFill>
              </a:rPr>
              <a:t>p</a:t>
            </a:r>
            <a:r>
              <a:rPr lang="en-US" altLang="zh-CN" sz="5400" dirty="0">
                <a:solidFill>
                  <a:srgbClr val="FF0000"/>
                </a:solidFill>
              </a:rPr>
              <a:t> ∨</a:t>
            </a:r>
            <a:r>
              <a:rPr lang="en-US" altLang="zh-CN" sz="5400" i="1" dirty="0">
                <a:solidFill>
                  <a:srgbClr val="FF0000"/>
                </a:solidFill>
              </a:rPr>
              <a:t>q</a:t>
            </a:r>
            <a:endParaRPr lang="en-US" altLang="zh-CN" sz="54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49403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51] </a:t>
            </a:r>
            <a:r>
              <a:rPr lang="zh-CN" altLang="en-US" dirty="0">
                <a:solidFill>
                  <a:schemeClr val="tx1"/>
                </a:solidFill>
              </a:rPr>
              <a:t>查至少选修了学生</a:t>
            </a:r>
            <a:r>
              <a:rPr lang="en-US" altLang="zh-CN" dirty="0">
                <a:solidFill>
                  <a:schemeClr val="tx1"/>
                </a:solidFill>
              </a:rPr>
              <a:t>05002(</a:t>
            </a:r>
            <a:r>
              <a:rPr lang="zh-CN" altLang="en-US" dirty="0">
                <a:solidFill>
                  <a:schemeClr val="tx1"/>
                </a:solidFill>
              </a:rPr>
              <a:t>学号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选修的全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部课程的学生学号。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None/>
            </a:pPr>
            <a:r>
              <a:rPr lang="zh-CN" altLang="en-US" b="0" i="1" dirty="0">
                <a:solidFill>
                  <a:schemeClr val="tx1"/>
                </a:solidFill>
              </a:rPr>
              <a:t>    </a:t>
            </a:r>
            <a:r>
              <a:rPr lang="zh-CN" altLang="en-US" i="1" dirty="0">
                <a:solidFill>
                  <a:schemeClr val="accent2"/>
                </a:solidFill>
              </a:rPr>
              <a:t>分析：求那些学生</a:t>
            </a:r>
            <a:r>
              <a:rPr lang="en-US" altLang="zh-CN" i="1" dirty="0">
                <a:solidFill>
                  <a:schemeClr val="accent2"/>
                </a:solidFill>
              </a:rPr>
              <a:t>X</a:t>
            </a:r>
            <a:r>
              <a:rPr lang="zh-CN" altLang="en-US" i="1" dirty="0">
                <a:solidFill>
                  <a:schemeClr val="accent2"/>
                </a:solidFill>
              </a:rPr>
              <a:t>：凡是</a:t>
            </a:r>
            <a:r>
              <a:rPr lang="en-US" altLang="zh-CN" i="1" dirty="0">
                <a:solidFill>
                  <a:schemeClr val="accent2"/>
                </a:solidFill>
              </a:rPr>
              <a:t>05002</a:t>
            </a:r>
            <a:r>
              <a:rPr lang="zh-CN" altLang="en-US" i="1" dirty="0">
                <a:solidFill>
                  <a:schemeClr val="accent2"/>
                </a:solidFill>
              </a:rPr>
              <a:t>选修了的课程 </a:t>
            </a:r>
            <a:r>
              <a:rPr lang="en-US" altLang="zh-CN" i="1" dirty="0">
                <a:solidFill>
                  <a:schemeClr val="accent2"/>
                </a:solidFill>
              </a:rPr>
              <a:t>,X</a:t>
            </a:r>
            <a:r>
              <a:rPr lang="zh-CN" altLang="en-US" i="1" dirty="0">
                <a:solidFill>
                  <a:schemeClr val="accent2"/>
                </a:solidFill>
              </a:rPr>
              <a:t>都选修了。</a:t>
            </a:r>
            <a:endParaRPr lang="zh-CN" altLang="en-US" i="1" dirty="0">
              <a:solidFill>
                <a:schemeClr val="accent2"/>
              </a:solidFill>
            </a:endParaRPr>
          </a:p>
          <a:p>
            <a:pPr algn="just" eaLnBrk="1" hangingPunct="1">
              <a:buClr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                          </a:t>
            </a:r>
            <a:r>
              <a:rPr lang="zh-CN" altLang="en-US" dirty="0">
                <a:solidFill>
                  <a:schemeClr val="accent2"/>
                </a:solidFill>
              </a:rPr>
              <a:t>≡</a:t>
            </a:r>
            <a:endParaRPr lang="zh-CN" altLang="en-US" dirty="0">
              <a:solidFill>
                <a:schemeClr val="accent2"/>
              </a:solidFill>
            </a:endParaRPr>
          </a:p>
          <a:p>
            <a:pPr algn="just" eaLnBrk="1" hangingPunct="1">
              <a:buClr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求那些学生</a:t>
            </a:r>
            <a:r>
              <a:rPr lang="en-US" altLang="zh-CN" i="1" dirty="0">
                <a:solidFill>
                  <a:schemeClr val="accent2"/>
                </a:solidFill>
              </a:rPr>
              <a:t>X</a:t>
            </a:r>
            <a:r>
              <a:rPr lang="zh-CN" altLang="en-US" i="1" dirty="0">
                <a:solidFill>
                  <a:schemeClr val="accent2"/>
                </a:solidFill>
              </a:rPr>
              <a:t>：不存这样的课程</a:t>
            </a:r>
            <a:r>
              <a:rPr lang="en-US" altLang="zh-CN" i="1" dirty="0">
                <a:solidFill>
                  <a:schemeClr val="accent2"/>
                </a:solidFill>
              </a:rPr>
              <a:t>Y</a:t>
            </a:r>
            <a:r>
              <a:rPr lang="zh-CN" altLang="en-US" i="1" dirty="0">
                <a:solidFill>
                  <a:schemeClr val="accent2"/>
                </a:solidFill>
              </a:rPr>
              <a:t>，学生</a:t>
            </a:r>
            <a:r>
              <a:rPr lang="en-US" altLang="zh-CN" i="1" dirty="0">
                <a:solidFill>
                  <a:schemeClr val="accent2"/>
                </a:solidFill>
              </a:rPr>
              <a:t>05002 </a:t>
            </a:r>
            <a:r>
              <a:rPr lang="zh-CN" altLang="en-US" i="1" dirty="0">
                <a:solidFill>
                  <a:schemeClr val="accent2"/>
                </a:solidFill>
              </a:rPr>
              <a:t>选修了</a:t>
            </a:r>
            <a:r>
              <a:rPr lang="en-US" altLang="zh-CN" i="1" dirty="0">
                <a:solidFill>
                  <a:schemeClr val="accent2"/>
                </a:solidFill>
              </a:rPr>
              <a:t>Y</a:t>
            </a:r>
            <a:r>
              <a:rPr lang="zh-CN" altLang="en-US" i="1" dirty="0">
                <a:solidFill>
                  <a:schemeClr val="accent2"/>
                </a:solidFill>
              </a:rPr>
              <a:t>，而学生</a:t>
            </a:r>
            <a:r>
              <a:rPr lang="en-US" altLang="zh-CN" i="1" dirty="0">
                <a:solidFill>
                  <a:schemeClr val="accent2"/>
                </a:solidFill>
              </a:rPr>
              <a:t>X</a:t>
            </a:r>
            <a:r>
              <a:rPr lang="zh-CN" altLang="en-US" i="1" dirty="0">
                <a:solidFill>
                  <a:schemeClr val="accent2"/>
                </a:solidFill>
              </a:rPr>
              <a:t>没有选修</a:t>
            </a:r>
            <a:r>
              <a:rPr lang="en-US" altLang="zh-CN" i="1" dirty="0">
                <a:solidFill>
                  <a:schemeClr val="accent2"/>
                </a:solidFill>
              </a:rPr>
              <a:t>Y</a:t>
            </a:r>
            <a:r>
              <a:rPr lang="zh-CN" altLang="en-US" i="1" dirty="0">
                <a:solidFill>
                  <a:schemeClr val="accent2"/>
                </a:solidFill>
              </a:rPr>
              <a:t>。</a:t>
            </a:r>
            <a:r>
              <a:rPr lang="zh-CN" altLang="en-US" b="0" i="1" dirty="0">
                <a:solidFill>
                  <a:schemeClr val="tx1"/>
                </a:solidFill>
              </a:rPr>
              <a:t>    	</a:t>
            </a:r>
            <a:endParaRPr lang="zh-CN" altLang="en-US" b="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4737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= “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学生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05002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选修了课程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Y”</a:t>
            </a: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= “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学生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选修了课程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Y”</a:t>
            </a: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任给课程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，学生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05002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选修了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的话，则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也选修了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Y:</a:t>
            </a: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         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(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y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) 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p →q </a:t>
            </a:r>
            <a:endParaRPr lang="en-US" altLang="zh-CN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5400" dirty="0">
                <a:solidFill>
                  <a:srgbClr val="FF0000"/>
                </a:solidFill>
                <a:sym typeface="Symbol" panose="05050102010706020507" pitchFamily="18" charset="2"/>
              </a:rPr>
              <a:t>  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≡  </a:t>
            </a:r>
            <a:r>
              <a:rPr lang="en-US" altLang="zh-CN" sz="3600" dirty="0">
                <a:solidFill>
                  <a:srgbClr val="FF0000"/>
                </a:solidFill>
              </a:rPr>
              <a:t>┑(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y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rgbClr val="FF0000"/>
                </a:solidFill>
              </a:rPr>
              <a:t>┑(</a:t>
            </a:r>
            <a:r>
              <a:rPr lang="en-US" altLang="zh-CN" sz="3600" i="1" dirty="0">
                <a:solidFill>
                  <a:schemeClr val="accent2"/>
                </a:solidFill>
              </a:rPr>
              <a:t>p</a:t>
            </a:r>
            <a:r>
              <a:rPr lang="en-US" altLang="zh-CN" sz="3600" dirty="0">
                <a:solidFill>
                  <a:schemeClr val="accent2"/>
                </a:solidFill>
              </a:rPr>
              <a:t> </a:t>
            </a:r>
            <a:r>
              <a:rPr lang="en-US" altLang="zh-CN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→q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))</a:t>
            </a:r>
            <a:endParaRPr lang="en-US" altLang="zh-CN" sz="36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    ≡  </a:t>
            </a:r>
            <a:r>
              <a:rPr lang="en-US" altLang="zh-CN" sz="3600" dirty="0">
                <a:solidFill>
                  <a:srgbClr val="FF0000"/>
                </a:solidFill>
              </a:rPr>
              <a:t>┑(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y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rgbClr val="FF0000"/>
                </a:solidFill>
              </a:rPr>
              <a:t>┑(</a:t>
            </a:r>
            <a:r>
              <a:rPr lang="en-US" altLang="zh-CN" sz="3600" dirty="0">
                <a:solidFill>
                  <a:schemeClr val="accent2"/>
                </a:solidFill>
              </a:rPr>
              <a:t>┑ </a:t>
            </a:r>
            <a:r>
              <a:rPr lang="en-US" altLang="zh-CN" sz="3600" i="1" dirty="0">
                <a:solidFill>
                  <a:schemeClr val="accent2"/>
                </a:solidFill>
              </a:rPr>
              <a:t>p</a:t>
            </a:r>
            <a:r>
              <a:rPr lang="en-US" altLang="zh-CN" sz="3600" dirty="0">
                <a:solidFill>
                  <a:schemeClr val="accent2"/>
                </a:solidFill>
              </a:rPr>
              <a:t> 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∨</a:t>
            </a:r>
            <a:r>
              <a:rPr lang="en-US" altLang="zh-CN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q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))</a:t>
            </a:r>
            <a:endParaRPr lang="en-US" altLang="zh-CN" sz="36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    ≡  </a:t>
            </a:r>
            <a:r>
              <a:rPr lang="en-US" altLang="zh-CN" sz="3600" dirty="0">
                <a:solidFill>
                  <a:srgbClr val="FF0000"/>
                </a:solidFill>
              </a:rPr>
              <a:t>┑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y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i="1" dirty="0">
                <a:solidFill>
                  <a:srgbClr val="FF0000"/>
                </a:solidFill>
              </a:rPr>
              <a:t>p</a:t>
            </a:r>
            <a:r>
              <a:rPr lang="en-US" altLang="zh-CN" sz="3600" dirty="0">
                <a:solidFill>
                  <a:srgbClr val="FF0000"/>
                </a:solidFill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∧ </a:t>
            </a:r>
            <a:r>
              <a:rPr lang="en-US" altLang="zh-CN" sz="3600" dirty="0">
                <a:solidFill>
                  <a:srgbClr val="FF0000"/>
                </a:solidFill>
              </a:rPr>
              <a:t>┑</a:t>
            </a:r>
            <a:r>
              <a:rPr lang="en-US" altLang="zh-CN" sz="36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3600" i="1" dirty="0">
                <a:solidFill>
                  <a:srgbClr val="FF0000"/>
                </a:solidFill>
                <a:sym typeface="Symbol" panose="05050102010706020507" pitchFamily="18" charset="2"/>
              </a:rPr>
              <a:t>q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702300"/>
          </a:xfrm>
          <a:ln/>
        </p:spPr>
        <p:txBody>
          <a:bodyPr vert="horz" wrap="square" lIns="91440" tIns="45720" rIns="91440" bIns="45720" anchor="t" anchorCtr="0"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</a:rPr>
              <a:t>    </a:t>
            </a:r>
            <a:r>
              <a:rPr lang="zh-CN" altLang="en-US" sz="2400" i="1" dirty="0">
                <a:solidFill>
                  <a:schemeClr val="tx1"/>
                </a:solidFill>
              </a:rPr>
              <a:t>求那些学生</a:t>
            </a:r>
            <a:r>
              <a:rPr lang="en-US" altLang="zh-CN" sz="2400" i="1" dirty="0">
                <a:solidFill>
                  <a:schemeClr val="tx1"/>
                </a:solidFill>
              </a:rPr>
              <a:t>X</a:t>
            </a:r>
            <a:r>
              <a:rPr lang="zh-CN" altLang="en-US" sz="2400" i="1" dirty="0">
                <a:solidFill>
                  <a:schemeClr val="tx1"/>
                </a:solidFill>
              </a:rPr>
              <a:t>：不存这样的课程</a:t>
            </a:r>
            <a:r>
              <a:rPr lang="en-US" altLang="zh-CN" sz="2400" i="1" dirty="0">
                <a:solidFill>
                  <a:schemeClr val="tx1"/>
                </a:solidFill>
              </a:rPr>
              <a:t>Y</a:t>
            </a:r>
            <a:r>
              <a:rPr lang="zh-CN" altLang="en-US" sz="2400" i="1" dirty="0">
                <a:solidFill>
                  <a:schemeClr val="tx1"/>
                </a:solidFill>
              </a:rPr>
              <a:t>，学生</a:t>
            </a:r>
            <a:r>
              <a:rPr lang="en-US" altLang="zh-CN" sz="2400" i="1" dirty="0">
                <a:solidFill>
                  <a:schemeClr val="tx1"/>
                </a:solidFill>
              </a:rPr>
              <a:t>05002 </a:t>
            </a:r>
            <a:r>
              <a:rPr lang="zh-CN" altLang="en-US" sz="2400" i="1" dirty="0">
                <a:solidFill>
                  <a:schemeClr val="tx1"/>
                </a:solidFill>
              </a:rPr>
              <a:t>选修了</a:t>
            </a:r>
            <a:r>
              <a:rPr lang="en-US" altLang="zh-CN" sz="2400" i="1" dirty="0">
                <a:solidFill>
                  <a:schemeClr val="tx1"/>
                </a:solidFill>
              </a:rPr>
              <a:t>Y</a:t>
            </a:r>
            <a:r>
              <a:rPr lang="zh-CN" altLang="en-US" sz="2400" i="1" dirty="0">
                <a:solidFill>
                  <a:schemeClr val="tx1"/>
                </a:solidFill>
              </a:rPr>
              <a:t>，而学生</a:t>
            </a:r>
            <a:r>
              <a:rPr lang="en-US" altLang="zh-CN" sz="2400" i="1" dirty="0">
                <a:solidFill>
                  <a:schemeClr val="tx1"/>
                </a:solidFill>
              </a:rPr>
              <a:t>X</a:t>
            </a:r>
            <a:r>
              <a:rPr lang="zh-CN" altLang="en-US" sz="2400" i="1" dirty="0">
                <a:solidFill>
                  <a:schemeClr val="tx1"/>
                </a:solidFill>
              </a:rPr>
              <a:t>没有选修</a:t>
            </a:r>
            <a:r>
              <a:rPr lang="en-US" altLang="zh-CN" sz="2400" i="1" dirty="0">
                <a:solidFill>
                  <a:schemeClr val="tx1"/>
                </a:solidFill>
              </a:rPr>
              <a:t>Y</a:t>
            </a:r>
            <a:endParaRPr lang="en-US" altLang="zh-CN" sz="24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i="1" dirty="0">
                <a:solidFill>
                  <a:schemeClr val="accent2"/>
                </a:solidFill>
              </a:rPr>
              <a:t>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distinct sno 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sc  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endParaRPr lang="en-US" altLang="zh-CN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</a:t>
            </a:r>
            <a:r>
              <a:rPr lang="en-US" altLang="zh-CN" i="1" dirty="0">
                <a:solidFill>
                  <a:schemeClr val="accent2"/>
                </a:solidFill>
              </a:rPr>
              <a:t>where </a:t>
            </a:r>
            <a:r>
              <a:rPr lang="en-US" altLang="zh-CN" i="1" dirty="0"/>
              <a:t> not  exists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(</a:t>
            </a:r>
            <a:r>
              <a:rPr lang="en-US" altLang="zh-CN" i="1" dirty="0">
                <a:solidFill>
                  <a:schemeClr val="accent2"/>
                </a:solidFill>
              </a:rPr>
              <a:t>select </a:t>
            </a:r>
            <a:r>
              <a:rPr lang="en-US" altLang="zh-CN" i="1" dirty="0"/>
              <a:t> *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sc </a:t>
            </a:r>
            <a:r>
              <a:rPr lang="en-US" altLang="zh-CN" i="1" dirty="0">
                <a:solidFill>
                  <a:srgbClr val="FF0000"/>
                </a:solidFill>
              </a:rPr>
              <a:t> Y</a:t>
            </a:r>
            <a:r>
              <a:rPr lang="en-US" altLang="zh-CN" i="1" dirty="0"/>
              <a:t> 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Y</a:t>
            </a:r>
            <a:r>
              <a:rPr lang="en-US" altLang="zh-CN" i="1" dirty="0"/>
              <a:t>.sno = </a:t>
            </a:r>
            <a:r>
              <a:rPr lang="en-US" altLang="zh-CN" i="1" dirty="0">
                <a:solidFill>
                  <a:srgbClr val="FF0000"/>
                </a:solidFill>
              </a:rPr>
              <a:t>‘05002’</a:t>
            </a:r>
            <a:r>
              <a:rPr lang="en-US" altLang="zh-CN" i="1" dirty="0"/>
              <a:t>  and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            not  exists (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      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*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sc  </a:t>
            </a:r>
            <a:r>
              <a:rPr lang="en-US" altLang="zh-CN" i="1" dirty="0">
                <a:solidFill>
                  <a:srgbClr val="FF0000"/>
                </a:solidFill>
              </a:rPr>
              <a:t>Z</a:t>
            </a:r>
            <a:endParaRPr lang="en-US" altLang="zh-CN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      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Z</a:t>
            </a:r>
            <a:r>
              <a:rPr lang="en-US" altLang="zh-CN" i="1" dirty="0"/>
              <a:t>.sno = 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r>
              <a:rPr lang="en-US" altLang="zh-CN" i="1" dirty="0"/>
              <a:t>.sno  </a:t>
            </a:r>
            <a:r>
              <a:rPr lang="en-US" altLang="zh-CN" i="1" dirty="0">
                <a:solidFill>
                  <a:schemeClr val="accent2"/>
                </a:solidFill>
              </a:rPr>
              <a:t>and 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                             </a:t>
            </a:r>
            <a:r>
              <a:rPr lang="en-US" altLang="zh-CN" i="1" dirty="0">
                <a:solidFill>
                  <a:srgbClr val="FF0000"/>
                </a:solidFill>
              </a:rPr>
              <a:t>Z</a:t>
            </a:r>
            <a:r>
              <a:rPr lang="en-US" altLang="zh-CN" i="1" dirty="0"/>
              <a:t>.cno = </a:t>
            </a:r>
            <a:r>
              <a:rPr lang="en-US" altLang="zh-CN" i="1" dirty="0">
                <a:solidFill>
                  <a:srgbClr val="FF0000"/>
                </a:solidFill>
              </a:rPr>
              <a:t>Y</a:t>
            </a:r>
            <a:r>
              <a:rPr lang="en-US" altLang="zh-CN" i="1" dirty="0"/>
              <a:t>.cno  ))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473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52] </a:t>
            </a:r>
            <a:r>
              <a:rPr lang="zh-CN" altLang="en-US" dirty="0">
                <a:solidFill>
                  <a:schemeClr val="tx1"/>
                </a:solidFill>
              </a:rPr>
              <a:t>求至少选修了“</a:t>
            </a:r>
            <a:r>
              <a:rPr lang="en-US" altLang="zh-CN" dirty="0">
                <a:solidFill>
                  <a:schemeClr val="tx1"/>
                </a:solidFill>
              </a:rPr>
              <a:t>1”</a:t>
            </a:r>
            <a:r>
              <a:rPr lang="zh-CN" altLang="en-US" dirty="0">
                <a:solidFill>
                  <a:schemeClr val="tx1"/>
                </a:solidFill>
              </a:rPr>
              <a:t>号和“</a:t>
            </a:r>
            <a:r>
              <a:rPr lang="en-US" altLang="zh-CN" dirty="0">
                <a:solidFill>
                  <a:schemeClr val="tx1"/>
                </a:solidFill>
              </a:rPr>
              <a:t>2”</a:t>
            </a:r>
            <a:r>
              <a:rPr lang="zh-CN" altLang="en-US" dirty="0">
                <a:solidFill>
                  <a:schemeClr val="tx1"/>
                </a:solidFill>
              </a:rPr>
              <a:t>号课程的学生学号。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zh-CN" altLang="en-US" sz="2400" i="1" dirty="0">
                <a:solidFill>
                  <a:schemeClr val="accent2"/>
                </a:solidFill>
              </a:rPr>
              <a:t>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  sno   </a:t>
            </a:r>
            <a:br>
              <a:rPr lang="en-US" altLang="zh-CN" sz="3200" i="1" dirty="0"/>
            </a:b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sc  SCX</a:t>
            </a:r>
            <a:br>
              <a:rPr lang="en-US" altLang="zh-CN" sz="3200" i="1" dirty="0"/>
            </a:br>
            <a:r>
              <a:rPr lang="en-US" altLang="zh-CN" sz="3200" i="1" dirty="0"/>
              <a:t>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 </a:t>
            </a:r>
            <a:r>
              <a:rPr lang="en-US" altLang="zh-CN" sz="3200" i="1" dirty="0"/>
              <a:t>SCX.cno = </a:t>
            </a:r>
            <a:r>
              <a:rPr lang="en-US" altLang="zh-CN" sz="3200" i="1" dirty="0">
                <a:solidFill>
                  <a:srgbClr val="FF0000"/>
                </a:solidFill>
              </a:rPr>
              <a:t>‘1’</a:t>
            </a:r>
            <a:r>
              <a:rPr lang="en-US" altLang="zh-CN" sz="3200" i="1" dirty="0"/>
              <a:t>  </a:t>
            </a:r>
            <a:r>
              <a:rPr lang="en-US" altLang="zh-CN" sz="3200" i="1" dirty="0">
                <a:solidFill>
                  <a:schemeClr val="accent2"/>
                </a:solidFill>
              </a:rPr>
              <a:t>and</a:t>
            </a:r>
            <a:br>
              <a:rPr lang="en-US" altLang="zh-CN" sz="3200" i="1" dirty="0"/>
            </a:br>
            <a:r>
              <a:rPr lang="en-US" altLang="zh-CN" sz="3200" i="1" dirty="0"/>
              <a:t>            exists  (</a:t>
            </a:r>
            <a:br>
              <a:rPr lang="en-US" altLang="zh-CN" sz="3200" i="1" dirty="0"/>
            </a:br>
            <a:r>
              <a:rPr lang="en-US" altLang="zh-CN" sz="3200" i="1" dirty="0"/>
              <a:t>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 sno </a:t>
            </a:r>
            <a:br>
              <a:rPr lang="en-US" altLang="zh-CN" sz="3200" i="1" dirty="0"/>
            </a:br>
            <a:r>
              <a:rPr lang="en-US" altLang="zh-CN" sz="3200" i="1" dirty="0"/>
              <a:t>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sc  SCY</a:t>
            </a:r>
            <a:br>
              <a:rPr lang="en-US" altLang="zh-CN" sz="3200" i="1" dirty="0"/>
            </a:br>
            <a:r>
              <a:rPr lang="en-US" altLang="zh-CN" sz="3200" i="1" dirty="0"/>
              <a:t>         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SCY.cno = </a:t>
            </a:r>
            <a:r>
              <a:rPr lang="en-US" altLang="zh-CN" sz="3200" i="1" dirty="0">
                <a:solidFill>
                  <a:srgbClr val="FF0000"/>
                </a:solidFill>
              </a:rPr>
              <a:t>‘2’</a:t>
            </a:r>
            <a:r>
              <a:rPr lang="en-US" altLang="zh-CN" sz="3200" i="1" dirty="0"/>
              <a:t>  </a:t>
            </a:r>
            <a:r>
              <a:rPr lang="en-US" altLang="zh-CN" sz="3200" i="1" dirty="0">
                <a:solidFill>
                  <a:schemeClr val="accent2"/>
                </a:solidFill>
              </a:rPr>
              <a:t>and </a:t>
            </a:r>
            <a:br>
              <a:rPr lang="en-US" altLang="zh-CN" sz="3200" i="1" dirty="0"/>
            </a:br>
            <a:r>
              <a:rPr lang="en-US" altLang="zh-CN" sz="3200" i="1" dirty="0"/>
              <a:t>                           SCY.sno =  SCX.sno)  </a:t>
            </a:r>
            <a:endParaRPr lang="en-US" altLang="zh-CN" sz="3200" i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473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53] </a:t>
            </a:r>
            <a:r>
              <a:rPr lang="zh-CN" altLang="en-US" dirty="0">
                <a:solidFill>
                  <a:schemeClr val="tx1"/>
                </a:solidFill>
              </a:rPr>
              <a:t>求至少选修了两门课程的学生学号</a:t>
            </a:r>
            <a:r>
              <a:rPr lang="zh-CN" altLang="en-US" sz="3600" dirty="0">
                <a:solidFill>
                  <a:schemeClr val="tx1"/>
                </a:solidFill>
              </a:rPr>
              <a:t>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/>
              <a:t>   </a:t>
            </a:r>
            <a:r>
              <a:rPr lang="en-US" altLang="zh-CN" sz="3600" i="1" dirty="0">
                <a:solidFill>
                  <a:schemeClr val="accent2"/>
                </a:solidFill>
              </a:rPr>
              <a:t>distinct</a:t>
            </a:r>
            <a:r>
              <a:rPr lang="en-US" altLang="zh-CN" sz="3600" i="1" dirty="0"/>
              <a:t> sno   </a:t>
            </a:r>
            <a:br>
              <a:rPr lang="en-US" altLang="zh-CN" sz="3600" i="1" dirty="0"/>
            </a:br>
            <a:r>
              <a:rPr lang="en-US" altLang="zh-CN" sz="3600" i="1" dirty="0"/>
              <a:t>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sc  SCX</a:t>
            </a:r>
            <a:br>
              <a:rPr lang="en-US" altLang="zh-CN" sz="3600" i="1" dirty="0"/>
            </a:br>
            <a:r>
              <a:rPr lang="en-US" altLang="zh-CN" sz="3600" i="1" dirty="0"/>
              <a:t>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 </a:t>
            </a:r>
            <a:r>
              <a:rPr lang="en-US" altLang="zh-CN" sz="3600" i="1" dirty="0"/>
              <a:t> exists</a:t>
            </a:r>
            <a:r>
              <a:rPr lang="en-US" altLang="zh-CN" sz="3600" i="1" dirty="0">
                <a:solidFill>
                  <a:schemeClr val="accent2"/>
                </a:solidFill>
              </a:rPr>
              <a:t> </a:t>
            </a:r>
            <a:r>
              <a:rPr lang="en-US" altLang="zh-CN" sz="3600" i="1" dirty="0"/>
              <a:t> (</a:t>
            </a:r>
            <a:br>
              <a:rPr lang="en-US" altLang="zh-CN" sz="3600" i="1" dirty="0"/>
            </a:br>
            <a:r>
              <a:rPr lang="en-US" altLang="zh-CN" sz="3600" i="1" dirty="0"/>
              <a:t>   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/>
              <a:t>  sno </a:t>
            </a:r>
            <a:br>
              <a:rPr lang="en-US" altLang="zh-CN" sz="3600" i="1" dirty="0"/>
            </a:br>
            <a:r>
              <a:rPr lang="en-US" altLang="zh-CN" sz="3600" i="1" dirty="0"/>
              <a:t>   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sc  SCY</a:t>
            </a:r>
            <a:br>
              <a:rPr lang="en-US" altLang="zh-CN" sz="3600" i="1" dirty="0"/>
            </a:br>
            <a:r>
              <a:rPr lang="en-US" altLang="zh-CN" sz="3600" i="1" dirty="0"/>
              <a:t>   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</a:t>
            </a:r>
            <a:r>
              <a:rPr lang="en-US" altLang="zh-CN" sz="3600" i="1" dirty="0"/>
              <a:t> SCY.cno &lt;&gt; SCX.cno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   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and </a:t>
            </a:r>
            <a:r>
              <a:rPr lang="en-US" altLang="zh-CN" sz="3600" i="1" dirty="0"/>
              <a:t> SCY.sno =  SCX.sno )  </a:t>
            </a:r>
            <a:endParaRPr lang="en-US" altLang="zh-CN" sz="3600" i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3.3.4   </a:t>
            </a:r>
            <a:r>
              <a:rPr lang="zh-CN" altLang="en-US" u="sng" dirty="0"/>
              <a:t>嵌套查询</a:t>
            </a:r>
            <a:endParaRPr lang="zh-CN" altLang="en-US" u="sng" dirty="0"/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473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另解：用集函数，选修门数大于等于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/>
              <a:t>  </a:t>
            </a:r>
            <a:r>
              <a:rPr lang="en-US" altLang="zh-CN" sz="3600" i="1" dirty="0">
                <a:solidFill>
                  <a:schemeClr val="accent2"/>
                </a:solidFill>
              </a:rPr>
              <a:t>distinct  </a:t>
            </a:r>
            <a:r>
              <a:rPr lang="en-US" altLang="zh-CN" sz="3600" i="1" dirty="0"/>
              <a:t>sno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sc   scx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</a:t>
            </a:r>
            <a:r>
              <a:rPr lang="en-US" altLang="zh-CN" sz="3600" i="1" dirty="0"/>
              <a:t> 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     (</a:t>
            </a:r>
            <a:r>
              <a:rPr lang="en-US" altLang="zh-CN" sz="3600" i="1" dirty="0">
                <a:solidFill>
                  <a:schemeClr val="accent2"/>
                </a:solidFill>
              </a:rPr>
              <a:t>select</a:t>
            </a:r>
            <a:r>
              <a:rPr lang="en-US" altLang="zh-CN" sz="3600" i="1" dirty="0"/>
              <a:t> </a:t>
            </a:r>
            <a:r>
              <a:rPr lang="en-US" altLang="zh-CN" sz="3600" i="1" dirty="0">
                <a:solidFill>
                  <a:srgbClr val="FF0000"/>
                </a:solidFill>
              </a:rPr>
              <a:t>count</a:t>
            </a:r>
            <a:r>
              <a:rPr lang="en-US" altLang="zh-CN" sz="3600" i="1" dirty="0"/>
              <a:t>(cno) 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sc   scy 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 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</a:t>
            </a:r>
            <a:r>
              <a:rPr lang="en-US" altLang="zh-CN" sz="3600" i="1" dirty="0"/>
              <a:t>  scy.sno = scx.sno ) &gt;= 2</a:t>
            </a:r>
            <a:endParaRPr lang="en-US" altLang="zh-CN" sz="3600" i="1" dirty="0"/>
          </a:p>
          <a:p>
            <a:pPr lvl="1" eaLnBrk="1" hangingPunct="1">
              <a:buNone/>
            </a:pPr>
            <a:endParaRPr lang="en-US" altLang="zh-CN" sz="3600" i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398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概述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单表查询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3.3.3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连接查询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3.3.4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嵌套查询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3.3.5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集合查询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3.3.6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小结 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3.3   </a:t>
            </a:r>
            <a:r>
              <a:rPr lang="zh-CN" altLang="en-US" dirty="0"/>
              <a:t>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集合查询</a:t>
            </a:r>
            <a:endParaRPr lang="zh-CN" altLang="en-US" u="sng" dirty="0"/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39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dirty="0">
                <a:solidFill>
                  <a:srgbClr val="FF0000"/>
                </a:solidFill>
              </a:rPr>
              <a:t>集合查询：并</a:t>
            </a:r>
            <a:r>
              <a:rPr lang="en-US" altLang="zh-CN" dirty="0">
                <a:solidFill>
                  <a:srgbClr val="FF0000"/>
                </a:solidFill>
              </a:rPr>
              <a:t>(Union)</a:t>
            </a:r>
            <a:r>
              <a:rPr lang="zh-CN" altLang="en-US" dirty="0">
                <a:solidFill>
                  <a:srgbClr val="FF0000"/>
                </a:solidFill>
              </a:rPr>
              <a:t>、交、差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标准</a:t>
            </a:r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提供并操作，没有直接提供交操作和差操作，但可用其它方法来实现。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某些商用的</a:t>
            </a:r>
            <a:r>
              <a:rPr lang="en-US" altLang="zh-CN" dirty="0">
                <a:solidFill>
                  <a:schemeClr val="tx1"/>
                </a:solidFill>
              </a:rPr>
              <a:t>DBMS</a:t>
            </a:r>
            <a:r>
              <a:rPr lang="zh-CN" altLang="en-US" dirty="0">
                <a:solidFill>
                  <a:schemeClr val="tx1"/>
                </a:solidFill>
              </a:rPr>
              <a:t>提供了交与差运算。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格式：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</a:pP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dirty="0">
                <a:solidFill>
                  <a:schemeClr val="tx1"/>
                </a:solidFill>
              </a:rPr>
              <a:t>查询块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&gt;</a:t>
            </a: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UNION 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查询块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&gt;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集合查询</a:t>
            </a:r>
            <a:endParaRPr lang="zh-CN" altLang="en-US" u="sng" dirty="0"/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6261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54] </a:t>
            </a:r>
            <a:r>
              <a:rPr lang="zh-CN" altLang="en-US" dirty="0">
                <a:solidFill>
                  <a:schemeClr val="tx1"/>
                </a:solidFill>
              </a:rPr>
              <a:t>列出‘</a:t>
            </a:r>
            <a:r>
              <a:rPr lang="en-US" altLang="zh-CN" dirty="0">
                <a:solidFill>
                  <a:schemeClr val="tx1"/>
                </a:solidFill>
              </a:rPr>
              <a:t>CS’</a:t>
            </a:r>
            <a:r>
              <a:rPr lang="zh-CN" altLang="en-US" dirty="0">
                <a:solidFill>
                  <a:schemeClr val="tx1"/>
                </a:solidFill>
              </a:rPr>
              <a:t>和‘</a:t>
            </a:r>
            <a:r>
              <a:rPr lang="en-US" altLang="zh-CN" dirty="0">
                <a:solidFill>
                  <a:schemeClr val="tx1"/>
                </a:solidFill>
              </a:rPr>
              <a:t>IS’</a:t>
            </a:r>
            <a:r>
              <a:rPr lang="zh-CN" altLang="en-US" dirty="0">
                <a:solidFill>
                  <a:schemeClr val="tx1"/>
                </a:solidFill>
              </a:rPr>
              <a:t>系的学生名单。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b="0" i="1" dirty="0">
                <a:solidFill>
                  <a:schemeClr val="tx1"/>
                </a:solidFill>
              </a:rPr>
              <a:t>            </a:t>
            </a:r>
            <a:r>
              <a:rPr lang="en-US" altLang="zh-CN" sz="4000" i="1" dirty="0">
                <a:solidFill>
                  <a:schemeClr val="accent2"/>
                </a:solidFill>
              </a:rPr>
              <a:t>select</a:t>
            </a:r>
            <a:r>
              <a:rPr lang="en-US" altLang="zh-CN" sz="4000" i="1" dirty="0"/>
              <a:t>  </a:t>
            </a:r>
            <a:r>
              <a:rPr lang="en-US" altLang="zh-CN" sz="4000" i="1" dirty="0">
                <a:solidFill>
                  <a:schemeClr val="tx1"/>
                </a:solidFill>
              </a:rPr>
              <a:t>sname</a:t>
            </a:r>
            <a:endParaRPr lang="en-US" altLang="zh-CN" sz="4000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600" i="1" dirty="0"/>
              <a:t>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student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  </a:t>
            </a:r>
            <a:r>
              <a:rPr lang="en-US" altLang="zh-CN" sz="3600" i="1" dirty="0"/>
              <a:t>sdept = </a:t>
            </a:r>
            <a:r>
              <a:rPr lang="en-US" altLang="zh-CN" sz="3600" i="1" dirty="0">
                <a:solidFill>
                  <a:srgbClr val="FF0000"/>
                </a:solidFill>
              </a:rPr>
              <a:t>‘CS’</a:t>
            </a:r>
            <a:endParaRPr lang="en-US" altLang="zh-CN" sz="3600" i="1" dirty="0">
              <a:solidFill>
                <a:srgbClr val="FF0000"/>
              </a:solidFill>
            </a:endParaRPr>
          </a:p>
          <a:p>
            <a:pPr lvl="1" eaLnBrk="1" hangingPunct="1">
              <a:buNone/>
            </a:pPr>
            <a:r>
              <a:rPr lang="en-US" altLang="zh-CN" sz="3600" i="1" dirty="0">
                <a:solidFill>
                  <a:schemeClr val="accent2"/>
                </a:solidFill>
              </a:rPr>
              <a:t>      union</a:t>
            </a:r>
            <a:r>
              <a:rPr lang="en-US" altLang="zh-CN" sz="3600" i="1" dirty="0">
                <a:solidFill>
                  <a:srgbClr val="FF0000"/>
                </a:solidFill>
              </a:rPr>
              <a:t> </a:t>
            </a:r>
            <a:endParaRPr lang="en-US" altLang="zh-CN" sz="3600" i="1" dirty="0">
              <a:solidFill>
                <a:srgbClr val="FF0000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sz="4000" i="1" dirty="0">
                <a:solidFill>
                  <a:schemeClr val="accent2"/>
                </a:solidFill>
              </a:rPr>
              <a:t>         select</a:t>
            </a:r>
            <a:r>
              <a:rPr lang="en-US" altLang="zh-CN" sz="4000" i="1" dirty="0"/>
              <a:t>  </a:t>
            </a:r>
            <a:r>
              <a:rPr lang="en-US" altLang="zh-CN" sz="4000" i="1" dirty="0">
                <a:solidFill>
                  <a:schemeClr val="tx1"/>
                </a:solidFill>
              </a:rPr>
              <a:t>sname</a:t>
            </a:r>
            <a:endParaRPr lang="en-US" altLang="zh-CN" sz="4000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600" i="1" dirty="0"/>
              <a:t>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student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  </a:t>
            </a:r>
            <a:r>
              <a:rPr lang="en-US" altLang="zh-CN" sz="3600" i="1" dirty="0"/>
              <a:t>sdept = </a:t>
            </a:r>
            <a:r>
              <a:rPr lang="en-US" altLang="zh-CN" sz="3600" i="1" dirty="0">
                <a:solidFill>
                  <a:srgbClr val="FF0000"/>
                </a:solidFill>
              </a:rPr>
              <a:t>‘IS’</a:t>
            </a:r>
            <a:endParaRPr lang="en-US" altLang="zh-CN" sz="36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集合查询</a:t>
            </a:r>
            <a:endParaRPr lang="zh-CN" altLang="en-US" u="sng" dirty="0"/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152400" y="850900"/>
            <a:ext cx="8686800" cy="56261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显然用下列语句来完成查询更合适：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b="0" i="1" dirty="0">
                <a:solidFill>
                  <a:schemeClr val="tx1"/>
                </a:solidFill>
              </a:rPr>
              <a:t>            </a:t>
            </a:r>
            <a:r>
              <a:rPr lang="en-US" altLang="zh-CN" sz="4000" i="1" dirty="0">
                <a:solidFill>
                  <a:schemeClr val="accent2"/>
                </a:solidFill>
              </a:rPr>
              <a:t>select</a:t>
            </a:r>
            <a:r>
              <a:rPr lang="en-US" altLang="zh-CN" sz="4000" i="1" dirty="0"/>
              <a:t>  </a:t>
            </a:r>
            <a:r>
              <a:rPr lang="en-US" altLang="zh-CN" sz="4000" i="1" dirty="0">
                <a:solidFill>
                  <a:schemeClr val="tx1"/>
                </a:solidFill>
              </a:rPr>
              <a:t>sname</a:t>
            </a:r>
            <a:endParaRPr lang="en-US" altLang="zh-CN" sz="4000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600" i="1" dirty="0"/>
              <a:t>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student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  </a:t>
            </a:r>
            <a:r>
              <a:rPr lang="en-US" altLang="zh-CN" sz="3600" i="1" dirty="0"/>
              <a:t>sdept = </a:t>
            </a:r>
            <a:r>
              <a:rPr lang="en-US" altLang="zh-CN" sz="3600" i="1" dirty="0">
                <a:solidFill>
                  <a:srgbClr val="FF0000"/>
                </a:solidFill>
              </a:rPr>
              <a:t>‘CS’  </a:t>
            </a:r>
            <a:r>
              <a:rPr lang="en-US" altLang="zh-CN" sz="3600" i="1" dirty="0"/>
              <a:t>or</a:t>
            </a:r>
            <a:r>
              <a:rPr lang="en-US" altLang="zh-CN" sz="3600" i="1" dirty="0">
                <a:solidFill>
                  <a:srgbClr val="FF0000"/>
                </a:solidFill>
              </a:rPr>
              <a:t>  </a:t>
            </a:r>
            <a:r>
              <a:rPr lang="en-US" altLang="zh-CN" sz="3600" i="1" dirty="0"/>
              <a:t>sdept = </a:t>
            </a:r>
            <a:r>
              <a:rPr lang="en-US" altLang="zh-CN" sz="3600" i="1" dirty="0">
                <a:solidFill>
                  <a:srgbClr val="FF0000"/>
                </a:solidFill>
              </a:rPr>
              <a:t>‘IS’</a:t>
            </a:r>
            <a:endParaRPr lang="en-US" altLang="zh-CN" sz="3600" i="1" dirty="0">
              <a:solidFill>
                <a:srgbClr val="FF0000"/>
              </a:solidFill>
            </a:endParaRPr>
          </a:p>
          <a:p>
            <a:pPr lvl="1" eaLnBrk="1" hangingPunct="1">
              <a:buNone/>
            </a:pPr>
            <a:r>
              <a:rPr lang="zh-CN" altLang="en-US" sz="3600" i="1" dirty="0"/>
              <a:t>或 </a:t>
            </a:r>
            <a:endParaRPr lang="zh-CN" altLang="en-US" sz="3600" i="1" dirty="0"/>
          </a:p>
          <a:p>
            <a:pPr algn="just" eaLnBrk="1" hangingPunct="1">
              <a:buClrTx/>
              <a:buFontTx/>
              <a:buNone/>
            </a:pPr>
            <a:r>
              <a:rPr lang="zh-CN" altLang="en-US" sz="4000" i="1" dirty="0">
                <a:solidFill>
                  <a:schemeClr val="accent2"/>
                </a:solidFill>
              </a:rPr>
              <a:t>         </a:t>
            </a:r>
            <a:r>
              <a:rPr lang="en-US" altLang="zh-CN" sz="4000" i="1" dirty="0">
                <a:solidFill>
                  <a:schemeClr val="accent2"/>
                </a:solidFill>
              </a:rPr>
              <a:t>select</a:t>
            </a:r>
            <a:r>
              <a:rPr lang="en-US" altLang="zh-CN" sz="4000" i="1" dirty="0"/>
              <a:t>  </a:t>
            </a:r>
            <a:r>
              <a:rPr lang="en-US" altLang="zh-CN" sz="4000" i="1" dirty="0">
                <a:solidFill>
                  <a:schemeClr val="tx1"/>
                </a:solidFill>
              </a:rPr>
              <a:t>sname</a:t>
            </a:r>
            <a:endParaRPr lang="en-US" altLang="zh-CN" sz="4000" i="1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sz="3600" i="1" dirty="0"/>
              <a:t>       </a:t>
            </a:r>
            <a:r>
              <a:rPr lang="en-US" altLang="zh-CN" sz="3600" i="1" dirty="0">
                <a:solidFill>
                  <a:schemeClr val="accent2"/>
                </a:solidFill>
              </a:rPr>
              <a:t>from</a:t>
            </a:r>
            <a:r>
              <a:rPr lang="en-US" altLang="zh-CN" sz="3600" i="1" dirty="0"/>
              <a:t>   student</a:t>
            </a:r>
            <a:endParaRPr lang="en-US" altLang="zh-CN" sz="3600" i="1" dirty="0"/>
          </a:p>
          <a:p>
            <a:pPr lvl="1" eaLnBrk="1" hangingPunct="1">
              <a:buNone/>
            </a:pPr>
            <a:r>
              <a:rPr lang="en-US" altLang="zh-CN" sz="3600" i="1" dirty="0"/>
              <a:t>      </a:t>
            </a:r>
            <a:r>
              <a:rPr lang="en-US" altLang="zh-CN" sz="3600" i="1" dirty="0">
                <a:solidFill>
                  <a:schemeClr val="accent2"/>
                </a:solidFill>
              </a:rPr>
              <a:t>where  </a:t>
            </a:r>
            <a:r>
              <a:rPr lang="en-US" altLang="zh-CN" sz="3600" i="1" dirty="0"/>
              <a:t>sdept  in</a:t>
            </a:r>
            <a:r>
              <a:rPr lang="en-US" altLang="zh-CN" sz="3600" i="1" dirty="0">
                <a:solidFill>
                  <a:schemeClr val="accent2"/>
                </a:solidFill>
              </a:rPr>
              <a:t> </a:t>
            </a:r>
            <a:r>
              <a:rPr lang="en-US" altLang="zh-CN" sz="3600" i="1" dirty="0"/>
              <a:t>  (</a:t>
            </a:r>
            <a:r>
              <a:rPr lang="en-US" altLang="zh-CN" sz="3600" i="1" dirty="0">
                <a:solidFill>
                  <a:srgbClr val="FF0000"/>
                </a:solidFill>
              </a:rPr>
              <a:t>‘CS’</a:t>
            </a:r>
            <a:r>
              <a:rPr lang="en-US" altLang="zh-CN" sz="3600" i="1" dirty="0"/>
              <a:t>,</a:t>
            </a:r>
            <a:r>
              <a:rPr lang="en-US" altLang="zh-CN" sz="3600" i="1" dirty="0">
                <a:solidFill>
                  <a:srgbClr val="FF0000"/>
                </a:solidFill>
              </a:rPr>
              <a:t>’IS’)</a:t>
            </a:r>
            <a:endParaRPr lang="en-US" altLang="zh-CN" sz="36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集合查询</a:t>
            </a:r>
            <a:endParaRPr lang="zh-CN" altLang="en-US" u="sng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190500" y="774700"/>
            <a:ext cx="8686800" cy="58547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55] </a:t>
            </a:r>
            <a:r>
              <a:rPr lang="zh-CN" altLang="en-US" dirty="0">
                <a:solidFill>
                  <a:schemeClr val="tx1"/>
                </a:solidFill>
              </a:rPr>
              <a:t>求选修‘</a:t>
            </a:r>
            <a:r>
              <a:rPr lang="en-US" altLang="zh-CN" dirty="0">
                <a:solidFill>
                  <a:schemeClr val="tx1"/>
                </a:solidFill>
              </a:rPr>
              <a:t>1’</a:t>
            </a:r>
            <a:r>
              <a:rPr lang="zh-CN" altLang="en-US" dirty="0">
                <a:solidFill>
                  <a:schemeClr val="tx1"/>
                </a:solidFill>
              </a:rPr>
              <a:t>号课程的学生和选修‘</a:t>
            </a:r>
            <a:r>
              <a:rPr lang="en-US" altLang="zh-CN" dirty="0">
                <a:solidFill>
                  <a:schemeClr val="tx1"/>
                </a:solidFill>
              </a:rPr>
              <a:t>2’</a:t>
            </a:r>
            <a:r>
              <a:rPr lang="zh-CN" altLang="en-US" dirty="0">
                <a:solidFill>
                  <a:schemeClr val="tx1"/>
                </a:solidFill>
              </a:rPr>
              <a:t>号课程的学生的交集。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前面至少给出过两种解法，从略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</a:t>
            </a:r>
            <a:r>
              <a:rPr lang="zh-CN" altLang="en-US" i="1" dirty="0">
                <a:solidFill>
                  <a:schemeClr val="tx1"/>
                </a:solidFill>
              </a:rPr>
              <a:t>可否：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>
                <a:solidFill>
                  <a:schemeClr val="tx1"/>
                </a:solidFill>
              </a:rPr>
              <a:t>  cno  =</a:t>
            </a:r>
            <a:r>
              <a:rPr lang="en-US" altLang="zh-CN" i="1" dirty="0">
                <a:solidFill>
                  <a:srgbClr val="FF0000"/>
                </a:solidFill>
              </a:rPr>
              <a:t>‘1’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and</a:t>
            </a:r>
            <a:r>
              <a:rPr lang="en-US" altLang="zh-CN" i="1" dirty="0">
                <a:solidFill>
                  <a:schemeClr val="tx1"/>
                </a:solidFill>
              </a:rPr>
              <a:t> cno = </a:t>
            </a:r>
            <a:r>
              <a:rPr lang="en-US" altLang="zh-CN" i="1" dirty="0">
                <a:solidFill>
                  <a:srgbClr val="FF0000"/>
                </a:solidFill>
              </a:rPr>
              <a:t>’2’</a:t>
            </a:r>
            <a:r>
              <a:rPr lang="en-US" altLang="zh-CN" i="1" dirty="0">
                <a:solidFill>
                  <a:schemeClr val="tx1"/>
                </a:solidFill>
              </a:rPr>
              <a:t>  </a:t>
            </a:r>
            <a:r>
              <a:rPr lang="en-US" altLang="zh-CN" i="1" dirty="0">
                <a:solidFill>
                  <a:srgbClr val="FF0000"/>
                </a:solidFill>
                <a:sym typeface="Wingdings" panose="05000000000000000000" pitchFamily="2" charset="2"/>
              </a:rPr>
              <a:t>?</a:t>
            </a:r>
            <a:endParaRPr lang="en-US" altLang="zh-CN" i="1" dirty="0">
              <a:solidFill>
                <a:srgbClr val="FF0000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56] </a:t>
            </a:r>
            <a:r>
              <a:rPr lang="zh-CN" altLang="en-US" dirty="0">
                <a:solidFill>
                  <a:schemeClr val="tx1"/>
                </a:solidFill>
              </a:rPr>
              <a:t>求‘</a:t>
            </a:r>
            <a:r>
              <a:rPr lang="en-US" altLang="zh-CN" dirty="0">
                <a:solidFill>
                  <a:schemeClr val="tx1"/>
                </a:solidFill>
              </a:rPr>
              <a:t>CS’</a:t>
            </a:r>
            <a:r>
              <a:rPr lang="zh-CN" altLang="en-US" dirty="0">
                <a:solidFill>
                  <a:schemeClr val="tx1"/>
                </a:solidFill>
              </a:rPr>
              <a:t>系的学生与</a:t>
            </a:r>
            <a:r>
              <a:rPr lang="en-US" altLang="zh-CN" dirty="0">
                <a:solidFill>
                  <a:schemeClr val="tx1"/>
                </a:solidFill>
              </a:rPr>
              <a:t>19</a:t>
            </a:r>
            <a:r>
              <a:rPr lang="zh-CN" altLang="en-US" dirty="0">
                <a:solidFill>
                  <a:schemeClr val="tx1"/>
                </a:solidFill>
              </a:rPr>
              <a:t>岁以上学生的交集。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b="0" i="1" dirty="0">
                <a:solidFill>
                  <a:schemeClr val="tx1"/>
                </a:solidFill>
              </a:rPr>
              <a:t>           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略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</a:t>
            </a:r>
            <a:r>
              <a:rPr lang="zh-CN" altLang="en-US" i="1" dirty="0">
                <a:solidFill>
                  <a:schemeClr val="tx1"/>
                </a:solidFill>
              </a:rPr>
              <a:t>提示：</a:t>
            </a:r>
            <a:r>
              <a:rPr lang="en-US" altLang="zh-CN" i="1" dirty="0">
                <a:solidFill>
                  <a:schemeClr val="tx1"/>
                </a:solidFill>
              </a:rPr>
              <a:t>sdept = </a:t>
            </a:r>
            <a:r>
              <a:rPr lang="en-US" altLang="zh-CN" i="1" dirty="0">
                <a:solidFill>
                  <a:srgbClr val="FF0000"/>
                </a:solidFill>
              </a:rPr>
              <a:t>‘CS’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and</a:t>
            </a:r>
            <a:r>
              <a:rPr lang="en-US" altLang="zh-CN" i="1" dirty="0">
                <a:solidFill>
                  <a:schemeClr val="tx1"/>
                </a:solidFill>
              </a:rPr>
              <a:t>  </a:t>
            </a:r>
            <a:r>
              <a:rPr lang="zh-CN" altLang="en-US" i="1" dirty="0">
                <a:solidFill>
                  <a:schemeClr val="tx1"/>
                </a:solidFill>
              </a:rPr>
              <a:t>年龄</a:t>
            </a:r>
            <a:r>
              <a:rPr lang="en-US" altLang="zh-CN" i="1" dirty="0">
                <a:solidFill>
                  <a:schemeClr val="tx1"/>
                </a:solidFill>
              </a:rPr>
              <a:t>&gt;=19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57] </a:t>
            </a:r>
            <a:r>
              <a:rPr lang="zh-CN" altLang="en-US" dirty="0">
                <a:solidFill>
                  <a:schemeClr val="tx1"/>
                </a:solidFill>
              </a:rPr>
              <a:t>求‘</a:t>
            </a:r>
            <a:r>
              <a:rPr lang="en-US" altLang="zh-CN" dirty="0">
                <a:solidFill>
                  <a:schemeClr val="tx1"/>
                </a:solidFill>
              </a:rPr>
              <a:t>CS’</a:t>
            </a:r>
            <a:r>
              <a:rPr lang="zh-CN" altLang="en-US" dirty="0">
                <a:solidFill>
                  <a:schemeClr val="tx1"/>
                </a:solidFill>
              </a:rPr>
              <a:t>系的学生与</a:t>
            </a:r>
            <a:r>
              <a:rPr lang="en-US" altLang="zh-CN" dirty="0">
                <a:solidFill>
                  <a:schemeClr val="tx1"/>
                </a:solidFill>
              </a:rPr>
              <a:t>19</a:t>
            </a:r>
            <a:r>
              <a:rPr lang="zh-CN" altLang="en-US" dirty="0">
                <a:solidFill>
                  <a:schemeClr val="tx1"/>
                </a:solidFill>
              </a:rPr>
              <a:t>岁以上学生的差集。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zh-CN" altLang="en-US" b="0" i="1" dirty="0">
                <a:solidFill>
                  <a:schemeClr val="tx1"/>
                </a:solidFill>
              </a:rPr>
              <a:t>           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略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</a:t>
            </a:r>
            <a:r>
              <a:rPr lang="zh-CN" altLang="en-US" i="1" dirty="0">
                <a:solidFill>
                  <a:schemeClr val="tx1"/>
                </a:solidFill>
              </a:rPr>
              <a:t>提示：</a:t>
            </a:r>
            <a:r>
              <a:rPr lang="en-US" altLang="zh-CN" i="1" dirty="0">
                <a:solidFill>
                  <a:schemeClr val="tx1"/>
                </a:solidFill>
              </a:rPr>
              <a:t>sdept = </a:t>
            </a:r>
            <a:r>
              <a:rPr lang="en-US" altLang="zh-CN" i="1" dirty="0">
                <a:solidFill>
                  <a:srgbClr val="FF0000"/>
                </a:solidFill>
              </a:rPr>
              <a:t>‘CS’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and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r>
              <a:rPr lang="zh-CN" altLang="en-US" i="1" dirty="0">
                <a:solidFill>
                  <a:schemeClr val="tx1"/>
                </a:solidFill>
              </a:rPr>
              <a:t>年龄</a:t>
            </a:r>
            <a:r>
              <a:rPr lang="en-US" altLang="zh-CN" i="1" dirty="0">
                <a:solidFill>
                  <a:schemeClr val="tx1"/>
                </a:solidFill>
              </a:rPr>
              <a:t>&lt;19</a:t>
            </a:r>
            <a:endParaRPr lang="en-US" altLang="zh-CN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398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概述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单表查询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3.3.3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连接查询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3.3.4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嵌套查询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3.3.5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集合查询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3.3.6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小结 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3.3   </a:t>
            </a:r>
            <a:r>
              <a:rPr lang="zh-CN" altLang="en-US" dirty="0"/>
              <a:t>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39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dirty="0">
                <a:solidFill>
                  <a:srgbClr val="FF0000"/>
                </a:solidFill>
              </a:rPr>
              <a:t>Select</a:t>
            </a:r>
            <a:r>
              <a:rPr lang="zh-CN" altLang="en-US" dirty="0">
                <a:solidFill>
                  <a:srgbClr val="FF0000"/>
                </a:solidFill>
              </a:rPr>
              <a:t>语句的一般格式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[ALL|DISTINCT]  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目标列表达式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 [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别名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] [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目标列表达式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 [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别名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]] …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FROM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表名或视图名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 [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别名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     [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表名或视图名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 [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别名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] … ] 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WHERE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条件表达式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&gt;]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GROUP BY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&gt;[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&gt;] ...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HAVING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条件表达式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&gt;]]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ORDER BY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  [ASC|DESC] 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      [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&gt; [ASC|DESC] ] …  ]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39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目标列表达式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(1) [ &lt;</a:t>
            </a:r>
            <a:r>
              <a:rPr lang="zh-CN" altLang="en-US" dirty="0"/>
              <a:t>表名</a:t>
            </a:r>
            <a:r>
              <a:rPr lang="en-US" altLang="zh-CN" dirty="0"/>
              <a:t>&gt;.] *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(2) [&lt;</a:t>
            </a:r>
            <a:r>
              <a:rPr lang="zh-CN" altLang="en-US" dirty="0"/>
              <a:t>表名</a:t>
            </a:r>
            <a:r>
              <a:rPr lang="en-US" altLang="zh-CN" dirty="0"/>
              <a:t>&gt;.]&lt;</a:t>
            </a:r>
            <a:r>
              <a:rPr lang="zh-CN" altLang="en-US" dirty="0"/>
              <a:t>属性列名表达式</a:t>
            </a:r>
            <a:r>
              <a:rPr lang="en-US" altLang="zh-CN" dirty="0"/>
              <a:t>&gt;[</a:t>
            </a:r>
            <a:r>
              <a:rPr lang="zh-CN" altLang="en-US" dirty="0"/>
              <a:t>，</a:t>
            </a:r>
            <a:r>
              <a:rPr lang="en-US" altLang="zh-CN" dirty="0"/>
              <a:t>[&lt;</a:t>
            </a:r>
            <a:r>
              <a:rPr lang="zh-CN" altLang="en-US" dirty="0"/>
              <a:t>表名</a:t>
            </a:r>
            <a:r>
              <a:rPr lang="en-US" altLang="zh-CN" dirty="0"/>
              <a:t>&gt;.]&lt;</a:t>
            </a:r>
            <a:r>
              <a:rPr lang="zh-CN" altLang="en-US" dirty="0"/>
              <a:t>属性列名表达式</a:t>
            </a:r>
            <a:r>
              <a:rPr lang="en-US" altLang="zh-CN" dirty="0"/>
              <a:t>&gt;] …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&lt;</a:t>
            </a:r>
            <a:r>
              <a:rPr lang="zh-CN" altLang="en-US" dirty="0"/>
              <a:t>属性列名表达式</a:t>
            </a:r>
            <a:r>
              <a:rPr lang="en-US" altLang="zh-CN" dirty="0"/>
              <a:t>&gt;</a:t>
            </a:r>
            <a:r>
              <a:rPr lang="zh-CN" altLang="en-US" dirty="0"/>
              <a:t>：由</a:t>
            </a:r>
            <a:r>
              <a:rPr lang="zh-CN" altLang="en-US" dirty="0">
                <a:solidFill>
                  <a:schemeClr val="accent2"/>
                </a:solidFill>
              </a:rPr>
              <a:t>属性列</a:t>
            </a:r>
            <a:r>
              <a:rPr lang="zh-CN" altLang="en-US" dirty="0"/>
              <a:t>、作用于属性列的</a:t>
            </a:r>
            <a:r>
              <a:rPr lang="zh-CN" altLang="en-US" dirty="0">
                <a:solidFill>
                  <a:schemeClr val="accent2"/>
                </a:solidFill>
              </a:rPr>
              <a:t>集函数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2"/>
                </a:solidFill>
              </a:rPr>
              <a:t>常量</a:t>
            </a:r>
            <a:r>
              <a:rPr lang="zh-CN" altLang="en-US" dirty="0"/>
              <a:t>的任意算术运算（</a:t>
            </a:r>
            <a:r>
              <a:rPr lang="en-US" altLang="zh-CN" dirty="0"/>
              <a:t>+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zh-CN" altLang="en-US" dirty="0"/>
              <a:t>，*，</a:t>
            </a:r>
            <a:r>
              <a:rPr lang="en-US" altLang="zh-CN" dirty="0"/>
              <a:t>/</a:t>
            </a:r>
            <a:r>
              <a:rPr lang="zh-CN" altLang="en-US" dirty="0"/>
              <a:t>）组成的运算公式。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(3) Count([Distinct|All]*)</a:t>
            </a:r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39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集函数的一般格式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lvl="1" eaLnBrk="1" hangingPunct="1"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COUNT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SUM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AVG         ([DISTINCT|ALL] &lt;</a:t>
            </a:r>
            <a:r>
              <a:rPr lang="zh-CN" altLang="en-US" dirty="0"/>
              <a:t>列名</a:t>
            </a:r>
            <a:r>
              <a:rPr lang="en-US" altLang="zh-CN" dirty="0"/>
              <a:t>&gt;)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MAX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MIN</a:t>
            </a:r>
            <a:endParaRPr lang="en-US" altLang="zh-CN" dirty="0"/>
          </a:p>
          <a:p>
            <a:pPr lvl="1" eaLnBrk="1" hangingPunct="1">
              <a:buNone/>
            </a:pP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COUNT  ([DISTINCT|ALL] *)</a:t>
            </a:r>
            <a:endParaRPr lang="en-US" altLang="zh-CN" dirty="0"/>
          </a:p>
        </p:txBody>
      </p:sp>
      <p:sp>
        <p:nvSpPr>
          <p:cNvPr id="56325" name="AutoShape 4"/>
          <p:cNvSpPr/>
          <p:nvPr/>
        </p:nvSpPr>
        <p:spPr>
          <a:xfrm>
            <a:off x="1155700" y="1828800"/>
            <a:ext cx="1981200" cy="2209800"/>
          </a:xfrm>
          <a:prstGeom prst="bracePair">
            <a:avLst>
              <a:gd name="adj" fmla="val 6972"/>
            </a:avLst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39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条件表达式的格式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zh-CN" altLang="en-US" sz="3600" dirty="0">
                <a:solidFill>
                  <a:schemeClr val="accent2"/>
                </a:solidFill>
              </a:rPr>
              <a:t>   </a:t>
            </a:r>
            <a:r>
              <a:rPr lang="en-US" altLang="zh-CN" sz="3600" dirty="0">
                <a:solidFill>
                  <a:schemeClr val="accent2"/>
                </a:solidFill>
              </a:rPr>
              <a:t>(1)</a:t>
            </a:r>
            <a:endParaRPr lang="en-US" altLang="zh-CN" sz="3600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en-US" altLang="zh-CN" dirty="0"/>
              <a:t>                             &lt;</a:t>
            </a:r>
            <a:r>
              <a:rPr lang="zh-CN" altLang="en-US" dirty="0"/>
              <a:t>属性列名</a:t>
            </a:r>
            <a:r>
              <a:rPr lang="en-US" altLang="zh-CN" dirty="0"/>
              <a:t>&gt;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&lt;</a:t>
            </a:r>
            <a:r>
              <a:rPr lang="zh-CN" altLang="en-US" dirty="0"/>
              <a:t>属性列名</a:t>
            </a:r>
            <a:r>
              <a:rPr lang="en-US" altLang="zh-CN" dirty="0"/>
              <a:t>&gt; θ    &lt;</a:t>
            </a:r>
            <a:r>
              <a:rPr lang="zh-CN" altLang="en-US" dirty="0"/>
              <a:t>常量</a:t>
            </a:r>
            <a:r>
              <a:rPr lang="en-US" altLang="zh-CN" dirty="0"/>
              <a:t>&gt;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				    [ANY|ALL] (SELECT</a:t>
            </a:r>
            <a:r>
              <a:rPr lang="zh-CN" altLang="en-US" dirty="0"/>
              <a:t>语句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buNone/>
            </a:pPr>
            <a:endParaRPr lang="en-US" altLang="zh-CN" dirty="0"/>
          </a:p>
        </p:txBody>
      </p:sp>
      <p:sp>
        <p:nvSpPr>
          <p:cNvPr id="57349" name="AutoShape 4"/>
          <p:cNvSpPr/>
          <p:nvPr/>
        </p:nvSpPr>
        <p:spPr>
          <a:xfrm>
            <a:off x="3213100" y="2247900"/>
            <a:ext cx="5029200" cy="1701800"/>
          </a:xfrm>
          <a:prstGeom prst="bracePair">
            <a:avLst>
              <a:gd name="adj" fmla="val 6972"/>
            </a:avLst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39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条件表达式的格式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zh-CN" altLang="en-US" sz="3600" dirty="0">
                <a:solidFill>
                  <a:schemeClr val="accent2"/>
                </a:solidFill>
              </a:rPr>
              <a:t>   </a:t>
            </a:r>
            <a:r>
              <a:rPr lang="en-US" altLang="zh-CN" sz="3600" dirty="0">
                <a:solidFill>
                  <a:schemeClr val="accent2"/>
                </a:solidFill>
              </a:rPr>
              <a:t>(2)</a:t>
            </a:r>
            <a:endParaRPr lang="en-US" altLang="zh-CN" sz="3600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en-US" altLang="zh-CN" dirty="0"/>
              <a:t>                             </a:t>
            </a:r>
            <a:r>
              <a:rPr lang="en-US" altLang="zh-CN" dirty="0">
                <a:latin typeface="Arial Narrow" panose="020B0606020202030204" pitchFamily="34" charset="0"/>
              </a:rPr>
              <a:t>	 </a:t>
            </a:r>
            <a:r>
              <a:rPr lang="en-US" altLang="zh-CN" sz="2400" dirty="0">
                <a:latin typeface="Arial Narrow" panose="020B0606020202030204" pitchFamily="34" charset="0"/>
              </a:rPr>
              <a:t>&lt;</a:t>
            </a:r>
            <a:r>
              <a:rPr lang="zh-CN" altLang="en-US" sz="2400" dirty="0">
                <a:latin typeface="Arial Narrow" panose="020B0606020202030204" pitchFamily="34" charset="0"/>
              </a:rPr>
              <a:t>属性列名</a:t>
            </a:r>
            <a:r>
              <a:rPr lang="en-US" altLang="zh-CN" sz="2400" dirty="0">
                <a:latin typeface="Arial Narrow" panose="020B0606020202030204" pitchFamily="34" charset="0"/>
              </a:rPr>
              <a:t>&gt;               &lt;</a:t>
            </a:r>
            <a:r>
              <a:rPr lang="zh-CN" altLang="en-US" sz="2400" dirty="0">
                <a:latin typeface="Arial Narrow" panose="020B0606020202030204" pitchFamily="34" charset="0"/>
              </a:rPr>
              <a:t>属性列名</a:t>
            </a:r>
            <a:r>
              <a:rPr lang="en-US" altLang="zh-CN" sz="2400" dirty="0">
                <a:latin typeface="Arial Narrow" panose="020B0606020202030204" pitchFamily="34" charset="0"/>
              </a:rPr>
              <a:t>&gt;  </a:t>
            </a:r>
            <a:endParaRPr lang="en-US" altLang="zh-CN" sz="2400" dirty="0"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属性列名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&gt; </a:t>
            </a:r>
            <a:r>
              <a:rPr lang="en-US" altLang="zh-CN" sz="2000" dirty="0">
                <a:solidFill>
                  <a:schemeClr val="tx1"/>
                </a:solidFill>
                <a:latin typeface="Arial Narrow" panose="020B0606020202030204" pitchFamily="34" charset="0"/>
              </a:rPr>
              <a:t>[NOT] BETWEEN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常量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&gt;       AND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   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常量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&gt;      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                            	 	  (SELECT                  (SELECT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					   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语句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) 	              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语句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)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8373" name="AutoShape 4"/>
          <p:cNvSpPr/>
          <p:nvPr/>
        </p:nvSpPr>
        <p:spPr>
          <a:xfrm>
            <a:off x="4140200" y="2420938"/>
            <a:ext cx="1981200" cy="1701800"/>
          </a:xfrm>
          <a:prstGeom prst="bracePair">
            <a:avLst>
              <a:gd name="adj" fmla="val 6972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400" dirty="0">
              <a:solidFill>
                <a:schemeClr val="accent2"/>
              </a:solidFill>
              <a:ea typeface="经典综艺体简" pitchFamily="49" charset="-122"/>
            </a:endParaRPr>
          </a:p>
        </p:txBody>
      </p:sp>
      <p:sp>
        <p:nvSpPr>
          <p:cNvPr id="58374" name="AutoShape 5"/>
          <p:cNvSpPr/>
          <p:nvPr/>
        </p:nvSpPr>
        <p:spPr>
          <a:xfrm>
            <a:off x="6948488" y="2492375"/>
            <a:ext cx="1981200" cy="1701800"/>
          </a:xfrm>
          <a:prstGeom prst="bracePair">
            <a:avLst>
              <a:gd name="adj" fmla="val 6972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400" dirty="0">
              <a:solidFill>
                <a:schemeClr val="accent2"/>
              </a:solidFill>
              <a:ea typeface="经典综艺体简" pitchFamily="49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3975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条件表达式的格式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zh-CN" altLang="en-US" sz="3600" dirty="0">
                <a:solidFill>
                  <a:schemeClr val="accent2"/>
                </a:solidFill>
              </a:rPr>
              <a:t>   </a:t>
            </a:r>
            <a:r>
              <a:rPr lang="en-US" altLang="zh-CN" sz="3600" dirty="0">
                <a:solidFill>
                  <a:schemeClr val="accent2"/>
                </a:solidFill>
              </a:rPr>
              <a:t>(3)</a:t>
            </a:r>
            <a:endParaRPr lang="en-US" altLang="zh-CN" sz="3600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en-US" altLang="zh-CN" dirty="0"/>
              <a:t>                             </a:t>
            </a:r>
            <a:r>
              <a:rPr lang="en-US" altLang="zh-CN" sz="3200" dirty="0">
                <a:latin typeface="Arial Narrow" panose="020B0606020202030204" pitchFamily="34" charset="0"/>
              </a:rPr>
              <a:t>	        </a:t>
            </a:r>
            <a:r>
              <a:rPr lang="en-US" altLang="zh-CN" sz="3200" dirty="0"/>
              <a:t>(&lt;</a:t>
            </a:r>
            <a:r>
              <a:rPr lang="zh-CN" altLang="en-US" sz="3200" dirty="0"/>
              <a:t>值</a:t>
            </a:r>
            <a:r>
              <a:rPr lang="en-US" altLang="zh-CN" sz="3200" dirty="0"/>
              <a:t>1&gt;[</a:t>
            </a:r>
            <a:r>
              <a:rPr lang="zh-CN" altLang="en-US" sz="3200" dirty="0"/>
              <a:t>，</a:t>
            </a:r>
            <a:r>
              <a:rPr lang="en-US" altLang="zh-CN" sz="3200" dirty="0"/>
              <a:t>&lt;</a:t>
            </a:r>
            <a:r>
              <a:rPr lang="zh-CN" altLang="en-US" sz="3200" dirty="0"/>
              <a:t>值</a:t>
            </a:r>
            <a:r>
              <a:rPr lang="en-US" altLang="zh-CN" sz="3200" dirty="0"/>
              <a:t>2&gt; ] …)</a:t>
            </a:r>
            <a:endParaRPr lang="en-US" altLang="zh-CN" sz="3200" dirty="0"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</a:rPr>
              <a:t>&lt;</a:t>
            </a:r>
            <a:r>
              <a:rPr lang="zh-CN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属性列名</a:t>
            </a: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</a:rPr>
              <a:t>&gt; [NOT]  IN 	 	 </a:t>
            </a:r>
            <a:endParaRPr lang="en-US" altLang="zh-CN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</a:rPr>
              <a:t>                                                     (SELECT</a:t>
            </a:r>
            <a:r>
              <a:rPr lang="zh-CN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语句</a:t>
            </a: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9397" name="AutoShape 4"/>
          <p:cNvSpPr/>
          <p:nvPr/>
        </p:nvSpPr>
        <p:spPr>
          <a:xfrm>
            <a:off x="4500563" y="2420938"/>
            <a:ext cx="4267200" cy="1701800"/>
          </a:xfrm>
          <a:prstGeom prst="bracePair">
            <a:avLst>
              <a:gd name="adj" fmla="val 6972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400" dirty="0">
              <a:solidFill>
                <a:schemeClr val="accent2"/>
              </a:solidFill>
              <a:ea typeface="经典综艺体简" pitchFamily="49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39624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条件表达式的格式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zh-CN" altLang="en-US" sz="3600" dirty="0">
                <a:solidFill>
                  <a:schemeClr val="accent2"/>
                </a:solidFill>
              </a:rPr>
              <a:t>  </a:t>
            </a:r>
            <a:r>
              <a:rPr lang="en-US" altLang="zh-CN" dirty="0">
                <a:solidFill>
                  <a:schemeClr val="accent2"/>
                </a:solidFill>
              </a:rPr>
              <a:t>(4)</a:t>
            </a:r>
            <a:r>
              <a:rPr lang="en-US" altLang="zh-CN" dirty="0">
                <a:solidFill>
                  <a:schemeClr val="tx1"/>
                </a:solidFill>
              </a:rPr>
              <a:t>   &lt;</a:t>
            </a:r>
            <a:r>
              <a:rPr lang="zh-CN" altLang="en-US" dirty="0">
                <a:solidFill>
                  <a:schemeClr val="tx1"/>
                </a:solidFill>
              </a:rPr>
              <a:t>属性列名</a:t>
            </a:r>
            <a:r>
              <a:rPr lang="en-US" altLang="zh-CN" dirty="0">
                <a:solidFill>
                  <a:schemeClr val="tx1"/>
                </a:solidFill>
              </a:rPr>
              <a:t>&gt; [NOT]  LIKE  &lt;</a:t>
            </a:r>
            <a:r>
              <a:rPr lang="zh-CN" altLang="en-US" dirty="0">
                <a:solidFill>
                  <a:schemeClr val="tx1"/>
                </a:solidFill>
              </a:rPr>
              <a:t>匹配串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en-US" altLang="zh-CN" dirty="0">
                <a:solidFill>
                  <a:schemeClr val="accent2"/>
                </a:solidFill>
              </a:rPr>
              <a:t>(5)</a:t>
            </a:r>
            <a:r>
              <a:rPr lang="en-US" altLang="zh-CN" dirty="0">
                <a:solidFill>
                  <a:schemeClr val="tx1"/>
                </a:solidFill>
              </a:rPr>
              <a:t>  &lt;</a:t>
            </a:r>
            <a:r>
              <a:rPr lang="zh-CN" altLang="en-US" dirty="0">
                <a:solidFill>
                  <a:schemeClr val="tx1"/>
                </a:solidFill>
              </a:rPr>
              <a:t>属性列名</a:t>
            </a:r>
            <a:r>
              <a:rPr lang="en-US" altLang="zh-CN" dirty="0">
                <a:solidFill>
                  <a:schemeClr val="tx1"/>
                </a:solidFill>
              </a:rPr>
              <a:t>&gt;  IS  [NOT]  NULL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en-US" altLang="zh-CN" dirty="0">
                <a:solidFill>
                  <a:schemeClr val="accent2"/>
                </a:solidFill>
              </a:rPr>
              <a:t>(6)</a:t>
            </a:r>
            <a:r>
              <a:rPr lang="en-US" altLang="zh-CN" dirty="0">
                <a:solidFill>
                  <a:schemeClr val="tx1"/>
                </a:solidFill>
              </a:rPr>
              <a:t>  [NOT] EXISTS  (SELECT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en-US" altLang="zh-CN" dirty="0"/>
              <a:t>                             </a:t>
            </a:r>
            <a:r>
              <a:rPr lang="en-US" altLang="zh-CN" sz="3200" dirty="0">
                <a:latin typeface="Arial Narrow" panose="020B0606020202030204" pitchFamily="34" charset="0"/>
              </a:rPr>
              <a:t>	</a:t>
            </a:r>
            <a:endParaRPr lang="en-US" altLang="zh-CN" sz="32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3.3.5   </a:t>
            </a:r>
            <a:r>
              <a:rPr lang="zh-CN" altLang="en-US" u="sng" dirty="0"/>
              <a:t>小结</a:t>
            </a:r>
            <a:endParaRPr lang="zh-CN" altLang="en-US" u="sng" dirty="0"/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39624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sz="3600" dirty="0">
                <a:solidFill>
                  <a:srgbClr val="FF0000"/>
                </a:solidFill>
              </a:rPr>
              <a:t>条件表达式的格式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zh-CN" altLang="en-US" sz="3600" dirty="0">
                <a:solidFill>
                  <a:schemeClr val="accent2"/>
                </a:solidFill>
              </a:rPr>
              <a:t>  </a:t>
            </a:r>
            <a:r>
              <a:rPr lang="en-US" altLang="zh-CN" dirty="0">
                <a:solidFill>
                  <a:schemeClr val="accent2"/>
                </a:solidFill>
              </a:rPr>
              <a:t>(7)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sz="3600" dirty="0">
                <a:latin typeface="Arial Narrow" panose="020B0606020202030204" pitchFamily="34" charset="0"/>
              </a:rPr>
              <a:t>	</a:t>
            </a:r>
            <a:endParaRPr lang="en-US" altLang="zh-CN" sz="3600" dirty="0">
              <a:latin typeface="Arial Narrow" panose="020B0606020202030204" pitchFamily="3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en-US" altLang="zh-CN" sz="3600" dirty="0">
                <a:latin typeface="Arial Narrow" panose="020B0606020202030204" pitchFamily="34" charset="0"/>
              </a:rPr>
              <a:t>                    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AND                     AND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条件表达式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&gt;              &lt;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条件表达式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&gt;           &lt;</a:t>
            </a:r>
            <a:r>
              <a:rPr lang="zh-CN" altLang="en-US" sz="2400" dirty="0">
                <a:solidFill>
                  <a:schemeClr val="tx1"/>
                </a:solidFill>
                <a:latin typeface="Arial Narrow" panose="020B0606020202030204" pitchFamily="34" charset="0"/>
              </a:rPr>
              <a:t>条件表达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&gt;    …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                              OR                          OR</a:t>
            </a: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buNone/>
            </a:pPr>
            <a:endParaRPr lang="en-US" altLang="zh-CN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1445" name="AutoShape 4"/>
          <p:cNvSpPr/>
          <p:nvPr/>
        </p:nvSpPr>
        <p:spPr>
          <a:xfrm>
            <a:off x="2484438" y="2420938"/>
            <a:ext cx="1008062" cy="1524000"/>
          </a:xfrm>
          <a:prstGeom prst="bracePair">
            <a:avLst>
              <a:gd name="adj" fmla="val 8333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1446" name="AutoShape 5"/>
          <p:cNvSpPr/>
          <p:nvPr/>
        </p:nvSpPr>
        <p:spPr>
          <a:xfrm>
            <a:off x="4510088" y="2576513"/>
            <a:ext cx="935037" cy="1295400"/>
          </a:xfrm>
          <a:prstGeom prst="bracePair">
            <a:avLst>
              <a:gd name="adj" fmla="val 8333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1447" name="AutoShape 6"/>
          <p:cNvSpPr/>
          <p:nvPr/>
        </p:nvSpPr>
        <p:spPr>
          <a:xfrm>
            <a:off x="5435600" y="2492375"/>
            <a:ext cx="2592388" cy="1746250"/>
          </a:xfrm>
          <a:prstGeom prst="bracketPair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2467" name="Text Box 2"/>
          <p:cNvSpPr txBox="1"/>
          <p:nvPr/>
        </p:nvSpPr>
        <p:spPr>
          <a:xfrm>
            <a:off x="3124200" y="2057400"/>
            <a:ext cx="2632075" cy="15557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9600" dirty="0">
                <a:solidFill>
                  <a:schemeClr val="accent2"/>
                </a:solidFill>
              </a:rPr>
              <a:t>再见</a:t>
            </a:r>
            <a:endParaRPr lang="zh-CN" altLang="en-US" sz="9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麒麟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麒麟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麒麟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麒麟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kylin</Template>
  <TotalTime>0</TotalTime>
  <Words>13323</Words>
  <Application>WPS Presentation</Application>
  <PresentationFormat>全屏显示(4:3)</PresentationFormat>
  <Paragraphs>1099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83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经典综艺体简</vt:lpstr>
      <vt:lpstr>DengXian</vt:lpstr>
      <vt:lpstr>Courier New</vt:lpstr>
      <vt:lpstr>Symbol</vt:lpstr>
      <vt:lpstr>华文新魏</vt:lpstr>
      <vt:lpstr>Monotype Sorts</vt:lpstr>
      <vt:lpstr>Wingdings</vt:lpstr>
      <vt:lpstr>微软雅黑</vt:lpstr>
      <vt:lpstr>Arial Unicode MS</vt:lpstr>
      <vt:lpstr>Bookman Old Style</vt:lpstr>
      <vt:lpstr>麒麟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SQL</dc:title>
  <dc:creator>微软用户</dc:creator>
  <cp:lastModifiedBy>nakanosan</cp:lastModifiedBy>
  <cp:revision>33</cp:revision>
  <dcterms:created xsi:type="dcterms:W3CDTF">2026-06-17T19:28:37Z</dcterms:created>
  <dcterms:modified xsi:type="dcterms:W3CDTF">2026-06-17T19:28:37Z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A7AF39862B92ADC365F5326AFD14CE68_43</vt:lpwstr>
  </property>
  <property fmtid="{D5CDD505-2E9C-101B-9397-08002B2CF9AE}" pid="3" name="KSOProductBuildVer">
    <vt:lpwstr>1033-12.1.2.26885</vt:lpwstr>
  </property>
</Properties>
</file>