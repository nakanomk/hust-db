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124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EEA1F5-1596-4A32-9EB1-C3D8F9D4141C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EC0E91-42EC-4123-8EF4-C8D6636990E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04C068-D7C4-47C0-8578-EAB85B8A0F5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018A46-7E05-48AB-BB90-E6FE49A8D49C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2628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小结</a:t>
            </a:r>
            <a:r>
              <a:rPr lang="zh-CN" altLang="en-US" sz="4000" b="0" dirty="0">
                <a:solidFill>
                  <a:srgbClr val="278E1C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4000" b="0" dirty="0">
              <a:solidFill>
                <a:srgbClr val="278E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/>
          <p:nvPr/>
        </p:nvSpPr>
        <p:spPr>
          <a:xfrm>
            <a:off x="863600" y="31877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512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096000" cy="2895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3.4.1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插入数据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修改数据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删除数据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000" b="0" dirty="0">
              <a:solidFill>
                <a:srgbClr val="278E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   </a:t>
            </a:r>
            <a:r>
              <a:rPr lang="zh-CN" altLang="en-US" dirty="0"/>
              <a:t>数据更新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762000" y="1371600"/>
            <a:ext cx="70104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4000" dirty="0"/>
              <a:t>两种插入数据方式</a:t>
            </a:r>
            <a:endParaRPr lang="zh-CN" altLang="en-US" sz="40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4000" dirty="0"/>
              <a:t> 插入单个元组</a:t>
            </a:r>
            <a:endParaRPr lang="zh-CN" altLang="en-US" sz="40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4000" dirty="0"/>
              <a:t> 插入子查询结果</a:t>
            </a:r>
            <a:endParaRPr lang="zh-CN" altLang="en-US" sz="40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000" dirty="0">
              <a:solidFill>
                <a:srgbClr val="278E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3.4.1  </a:t>
            </a:r>
            <a:r>
              <a:rPr lang="zh-CN" altLang="en-US" dirty="0"/>
              <a:t>插入数据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插入单个元组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4000" dirty="0"/>
              <a:t> </a:t>
            </a:r>
            <a:r>
              <a:rPr lang="en-US" altLang="zh-CN" sz="3200" dirty="0">
                <a:solidFill>
                  <a:schemeClr val="accent2"/>
                </a:solidFill>
              </a:rPr>
              <a:t>INSERT  </a:t>
            </a:r>
            <a:r>
              <a:rPr lang="en-US" altLang="zh-CN" dirty="0">
                <a:solidFill>
                  <a:schemeClr val="accent2"/>
                </a:solidFill>
              </a:rPr>
              <a:t>INTO </a:t>
            </a:r>
            <a:r>
              <a:rPr lang="en-US" altLang="zh-CN" dirty="0"/>
              <a:t> &lt;</a:t>
            </a:r>
            <a:r>
              <a:rPr lang="zh-CN" altLang="en-US" dirty="0"/>
              <a:t>表名</a:t>
            </a:r>
            <a:r>
              <a:rPr lang="en-US" altLang="zh-CN" dirty="0"/>
              <a:t>&gt; [(&lt;</a:t>
            </a:r>
            <a:r>
              <a:rPr lang="zh-CN" altLang="en-US" dirty="0"/>
              <a:t>属性列</a:t>
            </a:r>
            <a:r>
              <a:rPr lang="en-US" altLang="zh-CN" dirty="0"/>
              <a:t>1&gt;[</a:t>
            </a:r>
            <a:r>
              <a:rPr lang="zh-CN" altLang="en-US" dirty="0"/>
              <a:t>，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                    </a:t>
            </a:r>
            <a:r>
              <a:rPr lang="en-US" altLang="zh-CN" dirty="0"/>
              <a:t>&lt;</a:t>
            </a:r>
            <a:r>
              <a:rPr lang="zh-CN" altLang="en-US" dirty="0"/>
              <a:t>属性列</a:t>
            </a:r>
            <a:r>
              <a:rPr lang="en-US" altLang="zh-CN" dirty="0"/>
              <a:t>2 &gt;…)]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dirty="0">
                <a:solidFill>
                  <a:schemeClr val="accent2"/>
                </a:solidFill>
              </a:rPr>
              <a:t>VALUES </a:t>
            </a:r>
            <a:r>
              <a:rPr lang="en-US" altLang="zh-CN" dirty="0">
                <a:solidFill>
                  <a:schemeClr val="tx1"/>
                </a:solidFill>
              </a:rPr>
              <a:t>(&lt;</a:t>
            </a:r>
            <a:r>
              <a:rPr lang="zh-CN" altLang="en-US" dirty="0">
                <a:solidFill>
                  <a:schemeClr val="tx1"/>
                </a:solidFill>
              </a:rPr>
              <a:t>常量</a:t>
            </a:r>
            <a:r>
              <a:rPr lang="en-US" altLang="zh-CN" dirty="0">
                <a:solidFill>
                  <a:schemeClr val="tx1"/>
                </a:solidFill>
              </a:rPr>
              <a:t>1&gt; [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常量</a:t>
            </a:r>
            <a:r>
              <a:rPr lang="en-US" altLang="zh-CN" dirty="0">
                <a:solidFill>
                  <a:schemeClr val="tx1"/>
                </a:solidFill>
              </a:rPr>
              <a:t>2&gt;]    …           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i="1" dirty="0">
                <a:solidFill>
                  <a:schemeClr val="tx1"/>
                </a:solidFill>
              </a:rPr>
              <a:t>在插入数据时，</a:t>
            </a:r>
            <a:r>
              <a:rPr lang="en-US" altLang="zh-CN" i="1" dirty="0">
                <a:solidFill>
                  <a:schemeClr val="tx1"/>
                </a:solidFill>
              </a:rPr>
              <a:t>DBMS</a:t>
            </a:r>
            <a:r>
              <a:rPr lang="zh-CN" altLang="en-US" i="1" dirty="0">
                <a:solidFill>
                  <a:schemeClr val="tx1"/>
                </a:solidFill>
              </a:rPr>
              <a:t>会自动检查完整性，破坏完整性的数据将会被警告，插入失败。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INTO</a:t>
            </a:r>
            <a:r>
              <a:rPr lang="zh-CN" altLang="en-US" dirty="0"/>
              <a:t>子句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指定要插入数据的表名及属性列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属性列的顺序可与表定义中的顺序不一致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没有指定属性列：表示要插入的是一条完整的元组，且属性列属性与表定义中的顺序一致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指定部分属性列：插入的元组在其余属性列上取空值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子句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 </a:t>
            </a:r>
            <a:r>
              <a:rPr lang="zh-CN" altLang="en-US" dirty="0"/>
              <a:t>提供的值必须与</a:t>
            </a:r>
            <a:r>
              <a:rPr lang="en-US" altLang="zh-CN" dirty="0"/>
              <a:t>INTO</a:t>
            </a:r>
            <a:r>
              <a:rPr lang="zh-CN" altLang="en-US" dirty="0"/>
              <a:t>子句匹配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值的个数</a:t>
            </a:r>
            <a:endParaRPr lang="zh-CN" altLang="en-US" sz="2800" dirty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值的类型</a:t>
            </a:r>
            <a:endParaRPr lang="zh-CN" altLang="en-US" i="1" dirty="0"/>
          </a:p>
        </p:txBody>
      </p:sp>
      <p:sp>
        <p:nvSpPr>
          <p:cNvPr id="922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58] </a:t>
            </a:r>
            <a:r>
              <a:rPr lang="zh-CN" altLang="en-US" dirty="0">
                <a:solidFill>
                  <a:schemeClr val="tx1"/>
                </a:solidFill>
              </a:rPr>
              <a:t>将一个新的系插入到系别表</a:t>
            </a:r>
            <a:r>
              <a:rPr lang="en-US" altLang="zh-CN" dirty="0">
                <a:solidFill>
                  <a:schemeClr val="tx1"/>
                </a:solidFill>
              </a:rPr>
              <a:t>(dept)</a:t>
            </a:r>
            <a:r>
              <a:rPr lang="zh-CN" altLang="en-US" dirty="0">
                <a:solidFill>
                  <a:schemeClr val="tx1"/>
                </a:solidFill>
              </a:rPr>
              <a:t>中，系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代码为‘</a:t>
            </a:r>
            <a:r>
              <a:rPr lang="en-US" altLang="zh-CN" dirty="0">
                <a:solidFill>
                  <a:schemeClr val="tx1"/>
                </a:solidFill>
              </a:rPr>
              <a:t>PH’,</a:t>
            </a:r>
            <a:r>
              <a:rPr lang="zh-CN" altLang="en-US" dirty="0">
                <a:solidFill>
                  <a:schemeClr val="tx1"/>
                </a:solidFill>
              </a:rPr>
              <a:t>名称为‘物理系’。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insert into</a:t>
            </a:r>
            <a:r>
              <a:rPr lang="en-US" altLang="zh-CN" i="1" dirty="0">
                <a:solidFill>
                  <a:schemeClr val="tx1"/>
                </a:solidFill>
              </a:rPr>
              <a:t>  dept(deptid, deptname)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values</a:t>
            </a:r>
            <a:r>
              <a:rPr lang="en-US" altLang="zh-CN" i="1" dirty="0">
                <a:solidFill>
                  <a:schemeClr val="tx1"/>
                </a:solidFill>
              </a:rPr>
              <a:t> (</a:t>
            </a:r>
            <a:r>
              <a:rPr lang="en-US" altLang="zh-CN" i="1" dirty="0">
                <a:solidFill>
                  <a:srgbClr val="FF0000"/>
                </a:solidFill>
              </a:rPr>
              <a:t>‘PH’</a:t>
            </a:r>
            <a:r>
              <a:rPr lang="en-US" altLang="zh-CN" i="1" dirty="0">
                <a:solidFill>
                  <a:schemeClr val="tx1"/>
                </a:solidFill>
              </a:rPr>
              <a:t>,</a:t>
            </a:r>
            <a:r>
              <a:rPr lang="en-US" altLang="zh-CN" i="1" dirty="0">
                <a:solidFill>
                  <a:srgbClr val="FF0000"/>
                </a:solidFill>
              </a:rPr>
              <a:t>’</a:t>
            </a:r>
            <a:r>
              <a:rPr lang="zh-CN" altLang="en-US" i="1" dirty="0">
                <a:solidFill>
                  <a:srgbClr val="FF0000"/>
                </a:solidFill>
              </a:rPr>
              <a:t>物理系’</a:t>
            </a:r>
            <a:r>
              <a:rPr lang="en-US" altLang="zh-CN" i="1" dirty="0">
                <a:solidFill>
                  <a:schemeClr val="tx1"/>
                </a:solidFill>
              </a:rPr>
              <a:t>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</a:t>
            </a:r>
            <a:r>
              <a:rPr lang="zh-CN" altLang="en-US" i="1" dirty="0">
                <a:solidFill>
                  <a:schemeClr val="tx1"/>
                </a:solidFill>
              </a:rPr>
              <a:t>由于插入的数据包括了全部的列，并按列的定义顺序排列，可以省略列的名字，写成：</a:t>
            </a:r>
            <a:endParaRPr lang="zh-CN" altLang="en-US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</a:t>
            </a:r>
            <a:r>
              <a:rPr lang="en-US" altLang="zh-CN" i="1" dirty="0">
                <a:solidFill>
                  <a:schemeClr val="accent2"/>
                </a:solidFill>
              </a:rPr>
              <a:t>insert into</a:t>
            </a:r>
            <a:r>
              <a:rPr lang="en-US" altLang="zh-CN" i="1" dirty="0">
                <a:solidFill>
                  <a:schemeClr val="tx1"/>
                </a:solidFill>
              </a:rPr>
              <a:t>  dept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values</a:t>
            </a:r>
            <a:r>
              <a:rPr lang="en-US" altLang="zh-CN" i="1" dirty="0">
                <a:solidFill>
                  <a:schemeClr val="tx1"/>
                </a:solidFill>
              </a:rPr>
              <a:t> (</a:t>
            </a:r>
            <a:r>
              <a:rPr lang="en-US" altLang="zh-CN" i="1" dirty="0">
                <a:solidFill>
                  <a:srgbClr val="FF0000"/>
                </a:solidFill>
              </a:rPr>
              <a:t>‘PH’</a:t>
            </a:r>
            <a:r>
              <a:rPr lang="en-US" altLang="zh-CN" i="1" dirty="0">
                <a:solidFill>
                  <a:schemeClr val="tx1"/>
                </a:solidFill>
              </a:rPr>
              <a:t>,</a:t>
            </a:r>
            <a:r>
              <a:rPr lang="en-US" altLang="zh-CN" i="1" dirty="0">
                <a:solidFill>
                  <a:srgbClr val="FF0000"/>
                </a:solidFill>
              </a:rPr>
              <a:t>’</a:t>
            </a:r>
            <a:r>
              <a:rPr lang="zh-CN" altLang="en-US" i="1" dirty="0">
                <a:solidFill>
                  <a:srgbClr val="FF0000"/>
                </a:solidFill>
              </a:rPr>
              <a:t>物理系’</a:t>
            </a:r>
            <a:r>
              <a:rPr lang="en-US" altLang="zh-CN" i="1" dirty="0">
                <a:solidFill>
                  <a:schemeClr val="tx1"/>
                </a:solidFill>
              </a:rPr>
              <a:t>)</a:t>
            </a:r>
            <a:endParaRPr lang="en-US" altLang="zh-CN" sz="2800" b="0" i="1" dirty="0">
              <a:solidFill>
                <a:schemeClr val="tx1"/>
              </a:solidFill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xfrm>
            <a:off x="685800" y="635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4038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59] </a:t>
            </a:r>
            <a:r>
              <a:rPr lang="zh-CN" altLang="en-US" dirty="0">
                <a:solidFill>
                  <a:schemeClr val="tx1"/>
                </a:solidFill>
              </a:rPr>
              <a:t>将一名物理系的新生信息插入到学生信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息表</a:t>
            </a:r>
            <a:r>
              <a:rPr lang="en-US" altLang="zh-CN" dirty="0">
                <a:solidFill>
                  <a:schemeClr val="tx1"/>
                </a:solidFill>
              </a:rPr>
              <a:t>(student)</a:t>
            </a:r>
            <a:r>
              <a:rPr lang="zh-CN" altLang="en-US" dirty="0">
                <a:solidFill>
                  <a:schemeClr val="tx1"/>
                </a:solidFill>
              </a:rPr>
              <a:t>中。该学生的信息如下：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b="0" dirty="0"/>
              <a:t>                 </a:t>
            </a:r>
            <a:r>
              <a:rPr lang="zh-CN" altLang="en-US" sz="2800" dirty="0"/>
              <a:t>陈冬，男，</a:t>
            </a:r>
            <a:r>
              <a:rPr lang="en-US" altLang="zh-CN" sz="2800" dirty="0"/>
              <a:t>01.3.20</a:t>
            </a:r>
            <a:r>
              <a:rPr lang="zh-CN" altLang="en-US" sz="2800" dirty="0"/>
              <a:t>出生，学号：</a:t>
            </a:r>
            <a:r>
              <a:rPr lang="en-US" altLang="zh-CN" sz="2800" dirty="0"/>
              <a:t>05020</a:t>
            </a:r>
            <a:endParaRPr lang="en-US" altLang="zh-CN" sz="2800" dirty="0"/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insert into</a:t>
            </a:r>
            <a:r>
              <a:rPr lang="en-US" altLang="zh-CN" i="1" dirty="0">
                <a:solidFill>
                  <a:schemeClr val="tx1"/>
                </a:solidFill>
              </a:rPr>
              <a:t>  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values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/>
              <a:t>' 05020 ', '</a:t>
            </a:r>
            <a:r>
              <a:rPr lang="zh-CN" altLang="en-US" dirty="0"/>
              <a:t>陈冬</a:t>
            </a:r>
            <a:r>
              <a:rPr lang="en-US" altLang="zh-CN" dirty="0"/>
              <a:t>', ' 1 ', ' 01-3-20 ', ' PH'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en-US" altLang="zh-CN" i="1" dirty="0">
                <a:solidFill>
                  <a:schemeClr val="tx1"/>
                </a:solidFill>
              </a:rPr>
              <a:t>   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685800" y="635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152400" y="9779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60] </a:t>
            </a:r>
            <a:r>
              <a:rPr lang="zh-CN" altLang="en-US" dirty="0">
                <a:solidFill>
                  <a:schemeClr val="tx1"/>
                </a:solidFill>
              </a:rPr>
              <a:t>刚插入的</a:t>
            </a:r>
            <a:r>
              <a:rPr lang="en-US" altLang="zh-CN" dirty="0">
                <a:solidFill>
                  <a:schemeClr val="tx1"/>
                </a:solidFill>
              </a:rPr>
              <a:t>05020</a:t>
            </a:r>
            <a:r>
              <a:rPr lang="zh-CN" altLang="en-US" dirty="0">
                <a:solidFill>
                  <a:schemeClr val="tx1"/>
                </a:solidFill>
              </a:rPr>
              <a:t>学生选修了‘</a:t>
            </a:r>
            <a:r>
              <a:rPr lang="en-US" altLang="zh-CN" dirty="0">
                <a:solidFill>
                  <a:schemeClr val="tx1"/>
                </a:solidFill>
              </a:rPr>
              <a:t>1’</a:t>
            </a:r>
            <a:r>
              <a:rPr lang="zh-CN" altLang="en-US" dirty="0">
                <a:solidFill>
                  <a:schemeClr val="tx1"/>
                </a:solidFill>
              </a:rPr>
              <a:t>号课程，将这个选课记录插入到选课登记表。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insert into</a:t>
            </a:r>
            <a:r>
              <a:rPr lang="en-US" altLang="zh-CN" sz="3600" i="1" dirty="0">
                <a:solidFill>
                  <a:schemeClr val="tx1"/>
                </a:solidFill>
              </a:rPr>
              <a:t>  SC(sno,cno)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values</a:t>
            </a:r>
            <a:r>
              <a:rPr lang="en-US" altLang="zh-CN" sz="3600" i="1" dirty="0">
                <a:solidFill>
                  <a:schemeClr val="tx1"/>
                </a:solidFill>
              </a:rPr>
              <a:t> </a:t>
            </a:r>
            <a:r>
              <a:rPr lang="en-US" altLang="zh-CN" sz="3600" dirty="0">
                <a:solidFill>
                  <a:schemeClr val="tx1"/>
                </a:solidFill>
              </a:rPr>
              <a:t>(</a:t>
            </a:r>
            <a:r>
              <a:rPr lang="en-US" altLang="zh-CN" sz="3600" dirty="0"/>
              <a:t>‘ 05020 ’, ‘ 1 ’</a:t>
            </a:r>
            <a:r>
              <a:rPr lang="en-US" altLang="zh-CN" sz="3600" dirty="0">
                <a:solidFill>
                  <a:schemeClr val="tx1"/>
                </a:solidFill>
              </a:rPr>
              <a:t>)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zh-CN" altLang="en-US" i="1" dirty="0">
                <a:solidFill>
                  <a:schemeClr val="tx1"/>
                </a:solidFill>
              </a:rPr>
              <a:t>注：成绩</a:t>
            </a:r>
            <a:r>
              <a:rPr lang="en-US" altLang="zh-CN" i="1" dirty="0">
                <a:solidFill>
                  <a:schemeClr val="tx1"/>
                </a:solidFill>
              </a:rPr>
              <a:t>(grade)</a:t>
            </a:r>
            <a:r>
              <a:rPr lang="zh-CN" altLang="en-US" i="1" dirty="0">
                <a:solidFill>
                  <a:schemeClr val="tx1"/>
                </a:solidFill>
              </a:rPr>
              <a:t>栏将为空。</a:t>
            </a:r>
            <a:endParaRPr lang="zh-CN" altLang="en-US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</a:t>
            </a:r>
            <a:r>
              <a:rPr lang="zh-CN" altLang="en-US" i="1" dirty="0">
                <a:solidFill>
                  <a:srgbClr val="FF0000"/>
                </a:solidFill>
              </a:rPr>
              <a:t>思考：</a:t>
            </a:r>
            <a:r>
              <a:rPr lang="zh-CN" altLang="en-US" i="1" dirty="0">
                <a:solidFill>
                  <a:schemeClr val="tx1"/>
                </a:solidFill>
              </a:rPr>
              <a:t> </a:t>
            </a:r>
            <a:endParaRPr lang="zh-CN" altLang="en-US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</a:t>
            </a:r>
            <a:r>
              <a:rPr lang="zh-CN" altLang="en-US" i="1" dirty="0">
                <a:solidFill>
                  <a:srgbClr val="FF0000"/>
                </a:solidFill>
              </a:rPr>
              <a:t>例</a:t>
            </a:r>
            <a:r>
              <a:rPr lang="en-US" altLang="zh-CN" i="1" dirty="0">
                <a:solidFill>
                  <a:srgbClr val="FF0000"/>
                </a:solidFill>
              </a:rPr>
              <a:t>58-60</a:t>
            </a:r>
            <a:r>
              <a:rPr lang="zh-CN" altLang="en-US" i="1" dirty="0">
                <a:solidFill>
                  <a:srgbClr val="FF0000"/>
                </a:solidFill>
              </a:rPr>
              <a:t>三条插入操作可以随意变动次序吗？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685800" y="63500"/>
            <a:ext cx="77724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480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插入子查询的结果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4000" dirty="0"/>
              <a:t> </a:t>
            </a:r>
            <a:r>
              <a:rPr lang="en-US" altLang="zh-CN" sz="3200" dirty="0">
                <a:solidFill>
                  <a:schemeClr val="accent2"/>
                </a:solidFill>
              </a:rPr>
              <a:t>INSERT  INTO</a:t>
            </a:r>
            <a:r>
              <a:rPr lang="en-US" altLang="zh-CN" sz="3200" dirty="0"/>
              <a:t>   &lt;</a:t>
            </a:r>
            <a:r>
              <a:rPr lang="zh-CN" altLang="en-US" sz="3200" dirty="0"/>
              <a:t>表名</a:t>
            </a:r>
            <a:r>
              <a:rPr lang="en-US" altLang="zh-CN" sz="3200" dirty="0"/>
              <a:t>&gt;  </a:t>
            </a:r>
            <a:endParaRPr lang="en-US" altLang="zh-CN" sz="32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dirty="0"/>
              <a:t>                [(&lt;</a:t>
            </a:r>
            <a:r>
              <a:rPr lang="zh-CN" altLang="en-US" sz="3200" dirty="0"/>
              <a:t>属性列</a:t>
            </a:r>
            <a:r>
              <a:rPr lang="en-US" altLang="zh-CN" sz="3200" dirty="0"/>
              <a:t>1&gt; [</a:t>
            </a:r>
            <a:r>
              <a:rPr lang="zh-CN" altLang="en-US" sz="3200" dirty="0"/>
              <a:t>，</a:t>
            </a:r>
            <a:r>
              <a:rPr lang="en-US" altLang="zh-CN" sz="3200" dirty="0"/>
              <a:t>&lt;</a:t>
            </a:r>
            <a:r>
              <a:rPr lang="zh-CN" altLang="en-US" sz="3200" dirty="0"/>
              <a:t>属性列</a:t>
            </a:r>
            <a:r>
              <a:rPr lang="en-US" altLang="zh-CN" sz="3200" dirty="0"/>
              <a:t>2&gt;…  )]</a:t>
            </a:r>
            <a:endParaRPr lang="en-US" altLang="zh-CN" sz="3200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子查询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功能：将子查询的结果</a:t>
            </a:r>
            <a:r>
              <a:rPr lang="zh-CN" altLang="en-US" dirty="0">
                <a:solidFill>
                  <a:srgbClr val="FF0000"/>
                </a:solidFill>
              </a:rPr>
              <a:t>批量插入</a:t>
            </a:r>
            <a:r>
              <a:rPr lang="zh-CN" altLang="en-US" dirty="0">
                <a:solidFill>
                  <a:schemeClr val="tx1"/>
                </a:solidFill>
              </a:rPr>
              <a:t>到指定的表中。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type="title"/>
          </p:nvPr>
        </p:nvSpPr>
        <p:spPr>
          <a:xfrm>
            <a:off x="685800" y="635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778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61] </a:t>
            </a:r>
            <a:r>
              <a:rPr lang="zh-CN" altLang="en-US" sz="2800" dirty="0">
                <a:solidFill>
                  <a:schemeClr val="tx1"/>
                </a:solidFill>
              </a:rPr>
              <a:t>假定有表</a:t>
            </a:r>
            <a:r>
              <a:rPr lang="en-US" altLang="zh-CN" sz="2800" dirty="0">
                <a:solidFill>
                  <a:schemeClr val="tx1"/>
                </a:solidFill>
              </a:rPr>
              <a:t>excellent(year,sno,sname,grade)</a:t>
            </a:r>
            <a:r>
              <a:rPr lang="zh-CN" altLang="en-US" sz="2800" dirty="0">
                <a:solidFill>
                  <a:schemeClr val="tx1"/>
                </a:solidFill>
              </a:rPr>
              <a:t>，记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录每年度优秀学生，现将平均成绩大于</a:t>
            </a:r>
            <a:r>
              <a:rPr lang="en-US" altLang="zh-CN" sz="2800" dirty="0">
                <a:solidFill>
                  <a:schemeClr val="tx1"/>
                </a:solidFill>
              </a:rPr>
              <a:t>90(</a:t>
            </a:r>
            <a:r>
              <a:rPr lang="zh-CN" altLang="en-US" sz="2800" dirty="0">
                <a:solidFill>
                  <a:schemeClr val="tx1"/>
                </a:solidFill>
              </a:rPr>
              <a:t>含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   </a:t>
            </a:r>
            <a:r>
              <a:rPr lang="zh-CN" altLang="en-US" sz="2800" dirty="0">
                <a:solidFill>
                  <a:schemeClr val="tx1"/>
                </a:solidFill>
              </a:rPr>
              <a:t>的学生记入该表，作为</a:t>
            </a:r>
            <a:r>
              <a:rPr lang="en-US" altLang="zh-CN" sz="2800" dirty="0">
                <a:solidFill>
                  <a:schemeClr val="tx1"/>
                </a:solidFill>
              </a:rPr>
              <a:t>2020</a:t>
            </a:r>
            <a:r>
              <a:rPr lang="zh-CN" altLang="en-US" sz="2800" dirty="0">
                <a:solidFill>
                  <a:schemeClr val="tx1"/>
                </a:solidFill>
              </a:rPr>
              <a:t>年度的优秀学生。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insert into</a:t>
            </a:r>
            <a:r>
              <a:rPr lang="en-US" altLang="zh-CN" sz="2800" i="1" dirty="0">
                <a:solidFill>
                  <a:schemeClr val="tx1"/>
                </a:solidFill>
              </a:rPr>
              <a:t>  excellent(year,sno,sname,grade)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              select </a:t>
            </a:r>
            <a:r>
              <a:rPr lang="en-US" altLang="zh-CN" sz="2800" i="1" dirty="0">
                <a:solidFill>
                  <a:schemeClr val="tx1"/>
                </a:solidFill>
              </a:rPr>
              <a:t>2020 as [year], sno, sname,</a:t>
            </a:r>
            <a:r>
              <a:rPr lang="en-US" altLang="zh-CN" sz="2800" i="1" dirty="0">
                <a:solidFill>
                  <a:schemeClr val="accent2"/>
                </a:solidFill>
              </a:rPr>
              <a:t> </a:t>
            </a:r>
            <a:r>
              <a:rPr lang="en-US" altLang="zh-CN" sz="2800" i="1" dirty="0"/>
              <a:t>avg</a:t>
            </a:r>
            <a:r>
              <a:rPr lang="en-US" altLang="zh-CN" sz="2800" i="1" dirty="0">
                <a:solidFill>
                  <a:schemeClr val="tx1"/>
                </a:solidFill>
              </a:rPr>
              <a:t>(grade)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              from  </a:t>
            </a:r>
            <a:r>
              <a:rPr lang="en-US" altLang="zh-CN" sz="2800" i="1" dirty="0">
                <a:solidFill>
                  <a:schemeClr val="tx1"/>
                </a:solidFill>
              </a:rPr>
              <a:t>sc, student</a:t>
            </a:r>
            <a:br>
              <a:rPr lang="en-US" altLang="zh-CN" sz="2800" i="1" dirty="0">
                <a:solidFill>
                  <a:schemeClr val="tx1"/>
                </a:solidFill>
              </a:rPr>
            </a:br>
            <a:r>
              <a:rPr lang="en-US" altLang="zh-CN" sz="2800" i="1" dirty="0">
                <a:solidFill>
                  <a:schemeClr val="tx1"/>
                </a:solidFill>
              </a:rPr>
              <a:t> </a:t>
            </a:r>
            <a:r>
              <a:rPr lang="en-US" altLang="zh-CN" sz="2800" i="1" dirty="0">
                <a:solidFill>
                  <a:schemeClr val="accent2"/>
                </a:solidFill>
              </a:rPr>
              <a:t>         where  </a:t>
            </a:r>
            <a:r>
              <a:rPr lang="en-US" altLang="zh-CN" sz="2800" i="1" dirty="0">
                <a:solidFill>
                  <a:schemeClr val="tx1"/>
                </a:solidFill>
              </a:rPr>
              <a:t>sc.sno = student.sno</a:t>
            </a:r>
            <a:br>
              <a:rPr lang="en-US" altLang="zh-CN" sz="2800" i="1" dirty="0">
                <a:solidFill>
                  <a:schemeClr val="accent2"/>
                </a:solidFill>
              </a:rPr>
            </a:br>
            <a:r>
              <a:rPr lang="en-US" altLang="zh-CN" sz="2800" i="1" dirty="0">
                <a:solidFill>
                  <a:schemeClr val="accent2"/>
                </a:solidFill>
              </a:rPr>
              <a:t>          group  by  </a:t>
            </a:r>
            <a:r>
              <a:rPr lang="en-US" altLang="zh-CN" sz="2800" i="1" dirty="0">
                <a:solidFill>
                  <a:schemeClr val="tx1"/>
                </a:solidFill>
              </a:rPr>
              <a:t>sno,sname</a:t>
            </a:r>
            <a:br>
              <a:rPr lang="en-US" altLang="zh-CN" sz="2800" i="1" dirty="0">
                <a:solidFill>
                  <a:schemeClr val="accent2"/>
                </a:solidFill>
              </a:rPr>
            </a:br>
            <a:r>
              <a:rPr lang="en-US" altLang="zh-CN" sz="2800" i="1" dirty="0">
                <a:solidFill>
                  <a:schemeClr val="accent2"/>
                </a:solidFill>
              </a:rPr>
              <a:t>          having  </a:t>
            </a:r>
            <a:r>
              <a:rPr lang="en-US" altLang="zh-CN" sz="2800" i="1" dirty="0"/>
              <a:t>avg</a:t>
            </a:r>
            <a:r>
              <a:rPr lang="en-US" altLang="zh-CN" sz="2800" i="1" dirty="0">
                <a:solidFill>
                  <a:schemeClr val="tx1"/>
                </a:solidFill>
              </a:rPr>
              <a:t>(grade)</a:t>
            </a:r>
            <a:r>
              <a:rPr lang="en-US" altLang="zh-CN" sz="2800" i="1" dirty="0">
                <a:solidFill>
                  <a:schemeClr val="accent2"/>
                </a:solidFill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&gt;= 90</a:t>
            </a:r>
            <a:endParaRPr lang="en-US" altLang="zh-CN" sz="2800" i="1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43815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练习</a:t>
            </a:r>
            <a:r>
              <a:rPr lang="en-US" altLang="zh-CN" dirty="0">
                <a:solidFill>
                  <a:schemeClr val="tx1"/>
                </a:solidFill>
              </a:rPr>
              <a:t>]  </a:t>
            </a:r>
            <a:r>
              <a:rPr lang="zh-CN" altLang="en-US" dirty="0">
                <a:solidFill>
                  <a:schemeClr val="tx1"/>
                </a:solidFill>
              </a:rPr>
              <a:t>表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r>
              <a:rPr lang="zh-CN" altLang="en-US" dirty="0">
                <a:solidFill>
                  <a:schemeClr val="accent2"/>
                </a:solidFill>
              </a:rPr>
              <a:t>状元榜</a:t>
            </a: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年度</a:t>
            </a:r>
            <a:r>
              <a:rPr lang="en-US" altLang="zh-CN" dirty="0">
                <a:solidFill>
                  <a:schemeClr val="accent2"/>
                </a:solidFill>
              </a:rPr>
              <a:t>,</a:t>
            </a:r>
            <a:r>
              <a:rPr lang="zh-CN" altLang="en-US" dirty="0">
                <a:solidFill>
                  <a:schemeClr val="accent2"/>
                </a:solidFill>
              </a:rPr>
              <a:t>姓名</a:t>
            </a:r>
            <a:r>
              <a:rPr lang="en-US" altLang="zh-CN" dirty="0">
                <a:solidFill>
                  <a:schemeClr val="accent2"/>
                </a:solidFill>
              </a:rPr>
              <a:t>,</a:t>
            </a:r>
            <a:r>
              <a:rPr lang="zh-CN" altLang="en-US" dirty="0">
                <a:solidFill>
                  <a:schemeClr val="accent2"/>
                </a:solidFill>
              </a:rPr>
              <a:t>总分</a:t>
            </a:r>
            <a:r>
              <a:rPr lang="en-US" altLang="zh-CN" dirty="0">
                <a:solidFill>
                  <a:schemeClr val="accent2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记录着各年的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高考状元的姓名及其高考总分，</a:t>
            </a:r>
            <a:r>
              <a:rPr lang="en-US" altLang="zh-CN" dirty="0">
                <a:solidFill>
                  <a:schemeClr val="tx1"/>
                </a:solidFill>
              </a:rPr>
              <a:t>2018</a:t>
            </a:r>
            <a:r>
              <a:rPr lang="zh-CN" altLang="en-US" dirty="0">
                <a:solidFill>
                  <a:schemeClr val="tx1"/>
                </a:solidFill>
              </a:rPr>
              <a:t>年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度考生总分记载在表</a:t>
            </a:r>
            <a:r>
              <a:rPr lang="en-US" altLang="zh-CN" dirty="0">
                <a:solidFill>
                  <a:schemeClr val="accent2"/>
                </a:solidFill>
              </a:rPr>
              <a:t>T2018(</a:t>
            </a:r>
            <a:r>
              <a:rPr lang="zh-CN" altLang="en-US" dirty="0">
                <a:solidFill>
                  <a:schemeClr val="accent2"/>
                </a:solidFill>
              </a:rPr>
              <a:t>考号</a:t>
            </a:r>
            <a:r>
              <a:rPr lang="en-US" altLang="zh-CN" dirty="0">
                <a:solidFill>
                  <a:schemeClr val="accent2"/>
                </a:solidFill>
              </a:rPr>
              <a:t>,</a:t>
            </a:r>
            <a:r>
              <a:rPr lang="zh-CN" altLang="en-US" dirty="0">
                <a:solidFill>
                  <a:schemeClr val="accent2"/>
                </a:solidFill>
              </a:rPr>
              <a:t>姓名</a:t>
            </a:r>
            <a:r>
              <a:rPr lang="en-US" altLang="zh-CN" dirty="0">
                <a:solidFill>
                  <a:schemeClr val="accent2"/>
                </a:solidFill>
              </a:rPr>
              <a:t>,</a:t>
            </a:r>
            <a:r>
              <a:rPr lang="zh-CN" altLang="en-US" dirty="0">
                <a:solidFill>
                  <a:schemeClr val="accent2"/>
                </a:solidFill>
              </a:rPr>
              <a:t>总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accent2"/>
                </a:solidFill>
              </a:rPr>
              <a:t>             分</a:t>
            </a:r>
            <a:r>
              <a:rPr lang="en-US" altLang="zh-CN" dirty="0">
                <a:solidFill>
                  <a:schemeClr val="accent2"/>
                </a:solidFill>
              </a:rPr>
              <a:t>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中。试将</a:t>
            </a:r>
            <a:r>
              <a:rPr lang="en-US" altLang="zh-CN" dirty="0">
                <a:solidFill>
                  <a:schemeClr val="tx1"/>
                </a:solidFill>
              </a:rPr>
              <a:t>2018</a:t>
            </a:r>
            <a:r>
              <a:rPr lang="zh-CN" altLang="en-US" dirty="0">
                <a:solidFill>
                  <a:schemeClr val="tx1"/>
                </a:solidFill>
              </a:rPr>
              <a:t>年度的高考状元记入到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状元榜中。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3.4.1  </a:t>
            </a:r>
            <a:r>
              <a:rPr lang="zh-CN" altLang="en-US" u="sng" dirty="0"/>
              <a:t>插入数据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096000" cy="2895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插入数据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3.4.2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修改数据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删除数据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000" b="0" dirty="0">
              <a:solidFill>
                <a:srgbClr val="278E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   </a:t>
            </a:r>
            <a:r>
              <a:rPr lang="zh-CN" altLang="en-US" dirty="0"/>
              <a:t>数据更新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152400" y="1409700"/>
            <a:ext cx="8686800" cy="45339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    </a:t>
            </a:r>
            <a:r>
              <a:rPr lang="en-US" altLang="zh-CN" dirty="0">
                <a:solidFill>
                  <a:srgbClr val="FF0000"/>
                </a:solidFill>
              </a:rPr>
              <a:t>UPDATE</a:t>
            </a:r>
            <a:r>
              <a:rPr lang="en-US" altLang="zh-CN" dirty="0">
                <a:solidFill>
                  <a:schemeClr val="tx1"/>
                </a:solidFill>
              </a:rPr>
              <a:t>  &lt;</a:t>
            </a:r>
            <a:r>
              <a:rPr lang="zh-CN" altLang="en-US" dirty="0">
                <a:solidFill>
                  <a:schemeClr val="tx1"/>
                </a:solidFill>
              </a:rPr>
              <a:t>表名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en-US" altLang="zh-CN" dirty="0">
                <a:solidFill>
                  <a:schemeClr val="tx1"/>
                </a:solidFill>
              </a:rPr>
              <a:t>  &lt;</a:t>
            </a:r>
            <a:r>
              <a:rPr lang="zh-CN" altLang="en-US" dirty="0">
                <a:solidFill>
                  <a:schemeClr val="tx1"/>
                </a:solidFill>
              </a:rPr>
              <a:t>列名</a:t>
            </a:r>
            <a:r>
              <a:rPr lang="en-US" altLang="zh-CN" dirty="0">
                <a:solidFill>
                  <a:schemeClr val="tx1"/>
                </a:solidFill>
              </a:rPr>
              <a:t>&gt;=&lt;</a:t>
            </a:r>
            <a:r>
              <a:rPr lang="zh-CN" altLang="en-US" dirty="0">
                <a:solidFill>
                  <a:schemeClr val="tx1"/>
                </a:solidFill>
              </a:rPr>
              <a:t>表达式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schemeClr val="tx1"/>
                </a:solidFill>
              </a:rPr>
              <a:t>子查询 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[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列名</a:t>
            </a:r>
            <a:r>
              <a:rPr lang="en-US" altLang="zh-CN" dirty="0">
                <a:solidFill>
                  <a:schemeClr val="tx1"/>
                </a:solidFill>
              </a:rPr>
              <a:t>&gt;=&lt;</a:t>
            </a:r>
            <a:r>
              <a:rPr lang="zh-CN" altLang="en-US" dirty="0">
                <a:solidFill>
                  <a:schemeClr val="tx1"/>
                </a:solidFill>
              </a:rPr>
              <a:t>表达式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schemeClr val="tx1"/>
                </a:solidFill>
              </a:rPr>
              <a:t>子查询 </a:t>
            </a:r>
            <a:r>
              <a:rPr lang="en-US" altLang="zh-CN" dirty="0">
                <a:solidFill>
                  <a:schemeClr val="tx1"/>
                </a:solidFill>
              </a:rPr>
              <a:t>&gt;]…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[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>
                <a:solidFill>
                  <a:schemeClr val="tx1"/>
                </a:solidFill>
              </a:rPr>
              <a:t> &lt;</a:t>
            </a:r>
            <a:r>
              <a:rPr lang="zh-CN" altLang="en-US" dirty="0">
                <a:solidFill>
                  <a:schemeClr val="tx1"/>
                </a:solidFill>
              </a:rPr>
              <a:t>条件</a:t>
            </a:r>
            <a:r>
              <a:rPr lang="en-US" altLang="zh-CN" dirty="0">
                <a:solidFill>
                  <a:schemeClr val="tx1"/>
                </a:solidFill>
              </a:rPr>
              <a:t>&gt;]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i="1" dirty="0">
                <a:solidFill>
                  <a:schemeClr val="tx1"/>
                </a:solidFill>
              </a:rPr>
              <a:t>不指定</a:t>
            </a:r>
            <a:r>
              <a:rPr lang="en-US" altLang="zh-CN" i="1" dirty="0">
                <a:solidFill>
                  <a:schemeClr val="tx1"/>
                </a:solidFill>
              </a:rPr>
              <a:t>Where</a:t>
            </a:r>
            <a:r>
              <a:rPr lang="zh-CN" altLang="en-US" i="1" dirty="0">
                <a:solidFill>
                  <a:schemeClr val="tx1"/>
                </a:solidFill>
              </a:rPr>
              <a:t>条件子句时，所有行的数据都将被修改。同样，修改数据时也会检查完整性。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3.4.2  </a:t>
            </a:r>
            <a:r>
              <a:rPr lang="zh-CN" altLang="en-US" dirty="0"/>
              <a:t>修改数据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4800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62] 05020</a:t>
            </a:r>
            <a:r>
              <a:rPr lang="zh-CN" altLang="en-US" dirty="0">
                <a:solidFill>
                  <a:schemeClr val="tx1"/>
                </a:solidFill>
              </a:rPr>
              <a:t>号同学的生日实为‘</a:t>
            </a:r>
            <a:r>
              <a:rPr lang="en-US" altLang="zh-CN" dirty="0">
                <a:solidFill>
                  <a:schemeClr val="tx1"/>
                </a:solidFill>
              </a:rPr>
              <a:t>99-5-20’,</a:t>
            </a:r>
            <a:r>
              <a:rPr lang="zh-CN" altLang="en-US" dirty="0">
                <a:solidFill>
                  <a:schemeClr val="tx1"/>
                </a:solidFill>
              </a:rPr>
              <a:t>请予更正。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update </a:t>
            </a:r>
            <a:r>
              <a:rPr lang="en-US" altLang="zh-CN" sz="3600" i="1" dirty="0">
                <a:solidFill>
                  <a:schemeClr val="tx1"/>
                </a:solidFill>
              </a:rPr>
              <a:t>  Student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set  </a:t>
            </a:r>
            <a:r>
              <a:rPr lang="en-US" altLang="zh-CN" sz="3600" i="1" dirty="0">
                <a:solidFill>
                  <a:schemeClr val="tx1"/>
                </a:solidFill>
              </a:rPr>
              <a:t>sbirth =</a:t>
            </a:r>
            <a:r>
              <a:rPr lang="en-US" altLang="zh-CN" sz="3600" i="1" dirty="0">
                <a:solidFill>
                  <a:schemeClr val="accent2"/>
                </a:solidFill>
              </a:rPr>
              <a:t> </a:t>
            </a:r>
            <a:r>
              <a:rPr lang="en-US" altLang="zh-CN" sz="3600" i="1" dirty="0">
                <a:solidFill>
                  <a:srgbClr val="FF0000"/>
                </a:solidFill>
              </a:rPr>
              <a:t>’99-5-20’</a:t>
            </a:r>
            <a:endParaRPr lang="en-US" altLang="zh-CN" sz="3600" i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where  </a:t>
            </a:r>
            <a:r>
              <a:rPr lang="en-US" altLang="zh-CN" sz="3600" i="1" dirty="0">
                <a:solidFill>
                  <a:schemeClr val="tx1"/>
                </a:solidFill>
              </a:rPr>
              <a:t>sno=</a:t>
            </a:r>
            <a:r>
              <a:rPr lang="en-US" altLang="zh-CN" sz="3600" i="1" dirty="0">
                <a:solidFill>
                  <a:srgbClr val="FF0000"/>
                </a:solidFill>
              </a:rPr>
              <a:t>‘05020’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title"/>
          </p:nvPr>
        </p:nvSpPr>
        <p:spPr>
          <a:xfrm>
            <a:off x="685800" y="635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3.4.2  </a:t>
            </a:r>
            <a:r>
              <a:rPr lang="zh-CN" altLang="en-US" u="sng" dirty="0"/>
              <a:t>修改数据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63] </a:t>
            </a:r>
            <a:r>
              <a:rPr lang="zh-CN" altLang="en-US" dirty="0">
                <a:solidFill>
                  <a:schemeClr val="tx1"/>
                </a:solidFill>
              </a:rPr>
              <a:t>将‘</a:t>
            </a:r>
            <a:r>
              <a:rPr lang="en-US" altLang="zh-CN" dirty="0">
                <a:solidFill>
                  <a:schemeClr val="tx1"/>
                </a:solidFill>
              </a:rPr>
              <a:t>1’</a:t>
            </a:r>
            <a:r>
              <a:rPr lang="zh-CN" altLang="en-US" dirty="0">
                <a:solidFill>
                  <a:schemeClr val="tx1"/>
                </a:solidFill>
              </a:rPr>
              <a:t>号课程的所有考试成绩增加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分。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update </a:t>
            </a:r>
            <a:r>
              <a:rPr lang="en-US" altLang="zh-CN" sz="3600" i="1" dirty="0">
                <a:solidFill>
                  <a:schemeClr val="tx1"/>
                </a:solidFill>
              </a:rPr>
              <a:t>  SC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set  </a:t>
            </a:r>
            <a:r>
              <a:rPr lang="en-US" altLang="zh-CN" sz="3600" i="1" dirty="0">
                <a:solidFill>
                  <a:schemeClr val="tx1"/>
                </a:solidFill>
              </a:rPr>
              <a:t>grade  =</a:t>
            </a:r>
            <a:r>
              <a:rPr lang="en-US" altLang="zh-CN" sz="3600" i="1" dirty="0">
                <a:solidFill>
                  <a:schemeClr val="accent2"/>
                </a:solidFill>
              </a:rPr>
              <a:t>  </a:t>
            </a:r>
            <a:r>
              <a:rPr lang="en-US" altLang="zh-CN" sz="3600" i="1" dirty="0">
                <a:solidFill>
                  <a:schemeClr val="tx1"/>
                </a:solidFill>
              </a:rPr>
              <a:t>grade + 5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where  </a:t>
            </a:r>
            <a:r>
              <a:rPr lang="en-US" altLang="zh-CN" sz="3600" i="1" dirty="0">
                <a:solidFill>
                  <a:schemeClr val="tx1"/>
                </a:solidFill>
              </a:rPr>
              <a:t>cno=</a:t>
            </a:r>
            <a:r>
              <a:rPr lang="en-US" altLang="zh-CN" sz="3600" i="1" dirty="0">
                <a:solidFill>
                  <a:srgbClr val="FF0000"/>
                </a:solidFill>
              </a:rPr>
              <a:t>‘1’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</a:t>
            </a:r>
            <a:r>
              <a:rPr lang="zh-CN" altLang="en-US" i="1" dirty="0">
                <a:solidFill>
                  <a:srgbClr val="FF0000"/>
                </a:solidFill>
              </a:rPr>
              <a:t>思考：假定该课程的满分为</a:t>
            </a:r>
            <a:r>
              <a:rPr lang="en-US" altLang="zh-CN" i="1" dirty="0">
                <a:solidFill>
                  <a:srgbClr val="FF0000"/>
                </a:solidFill>
              </a:rPr>
              <a:t>100</a:t>
            </a:r>
            <a:r>
              <a:rPr lang="zh-CN" altLang="en-US" i="1" dirty="0">
                <a:solidFill>
                  <a:srgbClr val="FF0000"/>
                </a:solidFill>
              </a:rPr>
              <a:t>分，某些同学的分数增加</a:t>
            </a:r>
            <a:r>
              <a:rPr lang="en-US" altLang="zh-CN" i="1" dirty="0">
                <a:solidFill>
                  <a:srgbClr val="FF0000"/>
                </a:solidFill>
              </a:rPr>
              <a:t>5</a:t>
            </a:r>
            <a:r>
              <a:rPr lang="zh-CN" altLang="en-US" i="1" dirty="0">
                <a:solidFill>
                  <a:srgbClr val="FF0000"/>
                </a:solidFill>
              </a:rPr>
              <a:t>分后，可能超过</a:t>
            </a:r>
            <a:r>
              <a:rPr lang="en-US" altLang="zh-CN" i="1" dirty="0">
                <a:solidFill>
                  <a:srgbClr val="FF0000"/>
                </a:solidFill>
              </a:rPr>
              <a:t>100</a:t>
            </a:r>
            <a:r>
              <a:rPr lang="zh-CN" altLang="en-US" i="1" dirty="0">
                <a:solidFill>
                  <a:srgbClr val="FF0000"/>
                </a:solidFill>
              </a:rPr>
              <a:t>分。如果约定增加</a:t>
            </a:r>
            <a:r>
              <a:rPr lang="en-US" altLang="zh-CN" i="1" dirty="0">
                <a:solidFill>
                  <a:srgbClr val="FF0000"/>
                </a:solidFill>
              </a:rPr>
              <a:t>5</a:t>
            </a:r>
            <a:r>
              <a:rPr lang="zh-CN" altLang="en-US" i="1" dirty="0">
                <a:solidFill>
                  <a:srgbClr val="FF0000"/>
                </a:solidFill>
              </a:rPr>
              <a:t>分后超过</a:t>
            </a:r>
            <a:r>
              <a:rPr lang="en-US" altLang="zh-CN" i="1" dirty="0">
                <a:solidFill>
                  <a:srgbClr val="FF0000"/>
                </a:solidFill>
              </a:rPr>
              <a:t>100</a:t>
            </a:r>
            <a:r>
              <a:rPr lang="zh-CN" altLang="en-US" i="1" dirty="0">
                <a:solidFill>
                  <a:srgbClr val="FF0000"/>
                </a:solidFill>
              </a:rPr>
              <a:t>分的按</a:t>
            </a:r>
            <a:r>
              <a:rPr lang="en-US" altLang="zh-CN" i="1" dirty="0">
                <a:solidFill>
                  <a:srgbClr val="FF0000"/>
                </a:solidFill>
              </a:rPr>
              <a:t>100</a:t>
            </a:r>
            <a:r>
              <a:rPr lang="zh-CN" altLang="en-US" i="1" dirty="0">
                <a:solidFill>
                  <a:srgbClr val="FF0000"/>
                </a:solidFill>
              </a:rPr>
              <a:t>分计算，该如何修改？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3.4.2  </a:t>
            </a:r>
            <a:r>
              <a:rPr lang="zh-CN" altLang="en-US" u="sng" dirty="0"/>
              <a:t>修改数据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64] </a:t>
            </a:r>
            <a:r>
              <a:rPr lang="zh-CN" altLang="en-US" sz="2800" dirty="0">
                <a:solidFill>
                  <a:schemeClr val="tx1"/>
                </a:solidFill>
              </a:rPr>
              <a:t>设有表：</a:t>
            </a:r>
            <a:r>
              <a:rPr lang="zh-CN" altLang="en-US" sz="2800" dirty="0">
                <a:solidFill>
                  <a:srgbClr val="FF0000"/>
                </a:solidFill>
              </a:rPr>
              <a:t>通信录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学号，通信地址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，尽可能地收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集了学生的通信地址。现欲在学生基本信息表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中增加一列“通信地址”，并自动尽可能地将通信录表中的数据添加到学生表中。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alter table </a:t>
            </a:r>
            <a:r>
              <a:rPr lang="en-US" altLang="zh-CN" sz="2800" i="1" dirty="0">
                <a:solidFill>
                  <a:schemeClr val="tx1"/>
                </a:solidFill>
              </a:rPr>
              <a:t>student</a:t>
            </a:r>
            <a:r>
              <a:rPr lang="en-US" altLang="zh-CN" sz="2800" i="1" dirty="0">
                <a:solidFill>
                  <a:schemeClr val="accent2"/>
                </a:solidFill>
              </a:rPr>
              <a:t> add </a:t>
            </a:r>
            <a:r>
              <a:rPr lang="en-US" altLang="zh-CN" sz="2800" i="1" dirty="0">
                <a:solidFill>
                  <a:schemeClr val="tx1"/>
                </a:solidFill>
              </a:rPr>
              <a:t>saddr</a:t>
            </a:r>
            <a:r>
              <a:rPr lang="en-US" altLang="zh-CN" sz="2800" i="1" dirty="0">
                <a:solidFill>
                  <a:schemeClr val="accent2"/>
                </a:solidFill>
              </a:rPr>
              <a:t> char</a:t>
            </a:r>
            <a:r>
              <a:rPr lang="en-US" altLang="zh-CN" sz="2800" i="1" dirty="0">
                <a:solidFill>
                  <a:schemeClr val="tx1"/>
                </a:solidFill>
              </a:rPr>
              <a:t>(50)</a:t>
            </a:r>
            <a:r>
              <a:rPr lang="en-US" altLang="zh-CN" sz="2800" i="1" dirty="0">
                <a:solidFill>
                  <a:schemeClr val="accent2"/>
                </a:solidFill>
              </a:rPr>
              <a:t> </a:t>
            </a:r>
            <a:endParaRPr lang="en-US" altLang="zh-CN" sz="2800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             update </a:t>
            </a:r>
            <a:r>
              <a:rPr lang="en-US" altLang="zh-CN" sz="2800" i="1" dirty="0">
                <a:solidFill>
                  <a:schemeClr val="tx1"/>
                </a:solidFill>
              </a:rPr>
              <a:t>student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1" hangingPunct="1">
              <a:buClr>
                <a:srgbClr val="FF3300"/>
              </a:buClr>
              <a:buNone/>
            </a:pPr>
            <a:r>
              <a:rPr lang="en-US" altLang="zh-CN" b="0" dirty="0">
                <a:latin typeface="Arial" panose="020B0604020202020204" pitchFamily="34" charset="0"/>
              </a:rPr>
              <a:t>         </a:t>
            </a:r>
            <a:r>
              <a:rPr lang="en-US" altLang="zh-CN" i="1" dirty="0">
                <a:solidFill>
                  <a:schemeClr val="accent2"/>
                </a:solidFill>
              </a:rPr>
              <a:t>set </a:t>
            </a:r>
            <a:r>
              <a:rPr lang="en-US" altLang="zh-CN" i="1" dirty="0"/>
              <a:t> saddr  = </a:t>
            </a:r>
            <a:r>
              <a:rPr lang="zh-CN" altLang="en-US" i="1" dirty="0"/>
              <a:t>通信录</a:t>
            </a:r>
            <a:r>
              <a:rPr lang="en-US" altLang="zh-CN" i="1" dirty="0"/>
              <a:t>.</a:t>
            </a:r>
            <a:r>
              <a:rPr lang="zh-CN" altLang="en-US" i="1" dirty="0"/>
              <a:t>通信地址</a:t>
            </a:r>
            <a:endParaRPr lang="zh-CN" altLang="en-US" i="1" dirty="0"/>
          </a:p>
          <a:p>
            <a:pPr lvl="1" eaLnBrk="1" hangingPunct="1">
              <a:buClr>
                <a:srgbClr val="FF3300"/>
              </a:buClr>
              <a:buNone/>
            </a:pPr>
            <a:r>
              <a:rPr lang="zh-CN" altLang="en-US" i="1" dirty="0"/>
              <a:t>       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student, </a:t>
            </a:r>
            <a:r>
              <a:rPr lang="zh-CN" altLang="en-US" i="1" dirty="0"/>
              <a:t>通信录</a:t>
            </a:r>
            <a:endParaRPr lang="zh-CN" altLang="en-US" i="1" dirty="0"/>
          </a:p>
          <a:p>
            <a:pPr lvl="1" eaLnBrk="1" hangingPunct="1">
              <a:buClr>
                <a:srgbClr val="FF3300"/>
              </a:buClr>
              <a:buNone/>
            </a:pPr>
            <a:r>
              <a:rPr lang="zh-CN" altLang="en-US" i="1" dirty="0"/>
              <a:t>        </a:t>
            </a:r>
            <a:r>
              <a:rPr lang="en-US" altLang="zh-CN" i="1" dirty="0">
                <a:solidFill>
                  <a:schemeClr val="accent2"/>
                </a:solidFill>
              </a:rPr>
              <a:t>where  </a:t>
            </a:r>
            <a:r>
              <a:rPr lang="en-US" altLang="zh-CN" i="1" dirty="0"/>
              <a:t>student.sno = </a:t>
            </a:r>
            <a:r>
              <a:rPr lang="zh-CN" altLang="en-US" i="1" dirty="0"/>
              <a:t>通信录</a:t>
            </a:r>
            <a:r>
              <a:rPr lang="en-US" altLang="zh-CN" i="1" dirty="0"/>
              <a:t>.</a:t>
            </a:r>
            <a:r>
              <a:rPr lang="zh-CN" altLang="en-US" i="1" dirty="0"/>
              <a:t>学号</a:t>
            </a:r>
            <a:endParaRPr lang="zh-CN" altLang="en-US" i="1" dirty="0"/>
          </a:p>
        </p:txBody>
      </p:sp>
      <p:sp>
        <p:nvSpPr>
          <p:cNvPr id="2048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3.4.2  </a:t>
            </a:r>
            <a:r>
              <a:rPr lang="zh-CN" altLang="en-US" u="sng" dirty="0"/>
              <a:t>修改数据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6769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65] </a:t>
            </a:r>
            <a:r>
              <a:rPr lang="zh-CN" altLang="en-US" sz="2800" dirty="0">
                <a:solidFill>
                  <a:schemeClr val="tx1"/>
                </a:solidFill>
              </a:rPr>
              <a:t>将‘计算机’系学生的‘数据库’课程的成绩普加</a:t>
            </a:r>
            <a:r>
              <a:rPr lang="en-US" altLang="zh-CN" sz="2800" dirty="0">
                <a:solidFill>
                  <a:schemeClr val="tx1"/>
                </a:solidFill>
              </a:rPr>
              <a:t>5</a:t>
            </a:r>
            <a:r>
              <a:rPr lang="zh-CN" altLang="en-US" sz="2800" dirty="0">
                <a:solidFill>
                  <a:schemeClr val="tx1"/>
                </a:solidFill>
              </a:rPr>
              <a:t>分。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update  </a:t>
            </a:r>
            <a:r>
              <a:rPr lang="en-US" altLang="zh-CN" sz="2800" i="1" dirty="0">
                <a:solidFill>
                  <a:schemeClr val="tx1"/>
                </a:solidFill>
              </a:rPr>
              <a:t>sc</a:t>
            </a:r>
            <a:r>
              <a:rPr lang="en-US" altLang="zh-CN" sz="2800" i="1" dirty="0">
                <a:solidFill>
                  <a:schemeClr val="accent2"/>
                </a:solidFill>
              </a:rPr>
              <a:t>  set  </a:t>
            </a:r>
            <a:r>
              <a:rPr lang="en-US" altLang="zh-CN" sz="2800" i="1" dirty="0">
                <a:solidFill>
                  <a:schemeClr val="tx1"/>
                </a:solidFill>
              </a:rPr>
              <a:t>grade = grade + 5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/>
              <a:t>	    </a:t>
            </a:r>
            <a:r>
              <a:rPr lang="en-US" altLang="zh-CN" i="1" dirty="0">
                <a:solidFill>
                  <a:schemeClr val="accent2"/>
                </a:solidFill>
              </a:rPr>
              <a:t>where </a:t>
            </a:r>
            <a:r>
              <a:rPr lang="en-US" altLang="zh-CN" i="1" dirty="0"/>
              <a:t>  cno  =  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/>
              <a:t>                    (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cno  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course </a:t>
            </a:r>
            <a:br>
              <a:rPr lang="en-US" altLang="zh-CN" i="1" dirty="0"/>
            </a:br>
            <a:r>
              <a:rPr lang="en-US" altLang="zh-CN" i="1" dirty="0"/>
              <a:t>   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cname =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数据库’</a:t>
            </a:r>
            <a:r>
              <a:rPr lang="en-US" altLang="zh-CN" i="1" dirty="0"/>
              <a:t>) </a:t>
            </a:r>
            <a:br>
              <a:rPr lang="en-US" altLang="zh-CN" i="1" dirty="0"/>
            </a:br>
            <a:r>
              <a:rPr lang="en-US" altLang="zh-CN" i="1" dirty="0"/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     and </a:t>
            </a:r>
            <a:r>
              <a:rPr lang="en-US" altLang="zh-CN" i="1" dirty="0"/>
              <a:t>  sno </a:t>
            </a:r>
            <a:r>
              <a:rPr lang="en-US" altLang="zh-CN" i="1" dirty="0">
                <a:solidFill>
                  <a:schemeClr val="accent2"/>
                </a:solidFill>
              </a:rPr>
              <a:t> in </a:t>
            </a:r>
            <a:r>
              <a:rPr lang="en-US" altLang="zh-CN" i="1" dirty="0"/>
              <a:t> (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/>
              <a:t> 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sno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student  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     where</a:t>
            </a:r>
            <a:r>
              <a:rPr lang="en-US" altLang="zh-CN" i="1" dirty="0"/>
              <a:t> sdept  = 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/>
              <a:t>                         (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deptid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dept  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i="1" dirty="0"/>
              <a:t>       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deptname =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计算机’</a:t>
            </a:r>
            <a:r>
              <a:rPr lang="en-US" altLang="zh-CN" i="1" dirty="0"/>
              <a:t>))</a:t>
            </a:r>
            <a:endParaRPr lang="en-US" altLang="zh-CN" i="1" dirty="0"/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3.4.2  </a:t>
            </a:r>
            <a:r>
              <a:rPr lang="zh-CN" altLang="en-US" u="sng" dirty="0"/>
              <a:t>修改数据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600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66] </a:t>
            </a:r>
            <a:r>
              <a:rPr lang="zh-CN" altLang="en-US" dirty="0">
                <a:solidFill>
                  <a:schemeClr val="tx1"/>
                </a:solidFill>
              </a:rPr>
              <a:t>将‘</a:t>
            </a:r>
            <a:r>
              <a:rPr lang="en-US" altLang="zh-CN" dirty="0">
                <a:solidFill>
                  <a:schemeClr val="tx1"/>
                </a:solidFill>
              </a:rPr>
              <a:t>1’</a:t>
            </a:r>
            <a:r>
              <a:rPr lang="zh-CN" altLang="en-US" dirty="0">
                <a:solidFill>
                  <a:schemeClr val="tx1"/>
                </a:solidFill>
              </a:rPr>
              <a:t>号课程的所有考试成绩加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分，‘</a:t>
            </a:r>
            <a:r>
              <a:rPr lang="en-US" altLang="zh-CN" dirty="0">
                <a:solidFill>
                  <a:schemeClr val="tx1"/>
                </a:solidFill>
              </a:rPr>
              <a:t>2’</a:t>
            </a:r>
            <a:r>
              <a:rPr lang="zh-CN" altLang="en-US" dirty="0">
                <a:solidFill>
                  <a:schemeClr val="tx1"/>
                </a:solidFill>
              </a:rPr>
              <a:t>号课程所有的考试成绩加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分。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update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r>
              <a:rPr lang="en-US" altLang="zh-CN" i="1" dirty="0">
                <a:solidFill>
                  <a:schemeClr val="accent2"/>
                </a:solidFill>
              </a:rPr>
              <a:t>  set  </a:t>
            </a:r>
            <a:r>
              <a:rPr lang="en-US" altLang="zh-CN" i="1" dirty="0">
                <a:solidFill>
                  <a:schemeClr val="tx1"/>
                </a:solidFill>
              </a:rPr>
              <a:t>grade = grade + </a:t>
            </a:r>
            <a:br>
              <a:rPr lang="en-US" altLang="zh-CN" i="1" dirty="0">
                <a:solidFill>
                  <a:schemeClr val="tx1"/>
                </a:solidFill>
              </a:rPr>
            </a:br>
            <a:r>
              <a:rPr lang="en-US" altLang="zh-CN" i="1" dirty="0">
                <a:solidFill>
                  <a:schemeClr val="tx1"/>
                </a:solidFill>
              </a:rPr>
              <a:t>                  </a:t>
            </a:r>
            <a:r>
              <a:rPr lang="en-US" altLang="zh-CN" i="1" dirty="0">
                <a:solidFill>
                  <a:schemeClr val="accent2"/>
                </a:solidFill>
              </a:rPr>
              <a:t>case </a:t>
            </a:r>
            <a:r>
              <a:rPr lang="en-US" altLang="zh-CN" i="1" dirty="0">
                <a:solidFill>
                  <a:schemeClr val="tx1"/>
                </a:solidFill>
              </a:rPr>
              <a:t> cno 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when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chemeClr val="accent2"/>
                </a:solidFill>
              </a:rPr>
              <a:t>then </a:t>
            </a:r>
            <a:r>
              <a:rPr lang="en-US" altLang="zh-CN" sz="3200" i="1" dirty="0"/>
              <a:t> 5</a:t>
            </a:r>
            <a:endParaRPr lang="en-US" altLang="zh-CN" sz="32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 when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olidFill>
                  <a:srgbClr val="FF0000"/>
                </a:solidFill>
              </a:rPr>
              <a:t>‘2’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chemeClr val="accent2"/>
                </a:solidFill>
              </a:rPr>
              <a:t>then</a:t>
            </a:r>
            <a:r>
              <a:rPr lang="en-US" altLang="zh-CN" sz="3200" i="1" dirty="0"/>
              <a:t>  3</a:t>
            </a:r>
            <a:endParaRPr lang="en-US" altLang="zh-CN" sz="32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         else </a:t>
            </a:r>
            <a:r>
              <a:rPr lang="en-US" altLang="zh-CN" sz="3200" i="1" dirty="0"/>
              <a:t>   0</a:t>
            </a:r>
            <a:endParaRPr lang="en-US" altLang="zh-CN" sz="32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            end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>
                <a:solidFill>
                  <a:schemeClr val="accent2"/>
                </a:solidFill>
              </a:rPr>
              <a:t>         </a:t>
            </a:r>
            <a:r>
              <a:rPr lang="zh-CN" altLang="en-US" sz="3200" i="1" dirty="0">
                <a:solidFill>
                  <a:srgbClr val="FF0000"/>
                </a:solidFill>
              </a:rPr>
              <a:t>注：</a:t>
            </a:r>
            <a:r>
              <a:rPr lang="en-US" altLang="zh-CN" sz="3200" i="1" dirty="0">
                <a:solidFill>
                  <a:srgbClr val="FF0000"/>
                </a:solidFill>
              </a:rPr>
              <a:t>Microsoft SQL Server</a:t>
            </a:r>
            <a:r>
              <a:rPr lang="zh-CN" altLang="en-US" sz="3200" i="1" dirty="0">
                <a:solidFill>
                  <a:srgbClr val="FF0000"/>
                </a:solidFill>
              </a:rPr>
              <a:t>的语法</a:t>
            </a:r>
            <a:r>
              <a:rPr lang="zh-CN" altLang="en-US" sz="3200" i="1" dirty="0">
                <a:solidFill>
                  <a:schemeClr val="accent2"/>
                </a:solidFill>
              </a:rPr>
              <a:t> </a:t>
            </a:r>
            <a:endParaRPr lang="zh-CN" altLang="en-US" sz="3200" i="1" dirty="0">
              <a:solidFill>
                <a:schemeClr val="accent2"/>
              </a:solidFill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3.4.2  </a:t>
            </a:r>
            <a:r>
              <a:rPr lang="zh-CN" altLang="en-US" u="sng" dirty="0"/>
              <a:t>修改数据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096000" cy="2895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插入数据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3.4.2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修改数据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3.4.3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删除数据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000" b="0" dirty="0">
              <a:solidFill>
                <a:srgbClr val="278E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   </a:t>
            </a:r>
            <a:r>
              <a:rPr lang="zh-CN" altLang="en-US" dirty="0"/>
              <a:t>数据更新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idx="1"/>
          </p:nvPr>
        </p:nvSpPr>
        <p:spPr>
          <a:xfrm>
            <a:off x="152400" y="1409700"/>
            <a:ext cx="8686800" cy="45339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              </a:t>
            </a:r>
            <a:r>
              <a:rPr lang="en-US" altLang="zh-CN" dirty="0">
                <a:solidFill>
                  <a:srgbClr val="FF0000"/>
                </a:solidFill>
              </a:rPr>
              <a:t>Delete  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from</a:t>
            </a:r>
            <a:r>
              <a:rPr lang="en-US" altLang="zh-CN" dirty="0">
                <a:solidFill>
                  <a:schemeClr val="tx1"/>
                </a:solidFill>
              </a:rPr>
              <a:t>  &lt;</a:t>
            </a:r>
            <a:r>
              <a:rPr lang="zh-CN" altLang="en-US" dirty="0">
                <a:solidFill>
                  <a:schemeClr val="tx1"/>
                </a:solidFill>
              </a:rPr>
              <a:t>表名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[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>
                <a:solidFill>
                  <a:schemeClr val="tx1"/>
                </a:solidFill>
              </a:rPr>
              <a:t> &lt;</a:t>
            </a:r>
            <a:r>
              <a:rPr lang="zh-CN" altLang="en-US" dirty="0">
                <a:solidFill>
                  <a:schemeClr val="tx1"/>
                </a:solidFill>
              </a:rPr>
              <a:t>条件</a:t>
            </a:r>
            <a:r>
              <a:rPr lang="en-US" altLang="zh-CN" dirty="0">
                <a:solidFill>
                  <a:schemeClr val="tx1"/>
                </a:solidFill>
              </a:rPr>
              <a:t>&gt;]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i="1" dirty="0">
                <a:solidFill>
                  <a:schemeClr val="tx1"/>
                </a:solidFill>
              </a:rPr>
              <a:t>不指定</a:t>
            </a:r>
            <a:r>
              <a:rPr lang="en-US" altLang="zh-CN" i="1" dirty="0">
                <a:solidFill>
                  <a:schemeClr val="tx1"/>
                </a:solidFill>
              </a:rPr>
              <a:t>Where</a:t>
            </a:r>
            <a:r>
              <a:rPr lang="zh-CN" altLang="en-US" i="1" dirty="0">
                <a:solidFill>
                  <a:schemeClr val="tx1"/>
                </a:solidFill>
              </a:rPr>
              <a:t>条件子句时，所有数据都将被删除。删除数据前</a:t>
            </a:r>
            <a:r>
              <a:rPr lang="en-US" altLang="zh-CN" i="1" dirty="0">
                <a:solidFill>
                  <a:schemeClr val="tx1"/>
                </a:solidFill>
              </a:rPr>
              <a:t>DBMS</a:t>
            </a:r>
            <a:r>
              <a:rPr lang="zh-CN" altLang="en-US" i="1" dirty="0">
                <a:solidFill>
                  <a:schemeClr val="tx1"/>
                </a:solidFill>
              </a:rPr>
              <a:t>也会检查完整性。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3.4.3  </a:t>
            </a:r>
            <a:r>
              <a:rPr lang="zh-CN" altLang="en-US" dirty="0"/>
              <a:t>删除数据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219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67] ‘05020’</a:t>
            </a:r>
            <a:r>
              <a:rPr lang="zh-CN" altLang="en-US" dirty="0">
                <a:solidFill>
                  <a:schemeClr val="tx1"/>
                </a:solidFill>
              </a:rPr>
              <a:t>学生因故退学，将其学生记录和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成绩记录一并删除。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delete  from </a:t>
            </a:r>
            <a:r>
              <a:rPr lang="en-US" altLang="zh-CN" i="1" dirty="0">
                <a:solidFill>
                  <a:schemeClr val="tx1"/>
                </a:solidFill>
              </a:rPr>
              <a:t>sc </a:t>
            </a:r>
            <a:r>
              <a:rPr lang="en-US" altLang="zh-CN" i="1" dirty="0">
                <a:solidFill>
                  <a:schemeClr val="accent2"/>
                </a:solidFill>
              </a:rPr>
              <a:t>where </a:t>
            </a:r>
            <a:r>
              <a:rPr lang="en-US" altLang="zh-CN" i="1" dirty="0">
                <a:solidFill>
                  <a:schemeClr val="tx1"/>
                </a:solidFill>
              </a:rPr>
              <a:t>sno =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‘05020’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delete from 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r>
              <a:rPr lang="en-US" altLang="zh-CN" i="1" dirty="0">
                <a:solidFill>
                  <a:schemeClr val="accent2"/>
                </a:solidFill>
              </a:rPr>
              <a:t> where </a:t>
            </a:r>
            <a:r>
              <a:rPr lang="en-US" altLang="zh-CN" i="1" dirty="0">
                <a:solidFill>
                  <a:schemeClr val="tx1"/>
                </a:solidFill>
              </a:rPr>
              <a:t>sno=</a:t>
            </a:r>
            <a:r>
              <a:rPr lang="en-US" altLang="zh-CN" i="1" dirty="0">
                <a:solidFill>
                  <a:srgbClr val="FF0000"/>
                </a:solidFill>
              </a:rPr>
              <a:t>‘05020’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i="1" dirty="0">
                <a:solidFill>
                  <a:srgbClr val="FF0000"/>
                </a:solidFill>
              </a:rPr>
              <a:t>由于两表间存在参照引用关系，应先删成绩，再删学生信息。</a:t>
            </a:r>
            <a:endParaRPr lang="zh-CN" altLang="en-US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i="1" dirty="0">
                <a:solidFill>
                  <a:srgbClr val="FF0000"/>
                </a:solidFill>
              </a:rPr>
              <a:t>通过参照完整性的定义，可定义成只要删学生信息，其相应的成绩会自动删除。</a:t>
            </a:r>
            <a:endParaRPr lang="zh-CN" altLang="en-US" sz="3600" i="1" dirty="0">
              <a:solidFill>
                <a:srgbClr val="FF0000"/>
              </a:solidFill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3.4.3  </a:t>
            </a:r>
            <a:r>
              <a:rPr lang="zh-CN" altLang="en-US" u="sng" dirty="0"/>
              <a:t>删除数据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219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68] ‘IS’</a:t>
            </a:r>
            <a:r>
              <a:rPr lang="zh-CN" altLang="en-US" dirty="0">
                <a:solidFill>
                  <a:schemeClr val="tx1"/>
                </a:solidFill>
              </a:rPr>
              <a:t>系学生参加的‘</a:t>
            </a:r>
            <a:r>
              <a:rPr lang="en-US" altLang="zh-CN" dirty="0">
                <a:solidFill>
                  <a:schemeClr val="tx1"/>
                </a:solidFill>
              </a:rPr>
              <a:t>2’</a:t>
            </a:r>
            <a:r>
              <a:rPr lang="zh-CN" altLang="en-US" dirty="0">
                <a:solidFill>
                  <a:schemeClr val="tx1"/>
                </a:solidFill>
              </a:rPr>
              <a:t>号课程的考试成绩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宣布作废，请删掉。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delete  from </a:t>
            </a:r>
            <a:r>
              <a:rPr lang="en-US" altLang="zh-CN" i="1" dirty="0">
                <a:solidFill>
                  <a:schemeClr val="tx1"/>
                </a:solidFill>
              </a:rPr>
              <a:t>sc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where  </a:t>
            </a:r>
            <a:r>
              <a:rPr lang="en-US" altLang="zh-CN" i="1" dirty="0">
                <a:solidFill>
                  <a:schemeClr val="tx1"/>
                </a:solidFill>
              </a:rPr>
              <a:t>cno =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‘2’   </a:t>
            </a:r>
            <a:r>
              <a:rPr lang="en-US" altLang="zh-CN" i="1" dirty="0">
                <a:solidFill>
                  <a:schemeClr val="accent2"/>
                </a:solidFill>
              </a:rPr>
              <a:t>and   </a:t>
            </a:r>
            <a:r>
              <a:rPr lang="en-US" altLang="zh-CN" i="1" dirty="0"/>
              <a:t>‘IS'  </a:t>
            </a:r>
            <a:r>
              <a:rPr lang="en-US" altLang="zh-CN" i="1" dirty="0">
                <a:solidFill>
                  <a:schemeClr val="tx1"/>
                </a:solidFill>
              </a:rPr>
              <a:t>=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i="1" dirty="0"/>
              <a:t>                 </a:t>
            </a:r>
            <a:r>
              <a:rPr lang="en-US" altLang="zh-CN" i="1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accent2"/>
                </a:solidFill>
              </a:rPr>
              <a:t>select   </a:t>
            </a:r>
            <a:r>
              <a:rPr lang="en-US" altLang="zh-CN" i="1" dirty="0">
                <a:solidFill>
                  <a:schemeClr val="tx1"/>
                </a:solidFill>
              </a:rPr>
              <a:t>Sdept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>
                <a:solidFill>
                  <a:schemeClr val="tx1"/>
                </a:solidFill>
              </a:rPr>
              <a:t>   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 Student.Sno = SC.Sno)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endParaRPr lang="en-US" altLang="zh-CN" i="1" dirty="0">
              <a:solidFill>
                <a:schemeClr val="accent2"/>
              </a:solidFill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3.4.3  </a:t>
            </a:r>
            <a:r>
              <a:rPr lang="zh-CN" altLang="en-US" u="sng" dirty="0"/>
              <a:t>删除数据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/>
          <p:nvPr/>
        </p:nvSpPr>
        <p:spPr>
          <a:xfrm>
            <a:off x="863600" y="37211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27653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idx="1"/>
          </p:nvPr>
        </p:nvSpPr>
        <p:spPr>
          <a:xfrm>
            <a:off x="533400" y="1371600"/>
            <a:ext cx="78486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什么是视图</a:t>
            </a:r>
            <a:r>
              <a:rPr lang="en-US" altLang="zh-CN" sz="3600" dirty="0">
                <a:solidFill>
                  <a:srgbClr val="FF0000"/>
                </a:solidFill>
              </a:rPr>
              <a:t>?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虚拟的表，是从一个或几个基本表（或视图）导出的表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只存放视图的定义，对应的数据仍存放在原来的基表中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基表中的数据发生变化，从视图中查询出的数据也随之改变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  </a:t>
            </a:r>
            <a:r>
              <a:rPr lang="zh-CN" altLang="en-US" dirty="0"/>
              <a:t>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idx="1"/>
          </p:nvPr>
        </p:nvSpPr>
        <p:spPr>
          <a:xfrm>
            <a:off x="533400" y="1371600"/>
            <a:ext cx="78486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基于视图的操作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 查询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 删除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视图本身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受限更新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增加、删除、修改数据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定义基于该视图的新视图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  </a:t>
            </a:r>
            <a:r>
              <a:rPr lang="zh-CN" altLang="en-US" u="sng" dirty="0"/>
              <a:t>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3810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3.5.1</a:t>
            </a:r>
            <a:r>
              <a:rPr lang="en-US" altLang="zh-CN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定义视图</a:t>
            </a:r>
            <a:endParaRPr lang="zh-CN" altLang="en-US" sz="3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3.5.2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3.5.3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更新视图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3.5.4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视图的作用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   </a:t>
            </a:r>
            <a:r>
              <a:rPr lang="zh-CN" altLang="en-US" dirty="0"/>
              <a:t>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/>
              <a:t>语句格式</a:t>
            </a:r>
            <a:endParaRPr lang="zh-CN" altLang="en-US" sz="36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       </a:t>
            </a:r>
            <a:r>
              <a:rPr lang="en-US" altLang="zh-CN" sz="2800" dirty="0">
                <a:solidFill>
                  <a:schemeClr val="accent2"/>
                </a:solidFill>
              </a:rPr>
              <a:t>CREATE  VIEW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             </a:t>
            </a: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视图名</a:t>
            </a:r>
            <a:r>
              <a:rPr lang="en-US" altLang="zh-CN" sz="2800" dirty="0">
                <a:solidFill>
                  <a:schemeClr val="tx1"/>
                </a:solidFill>
              </a:rPr>
              <a:t>&gt;  [(&lt;</a:t>
            </a:r>
            <a:r>
              <a:rPr lang="zh-CN" altLang="en-US" sz="2800" dirty="0">
                <a:solidFill>
                  <a:schemeClr val="tx1"/>
                </a:solidFill>
              </a:rPr>
              <a:t>列名</a:t>
            </a:r>
            <a:r>
              <a:rPr lang="en-US" altLang="zh-CN" sz="2800" dirty="0">
                <a:solidFill>
                  <a:schemeClr val="tx1"/>
                </a:solidFill>
              </a:rPr>
              <a:t>&gt;  [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列名</a:t>
            </a:r>
            <a:r>
              <a:rPr lang="en-US" altLang="zh-CN" sz="2800" dirty="0">
                <a:solidFill>
                  <a:schemeClr val="tx1"/>
                </a:solidFill>
              </a:rPr>
              <a:t>&gt;]…)]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FF3399"/>
                </a:solidFill>
              </a:rPr>
              <a:t>       </a:t>
            </a:r>
            <a:r>
              <a:rPr lang="en-US" altLang="zh-CN" sz="2800" dirty="0">
                <a:solidFill>
                  <a:schemeClr val="accent2"/>
                </a:solidFill>
              </a:rPr>
              <a:t>AS</a:t>
            </a: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子查询</a:t>
            </a:r>
            <a:r>
              <a:rPr lang="en-US" altLang="zh-CN" sz="2800" dirty="0">
                <a:solidFill>
                  <a:schemeClr val="tx1"/>
                </a:solidFill>
              </a:rPr>
              <a:t>&gt;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en-US" altLang="zh-CN" sz="2800" dirty="0">
                <a:solidFill>
                  <a:schemeClr val="accent2"/>
                </a:solidFill>
              </a:rPr>
              <a:t>WITH  CHECK  OPTION</a:t>
            </a:r>
            <a:r>
              <a:rPr lang="en-US" altLang="zh-CN" sz="2800" dirty="0">
                <a:solidFill>
                  <a:schemeClr val="tx1"/>
                </a:solidFill>
              </a:rPr>
              <a:t>]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</a:t>
            </a:r>
            <a:r>
              <a:rPr lang="zh-CN" altLang="en-US" sz="2800" i="1" dirty="0">
                <a:solidFill>
                  <a:schemeClr val="tx1"/>
                </a:solidFill>
              </a:rPr>
              <a:t>注：子查询通常是任意复杂的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zh-CN" altLang="en-US" sz="2800" i="1" dirty="0">
                <a:solidFill>
                  <a:schemeClr val="tx1"/>
                </a:solidFill>
              </a:rPr>
              <a:t>语句，但通常不允许含</a:t>
            </a:r>
            <a:r>
              <a:rPr lang="en-US" altLang="zh-CN" sz="2800" i="1" dirty="0">
                <a:solidFill>
                  <a:schemeClr val="accent2"/>
                </a:solidFill>
              </a:rPr>
              <a:t>order by</a:t>
            </a:r>
            <a:r>
              <a:rPr lang="zh-CN" altLang="en-US" sz="2800" i="1" dirty="0">
                <a:solidFill>
                  <a:schemeClr val="tx1"/>
                </a:solidFill>
              </a:rPr>
              <a:t>子句和</a:t>
            </a:r>
            <a:r>
              <a:rPr lang="en-US" altLang="zh-CN" sz="2800" i="1" dirty="0">
                <a:solidFill>
                  <a:schemeClr val="accent2"/>
                </a:solidFill>
              </a:rPr>
              <a:t>distinct</a:t>
            </a:r>
            <a:r>
              <a:rPr lang="zh-CN" altLang="en-US" sz="2800" i="1" dirty="0">
                <a:solidFill>
                  <a:schemeClr val="tx1"/>
                </a:solidFill>
              </a:rPr>
              <a:t>短语。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3.5.1   </a:t>
            </a:r>
            <a:r>
              <a:rPr lang="zh-CN" altLang="en-US" dirty="0"/>
              <a:t>定义视图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idx="1"/>
          </p:nvPr>
        </p:nvSpPr>
        <p:spPr>
          <a:xfrm>
            <a:off x="533400" y="914400"/>
            <a:ext cx="81534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/>
              <a:t>组成视图的属性列只能：</a:t>
            </a:r>
            <a:endParaRPr lang="zh-CN" altLang="en-US" sz="36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全部省略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由子查询中</a:t>
            </a:r>
            <a:r>
              <a:rPr lang="en-US" altLang="zh-CN" sz="2400" dirty="0"/>
              <a:t>SELECT</a:t>
            </a:r>
            <a:r>
              <a:rPr lang="zh-CN" altLang="en-US" sz="2400" dirty="0"/>
              <a:t>目标列中的诸字段组成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全部指定。下列情形必须明确指定视图的所有列名</a:t>
            </a:r>
            <a:r>
              <a:rPr lang="en-US" altLang="zh-CN" dirty="0"/>
              <a:t>:</a:t>
            </a:r>
            <a:endParaRPr lang="en-US" altLang="zh-CN" dirty="0"/>
          </a:p>
          <a:p>
            <a:pPr lvl="2" eaLnBrk="1" hangingPunct="1">
              <a:lnSpc>
                <a:spcPct val="130000"/>
              </a:lnSpc>
              <a:buNone/>
            </a:pPr>
            <a:r>
              <a:rPr lang="en-US" altLang="zh-CN" dirty="0"/>
              <a:t>(1) </a:t>
            </a:r>
            <a:r>
              <a:rPr lang="zh-CN" altLang="en-US" dirty="0"/>
              <a:t>某个目标列是集函数或列表达式</a:t>
            </a:r>
            <a:endParaRPr lang="zh-CN" altLang="en-US" dirty="0"/>
          </a:p>
          <a:p>
            <a:pPr lvl="2" eaLnBrk="1" hangingPunct="1">
              <a:lnSpc>
                <a:spcPct val="130000"/>
              </a:lnSpc>
              <a:buNone/>
            </a:pPr>
            <a:r>
              <a:rPr lang="en-US" altLang="zh-CN" dirty="0"/>
              <a:t>(2) </a:t>
            </a:r>
            <a:r>
              <a:rPr lang="zh-CN" altLang="en-US" dirty="0"/>
              <a:t>目标列为  *</a:t>
            </a:r>
            <a:endParaRPr lang="zh-CN" altLang="en-US" dirty="0"/>
          </a:p>
          <a:p>
            <a:pPr lvl="2" eaLnBrk="1" hangingPunct="1">
              <a:lnSpc>
                <a:spcPct val="130000"/>
              </a:lnSpc>
              <a:buNone/>
            </a:pPr>
            <a:r>
              <a:rPr lang="en-US" altLang="zh-CN" dirty="0"/>
              <a:t>(3) </a:t>
            </a:r>
            <a:r>
              <a:rPr lang="zh-CN" altLang="en-US" dirty="0"/>
              <a:t>多表连接时选出了几个同名列作为视图的字段</a:t>
            </a:r>
            <a:endParaRPr lang="zh-CN" altLang="en-US" dirty="0"/>
          </a:p>
          <a:p>
            <a:pPr lvl="2" eaLnBrk="1" hangingPunct="1">
              <a:lnSpc>
                <a:spcPct val="130000"/>
              </a:lnSpc>
              <a:buNone/>
            </a:pPr>
            <a:r>
              <a:rPr lang="en-US" altLang="zh-CN" dirty="0"/>
              <a:t>(4) </a:t>
            </a:r>
            <a:r>
              <a:rPr lang="zh-CN" altLang="en-US" dirty="0"/>
              <a:t>需要在视图中为某个列启用新的更合适的名字</a:t>
            </a:r>
            <a:endParaRPr lang="zh-CN" altLang="en-US" dirty="0"/>
          </a:p>
        </p:txBody>
      </p:sp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/>
              <a:t>With Check Option</a:t>
            </a:r>
            <a:r>
              <a:rPr lang="zh-CN" altLang="en-US" sz="3600" dirty="0"/>
              <a:t>：</a:t>
            </a:r>
            <a:endParaRPr lang="zh-CN" altLang="en-US" sz="36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透过视图进行增删改操作时，要保证</a:t>
            </a:r>
            <a:r>
              <a:rPr lang="en-US" altLang="zh-CN" dirty="0">
                <a:solidFill>
                  <a:schemeClr val="tx1"/>
                </a:solidFill>
              </a:rPr>
              <a:t>insert,delete,update</a:t>
            </a:r>
            <a:r>
              <a:rPr lang="zh-CN" altLang="en-US" dirty="0">
                <a:solidFill>
                  <a:schemeClr val="tx1"/>
                </a:solidFill>
              </a:rPr>
              <a:t>要操作的行满足视图定义中的谓词条件（即子查询中的条件表达式）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/>
              <a:t>视图的删除：</a:t>
            </a:r>
            <a:endParaRPr lang="zh-CN" altLang="en-US" sz="36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sz="4000" dirty="0">
                <a:solidFill>
                  <a:schemeClr val="accent2"/>
                </a:solidFill>
              </a:rPr>
              <a:t>Drop view</a:t>
            </a:r>
            <a:r>
              <a:rPr lang="en-US" altLang="zh-CN" sz="4000" dirty="0">
                <a:solidFill>
                  <a:schemeClr val="tx1"/>
                </a:solidFill>
              </a:rPr>
              <a:t>  &lt;</a:t>
            </a:r>
            <a:r>
              <a:rPr lang="zh-CN" altLang="en-US" sz="4000" dirty="0">
                <a:solidFill>
                  <a:schemeClr val="tx1"/>
                </a:solidFill>
              </a:rPr>
              <a:t>视图名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endParaRPr lang="en-US" altLang="zh-CN" sz="4000" dirty="0">
              <a:solidFill>
                <a:schemeClr val="tx1"/>
              </a:solidFill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idx="1"/>
          </p:nvPr>
        </p:nvSpPr>
        <p:spPr>
          <a:xfrm>
            <a:off x="152400" y="1028700"/>
            <a:ext cx="8686800" cy="54483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69]  </a:t>
            </a:r>
            <a:r>
              <a:rPr lang="zh-CN" altLang="en-US" sz="2800" dirty="0">
                <a:solidFill>
                  <a:schemeClr val="tx1"/>
                </a:solidFill>
              </a:rPr>
              <a:t>建立一个包括学号，姓名，性别，年龄，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所在系名称的视图。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</a:t>
            </a:r>
            <a:r>
              <a:rPr lang="en-US" altLang="zh-CN" sz="3000" i="1" dirty="0">
                <a:solidFill>
                  <a:schemeClr val="accent2"/>
                </a:solidFill>
              </a:rPr>
              <a:t>create   view</a:t>
            </a:r>
            <a:r>
              <a:rPr lang="en-US" altLang="zh-CN" sz="3000" dirty="0">
                <a:solidFill>
                  <a:schemeClr val="tx1"/>
                </a:solidFill>
              </a:rPr>
              <a:t>   Student_List    </a:t>
            </a:r>
            <a:r>
              <a:rPr lang="en-US" altLang="zh-CN" sz="3000" i="1" dirty="0">
                <a:solidFill>
                  <a:schemeClr val="accent2"/>
                </a:solidFill>
              </a:rPr>
              <a:t>as</a:t>
            </a:r>
            <a:r>
              <a:rPr lang="en-US" altLang="zh-CN" sz="3000" dirty="0">
                <a:solidFill>
                  <a:schemeClr val="tx1"/>
                </a:solidFill>
              </a:rPr>
              <a:t> 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000" dirty="0"/>
              <a:t>        </a:t>
            </a:r>
            <a:r>
              <a:rPr lang="en-US" altLang="zh-CN" sz="3000" i="1" dirty="0">
                <a:solidFill>
                  <a:schemeClr val="accent2"/>
                </a:solidFill>
              </a:rPr>
              <a:t>select   </a:t>
            </a:r>
            <a:r>
              <a:rPr lang="en-US" altLang="zh-CN" sz="3000" i="1" dirty="0"/>
              <a:t>sno,sname,sex,</a:t>
            </a:r>
            <a:br>
              <a:rPr lang="en-US" altLang="zh-CN" sz="3000" i="1" dirty="0"/>
            </a:br>
            <a:r>
              <a:rPr lang="en-US" altLang="zh-CN" sz="3000" i="1" dirty="0"/>
              <a:t>                 </a:t>
            </a:r>
            <a:r>
              <a:rPr lang="en-US" altLang="zh-CN" sz="3000" i="1" dirty="0">
                <a:solidFill>
                  <a:srgbClr val="FF3300"/>
                </a:solidFill>
              </a:rPr>
              <a:t>datediff</a:t>
            </a:r>
            <a:r>
              <a:rPr lang="en-US" altLang="zh-CN" sz="3000" i="1" dirty="0"/>
              <a:t>(</a:t>
            </a:r>
            <a:r>
              <a:rPr lang="en-US" altLang="zh-CN" sz="3000" i="1" dirty="0">
                <a:solidFill>
                  <a:srgbClr val="FF3300"/>
                </a:solidFill>
              </a:rPr>
              <a:t>year</a:t>
            </a:r>
            <a:r>
              <a:rPr lang="en-US" altLang="zh-CN" sz="3000" i="1" dirty="0"/>
              <a:t>,sbirth, </a:t>
            </a:r>
            <a:r>
              <a:rPr lang="en-US" altLang="zh-CN" sz="3000" i="1" dirty="0">
                <a:solidFill>
                  <a:srgbClr val="FF3300"/>
                </a:solidFill>
              </a:rPr>
              <a:t>getdate</a:t>
            </a:r>
            <a:r>
              <a:rPr lang="en-US" altLang="zh-CN" sz="3000" i="1" dirty="0"/>
              <a:t>()) as age,</a:t>
            </a:r>
            <a:br>
              <a:rPr lang="en-US" altLang="zh-CN" sz="3000" i="1" dirty="0"/>
            </a:br>
            <a:r>
              <a:rPr lang="en-US" altLang="zh-CN" sz="3000" i="1" dirty="0"/>
              <a:t>                 deptname</a:t>
            </a:r>
            <a:br>
              <a:rPr lang="en-US" altLang="zh-CN" sz="3000" i="1" dirty="0"/>
            </a:br>
            <a:r>
              <a:rPr lang="en-US" altLang="zh-CN" sz="3000" i="1" dirty="0"/>
              <a:t>      </a:t>
            </a:r>
            <a:r>
              <a:rPr lang="en-US" altLang="zh-CN" sz="3000" i="1" dirty="0">
                <a:solidFill>
                  <a:schemeClr val="accent2"/>
                </a:solidFill>
              </a:rPr>
              <a:t>from   </a:t>
            </a:r>
            <a:r>
              <a:rPr lang="en-US" altLang="zh-CN" sz="3000" i="1" dirty="0"/>
              <a:t>student, sex, dept </a:t>
            </a:r>
            <a:br>
              <a:rPr lang="en-US" altLang="zh-CN" sz="3000" i="1" dirty="0"/>
            </a:br>
            <a:r>
              <a:rPr lang="en-US" altLang="zh-CN" sz="3000" i="1" dirty="0"/>
              <a:t>     </a:t>
            </a:r>
            <a:r>
              <a:rPr lang="en-US" altLang="zh-CN" sz="3000" i="1" dirty="0">
                <a:solidFill>
                  <a:schemeClr val="accent2"/>
                </a:solidFill>
              </a:rPr>
              <a:t>where</a:t>
            </a:r>
            <a:r>
              <a:rPr lang="en-US" altLang="zh-CN" sz="3000" i="1" dirty="0"/>
              <a:t>  student.ssex = sex.id    </a:t>
            </a:r>
            <a:r>
              <a:rPr lang="en-US" altLang="zh-CN" sz="3000" i="1" dirty="0">
                <a:solidFill>
                  <a:schemeClr val="accent2"/>
                </a:solidFill>
              </a:rPr>
              <a:t>and</a:t>
            </a:r>
            <a:r>
              <a:rPr lang="en-US" altLang="zh-CN" sz="3000" i="1" dirty="0"/>
              <a:t> </a:t>
            </a:r>
            <a:endParaRPr lang="en-US" altLang="zh-CN" sz="30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000" i="1" dirty="0"/>
              <a:t>                    student.sdept = dept.deptid</a:t>
            </a:r>
            <a:endParaRPr lang="en-US" altLang="zh-CN" sz="30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000" i="1" dirty="0">
                <a:solidFill>
                  <a:srgbClr val="FF0000"/>
                </a:solidFill>
              </a:rPr>
              <a:t>(age:</a:t>
            </a:r>
            <a:r>
              <a:rPr lang="zh-CN" altLang="en-US" sz="3000" i="1" dirty="0">
                <a:solidFill>
                  <a:srgbClr val="FF0000"/>
                </a:solidFill>
              </a:rPr>
              <a:t>虚拟列</a:t>
            </a:r>
            <a:r>
              <a:rPr lang="en-US" altLang="zh-CN" sz="3000" i="1" dirty="0">
                <a:solidFill>
                  <a:srgbClr val="FF0000"/>
                </a:solidFill>
              </a:rPr>
              <a:t>,</a:t>
            </a:r>
            <a:r>
              <a:rPr lang="zh-CN" altLang="en-US" sz="3000" i="1" dirty="0">
                <a:solidFill>
                  <a:srgbClr val="FF0000"/>
                </a:solidFill>
              </a:rPr>
              <a:t>派生列；带表达式的视图</a:t>
            </a:r>
            <a:r>
              <a:rPr lang="en-US" altLang="zh-CN" sz="3000" i="1" dirty="0">
                <a:solidFill>
                  <a:srgbClr val="FF0000"/>
                </a:solidFill>
              </a:rPr>
              <a:t>)</a:t>
            </a:r>
            <a:endParaRPr lang="en-US" altLang="zh-CN" sz="3000" i="1" dirty="0">
              <a:solidFill>
                <a:srgbClr val="FF0000"/>
              </a:solidFill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  <p:graphicFrame>
        <p:nvGraphicFramePr>
          <p:cNvPr id="45059" name="Group 3"/>
          <p:cNvGraphicFramePr>
            <a:graphicFrameLocks noGrp="1"/>
          </p:cNvGraphicFramePr>
          <p:nvPr/>
        </p:nvGraphicFramePr>
        <p:xfrm>
          <a:off x="4267200" y="762000"/>
          <a:ext cx="4724400" cy="2581275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  <a:gridCol w="1003300"/>
                <a:gridCol w="9144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生日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Sbirth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86-1-1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87-3-8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87-5-1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88-8-2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06" name="Text Box 41"/>
          <p:cNvSpPr txBox="1"/>
          <p:nvPr/>
        </p:nvSpPr>
        <p:spPr>
          <a:xfrm>
            <a:off x="2667000" y="838200"/>
            <a:ext cx="1676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Student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45098" name="Group 42"/>
          <p:cNvGraphicFramePr>
            <a:graphicFrameLocks noGrp="1"/>
          </p:cNvGraphicFramePr>
          <p:nvPr/>
        </p:nvGraphicFramePr>
        <p:xfrm>
          <a:off x="381000" y="1371600"/>
          <a:ext cx="1752600" cy="1809750"/>
        </p:xfrm>
        <a:graphic>
          <a:graphicData uri="http://schemas.openxmlformats.org/drawingml/2006/table">
            <a:tbl>
              <a:tblPr/>
              <a:tblGrid>
                <a:gridCol w="808038"/>
                <a:gridCol w="944562"/>
              </a:tblGrid>
              <a:tr h="895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序号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9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9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21" name="Text Box 56"/>
          <p:cNvSpPr txBox="1"/>
          <p:nvPr/>
        </p:nvSpPr>
        <p:spPr>
          <a:xfrm>
            <a:off x="838200" y="685800"/>
            <a:ext cx="7937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Sex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45113" name="Group 57"/>
          <p:cNvGraphicFramePr>
            <a:graphicFrameLocks noGrp="1"/>
          </p:cNvGraphicFramePr>
          <p:nvPr/>
        </p:nvGraphicFramePr>
        <p:xfrm>
          <a:off x="304800" y="3810000"/>
          <a:ext cx="2971800" cy="2581275"/>
        </p:xfrm>
        <a:graphic>
          <a:graphicData uri="http://schemas.openxmlformats.org/drawingml/2006/table">
            <a:tbl>
              <a:tblPr/>
              <a:tblGrid>
                <a:gridCol w="1417638"/>
                <a:gridCol w="1554162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DeptId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英文系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42" name="Text Box 77"/>
          <p:cNvSpPr txBox="1"/>
          <p:nvPr/>
        </p:nvSpPr>
        <p:spPr>
          <a:xfrm>
            <a:off x="1371600" y="3276600"/>
            <a:ext cx="10191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Dept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45134" name="Group 78"/>
          <p:cNvGraphicFramePr>
            <a:graphicFrameLocks noGrp="1"/>
          </p:cNvGraphicFramePr>
          <p:nvPr/>
        </p:nvGraphicFramePr>
        <p:xfrm>
          <a:off x="3581400" y="3886200"/>
          <a:ext cx="5334000" cy="2581275"/>
        </p:xfrm>
        <a:graphic>
          <a:graphicData uri="http://schemas.openxmlformats.org/drawingml/2006/table">
            <a:tbl>
              <a:tblPr/>
              <a:tblGrid>
                <a:gridCol w="914400"/>
                <a:gridCol w="990600"/>
                <a:gridCol w="838200"/>
                <a:gridCol w="762000"/>
                <a:gridCol w="1828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6981" name="Text Box 116"/>
          <p:cNvSpPr txBox="1"/>
          <p:nvPr/>
        </p:nvSpPr>
        <p:spPr>
          <a:xfrm>
            <a:off x="4800600" y="335280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视图：</a:t>
            </a:r>
            <a:r>
              <a:rPr lang="en-US" altLang="zh-CN" i="1" dirty="0">
                <a:solidFill>
                  <a:schemeClr val="tx1"/>
                </a:solidFill>
              </a:rPr>
              <a:t>Student_List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sp>
        <p:nvSpPr>
          <p:cNvPr id="36982" name="AutoShape 117"/>
          <p:cNvSpPr/>
          <p:nvPr/>
        </p:nvSpPr>
        <p:spPr>
          <a:xfrm>
            <a:off x="3657600" y="2743200"/>
            <a:ext cx="733425" cy="1214438"/>
          </a:xfrm>
          <a:prstGeom prst="curvedLeftArrow">
            <a:avLst>
              <a:gd name="adj1" fmla="val 33116"/>
              <a:gd name="adj2" fmla="val 66233"/>
              <a:gd name="adj3" fmla="val 33333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6983" name="AutoShape 118"/>
          <p:cNvSpPr/>
          <p:nvPr/>
        </p:nvSpPr>
        <p:spPr>
          <a:xfrm>
            <a:off x="2514600" y="3810000"/>
            <a:ext cx="1214438" cy="733425"/>
          </a:xfrm>
          <a:prstGeom prst="curvedUpArrow">
            <a:avLst>
              <a:gd name="adj1" fmla="val 33116"/>
              <a:gd name="adj2" fmla="val 66233"/>
              <a:gd name="adj3" fmla="val 33333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6984" name="AutoShape 119"/>
          <p:cNvSpPr/>
          <p:nvPr/>
        </p:nvSpPr>
        <p:spPr>
          <a:xfrm>
            <a:off x="2743200" y="2667000"/>
            <a:ext cx="733425" cy="1214438"/>
          </a:xfrm>
          <a:prstGeom prst="curvedRightArrow">
            <a:avLst>
              <a:gd name="adj1" fmla="val 33116"/>
              <a:gd name="adj2" fmla="val 66233"/>
              <a:gd name="adj3" fmla="val 33333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70]  </a:t>
            </a:r>
            <a:r>
              <a:rPr lang="zh-CN" altLang="en-US" dirty="0">
                <a:solidFill>
                  <a:schemeClr val="tx1"/>
                </a:solidFill>
              </a:rPr>
              <a:t>建立‘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系的学生视图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包含学号，姓名信息</a:t>
            </a:r>
            <a:r>
              <a:rPr lang="en-US" altLang="zh-CN" dirty="0">
                <a:solidFill>
                  <a:schemeClr val="tx1"/>
                </a:solidFill>
              </a:rPr>
              <a:t>),</a:t>
            </a:r>
            <a:r>
              <a:rPr lang="zh-CN" altLang="en-US" dirty="0">
                <a:solidFill>
                  <a:schemeClr val="tx1"/>
                </a:solidFill>
              </a:rPr>
              <a:t>并要求透过该视图进行的更新操作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只涉及‘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系的学生。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CREATE VIEW</a:t>
            </a:r>
            <a:r>
              <a:rPr lang="en-US" altLang="zh-CN" sz="2800" i="1" dirty="0">
                <a:solidFill>
                  <a:schemeClr val="tx1"/>
                </a:solidFill>
              </a:rPr>
              <a:t>  StudentOfCS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AS </a:t>
            </a:r>
            <a:endParaRPr lang="en-US" altLang="zh-CN" sz="2800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Sno</a:t>
            </a:r>
            <a:r>
              <a:rPr lang="zh-CN" altLang="en-US" sz="2800" i="1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               FROM</a:t>
            </a:r>
            <a:r>
              <a:rPr lang="en-US" altLang="zh-CN" sz="2800" i="1" dirty="0">
                <a:solidFill>
                  <a:schemeClr val="tx1"/>
                </a:solidFill>
              </a:rPr>
              <a:t>   Student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WHERE</a:t>
            </a:r>
            <a:r>
              <a:rPr lang="en-US" altLang="zh-CN" sz="2800" i="1" dirty="0">
                <a:solidFill>
                  <a:schemeClr val="tx1"/>
                </a:solidFill>
              </a:rPr>
              <a:t>   Sdept =  </a:t>
            </a:r>
            <a:r>
              <a:rPr lang="en-US" altLang="zh-CN" sz="2800" i="1" dirty="0">
                <a:solidFill>
                  <a:srgbClr val="FF0000"/>
                </a:solidFill>
              </a:rPr>
              <a:t>‘CS'</a:t>
            </a:r>
            <a:endParaRPr lang="en-US" altLang="zh-CN" sz="2800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WITH  CHECK OPTION</a:t>
            </a:r>
            <a:endParaRPr lang="en-US" altLang="zh-CN" sz="2800" i="1" dirty="0">
              <a:solidFill>
                <a:schemeClr val="accent2"/>
              </a:solidFill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>
          <a:xfrm>
            <a:off x="381000" y="990600"/>
            <a:ext cx="8153400" cy="4191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行列子集视图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从单个基本表通过选择、投影导出，并且包含了基本表的主键</a:t>
            </a:r>
            <a:r>
              <a:rPr lang="en-US" altLang="zh-CN" dirty="0"/>
              <a:t>(</a:t>
            </a:r>
            <a:r>
              <a:rPr lang="zh-CN" altLang="en-US" dirty="0"/>
              <a:t>或某个候选键</a:t>
            </a:r>
            <a:r>
              <a:rPr lang="en-US" altLang="zh-CN" dirty="0"/>
              <a:t>)</a:t>
            </a:r>
            <a:r>
              <a:rPr lang="zh-CN" altLang="en-US" dirty="0"/>
              <a:t>的视图。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行列子集视图是可以更新的。</a:t>
            </a:r>
            <a:r>
              <a:rPr lang="zh-CN" altLang="en-US" i="1" dirty="0">
                <a:solidFill>
                  <a:schemeClr val="accent2"/>
                </a:solidFill>
              </a:rPr>
              <a:t>           </a:t>
            </a:r>
            <a:endParaRPr lang="zh-CN" altLang="en-US" i="1" dirty="0">
              <a:solidFill>
                <a:schemeClr val="accent2"/>
              </a:solidFill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71]  </a:t>
            </a:r>
            <a:r>
              <a:rPr lang="zh-CN" altLang="en-US" sz="3600" dirty="0">
                <a:solidFill>
                  <a:schemeClr val="tx1"/>
                </a:solidFill>
              </a:rPr>
              <a:t>建立 ‘</a:t>
            </a:r>
            <a:r>
              <a:rPr lang="en-US" altLang="zh-CN" sz="3600" dirty="0">
                <a:solidFill>
                  <a:schemeClr val="tx1"/>
                </a:solidFill>
              </a:rPr>
              <a:t>1’</a:t>
            </a:r>
            <a:r>
              <a:rPr lang="zh-CN" altLang="en-US" sz="3600" dirty="0">
                <a:solidFill>
                  <a:schemeClr val="tx1"/>
                </a:solidFill>
              </a:rPr>
              <a:t>号课程的单科成绩单视图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         </a:t>
            </a:r>
            <a:r>
              <a:rPr lang="en-US" altLang="zh-CN" sz="3600" dirty="0">
                <a:solidFill>
                  <a:schemeClr val="tx1"/>
                </a:solidFill>
              </a:rPr>
              <a:t>ScoreOfDB</a:t>
            </a:r>
            <a:r>
              <a:rPr lang="zh-CN" altLang="en-US" sz="3600" dirty="0">
                <a:solidFill>
                  <a:schemeClr val="tx1"/>
                </a:solidFill>
              </a:rPr>
              <a:t>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  </a:t>
            </a:r>
            <a:r>
              <a:rPr lang="en-US" altLang="zh-CN" i="1" dirty="0">
                <a:solidFill>
                  <a:schemeClr val="accent2"/>
                </a:solidFill>
              </a:rPr>
              <a:t>create view  </a:t>
            </a:r>
            <a:r>
              <a:rPr lang="en-US" altLang="zh-CN" i="1" dirty="0">
                <a:solidFill>
                  <a:schemeClr val="tx1"/>
                </a:solidFill>
              </a:rPr>
              <a:t>ScoreOfDB(sno,sname,grade)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as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select  </a:t>
            </a:r>
            <a:r>
              <a:rPr lang="en-US" altLang="zh-CN" i="1" dirty="0">
                <a:solidFill>
                  <a:schemeClr val="tx1"/>
                </a:solidFill>
              </a:rPr>
              <a:t>S.sno,  S.sname, grade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from  </a:t>
            </a:r>
            <a:r>
              <a:rPr lang="en-US" altLang="zh-CN" i="1" dirty="0">
                <a:solidFill>
                  <a:schemeClr val="tx1"/>
                </a:solidFill>
              </a:rPr>
              <a:t>Student S,</a:t>
            </a:r>
            <a:r>
              <a:rPr lang="en-US" altLang="zh-CN" i="1" dirty="0">
                <a:solidFill>
                  <a:schemeClr val="accent2"/>
                </a:solidFill>
              </a:rPr>
              <a:t>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where  </a:t>
            </a:r>
            <a:r>
              <a:rPr lang="en-US" altLang="zh-CN" i="1" dirty="0">
                <a:solidFill>
                  <a:schemeClr val="tx1"/>
                </a:solidFill>
              </a:rPr>
              <a:t>S.sno = SC.sno  </a:t>
            </a:r>
            <a:r>
              <a:rPr lang="en-US" altLang="zh-CN" i="1" dirty="0">
                <a:solidFill>
                  <a:schemeClr val="accent2"/>
                </a:solidFill>
              </a:rPr>
              <a:t> and 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         cno =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‘1’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idx="1"/>
          </p:nvPr>
        </p:nvSpPr>
        <p:spPr>
          <a:xfrm>
            <a:off x="152400" y="685800"/>
            <a:ext cx="86868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72]  </a:t>
            </a:r>
            <a:r>
              <a:rPr lang="zh-CN" altLang="en-US" sz="3600" dirty="0">
                <a:solidFill>
                  <a:schemeClr val="tx1"/>
                </a:solidFill>
              </a:rPr>
              <a:t>建立一个女生记录的视图。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 </a:t>
            </a:r>
            <a:r>
              <a:rPr lang="en-US" altLang="zh-CN" i="1" dirty="0">
                <a:solidFill>
                  <a:schemeClr val="accent2"/>
                </a:solidFill>
              </a:rPr>
              <a:t>create view  </a:t>
            </a:r>
            <a:r>
              <a:rPr lang="en-US" altLang="zh-CN" i="1" dirty="0">
                <a:solidFill>
                  <a:schemeClr val="tx1"/>
                </a:solidFill>
              </a:rPr>
              <a:t>FemaleStudent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as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select  </a:t>
            </a:r>
            <a:r>
              <a:rPr lang="en-US" altLang="zh-CN" i="1" dirty="0">
                <a:solidFill>
                  <a:schemeClr val="tx1"/>
                </a:solidFill>
              </a:rPr>
              <a:t>sno,sname,ssex,sbirth,sdept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from   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where  </a:t>
            </a:r>
            <a:r>
              <a:rPr lang="en-US" altLang="zh-CN" i="1" dirty="0">
                <a:solidFill>
                  <a:schemeClr val="tx1"/>
                </a:solidFill>
              </a:rPr>
              <a:t>ssex =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  (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id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>
                <a:solidFill>
                  <a:schemeClr val="tx1"/>
                </a:solidFill>
              </a:rPr>
              <a:t>  sex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 </a:t>
            </a:r>
            <a:r>
              <a:rPr lang="en-US" altLang="zh-CN" i="1" dirty="0">
                <a:solidFill>
                  <a:schemeClr val="tx1"/>
                </a:solidFill>
              </a:rPr>
              <a:t>  sex =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女’</a:t>
            </a:r>
            <a:r>
              <a:rPr lang="en-US" altLang="zh-CN" i="1" dirty="0">
                <a:solidFill>
                  <a:schemeClr val="tx1"/>
                </a:solidFill>
              </a:rPr>
              <a:t>)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 with  check  option</a:t>
            </a:r>
            <a:endParaRPr lang="en-US" altLang="zh-CN" i="1" dirty="0">
              <a:solidFill>
                <a:schemeClr val="accent2"/>
              </a:solidFill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73]  </a:t>
            </a:r>
            <a:r>
              <a:rPr lang="zh-CN" altLang="en-US" sz="3600" dirty="0">
                <a:solidFill>
                  <a:schemeClr val="tx1"/>
                </a:solidFill>
              </a:rPr>
              <a:t>删除刚才建立的女生视图。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endParaRPr lang="zh-CN" altLang="en-US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 </a:t>
            </a:r>
            <a:r>
              <a:rPr lang="en-US" altLang="zh-CN" i="1" dirty="0">
                <a:solidFill>
                  <a:schemeClr val="accent2"/>
                </a:solidFill>
              </a:rPr>
              <a:t>drop    view   </a:t>
            </a:r>
            <a:r>
              <a:rPr lang="en-US" altLang="zh-CN" i="1" dirty="0">
                <a:solidFill>
                  <a:schemeClr val="tx1"/>
                </a:solidFill>
              </a:rPr>
              <a:t>FemaleStudent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3.5.1  </a:t>
            </a:r>
            <a:r>
              <a:rPr lang="zh-CN" altLang="en-US" u="sng" dirty="0"/>
              <a:t>定义视图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3810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3.5.1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定义视图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3.5.2</a:t>
            </a:r>
            <a:r>
              <a:rPr lang="en-US" altLang="zh-CN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查询视图</a:t>
            </a:r>
            <a:endParaRPr lang="zh-CN" altLang="en-US" sz="3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3.5.3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更新视图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3.5.4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视图的作用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   </a:t>
            </a:r>
            <a:r>
              <a:rPr lang="zh-CN" altLang="en-US" dirty="0"/>
              <a:t>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74]  </a:t>
            </a:r>
            <a:r>
              <a:rPr lang="zh-CN" altLang="en-US" sz="3600" dirty="0">
                <a:solidFill>
                  <a:schemeClr val="tx1"/>
                </a:solidFill>
              </a:rPr>
              <a:t>根据</a:t>
            </a:r>
            <a:r>
              <a:rPr lang="en-US" altLang="zh-CN" sz="3600" dirty="0">
                <a:solidFill>
                  <a:schemeClr val="tx1"/>
                </a:solidFill>
              </a:rPr>
              <a:t>student_list</a:t>
            </a:r>
            <a:r>
              <a:rPr lang="zh-CN" altLang="en-US" sz="3600" dirty="0">
                <a:solidFill>
                  <a:schemeClr val="tx1"/>
                </a:solidFill>
              </a:rPr>
              <a:t>视图的定义，查询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         年龄不超过</a:t>
            </a:r>
            <a:r>
              <a:rPr lang="en-US" altLang="zh-CN" sz="3600" dirty="0">
                <a:solidFill>
                  <a:schemeClr val="tx1"/>
                </a:solidFill>
              </a:rPr>
              <a:t>18</a:t>
            </a:r>
            <a:r>
              <a:rPr lang="zh-CN" altLang="en-US" sz="3600" dirty="0">
                <a:solidFill>
                  <a:schemeClr val="tx1"/>
                </a:solidFill>
              </a:rPr>
              <a:t>岁的学生情况。  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  </a:t>
            </a:r>
            <a:r>
              <a:rPr lang="en-US" altLang="zh-CN" i="1" dirty="0">
                <a:solidFill>
                  <a:schemeClr val="accent2"/>
                </a:solidFill>
              </a:rPr>
              <a:t>select   </a:t>
            </a:r>
            <a:r>
              <a:rPr lang="en-US" altLang="zh-CN" i="1" dirty="0">
                <a:solidFill>
                  <a:schemeClr val="tx1"/>
                </a:solidFill>
              </a:rPr>
              <a:t>*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from   </a:t>
            </a:r>
            <a:r>
              <a:rPr lang="en-US" altLang="zh-CN" i="1" dirty="0">
                <a:solidFill>
                  <a:schemeClr val="tx1"/>
                </a:solidFill>
              </a:rPr>
              <a:t>Student_List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 age &lt;=18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3.5.2  </a:t>
            </a:r>
            <a:r>
              <a:rPr lang="zh-CN" altLang="en-US" u="sng" dirty="0"/>
              <a:t>查询视图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3810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3.5.1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定义视图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3.5.2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3.5.3</a:t>
            </a:r>
            <a:r>
              <a:rPr lang="en-US" altLang="zh-CN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更新视图</a:t>
            </a:r>
            <a:endParaRPr lang="zh-CN" altLang="en-US" sz="3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3.5.4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视图的作用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   </a:t>
            </a:r>
            <a:r>
              <a:rPr lang="zh-CN" altLang="en-US" dirty="0"/>
              <a:t>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</a:rPr>
              <a:t>更新视图是指通过视图进行</a:t>
            </a:r>
            <a:r>
              <a:rPr lang="en-US" altLang="zh-CN" sz="3600" dirty="0">
                <a:solidFill>
                  <a:schemeClr val="tx1"/>
                </a:solidFill>
              </a:rPr>
              <a:t>insert,delete</a:t>
            </a:r>
            <a:r>
              <a:rPr lang="zh-CN" altLang="en-US" sz="3600" dirty="0">
                <a:solidFill>
                  <a:schemeClr val="tx1"/>
                </a:solidFill>
              </a:rPr>
              <a:t>以及</a:t>
            </a:r>
            <a:r>
              <a:rPr lang="en-US" altLang="zh-CN" sz="3600" dirty="0">
                <a:solidFill>
                  <a:schemeClr val="tx1"/>
                </a:solidFill>
              </a:rPr>
              <a:t>update</a:t>
            </a:r>
            <a:r>
              <a:rPr lang="zh-CN" altLang="en-US" sz="3600" dirty="0">
                <a:solidFill>
                  <a:schemeClr val="tx1"/>
                </a:solidFill>
              </a:rPr>
              <a:t>操作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</a:rPr>
              <a:t>对视图的更新最终要转换为对基本表的更新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</a:rPr>
              <a:t>可用</a:t>
            </a:r>
            <a:r>
              <a:rPr lang="en-US" altLang="zh-CN" sz="3600" dirty="0">
                <a:solidFill>
                  <a:schemeClr val="tx1"/>
                </a:solidFill>
              </a:rPr>
              <a:t>with check option</a:t>
            </a:r>
            <a:r>
              <a:rPr lang="zh-CN" altLang="en-US" sz="3600" dirty="0">
                <a:solidFill>
                  <a:schemeClr val="tx1"/>
                </a:solidFill>
              </a:rPr>
              <a:t>进行更新约束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</a:rPr>
              <a:t>不是所有的视图都可更新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行列子集视图是可更新的</a:t>
            </a:r>
            <a:r>
              <a:rPr lang="zh-CN" altLang="en-US" i="1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(</a:t>
            </a:r>
            <a:r>
              <a:rPr lang="zh-CN" altLang="en-US" i="1" dirty="0">
                <a:solidFill>
                  <a:schemeClr val="accent2"/>
                </a:solidFill>
              </a:rPr>
              <a:t>从单一表中通过选择、投影操作导出的视图，且包含候选键</a:t>
            </a:r>
            <a:r>
              <a:rPr lang="en-US" altLang="zh-CN" i="1" dirty="0">
                <a:solidFill>
                  <a:schemeClr val="accent2"/>
                </a:solidFill>
              </a:rPr>
              <a:t>)       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3.5.3  </a:t>
            </a:r>
            <a:r>
              <a:rPr lang="zh-CN" altLang="en-US" u="sng" dirty="0"/>
              <a:t>更新视图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视图更新的限制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字段由表达式或常数组成，不允许执行</a:t>
            </a:r>
            <a:r>
              <a:rPr lang="en-US" altLang="zh-CN" dirty="0"/>
              <a:t>INSERT </a:t>
            </a:r>
            <a:r>
              <a:rPr lang="zh-CN" altLang="en-US" dirty="0"/>
              <a:t>但可以</a:t>
            </a:r>
            <a:r>
              <a:rPr lang="en-US" altLang="zh-CN" dirty="0"/>
              <a:t>DELETE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字段由集函数组成，不允许更新；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视图定义含有</a:t>
            </a:r>
            <a:r>
              <a:rPr lang="en-US" altLang="zh-CN" dirty="0"/>
              <a:t>GROUP BY</a:t>
            </a:r>
            <a:r>
              <a:rPr lang="zh-CN" altLang="en-US" dirty="0"/>
              <a:t>子句，不允许更新；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视图定义含有</a:t>
            </a:r>
            <a:r>
              <a:rPr lang="en-US" altLang="zh-CN" dirty="0"/>
              <a:t>DISTINCT</a:t>
            </a:r>
            <a:r>
              <a:rPr lang="zh-CN" altLang="en-US" dirty="0"/>
              <a:t>子句，不允许更新；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有嵌套查询，且内外查询使用相同表时，不允许更新；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定义中有多表联接时，不允许更新；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不允许更新的视图导出的视图，不允许更新。</a:t>
            </a:r>
            <a:r>
              <a:rPr lang="zh-CN" altLang="en-US" i="1" dirty="0">
                <a:solidFill>
                  <a:schemeClr val="accent2"/>
                </a:solidFill>
              </a:rPr>
              <a:t>       </a:t>
            </a:r>
            <a:endParaRPr lang="zh-CN" altLang="en-US" i="1" dirty="0">
              <a:solidFill>
                <a:schemeClr val="accent2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3.5.3  </a:t>
            </a:r>
            <a:r>
              <a:rPr lang="zh-CN" altLang="en-US" u="sng" dirty="0"/>
              <a:t>更新视图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76]  </a:t>
            </a:r>
            <a:r>
              <a:rPr lang="zh-CN" altLang="en-US" dirty="0">
                <a:solidFill>
                  <a:schemeClr val="tx1"/>
                </a:solidFill>
              </a:rPr>
              <a:t>通过视图</a:t>
            </a:r>
            <a:r>
              <a:rPr lang="en-US" altLang="zh-CN" dirty="0">
                <a:solidFill>
                  <a:schemeClr val="tx1"/>
                </a:solidFill>
              </a:rPr>
              <a:t>StudentOfCS</a:t>
            </a:r>
            <a:r>
              <a:rPr lang="zh-CN" altLang="en-US" dirty="0">
                <a:solidFill>
                  <a:schemeClr val="tx1"/>
                </a:solidFill>
              </a:rPr>
              <a:t>增加一个新生，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学号为‘</a:t>
            </a:r>
            <a:r>
              <a:rPr lang="en-US" altLang="zh-CN" dirty="0">
                <a:solidFill>
                  <a:schemeClr val="tx1"/>
                </a:solidFill>
              </a:rPr>
              <a:t>05091’</a:t>
            </a:r>
            <a:r>
              <a:rPr lang="zh-CN" altLang="en-US" dirty="0">
                <a:solidFill>
                  <a:schemeClr val="tx1"/>
                </a:solidFill>
              </a:rPr>
              <a:t>，姓名为‘辛曾’。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</a:t>
            </a:r>
            <a:r>
              <a:rPr lang="en-US" altLang="zh-CN" i="1" dirty="0">
                <a:solidFill>
                  <a:schemeClr val="accent2"/>
                </a:solidFill>
              </a:rPr>
              <a:t>insert  into   </a:t>
            </a:r>
            <a:r>
              <a:rPr lang="en-US" altLang="zh-CN" i="1" dirty="0">
                <a:solidFill>
                  <a:schemeClr val="tx1"/>
                </a:solidFill>
              </a:rPr>
              <a:t>StudentOfCS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values </a:t>
            </a:r>
            <a:r>
              <a:rPr lang="en-US" altLang="zh-CN" i="1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‘05091’ ,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辛曾’</a:t>
            </a:r>
            <a:r>
              <a:rPr lang="en-US" altLang="zh-CN" i="1" dirty="0">
                <a:solidFill>
                  <a:schemeClr val="tx1"/>
                </a:solidFill>
              </a:rPr>
              <a:t>)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tx1"/>
                </a:solidFill>
              </a:rPr>
              <a:t>           </a:t>
            </a:r>
            <a:r>
              <a:rPr lang="zh-CN" altLang="en-US" i="1" dirty="0">
                <a:solidFill>
                  <a:schemeClr val="tx1"/>
                </a:solidFill>
              </a:rPr>
              <a:t>转换后的更新语句为</a:t>
            </a:r>
            <a:r>
              <a:rPr lang="en-US" altLang="zh-CN" i="1" dirty="0">
                <a:solidFill>
                  <a:schemeClr val="tx1"/>
                </a:solidFill>
              </a:rPr>
              <a:t>:</a:t>
            </a:r>
            <a:r>
              <a:rPr lang="en-US" altLang="zh-CN" sz="3600" i="1" dirty="0">
                <a:solidFill>
                  <a:schemeClr val="accent2"/>
                </a:solidFill>
              </a:rPr>
              <a:t>               </a:t>
            </a:r>
            <a:endParaRPr lang="en-US" altLang="zh-CN" sz="3600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insert  into   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values </a:t>
            </a:r>
            <a:r>
              <a:rPr lang="en-US" altLang="zh-CN" i="1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‘05091’ </a:t>
            </a:r>
            <a:r>
              <a:rPr lang="en-US" altLang="zh-CN" i="1" dirty="0">
                <a:solidFill>
                  <a:schemeClr val="tx1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辛曾’</a:t>
            </a:r>
            <a:r>
              <a:rPr lang="en-US" altLang="zh-CN" i="1" dirty="0">
                <a:solidFill>
                  <a:schemeClr val="tx1"/>
                </a:solidFill>
              </a:rPr>
              <a:t>, null,null,</a:t>
            </a:r>
            <a:r>
              <a:rPr lang="en-US" altLang="zh-CN" i="1" dirty="0">
                <a:solidFill>
                  <a:srgbClr val="FF0000"/>
                </a:solidFill>
              </a:rPr>
              <a:t>’CS’</a:t>
            </a:r>
            <a:r>
              <a:rPr lang="en-US" altLang="zh-CN" i="1" dirty="0">
                <a:solidFill>
                  <a:schemeClr val="tx1"/>
                </a:solidFill>
              </a:rPr>
              <a:t>)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3.5.3  </a:t>
            </a:r>
            <a:r>
              <a:rPr lang="zh-CN" altLang="en-US" u="sng" dirty="0"/>
              <a:t>更新视图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75]  </a:t>
            </a:r>
            <a:r>
              <a:rPr lang="zh-CN" altLang="en-US" dirty="0">
                <a:solidFill>
                  <a:schemeClr val="tx1"/>
                </a:solidFill>
              </a:rPr>
              <a:t>通过视图</a:t>
            </a:r>
            <a:r>
              <a:rPr lang="en-US" altLang="zh-CN" dirty="0">
                <a:solidFill>
                  <a:schemeClr val="tx1"/>
                </a:solidFill>
              </a:rPr>
              <a:t>StudentOfCS</a:t>
            </a:r>
            <a:r>
              <a:rPr lang="zh-CN" altLang="en-US" dirty="0">
                <a:solidFill>
                  <a:schemeClr val="tx1"/>
                </a:solidFill>
              </a:rPr>
              <a:t>将‘</a:t>
            </a:r>
            <a:r>
              <a:rPr lang="en-US" altLang="zh-CN" dirty="0">
                <a:solidFill>
                  <a:schemeClr val="tx1"/>
                </a:solidFill>
              </a:rPr>
              <a:t>05001’</a:t>
            </a:r>
            <a:r>
              <a:rPr lang="zh-CN" altLang="en-US" dirty="0">
                <a:solidFill>
                  <a:schemeClr val="tx1"/>
                </a:solidFill>
              </a:rPr>
              <a:t>的姓名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改为‘李咏’。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</a:rPr>
              <a:t>                 </a:t>
            </a:r>
            <a:r>
              <a:rPr lang="en-US" altLang="zh-CN" i="1" dirty="0">
                <a:solidFill>
                  <a:schemeClr val="accent2"/>
                </a:solidFill>
              </a:rPr>
              <a:t>update   </a:t>
            </a:r>
            <a:r>
              <a:rPr lang="en-US" altLang="zh-CN" i="1" dirty="0">
                <a:solidFill>
                  <a:schemeClr val="tx1"/>
                </a:solidFill>
              </a:rPr>
              <a:t>StudentOfCS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set   </a:t>
            </a:r>
            <a:r>
              <a:rPr lang="en-US" altLang="zh-CN" i="1" dirty="0">
                <a:solidFill>
                  <a:schemeClr val="tx1"/>
                </a:solidFill>
              </a:rPr>
              <a:t>sname =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李咏’</a:t>
            </a:r>
            <a:endParaRPr lang="zh-CN" altLang="en-US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 sno = </a:t>
            </a:r>
            <a:r>
              <a:rPr lang="en-US" altLang="zh-CN" i="1" dirty="0">
                <a:solidFill>
                  <a:srgbClr val="FF0000"/>
                </a:solidFill>
              </a:rPr>
              <a:t>‘05001’ 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</a:t>
            </a:r>
            <a:r>
              <a:rPr lang="zh-CN" altLang="en-US" i="1" dirty="0">
                <a:solidFill>
                  <a:schemeClr val="tx1"/>
                </a:solidFill>
              </a:rPr>
              <a:t>转换后的更新语句为</a:t>
            </a:r>
            <a:r>
              <a:rPr lang="en-US" altLang="zh-CN" i="1" dirty="0">
                <a:solidFill>
                  <a:schemeClr val="tx1"/>
                </a:solidFill>
              </a:rPr>
              <a:t>:</a:t>
            </a:r>
            <a:r>
              <a:rPr lang="en-US" altLang="zh-CN" i="1" dirty="0">
                <a:solidFill>
                  <a:schemeClr val="accent2"/>
                </a:solidFill>
              </a:rPr>
              <a:t>               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update   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  set   </a:t>
            </a:r>
            <a:r>
              <a:rPr lang="en-US" altLang="zh-CN" i="1" dirty="0">
                <a:solidFill>
                  <a:schemeClr val="tx1"/>
                </a:solidFill>
              </a:rPr>
              <a:t>sname =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李咏’</a:t>
            </a:r>
            <a:endParaRPr lang="zh-CN" altLang="en-US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 sno = </a:t>
            </a:r>
            <a:r>
              <a:rPr lang="en-US" altLang="zh-CN" i="1" dirty="0">
                <a:solidFill>
                  <a:srgbClr val="FF0000"/>
                </a:solidFill>
              </a:rPr>
              <a:t>‘05001’</a:t>
            </a: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>
                <a:solidFill>
                  <a:schemeClr val="tx1"/>
                </a:solidFill>
              </a:rPr>
              <a:t>  sdept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3.5.3  </a:t>
            </a:r>
            <a:r>
              <a:rPr lang="zh-CN" altLang="en-US" u="sng" dirty="0"/>
              <a:t>更新视图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77]  </a:t>
            </a:r>
            <a:r>
              <a:rPr lang="zh-CN" altLang="en-US" dirty="0">
                <a:solidFill>
                  <a:schemeClr val="tx1"/>
                </a:solidFill>
              </a:rPr>
              <a:t>通过视图</a:t>
            </a:r>
            <a:r>
              <a:rPr lang="en-US" altLang="zh-CN" dirty="0">
                <a:solidFill>
                  <a:schemeClr val="tx1"/>
                </a:solidFill>
              </a:rPr>
              <a:t>StudentOfCS</a:t>
            </a:r>
            <a:r>
              <a:rPr lang="zh-CN" altLang="en-US" dirty="0">
                <a:solidFill>
                  <a:schemeClr val="tx1"/>
                </a:solidFill>
              </a:rPr>
              <a:t>删除学号为‘</a:t>
            </a:r>
            <a:r>
              <a:rPr lang="en-US" altLang="zh-CN" dirty="0">
                <a:solidFill>
                  <a:schemeClr val="tx1"/>
                </a:solidFill>
              </a:rPr>
              <a:t>05091’ </a:t>
            </a:r>
            <a:r>
              <a:rPr lang="zh-CN" altLang="en-US" dirty="0">
                <a:solidFill>
                  <a:schemeClr val="tx1"/>
                </a:solidFill>
              </a:rPr>
              <a:t>的学生。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</a:t>
            </a:r>
            <a:r>
              <a:rPr lang="en-US" altLang="zh-CN" i="1" dirty="0">
                <a:solidFill>
                  <a:schemeClr val="accent2"/>
                </a:solidFill>
              </a:rPr>
              <a:t>delete   from    </a:t>
            </a:r>
            <a:r>
              <a:rPr lang="en-US" altLang="zh-CN" i="1" dirty="0">
                <a:solidFill>
                  <a:schemeClr val="tx1"/>
                </a:solidFill>
              </a:rPr>
              <a:t>StudentOfCS 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where  sno = </a:t>
            </a:r>
            <a:r>
              <a:rPr lang="en-US" altLang="zh-CN" i="1" dirty="0">
                <a:solidFill>
                  <a:srgbClr val="FF0000"/>
                </a:solidFill>
              </a:rPr>
              <a:t>‘05091’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tx1"/>
                </a:solidFill>
              </a:rPr>
              <a:t>           </a:t>
            </a:r>
            <a:r>
              <a:rPr lang="zh-CN" altLang="en-US" i="1" dirty="0">
                <a:solidFill>
                  <a:schemeClr val="tx1"/>
                </a:solidFill>
              </a:rPr>
              <a:t>转换后的更新语句为</a:t>
            </a:r>
            <a:r>
              <a:rPr lang="en-US" altLang="zh-CN" i="1" dirty="0">
                <a:solidFill>
                  <a:schemeClr val="tx1"/>
                </a:solidFill>
              </a:rPr>
              <a:t>:</a:t>
            </a:r>
            <a:r>
              <a:rPr lang="en-US" altLang="zh-CN" sz="3600" i="1" dirty="0">
                <a:solidFill>
                  <a:schemeClr val="accent2"/>
                </a:solidFill>
              </a:rPr>
              <a:t>               </a:t>
            </a:r>
            <a:endParaRPr lang="en-US" altLang="zh-CN" sz="3600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delete   from    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where  </a:t>
            </a:r>
            <a:r>
              <a:rPr lang="en-US" altLang="zh-CN" i="1" dirty="0">
                <a:solidFill>
                  <a:schemeClr val="tx1"/>
                </a:solidFill>
              </a:rPr>
              <a:t>sno =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‘05091’   </a:t>
            </a:r>
            <a:r>
              <a:rPr lang="en-US" altLang="zh-CN" i="1" dirty="0">
                <a:solidFill>
                  <a:schemeClr val="accent2"/>
                </a:solidFill>
              </a:rPr>
              <a:t>and 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                         </a:t>
            </a:r>
            <a:r>
              <a:rPr lang="en-US" altLang="zh-CN" i="1" dirty="0">
                <a:solidFill>
                  <a:schemeClr val="tx1"/>
                </a:solidFill>
              </a:rPr>
              <a:t>sdept =</a:t>
            </a:r>
            <a:r>
              <a:rPr lang="en-US" altLang="zh-CN" i="1" dirty="0">
                <a:solidFill>
                  <a:srgbClr val="FF0000"/>
                </a:solidFill>
              </a:rPr>
              <a:t> ’CS’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3.5.3  </a:t>
            </a:r>
            <a:r>
              <a:rPr lang="zh-CN" altLang="en-US" u="sng" dirty="0"/>
              <a:t>更新视图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3810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3.5.1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定义视图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3.5.2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3.5.3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更新视图</a:t>
            </a:r>
            <a:endParaRPr lang="zh-CN" altLang="en-US" sz="36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3.5.4</a:t>
            </a:r>
            <a:r>
              <a:rPr lang="en-US" altLang="zh-CN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视图的作用</a:t>
            </a:r>
            <a:endParaRPr lang="zh-CN" altLang="en-US" sz="3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3.5   </a:t>
            </a:r>
            <a:r>
              <a:rPr lang="zh-CN" altLang="en-US" dirty="0"/>
              <a:t>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视图的作用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简化用户的操作；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使用户能以多种角度看待同一数据；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视图对重构数据库提供了一定程度的逻辑独立性；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是数据共享与保密的一种安全机制。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3.5.4  </a:t>
            </a:r>
            <a:r>
              <a:rPr lang="zh-CN" altLang="en-US" u="sng" dirty="0"/>
              <a:t>视图的作用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685800" y="50800"/>
            <a:ext cx="77724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3.5.4  </a:t>
            </a:r>
            <a:r>
              <a:rPr lang="zh-CN" altLang="en-US" u="sng" dirty="0"/>
              <a:t>视图的作用</a:t>
            </a:r>
            <a:endParaRPr lang="zh-CN" altLang="en-US" u="sng" dirty="0"/>
          </a:p>
        </p:txBody>
      </p:sp>
      <p:sp>
        <p:nvSpPr>
          <p:cNvPr id="53252" name="Rectangle 3"/>
          <p:cNvSpPr/>
          <p:nvPr/>
        </p:nvSpPr>
        <p:spPr>
          <a:xfrm>
            <a:off x="1562100" y="4737100"/>
            <a:ext cx="1524000" cy="38100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3253" name="Oval 4"/>
          <p:cNvSpPr/>
          <p:nvPr/>
        </p:nvSpPr>
        <p:spPr>
          <a:xfrm>
            <a:off x="228600" y="4648200"/>
            <a:ext cx="609600" cy="533400"/>
          </a:xfrm>
          <a:prstGeom prst="ellipse">
            <a:avLst/>
          </a:prstGeom>
          <a:solidFill>
            <a:srgbClr val="00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grpSp>
        <p:nvGrpSpPr>
          <p:cNvPr id="53254" name="Group 5"/>
          <p:cNvGrpSpPr/>
          <p:nvPr/>
        </p:nvGrpSpPr>
        <p:grpSpPr>
          <a:xfrm>
            <a:off x="177800" y="4724400"/>
            <a:ext cx="3200400" cy="1311275"/>
            <a:chOff x="112" y="2976"/>
            <a:chExt cx="2016" cy="826"/>
          </a:xfrm>
        </p:grpSpPr>
        <p:sp>
          <p:nvSpPr>
            <p:cNvPr id="53277" name="Text Box 6"/>
            <p:cNvSpPr txBox="1"/>
            <p:nvPr/>
          </p:nvSpPr>
          <p:spPr>
            <a:xfrm>
              <a:off x="192" y="2976"/>
              <a:ext cx="1846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</a:rPr>
                <a:t>NO   XM    XB     CSRQ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 dirty="0">
                <a:solidFill>
                  <a:schemeClr val="tx1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en-US" altLang="zh-CN" sz="2000" dirty="0">
                  <a:solidFill>
                    <a:schemeClr val="tx1"/>
                  </a:solidFill>
                </a:rPr>
                <a:t>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赵     男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85.07.01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en-US" altLang="zh-CN" sz="2000" dirty="0">
                  <a:solidFill>
                    <a:schemeClr val="tx1"/>
                  </a:solidFill>
                </a:rPr>
                <a:t>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钱     女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84.03.07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53278" name="Line 7"/>
            <p:cNvSpPr/>
            <p:nvPr/>
          </p:nvSpPr>
          <p:spPr>
            <a:xfrm>
              <a:off x="112" y="3264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9" name="Line 8"/>
            <p:cNvSpPr/>
            <p:nvPr/>
          </p:nvSpPr>
          <p:spPr>
            <a:xfrm>
              <a:off x="112" y="3296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0" name="Line 9"/>
            <p:cNvSpPr/>
            <p:nvPr/>
          </p:nvSpPr>
          <p:spPr>
            <a:xfrm>
              <a:off x="528" y="3024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1" name="Line 10"/>
            <p:cNvSpPr/>
            <p:nvPr/>
          </p:nvSpPr>
          <p:spPr>
            <a:xfrm>
              <a:off x="960" y="3024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2" name="Line 11"/>
            <p:cNvSpPr/>
            <p:nvPr/>
          </p:nvSpPr>
          <p:spPr>
            <a:xfrm>
              <a:off x="1336" y="3024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55" name="AutoShape 12"/>
          <p:cNvSpPr/>
          <p:nvPr/>
        </p:nvSpPr>
        <p:spPr>
          <a:xfrm>
            <a:off x="762000" y="2819400"/>
            <a:ext cx="1524000" cy="12192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003399"/>
              </a:gs>
              <a:gs pos="100000">
                <a:srgbClr val="6699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3256" name="Text Box 13"/>
          <p:cNvSpPr txBox="1"/>
          <p:nvPr/>
        </p:nvSpPr>
        <p:spPr>
          <a:xfrm>
            <a:off x="4127500" y="977900"/>
            <a:ext cx="4254500" cy="13239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accent2"/>
                </a:solidFill>
              </a:rPr>
              <a:t>Select</a:t>
            </a:r>
            <a:r>
              <a:rPr lang="en-US" altLang="zh-CN" sz="1600" dirty="0">
                <a:solidFill>
                  <a:schemeClr val="tx1"/>
                </a:solidFill>
              </a:rPr>
              <a:t> xh as </a:t>
            </a:r>
            <a:r>
              <a:rPr lang="zh-CN" altLang="en-US" sz="1600" dirty="0">
                <a:solidFill>
                  <a:schemeClr val="tx1"/>
                </a:solidFill>
              </a:rPr>
              <a:t>学号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xm as </a:t>
            </a:r>
            <a:r>
              <a:rPr lang="zh-CN" altLang="en-US" sz="1600" dirty="0">
                <a:solidFill>
                  <a:schemeClr val="tx1"/>
                </a:solidFill>
              </a:rPr>
              <a:t>姓名</a:t>
            </a:r>
            <a:r>
              <a:rPr lang="en-US" altLang="zh-CN" sz="1600" dirty="0">
                <a:solidFill>
                  <a:schemeClr val="tx1"/>
                </a:solidFill>
              </a:rPr>
              <a:t>, 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 xb as </a:t>
            </a:r>
            <a:r>
              <a:rPr lang="zh-CN" altLang="en-US" sz="1600" dirty="0">
                <a:solidFill>
                  <a:schemeClr val="tx1"/>
                </a:solidFill>
              </a:rPr>
              <a:t>性别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</a:t>
            </a:r>
            <a:r>
              <a:rPr lang="en-US" altLang="zh-CN" sz="1600" dirty="0">
                <a:solidFill>
                  <a:srgbClr val="FF0000"/>
                </a:solidFill>
              </a:rPr>
              <a:t>datediff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>
                <a:solidFill>
                  <a:srgbClr val="FF0000"/>
                </a:solidFill>
              </a:rPr>
              <a:t>year</a:t>
            </a:r>
            <a:r>
              <a:rPr lang="en-US" altLang="zh-CN" sz="1600" dirty="0">
                <a:solidFill>
                  <a:schemeClr val="tx1"/>
                </a:solidFill>
              </a:rPr>
              <a:t>,csrq,</a:t>
            </a:r>
            <a:r>
              <a:rPr lang="en-US" altLang="zh-CN" sz="1600" dirty="0">
                <a:solidFill>
                  <a:srgbClr val="FF0000"/>
                </a:solidFill>
              </a:rPr>
              <a:t>getdate</a:t>
            </a:r>
            <a:r>
              <a:rPr lang="en-US" altLang="zh-CN" sz="1600" dirty="0">
                <a:solidFill>
                  <a:schemeClr val="tx1"/>
                </a:solidFill>
              </a:rPr>
              <a:t>()) as </a:t>
            </a:r>
            <a:r>
              <a:rPr lang="zh-CN" altLang="en-US" sz="1600" dirty="0">
                <a:solidFill>
                  <a:schemeClr val="tx1"/>
                </a:solidFill>
              </a:rPr>
              <a:t>年龄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accent2"/>
                </a:solidFill>
              </a:rPr>
              <a:t>From</a:t>
            </a:r>
            <a:r>
              <a:rPr lang="en-US" altLang="zh-CN" sz="1600" dirty="0">
                <a:solidFill>
                  <a:schemeClr val="tx1"/>
                </a:solidFill>
              </a:rPr>
              <a:t> student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3257" name="Text Box 14"/>
          <p:cNvSpPr txBox="1"/>
          <p:nvPr/>
        </p:nvSpPr>
        <p:spPr>
          <a:xfrm>
            <a:off x="4229100" y="4762500"/>
            <a:ext cx="4076700" cy="13239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accent2"/>
                </a:solidFill>
              </a:rPr>
              <a:t>Select</a:t>
            </a:r>
            <a:r>
              <a:rPr lang="en-US" altLang="zh-CN" sz="1600" dirty="0">
                <a:solidFill>
                  <a:schemeClr val="tx1"/>
                </a:solidFill>
              </a:rPr>
              <a:t> No as </a:t>
            </a:r>
            <a:r>
              <a:rPr lang="zh-CN" altLang="en-US" sz="1600" dirty="0">
                <a:solidFill>
                  <a:schemeClr val="tx1"/>
                </a:solidFill>
              </a:rPr>
              <a:t>学号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xm as </a:t>
            </a:r>
            <a:r>
              <a:rPr lang="zh-CN" altLang="en-US" sz="1600" dirty="0">
                <a:solidFill>
                  <a:schemeClr val="tx1"/>
                </a:solidFill>
              </a:rPr>
              <a:t>姓名</a:t>
            </a:r>
            <a:r>
              <a:rPr lang="en-US" altLang="zh-CN" sz="1600" dirty="0">
                <a:solidFill>
                  <a:schemeClr val="tx1"/>
                </a:solidFill>
              </a:rPr>
              <a:t>, 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 xb as </a:t>
            </a:r>
            <a:r>
              <a:rPr lang="zh-CN" altLang="en-US" sz="1600" dirty="0">
                <a:solidFill>
                  <a:schemeClr val="tx1"/>
                </a:solidFill>
              </a:rPr>
              <a:t>性别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</a:t>
            </a:r>
            <a:r>
              <a:rPr lang="en-US" altLang="zh-CN" sz="1600" dirty="0">
                <a:solidFill>
                  <a:srgbClr val="FF0000"/>
                </a:solidFill>
              </a:rPr>
              <a:t>datediff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>
                <a:solidFill>
                  <a:srgbClr val="FF0000"/>
                </a:solidFill>
              </a:rPr>
              <a:t>year</a:t>
            </a:r>
            <a:r>
              <a:rPr lang="en-US" altLang="zh-CN" sz="1600" dirty="0">
                <a:solidFill>
                  <a:schemeClr val="tx1"/>
                </a:solidFill>
              </a:rPr>
              <a:t>,csrq,</a:t>
            </a:r>
            <a:r>
              <a:rPr lang="en-US" altLang="zh-CN" sz="1600" dirty="0">
                <a:solidFill>
                  <a:srgbClr val="FF0000"/>
                </a:solidFill>
              </a:rPr>
              <a:t>getdate</a:t>
            </a:r>
            <a:r>
              <a:rPr lang="en-US" altLang="zh-CN" sz="1600" dirty="0">
                <a:solidFill>
                  <a:schemeClr val="tx1"/>
                </a:solidFill>
              </a:rPr>
              <a:t>()) as </a:t>
            </a:r>
            <a:r>
              <a:rPr lang="zh-CN" altLang="en-US" sz="1600" dirty="0">
                <a:solidFill>
                  <a:schemeClr val="tx1"/>
                </a:solidFill>
              </a:rPr>
              <a:t>年龄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accent2"/>
                </a:solidFill>
              </a:rPr>
              <a:t>From</a:t>
            </a:r>
            <a:r>
              <a:rPr lang="en-US" altLang="zh-CN" sz="1600" dirty="0">
                <a:solidFill>
                  <a:schemeClr val="tx1"/>
                </a:solidFill>
              </a:rPr>
              <a:t> student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grpSp>
        <p:nvGrpSpPr>
          <p:cNvPr id="53258" name="Group 15"/>
          <p:cNvGrpSpPr/>
          <p:nvPr/>
        </p:nvGrpSpPr>
        <p:grpSpPr>
          <a:xfrm>
            <a:off x="4724400" y="2844800"/>
            <a:ext cx="3200400" cy="1311275"/>
            <a:chOff x="2744" y="1832"/>
            <a:chExt cx="2016" cy="826"/>
          </a:xfrm>
        </p:grpSpPr>
        <p:sp>
          <p:nvSpPr>
            <p:cNvPr id="53271" name="Text Box 16"/>
            <p:cNvSpPr txBox="1"/>
            <p:nvPr/>
          </p:nvSpPr>
          <p:spPr>
            <a:xfrm>
              <a:off x="2760" y="1832"/>
              <a:ext cx="184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accent2"/>
                  </a:solidFill>
                </a:rPr>
                <a:t>学号   姓名   性别     年龄</a:t>
              </a:r>
              <a:endParaRPr lang="zh-CN" altLang="en-US" sz="2000" dirty="0">
                <a:solidFill>
                  <a:schemeClr val="accent2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solidFill>
                  <a:schemeClr val="tx1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zh-CN" altLang="en-US" sz="2000" dirty="0">
                  <a:solidFill>
                    <a:schemeClr val="tx1"/>
                  </a:solidFill>
                </a:rPr>
                <a:t>    赵       男    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20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en-US" altLang="zh-CN" sz="2000" dirty="0">
                  <a:solidFill>
                    <a:schemeClr val="tx1"/>
                  </a:solidFill>
                </a:rPr>
                <a:t>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钱       女    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21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53272" name="Line 17"/>
            <p:cNvSpPr/>
            <p:nvPr/>
          </p:nvSpPr>
          <p:spPr>
            <a:xfrm>
              <a:off x="2744" y="2112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3" name="Line 18"/>
            <p:cNvSpPr/>
            <p:nvPr/>
          </p:nvSpPr>
          <p:spPr>
            <a:xfrm>
              <a:off x="2744" y="2144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4" name="Line 19"/>
            <p:cNvSpPr/>
            <p:nvPr/>
          </p:nvSpPr>
          <p:spPr>
            <a:xfrm>
              <a:off x="3184" y="187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5" name="Line 20"/>
            <p:cNvSpPr/>
            <p:nvPr/>
          </p:nvSpPr>
          <p:spPr>
            <a:xfrm>
              <a:off x="3640" y="187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6" name="Line 21"/>
            <p:cNvSpPr/>
            <p:nvPr/>
          </p:nvSpPr>
          <p:spPr>
            <a:xfrm>
              <a:off x="4136" y="1872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59" name="AutoShape 22"/>
          <p:cNvSpPr/>
          <p:nvPr/>
        </p:nvSpPr>
        <p:spPr>
          <a:xfrm>
            <a:off x="3429000" y="14478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366CC"/>
              </a:gs>
              <a:gs pos="100000">
                <a:srgbClr val="99CC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3260" name="AutoShape 23"/>
          <p:cNvSpPr/>
          <p:nvPr/>
        </p:nvSpPr>
        <p:spPr>
          <a:xfrm>
            <a:off x="3505200" y="52578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366CC"/>
              </a:gs>
              <a:gs pos="100000">
                <a:srgbClr val="99CC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3261" name="AutoShape 24"/>
          <p:cNvSpPr/>
          <p:nvPr/>
        </p:nvSpPr>
        <p:spPr>
          <a:xfrm>
            <a:off x="5689600" y="2362200"/>
            <a:ext cx="914400" cy="457200"/>
          </a:xfrm>
          <a:prstGeom prst="downArrow">
            <a:avLst>
              <a:gd name="adj1" fmla="val 50000"/>
              <a:gd name="adj2" fmla="val 52777"/>
            </a:avLst>
          </a:prstGeom>
          <a:gradFill rotWithShape="0">
            <a:gsLst>
              <a:gs pos="0">
                <a:srgbClr val="3366CC"/>
              </a:gs>
              <a:gs pos="100000">
                <a:srgbClr val="3399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3262" name="AutoShape 25"/>
          <p:cNvSpPr/>
          <p:nvPr/>
        </p:nvSpPr>
        <p:spPr>
          <a:xfrm>
            <a:off x="5727700" y="4191000"/>
            <a:ext cx="838200" cy="533400"/>
          </a:xfrm>
          <a:prstGeom prst="upArrow">
            <a:avLst>
              <a:gd name="adj1" fmla="val 56064"/>
              <a:gd name="adj2" fmla="val 58333"/>
            </a:avLst>
          </a:prstGeom>
          <a:gradFill rotWithShape="0">
            <a:gsLst>
              <a:gs pos="0">
                <a:srgbClr val="3366CC"/>
              </a:gs>
              <a:gs pos="100000">
                <a:srgbClr val="3399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53263" name="Picture 26" descr="陈紫函的左眼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0" y="3429000"/>
            <a:ext cx="762000" cy="4730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3264" name="Group 27"/>
          <p:cNvGrpSpPr/>
          <p:nvPr/>
        </p:nvGrpSpPr>
        <p:grpSpPr>
          <a:xfrm>
            <a:off x="101600" y="974725"/>
            <a:ext cx="3349625" cy="1311275"/>
            <a:chOff x="64" y="928"/>
            <a:chExt cx="2110" cy="826"/>
          </a:xfrm>
        </p:grpSpPr>
        <p:sp>
          <p:nvSpPr>
            <p:cNvPr id="53265" name="Text Box 28"/>
            <p:cNvSpPr txBox="1"/>
            <p:nvPr/>
          </p:nvSpPr>
          <p:spPr>
            <a:xfrm>
              <a:off x="128" y="928"/>
              <a:ext cx="2046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</a:rPr>
                <a:t>XH   XM     CSRQ      XB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 dirty="0">
                <a:solidFill>
                  <a:srgbClr val="FF0000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en-US" altLang="zh-CN" sz="2000" dirty="0">
                  <a:solidFill>
                    <a:schemeClr val="tx1"/>
                  </a:solidFill>
                </a:rPr>
                <a:t>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赵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85.07.01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男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FontTx/>
                <a:buAutoNum type="arabicPlain" startAt="301"/>
              </a:pPr>
              <a:r>
                <a:rPr lang="zh-CN" altLang="en-US" sz="2000" dirty="0">
                  <a:solidFill>
                    <a:schemeClr val="tx1"/>
                  </a:solidFill>
                </a:rPr>
                <a:t>   钱   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84.03.07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女       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266" name="Line 29"/>
            <p:cNvSpPr/>
            <p:nvPr/>
          </p:nvSpPr>
          <p:spPr>
            <a:xfrm>
              <a:off x="64" y="1200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7" name="Line 30"/>
            <p:cNvSpPr/>
            <p:nvPr/>
          </p:nvSpPr>
          <p:spPr>
            <a:xfrm>
              <a:off x="64" y="1232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8" name="Line 31"/>
            <p:cNvSpPr/>
            <p:nvPr/>
          </p:nvSpPr>
          <p:spPr>
            <a:xfrm>
              <a:off x="480" y="960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9" name="Line 32"/>
            <p:cNvSpPr/>
            <p:nvPr/>
          </p:nvSpPr>
          <p:spPr>
            <a:xfrm>
              <a:off x="912" y="960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0" name="Line 33"/>
            <p:cNvSpPr/>
            <p:nvPr/>
          </p:nvSpPr>
          <p:spPr>
            <a:xfrm>
              <a:off x="1616" y="960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Text Box 2"/>
          <p:cNvSpPr txBox="1"/>
          <p:nvPr/>
        </p:nvSpPr>
        <p:spPr>
          <a:xfrm>
            <a:off x="3124200" y="2057400"/>
            <a:ext cx="2632075" cy="15557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9600" dirty="0">
                <a:solidFill>
                  <a:schemeClr val="accent2"/>
                </a:solidFill>
              </a:rPr>
              <a:t>再见</a:t>
            </a:r>
            <a:endParaRPr lang="zh-CN" altLang="en-US" sz="9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麒麟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麒麟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麒麟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麒麟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</Template>
  <TotalTime>0</TotalTime>
  <Words>10177</Words>
  <Application>WPS Presentation</Application>
  <PresentationFormat>全屏显示(4:3)</PresentationFormat>
  <Paragraphs>717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微软雅黑</vt:lpstr>
      <vt:lpstr>Arial Unicode MS</vt:lpstr>
      <vt:lpstr>麒麟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SQL</dc:title>
  <dc:creator>微软用户</dc:creator>
  <cp:lastModifiedBy>nakanosan</cp:lastModifiedBy>
  <cp:revision>19</cp:revision>
  <dcterms:created xsi:type="dcterms:W3CDTF">2026-06-17T19:28:41Z</dcterms:created>
  <dcterms:modified xsi:type="dcterms:W3CDTF">2026-06-17T19:28:41Z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EFA9920ECE2C55C469F5326A1C0FAADB_43</vt:lpwstr>
  </property>
  <property fmtid="{D5CDD505-2E9C-101B-9397-08002B2CF9AE}" pid="3" name="KSOProductBuildVer">
    <vt:lpwstr>1033-12.1.2.26885</vt:lpwstr>
  </property>
</Properties>
</file>