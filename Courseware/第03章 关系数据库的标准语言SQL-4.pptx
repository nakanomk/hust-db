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51"/>
    <p:sldId id="322" r:id="rId52"/>
    <p:sldId id="323" r:id="rId53"/>
    <p:sldId id="324" r:id="rId54"/>
    <p:sldId id="325" r:id="rId55"/>
    <p:sldId id="305" r:id="rId56"/>
    <p:sldId id="306" r:id="rId57"/>
    <p:sldId id="320" r:id="rId5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118"/>
    <p:restoredTop sz="94660"/>
  </p:normalViewPr>
  <p:slideViewPr>
    <p:cSldViewPr showGuides="1">
      <p:cViewPr varScale="1">
        <p:scale>
          <a:sx n="79" d="100"/>
          <a:sy n="79" d="100"/>
        </p:scale>
        <p:origin x="846" y="-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4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notesMaster" Target="notesMasters/notesMaster1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7E5E16-7EF9-4116-B55D-997CAC782BAE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54F5C6-EE98-4659-B25B-E1BFFDDFE352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4C0B79-1D87-42A4-84CA-0F1F11421E6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F5FD5A-F1FA-4816-A57C-C198214D4CCE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3600" y="42545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/>
          <p:nvPr/>
        </p:nvSpPr>
        <p:spPr>
          <a:xfrm>
            <a:off x="863600" y="3213100"/>
            <a:ext cx="7747000" cy="1079500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78" name="Rectangle 5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idx="1"/>
          </p:nvPr>
        </p:nvSpPr>
        <p:spPr>
          <a:xfrm>
            <a:off x="1066800" y="1295400"/>
            <a:ext cx="71628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zh-CN" alt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数据控制又称数据保护，包括：</a:t>
            </a:r>
            <a:endParaRPr lang="zh-CN" altLang="en-US" sz="36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完整性控制</a:t>
            </a:r>
            <a:endParaRPr lang="zh-CN" altLang="en-US" sz="36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并发控制</a:t>
            </a:r>
            <a:endParaRPr lang="zh-CN" altLang="en-US" sz="36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数据库的恢复</a:t>
            </a:r>
            <a:endParaRPr lang="zh-CN" altLang="en-US" sz="36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安全性控制</a:t>
            </a:r>
            <a:endParaRPr lang="zh-CN" altLang="en-US" sz="36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授权</a:t>
            </a:r>
            <a:endParaRPr lang="zh-CN" altLang="en-US" sz="32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收回权限</a:t>
            </a:r>
            <a:endParaRPr lang="zh-CN" altLang="en-US" sz="32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3.6  </a:t>
            </a:r>
            <a:r>
              <a:rPr lang="zh-CN" altLang="en-US" dirty="0"/>
              <a:t>数据控制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rgbClr val="FF0000"/>
                </a:solidFill>
                <a:latin typeface="Arial Narrow" panose="020B0606020202030204" pitchFamily="34" charset="0"/>
              </a:rPr>
              <a:t>1. </a:t>
            </a:r>
            <a:r>
              <a:rPr lang="zh-CN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完整性控制</a:t>
            </a:r>
            <a:endParaRPr lang="zh-CN" altLang="en-US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</a:rPr>
              <a:t>数据库的完整性是指数据库中数据的正确性与相容性。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语言定义完整性约束条件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CREATE TABLE</a:t>
            </a:r>
            <a:r>
              <a:rPr lang="zh-CN" altLang="en-US" sz="2400" dirty="0"/>
              <a:t>语句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ALTER TABLE</a:t>
            </a:r>
            <a:r>
              <a:rPr lang="zh-CN" altLang="en-US" sz="2400" dirty="0"/>
              <a:t>语句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码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取值唯一的列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参照完整性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其他约束条件</a:t>
            </a:r>
            <a:endParaRPr lang="zh-CN" altLang="en-US" sz="2400" dirty="0"/>
          </a:p>
        </p:txBody>
      </p:sp>
      <p:sp>
        <p:nvSpPr>
          <p:cNvPr id="5124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  </a:t>
            </a:r>
            <a:r>
              <a:rPr lang="zh-CN" altLang="en-US" u="sng" dirty="0"/>
              <a:t>数据控制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2. </a:t>
            </a:r>
            <a:r>
              <a:rPr lang="zh-CN" altLang="en-US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并发控制</a:t>
            </a:r>
            <a:endParaRPr lang="zh-CN" altLang="en-US" sz="36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并发控制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当多个用户并发地对数据库进行操作时，对他们加以控制、协调，以保证并发操作正确执行，保持数据库的一致性。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语言并发控制能力：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None/>
            </a:pPr>
            <a:r>
              <a:rPr lang="zh-CN" altLang="en-US" dirty="0">
                <a:solidFill>
                  <a:schemeClr val="tx1"/>
                </a:solidFill>
              </a:rPr>
              <a:t>   提供事务、事务开始、事务结束、提交等概念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  </a:t>
            </a:r>
            <a:r>
              <a:rPr lang="zh-CN" altLang="en-US" u="sng" dirty="0"/>
              <a:t>数据控制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3. </a:t>
            </a:r>
            <a:r>
              <a:rPr lang="zh-CN" altLang="en-US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恢复</a:t>
            </a:r>
            <a:endParaRPr lang="zh-CN" altLang="en-US" sz="36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13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恢复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当发生各种类型的故障导致数据库处于不一致状态时，将数据库恢复到一致状态的功能。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语言恢复功能：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Clr>
                <a:schemeClr val="accent2"/>
              </a:buClr>
              <a:buNone/>
            </a:pPr>
            <a:r>
              <a:rPr lang="zh-CN" altLang="en-US" dirty="0">
                <a:solidFill>
                  <a:schemeClr val="tx1"/>
                </a:solidFill>
              </a:rPr>
              <a:t>    提供事务回滚、重做等概念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Clr>
                <a:schemeClr val="accent2"/>
              </a:buClr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  （</a:t>
            </a:r>
            <a:r>
              <a:rPr lang="en-US" altLang="zh-CN" dirty="0">
                <a:solidFill>
                  <a:schemeClr val="tx1"/>
                </a:solidFill>
              </a:rPr>
              <a:t>UNDO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REDO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  </a:t>
            </a:r>
            <a:r>
              <a:rPr lang="zh-CN" altLang="en-US" u="sng" dirty="0"/>
              <a:t>数据控制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3. </a:t>
            </a:r>
            <a:r>
              <a:rPr lang="zh-CN" altLang="en-US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安全性</a:t>
            </a:r>
            <a:endParaRPr lang="zh-CN" altLang="en-US" sz="36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algn="just"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安全性：保护数据库，防止不合法的使用所造成的数据泄露和破坏。</a:t>
            </a:r>
            <a:endParaRPr lang="zh-CN" altLang="en-US" sz="3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保证数据安全性的主要措施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存取控制：控制用户只能存取他有权存取的数据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规定不同用户对于不同数据对象所允许执行的操作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  </a:t>
            </a:r>
            <a:r>
              <a:rPr lang="zh-CN" altLang="en-US" u="sng" dirty="0"/>
              <a:t>数据控制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DBMS</a:t>
            </a:r>
            <a:r>
              <a:rPr lang="zh-CN" altLang="en-US" sz="3600" dirty="0">
                <a:solidFill>
                  <a:srgbClr val="FF0000"/>
                </a:solidFill>
                <a:latin typeface="Arial Narrow" panose="020B0606020202030204" pitchFamily="34" charset="0"/>
              </a:rPr>
              <a:t>实现安全性保护的过程：</a:t>
            </a:r>
            <a:endParaRPr lang="zh-CN" altLang="en-US" sz="36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algn="just" eaLnBrk="1" hangingPunct="1">
              <a:lnSpc>
                <a:spcPct val="14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用户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属主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或</a:t>
            </a:r>
            <a:r>
              <a:rPr lang="en-US" altLang="zh-CN" dirty="0">
                <a:solidFill>
                  <a:schemeClr val="tx1"/>
                </a:solidFill>
              </a:rPr>
              <a:t>DBA</a:t>
            </a:r>
            <a:r>
              <a:rPr lang="zh-CN" altLang="en-US" dirty="0">
                <a:solidFill>
                  <a:schemeClr val="tx1"/>
                </a:solidFill>
              </a:rPr>
              <a:t>把授权决定告知系统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通过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en-US" altLang="zh-CN" dirty="0">
                <a:solidFill>
                  <a:schemeClr val="tx1"/>
                </a:solidFill>
              </a:rPr>
              <a:t>GRANT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REVOKE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DBMS</a:t>
            </a:r>
            <a:r>
              <a:rPr lang="zh-CN" altLang="en-US" dirty="0">
                <a:solidFill>
                  <a:schemeClr val="tx1"/>
                </a:solidFill>
              </a:rPr>
              <a:t>把授权的结果存入数据字典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当用户提出操作请求时，</a:t>
            </a:r>
            <a:r>
              <a:rPr lang="en-US" altLang="zh-CN" dirty="0">
                <a:solidFill>
                  <a:schemeClr val="tx1"/>
                </a:solidFill>
              </a:rPr>
              <a:t>DBMS</a:t>
            </a:r>
            <a:r>
              <a:rPr lang="zh-CN" altLang="en-US" dirty="0">
                <a:solidFill>
                  <a:schemeClr val="tx1"/>
                </a:solidFill>
              </a:rPr>
              <a:t>根据授权定义进行检查，以决定是否执行操作请求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  </a:t>
            </a:r>
            <a:r>
              <a:rPr lang="zh-CN" altLang="en-US" u="sng" dirty="0"/>
              <a:t>数据控制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477000" cy="2667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4400" dirty="0">
                <a:solidFill>
                  <a:srgbClr val="FF0000"/>
                </a:solidFill>
                <a:ea typeface="楷体_GB2312" pitchFamily="49" charset="-122"/>
              </a:rPr>
              <a:t>3.6.1</a:t>
            </a:r>
            <a:r>
              <a:rPr lang="en-US" altLang="zh-CN" sz="4400" b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4400" b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授权</a:t>
            </a:r>
            <a:endParaRPr lang="zh-CN" altLang="en-US" sz="4400" b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4400" dirty="0">
                <a:solidFill>
                  <a:schemeClr val="tx1"/>
                </a:solidFill>
                <a:ea typeface="楷体_GB2312" pitchFamily="49" charset="-122"/>
              </a:rPr>
              <a:t>3.6.2</a:t>
            </a:r>
            <a:r>
              <a:rPr lang="en-US" altLang="zh-CN" sz="44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44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收回权限</a:t>
            </a:r>
            <a:endParaRPr lang="zh-CN" altLang="en-US" sz="44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3.6   </a:t>
            </a:r>
            <a:r>
              <a:rPr lang="zh-CN" altLang="en-US" dirty="0"/>
              <a:t>数据控制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</a:pPr>
            <a:r>
              <a:rPr lang="en-US" altLang="zh-CN" dirty="0"/>
              <a:t>GRANT</a:t>
            </a:r>
            <a:r>
              <a:rPr lang="zh-CN" altLang="en-US" dirty="0">
                <a:latin typeface="宋体" panose="02010600030101010101" pitchFamily="2" charset="-122"/>
              </a:rPr>
              <a:t>语句的一般格式：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 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  </a:t>
            </a:r>
            <a:r>
              <a:rPr lang="en-US" altLang="zh-CN" i="1" dirty="0">
                <a:solidFill>
                  <a:schemeClr val="accent2"/>
                </a:solidFill>
              </a:rPr>
              <a:t>GRANT</a:t>
            </a:r>
            <a:r>
              <a:rPr lang="en-US" altLang="zh-CN" i="1" dirty="0">
                <a:solidFill>
                  <a:schemeClr val="tx1"/>
                </a:solidFill>
              </a:rPr>
              <a:t>  &lt;</a:t>
            </a:r>
            <a:r>
              <a:rPr lang="zh-CN" altLang="en-US" i="1" dirty="0">
                <a:solidFill>
                  <a:schemeClr val="tx1"/>
                </a:solidFill>
              </a:rPr>
              <a:t>权限</a:t>
            </a:r>
            <a:r>
              <a:rPr lang="en-US" altLang="zh-CN" i="1" dirty="0">
                <a:solidFill>
                  <a:schemeClr val="tx1"/>
                </a:solidFill>
              </a:rPr>
              <a:t>&gt;[,&lt;</a:t>
            </a:r>
            <a:r>
              <a:rPr lang="zh-CN" altLang="en-US" i="1" dirty="0">
                <a:solidFill>
                  <a:schemeClr val="tx1"/>
                </a:solidFill>
              </a:rPr>
              <a:t>权限</a:t>
            </a:r>
            <a:r>
              <a:rPr lang="en-US" altLang="zh-CN" i="1" dirty="0">
                <a:solidFill>
                  <a:schemeClr val="tx1"/>
                </a:solidFill>
              </a:rPr>
              <a:t>&gt;]... 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[</a:t>
            </a:r>
            <a:r>
              <a:rPr lang="en-US" altLang="zh-CN" i="1" dirty="0">
                <a:solidFill>
                  <a:schemeClr val="accent2"/>
                </a:solidFill>
              </a:rPr>
              <a:t>ON</a:t>
            </a:r>
            <a:r>
              <a:rPr lang="en-US" altLang="zh-CN" i="1" dirty="0">
                <a:solidFill>
                  <a:schemeClr val="tx1"/>
                </a:solidFill>
              </a:rPr>
              <a:t>  </a:t>
            </a:r>
            <a:r>
              <a:rPr lang="en-US" altLang="zh-CN" i="1" dirty="0">
                <a:solidFill>
                  <a:schemeClr val="bg2"/>
                </a:solidFill>
              </a:rPr>
              <a:t>&lt;</a:t>
            </a:r>
            <a:r>
              <a:rPr lang="zh-CN" altLang="en-US" i="1" dirty="0">
                <a:solidFill>
                  <a:schemeClr val="bg2"/>
                </a:solidFill>
              </a:rPr>
              <a:t>对象类型</a:t>
            </a:r>
            <a:r>
              <a:rPr lang="en-US" altLang="zh-CN" i="1" dirty="0">
                <a:solidFill>
                  <a:schemeClr val="bg2"/>
                </a:solidFill>
              </a:rPr>
              <a:t>&gt;</a:t>
            </a:r>
            <a:r>
              <a:rPr lang="en-US" altLang="zh-CN" i="1" dirty="0">
                <a:solidFill>
                  <a:schemeClr val="tx1"/>
                </a:solidFill>
              </a:rPr>
              <a:t> &lt;</a:t>
            </a:r>
            <a:r>
              <a:rPr lang="zh-CN" altLang="en-US" i="1" dirty="0">
                <a:solidFill>
                  <a:schemeClr val="tx1"/>
                </a:solidFill>
              </a:rPr>
              <a:t>对象名</a:t>
            </a:r>
            <a:r>
              <a:rPr lang="en-US" altLang="zh-CN" i="1" dirty="0">
                <a:solidFill>
                  <a:schemeClr val="tx1"/>
                </a:solidFill>
              </a:rPr>
              <a:t>&gt;]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</a:t>
            </a:r>
            <a:r>
              <a:rPr lang="en-US" altLang="zh-CN" i="1" dirty="0">
                <a:solidFill>
                  <a:schemeClr val="accent2"/>
                </a:solidFill>
              </a:rPr>
              <a:t>TO</a:t>
            </a:r>
            <a:r>
              <a:rPr lang="en-US" altLang="zh-CN" i="1" dirty="0">
                <a:solidFill>
                  <a:schemeClr val="tx1"/>
                </a:solidFill>
              </a:rPr>
              <a:t>   </a:t>
            </a:r>
            <a:r>
              <a:rPr lang="en-US" altLang="zh-CN" i="1" dirty="0">
                <a:solidFill>
                  <a:schemeClr val="accent2"/>
                </a:solidFill>
              </a:rPr>
              <a:t>PUBLIC</a:t>
            </a:r>
            <a:r>
              <a:rPr lang="en-US" altLang="zh-CN" i="1" dirty="0">
                <a:solidFill>
                  <a:schemeClr val="tx1"/>
                </a:solidFill>
              </a:rPr>
              <a:t>|&lt;</a:t>
            </a:r>
            <a:r>
              <a:rPr lang="zh-CN" altLang="en-US" i="1" dirty="0">
                <a:solidFill>
                  <a:schemeClr val="tx1"/>
                </a:solidFill>
              </a:rPr>
              <a:t>用户</a:t>
            </a:r>
            <a:r>
              <a:rPr lang="en-US" altLang="zh-CN" i="1" dirty="0">
                <a:solidFill>
                  <a:schemeClr val="tx1"/>
                </a:solidFill>
              </a:rPr>
              <a:t>&gt;[,&lt;</a:t>
            </a:r>
            <a:r>
              <a:rPr lang="zh-CN" altLang="en-US" i="1" dirty="0">
                <a:solidFill>
                  <a:schemeClr val="tx1"/>
                </a:solidFill>
              </a:rPr>
              <a:t>用户</a:t>
            </a:r>
            <a:r>
              <a:rPr lang="en-US" altLang="zh-CN" i="1" dirty="0">
                <a:solidFill>
                  <a:schemeClr val="tx1"/>
                </a:solidFill>
              </a:rPr>
              <a:t>&gt;]...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[</a:t>
            </a:r>
            <a:r>
              <a:rPr lang="en-US" altLang="zh-CN" i="1" dirty="0">
                <a:solidFill>
                  <a:schemeClr val="accent2"/>
                </a:solidFill>
              </a:rPr>
              <a:t>WITH GRANT OPTION</a:t>
            </a:r>
            <a:r>
              <a:rPr lang="en-US" altLang="zh-CN" i="1" dirty="0">
                <a:solidFill>
                  <a:schemeClr val="tx1"/>
                </a:solidFill>
              </a:rPr>
              <a:t>]</a:t>
            </a:r>
            <a:endParaRPr lang="en-US" altLang="zh-CN" i="1" dirty="0">
              <a:solidFill>
                <a:schemeClr val="tx1"/>
              </a:solidFill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3.6.1  </a:t>
            </a:r>
            <a:r>
              <a:rPr lang="zh-CN" altLang="en-US" u="sng" dirty="0"/>
              <a:t>授权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533400"/>
          </a:xfrm>
          <a:ln/>
        </p:spPr>
        <p:txBody>
          <a:bodyPr vert="horz" wrap="square" lIns="91440" tIns="45720" rIns="91440" bIns="45720" anchor="t" anchorCtr="0"/>
          <a:p>
            <a:pPr algn="ctr" eaLnBrk="1" hangingPunct="1">
              <a:lnSpc>
                <a:spcPct val="110000"/>
              </a:lnSpc>
              <a:buNone/>
            </a:pPr>
            <a:r>
              <a:rPr lang="zh-CN" altLang="en-US" sz="2800" dirty="0"/>
              <a:t>表</a:t>
            </a:r>
            <a:r>
              <a:rPr lang="en-US" altLang="zh-CN" sz="2800" dirty="0"/>
              <a:t>3.4  </a:t>
            </a:r>
            <a:r>
              <a:rPr lang="zh-CN" altLang="en-US" sz="2800" dirty="0"/>
              <a:t>不同对象类型允许的操作权限</a:t>
            </a:r>
            <a:endParaRPr lang="zh-CN" altLang="en-US" sz="2800" i="1" dirty="0">
              <a:solidFill>
                <a:schemeClr val="tx1"/>
              </a:solidFill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3.6.1  </a:t>
            </a:r>
            <a:r>
              <a:rPr lang="zh-CN" altLang="en-US" u="sng" dirty="0"/>
              <a:t>授权</a:t>
            </a:r>
            <a:endParaRPr lang="zh-CN" altLang="en-US" u="sng" dirty="0"/>
          </a:p>
        </p:txBody>
      </p:sp>
      <p:graphicFrame>
        <p:nvGraphicFramePr>
          <p:cNvPr id="16388" name="Group 4"/>
          <p:cNvGraphicFramePr>
            <a:graphicFrameLocks noGrp="1"/>
          </p:cNvGraphicFramePr>
          <p:nvPr/>
        </p:nvGraphicFramePr>
        <p:xfrm>
          <a:off x="457200" y="1828800"/>
          <a:ext cx="8305800" cy="4295775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5105400"/>
              </a:tblGrid>
              <a:tr h="6096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对象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对象类型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操作权限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属性列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Table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select,insert,update,delete,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all privileges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2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视图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Table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同上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基本表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Table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select,insert,update,delete,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Alter, index, all privileges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2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Database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createtab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PUBLIC</a:t>
            </a:r>
            <a:r>
              <a:rPr lang="zh-CN" altLang="en-US" dirty="0">
                <a:solidFill>
                  <a:schemeClr val="tx1"/>
                </a:solidFill>
              </a:rPr>
              <a:t>指所有用户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WITH GRANT OPTION</a:t>
            </a:r>
            <a:endParaRPr lang="en-US" altLang="zh-CN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指定该子句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	获得某种权限的用户还可以把这种权限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再授予</a:t>
            </a:r>
            <a:r>
              <a:rPr lang="zh-CN" altLang="en-US" dirty="0">
                <a:latin typeface="宋体" panose="02010600030101010101" pitchFamily="2" charset="-122"/>
              </a:rPr>
              <a:t>别的用户。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没有指定该子句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	获得某种权限的用户只能使用该权限，不能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传播</a:t>
            </a:r>
            <a:r>
              <a:rPr lang="zh-CN" altLang="en-US" dirty="0">
                <a:latin typeface="宋体" panose="02010600030101010101" pitchFamily="2" charset="-122"/>
              </a:rPr>
              <a:t>该权限</a:t>
            </a:r>
            <a:endParaRPr lang="zh-CN" altLang="en-US" dirty="0"/>
          </a:p>
        </p:txBody>
      </p:sp>
      <p:sp>
        <p:nvSpPr>
          <p:cNvPr id="13316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3.6.1  </a:t>
            </a:r>
            <a:r>
              <a:rPr lang="zh-CN" altLang="en-US" u="sng" dirty="0"/>
              <a:t>授权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78] </a:t>
            </a:r>
            <a:r>
              <a:rPr lang="zh-CN" altLang="en-US" dirty="0">
                <a:solidFill>
                  <a:schemeClr val="tx1"/>
                </a:solidFill>
              </a:rPr>
              <a:t>把查询表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的权限授给用户</a:t>
            </a:r>
            <a:r>
              <a:rPr lang="en-US" altLang="zh-CN" dirty="0">
                <a:solidFill>
                  <a:schemeClr val="tx1"/>
                </a:solidFill>
              </a:rPr>
              <a:t>u1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sz="3200" b="0" dirty="0"/>
              <a:t>	     </a:t>
            </a:r>
            <a:r>
              <a:rPr lang="en-US" altLang="zh-CN" sz="3200" i="1" dirty="0">
                <a:solidFill>
                  <a:schemeClr val="accent2"/>
                </a:solidFill>
              </a:rPr>
              <a:t>grant select on table </a:t>
            </a:r>
            <a:r>
              <a:rPr lang="en-US" altLang="zh-CN" sz="3200" i="1" dirty="0"/>
              <a:t>student  </a:t>
            </a:r>
            <a:r>
              <a:rPr lang="en-US" altLang="zh-CN" sz="3200" i="1" dirty="0">
                <a:solidFill>
                  <a:schemeClr val="accent2"/>
                </a:solidFill>
              </a:rPr>
              <a:t>to </a:t>
            </a:r>
            <a:r>
              <a:rPr lang="en-US" altLang="zh-CN" sz="3200" i="1" dirty="0"/>
              <a:t> u1</a:t>
            </a:r>
            <a:r>
              <a:rPr lang="en-US" altLang="zh-CN" sz="3200" b="0" dirty="0"/>
              <a:t> </a:t>
            </a:r>
            <a:endParaRPr lang="en-US" altLang="zh-CN" sz="3200" b="0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b="0" dirty="0"/>
              <a:t>   </a:t>
            </a:r>
            <a:r>
              <a:rPr lang="zh-CN" altLang="en-US" b="0" dirty="0"/>
              <a:t>事实上，在</a:t>
            </a:r>
            <a:r>
              <a:rPr lang="en-US" altLang="zh-CN" i="1" dirty="0"/>
              <a:t>Microsoft SQL Server</a:t>
            </a:r>
            <a:r>
              <a:rPr lang="zh-CN" altLang="en-US" b="0" dirty="0"/>
              <a:t>里，该语句不能通过语法检查。而应写成：</a:t>
            </a:r>
            <a:endParaRPr lang="zh-CN" altLang="en-US" b="0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</a:t>
            </a:r>
            <a:r>
              <a:rPr lang="en-US" altLang="zh-CN" sz="3200" i="1" dirty="0">
                <a:solidFill>
                  <a:schemeClr val="accent2"/>
                </a:solidFill>
              </a:rPr>
              <a:t>grant select on </a:t>
            </a:r>
            <a:r>
              <a:rPr lang="en-US" altLang="zh-CN" sz="3200" i="1" dirty="0"/>
              <a:t>student  </a:t>
            </a:r>
            <a:r>
              <a:rPr lang="en-US" altLang="zh-CN" sz="3200" i="1" dirty="0">
                <a:solidFill>
                  <a:schemeClr val="accent2"/>
                </a:solidFill>
              </a:rPr>
              <a:t>to </a:t>
            </a:r>
            <a:r>
              <a:rPr lang="en-US" altLang="zh-CN" sz="3200" i="1" dirty="0"/>
              <a:t> u1</a:t>
            </a:r>
            <a:endParaRPr lang="en-US" altLang="zh-CN" sz="3200" i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79] </a:t>
            </a:r>
            <a:r>
              <a:rPr lang="zh-CN" altLang="en-US" dirty="0">
                <a:solidFill>
                  <a:schemeClr val="tx1"/>
                </a:solidFill>
              </a:rPr>
              <a:t>把</a:t>
            </a:r>
            <a:r>
              <a:rPr lang="en-US" altLang="zh-CN" i="1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i="1" dirty="0">
                <a:solidFill>
                  <a:schemeClr val="tx1"/>
                </a:solidFill>
              </a:rPr>
              <a:t>Course</a:t>
            </a:r>
            <a:r>
              <a:rPr lang="zh-CN" altLang="en-US" dirty="0">
                <a:solidFill>
                  <a:schemeClr val="tx1"/>
                </a:solidFill>
              </a:rPr>
              <a:t>的全部权限授给用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户</a:t>
            </a:r>
            <a:r>
              <a:rPr lang="en-US" altLang="zh-CN" dirty="0">
                <a:solidFill>
                  <a:schemeClr val="tx1"/>
                </a:solidFill>
              </a:rPr>
              <a:t>u2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u3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b="0" dirty="0"/>
              <a:t>	     </a:t>
            </a:r>
            <a:r>
              <a:rPr lang="en-US" altLang="zh-CN" sz="3200" i="1" dirty="0">
                <a:solidFill>
                  <a:schemeClr val="accent2"/>
                </a:solidFill>
              </a:rPr>
              <a:t>grant all privileges on </a:t>
            </a:r>
            <a:r>
              <a:rPr lang="en-US" altLang="zh-CN" sz="3200" i="1" dirty="0"/>
              <a:t>student,course </a:t>
            </a:r>
            <a:endParaRPr lang="en-US" altLang="zh-CN" sz="3200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to </a:t>
            </a:r>
            <a:r>
              <a:rPr lang="en-US" altLang="zh-CN" sz="3200" i="1" dirty="0"/>
              <a:t> u2,u3</a:t>
            </a:r>
            <a:endParaRPr lang="en-US" altLang="zh-CN" sz="3200" i="1" dirty="0"/>
          </a:p>
        </p:txBody>
      </p:sp>
      <p:sp>
        <p:nvSpPr>
          <p:cNvPr id="1434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3.6.1  </a:t>
            </a:r>
            <a:r>
              <a:rPr lang="zh-CN" altLang="en-US" u="sng" dirty="0"/>
              <a:t>授权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80] </a:t>
            </a:r>
            <a:r>
              <a:rPr lang="zh-CN" altLang="en-US" dirty="0">
                <a:solidFill>
                  <a:schemeClr val="tx1"/>
                </a:solidFill>
              </a:rPr>
              <a:t>把对表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的查询权限授予所有用户。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sz="3200" b="0" dirty="0"/>
              <a:t>	    </a:t>
            </a:r>
            <a:r>
              <a:rPr lang="en-US" altLang="zh-CN" sz="3200" i="1" dirty="0">
                <a:solidFill>
                  <a:schemeClr val="accent2"/>
                </a:solidFill>
              </a:rPr>
              <a:t>grant select on </a:t>
            </a:r>
            <a:r>
              <a:rPr lang="en-US" altLang="zh-CN" sz="3200" i="1" dirty="0"/>
              <a:t>SC  </a:t>
            </a:r>
            <a:r>
              <a:rPr lang="en-US" altLang="zh-CN" sz="3200" i="1" dirty="0">
                <a:solidFill>
                  <a:schemeClr val="accent2"/>
                </a:solidFill>
              </a:rPr>
              <a:t>to </a:t>
            </a:r>
            <a:r>
              <a:rPr lang="en-US" altLang="zh-CN" sz="3200" i="1" dirty="0"/>
              <a:t> </a:t>
            </a:r>
            <a:r>
              <a:rPr lang="en-US" altLang="zh-CN" sz="3200" i="1" dirty="0">
                <a:solidFill>
                  <a:schemeClr val="accent2"/>
                </a:solidFill>
              </a:rPr>
              <a:t>public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endParaRPr lang="en-US" altLang="zh-CN" sz="3200" i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81] </a:t>
            </a:r>
            <a:r>
              <a:rPr lang="zh-CN" altLang="en-US" dirty="0">
                <a:solidFill>
                  <a:schemeClr val="tx1"/>
                </a:solidFill>
              </a:rPr>
              <a:t>把查询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及修改学生学号的权限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授给用户</a:t>
            </a:r>
            <a:r>
              <a:rPr lang="en-US" altLang="zh-CN" dirty="0">
                <a:solidFill>
                  <a:schemeClr val="tx1"/>
                </a:solidFill>
              </a:rPr>
              <a:t>u4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b="0" dirty="0"/>
              <a:t>	    </a:t>
            </a:r>
            <a:r>
              <a:rPr lang="en-US" altLang="zh-CN" sz="3200" i="1" dirty="0">
                <a:solidFill>
                  <a:schemeClr val="accent2"/>
                </a:solidFill>
              </a:rPr>
              <a:t>grant  update(sno), select  on  </a:t>
            </a:r>
            <a:r>
              <a:rPr lang="en-US" altLang="zh-CN" sz="3200" i="1" dirty="0"/>
              <a:t>student</a:t>
            </a:r>
            <a:endParaRPr lang="en-US" altLang="zh-CN" sz="3200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en-US" altLang="zh-CN" sz="3200" i="1" dirty="0"/>
              <a:t>      </a:t>
            </a:r>
            <a:r>
              <a:rPr lang="en-US" altLang="zh-CN" sz="3200" i="1" dirty="0">
                <a:solidFill>
                  <a:schemeClr val="accent2"/>
                </a:solidFill>
              </a:rPr>
              <a:t>to </a:t>
            </a:r>
            <a:r>
              <a:rPr lang="en-US" altLang="zh-CN" sz="3200" i="1" dirty="0"/>
              <a:t> u4</a:t>
            </a:r>
            <a:endParaRPr lang="en-US" altLang="zh-CN" sz="3200" i="1" dirty="0"/>
          </a:p>
        </p:txBody>
      </p:sp>
      <p:sp>
        <p:nvSpPr>
          <p:cNvPr id="15364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3.6.1  </a:t>
            </a:r>
            <a:r>
              <a:rPr lang="zh-CN" altLang="en-US" u="sng" dirty="0"/>
              <a:t>授权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82] </a:t>
            </a:r>
            <a:r>
              <a:rPr lang="zh-CN" altLang="en-US" dirty="0">
                <a:solidFill>
                  <a:schemeClr val="tx1"/>
                </a:solidFill>
              </a:rPr>
              <a:t>把对表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en-US" altLang="zh-CN" dirty="0">
                <a:solidFill>
                  <a:schemeClr val="tx1"/>
                </a:solidFill>
              </a:rPr>
              <a:t>insert</a:t>
            </a:r>
            <a:r>
              <a:rPr lang="zh-CN" altLang="en-US" dirty="0">
                <a:solidFill>
                  <a:schemeClr val="tx1"/>
                </a:solidFill>
              </a:rPr>
              <a:t>权限授给用户</a:t>
            </a:r>
            <a:r>
              <a:rPr lang="en-US" altLang="zh-CN" dirty="0">
                <a:solidFill>
                  <a:schemeClr val="tx1"/>
                </a:solidFill>
              </a:rPr>
              <a:t>u5,</a:t>
            </a:r>
            <a:r>
              <a:rPr lang="zh-CN" altLang="en-US" dirty="0">
                <a:solidFill>
                  <a:schemeClr val="tx1"/>
                </a:solidFill>
              </a:rPr>
              <a:t>并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允许</a:t>
            </a:r>
            <a:r>
              <a:rPr lang="en-US" altLang="zh-CN" dirty="0">
                <a:solidFill>
                  <a:schemeClr val="tx1"/>
                </a:solidFill>
              </a:rPr>
              <a:t>u5</a:t>
            </a:r>
            <a:r>
              <a:rPr lang="zh-CN" altLang="en-US" dirty="0">
                <a:solidFill>
                  <a:schemeClr val="tx1"/>
                </a:solidFill>
              </a:rPr>
              <a:t>将此权限再授给其它用户。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sz="3200" b="0" dirty="0"/>
              <a:t>	    </a:t>
            </a:r>
            <a:r>
              <a:rPr lang="en-US" altLang="zh-CN" i="1" dirty="0">
                <a:solidFill>
                  <a:schemeClr val="accent2"/>
                </a:solidFill>
              </a:rPr>
              <a:t>grant insert on </a:t>
            </a:r>
            <a:r>
              <a:rPr lang="en-US" altLang="zh-CN" b="0" dirty="0"/>
              <a:t>sc  </a:t>
            </a:r>
            <a:r>
              <a:rPr lang="en-US" altLang="zh-CN" i="1" dirty="0">
                <a:solidFill>
                  <a:schemeClr val="accent2"/>
                </a:solidFill>
              </a:rPr>
              <a:t>to </a:t>
            </a:r>
            <a:r>
              <a:rPr lang="en-US" altLang="zh-CN" i="1" dirty="0"/>
              <a:t> u5 </a:t>
            </a:r>
            <a:r>
              <a:rPr lang="en-US" altLang="zh-CN" i="1" dirty="0">
                <a:solidFill>
                  <a:schemeClr val="accent2"/>
                </a:solidFill>
              </a:rPr>
              <a:t>with grant option</a:t>
            </a:r>
            <a:r>
              <a:rPr lang="en-US" altLang="zh-CN" b="0" dirty="0"/>
              <a:t>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endParaRPr lang="en-US" altLang="zh-CN" sz="3200" i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83]</a:t>
            </a:r>
            <a:r>
              <a:rPr lang="zh-CN" altLang="en-US" dirty="0">
                <a:solidFill>
                  <a:schemeClr val="tx1"/>
                </a:solidFill>
              </a:rPr>
              <a:t>允许</a:t>
            </a:r>
            <a:r>
              <a:rPr lang="en-US" altLang="zh-CN" dirty="0">
                <a:solidFill>
                  <a:schemeClr val="tx1"/>
                </a:solidFill>
              </a:rPr>
              <a:t>u7</a:t>
            </a:r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example</a:t>
            </a:r>
            <a:r>
              <a:rPr lang="zh-CN" altLang="en-US" dirty="0">
                <a:solidFill>
                  <a:schemeClr val="tx1"/>
                </a:solidFill>
              </a:rPr>
              <a:t>数据库上建立新的表。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b="0" dirty="0"/>
              <a:t>	     </a:t>
            </a:r>
            <a:r>
              <a:rPr lang="en-US" altLang="zh-CN" i="1" dirty="0">
                <a:solidFill>
                  <a:schemeClr val="accent2"/>
                </a:solidFill>
              </a:rPr>
              <a:t>grant createtab  on  datebase example</a:t>
            </a:r>
            <a:r>
              <a:rPr lang="en-US" altLang="zh-CN" b="0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to </a:t>
            </a:r>
            <a:r>
              <a:rPr lang="en-US" altLang="zh-CN" i="1" dirty="0"/>
              <a:t> u7</a:t>
            </a:r>
            <a:endParaRPr lang="en-US" altLang="zh-CN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i="1" dirty="0"/>
              <a:t>事实上，在</a:t>
            </a:r>
            <a:r>
              <a:rPr lang="en-US" altLang="zh-CN" i="1" dirty="0"/>
              <a:t>Microsoft SQL Server</a:t>
            </a:r>
            <a:r>
              <a:rPr lang="zh-CN" altLang="en-US" i="1" dirty="0"/>
              <a:t>中应写成</a:t>
            </a:r>
            <a:r>
              <a:rPr lang="en-US" altLang="zh-CN" i="1" dirty="0"/>
              <a:t>(</a:t>
            </a:r>
            <a:r>
              <a:rPr lang="zh-CN" altLang="en-US" i="1" dirty="0"/>
              <a:t>两步</a:t>
            </a:r>
            <a:r>
              <a:rPr lang="en-US" altLang="zh-CN" i="1" dirty="0"/>
              <a:t>)</a:t>
            </a:r>
            <a:r>
              <a:rPr lang="zh-CN" altLang="en-US" i="1" dirty="0"/>
              <a:t>：</a:t>
            </a:r>
            <a:endParaRPr lang="zh-CN" altLang="en-US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i="1" dirty="0"/>
              <a:t>       </a:t>
            </a:r>
            <a:r>
              <a:rPr lang="en-US" altLang="zh-CN" i="1" dirty="0">
                <a:solidFill>
                  <a:schemeClr val="accent2"/>
                </a:solidFill>
              </a:rPr>
              <a:t>use   </a:t>
            </a:r>
            <a:r>
              <a:rPr lang="en-US" altLang="zh-CN" i="1" dirty="0"/>
              <a:t>example</a:t>
            </a:r>
            <a:r>
              <a:rPr lang="en-US" altLang="zh-CN" i="1" dirty="0">
                <a:solidFill>
                  <a:schemeClr val="accent2"/>
                </a:solidFill>
              </a:rPr>
              <a:t>   </a:t>
            </a:r>
            <a:r>
              <a:rPr lang="en-US" altLang="zh-CN" i="1" dirty="0"/>
              <a:t>--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r>
              <a:rPr lang="zh-CN" altLang="en-US" i="1" dirty="0"/>
              <a:t>将</a:t>
            </a:r>
            <a:r>
              <a:rPr lang="en-US" altLang="zh-CN" i="1" dirty="0"/>
              <a:t>example</a:t>
            </a:r>
            <a:r>
              <a:rPr lang="zh-CN" altLang="en-US" i="1" dirty="0"/>
              <a:t>设为当前数据库</a:t>
            </a:r>
            <a:endParaRPr lang="zh-CN" altLang="en-US" i="1" dirty="0"/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</a:t>
            </a:r>
            <a:r>
              <a:rPr lang="en-US" altLang="zh-CN" i="1" dirty="0">
                <a:solidFill>
                  <a:schemeClr val="accent2"/>
                </a:solidFill>
              </a:rPr>
              <a:t>grant create table  to </a:t>
            </a:r>
            <a:r>
              <a:rPr lang="en-US" altLang="zh-CN" i="1" dirty="0"/>
              <a:t> u7  --</a:t>
            </a:r>
            <a:r>
              <a:rPr lang="zh-CN" altLang="en-US" i="1" dirty="0"/>
              <a:t>为</a:t>
            </a:r>
            <a:r>
              <a:rPr lang="en-US" altLang="zh-CN" i="1" dirty="0"/>
              <a:t>u7</a:t>
            </a:r>
            <a:r>
              <a:rPr lang="zh-CN" altLang="en-US" i="1" dirty="0"/>
              <a:t>设权限</a:t>
            </a:r>
            <a:endParaRPr lang="zh-CN" altLang="en-US" i="1" dirty="0"/>
          </a:p>
        </p:txBody>
      </p:sp>
      <p:sp>
        <p:nvSpPr>
          <p:cNvPr id="16388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3.6.1  </a:t>
            </a:r>
            <a:r>
              <a:rPr lang="zh-CN" altLang="en-US" u="sng" dirty="0"/>
              <a:t>授权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idx="1"/>
          </p:nvPr>
        </p:nvSpPr>
        <p:spPr>
          <a:xfrm>
            <a:off x="1143000" y="1600200"/>
            <a:ext cx="6477000" cy="2667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4400" dirty="0">
                <a:solidFill>
                  <a:schemeClr val="tx1"/>
                </a:solidFill>
                <a:ea typeface="楷体_GB2312" pitchFamily="49" charset="-122"/>
              </a:rPr>
              <a:t>3.6.1</a:t>
            </a:r>
            <a:r>
              <a:rPr lang="en-US" altLang="zh-CN" sz="44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44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授权</a:t>
            </a:r>
            <a:endParaRPr lang="zh-CN" altLang="en-US" sz="44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4400" dirty="0">
                <a:solidFill>
                  <a:srgbClr val="FF0000"/>
                </a:solidFill>
                <a:ea typeface="楷体_GB2312" pitchFamily="49" charset="-122"/>
              </a:rPr>
              <a:t>3.6.2</a:t>
            </a:r>
            <a:r>
              <a:rPr lang="en-US" altLang="zh-CN" sz="4400" b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4400" b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收回权限</a:t>
            </a:r>
            <a:endParaRPr lang="zh-CN" altLang="en-US" sz="4400" b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3.6   </a:t>
            </a:r>
            <a:r>
              <a:rPr lang="zh-CN" altLang="en-US" dirty="0"/>
              <a:t>数据控制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</a:pPr>
            <a:r>
              <a:rPr lang="en-US" altLang="zh-CN" dirty="0"/>
              <a:t>REVOKE</a:t>
            </a:r>
            <a:r>
              <a:rPr lang="zh-CN" altLang="en-US" dirty="0">
                <a:latin typeface="宋体" panose="02010600030101010101" pitchFamily="2" charset="-122"/>
              </a:rPr>
              <a:t>语句的一般格式：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 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  </a:t>
            </a:r>
            <a:r>
              <a:rPr lang="en-US" altLang="zh-CN" i="1" dirty="0">
                <a:solidFill>
                  <a:schemeClr val="accent2"/>
                </a:solidFill>
              </a:rPr>
              <a:t>REVOKE</a:t>
            </a:r>
            <a:r>
              <a:rPr lang="en-US" altLang="zh-CN" i="1" dirty="0">
                <a:solidFill>
                  <a:schemeClr val="tx1"/>
                </a:solidFill>
              </a:rPr>
              <a:t>  &lt;</a:t>
            </a:r>
            <a:r>
              <a:rPr lang="zh-CN" altLang="en-US" i="1" dirty="0">
                <a:solidFill>
                  <a:schemeClr val="tx1"/>
                </a:solidFill>
              </a:rPr>
              <a:t>权限</a:t>
            </a:r>
            <a:r>
              <a:rPr lang="en-US" altLang="zh-CN" i="1" dirty="0">
                <a:solidFill>
                  <a:schemeClr val="tx1"/>
                </a:solidFill>
              </a:rPr>
              <a:t>&gt;[,&lt;</a:t>
            </a:r>
            <a:r>
              <a:rPr lang="zh-CN" altLang="en-US" i="1" dirty="0">
                <a:solidFill>
                  <a:schemeClr val="tx1"/>
                </a:solidFill>
              </a:rPr>
              <a:t>权限</a:t>
            </a:r>
            <a:r>
              <a:rPr lang="en-US" altLang="zh-CN" i="1" dirty="0">
                <a:solidFill>
                  <a:schemeClr val="tx1"/>
                </a:solidFill>
              </a:rPr>
              <a:t>&gt;]... 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[</a:t>
            </a:r>
            <a:r>
              <a:rPr lang="en-US" altLang="zh-CN" i="1" dirty="0">
                <a:solidFill>
                  <a:schemeClr val="accent2"/>
                </a:solidFill>
              </a:rPr>
              <a:t>ON</a:t>
            </a:r>
            <a:r>
              <a:rPr lang="en-US" altLang="zh-CN" i="1" dirty="0">
                <a:solidFill>
                  <a:schemeClr val="tx1"/>
                </a:solidFill>
              </a:rPr>
              <a:t>  </a:t>
            </a:r>
            <a:r>
              <a:rPr lang="en-US" altLang="zh-CN" i="1" dirty="0">
                <a:solidFill>
                  <a:schemeClr val="bg2"/>
                </a:solidFill>
              </a:rPr>
              <a:t>&lt;</a:t>
            </a:r>
            <a:r>
              <a:rPr lang="zh-CN" altLang="en-US" i="1" dirty="0">
                <a:solidFill>
                  <a:schemeClr val="bg2"/>
                </a:solidFill>
              </a:rPr>
              <a:t>对象类型</a:t>
            </a:r>
            <a:r>
              <a:rPr lang="en-US" altLang="zh-CN" i="1" dirty="0">
                <a:solidFill>
                  <a:schemeClr val="bg2"/>
                </a:solidFill>
              </a:rPr>
              <a:t>&gt;</a:t>
            </a:r>
            <a:r>
              <a:rPr lang="en-US" altLang="zh-CN" i="1" dirty="0">
                <a:solidFill>
                  <a:schemeClr val="tx1"/>
                </a:solidFill>
              </a:rPr>
              <a:t> &lt;</a:t>
            </a:r>
            <a:r>
              <a:rPr lang="zh-CN" altLang="en-US" i="1" dirty="0">
                <a:solidFill>
                  <a:schemeClr val="tx1"/>
                </a:solidFill>
              </a:rPr>
              <a:t>对象名</a:t>
            </a:r>
            <a:r>
              <a:rPr lang="en-US" altLang="zh-CN" i="1" dirty="0">
                <a:solidFill>
                  <a:schemeClr val="tx1"/>
                </a:solidFill>
              </a:rPr>
              <a:t>&gt;]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>
                <a:solidFill>
                  <a:schemeClr val="tx1"/>
                </a:solidFill>
              </a:rPr>
              <a:t>   </a:t>
            </a:r>
            <a:r>
              <a:rPr lang="en-US" altLang="zh-CN" i="1" dirty="0">
                <a:solidFill>
                  <a:schemeClr val="accent2"/>
                </a:solidFill>
              </a:rPr>
              <a:t>PUBLIC</a:t>
            </a:r>
            <a:r>
              <a:rPr lang="en-US" altLang="zh-CN" i="1" dirty="0">
                <a:solidFill>
                  <a:schemeClr val="tx1"/>
                </a:solidFill>
              </a:rPr>
              <a:t>|&lt;</a:t>
            </a:r>
            <a:r>
              <a:rPr lang="zh-CN" altLang="en-US" i="1" dirty="0">
                <a:solidFill>
                  <a:schemeClr val="tx1"/>
                </a:solidFill>
              </a:rPr>
              <a:t>用户</a:t>
            </a:r>
            <a:r>
              <a:rPr lang="en-US" altLang="zh-CN" i="1" dirty="0">
                <a:solidFill>
                  <a:schemeClr val="tx1"/>
                </a:solidFill>
              </a:rPr>
              <a:t>&gt;[,&lt;</a:t>
            </a:r>
            <a:r>
              <a:rPr lang="zh-CN" altLang="en-US" i="1" dirty="0">
                <a:solidFill>
                  <a:schemeClr val="tx1"/>
                </a:solidFill>
              </a:rPr>
              <a:t>用户</a:t>
            </a:r>
            <a:r>
              <a:rPr lang="en-US" altLang="zh-CN" i="1" dirty="0">
                <a:solidFill>
                  <a:schemeClr val="tx1"/>
                </a:solidFill>
              </a:rPr>
              <a:t>&gt;]...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收回权限时，若该用户已将权限授予其它用户，则也一并收回。授权路径的起点一定是</a:t>
            </a:r>
            <a:r>
              <a:rPr lang="en-US" altLang="zh-CN" dirty="0">
                <a:solidFill>
                  <a:srgbClr val="FF0000"/>
                </a:solidFill>
              </a:rPr>
              <a:t>DBA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r>
              <a:rPr lang="zh-CN" altLang="en-US" i="1" dirty="0"/>
              <a:t>         </a:t>
            </a:r>
            <a:endParaRPr lang="zh-CN" altLang="en-US" i="1" dirty="0"/>
          </a:p>
        </p:txBody>
      </p:sp>
      <p:sp>
        <p:nvSpPr>
          <p:cNvPr id="18436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3.6.2  </a:t>
            </a:r>
            <a:r>
              <a:rPr lang="zh-CN" altLang="en-US" u="sng" dirty="0"/>
              <a:t>收回权限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84] </a:t>
            </a:r>
            <a:r>
              <a:rPr lang="zh-CN" altLang="en-US" dirty="0">
                <a:solidFill>
                  <a:schemeClr val="tx1"/>
                </a:solidFill>
              </a:rPr>
              <a:t>把用户</a:t>
            </a:r>
            <a:r>
              <a:rPr lang="en-US" altLang="zh-CN" dirty="0">
                <a:solidFill>
                  <a:schemeClr val="tx1"/>
                </a:solidFill>
              </a:rPr>
              <a:t>U4</a:t>
            </a:r>
            <a:r>
              <a:rPr lang="zh-CN" altLang="en-US" dirty="0">
                <a:solidFill>
                  <a:schemeClr val="tx1"/>
                </a:solidFill>
              </a:rPr>
              <a:t>修改学生学号的权限收回。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r>
              <a:rPr lang="zh-CN" altLang="en-US" sz="3200" b="0" dirty="0"/>
              <a:t>	    </a:t>
            </a:r>
            <a:r>
              <a:rPr lang="en-US" altLang="zh-CN" i="1" dirty="0">
                <a:solidFill>
                  <a:schemeClr val="accent2"/>
                </a:solidFill>
              </a:rPr>
              <a:t>revoke update(sno) on </a:t>
            </a:r>
            <a:r>
              <a:rPr lang="en-US" altLang="zh-CN" b="0" i="1" dirty="0"/>
              <a:t>student</a:t>
            </a:r>
            <a:r>
              <a:rPr lang="en-US" altLang="zh-CN" b="0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u4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85] </a:t>
            </a:r>
            <a:r>
              <a:rPr lang="zh-CN" altLang="en-US" dirty="0">
                <a:solidFill>
                  <a:schemeClr val="tx1"/>
                </a:solidFill>
              </a:rPr>
              <a:t>收回所有用户对表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的查询权限。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b="0" dirty="0"/>
              <a:t>	        </a:t>
            </a:r>
            <a:r>
              <a:rPr lang="en-US" altLang="zh-CN" i="1" dirty="0">
                <a:solidFill>
                  <a:schemeClr val="accent2"/>
                </a:solidFill>
              </a:rPr>
              <a:t>revoke select  on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r>
              <a:rPr lang="en-US" altLang="zh-CN" b="0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public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86] </a:t>
            </a:r>
            <a:r>
              <a:rPr lang="zh-CN" altLang="en-US" dirty="0">
                <a:solidFill>
                  <a:schemeClr val="tx1"/>
                </a:solidFill>
              </a:rPr>
              <a:t>收回用户</a:t>
            </a:r>
            <a:r>
              <a:rPr lang="en-US" altLang="zh-CN" dirty="0">
                <a:solidFill>
                  <a:schemeClr val="tx1"/>
                </a:solidFill>
              </a:rPr>
              <a:t>U5</a:t>
            </a:r>
            <a:r>
              <a:rPr lang="zh-CN" altLang="en-US" dirty="0">
                <a:solidFill>
                  <a:schemeClr val="tx1"/>
                </a:solidFill>
              </a:rPr>
              <a:t>对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表的</a:t>
            </a:r>
            <a:r>
              <a:rPr lang="en-US" altLang="zh-CN" dirty="0">
                <a:solidFill>
                  <a:schemeClr val="tx1"/>
                </a:solidFill>
              </a:rPr>
              <a:t>INSERT</a:t>
            </a:r>
            <a:r>
              <a:rPr lang="zh-CN" altLang="en-US" dirty="0">
                <a:solidFill>
                  <a:schemeClr val="tx1"/>
                </a:solidFill>
              </a:rPr>
              <a:t>权限。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b="0" dirty="0"/>
              <a:t>	        </a:t>
            </a:r>
            <a:r>
              <a:rPr lang="en-US" altLang="zh-CN" i="1" dirty="0">
                <a:solidFill>
                  <a:schemeClr val="accent2"/>
                </a:solidFill>
              </a:rPr>
              <a:t>revoke insert  on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r>
              <a:rPr lang="en-US" altLang="zh-CN" b="0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u5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  <a:buNone/>
            </a:pPr>
            <a:endParaRPr lang="en-US" altLang="zh-CN" i="1" dirty="0"/>
          </a:p>
        </p:txBody>
      </p:sp>
      <p:sp>
        <p:nvSpPr>
          <p:cNvPr id="1946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3.6.1  </a:t>
            </a:r>
            <a:r>
              <a:rPr lang="zh-CN" altLang="en-US" u="sng" dirty="0"/>
              <a:t>授权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/>
          <p:nvPr/>
        </p:nvSpPr>
        <p:spPr>
          <a:xfrm>
            <a:off x="863600" y="48260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bg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20485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idx="1"/>
          </p:nvPr>
        </p:nvSpPr>
        <p:spPr>
          <a:xfrm>
            <a:off x="762000" y="1447800"/>
            <a:ext cx="80010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3.7.1  </a:t>
            </a:r>
            <a:r>
              <a:rPr lang="zh-CN" altLang="en-US" dirty="0">
                <a:solidFill>
                  <a:srgbClr val="FF0000"/>
                </a:solidFill>
              </a:rPr>
              <a:t>嵌入式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的一般形式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3.7.2  </a:t>
            </a:r>
            <a:r>
              <a:rPr lang="zh-CN" altLang="en-US" dirty="0">
                <a:solidFill>
                  <a:schemeClr val="tx1"/>
                </a:solidFill>
              </a:rPr>
              <a:t>嵌入式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语句与主语言之间的通信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3.7.3  </a:t>
            </a:r>
            <a:r>
              <a:rPr lang="zh-CN" altLang="en-US" dirty="0">
                <a:solidFill>
                  <a:schemeClr val="tx1"/>
                </a:solidFill>
              </a:rPr>
              <a:t>不用游标的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3.7.4  </a:t>
            </a:r>
            <a:r>
              <a:rPr lang="zh-CN" altLang="en-US" dirty="0">
                <a:solidFill>
                  <a:schemeClr val="tx1"/>
                </a:solidFill>
              </a:rPr>
              <a:t>使用游标的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3.7.5  </a:t>
            </a:r>
            <a:r>
              <a:rPr lang="zh-CN" altLang="en-US" dirty="0">
                <a:solidFill>
                  <a:schemeClr val="tx1"/>
                </a:solidFill>
              </a:rPr>
              <a:t>动态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简介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5000"/>
              </a:lnSpc>
            </a:pP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语言提供了两种不同的使用方式：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交互式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嵌入式</a:t>
            </a:r>
            <a:endParaRPr lang="zh-CN" altLang="en-US" dirty="0"/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tx1"/>
                </a:solidFill>
              </a:rPr>
              <a:t>为什么要引入嵌入式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05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语言是非过程性语言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/>
              <a:t>事务处理应用需要高级语言</a:t>
            </a:r>
            <a:endParaRPr lang="zh-CN" altLang="en-US" dirty="0"/>
          </a:p>
          <a:p>
            <a:pPr algn="just">
              <a:lnSpc>
                <a:spcPct val="105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SQL</a:t>
            </a:r>
            <a:r>
              <a:rPr lang="zh-CN" altLang="en-US" b="0" dirty="0">
                <a:solidFill>
                  <a:schemeClr val="tx1"/>
                </a:solidFill>
                <a:ea typeface="黑体" panose="02010609060101010101" pitchFamily="49" charset="-122"/>
              </a:rPr>
              <a:t>嵌入后主语言的执行方式</a:t>
            </a:r>
            <a:endParaRPr lang="zh-CN" altLang="en-US" b="0" dirty="0">
              <a:solidFill>
                <a:schemeClr val="tx1"/>
              </a:solidFill>
            </a:endParaRPr>
          </a:p>
          <a:p>
            <a:pPr lvl="1" algn="just">
              <a:lnSpc>
                <a:spcPct val="105000"/>
              </a:lnSpc>
              <a:spcBef>
                <a:spcPct val="0"/>
              </a:spcBef>
            </a:pPr>
            <a:r>
              <a:rPr lang="zh-CN" altLang="en-US" dirty="0"/>
              <a:t>扩充</a:t>
            </a:r>
            <a:r>
              <a:rPr lang="en-US" altLang="zh-CN" dirty="0"/>
              <a:t>Compiler </a:t>
            </a:r>
            <a:r>
              <a:rPr lang="zh-CN" altLang="en-US" dirty="0"/>
              <a:t>：实现难，周期长；</a:t>
            </a:r>
            <a:endParaRPr lang="zh-CN" altLang="en-US" dirty="0"/>
          </a:p>
          <a:p>
            <a:pPr lvl="1" algn="just">
              <a:lnSpc>
                <a:spcPct val="105000"/>
              </a:lnSpc>
              <a:spcBef>
                <a:spcPct val="0"/>
              </a:spcBef>
            </a:pPr>
            <a:r>
              <a:rPr lang="zh-CN" altLang="en-US" dirty="0"/>
              <a:t>预编译：在</a:t>
            </a:r>
            <a:r>
              <a:rPr lang="en-US" altLang="zh-CN" dirty="0"/>
              <a:t>Compiler</a:t>
            </a:r>
            <a:r>
              <a:rPr lang="zh-CN" altLang="en-US" dirty="0"/>
              <a:t>前，预处理</a:t>
            </a:r>
            <a:r>
              <a:rPr lang="en-US" altLang="zh-CN" dirty="0"/>
              <a:t>SQL</a:t>
            </a:r>
            <a:r>
              <a:rPr lang="zh-CN" altLang="en-US" dirty="0"/>
              <a:t>，将</a:t>
            </a:r>
            <a:r>
              <a:rPr lang="en-US" altLang="zh-CN" dirty="0"/>
              <a:t>SQL</a:t>
            </a:r>
            <a:r>
              <a:rPr lang="zh-CN" altLang="en-US" dirty="0"/>
              <a:t>语句转换为</a:t>
            </a:r>
            <a:r>
              <a:rPr lang="en-US" altLang="zh-CN" dirty="0"/>
              <a:t>Compiler</a:t>
            </a:r>
            <a:r>
              <a:rPr lang="zh-CN" altLang="en-US" dirty="0"/>
              <a:t>支持的某种语言。</a:t>
            </a:r>
            <a:endParaRPr lang="zh-CN" altLang="en-US" dirty="0"/>
          </a:p>
        </p:txBody>
      </p:sp>
      <p:sp>
        <p:nvSpPr>
          <p:cNvPr id="22532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3.7.1  </a:t>
            </a:r>
            <a:r>
              <a:rPr lang="zh-CN" altLang="en-US" u="sng" dirty="0"/>
              <a:t>嵌入式</a:t>
            </a:r>
            <a:r>
              <a:rPr lang="en-US" altLang="zh-CN" u="sng" dirty="0"/>
              <a:t>SQL</a:t>
            </a:r>
            <a:r>
              <a:rPr lang="zh-CN" altLang="en-US" u="sng" dirty="0"/>
              <a:t>的一般形式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嵌入式</a:t>
            </a:r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SQL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语言需解决的问题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Clr>
                <a:srgbClr val="FF0066"/>
              </a:buClr>
            </a:pPr>
            <a:r>
              <a:rPr lang="zh-CN" altLang="en-US" dirty="0"/>
              <a:t>区别</a:t>
            </a:r>
            <a:r>
              <a:rPr lang="en-US" altLang="zh-CN" dirty="0"/>
              <a:t>SQL</a:t>
            </a:r>
            <a:r>
              <a:rPr lang="zh-CN" altLang="en-US" dirty="0"/>
              <a:t>的命令与主语言语句</a:t>
            </a:r>
            <a:endParaRPr lang="zh-CN" altLang="en-US" dirty="0"/>
          </a:p>
          <a:p>
            <a:pPr lvl="1" algn="just">
              <a:lnSpc>
                <a:spcPct val="120000"/>
              </a:lnSpc>
              <a:spcBef>
                <a:spcPct val="0"/>
              </a:spcBef>
              <a:buClr>
                <a:srgbClr val="FF0066"/>
              </a:buClr>
            </a:pPr>
            <a:r>
              <a:rPr lang="zh-CN" altLang="en-US" dirty="0"/>
              <a:t>主语言与</a:t>
            </a:r>
            <a:r>
              <a:rPr lang="en-US" altLang="zh-CN" dirty="0"/>
              <a:t>SQL</a:t>
            </a:r>
            <a:r>
              <a:rPr lang="zh-CN" altLang="en-US" dirty="0"/>
              <a:t>语言间的数据传递</a:t>
            </a:r>
            <a:endParaRPr lang="zh-CN" altLang="en-US" dirty="0"/>
          </a:p>
          <a:p>
            <a:pPr lvl="1" algn="just">
              <a:lnSpc>
                <a:spcPct val="120000"/>
              </a:lnSpc>
              <a:spcBef>
                <a:spcPct val="0"/>
              </a:spcBef>
              <a:buClr>
                <a:srgbClr val="FF0066"/>
              </a:buClr>
            </a:pPr>
            <a:r>
              <a:rPr lang="zh-CN" altLang="en-US" dirty="0"/>
              <a:t>主语言处理方式（一次一条记录）与集合运算间的协调</a:t>
            </a:r>
            <a:endParaRPr lang="zh-CN" altLang="en-US" dirty="0"/>
          </a:p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解决方案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Clr>
                <a:srgbClr val="FF0066"/>
              </a:buClr>
            </a:pPr>
            <a:r>
              <a:rPr lang="zh-CN" altLang="en-US" dirty="0"/>
              <a:t>在</a:t>
            </a:r>
            <a:r>
              <a:rPr lang="en-US" altLang="zh-CN" dirty="0"/>
              <a:t>SQL</a:t>
            </a:r>
            <a:r>
              <a:rPr lang="zh-CN" altLang="en-US" dirty="0"/>
              <a:t>命令开始和结束处加标识区分</a:t>
            </a:r>
            <a:endParaRPr lang="zh-CN" altLang="en-US" dirty="0"/>
          </a:p>
          <a:p>
            <a:pPr lvl="1" algn="just">
              <a:lnSpc>
                <a:spcPct val="120000"/>
              </a:lnSpc>
              <a:spcBef>
                <a:spcPct val="0"/>
              </a:spcBef>
              <a:buClr>
                <a:srgbClr val="FF0066"/>
              </a:buClr>
            </a:pPr>
            <a:r>
              <a:rPr lang="en-US" altLang="zh-CN" dirty="0"/>
              <a:t>SQL</a:t>
            </a:r>
            <a:r>
              <a:rPr lang="zh-CN" altLang="en-US" dirty="0"/>
              <a:t>通信区</a:t>
            </a:r>
            <a:r>
              <a:rPr lang="en-US" altLang="zh-CN" dirty="0"/>
              <a:t>(SQLA)</a:t>
            </a:r>
            <a:r>
              <a:rPr lang="zh-CN" altLang="en-US" dirty="0"/>
              <a:t>；主变量；游标</a:t>
            </a:r>
            <a:r>
              <a:rPr lang="en-US" altLang="zh-CN" dirty="0"/>
              <a:t>(CURSOR)</a:t>
            </a: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ct val="0"/>
              </a:spcBef>
              <a:buClr>
                <a:srgbClr val="FF0066"/>
              </a:buClr>
            </a:pPr>
            <a:r>
              <a:rPr lang="zh-CN" altLang="en-US" dirty="0"/>
              <a:t>引入游标</a:t>
            </a:r>
            <a:endParaRPr lang="zh-CN" altLang="en-US" dirty="0"/>
          </a:p>
        </p:txBody>
      </p:sp>
      <p:sp>
        <p:nvSpPr>
          <p:cNvPr id="23556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3.7.1  </a:t>
            </a:r>
            <a:r>
              <a:rPr lang="zh-CN" altLang="en-US" u="sng" dirty="0"/>
              <a:t>嵌入式</a:t>
            </a:r>
            <a:r>
              <a:rPr lang="en-US" altLang="zh-CN" u="sng" dirty="0"/>
              <a:t>SQL</a:t>
            </a:r>
            <a:r>
              <a:rPr lang="zh-CN" altLang="en-US" u="sng" dirty="0"/>
              <a:t>的一般形式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区别</a:t>
            </a:r>
            <a:r>
              <a:rPr lang="en-US" altLang="zh-CN" sz="2400" dirty="0">
                <a:solidFill>
                  <a:schemeClr val="tx1"/>
                </a:solidFill>
              </a:rPr>
              <a:t>SQL</a:t>
            </a:r>
            <a:r>
              <a:rPr lang="zh-CN" altLang="en-US" sz="2400" dirty="0">
                <a:solidFill>
                  <a:schemeClr val="tx1"/>
                </a:solidFill>
              </a:rPr>
              <a:t>语句与主语言语句 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zh-CN" altLang="en-US" sz="2400" dirty="0"/>
              <a:t>前缀：</a:t>
            </a:r>
            <a:r>
              <a:rPr lang="en-US" altLang="zh-CN" sz="2400" dirty="0">
                <a:solidFill>
                  <a:schemeClr val="accent2"/>
                </a:solidFill>
              </a:rPr>
              <a:t>EXEC SQL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zh-CN" altLang="en-US" sz="2400" dirty="0"/>
              <a:t>结束标志</a:t>
            </a:r>
            <a:r>
              <a:rPr lang="zh-CN" altLang="en-US" dirty="0"/>
              <a:t>：</a:t>
            </a:r>
            <a:r>
              <a:rPr lang="zh-CN" altLang="en-US" sz="2400" dirty="0"/>
              <a:t>随主语言的不同而不同</a:t>
            </a:r>
            <a:endParaRPr lang="zh-CN" altLang="en-US" sz="2400" dirty="0"/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r>
              <a:rPr lang="zh-CN" altLang="en-US" sz="2400" dirty="0">
                <a:solidFill>
                  <a:schemeClr val="tx1"/>
                </a:solidFill>
              </a:rPr>
              <a:t>为主语言的嵌入式</a:t>
            </a:r>
            <a:r>
              <a:rPr lang="en-US" altLang="zh-CN" sz="2400" dirty="0">
                <a:solidFill>
                  <a:schemeClr val="tx1"/>
                </a:solidFill>
              </a:rPr>
              <a:t>SQL</a:t>
            </a:r>
            <a:r>
              <a:rPr lang="zh-CN" altLang="en-US" sz="2400" dirty="0">
                <a:solidFill>
                  <a:schemeClr val="tx1"/>
                </a:solidFill>
              </a:rPr>
              <a:t>语句的一般形式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400" dirty="0"/>
              <a:t>      </a:t>
            </a:r>
            <a:r>
              <a:rPr lang="en-US" altLang="zh-CN" sz="2400" i="1" dirty="0">
                <a:solidFill>
                  <a:schemeClr val="accent2"/>
                </a:solidFill>
              </a:rPr>
              <a:t>EXEC SQL &lt;SQL</a:t>
            </a:r>
            <a:r>
              <a:rPr lang="zh-CN" altLang="en-US" sz="2400" i="1" dirty="0">
                <a:solidFill>
                  <a:schemeClr val="accent2"/>
                </a:solidFill>
              </a:rPr>
              <a:t>语句</a:t>
            </a:r>
            <a:r>
              <a:rPr lang="en-US" altLang="zh-CN" sz="2400" i="1" dirty="0">
                <a:solidFill>
                  <a:schemeClr val="accent2"/>
                </a:solidFill>
              </a:rPr>
              <a:t>&gt;</a:t>
            </a:r>
            <a:r>
              <a:rPr lang="en-US" altLang="zh-CN" sz="2400" i="1" dirty="0">
                <a:solidFill>
                  <a:srgbClr val="FF0000"/>
                </a:solidFill>
              </a:rPr>
              <a:t>;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EXEC SQL DROP TABLE Student;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</a:rPr>
              <a:t>COBOL</a:t>
            </a:r>
            <a:r>
              <a:rPr lang="zh-CN" altLang="en-US" sz="2400" dirty="0">
                <a:solidFill>
                  <a:schemeClr val="tx1"/>
                </a:solidFill>
              </a:rPr>
              <a:t>作为主语言的嵌入式</a:t>
            </a:r>
            <a:r>
              <a:rPr lang="en-US" altLang="zh-CN" sz="2400" dirty="0">
                <a:solidFill>
                  <a:schemeClr val="tx1"/>
                </a:solidFill>
              </a:rPr>
              <a:t>SQL</a:t>
            </a:r>
            <a:r>
              <a:rPr lang="zh-CN" altLang="en-US" sz="2400" dirty="0">
                <a:solidFill>
                  <a:schemeClr val="tx1"/>
                </a:solidFill>
              </a:rPr>
              <a:t>语句的一般形式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400" dirty="0"/>
              <a:t>      </a:t>
            </a:r>
            <a:r>
              <a:rPr lang="en-US" altLang="zh-CN" sz="2400" i="1" dirty="0">
                <a:solidFill>
                  <a:schemeClr val="accent2"/>
                </a:solidFill>
              </a:rPr>
              <a:t>EXEC SQL &lt;SQL</a:t>
            </a:r>
            <a:r>
              <a:rPr lang="zh-CN" altLang="en-US" sz="2400" i="1" dirty="0">
                <a:solidFill>
                  <a:schemeClr val="accent2"/>
                </a:solidFill>
              </a:rPr>
              <a:t>语句</a:t>
            </a:r>
            <a:r>
              <a:rPr lang="en-US" altLang="zh-CN" sz="2400" i="1" dirty="0">
                <a:solidFill>
                  <a:schemeClr val="accent2"/>
                </a:solidFill>
              </a:rPr>
              <a:t>&gt;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olidFill>
                  <a:srgbClr val="FF0000"/>
                </a:solidFill>
              </a:rPr>
              <a:t>END-EXEC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400" dirty="0"/>
              <a:t>例： </a:t>
            </a:r>
            <a:r>
              <a:rPr lang="en-US" altLang="zh-CN" sz="2400" dirty="0"/>
              <a:t>EXEC SQL DROP TABLE Student END-EXEC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PowerBuilder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2400" dirty="0"/>
              <a:t>       </a:t>
            </a:r>
            <a:r>
              <a:rPr lang="en-US" altLang="zh-CN" sz="2400" i="1" dirty="0">
                <a:solidFill>
                  <a:schemeClr val="accent2"/>
                </a:solidFill>
              </a:rPr>
              <a:t>&lt;SQL </a:t>
            </a:r>
            <a:r>
              <a:rPr lang="zh-CN" altLang="en-US" sz="2400" i="1" dirty="0">
                <a:solidFill>
                  <a:schemeClr val="accent2"/>
                </a:solidFill>
              </a:rPr>
              <a:t>语句</a:t>
            </a:r>
            <a:r>
              <a:rPr lang="en-US" altLang="zh-CN" sz="2400" i="1" dirty="0">
                <a:solidFill>
                  <a:schemeClr val="accent2"/>
                </a:solidFill>
              </a:rPr>
              <a:t>&gt;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olidFill>
                  <a:srgbClr val="FF0000"/>
                </a:solidFill>
              </a:rPr>
              <a:t>;</a:t>
            </a:r>
            <a:r>
              <a:rPr lang="en-US" altLang="zh-CN" sz="2400" i="1" dirty="0"/>
              <a:t> </a:t>
            </a:r>
            <a:endParaRPr lang="en-US" altLang="zh-CN" sz="24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400" dirty="0"/>
              <a:t>例： </a:t>
            </a:r>
            <a:r>
              <a:rPr lang="en-US" altLang="zh-CN" sz="2400" dirty="0"/>
              <a:t>delete from student  where sno = “05001”;</a:t>
            </a:r>
            <a:endParaRPr lang="en-US" altLang="zh-CN" sz="2400" dirty="0"/>
          </a:p>
        </p:txBody>
      </p:sp>
      <p:sp>
        <p:nvSpPr>
          <p:cNvPr id="24580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3.7.1  </a:t>
            </a:r>
            <a:r>
              <a:rPr lang="zh-CN" altLang="en-US" u="sng" dirty="0"/>
              <a:t>嵌入式</a:t>
            </a:r>
            <a:r>
              <a:rPr lang="en-US" altLang="zh-CN" u="sng" dirty="0"/>
              <a:t>SQL</a:t>
            </a:r>
            <a:r>
              <a:rPr lang="zh-CN" altLang="en-US" u="sng" dirty="0"/>
              <a:t>的一般形式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			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                    </a:t>
            </a:r>
            <a:r>
              <a:rPr lang="zh-CN" altLang="en-US" dirty="0"/>
              <a:t>说明性语句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嵌入</a:t>
            </a:r>
            <a:r>
              <a:rPr lang="en-US" altLang="zh-CN" dirty="0"/>
              <a:t>SQL</a:t>
            </a:r>
            <a:r>
              <a:rPr lang="zh-CN" altLang="en-US" dirty="0"/>
              <a:t>语句			         数据定义 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				   可执行语句      数据控制 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						         数据操纵  </a:t>
            </a:r>
            <a:endParaRPr lang="zh-CN" altLang="en-US" dirty="0"/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允许出现可执行的高级语言语句的地方，都可以写可执行</a:t>
            </a: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语句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允许出现说明语句的地方，都可以写说明性</a:t>
            </a: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语句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3.7.1  </a:t>
            </a:r>
            <a:r>
              <a:rPr lang="zh-CN" altLang="en-US" u="sng" dirty="0"/>
              <a:t>嵌入式</a:t>
            </a:r>
            <a:r>
              <a:rPr lang="en-US" altLang="zh-CN" u="sng" dirty="0"/>
              <a:t>SQL</a:t>
            </a:r>
            <a:r>
              <a:rPr lang="zh-CN" altLang="en-US" u="sng" dirty="0"/>
              <a:t>的一般形式</a:t>
            </a:r>
            <a:endParaRPr lang="zh-CN" altLang="en-US" u="sng" dirty="0"/>
          </a:p>
        </p:txBody>
      </p:sp>
      <p:sp>
        <p:nvSpPr>
          <p:cNvPr id="25605" name="AutoShape 4"/>
          <p:cNvSpPr/>
          <p:nvPr/>
        </p:nvSpPr>
        <p:spPr>
          <a:xfrm>
            <a:off x="3276600" y="1828800"/>
            <a:ext cx="228600" cy="966788"/>
          </a:xfrm>
          <a:prstGeom prst="leftBrace">
            <a:avLst>
              <a:gd name="adj1" fmla="val 35243"/>
              <a:gd name="adj2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5606" name="AutoShape 5"/>
          <p:cNvSpPr/>
          <p:nvPr/>
        </p:nvSpPr>
        <p:spPr>
          <a:xfrm>
            <a:off x="5638800" y="2286000"/>
            <a:ext cx="152400" cy="974725"/>
          </a:xfrm>
          <a:prstGeom prst="leftBrace">
            <a:avLst>
              <a:gd name="adj1" fmla="val 53298"/>
              <a:gd name="adj2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idx="1"/>
          </p:nvPr>
        </p:nvSpPr>
        <p:spPr>
          <a:xfrm>
            <a:off x="762000" y="1447800"/>
            <a:ext cx="80010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3.7.1  </a:t>
            </a:r>
            <a:r>
              <a:rPr lang="zh-CN" altLang="en-US" dirty="0">
                <a:solidFill>
                  <a:schemeClr val="tx1"/>
                </a:solidFill>
              </a:rPr>
              <a:t>嵌入式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的一般形式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3.7.2  </a:t>
            </a:r>
            <a:r>
              <a:rPr lang="zh-CN" altLang="en-US" dirty="0">
                <a:solidFill>
                  <a:srgbClr val="FF0000"/>
                </a:solidFill>
              </a:rPr>
              <a:t>嵌入式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语句与主语言之间的通信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3.7.3  </a:t>
            </a:r>
            <a:r>
              <a:rPr lang="zh-CN" altLang="en-US" dirty="0">
                <a:solidFill>
                  <a:schemeClr val="tx1"/>
                </a:solidFill>
              </a:rPr>
              <a:t>不用游标的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3.7.4  </a:t>
            </a:r>
            <a:r>
              <a:rPr lang="zh-CN" altLang="en-US" dirty="0">
                <a:solidFill>
                  <a:schemeClr val="tx1"/>
                </a:solidFill>
              </a:rPr>
              <a:t>使用游标的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3.7.5  </a:t>
            </a:r>
            <a:r>
              <a:rPr lang="zh-CN" altLang="en-US" dirty="0">
                <a:solidFill>
                  <a:schemeClr val="tx1"/>
                </a:solidFill>
              </a:rPr>
              <a:t>动态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简介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48768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通信区</a:t>
            </a:r>
            <a:r>
              <a:rPr lang="en-US" altLang="zh-CN" dirty="0">
                <a:solidFill>
                  <a:srgbClr val="FF0000"/>
                </a:solidFill>
              </a:rPr>
              <a:t>(SQLCA)</a:t>
            </a:r>
            <a:endParaRPr lang="en-US" altLang="zh-CN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向主语言传递</a:t>
            </a:r>
            <a:r>
              <a:rPr lang="en-US" altLang="zh-CN" dirty="0">
                <a:ea typeface="宋体" panose="02010600030101010101" pitchFamily="2" charset="-122"/>
              </a:rPr>
              <a:t>SQL</a:t>
            </a:r>
            <a:r>
              <a:rPr lang="zh-CN" altLang="en-US" dirty="0">
                <a:ea typeface="宋体" panose="02010600030101010101" pitchFamily="2" charset="-122"/>
              </a:rPr>
              <a:t>语句的执行状态信息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主语言能够据此控制程序流程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主变量</a:t>
            </a:r>
            <a:endParaRPr lang="zh-CN" altLang="en-US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主语言向</a:t>
            </a:r>
            <a:r>
              <a:rPr lang="en-US" altLang="zh-CN" dirty="0">
                <a:ea typeface="宋体" panose="02010600030101010101" pitchFamily="2" charset="-122"/>
              </a:rPr>
              <a:t>SQL</a:t>
            </a:r>
            <a:r>
              <a:rPr lang="zh-CN" altLang="en-US" dirty="0">
                <a:ea typeface="宋体" panose="02010600030101010101" pitchFamily="2" charset="-122"/>
              </a:rPr>
              <a:t>语句提供参数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 将</a:t>
            </a:r>
            <a:r>
              <a:rPr lang="en-US" altLang="zh-CN" dirty="0">
                <a:ea typeface="宋体" panose="02010600030101010101" pitchFamily="2" charset="-122"/>
              </a:rPr>
              <a:t>SQL</a:t>
            </a:r>
            <a:r>
              <a:rPr lang="zh-CN" altLang="en-US" dirty="0">
                <a:ea typeface="宋体" panose="02010600030101010101" pitchFamily="2" charset="-122"/>
              </a:rPr>
              <a:t>语句查询数据库的结果交主语言进一步处理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游标</a:t>
            </a:r>
            <a:endParaRPr lang="zh-CN" altLang="en-US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解决集合性操作语言与过程性操作语言的不匹配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1.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通信区</a:t>
            </a:r>
            <a:r>
              <a:rPr lang="en-US" altLang="zh-CN" dirty="0">
                <a:solidFill>
                  <a:srgbClr val="FF0000"/>
                </a:solidFill>
              </a:rPr>
              <a:t>(SQLCA)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SQLCA</a:t>
            </a:r>
            <a:r>
              <a:rPr lang="zh-CN" altLang="en-US" sz="2400" dirty="0"/>
              <a:t>： </a:t>
            </a:r>
            <a:r>
              <a:rPr lang="en-US" altLang="zh-CN" sz="2400" dirty="0"/>
              <a:t>SQL Communication Area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/>
              <a:t>SQLCA</a:t>
            </a:r>
            <a:r>
              <a:rPr lang="zh-CN" altLang="en-US" sz="2400" dirty="0"/>
              <a:t>是一个数据结构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SQLCA</a:t>
            </a:r>
            <a:r>
              <a:rPr lang="zh-CN" altLang="en-US" sz="2400" dirty="0"/>
              <a:t>的用途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/>
              <a:t>SQL</a:t>
            </a:r>
            <a:r>
              <a:rPr lang="zh-CN" altLang="en-US" sz="2400" dirty="0"/>
              <a:t>语句执行后，</a:t>
            </a:r>
            <a:r>
              <a:rPr lang="en-US" altLang="zh-CN" sz="2400" dirty="0"/>
              <a:t>DBMS</a:t>
            </a:r>
            <a:r>
              <a:rPr lang="zh-CN" altLang="en-US" sz="2400" dirty="0"/>
              <a:t>反馈给应用程序信息</a:t>
            </a:r>
            <a:endParaRPr lang="zh-CN" altLang="en-US" sz="2400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dirty="0"/>
              <a:t> 描述系统当前工作状态</a:t>
            </a:r>
            <a:endParaRPr lang="zh-CN" altLang="en-US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dirty="0"/>
              <a:t> 描述运行环境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/>
              <a:t>这些信息将送到</a:t>
            </a:r>
            <a:r>
              <a:rPr lang="en-US" altLang="zh-CN" sz="2400" dirty="0"/>
              <a:t>SQL</a:t>
            </a:r>
            <a:r>
              <a:rPr lang="zh-CN" altLang="en-US" sz="2400" dirty="0"/>
              <a:t>通信区</a:t>
            </a:r>
            <a:r>
              <a:rPr lang="en-US" altLang="zh-CN" sz="2400" dirty="0"/>
              <a:t>SQLCA</a:t>
            </a:r>
            <a:r>
              <a:rPr lang="zh-CN" altLang="en-US" sz="2400" dirty="0"/>
              <a:t>中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/>
              <a:t>应用程序从</a:t>
            </a:r>
            <a:r>
              <a:rPr lang="en-US" altLang="zh-CN" sz="2400" dirty="0"/>
              <a:t>SQLCA</a:t>
            </a:r>
            <a:r>
              <a:rPr lang="zh-CN" altLang="en-US" sz="2400" dirty="0"/>
              <a:t>中取出这些状态信息，据此决定接下来执行的语句</a:t>
            </a:r>
            <a:endParaRPr lang="zh-CN" altLang="en-US" sz="2400" dirty="0"/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SQL</a:t>
            </a:r>
            <a:r>
              <a:rPr lang="zh-CN" altLang="en-US" sz="3600" dirty="0">
                <a:solidFill>
                  <a:srgbClr val="FF0000"/>
                </a:solidFill>
              </a:rPr>
              <a:t>通信区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与该</a:t>
            </a:r>
            <a:r>
              <a:rPr lang="en-US" altLang="zh-CN" sz="2800" dirty="0"/>
              <a:t>SQL</a:t>
            </a:r>
            <a:r>
              <a:rPr lang="zh-CN" altLang="en-US" sz="2800" dirty="0"/>
              <a:t>语句的执行情况有关</a:t>
            </a:r>
            <a:endParaRPr lang="zh-CN" altLang="en-US" sz="28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400" dirty="0"/>
              <a:t>例：在执行删除语句</a:t>
            </a:r>
            <a:r>
              <a:rPr lang="en-US" altLang="zh-CN" sz="2400" dirty="0"/>
              <a:t>DELETE</a:t>
            </a:r>
            <a:r>
              <a:rPr lang="zh-CN" altLang="en-US" sz="2400" dirty="0"/>
              <a:t>后，不同的执行情况，</a:t>
            </a:r>
            <a:r>
              <a:rPr lang="en-US" altLang="zh-CN" sz="2400" dirty="0"/>
              <a:t>SQLCA</a:t>
            </a:r>
            <a:r>
              <a:rPr lang="zh-CN" altLang="en-US" sz="2400" dirty="0"/>
              <a:t>中有不同的信息：</a:t>
            </a:r>
            <a:endParaRPr lang="zh-CN" altLang="en-US" sz="2400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dirty="0"/>
              <a:t> 违反数据保护规则，操作拒绝</a:t>
            </a:r>
            <a:endParaRPr lang="zh-CN" altLang="en-US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dirty="0"/>
              <a:t> 没有满足条件的行，一行也没有删除</a:t>
            </a:r>
            <a:endParaRPr lang="zh-CN" altLang="en-US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dirty="0"/>
              <a:t> 成功删除，并有删除的行数</a:t>
            </a:r>
            <a:endParaRPr lang="zh-CN" altLang="en-US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dirty="0"/>
              <a:t>由于各种原因，执行出错</a:t>
            </a:r>
            <a:endParaRPr lang="zh-CN" altLang="en-US" dirty="0"/>
          </a:p>
        </p:txBody>
      </p:sp>
      <p:sp>
        <p:nvSpPr>
          <p:cNvPr id="29700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SQL</a:t>
            </a:r>
            <a:r>
              <a:rPr lang="zh-CN" altLang="en-US" sz="3600" dirty="0">
                <a:solidFill>
                  <a:srgbClr val="FF0000"/>
                </a:solidFill>
              </a:rPr>
              <a:t>通信区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定义</a:t>
            </a:r>
            <a:r>
              <a:rPr lang="en-US" altLang="zh-CN" dirty="0"/>
              <a:t>SQLCA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 </a:t>
            </a:r>
            <a:r>
              <a:rPr lang="zh-CN" altLang="en-US" dirty="0"/>
              <a:t>用</a:t>
            </a:r>
            <a:r>
              <a:rPr lang="en-US" altLang="zh-CN" dirty="0">
                <a:solidFill>
                  <a:schemeClr val="accent2"/>
                </a:solidFill>
              </a:rPr>
              <a:t>EXEC SQL INCLUDE SQLCA</a:t>
            </a:r>
            <a:r>
              <a:rPr lang="zh-CN" altLang="en-US" dirty="0"/>
              <a:t>加以定义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使用</a:t>
            </a:r>
            <a:r>
              <a:rPr lang="en-US" altLang="zh-CN" dirty="0"/>
              <a:t>SQLCA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SQLCA</a:t>
            </a:r>
            <a:r>
              <a:rPr lang="zh-CN" altLang="en-US" dirty="0"/>
              <a:t>中有一个存放每次执行</a:t>
            </a:r>
            <a:r>
              <a:rPr lang="en-US" altLang="zh-CN" dirty="0"/>
              <a:t>SQL</a:t>
            </a:r>
            <a:r>
              <a:rPr lang="zh-CN" altLang="en-US" dirty="0"/>
              <a:t>语句后返回代码的变量</a:t>
            </a:r>
            <a:r>
              <a:rPr lang="en-US" altLang="zh-CN" dirty="0"/>
              <a:t>SQLCODE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如果</a:t>
            </a:r>
            <a:r>
              <a:rPr lang="en-US" altLang="zh-CN" dirty="0"/>
              <a:t>SQLCODE</a:t>
            </a:r>
            <a:r>
              <a:rPr lang="zh-CN" altLang="en-US" dirty="0"/>
              <a:t>等于预定义的常量</a:t>
            </a:r>
            <a:r>
              <a:rPr lang="en-US" altLang="zh-CN" dirty="0"/>
              <a:t>SUCCESS</a:t>
            </a:r>
            <a:r>
              <a:rPr lang="zh-CN" altLang="en-US" dirty="0"/>
              <a:t>，则表示</a:t>
            </a:r>
            <a:r>
              <a:rPr lang="en-US" altLang="zh-CN" dirty="0"/>
              <a:t>SQL</a:t>
            </a:r>
            <a:r>
              <a:rPr lang="zh-CN" altLang="en-US" dirty="0"/>
              <a:t>语句成功，否则表示出错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应用程序每执行完一条</a:t>
            </a:r>
            <a:r>
              <a:rPr lang="en-US" altLang="zh-CN" dirty="0"/>
              <a:t>SQL </a:t>
            </a:r>
            <a:r>
              <a:rPr lang="zh-CN" altLang="en-US" dirty="0"/>
              <a:t>语句之后都应该测试一下</a:t>
            </a:r>
            <a:r>
              <a:rPr lang="en-US" altLang="zh-CN" dirty="0"/>
              <a:t>SQLCODE</a:t>
            </a:r>
            <a:r>
              <a:rPr lang="zh-CN" altLang="en-US" dirty="0"/>
              <a:t>的值，以了解该</a:t>
            </a:r>
            <a:r>
              <a:rPr lang="en-US" altLang="zh-CN" dirty="0"/>
              <a:t>SQL</a:t>
            </a:r>
            <a:r>
              <a:rPr lang="zh-CN" altLang="en-US" dirty="0"/>
              <a:t>语句执行情况并做相应处理</a:t>
            </a:r>
            <a:endParaRPr lang="zh-CN" altLang="en-US" dirty="0"/>
          </a:p>
        </p:txBody>
      </p:sp>
      <p:sp>
        <p:nvSpPr>
          <p:cNvPr id="30724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867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87] </a:t>
            </a:r>
            <a:r>
              <a:rPr lang="en-US" altLang="zh-CN" i="1" dirty="0">
                <a:solidFill>
                  <a:schemeClr val="tx1"/>
                </a:solidFill>
              </a:rPr>
              <a:t>PowerBuilder</a:t>
            </a:r>
            <a:r>
              <a:rPr lang="zh-CN" altLang="en-US" i="1" dirty="0">
                <a:solidFill>
                  <a:schemeClr val="tx1"/>
                </a:solidFill>
              </a:rPr>
              <a:t>中，</a:t>
            </a:r>
            <a:r>
              <a:rPr lang="en-US" altLang="zh-CN" i="1" dirty="0">
                <a:solidFill>
                  <a:schemeClr val="tx1"/>
                </a:solidFill>
              </a:rPr>
              <a:t>SQLCA</a:t>
            </a:r>
            <a:r>
              <a:rPr lang="zh-CN" altLang="en-US" i="1" dirty="0">
                <a:solidFill>
                  <a:schemeClr val="tx1"/>
                </a:solidFill>
              </a:rPr>
              <a:t>的定义。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SQLCA.DBMS = "MSS Microsoft SQL Server"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SQLCA.Database = "</a:t>
            </a:r>
            <a:r>
              <a:rPr lang="en-US" altLang="zh-CN" sz="2400" dirty="0">
                <a:solidFill>
                  <a:srgbClr val="FF0000"/>
                </a:solidFill>
              </a:rPr>
              <a:t>school</a:t>
            </a:r>
            <a:r>
              <a:rPr lang="en-US" altLang="zh-CN" sz="2400" dirty="0">
                <a:solidFill>
                  <a:schemeClr val="tx1"/>
                </a:solidFill>
              </a:rPr>
              <a:t>"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SQLCA.LogPass = "</a:t>
            </a:r>
            <a:r>
              <a:rPr lang="en-US" altLang="zh-CN" sz="2400" dirty="0">
                <a:solidFill>
                  <a:srgbClr val="FF0000"/>
                </a:solidFill>
              </a:rPr>
              <a:t>sa</a:t>
            </a:r>
            <a:r>
              <a:rPr lang="en-US" altLang="zh-CN" sz="2400" dirty="0">
                <a:solidFill>
                  <a:schemeClr val="tx1"/>
                </a:solidFill>
              </a:rPr>
              <a:t>"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SQLCA.ServerName = "</a:t>
            </a:r>
            <a:r>
              <a:rPr lang="en-US" altLang="zh-CN" sz="2400" dirty="0">
                <a:solidFill>
                  <a:srgbClr val="FF0000"/>
                </a:solidFill>
              </a:rPr>
              <a:t>(local)</a:t>
            </a:r>
            <a:r>
              <a:rPr lang="en-US" altLang="zh-CN" sz="2400" dirty="0">
                <a:solidFill>
                  <a:schemeClr val="tx1"/>
                </a:solidFill>
              </a:rPr>
              <a:t>"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SQLCA.LogId = "</a:t>
            </a:r>
            <a:r>
              <a:rPr lang="en-US" altLang="zh-CN" sz="2400" dirty="0">
                <a:solidFill>
                  <a:srgbClr val="FF0000"/>
                </a:solidFill>
              </a:rPr>
              <a:t>sa</a:t>
            </a:r>
            <a:r>
              <a:rPr lang="en-US" altLang="zh-CN" sz="2400" dirty="0">
                <a:solidFill>
                  <a:schemeClr val="tx1"/>
                </a:solidFill>
              </a:rPr>
              <a:t>"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SQLCA.AutoCommit = False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SQLCA.DBParm = ""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connect;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IF </a:t>
            </a:r>
            <a:r>
              <a:rPr lang="en-US" altLang="zh-CN" sz="2400" dirty="0">
                <a:solidFill>
                  <a:srgbClr val="FF0000"/>
                </a:solidFill>
              </a:rPr>
              <a:t>SQLCA.SQLCode = -1</a:t>
            </a:r>
            <a:r>
              <a:rPr lang="en-US" altLang="zh-CN" sz="2400" dirty="0">
                <a:solidFill>
                  <a:schemeClr val="tx1"/>
                </a:solidFill>
              </a:rPr>
              <a:t> THEN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MessageBox("SQL error", </a:t>
            </a:r>
            <a:r>
              <a:rPr lang="en-US" altLang="zh-CN" sz="2400" dirty="0">
                <a:solidFill>
                  <a:srgbClr val="FF0000"/>
                </a:solidFill>
              </a:rPr>
              <a:t>SQLCA.SQLErrText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END IF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31748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88] SQLCode</a:t>
            </a:r>
            <a:r>
              <a:rPr lang="zh-CN" altLang="en-US" dirty="0">
                <a:solidFill>
                  <a:schemeClr val="tx1"/>
                </a:solidFill>
              </a:rPr>
              <a:t>的应用一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PowerBuilder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select sname into :ls_sname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from student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where sno = :ls_sno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using SQLCA;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IF  </a:t>
            </a:r>
            <a:r>
              <a:rPr lang="en-US" altLang="zh-CN" sz="2800" dirty="0">
                <a:solidFill>
                  <a:srgbClr val="FF0000"/>
                </a:solidFill>
              </a:rPr>
              <a:t>SQLCA.SQLCode = -1</a:t>
            </a:r>
            <a:r>
              <a:rPr lang="en-US" altLang="zh-CN" sz="2800" dirty="0">
                <a:solidFill>
                  <a:schemeClr val="tx1"/>
                </a:solidFill>
              </a:rPr>
              <a:t>  THEN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MessageBox("SQL error", </a:t>
            </a:r>
            <a:r>
              <a:rPr lang="en-US" altLang="zh-CN" sz="2800" dirty="0">
                <a:solidFill>
                  <a:srgbClr val="FF0000"/>
                </a:solidFill>
              </a:rPr>
              <a:t>SQLCA.SQLErrText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END IF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89] SQLCode</a:t>
            </a:r>
            <a:r>
              <a:rPr lang="zh-CN" altLang="en-US" sz="3600" dirty="0">
                <a:solidFill>
                  <a:schemeClr val="tx1"/>
                </a:solidFill>
              </a:rPr>
              <a:t>的应用二</a:t>
            </a:r>
            <a:r>
              <a:rPr lang="en-US" altLang="zh-CN" sz="3600" dirty="0">
                <a:solidFill>
                  <a:schemeClr val="tx1"/>
                </a:solidFill>
              </a:rPr>
              <a:t>(</a:t>
            </a:r>
            <a:r>
              <a:rPr lang="en-US" altLang="zh-CN" sz="3600" i="1" dirty="0">
                <a:solidFill>
                  <a:schemeClr val="tx1"/>
                </a:solidFill>
              </a:rPr>
              <a:t>PowerBuilder</a:t>
            </a:r>
            <a:r>
              <a:rPr lang="en-US" altLang="zh-CN" sz="3600" dirty="0">
                <a:solidFill>
                  <a:schemeClr val="tx1"/>
                </a:solidFill>
              </a:rPr>
              <a:t>)</a:t>
            </a:r>
            <a:r>
              <a:rPr lang="zh-CN" altLang="en-US" sz="3600" dirty="0">
                <a:solidFill>
                  <a:schemeClr val="tx1"/>
                </a:solidFill>
              </a:rPr>
              <a:t>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open</a:t>
            </a:r>
            <a:r>
              <a:rPr lang="en-US" altLang="zh-CN" dirty="0">
                <a:solidFill>
                  <a:schemeClr val="tx1"/>
                </a:solidFill>
              </a:rPr>
              <a:t> student_cur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fetch</a:t>
            </a:r>
            <a:r>
              <a:rPr lang="en-US" altLang="zh-CN" dirty="0">
                <a:solidFill>
                  <a:schemeClr val="tx1"/>
                </a:solidFill>
              </a:rPr>
              <a:t> student_cur into :ls_sno, :ls_sname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do  while  </a:t>
            </a:r>
            <a:r>
              <a:rPr lang="en-US" altLang="zh-CN" dirty="0">
                <a:solidFill>
                  <a:srgbClr val="FF0000"/>
                </a:solidFill>
              </a:rPr>
              <a:t>SQLCA.sqlcode = 0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lb_name.additem(ls_sno + ":" + ls_sname)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fetch</a:t>
            </a:r>
            <a:r>
              <a:rPr lang="en-US" altLang="zh-CN" dirty="0">
                <a:solidFill>
                  <a:schemeClr val="tx1"/>
                </a:solidFill>
              </a:rPr>
              <a:t> student_cur into :ls_sno, :ls_sname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loop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2.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主变量</a:t>
            </a:r>
            <a:r>
              <a:rPr lang="en-US" altLang="zh-CN" dirty="0">
                <a:solidFill>
                  <a:srgbClr val="FF0000"/>
                </a:solidFill>
              </a:rPr>
              <a:t>(Host Variable)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嵌入式</a:t>
            </a: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语句中可以使用主语言的程序变量来输入或输出数据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语句中使用的主语言程序变量简称为主变量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主变量的类型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400" dirty="0"/>
              <a:t>输入主变量</a:t>
            </a:r>
            <a:endParaRPr lang="zh-CN" altLang="en-US" sz="2400" dirty="0"/>
          </a:p>
          <a:p>
            <a:pPr lvl="1" eaLnBrk="1" hangingPunct="1">
              <a:buNone/>
            </a:pPr>
            <a:r>
              <a:rPr lang="zh-CN" altLang="en-US" dirty="0"/>
              <a:t>   </a:t>
            </a:r>
            <a:r>
              <a:rPr lang="zh-CN" altLang="en-US" sz="2400" dirty="0"/>
              <a:t>由应用程序对其赋值，</a:t>
            </a:r>
            <a:r>
              <a:rPr lang="en-US" altLang="zh-CN" sz="2400" dirty="0"/>
              <a:t>SQL</a:t>
            </a:r>
            <a:r>
              <a:rPr lang="zh-CN" altLang="en-US" sz="2400" dirty="0"/>
              <a:t>语句引用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输出主变量</a:t>
            </a:r>
            <a:endParaRPr lang="zh-CN" altLang="en-US" sz="2400" dirty="0"/>
          </a:p>
          <a:p>
            <a:pPr lvl="1" eaLnBrk="1" hangingPunct="1">
              <a:buNone/>
            </a:pPr>
            <a:r>
              <a:rPr lang="zh-CN" altLang="en-US" sz="2400" dirty="0"/>
              <a:t>   由</a:t>
            </a:r>
            <a:r>
              <a:rPr lang="en-US" altLang="zh-CN" sz="2400" dirty="0"/>
              <a:t>SQL</a:t>
            </a:r>
            <a:r>
              <a:rPr lang="zh-CN" altLang="en-US" sz="2400" dirty="0"/>
              <a:t>语句赋值或设置状态信息，返回给应用程序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一个主变量有可能既是输入主变量又是输出主变量</a:t>
            </a:r>
            <a:endParaRPr lang="zh-CN" altLang="en-US" sz="2000" dirty="0"/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主变量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主变量的用途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dirty="0"/>
              <a:t>输入主变量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 </a:t>
            </a:r>
            <a:r>
              <a:rPr lang="zh-CN" altLang="en-US" sz="2800" dirty="0"/>
              <a:t>指定向数据库中插入的数据</a:t>
            </a:r>
            <a:endParaRPr lang="zh-CN" altLang="en-US" sz="2800" dirty="0"/>
          </a:p>
          <a:p>
            <a:pPr lvl="2" eaLnBrk="1" hangingPunct="1"/>
            <a:r>
              <a:rPr lang="zh-CN" altLang="en-US" sz="2800" dirty="0"/>
              <a:t> 将数据库中的数据修改为指定值</a:t>
            </a:r>
            <a:endParaRPr lang="zh-CN" altLang="en-US" sz="2800" dirty="0"/>
          </a:p>
          <a:p>
            <a:pPr lvl="2" eaLnBrk="1" hangingPunct="1"/>
            <a:r>
              <a:rPr lang="zh-CN" altLang="en-US" sz="2800" dirty="0"/>
              <a:t> 指定</a:t>
            </a:r>
            <a:r>
              <a:rPr lang="en-US" altLang="zh-CN" sz="2800" dirty="0"/>
              <a:t>WHERE</a:t>
            </a:r>
            <a:r>
              <a:rPr lang="zh-CN" altLang="en-US" sz="2800" dirty="0"/>
              <a:t>子句或</a:t>
            </a:r>
            <a:r>
              <a:rPr lang="en-US" altLang="zh-CN" sz="2800" dirty="0"/>
              <a:t>HAVING</a:t>
            </a:r>
            <a:r>
              <a:rPr lang="zh-CN" altLang="en-US" sz="2800" dirty="0"/>
              <a:t>子句中的条件</a:t>
            </a:r>
            <a:endParaRPr lang="zh-CN" altLang="en-US" sz="2800" dirty="0"/>
          </a:p>
          <a:p>
            <a:pPr lvl="1" eaLnBrk="1" hangingPunct="1"/>
            <a:r>
              <a:rPr lang="zh-CN" altLang="en-US" dirty="0"/>
              <a:t>输出主变量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 </a:t>
            </a:r>
            <a:r>
              <a:rPr lang="zh-CN" altLang="en-US" sz="2800" dirty="0"/>
              <a:t>获取</a:t>
            </a:r>
            <a:r>
              <a:rPr lang="en-US" altLang="zh-CN" sz="2800" dirty="0"/>
              <a:t>SQL</a:t>
            </a:r>
            <a:r>
              <a:rPr lang="zh-CN" altLang="en-US" sz="2800" dirty="0"/>
              <a:t>语句的结果数据</a:t>
            </a:r>
            <a:endParaRPr lang="zh-CN" altLang="en-US" sz="2800" dirty="0"/>
          </a:p>
          <a:p>
            <a:pPr lvl="2" eaLnBrk="1" hangingPunct="1"/>
            <a:r>
              <a:rPr lang="zh-CN" altLang="en-US" dirty="0"/>
              <a:t> </a:t>
            </a:r>
            <a:r>
              <a:rPr lang="zh-CN" altLang="en-US" sz="2800" dirty="0"/>
              <a:t>获取</a:t>
            </a:r>
            <a:r>
              <a:rPr lang="en-US" altLang="zh-CN" sz="2800" dirty="0"/>
              <a:t>SQL</a:t>
            </a:r>
            <a:r>
              <a:rPr lang="zh-CN" altLang="en-US" sz="2800" dirty="0"/>
              <a:t>语句的执行状态</a:t>
            </a:r>
            <a:endParaRPr lang="zh-CN" altLang="en-US" sz="2800" dirty="0"/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主变量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指示变量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一个主变量可以附带一个指示变量（</a:t>
            </a:r>
            <a:r>
              <a:rPr lang="en-US" altLang="zh-CN" dirty="0"/>
              <a:t>Indicator Variable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什么是指示变量</a:t>
            </a:r>
            <a:endParaRPr lang="zh-CN" altLang="en-US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800" dirty="0"/>
              <a:t>整型变量</a:t>
            </a:r>
            <a:endParaRPr lang="zh-CN" altLang="en-US" sz="28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800" dirty="0"/>
              <a:t>用来“指示”所指主变量的值或条件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指示变量的用途</a:t>
            </a:r>
            <a:endParaRPr lang="zh-CN" altLang="en-US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800" dirty="0"/>
              <a:t>输入主变量可以利用指示变量赋空值</a:t>
            </a:r>
            <a:endParaRPr lang="zh-CN" altLang="en-US" sz="28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800" dirty="0"/>
              <a:t>输出主变量可以利用指示变量检测出是否空值，值是否被截断等</a:t>
            </a:r>
            <a:endParaRPr lang="zh-CN" altLang="en-US" sz="2800" dirty="0"/>
          </a:p>
        </p:txBody>
      </p:sp>
      <p:sp>
        <p:nvSpPr>
          <p:cNvPr id="36868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主变量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主变量和指示变量的说明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endParaRPr lang="zh-CN" altLang="en-US" sz="3600" dirty="0">
              <a:solidFill>
                <a:schemeClr val="tx1"/>
              </a:solidFill>
            </a:endParaRPr>
          </a:p>
          <a:p>
            <a:pPr lvl="2" eaLnBrk="1" hangingPunct="1">
              <a:buNone/>
            </a:pPr>
            <a:r>
              <a:rPr lang="en-US" altLang="zh-CN" sz="2800" dirty="0"/>
              <a:t>BEGIN   DECLARE   SECTION</a:t>
            </a:r>
            <a:endParaRPr lang="en-US" altLang="zh-CN" sz="2800" dirty="0"/>
          </a:p>
          <a:p>
            <a:pPr lvl="2" eaLnBrk="1" hangingPunct="1">
              <a:buNone/>
            </a:pPr>
            <a:r>
              <a:rPr lang="en-US" altLang="zh-CN" sz="2800" dirty="0"/>
              <a:t>	......... </a:t>
            </a:r>
            <a:endParaRPr lang="en-US" altLang="zh-CN" sz="2800" dirty="0"/>
          </a:p>
          <a:p>
            <a:pPr lvl="2" eaLnBrk="1" hangingPunct="1">
              <a:buNone/>
            </a:pPr>
            <a:r>
              <a:rPr lang="en-US" altLang="zh-CN" sz="2800" dirty="0"/>
              <a:t>	.........     (</a:t>
            </a:r>
            <a:r>
              <a:rPr lang="zh-CN" altLang="en-US" sz="2800" dirty="0"/>
              <a:t>说明主变量和指示变量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2" eaLnBrk="1" hangingPunct="1">
              <a:buNone/>
            </a:pPr>
            <a:r>
              <a:rPr lang="en-US" altLang="zh-CN" sz="2800" dirty="0"/>
              <a:t>	.........</a:t>
            </a:r>
            <a:endParaRPr lang="en-US" altLang="zh-CN" sz="2800" dirty="0"/>
          </a:p>
          <a:p>
            <a:pPr lvl="2" eaLnBrk="1" hangingPunct="1">
              <a:buNone/>
            </a:pPr>
            <a:r>
              <a:rPr lang="en-US" altLang="zh-CN" sz="2800" dirty="0"/>
              <a:t>END   DECLARE SECTION</a:t>
            </a:r>
            <a:endParaRPr lang="en-US" altLang="zh-CN" sz="2800" dirty="0"/>
          </a:p>
          <a:p>
            <a:pPr lvl="2" eaLnBrk="1" hangingPunct="1"/>
            <a:endParaRPr lang="en-US" altLang="zh-CN" sz="2800" dirty="0"/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主变量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使用主变量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3200" dirty="0"/>
              <a:t>说明之后的主变量可以在</a:t>
            </a:r>
            <a:r>
              <a:rPr lang="en-US" altLang="zh-CN" sz="3200" dirty="0"/>
              <a:t>SQL</a:t>
            </a:r>
            <a:r>
              <a:rPr lang="zh-CN" altLang="en-US" sz="3200" dirty="0"/>
              <a:t>语句中任何一个能够使用表达式的地方出现</a:t>
            </a:r>
            <a:endParaRPr lang="zh-CN" altLang="en-US" sz="3200" dirty="0"/>
          </a:p>
          <a:p>
            <a:pPr lvl="1" eaLnBrk="1" hangingPunct="1"/>
            <a:r>
              <a:rPr lang="zh-CN" altLang="en-US" sz="3200" dirty="0"/>
              <a:t>为了与数据库对象名（表名、视图名、列名等）区别，</a:t>
            </a:r>
            <a:r>
              <a:rPr lang="en-US" altLang="zh-CN" sz="3200" dirty="0"/>
              <a:t>SQL</a:t>
            </a:r>
            <a:r>
              <a:rPr lang="zh-CN" altLang="en-US" sz="3200" dirty="0"/>
              <a:t>语句中的主变量名前要加冒号（</a:t>
            </a:r>
            <a:r>
              <a:rPr lang="en-US" altLang="zh-CN" sz="3200" dirty="0"/>
              <a:t>:</a:t>
            </a:r>
            <a:r>
              <a:rPr lang="zh-CN" altLang="en-US" sz="3200" dirty="0"/>
              <a:t>）作为标志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zh-CN" altLang="en-US" sz="3200" dirty="0"/>
              <a:t>   </a:t>
            </a:r>
            <a:r>
              <a:rPr lang="en-US" altLang="zh-CN" sz="3200" dirty="0"/>
              <a:t>… where sex =</a:t>
            </a:r>
            <a:r>
              <a:rPr lang="en-US" altLang="zh-CN" sz="3200" dirty="0">
                <a:solidFill>
                  <a:srgbClr val="FF0000"/>
                </a:solidFill>
              </a:rPr>
              <a:t> id </a:t>
            </a:r>
            <a:r>
              <a:rPr lang="en-US" altLang="zh-CN" sz="3200" dirty="0"/>
              <a:t> (id</a:t>
            </a:r>
            <a:r>
              <a:rPr lang="zh-CN" altLang="en-US" sz="3200" dirty="0"/>
              <a:t>指表的列名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>
              <a:buNone/>
            </a:pPr>
            <a:r>
              <a:rPr lang="en-US" altLang="zh-CN" sz="3200" dirty="0"/>
              <a:t>   … where sex = </a:t>
            </a:r>
            <a:r>
              <a:rPr lang="en-US" altLang="zh-CN" sz="3200" dirty="0">
                <a:solidFill>
                  <a:srgbClr val="FF0000"/>
                </a:solidFill>
              </a:rPr>
              <a:t>:id</a:t>
            </a:r>
            <a:r>
              <a:rPr lang="en-US" altLang="zh-CN" sz="3200" dirty="0"/>
              <a:t> (id</a:t>
            </a:r>
            <a:r>
              <a:rPr lang="zh-CN" altLang="en-US" sz="3200" dirty="0"/>
              <a:t>是主变量名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  <p:sp>
        <p:nvSpPr>
          <p:cNvPr id="38916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主变量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使用指示变量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3200" dirty="0"/>
              <a:t> 指示变量前也必须加冒号标志</a:t>
            </a:r>
            <a:endParaRPr lang="zh-CN" altLang="en-US" sz="3200" dirty="0"/>
          </a:p>
          <a:p>
            <a:pPr lvl="1" eaLnBrk="1" hangingPunct="1"/>
            <a:r>
              <a:rPr lang="zh-CN" altLang="en-US" sz="3200" dirty="0"/>
              <a:t> 必须紧跟在所指主变量之后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zh-CN" altLang="en-US" sz="3200" dirty="0">
                <a:latin typeface="Arial Unicode MS" pitchFamily="34" charset="-122"/>
              </a:rPr>
              <a:t> </a:t>
            </a:r>
            <a:r>
              <a:rPr lang="en-US" altLang="zh-CN" sz="3200" dirty="0"/>
              <a:t>EXEC SQL </a:t>
            </a:r>
            <a:endParaRPr lang="en-US" altLang="zh-CN" sz="3200" dirty="0"/>
          </a:p>
          <a:p>
            <a:pPr lvl="1" eaLnBrk="1" hangingPunct="1">
              <a:buNone/>
            </a:pPr>
            <a:r>
              <a:rPr lang="en-US" altLang="zh-CN" sz="3200" dirty="0"/>
              <a:t>  SELECT  price  INTO  :price  :null_flag</a:t>
            </a:r>
            <a:endParaRPr lang="en-US" altLang="zh-CN" sz="3200" dirty="0"/>
          </a:p>
          <a:p>
            <a:pPr lvl="1" eaLnBrk="1" hangingPunct="1">
              <a:buNone/>
            </a:pPr>
            <a:r>
              <a:rPr lang="en-US" altLang="zh-CN" sz="3200" dirty="0"/>
              <a:t>  FROM titles</a:t>
            </a:r>
            <a:endParaRPr lang="en-US" altLang="zh-CN" sz="3200" dirty="0"/>
          </a:p>
          <a:p>
            <a:pPr lvl="1" eaLnBrk="1" hangingPunct="1">
              <a:buNone/>
            </a:pPr>
            <a:r>
              <a:rPr lang="en-US" altLang="zh-CN" sz="3200" dirty="0"/>
              <a:t>  WHERE au_id = "mc3026"</a:t>
            </a:r>
            <a:endParaRPr lang="en-US" altLang="zh-CN" sz="3200" dirty="0"/>
          </a:p>
          <a:p>
            <a:pPr lvl="1" eaLnBrk="1" hangingPunct="1">
              <a:buNone/>
            </a:pPr>
            <a:r>
              <a:rPr lang="zh-CN" altLang="en-US" sz="2400" i="1" dirty="0">
                <a:solidFill>
                  <a:srgbClr val="FF0000"/>
                </a:solidFill>
              </a:rPr>
              <a:t>注：如果</a:t>
            </a:r>
            <a:r>
              <a:rPr lang="en-US" altLang="zh-CN" sz="2400" i="1" dirty="0">
                <a:solidFill>
                  <a:srgbClr val="FF0000"/>
                </a:solidFill>
              </a:rPr>
              <a:t>null_flag</a:t>
            </a:r>
            <a:r>
              <a:rPr lang="zh-CN" altLang="en-US" sz="2400" i="1" dirty="0">
                <a:solidFill>
                  <a:srgbClr val="FF0000"/>
                </a:solidFill>
              </a:rPr>
              <a:t>取值为</a:t>
            </a:r>
            <a:r>
              <a:rPr lang="en-US" altLang="zh-CN" sz="2400" i="1" dirty="0">
                <a:solidFill>
                  <a:srgbClr val="FF0000"/>
                </a:solidFill>
              </a:rPr>
              <a:t>-1</a:t>
            </a:r>
            <a:r>
              <a:rPr lang="zh-CN" altLang="en-US" sz="2400" i="1" dirty="0">
                <a:solidFill>
                  <a:srgbClr val="FF0000"/>
                </a:solidFill>
              </a:rPr>
              <a:t>，表示原表该列为空。</a:t>
            </a:r>
            <a:endParaRPr lang="zh-CN" altLang="en-US" sz="2400" i="1" dirty="0">
              <a:solidFill>
                <a:srgbClr val="FF0000"/>
              </a:solidFill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主变量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语句之外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主语言语句中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使用主变量和指示变量的方法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3200" dirty="0"/>
              <a:t>可以直接引用，不必加冒号</a:t>
            </a:r>
            <a:endParaRPr lang="zh-CN" altLang="en-US" sz="3200" dirty="0"/>
          </a:p>
        </p:txBody>
      </p:sp>
      <p:sp>
        <p:nvSpPr>
          <p:cNvPr id="40964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3.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游标</a:t>
            </a:r>
            <a:r>
              <a:rPr lang="en-US" altLang="zh-CN" dirty="0">
                <a:solidFill>
                  <a:srgbClr val="FF0000"/>
                </a:solidFill>
              </a:rPr>
              <a:t>(Cursor)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chemeClr val="accent2"/>
                </a:solidFill>
              </a:rPr>
              <a:t>为什么要使用游标</a:t>
            </a:r>
            <a:r>
              <a:rPr lang="en-US" altLang="zh-CN" sz="2800" dirty="0">
                <a:solidFill>
                  <a:schemeClr val="accent2"/>
                </a:solidFill>
              </a:rPr>
              <a:t>?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语言是面向集合的，一条</a:t>
            </a: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语句原则上可以产生或处理多条记录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主语言是面向记录的，一组主变量一次只能存放一条记录</a:t>
            </a:r>
            <a:endParaRPr lang="zh-CN" altLang="en-US" sz="28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2800" dirty="0">
                <a:solidFill>
                  <a:schemeClr val="tx1"/>
                </a:solidFill>
              </a:rPr>
              <a:t>仅使用主变量并不能完全满足</a:t>
            </a: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语句向应用程序输出数据的要求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嵌入式</a:t>
            </a:r>
            <a:r>
              <a:rPr lang="en-US" altLang="zh-CN" sz="2800" dirty="0">
                <a:solidFill>
                  <a:schemeClr val="tx1"/>
                </a:solidFill>
              </a:rPr>
              <a:t>SQL</a:t>
            </a:r>
            <a:r>
              <a:rPr lang="zh-CN" altLang="en-US" sz="2800" dirty="0">
                <a:solidFill>
                  <a:schemeClr val="tx1"/>
                </a:solidFill>
              </a:rPr>
              <a:t>引入了游标的概念，用来协调这两种不同的处理方式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游标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续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什么是游标</a:t>
            </a:r>
            <a:endParaRPr lang="zh-CN" altLang="en-US" sz="3600" dirty="0"/>
          </a:p>
          <a:p>
            <a:pPr lvl="1" eaLnBrk="1" hangingPunct="1">
              <a:spcAft>
                <a:spcPct val="25000"/>
              </a:spcAft>
            </a:pPr>
            <a:r>
              <a:rPr lang="zh-CN" altLang="en-US" dirty="0"/>
              <a:t>游标是系统为用户开设的一个数据缓冲区，存放</a:t>
            </a:r>
            <a:r>
              <a:rPr lang="en-US" altLang="zh-CN" dirty="0"/>
              <a:t>SQL</a:t>
            </a:r>
            <a:r>
              <a:rPr lang="zh-CN" altLang="en-US" dirty="0"/>
              <a:t>语句的执行结果</a:t>
            </a:r>
            <a:endParaRPr lang="zh-CN" altLang="en-US" dirty="0"/>
          </a:p>
          <a:p>
            <a:pPr lvl="1" eaLnBrk="1" hangingPunct="1">
              <a:spcAft>
                <a:spcPct val="25000"/>
              </a:spcAft>
            </a:pPr>
            <a:r>
              <a:rPr lang="zh-CN" altLang="en-US" dirty="0"/>
              <a:t>每个游标区都有一个名字</a:t>
            </a:r>
            <a:endParaRPr lang="zh-CN" altLang="en-US" dirty="0"/>
          </a:p>
          <a:p>
            <a:pPr lvl="1" eaLnBrk="1" hangingPunct="1">
              <a:spcAft>
                <a:spcPct val="25000"/>
              </a:spcAft>
            </a:pPr>
            <a:r>
              <a:rPr lang="zh-CN" altLang="en-US" dirty="0"/>
              <a:t>用户可以用</a:t>
            </a:r>
            <a:r>
              <a:rPr lang="en-US" altLang="zh-CN" dirty="0"/>
              <a:t>SQL</a:t>
            </a:r>
            <a:r>
              <a:rPr lang="zh-CN" altLang="en-US" dirty="0"/>
              <a:t>语句逐一从游标中获取记录，并赋给主变量，交由主语言进一步处理</a:t>
            </a:r>
            <a:endParaRPr lang="zh-CN" altLang="en-US" dirty="0"/>
          </a:p>
          <a:p>
            <a:pPr lvl="1" eaLnBrk="1" hangingPunct="1">
              <a:spcAft>
                <a:spcPct val="25000"/>
              </a:spcAft>
            </a:pPr>
            <a:endParaRPr lang="zh-CN" altLang="en-US" dirty="0"/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76962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游标应用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i="1" dirty="0">
                <a:solidFill>
                  <a:srgbClr val="FF0000"/>
                </a:solidFill>
              </a:rPr>
              <a:t>类</a:t>
            </a:r>
            <a:r>
              <a:rPr lang="en-US" altLang="zh-CN" sz="3600" i="1" dirty="0">
                <a:solidFill>
                  <a:srgbClr val="FF0000"/>
                </a:solidFill>
              </a:rPr>
              <a:t>Pascal</a:t>
            </a:r>
            <a:r>
              <a:rPr lang="zh-CN" altLang="en-US" sz="3600" i="1" dirty="0">
                <a:solidFill>
                  <a:srgbClr val="FF0000"/>
                </a:solidFill>
              </a:rPr>
              <a:t>语法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DECLARE</a:t>
            </a:r>
            <a:r>
              <a:rPr lang="en-US" altLang="zh-CN" sz="2400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</a:rPr>
              <a:t>游标名   </a:t>
            </a:r>
            <a:r>
              <a:rPr lang="en-US" altLang="zh-CN" sz="2400" dirty="0">
                <a:solidFill>
                  <a:schemeClr val="tx1"/>
                </a:solidFill>
              </a:rPr>
              <a:t>CURSOR   FOR   Select  </a:t>
            </a:r>
            <a:r>
              <a:rPr lang="zh-CN" altLang="en-US" sz="2400" dirty="0">
                <a:solidFill>
                  <a:schemeClr val="tx1"/>
                </a:solidFill>
              </a:rPr>
              <a:t>语句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OPEN</a:t>
            </a:r>
            <a:r>
              <a:rPr lang="en-US" altLang="zh-CN" sz="2400" dirty="0">
                <a:solidFill>
                  <a:schemeClr val="tx1"/>
                </a:solidFill>
              </a:rPr>
              <a:t>  </a:t>
            </a:r>
            <a:r>
              <a:rPr lang="zh-CN" altLang="en-US" sz="2400" dirty="0">
                <a:solidFill>
                  <a:schemeClr val="tx1"/>
                </a:solidFill>
              </a:rPr>
              <a:t>游标名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FETCH</a:t>
            </a:r>
            <a:r>
              <a:rPr lang="en-US" altLang="zh-CN" sz="2400" dirty="0">
                <a:solidFill>
                  <a:schemeClr val="tx1"/>
                </a:solidFill>
              </a:rPr>
              <a:t>  </a:t>
            </a:r>
            <a:r>
              <a:rPr lang="zh-CN" altLang="en-US" sz="2400" dirty="0">
                <a:solidFill>
                  <a:schemeClr val="tx1"/>
                </a:solidFill>
              </a:rPr>
              <a:t>游标名  </a:t>
            </a:r>
            <a:r>
              <a:rPr lang="en-US" altLang="zh-CN" sz="2400" dirty="0">
                <a:solidFill>
                  <a:schemeClr val="tx1"/>
                </a:solidFill>
              </a:rPr>
              <a:t>into </a:t>
            </a:r>
            <a:r>
              <a:rPr lang="zh-CN" altLang="en-US" sz="2400" dirty="0">
                <a:solidFill>
                  <a:schemeClr val="tx1"/>
                </a:solidFill>
              </a:rPr>
              <a:t>变量列表 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While   SQLCA.sqlcode = 0  do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BEGIN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&lt;</a:t>
            </a:r>
            <a:r>
              <a:rPr lang="zh-CN" altLang="en-US" sz="2400" dirty="0">
                <a:solidFill>
                  <a:schemeClr val="tx1"/>
                </a:solidFill>
              </a:rPr>
              <a:t>语句组</a:t>
            </a:r>
            <a:r>
              <a:rPr lang="en-US" altLang="zh-CN" sz="2400" dirty="0">
                <a:solidFill>
                  <a:schemeClr val="tx1"/>
                </a:solidFill>
              </a:rPr>
              <a:t>&gt;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FETCH  </a:t>
            </a:r>
            <a:r>
              <a:rPr lang="zh-CN" altLang="en-US" sz="2400" dirty="0">
                <a:solidFill>
                  <a:schemeClr val="tx1"/>
                </a:solidFill>
              </a:rPr>
              <a:t>游标名  </a:t>
            </a:r>
            <a:r>
              <a:rPr lang="en-US" altLang="zh-CN" sz="2400" dirty="0">
                <a:solidFill>
                  <a:schemeClr val="tx1"/>
                </a:solidFill>
              </a:rPr>
              <a:t>into </a:t>
            </a:r>
            <a:r>
              <a:rPr lang="zh-CN" altLang="en-US" sz="2400" dirty="0">
                <a:solidFill>
                  <a:schemeClr val="tx1"/>
                </a:solidFill>
              </a:rPr>
              <a:t>变量列表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END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CLOSE </a:t>
            </a:r>
            <a:r>
              <a:rPr lang="en-US" altLang="zh-CN" sz="2400" dirty="0">
                <a:solidFill>
                  <a:schemeClr val="tx1"/>
                </a:solidFill>
              </a:rPr>
              <a:t>  </a:t>
            </a:r>
            <a:r>
              <a:rPr lang="zh-CN" altLang="en-US" sz="2400" dirty="0">
                <a:solidFill>
                  <a:schemeClr val="tx1"/>
                </a:solidFill>
              </a:rPr>
              <a:t>游标名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90] </a:t>
            </a:r>
            <a:r>
              <a:rPr lang="zh-CN" altLang="en-US" sz="2800" dirty="0">
                <a:solidFill>
                  <a:schemeClr val="tx1"/>
                </a:solidFill>
              </a:rPr>
              <a:t>用</a:t>
            </a:r>
            <a:r>
              <a:rPr lang="en-US" altLang="zh-CN" sz="2800" dirty="0">
                <a:solidFill>
                  <a:schemeClr val="tx1"/>
                </a:solidFill>
              </a:rPr>
              <a:t>ESQLC</a:t>
            </a:r>
            <a:r>
              <a:rPr lang="zh-CN" altLang="en-US" sz="2800" dirty="0">
                <a:solidFill>
                  <a:schemeClr val="tx1"/>
                </a:solidFill>
              </a:rPr>
              <a:t>语言编程打印</a:t>
            </a:r>
            <a:r>
              <a:rPr lang="en-US" altLang="zh-CN" sz="2800" dirty="0">
                <a:solidFill>
                  <a:schemeClr val="tx1"/>
                </a:solidFill>
              </a:rPr>
              <a:t>SC</a:t>
            </a:r>
            <a:r>
              <a:rPr lang="zh-CN" altLang="en-US" sz="2800" dirty="0">
                <a:solidFill>
                  <a:schemeClr val="tx1"/>
                </a:solidFill>
              </a:rPr>
              <a:t>表的内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容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学号，课程号，得分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EXEC SQL  INCLUDE SQLCA;           </a:t>
            </a:r>
            <a:r>
              <a:rPr lang="en-US" altLang="zh-CN" sz="2800" dirty="0">
                <a:solidFill>
                  <a:srgbClr val="FF0000"/>
                </a:solidFill>
              </a:rPr>
              <a:t>//</a:t>
            </a:r>
            <a:r>
              <a:rPr lang="zh-CN" altLang="en-US" sz="2800" dirty="0">
                <a:solidFill>
                  <a:srgbClr val="FF0000"/>
                </a:solidFill>
              </a:rPr>
              <a:t>定义通信区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EXEC SQL BEGIN DECLARE SECTION;    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char   sno(5);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char  cno(3);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int      grade;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EXEC SQL END  DECLARE SECTION; </a:t>
            </a:r>
            <a:r>
              <a:rPr lang="en-US" altLang="zh-CN" sz="2800" dirty="0">
                <a:solidFill>
                  <a:srgbClr val="FF0000"/>
                </a:solidFill>
              </a:rPr>
              <a:t>//</a:t>
            </a:r>
            <a:r>
              <a:rPr lang="zh-CN" altLang="en-US" sz="2800" dirty="0">
                <a:solidFill>
                  <a:srgbClr val="FF0000"/>
                </a:solidFill>
              </a:rPr>
              <a:t>变量说明区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5943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main()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 EXEC SQL DECLARE  C1  CURSOR  FOR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SELECT  sno, cno, grade  FROM sc;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定义游标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</a:rPr>
              <a:t>EXEC  SQL OPEN  C1;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打开游标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</a:rPr>
              <a:t>EXEC  SQL FETCH   C1  INTO  :sno, :cno, :grade;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初始化指针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</a:rPr>
              <a:t>while  (SQLCA.SQLCODE = = SUCCESS)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{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printf(“sno:%s, cno:%s, Grade:%d”, sno,cno,grade);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打印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</a:t>
            </a:r>
            <a:r>
              <a:rPr lang="en-US" altLang="zh-CN" sz="2400" dirty="0">
                <a:solidFill>
                  <a:schemeClr val="tx1"/>
                </a:solidFill>
              </a:rPr>
              <a:t>EXEC SQL FETCH  C1  INTO  :sno, :cno, :grade;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推进指针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</a:t>
            </a:r>
            <a:r>
              <a:rPr lang="en-US" altLang="zh-CN" sz="2400" dirty="0">
                <a:solidFill>
                  <a:schemeClr val="tx1"/>
                </a:solidFill>
              </a:rPr>
              <a:t>}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CLOSE  C1;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关闭游标</a:t>
            </a:r>
            <a:r>
              <a:rPr lang="en-US" altLang="zh-CN" sz="2400" dirty="0">
                <a:solidFill>
                  <a:schemeClr val="tx1"/>
                </a:solidFill>
              </a:rPr>
              <a:t>}     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91] PowerBuilder</a:t>
            </a:r>
            <a:r>
              <a:rPr lang="zh-CN" altLang="en-US" dirty="0">
                <a:solidFill>
                  <a:schemeClr val="tx1"/>
                </a:solidFill>
              </a:rPr>
              <a:t>嵌入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语句例子。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  <p:pic>
        <p:nvPicPr>
          <p:cNvPr id="4710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981200"/>
            <a:ext cx="3924300" cy="31432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7110" name="Text Box 5"/>
          <p:cNvSpPr txBox="1"/>
          <p:nvPr/>
        </p:nvSpPr>
        <p:spPr>
          <a:xfrm>
            <a:off x="4419600" y="1752600"/>
            <a:ext cx="4343400" cy="37433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以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Student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表为例，输入学号，查对应的姓名；或输入学号前几位，列出所有符合条件的学号和姓名。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只有一个结果的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Select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语句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用主变量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取得一批数据的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select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语句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用游标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7111" name="AutoShape 6"/>
          <p:cNvSpPr/>
          <p:nvPr/>
        </p:nvSpPr>
        <p:spPr>
          <a:xfrm>
            <a:off x="1295400" y="1600200"/>
            <a:ext cx="1600200" cy="609600"/>
          </a:xfrm>
          <a:prstGeom prst="wedgeEllipseCallout">
            <a:avLst>
              <a:gd name="adj1" fmla="val -65278"/>
              <a:gd name="adj2" fmla="val 115625"/>
            </a:avLst>
          </a:prstGeom>
          <a:solidFill>
            <a:srgbClr val="00FF00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 Narrow" panose="020B0606020202030204" pitchFamily="34" charset="0"/>
                <a:ea typeface="经典综艺体简" pitchFamily="49" charset="-122"/>
              </a:rPr>
              <a:t>Sle_sno</a:t>
            </a:r>
            <a:endParaRPr lang="en-US" altLang="zh-CN" sz="2000" dirty="0">
              <a:solidFill>
                <a:schemeClr val="tx1"/>
              </a:solidFill>
              <a:latin typeface="Arial Narrow" panose="020B0606020202030204" pitchFamily="34" charset="0"/>
              <a:ea typeface="经典综艺体简" pitchFamily="49" charset="-122"/>
            </a:endParaRPr>
          </a:p>
        </p:txBody>
      </p:sp>
      <p:sp>
        <p:nvSpPr>
          <p:cNvPr id="47112" name="AutoShape 7"/>
          <p:cNvSpPr/>
          <p:nvPr/>
        </p:nvSpPr>
        <p:spPr>
          <a:xfrm>
            <a:off x="152400" y="4800600"/>
            <a:ext cx="2474913" cy="609600"/>
          </a:xfrm>
          <a:prstGeom prst="wedgeEllipseCallout">
            <a:avLst>
              <a:gd name="adj1" fmla="val -28514"/>
              <a:gd name="adj2" fmla="val -241926"/>
            </a:avLst>
          </a:prstGeom>
          <a:solidFill>
            <a:srgbClr val="00FF00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 Narrow" panose="020B0606020202030204" pitchFamily="34" charset="0"/>
                <a:ea typeface="经典综艺体简" pitchFamily="49" charset="-122"/>
              </a:rPr>
              <a:t>Sle_pro_sno</a:t>
            </a:r>
            <a:endParaRPr lang="en-US" altLang="zh-CN" sz="2000" dirty="0">
              <a:solidFill>
                <a:schemeClr val="tx1"/>
              </a:solidFill>
              <a:latin typeface="Arial Narrow" panose="020B0606020202030204" pitchFamily="34" charset="0"/>
              <a:ea typeface="经典综艺体简" pitchFamily="49" charset="-122"/>
            </a:endParaRPr>
          </a:p>
        </p:txBody>
      </p:sp>
      <p:sp>
        <p:nvSpPr>
          <p:cNvPr id="47113" name="AutoShape 8"/>
          <p:cNvSpPr/>
          <p:nvPr/>
        </p:nvSpPr>
        <p:spPr>
          <a:xfrm>
            <a:off x="2971800" y="1524000"/>
            <a:ext cx="1887538" cy="609600"/>
          </a:xfrm>
          <a:prstGeom prst="wedgeEllipseCallout">
            <a:avLst>
              <a:gd name="adj1" fmla="val -62954"/>
              <a:gd name="adj2" fmla="val 115625"/>
            </a:avLst>
          </a:prstGeom>
          <a:solidFill>
            <a:srgbClr val="00FF00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 Narrow" panose="020B0606020202030204" pitchFamily="34" charset="0"/>
                <a:ea typeface="经典综艺体简" pitchFamily="49" charset="-122"/>
              </a:rPr>
              <a:t>Sle_name</a:t>
            </a:r>
            <a:endParaRPr lang="en-US" altLang="zh-CN" sz="2000" dirty="0">
              <a:solidFill>
                <a:schemeClr val="tx1"/>
              </a:solidFill>
              <a:latin typeface="Arial Narrow" panose="020B0606020202030204" pitchFamily="34" charset="0"/>
              <a:ea typeface="经典综艺体简" pitchFamily="49" charset="-122"/>
            </a:endParaRPr>
          </a:p>
        </p:txBody>
      </p:sp>
      <p:sp>
        <p:nvSpPr>
          <p:cNvPr id="47114" name="AutoShape 9"/>
          <p:cNvSpPr/>
          <p:nvPr/>
        </p:nvSpPr>
        <p:spPr>
          <a:xfrm>
            <a:off x="2700338" y="5084763"/>
            <a:ext cx="1943100" cy="609600"/>
          </a:xfrm>
          <a:prstGeom prst="wedgeEllipseCallout">
            <a:avLst>
              <a:gd name="adj1" fmla="val -30394"/>
              <a:gd name="adj2" fmla="val -135157"/>
            </a:avLst>
          </a:prstGeom>
          <a:solidFill>
            <a:srgbClr val="00FF00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 Narrow" panose="020B0606020202030204" pitchFamily="34" charset="0"/>
                <a:ea typeface="经典综艺体简" pitchFamily="49" charset="-122"/>
              </a:rPr>
              <a:t>Lb_name</a:t>
            </a:r>
            <a:endParaRPr lang="en-US" altLang="zh-CN" sz="2000" dirty="0">
              <a:solidFill>
                <a:schemeClr val="tx1"/>
              </a:solidFill>
              <a:latin typeface="Arial Narrow" panose="020B0606020202030204" pitchFamily="34" charset="0"/>
              <a:ea typeface="经典综艺体简" pitchFamily="49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7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第一个查询按钮的</a:t>
            </a:r>
            <a:r>
              <a:rPr lang="en-US" altLang="zh-CN" sz="2400" dirty="0">
                <a:solidFill>
                  <a:schemeClr val="tx1"/>
                </a:solidFill>
              </a:rPr>
              <a:t>Click</a:t>
            </a:r>
            <a:r>
              <a:rPr lang="zh-CN" altLang="en-US" sz="2400" dirty="0">
                <a:solidFill>
                  <a:schemeClr val="tx1"/>
                </a:solidFill>
              </a:rPr>
              <a:t>事件代码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string  ls_sname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string  ls_sno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ls_sno = sle_sno.text   </a:t>
            </a:r>
            <a:r>
              <a:rPr lang="en-US" altLang="zh-CN" sz="2400" dirty="0">
                <a:solidFill>
                  <a:srgbClr val="FF0000"/>
                </a:solidFill>
              </a:rPr>
              <a:t>// </a:t>
            </a:r>
            <a:r>
              <a:rPr lang="zh-CN" altLang="en-US" sz="2400" dirty="0">
                <a:solidFill>
                  <a:srgbClr val="FF0000"/>
                </a:solidFill>
              </a:rPr>
              <a:t>取输入的那个学号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select sname into </a:t>
            </a:r>
            <a:r>
              <a:rPr lang="en-US" altLang="zh-CN" sz="2400" dirty="0">
                <a:solidFill>
                  <a:srgbClr val="FF0000"/>
                </a:solidFill>
              </a:rPr>
              <a:t>:ls_sname</a:t>
            </a:r>
            <a:r>
              <a:rPr lang="en-US" altLang="zh-CN" sz="2400" dirty="0">
                <a:solidFill>
                  <a:schemeClr val="accent2"/>
                </a:solidFill>
              </a:rPr>
              <a:t>  from student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where sno = </a:t>
            </a:r>
            <a:r>
              <a:rPr lang="en-US" altLang="zh-CN" sz="2400" dirty="0">
                <a:solidFill>
                  <a:srgbClr val="FF0000"/>
                </a:solidFill>
              </a:rPr>
              <a:t>:ls_sno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using SQLCA;         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执行查询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IF SQLCA.SQLCode = -1 THEN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MessageBox("SQL error", SQLCA.SQLErrText)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END IF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sle_name.text = ls_sname   </a:t>
            </a:r>
            <a:r>
              <a:rPr lang="en-US" altLang="zh-CN" sz="2400" dirty="0">
                <a:solidFill>
                  <a:srgbClr val="FF0000"/>
                </a:solidFill>
              </a:rPr>
              <a:t>// </a:t>
            </a:r>
            <a:r>
              <a:rPr lang="zh-CN" altLang="en-US" sz="2400" dirty="0">
                <a:solidFill>
                  <a:srgbClr val="FF0000"/>
                </a:solidFill>
              </a:rPr>
              <a:t>显示查询到的姓名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7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第二个查询按钮的</a:t>
            </a:r>
            <a:r>
              <a:rPr lang="en-US" altLang="zh-CN" sz="2400" dirty="0">
                <a:solidFill>
                  <a:schemeClr val="tx1"/>
                </a:solidFill>
              </a:rPr>
              <a:t>Click</a:t>
            </a:r>
            <a:r>
              <a:rPr lang="zh-CN" altLang="en-US" sz="2400" dirty="0">
                <a:solidFill>
                  <a:schemeClr val="tx1"/>
                </a:solidFill>
              </a:rPr>
              <a:t>事件代码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string ls_sname, ls_sno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string ls_condition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ls_condition = sle_pro_sno.text + "%"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declare student_cur CURSOR FOR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select   sno,sname   from student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where sno like </a:t>
            </a:r>
            <a:r>
              <a:rPr lang="en-US" altLang="zh-CN" sz="2400" dirty="0">
                <a:solidFill>
                  <a:srgbClr val="FF0000"/>
                </a:solidFill>
              </a:rPr>
              <a:t>:ls_condition</a:t>
            </a:r>
            <a:r>
              <a:rPr lang="en-US" altLang="zh-CN" sz="2400" dirty="0">
                <a:solidFill>
                  <a:schemeClr val="tx1"/>
                </a:solidFill>
              </a:rPr>
              <a:t>;   </a:t>
            </a:r>
            <a:r>
              <a:rPr lang="en-US" altLang="zh-CN" sz="2400" dirty="0">
                <a:solidFill>
                  <a:srgbClr val="FF0000"/>
                </a:solidFill>
              </a:rPr>
              <a:t>// </a:t>
            </a:r>
            <a:r>
              <a:rPr lang="zh-CN" altLang="en-US" sz="2400" dirty="0">
                <a:solidFill>
                  <a:srgbClr val="FF0000"/>
                </a:solidFill>
              </a:rPr>
              <a:t>定义查询游标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open student_cur;                   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打开游标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fetch student_cur into  :ls_sno, :ls_sname;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取一组数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>
                <a:solidFill>
                  <a:srgbClr val="FF0000"/>
                </a:solidFill>
              </a:rPr>
              <a:t>推进指针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do while SQLCA.sqlcode = 0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lb_name.additem(ls_sno + “:” + ls_sname)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往</a:t>
            </a:r>
            <a:r>
              <a:rPr lang="en-US" altLang="zh-CN" sz="2400" dirty="0">
                <a:solidFill>
                  <a:srgbClr val="FF0000"/>
                </a:solidFill>
              </a:rPr>
              <a:t>listbox</a:t>
            </a:r>
            <a:r>
              <a:rPr lang="zh-CN" altLang="en-US" sz="2400" dirty="0">
                <a:solidFill>
                  <a:srgbClr val="FF0000"/>
                </a:solidFill>
              </a:rPr>
              <a:t>里加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</a:t>
            </a:r>
            <a:r>
              <a:rPr lang="en-US" altLang="zh-CN" sz="2400" dirty="0">
                <a:solidFill>
                  <a:schemeClr val="tx1"/>
                </a:solidFill>
              </a:rPr>
              <a:t>fetch student_cur into :ls_sno, :ls_sname; 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取下一组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loop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close student_cur;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关闭游标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xfrm>
            <a:off x="8001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3.7.2  ESQL</a:t>
            </a:r>
            <a:r>
              <a:rPr lang="zh-CN" altLang="en-US" u="sng" dirty="0"/>
              <a:t>与主语言的通信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idx="1"/>
          </p:nvPr>
        </p:nvSpPr>
        <p:spPr>
          <a:xfrm>
            <a:off x="762000" y="1447800"/>
            <a:ext cx="80010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3.7.1  </a:t>
            </a:r>
            <a:r>
              <a:rPr lang="zh-CN" altLang="en-US" dirty="0">
                <a:solidFill>
                  <a:schemeClr val="tx1"/>
                </a:solidFill>
              </a:rPr>
              <a:t>嵌入式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的一般形式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3.7.2  </a:t>
            </a:r>
            <a:r>
              <a:rPr lang="zh-CN" altLang="en-US" dirty="0">
                <a:solidFill>
                  <a:schemeClr val="tx1"/>
                </a:solidFill>
              </a:rPr>
              <a:t>嵌入式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语句与主语言之间的通信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bg2"/>
                </a:solidFill>
              </a:rPr>
              <a:t>3.7.3  </a:t>
            </a:r>
            <a:r>
              <a:rPr lang="zh-CN" altLang="en-US" dirty="0">
                <a:solidFill>
                  <a:schemeClr val="bg2"/>
                </a:solidFill>
              </a:rPr>
              <a:t>不用游标的</a:t>
            </a:r>
            <a:r>
              <a:rPr lang="en-US" altLang="zh-CN" dirty="0">
                <a:solidFill>
                  <a:schemeClr val="bg2"/>
                </a:solidFill>
              </a:rPr>
              <a:t>SQL</a:t>
            </a:r>
            <a:r>
              <a:rPr lang="zh-CN" altLang="en-US" dirty="0">
                <a:solidFill>
                  <a:schemeClr val="bg2"/>
                </a:solidFill>
              </a:rPr>
              <a:t>语句</a:t>
            </a:r>
            <a:endParaRPr lang="zh-CN" altLang="en-US" dirty="0">
              <a:solidFill>
                <a:schemeClr val="bg2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bg2"/>
                </a:solidFill>
              </a:rPr>
              <a:t>3.7.4  </a:t>
            </a:r>
            <a:r>
              <a:rPr lang="zh-CN" altLang="en-US" dirty="0">
                <a:solidFill>
                  <a:schemeClr val="bg2"/>
                </a:solidFill>
              </a:rPr>
              <a:t>使用游标的</a:t>
            </a:r>
            <a:r>
              <a:rPr lang="en-US" altLang="zh-CN" dirty="0">
                <a:solidFill>
                  <a:schemeClr val="bg2"/>
                </a:solidFill>
              </a:rPr>
              <a:t>SQL</a:t>
            </a:r>
            <a:r>
              <a:rPr lang="zh-CN" altLang="en-US" dirty="0">
                <a:solidFill>
                  <a:schemeClr val="bg2"/>
                </a:solidFill>
              </a:rPr>
              <a:t>语句</a:t>
            </a:r>
            <a:endParaRPr lang="zh-CN" altLang="en-US" dirty="0">
              <a:solidFill>
                <a:schemeClr val="bg2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bg2"/>
                </a:solidFill>
              </a:rPr>
              <a:t>3.7.5  </a:t>
            </a:r>
            <a:r>
              <a:rPr lang="zh-CN" altLang="en-US" dirty="0">
                <a:solidFill>
                  <a:schemeClr val="bg2"/>
                </a:solidFill>
              </a:rPr>
              <a:t>动态</a:t>
            </a:r>
            <a:r>
              <a:rPr lang="en-US" altLang="zh-CN" dirty="0">
                <a:solidFill>
                  <a:schemeClr val="bg2"/>
                </a:solidFill>
              </a:rPr>
              <a:t>SQL</a:t>
            </a:r>
            <a:r>
              <a:rPr lang="zh-CN" altLang="en-US" dirty="0">
                <a:solidFill>
                  <a:schemeClr val="bg2"/>
                </a:solidFill>
              </a:rPr>
              <a:t>简介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6106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dirty="0">
                <a:solidFill>
                  <a:schemeClr val="tx1"/>
                </a:solidFill>
              </a:rPr>
              <a:t>有关嵌入式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的更多应用例子，请参阅</a:t>
            </a:r>
            <a:r>
              <a:rPr lang="en-US" altLang="zh-CN" dirty="0">
                <a:solidFill>
                  <a:schemeClr val="tx1"/>
                </a:solidFill>
              </a:rPr>
              <a:t>PowerBuilder</a:t>
            </a:r>
            <a:r>
              <a:rPr lang="zh-CN" altLang="en-US" dirty="0">
                <a:solidFill>
                  <a:schemeClr val="tx1"/>
                </a:solidFill>
              </a:rPr>
              <a:t>的有关书籍，因为</a:t>
            </a:r>
            <a:r>
              <a:rPr lang="en-US" altLang="zh-CN" dirty="0">
                <a:solidFill>
                  <a:schemeClr val="tx1"/>
                </a:solidFill>
              </a:rPr>
              <a:t>PB</a:t>
            </a:r>
            <a:r>
              <a:rPr lang="zh-CN" altLang="en-US" dirty="0">
                <a:solidFill>
                  <a:schemeClr val="tx1"/>
                </a:solidFill>
              </a:rPr>
              <a:t>是使用嵌入式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较多的一种开发工具。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   或者参阅</a:t>
            </a:r>
            <a:r>
              <a:rPr lang="en-US" altLang="zh-CN" dirty="0">
                <a:solidFill>
                  <a:schemeClr val="tx1"/>
                </a:solidFill>
              </a:rPr>
              <a:t>Microsoft SQL Server</a:t>
            </a:r>
            <a:r>
              <a:rPr lang="zh-CN" altLang="en-US" dirty="0">
                <a:solidFill>
                  <a:schemeClr val="tx1"/>
                </a:solidFill>
              </a:rPr>
              <a:t>的联机手册和案例源码。</a:t>
            </a:r>
            <a:endParaRPr lang="en-US" altLang="zh-CN" dirty="0">
              <a:solidFill>
                <a:schemeClr val="accent2"/>
              </a:solidFill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610600" cy="44958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lang="en-US" altLang="zh-CN" dirty="0"/>
              <a:t>PL/SQL</a:t>
            </a:r>
            <a:r>
              <a:rPr lang="zh-CN" altLang="en-US" dirty="0"/>
              <a:t>块类型：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命名块：编译后保存在数据库中，可以被反复调用，运行速度较快。存储过程和函数是命名块  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匿名块：每次执行时都要进行编译，它不能被存储到数据库中，不能在其他的</a:t>
            </a:r>
            <a:r>
              <a:rPr lang="en-US" altLang="zh-CN" dirty="0"/>
              <a:t>PL/SQL</a:t>
            </a:r>
            <a:r>
              <a:rPr lang="zh-CN" altLang="en-US" dirty="0"/>
              <a:t>块中调用  </a:t>
            </a:r>
            <a:endParaRPr lang="zh-CN" altLang="en-US" dirty="0"/>
          </a:p>
        </p:txBody>
      </p:sp>
      <p:sp>
        <p:nvSpPr>
          <p:cNvPr id="5222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en-US" altLang="zh-CN" dirty="0"/>
              <a:t>3.7   </a:t>
            </a:r>
            <a:r>
              <a:rPr lang="zh-CN" altLang="en-US" dirty="0"/>
              <a:t>存储过程</a:t>
            </a:r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610600" cy="44958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</a:pPr>
            <a:r>
              <a:rPr lang="zh-CN" altLang="en-US" dirty="0"/>
              <a:t>存储过程：</a:t>
            </a:r>
            <a:r>
              <a:rPr lang="zh-CN" altLang="en-US" dirty="0">
                <a:solidFill>
                  <a:schemeClr val="tx1"/>
                </a:solidFill>
              </a:rPr>
              <a:t>由</a:t>
            </a:r>
            <a:r>
              <a:rPr lang="en-US" altLang="zh-CN" dirty="0">
                <a:solidFill>
                  <a:schemeClr val="tx1"/>
                </a:solidFill>
              </a:rPr>
              <a:t>PL/SQL</a:t>
            </a:r>
            <a:r>
              <a:rPr lang="zh-CN" altLang="en-US" dirty="0">
                <a:solidFill>
                  <a:schemeClr val="tx1"/>
                </a:solidFill>
              </a:rPr>
              <a:t>语句书写的过程，经编译和优化后存储在数据库服务器中，使用时只要调用即可。 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dirty="0"/>
              <a:t>一、存储过程的优点：</a:t>
            </a:r>
            <a:endParaRPr lang="zh-CN" altLang="en-US" dirty="0"/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运行效率高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降低了客户机和服务器之间的通信量	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方便实施企业规则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5325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存储过程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610600" cy="44958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</a:pPr>
            <a:r>
              <a:rPr lang="zh-CN" altLang="en-US" dirty="0"/>
              <a:t>二、存储过程的用户接口：</a:t>
            </a:r>
            <a:endParaRPr lang="zh-CN" altLang="en-US" dirty="0"/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创建存储过程： </a:t>
            </a:r>
            <a:r>
              <a:rPr lang="en-US" altLang="zh-CN" dirty="0">
                <a:solidFill>
                  <a:schemeClr val="tx1"/>
                </a:solidFill>
              </a:rPr>
              <a:t>CREATE Procedure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执行存储过程： </a:t>
            </a:r>
            <a:r>
              <a:rPr lang="en-US" altLang="zh-CN" dirty="0">
                <a:solidFill>
                  <a:schemeClr val="tx1"/>
                </a:solidFill>
              </a:rPr>
              <a:t>CALL  Procedure 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 删除存储过程：</a:t>
            </a:r>
            <a:r>
              <a:rPr lang="en-US" altLang="zh-CN" dirty="0">
                <a:solidFill>
                  <a:schemeClr val="tx1"/>
                </a:solidFill>
              </a:rPr>
              <a:t>DROP Procedure</a:t>
            </a:r>
            <a:endParaRPr lang="zh-CN" altLang="en-US" dirty="0"/>
          </a:p>
        </p:txBody>
      </p:sp>
      <p:sp>
        <p:nvSpPr>
          <p:cNvPr id="5427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存储过程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610600" cy="44958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dirty="0"/>
              <a:t>1. </a:t>
            </a:r>
            <a:r>
              <a:rPr lang="zh-CN" altLang="en-US" dirty="0"/>
              <a:t>创建存储过程：</a:t>
            </a:r>
            <a:endParaRPr lang="zh-CN" altLang="en-US" dirty="0"/>
          </a:p>
          <a:p>
            <a:pPr>
              <a:lnSpc>
                <a:spcPct val="120000"/>
              </a:lnSpc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CREATE Procedure </a:t>
            </a:r>
            <a:r>
              <a:rPr lang="zh-CN" altLang="en-US" sz="2400" dirty="0"/>
              <a:t>过程名（［参数</a:t>
            </a:r>
            <a:r>
              <a:rPr lang="en-US" altLang="zh-CN" sz="2400" dirty="0"/>
              <a:t>1</a:t>
            </a:r>
            <a:r>
              <a:rPr lang="zh-CN" altLang="en-US" sz="2400" dirty="0"/>
              <a:t>，参数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...</a:t>
            </a:r>
            <a:r>
              <a:rPr lang="zh-CN" altLang="en-US" sz="2400" dirty="0"/>
              <a:t>］） </a:t>
            </a:r>
            <a:r>
              <a:rPr lang="en-US" altLang="zh-CN" sz="2400" dirty="0"/>
              <a:t>AS</a:t>
            </a:r>
            <a:endParaRPr lang="en-US" altLang="zh-CN" sz="2400" dirty="0"/>
          </a:p>
          <a:p>
            <a:pPr>
              <a:lnSpc>
                <a:spcPct val="120000"/>
              </a:lnSpc>
              <a:buNone/>
            </a:pPr>
            <a:r>
              <a:rPr lang="en-US" altLang="zh-CN" sz="2400" dirty="0"/>
              <a:t>	&lt;PL/SQL</a:t>
            </a:r>
            <a:r>
              <a:rPr lang="zh-CN" altLang="en-US" sz="2400" dirty="0"/>
              <a:t>块</a:t>
            </a:r>
            <a:r>
              <a:rPr lang="en-US" altLang="zh-CN" sz="2400" dirty="0"/>
              <a:t>&gt;</a:t>
            </a:r>
            <a:r>
              <a:rPr lang="zh-CN" altLang="en-US" sz="2400" dirty="0"/>
              <a:t>；</a:t>
            </a:r>
            <a:endParaRPr lang="zh-CN" altLang="en-US" dirty="0"/>
          </a:p>
          <a:p>
            <a:pPr lvl="1">
              <a:buSzPct val="75000"/>
              <a:buFont typeface="Wingdings" panose="05000000000000000000" pitchFamily="2" charset="2"/>
              <a:buChar char="n"/>
            </a:pPr>
            <a:r>
              <a:rPr lang="zh-CN" altLang="en-US" sz="2200" dirty="0"/>
              <a:t>过程名：数据库服务器合法的对象标识</a:t>
            </a:r>
            <a:endParaRPr lang="zh-CN" altLang="en-US" sz="2200" dirty="0"/>
          </a:p>
          <a:p>
            <a:pPr lvl="1">
              <a:buSzPct val="75000"/>
              <a:buFont typeface="Wingdings" panose="05000000000000000000" pitchFamily="2" charset="2"/>
              <a:buChar char="n"/>
            </a:pPr>
            <a:r>
              <a:rPr lang="zh-CN" altLang="en-US" sz="2200" dirty="0"/>
              <a:t>参数列表：用名字来标识调用时给出的参数值，必须指定值的数据类型。参数也可以定义输入参数、输出参数或输入</a:t>
            </a:r>
            <a:r>
              <a:rPr lang="en-US" altLang="zh-CN" sz="2200" dirty="0"/>
              <a:t>/</a:t>
            </a:r>
            <a:r>
              <a:rPr lang="zh-CN" altLang="en-US" sz="2200" dirty="0"/>
              <a:t>输出参数。默认为输入参数。</a:t>
            </a:r>
            <a:endParaRPr lang="zh-CN" altLang="en-US" sz="2200" dirty="0"/>
          </a:p>
          <a:p>
            <a:pPr lvl="1">
              <a:buSzPct val="75000"/>
              <a:buFont typeface="Wingdings" panose="05000000000000000000" pitchFamily="2" charset="2"/>
              <a:buChar char="n"/>
            </a:pPr>
            <a:r>
              <a:rPr lang="zh-CN" altLang="en-US" sz="2200" dirty="0"/>
              <a:t>过程体：是一个</a:t>
            </a:r>
            <a:r>
              <a:rPr lang="en-US" altLang="zh-CN" sz="2200" dirty="0"/>
              <a:t>&lt;PL/SQL</a:t>
            </a:r>
            <a:r>
              <a:rPr lang="zh-CN" altLang="en-US" sz="2200" dirty="0"/>
              <a:t>块</a:t>
            </a:r>
            <a:r>
              <a:rPr lang="en-US" altLang="zh-CN" sz="2200" dirty="0"/>
              <a:t>&gt;</a:t>
            </a:r>
            <a:r>
              <a:rPr lang="zh-CN" altLang="en-US" sz="2200" dirty="0"/>
              <a:t>。包括声明部分和可执行语句部分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5530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存储过程用户接口</a:t>
            </a:r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3.7   </a:t>
            </a:r>
            <a:r>
              <a:rPr lang="zh-CN" altLang="en-US" dirty="0"/>
              <a:t>存储过程用户接口</a:t>
            </a:r>
            <a:endParaRPr lang="en-US" altLang="zh-CN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1268413"/>
            <a:ext cx="9209088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［例］  利用存储过程来实现下面的应用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从一个账户转指定数额的款项到另一个账户中。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CREATE PROCEDURE TRANSFER(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inAccount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INT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outAccount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INT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amount FLOAT) 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  AS DECLARE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       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totalDeposit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FLOAT;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  BEGIN                          /* 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检查转出账户的余额 *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/	                       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       SELECT total INTO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totalDeposit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       FROM ACCOUNT WHERE ACCOUNTNUM=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outAccount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; 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       IF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totalDeposit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IS NULL THEN    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/* 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账户不存在或账户中没有存款 *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/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           ROLLBACK;   RETURN;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       END IF; 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UPDATE account SET total=total-amount </a:t>
            </a:r>
            <a:b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b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WHERE ACCOUNTNUM=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outAccount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; /* 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修改转出账户，减去转出额 *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/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UPDATE account SET total=total + amount WHERE ACCOUNTNUM=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inAccount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;          	/* 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修改转入账户，增加转出额 *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/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COMMIT;                       	/* 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提交转账事务 *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/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END;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7347" name="Rectangle 2"/>
          <p:cNvSpPr/>
          <p:nvPr/>
        </p:nvSpPr>
        <p:spPr>
          <a:xfrm>
            <a:off x="863600" y="53848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bg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57349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863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3600" b="0" dirty="0">
                <a:solidFill>
                  <a:schemeClr val="tx1"/>
                </a:solidFill>
                <a:ea typeface="楷体_GB2312" pitchFamily="49" charset="-122"/>
              </a:rPr>
              <a:t>SQL: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交互式；嵌入式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37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3.8  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graphicFrame>
        <p:nvGraphicFramePr>
          <p:cNvPr id="57348" name="Group 4"/>
          <p:cNvGraphicFramePr>
            <a:graphicFrameLocks noGrp="1"/>
          </p:cNvGraphicFramePr>
          <p:nvPr/>
        </p:nvGraphicFramePr>
        <p:xfrm>
          <a:off x="838200" y="2743200"/>
          <a:ext cx="7620000" cy="2571750"/>
        </p:xfrm>
        <a:graphic>
          <a:graphicData uri="http://schemas.openxmlformats.org/drawingml/2006/table">
            <a:tbl>
              <a:tblPr/>
              <a:tblGrid>
                <a:gridCol w="2381250"/>
                <a:gridCol w="5238750"/>
              </a:tblGrid>
              <a:tr h="51790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SQL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功能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627" marB="4562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动词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627" marB="456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384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数据查询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数据定义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数据操纵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数据控制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27" marB="4562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Select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Create, Drop, Alter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Insert, Update, Delete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Grant, Revoke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27" marB="456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9395" name="Rectangle 2"/>
          <p:cNvSpPr/>
          <p:nvPr/>
        </p:nvSpPr>
        <p:spPr>
          <a:xfrm>
            <a:off x="1295400" y="76200"/>
            <a:ext cx="67818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400" dirty="0">
                <a:solidFill>
                  <a:schemeClr val="accent2"/>
                </a:solidFill>
                <a:ea typeface="经典细隶书简" pitchFamily="49" charset="-122"/>
              </a:rPr>
              <a:t>第</a:t>
            </a:r>
            <a:r>
              <a:rPr lang="en-US" altLang="zh-CN" sz="4400" dirty="0">
                <a:solidFill>
                  <a:schemeClr val="accent2"/>
                </a:solidFill>
                <a:ea typeface="经典细隶书简" pitchFamily="49" charset="-122"/>
              </a:rPr>
              <a:t>3</a:t>
            </a:r>
            <a:r>
              <a:rPr lang="zh-CN" altLang="en-US" sz="4400" dirty="0">
                <a:solidFill>
                  <a:schemeClr val="accent2"/>
                </a:solidFill>
                <a:ea typeface="经典细隶书简" pitchFamily="49" charset="-122"/>
              </a:rPr>
              <a:t>章书面作业</a:t>
            </a:r>
            <a:endParaRPr lang="zh-CN" altLang="en-US" sz="4400" dirty="0">
              <a:solidFill>
                <a:schemeClr val="accent2"/>
              </a:solidFill>
              <a:ea typeface="经典细隶书简" pitchFamily="49" charset="-122"/>
            </a:endParaRPr>
          </a:p>
        </p:txBody>
      </p:sp>
      <p:sp>
        <p:nvSpPr>
          <p:cNvPr id="59396" name="Rectangle 3"/>
          <p:cNvSpPr/>
          <p:nvPr/>
        </p:nvSpPr>
        <p:spPr>
          <a:xfrm>
            <a:off x="533400" y="1066800"/>
            <a:ext cx="8229600" cy="434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仿宋_GB2312" pitchFamily="49" charset="-122"/>
              </a:rPr>
              <a:t>P123 </a:t>
            </a:r>
            <a:r>
              <a:rPr lang="zh-CN" altLang="en-US" sz="4800" b="0" dirty="0">
                <a:solidFill>
                  <a:schemeClr val="tx1"/>
                </a:solidFill>
                <a:ea typeface="黑体" panose="02010609060101010101" pitchFamily="49" charset="-122"/>
              </a:rPr>
              <a:t>习题</a:t>
            </a:r>
            <a:endParaRPr lang="zh-CN" altLang="en-US" sz="4800" b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342900" lvl="0" indent="-342900" eaLnBrk="1" hangingPunct="1"/>
            <a:r>
              <a:rPr lang="en-US" altLang="zh-CN" sz="4800" b="0" dirty="0">
                <a:solidFill>
                  <a:schemeClr val="tx1"/>
                </a:solidFill>
                <a:ea typeface="仿宋_GB2312" pitchFamily="49" charset="-122"/>
              </a:rPr>
              <a:t>3,4,5,6,7,9</a:t>
            </a:r>
            <a:endParaRPr lang="en-US" altLang="zh-CN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麒麟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麒麟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麒麟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麒麟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kylin</Template>
  <TotalTime>0</TotalTime>
  <Words>11213</Words>
  <Application>WPS Presentation</Application>
  <PresentationFormat>全屏显示(4:3)</PresentationFormat>
  <Paragraphs>736</Paragraphs>
  <Slides>56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7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黑体</vt:lpstr>
      <vt:lpstr>Arial Unicode MS</vt:lpstr>
      <vt:lpstr>经典综艺体简</vt:lpstr>
      <vt:lpstr>DengXian</vt:lpstr>
      <vt:lpstr>微软雅黑</vt:lpstr>
      <vt:lpstr>Arial Unicode MS</vt:lpstr>
      <vt:lpstr>Bookman Old Style</vt:lpstr>
      <vt:lpstr>麒麟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SQL</dc:title>
  <dc:creator>微软用户</dc:creator>
  <cp:lastModifiedBy>nakanosan</cp:lastModifiedBy>
  <cp:revision>29</cp:revision>
  <dcterms:created xsi:type="dcterms:W3CDTF">2026-06-17T19:28:46Z</dcterms:created>
  <dcterms:modified xsi:type="dcterms:W3CDTF">2026-06-17T19:28:46Z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D47624323F610D596EF5326A46818823_43</vt:lpwstr>
  </property>
  <property fmtid="{D5CDD505-2E9C-101B-9397-08002B2CF9AE}" pid="3" name="KSOProductBuildVer">
    <vt:lpwstr>1033-12.1.2.26885</vt:lpwstr>
  </property>
</Properties>
</file>