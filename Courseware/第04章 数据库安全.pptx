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1"/>
  </p:notesMasterIdLst>
  <p:sldIdLst>
    <p:sldId id="319" r:id="rId3"/>
    <p:sldId id="257" r:id="rId4"/>
    <p:sldId id="258" r:id="rId5"/>
    <p:sldId id="259" r:id="rId6"/>
    <p:sldId id="260" r:id="rId7"/>
    <p:sldId id="261" r:id="rId8"/>
    <p:sldId id="262" r:id="rId9"/>
    <p:sldId id="263" r:id="rId10"/>
    <p:sldId id="264" r:id="rId11"/>
    <p:sldId id="265" r:id="rId12"/>
    <p:sldId id="320" r:id="rId13"/>
    <p:sldId id="321"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323" r:id="rId29"/>
    <p:sldId id="324" r:id="rId30"/>
    <p:sldId id="325" r:id="rId31"/>
    <p:sldId id="322" r:id="rId32"/>
    <p:sldId id="282" r:id="rId33"/>
    <p:sldId id="326" r:id="rId34"/>
    <p:sldId id="328" r:id="rId35"/>
    <p:sldId id="327" r:id="rId36"/>
    <p:sldId id="287" r:id="rId37"/>
    <p:sldId id="329" r:id="rId38"/>
    <p:sldId id="289" r:id="rId39"/>
    <p:sldId id="290" r:id="rId40"/>
    <p:sldId id="330" r:id="rId41"/>
    <p:sldId id="291" r:id="rId42"/>
    <p:sldId id="367" r:id="rId43"/>
    <p:sldId id="368" r:id="rId44"/>
    <p:sldId id="369" r:id="rId45"/>
    <p:sldId id="332" r:id="rId46"/>
    <p:sldId id="331" r:id="rId47"/>
    <p:sldId id="333" r:id="rId48"/>
    <p:sldId id="334" r:id="rId49"/>
    <p:sldId id="335" r:id="rId50"/>
    <p:sldId id="337" r:id="rId51"/>
    <p:sldId id="336" r:id="rId52"/>
    <p:sldId id="338" r:id="rId53"/>
    <p:sldId id="339" r:id="rId54"/>
    <p:sldId id="340" r:id="rId55"/>
    <p:sldId id="341" r:id="rId56"/>
    <p:sldId id="342" r:id="rId57"/>
    <p:sldId id="343" r:id="rId58"/>
    <p:sldId id="344" r:id="rId59"/>
    <p:sldId id="347" r:id="rId60"/>
    <p:sldId id="345" r:id="rId61"/>
    <p:sldId id="346" r:id="rId62"/>
    <p:sldId id="348" r:id="rId63"/>
    <p:sldId id="349" r:id="rId64"/>
    <p:sldId id="350" r:id="rId65"/>
    <p:sldId id="351" r:id="rId66"/>
    <p:sldId id="352" r:id="rId67"/>
    <p:sldId id="353" r:id="rId68"/>
    <p:sldId id="354" r:id="rId69"/>
    <p:sldId id="355" r:id="rId70"/>
    <p:sldId id="356" r:id="rId71"/>
    <p:sldId id="358" r:id="rId72"/>
    <p:sldId id="360" r:id="rId73"/>
    <p:sldId id="359" r:id="rId74"/>
    <p:sldId id="357" r:id="rId75"/>
    <p:sldId id="361" r:id="rId76"/>
    <p:sldId id="362" r:id="rId77"/>
    <p:sldId id="363" r:id="rId78"/>
    <p:sldId id="364" r:id="rId79"/>
    <p:sldId id="365" r:id="rId80"/>
    <p:sldId id="366" r:id="rId81"/>
    <p:sldId id="293" r:id="rId82"/>
    <p:sldId id="298" r:id="rId83"/>
    <p:sldId id="299" r:id="rId84"/>
    <p:sldId id="300" r:id="rId85"/>
    <p:sldId id="301" r:id="rId86"/>
    <p:sldId id="302" r:id="rId87"/>
    <p:sldId id="303" r:id="rId88"/>
    <p:sldId id="304" r:id="rId89"/>
    <p:sldId id="305" r:id="rId90"/>
    <p:sldId id="306" r:id="rId91"/>
    <p:sldId id="307" r:id="rId92"/>
    <p:sldId id="308" r:id="rId93"/>
    <p:sldId id="309" r:id="rId94"/>
    <p:sldId id="310" r:id="rId95"/>
    <p:sldId id="311" r:id="rId96"/>
    <p:sldId id="312" r:id="rId97"/>
    <p:sldId id="370" r:id="rId98"/>
    <p:sldId id="371" r:id="rId99"/>
    <p:sldId id="372" r:id="rId100"/>
    <p:sldId id="313" r:id="rId102"/>
    <p:sldId id="314" r:id="rId103"/>
    <p:sldId id="315" r:id="rId104"/>
    <p:sldId id="316" r:id="rId105"/>
    <p:sldId id="317" r:id="rId106"/>
    <p:sldId id="318" r:id="rId10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990033"/>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3408"/>
    <p:restoredTop sz="86412"/>
  </p:normalViewPr>
  <p:slideViewPr>
    <p:cSldViewPr showGuides="1">
      <p:cViewPr varScale="1">
        <p:scale>
          <a:sx n="72" d="100"/>
          <a:sy n="72" d="100"/>
        </p:scale>
        <p:origin x="813"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54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bleStyles" Target="tableStyles.xml"/><Relationship Id="rId11" Type="http://schemas.openxmlformats.org/officeDocument/2006/relationships/slide" Target="slides/slide9.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notesMaster" Target="notesMasters/notesMaster1.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0042ED0-AA19-4026-A6ED-CCDC5DC96F39}" type="datetimeFigureOut">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0F35729-5F10-4085-B2F8-1147BC625A8C}" type="slidenum">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幻灯片图像占位符 1"/>
          <p:cNvSpPr>
            <a:spLocks noGrp="1" noRot="1" noChangeAspect="1" noTextEdit="1"/>
          </p:cNvSpPr>
          <p:nvPr>
            <p:ph type="sldImg"/>
          </p:nvPr>
        </p:nvSpPr>
        <p:spPr>
          <a:ln>
            <a:solidFill>
              <a:srgbClr val="000000">
                <a:alpha val="100000"/>
              </a:srgbClr>
            </a:solidFill>
            <a:miter lim="800000"/>
          </a:ln>
        </p:spPr>
      </p:sp>
      <p:sp>
        <p:nvSpPr>
          <p:cNvPr id="103427" name="备注占位符 2"/>
          <p:cNvSpPr>
            <a:spLocks noGrp="1"/>
          </p:cNvSpPr>
          <p:nvPr>
            <p:ph type="body" idx="1"/>
          </p:nvPr>
        </p:nvSpPr>
        <p:spPr>
          <a:noFill/>
          <a:ln>
            <a:noFill/>
          </a:ln>
        </p:spPr>
        <p:txBody>
          <a:bodyPr wrap="square" lIns="91440" tIns="45720" rIns="91440" bIns="45720" anchor="t" anchorCtr="0"/>
          <a:p>
            <a:pPr lvl="0"/>
            <a:endParaRPr lang="zh-CN" altLang="en-US" dirty="0">
              <a:latin typeface="Arial" panose="020B0604020202020204" pitchFamily="34" charset="0"/>
            </a:endParaRPr>
          </a:p>
        </p:txBody>
      </p:sp>
      <p:sp>
        <p:nvSpPr>
          <p:cNvPr id="10342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defTabSz="923925"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smtClean="0"/>
              <a:t>单击此处编辑母版标题样式</a:t>
            </a:r>
            <a:endParaRPr lang="en-US"/>
          </a:p>
        </p:txBody>
      </p:sp>
      <p:sp>
        <p:nvSpPr>
          <p:cNvPr id="3" name="文本占位符 2"/>
          <p:cNvSpPr>
            <a:spLocks noGrp="1"/>
          </p:cNvSpPr>
          <p:nvPr>
            <p:ph type="body" sz="half" idx="1"/>
          </p:nvPr>
        </p:nvSpPr>
        <p:spPr>
          <a:xfrm>
            <a:off x="685800" y="1447800"/>
            <a:ext cx="3810000" cy="4724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47800"/>
            <a:ext cx="3810000" cy="4724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smtClean="0"/>
              <a:t>单击此处编辑母版标题样式</a:t>
            </a:r>
            <a:endParaRPr lang="en-US"/>
          </a:p>
        </p:txBody>
      </p:sp>
      <p:sp>
        <p:nvSpPr>
          <p:cNvPr id="3" name="表格占位符 2"/>
          <p:cNvSpPr>
            <a:spLocks noGrp="1"/>
          </p:cNvSpPr>
          <p:nvPr>
            <p:ph type="tbl" idx="1"/>
          </p:nvPr>
        </p:nvSpPr>
        <p:spPr>
          <a:xfrm>
            <a:off x="685800" y="1447800"/>
            <a:ext cx="77724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Char char="§"/>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idx="1"/>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b="0">
                <a:solidFill>
                  <a:srgbClr val="6600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b="0"/>
            </a:lvl1pPr>
          </a:lstStyle>
          <a:p>
            <a:pPr marL="0" marR="0" lvl="0" indent="0" algn="r" defTabSz="914400" rtl="0" eaLnBrk="1" fontAlgn="base" latinLnBrk="0" hangingPunct="1">
              <a:lnSpc>
                <a:spcPct val="100000"/>
              </a:lnSpc>
              <a:spcBef>
                <a:spcPct val="0"/>
              </a:spcBef>
              <a:spcAft>
                <a:spcPct val="0"/>
              </a:spcAft>
              <a:buClrTx/>
              <a:buSzTx/>
              <a:buFontTx/>
              <a:buNone/>
              <a:defRPr/>
            </a:pPr>
            <a:fld id="{48B9E163-AE21-4499-8F98-6109D836A4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8"/>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fld id="{094C794C-330A-48A6-970B-4509261784AE}"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9" descr="华工校徽"/>
          <p:cNvPicPr>
            <a:picLocks noChangeAspect="1"/>
          </p:cNvPicPr>
          <p:nvPr/>
        </p:nvPicPr>
        <p:blipFill>
          <a:blip r:embed="rId15"/>
          <a:stretch>
            <a:fillRect/>
          </a:stretch>
        </p:blipFill>
        <p:spPr>
          <a:xfrm>
            <a:off x="63500" y="6350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kumimoji="1" sz="4400" b="1">
          <a:solidFill>
            <a:schemeClr val="accent2"/>
          </a:solidFill>
          <a:latin typeface="+mj-lt"/>
          <a:ea typeface="+mj-ea"/>
          <a:cs typeface="+mj-cs"/>
        </a:defRPr>
      </a:lvl1pPr>
      <a:lvl2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2pPr>
      <a:lvl3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3pPr>
      <a:lvl4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4pPr>
      <a:lvl5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oleObject" Target="../embeddings/oleObject1.bin"/></Relationships>
</file>

<file path=ppt/slides/_rels/slide9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oleObject" Target="../embeddings/oleObject3.bin"/><Relationship Id="rId2" Type="http://schemas.openxmlformats.org/officeDocument/2006/relationships/image" Target="../media/image6.png"/><Relationship Id="rId1" Type="http://schemas.openxmlformats.org/officeDocument/2006/relationships/oleObject" Target="../embeddings/oleObject2.bin"/></Relationships>
</file>

<file path=ppt/slides/_rels/slide98.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image" Target="../media/image8.png"/><Relationship Id="rId3" Type="http://schemas.openxmlformats.org/officeDocument/2006/relationships/oleObject" Target="../embeddings/oleObject5.bin"/><Relationship Id="rId2" Type="http://schemas.openxmlformats.org/officeDocument/2006/relationships/image" Target="../media/image7.png"/><Relationship Id="rId1" Type="http://schemas.openxmlformats.org/officeDocument/2006/relationships/oleObject" Target="../embeddings/oleObject4.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5" name="Rectangle 2"/>
          <p:cNvSpPr>
            <a:spLocks noGrp="1"/>
          </p:cNvSpPr>
          <p:nvPr>
            <p:ph idx="1"/>
          </p:nvPr>
        </p:nvSpPr>
        <p:spPr>
          <a:xfrm>
            <a:off x="395288" y="1125538"/>
            <a:ext cx="8424862" cy="4248150"/>
          </a:xfrm>
          <a:ln/>
        </p:spPr>
        <p:txBody>
          <a:bodyPr vert="horz" wrap="square" lIns="91440" tIns="45720" rIns="91440" bIns="45720" anchor="t" anchorCtr="0"/>
          <a:p>
            <a:pPr>
              <a:lnSpc>
                <a:spcPct val="120000"/>
              </a:lnSpc>
              <a:buClrTx/>
              <a:buFontTx/>
              <a:buNone/>
            </a:pPr>
            <a:r>
              <a:rPr lang="en-US" altLang="zh-CN" dirty="0">
                <a:solidFill>
                  <a:schemeClr val="tx1"/>
                </a:solidFill>
              </a:rPr>
              <a:t>	</a:t>
            </a:r>
            <a:r>
              <a:rPr lang="zh-CN" altLang="en-US" dirty="0"/>
              <a:t>问题的提出</a:t>
            </a:r>
            <a:endParaRPr lang="zh-CN" altLang="en-US" dirty="0"/>
          </a:p>
          <a:p>
            <a:pPr lvl="1" algn="just" eaLnBrk="1" hangingPunct="1"/>
            <a:r>
              <a:rPr lang="zh-CN" altLang="en-US" dirty="0"/>
              <a:t>数据库的一大特点是数据可以共享</a:t>
            </a:r>
            <a:endParaRPr lang="zh-CN" altLang="en-US" dirty="0"/>
          </a:p>
          <a:p>
            <a:pPr lvl="1" algn="just" eaLnBrk="1" hangingPunct="1">
              <a:spcBef>
                <a:spcPct val="60000"/>
              </a:spcBef>
            </a:pPr>
            <a:r>
              <a:rPr lang="zh-CN" altLang="en-US" dirty="0"/>
              <a:t>数据共享必然带来数据库的安全性问题</a:t>
            </a:r>
            <a:endParaRPr lang="zh-CN" altLang="en-US" dirty="0"/>
          </a:p>
          <a:p>
            <a:pPr lvl="1" algn="just" eaLnBrk="1" hangingPunct="1">
              <a:spcBef>
                <a:spcPct val="60000"/>
              </a:spcBef>
            </a:pPr>
            <a:r>
              <a:rPr lang="zh-CN" altLang="en-US" dirty="0"/>
              <a:t>数据库系统中的数据共享不能是无条件的共享</a:t>
            </a:r>
            <a:endParaRPr lang="zh-CN" altLang="en-US" dirty="0"/>
          </a:p>
          <a:p>
            <a:pPr lvl="1" algn="just" eaLnBrk="1" hangingPunct="1">
              <a:spcBef>
                <a:spcPct val="60000"/>
              </a:spcBef>
              <a:buNone/>
            </a:pPr>
            <a:r>
              <a:rPr lang="zh-CN" altLang="en-US" sz="2400" dirty="0"/>
              <a:t>例： 军事秘密、国家机密、新产品实验数据、</a:t>
            </a:r>
            <a:endParaRPr lang="zh-CN" altLang="en-US" sz="2400" dirty="0"/>
          </a:p>
          <a:p>
            <a:pPr lvl="1" algn="just" eaLnBrk="1" hangingPunct="1">
              <a:buNone/>
            </a:pPr>
            <a:r>
              <a:rPr lang="zh-CN" altLang="en-US" sz="2400" dirty="0"/>
              <a:t>        市场需求分析、市场营销策略、销售计划、</a:t>
            </a:r>
            <a:endParaRPr lang="zh-CN" altLang="en-US" sz="2400" dirty="0"/>
          </a:p>
          <a:p>
            <a:pPr lvl="1" algn="just" eaLnBrk="1" hangingPunct="1">
              <a:buNone/>
            </a:pPr>
            <a:r>
              <a:rPr lang="zh-CN" altLang="en-US" sz="2400" dirty="0"/>
              <a:t>        客户档案、医疗档案、银行储蓄数据</a:t>
            </a:r>
            <a:endParaRPr lang="zh-CN" altLang="en-US" sz="2400" dirty="0"/>
          </a:p>
          <a:p>
            <a:pPr lvl="1" algn="just" eaLnBrk="1" hangingPunct="1">
              <a:buNone/>
            </a:pPr>
            <a:endParaRPr lang="zh-CN" altLang="en-US" sz="3200" dirty="0"/>
          </a:p>
        </p:txBody>
      </p:sp>
      <p:sp>
        <p:nvSpPr>
          <p:cNvPr id="3076" name="Rectangle 3"/>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grpSp>
        <p:nvGrpSpPr>
          <p:cNvPr id="69636" name="Group 4"/>
          <p:cNvGrpSpPr/>
          <p:nvPr/>
        </p:nvGrpSpPr>
        <p:grpSpPr>
          <a:xfrm>
            <a:off x="1908175" y="5373688"/>
            <a:ext cx="4968875" cy="576262"/>
            <a:chOff x="1202" y="3385"/>
            <a:chExt cx="3130" cy="363"/>
          </a:xfrm>
        </p:grpSpPr>
        <p:sp>
          <p:nvSpPr>
            <p:cNvPr id="3078" name="AutoShape 5"/>
            <p:cNvSpPr/>
            <p:nvPr/>
          </p:nvSpPr>
          <p:spPr>
            <a:xfrm>
              <a:off x="1202" y="3475"/>
              <a:ext cx="1270" cy="227"/>
            </a:xfrm>
            <a:prstGeom prst="rightArrow">
              <a:avLst>
                <a:gd name="adj1" fmla="val 50000"/>
                <a:gd name="adj2" fmla="val 139867"/>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3079" name="Rectangle 6"/>
            <p:cNvSpPr/>
            <p:nvPr/>
          </p:nvSpPr>
          <p:spPr>
            <a:xfrm>
              <a:off x="2608" y="3385"/>
              <a:ext cx="1724" cy="363"/>
            </a:xfrm>
            <a:prstGeom prst="rect">
              <a:avLst/>
            </a:prstGeom>
            <a:noFill/>
            <a:ln w="25400">
              <a:noFill/>
            </a:ln>
          </p:spPr>
          <p:txBody>
            <a:bodyPr wrap="none" lIns="0" tIns="0" rIns="0" bIns="0"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spcBef>
                  <a:spcPct val="0"/>
                </a:spcBef>
                <a:buClrTx/>
                <a:buFontTx/>
                <a:buNone/>
              </a:pPr>
              <a:r>
                <a:rPr lang="zh-CN" altLang="en-US" sz="2800" dirty="0">
                  <a:solidFill>
                    <a:schemeClr val="tx1"/>
                  </a:solidFill>
                </a:rPr>
                <a:t>数据库安全性</a:t>
              </a:r>
              <a:endParaRPr lang="zh-CN" altLang="en-US" sz="2800"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slide(fromBottom)">
                                      <p:cBhvr>
                                        <p:cTn id="7" dur="500"/>
                                        <p:tgtEl>
                                          <p:spTgt spid="69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9" name="Rectangle 2"/>
          <p:cNvSpPr>
            <a:spLocks noGrp="1"/>
          </p:cNvSpPr>
          <p:nvPr>
            <p:ph idx="1"/>
          </p:nvPr>
        </p:nvSpPr>
        <p:spPr>
          <a:xfrm>
            <a:off x="685800" y="1524000"/>
            <a:ext cx="7696200" cy="4711700"/>
          </a:xfrm>
          <a:ln/>
        </p:spPr>
        <p:txBody>
          <a:bodyPr vert="horz" wrap="square" lIns="91440" tIns="45720" rIns="91440" bIns="45720" anchor="t" anchorCtr="0"/>
          <a:p>
            <a:pPr>
              <a:lnSpc>
                <a:spcPct val="120000"/>
              </a:lnSpc>
              <a:buClrTx/>
              <a:buFontTx/>
              <a:buNone/>
            </a:pPr>
            <a:r>
              <a:rPr lang="en-US" altLang="zh-CN" sz="3600" dirty="0">
                <a:solidFill>
                  <a:schemeClr val="tx1"/>
                </a:solidFill>
              </a:rPr>
              <a:t>	</a:t>
            </a:r>
            <a:r>
              <a:rPr lang="zh-CN" altLang="en-US" sz="3600" dirty="0">
                <a:solidFill>
                  <a:schemeClr val="tx1"/>
                </a:solidFill>
              </a:rPr>
              <a:t>数据库的安全性是指保护数据库，防止因用户非法使用数据库造成数据泄露、更改或破坏。</a:t>
            </a:r>
            <a:endParaRPr lang="zh-CN" altLang="en-US" sz="3600" dirty="0">
              <a:solidFill>
                <a:schemeClr val="tx1"/>
              </a:solidFill>
            </a:endParaRPr>
          </a:p>
        </p:txBody>
      </p:sp>
      <p:sp>
        <p:nvSpPr>
          <p:cNvPr id="4100" name="Rectangle 3"/>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3" name="Rectangle 2"/>
          <p:cNvSpPr/>
          <p:nvPr/>
        </p:nvSpPr>
        <p:spPr>
          <a:xfrm>
            <a:off x="558800" y="14478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5124" name="Rectangle 3"/>
          <p:cNvSpPr>
            <a:spLocks noGrp="1"/>
          </p:cNvSpPr>
          <p:nvPr>
            <p:ph idx="1"/>
          </p:nvPr>
        </p:nvSpPr>
        <p:spPr>
          <a:xfrm>
            <a:off x="762000" y="1358900"/>
            <a:ext cx="7696200" cy="5094288"/>
          </a:xfrm>
          <a:ln/>
        </p:spPr>
        <p:txBody>
          <a:bodyPr vert="horz" wrap="square" lIns="91440" tIns="45720" rIns="91440" bIns="45720" anchor="t" anchorCtr="0"/>
          <a:p>
            <a:pPr algn="just" eaLnBrk="1" hangingPunct="1">
              <a:lnSpc>
                <a:spcPct val="130000"/>
              </a:lnSpc>
              <a:buNone/>
            </a:pPr>
            <a:r>
              <a:rPr lang="en-US" altLang="zh-CN" sz="2800" dirty="0">
                <a:solidFill>
                  <a:schemeClr val="bg1"/>
                </a:solidFill>
              </a:rPr>
              <a:t>4.1  </a:t>
            </a:r>
            <a:r>
              <a:rPr lang="zh-CN" altLang="en-US" sz="2800" dirty="0">
                <a:solidFill>
                  <a:schemeClr val="bg1"/>
                </a:solidFill>
              </a:rPr>
              <a:t>计算机安全性概论</a:t>
            </a:r>
            <a:endParaRPr lang="zh-CN" altLang="en-US" sz="2800" dirty="0">
              <a:solidFill>
                <a:schemeClr val="bg1"/>
              </a:solidFill>
            </a:endParaRPr>
          </a:p>
          <a:p>
            <a:pPr algn="just" eaLnBrk="1" hangingPunct="1">
              <a:lnSpc>
                <a:spcPct val="130000"/>
              </a:lnSpc>
              <a:buNone/>
            </a:pPr>
            <a:r>
              <a:rPr lang="en-US" altLang="zh-CN" sz="2800" dirty="0">
                <a:solidFill>
                  <a:schemeClr val="tx1"/>
                </a:solidFill>
              </a:rPr>
              <a:t>4.2  </a:t>
            </a:r>
            <a:r>
              <a:rPr lang="zh-CN" altLang="en-US" sz="2800" dirty="0">
                <a:solidFill>
                  <a:schemeClr val="tx1"/>
                </a:solidFill>
              </a:rPr>
              <a:t>数据库安全性控制</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4.3  </a:t>
            </a:r>
            <a:r>
              <a:rPr lang="zh-CN" altLang="en-US" sz="2800" dirty="0">
                <a:solidFill>
                  <a:schemeClr val="tx1"/>
                </a:solidFill>
              </a:rPr>
              <a:t>视图机制</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4.4  </a:t>
            </a:r>
            <a:r>
              <a:rPr lang="zh-CN" altLang="en-US" sz="2800" dirty="0">
                <a:solidFill>
                  <a:schemeClr val="tx1"/>
                </a:solidFill>
              </a:rPr>
              <a:t>审计</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4.5  </a:t>
            </a:r>
            <a:r>
              <a:rPr lang="zh-CN" altLang="en-US" sz="2800" dirty="0">
                <a:solidFill>
                  <a:schemeClr val="tx1"/>
                </a:solidFill>
              </a:rPr>
              <a:t>数据加密</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4.6  </a:t>
            </a:r>
            <a:r>
              <a:rPr lang="zh-CN" altLang="en-US" sz="2800" dirty="0">
                <a:solidFill>
                  <a:schemeClr val="tx1"/>
                </a:solidFill>
              </a:rPr>
              <a:t>统计数据库安全性</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4.7  </a:t>
            </a:r>
            <a:r>
              <a:rPr lang="zh-CN" altLang="en-US" sz="2800" dirty="0">
                <a:solidFill>
                  <a:schemeClr val="tx1"/>
                </a:solidFill>
              </a:rPr>
              <a:t>小结</a:t>
            </a:r>
            <a:endParaRPr lang="zh-CN" altLang="en-US" sz="2800" dirty="0">
              <a:solidFill>
                <a:schemeClr val="tx1"/>
              </a:solidFill>
            </a:endParaRPr>
          </a:p>
        </p:txBody>
      </p:sp>
      <p:sp>
        <p:nvSpPr>
          <p:cNvPr id="5125"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4.1 </a:t>
            </a:r>
            <a:r>
              <a:rPr lang="zh-CN" altLang="en-US" dirty="0"/>
              <a:t>计算机安全概述</a:t>
            </a:r>
            <a:endParaRPr lang="zh-CN" altLang="en-US" dirty="0"/>
          </a:p>
        </p:txBody>
      </p:sp>
      <p:sp>
        <p:nvSpPr>
          <p:cNvPr id="6148" name="Rectangle 3"/>
          <p:cNvSpPr>
            <a:spLocks noGrp="1"/>
          </p:cNvSpPr>
          <p:nvPr>
            <p:ph idx="1"/>
          </p:nvPr>
        </p:nvSpPr>
        <p:spPr>
          <a:xfrm>
            <a:off x="304800" y="914400"/>
            <a:ext cx="8382000" cy="3810000"/>
          </a:xfrm>
          <a:ln/>
        </p:spPr>
        <p:txBody>
          <a:bodyPr vert="horz" wrap="square" lIns="91440" tIns="45720" rIns="91440" bIns="45720" anchor="t" anchorCtr="0"/>
          <a:p>
            <a:pPr eaLnBrk="1" hangingPunct="1">
              <a:lnSpc>
                <a:spcPct val="210000"/>
              </a:lnSpc>
              <a:buNone/>
            </a:pPr>
            <a:r>
              <a:rPr lang="en-US" altLang="zh-CN" dirty="0">
                <a:solidFill>
                  <a:srgbClr val="FF0000"/>
                </a:solidFill>
              </a:rPr>
              <a:t>4.1.1  </a:t>
            </a:r>
            <a:r>
              <a:rPr lang="zh-CN" altLang="en-US" dirty="0">
                <a:solidFill>
                  <a:srgbClr val="FF0000"/>
                </a:solidFill>
              </a:rPr>
              <a:t>计算机系统的三类安全性问题</a:t>
            </a:r>
            <a:r>
              <a:rPr lang="zh-CN" altLang="en-US" dirty="0">
                <a:solidFill>
                  <a:schemeClr val="tx1"/>
                </a:solidFill>
              </a:rPr>
              <a:t> </a:t>
            </a:r>
            <a:endParaRPr lang="zh-CN" altLang="en-US" dirty="0">
              <a:solidFill>
                <a:schemeClr val="tx1"/>
              </a:solidFill>
            </a:endParaRPr>
          </a:p>
          <a:p>
            <a:pPr eaLnBrk="1" hangingPunct="1">
              <a:lnSpc>
                <a:spcPct val="210000"/>
              </a:lnSpc>
              <a:buNone/>
            </a:pPr>
            <a:r>
              <a:rPr lang="en-US" altLang="zh-CN" dirty="0">
                <a:solidFill>
                  <a:schemeClr val="tx1"/>
                </a:solidFill>
              </a:rPr>
              <a:t>4.1.2  </a:t>
            </a:r>
            <a:r>
              <a:rPr lang="zh-CN" altLang="en-US" dirty="0">
                <a:solidFill>
                  <a:schemeClr val="tx1"/>
                </a:solidFill>
              </a:rPr>
              <a:t>安全标准简介</a:t>
            </a:r>
            <a:endParaRPr lang="zh-CN" altLang="en-US"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4.1.1  </a:t>
            </a:r>
            <a:r>
              <a:rPr lang="zh-CN" altLang="en-US" sz="3200" dirty="0"/>
              <a:t>计算机系统的三类安全问题</a:t>
            </a:r>
            <a:endParaRPr lang="zh-CN" altLang="en-US" sz="3200" dirty="0"/>
          </a:p>
        </p:txBody>
      </p:sp>
      <p:sp>
        <p:nvSpPr>
          <p:cNvPr id="7172" name="Rectangle 3"/>
          <p:cNvSpPr>
            <a:spLocks noGrp="1"/>
          </p:cNvSpPr>
          <p:nvPr>
            <p:ph idx="1"/>
          </p:nvPr>
        </p:nvSpPr>
        <p:spPr>
          <a:xfrm>
            <a:off x="304800" y="1143000"/>
            <a:ext cx="8382000" cy="4724400"/>
          </a:xfrm>
          <a:ln/>
        </p:spPr>
        <p:txBody>
          <a:bodyPr vert="horz" wrap="square" lIns="91440" tIns="45720" rIns="91440" bIns="45720" anchor="t" anchorCtr="0"/>
          <a:p>
            <a:pPr eaLnBrk="1" hangingPunct="1"/>
            <a:r>
              <a:rPr lang="zh-CN" altLang="en-US" sz="3600" dirty="0"/>
              <a:t>什么是计算机系统安全性</a:t>
            </a:r>
            <a:endParaRPr lang="zh-CN" altLang="en-US" sz="3600" dirty="0"/>
          </a:p>
          <a:p>
            <a:pPr lvl="1" eaLnBrk="1" hangingPunct="1">
              <a:lnSpc>
                <a:spcPct val="150000"/>
              </a:lnSpc>
            </a:pPr>
            <a:r>
              <a:rPr lang="zh-CN" altLang="en-US" dirty="0"/>
              <a:t>为计算机系统建立和采取的各种安全保护措施，以保护计算机系统中的</a:t>
            </a:r>
            <a:r>
              <a:rPr lang="zh-CN" altLang="en-US" dirty="0">
                <a:solidFill>
                  <a:srgbClr val="0000FF"/>
                </a:solidFill>
              </a:rPr>
              <a:t>硬件</a:t>
            </a:r>
            <a:r>
              <a:rPr lang="zh-CN" altLang="en-US" dirty="0"/>
              <a:t>、</a:t>
            </a:r>
            <a:r>
              <a:rPr lang="zh-CN" altLang="en-US" dirty="0">
                <a:solidFill>
                  <a:srgbClr val="0000FF"/>
                </a:solidFill>
              </a:rPr>
              <a:t>软件</a:t>
            </a:r>
            <a:r>
              <a:rPr lang="zh-CN" altLang="en-US" dirty="0"/>
              <a:t>及</a:t>
            </a:r>
            <a:r>
              <a:rPr lang="zh-CN" altLang="en-US" dirty="0">
                <a:solidFill>
                  <a:srgbClr val="0000FF"/>
                </a:solidFill>
              </a:rPr>
              <a:t>数据</a:t>
            </a:r>
            <a:r>
              <a:rPr lang="zh-CN" altLang="en-US" dirty="0"/>
              <a:t>，防止其因偶然或恶意的原因使系统遭到破坏，数据遭到更改或泄露等。</a:t>
            </a:r>
            <a:endParaRPr lang="zh-CN" altLang="en-US" dirty="0"/>
          </a:p>
          <a:p>
            <a:pPr lvl="1" eaLnBrk="1" hangingPunct="1">
              <a:lnSpc>
                <a:spcPct val="150000"/>
              </a:lnSpc>
            </a:pPr>
            <a:r>
              <a:rPr lang="zh-CN" altLang="en-US" dirty="0"/>
              <a:t>范畴：硬件、软件、数据</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4.1.1  </a:t>
            </a:r>
            <a:r>
              <a:rPr lang="zh-CN" altLang="en-US" sz="3200" dirty="0"/>
              <a:t>计算机系统的三类安全问题</a:t>
            </a:r>
            <a:endParaRPr lang="zh-CN" altLang="en-US" sz="3200" dirty="0"/>
          </a:p>
        </p:txBody>
      </p:sp>
      <p:sp>
        <p:nvSpPr>
          <p:cNvPr id="8196" name="Rectangle 3"/>
          <p:cNvSpPr>
            <a:spLocks noGrp="1"/>
          </p:cNvSpPr>
          <p:nvPr>
            <p:ph idx="1"/>
          </p:nvPr>
        </p:nvSpPr>
        <p:spPr>
          <a:xfrm>
            <a:off x="304800" y="1143000"/>
            <a:ext cx="8382000" cy="4724400"/>
          </a:xfrm>
          <a:ln/>
        </p:spPr>
        <p:txBody>
          <a:bodyPr vert="horz" wrap="square" lIns="91440" tIns="45720" rIns="91440" bIns="45720" anchor="t" anchorCtr="0"/>
          <a:p>
            <a:pPr eaLnBrk="1" hangingPunct="1"/>
            <a:r>
              <a:rPr lang="zh-CN" altLang="en-US" sz="3600" dirty="0"/>
              <a:t>三类计算机系统安全性问题</a:t>
            </a:r>
            <a:endParaRPr lang="zh-CN" altLang="en-US" sz="3600" dirty="0"/>
          </a:p>
          <a:p>
            <a:pPr lvl="1" eaLnBrk="1" hangingPunct="1">
              <a:lnSpc>
                <a:spcPct val="180000"/>
              </a:lnSpc>
            </a:pPr>
            <a:r>
              <a:rPr lang="zh-CN" altLang="en-US" dirty="0"/>
              <a:t>技术安全类</a:t>
            </a:r>
            <a:endParaRPr lang="zh-CN" altLang="en-US" dirty="0"/>
          </a:p>
          <a:p>
            <a:pPr lvl="1" eaLnBrk="1" hangingPunct="1">
              <a:lnSpc>
                <a:spcPct val="180000"/>
              </a:lnSpc>
            </a:pPr>
            <a:r>
              <a:rPr lang="zh-CN" altLang="en-US" dirty="0"/>
              <a:t>管理安全类</a:t>
            </a:r>
            <a:endParaRPr lang="zh-CN" altLang="en-US" dirty="0"/>
          </a:p>
          <a:p>
            <a:pPr lvl="1" eaLnBrk="1" hangingPunct="1">
              <a:lnSpc>
                <a:spcPct val="180000"/>
              </a:lnSpc>
            </a:pPr>
            <a:r>
              <a:rPr lang="zh-CN" altLang="en-US" dirty="0"/>
              <a:t>政策法律类</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4.1 </a:t>
            </a:r>
            <a:r>
              <a:rPr lang="zh-CN" altLang="en-US" dirty="0"/>
              <a:t>计算机安全概述</a:t>
            </a:r>
            <a:endParaRPr lang="zh-CN" altLang="en-US" dirty="0"/>
          </a:p>
        </p:txBody>
      </p:sp>
      <p:sp>
        <p:nvSpPr>
          <p:cNvPr id="9220" name="Rectangle 3"/>
          <p:cNvSpPr>
            <a:spLocks noGrp="1"/>
          </p:cNvSpPr>
          <p:nvPr>
            <p:ph idx="1"/>
          </p:nvPr>
        </p:nvSpPr>
        <p:spPr>
          <a:xfrm>
            <a:off x="304800" y="914400"/>
            <a:ext cx="8382000" cy="3810000"/>
          </a:xfrm>
          <a:ln/>
        </p:spPr>
        <p:txBody>
          <a:bodyPr vert="horz" wrap="square" lIns="91440" tIns="45720" rIns="91440" bIns="45720" anchor="t" anchorCtr="0"/>
          <a:p>
            <a:pPr eaLnBrk="1" hangingPunct="1">
              <a:lnSpc>
                <a:spcPct val="210000"/>
              </a:lnSpc>
              <a:buNone/>
            </a:pPr>
            <a:r>
              <a:rPr lang="en-US" altLang="zh-CN" dirty="0">
                <a:solidFill>
                  <a:schemeClr val="tx1"/>
                </a:solidFill>
              </a:rPr>
              <a:t>4.1.1  </a:t>
            </a:r>
            <a:r>
              <a:rPr lang="zh-CN" altLang="en-US" dirty="0">
                <a:solidFill>
                  <a:schemeClr val="tx1"/>
                </a:solidFill>
              </a:rPr>
              <a:t>计算机系统的三类安全性问题 </a:t>
            </a:r>
            <a:endParaRPr lang="zh-CN" altLang="en-US" dirty="0">
              <a:solidFill>
                <a:schemeClr val="tx1"/>
              </a:solidFill>
            </a:endParaRPr>
          </a:p>
          <a:p>
            <a:pPr eaLnBrk="1" hangingPunct="1">
              <a:lnSpc>
                <a:spcPct val="210000"/>
              </a:lnSpc>
              <a:buNone/>
            </a:pPr>
            <a:r>
              <a:rPr lang="en-US" altLang="zh-CN" dirty="0">
                <a:solidFill>
                  <a:srgbClr val="FF0000"/>
                </a:solidFill>
              </a:rPr>
              <a:t>4.1.2  </a:t>
            </a:r>
            <a:r>
              <a:rPr lang="zh-CN" altLang="en-US" dirty="0">
                <a:solidFill>
                  <a:srgbClr val="FF0000"/>
                </a:solidFill>
              </a:rPr>
              <a:t>安全标准简介</a:t>
            </a:r>
            <a:endParaRPr lang="zh-CN" alt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0244" name="Rectangle 3"/>
          <p:cNvSpPr>
            <a:spLocks noGrp="1"/>
          </p:cNvSpPr>
          <p:nvPr>
            <p:ph idx="1"/>
          </p:nvPr>
        </p:nvSpPr>
        <p:spPr>
          <a:xfrm>
            <a:off x="304800" y="1143000"/>
            <a:ext cx="8382000" cy="4724400"/>
          </a:xfrm>
          <a:ln/>
        </p:spPr>
        <p:txBody>
          <a:bodyPr vert="horz" wrap="square" lIns="91440" tIns="45720" rIns="91440" bIns="45720" anchor="t" anchorCtr="0"/>
          <a:p>
            <a:pPr eaLnBrk="1" hangingPunct="1">
              <a:lnSpc>
                <a:spcPct val="160000"/>
              </a:lnSpc>
            </a:pPr>
            <a:r>
              <a:rPr lang="zh-CN" altLang="en-US" dirty="0">
                <a:solidFill>
                  <a:schemeClr val="tx1"/>
                </a:solidFill>
              </a:rPr>
              <a:t>为降低进而消除对系统的安全攻击，各国引用或制定了一系列安全标准</a:t>
            </a:r>
            <a:endParaRPr lang="zh-CN" altLang="en-US" dirty="0">
              <a:solidFill>
                <a:schemeClr val="tx1"/>
              </a:solidFill>
            </a:endParaRPr>
          </a:p>
          <a:p>
            <a:pPr lvl="1" eaLnBrk="1" hangingPunct="1">
              <a:lnSpc>
                <a:spcPct val="160000"/>
              </a:lnSpc>
            </a:pPr>
            <a:r>
              <a:rPr lang="en-US" altLang="zh-CN" sz="3200" dirty="0"/>
              <a:t>TCSEC (</a:t>
            </a:r>
            <a:r>
              <a:rPr lang="zh-CN" altLang="en-US" sz="3200" dirty="0"/>
              <a:t>桔皮书</a:t>
            </a:r>
            <a:r>
              <a:rPr lang="en-US" altLang="zh-CN" sz="3200" dirty="0"/>
              <a:t>)/TDI(</a:t>
            </a:r>
            <a:r>
              <a:rPr lang="zh-CN" altLang="en-US" sz="3200" dirty="0"/>
              <a:t>紫皮书</a:t>
            </a:r>
            <a:r>
              <a:rPr lang="en-US" altLang="zh-CN" sz="3200" dirty="0"/>
              <a:t>)</a:t>
            </a:r>
            <a:endParaRPr lang="en-US" altLang="zh-CN" sz="3200" dirty="0"/>
          </a:p>
          <a:p>
            <a:pPr lvl="1" eaLnBrk="1" hangingPunct="1">
              <a:lnSpc>
                <a:spcPct val="160000"/>
              </a:lnSpc>
            </a:pPr>
            <a:r>
              <a:rPr lang="en-US" altLang="zh-CN" sz="3200" dirty="0"/>
              <a:t>CC </a:t>
            </a:r>
            <a:r>
              <a:rPr lang="zh-CN" altLang="en-US" sz="3200" dirty="0"/>
              <a:t>标准</a:t>
            </a:r>
            <a:endParaRPr lang="zh-CN" altLang="en-US" sz="3200" dirty="0"/>
          </a:p>
          <a:p>
            <a:pPr lvl="1" eaLnBrk="1" hangingPunct="1">
              <a:lnSpc>
                <a:spcPct val="160000"/>
              </a:lnSpc>
            </a:pPr>
            <a:endParaRPr lang="zh-CN" alt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1268" name="Rectangle 3"/>
          <p:cNvSpPr>
            <a:spLocks noGrp="1"/>
          </p:cNvSpPr>
          <p:nvPr>
            <p:ph idx="1"/>
          </p:nvPr>
        </p:nvSpPr>
        <p:spPr>
          <a:xfrm>
            <a:off x="228600" y="762000"/>
            <a:ext cx="8534400" cy="5715000"/>
          </a:xfrm>
          <a:ln/>
        </p:spPr>
        <p:txBody>
          <a:bodyPr vert="horz" wrap="square" lIns="91440" tIns="45720" rIns="91440" bIns="45720" anchor="t" anchorCtr="0"/>
          <a:p>
            <a:pPr eaLnBrk="1" hangingPunct="1">
              <a:lnSpc>
                <a:spcPct val="160000"/>
              </a:lnSpc>
            </a:pPr>
            <a:r>
              <a:rPr lang="zh-CN" altLang="en-US" dirty="0">
                <a:solidFill>
                  <a:schemeClr val="tx1"/>
                </a:solidFill>
              </a:rPr>
              <a:t>桔皮书</a:t>
            </a:r>
            <a:endParaRPr lang="zh-CN" altLang="en-US" dirty="0">
              <a:solidFill>
                <a:schemeClr val="tx1"/>
              </a:solidFill>
            </a:endParaRPr>
          </a:p>
          <a:p>
            <a:pPr lvl="1" eaLnBrk="1" hangingPunct="1"/>
            <a:r>
              <a:rPr lang="en-US" altLang="zh-CN" sz="3200" dirty="0"/>
              <a:t>1985</a:t>
            </a:r>
            <a:r>
              <a:rPr lang="zh-CN" altLang="en-US" sz="3200" dirty="0"/>
              <a:t>年美国国防部（</a:t>
            </a:r>
            <a:r>
              <a:rPr lang="en-US" altLang="zh-CN" sz="3200" dirty="0"/>
              <a:t>DoD</a:t>
            </a:r>
            <a:r>
              <a:rPr lang="zh-CN" altLang="en-US" sz="3200" dirty="0"/>
              <a:t>）正式颁布</a:t>
            </a:r>
            <a:r>
              <a:rPr lang="en-US" altLang="zh-CN" sz="3200" dirty="0"/>
              <a:t>《 DoD</a:t>
            </a:r>
            <a:r>
              <a:rPr lang="zh-CN" altLang="en-US" sz="3200" dirty="0"/>
              <a:t>可信计算机系统评估标准</a:t>
            </a:r>
            <a:r>
              <a:rPr lang="en-US" altLang="zh-CN" sz="3200" dirty="0"/>
              <a:t>》</a:t>
            </a:r>
            <a:r>
              <a:rPr lang="zh-CN" altLang="en-US" sz="3200" dirty="0"/>
              <a:t>（简称</a:t>
            </a:r>
            <a:r>
              <a:rPr lang="en-US" altLang="zh-CN" sz="3200" dirty="0"/>
              <a:t>TCSEC</a:t>
            </a:r>
            <a:r>
              <a:rPr lang="zh-CN" altLang="en-US" sz="3200" dirty="0"/>
              <a:t>或</a:t>
            </a:r>
            <a:r>
              <a:rPr lang="en-US" altLang="zh-CN" sz="3200" dirty="0"/>
              <a:t>DoD85</a:t>
            </a:r>
            <a:r>
              <a:rPr lang="zh-CN" altLang="en-US" sz="3200" dirty="0"/>
              <a:t>）</a:t>
            </a:r>
            <a:endParaRPr lang="zh-CN" altLang="en-US" sz="3200" dirty="0"/>
          </a:p>
          <a:p>
            <a:pPr lvl="1" eaLnBrk="1" hangingPunct="1">
              <a:lnSpc>
                <a:spcPct val="120000"/>
              </a:lnSpc>
            </a:pPr>
            <a:r>
              <a:rPr lang="zh-CN" altLang="en-US" sz="3200" dirty="0"/>
              <a:t>提供一种标准，使</a:t>
            </a:r>
            <a:r>
              <a:rPr lang="zh-CN" altLang="en-US" sz="3200" dirty="0">
                <a:solidFill>
                  <a:srgbClr val="FF0000"/>
                </a:solidFill>
              </a:rPr>
              <a:t>用户</a:t>
            </a:r>
            <a:r>
              <a:rPr lang="zh-CN" altLang="en-US" sz="3200" dirty="0"/>
              <a:t>可以对其计算机系统内敏感信息安全操作的</a:t>
            </a:r>
            <a:r>
              <a:rPr lang="zh-CN" altLang="en-US" sz="3200" dirty="0">
                <a:solidFill>
                  <a:srgbClr val="FF0000"/>
                </a:solidFill>
              </a:rPr>
              <a:t>可信程度</a:t>
            </a:r>
            <a:r>
              <a:rPr lang="zh-CN" altLang="en-US" sz="3200" dirty="0"/>
              <a:t>做</a:t>
            </a:r>
            <a:r>
              <a:rPr lang="zh-CN" altLang="en-US" sz="3200" dirty="0">
                <a:solidFill>
                  <a:srgbClr val="FF0000"/>
                </a:solidFill>
              </a:rPr>
              <a:t>评估</a:t>
            </a:r>
            <a:r>
              <a:rPr lang="zh-CN" altLang="en-US" sz="3200" dirty="0"/>
              <a:t>。</a:t>
            </a:r>
            <a:endParaRPr lang="zh-CN" altLang="en-US" sz="3200" dirty="0"/>
          </a:p>
          <a:p>
            <a:pPr lvl="1" eaLnBrk="1" hangingPunct="1">
              <a:lnSpc>
                <a:spcPct val="120000"/>
              </a:lnSpc>
            </a:pPr>
            <a:r>
              <a:rPr lang="zh-CN" altLang="en-US" sz="3200" dirty="0"/>
              <a:t>给计算机行业的</a:t>
            </a:r>
            <a:r>
              <a:rPr lang="zh-CN" altLang="en-US" sz="3200" dirty="0">
                <a:solidFill>
                  <a:srgbClr val="FF0000"/>
                </a:solidFill>
              </a:rPr>
              <a:t>制造商</a:t>
            </a:r>
            <a:r>
              <a:rPr lang="zh-CN" altLang="en-US" sz="3200" dirty="0"/>
              <a:t>提供一种可循的</a:t>
            </a:r>
            <a:r>
              <a:rPr lang="zh-CN" altLang="en-US" sz="3200" dirty="0">
                <a:solidFill>
                  <a:srgbClr val="FF0000"/>
                </a:solidFill>
              </a:rPr>
              <a:t>指导规则</a:t>
            </a:r>
            <a:r>
              <a:rPr lang="zh-CN" altLang="en-US" sz="3200" dirty="0"/>
              <a:t>，使其产品能够更好地满足敏感应用的安全需求。</a:t>
            </a:r>
            <a:endParaRPr lang="zh-CN" alt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2292" name="Rectangle 3"/>
          <p:cNvSpPr>
            <a:spLocks noGrp="1"/>
          </p:cNvSpPr>
          <p:nvPr>
            <p:ph idx="1"/>
          </p:nvPr>
        </p:nvSpPr>
        <p:spPr>
          <a:xfrm>
            <a:off x="228600" y="762000"/>
            <a:ext cx="8534400" cy="5715000"/>
          </a:xfrm>
          <a:ln/>
        </p:spPr>
        <p:txBody>
          <a:bodyPr vert="horz" wrap="square" lIns="91440" tIns="45720" rIns="91440" bIns="45720" anchor="t" anchorCtr="0"/>
          <a:p>
            <a:pPr eaLnBrk="1" hangingPunct="1">
              <a:lnSpc>
                <a:spcPct val="160000"/>
              </a:lnSpc>
            </a:pPr>
            <a:r>
              <a:rPr lang="zh-CN" altLang="en-US" dirty="0">
                <a:solidFill>
                  <a:schemeClr val="tx1"/>
                </a:solidFill>
              </a:rPr>
              <a:t>紫皮书</a:t>
            </a:r>
            <a:endParaRPr lang="zh-CN" altLang="en-US" dirty="0">
              <a:solidFill>
                <a:schemeClr val="tx1"/>
              </a:solidFill>
            </a:endParaRPr>
          </a:p>
          <a:p>
            <a:pPr lvl="1" eaLnBrk="1" hangingPunct="1"/>
            <a:r>
              <a:rPr lang="en-US" altLang="zh-CN" dirty="0"/>
              <a:t>1991</a:t>
            </a:r>
            <a:r>
              <a:rPr lang="zh-CN" altLang="en-US" dirty="0"/>
              <a:t>年</a:t>
            </a:r>
            <a:r>
              <a:rPr lang="en-US" altLang="zh-CN" dirty="0"/>
              <a:t>4</a:t>
            </a:r>
            <a:r>
              <a:rPr lang="zh-CN" altLang="en-US" dirty="0"/>
              <a:t>月美国</a:t>
            </a:r>
            <a:r>
              <a:rPr lang="en-US" altLang="zh-CN" dirty="0"/>
              <a:t>NCSC</a:t>
            </a:r>
            <a:r>
              <a:rPr lang="zh-CN" altLang="en-US" dirty="0"/>
              <a:t>（国家计算机安全中心）颁布了</a:t>
            </a:r>
            <a:r>
              <a:rPr lang="en-US" altLang="zh-CN" dirty="0"/>
              <a:t>《</a:t>
            </a:r>
            <a:r>
              <a:rPr lang="zh-CN" altLang="en-US" dirty="0"/>
              <a:t>可信计算机系统评估标准关于可信数据库系统的解释</a:t>
            </a:r>
            <a:r>
              <a:rPr lang="en-US" altLang="zh-CN" dirty="0"/>
              <a:t>》</a:t>
            </a:r>
            <a:r>
              <a:rPr lang="zh-CN" altLang="en-US" dirty="0"/>
              <a:t>（ </a:t>
            </a:r>
            <a:r>
              <a:rPr lang="en-US" altLang="zh-CN" dirty="0"/>
              <a:t>Trusted Database Interpretation </a:t>
            </a:r>
            <a:r>
              <a:rPr lang="zh-CN" altLang="en-US" dirty="0"/>
              <a:t>简称</a:t>
            </a:r>
            <a:r>
              <a:rPr lang="en-US" altLang="zh-CN" dirty="0">
                <a:solidFill>
                  <a:schemeClr val="accent2"/>
                </a:solidFill>
              </a:rPr>
              <a:t>TDI</a:t>
            </a:r>
            <a:r>
              <a:rPr lang="zh-CN" altLang="en-US" dirty="0"/>
              <a:t>）</a:t>
            </a:r>
            <a:endParaRPr lang="zh-CN" altLang="en-US" dirty="0"/>
          </a:p>
          <a:p>
            <a:pPr lvl="1" eaLnBrk="1" hangingPunct="1"/>
            <a:r>
              <a:rPr lang="zh-CN" altLang="en-US" sz="3200" dirty="0"/>
              <a:t>将</a:t>
            </a:r>
            <a:r>
              <a:rPr lang="en-US" altLang="zh-CN" sz="3200" dirty="0"/>
              <a:t>TCSEC</a:t>
            </a:r>
            <a:r>
              <a:rPr lang="zh-CN" altLang="en-US" sz="3200" dirty="0"/>
              <a:t>扩展到数据库管理系统。</a:t>
            </a:r>
            <a:endParaRPr lang="zh-CN" altLang="en-US" sz="3200" dirty="0"/>
          </a:p>
          <a:p>
            <a:pPr lvl="1" eaLnBrk="1" hangingPunct="1"/>
            <a:r>
              <a:rPr lang="en-US" altLang="zh-CN" sz="3200" dirty="0"/>
              <a:t>TDI</a:t>
            </a:r>
            <a:r>
              <a:rPr lang="zh-CN" altLang="en-US" sz="3200" dirty="0"/>
              <a:t>中定义了在数据库管理系统的设计与实现中，需满足和</a:t>
            </a:r>
            <a:r>
              <a:rPr lang="zh-CN" altLang="en-US" sz="3200" dirty="0">
                <a:solidFill>
                  <a:srgbClr val="FF0000"/>
                </a:solidFill>
              </a:rPr>
              <a:t>用以进行安全性级别评估</a:t>
            </a:r>
            <a:r>
              <a:rPr lang="zh-CN" altLang="en-US" sz="3200" dirty="0"/>
              <a:t>的标准</a:t>
            </a:r>
            <a:endParaRPr lang="zh-CN" alt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3316" name="Rectangle 3"/>
          <p:cNvSpPr>
            <a:spLocks noGrp="1"/>
          </p:cNvSpPr>
          <p:nvPr>
            <p:ph idx="1"/>
          </p:nvPr>
        </p:nvSpPr>
        <p:spPr>
          <a:xfrm>
            <a:off x="228600" y="762000"/>
            <a:ext cx="8534400" cy="5475288"/>
          </a:xfrm>
          <a:ln/>
        </p:spPr>
        <p:txBody>
          <a:bodyPr vert="horz" wrap="square" lIns="91440" tIns="45720" rIns="91440" bIns="45720" anchor="t" anchorCtr="0"/>
          <a:p>
            <a:pPr eaLnBrk="1" hangingPunct="1">
              <a:lnSpc>
                <a:spcPct val="120000"/>
              </a:lnSpc>
            </a:pPr>
            <a:r>
              <a:rPr lang="en-US" altLang="zh-CN" dirty="0">
                <a:solidFill>
                  <a:schemeClr val="tx1"/>
                </a:solidFill>
              </a:rPr>
              <a:t>CC</a:t>
            </a:r>
            <a:r>
              <a:rPr lang="zh-CN" altLang="en-US" dirty="0">
                <a:solidFill>
                  <a:schemeClr val="tx1"/>
                </a:solidFill>
              </a:rPr>
              <a:t>（</a:t>
            </a:r>
            <a:r>
              <a:rPr lang="en-US" altLang="zh-CN" dirty="0">
                <a:solidFill>
                  <a:schemeClr val="tx1"/>
                </a:solidFill>
              </a:rPr>
              <a:t>Common Criteria</a:t>
            </a:r>
            <a:r>
              <a:rPr lang="zh-CN" altLang="en-US" dirty="0">
                <a:solidFill>
                  <a:schemeClr val="tx1"/>
                </a:solidFill>
              </a:rPr>
              <a:t>通用准则）</a:t>
            </a:r>
            <a:endParaRPr lang="zh-CN" altLang="en-US" dirty="0">
              <a:solidFill>
                <a:schemeClr val="tx1"/>
              </a:solidFill>
            </a:endParaRPr>
          </a:p>
          <a:p>
            <a:pPr lvl="1" eaLnBrk="1" hangingPunct="1">
              <a:lnSpc>
                <a:spcPct val="120000"/>
              </a:lnSpc>
            </a:pPr>
            <a:r>
              <a:rPr lang="en-US" altLang="zh-CN" dirty="0"/>
              <a:t>CTCPEC+FC+TCSEC+ITSEC:CC(1993)</a:t>
            </a:r>
            <a:endParaRPr lang="en-US" altLang="zh-CN" dirty="0"/>
          </a:p>
          <a:p>
            <a:pPr lvl="1" eaLnBrk="1" hangingPunct="1">
              <a:lnSpc>
                <a:spcPct val="120000"/>
              </a:lnSpc>
            </a:pPr>
            <a:r>
              <a:rPr lang="en-US" altLang="zh-CN" sz="3200" dirty="0"/>
              <a:t>CC V2.1</a:t>
            </a:r>
            <a:r>
              <a:rPr lang="zh-CN" altLang="en-US" sz="3200" dirty="0"/>
              <a:t>被</a:t>
            </a:r>
            <a:r>
              <a:rPr lang="en-US" altLang="zh-CN" sz="3200" dirty="0"/>
              <a:t>ISO</a:t>
            </a:r>
            <a:r>
              <a:rPr lang="zh-CN" altLang="en-US" sz="3200" dirty="0"/>
              <a:t>接纳</a:t>
            </a:r>
            <a:r>
              <a:rPr lang="en-US" altLang="zh-CN" sz="3200" dirty="0"/>
              <a:t>(1999)</a:t>
            </a:r>
            <a:endParaRPr lang="en-US" altLang="zh-CN" sz="3200" dirty="0"/>
          </a:p>
          <a:p>
            <a:pPr lvl="1" eaLnBrk="1" hangingPunct="1">
              <a:lnSpc>
                <a:spcPct val="120000"/>
              </a:lnSpc>
            </a:pPr>
            <a:r>
              <a:rPr lang="en-US" altLang="zh-CN" sz="3200" dirty="0"/>
              <a:t>2001</a:t>
            </a:r>
            <a:r>
              <a:rPr lang="zh-CN" altLang="en-US" sz="3200" dirty="0"/>
              <a:t>年被中国采纳，成为国标</a:t>
            </a:r>
            <a:endParaRPr lang="zh-CN" alt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pic>
        <p:nvPicPr>
          <p:cNvPr id="14340" name="Picture 5" descr="41"/>
          <p:cNvPicPr>
            <a:picLocks noChangeAspect="1"/>
          </p:cNvPicPr>
          <p:nvPr/>
        </p:nvPicPr>
        <p:blipFill>
          <a:blip r:embed="rId1"/>
          <a:stretch>
            <a:fillRect/>
          </a:stretch>
        </p:blipFill>
        <p:spPr>
          <a:xfrm>
            <a:off x="323850" y="1196975"/>
            <a:ext cx="8496300" cy="3746500"/>
          </a:xfrm>
          <a:prstGeom prst="rect">
            <a:avLst/>
          </a:prstGeom>
          <a:noFill/>
          <a:ln w="9525">
            <a:noFill/>
          </a:ln>
        </p:spPr>
      </p:pic>
      <p:sp>
        <p:nvSpPr>
          <p:cNvPr id="14341" name="Rectangle 6"/>
          <p:cNvSpPr/>
          <p:nvPr/>
        </p:nvSpPr>
        <p:spPr>
          <a:xfrm>
            <a:off x="2843213" y="5545138"/>
            <a:ext cx="3613150" cy="457200"/>
          </a:xfrm>
          <a:prstGeom prst="rect">
            <a:avLst/>
          </a:prstGeom>
          <a:noFill/>
          <a:ln w="25400">
            <a:noFill/>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2400" b="0" dirty="0">
                <a:solidFill>
                  <a:schemeClr val="tx1"/>
                </a:solidFill>
              </a:rPr>
              <a:t>信息安全标准的发展历史</a:t>
            </a:r>
            <a:r>
              <a:rPr lang="zh-CN" altLang="en-US" sz="2400" dirty="0">
                <a:solidFill>
                  <a:schemeClr val="tx1"/>
                </a:solidFill>
              </a:rPr>
              <a:t> </a:t>
            </a:r>
            <a:endParaRPr lang="zh-CN" altLang="en-US" sz="24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3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5364" name="Rectangle 3"/>
          <p:cNvSpPr>
            <a:spLocks noGrp="1"/>
          </p:cNvSpPr>
          <p:nvPr>
            <p:ph idx="1"/>
          </p:nvPr>
        </p:nvSpPr>
        <p:spPr>
          <a:xfrm>
            <a:off x="228600" y="914400"/>
            <a:ext cx="8534400" cy="4953000"/>
          </a:xfrm>
          <a:ln/>
        </p:spPr>
        <p:txBody>
          <a:bodyPr vert="horz" wrap="square" lIns="91440" tIns="45720" rIns="91440" bIns="45720" anchor="t" anchorCtr="0"/>
          <a:p>
            <a:pPr eaLnBrk="1" hangingPunct="1"/>
            <a:r>
              <a:rPr lang="en-US" altLang="zh-CN" sz="3600" dirty="0">
                <a:solidFill>
                  <a:schemeClr val="tx1"/>
                </a:solidFill>
              </a:rPr>
              <a:t>TDI/TCSEC</a:t>
            </a:r>
            <a:r>
              <a:rPr lang="zh-CN" altLang="en-US" sz="3600" dirty="0">
                <a:solidFill>
                  <a:schemeClr val="tx1"/>
                </a:solidFill>
              </a:rPr>
              <a:t>标准的基本内容</a:t>
            </a:r>
            <a:endParaRPr lang="zh-CN" altLang="en-US" sz="3600" dirty="0">
              <a:solidFill>
                <a:schemeClr val="tx1"/>
              </a:solidFill>
            </a:endParaRPr>
          </a:p>
          <a:p>
            <a:pPr lvl="1" eaLnBrk="1" hangingPunct="1">
              <a:lnSpc>
                <a:spcPct val="110000"/>
              </a:lnSpc>
              <a:spcBef>
                <a:spcPct val="40000"/>
              </a:spcBef>
            </a:pPr>
            <a:r>
              <a:rPr lang="en-US" altLang="zh-CN" dirty="0"/>
              <a:t>TDI</a:t>
            </a:r>
            <a:r>
              <a:rPr lang="zh-CN" altLang="en-US" dirty="0"/>
              <a:t>与</a:t>
            </a:r>
            <a:r>
              <a:rPr lang="en-US" altLang="zh-CN" dirty="0"/>
              <a:t>TCSEC</a:t>
            </a:r>
            <a:r>
              <a:rPr lang="zh-CN" altLang="en-US" dirty="0"/>
              <a:t>一样，从</a:t>
            </a:r>
            <a:r>
              <a:rPr lang="zh-CN" altLang="en-US" i="1" u="sng" dirty="0">
                <a:solidFill>
                  <a:srgbClr val="FF0000"/>
                </a:solidFill>
              </a:rPr>
              <a:t>四个方面</a:t>
            </a:r>
            <a:r>
              <a:rPr lang="zh-CN" altLang="en-US" dirty="0"/>
              <a:t>来描述安全性级别划分的指标</a:t>
            </a:r>
            <a:endParaRPr lang="zh-CN" altLang="en-US" dirty="0"/>
          </a:p>
          <a:p>
            <a:pPr lvl="2" eaLnBrk="1" hangingPunct="1">
              <a:lnSpc>
                <a:spcPct val="90000"/>
              </a:lnSpc>
              <a:spcBef>
                <a:spcPct val="40000"/>
              </a:spcBef>
            </a:pPr>
            <a:r>
              <a:rPr lang="zh-CN" altLang="en-US" sz="2800" dirty="0"/>
              <a:t>安全策略</a:t>
            </a:r>
            <a:endParaRPr lang="zh-CN" altLang="en-US" sz="2800" dirty="0"/>
          </a:p>
          <a:p>
            <a:pPr lvl="2" eaLnBrk="1" hangingPunct="1">
              <a:lnSpc>
                <a:spcPct val="90000"/>
              </a:lnSpc>
              <a:spcBef>
                <a:spcPct val="40000"/>
              </a:spcBef>
            </a:pPr>
            <a:r>
              <a:rPr lang="zh-CN" altLang="en-US" sz="2800" dirty="0"/>
              <a:t>责任</a:t>
            </a:r>
            <a:endParaRPr lang="zh-CN" altLang="en-US" sz="2800" dirty="0"/>
          </a:p>
          <a:p>
            <a:pPr lvl="2" eaLnBrk="1" hangingPunct="1">
              <a:lnSpc>
                <a:spcPct val="90000"/>
              </a:lnSpc>
              <a:spcBef>
                <a:spcPct val="40000"/>
              </a:spcBef>
            </a:pPr>
            <a:r>
              <a:rPr lang="zh-CN" altLang="en-US" sz="2800" dirty="0"/>
              <a:t>保证</a:t>
            </a:r>
            <a:endParaRPr lang="zh-CN" altLang="en-US" sz="2800" dirty="0"/>
          </a:p>
          <a:p>
            <a:pPr lvl="2" eaLnBrk="1" hangingPunct="1">
              <a:lnSpc>
                <a:spcPct val="90000"/>
              </a:lnSpc>
              <a:spcBef>
                <a:spcPct val="40000"/>
              </a:spcBef>
            </a:pPr>
            <a:r>
              <a:rPr lang="zh-CN" altLang="en-US" sz="2800" dirty="0"/>
              <a:t>文档</a:t>
            </a:r>
            <a:endParaRPr lang="zh-CN"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6388" name="Rectangle 3"/>
          <p:cNvSpPr>
            <a:spLocks noGrp="1"/>
          </p:cNvSpPr>
          <p:nvPr>
            <p:ph idx="1"/>
          </p:nvPr>
        </p:nvSpPr>
        <p:spPr>
          <a:xfrm>
            <a:off x="228600" y="914400"/>
            <a:ext cx="8534400" cy="5638800"/>
          </a:xfrm>
          <a:ln/>
        </p:spPr>
        <p:txBody>
          <a:bodyPr vert="horz" wrap="square" lIns="91440" tIns="45720" rIns="91440" bIns="45720" anchor="t" anchorCtr="0"/>
          <a:p>
            <a:pPr eaLnBrk="1" hangingPunct="1"/>
            <a:r>
              <a:rPr lang="en-US" altLang="zh-CN" sz="3600" dirty="0"/>
              <a:t>R1 </a:t>
            </a:r>
            <a:r>
              <a:rPr lang="zh-CN" altLang="en-US" sz="3600" dirty="0"/>
              <a:t>安全策略（</a:t>
            </a:r>
            <a:r>
              <a:rPr lang="en-US" altLang="zh-CN" sz="3600" dirty="0"/>
              <a:t>Security Policy</a:t>
            </a:r>
            <a:r>
              <a:rPr lang="zh-CN" altLang="en-US" sz="3600" dirty="0"/>
              <a:t>）</a:t>
            </a:r>
            <a:endParaRPr lang="zh-CN" altLang="en-US" sz="2800" dirty="0"/>
          </a:p>
          <a:p>
            <a:pPr lvl="1" eaLnBrk="1" hangingPunct="1">
              <a:lnSpc>
                <a:spcPct val="110000"/>
              </a:lnSpc>
              <a:buNone/>
            </a:pPr>
            <a:r>
              <a:rPr lang="zh-CN" altLang="en-US" sz="2400" dirty="0"/>
              <a:t>  </a:t>
            </a:r>
            <a:r>
              <a:rPr lang="en-US" altLang="zh-CN" dirty="0"/>
              <a:t>R1.1 </a:t>
            </a:r>
            <a:r>
              <a:rPr lang="zh-CN" altLang="en-US" dirty="0"/>
              <a:t>自主存取控制 （</a:t>
            </a:r>
            <a:r>
              <a:rPr lang="en-US" altLang="zh-CN" dirty="0"/>
              <a:t>Discretionary Access</a:t>
            </a:r>
            <a:endParaRPr lang="en-US" altLang="zh-CN" dirty="0"/>
          </a:p>
          <a:p>
            <a:pPr lvl="1" eaLnBrk="1" hangingPunct="1">
              <a:lnSpc>
                <a:spcPct val="110000"/>
              </a:lnSpc>
              <a:spcBef>
                <a:spcPct val="0"/>
              </a:spcBef>
              <a:buNone/>
            </a:pPr>
            <a:r>
              <a:rPr lang="en-US" altLang="zh-CN" dirty="0"/>
              <a:t>                                       Control</a:t>
            </a:r>
            <a:r>
              <a:rPr lang="zh-CN" altLang="en-US" dirty="0"/>
              <a:t>，简记为</a:t>
            </a:r>
            <a:r>
              <a:rPr lang="en-US" altLang="zh-CN" dirty="0"/>
              <a:t>DAC</a:t>
            </a:r>
            <a:r>
              <a:rPr lang="zh-CN" altLang="en-US" dirty="0"/>
              <a:t>）</a:t>
            </a:r>
            <a:endParaRPr lang="zh-CN" altLang="en-US" dirty="0"/>
          </a:p>
          <a:p>
            <a:pPr lvl="1" eaLnBrk="1" hangingPunct="1">
              <a:lnSpc>
                <a:spcPct val="110000"/>
              </a:lnSpc>
              <a:buNone/>
            </a:pPr>
            <a:r>
              <a:rPr lang="zh-CN" altLang="en-US" dirty="0"/>
              <a:t>  </a:t>
            </a:r>
            <a:r>
              <a:rPr lang="en-US" altLang="zh-CN" dirty="0"/>
              <a:t>R1.2 </a:t>
            </a:r>
            <a:r>
              <a:rPr lang="zh-CN" altLang="en-US" dirty="0"/>
              <a:t>客体重用（</a:t>
            </a:r>
            <a:r>
              <a:rPr lang="en-US" altLang="zh-CN" dirty="0"/>
              <a:t>Object Reuse</a:t>
            </a:r>
            <a:r>
              <a:rPr lang="zh-CN" altLang="en-US" dirty="0"/>
              <a:t>）</a:t>
            </a:r>
            <a:endParaRPr lang="zh-CN" altLang="en-US" dirty="0"/>
          </a:p>
          <a:p>
            <a:pPr lvl="1" eaLnBrk="1" hangingPunct="1">
              <a:lnSpc>
                <a:spcPct val="110000"/>
              </a:lnSpc>
              <a:buNone/>
            </a:pPr>
            <a:r>
              <a:rPr lang="zh-CN" altLang="en-US" dirty="0"/>
              <a:t>  </a:t>
            </a:r>
            <a:r>
              <a:rPr lang="en-US" altLang="zh-CN" dirty="0"/>
              <a:t>R1.3 </a:t>
            </a:r>
            <a:r>
              <a:rPr lang="zh-CN" altLang="en-US" dirty="0"/>
              <a:t>标记（</a:t>
            </a:r>
            <a:r>
              <a:rPr lang="en-US" altLang="zh-CN" dirty="0"/>
              <a:t>Labels</a:t>
            </a:r>
            <a:r>
              <a:rPr lang="zh-CN" altLang="en-US" dirty="0"/>
              <a:t>）</a:t>
            </a:r>
            <a:endParaRPr lang="zh-CN" altLang="en-US" dirty="0"/>
          </a:p>
          <a:p>
            <a:pPr lvl="1" eaLnBrk="1" hangingPunct="1">
              <a:lnSpc>
                <a:spcPct val="110000"/>
              </a:lnSpc>
              <a:buNone/>
            </a:pPr>
            <a:r>
              <a:rPr lang="zh-CN" altLang="en-US" dirty="0"/>
              <a:t>  </a:t>
            </a:r>
            <a:r>
              <a:rPr lang="en-US" altLang="zh-CN" dirty="0"/>
              <a:t>R1.4 </a:t>
            </a:r>
            <a:r>
              <a:rPr lang="zh-CN" altLang="en-US" dirty="0"/>
              <a:t>强制存取控制（</a:t>
            </a:r>
            <a:r>
              <a:rPr lang="en-US" altLang="zh-CN" dirty="0"/>
              <a:t>Mandatory Access</a:t>
            </a:r>
            <a:endParaRPr lang="en-US" altLang="zh-CN" dirty="0"/>
          </a:p>
          <a:p>
            <a:pPr lvl="1" eaLnBrk="1" hangingPunct="1">
              <a:lnSpc>
                <a:spcPct val="110000"/>
              </a:lnSpc>
              <a:spcBef>
                <a:spcPct val="0"/>
              </a:spcBef>
              <a:buNone/>
            </a:pPr>
            <a:r>
              <a:rPr lang="en-US" altLang="zh-CN" dirty="0"/>
              <a:t>                                       Control</a:t>
            </a:r>
            <a:r>
              <a:rPr lang="zh-CN" altLang="en-US" dirty="0"/>
              <a:t>，简记为</a:t>
            </a:r>
            <a:r>
              <a:rPr lang="en-US" altLang="zh-CN" dirty="0"/>
              <a:t>MAC</a:t>
            </a:r>
            <a:r>
              <a:rPr lang="zh-CN" altLang="en-US" dirty="0"/>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7412" name="Rectangle 3"/>
          <p:cNvSpPr>
            <a:spLocks noGrp="1"/>
          </p:cNvSpPr>
          <p:nvPr>
            <p:ph idx="1"/>
          </p:nvPr>
        </p:nvSpPr>
        <p:spPr>
          <a:xfrm>
            <a:off x="228600" y="914400"/>
            <a:ext cx="8534400" cy="5638800"/>
          </a:xfrm>
          <a:ln/>
        </p:spPr>
        <p:txBody>
          <a:bodyPr vert="horz" wrap="square" lIns="91440" tIns="45720" rIns="91440" bIns="45720" anchor="t" anchorCtr="0"/>
          <a:p>
            <a:pPr eaLnBrk="1" hangingPunct="1"/>
            <a:r>
              <a:rPr lang="en-US" altLang="zh-CN" sz="3600" dirty="0"/>
              <a:t>R2 </a:t>
            </a:r>
            <a:r>
              <a:rPr lang="zh-CN" altLang="en-US" sz="3600" dirty="0"/>
              <a:t>责任（</a:t>
            </a:r>
            <a:r>
              <a:rPr lang="en-US" altLang="zh-CN" sz="3600" dirty="0"/>
              <a:t>Accountability</a:t>
            </a:r>
            <a:r>
              <a:rPr lang="zh-CN" altLang="en-US" sz="3600" dirty="0"/>
              <a:t>）</a:t>
            </a:r>
            <a:endParaRPr lang="zh-CN" altLang="en-US" sz="3600" dirty="0"/>
          </a:p>
          <a:p>
            <a:pPr lvl="1" eaLnBrk="1" hangingPunct="1">
              <a:buNone/>
            </a:pPr>
            <a:r>
              <a:rPr lang="zh-CN" altLang="en-US" sz="2400" dirty="0"/>
              <a:t>  </a:t>
            </a:r>
            <a:r>
              <a:rPr lang="en-US" altLang="zh-CN" dirty="0"/>
              <a:t>R2.1 </a:t>
            </a:r>
            <a:r>
              <a:rPr lang="zh-CN" altLang="en-US" dirty="0"/>
              <a:t>标识与鉴别（</a:t>
            </a:r>
            <a:r>
              <a:rPr lang="en-US" altLang="zh-CN" dirty="0"/>
              <a:t>Identification &amp; </a:t>
            </a:r>
            <a:endParaRPr lang="en-US" altLang="zh-CN" dirty="0"/>
          </a:p>
          <a:p>
            <a:pPr lvl="1" eaLnBrk="1" hangingPunct="1">
              <a:spcBef>
                <a:spcPct val="0"/>
              </a:spcBef>
              <a:buNone/>
            </a:pPr>
            <a:r>
              <a:rPr lang="en-US" altLang="zh-CN" dirty="0"/>
              <a:t>                                  Authentication</a:t>
            </a:r>
            <a:r>
              <a:rPr lang="zh-CN" altLang="en-US" dirty="0"/>
              <a:t>）</a:t>
            </a:r>
            <a:endParaRPr lang="zh-CN" altLang="en-US" dirty="0"/>
          </a:p>
          <a:p>
            <a:pPr lvl="1" eaLnBrk="1" hangingPunct="1">
              <a:buNone/>
            </a:pPr>
            <a:r>
              <a:rPr lang="zh-CN" altLang="en-US" dirty="0"/>
              <a:t>  </a:t>
            </a:r>
            <a:r>
              <a:rPr lang="en-US" altLang="zh-CN" dirty="0"/>
              <a:t>R2.2 </a:t>
            </a:r>
            <a:r>
              <a:rPr lang="zh-CN" altLang="en-US" dirty="0"/>
              <a:t>审计（</a:t>
            </a:r>
            <a:r>
              <a:rPr lang="en-US" altLang="zh-CN" dirty="0"/>
              <a:t>Audit</a:t>
            </a:r>
            <a:r>
              <a:rPr lang="zh-CN" altLang="en-US" dirty="0"/>
              <a:t>）</a:t>
            </a:r>
            <a:endParaRPr lang="zh-CN" altLang="en-US" dirty="0"/>
          </a:p>
          <a:p>
            <a:pPr lvl="1" eaLnBrk="1" hangingPunct="1">
              <a:buNone/>
            </a:pPr>
            <a:endParaRPr lang="zh-CN" altLang="en-US" sz="2400" dirty="0"/>
          </a:p>
          <a:p>
            <a:pPr eaLnBrk="1" hangingPunct="1"/>
            <a:r>
              <a:rPr lang="en-US" altLang="zh-CN" sz="3600" dirty="0"/>
              <a:t>R3 </a:t>
            </a:r>
            <a:r>
              <a:rPr lang="zh-CN" altLang="en-US" sz="3600" dirty="0"/>
              <a:t>保证（</a:t>
            </a:r>
            <a:r>
              <a:rPr lang="en-US" altLang="zh-CN" sz="3600" dirty="0"/>
              <a:t>Assurance</a:t>
            </a:r>
            <a:r>
              <a:rPr lang="zh-CN" altLang="en-US" sz="3600" dirty="0"/>
              <a:t>）</a:t>
            </a:r>
            <a:endParaRPr lang="zh-CN" altLang="en-US" sz="3600" dirty="0"/>
          </a:p>
          <a:p>
            <a:pPr lvl="1" eaLnBrk="1" hangingPunct="1">
              <a:buNone/>
            </a:pPr>
            <a:r>
              <a:rPr lang="zh-CN" altLang="en-US" sz="2400" dirty="0"/>
              <a:t>  </a:t>
            </a:r>
            <a:r>
              <a:rPr lang="en-US" altLang="zh-CN" dirty="0"/>
              <a:t>R3.1 </a:t>
            </a:r>
            <a:r>
              <a:rPr lang="zh-CN" altLang="en-US" dirty="0"/>
              <a:t>操作保证（</a:t>
            </a:r>
            <a:r>
              <a:rPr lang="en-US" altLang="zh-CN" dirty="0"/>
              <a:t>Operational Assurance</a:t>
            </a:r>
            <a:r>
              <a:rPr lang="zh-CN" altLang="en-US" dirty="0"/>
              <a:t>）</a:t>
            </a:r>
            <a:endParaRPr lang="zh-CN" altLang="en-US" dirty="0"/>
          </a:p>
          <a:p>
            <a:pPr lvl="1" eaLnBrk="1" hangingPunct="1">
              <a:buNone/>
            </a:pPr>
            <a:r>
              <a:rPr lang="zh-CN" altLang="en-US" dirty="0"/>
              <a:t>  </a:t>
            </a:r>
            <a:r>
              <a:rPr lang="en-US" altLang="zh-CN" dirty="0"/>
              <a:t>R3.2 </a:t>
            </a:r>
            <a:r>
              <a:rPr lang="zh-CN" altLang="en-US" dirty="0"/>
              <a:t>生命周期保证（</a:t>
            </a:r>
            <a:r>
              <a:rPr lang="en-US" altLang="zh-CN" dirty="0"/>
              <a:t>Life Cycle Assurance</a:t>
            </a:r>
            <a:r>
              <a:rPr lang="zh-CN" altLang="en-US" dirty="0"/>
              <a:t>）</a:t>
            </a:r>
            <a:endParaRPr lang="zh-CN" altLang="en-US" dirty="0"/>
          </a:p>
          <a:p>
            <a:pPr lvl="1" eaLnBrk="1" hangingPunct="1">
              <a:buNone/>
            </a:pPr>
            <a:endParaRPr lang="zh-CN"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8436" name="Rectangle 3"/>
          <p:cNvSpPr>
            <a:spLocks noGrp="1"/>
          </p:cNvSpPr>
          <p:nvPr>
            <p:ph idx="1"/>
          </p:nvPr>
        </p:nvSpPr>
        <p:spPr>
          <a:xfrm>
            <a:off x="228600" y="914400"/>
            <a:ext cx="8534400" cy="5638800"/>
          </a:xfrm>
          <a:ln/>
        </p:spPr>
        <p:txBody>
          <a:bodyPr vert="horz" wrap="square" lIns="91440" tIns="45720" rIns="91440" bIns="45720" anchor="t" anchorCtr="0"/>
          <a:p>
            <a:pPr eaLnBrk="1" hangingPunct="1"/>
            <a:r>
              <a:rPr lang="en-US" altLang="zh-CN" sz="3600" dirty="0"/>
              <a:t>R4 </a:t>
            </a:r>
            <a:r>
              <a:rPr lang="zh-CN" altLang="en-US" sz="3600" dirty="0"/>
              <a:t>文档（</a:t>
            </a:r>
            <a:r>
              <a:rPr lang="en-US" altLang="zh-CN" sz="3600" dirty="0"/>
              <a:t>Documentation</a:t>
            </a:r>
            <a:r>
              <a:rPr lang="zh-CN" altLang="en-US" sz="3600" dirty="0"/>
              <a:t>）</a:t>
            </a:r>
            <a:endParaRPr lang="zh-CN" altLang="en-US" sz="2800" dirty="0"/>
          </a:p>
          <a:p>
            <a:pPr lvl="1" eaLnBrk="1" hangingPunct="1">
              <a:lnSpc>
                <a:spcPct val="110000"/>
              </a:lnSpc>
              <a:buNone/>
            </a:pPr>
            <a:r>
              <a:rPr lang="zh-CN" altLang="en-US" dirty="0"/>
              <a:t>  </a:t>
            </a:r>
            <a:r>
              <a:rPr lang="en-US" altLang="zh-CN" dirty="0"/>
              <a:t>R4.1 </a:t>
            </a:r>
            <a:r>
              <a:rPr lang="zh-CN" altLang="en-US" dirty="0"/>
              <a:t>安全特性用户指南（</a:t>
            </a:r>
            <a:r>
              <a:rPr lang="en-US" altLang="zh-CN" dirty="0"/>
              <a:t>Security Features</a:t>
            </a:r>
            <a:endParaRPr lang="en-US" altLang="zh-CN" dirty="0"/>
          </a:p>
          <a:p>
            <a:pPr lvl="1" eaLnBrk="1" hangingPunct="1">
              <a:lnSpc>
                <a:spcPct val="110000"/>
              </a:lnSpc>
              <a:spcBef>
                <a:spcPct val="0"/>
              </a:spcBef>
              <a:buNone/>
            </a:pPr>
            <a:r>
              <a:rPr lang="en-US" altLang="zh-CN" dirty="0"/>
              <a:t>                                              User's Guide</a:t>
            </a:r>
            <a:r>
              <a:rPr lang="zh-CN" altLang="en-US" dirty="0"/>
              <a:t>）</a:t>
            </a:r>
            <a:endParaRPr lang="zh-CN" altLang="en-US" dirty="0"/>
          </a:p>
          <a:p>
            <a:pPr lvl="1" eaLnBrk="1" hangingPunct="1">
              <a:lnSpc>
                <a:spcPct val="110000"/>
              </a:lnSpc>
              <a:buNone/>
            </a:pPr>
            <a:r>
              <a:rPr lang="zh-CN" altLang="en-US" dirty="0"/>
              <a:t>  </a:t>
            </a:r>
            <a:r>
              <a:rPr lang="en-US" altLang="zh-CN" dirty="0"/>
              <a:t>R4.2 </a:t>
            </a:r>
            <a:r>
              <a:rPr lang="zh-CN" altLang="en-US" dirty="0"/>
              <a:t>可信设施手册（</a:t>
            </a:r>
            <a:r>
              <a:rPr lang="en-US" altLang="zh-CN" dirty="0"/>
              <a:t>Trusted Facility Manual</a:t>
            </a:r>
            <a:r>
              <a:rPr lang="zh-CN" altLang="en-US" dirty="0"/>
              <a:t>）</a:t>
            </a:r>
            <a:endParaRPr lang="zh-CN" altLang="en-US" dirty="0"/>
          </a:p>
          <a:p>
            <a:pPr lvl="1" eaLnBrk="1" hangingPunct="1">
              <a:lnSpc>
                <a:spcPct val="110000"/>
              </a:lnSpc>
              <a:buNone/>
            </a:pPr>
            <a:r>
              <a:rPr lang="zh-CN" altLang="en-US" dirty="0"/>
              <a:t>  </a:t>
            </a:r>
            <a:r>
              <a:rPr lang="en-US" altLang="zh-CN" dirty="0"/>
              <a:t>R4.3 </a:t>
            </a:r>
            <a:r>
              <a:rPr lang="zh-CN" altLang="en-US" dirty="0"/>
              <a:t>测试文档（</a:t>
            </a:r>
            <a:r>
              <a:rPr lang="en-US" altLang="zh-CN" dirty="0"/>
              <a:t>Test Documentation</a:t>
            </a:r>
            <a:r>
              <a:rPr lang="zh-CN" altLang="en-US" dirty="0"/>
              <a:t>）</a:t>
            </a:r>
            <a:endParaRPr lang="zh-CN" altLang="en-US" dirty="0"/>
          </a:p>
          <a:p>
            <a:pPr lvl="1" eaLnBrk="1" hangingPunct="1">
              <a:lnSpc>
                <a:spcPct val="110000"/>
              </a:lnSpc>
              <a:buNone/>
            </a:pPr>
            <a:r>
              <a:rPr lang="zh-CN" altLang="en-US" dirty="0"/>
              <a:t>  </a:t>
            </a:r>
            <a:r>
              <a:rPr lang="en-US" altLang="zh-CN" dirty="0"/>
              <a:t>R4.4 </a:t>
            </a:r>
            <a:r>
              <a:rPr lang="zh-CN" altLang="en-US" dirty="0"/>
              <a:t>设计文档（</a:t>
            </a:r>
            <a:r>
              <a:rPr lang="en-US" altLang="zh-CN" dirty="0"/>
              <a:t>Design Documentation</a:t>
            </a:r>
            <a:r>
              <a:rPr lang="zh-CN" altLang="en-US" dirty="0"/>
              <a:t>）</a:t>
            </a:r>
            <a:endParaRPr lang="zh-CN" altLang="en-US" dirty="0"/>
          </a:p>
          <a:p>
            <a:pPr lvl="1" eaLnBrk="1" hangingPunct="1">
              <a:buNone/>
            </a:pP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4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19460" name="Rectangle 3"/>
          <p:cNvSpPr>
            <a:spLocks noGrp="1"/>
          </p:cNvSpPr>
          <p:nvPr>
            <p:ph idx="1"/>
          </p:nvPr>
        </p:nvSpPr>
        <p:spPr>
          <a:xfrm>
            <a:off x="228600" y="838200"/>
            <a:ext cx="8534400" cy="533400"/>
          </a:xfrm>
          <a:ln/>
        </p:spPr>
        <p:txBody>
          <a:bodyPr vert="horz" wrap="square" lIns="91440" tIns="45720" rIns="91440" bIns="45720" anchor="t" anchorCtr="0"/>
          <a:p>
            <a:pPr eaLnBrk="1" hangingPunct="1">
              <a:lnSpc>
                <a:spcPct val="90000"/>
              </a:lnSpc>
            </a:pPr>
            <a:r>
              <a:rPr lang="en-US" altLang="zh-CN" dirty="0"/>
              <a:t>TCSEC/TDI</a:t>
            </a:r>
            <a:r>
              <a:rPr lang="zh-CN" altLang="en-US" dirty="0"/>
              <a:t>安全级别划分</a:t>
            </a:r>
            <a:endParaRPr lang="zh-CN" altLang="en-US" dirty="0"/>
          </a:p>
        </p:txBody>
      </p:sp>
      <p:graphicFrame>
        <p:nvGraphicFramePr>
          <p:cNvPr id="2" name="Group 4"/>
          <p:cNvGraphicFramePr>
            <a:graphicFrameLocks noGrp="1"/>
          </p:cNvGraphicFramePr>
          <p:nvPr/>
        </p:nvGraphicFramePr>
        <p:xfrm>
          <a:off x="685800" y="1447800"/>
          <a:ext cx="8153400" cy="5041900"/>
        </p:xfrm>
        <a:graphic>
          <a:graphicData uri="http://schemas.openxmlformats.org/drawingml/2006/table">
            <a:tbl>
              <a:tblPr/>
              <a:tblGrid>
                <a:gridCol w="1741488"/>
                <a:gridCol w="6411912"/>
              </a:tblGrid>
              <a:tr h="73331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安全级别</a:t>
                      </a:r>
                      <a:endParaRPr kumimoji="1" lang="zh-CN" altLang="en-US"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rPr>
                        <a:t>定义</a:t>
                      </a:r>
                      <a:endParaRPr kumimoji="1" lang="zh-CN" altLang="en-US" sz="2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0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A1</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验证设计（</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Verified Design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0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B3</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安全域（</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Security Domains</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0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B2</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结构化保护（</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Structural Protection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0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B1</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标记安全保护（</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Labeled Security Protection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0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C2</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受控的存取保护（</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Controlled Access Protection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294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C1</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自主安全保护（</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Discretionary Security Protection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094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最小保护（</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Minimal Protection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0484" name="Rectangle 3"/>
          <p:cNvSpPr>
            <a:spLocks noGrp="1"/>
          </p:cNvSpPr>
          <p:nvPr>
            <p:ph idx="1"/>
          </p:nvPr>
        </p:nvSpPr>
        <p:spPr>
          <a:xfrm>
            <a:off x="228600" y="914400"/>
            <a:ext cx="8534400" cy="5410200"/>
          </a:xfrm>
          <a:ln/>
        </p:spPr>
        <p:txBody>
          <a:bodyPr vert="horz" wrap="square" lIns="91440" tIns="45720" rIns="91440" bIns="45720" anchor="t" anchorCtr="0"/>
          <a:p>
            <a:pPr eaLnBrk="1" hangingPunct="1">
              <a:lnSpc>
                <a:spcPct val="90000"/>
              </a:lnSpc>
            </a:pPr>
            <a:r>
              <a:rPr lang="zh-CN" altLang="en-US" sz="3600" dirty="0"/>
              <a:t>安全等级：四组，七个等级</a:t>
            </a:r>
            <a:r>
              <a:rPr lang="zh-CN" altLang="en-US" dirty="0"/>
              <a:t> </a:t>
            </a:r>
            <a:endParaRPr lang="zh-CN" altLang="en-US" dirty="0"/>
          </a:p>
          <a:p>
            <a:pPr lvl="1" eaLnBrk="1" hangingPunct="1">
              <a:lnSpc>
                <a:spcPct val="90000"/>
              </a:lnSpc>
            </a:pPr>
            <a:r>
              <a:rPr lang="zh-CN" altLang="en-US" dirty="0"/>
              <a:t> </a:t>
            </a:r>
            <a:r>
              <a:rPr lang="en-US" altLang="zh-CN" sz="3200" dirty="0"/>
              <a:t>D</a:t>
            </a:r>
            <a:endParaRPr lang="en-US" altLang="zh-CN" sz="3200" dirty="0"/>
          </a:p>
          <a:p>
            <a:pPr lvl="1" eaLnBrk="1" hangingPunct="1">
              <a:lnSpc>
                <a:spcPct val="90000"/>
              </a:lnSpc>
            </a:pPr>
            <a:r>
              <a:rPr lang="en-US" altLang="zh-CN" sz="3200" dirty="0"/>
              <a:t> C</a:t>
            </a:r>
            <a:r>
              <a:rPr lang="zh-CN" altLang="en-US" sz="3200" dirty="0"/>
              <a:t>（</a:t>
            </a:r>
            <a:r>
              <a:rPr lang="en-US" altLang="zh-CN" sz="3200" dirty="0"/>
              <a:t>C1</a:t>
            </a:r>
            <a:r>
              <a:rPr lang="zh-CN" altLang="en-US" sz="3200" dirty="0"/>
              <a:t>，</a:t>
            </a:r>
            <a:r>
              <a:rPr lang="en-US" altLang="zh-CN" sz="3200" dirty="0"/>
              <a:t>C2</a:t>
            </a:r>
            <a:r>
              <a:rPr lang="zh-CN" altLang="en-US" sz="3200" dirty="0"/>
              <a:t>）</a:t>
            </a:r>
            <a:endParaRPr lang="zh-CN" altLang="en-US" sz="3200" dirty="0"/>
          </a:p>
          <a:p>
            <a:pPr lvl="1" eaLnBrk="1" hangingPunct="1">
              <a:lnSpc>
                <a:spcPct val="90000"/>
              </a:lnSpc>
            </a:pPr>
            <a:r>
              <a:rPr lang="zh-CN" altLang="en-US" sz="3200" dirty="0"/>
              <a:t> </a:t>
            </a:r>
            <a:r>
              <a:rPr lang="en-US" altLang="zh-CN" sz="3200" dirty="0"/>
              <a:t>B</a:t>
            </a:r>
            <a:r>
              <a:rPr lang="zh-CN" altLang="en-US" sz="3200" dirty="0"/>
              <a:t>（</a:t>
            </a:r>
            <a:r>
              <a:rPr lang="en-US" altLang="zh-CN" sz="3200" dirty="0"/>
              <a:t>B1</a:t>
            </a:r>
            <a:r>
              <a:rPr lang="zh-CN" altLang="en-US" sz="3200" dirty="0"/>
              <a:t>，</a:t>
            </a:r>
            <a:r>
              <a:rPr lang="en-US" altLang="zh-CN" sz="3200" dirty="0"/>
              <a:t>B2</a:t>
            </a:r>
            <a:r>
              <a:rPr lang="zh-CN" altLang="en-US" sz="3200" dirty="0"/>
              <a:t>，</a:t>
            </a:r>
            <a:r>
              <a:rPr lang="en-US" altLang="zh-CN" sz="3200" dirty="0"/>
              <a:t>B3</a:t>
            </a:r>
            <a:r>
              <a:rPr lang="zh-CN" altLang="en-US" sz="3200" dirty="0"/>
              <a:t>）</a:t>
            </a:r>
            <a:endParaRPr lang="zh-CN" altLang="en-US" sz="3200" dirty="0"/>
          </a:p>
          <a:p>
            <a:pPr lvl="1" eaLnBrk="1" hangingPunct="1">
              <a:lnSpc>
                <a:spcPct val="90000"/>
              </a:lnSpc>
            </a:pPr>
            <a:r>
              <a:rPr lang="zh-CN" altLang="en-US" sz="3200" dirty="0"/>
              <a:t> </a:t>
            </a:r>
            <a:r>
              <a:rPr lang="en-US" altLang="zh-CN" sz="3200" dirty="0"/>
              <a:t>A</a:t>
            </a:r>
            <a:r>
              <a:rPr lang="zh-CN" altLang="en-US" sz="3200" dirty="0"/>
              <a:t>（</a:t>
            </a:r>
            <a:r>
              <a:rPr lang="en-US" altLang="zh-CN" sz="3200" dirty="0"/>
              <a:t>A1</a:t>
            </a:r>
            <a:r>
              <a:rPr lang="zh-CN" altLang="en-US" sz="3200" dirty="0"/>
              <a:t>）</a:t>
            </a:r>
            <a:endParaRPr lang="zh-CN" altLang="en-US" sz="3200" dirty="0"/>
          </a:p>
          <a:p>
            <a:pPr eaLnBrk="1" hangingPunct="1">
              <a:lnSpc>
                <a:spcPct val="90000"/>
              </a:lnSpc>
            </a:pPr>
            <a:r>
              <a:rPr lang="zh-CN" altLang="en-US" dirty="0">
                <a:solidFill>
                  <a:schemeClr val="tx1"/>
                </a:solidFill>
              </a:rPr>
              <a:t>按系统可靠或可信程度逐渐增高</a:t>
            </a:r>
            <a:endParaRPr lang="zh-CN" altLang="en-US" dirty="0">
              <a:solidFill>
                <a:schemeClr val="tx1"/>
              </a:solidFill>
            </a:endParaRPr>
          </a:p>
          <a:p>
            <a:pPr eaLnBrk="1" hangingPunct="1">
              <a:lnSpc>
                <a:spcPct val="90000"/>
              </a:lnSpc>
            </a:pPr>
            <a:r>
              <a:rPr lang="zh-CN" altLang="en-US" dirty="0">
                <a:solidFill>
                  <a:schemeClr val="tx1"/>
                </a:solidFill>
              </a:rPr>
              <a:t>各安全级别之间具有一种</a:t>
            </a:r>
            <a:r>
              <a:rPr lang="zh-CN" altLang="en-US" dirty="0">
                <a:solidFill>
                  <a:srgbClr val="FF0000"/>
                </a:solidFill>
              </a:rPr>
              <a:t>偏序向下兼容</a:t>
            </a:r>
            <a:r>
              <a:rPr lang="zh-CN" altLang="en-US" dirty="0">
                <a:solidFill>
                  <a:schemeClr val="tx1"/>
                </a:solidFill>
              </a:rPr>
              <a:t>的关系，即较高安全性级别提供的安全保护要包含较低级别的所有保护要求，同时提供更多或更完善的保护能力。</a:t>
            </a:r>
            <a:endParaRPr lang="zh-CN" altLang="en-US"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5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1508"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r>
              <a:rPr lang="en-US" altLang="zh-CN" sz="3600" dirty="0"/>
              <a:t>D</a:t>
            </a:r>
            <a:r>
              <a:rPr lang="zh-CN" altLang="en-US" sz="3600" dirty="0"/>
              <a:t>级</a:t>
            </a:r>
            <a:endParaRPr lang="zh-CN" altLang="en-US" sz="2800" dirty="0"/>
          </a:p>
          <a:p>
            <a:pPr lvl="1" eaLnBrk="1" hangingPunct="1">
              <a:lnSpc>
                <a:spcPct val="110000"/>
              </a:lnSpc>
              <a:spcBef>
                <a:spcPct val="60000"/>
              </a:spcBef>
            </a:pPr>
            <a:r>
              <a:rPr lang="zh-CN" altLang="en-US" dirty="0"/>
              <a:t>将一切不符合更高标准的系统均归于</a:t>
            </a:r>
            <a:r>
              <a:rPr lang="en-US" altLang="zh-CN" dirty="0"/>
              <a:t>D</a:t>
            </a:r>
            <a:r>
              <a:rPr lang="zh-CN" altLang="en-US" dirty="0"/>
              <a:t>组</a:t>
            </a:r>
            <a:endParaRPr lang="zh-CN" altLang="en-US" dirty="0"/>
          </a:p>
          <a:p>
            <a:pPr lvl="1" eaLnBrk="1" hangingPunct="1">
              <a:lnSpc>
                <a:spcPct val="110000"/>
              </a:lnSpc>
              <a:spcBef>
                <a:spcPct val="60000"/>
              </a:spcBef>
            </a:pPr>
            <a:r>
              <a:rPr lang="zh-CN" altLang="en-US" dirty="0"/>
              <a:t>典型例子：</a:t>
            </a:r>
            <a:r>
              <a:rPr lang="en-US" altLang="zh-CN" dirty="0"/>
              <a:t>DOS</a:t>
            </a:r>
            <a:r>
              <a:rPr lang="zh-CN" altLang="en-US" dirty="0"/>
              <a:t>是安全标准为</a:t>
            </a:r>
            <a:r>
              <a:rPr lang="en-US" altLang="zh-CN" dirty="0"/>
              <a:t>D</a:t>
            </a:r>
            <a:r>
              <a:rPr lang="zh-CN" altLang="en-US" dirty="0"/>
              <a:t>的操作系统</a:t>
            </a:r>
            <a:endParaRPr lang="zh-CN" altLang="en-US" dirty="0"/>
          </a:p>
          <a:p>
            <a:pPr lvl="2" eaLnBrk="1" hangingPunct="1">
              <a:lnSpc>
                <a:spcPct val="120000"/>
              </a:lnSpc>
            </a:pPr>
            <a:r>
              <a:rPr lang="zh-CN" altLang="en-US" sz="2800" dirty="0"/>
              <a:t> </a:t>
            </a:r>
            <a:r>
              <a:rPr lang="en-US" altLang="zh-CN" sz="2800" dirty="0"/>
              <a:t>DOS</a:t>
            </a:r>
            <a:r>
              <a:rPr lang="zh-CN" altLang="en-US" sz="2800" dirty="0"/>
              <a:t>在安全性方面几乎没有什么专门的机制来保障</a:t>
            </a:r>
            <a:endParaRPr lang="zh-CN"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2532"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r>
              <a:rPr lang="en-US" altLang="zh-CN" sz="3600" dirty="0"/>
              <a:t>C1</a:t>
            </a:r>
            <a:r>
              <a:rPr lang="zh-CN" altLang="en-US" sz="3600" dirty="0"/>
              <a:t>级</a:t>
            </a:r>
            <a:endParaRPr lang="zh-CN" altLang="en-US" sz="2800" dirty="0"/>
          </a:p>
          <a:p>
            <a:pPr lvl="1" eaLnBrk="1" hangingPunct="1">
              <a:lnSpc>
                <a:spcPct val="120000"/>
              </a:lnSpc>
              <a:spcBef>
                <a:spcPct val="60000"/>
              </a:spcBef>
            </a:pPr>
            <a:r>
              <a:rPr lang="zh-CN" altLang="en-US" dirty="0"/>
              <a:t>非常初级的自主安全保护</a:t>
            </a:r>
            <a:endParaRPr lang="zh-CN" altLang="en-US" dirty="0"/>
          </a:p>
          <a:p>
            <a:pPr lvl="1" eaLnBrk="1" hangingPunct="1">
              <a:lnSpc>
                <a:spcPct val="120000"/>
              </a:lnSpc>
              <a:spcBef>
                <a:spcPct val="60000"/>
              </a:spcBef>
            </a:pPr>
            <a:r>
              <a:rPr lang="zh-CN" altLang="en-US" dirty="0"/>
              <a:t>能够实现对用户和数据的分离，进行</a:t>
            </a:r>
            <a:r>
              <a:rPr lang="zh-CN" altLang="en-US" dirty="0">
                <a:solidFill>
                  <a:srgbClr val="FF0000"/>
                </a:solidFill>
              </a:rPr>
              <a:t>自主存取控制（</a:t>
            </a:r>
            <a:r>
              <a:rPr lang="en-US" altLang="zh-CN" dirty="0">
                <a:solidFill>
                  <a:srgbClr val="FF0000"/>
                </a:solidFill>
              </a:rPr>
              <a:t>DAC</a:t>
            </a:r>
            <a:r>
              <a:rPr lang="zh-CN" altLang="en-US" dirty="0">
                <a:solidFill>
                  <a:srgbClr val="FF0000"/>
                </a:solidFill>
              </a:rPr>
              <a:t>），</a:t>
            </a:r>
            <a:r>
              <a:rPr lang="zh-CN" altLang="en-US" dirty="0"/>
              <a:t>保护或限制用户权限的传播。</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3556"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lnSpc>
                <a:spcPct val="120000"/>
              </a:lnSpc>
              <a:spcBef>
                <a:spcPct val="15000"/>
              </a:spcBef>
            </a:pPr>
            <a:r>
              <a:rPr lang="en-US" altLang="zh-CN" sz="3600" dirty="0"/>
              <a:t>C2</a:t>
            </a:r>
            <a:r>
              <a:rPr lang="zh-CN" altLang="en-US" sz="3600" dirty="0"/>
              <a:t>级</a:t>
            </a:r>
            <a:endParaRPr lang="zh-CN" altLang="en-US" dirty="0"/>
          </a:p>
          <a:p>
            <a:pPr lvl="1" eaLnBrk="1" hangingPunct="1">
              <a:lnSpc>
                <a:spcPct val="120000"/>
              </a:lnSpc>
              <a:spcBef>
                <a:spcPct val="15000"/>
              </a:spcBef>
            </a:pPr>
            <a:r>
              <a:rPr lang="zh-CN" altLang="en-US" dirty="0"/>
              <a:t>安全产品的最低档次</a:t>
            </a:r>
            <a:endParaRPr lang="zh-CN" altLang="en-US" dirty="0"/>
          </a:p>
          <a:p>
            <a:pPr lvl="1" eaLnBrk="1" hangingPunct="1">
              <a:lnSpc>
                <a:spcPct val="120000"/>
              </a:lnSpc>
              <a:spcBef>
                <a:spcPct val="15000"/>
              </a:spcBef>
            </a:pPr>
            <a:r>
              <a:rPr lang="zh-CN" altLang="en-US" dirty="0"/>
              <a:t>提供受控的存取保护，将</a:t>
            </a:r>
            <a:r>
              <a:rPr lang="en-US" altLang="zh-CN" dirty="0"/>
              <a:t>C1</a:t>
            </a:r>
            <a:r>
              <a:rPr lang="zh-CN" altLang="en-US" dirty="0"/>
              <a:t>级的</a:t>
            </a:r>
            <a:r>
              <a:rPr lang="en-US" altLang="zh-CN" dirty="0"/>
              <a:t>DAC</a:t>
            </a:r>
            <a:r>
              <a:rPr lang="zh-CN" altLang="en-US" dirty="0"/>
              <a:t>进一步细化，以个人身份注册负责，并实施审计和资源隔离</a:t>
            </a:r>
            <a:endParaRPr lang="zh-CN" altLang="en-US" dirty="0"/>
          </a:p>
          <a:p>
            <a:pPr lvl="1" eaLnBrk="1" hangingPunct="1">
              <a:lnSpc>
                <a:spcPct val="120000"/>
              </a:lnSpc>
              <a:spcBef>
                <a:spcPct val="15000"/>
              </a:spcBef>
            </a:pPr>
            <a:r>
              <a:rPr lang="zh-CN" altLang="en-US" dirty="0"/>
              <a:t>达到</a:t>
            </a:r>
            <a:r>
              <a:rPr lang="en-US" altLang="zh-CN" dirty="0"/>
              <a:t>C2</a:t>
            </a:r>
            <a:r>
              <a:rPr lang="zh-CN" altLang="en-US" dirty="0"/>
              <a:t>级的产品在其名称中往往不突出“安全”</a:t>
            </a:r>
            <a:r>
              <a:rPr lang="en-US" altLang="zh-CN" dirty="0"/>
              <a:t>(Security)</a:t>
            </a:r>
            <a:r>
              <a:rPr lang="zh-CN" altLang="en-US" dirty="0"/>
              <a:t>这一特色</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5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4580"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r>
              <a:rPr lang="en-US" altLang="zh-CN" sz="3600" dirty="0"/>
              <a:t>B1</a:t>
            </a:r>
            <a:r>
              <a:rPr lang="zh-CN" altLang="en-US" sz="3600" dirty="0"/>
              <a:t>级</a:t>
            </a:r>
            <a:endParaRPr lang="zh-CN" altLang="en-US" sz="3600" dirty="0"/>
          </a:p>
          <a:p>
            <a:pPr lvl="1" eaLnBrk="1" hangingPunct="1">
              <a:lnSpc>
                <a:spcPct val="120000"/>
              </a:lnSpc>
            </a:pPr>
            <a:r>
              <a:rPr lang="zh-CN" altLang="en-US" dirty="0"/>
              <a:t>标记安全保护。“安全”</a:t>
            </a:r>
            <a:r>
              <a:rPr lang="en-US" altLang="zh-CN" dirty="0"/>
              <a:t>(Security)</a:t>
            </a:r>
            <a:r>
              <a:rPr lang="zh-CN" altLang="en-US" dirty="0"/>
              <a:t>或“可信的”</a:t>
            </a:r>
            <a:r>
              <a:rPr lang="en-US" altLang="zh-CN" dirty="0"/>
              <a:t>(Trusted)</a:t>
            </a:r>
            <a:r>
              <a:rPr lang="zh-CN" altLang="en-US" dirty="0"/>
              <a:t>产品。</a:t>
            </a:r>
            <a:endParaRPr lang="zh-CN" altLang="en-US" dirty="0"/>
          </a:p>
          <a:p>
            <a:pPr lvl="1" eaLnBrk="1" hangingPunct="1">
              <a:lnSpc>
                <a:spcPct val="120000"/>
              </a:lnSpc>
              <a:spcBef>
                <a:spcPct val="60000"/>
              </a:spcBef>
            </a:pPr>
            <a:r>
              <a:rPr lang="zh-CN" altLang="en-US" dirty="0"/>
              <a:t>对系统的数据加以标记，对标记的主体和客体实施</a:t>
            </a:r>
            <a:r>
              <a:rPr lang="zh-CN" altLang="en-US" dirty="0">
                <a:solidFill>
                  <a:srgbClr val="FF0000"/>
                </a:solidFill>
              </a:rPr>
              <a:t>强制存取控制</a:t>
            </a:r>
            <a:r>
              <a:rPr lang="zh-CN" altLang="en-US" dirty="0"/>
              <a:t>（</a:t>
            </a:r>
            <a:r>
              <a:rPr lang="en-US" altLang="zh-CN" dirty="0"/>
              <a:t>MAC</a:t>
            </a:r>
            <a:r>
              <a:rPr lang="zh-CN" altLang="en-US" dirty="0"/>
              <a:t>）、审计等安全机制</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5604"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lnSpc>
                <a:spcPct val="120000"/>
              </a:lnSpc>
              <a:spcBef>
                <a:spcPct val="15000"/>
              </a:spcBef>
            </a:pPr>
            <a:r>
              <a:rPr lang="en-US" altLang="zh-CN" sz="3600" dirty="0"/>
              <a:t>B2</a:t>
            </a:r>
            <a:r>
              <a:rPr lang="zh-CN" altLang="en-US" sz="3600" dirty="0"/>
              <a:t>级</a:t>
            </a:r>
            <a:endParaRPr lang="zh-CN" altLang="en-US" sz="3600" dirty="0"/>
          </a:p>
          <a:p>
            <a:pPr lvl="1" eaLnBrk="1" hangingPunct="1">
              <a:lnSpc>
                <a:spcPct val="120000"/>
              </a:lnSpc>
              <a:spcBef>
                <a:spcPct val="15000"/>
              </a:spcBef>
            </a:pPr>
            <a:r>
              <a:rPr lang="zh-CN" altLang="en-US" dirty="0"/>
              <a:t>结构化保护</a:t>
            </a:r>
            <a:endParaRPr lang="zh-CN" altLang="en-US" dirty="0"/>
          </a:p>
          <a:p>
            <a:pPr lvl="1" eaLnBrk="1" hangingPunct="1">
              <a:lnSpc>
                <a:spcPct val="120000"/>
              </a:lnSpc>
              <a:spcBef>
                <a:spcPct val="15000"/>
              </a:spcBef>
            </a:pPr>
            <a:r>
              <a:rPr lang="zh-CN" altLang="en-US" dirty="0"/>
              <a:t>建立形式化的安全策略模型并对系统内的所有主体和客体实施</a:t>
            </a:r>
            <a:r>
              <a:rPr lang="en-US" altLang="zh-CN" dirty="0">
                <a:solidFill>
                  <a:srgbClr val="FF0000"/>
                </a:solidFill>
              </a:rPr>
              <a:t>DAC</a:t>
            </a:r>
            <a:r>
              <a:rPr lang="zh-CN" altLang="en-US" dirty="0">
                <a:solidFill>
                  <a:srgbClr val="FF0000"/>
                </a:solidFill>
              </a:rPr>
              <a:t>和</a:t>
            </a:r>
            <a:r>
              <a:rPr lang="en-US" altLang="zh-CN" dirty="0">
                <a:solidFill>
                  <a:srgbClr val="FF0000"/>
                </a:solidFill>
              </a:rPr>
              <a:t>MAC</a:t>
            </a:r>
            <a:r>
              <a:rPr lang="zh-CN" altLang="en-US" dirty="0"/>
              <a:t>。</a:t>
            </a:r>
            <a:endParaRPr lang="zh-CN" altLang="en-US" dirty="0"/>
          </a:p>
          <a:p>
            <a:pPr lvl="1" eaLnBrk="1" hangingPunct="1">
              <a:lnSpc>
                <a:spcPct val="120000"/>
              </a:lnSpc>
              <a:spcBef>
                <a:spcPct val="15000"/>
              </a:spcBef>
            </a:pPr>
            <a:r>
              <a:rPr lang="zh-CN" altLang="en-US" dirty="0"/>
              <a:t>经过认证的</a:t>
            </a:r>
            <a:r>
              <a:rPr lang="en-US" altLang="zh-CN" dirty="0"/>
              <a:t>B2</a:t>
            </a:r>
            <a:r>
              <a:rPr lang="zh-CN" altLang="en-US" dirty="0"/>
              <a:t>级以上的安全系统</a:t>
            </a:r>
            <a:r>
              <a:rPr lang="zh-CN" altLang="en-US" dirty="0">
                <a:solidFill>
                  <a:srgbClr val="FF0000"/>
                </a:solidFill>
              </a:rPr>
              <a:t>非常稀少</a:t>
            </a:r>
            <a:endParaRPr lang="zh-CN" altLang="en-US"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6628"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lnSpc>
                <a:spcPct val="120000"/>
              </a:lnSpc>
              <a:spcBef>
                <a:spcPct val="15000"/>
              </a:spcBef>
            </a:pPr>
            <a:r>
              <a:rPr lang="en-US" altLang="zh-CN" sz="3600" dirty="0"/>
              <a:t>B3</a:t>
            </a:r>
            <a:r>
              <a:rPr lang="zh-CN" altLang="en-US" sz="3600" dirty="0"/>
              <a:t>级</a:t>
            </a:r>
            <a:endParaRPr lang="zh-CN" altLang="en-US" sz="3600" dirty="0"/>
          </a:p>
          <a:p>
            <a:pPr lvl="1" eaLnBrk="1" hangingPunct="1">
              <a:lnSpc>
                <a:spcPct val="120000"/>
              </a:lnSpc>
              <a:spcBef>
                <a:spcPct val="15000"/>
              </a:spcBef>
            </a:pPr>
            <a:r>
              <a:rPr lang="zh-CN" altLang="en-US" dirty="0"/>
              <a:t>安全域。</a:t>
            </a:r>
            <a:endParaRPr lang="zh-CN" altLang="en-US" dirty="0"/>
          </a:p>
          <a:p>
            <a:pPr lvl="1" eaLnBrk="1" hangingPunct="1">
              <a:lnSpc>
                <a:spcPct val="120000"/>
              </a:lnSpc>
              <a:spcBef>
                <a:spcPct val="15000"/>
              </a:spcBef>
            </a:pPr>
            <a:r>
              <a:rPr lang="zh-CN" altLang="en-US" dirty="0"/>
              <a:t>该级的</a:t>
            </a:r>
            <a:r>
              <a:rPr lang="en-US" altLang="zh-CN" dirty="0"/>
              <a:t>TCB</a:t>
            </a:r>
            <a:r>
              <a:rPr lang="zh-CN" altLang="en-US" dirty="0"/>
              <a:t>必须满足访问监控器的要求，审计跟踪能力更强，并提供系统恢复过程。</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76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7652"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lnSpc>
                <a:spcPct val="120000"/>
              </a:lnSpc>
            </a:pPr>
            <a:r>
              <a:rPr lang="en-US" altLang="zh-CN" sz="3600" dirty="0"/>
              <a:t>A1</a:t>
            </a:r>
            <a:r>
              <a:rPr lang="zh-CN" altLang="en-US" sz="3600" dirty="0"/>
              <a:t>级</a:t>
            </a:r>
            <a:endParaRPr lang="zh-CN" altLang="en-US" sz="3600" dirty="0"/>
          </a:p>
          <a:p>
            <a:pPr lvl="1" eaLnBrk="1" hangingPunct="1">
              <a:lnSpc>
                <a:spcPct val="120000"/>
              </a:lnSpc>
              <a:spcBef>
                <a:spcPct val="60000"/>
              </a:spcBef>
            </a:pPr>
            <a:r>
              <a:rPr lang="zh-CN" altLang="en-US" dirty="0"/>
              <a:t>验证设计，即提供</a:t>
            </a:r>
            <a:r>
              <a:rPr lang="en-US" altLang="zh-CN" dirty="0"/>
              <a:t>B3</a:t>
            </a:r>
            <a:r>
              <a:rPr lang="zh-CN" altLang="en-US" dirty="0"/>
              <a:t>级保护的同时，给出系统的形式化设计说明和验证，以确信各安全保护真正实现。</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86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8676"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r>
              <a:rPr lang="en-US" altLang="zh-CN" sz="3600" dirty="0"/>
              <a:t>B2</a:t>
            </a:r>
            <a:r>
              <a:rPr lang="zh-CN" altLang="en-US" sz="3600" dirty="0"/>
              <a:t>以上的系统</a:t>
            </a:r>
            <a:endParaRPr lang="zh-CN" altLang="en-US" sz="3600" dirty="0"/>
          </a:p>
          <a:p>
            <a:pPr lvl="1" eaLnBrk="1" hangingPunct="1">
              <a:lnSpc>
                <a:spcPct val="120000"/>
              </a:lnSpc>
              <a:spcBef>
                <a:spcPct val="60000"/>
              </a:spcBef>
            </a:pPr>
            <a:r>
              <a:rPr lang="zh-CN" altLang="en-US" dirty="0"/>
              <a:t>还处于理论研究阶段</a:t>
            </a:r>
            <a:endParaRPr lang="zh-CN" altLang="en-US" dirty="0"/>
          </a:p>
          <a:p>
            <a:pPr lvl="1" eaLnBrk="1" hangingPunct="1">
              <a:lnSpc>
                <a:spcPct val="120000"/>
              </a:lnSpc>
              <a:spcBef>
                <a:spcPct val="60000"/>
              </a:spcBef>
            </a:pPr>
            <a:r>
              <a:rPr lang="zh-CN" altLang="en-US" dirty="0"/>
              <a:t>应用多限于一些特殊的部门如军队等</a:t>
            </a:r>
            <a:endParaRPr lang="zh-CN" altLang="en-US" dirty="0"/>
          </a:p>
          <a:p>
            <a:pPr lvl="1" eaLnBrk="1" hangingPunct="1">
              <a:lnSpc>
                <a:spcPct val="120000"/>
              </a:lnSpc>
              <a:spcBef>
                <a:spcPct val="60000"/>
              </a:spcBef>
            </a:pPr>
            <a:r>
              <a:rPr lang="zh-CN" altLang="en-US" dirty="0"/>
              <a:t>美国正在大力发展安全产品，试图将目前仅限于少数领域应用的</a:t>
            </a:r>
            <a:r>
              <a:rPr lang="en-US" altLang="zh-CN" dirty="0"/>
              <a:t>B2</a:t>
            </a:r>
            <a:r>
              <a:rPr lang="zh-CN" altLang="en-US" dirty="0"/>
              <a:t>安全级别下放到商业应用中来，并逐步成为新的商业标准。</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29700"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r>
              <a:rPr lang="en-US" altLang="zh-CN" sz="3600" dirty="0"/>
              <a:t> CC</a:t>
            </a:r>
            <a:endParaRPr lang="en-US" altLang="zh-CN" sz="3600" dirty="0"/>
          </a:p>
          <a:p>
            <a:pPr lvl="1" eaLnBrk="1" hangingPunct="1">
              <a:lnSpc>
                <a:spcPct val="120000"/>
              </a:lnSpc>
              <a:spcBef>
                <a:spcPct val="60000"/>
              </a:spcBef>
            </a:pPr>
            <a:r>
              <a:rPr lang="zh-CN" altLang="en-US" dirty="0"/>
              <a:t>提出国际公认的表述信息技术安全性的结构</a:t>
            </a:r>
            <a:endParaRPr lang="zh-CN" altLang="en-US" dirty="0"/>
          </a:p>
          <a:p>
            <a:pPr lvl="1" eaLnBrk="1" hangingPunct="1">
              <a:lnSpc>
                <a:spcPct val="120000"/>
              </a:lnSpc>
              <a:spcBef>
                <a:spcPct val="60000"/>
              </a:spcBef>
            </a:pPr>
            <a:r>
              <a:rPr lang="zh-CN" altLang="en-US" dirty="0"/>
              <a:t>把信息产品的安全要求分为</a:t>
            </a:r>
            <a:endParaRPr lang="zh-CN" altLang="en-US" dirty="0"/>
          </a:p>
          <a:p>
            <a:pPr lvl="2" eaLnBrk="1" hangingPunct="1">
              <a:lnSpc>
                <a:spcPct val="110000"/>
              </a:lnSpc>
              <a:spcBef>
                <a:spcPct val="60000"/>
              </a:spcBef>
              <a:buFont typeface="Wingdings" panose="05000000000000000000" pitchFamily="2" charset="2"/>
              <a:buChar char="n"/>
            </a:pPr>
            <a:r>
              <a:rPr lang="zh-CN" altLang="en-US" dirty="0">
                <a:ea typeface="宋体" panose="02010600030101010101" pitchFamily="2" charset="-122"/>
              </a:rPr>
              <a:t>安全</a:t>
            </a:r>
            <a:r>
              <a:rPr lang="zh-CN" altLang="en-US" dirty="0">
                <a:solidFill>
                  <a:srgbClr val="FF0000"/>
                </a:solidFill>
                <a:ea typeface="宋体" panose="02010600030101010101" pitchFamily="2" charset="-122"/>
              </a:rPr>
              <a:t>功能</a:t>
            </a:r>
            <a:r>
              <a:rPr lang="zh-CN" altLang="en-US" dirty="0">
                <a:ea typeface="宋体" panose="02010600030101010101" pitchFamily="2" charset="-122"/>
              </a:rPr>
              <a:t>要求</a:t>
            </a:r>
            <a:endParaRPr lang="zh-CN" altLang="en-US" dirty="0">
              <a:ea typeface="宋体" panose="02010600030101010101" pitchFamily="2" charset="-122"/>
            </a:endParaRPr>
          </a:p>
          <a:p>
            <a:pPr lvl="2" eaLnBrk="1" hangingPunct="1">
              <a:lnSpc>
                <a:spcPct val="110000"/>
              </a:lnSpc>
              <a:spcBef>
                <a:spcPct val="60000"/>
              </a:spcBef>
              <a:buFont typeface="Wingdings" panose="05000000000000000000" pitchFamily="2" charset="2"/>
              <a:buChar char="n"/>
            </a:pPr>
            <a:r>
              <a:rPr lang="zh-CN" altLang="en-US" dirty="0">
                <a:ea typeface="宋体" panose="02010600030101010101" pitchFamily="2" charset="-122"/>
              </a:rPr>
              <a:t>安全</a:t>
            </a:r>
            <a:r>
              <a:rPr lang="zh-CN" altLang="en-US" dirty="0">
                <a:solidFill>
                  <a:srgbClr val="FF0000"/>
                </a:solidFill>
                <a:ea typeface="宋体" panose="02010600030101010101" pitchFamily="2" charset="-122"/>
              </a:rPr>
              <a:t>保证</a:t>
            </a:r>
            <a:r>
              <a:rPr lang="zh-CN" altLang="en-US" dirty="0">
                <a:ea typeface="宋体" panose="02010600030101010101" pitchFamily="2" charset="-122"/>
              </a:rPr>
              <a:t>要求</a:t>
            </a:r>
            <a:endParaRPr lang="zh-CN" altLang="en-US"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30724" name="Rectangle 3"/>
          <p:cNvSpPr>
            <a:spLocks noGrp="1"/>
          </p:cNvSpPr>
          <p:nvPr>
            <p:ph idx="1"/>
          </p:nvPr>
        </p:nvSpPr>
        <p:spPr>
          <a:xfrm>
            <a:off x="228600" y="914400"/>
            <a:ext cx="8534400" cy="4876800"/>
          </a:xfrm>
          <a:ln/>
        </p:spPr>
        <p:txBody>
          <a:bodyPr vert="horz" wrap="square" lIns="91440" tIns="45720" rIns="91440" bIns="45720" anchor="t" anchorCtr="0"/>
          <a:p>
            <a:pPr eaLnBrk="1" hangingPunct="1"/>
            <a:r>
              <a:rPr lang="en-US" altLang="zh-CN" dirty="0"/>
              <a:t>CC</a:t>
            </a:r>
            <a:r>
              <a:rPr lang="zh-CN" altLang="en-US" dirty="0"/>
              <a:t>的文本组成（三部分互相依赖、缺一不可）</a:t>
            </a:r>
            <a:endParaRPr lang="zh-CN" altLang="en-US" dirty="0"/>
          </a:p>
          <a:p>
            <a:pPr lvl="1" eaLnBrk="1" hangingPunct="1">
              <a:lnSpc>
                <a:spcPct val="120000"/>
              </a:lnSpc>
              <a:spcBef>
                <a:spcPct val="60000"/>
              </a:spcBef>
            </a:pPr>
            <a:r>
              <a:rPr lang="zh-CN" altLang="en-US" dirty="0"/>
              <a:t>简介和一般模型（术语、基本概念）</a:t>
            </a:r>
            <a:endParaRPr lang="zh-CN" altLang="en-US" dirty="0"/>
          </a:p>
          <a:p>
            <a:pPr lvl="1" eaLnBrk="1" hangingPunct="1">
              <a:lnSpc>
                <a:spcPct val="120000"/>
              </a:lnSpc>
              <a:spcBef>
                <a:spcPct val="60000"/>
              </a:spcBef>
            </a:pPr>
            <a:r>
              <a:rPr lang="zh-CN" altLang="en-US" dirty="0"/>
              <a:t>安全功能要求（</a:t>
            </a:r>
            <a:r>
              <a:rPr lang="en-US" altLang="zh-CN" dirty="0"/>
              <a:t>11</a:t>
            </a:r>
            <a:r>
              <a:rPr lang="zh-CN" altLang="en-US" dirty="0"/>
              <a:t>大类、</a:t>
            </a:r>
            <a:r>
              <a:rPr lang="en-US" altLang="zh-CN" dirty="0"/>
              <a:t>66</a:t>
            </a:r>
            <a:r>
              <a:rPr lang="zh-CN" altLang="en-US" dirty="0"/>
              <a:t>子类、</a:t>
            </a:r>
            <a:r>
              <a:rPr lang="en-US" altLang="zh-CN" dirty="0"/>
              <a:t>135</a:t>
            </a:r>
            <a:r>
              <a:rPr lang="zh-CN" altLang="en-US" dirty="0"/>
              <a:t>组件）</a:t>
            </a:r>
            <a:endParaRPr lang="zh-CN" altLang="en-US" dirty="0"/>
          </a:p>
          <a:p>
            <a:pPr lvl="1" eaLnBrk="1" hangingPunct="1">
              <a:lnSpc>
                <a:spcPct val="120000"/>
              </a:lnSpc>
              <a:spcBef>
                <a:spcPct val="60000"/>
              </a:spcBef>
            </a:pPr>
            <a:r>
              <a:rPr lang="zh-CN" altLang="en-US" dirty="0"/>
              <a:t>安全保证要求（</a:t>
            </a:r>
            <a:r>
              <a:rPr lang="en-US" altLang="zh-CN" dirty="0"/>
              <a:t>7</a:t>
            </a:r>
            <a:r>
              <a:rPr lang="zh-CN" altLang="en-US" dirty="0"/>
              <a:t>大类、</a:t>
            </a:r>
            <a:r>
              <a:rPr lang="en-US" altLang="zh-CN" dirty="0"/>
              <a:t>26</a:t>
            </a:r>
            <a:r>
              <a:rPr lang="zh-CN" altLang="en-US" dirty="0"/>
              <a:t>子类、</a:t>
            </a:r>
            <a:r>
              <a:rPr lang="en-US" altLang="zh-CN" dirty="0"/>
              <a:t>74</a:t>
            </a:r>
            <a:r>
              <a:rPr lang="zh-CN" altLang="en-US" dirty="0"/>
              <a:t>组件）</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5"/>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a:spLocks noGrp="1"/>
          </p:cNvSpPr>
          <p:nvPr>
            <p:ph type="title"/>
          </p:nvPr>
        </p:nvSpPr>
        <p:spPr>
          <a:ln/>
        </p:spPr>
        <p:txBody>
          <a:bodyPr vert="horz" wrap="square" lIns="91440" tIns="45720" rIns="91440" bIns="45720" anchor="ctr" anchorCtr="0"/>
          <a:p>
            <a:pPr eaLnBrk="1" hangingPunct="1"/>
            <a:r>
              <a:rPr lang="en-US" altLang="zh-CN" sz="3200" dirty="0"/>
              <a:t>4.1.2 </a:t>
            </a:r>
            <a:r>
              <a:rPr lang="zh-CN" altLang="en-US" sz="3200" dirty="0"/>
              <a:t>安全标准简介</a:t>
            </a:r>
            <a:endParaRPr lang="zh-CN" altLang="en-US" sz="3200" dirty="0"/>
          </a:p>
        </p:txBody>
      </p:sp>
      <p:sp>
        <p:nvSpPr>
          <p:cNvPr id="31748" name="Rectangle 3"/>
          <p:cNvSpPr>
            <a:spLocks noGrp="1"/>
          </p:cNvSpPr>
          <p:nvPr>
            <p:ph type="body" sz="half" idx="1"/>
          </p:nvPr>
        </p:nvSpPr>
        <p:spPr>
          <a:xfrm>
            <a:off x="395288" y="1196975"/>
            <a:ext cx="8748712" cy="541338"/>
          </a:xfrm>
          <a:ln/>
        </p:spPr>
        <p:txBody>
          <a:bodyPr vert="horz" wrap="square" lIns="91440" tIns="45720" rIns="91440" bIns="45720" anchor="t" anchorCtr="0"/>
          <a:p>
            <a:pPr eaLnBrk="1" hangingPunct="1">
              <a:lnSpc>
                <a:spcPct val="90000"/>
              </a:lnSpc>
              <a:buClr>
                <a:srgbClr val="FF3300"/>
              </a:buClr>
              <a:buSzTx/>
              <a:buFont typeface="Wingdings" panose="05000000000000000000" pitchFamily="2" charset="2"/>
            </a:pPr>
            <a:r>
              <a:rPr lang="en-US" altLang="zh-CN" dirty="0">
                <a:solidFill>
                  <a:schemeClr val="tx1"/>
                </a:solidFill>
              </a:rPr>
              <a:t>CC</a:t>
            </a:r>
            <a:r>
              <a:rPr lang="zh-CN" altLang="en-US" sz="2800" dirty="0">
                <a:solidFill>
                  <a:srgbClr val="FF0000"/>
                </a:solidFill>
              </a:rPr>
              <a:t>评估保证级</a:t>
            </a:r>
            <a:r>
              <a:rPr lang="zh-CN" altLang="en-US" sz="2800" dirty="0">
                <a:solidFill>
                  <a:schemeClr val="tx1"/>
                </a:solidFill>
              </a:rPr>
              <a:t>划分（</a:t>
            </a:r>
            <a:r>
              <a:rPr lang="en-US" altLang="zh-CN" sz="2800" dirty="0">
                <a:solidFill>
                  <a:schemeClr val="tx1"/>
                </a:solidFill>
              </a:rPr>
              <a:t>Evaluation Assurance Level</a:t>
            </a:r>
            <a:r>
              <a:rPr lang="zh-CN" altLang="en-US" sz="2800" dirty="0">
                <a:solidFill>
                  <a:schemeClr val="tx1"/>
                </a:solidFill>
              </a:rPr>
              <a:t>）</a:t>
            </a:r>
            <a:endParaRPr lang="zh-CN" altLang="en-US" dirty="0">
              <a:solidFill>
                <a:schemeClr val="tx1"/>
              </a:solidFill>
            </a:endParaRPr>
          </a:p>
        </p:txBody>
      </p:sp>
      <p:graphicFrame>
        <p:nvGraphicFramePr>
          <p:cNvPr id="75840" name="Group 64"/>
          <p:cNvGraphicFramePr>
            <a:graphicFrameLocks noGrp="1"/>
          </p:cNvGraphicFramePr>
          <p:nvPr>
            <p:ph sz="half" idx="1"/>
          </p:nvPr>
        </p:nvGraphicFramePr>
        <p:xfrm>
          <a:off x="179388" y="1844675"/>
          <a:ext cx="8785225" cy="4473575"/>
        </p:xfrm>
        <a:graphic>
          <a:graphicData uri="http://schemas.openxmlformats.org/drawingml/2006/table">
            <a:tbl>
              <a:tblPr/>
              <a:tblGrid>
                <a:gridCol w="1149350"/>
                <a:gridCol w="5764212"/>
                <a:gridCol w="1871663"/>
              </a:tblGrid>
              <a:tr h="640027">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评估保证级</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endParaRPr>
                    </a:p>
                  </a:txBody>
                  <a:tcPr marT="45697" marB="45697" horzOverflow="overflow">
                    <a:lnL cap="flat">
                      <a:noFill/>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定　　义</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TCSEC</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安全级别（近似相当）</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1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EAL1</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功能测试（</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functionally tested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36571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EAL2</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结构测试（</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structurally tested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36571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EAL3</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系统地测试和检查（</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methodically tested and checked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640027">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EAL4</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系统地设计、测试和复查（</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methodically designed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tested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and reviewed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36571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EAL5</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半形式化设计和测试（</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semiformally designed and tested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640027">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EAL6</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半形式化验证的设计和测试（</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semiformally verified design and </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450625">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tested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640027">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EAL7</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cap="flat">
                      <a:noFill/>
                    </a:lnL>
                    <a:lnR w="28575"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形式化验证的设计和测试（</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formally verified design and tested</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7" marB="45697"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7" marB="45697" horzOverflow="overflow">
                    <a:lnL w="28575" cap="flat" cmpd="sng" algn="ctr">
                      <a:solidFill>
                        <a:srgbClr val="000000"/>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p:nvPr/>
        </p:nvSpPr>
        <p:spPr>
          <a:xfrm>
            <a:off x="558800" y="2058988"/>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32772" name="Rectangle 3"/>
          <p:cNvSpPr>
            <a:spLocks noGrp="1"/>
          </p:cNvSpPr>
          <p:nvPr>
            <p:ph idx="1"/>
          </p:nvPr>
        </p:nvSpPr>
        <p:spPr>
          <a:xfrm>
            <a:off x="762000" y="1358900"/>
            <a:ext cx="7696200" cy="5094288"/>
          </a:xfrm>
          <a:ln/>
        </p:spPr>
        <p:txBody>
          <a:bodyPr vert="horz" wrap="square" lIns="91440" tIns="45720" rIns="91440" bIns="45720" anchor="t" anchorCtr="0"/>
          <a:p>
            <a:pPr algn="just" eaLnBrk="1" hangingPunct="1">
              <a:lnSpc>
                <a:spcPct val="130000"/>
              </a:lnSpc>
              <a:buNone/>
            </a:pPr>
            <a:r>
              <a:rPr lang="en-US" altLang="zh-CN" sz="2800" dirty="0">
                <a:solidFill>
                  <a:schemeClr val="tx1"/>
                </a:solidFill>
              </a:rPr>
              <a:t>4.1  </a:t>
            </a:r>
            <a:r>
              <a:rPr lang="zh-CN" altLang="en-US" sz="2800" dirty="0">
                <a:solidFill>
                  <a:schemeClr val="tx1"/>
                </a:solidFill>
              </a:rPr>
              <a:t>计算机安全性概论</a:t>
            </a:r>
            <a:endParaRPr lang="zh-CN" altLang="en-US" sz="2800" dirty="0">
              <a:solidFill>
                <a:schemeClr val="tx1"/>
              </a:solidFill>
            </a:endParaRPr>
          </a:p>
          <a:p>
            <a:pPr algn="just" eaLnBrk="1" hangingPunct="1">
              <a:lnSpc>
                <a:spcPct val="130000"/>
              </a:lnSpc>
              <a:buNone/>
            </a:pPr>
            <a:r>
              <a:rPr lang="en-US" altLang="zh-CN" sz="2800" dirty="0">
                <a:solidFill>
                  <a:schemeClr val="bg1"/>
                </a:solidFill>
              </a:rPr>
              <a:t>4.2  </a:t>
            </a:r>
            <a:r>
              <a:rPr lang="zh-CN" altLang="en-US" sz="2800" dirty="0">
                <a:solidFill>
                  <a:schemeClr val="bg1"/>
                </a:solidFill>
              </a:rPr>
              <a:t>数据库安全性控制</a:t>
            </a:r>
            <a:endParaRPr lang="zh-CN" altLang="en-US" sz="2800" dirty="0">
              <a:solidFill>
                <a:schemeClr val="bg1"/>
              </a:solidFill>
            </a:endParaRPr>
          </a:p>
          <a:p>
            <a:pPr algn="just" eaLnBrk="1" hangingPunct="1">
              <a:lnSpc>
                <a:spcPct val="130000"/>
              </a:lnSpc>
              <a:buNone/>
            </a:pPr>
            <a:r>
              <a:rPr lang="en-US" altLang="zh-CN" sz="2800" dirty="0">
                <a:solidFill>
                  <a:schemeClr val="tx1"/>
                </a:solidFill>
              </a:rPr>
              <a:t>4.3  </a:t>
            </a:r>
            <a:r>
              <a:rPr lang="zh-CN" altLang="en-US" sz="2800" dirty="0">
                <a:solidFill>
                  <a:schemeClr val="tx1"/>
                </a:solidFill>
              </a:rPr>
              <a:t>视图机制</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4.4  </a:t>
            </a:r>
            <a:r>
              <a:rPr lang="zh-CN" altLang="en-US" sz="2800" dirty="0">
                <a:solidFill>
                  <a:schemeClr val="tx1"/>
                </a:solidFill>
              </a:rPr>
              <a:t>审计</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4.5  </a:t>
            </a:r>
            <a:r>
              <a:rPr lang="zh-CN" altLang="en-US" sz="2800" dirty="0">
                <a:solidFill>
                  <a:schemeClr val="tx1"/>
                </a:solidFill>
              </a:rPr>
              <a:t>数据加密</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4.6  </a:t>
            </a:r>
            <a:r>
              <a:rPr lang="zh-CN" altLang="en-US" sz="2800" dirty="0">
                <a:solidFill>
                  <a:schemeClr val="tx1"/>
                </a:solidFill>
              </a:rPr>
              <a:t>统计数据库安全性</a:t>
            </a:r>
            <a:endParaRPr lang="zh-CN" altLang="en-US" sz="2800" dirty="0">
              <a:solidFill>
                <a:schemeClr val="tx1"/>
              </a:solidFill>
            </a:endParaRPr>
          </a:p>
          <a:p>
            <a:pPr algn="just" eaLnBrk="1" hangingPunct="1">
              <a:lnSpc>
                <a:spcPct val="130000"/>
              </a:lnSpc>
              <a:buNone/>
            </a:pPr>
            <a:r>
              <a:rPr lang="en-US" altLang="zh-CN" sz="2800" dirty="0">
                <a:solidFill>
                  <a:schemeClr val="tx1"/>
                </a:solidFill>
              </a:rPr>
              <a:t>4.7  </a:t>
            </a:r>
            <a:r>
              <a:rPr lang="zh-CN" altLang="en-US" sz="2800" dirty="0">
                <a:solidFill>
                  <a:schemeClr val="tx1"/>
                </a:solidFill>
              </a:rPr>
              <a:t>小结</a:t>
            </a:r>
            <a:endParaRPr lang="zh-CN" altLang="en-US" sz="2800" dirty="0">
              <a:solidFill>
                <a:schemeClr val="tx1"/>
              </a:solidFill>
            </a:endParaRPr>
          </a:p>
        </p:txBody>
      </p:sp>
      <p:sp>
        <p:nvSpPr>
          <p:cNvPr id="32773"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33796" name="Rectangle 3"/>
          <p:cNvSpPr>
            <a:spLocks noGrp="1"/>
          </p:cNvSpPr>
          <p:nvPr>
            <p:ph idx="1"/>
          </p:nvPr>
        </p:nvSpPr>
        <p:spPr>
          <a:xfrm>
            <a:off x="539750" y="914400"/>
            <a:ext cx="8353425" cy="5486400"/>
          </a:xfrm>
          <a:ln/>
        </p:spPr>
        <p:txBody>
          <a:bodyPr vert="horz" wrap="square" lIns="91440" tIns="45720" rIns="91440" bIns="45720" anchor="t" anchorCtr="0"/>
          <a:p>
            <a:pPr eaLnBrk="1" hangingPunct="1">
              <a:lnSpc>
                <a:spcPct val="120000"/>
              </a:lnSpc>
              <a:spcBef>
                <a:spcPct val="15000"/>
              </a:spcBef>
            </a:pPr>
            <a:r>
              <a:rPr lang="zh-CN" altLang="en-US" dirty="0"/>
              <a:t>非法使用数据库的情况</a:t>
            </a:r>
            <a:endParaRPr lang="zh-CN" altLang="en-US" dirty="0"/>
          </a:p>
          <a:p>
            <a:pPr lvl="1" eaLnBrk="1" hangingPunct="1">
              <a:lnSpc>
                <a:spcPct val="120000"/>
              </a:lnSpc>
              <a:spcBef>
                <a:spcPct val="15000"/>
              </a:spcBef>
            </a:pPr>
            <a:r>
              <a:rPr lang="zh-CN" altLang="en-US" sz="3200" dirty="0"/>
              <a:t>编写程序绕过授权机制，直接存取数据；</a:t>
            </a:r>
            <a:endParaRPr lang="zh-CN" altLang="en-US" sz="3200" dirty="0"/>
          </a:p>
          <a:p>
            <a:pPr lvl="1" eaLnBrk="1" hangingPunct="1">
              <a:lnSpc>
                <a:spcPct val="120000"/>
              </a:lnSpc>
              <a:spcBef>
                <a:spcPct val="15000"/>
              </a:spcBef>
            </a:pPr>
            <a:r>
              <a:rPr lang="zh-CN" altLang="en-US" sz="3200" dirty="0"/>
              <a:t>直接或编写应用程序执行非授权操作；</a:t>
            </a:r>
            <a:endParaRPr lang="zh-CN" altLang="en-US" sz="3200" dirty="0"/>
          </a:p>
          <a:p>
            <a:pPr lvl="1" eaLnBrk="1" hangingPunct="1">
              <a:lnSpc>
                <a:spcPct val="120000"/>
              </a:lnSpc>
              <a:spcBef>
                <a:spcPct val="15000"/>
              </a:spcBef>
            </a:pPr>
            <a:r>
              <a:rPr lang="zh-CN" altLang="en-US" sz="3200" dirty="0"/>
              <a:t>通过</a:t>
            </a:r>
            <a:r>
              <a:rPr lang="zh-CN" altLang="en-US" sz="3200" dirty="0">
                <a:solidFill>
                  <a:srgbClr val="FF0000"/>
                </a:solidFill>
              </a:rPr>
              <a:t>多次合法查询</a:t>
            </a:r>
            <a:r>
              <a:rPr lang="zh-CN" altLang="en-US" sz="3200" dirty="0"/>
              <a:t>数据库</a:t>
            </a:r>
            <a:r>
              <a:rPr lang="zh-CN" altLang="en-US" sz="3200" dirty="0">
                <a:solidFill>
                  <a:srgbClr val="FF0000"/>
                </a:solidFill>
              </a:rPr>
              <a:t>从中推导</a:t>
            </a:r>
            <a:r>
              <a:rPr lang="zh-CN" altLang="en-US" sz="3200" dirty="0"/>
              <a:t>出保密（隐私）数据；</a:t>
            </a:r>
            <a:endParaRPr lang="en-US" altLang="zh-CN" sz="3200" dirty="0"/>
          </a:p>
          <a:p>
            <a:pPr lvl="1" eaLnBrk="1" hangingPunct="1">
              <a:lnSpc>
                <a:spcPct val="120000"/>
              </a:lnSpc>
              <a:spcBef>
                <a:spcPct val="15000"/>
              </a:spcBef>
            </a:pPr>
            <a:endParaRPr lang="zh-CN" altLang="en-US" sz="3200" dirty="0"/>
          </a:p>
          <a:p>
            <a:pPr lvl="1" eaLnBrk="1" hangingPunct="1">
              <a:lnSpc>
                <a:spcPct val="120000"/>
              </a:lnSpc>
              <a:spcBef>
                <a:spcPct val="15000"/>
              </a:spcBef>
              <a:buNone/>
            </a:pPr>
            <a:r>
              <a:rPr lang="zh-CN" altLang="en-US" sz="3200" dirty="0"/>
              <a:t>	破坏安全性的行为可能是无意的，故意的，恶意的。</a:t>
            </a:r>
            <a:endParaRPr lang="zh-CN" altLang="en-US" sz="3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34820" name="Rectangle 3"/>
          <p:cNvSpPr>
            <a:spLocks noGrp="1"/>
          </p:cNvSpPr>
          <p:nvPr>
            <p:ph idx="1"/>
          </p:nvPr>
        </p:nvSpPr>
        <p:spPr>
          <a:xfrm>
            <a:off x="395288" y="1484313"/>
            <a:ext cx="7162800" cy="569912"/>
          </a:xfrm>
          <a:ln/>
        </p:spPr>
        <p:txBody>
          <a:bodyPr vert="horz" wrap="square" lIns="91440" tIns="45720" rIns="91440" bIns="45720" anchor="t" anchorCtr="0"/>
          <a:p>
            <a:pPr eaLnBrk="1" hangingPunct="1">
              <a:buNone/>
            </a:pPr>
            <a:r>
              <a:rPr lang="zh-CN" altLang="en-US" sz="2400" dirty="0">
                <a:solidFill>
                  <a:schemeClr val="tx1"/>
                </a:solidFill>
              </a:rPr>
              <a:t>计算机系统中，安全措施是一级一级层层设置	</a:t>
            </a:r>
            <a:endParaRPr lang="zh-CN" altLang="en-US" sz="2400" dirty="0">
              <a:solidFill>
                <a:schemeClr val="tx1"/>
              </a:solidFill>
            </a:endParaRPr>
          </a:p>
        </p:txBody>
      </p:sp>
      <p:pic>
        <p:nvPicPr>
          <p:cNvPr id="34821" name="Picture 4" descr="42"/>
          <p:cNvPicPr>
            <a:picLocks noChangeAspect="1"/>
          </p:cNvPicPr>
          <p:nvPr/>
        </p:nvPicPr>
        <p:blipFill>
          <a:blip r:embed="rId1"/>
          <a:stretch>
            <a:fillRect/>
          </a:stretch>
        </p:blipFill>
        <p:spPr>
          <a:xfrm>
            <a:off x="88900" y="2686050"/>
            <a:ext cx="8893175" cy="1054100"/>
          </a:xfrm>
          <a:prstGeom prst="rect">
            <a:avLst/>
          </a:prstGeom>
          <a:noFill/>
          <a:ln w="9525">
            <a:noFill/>
          </a:ln>
        </p:spPr>
      </p:pic>
      <p:sp>
        <p:nvSpPr>
          <p:cNvPr id="34822" name="Rectangle 5"/>
          <p:cNvSpPr/>
          <p:nvPr/>
        </p:nvSpPr>
        <p:spPr>
          <a:xfrm>
            <a:off x="2771775" y="4508500"/>
            <a:ext cx="3308350" cy="457200"/>
          </a:xfrm>
          <a:prstGeom prst="rect">
            <a:avLst/>
          </a:prstGeom>
          <a:noFill/>
          <a:ln w="25400">
            <a:noFill/>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2400" b="0" dirty="0">
                <a:solidFill>
                  <a:srgbClr val="FF0000"/>
                </a:solidFill>
              </a:rPr>
              <a:t>计算机系统的安全模型</a:t>
            </a:r>
            <a:r>
              <a:rPr lang="zh-CN" altLang="en-US" sz="2400" dirty="0">
                <a:solidFill>
                  <a:srgbClr val="FF0000"/>
                </a:solidFill>
              </a:rPr>
              <a:t> </a:t>
            </a:r>
            <a:endParaRPr lang="zh-CN" altLang="en-US" sz="2400"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35844" name="Rectangle 3"/>
          <p:cNvSpPr>
            <a:spLocks noGrp="1"/>
          </p:cNvSpPr>
          <p:nvPr>
            <p:ph idx="1"/>
          </p:nvPr>
        </p:nvSpPr>
        <p:spPr>
          <a:xfrm>
            <a:off x="539750" y="914400"/>
            <a:ext cx="8353425" cy="5486400"/>
          </a:xfrm>
          <a:ln/>
        </p:spPr>
        <p:txBody>
          <a:bodyPr vert="horz" wrap="square" lIns="91440" tIns="45720" rIns="91440" bIns="45720" anchor="t" anchorCtr="0"/>
          <a:p>
            <a:pPr eaLnBrk="1" hangingPunct="1"/>
            <a:r>
              <a:rPr lang="zh-CN" altLang="en-US" dirty="0"/>
              <a:t>数据库安全性控制的常用方法</a:t>
            </a:r>
            <a:endParaRPr lang="zh-CN" altLang="en-US" dirty="0"/>
          </a:p>
          <a:p>
            <a:pPr lvl="1" eaLnBrk="1" hangingPunct="1">
              <a:lnSpc>
                <a:spcPct val="130000"/>
              </a:lnSpc>
            </a:pPr>
            <a:r>
              <a:rPr lang="zh-CN" altLang="en-US" sz="3200" dirty="0"/>
              <a:t>用户标识和鉴定</a:t>
            </a:r>
            <a:endParaRPr lang="zh-CN" altLang="en-US" sz="3200" dirty="0"/>
          </a:p>
          <a:p>
            <a:pPr lvl="1" eaLnBrk="1" hangingPunct="1">
              <a:lnSpc>
                <a:spcPct val="130000"/>
              </a:lnSpc>
            </a:pPr>
            <a:r>
              <a:rPr lang="zh-CN" altLang="en-US" sz="3200" dirty="0"/>
              <a:t>存取控制</a:t>
            </a:r>
            <a:endParaRPr lang="zh-CN" altLang="en-US" sz="3200" dirty="0"/>
          </a:p>
          <a:p>
            <a:pPr lvl="1" eaLnBrk="1" hangingPunct="1">
              <a:lnSpc>
                <a:spcPct val="130000"/>
              </a:lnSpc>
            </a:pPr>
            <a:r>
              <a:rPr lang="zh-CN" altLang="en-US" sz="3200" dirty="0"/>
              <a:t>视图</a:t>
            </a:r>
            <a:endParaRPr lang="zh-CN" altLang="en-US" sz="3200" dirty="0"/>
          </a:p>
          <a:p>
            <a:pPr lvl="1" eaLnBrk="1" hangingPunct="1">
              <a:lnSpc>
                <a:spcPct val="130000"/>
              </a:lnSpc>
            </a:pPr>
            <a:r>
              <a:rPr lang="zh-CN" altLang="en-US" sz="3200" dirty="0"/>
              <a:t>审计</a:t>
            </a:r>
            <a:endParaRPr lang="zh-CN" altLang="en-US" sz="3200" dirty="0"/>
          </a:p>
          <a:p>
            <a:pPr lvl="1" eaLnBrk="1" hangingPunct="1">
              <a:lnSpc>
                <a:spcPct val="120000"/>
              </a:lnSpc>
            </a:pPr>
            <a:r>
              <a:rPr lang="zh-CN" altLang="en-US" sz="3200" dirty="0"/>
              <a:t>密码存储</a:t>
            </a:r>
            <a:endParaRPr lang="zh-CN" alt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68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36868" name="Rectangle 3"/>
          <p:cNvSpPr>
            <a:spLocks noGrp="1"/>
          </p:cNvSpPr>
          <p:nvPr>
            <p:ph idx="1"/>
          </p:nvPr>
        </p:nvSpPr>
        <p:spPr>
          <a:xfrm>
            <a:off x="684213" y="1196975"/>
            <a:ext cx="7162800" cy="4530725"/>
          </a:xfrm>
          <a:ln/>
        </p:spPr>
        <p:txBody>
          <a:bodyPr vert="horz" wrap="square" lIns="91440" tIns="45720" rIns="91440" bIns="45720" anchor="t" anchorCtr="0"/>
          <a:p>
            <a:pPr eaLnBrk="1" hangingPunct="1">
              <a:buNone/>
            </a:pPr>
            <a:r>
              <a:rPr lang="en-US" altLang="zh-CN" sz="3600" dirty="0">
                <a:solidFill>
                  <a:srgbClr val="FF0000"/>
                </a:solidFill>
              </a:rPr>
              <a:t>4.2.1  </a:t>
            </a:r>
            <a:r>
              <a:rPr lang="zh-CN" altLang="en-US" sz="3600" dirty="0">
                <a:solidFill>
                  <a:srgbClr val="FF0000"/>
                </a:solidFill>
              </a:rPr>
              <a:t>用户标识与鉴别</a:t>
            </a:r>
            <a:endParaRPr lang="zh-CN" altLang="en-US" sz="3600" dirty="0">
              <a:solidFill>
                <a:srgbClr val="FF0000"/>
              </a:solidFill>
            </a:endParaRPr>
          </a:p>
          <a:p>
            <a:pPr eaLnBrk="1" hangingPunct="1">
              <a:buNone/>
            </a:pPr>
            <a:r>
              <a:rPr lang="en-US" altLang="zh-CN" sz="3600" dirty="0">
                <a:solidFill>
                  <a:schemeClr val="tx1"/>
                </a:solidFill>
              </a:rPr>
              <a:t>4.2.2  </a:t>
            </a:r>
            <a:r>
              <a:rPr lang="zh-CN" altLang="en-US" sz="3600" dirty="0">
                <a:solidFill>
                  <a:schemeClr val="tx1"/>
                </a:solidFill>
              </a:rPr>
              <a:t>存取控制</a:t>
            </a:r>
            <a:endParaRPr lang="zh-CN" altLang="en-US" sz="3600" dirty="0">
              <a:solidFill>
                <a:schemeClr val="tx1"/>
              </a:solidFill>
            </a:endParaRPr>
          </a:p>
          <a:p>
            <a:pPr eaLnBrk="1" hangingPunct="1">
              <a:buNone/>
            </a:pPr>
            <a:r>
              <a:rPr lang="en-US" altLang="zh-CN" sz="3600" dirty="0">
                <a:solidFill>
                  <a:schemeClr val="tx1"/>
                </a:solidFill>
              </a:rPr>
              <a:t>4.2.3  </a:t>
            </a:r>
            <a:r>
              <a:rPr lang="zh-CN" altLang="en-US" sz="3600" dirty="0">
                <a:solidFill>
                  <a:schemeClr val="tx1"/>
                </a:solidFill>
              </a:rPr>
              <a:t>自主存取控制方法</a:t>
            </a:r>
            <a:endParaRPr lang="zh-CN" altLang="en-US" sz="3600" dirty="0">
              <a:solidFill>
                <a:schemeClr val="tx1"/>
              </a:solidFill>
            </a:endParaRPr>
          </a:p>
          <a:p>
            <a:pPr eaLnBrk="1" hangingPunct="1">
              <a:buNone/>
            </a:pPr>
            <a:r>
              <a:rPr lang="en-US" altLang="zh-CN" sz="3600" dirty="0">
                <a:solidFill>
                  <a:schemeClr val="tx1"/>
                </a:solidFill>
              </a:rPr>
              <a:t>4.2.4  </a:t>
            </a:r>
            <a:r>
              <a:rPr lang="zh-CN" altLang="en-US" sz="3600" dirty="0">
                <a:solidFill>
                  <a:schemeClr val="tx1"/>
                </a:solidFill>
              </a:rPr>
              <a:t>授权与回收</a:t>
            </a:r>
            <a:endParaRPr lang="zh-CN" altLang="en-US" sz="3600" dirty="0">
              <a:solidFill>
                <a:schemeClr val="tx1"/>
              </a:solidFill>
            </a:endParaRPr>
          </a:p>
          <a:p>
            <a:pPr eaLnBrk="1" hangingPunct="1">
              <a:buNone/>
            </a:pPr>
            <a:r>
              <a:rPr lang="en-US" altLang="zh-CN" sz="3600" dirty="0">
                <a:solidFill>
                  <a:schemeClr val="tx1"/>
                </a:solidFill>
              </a:rPr>
              <a:t>4.2.5  </a:t>
            </a:r>
            <a:r>
              <a:rPr lang="zh-CN" altLang="en-US" sz="3600" dirty="0">
                <a:solidFill>
                  <a:schemeClr val="tx1"/>
                </a:solidFill>
              </a:rPr>
              <a:t>数据库角色</a:t>
            </a:r>
            <a:endParaRPr lang="zh-CN" altLang="en-US" sz="3600" dirty="0">
              <a:solidFill>
                <a:schemeClr val="tx1"/>
              </a:solidFill>
            </a:endParaRPr>
          </a:p>
          <a:p>
            <a:pPr eaLnBrk="1" hangingPunct="1">
              <a:buNone/>
            </a:pPr>
            <a:r>
              <a:rPr lang="en-US" altLang="zh-CN" sz="3600" dirty="0">
                <a:solidFill>
                  <a:schemeClr val="tx1"/>
                </a:solidFill>
              </a:rPr>
              <a:t>4.2.6  </a:t>
            </a:r>
            <a:r>
              <a:rPr lang="zh-CN" altLang="en-US" sz="3600" dirty="0">
                <a:solidFill>
                  <a:schemeClr val="tx1"/>
                </a:solidFill>
              </a:rPr>
              <a:t>强制存取控制方法</a:t>
            </a:r>
            <a:endParaRPr lang="zh-CN" altLang="en-US" sz="3600"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78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4.2.1  </a:t>
            </a:r>
            <a:r>
              <a:rPr lang="zh-CN" altLang="en-US" sz="3200" dirty="0"/>
              <a:t>用户标识与鉴别</a:t>
            </a:r>
            <a:endParaRPr lang="zh-CN" altLang="en-US" sz="3200" dirty="0"/>
          </a:p>
        </p:txBody>
      </p:sp>
      <p:sp>
        <p:nvSpPr>
          <p:cNvPr id="37892" name="Rectangle 3"/>
          <p:cNvSpPr>
            <a:spLocks noGrp="1"/>
          </p:cNvSpPr>
          <p:nvPr>
            <p:ph idx="1"/>
          </p:nvPr>
        </p:nvSpPr>
        <p:spPr>
          <a:xfrm>
            <a:off x="304800" y="838200"/>
            <a:ext cx="8458200" cy="5715000"/>
          </a:xfrm>
          <a:ln/>
        </p:spPr>
        <p:txBody>
          <a:bodyPr vert="horz" wrap="square" lIns="91440" tIns="45720" rIns="91440" bIns="45720" anchor="t" anchorCtr="0"/>
          <a:p>
            <a:pPr eaLnBrk="1" hangingPunct="1">
              <a:lnSpc>
                <a:spcPct val="120000"/>
              </a:lnSpc>
            </a:pPr>
            <a:r>
              <a:rPr lang="zh-CN" altLang="en-US" sz="2400" dirty="0">
                <a:solidFill>
                  <a:schemeClr val="tx1"/>
                </a:solidFill>
              </a:rPr>
              <a:t>系统提供一定的方式让用户标识自己的名字和身份</a:t>
            </a:r>
            <a:r>
              <a:rPr lang="en-US" altLang="zh-CN" sz="2400" dirty="0">
                <a:solidFill>
                  <a:schemeClr val="tx1"/>
                </a:solidFill>
              </a:rPr>
              <a:t>,</a:t>
            </a:r>
            <a:r>
              <a:rPr lang="zh-CN" altLang="en-US" sz="2400" dirty="0">
                <a:solidFill>
                  <a:schemeClr val="tx1"/>
                </a:solidFill>
              </a:rPr>
              <a:t>系统进行核实</a:t>
            </a:r>
            <a:r>
              <a:rPr lang="en-US" altLang="zh-CN" sz="2400" dirty="0">
                <a:solidFill>
                  <a:schemeClr val="tx1"/>
                </a:solidFill>
              </a:rPr>
              <a:t>,</a:t>
            </a:r>
            <a:r>
              <a:rPr lang="zh-CN" altLang="en-US" sz="2400" dirty="0">
                <a:solidFill>
                  <a:schemeClr val="tx1"/>
                </a:solidFill>
              </a:rPr>
              <a:t>通过鉴定后才提供系统使用权。</a:t>
            </a:r>
            <a:endParaRPr lang="zh-CN" altLang="en-US" sz="2400" dirty="0">
              <a:solidFill>
                <a:schemeClr val="tx1"/>
              </a:solidFill>
            </a:endParaRPr>
          </a:p>
          <a:p>
            <a:pPr eaLnBrk="1" hangingPunct="1">
              <a:lnSpc>
                <a:spcPct val="120000"/>
              </a:lnSpc>
            </a:pPr>
            <a:r>
              <a:rPr lang="zh-CN" altLang="en-US" sz="2400" dirty="0">
                <a:solidFill>
                  <a:schemeClr val="tx1"/>
                </a:solidFill>
              </a:rPr>
              <a:t>每次用户要求进入系统时，由系统将用户提供的身份标识与系统内部记录的用户合法标识进行核对，通过鉴定后才提供对系统的使用权。</a:t>
            </a:r>
            <a:endParaRPr lang="zh-CN" altLang="en-US" sz="2400" dirty="0">
              <a:solidFill>
                <a:schemeClr val="tx1"/>
              </a:solidFill>
            </a:endParaRPr>
          </a:p>
          <a:p>
            <a:pPr eaLnBrk="1" hangingPunct="1">
              <a:lnSpc>
                <a:spcPct val="120000"/>
              </a:lnSpc>
            </a:pPr>
            <a:r>
              <a:rPr lang="zh-CN" altLang="en-US" sz="2400" dirty="0">
                <a:solidFill>
                  <a:schemeClr val="tx1"/>
                </a:solidFill>
              </a:rPr>
              <a:t>常用方法</a:t>
            </a:r>
            <a:endParaRPr lang="zh-CN" altLang="en-US" sz="2400" dirty="0">
              <a:solidFill>
                <a:schemeClr val="tx1"/>
              </a:solidFill>
            </a:endParaRPr>
          </a:p>
          <a:p>
            <a:pPr lvl="1" eaLnBrk="1" hangingPunct="1">
              <a:lnSpc>
                <a:spcPct val="120000"/>
              </a:lnSpc>
            </a:pPr>
            <a:r>
              <a:rPr lang="zh-CN" altLang="en-US" sz="2400" dirty="0"/>
              <a:t>口令</a:t>
            </a:r>
            <a:endParaRPr lang="zh-CN" altLang="en-US" sz="2400" dirty="0"/>
          </a:p>
          <a:p>
            <a:pPr lvl="1" eaLnBrk="1" hangingPunct="1">
              <a:lnSpc>
                <a:spcPct val="120000"/>
              </a:lnSpc>
            </a:pPr>
            <a:r>
              <a:rPr lang="zh-CN" altLang="en-US" sz="2400" dirty="0"/>
              <a:t>过程识别</a:t>
            </a:r>
            <a:endParaRPr lang="zh-CN" altLang="en-US" sz="2400" dirty="0"/>
          </a:p>
          <a:p>
            <a:pPr lvl="1" eaLnBrk="1" hangingPunct="1">
              <a:lnSpc>
                <a:spcPct val="120000"/>
              </a:lnSpc>
            </a:pPr>
            <a:r>
              <a:rPr lang="zh-CN" altLang="en-US" sz="2400" dirty="0"/>
              <a:t>上机密码卡</a:t>
            </a:r>
            <a:endParaRPr lang="zh-CN" altLang="en-US" sz="2400" dirty="0"/>
          </a:p>
          <a:p>
            <a:pPr lvl="1" eaLnBrk="1" hangingPunct="1">
              <a:lnSpc>
                <a:spcPct val="120000"/>
              </a:lnSpc>
            </a:pPr>
            <a:r>
              <a:rPr lang="zh-CN" altLang="en-US" sz="2400" dirty="0"/>
              <a:t>指纹、声音、照片等</a:t>
            </a:r>
            <a:endParaRPr lang="zh-CN" altLang="en-US" sz="2400" dirty="0"/>
          </a:p>
          <a:p>
            <a:pPr lvl="1" eaLnBrk="1" hangingPunct="1">
              <a:lnSpc>
                <a:spcPct val="120000"/>
              </a:lnSpc>
            </a:pPr>
            <a:r>
              <a:rPr lang="zh-CN" altLang="en-US" sz="2400" dirty="0"/>
              <a:t>回答问题</a:t>
            </a:r>
            <a:endParaRPr lang="zh-CN" alt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89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38916" name="Rectangle 3"/>
          <p:cNvSpPr>
            <a:spLocks noGrp="1"/>
          </p:cNvSpPr>
          <p:nvPr>
            <p:ph idx="1"/>
          </p:nvPr>
        </p:nvSpPr>
        <p:spPr>
          <a:xfrm>
            <a:off x="684213" y="1196975"/>
            <a:ext cx="7162800" cy="4530725"/>
          </a:xfrm>
          <a:ln/>
        </p:spPr>
        <p:txBody>
          <a:bodyPr vert="horz" wrap="square" lIns="91440" tIns="45720" rIns="91440" bIns="45720" anchor="t" anchorCtr="0"/>
          <a:p>
            <a:pPr eaLnBrk="1" hangingPunct="1">
              <a:buNone/>
            </a:pPr>
            <a:r>
              <a:rPr lang="en-US" altLang="zh-CN" sz="3600" dirty="0">
                <a:solidFill>
                  <a:schemeClr val="tx1"/>
                </a:solidFill>
              </a:rPr>
              <a:t>4.2.1  </a:t>
            </a:r>
            <a:r>
              <a:rPr lang="zh-CN" altLang="en-US" sz="3600" dirty="0">
                <a:solidFill>
                  <a:schemeClr val="tx1"/>
                </a:solidFill>
              </a:rPr>
              <a:t>用户标识与鉴别</a:t>
            </a:r>
            <a:endParaRPr lang="zh-CN" altLang="en-US" sz="3600" dirty="0">
              <a:solidFill>
                <a:schemeClr val="tx1"/>
              </a:solidFill>
            </a:endParaRPr>
          </a:p>
          <a:p>
            <a:pPr eaLnBrk="1" hangingPunct="1">
              <a:buNone/>
            </a:pPr>
            <a:r>
              <a:rPr lang="en-US" altLang="zh-CN" sz="3600" dirty="0">
                <a:solidFill>
                  <a:srgbClr val="FF0000"/>
                </a:solidFill>
              </a:rPr>
              <a:t>4.2.2  </a:t>
            </a:r>
            <a:r>
              <a:rPr lang="zh-CN" altLang="en-US" sz="3600" dirty="0">
                <a:solidFill>
                  <a:srgbClr val="FF0000"/>
                </a:solidFill>
              </a:rPr>
              <a:t>存取控制</a:t>
            </a:r>
            <a:endParaRPr lang="zh-CN" altLang="en-US" sz="3600" dirty="0">
              <a:solidFill>
                <a:srgbClr val="FF0000"/>
              </a:solidFill>
            </a:endParaRPr>
          </a:p>
          <a:p>
            <a:pPr eaLnBrk="1" hangingPunct="1">
              <a:buNone/>
            </a:pPr>
            <a:r>
              <a:rPr lang="en-US" altLang="zh-CN" sz="3600" dirty="0">
                <a:solidFill>
                  <a:schemeClr val="tx1"/>
                </a:solidFill>
              </a:rPr>
              <a:t>4.2.3  </a:t>
            </a:r>
            <a:r>
              <a:rPr lang="zh-CN" altLang="en-US" sz="3600" dirty="0">
                <a:solidFill>
                  <a:schemeClr val="tx1"/>
                </a:solidFill>
              </a:rPr>
              <a:t>自主存取控制方法</a:t>
            </a:r>
            <a:endParaRPr lang="zh-CN" altLang="en-US" sz="3600" dirty="0">
              <a:solidFill>
                <a:schemeClr val="tx1"/>
              </a:solidFill>
            </a:endParaRPr>
          </a:p>
          <a:p>
            <a:pPr eaLnBrk="1" hangingPunct="1">
              <a:buNone/>
            </a:pPr>
            <a:r>
              <a:rPr lang="en-US" altLang="zh-CN" sz="3600" dirty="0">
                <a:solidFill>
                  <a:schemeClr val="tx1"/>
                </a:solidFill>
              </a:rPr>
              <a:t>4.2.4  </a:t>
            </a:r>
            <a:r>
              <a:rPr lang="zh-CN" altLang="en-US" sz="3600" dirty="0">
                <a:solidFill>
                  <a:schemeClr val="tx1"/>
                </a:solidFill>
              </a:rPr>
              <a:t>授权与回收</a:t>
            </a:r>
            <a:endParaRPr lang="zh-CN" altLang="en-US" sz="3600" dirty="0">
              <a:solidFill>
                <a:schemeClr val="tx1"/>
              </a:solidFill>
            </a:endParaRPr>
          </a:p>
          <a:p>
            <a:pPr eaLnBrk="1" hangingPunct="1">
              <a:buNone/>
            </a:pPr>
            <a:r>
              <a:rPr lang="en-US" altLang="zh-CN" sz="3600" dirty="0">
                <a:solidFill>
                  <a:schemeClr val="tx1"/>
                </a:solidFill>
              </a:rPr>
              <a:t>4.2.5  </a:t>
            </a:r>
            <a:r>
              <a:rPr lang="zh-CN" altLang="en-US" sz="3600" dirty="0">
                <a:solidFill>
                  <a:schemeClr val="tx1"/>
                </a:solidFill>
              </a:rPr>
              <a:t>数据库角色</a:t>
            </a:r>
            <a:endParaRPr lang="zh-CN" altLang="en-US" sz="3600" dirty="0">
              <a:solidFill>
                <a:schemeClr val="tx1"/>
              </a:solidFill>
            </a:endParaRPr>
          </a:p>
          <a:p>
            <a:pPr eaLnBrk="1" hangingPunct="1">
              <a:buNone/>
            </a:pPr>
            <a:r>
              <a:rPr lang="en-US" altLang="zh-CN" sz="3600" dirty="0">
                <a:solidFill>
                  <a:schemeClr val="tx1"/>
                </a:solidFill>
              </a:rPr>
              <a:t>4.2.6  </a:t>
            </a:r>
            <a:r>
              <a:rPr lang="zh-CN" altLang="en-US" sz="3600" dirty="0">
                <a:solidFill>
                  <a:schemeClr val="tx1"/>
                </a:solidFill>
              </a:rPr>
              <a:t>强制存取控制方法</a:t>
            </a:r>
            <a:endParaRPr lang="zh-CN" altLang="en-US" sz="3600" dirty="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4.2.2  </a:t>
            </a:r>
            <a:r>
              <a:rPr lang="zh-CN" altLang="en-US" sz="3200" dirty="0"/>
              <a:t>存取控制</a:t>
            </a:r>
            <a:endParaRPr lang="zh-CN" altLang="en-US" sz="3200" dirty="0"/>
          </a:p>
        </p:txBody>
      </p:sp>
      <p:sp>
        <p:nvSpPr>
          <p:cNvPr id="39940" name="Rectangle 3"/>
          <p:cNvSpPr>
            <a:spLocks noGrp="1"/>
          </p:cNvSpPr>
          <p:nvPr>
            <p:ph idx="1"/>
          </p:nvPr>
        </p:nvSpPr>
        <p:spPr>
          <a:xfrm>
            <a:off x="304800" y="838200"/>
            <a:ext cx="8458200" cy="5254625"/>
          </a:xfrm>
          <a:ln/>
        </p:spPr>
        <p:txBody>
          <a:bodyPr vert="horz" wrap="square" lIns="91440" tIns="45720" rIns="91440" bIns="45720" anchor="t" anchorCtr="0"/>
          <a:p>
            <a:pPr eaLnBrk="1" hangingPunct="1">
              <a:spcBef>
                <a:spcPct val="60000"/>
              </a:spcBef>
            </a:pPr>
            <a:r>
              <a:rPr lang="zh-CN" altLang="en-US" dirty="0"/>
              <a:t>存取控制机制的组成</a:t>
            </a:r>
            <a:endParaRPr lang="zh-CN" altLang="en-US" dirty="0"/>
          </a:p>
          <a:p>
            <a:pPr lvl="1" eaLnBrk="1" hangingPunct="1">
              <a:spcBef>
                <a:spcPct val="60000"/>
              </a:spcBef>
            </a:pPr>
            <a:r>
              <a:rPr lang="zh-CN" altLang="en-US" sz="3200" dirty="0"/>
              <a:t> 定义存取权限</a:t>
            </a:r>
            <a:endParaRPr lang="zh-CN" altLang="en-US" sz="3200" dirty="0"/>
          </a:p>
          <a:p>
            <a:pPr lvl="1" eaLnBrk="1" hangingPunct="1">
              <a:lnSpc>
                <a:spcPct val="110000"/>
              </a:lnSpc>
              <a:spcBef>
                <a:spcPct val="60000"/>
              </a:spcBef>
            </a:pPr>
            <a:r>
              <a:rPr lang="zh-CN" altLang="en-US" sz="3200" dirty="0"/>
              <a:t> 检查存取权限</a:t>
            </a:r>
            <a:endParaRPr lang="zh-CN" altLang="en-US" sz="3200" dirty="0"/>
          </a:p>
          <a:p>
            <a:pPr eaLnBrk="1" hangingPunct="1">
              <a:lnSpc>
                <a:spcPct val="110000"/>
              </a:lnSpc>
              <a:spcBef>
                <a:spcPct val="60000"/>
              </a:spcBef>
              <a:buNone/>
            </a:pPr>
            <a:r>
              <a:rPr lang="zh-CN" altLang="en-US" sz="3600" dirty="0"/>
              <a:t>	</a:t>
            </a:r>
            <a:r>
              <a:rPr lang="zh-CN" altLang="en-US" sz="3600" dirty="0">
                <a:solidFill>
                  <a:schemeClr val="tx1"/>
                </a:solidFill>
              </a:rPr>
              <a:t>用户</a:t>
            </a:r>
            <a:r>
              <a:rPr lang="zh-CN" altLang="en-US" sz="3600" dirty="0">
                <a:solidFill>
                  <a:srgbClr val="FF0000"/>
                </a:solidFill>
              </a:rPr>
              <a:t>权限定义</a:t>
            </a:r>
            <a:r>
              <a:rPr lang="zh-CN" altLang="en-US" sz="3600" dirty="0">
                <a:solidFill>
                  <a:schemeClr val="tx1"/>
                </a:solidFill>
              </a:rPr>
              <a:t>和</a:t>
            </a:r>
            <a:r>
              <a:rPr lang="zh-CN" altLang="en-US" sz="3600" dirty="0">
                <a:solidFill>
                  <a:srgbClr val="FF0000"/>
                </a:solidFill>
              </a:rPr>
              <a:t>合法权检查机制</a:t>
            </a:r>
            <a:r>
              <a:rPr lang="zh-CN" altLang="en-US" sz="3600" dirty="0">
                <a:solidFill>
                  <a:schemeClr val="tx1"/>
                </a:solidFill>
              </a:rPr>
              <a:t>一起组成了</a:t>
            </a:r>
            <a:r>
              <a:rPr lang="en-US" altLang="zh-CN" sz="3600" dirty="0">
                <a:solidFill>
                  <a:schemeClr val="tx1"/>
                </a:solidFill>
              </a:rPr>
              <a:t>DBMS</a:t>
            </a:r>
            <a:r>
              <a:rPr lang="zh-CN" altLang="en-US" sz="3600" dirty="0">
                <a:solidFill>
                  <a:schemeClr val="tx1"/>
                </a:solidFill>
              </a:rPr>
              <a:t>的安全子系统</a:t>
            </a:r>
            <a:endParaRPr lang="zh-CN" altLang="en-US" sz="3600"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4.2.2  </a:t>
            </a:r>
            <a:r>
              <a:rPr lang="zh-CN" altLang="en-US" sz="3200" dirty="0"/>
              <a:t>存取控制</a:t>
            </a:r>
            <a:endParaRPr lang="zh-CN" altLang="en-US" sz="3200" dirty="0"/>
          </a:p>
        </p:txBody>
      </p:sp>
      <p:sp>
        <p:nvSpPr>
          <p:cNvPr id="40964" name="Rectangle 3"/>
          <p:cNvSpPr>
            <a:spLocks noGrp="1"/>
          </p:cNvSpPr>
          <p:nvPr>
            <p:ph idx="1"/>
          </p:nvPr>
        </p:nvSpPr>
        <p:spPr>
          <a:xfrm>
            <a:off x="304800" y="838200"/>
            <a:ext cx="8588375" cy="5715000"/>
          </a:xfrm>
          <a:ln/>
        </p:spPr>
        <p:txBody>
          <a:bodyPr vert="horz" wrap="square" lIns="91440" tIns="45720" rIns="91440" bIns="45720" anchor="t" anchorCtr="0"/>
          <a:p>
            <a:pPr eaLnBrk="1" hangingPunct="1"/>
            <a:r>
              <a:rPr lang="zh-CN" altLang="en-US" sz="3600" dirty="0"/>
              <a:t>常用存取控制方法</a:t>
            </a:r>
            <a:endParaRPr lang="zh-CN" altLang="en-US" sz="2800" dirty="0"/>
          </a:p>
          <a:p>
            <a:pPr lvl="1" eaLnBrk="1" hangingPunct="1"/>
            <a:r>
              <a:rPr lang="zh-CN" altLang="en-US" dirty="0">
                <a:solidFill>
                  <a:srgbClr val="0000FF"/>
                </a:solidFill>
              </a:rPr>
              <a:t>自主存取控制</a:t>
            </a:r>
            <a:r>
              <a:rPr lang="zh-CN" altLang="en-US" dirty="0"/>
              <a:t>（</a:t>
            </a:r>
            <a:r>
              <a:rPr lang="en-US" altLang="zh-CN" dirty="0"/>
              <a:t>Discretionary Access Control </a:t>
            </a:r>
            <a:r>
              <a:rPr lang="zh-CN" altLang="en-US" dirty="0"/>
              <a:t>，简称</a:t>
            </a:r>
            <a:r>
              <a:rPr lang="en-US" altLang="zh-CN" dirty="0"/>
              <a:t>DAC</a:t>
            </a:r>
            <a:r>
              <a:rPr lang="zh-CN" altLang="en-US" dirty="0"/>
              <a:t>）</a:t>
            </a:r>
            <a:endParaRPr lang="zh-CN" altLang="en-US" dirty="0"/>
          </a:p>
          <a:p>
            <a:pPr lvl="2" eaLnBrk="1" hangingPunct="1"/>
            <a:r>
              <a:rPr lang="zh-CN" altLang="en-US" dirty="0"/>
              <a:t> </a:t>
            </a:r>
            <a:r>
              <a:rPr lang="en-US" altLang="zh-CN" sz="2800" dirty="0"/>
              <a:t>C2</a:t>
            </a:r>
            <a:r>
              <a:rPr lang="zh-CN" altLang="en-US" sz="2800" dirty="0"/>
              <a:t>级</a:t>
            </a:r>
            <a:endParaRPr lang="zh-CN" altLang="en-US" sz="2800" dirty="0"/>
          </a:p>
          <a:p>
            <a:pPr lvl="2" eaLnBrk="1" hangingPunct="1"/>
            <a:r>
              <a:rPr lang="zh-CN" altLang="en-US" dirty="0"/>
              <a:t> </a:t>
            </a:r>
            <a:r>
              <a:rPr lang="zh-CN" altLang="en-US" sz="2800" dirty="0"/>
              <a:t>灵活</a:t>
            </a:r>
            <a:endParaRPr lang="zh-CN" altLang="en-US" sz="2800" dirty="0"/>
          </a:p>
          <a:p>
            <a:pPr lvl="1" eaLnBrk="1" hangingPunct="1"/>
            <a:r>
              <a:rPr lang="zh-CN" altLang="en-US" dirty="0">
                <a:solidFill>
                  <a:srgbClr val="0000FF"/>
                </a:solidFill>
              </a:rPr>
              <a:t>强制存取控制</a:t>
            </a:r>
            <a:r>
              <a:rPr lang="zh-CN" altLang="en-US" dirty="0"/>
              <a:t>（</a:t>
            </a:r>
            <a:r>
              <a:rPr lang="en-US" altLang="zh-CN" dirty="0"/>
              <a:t>Mandatory Access Control</a:t>
            </a:r>
            <a:r>
              <a:rPr lang="zh-CN" altLang="en-US" dirty="0"/>
              <a:t>，简称 </a:t>
            </a:r>
            <a:r>
              <a:rPr lang="en-US" altLang="zh-CN" dirty="0"/>
              <a:t>MAC</a:t>
            </a:r>
            <a:r>
              <a:rPr lang="zh-CN" altLang="en-US" dirty="0"/>
              <a:t>）</a:t>
            </a:r>
            <a:endParaRPr lang="zh-CN" altLang="en-US" dirty="0"/>
          </a:p>
          <a:p>
            <a:pPr lvl="2" eaLnBrk="1" hangingPunct="1"/>
            <a:r>
              <a:rPr lang="zh-CN" altLang="en-US" sz="2800" dirty="0"/>
              <a:t> </a:t>
            </a:r>
            <a:r>
              <a:rPr lang="en-US" altLang="zh-CN" sz="2800" dirty="0"/>
              <a:t>B1</a:t>
            </a:r>
            <a:r>
              <a:rPr lang="zh-CN" altLang="en-US" sz="2800" dirty="0"/>
              <a:t>级</a:t>
            </a:r>
            <a:endParaRPr lang="zh-CN" altLang="en-US" sz="2800" dirty="0"/>
          </a:p>
          <a:p>
            <a:pPr lvl="2" eaLnBrk="1" hangingPunct="1"/>
            <a:r>
              <a:rPr lang="zh-CN" altLang="en-US" sz="2800" dirty="0"/>
              <a:t>严格</a:t>
            </a:r>
            <a:endParaRPr lang="zh-CN" alt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41988" name="Rectangle 3"/>
          <p:cNvSpPr>
            <a:spLocks noGrp="1"/>
          </p:cNvSpPr>
          <p:nvPr>
            <p:ph idx="1"/>
          </p:nvPr>
        </p:nvSpPr>
        <p:spPr>
          <a:xfrm>
            <a:off x="684213" y="1196975"/>
            <a:ext cx="7162800" cy="4530725"/>
          </a:xfrm>
          <a:ln/>
        </p:spPr>
        <p:txBody>
          <a:bodyPr vert="horz" wrap="square" lIns="91440" tIns="45720" rIns="91440" bIns="45720" anchor="t" anchorCtr="0"/>
          <a:p>
            <a:pPr eaLnBrk="1" hangingPunct="1">
              <a:buNone/>
            </a:pPr>
            <a:r>
              <a:rPr lang="en-US" altLang="zh-CN" sz="3600" dirty="0">
                <a:solidFill>
                  <a:schemeClr val="tx1"/>
                </a:solidFill>
              </a:rPr>
              <a:t>4.2.1  </a:t>
            </a:r>
            <a:r>
              <a:rPr lang="zh-CN" altLang="en-US" sz="3600" dirty="0">
                <a:solidFill>
                  <a:schemeClr val="tx1"/>
                </a:solidFill>
              </a:rPr>
              <a:t>用户标识与鉴别</a:t>
            </a:r>
            <a:endParaRPr lang="zh-CN" altLang="en-US" sz="3600" dirty="0">
              <a:solidFill>
                <a:schemeClr val="tx1"/>
              </a:solidFill>
            </a:endParaRPr>
          </a:p>
          <a:p>
            <a:pPr eaLnBrk="1" hangingPunct="1">
              <a:buNone/>
            </a:pPr>
            <a:r>
              <a:rPr lang="en-US" altLang="zh-CN" sz="3600" dirty="0">
                <a:solidFill>
                  <a:schemeClr val="tx1"/>
                </a:solidFill>
              </a:rPr>
              <a:t>4.2.2  </a:t>
            </a:r>
            <a:r>
              <a:rPr lang="zh-CN" altLang="en-US" sz="3600" dirty="0">
                <a:solidFill>
                  <a:schemeClr val="tx1"/>
                </a:solidFill>
              </a:rPr>
              <a:t>存取控制</a:t>
            </a:r>
            <a:endParaRPr lang="zh-CN" altLang="en-US" sz="3600" dirty="0">
              <a:solidFill>
                <a:schemeClr val="tx1"/>
              </a:solidFill>
            </a:endParaRPr>
          </a:p>
          <a:p>
            <a:pPr eaLnBrk="1" hangingPunct="1">
              <a:buNone/>
            </a:pPr>
            <a:r>
              <a:rPr lang="en-US" altLang="zh-CN" sz="3600" dirty="0">
                <a:solidFill>
                  <a:srgbClr val="FF0000"/>
                </a:solidFill>
              </a:rPr>
              <a:t>4.2.3  </a:t>
            </a:r>
            <a:r>
              <a:rPr lang="zh-CN" altLang="en-US" sz="3600" dirty="0">
                <a:solidFill>
                  <a:srgbClr val="FF0000"/>
                </a:solidFill>
              </a:rPr>
              <a:t>自主存取控制方法</a:t>
            </a:r>
            <a:endParaRPr lang="zh-CN" altLang="en-US" sz="3600" dirty="0">
              <a:solidFill>
                <a:srgbClr val="FF0000"/>
              </a:solidFill>
            </a:endParaRPr>
          </a:p>
          <a:p>
            <a:pPr eaLnBrk="1" hangingPunct="1">
              <a:buNone/>
            </a:pPr>
            <a:r>
              <a:rPr lang="en-US" altLang="zh-CN" sz="3600" dirty="0">
                <a:solidFill>
                  <a:schemeClr val="tx1"/>
                </a:solidFill>
              </a:rPr>
              <a:t>4.2.4  </a:t>
            </a:r>
            <a:r>
              <a:rPr lang="zh-CN" altLang="en-US" sz="3600" dirty="0">
                <a:solidFill>
                  <a:schemeClr val="tx1"/>
                </a:solidFill>
              </a:rPr>
              <a:t>授权与回收</a:t>
            </a:r>
            <a:endParaRPr lang="zh-CN" altLang="en-US" sz="3600" dirty="0">
              <a:solidFill>
                <a:schemeClr val="tx1"/>
              </a:solidFill>
            </a:endParaRPr>
          </a:p>
          <a:p>
            <a:pPr eaLnBrk="1" hangingPunct="1">
              <a:buNone/>
            </a:pPr>
            <a:r>
              <a:rPr lang="en-US" altLang="zh-CN" sz="3600" dirty="0">
                <a:solidFill>
                  <a:schemeClr val="tx1"/>
                </a:solidFill>
              </a:rPr>
              <a:t>4.2.5  </a:t>
            </a:r>
            <a:r>
              <a:rPr lang="zh-CN" altLang="en-US" sz="3600" dirty="0">
                <a:solidFill>
                  <a:schemeClr val="tx1"/>
                </a:solidFill>
              </a:rPr>
              <a:t>数据库角色</a:t>
            </a:r>
            <a:endParaRPr lang="zh-CN" altLang="en-US" sz="3600" dirty="0">
              <a:solidFill>
                <a:schemeClr val="tx1"/>
              </a:solidFill>
            </a:endParaRPr>
          </a:p>
          <a:p>
            <a:pPr eaLnBrk="1" hangingPunct="1">
              <a:buNone/>
            </a:pPr>
            <a:r>
              <a:rPr lang="en-US" altLang="zh-CN" sz="3600" dirty="0">
                <a:solidFill>
                  <a:schemeClr val="tx1"/>
                </a:solidFill>
              </a:rPr>
              <a:t>4.2.6  </a:t>
            </a:r>
            <a:r>
              <a:rPr lang="zh-CN" altLang="en-US" sz="3600" dirty="0">
                <a:solidFill>
                  <a:schemeClr val="tx1"/>
                </a:solidFill>
              </a:rPr>
              <a:t>强制存取控制方法</a:t>
            </a:r>
            <a:endParaRPr lang="zh-CN" altLang="en-US" sz="3600"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30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4.2.3  </a:t>
            </a:r>
            <a:r>
              <a:rPr lang="zh-CN" altLang="en-US" sz="3200" dirty="0"/>
              <a:t>自主存取控制方法</a:t>
            </a:r>
            <a:endParaRPr lang="zh-CN" altLang="en-US" sz="3200" dirty="0"/>
          </a:p>
        </p:txBody>
      </p:sp>
      <p:sp>
        <p:nvSpPr>
          <p:cNvPr id="43012" name="Rectangle 3"/>
          <p:cNvSpPr>
            <a:spLocks noGrp="1"/>
          </p:cNvSpPr>
          <p:nvPr>
            <p:ph idx="1"/>
          </p:nvPr>
        </p:nvSpPr>
        <p:spPr>
          <a:xfrm>
            <a:off x="304800" y="838200"/>
            <a:ext cx="8458200" cy="5715000"/>
          </a:xfrm>
          <a:ln/>
        </p:spPr>
        <p:txBody>
          <a:bodyPr vert="horz" wrap="square" lIns="91440" tIns="45720" rIns="91440" bIns="45720" anchor="t" anchorCtr="0"/>
          <a:p>
            <a:pPr eaLnBrk="1" hangingPunct="1">
              <a:lnSpc>
                <a:spcPct val="120000"/>
              </a:lnSpc>
              <a:spcBef>
                <a:spcPct val="15000"/>
              </a:spcBef>
            </a:pPr>
            <a:r>
              <a:rPr lang="zh-CN" altLang="en-US" dirty="0"/>
              <a:t>机制</a:t>
            </a:r>
            <a:endParaRPr lang="zh-CN" altLang="en-US" dirty="0"/>
          </a:p>
          <a:p>
            <a:pPr lvl="1" eaLnBrk="1" hangingPunct="1">
              <a:lnSpc>
                <a:spcPct val="120000"/>
              </a:lnSpc>
              <a:spcBef>
                <a:spcPct val="15000"/>
              </a:spcBef>
            </a:pPr>
            <a:r>
              <a:rPr lang="zh-CN" altLang="en-US" dirty="0"/>
              <a:t>自主选择：用户、对象、操作类型、权限</a:t>
            </a:r>
            <a:endParaRPr lang="zh-CN" altLang="en-US" dirty="0"/>
          </a:p>
          <a:p>
            <a:pPr lvl="1" eaLnBrk="1" hangingPunct="1">
              <a:lnSpc>
                <a:spcPct val="120000"/>
              </a:lnSpc>
              <a:spcBef>
                <a:spcPct val="15000"/>
              </a:spcBef>
            </a:pPr>
            <a:r>
              <a:rPr lang="zh-CN" altLang="en-US" dirty="0"/>
              <a:t>同一用户对于不同的数据对象有不同的存取权限</a:t>
            </a:r>
            <a:endParaRPr lang="zh-CN" altLang="en-US" dirty="0"/>
          </a:p>
          <a:p>
            <a:pPr lvl="1" eaLnBrk="1" hangingPunct="1">
              <a:lnSpc>
                <a:spcPct val="120000"/>
              </a:lnSpc>
              <a:spcBef>
                <a:spcPct val="15000"/>
              </a:spcBef>
            </a:pPr>
            <a:r>
              <a:rPr lang="zh-CN" altLang="en-US" dirty="0"/>
              <a:t>不同的用户对同一对象也有不同的权限</a:t>
            </a:r>
            <a:endParaRPr lang="zh-CN" altLang="en-US" dirty="0"/>
          </a:p>
          <a:p>
            <a:pPr lvl="1" eaLnBrk="1" hangingPunct="1">
              <a:lnSpc>
                <a:spcPct val="120000"/>
              </a:lnSpc>
              <a:spcBef>
                <a:spcPct val="15000"/>
              </a:spcBef>
            </a:pPr>
            <a:r>
              <a:rPr lang="zh-CN" altLang="en-US" dirty="0"/>
              <a:t>用户还可将其拥有的存取权限转授给其他用户</a:t>
            </a:r>
            <a:endParaRPr lang="zh-CN" altLang="en-US" dirty="0"/>
          </a:p>
          <a:p>
            <a:pPr eaLnBrk="1" hangingPunct="1">
              <a:lnSpc>
                <a:spcPct val="120000"/>
              </a:lnSpc>
              <a:spcBef>
                <a:spcPct val="15000"/>
              </a:spcBef>
            </a:pPr>
            <a:r>
              <a:rPr lang="en-US" altLang="zh-CN" dirty="0"/>
              <a:t>SQL</a:t>
            </a:r>
            <a:r>
              <a:rPr lang="zh-CN" altLang="en-US" dirty="0"/>
              <a:t>提供</a:t>
            </a:r>
            <a:r>
              <a:rPr lang="en-US" altLang="zh-CN" dirty="0"/>
              <a:t>DAC</a:t>
            </a:r>
            <a:r>
              <a:rPr lang="zh-CN" altLang="en-US" dirty="0"/>
              <a:t>支持</a:t>
            </a:r>
            <a:endParaRPr lang="zh-CN" altLang="en-US" dirty="0"/>
          </a:p>
          <a:p>
            <a:pPr lvl="1" eaLnBrk="1" hangingPunct="1">
              <a:lnSpc>
                <a:spcPct val="120000"/>
              </a:lnSpc>
              <a:spcBef>
                <a:spcPct val="15000"/>
              </a:spcBef>
            </a:pPr>
            <a:r>
              <a:rPr lang="en-US" altLang="zh-CN" dirty="0"/>
              <a:t>Grant(</a:t>
            </a:r>
            <a:r>
              <a:rPr lang="zh-CN" altLang="en-US" dirty="0"/>
              <a:t>授权</a:t>
            </a:r>
            <a:r>
              <a:rPr lang="en-US" altLang="zh-CN" dirty="0"/>
              <a:t>)</a:t>
            </a:r>
            <a:endParaRPr lang="en-US" altLang="zh-CN" dirty="0"/>
          </a:p>
          <a:p>
            <a:pPr lvl="1" eaLnBrk="1" hangingPunct="1">
              <a:lnSpc>
                <a:spcPct val="120000"/>
              </a:lnSpc>
              <a:spcBef>
                <a:spcPct val="15000"/>
              </a:spcBef>
            </a:pPr>
            <a:r>
              <a:rPr lang="en-US" altLang="zh-CN" dirty="0"/>
              <a:t>Revoke(</a:t>
            </a:r>
            <a:r>
              <a:rPr lang="zh-CN" altLang="en-US" dirty="0"/>
              <a:t>收权</a:t>
            </a:r>
            <a:r>
              <a:rPr lang="en-US" altLang="zh-CN" dirty="0"/>
              <a:t>)</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4.2.3  </a:t>
            </a:r>
            <a:r>
              <a:rPr lang="zh-CN" altLang="en-US" dirty="0"/>
              <a:t>自主存取控制方法</a:t>
            </a:r>
            <a:endParaRPr lang="zh-CN" altLang="en-US" dirty="0"/>
          </a:p>
        </p:txBody>
      </p:sp>
      <p:sp>
        <p:nvSpPr>
          <p:cNvPr id="44036" name="Rectangle 3"/>
          <p:cNvSpPr>
            <a:spLocks noGrp="1"/>
          </p:cNvSpPr>
          <p:nvPr>
            <p:ph idx="1"/>
          </p:nvPr>
        </p:nvSpPr>
        <p:spPr>
          <a:xfrm>
            <a:off x="304800" y="838200"/>
            <a:ext cx="8458200" cy="5410200"/>
          </a:xfrm>
          <a:ln/>
        </p:spPr>
        <p:txBody>
          <a:bodyPr vert="horz" wrap="square" lIns="91440" tIns="45720" rIns="91440" bIns="45720" anchor="t" anchorCtr="0"/>
          <a:p>
            <a:pPr eaLnBrk="1" hangingPunct="1">
              <a:lnSpc>
                <a:spcPct val="120000"/>
              </a:lnSpc>
            </a:pPr>
            <a:r>
              <a:rPr lang="zh-CN" altLang="en-US" sz="3600" dirty="0"/>
              <a:t>定义存取权限</a:t>
            </a:r>
            <a:r>
              <a:rPr lang="en-US" altLang="zh-CN" sz="3600" dirty="0"/>
              <a:t>(</a:t>
            </a:r>
            <a:r>
              <a:rPr lang="zh-CN" altLang="en-US" sz="3600" dirty="0"/>
              <a:t>用户负责</a:t>
            </a:r>
            <a:r>
              <a:rPr lang="en-US" altLang="zh-CN" sz="3600" dirty="0"/>
              <a:t>)</a:t>
            </a:r>
            <a:endParaRPr lang="en-US" altLang="zh-CN" sz="3600" dirty="0"/>
          </a:p>
          <a:p>
            <a:pPr lvl="1" eaLnBrk="1" hangingPunct="1">
              <a:lnSpc>
                <a:spcPct val="120000"/>
              </a:lnSpc>
            </a:pPr>
            <a:r>
              <a:rPr lang="zh-CN" altLang="en-US" sz="3200" dirty="0"/>
              <a:t>存取权限</a:t>
            </a:r>
            <a:endParaRPr lang="zh-CN" altLang="en-US" sz="3200" dirty="0"/>
          </a:p>
          <a:p>
            <a:pPr lvl="2" eaLnBrk="1" hangingPunct="1">
              <a:lnSpc>
                <a:spcPct val="120000"/>
              </a:lnSpc>
            </a:pPr>
            <a:r>
              <a:rPr lang="zh-CN" altLang="en-US" sz="2800" dirty="0"/>
              <a:t> 存取权限由两个要素组成</a:t>
            </a:r>
            <a:endParaRPr lang="zh-CN" altLang="en-US" sz="3200" dirty="0"/>
          </a:p>
          <a:p>
            <a:pPr lvl="3" eaLnBrk="1" hangingPunct="1">
              <a:lnSpc>
                <a:spcPct val="120000"/>
              </a:lnSpc>
            </a:pPr>
            <a:r>
              <a:rPr lang="zh-CN" altLang="en-US" sz="2800" dirty="0"/>
              <a:t>数据对象</a:t>
            </a:r>
            <a:r>
              <a:rPr lang="en-US" altLang="zh-CN" sz="2800" dirty="0"/>
              <a:t>(</a:t>
            </a:r>
            <a:r>
              <a:rPr lang="zh-CN" altLang="en-US" sz="2800" dirty="0"/>
              <a:t>如</a:t>
            </a:r>
            <a:r>
              <a:rPr lang="en-US" altLang="zh-CN" sz="2800" dirty="0"/>
              <a:t>DB/Table/</a:t>
            </a:r>
            <a:r>
              <a:rPr lang="zh-CN" altLang="en-US" sz="2800" dirty="0"/>
              <a:t>视图</a:t>
            </a:r>
            <a:r>
              <a:rPr lang="en-US" altLang="zh-CN" sz="2800" dirty="0"/>
              <a:t>/</a:t>
            </a:r>
            <a:r>
              <a:rPr lang="zh-CN" altLang="en-US" sz="2800" dirty="0"/>
              <a:t>列等）</a:t>
            </a:r>
            <a:endParaRPr lang="zh-CN" altLang="en-US" sz="2800" dirty="0"/>
          </a:p>
          <a:p>
            <a:pPr lvl="3" eaLnBrk="1" hangingPunct="1">
              <a:lnSpc>
                <a:spcPct val="120000"/>
              </a:lnSpc>
            </a:pPr>
            <a:r>
              <a:rPr lang="zh-CN" altLang="en-US" sz="2800" dirty="0"/>
              <a:t>操作类型</a:t>
            </a:r>
            <a:r>
              <a:rPr lang="en-US" altLang="zh-CN" sz="2800" dirty="0"/>
              <a:t>(</a:t>
            </a:r>
            <a:r>
              <a:rPr lang="zh-CN" altLang="en-US" sz="2800" dirty="0"/>
              <a:t>如</a:t>
            </a:r>
            <a:r>
              <a:rPr lang="en-US" altLang="zh-CN" sz="2800" dirty="0"/>
              <a:t>select/update/delete</a:t>
            </a:r>
            <a:r>
              <a:rPr lang="zh-CN" altLang="en-US" sz="2800" dirty="0"/>
              <a:t>等</a:t>
            </a:r>
            <a:r>
              <a:rPr lang="en-US" altLang="zh-CN" sz="2800" dirty="0"/>
              <a:t>)</a:t>
            </a:r>
            <a:endParaRPr lang="en-US" altLang="zh-CN" sz="2800" dirty="0"/>
          </a:p>
          <a:p>
            <a:pPr lvl="1" eaLnBrk="1" hangingPunct="1">
              <a:lnSpc>
                <a:spcPct val="120000"/>
              </a:lnSpc>
            </a:pPr>
            <a:r>
              <a:rPr lang="zh-CN" altLang="en-US" sz="3200" dirty="0"/>
              <a:t>定义方法</a:t>
            </a:r>
            <a:endParaRPr lang="zh-CN" altLang="en-US" sz="2400" dirty="0"/>
          </a:p>
          <a:p>
            <a:pPr lvl="2" eaLnBrk="1" hangingPunct="1">
              <a:lnSpc>
                <a:spcPct val="120000"/>
              </a:lnSpc>
            </a:pPr>
            <a:r>
              <a:rPr lang="en-US" altLang="zh-CN" sz="2800" dirty="0"/>
              <a:t>GRANT/REVOKE</a:t>
            </a:r>
            <a:endParaRPr lang="en-US" altLang="zh-CN" sz="3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4.2.3  </a:t>
            </a:r>
            <a:r>
              <a:rPr lang="zh-CN" altLang="en-US" dirty="0"/>
              <a:t>自主存取控制方法</a:t>
            </a:r>
            <a:endParaRPr lang="zh-CN" altLang="en-US" dirty="0"/>
          </a:p>
        </p:txBody>
      </p:sp>
      <p:sp>
        <p:nvSpPr>
          <p:cNvPr id="45060" name="Rectangle 3"/>
          <p:cNvSpPr>
            <a:spLocks noGrp="1"/>
          </p:cNvSpPr>
          <p:nvPr>
            <p:ph idx="1"/>
          </p:nvPr>
        </p:nvSpPr>
        <p:spPr>
          <a:xfrm>
            <a:off x="304800" y="838200"/>
            <a:ext cx="8458200" cy="5410200"/>
          </a:xfrm>
          <a:ln/>
        </p:spPr>
        <p:txBody>
          <a:bodyPr vert="horz" wrap="square" lIns="91440" tIns="45720" rIns="91440" bIns="45720" anchor="t" anchorCtr="0"/>
          <a:p>
            <a:pPr eaLnBrk="1" hangingPunct="1">
              <a:lnSpc>
                <a:spcPct val="120000"/>
              </a:lnSpc>
            </a:pPr>
            <a:r>
              <a:rPr lang="zh-CN" altLang="en-US" sz="3600" dirty="0"/>
              <a:t>检查存取权限</a:t>
            </a:r>
            <a:r>
              <a:rPr lang="en-US" altLang="zh-CN" sz="3600" dirty="0"/>
              <a:t>(DBMS</a:t>
            </a:r>
            <a:r>
              <a:rPr lang="zh-CN" altLang="en-US" sz="3600" dirty="0"/>
              <a:t>负责</a:t>
            </a:r>
            <a:r>
              <a:rPr lang="en-US" altLang="zh-CN" sz="3600" dirty="0"/>
              <a:t>)</a:t>
            </a:r>
            <a:endParaRPr lang="en-US" altLang="zh-CN" sz="3600" dirty="0"/>
          </a:p>
          <a:p>
            <a:pPr lvl="1" eaLnBrk="1" hangingPunct="1">
              <a:lnSpc>
                <a:spcPct val="120000"/>
              </a:lnSpc>
              <a:spcBef>
                <a:spcPct val="60000"/>
              </a:spcBef>
            </a:pPr>
            <a:r>
              <a:rPr lang="en-US" altLang="zh-CN" sz="3200" dirty="0"/>
              <a:t>DBMS</a:t>
            </a:r>
            <a:r>
              <a:rPr lang="zh-CN" altLang="en-US" sz="3200" dirty="0"/>
              <a:t>查找数据字典，根据其存取权限对操作的合法性进行检查</a:t>
            </a:r>
            <a:endParaRPr lang="zh-CN" altLang="en-US" sz="3200" dirty="0"/>
          </a:p>
          <a:p>
            <a:pPr lvl="1" eaLnBrk="1" hangingPunct="1">
              <a:lnSpc>
                <a:spcPct val="120000"/>
              </a:lnSpc>
              <a:spcBef>
                <a:spcPct val="60000"/>
              </a:spcBef>
            </a:pPr>
            <a:r>
              <a:rPr lang="zh-CN" altLang="en-US" sz="3200" dirty="0"/>
              <a:t>若用户的操作请求超出了定义的权限，系统将拒绝执行此操作</a:t>
            </a:r>
            <a:endParaRPr lang="zh-CN" alt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4.2.3 </a:t>
            </a:r>
            <a:r>
              <a:rPr lang="zh-CN" altLang="en-US" dirty="0"/>
              <a:t>自主存取控制方法</a:t>
            </a:r>
            <a:endParaRPr lang="zh-CN" altLang="en-US" dirty="0"/>
          </a:p>
        </p:txBody>
      </p:sp>
      <p:sp>
        <p:nvSpPr>
          <p:cNvPr id="46084" name="Rectangle 3"/>
          <p:cNvSpPr>
            <a:spLocks noGrp="1"/>
          </p:cNvSpPr>
          <p:nvPr>
            <p:ph idx="1"/>
          </p:nvPr>
        </p:nvSpPr>
        <p:spPr>
          <a:xfrm>
            <a:off x="304800" y="838200"/>
            <a:ext cx="8458200" cy="5410200"/>
          </a:xfrm>
          <a:ln/>
        </p:spPr>
        <p:txBody>
          <a:bodyPr vert="horz" wrap="square" lIns="91440" tIns="45720" rIns="91440" bIns="45720" anchor="t" anchorCtr="0"/>
          <a:p>
            <a:pPr eaLnBrk="1" hangingPunct="1">
              <a:lnSpc>
                <a:spcPct val="120000"/>
              </a:lnSpc>
            </a:pPr>
            <a:r>
              <a:rPr lang="zh-CN" altLang="en-US" sz="3600" dirty="0"/>
              <a:t>授权粒度</a:t>
            </a:r>
            <a:endParaRPr lang="zh-CN" altLang="en-US" sz="3600" dirty="0"/>
          </a:p>
          <a:p>
            <a:pPr lvl="1" eaLnBrk="1" hangingPunct="1"/>
            <a:r>
              <a:rPr lang="zh-CN" altLang="en-US" sz="3200" dirty="0"/>
              <a:t>数据库</a:t>
            </a:r>
            <a:endParaRPr lang="zh-CN" altLang="en-US" sz="3200" dirty="0"/>
          </a:p>
          <a:p>
            <a:pPr lvl="1" eaLnBrk="1" hangingPunct="1"/>
            <a:r>
              <a:rPr lang="zh-CN" altLang="en-US" sz="3200" dirty="0"/>
              <a:t>表</a:t>
            </a:r>
            <a:endParaRPr lang="zh-CN" altLang="en-US" sz="3200" dirty="0"/>
          </a:p>
          <a:p>
            <a:pPr lvl="1" eaLnBrk="1" hangingPunct="1"/>
            <a:r>
              <a:rPr lang="zh-CN" altLang="en-US" sz="3200" dirty="0"/>
              <a:t>属性列</a:t>
            </a:r>
            <a:endParaRPr lang="zh-CN" altLang="en-US" sz="3200" dirty="0"/>
          </a:p>
          <a:p>
            <a:pPr lvl="1" eaLnBrk="1" hangingPunct="1"/>
            <a:r>
              <a:rPr lang="zh-CN" altLang="en-US" sz="3200" dirty="0"/>
              <a:t>行</a:t>
            </a:r>
            <a:endParaRPr lang="zh-CN" altLang="en-US" sz="3200" dirty="0"/>
          </a:p>
          <a:p>
            <a:pPr eaLnBrk="1" hangingPunct="1"/>
            <a:r>
              <a:rPr lang="zh-CN" altLang="en-US" dirty="0">
                <a:solidFill>
                  <a:schemeClr val="tx1"/>
                </a:solidFill>
              </a:rPr>
              <a:t>能否提供</a:t>
            </a:r>
            <a:r>
              <a:rPr lang="zh-CN" altLang="en-US" dirty="0">
                <a:solidFill>
                  <a:srgbClr val="FF0000"/>
                </a:solidFill>
              </a:rPr>
              <a:t>与数据值有关的授权</a:t>
            </a:r>
            <a:r>
              <a:rPr lang="zh-CN" altLang="en-US" dirty="0">
                <a:solidFill>
                  <a:schemeClr val="tx1"/>
                </a:solidFill>
              </a:rPr>
              <a:t>反映了授权系统的精巧程度（通过存取谓词）</a:t>
            </a:r>
            <a:endParaRPr lang="zh-CN" altLang="en-US" dirty="0">
              <a:solidFill>
                <a:schemeClr val="tx1"/>
              </a:solidFill>
            </a:endParaRPr>
          </a:p>
          <a:p>
            <a:pPr eaLnBrk="1" hangingPunct="1"/>
            <a:endParaRPr lang="zh-CN" altLang="en-US" sz="3600" dirty="0">
              <a:solidFill>
                <a:schemeClr val="tx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71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47108" name="Rectangle 3"/>
          <p:cNvSpPr>
            <a:spLocks noGrp="1"/>
          </p:cNvSpPr>
          <p:nvPr>
            <p:ph idx="1"/>
          </p:nvPr>
        </p:nvSpPr>
        <p:spPr>
          <a:xfrm>
            <a:off x="684213" y="1196975"/>
            <a:ext cx="7162800" cy="4530725"/>
          </a:xfrm>
          <a:ln/>
        </p:spPr>
        <p:txBody>
          <a:bodyPr vert="horz" wrap="square" lIns="91440" tIns="45720" rIns="91440" bIns="45720" anchor="t" anchorCtr="0"/>
          <a:p>
            <a:pPr eaLnBrk="1" hangingPunct="1">
              <a:buNone/>
            </a:pPr>
            <a:r>
              <a:rPr lang="en-US" altLang="zh-CN" sz="3600" dirty="0">
                <a:solidFill>
                  <a:schemeClr val="tx1"/>
                </a:solidFill>
              </a:rPr>
              <a:t>4.2.1  </a:t>
            </a:r>
            <a:r>
              <a:rPr lang="zh-CN" altLang="en-US" sz="3600" dirty="0">
                <a:solidFill>
                  <a:schemeClr val="tx1"/>
                </a:solidFill>
              </a:rPr>
              <a:t>用户标识与鉴别</a:t>
            </a:r>
            <a:endParaRPr lang="zh-CN" altLang="en-US" sz="3600" dirty="0">
              <a:solidFill>
                <a:schemeClr val="tx1"/>
              </a:solidFill>
            </a:endParaRPr>
          </a:p>
          <a:p>
            <a:pPr eaLnBrk="1" hangingPunct="1">
              <a:buNone/>
            </a:pPr>
            <a:r>
              <a:rPr lang="en-US" altLang="zh-CN" sz="3600" dirty="0">
                <a:solidFill>
                  <a:schemeClr val="tx1"/>
                </a:solidFill>
              </a:rPr>
              <a:t>4.2.2  </a:t>
            </a:r>
            <a:r>
              <a:rPr lang="zh-CN" altLang="en-US" sz="3600" dirty="0">
                <a:solidFill>
                  <a:schemeClr val="tx1"/>
                </a:solidFill>
              </a:rPr>
              <a:t>存取控制</a:t>
            </a:r>
            <a:endParaRPr lang="zh-CN" altLang="en-US" sz="3600" dirty="0">
              <a:solidFill>
                <a:schemeClr val="tx1"/>
              </a:solidFill>
            </a:endParaRPr>
          </a:p>
          <a:p>
            <a:pPr eaLnBrk="1" hangingPunct="1">
              <a:buNone/>
            </a:pPr>
            <a:r>
              <a:rPr lang="en-US" altLang="zh-CN" sz="3600" dirty="0">
                <a:solidFill>
                  <a:schemeClr val="tx1"/>
                </a:solidFill>
              </a:rPr>
              <a:t>4.2.3  </a:t>
            </a:r>
            <a:r>
              <a:rPr lang="zh-CN" altLang="en-US" sz="3600" dirty="0">
                <a:solidFill>
                  <a:schemeClr val="tx1"/>
                </a:solidFill>
              </a:rPr>
              <a:t>自主存取控制方法</a:t>
            </a:r>
            <a:endParaRPr lang="zh-CN" altLang="en-US" sz="3600" dirty="0">
              <a:solidFill>
                <a:schemeClr val="tx1"/>
              </a:solidFill>
            </a:endParaRPr>
          </a:p>
          <a:p>
            <a:pPr eaLnBrk="1" hangingPunct="1">
              <a:buNone/>
            </a:pPr>
            <a:r>
              <a:rPr lang="en-US" altLang="zh-CN" sz="3600" dirty="0">
                <a:solidFill>
                  <a:srgbClr val="FF0000"/>
                </a:solidFill>
              </a:rPr>
              <a:t>4.2.4  </a:t>
            </a:r>
            <a:r>
              <a:rPr lang="zh-CN" altLang="en-US" sz="3600" dirty="0">
                <a:solidFill>
                  <a:srgbClr val="FF0000"/>
                </a:solidFill>
              </a:rPr>
              <a:t>授权与回收</a:t>
            </a:r>
            <a:endParaRPr lang="zh-CN" altLang="en-US" sz="3600" dirty="0">
              <a:solidFill>
                <a:srgbClr val="FF0000"/>
              </a:solidFill>
            </a:endParaRPr>
          </a:p>
          <a:p>
            <a:pPr eaLnBrk="1" hangingPunct="1">
              <a:buNone/>
            </a:pPr>
            <a:r>
              <a:rPr lang="en-US" altLang="zh-CN" sz="3600" dirty="0">
                <a:solidFill>
                  <a:schemeClr val="tx1"/>
                </a:solidFill>
              </a:rPr>
              <a:t>4.2.5  </a:t>
            </a:r>
            <a:r>
              <a:rPr lang="zh-CN" altLang="en-US" sz="3600" dirty="0">
                <a:solidFill>
                  <a:schemeClr val="tx1"/>
                </a:solidFill>
              </a:rPr>
              <a:t>数据库角色</a:t>
            </a:r>
            <a:endParaRPr lang="zh-CN" altLang="en-US" sz="3600" dirty="0">
              <a:solidFill>
                <a:schemeClr val="tx1"/>
              </a:solidFill>
            </a:endParaRPr>
          </a:p>
          <a:p>
            <a:pPr eaLnBrk="1" hangingPunct="1">
              <a:buNone/>
            </a:pPr>
            <a:r>
              <a:rPr lang="en-US" altLang="zh-CN" sz="3600" dirty="0">
                <a:solidFill>
                  <a:schemeClr val="tx1"/>
                </a:solidFill>
              </a:rPr>
              <a:t>4.2.6  </a:t>
            </a:r>
            <a:r>
              <a:rPr lang="zh-CN" altLang="en-US" sz="3600" dirty="0">
                <a:solidFill>
                  <a:schemeClr val="tx1"/>
                </a:solidFill>
              </a:rPr>
              <a:t>强制存取控制方法</a:t>
            </a:r>
            <a:endParaRPr lang="zh-CN" altLang="en-US" sz="3600"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48132"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t>SQL Server</a:t>
            </a:r>
            <a:r>
              <a:rPr lang="zh-CN" altLang="en-US" dirty="0"/>
              <a:t>中权限的种类</a:t>
            </a:r>
            <a:endParaRPr lang="zh-CN" altLang="en-US" dirty="0"/>
          </a:p>
          <a:p>
            <a:pPr lvl="1" eaLnBrk="1" hangingPunct="1">
              <a:lnSpc>
                <a:spcPct val="120000"/>
              </a:lnSpc>
              <a:spcBef>
                <a:spcPct val="15000"/>
              </a:spcBef>
            </a:pPr>
            <a:r>
              <a:rPr lang="zh-CN" altLang="en-US" dirty="0">
                <a:solidFill>
                  <a:srgbClr val="FF0000"/>
                </a:solidFill>
              </a:rPr>
              <a:t>对象权限</a:t>
            </a:r>
            <a:endParaRPr lang="zh-CN" altLang="en-US" dirty="0">
              <a:solidFill>
                <a:srgbClr val="FF0000"/>
              </a:solidFill>
            </a:endParaRPr>
          </a:p>
          <a:p>
            <a:pPr lvl="1" eaLnBrk="1" hangingPunct="1">
              <a:lnSpc>
                <a:spcPct val="120000"/>
              </a:lnSpc>
              <a:spcBef>
                <a:spcPct val="15000"/>
              </a:spcBef>
              <a:buNone/>
            </a:pPr>
            <a:r>
              <a:rPr lang="zh-CN" altLang="en-US" dirty="0"/>
              <a:t>	对表、视图、存储过程等对象的操作权</a:t>
            </a:r>
            <a:r>
              <a:rPr lang="en-US" altLang="zh-CN" i="1" dirty="0">
                <a:latin typeface="Arial" panose="020B0604020202020204" pitchFamily="34" charset="0"/>
              </a:rPr>
              <a:t>(</a:t>
            </a:r>
            <a:r>
              <a:rPr lang="en-US" altLang="zh-CN" b="0" i="1" dirty="0">
                <a:latin typeface="Arial" panose="020B0604020202020204" pitchFamily="34" charset="0"/>
              </a:rPr>
              <a:t>DML</a:t>
            </a:r>
            <a:r>
              <a:rPr lang="en-US" altLang="zh-CN" i="1" dirty="0">
                <a:latin typeface="Arial" panose="020B0604020202020204" pitchFamily="34" charset="0"/>
              </a:rPr>
              <a:t>)</a:t>
            </a:r>
            <a:endParaRPr lang="en-US" altLang="zh-CN" i="1" dirty="0">
              <a:latin typeface="Arial" panose="020B0604020202020204" pitchFamily="34" charset="0"/>
            </a:endParaRPr>
          </a:p>
          <a:p>
            <a:pPr lvl="1" eaLnBrk="1" hangingPunct="1">
              <a:lnSpc>
                <a:spcPct val="120000"/>
              </a:lnSpc>
              <a:spcBef>
                <a:spcPct val="15000"/>
              </a:spcBef>
            </a:pPr>
            <a:r>
              <a:rPr lang="zh-CN" altLang="en-US" dirty="0">
                <a:solidFill>
                  <a:srgbClr val="FF0000"/>
                </a:solidFill>
              </a:rPr>
              <a:t>语句权限</a:t>
            </a:r>
            <a:endParaRPr lang="zh-CN" altLang="en-US" dirty="0">
              <a:solidFill>
                <a:srgbClr val="FF0000"/>
              </a:solidFill>
            </a:endParaRPr>
          </a:p>
          <a:p>
            <a:pPr lvl="1" eaLnBrk="1" hangingPunct="1">
              <a:lnSpc>
                <a:spcPct val="120000"/>
              </a:lnSpc>
              <a:spcBef>
                <a:spcPct val="15000"/>
              </a:spcBef>
              <a:buNone/>
            </a:pPr>
            <a:r>
              <a:rPr lang="zh-CN" altLang="en-US" dirty="0"/>
              <a:t>	用数据定义语句</a:t>
            </a:r>
            <a:r>
              <a:rPr lang="en-US" altLang="zh-CN" b="0" i="1" dirty="0">
                <a:latin typeface="Arial" panose="020B0604020202020204" pitchFamily="34" charset="0"/>
              </a:rPr>
              <a:t>(DDL)</a:t>
            </a:r>
            <a:r>
              <a:rPr lang="zh-CN" altLang="en-US" dirty="0"/>
              <a:t>创建数据库或数据库中的对象的权限</a:t>
            </a:r>
            <a:endParaRPr lang="zh-CN" altLang="en-US" dirty="0"/>
          </a:p>
          <a:p>
            <a:pPr lvl="1" eaLnBrk="1" hangingPunct="1">
              <a:lnSpc>
                <a:spcPct val="120000"/>
              </a:lnSpc>
              <a:spcBef>
                <a:spcPct val="15000"/>
              </a:spcBef>
            </a:pPr>
            <a:r>
              <a:rPr lang="zh-CN" altLang="en-US" dirty="0">
                <a:solidFill>
                  <a:srgbClr val="FF0000"/>
                </a:solidFill>
              </a:rPr>
              <a:t>隐含权限</a:t>
            </a:r>
            <a:endParaRPr lang="zh-CN" altLang="en-US" dirty="0">
              <a:solidFill>
                <a:srgbClr val="FF0000"/>
              </a:solidFill>
            </a:endParaRPr>
          </a:p>
          <a:p>
            <a:pPr lvl="1" eaLnBrk="1" hangingPunct="1">
              <a:lnSpc>
                <a:spcPct val="120000"/>
              </a:lnSpc>
              <a:spcBef>
                <a:spcPct val="15000"/>
              </a:spcBef>
              <a:buNone/>
            </a:pPr>
            <a:r>
              <a:rPr lang="zh-CN" altLang="en-US" dirty="0"/>
              <a:t>	预定义的服务器角色、数据库角色、数据库拥有者和数据库对象拥有者所具有的权限，隐含权限相当于内置权限，不再需要明确地授予这些权限</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91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49156"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en-US" dirty="0"/>
              <a:t>对象权限</a:t>
            </a:r>
            <a:endParaRPr lang="zh-CN" altLang="en-US" dirty="0"/>
          </a:p>
          <a:p>
            <a:pPr lvl="1" eaLnBrk="1" hangingPunct="1">
              <a:lnSpc>
                <a:spcPct val="120000"/>
              </a:lnSpc>
              <a:spcBef>
                <a:spcPct val="15000"/>
              </a:spcBef>
            </a:pPr>
            <a:r>
              <a:rPr lang="zh-CN" altLang="en-US" dirty="0"/>
              <a:t>表或视图：</a:t>
            </a:r>
            <a:endParaRPr lang="zh-CN" altLang="en-US" dirty="0"/>
          </a:p>
          <a:p>
            <a:pPr lvl="1" eaLnBrk="1" hangingPunct="1">
              <a:lnSpc>
                <a:spcPct val="120000"/>
              </a:lnSpc>
              <a:spcBef>
                <a:spcPct val="15000"/>
              </a:spcBef>
              <a:buNone/>
            </a:pPr>
            <a:r>
              <a:rPr lang="zh-CN" altLang="en-US" dirty="0"/>
              <a:t>	</a:t>
            </a:r>
            <a:r>
              <a:rPr lang="en-US" altLang="zh-CN" dirty="0"/>
              <a:t>SELECT</a:t>
            </a:r>
            <a:r>
              <a:rPr lang="zh-CN" altLang="en-US" dirty="0"/>
              <a:t>、</a:t>
            </a:r>
            <a:r>
              <a:rPr lang="en-US" altLang="zh-CN" dirty="0"/>
              <a:t>INSERT</a:t>
            </a:r>
            <a:r>
              <a:rPr lang="zh-CN" altLang="en-US" dirty="0"/>
              <a:t>、</a:t>
            </a:r>
            <a:r>
              <a:rPr lang="en-US" altLang="zh-CN" dirty="0"/>
              <a:t>UPDATE </a:t>
            </a:r>
            <a:r>
              <a:rPr lang="zh-CN" altLang="en-US" dirty="0"/>
              <a:t>和 </a:t>
            </a:r>
            <a:r>
              <a:rPr lang="en-US" altLang="zh-CN" dirty="0"/>
              <a:t>DELETE</a:t>
            </a:r>
            <a:endParaRPr lang="en-US" altLang="zh-CN" dirty="0"/>
          </a:p>
          <a:p>
            <a:pPr lvl="1" eaLnBrk="1" hangingPunct="1">
              <a:lnSpc>
                <a:spcPct val="120000"/>
              </a:lnSpc>
              <a:spcBef>
                <a:spcPct val="15000"/>
              </a:spcBef>
            </a:pPr>
            <a:r>
              <a:rPr lang="zh-CN" altLang="en-US" dirty="0"/>
              <a:t>表或视图的单个列：</a:t>
            </a:r>
            <a:endParaRPr lang="zh-CN" altLang="en-US" dirty="0"/>
          </a:p>
          <a:p>
            <a:pPr lvl="1" eaLnBrk="1" hangingPunct="1">
              <a:lnSpc>
                <a:spcPct val="120000"/>
              </a:lnSpc>
              <a:spcBef>
                <a:spcPct val="15000"/>
              </a:spcBef>
              <a:buNone/>
            </a:pPr>
            <a:r>
              <a:rPr lang="zh-CN" altLang="en-US" dirty="0"/>
              <a:t>	</a:t>
            </a:r>
            <a:r>
              <a:rPr lang="en-US" altLang="zh-CN" dirty="0"/>
              <a:t>SELECT </a:t>
            </a:r>
            <a:r>
              <a:rPr lang="zh-CN" altLang="en-US" dirty="0"/>
              <a:t>和 </a:t>
            </a:r>
            <a:r>
              <a:rPr lang="en-US" altLang="zh-CN" dirty="0"/>
              <a:t>UPDATE </a:t>
            </a:r>
            <a:endParaRPr lang="en-US" altLang="zh-CN" dirty="0"/>
          </a:p>
          <a:p>
            <a:pPr lvl="1" eaLnBrk="1" hangingPunct="1">
              <a:lnSpc>
                <a:spcPct val="120000"/>
              </a:lnSpc>
              <a:spcBef>
                <a:spcPct val="15000"/>
              </a:spcBef>
            </a:pPr>
            <a:r>
              <a:rPr lang="zh-CN" altLang="en-US" dirty="0"/>
              <a:t>函数：</a:t>
            </a:r>
            <a:r>
              <a:rPr lang="en-US" altLang="zh-CN" dirty="0"/>
              <a:t>SELECT</a:t>
            </a:r>
            <a:endParaRPr lang="en-US" altLang="zh-CN" dirty="0"/>
          </a:p>
          <a:p>
            <a:pPr lvl="1" eaLnBrk="1" hangingPunct="1">
              <a:lnSpc>
                <a:spcPct val="120000"/>
              </a:lnSpc>
              <a:spcBef>
                <a:spcPct val="15000"/>
              </a:spcBef>
            </a:pPr>
            <a:r>
              <a:rPr lang="zh-CN" altLang="en-US" dirty="0"/>
              <a:t>存储过程：</a:t>
            </a:r>
            <a:r>
              <a:rPr lang="en-US" altLang="zh-CN" dirty="0"/>
              <a:t>EXECUTE</a:t>
            </a:r>
            <a:endParaRPr lang="en-US" altLang="zh-CN" dirty="0"/>
          </a:p>
          <a:p>
            <a:pPr lvl="1" eaLnBrk="1" hangingPunct="1">
              <a:lnSpc>
                <a:spcPct val="120000"/>
              </a:lnSpc>
              <a:spcBef>
                <a:spcPct val="15000"/>
              </a:spcBef>
              <a:buNone/>
            </a:pP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01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0180" name="Rectangle 3"/>
          <p:cNvSpPr>
            <a:spLocks noGrp="1"/>
          </p:cNvSpPr>
          <p:nvPr>
            <p:ph idx="1"/>
          </p:nvPr>
        </p:nvSpPr>
        <p:spPr>
          <a:xfrm>
            <a:off x="304800" y="838200"/>
            <a:ext cx="8458200" cy="5686425"/>
          </a:xfrm>
          <a:ln/>
        </p:spPr>
        <p:txBody>
          <a:bodyPr vert="horz" wrap="square" lIns="91440" tIns="45720" rIns="91440" bIns="45720" anchor="t" anchorCtr="0"/>
          <a:p>
            <a:pPr eaLnBrk="1" hangingPunct="1">
              <a:lnSpc>
                <a:spcPct val="120000"/>
              </a:lnSpc>
              <a:spcBef>
                <a:spcPct val="15000"/>
              </a:spcBef>
            </a:pPr>
            <a:r>
              <a:rPr lang="zh-CN" altLang="en-US" sz="2800" dirty="0"/>
              <a:t>语句权限</a:t>
            </a:r>
            <a:endParaRPr lang="zh-CN" altLang="en-US" sz="2800" dirty="0"/>
          </a:p>
          <a:p>
            <a:pPr lvl="1" eaLnBrk="1" hangingPunct="1">
              <a:lnSpc>
                <a:spcPct val="120000"/>
              </a:lnSpc>
              <a:spcBef>
                <a:spcPct val="15000"/>
              </a:spcBef>
            </a:pPr>
            <a:r>
              <a:rPr lang="en-US" altLang="zh-CN" sz="2400" dirty="0">
                <a:solidFill>
                  <a:schemeClr val="accent2"/>
                </a:solidFill>
              </a:rPr>
              <a:t>CREATE DATABASE</a:t>
            </a:r>
            <a:endParaRPr lang="en-US" altLang="zh-CN" sz="2400" dirty="0">
              <a:solidFill>
                <a:schemeClr val="accent2"/>
              </a:solidFill>
            </a:endParaRPr>
          </a:p>
          <a:p>
            <a:pPr lvl="1" eaLnBrk="1" hangingPunct="1">
              <a:lnSpc>
                <a:spcPct val="120000"/>
              </a:lnSpc>
              <a:spcBef>
                <a:spcPct val="15000"/>
              </a:spcBef>
            </a:pPr>
            <a:r>
              <a:rPr lang="en-US" altLang="zh-CN" sz="2400" dirty="0"/>
              <a:t>CREATE DEFAULT</a:t>
            </a:r>
            <a:endParaRPr lang="en-US" altLang="zh-CN" sz="2400" dirty="0"/>
          </a:p>
          <a:p>
            <a:pPr lvl="1" eaLnBrk="1" hangingPunct="1">
              <a:lnSpc>
                <a:spcPct val="120000"/>
              </a:lnSpc>
              <a:spcBef>
                <a:spcPct val="15000"/>
              </a:spcBef>
            </a:pPr>
            <a:r>
              <a:rPr lang="en-US" altLang="zh-CN" sz="2400" dirty="0"/>
              <a:t>CREATE FUNCTION</a:t>
            </a:r>
            <a:endParaRPr lang="en-US" altLang="zh-CN" sz="2400" dirty="0"/>
          </a:p>
          <a:p>
            <a:pPr lvl="1" eaLnBrk="1" hangingPunct="1">
              <a:lnSpc>
                <a:spcPct val="120000"/>
              </a:lnSpc>
              <a:spcBef>
                <a:spcPct val="15000"/>
              </a:spcBef>
            </a:pPr>
            <a:r>
              <a:rPr lang="en-US" altLang="zh-CN" sz="2400" dirty="0"/>
              <a:t>CREATE PROCEDURE</a:t>
            </a:r>
            <a:endParaRPr lang="en-US" altLang="zh-CN" sz="2400" dirty="0"/>
          </a:p>
          <a:p>
            <a:pPr lvl="1" eaLnBrk="1" hangingPunct="1">
              <a:lnSpc>
                <a:spcPct val="120000"/>
              </a:lnSpc>
              <a:spcBef>
                <a:spcPct val="15000"/>
              </a:spcBef>
            </a:pPr>
            <a:r>
              <a:rPr lang="en-US" altLang="zh-CN" sz="2400" dirty="0"/>
              <a:t>CREATE RULE</a:t>
            </a:r>
            <a:endParaRPr lang="en-US" altLang="zh-CN" sz="2400" dirty="0"/>
          </a:p>
          <a:p>
            <a:pPr lvl="1" eaLnBrk="1" hangingPunct="1">
              <a:lnSpc>
                <a:spcPct val="120000"/>
              </a:lnSpc>
              <a:spcBef>
                <a:spcPct val="15000"/>
              </a:spcBef>
            </a:pPr>
            <a:r>
              <a:rPr lang="en-US" altLang="zh-CN" sz="2400" dirty="0">
                <a:solidFill>
                  <a:schemeClr val="accent2"/>
                </a:solidFill>
              </a:rPr>
              <a:t>CREATE TABLE</a:t>
            </a:r>
            <a:endParaRPr lang="en-US" altLang="zh-CN" sz="2400" dirty="0">
              <a:solidFill>
                <a:schemeClr val="accent2"/>
              </a:solidFill>
            </a:endParaRPr>
          </a:p>
          <a:p>
            <a:pPr lvl="1" eaLnBrk="1" hangingPunct="1">
              <a:lnSpc>
                <a:spcPct val="120000"/>
              </a:lnSpc>
              <a:spcBef>
                <a:spcPct val="15000"/>
              </a:spcBef>
            </a:pPr>
            <a:r>
              <a:rPr lang="en-US" altLang="zh-CN" sz="2400" dirty="0">
                <a:solidFill>
                  <a:schemeClr val="accent2"/>
                </a:solidFill>
              </a:rPr>
              <a:t>CREATE VIEW</a:t>
            </a:r>
            <a:endParaRPr lang="en-US" altLang="zh-CN" sz="2400" dirty="0">
              <a:solidFill>
                <a:schemeClr val="accent2"/>
              </a:solidFill>
            </a:endParaRPr>
          </a:p>
          <a:p>
            <a:pPr lvl="1" eaLnBrk="1" hangingPunct="1">
              <a:lnSpc>
                <a:spcPct val="120000"/>
              </a:lnSpc>
              <a:spcBef>
                <a:spcPct val="15000"/>
              </a:spcBef>
            </a:pPr>
            <a:r>
              <a:rPr lang="en-US" altLang="zh-CN" sz="2400" dirty="0"/>
              <a:t>BACKUP DATABASE</a:t>
            </a:r>
            <a:endParaRPr lang="en-US" altLang="zh-CN" sz="2400" dirty="0"/>
          </a:p>
          <a:p>
            <a:pPr lvl="1" eaLnBrk="1" hangingPunct="1">
              <a:lnSpc>
                <a:spcPct val="120000"/>
              </a:lnSpc>
              <a:spcBef>
                <a:spcPct val="15000"/>
              </a:spcBef>
            </a:pPr>
            <a:r>
              <a:rPr lang="en-US" altLang="zh-CN" sz="2400" dirty="0"/>
              <a:t>BACKUP LOG</a:t>
            </a:r>
            <a:endParaRPr lang="en-US" altLang="zh-CN" sz="2400" dirty="0"/>
          </a:p>
          <a:p>
            <a:pPr lvl="1" eaLnBrk="1" hangingPunct="1">
              <a:lnSpc>
                <a:spcPct val="120000"/>
              </a:lnSpc>
              <a:spcBef>
                <a:spcPct val="15000"/>
              </a:spcBef>
            </a:pPr>
            <a:r>
              <a:rPr lang="en-US" altLang="zh-CN" sz="2400" dirty="0"/>
              <a:t>…</a:t>
            </a:r>
            <a:endParaRPr lang="en-US" altLang="zh-CN"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1204"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zh-CN" altLang="en-US" dirty="0"/>
              <a:t>隐含权限</a:t>
            </a:r>
            <a:endParaRPr lang="zh-CN" altLang="en-US" dirty="0"/>
          </a:p>
          <a:p>
            <a:pPr lvl="1" eaLnBrk="1" hangingPunct="1">
              <a:lnSpc>
                <a:spcPct val="120000"/>
              </a:lnSpc>
              <a:spcBef>
                <a:spcPct val="15000"/>
              </a:spcBef>
            </a:pPr>
            <a:r>
              <a:rPr lang="zh-CN" altLang="en-US" dirty="0"/>
              <a:t>用户担当什么角色，就自动拥有该角色的全部权限</a:t>
            </a:r>
            <a:endParaRPr lang="zh-CN" altLang="en-US" dirty="0"/>
          </a:p>
          <a:p>
            <a:pPr lvl="1" eaLnBrk="1" hangingPunct="1">
              <a:lnSpc>
                <a:spcPct val="120000"/>
              </a:lnSpc>
              <a:spcBef>
                <a:spcPct val="15000"/>
              </a:spcBef>
            </a:pPr>
            <a:r>
              <a:rPr lang="zh-CN" altLang="en-US" dirty="0"/>
              <a:t>系统管理员自动拥有全部权限</a:t>
            </a:r>
            <a:endParaRPr lang="zh-CN" altLang="en-US" dirty="0"/>
          </a:p>
          <a:p>
            <a:pPr lvl="1" eaLnBrk="1" hangingPunct="1">
              <a:lnSpc>
                <a:spcPct val="120000"/>
              </a:lnSpc>
              <a:spcBef>
                <a:spcPct val="15000"/>
              </a:spcBef>
            </a:pPr>
            <a:r>
              <a:rPr lang="zh-CN" altLang="en-US" dirty="0"/>
              <a:t>数据库所有者自动拥有对该数据库进行一切操作的权限</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22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2228" name="Rectangle 3"/>
          <p:cNvSpPr>
            <a:spLocks noGrp="1"/>
          </p:cNvSpPr>
          <p:nvPr>
            <p:ph idx="1"/>
          </p:nvPr>
        </p:nvSpPr>
        <p:spPr>
          <a:xfrm>
            <a:off x="304800" y="838200"/>
            <a:ext cx="8458200" cy="5254625"/>
          </a:xfrm>
          <a:ln/>
        </p:spPr>
        <p:txBody>
          <a:bodyPr vert="horz" wrap="square" lIns="91440" tIns="45720" rIns="91440" bIns="45720" anchor="t" anchorCtr="0"/>
          <a:p>
            <a:pPr eaLnBrk="1" hangingPunct="1">
              <a:lnSpc>
                <a:spcPct val="120000"/>
              </a:lnSpc>
              <a:spcBef>
                <a:spcPct val="15000"/>
              </a:spcBef>
            </a:pPr>
            <a:r>
              <a:rPr lang="en-US" altLang="zh-CN" b="0" dirty="0">
                <a:latin typeface="Arial" panose="020B0604020202020204" pitchFamily="34" charset="0"/>
              </a:rPr>
              <a:t>GRANT(</a:t>
            </a:r>
            <a:r>
              <a:rPr lang="zh-CN" altLang="en-US" b="0" dirty="0">
                <a:latin typeface="Arial" panose="020B0604020202020204" pitchFamily="34" charset="0"/>
              </a:rPr>
              <a:t>授权</a:t>
            </a:r>
            <a:r>
              <a:rPr lang="en-US" altLang="zh-CN" b="0" dirty="0">
                <a:latin typeface="Arial" panose="020B0604020202020204" pitchFamily="34" charset="0"/>
              </a:rPr>
              <a:t>)</a:t>
            </a:r>
            <a:r>
              <a:rPr lang="zh-CN" altLang="en-US" b="0" dirty="0">
                <a:latin typeface="Arial" panose="020B0604020202020204" pitchFamily="34" charset="0"/>
              </a:rPr>
              <a:t>语句的简明语法</a:t>
            </a:r>
            <a:endParaRPr lang="zh-CN" altLang="en-US" b="0" dirty="0">
              <a:latin typeface="Arial" panose="020B0604020202020204" pitchFamily="34" charset="0"/>
            </a:endParaRPr>
          </a:p>
          <a:p>
            <a:pPr lvl="1" eaLnBrk="1" hangingPunct="1">
              <a:lnSpc>
                <a:spcPct val="120000"/>
              </a:lnSpc>
              <a:spcBef>
                <a:spcPct val="15000"/>
              </a:spcBef>
              <a:buNone/>
            </a:pPr>
            <a:r>
              <a:rPr lang="en-US" altLang="en-US" b="0" dirty="0">
                <a:solidFill>
                  <a:schemeClr val="accent2"/>
                </a:solidFill>
                <a:latin typeface="Arial" panose="020B0604020202020204" pitchFamily="34" charset="0"/>
              </a:rPr>
              <a:t>GRANT </a:t>
            </a:r>
            <a:r>
              <a:rPr lang="en-US" altLang="en-US" b="0" dirty="0">
                <a:latin typeface="Arial" panose="020B0604020202020204" pitchFamily="34" charset="0"/>
              </a:rPr>
              <a:t>&lt;权限&gt;[,&lt;权限&gt;]...</a:t>
            </a:r>
            <a:r>
              <a:rPr lang="en-US" altLang="en-US" b="0" dirty="0">
                <a:solidFill>
                  <a:schemeClr val="accent2"/>
                </a:solidFill>
                <a:latin typeface="Arial" panose="020B0604020202020204" pitchFamily="34" charset="0"/>
              </a:rPr>
              <a:t> </a:t>
            </a:r>
            <a:endParaRPr lang="en-US" altLang="en-US" b="0" dirty="0">
              <a:solidFill>
                <a:schemeClr val="accent2"/>
              </a:solidFill>
              <a:latin typeface="Arial" panose="020B0604020202020204" pitchFamily="34" charset="0"/>
            </a:endParaRPr>
          </a:p>
          <a:p>
            <a:pPr lvl="1" eaLnBrk="1" hangingPunct="1">
              <a:lnSpc>
                <a:spcPct val="120000"/>
              </a:lnSpc>
              <a:spcBef>
                <a:spcPct val="15000"/>
              </a:spcBef>
              <a:buNone/>
            </a:pPr>
            <a:r>
              <a:rPr lang="en-US" altLang="en-US" b="0" dirty="0">
                <a:solidFill>
                  <a:schemeClr val="accent2"/>
                </a:solidFill>
                <a:latin typeface="Arial" panose="020B0604020202020204" pitchFamily="34" charset="0"/>
              </a:rPr>
              <a:t>ON </a:t>
            </a:r>
            <a:r>
              <a:rPr lang="en-US" altLang="en-US" b="0" dirty="0">
                <a:latin typeface="Arial" panose="020B0604020202020204" pitchFamily="34" charset="0"/>
              </a:rPr>
              <a:t>&lt;对象类型&gt; &lt;对象名&gt;</a:t>
            </a:r>
            <a:endParaRPr lang="en-US" altLang="en-US" b="0" dirty="0">
              <a:latin typeface="Arial" panose="020B0604020202020204" pitchFamily="34" charset="0"/>
            </a:endParaRPr>
          </a:p>
          <a:p>
            <a:pPr lvl="1" eaLnBrk="1" hangingPunct="1">
              <a:lnSpc>
                <a:spcPct val="120000"/>
              </a:lnSpc>
              <a:spcBef>
                <a:spcPct val="15000"/>
              </a:spcBef>
              <a:buNone/>
            </a:pPr>
            <a:r>
              <a:rPr lang="en-US" altLang="en-US" b="0" dirty="0">
                <a:solidFill>
                  <a:schemeClr val="accent2"/>
                </a:solidFill>
                <a:latin typeface="Arial" panose="020B0604020202020204" pitchFamily="34" charset="0"/>
              </a:rPr>
              <a:t>TO </a:t>
            </a:r>
            <a:r>
              <a:rPr lang="en-US" altLang="en-US" b="0" dirty="0">
                <a:latin typeface="Arial" panose="020B0604020202020204" pitchFamily="34" charset="0"/>
              </a:rPr>
              <a:t>&lt;用户&gt;[,&lt;用户&gt;]...</a:t>
            </a:r>
            <a:endParaRPr lang="en-US" altLang="en-US" b="0" dirty="0">
              <a:latin typeface="Arial" panose="020B0604020202020204" pitchFamily="34" charset="0"/>
            </a:endParaRPr>
          </a:p>
          <a:p>
            <a:pPr lvl="1" eaLnBrk="1" hangingPunct="1">
              <a:lnSpc>
                <a:spcPct val="120000"/>
              </a:lnSpc>
              <a:spcBef>
                <a:spcPct val="15000"/>
              </a:spcBef>
              <a:buNone/>
            </a:pPr>
            <a:r>
              <a:rPr lang="en-US" altLang="en-US" b="0" dirty="0">
                <a:solidFill>
                  <a:schemeClr val="accent2"/>
                </a:solidFill>
                <a:latin typeface="Arial" panose="020B0604020202020204" pitchFamily="34" charset="0"/>
              </a:rPr>
              <a:t>[WITH GRANT OPTION]</a:t>
            </a:r>
            <a:endParaRPr lang="en-US" altLang="en-US" b="0" dirty="0">
              <a:solidFill>
                <a:schemeClr val="accent2"/>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32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3252"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sz="2800" b="0" dirty="0">
                <a:latin typeface="Arial" panose="020B0604020202020204" pitchFamily="34" charset="0"/>
              </a:rPr>
              <a:t>SQL Server GRANT</a:t>
            </a:r>
            <a:r>
              <a:rPr lang="zh-CN" altLang="en-US" sz="2800" b="0" dirty="0">
                <a:latin typeface="Arial" panose="020B0604020202020204" pitchFamily="34" charset="0"/>
              </a:rPr>
              <a:t>语句的语法</a:t>
            </a:r>
            <a:endParaRPr lang="zh-CN" altLang="en-US" sz="2800" b="0" dirty="0">
              <a:latin typeface="Arial" panose="020B0604020202020204" pitchFamily="34" charset="0"/>
            </a:endParaRPr>
          </a:p>
          <a:p>
            <a:pPr lvl="1" eaLnBrk="1" hangingPunct="1">
              <a:lnSpc>
                <a:spcPct val="120000"/>
              </a:lnSpc>
              <a:spcBef>
                <a:spcPct val="15000"/>
              </a:spcBef>
              <a:buNone/>
            </a:pPr>
            <a:r>
              <a:rPr lang="en-US" altLang="zh-CN" sz="2400" b="0" dirty="0">
                <a:solidFill>
                  <a:schemeClr val="accent2"/>
                </a:solidFill>
                <a:latin typeface="Arial" panose="020B0604020202020204" pitchFamily="34" charset="0"/>
              </a:rPr>
              <a:t>GRANT</a:t>
            </a:r>
            <a:endParaRPr lang="en-US" altLang="zh-CN" sz="2400" b="0" dirty="0">
              <a:solidFill>
                <a:schemeClr val="accent2"/>
              </a:solidFill>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ALL</a:t>
            </a:r>
            <a:r>
              <a:rPr lang="en-US" altLang="zh-CN" sz="2400" b="0" dirty="0">
                <a:latin typeface="Arial" panose="020B0604020202020204" pitchFamily="34" charset="0"/>
              </a:rPr>
              <a:t> [</a:t>
            </a:r>
            <a:r>
              <a:rPr lang="en-US" altLang="zh-CN" sz="2400" b="0" dirty="0">
                <a:solidFill>
                  <a:schemeClr val="accent2"/>
                </a:solidFill>
                <a:latin typeface="Arial" panose="020B0604020202020204" pitchFamily="34" charset="0"/>
              </a:rPr>
              <a:t> PRIVILEGES</a:t>
            </a:r>
            <a:r>
              <a:rPr lang="en-US" altLang="zh-CN" sz="2400" b="0" dirty="0">
                <a:latin typeface="Arial" panose="020B0604020202020204" pitchFamily="34" charset="0"/>
              </a:rPr>
              <a:t> ] | </a:t>
            </a:r>
            <a:r>
              <a:rPr lang="zh-CN" altLang="en-US" sz="2400" b="0" dirty="0">
                <a:latin typeface="Arial" panose="020B0604020202020204" pitchFamily="34" charset="0"/>
              </a:rPr>
              <a:t>权限</a:t>
            </a:r>
            <a:r>
              <a:rPr lang="en-US" altLang="zh-CN" sz="2400" b="0" dirty="0">
                <a:latin typeface="Arial" panose="020B0604020202020204" pitchFamily="34" charset="0"/>
              </a:rPr>
              <a:t>[ ,...n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 </a:t>
            </a:r>
            <a:r>
              <a:rPr lang="zh-CN" altLang="en-US" sz="2400" b="0" dirty="0">
                <a:latin typeface="Arial" panose="020B0604020202020204" pitchFamily="34" charset="0"/>
              </a:rPr>
              <a:t>列名 </a:t>
            </a:r>
            <a:r>
              <a:rPr lang="en-US" altLang="zh-CN" sz="2400" b="0" dirty="0">
                <a:latin typeface="Arial" panose="020B0604020202020204" pitchFamily="34" charset="0"/>
              </a:rPr>
              <a:t>[ ,...n ] ) ] </a:t>
            </a:r>
            <a:r>
              <a:rPr lang="en-US" altLang="zh-CN" sz="2400" b="0" dirty="0">
                <a:solidFill>
                  <a:schemeClr val="accent2"/>
                </a:solidFill>
                <a:latin typeface="Arial" panose="020B0604020202020204" pitchFamily="34" charset="0"/>
              </a:rPr>
              <a:t>ON</a:t>
            </a:r>
            <a:r>
              <a:rPr lang="en-US" altLang="zh-CN" sz="2400" b="0" dirty="0">
                <a:latin typeface="Arial" panose="020B0604020202020204" pitchFamily="34" charset="0"/>
              </a:rPr>
              <a:t> { </a:t>
            </a:r>
            <a:r>
              <a:rPr lang="zh-CN" altLang="en-US" sz="2400" b="0" dirty="0">
                <a:latin typeface="Arial" panose="020B0604020202020204" pitchFamily="34" charset="0"/>
              </a:rPr>
              <a:t>表名</a:t>
            </a:r>
            <a:r>
              <a:rPr lang="en-US" altLang="zh-CN" sz="2400" b="0" dirty="0">
                <a:latin typeface="Arial" panose="020B0604020202020204" pitchFamily="34" charset="0"/>
              </a:rPr>
              <a:t>| </a:t>
            </a:r>
            <a:r>
              <a:rPr lang="zh-CN" altLang="en-US" sz="2400" b="0" dirty="0">
                <a:latin typeface="Arial" panose="020B0604020202020204" pitchFamily="34" charset="0"/>
              </a:rPr>
              <a:t>视图名 </a:t>
            </a:r>
            <a:r>
              <a:rPr lang="en-US" altLang="zh-CN" sz="2400" b="0" dirty="0">
                <a:latin typeface="Arial" panose="020B0604020202020204" pitchFamily="34" charset="0"/>
              </a:rPr>
              <a:t>}</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ON </a:t>
            </a:r>
            <a:r>
              <a:rPr lang="en-US" altLang="zh-CN" sz="2400" b="0" dirty="0">
                <a:latin typeface="Arial" panose="020B0604020202020204" pitchFamily="34" charset="0"/>
              </a:rPr>
              <a:t>{ </a:t>
            </a:r>
            <a:r>
              <a:rPr lang="zh-CN" altLang="en-US" sz="2400" b="0" dirty="0">
                <a:latin typeface="Arial" panose="020B0604020202020204" pitchFamily="34" charset="0"/>
              </a:rPr>
              <a:t>表名 </a:t>
            </a:r>
            <a:r>
              <a:rPr lang="en-US" altLang="zh-CN" sz="2400" b="0" dirty="0">
                <a:latin typeface="Arial" panose="020B0604020202020204" pitchFamily="34" charset="0"/>
              </a:rPr>
              <a:t>| </a:t>
            </a:r>
            <a:r>
              <a:rPr lang="zh-CN" altLang="en-US" sz="2400" b="0" dirty="0">
                <a:latin typeface="Arial" panose="020B0604020202020204" pitchFamily="34" charset="0"/>
              </a:rPr>
              <a:t>视图名 </a:t>
            </a:r>
            <a:r>
              <a:rPr lang="en-US" altLang="zh-CN" sz="2400" b="0" dirty="0">
                <a:latin typeface="Arial" panose="020B0604020202020204" pitchFamily="34" charset="0"/>
              </a:rPr>
              <a:t>} [ ( </a:t>
            </a:r>
            <a:r>
              <a:rPr lang="zh-CN" altLang="en-US" sz="2400" b="0" dirty="0">
                <a:latin typeface="Arial" panose="020B0604020202020204" pitchFamily="34" charset="0"/>
              </a:rPr>
              <a:t>列名 </a:t>
            </a:r>
            <a:r>
              <a:rPr lang="en-US" altLang="zh-CN" sz="2400" b="0" dirty="0">
                <a:latin typeface="Arial" panose="020B0604020202020204" pitchFamily="34" charset="0"/>
              </a:rPr>
              <a:t>[ ,...n ]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ON</a:t>
            </a:r>
            <a:r>
              <a:rPr lang="en-US" altLang="zh-CN" sz="2400" b="0" dirty="0">
                <a:latin typeface="Arial" panose="020B0604020202020204" pitchFamily="34" charset="0"/>
              </a:rPr>
              <a:t> { </a:t>
            </a:r>
            <a:r>
              <a:rPr lang="zh-CN" altLang="en-US" sz="2400" b="0" dirty="0">
                <a:latin typeface="Arial" panose="020B0604020202020204" pitchFamily="34" charset="0"/>
              </a:rPr>
              <a:t>存储过程</a:t>
            </a:r>
            <a:r>
              <a:rPr lang="en-US" altLang="zh-CN" sz="2400" b="0" dirty="0">
                <a:latin typeface="Arial" panose="020B0604020202020204" pitchFamily="34" charset="0"/>
              </a:rPr>
              <a:t>}</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ON </a:t>
            </a:r>
            <a:r>
              <a:rPr lang="en-US" altLang="zh-CN" sz="2400" b="0" dirty="0">
                <a:latin typeface="Arial" panose="020B0604020202020204" pitchFamily="34" charset="0"/>
              </a:rPr>
              <a:t>{ </a:t>
            </a:r>
            <a:r>
              <a:rPr lang="zh-CN" altLang="en-US" sz="2400" b="0" dirty="0">
                <a:latin typeface="Arial" panose="020B0604020202020204" pitchFamily="34" charset="0"/>
              </a:rPr>
              <a:t>用户自定义函数</a:t>
            </a:r>
            <a:r>
              <a:rPr lang="en-US" altLang="zh-CN" sz="2400" b="0" dirty="0">
                <a:latin typeface="Arial" panose="020B0604020202020204" pitchFamily="34" charset="0"/>
              </a:rPr>
              <a:t>}</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solidFill>
                  <a:schemeClr val="accent2"/>
                </a:solidFill>
                <a:latin typeface="Arial" panose="020B0604020202020204" pitchFamily="34" charset="0"/>
              </a:rPr>
              <a:t>TO</a:t>
            </a:r>
            <a:r>
              <a:rPr lang="en-US" altLang="zh-CN" sz="2400" b="0" dirty="0">
                <a:latin typeface="Arial" panose="020B0604020202020204" pitchFamily="34" charset="0"/>
              </a:rPr>
              <a:t>  </a:t>
            </a:r>
            <a:r>
              <a:rPr lang="zh-CN" altLang="en-US" sz="2400" b="0" dirty="0">
                <a:latin typeface="Arial" panose="020B0604020202020204" pitchFamily="34" charset="0"/>
              </a:rPr>
              <a:t>安全账户 </a:t>
            </a:r>
            <a:r>
              <a:rPr lang="en-US" altLang="zh-CN" sz="2400" b="0" dirty="0">
                <a:latin typeface="Arial" panose="020B0604020202020204" pitchFamily="34" charset="0"/>
              </a:rPr>
              <a:t>[ ,...n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a:t>
            </a:r>
            <a:r>
              <a:rPr lang="en-US" altLang="zh-CN" sz="2400" b="0" dirty="0">
                <a:solidFill>
                  <a:schemeClr val="accent2"/>
                </a:solidFill>
                <a:latin typeface="Arial" panose="020B0604020202020204" pitchFamily="34" charset="0"/>
              </a:rPr>
              <a:t>WITH GRANT OPTION</a:t>
            </a:r>
            <a:r>
              <a:rPr lang="en-US" altLang="zh-CN" sz="2400" b="0" dirty="0">
                <a:latin typeface="Arial" panose="020B0604020202020204" pitchFamily="34" charset="0"/>
              </a:rPr>
              <a:t> ] </a:t>
            </a:r>
            <a:endParaRPr lang="en-US" altLang="zh-CN" sz="2400" b="0" dirty="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42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4276"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b="0" dirty="0">
                <a:latin typeface="Arial" panose="020B0604020202020204" pitchFamily="34" charset="0"/>
              </a:rPr>
              <a:t>Who Can?</a:t>
            </a:r>
            <a:endParaRPr lang="en-US" altLang="zh-CN" b="0" dirty="0">
              <a:latin typeface="Arial" panose="020B0604020202020204" pitchFamily="34" charset="0"/>
            </a:endParaRPr>
          </a:p>
          <a:p>
            <a:pPr lvl="1" eaLnBrk="1" hangingPunct="1">
              <a:lnSpc>
                <a:spcPct val="120000"/>
              </a:lnSpc>
              <a:spcBef>
                <a:spcPct val="15000"/>
              </a:spcBef>
            </a:pPr>
            <a:r>
              <a:rPr lang="en-US" altLang="zh-CN" b="0" dirty="0">
                <a:latin typeface="Arial" panose="020B0604020202020204" pitchFamily="34" charset="0"/>
              </a:rPr>
              <a:t>DBA</a:t>
            </a:r>
            <a:endParaRPr lang="en-US" altLang="zh-CN" b="0" dirty="0">
              <a:latin typeface="Arial" panose="020B0604020202020204" pitchFamily="34" charset="0"/>
            </a:endParaRPr>
          </a:p>
          <a:p>
            <a:pPr lvl="1" eaLnBrk="1" hangingPunct="1">
              <a:lnSpc>
                <a:spcPct val="120000"/>
              </a:lnSpc>
              <a:spcBef>
                <a:spcPct val="15000"/>
              </a:spcBef>
            </a:pPr>
            <a:r>
              <a:rPr lang="en-US" altLang="zh-CN" b="0" dirty="0">
                <a:latin typeface="Arial" panose="020B0604020202020204" pitchFamily="34" charset="0"/>
              </a:rPr>
              <a:t>Owner(</a:t>
            </a:r>
            <a:r>
              <a:rPr lang="zh-CN" altLang="en-US" b="0" dirty="0">
                <a:latin typeface="Arial" panose="020B0604020202020204" pitchFamily="34" charset="0"/>
              </a:rPr>
              <a:t>属主，数据库的创建者</a:t>
            </a:r>
            <a:r>
              <a:rPr lang="en-US" altLang="zh-CN" b="0" dirty="0">
                <a:latin typeface="Arial" panose="020B0604020202020204" pitchFamily="34" charset="0"/>
              </a:rPr>
              <a:t>)</a:t>
            </a:r>
            <a:endParaRPr lang="en-US" altLang="zh-CN" b="0" dirty="0">
              <a:latin typeface="Arial" panose="020B0604020202020204" pitchFamily="34" charset="0"/>
            </a:endParaRPr>
          </a:p>
          <a:p>
            <a:pPr lvl="1" eaLnBrk="1" hangingPunct="1">
              <a:lnSpc>
                <a:spcPct val="120000"/>
              </a:lnSpc>
              <a:spcBef>
                <a:spcPct val="15000"/>
              </a:spcBef>
            </a:pPr>
            <a:r>
              <a:rPr lang="zh-CN" altLang="en-US" b="0" dirty="0">
                <a:latin typeface="Arial" panose="020B0604020202020204" pitchFamily="34" charset="0"/>
              </a:rPr>
              <a:t>拥有该权限的用户</a:t>
            </a:r>
            <a:endParaRPr lang="zh-CN" altLang="en-US" b="0" dirty="0">
              <a:latin typeface="Arial" panose="020B0604020202020204" pitchFamily="34" charset="0"/>
            </a:endParaRPr>
          </a:p>
          <a:p>
            <a:pPr eaLnBrk="1" hangingPunct="1">
              <a:lnSpc>
                <a:spcPct val="120000"/>
              </a:lnSpc>
              <a:spcBef>
                <a:spcPct val="15000"/>
              </a:spcBef>
            </a:pPr>
            <a:r>
              <a:rPr lang="en-US" altLang="zh-CN" b="0" dirty="0">
                <a:latin typeface="Arial" panose="020B0604020202020204" pitchFamily="34" charset="0"/>
              </a:rPr>
              <a:t>To Whom?</a:t>
            </a:r>
            <a:endParaRPr lang="en-US" altLang="zh-CN" b="0" dirty="0">
              <a:latin typeface="Arial" panose="020B0604020202020204" pitchFamily="34" charset="0"/>
            </a:endParaRPr>
          </a:p>
          <a:p>
            <a:pPr lvl="1" eaLnBrk="1" hangingPunct="1">
              <a:lnSpc>
                <a:spcPct val="120000"/>
              </a:lnSpc>
              <a:spcBef>
                <a:spcPct val="15000"/>
              </a:spcBef>
            </a:pPr>
            <a:r>
              <a:rPr lang="zh-CN" altLang="en-US" b="0" dirty="0">
                <a:latin typeface="Arial" panose="020B0604020202020204" pitchFamily="34" charset="0"/>
              </a:rPr>
              <a:t>一个或多个具体用户</a:t>
            </a:r>
            <a:endParaRPr lang="zh-CN" altLang="en-US" b="0" dirty="0">
              <a:latin typeface="Arial" panose="020B0604020202020204" pitchFamily="34" charset="0"/>
            </a:endParaRPr>
          </a:p>
          <a:p>
            <a:pPr lvl="1" eaLnBrk="1" hangingPunct="1">
              <a:lnSpc>
                <a:spcPct val="120000"/>
              </a:lnSpc>
              <a:spcBef>
                <a:spcPct val="15000"/>
              </a:spcBef>
            </a:pPr>
            <a:r>
              <a:rPr lang="en-US" altLang="zh-CN" b="0" dirty="0">
                <a:latin typeface="Arial" panose="020B0604020202020204" pitchFamily="34" charset="0"/>
              </a:rPr>
              <a:t>Public(</a:t>
            </a:r>
            <a:r>
              <a:rPr lang="zh-CN" altLang="en-US" b="0" dirty="0">
                <a:latin typeface="Arial" panose="020B0604020202020204" pitchFamily="34" charset="0"/>
              </a:rPr>
              <a:t>全体</a:t>
            </a:r>
            <a:r>
              <a:rPr lang="en-US" altLang="zh-CN" b="0" dirty="0">
                <a:latin typeface="Arial" panose="020B0604020202020204" pitchFamily="34" charset="0"/>
              </a:rPr>
              <a:t>)</a:t>
            </a:r>
            <a:endParaRPr lang="en-US" altLang="zh-CN" b="0" dirty="0">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52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5300" name="Rectangle 3"/>
          <p:cNvSpPr>
            <a:spLocks noGrp="1"/>
          </p:cNvSpPr>
          <p:nvPr>
            <p:ph idx="1"/>
          </p:nvPr>
        </p:nvSpPr>
        <p:spPr>
          <a:xfrm>
            <a:off x="304800" y="838200"/>
            <a:ext cx="8458200" cy="3022600"/>
          </a:xfrm>
          <a:ln/>
        </p:spPr>
        <p:txBody>
          <a:bodyPr vert="horz" wrap="square" lIns="91440" tIns="45720" rIns="91440" bIns="45720" anchor="t" anchorCtr="0"/>
          <a:p>
            <a:pPr eaLnBrk="1" hangingPunct="1">
              <a:lnSpc>
                <a:spcPct val="120000"/>
              </a:lnSpc>
              <a:spcBef>
                <a:spcPct val="15000"/>
              </a:spcBef>
            </a:pPr>
            <a:r>
              <a:rPr lang="en-US" altLang="zh-CN" b="0" dirty="0">
                <a:latin typeface="Arial" panose="020B0604020202020204" pitchFamily="34" charset="0"/>
              </a:rPr>
              <a:t>With grant option</a:t>
            </a:r>
            <a:endParaRPr lang="en-US" altLang="zh-CN" b="0" dirty="0">
              <a:latin typeface="Arial" panose="020B0604020202020204" pitchFamily="34" charset="0"/>
            </a:endParaRPr>
          </a:p>
          <a:p>
            <a:pPr lvl="1" eaLnBrk="1" hangingPunct="1">
              <a:lnSpc>
                <a:spcPct val="120000"/>
              </a:lnSpc>
              <a:spcBef>
                <a:spcPct val="15000"/>
              </a:spcBef>
            </a:pPr>
            <a:r>
              <a:rPr lang="zh-CN" altLang="en-US" dirty="0">
                <a:latin typeface="Arial" panose="020B0604020202020204" pitchFamily="34" charset="0"/>
              </a:rPr>
              <a:t>指定：可以转授</a:t>
            </a:r>
            <a:endParaRPr lang="zh-CN" altLang="en-US" dirty="0">
              <a:latin typeface="Arial" panose="020B0604020202020204" pitchFamily="34" charset="0"/>
            </a:endParaRPr>
          </a:p>
          <a:p>
            <a:pPr lvl="1" eaLnBrk="1" hangingPunct="1">
              <a:lnSpc>
                <a:spcPct val="120000"/>
              </a:lnSpc>
              <a:spcBef>
                <a:spcPct val="15000"/>
              </a:spcBef>
            </a:pPr>
            <a:r>
              <a:rPr lang="zh-CN" altLang="en-US" dirty="0">
                <a:latin typeface="Arial" panose="020B0604020202020204" pitchFamily="34" charset="0"/>
              </a:rPr>
              <a:t>不指定：不得传播该权限</a:t>
            </a:r>
            <a:endParaRPr lang="zh-CN" altLang="en-US" dirty="0">
              <a:latin typeface="Arial" panose="020B0604020202020204" pitchFamily="34" charset="0"/>
            </a:endParaRPr>
          </a:p>
          <a:p>
            <a:pPr eaLnBrk="1" hangingPunct="1">
              <a:lnSpc>
                <a:spcPct val="120000"/>
              </a:lnSpc>
              <a:spcBef>
                <a:spcPct val="15000"/>
              </a:spcBef>
            </a:pPr>
            <a:r>
              <a:rPr lang="zh-CN" altLang="en-US" dirty="0">
                <a:latin typeface="Arial" panose="020B0604020202020204" pitchFamily="34" charset="0"/>
              </a:rPr>
              <a:t>不允许循环授权</a:t>
            </a:r>
            <a:endParaRPr lang="zh-CN" altLang="en-US" dirty="0">
              <a:latin typeface="Arial" panose="020B0604020202020204" pitchFamily="34" charset="0"/>
            </a:endParaRPr>
          </a:p>
        </p:txBody>
      </p:sp>
      <p:pic>
        <p:nvPicPr>
          <p:cNvPr id="55301" name="Picture 4" descr="43"/>
          <p:cNvPicPr>
            <a:picLocks noChangeAspect="1"/>
          </p:cNvPicPr>
          <p:nvPr/>
        </p:nvPicPr>
        <p:blipFill>
          <a:blip r:embed="rId1"/>
          <a:stretch>
            <a:fillRect/>
          </a:stretch>
        </p:blipFill>
        <p:spPr>
          <a:xfrm>
            <a:off x="1763713" y="4005263"/>
            <a:ext cx="5256212" cy="1214437"/>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63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92163" name="Rectangle 3"/>
          <p:cNvSpPr>
            <a:spLocks noGrp="1" noChangeArrowheads="1"/>
          </p:cNvSpPr>
          <p:nvPr>
            <p:ph idx="1"/>
          </p:nvPr>
        </p:nvSpPr>
        <p:spPr>
          <a:xfrm>
            <a:off x="304800" y="838200"/>
            <a:ext cx="8458200" cy="5830888"/>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rPr>
              <a:t>[</a:t>
            </a:r>
            <a:r>
              <a:rPr kumimoji="1" lang="zh-CN" altLang="en-US"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rPr>
              <a:t>例</a:t>
            </a:r>
            <a:r>
              <a:rPr kumimoji="1" lang="en-US" altLang="zh-CN"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rPr>
              <a:t>1] </a:t>
            </a:r>
            <a:r>
              <a:rPr kumimoji="1" lang="zh-CN" altLang="en-US"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rPr>
              <a:t>把查询</a:t>
            </a:r>
            <a:r>
              <a:rPr kumimoji="1" lang="en-US" altLang="zh-CN" sz="3200" b="1" i="0" u="none" strike="noStrike" kern="0" cap="none" spc="0" normalizeH="0" baseline="0" noProof="0" smtClean="0">
                <a:ln>
                  <a:noFill/>
                </a:ln>
                <a:solidFill>
                  <a:schemeClr val="tx1"/>
                </a:solidFill>
                <a:effectLst/>
                <a:uLnTx/>
                <a:uFillTx/>
                <a:latin typeface="+mn-lt"/>
                <a:ea typeface="+mn-ea"/>
                <a:cs typeface="+mn-cs"/>
              </a:rPr>
              <a:t>Student</a:t>
            </a:r>
            <a:r>
              <a:rPr kumimoji="1" lang="zh-CN" altLang="en-US"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rPr>
              <a:t>表权限授给用户</a:t>
            </a:r>
            <a:r>
              <a:rPr kumimoji="1" lang="en-US" altLang="zh-CN"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rPr>
              <a:t>U1</a:t>
            </a:r>
            <a:endParaRPr kumimoji="1" lang="en-US" altLang="zh-CN" sz="3200" b="1" i="0" u="none" strike="noStrike" kern="0" cap="none" spc="0" normalizeH="0" baseline="0" noProof="0" smtClean="0">
              <a:ln>
                <a:noFill/>
              </a:ln>
              <a:solidFill>
                <a:schemeClr val="tx1"/>
              </a:solidFill>
              <a:effectLst/>
              <a:uLnTx/>
              <a:uFillTx/>
              <a:latin typeface="宋体" panose="02010600030101010101" pitchFamily="2" charset="-122"/>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1" i="0" u="none" strike="noStrike" kern="0" cap="none" spc="0" normalizeH="0" baseline="0" noProof="0" smtClean="0">
                <a:ln>
                  <a:noFill/>
                </a:ln>
                <a:solidFill>
                  <a:schemeClr val="accent2"/>
                </a:solidFill>
                <a:effectLst/>
                <a:uLnTx/>
                <a:uFillTx/>
                <a:latin typeface="+mn-lt"/>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GRANT</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 SELECT</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endPar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ON</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TABLE</a:t>
            </a:r>
            <a:r>
              <a:rPr kumimoji="1" lang="en-US" altLang="zh-CN" sz="32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Student </a:t>
            </a:r>
            <a:endPar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TO</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U1</a:t>
            </a:r>
            <a:endPar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endPar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	   GRANT</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 SELECT</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endPar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ON</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1" u="none" strike="noStrike" kern="0" cap="none" spc="0" normalizeH="0" baseline="0" noProof="0" smtClean="0">
                <a:ln>
                  <a:noFill/>
                </a:ln>
                <a:solidFill>
                  <a:schemeClr val="tx1"/>
                </a:solidFill>
                <a:effectLst/>
                <a:uLnTx/>
                <a:uFillTx/>
                <a:latin typeface="Arial" panose="020B0604020202020204" pitchFamily="34" charset="0"/>
                <a:ea typeface="+mn-ea"/>
                <a:cs typeface="+mn-cs"/>
              </a:rPr>
              <a:t>Student </a:t>
            </a:r>
            <a:endParaRPr kumimoji="1" lang="en-US" altLang="zh-CN" sz="3200" b="0" i="1"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defRPr/>
            </a:pP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0" u="none" strike="noStrike" kern="0" cap="none" spc="0" normalizeH="0" baseline="0" noProof="0" smtClean="0">
                <a:ln>
                  <a:noFill/>
                </a:ln>
                <a:solidFill>
                  <a:schemeClr val="accent2"/>
                </a:solidFill>
                <a:effectLst/>
                <a:uLnTx/>
                <a:uFillTx/>
                <a:latin typeface="Arial" panose="020B0604020202020204" pitchFamily="34" charset="0"/>
                <a:ea typeface="+mn-ea"/>
                <a:cs typeface="+mn-cs"/>
              </a:rPr>
              <a:t>TO</a:t>
            </a:r>
            <a:r>
              <a:rPr kumimoji="1" lang="en-US" altLang="zh-CN" sz="3200" b="0" i="0" u="none" strike="noStrike" kern="0" cap="none" spc="0" normalizeH="0" baseline="0" noProof="0" smtClean="0">
                <a:ln>
                  <a:noFill/>
                </a:ln>
                <a:solidFill>
                  <a:schemeClr val="tx1"/>
                </a:solidFill>
                <a:effectLst/>
                <a:uLnTx/>
                <a:uFillTx/>
                <a:latin typeface="Arial" panose="020B0604020202020204" pitchFamily="34" charset="0"/>
                <a:ea typeface="+mn-ea"/>
                <a:cs typeface="+mn-cs"/>
              </a:rPr>
              <a:t>   </a:t>
            </a:r>
            <a:r>
              <a:rPr kumimoji="1" lang="en-US" altLang="zh-CN" sz="3200" b="0" i="1" u="none" strike="noStrike" kern="0" cap="none" spc="0" normalizeH="0" baseline="0" noProof="0" smtClean="0">
                <a:ln>
                  <a:noFill/>
                </a:ln>
                <a:solidFill>
                  <a:schemeClr val="tx1"/>
                </a:solidFill>
                <a:effectLst/>
                <a:uLnTx/>
                <a:uFillTx/>
                <a:latin typeface="Arial" panose="020B0604020202020204" pitchFamily="34" charset="0"/>
                <a:ea typeface="+mn-ea"/>
                <a:cs typeface="+mn-cs"/>
              </a:rPr>
              <a:t>U1</a:t>
            </a:r>
            <a:endParaRPr kumimoji="1" lang="en-US" altLang="zh-CN" sz="3200" b="0" i="1" u="none" strike="noStrike" kern="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73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7348"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buNone/>
            </a:pPr>
            <a:r>
              <a:rPr lang="en-US" altLang="zh-CN" dirty="0">
                <a:solidFill>
                  <a:schemeClr val="tx1"/>
                </a:solidFill>
              </a:rPr>
              <a:t>[</a:t>
            </a:r>
            <a:r>
              <a:rPr lang="zh-CN" altLang="en-US" dirty="0">
                <a:solidFill>
                  <a:schemeClr val="tx1"/>
                </a:solidFill>
              </a:rPr>
              <a:t>例</a:t>
            </a:r>
            <a:r>
              <a:rPr lang="en-US" altLang="zh-CN" dirty="0">
                <a:solidFill>
                  <a:schemeClr val="tx1"/>
                </a:solidFill>
              </a:rPr>
              <a:t>2] </a:t>
            </a:r>
            <a:r>
              <a:rPr lang="zh-CN" altLang="en-US" dirty="0">
                <a:solidFill>
                  <a:schemeClr val="tx1"/>
                </a:solidFill>
              </a:rPr>
              <a:t>把对</a:t>
            </a:r>
            <a:r>
              <a:rPr lang="en-US" altLang="zh-CN" dirty="0">
                <a:solidFill>
                  <a:schemeClr val="tx1"/>
                </a:solidFill>
              </a:rPr>
              <a:t>Student</a:t>
            </a:r>
            <a:r>
              <a:rPr lang="zh-CN" altLang="en-US" dirty="0">
                <a:solidFill>
                  <a:schemeClr val="tx1"/>
                </a:solidFill>
              </a:rPr>
              <a:t>表和</a:t>
            </a:r>
            <a:r>
              <a:rPr lang="en-US" altLang="zh-CN" dirty="0">
                <a:solidFill>
                  <a:schemeClr val="tx1"/>
                </a:solidFill>
              </a:rPr>
              <a:t>Course</a:t>
            </a:r>
            <a:r>
              <a:rPr lang="zh-CN" altLang="en-US" dirty="0">
                <a:solidFill>
                  <a:schemeClr val="tx1"/>
                </a:solidFill>
              </a:rPr>
              <a:t>表的全部权限授予用户</a:t>
            </a:r>
            <a:r>
              <a:rPr lang="en-US" altLang="zh-CN" dirty="0">
                <a:solidFill>
                  <a:schemeClr val="tx1"/>
                </a:solidFill>
              </a:rPr>
              <a:t>U2</a:t>
            </a:r>
            <a:r>
              <a:rPr lang="zh-CN" altLang="en-US" dirty="0">
                <a:solidFill>
                  <a:schemeClr val="tx1"/>
                </a:solidFill>
              </a:rPr>
              <a:t>和</a:t>
            </a:r>
            <a:r>
              <a:rPr lang="en-US" altLang="zh-CN" dirty="0">
                <a:solidFill>
                  <a:schemeClr val="tx1"/>
                </a:solidFill>
              </a:rPr>
              <a:t>U3</a:t>
            </a:r>
            <a:endParaRPr lang="en-US" altLang="zh-CN" dirty="0">
              <a:solidFill>
                <a:schemeClr val="tx1"/>
              </a:solidFill>
            </a:endParaRPr>
          </a:p>
          <a:p>
            <a:pPr algn="just" eaLnBrk="1" hangingPunct="1">
              <a:buNone/>
            </a:pPr>
            <a:endParaRPr lang="en-US" altLang="zh-CN" dirty="0">
              <a:solidFill>
                <a:schemeClr val="tx1"/>
              </a:solidFill>
            </a:endParaRPr>
          </a:p>
          <a:p>
            <a:pPr algn="just" eaLnBrk="1" hangingPunct="1">
              <a:buNone/>
            </a:pPr>
            <a:r>
              <a:rPr lang="en-US" altLang="zh-CN" dirty="0">
                <a:solidFill>
                  <a:schemeClr val="tx1"/>
                </a:solidFill>
              </a:rPr>
              <a:t>      </a:t>
            </a:r>
            <a:r>
              <a:rPr lang="en-US" altLang="zh-CN" b="0" dirty="0">
                <a:solidFill>
                  <a:schemeClr val="accent2"/>
                </a:solidFill>
                <a:latin typeface="Arial" panose="020B0604020202020204" pitchFamily="34" charset="0"/>
              </a:rPr>
              <a:t>GRANT</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ALL PRIVILIGES</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ON</a:t>
            </a:r>
            <a:r>
              <a:rPr lang="en-US" altLang="zh-CN" b="0" dirty="0">
                <a:solidFill>
                  <a:schemeClr val="tx1"/>
                </a:solidFill>
                <a:latin typeface="Arial" panose="020B0604020202020204" pitchFamily="34" charset="0"/>
              </a:rPr>
              <a:t> Student </a:t>
            </a:r>
            <a:endParaRPr lang="en-US" altLang="zh-CN" b="0" dirty="0">
              <a:solidFill>
                <a:schemeClr val="tx1"/>
              </a:solidFill>
              <a:latin typeface="Arial" panose="020B0604020202020204" pitchFamily="34" charset="0"/>
            </a:endParaRPr>
          </a:p>
          <a:p>
            <a:pPr algn="just" eaLnBrk="1" hangingPunct="1">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TO</a:t>
            </a:r>
            <a:r>
              <a:rPr lang="en-US" altLang="zh-CN" b="0" dirty="0">
                <a:solidFill>
                  <a:schemeClr val="tx1"/>
                </a:solidFill>
                <a:latin typeface="Arial" panose="020B0604020202020204" pitchFamily="34" charset="0"/>
              </a:rPr>
              <a:t> U2, U3</a:t>
            </a:r>
            <a:endParaRPr lang="en-US" altLang="zh-CN" b="0" dirty="0">
              <a:solidFill>
                <a:schemeClr val="tx1"/>
              </a:solidFill>
              <a:latin typeface="Arial" panose="020B0604020202020204" pitchFamily="34" charset="0"/>
            </a:endParaRPr>
          </a:p>
          <a:p>
            <a:pPr algn="just" eaLnBrk="1" hangingPunct="1">
              <a:buNone/>
            </a:pPr>
            <a:endParaRPr lang="en-US" altLang="zh-CN" dirty="0">
              <a:solidFill>
                <a:schemeClr val="tx1"/>
              </a:solidFill>
            </a:endParaRPr>
          </a:p>
          <a:p>
            <a:pPr algn="just" eaLnBrk="1" hangingPunct="1">
              <a:buNone/>
            </a:pPr>
            <a:r>
              <a:rPr lang="en-US" altLang="zh-CN" dirty="0">
                <a:solidFill>
                  <a:schemeClr val="tx1"/>
                </a:solidFill>
              </a:rPr>
              <a:t>      </a:t>
            </a:r>
            <a:r>
              <a:rPr lang="en-US" altLang="zh-CN" b="0" dirty="0">
                <a:solidFill>
                  <a:schemeClr val="accent2"/>
                </a:solidFill>
                <a:latin typeface="Arial" panose="020B0604020202020204" pitchFamily="34" charset="0"/>
              </a:rPr>
              <a:t>GRANT</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ALL PRIVILIGES</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ON</a:t>
            </a:r>
            <a:r>
              <a:rPr lang="en-US" altLang="zh-CN" b="0" dirty="0">
                <a:solidFill>
                  <a:schemeClr val="tx1"/>
                </a:solidFill>
                <a:latin typeface="Arial" panose="020B0604020202020204" pitchFamily="34" charset="0"/>
              </a:rPr>
              <a:t> Course </a:t>
            </a:r>
            <a:endParaRPr lang="en-US" altLang="zh-CN" b="0" dirty="0">
              <a:solidFill>
                <a:schemeClr val="tx1"/>
              </a:solidFill>
              <a:latin typeface="Arial" panose="020B0604020202020204" pitchFamily="34" charset="0"/>
            </a:endParaRPr>
          </a:p>
          <a:p>
            <a:pPr algn="just" eaLnBrk="1" hangingPunct="1">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TO</a:t>
            </a:r>
            <a:r>
              <a:rPr lang="en-US" altLang="zh-CN" b="0" dirty="0">
                <a:solidFill>
                  <a:schemeClr val="tx1"/>
                </a:solidFill>
                <a:latin typeface="Arial" panose="020B0604020202020204" pitchFamily="34" charset="0"/>
              </a:rPr>
              <a:t> U2, U3</a:t>
            </a:r>
            <a:endParaRPr lang="en-US" altLang="zh-CN" b="0" dirty="0">
              <a:solidFill>
                <a:schemeClr val="tx1"/>
              </a:solidFill>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83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8372"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buNone/>
            </a:pPr>
            <a:r>
              <a:rPr lang="en-US" altLang="zh-CN" dirty="0">
                <a:solidFill>
                  <a:schemeClr val="tx1"/>
                </a:solidFill>
              </a:rPr>
              <a:t>[</a:t>
            </a:r>
            <a:r>
              <a:rPr lang="zh-CN" altLang="en-US" dirty="0">
                <a:solidFill>
                  <a:schemeClr val="tx1"/>
                </a:solidFill>
              </a:rPr>
              <a:t>例</a:t>
            </a:r>
            <a:r>
              <a:rPr lang="en-US" altLang="zh-CN" dirty="0">
                <a:solidFill>
                  <a:schemeClr val="tx1"/>
                </a:solidFill>
              </a:rPr>
              <a:t>3] </a:t>
            </a:r>
            <a:r>
              <a:rPr lang="zh-CN" altLang="en-US" dirty="0">
                <a:solidFill>
                  <a:schemeClr val="tx1"/>
                </a:solidFill>
              </a:rPr>
              <a:t>把对表</a:t>
            </a:r>
            <a:r>
              <a:rPr lang="en-US" altLang="zh-CN" dirty="0">
                <a:solidFill>
                  <a:schemeClr val="tx1"/>
                </a:solidFill>
              </a:rPr>
              <a:t>SC</a:t>
            </a:r>
            <a:r>
              <a:rPr lang="zh-CN" altLang="en-US" dirty="0">
                <a:solidFill>
                  <a:schemeClr val="tx1"/>
                </a:solidFill>
              </a:rPr>
              <a:t>的查询权限授予所有用户</a:t>
            </a:r>
            <a:endParaRPr lang="zh-CN" altLang="en-US" dirty="0">
              <a:solidFill>
                <a:schemeClr val="tx1"/>
              </a:solidFill>
            </a:endParaRPr>
          </a:p>
          <a:p>
            <a:pPr algn="just" eaLnBrk="1" hangingPunct="1">
              <a:buNone/>
            </a:pPr>
            <a:endParaRPr lang="zh-CN" altLang="en-US" dirty="0">
              <a:solidFill>
                <a:schemeClr val="tx1"/>
              </a:solidFill>
            </a:endParaRPr>
          </a:p>
          <a:p>
            <a:pPr algn="just" eaLnBrk="1" hangingPunct="1">
              <a:lnSpc>
                <a:spcPct val="120000"/>
              </a:lnSpc>
              <a:buNone/>
            </a:pPr>
            <a:r>
              <a:rPr lang="zh-CN" altLang="en-US" dirty="0">
                <a:solidFill>
                  <a:schemeClr val="tx1"/>
                </a:solidFill>
              </a:rPr>
              <a:t>     </a:t>
            </a:r>
            <a:r>
              <a:rPr lang="en-US" altLang="zh-CN" b="0" dirty="0">
                <a:solidFill>
                  <a:schemeClr val="accent2"/>
                </a:solidFill>
                <a:latin typeface="Arial" panose="020B0604020202020204" pitchFamily="34" charset="0"/>
              </a:rPr>
              <a:t>GRANT SELECT</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ON</a:t>
            </a:r>
            <a:r>
              <a:rPr lang="en-US" altLang="zh-CN" b="0" dirty="0">
                <a:solidFill>
                  <a:schemeClr val="tx1"/>
                </a:solidFill>
                <a:latin typeface="Arial" panose="020B0604020202020204" pitchFamily="34" charset="0"/>
              </a:rPr>
              <a:t> SC </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TO</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PUBLIC</a:t>
            </a:r>
            <a:endParaRPr lang="en-US" altLang="zh-CN" b="0" dirty="0">
              <a:solidFill>
                <a:schemeClr val="accent2"/>
              </a:solidFill>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93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59396"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buNone/>
            </a:pPr>
            <a:r>
              <a:rPr lang="en-US" altLang="zh-CN" dirty="0">
                <a:solidFill>
                  <a:schemeClr val="tx1"/>
                </a:solidFill>
              </a:rPr>
              <a:t>[</a:t>
            </a:r>
            <a:r>
              <a:rPr lang="zh-CN" altLang="en-US" dirty="0">
                <a:solidFill>
                  <a:schemeClr val="tx1"/>
                </a:solidFill>
              </a:rPr>
              <a:t>例</a:t>
            </a:r>
            <a:r>
              <a:rPr lang="en-US" altLang="zh-CN" dirty="0">
                <a:solidFill>
                  <a:schemeClr val="tx1"/>
                </a:solidFill>
              </a:rPr>
              <a:t>4] </a:t>
            </a:r>
            <a:r>
              <a:rPr lang="zh-CN" altLang="en-US" dirty="0">
                <a:solidFill>
                  <a:schemeClr val="tx1"/>
                </a:solidFill>
              </a:rPr>
              <a:t>把查询</a:t>
            </a:r>
            <a:r>
              <a:rPr lang="en-US" altLang="zh-CN" dirty="0">
                <a:solidFill>
                  <a:schemeClr val="tx1"/>
                </a:solidFill>
              </a:rPr>
              <a:t>Student</a:t>
            </a:r>
            <a:r>
              <a:rPr lang="zh-CN" altLang="en-US" dirty="0">
                <a:solidFill>
                  <a:schemeClr val="tx1"/>
                </a:solidFill>
              </a:rPr>
              <a:t>表和修改学生学号的权限授给用户</a:t>
            </a:r>
            <a:r>
              <a:rPr lang="en-US" altLang="zh-CN" dirty="0">
                <a:solidFill>
                  <a:schemeClr val="tx1"/>
                </a:solidFill>
              </a:rPr>
              <a:t>U4</a:t>
            </a:r>
            <a:endParaRPr lang="en-US" altLang="zh-CN" dirty="0">
              <a:solidFill>
                <a:schemeClr val="tx1"/>
              </a:solidFill>
            </a:endParaRPr>
          </a:p>
          <a:p>
            <a:pPr algn="just" eaLnBrk="1" hangingPunct="1">
              <a:buNone/>
            </a:pPr>
            <a:r>
              <a:rPr lang="zh-CN" altLang="en-US" sz="2400" dirty="0">
                <a:solidFill>
                  <a:schemeClr val="tx1"/>
                </a:solidFill>
              </a:rPr>
              <a:t>　 </a:t>
            </a:r>
            <a:endParaRPr lang="zh-CN" altLang="en-US" sz="2400" dirty="0">
              <a:solidFill>
                <a:schemeClr val="tx1"/>
              </a:solidFill>
            </a:endParaRPr>
          </a:p>
          <a:p>
            <a:pPr algn="just" eaLnBrk="1" hangingPunct="1">
              <a:lnSpc>
                <a:spcPct val="120000"/>
              </a:lnSpc>
              <a:buNone/>
            </a:pPr>
            <a:r>
              <a:rPr lang="zh-CN" altLang="en-US" sz="2400" dirty="0">
                <a:solidFill>
                  <a:schemeClr val="tx1"/>
                </a:solidFill>
              </a:rPr>
              <a:t>	  	</a:t>
            </a:r>
            <a:r>
              <a:rPr lang="en-US" altLang="zh-CN" b="0" dirty="0">
                <a:solidFill>
                  <a:schemeClr val="accent2"/>
                </a:solidFill>
                <a:latin typeface="Arial" panose="020B0604020202020204" pitchFamily="34" charset="0"/>
              </a:rPr>
              <a:t>GRANT</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UPDATE</a:t>
            </a:r>
            <a:r>
              <a:rPr lang="en-US" altLang="zh-CN" b="0" dirty="0">
                <a:solidFill>
                  <a:schemeClr val="tx1"/>
                </a:solidFill>
                <a:latin typeface="Arial" panose="020B0604020202020204" pitchFamily="34" charset="0"/>
              </a:rPr>
              <a:t>(Sno), </a:t>
            </a:r>
            <a:r>
              <a:rPr lang="en-US" altLang="zh-CN" b="0" dirty="0">
                <a:solidFill>
                  <a:schemeClr val="accent2"/>
                </a:solidFill>
                <a:latin typeface="Arial" panose="020B0604020202020204" pitchFamily="34" charset="0"/>
              </a:rPr>
              <a:t>SELECT</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ON</a:t>
            </a:r>
            <a:r>
              <a:rPr lang="en-US" altLang="zh-CN" b="0" dirty="0">
                <a:solidFill>
                  <a:schemeClr val="tx1"/>
                </a:solidFill>
                <a:latin typeface="Arial" panose="020B0604020202020204" pitchFamily="34" charset="0"/>
              </a:rPr>
              <a:t>  Student </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TO</a:t>
            </a:r>
            <a:r>
              <a:rPr lang="en-US" altLang="zh-CN" b="0" dirty="0">
                <a:solidFill>
                  <a:schemeClr val="tx1"/>
                </a:solidFill>
                <a:latin typeface="Arial" panose="020B0604020202020204" pitchFamily="34" charset="0"/>
              </a:rPr>
              <a:t> U4</a:t>
            </a:r>
            <a:endParaRPr lang="en-US" altLang="zh-CN" b="0" dirty="0">
              <a:solidFill>
                <a:schemeClr val="tx1"/>
              </a:solidFill>
              <a:latin typeface="Arial" panose="020B0604020202020204" pitchFamily="34" charset="0"/>
            </a:endParaRPr>
          </a:p>
          <a:p>
            <a:pPr algn="just" eaLnBrk="1" hangingPunct="1">
              <a:lnSpc>
                <a:spcPct val="120000"/>
              </a:lnSpc>
              <a:buNone/>
            </a:pPr>
            <a:endParaRPr lang="en-US" altLang="zh-CN" dirty="0">
              <a:solidFill>
                <a:schemeClr val="tx1"/>
              </a:solidFill>
            </a:endParaRPr>
          </a:p>
          <a:p>
            <a:pPr eaLnBrk="1" hangingPunct="1"/>
            <a:r>
              <a:rPr lang="zh-CN" altLang="en-US" dirty="0">
                <a:solidFill>
                  <a:schemeClr val="tx1"/>
                </a:solidFill>
              </a:rPr>
              <a:t>对属性列的授权时必须明确指出相应属性列名</a:t>
            </a:r>
            <a:endParaRPr lang="zh-CN" altLang="en-US" dirty="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04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60420"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5] </a:t>
            </a:r>
            <a:r>
              <a:rPr lang="zh-CN" altLang="en-US" dirty="0">
                <a:solidFill>
                  <a:schemeClr val="tx1"/>
                </a:solidFill>
              </a:rPr>
              <a:t>把对表</a:t>
            </a:r>
            <a:r>
              <a:rPr lang="en-US" altLang="zh-CN" dirty="0">
                <a:solidFill>
                  <a:schemeClr val="tx1"/>
                </a:solidFill>
              </a:rPr>
              <a:t>SC</a:t>
            </a:r>
            <a:r>
              <a:rPr lang="zh-CN" altLang="en-US" dirty="0">
                <a:solidFill>
                  <a:schemeClr val="tx1"/>
                </a:solidFill>
              </a:rPr>
              <a:t>的</a:t>
            </a:r>
            <a:r>
              <a:rPr lang="en-US" altLang="zh-CN" dirty="0">
                <a:solidFill>
                  <a:schemeClr val="tx1"/>
                </a:solidFill>
              </a:rPr>
              <a:t>INSERT</a:t>
            </a:r>
            <a:r>
              <a:rPr lang="zh-CN" altLang="en-US" dirty="0">
                <a:solidFill>
                  <a:schemeClr val="tx1"/>
                </a:solidFill>
              </a:rPr>
              <a:t>权限授予</a:t>
            </a:r>
            <a:r>
              <a:rPr lang="en-US" altLang="zh-CN" dirty="0">
                <a:solidFill>
                  <a:schemeClr val="tx1"/>
                </a:solidFill>
              </a:rPr>
              <a:t>U5</a:t>
            </a:r>
            <a:r>
              <a:rPr lang="zh-CN" altLang="en-US" dirty="0">
                <a:solidFill>
                  <a:schemeClr val="tx1"/>
                </a:solidFill>
              </a:rPr>
              <a:t>用户，并允许他再将此权限授予其他用户</a:t>
            </a:r>
            <a:endParaRPr lang="zh-CN" altLang="en-US" dirty="0">
              <a:solidFill>
                <a:schemeClr val="tx1"/>
              </a:solidFill>
            </a:endParaRPr>
          </a:p>
          <a:p>
            <a:pPr algn="just" eaLnBrk="1" hangingPunct="1">
              <a:buNone/>
            </a:pPr>
            <a:r>
              <a:rPr lang="zh-CN" altLang="en-US" dirty="0">
                <a:solidFill>
                  <a:schemeClr val="tx1"/>
                </a:solidFill>
              </a:rPr>
              <a:t>     </a:t>
            </a:r>
            <a:endParaRPr lang="zh-CN" altLang="en-US" dirty="0">
              <a:solidFill>
                <a:schemeClr val="tx1"/>
              </a:solidFill>
            </a:endParaRPr>
          </a:p>
          <a:p>
            <a:pPr algn="just" eaLnBrk="1" hangingPunct="1">
              <a:lnSpc>
                <a:spcPct val="120000"/>
              </a:lnSpc>
              <a:buNone/>
            </a:pPr>
            <a:r>
              <a:rPr lang="zh-CN" altLang="en-US" dirty="0">
                <a:solidFill>
                  <a:schemeClr val="tx1"/>
                </a:solidFill>
              </a:rPr>
              <a:t>    </a:t>
            </a:r>
            <a:r>
              <a:rPr lang="en-US" altLang="zh-CN" b="0" dirty="0">
                <a:solidFill>
                  <a:schemeClr val="accent2"/>
                </a:solidFill>
                <a:latin typeface="Arial" panose="020B0604020202020204" pitchFamily="34" charset="0"/>
              </a:rPr>
              <a:t>GRANT INSERT</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ON</a:t>
            </a:r>
            <a:r>
              <a:rPr lang="en-US" altLang="zh-CN" b="0" dirty="0">
                <a:solidFill>
                  <a:schemeClr val="tx1"/>
                </a:solidFill>
                <a:latin typeface="Arial" panose="020B0604020202020204" pitchFamily="34" charset="0"/>
              </a:rPr>
              <a:t> SC </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TO</a:t>
            </a:r>
            <a:r>
              <a:rPr lang="en-US" altLang="zh-CN" b="0" dirty="0">
                <a:solidFill>
                  <a:schemeClr val="tx1"/>
                </a:solidFill>
                <a:latin typeface="Arial" panose="020B0604020202020204" pitchFamily="34" charset="0"/>
              </a:rPr>
              <a:t> U5</a:t>
            </a:r>
            <a:endParaRPr lang="en-US" altLang="zh-CN" b="0" dirty="0">
              <a:solidFill>
                <a:schemeClr val="tx1"/>
              </a:solidFill>
              <a:latin typeface="Arial" panose="020B0604020202020204" pitchFamily="34" charset="0"/>
            </a:endParaRPr>
          </a:p>
          <a:p>
            <a:pPr algn="just" eaLnBrk="1" hangingPunct="1">
              <a:lnSpc>
                <a:spcPct val="12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WITH GRANT OPTION</a:t>
            </a:r>
            <a:endParaRPr lang="en-US" altLang="zh-CN" dirty="0">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61444"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6] </a:t>
            </a:r>
            <a:r>
              <a:rPr lang="zh-CN" altLang="en-US" dirty="0">
                <a:solidFill>
                  <a:schemeClr val="tx1"/>
                </a:solidFill>
              </a:rPr>
              <a:t>给用户 </a:t>
            </a:r>
            <a:r>
              <a:rPr lang="en-US" altLang="zh-CN" dirty="0">
                <a:solidFill>
                  <a:schemeClr val="tx1"/>
                </a:solidFill>
              </a:rPr>
              <a:t>Mary </a:t>
            </a:r>
            <a:r>
              <a:rPr lang="zh-CN" altLang="en-US" dirty="0">
                <a:solidFill>
                  <a:schemeClr val="tx1"/>
                </a:solidFill>
              </a:rPr>
              <a:t>和 </a:t>
            </a:r>
            <a:r>
              <a:rPr lang="en-US" altLang="zh-CN" dirty="0">
                <a:solidFill>
                  <a:schemeClr val="tx1"/>
                </a:solidFill>
              </a:rPr>
              <a:t>John </a:t>
            </a:r>
            <a:r>
              <a:rPr lang="zh-CN" altLang="en-US" dirty="0">
                <a:solidFill>
                  <a:schemeClr val="tx1"/>
                </a:solidFill>
              </a:rPr>
              <a:t>以及 </a:t>
            </a:r>
            <a:r>
              <a:rPr lang="en-US" altLang="zh-CN" dirty="0">
                <a:solidFill>
                  <a:schemeClr val="tx1"/>
                </a:solidFill>
              </a:rPr>
              <a:t>Windows NT </a:t>
            </a:r>
            <a:r>
              <a:rPr lang="zh-CN" altLang="en-US" dirty="0">
                <a:solidFill>
                  <a:schemeClr val="tx1"/>
                </a:solidFill>
              </a:rPr>
              <a:t>组 </a:t>
            </a:r>
            <a:r>
              <a:rPr lang="en-US" altLang="zh-CN" dirty="0">
                <a:solidFill>
                  <a:schemeClr val="tx1"/>
                </a:solidFill>
              </a:rPr>
              <a:t>Corporate\Tom </a:t>
            </a:r>
            <a:r>
              <a:rPr lang="zh-CN" altLang="en-US" dirty="0">
                <a:solidFill>
                  <a:schemeClr val="tx1"/>
                </a:solidFill>
              </a:rPr>
              <a:t>授予创建数据库和表的语句权限。</a:t>
            </a:r>
            <a:endParaRPr lang="zh-CN" altLang="en-US" dirty="0">
              <a:solidFill>
                <a:schemeClr val="tx1"/>
              </a:solidFill>
            </a:endParaRPr>
          </a:p>
          <a:p>
            <a:pPr algn="just" eaLnBrk="1" hangingPunct="1">
              <a:buNone/>
            </a:pPr>
            <a:r>
              <a:rPr lang="zh-CN" altLang="en-US" dirty="0">
                <a:solidFill>
                  <a:schemeClr val="tx1"/>
                </a:solidFill>
              </a:rPr>
              <a:t>    </a:t>
            </a:r>
            <a:endParaRPr lang="zh-CN" altLang="en-US" dirty="0">
              <a:solidFill>
                <a:schemeClr val="tx1"/>
              </a:solidFill>
            </a:endParaRPr>
          </a:p>
          <a:p>
            <a:pPr algn="just" eaLnBrk="1" hangingPunct="1">
              <a:buNone/>
            </a:pPr>
            <a:r>
              <a:rPr lang="en-US" altLang="zh-CN" sz="2800" b="0" dirty="0">
                <a:solidFill>
                  <a:schemeClr val="accent2"/>
                </a:solidFill>
                <a:latin typeface="Arial" panose="020B0604020202020204" pitchFamily="34" charset="0"/>
              </a:rPr>
              <a:t>GRANT CREATE DATABASE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CREATE TABLE</a:t>
            </a:r>
            <a:endParaRPr lang="en-US" altLang="zh-CN" sz="2800" b="0" dirty="0">
              <a:solidFill>
                <a:schemeClr val="accent2"/>
              </a:solidFill>
              <a:latin typeface="Arial" panose="020B0604020202020204" pitchFamily="34" charset="0"/>
            </a:endParaRPr>
          </a:p>
          <a:p>
            <a:pPr algn="just" eaLnBrk="1" hangingPunct="1">
              <a:buNone/>
            </a:pPr>
            <a:r>
              <a:rPr lang="en-US" altLang="zh-CN" sz="2800" b="0" dirty="0">
                <a:solidFill>
                  <a:schemeClr val="accent2"/>
                </a:solidFill>
                <a:latin typeface="Arial" panose="020B0604020202020204" pitchFamily="34" charset="0"/>
              </a:rPr>
              <a:t>TO</a:t>
            </a:r>
            <a:r>
              <a:rPr lang="en-US" altLang="zh-CN" sz="2800" b="0" dirty="0">
                <a:solidFill>
                  <a:schemeClr val="tx1"/>
                </a:solidFill>
                <a:latin typeface="Arial" panose="020B0604020202020204" pitchFamily="34" charset="0"/>
              </a:rPr>
              <a:t>  Mary, John, [Corporate\Tom]</a:t>
            </a:r>
            <a:endParaRPr lang="en-US" altLang="zh-CN" sz="2800" b="0" dirty="0">
              <a:solidFill>
                <a:schemeClr val="tx1"/>
              </a:solidFill>
              <a:latin typeface="Arial" panose="020B0604020202020204" pitchFamily="34" charset="0"/>
            </a:endParaRPr>
          </a:p>
          <a:p>
            <a:pPr algn="just" eaLnBrk="1" hangingPunct="1">
              <a:lnSpc>
                <a:spcPct val="120000"/>
              </a:lnSpc>
              <a:buNone/>
            </a:pPr>
            <a:endParaRPr lang="en-US" altLang="zh-CN" sz="2800" b="0" dirty="0">
              <a:solidFill>
                <a:schemeClr val="tx1"/>
              </a:solidFill>
              <a:latin typeface="Arial" panose="020B0604020202020204" pitchFamily="34" charset="0"/>
            </a:endParaRPr>
          </a:p>
          <a:p>
            <a:pPr algn="just" eaLnBrk="1" hangingPunct="1">
              <a:lnSpc>
                <a:spcPct val="120000"/>
              </a:lnSpc>
              <a:buNone/>
            </a:pPr>
            <a:endParaRPr lang="en-US" altLang="zh-CN" b="0" dirty="0">
              <a:solidFill>
                <a:schemeClr val="accent2"/>
              </a:solidFill>
              <a:latin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24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62468" name="Rectangle 3"/>
          <p:cNvSpPr>
            <a:spLocks noGrp="1"/>
          </p:cNvSpPr>
          <p:nvPr>
            <p:ph idx="1"/>
          </p:nvPr>
        </p:nvSpPr>
        <p:spPr>
          <a:xfrm>
            <a:off x="304800" y="838200"/>
            <a:ext cx="8458200" cy="5254625"/>
          </a:xfrm>
          <a:ln/>
        </p:spPr>
        <p:txBody>
          <a:bodyPr vert="horz" wrap="square" lIns="91440" tIns="45720" rIns="91440" bIns="45720" anchor="t" anchorCtr="0"/>
          <a:p>
            <a:pPr eaLnBrk="1" hangingPunct="1">
              <a:lnSpc>
                <a:spcPct val="120000"/>
              </a:lnSpc>
              <a:spcBef>
                <a:spcPct val="15000"/>
              </a:spcBef>
            </a:pPr>
            <a:r>
              <a:rPr lang="en-US" altLang="zh-CN" b="0" dirty="0">
                <a:latin typeface="Arial" panose="020B0604020202020204" pitchFamily="34" charset="0"/>
              </a:rPr>
              <a:t>REVOKE(</a:t>
            </a:r>
            <a:r>
              <a:rPr lang="zh-CN" altLang="en-US" b="0" dirty="0">
                <a:latin typeface="Arial" panose="020B0604020202020204" pitchFamily="34" charset="0"/>
              </a:rPr>
              <a:t>收回授权</a:t>
            </a:r>
            <a:r>
              <a:rPr lang="en-US" altLang="zh-CN" b="0" dirty="0">
                <a:latin typeface="Arial" panose="020B0604020202020204" pitchFamily="34" charset="0"/>
              </a:rPr>
              <a:t>)</a:t>
            </a:r>
            <a:r>
              <a:rPr lang="zh-CN" altLang="en-US" b="0" dirty="0">
                <a:latin typeface="Arial" panose="020B0604020202020204" pitchFamily="34" charset="0"/>
              </a:rPr>
              <a:t>语句的简明语法</a:t>
            </a:r>
            <a:endParaRPr lang="zh-CN" altLang="en-US" b="0" dirty="0">
              <a:latin typeface="Arial" panose="020B0604020202020204" pitchFamily="34" charset="0"/>
            </a:endParaRPr>
          </a:p>
          <a:p>
            <a:pPr lvl="1" eaLnBrk="1" hangingPunct="1">
              <a:lnSpc>
                <a:spcPct val="120000"/>
              </a:lnSpc>
              <a:spcBef>
                <a:spcPct val="15000"/>
              </a:spcBef>
              <a:buNone/>
            </a:pPr>
            <a:r>
              <a:rPr lang="en-US" altLang="zh-CN" b="0" dirty="0">
                <a:solidFill>
                  <a:schemeClr val="accent2"/>
                </a:solidFill>
                <a:latin typeface="Arial" panose="020B0604020202020204" pitchFamily="34" charset="0"/>
              </a:rPr>
              <a:t>REVOKE</a:t>
            </a:r>
            <a:r>
              <a:rPr lang="en-US" altLang="en-US" b="0" dirty="0">
                <a:solidFill>
                  <a:schemeClr val="accent2"/>
                </a:solidFill>
                <a:latin typeface="Arial" panose="020B0604020202020204" pitchFamily="34" charset="0"/>
              </a:rPr>
              <a:t> </a:t>
            </a:r>
            <a:r>
              <a:rPr lang="en-US" altLang="en-US" b="0" dirty="0">
                <a:latin typeface="Arial" panose="020B0604020202020204" pitchFamily="34" charset="0"/>
              </a:rPr>
              <a:t>&lt;权限&gt;[,&lt;权限&gt;]...</a:t>
            </a:r>
            <a:r>
              <a:rPr lang="en-US" altLang="en-US" b="0" dirty="0">
                <a:solidFill>
                  <a:schemeClr val="accent2"/>
                </a:solidFill>
                <a:latin typeface="Arial" panose="020B0604020202020204" pitchFamily="34" charset="0"/>
              </a:rPr>
              <a:t> </a:t>
            </a:r>
            <a:endParaRPr lang="en-US" altLang="en-US" b="0" dirty="0">
              <a:solidFill>
                <a:schemeClr val="accent2"/>
              </a:solidFill>
              <a:latin typeface="Arial" panose="020B0604020202020204" pitchFamily="34" charset="0"/>
            </a:endParaRPr>
          </a:p>
          <a:p>
            <a:pPr lvl="1" eaLnBrk="1" hangingPunct="1">
              <a:lnSpc>
                <a:spcPct val="120000"/>
              </a:lnSpc>
              <a:spcBef>
                <a:spcPct val="15000"/>
              </a:spcBef>
              <a:buNone/>
            </a:pPr>
            <a:r>
              <a:rPr lang="en-US" altLang="en-US" b="0" dirty="0">
                <a:solidFill>
                  <a:schemeClr val="accent2"/>
                </a:solidFill>
                <a:latin typeface="Arial" panose="020B0604020202020204" pitchFamily="34" charset="0"/>
              </a:rPr>
              <a:t>ON </a:t>
            </a:r>
            <a:r>
              <a:rPr lang="en-US" altLang="en-US" b="0" dirty="0">
                <a:latin typeface="Arial" panose="020B0604020202020204" pitchFamily="34" charset="0"/>
              </a:rPr>
              <a:t>&lt;对象类型&gt; &lt;对象名&gt;</a:t>
            </a:r>
            <a:endParaRPr lang="en-US" altLang="en-US" b="0" dirty="0">
              <a:latin typeface="Arial" panose="020B0604020202020204" pitchFamily="34" charset="0"/>
            </a:endParaRPr>
          </a:p>
          <a:p>
            <a:pPr lvl="1" eaLnBrk="1" hangingPunct="1">
              <a:lnSpc>
                <a:spcPct val="120000"/>
              </a:lnSpc>
              <a:spcBef>
                <a:spcPct val="15000"/>
              </a:spcBef>
              <a:buNone/>
            </a:pPr>
            <a:r>
              <a:rPr lang="en-US" altLang="zh-CN" b="0" dirty="0">
                <a:solidFill>
                  <a:schemeClr val="accent2"/>
                </a:solidFill>
                <a:latin typeface="Arial" panose="020B0604020202020204" pitchFamily="34" charset="0"/>
              </a:rPr>
              <a:t>FROM</a:t>
            </a:r>
            <a:r>
              <a:rPr lang="en-US" altLang="en-US" b="0" dirty="0">
                <a:solidFill>
                  <a:schemeClr val="accent2"/>
                </a:solidFill>
                <a:latin typeface="Arial" panose="020B0604020202020204" pitchFamily="34" charset="0"/>
              </a:rPr>
              <a:t> </a:t>
            </a:r>
            <a:r>
              <a:rPr lang="en-US" altLang="en-US" b="0" dirty="0">
                <a:latin typeface="Arial" panose="020B0604020202020204" pitchFamily="34" charset="0"/>
              </a:rPr>
              <a:t>&lt;用户&gt;[,&lt;用户&gt;]...</a:t>
            </a:r>
            <a:endParaRPr lang="en-US" altLang="en-US" b="0" dirty="0">
              <a:latin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34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63492"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sz="2800" b="0" dirty="0">
                <a:latin typeface="Arial" panose="020B0604020202020204" pitchFamily="34" charset="0"/>
              </a:rPr>
              <a:t>SQL Server GRANT</a:t>
            </a:r>
            <a:r>
              <a:rPr lang="zh-CN" altLang="en-US" sz="2800" b="0" dirty="0">
                <a:latin typeface="Arial" panose="020B0604020202020204" pitchFamily="34" charset="0"/>
              </a:rPr>
              <a:t>语句的语法</a:t>
            </a:r>
            <a:endParaRPr lang="zh-CN" altLang="en-US" sz="2800" b="0" dirty="0">
              <a:latin typeface="Arial" panose="020B0604020202020204" pitchFamily="34" charset="0"/>
            </a:endParaRPr>
          </a:p>
          <a:p>
            <a:pPr lvl="1" eaLnBrk="1" hangingPunct="1">
              <a:lnSpc>
                <a:spcPct val="120000"/>
              </a:lnSpc>
              <a:spcBef>
                <a:spcPct val="15000"/>
              </a:spcBef>
              <a:buNone/>
            </a:pPr>
            <a:r>
              <a:rPr lang="en-US" altLang="zh-CN" sz="2400" b="0" dirty="0">
                <a:solidFill>
                  <a:schemeClr val="accent2"/>
                </a:solidFill>
                <a:latin typeface="Arial" panose="020B0604020202020204" pitchFamily="34" charset="0"/>
              </a:rPr>
              <a:t>REVOKE</a:t>
            </a:r>
            <a:endParaRPr lang="en-US" altLang="zh-CN" sz="2400" b="0" dirty="0">
              <a:solidFill>
                <a:schemeClr val="accent2"/>
              </a:solidFill>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ALL</a:t>
            </a:r>
            <a:r>
              <a:rPr lang="en-US" altLang="zh-CN" sz="2400" b="0" dirty="0">
                <a:latin typeface="Arial" panose="020B0604020202020204" pitchFamily="34" charset="0"/>
              </a:rPr>
              <a:t> [</a:t>
            </a:r>
            <a:r>
              <a:rPr lang="en-US" altLang="zh-CN" sz="2400" b="0" dirty="0">
                <a:solidFill>
                  <a:schemeClr val="accent2"/>
                </a:solidFill>
                <a:latin typeface="Arial" panose="020B0604020202020204" pitchFamily="34" charset="0"/>
              </a:rPr>
              <a:t> PRIVILEGES</a:t>
            </a:r>
            <a:r>
              <a:rPr lang="en-US" altLang="zh-CN" sz="2400" b="0" dirty="0">
                <a:latin typeface="Arial" panose="020B0604020202020204" pitchFamily="34" charset="0"/>
              </a:rPr>
              <a:t> ] | </a:t>
            </a:r>
            <a:r>
              <a:rPr lang="zh-CN" altLang="en-US" sz="2400" b="0" dirty="0">
                <a:latin typeface="Arial" panose="020B0604020202020204" pitchFamily="34" charset="0"/>
              </a:rPr>
              <a:t>权限</a:t>
            </a:r>
            <a:r>
              <a:rPr lang="en-US" altLang="zh-CN" sz="2400" b="0" dirty="0">
                <a:latin typeface="Arial" panose="020B0604020202020204" pitchFamily="34" charset="0"/>
              </a:rPr>
              <a:t>[ ,...n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 </a:t>
            </a:r>
            <a:r>
              <a:rPr lang="zh-CN" altLang="en-US" sz="2400" b="0" dirty="0">
                <a:latin typeface="Arial" panose="020B0604020202020204" pitchFamily="34" charset="0"/>
              </a:rPr>
              <a:t>列名 </a:t>
            </a:r>
            <a:r>
              <a:rPr lang="en-US" altLang="zh-CN" sz="2400" b="0" dirty="0">
                <a:latin typeface="Arial" panose="020B0604020202020204" pitchFamily="34" charset="0"/>
              </a:rPr>
              <a:t>[ ,...n ] ) ] </a:t>
            </a:r>
            <a:r>
              <a:rPr lang="en-US" altLang="zh-CN" sz="2400" b="0" dirty="0">
                <a:solidFill>
                  <a:schemeClr val="accent2"/>
                </a:solidFill>
                <a:latin typeface="Arial" panose="020B0604020202020204" pitchFamily="34" charset="0"/>
              </a:rPr>
              <a:t>ON</a:t>
            </a:r>
            <a:r>
              <a:rPr lang="en-US" altLang="zh-CN" sz="2400" b="0" dirty="0">
                <a:latin typeface="Arial" panose="020B0604020202020204" pitchFamily="34" charset="0"/>
              </a:rPr>
              <a:t> { </a:t>
            </a:r>
            <a:r>
              <a:rPr lang="zh-CN" altLang="en-US" sz="2400" b="0" dirty="0">
                <a:latin typeface="Arial" panose="020B0604020202020204" pitchFamily="34" charset="0"/>
              </a:rPr>
              <a:t>表名</a:t>
            </a:r>
            <a:r>
              <a:rPr lang="en-US" altLang="zh-CN" sz="2400" b="0" dirty="0">
                <a:latin typeface="Arial" panose="020B0604020202020204" pitchFamily="34" charset="0"/>
              </a:rPr>
              <a:t>| </a:t>
            </a:r>
            <a:r>
              <a:rPr lang="zh-CN" altLang="en-US" sz="2400" b="0" dirty="0">
                <a:latin typeface="Arial" panose="020B0604020202020204" pitchFamily="34" charset="0"/>
              </a:rPr>
              <a:t>视图名 </a:t>
            </a:r>
            <a:r>
              <a:rPr lang="en-US" altLang="zh-CN" sz="2400" b="0" dirty="0">
                <a:latin typeface="Arial" panose="020B0604020202020204" pitchFamily="34" charset="0"/>
              </a:rPr>
              <a:t>}</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ON </a:t>
            </a:r>
            <a:r>
              <a:rPr lang="en-US" altLang="zh-CN" sz="2400" b="0" dirty="0">
                <a:latin typeface="Arial" panose="020B0604020202020204" pitchFamily="34" charset="0"/>
              </a:rPr>
              <a:t>{ </a:t>
            </a:r>
            <a:r>
              <a:rPr lang="zh-CN" altLang="en-US" sz="2400" b="0" dirty="0">
                <a:latin typeface="Arial" panose="020B0604020202020204" pitchFamily="34" charset="0"/>
              </a:rPr>
              <a:t>表名 </a:t>
            </a:r>
            <a:r>
              <a:rPr lang="en-US" altLang="zh-CN" sz="2400" b="0" dirty="0">
                <a:latin typeface="Arial" panose="020B0604020202020204" pitchFamily="34" charset="0"/>
              </a:rPr>
              <a:t>| </a:t>
            </a:r>
            <a:r>
              <a:rPr lang="zh-CN" altLang="en-US" sz="2400" b="0" dirty="0">
                <a:latin typeface="Arial" panose="020B0604020202020204" pitchFamily="34" charset="0"/>
              </a:rPr>
              <a:t>视图名 </a:t>
            </a:r>
            <a:r>
              <a:rPr lang="en-US" altLang="zh-CN" sz="2400" b="0" dirty="0">
                <a:latin typeface="Arial" panose="020B0604020202020204" pitchFamily="34" charset="0"/>
              </a:rPr>
              <a:t>} [ ( </a:t>
            </a:r>
            <a:r>
              <a:rPr lang="zh-CN" altLang="en-US" sz="2400" b="0" dirty="0">
                <a:latin typeface="Arial" panose="020B0604020202020204" pitchFamily="34" charset="0"/>
              </a:rPr>
              <a:t>列名 </a:t>
            </a:r>
            <a:r>
              <a:rPr lang="en-US" altLang="zh-CN" sz="2400" b="0" dirty="0">
                <a:latin typeface="Arial" panose="020B0604020202020204" pitchFamily="34" charset="0"/>
              </a:rPr>
              <a:t>[ ,...n ]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ON</a:t>
            </a:r>
            <a:r>
              <a:rPr lang="en-US" altLang="zh-CN" sz="2400" b="0" dirty="0">
                <a:latin typeface="Arial" panose="020B0604020202020204" pitchFamily="34" charset="0"/>
              </a:rPr>
              <a:t> { </a:t>
            </a:r>
            <a:r>
              <a:rPr lang="zh-CN" altLang="en-US" sz="2400" b="0" dirty="0">
                <a:latin typeface="Arial" panose="020B0604020202020204" pitchFamily="34" charset="0"/>
              </a:rPr>
              <a:t>存储过程</a:t>
            </a:r>
            <a:r>
              <a:rPr lang="en-US" altLang="zh-CN" sz="2400" b="0" dirty="0">
                <a:latin typeface="Arial" panose="020B0604020202020204" pitchFamily="34" charset="0"/>
              </a:rPr>
              <a:t>}</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ON </a:t>
            </a:r>
            <a:r>
              <a:rPr lang="en-US" altLang="zh-CN" sz="2400" b="0" dirty="0">
                <a:latin typeface="Arial" panose="020B0604020202020204" pitchFamily="34" charset="0"/>
              </a:rPr>
              <a:t>{ </a:t>
            </a:r>
            <a:r>
              <a:rPr lang="zh-CN" altLang="en-US" sz="2400" b="0" dirty="0">
                <a:latin typeface="Arial" panose="020B0604020202020204" pitchFamily="34" charset="0"/>
              </a:rPr>
              <a:t>用户自定义函数</a:t>
            </a:r>
            <a:r>
              <a:rPr lang="en-US" altLang="zh-CN" sz="2400" b="0" dirty="0">
                <a:latin typeface="Arial" panose="020B0604020202020204" pitchFamily="34" charset="0"/>
              </a:rPr>
              <a:t>}</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    } </a:t>
            </a:r>
            <a:endParaRPr lang="en-US" altLang="zh-CN" sz="2400" b="0" dirty="0">
              <a:latin typeface="Arial" panose="020B0604020202020204" pitchFamily="34" charset="0"/>
            </a:endParaRPr>
          </a:p>
          <a:p>
            <a:pPr lvl="1" eaLnBrk="1" hangingPunct="1">
              <a:lnSpc>
                <a:spcPct val="120000"/>
              </a:lnSpc>
              <a:spcBef>
                <a:spcPct val="15000"/>
              </a:spcBef>
              <a:buNone/>
            </a:pPr>
            <a:r>
              <a:rPr lang="en-US" altLang="zh-CN" sz="2400" b="0" dirty="0">
                <a:latin typeface="Arial" panose="020B0604020202020204" pitchFamily="34" charset="0"/>
              </a:rPr>
              <a:t>{</a:t>
            </a:r>
            <a:r>
              <a:rPr lang="en-US" altLang="zh-CN" sz="2400" b="0" dirty="0">
                <a:solidFill>
                  <a:schemeClr val="accent2"/>
                </a:solidFill>
                <a:latin typeface="Arial" panose="020B0604020202020204" pitchFamily="34" charset="0"/>
              </a:rPr>
              <a:t> TO</a:t>
            </a:r>
            <a:r>
              <a:rPr lang="en-US" altLang="zh-CN" sz="2400" b="0" dirty="0">
                <a:latin typeface="Arial" panose="020B0604020202020204" pitchFamily="34" charset="0"/>
              </a:rPr>
              <a:t> | </a:t>
            </a:r>
            <a:r>
              <a:rPr lang="en-US" altLang="zh-CN" sz="2400" b="0" dirty="0">
                <a:solidFill>
                  <a:schemeClr val="accent2"/>
                </a:solidFill>
                <a:latin typeface="Arial" panose="020B0604020202020204" pitchFamily="34" charset="0"/>
              </a:rPr>
              <a:t>FROM</a:t>
            </a:r>
            <a:r>
              <a:rPr lang="en-US" altLang="zh-CN" sz="2400" b="0" dirty="0">
                <a:latin typeface="Arial" panose="020B0604020202020204" pitchFamily="34" charset="0"/>
              </a:rPr>
              <a:t> }  </a:t>
            </a:r>
            <a:r>
              <a:rPr lang="zh-CN" altLang="en-US" sz="2400" b="0" dirty="0">
                <a:latin typeface="Arial" panose="020B0604020202020204" pitchFamily="34" charset="0"/>
              </a:rPr>
              <a:t>安全账户 </a:t>
            </a:r>
            <a:r>
              <a:rPr lang="en-US" altLang="zh-CN" sz="2400" b="0" dirty="0">
                <a:latin typeface="Arial" panose="020B0604020202020204" pitchFamily="34" charset="0"/>
              </a:rPr>
              <a:t>[ ,...n ] </a:t>
            </a:r>
            <a:endParaRPr lang="en-US" altLang="zh-CN" sz="2400" b="0" dirty="0">
              <a:latin typeface="Arial" panose="020B0604020202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45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64516"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7] </a:t>
            </a:r>
            <a:r>
              <a:rPr lang="zh-CN" altLang="en-US" dirty="0">
                <a:solidFill>
                  <a:schemeClr val="tx1"/>
                </a:solidFill>
              </a:rPr>
              <a:t>把用户</a:t>
            </a:r>
            <a:r>
              <a:rPr lang="en-US" altLang="zh-CN" dirty="0">
                <a:solidFill>
                  <a:schemeClr val="tx1"/>
                </a:solidFill>
              </a:rPr>
              <a:t>U4</a:t>
            </a:r>
            <a:r>
              <a:rPr lang="zh-CN" altLang="en-US" dirty="0">
                <a:solidFill>
                  <a:schemeClr val="tx1"/>
                </a:solidFill>
              </a:rPr>
              <a:t>修改学生学号的权限收回。</a:t>
            </a:r>
            <a:endParaRPr lang="zh-CN" altLang="en-US" dirty="0">
              <a:solidFill>
                <a:schemeClr val="tx1"/>
              </a:solidFill>
            </a:endParaRPr>
          </a:p>
          <a:p>
            <a:pPr algn="just" eaLnBrk="1" hangingPunct="1">
              <a:buNone/>
            </a:pPr>
            <a:r>
              <a:rPr lang="zh-CN" altLang="en-US" dirty="0">
                <a:solidFill>
                  <a:schemeClr val="tx1"/>
                </a:solidFill>
              </a:rPr>
              <a:t>    </a:t>
            </a:r>
            <a:endParaRPr lang="zh-CN" altLang="en-US" dirty="0">
              <a:solidFill>
                <a:schemeClr val="tx1"/>
              </a:solidFill>
            </a:endParaRPr>
          </a:p>
          <a:p>
            <a:pPr algn="just" eaLnBrk="1" hangingPunct="1">
              <a:buNone/>
            </a:pPr>
            <a:r>
              <a:rPr lang="zh-CN" altLang="en-US" sz="2800" b="0" dirty="0">
                <a:solidFill>
                  <a:schemeClr val="accent2"/>
                </a:solidFill>
                <a:latin typeface="Arial" panose="020B0604020202020204" pitchFamily="34" charset="0"/>
              </a:rPr>
              <a:t>         </a:t>
            </a:r>
            <a:r>
              <a:rPr lang="en-US" altLang="zh-CN" sz="2800" b="0" dirty="0">
                <a:solidFill>
                  <a:schemeClr val="accent2"/>
                </a:solidFill>
                <a:latin typeface="Arial" panose="020B0604020202020204" pitchFamily="34" charset="0"/>
              </a:rPr>
              <a:t>REVOKE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UPDATE</a:t>
            </a:r>
            <a:r>
              <a:rPr lang="en-US" altLang="zh-CN" sz="2800" b="0" dirty="0">
                <a:solidFill>
                  <a:schemeClr val="tx1"/>
                </a:solidFill>
                <a:latin typeface="Arial" panose="020B0604020202020204" pitchFamily="34" charset="0"/>
              </a:rPr>
              <a:t>(Sno)</a:t>
            </a:r>
            <a:endParaRPr lang="en-US" altLang="zh-CN" sz="2800" b="0" dirty="0">
              <a:solidFill>
                <a:schemeClr val="tx1"/>
              </a:solidFill>
              <a:latin typeface="Arial" panose="020B0604020202020204" pitchFamily="34" charset="0"/>
            </a:endParaRPr>
          </a:p>
          <a:p>
            <a:pPr algn="just"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ON</a:t>
            </a:r>
            <a:r>
              <a:rPr lang="en-US" altLang="zh-CN" sz="2800" b="0" dirty="0">
                <a:solidFill>
                  <a:schemeClr val="tx1"/>
                </a:solidFill>
                <a:latin typeface="Arial" panose="020B0604020202020204" pitchFamily="34" charset="0"/>
              </a:rPr>
              <a:t>   Student </a:t>
            </a:r>
            <a:endParaRPr lang="en-US" altLang="zh-CN" sz="2800" b="0" dirty="0">
              <a:solidFill>
                <a:schemeClr val="tx1"/>
              </a:solidFill>
              <a:latin typeface="Arial" panose="020B0604020202020204" pitchFamily="34" charset="0"/>
            </a:endParaRPr>
          </a:p>
          <a:p>
            <a:pPr algn="just"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FROM</a:t>
            </a:r>
            <a:r>
              <a:rPr lang="en-US" altLang="zh-CN" sz="2800" b="0" dirty="0">
                <a:solidFill>
                  <a:schemeClr val="tx1"/>
                </a:solidFill>
                <a:latin typeface="Arial" panose="020B0604020202020204" pitchFamily="34" charset="0"/>
              </a:rPr>
              <a:t>   U4</a:t>
            </a:r>
            <a:endParaRPr lang="en-US" altLang="zh-CN" sz="2800" b="0" dirty="0">
              <a:solidFill>
                <a:schemeClr val="tx1"/>
              </a:solidFill>
              <a:latin typeface="Arial" panose="020B0604020202020204" pitchFamily="34" charset="0"/>
            </a:endParaRPr>
          </a:p>
          <a:p>
            <a:pPr algn="just" eaLnBrk="1" hangingPunct="1">
              <a:lnSpc>
                <a:spcPct val="120000"/>
              </a:lnSpc>
              <a:buNone/>
            </a:pPr>
            <a:endParaRPr lang="en-US" altLang="zh-CN" sz="2800" b="0" dirty="0">
              <a:solidFill>
                <a:schemeClr val="tx1"/>
              </a:solidFill>
              <a:latin typeface="Arial" panose="020B0604020202020204" pitchFamily="34" charset="0"/>
            </a:endParaRPr>
          </a:p>
          <a:p>
            <a:pPr algn="just" eaLnBrk="1" hangingPunct="1">
              <a:lnSpc>
                <a:spcPct val="120000"/>
              </a:lnSpc>
              <a:buNone/>
            </a:pPr>
            <a:endParaRPr lang="en-US" altLang="zh-CN" b="0" dirty="0">
              <a:solidFill>
                <a:schemeClr val="tx1"/>
              </a:solidFill>
              <a:latin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55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65540" name="Rectangle 3"/>
          <p:cNvSpPr>
            <a:spLocks noGrp="1"/>
          </p:cNvSpPr>
          <p:nvPr>
            <p:ph idx="1"/>
          </p:nvPr>
        </p:nvSpPr>
        <p:spPr>
          <a:xfrm>
            <a:off x="304800" y="838200"/>
            <a:ext cx="8458200" cy="4535488"/>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8] </a:t>
            </a:r>
            <a:r>
              <a:rPr lang="zh-CN" altLang="en-US" dirty="0">
                <a:solidFill>
                  <a:schemeClr val="tx1"/>
                </a:solidFill>
              </a:rPr>
              <a:t>收回所有用户对表</a:t>
            </a:r>
            <a:r>
              <a:rPr lang="en-US" altLang="zh-CN" dirty="0">
                <a:solidFill>
                  <a:schemeClr val="tx1"/>
                </a:solidFill>
              </a:rPr>
              <a:t>SC</a:t>
            </a:r>
            <a:r>
              <a:rPr lang="zh-CN" altLang="en-US" dirty="0">
                <a:solidFill>
                  <a:schemeClr val="tx1"/>
                </a:solidFill>
              </a:rPr>
              <a:t>的查询权限</a:t>
            </a:r>
            <a:endParaRPr lang="zh-CN" altLang="en-US" dirty="0">
              <a:solidFill>
                <a:schemeClr val="tx1"/>
              </a:solidFill>
            </a:endParaRPr>
          </a:p>
          <a:p>
            <a:pPr algn="just" eaLnBrk="1" hangingPunct="1">
              <a:lnSpc>
                <a:spcPct val="140000"/>
              </a:lnSpc>
              <a:buNone/>
            </a:pPr>
            <a:endParaRPr lang="zh-CN" altLang="en-US" dirty="0">
              <a:solidFill>
                <a:schemeClr val="tx1"/>
              </a:solidFill>
            </a:endParaRPr>
          </a:p>
          <a:p>
            <a:pPr algn="just" eaLnBrk="1" hangingPunct="1">
              <a:lnSpc>
                <a:spcPct val="140000"/>
              </a:lnSpc>
              <a:buNone/>
            </a:pPr>
            <a:r>
              <a:rPr lang="zh-CN" altLang="en-US" dirty="0">
                <a:solidFill>
                  <a:schemeClr val="tx1"/>
                </a:solidFill>
              </a:rPr>
              <a:t>		</a:t>
            </a:r>
            <a:r>
              <a:rPr lang="en-US" altLang="zh-CN" b="0" dirty="0">
                <a:solidFill>
                  <a:schemeClr val="accent2"/>
                </a:solidFill>
                <a:latin typeface="Arial" panose="020B0604020202020204" pitchFamily="34" charset="0"/>
              </a:rPr>
              <a:t>REVOKE   SELECT</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lnSpc>
                <a:spcPct val="14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ON</a:t>
            </a:r>
            <a:r>
              <a:rPr lang="en-US" altLang="zh-CN" b="0" dirty="0">
                <a:solidFill>
                  <a:schemeClr val="tx1"/>
                </a:solidFill>
                <a:latin typeface="Arial" panose="020B0604020202020204" pitchFamily="34" charset="0"/>
              </a:rPr>
              <a:t>   SC </a:t>
            </a:r>
            <a:endParaRPr lang="en-US" altLang="zh-CN" b="0" dirty="0">
              <a:solidFill>
                <a:schemeClr val="tx1"/>
              </a:solidFill>
              <a:latin typeface="Arial" panose="020B0604020202020204" pitchFamily="34" charset="0"/>
            </a:endParaRPr>
          </a:p>
          <a:p>
            <a:pPr algn="just" eaLnBrk="1" hangingPunct="1">
              <a:lnSpc>
                <a:spcPct val="140000"/>
              </a:lnSpc>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FROM</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PUBLIC</a:t>
            </a:r>
            <a:endParaRPr lang="en-US" altLang="zh-CN" b="0" dirty="0">
              <a:solidFill>
                <a:schemeClr val="tx1"/>
              </a:solidFill>
              <a:latin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65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66564" name="Rectangle 3"/>
          <p:cNvSpPr>
            <a:spLocks noGrp="1"/>
          </p:cNvSpPr>
          <p:nvPr>
            <p:ph idx="1"/>
          </p:nvPr>
        </p:nvSpPr>
        <p:spPr>
          <a:xfrm>
            <a:off x="684213" y="1196975"/>
            <a:ext cx="7162800" cy="4530725"/>
          </a:xfrm>
          <a:ln/>
        </p:spPr>
        <p:txBody>
          <a:bodyPr vert="horz" wrap="square" lIns="91440" tIns="45720" rIns="91440" bIns="45720" anchor="t" anchorCtr="0"/>
          <a:p>
            <a:pPr eaLnBrk="1" hangingPunct="1">
              <a:buNone/>
            </a:pPr>
            <a:r>
              <a:rPr lang="en-US" altLang="zh-CN" sz="3600" dirty="0">
                <a:solidFill>
                  <a:schemeClr val="tx1"/>
                </a:solidFill>
              </a:rPr>
              <a:t>4.2.1  </a:t>
            </a:r>
            <a:r>
              <a:rPr lang="zh-CN" altLang="en-US" sz="3600" dirty="0">
                <a:solidFill>
                  <a:schemeClr val="tx1"/>
                </a:solidFill>
              </a:rPr>
              <a:t>用户标识与鉴别</a:t>
            </a:r>
            <a:endParaRPr lang="zh-CN" altLang="en-US" sz="3600" dirty="0">
              <a:solidFill>
                <a:schemeClr val="tx1"/>
              </a:solidFill>
            </a:endParaRPr>
          </a:p>
          <a:p>
            <a:pPr eaLnBrk="1" hangingPunct="1">
              <a:buNone/>
            </a:pPr>
            <a:r>
              <a:rPr lang="en-US" altLang="zh-CN" sz="3600" dirty="0">
                <a:solidFill>
                  <a:schemeClr val="tx1"/>
                </a:solidFill>
              </a:rPr>
              <a:t>4.2.2  </a:t>
            </a:r>
            <a:r>
              <a:rPr lang="zh-CN" altLang="en-US" sz="3600" dirty="0">
                <a:solidFill>
                  <a:schemeClr val="tx1"/>
                </a:solidFill>
              </a:rPr>
              <a:t>存取控制</a:t>
            </a:r>
            <a:endParaRPr lang="zh-CN" altLang="en-US" sz="3600" dirty="0">
              <a:solidFill>
                <a:schemeClr val="tx1"/>
              </a:solidFill>
            </a:endParaRPr>
          </a:p>
          <a:p>
            <a:pPr eaLnBrk="1" hangingPunct="1">
              <a:buNone/>
            </a:pPr>
            <a:r>
              <a:rPr lang="en-US" altLang="zh-CN" sz="3600" dirty="0">
                <a:solidFill>
                  <a:schemeClr val="tx1"/>
                </a:solidFill>
              </a:rPr>
              <a:t>4.2.3  </a:t>
            </a:r>
            <a:r>
              <a:rPr lang="zh-CN" altLang="en-US" sz="3600" dirty="0">
                <a:solidFill>
                  <a:schemeClr val="tx1"/>
                </a:solidFill>
              </a:rPr>
              <a:t>自主存取控制方法</a:t>
            </a:r>
            <a:endParaRPr lang="zh-CN" altLang="en-US" sz="3600" dirty="0">
              <a:solidFill>
                <a:schemeClr val="tx1"/>
              </a:solidFill>
            </a:endParaRPr>
          </a:p>
          <a:p>
            <a:pPr eaLnBrk="1" hangingPunct="1">
              <a:buNone/>
            </a:pPr>
            <a:r>
              <a:rPr lang="en-US" altLang="zh-CN" sz="3600" dirty="0">
                <a:solidFill>
                  <a:schemeClr val="tx1"/>
                </a:solidFill>
              </a:rPr>
              <a:t>4.2.4  </a:t>
            </a:r>
            <a:r>
              <a:rPr lang="zh-CN" altLang="en-US" sz="3600" dirty="0">
                <a:solidFill>
                  <a:schemeClr val="tx1"/>
                </a:solidFill>
              </a:rPr>
              <a:t>授权与回收</a:t>
            </a:r>
            <a:endParaRPr lang="zh-CN" altLang="en-US" sz="3600" dirty="0">
              <a:solidFill>
                <a:schemeClr val="tx1"/>
              </a:solidFill>
            </a:endParaRPr>
          </a:p>
          <a:p>
            <a:pPr eaLnBrk="1" hangingPunct="1">
              <a:buNone/>
            </a:pPr>
            <a:r>
              <a:rPr lang="en-US" altLang="zh-CN" sz="3600" dirty="0">
                <a:solidFill>
                  <a:srgbClr val="FF0000"/>
                </a:solidFill>
              </a:rPr>
              <a:t>4.2.5  </a:t>
            </a:r>
            <a:r>
              <a:rPr lang="zh-CN" altLang="en-US" sz="3600" dirty="0">
                <a:solidFill>
                  <a:srgbClr val="FF0000"/>
                </a:solidFill>
              </a:rPr>
              <a:t>数据库角色</a:t>
            </a:r>
            <a:endParaRPr lang="zh-CN" altLang="en-US" sz="3600" dirty="0">
              <a:solidFill>
                <a:srgbClr val="FF0000"/>
              </a:solidFill>
            </a:endParaRPr>
          </a:p>
          <a:p>
            <a:pPr eaLnBrk="1" hangingPunct="1">
              <a:buNone/>
            </a:pPr>
            <a:r>
              <a:rPr lang="en-US" altLang="zh-CN" sz="3600" dirty="0">
                <a:solidFill>
                  <a:schemeClr val="tx1"/>
                </a:solidFill>
              </a:rPr>
              <a:t>4.2.6  </a:t>
            </a:r>
            <a:r>
              <a:rPr lang="zh-CN" altLang="en-US" sz="3600" dirty="0">
                <a:solidFill>
                  <a:schemeClr val="tx1"/>
                </a:solidFill>
              </a:rPr>
              <a:t>强制存取控制方法</a:t>
            </a:r>
            <a:endParaRPr lang="zh-CN" altLang="en-US" sz="3600" dirty="0">
              <a:solidFill>
                <a:schemeClr val="tx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75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67588"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zh-CN" altLang="en-US" dirty="0">
                <a:solidFill>
                  <a:schemeClr val="tx1"/>
                </a:solidFill>
              </a:rPr>
              <a:t>为便于对用户及权限的管理，将一组具有相同权限的用户组织在一起，这一组具有相同权限的用户就称为角色</a:t>
            </a:r>
            <a:endParaRPr lang="zh-CN" altLang="en-US" dirty="0">
              <a:solidFill>
                <a:schemeClr val="tx1"/>
              </a:solidFill>
            </a:endParaRPr>
          </a:p>
          <a:p>
            <a:pPr lvl="1" eaLnBrk="1" hangingPunct="1">
              <a:lnSpc>
                <a:spcPct val="120000"/>
              </a:lnSpc>
              <a:spcBef>
                <a:spcPct val="15000"/>
              </a:spcBef>
            </a:pPr>
            <a:r>
              <a:rPr lang="zh-CN" altLang="en-US" dirty="0"/>
              <a:t>权限的集合</a:t>
            </a:r>
            <a:endParaRPr lang="zh-CN" altLang="en-US" dirty="0"/>
          </a:p>
          <a:p>
            <a:pPr lvl="1" eaLnBrk="1" hangingPunct="1">
              <a:lnSpc>
                <a:spcPct val="120000"/>
              </a:lnSpc>
              <a:spcBef>
                <a:spcPct val="15000"/>
              </a:spcBef>
            </a:pPr>
            <a:r>
              <a:rPr lang="zh-CN" altLang="en-US" dirty="0"/>
              <a:t>简化授权的过程</a:t>
            </a:r>
            <a:endParaRPr lang="zh-CN" altLang="en-US" dirty="0"/>
          </a:p>
          <a:p>
            <a:pPr eaLnBrk="1" hangingPunct="1">
              <a:lnSpc>
                <a:spcPct val="120000"/>
              </a:lnSpc>
              <a:spcBef>
                <a:spcPct val="15000"/>
              </a:spcBef>
            </a:pPr>
            <a:r>
              <a:rPr lang="zh-CN" altLang="en-US" dirty="0">
                <a:solidFill>
                  <a:schemeClr val="tx1"/>
                </a:solidFill>
              </a:rPr>
              <a:t>角色的类型</a:t>
            </a:r>
            <a:r>
              <a:rPr lang="en-US" altLang="zh-CN" dirty="0">
                <a:solidFill>
                  <a:schemeClr val="tx1"/>
                </a:solidFill>
              </a:rPr>
              <a:t>(SQL Server)</a:t>
            </a:r>
            <a:endParaRPr lang="en-US" altLang="zh-CN" dirty="0">
              <a:solidFill>
                <a:schemeClr val="tx1"/>
              </a:solidFill>
            </a:endParaRPr>
          </a:p>
          <a:p>
            <a:pPr lvl="1" eaLnBrk="1" hangingPunct="1">
              <a:lnSpc>
                <a:spcPct val="120000"/>
              </a:lnSpc>
              <a:spcBef>
                <a:spcPct val="15000"/>
              </a:spcBef>
            </a:pPr>
            <a:r>
              <a:rPr lang="zh-CN" altLang="en-US" dirty="0"/>
              <a:t>预定义角色：服务器角色，数据库角色</a:t>
            </a:r>
            <a:endParaRPr lang="zh-CN" altLang="en-US" dirty="0"/>
          </a:p>
          <a:p>
            <a:pPr lvl="1" eaLnBrk="1" hangingPunct="1">
              <a:lnSpc>
                <a:spcPct val="120000"/>
              </a:lnSpc>
              <a:spcBef>
                <a:spcPct val="15000"/>
              </a:spcBef>
            </a:pPr>
            <a:r>
              <a:rPr lang="zh-CN" altLang="en-US" dirty="0"/>
              <a:t>自定义角色</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8611" name="Rectangle 2"/>
          <p:cNvSpPr>
            <a:spLocks noGrp="1"/>
          </p:cNvSpPr>
          <p:nvPr>
            <p:ph type="title"/>
          </p:nvPr>
        </p:nvSpPr>
        <p:spPr>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graphicFrame>
        <p:nvGraphicFramePr>
          <p:cNvPr id="104579" name="Group 131"/>
          <p:cNvGraphicFramePr>
            <a:graphicFrameLocks noGrp="1"/>
          </p:cNvGraphicFramePr>
          <p:nvPr>
            <p:ph idx="1"/>
          </p:nvPr>
        </p:nvGraphicFramePr>
        <p:xfrm>
          <a:off x="323850" y="1412875"/>
          <a:ext cx="8134350" cy="4875213"/>
        </p:xfrm>
        <a:graphic>
          <a:graphicData uri="http://schemas.openxmlformats.org/drawingml/2006/table">
            <a:tbl>
              <a:tblPr/>
              <a:tblGrid>
                <a:gridCol w="2592388"/>
                <a:gridCol w="5541962"/>
              </a:tblGrid>
              <a:tr h="666784">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3200" b="1" i="0" u="none" strike="noStrike" cap="none" normalizeH="0" baseline="0" smtClean="0">
                          <a:ln>
                            <a:noFill/>
                          </a:ln>
                          <a:solidFill>
                            <a:schemeClr val="accent2"/>
                          </a:solidFill>
                          <a:effectLst/>
                          <a:latin typeface="Arial" panose="020B0604020202020204" pitchFamily="34" charset="0"/>
                          <a:ea typeface="宋体" panose="02010600030101010101" pitchFamily="2" charset="-122"/>
                        </a:rPr>
                        <a:t>服务器角色</a:t>
                      </a:r>
                      <a:endParaRPr kumimoji="0" lang="zh-CN" altLang="en-US" sz="3200" b="1" i="0" u="none" strike="noStrike" cap="none" normalizeH="0" baseline="0" smtClean="0">
                        <a:ln>
                          <a:noFill/>
                        </a:ln>
                        <a:solidFill>
                          <a:schemeClr val="accent2"/>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描述</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2771">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sysadmin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可以在 </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Server </a:t>
                      </a: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中执行任何活动。</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3445">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serveradmin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可以设置服务器范围的配置选项，关闭服务器。</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1857">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Arial Unicode MS" pitchFamily="34" charset="-122"/>
                          <a:cs typeface="Arial Unicode MS" pitchFamily="34" charset="-122"/>
                        </a:rPr>
                        <a:t>setupadmin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可以管理链接服务器和启动过程。</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3236">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Arial Unicode MS" pitchFamily="34" charset="-122"/>
                          <a:cs typeface="Arial Unicode MS" pitchFamily="34" charset="-122"/>
                        </a:rPr>
                        <a:t>securityadmin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可以管理登录和 </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CREATE DATABASE </a:t>
                      </a: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权限，</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还可以读取错误日志和更改密码。</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1857">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Arial Unicode MS" pitchFamily="34" charset="-122"/>
                          <a:cs typeface="Arial Unicode MS" pitchFamily="34" charset="-122"/>
                        </a:rPr>
                        <a:t>processadmin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可以管理在 </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 Server </a:t>
                      </a: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中运行的进程。</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2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Arial Unicode MS" pitchFamily="34" charset="-122"/>
                          <a:cs typeface="Arial Unicode MS" pitchFamily="34" charset="-122"/>
                        </a:rPr>
                        <a:t>dbcreator</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可以创建、更改和除去数据库。</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2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Arial Unicode MS" pitchFamily="34" charset="-122"/>
                          <a:cs typeface="Arial Unicode MS" pitchFamily="34" charset="-122"/>
                        </a:rPr>
                        <a:t>diskadmin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可以管理磁盘文件。</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20">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Arial Unicode MS" pitchFamily="34" charset="-122"/>
                          <a:cs typeface="Arial Unicode MS" pitchFamily="34" charset="-122"/>
                        </a:rPr>
                        <a:t>bulkadmin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742950" indent="-28575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defRPr kumimoji="1" sz="2000" b="1">
                          <a:solidFill>
                            <a:schemeClr val="tx1"/>
                          </a:solidFill>
                          <a:latin typeface="Times New Roman" panose="02020603050405020304" pitchFamily="18" charset="0"/>
                          <a:ea typeface="楷体_GB2312" pitchFamily="49" charset="-122"/>
                        </a:defRPr>
                      </a:lvl3pPr>
                      <a:lvl4pPr marL="1600200" indent="-2286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5146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29718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4290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3886200" indent="-2286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可以执行 </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BULK INSERT </a:t>
                      </a: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语句</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46802" marB="468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9635" name="Rectangle 2"/>
          <p:cNvSpPr>
            <a:spLocks noGrp="1"/>
          </p:cNvSpPr>
          <p:nvPr>
            <p:ph type="title"/>
          </p:nvPr>
        </p:nvSpPr>
        <p:spPr>
          <a:xfrm>
            <a:off x="685800" y="152400"/>
            <a:ext cx="7772400" cy="828675"/>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graphicFrame>
        <p:nvGraphicFramePr>
          <p:cNvPr id="69636" name="Table Placeholder 69635"/>
          <p:cNvGraphicFramePr/>
          <p:nvPr>
            <p:ph type="tbl" idx="1"/>
          </p:nvPr>
        </p:nvGraphicFramePr>
        <p:xfrm>
          <a:off x="395288" y="1052513"/>
          <a:ext cx="8497887" cy="5332412"/>
        </p:xfrm>
        <a:graphic>
          <a:graphicData uri="http://schemas.openxmlformats.org/drawingml/2006/table">
            <a:tbl>
              <a:tblPr/>
              <a:tblGrid>
                <a:gridCol w="2592388"/>
                <a:gridCol w="5905500"/>
              </a:tblGrid>
              <a:tr h="581025">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zh-CN" altLang="" sz="3200" dirty="0">
                          <a:solidFill>
                            <a:schemeClr val="accent2"/>
                          </a:solidFill>
                          <a:latin typeface="Times New Roman" panose="02020603050405020304" pitchFamily="18" charset="0"/>
                        </a:rPr>
                        <a:t>数据库角色</a:t>
                      </a:r>
                      <a:endParaRPr lang="zh-CN" altLang="" sz="3200" dirty="0">
                        <a:solidFill>
                          <a:schemeClr val="accent2"/>
                        </a:solidFill>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en-US" sz="2000" b="0" dirty="0">
                          <a:latin typeface="Times New Roman" panose="02020603050405020304" pitchFamily="18" charset="0"/>
                        </a:rPr>
                        <a:t>描述</a:t>
                      </a:r>
                      <a:endParaRPr lang="zh-CN" altLang="en-US"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en-US" altLang="zh-CN" sz="2000" b="0" dirty="0">
                          <a:latin typeface="Arial" panose="020B0604020202020204" pitchFamily="34" charset="0"/>
                        </a:rPr>
                        <a:t>db_owner</a:t>
                      </a:r>
                      <a:endParaRPr lang="en-US"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en-US" sz="2000" b="0" dirty="0">
                          <a:latin typeface="Times New Roman" panose="02020603050405020304" pitchFamily="18" charset="0"/>
                        </a:rPr>
                        <a:t>在数据库中有全部权限。</a:t>
                      </a:r>
                      <a:endParaRPr lang="zh-CN" altLang="en-US"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0537">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db_accessadmin</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可以添加或删除用户 </a:t>
                      </a:r>
                      <a:r>
                        <a:rPr lang="" altLang="zh-CN" sz="2000" b="0" dirty="0">
                          <a:latin typeface="Times New Roman" panose="02020603050405020304" pitchFamily="18" charset="0"/>
                        </a:rPr>
                        <a:t>ID</a:t>
                      </a:r>
                      <a:r>
                        <a:rPr lang="zh-CN" altLang="" sz="2000" b="0" dirty="0">
                          <a:latin typeface="Times New Roman" panose="02020603050405020304" pitchFamily="18" charset="0"/>
                        </a:rPr>
                        <a:t>。</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03263">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db_securityadmin</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可以管理全部权限、对象所有权、角色和</a:t>
                      </a:r>
                      <a:endParaRPr lang="zh-CN" altLang="en-US" sz="2000" b="0" dirty="0">
                        <a:latin typeface="Times New Roman" panose="02020603050405020304" pitchFamily="18" charset="0"/>
                      </a:endParaRPr>
                    </a:p>
                    <a:p>
                      <a:pPr lvl="0" eaLnBrk="1" hangingPunct="1">
                        <a:buNone/>
                      </a:pPr>
                      <a:r>
                        <a:rPr lang="zh-CN" altLang="" sz="2000" b="0" dirty="0">
                          <a:latin typeface="Times New Roman" panose="02020603050405020304" pitchFamily="18" charset="0"/>
                        </a:rPr>
                        <a:t>角色成员资格。</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03262">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db_ddladmin</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可以发出 </a:t>
                      </a:r>
                      <a:r>
                        <a:rPr lang="" altLang="zh-CN" sz="2000" b="0" dirty="0">
                          <a:latin typeface="Times New Roman" panose="02020603050405020304" pitchFamily="18" charset="0"/>
                        </a:rPr>
                        <a:t>ALL DDL</a:t>
                      </a:r>
                      <a:r>
                        <a:rPr lang="zh-CN" altLang="" sz="2000" b="0" dirty="0">
                          <a:latin typeface="Times New Roman" panose="02020603050405020304" pitchFamily="18" charset="0"/>
                        </a:rPr>
                        <a:t>，但不能发出 </a:t>
                      </a:r>
                      <a:r>
                        <a:rPr lang="" altLang="zh-CN" sz="2000" b="0" dirty="0">
                          <a:latin typeface="Times New Roman" panose="02020603050405020304" pitchFamily="18" charset="0"/>
                        </a:rPr>
                        <a:t>GRANT</a:t>
                      </a:r>
                      <a:r>
                        <a:rPr lang="zh-CN" altLang="" sz="2000" b="0" dirty="0">
                          <a:latin typeface="Times New Roman" panose="02020603050405020304" pitchFamily="18" charset="0"/>
                        </a:rPr>
                        <a:t>、</a:t>
                      </a:r>
                      <a:endParaRPr lang="zh-CN" altLang="en-US" sz="2000" b="0" dirty="0">
                        <a:latin typeface="Times New Roman" panose="02020603050405020304" pitchFamily="18" charset="0"/>
                      </a:endParaRPr>
                    </a:p>
                    <a:p>
                      <a:pPr lvl="0" eaLnBrk="1" hangingPunct="1">
                        <a:buNone/>
                      </a:pPr>
                      <a:r>
                        <a:rPr lang="" altLang="zh-CN" sz="2000" b="0" dirty="0">
                          <a:latin typeface="Times New Roman" panose="02020603050405020304" pitchFamily="18" charset="0"/>
                          <a:ea typeface="Arial Unicode MS" pitchFamily="34" charset="-122"/>
                        </a:rPr>
                        <a:t>REVOKE </a:t>
                      </a:r>
                      <a:r>
                        <a:rPr lang="zh-CN" altLang="" sz="2000" b="0" dirty="0">
                          <a:latin typeface="Times New Roman" panose="02020603050405020304" pitchFamily="18" charset="0"/>
                        </a:rPr>
                        <a:t>或 </a:t>
                      </a:r>
                      <a:r>
                        <a:rPr lang="" altLang="zh-CN" sz="2000" b="0" dirty="0">
                          <a:latin typeface="Times New Roman" panose="02020603050405020304" pitchFamily="18" charset="0"/>
                        </a:rPr>
                        <a:t>DENY </a:t>
                      </a:r>
                      <a:r>
                        <a:rPr lang="zh-CN" altLang="" sz="2000" b="0" dirty="0">
                          <a:latin typeface="Times New Roman" panose="02020603050405020304" pitchFamily="18" charset="0"/>
                        </a:rPr>
                        <a:t>语句。</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0538">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db_backupoperator</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可以发出 </a:t>
                      </a:r>
                      <a:r>
                        <a:rPr lang="" altLang="zh-CN" sz="2000" b="0" dirty="0">
                          <a:latin typeface="Times New Roman" panose="02020603050405020304" pitchFamily="18" charset="0"/>
                        </a:rPr>
                        <a:t>DBCC</a:t>
                      </a:r>
                      <a:r>
                        <a:rPr lang="zh-CN" altLang="" sz="2000" b="0" dirty="0">
                          <a:latin typeface="Times New Roman" panose="02020603050405020304" pitchFamily="18" charset="0"/>
                        </a:rPr>
                        <a:t>、</a:t>
                      </a:r>
                      <a:r>
                        <a:rPr lang="" altLang="zh-CN" sz="2000" b="0" dirty="0">
                          <a:latin typeface="Times New Roman" panose="02020603050405020304" pitchFamily="18" charset="0"/>
                          <a:ea typeface="Arial Unicode MS" pitchFamily="34" charset="-122"/>
                        </a:rPr>
                        <a:t>CHECKPOINT </a:t>
                      </a:r>
                      <a:r>
                        <a:rPr lang="zh-CN" altLang="" sz="2000" b="0" dirty="0">
                          <a:latin typeface="Times New Roman" panose="02020603050405020304" pitchFamily="18" charset="0"/>
                        </a:rPr>
                        <a:t>和 </a:t>
                      </a:r>
                      <a:r>
                        <a:rPr lang="" altLang="zh-CN" sz="2000" b="0" dirty="0">
                          <a:latin typeface="Times New Roman" panose="02020603050405020304" pitchFamily="18" charset="0"/>
                        </a:rPr>
                        <a:t>BACKUP </a:t>
                      </a:r>
                      <a:r>
                        <a:rPr lang="zh-CN" altLang="" sz="2000" b="0" dirty="0">
                          <a:latin typeface="Times New Roman" panose="02020603050405020304" pitchFamily="18" charset="0"/>
                        </a:rPr>
                        <a:t>语句。</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2125">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db_datareader</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可以选择数据库内任何用户表中的所有数据。</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0537">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db_datawriter</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可以更改数据库内任何用户表中的所有数据。</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2125">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db_denydatareader</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不能选择数据库内任何用户表中的任何数据。</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0538">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fontAlgn="t" hangingPunct="1">
                        <a:buNone/>
                      </a:pPr>
                      <a:r>
                        <a:rPr lang="" altLang="zh-CN" sz="2000" b="0" dirty="0">
                          <a:latin typeface="Arial" panose="020B0604020202020204" pitchFamily="34" charset="0"/>
                          <a:ea typeface="Arial Unicode MS" pitchFamily="34" charset="-122"/>
                        </a:rPr>
                        <a:t>db_denydatawriter</a:t>
                      </a:r>
                      <a:endParaRPr lang="" altLang="zh-CN"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zh-CN" altLang="" sz="2000" b="0" dirty="0">
                          <a:latin typeface="Times New Roman" panose="02020603050405020304" pitchFamily="18" charset="0"/>
                        </a:rPr>
                        <a:t>不能更改数据库内任何用户表中的任何数据。</a:t>
                      </a:r>
                      <a:endParaRPr lang="zh-CN" altLang="" sz="2000" b="0" dirty="0">
                        <a:latin typeface="Arial" panose="020B0604020202020204" pitchFamily="34" charset="0"/>
                      </a:endParaRPr>
                    </a:p>
                  </a:txBody>
                  <a:tcPr marL="0" marR="0" marT="46797" marB="4679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06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0660"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solidFill>
                  <a:schemeClr val="tx1"/>
                </a:solidFill>
              </a:rPr>
              <a:t>SQL Server</a:t>
            </a:r>
            <a:r>
              <a:rPr lang="zh-CN" altLang="en-US" dirty="0">
                <a:solidFill>
                  <a:schemeClr val="tx1"/>
                </a:solidFill>
              </a:rPr>
              <a:t>的安全体系：</a:t>
            </a:r>
            <a:endParaRPr lang="zh-CN" altLang="en-US" dirty="0">
              <a:solidFill>
                <a:schemeClr val="tx1"/>
              </a:solidFill>
            </a:endParaRPr>
          </a:p>
          <a:p>
            <a:pPr lvl="1" eaLnBrk="1" hangingPunct="1">
              <a:lnSpc>
                <a:spcPct val="120000"/>
              </a:lnSpc>
              <a:spcBef>
                <a:spcPct val="15000"/>
              </a:spcBef>
            </a:pPr>
            <a:r>
              <a:rPr lang="zh-CN" altLang="en-US" dirty="0"/>
              <a:t>登陆</a:t>
            </a:r>
            <a:r>
              <a:rPr lang="en-US" altLang="zh-CN" dirty="0"/>
              <a:t>(login)</a:t>
            </a:r>
            <a:endParaRPr lang="en-US" altLang="zh-CN" dirty="0"/>
          </a:p>
          <a:p>
            <a:pPr lvl="1" eaLnBrk="1" hangingPunct="1">
              <a:lnSpc>
                <a:spcPct val="120000"/>
              </a:lnSpc>
              <a:spcBef>
                <a:spcPct val="15000"/>
              </a:spcBef>
            </a:pPr>
            <a:r>
              <a:rPr lang="zh-CN" altLang="en-US" dirty="0"/>
              <a:t>用户</a:t>
            </a:r>
            <a:r>
              <a:rPr lang="en-US" altLang="zh-CN" dirty="0"/>
              <a:t>(user)</a:t>
            </a:r>
            <a:endParaRPr lang="en-US" altLang="zh-CN" dirty="0"/>
          </a:p>
          <a:p>
            <a:pPr lvl="1" eaLnBrk="1" hangingPunct="1">
              <a:lnSpc>
                <a:spcPct val="120000"/>
              </a:lnSpc>
              <a:spcBef>
                <a:spcPct val="15000"/>
              </a:spcBef>
            </a:pPr>
            <a:r>
              <a:rPr lang="zh-CN" altLang="en-US" dirty="0"/>
              <a:t>角色</a:t>
            </a:r>
            <a:r>
              <a:rPr lang="en-US" altLang="zh-CN" dirty="0"/>
              <a:t>(role)</a:t>
            </a:r>
            <a:endParaRPr lang="en-US" altLang="zh-CN" dirty="0"/>
          </a:p>
          <a:p>
            <a:pPr lvl="1" eaLnBrk="1" hangingPunct="1">
              <a:lnSpc>
                <a:spcPct val="120000"/>
              </a:lnSpc>
              <a:spcBef>
                <a:spcPct val="15000"/>
              </a:spcBef>
            </a:pPr>
            <a:r>
              <a:rPr lang="zh-CN" altLang="en-US" dirty="0"/>
              <a:t>权限</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6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1684"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zh-CN" altLang="en-US" dirty="0">
                <a:solidFill>
                  <a:schemeClr val="tx1"/>
                </a:solidFill>
              </a:rPr>
              <a:t>管理登陆账户：</a:t>
            </a:r>
            <a:endParaRPr lang="zh-CN" altLang="en-US" dirty="0">
              <a:solidFill>
                <a:schemeClr val="tx1"/>
              </a:solidFill>
            </a:endParaRPr>
          </a:p>
          <a:p>
            <a:pPr lvl="1" eaLnBrk="1" hangingPunct="1">
              <a:lnSpc>
                <a:spcPct val="120000"/>
              </a:lnSpc>
              <a:spcBef>
                <a:spcPct val="15000"/>
              </a:spcBef>
            </a:pPr>
            <a:r>
              <a:rPr lang="zh-CN" altLang="en-US" dirty="0"/>
              <a:t>新建：</a:t>
            </a:r>
            <a:r>
              <a:rPr lang="en-US" altLang="zh-CN" dirty="0"/>
              <a:t>sp_addlogin</a:t>
            </a:r>
            <a:endParaRPr lang="en-US" altLang="zh-CN" dirty="0"/>
          </a:p>
          <a:p>
            <a:pPr lvl="1" eaLnBrk="1" hangingPunct="1">
              <a:lnSpc>
                <a:spcPct val="120000"/>
              </a:lnSpc>
              <a:spcBef>
                <a:spcPct val="15000"/>
              </a:spcBef>
            </a:pPr>
            <a:r>
              <a:rPr lang="zh-CN" altLang="en-US" dirty="0"/>
              <a:t>删除：</a:t>
            </a:r>
            <a:r>
              <a:rPr lang="en-US" altLang="zh-CN" dirty="0"/>
              <a:t>sp_droplogin</a:t>
            </a:r>
            <a:endParaRPr lang="en-US" altLang="zh-CN" dirty="0"/>
          </a:p>
          <a:p>
            <a:pPr lvl="1" eaLnBrk="1" hangingPunct="1">
              <a:lnSpc>
                <a:spcPct val="120000"/>
              </a:lnSpc>
              <a:spcBef>
                <a:spcPct val="15000"/>
              </a:spcBef>
            </a:pPr>
            <a:r>
              <a:rPr lang="zh-CN" altLang="en-US" dirty="0"/>
              <a:t>修改账户密码：</a:t>
            </a:r>
            <a:r>
              <a:rPr lang="en-US" altLang="zh-CN" dirty="0"/>
              <a:t>sp_password</a:t>
            </a:r>
            <a:endParaRPr lang="en-US" altLang="zh-CN" dirty="0"/>
          </a:p>
          <a:p>
            <a:pPr lvl="1" eaLnBrk="1" hangingPunct="1">
              <a:lnSpc>
                <a:spcPct val="120000"/>
              </a:lnSpc>
              <a:spcBef>
                <a:spcPct val="15000"/>
              </a:spcBef>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27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2708"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solidFill>
                  <a:srgbClr val="FF0000"/>
                </a:solidFill>
              </a:rPr>
              <a:t>Sp_addlogin</a:t>
            </a:r>
            <a:endParaRPr lang="en-US" altLang="zh-CN" dirty="0">
              <a:solidFill>
                <a:srgbClr val="FF0000"/>
              </a:solidFill>
            </a:endParaRPr>
          </a:p>
          <a:p>
            <a:pPr eaLnBrk="1" hangingPunct="1">
              <a:lnSpc>
                <a:spcPct val="120000"/>
              </a:lnSpc>
              <a:spcBef>
                <a:spcPct val="15000"/>
              </a:spcBef>
              <a:buNone/>
            </a:pPr>
            <a:r>
              <a:rPr lang="zh-CN" altLang="zh-CN" b="0" dirty="0">
                <a:solidFill>
                  <a:schemeClr val="accent2"/>
                </a:solidFill>
                <a:latin typeface="Arial" panose="020B0604020202020204" pitchFamily="34" charset="0"/>
              </a:rPr>
              <a:t>sp_addlogin</a:t>
            </a:r>
            <a:r>
              <a:rPr lang="zh-CN" altLang="zh-CN" b="0" dirty="0">
                <a:solidFill>
                  <a:schemeClr val="tx1"/>
                </a:solidFill>
                <a:latin typeface="Arial" panose="020B0604020202020204" pitchFamily="34" charset="0"/>
              </a:rPr>
              <a:t> [ @loginame = ] '登录名'</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 , [ @passwd = ] '密码']</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 , [ @defdb = ] '默认数据库' ]</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 , [ @deflanguage = ] '默认语言' ]</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 , [ @sid = ] sid ]</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 , [ @encryptopt = ] '加密选项']</a:t>
            </a:r>
            <a:endParaRPr lang="zh-CN" altLang="zh-CN" b="0" dirty="0">
              <a:solidFill>
                <a:schemeClr val="tx1"/>
              </a:solidFill>
              <a:latin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373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73732" name="Rectangle 3"/>
          <p:cNvSpPr>
            <a:spLocks noGrp="1"/>
          </p:cNvSpPr>
          <p:nvPr>
            <p:ph idx="1"/>
          </p:nvPr>
        </p:nvSpPr>
        <p:spPr>
          <a:xfrm>
            <a:off x="304800" y="838200"/>
            <a:ext cx="8458200" cy="4535488"/>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9] </a:t>
            </a:r>
            <a:r>
              <a:rPr lang="zh-CN" altLang="en-US" dirty="0">
                <a:solidFill>
                  <a:schemeClr val="tx1"/>
                </a:solidFill>
              </a:rPr>
              <a:t>新建登录，名称为</a:t>
            </a:r>
            <a:r>
              <a:rPr lang="en-US" altLang="zh-CN" dirty="0">
                <a:solidFill>
                  <a:schemeClr val="tx1"/>
                </a:solidFill>
              </a:rPr>
              <a:t>jerry</a:t>
            </a:r>
            <a:r>
              <a:rPr lang="zh-CN" altLang="en-US" dirty="0">
                <a:solidFill>
                  <a:schemeClr val="tx1"/>
                </a:solidFill>
              </a:rPr>
              <a:t>，默认数据库为</a:t>
            </a:r>
            <a:r>
              <a:rPr lang="en-US" altLang="zh-CN" dirty="0">
                <a:solidFill>
                  <a:schemeClr val="tx1"/>
                </a:solidFill>
              </a:rPr>
              <a:t>student</a:t>
            </a:r>
            <a:r>
              <a:rPr lang="zh-CN" altLang="en-US" dirty="0">
                <a:solidFill>
                  <a:schemeClr val="tx1"/>
                </a:solidFill>
              </a:rPr>
              <a:t>，密码设为</a:t>
            </a:r>
            <a:r>
              <a:rPr lang="en-US" altLang="zh-CN" dirty="0">
                <a:solidFill>
                  <a:schemeClr val="tx1"/>
                </a:solidFill>
              </a:rPr>
              <a:t>password</a:t>
            </a:r>
            <a:r>
              <a:rPr lang="zh-CN" altLang="en-US" dirty="0">
                <a:solidFill>
                  <a:schemeClr val="tx1"/>
                </a:solidFill>
              </a:rPr>
              <a:t>。</a:t>
            </a:r>
            <a:endParaRPr lang="zh-CN" altLang="en-US" dirty="0">
              <a:solidFill>
                <a:schemeClr val="tx1"/>
              </a:solidFill>
            </a:endParaRPr>
          </a:p>
          <a:p>
            <a:pPr algn="just" eaLnBrk="1" hangingPunct="1">
              <a:lnSpc>
                <a:spcPct val="140000"/>
              </a:lnSpc>
              <a:buNone/>
            </a:pPr>
            <a:r>
              <a:rPr lang="zh-CN" altLang="en-US" b="0" dirty="0">
                <a:solidFill>
                  <a:srgbClr val="CC0000"/>
                </a:solidFill>
                <a:latin typeface="Arial" panose="020B0604020202020204" pitchFamily="34" charset="0"/>
              </a:rPr>
              <a:t>   </a:t>
            </a:r>
            <a:r>
              <a:rPr lang="en-US" altLang="zh-CN" b="0" dirty="0">
                <a:solidFill>
                  <a:srgbClr val="990033"/>
                </a:solidFill>
                <a:latin typeface="Arial" panose="020B0604020202020204" pitchFamily="34" charset="0"/>
              </a:rPr>
              <a:t>sp_addlogin</a:t>
            </a:r>
            <a:r>
              <a:rPr lang="en-US" altLang="zh-CN" b="0" dirty="0">
                <a:solidFill>
                  <a:schemeClr val="tx1"/>
                </a:solidFill>
                <a:latin typeface="Arial" panose="020B0604020202020204" pitchFamily="34" charset="0"/>
              </a:rPr>
              <a:t> </a:t>
            </a:r>
            <a:r>
              <a:rPr lang="en-US" altLang="zh-CN" b="0" dirty="0">
                <a:solidFill>
                  <a:srgbClr val="FF0000"/>
                </a:solidFill>
                <a:latin typeface="Arial" panose="020B0604020202020204" pitchFamily="34" charset="0"/>
              </a:rPr>
              <a:t>'jerry'</a:t>
            </a:r>
            <a:r>
              <a:rPr lang="en-US" altLang="zh-CN" b="0" dirty="0">
                <a:solidFill>
                  <a:schemeClr val="tx1"/>
                </a:solidFill>
                <a:latin typeface="Arial" panose="020B0604020202020204" pitchFamily="34" charset="0"/>
              </a:rPr>
              <a:t>, </a:t>
            </a:r>
            <a:r>
              <a:rPr lang="en-US" altLang="zh-CN" b="0" dirty="0">
                <a:solidFill>
                  <a:srgbClr val="FF0000"/>
                </a:solidFill>
                <a:latin typeface="Arial" panose="020B0604020202020204" pitchFamily="34" charset="0"/>
              </a:rPr>
              <a:t>'password'</a:t>
            </a:r>
            <a:r>
              <a:rPr lang="en-US" altLang="zh-CN" b="0" dirty="0">
                <a:solidFill>
                  <a:schemeClr val="tx1"/>
                </a:solidFill>
                <a:latin typeface="Arial" panose="020B0604020202020204" pitchFamily="34" charset="0"/>
              </a:rPr>
              <a:t>,</a:t>
            </a:r>
            <a:r>
              <a:rPr lang="en-US" altLang="zh-CN" b="0" dirty="0">
                <a:solidFill>
                  <a:srgbClr val="FF0000"/>
                </a:solidFill>
                <a:latin typeface="Arial" panose="020B0604020202020204" pitchFamily="34" charset="0"/>
              </a:rPr>
              <a:t>'student'</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algn="just" eaLnBrk="1" hangingPunct="1">
              <a:lnSpc>
                <a:spcPct val="140000"/>
              </a:lnSpc>
              <a:buNone/>
            </a:pPr>
            <a:endParaRPr lang="en-US" altLang="zh-CN" dirty="0">
              <a:solidFill>
                <a:schemeClr val="tx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47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4756"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solidFill>
                  <a:srgbClr val="FF0000"/>
                </a:solidFill>
              </a:rPr>
              <a:t>Sp_password</a:t>
            </a:r>
            <a:endParaRPr lang="en-US" altLang="zh-CN" dirty="0">
              <a:solidFill>
                <a:srgbClr val="FF0000"/>
              </a:solidFill>
            </a:endParaRPr>
          </a:p>
          <a:p>
            <a:pPr eaLnBrk="1" hangingPunct="1">
              <a:lnSpc>
                <a:spcPct val="120000"/>
              </a:lnSpc>
              <a:spcBef>
                <a:spcPct val="15000"/>
              </a:spcBef>
              <a:buNone/>
            </a:pPr>
            <a:r>
              <a:rPr lang="zh-CN" altLang="zh-CN" b="0" dirty="0">
                <a:solidFill>
                  <a:srgbClr val="990033"/>
                </a:solidFill>
                <a:latin typeface="Arial" panose="020B0604020202020204" pitchFamily="34" charset="0"/>
              </a:rPr>
              <a:t>sp_password</a:t>
            </a:r>
            <a:r>
              <a:rPr lang="zh-CN" altLang="zh-CN" b="0" dirty="0">
                <a:solidFill>
                  <a:schemeClr val="tx1"/>
                </a:solidFill>
                <a:latin typeface="Arial" panose="020B0604020202020204" pitchFamily="34" charset="0"/>
              </a:rPr>
              <a:t> [[@old = ] '原密码', ]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tx1"/>
                </a:solidFill>
                <a:latin typeface="Arial" panose="020B0604020202020204" pitchFamily="34" charset="0"/>
              </a:rPr>
              <a:t>    </a:t>
            </a:r>
            <a:r>
              <a:rPr lang="zh-CN" altLang="zh-CN" b="0" dirty="0">
                <a:solidFill>
                  <a:schemeClr val="tx1"/>
                </a:solidFill>
                <a:latin typeface="Arial" panose="020B0604020202020204" pitchFamily="34" charset="0"/>
              </a:rPr>
              <a:t>{[@new =] '新密码'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tx1"/>
                </a:solidFill>
                <a:latin typeface="Arial" panose="020B0604020202020204" pitchFamily="34" charset="0"/>
              </a:rPr>
              <a:t>   </a:t>
            </a:r>
            <a:r>
              <a:rPr lang="zh-CN" altLang="zh-CN" b="0" dirty="0">
                <a:solidFill>
                  <a:schemeClr val="tx1"/>
                </a:solidFill>
                <a:latin typeface="Arial" panose="020B0604020202020204" pitchFamily="34" charset="0"/>
              </a:rPr>
              <a:t> [ , [@loginame = ] '登录名']</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a:t>
            </a:r>
            <a:r>
              <a:rPr lang="en-US" altLang="zh-CN" dirty="0">
                <a:solidFill>
                  <a:schemeClr val="tx1"/>
                </a:solidFill>
              </a:rPr>
              <a:t>[</a:t>
            </a:r>
            <a:r>
              <a:rPr lang="zh-CN" altLang="en-US" dirty="0">
                <a:solidFill>
                  <a:schemeClr val="tx1"/>
                </a:solidFill>
              </a:rPr>
              <a:t>例</a:t>
            </a:r>
            <a:r>
              <a:rPr lang="en-US" altLang="zh-CN" dirty="0">
                <a:solidFill>
                  <a:schemeClr val="tx1"/>
                </a:solidFill>
              </a:rPr>
              <a:t>10] </a:t>
            </a:r>
            <a:r>
              <a:rPr lang="zh-CN" altLang="en-US" dirty="0">
                <a:solidFill>
                  <a:schemeClr val="tx1"/>
                </a:solidFill>
              </a:rPr>
              <a:t>把</a:t>
            </a:r>
            <a:r>
              <a:rPr lang="en-US" altLang="zh-CN" dirty="0">
                <a:solidFill>
                  <a:schemeClr val="tx1"/>
                </a:solidFill>
              </a:rPr>
              <a:t>jerry</a:t>
            </a:r>
            <a:r>
              <a:rPr lang="zh-CN" altLang="en-US" dirty="0">
                <a:solidFill>
                  <a:schemeClr val="tx1"/>
                </a:solidFill>
              </a:rPr>
              <a:t>的密码改为</a:t>
            </a:r>
            <a:r>
              <a:rPr lang="en-US" altLang="zh-CN" dirty="0">
                <a:solidFill>
                  <a:schemeClr val="tx1"/>
                </a:solidFill>
              </a:rPr>
              <a:t>tom</a:t>
            </a:r>
            <a:r>
              <a:rPr lang="zh-CN"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rgbClr val="990033"/>
                </a:solidFill>
                <a:latin typeface="Arial" panose="020B0604020202020204" pitchFamily="34" charset="0"/>
              </a:rPr>
              <a:t>sp_</a:t>
            </a:r>
            <a:r>
              <a:rPr lang="en-US" altLang="zh-CN" b="0" dirty="0">
                <a:solidFill>
                  <a:srgbClr val="990033"/>
                </a:solidFill>
                <a:latin typeface="Arial" panose="020B0604020202020204" pitchFamily="34" charset="0"/>
              </a:rPr>
              <a:t>password</a:t>
            </a:r>
            <a:r>
              <a:rPr lang="en-US" altLang="zh-CN" b="0" dirty="0">
                <a:solidFill>
                  <a:schemeClr val="accent2"/>
                </a:solidFill>
                <a:latin typeface="Arial" panose="020B0604020202020204" pitchFamily="34" charset="0"/>
              </a:rPr>
              <a:t>  </a:t>
            </a:r>
            <a:r>
              <a:rPr lang="zh-CN" altLang="zh-CN" b="0" dirty="0">
                <a:solidFill>
                  <a:srgbClr val="FF0000"/>
                </a:solidFill>
                <a:latin typeface="Arial" panose="020B0604020202020204" pitchFamily="34" charset="0"/>
              </a:rPr>
              <a:t>'</a:t>
            </a:r>
            <a:r>
              <a:rPr lang="en-US" altLang="zh-CN" b="0" dirty="0">
                <a:solidFill>
                  <a:srgbClr val="FF0000"/>
                </a:solidFill>
                <a:latin typeface="Arial" panose="020B0604020202020204" pitchFamily="34" charset="0"/>
              </a:rPr>
              <a:t> password </a:t>
            </a:r>
            <a:r>
              <a:rPr lang="zh-CN" altLang="zh-CN" b="0" dirty="0">
                <a:solidFill>
                  <a:srgbClr val="FF0000"/>
                </a:solidFill>
                <a:latin typeface="Arial" panose="020B0604020202020204" pitchFamily="34" charset="0"/>
              </a:rPr>
              <a:t>'</a:t>
            </a:r>
            <a:r>
              <a:rPr lang="en-US" altLang="zh-CN" b="0" dirty="0">
                <a:solidFill>
                  <a:schemeClr val="tx1"/>
                </a:solidFill>
                <a:latin typeface="Arial" panose="020B0604020202020204" pitchFamily="34" charset="0"/>
              </a:rPr>
              <a:t>,</a:t>
            </a:r>
            <a:r>
              <a:rPr lang="en-US" altLang="zh-CN" b="0" dirty="0">
                <a:solidFill>
                  <a:srgbClr val="FF0000"/>
                </a:solidFill>
                <a:latin typeface="Arial" panose="020B0604020202020204" pitchFamily="34" charset="0"/>
              </a:rPr>
              <a:t> </a:t>
            </a:r>
            <a:r>
              <a:rPr lang="zh-CN" altLang="zh-CN" b="0" dirty="0">
                <a:solidFill>
                  <a:srgbClr val="FF0000"/>
                </a:solidFill>
                <a:latin typeface="Arial" panose="020B0604020202020204" pitchFamily="34" charset="0"/>
              </a:rPr>
              <a:t>'</a:t>
            </a:r>
            <a:r>
              <a:rPr lang="en-US" altLang="zh-CN" b="0" dirty="0">
                <a:solidFill>
                  <a:srgbClr val="FF0000"/>
                </a:solidFill>
                <a:latin typeface="Arial" panose="020B0604020202020204" pitchFamily="34" charset="0"/>
              </a:rPr>
              <a:t> tom </a:t>
            </a:r>
            <a:r>
              <a:rPr lang="zh-CN" altLang="zh-CN" b="0" dirty="0">
                <a:solidFill>
                  <a:srgbClr val="FF0000"/>
                </a:solidFill>
                <a:latin typeface="Arial" panose="020B0604020202020204" pitchFamily="34" charset="0"/>
              </a:rPr>
              <a:t>'</a:t>
            </a:r>
            <a:r>
              <a:rPr lang="en-US" altLang="zh-CN" b="0" dirty="0">
                <a:solidFill>
                  <a:schemeClr val="tx1"/>
                </a:solidFill>
                <a:latin typeface="Arial" panose="020B0604020202020204" pitchFamily="34" charset="0"/>
              </a:rPr>
              <a:t>,</a:t>
            </a:r>
            <a:r>
              <a:rPr lang="en-US" altLang="zh-CN" b="0" dirty="0">
                <a:solidFill>
                  <a:srgbClr val="FF0000"/>
                </a:solidFill>
                <a:latin typeface="Arial" panose="020B0604020202020204" pitchFamily="34" charset="0"/>
              </a:rPr>
              <a:t> </a:t>
            </a:r>
            <a:r>
              <a:rPr lang="zh-CN" altLang="zh-CN" b="0" dirty="0">
                <a:solidFill>
                  <a:srgbClr val="FF0000"/>
                </a:solidFill>
                <a:latin typeface="Arial" panose="020B0604020202020204" pitchFamily="34" charset="0"/>
              </a:rPr>
              <a:t>'</a:t>
            </a:r>
            <a:r>
              <a:rPr lang="en-US" altLang="zh-CN" b="0" dirty="0">
                <a:solidFill>
                  <a:srgbClr val="FF0000"/>
                </a:solidFill>
                <a:latin typeface="Arial" panose="020B0604020202020204" pitchFamily="34" charset="0"/>
              </a:rPr>
              <a:t> jerry </a:t>
            </a:r>
            <a:r>
              <a:rPr lang="zh-CN" altLang="zh-CN" b="0" dirty="0">
                <a:solidFill>
                  <a:srgbClr val="FF0000"/>
                </a:solidFill>
                <a:latin typeface="Arial" panose="020B0604020202020204" pitchFamily="34" charset="0"/>
              </a:rPr>
              <a:t>'</a:t>
            </a:r>
            <a:endParaRPr lang="zh-CN" altLang="zh-CN" b="0" dirty="0">
              <a:solidFill>
                <a:srgbClr val="FF0000"/>
              </a:solidFill>
              <a:latin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57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5780"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solidFill>
                  <a:srgbClr val="FF0000"/>
                </a:solidFill>
              </a:rPr>
              <a:t>Sp_droplogin</a:t>
            </a:r>
            <a:endParaRPr lang="en-US" altLang="zh-CN" dirty="0">
              <a:solidFill>
                <a:srgbClr val="FF0000"/>
              </a:solidFill>
            </a:endParaRPr>
          </a:p>
          <a:p>
            <a:pPr eaLnBrk="1" hangingPunct="1">
              <a:lnSpc>
                <a:spcPct val="120000"/>
              </a:lnSpc>
              <a:spcBef>
                <a:spcPct val="15000"/>
              </a:spcBef>
              <a:buNone/>
            </a:pPr>
            <a:r>
              <a:rPr lang="zh-CN" altLang="zh-CN" b="0" dirty="0">
                <a:solidFill>
                  <a:srgbClr val="990033"/>
                </a:solidFill>
                <a:latin typeface="Arial" panose="020B0604020202020204" pitchFamily="34" charset="0"/>
              </a:rPr>
              <a:t>sp_</a:t>
            </a:r>
            <a:r>
              <a:rPr lang="en-US" altLang="zh-CN" b="0" dirty="0">
                <a:solidFill>
                  <a:srgbClr val="990033"/>
                </a:solidFill>
                <a:latin typeface="Arial" panose="020B0604020202020204" pitchFamily="34" charset="0"/>
              </a:rPr>
              <a:t>drop</a:t>
            </a:r>
            <a:r>
              <a:rPr lang="zh-CN" altLang="zh-CN" b="0" dirty="0">
                <a:solidFill>
                  <a:srgbClr val="990033"/>
                </a:solidFill>
                <a:latin typeface="Arial" panose="020B0604020202020204" pitchFamily="34" charset="0"/>
              </a:rPr>
              <a:t>login</a:t>
            </a:r>
            <a:r>
              <a:rPr lang="zh-CN" altLang="zh-CN" b="0" dirty="0">
                <a:solidFill>
                  <a:schemeClr val="tx1"/>
                </a:solidFill>
                <a:latin typeface="Arial" panose="020B0604020202020204" pitchFamily="34" charset="0"/>
              </a:rPr>
              <a:t> [ @loginame = ] '登录名'</a:t>
            </a:r>
            <a:endParaRPr lang="zh-CN"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chemeClr val="tx1"/>
                </a:solidFill>
                <a:latin typeface="Arial" panose="020B0604020202020204" pitchFamily="34" charset="0"/>
              </a:rPr>
              <a:t> </a:t>
            </a:r>
            <a:r>
              <a:rPr lang="en-US" altLang="zh-CN" dirty="0">
                <a:solidFill>
                  <a:schemeClr val="tx1"/>
                </a:solidFill>
              </a:rPr>
              <a:t>[</a:t>
            </a:r>
            <a:r>
              <a:rPr lang="zh-CN" altLang="en-US" dirty="0">
                <a:solidFill>
                  <a:schemeClr val="tx1"/>
                </a:solidFill>
              </a:rPr>
              <a:t>例</a:t>
            </a:r>
            <a:r>
              <a:rPr lang="en-US" altLang="zh-CN" dirty="0">
                <a:solidFill>
                  <a:schemeClr val="tx1"/>
                </a:solidFill>
              </a:rPr>
              <a:t>11] </a:t>
            </a:r>
            <a:r>
              <a:rPr lang="zh-CN" altLang="en-US" dirty="0">
                <a:solidFill>
                  <a:schemeClr val="tx1"/>
                </a:solidFill>
              </a:rPr>
              <a:t>删除登陆账户</a:t>
            </a:r>
            <a:r>
              <a:rPr lang="en-US" altLang="zh-CN" dirty="0">
                <a:solidFill>
                  <a:schemeClr val="tx1"/>
                </a:solidFill>
              </a:rPr>
              <a:t>user1</a:t>
            </a:r>
            <a:r>
              <a:rPr lang="zh-CN"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zh-CN" altLang="zh-CN" b="0" dirty="0">
                <a:solidFill>
                  <a:srgbClr val="990033"/>
                </a:solidFill>
                <a:latin typeface="Arial" panose="020B0604020202020204" pitchFamily="34" charset="0"/>
              </a:rPr>
              <a:t>sp_</a:t>
            </a:r>
            <a:r>
              <a:rPr lang="en-US" altLang="zh-CN" b="0" dirty="0">
                <a:solidFill>
                  <a:srgbClr val="990033"/>
                </a:solidFill>
                <a:latin typeface="Arial" panose="020B0604020202020204" pitchFamily="34" charset="0"/>
              </a:rPr>
              <a:t>drop</a:t>
            </a:r>
            <a:r>
              <a:rPr lang="zh-CN" altLang="zh-CN" b="0" dirty="0">
                <a:solidFill>
                  <a:srgbClr val="990033"/>
                </a:solidFill>
                <a:latin typeface="Arial" panose="020B0604020202020204" pitchFamily="34" charset="0"/>
              </a:rPr>
              <a:t>login</a:t>
            </a:r>
            <a:r>
              <a:rPr lang="en-US" altLang="zh-CN" b="0" dirty="0">
                <a:solidFill>
                  <a:schemeClr val="accent2"/>
                </a:solidFill>
                <a:latin typeface="Arial" panose="020B0604020202020204" pitchFamily="34" charset="0"/>
              </a:rPr>
              <a:t> </a:t>
            </a:r>
            <a:r>
              <a:rPr lang="zh-CN" altLang="zh-CN" b="0" dirty="0">
                <a:solidFill>
                  <a:srgbClr val="FF0000"/>
                </a:solidFill>
                <a:latin typeface="Arial" panose="020B0604020202020204" pitchFamily="34" charset="0"/>
              </a:rPr>
              <a:t>'</a:t>
            </a:r>
            <a:r>
              <a:rPr lang="en-US" altLang="zh-CN" b="0" dirty="0">
                <a:solidFill>
                  <a:srgbClr val="FF0000"/>
                </a:solidFill>
                <a:latin typeface="Arial" panose="020B0604020202020204" pitchFamily="34" charset="0"/>
              </a:rPr>
              <a:t> user1 </a:t>
            </a:r>
            <a:r>
              <a:rPr lang="zh-CN" altLang="zh-CN" b="0" dirty="0">
                <a:solidFill>
                  <a:srgbClr val="FF0000"/>
                </a:solidFill>
                <a:latin typeface="Arial" panose="020B0604020202020204" pitchFamily="34" charset="0"/>
              </a:rPr>
              <a:t>'</a:t>
            </a:r>
            <a:endParaRPr lang="zh-CN" altLang="zh-CN" b="0" dirty="0">
              <a:solidFill>
                <a:srgbClr val="FF0000"/>
              </a:solidFill>
              <a:latin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68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6804"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zh-CN" altLang="en-US" dirty="0">
                <a:solidFill>
                  <a:schemeClr val="tx1"/>
                </a:solidFill>
              </a:rPr>
              <a:t>管理数据库的用户：</a:t>
            </a:r>
            <a:endParaRPr lang="zh-CN" altLang="en-US" dirty="0">
              <a:solidFill>
                <a:schemeClr val="tx1"/>
              </a:solidFill>
            </a:endParaRPr>
          </a:p>
          <a:p>
            <a:pPr lvl="1" eaLnBrk="1" hangingPunct="1">
              <a:lnSpc>
                <a:spcPct val="120000"/>
              </a:lnSpc>
              <a:spcBef>
                <a:spcPct val="15000"/>
              </a:spcBef>
            </a:pPr>
            <a:r>
              <a:rPr lang="zh-CN" altLang="en-US" dirty="0"/>
              <a:t>新建：</a:t>
            </a:r>
            <a:r>
              <a:rPr lang="en-US" altLang="zh-CN" dirty="0"/>
              <a:t>sp_grantdbaccess</a:t>
            </a:r>
            <a:endParaRPr lang="en-US" altLang="zh-CN" dirty="0"/>
          </a:p>
          <a:p>
            <a:pPr lvl="1" eaLnBrk="1" hangingPunct="1">
              <a:lnSpc>
                <a:spcPct val="120000"/>
              </a:lnSpc>
              <a:spcBef>
                <a:spcPct val="15000"/>
              </a:spcBef>
            </a:pPr>
            <a:r>
              <a:rPr lang="zh-CN" altLang="en-US" dirty="0"/>
              <a:t>删除：</a:t>
            </a:r>
            <a:r>
              <a:rPr lang="" altLang="zh-CN" dirty="0">
                <a:ea typeface="Arial Unicode MS" pitchFamily="34" charset="-122"/>
              </a:rPr>
              <a:t>sp_</a:t>
            </a:r>
            <a:r>
              <a:rPr lang="en-US" altLang="zh-CN" dirty="0">
                <a:ea typeface="Arial Unicode MS" pitchFamily="34" charset="-122"/>
              </a:rPr>
              <a:t>revoke</a:t>
            </a:r>
            <a:r>
              <a:rPr lang="" altLang="zh-CN" dirty="0">
                <a:ea typeface="Arial Unicode MS" pitchFamily="34" charset="-122"/>
              </a:rPr>
              <a:t>dbaccess</a:t>
            </a:r>
            <a:r>
              <a:rPr lang="" altLang="zh-CN" dirty="0"/>
              <a:t> </a:t>
            </a:r>
            <a:endParaRPr lang="en-US" altLang="zh-CN" dirty="0"/>
          </a:p>
          <a:p>
            <a:pPr eaLnBrk="1" hangingPunct="1">
              <a:lnSpc>
                <a:spcPct val="120000"/>
              </a:lnSpc>
              <a:spcBef>
                <a:spcPct val="15000"/>
              </a:spcBef>
              <a:buNone/>
            </a:pPr>
            <a:r>
              <a:rPr lang="en-US" altLang="zh-CN" dirty="0">
                <a:solidFill>
                  <a:srgbClr val="990033"/>
                </a:solidFill>
              </a:rPr>
              <a:t>sp_grantdbaccess</a:t>
            </a:r>
            <a:r>
              <a:rPr lang="en-US" altLang="zh-CN" dirty="0">
                <a:solidFill>
                  <a:schemeClr val="tx1"/>
                </a:solidFill>
              </a:rPr>
              <a:t> [@loginame =] '</a:t>
            </a:r>
            <a:r>
              <a:rPr lang="zh-CN" altLang="en-US" dirty="0">
                <a:solidFill>
                  <a:schemeClr val="tx1"/>
                </a:solidFill>
              </a:rPr>
              <a:t>登录名</a:t>
            </a:r>
            <a:r>
              <a:rPr lang="en-US" altLang="zh-CN" dirty="0">
                <a:solidFill>
                  <a:schemeClr val="tx1"/>
                </a:solidFill>
              </a:rPr>
              <a:t>'</a:t>
            </a:r>
            <a:endParaRPr lang="en-US" altLang="zh-CN" dirty="0">
              <a:solidFill>
                <a:schemeClr val="tx1"/>
              </a:solidFill>
            </a:endParaRPr>
          </a:p>
          <a:p>
            <a:pPr eaLnBrk="1" hangingPunct="1">
              <a:lnSpc>
                <a:spcPct val="120000"/>
              </a:lnSpc>
              <a:spcBef>
                <a:spcPct val="15000"/>
              </a:spcBef>
              <a:buNone/>
            </a:pPr>
            <a:r>
              <a:rPr lang="en-US" altLang="zh-CN" dirty="0">
                <a:solidFill>
                  <a:schemeClr val="tx1"/>
                </a:solidFill>
              </a:rPr>
              <a:t>    [,[@name_in_db =] '</a:t>
            </a:r>
            <a:r>
              <a:rPr lang="zh-CN" altLang="en-US" dirty="0">
                <a:solidFill>
                  <a:schemeClr val="tx1"/>
                </a:solidFill>
              </a:rPr>
              <a:t>数据库中的用户名</a:t>
            </a:r>
            <a:r>
              <a:rPr lang="en-US" altLang="zh-CN" dirty="0">
                <a:solidFill>
                  <a:schemeClr val="tx1"/>
                </a:solidFill>
              </a:rPr>
              <a:t>' [</a:t>
            </a:r>
            <a:r>
              <a:rPr lang="en-US" altLang="zh-CN" dirty="0">
                <a:solidFill>
                  <a:schemeClr val="hlink"/>
                </a:solidFill>
              </a:rPr>
              <a:t>OUTPUT</a:t>
            </a:r>
            <a:r>
              <a:rPr lang="en-US" altLang="zh-CN" dirty="0">
                <a:solidFill>
                  <a:schemeClr val="tx1"/>
                </a:solidFill>
              </a:rPr>
              <a:t>]]</a:t>
            </a:r>
            <a:endParaRPr lang="en-US" altLang="zh-CN" dirty="0">
              <a:solidFill>
                <a:schemeClr val="tx1"/>
              </a:solidFill>
            </a:endParaRPr>
          </a:p>
          <a:p>
            <a:pPr eaLnBrk="1" hangingPunct="1">
              <a:lnSpc>
                <a:spcPct val="120000"/>
              </a:lnSpc>
              <a:spcBef>
                <a:spcPct val="15000"/>
              </a:spcBef>
              <a:buNone/>
            </a:pPr>
            <a:endParaRPr lang="en-US" altLang="zh-CN" dirty="0">
              <a:solidFill>
                <a:schemeClr val="tx1"/>
              </a:solidFill>
            </a:endParaRPr>
          </a:p>
          <a:p>
            <a:pPr eaLnBrk="1" hangingPunct="1">
              <a:lnSpc>
                <a:spcPct val="120000"/>
              </a:lnSpc>
              <a:spcBef>
                <a:spcPct val="15000"/>
              </a:spcBef>
              <a:buNone/>
            </a:pPr>
            <a:r>
              <a:rPr lang="en-US" altLang="zh-CN" dirty="0">
                <a:solidFill>
                  <a:schemeClr val="tx1"/>
                </a:solidFill>
              </a:rPr>
              <a:t>	</a:t>
            </a:r>
            <a:r>
              <a:rPr lang="zh-CN" altLang="en-US" i="1" dirty="0">
                <a:solidFill>
                  <a:schemeClr val="tx1"/>
                </a:solidFill>
              </a:rPr>
              <a:t>注：早期版本用</a:t>
            </a:r>
            <a:r>
              <a:rPr lang="en-US" altLang="zh-CN" i="1" dirty="0">
                <a:solidFill>
                  <a:srgbClr val="990033"/>
                </a:solidFill>
              </a:rPr>
              <a:t>sp_adduser</a:t>
            </a:r>
            <a:r>
              <a:rPr lang="en-US" altLang="zh-CN" i="1" dirty="0">
                <a:solidFill>
                  <a:schemeClr val="tx1"/>
                </a:solidFill>
              </a:rPr>
              <a:t>,</a:t>
            </a:r>
            <a:r>
              <a:rPr lang="en-US" altLang="zh-CN" i="1" dirty="0">
                <a:solidFill>
                  <a:srgbClr val="990033"/>
                </a:solidFill>
              </a:rPr>
              <a:t>sp_dropuser</a:t>
            </a:r>
            <a:r>
              <a:rPr lang="zh-CN" altLang="en-US" i="1" dirty="0">
                <a:solidFill>
                  <a:schemeClr val="tx1"/>
                </a:solidFill>
              </a:rPr>
              <a:t>管理用户，新版仍保留该功能，但不推荐使用</a:t>
            </a:r>
            <a:endParaRPr lang="zh-CN" altLang="en-US" i="1" dirty="0">
              <a:solidFill>
                <a:schemeClr val="tx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78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77828" name="Rectangle 3"/>
          <p:cNvSpPr>
            <a:spLocks noGrp="1"/>
          </p:cNvSpPr>
          <p:nvPr>
            <p:ph idx="1"/>
          </p:nvPr>
        </p:nvSpPr>
        <p:spPr>
          <a:xfrm>
            <a:off x="304800" y="838200"/>
            <a:ext cx="8458200" cy="5543550"/>
          </a:xfrm>
          <a:ln/>
        </p:spPr>
        <p:txBody>
          <a:bodyPr vert="horz" wrap="square" lIns="91440" tIns="45720" rIns="91440" bIns="45720" anchor="t" anchorCtr="0"/>
          <a:p>
            <a:pPr algn="just" eaLnBrk="1" hangingPunct="1">
              <a:lnSpc>
                <a:spcPct val="140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12] </a:t>
            </a:r>
            <a:r>
              <a:rPr lang="zh-CN" altLang="en-US" sz="2800" dirty="0">
                <a:solidFill>
                  <a:schemeClr val="tx1"/>
                </a:solidFill>
              </a:rPr>
              <a:t>在数据库</a:t>
            </a:r>
            <a:r>
              <a:rPr lang="en-US" altLang="zh-CN" sz="2800" dirty="0">
                <a:solidFill>
                  <a:schemeClr val="tx1"/>
                </a:solidFill>
              </a:rPr>
              <a:t>student</a:t>
            </a:r>
            <a:r>
              <a:rPr lang="zh-CN" altLang="en-US" sz="2800" dirty="0">
                <a:solidFill>
                  <a:schemeClr val="tx1"/>
                </a:solidFill>
              </a:rPr>
              <a:t>中，为登陆帐户</a:t>
            </a:r>
            <a:r>
              <a:rPr lang="en-US" altLang="zh-CN" sz="2800" dirty="0">
                <a:solidFill>
                  <a:schemeClr val="tx1"/>
                </a:solidFill>
              </a:rPr>
              <a:t>jerry</a:t>
            </a:r>
            <a:r>
              <a:rPr lang="zh-CN" altLang="en-US" sz="2800" dirty="0">
                <a:solidFill>
                  <a:schemeClr val="tx1"/>
                </a:solidFill>
              </a:rPr>
              <a:t>添加用户，取名仍为</a:t>
            </a:r>
            <a:r>
              <a:rPr lang="en-US" altLang="zh-CN" sz="2800" dirty="0">
                <a:solidFill>
                  <a:schemeClr val="tx1"/>
                </a:solidFill>
              </a:rPr>
              <a:t>jerry</a:t>
            </a:r>
            <a:r>
              <a:rPr lang="zh-CN" altLang="en-US" sz="2800" dirty="0">
                <a:solidFill>
                  <a:schemeClr val="tx1"/>
                </a:solidFill>
              </a:rPr>
              <a:t>。</a:t>
            </a:r>
            <a:endParaRPr lang="zh-CN" altLang="en-US" sz="2800" dirty="0">
              <a:solidFill>
                <a:schemeClr val="tx1"/>
              </a:solidFill>
            </a:endParaRPr>
          </a:p>
          <a:p>
            <a:pPr algn="just" eaLnBrk="1" hangingPunct="1">
              <a:lnSpc>
                <a:spcPct val="140000"/>
              </a:lnSpc>
              <a:buNone/>
            </a:pPr>
            <a:r>
              <a:rPr lang="zh-CN" altLang="en-US" sz="2800" b="0" dirty="0">
                <a:solidFill>
                  <a:srgbClr val="CC0000"/>
                </a:solidFill>
                <a:latin typeface="Arial" panose="020B0604020202020204" pitchFamily="34" charset="0"/>
              </a:rPr>
              <a:t>   </a:t>
            </a:r>
            <a:r>
              <a:rPr lang="en-US" altLang="zh-CN" sz="2800" b="0" dirty="0">
                <a:solidFill>
                  <a:schemeClr val="hlink"/>
                </a:solidFill>
                <a:latin typeface="Arial" panose="020B0604020202020204" pitchFamily="34" charset="0"/>
              </a:rPr>
              <a:t>USE</a:t>
            </a:r>
            <a:r>
              <a:rPr lang="en-US" altLang="zh-CN" sz="2800" b="0" dirty="0">
                <a:solidFill>
                  <a:schemeClr val="tx1"/>
                </a:solidFill>
                <a:latin typeface="Arial" panose="020B0604020202020204" pitchFamily="34" charset="0"/>
              </a:rPr>
              <a:t> student</a:t>
            </a:r>
            <a:endParaRPr lang="en-US" altLang="zh-CN" sz="2800" b="0" dirty="0">
              <a:solidFill>
                <a:schemeClr val="tx1"/>
              </a:solidFill>
              <a:latin typeface="Arial" panose="020B0604020202020204" pitchFamily="34" charset="0"/>
            </a:endParaRPr>
          </a:p>
          <a:p>
            <a:pPr algn="just" eaLnBrk="1" hangingPunct="1">
              <a:lnSpc>
                <a:spcPct val="140000"/>
              </a:lnSpc>
              <a:buNone/>
            </a:pPr>
            <a:r>
              <a:rPr lang="en-US" altLang="zh-CN" sz="2800" b="0" dirty="0">
                <a:solidFill>
                  <a:schemeClr val="tx1"/>
                </a:solidFill>
                <a:latin typeface="Arial" panose="020B0604020202020204" pitchFamily="34" charset="0"/>
              </a:rPr>
              <a:t>   </a:t>
            </a:r>
            <a:r>
              <a:rPr lang="en-US" altLang="zh-CN" sz="2800" b="0" dirty="0">
                <a:solidFill>
                  <a:schemeClr val="hlink"/>
                </a:solidFill>
                <a:latin typeface="Arial" panose="020B0604020202020204" pitchFamily="34" charset="0"/>
              </a:rPr>
              <a:t>EXEC</a:t>
            </a:r>
            <a:r>
              <a:rPr lang="en-US" altLang="zh-CN" sz="2800" b="0" dirty="0">
                <a:solidFill>
                  <a:schemeClr val="tx1"/>
                </a:solidFill>
                <a:latin typeface="Arial" panose="020B0604020202020204" pitchFamily="34" charset="0"/>
              </a:rPr>
              <a:t> </a:t>
            </a:r>
            <a:r>
              <a:rPr lang="en-US" altLang="zh-CN" sz="2800" b="0" dirty="0">
                <a:solidFill>
                  <a:srgbClr val="990033"/>
                </a:solidFill>
                <a:latin typeface="Arial" panose="020B0604020202020204" pitchFamily="34" charset="0"/>
              </a:rPr>
              <a:t>sp_grantdbaccess</a:t>
            </a:r>
            <a:r>
              <a:rPr lang="en-US" altLang="zh-CN" sz="2800" b="0" dirty="0">
                <a:solidFill>
                  <a:schemeClr val="tx1"/>
                </a:solidFill>
                <a:latin typeface="Arial" panose="020B0604020202020204" pitchFamily="34" charset="0"/>
              </a:rPr>
              <a:t> </a:t>
            </a:r>
            <a:r>
              <a:rPr lang="en-US" altLang="zh-CN" sz="2800" b="0" dirty="0">
                <a:solidFill>
                  <a:srgbClr val="FF0000"/>
                </a:solidFill>
                <a:latin typeface="Arial" panose="020B0604020202020204" pitchFamily="34" charset="0"/>
              </a:rPr>
              <a:t>'jerry'</a:t>
            </a:r>
            <a:endParaRPr lang="en-US" altLang="zh-CN" sz="2800" b="0" dirty="0">
              <a:solidFill>
                <a:srgbClr val="FF0000"/>
              </a:solidFill>
              <a:latin typeface="Arial" panose="020B0604020202020204" pitchFamily="34" charset="0"/>
            </a:endParaRPr>
          </a:p>
          <a:p>
            <a:pPr algn="just" eaLnBrk="1" hangingPunct="1">
              <a:lnSpc>
                <a:spcPct val="140000"/>
              </a:lnSpc>
              <a:buNone/>
            </a:pPr>
            <a:r>
              <a:rPr lang="zh-CN" altLang="en-US" sz="2800" b="0" dirty="0">
                <a:solidFill>
                  <a:schemeClr val="tx1"/>
                </a:solidFill>
                <a:latin typeface="Arial" panose="020B0604020202020204" pitchFamily="34" charset="0"/>
              </a:rPr>
              <a:t>如另取别名的话，需明确给出参数，如：</a:t>
            </a:r>
            <a:endParaRPr lang="zh-CN" altLang="en-US" sz="2800" b="0" dirty="0">
              <a:solidFill>
                <a:schemeClr val="tx1"/>
              </a:solidFill>
              <a:latin typeface="Arial" panose="020B0604020202020204" pitchFamily="34" charset="0"/>
            </a:endParaRPr>
          </a:p>
          <a:p>
            <a:pPr algn="just" eaLnBrk="1" hangingPunct="1">
              <a:lnSpc>
                <a:spcPct val="140000"/>
              </a:lnSpc>
              <a:buNone/>
            </a:pPr>
            <a:r>
              <a:rPr lang="zh-CN" altLang="en-US" sz="2800" b="0" dirty="0">
                <a:solidFill>
                  <a:schemeClr val="hlink"/>
                </a:solidFill>
                <a:latin typeface="Arial" panose="020B0604020202020204" pitchFamily="34" charset="0"/>
              </a:rPr>
              <a:t>   </a:t>
            </a:r>
            <a:r>
              <a:rPr lang="en-US" altLang="zh-CN" sz="2800" b="0" dirty="0">
                <a:solidFill>
                  <a:schemeClr val="hlink"/>
                </a:solidFill>
                <a:latin typeface="Arial" panose="020B0604020202020204" pitchFamily="34" charset="0"/>
              </a:rPr>
              <a:t>EXEC</a:t>
            </a:r>
            <a:r>
              <a:rPr lang="en-US" altLang="zh-CN" sz="2800" b="0" dirty="0">
                <a:solidFill>
                  <a:schemeClr val="tx1"/>
                </a:solidFill>
                <a:latin typeface="Arial" panose="020B0604020202020204" pitchFamily="34" charset="0"/>
              </a:rPr>
              <a:t> </a:t>
            </a:r>
            <a:r>
              <a:rPr lang="en-US" altLang="zh-CN" sz="2800" b="0" dirty="0">
                <a:solidFill>
                  <a:srgbClr val="990033"/>
                </a:solidFill>
                <a:latin typeface="Arial" panose="020B0604020202020204" pitchFamily="34" charset="0"/>
              </a:rPr>
              <a:t>sp_grantdbaccess</a:t>
            </a:r>
            <a:r>
              <a:rPr lang="en-US" altLang="zh-CN" sz="2800" b="0" dirty="0">
                <a:solidFill>
                  <a:schemeClr val="tx1"/>
                </a:solidFill>
                <a:latin typeface="Arial" panose="020B0604020202020204" pitchFamily="34" charset="0"/>
              </a:rPr>
              <a:t> </a:t>
            </a:r>
            <a:r>
              <a:rPr lang="en-US" altLang="zh-CN" sz="2800" b="0" dirty="0">
                <a:solidFill>
                  <a:srgbClr val="FF0000"/>
                </a:solidFill>
                <a:latin typeface="Arial" panose="020B0604020202020204" pitchFamily="34" charset="0"/>
              </a:rPr>
              <a:t>'jerry '</a:t>
            </a:r>
            <a:r>
              <a:rPr lang="en-US" altLang="zh-CN" sz="2800" b="0" dirty="0">
                <a:solidFill>
                  <a:schemeClr val="tx1"/>
                </a:solidFill>
                <a:latin typeface="Arial" panose="020B0604020202020204" pitchFamily="34" charset="0"/>
              </a:rPr>
              <a:t>, </a:t>
            </a:r>
            <a:r>
              <a:rPr lang="en-US" altLang="zh-CN" sz="2800" b="0" dirty="0">
                <a:solidFill>
                  <a:srgbClr val="FF0000"/>
                </a:solidFill>
                <a:latin typeface="Arial" panose="020B0604020202020204" pitchFamily="34" charset="0"/>
              </a:rPr>
              <a:t>' jerry1 '</a:t>
            </a:r>
            <a:endParaRPr lang="en-US" altLang="zh-CN" sz="2800" b="0" dirty="0">
              <a:solidFill>
                <a:srgbClr val="FF0000"/>
              </a:solidFill>
              <a:latin typeface="Arial" panose="020B0604020202020204" pitchFamily="34" charset="0"/>
            </a:endParaRPr>
          </a:p>
          <a:p>
            <a:pPr algn="just" eaLnBrk="1" hangingPunct="1">
              <a:lnSpc>
                <a:spcPct val="140000"/>
              </a:lnSpc>
              <a:buNone/>
            </a:pPr>
            <a:r>
              <a:rPr lang="en-US" altLang="zh-CN" sz="2800" b="0" i="1" dirty="0">
                <a:solidFill>
                  <a:schemeClr val="tx1"/>
                </a:solidFill>
                <a:latin typeface="Arial" panose="020B0604020202020204" pitchFamily="34" charset="0"/>
              </a:rPr>
              <a:t>	</a:t>
            </a:r>
            <a:r>
              <a:rPr lang="zh-CN" altLang="en-US" sz="2800" b="0" i="1" dirty="0">
                <a:solidFill>
                  <a:schemeClr val="tx1"/>
                </a:solidFill>
                <a:latin typeface="Arial" panose="020B0604020202020204" pitchFamily="34" charset="0"/>
              </a:rPr>
              <a:t>注：</a:t>
            </a:r>
            <a:r>
              <a:rPr lang="en-US" altLang="zh-CN" sz="2800" b="0" i="1" dirty="0">
                <a:solidFill>
                  <a:schemeClr val="tx1"/>
                </a:solidFill>
                <a:latin typeface="Arial" panose="020B0604020202020204" pitchFamily="34" charset="0"/>
              </a:rPr>
              <a:t>grant</a:t>
            </a:r>
            <a:r>
              <a:rPr lang="zh-CN" altLang="en-US" sz="2800" b="0" i="1" dirty="0">
                <a:solidFill>
                  <a:schemeClr val="tx1"/>
                </a:solidFill>
                <a:latin typeface="Arial" panose="020B0604020202020204" pitchFamily="34" charset="0"/>
              </a:rPr>
              <a:t>语句中的</a:t>
            </a:r>
            <a:r>
              <a:rPr lang="en-US" altLang="zh-CN" sz="2800" b="0" i="1" dirty="0">
                <a:solidFill>
                  <a:schemeClr val="tx1"/>
                </a:solidFill>
                <a:latin typeface="Arial" panose="020B0604020202020204" pitchFamily="34" charset="0"/>
              </a:rPr>
              <a:t>to</a:t>
            </a:r>
            <a:r>
              <a:rPr lang="zh-CN" altLang="en-US" sz="2800" b="0" i="1" dirty="0">
                <a:solidFill>
                  <a:schemeClr val="tx1"/>
                </a:solidFill>
                <a:latin typeface="Arial" panose="020B0604020202020204" pitchFamily="34" charset="0"/>
              </a:rPr>
              <a:t>子句，指的就是该用户名，而不是登录名</a:t>
            </a:r>
            <a:endParaRPr lang="zh-CN" altLang="en-US" sz="2800" b="0" i="1" dirty="0">
              <a:solidFill>
                <a:schemeClr val="tx1"/>
              </a:solidFill>
              <a:latin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88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4.2.4  </a:t>
            </a:r>
            <a:r>
              <a:rPr lang="zh-CN" altLang="en-US" sz="3200" dirty="0"/>
              <a:t>授权与回收</a:t>
            </a:r>
            <a:endParaRPr lang="zh-CN" altLang="en-US" sz="3200" dirty="0"/>
          </a:p>
        </p:txBody>
      </p:sp>
      <p:sp>
        <p:nvSpPr>
          <p:cNvPr id="78852" name="Rectangle 3"/>
          <p:cNvSpPr>
            <a:spLocks noGrp="1"/>
          </p:cNvSpPr>
          <p:nvPr>
            <p:ph idx="1"/>
          </p:nvPr>
        </p:nvSpPr>
        <p:spPr>
          <a:xfrm>
            <a:off x="304800" y="838200"/>
            <a:ext cx="8458200" cy="5327650"/>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13] </a:t>
            </a:r>
            <a:r>
              <a:rPr lang="zh-CN" altLang="en-US" dirty="0">
                <a:solidFill>
                  <a:schemeClr val="tx1"/>
                </a:solidFill>
              </a:rPr>
              <a:t>删除数据库</a:t>
            </a:r>
            <a:r>
              <a:rPr lang="en-US" altLang="zh-CN" dirty="0">
                <a:solidFill>
                  <a:schemeClr val="tx1"/>
                </a:solidFill>
              </a:rPr>
              <a:t>student</a:t>
            </a:r>
            <a:r>
              <a:rPr lang="zh-CN" altLang="en-US" dirty="0">
                <a:solidFill>
                  <a:schemeClr val="tx1"/>
                </a:solidFill>
              </a:rPr>
              <a:t>中的用户</a:t>
            </a:r>
            <a:r>
              <a:rPr lang="en-US" altLang="zh-CN" dirty="0">
                <a:solidFill>
                  <a:schemeClr val="tx1"/>
                </a:solidFill>
              </a:rPr>
              <a:t>jerry</a:t>
            </a:r>
            <a:endParaRPr lang="en-US" altLang="zh-CN" dirty="0">
              <a:solidFill>
                <a:schemeClr val="tx1"/>
              </a:solidFill>
            </a:endParaRPr>
          </a:p>
          <a:p>
            <a:pPr algn="just" eaLnBrk="1" hangingPunct="1">
              <a:lnSpc>
                <a:spcPct val="140000"/>
              </a:lnSpc>
              <a:buNone/>
            </a:pPr>
            <a:r>
              <a:rPr lang="en-US" altLang="zh-CN" b="0" dirty="0">
                <a:solidFill>
                  <a:srgbClr val="CC0000"/>
                </a:solidFill>
                <a:latin typeface="Arial" panose="020B0604020202020204" pitchFamily="34" charset="0"/>
              </a:rPr>
              <a:t>   </a:t>
            </a:r>
            <a:r>
              <a:rPr lang="en-US" altLang="zh-CN" b="0" dirty="0">
                <a:solidFill>
                  <a:schemeClr val="hlink"/>
                </a:solidFill>
                <a:latin typeface="Arial" panose="020B0604020202020204" pitchFamily="34" charset="0"/>
              </a:rPr>
              <a:t>USE</a:t>
            </a:r>
            <a:r>
              <a:rPr lang="en-US" altLang="zh-CN" b="0" dirty="0">
                <a:solidFill>
                  <a:schemeClr val="tx1"/>
                </a:solidFill>
                <a:latin typeface="Arial" panose="020B0604020202020204" pitchFamily="34" charset="0"/>
              </a:rPr>
              <a:t> student</a:t>
            </a:r>
            <a:endParaRPr lang="en-US" altLang="zh-CN" b="0" dirty="0">
              <a:solidFill>
                <a:schemeClr val="tx1"/>
              </a:solidFill>
              <a:latin typeface="Arial" panose="020B0604020202020204" pitchFamily="34" charset="0"/>
            </a:endParaRPr>
          </a:p>
          <a:p>
            <a:pPr algn="just" eaLnBrk="1" hangingPunct="1">
              <a:lnSpc>
                <a:spcPct val="140000"/>
              </a:lnSpc>
              <a:buNone/>
            </a:pPr>
            <a:r>
              <a:rPr lang="en-US" altLang="zh-CN" b="0" dirty="0">
                <a:solidFill>
                  <a:schemeClr val="tx1"/>
                </a:solidFill>
                <a:latin typeface="Arial" panose="020B0604020202020204" pitchFamily="34" charset="0"/>
              </a:rPr>
              <a:t>   </a:t>
            </a:r>
            <a:r>
              <a:rPr lang="en-US" altLang="zh-CN" b="0" dirty="0">
                <a:solidFill>
                  <a:schemeClr val="hlink"/>
                </a:solidFill>
                <a:latin typeface="Arial" panose="020B0604020202020204" pitchFamily="34" charset="0"/>
              </a:rPr>
              <a:t>EXEC</a:t>
            </a:r>
            <a:r>
              <a:rPr lang="en-US" altLang="zh-CN" b="0" dirty="0">
                <a:solidFill>
                  <a:schemeClr val="tx1"/>
                </a:solidFill>
                <a:latin typeface="Arial" panose="020B0604020202020204" pitchFamily="34" charset="0"/>
              </a:rPr>
              <a:t> </a:t>
            </a:r>
            <a:r>
              <a:rPr lang="en-US" altLang="zh-CN" b="0" dirty="0">
                <a:solidFill>
                  <a:srgbClr val="990033"/>
                </a:solidFill>
                <a:latin typeface="Arial" panose="020B0604020202020204" pitchFamily="34" charset="0"/>
              </a:rPr>
              <a:t>sp_revokedbaccess</a:t>
            </a:r>
            <a:r>
              <a:rPr lang="en-US" altLang="zh-CN" b="0" dirty="0">
                <a:solidFill>
                  <a:schemeClr val="tx1"/>
                </a:solidFill>
                <a:latin typeface="Arial" panose="020B0604020202020204" pitchFamily="34" charset="0"/>
              </a:rPr>
              <a:t> </a:t>
            </a:r>
            <a:r>
              <a:rPr lang="en-US" altLang="zh-CN" b="0" dirty="0">
                <a:solidFill>
                  <a:srgbClr val="FF0000"/>
                </a:solidFill>
                <a:latin typeface="Arial" panose="020B0604020202020204" pitchFamily="34" charset="0"/>
              </a:rPr>
              <a:t>'jerry'</a:t>
            </a:r>
            <a:endParaRPr lang="en-US" altLang="zh-CN" b="0" dirty="0">
              <a:solidFill>
                <a:srgbClr val="FF0000"/>
              </a:solidFill>
              <a:latin typeface="Arial" panose="020B0604020202020204" pitchFamily="34" charset="0"/>
            </a:endParaRPr>
          </a:p>
          <a:p>
            <a:pPr algn="just" eaLnBrk="1" hangingPunct="1">
              <a:lnSpc>
                <a:spcPct val="140000"/>
              </a:lnSpc>
              <a:buNone/>
            </a:pPr>
            <a:r>
              <a:rPr lang="en-US" altLang="zh-CN" b="0" dirty="0">
                <a:solidFill>
                  <a:srgbClr val="FF0000"/>
                </a:solidFill>
                <a:latin typeface="Arial" panose="020B0604020202020204" pitchFamily="34" charset="0"/>
              </a:rPr>
              <a:t>	</a:t>
            </a:r>
            <a:endParaRPr lang="en-US" altLang="zh-CN" b="0" dirty="0">
              <a:solidFill>
                <a:srgbClr val="FF0000"/>
              </a:solidFill>
              <a:latin typeface="Arial" panose="020B0604020202020204" pitchFamily="34" charset="0"/>
            </a:endParaRPr>
          </a:p>
          <a:p>
            <a:pPr algn="just" eaLnBrk="1" hangingPunct="1">
              <a:lnSpc>
                <a:spcPct val="140000"/>
              </a:lnSpc>
              <a:buNone/>
            </a:pPr>
            <a:r>
              <a:rPr lang="en-US" altLang="zh-CN" b="0" dirty="0">
                <a:solidFill>
                  <a:srgbClr val="FF0000"/>
                </a:solidFill>
                <a:latin typeface="Arial" panose="020B0604020202020204" pitchFamily="34" charset="0"/>
              </a:rPr>
              <a:t>	</a:t>
            </a:r>
            <a:r>
              <a:rPr lang="en-US" altLang="zh-CN" dirty="0">
                <a:solidFill>
                  <a:schemeClr val="tx1"/>
                </a:solidFill>
                <a:latin typeface="Arial" panose="020B0604020202020204" pitchFamily="34" charset="0"/>
              </a:rPr>
              <a:t>Jerry</a:t>
            </a:r>
            <a:r>
              <a:rPr lang="zh-CN" altLang="en-US" dirty="0">
                <a:solidFill>
                  <a:schemeClr val="tx1"/>
                </a:solidFill>
                <a:latin typeface="Arial" panose="020B0604020202020204" pitchFamily="34" charset="0"/>
              </a:rPr>
              <a:t>仍可登陆到服务器，只是不再能够访问数据库</a:t>
            </a:r>
            <a:r>
              <a:rPr lang="en-US" altLang="zh-CN" dirty="0">
                <a:solidFill>
                  <a:schemeClr val="tx1"/>
                </a:solidFill>
                <a:latin typeface="Arial" panose="020B0604020202020204" pitchFamily="34" charset="0"/>
              </a:rPr>
              <a:t>student</a:t>
            </a:r>
            <a:r>
              <a:rPr lang="zh-CN" altLang="en-US" dirty="0">
                <a:solidFill>
                  <a:schemeClr val="tx1"/>
                </a:solidFill>
                <a:latin typeface="Arial" panose="020B0604020202020204" pitchFamily="34" charset="0"/>
              </a:rPr>
              <a:t>而已</a:t>
            </a:r>
            <a:r>
              <a:rPr lang="en-US" altLang="zh-CN" dirty="0">
                <a:solidFill>
                  <a:schemeClr val="tx1"/>
                </a:solidFill>
                <a:latin typeface="Arial" panose="020B0604020202020204" pitchFamily="34" charset="0"/>
              </a:rPr>
              <a:t>.</a:t>
            </a:r>
            <a:endParaRPr lang="en-US" altLang="zh-CN" dirty="0">
              <a:solidFill>
                <a:schemeClr val="tx1"/>
              </a:solidFill>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98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79876"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zh-CN" altLang="en-US" dirty="0">
                <a:solidFill>
                  <a:schemeClr val="tx1"/>
                </a:solidFill>
              </a:rPr>
              <a:t>管理角色：</a:t>
            </a:r>
            <a:endParaRPr lang="zh-CN" altLang="en-US" dirty="0">
              <a:solidFill>
                <a:schemeClr val="tx1"/>
              </a:solidFill>
            </a:endParaRPr>
          </a:p>
          <a:p>
            <a:pPr lvl="1" eaLnBrk="1" hangingPunct="1">
              <a:lnSpc>
                <a:spcPct val="120000"/>
              </a:lnSpc>
              <a:spcBef>
                <a:spcPct val="15000"/>
              </a:spcBef>
            </a:pPr>
            <a:r>
              <a:rPr lang="en-US" altLang="zh-CN" dirty="0"/>
              <a:t>sp_addrole</a:t>
            </a:r>
            <a:endParaRPr lang="en-US" altLang="zh-CN" dirty="0"/>
          </a:p>
          <a:p>
            <a:pPr lvl="1" eaLnBrk="1" hangingPunct="1">
              <a:lnSpc>
                <a:spcPct val="120000"/>
              </a:lnSpc>
              <a:spcBef>
                <a:spcPct val="15000"/>
              </a:spcBef>
            </a:pPr>
            <a:r>
              <a:rPr lang="en-US" altLang="zh-CN" dirty="0">
                <a:ea typeface="Arial Unicode MS" pitchFamily="34" charset="-122"/>
              </a:rPr>
              <a:t>s</a:t>
            </a:r>
            <a:r>
              <a:rPr lang="" altLang="zh-CN" dirty="0">
                <a:ea typeface="Arial Unicode MS" pitchFamily="34" charset="-122"/>
              </a:rPr>
              <a:t>p_</a:t>
            </a:r>
            <a:r>
              <a:rPr lang="en-US" altLang="zh-CN" dirty="0">
                <a:ea typeface="Arial Unicode MS" pitchFamily="34" charset="-122"/>
              </a:rPr>
              <a:t>addrolemember</a:t>
            </a:r>
            <a:endParaRPr lang="en-US" altLang="zh-CN" dirty="0">
              <a:ea typeface="Arial Unicode MS" pitchFamily="34" charset="-122"/>
            </a:endParaRPr>
          </a:p>
          <a:p>
            <a:pPr lvl="1" eaLnBrk="1" hangingPunct="1">
              <a:lnSpc>
                <a:spcPct val="120000"/>
              </a:lnSpc>
              <a:spcBef>
                <a:spcPct val="15000"/>
              </a:spcBef>
            </a:pPr>
            <a:r>
              <a:rPr lang="en-US" altLang="zh-CN" dirty="0"/>
              <a:t>Sp_droprole</a:t>
            </a:r>
            <a:r>
              <a:rPr lang="" altLang="zh-CN" dirty="0"/>
              <a:t> </a:t>
            </a:r>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08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80900"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solidFill>
                  <a:schemeClr val="tx1"/>
                </a:solidFill>
              </a:rPr>
              <a:t>Sp_addrole</a:t>
            </a:r>
            <a:endParaRPr lang="en-US" altLang="zh-CN" dirty="0">
              <a:solidFill>
                <a:schemeClr val="tx1"/>
              </a:solidFill>
            </a:endParaRPr>
          </a:p>
          <a:p>
            <a:pPr eaLnBrk="1" hangingPunct="1">
              <a:lnSpc>
                <a:spcPct val="120000"/>
              </a:lnSpc>
              <a:spcBef>
                <a:spcPct val="15000"/>
              </a:spcBef>
              <a:buNone/>
            </a:pPr>
            <a:r>
              <a:rPr lang="en-US" altLang="zh-CN" dirty="0"/>
              <a:t>   </a:t>
            </a:r>
            <a:r>
              <a:rPr lang="en-US" altLang="zh-CN" b="0" dirty="0">
                <a:solidFill>
                  <a:srgbClr val="990033"/>
                </a:solidFill>
                <a:latin typeface="Arial" panose="020B0604020202020204" pitchFamily="34" charset="0"/>
              </a:rPr>
              <a:t>sp_addrole</a:t>
            </a:r>
            <a:r>
              <a:rPr lang="en-US" altLang="zh-CN" b="0" dirty="0">
                <a:latin typeface="Arial" panose="020B0604020202020204" pitchFamily="34" charset="0"/>
              </a:rPr>
              <a:t> </a:t>
            </a:r>
            <a:r>
              <a:rPr lang="en-US" altLang="zh-CN" b="0" dirty="0">
                <a:solidFill>
                  <a:schemeClr val="tx1"/>
                </a:solidFill>
                <a:latin typeface="Arial" panose="020B0604020202020204" pitchFamily="34" charset="0"/>
              </a:rPr>
              <a:t>[ @rolename = ] 'role'</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tx1"/>
                </a:solidFill>
                <a:latin typeface="Arial" panose="020B0604020202020204" pitchFamily="34" charset="0"/>
              </a:rPr>
              <a:t>    [ , [ @ownername = ] 'owner'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endParaRPr lang="en-US" altLang="zh-CN" b="0" dirty="0">
              <a:solidFill>
                <a:schemeClr val="tx1"/>
              </a:solidFill>
              <a:latin typeface="Arial" panose="020B0604020202020204" pitchFamily="34" charset="0"/>
            </a:endParaRPr>
          </a:p>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14] </a:t>
            </a:r>
            <a:r>
              <a:rPr lang="zh-CN" altLang="en-US" dirty="0">
                <a:solidFill>
                  <a:schemeClr val="tx1"/>
                </a:solidFill>
              </a:rPr>
              <a:t>为数据库</a:t>
            </a:r>
            <a:r>
              <a:rPr lang="en-US" altLang="zh-CN" dirty="0">
                <a:solidFill>
                  <a:schemeClr val="tx1"/>
                </a:solidFill>
              </a:rPr>
              <a:t>student</a:t>
            </a:r>
            <a:r>
              <a:rPr lang="zh-CN" altLang="en-US" dirty="0">
                <a:solidFill>
                  <a:schemeClr val="tx1"/>
                </a:solidFill>
              </a:rPr>
              <a:t>建角色</a:t>
            </a:r>
            <a:r>
              <a:rPr lang="zh-CN" altLang="en-US" dirty="0">
                <a:solidFill>
                  <a:schemeClr val="tx1"/>
                </a:solidFill>
                <a:latin typeface="Arial" panose="020B0604020202020204" pitchFamily="34" charset="0"/>
              </a:rPr>
              <a:t>‘</a:t>
            </a:r>
            <a:r>
              <a:rPr lang="zh-CN" altLang="en-US" dirty="0">
                <a:solidFill>
                  <a:schemeClr val="tx1"/>
                </a:solidFill>
              </a:rPr>
              <a:t>记分员</a:t>
            </a:r>
            <a:r>
              <a:rPr lang="zh-CN" altLang="en-US" dirty="0">
                <a:solidFill>
                  <a:schemeClr val="tx1"/>
                </a:solidFill>
                <a:latin typeface="Arial" panose="020B0604020202020204" pitchFamily="34" charset="0"/>
              </a:rPr>
              <a:t>’</a:t>
            </a:r>
            <a:endParaRPr lang="zh-CN" altLang="en-US" dirty="0">
              <a:solidFill>
                <a:schemeClr val="tx1"/>
              </a:solidFill>
            </a:endParaRPr>
          </a:p>
          <a:p>
            <a:pPr eaLnBrk="1" hangingPunct="1">
              <a:lnSpc>
                <a:spcPct val="120000"/>
              </a:lnSpc>
              <a:spcBef>
                <a:spcPct val="15000"/>
              </a:spcBef>
              <a:buNone/>
            </a:pPr>
            <a:r>
              <a:rPr lang="en-US" altLang="zh-CN" b="0" dirty="0">
                <a:solidFill>
                  <a:schemeClr val="accent2"/>
                </a:solidFill>
                <a:latin typeface="Arial" panose="020B0604020202020204" pitchFamily="34" charset="0"/>
              </a:rPr>
              <a:t>USE</a:t>
            </a:r>
            <a:r>
              <a:rPr lang="en-US" altLang="zh-CN" b="0" dirty="0">
                <a:solidFill>
                  <a:schemeClr val="tx1"/>
                </a:solidFill>
                <a:latin typeface="Arial" panose="020B0604020202020204" pitchFamily="34" charset="0"/>
              </a:rPr>
              <a:t>  student</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accent2"/>
                </a:solidFill>
                <a:latin typeface="Arial" panose="020B0604020202020204" pitchFamily="34" charset="0"/>
              </a:rPr>
              <a:t>EXEC</a:t>
            </a:r>
            <a:r>
              <a:rPr lang="en-US" altLang="zh-CN" b="0" dirty="0">
                <a:solidFill>
                  <a:schemeClr val="tx1"/>
                </a:solidFill>
                <a:latin typeface="Arial" panose="020B0604020202020204" pitchFamily="34" charset="0"/>
              </a:rPr>
              <a:t> </a:t>
            </a:r>
            <a:r>
              <a:rPr lang="en-US" altLang="zh-CN" b="0" dirty="0">
                <a:solidFill>
                  <a:srgbClr val="990033"/>
                </a:solidFill>
                <a:latin typeface="Arial" panose="020B0604020202020204" pitchFamily="34" charset="0"/>
              </a:rPr>
              <a:t>sp_addrole</a:t>
            </a:r>
            <a:r>
              <a:rPr lang="en-US" altLang="zh-CN" b="0" dirty="0">
                <a:solidFill>
                  <a:schemeClr val="tx1"/>
                </a:solidFill>
                <a:latin typeface="Arial" panose="020B0604020202020204" pitchFamily="34" charset="0"/>
              </a:rPr>
              <a:t>  </a:t>
            </a:r>
            <a:r>
              <a:rPr lang="en-US" altLang="zh-CN" b="0" dirty="0">
                <a:solidFill>
                  <a:srgbClr val="FF0000"/>
                </a:solidFill>
                <a:latin typeface="Arial" panose="020B0604020202020204" pitchFamily="34" charset="0"/>
              </a:rPr>
              <a:t>'</a:t>
            </a:r>
            <a:r>
              <a:rPr lang="zh-CN" altLang="en-US" b="0" dirty="0">
                <a:solidFill>
                  <a:srgbClr val="FF0000"/>
                </a:solidFill>
                <a:latin typeface="Arial" panose="020B0604020202020204" pitchFamily="34" charset="0"/>
              </a:rPr>
              <a:t>记分员</a:t>
            </a:r>
            <a:r>
              <a:rPr lang="en-US" altLang="zh-CN" b="0" dirty="0">
                <a:solidFill>
                  <a:srgbClr val="FF0000"/>
                </a:solidFill>
                <a:latin typeface="Arial" panose="020B0604020202020204" pitchFamily="34" charset="0"/>
              </a:rPr>
              <a:t>'</a:t>
            </a:r>
            <a:endParaRPr lang="en-US" altLang="zh-CN" b="0" dirty="0">
              <a:solidFill>
                <a:srgbClr val="FF0000"/>
              </a:solidFill>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81924" name="Rectangle 3"/>
          <p:cNvSpPr>
            <a:spLocks noGrp="1"/>
          </p:cNvSpPr>
          <p:nvPr>
            <p:ph idx="1"/>
          </p:nvPr>
        </p:nvSpPr>
        <p:spPr>
          <a:xfrm>
            <a:off x="304800" y="838200"/>
            <a:ext cx="8458200" cy="5830888"/>
          </a:xfrm>
          <a:ln/>
        </p:spPr>
        <p:txBody>
          <a:bodyPr vert="horz" wrap="square" lIns="91440" tIns="45720" rIns="91440" bIns="45720" anchor="t" anchorCtr="0"/>
          <a:p>
            <a:pPr eaLnBrk="1" hangingPunct="1">
              <a:lnSpc>
                <a:spcPct val="120000"/>
              </a:lnSpc>
              <a:spcBef>
                <a:spcPct val="15000"/>
              </a:spcBef>
            </a:pPr>
            <a:r>
              <a:rPr lang="en-US" altLang="zh-CN" dirty="0">
                <a:solidFill>
                  <a:schemeClr val="tx1"/>
                </a:solidFill>
              </a:rPr>
              <a:t>Sp_addrolemember</a:t>
            </a:r>
            <a:endParaRPr lang="en-US" altLang="zh-CN" dirty="0">
              <a:solidFill>
                <a:schemeClr val="tx1"/>
              </a:solidFill>
            </a:endParaRPr>
          </a:p>
          <a:p>
            <a:pPr eaLnBrk="1" hangingPunct="1">
              <a:lnSpc>
                <a:spcPct val="120000"/>
              </a:lnSpc>
              <a:spcBef>
                <a:spcPct val="15000"/>
              </a:spcBef>
              <a:buNone/>
            </a:pPr>
            <a:r>
              <a:rPr lang="en-US" altLang="zh-CN" dirty="0"/>
              <a:t>   </a:t>
            </a:r>
            <a:r>
              <a:rPr lang="en-US" altLang="zh-CN" b="0" dirty="0">
                <a:solidFill>
                  <a:srgbClr val="990033"/>
                </a:solidFill>
                <a:latin typeface="Arial" panose="020B0604020202020204" pitchFamily="34" charset="0"/>
              </a:rPr>
              <a:t>sp_addrolemember</a:t>
            </a:r>
            <a:r>
              <a:rPr lang="en-US" altLang="zh-CN" b="0" dirty="0">
                <a:latin typeface="Arial" panose="020B0604020202020204" pitchFamily="34" charset="0"/>
              </a:rPr>
              <a:t> </a:t>
            </a:r>
            <a:r>
              <a:rPr lang="en-US" altLang="zh-CN" b="0" dirty="0">
                <a:solidFill>
                  <a:schemeClr val="tx1"/>
                </a:solidFill>
                <a:latin typeface="Arial" panose="020B0604020202020204" pitchFamily="34" charset="0"/>
              </a:rPr>
              <a:t>[ @rolename = ] 'role'</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tx1"/>
                </a:solidFill>
                <a:latin typeface="Arial" panose="020B0604020202020204" pitchFamily="34" charset="0"/>
              </a:rPr>
              <a:t>    [ , [ @membername = ] ‘user' ]</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endParaRPr lang="en-US" altLang="zh-CN" b="0" dirty="0">
              <a:solidFill>
                <a:schemeClr val="tx1"/>
              </a:solidFill>
              <a:latin typeface="Arial" panose="020B0604020202020204" pitchFamily="34" charset="0"/>
            </a:endParaRPr>
          </a:p>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15] </a:t>
            </a:r>
            <a:r>
              <a:rPr lang="zh-CN" altLang="en-US" dirty="0">
                <a:solidFill>
                  <a:schemeClr val="tx1"/>
                </a:solidFill>
              </a:rPr>
              <a:t>指定</a:t>
            </a:r>
            <a:r>
              <a:rPr lang="en-US" altLang="zh-CN" dirty="0">
                <a:solidFill>
                  <a:schemeClr val="tx1"/>
                </a:solidFill>
              </a:rPr>
              <a:t>jerry</a:t>
            </a:r>
            <a:r>
              <a:rPr lang="zh-CN" altLang="en-US" dirty="0">
                <a:solidFill>
                  <a:schemeClr val="tx1"/>
                </a:solidFill>
              </a:rPr>
              <a:t>为记分员</a:t>
            </a:r>
            <a:endParaRPr lang="zh-CN" altLang="en-US" dirty="0">
              <a:solidFill>
                <a:schemeClr val="tx1"/>
              </a:solidFill>
            </a:endParaRPr>
          </a:p>
          <a:p>
            <a:pPr eaLnBrk="1" hangingPunct="1">
              <a:lnSpc>
                <a:spcPct val="120000"/>
              </a:lnSpc>
              <a:spcBef>
                <a:spcPct val="15000"/>
              </a:spcBef>
              <a:buNone/>
            </a:pPr>
            <a:r>
              <a:rPr lang="en-US" altLang="zh-CN" b="0" dirty="0">
                <a:solidFill>
                  <a:schemeClr val="accent2"/>
                </a:solidFill>
                <a:latin typeface="Arial" panose="020B0604020202020204" pitchFamily="34" charset="0"/>
              </a:rPr>
              <a:t>USE</a:t>
            </a:r>
            <a:r>
              <a:rPr lang="en-US" altLang="zh-CN" b="0" dirty="0">
                <a:solidFill>
                  <a:schemeClr val="tx1"/>
                </a:solidFill>
                <a:latin typeface="Arial" panose="020B0604020202020204" pitchFamily="34" charset="0"/>
              </a:rPr>
              <a:t>  student</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accent2"/>
                </a:solidFill>
                <a:latin typeface="Arial" panose="020B0604020202020204" pitchFamily="34" charset="0"/>
              </a:rPr>
              <a:t>EXEC</a:t>
            </a:r>
            <a:r>
              <a:rPr lang="en-US" altLang="zh-CN" b="0" dirty="0">
                <a:solidFill>
                  <a:schemeClr val="tx1"/>
                </a:solidFill>
                <a:latin typeface="Arial" panose="020B0604020202020204" pitchFamily="34" charset="0"/>
              </a:rPr>
              <a:t> </a:t>
            </a:r>
            <a:r>
              <a:rPr lang="en-US" altLang="zh-CN" b="0" dirty="0">
                <a:solidFill>
                  <a:srgbClr val="990033"/>
                </a:solidFill>
                <a:latin typeface="Arial" panose="020B0604020202020204" pitchFamily="34" charset="0"/>
              </a:rPr>
              <a:t>sp_addrolemember</a:t>
            </a:r>
            <a:r>
              <a:rPr lang="en-US" altLang="zh-CN" b="0" dirty="0">
                <a:solidFill>
                  <a:schemeClr val="tx1"/>
                </a:solidFill>
                <a:latin typeface="Arial" panose="020B0604020202020204" pitchFamily="34" charset="0"/>
              </a:rPr>
              <a:t>  </a:t>
            </a:r>
            <a:r>
              <a:rPr lang="en-US" altLang="zh-CN" b="0" dirty="0">
                <a:solidFill>
                  <a:srgbClr val="FF0000"/>
                </a:solidFill>
                <a:latin typeface="Arial" panose="020B0604020202020204" pitchFamily="34" charset="0"/>
              </a:rPr>
              <a:t>'</a:t>
            </a:r>
            <a:r>
              <a:rPr lang="zh-CN" altLang="en-US" b="0" dirty="0">
                <a:solidFill>
                  <a:srgbClr val="FF0000"/>
                </a:solidFill>
                <a:latin typeface="Arial" panose="020B0604020202020204" pitchFamily="34" charset="0"/>
              </a:rPr>
              <a:t>记分员</a:t>
            </a:r>
            <a:r>
              <a:rPr lang="en-US" altLang="zh-CN" b="0" dirty="0">
                <a:solidFill>
                  <a:srgbClr val="FF0000"/>
                </a:solidFill>
                <a:latin typeface="Arial" panose="020B0604020202020204" pitchFamily="34" charset="0"/>
              </a:rPr>
              <a:t>', ‘jerry'</a:t>
            </a:r>
            <a:endParaRPr lang="en-US" altLang="zh-CN" b="0" dirty="0">
              <a:solidFill>
                <a:srgbClr val="FF0000"/>
              </a:solidFill>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29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4.2.5  </a:t>
            </a:r>
            <a:r>
              <a:rPr lang="zh-CN" altLang="en-US" sz="3200" dirty="0"/>
              <a:t>数据库角色</a:t>
            </a:r>
            <a:endParaRPr lang="zh-CN" altLang="en-US" sz="3200" dirty="0"/>
          </a:p>
        </p:txBody>
      </p:sp>
      <p:sp>
        <p:nvSpPr>
          <p:cNvPr id="82948" name="Rectangle 3"/>
          <p:cNvSpPr>
            <a:spLocks noGrp="1"/>
          </p:cNvSpPr>
          <p:nvPr>
            <p:ph idx="1"/>
          </p:nvPr>
        </p:nvSpPr>
        <p:spPr>
          <a:xfrm>
            <a:off x="304800" y="838200"/>
            <a:ext cx="8458200" cy="5830888"/>
          </a:xfrm>
          <a:ln/>
        </p:spPr>
        <p:txBody>
          <a:bodyPr vert="horz" wrap="square" lIns="91440" tIns="45720" rIns="91440" bIns="45720" anchor="t" anchorCtr="0"/>
          <a:p>
            <a:pPr algn="just" eaLnBrk="1" hangingPunct="1">
              <a:lnSpc>
                <a:spcPct val="14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16] </a:t>
            </a:r>
            <a:r>
              <a:rPr lang="zh-CN" altLang="en-US" dirty="0">
                <a:solidFill>
                  <a:schemeClr val="tx1"/>
                </a:solidFill>
              </a:rPr>
              <a:t>指定</a:t>
            </a:r>
            <a:r>
              <a:rPr lang="en-US" altLang="zh-CN" dirty="0">
                <a:solidFill>
                  <a:schemeClr val="tx1"/>
                </a:solidFill>
              </a:rPr>
              <a:t>jerry</a:t>
            </a:r>
            <a:r>
              <a:rPr lang="zh-CN" altLang="en-US" dirty="0">
                <a:solidFill>
                  <a:schemeClr val="tx1"/>
                </a:solidFill>
              </a:rPr>
              <a:t>为</a:t>
            </a:r>
            <a:r>
              <a:rPr lang="en-US" altLang="zh-CN" dirty="0">
                <a:solidFill>
                  <a:schemeClr val="tx1"/>
                </a:solidFill>
              </a:rPr>
              <a:t>student</a:t>
            </a:r>
            <a:r>
              <a:rPr lang="zh-CN" altLang="en-US" dirty="0">
                <a:solidFill>
                  <a:schemeClr val="tx1"/>
                </a:solidFill>
              </a:rPr>
              <a:t>数据库的属主</a:t>
            </a:r>
            <a:endParaRPr lang="zh-CN" altLang="en-US" dirty="0">
              <a:solidFill>
                <a:schemeClr val="tx1"/>
              </a:solidFill>
            </a:endParaRPr>
          </a:p>
          <a:p>
            <a:pPr eaLnBrk="1" hangingPunct="1">
              <a:lnSpc>
                <a:spcPct val="120000"/>
              </a:lnSpc>
              <a:spcBef>
                <a:spcPct val="15000"/>
              </a:spcBef>
              <a:buNone/>
            </a:pPr>
            <a:r>
              <a:rPr lang="en-US" altLang="zh-CN" b="0" dirty="0">
                <a:solidFill>
                  <a:schemeClr val="accent2"/>
                </a:solidFill>
                <a:latin typeface="Arial" panose="020B0604020202020204" pitchFamily="34" charset="0"/>
              </a:rPr>
              <a:t>USE</a:t>
            </a:r>
            <a:r>
              <a:rPr lang="en-US" altLang="zh-CN" b="0" dirty="0">
                <a:solidFill>
                  <a:schemeClr val="tx1"/>
                </a:solidFill>
                <a:latin typeface="Arial" panose="020B0604020202020204" pitchFamily="34" charset="0"/>
              </a:rPr>
              <a:t>  student</a:t>
            </a:r>
            <a:endParaRPr lang="en-US" altLang="zh-CN" b="0" dirty="0">
              <a:solidFill>
                <a:schemeClr val="tx1"/>
              </a:solidFill>
              <a:latin typeface="Arial" panose="020B0604020202020204" pitchFamily="34" charset="0"/>
            </a:endParaRPr>
          </a:p>
          <a:p>
            <a:pPr eaLnBrk="1" hangingPunct="1">
              <a:lnSpc>
                <a:spcPct val="120000"/>
              </a:lnSpc>
              <a:spcBef>
                <a:spcPct val="15000"/>
              </a:spcBef>
              <a:buNone/>
            </a:pPr>
            <a:r>
              <a:rPr lang="en-US" altLang="zh-CN" b="0" dirty="0">
                <a:solidFill>
                  <a:schemeClr val="accent2"/>
                </a:solidFill>
                <a:latin typeface="Arial" panose="020B0604020202020204" pitchFamily="34" charset="0"/>
              </a:rPr>
              <a:t>EXEC</a:t>
            </a:r>
            <a:r>
              <a:rPr lang="en-US" altLang="zh-CN" b="0" dirty="0">
                <a:solidFill>
                  <a:schemeClr val="tx1"/>
                </a:solidFill>
                <a:latin typeface="Arial" panose="020B0604020202020204" pitchFamily="34" charset="0"/>
              </a:rPr>
              <a:t> </a:t>
            </a:r>
            <a:r>
              <a:rPr lang="en-US" altLang="zh-CN" b="0" dirty="0">
                <a:solidFill>
                  <a:srgbClr val="990033"/>
                </a:solidFill>
                <a:latin typeface="Arial" panose="020B0604020202020204" pitchFamily="34" charset="0"/>
              </a:rPr>
              <a:t>sp_addrolemember</a:t>
            </a:r>
            <a:r>
              <a:rPr lang="en-US" altLang="zh-CN" b="0" dirty="0">
                <a:solidFill>
                  <a:schemeClr val="tx1"/>
                </a:solidFill>
                <a:latin typeface="Arial" panose="020B0604020202020204" pitchFamily="34" charset="0"/>
              </a:rPr>
              <a:t>  </a:t>
            </a:r>
            <a:r>
              <a:rPr lang="en-US" altLang="zh-CN" b="0" dirty="0">
                <a:solidFill>
                  <a:srgbClr val="FF0000"/>
                </a:solidFill>
                <a:latin typeface="Arial" panose="020B0604020202020204" pitchFamily="34" charset="0"/>
              </a:rPr>
              <a:t>‘db_owner', ‘jerry‘</a:t>
            </a:r>
            <a:endParaRPr lang="en-US" altLang="zh-CN" b="0" dirty="0">
              <a:solidFill>
                <a:srgbClr val="FF0000"/>
              </a:solidFill>
              <a:latin typeface="Arial" panose="020B0604020202020204" pitchFamily="34" charset="0"/>
            </a:endParaRPr>
          </a:p>
          <a:p>
            <a:pPr eaLnBrk="1" hangingPunct="1">
              <a:lnSpc>
                <a:spcPct val="120000"/>
              </a:lnSpc>
              <a:spcBef>
                <a:spcPct val="15000"/>
              </a:spcBef>
              <a:buNone/>
            </a:pPr>
            <a:r>
              <a:rPr lang="zh-CN" altLang="en-US" b="0" i="1" dirty="0">
                <a:solidFill>
                  <a:schemeClr val="tx1"/>
                </a:solidFill>
                <a:latin typeface="Arial" panose="020B0604020202020204" pitchFamily="34" charset="0"/>
              </a:rPr>
              <a:t>注</a:t>
            </a:r>
            <a:r>
              <a:rPr lang="en-US" altLang="zh-CN" b="0" i="1" dirty="0">
                <a:solidFill>
                  <a:schemeClr val="tx1"/>
                </a:solidFill>
                <a:latin typeface="Arial" panose="020B0604020202020204" pitchFamily="34" charset="0"/>
                <a:sym typeface="Wingdings" panose="05000000000000000000" pitchFamily="2" charset="2"/>
              </a:rPr>
              <a:t>: (1) </a:t>
            </a:r>
            <a:r>
              <a:rPr lang="en-US" altLang="zh-CN" b="0" i="1" dirty="0">
                <a:solidFill>
                  <a:schemeClr val="tx1"/>
                </a:solidFill>
                <a:latin typeface="Arial" panose="020B0604020202020204" pitchFamily="34" charset="0"/>
              </a:rPr>
              <a:t>db_owner</a:t>
            </a:r>
            <a:r>
              <a:rPr lang="zh-CN" altLang="en-US" b="0" i="1" dirty="0">
                <a:solidFill>
                  <a:schemeClr val="tx1"/>
                </a:solidFill>
                <a:latin typeface="Arial" panose="020B0604020202020204" pitchFamily="34" charset="0"/>
              </a:rPr>
              <a:t>为数据库预设角色</a:t>
            </a:r>
            <a:endParaRPr lang="zh-CN" altLang="en-US" b="0" i="1" dirty="0">
              <a:solidFill>
                <a:schemeClr val="tx1"/>
              </a:solidFill>
              <a:latin typeface="Arial" panose="020B0604020202020204" pitchFamily="34" charset="0"/>
            </a:endParaRPr>
          </a:p>
          <a:p>
            <a:pPr eaLnBrk="1" hangingPunct="1">
              <a:lnSpc>
                <a:spcPct val="120000"/>
              </a:lnSpc>
              <a:spcBef>
                <a:spcPct val="15000"/>
              </a:spcBef>
              <a:buNone/>
            </a:pPr>
            <a:r>
              <a:rPr lang="zh-CN" altLang="en-US" b="0" i="1" dirty="0">
                <a:solidFill>
                  <a:schemeClr val="tx1"/>
                </a:solidFill>
                <a:latin typeface="Arial" panose="020B0604020202020204" pitchFamily="34" charset="0"/>
              </a:rPr>
              <a:t>      </a:t>
            </a:r>
            <a:r>
              <a:rPr lang="en-US" altLang="zh-CN" b="0" i="1" dirty="0">
                <a:solidFill>
                  <a:schemeClr val="tx1"/>
                </a:solidFill>
                <a:latin typeface="Arial" panose="020B0604020202020204" pitchFamily="34" charset="0"/>
              </a:rPr>
              <a:t>(2) </a:t>
            </a:r>
            <a:r>
              <a:rPr lang="zh-CN" altLang="en-US" b="0" i="1" dirty="0">
                <a:solidFill>
                  <a:schemeClr val="tx1"/>
                </a:solidFill>
                <a:latin typeface="Arial" panose="020B0604020202020204" pitchFamily="34" charset="0"/>
              </a:rPr>
              <a:t>为服务器角色添加用户可用</a:t>
            </a:r>
            <a:endParaRPr lang="zh-CN" altLang="en-US" b="0" i="1" dirty="0">
              <a:solidFill>
                <a:schemeClr val="tx1"/>
              </a:solidFill>
              <a:latin typeface="Arial" panose="020B0604020202020204" pitchFamily="34" charset="0"/>
            </a:endParaRPr>
          </a:p>
          <a:p>
            <a:pPr eaLnBrk="1" hangingPunct="1">
              <a:lnSpc>
                <a:spcPct val="120000"/>
              </a:lnSpc>
              <a:spcBef>
                <a:spcPct val="15000"/>
              </a:spcBef>
              <a:buNone/>
            </a:pPr>
            <a:r>
              <a:rPr lang="zh-CN" altLang="en-US" b="0" i="1" dirty="0">
                <a:solidFill>
                  <a:schemeClr val="tx1"/>
                </a:solidFill>
                <a:latin typeface="Arial" panose="020B0604020202020204" pitchFamily="34" charset="0"/>
              </a:rPr>
              <a:t>            </a:t>
            </a:r>
            <a:r>
              <a:rPr lang="en-US" altLang="zh-CN" b="0" i="1" dirty="0">
                <a:solidFill>
                  <a:srgbClr val="990033"/>
                </a:solidFill>
                <a:latin typeface="Arial" panose="020B0604020202020204" pitchFamily="34" charset="0"/>
              </a:rPr>
              <a:t>sp_addsrvrolemember</a:t>
            </a:r>
            <a:r>
              <a:rPr lang="en-US" altLang="zh-CN" b="0" i="1" dirty="0">
                <a:solidFill>
                  <a:schemeClr val="tx1"/>
                </a:solidFill>
                <a:latin typeface="Arial" panose="020B0604020202020204" pitchFamily="34" charset="0"/>
              </a:rPr>
              <a:t>  , </a:t>
            </a:r>
            <a:r>
              <a:rPr lang="zh-CN" altLang="en-US" b="0" i="1" dirty="0">
                <a:solidFill>
                  <a:schemeClr val="tx1"/>
                </a:solidFill>
                <a:latin typeface="Arial" panose="020B0604020202020204" pitchFamily="34" charset="0"/>
              </a:rPr>
              <a:t>用法类似</a:t>
            </a:r>
            <a:endParaRPr lang="zh-CN" altLang="en-US" b="0" i="1" dirty="0">
              <a:solidFill>
                <a:schemeClr val="tx1"/>
              </a:solidFill>
              <a:latin typeface="Arial" panose="020B0604020202020204" pitchFamily="34" charset="0"/>
            </a:endParaRPr>
          </a:p>
          <a:p>
            <a:pPr eaLnBrk="1" hangingPunct="1">
              <a:lnSpc>
                <a:spcPct val="120000"/>
              </a:lnSpc>
              <a:spcBef>
                <a:spcPct val="15000"/>
              </a:spcBef>
              <a:buNone/>
            </a:pPr>
            <a:r>
              <a:rPr lang="zh-CN" altLang="en-US" b="0" i="1" dirty="0">
                <a:solidFill>
                  <a:schemeClr val="tx1"/>
                </a:solidFill>
                <a:latin typeface="Arial" panose="020B0604020202020204" pitchFamily="34" charset="0"/>
              </a:rPr>
              <a:t>      </a:t>
            </a:r>
            <a:r>
              <a:rPr lang="en-US" altLang="zh-CN" b="0" i="1" dirty="0">
                <a:solidFill>
                  <a:schemeClr val="tx1"/>
                </a:solidFill>
                <a:latin typeface="Arial" panose="020B0604020202020204" pitchFamily="34" charset="0"/>
              </a:rPr>
              <a:t>(3)</a:t>
            </a:r>
            <a:r>
              <a:rPr lang="en-US" altLang="zh-CN" b="0" dirty="0">
                <a:solidFill>
                  <a:srgbClr val="FF0000"/>
                </a:solidFill>
                <a:latin typeface="Arial" panose="020B0604020202020204" pitchFamily="34" charset="0"/>
              </a:rPr>
              <a:t> </a:t>
            </a:r>
            <a:r>
              <a:rPr lang="zh-CN" altLang="en-US" b="0" i="1" dirty="0">
                <a:solidFill>
                  <a:schemeClr val="tx1"/>
                </a:solidFill>
                <a:latin typeface="Arial" panose="020B0604020202020204" pitchFamily="34" charset="0"/>
              </a:rPr>
              <a:t>不能自定义服务器的角色</a:t>
            </a:r>
            <a:endParaRPr lang="zh-CN" altLang="en-US" b="0" i="1" dirty="0">
              <a:solidFill>
                <a:schemeClr val="tx1"/>
              </a:solidFill>
              <a:latin typeface="Arial" panose="020B0604020202020204" pitchFamily="34" charset="0"/>
            </a:endParaRPr>
          </a:p>
          <a:p>
            <a:pPr eaLnBrk="1" hangingPunct="1">
              <a:lnSpc>
                <a:spcPct val="120000"/>
              </a:lnSpc>
              <a:spcBef>
                <a:spcPct val="15000"/>
              </a:spcBef>
              <a:buNone/>
            </a:pPr>
            <a:r>
              <a:rPr lang="zh-CN" altLang="en-US" b="0" i="1" dirty="0">
                <a:solidFill>
                  <a:schemeClr val="tx1"/>
                </a:solidFill>
                <a:latin typeface="Arial" panose="020B0604020202020204" pitchFamily="34" charset="0"/>
              </a:rPr>
              <a:t>      </a:t>
            </a:r>
            <a:r>
              <a:rPr lang="en-US" altLang="zh-CN" b="0" i="1" dirty="0">
                <a:solidFill>
                  <a:schemeClr val="tx1"/>
                </a:solidFill>
                <a:latin typeface="Arial" panose="020B0604020202020204" pitchFamily="34" charset="0"/>
              </a:rPr>
              <a:t>(4) </a:t>
            </a:r>
            <a:r>
              <a:rPr lang="zh-CN" altLang="en-US" b="0" i="1" dirty="0">
                <a:solidFill>
                  <a:schemeClr val="tx1"/>
                </a:solidFill>
                <a:latin typeface="Arial" panose="020B0604020202020204" pitchFamily="34" charset="0"/>
              </a:rPr>
              <a:t>用</a:t>
            </a:r>
            <a:r>
              <a:rPr lang="en-US" altLang="zh-CN" b="0" i="1" dirty="0">
                <a:solidFill>
                  <a:schemeClr val="tx1"/>
                </a:solidFill>
                <a:latin typeface="Arial" panose="020B0604020202020204" pitchFamily="34" charset="0"/>
              </a:rPr>
              <a:t>grant</a:t>
            </a:r>
            <a:r>
              <a:rPr lang="zh-CN" altLang="en-US" b="0" i="1" dirty="0">
                <a:solidFill>
                  <a:schemeClr val="tx1"/>
                </a:solidFill>
                <a:latin typeface="Arial" panose="020B0604020202020204" pitchFamily="34" charset="0"/>
              </a:rPr>
              <a:t>语句为自定义角色分派权限</a:t>
            </a:r>
            <a:endParaRPr lang="zh-CN" altLang="en-US" b="0" i="1" dirty="0">
              <a:solidFill>
                <a:schemeClr val="tx1"/>
              </a:solidFill>
              <a:latin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39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83972" name="Rectangle 3"/>
          <p:cNvSpPr>
            <a:spLocks noGrp="1"/>
          </p:cNvSpPr>
          <p:nvPr>
            <p:ph idx="1"/>
          </p:nvPr>
        </p:nvSpPr>
        <p:spPr>
          <a:xfrm>
            <a:off x="762000" y="914400"/>
            <a:ext cx="7162800" cy="5486400"/>
          </a:xfrm>
          <a:ln/>
        </p:spPr>
        <p:txBody>
          <a:bodyPr vert="horz" wrap="square" lIns="91440" tIns="45720" rIns="91440" bIns="45720" anchor="t" anchorCtr="0"/>
          <a:p>
            <a:pPr eaLnBrk="1" hangingPunct="1">
              <a:buNone/>
            </a:pPr>
            <a:r>
              <a:rPr lang="en-US" altLang="zh-CN" dirty="0">
                <a:solidFill>
                  <a:schemeClr val="tx1"/>
                </a:solidFill>
              </a:rPr>
              <a:t>4.2.1  </a:t>
            </a:r>
            <a:r>
              <a:rPr lang="zh-CN" altLang="en-US" dirty="0">
                <a:solidFill>
                  <a:schemeClr val="tx1"/>
                </a:solidFill>
              </a:rPr>
              <a:t>用户标识与鉴别</a:t>
            </a:r>
            <a:endParaRPr lang="zh-CN" altLang="en-US" dirty="0">
              <a:solidFill>
                <a:schemeClr val="tx1"/>
              </a:solidFill>
            </a:endParaRPr>
          </a:p>
          <a:p>
            <a:pPr eaLnBrk="1" hangingPunct="1">
              <a:buNone/>
            </a:pPr>
            <a:r>
              <a:rPr lang="en-US" altLang="zh-CN" dirty="0">
                <a:solidFill>
                  <a:schemeClr val="tx1"/>
                </a:solidFill>
              </a:rPr>
              <a:t>4.2.2  </a:t>
            </a:r>
            <a:r>
              <a:rPr lang="zh-CN" altLang="en-US" dirty="0">
                <a:solidFill>
                  <a:schemeClr val="tx1"/>
                </a:solidFill>
              </a:rPr>
              <a:t>存取控制</a:t>
            </a:r>
            <a:endParaRPr lang="zh-CN" altLang="en-US" dirty="0">
              <a:solidFill>
                <a:schemeClr val="tx1"/>
              </a:solidFill>
            </a:endParaRPr>
          </a:p>
          <a:p>
            <a:pPr eaLnBrk="1" hangingPunct="1">
              <a:buNone/>
            </a:pPr>
            <a:r>
              <a:rPr lang="en-US" altLang="zh-CN" dirty="0">
                <a:solidFill>
                  <a:schemeClr val="tx1"/>
                </a:solidFill>
              </a:rPr>
              <a:t>4.2.3  </a:t>
            </a:r>
            <a:r>
              <a:rPr lang="zh-CN" altLang="en-US" dirty="0">
                <a:solidFill>
                  <a:schemeClr val="tx1"/>
                </a:solidFill>
              </a:rPr>
              <a:t>自主存取控制方法</a:t>
            </a:r>
            <a:endParaRPr lang="zh-CN" altLang="en-US" dirty="0">
              <a:solidFill>
                <a:schemeClr val="tx1"/>
              </a:solidFill>
            </a:endParaRPr>
          </a:p>
          <a:p>
            <a:pPr eaLnBrk="1" hangingPunct="1">
              <a:buNone/>
            </a:pPr>
            <a:r>
              <a:rPr lang="en-US" altLang="zh-CN" dirty="0">
                <a:solidFill>
                  <a:schemeClr val="tx1"/>
                </a:solidFill>
              </a:rPr>
              <a:t>4.2.4  </a:t>
            </a:r>
            <a:r>
              <a:rPr lang="zh-CN" altLang="en-US" dirty="0">
                <a:solidFill>
                  <a:schemeClr val="tx1"/>
                </a:solidFill>
              </a:rPr>
              <a:t>授权与回收</a:t>
            </a:r>
            <a:endParaRPr lang="zh-CN" altLang="en-US" dirty="0">
              <a:solidFill>
                <a:schemeClr val="tx1"/>
              </a:solidFill>
            </a:endParaRPr>
          </a:p>
          <a:p>
            <a:pPr eaLnBrk="1" hangingPunct="1">
              <a:buNone/>
            </a:pPr>
            <a:r>
              <a:rPr lang="en-US" altLang="zh-CN" dirty="0">
                <a:solidFill>
                  <a:schemeClr val="tx1"/>
                </a:solidFill>
              </a:rPr>
              <a:t>4.2.5  </a:t>
            </a:r>
            <a:r>
              <a:rPr lang="zh-CN" altLang="en-US" dirty="0">
                <a:solidFill>
                  <a:schemeClr val="tx1"/>
                </a:solidFill>
              </a:rPr>
              <a:t>数据库角色</a:t>
            </a:r>
            <a:endParaRPr lang="zh-CN" altLang="en-US" dirty="0">
              <a:solidFill>
                <a:schemeClr val="tx1"/>
              </a:solidFill>
            </a:endParaRPr>
          </a:p>
          <a:p>
            <a:pPr eaLnBrk="1" hangingPunct="1">
              <a:buNone/>
            </a:pPr>
            <a:r>
              <a:rPr lang="en-US" altLang="zh-CN" dirty="0">
                <a:solidFill>
                  <a:srgbClr val="FF0000"/>
                </a:solidFill>
              </a:rPr>
              <a:t>4.2.6  </a:t>
            </a:r>
            <a:r>
              <a:rPr lang="zh-CN" altLang="en-US" dirty="0">
                <a:solidFill>
                  <a:srgbClr val="FF0000"/>
                </a:solidFill>
              </a:rPr>
              <a:t>强制存取控制方法</a:t>
            </a:r>
            <a:endParaRPr lang="zh-CN" altLang="en-US" dirty="0">
              <a:solidFill>
                <a:srgbClr val="FF00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49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4.2.5  </a:t>
            </a:r>
            <a:r>
              <a:rPr lang="zh-CN" altLang="en-US" dirty="0"/>
              <a:t>强制存取控制方法</a:t>
            </a:r>
            <a:endParaRPr lang="zh-CN" altLang="en-US" dirty="0"/>
          </a:p>
        </p:txBody>
      </p:sp>
      <p:sp>
        <p:nvSpPr>
          <p:cNvPr id="84996" name="Rectangle 3"/>
          <p:cNvSpPr>
            <a:spLocks noGrp="1"/>
          </p:cNvSpPr>
          <p:nvPr>
            <p:ph idx="1"/>
          </p:nvPr>
        </p:nvSpPr>
        <p:spPr>
          <a:xfrm>
            <a:off x="304800" y="838200"/>
            <a:ext cx="8458200" cy="5410200"/>
          </a:xfrm>
          <a:ln/>
        </p:spPr>
        <p:txBody>
          <a:bodyPr vert="horz" wrap="square" lIns="91440" tIns="45720" rIns="91440" bIns="45720" anchor="t" anchorCtr="0"/>
          <a:p>
            <a:pPr eaLnBrk="1" hangingPunct="1">
              <a:lnSpc>
                <a:spcPct val="120000"/>
              </a:lnSpc>
            </a:pPr>
            <a:r>
              <a:rPr lang="zh-CN" altLang="en-US" sz="3600" dirty="0"/>
              <a:t>什么是强制存取控制</a:t>
            </a:r>
            <a:endParaRPr lang="zh-CN" altLang="en-US" sz="3600" dirty="0"/>
          </a:p>
          <a:p>
            <a:pPr lvl="1" eaLnBrk="1" hangingPunct="1">
              <a:lnSpc>
                <a:spcPct val="120000"/>
              </a:lnSpc>
            </a:pPr>
            <a:r>
              <a:rPr lang="zh-CN" altLang="en-US" dirty="0"/>
              <a:t>强制存取控制</a:t>
            </a:r>
            <a:r>
              <a:rPr lang="en-US" altLang="zh-CN" dirty="0"/>
              <a:t>(MAC)</a:t>
            </a:r>
            <a:r>
              <a:rPr lang="zh-CN" altLang="en-US" dirty="0"/>
              <a:t>是指系统为保证更高程度的安全性，按照</a:t>
            </a:r>
            <a:r>
              <a:rPr lang="en-US" altLang="zh-CN" dirty="0"/>
              <a:t>TDI/TCSEC</a:t>
            </a:r>
            <a:r>
              <a:rPr lang="zh-CN" altLang="en-US" dirty="0"/>
              <a:t>标准中安全策略的要求，所采取的强制存取检查手段。</a:t>
            </a:r>
            <a:endParaRPr lang="zh-CN" altLang="en-US" dirty="0"/>
          </a:p>
          <a:p>
            <a:pPr lvl="1" eaLnBrk="1" hangingPunct="1">
              <a:lnSpc>
                <a:spcPct val="120000"/>
              </a:lnSpc>
            </a:pPr>
            <a:r>
              <a:rPr lang="en-US" altLang="zh-CN" dirty="0"/>
              <a:t>MAC</a:t>
            </a:r>
            <a:r>
              <a:rPr lang="zh-CN" altLang="en-US" dirty="0"/>
              <a:t>不是用户能直接感知或进行控制的。</a:t>
            </a:r>
            <a:endParaRPr lang="zh-CN" altLang="en-US" dirty="0"/>
          </a:p>
          <a:p>
            <a:pPr lvl="1" eaLnBrk="1" hangingPunct="1">
              <a:lnSpc>
                <a:spcPct val="120000"/>
              </a:lnSpc>
            </a:pPr>
            <a:r>
              <a:rPr lang="en-US" altLang="zh-CN" dirty="0"/>
              <a:t>MAC</a:t>
            </a:r>
            <a:r>
              <a:rPr lang="zh-CN" altLang="en-US" dirty="0"/>
              <a:t>适用于对数据有严格而固定密级分类的部门（军事部门、 政府部门）</a:t>
            </a:r>
            <a:endParaRPr lang="en-US" altLang="zh-CN" dirty="0"/>
          </a:p>
          <a:p>
            <a:pPr lvl="1" eaLnBrk="1" hangingPunct="1">
              <a:lnSpc>
                <a:spcPct val="120000"/>
              </a:lnSpc>
            </a:pPr>
            <a:r>
              <a:rPr lang="zh-CN" altLang="en-US" dirty="0"/>
              <a:t>每一个数据对象被标以一定的密级</a:t>
            </a:r>
            <a:endParaRPr lang="zh-CN" altLang="en-US" dirty="0"/>
          </a:p>
          <a:p>
            <a:pPr lvl="1" eaLnBrk="1" hangingPunct="1">
              <a:lnSpc>
                <a:spcPct val="120000"/>
              </a:lnSpc>
            </a:pPr>
            <a:r>
              <a:rPr lang="zh-CN" altLang="en-US" dirty="0"/>
              <a:t>每一个用户也被授予某一个级别的许可证</a:t>
            </a:r>
            <a:endParaRPr lang="zh-CN" altLang="en-US" dirty="0"/>
          </a:p>
          <a:p>
            <a:pPr lvl="1" eaLnBrk="1" hangingPunct="1">
              <a:lnSpc>
                <a:spcPct val="120000"/>
              </a:lnSpc>
            </a:pPr>
            <a:r>
              <a:rPr lang="zh-CN" altLang="en-US" dirty="0"/>
              <a:t>对于任意对象，具有合法许可证的用户才可存取</a:t>
            </a:r>
            <a:endParaRPr lang="zh-CN" altLang="en-US" dirty="0"/>
          </a:p>
          <a:p>
            <a:pPr lvl="1" eaLnBrk="1" hangingPunct="1">
              <a:lnSpc>
                <a:spcPct val="120000"/>
              </a:lnSpc>
            </a:pP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60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4.2.5  </a:t>
            </a:r>
            <a:r>
              <a:rPr lang="zh-CN" altLang="en-US" dirty="0"/>
              <a:t>强制存取控制方法</a:t>
            </a:r>
            <a:endParaRPr lang="zh-CN" altLang="en-US" dirty="0"/>
          </a:p>
        </p:txBody>
      </p:sp>
      <p:sp>
        <p:nvSpPr>
          <p:cNvPr id="86020" name="Rectangle 3"/>
          <p:cNvSpPr>
            <a:spLocks noGrp="1"/>
          </p:cNvSpPr>
          <p:nvPr>
            <p:ph idx="1"/>
          </p:nvPr>
        </p:nvSpPr>
        <p:spPr>
          <a:xfrm>
            <a:off x="304800" y="838200"/>
            <a:ext cx="8458200" cy="5791200"/>
          </a:xfrm>
          <a:ln/>
        </p:spPr>
        <p:txBody>
          <a:bodyPr vert="horz" wrap="square" lIns="91440" tIns="45720" rIns="91440" bIns="45720" anchor="t" anchorCtr="0"/>
          <a:p>
            <a:pPr eaLnBrk="1" hangingPunct="1">
              <a:lnSpc>
                <a:spcPct val="110000"/>
              </a:lnSpc>
            </a:pPr>
            <a:r>
              <a:rPr lang="zh-CN" altLang="en-US" sz="3600" dirty="0"/>
              <a:t>主体与客体</a:t>
            </a:r>
            <a:endParaRPr lang="zh-CN" altLang="en-US" sz="3600" dirty="0"/>
          </a:p>
          <a:p>
            <a:pPr lvl="1" eaLnBrk="1" hangingPunct="1">
              <a:lnSpc>
                <a:spcPct val="110000"/>
              </a:lnSpc>
            </a:pPr>
            <a:r>
              <a:rPr lang="zh-CN" altLang="en-US" dirty="0"/>
              <a:t>在</a:t>
            </a:r>
            <a:r>
              <a:rPr lang="en-US" altLang="zh-CN" dirty="0"/>
              <a:t>MAC</a:t>
            </a:r>
            <a:r>
              <a:rPr lang="zh-CN" altLang="en-US" dirty="0"/>
              <a:t>中，</a:t>
            </a:r>
            <a:r>
              <a:rPr lang="en-US" altLang="zh-CN" dirty="0"/>
              <a:t>DBMS</a:t>
            </a:r>
            <a:r>
              <a:rPr lang="zh-CN" altLang="en-US" dirty="0"/>
              <a:t>所管理的全部实体被分为主体和客体两大类</a:t>
            </a:r>
            <a:endParaRPr lang="zh-CN" altLang="en-US" dirty="0"/>
          </a:p>
          <a:p>
            <a:pPr lvl="1" eaLnBrk="1" hangingPunct="1">
              <a:lnSpc>
                <a:spcPct val="110000"/>
              </a:lnSpc>
            </a:pPr>
            <a:r>
              <a:rPr lang="zh-CN" altLang="en-US" dirty="0">
                <a:solidFill>
                  <a:schemeClr val="accent2"/>
                </a:solidFill>
              </a:rPr>
              <a:t>主体</a:t>
            </a:r>
            <a:r>
              <a:rPr lang="zh-CN" altLang="en-US" dirty="0"/>
              <a:t>是系统中的活动实体</a:t>
            </a:r>
            <a:endParaRPr lang="zh-CN" altLang="en-US" dirty="0"/>
          </a:p>
          <a:p>
            <a:pPr lvl="2" eaLnBrk="1" hangingPunct="1">
              <a:lnSpc>
                <a:spcPct val="110000"/>
              </a:lnSpc>
            </a:pPr>
            <a:r>
              <a:rPr lang="zh-CN" altLang="en-US" dirty="0"/>
              <a:t> </a:t>
            </a:r>
            <a:r>
              <a:rPr lang="en-US" altLang="zh-CN" dirty="0"/>
              <a:t>DBMS</a:t>
            </a:r>
            <a:r>
              <a:rPr lang="zh-CN" altLang="en-US" dirty="0"/>
              <a:t>所管理的实际用户</a:t>
            </a:r>
            <a:endParaRPr lang="zh-CN" altLang="en-US" dirty="0"/>
          </a:p>
          <a:p>
            <a:pPr lvl="2" eaLnBrk="1" hangingPunct="1">
              <a:lnSpc>
                <a:spcPct val="110000"/>
              </a:lnSpc>
            </a:pPr>
            <a:r>
              <a:rPr lang="zh-CN" altLang="en-US" dirty="0"/>
              <a:t> 代表用户的各进程</a:t>
            </a:r>
            <a:endParaRPr lang="zh-CN" altLang="en-US" dirty="0"/>
          </a:p>
          <a:p>
            <a:pPr lvl="1" eaLnBrk="1" hangingPunct="1">
              <a:lnSpc>
                <a:spcPct val="110000"/>
              </a:lnSpc>
            </a:pPr>
            <a:r>
              <a:rPr lang="zh-CN" altLang="en-US" dirty="0">
                <a:solidFill>
                  <a:schemeClr val="accent2"/>
                </a:solidFill>
              </a:rPr>
              <a:t>客体</a:t>
            </a:r>
            <a:r>
              <a:rPr lang="zh-CN" altLang="en-US" dirty="0"/>
              <a:t>是系统中的被动实体，是受主体操纵的</a:t>
            </a:r>
            <a:endParaRPr lang="zh-CN" altLang="en-US" dirty="0"/>
          </a:p>
          <a:p>
            <a:pPr lvl="2" eaLnBrk="1" hangingPunct="1">
              <a:lnSpc>
                <a:spcPct val="110000"/>
              </a:lnSpc>
            </a:pPr>
            <a:r>
              <a:rPr lang="zh-CN" altLang="en-US" dirty="0"/>
              <a:t> 文件</a:t>
            </a:r>
            <a:endParaRPr lang="zh-CN" altLang="en-US" dirty="0"/>
          </a:p>
          <a:p>
            <a:pPr lvl="2" eaLnBrk="1" hangingPunct="1">
              <a:lnSpc>
                <a:spcPct val="110000"/>
              </a:lnSpc>
            </a:pPr>
            <a:r>
              <a:rPr lang="zh-CN" altLang="en-US" dirty="0"/>
              <a:t> 基表</a:t>
            </a:r>
            <a:endParaRPr lang="zh-CN" altLang="en-US" dirty="0"/>
          </a:p>
          <a:p>
            <a:pPr lvl="2" eaLnBrk="1" hangingPunct="1">
              <a:lnSpc>
                <a:spcPct val="110000"/>
              </a:lnSpc>
            </a:pPr>
            <a:r>
              <a:rPr lang="zh-CN" altLang="en-US" dirty="0"/>
              <a:t> 索引</a:t>
            </a:r>
            <a:endParaRPr lang="zh-CN" altLang="en-US" dirty="0"/>
          </a:p>
          <a:p>
            <a:pPr lvl="2" eaLnBrk="1" hangingPunct="1">
              <a:lnSpc>
                <a:spcPct val="110000"/>
              </a:lnSpc>
            </a:pPr>
            <a:r>
              <a:rPr lang="zh-CN" altLang="en-US" dirty="0"/>
              <a:t> 视图</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70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4.2.5  </a:t>
            </a:r>
            <a:r>
              <a:rPr lang="zh-CN" altLang="en-US" dirty="0"/>
              <a:t>强制存取控制方法</a:t>
            </a:r>
            <a:endParaRPr lang="zh-CN" altLang="en-US" dirty="0"/>
          </a:p>
        </p:txBody>
      </p:sp>
      <p:sp>
        <p:nvSpPr>
          <p:cNvPr id="87044" name="Rectangle 3"/>
          <p:cNvSpPr>
            <a:spLocks noGrp="1"/>
          </p:cNvSpPr>
          <p:nvPr>
            <p:ph idx="1"/>
          </p:nvPr>
        </p:nvSpPr>
        <p:spPr>
          <a:xfrm>
            <a:off x="304800" y="838200"/>
            <a:ext cx="8458200" cy="5791200"/>
          </a:xfrm>
          <a:ln/>
        </p:spPr>
        <p:txBody>
          <a:bodyPr vert="horz" wrap="square" lIns="91440" tIns="45720" rIns="91440" bIns="45720" anchor="t" anchorCtr="0"/>
          <a:p>
            <a:pPr eaLnBrk="1" hangingPunct="1">
              <a:lnSpc>
                <a:spcPct val="120000"/>
              </a:lnSpc>
            </a:pPr>
            <a:r>
              <a:rPr lang="zh-CN" altLang="en-US" sz="3600" dirty="0"/>
              <a:t>敏感度标记</a:t>
            </a:r>
            <a:endParaRPr lang="zh-CN" altLang="en-US" sz="3600" dirty="0"/>
          </a:p>
          <a:p>
            <a:pPr lvl="1" eaLnBrk="1" hangingPunct="1">
              <a:lnSpc>
                <a:spcPct val="120000"/>
              </a:lnSpc>
            </a:pPr>
            <a:r>
              <a:rPr lang="zh-CN" altLang="en-US" dirty="0"/>
              <a:t> 对于主体和客体，</a:t>
            </a:r>
            <a:r>
              <a:rPr lang="en-US" altLang="zh-CN" dirty="0"/>
              <a:t>DBMS</a:t>
            </a:r>
            <a:r>
              <a:rPr lang="zh-CN" altLang="en-US" dirty="0"/>
              <a:t>为它们每个实例（值）指派一个敏感度标记（</a:t>
            </a:r>
            <a:r>
              <a:rPr lang="en-US" altLang="zh-CN" dirty="0"/>
              <a:t>Label</a:t>
            </a:r>
            <a:r>
              <a:rPr lang="zh-CN" altLang="en-US" dirty="0"/>
              <a:t>）</a:t>
            </a:r>
            <a:endParaRPr lang="zh-CN" altLang="en-US" dirty="0"/>
          </a:p>
          <a:p>
            <a:pPr lvl="1" eaLnBrk="1" hangingPunct="1">
              <a:lnSpc>
                <a:spcPct val="120000"/>
              </a:lnSpc>
            </a:pPr>
            <a:r>
              <a:rPr lang="zh-CN" altLang="en-US" dirty="0"/>
              <a:t> 敏感度标记分成若干级别</a:t>
            </a:r>
            <a:endParaRPr lang="zh-CN" altLang="en-US" dirty="0"/>
          </a:p>
          <a:p>
            <a:pPr lvl="2" eaLnBrk="1" hangingPunct="1">
              <a:lnSpc>
                <a:spcPct val="120000"/>
              </a:lnSpc>
            </a:pPr>
            <a:r>
              <a:rPr lang="zh-CN" altLang="en-US" dirty="0"/>
              <a:t> 绝密（</a:t>
            </a:r>
            <a:r>
              <a:rPr lang="en-US" altLang="zh-CN" dirty="0"/>
              <a:t>Top Secret</a:t>
            </a:r>
            <a:r>
              <a:rPr lang="zh-CN" altLang="en-US" dirty="0"/>
              <a:t>）</a:t>
            </a:r>
            <a:endParaRPr lang="zh-CN" altLang="en-US" dirty="0"/>
          </a:p>
          <a:p>
            <a:pPr lvl="2" eaLnBrk="1" hangingPunct="1">
              <a:lnSpc>
                <a:spcPct val="120000"/>
              </a:lnSpc>
            </a:pPr>
            <a:r>
              <a:rPr lang="zh-CN" altLang="en-US" dirty="0"/>
              <a:t> 机密（</a:t>
            </a:r>
            <a:r>
              <a:rPr lang="en-US" altLang="zh-CN" dirty="0"/>
              <a:t>Secret</a:t>
            </a:r>
            <a:r>
              <a:rPr lang="zh-CN" altLang="en-US" dirty="0"/>
              <a:t>）</a:t>
            </a:r>
            <a:endParaRPr lang="zh-CN" altLang="en-US" dirty="0"/>
          </a:p>
          <a:p>
            <a:pPr lvl="2" eaLnBrk="1" hangingPunct="1">
              <a:lnSpc>
                <a:spcPct val="120000"/>
              </a:lnSpc>
            </a:pPr>
            <a:r>
              <a:rPr lang="zh-CN" altLang="en-US" dirty="0"/>
              <a:t> 可信（</a:t>
            </a:r>
            <a:r>
              <a:rPr lang="en-US" altLang="zh-CN" dirty="0"/>
              <a:t>Confidential</a:t>
            </a:r>
            <a:r>
              <a:rPr lang="zh-CN" altLang="en-US" dirty="0"/>
              <a:t>）</a:t>
            </a:r>
            <a:endParaRPr lang="zh-CN" altLang="en-US" dirty="0"/>
          </a:p>
          <a:p>
            <a:pPr lvl="2" eaLnBrk="1" hangingPunct="1">
              <a:lnSpc>
                <a:spcPct val="120000"/>
              </a:lnSpc>
            </a:pPr>
            <a:r>
              <a:rPr lang="zh-CN" altLang="en-US" dirty="0"/>
              <a:t> 公开（</a:t>
            </a:r>
            <a:r>
              <a:rPr lang="en-US" altLang="zh-CN" dirty="0"/>
              <a:t>Public</a:t>
            </a:r>
            <a:r>
              <a:rPr lang="zh-CN" altLang="en-US" dirty="0"/>
              <a:t>）</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80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4.2.5  </a:t>
            </a:r>
            <a:r>
              <a:rPr lang="zh-CN" altLang="en-US" dirty="0"/>
              <a:t>强制存取控制方法</a:t>
            </a:r>
            <a:endParaRPr lang="zh-CN" altLang="en-US" dirty="0"/>
          </a:p>
        </p:txBody>
      </p:sp>
      <p:sp>
        <p:nvSpPr>
          <p:cNvPr id="88068" name="Rectangle 3"/>
          <p:cNvSpPr>
            <a:spLocks noGrp="1"/>
          </p:cNvSpPr>
          <p:nvPr>
            <p:ph idx="1"/>
          </p:nvPr>
        </p:nvSpPr>
        <p:spPr>
          <a:xfrm>
            <a:off x="304800" y="1066800"/>
            <a:ext cx="8458200" cy="4724400"/>
          </a:xfrm>
          <a:ln/>
        </p:spPr>
        <p:txBody>
          <a:bodyPr vert="horz" wrap="square" lIns="91440" tIns="45720" rIns="91440" bIns="45720" anchor="t" anchorCtr="0"/>
          <a:p>
            <a:pPr lvl="1" eaLnBrk="1" hangingPunct="1">
              <a:lnSpc>
                <a:spcPct val="120000"/>
              </a:lnSpc>
              <a:spcBef>
                <a:spcPct val="60000"/>
              </a:spcBef>
            </a:pPr>
            <a:r>
              <a:rPr lang="zh-CN" altLang="en-US" dirty="0"/>
              <a:t>主体的敏感度标记称为许可证级别（</a:t>
            </a:r>
            <a:r>
              <a:rPr lang="en-US" altLang="zh-CN" dirty="0"/>
              <a:t>Clearance Level</a:t>
            </a:r>
            <a:r>
              <a:rPr lang="zh-CN" altLang="en-US" dirty="0"/>
              <a:t>）</a:t>
            </a:r>
            <a:endParaRPr lang="zh-CN" altLang="en-US" dirty="0"/>
          </a:p>
          <a:p>
            <a:pPr lvl="1" eaLnBrk="1" hangingPunct="1">
              <a:lnSpc>
                <a:spcPct val="120000"/>
              </a:lnSpc>
              <a:spcBef>
                <a:spcPct val="60000"/>
              </a:spcBef>
            </a:pPr>
            <a:r>
              <a:rPr lang="zh-CN" altLang="en-US" dirty="0"/>
              <a:t>客体的敏感度标记称为密级（</a:t>
            </a:r>
            <a:r>
              <a:rPr lang="en-US" altLang="zh-CN" dirty="0"/>
              <a:t>Classification Level</a:t>
            </a:r>
            <a:r>
              <a:rPr lang="zh-CN" altLang="en-US" dirty="0"/>
              <a:t>）</a:t>
            </a:r>
            <a:endParaRPr lang="zh-CN" altLang="en-US" dirty="0"/>
          </a:p>
          <a:p>
            <a:pPr lvl="1" eaLnBrk="1" hangingPunct="1">
              <a:lnSpc>
                <a:spcPct val="120000"/>
              </a:lnSpc>
              <a:spcBef>
                <a:spcPct val="60000"/>
              </a:spcBef>
            </a:pPr>
            <a:r>
              <a:rPr lang="en-US" altLang="zh-CN" dirty="0"/>
              <a:t>MAC</a:t>
            </a:r>
            <a:r>
              <a:rPr lang="zh-CN" altLang="en-US" dirty="0"/>
              <a:t>机制就是通过对比主体的</a:t>
            </a:r>
            <a:r>
              <a:rPr lang="en-US" altLang="zh-CN" dirty="0"/>
              <a:t>Label</a:t>
            </a:r>
            <a:r>
              <a:rPr lang="zh-CN" altLang="en-US" dirty="0"/>
              <a:t>和客体的</a:t>
            </a:r>
            <a:r>
              <a:rPr lang="en-US" altLang="zh-CN" dirty="0"/>
              <a:t>Label</a:t>
            </a:r>
            <a:r>
              <a:rPr lang="zh-CN" altLang="en-US" dirty="0"/>
              <a:t>，最终确定主体是否能够存取客体</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90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4.2.5  </a:t>
            </a:r>
            <a:r>
              <a:rPr lang="zh-CN" altLang="en-US" dirty="0"/>
              <a:t>强制存取控制方法</a:t>
            </a:r>
            <a:endParaRPr lang="zh-CN" altLang="en-US" dirty="0"/>
          </a:p>
        </p:txBody>
      </p:sp>
      <p:sp>
        <p:nvSpPr>
          <p:cNvPr id="89092" name="Rectangle 3"/>
          <p:cNvSpPr>
            <a:spLocks noGrp="1"/>
          </p:cNvSpPr>
          <p:nvPr>
            <p:ph idx="1"/>
          </p:nvPr>
        </p:nvSpPr>
        <p:spPr>
          <a:xfrm>
            <a:off x="304800" y="1066800"/>
            <a:ext cx="8458200" cy="5181600"/>
          </a:xfrm>
          <a:ln/>
        </p:spPr>
        <p:txBody>
          <a:bodyPr vert="horz" wrap="square" lIns="91440" tIns="45720" rIns="91440" bIns="45720" anchor="t" anchorCtr="0"/>
          <a:p>
            <a:pPr eaLnBrk="1" hangingPunct="1">
              <a:lnSpc>
                <a:spcPct val="120000"/>
              </a:lnSpc>
            </a:pPr>
            <a:r>
              <a:rPr lang="zh-CN" altLang="en-US" sz="3600" dirty="0"/>
              <a:t>强制存取控制规则</a:t>
            </a:r>
            <a:endParaRPr lang="zh-CN" altLang="en-US" sz="3600" dirty="0"/>
          </a:p>
          <a:p>
            <a:pPr lvl="1" eaLnBrk="1" hangingPunct="1">
              <a:lnSpc>
                <a:spcPct val="120000"/>
              </a:lnSpc>
            </a:pPr>
            <a:r>
              <a:rPr lang="zh-CN" altLang="en-US" dirty="0"/>
              <a:t>当某一用户（或某一主体）以标记</a:t>
            </a:r>
            <a:r>
              <a:rPr lang="en-US" altLang="zh-CN" dirty="0"/>
              <a:t>label</a:t>
            </a:r>
            <a:r>
              <a:rPr lang="zh-CN" altLang="en-US" dirty="0"/>
              <a:t>注册入系统时，系统要求他对任何客体的存取必须遵循下面两条规则：</a:t>
            </a:r>
            <a:endParaRPr lang="zh-CN" altLang="en-US" sz="3200" dirty="0"/>
          </a:p>
          <a:p>
            <a:pPr lvl="1" eaLnBrk="1" hangingPunct="1">
              <a:lnSpc>
                <a:spcPct val="120000"/>
              </a:lnSpc>
              <a:buNone/>
            </a:pPr>
            <a:r>
              <a:rPr lang="zh-CN" altLang="en-US" dirty="0"/>
              <a:t>（</a:t>
            </a:r>
            <a:r>
              <a:rPr lang="en-US" altLang="zh-CN" dirty="0"/>
              <a:t>1</a:t>
            </a:r>
            <a:r>
              <a:rPr lang="zh-CN" altLang="en-US" dirty="0"/>
              <a:t>）仅当主体的许可证级别</a:t>
            </a:r>
            <a:r>
              <a:rPr lang="zh-CN" altLang="en-US" dirty="0">
                <a:solidFill>
                  <a:schemeClr val="accent2"/>
                </a:solidFill>
              </a:rPr>
              <a:t>大于或等于</a:t>
            </a:r>
            <a:r>
              <a:rPr lang="zh-CN" altLang="en-US" dirty="0"/>
              <a:t>客体的密级时，该主体才能</a:t>
            </a:r>
            <a:r>
              <a:rPr lang="zh-CN" altLang="en-US" dirty="0">
                <a:solidFill>
                  <a:schemeClr val="accent2"/>
                </a:solidFill>
              </a:rPr>
              <a:t>读</a:t>
            </a:r>
            <a:r>
              <a:rPr lang="zh-CN" altLang="en-US" dirty="0"/>
              <a:t>取相应的客体；</a:t>
            </a:r>
            <a:endParaRPr lang="zh-CN" altLang="en-US" dirty="0"/>
          </a:p>
          <a:p>
            <a:pPr lvl="1" eaLnBrk="1" hangingPunct="1">
              <a:lnSpc>
                <a:spcPct val="120000"/>
              </a:lnSpc>
              <a:buNone/>
            </a:pPr>
            <a:r>
              <a:rPr lang="zh-CN" altLang="en-US" dirty="0"/>
              <a:t>（</a:t>
            </a:r>
            <a:r>
              <a:rPr lang="en-US" altLang="zh-CN" dirty="0"/>
              <a:t>2</a:t>
            </a:r>
            <a:r>
              <a:rPr lang="zh-CN" altLang="en-US" dirty="0"/>
              <a:t>）仅当主体的许可证级别</a:t>
            </a:r>
            <a:r>
              <a:rPr lang="zh-CN" altLang="en-US" dirty="0">
                <a:solidFill>
                  <a:srgbClr val="0070C0"/>
                </a:solidFill>
              </a:rPr>
              <a:t>小于或</a:t>
            </a:r>
            <a:r>
              <a:rPr lang="zh-CN" altLang="en-US" dirty="0">
                <a:solidFill>
                  <a:schemeClr val="accent2"/>
                </a:solidFill>
              </a:rPr>
              <a:t>等于</a:t>
            </a:r>
            <a:r>
              <a:rPr lang="zh-CN" altLang="en-US" dirty="0"/>
              <a:t>客体的密级时，该主体才能</a:t>
            </a:r>
            <a:r>
              <a:rPr lang="zh-CN" altLang="en-US" dirty="0">
                <a:solidFill>
                  <a:schemeClr val="accent2"/>
                </a:solidFill>
              </a:rPr>
              <a:t>写</a:t>
            </a:r>
            <a:r>
              <a:rPr lang="zh-CN" altLang="en-US" dirty="0"/>
              <a:t>相应的客体。</a:t>
            </a:r>
            <a:endParaRPr lang="zh-CN" altLang="en-US" dirty="0"/>
          </a:p>
          <a:p>
            <a:pPr lvl="1" eaLnBrk="1" hangingPunct="1">
              <a:lnSpc>
                <a:spcPct val="120000"/>
              </a:lnSpc>
              <a:buNone/>
            </a:pP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01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4.2.5  </a:t>
            </a:r>
            <a:r>
              <a:rPr lang="zh-CN" altLang="en-US" dirty="0"/>
              <a:t>强制存取控制方法</a:t>
            </a:r>
            <a:endParaRPr lang="zh-CN" altLang="en-US" dirty="0"/>
          </a:p>
        </p:txBody>
      </p:sp>
      <p:sp>
        <p:nvSpPr>
          <p:cNvPr id="90116" name="Rectangle 3"/>
          <p:cNvSpPr>
            <a:spLocks noGrp="1"/>
          </p:cNvSpPr>
          <p:nvPr>
            <p:ph idx="1"/>
          </p:nvPr>
        </p:nvSpPr>
        <p:spPr>
          <a:xfrm>
            <a:off x="304800" y="1066800"/>
            <a:ext cx="8458200" cy="5181600"/>
          </a:xfrm>
          <a:ln/>
        </p:spPr>
        <p:txBody>
          <a:bodyPr vert="horz" wrap="square" lIns="91440" tIns="45720" rIns="91440" bIns="45720" anchor="t" anchorCtr="0"/>
          <a:p>
            <a:pPr eaLnBrk="1" hangingPunct="1">
              <a:lnSpc>
                <a:spcPct val="120000"/>
              </a:lnSpc>
            </a:pPr>
            <a:r>
              <a:rPr lang="en-US" altLang="zh-CN" dirty="0"/>
              <a:t>DAC</a:t>
            </a:r>
            <a:r>
              <a:rPr lang="zh-CN" altLang="en-US" dirty="0"/>
              <a:t>与</a:t>
            </a:r>
            <a:r>
              <a:rPr lang="en-US" altLang="zh-CN" dirty="0"/>
              <a:t>MAC</a:t>
            </a:r>
            <a:endParaRPr lang="en-US" altLang="zh-CN" dirty="0"/>
          </a:p>
          <a:p>
            <a:pPr lvl="1" eaLnBrk="1" hangingPunct="1">
              <a:lnSpc>
                <a:spcPct val="120000"/>
              </a:lnSpc>
            </a:pPr>
            <a:r>
              <a:rPr lang="en-US" altLang="zh-CN" dirty="0"/>
              <a:t>DAC</a:t>
            </a:r>
            <a:r>
              <a:rPr lang="zh-CN" altLang="en-US" dirty="0"/>
              <a:t>与</a:t>
            </a:r>
            <a:r>
              <a:rPr lang="en-US" altLang="zh-CN" dirty="0"/>
              <a:t>MAC</a:t>
            </a:r>
            <a:r>
              <a:rPr lang="zh-CN" altLang="en-US" dirty="0"/>
              <a:t>共同构成</a:t>
            </a:r>
            <a:r>
              <a:rPr lang="en-US" altLang="zh-CN" dirty="0"/>
              <a:t>DBMS</a:t>
            </a:r>
            <a:r>
              <a:rPr lang="zh-CN" altLang="en-US" dirty="0"/>
              <a:t>的安全机制</a:t>
            </a:r>
            <a:endParaRPr lang="zh-CN" altLang="en-US" dirty="0"/>
          </a:p>
          <a:p>
            <a:pPr lvl="2" eaLnBrk="1" hangingPunct="1">
              <a:lnSpc>
                <a:spcPct val="120000"/>
              </a:lnSpc>
            </a:pPr>
            <a:r>
              <a:rPr lang="zh-CN" altLang="en-US" sz="2800" dirty="0"/>
              <a:t>原因：较高安全性级别提供的安全保护要包含较低级别的所有保护</a:t>
            </a:r>
            <a:endParaRPr lang="zh-CN" altLang="en-US" dirty="0"/>
          </a:p>
          <a:p>
            <a:pPr lvl="1" eaLnBrk="1" hangingPunct="1">
              <a:lnSpc>
                <a:spcPct val="120000"/>
              </a:lnSpc>
            </a:pPr>
            <a:r>
              <a:rPr lang="zh-CN" altLang="en-US" dirty="0"/>
              <a:t>先进行</a:t>
            </a:r>
            <a:r>
              <a:rPr lang="en-US" altLang="zh-CN" dirty="0"/>
              <a:t>DAC</a:t>
            </a:r>
            <a:r>
              <a:rPr lang="zh-CN" altLang="en-US" dirty="0"/>
              <a:t>检查，通过</a:t>
            </a:r>
            <a:r>
              <a:rPr lang="en-US" altLang="zh-CN" dirty="0"/>
              <a:t>DAC</a:t>
            </a:r>
            <a:r>
              <a:rPr lang="zh-CN" altLang="en-US" dirty="0"/>
              <a:t>检查的数据对象再由系统进行</a:t>
            </a:r>
            <a:r>
              <a:rPr lang="en-US" altLang="zh-CN" dirty="0"/>
              <a:t>MAC</a:t>
            </a:r>
            <a:r>
              <a:rPr lang="zh-CN" altLang="en-US" dirty="0"/>
              <a:t>检查，只有通过</a:t>
            </a:r>
            <a:r>
              <a:rPr lang="en-US" altLang="zh-CN" dirty="0"/>
              <a:t>MAC</a:t>
            </a:r>
            <a:r>
              <a:rPr lang="zh-CN" altLang="en-US" dirty="0"/>
              <a:t>检查的数据对象方可存取。</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11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91140" name="Rectangle 3"/>
          <p:cNvSpPr>
            <a:spLocks noGrp="1"/>
          </p:cNvSpPr>
          <p:nvPr>
            <p:ph idx="1"/>
          </p:nvPr>
        </p:nvSpPr>
        <p:spPr>
          <a:xfrm>
            <a:off x="762000" y="914400"/>
            <a:ext cx="7162800" cy="5486400"/>
          </a:xfrm>
          <a:ln/>
        </p:spPr>
        <p:txBody>
          <a:bodyPr vert="horz" wrap="square" lIns="91440" tIns="45720" rIns="91440" bIns="45720" anchor="t" anchorCtr="0"/>
          <a:p>
            <a:pPr eaLnBrk="1" hangingPunct="1">
              <a:buNone/>
            </a:pPr>
            <a:r>
              <a:rPr lang="en-US" altLang="zh-CN" dirty="0">
                <a:solidFill>
                  <a:schemeClr val="tx1"/>
                </a:solidFill>
              </a:rPr>
              <a:t>4.2.1  </a:t>
            </a:r>
            <a:r>
              <a:rPr lang="zh-CN" altLang="en-US" dirty="0">
                <a:solidFill>
                  <a:schemeClr val="tx1"/>
                </a:solidFill>
              </a:rPr>
              <a:t>数据库安全性控制概述</a:t>
            </a:r>
            <a:endParaRPr lang="zh-CN" altLang="en-US" dirty="0">
              <a:solidFill>
                <a:schemeClr val="tx1"/>
              </a:solidFill>
            </a:endParaRPr>
          </a:p>
          <a:p>
            <a:pPr eaLnBrk="1" hangingPunct="1">
              <a:buNone/>
            </a:pPr>
            <a:r>
              <a:rPr lang="en-US" altLang="zh-CN" dirty="0">
                <a:solidFill>
                  <a:schemeClr val="tx1"/>
                </a:solidFill>
              </a:rPr>
              <a:t>4.2.2  </a:t>
            </a:r>
            <a:r>
              <a:rPr lang="zh-CN" altLang="en-US" dirty="0">
                <a:solidFill>
                  <a:schemeClr val="tx1"/>
                </a:solidFill>
              </a:rPr>
              <a:t>用户标识与鉴别</a:t>
            </a:r>
            <a:endParaRPr lang="zh-CN" altLang="en-US" dirty="0">
              <a:solidFill>
                <a:schemeClr val="tx1"/>
              </a:solidFill>
            </a:endParaRPr>
          </a:p>
          <a:p>
            <a:pPr eaLnBrk="1" hangingPunct="1">
              <a:buNone/>
            </a:pPr>
            <a:r>
              <a:rPr lang="en-US" altLang="zh-CN" dirty="0">
                <a:solidFill>
                  <a:schemeClr val="tx1"/>
                </a:solidFill>
              </a:rPr>
              <a:t>4.2.3  </a:t>
            </a:r>
            <a:r>
              <a:rPr lang="zh-CN" altLang="en-US" dirty="0">
                <a:solidFill>
                  <a:schemeClr val="tx1"/>
                </a:solidFill>
              </a:rPr>
              <a:t>存取控制</a:t>
            </a:r>
            <a:endParaRPr lang="zh-CN" altLang="en-US" dirty="0">
              <a:solidFill>
                <a:schemeClr val="tx1"/>
              </a:solidFill>
            </a:endParaRPr>
          </a:p>
          <a:p>
            <a:pPr eaLnBrk="1" hangingPunct="1">
              <a:buNone/>
            </a:pPr>
            <a:r>
              <a:rPr lang="en-US" altLang="zh-CN" dirty="0">
                <a:solidFill>
                  <a:schemeClr val="tx1"/>
                </a:solidFill>
              </a:rPr>
              <a:t>4.2.4  </a:t>
            </a:r>
            <a:r>
              <a:rPr lang="zh-CN" altLang="en-US" dirty="0">
                <a:solidFill>
                  <a:schemeClr val="tx1"/>
                </a:solidFill>
              </a:rPr>
              <a:t>自主存取控制方法</a:t>
            </a:r>
            <a:endParaRPr lang="zh-CN" altLang="en-US" dirty="0">
              <a:solidFill>
                <a:schemeClr val="tx1"/>
              </a:solidFill>
            </a:endParaRPr>
          </a:p>
          <a:p>
            <a:pPr eaLnBrk="1" hangingPunct="1">
              <a:buNone/>
            </a:pPr>
            <a:r>
              <a:rPr lang="en-US" altLang="zh-CN" dirty="0">
                <a:solidFill>
                  <a:schemeClr val="tx1"/>
                </a:solidFill>
              </a:rPr>
              <a:t>4.2.5  </a:t>
            </a:r>
            <a:r>
              <a:rPr lang="zh-CN" altLang="en-US" dirty="0">
                <a:solidFill>
                  <a:schemeClr val="tx1"/>
                </a:solidFill>
              </a:rPr>
              <a:t>强制存取控制方法</a:t>
            </a:r>
            <a:endParaRPr lang="zh-CN" altLang="en-US" dirty="0">
              <a:solidFill>
                <a:schemeClr val="tx1"/>
              </a:solidFill>
            </a:endParaRPr>
          </a:p>
          <a:p>
            <a:pPr eaLnBrk="1" hangingPunct="1">
              <a:buNone/>
            </a:pPr>
            <a:r>
              <a:rPr lang="en-US" altLang="zh-CN" dirty="0">
                <a:solidFill>
                  <a:srgbClr val="FF0000"/>
                </a:solidFill>
              </a:rPr>
              <a:t>4.2.6  </a:t>
            </a:r>
            <a:r>
              <a:rPr lang="zh-CN" altLang="en-US" dirty="0">
                <a:solidFill>
                  <a:srgbClr val="FF0000"/>
                </a:solidFill>
              </a:rPr>
              <a:t>视图机制</a:t>
            </a:r>
            <a:endParaRPr lang="zh-CN" altLang="en-US" dirty="0">
              <a:solidFill>
                <a:srgbClr val="FF0000"/>
              </a:solidFill>
            </a:endParaRPr>
          </a:p>
          <a:p>
            <a:pPr eaLnBrk="1" hangingPunct="1">
              <a:buNone/>
            </a:pPr>
            <a:r>
              <a:rPr lang="en-US" altLang="zh-CN" dirty="0">
                <a:solidFill>
                  <a:schemeClr val="tx1"/>
                </a:solidFill>
              </a:rPr>
              <a:t>4.2.7  </a:t>
            </a:r>
            <a:r>
              <a:rPr lang="zh-CN" altLang="en-US" dirty="0">
                <a:solidFill>
                  <a:schemeClr val="tx1"/>
                </a:solidFill>
              </a:rPr>
              <a:t>审计</a:t>
            </a:r>
            <a:endParaRPr lang="zh-CN" altLang="en-US" dirty="0">
              <a:solidFill>
                <a:schemeClr val="tx1"/>
              </a:solidFill>
            </a:endParaRPr>
          </a:p>
          <a:p>
            <a:pPr eaLnBrk="1" hangingPunct="1">
              <a:buNone/>
            </a:pPr>
            <a:r>
              <a:rPr lang="en-US" altLang="zh-CN" dirty="0">
                <a:solidFill>
                  <a:schemeClr val="tx1"/>
                </a:solidFill>
              </a:rPr>
              <a:t>4.2.8  </a:t>
            </a:r>
            <a:r>
              <a:rPr lang="zh-CN" altLang="en-US" dirty="0">
                <a:solidFill>
                  <a:schemeClr val="tx1"/>
                </a:solidFill>
              </a:rPr>
              <a:t>数据加密</a:t>
            </a:r>
            <a:endParaRPr lang="zh-CN" altLang="en-US" dirty="0">
              <a:solidFill>
                <a:schemeClr val="tx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4.2.6  </a:t>
            </a:r>
            <a:r>
              <a:rPr lang="zh-CN" altLang="en-US" dirty="0"/>
              <a:t>视图机制</a:t>
            </a:r>
            <a:endParaRPr lang="zh-CN" altLang="en-US" dirty="0"/>
          </a:p>
        </p:txBody>
      </p:sp>
      <p:sp>
        <p:nvSpPr>
          <p:cNvPr id="92164" name="Rectangle 3"/>
          <p:cNvSpPr>
            <a:spLocks noGrp="1"/>
          </p:cNvSpPr>
          <p:nvPr>
            <p:ph idx="1"/>
          </p:nvPr>
        </p:nvSpPr>
        <p:spPr>
          <a:xfrm>
            <a:off x="304800" y="1066800"/>
            <a:ext cx="8458200" cy="5486400"/>
          </a:xfrm>
          <a:ln/>
        </p:spPr>
        <p:txBody>
          <a:bodyPr vert="horz" wrap="square" lIns="91440" tIns="45720" rIns="91440" bIns="45720" anchor="t" anchorCtr="0"/>
          <a:p>
            <a:pPr eaLnBrk="1" hangingPunct="1">
              <a:lnSpc>
                <a:spcPct val="130000"/>
              </a:lnSpc>
            </a:pPr>
            <a:r>
              <a:rPr lang="zh-CN" altLang="en-US" dirty="0">
                <a:solidFill>
                  <a:schemeClr val="tx1"/>
                </a:solidFill>
              </a:rPr>
              <a:t>视图机制把要保密的数据对无权存取这些数据的用户隐藏起来，</a:t>
            </a:r>
            <a:endParaRPr lang="zh-CN" altLang="en-US" dirty="0">
              <a:solidFill>
                <a:schemeClr val="tx1"/>
              </a:solidFill>
            </a:endParaRPr>
          </a:p>
          <a:p>
            <a:pPr eaLnBrk="1" hangingPunct="1">
              <a:lnSpc>
                <a:spcPct val="130000"/>
              </a:lnSpc>
            </a:pPr>
            <a:r>
              <a:rPr lang="zh-CN" altLang="en-US" dirty="0">
                <a:solidFill>
                  <a:schemeClr val="tx1"/>
                </a:solidFill>
              </a:rPr>
              <a:t> 视图机制更主要的功能在于提供数据独立性，其安全保护功能太不精细，往往远不能达到应用系统的要求。</a:t>
            </a:r>
            <a:endParaRPr lang="zh-CN" altLang="en-US" dirty="0">
              <a:solidFill>
                <a:schemeClr val="tx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31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4.2.6  </a:t>
            </a:r>
            <a:r>
              <a:rPr lang="zh-CN" altLang="en-US" dirty="0"/>
              <a:t>视图机制</a:t>
            </a:r>
            <a:endParaRPr lang="zh-CN" altLang="en-US" dirty="0"/>
          </a:p>
        </p:txBody>
      </p:sp>
      <p:sp>
        <p:nvSpPr>
          <p:cNvPr id="93188" name="Rectangle 3"/>
          <p:cNvSpPr>
            <a:spLocks noGrp="1"/>
          </p:cNvSpPr>
          <p:nvPr>
            <p:ph idx="1"/>
          </p:nvPr>
        </p:nvSpPr>
        <p:spPr>
          <a:xfrm>
            <a:off x="304800" y="1066800"/>
            <a:ext cx="8458200" cy="5029200"/>
          </a:xfrm>
          <a:ln/>
        </p:spPr>
        <p:txBody>
          <a:bodyPr vert="horz" wrap="square" lIns="91440" tIns="45720" rIns="91440" bIns="45720" anchor="t" anchorCtr="0"/>
          <a:p>
            <a:pPr eaLnBrk="1" hangingPunct="1">
              <a:lnSpc>
                <a:spcPct val="140000"/>
              </a:lnSpc>
            </a:pPr>
            <a:r>
              <a:rPr lang="zh-CN" altLang="en-US" dirty="0">
                <a:solidFill>
                  <a:schemeClr val="tx1"/>
                </a:solidFill>
              </a:rPr>
              <a:t>视图机制与授权机制配合使用</a:t>
            </a:r>
            <a:r>
              <a:rPr lang="en-US" altLang="zh-CN" dirty="0">
                <a:solidFill>
                  <a:schemeClr val="tx1"/>
                </a:solidFill>
              </a:rPr>
              <a:t>:</a:t>
            </a:r>
            <a:endParaRPr lang="en-US" altLang="zh-CN" dirty="0">
              <a:solidFill>
                <a:schemeClr val="tx1"/>
              </a:solidFill>
            </a:endParaRPr>
          </a:p>
          <a:p>
            <a:pPr eaLnBrk="1" hangingPunct="1">
              <a:lnSpc>
                <a:spcPct val="140000"/>
              </a:lnSpc>
            </a:pPr>
            <a:r>
              <a:rPr lang="zh-CN" altLang="en-US" dirty="0">
                <a:solidFill>
                  <a:schemeClr val="tx1"/>
                </a:solidFill>
              </a:rPr>
              <a:t>首先用视图机制屏蔽掉一部分保密数据</a:t>
            </a:r>
            <a:endParaRPr lang="zh-CN" altLang="en-US" dirty="0">
              <a:solidFill>
                <a:schemeClr val="tx1"/>
              </a:solidFill>
            </a:endParaRPr>
          </a:p>
          <a:p>
            <a:pPr eaLnBrk="1" hangingPunct="1">
              <a:lnSpc>
                <a:spcPct val="140000"/>
              </a:lnSpc>
            </a:pPr>
            <a:r>
              <a:rPr lang="zh-CN" altLang="en-US" dirty="0">
                <a:solidFill>
                  <a:schemeClr val="tx1"/>
                </a:solidFill>
              </a:rPr>
              <a:t>视图上面再进一步定义存取权限</a:t>
            </a:r>
            <a:endParaRPr lang="zh-CN" altLang="en-US" dirty="0">
              <a:solidFill>
                <a:schemeClr val="tx1"/>
              </a:solidFill>
            </a:endParaRPr>
          </a:p>
          <a:p>
            <a:pPr eaLnBrk="1" hangingPunct="1">
              <a:lnSpc>
                <a:spcPct val="140000"/>
              </a:lnSpc>
            </a:pPr>
            <a:r>
              <a:rPr lang="zh-CN" altLang="en-US" dirty="0">
                <a:solidFill>
                  <a:schemeClr val="tx1"/>
                </a:solidFill>
              </a:rPr>
              <a:t>间接实现了支持存取谓词的用户权限定义</a:t>
            </a:r>
            <a:endParaRPr lang="zh-CN" altLang="en-US" dirty="0">
              <a:solidFill>
                <a:schemeClr val="tx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42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94212" name="Rectangle 3"/>
          <p:cNvSpPr>
            <a:spLocks noGrp="1"/>
          </p:cNvSpPr>
          <p:nvPr>
            <p:ph idx="1"/>
          </p:nvPr>
        </p:nvSpPr>
        <p:spPr>
          <a:xfrm>
            <a:off x="762000" y="914400"/>
            <a:ext cx="7162800" cy="5486400"/>
          </a:xfrm>
          <a:ln/>
        </p:spPr>
        <p:txBody>
          <a:bodyPr vert="horz" wrap="square" lIns="91440" tIns="45720" rIns="91440" bIns="45720" anchor="t" anchorCtr="0"/>
          <a:p>
            <a:pPr eaLnBrk="1" hangingPunct="1">
              <a:buNone/>
            </a:pPr>
            <a:r>
              <a:rPr lang="en-US" altLang="zh-CN" dirty="0">
                <a:solidFill>
                  <a:schemeClr val="tx1"/>
                </a:solidFill>
              </a:rPr>
              <a:t>4.2.1  </a:t>
            </a:r>
            <a:r>
              <a:rPr lang="zh-CN" altLang="en-US" dirty="0">
                <a:solidFill>
                  <a:schemeClr val="tx1"/>
                </a:solidFill>
              </a:rPr>
              <a:t>数据库安全性控制概述</a:t>
            </a:r>
            <a:endParaRPr lang="zh-CN" altLang="en-US" dirty="0">
              <a:solidFill>
                <a:schemeClr val="tx1"/>
              </a:solidFill>
            </a:endParaRPr>
          </a:p>
          <a:p>
            <a:pPr eaLnBrk="1" hangingPunct="1">
              <a:buNone/>
            </a:pPr>
            <a:r>
              <a:rPr lang="en-US" altLang="zh-CN" dirty="0">
                <a:solidFill>
                  <a:schemeClr val="tx1"/>
                </a:solidFill>
              </a:rPr>
              <a:t>4.2.2  </a:t>
            </a:r>
            <a:r>
              <a:rPr lang="zh-CN" altLang="en-US" dirty="0">
                <a:solidFill>
                  <a:schemeClr val="tx1"/>
                </a:solidFill>
              </a:rPr>
              <a:t>用户标识与鉴别</a:t>
            </a:r>
            <a:endParaRPr lang="zh-CN" altLang="en-US" dirty="0">
              <a:solidFill>
                <a:schemeClr val="tx1"/>
              </a:solidFill>
            </a:endParaRPr>
          </a:p>
          <a:p>
            <a:pPr eaLnBrk="1" hangingPunct="1">
              <a:buNone/>
            </a:pPr>
            <a:r>
              <a:rPr lang="en-US" altLang="zh-CN" dirty="0">
                <a:solidFill>
                  <a:schemeClr val="tx1"/>
                </a:solidFill>
              </a:rPr>
              <a:t>4.2.3  </a:t>
            </a:r>
            <a:r>
              <a:rPr lang="zh-CN" altLang="en-US" dirty="0">
                <a:solidFill>
                  <a:schemeClr val="tx1"/>
                </a:solidFill>
              </a:rPr>
              <a:t>存取控制</a:t>
            </a:r>
            <a:endParaRPr lang="zh-CN" altLang="en-US" dirty="0">
              <a:solidFill>
                <a:schemeClr val="tx1"/>
              </a:solidFill>
            </a:endParaRPr>
          </a:p>
          <a:p>
            <a:pPr eaLnBrk="1" hangingPunct="1">
              <a:buNone/>
            </a:pPr>
            <a:r>
              <a:rPr lang="en-US" altLang="zh-CN" dirty="0">
                <a:solidFill>
                  <a:schemeClr val="tx1"/>
                </a:solidFill>
              </a:rPr>
              <a:t>4.2.4  </a:t>
            </a:r>
            <a:r>
              <a:rPr lang="zh-CN" altLang="en-US" dirty="0">
                <a:solidFill>
                  <a:schemeClr val="tx1"/>
                </a:solidFill>
              </a:rPr>
              <a:t>自主存取控制方法</a:t>
            </a:r>
            <a:endParaRPr lang="zh-CN" altLang="en-US" dirty="0">
              <a:solidFill>
                <a:schemeClr val="tx1"/>
              </a:solidFill>
            </a:endParaRPr>
          </a:p>
          <a:p>
            <a:pPr eaLnBrk="1" hangingPunct="1">
              <a:buNone/>
            </a:pPr>
            <a:r>
              <a:rPr lang="en-US" altLang="zh-CN" dirty="0">
                <a:solidFill>
                  <a:schemeClr val="tx1"/>
                </a:solidFill>
              </a:rPr>
              <a:t>4.2.5  </a:t>
            </a:r>
            <a:r>
              <a:rPr lang="zh-CN" altLang="en-US" dirty="0">
                <a:solidFill>
                  <a:schemeClr val="tx1"/>
                </a:solidFill>
              </a:rPr>
              <a:t>强制存取控制方法</a:t>
            </a:r>
            <a:endParaRPr lang="zh-CN" altLang="en-US" dirty="0">
              <a:solidFill>
                <a:schemeClr val="tx1"/>
              </a:solidFill>
            </a:endParaRPr>
          </a:p>
          <a:p>
            <a:pPr eaLnBrk="1" hangingPunct="1">
              <a:buNone/>
            </a:pPr>
            <a:r>
              <a:rPr lang="en-US" altLang="zh-CN" dirty="0">
                <a:solidFill>
                  <a:schemeClr val="tx1"/>
                </a:solidFill>
              </a:rPr>
              <a:t>4.2.6  </a:t>
            </a:r>
            <a:r>
              <a:rPr lang="zh-CN" altLang="en-US" dirty="0">
                <a:solidFill>
                  <a:schemeClr val="tx1"/>
                </a:solidFill>
              </a:rPr>
              <a:t>视图机制</a:t>
            </a:r>
            <a:endParaRPr lang="zh-CN" altLang="en-US" dirty="0">
              <a:solidFill>
                <a:schemeClr val="tx1"/>
              </a:solidFill>
            </a:endParaRPr>
          </a:p>
          <a:p>
            <a:pPr eaLnBrk="1" hangingPunct="1">
              <a:buNone/>
            </a:pPr>
            <a:r>
              <a:rPr lang="en-US" altLang="zh-CN" dirty="0">
                <a:solidFill>
                  <a:srgbClr val="FF0000"/>
                </a:solidFill>
              </a:rPr>
              <a:t>4.2.7  </a:t>
            </a:r>
            <a:r>
              <a:rPr lang="zh-CN" altLang="en-US" dirty="0">
                <a:solidFill>
                  <a:srgbClr val="FF0000"/>
                </a:solidFill>
              </a:rPr>
              <a:t>审计</a:t>
            </a:r>
            <a:endParaRPr lang="zh-CN" altLang="en-US" dirty="0">
              <a:solidFill>
                <a:srgbClr val="FF0000"/>
              </a:solidFill>
            </a:endParaRPr>
          </a:p>
          <a:p>
            <a:pPr eaLnBrk="1" hangingPunct="1">
              <a:buNone/>
            </a:pPr>
            <a:r>
              <a:rPr lang="en-US" altLang="zh-CN" dirty="0">
                <a:solidFill>
                  <a:schemeClr val="tx1"/>
                </a:solidFill>
              </a:rPr>
              <a:t>4.2.8  </a:t>
            </a:r>
            <a:r>
              <a:rPr lang="zh-CN" altLang="en-US" dirty="0">
                <a:solidFill>
                  <a:schemeClr val="tx1"/>
                </a:solidFill>
              </a:rPr>
              <a:t>数据加密</a:t>
            </a:r>
            <a:endParaRPr lang="zh-CN" altLang="en-US" dirty="0">
              <a:solidFill>
                <a:schemeClr val="tx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52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4.2.7  </a:t>
            </a:r>
            <a:r>
              <a:rPr lang="zh-CN" altLang="en-US" dirty="0"/>
              <a:t>审计</a:t>
            </a:r>
            <a:endParaRPr lang="zh-CN" altLang="en-US" dirty="0"/>
          </a:p>
        </p:txBody>
      </p:sp>
      <p:sp>
        <p:nvSpPr>
          <p:cNvPr id="95236" name="Rectangle 3"/>
          <p:cNvSpPr>
            <a:spLocks noGrp="1"/>
          </p:cNvSpPr>
          <p:nvPr>
            <p:ph idx="1"/>
          </p:nvPr>
        </p:nvSpPr>
        <p:spPr>
          <a:xfrm>
            <a:off x="304800" y="1066800"/>
            <a:ext cx="8458200" cy="5029200"/>
          </a:xfrm>
          <a:ln/>
        </p:spPr>
        <p:txBody>
          <a:bodyPr vert="horz" wrap="square" lIns="91440" tIns="45720" rIns="91440" bIns="45720" anchor="t" anchorCtr="0"/>
          <a:p>
            <a:pPr eaLnBrk="1" hangingPunct="1">
              <a:lnSpc>
                <a:spcPct val="90000"/>
              </a:lnSpc>
            </a:pPr>
            <a:r>
              <a:rPr lang="zh-CN" altLang="en-US" sz="3600" dirty="0"/>
              <a:t>什么是审计</a:t>
            </a:r>
            <a:endParaRPr lang="zh-CN" altLang="en-US" sz="3600" dirty="0"/>
          </a:p>
          <a:p>
            <a:pPr lvl="1" eaLnBrk="1" hangingPunct="1">
              <a:spcBef>
                <a:spcPct val="60000"/>
              </a:spcBef>
            </a:pPr>
            <a:r>
              <a:rPr lang="zh-CN" altLang="en-US" dirty="0"/>
              <a:t>启用一个专用的审计日志（</a:t>
            </a:r>
            <a:r>
              <a:rPr lang="en-US" altLang="zh-CN" dirty="0"/>
              <a:t>Audit Log</a:t>
            </a:r>
            <a:r>
              <a:rPr lang="zh-CN" altLang="en-US" dirty="0"/>
              <a:t>）</a:t>
            </a:r>
            <a:endParaRPr lang="zh-CN" altLang="en-US" dirty="0"/>
          </a:p>
          <a:p>
            <a:pPr lvl="1" eaLnBrk="1" hangingPunct="1">
              <a:spcBef>
                <a:spcPct val="60000"/>
              </a:spcBef>
              <a:buNone/>
            </a:pPr>
            <a:r>
              <a:rPr lang="zh-CN" altLang="en-US" dirty="0"/>
              <a:t>   将用户对数据库的所有操作记录在上面</a:t>
            </a:r>
            <a:endParaRPr lang="zh-CN" altLang="en-US" dirty="0"/>
          </a:p>
          <a:p>
            <a:pPr lvl="1" eaLnBrk="1" hangingPunct="1">
              <a:spcBef>
                <a:spcPct val="60000"/>
              </a:spcBef>
            </a:pPr>
            <a:r>
              <a:rPr lang="en-US" altLang="zh-CN" dirty="0"/>
              <a:t>DBA</a:t>
            </a:r>
            <a:r>
              <a:rPr lang="zh-CN" altLang="en-US" dirty="0"/>
              <a:t>可以利用审计日志中的追踪信息</a:t>
            </a:r>
            <a:endParaRPr lang="zh-CN" altLang="en-US" dirty="0"/>
          </a:p>
          <a:p>
            <a:pPr lvl="1" eaLnBrk="1" hangingPunct="1">
              <a:spcBef>
                <a:spcPct val="60000"/>
              </a:spcBef>
              <a:buNone/>
            </a:pPr>
            <a:r>
              <a:rPr lang="zh-CN" altLang="en-US" dirty="0"/>
              <a:t>  找出非法存取数据的人</a:t>
            </a:r>
            <a:endParaRPr lang="zh-CN" altLang="en-US" dirty="0"/>
          </a:p>
          <a:p>
            <a:pPr lvl="1" eaLnBrk="1" hangingPunct="1">
              <a:spcBef>
                <a:spcPct val="60000"/>
              </a:spcBef>
            </a:pPr>
            <a:r>
              <a:rPr lang="en-US" altLang="zh-CN" dirty="0"/>
              <a:t>C2</a:t>
            </a:r>
            <a:r>
              <a:rPr lang="zh-CN" altLang="en-US" dirty="0"/>
              <a:t>以上安全级别的</a:t>
            </a:r>
            <a:r>
              <a:rPr lang="en-US" altLang="zh-CN" dirty="0"/>
              <a:t>DBMS</a:t>
            </a:r>
            <a:r>
              <a:rPr lang="zh-CN" altLang="en-US" dirty="0"/>
              <a:t>必须具有审计功能</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62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4.2.7  </a:t>
            </a:r>
            <a:r>
              <a:rPr lang="zh-CN" altLang="en-US" dirty="0"/>
              <a:t>审计</a:t>
            </a:r>
            <a:endParaRPr lang="zh-CN" altLang="en-US" dirty="0"/>
          </a:p>
        </p:txBody>
      </p:sp>
      <p:sp>
        <p:nvSpPr>
          <p:cNvPr id="96260" name="Rectangle 3"/>
          <p:cNvSpPr>
            <a:spLocks noGrp="1"/>
          </p:cNvSpPr>
          <p:nvPr>
            <p:ph idx="1"/>
          </p:nvPr>
        </p:nvSpPr>
        <p:spPr>
          <a:xfrm>
            <a:off x="381000" y="1066800"/>
            <a:ext cx="8458200" cy="5029200"/>
          </a:xfrm>
          <a:ln/>
        </p:spPr>
        <p:txBody>
          <a:bodyPr vert="horz" wrap="square" lIns="91440" tIns="45720" rIns="91440" bIns="45720" anchor="t" anchorCtr="0"/>
          <a:p>
            <a:pPr eaLnBrk="1" hangingPunct="1">
              <a:lnSpc>
                <a:spcPct val="115000"/>
              </a:lnSpc>
              <a:spcBef>
                <a:spcPct val="15000"/>
              </a:spcBef>
            </a:pPr>
            <a:r>
              <a:rPr lang="zh-CN" altLang="en-US" dirty="0">
                <a:solidFill>
                  <a:schemeClr val="tx1"/>
                </a:solidFill>
              </a:rPr>
              <a:t>审计很费时间和空间，可灵活地打开或关闭审计功能。</a:t>
            </a:r>
            <a:endParaRPr lang="zh-CN" altLang="en-US" dirty="0">
              <a:solidFill>
                <a:schemeClr val="tx1"/>
              </a:solidFill>
            </a:endParaRPr>
          </a:p>
          <a:p>
            <a:pPr eaLnBrk="1" hangingPunct="1">
              <a:lnSpc>
                <a:spcPct val="115000"/>
              </a:lnSpc>
              <a:spcBef>
                <a:spcPct val="15000"/>
              </a:spcBef>
            </a:pPr>
            <a:r>
              <a:rPr lang="zh-CN" altLang="en-US" dirty="0">
                <a:solidFill>
                  <a:schemeClr val="tx1"/>
                </a:solidFill>
              </a:rPr>
              <a:t>强制性机制</a:t>
            </a:r>
            <a:r>
              <a:rPr lang="en-US" altLang="zh-CN" dirty="0">
                <a:solidFill>
                  <a:schemeClr val="tx1"/>
                </a:solidFill>
              </a:rPr>
              <a:t>:</a:t>
            </a:r>
            <a:endParaRPr lang="en-US" altLang="zh-CN" dirty="0">
              <a:solidFill>
                <a:schemeClr val="tx1"/>
              </a:solidFill>
            </a:endParaRPr>
          </a:p>
          <a:p>
            <a:pPr lvl="1" eaLnBrk="1" hangingPunct="1">
              <a:lnSpc>
                <a:spcPct val="115000"/>
              </a:lnSpc>
              <a:spcBef>
                <a:spcPct val="15000"/>
              </a:spcBef>
              <a:buNone/>
            </a:pPr>
            <a:r>
              <a:rPr lang="zh-CN" altLang="en-US" dirty="0"/>
              <a:t>用户识别和鉴定、存取控制、视图</a:t>
            </a:r>
            <a:endParaRPr lang="zh-CN" altLang="en-US" dirty="0"/>
          </a:p>
          <a:p>
            <a:pPr eaLnBrk="1" hangingPunct="1">
              <a:lnSpc>
                <a:spcPct val="115000"/>
              </a:lnSpc>
              <a:spcBef>
                <a:spcPct val="15000"/>
              </a:spcBef>
            </a:pPr>
            <a:r>
              <a:rPr lang="zh-CN" altLang="en-US" dirty="0">
                <a:solidFill>
                  <a:schemeClr val="tx1"/>
                </a:solidFill>
              </a:rPr>
              <a:t>预防监测手段</a:t>
            </a:r>
            <a:r>
              <a:rPr lang="en-US" altLang="zh-CN" dirty="0">
                <a:solidFill>
                  <a:schemeClr val="tx1"/>
                </a:solidFill>
              </a:rPr>
              <a:t>:</a:t>
            </a:r>
            <a:endParaRPr lang="en-US" altLang="zh-CN" dirty="0">
              <a:solidFill>
                <a:schemeClr val="tx1"/>
              </a:solidFill>
            </a:endParaRPr>
          </a:p>
          <a:p>
            <a:pPr eaLnBrk="1" hangingPunct="1">
              <a:lnSpc>
                <a:spcPct val="115000"/>
              </a:lnSpc>
              <a:spcBef>
                <a:spcPct val="15000"/>
              </a:spcBef>
              <a:buNone/>
            </a:pPr>
            <a:r>
              <a:rPr lang="en-US" altLang="zh-CN" dirty="0">
                <a:solidFill>
                  <a:schemeClr val="tx1"/>
                </a:solidFill>
              </a:rPr>
              <a:t>     </a:t>
            </a:r>
            <a:r>
              <a:rPr lang="zh-CN" altLang="en-US" dirty="0">
                <a:solidFill>
                  <a:schemeClr val="tx1"/>
                </a:solidFill>
              </a:rPr>
              <a:t>审计技术</a:t>
            </a:r>
            <a:endParaRPr lang="zh-CN" altLang="en-US" dirty="0">
              <a:solidFill>
                <a:schemeClr val="tx1"/>
              </a:solidFill>
            </a:endParaRPr>
          </a:p>
          <a:p>
            <a:pPr lvl="1" eaLnBrk="1" hangingPunct="1">
              <a:lnSpc>
                <a:spcPct val="115000"/>
              </a:lnSpc>
              <a:spcBef>
                <a:spcPct val="15000"/>
              </a:spcBef>
            </a:pP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72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 </a:t>
            </a:r>
            <a:r>
              <a:rPr lang="zh-CN" altLang="en-US" dirty="0"/>
              <a:t>数据库安全性控制</a:t>
            </a:r>
            <a:endParaRPr lang="zh-CN" altLang="en-US" dirty="0"/>
          </a:p>
        </p:txBody>
      </p:sp>
      <p:sp>
        <p:nvSpPr>
          <p:cNvPr id="97284" name="Rectangle 3"/>
          <p:cNvSpPr>
            <a:spLocks noGrp="1"/>
          </p:cNvSpPr>
          <p:nvPr>
            <p:ph idx="1"/>
          </p:nvPr>
        </p:nvSpPr>
        <p:spPr>
          <a:xfrm>
            <a:off x="762000" y="914400"/>
            <a:ext cx="7162800" cy="5486400"/>
          </a:xfrm>
          <a:ln/>
        </p:spPr>
        <p:txBody>
          <a:bodyPr vert="horz" wrap="square" lIns="91440" tIns="45720" rIns="91440" bIns="45720" anchor="t" anchorCtr="0"/>
          <a:p>
            <a:pPr eaLnBrk="1" hangingPunct="1">
              <a:buNone/>
            </a:pPr>
            <a:r>
              <a:rPr lang="en-US" altLang="zh-CN" dirty="0">
                <a:solidFill>
                  <a:schemeClr val="tx1"/>
                </a:solidFill>
              </a:rPr>
              <a:t>4.2.1  </a:t>
            </a:r>
            <a:r>
              <a:rPr lang="zh-CN" altLang="en-US" dirty="0">
                <a:solidFill>
                  <a:schemeClr val="tx1"/>
                </a:solidFill>
              </a:rPr>
              <a:t>数据库安全性控制概述</a:t>
            </a:r>
            <a:endParaRPr lang="zh-CN" altLang="en-US" dirty="0">
              <a:solidFill>
                <a:schemeClr val="tx1"/>
              </a:solidFill>
            </a:endParaRPr>
          </a:p>
          <a:p>
            <a:pPr eaLnBrk="1" hangingPunct="1">
              <a:buNone/>
            </a:pPr>
            <a:r>
              <a:rPr lang="en-US" altLang="zh-CN" dirty="0">
                <a:solidFill>
                  <a:schemeClr val="tx1"/>
                </a:solidFill>
              </a:rPr>
              <a:t>4.2.2  </a:t>
            </a:r>
            <a:r>
              <a:rPr lang="zh-CN" altLang="en-US" dirty="0">
                <a:solidFill>
                  <a:schemeClr val="tx1"/>
                </a:solidFill>
              </a:rPr>
              <a:t>用户标识与鉴别</a:t>
            </a:r>
            <a:endParaRPr lang="zh-CN" altLang="en-US" dirty="0">
              <a:solidFill>
                <a:schemeClr val="tx1"/>
              </a:solidFill>
            </a:endParaRPr>
          </a:p>
          <a:p>
            <a:pPr eaLnBrk="1" hangingPunct="1">
              <a:buNone/>
            </a:pPr>
            <a:r>
              <a:rPr lang="en-US" altLang="zh-CN" dirty="0">
                <a:solidFill>
                  <a:schemeClr val="tx1"/>
                </a:solidFill>
              </a:rPr>
              <a:t>4.2.3  </a:t>
            </a:r>
            <a:r>
              <a:rPr lang="zh-CN" altLang="en-US" dirty="0">
                <a:solidFill>
                  <a:schemeClr val="tx1"/>
                </a:solidFill>
              </a:rPr>
              <a:t>存取控制</a:t>
            </a:r>
            <a:endParaRPr lang="zh-CN" altLang="en-US" dirty="0">
              <a:solidFill>
                <a:schemeClr val="tx1"/>
              </a:solidFill>
            </a:endParaRPr>
          </a:p>
          <a:p>
            <a:pPr eaLnBrk="1" hangingPunct="1">
              <a:buNone/>
            </a:pPr>
            <a:r>
              <a:rPr lang="en-US" altLang="zh-CN" dirty="0">
                <a:solidFill>
                  <a:schemeClr val="tx1"/>
                </a:solidFill>
              </a:rPr>
              <a:t>4.2.4  </a:t>
            </a:r>
            <a:r>
              <a:rPr lang="zh-CN" altLang="en-US" dirty="0">
                <a:solidFill>
                  <a:schemeClr val="tx1"/>
                </a:solidFill>
              </a:rPr>
              <a:t>自主存取控制方法</a:t>
            </a:r>
            <a:endParaRPr lang="zh-CN" altLang="en-US" dirty="0">
              <a:solidFill>
                <a:schemeClr val="tx1"/>
              </a:solidFill>
            </a:endParaRPr>
          </a:p>
          <a:p>
            <a:pPr eaLnBrk="1" hangingPunct="1">
              <a:buNone/>
            </a:pPr>
            <a:r>
              <a:rPr lang="en-US" altLang="zh-CN" dirty="0">
                <a:solidFill>
                  <a:schemeClr val="tx1"/>
                </a:solidFill>
              </a:rPr>
              <a:t>4.2.5  </a:t>
            </a:r>
            <a:r>
              <a:rPr lang="zh-CN" altLang="en-US" dirty="0">
                <a:solidFill>
                  <a:schemeClr val="tx1"/>
                </a:solidFill>
              </a:rPr>
              <a:t>强制存取控制方法</a:t>
            </a:r>
            <a:endParaRPr lang="zh-CN" altLang="en-US" dirty="0">
              <a:solidFill>
                <a:schemeClr val="tx1"/>
              </a:solidFill>
            </a:endParaRPr>
          </a:p>
          <a:p>
            <a:pPr eaLnBrk="1" hangingPunct="1">
              <a:buNone/>
            </a:pPr>
            <a:r>
              <a:rPr lang="en-US" altLang="zh-CN" dirty="0">
                <a:solidFill>
                  <a:schemeClr val="tx1"/>
                </a:solidFill>
              </a:rPr>
              <a:t>4.2.6  </a:t>
            </a:r>
            <a:r>
              <a:rPr lang="zh-CN" altLang="en-US" dirty="0">
                <a:solidFill>
                  <a:schemeClr val="tx1"/>
                </a:solidFill>
              </a:rPr>
              <a:t>视图机制</a:t>
            </a:r>
            <a:endParaRPr lang="zh-CN" altLang="en-US" dirty="0">
              <a:solidFill>
                <a:schemeClr val="tx1"/>
              </a:solidFill>
            </a:endParaRPr>
          </a:p>
          <a:p>
            <a:pPr eaLnBrk="1" hangingPunct="1">
              <a:buNone/>
            </a:pPr>
            <a:r>
              <a:rPr lang="en-US" altLang="zh-CN" dirty="0">
                <a:solidFill>
                  <a:schemeClr val="tx1"/>
                </a:solidFill>
              </a:rPr>
              <a:t>4.2.7  </a:t>
            </a:r>
            <a:r>
              <a:rPr lang="zh-CN" altLang="en-US" dirty="0">
                <a:solidFill>
                  <a:schemeClr val="tx1"/>
                </a:solidFill>
              </a:rPr>
              <a:t>审计</a:t>
            </a:r>
            <a:endParaRPr lang="zh-CN" altLang="en-US" dirty="0">
              <a:solidFill>
                <a:schemeClr val="tx1"/>
              </a:solidFill>
            </a:endParaRPr>
          </a:p>
          <a:p>
            <a:pPr eaLnBrk="1" hangingPunct="1">
              <a:buNone/>
            </a:pPr>
            <a:r>
              <a:rPr lang="en-US" altLang="zh-CN" dirty="0">
                <a:solidFill>
                  <a:srgbClr val="FF0000"/>
                </a:solidFill>
              </a:rPr>
              <a:t>4.2.8  </a:t>
            </a:r>
            <a:r>
              <a:rPr lang="zh-CN" altLang="en-US" dirty="0">
                <a:solidFill>
                  <a:srgbClr val="FF0000"/>
                </a:solidFill>
              </a:rPr>
              <a:t>数据加密</a:t>
            </a:r>
            <a:endParaRPr lang="zh-CN" altLang="en-US" dirty="0">
              <a:solidFill>
                <a:srgbClr val="FF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83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4.2.8  </a:t>
            </a:r>
            <a:r>
              <a:rPr lang="zh-CN" altLang="en-US" dirty="0"/>
              <a:t>数据加密</a:t>
            </a:r>
            <a:endParaRPr lang="zh-CN" altLang="en-US" dirty="0"/>
          </a:p>
        </p:txBody>
      </p:sp>
      <p:sp>
        <p:nvSpPr>
          <p:cNvPr id="98308" name="Rectangle 3"/>
          <p:cNvSpPr>
            <a:spLocks noGrp="1"/>
          </p:cNvSpPr>
          <p:nvPr>
            <p:ph idx="1"/>
          </p:nvPr>
        </p:nvSpPr>
        <p:spPr>
          <a:xfrm>
            <a:off x="381000" y="914400"/>
            <a:ext cx="8458200" cy="5257800"/>
          </a:xfrm>
          <a:ln/>
        </p:spPr>
        <p:txBody>
          <a:bodyPr vert="horz" wrap="square" lIns="91440" tIns="45720" rIns="91440" bIns="45720" anchor="t" anchorCtr="0"/>
          <a:p>
            <a:pPr eaLnBrk="1" hangingPunct="1">
              <a:lnSpc>
                <a:spcPct val="120000"/>
              </a:lnSpc>
            </a:pPr>
            <a:r>
              <a:rPr lang="zh-CN" altLang="en-US" sz="3600" dirty="0"/>
              <a:t>数据加密</a:t>
            </a:r>
            <a:endParaRPr lang="zh-CN" altLang="en-US" sz="3600" dirty="0"/>
          </a:p>
          <a:p>
            <a:pPr lvl="1" eaLnBrk="1" hangingPunct="1">
              <a:lnSpc>
                <a:spcPct val="120000"/>
              </a:lnSpc>
            </a:pPr>
            <a:r>
              <a:rPr lang="zh-CN" altLang="en-US" dirty="0"/>
              <a:t>防止数据库中数据在存储和传输中失密的有效手段（可选特征）</a:t>
            </a:r>
            <a:endParaRPr lang="zh-CN" altLang="en-US" dirty="0"/>
          </a:p>
          <a:p>
            <a:pPr eaLnBrk="1" hangingPunct="1">
              <a:lnSpc>
                <a:spcPct val="120000"/>
              </a:lnSpc>
            </a:pPr>
            <a:r>
              <a:rPr lang="zh-CN" altLang="en-US" sz="3600" dirty="0"/>
              <a:t>加密的基本思想</a:t>
            </a:r>
            <a:endParaRPr lang="zh-CN" altLang="en-US" sz="3600" dirty="0"/>
          </a:p>
          <a:p>
            <a:pPr lvl="1" eaLnBrk="1" hangingPunct="1">
              <a:lnSpc>
                <a:spcPct val="120000"/>
              </a:lnSpc>
            </a:pPr>
            <a:r>
              <a:rPr lang="zh-CN" altLang="en-US" dirty="0"/>
              <a:t>根据一定的算法将原始数据（术语为明文，</a:t>
            </a:r>
            <a:r>
              <a:rPr lang="en-US" altLang="zh-CN" dirty="0"/>
              <a:t>Plain text</a:t>
            </a:r>
            <a:r>
              <a:rPr lang="zh-CN" altLang="en-US" dirty="0"/>
              <a:t>）变换为不可直接识别的格式（术语为密文，</a:t>
            </a:r>
            <a:r>
              <a:rPr lang="en-US" altLang="zh-CN" dirty="0"/>
              <a:t>Cipher text</a:t>
            </a:r>
            <a:r>
              <a:rPr lang="zh-CN" altLang="en-US" dirty="0"/>
              <a:t>）</a:t>
            </a:r>
            <a:endParaRPr lang="zh-CN" altLang="en-US" dirty="0"/>
          </a:p>
          <a:p>
            <a:pPr lvl="1" eaLnBrk="1" hangingPunct="1">
              <a:lnSpc>
                <a:spcPct val="120000"/>
              </a:lnSpc>
            </a:pPr>
            <a:r>
              <a:rPr lang="zh-CN" altLang="en-US" dirty="0"/>
              <a:t>不知道解密算法的人无法获知数据的内容</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9331" name="Rectangle 2"/>
          <p:cNvSpPr/>
          <p:nvPr/>
        </p:nvSpPr>
        <p:spPr>
          <a:xfrm>
            <a:off x="558800" y="28829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99332" name="Rectangle 3"/>
          <p:cNvSpPr>
            <a:spLocks noGrp="1"/>
          </p:cNvSpPr>
          <p:nvPr>
            <p:ph idx="1"/>
          </p:nvPr>
        </p:nvSpPr>
        <p:spPr>
          <a:xfrm>
            <a:off x="762000" y="1358900"/>
            <a:ext cx="7696200" cy="471170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4.1  </a:t>
            </a:r>
            <a:r>
              <a:rPr lang="zh-CN" altLang="en-US" dirty="0">
                <a:solidFill>
                  <a:schemeClr val="tx1"/>
                </a:solidFill>
              </a:rPr>
              <a:t>计算机安全性概论</a:t>
            </a:r>
            <a:endParaRPr lang="zh-CN" altLang="en-US" dirty="0">
              <a:solidFill>
                <a:schemeClr val="tx1"/>
              </a:solidFill>
            </a:endParaRPr>
          </a:p>
          <a:p>
            <a:pPr algn="just" eaLnBrk="1" hangingPunct="1">
              <a:lnSpc>
                <a:spcPct val="130000"/>
              </a:lnSpc>
              <a:buNone/>
            </a:pPr>
            <a:r>
              <a:rPr lang="en-US" altLang="zh-CN" dirty="0">
                <a:solidFill>
                  <a:schemeClr val="tx1"/>
                </a:solidFill>
              </a:rPr>
              <a:t>4.2  </a:t>
            </a:r>
            <a:r>
              <a:rPr lang="zh-CN" altLang="en-US" dirty="0">
                <a:solidFill>
                  <a:schemeClr val="tx1"/>
                </a:solidFill>
              </a:rPr>
              <a:t>数据库安全性控制</a:t>
            </a:r>
            <a:endParaRPr lang="zh-CN" altLang="en-US" dirty="0">
              <a:solidFill>
                <a:schemeClr val="tx1"/>
              </a:solidFill>
            </a:endParaRPr>
          </a:p>
          <a:p>
            <a:pPr algn="just" eaLnBrk="1" hangingPunct="1">
              <a:lnSpc>
                <a:spcPct val="130000"/>
              </a:lnSpc>
              <a:buNone/>
            </a:pPr>
            <a:r>
              <a:rPr lang="en-US" altLang="zh-CN" dirty="0">
                <a:solidFill>
                  <a:schemeClr val="bg1"/>
                </a:solidFill>
              </a:rPr>
              <a:t>4.3  </a:t>
            </a:r>
            <a:r>
              <a:rPr lang="zh-CN" altLang="en-US" dirty="0">
                <a:solidFill>
                  <a:schemeClr val="bg1"/>
                </a:solidFill>
              </a:rPr>
              <a:t>统计数据库安全性</a:t>
            </a:r>
            <a:endParaRPr lang="zh-CN" altLang="en-US" dirty="0">
              <a:solidFill>
                <a:schemeClr val="bg1"/>
              </a:solidFill>
            </a:endParaRPr>
          </a:p>
          <a:p>
            <a:pPr algn="just" eaLnBrk="1" hangingPunct="1">
              <a:lnSpc>
                <a:spcPct val="130000"/>
              </a:lnSpc>
              <a:buNone/>
            </a:pPr>
            <a:r>
              <a:rPr lang="en-US" altLang="zh-CN" dirty="0">
                <a:solidFill>
                  <a:schemeClr val="tx1"/>
                </a:solidFill>
              </a:rPr>
              <a:t>4.4  SQL Server</a:t>
            </a:r>
            <a:r>
              <a:rPr lang="zh-CN" altLang="en-US" dirty="0">
                <a:solidFill>
                  <a:schemeClr val="tx1"/>
                </a:solidFill>
              </a:rPr>
              <a:t>数据库的安全性措施</a:t>
            </a:r>
            <a:endParaRPr lang="zh-CN" altLang="en-US" dirty="0">
              <a:solidFill>
                <a:schemeClr val="tx1"/>
              </a:solidFill>
            </a:endParaRPr>
          </a:p>
          <a:p>
            <a:pPr algn="just" eaLnBrk="1" hangingPunct="1">
              <a:lnSpc>
                <a:spcPct val="130000"/>
              </a:lnSpc>
              <a:buNone/>
            </a:pPr>
            <a:r>
              <a:rPr lang="en-US" altLang="zh-CN" dirty="0">
                <a:solidFill>
                  <a:schemeClr val="tx1"/>
                </a:solidFill>
              </a:rPr>
              <a:t>4.5  </a:t>
            </a:r>
            <a:r>
              <a:rPr lang="zh-CN" altLang="en-US" dirty="0">
                <a:solidFill>
                  <a:schemeClr val="tx1"/>
                </a:solidFill>
              </a:rPr>
              <a:t>小结</a:t>
            </a:r>
            <a:endParaRPr lang="zh-CN" altLang="en-US" dirty="0">
              <a:solidFill>
                <a:schemeClr val="tx1"/>
              </a:solidFill>
            </a:endParaRPr>
          </a:p>
        </p:txBody>
      </p:sp>
      <p:sp>
        <p:nvSpPr>
          <p:cNvPr id="99333"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250825" y="115888"/>
            <a:ext cx="8374063" cy="1143000"/>
          </a:xfrm>
          <a:ln/>
        </p:spPr>
        <p:txBody>
          <a:bodyPr vert="horz" wrap="square" lIns="91440" tIns="45720" rIns="91440" bIns="45720" anchor="ctr" anchorCtr="0"/>
          <a:p>
            <a:pPr eaLnBrk="1" hangingPunct="1"/>
            <a:r>
              <a:rPr lang="en-US" altLang="zh-CN" dirty="0">
                <a:ea typeface="宋体" panose="02010600030101010101" pitchFamily="2" charset="-122"/>
              </a:rPr>
              <a:t>Why is access so strictly controlled?</a:t>
            </a:r>
            <a:endParaRPr lang="en-US" altLang="zh-CN" dirty="0">
              <a:ea typeface="宋体" panose="02010600030101010101" pitchFamily="2" charset="-122"/>
            </a:endParaRPr>
          </a:p>
        </p:txBody>
      </p:sp>
      <p:sp>
        <p:nvSpPr>
          <p:cNvPr id="100355" name="Rectangle 3"/>
          <p:cNvSpPr>
            <a:spLocks noGrp="1"/>
          </p:cNvSpPr>
          <p:nvPr>
            <p:ph idx="1"/>
          </p:nvPr>
        </p:nvSpPr>
        <p:spPr>
          <a:xfrm>
            <a:off x="468313" y="1557338"/>
            <a:ext cx="8451850" cy="585787"/>
          </a:xfrm>
          <a:ln/>
        </p:spPr>
        <p:txBody>
          <a:bodyPr vert="horz" wrap="square" lIns="91440" tIns="45720" rIns="91440" bIns="45720" anchor="t" anchorCtr="0"/>
          <a:p>
            <a:pPr lvl="1" eaLnBrk="1" hangingPunct="1">
              <a:buNone/>
            </a:pPr>
            <a:r>
              <a:rPr lang="en-US" altLang="zh-CN" dirty="0"/>
              <a:t>No one should learn who had which disease. </a:t>
            </a:r>
            <a:endParaRPr lang="en-US" altLang="zh-CN" dirty="0"/>
          </a:p>
        </p:txBody>
      </p:sp>
      <p:graphicFrame>
        <p:nvGraphicFramePr>
          <p:cNvPr id="100356" name="Object 4"/>
          <p:cNvGraphicFramePr>
            <a:graphicFrameLocks noChangeAspect="1"/>
          </p:cNvGraphicFramePr>
          <p:nvPr/>
        </p:nvGraphicFramePr>
        <p:xfrm>
          <a:off x="1000125" y="2136775"/>
          <a:ext cx="5229225" cy="4332288"/>
        </p:xfrm>
        <a:graphic>
          <a:graphicData uri="http://schemas.openxmlformats.org/presentationml/2006/ole">
            <mc:AlternateContent xmlns:mc="http://schemas.openxmlformats.org/markup-compatibility/2006">
              <mc:Choice xmlns:v="urn:schemas-microsoft-com:vml" Requires="v">
                <p:oleObj spid="_x0000_s3076" name="" r:id="rId1" imgW="3000375" imgH="2486025" progId="Paint.Picture">
                  <p:embed/>
                </p:oleObj>
              </mc:Choice>
              <mc:Fallback>
                <p:oleObj name="" r:id="rId1" imgW="3000375" imgH="2486025" progId="Paint.Picture">
                  <p:embed/>
                  <p:pic>
                    <p:nvPicPr>
                      <p:cNvPr id="0" name="Picture 3075"/>
                      <p:cNvPicPr/>
                      <p:nvPr/>
                    </p:nvPicPr>
                    <p:blipFill>
                      <a:blip r:embed="rId2"/>
                      <a:stretch>
                        <a:fillRect/>
                      </a:stretch>
                    </p:blipFill>
                    <p:spPr>
                      <a:xfrm>
                        <a:off x="1000125" y="2136775"/>
                        <a:ext cx="5229225" cy="4332288"/>
                      </a:xfrm>
                      <a:prstGeom prst="rect">
                        <a:avLst/>
                      </a:prstGeom>
                      <a:noFill/>
                      <a:ln w="38100">
                        <a:noFill/>
                        <a:miter/>
                      </a:ln>
                    </p:spPr>
                  </p:pic>
                </p:oleObj>
              </mc:Fallback>
            </mc:AlternateContent>
          </a:graphicData>
        </a:graphic>
      </p:graphicFrame>
      <p:sp>
        <p:nvSpPr>
          <p:cNvPr id="100357" name="Rectangle 5"/>
          <p:cNvSpPr/>
          <p:nvPr/>
        </p:nvSpPr>
        <p:spPr>
          <a:xfrm>
            <a:off x="7607300" y="3286125"/>
            <a:ext cx="26035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000" dirty="0">
                <a:latin typeface="Helvetica" pitchFamily="34" charset="0"/>
              </a:rPr>
              <a:t>“Microdata”</a:t>
            </a:r>
            <a:endParaRPr lang="en-US" altLang="zh-CN" sz="2000" dirty="0">
              <a:latin typeface="Helvetica" pitchFamily="34" charset="0"/>
            </a:endParaRPr>
          </a:p>
        </p:txBody>
      </p:sp>
      <p:sp>
        <p:nvSpPr>
          <p:cNvPr id="100358" name="Left Arrow 7"/>
          <p:cNvSpPr/>
          <p:nvPr/>
        </p:nvSpPr>
        <p:spPr>
          <a:xfrm>
            <a:off x="6357938" y="3286125"/>
            <a:ext cx="1071562" cy="428625"/>
          </a:xfrm>
          <a:prstGeom prst="leftArrow">
            <a:avLst>
              <a:gd name="adj1" fmla="val 50000"/>
              <a:gd name="adj2" fmla="val 49999"/>
            </a:avLst>
          </a:prstGeom>
          <a:solidFill>
            <a:srgbClr val="FFFF00"/>
          </a:solid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100359" name="灯片编号占位符 1"/>
          <p:cNvSpPr txBox="1">
            <a:spLocks noGrp="1"/>
          </p:cNvSpPr>
          <p:nvPr>
            <p:ph type="sldNum" sz="quarter" idx="12"/>
          </p:nvPr>
        </p:nvSpPr>
        <p:spPr>
          <a:xfrm>
            <a:off x="2400300" y="6540500"/>
            <a:ext cx="3683000" cy="317500"/>
          </a:xfrm>
          <a:ln/>
        </p:spPr>
        <p:txBody>
          <a:bodyPr/>
          <a:p>
            <a:pPr marL="0" indent="0" algn="ctr" eaLnBrk="1" hangingPunct="1">
              <a:spcBef>
                <a:spcPct val="0"/>
              </a:spcBef>
              <a:buClrTx/>
              <a:buFontTx/>
              <a:buNone/>
            </a:pPr>
            <a:fld id="{9A0DB2DC-4C9A-4742-B13C-FB6460FD3503}" type="slidenum">
              <a:rPr lang="en-US" altLang="zh-CN" sz="1600" b="0" dirty="0">
                <a:solidFill>
                  <a:schemeClr val="tx1"/>
                </a:solidFill>
                <a:latin typeface="Calibri" panose="020F0502020204030204" pitchFamily="34" charset="0"/>
              </a:rPr>
            </a:fld>
            <a:endParaRPr lang="en-US" altLang="zh-CN" sz="1600" b="0" dirty="0">
              <a:solidFill>
                <a:schemeClr val="tx1"/>
              </a:solidFill>
              <a:latin typeface="Calibri" panose="020F0502020204030204"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a:xfrm>
            <a:off x="107950" y="115888"/>
            <a:ext cx="8589963" cy="1143000"/>
          </a:xfrm>
          <a:ln/>
        </p:spPr>
        <p:txBody>
          <a:bodyPr vert="horz" wrap="square" lIns="91440" tIns="45720" rIns="91440" bIns="45720" anchor="ctr" anchorCtr="0"/>
          <a:p>
            <a:pPr eaLnBrk="1" hangingPunct="1"/>
            <a:r>
              <a:rPr lang="en-US" altLang="zh-CN" dirty="0">
                <a:ea typeface="宋体" panose="02010600030101010101" pitchFamily="2" charset="-122"/>
              </a:rPr>
              <a:t>What if we “de-identify” the records by removing names?</a:t>
            </a:r>
            <a:endParaRPr lang="en-US" altLang="zh-CN" dirty="0">
              <a:ea typeface="宋体" panose="02010600030101010101" pitchFamily="2" charset="-122"/>
            </a:endParaRPr>
          </a:p>
        </p:txBody>
      </p:sp>
      <p:graphicFrame>
        <p:nvGraphicFramePr>
          <p:cNvPr id="101379" name="Object 4"/>
          <p:cNvGraphicFramePr>
            <a:graphicFrameLocks noChangeAspect="1"/>
          </p:cNvGraphicFramePr>
          <p:nvPr/>
        </p:nvGraphicFramePr>
        <p:xfrm>
          <a:off x="0" y="2630488"/>
          <a:ext cx="4371975" cy="3621087"/>
        </p:xfrm>
        <a:graphic>
          <a:graphicData uri="http://schemas.openxmlformats.org/presentationml/2006/ole">
            <mc:AlternateContent xmlns:mc="http://schemas.openxmlformats.org/markup-compatibility/2006">
              <mc:Choice xmlns:v="urn:schemas-microsoft-com:vml" Requires="v">
                <p:oleObj spid="_x0000_s3077" name="" r:id="rId1" imgW="3000375" imgH="2486025" progId="Paint.Picture">
                  <p:embed/>
                </p:oleObj>
              </mc:Choice>
              <mc:Fallback>
                <p:oleObj name="" r:id="rId1" imgW="3000375" imgH="2486025" progId="Paint.Picture">
                  <p:embed/>
                  <p:pic>
                    <p:nvPicPr>
                      <p:cNvPr id="0" name="Picture 3076"/>
                      <p:cNvPicPr/>
                      <p:nvPr/>
                    </p:nvPicPr>
                    <p:blipFill>
                      <a:blip r:embed="rId2"/>
                      <a:stretch>
                        <a:fillRect/>
                      </a:stretch>
                    </p:blipFill>
                    <p:spPr>
                      <a:xfrm>
                        <a:off x="0" y="2630488"/>
                        <a:ext cx="4371975" cy="3621087"/>
                      </a:xfrm>
                      <a:prstGeom prst="rect">
                        <a:avLst/>
                      </a:prstGeom>
                      <a:noFill/>
                      <a:ln w="38100">
                        <a:noFill/>
                        <a:miter/>
                      </a:ln>
                    </p:spPr>
                  </p:pic>
                </p:oleObj>
              </mc:Fallback>
            </mc:AlternateContent>
          </a:graphicData>
        </a:graphic>
      </p:graphicFrame>
      <p:graphicFrame>
        <p:nvGraphicFramePr>
          <p:cNvPr id="101380" name="Object 5"/>
          <p:cNvGraphicFramePr>
            <a:graphicFrameLocks noChangeAspect="1"/>
          </p:cNvGraphicFramePr>
          <p:nvPr/>
        </p:nvGraphicFramePr>
        <p:xfrm>
          <a:off x="5667375" y="2714625"/>
          <a:ext cx="3476625" cy="3559175"/>
        </p:xfrm>
        <a:graphic>
          <a:graphicData uri="http://schemas.openxmlformats.org/presentationml/2006/ole">
            <mc:AlternateContent xmlns:mc="http://schemas.openxmlformats.org/markup-compatibility/2006">
              <mc:Choice xmlns:v="urn:schemas-microsoft-com:vml" Requires="v">
                <p:oleObj spid="_x0000_s3078" name="" r:id="rId3" imgW="2438400" imgH="2495550" progId="Paint.Picture">
                  <p:embed/>
                </p:oleObj>
              </mc:Choice>
              <mc:Fallback>
                <p:oleObj name="" r:id="rId3" imgW="2438400" imgH="2495550" progId="Paint.Picture">
                  <p:embed/>
                  <p:pic>
                    <p:nvPicPr>
                      <p:cNvPr id="0" name="Picture 3077"/>
                      <p:cNvPicPr/>
                      <p:nvPr/>
                    </p:nvPicPr>
                    <p:blipFill>
                      <a:blip r:embed="rId4"/>
                      <a:stretch>
                        <a:fillRect/>
                      </a:stretch>
                    </p:blipFill>
                    <p:spPr>
                      <a:xfrm>
                        <a:off x="5667375" y="2714625"/>
                        <a:ext cx="3476625" cy="3559175"/>
                      </a:xfrm>
                      <a:prstGeom prst="rect">
                        <a:avLst/>
                      </a:prstGeom>
                      <a:noFill/>
                      <a:ln w="38100">
                        <a:noFill/>
                        <a:miter/>
                      </a:ln>
                    </p:spPr>
                  </p:pic>
                </p:oleObj>
              </mc:Fallback>
            </mc:AlternateContent>
          </a:graphicData>
        </a:graphic>
      </p:graphicFrame>
      <p:sp>
        <p:nvSpPr>
          <p:cNvPr id="101381" name="AutoShape 6"/>
          <p:cNvSpPr/>
          <p:nvPr/>
        </p:nvSpPr>
        <p:spPr>
          <a:xfrm>
            <a:off x="4697413" y="4578350"/>
            <a:ext cx="720725" cy="360363"/>
          </a:xfrm>
          <a:prstGeom prst="rightArrow">
            <a:avLst>
              <a:gd name="adj1" fmla="val 50000"/>
              <a:gd name="adj2" fmla="val 49999"/>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101382" name="Rectangle 7"/>
          <p:cNvSpPr/>
          <p:nvPr/>
        </p:nvSpPr>
        <p:spPr>
          <a:xfrm>
            <a:off x="4557713" y="4165600"/>
            <a:ext cx="109696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000" dirty="0">
                <a:solidFill>
                  <a:srgbClr val="FF0000"/>
                </a:solidFill>
                <a:latin typeface="Helvetica" pitchFamily="34" charset="0"/>
              </a:rPr>
              <a:t>publish</a:t>
            </a:r>
            <a:endParaRPr lang="en-US" altLang="zh-CN" sz="2000" dirty="0">
              <a:solidFill>
                <a:srgbClr val="FF0000"/>
              </a:solidFill>
              <a:latin typeface="Helvetica" pitchFamily="34" charset="0"/>
            </a:endParaRPr>
          </a:p>
        </p:txBody>
      </p:sp>
      <p:sp>
        <p:nvSpPr>
          <p:cNvPr id="101383" name="灯片编号占位符 1"/>
          <p:cNvSpPr txBox="1">
            <a:spLocks noGrp="1"/>
          </p:cNvSpPr>
          <p:nvPr>
            <p:ph type="sldNum" sz="quarter" idx="12"/>
          </p:nvPr>
        </p:nvSpPr>
        <p:spPr>
          <a:xfrm>
            <a:off x="2400300" y="6540500"/>
            <a:ext cx="3683000" cy="317500"/>
          </a:xfrm>
          <a:ln/>
        </p:spPr>
        <p:txBody>
          <a:bodyPr/>
          <a:p>
            <a:pPr marL="0" indent="0" algn="ctr" eaLnBrk="1" hangingPunct="1">
              <a:spcBef>
                <a:spcPct val="0"/>
              </a:spcBef>
              <a:buClrTx/>
              <a:buFontTx/>
              <a:buNone/>
            </a:pPr>
            <a:fld id="{9A0DB2DC-4C9A-4742-B13C-FB6460FD3503}" type="slidenum">
              <a:rPr lang="en-US" altLang="zh-CN" sz="1600" b="0" dirty="0">
                <a:solidFill>
                  <a:schemeClr val="tx1"/>
                </a:solidFill>
                <a:latin typeface="Calibri" panose="020F0502020204030204" pitchFamily="34" charset="0"/>
              </a:rPr>
            </a:fld>
            <a:endParaRPr lang="en-US" altLang="zh-CN" sz="1600" b="0" dirty="0">
              <a:solidFill>
                <a:schemeClr val="tx1"/>
              </a:solidFill>
              <a:latin typeface="Calibri" panose="020F050202020403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0" y="341313"/>
            <a:ext cx="8553450" cy="1143000"/>
          </a:xfrm>
          <a:ln/>
        </p:spPr>
        <p:txBody>
          <a:bodyPr vert="horz" wrap="square" lIns="91440" tIns="45720" rIns="91440" bIns="45720" anchor="ctr" anchorCtr="0"/>
          <a:p>
            <a:pPr eaLnBrk="1" hangingPunct="1"/>
            <a:r>
              <a:rPr lang="en-US" altLang="zh-CN" dirty="0">
                <a:ea typeface="宋体" panose="02010600030101010101" pitchFamily="2" charset="-122"/>
              </a:rPr>
              <a:t>We can re-identify people, absolutely or probabilistically, by linking with external data.</a:t>
            </a:r>
            <a:endParaRPr lang="en-US" altLang="zh-CN" dirty="0">
              <a:ea typeface="宋体" panose="02010600030101010101" pitchFamily="2" charset="-122"/>
            </a:endParaRPr>
          </a:p>
        </p:txBody>
      </p:sp>
      <p:graphicFrame>
        <p:nvGraphicFramePr>
          <p:cNvPr id="102403" name="Object 4"/>
          <p:cNvGraphicFramePr>
            <a:graphicFrameLocks noChangeAspect="1"/>
          </p:cNvGraphicFramePr>
          <p:nvPr/>
        </p:nvGraphicFramePr>
        <p:xfrm>
          <a:off x="874713" y="2374900"/>
          <a:ext cx="3155950" cy="3230563"/>
        </p:xfrm>
        <a:graphic>
          <a:graphicData uri="http://schemas.openxmlformats.org/presentationml/2006/ole">
            <mc:AlternateContent xmlns:mc="http://schemas.openxmlformats.org/markup-compatibility/2006">
              <mc:Choice xmlns:v="urn:schemas-microsoft-com:vml" Requires="v">
                <p:oleObj spid="_x0000_s3079" name="" r:id="rId1" imgW="2438400" imgH="2495550" progId="Paint.Picture">
                  <p:embed/>
                </p:oleObj>
              </mc:Choice>
              <mc:Fallback>
                <p:oleObj name="" r:id="rId1" imgW="2438400" imgH="2495550" progId="Paint.Picture">
                  <p:embed/>
                  <p:pic>
                    <p:nvPicPr>
                      <p:cNvPr id="0" name="Picture 3078"/>
                      <p:cNvPicPr/>
                      <p:nvPr/>
                    </p:nvPicPr>
                    <p:blipFill>
                      <a:blip r:embed="rId2"/>
                      <a:stretch>
                        <a:fillRect/>
                      </a:stretch>
                    </p:blipFill>
                    <p:spPr>
                      <a:xfrm>
                        <a:off x="874713" y="2374900"/>
                        <a:ext cx="3155950" cy="3230563"/>
                      </a:xfrm>
                      <a:prstGeom prst="rect">
                        <a:avLst/>
                      </a:prstGeom>
                      <a:noFill/>
                      <a:ln w="38100">
                        <a:noFill/>
                        <a:miter/>
                      </a:ln>
                    </p:spPr>
                  </p:pic>
                </p:oleObj>
              </mc:Fallback>
            </mc:AlternateContent>
          </a:graphicData>
        </a:graphic>
      </p:graphicFrame>
      <p:sp>
        <p:nvSpPr>
          <p:cNvPr id="102404" name="Rectangle 5"/>
          <p:cNvSpPr/>
          <p:nvPr/>
        </p:nvSpPr>
        <p:spPr>
          <a:xfrm>
            <a:off x="1187450" y="1916113"/>
            <a:ext cx="26035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000" dirty="0">
                <a:latin typeface="Helvetica" pitchFamily="34" charset="0"/>
              </a:rPr>
              <a:t>The published table</a:t>
            </a:r>
            <a:endParaRPr lang="en-US" altLang="zh-CN" sz="2000" dirty="0">
              <a:latin typeface="Helvetica" pitchFamily="34" charset="0"/>
            </a:endParaRPr>
          </a:p>
        </p:txBody>
      </p:sp>
      <p:graphicFrame>
        <p:nvGraphicFramePr>
          <p:cNvPr id="102405" name="Object 6"/>
          <p:cNvGraphicFramePr>
            <a:graphicFrameLocks noChangeAspect="1"/>
          </p:cNvGraphicFramePr>
          <p:nvPr/>
        </p:nvGraphicFramePr>
        <p:xfrm>
          <a:off x="5375275" y="2271713"/>
          <a:ext cx="2541588" cy="3389312"/>
        </p:xfrm>
        <a:graphic>
          <a:graphicData uri="http://schemas.openxmlformats.org/presentationml/2006/ole">
            <mc:AlternateContent xmlns:mc="http://schemas.openxmlformats.org/markup-compatibility/2006">
              <mc:Choice xmlns:v="urn:schemas-microsoft-com:vml" Requires="v">
                <p:oleObj spid="_x0000_s3080" name="" r:id="rId3" imgW="2028825" imgH="2705100" progId="Paint.Picture">
                  <p:embed/>
                </p:oleObj>
              </mc:Choice>
              <mc:Fallback>
                <p:oleObj name="" r:id="rId3" imgW="2028825" imgH="2705100" progId="Paint.Picture">
                  <p:embed/>
                  <p:pic>
                    <p:nvPicPr>
                      <p:cNvPr id="0" name="Picture 3079"/>
                      <p:cNvPicPr/>
                      <p:nvPr/>
                    </p:nvPicPr>
                    <p:blipFill>
                      <a:blip r:embed="rId4"/>
                      <a:stretch>
                        <a:fillRect/>
                      </a:stretch>
                    </p:blipFill>
                    <p:spPr>
                      <a:xfrm>
                        <a:off x="5375275" y="2271713"/>
                        <a:ext cx="2541588" cy="3389312"/>
                      </a:xfrm>
                      <a:prstGeom prst="rect">
                        <a:avLst/>
                      </a:prstGeom>
                      <a:noFill/>
                      <a:ln w="38100">
                        <a:noFill/>
                        <a:miter/>
                      </a:ln>
                    </p:spPr>
                  </p:pic>
                </p:oleObj>
              </mc:Fallback>
            </mc:AlternateContent>
          </a:graphicData>
        </a:graphic>
      </p:graphicFrame>
      <p:sp>
        <p:nvSpPr>
          <p:cNvPr id="102406" name="Rectangle 7"/>
          <p:cNvSpPr/>
          <p:nvPr/>
        </p:nvSpPr>
        <p:spPr>
          <a:xfrm>
            <a:off x="4643438" y="1798638"/>
            <a:ext cx="38004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000" dirty="0">
                <a:latin typeface="Helvetica" pitchFamily="34" charset="0"/>
              </a:rPr>
              <a:t>A voter registration list</a:t>
            </a:r>
            <a:endParaRPr lang="en-US" altLang="zh-CN" sz="2000" dirty="0">
              <a:latin typeface="Helvetica" pitchFamily="34" charset="0"/>
            </a:endParaRPr>
          </a:p>
        </p:txBody>
      </p:sp>
      <p:sp>
        <p:nvSpPr>
          <p:cNvPr id="201736" name="AutoShape 8"/>
          <p:cNvSpPr/>
          <p:nvPr/>
        </p:nvSpPr>
        <p:spPr>
          <a:xfrm rot="-5400000">
            <a:off x="1727200" y="4759325"/>
            <a:ext cx="215900" cy="1871663"/>
          </a:xfrm>
          <a:prstGeom prst="leftBrace">
            <a:avLst>
              <a:gd name="adj1" fmla="val 72242"/>
              <a:gd name="adj2" fmla="val 50000"/>
            </a:avLst>
          </a:prstGeom>
          <a:noFill/>
          <a:ln w="1905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201737" name="Text Box 9"/>
          <p:cNvSpPr txBox="1"/>
          <p:nvPr/>
        </p:nvSpPr>
        <p:spPr>
          <a:xfrm>
            <a:off x="430213" y="5876925"/>
            <a:ext cx="354330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000" dirty="0">
                <a:solidFill>
                  <a:schemeClr val="tx1"/>
                </a:solidFill>
                <a:latin typeface="Arial" panose="020B0604020202020204" pitchFamily="34" charset="0"/>
              </a:rPr>
              <a:t>Quasi-identifier (</a:t>
            </a:r>
            <a:r>
              <a:rPr lang="en-US" altLang="zh-CN" sz="2000" dirty="0">
                <a:solidFill>
                  <a:srgbClr val="FF0000"/>
                </a:solidFill>
                <a:latin typeface="Arial" panose="020B0604020202020204" pitchFamily="34" charset="0"/>
              </a:rPr>
              <a:t>QI</a:t>
            </a:r>
            <a:r>
              <a:rPr lang="en-US" altLang="zh-CN" sz="2000" dirty="0">
                <a:solidFill>
                  <a:schemeClr val="tx1"/>
                </a:solidFill>
                <a:latin typeface="Arial" panose="020B0604020202020204" pitchFamily="34" charset="0"/>
              </a:rPr>
              <a:t>) attributes</a:t>
            </a:r>
            <a:endParaRPr lang="en-US" altLang="zh-CN" sz="2000" dirty="0">
              <a:solidFill>
                <a:schemeClr val="tx1"/>
              </a:solidFill>
              <a:latin typeface="Arial" panose="020B0604020202020204" pitchFamily="34" charset="0"/>
            </a:endParaRPr>
          </a:p>
        </p:txBody>
      </p:sp>
      <p:sp>
        <p:nvSpPr>
          <p:cNvPr id="102409" name="AutoShape 11"/>
          <p:cNvSpPr/>
          <p:nvPr/>
        </p:nvSpPr>
        <p:spPr>
          <a:xfrm rot="3238358">
            <a:off x="3906838" y="5121275"/>
            <a:ext cx="865187" cy="215900"/>
          </a:xfrm>
          <a:prstGeom prst="rightArrow">
            <a:avLst>
              <a:gd name="adj1" fmla="val 50000"/>
              <a:gd name="adj2" fmla="val 10018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102410" name="AutoShape 12"/>
          <p:cNvSpPr/>
          <p:nvPr/>
        </p:nvSpPr>
        <p:spPr>
          <a:xfrm rot="7530757">
            <a:off x="4608513" y="5129213"/>
            <a:ext cx="863600" cy="215900"/>
          </a:xfrm>
          <a:prstGeom prst="rightArrow">
            <a:avLst>
              <a:gd name="adj1" fmla="val 50000"/>
              <a:gd name="adj2" fmla="val 100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102411" name="Oval 14"/>
          <p:cNvSpPr/>
          <p:nvPr/>
        </p:nvSpPr>
        <p:spPr>
          <a:xfrm>
            <a:off x="4932363" y="2565400"/>
            <a:ext cx="3455987" cy="360363"/>
          </a:xfrm>
          <a:prstGeom prst="ellipse">
            <a:avLst/>
          </a:prstGeom>
          <a:no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102412" name="Oval 15"/>
          <p:cNvSpPr/>
          <p:nvPr/>
        </p:nvSpPr>
        <p:spPr>
          <a:xfrm>
            <a:off x="684213" y="2708275"/>
            <a:ext cx="3455987" cy="360363"/>
          </a:xfrm>
          <a:prstGeom prst="ellipse">
            <a:avLst/>
          </a:prstGeom>
          <a:no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pic>
        <p:nvPicPr>
          <p:cNvPr id="102413" name="Picture 16" descr="C:\Documents and Settings\winslett\Local Settings\Temporary Internet Files\Content.IE5\HLMF4R3H\MCj04361210000[1].wmf"/>
          <p:cNvPicPr>
            <a:picLocks noChangeAspect="1"/>
          </p:cNvPicPr>
          <p:nvPr/>
        </p:nvPicPr>
        <p:blipFill>
          <a:blip r:embed="rId5"/>
          <a:stretch>
            <a:fillRect/>
          </a:stretch>
        </p:blipFill>
        <p:spPr>
          <a:xfrm>
            <a:off x="3786188" y="5643563"/>
            <a:ext cx="1744662" cy="1071562"/>
          </a:xfrm>
          <a:prstGeom prst="rect">
            <a:avLst/>
          </a:prstGeom>
          <a:noFill/>
          <a:ln w="9525">
            <a:noFill/>
          </a:ln>
        </p:spPr>
      </p:pic>
      <p:sp>
        <p:nvSpPr>
          <p:cNvPr id="102414" name="Rectangle 5"/>
          <p:cNvSpPr/>
          <p:nvPr/>
        </p:nvSpPr>
        <p:spPr>
          <a:xfrm>
            <a:off x="6540500" y="6165850"/>
            <a:ext cx="26035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000" dirty="0">
                <a:latin typeface="Helvetica" pitchFamily="34" charset="0"/>
              </a:rPr>
              <a:t>“Background knowledge”</a:t>
            </a:r>
            <a:endParaRPr lang="en-US" altLang="zh-CN" sz="2000" dirty="0">
              <a:latin typeface="Helvetica" pitchFamily="34" charset="0"/>
            </a:endParaRPr>
          </a:p>
        </p:txBody>
      </p:sp>
      <p:sp>
        <p:nvSpPr>
          <p:cNvPr id="102415" name="Left Arrow 7"/>
          <p:cNvSpPr/>
          <p:nvPr/>
        </p:nvSpPr>
        <p:spPr>
          <a:xfrm rot="5400000">
            <a:off x="7197725" y="5770563"/>
            <a:ext cx="504825" cy="428625"/>
          </a:xfrm>
          <a:prstGeom prst="leftArrow">
            <a:avLst>
              <a:gd name="adj1" fmla="val 50000"/>
              <a:gd name="adj2" fmla="val 50077"/>
            </a:avLst>
          </a:prstGeom>
          <a:solidFill>
            <a:srgbClr val="FFFF00"/>
          </a:solid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en-US" altLang="zh-CN" sz="1800" dirty="0">
              <a:solidFill>
                <a:schemeClr val="tx1"/>
              </a:solidFill>
              <a:latin typeface="Arial" panose="020B0604020202020204" pitchFamily="34" charset="0"/>
            </a:endParaRPr>
          </a:p>
        </p:txBody>
      </p:sp>
      <p:sp>
        <p:nvSpPr>
          <p:cNvPr id="102416" name="灯片编号占位符 1"/>
          <p:cNvSpPr txBox="1">
            <a:spLocks noGrp="1"/>
          </p:cNvSpPr>
          <p:nvPr>
            <p:ph type="sldNum" sz="quarter" idx="12"/>
          </p:nvPr>
        </p:nvSpPr>
        <p:spPr>
          <a:xfrm>
            <a:off x="2400300" y="6540500"/>
            <a:ext cx="3683000" cy="317500"/>
          </a:xfrm>
          <a:ln/>
        </p:spPr>
        <p:txBody>
          <a:bodyPr/>
          <a:p>
            <a:pPr marL="0" indent="0" algn="ctr" eaLnBrk="1" hangingPunct="1">
              <a:spcBef>
                <a:spcPct val="0"/>
              </a:spcBef>
              <a:buClrTx/>
              <a:buFontTx/>
              <a:buNone/>
            </a:pPr>
            <a:fld id="{9A0DB2DC-4C9A-4742-B13C-FB6460FD3503}" type="slidenum">
              <a:rPr lang="en-US" altLang="zh-CN" sz="1600" b="0" dirty="0">
                <a:solidFill>
                  <a:schemeClr val="tx1"/>
                </a:solidFill>
                <a:latin typeface="Calibri" panose="020F0502020204030204" pitchFamily="34" charset="0"/>
              </a:rPr>
            </a:fld>
            <a:endParaRPr lang="en-US" altLang="zh-CN" sz="1600" b="0" dirty="0">
              <a:solidFill>
                <a:schemeClr val="tx1"/>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17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1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6" grpId="0" animBg="1"/>
      <p:bldP spid="20173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4451" name="Rectangle 2"/>
          <p:cNvSpPr/>
          <p:nvPr/>
        </p:nvSpPr>
        <p:spPr>
          <a:xfrm>
            <a:off x="558800" y="36576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104452" name="Rectangle 3"/>
          <p:cNvSpPr>
            <a:spLocks noGrp="1"/>
          </p:cNvSpPr>
          <p:nvPr>
            <p:ph idx="1"/>
          </p:nvPr>
        </p:nvSpPr>
        <p:spPr>
          <a:xfrm>
            <a:off x="762000" y="1358900"/>
            <a:ext cx="7696200" cy="471170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4.1  </a:t>
            </a:r>
            <a:r>
              <a:rPr lang="zh-CN" altLang="en-US" dirty="0">
                <a:solidFill>
                  <a:schemeClr val="tx1"/>
                </a:solidFill>
              </a:rPr>
              <a:t>计算机安全性概论</a:t>
            </a:r>
            <a:endParaRPr lang="zh-CN" altLang="en-US" dirty="0">
              <a:solidFill>
                <a:schemeClr val="tx1"/>
              </a:solidFill>
            </a:endParaRPr>
          </a:p>
          <a:p>
            <a:pPr algn="just" eaLnBrk="1" hangingPunct="1">
              <a:lnSpc>
                <a:spcPct val="130000"/>
              </a:lnSpc>
              <a:buNone/>
            </a:pPr>
            <a:r>
              <a:rPr lang="en-US" altLang="zh-CN" dirty="0">
                <a:solidFill>
                  <a:schemeClr val="tx1"/>
                </a:solidFill>
              </a:rPr>
              <a:t>4.2  </a:t>
            </a:r>
            <a:r>
              <a:rPr lang="zh-CN" altLang="en-US" dirty="0">
                <a:solidFill>
                  <a:schemeClr val="tx1"/>
                </a:solidFill>
              </a:rPr>
              <a:t>数据库安全性控制</a:t>
            </a:r>
            <a:endParaRPr lang="zh-CN" altLang="en-US" dirty="0">
              <a:solidFill>
                <a:schemeClr val="tx1"/>
              </a:solidFill>
            </a:endParaRPr>
          </a:p>
          <a:p>
            <a:pPr algn="just" eaLnBrk="1" hangingPunct="1">
              <a:lnSpc>
                <a:spcPct val="130000"/>
              </a:lnSpc>
              <a:buNone/>
            </a:pPr>
            <a:r>
              <a:rPr lang="en-US" altLang="zh-CN" dirty="0">
                <a:solidFill>
                  <a:schemeClr val="tx1"/>
                </a:solidFill>
              </a:rPr>
              <a:t>4.3  </a:t>
            </a:r>
            <a:r>
              <a:rPr lang="zh-CN" altLang="en-US" dirty="0">
                <a:solidFill>
                  <a:schemeClr val="tx1"/>
                </a:solidFill>
              </a:rPr>
              <a:t>统计数据库安全性</a:t>
            </a:r>
            <a:endParaRPr lang="zh-CN" altLang="en-US" dirty="0">
              <a:solidFill>
                <a:schemeClr val="tx1"/>
              </a:solidFill>
            </a:endParaRPr>
          </a:p>
          <a:p>
            <a:pPr algn="just" eaLnBrk="1" hangingPunct="1">
              <a:lnSpc>
                <a:spcPct val="130000"/>
              </a:lnSpc>
              <a:buNone/>
            </a:pPr>
            <a:r>
              <a:rPr lang="en-US" altLang="zh-CN" dirty="0">
                <a:solidFill>
                  <a:schemeClr val="bg1"/>
                </a:solidFill>
              </a:rPr>
              <a:t>4.4  SQL Server</a:t>
            </a:r>
            <a:r>
              <a:rPr lang="zh-CN" altLang="en-US" dirty="0">
                <a:solidFill>
                  <a:schemeClr val="bg1"/>
                </a:solidFill>
              </a:rPr>
              <a:t>数据库的安全性措施</a:t>
            </a:r>
            <a:endParaRPr lang="zh-CN" altLang="en-US" dirty="0">
              <a:solidFill>
                <a:schemeClr val="bg1"/>
              </a:solidFill>
            </a:endParaRPr>
          </a:p>
          <a:p>
            <a:pPr algn="just" eaLnBrk="1" hangingPunct="1">
              <a:lnSpc>
                <a:spcPct val="130000"/>
              </a:lnSpc>
              <a:buNone/>
            </a:pPr>
            <a:r>
              <a:rPr lang="en-US" altLang="zh-CN" dirty="0">
                <a:solidFill>
                  <a:schemeClr val="tx1"/>
                </a:solidFill>
              </a:rPr>
              <a:t>4.5  </a:t>
            </a:r>
            <a:r>
              <a:rPr lang="zh-CN" altLang="en-US" dirty="0">
                <a:solidFill>
                  <a:schemeClr val="tx1"/>
                </a:solidFill>
              </a:rPr>
              <a:t>小结</a:t>
            </a:r>
            <a:endParaRPr lang="zh-CN" altLang="en-US" dirty="0">
              <a:solidFill>
                <a:schemeClr val="tx1"/>
              </a:solidFill>
            </a:endParaRPr>
          </a:p>
        </p:txBody>
      </p:sp>
      <p:sp>
        <p:nvSpPr>
          <p:cNvPr id="104453"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5475" name="Rectangle 2"/>
          <p:cNvSpPr>
            <a:spLocks noGrp="1"/>
          </p:cNvSpPr>
          <p:nvPr>
            <p:ph idx="1"/>
          </p:nvPr>
        </p:nvSpPr>
        <p:spPr>
          <a:xfrm>
            <a:off x="457200" y="914400"/>
            <a:ext cx="8382000" cy="5562600"/>
          </a:xfrm>
          <a:ln/>
        </p:spPr>
        <p:txBody>
          <a:bodyPr vert="horz" wrap="square" lIns="91440" tIns="45720" rIns="91440" bIns="45720" anchor="t" anchorCtr="0"/>
          <a:p>
            <a:pPr eaLnBrk="1" hangingPunct="1">
              <a:lnSpc>
                <a:spcPct val="120000"/>
              </a:lnSpc>
              <a:spcBef>
                <a:spcPct val="15000"/>
              </a:spcBef>
            </a:pPr>
            <a:r>
              <a:rPr lang="zh-CN" altLang="en-US" dirty="0">
                <a:solidFill>
                  <a:schemeClr val="tx1"/>
                </a:solidFill>
              </a:rPr>
              <a:t>用户鉴别</a:t>
            </a:r>
            <a:r>
              <a:rPr lang="en-US" altLang="zh-CN" dirty="0">
                <a:solidFill>
                  <a:schemeClr val="tx1"/>
                </a:solidFill>
              </a:rPr>
              <a:t>(</a:t>
            </a:r>
            <a:r>
              <a:rPr lang="zh-CN" altLang="en-US" dirty="0">
                <a:solidFill>
                  <a:schemeClr val="tx1"/>
                </a:solidFill>
              </a:rPr>
              <a:t>登录与用户</a:t>
            </a:r>
            <a:r>
              <a:rPr lang="en-US" altLang="zh-CN" dirty="0">
                <a:solidFill>
                  <a:schemeClr val="tx1"/>
                </a:solidFill>
              </a:rPr>
              <a:t>)</a:t>
            </a:r>
            <a:endParaRPr lang="en-US" altLang="zh-CN" dirty="0">
              <a:solidFill>
                <a:schemeClr val="tx1"/>
              </a:solidFill>
            </a:endParaRPr>
          </a:p>
          <a:p>
            <a:pPr eaLnBrk="1" hangingPunct="1">
              <a:lnSpc>
                <a:spcPct val="120000"/>
              </a:lnSpc>
              <a:spcBef>
                <a:spcPct val="15000"/>
              </a:spcBef>
            </a:pPr>
            <a:r>
              <a:rPr lang="zh-CN" altLang="en-US" dirty="0">
                <a:solidFill>
                  <a:schemeClr val="tx1"/>
                </a:solidFill>
              </a:rPr>
              <a:t>存取控制</a:t>
            </a:r>
            <a:r>
              <a:rPr lang="en-US" altLang="zh-CN" dirty="0">
                <a:solidFill>
                  <a:schemeClr val="tx1"/>
                </a:solidFill>
              </a:rPr>
              <a:t>(</a:t>
            </a:r>
            <a:r>
              <a:rPr lang="zh-CN" altLang="en-US" dirty="0">
                <a:solidFill>
                  <a:schemeClr val="tx1"/>
                </a:solidFill>
              </a:rPr>
              <a:t>角色，权限</a:t>
            </a:r>
            <a:r>
              <a:rPr lang="en-US" altLang="zh-CN" dirty="0">
                <a:solidFill>
                  <a:schemeClr val="tx1"/>
                </a:solidFill>
              </a:rPr>
              <a:t>)</a:t>
            </a:r>
            <a:endParaRPr lang="en-US" altLang="zh-CN" dirty="0">
              <a:solidFill>
                <a:schemeClr val="tx1"/>
              </a:solidFill>
            </a:endParaRPr>
          </a:p>
          <a:p>
            <a:pPr eaLnBrk="1" hangingPunct="1">
              <a:lnSpc>
                <a:spcPct val="120000"/>
              </a:lnSpc>
              <a:spcBef>
                <a:spcPct val="15000"/>
              </a:spcBef>
            </a:pPr>
            <a:r>
              <a:rPr lang="zh-CN" altLang="en-US" dirty="0">
                <a:solidFill>
                  <a:schemeClr val="tx1"/>
                </a:solidFill>
              </a:rPr>
              <a:t>审计</a:t>
            </a:r>
            <a:endParaRPr lang="zh-CN" altLang="en-US" dirty="0">
              <a:solidFill>
                <a:schemeClr val="tx1"/>
              </a:solidFill>
            </a:endParaRPr>
          </a:p>
          <a:p>
            <a:pPr eaLnBrk="1" hangingPunct="1">
              <a:lnSpc>
                <a:spcPct val="120000"/>
              </a:lnSpc>
              <a:spcBef>
                <a:spcPct val="15000"/>
              </a:spcBef>
            </a:pPr>
            <a:r>
              <a:rPr lang="zh-CN" altLang="en-US" dirty="0">
                <a:solidFill>
                  <a:schemeClr val="tx1"/>
                </a:solidFill>
              </a:rPr>
              <a:t>数据加密</a:t>
            </a:r>
            <a:r>
              <a:rPr lang="en-US" altLang="zh-CN" dirty="0">
                <a:solidFill>
                  <a:schemeClr val="tx1"/>
                </a:solidFill>
              </a:rPr>
              <a:t>(</a:t>
            </a:r>
            <a:r>
              <a:rPr lang="zh-CN" altLang="en-US" dirty="0">
                <a:solidFill>
                  <a:schemeClr val="tx1"/>
                </a:solidFill>
              </a:rPr>
              <a:t>部分</a:t>
            </a:r>
            <a:r>
              <a:rPr lang="en-US" altLang="zh-CN" dirty="0">
                <a:solidFill>
                  <a:schemeClr val="tx1"/>
                </a:solidFill>
              </a:rPr>
              <a:t>)</a:t>
            </a:r>
            <a:endParaRPr lang="en-US" altLang="zh-CN" dirty="0">
              <a:solidFill>
                <a:schemeClr val="tx1"/>
              </a:solidFill>
            </a:endParaRPr>
          </a:p>
          <a:p>
            <a:pPr eaLnBrk="1" hangingPunct="1">
              <a:lnSpc>
                <a:spcPct val="120000"/>
              </a:lnSpc>
              <a:spcBef>
                <a:spcPct val="15000"/>
              </a:spcBef>
            </a:pPr>
            <a:r>
              <a:rPr lang="zh-CN" altLang="en-US" dirty="0">
                <a:solidFill>
                  <a:schemeClr val="tx1"/>
                </a:solidFill>
              </a:rPr>
              <a:t>视图</a:t>
            </a:r>
            <a:endParaRPr lang="zh-CN" altLang="en-US" dirty="0">
              <a:solidFill>
                <a:schemeClr val="tx1"/>
              </a:solidFill>
            </a:endParaRPr>
          </a:p>
        </p:txBody>
      </p:sp>
      <p:sp>
        <p:nvSpPr>
          <p:cNvPr id="105476" name="Rectangle 3"/>
          <p:cNvSpPr>
            <a:spLocks noGrp="1"/>
          </p:cNvSpPr>
          <p:nvPr>
            <p:ph type="title"/>
          </p:nvPr>
        </p:nvSpPr>
        <p:spPr>
          <a:xfrm>
            <a:off x="762000" y="0"/>
            <a:ext cx="7772400" cy="533400"/>
          </a:xfrm>
          <a:ln/>
        </p:spPr>
        <p:txBody>
          <a:bodyPr vert="horz" wrap="square" lIns="91440" tIns="45720" rIns="91440" bIns="45720" anchor="ctr" anchorCtr="0"/>
          <a:p>
            <a:pPr eaLnBrk="1" hangingPunct="1"/>
            <a:r>
              <a:rPr lang="en-US" altLang="zh-CN" dirty="0"/>
              <a:t>4.4  SQL Server</a:t>
            </a:r>
            <a:r>
              <a:rPr lang="zh-CN" altLang="en-US" dirty="0"/>
              <a:t>的安全性控制</a:t>
            </a:r>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6499" name="Rectangle 2"/>
          <p:cNvSpPr/>
          <p:nvPr/>
        </p:nvSpPr>
        <p:spPr>
          <a:xfrm>
            <a:off x="558800" y="43688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106500" name="Rectangle 3"/>
          <p:cNvSpPr>
            <a:spLocks noGrp="1"/>
          </p:cNvSpPr>
          <p:nvPr>
            <p:ph idx="1"/>
          </p:nvPr>
        </p:nvSpPr>
        <p:spPr>
          <a:xfrm>
            <a:off x="762000" y="1358900"/>
            <a:ext cx="7696200" cy="471170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4.1  </a:t>
            </a:r>
            <a:r>
              <a:rPr lang="zh-CN" altLang="en-US" dirty="0">
                <a:solidFill>
                  <a:schemeClr val="tx1"/>
                </a:solidFill>
              </a:rPr>
              <a:t>计算机安全性概论</a:t>
            </a:r>
            <a:endParaRPr lang="zh-CN" altLang="en-US" dirty="0">
              <a:solidFill>
                <a:schemeClr val="tx1"/>
              </a:solidFill>
            </a:endParaRPr>
          </a:p>
          <a:p>
            <a:pPr algn="just" eaLnBrk="1" hangingPunct="1">
              <a:lnSpc>
                <a:spcPct val="130000"/>
              </a:lnSpc>
              <a:buNone/>
            </a:pPr>
            <a:r>
              <a:rPr lang="en-US" altLang="zh-CN" dirty="0">
                <a:solidFill>
                  <a:schemeClr val="tx1"/>
                </a:solidFill>
              </a:rPr>
              <a:t>4.2  </a:t>
            </a:r>
            <a:r>
              <a:rPr lang="zh-CN" altLang="en-US" dirty="0">
                <a:solidFill>
                  <a:schemeClr val="tx1"/>
                </a:solidFill>
              </a:rPr>
              <a:t>数据库安全性控制</a:t>
            </a:r>
            <a:endParaRPr lang="zh-CN" altLang="en-US" dirty="0">
              <a:solidFill>
                <a:schemeClr val="tx1"/>
              </a:solidFill>
            </a:endParaRPr>
          </a:p>
          <a:p>
            <a:pPr algn="just" eaLnBrk="1" hangingPunct="1">
              <a:lnSpc>
                <a:spcPct val="130000"/>
              </a:lnSpc>
              <a:buNone/>
            </a:pPr>
            <a:r>
              <a:rPr lang="en-US" altLang="zh-CN" dirty="0">
                <a:solidFill>
                  <a:schemeClr val="tx1"/>
                </a:solidFill>
              </a:rPr>
              <a:t>4.3  </a:t>
            </a:r>
            <a:r>
              <a:rPr lang="zh-CN" altLang="en-US" dirty="0">
                <a:solidFill>
                  <a:schemeClr val="tx1"/>
                </a:solidFill>
              </a:rPr>
              <a:t>统计数据库安全性</a:t>
            </a:r>
            <a:endParaRPr lang="zh-CN" altLang="en-US" dirty="0">
              <a:solidFill>
                <a:schemeClr val="tx1"/>
              </a:solidFill>
            </a:endParaRPr>
          </a:p>
          <a:p>
            <a:pPr algn="just" eaLnBrk="1" hangingPunct="1">
              <a:lnSpc>
                <a:spcPct val="130000"/>
              </a:lnSpc>
              <a:buNone/>
            </a:pPr>
            <a:r>
              <a:rPr lang="en-US" altLang="zh-CN" dirty="0">
                <a:solidFill>
                  <a:schemeClr val="tx1"/>
                </a:solidFill>
              </a:rPr>
              <a:t>4.4  SQL Server</a:t>
            </a:r>
            <a:r>
              <a:rPr lang="zh-CN" altLang="en-US" dirty="0">
                <a:solidFill>
                  <a:schemeClr val="tx1"/>
                </a:solidFill>
              </a:rPr>
              <a:t>数据库的安全性措施</a:t>
            </a:r>
            <a:endParaRPr lang="zh-CN" altLang="en-US" dirty="0">
              <a:solidFill>
                <a:schemeClr val="tx1"/>
              </a:solidFill>
            </a:endParaRPr>
          </a:p>
          <a:p>
            <a:pPr algn="just" eaLnBrk="1" hangingPunct="1">
              <a:lnSpc>
                <a:spcPct val="130000"/>
              </a:lnSpc>
              <a:buNone/>
            </a:pPr>
            <a:r>
              <a:rPr lang="en-US" altLang="zh-CN" dirty="0">
                <a:solidFill>
                  <a:schemeClr val="bg1"/>
                </a:solidFill>
              </a:rPr>
              <a:t>4.5  </a:t>
            </a:r>
            <a:r>
              <a:rPr lang="zh-CN" altLang="en-US" dirty="0">
                <a:solidFill>
                  <a:schemeClr val="bg1"/>
                </a:solidFill>
              </a:rPr>
              <a:t>小结</a:t>
            </a:r>
            <a:endParaRPr lang="zh-CN" altLang="en-US" dirty="0">
              <a:solidFill>
                <a:schemeClr val="bg1"/>
              </a:solidFill>
            </a:endParaRPr>
          </a:p>
        </p:txBody>
      </p:sp>
      <p:sp>
        <p:nvSpPr>
          <p:cNvPr id="106501"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4</a:t>
            </a:r>
            <a:r>
              <a:rPr lang="zh-CN" altLang="en-US" dirty="0"/>
              <a:t>章 数据库安全</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7523" name="Rectangle 2"/>
          <p:cNvSpPr>
            <a:spLocks noGrp="1"/>
          </p:cNvSpPr>
          <p:nvPr>
            <p:ph idx="1"/>
          </p:nvPr>
        </p:nvSpPr>
        <p:spPr>
          <a:xfrm>
            <a:off x="228600" y="838200"/>
            <a:ext cx="8610600" cy="5562600"/>
          </a:xfrm>
          <a:ln/>
        </p:spPr>
        <p:txBody>
          <a:bodyPr vert="horz" wrap="square" lIns="91440" tIns="45720" rIns="91440" bIns="45720" anchor="t" anchorCtr="0"/>
          <a:p>
            <a:pPr eaLnBrk="1" hangingPunct="1">
              <a:lnSpc>
                <a:spcPct val="120000"/>
              </a:lnSpc>
              <a:spcBef>
                <a:spcPct val="15000"/>
              </a:spcBef>
            </a:pPr>
            <a:r>
              <a:rPr lang="zh-CN" altLang="en-US" sz="2800" dirty="0">
                <a:solidFill>
                  <a:schemeClr val="tx1"/>
                </a:solidFill>
              </a:rPr>
              <a:t>数据的共享导致安全问题</a:t>
            </a:r>
            <a:endParaRPr lang="zh-CN" altLang="en-US" sz="2800" dirty="0">
              <a:solidFill>
                <a:schemeClr val="tx1"/>
              </a:solidFill>
            </a:endParaRPr>
          </a:p>
          <a:p>
            <a:pPr eaLnBrk="1" hangingPunct="1">
              <a:lnSpc>
                <a:spcPct val="120000"/>
              </a:lnSpc>
              <a:spcBef>
                <a:spcPct val="15000"/>
              </a:spcBef>
            </a:pPr>
            <a:r>
              <a:rPr lang="en-US" altLang="zh-CN" sz="2800" dirty="0">
                <a:solidFill>
                  <a:schemeClr val="tx1"/>
                </a:solidFill>
              </a:rPr>
              <a:t>DBMS</a:t>
            </a:r>
            <a:r>
              <a:rPr lang="zh-CN" altLang="en-US" sz="2800" dirty="0">
                <a:solidFill>
                  <a:schemeClr val="tx1"/>
                </a:solidFill>
              </a:rPr>
              <a:t>必须提供有效的安全性机制</a:t>
            </a:r>
            <a:endParaRPr lang="zh-CN" altLang="en-US" sz="2800" dirty="0">
              <a:solidFill>
                <a:schemeClr val="tx1"/>
              </a:solidFill>
            </a:endParaRPr>
          </a:p>
          <a:p>
            <a:pPr eaLnBrk="1" hangingPunct="1">
              <a:lnSpc>
                <a:spcPct val="120000"/>
              </a:lnSpc>
              <a:spcBef>
                <a:spcPct val="15000"/>
              </a:spcBef>
            </a:pPr>
            <a:r>
              <a:rPr lang="en-US" altLang="zh-CN" sz="2800" dirty="0">
                <a:solidFill>
                  <a:schemeClr val="tx1"/>
                </a:solidFill>
              </a:rPr>
              <a:t>《</a:t>
            </a:r>
            <a:r>
              <a:rPr lang="zh-CN" altLang="en-US" sz="2800" dirty="0">
                <a:solidFill>
                  <a:schemeClr val="tx1"/>
                </a:solidFill>
              </a:rPr>
              <a:t>可信计算机系统评测标准</a:t>
            </a:r>
            <a:r>
              <a:rPr lang="en-US" altLang="zh-CN" sz="2800" dirty="0">
                <a:solidFill>
                  <a:schemeClr val="tx1"/>
                </a:solidFill>
              </a:rPr>
              <a:t>》TCSEC/TDI</a:t>
            </a:r>
            <a:r>
              <a:rPr lang="zh-CN" altLang="en-US" sz="2800" dirty="0">
                <a:solidFill>
                  <a:schemeClr val="tx1"/>
                </a:solidFill>
              </a:rPr>
              <a:t>是目前各国所引用或制定的一系列安全标准中最重要的一个。 </a:t>
            </a:r>
            <a:endParaRPr lang="zh-CN" altLang="en-US" sz="2800" dirty="0">
              <a:solidFill>
                <a:schemeClr val="tx1"/>
              </a:solidFill>
            </a:endParaRPr>
          </a:p>
          <a:p>
            <a:pPr eaLnBrk="1" hangingPunct="1">
              <a:lnSpc>
                <a:spcPct val="120000"/>
              </a:lnSpc>
              <a:spcBef>
                <a:spcPct val="15000"/>
              </a:spcBef>
            </a:pPr>
            <a:r>
              <a:rPr lang="en-US" altLang="zh-CN" sz="2800" dirty="0">
                <a:solidFill>
                  <a:schemeClr val="tx1"/>
                </a:solidFill>
              </a:rPr>
              <a:t>CSEC/TDI</a:t>
            </a:r>
            <a:r>
              <a:rPr lang="zh-CN" altLang="en-US" sz="2800" dirty="0">
                <a:solidFill>
                  <a:schemeClr val="tx1"/>
                </a:solidFill>
              </a:rPr>
              <a:t>从安全</a:t>
            </a:r>
            <a:r>
              <a:rPr lang="zh-CN" altLang="en-US" sz="2800" dirty="0">
                <a:solidFill>
                  <a:srgbClr val="FF0000"/>
                </a:solidFill>
              </a:rPr>
              <a:t>策略</a:t>
            </a:r>
            <a:r>
              <a:rPr lang="zh-CN" altLang="en-US" sz="2800" dirty="0">
                <a:solidFill>
                  <a:schemeClr val="tx1"/>
                </a:solidFill>
              </a:rPr>
              <a:t>、</a:t>
            </a:r>
            <a:r>
              <a:rPr lang="zh-CN" altLang="en-US" sz="2800" dirty="0">
                <a:solidFill>
                  <a:srgbClr val="FF0000"/>
                </a:solidFill>
              </a:rPr>
              <a:t>责任</a:t>
            </a:r>
            <a:r>
              <a:rPr lang="zh-CN" altLang="en-US" sz="2800" dirty="0">
                <a:solidFill>
                  <a:schemeClr val="tx1"/>
                </a:solidFill>
              </a:rPr>
              <a:t>、</a:t>
            </a:r>
            <a:r>
              <a:rPr lang="zh-CN" altLang="en-US" sz="2800" dirty="0">
                <a:solidFill>
                  <a:srgbClr val="FF0000"/>
                </a:solidFill>
              </a:rPr>
              <a:t>保证</a:t>
            </a:r>
            <a:r>
              <a:rPr lang="zh-CN" altLang="en-US" sz="2800" dirty="0">
                <a:solidFill>
                  <a:schemeClr val="tx1"/>
                </a:solidFill>
              </a:rPr>
              <a:t>和</a:t>
            </a:r>
            <a:r>
              <a:rPr lang="zh-CN" altLang="en-US" sz="2800" dirty="0">
                <a:solidFill>
                  <a:srgbClr val="FF0000"/>
                </a:solidFill>
              </a:rPr>
              <a:t>文档</a:t>
            </a:r>
            <a:r>
              <a:rPr lang="zh-CN" altLang="en-US" sz="2800" dirty="0">
                <a:solidFill>
                  <a:schemeClr val="tx1"/>
                </a:solidFill>
              </a:rPr>
              <a:t>四个方面描述了安全性级别的指标</a:t>
            </a:r>
            <a:endParaRPr lang="zh-CN" altLang="en-US" sz="2800" dirty="0">
              <a:solidFill>
                <a:schemeClr val="tx1"/>
              </a:solidFill>
            </a:endParaRPr>
          </a:p>
          <a:p>
            <a:pPr eaLnBrk="1" hangingPunct="1">
              <a:lnSpc>
                <a:spcPct val="120000"/>
              </a:lnSpc>
              <a:spcBef>
                <a:spcPct val="15000"/>
              </a:spcBef>
            </a:pPr>
            <a:r>
              <a:rPr lang="zh-CN" altLang="en-US" sz="2800" dirty="0">
                <a:solidFill>
                  <a:schemeClr val="tx1"/>
                </a:solidFill>
              </a:rPr>
              <a:t>实现数据库系统安全性的技术和方法有多种，最重要的是</a:t>
            </a:r>
            <a:r>
              <a:rPr lang="zh-CN" altLang="en-US" sz="2800" dirty="0">
                <a:solidFill>
                  <a:srgbClr val="FF0000"/>
                </a:solidFill>
              </a:rPr>
              <a:t>存取控制</a:t>
            </a:r>
            <a:r>
              <a:rPr lang="zh-CN" altLang="en-US" sz="2800" dirty="0">
                <a:solidFill>
                  <a:schemeClr val="tx1"/>
                </a:solidFill>
              </a:rPr>
              <a:t>技术和</a:t>
            </a:r>
            <a:r>
              <a:rPr lang="zh-CN" altLang="en-US" sz="2800" dirty="0">
                <a:solidFill>
                  <a:srgbClr val="FF0000"/>
                </a:solidFill>
              </a:rPr>
              <a:t>审计</a:t>
            </a:r>
            <a:r>
              <a:rPr lang="zh-CN" altLang="en-US" sz="2800" dirty="0">
                <a:solidFill>
                  <a:schemeClr val="tx1"/>
                </a:solidFill>
              </a:rPr>
              <a:t>技术。此外，还有</a:t>
            </a:r>
            <a:r>
              <a:rPr lang="zh-CN" altLang="en-US" sz="2800" dirty="0">
                <a:solidFill>
                  <a:srgbClr val="FF0000"/>
                </a:solidFill>
              </a:rPr>
              <a:t>用户标识与鉴别，视图，数据泛化，数据加密</a:t>
            </a:r>
            <a:r>
              <a:rPr lang="zh-CN" altLang="en-US" sz="2800" dirty="0">
                <a:solidFill>
                  <a:schemeClr val="tx1"/>
                </a:solidFill>
              </a:rPr>
              <a:t>等手段。</a:t>
            </a:r>
            <a:endParaRPr lang="zh-CN" altLang="en-US" sz="2800" dirty="0">
              <a:solidFill>
                <a:schemeClr val="tx1"/>
              </a:solidFill>
            </a:endParaRPr>
          </a:p>
        </p:txBody>
      </p:sp>
      <p:sp>
        <p:nvSpPr>
          <p:cNvPr id="107524" name="Rectangle 3"/>
          <p:cNvSpPr>
            <a:spLocks noGrp="1"/>
          </p:cNvSpPr>
          <p:nvPr>
            <p:ph type="title"/>
          </p:nvPr>
        </p:nvSpPr>
        <p:spPr>
          <a:xfrm>
            <a:off x="762000" y="0"/>
            <a:ext cx="7772400" cy="533400"/>
          </a:xfrm>
          <a:ln/>
        </p:spPr>
        <p:txBody>
          <a:bodyPr vert="horz" wrap="square" lIns="91440" tIns="45720" rIns="91440" bIns="45720" anchor="ctr" anchorCtr="0"/>
          <a:p>
            <a:pPr eaLnBrk="1" hangingPunct="1"/>
            <a:r>
              <a:rPr lang="en-US" altLang="zh-CN" dirty="0"/>
              <a:t>4.5  </a:t>
            </a:r>
            <a:r>
              <a:rPr lang="zh-CN" altLang="en-US" dirty="0"/>
              <a:t>小结</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8547" name="Rectangle 2"/>
          <p:cNvSpPr/>
          <p:nvPr/>
        </p:nvSpPr>
        <p:spPr>
          <a:xfrm>
            <a:off x="1295400" y="76200"/>
            <a:ext cx="6781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4400" dirty="0">
                <a:solidFill>
                  <a:schemeClr val="accent2"/>
                </a:solidFill>
                <a:ea typeface="经典细隶书简" pitchFamily="49" charset="-122"/>
              </a:rPr>
              <a:t>第</a:t>
            </a:r>
            <a:r>
              <a:rPr lang="en-US" altLang="zh-CN" sz="4400" dirty="0">
                <a:solidFill>
                  <a:schemeClr val="accent2"/>
                </a:solidFill>
                <a:ea typeface="经典细隶书简" pitchFamily="49" charset="-122"/>
              </a:rPr>
              <a:t>4</a:t>
            </a:r>
            <a:r>
              <a:rPr lang="zh-CN" altLang="en-US" sz="4400" dirty="0">
                <a:solidFill>
                  <a:schemeClr val="accent2"/>
                </a:solidFill>
                <a:ea typeface="经典细隶书简" pitchFamily="49" charset="-122"/>
              </a:rPr>
              <a:t>章书面作业</a:t>
            </a:r>
            <a:endParaRPr lang="zh-CN" altLang="en-US" sz="4400" dirty="0">
              <a:solidFill>
                <a:schemeClr val="accent2"/>
              </a:solidFill>
              <a:ea typeface="经典细隶书简" pitchFamily="49" charset="-122"/>
            </a:endParaRPr>
          </a:p>
        </p:txBody>
      </p:sp>
      <p:sp>
        <p:nvSpPr>
          <p:cNvPr id="108548" name="Rectangle 3"/>
          <p:cNvSpPr/>
          <p:nvPr/>
        </p:nvSpPr>
        <p:spPr>
          <a:xfrm>
            <a:off x="533400" y="1066800"/>
            <a:ext cx="8229600" cy="434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buNone/>
            </a:pPr>
            <a:r>
              <a:rPr lang="en-US" altLang="zh-CN" sz="4800" b="0" dirty="0">
                <a:solidFill>
                  <a:schemeClr val="tx1"/>
                </a:solidFill>
                <a:ea typeface="仿宋_GB2312" pitchFamily="49" charset="-122"/>
              </a:rPr>
              <a:t>P148</a:t>
            </a:r>
            <a:r>
              <a:rPr lang="zh-CN" altLang="en-US" sz="4800" b="0" dirty="0">
                <a:solidFill>
                  <a:schemeClr val="tx1"/>
                </a:solidFill>
                <a:ea typeface="黑体" panose="02010609060101010101" pitchFamily="49" charset="-122"/>
              </a:rPr>
              <a:t>习题</a:t>
            </a:r>
            <a:endParaRPr lang="zh-CN" altLang="en-US" sz="4800" b="0" dirty="0">
              <a:solidFill>
                <a:schemeClr val="tx1"/>
              </a:solidFill>
              <a:ea typeface="黑体" panose="02010609060101010101" pitchFamily="49" charset="-122"/>
            </a:endParaRPr>
          </a:p>
          <a:p>
            <a:pPr marL="342900" lvl="0" indent="-342900" eaLnBrk="1" hangingPunct="1"/>
            <a:r>
              <a:rPr lang="en-US" altLang="zh-CN" sz="4800" b="0" dirty="0">
                <a:solidFill>
                  <a:schemeClr val="tx1"/>
                </a:solidFill>
                <a:ea typeface="仿宋_GB2312" pitchFamily="49" charset="-122"/>
              </a:rPr>
              <a:t>1,5,7,8</a:t>
            </a:r>
            <a:endParaRPr lang="en-US" altLang="zh-CN" sz="4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9571" name="Text Box 2"/>
          <p:cNvSpPr txBox="1"/>
          <p:nvPr/>
        </p:nvSpPr>
        <p:spPr>
          <a:xfrm>
            <a:off x="3124200" y="2057400"/>
            <a:ext cx="2632075" cy="15557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50000"/>
              </a:spcBef>
              <a:buClrTx/>
              <a:buFontTx/>
              <a:buNone/>
            </a:pPr>
            <a:r>
              <a:rPr lang="zh-CN" altLang="en-US" sz="9600" dirty="0">
                <a:solidFill>
                  <a:schemeClr val="accent2"/>
                </a:solidFill>
              </a:rPr>
              <a:t>再见</a:t>
            </a:r>
            <a:endParaRPr lang="zh-CN" altLang="en-US" sz="9600" dirty="0">
              <a:solidFill>
                <a:schemeClr val="accent2"/>
              </a:solidFill>
            </a:endParaRPr>
          </a:p>
        </p:txBody>
      </p:sp>
    </p:spTree>
  </p:cSld>
  <p:clrMapOvr>
    <a:masterClrMapping/>
  </p:clrMapOvr>
</p:sld>
</file>

<file path=ppt/theme/theme1.xml><?xml version="1.0" encoding="utf-8"?>
<a:theme xmlns:a="http://schemas.openxmlformats.org/drawingml/2006/main" name="kyl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kylin">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kyli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yli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yli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yli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yli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yli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yli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kylingray</Template>
  <TotalTime>0</TotalTime>
  <Words>15569</Words>
  <Application>WPS Presentation</Application>
  <PresentationFormat>全屏显示(4:3)</PresentationFormat>
  <Paragraphs>1226</Paragraphs>
  <Slides>104</Slides>
  <Notes>1</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5</vt:i4>
      </vt:variant>
      <vt:variant>
        <vt:lpstr>幻灯片标题</vt:lpstr>
      </vt:variant>
      <vt:variant>
        <vt:i4>104</vt:i4>
      </vt:variant>
    </vt:vector>
  </HeadingPairs>
  <TitlesOfParts>
    <vt:vector size="129"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Calibri</vt:lpstr>
      <vt:lpstr>Courier New</vt:lpstr>
      <vt:lpstr>Arial Unicode MS</vt:lpstr>
      <vt:lpstr>Helvetica</vt:lpstr>
      <vt:lpstr>黑体</vt:lpstr>
      <vt:lpstr>Bookman Old Style</vt:lpstr>
      <vt:lpstr>微软雅黑</vt:lpstr>
      <vt:lpstr>Arial Unicode MS</vt:lpstr>
      <vt:lpstr>kylin</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数据库安全</dc:title>
  <dc:creator>kylin</dc:creator>
  <cp:lastModifiedBy>nakanosan</cp:lastModifiedBy>
  <cp:revision>153</cp:revision>
  <dcterms:created xsi:type="dcterms:W3CDTF">2026-06-17T19:28:51Z</dcterms:created>
  <dcterms:modified xsi:type="dcterms:W3CDTF">2026-06-17T19:28:51Z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791F92BD6849B88C73F5326AD76D54EB_43</vt:lpwstr>
  </property>
  <property fmtid="{D5CDD505-2E9C-101B-9397-08002B2CF9AE}" pid="3" name="KSOProductBuildVer">
    <vt:lpwstr>1033-12.1.2.26885</vt:lpwstr>
  </property>
</Properties>
</file>