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7" r:id="rId3"/>
    <p:sldId id="258" r:id="rId4"/>
    <p:sldId id="259" r:id="rId5"/>
    <p:sldId id="260" r:id="rId6"/>
    <p:sldId id="283" r:id="rId7"/>
    <p:sldId id="287" r:id="rId8"/>
    <p:sldId id="284" r:id="rId9"/>
    <p:sldId id="285" r:id="rId10"/>
    <p:sldId id="286" r:id="rId11"/>
    <p:sldId id="288" r:id="rId12"/>
    <p:sldId id="289" r:id="rId13"/>
    <p:sldId id="290" r:id="rId14"/>
    <p:sldId id="291" r:id="rId15"/>
    <p:sldId id="292" r:id="rId16"/>
    <p:sldId id="293" r:id="rId17"/>
    <p:sldId id="299" r:id="rId18"/>
    <p:sldId id="300" r:id="rId20"/>
    <p:sldId id="301" r:id="rId21"/>
    <p:sldId id="296" r:id="rId22"/>
    <p:sldId id="302" r:id="rId23"/>
    <p:sldId id="304" r:id="rId24"/>
    <p:sldId id="305" r:id="rId25"/>
    <p:sldId id="303" r:id="rId26"/>
    <p:sldId id="307" r:id="rId27"/>
    <p:sldId id="308" r:id="rId28"/>
    <p:sldId id="262" r:id="rId29"/>
    <p:sldId id="309" r:id="rId30"/>
    <p:sldId id="310" r:id="rId31"/>
    <p:sldId id="311" r:id="rId32"/>
    <p:sldId id="312" r:id="rId33"/>
    <p:sldId id="314" r:id="rId34"/>
    <p:sldId id="315" r:id="rId35"/>
    <p:sldId id="316" r:id="rId36"/>
    <p:sldId id="317" r:id="rId37"/>
    <p:sldId id="263" r:id="rId38"/>
    <p:sldId id="264" r:id="rId39"/>
    <p:sldId id="318" r:id="rId40"/>
    <p:sldId id="319" r:id="rId41"/>
    <p:sldId id="320" r:id="rId42"/>
    <p:sldId id="321" r:id="rId43"/>
    <p:sldId id="322" r:id="rId44"/>
    <p:sldId id="323" r:id="rId45"/>
    <p:sldId id="324" r:id="rId46"/>
    <p:sldId id="325" r:id="rId47"/>
    <p:sldId id="326" r:id="rId48"/>
    <p:sldId id="327" r:id="rId49"/>
    <p:sldId id="366" r:id="rId50"/>
    <p:sldId id="355" r:id="rId51"/>
    <p:sldId id="356" r:id="rId52"/>
    <p:sldId id="357" r:id="rId53"/>
    <p:sldId id="359" r:id="rId54"/>
    <p:sldId id="360" r:id="rId55"/>
    <p:sldId id="361" r:id="rId56"/>
    <p:sldId id="362" r:id="rId57"/>
    <p:sldId id="363" r:id="rId58"/>
    <p:sldId id="365" r:id="rId59"/>
    <p:sldId id="367" r:id="rId60"/>
    <p:sldId id="368" r:id="rId61"/>
    <p:sldId id="369" r:id="rId62"/>
    <p:sldId id="371" r:id="rId63"/>
    <p:sldId id="370" r:id="rId64"/>
    <p:sldId id="354" r:id="rId65"/>
    <p:sldId id="266" r:id="rId66"/>
    <p:sldId id="328" r:id="rId67"/>
    <p:sldId id="329" r:id="rId68"/>
    <p:sldId id="330" r:id="rId69"/>
    <p:sldId id="331" r:id="rId70"/>
    <p:sldId id="332" r:id="rId71"/>
    <p:sldId id="333" r:id="rId72"/>
    <p:sldId id="334" r:id="rId73"/>
    <p:sldId id="335" r:id="rId74"/>
    <p:sldId id="336" r:id="rId75"/>
    <p:sldId id="268" r:id="rId76"/>
    <p:sldId id="337" r:id="rId77"/>
    <p:sldId id="338" r:id="rId78"/>
    <p:sldId id="269" r:id="rId79"/>
    <p:sldId id="339" r:id="rId80"/>
    <p:sldId id="270" r:id="rId81"/>
    <p:sldId id="271"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280" r:id="rId97"/>
    <p:sldId id="281" r:id="rId98"/>
    <p:sldId id="282" r:id="rId99"/>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4656"/>
    <p:restoredTop sz="86412"/>
  </p:normalViewPr>
  <p:slideViewPr>
    <p:cSldViewPr showGuides="1">
      <p:cViewPr varScale="1">
        <p:scale>
          <a:sx n="72" d="100"/>
          <a:sy n="72" d="100"/>
        </p:scale>
        <p:origin x="765"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72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A78A5D8A-04F8-48E9-83C6-6301FCE45858}" type="datetimeFigureOut">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D170986D-C56D-41D2-BE6E-C343BEE0BF89}" type="slidenum">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idx="1"/>
          </p:nvPr>
        </p:nvSpPr>
        <p:spPr>
          <a:noFill/>
          <a:ln>
            <a:noFill/>
          </a:ln>
        </p:spPr>
        <p:txBody>
          <a:bodyPr wrap="square" lIns="91440" tIns="45720" rIns="91440" bIns="45720" anchor="t" anchorCtr="0"/>
          <a:p>
            <a:pPr lvl="0" eaLnBrk="1" hangingPunct="1"/>
            <a:r>
              <a:rPr lang="en-US" altLang="zh-CN" dirty="0"/>
              <a:t>MySQL</a:t>
            </a:r>
            <a:r>
              <a:rPr lang="zh-CN" altLang="en-US" dirty="0"/>
              <a:t>中，要用表级显示约束</a:t>
            </a:r>
            <a:r>
              <a:rPr lang="en-US" altLang="zh-CN" dirty="0"/>
              <a:t>constraint PK_SC1 PRIMARY KEY(Sno)</a:t>
            </a:r>
            <a:r>
              <a:rPr lang="zh-CN" altLang="en-US" dirty="0"/>
              <a:t>；</a:t>
            </a:r>
            <a:endParaRPr lang="en-US" altLang="zh-CN" dirty="0"/>
          </a:p>
          <a:p>
            <a:pPr lvl="0" eaLnBrk="1" hangingPunct="1"/>
            <a:r>
              <a:rPr lang="en-US" altLang="zh-CN" dirty="0"/>
              <a:t>MySQL</a:t>
            </a:r>
            <a:r>
              <a:rPr lang="zh-CN" altLang="en-US" dirty="0"/>
              <a:t>中，删除表格 </a:t>
            </a:r>
            <a:r>
              <a:rPr lang="en-US" altLang="zh-CN" dirty="0"/>
              <a:t>DROP TABLE IF EXISTS SC1;</a:t>
            </a:r>
            <a:endParaRPr lang="zh-CN" altLang="en-US" dirty="0"/>
          </a:p>
        </p:txBody>
      </p:sp>
      <p:sp>
        <p:nvSpPr>
          <p:cNvPr id="1946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a:ln>
            <a:solidFill>
              <a:srgbClr val="000000">
                <a:alpha val="100000"/>
              </a:srgbClr>
            </a:solidFill>
            <a:miter lim="800000"/>
          </a:ln>
        </p:spPr>
      </p:sp>
      <p:sp>
        <p:nvSpPr>
          <p:cNvPr id="21507" name="备注占位符 2"/>
          <p:cNvSpPr>
            <a:spLocks noGrp="1"/>
          </p:cNvSpPr>
          <p:nvPr>
            <p:ph type="body" idx="1"/>
          </p:nvPr>
        </p:nvSpPr>
        <p:spPr>
          <a:noFill/>
          <a:ln>
            <a:noFill/>
          </a:ln>
        </p:spPr>
        <p:txBody>
          <a:bodyPr wrap="square" lIns="91440" tIns="45720" rIns="91440" bIns="45720" anchor="t" anchorCtr="0"/>
          <a:p>
            <a:pPr lvl="0" eaLnBrk="1" hangingPunct="1"/>
            <a:r>
              <a:rPr lang="en-US" altLang="zh-CN" dirty="0"/>
              <a:t>MySQL: Alter Table SC1 drop PRIMARY KEY;</a:t>
            </a:r>
            <a:endParaRPr lang="zh-CN" altLang="en-US" dirty="0"/>
          </a:p>
        </p:txBody>
      </p:sp>
      <p:sp>
        <p:nvSpPr>
          <p:cNvPr id="2150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idx="1"/>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34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41"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b="0">
                <a:solidFill>
                  <a:srgbClr val="6600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1434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b="0"/>
            </a:lvl1pPr>
          </a:lstStyle>
          <a:p>
            <a:pPr marL="0" marR="0" lvl="0" indent="0" algn="r" defTabSz="914400" rtl="0" eaLnBrk="1" fontAlgn="base" latinLnBrk="0" hangingPunct="1">
              <a:lnSpc>
                <a:spcPct val="100000"/>
              </a:lnSpc>
              <a:spcBef>
                <a:spcPct val="0"/>
              </a:spcBef>
              <a:spcAft>
                <a:spcPct val="0"/>
              </a:spcAft>
              <a:buClrTx/>
              <a:buSzTx/>
              <a:buFontTx/>
              <a:buNone/>
              <a:defRPr/>
            </a:pPr>
            <a:fld id="{2A045CE4-9005-41BC-A72E-92A039659A5D}"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8"/>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fld id="{14B8EB45-484F-4AEA-89E7-748907EAE92F}"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9" descr="华工校徽"/>
          <p:cNvPicPr>
            <a:picLocks noChangeAspect="1"/>
          </p:cNvPicPr>
          <p:nvPr/>
        </p:nvPicPr>
        <p:blipFill>
          <a:blip r:embed="rId13"/>
          <a:stretch>
            <a:fillRect/>
          </a:stretch>
        </p:blipFill>
        <p:spPr>
          <a:xfrm>
            <a:off x="63500" y="6350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400" b="1">
          <a:solidFill>
            <a:schemeClr val="accent2"/>
          </a:solidFill>
          <a:latin typeface="+mj-lt"/>
          <a:ea typeface="+mj-ea"/>
          <a:cs typeface="+mj-cs"/>
        </a:defRPr>
      </a:lvl1pPr>
      <a:lvl2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2pPr>
      <a:lvl3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3pPr>
      <a:lvl4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4pPr>
      <a:lvl5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5" name="Rectangle 2"/>
          <p:cNvSpPr>
            <a:spLocks noGrp="1"/>
          </p:cNvSpPr>
          <p:nvPr>
            <p:ph idx="1"/>
          </p:nvPr>
        </p:nvSpPr>
        <p:spPr>
          <a:xfrm>
            <a:off x="228600" y="1447800"/>
            <a:ext cx="8534400" cy="4711700"/>
          </a:xfrm>
          <a:ln/>
        </p:spPr>
        <p:txBody>
          <a:bodyPr vert="horz" wrap="square" lIns="91440" tIns="45720" rIns="91440" bIns="45720" anchor="t" anchorCtr="0"/>
          <a:p>
            <a:pPr>
              <a:lnSpc>
                <a:spcPct val="120000"/>
              </a:lnSpc>
              <a:buClrTx/>
              <a:buFontTx/>
              <a:buNone/>
            </a:pPr>
            <a:r>
              <a:rPr lang="en-US" altLang="zh-CN" sz="3600" dirty="0">
                <a:solidFill>
                  <a:schemeClr val="tx1"/>
                </a:solidFill>
              </a:rPr>
              <a:t>	</a:t>
            </a:r>
            <a:r>
              <a:rPr lang="zh-CN" altLang="en-US" sz="3600" dirty="0">
                <a:solidFill>
                  <a:schemeClr val="tx1"/>
                </a:solidFill>
              </a:rPr>
              <a:t>数据库的完整性是指数据的</a:t>
            </a:r>
            <a:r>
              <a:rPr lang="zh-CN" altLang="en-US" sz="3600" dirty="0">
                <a:solidFill>
                  <a:srgbClr val="FF0000"/>
                </a:solidFill>
              </a:rPr>
              <a:t>正确性</a:t>
            </a:r>
            <a:r>
              <a:rPr lang="zh-CN" altLang="en-US" sz="3600" dirty="0">
                <a:solidFill>
                  <a:schemeClr val="tx1"/>
                </a:solidFill>
              </a:rPr>
              <a:t>、</a:t>
            </a:r>
            <a:r>
              <a:rPr lang="zh-CN" altLang="en-US" sz="3600" dirty="0">
                <a:solidFill>
                  <a:srgbClr val="FF0000"/>
                </a:solidFill>
              </a:rPr>
              <a:t>有效性</a:t>
            </a:r>
            <a:r>
              <a:rPr lang="zh-CN" altLang="en-US" sz="3600" dirty="0">
                <a:solidFill>
                  <a:schemeClr val="tx1"/>
                </a:solidFill>
              </a:rPr>
              <a:t>和</a:t>
            </a:r>
            <a:r>
              <a:rPr lang="zh-CN" altLang="en-US" sz="3600" dirty="0">
                <a:solidFill>
                  <a:srgbClr val="FF0000"/>
                </a:solidFill>
              </a:rPr>
              <a:t>相容性</a:t>
            </a:r>
            <a:r>
              <a:rPr lang="zh-CN" altLang="en-US" sz="3600" dirty="0">
                <a:solidFill>
                  <a:schemeClr val="tx1"/>
                </a:solidFill>
              </a:rPr>
              <a:t>。即数据库中数据与现实世界的</a:t>
            </a:r>
            <a:r>
              <a:rPr lang="zh-CN" altLang="en-US" sz="3600" dirty="0">
                <a:solidFill>
                  <a:srgbClr val="FF0000"/>
                </a:solidFill>
              </a:rPr>
              <a:t>实际情况</a:t>
            </a:r>
            <a:r>
              <a:rPr lang="zh-CN" altLang="en-US" sz="3600" dirty="0">
                <a:solidFill>
                  <a:schemeClr val="tx1"/>
                </a:solidFill>
              </a:rPr>
              <a:t>是相</a:t>
            </a:r>
            <a:r>
              <a:rPr lang="zh-CN" altLang="en-US" sz="3600" dirty="0">
                <a:solidFill>
                  <a:srgbClr val="FF0000"/>
                </a:solidFill>
              </a:rPr>
              <a:t>符合</a:t>
            </a:r>
            <a:r>
              <a:rPr lang="zh-CN" altLang="en-US" sz="3600" dirty="0">
                <a:solidFill>
                  <a:schemeClr val="tx1"/>
                </a:solidFill>
              </a:rPr>
              <a:t>的并且数据库中数据自身不</a:t>
            </a:r>
            <a:r>
              <a:rPr lang="zh-CN" altLang="en-US" sz="3600" dirty="0">
                <a:solidFill>
                  <a:srgbClr val="FF0000"/>
                </a:solidFill>
              </a:rPr>
              <a:t>存在自相矛盾</a:t>
            </a:r>
            <a:r>
              <a:rPr lang="zh-CN" altLang="en-US" sz="3600" dirty="0">
                <a:solidFill>
                  <a:schemeClr val="tx1"/>
                </a:solidFill>
              </a:rPr>
              <a:t>的现象。</a:t>
            </a:r>
            <a:endParaRPr lang="zh-CN" altLang="en-US" sz="3600" dirty="0">
              <a:solidFill>
                <a:schemeClr val="tx1"/>
              </a:solidFill>
            </a:endParaRPr>
          </a:p>
        </p:txBody>
      </p:sp>
      <p:sp>
        <p:nvSpPr>
          <p:cNvPr id="3076" name="Rectangle 3"/>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9" name="Rectangle 2"/>
          <p:cNvSpPr>
            <a:spLocks noGrp="1"/>
          </p:cNvSpPr>
          <p:nvPr>
            <p:ph idx="1"/>
          </p:nvPr>
        </p:nvSpPr>
        <p:spPr>
          <a:xfrm>
            <a:off x="250825" y="908050"/>
            <a:ext cx="8534400" cy="5616575"/>
          </a:xfrm>
          <a:ln/>
        </p:spPr>
        <p:txBody>
          <a:bodyPr vert="horz" wrap="square" lIns="91440" tIns="45720" rIns="91440" bIns="45720" anchor="t" anchorCtr="0"/>
          <a:p>
            <a:pPr>
              <a:lnSpc>
                <a:spcPct val="120000"/>
              </a:lnSpc>
              <a:buClr>
                <a:srgbClr val="FF0000"/>
              </a:buClr>
            </a:pPr>
            <a:r>
              <a:rPr lang="zh-CN" altLang="en-US" sz="3600" dirty="0">
                <a:solidFill>
                  <a:schemeClr val="tx1"/>
                </a:solidFill>
              </a:rPr>
              <a:t>完整性 </a:t>
            </a:r>
            <a:r>
              <a:rPr lang="en-US" altLang="zh-CN" sz="3600" dirty="0">
                <a:solidFill>
                  <a:schemeClr val="tx1"/>
                </a:solidFill>
              </a:rPr>
              <a:t>vs </a:t>
            </a:r>
            <a:r>
              <a:rPr lang="zh-CN" altLang="en-US" sz="3600" dirty="0">
                <a:solidFill>
                  <a:schemeClr val="tx1"/>
                </a:solidFill>
              </a:rPr>
              <a:t>安全性</a:t>
            </a:r>
            <a:endParaRPr lang="zh-CN" altLang="en-US" sz="3600" dirty="0">
              <a:solidFill>
                <a:schemeClr val="tx1"/>
              </a:solidFill>
            </a:endParaRPr>
          </a:p>
          <a:p>
            <a:pPr lvl="1">
              <a:lnSpc>
                <a:spcPct val="120000"/>
              </a:lnSpc>
              <a:buClr>
                <a:schemeClr val="hlink"/>
              </a:buClr>
            </a:pPr>
            <a:r>
              <a:rPr lang="zh-CN" altLang="en-US" sz="3200" dirty="0"/>
              <a:t>完整性</a:t>
            </a:r>
            <a:endParaRPr lang="zh-CN" altLang="en-US" sz="3200" dirty="0"/>
          </a:p>
          <a:p>
            <a:pPr lvl="1">
              <a:lnSpc>
                <a:spcPct val="120000"/>
              </a:lnSpc>
              <a:buClr>
                <a:schemeClr val="hlink"/>
              </a:buClr>
              <a:buNone/>
            </a:pPr>
            <a:r>
              <a:rPr lang="zh-CN" altLang="en-US" sz="3200" dirty="0"/>
              <a:t>	防止不符语义的数据，错误的输入</a:t>
            </a:r>
            <a:endParaRPr lang="zh-CN" altLang="en-US" sz="3200" dirty="0"/>
          </a:p>
          <a:p>
            <a:pPr lvl="1">
              <a:lnSpc>
                <a:spcPct val="120000"/>
              </a:lnSpc>
              <a:buClr>
                <a:schemeClr val="hlink"/>
              </a:buClr>
              <a:buNone/>
            </a:pPr>
            <a:r>
              <a:rPr lang="zh-CN" altLang="en-US" sz="3200" dirty="0"/>
              <a:t>	防范的对象：不合语义的</a:t>
            </a:r>
            <a:r>
              <a:rPr lang="zh-CN" altLang="en-US" sz="3200" dirty="0">
                <a:solidFill>
                  <a:schemeClr val="accent2"/>
                </a:solidFill>
              </a:rPr>
              <a:t>数据</a:t>
            </a:r>
            <a:endParaRPr lang="zh-CN" altLang="en-US" sz="3200" dirty="0">
              <a:solidFill>
                <a:schemeClr val="accent2"/>
              </a:solidFill>
            </a:endParaRPr>
          </a:p>
          <a:p>
            <a:pPr lvl="1">
              <a:lnSpc>
                <a:spcPct val="120000"/>
              </a:lnSpc>
              <a:buClr>
                <a:schemeClr val="hlink"/>
              </a:buClr>
            </a:pPr>
            <a:r>
              <a:rPr lang="zh-CN" altLang="en-US" sz="3200" dirty="0"/>
              <a:t>安全性</a:t>
            </a:r>
            <a:endParaRPr lang="zh-CN" altLang="en-US" sz="3200" dirty="0"/>
          </a:p>
          <a:p>
            <a:pPr lvl="1">
              <a:lnSpc>
                <a:spcPct val="120000"/>
              </a:lnSpc>
              <a:buClr>
                <a:schemeClr val="hlink"/>
              </a:buClr>
              <a:buNone/>
            </a:pPr>
            <a:r>
              <a:rPr lang="zh-CN" altLang="en-US" sz="3200" dirty="0"/>
              <a:t>	防止恶意破坏和非法存取</a:t>
            </a:r>
            <a:endParaRPr lang="zh-CN" altLang="en-US" sz="3200" dirty="0"/>
          </a:p>
          <a:p>
            <a:pPr lvl="1">
              <a:lnSpc>
                <a:spcPct val="120000"/>
              </a:lnSpc>
              <a:buClr>
                <a:schemeClr val="hlink"/>
              </a:buClr>
              <a:buNone/>
            </a:pPr>
            <a:r>
              <a:rPr lang="zh-CN" altLang="en-US" sz="3200" dirty="0"/>
              <a:t>	防范对象：非法的</a:t>
            </a:r>
            <a:r>
              <a:rPr lang="zh-CN" altLang="en-US" sz="3200" dirty="0">
                <a:solidFill>
                  <a:schemeClr val="accent2"/>
                </a:solidFill>
              </a:rPr>
              <a:t>用户</a:t>
            </a:r>
            <a:r>
              <a:rPr lang="zh-CN" altLang="en-US" sz="3200" dirty="0"/>
              <a:t>和</a:t>
            </a:r>
            <a:r>
              <a:rPr lang="zh-CN" altLang="en-US" sz="3200" dirty="0">
                <a:solidFill>
                  <a:schemeClr val="accent2"/>
                </a:solidFill>
              </a:rPr>
              <a:t>非法操作</a:t>
            </a:r>
            <a:r>
              <a:rPr lang="zh-CN" altLang="en-US" sz="3200" dirty="0"/>
              <a:t>。</a:t>
            </a:r>
            <a:endParaRPr lang="zh-CN" alt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3" name="Rectangle 2"/>
          <p:cNvSpPr>
            <a:spLocks noGrp="1"/>
          </p:cNvSpPr>
          <p:nvPr>
            <p:ph idx="1"/>
          </p:nvPr>
        </p:nvSpPr>
        <p:spPr>
          <a:xfrm>
            <a:off x="179388" y="908050"/>
            <a:ext cx="8534400" cy="4711700"/>
          </a:xfrm>
          <a:ln/>
        </p:spPr>
        <p:txBody>
          <a:bodyPr vert="horz" wrap="square" lIns="91440" tIns="45720" rIns="91440" bIns="45720" anchor="t" anchorCtr="0"/>
          <a:p>
            <a:pPr>
              <a:lnSpc>
                <a:spcPct val="120000"/>
              </a:lnSpc>
              <a:buClr>
                <a:srgbClr val="FF0000"/>
              </a:buClr>
            </a:pPr>
            <a:r>
              <a:rPr lang="zh-CN" altLang="en-US" sz="3600" dirty="0">
                <a:solidFill>
                  <a:schemeClr val="tx1"/>
                </a:solidFill>
              </a:rPr>
              <a:t>完整性控制机制</a:t>
            </a:r>
            <a:endParaRPr lang="zh-CN" altLang="en-US" sz="3600" dirty="0">
              <a:solidFill>
                <a:schemeClr val="tx1"/>
              </a:solidFill>
            </a:endParaRPr>
          </a:p>
          <a:p>
            <a:pPr lvl="1">
              <a:lnSpc>
                <a:spcPct val="120000"/>
              </a:lnSpc>
              <a:buClr>
                <a:schemeClr val="hlink"/>
              </a:buClr>
            </a:pPr>
            <a:r>
              <a:rPr lang="zh-CN" altLang="en-US" sz="3200" dirty="0"/>
              <a:t>定义</a:t>
            </a:r>
            <a:r>
              <a:rPr lang="zh-CN" altLang="en-US" sz="3200" dirty="0">
                <a:solidFill>
                  <a:srgbClr val="FF0000"/>
                </a:solidFill>
              </a:rPr>
              <a:t>完整性约束条件</a:t>
            </a:r>
            <a:endParaRPr lang="zh-CN" altLang="en-US" sz="3200" dirty="0">
              <a:solidFill>
                <a:srgbClr val="FF0000"/>
              </a:solidFill>
            </a:endParaRPr>
          </a:p>
          <a:p>
            <a:pPr lvl="1">
              <a:lnSpc>
                <a:spcPct val="120000"/>
              </a:lnSpc>
              <a:buClr>
                <a:schemeClr val="hlink"/>
              </a:buClr>
            </a:pPr>
            <a:r>
              <a:rPr lang="zh-CN" altLang="en-US" sz="3200" dirty="0"/>
              <a:t>实施</a:t>
            </a:r>
            <a:r>
              <a:rPr lang="zh-CN" altLang="en-US" sz="3200" dirty="0">
                <a:solidFill>
                  <a:srgbClr val="FF0000"/>
                </a:solidFill>
              </a:rPr>
              <a:t>完整性检查</a:t>
            </a:r>
            <a:endParaRPr lang="zh-CN" altLang="en-US" sz="3200" dirty="0">
              <a:solidFill>
                <a:srgbClr val="FF0000"/>
              </a:solidFill>
            </a:endParaRPr>
          </a:p>
          <a:p>
            <a:pPr lvl="1">
              <a:lnSpc>
                <a:spcPct val="120000"/>
              </a:lnSpc>
              <a:buClr>
                <a:schemeClr val="hlink"/>
              </a:buClr>
            </a:pPr>
            <a:r>
              <a:rPr lang="zh-CN" altLang="en-US" sz="3200" dirty="0"/>
              <a:t>如有违反，作何种</a:t>
            </a:r>
            <a:r>
              <a:rPr lang="zh-CN" altLang="en-US" sz="3200" dirty="0">
                <a:solidFill>
                  <a:srgbClr val="FF0000"/>
                </a:solidFill>
              </a:rPr>
              <a:t>处置</a:t>
            </a:r>
            <a:r>
              <a:rPr lang="en-US" altLang="zh-CN" sz="3200" dirty="0"/>
              <a:t>(</a:t>
            </a:r>
            <a:r>
              <a:rPr lang="zh-CN" altLang="en-US" sz="3200" dirty="0"/>
              <a:t>拒绝、报告、纠正、忽略</a:t>
            </a:r>
            <a:r>
              <a:rPr lang="en-US" altLang="zh-CN" sz="3200" dirty="0"/>
              <a:t>)</a:t>
            </a:r>
            <a:endParaRPr lang="en-US" altLang="zh-C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7" name="Rectangle 2"/>
          <p:cNvSpPr/>
          <p:nvPr/>
        </p:nvSpPr>
        <p:spPr>
          <a:xfrm>
            <a:off x="558800" y="1419225"/>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6148" name="Rectangle 3"/>
          <p:cNvSpPr>
            <a:spLocks noGrp="1"/>
          </p:cNvSpPr>
          <p:nvPr>
            <p:ph idx="1"/>
          </p:nvPr>
        </p:nvSpPr>
        <p:spPr>
          <a:xfrm>
            <a:off x="762000" y="1358900"/>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bg1"/>
                </a:solidFill>
              </a:rPr>
              <a:t>5.1  </a:t>
            </a:r>
            <a:r>
              <a:rPr lang="zh-CN" altLang="en-US" dirty="0">
                <a:solidFill>
                  <a:schemeClr val="bg1"/>
                </a:solidFill>
              </a:rPr>
              <a:t>实体完整性</a:t>
            </a:r>
            <a:endParaRPr lang="zh-CN" altLang="en-US" dirty="0">
              <a:solidFill>
                <a:schemeClr val="bg1"/>
              </a:solidFill>
            </a:endParaRPr>
          </a:p>
          <a:p>
            <a:pPr algn="just" eaLnBrk="1" hangingPunct="1">
              <a:lnSpc>
                <a:spcPct val="130000"/>
              </a:lnSpc>
              <a:buNone/>
            </a:pPr>
            <a:r>
              <a:rPr lang="en-US" altLang="zh-CN" dirty="0">
                <a:solidFill>
                  <a:schemeClr val="tx1"/>
                </a:solidFill>
              </a:rPr>
              <a:t>5.2  </a:t>
            </a:r>
            <a:r>
              <a:rPr lang="zh-CN" altLang="en-US" dirty="0">
                <a:solidFill>
                  <a:schemeClr val="tx1"/>
                </a:solidFill>
              </a:rPr>
              <a:t>参照完整性</a:t>
            </a:r>
            <a:endParaRPr lang="zh-CN" altLang="en-US" dirty="0">
              <a:solidFill>
                <a:schemeClr val="tx1"/>
              </a:solidFill>
            </a:endParaRPr>
          </a:p>
          <a:p>
            <a:pPr algn="just" eaLnBrk="1" hangingPunct="1">
              <a:lnSpc>
                <a:spcPct val="130000"/>
              </a:lnSpc>
              <a:buNone/>
            </a:pPr>
            <a:r>
              <a:rPr lang="en-US" altLang="zh-CN" dirty="0">
                <a:solidFill>
                  <a:schemeClr val="tx1"/>
                </a:solidFill>
              </a:rPr>
              <a:t>5.3  </a:t>
            </a:r>
            <a:r>
              <a:rPr lang="zh-CN" altLang="en-US" dirty="0">
                <a:solidFill>
                  <a:schemeClr val="tx1"/>
                </a:solidFill>
              </a:rPr>
              <a:t>用户定义的完整性</a:t>
            </a:r>
            <a:endParaRPr lang="zh-CN" altLang="en-US" dirty="0">
              <a:solidFill>
                <a:schemeClr val="tx1"/>
              </a:solidFill>
            </a:endParaRPr>
          </a:p>
          <a:p>
            <a:pPr algn="just" eaLnBrk="1" hangingPunct="1">
              <a:lnSpc>
                <a:spcPct val="130000"/>
              </a:lnSpc>
              <a:buNone/>
            </a:pPr>
            <a:r>
              <a:rPr lang="en-US" altLang="zh-CN" dirty="0">
                <a:solidFill>
                  <a:schemeClr val="tx1"/>
                </a:solidFill>
              </a:rPr>
              <a:t>5.4  </a:t>
            </a:r>
            <a:r>
              <a:rPr lang="zh-CN" altLang="en-US" dirty="0">
                <a:solidFill>
                  <a:schemeClr val="tx1"/>
                </a:solidFill>
              </a:rPr>
              <a:t>完整性约束命名子句</a:t>
            </a:r>
            <a:endParaRPr lang="zh-CN" altLang="en-US" dirty="0">
              <a:solidFill>
                <a:schemeClr val="tx1"/>
              </a:solidFill>
            </a:endParaRPr>
          </a:p>
          <a:p>
            <a:pPr algn="just" eaLnBrk="1" hangingPunct="1">
              <a:lnSpc>
                <a:spcPct val="130000"/>
              </a:lnSpc>
              <a:buNone/>
            </a:pPr>
            <a:r>
              <a:rPr lang="en-US" altLang="zh-CN" dirty="0">
                <a:solidFill>
                  <a:schemeClr val="bg2"/>
                </a:solidFill>
              </a:rPr>
              <a:t>5.5  </a:t>
            </a:r>
            <a:r>
              <a:rPr lang="zh-CN" altLang="en-US" dirty="0">
                <a:solidFill>
                  <a:schemeClr val="bg2"/>
                </a:solidFill>
              </a:rPr>
              <a:t>域中的完整性限制</a:t>
            </a:r>
            <a:endParaRPr lang="zh-CN" altLang="en-US" dirty="0">
              <a:solidFill>
                <a:schemeClr val="bg2"/>
              </a:solidFill>
            </a:endParaRPr>
          </a:p>
          <a:p>
            <a:pPr algn="just" eaLnBrk="1" hangingPunct="1">
              <a:lnSpc>
                <a:spcPct val="130000"/>
              </a:lnSpc>
              <a:buNone/>
            </a:pPr>
            <a:r>
              <a:rPr lang="en-US" altLang="zh-CN" dirty="0">
                <a:solidFill>
                  <a:schemeClr val="tx1"/>
                </a:solidFill>
              </a:rPr>
              <a:t>5.6  </a:t>
            </a:r>
            <a:r>
              <a:rPr lang="zh-CN" altLang="en-US" dirty="0">
                <a:solidFill>
                  <a:schemeClr val="tx1"/>
                </a:solidFill>
              </a:rPr>
              <a:t>触发器</a:t>
            </a:r>
            <a:endParaRPr lang="zh-CN" altLang="en-US" dirty="0">
              <a:solidFill>
                <a:schemeClr val="tx1"/>
              </a:solidFill>
            </a:endParaRPr>
          </a:p>
          <a:p>
            <a:pPr algn="just" eaLnBrk="1" hangingPunct="1">
              <a:lnSpc>
                <a:spcPct val="130000"/>
              </a:lnSpc>
              <a:buNone/>
            </a:pPr>
            <a:r>
              <a:rPr lang="en-US" altLang="zh-CN" dirty="0">
                <a:solidFill>
                  <a:schemeClr val="tx1"/>
                </a:solidFill>
              </a:rPr>
              <a:t>5.7  </a:t>
            </a:r>
            <a:r>
              <a:rPr lang="zh-CN" altLang="en-US" dirty="0">
                <a:solidFill>
                  <a:schemeClr val="tx1"/>
                </a:solidFill>
              </a:rPr>
              <a:t>小结</a:t>
            </a:r>
            <a:endParaRPr lang="zh-CN" altLang="en-US" dirty="0">
              <a:solidFill>
                <a:schemeClr val="tx1"/>
              </a:solidFill>
            </a:endParaRPr>
          </a:p>
        </p:txBody>
      </p:sp>
      <p:sp>
        <p:nvSpPr>
          <p:cNvPr id="6149"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5.1 </a:t>
            </a:r>
            <a:r>
              <a:rPr lang="zh-CN" altLang="en-US" dirty="0"/>
              <a:t>实体完整性</a:t>
            </a:r>
            <a:endParaRPr lang="zh-CN" altLang="en-US" dirty="0"/>
          </a:p>
        </p:txBody>
      </p:sp>
      <p:sp>
        <p:nvSpPr>
          <p:cNvPr id="7172" name="Rectangle 3"/>
          <p:cNvSpPr>
            <a:spLocks noGrp="1"/>
          </p:cNvSpPr>
          <p:nvPr>
            <p:ph idx="1"/>
          </p:nvPr>
        </p:nvSpPr>
        <p:spPr>
          <a:xfrm>
            <a:off x="971550" y="1773238"/>
            <a:ext cx="7416800" cy="2862262"/>
          </a:xfrm>
          <a:ln/>
        </p:spPr>
        <p:txBody>
          <a:bodyPr vert="horz" wrap="square" lIns="91440" tIns="45720" rIns="91440" bIns="45720" anchor="t" anchorCtr="0"/>
          <a:p>
            <a:pPr eaLnBrk="1" hangingPunct="1">
              <a:lnSpc>
                <a:spcPct val="120000"/>
              </a:lnSpc>
              <a:buNone/>
            </a:pPr>
            <a:r>
              <a:rPr lang="en-US" altLang="zh-CN" sz="3600" dirty="0">
                <a:solidFill>
                  <a:srgbClr val="FF0000"/>
                </a:solidFill>
              </a:rPr>
              <a:t>5.1.1  </a:t>
            </a:r>
            <a:r>
              <a:rPr lang="zh-CN" altLang="en-US" sz="3600" dirty="0">
                <a:solidFill>
                  <a:srgbClr val="FF0000"/>
                </a:solidFill>
              </a:rPr>
              <a:t>实体完整性定义</a:t>
            </a:r>
            <a:endParaRPr lang="zh-CN" altLang="en-US" sz="3600" dirty="0">
              <a:solidFill>
                <a:srgbClr val="FF0000"/>
              </a:solidFill>
            </a:endParaRPr>
          </a:p>
          <a:p>
            <a:pPr eaLnBrk="1" hangingPunct="1">
              <a:lnSpc>
                <a:spcPct val="120000"/>
              </a:lnSpc>
              <a:buNone/>
            </a:pPr>
            <a:r>
              <a:rPr lang="en-US" altLang="zh-CN" sz="3600" dirty="0">
                <a:solidFill>
                  <a:schemeClr val="tx1"/>
                </a:solidFill>
              </a:rPr>
              <a:t>5.1.2  </a:t>
            </a:r>
            <a:r>
              <a:rPr lang="zh-CN" altLang="en-US" sz="3600" dirty="0">
                <a:solidFill>
                  <a:schemeClr val="tx1"/>
                </a:solidFill>
              </a:rPr>
              <a:t>实体完整性检查和违约处理</a:t>
            </a:r>
            <a:endParaRPr lang="zh-CN" altLang="en-US" sz="36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8196"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40000"/>
              </a:lnSpc>
            </a:pPr>
            <a:r>
              <a:rPr lang="zh-CN" altLang="en-US" dirty="0"/>
              <a:t>关系模型的实体完整性</a:t>
            </a:r>
            <a:endParaRPr lang="zh-CN" altLang="en-US" dirty="0"/>
          </a:p>
          <a:p>
            <a:pPr lvl="1" eaLnBrk="1" hangingPunct="1">
              <a:lnSpc>
                <a:spcPct val="140000"/>
              </a:lnSpc>
            </a:pPr>
            <a:r>
              <a:rPr lang="en-US" altLang="zh-CN" sz="3000" dirty="0"/>
              <a:t>CREATE  TABLE</a:t>
            </a:r>
            <a:r>
              <a:rPr lang="zh-CN" altLang="en-US" sz="3000" dirty="0"/>
              <a:t>中用</a:t>
            </a:r>
            <a:r>
              <a:rPr lang="en-US" altLang="zh-CN" sz="3000" dirty="0"/>
              <a:t>PRIMARY KEY</a:t>
            </a:r>
            <a:r>
              <a:rPr lang="zh-CN" altLang="en-US" sz="3000" dirty="0"/>
              <a:t>定义</a:t>
            </a:r>
            <a:endParaRPr lang="zh-CN" altLang="en-US" sz="3000" dirty="0"/>
          </a:p>
          <a:p>
            <a:pPr eaLnBrk="1" hangingPunct="1">
              <a:lnSpc>
                <a:spcPct val="140000"/>
              </a:lnSpc>
            </a:pPr>
            <a:r>
              <a:rPr lang="zh-CN" altLang="en-US" dirty="0"/>
              <a:t>单属性构成的码有两种说明方法 </a:t>
            </a:r>
            <a:endParaRPr lang="zh-CN" altLang="en-US" dirty="0"/>
          </a:p>
          <a:p>
            <a:pPr lvl="1" eaLnBrk="1" hangingPunct="1">
              <a:lnSpc>
                <a:spcPct val="140000"/>
              </a:lnSpc>
            </a:pPr>
            <a:r>
              <a:rPr lang="zh-CN" altLang="en-US" sz="3000" dirty="0"/>
              <a:t>定义为列级约束条件</a:t>
            </a:r>
            <a:endParaRPr lang="zh-CN" altLang="en-US" sz="3000" dirty="0"/>
          </a:p>
          <a:p>
            <a:pPr lvl="1" eaLnBrk="1" hangingPunct="1">
              <a:lnSpc>
                <a:spcPct val="140000"/>
              </a:lnSpc>
            </a:pPr>
            <a:r>
              <a:rPr lang="zh-CN" altLang="en-US" sz="3000" dirty="0"/>
              <a:t>定义为表级约束条件</a:t>
            </a:r>
            <a:endParaRPr lang="zh-CN" altLang="en-US" sz="3000" dirty="0"/>
          </a:p>
          <a:p>
            <a:pPr eaLnBrk="1" hangingPunct="1">
              <a:lnSpc>
                <a:spcPct val="140000"/>
              </a:lnSpc>
            </a:pPr>
            <a:r>
              <a:rPr lang="zh-CN" altLang="en-US" dirty="0"/>
              <a:t>对多个属性构成的码只有一种说明方法</a:t>
            </a:r>
            <a:endParaRPr lang="zh-CN" altLang="en-US" dirty="0"/>
          </a:p>
          <a:p>
            <a:pPr lvl="1" eaLnBrk="1" hangingPunct="1">
              <a:lnSpc>
                <a:spcPct val="140000"/>
              </a:lnSpc>
            </a:pPr>
            <a:r>
              <a:rPr lang="zh-CN" altLang="en-US" sz="3000" dirty="0"/>
              <a:t>定义为表级约束条件</a:t>
            </a:r>
            <a:r>
              <a:rPr lang="zh-CN" altLang="en-US" sz="3200" dirty="0"/>
              <a:t> </a:t>
            </a:r>
            <a:endParaRPr lang="zh-CN" alt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9220"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20000"/>
              </a:lnSpc>
              <a:buClr>
                <a:srgbClr val="0000FF"/>
              </a:buClr>
              <a:buNone/>
            </a:pPr>
            <a:r>
              <a:rPr lang="en-US" altLang="zh-CN" i="1" dirty="0">
                <a:solidFill>
                  <a:schemeClr val="accent2"/>
                </a:solidFill>
              </a:rPr>
              <a:t>create  table</a:t>
            </a:r>
            <a:r>
              <a:rPr lang="en-US" altLang="zh-CN" dirty="0">
                <a:solidFill>
                  <a:schemeClr val="tx1"/>
                </a:solidFill>
              </a:rPr>
              <a:t>   </a:t>
            </a:r>
            <a:r>
              <a:rPr lang="en-US" altLang="en-US" dirty="0">
                <a:solidFill>
                  <a:schemeClr val="tx1"/>
                </a:solidFill>
              </a:rPr>
              <a:t>表名 (</a:t>
            </a:r>
            <a:endParaRPr lang="en-US" altLang="zh-CN" dirty="0">
              <a:solidFill>
                <a:schemeClr val="tx1"/>
              </a:solidFill>
            </a:endParaRPr>
          </a:p>
          <a:p>
            <a:pPr eaLnBrk="1" hangingPunct="1">
              <a:lnSpc>
                <a:spcPct val="120000"/>
              </a:lnSpc>
              <a:buClr>
                <a:srgbClr val="0000FF"/>
              </a:buClr>
              <a:buNone/>
            </a:pPr>
            <a:r>
              <a:rPr lang="en-US" altLang="zh-CN" dirty="0">
                <a:solidFill>
                  <a:schemeClr val="tx1"/>
                </a:solidFill>
              </a:rPr>
              <a:t>       </a:t>
            </a:r>
            <a:r>
              <a:rPr lang="en-US" altLang="en-US" dirty="0">
                <a:solidFill>
                  <a:schemeClr val="tx1"/>
                </a:solidFill>
              </a:rPr>
              <a:t>{ &lt;列定义 &gt; | &lt; 表约束 &gt; } [ ,...n ] </a:t>
            </a:r>
            <a:endParaRPr lang="en-US" altLang="zh-CN" dirty="0">
              <a:solidFill>
                <a:schemeClr val="tx1"/>
              </a:solidFill>
            </a:endParaRPr>
          </a:p>
          <a:p>
            <a:pPr eaLnBrk="1" hangingPunct="1">
              <a:lnSpc>
                <a:spcPct val="120000"/>
              </a:lnSpc>
              <a:buClr>
                <a:srgbClr val="0000FF"/>
              </a:buClr>
              <a:buNone/>
            </a:pPr>
            <a:r>
              <a:rPr lang="en-US" altLang="en-US" dirty="0">
                <a:solidFill>
                  <a:schemeClr val="tx1"/>
                </a:solidFill>
              </a:rPr>
              <a:t>)</a:t>
            </a:r>
            <a:r>
              <a:rPr lang="en-US" altLang="en-US" sz="2800" dirty="0">
                <a:solidFill>
                  <a:schemeClr val="tx1"/>
                </a:solidFill>
              </a:rPr>
              <a:t> </a:t>
            </a:r>
            <a:endParaRPr lang="en-US" altLang="zh-CN" sz="2800" dirty="0">
              <a:solidFill>
                <a:schemeClr val="tx1"/>
              </a:solidFill>
            </a:endParaRPr>
          </a:p>
          <a:p>
            <a:pPr eaLnBrk="1" hangingPunct="1">
              <a:lnSpc>
                <a:spcPct val="120000"/>
              </a:lnSpc>
              <a:buClr>
                <a:srgbClr val="0000FF"/>
              </a:buClr>
              <a:buNone/>
            </a:pPr>
            <a:endParaRPr lang="en-US" altLang="en-US" sz="1600" dirty="0">
              <a:solidFill>
                <a:schemeClr val="tx1"/>
              </a:solidFill>
            </a:endParaRPr>
          </a:p>
          <a:p>
            <a:pPr eaLnBrk="1" hangingPunct="1">
              <a:lnSpc>
                <a:spcPct val="120000"/>
              </a:lnSpc>
              <a:buClr>
                <a:srgbClr val="0000FF"/>
              </a:buClr>
              <a:buNone/>
            </a:pPr>
            <a:r>
              <a:rPr lang="en-US" altLang="zh-CN" sz="2800" dirty="0">
                <a:solidFill>
                  <a:schemeClr val="tx1"/>
                </a:solidFill>
              </a:rPr>
              <a:t>&lt;</a:t>
            </a:r>
            <a:r>
              <a:rPr lang="zh-CN" altLang="en-US" sz="2800" dirty="0">
                <a:solidFill>
                  <a:schemeClr val="tx1"/>
                </a:solidFill>
              </a:rPr>
              <a:t>列定义</a:t>
            </a:r>
            <a:r>
              <a:rPr lang="en-US" altLang="zh-CN" sz="2800" dirty="0">
                <a:solidFill>
                  <a:schemeClr val="tx1"/>
                </a:solidFill>
              </a:rPr>
              <a:t>&gt;</a:t>
            </a:r>
            <a:r>
              <a:rPr lang="en-US" altLang="zh-CN" sz="2800" dirty="0"/>
              <a:t> </a:t>
            </a:r>
            <a:r>
              <a:rPr lang="en-US" altLang="zh-CN" sz="2800" dirty="0">
                <a:solidFill>
                  <a:schemeClr val="tx1"/>
                </a:solidFill>
              </a:rPr>
              <a:t>::= {</a:t>
            </a:r>
            <a:r>
              <a:rPr lang="zh-CN" altLang="en-US" sz="2800" dirty="0">
                <a:solidFill>
                  <a:schemeClr val="tx1"/>
                </a:solidFill>
              </a:rPr>
              <a:t>列名  数据类型</a:t>
            </a:r>
            <a:r>
              <a:rPr lang="en-US" altLang="zh-CN" sz="2800" dirty="0">
                <a:solidFill>
                  <a:schemeClr val="tx1"/>
                </a:solidFill>
              </a:rPr>
              <a:t>}</a:t>
            </a:r>
            <a:endParaRPr lang="en-US" altLang="zh-CN" sz="2800" dirty="0">
              <a:solidFill>
                <a:schemeClr val="tx1"/>
              </a:solidFill>
            </a:endParaRPr>
          </a:p>
          <a:p>
            <a:pPr eaLnBrk="1" hangingPunct="1">
              <a:lnSpc>
                <a:spcPct val="120000"/>
              </a:lnSpc>
              <a:buClr>
                <a:srgbClr val="0000FF"/>
              </a:buClr>
              <a:buNone/>
            </a:pPr>
            <a:r>
              <a:rPr lang="en-US" altLang="zh-CN" sz="2800" dirty="0">
                <a:solidFill>
                  <a:schemeClr val="tx1"/>
                </a:solidFill>
              </a:rPr>
              <a:t>    [ [ </a:t>
            </a:r>
            <a:r>
              <a:rPr lang="en-US" altLang="zh-CN" sz="2800" dirty="0">
                <a:solidFill>
                  <a:schemeClr val="accent2"/>
                </a:solidFill>
              </a:rPr>
              <a:t>DEFAULT</a:t>
            </a:r>
            <a:r>
              <a:rPr lang="en-US" altLang="zh-CN" sz="2800" dirty="0">
                <a:solidFill>
                  <a:schemeClr val="tx1"/>
                </a:solidFill>
              </a:rPr>
              <a:t> </a:t>
            </a:r>
            <a:r>
              <a:rPr lang="zh-CN" altLang="en-US" sz="2800" dirty="0">
                <a:solidFill>
                  <a:schemeClr val="tx1"/>
                </a:solidFill>
              </a:rPr>
              <a:t>常量表达式 </a:t>
            </a:r>
            <a:r>
              <a:rPr lang="en-US" altLang="zh-CN" sz="2800" dirty="0">
                <a:solidFill>
                  <a:schemeClr val="tx1"/>
                </a:solidFill>
              </a:rPr>
              <a:t>] | </a:t>
            </a:r>
            <a:endParaRPr lang="en-US" altLang="zh-CN" sz="2800" dirty="0">
              <a:solidFill>
                <a:schemeClr val="tx1"/>
              </a:solidFill>
            </a:endParaRPr>
          </a:p>
          <a:p>
            <a:pPr eaLnBrk="1" hangingPunct="1">
              <a:lnSpc>
                <a:spcPct val="120000"/>
              </a:lnSpc>
              <a:buClr>
                <a:srgbClr val="0000FF"/>
              </a:buClr>
              <a:buNone/>
            </a:pPr>
            <a:r>
              <a:rPr lang="en-US" altLang="zh-CN" sz="2800" dirty="0">
                <a:solidFill>
                  <a:schemeClr val="tx1"/>
                </a:solidFill>
              </a:rPr>
              <a:t>      [ </a:t>
            </a:r>
            <a:r>
              <a:rPr lang="en-US" altLang="zh-CN" sz="2800" dirty="0">
                <a:solidFill>
                  <a:schemeClr val="accent2"/>
                </a:solidFill>
              </a:rPr>
              <a:t>IDENTITY</a:t>
            </a:r>
            <a:r>
              <a:rPr lang="en-US" altLang="zh-CN" sz="2800" dirty="0">
                <a:solidFill>
                  <a:schemeClr val="tx1"/>
                </a:solidFill>
              </a:rPr>
              <a:t> [ ( </a:t>
            </a:r>
            <a:r>
              <a:rPr lang="zh-CN" altLang="en-US" sz="2800" dirty="0">
                <a:solidFill>
                  <a:schemeClr val="tx1"/>
                </a:solidFill>
              </a:rPr>
              <a:t>种子</a:t>
            </a:r>
            <a:r>
              <a:rPr lang="en-US" altLang="zh-CN" sz="2800" dirty="0">
                <a:solidFill>
                  <a:schemeClr val="tx1"/>
                </a:solidFill>
              </a:rPr>
              <a:t>, </a:t>
            </a:r>
            <a:r>
              <a:rPr lang="zh-CN" altLang="en-US" sz="2800" dirty="0">
                <a:solidFill>
                  <a:schemeClr val="tx1"/>
                </a:solidFill>
              </a:rPr>
              <a:t>增量</a:t>
            </a:r>
            <a:r>
              <a:rPr lang="en-US" altLang="zh-CN" sz="2800" dirty="0">
                <a:solidFill>
                  <a:schemeClr val="tx1"/>
                </a:solidFill>
              </a:rPr>
              <a:t>)] ]]    </a:t>
            </a:r>
            <a:endParaRPr lang="en-US" altLang="zh-CN" sz="2800" dirty="0">
              <a:solidFill>
                <a:schemeClr val="tx1"/>
              </a:solidFill>
            </a:endParaRPr>
          </a:p>
          <a:p>
            <a:pPr eaLnBrk="1" hangingPunct="1">
              <a:lnSpc>
                <a:spcPct val="120000"/>
              </a:lnSpc>
              <a:buClr>
                <a:srgbClr val="0000FF"/>
              </a:buClr>
              <a:buNone/>
            </a:pPr>
            <a:r>
              <a:rPr lang="en-US" altLang="zh-CN" sz="2800" dirty="0">
                <a:solidFill>
                  <a:schemeClr val="tx1"/>
                </a:solidFill>
              </a:rPr>
              <a:t>       [ &lt;</a:t>
            </a:r>
            <a:r>
              <a:rPr lang="zh-CN" altLang="en-US" sz="2800" dirty="0">
                <a:solidFill>
                  <a:schemeClr val="tx1"/>
                </a:solidFill>
              </a:rPr>
              <a:t>列约束</a:t>
            </a:r>
            <a:r>
              <a:rPr lang="en-US" altLang="zh-CN" sz="2800" dirty="0">
                <a:solidFill>
                  <a:schemeClr val="tx1"/>
                </a:solidFill>
              </a:rPr>
              <a:t>&gt; ] [ ...n ]</a:t>
            </a:r>
            <a:endParaRPr lang="en-US" altLang="zh-CN" sz="2800" dirty="0"/>
          </a:p>
        </p:txBody>
      </p:sp>
      <p:sp>
        <p:nvSpPr>
          <p:cNvPr id="9221" name="Line 9"/>
          <p:cNvSpPr/>
          <p:nvPr/>
        </p:nvSpPr>
        <p:spPr>
          <a:xfrm>
            <a:off x="3348038" y="2276475"/>
            <a:ext cx="1728787" cy="0"/>
          </a:xfrm>
          <a:prstGeom prst="line">
            <a:avLst/>
          </a:prstGeom>
          <a:ln w="38100" cap="flat" cmpd="sng">
            <a:solidFill>
              <a:srgbClr val="FF0000"/>
            </a:solidFill>
            <a:prstDash val="solid"/>
            <a:headEnd type="none" w="med" len="med"/>
            <a:tailEnd type="none" w="med" len="med"/>
          </a:ln>
        </p:spPr>
      </p:sp>
      <p:sp>
        <p:nvSpPr>
          <p:cNvPr id="9222" name="Line 10"/>
          <p:cNvSpPr/>
          <p:nvPr/>
        </p:nvSpPr>
        <p:spPr>
          <a:xfrm>
            <a:off x="900113" y="5661025"/>
            <a:ext cx="1655762"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3"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0244"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20000"/>
              </a:lnSpc>
              <a:buClr>
                <a:srgbClr val="0000FF"/>
              </a:buClr>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列约束</a:t>
            </a:r>
            <a:r>
              <a:rPr lang="en-US" altLang="zh-CN" sz="2800" b="0" dirty="0">
                <a:solidFill>
                  <a:schemeClr val="tx1"/>
                </a:solidFill>
                <a:latin typeface="Arial" panose="020B0604020202020204" pitchFamily="34" charset="0"/>
              </a:rPr>
              <a:t>&gt; ::= [</a:t>
            </a:r>
            <a:r>
              <a:rPr lang="en-US" altLang="zh-CN" sz="2800" b="0" dirty="0">
                <a:solidFill>
                  <a:schemeClr val="accent2"/>
                </a:solidFill>
                <a:latin typeface="Arial" panose="020B0604020202020204" pitchFamily="34" charset="0"/>
              </a:rPr>
              <a:t> 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NULL | NOT NULL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UNIQUE </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 </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被引用的列 </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CHECK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p:txBody>
      </p:sp>
      <p:sp>
        <p:nvSpPr>
          <p:cNvPr id="10245" name="Line 4"/>
          <p:cNvSpPr/>
          <p:nvPr/>
        </p:nvSpPr>
        <p:spPr>
          <a:xfrm>
            <a:off x="900113" y="2636838"/>
            <a:ext cx="4032250"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1268"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表约束</a:t>
            </a:r>
            <a:r>
              <a:rPr lang="en-US" altLang="zh-CN" sz="2800" b="0" dirty="0">
                <a:solidFill>
                  <a:schemeClr val="tx1"/>
                </a:solidFill>
                <a:latin typeface="Arial" panose="020B0604020202020204" pitchFamily="34" charset="0"/>
              </a:rPr>
              <a:t>&gt; ::= [ </a:t>
            </a:r>
            <a:r>
              <a:rPr lang="en-US" altLang="zh-CN" sz="2800" b="0" dirty="0">
                <a:solidFill>
                  <a:schemeClr val="accent2"/>
                </a:solidFill>
                <a:latin typeface="Arial" panose="020B0604020202020204" pitchFamily="34" charset="0"/>
              </a:rPr>
              <a:t>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 </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UNIQUE</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ASC</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DESC</a:t>
            </a:r>
            <a:r>
              <a:rPr lang="en-US" altLang="zh-CN" sz="2800" b="0" dirty="0">
                <a:solidFill>
                  <a:schemeClr val="tx1"/>
                </a:solidFill>
                <a:latin typeface="Arial" panose="020B0604020202020204" pitchFamily="34" charset="0"/>
              </a:rPr>
              <a:t> ] [ ,...n ] )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被引用列</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CHECK</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
        <p:nvSpPr>
          <p:cNvPr id="11269" name="Line 4"/>
          <p:cNvSpPr/>
          <p:nvPr/>
        </p:nvSpPr>
        <p:spPr>
          <a:xfrm>
            <a:off x="1258888" y="1916113"/>
            <a:ext cx="4105275"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91"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2292" name="Rectangle 3"/>
          <p:cNvSpPr>
            <a:spLocks noGrp="1"/>
          </p:cNvSpPr>
          <p:nvPr>
            <p:ph idx="1"/>
          </p:nvPr>
        </p:nvSpPr>
        <p:spPr>
          <a:xfrm>
            <a:off x="152400" y="914400"/>
            <a:ext cx="8686800" cy="5610225"/>
          </a:xfrm>
          <a:ln/>
        </p:spPr>
        <p:txBody>
          <a:bodyPr vert="horz" wrap="square" lIns="91440" tIns="45720" rIns="91440" bIns="45720" anchor="t" anchorCtr="0"/>
          <a:p>
            <a:pPr eaLnBrk="1" hangingPunct="1">
              <a:lnSpc>
                <a:spcPct val="90000"/>
              </a:lnSpc>
              <a:buNone/>
            </a:pPr>
            <a:r>
              <a:rPr lang="zh-CN" altLang="en-US" sz="2400" b="0" dirty="0">
                <a:solidFill>
                  <a:schemeClr val="tx1"/>
                </a:solidFill>
              </a:rPr>
              <a:t>［</a:t>
            </a:r>
            <a:r>
              <a:rPr lang="zh-CN" altLang="en-US" sz="2800" b="0" dirty="0">
                <a:solidFill>
                  <a:schemeClr val="tx1"/>
                </a:solidFill>
              </a:rPr>
              <a:t>例</a:t>
            </a:r>
            <a:r>
              <a:rPr lang="en-US" altLang="zh-CN" sz="2800" b="0" dirty="0">
                <a:solidFill>
                  <a:schemeClr val="tx1"/>
                </a:solidFill>
              </a:rPr>
              <a:t>1</a:t>
            </a:r>
            <a:r>
              <a:rPr lang="zh-CN" altLang="en-US" sz="2800" b="0" dirty="0">
                <a:solidFill>
                  <a:schemeClr val="tx1"/>
                </a:solidFill>
              </a:rPr>
              <a:t>］  将</a:t>
            </a:r>
            <a:r>
              <a:rPr lang="en-US" altLang="zh-CN" sz="2800" b="0" dirty="0">
                <a:solidFill>
                  <a:schemeClr val="tx1"/>
                </a:solidFill>
              </a:rPr>
              <a:t>Student</a:t>
            </a:r>
            <a:r>
              <a:rPr lang="zh-CN" altLang="en-US" sz="2800" b="0" dirty="0">
                <a:solidFill>
                  <a:schemeClr val="tx1"/>
                </a:solidFill>
              </a:rPr>
              <a:t>表中的</a:t>
            </a:r>
            <a:r>
              <a:rPr lang="en-US" altLang="zh-CN" sz="2800" b="0" dirty="0">
                <a:solidFill>
                  <a:schemeClr val="tx1"/>
                </a:solidFill>
              </a:rPr>
              <a:t>Sno</a:t>
            </a:r>
            <a:r>
              <a:rPr lang="zh-CN" altLang="en-US" sz="2800" b="0" dirty="0">
                <a:solidFill>
                  <a:schemeClr val="tx1"/>
                </a:solidFill>
              </a:rPr>
              <a:t>属性定义为码</a:t>
            </a:r>
            <a:endParaRPr lang="zh-CN" altLang="en-US" sz="2800" b="0" dirty="0">
              <a:solidFill>
                <a:schemeClr val="tx1"/>
              </a:solidFill>
            </a:endParaRPr>
          </a:p>
          <a:p>
            <a:pPr eaLnBrk="1" hangingPunct="1">
              <a:lnSpc>
                <a:spcPct val="90000"/>
              </a:lnSpc>
              <a:buNone/>
            </a:pPr>
            <a:r>
              <a:rPr lang="zh-CN" altLang="en-US" sz="2800" dirty="0">
                <a:solidFill>
                  <a:schemeClr val="tx1"/>
                </a:solidFill>
              </a:rPr>
              <a:t>         </a:t>
            </a:r>
            <a:r>
              <a:rPr lang="en-US" altLang="zh-CN" sz="2800" b="0" dirty="0">
                <a:solidFill>
                  <a:schemeClr val="tx1"/>
                </a:solidFill>
              </a:rPr>
              <a:t>(1)</a:t>
            </a:r>
            <a:r>
              <a:rPr lang="zh-CN" altLang="en-US" sz="2800" b="0" dirty="0">
                <a:solidFill>
                  <a:schemeClr val="tx1"/>
                </a:solidFill>
              </a:rPr>
              <a:t>在列级定义主码</a:t>
            </a:r>
            <a:endParaRPr lang="zh-CN" altLang="en-US" sz="2800" b="0" dirty="0">
              <a:solidFill>
                <a:schemeClr val="tx1"/>
              </a:solidFill>
            </a:endParaRPr>
          </a:p>
          <a:p>
            <a:pPr eaLnBrk="1" hangingPunct="1">
              <a:lnSpc>
                <a:spcPct val="90000"/>
              </a:lnSpc>
              <a:buNone/>
            </a:pPr>
            <a:r>
              <a:rPr lang="zh-CN" altLang="en-US" sz="2400" dirty="0">
                <a:solidFill>
                  <a:schemeClr val="tx1"/>
                </a:solidFill>
              </a:rPr>
              <a:t>                </a:t>
            </a:r>
            <a:endParaRPr lang="zh-CN" altLang="en-US" sz="2400" dirty="0">
              <a:solidFill>
                <a:schemeClr val="tx1"/>
              </a:solidFill>
            </a:endParaRPr>
          </a:p>
          <a:p>
            <a:pPr eaLnBrk="1" hangingPunct="1">
              <a:lnSpc>
                <a:spcPct val="120000"/>
              </a:lnSpc>
              <a:buNone/>
            </a:pPr>
            <a:r>
              <a:rPr lang="zh-CN" altLang="en-US" sz="2700" dirty="0">
                <a:solidFill>
                  <a:schemeClr val="accent2"/>
                </a:solidFill>
              </a:rPr>
              <a:t>              </a:t>
            </a:r>
            <a:r>
              <a:rPr lang="en-US" altLang="zh-CN" sz="2700" b="0" dirty="0">
                <a:solidFill>
                  <a:schemeClr val="accent2"/>
                </a:solidFill>
                <a:latin typeface="Arial" panose="020B0604020202020204" pitchFamily="34" charset="0"/>
              </a:rPr>
              <a:t>CREATE TABLE</a:t>
            </a:r>
            <a:r>
              <a:rPr lang="en-US" altLang="zh-CN" sz="2700" b="0" dirty="0">
                <a:solidFill>
                  <a:schemeClr val="tx1"/>
                </a:solidFill>
                <a:latin typeface="Arial" panose="020B0604020202020204" pitchFamily="34" charset="0"/>
              </a:rPr>
              <a:t> Student  (</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Sno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(9)  </a:t>
            </a:r>
            <a:r>
              <a:rPr lang="en-US" altLang="zh-CN" sz="2700" b="0" dirty="0">
                <a:solidFill>
                  <a:schemeClr val="accent2"/>
                </a:solidFill>
                <a:latin typeface="Arial" panose="020B0604020202020204" pitchFamily="34" charset="0"/>
              </a:rPr>
              <a:t>PRIMARY KEY</a:t>
            </a:r>
            <a:r>
              <a:rPr lang="zh-CN" altLang="en-US" sz="2700" b="0" dirty="0">
                <a:solidFill>
                  <a:schemeClr val="tx1"/>
                </a:solidFill>
                <a:latin typeface="Arial" panose="020B0604020202020204" pitchFamily="34" charset="0"/>
              </a:rPr>
              <a:t>，</a:t>
            </a:r>
            <a:endParaRPr lang="zh-CN" altLang="en-US" sz="2700" b="0" dirty="0">
              <a:solidFill>
                <a:schemeClr val="tx1"/>
              </a:solidFill>
              <a:latin typeface="Arial" panose="020B0604020202020204" pitchFamily="34" charset="0"/>
            </a:endParaRPr>
          </a:p>
          <a:p>
            <a:pPr eaLnBrk="1" hangingPunct="1">
              <a:lnSpc>
                <a:spcPct val="120000"/>
              </a:lnSpc>
              <a:buNone/>
            </a:pPr>
            <a:r>
              <a:rPr lang="zh-CN" altLang="en-US" sz="2700" b="0" dirty="0">
                <a:solidFill>
                  <a:schemeClr val="tx1"/>
                </a:solidFill>
                <a:latin typeface="Arial" panose="020B0604020202020204" pitchFamily="34" charset="0"/>
              </a:rPr>
              <a:t>                 </a:t>
            </a:r>
            <a:r>
              <a:rPr lang="en-US" altLang="zh-CN" sz="2700" b="0" dirty="0">
                <a:solidFill>
                  <a:schemeClr val="tx1"/>
                </a:solidFill>
                <a:latin typeface="Arial" panose="020B0604020202020204" pitchFamily="34" charset="0"/>
              </a:rPr>
              <a:t>Sname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(20) NOT NULL</a:t>
            </a:r>
            <a:r>
              <a:rPr lang="zh-CN" altLang="en-US" sz="2700" b="0" dirty="0">
                <a:solidFill>
                  <a:schemeClr val="tx1"/>
                </a:solidFill>
                <a:latin typeface="Arial" panose="020B0604020202020204" pitchFamily="34" charset="0"/>
              </a:rPr>
              <a:t>，     </a:t>
            </a:r>
            <a:endParaRPr lang="zh-CN" altLang="en-US" sz="2700" b="0" dirty="0">
              <a:solidFill>
                <a:schemeClr val="tx1"/>
              </a:solidFill>
              <a:latin typeface="Arial" panose="020B0604020202020204" pitchFamily="34" charset="0"/>
            </a:endParaRPr>
          </a:p>
          <a:p>
            <a:pPr eaLnBrk="1" hangingPunct="1">
              <a:lnSpc>
                <a:spcPct val="120000"/>
              </a:lnSpc>
              <a:buNone/>
            </a:pPr>
            <a:r>
              <a:rPr lang="zh-CN" altLang="en-US" sz="2700" b="0" dirty="0">
                <a:solidFill>
                  <a:schemeClr val="tx1"/>
                </a:solidFill>
                <a:latin typeface="Arial" panose="020B0604020202020204" pitchFamily="34" charset="0"/>
              </a:rPr>
              <a:t>                 </a:t>
            </a:r>
            <a:r>
              <a:rPr lang="en-US" altLang="zh-CN" sz="2700" b="0" dirty="0">
                <a:solidFill>
                  <a:schemeClr val="tx1"/>
                </a:solidFill>
                <a:latin typeface="Arial" panose="020B0604020202020204" pitchFamily="34" charset="0"/>
              </a:rPr>
              <a:t>Ssex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 </a:t>
            </a:r>
            <a:r>
              <a:rPr lang="zh-CN" altLang="en-US" sz="2700" b="0" dirty="0">
                <a:solidFill>
                  <a:schemeClr val="tx1"/>
                </a:solidFill>
                <a:latin typeface="Arial" panose="020B0604020202020204" pitchFamily="34" charset="0"/>
              </a:rPr>
              <a:t>，</a:t>
            </a:r>
            <a:endParaRPr lang="zh-CN" altLang="en-US" sz="2700" b="0" dirty="0">
              <a:solidFill>
                <a:schemeClr val="tx1"/>
              </a:solidFill>
              <a:latin typeface="Arial" panose="020B0604020202020204" pitchFamily="34" charset="0"/>
            </a:endParaRPr>
          </a:p>
          <a:p>
            <a:pPr eaLnBrk="1" hangingPunct="1">
              <a:lnSpc>
                <a:spcPct val="120000"/>
              </a:lnSpc>
              <a:buNone/>
            </a:pPr>
            <a:r>
              <a:rPr lang="zh-CN" altLang="en-US" sz="2700" b="0" dirty="0">
                <a:solidFill>
                  <a:schemeClr val="tx1"/>
                </a:solidFill>
                <a:latin typeface="Arial" panose="020B0604020202020204" pitchFamily="34" charset="0"/>
              </a:rPr>
              <a:t>                 </a:t>
            </a:r>
            <a:r>
              <a:rPr lang="en-US" altLang="zh-CN" sz="2700" b="0" dirty="0">
                <a:solidFill>
                  <a:schemeClr val="tx1"/>
                </a:solidFill>
                <a:latin typeface="Arial" panose="020B0604020202020204" pitchFamily="34" charset="0"/>
              </a:rPr>
              <a:t>Sage  </a:t>
            </a:r>
            <a:r>
              <a:rPr lang="en-US" altLang="zh-CN" sz="2700" b="0" dirty="0">
                <a:solidFill>
                  <a:schemeClr val="accent2"/>
                </a:solidFill>
                <a:latin typeface="Arial" panose="020B0604020202020204" pitchFamily="34" charset="0"/>
              </a:rPr>
              <a:t>SMALLINT</a:t>
            </a:r>
            <a:r>
              <a:rPr lang="zh-CN" altLang="en-US" sz="2700" b="0" dirty="0">
                <a:solidFill>
                  <a:schemeClr val="tx1"/>
                </a:solidFill>
                <a:latin typeface="Arial" panose="020B0604020202020204" pitchFamily="34" charset="0"/>
              </a:rPr>
              <a:t>，</a:t>
            </a:r>
            <a:endParaRPr lang="zh-CN" altLang="en-US" sz="2700" b="0" dirty="0">
              <a:solidFill>
                <a:schemeClr val="tx1"/>
              </a:solidFill>
              <a:latin typeface="Arial" panose="020B0604020202020204" pitchFamily="34" charset="0"/>
            </a:endParaRPr>
          </a:p>
          <a:p>
            <a:pPr eaLnBrk="1" hangingPunct="1">
              <a:lnSpc>
                <a:spcPct val="120000"/>
              </a:lnSpc>
              <a:buNone/>
            </a:pPr>
            <a:r>
              <a:rPr lang="zh-CN" altLang="en-US" sz="2700" b="0" dirty="0">
                <a:solidFill>
                  <a:schemeClr val="tx1"/>
                </a:solidFill>
                <a:latin typeface="Arial" panose="020B0604020202020204" pitchFamily="34" charset="0"/>
              </a:rPr>
              <a:t>                 </a:t>
            </a:r>
            <a:r>
              <a:rPr lang="en-US" altLang="zh-CN" sz="2700" b="0" dirty="0">
                <a:solidFill>
                  <a:schemeClr val="tx1"/>
                </a:solidFill>
                <a:latin typeface="Arial" panose="020B0604020202020204" pitchFamily="34" charset="0"/>
              </a:rPr>
              <a:t>Sdept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(20)</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a:t>
            </a:r>
            <a:endParaRPr lang="en-US" altLang="zh-CN" sz="2700" b="0" dirty="0">
              <a:solidFill>
                <a:schemeClr val="tx1"/>
              </a:solidFill>
              <a:latin typeface="Arial" panose="020B0604020202020204" pitchFamily="34" charset="0"/>
            </a:endParaRPr>
          </a:p>
        </p:txBody>
      </p:sp>
      <p:sp>
        <p:nvSpPr>
          <p:cNvPr id="12293" name="Line 5"/>
          <p:cNvSpPr/>
          <p:nvPr/>
        </p:nvSpPr>
        <p:spPr>
          <a:xfrm>
            <a:off x="4225925" y="3341688"/>
            <a:ext cx="2376488"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3316" name="Rectangle 3"/>
          <p:cNvSpPr>
            <a:spLocks noGrp="1"/>
          </p:cNvSpPr>
          <p:nvPr>
            <p:ph idx="1"/>
          </p:nvPr>
        </p:nvSpPr>
        <p:spPr>
          <a:xfrm>
            <a:off x="152400" y="914400"/>
            <a:ext cx="8686800" cy="5610225"/>
          </a:xfrm>
          <a:ln/>
        </p:spPr>
        <p:txBody>
          <a:bodyPr vert="horz" wrap="square" lIns="91440" tIns="45720" rIns="91440" bIns="45720" anchor="t" anchorCtr="0"/>
          <a:p>
            <a:pPr eaLnBrk="1" hangingPunct="1">
              <a:lnSpc>
                <a:spcPct val="90000"/>
              </a:lnSpc>
              <a:buNone/>
            </a:pPr>
            <a:r>
              <a:rPr lang="en-US" altLang="zh-CN" sz="2800" b="0" dirty="0">
                <a:solidFill>
                  <a:schemeClr val="tx1"/>
                </a:solidFill>
              </a:rPr>
              <a:t>		</a:t>
            </a:r>
            <a:r>
              <a:rPr lang="zh-CN" altLang="en-US" sz="2800" b="0" dirty="0">
                <a:solidFill>
                  <a:schemeClr val="tx1"/>
                </a:solidFill>
              </a:rPr>
              <a:t>可以显式给</a:t>
            </a:r>
            <a:r>
              <a:rPr lang="en-US" altLang="zh-CN" sz="2800" b="0" dirty="0">
                <a:solidFill>
                  <a:schemeClr val="tx1"/>
                </a:solidFill>
              </a:rPr>
              <a:t>Primary Key</a:t>
            </a:r>
            <a:r>
              <a:rPr lang="zh-CN" altLang="en-US" sz="2800" b="0" dirty="0">
                <a:solidFill>
                  <a:schemeClr val="tx1"/>
                </a:solidFill>
              </a:rPr>
              <a:t>约束命名</a:t>
            </a:r>
            <a:endParaRPr lang="zh-CN" altLang="en-US" sz="2800" b="0" dirty="0">
              <a:solidFill>
                <a:schemeClr val="tx1"/>
              </a:solidFill>
            </a:endParaRPr>
          </a:p>
          <a:p>
            <a:pPr eaLnBrk="1" hangingPunct="1">
              <a:lnSpc>
                <a:spcPct val="90000"/>
              </a:lnSpc>
              <a:buNone/>
            </a:pPr>
            <a:r>
              <a:rPr lang="zh-CN" altLang="en-US" sz="2400" dirty="0">
                <a:solidFill>
                  <a:schemeClr val="tx1"/>
                </a:solidFill>
              </a:rPr>
              <a:t>                </a:t>
            </a:r>
            <a:endParaRPr lang="zh-CN" altLang="en-US" sz="2400" dirty="0">
              <a:solidFill>
                <a:schemeClr val="tx1"/>
              </a:solidFill>
            </a:endParaRPr>
          </a:p>
          <a:p>
            <a:pPr eaLnBrk="1" hangingPunct="1">
              <a:lnSpc>
                <a:spcPct val="120000"/>
              </a:lnSpc>
              <a:buNone/>
            </a:pPr>
            <a:r>
              <a:rPr lang="zh-CN" altLang="en-US" sz="2700" dirty="0">
                <a:solidFill>
                  <a:schemeClr val="accent2"/>
                </a:solidFill>
              </a:rPr>
              <a:t>              </a:t>
            </a:r>
            <a:r>
              <a:rPr lang="en-US" altLang="zh-CN" sz="2700" b="0" dirty="0">
                <a:solidFill>
                  <a:schemeClr val="accent2"/>
                </a:solidFill>
                <a:latin typeface="Arial" panose="020B0604020202020204" pitchFamily="34" charset="0"/>
              </a:rPr>
              <a:t>CREATE TABLE</a:t>
            </a:r>
            <a:r>
              <a:rPr lang="en-US" altLang="zh-CN" sz="2700" b="0" dirty="0">
                <a:solidFill>
                  <a:schemeClr val="tx1"/>
                </a:solidFill>
                <a:latin typeface="Arial" panose="020B0604020202020204" pitchFamily="34" charset="0"/>
              </a:rPr>
              <a:t> Student  (</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Sno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(9)  </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a:t>
            </a:r>
            <a:r>
              <a:rPr lang="en-US" altLang="zh-CN" sz="2700" b="0" dirty="0">
                <a:solidFill>
                  <a:schemeClr val="accent2"/>
                </a:solidFill>
                <a:latin typeface="Arial" panose="020B0604020202020204" pitchFamily="34" charset="0"/>
              </a:rPr>
              <a:t>constraint </a:t>
            </a:r>
            <a:r>
              <a:rPr lang="en-US" altLang="zh-CN" sz="2700" b="0" dirty="0">
                <a:solidFill>
                  <a:schemeClr val="tx1"/>
                </a:solidFill>
                <a:latin typeface="Arial" panose="020B0604020202020204" pitchFamily="34" charset="0"/>
              </a:rPr>
              <a:t> PK_Student  </a:t>
            </a:r>
            <a:r>
              <a:rPr lang="en-US" altLang="zh-CN" sz="2700" b="0" dirty="0">
                <a:solidFill>
                  <a:schemeClr val="accent2"/>
                </a:solidFill>
                <a:latin typeface="Arial" panose="020B0604020202020204" pitchFamily="34" charset="0"/>
              </a:rPr>
              <a:t>PRIMARY KEY</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Sname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(20) NOT NULL</a:t>
            </a:r>
            <a:r>
              <a:rPr lang="en-US" altLang="zh-CN" sz="2700" b="0" dirty="0">
                <a:solidFill>
                  <a:schemeClr val="tx1"/>
                </a:solidFill>
              </a:rPr>
              <a:t>,</a:t>
            </a:r>
            <a:r>
              <a:rPr lang="en-US" altLang="zh-CN" sz="2700" b="0" dirty="0">
                <a:solidFill>
                  <a:schemeClr val="tx1"/>
                </a:solidFill>
                <a:latin typeface="Arial" panose="020B0604020202020204" pitchFamily="34" charset="0"/>
              </a:rPr>
              <a:t> </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Ssex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 </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Sage  </a:t>
            </a:r>
            <a:r>
              <a:rPr lang="en-US" altLang="zh-CN" sz="2700" b="0" dirty="0">
                <a:solidFill>
                  <a:schemeClr val="accent2"/>
                </a:solidFill>
                <a:latin typeface="Arial" panose="020B0604020202020204" pitchFamily="34" charset="0"/>
              </a:rPr>
              <a:t>SMALLINT</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Sdept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(20)</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a:t>
            </a:r>
            <a:endParaRPr lang="en-US" altLang="zh-CN" sz="2700" b="0" dirty="0">
              <a:solidFill>
                <a:schemeClr val="tx1"/>
              </a:solidFill>
              <a:latin typeface="Arial" panose="020B0604020202020204" pitchFamily="34" charset="0"/>
            </a:endParaRPr>
          </a:p>
        </p:txBody>
      </p:sp>
      <p:sp>
        <p:nvSpPr>
          <p:cNvPr id="13317" name="Line 4"/>
          <p:cNvSpPr/>
          <p:nvPr/>
        </p:nvSpPr>
        <p:spPr>
          <a:xfrm>
            <a:off x="2195513" y="3500438"/>
            <a:ext cx="5905500"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4340" name="Rectangle 3"/>
          <p:cNvSpPr>
            <a:spLocks noGrp="1"/>
          </p:cNvSpPr>
          <p:nvPr>
            <p:ph idx="1"/>
          </p:nvPr>
        </p:nvSpPr>
        <p:spPr>
          <a:xfrm>
            <a:off x="152400" y="914400"/>
            <a:ext cx="8686800" cy="5610225"/>
          </a:xfrm>
          <a:ln/>
        </p:spPr>
        <p:txBody>
          <a:bodyPr vert="horz" wrap="square" lIns="91440" tIns="45720" rIns="91440" bIns="45720" anchor="t" anchorCtr="0"/>
          <a:p>
            <a:pPr eaLnBrk="1" hangingPunct="1">
              <a:lnSpc>
                <a:spcPct val="90000"/>
              </a:lnSpc>
              <a:buNone/>
            </a:pPr>
            <a:r>
              <a:rPr lang="en-US" altLang="zh-CN" sz="2800" b="0" dirty="0">
                <a:solidFill>
                  <a:schemeClr val="tx1"/>
                </a:solidFill>
              </a:rPr>
              <a:t>		(2) </a:t>
            </a:r>
            <a:r>
              <a:rPr lang="zh-CN" altLang="en-US" sz="2800" b="0" dirty="0">
                <a:solidFill>
                  <a:schemeClr val="tx1"/>
                </a:solidFill>
              </a:rPr>
              <a:t>在表一级定义</a:t>
            </a:r>
            <a:r>
              <a:rPr lang="en-US" altLang="zh-CN" sz="2800" b="0" dirty="0">
                <a:solidFill>
                  <a:schemeClr val="tx1"/>
                </a:solidFill>
              </a:rPr>
              <a:t>Primary Key</a:t>
            </a:r>
            <a:r>
              <a:rPr lang="zh-CN" altLang="en-US" sz="2800" b="0" dirty="0">
                <a:solidFill>
                  <a:schemeClr val="tx1"/>
                </a:solidFill>
              </a:rPr>
              <a:t>约束</a:t>
            </a:r>
            <a:endParaRPr lang="zh-CN" altLang="en-US" sz="2800" b="0" dirty="0">
              <a:solidFill>
                <a:schemeClr val="tx1"/>
              </a:solidFill>
            </a:endParaRPr>
          </a:p>
          <a:p>
            <a:pPr eaLnBrk="1" hangingPunct="1">
              <a:lnSpc>
                <a:spcPct val="90000"/>
              </a:lnSpc>
              <a:buNone/>
            </a:pPr>
            <a:r>
              <a:rPr lang="zh-CN" altLang="en-US" sz="2400" dirty="0">
                <a:solidFill>
                  <a:schemeClr val="tx1"/>
                </a:solidFill>
              </a:rPr>
              <a:t>                </a:t>
            </a:r>
            <a:endParaRPr lang="zh-CN" altLang="en-US" sz="2400" dirty="0">
              <a:solidFill>
                <a:schemeClr val="tx1"/>
              </a:solidFill>
            </a:endParaRPr>
          </a:p>
          <a:p>
            <a:pPr eaLnBrk="1" hangingPunct="1">
              <a:lnSpc>
                <a:spcPct val="120000"/>
              </a:lnSpc>
              <a:buNone/>
            </a:pPr>
            <a:r>
              <a:rPr lang="zh-CN" altLang="en-US" sz="2700" dirty="0">
                <a:solidFill>
                  <a:schemeClr val="accent2"/>
                </a:solidFill>
              </a:rPr>
              <a:t>              </a:t>
            </a:r>
            <a:r>
              <a:rPr lang="en-US" altLang="zh-CN" sz="2700" b="0" dirty="0">
                <a:solidFill>
                  <a:schemeClr val="accent2"/>
                </a:solidFill>
                <a:latin typeface="Arial" panose="020B0604020202020204" pitchFamily="34" charset="0"/>
              </a:rPr>
              <a:t>CREATE TABLE</a:t>
            </a:r>
            <a:r>
              <a:rPr lang="en-US" altLang="zh-CN" sz="2700" b="0" dirty="0">
                <a:solidFill>
                  <a:schemeClr val="tx1"/>
                </a:solidFill>
                <a:latin typeface="Arial" panose="020B0604020202020204" pitchFamily="34" charset="0"/>
              </a:rPr>
              <a:t> Student  (</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Sno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(9) </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Sname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(20) NOT NULL</a:t>
            </a:r>
            <a:r>
              <a:rPr lang="en-US" altLang="zh-CN" sz="2700" b="0" dirty="0">
                <a:solidFill>
                  <a:schemeClr val="tx1"/>
                </a:solidFill>
              </a:rPr>
              <a:t>,</a:t>
            </a:r>
            <a:r>
              <a:rPr lang="en-US" altLang="zh-CN" sz="2700" b="0" dirty="0">
                <a:solidFill>
                  <a:schemeClr val="tx1"/>
                </a:solidFill>
                <a:latin typeface="Arial" panose="020B0604020202020204" pitchFamily="34" charset="0"/>
              </a:rPr>
              <a:t> </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Ssex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 </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Sage  </a:t>
            </a:r>
            <a:r>
              <a:rPr lang="en-US" altLang="zh-CN" sz="2700" b="0" dirty="0">
                <a:solidFill>
                  <a:schemeClr val="accent2"/>
                </a:solidFill>
                <a:latin typeface="Arial" panose="020B0604020202020204" pitchFamily="34" charset="0"/>
              </a:rPr>
              <a:t>SMALLINT</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Sdept  </a:t>
            </a:r>
            <a:r>
              <a:rPr lang="en-US" altLang="zh-CN" sz="2700" b="0" dirty="0">
                <a:solidFill>
                  <a:schemeClr val="accent2"/>
                </a:solidFill>
                <a:latin typeface="Arial" panose="020B0604020202020204" pitchFamily="34" charset="0"/>
              </a:rPr>
              <a:t>CHAR</a:t>
            </a:r>
            <a:r>
              <a:rPr lang="en-US" altLang="zh-CN" sz="2700" b="0" dirty="0">
                <a:solidFill>
                  <a:schemeClr val="tx1"/>
                </a:solidFill>
                <a:latin typeface="Arial" panose="020B0604020202020204" pitchFamily="34" charset="0"/>
              </a:rPr>
              <a:t>(20)</a:t>
            </a:r>
            <a:r>
              <a:rPr lang="en-US" altLang="zh-CN" sz="2700" b="0" dirty="0">
                <a:solidFill>
                  <a:schemeClr val="tx1"/>
                </a:solidFill>
              </a:rPr>
              <a:t>,</a:t>
            </a:r>
            <a:endParaRPr lang="en-US" altLang="zh-CN" sz="2700" b="0" dirty="0">
              <a:solidFill>
                <a:schemeClr val="tx1"/>
              </a:solidFill>
            </a:endParaRPr>
          </a:p>
          <a:p>
            <a:pPr eaLnBrk="1" hangingPunct="1">
              <a:lnSpc>
                <a:spcPct val="120000"/>
              </a:lnSpc>
              <a:buNone/>
            </a:pPr>
            <a:r>
              <a:rPr lang="en-US" altLang="zh-CN" sz="2700" b="0" dirty="0">
                <a:solidFill>
                  <a:schemeClr val="tx1"/>
                </a:solidFill>
                <a:latin typeface="Arial" panose="020B0604020202020204" pitchFamily="34" charset="0"/>
              </a:rPr>
              <a:t>                </a:t>
            </a:r>
            <a:r>
              <a:rPr lang="en-US" altLang="zh-CN" sz="2700" b="0" dirty="0">
                <a:solidFill>
                  <a:schemeClr val="accent2"/>
                </a:solidFill>
                <a:latin typeface="Arial" panose="020B0604020202020204" pitchFamily="34" charset="0"/>
              </a:rPr>
              <a:t>constraint</a:t>
            </a:r>
            <a:r>
              <a:rPr lang="en-US" altLang="zh-CN" sz="2700" b="0" dirty="0">
                <a:solidFill>
                  <a:schemeClr val="tx1"/>
                </a:solidFill>
                <a:latin typeface="Arial" panose="020B0604020202020204" pitchFamily="34" charset="0"/>
              </a:rPr>
              <a:t>  PK_Student  </a:t>
            </a:r>
            <a:r>
              <a:rPr lang="en-US" altLang="zh-CN" sz="2700" b="0" dirty="0">
                <a:solidFill>
                  <a:schemeClr val="accent2"/>
                </a:solidFill>
                <a:latin typeface="Arial" panose="020B0604020202020204" pitchFamily="34" charset="0"/>
              </a:rPr>
              <a:t>Primary Key</a:t>
            </a:r>
            <a:r>
              <a:rPr lang="en-US" altLang="zh-CN" sz="2700" b="0" dirty="0">
                <a:solidFill>
                  <a:schemeClr val="tx1"/>
                </a:solidFill>
                <a:latin typeface="Arial" panose="020B0604020202020204" pitchFamily="34" charset="0"/>
              </a:rPr>
              <a:t> (sno)</a:t>
            </a:r>
            <a:endParaRPr lang="en-US" altLang="zh-CN" sz="2700" b="0" dirty="0">
              <a:solidFill>
                <a:schemeClr val="tx1"/>
              </a:solidFill>
              <a:latin typeface="Arial" panose="020B0604020202020204" pitchFamily="34" charset="0"/>
            </a:endParaRPr>
          </a:p>
          <a:p>
            <a:pPr eaLnBrk="1" hangingPunct="1">
              <a:lnSpc>
                <a:spcPct val="120000"/>
              </a:lnSpc>
              <a:buNone/>
            </a:pPr>
            <a:r>
              <a:rPr lang="en-US" altLang="zh-CN" sz="2700" b="0" dirty="0">
                <a:solidFill>
                  <a:schemeClr val="tx1"/>
                </a:solidFill>
                <a:latin typeface="Arial" panose="020B0604020202020204" pitchFamily="34" charset="0"/>
              </a:rPr>
              <a:t>             )</a:t>
            </a:r>
            <a:endParaRPr lang="en-US" altLang="zh-CN" sz="2700" b="0" dirty="0">
              <a:solidFill>
                <a:schemeClr val="tx1"/>
              </a:solidFill>
              <a:latin typeface="Arial" panose="020B0604020202020204" pitchFamily="34" charset="0"/>
            </a:endParaRPr>
          </a:p>
        </p:txBody>
      </p:sp>
      <p:sp>
        <p:nvSpPr>
          <p:cNvPr id="14341" name="Line 5"/>
          <p:cNvSpPr/>
          <p:nvPr/>
        </p:nvSpPr>
        <p:spPr>
          <a:xfrm>
            <a:off x="1835150" y="5805488"/>
            <a:ext cx="6337300"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363"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5364" name="Rectangle 3"/>
          <p:cNvSpPr>
            <a:spLocks noGrp="1"/>
          </p:cNvSpPr>
          <p:nvPr>
            <p:ph idx="1"/>
          </p:nvPr>
        </p:nvSpPr>
        <p:spPr>
          <a:xfrm>
            <a:off x="152400" y="914400"/>
            <a:ext cx="8686800" cy="5610225"/>
          </a:xfrm>
          <a:ln/>
        </p:spPr>
        <p:txBody>
          <a:bodyPr vert="horz" wrap="square" lIns="91440" tIns="45720" rIns="91440" bIns="45720" anchor="t" anchorCtr="0"/>
          <a:p>
            <a:pPr eaLnBrk="1" hangingPunct="1">
              <a:lnSpc>
                <a:spcPct val="90000"/>
              </a:lnSpc>
              <a:buNone/>
            </a:pPr>
            <a:r>
              <a:rPr lang="zh-CN" altLang="en-US" b="0" dirty="0">
                <a:solidFill>
                  <a:schemeClr val="tx1"/>
                </a:solidFill>
              </a:rPr>
              <a:t>［例</a:t>
            </a:r>
            <a:r>
              <a:rPr lang="en-US" altLang="zh-CN" b="0" dirty="0">
                <a:solidFill>
                  <a:schemeClr val="tx1"/>
                </a:solidFill>
              </a:rPr>
              <a:t>2</a:t>
            </a:r>
            <a:r>
              <a:rPr lang="zh-CN" altLang="en-US" b="0" dirty="0">
                <a:solidFill>
                  <a:schemeClr val="tx1"/>
                </a:solidFill>
              </a:rPr>
              <a:t>］将</a:t>
            </a:r>
            <a:r>
              <a:rPr lang="en-US" altLang="zh-CN" b="0" dirty="0">
                <a:solidFill>
                  <a:schemeClr val="tx1"/>
                </a:solidFill>
              </a:rPr>
              <a:t>SC</a:t>
            </a:r>
            <a:r>
              <a:rPr lang="zh-CN" altLang="en-US" b="0" dirty="0">
                <a:solidFill>
                  <a:schemeClr val="tx1"/>
                </a:solidFill>
              </a:rPr>
              <a:t>表中的</a:t>
            </a:r>
            <a:r>
              <a:rPr lang="en-US" altLang="zh-CN" b="0" dirty="0">
                <a:solidFill>
                  <a:schemeClr val="tx1"/>
                </a:solidFill>
              </a:rPr>
              <a:t>Sno</a:t>
            </a:r>
            <a:r>
              <a:rPr lang="zh-CN" altLang="en-US" b="0" dirty="0">
                <a:solidFill>
                  <a:schemeClr val="tx1"/>
                </a:solidFill>
              </a:rPr>
              <a:t>，</a:t>
            </a:r>
            <a:r>
              <a:rPr lang="en-US" altLang="zh-CN" b="0" dirty="0">
                <a:solidFill>
                  <a:schemeClr val="tx1"/>
                </a:solidFill>
              </a:rPr>
              <a:t>Cno</a:t>
            </a:r>
            <a:r>
              <a:rPr lang="zh-CN" altLang="en-US" b="0" dirty="0">
                <a:solidFill>
                  <a:schemeClr val="tx1"/>
                </a:solidFill>
              </a:rPr>
              <a:t>属性组定义为码</a:t>
            </a:r>
            <a:endParaRPr lang="zh-CN" altLang="en-US" b="0" dirty="0">
              <a:solidFill>
                <a:schemeClr val="tx1"/>
              </a:solidFill>
            </a:endParaRPr>
          </a:p>
          <a:p>
            <a:pPr eaLnBrk="1" hangingPunct="1">
              <a:lnSpc>
                <a:spcPct val="90000"/>
              </a:lnSpc>
              <a:buNone/>
            </a:pPr>
            <a:r>
              <a:rPr lang="zh-CN" altLang="en-US" b="0" dirty="0">
                <a:solidFill>
                  <a:schemeClr val="tx1"/>
                </a:solidFill>
              </a:rPr>
              <a:t>      </a:t>
            </a:r>
            <a:endParaRPr lang="zh-CN" altLang="en-US" b="0" dirty="0">
              <a:solidFill>
                <a:schemeClr val="tx1"/>
              </a:solidFill>
            </a:endParaRPr>
          </a:p>
          <a:p>
            <a:pPr eaLnBrk="1" hangingPunct="1">
              <a:lnSpc>
                <a:spcPct val="90000"/>
              </a:lnSpc>
              <a:buNone/>
            </a:pPr>
            <a:r>
              <a:rPr lang="zh-CN" altLang="en-US" b="0" dirty="0">
                <a:solidFill>
                  <a:schemeClr val="tx1"/>
                </a:solidFill>
              </a:rPr>
              <a:t>     </a:t>
            </a:r>
            <a:r>
              <a:rPr lang="en-US" altLang="zh-CN" b="0" dirty="0">
                <a:solidFill>
                  <a:schemeClr val="accent2"/>
                </a:solidFill>
                <a:latin typeface="Arial" panose="020B0604020202020204" pitchFamily="34" charset="0"/>
              </a:rPr>
              <a:t>CREATE TABLE</a:t>
            </a:r>
            <a:r>
              <a:rPr lang="en-US" altLang="zh-CN" b="0" dirty="0">
                <a:solidFill>
                  <a:schemeClr val="tx1"/>
                </a:solidFill>
                <a:latin typeface="Arial" panose="020B0604020202020204" pitchFamily="34" charset="0"/>
              </a:rPr>
              <a:t> SC (</a:t>
            </a:r>
            <a:endParaRPr lang="en-US" altLang="zh-CN" b="0" dirty="0">
              <a:solidFill>
                <a:schemeClr val="tx1"/>
              </a:solidFill>
              <a:latin typeface="Arial" panose="020B0604020202020204" pitchFamily="34" charset="0"/>
            </a:endParaRPr>
          </a:p>
          <a:p>
            <a:pPr eaLnBrk="1" hangingPunct="1">
              <a:lnSpc>
                <a:spcPct val="90000"/>
              </a:lnSpc>
              <a:buNone/>
            </a:pPr>
            <a:r>
              <a:rPr lang="en-US" altLang="zh-CN" b="0" dirty="0">
                <a:solidFill>
                  <a:schemeClr val="tx1"/>
                </a:solidFill>
                <a:latin typeface="Arial" panose="020B0604020202020204" pitchFamily="34" charset="0"/>
              </a:rPr>
              <a:t>            Sno   </a:t>
            </a:r>
            <a:r>
              <a:rPr lang="en-US" altLang="zh-CN" b="0" dirty="0">
                <a:solidFill>
                  <a:schemeClr val="accent2"/>
                </a:solidFill>
                <a:latin typeface="Arial" panose="020B0604020202020204" pitchFamily="34" charset="0"/>
              </a:rPr>
              <a:t>CHAR</a:t>
            </a:r>
            <a:r>
              <a:rPr lang="en-US" altLang="zh-CN" b="0" dirty="0">
                <a:solidFill>
                  <a:schemeClr val="tx1"/>
                </a:solidFill>
                <a:latin typeface="Arial" panose="020B0604020202020204" pitchFamily="34" charset="0"/>
              </a:rPr>
              <a:t>(9)  NOT NULL</a:t>
            </a:r>
            <a:r>
              <a:rPr lang="zh-CN" altLang="en-US" b="0" dirty="0">
                <a:solidFill>
                  <a:schemeClr val="tx1"/>
                </a:solidFill>
                <a:latin typeface="Arial" panose="020B0604020202020204" pitchFamily="34" charset="0"/>
              </a:rPr>
              <a:t>， </a:t>
            </a:r>
            <a:endParaRPr lang="zh-CN" altLang="en-US" b="0" dirty="0">
              <a:solidFill>
                <a:schemeClr val="tx1"/>
              </a:solidFill>
              <a:latin typeface="Arial" panose="020B0604020202020204" pitchFamily="34" charset="0"/>
            </a:endParaRPr>
          </a:p>
          <a:p>
            <a:pPr eaLnBrk="1" hangingPunct="1">
              <a:lnSpc>
                <a:spcPct val="90000"/>
              </a:lnSpc>
              <a:buNone/>
            </a:pPr>
            <a:r>
              <a:rPr lang="zh-CN" altLang="en-US" b="0" dirty="0">
                <a:solidFill>
                  <a:schemeClr val="tx1"/>
                </a:solidFill>
                <a:latin typeface="Arial" panose="020B0604020202020204" pitchFamily="34" charset="0"/>
              </a:rPr>
              <a:t>            </a:t>
            </a:r>
            <a:r>
              <a:rPr lang="en-US" altLang="zh-CN" b="0" dirty="0">
                <a:solidFill>
                  <a:schemeClr val="tx1"/>
                </a:solidFill>
                <a:latin typeface="Arial" panose="020B0604020202020204" pitchFamily="34" charset="0"/>
              </a:rPr>
              <a:t>Cno  </a:t>
            </a:r>
            <a:r>
              <a:rPr lang="en-US" altLang="zh-CN" b="0" dirty="0">
                <a:solidFill>
                  <a:schemeClr val="accent2"/>
                </a:solidFill>
                <a:latin typeface="Arial" panose="020B0604020202020204" pitchFamily="34" charset="0"/>
              </a:rPr>
              <a:t>CHAR</a:t>
            </a:r>
            <a:r>
              <a:rPr lang="en-US" altLang="zh-CN" b="0" dirty="0">
                <a:solidFill>
                  <a:schemeClr val="tx1"/>
                </a:solidFill>
                <a:latin typeface="Arial" panose="020B0604020202020204" pitchFamily="34" charset="0"/>
              </a:rPr>
              <a:t>(4)  NOT NULL</a:t>
            </a:r>
            <a:r>
              <a:rPr lang="zh-CN" altLang="en-US" b="0" dirty="0">
                <a:solidFill>
                  <a:schemeClr val="tx1"/>
                </a:solidFill>
                <a:latin typeface="Arial" panose="020B0604020202020204" pitchFamily="34" charset="0"/>
              </a:rPr>
              <a:t>，  </a:t>
            </a:r>
            <a:endParaRPr lang="zh-CN" altLang="en-US" b="0" dirty="0">
              <a:solidFill>
                <a:schemeClr val="tx1"/>
              </a:solidFill>
              <a:latin typeface="Arial" panose="020B0604020202020204" pitchFamily="34" charset="0"/>
            </a:endParaRPr>
          </a:p>
          <a:p>
            <a:pPr eaLnBrk="1" hangingPunct="1">
              <a:lnSpc>
                <a:spcPct val="90000"/>
              </a:lnSpc>
              <a:buNone/>
            </a:pPr>
            <a:r>
              <a:rPr lang="zh-CN" altLang="en-US" b="0" dirty="0">
                <a:solidFill>
                  <a:schemeClr val="tx1"/>
                </a:solidFill>
                <a:latin typeface="Arial" panose="020B0604020202020204" pitchFamily="34" charset="0"/>
              </a:rPr>
              <a:t>            </a:t>
            </a:r>
            <a:r>
              <a:rPr lang="en-US" altLang="zh-CN" b="0" dirty="0">
                <a:solidFill>
                  <a:schemeClr val="tx1"/>
                </a:solidFill>
                <a:latin typeface="Arial" panose="020B0604020202020204" pitchFamily="34" charset="0"/>
              </a:rPr>
              <a:t>Grade    </a:t>
            </a:r>
            <a:r>
              <a:rPr lang="en-US" altLang="zh-CN" b="0" dirty="0">
                <a:solidFill>
                  <a:schemeClr val="accent2"/>
                </a:solidFill>
                <a:latin typeface="Arial" panose="020B0604020202020204" pitchFamily="34" charset="0"/>
              </a:rPr>
              <a:t>SMALLINT</a:t>
            </a:r>
            <a:r>
              <a:rPr lang="zh-CN" altLang="en-US" b="0" dirty="0">
                <a:solidFill>
                  <a:schemeClr val="tx1"/>
                </a:solidFill>
                <a:latin typeface="Arial" panose="020B0604020202020204" pitchFamily="34" charset="0"/>
              </a:rPr>
              <a:t>，</a:t>
            </a:r>
            <a:endParaRPr lang="zh-CN" altLang="en-US" b="0" dirty="0">
              <a:solidFill>
                <a:schemeClr val="tx1"/>
              </a:solidFill>
              <a:latin typeface="Arial" panose="020B0604020202020204" pitchFamily="34" charset="0"/>
            </a:endParaRPr>
          </a:p>
          <a:p>
            <a:pPr eaLnBrk="1" hangingPunct="1">
              <a:lnSpc>
                <a:spcPct val="90000"/>
              </a:lnSpc>
              <a:buNone/>
            </a:pPr>
            <a:r>
              <a:rPr lang="zh-CN" altLang="en-US"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PRIMARY KEY</a:t>
            </a:r>
            <a:r>
              <a:rPr lang="en-US" altLang="zh-CN" b="0" dirty="0">
                <a:solidFill>
                  <a:schemeClr val="tx1"/>
                </a:solidFill>
                <a:latin typeface="Arial" panose="020B0604020202020204" pitchFamily="34" charset="0"/>
              </a:rPr>
              <a:t> (Sno</a:t>
            </a:r>
            <a:r>
              <a:rPr lang="zh-CN" altLang="en-US" b="0" dirty="0">
                <a:solidFill>
                  <a:schemeClr val="tx1"/>
                </a:solidFill>
                <a:latin typeface="Arial" panose="020B0604020202020204" pitchFamily="34" charset="0"/>
              </a:rPr>
              <a:t>，</a:t>
            </a:r>
            <a:r>
              <a:rPr lang="en-US" altLang="zh-CN" b="0" dirty="0">
                <a:solidFill>
                  <a:schemeClr val="tx1"/>
                </a:solidFill>
                <a:latin typeface="Arial" panose="020B0604020202020204" pitchFamily="34" charset="0"/>
              </a:rPr>
              <a:t>Cno)</a:t>
            </a:r>
            <a:endParaRPr lang="en-US" altLang="zh-CN" b="0" dirty="0">
              <a:solidFill>
                <a:schemeClr val="tx1"/>
              </a:solidFill>
              <a:latin typeface="Arial" panose="020B0604020202020204" pitchFamily="34" charset="0"/>
            </a:endParaRPr>
          </a:p>
          <a:p>
            <a:pPr eaLnBrk="1" hangingPunct="1">
              <a:lnSpc>
                <a:spcPct val="90000"/>
              </a:lnSpc>
              <a:buNone/>
            </a:pPr>
            <a:r>
              <a:rPr lang="en-US" altLang="zh-CN" b="0" dirty="0">
                <a:solidFill>
                  <a:schemeClr val="tx1"/>
                </a:solidFill>
              </a:rPr>
              <a:t>            /*</a:t>
            </a:r>
            <a:r>
              <a:rPr lang="zh-CN" altLang="en-US" b="0" dirty="0">
                <a:solidFill>
                  <a:schemeClr val="tx1"/>
                </a:solidFill>
              </a:rPr>
              <a:t>只能在表级定义主码*</a:t>
            </a:r>
            <a:r>
              <a:rPr lang="en-US" altLang="zh-CN" b="0" dirty="0">
                <a:solidFill>
                  <a:schemeClr val="tx1"/>
                </a:solidFill>
              </a:rPr>
              <a:t>/</a:t>
            </a:r>
            <a:endParaRPr lang="en-US" altLang="zh-CN" b="0" dirty="0">
              <a:solidFill>
                <a:schemeClr val="tx1"/>
              </a:solidFill>
            </a:endParaRPr>
          </a:p>
          <a:p>
            <a:pPr eaLnBrk="1" hangingPunct="1">
              <a:lnSpc>
                <a:spcPct val="90000"/>
              </a:lnSpc>
              <a:buNone/>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eaLnBrk="1" hangingPunct="1">
              <a:lnSpc>
                <a:spcPct val="90000"/>
              </a:lnSpc>
              <a:buNone/>
            </a:pPr>
            <a:endParaRPr lang="en-US" altLang="zh-CN" b="0" dirty="0">
              <a:solidFill>
                <a:schemeClr val="tx1"/>
              </a:solidFill>
            </a:endParaRPr>
          </a:p>
        </p:txBody>
      </p:sp>
      <p:sp>
        <p:nvSpPr>
          <p:cNvPr id="15365" name="Line 5"/>
          <p:cNvSpPr/>
          <p:nvPr/>
        </p:nvSpPr>
        <p:spPr>
          <a:xfrm>
            <a:off x="1619250" y="4624388"/>
            <a:ext cx="4968875"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6388"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40000"/>
              </a:lnSpc>
            </a:pPr>
            <a:r>
              <a:rPr lang="zh-CN" altLang="en-US" dirty="0"/>
              <a:t>关系模型完整性的修改</a:t>
            </a:r>
            <a:endParaRPr lang="zh-CN" altLang="en-US" dirty="0"/>
          </a:p>
          <a:p>
            <a:pPr lvl="1" eaLnBrk="1" hangingPunct="1">
              <a:lnSpc>
                <a:spcPct val="140000"/>
              </a:lnSpc>
            </a:pPr>
            <a:r>
              <a:rPr lang="en-US" altLang="zh-CN" sz="3000" dirty="0"/>
              <a:t>Alter Table ADD </a:t>
            </a:r>
            <a:r>
              <a:rPr lang="en-US" altLang="zh-CN" sz="3000" dirty="0">
                <a:latin typeface="Arial" panose="020B0604020202020204" pitchFamily="34" charset="0"/>
              </a:rPr>
              <a:t>…</a:t>
            </a:r>
            <a:r>
              <a:rPr lang="en-US" altLang="zh-CN" sz="3000" dirty="0"/>
              <a:t>(</a:t>
            </a:r>
            <a:r>
              <a:rPr lang="zh-CN" altLang="en-US" sz="3000" dirty="0"/>
              <a:t>添加新约束）</a:t>
            </a:r>
            <a:endParaRPr lang="zh-CN" altLang="en-US" sz="3000" dirty="0"/>
          </a:p>
          <a:p>
            <a:pPr lvl="1" eaLnBrk="1" hangingPunct="1">
              <a:lnSpc>
                <a:spcPct val="140000"/>
              </a:lnSpc>
            </a:pPr>
            <a:r>
              <a:rPr lang="en-US" altLang="zh-CN" sz="3000" dirty="0"/>
              <a:t>Alter Table Drop </a:t>
            </a:r>
            <a:r>
              <a:rPr lang="en-US" altLang="zh-CN" sz="3000" dirty="0">
                <a:latin typeface="Arial" panose="020B0604020202020204" pitchFamily="34" charset="0"/>
              </a:rPr>
              <a:t>…</a:t>
            </a:r>
            <a:r>
              <a:rPr lang="en-US" altLang="zh-CN" sz="3000" dirty="0"/>
              <a:t>(</a:t>
            </a:r>
            <a:r>
              <a:rPr lang="zh-CN" altLang="en-US" sz="3000" dirty="0"/>
              <a:t>删除约束</a:t>
            </a:r>
            <a:r>
              <a:rPr lang="en-US" altLang="zh-CN" sz="3000" dirty="0"/>
              <a:t>)</a:t>
            </a:r>
            <a:endParaRPr lang="en-US" altLang="zh-CN" sz="3000" dirty="0"/>
          </a:p>
          <a:p>
            <a:pPr lvl="1" eaLnBrk="1" hangingPunct="1">
              <a:lnSpc>
                <a:spcPct val="140000"/>
              </a:lnSpc>
            </a:pPr>
            <a:r>
              <a:rPr lang="zh-CN" altLang="en-US" sz="3000" dirty="0"/>
              <a:t>修改现有约束？</a:t>
            </a:r>
            <a:endParaRPr lang="zh-CN" altLang="en-US" sz="3000" dirty="0"/>
          </a:p>
          <a:p>
            <a:pPr lvl="1" eaLnBrk="1" hangingPunct="1">
              <a:lnSpc>
                <a:spcPct val="140000"/>
              </a:lnSpc>
            </a:pPr>
            <a:endParaRPr lang="zh-CN" alt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7412" name="Rectangle 3"/>
          <p:cNvSpPr>
            <a:spLocks noGrp="1"/>
          </p:cNvSpPr>
          <p:nvPr>
            <p:ph idx="1"/>
          </p:nvPr>
        </p:nvSpPr>
        <p:spPr>
          <a:xfrm>
            <a:off x="323850" y="908050"/>
            <a:ext cx="8494713" cy="5334000"/>
          </a:xfrm>
          <a:ln/>
        </p:spPr>
        <p:txBody>
          <a:bodyPr vert="horz" wrap="square" lIns="91440" tIns="45720" rIns="91440" bIns="45720" anchor="t" anchorCtr="0"/>
          <a:p>
            <a:pPr eaLnBrk="1" hangingPunct="1">
              <a:buNone/>
            </a:pPr>
            <a:r>
              <a:rPr lang="en-US" altLang="zh-CN" sz="2800" b="0" dirty="0">
                <a:solidFill>
                  <a:schemeClr val="accent2"/>
                </a:solidFill>
                <a:latin typeface="Arial" panose="020B0604020202020204" pitchFamily="34" charset="0"/>
              </a:rPr>
              <a:t>ALTER TABLE</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表名 </a:t>
            </a:r>
            <a:endParaRPr lang="zh-CN" altLang="en-US"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ALTER COLUMN</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列名 </a:t>
            </a:r>
            <a:endParaRPr lang="zh-CN" altLang="en-US" sz="2800" b="0" dirty="0">
              <a:solidFill>
                <a:schemeClr val="tx1"/>
              </a:solidFill>
              <a:latin typeface="Arial" panose="020B0604020202020204" pitchFamily="34" charset="0"/>
            </a:endParaRPr>
          </a:p>
          <a:p>
            <a:pPr eaLnBrk="1" hangingPunct="1">
              <a:buNone/>
            </a:pPr>
            <a:r>
              <a:rPr lang="zh-CN" altLang="en-US" sz="2800" b="0" dirty="0">
                <a:solidFill>
                  <a:schemeClr val="tx1"/>
                </a:solidFill>
                <a:latin typeface="Arial" panose="020B0604020202020204" pitchFamily="34" charset="0"/>
              </a:rPr>
              <a:t>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数据类型 </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精度</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小数位数</a:t>
            </a:r>
            <a:r>
              <a:rPr lang="en-US" altLang="zh-CN" sz="2800" b="0" dirty="0">
                <a:solidFill>
                  <a:schemeClr val="tx1"/>
                </a:solidFill>
                <a:latin typeface="Arial" panose="020B0604020202020204" pitchFamily="34" charset="0"/>
              </a:rPr>
              <a:t>]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NULL | NOT NULL ]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ADD</a:t>
            </a:r>
            <a:r>
              <a:rPr lang="en-US" altLang="zh-CN" sz="2800" b="0" dirty="0">
                <a:solidFill>
                  <a:schemeClr val="tx1"/>
                </a:solidFill>
                <a:latin typeface="Arial" panose="020B0604020202020204" pitchFamily="34" charset="0"/>
              </a:rPr>
              <a:t> { [ &lt;</a:t>
            </a:r>
            <a:r>
              <a:rPr lang="zh-CN" altLang="en-US" sz="2800" b="0" dirty="0">
                <a:solidFill>
                  <a:schemeClr val="tx1"/>
                </a:solidFill>
                <a:latin typeface="Arial" panose="020B0604020202020204" pitchFamily="34" charset="0"/>
              </a:rPr>
              <a:t>列定义</a:t>
            </a:r>
            <a:r>
              <a:rPr lang="en-US" altLang="zh-CN" sz="2800" b="0" dirty="0">
                <a:solidFill>
                  <a:schemeClr val="tx1"/>
                </a:solidFill>
                <a:latin typeface="Arial" panose="020B0604020202020204" pitchFamily="34" charset="0"/>
              </a:rPr>
              <a:t>&gt; ] } [ ,...n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ADD</a:t>
            </a:r>
            <a:r>
              <a:rPr lang="en-US" altLang="zh-CN" sz="2800" b="0" dirty="0">
                <a:solidFill>
                  <a:schemeClr val="tx1"/>
                </a:solidFill>
                <a:latin typeface="Arial" panose="020B0604020202020204" pitchFamily="34" charset="0"/>
              </a:rPr>
              <a:t> { &lt;</a:t>
            </a:r>
            <a:r>
              <a:rPr lang="zh-CN" altLang="en-US" sz="2800" b="0" dirty="0">
                <a:solidFill>
                  <a:schemeClr val="tx1"/>
                </a:solidFill>
                <a:latin typeface="Arial" panose="020B0604020202020204" pitchFamily="34" charset="0"/>
              </a:rPr>
              <a:t>表约束</a:t>
            </a:r>
            <a:r>
              <a:rPr lang="en-US" altLang="zh-CN" sz="2800" b="0" dirty="0">
                <a:solidFill>
                  <a:schemeClr val="tx1"/>
                </a:solidFill>
                <a:latin typeface="Arial" panose="020B0604020202020204" pitchFamily="34" charset="0"/>
              </a:rPr>
              <a:t>&gt; } [ ,...n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DROP</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CONSTRAINT</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约束名 </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COLUMN</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列名 </a:t>
            </a:r>
            <a:r>
              <a:rPr lang="en-US" altLang="zh-CN" sz="2800" b="0" dirty="0">
                <a:solidFill>
                  <a:schemeClr val="tx1"/>
                </a:solidFill>
                <a:latin typeface="Arial" panose="020B0604020202020204" pitchFamily="34" charset="0"/>
              </a:rPr>
              <a:t>}[ ,...n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18436" name="Rectangle 3"/>
          <p:cNvSpPr>
            <a:spLocks noGrp="1"/>
          </p:cNvSpPr>
          <p:nvPr>
            <p:ph idx="1"/>
          </p:nvPr>
        </p:nvSpPr>
        <p:spPr>
          <a:xfrm>
            <a:off x="152400" y="914400"/>
            <a:ext cx="8686800" cy="5610225"/>
          </a:xfrm>
          <a:ln/>
        </p:spPr>
        <p:txBody>
          <a:bodyPr vert="horz" wrap="square" lIns="91440" tIns="45720" rIns="91440" bIns="45720" anchor="t" anchorCtr="0"/>
          <a:p>
            <a:pPr eaLnBrk="1" hangingPunct="1">
              <a:buNone/>
            </a:pPr>
            <a:r>
              <a:rPr lang="zh-CN" altLang="en-US" b="0" dirty="0">
                <a:solidFill>
                  <a:schemeClr val="tx1"/>
                </a:solidFill>
              </a:rPr>
              <a:t>［例</a:t>
            </a:r>
            <a:r>
              <a:rPr lang="en-US" altLang="zh-CN" b="0" dirty="0">
                <a:solidFill>
                  <a:schemeClr val="tx1"/>
                </a:solidFill>
              </a:rPr>
              <a:t>3</a:t>
            </a:r>
            <a:r>
              <a:rPr lang="zh-CN" altLang="en-US" b="0" dirty="0">
                <a:solidFill>
                  <a:schemeClr val="tx1"/>
                </a:solidFill>
              </a:rPr>
              <a:t>］  建</a:t>
            </a:r>
            <a:r>
              <a:rPr lang="en-US" altLang="zh-CN" b="0" dirty="0">
                <a:solidFill>
                  <a:schemeClr val="tx1"/>
                </a:solidFill>
              </a:rPr>
              <a:t>SC1</a:t>
            </a:r>
            <a:r>
              <a:rPr lang="zh-CN" altLang="en-US" b="0" dirty="0">
                <a:solidFill>
                  <a:schemeClr val="tx1"/>
                </a:solidFill>
              </a:rPr>
              <a:t>表时，主码定义错误，修改之。</a:t>
            </a:r>
            <a:endParaRPr lang="zh-CN" altLang="en-US" b="0" dirty="0">
              <a:solidFill>
                <a:schemeClr val="tx1"/>
              </a:solidFill>
            </a:endParaRPr>
          </a:p>
          <a:p>
            <a:pPr eaLnBrk="1" hangingPunct="1">
              <a:buNone/>
            </a:pPr>
            <a:r>
              <a:rPr lang="zh-CN" altLang="en-US" b="0" dirty="0">
                <a:solidFill>
                  <a:schemeClr val="tx1"/>
                </a:solidFill>
                <a:latin typeface="Arial" panose="020B0604020202020204" pitchFamily="34" charset="0"/>
              </a:rPr>
              <a:t>这是当初定义的语句：</a:t>
            </a:r>
            <a:endParaRPr lang="zh-CN" altLang="en-US" b="0" dirty="0">
              <a:solidFill>
                <a:schemeClr val="tx1"/>
              </a:solidFill>
              <a:latin typeface="Arial" panose="020B0604020202020204" pitchFamily="34" charset="0"/>
            </a:endParaRPr>
          </a:p>
          <a:p>
            <a:pPr eaLnBrk="1" hangingPunct="1">
              <a:buNone/>
            </a:pPr>
            <a:endParaRPr lang="zh-CN" altLang="en-US" b="0" dirty="0">
              <a:solidFill>
                <a:schemeClr val="tx1"/>
              </a:solidFill>
              <a:latin typeface="Arial" panose="020B0604020202020204" pitchFamily="34" charset="0"/>
            </a:endParaRPr>
          </a:p>
          <a:p>
            <a:pPr eaLnBrk="1" hangingPunct="1">
              <a:buNone/>
            </a:pPr>
            <a:r>
              <a:rPr lang="en-US" altLang="zh-CN" sz="2800" b="0" dirty="0">
                <a:solidFill>
                  <a:schemeClr val="accent2"/>
                </a:solidFill>
                <a:latin typeface="Arial" panose="020B0604020202020204" pitchFamily="34" charset="0"/>
              </a:rPr>
              <a:t>CREATE TABLE</a:t>
            </a:r>
            <a:r>
              <a:rPr lang="en-US" altLang="zh-CN" sz="2800" b="0" dirty="0">
                <a:solidFill>
                  <a:schemeClr val="tx1"/>
                </a:solidFill>
                <a:latin typeface="Arial" panose="020B0604020202020204" pitchFamily="34" charset="0"/>
              </a:rPr>
              <a:t> SC1  (</a:t>
            </a:r>
            <a:endParaRPr lang="en-US" altLang="zh-CN" sz="2800" b="0" dirty="0">
              <a:solidFill>
                <a:schemeClr val="tx1"/>
              </a:solidFill>
              <a:latin typeface="Arial" panose="020B0604020202020204" pitchFamily="34" charset="0"/>
            </a:endParaRPr>
          </a:p>
          <a:p>
            <a:pPr eaLnBrk="1" hangingPunct="1">
              <a:lnSpc>
                <a:spcPct val="120000"/>
              </a:lnSpc>
              <a:buNone/>
            </a:pPr>
            <a:r>
              <a:rPr lang="en-US" altLang="zh-CN" sz="2800" b="0" dirty="0">
                <a:solidFill>
                  <a:schemeClr val="tx1"/>
                </a:solidFill>
                <a:latin typeface="Arial" panose="020B0604020202020204" pitchFamily="34" charset="0"/>
              </a:rPr>
              <a:t>      Sno  </a:t>
            </a:r>
            <a:r>
              <a:rPr lang="en-US" altLang="zh-CN" sz="2800" b="0" dirty="0">
                <a:solidFill>
                  <a:schemeClr val="accent2"/>
                </a:solidFill>
                <a:latin typeface="Arial" panose="020B0604020202020204" pitchFamily="34" charset="0"/>
              </a:rPr>
              <a:t>CHAR</a:t>
            </a:r>
            <a:r>
              <a:rPr lang="en-US" altLang="zh-CN" sz="2800" b="0" dirty="0">
                <a:solidFill>
                  <a:schemeClr val="tx1"/>
                </a:solidFill>
                <a:latin typeface="Arial" panose="020B0604020202020204" pitchFamily="34" charset="0"/>
              </a:rPr>
              <a:t>(9)  </a:t>
            </a:r>
            <a:endParaRPr lang="en-US" altLang="zh-CN" sz="2800" b="0" dirty="0">
              <a:solidFill>
                <a:schemeClr val="tx1"/>
              </a:solidFill>
              <a:latin typeface="Arial" panose="020B0604020202020204" pitchFamily="34" charset="0"/>
            </a:endParaRPr>
          </a:p>
          <a:p>
            <a:pPr eaLnBrk="1" hangingPunct="1">
              <a:lnSpc>
                <a:spcPct val="120000"/>
              </a:lnSpc>
              <a:buNone/>
            </a:pPr>
            <a:r>
              <a:rPr lang="en-US" altLang="zh-CN" sz="2800" b="0" dirty="0">
                <a:solidFill>
                  <a:schemeClr val="tx1"/>
                </a:solidFill>
                <a:latin typeface="Arial" panose="020B0604020202020204" pitchFamily="34" charset="0"/>
              </a:rPr>
              <a:t>               constraint PK_SC1 </a:t>
            </a:r>
            <a:r>
              <a:rPr lang="en-US" altLang="zh-CN" sz="2800" b="0" dirty="0">
                <a:solidFill>
                  <a:schemeClr val="accent2"/>
                </a:solidFill>
                <a:latin typeface="Arial" panose="020B0604020202020204" pitchFamily="34" charset="0"/>
              </a:rPr>
              <a:t>PRIMARY KEY</a:t>
            </a:r>
            <a:r>
              <a:rPr lang="zh-CN" altLang="en-US" sz="2800" b="0" dirty="0">
                <a:solidFill>
                  <a:schemeClr val="tx1"/>
                </a:solidFill>
                <a:latin typeface="Arial" panose="020B0604020202020204" pitchFamily="34" charset="0"/>
              </a:rPr>
              <a:t>，</a:t>
            </a:r>
            <a:endParaRPr lang="zh-CN" altLang="en-US" sz="2800" b="0" dirty="0">
              <a:solidFill>
                <a:schemeClr val="tx1"/>
              </a:solidFill>
              <a:latin typeface="Arial" panose="020B0604020202020204" pitchFamily="34" charset="0"/>
            </a:endParaRPr>
          </a:p>
          <a:p>
            <a:pPr eaLnBrk="1" hangingPunct="1">
              <a:lnSpc>
                <a:spcPct val="120000"/>
              </a:lnSpc>
              <a:buNone/>
            </a:pPr>
            <a:r>
              <a:rPr lang="zh-CN" altLang="en-US" sz="2800" b="0" dirty="0">
                <a:solidFill>
                  <a:schemeClr val="tx1"/>
                </a:solidFill>
                <a:latin typeface="Arial" panose="020B0604020202020204" pitchFamily="34" charset="0"/>
              </a:rPr>
              <a:t>      </a:t>
            </a:r>
            <a:r>
              <a:rPr lang="en-US" altLang="zh-CN" sz="2800" b="0" dirty="0">
                <a:solidFill>
                  <a:schemeClr val="tx1"/>
                </a:solidFill>
                <a:latin typeface="Arial" panose="020B0604020202020204" pitchFamily="34" charset="0"/>
              </a:rPr>
              <a:t>Cno char(4) </a:t>
            </a:r>
            <a:r>
              <a:rPr lang="zh-CN" altLang="en-US" sz="2800" b="0" dirty="0">
                <a:solidFill>
                  <a:schemeClr val="tx1"/>
                </a:solidFill>
                <a:latin typeface="Arial" panose="020B0604020202020204" pitchFamily="34" charset="0"/>
              </a:rPr>
              <a:t>，</a:t>
            </a:r>
            <a:endParaRPr lang="zh-CN" altLang="en-US" sz="2800" b="0" dirty="0">
              <a:solidFill>
                <a:schemeClr val="tx1"/>
              </a:solidFill>
              <a:latin typeface="Arial" panose="020B0604020202020204" pitchFamily="34" charset="0"/>
            </a:endParaRPr>
          </a:p>
          <a:p>
            <a:pPr eaLnBrk="1" hangingPunct="1">
              <a:lnSpc>
                <a:spcPct val="120000"/>
              </a:lnSpc>
              <a:buNone/>
            </a:pPr>
            <a:r>
              <a:rPr lang="zh-CN" altLang="en-US" sz="2800" b="0" dirty="0">
                <a:solidFill>
                  <a:schemeClr val="tx1"/>
                </a:solidFill>
                <a:latin typeface="Arial" panose="020B0604020202020204" pitchFamily="34" charset="0"/>
              </a:rPr>
              <a:t>      </a:t>
            </a:r>
            <a:r>
              <a:rPr lang="en-US" altLang="zh-CN" sz="2800" b="0" dirty="0">
                <a:solidFill>
                  <a:schemeClr val="tx1"/>
                </a:solidFill>
                <a:latin typeface="Arial" panose="020B0604020202020204" pitchFamily="34" charset="0"/>
              </a:rPr>
              <a:t>Grade smallint</a:t>
            </a:r>
            <a:endParaRPr lang="en-US" altLang="zh-CN" sz="2800" b="0" dirty="0">
              <a:solidFill>
                <a:schemeClr val="tx1"/>
              </a:solidFill>
              <a:latin typeface="Arial" panose="020B0604020202020204" pitchFamily="34" charset="0"/>
            </a:endParaRPr>
          </a:p>
          <a:p>
            <a:pPr eaLnBrk="1" hangingPunct="1">
              <a:lnSpc>
                <a:spcPct val="120000"/>
              </a:lnSpc>
              <a:buNone/>
            </a:pP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5.1.1  </a:t>
            </a:r>
            <a:r>
              <a:rPr lang="zh-CN" altLang="en-US" sz="3200" dirty="0"/>
              <a:t>实体完整性定义</a:t>
            </a:r>
            <a:endParaRPr lang="zh-CN" altLang="en-US" sz="3200" dirty="0"/>
          </a:p>
        </p:txBody>
      </p:sp>
      <p:sp>
        <p:nvSpPr>
          <p:cNvPr id="20484" name="Rectangle 3"/>
          <p:cNvSpPr>
            <a:spLocks noGrp="1"/>
          </p:cNvSpPr>
          <p:nvPr>
            <p:ph idx="1"/>
          </p:nvPr>
        </p:nvSpPr>
        <p:spPr>
          <a:xfrm>
            <a:off x="228600" y="1052513"/>
            <a:ext cx="8915400" cy="5610225"/>
          </a:xfrm>
          <a:ln/>
        </p:spPr>
        <p:txBody>
          <a:bodyPr vert="horz" wrap="square" lIns="91440" tIns="45720" rIns="91440" bIns="45720" anchor="t" anchorCtr="0"/>
          <a:p>
            <a:pPr eaLnBrk="1" hangingPunct="1">
              <a:buNone/>
            </a:pPr>
            <a:r>
              <a:rPr lang="en-US" altLang="zh-CN" b="0" dirty="0">
                <a:solidFill>
                  <a:schemeClr val="tx1"/>
                </a:solidFill>
                <a:latin typeface="Arial" panose="020B0604020202020204" pitchFamily="34" charset="0"/>
              </a:rPr>
              <a:t>(1) </a:t>
            </a:r>
            <a:r>
              <a:rPr lang="zh-CN" altLang="en-US" b="0" dirty="0">
                <a:solidFill>
                  <a:schemeClr val="tx1"/>
                </a:solidFill>
                <a:latin typeface="Arial" panose="020B0604020202020204" pitchFamily="34" charset="0"/>
              </a:rPr>
              <a:t>删除原约束</a:t>
            </a:r>
            <a:endParaRPr lang="zh-CN" altLang="en-US" b="0" dirty="0">
              <a:solidFill>
                <a:schemeClr val="tx1"/>
              </a:solidFill>
              <a:latin typeface="Arial" panose="020B0604020202020204" pitchFamily="34" charset="0"/>
            </a:endParaRPr>
          </a:p>
          <a:p>
            <a:pPr eaLnBrk="1" hangingPunct="1">
              <a:buNone/>
            </a:pPr>
            <a:r>
              <a:rPr lang="en-US" altLang="zh-CN" b="0" dirty="0">
                <a:solidFill>
                  <a:schemeClr val="tx1"/>
                </a:solidFill>
                <a:latin typeface="Arial" panose="020B0604020202020204" pitchFamily="34" charset="0"/>
              </a:rPr>
              <a:t>(2) </a:t>
            </a:r>
            <a:r>
              <a:rPr lang="zh-CN" altLang="en-US" b="0" dirty="0">
                <a:solidFill>
                  <a:schemeClr val="tx1"/>
                </a:solidFill>
                <a:latin typeface="Arial" panose="020B0604020202020204" pitchFamily="34" charset="0"/>
              </a:rPr>
              <a:t>定义新约束</a:t>
            </a:r>
            <a:endParaRPr lang="zh-CN" altLang="en-US" b="0" dirty="0">
              <a:solidFill>
                <a:schemeClr val="tx1"/>
              </a:solidFill>
              <a:latin typeface="Arial" panose="020B0604020202020204" pitchFamily="34" charset="0"/>
            </a:endParaRPr>
          </a:p>
          <a:p>
            <a:pPr eaLnBrk="1" hangingPunct="1">
              <a:buNone/>
            </a:pPr>
            <a:endParaRPr lang="zh-CN" altLang="en-US" b="0" dirty="0">
              <a:solidFill>
                <a:schemeClr val="tx1"/>
              </a:solidFill>
              <a:latin typeface="Arial" panose="020B0604020202020204" pitchFamily="34" charset="0"/>
            </a:endParaRPr>
          </a:p>
          <a:p>
            <a:pPr eaLnBrk="1" hangingPunct="1">
              <a:buNone/>
            </a:pPr>
            <a:r>
              <a:rPr lang="en-US" altLang="zh-CN" b="0" dirty="0">
                <a:solidFill>
                  <a:schemeClr val="accent2"/>
                </a:solidFill>
                <a:latin typeface="Arial" panose="020B0604020202020204" pitchFamily="34" charset="0"/>
              </a:rPr>
              <a:t>alter table</a:t>
            </a:r>
            <a:r>
              <a:rPr lang="en-US" altLang="zh-CN" b="0" dirty="0">
                <a:solidFill>
                  <a:schemeClr val="tx1"/>
                </a:solidFill>
                <a:latin typeface="Arial" panose="020B0604020202020204" pitchFamily="34" charset="0"/>
              </a:rPr>
              <a:t> SC1 </a:t>
            </a:r>
            <a:r>
              <a:rPr lang="en-US" altLang="zh-CN" b="0" dirty="0">
                <a:solidFill>
                  <a:schemeClr val="accent2"/>
                </a:solidFill>
                <a:latin typeface="Arial" panose="020B0604020202020204" pitchFamily="34" charset="0"/>
              </a:rPr>
              <a:t>drop constraint</a:t>
            </a:r>
            <a:r>
              <a:rPr lang="en-US" altLang="zh-CN" b="0" dirty="0">
                <a:solidFill>
                  <a:schemeClr val="tx1"/>
                </a:solidFill>
                <a:latin typeface="Arial" panose="020B0604020202020204" pitchFamily="34" charset="0"/>
              </a:rPr>
              <a:t> pk_sc1</a:t>
            </a:r>
            <a:endParaRPr lang="en-US" altLang="zh-CN" b="0" dirty="0">
              <a:solidFill>
                <a:schemeClr val="tx1"/>
              </a:solidFill>
              <a:latin typeface="Arial" panose="020B0604020202020204" pitchFamily="34" charset="0"/>
            </a:endParaRPr>
          </a:p>
          <a:p>
            <a:pPr eaLnBrk="1" hangingPunct="1">
              <a:buNone/>
            </a:pPr>
            <a:endParaRPr lang="en-US" altLang="zh-CN" b="0" dirty="0">
              <a:solidFill>
                <a:schemeClr val="tx1"/>
              </a:solidFill>
              <a:latin typeface="Arial" panose="020B0604020202020204" pitchFamily="34" charset="0"/>
            </a:endParaRPr>
          </a:p>
          <a:p>
            <a:pPr eaLnBrk="1" hangingPunct="1">
              <a:buNone/>
            </a:pPr>
            <a:r>
              <a:rPr lang="en-US" altLang="zh-CN" b="0" dirty="0">
                <a:solidFill>
                  <a:schemeClr val="accent2"/>
                </a:solidFill>
                <a:latin typeface="Arial" panose="020B0604020202020204" pitchFamily="34" charset="0"/>
              </a:rPr>
              <a:t>alter table</a:t>
            </a:r>
            <a:r>
              <a:rPr lang="en-US" altLang="zh-CN" b="0" dirty="0">
                <a:solidFill>
                  <a:schemeClr val="tx1"/>
                </a:solidFill>
                <a:latin typeface="Arial" panose="020B0604020202020204" pitchFamily="34" charset="0"/>
              </a:rPr>
              <a:t> SC1 </a:t>
            </a:r>
            <a:r>
              <a:rPr lang="en-US" altLang="zh-CN" b="0" dirty="0">
                <a:solidFill>
                  <a:schemeClr val="accent2"/>
                </a:solidFill>
                <a:latin typeface="Arial" panose="020B0604020202020204" pitchFamily="34" charset="0"/>
              </a:rPr>
              <a:t>alter column</a:t>
            </a:r>
            <a:r>
              <a:rPr lang="en-US" altLang="zh-CN" b="0" dirty="0">
                <a:solidFill>
                  <a:schemeClr val="tx1"/>
                </a:solidFill>
                <a:latin typeface="Arial" panose="020B0604020202020204" pitchFamily="34" charset="0"/>
              </a:rPr>
              <a:t> Cno </a:t>
            </a:r>
            <a:r>
              <a:rPr lang="en-US" altLang="zh-CN" b="0" dirty="0">
                <a:solidFill>
                  <a:schemeClr val="accent2"/>
                </a:solidFill>
                <a:latin typeface="Arial" panose="020B0604020202020204" pitchFamily="34" charset="0"/>
              </a:rPr>
              <a:t>char</a:t>
            </a:r>
            <a:r>
              <a:rPr lang="en-US" altLang="zh-CN" b="0" dirty="0">
                <a:solidFill>
                  <a:schemeClr val="tx1"/>
                </a:solidFill>
                <a:latin typeface="Arial" panose="020B0604020202020204" pitchFamily="34" charset="0"/>
              </a:rPr>
              <a:t>(4) not null</a:t>
            </a:r>
            <a:endParaRPr lang="en-US" altLang="zh-CN" b="0" dirty="0">
              <a:solidFill>
                <a:schemeClr val="tx1"/>
              </a:solidFill>
              <a:latin typeface="Arial" panose="020B0604020202020204" pitchFamily="34" charset="0"/>
            </a:endParaRPr>
          </a:p>
          <a:p>
            <a:pPr eaLnBrk="1" hangingPunct="1">
              <a:buNone/>
            </a:pPr>
            <a:endParaRPr lang="en-US" altLang="zh-CN" b="0" dirty="0">
              <a:solidFill>
                <a:schemeClr val="tx1"/>
              </a:solidFill>
              <a:latin typeface="Arial" panose="020B0604020202020204" pitchFamily="34" charset="0"/>
            </a:endParaRPr>
          </a:p>
          <a:p>
            <a:pPr eaLnBrk="1" hangingPunct="1">
              <a:buNone/>
            </a:pPr>
            <a:r>
              <a:rPr lang="en-US" altLang="zh-CN" b="0" dirty="0">
                <a:solidFill>
                  <a:schemeClr val="accent2"/>
                </a:solidFill>
                <a:latin typeface="Arial" panose="020B0604020202020204" pitchFamily="34" charset="0"/>
              </a:rPr>
              <a:t>alter table</a:t>
            </a:r>
            <a:r>
              <a:rPr lang="en-US" altLang="zh-CN" b="0" dirty="0">
                <a:solidFill>
                  <a:schemeClr val="tx1"/>
                </a:solidFill>
                <a:latin typeface="Arial" panose="020B0604020202020204" pitchFamily="34" charset="0"/>
              </a:rPr>
              <a:t> SC1 </a:t>
            </a:r>
            <a:r>
              <a:rPr lang="en-US" altLang="zh-CN" b="0" dirty="0">
                <a:solidFill>
                  <a:schemeClr val="accent2"/>
                </a:solidFill>
                <a:latin typeface="Arial" panose="020B0604020202020204" pitchFamily="34" charset="0"/>
              </a:rPr>
              <a:t>add constraint</a:t>
            </a:r>
            <a:r>
              <a:rPr lang="en-US" altLang="zh-CN" b="0" dirty="0">
                <a:solidFill>
                  <a:schemeClr val="tx1"/>
                </a:solidFill>
                <a:latin typeface="Arial" panose="020B0604020202020204" pitchFamily="34" charset="0"/>
              </a:rPr>
              <a:t> pk_sc1 Primary key(Sno,Cno)</a:t>
            </a:r>
            <a:endParaRPr lang="en-US" altLang="zh-CN" b="0" dirty="0">
              <a:solidFill>
                <a:schemeClr val="tx1"/>
              </a:solidFill>
              <a:latin typeface="Arial" panose="020B0604020202020204" pitchFamily="34" charset="0"/>
            </a:endParaRPr>
          </a:p>
          <a:p>
            <a:pPr eaLnBrk="1" hangingPunct="1">
              <a:buNone/>
            </a:pPr>
            <a:endParaRPr lang="en-US" altLang="zh-CN" b="0" dirty="0">
              <a:solidFill>
                <a:schemeClr val="tx1"/>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5.1 </a:t>
            </a:r>
            <a:r>
              <a:rPr lang="zh-CN" altLang="en-US" dirty="0"/>
              <a:t>实体完整性</a:t>
            </a:r>
            <a:endParaRPr lang="zh-CN" altLang="en-US" dirty="0"/>
          </a:p>
        </p:txBody>
      </p:sp>
      <p:sp>
        <p:nvSpPr>
          <p:cNvPr id="22532" name="Rectangle 3"/>
          <p:cNvSpPr>
            <a:spLocks noGrp="1"/>
          </p:cNvSpPr>
          <p:nvPr>
            <p:ph idx="1"/>
          </p:nvPr>
        </p:nvSpPr>
        <p:spPr>
          <a:xfrm>
            <a:off x="971550" y="1773238"/>
            <a:ext cx="7416800" cy="2862262"/>
          </a:xfrm>
          <a:ln/>
        </p:spPr>
        <p:txBody>
          <a:bodyPr vert="horz" wrap="square" lIns="91440" tIns="45720" rIns="91440" bIns="45720" anchor="t" anchorCtr="0"/>
          <a:p>
            <a:pPr eaLnBrk="1" hangingPunct="1">
              <a:lnSpc>
                <a:spcPct val="120000"/>
              </a:lnSpc>
              <a:buNone/>
            </a:pPr>
            <a:r>
              <a:rPr lang="en-US" altLang="zh-CN" sz="3600" dirty="0">
                <a:solidFill>
                  <a:schemeClr val="tx1"/>
                </a:solidFill>
              </a:rPr>
              <a:t>5.1.1  </a:t>
            </a:r>
            <a:r>
              <a:rPr lang="zh-CN" altLang="en-US" sz="3600" dirty="0">
                <a:solidFill>
                  <a:schemeClr val="tx1"/>
                </a:solidFill>
              </a:rPr>
              <a:t>实体完整性定义</a:t>
            </a:r>
            <a:endParaRPr lang="zh-CN" altLang="en-US" sz="3600" dirty="0">
              <a:solidFill>
                <a:schemeClr val="tx1"/>
              </a:solidFill>
            </a:endParaRPr>
          </a:p>
          <a:p>
            <a:pPr eaLnBrk="1" hangingPunct="1">
              <a:lnSpc>
                <a:spcPct val="120000"/>
              </a:lnSpc>
              <a:buNone/>
            </a:pPr>
            <a:r>
              <a:rPr lang="en-US" altLang="zh-CN" sz="3600" dirty="0">
                <a:solidFill>
                  <a:srgbClr val="FF0000"/>
                </a:solidFill>
              </a:rPr>
              <a:t>5.1.2  </a:t>
            </a:r>
            <a:r>
              <a:rPr lang="zh-CN" altLang="en-US" sz="3600" dirty="0">
                <a:solidFill>
                  <a:srgbClr val="FF0000"/>
                </a:solidFill>
              </a:rPr>
              <a:t>实体完整性检查和违约处理</a:t>
            </a:r>
            <a:endParaRPr lang="zh-CN" altLang="en-US" sz="36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5"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5.1.2  </a:t>
            </a:r>
            <a:r>
              <a:rPr lang="zh-CN" altLang="en-US" sz="3200" dirty="0"/>
              <a:t>实体完整性检查和违约处理</a:t>
            </a:r>
            <a:endParaRPr lang="zh-CN" altLang="en-US" sz="3200" dirty="0"/>
          </a:p>
        </p:txBody>
      </p:sp>
      <p:sp>
        <p:nvSpPr>
          <p:cNvPr id="23556" name="Rectangle 3"/>
          <p:cNvSpPr>
            <a:spLocks noGrp="1"/>
          </p:cNvSpPr>
          <p:nvPr>
            <p:ph idx="1"/>
          </p:nvPr>
        </p:nvSpPr>
        <p:spPr>
          <a:xfrm>
            <a:off x="152400" y="914400"/>
            <a:ext cx="8686800" cy="5754688"/>
          </a:xfrm>
          <a:ln/>
        </p:spPr>
        <p:txBody>
          <a:bodyPr vert="horz" wrap="square" lIns="91440" tIns="45720" rIns="91440" bIns="45720" anchor="t" anchorCtr="0"/>
          <a:p>
            <a:pPr eaLnBrk="1" hangingPunct="1">
              <a:lnSpc>
                <a:spcPct val="140000"/>
              </a:lnSpc>
            </a:pPr>
            <a:r>
              <a:rPr lang="zh-CN" altLang="en-US" sz="2800" dirty="0"/>
              <a:t>何时检查</a:t>
            </a:r>
            <a:endParaRPr lang="zh-CN" altLang="en-US" sz="2800" dirty="0"/>
          </a:p>
          <a:p>
            <a:pPr lvl="1" eaLnBrk="1" hangingPunct="1">
              <a:lnSpc>
                <a:spcPct val="140000"/>
              </a:lnSpc>
            </a:pPr>
            <a:r>
              <a:rPr lang="zh-CN" altLang="en-US" sz="2600" dirty="0"/>
              <a:t>插入</a:t>
            </a:r>
            <a:r>
              <a:rPr lang="en-US" altLang="zh-CN" sz="2600" dirty="0"/>
              <a:t>:insert</a:t>
            </a:r>
            <a:endParaRPr lang="en-US" altLang="zh-CN" sz="2600" dirty="0"/>
          </a:p>
          <a:p>
            <a:pPr lvl="1" eaLnBrk="1" hangingPunct="1">
              <a:lnSpc>
                <a:spcPct val="140000"/>
              </a:lnSpc>
            </a:pPr>
            <a:r>
              <a:rPr lang="zh-CN" altLang="en-US" sz="2600" dirty="0"/>
              <a:t>更新主码列</a:t>
            </a:r>
            <a:r>
              <a:rPr lang="en-US" altLang="zh-CN" sz="2600" dirty="0"/>
              <a:t>:update </a:t>
            </a:r>
            <a:endParaRPr lang="en-US" altLang="zh-CN" sz="2600" dirty="0"/>
          </a:p>
          <a:p>
            <a:pPr eaLnBrk="1" hangingPunct="1">
              <a:lnSpc>
                <a:spcPct val="140000"/>
              </a:lnSpc>
            </a:pPr>
            <a:r>
              <a:rPr lang="zh-CN" altLang="en-US" sz="3000" dirty="0"/>
              <a:t>检查内容</a:t>
            </a:r>
            <a:endParaRPr lang="zh-CN" altLang="en-US" sz="3000" dirty="0"/>
          </a:p>
          <a:p>
            <a:pPr lvl="1" eaLnBrk="1" hangingPunct="1">
              <a:lnSpc>
                <a:spcPct val="140000"/>
              </a:lnSpc>
            </a:pPr>
            <a:r>
              <a:rPr lang="zh-CN" altLang="en-US" sz="2600" dirty="0"/>
              <a:t>检查主码值是否唯一，如果不唯一则拒绝插入或修改</a:t>
            </a:r>
            <a:endParaRPr lang="zh-CN" altLang="en-US" sz="2600" dirty="0"/>
          </a:p>
          <a:p>
            <a:pPr lvl="1" eaLnBrk="1" hangingPunct="1">
              <a:lnSpc>
                <a:spcPct val="140000"/>
              </a:lnSpc>
            </a:pPr>
            <a:r>
              <a:rPr lang="zh-CN" altLang="en-US" sz="2600" dirty="0"/>
              <a:t>检查主码的各个属性是否为空，只要有一个为空就拒绝插入或修改</a:t>
            </a:r>
            <a:endParaRPr lang="zh-CN" alt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57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5.1.2  </a:t>
            </a:r>
            <a:r>
              <a:rPr lang="zh-CN" altLang="en-US" sz="3200" dirty="0"/>
              <a:t>实体完整性检查和违约处理</a:t>
            </a:r>
            <a:endParaRPr lang="zh-CN" altLang="en-US" sz="3200" dirty="0"/>
          </a:p>
        </p:txBody>
      </p:sp>
      <p:sp>
        <p:nvSpPr>
          <p:cNvPr id="24580" name="Rectangle 3"/>
          <p:cNvSpPr>
            <a:spLocks noGrp="1"/>
          </p:cNvSpPr>
          <p:nvPr>
            <p:ph idx="1"/>
          </p:nvPr>
        </p:nvSpPr>
        <p:spPr>
          <a:xfrm>
            <a:off x="152400" y="914400"/>
            <a:ext cx="8686800" cy="5754688"/>
          </a:xfrm>
          <a:ln/>
        </p:spPr>
        <p:txBody>
          <a:bodyPr vert="horz" wrap="square" lIns="91440" tIns="45720" rIns="91440" bIns="45720" anchor="t" anchorCtr="0"/>
          <a:p>
            <a:pPr eaLnBrk="1" hangingPunct="1">
              <a:lnSpc>
                <a:spcPct val="120000"/>
              </a:lnSpc>
            </a:pPr>
            <a:r>
              <a:rPr lang="zh-CN" altLang="en-US" dirty="0">
                <a:solidFill>
                  <a:schemeClr val="tx1"/>
                </a:solidFill>
              </a:rPr>
              <a:t>检查方法一</a:t>
            </a:r>
            <a:r>
              <a:rPr lang="en-US" altLang="zh-CN" dirty="0">
                <a:solidFill>
                  <a:schemeClr val="tx1"/>
                </a:solidFill>
              </a:rPr>
              <a:t>:</a:t>
            </a:r>
            <a:r>
              <a:rPr lang="zh-CN" altLang="en-US" dirty="0">
                <a:solidFill>
                  <a:schemeClr val="accent2"/>
                </a:solidFill>
              </a:rPr>
              <a:t>全表扫描</a:t>
            </a:r>
            <a:r>
              <a:rPr lang="zh-CN" altLang="en-US" dirty="0">
                <a:solidFill>
                  <a:schemeClr val="tx1"/>
                </a:solidFill>
              </a:rPr>
              <a:t>（</a:t>
            </a:r>
            <a:r>
              <a:rPr lang="zh-CN" altLang="en-US" dirty="0">
                <a:solidFill>
                  <a:srgbClr val="FF0000"/>
                </a:solidFill>
              </a:rPr>
              <a:t>耗时</a:t>
            </a:r>
            <a:r>
              <a:rPr lang="zh-CN" altLang="en-US" dirty="0">
                <a:solidFill>
                  <a:schemeClr val="tx1"/>
                </a:solidFill>
              </a:rPr>
              <a:t>）</a:t>
            </a:r>
            <a:endParaRPr lang="zh-CN" altLang="en-US" dirty="0">
              <a:solidFill>
                <a:schemeClr val="tx1"/>
              </a:solidFill>
            </a:endParaRPr>
          </a:p>
          <a:p>
            <a:pPr eaLnBrk="1" hangingPunct="1">
              <a:lnSpc>
                <a:spcPct val="120000"/>
              </a:lnSpc>
            </a:pPr>
            <a:r>
              <a:rPr lang="zh-CN" altLang="en-US" dirty="0">
                <a:solidFill>
                  <a:schemeClr val="tx1"/>
                </a:solidFill>
              </a:rPr>
              <a:t>对策</a:t>
            </a:r>
            <a:r>
              <a:rPr lang="en-US" altLang="zh-CN" dirty="0">
                <a:solidFill>
                  <a:schemeClr val="tx1"/>
                </a:solidFill>
              </a:rPr>
              <a:t>: </a:t>
            </a:r>
            <a:r>
              <a:rPr lang="zh-CN" altLang="en-US" dirty="0">
                <a:solidFill>
                  <a:schemeClr val="tx1"/>
                </a:solidFill>
              </a:rPr>
              <a:t>在主码上自动建索引</a:t>
            </a:r>
            <a:endParaRPr lang="zh-CN" altLang="en-US" sz="3400" dirty="0">
              <a:solidFill>
                <a:schemeClr val="tx1"/>
              </a:solidFill>
            </a:endParaRPr>
          </a:p>
        </p:txBody>
      </p:sp>
      <p:pic>
        <p:nvPicPr>
          <p:cNvPr id="24581" name="Picture 4" descr="52"/>
          <p:cNvPicPr>
            <a:picLocks noChangeAspect="1"/>
          </p:cNvPicPr>
          <p:nvPr/>
        </p:nvPicPr>
        <p:blipFill>
          <a:blip r:embed="rId1"/>
          <a:stretch>
            <a:fillRect/>
          </a:stretch>
        </p:blipFill>
        <p:spPr>
          <a:xfrm>
            <a:off x="971550" y="2565400"/>
            <a:ext cx="7129463" cy="3725863"/>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p:nvPr/>
        </p:nvSpPr>
        <p:spPr>
          <a:xfrm>
            <a:off x="558800" y="217170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25604" name="Rectangle 3"/>
          <p:cNvSpPr>
            <a:spLocks noGrp="1"/>
          </p:cNvSpPr>
          <p:nvPr>
            <p:ph idx="1"/>
          </p:nvPr>
        </p:nvSpPr>
        <p:spPr>
          <a:xfrm>
            <a:off x="762000" y="1358900"/>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5.1  </a:t>
            </a:r>
            <a:r>
              <a:rPr lang="zh-CN" altLang="en-US" dirty="0">
                <a:solidFill>
                  <a:schemeClr val="tx1"/>
                </a:solidFill>
              </a:rPr>
              <a:t>实体完整性</a:t>
            </a:r>
            <a:endParaRPr lang="zh-CN" altLang="en-US" dirty="0">
              <a:solidFill>
                <a:schemeClr val="tx1"/>
              </a:solidFill>
            </a:endParaRPr>
          </a:p>
          <a:p>
            <a:pPr algn="just" eaLnBrk="1" hangingPunct="1">
              <a:lnSpc>
                <a:spcPct val="130000"/>
              </a:lnSpc>
              <a:buNone/>
            </a:pPr>
            <a:r>
              <a:rPr lang="en-US" altLang="zh-CN" dirty="0">
                <a:solidFill>
                  <a:schemeClr val="bg1"/>
                </a:solidFill>
              </a:rPr>
              <a:t>5.2  </a:t>
            </a:r>
            <a:r>
              <a:rPr lang="zh-CN" altLang="en-US" dirty="0">
                <a:solidFill>
                  <a:schemeClr val="bg1"/>
                </a:solidFill>
              </a:rPr>
              <a:t>参照完整性</a:t>
            </a:r>
            <a:endParaRPr lang="zh-CN" altLang="en-US" dirty="0">
              <a:solidFill>
                <a:schemeClr val="bg1"/>
              </a:solidFill>
            </a:endParaRPr>
          </a:p>
          <a:p>
            <a:pPr algn="just" eaLnBrk="1" hangingPunct="1">
              <a:lnSpc>
                <a:spcPct val="130000"/>
              </a:lnSpc>
              <a:buNone/>
            </a:pPr>
            <a:r>
              <a:rPr lang="en-US" altLang="zh-CN" dirty="0">
                <a:solidFill>
                  <a:schemeClr val="tx1"/>
                </a:solidFill>
              </a:rPr>
              <a:t>5.3  </a:t>
            </a:r>
            <a:r>
              <a:rPr lang="zh-CN" altLang="en-US" dirty="0">
                <a:solidFill>
                  <a:schemeClr val="tx1"/>
                </a:solidFill>
              </a:rPr>
              <a:t>用户定义的完整性</a:t>
            </a:r>
            <a:endParaRPr lang="zh-CN" altLang="en-US" dirty="0">
              <a:solidFill>
                <a:schemeClr val="tx1"/>
              </a:solidFill>
            </a:endParaRPr>
          </a:p>
          <a:p>
            <a:pPr algn="just" eaLnBrk="1" hangingPunct="1">
              <a:lnSpc>
                <a:spcPct val="130000"/>
              </a:lnSpc>
              <a:buNone/>
            </a:pPr>
            <a:r>
              <a:rPr lang="en-US" altLang="zh-CN" dirty="0">
                <a:solidFill>
                  <a:schemeClr val="tx1"/>
                </a:solidFill>
              </a:rPr>
              <a:t>5.4  </a:t>
            </a:r>
            <a:r>
              <a:rPr lang="zh-CN" altLang="en-US" dirty="0">
                <a:solidFill>
                  <a:schemeClr val="tx1"/>
                </a:solidFill>
              </a:rPr>
              <a:t>完整性约束命名子句</a:t>
            </a:r>
            <a:endParaRPr lang="zh-CN" altLang="en-US" dirty="0">
              <a:solidFill>
                <a:schemeClr val="tx1"/>
              </a:solidFill>
            </a:endParaRPr>
          </a:p>
          <a:p>
            <a:pPr algn="just" eaLnBrk="1" hangingPunct="1">
              <a:lnSpc>
                <a:spcPct val="130000"/>
              </a:lnSpc>
              <a:buNone/>
            </a:pPr>
            <a:r>
              <a:rPr lang="en-US" altLang="zh-CN" dirty="0">
                <a:solidFill>
                  <a:schemeClr val="bg2"/>
                </a:solidFill>
              </a:rPr>
              <a:t>5.5  </a:t>
            </a:r>
            <a:r>
              <a:rPr lang="zh-CN" altLang="en-US" dirty="0">
                <a:solidFill>
                  <a:schemeClr val="bg2"/>
                </a:solidFill>
              </a:rPr>
              <a:t>域中的完整性限制</a:t>
            </a:r>
            <a:endParaRPr lang="zh-CN" altLang="en-US" dirty="0">
              <a:solidFill>
                <a:schemeClr val="bg2"/>
              </a:solidFill>
            </a:endParaRPr>
          </a:p>
          <a:p>
            <a:pPr algn="just" eaLnBrk="1" hangingPunct="1">
              <a:lnSpc>
                <a:spcPct val="130000"/>
              </a:lnSpc>
              <a:buNone/>
            </a:pPr>
            <a:r>
              <a:rPr lang="en-US" altLang="zh-CN" dirty="0">
                <a:solidFill>
                  <a:schemeClr val="tx1"/>
                </a:solidFill>
              </a:rPr>
              <a:t>5.6  </a:t>
            </a:r>
            <a:r>
              <a:rPr lang="zh-CN" altLang="en-US" dirty="0">
                <a:solidFill>
                  <a:schemeClr val="tx1"/>
                </a:solidFill>
              </a:rPr>
              <a:t>触发器</a:t>
            </a:r>
            <a:endParaRPr lang="zh-CN" altLang="en-US" dirty="0">
              <a:solidFill>
                <a:schemeClr val="tx1"/>
              </a:solidFill>
            </a:endParaRPr>
          </a:p>
          <a:p>
            <a:pPr algn="just" eaLnBrk="1" hangingPunct="1">
              <a:lnSpc>
                <a:spcPct val="130000"/>
              </a:lnSpc>
              <a:buNone/>
            </a:pPr>
            <a:r>
              <a:rPr lang="en-US" altLang="zh-CN" dirty="0">
                <a:solidFill>
                  <a:schemeClr val="tx1"/>
                </a:solidFill>
              </a:rPr>
              <a:t>5.7  </a:t>
            </a:r>
            <a:r>
              <a:rPr lang="zh-CN" altLang="en-US" dirty="0">
                <a:solidFill>
                  <a:schemeClr val="tx1"/>
                </a:solidFill>
              </a:rPr>
              <a:t>小结</a:t>
            </a:r>
            <a:endParaRPr lang="zh-CN" altLang="en-US" dirty="0">
              <a:solidFill>
                <a:schemeClr val="tx1"/>
              </a:solidFill>
            </a:endParaRPr>
          </a:p>
        </p:txBody>
      </p:sp>
      <p:sp>
        <p:nvSpPr>
          <p:cNvPr id="25605"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5.2 </a:t>
            </a:r>
            <a:r>
              <a:rPr lang="zh-CN" altLang="en-US" dirty="0"/>
              <a:t>参照完整性</a:t>
            </a:r>
            <a:endParaRPr lang="zh-CN" altLang="en-US" dirty="0"/>
          </a:p>
        </p:txBody>
      </p:sp>
      <p:sp>
        <p:nvSpPr>
          <p:cNvPr id="26628" name="Rectangle 3"/>
          <p:cNvSpPr>
            <a:spLocks noGrp="1"/>
          </p:cNvSpPr>
          <p:nvPr>
            <p:ph idx="1"/>
          </p:nvPr>
        </p:nvSpPr>
        <p:spPr>
          <a:xfrm>
            <a:off x="971550" y="1773238"/>
            <a:ext cx="7416800" cy="2862262"/>
          </a:xfrm>
          <a:ln/>
        </p:spPr>
        <p:txBody>
          <a:bodyPr vert="horz" wrap="square" lIns="91440" tIns="45720" rIns="91440" bIns="45720" anchor="t" anchorCtr="0"/>
          <a:p>
            <a:pPr eaLnBrk="1" hangingPunct="1">
              <a:lnSpc>
                <a:spcPct val="120000"/>
              </a:lnSpc>
              <a:buNone/>
            </a:pPr>
            <a:r>
              <a:rPr lang="en-US" altLang="zh-CN" sz="3600" dirty="0">
                <a:solidFill>
                  <a:srgbClr val="FF0000"/>
                </a:solidFill>
              </a:rPr>
              <a:t>5.2.1  </a:t>
            </a:r>
            <a:r>
              <a:rPr lang="zh-CN" altLang="en-US" sz="3600" dirty="0">
                <a:solidFill>
                  <a:srgbClr val="FF0000"/>
                </a:solidFill>
              </a:rPr>
              <a:t>参照完整性定义</a:t>
            </a:r>
            <a:endParaRPr lang="zh-CN" altLang="en-US" sz="3600" dirty="0">
              <a:solidFill>
                <a:srgbClr val="FF0000"/>
              </a:solidFill>
            </a:endParaRPr>
          </a:p>
          <a:p>
            <a:pPr eaLnBrk="1" hangingPunct="1">
              <a:lnSpc>
                <a:spcPct val="120000"/>
              </a:lnSpc>
              <a:buNone/>
            </a:pPr>
            <a:r>
              <a:rPr lang="en-US" altLang="zh-CN" sz="3600" dirty="0">
                <a:solidFill>
                  <a:schemeClr val="tx1"/>
                </a:solidFill>
              </a:rPr>
              <a:t>5.2.2  </a:t>
            </a:r>
            <a:r>
              <a:rPr lang="zh-CN" altLang="en-US" sz="3600" dirty="0">
                <a:solidFill>
                  <a:schemeClr val="tx1"/>
                </a:solidFill>
              </a:rPr>
              <a:t>参照完整性检查和违约处理</a:t>
            </a:r>
            <a:endParaRPr lang="zh-CN" altLang="en-US" sz="36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7651"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27652" name="Rectangle 3"/>
          <p:cNvSpPr>
            <a:spLocks noGrp="1"/>
          </p:cNvSpPr>
          <p:nvPr>
            <p:ph idx="1"/>
          </p:nvPr>
        </p:nvSpPr>
        <p:spPr>
          <a:xfrm>
            <a:off x="152400" y="914400"/>
            <a:ext cx="8686800" cy="5178425"/>
          </a:xfrm>
          <a:ln/>
        </p:spPr>
        <p:txBody>
          <a:bodyPr vert="horz" wrap="square" lIns="91440" tIns="45720" rIns="91440" bIns="45720" anchor="t" anchorCtr="0"/>
          <a:p>
            <a:pPr eaLnBrk="1" hangingPunct="1">
              <a:lnSpc>
                <a:spcPct val="180000"/>
              </a:lnSpc>
            </a:pPr>
            <a:r>
              <a:rPr lang="zh-CN" altLang="en-US" dirty="0"/>
              <a:t>关系模型的参照完整性定义</a:t>
            </a:r>
            <a:endParaRPr lang="zh-CN" altLang="en-US" dirty="0"/>
          </a:p>
          <a:p>
            <a:pPr lvl="1" eaLnBrk="1" hangingPunct="1">
              <a:lnSpc>
                <a:spcPct val="180000"/>
              </a:lnSpc>
            </a:pPr>
            <a:r>
              <a:rPr lang="en-US" altLang="zh-CN" dirty="0"/>
              <a:t>CREATE  TABLE</a:t>
            </a:r>
            <a:r>
              <a:rPr lang="zh-CN" altLang="en-US" dirty="0"/>
              <a:t>和</a:t>
            </a:r>
            <a:r>
              <a:rPr lang="en-US" altLang="zh-CN" dirty="0"/>
              <a:t>ALTER TABLE</a:t>
            </a:r>
            <a:endParaRPr lang="en-US" altLang="zh-CN" dirty="0"/>
          </a:p>
          <a:p>
            <a:pPr lvl="1" eaLnBrk="1" hangingPunct="1">
              <a:lnSpc>
                <a:spcPct val="180000"/>
              </a:lnSpc>
            </a:pPr>
            <a:r>
              <a:rPr lang="zh-CN" altLang="en-US" dirty="0"/>
              <a:t>用</a:t>
            </a:r>
            <a:r>
              <a:rPr lang="en-US" altLang="zh-CN" dirty="0">
                <a:solidFill>
                  <a:schemeClr val="accent2"/>
                </a:solidFill>
              </a:rPr>
              <a:t>FOREIGN KEY</a:t>
            </a:r>
            <a:r>
              <a:rPr lang="zh-CN" altLang="en-US" dirty="0"/>
              <a:t>短语定义哪些列为外码</a:t>
            </a:r>
            <a:endParaRPr lang="zh-CN" altLang="en-US" dirty="0"/>
          </a:p>
          <a:p>
            <a:pPr lvl="1" eaLnBrk="1" hangingPunct="1">
              <a:lnSpc>
                <a:spcPct val="180000"/>
              </a:lnSpc>
            </a:pPr>
            <a:r>
              <a:rPr lang="zh-CN" altLang="en-US" dirty="0"/>
              <a:t>用</a:t>
            </a:r>
            <a:r>
              <a:rPr lang="en-US" altLang="zh-CN" dirty="0">
                <a:solidFill>
                  <a:schemeClr val="accent2"/>
                </a:solidFill>
              </a:rPr>
              <a:t>REFERENCES</a:t>
            </a:r>
            <a:r>
              <a:rPr lang="zh-CN" altLang="en-US" dirty="0"/>
              <a:t>短语指明这些外码参照哪些表的主码 </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8675"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28676"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20000"/>
              </a:lnSpc>
              <a:buClr>
                <a:srgbClr val="0000FF"/>
              </a:buClr>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列约束</a:t>
            </a:r>
            <a:r>
              <a:rPr lang="en-US" altLang="zh-CN" sz="2800" b="0" dirty="0">
                <a:solidFill>
                  <a:schemeClr val="tx1"/>
                </a:solidFill>
                <a:latin typeface="Arial" panose="020B0604020202020204" pitchFamily="34" charset="0"/>
              </a:rPr>
              <a:t>&gt; ::= [</a:t>
            </a:r>
            <a:r>
              <a:rPr lang="en-US" altLang="zh-CN" sz="2800" b="0" dirty="0">
                <a:solidFill>
                  <a:schemeClr val="accent2"/>
                </a:solidFill>
                <a:latin typeface="Arial" panose="020B0604020202020204" pitchFamily="34" charset="0"/>
              </a:rPr>
              <a:t> 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NULL | NOT NULL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UNIQUE </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 </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被引用的列 </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CHECK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p:txBody>
      </p:sp>
      <p:sp>
        <p:nvSpPr>
          <p:cNvPr id="28677" name="Line 4"/>
          <p:cNvSpPr/>
          <p:nvPr/>
        </p:nvSpPr>
        <p:spPr>
          <a:xfrm>
            <a:off x="611188" y="3789363"/>
            <a:ext cx="8064500" cy="0"/>
          </a:xfrm>
          <a:prstGeom prst="line">
            <a:avLst/>
          </a:prstGeom>
          <a:ln w="38100" cap="flat" cmpd="sng">
            <a:solidFill>
              <a:srgbClr val="FF0000"/>
            </a:solidFill>
            <a:prstDash val="solid"/>
            <a:headEnd type="none" w="med" len="med"/>
            <a:tailEnd type="none" w="med" len="med"/>
          </a:ln>
        </p:spPr>
      </p:sp>
      <p:sp>
        <p:nvSpPr>
          <p:cNvPr id="28678" name="Line 5"/>
          <p:cNvSpPr/>
          <p:nvPr/>
        </p:nvSpPr>
        <p:spPr>
          <a:xfrm>
            <a:off x="611188" y="4292600"/>
            <a:ext cx="1584325" cy="0"/>
          </a:xfrm>
          <a:prstGeom prst="line">
            <a:avLst/>
          </a:prstGeom>
          <a:ln w="38100" cap="flat" cmpd="sng">
            <a:solidFill>
              <a:srgbClr val="FF0000"/>
            </a:solidFill>
            <a:prstDash val="solid"/>
            <a:headEnd type="none" w="med" len="med"/>
            <a:tailEnd type="none" w="med" len="med"/>
          </a:ln>
        </p:spPr>
      </p:sp>
      <p:sp>
        <p:nvSpPr>
          <p:cNvPr id="28679" name="Line 6"/>
          <p:cNvSpPr/>
          <p:nvPr/>
        </p:nvSpPr>
        <p:spPr>
          <a:xfrm>
            <a:off x="900113" y="4941888"/>
            <a:ext cx="6911975" cy="0"/>
          </a:xfrm>
          <a:prstGeom prst="line">
            <a:avLst/>
          </a:prstGeom>
          <a:ln w="38100" cap="flat" cmpd="sng">
            <a:solidFill>
              <a:srgbClr val="FF0000"/>
            </a:solidFill>
            <a:prstDash val="solid"/>
            <a:headEnd type="none" w="med" len="med"/>
            <a:tailEnd type="none" w="med" len="med"/>
          </a:ln>
        </p:spPr>
      </p:sp>
      <p:sp>
        <p:nvSpPr>
          <p:cNvPr id="28680" name="Line 7"/>
          <p:cNvSpPr/>
          <p:nvPr/>
        </p:nvSpPr>
        <p:spPr>
          <a:xfrm>
            <a:off x="900113" y="5516563"/>
            <a:ext cx="6624637"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29700"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表约束</a:t>
            </a:r>
            <a:r>
              <a:rPr lang="en-US" altLang="zh-CN" sz="2800" b="0" dirty="0">
                <a:solidFill>
                  <a:schemeClr val="tx1"/>
                </a:solidFill>
                <a:latin typeface="Arial" panose="020B0604020202020204" pitchFamily="34" charset="0"/>
              </a:rPr>
              <a:t>&gt; ::= [ </a:t>
            </a:r>
            <a:r>
              <a:rPr lang="en-US" altLang="zh-CN" sz="2800" b="0" dirty="0">
                <a:solidFill>
                  <a:schemeClr val="accent2"/>
                </a:solidFill>
                <a:latin typeface="Arial" panose="020B0604020202020204" pitchFamily="34" charset="0"/>
              </a:rPr>
              <a:t>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 </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ASC</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DESC</a:t>
            </a:r>
            <a:r>
              <a:rPr lang="en-US" altLang="zh-CN" sz="2800" b="0" dirty="0">
                <a:solidFill>
                  <a:schemeClr val="tx1"/>
                </a:solidFill>
                <a:latin typeface="Arial" panose="020B0604020202020204" pitchFamily="34" charset="0"/>
              </a:rPr>
              <a:t> ] [ ,...n ] )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被引用列</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CHECK</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
        <p:nvSpPr>
          <p:cNvPr id="29701" name="Line 4"/>
          <p:cNvSpPr/>
          <p:nvPr/>
        </p:nvSpPr>
        <p:spPr>
          <a:xfrm>
            <a:off x="971550" y="3500438"/>
            <a:ext cx="4895850" cy="0"/>
          </a:xfrm>
          <a:prstGeom prst="line">
            <a:avLst/>
          </a:prstGeom>
          <a:ln w="38100" cap="flat" cmpd="sng">
            <a:solidFill>
              <a:srgbClr val="FF0000"/>
            </a:solidFill>
            <a:prstDash val="solid"/>
            <a:headEnd type="none" w="med" len="med"/>
            <a:tailEnd type="none" w="med" len="med"/>
          </a:ln>
        </p:spPr>
      </p:sp>
      <p:sp>
        <p:nvSpPr>
          <p:cNvPr id="29702" name="Line 5"/>
          <p:cNvSpPr/>
          <p:nvPr/>
        </p:nvSpPr>
        <p:spPr>
          <a:xfrm>
            <a:off x="971550" y="3981450"/>
            <a:ext cx="7129463" cy="0"/>
          </a:xfrm>
          <a:prstGeom prst="line">
            <a:avLst/>
          </a:prstGeom>
          <a:ln w="38100" cap="flat" cmpd="sng">
            <a:solidFill>
              <a:srgbClr val="FF0000"/>
            </a:solidFill>
            <a:prstDash val="solid"/>
            <a:headEnd type="none" w="med" len="med"/>
            <a:tailEnd type="none" w="med" len="med"/>
          </a:ln>
        </p:spPr>
      </p:sp>
      <p:sp>
        <p:nvSpPr>
          <p:cNvPr id="29703" name="Line 6"/>
          <p:cNvSpPr/>
          <p:nvPr/>
        </p:nvSpPr>
        <p:spPr>
          <a:xfrm>
            <a:off x="1042988" y="4508500"/>
            <a:ext cx="6842125" cy="0"/>
          </a:xfrm>
          <a:prstGeom prst="line">
            <a:avLst/>
          </a:prstGeom>
          <a:ln w="38100" cap="flat" cmpd="sng">
            <a:solidFill>
              <a:srgbClr val="FF0000"/>
            </a:solidFill>
            <a:prstDash val="solid"/>
            <a:headEnd type="none" w="med" len="med"/>
            <a:tailEnd type="none" w="med" len="med"/>
          </a:ln>
        </p:spPr>
      </p:sp>
      <p:sp>
        <p:nvSpPr>
          <p:cNvPr id="29704" name="Line 7"/>
          <p:cNvSpPr/>
          <p:nvPr/>
        </p:nvSpPr>
        <p:spPr>
          <a:xfrm>
            <a:off x="1042988" y="5018088"/>
            <a:ext cx="6913562"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0724" name="Rectangle 3"/>
          <p:cNvSpPr>
            <a:spLocks noGrp="1"/>
          </p:cNvSpPr>
          <p:nvPr>
            <p:ph idx="1"/>
          </p:nvPr>
        </p:nvSpPr>
        <p:spPr>
          <a:xfrm>
            <a:off x="304800" y="765175"/>
            <a:ext cx="8382000" cy="5688013"/>
          </a:xfrm>
          <a:ln/>
        </p:spPr>
        <p:txBody>
          <a:bodyPr vert="horz" wrap="square" lIns="91440" tIns="45720" rIns="91440" bIns="45720" anchor="t" anchorCtr="0"/>
          <a:p>
            <a:pPr eaLnBrk="1" hangingPunct="1">
              <a:lnSpc>
                <a:spcPct val="120000"/>
              </a:lnSpc>
              <a:buNone/>
            </a:pPr>
            <a:r>
              <a:rPr lang="zh-CN" altLang="en-US" sz="2800" b="0" dirty="0">
                <a:solidFill>
                  <a:schemeClr val="tx1"/>
                </a:solidFill>
              </a:rPr>
              <a:t>［例</a:t>
            </a:r>
            <a:r>
              <a:rPr lang="en-US" altLang="zh-CN" sz="2800" b="0" dirty="0">
                <a:solidFill>
                  <a:schemeClr val="tx1"/>
                </a:solidFill>
              </a:rPr>
              <a:t>3</a:t>
            </a:r>
            <a:r>
              <a:rPr lang="zh-CN" altLang="en-US" sz="2800" b="0" dirty="0">
                <a:solidFill>
                  <a:schemeClr val="tx1"/>
                </a:solidFill>
              </a:rPr>
              <a:t>］  定义</a:t>
            </a:r>
            <a:r>
              <a:rPr lang="en-US" altLang="zh-CN" sz="2800" b="0" dirty="0">
                <a:solidFill>
                  <a:schemeClr val="tx1"/>
                </a:solidFill>
              </a:rPr>
              <a:t>SC(sno,cno,grade)</a:t>
            </a:r>
            <a:r>
              <a:rPr lang="zh-CN" altLang="en-US" sz="2800" b="0" dirty="0">
                <a:solidFill>
                  <a:schemeClr val="tx1"/>
                </a:solidFill>
              </a:rPr>
              <a:t>中的参照完整性</a:t>
            </a:r>
            <a:endParaRPr lang="zh-CN" altLang="en-US" sz="2800" b="0" dirty="0">
              <a:solidFill>
                <a:schemeClr val="tx1"/>
              </a:solidFill>
            </a:endParaRPr>
          </a:p>
          <a:p>
            <a:pPr eaLnBrk="1" hangingPunct="1">
              <a:lnSpc>
                <a:spcPct val="120000"/>
              </a:lnSpc>
              <a:buNone/>
            </a:pPr>
            <a:r>
              <a:rPr lang="zh-CN" altLang="en-US" sz="2000" dirty="0">
                <a:solidFill>
                  <a:schemeClr val="tx1"/>
                </a:solidFill>
              </a:rPr>
              <a:t>   </a:t>
            </a:r>
            <a:r>
              <a:rPr lang="en-US" altLang="zh-CN" sz="2000" b="0" dirty="0">
                <a:solidFill>
                  <a:schemeClr val="accent2"/>
                </a:solidFill>
                <a:latin typeface="Arial" panose="020B0604020202020204" pitchFamily="34" charset="0"/>
              </a:rPr>
              <a:t>CREATE TABLE</a:t>
            </a:r>
            <a:r>
              <a:rPr lang="en-US" altLang="zh-CN" sz="2000" b="0" dirty="0">
                <a:solidFill>
                  <a:schemeClr val="tx1"/>
                </a:solidFill>
                <a:latin typeface="Arial" panose="020B0604020202020204" pitchFamily="34" charset="0"/>
              </a:rPr>
              <a:t> SC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Sno    </a:t>
            </a:r>
            <a:r>
              <a:rPr lang="en-US" altLang="zh-CN" sz="2000" b="0" dirty="0">
                <a:solidFill>
                  <a:schemeClr val="accent2"/>
                </a:solidFill>
                <a:latin typeface="Arial" panose="020B0604020202020204" pitchFamily="34" charset="0"/>
              </a:rPr>
              <a:t>CHAR</a:t>
            </a:r>
            <a:r>
              <a:rPr lang="en-US" altLang="zh-CN" sz="2000" b="0" dirty="0">
                <a:solidFill>
                  <a:schemeClr val="tx1"/>
                </a:solidFill>
                <a:latin typeface="Arial" panose="020B0604020202020204" pitchFamily="34" charset="0"/>
              </a:rPr>
              <a:t>(9)  NOT NULL</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Cno     </a:t>
            </a:r>
            <a:r>
              <a:rPr lang="en-US" altLang="zh-CN" sz="2000" b="0" dirty="0">
                <a:solidFill>
                  <a:schemeClr val="accent2"/>
                </a:solidFill>
                <a:latin typeface="Arial" panose="020B0604020202020204" pitchFamily="34" charset="0"/>
              </a:rPr>
              <a:t>CHAR</a:t>
            </a:r>
            <a:r>
              <a:rPr lang="en-US" altLang="zh-CN" sz="2000" b="0" dirty="0">
                <a:solidFill>
                  <a:schemeClr val="tx1"/>
                </a:solidFill>
                <a:latin typeface="Arial" panose="020B0604020202020204" pitchFamily="34" charset="0"/>
              </a:rPr>
              <a:t>(4)  NOT NULL</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Grade    </a:t>
            </a:r>
            <a:r>
              <a:rPr lang="en-US" altLang="zh-CN" sz="2000" b="0" dirty="0">
                <a:solidFill>
                  <a:schemeClr val="accent2"/>
                </a:solidFill>
                <a:latin typeface="Arial" panose="020B0604020202020204" pitchFamily="34" charset="0"/>
              </a:rPr>
              <a:t>SMALLINT</a:t>
            </a:r>
            <a:r>
              <a:rPr lang="zh-CN" altLang="en-US" sz="2000" b="0" dirty="0">
                <a:solidFill>
                  <a:schemeClr val="tx1"/>
                </a:solidFill>
                <a:latin typeface="Arial" panose="020B0604020202020204" pitchFamily="34" charset="0"/>
              </a:rPr>
              <a:t>，</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accent2"/>
                </a:solidFill>
                <a:latin typeface="Arial" panose="020B0604020202020204" pitchFamily="34" charset="0"/>
              </a:rPr>
              <a:t>PRIMARY KEY</a:t>
            </a:r>
            <a:r>
              <a:rPr lang="en-US" altLang="zh-CN" sz="2000" b="0" dirty="0">
                <a:solidFill>
                  <a:schemeClr val="tx1"/>
                </a:solidFill>
                <a:latin typeface="Arial" panose="020B0604020202020204" pitchFamily="34" charset="0"/>
              </a:rPr>
              <a:t> (Sno</a:t>
            </a: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Cno)</a:t>
            </a: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a:t>
            </a:r>
            <a:r>
              <a:rPr lang="zh-CN" altLang="en-US" sz="2000" b="0" dirty="0">
                <a:solidFill>
                  <a:schemeClr val="tx1"/>
                </a:solidFill>
                <a:latin typeface="Arial" panose="020B0604020202020204" pitchFamily="34" charset="0"/>
              </a:rPr>
              <a:t>在表级定义实体完整性*</a:t>
            </a:r>
            <a:r>
              <a:rPr lang="en-US" altLang="zh-CN" sz="2000" b="0" dirty="0">
                <a:solidFill>
                  <a:schemeClr val="tx1"/>
                </a:solidFill>
                <a:latin typeface="Arial" panose="020B0604020202020204" pitchFamily="34" charset="0"/>
              </a:rPr>
              <a:t>/</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r>
              <a:rPr lang="en-US" altLang="zh-CN" sz="2000" b="0" dirty="0">
                <a:solidFill>
                  <a:schemeClr val="accent2"/>
                </a:solidFill>
                <a:latin typeface="Arial" panose="020B0604020202020204" pitchFamily="34" charset="0"/>
              </a:rPr>
              <a:t>FOREIGN KEY</a:t>
            </a:r>
            <a:r>
              <a:rPr lang="en-US" altLang="zh-CN" sz="2000" b="0" dirty="0">
                <a:solidFill>
                  <a:schemeClr val="tx1"/>
                </a:solidFill>
                <a:latin typeface="Arial" panose="020B0604020202020204" pitchFamily="34" charset="0"/>
              </a:rPr>
              <a:t> (Sno) </a:t>
            </a:r>
            <a:r>
              <a:rPr lang="en-US" altLang="zh-CN" sz="2000" b="0" dirty="0">
                <a:solidFill>
                  <a:schemeClr val="accent2"/>
                </a:solidFill>
                <a:latin typeface="Arial" panose="020B0604020202020204" pitchFamily="34" charset="0"/>
              </a:rPr>
              <a:t>REFERENCES</a:t>
            </a:r>
            <a:r>
              <a:rPr lang="en-US" altLang="zh-CN" sz="2000" b="0" dirty="0">
                <a:solidFill>
                  <a:schemeClr val="tx1"/>
                </a:solidFill>
                <a:latin typeface="Arial" panose="020B0604020202020204" pitchFamily="34" charset="0"/>
              </a:rPr>
              <a:t> Student(Sno)</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a:t>
            </a:r>
            <a:r>
              <a:rPr lang="zh-CN" altLang="en-US" sz="2000" b="0" dirty="0">
                <a:solidFill>
                  <a:schemeClr val="tx1"/>
                </a:solidFill>
                <a:latin typeface="Arial" panose="020B0604020202020204" pitchFamily="34" charset="0"/>
              </a:rPr>
              <a:t>在表级定义参照完整性*</a:t>
            </a:r>
            <a:r>
              <a:rPr lang="en-US" altLang="zh-CN" sz="2000" b="0" dirty="0">
                <a:solidFill>
                  <a:schemeClr val="tx1"/>
                </a:solidFill>
                <a:latin typeface="Arial" panose="020B0604020202020204" pitchFamily="34" charset="0"/>
              </a:rPr>
              <a:t>/</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r>
              <a:rPr lang="en-US" altLang="zh-CN" sz="2000" b="0" dirty="0">
                <a:solidFill>
                  <a:schemeClr val="accent2"/>
                </a:solidFill>
                <a:latin typeface="Arial" panose="020B0604020202020204" pitchFamily="34" charset="0"/>
              </a:rPr>
              <a:t>FOREIGN KEY</a:t>
            </a:r>
            <a:r>
              <a:rPr lang="en-US" altLang="zh-CN" sz="2000" b="0" dirty="0">
                <a:solidFill>
                  <a:schemeClr val="tx1"/>
                </a:solidFill>
                <a:latin typeface="Arial" panose="020B0604020202020204" pitchFamily="34" charset="0"/>
              </a:rPr>
              <a:t> (Cno) </a:t>
            </a:r>
            <a:r>
              <a:rPr lang="en-US" altLang="zh-CN" sz="2000" b="0" dirty="0">
                <a:solidFill>
                  <a:schemeClr val="accent2"/>
                </a:solidFill>
                <a:latin typeface="Arial" panose="020B0604020202020204" pitchFamily="34" charset="0"/>
              </a:rPr>
              <a:t>REFERENCES</a:t>
            </a:r>
            <a:r>
              <a:rPr lang="en-US" altLang="zh-CN" sz="2000" b="0" dirty="0">
                <a:solidFill>
                  <a:schemeClr val="tx1"/>
                </a:solidFill>
                <a:latin typeface="Arial" panose="020B0604020202020204" pitchFamily="34" charset="0"/>
              </a:rPr>
              <a:t> Course(Cno)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r>
              <a:rPr lang="zh-CN" altLang="en-US" sz="2000" b="0" dirty="0">
                <a:solidFill>
                  <a:schemeClr val="tx1"/>
                </a:solidFill>
                <a:latin typeface="Arial" panose="020B0604020202020204" pitchFamily="34" charset="0"/>
              </a:rPr>
              <a:t>在表级定义参照完整性*</a:t>
            </a:r>
            <a:r>
              <a:rPr lang="en-US" altLang="zh-CN" sz="2000" b="0" dirty="0">
                <a:solidFill>
                  <a:schemeClr val="tx1"/>
                </a:solidFill>
                <a:latin typeface="Arial" panose="020B0604020202020204" pitchFamily="34" charset="0"/>
              </a:rPr>
              <a:t>/</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r>
              <a:rPr lang="zh-CN" altLang="en-US" sz="2000" b="0" dirty="0">
                <a:solidFill>
                  <a:schemeClr val="tx1"/>
                </a:solidFill>
                <a:latin typeface="Arial" panose="020B0604020202020204" pitchFamily="34" charset="0"/>
              </a:rPr>
              <a:t>这里，两个</a:t>
            </a:r>
            <a:r>
              <a:rPr lang="en-US" altLang="zh-CN" sz="2000" b="0" dirty="0">
                <a:solidFill>
                  <a:schemeClr val="tx1"/>
                </a:solidFill>
                <a:latin typeface="Arial" panose="020B0604020202020204" pitchFamily="34" charset="0"/>
              </a:rPr>
              <a:t>foreign key</a:t>
            </a:r>
            <a:r>
              <a:rPr lang="zh-CN" altLang="en-US" sz="2000" b="0" dirty="0">
                <a:solidFill>
                  <a:schemeClr val="tx1"/>
                </a:solidFill>
                <a:latin typeface="Arial" panose="020B0604020202020204" pitchFamily="34" charset="0"/>
              </a:rPr>
              <a:t>都没有显式取名</a:t>
            </a:r>
            <a:endParaRPr lang="zh-CN" altLang="en-US" sz="2000" b="0" dirty="0">
              <a:solidFill>
                <a:schemeClr val="tx1"/>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1748" name="Rectangle 3"/>
          <p:cNvSpPr>
            <a:spLocks noGrp="1"/>
          </p:cNvSpPr>
          <p:nvPr>
            <p:ph idx="1"/>
          </p:nvPr>
        </p:nvSpPr>
        <p:spPr>
          <a:xfrm>
            <a:off x="304800" y="765175"/>
            <a:ext cx="8382000" cy="5688013"/>
          </a:xfrm>
          <a:ln/>
        </p:spPr>
        <p:txBody>
          <a:bodyPr vert="horz" wrap="square" lIns="91440" tIns="45720" rIns="91440" bIns="45720" anchor="t" anchorCtr="0"/>
          <a:p>
            <a:pPr eaLnBrk="1" hangingPunct="1">
              <a:lnSpc>
                <a:spcPct val="120000"/>
              </a:lnSpc>
              <a:buNone/>
            </a:pPr>
            <a:r>
              <a:rPr lang="zh-CN" altLang="en-US" sz="2400" b="0" dirty="0">
                <a:solidFill>
                  <a:schemeClr val="tx1"/>
                </a:solidFill>
              </a:rPr>
              <a:t>还可以写成：</a:t>
            </a:r>
            <a:endParaRPr lang="zh-CN" altLang="en-US" sz="2400" b="0" dirty="0">
              <a:solidFill>
                <a:schemeClr val="tx1"/>
              </a:solidFill>
            </a:endParaRPr>
          </a:p>
          <a:p>
            <a:pPr eaLnBrk="1" hangingPunct="1">
              <a:lnSpc>
                <a:spcPct val="120000"/>
              </a:lnSpc>
              <a:buNone/>
            </a:pPr>
            <a:r>
              <a:rPr lang="zh-CN" altLang="en-US" sz="2400" dirty="0">
                <a:solidFill>
                  <a:schemeClr val="tx1"/>
                </a:solidFill>
              </a:rPr>
              <a:t>   </a:t>
            </a:r>
            <a:r>
              <a:rPr lang="en-US" altLang="zh-CN" sz="2400" b="0" dirty="0">
                <a:solidFill>
                  <a:schemeClr val="accent2"/>
                </a:solidFill>
                <a:latin typeface="Arial" panose="020B0604020202020204" pitchFamily="34" charset="0"/>
              </a:rPr>
              <a:t>CREATE TABLE</a:t>
            </a:r>
            <a:r>
              <a:rPr lang="en-US" altLang="zh-CN" sz="2400" b="0" dirty="0">
                <a:solidFill>
                  <a:schemeClr val="tx1"/>
                </a:solidFill>
                <a:latin typeface="Arial" panose="020B0604020202020204" pitchFamily="34" charset="0"/>
              </a:rPr>
              <a:t> SC (</a:t>
            </a:r>
            <a:endParaRPr lang="en-US" altLang="zh-CN" sz="2400" b="0" dirty="0">
              <a:solidFill>
                <a:schemeClr val="tx1"/>
              </a:solidFill>
              <a:latin typeface="Arial" panose="020B0604020202020204" pitchFamily="34" charset="0"/>
            </a:endParaRPr>
          </a:p>
          <a:p>
            <a:pPr eaLnBrk="1" hangingPunct="1">
              <a:lnSpc>
                <a:spcPct val="120000"/>
              </a:lnSpc>
              <a:buNone/>
            </a:pPr>
            <a:r>
              <a:rPr lang="en-US" altLang="zh-CN" sz="2400" b="0" dirty="0">
                <a:solidFill>
                  <a:schemeClr val="tx1"/>
                </a:solidFill>
                <a:latin typeface="Arial" panose="020B0604020202020204" pitchFamily="34" charset="0"/>
              </a:rPr>
              <a:t>         Sno    </a:t>
            </a:r>
            <a:r>
              <a:rPr lang="en-US" altLang="zh-CN" sz="2400" b="0" dirty="0">
                <a:solidFill>
                  <a:schemeClr val="accent2"/>
                </a:solidFill>
                <a:latin typeface="Arial" panose="020B0604020202020204" pitchFamily="34" charset="0"/>
              </a:rPr>
              <a:t>CHAR</a:t>
            </a:r>
            <a:r>
              <a:rPr lang="en-US" altLang="zh-CN" sz="2400" b="0" dirty="0">
                <a:solidFill>
                  <a:schemeClr val="tx1"/>
                </a:solidFill>
                <a:latin typeface="Arial" panose="020B0604020202020204" pitchFamily="34" charset="0"/>
              </a:rPr>
              <a:t>(9)  </a:t>
            </a:r>
            <a:r>
              <a:rPr lang="en-US" altLang="zh-CN" sz="2400" b="0" dirty="0">
                <a:solidFill>
                  <a:schemeClr val="accent2"/>
                </a:solidFill>
                <a:latin typeface="Arial" panose="020B0604020202020204" pitchFamily="34" charset="0"/>
              </a:rPr>
              <a:t>REFERENCES</a:t>
            </a:r>
            <a:r>
              <a:rPr lang="en-US" altLang="zh-CN" sz="2400" b="0" dirty="0">
                <a:solidFill>
                  <a:schemeClr val="tx1"/>
                </a:solidFill>
                <a:latin typeface="Arial" panose="020B0604020202020204" pitchFamily="34" charset="0"/>
              </a:rPr>
              <a:t> Student(Sno)</a:t>
            </a:r>
            <a:r>
              <a:rPr lang="zh-CN" altLang="en-US" sz="2400" b="0" dirty="0">
                <a:solidFill>
                  <a:schemeClr val="tx1"/>
                </a:solidFill>
                <a:latin typeface="Arial" panose="020B0604020202020204" pitchFamily="34" charset="0"/>
              </a:rPr>
              <a:t>， </a:t>
            </a:r>
            <a:endParaRPr lang="zh-CN" altLang="en-US" sz="2400" b="0" dirty="0">
              <a:solidFill>
                <a:schemeClr val="tx1"/>
              </a:solidFill>
              <a:latin typeface="Arial" panose="020B0604020202020204" pitchFamily="34" charset="0"/>
            </a:endParaRPr>
          </a:p>
          <a:p>
            <a:pPr eaLnBrk="1" hangingPunct="1">
              <a:lnSpc>
                <a:spcPct val="120000"/>
              </a:lnSpc>
              <a:buNone/>
            </a:pPr>
            <a:r>
              <a:rPr lang="zh-CN" altLang="en-US" sz="2400" b="0" dirty="0">
                <a:solidFill>
                  <a:schemeClr val="tx1"/>
                </a:solidFill>
                <a:latin typeface="Arial" panose="020B0604020202020204" pitchFamily="34" charset="0"/>
              </a:rPr>
              <a:t>         </a:t>
            </a:r>
            <a:r>
              <a:rPr lang="en-US" altLang="zh-CN" sz="2400" b="0" dirty="0">
                <a:solidFill>
                  <a:schemeClr val="tx1"/>
                </a:solidFill>
                <a:latin typeface="Arial" panose="020B0604020202020204" pitchFamily="34" charset="0"/>
              </a:rPr>
              <a:t>Cno     </a:t>
            </a:r>
            <a:r>
              <a:rPr lang="en-US" altLang="zh-CN" sz="2400" b="0" dirty="0">
                <a:solidFill>
                  <a:schemeClr val="accent2"/>
                </a:solidFill>
                <a:latin typeface="Arial" panose="020B0604020202020204" pitchFamily="34" charset="0"/>
              </a:rPr>
              <a:t>CHAR</a:t>
            </a:r>
            <a:r>
              <a:rPr lang="en-US" altLang="zh-CN" sz="2400" b="0" dirty="0">
                <a:solidFill>
                  <a:schemeClr val="tx1"/>
                </a:solidFill>
                <a:latin typeface="Arial" panose="020B0604020202020204" pitchFamily="34" charset="0"/>
              </a:rPr>
              <a:t>(4) </a:t>
            </a:r>
            <a:r>
              <a:rPr lang="en-US" altLang="zh-CN" sz="2400" b="0" dirty="0">
                <a:solidFill>
                  <a:schemeClr val="accent2"/>
                </a:solidFill>
                <a:latin typeface="Arial" panose="020B0604020202020204" pitchFamily="34" charset="0"/>
              </a:rPr>
              <a:t>REFERENCES</a:t>
            </a:r>
            <a:r>
              <a:rPr lang="en-US" altLang="zh-CN" sz="2400" b="0" dirty="0">
                <a:solidFill>
                  <a:schemeClr val="tx1"/>
                </a:solidFill>
                <a:latin typeface="Arial" panose="020B0604020202020204" pitchFamily="34" charset="0"/>
              </a:rPr>
              <a:t> Course(Cno)</a:t>
            </a:r>
            <a:r>
              <a:rPr lang="zh-CN" altLang="en-US" sz="2400" b="0" dirty="0">
                <a:solidFill>
                  <a:schemeClr val="tx1"/>
                </a:solidFill>
                <a:latin typeface="Arial" panose="020B0604020202020204" pitchFamily="34" charset="0"/>
              </a:rPr>
              <a:t>，  </a:t>
            </a:r>
            <a:endParaRPr lang="zh-CN" altLang="en-US" sz="2400" b="0" dirty="0">
              <a:solidFill>
                <a:schemeClr val="tx1"/>
              </a:solidFill>
              <a:latin typeface="Arial" panose="020B0604020202020204" pitchFamily="34" charset="0"/>
            </a:endParaRPr>
          </a:p>
          <a:p>
            <a:pPr eaLnBrk="1" hangingPunct="1">
              <a:lnSpc>
                <a:spcPct val="120000"/>
              </a:lnSpc>
              <a:buNone/>
            </a:pPr>
            <a:r>
              <a:rPr lang="zh-CN" altLang="en-US" sz="2400" b="0" dirty="0">
                <a:solidFill>
                  <a:schemeClr val="tx1"/>
                </a:solidFill>
                <a:latin typeface="Arial" panose="020B0604020202020204" pitchFamily="34" charset="0"/>
              </a:rPr>
              <a:t>         </a:t>
            </a:r>
            <a:r>
              <a:rPr lang="en-US" altLang="zh-CN" sz="2400" b="0" dirty="0">
                <a:solidFill>
                  <a:schemeClr val="tx1"/>
                </a:solidFill>
                <a:latin typeface="Arial" panose="020B0604020202020204" pitchFamily="34" charset="0"/>
              </a:rPr>
              <a:t>Grade    </a:t>
            </a:r>
            <a:r>
              <a:rPr lang="en-US" altLang="zh-CN" sz="2400" b="0" dirty="0">
                <a:solidFill>
                  <a:schemeClr val="accent2"/>
                </a:solidFill>
                <a:latin typeface="Arial" panose="020B0604020202020204" pitchFamily="34" charset="0"/>
              </a:rPr>
              <a:t>SMALLINT</a:t>
            </a:r>
            <a:r>
              <a:rPr lang="zh-CN" altLang="en-US" sz="2400" b="0" dirty="0">
                <a:solidFill>
                  <a:schemeClr val="tx1"/>
                </a:solidFill>
                <a:latin typeface="Arial" panose="020B0604020202020204" pitchFamily="34" charset="0"/>
              </a:rPr>
              <a:t>，</a:t>
            </a:r>
            <a:endParaRPr lang="zh-CN" altLang="en-US" sz="2400" b="0" dirty="0">
              <a:solidFill>
                <a:schemeClr val="tx1"/>
              </a:solidFill>
              <a:latin typeface="Arial" panose="020B0604020202020204" pitchFamily="34" charset="0"/>
            </a:endParaRPr>
          </a:p>
          <a:p>
            <a:pPr eaLnBrk="1" hangingPunct="1">
              <a:lnSpc>
                <a:spcPct val="120000"/>
              </a:lnSpc>
              <a:buNone/>
            </a:pPr>
            <a:r>
              <a:rPr lang="zh-CN" altLang="en-US"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PRIMARY KEY</a:t>
            </a:r>
            <a:r>
              <a:rPr lang="en-US" altLang="zh-CN" sz="2400" b="0" dirty="0">
                <a:solidFill>
                  <a:schemeClr val="tx1"/>
                </a:solidFill>
                <a:latin typeface="Arial" panose="020B0604020202020204" pitchFamily="34" charset="0"/>
              </a:rPr>
              <a:t> (Sno</a:t>
            </a:r>
            <a:r>
              <a:rPr lang="zh-CN" altLang="en-US" sz="2400" b="0" dirty="0">
                <a:solidFill>
                  <a:schemeClr val="tx1"/>
                </a:solidFill>
                <a:latin typeface="Arial" panose="020B0604020202020204" pitchFamily="34" charset="0"/>
              </a:rPr>
              <a:t>， </a:t>
            </a:r>
            <a:r>
              <a:rPr lang="en-US" altLang="zh-CN" sz="2400" b="0" dirty="0">
                <a:solidFill>
                  <a:schemeClr val="tx1"/>
                </a:solidFill>
                <a:latin typeface="Arial" panose="020B0604020202020204" pitchFamily="34" charset="0"/>
              </a:rPr>
              <a:t>Cno)</a:t>
            </a:r>
            <a:endParaRPr lang="en-US" altLang="zh-CN" sz="2400" b="0" dirty="0">
              <a:solidFill>
                <a:schemeClr val="tx1"/>
              </a:solidFill>
              <a:latin typeface="Arial" panose="020B0604020202020204" pitchFamily="34" charset="0"/>
            </a:endParaRPr>
          </a:p>
          <a:p>
            <a:pPr eaLnBrk="1" hangingPunct="1">
              <a:lnSpc>
                <a:spcPct val="120000"/>
              </a:lnSpc>
              <a:buNone/>
            </a:pP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120000"/>
              </a:lnSpc>
              <a:buNone/>
            </a:pPr>
            <a:endParaRPr lang="en-US" altLang="zh-CN" sz="2400" b="0" dirty="0">
              <a:solidFill>
                <a:schemeClr val="tx1"/>
              </a:solidFill>
              <a:latin typeface="Arial" panose="020B0604020202020204" pitchFamily="34" charset="0"/>
            </a:endParaRPr>
          </a:p>
          <a:p>
            <a:pPr eaLnBrk="1" hangingPunct="1">
              <a:lnSpc>
                <a:spcPct val="12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这似乎是最“经济”的写法了，不仅省略了</a:t>
            </a:r>
            <a:r>
              <a:rPr lang="en-US" altLang="zh-CN" sz="2400" b="0" dirty="0">
                <a:solidFill>
                  <a:schemeClr val="tx1"/>
                </a:solidFill>
                <a:latin typeface="Arial" panose="020B0604020202020204" pitchFamily="34" charset="0"/>
              </a:rPr>
              <a:t>constraint</a:t>
            </a:r>
            <a:r>
              <a:rPr lang="zh-CN" altLang="en-US" sz="2400" b="0" dirty="0">
                <a:solidFill>
                  <a:schemeClr val="tx1"/>
                </a:solidFill>
                <a:latin typeface="Arial" panose="020B0604020202020204" pitchFamily="34" charset="0"/>
              </a:rPr>
              <a:t>，还省略了</a:t>
            </a:r>
            <a:r>
              <a:rPr lang="en-US" altLang="zh-CN" sz="2400" b="0" dirty="0">
                <a:solidFill>
                  <a:schemeClr val="tx1"/>
                </a:solidFill>
                <a:latin typeface="Arial" panose="020B0604020202020204" pitchFamily="34" charset="0"/>
              </a:rPr>
              <a:t>foreign key </a:t>
            </a:r>
            <a:endParaRPr lang="en-US" altLang="zh-CN" sz="2400" b="0" dirty="0">
              <a:solidFill>
                <a:schemeClr val="tx1"/>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2772" name="Rectangle 3"/>
          <p:cNvSpPr>
            <a:spLocks noGrp="1"/>
          </p:cNvSpPr>
          <p:nvPr>
            <p:ph idx="1"/>
          </p:nvPr>
        </p:nvSpPr>
        <p:spPr>
          <a:xfrm>
            <a:off x="304800" y="765175"/>
            <a:ext cx="8382000" cy="5688013"/>
          </a:xfrm>
          <a:ln/>
        </p:spPr>
        <p:txBody>
          <a:bodyPr vert="horz" wrap="square" lIns="91440" tIns="45720" rIns="91440" bIns="45720" anchor="t" anchorCtr="0"/>
          <a:p>
            <a:pPr eaLnBrk="1" hangingPunct="1">
              <a:lnSpc>
                <a:spcPct val="120000"/>
              </a:lnSpc>
              <a:buNone/>
            </a:pPr>
            <a:r>
              <a:rPr lang="en-US" altLang="zh-CN" sz="2800" b="0" dirty="0">
                <a:solidFill>
                  <a:schemeClr val="tx1"/>
                </a:solidFill>
              </a:rPr>
              <a:t>	</a:t>
            </a:r>
            <a:r>
              <a:rPr lang="zh-CN" altLang="en-US" sz="2800" b="0" dirty="0">
                <a:solidFill>
                  <a:schemeClr val="tx1"/>
                </a:solidFill>
              </a:rPr>
              <a:t>［例</a:t>
            </a:r>
            <a:r>
              <a:rPr lang="en-US" altLang="zh-CN" sz="2800" b="0" dirty="0">
                <a:solidFill>
                  <a:schemeClr val="tx1"/>
                </a:solidFill>
              </a:rPr>
              <a:t>4</a:t>
            </a:r>
            <a:r>
              <a:rPr lang="zh-CN" altLang="en-US" sz="2800" b="0" dirty="0">
                <a:solidFill>
                  <a:schemeClr val="tx1"/>
                </a:solidFill>
              </a:rPr>
              <a:t>］  假使当初定义</a:t>
            </a:r>
            <a:r>
              <a:rPr lang="en-US" altLang="zh-CN" sz="2800" b="0" dirty="0">
                <a:solidFill>
                  <a:schemeClr val="tx1"/>
                </a:solidFill>
              </a:rPr>
              <a:t>SC(sno,cno,grade)</a:t>
            </a:r>
            <a:r>
              <a:rPr lang="zh-CN" altLang="en-US" sz="2800" b="0" dirty="0">
                <a:solidFill>
                  <a:schemeClr val="tx1"/>
                </a:solidFill>
              </a:rPr>
              <a:t>时，遗漏了参照完整性定义，现需补上，该怎么做？以下是当初的语句：</a:t>
            </a:r>
            <a:endParaRPr lang="zh-CN" altLang="en-US" sz="2800" b="0" dirty="0">
              <a:solidFill>
                <a:schemeClr val="tx1"/>
              </a:solidFill>
            </a:endParaRPr>
          </a:p>
          <a:p>
            <a:pPr eaLnBrk="1" hangingPunct="1">
              <a:lnSpc>
                <a:spcPct val="120000"/>
              </a:lnSpc>
              <a:buNone/>
            </a:pPr>
            <a:r>
              <a:rPr lang="zh-CN" altLang="en-US" sz="2000" dirty="0">
                <a:solidFill>
                  <a:schemeClr val="tx1"/>
                </a:solidFill>
              </a:rPr>
              <a:t>   	</a:t>
            </a:r>
            <a:r>
              <a:rPr lang="en-US" altLang="zh-CN" sz="2000" b="0" dirty="0">
                <a:solidFill>
                  <a:schemeClr val="accent2"/>
                </a:solidFill>
                <a:latin typeface="Arial" panose="020B0604020202020204" pitchFamily="34" charset="0"/>
              </a:rPr>
              <a:t>CREATE TABLE</a:t>
            </a:r>
            <a:r>
              <a:rPr lang="en-US" altLang="zh-CN" sz="2000" b="0" dirty="0">
                <a:solidFill>
                  <a:schemeClr val="tx1"/>
                </a:solidFill>
                <a:latin typeface="Arial" panose="020B0604020202020204" pitchFamily="34" charset="0"/>
              </a:rPr>
              <a:t> SC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Sno    </a:t>
            </a:r>
            <a:r>
              <a:rPr lang="en-US" altLang="zh-CN" sz="2000" b="0" dirty="0">
                <a:solidFill>
                  <a:schemeClr val="accent2"/>
                </a:solidFill>
                <a:latin typeface="Arial" panose="020B0604020202020204" pitchFamily="34" charset="0"/>
              </a:rPr>
              <a:t>CHAR</a:t>
            </a:r>
            <a:r>
              <a:rPr lang="en-US" altLang="zh-CN" sz="2000" b="0" dirty="0">
                <a:solidFill>
                  <a:schemeClr val="tx1"/>
                </a:solidFill>
                <a:latin typeface="Arial" panose="020B0604020202020204" pitchFamily="34" charset="0"/>
              </a:rPr>
              <a:t>(9) </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Cno     </a:t>
            </a:r>
            <a:r>
              <a:rPr lang="en-US" altLang="zh-CN" sz="2000" b="0" dirty="0">
                <a:solidFill>
                  <a:schemeClr val="accent2"/>
                </a:solidFill>
                <a:latin typeface="Arial" panose="020B0604020202020204" pitchFamily="34" charset="0"/>
              </a:rPr>
              <a:t>CHAR</a:t>
            </a:r>
            <a:r>
              <a:rPr lang="en-US" altLang="zh-CN" sz="2000" b="0" dirty="0">
                <a:solidFill>
                  <a:schemeClr val="tx1"/>
                </a:solidFill>
                <a:latin typeface="Arial" panose="020B0604020202020204" pitchFamily="34" charset="0"/>
              </a:rPr>
              <a:t>(4)</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Grade    </a:t>
            </a:r>
            <a:r>
              <a:rPr lang="en-US" altLang="zh-CN" sz="2000" b="0" dirty="0">
                <a:solidFill>
                  <a:schemeClr val="accent2"/>
                </a:solidFill>
                <a:latin typeface="Arial" panose="020B0604020202020204" pitchFamily="34" charset="0"/>
              </a:rPr>
              <a:t>SMALLINT</a:t>
            </a:r>
            <a:r>
              <a:rPr lang="zh-CN" altLang="en-US" sz="2000" b="0" dirty="0">
                <a:solidFill>
                  <a:schemeClr val="tx1"/>
                </a:solidFill>
                <a:latin typeface="Arial" panose="020B0604020202020204" pitchFamily="34" charset="0"/>
              </a:rPr>
              <a:t>，</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accent2"/>
                </a:solidFill>
                <a:latin typeface="Arial" panose="020B0604020202020204" pitchFamily="34" charset="0"/>
              </a:rPr>
              <a:t>PRIMARY KEY</a:t>
            </a:r>
            <a:r>
              <a:rPr lang="en-US" altLang="zh-CN" sz="2000" b="0" dirty="0">
                <a:solidFill>
                  <a:schemeClr val="tx1"/>
                </a:solidFill>
                <a:latin typeface="Arial" panose="020B0604020202020204" pitchFamily="34" charset="0"/>
              </a:rPr>
              <a:t> (Sno</a:t>
            </a: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Cno)</a:t>
            </a: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a:t>
            </a:r>
            <a:r>
              <a:rPr lang="zh-CN" altLang="en-US" sz="2000" b="0" dirty="0">
                <a:solidFill>
                  <a:schemeClr val="tx1"/>
                </a:solidFill>
                <a:latin typeface="Arial" panose="020B0604020202020204" pitchFamily="34" charset="0"/>
              </a:rPr>
              <a:t>在表级定义实体完整性*</a:t>
            </a:r>
            <a:r>
              <a:rPr lang="en-US" altLang="zh-CN" sz="2000" b="0" dirty="0">
                <a:solidFill>
                  <a:schemeClr val="tx1"/>
                </a:solidFill>
                <a:latin typeface="Arial" panose="020B0604020202020204" pitchFamily="34" charset="0"/>
              </a:rPr>
              <a:t>/</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endParaRPr lang="en-US" altLang="zh-CN" sz="2000" b="0" dirty="0">
              <a:solidFill>
                <a:schemeClr val="tx1"/>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3796" name="Rectangle 3"/>
          <p:cNvSpPr>
            <a:spLocks noGrp="1"/>
          </p:cNvSpPr>
          <p:nvPr>
            <p:ph idx="1"/>
          </p:nvPr>
        </p:nvSpPr>
        <p:spPr>
          <a:xfrm>
            <a:off x="304800" y="765175"/>
            <a:ext cx="8382000" cy="5688013"/>
          </a:xfrm>
          <a:ln/>
        </p:spPr>
        <p:txBody>
          <a:bodyPr vert="horz" wrap="square" lIns="91440" tIns="45720" rIns="91440" bIns="45720" anchor="t" anchorCtr="0"/>
          <a:p>
            <a:pPr eaLnBrk="1" hangingPunct="1">
              <a:lnSpc>
                <a:spcPct val="120000"/>
              </a:lnSpc>
              <a:buNone/>
            </a:pPr>
            <a:r>
              <a:rPr lang="en-US" altLang="zh-CN" sz="2800" b="0" dirty="0">
                <a:solidFill>
                  <a:schemeClr val="tx1"/>
                </a:solidFill>
              </a:rPr>
              <a:t>	【</a:t>
            </a:r>
            <a:r>
              <a:rPr lang="zh-CN" altLang="en-US" sz="2800" b="0" dirty="0">
                <a:solidFill>
                  <a:schemeClr val="tx1"/>
                </a:solidFill>
              </a:rPr>
              <a:t>例</a:t>
            </a:r>
            <a:r>
              <a:rPr lang="en-US" altLang="zh-CN" sz="2800" b="0" dirty="0">
                <a:solidFill>
                  <a:schemeClr val="tx1"/>
                </a:solidFill>
              </a:rPr>
              <a:t>4】  </a:t>
            </a:r>
            <a:r>
              <a:rPr lang="zh-CN" altLang="en-US" sz="2800" b="0" dirty="0">
                <a:solidFill>
                  <a:schemeClr val="tx1"/>
                </a:solidFill>
              </a:rPr>
              <a:t>假使当初定义</a:t>
            </a:r>
            <a:r>
              <a:rPr lang="en-US" altLang="zh-CN" sz="2800" b="0" dirty="0">
                <a:solidFill>
                  <a:schemeClr val="tx1"/>
                </a:solidFill>
              </a:rPr>
              <a:t>SC(sno,cno,grade)</a:t>
            </a:r>
            <a:r>
              <a:rPr lang="zh-CN" altLang="en-US" sz="2800" b="0" dirty="0">
                <a:solidFill>
                  <a:schemeClr val="tx1"/>
                </a:solidFill>
              </a:rPr>
              <a:t>时，遗漏了参照完整性定义，现需补上，该怎么做？以下是当初的语句：</a:t>
            </a:r>
            <a:endParaRPr lang="zh-CN" altLang="en-US" sz="2800" b="0" dirty="0">
              <a:solidFill>
                <a:schemeClr val="tx1"/>
              </a:solidFill>
            </a:endParaRPr>
          </a:p>
          <a:p>
            <a:pPr eaLnBrk="1" hangingPunct="1">
              <a:lnSpc>
                <a:spcPct val="120000"/>
              </a:lnSpc>
              <a:buNone/>
            </a:pPr>
            <a:r>
              <a:rPr lang="zh-CN" altLang="en-US" sz="2000" dirty="0">
                <a:solidFill>
                  <a:schemeClr val="tx1"/>
                </a:solidFill>
              </a:rPr>
              <a:t>   	</a:t>
            </a:r>
            <a:r>
              <a:rPr lang="en-US" altLang="zh-CN" sz="2000" b="0" dirty="0">
                <a:solidFill>
                  <a:schemeClr val="accent2"/>
                </a:solidFill>
                <a:latin typeface="Arial" panose="020B0604020202020204" pitchFamily="34" charset="0"/>
              </a:rPr>
              <a:t>CREATE TABLE</a:t>
            </a:r>
            <a:r>
              <a:rPr lang="en-US" altLang="zh-CN" sz="2000" b="0" dirty="0">
                <a:solidFill>
                  <a:schemeClr val="tx1"/>
                </a:solidFill>
                <a:latin typeface="Arial" panose="020B0604020202020204" pitchFamily="34" charset="0"/>
              </a:rPr>
              <a:t> SC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Sno    </a:t>
            </a:r>
            <a:r>
              <a:rPr lang="en-US" altLang="zh-CN" sz="2000" b="0" dirty="0">
                <a:solidFill>
                  <a:schemeClr val="accent2"/>
                </a:solidFill>
                <a:latin typeface="Arial" panose="020B0604020202020204" pitchFamily="34" charset="0"/>
              </a:rPr>
              <a:t>CHAR</a:t>
            </a:r>
            <a:r>
              <a:rPr lang="en-US" altLang="zh-CN" sz="2000" b="0" dirty="0">
                <a:solidFill>
                  <a:schemeClr val="tx1"/>
                </a:solidFill>
                <a:latin typeface="Arial" panose="020B0604020202020204" pitchFamily="34" charset="0"/>
              </a:rPr>
              <a:t>(9) </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Cno     </a:t>
            </a:r>
            <a:r>
              <a:rPr lang="en-US" altLang="zh-CN" sz="2000" b="0" dirty="0">
                <a:solidFill>
                  <a:schemeClr val="accent2"/>
                </a:solidFill>
                <a:latin typeface="Arial" panose="020B0604020202020204" pitchFamily="34" charset="0"/>
              </a:rPr>
              <a:t>CHAR</a:t>
            </a:r>
            <a:r>
              <a:rPr lang="en-US" altLang="zh-CN" sz="2000" b="0" dirty="0">
                <a:solidFill>
                  <a:schemeClr val="tx1"/>
                </a:solidFill>
                <a:latin typeface="Arial" panose="020B0604020202020204" pitchFamily="34" charset="0"/>
              </a:rPr>
              <a:t>(4)</a:t>
            </a:r>
            <a:r>
              <a:rPr lang="zh-CN" altLang="en-US" sz="2000" b="0" dirty="0">
                <a:solidFill>
                  <a:schemeClr val="tx1"/>
                </a:solidFill>
                <a:latin typeface="Arial" panose="020B0604020202020204" pitchFamily="34" charset="0"/>
              </a:rPr>
              <a:t>，  </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Grade    </a:t>
            </a:r>
            <a:r>
              <a:rPr lang="en-US" altLang="zh-CN" sz="2000" b="0" dirty="0">
                <a:solidFill>
                  <a:schemeClr val="accent2"/>
                </a:solidFill>
                <a:latin typeface="Arial" panose="020B0604020202020204" pitchFamily="34" charset="0"/>
              </a:rPr>
              <a:t>SMALLINT</a:t>
            </a:r>
            <a:r>
              <a:rPr lang="zh-CN" altLang="en-US" sz="2000" b="0" dirty="0">
                <a:solidFill>
                  <a:schemeClr val="tx1"/>
                </a:solidFill>
                <a:latin typeface="Arial" panose="020B0604020202020204" pitchFamily="34" charset="0"/>
              </a:rPr>
              <a:t>，</a:t>
            </a:r>
            <a:endParaRPr lang="zh-CN" altLang="en-US" sz="2000" b="0" dirty="0">
              <a:solidFill>
                <a:schemeClr val="tx1"/>
              </a:solidFill>
              <a:latin typeface="Arial" panose="020B0604020202020204" pitchFamily="34" charset="0"/>
            </a:endParaRPr>
          </a:p>
          <a:p>
            <a:pPr eaLnBrk="1" hangingPunct="1">
              <a:lnSpc>
                <a:spcPct val="120000"/>
              </a:lnSpc>
              <a:buNone/>
            </a:pPr>
            <a:r>
              <a:rPr lang="zh-CN" altLang="en-US" sz="2000" b="0" dirty="0">
                <a:solidFill>
                  <a:schemeClr val="tx1"/>
                </a:solidFill>
                <a:latin typeface="Arial" panose="020B0604020202020204" pitchFamily="34" charset="0"/>
              </a:rPr>
              <a:t>            </a:t>
            </a:r>
            <a:r>
              <a:rPr lang="en-US" altLang="zh-CN" sz="2000" b="0" dirty="0">
                <a:solidFill>
                  <a:schemeClr val="accent2"/>
                </a:solidFill>
                <a:latin typeface="Arial" panose="020B0604020202020204" pitchFamily="34" charset="0"/>
              </a:rPr>
              <a:t>PRIMARY KEY</a:t>
            </a:r>
            <a:r>
              <a:rPr lang="en-US" altLang="zh-CN" sz="2000" b="0" dirty="0">
                <a:solidFill>
                  <a:schemeClr val="tx1"/>
                </a:solidFill>
                <a:latin typeface="Arial" panose="020B0604020202020204" pitchFamily="34" charset="0"/>
              </a:rPr>
              <a:t> (Sno</a:t>
            </a: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Cno)</a:t>
            </a:r>
            <a:r>
              <a:rPr lang="zh-CN" altLang="en-US" sz="2000" b="0" dirty="0">
                <a:solidFill>
                  <a:schemeClr val="tx1"/>
                </a:solidFill>
                <a:latin typeface="Arial" panose="020B0604020202020204" pitchFamily="34" charset="0"/>
              </a:rPr>
              <a:t>，   </a:t>
            </a:r>
            <a:r>
              <a:rPr lang="en-US" altLang="zh-CN" sz="2000" b="0" dirty="0">
                <a:solidFill>
                  <a:schemeClr val="tx1"/>
                </a:solidFill>
                <a:latin typeface="Arial" panose="020B0604020202020204" pitchFamily="34" charset="0"/>
              </a:rPr>
              <a:t>/*</a:t>
            </a:r>
            <a:r>
              <a:rPr lang="zh-CN" altLang="en-US" sz="2000" b="0" dirty="0">
                <a:solidFill>
                  <a:schemeClr val="tx1"/>
                </a:solidFill>
                <a:latin typeface="Arial" panose="020B0604020202020204" pitchFamily="34" charset="0"/>
              </a:rPr>
              <a:t>在表级定义实体完整性*</a:t>
            </a:r>
            <a:r>
              <a:rPr lang="en-US" altLang="zh-CN" sz="2000" b="0" dirty="0">
                <a:solidFill>
                  <a:schemeClr val="tx1"/>
                </a:solidFill>
                <a:latin typeface="Arial" panose="020B0604020202020204" pitchFamily="34" charset="0"/>
              </a:rPr>
              <a:t>/</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sz="2000" b="0" dirty="0">
                <a:solidFill>
                  <a:schemeClr val="tx1"/>
                </a:solidFill>
                <a:latin typeface="Arial" panose="020B0604020202020204" pitchFamily="34" charset="0"/>
              </a:rPr>
              <a:t>     </a:t>
            </a:r>
            <a:endParaRPr lang="en-US" altLang="zh-CN" sz="2000" b="0" dirty="0">
              <a:solidFill>
                <a:schemeClr val="tx1"/>
              </a:solidFill>
              <a:latin typeface="Arial" panose="020B0604020202020204" pitchFamily="34" charset="0"/>
            </a:endParaRPr>
          </a:p>
          <a:p>
            <a:pPr eaLnBrk="1" hangingPunct="1">
              <a:lnSpc>
                <a:spcPct val="120000"/>
              </a:lnSpc>
              <a:buNone/>
            </a:pPr>
            <a:r>
              <a:rPr lang="en-US" altLang="zh-CN" b="0" dirty="0">
                <a:solidFill>
                  <a:schemeClr val="tx1"/>
                </a:solidFill>
                <a:latin typeface="Arial" panose="020B0604020202020204" pitchFamily="34" charset="0"/>
              </a:rPr>
              <a:t>	</a:t>
            </a:r>
            <a:r>
              <a:rPr lang="zh-CN" altLang="en-US" b="0" dirty="0">
                <a:solidFill>
                  <a:schemeClr val="tx1"/>
                </a:solidFill>
                <a:latin typeface="Arial" panose="020B0604020202020204" pitchFamily="34" charset="0"/>
              </a:rPr>
              <a:t>还是先回忆一下</a:t>
            </a:r>
            <a:r>
              <a:rPr lang="en-US" altLang="zh-CN" b="0" dirty="0">
                <a:solidFill>
                  <a:schemeClr val="tx1"/>
                </a:solidFill>
                <a:latin typeface="Arial" panose="020B0604020202020204" pitchFamily="34" charset="0"/>
              </a:rPr>
              <a:t>Alter table</a:t>
            </a:r>
            <a:r>
              <a:rPr lang="zh-CN" altLang="en-US" b="0" dirty="0">
                <a:solidFill>
                  <a:schemeClr val="tx1"/>
                </a:solidFill>
                <a:latin typeface="Arial" panose="020B0604020202020204" pitchFamily="34" charset="0"/>
              </a:rPr>
              <a:t>的用法吧</a:t>
            </a:r>
            <a:endParaRPr lang="zh-CN" altLang="en-US" b="0" dirty="0">
              <a:solidFill>
                <a:schemeClr val="tx1"/>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4820" name="Rectangle 3"/>
          <p:cNvSpPr>
            <a:spLocks noGrp="1"/>
          </p:cNvSpPr>
          <p:nvPr>
            <p:ph idx="1"/>
          </p:nvPr>
        </p:nvSpPr>
        <p:spPr>
          <a:xfrm>
            <a:off x="323850" y="908050"/>
            <a:ext cx="8494713" cy="5334000"/>
          </a:xfrm>
          <a:ln/>
        </p:spPr>
        <p:txBody>
          <a:bodyPr vert="horz" wrap="square" lIns="91440" tIns="45720" rIns="91440" bIns="45720" anchor="t" anchorCtr="0"/>
          <a:p>
            <a:pPr eaLnBrk="1" hangingPunct="1">
              <a:buNone/>
            </a:pPr>
            <a:r>
              <a:rPr lang="en-US" altLang="zh-CN" sz="2800" b="0" dirty="0">
                <a:solidFill>
                  <a:schemeClr val="accent2"/>
                </a:solidFill>
                <a:latin typeface="Arial" panose="020B0604020202020204" pitchFamily="34" charset="0"/>
              </a:rPr>
              <a:t>ALTER TABLE</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表名 </a:t>
            </a:r>
            <a:endParaRPr lang="zh-CN" altLang="en-US"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ALTER COLUMN</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列名 </a:t>
            </a:r>
            <a:endParaRPr lang="zh-CN" altLang="en-US" sz="2800" b="0" dirty="0">
              <a:solidFill>
                <a:schemeClr val="tx1"/>
              </a:solidFill>
              <a:latin typeface="Arial" panose="020B0604020202020204" pitchFamily="34" charset="0"/>
            </a:endParaRPr>
          </a:p>
          <a:p>
            <a:pPr eaLnBrk="1" hangingPunct="1">
              <a:buNone/>
            </a:pPr>
            <a:r>
              <a:rPr lang="zh-CN" altLang="en-US" sz="2800" b="0" dirty="0">
                <a:solidFill>
                  <a:schemeClr val="tx1"/>
                </a:solidFill>
                <a:latin typeface="Arial" panose="020B0604020202020204" pitchFamily="34" charset="0"/>
              </a:rPr>
              <a:t>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数据类型 </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精度</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小数位数</a:t>
            </a:r>
            <a:r>
              <a:rPr lang="en-US" altLang="zh-CN" sz="2800" b="0" dirty="0">
                <a:solidFill>
                  <a:schemeClr val="tx1"/>
                </a:solidFill>
                <a:latin typeface="Arial" panose="020B0604020202020204" pitchFamily="34" charset="0"/>
              </a:rPr>
              <a:t>]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NULL | NOT NULL ]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ADD</a:t>
            </a:r>
            <a:r>
              <a:rPr lang="en-US" altLang="zh-CN" sz="2800" b="0" dirty="0">
                <a:solidFill>
                  <a:schemeClr val="tx1"/>
                </a:solidFill>
                <a:latin typeface="Arial" panose="020B0604020202020204" pitchFamily="34" charset="0"/>
              </a:rPr>
              <a:t> { [ &lt;</a:t>
            </a:r>
            <a:r>
              <a:rPr lang="zh-CN" altLang="en-US" sz="2800" b="0" dirty="0">
                <a:solidFill>
                  <a:schemeClr val="tx1"/>
                </a:solidFill>
                <a:latin typeface="Arial" panose="020B0604020202020204" pitchFamily="34" charset="0"/>
              </a:rPr>
              <a:t>列定义</a:t>
            </a:r>
            <a:r>
              <a:rPr lang="en-US" altLang="zh-CN" sz="2800" b="0" dirty="0">
                <a:solidFill>
                  <a:schemeClr val="tx1"/>
                </a:solidFill>
                <a:latin typeface="Arial" panose="020B0604020202020204" pitchFamily="34" charset="0"/>
              </a:rPr>
              <a:t>&gt; ] } [ ,...n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ADD</a:t>
            </a:r>
            <a:r>
              <a:rPr lang="en-US" altLang="zh-CN" sz="2800" b="0" dirty="0">
                <a:solidFill>
                  <a:schemeClr val="tx1"/>
                </a:solidFill>
                <a:latin typeface="Arial" panose="020B0604020202020204" pitchFamily="34" charset="0"/>
              </a:rPr>
              <a:t> { &lt;</a:t>
            </a:r>
            <a:r>
              <a:rPr lang="zh-CN" altLang="en-US" sz="2800" b="0" dirty="0">
                <a:solidFill>
                  <a:schemeClr val="tx1"/>
                </a:solidFill>
                <a:latin typeface="Arial" panose="020B0604020202020204" pitchFamily="34" charset="0"/>
              </a:rPr>
              <a:t>表约束</a:t>
            </a:r>
            <a:r>
              <a:rPr lang="en-US" altLang="zh-CN" sz="2800" b="0" dirty="0">
                <a:solidFill>
                  <a:schemeClr val="tx1"/>
                </a:solidFill>
                <a:latin typeface="Arial" panose="020B0604020202020204" pitchFamily="34" charset="0"/>
              </a:rPr>
              <a:t>&gt; } [ ,...n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DROP</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CONSTRAINT</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约束名 </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COLUMN</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列名 </a:t>
            </a:r>
            <a:r>
              <a:rPr lang="en-US" altLang="zh-CN" sz="2800" b="0" dirty="0">
                <a:solidFill>
                  <a:schemeClr val="tx1"/>
                </a:solidFill>
                <a:latin typeface="Arial" panose="020B0604020202020204" pitchFamily="34" charset="0"/>
              </a:rPr>
              <a:t>}[ ,...n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
        <p:nvSpPr>
          <p:cNvPr id="34821" name="Line 4"/>
          <p:cNvSpPr/>
          <p:nvPr/>
        </p:nvSpPr>
        <p:spPr>
          <a:xfrm>
            <a:off x="611188" y="4005263"/>
            <a:ext cx="4176712"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5844"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20000"/>
              </a:lnSpc>
              <a:buClr>
                <a:srgbClr val="0000FF"/>
              </a:buClr>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列约束</a:t>
            </a:r>
            <a:r>
              <a:rPr lang="en-US" altLang="zh-CN" sz="2800" b="0" dirty="0">
                <a:solidFill>
                  <a:schemeClr val="tx1"/>
                </a:solidFill>
                <a:latin typeface="Arial" panose="020B0604020202020204" pitchFamily="34" charset="0"/>
              </a:rPr>
              <a:t>&gt; ::= [</a:t>
            </a:r>
            <a:r>
              <a:rPr lang="en-US" altLang="zh-CN" sz="2800" b="0" dirty="0">
                <a:solidFill>
                  <a:schemeClr val="accent2"/>
                </a:solidFill>
                <a:latin typeface="Arial" panose="020B0604020202020204" pitchFamily="34" charset="0"/>
              </a:rPr>
              <a:t> 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NULL | NOT NULL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UNIQUE </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 </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被引用的列 </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CHECK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p:txBody>
      </p:sp>
      <p:sp>
        <p:nvSpPr>
          <p:cNvPr id="35845" name="Line 4"/>
          <p:cNvSpPr/>
          <p:nvPr/>
        </p:nvSpPr>
        <p:spPr>
          <a:xfrm>
            <a:off x="669925" y="3817938"/>
            <a:ext cx="8005763" cy="0"/>
          </a:xfrm>
          <a:prstGeom prst="line">
            <a:avLst/>
          </a:prstGeom>
          <a:ln w="38100" cap="flat" cmpd="sng">
            <a:solidFill>
              <a:srgbClr val="FF0000"/>
            </a:solidFill>
            <a:prstDash val="solid"/>
            <a:headEnd type="none" w="med" len="med"/>
            <a:tailEnd type="none" w="med" len="med"/>
          </a:ln>
        </p:spPr>
      </p:sp>
      <p:sp>
        <p:nvSpPr>
          <p:cNvPr id="35846" name="Line 5"/>
          <p:cNvSpPr/>
          <p:nvPr/>
        </p:nvSpPr>
        <p:spPr>
          <a:xfrm>
            <a:off x="620713" y="4302125"/>
            <a:ext cx="1512887" cy="0"/>
          </a:xfrm>
          <a:prstGeom prst="line">
            <a:avLst/>
          </a:prstGeom>
          <a:ln w="38100" cap="flat" cmpd="sng">
            <a:solidFill>
              <a:srgbClr val="FF0000"/>
            </a:solidFill>
            <a:prstDash val="solid"/>
            <a:headEnd type="none" w="med" len="med"/>
            <a:tailEnd type="none" w="med" len="med"/>
          </a:ln>
        </p:spPr>
      </p:sp>
      <p:sp>
        <p:nvSpPr>
          <p:cNvPr id="35847" name="Line 6"/>
          <p:cNvSpPr/>
          <p:nvPr/>
        </p:nvSpPr>
        <p:spPr>
          <a:xfrm>
            <a:off x="971550" y="4941888"/>
            <a:ext cx="6480175" cy="0"/>
          </a:xfrm>
          <a:prstGeom prst="line">
            <a:avLst/>
          </a:prstGeom>
          <a:ln w="38100" cap="flat" cmpd="sng">
            <a:solidFill>
              <a:srgbClr val="FF0000"/>
            </a:solidFill>
            <a:prstDash val="solid"/>
            <a:headEnd type="none" w="med" len="med"/>
            <a:tailEnd type="none" w="med" len="med"/>
          </a:ln>
        </p:spPr>
      </p:sp>
      <p:sp>
        <p:nvSpPr>
          <p:cNvPr id="35848" name="Line 7"/>
          <p:cNvSpPr/>
          <p:nvPr/>
        </p:nvSpPr>
        <p:spPr>
          <a:xfrm>
            <a:off x="971550" y="5516563"/>
            <a:ext cx="6840538"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6867"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6868"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表约束</a:t>
            </a:r>
            <a:r>
              <a:rPr lang="en-US" altLang="zh-CN" sz="2800" b="0" dirty="0">
                <a:solidFill>
                  <a:schemeClr val="tx1"/>
                </a:solidFill>
                <a:latin typeface="Arial" panose="020B0604020202020204" pitchFamily="34" charset="0"/>
              </a:rPr>
              <a:t>&gt; ::= [ </a:t>
            </a:r>
            <a:r>
              <a:rPr lang="en-US" altLang="zh-CN" sz="2800" b="0" dirty="0">
                <a:solidFill>
                  <a:schemeClr val="accent2"/>
                </a:solidFill>
                <a:latin typeface="Arial" panose="020B0604020202020204" pitchFamily="34" charset="0"/>
              </a:rPr>
              <a:t>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 </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ASC</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DESC</a:t>
            </a:r>
            <a:r>
              <a:rPr lang="en-US" altLang="zh-CN" sz="2800" b="0" dirty="0">
                <a:solidFill>
                  <a:schemeClr val="tx1"/>
                </a:solidFill>
                <a:latin typeface="Arial" panose="020B0604020202020204" pitchFamily="34" charset="0"/>
              </a:rPr>
              <a:t> ] [ ,...n ] )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被引用列</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DEFAULT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常量表达式  </a:t>
            </a:r>
            <a:r>
              <a:rPr lang="zh-CN" altLang="en-US" sz="2800" b="0" dirty="0">
                <a:solidFill>
                  <a:schemeClr val="accent2"/>
                </a:solidFill>
                <a:latin typeface="Arial" panose="020B0604020202020204" pitchFamily="34" charset="0"/>
              </a:rPr>
              <a:t> </a:t>
            </a:r>
            <a:r>
              <a:rPr lang="en-US" altLang="zh-CN" sz="2800" b="0" dirty="0">
                <a:solidFill>
                  <a:schemeClr val="accent2"/>
                </a:solidFill>
                <a:latin typeface="Arial" panose="020B0604020202020204" pitchFamily="34" charset="0"/>
              </a:rPr>
              <a:t>FOR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列名</a:t>
            </a:r>
            <a:endParaRPr lang="zh-CN" altLang="en-US" sz="2800" b="0" dirty="0">
              <a:solidFill>
                <a:schemeClr val="tx1"/>
              </a:solidFill>
              <a:latin typeface="Arial" panose="020B0604020202020204" pitchFamily="34" charset="0"/>
            </a:endParaRPr>
          </a:p>
          <a:p>
            <a:pPr eaLnBrk="1" hangingPunct="1">
              <a:buNone/>
            </a:pPr>
            <a:r>
              <a:rPr lang="zh-CN" altLang="en-US" sz="2800" b="0" dirty="0">
                <a:solidFill>
                  <a:schemeClr val="tx1"/>
                </a:solidFill>
                <a:latin typeface="Arial" panose="020B0604020202020204" pitchFamily="34" charset="0"/>
              </a:rPr>
              <a:t>    </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CHECK</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
        <p:nvSpPr>
          <p:cNvPr id="36869" name="Line 4"/>
          <p:cNvSpPr/>
          <p:nvPr/>
        </p:nvSpPr>
        <p:spPr>
          <a:xfrm>
            <a:off x="827088" y="3500438"/>
            <a:ext cx="5040312" cy="0"/>
          </a:xfrm>
          <a:prstGeom prst="line">
            <a:avLst/>
          </a:prstGeom>
          <a:ln w="38100" cap="flat" cmpd="sng">
            <a:solidFill>
              <a:srgbClr val="FF0000"/>
            </a:solidFill>
            <a:prstDash val="solid"/>
            <a:headEnd type="none" w="med" len="med"/>
            <a:tailEnd type="none" w="med" len="med"/>
          </a:ln>
        </p:spPr>
      </p:sp>
      <p:sp>
        <p:nvSpPr>
          <p:cNvPr id="36870" name="Line 5"/>
          <p:cNvSpPr/>
          <p:nvPr/>
        </p:nvSpPr>
        <p:spPr>
          <a:xfrm>
            <a:off x="1062038" y="3971925"/>
            <a:ext cx="6985000" cy="0"/>
          </a:xfrm>
          <a:prstGeom prst="line">
            <a:avLst/>
          </a:prstGeom>
          <a:ln w="38100" cap="flat" cmpd="sng">
            <a:solidFill>
              <a:srgbClr val="FF0000"/>
            </a:solidFill>
            <a:prstDash val="solid"/>
            <a:headEnd type="none" w="med" len="med"/>
            <a:tailEnd type="none" w="med" len="med"/>
          </a:ln>
        </p:spPr>
      </p:sp>
      <p:sp>
        <p:nvSpPr>
          <p:cNvPr id="36871" name="Line 6"/>
          <p:cNvSpPr/>
          <p:nvPr/>
        </p:nvSpPr>
        <p:spPr>
          <a:xfrm>
            <a:off x="1116013" y="4508500"/>
            <a:ext cx="6985000" cy="0"/>
          </a:xfrm>
          <a:prstGeom prst="line">
            <a:avLst/>
          </a:prstGeom>
          <a:ln w="38100" cap="flat" cmpd="sng">
            <a:solidFill>
              <a:srgbClr val="FF0000"/>
            </a:solidFill>
            <a:prstDash val="solid"/>
            <a:headEnd type="none" w="med" len="med"/>
            <a:tailEnd type="none" w="med" len="med"/>
          </a:ln>
        </p:spPr>
      </p:sp>
      <p:sp>
        <p:nvSpPr>
          <p:cNvPr id="36872" name="Line 7"/>
          <p:cNvSpPr/>
          <p:nvPr/>
        </p:nvSpPr>
        <p:spPr>
          <a:xfrm>
            <a:off x="1116013" y="5013325"/>
            <a:ext cx="6985000"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78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5.2.1  </a:t>
            </a:r>
            <a:r>
              <a:rPr lang="zh-CN" altLang="en-US" sz="3200" dirty="0"/>
              <a:t>参照完整性定义</a:t>
            </a:r>
            <a:endParaRPr lang="zh-CN" altLang="en-US" sz="3200" dirty="0"/>
          </a:p>
        </p:txBody>
      </p:sp>
      <p:sp>
        <p:nvSpPr>
          <p:cNvPr id="37892" name="Rectangle 3"/>
          <p:cNvSpPr>
            <a:spLocks noGrp="1"/>
          </p:cNvSpPr>
          <p:nvPr>
            <p:ph idx="1"/>
          </p:nvPr>
        </p:nvSpPr>
        <p:spPr>
          <a:xfrm>
            <a:off x="304800" y="765175"/>
            <a:ext cx="8382000" cy="5688013"/>
          </a:xfrm>
          <a:ln/>
        </p:spPr>
        <p:txBody>
          <a:bodyPr vert="horz" wrap="square" lIns="91440" tIns="45720" rIns="91440" bIns="45720" anchor="t" anchorCtr="0"/>
          <a:p>
            <a:pPr eaLnBrk="1" hangingPunct="1">
              <a:lnSpc>
                <a:spcPct val="120000"/>
              </a:lnSpc>
              <a:buNone/>
            </a:pPr>
            <a:r>
              <a:rPr lang="en-US" altLang="zh-CN" sz="4000" b="0" dirty="0">
                <a:solidFill>
                  <a:schemeClr val="accent2"/>
                </a:solidFill>
              </a:rPr>
              <a:t>alter table</a:t>
            </a:r>
            <a:r>
              <a:rPr lang="en-US" altLang="zh-CN" sz="4000" b="0" dirty="0">
                <a:solidFill>
                  <a:schemeClr val="tx1"/>
                </a:solidFill>
              </a:rPr>
              <a:t> sc  </a:t>
            </a:r>
            <a:r>
              <a:rPr lang="en-US" altLang="zh-CN" sz="4000" b="0" dirty="0">
                <a:solidFill>
                  <a:schemeClr val="accent2"/>
                </a:solidFill>
              </a:rPr>
              <a:t>add</a:t>
            </a:r>
            <a:r>
              <a:rPr lang="en-US" altLang="zh-CN" sz="4000" b="0" dirty="0">
                <a:solidFill>
                  <a:schemeClr val="tx1"/>
                </a:solidFill>
              </a:rPr>
              <a:t> </a:t>
            </a:r>
            <a:endParaRPr lang="en-US" altLang="zh-CN" sz="4000" b="0" dirty="0">
              <a:solidFill>
                <a:schemeClr val="tx1"/>
              </a:solidFill>
            </a:endParaRPr>
          </a:p>
          <a:p>
            <a:pPr eaLnBrk="1" hangingPunct="1">
              <a:lnSpc>
                <a:spcPct val="120000"/>
              </a:lnSpc>
              <a:buNone/>
            </a:pPr>
            <a:r>
              <a:rPr lang="en-US" altLang="zh-CN" sz="4000" b="0" dirty="0">
                <a:solidFill>
                  <a:schemeClr val="tx1"/>
                </a:solidFill>
              </a:rPr>
              <a:t>   </a:t>
            </a:r>
            <a:r>
              <a:rPr lang="en-US" altLang="zh-CN" sz="4000" b="0" dirty="0">
                <a:solidFill>
                  <a:schemeClr val="accent2"/>
                </a:solidFill>
              </a:rPr>
              <a:t>constraint</a:t>
            </a:r>
            <a:r>
              <a:rPr lang="en-US" altLang="zh-CN" sz="4000" b="0" dirty="0">
                <a:solidFill>
                  <a:schemeClr val="tx1"/>
                </a:solidFill>
              </a:rPr>
              <a:t> FK_S_SC </a:t>
            </a:r>
            <a:endParaRPr lang="en-US" altLang="zh-CN" sz="4000" b="0" dirty="0">
              <a:solidFill>
                <a:schemeClr val="tx1"/>
              </a:solidFill>
            </a:endParaRPr>
          </a:p>
          <a:p>
            <a:pPr eaLnBrk="1" hangingPunct="1">
              <a:lnSpc>
                <a:spcPct val="120000"/>
              </a:lnSpc>
              <a:buNone/>
            </a:pPr>
            <a:r>
              <a:rPr lang="en-US" altLang="zh-CN" sz="4000" b="0" dirty="0">
                <a:solidFill>
                  <a:schemeClr val="tx1"/>
                </a:solidFill>
              </a:rPr>
              <a:t>      </a:t>
            </a:r>
            <a:r>
              <a:rPr lang="en-US" altLang="zh-CN" sz="4000" b="0" dirty="0">
                <a:solidFill>
                  <a:schemeClr val="accent2"/>
                </a:solidFill>
              </a:rPr>
              <a:t>foreign</a:t>
            </a:r>
            <a:r>
              <a:rPr lang="en-US" altLang="zh-CN" sz="4000" b="0" dirty="0">
                <a:solidFill>
                  <a:schemeClr val="tx1"/>
                </a:solidFill>
              </a:rPr>
              <a:t> </a:t>
            </a:r>
            <a:r>
              <a:rPr lang="en-US" altLang="zh-CN" sz="4000" b="0" dirty="0">
                <a:solidFill>
                  <a:schemeClr val="accent2"/>
                </a:solidFill>
              </a:rPr>
              <a:t>key</a:t>
            </a:r>
            <a:r>
              <a:rPr lang="en-US" altLang="zh-CN" sz="4000" b="0" dirty="0">
                <a:solidFill>
                  <a:schemeClr val="tx1"/>
                </a:solidFill>
              </a:rPr>
              <a:t>(sno) </a:t>
            </a:r>
            <a:r>
              <a:rPr lang="en-US" altLang="zh-CN" sz="4000" b="0" dirty="0">
                <a:solidFill>
                  <a:schemeClr val="accent2"/>
                </a:solidFill>
              </a:rPr>
              <a:t>references</a:t>
            </a:r>
            <a:r>
              <a:rPr lang="en-US" altLang="zh-CN" sz="4000" b="0" dirty="0">
                <a:solidFill>
                  <a:schemeClr val="tx1"/>
                </a:solidFill>
              </a:rPr>
              <a:t> s(sno),</a:t>
            </a:r>
            <a:endParaRPr lang="en-US" altLang="zh-CN" sz="4000" b="0" dirty="0">
              <a:solidFill>
                <a:schemeClr val="tx1"/>
              </a:solidFill>
            </a:endParaRPr>
          </a:p>
          <a:p>
            <a:pPr eaLnBrk="1" hangingPunct="1">
              <a:lnSpc>
                <a:spcPct val="120000"/>
              </a:lnSpc>
              <a:buNone/>
            </a:pPr>
            <a:r>
              <a:rPr lang="en-US" altLang="zh-CN" sz="4000" b="0" dirty="0">
                <a:solidFill>
                  <a:schemeClr val="tx1"/>
                </a:solidFill>
              </a:rPr>
              <a:t>   </a:t>
            </a:r>
            <a:r>
              <a:rPr lang="en-US" altLang="zh-CN" sz="4000" b="0" dirty="0">
                <a:solidFill>
                  <a:schemeClr val="accent2"/>
                </a:solidFill>
              </a:rPr>
              <a:t>constraint</a:t>
            </a:r>
            <a:r>
              <a:rPr lang="en-US" altLang="zh-CN" sz="4000" b="0" dirty="0">
                <a:solidFill>
                  <a:schemeClr val="tx1"/>
                </a:solidFill>
              </a:rPr>
              <a:t> FK_C_SC </a:t>
            </a:r>
            <a:endParaRPr lang="en-US" altLang="zh-CN" sz="4000" b="0" dirty="0">
              <a:solidFill>
                <a:schemeClr val="tx1"/>
              </a:solidFill>
            </a:endParaRPr>
          </a:p>
          <a:p>
            <a:pPr eaLnBrk="1" hangingPunct="1">
              <a:lnSpc>
                <a:spcPct val="120000"/>
              </a:lnSpc>
              <a:buNone/>
            </a:pPr>
            <a:r>
              <a:rPr lang="en-US" altLang="zh-CN" sz="4000" b="0" dirty="0">
                <a:solidFill>
                  <a:schemeClr val="tx1"/>
                </a:solidFill>
              </a:rPr>
              <a:t>      </a:t>
            </a:r>
            <a:r>
              <a:rPr lang="en-US" altLang="zh-CN" sz="4000" b="0" dirty="0">
                <a:solidFill>
                  <a:schemeClr val="accent2"/>
                </a:solidFill>
              </a:rPr>
              <a:t>foreign</a:t>
            </a:r>
            <a:r>
              <a:rPr lang="en-US" altLang="zh-CN" sz="4000" b="0" dirty="0">
                <a:solidFill>
                  <a:schemeClr val="tx1"/>
                </a:solidFill>
              </a:rPr>
              <a:t> </a:t>
            </a:r>
            <a:r>
              <a:rPr lang="en-US" altLang="zh-CN" sz="4000" b="0" dirty="0">
                <a:solidFill>
                  <a:schemeClr val="accent2"/>
                </a:solidFill>
              </a:rPr>
              <a:t>key</a:t>
            </a:r>
            <a:r>
              <a:rPr lang="en-US" altLang="zh-CN" sz="4000" b="0" dirty="0">
                <a:solidFill>
                  <a:schemeClr val="tx1"/>
                </a:solidFill>
              </a:rPr>
              <a:t>(cno) </a:t>
            </a:r>
            <a:r>
              <a:rPr lang="en-US" altLang="zh-CN" sz="4000" b="0" dirty="0">
                <a:solidFill>
                  <a:schemeClr val="accent2"/>
                </a:solidFill>
              </a:rPr>
              <a:t>references</a:t>
            </a:r>
            <a:r>
              <a:rPr lang="en-US" altLang="zh-CN" sz="4000" b="0" dirty="0">
                <a:solidFill>
                  <a:schemeClr val="tx1"/>
                </a:solidFill>
              </a:rPr>
              <a:t> c(cno)</a:t>
            </a:r>
            <a:endParaRPr lang="en-US" altLang="zh-CN" sz="4000" b="0" dirty="0">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89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5.2 </a:t>
            </a:r>
            <a:r>
              <a:rPr lang="zh-CN" altLang="en-US" dirty="0"/>
              <a:t>参照完整性</a:t>
            </a:r>
            <a:endParaRPr lang="zh-CN" altLang="en-US" dirty="0"/>
          </a:p>
        </p:txBody>
      </p:sp>
      <p:sp>
        <p:nvSpPr>
          <p:cNvPr id="38916" name="Rectangle 3"/>
          <p:cNvSpPr>
            <a:spLocks noGrp="1"/>
          </p:cNvSpPr>
          <p:nvPr>
            <p:ph idx="1"/>
          </p:nvPr>
        </p:nvSpPr>
        <p:spPr>
          <a:xfrm>
            <a:off x="971550" y="1773238"/>
            <a:ext cx="7416800" cy="2862262"/>
          </a:xfrm>
          <a:ln/>
        </p:spPr>
        <p:txBody>
          <a:bodyPr vert="horz" wrap="square" lIns="91440" tIns="45720" rIns="91440" bIns="45720" anchor="t" anchorCtr="0"/>
          <a:p>
            <a:pPr eaLnBrk="1" hangingPunct="1">
              <a:lnSpc>
                <a:spcPct val="120000"/>
              </a:lnSpc>
              <a:buNone/>
            </a:pPr>
            <a:r>
              <a:rPr lang="en-US" altLang="zh-CN" sz="3600" dirty="0">
                <a:solidFill>
                  <a:schemeClr val="tx1"/>
                </a:solidFill>
              </a:rPr>
              <a:t>5.2.1  </a:t>
            </a:r>
            <a:r>
              <a:rPr lang="zh-CN" altLang="en-US" sz="3600" dirty="0">
                <a:solidFill>
                  <a:schemeClr val="tx1"/>
                </a:solidFill>
              </a:rPr>
              <a:t>参照完整性定义</a:t>
            </a:r>
            <a:endParaRPr lang="zh-CN" altLang="en-US" sz="3600" dirty="0">
              <a:solidFill>
                <a:schemeClr val="tx1"/>
              </a:solidFill>
            </a:endParaRPr>
          </a:p>
          <a:p>
            <a:pPr eaLnBrk="1" hangingPunct="1">
              <a:lnSpc>
                <a:spcPct val="120000"/>
              </a:lnSpc>
              <a:buNone/>
            </a:pPr>
            <a:r>
              <a:rPr lang="en-US" altLang="zh-CN" sz="3600" dirty="0">
                <a:solidFill>
                  <a:srgbClr val="FF0000"/>
                </a:solidFill>
              </a:rPr>
              <a:t>5.2.2  </a:t>
            </a:r>
            <a:r>
              <a:rPr lang="zh-CN" altLang="en-US" sz="3600" dirty="0">
                <a:solidFill>
                  <a:srgbClr val="FF0000"/>
                </a:solidFill>
              </a:rPr>
              <a:t>参照完整性检查和违约处理</a:t>
            </a:r>
            <a:endParaRPr lang="zh-CN" altLang="en-US" sz="3600"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5.2.2 </a:t>
            </a:r>
            <a:r>
              <a:rPr lang="zh-CN" altLang="en-US" sz="3200" dirty="0"/>
              <a:t>参照完整性检查和违约处理</a:t>
            </a:r>
            <a:endParaRPr lang="zh-CN" altLang="en-US" sz="3200" dirty="0"/>
          </a:p>
        </p:txBody>
      </p:sp>
      <p:sp>
        <p:nvSpPr>
          <p:cNvPr id="39940" name="Rectangle 5"/>
          <p:cNvSpPr/>
          <p:nvPr/>
        </p:nvSpPr>
        <p:spPr>
          <a:xfrm>
            <a:off x="2268538" y="1052513"/>
            <a:ext cx="4502150" cy="396875"/>
          </a:xfrm>
          <a:prstGeom prst="rect">
            <a:avLst/>
          </a:prstGeom>
          <a:noFill/>
          <a:ln w="25400">
            <a:noFill/>
          </a:ln>
        </p:spPr>
        <p:txBody>
          <a:bodyPr wrap="none" anchor="ctr" anchorCtr="0">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2000" b="0" dirty="0">
                <a:solidFill>
                  <a:schemeClr val="tx1"/>
                </a:solidFill>
                <a:ea typeface="黑体" panose="02010609060101010101" pitchFamily="49" charset="-122"/>
              </a:rPr>
              <a:t>可能破坏参照完整性的情况及违约处理</a:t>
            </a:r>
            <a:endParaRPr lang="zh-CN" altLang="en-US" sz="2000" b="0" dirty="0">
              <a:solidFill>
                <a:schemeClr val="tx1"/>
              </a:solidFill>
              <a:ea typeface="黑体" panose="02010609060101010101" pitchFamily="49" charset="-122"/>
            </a:endParaRPr>
          </a:p>
        </p:txBody>
      </p:sp>
      <p:graphicFrame>
        <p:nvGraphicFramePr>
          <p:cNvPr id="22594" name="Group 66"/>
          <p:cNvGraphicFramePr>
            <a:graphicFrameLocks noGrp="1"/>
          </p:cNvGraphicFramePr>
          <p:nvPr/>
        </p:nvGraphicFramePr>
        <p:xfrm>
          <a:off x="250825" y="1700213"/>
          <a:ext cx="8713788" cy="3654425"/>
        </p:xfrm>
        <a:graphic>
          <a:graphicData uri="http://schemas.openxmlformats.org/drawingml/2006/table">
            <a:tbl>
              <a:tblPr/>
              <a:tblGrid>
                <a:gridCol w="2930525"/>
                <a:gridCol w="2776538"/>
                <a:gridCol w="3006725"/>
              </a:tblGrid>
              <a:tr h="88915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被参照表</a:t>
                      </a:r>
                      <a:endPar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（例如</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Student</a:t>
                      </a: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参照表</a:t>
                      </a:r>
                      <a:endPar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（例如</a:t>
                      </a:r>
                      <a:r>
                        <a:rPr kumimoji="1" lang="en-US" altLang="zh-CN"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SC</a:t>
                      </a: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违约处理</a:t>
                      </a:r>
                      <a:endParaRPr kumimoji="1" lang="zh-CN" altLang="en-US" sz="20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399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插入元组</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拒绝</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81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修改外码值</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拒绝</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923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删除元组</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拒绝</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级连删除</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设置为空值</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16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修改主码值</a:t>
                      </a:r>
                      <a:endParaRPr kumimoji="1" lang="zh-CN" altLang="en-US" sz="20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可能破坏参照完整性</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拒绝</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级连修改</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设置为空值</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5.2.2 </a:t>
            </a:r>
            <a:r>
              <a:rPr lang="zh-CN" altLang="en-US" sz="3200" dirty="0"/>
              <a:t>参照完整性检查和违约处理</a:t>
            </a:r>
            <a:endParaRPr lang="zh-CN" altLang="en-US" sz="3200" dirty="0"/>
          </a:p>
        </p:txBody>
      </p:sp>
      <p:sp>
        <p:nvSpPr>
          <p:cNvPr id="40964" name="Rectangle 3"/>
          <p:cNvSpPr>
            <a:spLocks noGrp="1"/>
          </p:cNvSpPr>
          <p:nvPr>
            <p:ph idx="1"/>
          </p:nvPr>
        </p:nvSpPr>
        <p:spPr>
          <a:xfrm>
            <a:off x="228600" y="914400"/>
            <a:ext cx="8686800" cy="5562600"/>
          </a:xfrm>
          <a:ln/>
        </p:spPr>
        <p:txBody>
          <a:bodyPr vert="horz" wrap="square" lIns="91440" tIns="45720" rIns="91440" bIns="45720" anchor="t" anchorCtr="0"/>
          <a:p>
            <a:pPr eaLnBrk="1" hangingPunct="1"/>
            <a:r>
              <a:rPr lang="zh-CN" altLang="en-US" dirty="0"/>
              <a:t>参照完整性违约处理</a:t>
            </a:r>
            <a:endParaRPr lang="zh-CN" altLang="en-US" dirty="0"/>
          </a:p>
          <a:p>
            <a:pPr eaLnBrk="1" hangingPunct="1"/>
            <a:endParaRPr lang="zh-CN" altLang="en-US" dirty="0"/>
          </a:p>
          <a:p>
            <a:pPr lvl="1" eaLnBrk="1" hangingPunct="1"/>
            <a:r>
              <a:rPr lang="en-US" altLang="zh-CN" sz="3000" dirty="0"/>
              <a:t>1. </a:t>
            </a:r>
            <a:r>
              <a:rPr lang="zh-CN" altLang="en-US" sz="3000" dirty="0"/>
              <a:t>拒绝</a:t>
            </a:r>
            <a:r>
              <a:rPr lang="en-US" altLang="zh-CN" sz="3000" dirty="0"/>
              <a:t>(NO ACTION)</a:t>
            </a:r>
            <a:r>
              <a:rPr lang="zh-CN" altLang="en-US" sz="3000" dirty="0"/>
              <a:t>执行</a:t>
            </a:r>
            <a:endParaRPr lang="zh-CN" altLang="en-US" sz="3000" dirty="0"/>
          </a:p>
          <a:p>
            <a:pPr lvl="2" eaLnBrk="1" hangingPunct="1"/>
            <a:r>
              <a:rPr lang="zh-CN" altLang="en-US" sz="2500" dirty="0">
                <a:ea typeface="宋体" panose="02010600030101010101" pitchFamily="2" charset="-122"/>
              </a:rPr>
              <a:t>默认策略</a:t>
            </a:r>
            <a:endParaRPr lang="zh-CN" altLang="en-US" sz="2500" dirty="0">
              <a:ea typeface="宋体" panose="02010600030101010101" pitchFamily="2" charset="-122"/>
            </a:endParaRPr>
          </a:p>
          <a:p>
            <a:pPr lvl="1" eaLnBrk="1" hangingPunct="1"/>
            <a:endParaRPr lang="zh-CN" altLang="en-US" b="0" dirty="0"/>
          </a:p>
          <a:p>
            <a:pPr lvl="1" eaLnBrk="1" hangingPunct="1"/>
            <a:r>
              <a:rPr lang="en-US" altLang="zh-CN" sz="3000" dirty="0"/>
              <a:t>2. </a:t>
            </a:r>
            <a:r>
              <a:rPr lang="zh-CN" altLang="en-US" sz="3000" dirty="0"/>
              <a:t>级联</a:t>
            </a:r>
            <a:r>
              <a:rPr lang="en-US" altLang="zh-CN" sz="3000" dirty="0"/>
              <a:t>(CASCADE)</a:t>
            </a:r>
            <a:r>
              <a:rPr lang="zh-CN" altLang="en-US" sz="3000" dirty="0"/>
              <a:t>操作</a:t>
            </a:r>
            <a:endParaRPr lang="zh-CN" altLang="en-US" sz="3000" dirty="0"/>
          </a:p>
          <a:p>
            <a:pPr lvl="1" eaLnBrk="1" hangingPunct="1"/>
            <a:endParaRPr lang="zh-CN" altLang="en-US" dirty="0"/>
          </a:p>
          <a:p>
            <a:pPr lvl="1" eaLnBrk="1" hangingPunct="1"/>
            <a:r>
              <a:rPr lang="en-US" altLang="zh-CN" sz="3000" dirty="0"/>
              <a:t>3. </a:t>
            </a:r>
            <a:r>
              <a:rPr lang="zh-CN" altLang="en-US" sz="3000" dirty="0"/>
              <a:t>设置为空值（</a:t>
            </a:r>
            <a:r>
              <a:rPr lang="en-US" altLang="zh-CN" sz="3000" dirty="0"/>
              <a:t>SET-NULL</a:t>
            </a:r>
            <a:r>
              <a:rPr lang="zh-CN" altLang="en-US" sz="3000" dirty="0"/>
              <a:t>）</a:t>
            </a:r>
            <a:endParaRPr lang="zh-CN" altLang="en-US" sz="3000" dirty="0"/>
          </a:p>
          <a:p>
            <a:pPr lvl="2" eaLnBrk="1" hangingPunct="1"/>
            <a:r>
              <a:rPr lang="zh-CN" altLang="en-US" sz="2500" dirty="0">
                <a:ea typeface="宋体" panose="02010600030101010101" pitchFamily="2" charset="-122"/>
              </a:rPr>
              <a:t>对于参照完整性，除了应该定义外码，还应定义</a:t>
            </a:r>
            <a:r>
              <a:rPr lang="zh-CN" altLang="en-US" sz="2500" dirty="0">
                <a:solidFill>
                  <a:srgbClr val="FF00FF"/>
                </a:solidFill>
                <a:ea typeface="宋体" panose="02010600030101010101" pitchFamily="2" charset="-122"/>
              </a:rPr>
              <a:t>外码列是否允许空值</a:t>
            </a:r>
            <a:endParaRPr lang="zh-CN" altLang="en-US" sz="2500" dirty="0">
              <a:solidFill>
                <a:srgbClr val="FF00FF"/>
              </a:solidFill>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5.2.2 </a:t>
            </a:r>
            <a:r>
              <a:rPr lang="zh-CN" altLang="en-US" sz="3200" dirty="0"/>
              <a:t>参照完整性检查和违约处理</a:t>
            </a:r>
            <a:endParaRPr lang="zh-CN" altLang="en-US" sz="3200" dirty="0"/>
          </a:p>
        </p:txBody>
      </p:sp>
      <p:sp>
        <p:nvSpPr>
          <p:cNvPr id="41988" name="Rectangle 3"/>
          <p:cNvSpPr>
            <a:spLocks noGrp="1"/>
          </p:cNvSpPr>
          <p:nvPr>
            <p:ph idx="1"/>
          </p:nvPr>
        </p:nvSpPr>
        <p:spPr>
          <a:xfrm>
            <a:off x="228600" y="914400"/>
            <a:ext cx="8686800" cy="5562600"/>
          </a:xfrm>
          <a:ln/>
        </p:spPr>
        <p:txBody>
          <a:bodyPr vert="horz" wrap="square" lIns="91440" tIns="45720" rIns="91440" bIns="45720" anchor="t" anchorCtr="0"/>
          <a:p>
            <a:pPr eaLnBrk="1" hangingPunct="1">
              <a:lnSpc>
                <a:spcPct val="80000"/>
              </a:lnSpc>
              <a:buNone/>
            </a:pPr>
            <a:r>
              <a:rPr lang="en-US" altLang="zh-CN" sz="2000" dirty="0">
                <a:solidFill>
                  <a:schemeClr val="tx1"/>
                </a:solidFill>
              </a:rPr>
              <a:t>	【</a:t>
            </a:r>
            <a:r>
              <a:rPr lang="zh-CN" altLang="en-US" sz="2000" dirty="0">
                <a:solidFill>
                  <a:schemeClr val="tx1"/>
                </a:solidFill>
              </a:rPr>
              <a:t>例</a:t>
            </a:r>
            <a:r>
              <a:rPr lang="en-US" altLang="zh-CN" sz="2000" dirty="0">
                <a:solidFill>
                  <a:schemeClr val="tx1"/>
                </a:solidFill>
              </a:rPr>
              <a:t>5】</a:t>
            </a:r>
            <a:r>
              <a:rPr lang="zh-CN" altLang="en-US" sz="2000" dirty="0">
                <a:solidFill>
                  <a:schemeClr val="tx1"/>
                </a:solidFill>
              </a:rPr>
              <a:t>删除例</a:t>
            </a:r>
            <a:r>
              <a:rPr lang="en-US" altLang="zh-CN" sz="2000" dirty="0">
                <a:solidFill>
                  <a:schemeClr val="tx1"/>
                </a:solidFill>
              </a:rPr>
              <a:t>4</a:t>
            </a:r>
            <a:r>
              <a:rPr lang="zh-CN" altLang="en-US" sz="2000" dirty="0">
                <a:solidFill>
                  <a:schemeClr val="tx1"/>
                </a:solidFill>
              </a:rPr>
              <a:t>定义的参照完整性，重新定义完整性，要求实现级联更新和级联删除。</a:t>
            </a:r>
            <a:endParaRPr lang="zh-CN" altLang="en-US" sz="2000" dirty="0">
              <a:solidFill>
                <a:schemeClr val="tx1"/>
              </a:solidFill>
            </a:endParaRPr>
          </a:p>
          <a:p>
            <a:pPr eaLnBrk="1" hangingPunct="1">
              <a:lnSpc>
                <a:spcPct val="120000"/>
              </a:lnSpc>
              <a:buNone/>
            </a:pPr>
            <a:r>
              <a:rPr lang="zh-CN" altLang="en-US" sz="2800" b="0" dirty="0">
                <a:solidFill>
                  <a:schemeClr val="accent2"/>
                </a:solidFill>
              </a:rPr>
              <a:t>	</a:t>
            </a:r>
            <a:r>
              <a:rPr lang="en-US" altLang="zh-CN" sz="2800" b="0" dirty="0">
                <a:solidFill>
                  <a:schemeClr val="accent2"/>
                </a:solidFill>
              </a:rPr>
              <a:t>alter table </a:t>
            </a:r>
            <a:r>
              <a:rPr lang="en-US" altLang="zh-CN" sz="2800" b="0" dirty="0">
                <a:solidFill>
                  <a:schemeClr val="tx1"/>
                </a:solidFill>
              </a:rPr>
              <a:t>sc</a:t>
            </a:r>
            <a:r>
              <a:rPr lang="en-US" altLang="zh-CN" sz="2800" b="0" dirty="0">
                <a:solidFill>
                  <a:schemeClr val="accent2"/>
                </a:solidFill>
              </a:rPr>
              <a:t> drop </a:t>
            </a:r>
            <a:r>
              <a:rPr lang="en-US" altLang="zh-CN" sz="2800" b="0" dirty="0">
                <a:solidFill>
                  <a:schemeClr val="tx1"/>
                </a:solidFill>
              </a:rPr>
              <a:t>FK_S_SC,FK_C_SC</a:t>
            </a:r>
            <a:endParaRPr lang="en-US" altLang="zh-CN" sz="2800" b="0" dirty="0">
              <a:solidFill>
                <a:schemeClr val="tx1"/>
              </a:solidFill>
            </a:endParaRPr>
          </a:p>
          <a:p>
            <a:pPr eaLnBrk="1" hangingPunct="1">
              <a:lnSpc>
                <a:spcPct val="120000"/>
              </a:lnSpc>
              <a:buNone/>
            </a:pPr>
            <a:r>
              <a:rPr lang="en-US" altLang="zh-CN" sz="2800" b="0" dirty="0">
                <a:solidFill>
                  <a:schemeClr val="accent2"/>
                </a:solidFill>
              </a:rPr>
              <a:t>	alter table</a:t>
            </a:r>
            <a:r>
              <a:rPr lang="en-US" altLang="zh-CN" sz="2800" b="0" dirty="0">
                <a:solidFill>
                  <a:schemeClr val="tx1"/>
                </a:solidFill>
              </a:rPr>
              <a:t> sc  </a:t>
            </a:r>
            <a:r>
              <a:rPr lang="en-US" altLang="zh-CN" sz="2800" b="0" dirty="0">
                <a:solidFill>
                  <a:schemeClr val="accent2"/>
                </a:solidFill>
              </a:rPr>
              <a:t>add</a:t>
            </a:r>
            <a:r>
              <a:rPr lang="en-US" altLang="zh-CN" sz="2800" b="0" dirty="0">
                <a:solidFill>
                  <a:schemeClr val="tx1"/>
                </a:solidFill>
              </a:rPr>
              <a:t> </a:t>
            </a:r>
            <a:endParaRPr lang="en-US" altLang="zh-CN" sz="2800" b="0" dirty="0">
              <a:solidFill>
                <a:schemeClr val="tx1"/>
              </a:solidFill>
            </a:endParaRPr>
          </a:p>
          <a:p>
            <a:pPr eaLnBrk="1" hangingPunct="1">
              <a:lnSpc>
                <a:spcPct val="120000"/>
              </a:lnSpc>
              <a:buNone/>
            </a:pPr>
            <a:r>
              <a:rPr lang="en-US" altLang="zh-CN" sz="2800" b="0" dirty="0">
                <a:solidFill>
                  <a:schemeClr val="tx1"/>
                </a:solidFill>
              </a:rPr>
              <a:t>   		</a:t>
            </a:r>
            <a:r>
              <a:rPr lang="en-US" altLang="zh-CN" sz="2800" b="0" dirty="0">
                <a:solidFill>
                  <a:schemeClr val="accent2"/>
                </a:solidFill>
              </a:rPr>
              <a:t>constraint</a:t>
            </a:r>
            <a:r>
              <a:rPr lang="en-US" altLang="zh-CN" sz="2800" b="0" dirty="0">
                <a:solidFill>
                  <a:schemeClr val="tx1"/>
                </a:solidFill>
              </a:rPr>
              <a:t> FK_S_SC </a:t>
            </a:r>
            <a:endParaRPr lang="en-US" altLang="zh-CN" sz="2800" b="0" dirty="0">
              <a:solidFill>
                <a:schemeClr val="tx1"/>
              </a:solidFill>
            </a:endParaRPr>
          </a:p>
          <a:p>
            <a:pPr eaLnBrk="1" hangingPunct="1">
              <a:lnSpc>
                <a:spcPct val="120000"/>
              </a:lnSpc>
              <a:buNone/>
            </a:pPr>
            <a:r>
              <a:rPr lang="en-US" altLang="zh-CN" sz="2800" b="0" dirty="0">
                <a:solidFill>
                  <a:schemeClr val="tx1"/>
                </a:solidFill>
              </a:rPr>
              <a:t>      		</a:t>
            </a:r>
            <a:r>
              <a:rPr lang="en-US" altLang="zh-CN" sz="2800" b="0" dirty="0">
                <a:solidFill>
                  <a:schemeClr val="accent2"/>
                </a:solidFill>
              </a:rPr>
              <a:t>foreign</a:t>
            </a:r>
            <a:r>
              <a:rPr lang="en-US" altLang="zh-CN" sz="2800" b="0" dirty="0">
                <a:solidFill>
                  <a:schemeClr val="tx1"/>
                </a:solidFill>
              </a:rPr>
              <a:t> </a:t>
            </a:r>
            <a:r>
              <a:rPr lang="en-US" altLang="zh-CN" sz="2800" b="0" dirty="0">
                <a:solidFill>
                  <a:schemeClr val="accent2"/>
                </a:solidFill>
              </a:rPr>
              <a:t>key</a:t>
            </a:r>
            <a:r>
              <a:rPr lang="en-US" altLang="zh-CN" sz="2800" b="0" dirty="0">
                <a:solidFill>
                  <a:schemeClr val="tx1"/>
                </a:solidFill>
              </a:rPr>
              <a:t>(sno) </a:t>
            </a:r>
            <a:r>
              <a:rPr lang="en-US" altLang="zh-CN" sz="2800" b="0" dirty="0">
                <a:solidFill>
                  <a:schemeClr val="accent2"/>
                </a:solidFill>
              </a:rPr>
              <a:t>references</a:t>
            </a:r>
            <a:r>
              <a:rPr lang="en-US" altLang="zh-CN" sz="2800" b="0" dirty="0">
                <a:solidFill>
                  <a:schemeClr val="tx1"/>
                </a:solidFill>
              </a:rPr>
              <a:t> s(sno)</a:t>
            </a:r>
            <a:endParaRPr lang="en-US" altLang="zh-CN" sz="2800" b="0" dirty="0">
              <a:solidFill>
                <a:schemeClr val="tx1"/>
              </a:solidFill>
            </a:endParaRPr>
          </a:p>
          <a:p>
            <a:pPr eaLnBrk="1" hangingPunct="1">
              <a:lnSpc>
                <a:spcPct val="120000"/>
              </a:lnSpc>
              <a:buNone/>
            </a:pPr>
            <a:r>
              <a:rPr lang="en-US" altLang="zh-CN" sz="2800" b="0" dirty="0">
                <a:solidFill>
                  <a:schemeClr val="tx1"/>
                </a:solidFill>
              </a:rPr>
              <a:t>      		</a:t>
            </a:r>
            <a:r>
              <a:rPr lang="en-US" altLang="zh-CN" sz="2800" b="0" dirty="0">
                <a:solidFill>
                  <a:schemeClr val="accent2"/>
                </a:solidFill>
              </a:rPr>
              <a:t>on delete cascade on update cascade</a:t>
            </a:r>
            <a:r>
              <a:rPr lang="en-US" altLang="zh-CN" sz="2800" b="0" dirty="0">
                <a:solidFill>
                  <a:schemeClr val="tx1"/>
                </a:solidFill>
              </a:rPr>
              <a:t>,</a:t>
            </a:r>
            <a:endParaRPr lang="en-US" altLang="zh-CN" sz="2800" b="0" dirty="0">
              <a:solidFill>
                <a:schemeClr val="tx1"/>
              </a:solidFill>
            </a:endParaRPr>
          </a:p>
          <a:p>
            <a:pPr eaLnBrk="1" hangingPunct="1">
              <a:lnSpc>
                <a:spcPct val="120000"/>
              </a:lnSpc>
              <a:buNone/>
            </a:pPr>
            <a:r>
              <a:rPr lang="en-US" altLang="zh-CN" sz="2800" b="0" dirty="0">
                <a:solidFill>
                  <a:schemeClr val="tx1"/>
                </a:solidFill>
              </a:rPr>
              <a:t>   		</a:t>
            </a:r>
            <a:r>
              <a:rPr lang="en-US" altLang="zh-CN" sz="2800" b="0" dirty="0">
                <a:solidFill>
                  <a:schemeClr val="accent2"/>
                </a:solidFill>
              </a:rPr>
              <a:t>constraint</a:t>
            </a:r>
            <a:r>
              <a:rPr lang="en-US" altLang="zh-CN" sz="2800" b="0" dirty="0">
                <a:solidFill>
                  <a:schemeClr val="tx1"/>
                </a:solidFill>
              </a:rPr>
              <a:t> FK_C_SC </a:t>
            </a:r>
            <a:endParaRPr lang="en-US" altLang="zh-CN" sz="2800" b="0" dirty="0">
              <a:solidFill>
                <a:schemeClr val="tx1"/>
              </a:solidFill>
            </a:endParaRPr>
          </a:p>
          <a:p>
            <a:pPr eaLnBrk="1" hangingPunct="1">
              <a:lnSpc>
                <a:spcPct val="120000"/>
              </a:lnSpc>
              <a:buNone/>
            </a:pPr>
            <a:r>
              <a:rPr lang="en-US" altLang="zh-CN" sz="2800" b="0" dirty="0">
                <a:solidFill>
                  <a:schemeClr val="tx1"/>
                </a:solidFill>
              </a:rPr>
              <a:t>      		</a:t>
            </a:r>
            <a:r>
              <a:rPr lang="en-US" altLang="zh-CN" sz="2800" b="0" dirty="0">
                <a:solidFill>
                  <a:schemeClr val="accent2"/>
                </a:solidFill>
              </a:rPr>
              <a:t>foreign</a:t>
            </a:r>
            <a:r>
              <a:rPr lang="en-US" altLang="zh-CN" sz="2800" b="0" dirty="0">
                <a:solidFill>
                  <a:schemeClr val="tx1"/>
                </a:solidFill>
              </a:rPr>
              <a:t> </a:t>
            </a:r>
            <a:r>
              <a:rPr lang="en-US" altLang="zh-CN" sz="2800" b="0" dirty="0">
                <a:solidFill>
                  <a:schemeClr val="accent2"/>
                </a:solidFill>
              </a:rPr>
              <a:t>key</a:t>
            </a:r>
            <a:r>
              <a:rPr lang="en-US" altLang="zh-CN" sz="2800" b="0" dirty="0">
                <a:solidFill>
                  <a:schemeClr val="tx1"/>
                </a:solidFill>
              </a:rPr>
              <a:t>(cno) </a:t>
            </a:r>
            <a:r>
              <a:rPr lang="en-US" altLang="zh-CN" sz="2800" b="0" dirty="0">
                <a:solidFill>
                  <a:schemeClr val="accent2"/>
                </a:solidFill>
              </a:rPr>
              <a:t>references</a:t>
            </a:r>
            <a:r>
              <a:rPr lang="en-US" altLang="zh-CN" sz="2800" b="0" dirty="0">
                <a:solidFill>
                  <a:schemeClr val="tx1"/>
                </a:solidFill>
              </a:rPr>
              <a:t> c(cno)</a:t>
            </a:r>
            <a:endParaRPr lang="en-US" altLang="zh-CN" sz="2800" b="0" dirty="0">
              <a:solidFill>
                <a:schemeClr val="tx1"/>
              </a:solidFill>
            </a:endParaRPr>
          </a:p>
          <a:p>
            <a:pPr eaLnBrk="1" hangingPunct="1">
              <a:lnSpc>
                <a:spcPct val="120000"/>
              </a:lnSpc>
              <a:buNone/>
            </a:pPr>
            <a:r>
              <a:rPr lang="en-US" altLang="zh-CN" sz="2800" b="0" dirty="0">
                <a:solidFill>
                  <a:schemeClr val="accent2"/>
                </a:solidFill>
              </a:rPr>
              <a:t>      		on delete cascade on update cascade</a:t>
            </a:r>
            <a:endParaRPr lang="en-US" altLang="zh-CN" sz="2000"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3011" name="Rectangle 2"/>
          <p:cNvSpPr/>
          <p:nvPr/>
        </p:nvSpPr>
        <p:spPr>
          <a:xfrm>
            <a:off x="558800" y="287655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43012" name="Rectangle 3"/>
          <p:cNvSpPr>
            <a:spLocks noGrp="1"/>
          </p:cNvSpPr>
          <p:nvPr>
            <p:ph idx="1"/>
          </p:nvPr>
        </p:nvSpPr>
        <p:spPr>
          <a:xfrm>
            <a:off x="762000" y="1358900"/>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5.1  </a:t>
            </a:r>
            <a:r>
              <a:rPr lang="zh-CN" altLang="en-US" dirty="0">
                <a:solidFill>
                  <a:schemeClr val="tx1"/>
                </a:solidFill>
              </a:rPr>
              <a:t>实体完整性</a:t>
            </a:r>
            <a:endParaRPr lang="zh-CN" altLang="en-US" dirty="0">
              <a:solidFill>
                <a:schemeClr val="tx1"/>
              </a:solidFill>
            </a:endParaRPr>
          </a:p>
          <a:p>
            <a:pPr algn="just" eaLnBrk="1" hangingPunct="1">
              <a:lnSpc>
                <a:spcPct val="130000"/>
              </a:lnSpc>
              <a:buNone/>
            </a:pPr>
            <a:r>
              <a:rPr lang="en-US" altLang="zh-CN" dirty="0">
                <a:solidFill>
                  <a:schemeClr val="tx1"/>
                </a:solidFill>
              </a:rPr>
              <a:t>5.2  </a:t>
            </a:r>
            <a:r>
              <a:rPr lang="zh-CN" altLang="en-US" dirty="0">
                <a:solidFill>
                  <a:schemeClr val="tx1"/>
                </a:solidFill>
              </a:rPr>
              <a:t>参照完整性</a:t>
            </a:r>
            <a:endParaRPr lang="zh-CN" altLang="en-US" dirty="0">
              <a:solidFill>
                <a:schemeClr val="tx1"/>
              </a:solidFill>
            </a:endParaRPr>
          </a:p>
          <a:p>
            <a:pPr algn="just" eaLnBrk="1" hangingPunct="1">
              <a:lnSpc>
                <a:spcPct val="130000"/>
              </a:lnSpc>
              <a:buNone/>
            </a:pPr>
            <a:r>
              <a:rPr lang="en-US" altLang="zh-CN" dirty="0">
                <a:solidFill>
                  <a:schemeClr val="bg1"/>
                </a:solidFill>
              </a:rPr>
              <a:t>5.3  </a:t>
            </a:r>
            <a:r>
              <a:rPr lang="zh-CN" altLang="en-US" dirty="0">
                <a:solidFill>
                  <a:schemeClr val="bg1"/>
                </a:solidFill>
              </a:rPr>
              <a:t>用户定义的完整性</a:t>
            </a:r>
            <a:endParaRPr lang="zh-CN" altLang="en-US" dirty="0">
              <a:solidFill>
                <a:schemeClr val="bg1"/>
              </a:solidFill>
            </a:endParaRPr>
          </a:p>
          <a:p>
            <a:pPr algn="just" eaLnBrk="1" hangingPunct="1">
              <a:lnSpc>
                <a:spcPct val="130000"/>
              </a:lnSpc>
              <a:buNone/>
            </a:pPr>
            <a:r>
              <a:rPr lang="en-US" altLang="zh-CN" dirty="0">
                <a:solidFill>
                  <a:schemeClr val="tx1"/>
                </a:solidFill>
              </a:rPr>
              <a:t>5.4  </a:t>
            </a:r>
            <a:r>
              <a:rPr lang="zh-CN" altLang="en-US" dirty="0">
                <a:solidFill>
                  <a:schemeClr val="tx1"/>
                </a:solidFill>
              </a:rPr>
              <a:t>完整性约束命名子句</a:t>
            </a:r>
            <a:endParaRPr lang="zh-CN" altLang="en-US" dirty="0">
              <a:solidFill>
                <a:schemeClr val="tx1"/>
              </a:solidFill>
            </a:endParaRPr>
          </a:p>
          <a:p>
            <a:pPr algn="just" eaLnBrk="1" hangingPunct="1">
              <a:lnSpc>
                <a:spcPct val="130000"/>
              </a:lnSpc>
              <a:buNone/>
            </a:pPr>
            <a:r>
              <a:rPr lang="en-US" altLang="zh-CN" dirty="0">
                <a:solidFill>
                  <a:schemeClr val="bg2"/>
                </a:solidFill>
              </a:rPr>
              <a:t>5.5  </a:t>
            </a:r>
            <a:r>
              <a:rPr lang="zh-CN" altLang="en-US" dirty="0">
                <a:solidFill>
                  <a:schemeClr val="bg2"/>
                </a:solidFill>
              </a:rPr>
              <a:t>域中的完整性限制</a:t>
            </a:r>
            <a:endParaRPr lang="zh-CN" altLang="en-US" dirty="0">
              <a:solidFill>
                <a:schemeClr val="bg2"/>
              </a:solidFill>
            </a:endParaRPr>
          </a:p>
          <a:p>
            <a:pPr algn="just" eaLnBrk="1" hangingPunct="1">
              <a:lnSpc>
                <a:spcPct val="130000"/>
              </a:lnSpc>
              <a:buNone/>
            </a:pPr>
            <a:r>
              <a:rPr lang="en-US" altLang="zh-CN" dirty="0">
                <a:solidFill>
                  <a:schemeClr val="tx1"/>
                </a:solidFill>
              </a:rPr>
              <a:t>5.6  </a:t>
            </a:r>
            <a:r>
              <a:rPr lang="zh-CN" altLang="en-US" dirty="0">
                <a:solidFill>
                  <a:schemeClr val="tx1"/>
                </a:solidFill>
              </a:rPr>
              <a:t>触发器</a:t>
            </a:r>
            <a:endParaRPr lang="zh-CN" altLang="en-US" dirty="0">
              <a:solidFill>
                <a:schemeClr val="tx1"/>
              </a:solidFill>
            </a:endParaRPr>
          </a:p>
          <a:p>
            <a:pPr algn="just" eaLnBrk="1" hangingPunct="1">
              <a:lnSpc>
                <a:spcPct val="130000"/>
              </a:lnSpc>
              <a:buNone/>
            </a:pPr>
            <a:r>
              <a:rPr lang="en-US" altLang="zh-CN" dirty="0">
                <a:solidFill>
                  <a:schemeClr val="tx1"/>
                </a:solidFill>
              </a:rPr>
              <a:t>5.7  </a:t>
            </a:r>
            <a:r>
              <a:rPr lang="zh-CN" altLang="en-US" dirty="0">
                <a:solidFill>
                  <a:schemeClr val="tx1"/>
                </a:solidFill>
              </a:rPr>
              <a:t>小结</a:t>
            </a:r>
            <a:endParaRPr lang="zh-CN" altLang="en-US" dirty="0">
              <a:solidFill>
                <a:schemeClr val="tx1"/>
              </a:solidFill>
            </a:endParaRPr>
          </a:p>
        </p:txBody>
      </p:sp>
      <p:sp>
        <p:nvSpPr>
          <p:cNvPr id="43013"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5.3 </a:t>
            </a:r>
            <a:r>
              <a:rPr lang="zh-CN" altLang="en-US" sz="3200" dirty="0"/>
              <a:t>用户定义的完整性</a:t>
            </a:r>
            <a:endParaRPr lang="zh-CN" altLang="en-US" sz="3200" dirty="0"/>
          </a:p>
        </p:txBody>
      </p:sp>
      <p:sp>
        <p:nvSpPr>
          <p:cNvPr id="44036" name="Rectangle 3"/>
          <p:cNvSpPr>
            <a:spLocks noGrp="1"/>
          </p:cNvSpPr>
          <p:nvPr>
            <p:ph idx="1"/>
          </p:nvPr>
        </p:nvSpPr>
        <p:spPr>
          <a:xfrm>
            <a:off x="228600" y="914400"/>
            <a:ext cx="8686800" cy="5562600"/>
          </a:xfrm>
          <a:ln/>
        </p:spPr>
        <p:txBody>
          <a:bodyPr vert="horz" wrap="square" lIns="91440" tIns="45720" rIns="91440" bIns="45720" anchor="t" anchorCtr="0"/>
          <a:p>
            <a:pPr eaLnBrk="1" hangingPunct="1">
              <a:lnSpc>
                <a:spcPct val="120000"/>
              </a:lnSpc>
            </a:pPr>
            <a:r>
              <a:rPr lang="zh-CN" altLang="en-US" sz="3400" dirty="0">
                <a:solidFill>
                  <a:schemeClr val="tx1"/>
                </a:solidFill>
              </a:rPr>
              <a:t>常见的自定义完整性</a:t>
            </a:r>
            <a:endParaRPr lang="zh-CN" altLang="en-US" sz="3400" dirty="0">
              <a:solidFill>
                <a:schemeClr val="tx1"/>
              </a:solidFill>
            </a:endParaRPr>
          </a:p>
          <a:p>
            <a:pPr lvl="1" eaLnBrk="1" hangingPunct="1">
              <a:lnSpc>
                <a:spcPct val="120000"/>
              </a:lnSpc>
            </a:pPr>
            <a:r>
              <a:rPr lang="zh-CN" altLang="en-US" sz="3000" dirty="0"/>
              <a:t>列值缺省</a:t>
            </a:r>
            <a:r>
              <a:rPr lang="en-US" altLang="zh-CN" sz="3000" dirty="0"/>
              <a:t>(</a:t>
            </a:r>
            <a:r>
              <a:rPr lang="en-US" altLang="zh-CN" sz="3000" dirty="0">
                <a:solidFill>
                  <a:srgbClr val="FF0000"/>
                </a:solidFill>
              </a:rPr>
              <a:t>DEFAULT</a:t>
            </a:r>
            <a:r>
              <a:rPr lang="en-US" altLang="zh-CN" sz="3000" dirty="0"/>
              <a:t>)</a:t>
            </a:r>
            <a:endParaRPr lang="en-US" altLang="zh-CN" sz="3000" dirty="0"/>
          </a:p>
          <a:p>
            <a:pPr lvl="1" eaLnBrk="1" hangingPunct="1">
              <a:lnSpc>
                <a:spcPct val="120000"/>
              </a:lnSpc>
            </a:pPr>
            <a:r>
              <a:rPr lang="zh-CN" altLang="en-US" sz="3000" dirty="0"/>
              <a:t>列值非空</a:t>
            </a:r>
            <a:r>
              <a:rPr lang="en-US" altLang="zh-CN" sz="3000" dirty="0"/>
              <a:t>(</a:t>
            </a:r>
            <a:r>
              <a:rPr lang="en-US" altLang="zh-CN" sz="3000" dirty="0">
                <a:solidFill>
                  <a:srgbClr val="FF0000"/>
                </a:solidFill>
              </a:rPr>
              <a:t>NOT NULL</a:t>
            </a:r>
            <a:r>
              <a:rPr lang="en-US" altLang="zh-CN" sz="3000" dirty="0"/>
              <a:t>)</a:t>
            </a:r>
            <a:endParaRPr lang="en-US" altLang="zh-CN" sz="3000" dirty="0"/>
          </a:p>
          <a:p>
            <a:pPr lvl="1" eaLnBrk="1" hangingPunct="1">
              <a:lnSpc>
                <a:spcPct val="120000"/>
              </a:lnSpc>
            </a:pPr>
            <a:r>
              <a:rPr lang="zh-CN" altLang="en-US" sz="3000" dirty="0"/>
              <a:t>列值唯一</a:t>
            </a:r>
            <a:r>
              <a:rPr lang="en-US" altLang="zh-CN" sz="3000" dirty="0"/>
              <a:t>(</a:t>
            </a:r>
            <a:r>
              <a:rPr lang="en-US" altLang="zh-CN" sz="3000" dirty="0">
                <a:solidFill>
                  <a:srgbClr val="FF0000"/>
                </a:solidFill>
              </a:rPr>
              <a:t>UNIQUE</a:t>
            </a:r>
            <a:r>
              <a:rPr lang="en-US" altLang="zh-CN" sz="3000" dirty="0"/>
              <a:t>)</a:t>
            </a:r>
            <a:endParaRPr lang="en-US" altLang="zh-CN" sz="3000" dirty="0"/>
          </a:p>
          <a:p>
            <a:pPr lvl="1" eaLnBrk="1" hangingPunct="1">
              <a:lnSpc>
                <a:spcPct val="120000"/>
              </a:lnSpc>
            </a:pPr>
            <a:r>
              <a:rPr lang="zh-CN" altLang="en-US" sz="3000" dirty="0"/>
              <a:t>列值满足</a:t>
            </a:r>
            <a:r>
              <a:rPr lang="en-US" altLang="zh-CN" sz="3000" dirty="0"/>
              <a:t>boolean</a:t>
            </a:r>
            <a:r>
              <a:rPr lang="zh-CN" altLang="en-US" sz="3000" dirty="0"/>
              <a:t>表达式</a:t>
            </a:r>
            <a:r>
              <a:rPr lang="en-US" altLang="zh-CN" sz="3000" dirty="0"/>
              <a:t>(</a:t>
            </a:r>
            <a:r>
              <a:rPr lang="en-US" altLang="zh-CN" sz="3000" dirty="0">
                <a:solidFill>
                  <a:srgbClr val="FF0000"/>
                </a:solidFill>
              </a:rPr>
              <a:t>CHECK</a:t>
            </a:r>
            <a:r>
              <a:rPr lang="en-US" altLang="zh-CN" sz="3000" dirty="0"/>
              <a:t>)</a:t>
            </a:r>
            <a:endParaRPr lang="en-US" altLang="zh-CN" sz="3000" dirty="0"/>
          </a:p>
          <a:p>
            <a:pPr eaLnBrk="1" hangingPunct="1">
              <a:lnSpc>
                <a:spcPct val="120000"/>
              </a:lnSpc>
            </a:pPr>
            <a:r>
              <a:rPr lang="en-US" altLang="zh-CN" sz="3400" dirty="0">
                <a:solidFill>
                  <a:schemeClr val="tx1"/>
                </a:solidFill>
              </a:rPr>
              <a:t>NOT NULL</a:t>
            </a:r>
            <a:r>
              <a:rPr lang="zh-CN" altLang="en-US" sz="3400" dirty="0">
                <a:solidFill>
                  <a:schemeClr val="tx1"/>
                </a:solidFill>
              </a:rPr>
              <a:t>和</a:t>
            </a:r>
            <a:r>
              <a:rPr lang="en-US" altLang="zh-CN" sz="3400" dirty="0">
                <a:solidFill>
                  <a:schemeClr val="tx1"/>
                </a:solidFill>
              </a:rPr>
              <a:t>UNIQUE</a:t>
            </a:r>
            <a:r>
              <a:rPr lang="zh-CN" altLang="en-US" sz="3400" dirty="0">
                <a:solidFill>
                  <a:schemeClr val="tx1"/>
                </a:solidFill>
              </a:rPr>
              <a:t>只出现在列约束上</a:t>
            </a:r>
            <a:endParaRPr lang="zh-CN" altLang="en-US" sz="3400" dirty="0">
              <a:solidFill>
                <a:schemeClr val="tx1"/>
              </a:solidFill>
            </a:endParaRPr>
          </a:p>
          <a:p>
            <a:pPr eaLnBrk="1" hangingPunct="1">
              <a:lnSpc>
                <a:spcPct val="120000"/>
              </a:lnSpc>
            </a:pPr>
            <a:r>
              <a:rPr lang="en-US" altLang="zh-CN" sz="3400" dirty="0">
                <a:solidFill>
                  <a:schemeClr val="tx1"/>
                </a:solidFill>
              </a:rPr>
              <a:t>DEFAULT</a:t>
            </a:r>
            <a:r>
              <a:rPr lang="zh-CN" altLang="en-US" sz="3400" dirty="0">
                <a:solidFill>
                  <a:schemeClr val="tx1"/>
                </a:solidFill>
              </a:rPr>
              <a:t>和</a:t>
            </a:r>
            <a:r>
              <a:rPr lang="en-US" altLang="zh-CN" sz="3400" dirty="0">
                <a:solidFill>
                  <a:schemeClr val="tx1"/>
                </a:solidFill>
              </a:rPr>
              <a:t>CHECK</a:t>
            </a:r>
            <a:r>
              <a:rPr lang="zh-CN" altLang="en-US" sz="3400" dirty="0">
                <a:solidFill>
                  <a:schemeClr val="tx1"/>
                </a:solidFill>
              </a:rPr>
              <a:t>约束既可以出现在列约束上，也可以出现在表约束上</a:t>
            </a:r>
            <a:endParaRPr lang="zh-CN" altLang="en-US" sz="3300"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5.3 </a:t>
            </a:r>
            <a:r>
              <a:rPr lang="zh-CN" altLang="en-US" sz="3200" dirty="0"/>
              <a:t>用户定义的完整性</a:t>
            </a:r>
            <a:endParaRPr lang="zh-CN" altLang="en-US" sz="3200" dirty="0"/>
          </a:p>
        </p:txBody>
      </p:sp>
      <p:sp>
        <p:nvSpPr>
          <p:cNvPr id="45060"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lnSpc>
                <a:spcPct val="120000"/>
              </a:lnSpc>
              <a:buClr>
                <a:srgbClr val="0000FF"/>
              </a:buClr>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列约束</a:t>
            </a:r>
            <a:r>
              <a:rPr lang="en-US" altLang="zh-CN" sz="2800" b="0" dirty="0">
                <a:solidFill>
                  <a:schemeClr val="tx1"/>
                </a:solidFill>
                <a:latin typeface="Arial" panose="020B0604020202020204" pitchFamily="34" charset="0"/>
              </a:rPr>
              <a:t>&gt; ::= [</a:t>
            </a:r>
            <a:r>
              <a:rPr lang="en-US" altLang="zh-CN" sz="2800" b="0" dirty="0">
                <a:solidFill>
                  <a:schemeClr val="accent2"/>
                </a:solidFill>
                <a:latin typeface="Arial" panose="020B0604020202020204" pitchFamily="34" charset="0"/>
              </a:rPr>
              <a:t> 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NULL | NOT NULL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UNIQUE </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 </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被引用的列 </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 ] </a:t>
            </a:r>
            <a:endParaRPr lang="en-US" altLang="zh-CN" sz="2800" b="0" dirty="0">
              <a:solidFill>
                <a:schemeClr val="tx1"/>
              </a:solidFill>
              <a:latin typeface="Arial" panose="020B0604020202020204" pitchFamily="34" charset="0"/>
            </a:endParaRPr>
          </a:p>
          <a:p>
            <a:pPr eaLnBrk="1" hangingPunct="1">
              <a:lnSpc>
                <a:spcPct val="120000"/>
              </a:lnSpc>
              <a:buClr>
                <a:srgbClr val="0000FF"/>
              </a:buClr>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CHECK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p:txBody>
      </p:sp>
      <p:sp>
        <p:nvSpPr>
          <p:cNvPr id="45061" name="Line 5"/>
          <p:cNvSpPr/>
          <p:nvPr/>
        </p:nvSpPr>
        <p:spPr>
          <a:xfrm>
            <a:off x="477838" y="6130925"/>
            <a:ext cx="3527425" cy="0"/>
          </a:xfrm>
          <a:prstGeom prst="line">
            <a:avLst/>
          </a:prstGeom>
          <a:ln w="38100" cap="flat" cmpd="sng">
            <a:solidFill>
              <a:srgbClr val="FF0000"/>
            </a:solidFill>
            <a:prstDash val="solid"/>
            <a:headEnd type="none" w="med" len="med"/>
            <a:tailEnd type="none" w="med" len="med"/>
          </a:ln>
        </p:spPr>
      </p:sp>
      <p:sp>
        <p:nvSpPr>
          <p:cNvPr id="45062" name="Line 8"/>
          <p:cNvSpPr/>
          <p:nvPr/>
        </p:nvSpPr>
        <p:spPr>
          <a:xfrm>
            <a:off x="539750" y="2133600"/>
            <a:ext cx="3527425" cy="0"/>
          </a:xfrm>
          <a:prstGeom prst="line">
            <a:avLst/>
          </a:prstGeom>
          <a:ln w="38100" cap="flat" cmpd="sng">
            <a:solidFill>
              <a:srgbClr val="FF0000"/>
            </a:solidFill>
            <a:prstDash val="solid"/>
            <a:headEnd type="none" w="med" len="med"/>
            <a:tailEnd type="none" w="med" len="med"/>
          </a:ln>
        </p:spPr>
      </p:sp>
      <p:sp>
        <p:nvSpPr>
          <p:cNvPr id="45063" name="Line 9"/>
          <p:cNvSpPr/>
          <p:nvPr/>
        </p:nvSpPr>
        <p:spPr>
          <a:xfrm>
            <a:off x="3563938" y="2708275"/>
            <a:ext cx="1512887"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5.3 </a:t>
            </a:r>
            <a:r>
              <a:rPr lang="zh-CN" altLang="en-US" sz="3200" dirty="0"/>
              <a:t>用户定义的完整性</a:t>
            </a:r>
            <a:endParaRPr lang="zh-CN" altLang="en-US" sz="3200" dirty="0"/>
          </a:p>
        </p:txBody>
      </p:sp>
      <p:sp>
        <p:nvSpPr>
          <p:cNvPr id="46084" name="Rectangle 3"/>
          <p:cNvSpPr>
            <a:spLocks noGrp="1"/>
          </p:cNvSpPr>
          <p:nvPr>
            <p:ph idx="1"/>
          </p:nvPr>
        </p:nvSpPr>
        <p:spPr>
          <a:xfrm>
            <a:off x="152400" y="914400"/>
            <a:ext cx="8686800" cy="5334000"/>
          </a:xfrm>
          <a:ln/>
        </p:spPr>
        <p:txBody>
          <a:bodyPr vert="horz" wrap="square" lIns="91440" tIns="45720" rIns="91440" bIns="45720" anchor="t" anchorCtr="0"/>
          <a:p>
            <a:pPr eaLnBrk="1" hangingPunct="1">
              <a:buNone/>
            </a:pPr>
            <a:r>
              <a:rPr lang="en-US" altLang="zh-CN" sz="2800" b="0" dirty="0">
                <a:solidFill>
                  <a:schemeClr val="tx1"/>
                </a:solidFill>
                <a:latin typeface="Arial" panose="020B0604020202020204" pitchFamily="34" charset="0"/>
              </a:rPr>
              <a:t>&lt;</a:t>
            </a:r>
            <a:r>
              <a:rPr lang="zh-CN" altLang="en-US" sz="2800" b="0" dirty="0">
                <a:solidFill>
                  <a:schemeClr val="tx1"/>
                </a:solidFill>
                <a:latin typeface="Arial" panose="020B0604020202020204" pitchFamily="34" charset="0"/>
              </a:rPr>
              <a:t>表约束</a:t>
            </a:r>
            <a:r>
              <a:rPr lang="en-US" altLang="zh-CN" sz="2800" b="0" dirty="0">
                <a:solidFill>
                  <a:schemeClr val="tx1"/>
                </a:solidFill>
                <a:latin typeface="Arial" panose="020B0604020202020204" pitchFamily="34" charset="0"/>
              </a:rPr>
              <a:t>&gt; ::= [ </a:t>
            </a:r>
            <a:r>
              <a:rPr lang="en-US" altLang="zh-CN" sz="2800" b="0" dirty="0">
                <a:solidFill>
                  <a:schemeClr val="accent2"/>
                </a:solidFill>
                <a:latin typeface="Arial" panose="020B0604020202020204" pitchFamily="34" charset="0"/>
              </a:rPr>
              <a:t>CONSTRAINT</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约束名 </a:t>
            </a:r>
            <a:r>
              <a:rPr lang="en-US" altLang="zh-CN" sz="2800" b="0" dirty="0">
                <a:solidFill>
                  <a:schemeClr val="tx1"/>
                </a:solidFill>
                <a:latin typeface="Arial" panose="020B0604020202020204" pitchFamily="34" charset="0"/>
              </a:rPr>
              <a:t>]</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 </a:t>
            </a:r>
            <a:r>
              <a:rPr lang="en-US" altLang="zh-CN" sz="2800" b="0" dirty="0">
                <a:solidFill>
                  <a:schemeClr val="accent2"/>
                </a:solidFill>
                <a:latin typeface="Arial" panose="020B0604020202020204" pitchFamily="34" charset="0"/>
              </a:rPr>
              <a:t>PRIMARY KEY</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CLUSTERED</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NONCLUSTERED</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ASC</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DESC</a:t>
            </a:r>
            <a:r>
              <a:rPr lang="en-US" altLang="zh-CN" sz="2800" b="0" dirty="0">
                <a:solidFill>
                  <a:schemeClr val="tx1"/>
                </a:solidFill>
                <a:latin typeface="Arial" panose="020B0604020202020204" pitchFamily="34" charset="0"/>
              </a:rPr>
              <a:t> ] [ ,...n ] )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FOREIGN KEY</a:t>
            </a:r>
            <a:r>
              <a:rPr lang="en-US" altLang="zh-CN" sz="2800" b="0" dirty="0">
                <a:solidFill>
                  <a:schemeClr val="tx1"/>
                </a:solidFill>
                <a:latin typeface="Arial" panose="020B0604020202020204" pitchFamily="34" charset="0"/>
              </a:rPr>
              <a:t> [ (</a:t>
            </a:r>
            <a:r>
              <a:rPr lang="zh-CN" altLang="en-US" sz="2800" b="0" dirty="0">
                <a:solidFill>
                  <a:schemeClr val="tx1"/>
                </a:solidFill>
                <a:latin typeface="Arial" panose="020B0604020202020204" pitchFamily="34" charset="0"/>
              </a:rPr>
              <a:t>列名</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REFERENCES</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被引用表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被引用列</a:t>
            </a:r>
            <a:r>
              <a:rPr lang="en-US" altLang="zh-CN" sz="2800" b="0" dirty="0">
                <a:solidFill>
                  <a:schemeClr val="tx1"/>
                </a:solidFill>
                <a:latin typeface="Arial" panose="020B0604020202020204" pitchFamily="34" charset="0"/>
              </a:rPr>
              <a:t>[ ,...n ]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DELETE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ON UPDATE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CASCADE</a:t>
            </a:r>
            <a:r>
              <a:rPr lang="en-US" altLang="zh-CN" sz="2800" b="0" dirty="0">
                <a:solidFill>
                  <a:schemeClr val="tx1"/>
                </a:solidFill>
                <a:latin typeface="Arial" panose="020B0604020202020204" pitchFamily="34" charset="0"/>
              </a:rPr>
              <a:t> | </a:t>
            </a:r>
            <a:r>
              <a:rPr lang="en-US" altLang="zh-CN" sz="2800" b="0" dirty="0">
                <a:solidFill>
                  <a:schemeClr val="accent2"/>
                </a:solidFill>
                <a:latin typeface="Arial" panose="020B0604020202020204" pitchFamily="34" charset="0"/>
              </a:rPr>
              <a:t>NO ACTION</a:t>
            </a:r>
            <a:r>
              <a:rPr lang="en-US" altLang="zh-CN" sz="2800" b="0" dirty="0">
                <a:solidFill>
                  <a:schemeClr val="tx1"/>
                </a:solidFill>
                <a:latin typeface="Arial" panose="020B0604020202020204" pitchFamily="34" charset="0"/>
              </a:rPr>
              <a:t> } ]</a:t>
            </a:r>
            <a:endParaRPr lang="en-US" altLang="zh-CN" sz="2800" b="0" dirty="0">
              <a:solidFill>
                <a:schemeClr val="tx1"/>
              </a:solidFill>
              <a:latin typeface="Arial" panose="020B0604020202020204" pitchFamily="34" charset="0"/>
            </a:endParaRPr>
          </a:p>
          <a:p>
            <a:pPr eaLnBrk="1" hangingPunct="1">
              <a:buNone/>
            </a:pP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 DEFAULT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常量表达式  </a:t>
            </a:r>
            <a:r>
              <a:rPr lang="zh-CN" altLang="en-US" sz="2800" b="0" dirty="0">
                <a:solidFill>
                  <a:schemeClr val="accent2"/>
                </a:solidFill>
                <a:latin typeface="Arial" panose="020B0604020202020204" pitchFamily="34" charset="0"/>
              </a:rPr>
              <a:t> </a:t>
            </a:r>
            <a:r>
              <a:rPr lang="en-US" altLang="zh-CN" sz="2800" b="0" dirty="0">
                <a:solidFill>
                  <a:schemeClr val="accent2"/>
                </a:solidFill>
                <a:latin typeface="Arial" panose="020B0604020202020204" pitchFamily="34" charset="0"/>
              </a:rPr>
              <a:t>FOR </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列名</a:t>
            </a:r>
            <a:endParaRPr lang="zh-CN" altLang="en-US" sz="2800" b="0" dirty="0">
              <a:solidFill>
                <a:schemeClr val="tx1"/>
              </a:solidFill>
              <a:latin typeface="Arial" panose="020B0604020202020204" pitchFamily="34" charset="0"/>
            </a:endParaRPr>
          </a:p>
          <a:p>
            <a:pPr eaLnBrk="1" hangingPunct="1">
              <a:buNone/>
            </a:pPr>
            <a:r>
              <a:rPr lang="zh-CN" altLang="en-US" sz="2800" b="0" dirty="0">
                <a:solidFill>
                  <a:schemeClr val="tx1"/>
                </a:solidFill>
                <a:latin typeface="Arial" panose="020B0604020202020204" pitchFamily="34" charset="0"/>
              </a:rPr>
              <a:t>    </a:t>
            </a:r>
            <a:r>
              <a:rPr lang="en-US" altLang="zh-CN" sz="2800" b="0" dirty="0">
                <a:solidFill>
                  <a:schemeClr val="tx1"/>
                </a:solidFill>
                <a:latin typeface="Arial" panose="020B0604020202020204" pitchFamily="34" charset="0"/>
              </a:rPr>
              <a:t>| </a:t>
            </a:r>
            <a:r>
              <a:rPr lang="en-US" altLang="zh-CN" sz="2800" b="0" dirty="0">
                <a:solidFill>
                  <a:schemeClr val="accent2"/>
                </a:solidFill>
                <a:latin typeface="Arial" panose="020B0604020202020204" pitchFamily="34" charset="0"/>
              </a:rPr>
              <a:t>CHECK</a:t>
            </a:r>
            <a:r>
              <a:rPr lang="en-US" altLang="zh-CN" sz="2800" b="0" dirty="0">
                <a:solidFill>
                  <a:schemeClr val="tx1"/>
                </a:solidFill>
                <a:latin typeface="Arial" panose="020B0604020202020204" pitchFamily="34" charset="0"/>
              </a:rPr>
              <a:t>  (</a:t>
            </a:r>
            <a:r>
              <a:rPr lang="zh-CN" altLang="en-US" sz="2800" b="0" dirty="0">
                <a:solidFill>
                  <a:schemeClr val="tx1"/>
                </a:solidFill>
                <a:latin typeface="Arial" panose="020B0604020202020204" pitchFamily="34" charset="0"/>
              </a:rPr>
              <a:t>逻辑表达式</a:t>
            </a:r>
            <a:r>
              <a:rPr lang="en-US" altLang="zh-CN" sz="2800" b="0" dirty="0">
                <a:solidFill>
                  <a:schemeClr val="tx1"/>
                </a:solidFill>
                <a:latin typeface="Arial" panose="020B0604020202020204" pitchFamily="34" charset="0"/>
              </a:rPr>
              <a:t>) }</a:t>
            </a:r>
            <a:endParaRPr lang="en-US" altLang="zh-CN" sz="2800" b="0" dirty="0">
              <a:solidFill>
                <a:schemeClr val="tx1"/>
              </a:solidFill>
              <a:latin typeface="Arial" panose="020B0604020202020204" pitchFamily="34" charset="0"/>
            </a:endParaRPr>
          </a:p>
        </p:txBody>
      </p:sp>
      <p:sp>
        <p:nvSpPr>
          <p:cNvPr id="46085" name="Line 4"/>
          <p:cNvSpPr/>
          <p:nvPr/>
        </p:nvSpPr>
        <p:spPr>
          <a:xfrm>
            <a:off x="827088" y="6092825"/>
            <a:ext cx="5040312" cy="0"/>
          </a:xfrm>
          <a:prstGeom prst="line">
            <a:avLst/>
          </a:prstGeom>
          <a:ln w="38100" cap="flat" cmpd="sng">
            <a:solidFill>
              <a:srgbClr val="FF0000"/>
            </a:solidFill>
            <a:prstDash val="solid"/>
            <a:headEnd type="none" w="med" len="med"/>
            <a:tailEnd type="none" w="med" len="med"/>
          </a:ln>
        </p:spPr>
      </p:sp>
      <p:sp>
        <p:nvSpPr>
          <p:cNvPr id="46086" name="Line 8"/>
          <p:cNvSpPr/>
          <p:nvPr/>
        </p:nvSpPr>
        <p:spPr>
          <a:xfrm>
            <a:off x="827088" y="5516563"/>
            <a:ext cx="5689600" cy="0"/>
          </a:xfrm>
          <a:prstGeom prst="line">
            <a:avLst/>
          </a:prstGeom>
          <a:ln w="38100" cap="flat" cmpd="sng">
            <a:solidFill>
              <a:srgbClr val="FF0000"/>
            </a:solidFill>
            <a:prstDash val="solid"/>
            <a:headEnd type="none" w="med" len="med"/>
            <a:tailEnd type="none" w="med" len="me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7107"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5.3 </a:t>
            </a:r>
            <a:r>
              <a:rPr lang="zh-CN" altLang="en-US" sz="3200" dirty="0"/>
              <a:t>用户定义的完整性</a:t>
            </a:r>
            <a:endParaRPr lang="zh-CN" altLang="en-US" sz="3200" dirty="0"/>
          </a:p>
        </p:txBody>
      </p:sp>
      <p:sp>
        <p:nvSpPr>
          <p:cNvPr id="47108" name="Rectangle 3"/>
          <p:cNvSpPr>
            <a:spLocks noGrp="1"/>
          </p:cNvSpPr>
          <p:nvPr>
            <p:ph idx="1"/>
          </p:nvPr>
        </p:nvSpPr>
        <p:spPr>
          <a:xfrm>
            <a:off x="152400" y="914400"/>
            <a:ext cx="8686800" cy="5683250"/>
          </a:xfrm>
          <a:ln/>
        </p:spPr>
        <p:txBody>
          <a:bodyPr vert="horz" wrap="square" lIns="91440" tIns="45720" rIns="91440" bIns="45720" anchor="t" anchorCtr="0"/>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例</a:t>
            </a:r>
            <a:r>
              <a:rPr lang="en-US" altLang="zh-CN" sz="2400" b="0" dirty="0">
                <a:solidFill>
                  <a:schemeClr val="tx1"/>
                </a:solidFill>
                <a:latin typeface="Arial" panose="020B0604020202020204" pitchFamily="34" charset="0"/>
              </a:rPr>
              <a:t>6】</a:t>
            </a:r>
            <a:r>
              <a:rPr lang="zh-CN" altLang="en-US" sz="2400" b="0" dirty="0">
                <a:solidFill>
                  <a:schemeClr val="tx1"/>
                </a:solidFill>
                <a:latin typeface="Arial" panose="020B0604020202020204" pitchFamily="34" charset="0"/>
              </a:rPr>
              <a:t>定义“销售明细表</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流水号</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工号</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产品号</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数量</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单价</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销售日期</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，其中工号限定</a:t>
            </a:r>
            <a:r>
              <a:rPr lang="en-US" altLang="zh-CN" sz="2400" b="0" dirty="0">
                <a:solidFill>
                  <a:schemeClr val="tx1"/>
                </a:solidFill>
                <a:latin typeface="Arial" panose="020B0604020202020204" pitchFamily="34" charset="0"/>
              </a:rPr>
              <a:t>4</a:t>
            </a:r>
            <a:r>
              <a:rPr lang="zh-CN" altLang="en-US" sz="2400" b="0" dirty="0">
                <a:solidFill>
                  <a:schemeClr val="tx1"/>
                </a:solidFill>
                <a:latin typeface="Arial" panose="020B0604020202020204" pitchFamily="34" charset="0"/>
              </a:rPr>
              <a:t>位数字，数量须为正数，销售日期默认为当日。</a:t>
            </a:r>
            <a:endParaRPr lang="zh-CN" altLang="en-US" sz="2400" b="0" dirty="0">
              <a:solidFill>
                <a:schemeClr val="tx1"/>
              </a:solidFill>
              <a:latin typeface="Arial" panose="020B0604020202020204" pitchFamily="34" charset="0"/>
            </a:endParaRPr>
          </a:p>
          <a:p>
            <a:pPr eaLnBrk="1" hangingPunct="1">
              <a:lnSpc>
                <a:spcPct val="90000"/>
              </a:lnSpc>
              <a:buNone/>
            </a:pPr>
            <a:r>
              <a:rPr lang="zh-CN" altLang="en-US"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create table</a:t>
            </a: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销售明细表</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流水号 </a:t>
            </a:r>
            <a:r>
              <a:rPr lang="en-US" altLang="zh-CN" sz="2400" b="0" dirty="0">
                <a:solidFill>
                  <a:schemeClr val="accent2"/>
                </a:solidFill>
                <a:latin typeface="Arial" panose="020B0604020202020204" pitchFamily="34" charset="0"/>
              </a:rPr>
              <a:t>bigint primary key</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工号 </a:t>
            </a:r>
            <a:r>
              <a:rPr lang="en-US" altLang="zh-CN" sz="2400" b="0" dirty="0">
                <a:solidFill>
                  <a:schemeClr val="accent2"/>
                </a:solidFill>
                <a:latin typeface="Arial" panose="020B0604020202020204" pitchFamily="34" charset="0"/>
              </a:rPr>
              <a:t>char</a:t>
            </a:r>
            <a:r>
              <a:rPr lang="en-US" altLang="zh-CN" sz="2400" b="0" dirty="0">
                <a:solidFill>
                  <a:schemeClr val="tx1"/>
                </a:solidFill>
                <a:latin typeface="Arial" panose="020B0604020202020204" pitchFamily="34" charset="0"/>
              </a:rPr>
              <a:t>(4),</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产品号 </a:t>
            </a:r>
            <a:r>
              <a:rPr lang="en-US" altLang="zh-CN" sz="2400" b="0" dirty="0">
                <a:solidFill>
                  <a:schemeClr val="accent2"/>
                </a:solidFill>
                <a:latin typeface="Arial" panose="020B0604020202020204" pitchFamily="34" charset="0"/>
              </a:rPr>
              <a:t>char</a:t>
            </a:r>
            <a:r>
              <a:rPr lang="en-US" altLang="zh-CN" sz="2400" b="0" dirty="0">
                <a:solidFill>
                  <a:schemeClr val="tx1"/>
                </a:solidFill>
                <a:latin typeface="Arial" panose="020B0604020202020204" pitchFamily="34" charset="0"/>
              </a:rPr>
              <a:t>(4),</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数量</a:t>
            </a:r>
            <a:r>
              <a:rPr lang="zh-CN" altLang="en-US" sz="2400" b="0" dirty="0">
                <a:solidFill>
                  <a:schemeClr val="accent2"/>
                </a:solidFill>
                <a:latin typeface="Arial" panose="020B0604020202020204" pitchFamily="34" charset="0"/>
              </a:rPr>
              <a:t> </a:t>
            </a:r>
            <a:r>
              <a:rPr lang="en-US" altLang="zh-CN" sz="2400" b="0" dirty="0">
                <a:solidFill>
                  <a:schemeClr val="accent2"/>
                </a:solidFill>
                <a:latin typeface="Arial" panose="020B0604020202020204" pitchFamily="34" charset="0"/>
              </a:rPr>
              <a:t>int</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单价 </a:t>
            </a:r>
            <a:r>
              <a:rPr lang="en-US" altLang="zh-CN" sz="2400" b="0" dirty="0">
                <a:solidFill>
                  <a:schemeClr val="accent2"/>
                </a:solidFill>
                <a:latin typeface="Arial" panose="020B0604020202020204" pitchFamily="34" charset="0"/>
              </a:rPr>
              <a:t>money</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zh-CN" altLang="en-US" sz="2400" b="0" dirty="0">
                <a:solidFill>
                  <a:schemeClr val="tx1"/>
                </a:solidFill>
                <a:latin typeface="Arial" panose="020B0604020202020204" pitchFamily="34" charset="0"/>
              </a:rPr>
              <a:t>销售日期 </a:t>
            </a:r>
            <a:r>
              <a:rPr lang="en-US" altLang="zh-CN" sz="2400" b="0" dirty="0">
                <a:solidFill>
                  <a:schemeClr val="accent2"/>
                </a:solidFill>
                <a:latin typeface="Arial" panose="020B0604020202020204" pitchFamily="34" charset="0"/>
              </a:rPr>
              <a:t>datetime default</a:t>
            </a:r>
            <a:r>
              <a:rPr lang="en-US" altLang="zh-CN" sz="2400" b="0" dirty="0">
                <a:solidFill>
                  <a:schemeClr val="tx1"/>
                </a:solidFill>
                <a:latin typeface="Arial" panose="020B0604020202020204" pitchFamily="34" charset="0"/>
              </a:rPr>
              <a:t> </a:t>
            </a:r>
            <a:r>
              <a:rPr lang="en-US" altLang="zh-CN" sz="2400" b="0" dirty="0">
                <a:solidFill>
                  <a:srgbClr val="CC0066"/>
                </a:solidFill>
                <a:latin typeface="Arial" panose="020B0604020202020204" pitchFamily="34" charset="0"/>
              </a:rPr>
              <a:t>getdate</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constraint</a:t>
            </a:r>
            <a:r>
              <a:rPr lang="en-US" altLang="zh-CN" sz="2400" b="0" dirty="0">
                <a:solidFill>
                  <a:schemeClr val="tx1"/>
                </a:solidFill>
                <a:latin typeface="Arial" panose="020B0604020202020204" pitchFamily="34" charset="0"/>
              </a:rPr>
              <a:t> CK_</a:t>
            </a:r>
            <a:r>
              <a:rPr lang="zh-CN" altLang="en-US" sz="2400" b="0" dirty="0">
                <a:solidFill>
                  <a:schemeClr val="tx1"/>
                </a:solidFill>
                <a:latin typeface="Arial" panose="020B0604020202020204" pitchFamily="34" charset="0"/>
              </a:rPr>
              <a:t>工号 </a:t>
            </a:r>
            <a:endParaRPr lang="zh-CN" altLang="en-US" sz="2400" b="0" dirty="0">
              <a:solidFill>
                <a:schemeClr val="tx1"/>
              </a:solidFill>
              <a:latin typeface="Arial" panose="020B0604020202020204" pitchFamily="34" charset="0"/>
            </a:endParaRPr>
          </a:p>
          <a:p>
            <a:pPr eaLnBrk="1" hangingPunct="1">
              <a:lnSpc>
                <a:spcPct val="90000"/>
              </a:lnSpc>
              <a:buNone/>
            </a:pPr>
            <a:r>
              <a:rPr lang="zh-CN" altLang="en-US"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check</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工号 </a:t>
            </a:r>
            <a:r>
              <a:rPr lang="en-US" altLang="zh-CN" sz="2400" b="0" dirty="0">
                <a:solidFill>
                  <a:schemeClr val="tx1"/>
                </a:solidFill>
                <a:latin typeface="Arial" panose="020B0604020202020204" pitchFamily="34" charset="0"/>
              </a:rPr>
              <a:t>like </a:t>
            </a:r>
            <a:r>
              <a:rPr lang="en-US" altLang="zh-CN" sz="2400" b="0" dirty="0">
                <a:solidFill>
                  <a:srgbClr val="FF0000"/>
                </a:solidFill>
                <a:latin typeface="Arial" panose="020B0604020202020204" pitchFamily="34" charset="0"/>
              </a:rPr>
              <a:t>'[0-9][0-9][0-9][0-9]'</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constraint</a:t>
            </a:r>
            <a:r>
              <a:rPr lang="en-US" altLang="zh-CN" sz="2400" b="0" dirty="0">
                <a:solidFill>
                  <a:schemeClr val="tx1"/>
                </a:solidFill>
                <a:latin typeface="Arial" panose="020B0604020202020204" pitchFamily="34" charset="0"/>
              </a:rPr>
              <a:t> CK_</a:t>
            </a:r>
            <a:r>
              <a:rPr lang="zh-CN" altLang="en-US" sz="2400" b="0" dirty="0">
                <a:solidFill>
                  <a:schemeClr val="tx1"/>
                </a:solidFill>
                <a:latin typeface="Arial" panose="020B0604020202020204" pitchFamily="34" charset="0"/>
              </a:rPr>
              <a:t>数量 </a:t>
            </a:r>
            <a:r>
              <a:rPr lang="en-US" altLang="zh-CN" sz="2400" b="0" dirty="0">
                <a:solidFill>
                  <a:schemeClr val="accent2"/>
                </a:solidFill>
                <a:latin typeface="Arial" panose="020B0604020202020204" pitchFamily="34" charset="0"/>
              </a:rPr>
              <a:t>check</a:t>
            </a:r>
            <a:r>
              <a:rPr lang="en-US" altLang="zh-CN" sz="2400" b="0" dirty="0">
                <a:solidFill>
                  <a:schemeClr val="tx1"/>
                </a:solidFill>
                <a:latin typeface="Arial" panose="020B0604020202020204" pitchFamily="34" charset="0"/>
              </a:rPr>
              <a:t>(</a:t>
            </a:r>
            <a:r>
              <a:rPr lang="zh-CN" altLang="en-US" sz="2400" b="0" dirty="0">
                <a:solidFill>
                  <a:schemeClr val="tx1"/>
                </a:solidFill>
                <a:latin typeface="Arial" panose="020B0604020202020204" pitchFamily="34" charset="0"/>
              </a:rPr>
              <a:t>数量 </a:t>
            </a:r>
            <a:r>
              <a:rPr lang="en-US" altLang="zh-CN" sz="2400" b="0" dirty="0">
                <a:solidFill>
                  <a:schemeClr val="tx1"/>
                </a:solidFill>
                <a:latin typeface="Arial" panose="020B0604020202020204" pitchFamily="34" charset="0"/>
              </a:rPr>
              <a:t>&gt; 0)</a:t>
            </a:r>
            <a:endParaRPr lang="en-US" altLang="zh-CN" sz="2400" b="0" dirty="0">
              <a:solidFill>
                <a:schemeClr val="tx1"/>
              </a:solidFill>
              <a:latin typeface="Arial" panose="020B0604020202020204" pitchFamily="34" charset="0"/>
            </a:endParaRPr>
          </a:p>
          <a:p>
            <a:pPr eaLnBrk="1" hangingPunct="1">
              <a:lnSpc>
                <a:spcPct val="90000"/>
              </a:lnSpc>
              <a:buNone/>
            </a:pPr>
            <a:r>
              <a:rPr lang="en-US" altLang="zh-CN" sz="2400" b="0" dirty="0">
                <a:solidFill>
                  <a:schemeClr val="tx1"/>
                </a:solidFill>
                <a:latin typeface="Arial" panose="020B0604020202020204" pitchFamily="34" charset="0"/>
              </a:rPr>
              <a:t>	)</a:t>
            </a:r>
            <a:endParaRPr lang="en-US" altLang="zh-CN" sz="2400" b="0" dirty="0">
              <a:solidFill>
                <a:schemeClr val="tx1"/>
              </a:solidFill>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5.3 </a:t>
            </a:r>
            <a:r>
              <a:rPr lang="zh-CN" altLang="en-US" sz="3200" dirty="0"/>
              <a:t>用户定义的完整性</a:t>
            </a:r>
            <a:endParaRPr lang="zh-CN" altLang="en-US" sz="3200" dirty="0"/>
          </a:p>
        </p:txBody>
      </p:sp>
      <p:sp>
        <p:nvSpPr>
          <p:cNvPr id="48132" name="Rectangle 3"/>
          <p:cNvSpPr>
            <a:spLocks noGrp="1"/>
          </p:cNvSpPr>
          <p:nvPr>
            <p:ph idx="1"/>
          </p:nvPr>
        </p:nvSpPr>
        <p:spPr>
          <a:xfrm>
            <a:off x="152400" y="914400"/>
            <a:ext cx="8686800" cy="5683250"/>
          </a:xfrm>
          <a:ln/>
        </p:spPr>
        <p:txBody>
          <a:bodyPr vert="horz" wrap="square" lIns="91440" tIns="45720" rIns="91440" bIns="45720" anchor="t" anchorCtr="0"/>
          <a:p>
            <a:pPr eaLnBrk="1" hangingPunct="1">
              <a:buNone/>
            </a:pPr>
            <a:r>
              <a:rPr lang="en-US" altLang="zh-CN" b="0" dirty="0">
                <a:solidFill>
                  <a:schemeClr val="tx1"/>
                </a:solidFill>
                <a:latin typeface="Arial" panose="020B0604020202020204" pitchFamily="34" charset="0"/>
              </a:rPr>
              <a:t>	【</a:t>
            </a:r>
            <a:r>
              <a:rPr lang="zh-CN" altLang="en-US" b="0" dirty="0">
                <a:solidFill>
                  <a:schemeClr val="tx1"/>
                </a:solidFill>
                <a:latin typeface="Arial" panose="020B0604020202020204" pitchFamily="34" charset="0"/>
              </a:rPr>
              <a:t>例</a:t>
            </a:r>
            <a:r>
              <a:rPr lang="en-US" altLang="zh-CN" b="0" dirty="0">
                <a:solidFill>
                  <a:schemeClr val="tx1"/>
                </a:solidFill>
                <a:latin typeface="Arial" panose="020B0604020202020204" pitchFamily="34" charset="0"/>
              </a:rPr>
              <a:t>7】</a:t>
            </a:r>
            <a:r>
              <a:rPr lang="zh-CN" altLang="en-US" b="0" dirty="0">
                <a:solidFill>
                  <a:schemeClr val="tx1"/>
                </a:solidFill>
                <a:latin typeface="Arial" panose="020B0604020202020204" pitchFamily="34" charset="0"/>
              </a:rPr>
              <a:t>给表</a:t>
            </a:r>
            <a:r>
              <a:rPr lang="en-US" altLang="zh-CN" b="0" dirty="0">
                <a:solidFill>
                  <a:schemeClr val="tx1"/>
                </a:solidFill>
                <a:latin typeface="Arial" panose="020B0604020202020204" pitchFamily="34" charset="0"/>
              </a:rPr>
              <a:t>student</a:t>
            </a:r>
            <a:r>
              <a:rPr lang="zh-CN" altLang="en-US" b="0" dirty="0">
                <a:solidFill>
                  <a:schemeClr val="tx1"/>
                </a:solidFill>
                <a:latin typeface="Arial" panose="020B0604020202020204" pitchFamily="34" charset="0"/>
              </a:rPr>
              <a:t>的</a:t>
            </a:r>
            <a:r>
              <a:rPr lang="en-US" altLang="zh-CN" b="0" dirty="0">
                <a:solidFill>
                  <a:schemeClr val="tx1"/>
                </a:solidFill>
                <a:latin typeface="Arial" panose="020B0604020202020204" pitchFamily="34" charset="0"/>
              </a:rPr>
              <a:t>ssex</a:t>
            </a:r>
            <a:r>
              <a:rPr lang="zh-CN" altLang="en-US" b="0" dirty="0">
                <a:solidFill>
                  <a:schemeClr val="tx1"/>
                </a:solidFill>
                <a:latin typeface="Arial" panose="020B0604020202020204" pitchFamily="34" charset="0"/>
              </a:rPr>
              <a:t>列添加约束</a:t>
            </a:r>
            <a:r>
              <a:rPr lang="en-US" altLang="zh-CN" b="0" dirty="0">
                <a:solidFill>
                  <a:schemeClr val="tx1"/>
                </a:solidFill>
                <a:latin typeface="Arial" panose="020B0604020202020204" pitchFamily="34" charset="0"/>
              </a:rPr>
              <a:t>,</a:t>
            </a:r>
            <a:r>
              <a:rPr lang="zh-CN" altLang="en-US" b="0" dirty="0">
                <a:solidFill>
                  <a:schemeClr val="tx1"/>
                </a:solidFill>
                <a:latin typeface="Arial" panose="020B0604020202020204" pitchFamily="34" charset="0"/>
              </a:rPr>
              <a:t>该列的值只能取”男”或”女”。</a:t>
            </a:r>
            <a:endParaRPr lang="zh-CN" altLang="en-US" b="0" dirty="0">
              <a:solidFill>
                <a:schemeClr val="tx1"/>
              </a:solidFill>
              <a:latin typeface="Arial" panose="020B0604020202020204" pitchFamily="34" charset="0"/>
            </a:endParaRPr>
          </a:p>
          <a:p>
            <a:pPr eaLnBrk="1" hangingPunct="1">
              <a:buNone/>
            </a:pPr>
            <a:r>
              <a:rPr lang="zh-CN" altLang="en-US"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alter  table </a:t>
            </a:r>
            <a:r>
              <a:rPr lang="en-US" altLang="zh-CN" b="0" dirty="0">
                <a:solidFill>
                  <a:schemeClr val="tx1"/>
                </a:solidFill>
                <a:latin typeface="Arial" panose="020B0604020202020204" pitchFamily="34" charset="0"/>
              </a:rPr>
              <a:t> student  </a:t>
            </a:r>
            <a:endParaRPr lang="en-US" altLang="zh-CN" b="0" dirty="0">
              <a:solidFill>
                <a:schemeClr val="tx1"/>
              </a:solidFill>
              <a:latin typeface="Arial" panose="020B0604020202020204" pitchFamily="34" charset="0"/>
            </a:endParaRPr>
          </a:p>
          <a:p>
            <a:pPr eaLnBrk="1" hangingPunct="1">
              <a:buNone/>
            </a:pP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add </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constraint  CK_ssex  </a:t>
            </a:r>
            <a:endParaRPr lang="en-US" altLang="zh-CN" b="0" dirty="0">
              <a:solidFill>
                <a:schemeClr val="accent2"/>
              </a:solidFill>
              <a:latin typeface="Arial" panose="020B0604020202020204" pitchFamily="34" charset="0"/>
            </a:endParaRPr>
          </a:p>
          <a:p>
            <a:pPr eaLnBrk="1" hangingPunct="1">
              <a:buNone/>
            </a:pPr>
            <a:r>
              <a:rPr lang="en-US" altLang="zh-CN" b="0" dirty="0">
                <a:solidFill>
                  <a:schemeClr val="accent2"/>
                </a:solidFill>
                <a:latin typeface="Arial" panose="020B0604020202020204" pitchFamily="34" charset="0"/>
              </a:rPr>
              <a:t>                    check </a:t>
            </a:r>
            <a:r>
              <a:rPr lang="en-US" altLang="zh-CN" b="0" dirty="0">
                <a:solidFill>
                  <a:schemeClr val="tx1"/>
                </a:solidFill>
                <a:latin typeface="Arial" panose="020B0604020202020204" pitchFamily="34" charset="0"/>
              </a:rPr>
              <a:t>(ssex  in (</a:t>
            </a:r>
            <a:r>
              <a:rPr lang="en-US" altLang="zh-CN" b="0" dirty="0">
                <a:solidFill>
                  <a:srgbClr val="FF0000"/>
                </a:solidFill>
                <a:latin typeface="Arial" panose="020B0604020202020204" pitchFamily="34" charset="0"/>
              </a:rPr>
              <a:t>‘</a:t>
            </a:r>
            <a:r>
              <a:rPr lang="zh-CN" altLang="en-US" b="0" dirty="0">
                <a:solidFill>
                  <a:srgbClr val="FF0000"/>
                </a:solidFill>
                <a:latin typeface="Arial" panose="020B0604020202020204" pitchFamily="34" charset="0"/>
              </a:rPr>
              <a:t>男’</a:t>
            </a:r>
            <a:r>
              <a:rPr lang="en-US" altLang="zh-CN" b="0" dirty="0">
                <a:solidFill>
                  <a:schemeClr val="tx1"/>
                </a:solidFill>
                <a:latin typeface="Arial" panose="020B0604020202020204" pitchFamily="34" charset="0"/>
              </a:rPr>
              <a:t>,</a:t>
            </a:r>
            <a:r>
              <a:rPr lang="en-US" altLang="zh-CN" b="0" dirty="0">
                <a:solidFill>
                  <a:srgbClr val="FF0000"/>
                </a:solidFill>
                <a:latin typeface="Arial" panose="020B0604020202020204" pitchFamily="34" charset="0"/>
              </a:rPr>
              <a:t>’</a:t>
            </a:r>
            <a:r>
              <a:rPr lang="zh-CN" altLang="en-US" b="0" dirty="0">
                <a:solidFill>
                  <a:srgbClr val="FF0000"/>
                </a:solidFill>
                <a:latin typeface="Arial" panose="020B0604020202020204" pitchFamily="34" charset="0"/>
              </a:rPr>
              <a:t>女’</a:t>
            </a:r>
            <a:r>
              <a:rPr lang="en-US" altLang="zh-CN" b="0" dirty="0">
                <a:solidFill>
                  <a:schemeClr val="tx1"/>
                </a:solidFill>
                <a:latin typeface="Arial" panose="020B0604020202020204" pitchFamily="34" charset="0"/>
              </a:rPr>
              <a:t>))</a:t>
            </a:r>
            <a:endParaRPr lang="en-US" altLang="zh-CN" b="0" dirty="0">
              <a:solidFill>
                <a:schemeClr val="tx1"/>
              </a:solidFill>
              <a:latin typeface="Arial" panose="020B0604020202020204" pitchFamily="34" charset="0"/>
            </a:endParaRPr>
          </a:p>
          <a:p>
            <a:pPr eaLnBrk="1" hangingPunct="1">
              <a:buNone/>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9155" name="Rectangle 2"/>
          <p:cNvSpPr/>
          <p:nvPr/>
        </p:nvSpPr>
        <p:spPr>
          <a:xfrm>
            <a:off x="558800" y="363855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49156" name="Rectangle 3"/>
          <p:cNvSpPr>
            <a:spLocks noGrp="1"/>
          </p:cNvSpPr>
          <p:nvPr>
            <p:ph idx="1"/>
          </p:nvPr>
        </p:nvSpPr>
        <p:spPr>
          <a:xfrm>
            <a:off x="762000" y="1358900"/>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5.1  </a:t>
            </a:r>
            <a:r>
              <a:rPr lang="zh-CN" altLang="en-US" dirty="0">
                <a:solidFill>
                  <a:schemeClr val="tx1"/>
                </a:solidFill>
              </a:rPr>
              <a:t>实体完整性</a:t>
            </a:r>
            <a:endParaRPr lang="zh-CN" altLang="en-US" dirty="0">
              <a:solidFill>
                <a:schemeClr val="tx1"/>
              </a:solidFill>
            </a:endParaRPr>
          </a:p>
          <a:p>
            <a:pPr algn="just" eaLnBrk="1" hangingPunct="1">
              <a:lnSpc>
                <a:spcPct val="130000"/>
              </a:lnSpc>
              <a:buNone/>
            </a:pPr>
            <a:r>
              <a:rPr lang="en-US" altLang="zh-CN" dirty="0">
                <a:solidFill>
                  <a:schemeClr val="tx1"/>
                </a:solidFill>
              </a:rPr>
              <a:t>5.2  </a:t>
            </a:r>
            <a:r>
              <a:rPr lang="zh-CN" altLang="en-US" dirty="0">
                <a:solidFill>
                  <a:schemeClr val="tx1"/>
                </a:solidFill>
              </a:rPr>
              <a:t>参照完整性</a:t>
            </a:r>
            <a:endParaRPr lang="zh-CN" altLang="en-US" dirty="0">
              <a:solidFill>
                <a:schemeClr val="tx1"/>
              </a:solidFill>
            </a:endParaRPr>
          </a:p>
          <a:p>
            <a:pPr algn="just" eaLnBrk="1" hangingPunct="1">
              <a:lnSpc>
                <a:spcPct val="130000"/>
              </a:lnSpc>
              <a:buNone/>
            </a:pPr>
            <a:r>
              <a:rPr lang="en-US" altLang="zh-CN" dirty="0">
                <a:solidFill>
                  <a:schemeClr val="tx1"/>
                </a:solidFill>
              </a:rPr>
              <a:t>5.3  </a:t>
            </a:r>
            <a:r>
              <a:rPr lang="zh-CN" altLang="en-US" dirty="0">
                <a:solidFill>
                  <a:schemeClr val="tx1"/>
                </a:solidFill>
              </a:rPr>
              <a:t>用户定义的完整性</a:t>
            </a:r>
            <a:endParaRPr lang="zh-CN" altLang="en-US" dirty="0">
              <a:solidFill>
                <a:schemeClr val="tx1"/>
              </a:solidFill>
            </a:endParaRPr>
          </a:p>
          <a:p>
            <a:pPr algn="just" eaLnBrk="1" hangingPunct="1">
              <a:lnSpc>
                <a:spcPct val="130000"/>
              </a:lnSpc>
              <a:buNone/>
            </a:pPr>
            <a:r>
              <a:rPr lang="en-US" altLang="zh-CN" dirty="0">
                <a:solidFill>
                  <a:schemeClr val="bg1"/>
                </a:solidFill>
              </a:rPr>
              <a:t>5.4  </a:t>
            </a:r>
            <a:r>
              <a:rPr lang="zh-CN" altLang="en-US" dirty="0">
                <a:solidFill>
                  <a:schemeClr val="bg1"/>
                </a:solidFill>
              </a:rPr>
              <a:t>完整性约束命名子句</a:t>
            </a:r>
            <a:endParaRPr lang="zh-CN" altLang="en-US" dirty="0">
              <a:solidFill>
                <a:schemeClr val="bg1"/>
              </a:solidFill>
            </a:endParaRPr>
          </a:p>
          <a:p>
            <a:pPr algn="just" eaLnBrk="1" hangingPunct="1">
              <a:lnSpc>
                <a:spcPct val="130000"/>
              </a:lnSpc>
              <a:buNone/>
            </a:pPr>
            <a:r>
              <a:rPr lang="en-US" altLang="zh-CN" dirty="0">
                <a:solidFill>
                  <a:schemeClr val="bg2"/>
                </a:solidFill>
              </a:rPr>
              <a:t>5.5  </a:t>
            </a:r>
            <a:r>
              <a:rPr lang="zh-CN" altLang="en-US" dirty="0">
                <a:solidFill>
                  <a:schemeClr val="bg2"/>
                </a:solidFill>
              </a:rPr>
              <a:t>域中的完整性限制</a:t>
            </a:r>
            <a:endParaRPr lang="zh-CN" altLang="en-US" dirty="0">
              <a:solidFill>
                <a:schemeClr val="bg2"/>
              </a:solidFill>
            </a:endParaRPr>
          </a:p>
          <a:p>
            <a:pPr algn="just" eaLnBrk="1" hangingPunct="1">
              <a:lnSpc>
                <a:spcPct val="130000"/>
              </a:lnSpc>
              <a:buNone/>
            </a:pPr>
            <a:r>
              <a:rPr lang="en-US" altLang="zh-CN" dirty="0">
                <a:solidFill>
                  <a:schemeClr val="tx1"/>
                </a:solidFill>
              </a:rPr>
              <a:t>5.6  </a:t>
            </a:r>
            <a:r>
              <a:rPr lang="zh-CN" altLang="en-US" dirty="0">
                <a:solidFill>
                  <a:schemeClr val="tx1"/>
                </a:solidFill>
              </a:rPr>
              <a:t>触发器</a:t>
            </a:r>
            <a:endParaRPr lang="zh-CN" altLang="en-US" dirty="0">
              <a:solidFill>
                <a:schemeClr val="tx1"/>
              </a:solidFill>
            </a:endParaRPr>
          </a:p>
          <a:p>
            <a:pPr algn="just" eaLnBrk="1" hangingPunct="1">
              <a:lnSpc>
                <a:spcPct val="130000"/>
              </a:lnSpc>
              <a:buNone/>
            </a:pPr>
            <a:r>
              <a:rPr lang="en-US" altLang="zh-CN" dirty="0">
                <a:solidFill>
                  <a:schemeClr val="tx1"/>
                </a:solidFill>
              </a:rPr>
              <a:t>5.7  </a:t>
            </a:r>
            <a:r>
              <a:rPr lang="zh-CN" altLang="en-US" dirty="0">
                <a:solidFill>
                  <a:schemeClr val="tx1"/>
                </a:solidFill>
              </a:rPr>
              <a:t>小结</a:t>
            </a:r>
            <a:endParaRPr lang="zh-CN" altLang="en-US" dirty="0">
              <a:solidFill>
                <a:schemeClr val="tx1"/>
              </a:solidFill>
            </a:endParaRPr>
          </a:p>
        </p:txBody>
      </p:sp>
      <p:sp>
        <p:nvSpPr>
          <p:cNvPr id="49157"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0179" name="Rectangle 2"/>
          <p:cNvSpPr>
            <a:spLocks noGrp="1"/>
          </p:cNvSpPr>
          <p:nvPr>
            <p:ph type="title"/>
          </p:nvPr>
        </p:nvSpPr>
        <p:spPr>
          <a:xfrm>
            <a:off x="1295400" y="0"/>
            <a:ext cx="7620000" cy="609600"/>
          </a:xfrm>
          <a:ln/>
        </p:spPr>
        <p:txBody>
          <a:bodyPr vert="horz" wrap="square" lIns="91440" tIns="45720" rIns="91440" bIns="45720" anchor="ctr" anchorCtr="0"/>
          <a:p>
            <a:pPr eaLnBrk="1" hangingPunct="1"/>
            <a:r>
              <a:rPr lang="en-US" altLang="zh-CN" sz="3200" dirty="0"/>
              <a:t>5.4 </a:t>
            </a:r>
            <a:r>
              <a:rPr lang="zh-CN" altLang="en-US" sz="3200" dirty="0"/>
              <a:t>完整性约束命名子句</a:t>
            </a:r>
            <a:endParaRPr lang="zh-CN" altLang="en-US" sz="3200" dirty="0"/>
          </a:p>
        </p:txBody>
      </p:sp>
      <p:sp>
        <p:nvSpPr>
          <p:cNvPr id="50180" name="Rectangle 3"/>
          <p:cNvSpPr>
            <a:spLocks noGrp="1"/>
          </p:cNvSpPr>
          <p:nvPr>
            <p:ph idx="1"/>
          </p:nvPr>
        </p:nvSpPr>
        <p:spPr>
          <a:xfrm>
            <a:off x="152400" y="914400"/>
            <a:ext cx="8686800" cy="5683250"/>
          </a:xfrm>
          <a:ln/>
        </p:spPr>
        <p:txBody>
          <a:bodyPr vert="horz" wrap="square" lIns="91440" tIns="45720" rIns="91440" bIns="45720" anchor="t" anchorCtr="0"/>
          <a:p>
            <a:pPr eaLnBrk="1" hangingPunct="1">
              <a:buNone/>
            </a:pPr>
            <a:r>
              <a:rPr lang="en-US" altLang="zh-CN" b="0" dirty="0">
                <a:solidFill>
                  <a:schemeClr val="tx1"/>
                </a:solidFill>
                <a:latin typeface="Arial" panose="020B0604020202020204" pitchFamily="34" charset="0"/>
              </a:rPr>
              <a:t>	</a:t>
            </a:r>
            <a:r>
              <a:rPr lang="zh-CN" altLang="en-US" b="0" dirty="0">
                <a:solidFill>
                  <a:schemeClr val="tx1"/>
                </a:solidFill>
                <a:latin typeface="Arial" panose="020B0604020202020204" pitchFamily="34" charset="0"/>
              </a:rPr>
              <a:t>所有的完整性约束都可以显式命名。</a:t>
            </a:r>
            <a:endParaRPr lang="zh-CN" altLang="en-US" b="0" dirty="0">
              <a:solidFill>
                <a:schemeClr val="tx1"/>
              </a:solidFill>
              <a:latin typeface="Arial" panose="020B0604020202020204" pitchFamily="34" charset="0"/>
            </a:endParaRPr>
          </a:p>
          <a:p>
            <a:pPr eaLnBrk="1" hangingPunct="1">
              <a:buNone/>
            </a:pPr>
            <a:endParaRPr lang="zh-CN" altLang="en-US" b="0" dirty="0">
              <a:solidFill>
                <a:schemeClr val="tx1"/>
              </a:solidFill>
              <a:latin typeface="Arial" panose="020B0604020202020204" pitchFamily="34" charset="0"/>
            </a:endParaRPr>
          </a:p>
          <a:p>
            <a:pPr eaLnBrk="1" hangingPunct="1">
              <a:buNone/>
            </a:pPr>
            <a:r>
              <a:rPr lang="en-US" altLang="zh-CN" b="0" dirty="0">
                <a:solidFill>
                  <a:schemeClr val="tx1"/>
                </a:solidFill>
                <a:latin typeface="Arial" panose="020B0604020202020204" pitchFamily="34" charset="0"/>
              </a:rPr>
              <a:t>&lt;</a:t>
            </a:r>
            <a:r>
              <a:rPr lang="zh-CN" altLang="en-US" b="0" dirty="0">
                <a:solidFill>
                  <a:schemeClr val="tx1"/>
                </a:solidFill>
                <a:latin typeface="Arial" panose="020B0604020202020204" pitchFamily="34" charset="0"/>
                <a:ea typeface="楷体_GB2312" pitchFamily="49" charset="-122"/>
              </a:rPr>
              <a:t>约束</a:t>
            </a:r>
            <a:r>
              <a:rPr lang="en-US" altLang="zh-CN" b="0" dirty="0">
                <a:solidFill>
                  <a:schemeClr val="tx1"/>
                </a:solidFill>
                <a:latin typeface="Arial" panose="020B0604020202020204" pitchFamily="34" charset="0"/>
              </a:rPr>
              <a:t>&gt; :== [</a:t>
            </a:r>
            <a:r>
              <a:rPr lang="en-US" altLang="zh-CN" b="0" dirty="0">
                <a:solidFill>
                  <a:schemeClr val="accent2"/>
                </a:solidFill>
                <a:latin typeface="Arial" panose="020B0604020202020204" pitchFamily="34" charset="0"/>
              </a:rPr>
              <a:t> CONSTRAINT</a:t>
            </a:r>
            <a:r>
              <a:rPr lang="en-US" altLang="zh-CN" b="0" dirty="0">
                <a:solidFill>
                  <a:schemeClr val="tx1"/>
                </a:solidFill>
                <a:latin typeface="Arial" panose="020B0604020202020204" pitchFamily="34" charset="0"/>
              </a:rPr>
              <a:t> </a:t>
            </a:r>
            <a:r>
              <a:rPr lang="zh-CN" altLang="en-US" b="0" dirty="0">
                <a:solidFill>
                  <a:schemeClr val="tx1"/>
                </a:solidFill>
                <a:latin typeface="Arial" panose="020B0604020202020204" pitchFamily="34" charset="0"/>
                <a:ea typeface="楷体_GB2312" pitchFamily="49" charset="-122"/>
              </a:rPr>
              <a:t>约束名</a:t>
            </a:r>
            <a:r>
              <a:rPr lang="en-US" altLang="zh-CN" b="0" dirty="0">
                <a:solidFill>
                  <a:schemeClr val="tx1"/>
                </a:solidFill>
                <a:latin typeface="Arial" panose="020B0604020202020204" pitchFamily="34" charset="0"/>
              </a:rPr>
              <a:t>]</a:t>
            </a:r>
            <a:endParaRPr lang="en-US" altLang="zh-CN" b="0" dirty="0">
              <a:solidFill>
                <a:schemeClr val="tx1"/>
              </a:solidFill>
              <a:latin typeface="Arial" panose="020B0604020202020204" pitchFamily="34" charset="0"/>
            </a:endParaRPr>
          </a:p>
          <a:p>
            <a:pPr eaLnBrk="1" hangingPunct="1">
              <a:lnSpc>
                <a:spcPct val="120000"/>
              </a:lnSpc>
              <a:buClr>
                <a:srgbClr val="0000FF"/>
              </a:buClr>
              <a:buNone/>
            </a:pPr>
            <a:r>
              <a:rPr lang="en-US" altLang="zh-CN" b="0" dirty="0">
                <a:solidFill>
                  <a:schemeClr val="tx1"/>
                </a:solidFill>
                <a:latin typeface="Arial" panose="020B0604020202020204" pitchFamily="34" charset="0"/>
              </a:rPr>
              <a:t>		{NULL</a:t>
            </a:r>
            <a:r>
              <a:rPr lang="zh-CN" altLang="en-US" b="0" dirty="0">
                <a:solidFill>
                  <a:schemeClr val="tx1"/>
                </a:solidFill>
                <a:latin typeface="Arial" panose="020B0604020202020204" pitchFamily="34" charset="0"/>
                <a:ea typeface="楷体_GB2312" pitchFamily="49" charset="-122"/>
              </a:rPr>
              <a:t>或</a:t>
            </a:r>
            <a:r>
              <a:rPr lang="en-US" altLang="zh-CN" b="0" dirty="0">
                <a:solidFill>
                  <a:schemeClr val="tx1"/>
                </a:solidFill>
                <a:latin typeface="Arial" panose="020B0604020202020204" pitchFamily="34" charset="0"/>
              </a:rPr>
              <a:t>| NOT NULL</a:t>
            </a:r>
            <a:r>
              <a:rPr lang="zh-CN" altLang="en-US" b="0" dirty="0">
                <a:solidFill>
                  <a:schemeClr val="tx1"/>
                </a:solidFill>
                <a:latin typeface="Arial" panose="020B0604020202020204" pitchFamily="34" charset="0"/>
                <a:ea typeface="楷体_GB2312" pitchFamily="49" charset="-122"/>
              </a:rPr>
              <a:t>约束</a:t>
            </a:r>
            <a:r>
              <a:rPr lang="zh-CN" altLang="en-US" b="0" dirty="0">
                <a:solidFill>
                  <a:schemeClr val="tx1"/>
                </a:solidFill>
                <a:latin typeface="Arial" panose="020B0604020202020204" pitchFamily="34" charset="0"/>
              </a:rPr>
              <a:t> </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a:p>
            <a:pPr eaLnBrk="1" hangingPunct="1">
              <a:lnSpc>
                <a:spcPct val="120000"/>
              </a:lnSpc>
              <a:buClr>
                <a:srgbClr val="0000FF"/>
              </a:buClr>
              <a:buNone/>
            </a:pPr>
            <a:r>
              <a:rPr lang="en-US" altLang="zh-CN" b="0" dirty="0">
                <a:solidFill>
                  <a:schemeClr val="tx1"/>
                </a:solidFill>
                <a:latin typeface="Arial" panose="020B0604020202020204" pitchFamily="34" charset="0"/>
              </a:rPr>
              <a:t>		| </a:t>
            </a:r>
            <a:r>
              <a:rPr lang="en-US" altLang="zh-CN" b="0" dirty="0">
                <a:solidFill>
                  <a:schemeClr val="accent2"/>
                </a:solidFill>
                <a:latin typeface="Arial" panose="020B0604020202020204" pitchFamily="34" charset="0"/>
              </a:rPr>
              <a:t>PRIMARY KEY</a:t>
            </a:r>
            <a:r>
              <a:rPr lang="zh-CN" altLang="en-US" b="0" dirty="0">
                <a:solidFill>
                  <a:schemeClr val="tx1"/>
                </a:solidFill>
                <a:latin typeface="Arial" panose="020B0604020202020204" pitchFamily="34" charset="0"/>
                <a:ea typeface="楷体_GB2312" pitchFamily="49" charset="-122"/>
              </a:rPr>
              <a:t>或</a:t>
            </a:r>
            <a:r>
              <a:rPr lang="zh-CN" altLang="en-US"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UNIQUE </a:t>
            </a:r>
            <a:r>
              <a:rPr lang="zh-CN" altLang="en-US" b="0" dirty="0">
                <a:solidFill>
                  <a:schemeClr val="tx1"/>
                </a:solidFill>
                <a:latin typeface="Arial" panose="020B0604020202020204" pitchFamily="34" charset="0"/>
                <a:ea typeface="楷体_GB2312" pitchFamily="49" charset="-122"/>
              </a:rPr>
              <a:t>约束</a:t>
            </a:r>
            <a:endParaRPr lang="zh-CN" altLang="en-US" b="0" dirty="0">
              <a:solidFill>
                <a:schemeClr val="tx1"/>
              </a:solidFill>
              <a:latin typeface="Arial" panose="020B0604020202020204" pitchFamily="34" charset="0"/>
              <a:ea typeface="楷体_GB2312" pitchFamily="49" charset="-122"/>
            </a:endParaRPr>
          </a:p>
          <a:p>
            <a:pPr eaLnBrk="1" hangingPunct="1">
              <a:lnSpc>
                <a:spcPct val="120000"/>
              </a:lnSpc>
              <a:buClr>
                <a:srgbClr val="0000FF"/>
              </a:buClr>
              <a:buNone/>
            </a:pPr>
            <a:r>
              <a:rPr lang="zh-CN" altLang="en-US" b="0" dirty="0">
                <a:solidFill>
                  <a:schemeClr val="tx1"/>
                </a:solidFill>
                <a:latin typeface="Arial" panose="020B0604020202020204" pitchFamily="34" charset="0"/>
              </a:rPr>
              <a:t>		</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FOREIGN KEY</a:t>
            </a:r>
            <a:r>
              <a:rPr lang="en-US" altLang="zh-CN" b="0" dirty="0">
                <a:solidFill>
                  <a:schemeClr val="tx1"/>
                </a:solidFill>
                <a:latin typeface="Arial" panose="020B0604020202020204" pitchFamily="34" charset="0"/>
              </a:rPr>
              <a:t> </a:t>
            </a:r>
            <a:r>
              <a:rPr lang="zh-CN" altLang="en-US" b="0" dirty="0">
                <a:solidFill>
                  <a:schemeClr val="tx1"/>
                </a:solidFill>
                <a:latin typeface="Arial" panose="020B0604020202020204" pitchFamily="34" charset="0"/>
                <a:ea typeface="楷体_GB2312" pitchFamily="49" charset="-122"/>
              </a:rPr>
              <a:t>约束</a:t>
            </a:r>
            <a:endParaRPr lang="zh-CN" altLang="en-US" b="0" dirty="0">
              <a:solidFill>
                <a:schemeClr val="tx1"/>
              </a:solidFill>
              <a:latin typeface="Arial" panose="020B0604020202020204" pitchFamily="34" charset="0"/>
              <a:ea typeface="楷体_GB2312" pitchFamily="49" charset="-122"/>
            </a:endParaRPr>
          </a:p>
          <a:p>
            <a:pPr eaLnBrk="1" hangingPunct="1">
              <a:lnSpc>
                <a:spcPct val="120000"/>
              </a:lnSpc>
              <a:buClr>
                <a:srgbClr val="0000FF"/>
              </a:buClr>
              <a:buNone/>
            </a:pPr>
            <a:r>
              <a:rPr lang="zh-CN" altLang="en-US" b="0" dirty="0">
                <a:solidFill>
                  <a:schemeClr val="tx1"/>
                </a:solidFill>
                <a:latin typeface="Arial" panose="020B0604020202020204" pitchFamily="34" charset="0"/>
              </a:rPr>
              <a:t>		</a:t>
            </a:r>
            <a:r>
              <a:rPr lang="en-US" altLang="zh-CN" b="0" dirty="0">
                <a:solidFill>
                  <a:schemeClr val="tx1"/>
                </a:solidFill>
                <a:latin typeface="Arial" panose="020B0604020202020204" pitchFamily="34" charset="0"/>
              </a:rPr>
              <a:t>| </a:t>
            </a:r>
            <a:r>
              <a:rPr lang="en-US" altLang="zh-CN" b="0" dirty="0">
                <a:solidFill>
                  <a:schemeClr val="accent2"/>
                </a:solidFill>
                <a:latin typeface="Arial" panose="020B0604020202020204" pitchFamily="34" charset="0"/>
              </a:rPr>
              <a:t>CHECK </a:t>
            </a:r>
            <a:r>
              <a:rPr lang="zh-CN" altLang="en-US" b="0" dirty="0">
                <a:solidFill>
                  <a:schemeClr val="tx1"/>
                </a:solidFill>
                <a:latin typeface="Arial" panose="020B0604020202020204" pitchFamily="34" charset="0"/>
                <a:ea typeface="楷体_GB2312" pitchFamily="49" charset="-122"/>
              </a:rPr>
              <a:t>约束</a:t>
            </a:r>
            <a:r>
              <a:rPr lang="zh-CN" altLang="en-US" b="0" dirty="0">
                <a:solidFill>
                  <a:schemeClr val="tx1"/>
                </a:solidFill>
                <a:latin typeface="Arial" panose="020B0604020202020204" pitchFamily="34" charset="0"/>
              </a:rPr>
              <a:t> </a:t>
            </a: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03" name="Rectangle 2"/>
          <p:cNvSpPr/>
          <p:nvPr/>
        </p:nvSpPr>
        <p:spPr>
          <a:xfrm>
            <a:off x="546100" y="4437063"/>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51204" name="Rectangle 3"/>
          <p:cNvSpPr>
            <a:spLocks noGrp="1"/>
          </p:cNvSpPr>
          <p:nvPr>
            <p:ph idx="1"/>
          </p:nvPr>
        </p:nvSpPr>
        <p:spPr>
          <a:xfrm>
            <a:off x="798513" y="1412875"/>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5.1  </a:t>
            </a:r>
            <a:r>
              <a:rPr lang="zh-CN" altLang="en-US" dirty="0">
                <a:solidFill>
                  <a:schemeClr val="tx1"/>
                </a:solidFill>
              </a:rPr>
              <a:t>实体完整性</a:t>
            </a:r>
            <a:endParaRPr lang="zh-CN" altLang="en-US" dirty="0">
              <a:solidFill>
                <a:schemeClr val="tx1"/>
              </a:solidFill>
            </a:endParaRPr>
          </a:p>
          <a:p>
            <a:pPr algn="just" eaLnBrk="1" hangingPunct="1">
              <a:lnSpc>
                <a:spcPct val="130000"/>
              </a:lnSpc>
              <a:buNone/>
            </a:pPr>
            <a:r>
              <a:rPr lang="en-US" altLang="zh-CN" dirty="0">
                <a:solidFill>
                  <a:schemeClr val="tx1"/>
                </a:solidFill>
              </a:rPr>
              <a:t>5.2  </a:t>
            </a:r>
            <a:r>
              <a:rPr lang="zh-CN" altLang="en-US" dirty="0">
                <a:solidFill>
                  <a:schemeClr val="tx1"/>
                </a:solidFill>
              </a:rPr>
              <a:t>参照完整性</a:t>
            </a:r>
            <a:endParaRPr lang="zh-CN" altLang="en-US" dirty="0">
              <a:solidFill>
                <a:schemeClr val="tx1"/>
              </a:solidFill>
            </a:endParaRPr>
          </a:p>
          <a:p>
            <a:pPr algn="just" eaLnBrk="1" hangingPunct="1">
              <a:lnSpc>
                <a:spcPct val="130000"/>
              </a:lnSpc>
              <a:buNone/>
            </a:pPr>
            <a:r>
              <a:rPr lang="en-US" altLang="zh-CN" dirty="0">
                <a:solidFill>
                  <a:schemeClr val="tx1"/>
                </a:solidFill>
              </a:rPr>
              <a:t>5.3  </a:t>
            </a:r>
            <a:r>
              <a:rPr lang="zh-CN" altLang="en-US" dirty="0">
                <a:solidFill>
                  <a:schemeClr val="tx1"/>
                </a:solidFill>
              </a:rPr>
              <a:t>用户定义的完整性</a:t>
            </a:r>
            <a:endParaRPr lang="zh-CN" altLang="en-US" dirty="0">
              <a:solidFill>
                <a:schemeClr val="tx1"/>
              </a:solidFill>
            </a:endParaRPr>
          </a:p>
          <a:p>
            <a:pPr algn="just" eaLnBrk="1" hangingPunct="1">
              <a:lnSpc>
                <a:spcPct val="130000"/>
              </a:lnSpc>
              <a:buNone/>
            </a:pPr>
            <a:r>
              <a:rPr lang="en-US" altLang="zh-CN" dirty="0">
                <a:solidFill>
                  <a:schemeClr val="tx1"/>
                </a:solidFill>
              </a:rPr>
              <a:t>5.4  </a:t>
            </a:r>
            <a:r>
              <a:rPr lang="zh-CN" altLang="en-US" dirty="0">
                <a:solidFill>
                  <a:schemeClr val="tx1"/>
                </a:solidFill>
              </a:rPr>
              <a:t>完整性约束命名子句</a:t>
            </a:r>
            <a:endParaRPr lang="zh-CN" altLang="en-US" dirty="0">
              <a:solidFill>
                <a:schemeClr val="tx1"/>
              </a:solidFill>
            </a:endParaRPr>
          </a:p>
          <a:p>
            <a:pPr algn="just" eaLnBrk="1" hangingPunct="1">
              <a:lnSpc>
                <a:spcPct val="130000"/>
              </a:lnSpc>
              <a:buNone/>
            </a:pPr>
            <a:r>
              <a:rPr lang="en-US" altLang="zh-CN" dirty="0">
                <a:solidFill>
                  <a:schemeClr val="bg1"/>
                </a:solidFill>
              </a:rPr>
              <a:t>5.5  </a:t>
            </a:r>
            <a:r>
              <a:rPr lang="zh-CN" altLang="en-US" dirty="0">
                <a:solidFill>
                  <a:schemeClr val="bg1"/>
                </a:solidFill>
              </a:rPr>
              <a:t>存储过程</a:t>
            </a:r>
            <a:endParaRPr lang="zh-CN" altLang="en-US" dirty="0">
              <a:solidFill>
                <a:schemeClr val="bg1"/>
              </a:solidFill>
            </a:endParaRPr>
          </a:p>
          <a:p>
            <a:pPr algn="just" eaLnBrk="1" hangingPunct="1">
              <a:lnSpc>
                <a:spcPct val="130000"/>
              </a:lnSpc>
              <a:buNone/>
            </a:pPr>
            <a:r>
              <a:rPr lang="en-US" altLang="zh-CN" dirty="0">
                <a:solidFill>
                  <a:schemeClr val="tx1"/>
                </a:solidFill>
              </a:rPr>
              <a:t>5.6  </a:t>
            </a:r>
            <a:r>
              <a:rPr lang="zh-CN" altLang="en-US" dirty="0">
                <a:solidFill>
                  <a:schemeClr val="tx1"/>
                </a:solidFill>
              </a:rPr>
              <a:t>触发器</a:t>
            </a:r>
            <a:endParaRPr lang="zh-CN" altLang="en-US" dirty="0">
              <a:solidFill>
                <a:schemeClr val="tx1"/>
              </a:solidFill>
            </a:endParaRPr>
          </a:p>
          <a:p>
            <a:pPr algn="just" eaLnBrk="1" hangingPunct="1">
              <a:lnSpc>
                <a:spcPct val="130000"/>
              </a:lnSpc>
              <a:buNone/>
            </a:pPr>
            <a:r>
              <a:rPr lang="en-US" altLang="zh-CN" dirty="0">
                <a:solidFill>
                  <a:schemeClr val="tx1"/>
                </a:solidFill>
              </a:rPr>
              <a:t>5.7  </a:t>
            </a:r>
            <a:r>
              <a:rPr lang="zh-CN" altLang="en-US" dirty="0">
                <a:solidFill>
                  <a:schemeClr val="tx1"/>
                </a:solidFill>
              </a:rPr>
              <a:t>小结</a:t>
            </a:r>
            <a:endParaRPr lang="zh-CN" altLang="en-US" dirty="0">
              <a:solidFill>
                <a:schemeClr val="tx1"/>
              </a:solidFill>
            </a:endParaRPr>
          </a:p>
        </p:txBody>
      </p:sp>
      <p:sp>
        <p:nvSpPr>
          <p:cNvPr id="51205"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2227"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存储过程</a:t>
            </a:r>
            <a:endParaRPr lang="zh-CN" altLang="en-US" sz="3200" dirty="0">
              <a:ea typeface="宋体" panose="02010600030101010101" pitchFamily="2" charset="-122"/>
            </a:endParaRPr>
          </a:p>
        </p:txBody>
      </p:sp>
      <p:sp>
        <p:nvSpPr>
          <p:cNvPr id="52228" name="Rectangle 3"/>
          <p:cNvSpPr>
            <a:spLocks noGrp="1"/>
          </p:cNvSpPr>
          <p:nvPr>
            <p:ph idx="1"/>
          </p:nvPr>
        </p:nvSpPr>
        <p:spPr>
          <a:xfrm>
            <a:off x="260350" y="1295400"/>
            <a:ext cx="8229600" cy="4768850"/>
          </a:xfrm>
          <a:ln/>
        </p:spPr>
        <p:txBody>
          <a:bodyPr vert="horz" wrap="square" lIns="91440" tIns="45720" rIns="91440" bIns="45720" anchor="t" anchorCtr="0"/>
          <a:p>
            <a:pPr>
              <a:lnSpc>
                <a:spcPct val="130000"/>
              </a:lnSpc>
            </a:pPr>
            <a:r>
              <a:rPr lang="zh-CN" altLang="en-US" sz="3100" dirty="0"/>
              <a:t>存储过程：由</a:t>
            </a:r>
            <a:r>
              <a:rPr lang="en-US" altLang="zh-CN" sz="3100" dirty="0"/>
              <a:t>PL/SQL</a:t>
            </a:r>
            <a:r>
              <a:rPr lang="zh-CN" altLang="en-US" sz="3100" dirty="0"/>
              <a:t>语句书写的过程，经编译和优化后存储在数据库服务器中，使用时只要调用即可。 </a:t>
            </a:r>
            <a:endParaRPr lang="zh-CN" altLang="en-US" sz="3100" dirty="0"/>
          </a:p>
          <a:p>
            <a:pPr>
              <a:lnSpc>
                <a:spcPct val="130000"/>
              </a:lnSpc>
            </a:pPr>
            <a:r>
              <a:rPr lang="zh-CN" altLang="en-US" sz="3100" dirty="0"/>
              <a:t>一、存储过程的优点：</a:t>
            </a:r>
            <a:endParaRPr lang="zh-CN" altLang="en-US" sz="3100" dirty="0"/>
          </a:p>
          <a:p>
            <a:pPr>
              <a:lnSpc>
                <a:spcPct val="130000"/>
              </a:lnSpc>
              <a:buNone/>
            </a:pPr>
            <a:r>
              <a:rPr lang="zh-CN" altLang="en-US" dirty="0"/>
              <a:t>	</a:t>
            </a:r>
            <a:r>
              <a:rPr lang="en-US" altLang="zh-CN" dirty="0"/>
              <a:t>1. </a:t>
            </a:r>
            <a:r>
              <a:rPr lang="zh-CN" altLang="en-US" dirty="0"/>
              <a:t>运行效率高</a:t>
            </a:r>
            <a:endParaRPr lang="zh-CN" altLang="en-US" dirty="0"/>
          </a:p>
          <a:p>
            <a:pPr>
              <a:lnSpc>
                <a:spcPct val="130000"/>
              </a:lnSpc>
              <a:buNone/>
            </a:pPr>
            <a:r>
              <a:rPr lang="zh-CN" altLang="en-US" dirty="0"/>
              <a:t>	</a:t>
            </a:r>
            <a:r>
              <a:rPr lang="en-US" altLang="zh-CN" dirty="0"/>
              <a:t>2. </a:t>
            </a:r>
            <a:r>
              <a:rPr lang="zh-CN" altLang="en-US" dirty="0"/>
              <a:t>降低了客户机和服务器之间的通信量	</a:t>
            </a:r>
            <a:endParaRPr lang="zh-CN" altLang="en-US" dirty="0"/>
          </a:p>
          <a:p>
            <a:pPr>
              <a:lnSpc>
                <a:spcPct val="130000"/>
              </a:lnSpc>
              <a:buNone/>
            </a:pPr>
            <a:r>
              <a:rPr lang="zh-CN" altLang="en-US" dirty="0"/>
              <a:t>    </a:t>
            </a:r>
            <a:r>
              <a:rPr lang="en-US" altLang="zh-CN" dirty="0"/>
              <a:t>3. </a:t>
            </a:r>
            <a:r>
              <a:rPr lang="zh-CN" altLang="en-US" dirty="0"/>
              <a:t>方便实施企业规则</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3251"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5.5.1  PL/SQL</a:t>
            </a:r>
            <a:r>
              <a:rPr lang="zh-CN" altLang="en-US" sz="3200" dirty="0">
                <a:ea typeface="宋体" panose="02010600030101010101" pitchFamily="2" charset="-122"/>
              </a:rPr>
              <a:t>的块结构</a:t>
            </a:r>
            <a:endParaRPr lang="zh-CN" altLang="en-US" sz="3200" dirty="0">
              <a:ea typeface="宋体" panose="02010600030101010101" pitchFamily="2" charset="-122"/>
            </a:endParaRPr>
          </a:p>
        </p:txBody>
      </p:sp>
      <p:sp>
        <p:nvSpPr>
          <p:cNvPr id="53252" name="Rectangle 3"/>
          <p:cNvSpPr>
            <a:spLocks noGrp="1"/>
          </p:cNvSpPr>
          <p:nvPr>
            <p:ph idx="1"/>
          </p:nvPr>
        </p:nvSpPr>
        <p:spPr>
          <a:ln/>
        </p:spPr>
        <p:txBody>
          <a:bodyPr vert="horz" wrap="square" lIns="91440" tIns="45720" rIns="91440" bIns="45720" anchor="t" anchorCtr="0"/>
          <a:p>
            <a:pPr>
              <a:lnSpc>
                <a:spcPct val="140000"/>
              </a:lnSpc>
            </a:pPr>
            <a:r>
              <a:rPr lang="en-US" altLang="zh-CN" dirty="0"/>
              <a:t>PL/SQL </a:t>
            </a:r>
            <a:r>
              <a:rPr lang="zh-CN" altLang="en-US" dirty="0"/>
              <a:t>：</a:t>
            </a:r>
            <a:endParaRPr lang="zh-CN" altLang="en-US" dirty="0"/>
          </a:p>
          <a:p>
            <a:pPr lvl="1">
              <a:lnSpc>
                <a:spcPct val="140000"/>
              </a:lnSpc>
            </a:pPr>
            <a:r>
              <a:rPr lang="en-US" altLang="zh-CN" dirty="0"/>
              <a:t>SQL</a:t>
            </a:r>
            <a:r>
              <a:rPr lang="zh-CN" altLang="en-US" dirty="0"/>
              <a:t>的扩展 ，增加了过程化语句功能 </a:t>
            </a:r>
            <a:endParaRPr lang="zh-CN" altLang="en-US" dirty="0"/>
          </a:p>
          <a:p>
            <a:pPr lvl="1">
              <a:lnSpc>
                <a:spcPct val="140000"/>
              </a:lnSpc>
            </a:pPr>
            <a:r>
              <a:rPr lang="zh-CN" altLang="en-US" dirty="0"/>
              <a:t>基本结构是块</a:t>
            </a:r>
            <a:endParaRPr lang="zh-CN" altLang="en-US" dirty="0"/>
          </a:p>
          <a:p>
            <a:pPr lvl="2">
              <a:lnSpc>
                <a:spcPct val="140000"/>
              </a:lnSpc>
              <a:buFont typeface="Wingdings" panose="05000000000000000000" pitchFamily="2" charset="2"/>
              <a:buChar char="Ø"/>
            </a:pPr>
            <a:r>
              <a:rPr lang="zh-CN" altLang="en-US" dirty="0">
                <a:ea typeface="宋体" panose="02010600030101010101" pitchFamily="2" charset="-122"/>
              </a:rPr>
              <a:t>块之间可以互相嵌套 </a:t>
            </a:r>
            <a:endParaRPr lang="zh-CN" altLang="en-US" dirty="0">
              <a:ea typeface="宋体" panose="02010600030101010101" pitchFamily="2" charset="-122"/>
            </a:endParaRPr>
          </a:p>
          <a:p>
            <a:pPr lvl="2">
              <a:lnSpc>
                <a:spcPct val="140000"/>
              </a:lnSpc>
              <a:buFont typeface="Wingdings" panose="05000000000000000000" pitchFamily="2" charset="2"/>
              <a:buChar char="Ø"/>
            </a:pPr>
            <a:r>
              <a:rPr lang="zh-CN" altLang="en-US" dirty="0">
                <a:ea typeface="宋体" panose="02010600030101010101" pitchFamily="2" charset="-122"/>
              </a:rPr>
              <a:t>每个块完成一个逻辑操作  </a:t>
            </a:r>
            <a:endParaRPr lang="zh-CN" altLang="en-US" dirty="0">
              <a:ea typeface="宋体" panose="02010600030101010101" pitchFamily="2" charset="-122"/>
            </a:endParaRPr>
          </a:p>
        </p:txBody>
      </p:sp>
      <p:sp>
        <p:nvSpPr>
          <p:cNvPr id="53253" name="矩形 1"/>
          <p:cNvSpPr/>
          <p:nvPr/>
        </p:nvSpPr>
        <p:spPr>
          <a:xfrm>
            <a:off x="785813" y="4787900"/>
            <a:ext cx="6911975"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nSpc>
                <a:spcPct val="150000"/>
              </a:lnSpc>
              <a:spcBef>
                <a:spcPct val="0"/>
              </a:spcBef>
              <a:buClrTx/>
              <a:buFontTx/>
              <a:buNone/>
            </a:pPr>
            <a:r>
              <a:rPr lang="zh-CN" altLang="en-US" sz="2800" dirty="0">
                <a:solidFill>
                  <a:schemeClr val="tx1"/>
                </a:solidFill>
              </a:rPr>
              <a:t>存储过程的用户接口：	</a:t>
            </a:r>
            <a:r>
              <a:rPr lang="en-US" altLang="zh-CN" sz="2800" dirty="0">
                <a:solidFill>
                  <a:schemeClr val="tx1"/>
                </a:solidFill>
              </a:rPr>
              <a:t>1. </a:t>
            </a:r>
            <a:r>
              <a:rPr lang="zh-CN" altLang="en-US" sz="2800" dirty="0">
                <a:solidFill>
                  <a:schemeClr val="tx1"/>
                </a:solidFill>
              </a:rPr>
              <a:t>创建存储过程 </a:t>
            </a:r>
            <a:endParaRPr lang="zh-CN" altLang="en-US" sz="2800" dirty="0">
              <a:solidFill>
                <a:schemeClr val="tx1"/>
              </a:solidFill>
            </a:endParaRPr>
          </a:p>
          <a:p>
            <a:pPr marL="0" lvl="0" indent="0">
              <a:lnSpc>
                <a:spcPct val="150000"/>
              </a:lnSpc>
              <a:spcBef>
                <a:spcPct val="0"/>
              </a:spcBef>
              <a:buClrTx/>
              <a:buNone/>
            </a:pPr>
            <a:r>
              <a:rPr lang="en-US" altLang="zh-CN" sz="2800" dirty="0">
                <a:solidFill>
                  <a:schemeClr val="tx1"/>
                </a:solidFill>
              </a:rPr>
              <a:t>2. </a:t>
            </a:r>
            <a:r>
              <a:rPr lang="zh-CN" altLang="en-US" sz="2800" dirty="0">
                <a:solidFill>
                  <a:schemeClr val="tx1"/>
                </a:solidFill>
              </a:rPr>
              <a:t>执行存储过程 		</a:t>
            </a:r>
            <a:r>
              <a:rPr lang="en-US" altLang="zh-CN" sz="2800" dirty="0">
                <a:solidFill>
                  <a:schemeClr val="tx1"/>
                </a:solidFill>
              </a:rPr>
              <a:t>3. </a:t>
            </a:r>
            <a:r>
              <a:rPr lang="zh-CN" altLang="en-US" sz="2800" dirty="0">
                <a:solidFill>
                  <a:schemeClr val="tx1"/>
                </a:solidFill>
              </a:rPr>
              <a:t>删除存储过程  </a:t>
            </a:r>
            <a:endParaRPr lang="zh-CN" altLang="en-US" sz="2800"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4275"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PL/SQL</a:t>
            </a:r>
            <a:r>
              <a:rPr lang="zh-CN" altLang="en-US" sz="3200" dirty="0">
                <a:ea typeface="宋体" panose="02010600030101010101" pitchFamily="2" charset="-122"/>
              </a:rPr>
              <a:t>的块结构（续）</a:t>
            </a:r>
            <a:endParaRPr lang="zh-CN" altLang="en-US" sz="3200" dirty="0">
              <a:ea typeface="宋体" panose="02010600030101010101" pitchFamily="2" charset="-122"/>
            </a:endParaRPr>
          </a:p>
        </p:txBody>
      </p:sp>
      <p:sp>
        <p:nvSpPr>
          <p:cNvPr id="54276" name="Rectangle 3"/>
          <p:cNvSpPr>
            <a:spLocks noGrp="1"/>
          </p:cNvSpPr>
          <p:nvPr>
            <p:ph idx="1"/>
          </p:nvPr>
        </p:nvSpPr>
        <p:spPr>
          <a:xfrm>
            <a:off x="457200" y="1828800"/>
            <a:ext cx="8229600" cy="4479925"/>
          </a:xfrm>
          <a:ln/>
        </p:spPr>
        <p:txBody>
          <a:bodyPr vert="horz" wrap="square" lIns="91440" tIns="45720" rIns="91440" bIns="45720" anchor="t" anchorCtr="0"/>
          <a:p>
            <a:r>
              <a:rPr lang="en-US" altLang="zh-CN" dirty="0"/>
              <a:t>PL/SOL</a:t>
            </a:r>
            <a:r>
              <a:rPr lang="zh-CN" altLang="en-US" dirty="0"/>
              <a:t>块的基本结构： </a:t>
            </a:r>
            <a:endParaRPr lang="zh-CN" altLang="en-US" dirty="0"/>
          </a:p>
          <a:p>
            <a:pPr>
              <a:lnSpc>
                <a:spcPct val="130000"/>
              </a:lnSpc>
              <a:buNone/>
            </a:pPr>
            <a:r>
              <a:rPr lang="zh-CN" altLang="en-US" sz="2400" dirty="0"/>
              <a:t>  </a:t>
            </a:r>
            <a:r>
              <a:rPr lang="en-US" altLang="zh-CN" sz="2400" dirty="0"/>
              <a:t>1.</a:t>
            </a:r>
            <a:r>
              <a:rPr lang="zh-CN" altLang="en-US" sz="2400" dirty="0"/>
              <a:t>定义部分</a:t>
            </a:r>
            <a:endParaRPr lang="zh-CN" altLang="en-US" sz="2400" dirty="0"/>
          </a:p>
          <a:p>
            <a:pPr>
              <a:lnSpc>
                <a:spcPct val="130000"/>
              </a:lnSpc>
              <a:buNone/>
            </a:pPr>
            <a:r>
              <a:rPr lang="zh-CN" altLang="en-US" sz="2400" dirty="0"/>
              <a:t> 	   </a:t>
            </a:r>
            <a:r>
              <a:rPr lang="en-US" altLang="zh-CN" sz="2400" dirty="0"/>
              <a:t>DECLARE      	  </a:t>
            </a:r>
            <a:endParaRPr lang="en-US" altLang="zh-CN" sz="2400" dirty="0"/>
          </a:p>
          <a:p>
            <a:pPr>
              <a:lnSpc>
                <a:spcPct val="130000"/>
              </a:lnSpc>
              <a:buNone/>
            </a:pPr>
            <a:r>
              <a:rPr lang="en-US" altLang="zh-CN" sz="2400" dirty="0"/>
              <a:t>       ------</a:t>
            </a:r>
            <a:r>
              <a:rPr lang="zh-CN" altLang="en-US" sz="2400" dirty="0"/>
              <a:t>变量、常量、游标、异常等   </a:t>
            </a:r>
            <a:endParaRPr lang="zh-CN" altLang="en-US" sz="2400" dirty="0"/>
          </a:p>
          <a:p>
            <a:pPr lvl="1">
              <a:lnSpc>
                <a:spcPct val="130000"/>
              </a:lnSpc>
              <a:buSzPct val="75000"/>
              <a:buFont typeface="Wingdings" panose="05000000000000000000" pitchFamily="2" charset="2"/>
              <a:buChar char="n"/>
            </a:pPr>
            <a:r>
              <a:rPr lang="zh-CN" altLang="en-US" dirty="0"/>
              <a:t>定义的变量、常量等只能在该基本块中使用</a:t>
            </a:r>
            <a:endParaRPr lang="zh-CN" altLang="en-US" dirty="0"/>
          </a:p>
          <a:p>
            <a:pPr lvl="1">
              <a:lnSpc>
                <a:spcPct val="130000"/>
              </a:lnSpc>
              <a:buSzPct val="75000"/>
              <a:buFont typeface="Wingdings" panose="05000000000000000000" pitchFamily="2" charset="2"/>
              <a:buChar char="n"/>
            </a:pPr>
            <a:r>
              <a:rPr lang="zh-CN" altLang="en-US" dirty="0"/>
              <a:t>当基本块执行结束时，定义就不再存在</a:t>
            </a:r>
            <a:endParaRPr lang="zh-CN" altLang="en-US" dirty="0"/>
          </a:p>
        </p:txBody>
      </p:sp>
      <p:sp>
        <p:nvSpPr>
          <p:cNvPr id="54277" name="AutoShape 6"/>
          <p:cNvSpPr/>
          <p:nvPr/>
        </p:nvSpPr>
        <p:spPr>
          <a:xfrm>
            <a:off x="971550" y="2997200"/>
            <a:ext cx="73025" cy="936625"/>
          </a:xfrm>
          <a:prstGeom prst="leftBrace">
            <a:avLst>
              <a:gd name="adj1" fmla="val 106884"/>
              <a:gd name="adj2" fmla="val 50000"/>
            </a:avLst>
          </a:prstGeom>
          <a:noFill/>
          <a:ln w="127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zh-CN" altLang="en-US" sz="1400"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5299"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PL/SQL</a:t>
            </a:r>
            <a:r>
              <a:rPr lang="zh-CN" altLang="en-US" sz="3200" dirty="0">
                <a:ea typeface="宋体" panose="02010600030101010101" pitchFamily="2" charset="-122"/>
              </a:rPr>
              <a:t>的块结构（续）</a:t>
            </a:r>
            <a:endParaRPr lang="zh-CN" altLang="en-US" sz="3200" dirty="0">
              <a:ea typeface="宋体" panose="02010600030101010101" pitchFamily="2" charset="-122"/>
            </a:endParaRPr>
          </a:p>
        </p:txBody>
      </p:sp>
      <p:sp>
        <p:nvSpPr>
          <p:cNvPr id="55300" name="Rectangle 3"/>
          <p:cNvSpPr>
            <a:spLocks noGrp="1"/>
          </p:cNvSpPr>
          <p:nvPr>
            <p:ph idx="1"/>
          </p:nvPr>
        </p:nvSpPr>
        <p:spPr>
          <a:ln/>
        </p:spPr>
        <p:txBody>
          <a:bodyPr vert="horz" wrap="square" lIns="91440" tIns="45720" rIns="91440" bIns="45720" anchor="t" anchorCtr="0"/>
          <a:p>
            <a:r>
              <a:rPr lang="en-US" altLang="zh-CN" dirty="0"/>
              <a:t>PL/SOL</a:t>
            </a:r>
            <a:r>
              <a:rPr lang="zh-CN" altLang="en-US" dirty="0"/>
              <a:t>块的基本结构</a:t>
            </a:r>
            <a:r>
              <a:rPr lang="en-US" altLang="zh-CN" dirty="0"/>
              <a:t>(</a:t>
            </a:r>
            <a:r>
              <a:rPr lang="zh-CN" altLang="en-US" dirty="0"/>
              <a:t>续</a:t>
            </a:r>
            <a:r>
              <a:rPr lang="en-US" altLang="zh-CN" dirty="0"/>
              <a:t>)</a:t>
            </a:r>
            <a:r>
              <a:rPr lang="zh-CN" altLang="en-US" dirty="0"/>
              <a:t>：</a:t>
            </a:r>
            <a:endParaRPr lang="zh-CN" altLang="en-US" dirty="0"/>
          </a:p>
          <a:p>
            <a:pPr>
              <a:lnSpc>
                <a:spcPct val="130000"/>
              </a:lnSpc>
              <a:buNone/>
            </a:pPr>
            <a:r>
              <a:rPr lang="zh-CN" altLang="en-US" sz="2400" dirty="0"/>
              <a:t>    </a:t>
            </a:r>
            <a:r>
              <a:rPr lang="en-US" altLang="zh-CN" sz="2400" dirty="0"/>
              <a:t>2.</a:t>
            </a:r>
            <a:r>
              <a:rPr lang="zh-CN" altLang="en-US" sz="2400" dirty="0"/>
              <a:t>执行部分</a:t>
            </a:r>
            <a:endParaRPr lang="zh-CN" altLang="en-US" sz="2400" dirty="0"/>
          </a:p>
          <a:p>
            <a:pPr>
              <a:lnSpc>
                <a:spcPct val="110000"/>
              </a:lnSpc>
              <a:buNone/>
            </a:pPr>
            <a:r>
              <a:rPr lang="zh-CN" altLang="en-US" sz="2400" dirty="0"/>
              <a:t>       </a:t>
            </a:r>
            <a:r>
              <a:rPr lang="en-US" altLang="zh-CN" sz="2400" dirty="0"/>
              <a:t>BEGIN</a:t>
            </a:r>
            <a:endParaRPr lang="en-US" altLang="zh-CN" sz="2400" dirty="0"/>
          </a:p>
          <a:p>
            <a:pPr>
              <a:lnSpc>
                <a:spcPct val="110000"/>
              </a:lnSpc>
              <a:buNone/>
            </a:pPr>
            <a:r>
              <a:rPr lang="en-US" altLang="zh-CN" sz="2400" dirty="0"/>
              <a:t>	   ------SQL</a:t>
            </a:r>
            <a:r>
              <a:rPr lang="zh-CN" altLang="en-US" sz="2400" dirty="0"/>
              <a:t>语句、</a:t>
            </a:r>
            <a:r>
              <a:rPr lang="en-US" altLang="zh-CN" sz="2400" dirty="0"/>
              <a:t>PL/SQL</a:t>
            </a:r>
            <a:r>
              <a:rPr lang="zh-CN" altLang="en-US" sz="2400" dirty="0"/>
              <a:t>的流程控制语句</a:t>
            </a:r>
            <a:endParaRPr lang="zh-CN" altLang="en-US" sz="2400" dirty="0"/>
          </a:p>
          <a:p>
            <a:pPr>
              <a:lnSpc>
                <a:spcPct val="110000"/>
              </a:lnSpc>
              <a:buNone/>
            </a:pPr>
            <a:r>
              <a:rPr lang="zh-CN" altLang="en-US" sz="2400" dirty="0"/>
              <a:t>	   </a:t>
            </a:r>
            <a:r>
              <a:rPr lang="en-US" altLang="zh-CN" sz="2400" dirty="0"/>
              <a:t>EXCEPTION</a:t>
            </a:r>
            <a:endParaRPr lang="en-US" altLang="zh-CN" sz="2400" dirty="0"/>
          </a:p>
          <a:p>
            <a:pPr>
              <a:lnSpc>
                <a:spcPct val="110000"/>
              </a:lnSpc>
              <a:buNone/>
            </a:pPr>
            <a:r>
              <a:rPr lang="en-US" altLang="zh-CN" sz="2400" dirty="0"/>
              <a:t>       ------</a:t>
            </a:r>
            <a:r>
              <a:rPr lang="zh-CN" altLang="en-US" sz="2400" dirty="0"/>
              <a:t>异常处理部分        		</a:t>
            </a:r>
            <a:endParaRPr lang="zh-CN" altLang="en-US" sz="2400" dirty="0"/>
          </a:p>
          <a:p>
            <a:pPr>
              <a:lnSpc>
                <a:spcPct val="110000"/>
              </a:lnSpc>
              <a:buNone/>
            </a:pPr>
            <a:r>
              <a:rPr lang="zh-CN" altLang="en-US" sz="2400" dirty="0"/>
              <a:t>	   </a:t>
            </a:r>
            <a:r>
              <a:rPr lang="en-US" altLang="zh-CN" sz="2400" dirty="0"/>
              <a:t>END</a:t>
            </a:r>
            <a:r>
              <a:rPr lang="zh-CN" altLang="en-US" sz="2400" dirty="0"/>
              <a:t>；</a:t>
            </a:r>
            <a:endParaRPr lang="zh-CN" altLang="en-US" sz="2400" dirty="0"/>
          </a:p>
        </p:txBody>
      </p:sp>
      <p:sp>
        <p:nvSpPr>
          <p:cNvPr id="55301" name="AutoShape 4"/>
          <p:cNvSpPr/>
          <p:nvPr/>
        </p:nvSpPr>
        <p:spPr>
          <a:xfrm>
            <a:off x="900113" y="3068638"/>
            <a:ext cx="80962" cy="2089150"/>
          </a:xfrm>
          <a:prstGeom prst="leftBrace">
            <a:avLst>
              <a:gd name="adj1" fmla="val 215034"/>
              <a:gd name="adj2" fmla="val 50000"/>
            </a:avLst>
          </a:prstGeom>
          <a:noFill/>
          <a:ln w="127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zh-CN" altLang="en-US" sz="1400"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6323"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变量常量的定义</a:t>
            </a:r>
            <a:endParaRPr lang="zh-CN" altLang="en-US" sz="3200" dirty="0">
              <a:ea typeface="宋体" panose="02010600030101010101" pitchFamily="2" charset="-122"/>
            </a:endParaRPr>
          </a:p>
        </p:txBody>
      </p:sp>
      <p:sp>
        <p:nvSpPr>
          <p:cNvPr id="56324" name="Rectangle 3"/>
          <p:cNvSpPr>
            <a:spLocks noGrp="1"/>
          </p:cNvSpPr>
          <p:nvPr>
            <p:ph idx="1"/>
          </p:nvPr>
        </p:nvSpPr>
        <p:spPr>
          <a:xfrm>
            <a:off x="395288" y="1447800"/>
            <a:ext cx="8062912" cy="4724400"/>
          </a:xfrm>
          <a:ln/>
        </p:spPr>
        <p:txBody>
          <a:bodyPr vert="horz" wrap="square" lIns="91440" tIns="45720" rIns="91440" bIns="45720" anchor="t" anchorCtr="0"/>
          <a:p>
            <a:pPr>
              <a:lnSpc>
                <a:spcPct val="120000"/>
              </a:lnSpc>
              <a:buNone/>
            </a:pPr>
            <a:r>
              <a:rPr lang="en-US" altLang="zh-CN" sz="2400" dirty="0"/>
              <a:t>1. PL/SQL</a:t>
            </a:r>
            <a:r>
              <a:rPr lang="zh-CN" altLang="en-US" sz="2400" dirty="0"/>
              <a:t>中定义变量的语法形式是</a:t>
            </a:r>
            <a:r>
              <a:rPr lang="en-US" altLang="zh-CN" sz="2400" dirty="0"/>
              <a:t>:</a:t>
            </a:r>
            <a:endParaRPr lang="en-US" altLang="zh-CN" sz="2400" dirty="0"/>
          </a:p>
          <a:p>
            <a:pPr>
              <a:lnSpc>
                <a:spcPct val="120000"/>
              </a:lnSpc>
              <a:buNone/>
            </a:pPr>
            <a:r>
              <a:rPr lang="en-US" altLang="zh-CN" sz="2200" dirty="0"/>
              <a:t>     </a:t>
            </a:r>
            <a:r>
              <a:rPr lang="zh-CN" altLang="en-US" sz="2200" dirty="0">
                <a:solidFill>
                  <a:schemeClr val="tx1"/>
                </a:solidFill>
              </a:rPr>
              <a:t>变量名 数据类型  ［ ［</a:t>
            </a:r>
            <a:r>
              <a:rPr lang="en-US" altLang="zh-CN" sz="2200" dirty="0">
                <a:solidFill>
                  <a:schemeClr val="tx1"/>
                </a:solidFill>
              </a:rPr>
              <a:t>NOT NULL</a:t>
            </a:r>
            <a:r>
              <a:rPr lang="zh-CN" altLang="en-US" sz="2200" dirty="0">
                <a:solidFill>
                  <a:schemeClr val="tx1"/>
                </a:solidFill>
              </a:rPr>
              <a:t>］</a:t>
            </a:r>
            <a:r>
              <a:rPr lang="en-US" altLang="zh-CN" sz="2200" dirty="0">
                <a:solidFill>
                  <a:schemeClr val="tx1"/>
                </a:solidFill>
              </a:rPr>
              <a:t>:=</a:t>
            </a:r>
            <a:r>
              <a:rPr lang="zh-CN" altLang="en-US" sz="2200" dirty="0">
                <a:solidFill>
                  <a:schemeClr val="tx1"/>
                </a:solidFill>
              </a:rPr>
              <a:t>初值表达式］或</a:t>
            </a:r>
            <a:endParaRPr lang="zh-CN" altLang="en-US" sz="2200" dirty="0">
              <a:solidFill>
                <a:schemeClr val="tx1"/>
              </a:solidFill>
            </a:endParaRPr>
          </a:p>
          <a:p>
            <a:pPr>
              <a:lnSpc>
                <a:spcPct val="120000"/>
              </a:lnSpc>
              <a:buNone/>
            </a:pPr>
            <a:r>
              <a:rPr lang="zh-CN" altLang="en-US" sz="2200" dirty="0">
                <a:solidFill>
                  <a:schemeClr val="tx1"/>
                </a:solidFill>
              </a:rPr>
              <a:t>	 变量名 数据类型  ［ ［</a:t>
            </a:r>
            <a:r>
              <a:rPr lang="en-US" altLang="zh-CN" sz="2200" dirty="0">
                <a:solidFill>
                  <a:schemeClr val="tx1"/>
                </a:solidFill>
              </a:rPr>
              <a:t>NOT NULL</a:t>
            </a:r>
            <a:r>
              <a:rPr lang="zh-CN" altLang="en-US" sz="2200" dirty="0">
                <a:solidFill>
                  <a:schemeClr val="tx1"/>
                </a:solidFill>
              </a:rPr>
              <a:t>］初值表达式］</a:t>
            </a:r>
            <a:endParaRPr lang="zh-CN" altLang="en-US" sz="2200" dirty="0">
              <a:solidFill>
                <a:schemeClr val="tx1"/>
              </a:solidFill>
            </a:endParaRPr>
          </a:p>
          <a:p>
            <a:pPr>
              <a:lnSpc>
                <a:spcPct val="120000"/>
              </a:lnSpc>
              <a:buNone/>
            </a:pPr>
            <a:r>
              <a:rPr lang="en-US" altLang="zh-CN" sz="2400" dirty="0"/>
              <a:t>2. </a:t>
            </a:r>
            <a:r>
              <a:rPr lang="zh-CN" altLang="en-US" sz="2400" dirty="0"/>
              <a:t>常量的定义类似于变量的定义</a:t>
            </a:r>
            <a:r>
              <a:rPr lang="en-US" altLang="zh-CN" sz="2400" dirty="0"/>
              <a:t>:</a:t>
            </a:r>
            <a:endParaRPr lang="en-US" altLang="zh-CN" sz="2400" dirty="0"/>
          </a:p>
          <a:p>
            <a:pPr>
              <a:lnSpc>
                <a:spcPct val="120000"/>
              </a:lnSpc>
              <a:buNone/>
            </a:pPr>
            <a:r>
              <a:rPr lang="en-US" altLang="zh-CN" sz="2400" dirty="0"/>
              <a:t>     </a:t>
            </a:r>
            <a:r>
              <a:rPr lang="zh-CN" altLang="en-US" sz="2200" dirty="0">
                <a:solidFill>
                  <a:schemeClr val="tx1"/>
                </a:solidFill>
              </a:rPr>
              <a:t>常量名 数据类型 </a:t>
            </a:r>
            <a:r>
              <a:rPr lang="en-US" altLang="zh-CN" sz="2200" dirty="0">
                <a:solidFill>
                  <a:schemeClr val="tx1"/>
                </a:solidFill>
              </a:rPr>
              <a:t>CONSTANT :=</a:t>
            </a:r>
            <a:r>
              <a:rPr lang="zh-CN" altLang="en-US" sz="2200" dirty="0">
                <a:solidFill>
                  <a:schemeClr val="tx1"/>
                </a:solidFill>
              </a:rPr>
              <a:t>常量表达式</a:t>
            </a:r>
            <a:endParaRPr lang="zh-CN" altLang="en-US" sz="2200" dirty="0">
              <a:solidFill>
                <a:schemeClr val="tx1"/>
              </a:solidFill>
            </a:endParaRPr>
          </a:p>
          <a:p>
            <a:pPr>
              <a:lnSpc>
                <a:spcPct val="120000"/>
              </a:lnSpc>
              <a:buNone/>
            </a:pPr>
            <a:r>
              <a:rPr lang="zh-CN" altLang="en-US" sz="2200" dirty="0">
                <a:solidFill>
                  <a:schemeClr val="tx1"/>
                </a:solidFill>
              </a:rPr>
              <a:t>	 常量必须要给一个值，并且该值在存在期间或常量的作用域内不能改变。如果试图修改它，</a:t>
            </a:r>
            <a:r>
              <a:rPr lang="en-US" altLang="zh-CN" sz="2200" dirty="0">
                <a:solidFill>
                  <a:schemeClr val="tx1"/>
                </a:solidFill>
              </a:rPr>
              <a:t>PL/SQL</a:t>
            </a:r>
            <a:r>
              <a:rPr lang="zh-CN" altLang="en-US" sz="2200" dirty="0">
                <a:solidFill>
                  <a:schemeClr val="tx1"/>
                </a:solidFill>
              </a:rPr>
              <a:t>将返回一个异常。</a:t>
            </a:r>
            <a:endParaRPr lang="zh-CN" altLang="en-US" sz="2200" dirty="0">
              <a:solidFill>
                <a:schemeClr val="tx1"/>
              </a:solidFill>
            </a:endParaRPr>
          </a:p>
          <a:p>
            <a:pPr>
              <a:lnSpc>
                <a:spcPct val="120000"/>
              </a:lnSpc>
              <a:buNone/>
            </a:pPr>
            <a:r>
              <a:rPr lang="en-US" altLang="zh-CN" sz="2400" dirty="0"/>
              <a:t>3. </a:t>
            </a:r>
            <a:r>
              <a:rPr lang="zh-CN" altLang="en-US" sz="2400" dirty="0"/>
              <a:t>赋值语句</a:t>
            </a:r>
            <a:endParaRPr lang="zh-CN" altLang="en-US" sz="2400" dirty="0"/>
          </a:p>
          <a:p>
            <a:pPr>
              <a:lnSpc>
                <a:spcPct val="120000"/>
              </a:lnSpc>
              <a:buNone/>
            </a:pPr>
            <a:r>
              <a:rPr lang="zh-CN" altLang="en-US" sz="2400" dirty="0"/>
              <a:t>    </a:t>
            </a:r>
            <a:r>
              <a:rPr lang="zh-CN" altLang="en-US" sz="2200" dirty="0">
                <a:solidFill>
                  <a:schemeClr val="tx1"/>
                </a:solidFill>
              </a:rPr>
              <a:t>变量名称</a:t>
            </a:r>
            <a:r>
              <a:rPr lang="en-US" altLang="zh-CN" sz="2200" dirty="0">
                <a:solidFill>
                  <a:schemeClr val="tx1"/>
                </a:solidFill>
              </a:rPr>
              <a:t>:=</a:t>
            </a:r>
            <a:r>
              <a:rPr lang="zh-CN" altLang="en-US" sz="2200" dirty="0">
                <a:solidFill>
                  <a:schemeClr val="tx1"/>
                </a:solidFill>
              </a:rPr>
              <a:t>表达式</a:t>
            </a:r>
            <a:endParaRPr lang="zh-CN" altLang="en-US" sz="2200" dirty="0">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7347"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5.5.2  </a:t>
            </a:r>
            <a:r>
              <a:rPr lang="zh-CN" altLang="en-US" sz="3200" dirty="0">
                <a:ea typeface="宋体" panose="02010600030101010101" pitchFamily="2" charset="-122"/>
              </a:rPr>
              <a:t>控制结构 </a:t>
            </a:r>
            <a:endParaRPr lang="zh-CN" altLang="en-US" sz="3200" dirty="0">
              <a:ea typeface="宋体" panose="02010600030101010101" pitchFamily="2" charset="-122"/>
            </a:endParaRPr>
          </a:p>
        </p:txBody>
      </p:sp>
      <p:sp>
        <p:nvSpPr>
          <p:cNvPr id="57348" name="Rectangle 3"/>
          <p:cNvSpPr>
            <a:spLocks noGrp="1"/>
          </p:cNvSpPr>
          <p:nvPr>
            <p:ph idx="1"/>
          </p:nvPr>
        </p:nvSpPr>
        <p:spPr>
          <a:ln/>
        </p:spPr>
        <p:txBody>
          <a:bodyPr vert="horz" wrap="square" lIns="91440" tIns="45720" rIns="91440" bIns="45720" anchor="t" anchorCtr="0"/>
          <a:p>
            <a:pPr>
              <a:lnSpc>
                <a:spcPct val="140000"/>
              </a:lnSpc>
            </a:pPr>
            <a:r>
              <a:rPr lang="en-US" altLang="zh-CN" dirty="0"/>
              <a:t>PL/SQL </a:t>
            </a:r>
            <a:r>
              <a:rPr lang="zh-CN" altLang="en-US" dirty="0"/>
              <a:t>功能：</a:t>
            </a:r>
            <a:endParaRPr lang="zh-CN" altLang="en-US" dirty="0"/>
          </a:p>
          <a:p>
            <a:pPr lvl="1">
              <a:lnSpc>
                <a:spcPct val="140000"/>
              </a:lnSpc>
              <a:buNone/>
            </a:pPr>
            <a:r>
              <a:rPr lang="zh-CN" altLang="en-US" dirty="0"/>
              <a:t>一、条件控制语句</a:t>
            </a:r>
            <a:endParaRPr lang="zh-CN" altLang="en-US" dirty="0"/>
          </a:p>
          <a:p>
            <a:pPr lvl="1">
              <a:lnSpc>
                <a:spcPct val="140000"/>
              </a:lnSpc>
              <a:buNone/>
            </a:pPr>
            <a:r>
              <a:rPr lang="zh-CN" altLang="en-US" dirty="0"/>
              <a:t>二、循环控制语句 </a:t>
            </a:r>
            <a:endParaRPr lang="zh-CN" altLang="en-US" dirty="0"/>
          </a:p>
          <a:p>
            <a:pPr lvl="1">
              <a:lnSpc>
                <a:spcPct val="140000"/>
              </a:lnSpc>
              <a:buNone/>
            </a:pPr>
            <a:r>
              <a:rPr lang="zh-CN" altLang="en-US" dirty="0"/>
              <a:t>三、错误处理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8371"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控制结构（续）</a:t>
            </a:r>
            <a:endParaRPr lang="zh-CN" altLang="en-US" sz="3200" dirty="0">
              <a:ea typeface="宋体" panose="02010600030101010101" pitchFamily="2" charset="-122"/>
            </a:endParaRPr>
          </a:p>
        </p:txBody>
      </p:sp>
      <p:sp>
        <p:nvSpPr>
          <p:cNvPr id="58372" name="Rectangle 3"/>
          <p:cNvSpPr>
            <a:spLocks noGrp="1"/>
          </p:cNvSpPr>
          <p:nvPr>
            <p:ph idx="1"/>
          </p:nvPr>
        </p:nvSpPr>
        <p:spPr>
          <a:xfrm>
            <a:off x="179388" y="1828800"/>
            <a:ext cx="8785225" cy="4495800"/>
          </a:xfrm>
          <a:ln/>
        </p:spPr>
        <p:txBody>
          <a:bodyPr vert="horz" wrap="square" lIns="91440" tIns="45720" rIns="91440" bIns="45720" anchor="t" anchorCtr="0"/>
          <a:p>
            <a:pPr>
              <a:lnSpc>
                <a:spcPct val="90000"/>
              </a:lnSpc>
            </a:pPr>
            <a:r>
              <a:rPr lang="zh-CN" altLang="en-US" dirty="0"/>
              <a:t>一、 条件控制语句</a:t>
            </a:r>
            <a:endParaRPr lang="zh-CN" altLang="en-US" dirty="0"/>
          </a:p>
          <a:p>
            <a:pPr>
              <a:lnSpc>
                <a:spcPct val="90000"/>
              </a:lnSpc>
              <a:buNone/>
            </a:pPr>
            <a:r>
              <a:rPr lang="zh-CN" altLang="en-US" sz="2400" dirty="0"/>
              <a:t>   </a:t>
            </a:r>
            <a:r>
              <a:rPr lang="en-US" altLang="zh-CN" sz="2400" dirty="0"/>
              <a:t>IF-THEN</a:t>
            </a:r>
            <a:r>
              <a:rPr lang="zh-CN" altLang="en-US" sz="2400" dirty="0"/>
              <a:t>，  </a:t>
            </a:r>
            <a:r>
              <a:rPr lang="en-US" altLang="zh-CN" sz="2400" dirty="0"/>
              <a:t>IF-THEN-ELSE</a:t>
            </a:r>
            <a:r>
              <a:rPr lang="zh-CN" altLang="en-US" sz="2400" dirty="0"/>
              <a:t>和嵌套的</a:t>
            </a:r>
            <a:r>
              <a:rPr lang="en-US" altLang="zh-CN" sz="2400" dirty="0"/>
              <a:t>IF</a:t>
            </a:r>
            <a:r>
              <a:rPr lang="zh-CN" altLang="en-US" sz="2400" dirty="0"/>
              <a:t>语句 </a:t>
            </a:r>
            <a:endParaRPr lang="zh-CN" altLang="en-US" dirty="0"/>
          </a:p>
          <a:p>
            <a:pPr>
              <a:lnSpc>
                <a:spcPct val="90000"/>
              </a:lnSpc>
              <a:buNone/>
            </a:pPr>
            <a:r>
              <a:rPr lang="zh-CN" altLang="en-US" sz="2200" dirty="0"/>
              <a:t>	</a:t>
            </a:r>
            <a:r>
              <a:rPr lang="en-US" altLang="zh-CN" sz="2200" dirty="0"/>
              <a:t>1. IF </a:t>
            </a:r>
            <a:r>
              <a:rPr lang="en-US" altLang="zh-CN" sz="2200" i="1" dirty="0"/>
              <a:t>condition</a:t>
            </a:r>
            <a:r>
              <a:rPr lang="en-US" altLang="zh-CN" sz="2200" dirty="0"/>
              <a:t> THEN</a:t>
            </a:r>
            <a:endParaRPr lang="en-US" altLang="zh-CN" sz="2200" dirty="0"/>
          </a:p>
          <a:p>
            <a:pPr>
              <a:lnSpc>
                <a:spcPct val="90000"/>
              </a:lnSpc>
              <a:buNone/>
            </a:pPr>
            <a:r>
              <a:rPr lang="en-US" altLang="zh-CN" sz="2200" dirty="0"/>
              <a:t>	       </a:t>
            </a:r>
            <a:r>
              <a:rPr lang="en-US" altLang="zh-CN" sz="2200" i="1" dirty="0"/>
              <a:t>Sequence_of_statements</a:t>
            </a:r>
            <a:r>
              <a:rPr lang="en-US" altLang="zh-CN" sz="2200" dirty="0"/>
              <a:t>;        </a:t>
            </a:r>
            <a:endParaRPr lang="en-US" altLang="zh-CN" sz="2200" dirty="0"/>
          </a:p>
          <a:p>
            <a:pPr>
              <a:lnSpc>
                <a:spcPct val="90000"/>
              </a:lnSpc>
              <a:buNone/>
            </a:pPr>
            <a:r>
              <a:rPr lang="en-US" altLang="zh-CN" sz="2200" dirty="0"/>
              <a:t>	    END IF   </a:t>
            </a:r>
            <a:endParaRPr lang="en-US" altLang="zh-CN" sz="2200" dirty="0"/>
          </a:p>
          <a:p>
            <a:pPr>
              <a:lnSpc>
                <a:spcPct val="90000"/>
              </a:lnSpc>
              <a:buNone/>
            </a:pPr>
            <a:r>
              <a:rPr lang="en-US" altLang="zh-CN" sz="2200" dirty="0"/>
              <a:t>	2. IF condition THEN</a:t>
            </a:r>
            <a:endParaRPr lang="en-US" altLang="zh-CN" sz="2200" dirty="0"/>
          </a:p>
          <a:p>
            <a:pPr>
              <a:lnSpc>
                <a:spcPct val="90000"/>
              </a:lnSpc>
              <a:buNone/>
            </a:pPr>
            <a:r>
              <a:rPr lang="en-US" altLang="zh-CN" sz="2200" dirty="0"/>
              <a:t>	       </a:t>
            </a:r>
            <a:r>
              <a:rPr lang="en-US" altLang="zh-CN" sz="2200" i="1" dirty="0"/>
              <a:t>Sequence_of_statements1</a:t>
            </a:r>
            <a:r>
              <a:rPr lang="en-US" altLang="zh-CN" sz="2200" dirty="0"/>
              <a:t>;  </a:t>
            </a:r>
            <a:endParaRPr lang="en-US" altLang="zh-CN" sz="2200" dirty="0"/>
          </a:p>
          <a:p>
            <a:pPr>
              <a:lnSpc>
                <a:spcPct val="90000"/>
              </a:lnSpc>
              <a:buNone/>
            </a:pPr>
            <a:r>
              <a:rPr lang="en-US" altLang="zh-CN" sz="2200" dirty="0"/>
              <a:t>	    ELSE</a:t>
            </a:r>
            <a:endParaRPr lang="en-US" altLang="zh-CN" sz="2200" dirty="0"/>
          </a:p>
          <a:p>
            <a:pPr>
              <a:lnSpc>
                <a:spcPct val="90000"/>
              </a:lnSpc>
              <a:buNone/>
            </a:pPr>
            <a:r>
              <a:rPr lang="en-US" altLang="zh-CN" sz="2200" dirty="0"/>
              <a:t>	       </a:t>
            </a:r>
            <a:r>
              <a:rPr lang="en-US" altLang="zh-CN" sz="2200" i="1" dirty="0"/>
              <a:t>Sequence_of_statements2;</a:t>
            </a:r>
            <a:r>
              <a:rPr lang="en-US" altLang="zh-CN" sz="2200" dirty="0"/>
              <a:t>  </a:t>
            </a:r>
            <a:endParaRPr lang="en-US" altLang="zh-CN" sz="2200" dirty="0"/>
          </a:p>
          <a:p>
            <a:pPr>
              <a:lnSpc>
                <a:spcPct val="90000"/>
              </a:lnSpc>
              <a:buNone/>
            </a:pPr>
            <a:r>
              <a:rPr lang="en-US" altLang="zh-CN" sz="2200" dirty="0"/>
              <a:t>	    END IF;</a:t>
            </a:r>
            <a:endParaRPr lang="en-US" altLang="zh-CN" sz="2200" dirty="0"/>
          </a:p>
          <a:p>
            <a:pPr>
              <a:lnSpc>
                <a:spcPct val="90000"/>
              </a:lnSpc>
              <a:buNone/>
            </a:pPr>
            <a:r>
              <a:rPr lang="en-US" altLang="zh-CN" sz="2200" dirty="0"/>
              <a:t>	3. </a:t>
            </a:r>
            <a:r>
              <a:rPr lang="zh-CN" altLang="en-US" sz="2200" dirty="0"/>
              <a:t>在</a:t>
            </a:r>
            <a:r>
              <a:rPr lang="en-US" altLang="zh-CN" sz="2200" dirty="0"/>
              <a:t>THEN</a:t>
            </a:r>
            <a:r>
              <a:rPr lang="zh-CN" altLang="en-US" sz="2200" dirty="0"/>
              <a:t>和</a:t>
            </a:r>
            <a:r>
              <a:rPr lang="en-US" altLang="zh-CN" sz="2200" dirty="0"/>
              <a:t>ELSE</a:t>
            </a:r>
            <a:r>
              <a:rPr lang="zh-CN" altLang="en-US" sz="2200" dirty="0"/>
              <a:t>子句中还可以再包括</a:t>
            </a:r>
            <a:r>
              <a:rPr lang="en-US" altLang="zh-CN" sz="2200" dirty="0"/>
              <a:t>IF</a:t>
            </a:r>
            <a:r>
              <a:rPr lang="zh-CN" altLang="en-US" sz="2200" dirty="0"/>
              <a:t>语句，即</a:t>
            </a:r>
            <a:r>
              <a:rPr lang="en-US" altLang="zh-CN" sz="2200" dirty="0"/>
              <a:t>IF</a:t>
            </a:r>
            <a:r>
              <a:rPr lang="zh-CN" altLang="en-US" sz="2200" dirty="0"/>
              <a:t>语句可以嵌套</a:t>
            </a:r>
            <a:r>
              <a:rPr lang="zh-CN" altLang="en-US" sz="2400" dirty="0"/>
              <a:t> </a:t>
            </a:r>
            <a:endParaRPr lang="zh-CN" alt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9395"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控制结构（续）</a:t>
            </a:r>
            <a:endParaRPr lang="zh-CN" altLang="en-US" sz="3200" dirty="0">
              <a:ea typeface="宋体" panose="02010600030101010101" pitchFamily="2" charset="-122"/>
            </a:endParaRPr>
          </a:p>
        </p:txBody>
      </p:sp>
      <p:sp>
        <p:nvSpPr>
          <p:cNvPr id="59396" name="Rectangle 3"/>
          <p:cNvSpPr>
            <a:spLocks noGrp="1"/>
          </p:cNvSpPr>
          <p:nvPr>
            <p:ph idx="1"/>
          </p:nvPr>
        </p:nvSpPr>
        <p:spPr>
          <a:xfrm>
            <a:off x="323850" y="1447800"/>
            <a:ext cx="8134350" cy="4724400"/>
          </a:xfrm>
          <a:ln/>
        </p:spPr>
        <p:txBody>
          <a:bodyPr vert="horz" wrap="square" lIns="91440" tIns="45720" rIns="91440" bIns="45720" anchor="t" anchorCtr="0"/>
          <a:p>
            <a:pPr>
              <a:buNone/>
            </a:pPr>
            <a:r>
              <a:rPr lang="zh-CN" altLang="en-US" dirty="0"/>
              <a:t>二、循环控制语句</a:t>
            </a:r>
            <a:endParaRPr lang="zh-CN" altLang="en-US" dirty="0"/>
          </a:p>
          <a:p>
            <a:pPr>
              <a:buNone/>
            </a:pPr>
            <a:r>
              <a:rPr lang="zh-CN" altLang="en-US" dirty="0"/>
              <a:t>    </a:t>
            </a:r>
            <a:r>
              <a:rPr lang="en-US" altLang="zh-CN" sz="2400" dirty="0"/>
              <a:t>LOOP</a:t>
            </a:r>
            <a:r>
              <a:rPr lang="zh-CN" altLang="en-US" sz="2400" dirty="0"/>
              <a:t>， </a:t>
            </a:r>
            <a:r>
              <a:rPr lang="en-US" altLang="zh-CN" sz="2400" dirty="0"/>
              <a:t>WHILE-LOOP</a:t>
            </a:r>
            <a:r>
              <a:rPr lang="zh-CN" altLang="en-US" sz="2400" dirty="0"/>
              <a:t>和</a:t>
            </a:r>
            <a:r>
              <a:rPr lang="en-US" altLang="zh-CN" sz="2400" dirty="0"/>
              <a:t>FOR-LOOP </a:t>
            </a:r>
            <a:endParaRPr lang="en-US" altLang="zh-CN" sz="2400" dirty="0"/>
          </a:p>
          <a:p>
            <a:pPr>
              <a:lnSpc>
                <a:spcPct val="120000"/>
              </a:lnSpc>
              <a:buNone/>
            </a:pPr>
            <a:r>
              <a:rPr lang="en-US" altLang="zh-CN" sz="2400" dirty="0"/>
              <a:t>    1.</a:t>
            </a:r>
            <a:r>
              <a:rPr lang="zh-CN" altLang="en-US" sz="2400" dirty="0"/>
              <a:t>最简单的循环语句</a:t>
            </a:r>
            <a:r>
              <a:rPr lang="en-US" altLang="zh-CN" sz="2400" dirty="0"/>
              <a:t>LOOP</a:t>
            </a:r>
            <a:endParaRPr lang="en-US" altLang="zh-CN" sz="2400" dirty="0"/>
          </a:p>
          <a:p>
            <a:pPr>
              <a:lnSpc>
                <a:spcPct val="120000"/>
              </a:lnSpc>
              <a:buNone/>
            </a:pPr>
            <a:r>
              <a:rPr lang="en-US" altLang="zh-CN" sz="2400" dirty="0"/>
              <a:t>	   LOOP</a:t>
            </a:r>
            <a:endParaRPr lang="en-US" altLang="zh-CN" sz="2400" i="1" dirty="0"/>
          </a:p>
          <a:p>
            <a:pPr>
              <a:lnSpc>
                <a:spcPct val="120000"/>
              </a:lnSpc>
              <a:buNone/>
            </a:pPr>
            <a:r>
              <a:rPr lang="en-US" altLang="zh-CN" sz="2400" i="1" dirty="0"/>
              <a:t>	      Sequence_of_statements;</a:t>
            </a:r>
            <a:r>
              <a:rPr lang="en-US" altLang="zh-CN" sz="2400" dirty="0"/>
              <a:t>        </a:t>
            </a:r>
            <a:endParaRPr lang="en-US" altLang="zh-CN" sz="2400" dirty="0"/>
          </a:p>
          <a:p>
            <a:pPr>
              <a:lnSpc>
                <a:spcPct val="120000"/>
              </a:lnSpc>
              <a:buNone/>
            </a:pPr>
            <a:r>
              <a:rPr lang="en-US" altLang="zh-CN" sz="2400" dirty="0"/>
              <a:t>	  END LOOP; </a:t>
            </a:r>
            <a:endParaRPr lang="en-US" altLang="zh-CN" sz="2400" dirty="0"/>
          </a:p>
          <a:p>
            <a:pPr>
              <a:lnSpc>
                <a:spcPct val="120000"/>
              </a:lnSpc>
              <a:buNone/>
            </a:pPr>
            <a:r>
              <a:rPr lang="en-US" altLang="zh-CN" sz="2400" dirty="0"/>
              <a:t> 	</a:t>
            </a:r>
            <a:r>
              <a:rPr lang="zh-CN" altLang="en-US" sz="2400" dirty="0">
                <a:solidFill>
                  <a:schemeClr val="tx1"/>
                </a:solidFill>
              </a:rPr>
              <a:t>多数数据库服务器的</a:t>
            </a:r>
            <a:r>
              <a:rPr lang="en-US" altLang="zh-CN" sz="2400" dirty="0">
                <a:solidFill>
                  <a:schemeClr val="tx1"/>
                </a:solidFill>
              </a:rPr>
              <a:t>PL/SQL</a:t>
            </a:r>
            <a:r>
              <a:rPr lang="zh-CN" altLang="en-US" sz="2400" dirty="0">
                <a:solidFill>
                  <a:schemeClr val="tx1"/>
                </a:solidFill>
              </a:rPr>
              <a:t>都提供</a:t>
            </a:r>
            <a:r>
              <a:rPr lang="en-US" altLang="zh-CN" sz="2400" dirty="0">
                <a:solidFill>
                  <a:schemeClr val="tx1"/>
                </a:solidFill>
              </a:rPr>
              <a:t>EXIT</a:t>
            </a:r>
            <a:r>
              <a:rPr lang="zh-CN" altLang="en-US" sz="2400" dirty="0">
                <a:solidFill>
                  <a:schemeClr val="tx1"/>
                </a:solidFill>
              </a:rPr>
              <a:t>、</a:t>
            </a:r>
            <a:r>
              <a:rPr lang="en-US" altLang="zh-CN" sz="2400" dirty="0">
                <a:solidFill>
                  <a:schemeClr val="tx1"/>
                </a:solidFill>
              </a:rPr>
              <a:t>BREAK</a:t>
            </a:r>
            <a:r>
              <a:rPr lang="zh-CN" altLang="en-US" sz="2400" dirty="0">
                <a:solidFill>
                  <a:schemeClr val="tx1"/>
                </a:solidFill>
              </a:rPr>
              <a:t>或</a:t>
            </a:r>
            <a:r>
              <a:rPr lang="en-US" altLang="zh-CN" sz="2400" dirty="0">
                <a:solidFill>
                  <a:schemeClr val="tx1"/>
                </a:solidFill>
              </a:rPr>
              <a:t>LEAVE</a:t>
            </a:r>
            <a:r>
              <a:rPr lang="zh-CN" altLang="en-US" sz="2400" dirty="0">
                <a:solidFill>
                  <a:schemeClr val="tx1"/>
                </a:solidFill>
              </a:rPr>
              <a:t>等循环结束语句，保证</a:t>
            </a:r>
            <a:r>
              <a:rPr lang="en-US" altLang="zh-CN" sz="2400" dirty="0">
                <a:solidFill>
                  <a:schemeClr val="tx1"/>
                </a:solidFill>
              </a:rPr>
              <a:t>LOOP</a:t>
            </a:r>
            <a:r>
              <a:rPr lang="zh-CN" altLang="en-US" sz="2400" dirty="0">
                <a:solidFill>
                  <a:schemeClr val="tx1"/>
                </a:solidFill>
              </a:rPr>
              <a:t>语句块能够结束。</a:t>
            </a:r>
            <a:endParaRPr lang="zh-CN" altLang="en-US" sz="2400" dirty="0">
              <a:solidFill>
                <a:schemeClr val="tx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0419"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控制结构（续）</a:t>
            </a:r>
            <a:endParaRPr lang="zh-CN" altLang="en-US" sz="3200" dirty="0">
              <a:ea typeface="宋体" panose="02010600030101010101" pitchFamily="2" charset="-122"/>
            </a:endParaRPr>
          </a:p>
        </p:txBody>
      </p:sp>
      <p:sp>
        <p:nvSpPr>
          <p:cNvPr id="60420" name="Rectangle 3"/>
          <p:cNvSpPr>
            <a:spLocks noGrp="1"/>
          </p:cNvSpPr>
          <p:nvPr>
            <p:ph idx="1"/>
          </p:nvPr>
        </p:nvSpPr>
        <p:spPr>
          <a:ln/>
        </p:spPr>
        <p:txBody>
          <a:bodyPr vert="horz" wrap="square" lIns="91440" tIns="45720" rIns="91440" bIns="45720" anchor="t" anchorCtr="0"/>
          <a:p>
            <a:pPr>
              <a:lnSpc>
                <a:spcPct val="90000"/>
              </a:lnSpc>
              <a:buNone/>
            </a:pPr>
            <a:r>
              <a:rPr lang="zh-CN" altLang="en-US" sz="2400" dirty="0"/>
              <a:t>二、循环控制语句（续）</a:t>
            </a:r>
            <a:endParaRPr lang="zh-CN" altLang="en-US" sz="2400" dirty="0"/>
          </a:p>
          <a:p>
            <a:pPr>
              <a:lnSpc>
                <a:spcPct val="90000"/>
              </a:lnSpc>
              <a:buNone/>
            </a:pPr>
            <a:r>
              <a:rPr lang="en-US" altLang="zh-CN" sz="2200" dirty="0"/>
              <a:t>2. WHILE-LOOP</a:t>
            </a:r>
            <a:endParaRPr lang="en-US" altLang="zh-CN" sz="2200" dirty="0"/>
          </a:p>
          <a:p>
            <a:pPr>
              <a:lnSpc>
                <a:spcPct val="90000"/>
              </a:lnSpc>
              <a:buNone/>
            </a:pPr>
            <a:r>
              <a:rPr lang="en-US" altLang="zh-CN" sz="2200" dirty="0"/>
              <a:t>     WHILE condition LOOP</a:t>
            </a:r>
            <a:endParaRPr lang="en-US" altLang="zh-CN" sz="2200" dirty="0"/>
          </a:p>
          <a:p>
            <a:pPr>
              <a:lnSpc>
                <a:spcPct val="90000"/>
              </a:lnSpc>
              <a:buNone/>
            </a:pPr>
            <a:r>
              <a:rPr lang="en-US" altLang="zh-CN" sz="2200" dirty="0"/>
              <a:t> 	    </a:t>
            </a:r>
            <a:r>
              <a:rPr lang="en-US" altLang="zh-CN" sz="2200" i="1" dirty="0"/>
              <a:t>Sequence_of_statements;</a:t>
            </a:r>
            <a:endParaRPr lang="en-US" altLang="zh-CN" sz="2200" dirty="0"/>
          </a:p>
          <a:p>
            <a:pPr>
              <a:lnSpc>
                <a:spcPct val="90000"/>
              </a:lnSpc>
              <a:buNone/>
            </a:pPr>
            <a:r>
              <a:rPr lang="en-US" altLang="zh-CN" sz="2200" dirty="0"/>
              <a:t>	END LOOP;</a:t>
            </a:r>
            <a:endParaRPr lang="en-US" altLang="zh-CN" sz="2200" dirty="0"/>
          </a:p>
          <a:p>
            <a:pPr lvl="1">
              <a:lnSpc>
                <a:spcPct val="90000"/>
              </a:lnSpc>
              <a:buSzPct val="75000"/>
              <a:buFont typeface="Wingdings" panose="05000000000000000000" pitchFamily="2" charset="2"/>
              <a:buChar char="n"/>
            </a:pPr>
            <a:r>
              <a:rPr lang="zh-CN" altLang="en-US" sz="2000" dirty="0"/>
              <a:t>每次执行循环体语句之前，首先对条件进行求值</a:t>
            </a:r>
            <a:endParaRPr lang="zh-CN" altLang="en-US" sz="2000" dirty="0"/>
          </a:p>
          <a:p>
            <a:pPr lvl="1">
              <a:lnSpc>
                <a:spcPct val="90000"/>
              </a:lnSpc>
              <a:buSzPct val="75000"/>
              <a:buFont typeface="Wingdings" panose="05000000000000000000" pitchFamily="2" charset="2"/>
              <a:buChar char="n"/>
            </a:pPr>
            <a:r>
              <a:rPr lang="zh-CN" altLang="en-US" sz="2000" dirty="0"/>
              <a:t>如果条件为真，则执行循环体内的语句序列。</a:t>
            </a:r>
            <a:endParaRPr lang="zh-CN" altLang="en-US" sz="2000" dirty="0"/>
          </a:p>
          <a:p>
            <a:pPr lvl="1">
              <a:lnSpc>
                <a:spcPct val="90000"/>
              </a:lnSpc>
              <a:buSzPct val="75000"/>
              <a:buFont typeface="Wingdings" panose="05000000000000000000" pitchFamily="2" charset="2"/>
              <a:buChar char="n"/>
            </a:pPr>
            <a:r>
              <a:rPr lang="zh-CN" altLang="en-US" sz="2000" dirty="0"/>
              <a:t>如果条件为假，则跳过循环并把控制传递给下一个语句 </a:t>
            </a:r>
            <a:endParaRPr lang="zh-CN" altLang="en-US" sz="2000" dirty="0"/>
          </a:p>
          <a:p>
            <a:pPr>
              <a:lnSpc>
                <a:spcPct val="90000"/>
              </a:lnSpc>
              <a:buNone/>
            </a:pPr>
            <a:r>
              <a:rPr lang="en-US" altLang="zh-CN" sz="2200" dirty="0"/>
              <a:t>3. FOR-LOOP</a:t>
            </a:r>
            <a:endParaRPr lang="en-US" altLang="zh-CN" sz="2200" dirty="0"/>
          </a:p>
          <a:p>
            <a:pPr>
              <a:lnSpc>
                <a:spcPct val="90000"/>
              </a:lnSpc>
              <a:buNone/>
            </a:pPr>
            <a:r>
              <a:rPr lang="en-US" altLang="zh-CN" sz="2200" dirty="0"/>
              <a:t>    	FOR count IN </a:t>
            </a:r>
            <a:r>
              <a:rPr lang="zh-CN" altLang="en-US" sz="2200" dirty="0"/>
              <a:t>［</a:t>
            </a:r>
            <a:r>
              <a:rPr lang="en-US" altLang="zh-CN" sz="2200" dirty="0"/>
              <a:t>REVERSE</a:t>
            </a:r>
            <a:r>
              <a:rPr lang="zh-CN" altLang="en-US" sz="2200" dirty="0"/>
              <a:t>］</a:t>
            </a:r>
            <a:r>
              <a:rPr lang="en-US" altLang="zh-CN" sz="2200" i="1" dirty="0"/>
              <a:t>bound1</a:t>
            </a:r>
            <a:r>
              <a:rPr lang="en-US" altLang="zh-CN" sz="2200" dirty="0"/>
              <a:t> … </a:t>
            </a:r>
            <a:r>
              <a:rPr lang="en-US" altLang="zh-CN" sz="2200" i="1" dirty="0"/>
              <a:t>bound2</a:t>
            </a:r>
            <a:r>
              <a:rPr lang="en-US" altLang="zh-CN" sz="2200" dirty="0"/>
              <a:t> LOOP</a:t>
            </a:r>
            <a:endParaRPr lang="en-US" altLang="zh-CN" sz="2200" dirty="0"/>
          </a:p>
          <a:p>
            <a:pPr>
              <a:lnSpc>
                <a:spcPct val="90000"/>
              </a:lnSpc>
              <a:buNone/>
            </a:pPr>
            <a:r>
              <a:rPr lang="en-US" altLang="zh-CN" sz="2200" dirty="0"/>
              <a:t> 	    </a:t>
            </a:r>
            <a:r>
              <a:rPr lang="en-US" altLang="zh-CN" sz="2200" i="1" dirty="0"/>
              <a:t>Sequence_of_statements</a:t>
            </a:r>
            <a:r>
              <a:rPr lang="en-US" altLang="zh-CN" sz="2200" dirty="0"/>
              <a:t>;</a:t>
            </a:r>
            <a:endParaRPr lang="en-US" altLang="zh-CN" sz="2200" dirty="0"/>
          </a:p>
          <a:p>
            <a:pPr>
              <a:lnSpc>
                <a:spcPct val="90000"/>
              </a:lnSpc>
              <a:buNone/>
            </a:pPr>
            <a:r>
              <a:rPr lang="en-US" altLang="zh-CN" sz="2200" dirty="0"/>
              <a:t>	END LOOP;</a:t>
            </a:r>
            <a:endParaRPr lang="en-US" altLang="zh-CN"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43"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5.5.3  </a:t>
            </a:r>
            <a:r>
              <a:rPr lang="zh-CN" altLang="en-US" sz="3200" dirty="0">
                <a:ea typeface="宋体" panose="02010600030101010101" pitchFamily="2" charset="-122"/>
              </a:rPr>
              <a:t>存储过程类型</a:t>
            </a:r>
            <a:endParaRPr lang="zh-CN" altLang="en-US" sz="3200" dirty="0">
              <a:ea typeface="宋体" panose="02010600030101010101" pitchFamily="2" charset="-122"/>
            </a:endParaRPr>
          </a:p>
        </p:txBody>
      </p:sp>
      <p:sp>
        <p:nvSpPr>
          <p:cNvPr id="61444" name="Rectangle 3"/>
          <p:cNvSpPr>
            <a:spLocks noGrp="1"/>
          </p:cNvSpPr>
          <p:nvPr>
            <p:ph idx="1"/>
          </p:nvPr>
        </p:nvSpPr>
        <p:spPr>
          <a:xfrm>
            <a:off x="-36512" y="908050"/>
            <a:ext cx="8856662" cy="4724400"/>
          </a:xfrm>
          <a:ln/>
        </p:spPr>
        <p:txBody>
          <a:bodyPr vert="horz" wrap="square" lIns="91440" tIns="45720" rIns="91440" bIns="45720" anchor="t" anchorCtr="0"/>
          <a:p>
            <a:pPr>
              <a:lnSpc>
                <a:spcPct val="150000"/>
              </a:lnSpc>
            </a:pPr>
            <a:r>
              <a:rPr lang="en-US" altLang="zh-CN" dirty="0"/>
              <a:t>PL/SQL</a:t>
            </a:r>
            <a:r>
              <a:rPr lang="zh-CN" altLang="en-US" dirty="0"/>
              <a:t>块类型：</a:t>
            </a:r>
            <a:endParaRPr lang="zh-CN" altLang="en-US" dirty="0"/>
          </a:p>
          <a:p>
            <a:pPr lvl="1">
              <a:lnSpc>
                <a:spcPct val="150000"/>
              </a:lnSpc>
            </a:pPr>
            <a:r>
              <a:rPr lang="zh-CN" altLang="en-US" dirty="0"/>
              <a:t>命名块：编译后保存在数据库中，可以被反复调用，运行速度较快。存储过程和函数是命名块  </a:t>
            </a:r>
            <a:endParaRPr lang="zh-CN" altLang="en-US" dirty="0"/>
          </a:p>
          <a:p>
            <a:pPr lvl="1">
              <a:lnSpc>
                <a:spcPct val="150000"/>
              </a:lnSpc>
            </a:pPr>
            <a:r>
              <a:rPr lang="zh-CN" altLang="en-US" dirty="0"/>
              <a:t>匿名块：每次执行时都要进行编译，它不能被存储到数据库中，也不能在其他的</a:t>
            </a:r>
            <a:r>
              <a:rPr lang="en-US" altLang="zh-CN" dirty="0"/>
              <a:t>PL/SQL</a:t>
            </a:r>
            <a:r>
              <a:rPr lang="zh-CN" altLang="en-US" dirty="0"/>
              <a:t>块中调用  </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2467"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存储过程的用户接口</a:t>
            </a:r>
            <a:endParaRPr lang="zh-CN" altLang="en-US" sz="3200" dirty="0">
              <a:ea typeface="宋体" panose="02010600030101010101" pitchFamily="2" charset="-122"/>
            </a:endParaRPr>
          </a:p>
        </p:txBody>
      </p:sp>
      <p:sp>
        <p:nvSpPr>
          <p:cNvPr id="62468" name="Rectangle 3"/>
          <p:cNvSpPr>
            <a:spLocks noGrp="1"/>
          </p:cNvSpPr>
          <p:nvPr>
            <p:ph idx="1"/>
          </p:nvPr>
        </p:nvSpPr>
        <p:spPr>
          <a:xfrm>
            <a:off x="685800" y="1447800"/>
            <a:ext cx="8207375" cy="4724400"/>
          </a:xfrm>
          <a:ln/>
        </p:spPr>
        <p:txBody>
          <a:bodyPr vert="horz" wrap="square" lIns="91440" tIns="45720" rIns="91440" bIns="45720" anchor="t" anchorCtr="0"/>
          <a:p>
            <a:r>
              <a:rPr lang="en-US" altLang="zh-CN" dirty="0"/>
              <a:t>1. </a:t>
            </a:r>
            <a:r>
              <a:rPr lang="zh-CN" altLang="en-US" dirty="0"/>
              <a:t>创建存储过程：</a:t>
            </a:r>
            <a:endParaRPr lang="zh-CN" altLang="en-US" dirty="0"/>
          </a:p>
          <a:p>
            <a:pPr>
              <a:lnSpc>
                <a:spcPct val="120000"/>
              </a:lnSpc>
              <a:buNone/>
            </a:pPr>
            <a:r>
              <a:rPr lang="zh-CN" altLang="en-US" sz="2400" dirty="0"/>
              <a:t>	</a:t>
            </a:r>
            <a:r>
              <a:rPr lang="en-US" altLang="zh-CN" sz="2400" dirty="0"/>
              <a:t>CREATE Procedure </a:t>
            </a:r>
            <a:r>
              <a:rPr lang="zh-CN" altLang="en-US" sz="2400" dirty="0"/>
              <a:t>过程名（［参数</a:t>
            </a:r>
            <a:r>
              <a:rPr lang="en-US" altLang="zh-CN" sz="2400" dirty="0"/>
              <a:t>1</a:t>
            </a:r>
            <a:r>
              <a:rPr lang="zh-CN" altLang="en-US" sz="2400" dirty="0"/>
              <a:t>，参数</a:t>
            </a:r>
            <a:r>
              <a:rPr lang="en-US" altLang="zh-CN" sz="2400" dirty="0"/>
              <a:t>2</a:t>
            </a:r>
            <a:r>
              <a:rPr lang="zh-CN" altLang="en-US" sz="2400" dirty="0"/>
              <a:t>，</a:t>
            </a:r>
            <a:r>
              <a:rPr lang="en-US" altLang="zh-CN" sz="2400" dirty="0"/>
              <a:t>...</a:t>
            </a:r>
            <a:r>
              <a:rPr lang="zh-CN" altLang="en-US" sz="2400" dirty="0"/>
              <a:t>］） </a:t>
            </a:r>
            <a:r>
              <a:rPr lang="en-US" altLang="zh-CN" sz="2400" dirty="0"/>
              <a:t>AS</a:t>
            </a:r>
            <a:endParaRPr lang="en-US" altLang="zh-CN" sz="2400" dirty="0"/>
          </a:p>
          <a:p>
            <a:pPr>
              <a:lnSpc>
                <a:spcPct val="120000"/>
              </a:lnSpc>
              <a:buNone/>
            </a:pPr>
            <a:r>
              <a:rPr lang="en-US" altLang="zh-CN" sz="2400" dirty="0"/>
              <a:t>	&lt;PL/SQL</a:t>
            </a:r>
            <a:r>
              <a:rPr lang="zh-CN" altLang="en-US" sz="2400" dirty="0"/>
              <a:t>块</a:t>
            </a:r>
            <a:r>
              <a:rPr lang="en-US" altLang="zh-CN" sz="2400" dirty="0"/>
              <a:t>&gt;</a:t>
            </a:r>
            <a:r>
              <a:rPr lang="zh-CN" altLang="en-US" sz="2400" dirty="0"/>
              <a:t>；</a:t>
            </a:r>
            <a:endParaRPr lang="zh-CN" altLang="en-US" dirty="0"/>
          </a:p>
          <a:p>
            <a:pPr lvl="1">
              <a:buSzPct val="75000"/>
              <a:buFont typeface="Wingdings" panose="05000000000000000000" pitchFamily="2" charset="2"/>
              <a:buChar char="n"/>
            </a:pPr>
            <a:r>
              <a:rPr lang="zh-CN" altLang="en-US" sz="2200" dirty="0"/>
              <a:t>过程名：数据库服务器合法的对象标识</a:t>
            </a:r>
            <a:endParaRPr lang="zh-CN" altLang="en-US" sz="2200" dirty="0"/>
          </a:p>
          <a:p>
            <a:pPr lvl="1">
              <a:buSzPct val="75000"/>
              <a:buFont typeface="Wingdings" panose="05000000000000000000" pitchFamily="2" charset="2"/>
              <a:buChar char="n"/>
            </a:pPr>
            <a:r>
              <a:rPr lang="zh-CN" altLang="en-US" sz="2200" dirty="0"/>
              <a:t>参数列表：用名字来标识调用时给出的参数值，必须指定值的数据类型。参数也可以定义输入参数、输出参数或输入</a:t>
            </a:r>
            <a:r>
              <a:rPr lang="en-US" altLang="zh-CN" sz="2200" dirty="0"/>
              <a:t>/</a:t>
            </a:r>
            <a:r>
              <a:rPr lang="zh-CN" altLang="en-US" sz="2200" dirty="0"/>
              <a:t>输出参数。默认为输入参数。</a:t>
            </a:r>
            <a:endParaRPr lang="zh-CN" altLang="en-US" sz="2200" dirty="0"/>
          </a:p>
          <a:p>
            <a:pPr lvl="1">
              <a:buSzPct val="75000"/>
              <a:buFont typeface="Wingdings" panose="05000000000000000000" pitchFamily="2" charset="2"/>
              <a:buChar char="n"/>
            </a:pPr>
            <a:r>
              <a:rPr lang="zh-CN" altLang="en-US" sz="2200" dirty="0"/>
              <a:t>过程体：是一个</a:t>
            </a:r>
            <a:r>
              <a:rPr lang="en-US" altLang="zh-CN" sz="2200" dirty="0"/>
              <a:t>&lt;PL/SQL</a:t>
            </a:r>
            <a:r>
              <a:rPr lang="zh-CN" altLang="en-US" sz="2200" dirty="0"/>
              <a:t>块</a:t>
            </a:r>
            <a:r>
              <a:rPr lang="en-US" altLang="zh-CN" sz="2200" dirty="0"/>
              <a:t>&gt;</a:t>
            </a:r>
            <a:r>
              <a:rPr lang="zh-CN" altLang="en-US" sz="2200" dirty="0"/>
              <a:t>。包括声明部分和可执行语句部分</a:t>
            </a:r>
            <a:r>
              <a:rPr lang="zh-CN" altLang="en-US" dirty="0"/>
              <a:t> </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3491" name="Rectangle 2"/>
          <p:cNvSpPr>
            <a:spLocks noGrp="1"/>
          </p:cNvSpPr>
          <p:nvPr>
            <p:ph type="title"/>
          </p:nvPr>
        </p:nvSpPr>
        <p:spPr>
          <a:xfrm>
            <a:off x="685800" y="0"/>
            <a:ext cx="7772400" cy="1143000"/>
          </a:xfrm>
          <a:ln/>
        </p:spPr>
        <p:txBody>
          <a:bodyPr vert="horz" wrap="square" lIns="91440" tIns="45720" rIns="91440" bIns="45720" anchor="ctr" anchorCtr="0"/>
          <a:p>
            <a:r>
              <a:rPr lang="zh-CN" altLang="en-US" sz="3200" dirty="0">
                <a:ea typeface="宋体" panose="02010600030101010101" pitchFamily="2" charset="-122"/>
              </a:rPr>
              <a:t>存储过程的用户接口（续）</a:t>
            </a:r>
            <a:endParaRPr lang="zh-CN" altLang="en-US" sz="3200" dirty="0">
              <a:ea typeface="宋体" panose="02010600030101010101" pitchFamily="2" charset="-122"/>
            </a:endParaRPr>
          </a:p>
        </p:txBody>
      </p:sp>
      <p:sp>
        <p:nvSpPr>
          <p:cNvPr id="63492" name="Rectangle 3"/>
          <p:cNvSpPr>
            <a:spLocks noGrp="1"/>
          </p:cNvSpPr>
          <p:nvPr>
            <p:ph idx="1"/>
          </p:nvPr>
        </p:nvSpPr>
        <p:spPr>
          <a:xfrm>
            <a:off x="0" y="1266825"/>
            <a:ext cx="8458200" cy="5127625"/>
          </a:xfrm>
          <a:ln/>
        </p:spPr>
        <p:txBody>
          <a:bodyPr vert="horz" wrap="square" lIns="91440" tIns="45720" rIns="91440" bIns="45720" anchor="t" anchorCtr="0"/>
          <a:p>
            <a:pPr>
              <a:lnSpc>
                <a:spcPct val="80000"/>
              </a:lnSpc>
              <a:buNone/>
            </a:pPr>
            <a:r>
              <a:rPr lang="zh-CN" altLang="en-US" sz="2400" dirty="0">
                <a:solidFill>
                  <a:schemeClr val="tx1"/>
                </a:solidFill>
              </a:rPr>
              <a:t>［例］  利用存储过程来实现下面的应用</a:t>
            </a:r>
            <a:r>
              <a:rPr lang="en-US" altLang="zh-CN" sz="2400" dirty="0">
                <a:solidFill>
                  <a:schemeClr val="tx1"/>
                </a:solidFill>
              </a:rPr>
              <a:t>: </a:t>
            </a:r>
            <a:r>
              <a:rPr lang="zh-CN" altLang="en-US" sz="2400" dirty="0">
                <a:solidFill>
                  <a:schemeClr val="tx1"/>
                </a:solidFill>
              </a:rPr>
              <a:t>从一个账户转指定数额的款项到另一个账户中。</a:t>
            </a:r>
            <a:endParaRPr lang="zh-CN" altLang="en-US" sz="2400" dirty="0">
              <a:solidFill>
                <a:schemeClr val="tx1"/>
              </a:solidFill>
            </a:endParaRPr>
          </a:p>
          <a:p>
            <a:pPr>
              <a:lnSpc>
                <a:spcPct val="90000"/>
              </a:lnSpc>
              <a:buNone/>
            </a:pPr>
            <a:r>
              <a:rPr lang="zh-CN" altLang="en-US" sz="2400" dirty="0">
                <a:solidFill>
                  <a:schemeClr val="tx1"/>
                </a:solidFill>
              </a:rPr>
              <a:t>    </a:t>
            </a:r>
            <a:r>
              <a:rPr lang="en-US" altLang="zh-CN" sz="2400" dirty="0">
                <a:solidFill>
                  <a:schemeClr val="tx1"/>
                </a:solidFill>
              </a:rPr>
              <a:t>CREATE PROCEDURE TRANSFER(inAccount INT</a:t>
            </a:r>
            <a:r>
              <a:rPr lang="zh-CN" altLang="en-US" sz="2400" dirty="0">
                <a:solidFill>
                  <a:schemeClr val="tx1"/>
                </a:solidFill>
              </a:rPr>
              <a:t>， </a:t>
            </a:r>
            <a:r>
              <a:rPr lang="en-US" altLang="zh-CN" sz="2400" dirty="0">
                <a:solidFill>
                  <a:schemeClr val="tx1"/>
                </a:solidFill>
              </a:rPr>
              <a:t>outAccount INT</a:t>
            </a:r>
            <a:r>
              <a:rPr lang="zh-CN" altLang="en-US" sz="2400" dirty="0">
                <a:solidFill>
                  <a:schemeClr val="tx1"/>
                </a:solidFill>
              </a:rPr>
              <a:t>， </a:t>
            </a:r>
            <a:r>
              <a:rPr lang="en-US" altLang="zh-CN" sz="2400" dirty="0">
                <a:solidFill>
                  <a:schemeClr val="tx1"/>
                </a:solidFill>
              </a:rPr>
              <a:t>amount FLOAT) </a:t>
            </a:r>
            <a:endParaRPr lang="en-US" altLang="zh-CN" sz="2400" dirty="0">
              <a:solidFill>
                <a:schemeClr val="tx1"/>
              </a:solidFill>
            </a:endParaRPr>
          </a:p>
          <a:p>
            <a:pPr>
              <a:lnSpc>
                <a:spcPct val="90000"/>
              </a:lnSpc>
              <a:buNone/>
            </a:pPr>
            <a:r>
              <a:rPr lang="en-US" altLang="zh-CN" sz="2400" dirty="0">
                <a:solidFill>
                  <a:schemeClr val="tx1"/>
                </a:solidFill>
              </a:rPr>
              <a:t>	  AS DECLARE</a:t>
            </a:r>
            <a:endParaRPr lang="en-US" altLang="zh-CN" sz="2400" dirty="0">
              <a:solidFill>
                <a:schemeClr val="tx1"/>
              </a:solidFill>
            </a:endParaRPr>
          </a:p>
          <a:p>
            <a:pPr>
              <a:lnSpc>
                <a:spcPct val="90000"/>
              </a:lnSpc>
              <a:buNone/>
            </a:pPr>
            <a:r>
              <a:rPr lang="en-US" altLang="zh-CN" sz="2400" dirty="0">
                <a:solidFill>
                  <a:schemeClr val="tx1"/>
                </a:solidFill>
              </a:rPr>
              <a:t>	        totalDeposit FLOAT;</a:t>
            </a:r>
            <a:endParaRPr lang="en-US" altLang="zh-CN" sz="2400" dirty="0">
              <a:solidFill>
                <a:schemeClr val="tx1"/>
              </a:solidFill>
            </a:endParaRPr>
          </a:p>
          <a:p>
            <a:pPr>
              <a:lnSpc>
                <a:spcPct val="90000"/>
              </a:lnSpc>
              <a:buNone/>
            </a:pPr>
            <a:r>
              <a:rPr lang="en-US" altLang="zh-CN" sz="2400" dirty="0">
                <a:solidFill>
                  <a:schemeClr val="tx1"/>
                </a:solidFill>
              </a:rPr>
              <a:t>	  BEGIN                          /* </a:t>
            </a:r>
            <a:r>
              <a:rPr lang="zh-CN" altLang="en-US" sz="2400" dirty="0">
                <a:solidFill>
                  <a:schemeClr val="tx1"/>
                </a:solidFill>
              </a:rPr>
              <a:t>检查转出账户的余额 *</a:t>
            </a:r>
            <a:r>
              <a:rPr lang="en-US" altLang="zh-CN" sz="2400" dirty="0">
                <a:solidFill>
                  <a:schemeClr val="tx1"/>
                </a:solidFill>
              </a:rPr>
              <a:t>/	                       </a:t>
            </a:r>
            <a:endParaRPr lang="en-US" altLang="zh-CN" sz="2400" dirty="0">
              <a:solidFill>
                <a:schemeClr val="tx1"/>
              </a:solidFill>
            </a:endParaRPr>
          </a:p>
          <a:p>
            <a:pPr>
              <a:lnSpc>
                <a:spcPct val="90000"/>
              </a:lnSpc>
              <a:buNone/>
            </a:pPr>
            <a:r>
              <a:rPr lang="en-US" altLang="zh-CN" sz="2400" dirty="0">
                <a:solidFill>
                  <a:schemeClr val="tx1"/>
                </a:solidFill>
              </a:rPr>
              <a:t>	       SELECT total INTO totalDeposit </a:t>
            </a:r>
            <a:endParaRPr lang="en-US" altLang="zh-CN" sz="2400" dirty="0">
              <a:solidFill>
                <a:schemeClr val="tx1"/>
              </a:solidFill>
            </a:endParaRPr>
          </a:p>
          <a:p>
            <a:pPr>
              <a:lnSpc>
                <a:spcPct val="90000"/>
              </a:lnSpc>
              <a:buNone/>
            </a:pPr>
            <a:r>
              <a:rPr lang="en-US" altLang="zh-CN" sz="2400" dirty="0">
                <a:solidFill>
                  <a:schemeClr val="tx1"/>
                </a:solidFill>
              </a:rPr>
              <a:t>            FROM ACCOUNT WHERE ACCOUNTNUM=outAccount; </a:t>
            </a:r>
            <a:endParaRPr lang="en-US" altLang="zh-CN" sz="2400" dirty="0">
              <a:solidFill>
                <a:schemeClr val="tx1"/>
              </a:solidFill>
            </a:endParaRPr>
          </a:p>
          <a:p>
            <a:pPr>
              <a:lnSpc>
                <a:spcPct val="90000"/>
              </a:lnSpc>
              <a:buNone/>
            </a:pPr>
            <a:r>
              <a:rPr lang="en-US" altLang="zh-CN" sz="2400" dirty="0">
                <a:solidFill>
                  <a:schemeClr val="tx1"/>
                </a:solidFill>
              </a:rPr>
              <a:t>	       IF totalDeposit IS NULL THEN    /* </a:t>
            </a:r>
            <a:r>
              <a:rPr lang="zh-CN" altLang="en-US" sz="2400" dirty="0">
                <a:solidFill>
                  <a:schemeClr val="tx1"/>
                </a:solidFill>
              </a:rPr>
              <a:t>账户不存在或账户中没有存款 *</a:t>
            </a:r>
            <a:r>
              <a:rPr lang="en-US" altLang="zh-CN" sz="2400" dirty="0">
                <a:solidFill>
                  <a:schemeClr val="tx1"/>
                </a:solidFill>
              </a:rPr>
              <a:t>/</a:t>
            </a:r>
            <a:endParaRPr lang="en-US" altLang="zh-CN" sz="2400" dirty="0">
              <a:solidFill>
                <a:schemeClr val="tx1"/>
              </a:solidFill>
            </a:endParaRPr>
          </a:p>
          <a:p>
            <a:pPr>
              <a:lnSpc>
                <a:spcPct val="90000"/>
              </a:lnSpc>
              <a:buNone/>
            </a:pPr>
            <a:r>
              <a:rPr lang="en-US" altLang="zh-CN" sz="2400" dirty="0">
                <a:solidFill>
                  <a:schemeClr val="tx1"/>
                </a:solidFill>
              </a:rPr>
              <a:t>	           ROLLBACK; </a:t>
            </a:r>
            <a:endParaRPr lang="en-US" altLang="zh-CN" sz="2400" dirty="0">
              <a:solidFill>
                <a:schemeClr val="tx1"/>
              </a:solidFill>
            </a:endParaRPr>
          </a:p>
          <a:p>
            <a:pPr>
              <a:lnSpc>
                <a:spcPct val="90000"/>
              </a:lnSpc>
              <a:buNone/>
            </a:pPr>
            <a:r>
              <a:rPr lang="en-US" altLang="zh-CN" sz="2400" dirty="0">
                <a:solidFill>
                  <a:schemeClr val="tx1"/>
                </a:solidFill>
              </a:rPr>
              <a:t>	           RETURN;</a:t>
            </a:r>
            <a:endParaRPr lang="en-US" altLang="zh-CN" sz="2400" dirty="0">
              <a:solidFill>
                <a:schemeClr val="tx1"/>
              </a:solidFill>
            </a:endParaRPr>
          </a:p>
          <a:p>
            <a:pPr>
              <a:lnSpc>
                <a:spcPct val="90000"/>
              </a:lnSpc>
              <a:buNone/>
            </a:pPr>
            <a:r>
              <a:rPr lang="en-US" altLang="zh-CN" sz="2400" dirty="0">
                <a:solidFill>
                  <a:schemeClr val="tx1"/>
                </a:solidFill>
              </a:rPr>
              <a:t>	       END IF; </a:t>
            </a:r>
            <a:endParaRPr lang="en-US" altLang="zh-CN" sz="2400" dirty="0">
              <a:solidFill>
                <a:schemeClr val="tx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4515"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存储过程的用户接口（续）</a:t>
            </a:r>
            <a:endParaRPr lang="zh-CN" altLang="en-US" sz="3200" dirty="0">
              <a:ea typeface="宋体" panose="02010600030101010101" pitchFamily="2" charset="-122"/>
            </a:endParaRPr>
          </a:p>
        </p:txBody>
      </p:sp>
      <p:sp>
        <p:nvSpPr>
          <p:cNvPr id="64516" name="Rectangle 3"/>
          <p:cNvSpPr>
            <a:spLocks noGrp="1"/>
          </p:cNvSpPr>
          <p:nvPr>
            <p:ph idx="1"/>
          </p:nvPr>
        </p:nvSpPr>
        <p:spPr>
          <a:xfrm>
            <a:off x="539750" y="1295400"/>
            <a:ext cx="7772400" cy="4724400"/>
          </a:xfrm>
          <a:ln/>
        </p:spPr>
        <p:txBody>
          <a:bodyPr vert="horz" wrap="square" lIns="91440" tIns="45720" rIns="91440" bIns="45720" anchor="t" anchorCtr="0"/>
          <a:p>
            <a:pPr>
              <a:lnSpc>
                <a:spcPct val="90000"/>
              </a:lnSpc>
              <a:buNone/>
            </a:pPr>
            <a:r>
              <a:rPr lang="en-US" altLang="zh-CN" sz="2000" dirty="0">
                <a:solidFill>
                  <a:schemeClr val="tx1"/>
                </a:solidFill>
              </a:rPr>
              <a:t>  </a:t>
            </a:r>
            <a:r>
              <a:rPr lang="en-US" altLang="zh-CN" sz="2400" dirty="0">
                <a:solidFill>
                  <a:schemeClr val="tx1"/>
                </a:solidFill>
              </a:rPr>
              <a:t>   IF totalDeposit &lt; amount THEN    	/* </a:t>
            </a:r>
            <a:r>
              <a:rPr lang="zh-CN" altLang="en-US" sz="2400" dirty="0">
                <a:solidFill>
                  <a:schemeClr val="tx1"/>
                </a:solidFill>
              </a:rPr>
              <a:t>账户账户存款不足 *</a:t>
            </a:r>
            <a:r>
              <a:rPr lang="en-US" altLang="zh-CN" sz="2400" dirty="0">
                <a:solidFill>
                  <a:schemeClr val="tx1"/>
                </a:solidFill>
              </a:rPr>
              <a:t>/</a:t>
            </a:r>
            <a:endParaRPr lang="en-US" altLang="zh-CN" sz="2400" dirty="0">
              <a:solidFill>
                <a:schemeClr val="tx1"/>
              </a:solidFill>
            </a:endParaRPr>
          </a:p>
          <a:p>
            <a:pPr>
              <a:lnSpc>
                <a:spcPct val="90000"/>
              </a:lnSpc>
              <a:buNone/>
            </a:pPr>
            <a:r>
              <a:rPr lang="en-US" altLang="zh-CN" sz="2400" dirty="0">
                <a:solidFill>
                  <a:schemeClr val="tx1"/>
                </a:solidFill>
              </a:rPr>
              <a:t>	      ROLLBACK;</a:t>
            </a:r>
            <a:endParaRPr lang="en-US" altLang="zh-CN" sz="2400" dirty="0">
              <a:solidFill>
                <a:schemeClr val="tx1"/>
              </a:solidFill>
            </a:endParaRPr>
          </a:p>
          <a:p>
            <a:pPr>
              <a:lnSpc>
                <a:spcPct val="90000"/>
              </a:lnSpc>
              <a:buNone/>
            </a:pPr>
            <a:r>
              <a:rPr lang="en-US" altLang="zh-CN" sz="2400" dirty="0">
                <a:solidFill>
                  <a:schemeClr val="tx1"/>
                </a:solidFill>
              </a:rPr>
              <a:t>	      RETURN;</a:t>
            </a:r>
            <a:endParaRPr lang="en-US" altLang="zh-CN" sz="2400" dirty="0">
              <a:solidFill>
                <a:schemeClr val="tx1"/>
              </a:solidFill>
            </a:endParaRPr>
          </a:p>
          <a:p>
            <a:pPr>
              <a:lnSpc>
                <a:spcPct val="90000"/>
              </a:lnSpc>
              <a:buNone/>
            </a:pPr>
            <a:r>
              <a:rPr lang="en-US" altLang="zh-CN" sz="2400" dirty="0">
                <a:solidFill>
                  <a:schemeClr val="tx1"/>
                </a:solidFill>
              </a:rPr>
              <a:t>	END IF;                        </a:t>
            </a:r>
            <a:endParaRPr lang="en-US" altLang="zh-CN" sz="2400" dirty="0">
              <a:solidFill>
                <a:schemeClr val="tx1"/>
              </a:solidFill>
            </a:endParaRPr>
          </a:p>
          <a:p>
            <a:pPr>
              <a:lnSpc>
                <a:spcPct val="90000"/>
              </a:lnSpc>
              <a:buNone/>
            </a:pPr>
            <a:r>
              <a:rPr lang="en-US" altLang="zh-CN" sz="2400" dirty="0">
                <a:solidFill>
                  <a:schemeClr val="tx1"/>
                </a:solidFill>
              </a:rPr>
              <a:t>	UPDATE account SET total=total-amount </a:t>
            </a:r>
            <a:br>
              <a:rPr lang="en-US" altLang="zh-CN" sz="2400" dirty="0">
                <a:solidFill>
                  <a:schemeClr val="tx1"/>
                </a:solidFill>
              </a:rPr>
            </a:br>
            <a:r>
              <a:rPr lang="en-US" altLang="zh-CN" sz="2400" dirty="0">
                <a:solidFill>
                  <a:schemeClr val="tx1"/>
                </a:solidFill>
              </a:rPr>
              <a:t>WHERE ACCOUNTNUM=outAccount; </a:t>
            </a:r>
            <a:endParaRPr lang="en-US" altLang="zh-CN" sz="2400" dirty="0">
              <a:solidFill>
                <a:schemeClr val="tx1"/>
              </a:solidFill>
            </a:endParaRPr>
          </a:p>
          <a:p>
            <a:pPr>
              <a:lnSpc>
                <a:spcPct val="90000"/>
              </a:lnSpc>
              <a:buNone/>
            </a:pPr>
            <a:r>
              <a:rPr lang="en-US" altLang="zh-CN" sz="2400" dirty="0">
                <a:solidFill>
                  <a:schemeClr val="tx1"/>
                </a:solidFill>
              </a:rPr>
              <a:t>					/* </a:t>
            </a:r>
            <a:r>
              <a:rPr lang="zh-CN" altLang="en-US" sz="2400" dirty="0">
                <a:solidFill>
                  <a:schemeClr val="tx1"/>
                </a:solidFill>
              </a:rPr>
              <a:t>修改转出账户，减去转出额 *</a:t>
            </a:r>
            <a:r>
              <a:rPr lang="en-US" altLang="zh-CN" sz="2400" dirty="0">
                <a:solidFill>
                  <a:schemeClr val="tx1"/>
                </a:solidFill>
              </a:rPr>
              <a:t>/</a:t>
            </a:r>
            <a:endParaRPr lang="en-US" altLang="zh-CN" sz="2400" dirty="0">
              <a:solidFill>
                <a:schemeClr val="tx1"/>
              </a:solidFill>
            </a:endParaRPr>
          </a:p>
          <a:p>
            <a:pPr>
              <a:lnSpc>
                <a:spcPct val="90000"/>
              </a:lnSpc>
              <a:buNone/>
            </a:pPr>
            <a:r>
              <a:rPr lang="en-US" altLang="zh-CN" sz="2400" dirty="0">
                <a:solidFill>
                  <a:schemeClr val="tx1"/>
                </a:solidFill>
              </a:rPr>
              <a:t>     UPDATE account SET total=total + amount WHERE ACCOUNTNUM=inAccount;</a:t>
            </a:r>
            <a:endParaRPr lang="en-US" altLang="zh-CN" sz="2400" dirty="0">
              <a:solidFill>
                <a:schemeClr val="tx1"/>
              </a:solidFill>
            </a:endParaRPr>
          </a:p>
          <a:p>
            <a:pPr>
              <a:lnSpc>
                <a:spcPct val="90000"/>
              </a:lnSpc>
              <a:buNone/>
            </a:pPr>
            <a:r>
              <a:rPr lang="en-US" altLang="zh-CN" sz="2400" dirty="0">
                <a:solidFill>
                  <a:schemeClr val="tx1"/>
                </a:solidFill>
              </a:rPr>
              <a:t>       	     		            	/* </a:t>
            </a:r>
            <a:r>
              <a:rPr lang="zh-CN" altLang="en-US" sz="2400" dirty="0">
                <a:solidFill>
                  <a:schemeClr val="tx1"/>
                </a:solidFill>
              </a:rPr>
              <a:t>修改转入账户，增加转出额 *</a:t>
            </a:r>
            <a:r>
              <a:rPr lang="en-US" altLang="zh-CN" sz="2400" dirty="0">
                <a:solidFill>
                  <a:schemeClr val="tx1"/>
                </a:solidFill>
              </a:rPr>
              <a:t>/</a:t>
            </a:r>
            <a:endParaRPr lang="en-US" altLang="zh-CN" sz="2400" dirty="0">
              <a:solidFill>
                <a:schemeClr val="tx1"/>
              </a:solidFill>
            </a:endParaRPr>
          </a:p>
          <a:p>
            <a:pPr>
              <a:lnSpc>
                <a:spcPct val="90000"/>
              </a:lnSpc>
              <a:buNone/>
            </a:pPr>
            <a:r>
              <a:rPr lang="en-US" altLang="zh-CN" sz="2400" dirty="0">
                <a:solidFill>
                  <a:schemeClr val="tx1"/>
                </a:solidFill>
              </a:rPr>
              <a:t>	COMMIT;                       	/* </a:t>
            </a:r>
            <a:r>
              <a:rPr lang="zh-CN" altLang="en-US" sz="2400" dirty="0">
                <a:solidFill>
                  <a:schemeClr val="tx1"/>
                </a:solidFill>
              </a:rPr>
              <a:t>提交转账事务 *</a:t>
            </a:r>
            <a:r>
              <a:rPr lang="en-US" altLang="zh-CN" sz="2400" dirty="0">
                <a:solidFill>
                  <a:schemeClr val="tx1"/>
                </a:solidFill>
              </a:rPr>
              <a:t>/</a:t>
            </a:r>
            <a:endParaRPr lang="en-US" altLang="zh-CN" sz="2400" dirty="0">
              <a:solidFill>
                <a:schemeClr val="tx1"/>
              </a:solidFill>
            </a:endParaRPr>
          </a:p>
          <a:p>
            <a:pPr>
              <a:lnSpc>
                <a:spcPct val="90000"/>
              </a:lnSpc>
              <a:buNone/>
            </a:pPr>
            <a:r>
              <a:rPr lang="en-US" altLang="zh-CN" sz="2400" dirty="0">
                <a:solidFill>
                  <a:schemeClr val="tx1"/>
                </a:solidFill>
              </a:rPr>
              <a:t>	END;</a:t>
            </a:r>
            <a:endParaRPr lang="en-US" altLang="zh-CN" sz="2400" dirty="0">
              <a:solidFill>
                <a:schemeClr val="tx1"/>
              </a:solidFill>
            </a:endParaRPr>
          </a:p>
          <a:p>
            <a:pPr>
              <a:lnSpc>
                <a:spcPct val="90000"/>
              </a:lnSpc>
              <a:buNone/>
            </a:pPr>
            <a:endParaRPr lang="en-US" altLang="zh-CN"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5539"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存储过程的用户接口（续）</a:t>
            </a:r>
            <a:endParaRPr lang="zh-CN" altLang="en-US" sz="3200" dirty="0">
              <a:ea typeface="宋体" panose="02010600030101010101" pitchFamily="2" charset="-122"/>
            </a:endParaRPr>
          </a:p>
        </p:txBody>
      </p:sp>
      <p:sp>
        <p:nvSpPr>
          <p:cNvPr id="65540" name="Rectangle 3"/>
          <p:cNvSpPr>
            <a:spLocks noGrp="1"/>
          </p:cNvSpPr>
          <p:nvPr>
            <p:ph idx="1"/>
          </p:nvPr>
        </p:nvSpPr>
        <p:spPr>
          <a:xfrm>
            <a:off x="468313" y="1700213"/>
            <a:ext cx="8675687" cy="4495800"/>
          </a:xfrm>
          <a:ln/>
        </p:spPr>
        <p:txBody>
          <a:bodyPr vert="horz" wrap="square" lIns="91440" tIns="45720" rIns="91440" bIns="45720" anchor="t" anchorCtr="0"/>
          <a:p>
            <a:pPr>
              <a:lnSpc>
                <a:spcPct val="130000"/>
              </a:lnSpc>
            </a:pPr>
            <a:r>
              <a:rPr lang="en-US" altLang="zh-CN" dirty="0">
                <a:solidFill>
                  <a:schemeClr val="tx1"/>
                </a:solidFill>
              </a:rPr>
              <a:t>2. </a:t>
            </a:r>
            <a:r>
              <a:rPr lang="zh-CN" altLang="en-US" dirty="0">
                <a:solidFill>
                  <a:schemeClr val="tx1"/>
                </a:solidFill>
              </a:rPr>
              <a:t>执行存储过程： </a:t>
            </a:r>
            <a:endParaRPr lang="zh-CN" altLang="en-US" dirty="0">
              <a:solidFill>
                <a:schemeClr val="tx1"/>
              </a:solidFill>
            </a:endParaRPr>
          </a:p>
          <a:p>
            <a:pPr>
              <a:lnSpc>
                <a:spcPct val="130000"/>
              </a:lnSpc>
              <a:buNone/>
            </a:pPr>
            <a:r>
              <a:rPr lang="zh-CN" altLang="en-US" sz="2400" dirty="0">
                <a:solidFill>
                  <a:schemeClr val="tx1"/>
                </a:solidFill>
              </a:rPr>
              <a:t>  </a:t>
            </a:r>
            <a:r>
              <a:rPr lang="en-US" altLang="zh-CN" sz="2200" dirty="0">
                <a:solidFill>
                  <a:schemeClr val="tx1"/>
                </a:solidFill>
              </a:rPr>
              <a:t>CALL/PERFORM  Procedure </a:t>
            </a:r>
            <a:r>
              <a:rPr lang="zh-CN" altLang="en-US" sz="2200" dirty="0">
                <a:solidFill>
                  <a:schemeClr val="tx1"/>
                </a:solidFill>
              </a:rPr>
              <a:t>过程名</a:t>
            </a:r>
            <a:r>
              <a:rPr lang="en-US" altLang="zh-CN" sz="2200" dirty="0">
                <a:solidFill>
                  <a:schemeClr val="tx1"/>
                </a:solidFill>
              </a:rPr>
              <a:t>(</a:t>
            </a:r>
            <a:r>
              <a:rPr lang="zh-CN" altLang="en-US" sz="2200" dirty="0">
                <a:solidFill>
                  <a:schemeClr val="tx1"/>
                </a:solidFill>
              </a:rPr>
              <a:t>［参数</a:t>
            </a:r>
            <a:r>
              <a:rPr lang="en-US" altLang="zh-CN" sz="2200" dirty="0">
                <a:solidFill>
                  <a:schemeClr val="tx1"/>
                </a:solidFill>
              </a:rPr>
              <a:t>1</a:t>
            </a:r>
            <a:r>
              <a:rPr lang="zh-CN" altLang="en-US" sz="2200" dirty="0">
                <a:solidFill>
                  <a:schemeClr val="tx1"/>
                </a:solidFill>
              </a:rPr>
              <a:t>，参数</a:t>
            </a:r>
            <a:r>
              <a:rPr lang="en-US" altLang="zh-CN" sz="2200" dirty="0">
                <a:solidFill>
                  <a:schemeClr val="tx1"/>
                </a:solidFill>
              </a:rPr>
              <a:t>2</a:t>
            </a:r>
            <a:r>
              <a:rPr lang="zh-CN" altLang="en-US" sz="2200" dirty="0">
                <a:solidFill>
                  <a:schemeClr val="tx1"/>
                </a:solidFill>
              </a:rPr>
              <a:t>，</a:t>
            </a:r>
            <a:r>
              <a:rPr lang="en-US" altLang="zh-CN" sz="2200" dirty="0">
                <a:solidFill>
                  <a:schemeClr val="tx1"/>
                </a:solidFill>
              </a:rPr>
              <a:t>...</a:t>
            </a:r>
            <a:r>
              <a:rPr lang="zh-CN" altLang="en-US" sz="2200" dirty="0">
                <a:solidFill>
                  <a:schemeClr val="tx1"/>
                </a:solidFill>
              </a:rPr>
              <a:t>］</a:t>
            </a:r>
            <a:r>
              <a:rPr lang="en-US" altLang="zh-CN" sz="2200" dirty="0">
                <a:solidFill>
                  <a:schemeClr val="tx1"/>
                </a:solidFill>
              </a:rPr>
              <a:t>)</a:t>
            </a:r>
            <a:r>
              <a:rPr lang="zh-CN" altLang="en-US" sz="2200" dirty="0">
                <a:solidFill>
                  <a:schemeClr val="tx1"/>
                </a:solidFill>
              </a:rPr>
              <a:t>；</a:t>
            </a:r>
            <a:endParaRPr lang="zh-CN" altLang="en-US" sz="2200" dirty="0">
              <a:solidFill>
                <a:schemeClr val="tx1"/>
              </a:solidFill>
            </a:endParaRPr>
          </a:p>
          <a:p>
            <a:pPr>
              <a:lnSpc>
                <a:spcPct val="130000"/>
              </a:lnSpc>
              <a:buClr>
                <a:schemeClr val="accent1"/>
              </a:buClr>
              <a:buSzPct val="75000"/>
              <a:buFont typeface="Wingdings" panose="05000000000000000000" pitchFamily="2" charset="2"/>
              <a:buChar char="n"/>
            </a:pPr>
            <a:r>
              <a:rPr lang="zh-CN" altLang="en-US" sz="2200" dirty="0">
                <a:solidFill>
                  <a:schemeClr val="tx1"/>
                </a:solidFill>
              </a:rPr>
              <a:t>使用</a:t>
            </a:r>
            <a:r>
              <a:rPr lang="en-US" altLang="zh-CN" sz="2200" dirty="0">
                <a:solidFill>
                  <a:schemeClr val="tx1"/>
                </a:solidFill>
              </a:rPr>
              <a:t>CALL</a:t>
            </a:r>
            <a:r>
              <a:rPr lang="zh-CN" altLang="en-US" sz="2200" dirty="0">
                <a:solidFill>
                  <a:schemeClr val="tx1"/>
                </a:solidFill>
              </a:rPr>
              <a:t>或者</a:t>
            </a:r>
            <a:r>
              <a:rPr lang="en-US" altLang="zh-CN" sz="2200" dirty="0">
                <a:solidFill>
                  <a:schemeClr val="tx1"/>
                </a:solidFill>
              </a:rPr>
              <a:t>PERFORM</a:t>
            </a:r>
            <a:r>
              <a:rPr lang="zh-CN" altLang="en-US" sz="2200" dirty="0">
                <a:solidFill>
                  <a:schemeClr val="tx1"/>
                </a:solidFill>
              </a:rPr>
              <a:t>等方式激活存储过程的执行。</a:t>
            </a:r>
            <a:endParaRPr lang="zh-CN" altLang="en-US" sz="2200" dirty="0">
              <a:solidFill>
                <a:schemeClr val="tx1"/>
              </a:solidFill>
            </a:endParaRPr>
          </a:p>
          <a:p>
            <a:pPr>
              <a:lnSpc>
                <a:spcPct val="130000"/>
              </a:lnSpc>
              <a:buClr>
                <a:schemeClr val="accent1"/>
              </a:buClr>
              <a:buSzPct val="75000"/>
              <a:buFont typeface="Wingdings" panose="05000000000000000000" pitchFamily="2" charset="2"/>
              <a:buChar char="n"/>
            </a:pPr>
            <a:r>
              <a:rPr lang="zh-CN" altLang="en-US" sz="2200" dirty="0">
                <a:solidFill>
                  <a:schemeClr val="tx1"/>
                </a:solidFill>
              </a:rPr>
              <a:t>在</a:t>
            </a:r>
            <a:r>
              <a:rPr lang="en-US" altLang="zh-CN" sz="2200" dirty="0">
                <a:solidFill>
                  <a:schemeClr val="tx1"/>
                </a:solidFill>
              </a:rPr>
              <a:t>PL/SQL</a:t>
            </a:r>
            <a:r>
              <a:rPr lang="zh-CN" altLang="en-US" sz="2200" dirty="0">
                <a:solidFill>
                  <a:schemeClr val="tx1"/>
                </a:solidFill>
              </a:rPr>
              <a:t>中，数据库服务器支持在过程体中调用其他存储过程</a:t>
            </a:r>
            <a:endParaRPr lang="zh-CN" altLang="en-US" sz="2200" dirty="0">
              <a:solidFill>
                <a:schemeClr val="tx1"/>
              </a:solidFill>
            </a:endParaRPr>
          </a:p>
          <a:p>
            <a:pPr>
              <a:lnSpc>
                <a:spcPct val="130000"/>
              </a:lnSpc>
              <a:buClr>
                <a:schemeClr val="accent1"/>
              </a:buClr>
              <a:buSzPct val="75000"/>
              <a:buFont typeface="Wingdings" panose="05000000000000000000" pitchFamily="2" charset="2"/>
              <a:buChar char="n"/>
            </a:pPr>
            <a:endParaRPr lang="zh-CN" altLang="en-US" sz="2200" dirty="0">
              <a:solidFill>
                <a:schemeClr val="tx1"/>
              </a:solidFill>
            </a:endParaRPr>
          </a:p>
          <a:p>
            <a:pPr>
              <a:lnSpc>
                <a:spcPct val="130000"/>
              </a:lnSpc>
              <a:buNone/>
            </a:pPr>
            <a:r>
              <a:rPr lang="zh-CN" altLang="en-US" sz="2200" dirty="0">
                <a:solidFill>
                  <a:schemeClr val="tx1"/>
                </a:solidFill>
              </a:rPr>
              <a:t>［例</a:t>
            </a:r>
            <a:r>
              <a:rPr lang="en-US" altLang="zh-CN" sz="2200" dirty="0">
                <a:solidFill>
                  <a:schemeClr val="tx1"/>
                </a:solidFill>
              </a:rPr>
              <a:t>12</a:t>
            </a:r>
            <a:r>
              <a:rPr lang="zh-CN" altLang="en-US" sz="2200" dirty="0">
                <a:solidFill>
                  <a:schemeClr val="tx1"/>
                </a:solidFill>
              </a:rPr>
              <a:t>］从账户</a:t>
            </a:r>
            <a:r>
              <a:rPr lang="en-US" altLang="zh-CN" sz="2200" dirty="0">
                <a:solidFill>
                  <a:schemeClr val="tx1"/>
                </a:solidFill>
              </a:rPr>
              <a:t>01003815868</a:t>
            </a:r>
            <a:r>
              <a:rPr lang="zh-CN" altLang="en-US" sz="2200" dirty="0">
                <a:solidFill>
                  <a:schemeClr val="tx1"/>
                </a:solidFill>
              </a:rPr>
              <a:t>转一万元到</a:t>
            </a:r>
            <a:r>
              <a:rPr lang="en-US" altLang="zh-CN" sz="2200" dirty="0">
                <a:solidFill>
                  <a:schemeClr val="tx1"/>
                </a:solidFill>
              </a:rPr>
              <a:t>01003813828</a:t>
            </a:r>
            <a:r>
              <a:rPr lang="zh-CN" altLang="en-US" sz="2200" dirty="0">
                <a:solidFill>
                  <a:schemeClr val="tx1"/>
                </a:solidFill>
              </a:rPr>
              <a:t>账户中。</a:t>
            </a:r>
            <a:endParaRPr lang="zh-CN" altLang="en-US" sz="2200" dirty="0">
              <a:solidFill>
                <a:schemeClr val="tx1"/>
              </a:solidFill>
            </a:endParaRPr>
          </a:p>
          <a:p>
            <a:pPr>
              <a:lnSpc>
                <a:spcPct val="130000"/>
              </a:lnSpc>
              <a:buNone/>
            </a:pPr>
            <a:r>
              <a:rPr lang="zh-CN" altLang="en-US" sz="2200" dirty="0">
                <a:solidFill>
                  <a:schemeClr val="tx1"/>
                </a:solidFill>
              </a:rPr>
              <a:t>    </a:t>
            </a:r>
            <a:r>
              <a:rPr lang="en-US" altLang="zh-CN" sz="2000" dirty="0">
                <a:solidFill>
                  <a:schemeClr val="tx1"/>
                </a:solidFill>
              </a:rPr>
              <a:t>CALL Procedure TRANSFER(01003813828</a:t>
            </a:r>
            <a:r>
              <a:rPr lang="zh-CN" altLang="en-US" sz="2000" dirty="0">
                <a:solidFill>
                  <a:schemeClr val="tx1"/>
                </a:solidFill>
              </a:rPr>
              <a:t>，</a:t>
            </a:r>
            <a:r>
              <a:rPr lang="en-US" altLang="zh-CN" sz="2000" dirty="0">
                <a:solidFill>
                  <a:schemeClr val="tx1"/>
                </a:solidFill>
              </a:rPr>
              <a:t>01003815868</a:t>
            </a:r>
            <a:r>
              <a:rPr lang="zh-CN" altLang="en-US" sz="2000" dirty="0">
                <a:solidFill>
                  <a:schemeClr val="tx1"/>
                </a:solidFill>
              </a:rPr>
              <a:t>，</a:t>
            </a:r>
            <a:r>
              <a:rPr lang="en-US" altLang="zh-CN" sz="2000" dirty="0">
                <a:solidFill>
                  <a:schemeClr val="tx1"/>
                </a:solidFill>
              </a:rPr>
              <a:t>10000)</a:t>
            </a:r>
            <a:r>
              <a:rPr lang="zh-CN" altLang="en-US" sz="2000" dirty="0">
                <a:solidFill>
                  <a:schemeClr val="tx1"/>
                </a:solidFill>
              </a:rPr>
              <a:t>；</a:t>
            </a:r>
            <a:r>
              <a:rPr lang="zh-CN" altLang="en-US" dirty="0">
                <a:solidFill>
                  <a:schemeClr val="tx1"/>
                </a:solidFill>
              </a:rPr>
              <a:t> </a:t>
            </a:r>
            <a:endParaRPr lang="zh-CN" altLang="en-US" dirty="0">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6563" name="Rectangle 2"/>
          <p:cNvSpPr>
            <a:spLocks noGrp="1"/>
          </p:cNvSpPr>
          <p:nvPr>
            <p:ph type="title"/>
          </p:nvPr>
        </p:nvSpPr>
        <p:spPr>
          <a:ln/>
        </p:spPr>
        <p:txBody>
          <a:bodyPr vert="horz" wrap="square" lIns="91440" tIns="45720" rIns="91440" bIns="45720" anchor="ctr" anchorCtr="0"/>
          <a:p>
            <a:r>
              <a:rPr lang="zh-CN" altLang="en-US" sz="3200" dirty="0">
                <a:ea typeface="宋体" panose="02010600030101010101" pitchFamily="2" charset="-122"/>
              </a:rPr>
              <a:t>存储过程的用户接口（续）</a:t>
            </a:r>
            <a:endParaRPr lang="zh-CN" altLang="en-US" sz="3200" dirty="0">
              <a:ea typeface="宋体" panose="02010600030101010101" pitchFamily="2" charset="-122"/>
            </a:endParaRPr>
          </a:p>
        </p:txBody>
      </p:sp>
      <p:sp>
        <p:nvSpPr>
          <p:cNvPr id="66564" name="Rectangle 3"/>
          <p:cNvSpPr>
            <a:spLocks noGrp="1"/>
          </p:cNvSpPr>
          <p:nvPr>
            <p:ph idx="1"/>
          </p:nvPr>
        </p:nvSpPr>
        <p:spPr>
          <a:xfrm>
            <a:off x="323850" y="1570038"/>
            <a:ext cx="8667750" cy="1512887"/>
          </a:xfrm>
          <a:ln/>
        </p:spPr>
        <p:txBody>
          <a:bodyPr vert="horz" wrap="square" lIns="91440" tIns="45720" rIns="91440" bIns="45720" anchor="t" anchorCtr="0"/>
          <a:p>
            <a:pPr>
              <a:lnSpc>
                <a:spcPct val="140000"/>
              </a:lnSpc>
              <a:buFont typeface="Wingdings" panose="05000000000000000000" pitchFamily="2" charset="2"/>
              <a:buChar char="n"/>
            </a:pPr>
            <a:r>
              <a:rPr lang="zh-CN" altLang="en-US" dirty="0"/>
              <a:t>重命名存储过程</a:t>
            </a:r>
            <a:endParaRPr lang="zh-CN" altLang="en-US" dirty="0"/>
          </a:p>
          <a:p>
            <a:pPr>
              <a:lnSpc>
                <a:spcPct val="140000"/>
              </a:lnSpc>
              <a:buNone/>
            </a:pPr>
            <a:r>
              <a:rPr lang="zh-CN" altLang="en-US" sz="2800" dirty="0">
                <a:solidFill>
                  <a:schemeClr val="tx1"/>
                </a:solidFill>
              </a:rPr>
              <a:t>    </a:t>
            </a:r>
            <a:r>
              <a:rPr lang="en-US" altLang="zh-CN" sz="2800" dirty="0">
                <a:solidFill>
                  <a:schemeClr val="tx1"/>
                </a:solidFill>
              </a:rPr>
              <a:t>ALTER Procedure </a:t>
            </a:r>
            <a:r>
              <a:rPr lang="zh-CN" altLang="en-US" sz="2800" dirty="0">
                <a:solidFill>
                  <a:schemeClr val="tx1"/>
                </a:solidFill>
              </a:rPr>
              <a:t>过程名</a:t>
            </a:r>
            <a:r>
              <a:rPr lang="en-US" altLang="zh-CN" sz="2800" dirty="0">
                <a:solidFill>
                  <a:schemeClr val="tx1"/>
                </a:solidFill>
              </a:rPr>
              <a:t>1 RENAME TO </a:t>
            </a:r>
            <a:r>
              <a:rPr lang="zh-CN" altLang="en-US" sz="2800" dirty="0">
                <a:solidFill>
                  <a:schemeClr val="tx1"/>
                </a:solidFill>
              </a:rPr>
              <a:t>过程名</a:t>
            </a:r>
            <a:r>
              <a:rPr lang="en-US" altLang="zh-CN" sz="2800" dirty="0">
                <a:solidFill>
                  <a:schemeClr val="tx1"/>
                </a:solidFill>
              </a:rPr>
              <a:t>2;</a:t>
            </a:r>
            <a:endParaRPr lang="en-US" altLang="zh-CN" sz="2800" dirty="0">
              <a:solidFill>
                <a:schemeClr val="tx1"/>
              </a:solidFill>
            </a:endParaRPr>
          </a:p>
        </p:txBody>
      </p:sp>
      <p:sp>
        <p:nvSpPr>
          <p:cNvPr id="2" name="矩形 1"/>
          <p:cNvSpPr/>
          <p:nvPr/>
        </p:nvSpPr>
        <p:spPr>
          <a:xfrm>
            <a:off x="539750" y="3357563"/>
            <a:ext cx="7524750" cy="1470025"/>
          </a:xfrm>
          <a:prstGeom prst="rect">
            <a:avLst/>
          </a:prstGeom>
        </p:spPr>
        <p:txBody>
          <a:bodyPr>
            <a:spAutoFit/>
          </a:bodyPr>
          <a:lstStyle/>
          <a:p>
            <a:pPr marL="457200" marR="0" lvl="0" indent="-457200" algn="l" defTabSz="914400" rtl="0" eaLnBrk="0" fontAlgn="base" latinLnBrk="0" hangingPunct="0">
              <a:lnSpc>
                <a:spcPct val="140000"/>
              </a:lnSpc>
              <a:spcBef>
                <a:spcPct val="0"/>
              </a:spcBef>
              <a:spcAft>
                <a:spcPct val="0"/>
              </a:spcAft>
              <a:buClrTx/>
              <a:buSzTx/>
              <a:buFont typeface="Wingdings" panose="05000000000000000000" pitchFamily="2" charset="2"/>
              <a:buChar char="n"/>
              <a:defRPr/>
            </a:pPr>
            <a:r>
              <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删除存储过程</a:t>
            </a:r>
            <a:endPar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40000"/>
              </a:lnSpc>
              <a:spcBef>
                <a:spcPct val="0"/>
              </a:spcBef>
              <a:spcAft>
                <a:spcPct val="0"/>
              </a:spcAft>
              <a:buClrTx/>
              <a:buSzTx/>
              <a:buFont typeface="Wingdings" panose="05000000000000000000" pitchFamily="2" charset="2"/>
              <a:buNone/>
              <a:defRPr/>
            </a:pPr>
            <a:r>
              <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DROP  PROCEDURE </a:t>
            </a:r>
            <a:r>
              <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过程名（）；</a:t>
            </a:r>
            <a:endPar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7587" name="Rectangle 2"/>
          <p:cNvSpPr/>
          <p:nvPr/>
        </p:nvSpPr>
        <p:spPr>
          <a:xfrm>
            <a:off x="558800" y="5099050"/>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67588" name="Rectangle 3"/>
          <p:cNvSpPr>
            <a:spLocks noGrp="1"/>
          </p:cNvSpPr>
          <p:nvPr>
            <p:ph idx="1"/>
          </p:nvPr>
        </p:nvSpPr>
        <p:spPr>
          <a:xfrm>
            <a:off x="762000" y="1358900"/>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5.1  </a:t>
            </a:r>
            <a:r>
              <a:rPr lang="zh-CN" altLang="en-US" dirty="0">
                <a:solidFill>
                  <a:schemeClr val="tx1"/>
                </a:solidFill>
              </a:rPr>
              <a:t>实体完整性</a:t>
            </a:r>
            <a:endParaRPr lang="zh-CN" altLang="en-US" dirty="0">
              <a:solidFill>
                <a:schemeClr val="tx1"/>
              </a:solidFill>
            </a:endParaRPr>
          </a:p>
          <a:p>
            <a:pPr algn="just" eaLnBrk="1" hangingPunct="1">
              <a:lnSpc>
                <a:spcPct val="130000"/>
              </a:lnSpc>
              <a:buNone/>
            </a:pPr>
            <a:r>
              <a:rPr lang="en-US" altLang="zh-CN" dirty="0">
                <a:solidFill>
                  <a:schemeClr val="tx1"/>
                </a:solidFill>
              </a:rPr>
              <a:t>5.2  </a:t>
            </a:r>
            <a:r>
              <a:rPr lang="zh-CN" altLang="en-US" dirty="0">
                <a:solidFill>
                  <a:schemeClr val="tx1"/>
                </a:solidFill>
              </a:rPr>
              <a:t>参照完整性</a:t>
            </a:r>
            <a:endParaRPr lang="zh-CN" altLang="en-US" dirty="0">
              <a:solidFill>
                <a:schemeClr val="tx1"/>
              </a:solidFill>
            </a:endParaRPr>
          </a:p>
          <a:p>
            <a:pPr algn="just" eaLnBrk="1" hangingPunct="1">
              <a:lnSpc>
                <a:spcPct val="130000"/>
              </a:lnSpc>
              <a:buNone/>
            </a:pPr>
            <a:r>
              <a:rPr lang="en-US" altLang="zh-CN" dirty="0">
                <a:solidFill>
                  <a:schemeClr val="tx1"/>
                </a:solidFill>
              </a:rPr>
              <a:t>5.3  </a:t>
            </a:r>
            <a:r>
              <a:rPr lang="zh-CN" altLang="en-US" dirty="0">
                <a:solidFill>
                  <a:schemeClr val="tx1"/>
                </a:solidFill>
              </a:rPr>
              <a:t>用户定义的完整性</a:t>
            </a:r>
            <a:endParaRPr lang="zh-CN" altLang="en-US" dirty="0">
              <a:solidFill>
                <a:schemeClr val="tx1"/>
              </a:solidFill>
            </a:endParaRPr>
          </a:p>
          <a:p>
            <a:pPr algn="just" eaLnBrk="1" hangingPunct="1">
              <a:lnSpc>
                <a:spcPct val="130000"/>
              </a:lnSpc>
              <a:buNone/>
            </a:pPr>
            <a:r>
              <a:rPr lang="en-US" altLang="zh-CN" dirty="0">
                <a:solidFill>
                  <a:schemeClr val="tx1"/>
                </a:solidFill>
              </a:rPr>
              <a:t>5.4  </a:t>
            </a:r>
            <a:r>
              <a:rPr lang="zh-CN" altLang="en-US" dirty="0">
                <a:solidFill>
                  <a:schemeClr val="tx1"/>
                </a:solidFill>
              </a:rPr>
              <a:t>完整性约束命名子句</a:t>
            </a:r>
            <a:endParaRPr lang="zh-CN" altLang="en-US" dirty="0">
              <a:solidFill>
                <a:schemeClr val="tx1"/>
              </a:solidFill>
            </a:endParaRPr>
          </a:p>
          <a:p>
            <a:pPr algn="just" eaLnBrk="1" hangingPunct="1">
              <a:lnSpc>
                <a:spcPct val="130000"/>
              </a:lnSpc>
              <a:buNone/>
            </a:pPr>
            <a:r>
              <a:rPr lang="en-US" altLang="zh-CN" dirty="0">
                <a:solidFill>
                  <a:schemeClr val="tx1"/>
                </a:solidFill>
              </a:rPr>
              <a:t>5.5  </a:t>
            </a:r>
            <a:r>
              <a:rPr lang="zh-CN" altLang="en-US" dirty="0">
                <a:solidFill>
                  <a:schemeClr val="tx1"/>
                </a:solidFill>
              </a:rPr>
              <a:t>存储过程</a:t>
            </a:r>
            <a:endParaRPr lang="zh-CN" altLang="en-US" dirty="0">
              <a:solidFill>
                <a:schemeClr val="tx1"/>
              </a:solidFill>
            </a:endParaRPr>
          </a:p>
          <a:p>
            <a:pPr algn="just" eaLnBrk="1" hangingPunct="1">
              <a:lnSpc>
                <a:spcPct val="130000"/>
              </a:lnSpc>
              <a:buNone/>
            </a:pPr>
            <a:r>
              <a:rPr lang="en-US" altLang="zh-CN" dirty="0">
                <a:solidFill>
                  <a:schemeClr val="bg1"/>
                </a:solidFill>
              </a:rPr>
              <a:t>5.6  </a:t>
            </a:r>
            <a:r>
              <a:rPr lang="zh-CN" altLang="en-US" dirty="0">
                <a:solidFill>
                  <a:schemeClr val="bg1"/>
                </a:solidFill>
              </a:rPr>
              <a:t>触发器</a:t>
            </a:r>
            <a:endParaRPr lang="zh-CN" altLang="en-US" dirty="0">
              <a:solidFill>
                <a:schemeClr val="bg1"/>
              </a:solidFill>
            </a:endParaRPr>
          </a:p>
          <a:p>
            <a:pPr algn="just" eaLnBrk="1" hangingPunct="1">
              <a:lnSpc>
                <a:spcPct val="130000"/>
              </a:lnSpc>
              <a:buNone/>
            </a:pPr>
            <a:r>
              <a:rPr lang="en-US" altLang="zh-CN" dirty="0">
                <a:solidFill>
                  <a:schemeClr val="tx1"/>
                </a:solidFill>
              </a:rPr>
              <a:t>5.7  </a:t>
            </a:r>
            <a:r>
              <a:rPr lang="zh-CN" altLang="en-US" dirty="0">
                <a:solidFill>
                  <a:schemeClr val="tx1"/>
                </a:solidFill>
              </a:rPr>
              <a:t>小结</a:t>
            </a:r>
            <a:endParaRPr lang="zh-CN" altLang="en-US" dirty="0">
              <a:solidFill>
                <a:schemeClr val="tx1"/>
              </a:solidFill>
            </a:endParaRPr>
          </a:p>
        </p:txBody>
      </p:sp>
      <p:sp>
        <p:nvSpPr>
          <p:cNvPr id="67589"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86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 </a:t>
            </a:r>
            <a:r>
              <a:rPr lang="zh-CN" altLang="en-US" sz="3200" dirty="0"/>
              <a:t>触发器</a:t>
            </a:r>
            <a:endParaRPr lang="zh-CN" altLang="en-US" sz="3200" dirty="0"/>
          </a:p>
        </p:txBody>
      </p:sp>
      <p:sp>
        <p:nvSpPr>
          <p:cNvPr id="68612" name="Rectangle 3"/>
          <p:cNvSpPr>
            <a:spLocks noGrp="1"/>
          </p:cNvSpPr>
          <p:nvPr>
            <p:ph idx="1"/>
          </p:nvPr>
        </p:nvSpPr>
        <p:spPr>
          <a:xfrm>
            <a:off x="228600" y="762000"/>
            <a:ext cx="8686800" cy="5867400"/>
          </a:xfrm>
          <a:ln/>
        </p:spPr>
        <p:txBody>
          <a:bodyPr vert="horz" wrap="square" lIns="91440" tIns="45720" rIns="91440" bIns="45720" anchor="t" anchorCtr="0"/>
          <a:p>
            <a:pPr>
              <a:lnSpc>
                <a:spcPct val="120000"/>
              </a:lnSpc>
              <a:buClr>
                <a:srgbClr val="FF0000"/>
              </a:buClr>
            </a:pPr>
            <a:r>
              <a:rPr lang="zh-CN" altLang="en-US" dirty="0">
                <a:solidFill>
                  <a:schemeClr val="tx1"/>
                </a:solidFill>
              </a:rPr>
              <a:t>问题的提出</a:t>
            </a:r>
            <a:r>
              <a:rPr lang="en-US" altLang="zh-CN" dirty="0">
                <a:solidFill>
                  <a:schemeClr val="tx1"/>
                </a:solidFill>
              </a:rPr>
              <a:t>-</a:t>
            </a:r>
            <a:r>
              <a:rPr lang="zh-CN" altLang="en-US" dirty="0">
                <a:solidFill>
                  <a:schemeClr val="tx1"/>
                </a:solidFill>
              </a:rPr>
              <a:t>如何实现</a:t>
            </a:r>
            <a:r>
              <a:rPr lang="en-US" altLang="zh-CN" dirty="0">
                <a:solidFill>
                  <a:schemeClr val="tx1"/>
                </a:solidFill>
              </a:rPr>
              <a:t>?</a:t>
            </a:r>
            <a:endParaRPr lang="en-US" altLang="zh-CN" dirty="0">
              <a:solidFill>
                <a:schemeClr val="tx1"/>
              </a:solidFill>
            </a:endParaRPr>
          </a:p>
          <a:p>
            <a:pPr lvl="1">
              <a:lnSpc>
                <a:spcPct val="120000"/>
              </a:lnSpc>
              <a:buClr>
                <a:schemeClr val="hlink"/>
              </a:buClr>
              <a:buNone/>
            </a:pPr>
            <a:r>
              <a:rPr lang="zh-CN" altLang="en-US" dirty="0"/>
              <a:t>职工</a:t>
            </a:r>
            <a:r>
              <a:rPr lang="en-US" altLang="zh-CN" dirty="0"/>
              <a:t>(</a:t>
            </a:r>
            <a:r>
              <a:rPr lang="zh-CN" altLang="en-US" dirty="0"/>
              <a:t>工号</a:t>
            </a:r>
            <a:r>
              <a:rPr lang="en-US" altLang="zh-CN" dirty="0"/>
              <a:t>,</a:t>
            </a:r>
            <a:r>
              <a:rPr lang="zh-CN" altLang="en-US" dirty="0"/>
              <a:t>姓名</a:t>
            </a:r>
            <a:r>
              <a:rPr lang="en-US" altLang="zh-CN" dirty="0"/>
              <a:t>,</a:t>
            </a:r>
            <a:r>
              <a:rPr lang="zh-CN" altLang="en-US" dirty="0"/>
              <a:t>职称</a:t>
            </a:r>
            <a:r>
              <a:rPr lang="en-US" altLang="zh-CN" dirty="0"/>
              <a:t>,</a:t>
            </a:r>
            <a:r>
              <a:rPr lang="zh-CN" altLang="en-US" dirty="0"/>
              <a:t>工资</a:t>
            </a:r>
            <a:r>
              <a:rPr lang="en-US" altLang="zh-CN" dirty="0"/>
              <a:t>), </a:t>
            </a:r>
            <a:r>
              <a:rPr lang="zh-CN" altLang="en-US" dirty="0"/>
              <a:t>约束</a:t>
            </a:r>
            <a:r>
              <a:rPr lang="en-US" altLang="zh-CN" dirty="0"/>
              <a:t>: </a:t>
            </a:r>
            <a:endParaRPr lang="en-US" altLang="zh-CN" dirty="0"/>
          </a:p>
          <a:p>
            <a:pPr lvl="1">
              <a:lnSpc>
                <a:spcPct val="120000"/>
              </a:lnSpc>
              <a:buClr>
                <a:schemeClr val="hlink"/>
              </a:buClr>
              <a:buNone/>
            </a:pPr>
            <a:r>
              <a:rPr lang="en-US" altLang="zh-CN" dirty="0"/>
              <a:t>(1) </a:t>
            </a:r>
            <a:r>
              <a:rPr lang="zh-CN" altLang="en-US" dirty="0"/>
              <a:t>职称  </a:t>
            </a:r>
            <a:r>
              <a:rPr lang="en-US" altLang="zh-CN" dirty="0"/>
              <a:t>in  (‘</a:t>
            </a:r>
            <a:r>
              <a:rPr lang="zh-CN" altLang="en-US" dirty="0"/>
              <a:t>助教’</a:t>
            </a:r>
            <a:r>
              <a:rPr lang="en-US" altLang="zh-CN" dirty="0"/>
              <a:t>,’</a:t>
            </a:r>
            <a:r>
              <a:rPr lang="zh-CN" altLang="en-US" dirty="0"/>
              <a:t>讲师’</a:t>
            </a:r>
            <a:r>
              <a:rPr lang="en-US" altLang="zh-CN" dirty="0"/>
              <a:t>,’</a:t>
            </a:r>
            <a:r>
              <a:rPr lang="zh-CN" altLang="en-US" dirty="0"/>
              <a:t>副教授’</a:t>
            </a:r>
            <a:r>
              <a:rPr lang="en-US" altLang="zh-CN" dirty="0"/>
              <a:t>,’</a:t>
            </a:r>
            <a:r>
              <a:rPr lang="zh-CN" altLang="en-US" dirty="0"/>
              <a:t>教授’</a:t>
            </a:r>
            <a:r>
              <a:rPr lang="en-US" altLang="zh-CN" dirty="0"/>
              <a:t>)</a:t>
            </a:r>
            <a:endParaRPr lang="en-US" altLang="zh-CN" dirty="0"/>
          </a:p>
          <a:p>
            <a:pPr lvl="1">
              <a:lnSpc>
                <a:spcPct val="120000"/>
              </a:lnSpc>
              <a:buClr>
                <a:schemeClr val="hlink"/>
              </a:buClr>
              <a:buNone/>
            </a:pPr>
            <a:r>
              <a:rPr lang="en-US" altLang="zh-CN" dirty="0"/>
              <a:t>(2) </a:t>
            </a:r>
            <a:r>
              <a:rPr lang="zh-CN" altLang="en-US" dirty="0"/>
              <a:t>工资	助教工资  	</a:t>
            </a:r>
            <a:r>
              <a:rPr lang="en-US" altLang="zh-CN" dirty="0"/>
              <a:t>1600-1800</a:t>
            </a:r>
            <a:endParaRPr lang="en-US" altLang="zh-CN" dirty="0"/>
          </a:p>
          <a:p>
            <a:pPr lvl="1">
              <a:lnSpc>
                <a:spcPct val="120000"/>
              </a:lnSpc>
              <a:buClr>
                <a:schemeClr val="hlink"/>
              </a:buClr>
              <a:buNone/>
            </a:pPr>
            <a:r>
              <a:rPr lang="en-US" altLang="zh-CN" dirty="0"/>
              <a:t>			</a:t>
            </a:r>
            <a:r>
              <a:rPr lang="zh-CN" altLang="en-US" dirty="0"/>
              <a:t>讲师 	        	</a:t>
            </a:r>
            <a:r>
              <a:rPr lang="en-US" altLang="zh-CN" dirty="0"/>
              <a:t>1800-2200</a:t>
            </a:r>
            <a:endParaRPr lang="en-US" altLang="zh-CN" dirty="0"/>
          </a:p>
          <a:p>
            <a:pPr lvl="1">
              <a:lnSpc>
                <a:spcPct val="120000"/>
              </a:lnSpc>
              <a:buClr>
                <a:schemeClr val="hlink"/>
              </a:buClr>
              <a:buNone/>
            </a:pPr>
            <a:r>
              <a:rPr lang="en-US" altLang="zh-CN" dirty="0"/>
              <a:t>      	</a:t>
            </a:r>
            <a:r>
              <a:rPr lang="zh-CN" altLang="en-US" dirty="0"/>
              <a:t>副教授	</a:t>
            </a:r>
            <a:r>
              <a:rPr lang="en-US" altLang="zh-CN" dirty="0"/>
              <a:t>2200-2800</a:t>
            </a:r>
            <a:endParaRPr lang="en-US" altLang="zh-CN" dirty="0"/>
          </a:p>
          <a:p>
            <a:pPr lvl="1">
              <a:lnSpc>
                <a:spcPct val="120000"/>
              </a:lnSpc>
              <a:buClr>
                <a:schemeClr val="hlink"/>
              </a:buClr>
              <a:buNone/>
            </a:pPr>
            <a:r>
              <a:rPr lang="en-US" altLang="zh-CN" dirty="0"/>
              <a:t>      	</a:t>
            </a:r>
            <a:r>
              <a:rPr lang="zh-CN" altLang="en-US" dirty="0"/>
              <a:t>教授		</a:t>
            </a:r>
            <a:r>
              <a:rPr lang="en-US" altLang="zh-CN" dirty="0"/>
              <a:t>2800-6000</a:t>
            </a:r>
            <a:endParaRPr lang="en-US" altLang="zh-CN" dirty="0"/>
          </a:p>
          <a:p>
            <a:pPr lvl="1">
              <a:lnSpc>
                <a:spcPct val="120000"/>
              </a:lnSpc>
              <a:buClr>
                <a:schemeClr val="hlink"/>
              </a:buClr>
              <a:buNone/>
            </a:pPr>
            <a:r>
              <a:rPr lang="en-US" altLang="zh-CN" dirty="0"/>
              <a:t>(3) </a:t>
            </a:r>
            <a:r>
              <a:rPr lang="zh-CN" altLang="en-US" dirty="0"/>
              <a:t>工资修改只能往上调</a:t>
            </a:r>
            <a:r>
              <a:rPr lang="en-US" altLang="zh-CN" dirty="0"/>
              <a:t>,</a:t>
            </a:r>
            <a:r>
              <a:rPr lang="zh-CN" altLang="en-US" dirty="0"/>
              <a:t>不能下调</a:t>
            </a:r>
            <a:r>
              <a:rPr lang="en-US" altLang="zh-CN" dirty="0"/>
              <a:t>,</a:t>
            </a:r>
            <a:r>
              <a:rPr lang="zh-CN" altLang="en-US" dirty="0"/>
              <a:t>且每次调幅</a:t>
            </a:r>
            <a:endParaRPr lang="zh-CN" altLang="en-US" dirty="0"/>
          </a:p>
          <a:p>
            <a:pPr lvl="1">
              <a:lnSpc>
                <a:spcPct val="120000"/>
              </a:lnSpc>
              <a:buClr>
                <a:schemeClr val="hlink"/>
              </a:buClr>
              <a:buNone/>
            </a:pPr>
            <a:r>
              <a:rPr lang="zh-CN" altLang="en-US" dirty="0"/>
              <a:t>不大于</a:t>
            </a:r>
            <a:r>
              <a:rPr lang="en-US" altLang="zh-CN" dirty="0"/>
              <a:t>1000</a:t>
            </a: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96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 </a:t>
            </a:r>
            <a:r>
              <a:rPr lang="zh-CN" altLang="en-US" sz="3200" dirty="0"/>
              <a:t>触发器</a:t>
            </a:r>
            <a:endParaRPr lang="zh-CN" altLang="en-US" sz="3200" dirty="0"/>
          </a:p>
        </p:txBody>
      </p:sp>
      <p:sp>
        <p:nvSpPr>
          <p:cNvPr id="69636" name="Rectangle 3"/>
          <p:cNvSpPr>
            <a:spLocks noGrp="1"/>
          </p:cNvSpPr>
          <p:nvPr>
            <p:ph idx="1"/>
          </p:nvPr>
        </p:nvSpPr>
        <p:spPr>
          <a:xfrm>
            <a:off x="228600" y="762000"/>
            <a:ext cx="8686800" cy="5867400"/>
          </a:xfrm>
          <a:ln/>
        </p:spPr>
        <p:txBody>
          <a:bodyPr vert="horz" wrap="square" lIns="91440" tIns="45720" rIns="91440" bIns="45720" anchor="t" anchorCtr="0"/>
          <a:p>
            <a:pPr>
              <a:lnSpc>
                <a:spcPct val="120000"/>
              </a:lnSpc>
              <a:buClr>
                <a:srgbClr val="FF0000"/>
              </a:buClr>
            </a:pPr>
            <a:r>
              <a:rPr lang="en-US" altLang="zh-CN" dirty="0">
                <a:solidFill>
                  <a:schemeClr val="tx1"/>
                </a:solidFill>
              </a:rPr>
              <a:t>SQL Server</a:t>
            </a:r>
            <a:r>
              <a:rPr lang="zh-CN" altLang="en-US" dirty="0">
                <a:solidFill>
                  <a:schemeClr val="tx1"/>
                </a:solidFill>
              </a:rPr>
              <a:t>提供两种主机制来强制业务规则和数据完整性</a:t>
            </a:r>
            <a:endParaRPr lang="zh-CN" altLang="en-US" dirty="0">
              <a:solidFill>
                <a:schemeClr val="tx1"/>
              </a:solidFill>
            </a:endParaRPr>
          </a:p>
          <a:p>
            <a:pPr lvl="1">
              <a:lnSpc>
                <a:spcPct val="120000"/>
              </a:lnSpc>
              <a:buClr>
                <a:srgbClr val="FF0000"/>
              </a:buClr>
            </a:pPr>
            <a:r>
              <a:rPr lang="zh-CN" altLang="en-US" sz="3200" dirty="0"/>
              <a:t>约束</a:t>
            </a:r>
            <a:endParaRPr lang="zh-CN" altLang="en-US" sz="3200" dirty="0"/>
          </a:p>
          <a:p>
            <a:pPr lvl="1">
              <a:lnSpc>
                <a:spcPct val="120000"/>
              </a:lnSpc>
              <a:buClr>
                <a:srgbClr val="FF0000"/>
              </a:buClr>
            </a:pPr>
            <a:r>
              <a:rPr lang="zh-CN" altLang="en-US" sz="3200" dirty="0"/>
              <a:t>触发器</a:t>
            </a:r>
            <a:endParaRPr lang="zh-CN" altLang="en-US" sz="3200" dirty="0"/>
          </a:p>
          <a:p>
            <a:pPr>
              <a:lnSpc>
                <a:spcPct val="120000"/>
              </a:lnSpc>
              <a:buClr>
                <a:srgbClr val="FF0000"/>
              </a:buClr>
            </a:pPr>
            <a:r>
              <a:rPr lang="zh-CN" altLang="en-US" sz="3600" dirty="0">
                <a:solidFill>
                  <a:schemeClr val="tx1"/>
                </a:solidFill>
              </a:rPr>
              <a:t>触发器是用户定义在表上的一类由事件驱动的特殊过程</a:t>
            </a:r>
            <a:r>
              <a:rPr lang="en-US" altLang="zh-CN" sz="3600" dirty="0">
                <a:solidFill>
                  <a:schemeClr val="tx1"/>
                </a:solidFill>
              </a:rPr>
              <a:t>,</a:t>
            </a:r>
            <a:r>
              <a:rPr lang="zh-CN" altLang="en-US" sz="3600" dirty="0">
                <a:solidFill>
                  <a:schemeClr val="tx1"/>
                </a:solidFill>
              </a:rPr>
              <a:t>一旦定义</a:t>
            </a:r>
            <a:r>
              <a:rPr lang="en-US" altLang="zh-CN" sz="3600" dirty="0">
                <a:solidFill>
                  <a:schemeClr val="tx1"/>
                </a:solidFill>
              </a:rPr>
              <a:t>,</a:t>
            </a:r>
            <a:r>
              <a:rPr lang="zh-CN" altLang="en-US" sz="3600" dirty="0">
                <a:solidFill>
                  <a:schemeClr val="tx1"/>
                </a:solidFill>
              </a:rPr>
              <a:t>则对表中数据进行</a:t>
            </a:r>
            <a:r>
              <a:rPr lang="en-US" altLang="zh-CN" sz="3600" dirty="0">
                <a:solidFill>
                  <a:schemeClr val="tx1"/>
                </a:solidFill>
              </a:rPr>
              <a:t>insert,delete</a:t>
            </a:r>
            <a:r>
              <a:rPr lang="zh-CN" altLang="en-US" sz="3600" dirty="0">
                <a:solidFill>
                  <a:schemeClr val="tx1"/>
                </a:solidFill>
              </a:rPr>
              <a:t>或</a:t>
            </a:r>
            <a:r>
              <a:rPr lang="en-US" altLang="zh-CN" sz="3600" dirty="0">
                <a:solidFill>
                  <a:schemeClr val="tx1"/>
                </a:solidFill>
              </a:rPr>
              <a:t>update</a:t>
            </a:r>
            <a:r>
              <a:rPr lang="zh-CN" altLang="en-US" sz="3600" dirty="0">
                <a:solidFill>
                  <a:schemeClr val="tx1"/>
                </a:solidFill>
              </a:rPr>
              <a:t>操作时自动触发执行</a:t>
            </a:r>
            <a:endParaRPr lang="zh-CN" altLang="en-US" sz="3600" dirty="0">
              <a:solidFill>
                <a:schemeClr val="tx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06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 </a:t>
            </a:r>
            <a:r>
              <a:rPr lang="zh-CN" altLang="en-US" sz="3200" dirty="0"/>
              <a:t>触发器</a:t>
            </a:r>
            <a:endParaRPr lang="zh-CN" altLang="en-US" sz="3200" dirty="0"/>
          </a:p>
        </p:txBody>
      </p:sp>
      <p:sp>
        <p:nvSpPr>
          <p:cNvPr id="70660" name="Rectangle 3"/>
          <p:cNvSpPr>
            <a:spLocks noGrp="1"/>
          </p:cNvSpPr>
          <p:nvPr>
            <p:ph idx="1"/>
          </p:nvPr>
        </p:nvSpPr>
        <p:spPr>
          <a:xfrm>
            <a:off x="228600" y="762000"/>
            <a:ext cx="8686800" cy="5867400"/>
          </a:xfrm>
          <a:ln/>
        </p:spPr>
        <p:txBody>
          <a:bodyPr vert="horz" wrap="square" lIns="91440" tIns="45720" rIns="91440" bIns="45720" anchor="t" anchorCtr="0"/>
          <a:p>
            <a:pPr>
              <a:lnSpc>
                <a:spcPct val="120000"/>
              </a:lnSpc>
              <a:buClr>
                <a:srgbClr val="FF0000"/>
              </a:buClr>
            </a:pPr>
            <a:r>
              <a:rPr lang="zh-CN" altLang="en-US" sz="3600" dirty="0">
                <a:solidFill>
                  <a:schemeClr val="tx1"/>
                </a:solidFill>
              </a:rPr>
              <a:t>触发器可以包含复杂的</a:t>
            </a:r>
            <a:r>
              <a:rPr lang="zh-CN" altLang="en-US" sz="3600" dirty="0">
                <a:solidFill>
                  <a:schemeClr val="accent2"/>
                </a:solidFill>
              </a:rPr>
              <a:t>语句</a:t>
            </a:r>
            <a:r>
              <a:rPr lang="zh-CN" altLang="en-US" sz="3600" dirty="0">
                <a:solidFill>
                  <a:schemeClr val="tx1"/>
                </a:solidFill>
              </a:rPr>
              <a:t>和</a:t>
            </a:r>
            <a:r>
              <a:rPr lang="zh-CN" altLang="en-US" sz="3600" dirty="0">
                <a:solidFill>
                  <a:schemeClr val="accent2"/>
                </a:solidFill>
              </a:rPr>
              <a:t>流程控制</a:t>
            </a:r>
            <a:r>
              <a:rPr lang="en-US" altLang="zh-CN" sz="3600" dirty="0">
                <a:solidFill>
                  <a:schemeClr val="tx1"/>
                </a:solidFill>
              </a:rPr>
              <a:t>,</a:t>
            </a:r>
            <a:r>
              <a:rPr lang="zh-CN" altLang="en-US" sz="3600" dirty="0">
                <a:solidFill>
                  <a:schemeClr val="tx1"/>
                </a:solidFill>
              </a:rPr>
              <a:t>其主要优点是用户可以用编程的方法来实现复杂的处理逻辑和商业规则</a:t>
            </a:r>
            <a:endParaRPr lang="zh-CN" altLang="en-US" sz="3600" dirty="0">
              <a:solidFill>
                <a:schemeClr val="tx1"/>
              </a:solidFill>
            </a:endParaRPr>
          </a:p>
          <a:p>
            <a:pPr>
              <a:lnSpc>
                <a:spcPct val="120000"/>
              </a:lnSpc>
              <a:buClr>
                <a:srgbClr val="FF0000"/>
              </a:buClr>
            </a:pPr>
            <a:r>
              <a:rPr lang="zh-CN" altLang="en-US" sz="3600" dirty="0">
                <a:solidFill>
                  <a:schemeClr val="tx1"/>
                </a:solidFill>
              </a:rPr>
              <a:t>触发器和触发它的语句构成一个可在触发器内</a:t>
            </a:r>
            <a:r>
              <a:rPr lang="zh-CN" altLang="en-US" sz="3600" dirty="0">
                <a:solidFill>
                  <a:schemeClr val="accent2"/>
                </a:solidFill>
              </a:rPr>
              <a:t>回滚</a:t>
            </a:r>
            <a:r>
              <a:rPr lang="zh-CN" altLang="en-US" sz="3600" dirty="0">
                <a:solidFill>
                  <a:schemeClr val="tx1"/>
                </a:solidFill>
              </a:rPr>
              <a:t>的</a:t>
            </a:r>
            <a:r>
              <a:rPr lang="zh-CN" altLang="en-US" sz="3600" dirty="0">
                <a:solidFill>
                  <a:schemeClr val="accent2"/>
                </a:solidFill>
              </a:rPr>
              <a:t>事务</a:t>
            </a:r>
            <a:endParaRPr lang="zh-CN" altLang="en-US" sz="3600" dirty="0">
              <a:solidFill>
                <a:schemeClr val="accent2"/>
              </a:solidFill>
            </a:endParaRPr>
          </a:p>
          <a:p>
            <a:pPr>
              <a:lnSpc>
                <a:spcPct val="120000"/>
              </a:lnSpc>
              <a:buClr>
                <a:srgbClr val="FF0000"/>
              </a:buClr>
            </a:pPr>
            <a:endParaRPr lang="zh-CN" altLang="en-US" sz="3600" dirty="0">
              <a:solidFill>
                <a:schemeClr val="accent2"/>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6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 </a:t>
            </a:r>
            <a:r>
              <a:rPr lang="zh-CN" altLang="en-US" sz="3200" dirty="0"/>
              <a:t>触发器</a:t>
            </a:r>
            <a:endParaRPr lang="zh-CN" altLang="en-US" sz="3200" dirty="0"/>
          </a:p>
        </p:txBody>
      </p:sp>
      <p:sp>
        <p:nvSpPr>
          <p:cNvPr id="71684" name="Rectangle 3"/>
          <p:cNvSpPr>
            <a:spLocks noGrp="1"/>
          </p:cNvSpPr>
          <p:nvPr>
            <p:ph idx="1"/>
          </p:nvPr>
        </p:nvSpPr>
        <p:spPr>
          <a:xfrm>
            <a:off x="228600" y="762000"/>
            <a:ext cx="8686800" cy="5867400"/>
          </a:xfrm>
          <a:ln/>
        </p:spPr>
        <p:txBody>
          <a:bodyPr vert="horz" wrap="square" lIns="91440" tIns="45720" rIns="91440" bIns="45720" anchor="t" anchorCtr="0"/>
          <a:p>
            <a:pPr>
              <a:lnSpc>
                <a:spcPct val="120000"/>
              </a:lnSpc>
              <a:buClr>
                <a:srgbClr val="FF0000"/>
              </a:buClr>
            </a:pPr>
            <a:r>
              <a:rPr lang="zh-CN" altLang="en-US" sz="3600" dirty="0">
                <a:solidFill>
                  <a:schemeClr val="tx1"/>
                </a:solidFill>
              </a:rPr>
              <a:t>触发器的优点</a:t>
            </a:r>
            <a:endParaRPr lang="zh-CN" altLang="en-US" sz="3600" dirty="0">
              <a:solidFill>
                <a:schemeClr val="tx1"/>
              </a:solidFill>
            </a:endParaRPr>
          </a:p>
          <a:p>
            <a:pPr lvl="1">
              <a:lnSpc>
                <a:spcPct val="120000"/>
              </a:lnSpc>
              <a:buClr>
                <a:srgbClr val="FF0000"/>
              </a:buClr>
            </a:pPr>
            <a:r>
              <a:rPr lang="zh-CN" altLang="en-US" sz="3200" dirty="0"/>
              <a:t>完成比</a:t>
            </a:r>
            <a:r>
              <a:rPr lang="en-US" altLang="zh-CN" sz="3200" dirty="0"/>
              <a:t>CHECK</a:t>
            </a:r>
            <a:r>
              <a:rPr lang="zh-CN" altLang="en-US" sz="3200" dirty="0"/>
              <a:t>更复杂的数据约束</a:t>
            </a:r>
            <a:r>
              <a:rPr lang="en-US" altLang="zh-CN" sz="3200" dirty="0"/>
              <a:t>.</a:t>
            </a:r>
            <a:r>
              <a:rPr lang="zh-CN" altLang="en-US" sz="3200" dirty="0"/>
              <a:t>触发器可以引用其他表中的列，还可以插入、更新或删除别的表中的数据</a:t>
            </a:r>
            <a:endParaRPr lang="zh-CN" altLang="en-US" sz="3200" dirty="0"/>
          </a:p>
          <a:p>
            <a:pPr lvl="1">
              <a:lnSpc>
                <a:spcPct val="120000"/>
              </a:lnSpc>
              <a:buClr>
                <a:srgbClr val="FF0000"/>
              </a:buClr>
            </a:pPr>
            <a:r>
              <a:rPr lang="zh-CN" altLang="en-US" sz="3200" dirty="0"/>
              <a:t> 触发器也可以评估数据修改前后的表状态</a:t>
            </a:r>
            <a:r>
              <a:rPr lang="en-US" altLang="zh-CN" sz="3200" dirty="0"/>
              <a:t>,</a:t>
            </a:r>
            <a:r>
              <a:rPr lang="zh-CN" altLang="en-US" sz="3200" dirty="0"/>
              <a:t>并根据其差异采取对策</a:t>
            </a:r>
            <a:endParaRPr lang="zh-CN" altLang="en-US" sz="3200" dirty="0"/>
          </a:p>
          <a:p>
            <a:pPr lvl="1">
              <a:lnSpc>
                <a:spcPct val="120000"/>
              </a:lnSpc>
              <a:buClr>
                <a:srgbClr val="FF0000"/>
              </a:buClr>
            </a:pPr>
            <a:r>
              <a:rPr lang="zh-CN" altLang="en-US" sz="3200" dirty="0"/>
              <a:t>触发器可以支持约束的所有功能；但它在所给出的功能上并不总是最好的方法</a:t>
            </a:r>
            <a:endParaRPr lang="zh-CN" altLang="en-US" sz="3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27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5.6 </a:t>
            </a:r>
            <a:r>
              <a:rPr lang="zh-CN" altLang="en-US" dirty="0"/>
              <a:t>触发器</a:t>
            </a:r>
            <a:endParaRPr lang="zh-CN" altLang="en-US" dirty="0"/>
          </a:p>
        </p:txBody>
      </p:sp>
      <p:sp>
        <p:nvSpPr>
          <p:cNvPr id="72708" name="Rectangle 3"/>
          <p:cNvSpPr>
            <a:spLocks noGrp="1"/>
          </p:cNvSpPr>
          <p:nvPr>
            <p:ph idx="1"/>
          </p:nvPr>
        </p:nvSpPr>
        <p:spPr>
          <a:xfrm>
            <a:off x="971550" y="1412875"/>
            <a:ext cx="7416800" cy="4464050"/>
          </a:xfrm>
          <a:ln/>
        </p:spPr>
        <p:txBody>
          <a:bodyPr vert="horz" wrap="square" lIns="91440" tIns="45720" rIns="91440" bIns="45720" anchor="t" anchorCtr="0"/>
          <a:p>
            <a:pPr eaLnBrk="1" hangingPunct="1">
              <a:lnSpc>
                <a:spcPct val="120000"/>
              </a:lnSpc>
              <a:buNone/>
            </a:pPr>
            <a:r>
              <a:rPr lang="en-US" altLang="zh-CN" sz="3600" dirty="0">
                <a:solidFill>
                  <a:srgbClr val="FF0000"/>
                </a:solidFill>
              </a:rPr>
              <a:t>5.6.1  </a:t>
            </a:r>
            <a:r>
              <a:rPr lang="zh-CN" altLang="en-US" sz="3600" dirty="0">
                <a:solidFill>
                  <a:srgbClr val="FF0000"/>
                </a:solidFill>
              </a:rPr>
              <a:t>控制流语句</a:t>
            </a:r>
            <a:endParaRPr lang="zh-CN" altLang="en-US" sz="3600" dirty="0">
              <a:solidFill>
                <a:srgbClr val="FF0000"/>
              </a:solidFill>
            </a:endParaRPr>
          </a:p>
          <a:p>
            <a:pPr eaLnBrk="1" hangingPunct="1">
              <a:lnSpc>
                <a:spcPct val="120000"/>
              </a:lnSpc>
              <a:buNone/>
            </a:pPr>
            <a:r>
              <a:rPr lang="en-US" altLang="zh-CN" sz="3600" dirty="0">
                <a:solidFill>
                  <a:schemeClr val="tx1"/>
                </a:solidFill>
              </a:rPr>
              <a:t>5.6.2  </a:t>
            </a:r>
            <a:r>
              <a:rPr lang="zh-CN" altLang="en-US" sz="3600" dirty="0">
                <a:solidFill>
                  <a:schemeClr val="tx1"/>
                </a:solidFill>
              </a:rPr>
              <a:t>事务</a:t>
            </a:r>
            <a:endParaRPr lang="zh-CN" altLang="en-US" sz="3600" dirty="0">
              <a:solidFill>
                <a:schemeClr val="tx1"/>
              </a:solidFill>
            </a:endParaRPr>
          </a:p>
          <a:p>
            <a:pPr eaLnBrk="1" hangingPunct="1">
              <a:lnSpc>
                <a:spcPct val="120000"/>
              </a:lnSpc>
              <a:buNone/>
            </a:pPr>
            <a:r>
              <a:rPr lang="en-US" altLang="zh-CN" sz="3600" dirty="0">
                <a:solidFill>
                  <a:schemeClr val="tx1"/>
                </a:solidFill>
              </a:rPr>
              <a:t>5.6.3  </a:t>
            </a:r>
            <a:r>
              <a:rPr lang="zh-CN" altLang="en-US" sz="3600" dirty="0">
                <a:solidFill>
                  <a:schemeClr val="tx1"/>
                </a:solidFill>
              </a:rPr>
              <a:t>定义触发器</a:t>
            </a:r>
            <a:endParaRPr lang="zh-CN" altLang="en-US" sz="3600" dirty="0">
              <a:solidFill>
                <a:schemeClr val="tx1"/>
              </a:solidFill>
            </a:endParaRPr>
          </a:p>
          <a:p>
            <a:pPr eaLnBrk="1" hangingPunct="1">
              <a:lnSpc>
                <a:spcPct val="120000"/>
              </a:lnSpc>
              <a:buNone/>
            </a:pPr>
            <a:r>
              <a:rPr lang="en-US" altLang="zh-CN" sz="3600" dirty="0">
                <a:solidFill>
                  <a:schemeClr val="tx1"/>
                </a:solidFill>
              </a:rPr>
              <a:t>5.6.4  </a:t>
            </a:r>
            <a:r>
              <a:rPr lang="zh-CN" altLang="en-US" sz="3600" dirty="0">
                <a:solidFill>
                  <a:schemeClr val="tx1"/>
                </a:solidFill>
              </a:rPr>
              <a:t>激活触发器</a:t>
            </a:r>
            <a:endParaRPr lang="zh-CN" altLang="en-US" sz="3600" dirty="0">
              <a:solidFill>
                <a:schemeClr val="tx1"/>
              </a:solidFill>
            </a:endParaRPr>
          </a:p>
          <a:p>
            <a:pPr eaLnBrk="1" hangingPunct="1">
              <a:lnSpc>
                <a:spcPct val="120000"/>
              </a:lnSpc>
              <a:buNone/>
            </a:pPr>
            <a:r>
              <a:rPr lang="en-US" altLang="zh-CN" sz="3600" dirty="0">
                <a:solidFill>
                  <a:schemeClr val="tx1"/>
                </a:solidFill>
              </a:rPr>
              <a:t>5.6.5  </a:t>
            </a:r>
            <a:r>
              <a:rPr lang="zh-CN" altLang="en-US" sz="3600" dirty="0">
                <a:solidFill>
                  <a:schemeClr val="tx1"/>
                </a:solidFill>
              </a:rPr>
              <a:t>修改和删除触发器</a:t>
            </a:r>
            <a:endParaRPr lang="zh-CN" altLang="en-US" sz="3600" dirty="0">
              <a:solidFill>
                <a:schemeClr val="tx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373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5.6.1 </a:t>
            </a:r>
            <a:r>
              <a:rPr lang="zh-CN" altLang="en-US" sz="3200" dirty="0"/>
              <a:t>控制流语句</a:t>
            </a:r>
            <a:endParaRPr lang="zh-CN" altLang="en-US" sz="3200" dirty="0"/>
          </a:p>
        </p:txBody>
      </p:sp>
      <p:sp>
        <p:nvSpPr>
          <p:cNvPr id="73732" name="Rectangle 3"/>
          <p:cNvSpPr>
            <a:spLocks noGrp="1"/>
          </p:cNvSpPr>
          <p:nvPr>
            <p:ph idx="1"/>
          </p:nvPr>
        </p:nvSpPr>
        <p:spPr>
          <a:xfrm>
            <a:off x="323850" y="981075"/>
            <a:ext cx="8351838" cy="5184775"/>
          </a:xfrm>
          <a:ln/>
        </p:spPr>
        <p:txBody>
          <a:bodyPr vert="horz" wrap="square" lIns="91440" tIns="45720" rIns="91440" bIns="45720" anchor="t" anchorCtr="0"/>
          <a:p>
            <a:pPr eaLnBrk="1" hangingPunct="1">
              <a:lnSpc>
                <a:spcPct val="120000"/>
              </a:lnSpc>
              <a:buNone/>
            </a:pPr>
            <a:r>
              <a:rPr lang="en-US" altLang="zh-CN" dirty="0">
                <a:solidFill>
                  <a:srgbClr val="FF0000"/>
                </a:solidFill>
                <a:latin typeface="Arial" panose="020B0604020202020204" pitchFamily="34" charset="0"/>
              </a:rPr>
              <a:t>1</a:t>
            </a:r>
            <a:r>
              <a:rPr lang="en-US" altLang="zh-CN" dirty="0">
                <a:solidFill>
                  <a:srgbClr val="FF0000"/>
                </a:solidFill>
              </a:rPr>
              <a:t>  </a:t>
            </a:r>
            <a:r>
              <a:rPr lang="zh-CN" altLang="en-US" dirty="0">
                <a:solidFill>
                  <a:srgbClr val="FF0000"/>
                </a:solidFill>
              </a:rPr>
              <a:t>变量的说明与赋值</a:t>
            </a:r>
            <a:endParaRPr lang="zh-CN" altLang="en-US" dirty="0">
              <a:solidFill>
                <a:srgbClr val="FF0000"/>
              </a:solidFill>
            </a:endParaRPr>
          </a:p>
          <a:p>
            <a:pPr eaLnBrk="1" hangingPunct="1">
              <a:lnSpc>
                <a:spcPct val="120000"/>
              </a:lnSpc>
              <a:buNone/>
            </a:pPr>
            <a:r>
              <a:rPr lang="en-US" altLang="en-US" sz="2800" dirty="0">
                <a:solidFill>
                  <a:schemeClr val="accent2"/>
                </a:solidFill>
                <a:latin typeface="Arial" panose="020B0604020202020204" pitchFamily="34" charset="0"/>
              </a:rPr>
              <a:t>DECLARE</a:t>
            </a:r>
            <a:r>
              <a:rPr lang="en-US" altLang="en-US" sz="2800" dirty="0">
                <a:solidFill>
                  <a:schemeClr val="tx1"/>
                </a:solidFill>
                <a:latin typeface="Arial" panose="020B0604020202020204" pitchFamily="34" charset="0"/>
              </a:rPr>
              <a:t> { @变量名 数据类型 } [ ,...n]</a:t>
            </a:r>
            <a:endParaRPr lang="en-US" altLang="zh-CN" sz="2800" dirty="0">
              <a:solidFill>
                <a:schemeClr val="tx1"/>
              </a:solidFill>
              <a:latin typeface="Arial" panose="020B0604020202020204" pitchFamily="34" charset="0"/>
            </a:endParaRPr>
          </a:p>
          <a:p>
            <a:pPr eaLnBrk="1" hangingPunct="1">
              <a:lnSpc>
                <a:spcPct val="120000"/>
              </a:lnSpc>
              <a:buNone/>
            </a:pPr>
            <a:r>
              <a:rPr lang="en-US" altLang="zh-CN" sz="2800" dirty="0">
                <a:solidFill>
                  <a:schemeClr val="accent2"/>
                </a:solidFill>
                <a:latin typeface="Arial" panose="020B0604020202020204" pitchFamily="34" charset="0"/>
              </a:rPr>
              <a:t>SET</a:t>
            </a:r>
            <a:r>
              <a:rPr lang="en-US" altLang="zh-CN" sz="2800" dirty="0">
                <a:solidFill>
                  <a:schemeClr val="tx1"/>
                </a:solidFill>
                <a:latin typeface="Arial" panose="020B0604020202020204" pitchFamily="34" charset="0"/>
              </a:rPr>
              <a:t>|</a:t>
            </a:r>
            <a:r>
              <a:rPr lang="en-US" altLang="zh-CN" sz="2800" dirty="0">
                <a:solidFill>
                  <a:schemeClr val="accent2"/>
                </a:solidFill>
                <a:latin typeface="Arial" panose="020B0604020202020204" pitchFamily="34" charset="0"/>
              </a:rPr>
              <a:t>SELECT</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局部变量名 </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表达式</a:t>
            </a:r>
            <a:endParaRPr lang="zh-CN" altLang="en-US" sz="2800" dirty="0">
              <a:solidFill>
                <a:schemeClr val="tx1"/>
              </a:solidFill>
              <a:latin typeface="Arial" panose="020B0604020202020204" pitchFamily="34" charset="0"/>
            </a:endParaRPr>
          </a:p>
          <a:p>
            <a:pPr eaLnBrk="1" hangingPunct="1">
              <a:lnSpc>
                <a:spcPct val="120000"/>
              </a:lnSpc>
              <a:buNone/>
            </a:pPr>
            <a:endParaRPr lang="zh-CN" altLang="en-US" sz="2800" dirty="0">
              <a:solidFill>
                <a:schemeClr val="tx1"/>
              </a:solidFill>
              <a:latin typeface="Arial" panose="020B0604020202020204" pitchFamily="34" charset="0"/>
            </a:endParaRPr>
          </a:p>
          <a:p>
            <a:pPr eaLnBrk="1" hangingPunct="1">
              <a:lnSpc>
                <a:spcPct val="120000"/>
              </a:lnSpc>
              <a:buNone/>
            </a:pPr>
            <a:r>
              <a:rPr lang="en-US" altLang="zh-CN" sz="2800" dirty="0">
                <a:solidFill>
                  <a:srgbClr val="FF0000"/>
                </a:solidFill>
                <a:latin typeface="Arial" panose="020B0604020202020204" pitchFamily="34" charset="0"/>
              </a:rPr>
              <a:t>2  BEGIN … END</a:t>
            </a:r>
            <a:r>
              <a:rPr lang="zh-CN" altLang="en-US" sz="2800" dirty="0">
                <a:solidFill>
                  <a:srgbClr val="FF0000"/>
                </a:solidFill>
                <a:latin typeface="Arial" panose="020B0604020202020204" pitchFamily="34" charset="0"/>
              </a:rPr>
              <a:t>语句</a:t>
            </a:r>
            <a:endParaRPr lang="zh-CN" altLang="en-US" sz="2800" dirty="0">
              <a:solidFill>
                <a:srgbClr val="FF0000"/>
              </a:solidFill>
              <a:latin typeface="Arial" panose="020B0604020202020204" pitchFamily="34" charset="0"/>
            </a:endParaRPr>
          </a:p>
          <a:p>
            <a:pPr eaLnBrk="1" hangingPunct="1">
              <a:lnSpc>
                <a:spcPct val="120000"/>
              </a:lnSpc>
              <a:buNone/>
            </a:pPr>
            <a:r>
              <a:rPr lang="en-US" altLang="zh-CN" sz="2800" dirty="0">
                <a:solidFill>
                  <a:schemeClr val="accent2"/>
                </a:solidFill>
                <a:latin typeface="Arial" panose="020B0604020202020204" pitchFamily="34" charset="0"/>
              </a:rPr>
              <a:t>BEGIN</a:t>
            </a:r>
            <a:endParaRPr lang="en-US" altLang="zh-CN" sz="2800" dirty="0">
              <a:solidFill>
                <a:schemeClr val="accent2"/>
              </a:solidFill>
              <a:latin typeface="Arial" panose="020B0604020202020204" pitchFamily="34" charset="0"/>
            </a:endParaRPr>
          </a:p>
          <a:p>
            <a:pPr eaLnBrk="1" hangingPunct="1">
              <a:lnSpc>
                <a:spcPct val="120000"/>
              </a:lnSpc>
              <a:buNone/>
            </a:pPr>
            <a:r>
              <a:rPr lang="en-US" altLang="zh-CN" sz="2800" dirty="0">
                <a:solidFill>
                  <a:schemeClr val="tx1"/>
                </a:solidFill>
                <a:latin typeface="Arial" panose="020B0604020202020204" pitchFamily="34" charset="0"/>
              </a:rPr>
              <a:t>    { SQL</a:t>
            </a:r>
            <a:r>
              <a:rPr lang="zh-CN" altLang="en-US" sz="2800" dirty="0">
                <a:solidFill>
                  <a:schemeClr val="tx1"/>
                </a:solidFill>
                <a:latin typeface="Arial" panose="020B0604020202020204" pitchFamily="34" charset="0"/>
              </a:rPr>
              <a:t>语句 </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语句块 </a:t>
            </a:r>
            <a:r>
              <a:rPr lang="en-US" altLang="zh-CN" sz="2800" dirty="0">
                <a:solidFill>
                  <a:schemeClr val="tx1"/>
                </a:solidFill>
                <a:latin typeface="Arial" panose="020B0604020202020204" pitchFamily="34" charset="0"/>
              </a:rPr>
              <a:t>} </a:t>
            </a:r>
            <a:endParaRPr lang="en-US" altLang="zh-CN" sz="2800" dirty="0">
              <a:solidFill>
                <a:schemeClr val="tx1"/>
              </a:solidFill>
              <a:latin typeface="Arial" panose="020B0604020202020204" pitchFamily="34" charset="0"/>
            </a:endParaRPr>
          </a:p>
          <a:p>
            <a:pPr eaLnBrk="1" hangingPunct="1">
              <a:lnSpc>
                <a:spcPct val="120000"/>
              </a:lnSpc>
              <a:buNone/>
            </a:pPr>
            <a:r>
              <a:rPr lang="en-US" altLang="zh-CN" sz="2800" dirty="0">
                <a:solidFill>
                  <a:schemeClr val="accent2"/>
                </a:solidFill>
                <a:latin typeface="Arial" panose="020B0604020202020204" pitchFamily="34" charset="0"/>
              </a:rPr>
              <a:t>END</a:t>
            </a:r>
            <a:endParaRPr lang="en-US" altLang="zh-CN" sz="2800" dirty="0">
              <a:solidFill>
                <a:schemeClr val="accent2"/>
              </a:solidFill>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47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5.6.1 </a:t>
            </a:r>
            <a:r>
              <a:rPr lang="zh-CN" altLang="en-US" sz="3200" dirty="0"/>
              <a:t>控制流语句</a:t>
            </a:r>
            <a:endParaRPr lang="zh-CN" altLang="en-US" sz="3200" dirty="0"/>
          </a:p>
        </p:txBody>
      </p:sp>
      <p:sp>
        <p:nvSpPr>
          <p:cNvPr id="74756" name="Rectangle 3"/>
          <p:cNvSpPr>
            <a:spLocks noGrp="1"/>
          </p:cNvSpPr>
          <p:nvPr>
            <p:ph idx="1"/>
          </p:nvPr>
        </p:nvSpPr>
        <p:spPr>
          <a:xfrm>
            <a:off x="323850" y="981075"/>
            <a:ext cx="8351838" cy="5184775"/>
          </a:xfrm>
          <a:ln/>
        </p:spPr>
        <p:txBody>
          <a:bodyPr vert="horz" wrap="square" lIns="91440" tIns="45720" rIns="91440" bIns="45720" anchor="t" anchorCtr="0"/>
          <a:p>
            <a:pPr eaLnBrk="1" hangingPunct="1">
              <a:lnSpc>
                <a:spcPct val="120000"/>
              </a:lnSpc>
              <a:buNone/>
            </a:pPr>
            <a:r>
              <a:rPr lang="en-US" altLang="zh-CN" sz="3600" dirty="0">
                <a:solidFill>
                  <a:srgbClr val="FF0000"/>
                </a:solidFill>
                <a:latin typeface="Arial" panose="020B0604020202020204" pitchFamily="34" charset="0"/>
              </a:rPr>
              <a:t>3 IF...ELSE</a:t>
            </a:r>
            <a:r>
              <a:rPr lang="zh-CN" altLang="en-US" sz="3600" dirty="0">
                <a:solidFill>
                  <a:srgbClr val="FF0000"/>
                </a:solidFill>
                <a:latin typeface="Arial" panose="020B0604020202020204" pitchFamily="34" charset="0"/>
              </a:rPr>
              <a:t>语句</a:t>
            </a:r>
            <a:endParaRPr lang="zh-CN" altLang="en-US" sz="3600" dirty="0">
              <a:solidFill>
                <a:srgbClr val="FF0000"/>
              </a:solidFill>
              <a:latin typeface="Arial" panose="020B0604020202020204" pitchFamily="34" charset="0"/>
            </a:endParaRPr>
          </a:p>
          <a:p>
            <a:pPr eaLnBrk="1" hangingPunct="1">
              <a:lnSpc>
                <a:spcPct val="120000"/>
              </a:lnSpc>
              <a:buNone/>
            </a:pPr>
            <a:r>
              <a:rPr lang="en-US" altLang="zh-CN" sz="3600" dirty="0">
                <a:solidFill>
                  <a:schemeClr val="accent2"/>
                </a:solidFill>
                <a:latin typeface="Arial" panose="020B0604020202020204" pitchFamily="34" charset="0"/>
              </a:rPr>
              <a:t>IF</a:t>
            </a:r>
            <a:r>
              <a:rPr lang="en-US" altLang="zh-CN" sz="3600" dirty="0">
                <a:solidFill>
                  <a:schemeClr val="tx1"/>
                </a:solidFill>
                <a:latin typeface="Arial" panose="020B0604020202020204" pitchFamily="34" charset="0"/>
              </a:rPr>
              <a:t> </a:t>
            </a:r>
            <a:r>
              <a:rPr lang="zh-CN" altLang="en-US" sz="3600" dirty="0">
                <a:solidFill>
                  <a:schemeClr val="tx1"/>
                </a:solidFill>
                <a:latin typeface="Arial" panose="020B0604020202020204" pitchFamily="34" charset="0"/>
              </a:rPr>
              <a:t>布尔表达式</a:t>
            </a:r>
            <a:endParaRPr lang="zh-CN" altLang="en-US" sz="3600" dirty="0">
              <a:solidFill>
                <a:schemeClr val="tx1"/>
              </a:solidFill>
              <a:latin typeface="Arial" panose="020B0604020202020204" pitchFamily="34" charset="0"/>
            </a:endParaRPr>
          </a:p>
          <a:p>
            <a:pPr eaLnBrk="1" hangingPunct="1">
              <a:lnSpc>
                <a:spcPct val="120000"/>
              </a:lnSpc>
              <a:buNone/>
            </a:pPr>
            <a:r>
              <a:rPr lang="zh-CN" altLang="en-US" sz="3600" dirty="0">
                <a:solidFill>
                  <a:schemeClr val="tx1"/>
                </a:solidFill>
                <a:latin typeface="Arial" panose="020B0604020202020204" pitchFamily="34" charset="0"/>
              </a:rPr>
              <a:t>    </a:t>
            </a:r>
            <a:r>
              <a:rPr lang="en-US" altLang="zh-CN" sz="3600" dirty="0">
                <a:solidFill>
                  <a:schemeClr val="tx1"/>
                </a:solidFill>
                <a:latin typeface="Arial" panose="020B0604020202020204" pitchFamily="34" charset="0"/>
              </a:rPr>
              <a:t>{ SQL</a:t>
            </a:r>
            <a:r>
              <a:rPr lang="zh-CN" altLang="en-US" sz="3600" dirty="0">
                <a:solidFill>
                  <a:schemeClr val="tx1"/>
                </a:solidFill>
                <a:latin typeface="Arial" panose="020B0604020202020204" pitchFamily="34" charset="0"/>
              </a:rPr>
              <a:t>语句 </a:t>
            </a:r>
            <a:r>
              <a:rPr lang="en-US" altLang="zh-CN" sz="3600" dirty="0">
                <a:solidFill>
                  <a:schemeClr val="tx1"/>
                </a:solidFill>
                <a:latin typeface="Arial" panose="020B0604020202020204" pitchFamily="34" charset="0"/>
              </a:rPr>
              <a:t>| </a:t>
            </a:r>
            <a:r>
              <a:rPr lang="zh-CN" altLang="en-US" sz="3600" dirty="0">
                <a:solidFill>
                  <a:schemeClr val="tx1"/>
                </a:solidFill>
                <a:latin typeface="Arial" panose="020B0604020202020204" pitchFamily="34" charset="0"/>
              </a:rPr>
              <a:t>语句块 </a:t>
            </a:r>
            <a:r>
              <a:rPr lang="en-US" altLang="zh-CN" sz="3600" dirty="0">
                <a:solidFill>
                  <a:schemeClr val="tx1"/>
                </a:solidFill>
                <a:latin typeface="Arial" panose="020B0604020202020204" pitchFamily="34" charset="0"/>
              </a:rPr>
              <a:t>} </a:t>
            </a:r>
            <a:endParaRPr lang="en-US" altLang="zh-CN" sz="3600" dirty="0">
              <a:solidFill>
                <a:schemeClr val="tx1"/>
              </a:solidFill>
              <a:latin typeface="Arial" panose="020B0604020202020204" pitchFamily="34" charset="0"/>
            </a:endParaRPr>
          </a:p>
          <a:p>
            <a:pPr eaLnBrk="1" hangingPunct="1">
              <a:lnSpc>
                <a:spcPct val="120000"/>
              </a:lnSpc>
              <a:buNone/>
            </a:pPr>
            <a:r>
              <a:rPr lang="en-US" altLang="zh-CN" sz="3600" dirty="0">
                <a:solidFill>
                  <a:schemeClr val="tx1"/>
                </a:solidFill>
                <a:latin typeface="Arial" panose="020B0604020202020204" pitchFamily="34" charset="0"/>
              </a:rPr>
              <a:t>[ </a:t>
            </a:r>
            <a:r>
              <a:rPr lang="en-US" altLang="zh-CN" sz="3600" dirty="0">
                <a:solidFill>
                  <a:schemeClr val="accent2"/>
                </a:solidFill>
                <a:latin typeface="Arial" panose="020B0604020202020204" pitchFamily="34" charset="0"/>
              </a:rPr>
              <a:t>ELSE</a:t>
            </a:r>
            <a:endParaRPr lang="en-US" altLang="zh-CN" sz="3600" dirty="0">
              <a:solidFill>
                <a:schemeClr val="accent2"/>
              </a:solidFill>
              <a:latin typeface="Arial" panose="020B0604020202020204" pitchFamily="34" charset="0"/>
            </a:endParaRPr>
          </a:p>
          <a:p>
            <a:pPr eaLnBrk="1" hangingPunct="1">
              <a:lnSpc>
                <a:spcPct val="120000"/>
              </a:lnSpc>
              <a:buNone/>
            </a:pPr>
            <a:r>
              <a:rPr lang="en-US" altLang="zh-CN" sz="3600" dirty="0">
                <a:solidFill>
                  <a:schemeClr val="tx1"/>
                </a:solidFill>
                <a:latin typeface="Arial" panose="020B0604020202020204" pitchFamily="34" charset="0"/>
              </a:rPr>
              <a:t>    { SQL</a:t>
            </a:r>
            <a:r>
              <a:rPr lang="zh-CN" altLang="en-US" sz="3600" dirty="0">
                <a:solidFill>
                  <a:schemeClr val="tx1"/>
                </a:solidFill>
                <a:latin typeface="Arial" panose="020B0604020202020204" pitchFamily="34" charset="0"/>
              </a:rPr>
              <a:t>语句 </a:t>
            </a:r>
            <a:r>
              <a:rPr lang="en-US" altLang="zh-CN" sz="3600" dirty="0">
                <a:solidFill>
                  <a:schemeClr val="tx1"/>
                </a:solidFill>
                <a:latin typeface="Arial" panose="020B0604020202020204" pitchFamily="34" charset="0"/>
              </a:rPr>
              <a:t>| </a:t>
            </a:r>
            <a:r>
              <a:rPr lang="zh-CN" altLang="en-US" sz="3600" dirty="0">
                <a:solidFill>
                  <a:schemeClr val="tx1"/>
                </a:solidFill>
                <a:latin typeface="Arial" panose="020B0604020202020204" pitchFamily="34" charset="0"/>
              </a:rPr>
              <a:t>语句块 </a:t>
            </a:r>
            <a:r>
              <a:rPr lang="en-US" altLang="zh-CN" sz="3600" dirty="0">
                <a:solidFill>
                  <a:schemeClr val="tx1"/>
                </a:solidFill>
                <a:latin typeface="Arial" panose="020B0604020202020204" pitchFamily="34" charset="0"/>
              </a:rPr>
              <a:t>} ]</a:t>
            </a:r>
            <a:endParaRPr lang="en-US" altLang="zh-CN" sz="3600" dirty="0">
              <a:solidFill>
                <a:schemeClr val="tx1"/>
              </a:solidFill>
              <a:latin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577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5.6.1 </a:t>
            </a:r>
            <a:r>
              <a:rPr lang="zh-CN" altLang="en-US" sz="3200" dirty="0"/>
              <a:t>控制流语句</a:t>
            </a:r>
            <a:endParaRPr lang="zh-CN" altLang="en-US" sz="3200" dirty="0"/>
          </a:p>
        </p:txBody>
      </p:sp>
      <p:sp>
        <p:nvSpPr>
          <p:cNvPr id="75780" name="Rectangle 3"/>
          <p:cNvSpPr>
            <a:spLocks noGrp="1"/>
          </p:cNvSpPr>
          <p:nvPr>
            <p:ph idx="1"/>
          </p:nvPr>
        </p:nvSpPr>
        <p:spPr>
          <a:xfrm>
            <a:off x="323850" y="981075"/>
            <a:ext cx="8351838" cy="5184775"/>
          </a:xfrm>
          <a:ln/>
        </p:spPr>
        <p:txBody>
          <a:bodyPr vert="horz" wrap="square" lIns="91440" tIns="45720" rIns="91440" bIns="45720" anchor="t" anchorCtr="0"/>
          <a:p>
            <a:pPr eaLnBrk="1" hangingPunct="1">
              <a:lnSpc>
                <a:spcPct val="120000"/>
              </a:lnSpc>
              <a:buNone/>
            </a:pPr>
            <a:r>
              <a:rPr lang="en-US" altLang="zh-CN" sz="2800" dirty="0">
                <a:solidFill>
                  <a:srgbClr val="FF0000"/>
                </a:solidFill>
                <a:latin typeface="Arial" panose="020B0604020202020204" pitchFamily="34" charset="0"/>
              </a:rPr>
              <a:t>4 WHILE</a:t>
            </a:r>
            <a:r>
              <a:rPr lang="zh-CN" altLang="en-US" sz="2800" dirty="0">
                <a:solidFill>
                  <a:srgbClr val="FF0000"/>
                </a:solidFill>
                <a:latin typeface="Arial" panose="020B0604020202020204" pitchFamily="34" charset="0"/>
              </a:rPr>
              <a:t>语句</a:t>
            </a:r>
            <a:endParaRPr lang="zh-CN" altLang="en-US" sz="2800" dirty="0">
              <a:solidFill>
                <a:srgbClr val="FF0000"/>
              </a:solidFill>
              <a:latin typeface="Arial" panose="020B0604020202020204" pitchFamily="34" charset="0"/>
            </a:endParaRPr>
          </a:p>
          <a:p>
            <a:pPr eaLnBrk="1" hangingPunct="1">
              <a:lnSpc>
                <a:spcPct val="120000"/>
              </a:lnSpc>
              <a:buNone/>
            </a:pPr>
            <a:r>
              <a:rPr lang="en-US" altLang="zh-CN" sz="2800" dirty="0">
                <a:solidFill>
                  <a:schemeClr val="accent2"/>
                </a:solidFill>
                <a:latin typeface="Arial" panose="020B0604020202020204" pitchFamily="34" charset="0"/>
              </a:rPr>
              <a:t>WHILE</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布尔表达式  </a:t>
            </a:r>
            <a:r>
              <a:rPr lang="en-US" altLang="zh-CN" sz="2800" dirty="0">
                <a:solidFill>
                  <a:schemeClr val="tx1"/>
                </a:solidFill>
                <a:latin typeface="Arial" panose="020B0604020202020204" pitchFamily="34" charset="0"/>
              </a:rPr>
              <a:t>{ SQL</a:t>
            </a:r>
            <a:r>
              <a:rPr lang="zh-CN" altLang="en-US" sz="2800" dirty="0">
                <a:solidFill>
                  <a:schemeClr val="tx1"/>
                </a:solidFill>
                <a:latin typeface="Arial" panose="020B0604020202020204" pitchFamily="34" charset="0"/>
              </a:rPr>
              <a:t>语句 </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语句块 </a:t>
            </a:r>
            <a:r>
              <a:rPr lang="en-US" altLang="zh-CN" sz="2800" dirty="0">
                <a:solidFill>
                  <a:schemeClr val="tx1"/>
                </a:solidFill>
                <a:latin typeface="Arial" panose="020B0604020202020204" pitchFamily="34" charset="0"/>
              </a:rPr>
              <a:t>}</a:t>
            </a:r>
            <a:endParaRPr lang="en-US" altLang="zh-CN" sz="2800" dirty="0">
              <a:solidFill>
                <a:schemeClr val="tx1"/>
              </a:solidFill>
              <a:latin typeface="Arial" panose="020B0604020202020204" pitchFamily="34" charset="0"/>
            </a:endParaRPr>
          </a:p>
          <a:p>
            <a:pPr eaLnBrk="1" hangingPunct="1">
              <a:lnSpc>
                <a:spcPct val="120000"/>
              </a:lnSpc>
              <a:buNone/>
            </a:pPr>
            <a:r>
              <a:rPr lang="en-US" altLang="zh-CN" sz="2800" dirty="0">
                <a:solidFill>
                  <a:srgbClr val="FF0000"/>
                </a:solidFill>
                <a:latin typeface="Arial" panose="020B0604020202020204" pitchFamily="34" charset="0"/>
              </a:rPr>
              <a:t>5 CASE</a:t>
            </a:r>
            <a:r>
              <a:rPr lang="zh-CN" altLang="en-US" sz="2800" dirty="0">
                <a:solidFill>
                  <a:srgbClr val="FF0000"/>
                </a:solidFill>
                <a:latin typeface="Arial" panose="020B0604020202020204" pitchFamily="34" charset="0"/>
              </a:rPr>
              <a:t>表达式</a:t>
            </a:r>
            <a:endParaRPr lang="zh-CN" altLang="en-US" sz="2800" dirty="0">
              <a:solidFill>
                <a:srgbClr val="FF0000"/>
              </a:solidFill>
              <a:latin typeface="Arial" panose="020B0604020202020204" pitchFamily="34" charset="0"/>
            </a:endParaRPr>
          </a:p>
          <a:p>
            <a:pPr eaLnBrk="1" hangingPunct="1">
              <a:lnSpc>
                <a:spcPct val="120000"/>
              </a:lnSpc>
              <a:buNone/>
            </a:pPr>
            <a:r>
              <a:rPr lang="en-US" altLang="zh-CN" sz="2800" dirty="0">
                <a:solidFill>
                  <a:schemeClr val="accent2"/>
                </a:solidFill>
                <a:latin typeface="Arial" panose="020B0604020202020204" pitchFamily="34" charset="0"/>
              </a:rPr>
              <a:t>CASE</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测试表达式</a:t>
            </a:r>
            <a:endParaRPr lang="zh-CN" altLang="en-US" sz="2800" dirty="0">
              <a:solidFill>
                <a:schemeClr val="tx1"/>
              </a:solidFill>
              <a:latin typeface="Arial" panose="020B0604020202020204" pitchFamily="34" charset="0"/>
            </a:endParaRPr>
          </a:p>
          <a:p>
            <a:pPr eaLnBrk="1" hangingPunct="1">
              <a:lnSpc>
                <a:spcPct val="120000"/>
              </a:lnSpc>
              <a:buNone/>
            </a:pPr>
            <a:r>
              <a:rPr lang="zh-CN" altLang="en-US" sz="2800" dirty="0">
                <a:solidFill>
                  <a:schemeClr val="tx1"/>
                </a:solidFill>
                <a:latin typeface="Arial" panose="020B0604020202020204" pitchFamily="34" charset="0"/>
              </a:rPr>
              <a:t>    </a:t>
            </a:r>
            <a:r>
              <a:rPr lang="en-US" altLang="zh-CN" sz="2800" dirty="0">
                <a:solidFill>
                  <a:schemeClr val="accent2"/>
                </a:solidFill>
                <a:latin typeface="Arial" panose="020B0604020202020204" pitchFamily="34" charset="0"/>
              </a:rPr>
              <a:t>WHEN</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简单表达式  </a:t>
            </a:r>
            <a:r>
              <a:rPr lang="en-US" altLang="zh-CN" sz="2800" dirty="0">
                <a:solidFill>
                  <a:schemeClr val="accent2"/>
                </a:solidFill>
                <a:latin typeface="Arial" panose="020B0604020202020204" pitchFamily="34" charset="0"/>
              </a:rPr>
              <a:t>THEN </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结果表达式</a:t>
            </a:r>
            <a:endParaRPr lang="zh-CN" altLang="en-US" sz="2800" dirty="0">
              <a:solidFill>
                <a:schemeClr val="tx1"/>
              </a:solidFill>
              <a:latin typeface="Arial" panose="020B0604020202020204" pitchFamily="34" charset="0"/>
            </a:endParaRPr>
          </a:p>
          <a:p>
            <a:pPr eaLnBrk="1" hangingPunct="1">
              <a:lnSpc>
                <a:spcPct val="120000"/>
              </a:lnSpc>
              <a:buNone/>
            </a:pPr>
            <a:r>
              <a:rPr lang="zh-CN" altLang="en-US" sz="2800" dirty="0">
                <a:solidFill>
                  <a:schemeClr val="tx1"/>
                </a:solidFill>
                <a:latin typeface="Arial" panose="020B0604020202020204" pitchFamily="34" charset="0"/>
              </a:rPr>
              <a:t>    </a:t>
            </a:r>
            <a:r>
              <a:rPr lang="en-US" altLang="zh-CN" sz="2800" dirty="0">
                <a:solidFill>
                  <a:schemeClr val="tx1"/>
                </a:solidFill>
                <a:latin typeface="Arial" panose="020B0604020202020204" pitchFamily="34" charset="0"/>
              </a:rPr>
              <a:t>[ ...n ]</a:t>
            </a:r>
            <a:endParaRPr lang="en-US" altLang="zh-CN" sz="2800" dirty="0">
              <a:solidFill>
                <a:schemeClr val="tx1"/>
              </a:solidFill>
              <a:latin typeface="Arial" panose="020B0604020202020204" pitchFamily="34" charset="0"/>
            </a:endParaRPr>
          </a:p>
          <a:p>
            <a:pPr eaLnBrk="1" hangingPunct="1">
              <a:lnSpc>
                <a:spcPct val="120000"/>
              </a:lnSpc>
              <a:buNone/>
            </a:pPr>
            <a:r>
              <a:rPr lang="en-US" altLang="zh-CN" sz="2800" dirty="0">
                <a:solidFill>
                  <a:schemeClr val="tx1"/>
                </a:solidFill>
                <a:latin typeface="Arial" panose="020B0604020202020204" pitchFamily="34" charset="0"/>
              </a:rPr>
              <a:t>    [</a:t>
            </a:r>
            <a:r>
              <a:rPr lang="en-US" altLang="zh-CN" sz="2800" dirty="0">
                <a:solidFill>
                  <a:schemeClr val="accent2"/>
                </a:solidFill>
                <a:latin typeface="Arial" panose="020B0604020202020204" pitchFamily="34" charset="0"/>
              </a:rPr>
              <a:t>ELSE</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结果表达式</a:t>
            </a:r>
            <a:r>
              <a:rPr lang="en-US" altLang="zh-CN" sz="2800" dirty="0">
                <a:solidFill>
                  <a:schemeClr val="tx1"/>
                </a:solidFill>
                <a:latin typeface="Arial" panose="020B0604020202020204" pitchFamily="34" charset="0"/>
              </a:rPr>
              <a:t>]</a:t>
            </a:r>
            <a:endParaRPr lang="en-US" altLang="zh-CN" sz="2800" dirty="0">
              <a:solidFill>
                <a:schemeClr val="tx1"/>
              </a:solidFill>
              <a:latin typeface="Arial" panose="020B0604020202020204" pitchFamily="34" charset="0"/>
            </a:endParaRPr>
          </a:p>
          <a:p>
            <a:pPr eaLnBrk="1" hangingPunct="1">
              <a:lnSpc>
                <a:spcPct val="120000"/>
              </a:lnSpc>
              <a:buNone/>
            </a:pPr>
            <a:r>
              <a:rPr lang="en-US" altLang="zh-CN" sz="2800" dirty="0">
                <a:solidFill>
                  <a:schemeClr val="accent2"/>
                </a:solidFill>
                <a:latin typeface="Arial" panose="020B0604020202020204" pitchFamily="34" charset="0"/>
              </a:rPr>
              <a:t>END</a:t>
            </a:r>
            <a:endParaRPr lang="en-US" altLang="zh-CN" sz="2800" dirty="0">
              <a:solidFill>
                <a:schemeClr val="accent2"/>
              </a:solidFill>
              <a:latin typeface="Arial" panose="020B0604020202020204" pitchFamily="34" charset="0"/>
            </a:endParaRPr>
          </a:p>
          <a:p>
            <a:pPr eaLnBrk="1" hangingPunct="1">
              <a:lnSpc>
                <a:spcPct val="120000"/>
              </a:lnSpc>
              <a:buNone/>
            </a:pPr>
            <a:endParaRPr lang="en-US" altLang="zh-CN" sz="2800" dirty="0">
              <a:solidFill>
                <a:schemeClr val="accent2"/>
              </a:solidFill>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68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5.6.1 </a:t>
            </a:r>
            <a:r>
              <a:rPr lang="zh-CN" altLang="en-US" sz="3200" dirty="0"/>
              <a:t>控制流语句</a:t>
            </a:r>
            <a:endParaRPr lang="zh-CN" altLang="en-US" sz="3200" dirty="0"/>
          </a:p>
        </p:txBody>
      </p:sp>
      <p:sp>
        <p:nvSpPr>
          <p:cNvPr id="76804" name="Rectangle 3"/>
          <p:cNvSpPr>
            <a:spLocks noGrp="1"/>
          </p:cNvSpPr>
          <p:nvPr>
            <p:ph idx="1"/>
          </p:nvPr>
        </p:nvSpPr>
        <p:spPr>
          <a:xfrm>
            <a:off x="323850" y="981075"/>
            <a:ext cx="8351838" cy="5184775"/>
          </a:xfrm>
          <a:ln/>
        </p:spPr>
        <p:txBody>
          <a:bodyPr vert="horz" wrap="square" lIns="91440" tIns="45720" rIns="91440" bIns="45720" anchor="t" anchorCtr="0"/>
          <a:p>
            <a:pPr eaLnBrk="1" hangingPunct="1">
              <a:lnSpc>
                <a:spcPct val="120000"/>
              </a:lnSpc>
              <a:buNone/>
            </a:pPr>
            <a:r>
              <a:rPr lang="en-US" altLang="zh-CN" dirty="0">
                <a:solidFill>
                  <a:srgbClr val="FF0000"/>
                </a:solidFill>
                <a:latin typeface="Arial" panose="020B0604020202020204" pitchFamily="34" charset="0"/>
              </a:rPr>
              <a:t>5 CASE</a:t>
            </a:r>
            <a:r>
              <a:rPr lang="zh-CN" altLang="en-US" dirty="0">
                <a:solidFill>
                  <a:srgbClr val="FF0000"/>
                </a:solidFill>
                <a:latin typeface="Arial" panose="020B0604020202020204" pitchFamily="34" charset="0"/>
              </a:rPr>
              <a:t>表达式</a:t>
            </a:r>
            <a:r>
              <a:rPr lang="en-US" altLang="zh-CN" dirty="0">
                <a:solidFill>
                  <a:srgbClr val="FF0000"/>
                </a:solidFill>
                <a:latin typeface="Arial" panose="020B0604020202020204" pitchFamily="34" charset="0"/>
              </a:rPr>
              <a:t>(</a:t>
            </a:r>
            <a:r>
              <a:rPr lang="zh-CN" altLang="en-US" dirty="0">
                <a:solidFill>
                  <a:srgbClr val="FF0000"/>
                </a:solidFill>
                <a:latin typeface="Arial" panose="020B0604020202020204" pitchFamily="34" charset="0"/>
              </a:rPr>
              <a:t>续</a:t>
            </a: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a:p>
            <a:pPr eaLnBrk="1" hangingPunct="1">
              <a:lnSpc>
                <a:spcPct val="120000"/>
              </a:lnSpc>
              <a:buNone/>
            </a:pPr>
            <a:r>
              <a:rPr lang="en-US" altLang="en-US" dirty="0">
                <a:solidFill>
                  <a:schemeClr val="accent2"/>
                </a:solidFill>
                <a:latin typeface="Arial" panose="020B0604020202020204" pitchFamily="34" charset="0"/>
              </a:rPr>
              <a:t>CASE</a:t>
            </a:r>
            <a:endParaRPr lang="en-US" altLang="en-US" dirty="0">
              <a:solidFill>
                <a:schemeClr val="accent2"/>
              </a:solidFill>
              <a:latin typeface="Arial" panose="020B0604020202020204" pitchFamily="34" charset="0"/>
            </a:endParaRPr>
          </a:p>
          <a:p>
            <a:pPr eaLnBrk="1" hangingPunct="1">
              <a:lnSpc>
                <a:spcPct val="120000"/>
              </a:lnSpc>
              <a:buNone/>
            </a:pPr>
            <a:r>
              <a:rPr lang="en-US" altLang="en-US" dirty="0">
                <a:solidFill>
                  <a:schemeClr val="tx1"/>
                </a:solidFill>
                <a:latin typeface="Arial" panose="020B0604020202020204" pitchFamily="34" charset="0"/>
              </a:rPr>
              <a:t>    </a:t>
            </a:r>
            <a:r>
              <a:rPr lang="en-US" altLang="en-US" dirty="0">
                <a:solidFill>
                  <a:schemeClr val="accent2"/>
                </a:solidFill>
                <a:latin typeface="Arial" panose="020B0604020202020204" pitchFamily="34" charset="0"/>
              </a:rPr>
              <a:t>WHEN </a:t>
            </a:r>
            <a:r>
              <a:rPr lang="en-US" altLang="en-US" dirty="0">
                <a:solidFill>
                  <a:schemeClr val="tx1"/>
                </a:solidFill>
                <a:latin typeface="Arial" panose="020B0604020202020204" pitchFamily="34" charset="0"/>
              </a:rPr>
              <a:t>布尔表达式 </a:t>
            </a:r>
            <a:r>
              <a:rPr lang="en-US" altLang="en-US" dirty="0">
                <a:solidFill>
                  <a:schemeClr val="accent2"/>
                </a:solidFill>
                <a:latin typeface="Arial" panose="020B0604020202020204" pitchFamily="34" charset="0"/>
              </a:rPr>
              <a:t>THEN</a:t>
            </a:r>
            <a:r>
              <a:rPr lang="en-US" altLang="en-US" dirty="0">
                <a:solidFill>
                  <a:schemeClr val="tx1"/>
                </a:solidFill>
                <a:latin typeface="Arial" panose="020B0604020202020204" pitchFamily="34" charset="0"/>
              </a:rPr>
              <a:t>  结果表达式</a:t>
            </a:r>
            <a:endParaRPr lang="en-US" altLang="en-US" dirty="0">
              <a:solidFill>
                <a:schemeClr val="tx1"/>
              </a:solidFill>
              <a:latin typeface="Arial" panose="020B0604020202020204" pitchFamily="34" charset="0"/>
            </a:endParaRPr>
          </a:p>
          <a:p>
            <a:pPr eaLnBrk="1" hangingPunct="1">
              <a:lnSpc>
                <a:spcPct val="120000"/>
              </a:lnSpc>
              <a:buNone/>
            </a:pPr>
            <a:r>
              <a:rPr lang="en-US" altLang="en-US" dirty="0">
                <a:solidFill>
                  <a:schemeClr val="tx1"/>
                </a:solidFill>
                <a:latin typeface="Arial" panose="020B0604020202020204" pitchFamily="34" charset="0"/>
              </a:rPr>
              <a:t>    [ ...n ]</a:t>
            </a:r>
            <a:endParaRPr lang="en-US" altLang="en-US" dirty="0">
              <a:solidFill>
                <a:schemeClr val="tx1"/>
              </a:solidFill>
              <a:latin typeface="Arial" panose="020B0604020202020204" pitchFamily="34" charset="0"/>
            </a:endParaRPr>
          </a:p>
          <a:p>
            <a:pPr eaLnBrk="1" hangingPunct="1">
              <a:lnSpc>
                <a:spcPct val="120000"/>
              </a:lnSpc>
              <a:buNone/>
            </a:pPr>
            <a:r>
              <a:rPr lang="en-US" altLang="en-US" dirty="0">
                <a:solidFill>
                  <a:schemeClr val="tx1"/>
                </a:solidFill>
                <a:latin typeface="Arial" panose="020B0604020202020204" pitchFamily="34" charset="0"/>
              </a:rPr>
              <a:t>    [ </a:t>
            </a:r>
            <a:r>
              <a:rPr lang="en-US" altLang="en-US" dirty="0">
                <a:solidFill>
                  <a:schemeClr val="accent2"/>
                </a:solidFill>
                <a:latin typeface="Arial" panose="020B0604020202020204" pitchFamily="34" charset="0"/>
              </a:rPr>
              <a:t>ELSE</a:t>
            </a:r>
            <a:r>
              <a:rPr lang="en-US" altLang="en-US" dirty="0">
                <a:solidFill>
                  <a:schemeClr val="tx1"/>
                </a:solidFill>
                <a:latin typeface="Arial" panose="020B0604020202020204" pitchFamily="34" charset="0"/>
              </a:rPr>
              <a:t> 结果表达式]</a:t>
            </a:r>
            <a:endParaRPr lang="en-US" altLang="en-US" dirty="0">
              <a:solidFill>
                <a:schemeClr val="tx1"/>
              </a:solidFill>
              <a:latin typeface="Arial" panose="020B0604020202020204" pitchFamily="34" charset="0"/>
            </a:endParaRPr>
          </a:p>
          <a:p>
            <a:pPr eaLnBrk="1" hangingPunct="1">
              <a:lnSpc>
                <a:spcPct val="120000"/>
              </a:lnSpc>
              <a:buNone/>
            </a:pPr>
            <a:r>
              <a:rPr lang="en-US" altLang="en-US" dirty="0">
                <a:solidFill>
                  <a:schemeClr val="accent2"/>
                </a:solidFill>
                <a:latin typeface="Arial" panose="020B0604020202020204" pitchFamily="34" charset="0"/>
              </a:rPr>
              <a:t>END</a:t>
            </a:r>
            <a:endParaRPr lang="en-US" altLang="en-US" dirty="0">
              <a:solidFill>
                <a:schemeClr val="accent2"/>
              </a:solidFill>
              <a:latin typeface="Arial" panose="020B0604020202020204" pitchFamily="34" charset="0"/>
            </a:endParaRPr>
          </a:p>
          <a:p>
            <a:pPr eaLnBrk="1" hangingPunct="1">
              <a:lnSpc>
                <a:spcPct val="120000"/>
              </a:lnSpc>
              <a:buNone/>
            </a:pPr>
            <a:endParaRPr lang="en-US" altLang="zh-CN" dirty="0">
              <a:solidFill>
                <a:schemeClr val="accent2"/>
              </a:solidFill>
              <a:latin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78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5.6 </a:t>
            </a:r>
            <a:r>
              <a:rPr lang="zh-CN" altLang="en-US" dirty="0"/>
              <a:t>触发器</a:t>
            </a:r>
            <a:endParaRPr lang="zh-CN" altLang="en-US" dirty="0"/>
          </a:p>
        </p:txBody>
      </p:sp>
      <p:sp>
        <p:nvSpPr>
          <p:cNvPr id="77828" name="Rectangle 3"/>
          <p:cNvSpPr>
            <a:spLocks noGrp="1"/>
          </p:cNvSpPr>
          <p:nvPr>
            <p:ph idx="1"/>
          </p:nvPr>
        </p:nvSpPr>
        <p:spPr>
          <a:xfrm>
            <a:off x="971550" y="1412875"/>
            <a:ext cx="7416800" cy="4464050"/>
          </a:xfrm>
          <a:ln/>
        </p:spPr>
        <p:txBody>
          <a:bodyPr vert="horz" wrap="square" lIns="91440" tIns="45720" rIns="91440" bIns="45720" anchor="t" anchorCtr="0"/>
          <a:p>
            <a:pPr eaLnBrk="1" hangingPunct="1">
              <a:lnSpc>
                <a:spcPct val="120000"/>
              </a:lnSpc>
              <a:buNone/>
            </a:pPr>
            <a:r>
              <a:rPr lang="en-US" altLang="zh-CN" sz="3600" dirty="0">
                <a:solidFill>
                  <a:schemeClr val="tx1"/>
                </a:solidFill>
              </a:rPr>
              <a:t>5.6.1  </a:t>
            </a:r>
            <a:r>
              <a:rPr lang="zh-CN" altLang="en-US" sz="3600" dirty="0">
                <a:solidFill>
                  <a:schemeClr val="tx1"/>
                </a:solidFill>
              </a:rPr>
              <a:t>控制流语句</a:t>
            </a:r>
            <a:endParaRPr lang="zh-CN" altLang="en-US" sz="3600" dirty="0">
              <a:solidFill>
                <a:schemeClr val="tx1"/>
              </a:solidFill>
            </a:endParaRPr>
          </a:p>
          <a:p>
            <a:pPr eaLnBrk="1" hangingPunct="1">
              <a:lnSpc>
                <a:spcPct val="120000"/>
              </a:lnSpc>
              <a:buNone/>
            </a:pPr>
            <a:r>
              <a:rPr lang="en-US" altLang="zh-CN" sz="3600" dirty="0">
                <a:solidFill>
                  <a:srgbClr val="FF0000"/>
                </a:solidFill>
              </a:rPr>
              <a:t>5.6.2  </a:t>
            </a:r>
            <a:r>
              <a:rPr lang="zh-CN" altLang="en-US" sz="3600" dirty="0">
                <a:solidFill>
                  <a:srgbClr val="FF0000"/>
                </a:solidFill>
              </a:rPr>
              <a:t>事务</a:t>
            </a:r>
            <a:endParaRPr lang="zh-CN" altLang="en-US" sz="3600" dirty="0">
              <a:solidFill>
                <a:srgbClr val="FF0000"/>
              </a:solidFill>
            </a:endParaRPr>
          </a:p>
          <a:p>
            <a:pPr eaLnBrk="1" hangingPunct="1">
              <a:lnSpc>
                <a:spcPct val="120000"/>
              </a:lnSpc>
              <a:buNone/>
            </a:pPr>
            <a:r>
              <a:rPr lang="en-US" altLang="zh-CN" sz="3600" dirty="0">
                <a:solidFill>
                  <a:schemeClr val="tx1"/>
                </a:solidFill>
              </a:rPr>
              <a:t>5.6.3  </a:t>
            </a:r>
            <a:r>
              <a:rPr lang="zh-CN" altLang="en-US" sz="3600" dirty="0">
                <a:solidFill>
                  <a:schemeClr val="tx1"/>
                </a:solidFill>
              </a:rPr>
              <a:t>定义触发器</a:t>
            </a:r>
            <a:endParaRPr lang="zh-CN" altLang="en-US" sz="3600" dirty="0">
              <a:solidFill>
                <a:schemeClr val="tx1"/>
              </a:solidFill>
            </a:endParaRPr>
          </a:p>
          <a:p>
            <a:pPr eaLnBrk="1" hangingPunct="1">
              <a:lnSpc>
                <a:spcPct val="120000"/>
              </a:lnSpc>
              <a:buNone/>
            </a:pPr>
            <a:r>
              <a:rPr lang="en-US" altLang="zh-CN" sz="3600" dirty="0">
                <a:solidFill>
                  <a:schemeClr val="tx1"/>
                </a:solidFill>
              </a:rPr>
              <a:t>5.6.4  </a:t>
            </a:r>
            <a:r>
              <a:rPr lang="zh-CN" altLang="en-US" sz="3600" dirty="0">
                <a:solidFill>
                  <a:schemeClr val="tx1"/>
                </a:solidFill>
              </a:rPr>
              <a:t>激活触发器</a:t>
            </a:r>
            <a:endParaRPr lang="zh-CN" altLang="en-US" sz="3600" dirty="0">
              <a:solidFill>
                <a:schemeClr val="tx1"/>
              </a:solidFill>
            </a:endParaRPr>
          </a:p>
          <a:p>
            <a:pPr eaLnBrk="1" hangingPunct="1">
              <a:lnSpc>
                <a:spcPct val="120000"/>
              </a:lnSpc>
              <a:buNone/>
            </a:pPr>
            <a:r>
              <a:rPr lang="en-US" altLang="zh-CN" sz="3600" dirty="0">
                <a:solidFill>
                  <a:schemeClr val="tx1"/>
                </a:solidFill>
              </a:rPr>
              <a:t>5.6.5  </a:t>
            </a:r>
            <a:r>
              <a:rPr lang="zh-CN" altLang="en-US" sz="3600" dirty="0">
                <a:solidFill>
                  <a:schemeClr val="tx1"/>
                </a:solidFill>
              </a:rPr>
              <a:t>修改和删除触发器</a:t>
            </a:r>
            <a:endParaRPr lang="zh-CN" altLang="en-US" sz="3600" dirty="0">
              <a:solidFill>
                <a:schemeClr val="tx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885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5.6.2 </a:t>
            </a:r>
            <a:r>
              <a:rPr lang="zh-CN" altLang="en-US" sz="3200" dirty="0"/>
              <a:t>事务</a:t>
            </a:r>
            <a:endParaRPr lang="zh-CN" altLang="en-US" sz="3200" dirty="0"/>
          </a:p>
        </p:txBody>
      </p:sp>
      <p:sp>
        <p:nvSpPr>
          <p:cNvPr id="78852" name="Rectangle 3"/>
          <p:cNvSpPr>
            <a:spLocks noGrp="1"/>
          </p:cNvSpPr>
          <p:nvPr>
            <p:ph idx="1"/>
          </p:nvPr>
        </p:nvSpPr>
        <p:spPr>
          <a:xfrm>
            <a:off x="228600" y="762000"/>
            <a:ext cx="8736013" cy="5867400"/>
          </a:xfrm>
          <a:ln/>
        </p:spPr>
        <p:txBody>
          <a:bodyPr vert="horz" wrap="square" lIns="91440" tIns="45720" rIns="91440" bIns="45720" anchor="t" anchorCtr="0"/>
          <a:p>
            <a:pPr>
              <a:lnSpc>
                <a:spcPct val="120000"/>
              </a:lnSpc>
              <a:buClr>
                <a:srgbClr val="FF0000"/>
              </a:buClr>
            </a:pPr>
            <a:r>
              <a:rPr lang="zh-CN" altLang="en-US" sz="3600" dirty="0">
                <a:solidFill>
                  <a:schemeClr val="tx1"/>
                </a:solidFill>
              </a:rPr>
              <a:t>什么是事务</a:t>
            </a:r>
            <a:endParaRPr lang="zh-CN" altLang="en-US" sz="3600" dirty="0">
              <a:solidFill>
                <a:schemeClr val="tx1"/>
              </a:solidFill>
            </a:endParaRPr>
          </a:p>
          <a:p>
            <a:pPr lvl="1">
              <a:lnSpc>
                <a:spcPct val="120000"/>
              </a:lnSpc>
              <a:buClr>
                <a:schemeClr val="hlink"/>
              </a:buClr>
            </a:pPr>
            <a:r>
              <a:rPr lang="zh-CN" altLang="en-US" sz="3200" dirty="0"/>
              <a:t>由用户定义的一组操作指令</a:t>
            </a:r>
            <a:r>
              <a:rPr lang="en-US" altLang="zh-CN" sz="3200" dirty="0"/>
              <a:t>(SQL</a:t>
            </a:r>
            <a:r>
              <a:rPr lang="zh-CN" altLang="en-US" sz="3200" dirty="0"/>
              <a:t>语句</a:t>
            </a:r>
            <a:r>
              <a:rPr lang="en-US" altLang="zh-CN" sz="3200" dirty="0"/>
              <a:t>)</a:t>
            </a:r>
            <a:r>
              <a:rPr lang="zh-CN" altLang="en-US" sz="3200" dirty="0"/>
              <a:t>序列</a:t>
            </a:r>
            <a:endParaRPr lang="zh-CN" altLang="en-US" sz="3200" dirty="0"/>
          </a:p>
          <a:p>
            <a:pPr lvl="1">
              <a:lnSpc>
                <a:spcPct val="120000"/>
              </a:lnSpc>
              <a:buClr>
                <a:schemeClr val="hlink"/>
              </a:buClr>
            </a:pPr>
            <a:r>
              <a:rPr lang="zh-CN" altLang="en-US" sz="3200" dirty="0"/>
              <a:t>这组指令作为一个不可分割的整体，完成某件逻辑工作</a:t>
            </a:r>
            <a:endParaRPr lang="zh-CN" altLang="en-US" sz="3200" dirty="0"/>
          </a:p>
          <a:p>
            <a:pPr lvl="1">
              <a:lnSpc>
                <a:spcPct val="120000"/>
              </a:lnSpc>
              <a:buClr>
                <a:schemeClr val="hlink"/>
              </a:buClr>
            </a:pPr>
            <a:r>
              <a:rPr lang="zh-CN" altLang="en-US" sz="3200" dirty="0"/>
              <a:t>这组指令要么全部执行，要么全不执行</a:t>
            </a:r>
            <a:endParaRPr lang="zh-CN" altLang="en-US" sz="3200" dirty="0"/>
          </a:p>
          <a:p>
            <a:pPr>
              <a:lnSpc>
                <a:spcPct val="120000"/>
              </a:lnSpc>
              <a:buClr>
                <a:srgbClr val="FF0000"/>
              </a:buClr>
            </a:pPr>
            <a:r>
              <a:rPr lang="zh-CN" altLang="en-US" sz="3600" dirty="0">
                <a:solidFill>
                  <a:schemeClr val="tx1"/>
                </a:solidFill>
              </a:rPr>
              <a:t>例如</a:t>
            </a:r>
            <a:r>
              <a:rPr lang="en-US" altLang="zh-CN" sz="3600" dirty="0">
                <a:solidFill>
                  <a:schemeClr val="tx1"/>
                </a:solidFill>
              </a:rPr>
              <a:t>:</a:t>
            </a:r>
            <a:r>
              <a:rPr lang="zh-CN" altLang="en-US" sz="3600" dirty="0">
                <a:solidFill>
                  <a:schemeClr val="tx1"/>
                </a:solidFill>
              </a:rPr>
              <a:t>在</a:t>
            </a:r>
            <a:r>
              <a:rPr lang="zh-CN" altLang="en-US" sz="3600" dirty="0">
                <a:solidFill>
                  <a:schemeClr val="accent2"/>
                </a:solidFill>
              </a:rPr>
              <a:t>存款</a:t>
            </a:r>
            <a:r>
              <a:rPr lang="en-US" altLang="zh-CN" sz="3600" dirty="0">
                <a:solidFill>
                  <a:schemeClr val="accent2"/>
                </a:solidFill>
              </a:rPr>
              <a:t>(</a:t>
            </a:r>
            <a:r>
              <a:rPr lang="zh-CN" altLang="en-US" sz="3600" dirty="0">
                <a:solidFill>
                  <a:schemeClr val="accent2"/>
                </a:solidFill>
              </a:rPr>
              <a:t>账户</a:t>
            </a:r>
            <a:r>
              <a:rPr lang="en-US" altLang="zh-CN" sz="3600" dirty="0">
                <a:solidFill>
                  <a:schemeClr val="accent2"/>
                </a:solidFill>
              </a:rPr>
              <a:t>,</a:t>
            </a:r>
            <a:r>
              <a:rPr lang="zh-CN" altLang="en-US" sz="3600" dirty="0">
                <a:solidFill>
                  <a:schemeClr val="accent2"/>
                </a:solidFill>
              </a:rPr>
              <a:t>余额</a:t>
            </a:r>
            <a:r>
              <a:rPr lang="en-US" altLang="zh-CN" sz="3600" dirty="0">
                <a:solidFill>
                  <a:schemeClr val="accent2"/>
                </a:solidFill>
              </a:rPr>
              <a:t>)</a:t>
            </a:r>
            <a:r>
              <a:rPr lang="zh-CN" altLang="en-US" sz="3600" dirty="0">
                <a:solidFill>
                  <a:schemeClr val="tx1"/>
                </a:solidFill>
              </a:rPr>
              <a:t>中，从账户</a:t>
            </a:r>
            <a:r>
              <a:rPr lang="en-US" altLang="zh-CN" sz="3600" dirty="0">
                <a:solidFill>
                  <a:schemeClr val="tx1"/>
                </a:solidFill>
              </a:rPr>
              <a:t>A</a:t>
            </a:r>
            <a:r>
              <a:rPr lang="zh-CN" altLang="en-US" sz="3600" dirty="0">
                <a:solidFill>
                  <a:schemeClr val="tx1"/>
                </a:solidFill>
              </a:rPr>
              <a:t>向账户Ｂ转帐金额</a:t>
            </a:r>
            <a:r>
              <a:rPr lang="en-US" altLang="zh-CN" sz="3600" dirty="0">
                <a:solidFill>
                  <a:schemeClr val="tx1"/>
                </a:solidFill>
              </a:rPr>
              <a:t>N</a:t>
            </a:r>
            <a:endParaRPr lang="en-US" altLang="zh-CN" sz="3600" dirty="0">
              <a:solidFill>
                <a:schemeClr val="tx1"/>
              </a:solidFill>
            </a:endParaRPr>
          </a:p>
          <a:p>
            <a:pPr>
              <a:lnSpc>
                <a:spcPct val="120000"/>
              </a:lnSpc>
              <a:buClr>
                <a:srgbClr val="FF0000"/>
              </a:buClr>
            </a:pPr>
            <a:r>
              <a:rPr lang="en-US" altLang="zh-CN" sz="3600" dirty="0">
                <a:solidFill>
                  <a:schemeClr val="tx1"/>
                </a:solidFill>
              </a:rPr>
              <a:t>(A)</a:t>
            </a:r>
            <a:r>
              <a:rPr lang="zh-CN" altLang="en-US" sz="3600" dirty="0">
                <a:solidFill>
                  <a:schemeClr val="tx1"/>
                </a:solidFill>
              </a:rPr>
              <a:t>原子性</a:t>
            </a:r>
            <a:r>
              <a:rPr lang="en-US" altLang="zh-CN" sz="3600" dirty="0">
                <a:solidFill>
                  <a:schemeClr val="tx1"/>
                </a:solidFill>
              </a:rPr>
              <a:t>(C)</a:t>
            </a:r>
            <a:r>
              <a:rPr lang="zh-CN" altLang="en-US" sz="3600" dirty="0">
                <a:solidFill>
                  <a:schemeClr val="tx1"/>
                </a:solidFill>
              </a:rPr>
              <a:t>一致性</a:t>
            </a:r>
            <a:r>
              <a:rPr lang="en-US" altLang="zh-CN" sz="3600" dirty="0">
                <a:solidFill>
                  <a:schemeClr val="tx1"/>
                </a:solidFill>
              </a:rPr>
              <a:t>(I)</a:t>
            </a:r>
            <a:r>
              <a:rPr lang="zh-CN" altLang="en-US" sz="3600" dirty="0">
                <a:solidFill>
                  <a:schemeClr val="tx1"/>
                </a:solidFill>
              </a:rPr>
              <a:t>隔离性</a:t>
            </a:r>
            <a:r>
              <a:rPr lang="en-US" altLang="zh-CN" sz="3600" dirty="0">
                <a:solidFill>
                  <a:schemeClr val="tx1"/>
                </a:solidFill>
              </a:rPr>
              <a:t>(D)</a:t>
            </a:r>
            <a:r>
              <a:rPr lang="zh-CN" altLang="en-US" sz="3600" dirty="0">
                <a:solidFill>
                  <a:schemeClr val="tx1"/>
                </a:solidFill>
              </a:rPr>
              <a:t>持久性</a:t>
            </a:r>
            <a:endParaRPr lang="zh-CN" altLang="en-US" sz="3600" dirty="0">
              <a:solidFill>
                <a:schemeClr val="tx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98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5.6.2 </a:t>
            </a:r>
            <a:r>
              <a:rPr lang="zh-CN" altLang="en-US" sz="3200" dirty="0"/>
              <a:t>事务</a:t>
            </a:r>
            <a:endParaRPr lang="zh-CN" altLang="en-US" sz="3200" dirty="0"/>
          </a:p>
        </p:txBody>
      </p:sp>
      <p:sp>
        <p:nvSpPr>
          <p:cNvPr id="79876" name="Rectangle 3"/>
          <p:cNvSpPr>
            <a:spLocks noGrp="1"/>
          </p:cNvSpPr>
          <p:nvPr>
            <p:ph idx="1"/>
          </p:nvPr>
        </p:nvSpPr>
        <p:spPr>
          <a:xfrm>
            <a:off x="228600" y="762000"/>
            <a:ext cx="8736013" cy="5867400"/>
          </a:xfrm>
          <a:ln/>
        </p:spPr>
        <p:txBody>
          <a:bodyPr vert="horz" wrap="square" lIns="91440" tIns="45720" rIns="91440" bIns="45720" anchor="t" anchorCtr="0"/>
          <a:p>
            <a:pPr>
              <a:lnSpc>
                <a:spcPct val="120000"/>
              </a:lnSpc>
              <a:buClr>
                <a:srgbClr val="FF0000"/>
              </a:buClr>
            </a:pPr>
            <a:r>
              <a:rPr lang="zh-CN" altLang="en-US" sz="3600" dirty="0">
                <a:solidFill>
                  <a:schemeClr val="tx1"/>
                </a:solidFill>
              </a:rPr>
              <a:t>事务的定义</a:t>
            </a:r>
            <a:endParaRPr lang="zh-CN" altLang="en-US" sz="3600" dirty="0">
              <a:solidFill>
                <a:schemeClr val="tx1"/>
              </a:solidFill>
            </a:endParaRPr>
          </a:p>
          <a:p>
            <a:pPr lvl="1">
              <a:lnSpc>
                <a:spcPct val="120000"/>
              </a:lnSpc>
              <a:buClr>
                <a:schemeClr val="hlink"/>
              </a:buClr>
              <a:buNone/>
            </a:pPr>
            <a:r>
              <a:rPr lang="en-US" altLang="zh-CN" sz="3200" dirty="0">
                <a:solidFill>
                  <a:schemeClr val="accent2"/>
                </a:solidFill>
              </a:rPr>
              <a:t>Begin transaction</a:t>
            </a:r>
            <a:endParaRPr lang="en-US" altLang="zh-CN" sz="3200" dirty="0">
              <a:solidFill>
                <a:schemeClr val="accent2"/>
              </a:solidFill>
            </a:endParaRPr>
          </a:p>
          <a:p>
            <a:pPr lvl="1">
              <a:lnSpc>
                <a:spcPct val="120000"/>
              </a:lnSpc>
              <a:buClr>
                <a:schemeClr val="hlink"/>
              </a:buClr>
              <a:buNone/>
            </a:pPr>
            <a:r>
              <a:rPr lang="en-US" altLang="zh-CN" sz="3200" dirty="0"/>
              <a:t>    </a:t>
            </a:r>
            <a:r>
              <a:rPr lang="zh-CN" altLang="en-US" sz="3200" dirty="0"/>
              <a:t>语句块</a:t>
            </a:r>
            <a:endParaRPr lang="zh-CN" altLang="en-US" sz="3200" dirty="0"/>
          </a:p>
          <a:p>
            <a:pPr lvl="1">
              <a:lnSpc>
                <a:spcPct val="120000"/>
              </a:lnSpc>
              <a:buClr>
                <a:schemeClr val="hlink"/>
              </a:buClr>
              <a:buNone/>
            </a:pPr>
            <a:r>
              <a:rPr lang="en-US" altLang="zh-CN" sz="3200" dirty="0">
                <a:solidFill>
                  <a:schemeClr val="accent2"/>
                </a:solidFill>
              </a:rPr>
              <a:t>commit</a:t>
            </a:r>
            <a:r>
              <a:rPr lang="en-US" altLang="zh-CN" sz="3200" dirty="0"/>
              <a:t> | </a:t>
            </a:r>
            <a:r>
              <a:rPr lang="en-US" altLang="zh-CN" sz="3200" dirty="0">
                <a:solidFill>
                  <a:schemeClr val="accent2"/>
                </a:solidFill>
              </a:rPr>
              <a:t>rollback</a:t>
            </a:r>
            <a:endParaRPr lang="en-US" altLang="zh-CN" sz="3200" dirty="0">
              <a:solidFill>
                <a:schemeClr val="accent2"/>
              </a:solidFill>
            </a:endParaRPr>
          </a:p>
          <a:p>
            <a:pPr>
              <a:lnSpc>
                <a:spcPct val="120000"/>
              </a:lnSpc>
              <a:buClr>
                <a:srgbClr val="FF0000"/>
              </a:buClr>
            </a:pPr>
            <a:r>
              <a:rPr lang="en-US" altLang="zh-CN" sz="3600" dirty="0">
                <a:solidFill>
                  <a:schemeClr val="tx1"/>
                </a:solidFill>
              </a:rPr>
              <a:t>Commit:</a:t>
            </a:r>
            <a:r>
              <a:rPr lang="zh-CN" altLang="en-US" sz="3600" dirty="0">
                <a:solidFill>
                  <a:schemeClr val="tx1"/>
                </a:solidFill>
              </a:rPr>
              <a:t>正常结束</a:t>
            </a:r>
            <a:endParaRPr lang="zh-CN" altLang="en-US" sz="3600" dirty="0">
              <a:solidFill>
                <a:schemeClr val="tx1"/>
              </a:solidFill>
            </a:endParaRPr>
          </a:p>
          <a:p>
            <a:pPr>
              <a:lnSpc>
                <a:spcPct val="120000"/>
              </a:lnSpc>
              <a:buClr>
                <a:srgbClr val="FF0000"/>
              </a:buClr>
            </a:pPr>
            <a:r>
              <a:rPr lang="en-US" altLang="zh-CN" sz="3600" dirty="0">
                <a:solidFill>
                  <a:schemeClr val="tx1"/>
                </a:solidFill>
              </a:rPr>
              <a:t>Rollback:</a:t>
            </a:r>
            <a:r>
              <a:rPr lang="zh-CN" altLang="en-US" sz="3600" dirty="0">
                <a:solidFill>
                  <a:schemeClr val="tx1"/>
                </a:solidFill>
              </a:rPr>
              <a:t>异常结束</a:t>
            </a:r>
            <a:r>
              <a:rPr lang="en-US" altLang="zh-CN" sz="3600" dirty="0">
                <a:solidFill>
                  <a:schemeClr val="tx1"/>
                </a:solidFill>
              </a:rPr>
              <a:t>(</a:t>
            </a:r>
            <a:r>
              <a:rPr lang="zh-CN" altLang="en-US" sz="3600" dirty="0">
                <a:solidFill>
                  <a:schemeClr val="tx1"/>
                </a:solidFill>
              </a:rPr>
              <a:t>需回滚</a:t>
            </a:r>
            <a:r>
              <a:rPr lang="en-US" altLang="zh-CN" sz="3600" dirty="0">
                <a:solidFill>
                  <a:schemeClr val="tx1"/>
                </a:solidFill>
              </a:rPr>
              <a:t>)</a:t>
            </a:r>
            <a:endParaRPr lang="en-US" altLang="zh-CN" sz="3600" dirty="0">
              <a:solidFill>
                <a:schemeClr val="tx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08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5.6 </a:t>
            </a:r>
            <a:r>
              <a:rPr lang="zh-CN" altLang="en-US" dirty="0"/>
              <a:t>触发器</a:t>
            </a:r>
            <a:endParaRPr lang="zh-CN" altLang="en-US" dirty="0"/>
          </a:p>
        </p:txBody>
      </p:sp>
      <p:sp>
        <p:nvSpPr>
          <p:cNvPr id="80900" name="Rectangle 3"/>
          <p:cNvSpPr>
            <a:spLocks noGrp="1"/>
          </p:cNvSpPr>
          <p:nvPr>
            <p:ph idx="1"/>
          </p:nvPr>
        </p:nvSpPr>
        <p:spPr>
          <a:xfrm>
            <a:off x="971550" y="1412875"/>
            <a:ext cx="7416800" cy="4464050"/>
          </a:xfrm>
          <a:ln/>
        </p:spPr>
        <p:txBody>
          <a:bodyPr vert="horz" wrap="square" lIns="91440" tIns="45720" rIns="91440" bIns="45720" anchor="t" anchorCtr="0"/>
          <a:p>
            <a:pPr eaLnBrk="1" hangingPunct="1">
              <a:lnSpc>
                <a:spcPct val="120000"/>
              </a:lnSpc>
              <a:buNone/>
            </a:pPr>
            <a:r>
              <a:rPr lang="en-US" altLang="zh-CN" sz="3600" dirty="0">
                <a:solidFill>
                  <a:schemeClr val="tx1"/>
                </a:solidFill>
              </a:rPr>
              <a:t>5.6.1  </a:t>
            </a:r>
            <a:r>
              <a:rPr lang="zh-CN" altLang="en-US" sz="3600" dirty="0">
                <a:solidFill>
                  <a:schemeClr val="tx1"/>
                </a:solidFill>
              </a:rPr>
              <a:t>控制流语句</a:t>
            </a:r>
            <a:endParaRPr lang="zh-CN" altLang="en-US" sz="3600" dirty="0">
              <a:solidFill>
                <a:schemeClr val="tx1"/>
              </a:solidFill>
            </a:endParaRPr>
          </a:p>
          <a:p>
            <a:pPr eaLnBrk="1" hangingPunct="1">
              <a:lnSpc>
                <a:spcPct val="120000"/>
              </a:lnSpc>
              <a:buNone/>
            </a:pPr>
            <a:r>
              <a:rPr lang="en-US" altLang="zh-CN" sz="3600" dirty="0">
                <a:solidFill>
                  <a:schemeClr val="tx1"/>
                </a:solidFill>
              </a:rPr>
              <a:t>5.6.2  </a:t>
            </a:r>
            <a:r>
              <a:rPr lang="zh-CN" altLang="en-US" sz="3600" dirty="0">
                <a:solidFill>
                  <a:schemeClr val="tx1"/>
                </a:solidFill>
              </a:rPr>
              <a:t>事务</a:t>
            </a:r>
            <a:endParaRPr lang="zh-CN" altLang="en-US" sz="3600" dirty="0">
              <a:solidFill>
                <a:schemeClr val="tx1"/>
              </a:solidFill>
            </a:endParaRPr>
          </a:p>
          <a:p>
            <a:pPr eaLnBrk="1" hangingPunct="1">
              <a:lnSpc>
                <a:spcPct val="120000"/>
              </a:lnSpc>
              <a:buNone/>
            </a:pPr>
            <a:r>
              <a:rPr lang="en-US" altLang="zh-CN" sz="3600" dirty="0">
                <a:solidFill>
                  <a:srgbClr val="FF0000"/>
                </a:solidFill>
              </a:rPr>
              <a:t>5.6.3  </a:t>
            </a:r>
            <a:r>
              <a:rPr lang="zh-CN" altLang="en-US" sz="3600" dirty="0">
                <a:solidFill>
                  <a:srgbClr val="FF0000"/>
                </a:solidFill>
              </a:rPr>
              <a:t>定义触发器</a:t>
            </a:r>
            <a:endParaRPr lang="zh-CN" altLang="en-US" sz="3600" dirty="0">
              <a:solidFill>
                <a:srgbClr val="FF0000"/>
              </a:solidFill>
            </a:endParaRPr>
          </a:p>
          <a:p>
            <a:pPr eaLnBrk="1" hangingPunct="1">
              <a:lnSpc>
                <a:spcPct val="120000"/>
              </a:lnSpc>
              <a:buNone/>
            </a:pPr>
            <a:r>
              <a:rPr lang="en-US" altLang="zh-CN" sz="3600" dirty="0">
                <a:solidFill>
                  <a:schemeClr val="tx1"/>
                </a:solidFill>
              </a:rPr>
              <a:t>5.6.4  </a:t>
            </a:r>
            <a:r>
              <a:rPr lang="zh-CN" altLang="en-US" sz="3600" dirty="0">
                <a:solidFill>
                  <a:schemeClr val="tx1"/>
                </a:solidFill>
              </a:rPr>
              <a:t>激活触发器</a:t>
            </a:r>
            <a:endParaRPr lang="zh-CN" altLang="en-US" sz="3600" dirty="0">
              <a:solidFill>
                <a:schemeClr val="tx1"/>
              </a:solidFill>
            </a:endParaRPr>
          </a:p>
          <a:p>
            <a:pPr eaLnBrk="1" hangingPunct="1">
              <a:lnSpc>
                <a:spcPct val="120000"/>
              </a:lnSpc>
              <a:buNone/>
            </a:pPr>
            <a:r>
              <a:rPr lang="en-US" altLang="zh-CN" sz="3600" dirty="0">
                <a:solidFill>
                  <a:schemeClr val="tx1"/>
                </a:solidFill>
              </a:rPr>
              <a:t>5.6.5  </a:t>
            </a:r>
            <a:r>
              <a:rPr lang="zh-CN" altLang="en-US" sz="3600" dirty="0">
                <a:solidFill>
                  <a:schemeClr val="tx1"/>
                </a:solidFill>
              </a:rPr>
              <a:t>修改和删除触发器</a:t>
            </a:r>
            <a:endParaRPr lang="zh-CN" altLang="en-US" sz="3600" dirty="0">
              <a:solidFill>
                <a:schemeClr val="tx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1924" name="Rectangle 3"/>
          <p:cNvSpPr>
            <a:spLocks noGrp="1"/>
          </p:cNvSpPr>
          <p:nvPr>
            <p:ph idx="1"/>
          </p:nvPr>
        </p:nvSpPr>
        <p:spPr>
          <a:xfrm>
            <a:off x="228600" y="762000"/>
            <a:ext cx="8686800" cy="5867400"/>
          </a:xfrm>
          <a:ln/>
        </p:spPr>
        <p:txBody>
          <a:bodyPr vert="horz" wrap="square" lIns="91440" tIns="45720" rIns="91440" bIns="45720" anchor="t" anchorCtr="0"/>
          <a:p>
            <a:pPr marL="457200" indent="-457200">
              <a:lnSpc>
                <a:spcPct val="120000"/>
              </a:lnSpc>
              <a:buClr>
                <a:srgbClr val="FF0000"/>
              </a:buClr>
              <a:buNone/>
            </a:pPr>
            <a:r>
              <a:rPr lang="en-US" altLang="zh-CN" sz="2800" dirty="0">
                <a:solidFill>
                  <a:schemeClr val="tx1"/>
                </a:solidFill>
              </a:rPr>
              <a:t>	</a:t>
            </a:r>
            <a:r>
              <a:rPr lang="en-US" altLang="en-US" sz="2800" dirty="0">
                <a:solidFill>
                  <a:schemeClr val="tx1"/>
                </a:solidFill>
              </a:rPr>
              <a:t>在设计触发器时，Microsoft® SQL Server™  提供了两种选项： </a:t>
            </a:r>
            <a:endParaRPr lang="en-US" altLang="en-US" sz="2800" dirty="0">
              <a:solidFill>
                <a:schemeClr val="tx1"/>
              </a:solidFill>
            </a:endParaRPr>
          </a:p>
          <a:p>
            <a:pPr marL="457200" indent="-457200">
              <a:lnSpc>
                <a:spcPct val="120000"/>
              </a:lnSpc>
              <a:buClr>
                <a:srgbClr val="FF0000"/>
              </a:buClr>
              <a:buFont typeface="Wingdings" panose="05000000000000000000" pitchFamily="2" charset="2"/>
              <a:buAutoNum type="arabicPeriod"/>
            </a:pPr>
            <a:r>
              <a:rPr lang="en-US" altLang="en-US" sz="2800" dirty="0">
                <a:solidFill>
                  <a:srgbClr val="FF0000"/>
                </a:solidFill>
              </a:rPr>
              <a:t>INSTEAD OF触发器</a:t>
            </a:r>
            <a:r>
              <a:rPr lang="en-US" altLang="en-US" sz="2800" dirty="0">
                <a:solidFill>
                  <a:schemeClr val="tx1"/>
                </a:solidFill>
              </a:rPr>
              <a:t>。它指定执行触发器的内容而不是执行引发触发器执行的SQL语句。一个表只能定义一个INSTEAD OF触发器。INSTEAD OF触发器可以定义在</a:t>
            </a:r>
            <a:r>
              <a:rPr lang="en-US" altLang="en-US" sz="2800" dirty="0">
                <a:solidFill>
                  <a:srgbClr val="FF0000"/>
                </a:solidFill>
              </a:rPr>
              <a:t>视图上</a:t>
            </a:r>
            <a:r>
              <a:rPr lang="en-US" altLang="en-US" sz="2800" dirty="0">
                <a:solidFill>
                  <a:schemeClr val="tx1"/>
                </a:solidFill>
              </a:rPr>
              <a:t>。</a:t>
            </a:r>
            <a:endParaRPr lang="en-US" altLang="en-US" sz="2800" dirty="0">
              <a:solidFill>
                <a:schemeClr val="tx1"/>
              </a:solidFill>
            </a:endParaRPr>
          </a:p>
          <a:p>
            <a:pPr marL="457200" indent="-457200">
              <a:lnSpc>
                <a:spcPct val="120000"/>
              </a:lnSpc>
              <a:buClr>
                <a:srgbClr val="FF0000"/>
              </a:buClr>
              <a:buFont typeface="Wingdings" panose="05000000000000000000" pitchFamily="2" charset="2"/>
              <a:buAutoNum type="arabicPeriod"/>
            </a:pPr>
            <a:r>
              <a:rPr lang="en-US" altLang="en-US" sz="2800" dirty="0">
                <a:solidFill>
                  <a:srgbClr val="FF0000"/>
                </a:solidFill>
              </a:rPr>
              <a:t>AFTER触发器</a:t>
            </a:r>
            <a:r>
              <a:rPr lang="en-US" altLang="en-US" sz="2800" dirty="0">
                <a:solidFill>
                  <a:schemeClr val="tx1"/>
                </a:solidFill>
              </a:rPr>
              <a:t>。</a:t>
            </a:r>
            <a:r>
              <a:rPr lang="zh-CN" altLang="en-US" sz="2800" dirty="0">
                <a:solidFill>
                  <a:schemeClr val="tx1"/>
                </a:solidFill>
              </a:rPr>
              <a:t>在执行完</a:t>
            </a:r>
            <a:r>
              <a:rPr lang="en-US" altLang="en-US" sz="2800" dirty="0">
                <a:solidFill>
                  <a:schemeClr val="tx1"/>
                </a:solidFill>
              </a:rPr>
              <a:t>INSERT、UPDATE或DELETE</a:t>
            </a:r>
            <a:r>
              <a:rPr lang="zh-CN" altLang="en-US" sz="2800" dirty="0">
                <a:solidFill>
                  <a:schemeClr val="tx1"/>
                </a:solidFill>
              </a:rPr>
              <a:t>等操作并处理完约束之后执行</a:t>
            </a:r>
            <a:r>
              <a:rPr lang="en-US" altLang="en-US" sz="2800" dirty="0">
                <a:solidFill>
                  <a:schemeClr val="tx1"/>
                </a:solidFill>
              </a:rPr>
              <a:t>AFTER触发器。AFTER 触发器</a:t>
            </a:r>
            <a:r>
              <a:rPr lang="en-US" altLang="en-US" sz="2800" dirty="0">
                <a:solidFill>
                  <a:srgbClr val="FF0000"/>
                </a:solidFill>
              </a:rPr>
              <a:t>只能在表上</a:t>
            </a:r>
            <a:r>
              <a:rPr lang="en-US" altLang="en-US" sz="2800" dirty="0">
                <a:solidFill>
                  <a:schemeClr val="tx1"/>
                </a:solidFill>
              </a:rPr>
              <a:t>指定。</a:t>
            </a:r>
            <a:endParaRPr lang="en-US" altLang="en-US" sz="2800" dirty="0">
              <a:solidFill>
                <a:schemeClr val="tx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29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2948" name="Rectangle 3"/>
          <p:cNvSpPr>
            <a:spLocks noGrp="1"/>
          </p:cNvSpPr>
          <p:nvPr>
            <p:ph idx="1"/>
          </p:nvPr>
        </p:nvSpPr>
        <p:spPr>
          <a:xfrm>
            <a:off x="228600" y="762000"/>
            <a:ext cx="8686800" cy="5867400"/>
          </a:xfrm>
          <a:ln/>
        </p:spPr>
        <p:txBody>
          <a:bodyPr vert="horz" wrap="square" lIns="91440" tIns="45720" rIns="91440" bIns="45720" anchor="t" anchorCtr="0"/>
          <a:p>
            <a:pPr marL="609600" indent="-609600">
              <a:lnSpc>
                <a:spcPct val="120000"/>
              </a:lnSpc>
              <a:buClr>
                <a:srgbClr val="FF0000"/>
              </a:buClr>
              <a:buNone/>
            </a:pPr>
            <a:r>
              <a:rPr lang="en-US" altLang="zh-CN" dirty="0">
                <a:solidFill>
                  <a:schemeClr val="tx1"/>
                </a:solidFill>
              </a:rPr>
              <a:t>	</a:t>
            </a:r>
            <a:r>
              <a:rPr lang="zh-CN" altLang="en-US" dirty="0">
                <a:solidFill>
                  <a:schemeClr val="tx1"/>
                </a:solidFill>
              </a:rPr>
              <a:t>触发器、约束共存时执行顺序</a:t>
            </a:r>
            <a:r>
              <a:rPr lang="en-US" altLang="en-US" dirty="0">
                <a:solidFill>
                  <a:schemeClr val="tx1"/>
                </a:solidFill>
              </a:rPr>
              <a:t>： </a:t>
            </a:r>
            <a:endParaRPr lang="en-US" altLang="en-US" dirty="0">
              <a:solidFill>
                <a:schemeClr val="tx1"/>
              </a:solidFill>
            </a:endParaRPr>
          </a:p>
          <a:p>
            <a:pPr marL="609600" indent="-609600">
              <a:lnSpc>
                <a:spcPct val="120000"/>
              </a:lnSpc>
              <a:buClr>
                <a:srgbClr val="FF0000"/>
              </a:buClr>
              <a:buFont typeface="Wingdings" panose="05000000000000000000" pitchFamily="2" charset="2"/>
              <a:buAutoNum type="arabicPeriod"/>
            </a:pPr>
            <a:r>
              <a:rPr lang="en-US" altLang="en-US" dirty="0">
                <a:solidFill>
                  <a:schemeClr val="tx1"/>
                </a:solidFill>
              </a:rPr>
              <a:t>INSTEAD OF触发器</a:t>
            </a:r>
            <a:endParaRPr lang="zh-CN" altLang="en-US" dirty="0">
              <a:solidFill>
                <a:schemeClr val="tx1"/>
              </a:solidFill>
            </a:endParaRPr>
          </a:p>
          <a:p>
            <a:pPr marL="609600" indent="-609600">
              <a:lnSpc>
                <a:spcPct val="120000"/>
              </a:lnSpc>
              <a:buClr>
                <a:srgbClr val="FF0000"/>
              </a:buClr>
              <a:buFont typeface="Wingdings" panose="05000000000000000000" pitchFamily="2" charset="2"/>
              <a:buAutoNum type="arabicPeriod"/>
            </a:pPr>
            <a:r>
              <a:rPr lang="zh-CN" altLang="en-US" dirty="0">
                <a:solidFill>
                  <a:schemeClr val="tx1"/>
                </a:solidFill>
              </a:rPr>
              <a:t>约束检查</a:t>
            </a:r>
            <a:r>
              <a:rPr lang="en-US" altLang="zh-CN" dirty="0">
                <a:solidFill>
                  <a:schemeClr val="tx1"/>
                </a:solidFill>
              </a:rPr>
              <a:t>(Check,References)</a:t>
            </a:r>
            <a:endParaRPr lang="en-US" altLang="zh-CN" dirty="0">
              <a:solidFill>
                <a:schemeClr val="tx1"/>
              </a:solidFill>
            </a:endParaRPr>
          </a:p>
          <a:p>
            <a:pPr marL="609600" indent="-609600">
              <a:lnSpc>
                <a:spcPct val="120000"/>
              </a:lnSpc>
              <a:buClr>
                <a:srgbClr val="FF0000"/>
              </a:buClr>
              <a:buFont typeface="Wingdings" panose="05000000000000000000" pitchFamily="2" charset="2"/>
              <a:buAutoNum type="arabicPeriod"/>
            </a:pPr>
            <a:r>
              <a:rPr lang="zh-CN" altLang="en-US" dirty="0">
                <a:solidFill>
                  <a:schemeClr val="tx1"/>
                </a:solidFill>
              </a:rPr>
              <a:t>引发触发器的操作</a:t>
            </a:r>
            <a:r>
              <a:rPr lang="en-US" altLang="zh-CN" dirty="0">
                <a:solidFill>
                  <a:schemeClr val="tx1"/>
                </a:solidFill>
              </a:rPr>
              <a:t>(insert,delete,update)</a:t>
            </a:r>
            <a:endParaRPr lang="en-US" altLang="zh-CN" dirty="0">
              <a:solidFill>
                <a:schemeClr val="tx1"/>
              </a:solidFill>
            </a:endParaRPr>
          </a:p>
          <a:p>
            <a:pPr marL="609600" indent="-609600">
              <a:lnSpc>
                <a:spcPct val="120000"/>
              </a:lnSpc>
              <a:buClr>
                <a:srgbClr val="FF0000"/>
              </a:buClr>
              <a:buFont typeface="Wingdings" panose="05000000000000000000" pitchFamily="2" charset="2"/>
              <a:buAutoNum type="arabicPeriod"/>
            </a:pPr>
            <a:r>
              <a:rPr lang="zh-CN" altLang="en-US" dirty="0">
                <a:solidFill>
                  <a:schemeClr val="tx1"/>
                </a:solidFill>
              </a:rPr>
              <a:t>级联操作</a:t>
            </a:r>
            <a:r>
              <a:rPr lang="en-US" altLang="zh-CN" dirty="0">
                <a:solidFill>
                  <a:schemeClr val="tx1"/>
                </a:solidFill>
              </a:rPr>
              <a:t>(</a:t>
            </a:r>
            <a:r>
              <a:rPr lang="zh-CN" altLang="en-US" dirty="0">
                <a:solidFill>
                  <a:schemeClr val="tx1"/>
                </a:solidFill>
              </a:rPr>
              <a:t>更新、删除</a:t>
            </a:r>
            <a:r>
              <a:rPr lang="en-US" altLang="zh-CN" dirty="0">
                <a:solidFill>
                  <a:schemeClr val="tx1"/>
                </a:solidFill>
              </a:rPr>
              <a:t>)</a:t>
            </a:r>
            <a:endParaRPr lang="en-US" altLang="zh-CN" dirty="0">
              <a:solidFill>
                <a:schemeClr val="tx1"/>
              </a:solidFill>
            </a:endParaRPr>
          </a:p>
          <a:p>
            <a:pPr marL="609600" indent="-609600">
              <a:lnSpc>
                <a:spcPct val="120000"/>
              </a:lnSpc>
              <a:buClr>
                <a:srgbClr val="FF0000"/>
              </a:buClr>
              <a:buFont typeface="Wingdings" panose="05000000000000000000" pitchFamily="2" charset="2"/>
              <a:buAutoNum type="arabicPeriod"/>
            </a:pPr>
            <a:r>
              <a:rPr lang="en-US" altLang="en-US" dirty="0">
                <a:solidFill>
                  <a:schemeClr val="tx1"/>
                </a:solidFill>
              </a:rPr>
              <a:t>AFTER触发器</a:t>
            </a:r>
            <a:endParaRPr lang="zh-CN" altLang="en-US" dirty="0">
              <a:solidFill>
                <a:schemeClr val="tx1"/>
              </a:solidFill>
            </a:endParaRPr>
          </a:p>
          <a:p>
            <a:pPr marL="609600" indent="-609600">
              <a:lnSpc>
                <a:spcPct val="120000"/>
              </a:lnSpc>
              <a:buClr>
                <a:srgbClr val="FF0000"/>
              </a:buClr>
              <a:buNone/>
            </a:pPr>
            <a:r>
              <a:rPr lang="zh-CN" altLang="en-US" dirty="0">
                <a:solidFill>
                  <a:schemeClr val="tx1"/>
                </a:solidFill>
              </a:rPr>
              <a:t>	注：有</a:t>
            </a:r>
            <a:r>
              <a:rPr lang="en-US" altLang="zh-CN" dirty="0">
                <a:solidFill>
                  <a:schemeClr val="tx1"/>
                </a:solidFill>
              </a:rPr>
              <a:t>instead of</a:t>
            </a:r>
            <a:r>
              <a:rPr lang="zh-CN" altLang="en-US" dirty="0">
                <a:solidFill>
                  <a:schemeClr val="tx1"/>
                </a:solidFill>
              </a:rPr>
              <a:t>时</a:t>
            </a:r>
            <a:r>
              <a:rPr lang="en-US" altLang="zh-CN" dirty="0">
                <a:solidFill>
                  <a:schemeClr val="tx1"/>
                </a:solidFill>
              </a:rPr>
              <a:t>,</a:t>
            </a:r>
            <a:r>
              <a:rPr lang="zh-CN" altLang="en-US" dirty="0">
                <a:solidFill>
                  <a:schemeClr val="tx1"/>
                </a:solidFill>
              </a:rPr>
              <a:t>跳过</a:t>
            </a:r>
            <a:r>
              <a:rPr lang="en-US" altLang="zh-CN" dirty="0">
                <a:solidFill>
                  <a:schemeClr val="tx1"/>
                </a:solidFill>
              </a:rPr>
              <a:t>3</a:t>
            </a:r>
            <a:r>
              <a:rPr lang="zh-CN" altLang="en-US" dirty="0">
                <a:solidFill>
                  <a:schemeClr val="tx1"/>
                </a:solidFill>
              </a:rPr>
              <a:t>。</a:t>
            </a:r>
            <a:r>
              <a:rPr lang="en-US" altLang="zh-CN" dirty="0">
                <a:solidFill>
                  <a:schemeClr val="tx1"/>
                </a:solidFill>
              </a:rPr>
              <a:t>1-5</a:t>
            </a:r>
            <a:r>
              <a:rPr lang="zh-CN" altLang="en-US" dirty="0">
                <a:solidFill>
                  <a:schemeClr val="tx1"/>
                </a:solidFill>
              </a:rPr>
              <a:t>组成事务，任何一处有违完整性则全部回滚。</a:t>
            </a:r>
            <a:endParaRPr lang="en-US" altLang="en-US" dirty="0">
              <a:solidFill>
                <a:schemeClr val="tx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39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3972" name="Rectangle 3"/>
          <p:cNvSpPr>
            <a:spLocks noGrp="1"/>
          </p:cNvSpPr>
          <p:nvPr>
            <p:ph idx="1"/>
          </p:nvPr>
        </p:nvSpPr>
        <p:spPr>
          <a:xfrm>
            <a:off x="228600" y="762000"/>
            <a:ext cx="8686800" cy="5867400"/>
          </a:xfrm>
          <a:ln/>
        </p:spPr>
        <p:txBody>
          <a:bodyPr vert="horz" wrap="square" lIns="91440" tIns="45720" rIns="91440" bIns="45720" anchor="t" anchorCtr="0"/>
          <a:p>
            <a:pPr eaLnBrk="1" hangingPunct="1">
              <a:buNone/>
            </a:pPr>
            <a:r>
              <a:rPr lang="" altLang="zh-CN" b="0" dirty="0">
                <a:solidFill>
                  <a:schemeClr val="accent2"/>
                </a:solidFill>
                <a:latin typeface="Arial" panose="020B0604020202020204" pitchFamily="34" charset="0"/>
                <a:ea typeface="Arial Unicode MS" pitchFamily="34" charset="-122"/>
              </a:rPr>
              <a:t>CREATE TRIGGER</a:t>
            </a:r>
            <a:r>
              <a:rPr lang="" altLang="zh-CN" b="0" dirty="0">
                <a:solidFill>
                  <a:schemeClr val="tx1"/>
                </a:solidFill>
                <a:latin typeface="Arial" panose="020B0604020202020204" pitchFamily="34" charset="0"/>
                <a:ea typeface="Arial Unicode MS" pitchFamily="34" charset="-122"/>
              </a:rPr>
              <a:t> </a:t>
            </a:r>
            <a:r>
              <a:rPr lang="zh-CN" altLang="" b="0" dirty="0">
                <a:solidFill>
                  <a:schemeClr val="tx1"/>
                </a:solidFill>
                <a:latin typeface="Arial" panose="020B0604020202020204" pitchFamily="34" charset="0"/>
                <a:ea typeface="楷体_GB2312" pitchFamily="49" charset="-122"/>
              </a:rPr>
              <a:t>触发器名称</a:t>
            </a:r>
            <a:r>
              <a:rPr lang="zh-CN" altLang="" b="0" dirty="0">
                <a:solidFill>
                  <a:schemeClr val="tx1"/>
                </a:solidFill>
                <a:latin typeface="Arial" panose="020B0604020202020204" pitchFamily="34" charset="0"/>
                <a:ea typeface="Arial Unicode MS" pitchFamily="34" charset="-122"/>
              </a:rPr>
              <a:t> </a:t>
            </a:r>
            <a:endParaRPr lang="zh-CN" altLang="" b="0" dirty="0">
              <a:solidFill>
                <a:schemeClr val="tx1"/>
              </a:solidFill>
              <a:latin typeface="Arial" panose="020B0604020202020204" pitchFamily="34" charset="0"/>
              <a:ea typeface="Arial Unicode MS" pitchFamily="34" charset="-122"/>
            </a:endParaRPr>
          </a:p>
          <a:p>
            <a:pPr eaLnBrk="1" hangingPunct="1">
              <a:buNone/>
            </a:pPr>
            <a:r>
              <a:rPr lang="" altLang="zh-CN" b="0" dirty="0">
                <a:solidFill>
                  <a:schemeClr val="accent2"/>
                </a:solidFill>
                <a:latin typeface="Arial" panose="020B0604020202020204" pitchFamily="34" charset="0"/>
                <a:ea typeface="Arial Unicode MS" pitchFamily="34" charset="-122"/>
              </a:rPr>
              <a:t>ON</a:t>
            </a:r>
            <a:r>
              <a:rPr lang="" altLang="zh-CN" b="0" dirty="0">
                <a:solidFill>
                  <a:schemeClr val="tx1"/>
                </a:solidFill>
                <a:latin typeface="Arial" panose="020B0604020202020204" pitchFamily="34" charset="0"/>
                <a:ea typeface="Arial Unicode MS" pitchFamily="34" charset="-122"/>
              </a:rPr>
              <a:t> </a:t>
            </a:r>
            <a:r>
              <a:rPr lang="en-US" altLang="zh-CN" b="0" dirty="0">
                <a:solidFill>
                  <a:schemeClr val="tx1"/>
                </a:solidFill>
                <a:latin typeface="Arial" panose="020B0604020202020204" pitchFamily="34" charset="0"/>
                <a:ea typeface="Arial Unicode MS" pitchFamily="34" charset="-122"/>
              </a:rPr>
              <a:t> </a:t>
            </a:r>
            <a:r>
              <a:rPr lang="" altLang="zh-CN" b="0" dirty="0">
                <a:solidFill>
                  <a:schemeClr val="tx1"/>
                </a:solidFill>
                <a:latin typeface="Arial" panose="020B0604020202020204" pitchFamily="34" charset="0"/>
                <a:ea typeface="Arial Unicode MS" pitchFamily="34" charset="-122"/>
              </a:rPr>
              <a:t>{ </a:t>
            </a:r>
            <a:r>
              <a:rPr lang="zh-CN" altLang="" b="0" dirty="0">
                <a:solidFill>
                  <a:schemeClr val="tx1"/>
                </a:solidFill>
                <a:latin typeface="Arial" panose="020B0604020202020204" pitchFamily="34" charset="0"/>
                <a:ea typeface="楷体_GB2312" pitchFamily="49" charset="-122"/>
              </a:rPr>
              <a:t>表名</a:t>
            </a:r>
            <a:r>
              <a:rPr lang="" altLang="zh-CN" b="0" dirty="0">
                <a:solidFill>
                  <a:schemeClr val="tx1"/>
                </a:solidFill>
                <a:latin typeface="Arial" panose="020B0604020202020204" pitchFamily="34" charset="0"/>
                <a:ea typeface="Arial Unicode MS" pitchFamily="34" charset="-122"/>
              </a:rPr>
              <a:t>| </a:t>
            </a:r>
            <a:r>
              <a:rPr lang="zh-CN" altLang="" b="0" dirty="0">
                <a:solidFill>
                  <a:schemeClr val="tx1"/>
                </a:solidFill>
                <a:latin typeface="Arial" panose="020B0604020202020204" pitchFamily="34" charset="0"/>
                <a:ea typeface="楷体_GB2312" pitchFamily="49" charset="-122"/>
              </a:rPr>
              <a:t>视图名</a:t>
            </a:r>
            <a:r>
              <a:rPr lang="" altLang="zh-CN" b="0" dirty="0">
                <a:solidFill>
                  <a:schemeClr val="tx1"/>
                </a:solidFill>
                <a:latin typeface="Arial" panose="020B0604020202020204" pitchFamily="34" charset="0"/>
                <a:ea typeface="Arial Unicode MS" pitchFamily="34" charset="-122"/>
              </a:rPr>
              <a:t>} </a:t>
            </a:r>
            <a:endParaRPr lang="en-US" altLang="zh-CN" b="0" dirty="0">
              <a:solidFill>
                <a:schemeClr val="tx1"/>
              </a:solidFill>
              <a:latin typeface="Arial" panose="020B0604020202020204" pitchFamily="34" charset="0"/>
              <a:ea typeface="Arial Unicode MS" pitchFamily="34" charset="-122"/>
            </a:endParaRPr>
          </a:p>
          <a:p>
            <a:pPr eaLnBrk="1" hangingPunct="1">
              <a:buNone/>
            </a:pPr>
            <a:r>
              <a:rPr lang="en-US" altLang="zh-CN" b="0" dirty="0">
                <a:solidFill>
                  <a:schemeClr val="tx1"/>
                </a:solidFill>
                <a:latin typeface="Arial" panose="020B0604020202020204" pitchFamily="34" charset="0"/>
                <a:ea typeface="Arial Unicode MS" pitchFamily="34" charset="-122"/>
              </a:rPr>
              <a:t>{{{</a:t>
            </a:r>
            <a:r>
              <a:rPr lang="" altLang="zh-CN" b="0" dirty="0">
                <a:solidFill>
                  <a:schemeClr val="accent2"/>
                </a:solidFill>
                <a:latin typeface="Arial" panose="020B0604020202020204" pitchFamily="34" charset="0"/>
                <a:ea typeface="Arial Unicode MS" pitchFamily="34" charset="-122"/>
              </a:rPr>
              <a:t> FOR</a:t>
            </a:r>
            <a:r>
              <a:rPr lang="" altLang="zh-CN" b="0" dirty="0">
                <a:solidFill>
                  <a:schemeClr val="tx1"/>
                </a:solidFill>
                <a:latin typeface="Arial" panose="020B0604020202020204" pitchFamily="34" charset="0"/>
                <a:ea typeface="Arial Unicode MS" pitchFamily="34" charset="-122"/>
              </a:rPr>
              <a:t> | </a:t>
            </a:r>
            <a:r>
              <a:rPr lang="" altLang="zh-CN" b="0" dirty="0">
                <a:solidFill>
                  <a:schemeClr val="accent2"/>
                </a:solidFill>
                <a:latin typeface="Arial" panose="020B0604020202020204" pitchFamily="34" charset="0"/>
                <a:ea typeface="Arial Unicode MS" pitchFamily="34" charset="-122"/>
              </a:rPr>
              <a:t>AFTER </a:t>
            </a:r>
            <a:r>
              <a:rPr lang="" altLang="zh-CN" b="0" dirty="0">
                <a:solidFill>
                  <a:schemeClr val="tx1"/>
                </a:solidFill>
                <a:latin typeface="Arial" panose="020B0604020202020204" pitchFamily="34" charset="0"/>
                <a:ea typeface="Arial Unicode MS" pitchFamily="34" charset="-122"/>
              </a:rPr>
              <a:t>| </a:t>
            </a:r>
            <a:r>
              <a:rPr lang="" altLang="zh-CN" b="0" dirty="0">
                <a:solidFill>
                  <a:schemeClr val="accent2"/>
                </a:solidFill>
                <a:latin typeface="Arial" panose="020B0604020202020204" pitchFamily="34" charset="0"/>
                <a:ea typeface="Arial Unicode MS" pitchFamily="34" charset="-122"/>
              </a:rPr>
              <a:t>INSTEAD OF</a:t>
            </a:r>
            <a:r>
              <a:rPr lang="" altLang="zh-CN" b="0" dirty="0">
                <a:solidFill>
                  <a:schemeClr val="tx1"/>
                </a:solidFill>
                <a:latin typeface="Arial" panose="020B0604020202020204" pitchFamily="34" charset="0"/>
                <a:ea typeface="Arial Unicode MS" pitchFamily="34" charset="-122"/>
              </a:rPr>
              <a:t> } { [</a:t>
            </a:r>
            <a:r>
              <a:rPr lang="" altLang="zh-CN" b="0" dirty="0">
                <a:solidFill>
                  <a:schemeClr val="accent2"/>
                </a:solidFill>
                <a:latin typeface="Arial" panose="020B0604020202020204" pitchFamily="34" charset="0"/>
                <a:ea typeface="Arial Unicode MS" pitchFamily="34" charset="-122"/>
              </a:rPr>
              <a:t>DELETE</a:t>
            </a:r>
            <a:r>
              <a:rPr lang="" altLang="zh-CN" b="0" dirty="0">
                <a:solidFill>
                  <a:schemeClr val="tx1"/>
                </a:solidFill>
                <a:latin typeface="Arial" panose="020B0604020202020204" pitchFamily="34" charset="0"/>
                <a:ea typeface="Arial Unicode MS" pitchFamily="34" charset="-122"/>
              </a:rPr>
              <a:t>] [,] [</a:t>
            </a:r>
            <a:r>
              <a:rPr lang="" altLang="zh-CN" b="0" dirty="0">
                <a:solidFill>
                  <a:schemeClr val="accent2"/>
                </a:solidFill>
                <a:latin typeface="Arial" panose="020B0604020202020204" pitchFamily="34" charset="0"/>
                <a:ea typeface="Arial Unicode MS" pitchFamily="34" charset="-122"/>
              </a:rPr>
              <a:t>INSERT</a:t>
            </a:r>
            <a:r>
              <a:rPr lang="" altLang="zh-CN" b="0" dirty="0">
                <a:solidFill>
                  <a:schemeClr val="tx1"/>
                </a:solidFill>
                <a:latin typeface="Arial" panose="020B0604020202020204" pitchFamily="34" charset="0"/>
                <a:ea typeface="Arial Unicode MS" pitchFamily="34" charset="-122"/>
              </a:rPr>
              <a:t>] [,] [</a:t>
            </a:r>
            <a:r>
              <a:rPr lang="" altLang="zh-CN" b="0" dirty="0">
                <a:solidFill>
                  <a:schemeClr val="accent2"/>
                </a:solidFill>
                <a:latin typeface="Arial" panose="020B0604020202020204" pitchFamily="34" charset="0"/>
                <a:ea typeface="Arial Unicode MS" pitchFamily="34" charset="-122"/>
              </a:rPr>
              <a:t>UPDATE</a:t>
            </a:r>
            <a:r>
              <a:rPr lang="" altLang="zh-CN" b="0" dirty="0">
                <a:solidFill>
                  <a:schemeClr val="tx1"/>
                </a:solidFill>
                <a:latin typeface="Arial" panose="020B0604020202020204" pitchFamily="34" charset="0"/>
                <a:ea typeface="Arial Unicode MS" pitchFamily="34" charset="-122"/>
              </a:rPr>
              <a:t>] }</a:t>
            </a:r>
            <a:endParaRPr lang="" altLang="zh-CN" b="0" dirty="0">
              <a:solidFill>
                <a:schemeClr val="tx1"/>
              </a:solidFill>
              <a:latin typeface="Arial" panose="020B0604020202020204" pitchFamily="34" charset="0"/>
              <a:ea typeface="Arial Unicode MS" pitchFamily="34" charset="-122"/>
            </a:endParaRPr>
          </a:p>
          <a:p>
            <a:pPr eaLnBrk="1" hangingPunct="1">
              <a:buNone/>
            </a:pPr>
            <a:r>
              <a:rPr lang="" altLang="zh-CN" b="0" dirty="0">
                <a:solidFill>
                  <a:schemeClr val="accent2"/>
                </a:solidFill>
                <a:latin typeface="Arial" panose="020B0604020202020204" pitchFamily="34" charset="0"/>
                <a:ea typeface="Arial Unicode MS" pitchFamily="34" charset="-122"/>
              </a:rPr>
              <a:t>AS</a:t>
            </a:r>
            <a:endParaRPr lang="" altLang="zh-CN" b="0" dirty="0">
              <a:solidFill>
                <a:schemeClr val="accent2"/>
              </a:solidFill>
              <a:latin typeface="Arial" panose="020B0604020202020204" pitchFamily="34" charset="0"/>
              <a:ea typeface="Arial Unicode MS" pitchFamily="34" charset="-122"/>
            </a:endParaRPr>
          </a:p>
          <a:p>
            <a:pPr eaLnBrk="1" hangingPunct="1">
              <a:buNone/>
            </a:pPr>
            <a:r>
              <a:rPr lang="" altLang="zh-CN" b="0" dirty="0">
                <a:solidFill>
                  <a:schemeClr val="tx1"/>
                </a:solidFill>
                <a:latin typeface="Arial" panose="020B0604020202020204" pitchFamily="34" charset="0"/>
                <a:ea typeface="Arial Unicode MS" pitchFamily="34" charset="-122"/>
              </a:rPr>
              <a:t>  [ { </a:t>
            </a:r>
            <a:r>
              <a:rPr lang="" altLang="zh-CN" b="0" dirty="0">
                <a:solidFill>
                  <a:schemeClr val="accent2"/>
                </a:solidFill>
                <a:latin typeface="Arial" panose="020B0604020202020204" pitchFamily="34" charset="0"/>
                <a:ea typeface="Arial Unicode MS" pitchFamily="34" charset="-122"/>
              </a:rPr>
              <a:t>IF UPDATE</a:t>
            </a:r>
            <a:r>
              <a:rPr lang="" altLang="zh-CN" b="0" dirty="0">
                <a:solidFill>
                  <a:schemeClr val="tx1"/>
                </a:solidFill>
                <a:latin typeface="Arial" panose="020B0604020202020204" pitchFamily="34" charset="0"/>
                <a:ea typeface="Arial Unicode MS" pitchFamily="34" charset="-122"/>
              </a:rPr>
              <a:t> ( column ) [ {</a:t>
            </a:r>
            <a:r>
              <a:rPr lang="" altLang="zh-CN" b="0" dirty="0">
                <a:solidFill>
                  <a:schemeClr val="accent2"/>
                </a:solidFill>
                <a:latin typeface="Arial" panose="020B0604020202020204" pitchFamily="34" charset="0"/>
                <a:ea typeface="Arial Unicode MS" pitchFamily="34" charset="-122"/>
              </a:rPr>
              <a:t> AND</a:t>
            </a:r>
            <a:r>
              <a:rPr lang="" altLang="zh-CN" b="0" dirty="0">
                <a:solidFill>
                  <a:schemeClr val="tx1"/>
                </a:solidFill>
                <a:latin typeface="Arial" panose="020B0604020202020204" pitchFamily="34" charset="0"/>
                <a:ea typeface="Arial Unicode MS" pitchFamily="34" charset="-122"/>
              </a:rPr>
              <a:t> | </a:t>
            </a:r>
            <a:r>
              <a:rPr lang="" altLang="zh-CN" b="0" dirty="0">
                <a:solidFill>
                  <a:schemeClr val="accent2"/>
                </a:solidFill>
                <a:latin typeface="Arial" panose="020B0604020202020204" pitchFamily="34" charset="0"/>
                <a:ea typeface="Arial Unicode MS" pitchFamily="34" charset="-122"/>
              </a:rPr>
              <a:t>OR</a:t>
            </a:r>
            <a:r>
              <a:rPr lang="" altLang="zh-CN" b="0" dirty="0">
                <a:solidFill>
                  <a:schemeClr val="tx1"/>
                </a:solidFill>
                <a:latin typeface="Arial" panose="020B0604020202020204" pitchFamily="34" charset="0"/>
                <a:ea typeface="Arial Unicode MS" pitchFamily="34" charset="-122"/>
              </a:rPr>
              <a:t> } </a:t>
            </a:r>
            <a:r>
              <a:rPr lang="" altLang="zh-CN" b="0" dirty="0">
                <a:solidFill>
                  <a:schemeClr val="accent2"/>
                </a:solidFill>
                <a:latin typeface="Arial" panose="020B0604020202020204" pitchFamily="34" charset="0"/>
                <a:ea typeface="Arial Unicode MS" pitchFamily="34" charset="-122"/>
              </a:rPr>
              <a:t>UPDATE</a:t>
            </a:r>
            <a:r>
              <a:rPr lang="" altLang="zh-CN" b="0" dirty="0">
                <a:solidFill>
                  <a:schemeClr val="tx1"/>
                </a:solidFill>
                <a:latin typeface="Arial" panose="020B0604020202020204" pitchFamily="34" charset="0"/>
                <a:ea typeface="Arial Unicode MS" pitchFamily="34" charset="-122"/>
              </a:rPr>
              <a:t> ( column ) ] [ ...n ] } ] </a:t>
            </a:r>
            <a:endParaRPr lang="" altLang="zh-CN" b="0" dirty="0">
              <a:solidFill>
                <a:schemeClr val="tx1"/>
              </a:solidFill>
              <a:latin typeface="Arial" panose="020B0604020202020204" pitchFamily="34" charset="0"/>
              <a:ea typeface="Arial Unicode MS" pitchFamily="34" charset="-122"/>
            </a:endParaRPr>
          </a:p>
          <a:p>
            <a:pPr eaLnBrk="1" hangingPunct="1">
              <a:buNone/>
            </a:pPr>
            <a:r>
              <a:rPr lang="" altLang="zh-CN" b="0" dirty="0">
                <a:solidFill>
                  <a:schemeClr val="tx1"/>
                </a:solidFill>
                <a:latin typeface="Arial" panose="020B0604020202020204" pitchFamily="34" charset="0"/>
                <a:ea typeface="Arial Unicode MS" pitchFamily="34" charset="-122"/>
              </a:rPr>
              <a:t>        SQL</a:t>
            </a:r>
            <a:r>
              <a:rPr lang="zh-CN" altLang="" b="0" dirty="0">
                <a:solidFill>
                  <a:schemeClr val="tx1"/>
                </a:solidFill>
                <a:latin typeface="Arial" panose="020B0604020202020204" pitchFamily="34" charset="0"/>
                <a:ea typeface="Arial Unicode MS" pitchFamily="34" charset="-122"/>
              </a:rPr>
              <a:t>语句 </a:t>
            </a:r>
            <a:r>
              <a:rPr lang="" altLang="zh-CN" b="0" dirty="0">
                <a:solidFill>
                  <a:schemeClr val="tx1"/>
                </a:solidFill>
                <a:latin typeface="Arial" panose="020B0604020202020204" pitchFamily="34" charset="0"/>
                <a:ea typeface="Arial Unicode MS" pitchFamily="34" charset="-122"/>
              </a:rPr>
              <a:t>[ ...n ] </a:t>
            </a:r>
            <a:endParaRPr lang="" altLang="zh-CN" b="0" dirty="0">
              <a:solidFill>
                <a:schemeClr val="tx1"/>
              </a:solidFill>
              <a:latin typeface="Arial" panose="020B0604020202020204" pitchFamily="34" charset="0"/>
              <a:ea typeface="Arial Unicode MS" pitchFamily="34" charset="-122"/>
            </a:endParaRPr>
          </a:p>
          <a:p>
            <a:pPr eaLnBrk="1" hangingPunct="1">
              <a:buNone/>
            </a:pPr>
            <a:r>
              <a:rPr lang="" altLang="zh-CN" b="0" dirty="0">
                <a:solidFill>
                  <a:schemeClr val="tx1"/>
                </a:solidFill>
                <a:latin typeface="Arial" panose="020B0604020202020204" pitchFamily="34" charset="0"/>
                <a:ea typeface="Arial Unicode MS" pitchFamily="34" charset="-122"/>
              </a:rPr>
              <a:t>    } </a:t>
            </a:r>
            <a:endParaRPr lang="" altLang="zh-CN" b="0" dirty="0">
              <a:solidFill>
                <a:schemeClr val="tx1"/>
              </a:solidFill>
              <a:latin typeface="Arial" panose="020B0604020202020204" pitchFamily="34" charset="0"/>
              <a:ea typeface="Arial Unicode MS" pitchFamily="34" charset="-122"/>
            </a:endParaRPr>
          </a:p>
          <a:p>
            <a:pPr eaLnBrk="1" hangingPunct="1">
              <a:buNone/>
            </a:pPr>
            <a:r>
              <a:rPr lang="" altLang="zh-CN" b="0" dirty="0">
                <a:solidFill>
                  <a:schemeClr val="tx1"/>
                </a:solidFill>
                <a:latin typeface="Arial" panose="020B0604020202020204" pitchFamily="34" charset="0"/>
                <a:ea typeface="Arial Unicode MS" pitchFamily="34" charset="-122"/>
              </a:rPr>
              <a:t>}</a:t>
            </a:r>
            <a:r>
              <a:rPr lang=""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499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4996" name="Rectangle 3"/>
          <p:cNvSpPr>
            <a:spLocks noGrp="1"/>
          </p:cNvSpPr>
          <p:nvPr>
            <p:ph idx="1"/>
          </p:nvPr>
        </p:nvSpPr>
        <p:spPr>
          <a:xfrm>
            <a:off x="228600" y="762000"/>
            <a:ext cx="8686800" cy="5867400"/>
          </a:xfrm>
          <a:ln/>
        </p:spPr>
        <p:txBody>
          <a:bodyPr vert="horz" wrap="square" lIns="91440" tIns="45720" rIns="91440" bIns="45720" anchor="t" anchorCtr="0"/>
          <a:p>
            <a:pPr>
              <a:lnSpc>
                <a:spcPct val="120000"/>
              </a:lnSpc>
              <a:buClr>
                <a:srgbClr val="FF0000"/>
              </a:buClr>
            </a:pPr>
            <a:r>
              <a:rPr lang="zh-CN" altLang="en-US" sz="2400" dirty="0">
                <a:solidFill>
                  <a:schemeClr val="tx1"/>
                </a:solidFill>
              </a:rPr>
              <a:t>必须是批处理中的第一条语句，且仅应用一表</a:t>
            </a:r>
            <a:endParaRPr lang="zh-CN" altLang="en-US" sz="2400" dirty="0">
              <a:solidFill>
                <a:schemeClr val="tx1"/>
              </a:solidFill>
            </a:endParaRPr>
          </a:p>
          <a:p>
            <a:pPr>
              <a:lnSpc>
                <a:spcPct val="120000"/>
              </a:lnSpc>
              <a:buClr>
                <a:srgbClr val="FF0000"/>
              </a:buClr>
            </a:pPr>
            <a:r>
              <a:rPr lang="zh-CN" altLang="en-US" sz="2400" dirty="0">
                <a:solidFill>
                  <a:schemeClr val="tx1"/>
                </a:solidFill>
              </a:rPr>
              <a:t>只能在当前数据库创建，尽管可以引用外部对象 </a:t>
            </a:r>
            <a:endParaRPr lang="zh-CN" altLang="en-US" sz="2400" dirty="0">
              <a:solidFill>
                <a:schemeClr val="tx1"/>
              </a:solidFill>
            </a:endParaRPr>
          </a:p>
          <a:p>
            <a:pPr>
              <a:lnSpc>
                <a:spcPct val="120000"/>
              </a:lnSpc>
              <a:buClr>
                <a:srgbClr val="FF0000"/>
              </a:buClr>
            </a:pPr>
            <a:r>
              <a:rPr lang="zh-CN" altLang="en-US" sz="2400" dirty="0">
                <a:solidFill>
                  <a:schemeClr val="tx1"/>
                </a:solidFill>
              </a:rPr>
              <a:t> 在一个表上可以建立多个名称不同、类型各异的触发器，每个触发器可由所有三种操作来引发。但对于</a:t>
            </a:r>
            <a:r>
              <a:rPr lang="en-US" altLang="zh-CN" sz="2400" dirty="0">
                <a:solidFill>
                  <a:schemeClr val="tx1"/>
                </a:solidFill>
              </a:rPr>
              <a:t>INSTEAD OF</a:t>
            </a:r>
            <a:r>
              <a:rPr lang="zh-CN" altLang="en-US" sz="2400" dirty="0">
                <a:solidFill>
                  <a:schemeClr val="tx1"/>
                </a:solidFill>
              </a:rPr>
              <a:t>触发器，在一种操作上只能建立一个触发器</a:t>
            </a:r>
            <a:endParaRPr lang="zh-CN" altLang="en-US" sz="2400" dirty="0">
              <a:solidFill>
                <a:schemeClr val="tx1"/>
              </a:solidFill>
            </a:endParaRPr>
          </a:p>
          <a:p>
            <a:pPr>
              <a:lnSpc>
                <a:spcPct val="120000"/>
              </a:lnSpc>
              <a:buClr>
                <a:srgbClr val="FF0000"/>
              </a:buClr>
            </a:pPr>
            <a:r>
              <a:rPr lang="zh-CN" altLang="en-US" sz="2400" dirty="0">
                <a:solidFill>
                  <a:schemeClr val="tx1"/>
                </a:solidFill>
              </a:rPr>
              <a:t>大部分</a:t>
            </a:r>
            <a:r>
              <a:rPr lang="en-US" altLang="zh-CN" sz="2400" dirty="0">
                <a:solidFill>
                  <a:schemeClr val="tx1"/>
                </a:solidFill>
              </a:rPr>
              <a:t>SQL</a:t>
            </a:r>
            <a:r>
              <a:rPr lang="zh-CN" altLang="en-US" sz="2400" dirty="0">
                <a:solidFill>
                  <a:schemeClr val="tx1"/>
                </a:solidFill>
              </a:rPr>
              <a:t>语句都可用在触发器中，但也有限制。如</a:t>
            </a:r>
            <a:r>
              <a:rPr lang="en-US" altLang="zh-CN" sz="2400" dirty="0">
                <a:solidFill>
                  <a:schemeClr val="tx1"/>
                </a:solidFill>
              </a:rPr>
              <a:t>DDL </a:t>
            </a:r>
            <a:endParaRPr lang="en-US" altLang="zh-CN" sz="2400" dirty="0">
              <a:solidFill>
                <a:schemeClr val="tx1"/>
              </a:solidFill>
            </a:endParaRPr>
          </a:p>
          <a:p>
            <a:pPr>
              <a:lnSpc>
                <a:spcPct val="120000"/>
              </a:lnSpc>
              <a:buClr>
                <a:srgbClr val="FF0000"/>
              </a:buClr>
            </a:pPr>
            <a:r>
              <a:rPr lang="zh-CN" altLang="en-US" sz="2400" dirty="0">
                <a:solidFill>
                  <a:schemeClr val="tx1"/>
                </a:solidFill>
              </a:rPr>
              <a:t>可以使用</a:t>
            </a:r>
            <a:r>
              <a:rPr lang="en-US" altLang="zh-CN" sz="2400" dirty="0">
                <a:solidFill>
                  <a:schemeClr val="tx1"/>
                </a:solidFill>
              </a:rPr>
              <a:t>IF UPDATE</a:t>
            </a:r>
            <a:r>
              <a:rPr lang="zh-CN" altLang="en-US" sz="2400" dirty="0">
                <a:solidFill>
                  <a:schemeClr val="tx1"/>
                </a:solidFill>
              </a:rPr>
              <a:t>子句来测试在</a:t>
            </a:r>
            <a:r>
              <a:rPr lang="en-US" altLang="zh-CN" sz="2400" dirty="0">
                <a:solidFill>
                  <a:schemeClr val="tx1"/>
                </a:solidFill>
              </a:rPr>
              <a:t>INSERT</a:t>
            </a:r>
            <a:r>
              <a:rPr lang="zh-CN" altLang="en-US" sz="2400" dirty="0">
                <a:solidFill>
                  <a:schemeClr val="tx1"/>
                </a:solidFill>
              </a:rPr>
              <a:t>和</a:t>
            </a:r>
            <a:r>
              <a:rPr lang="en-US" altLang="zh-CN" sz="2400" dirty="0">
                <a:solidFill>
                  <a:schemeClr val="tx1"/>
                </a:solidFill>
              </a:rPr>
              <a:t>UPDATE</a:t>
            </a:r>
            <a:r>
              <a:rPr lang="zh-CN" altLang="en-US" sz="2400" dirty="0">
                <a:solidFill>
                  <a:schemeClr val="tx1"/>
                </a:solidFill>
              </a:rPr>
              <a:t>语句中是否对指定的列有影响。如果将一个值赋给指定的列或更改了列的值，则这个子句就返回真</a:t>
            </a:r>
            <a:endParaRPr lang="zh-CN" altLang="en-US" sz="2400" dirty="0">
              <a:solidFill>
                <a:schemeClr val="tx1"/>
              </a:solidFill>
            </a:endParaRPr>
          </a:p>
          <a:p>
            <a:pPr>
              <a:lnSpc>
                <a:spcPct val="120000"/>
              </a:lnSpc>
              <a:buClr>
                <a:srgbClr val="FF0000"/>
              </a:buClr>
            </a:pPr>
            <a:r>
              <a:rPr lang="zh-CN" altLang="en-US" sz="2400" dirty="0">
                <a:solidFill>
                  <a:schemeClr val="tx1"/>
                </a:solidFill>
              </a:rPr>
              <a:t>可以使用两个特殊的临时表：</a:t>
            </a:r>
            <a:r>
              <a:rPr lang="en-US" altLang="zh-CN" sz="2400" dirty="0">
                <a:solidFill>
                  <a:schemeClr val="accent2"/>
                </a:solidFill>
              </a:rPr>
              <a:t>INSERTED</a:t>
            </a:r>
            <a:r>
              <a:rPr lang="zh-CN" altLang="en-US" sz="2400" dirty="0">
                <a:solidFill>
                  <a:schemeClr val="tx1"/>
                </a:solidFill>
              </a:rPr>
              <a:t>和</a:t>
            </a:r>
            <a:r>
              <a:rPr lang="en-US" altLang="zh-CN" sz="2400" dirty="0">
                <a:solidFill>
                  <a:schemeClr val="accent2"/>
                </a:solidFill>
              </a:rPr>
              <a:t>DELETED</a:t>
            </a:r>
            <a:endParaRPr lang="en-US" altLang="zh-CN" sz="2400" dirty="0">
              <a:solidFill>
                <a:schemeClr val="accent2"/>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60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6020" name="Rectangle 3"/>
          <p:cNvSpPr>
            <a:spLocks noGrp="1"/>
          </p:cNvSpPr>
          <p:nvPr>
            <p:ph idx="1"/>
          </p:nvPr>
        </p:nvSpPr>
        <p:spPr>
          <a:xfrm>
            <a:off x="228600" y="762000"/>
            <a:ext cx="8686800" cy="5867400"/>
          </a:xfrm>
          <a:ln/>
        </p:spPr>
        <p:txBody>
          <a:bodyPr vert="horz" wrap="square" lIns="91440" tIns="45720" rIns="91440" bIns="45720" anchor="t" anchorCtr="0"/>
          <a:p>
            <a:pPr>
              <a:lnSpc>
                <a:spcPct val="105000"/>
              </a:lnSpc>
              <a:buClr>
                <a:srgbClr val="FF0000"/>
              </a:buClr>
            </a:pPr>
            <a:r>
              <a:rPr lang="en-US" altLang="zh-CN" dirty="0">
                <a:solidFill>
                  <a:schemeClr val="tx1"/>
                </a:solidFill>
              </a:rPr>
              <a:t>Inserted</a:t>
            </a:r>
            <a:endParaRPr lang="en-US" altLang="zh-CN" dirty="0">
              <a:solidFill>
                <a:schemeClr val="tx1"/>
              </a:solidFill>
            </a:endParaRPr>
          </a:p>
          <a:p>
            <a:pPr lvl="1">
              <a:lnSpc>
                <a:spcPct val="105000"/>
              </a:lnSpc>
            </a:pPr>
            <a:r>
              <a:rPr lang="zh-CN" altLang="en-US" sz="3200" dirty="0"/>
              <a:t>新插入的数据</a:t>
            </a:r>
            <a:r>
              <a:rPr lang="en-US" altLang="zh-CN" sz="3200" dirty="0"/>
              <a:t>(insert</a:t>
            </a:r>
            <a:r>
              <a:rPr lang="zh-CN" altLang="en-US" sz="3200" dirty="0"/>
              <a:t>时</a:t>
            </a:r>
            <a:r>
              <a:rPr lang="en-US" altLang="zh-CN" sz="3200" dirty="0"/>
              <a:t>)</a:t>
            </a:r>
            <a:endParaRPr lang="en-US" altLang="zh-CN" sz="3200" dirty="0"/>
          </a:p>
          <a:p>
            <a:pPr lvl="1">
              <a:lnSpc>
                <a:spcPct val="105000"/>
              </a:lnSpc>
            </a:pPr>
            <a:r>
              <a:rPr lang="zh-CN" altLang="en-US" sz="3200" dirty="0"/>
              <a:t>更新后的数据</a:t>
            </a:r>
            <a:r>
              <a:rPr lang="en-US" altLang="zh-CN" sz="3200" dirty="0"/>
              <a:t>(update</a:t>
            </a:r>
            <a:r>
              <a:rPr lang="zh-CN" altLang="en-US" sz="3200" dirty="0"/>
              <a:t>时</a:t>
            </a:r>
            <a:r>
              <a:rPr lang="en-US" altLang="zh-CN" sz="3200" dirty="0"/>
              <a:t>)</a:t>
            </a:r>
            <a:endParaRPr lang="en-US" altLang="zh-CN" sz="3200" dirty="0"/>
          </a:p>
          <a:p>
            <a:pPr>
              <a:lnSpc>
                <a:spcPct val="105000"/>
              </a:lnSpc>
              <a:buClr>
                <a:srgbClr val="FF0000"/>
              </a:buClr>
            </a:pPr>
            <a:r>
              <a:rPr lang="en-US" altLang="zh-CN" dirty="0">
                <a:solidFill>
                  <a:schemeClr val="tx1"/>
                </a:solidFill>
              </a:rPr>
              <a:t>Deleted</a:t>
            </a:r>
            <a:endParaRPr lang="en-US" altLang="zh-CN" dirty="0">
              <a:solidFill>
                <a:schemeClr val="tx1"/>
              </a:solidFill>
            </a:endParaRPr>
          </a:p>
          <a:p>
            <a:pPr lvl="1">
              <a:lnSpc>
                <a:spcPct val="105000"/>
              </a:lnSpc>
            </a:pPr>
            <a:r>
              <a:rPr lang="zh-CN" altLang="en-US" sz="3200" dirty="0"/>
              <a:t>被删的数据</a:t>
            </a:r>
            <a:r>
              <a:rPr lang="en-US" altLang="zh-CN" sz="3200" dirty="0"/>
              <a:t>(delete</a:t>
            </a:r>
            <a:r>
              <a:rPr lang="zh-CN" altLang="en-US" sz="3200" dirty="0"/>
              <a:t>时</a:t>
            </a:r>
            <a:r>
              <a:rPr lang="en-US" altLang="zh-CN" sz="3200" dirty="0"/>
              <a:t>)</a:t>
            </a:r>
            <a:endParaRPr lang="en-US" altLang="zh-CN" sz="3200" dirty="0"/>
          </a:p>
          <a:p>
            <a:pPr lvl="1">
              <a:lnSpc>
                <a:spcPct val="105000"/>
              </a:lnSpc>
            </a:pPr>
            <a:r>
              <a:rPr lang="zh-CN" altLang="en-US" sz="3200" dirty="0"/>
              <a:t>更新前的数据</a:t>
            </a:r>
            <a:r>
              <a:rPr lang="en-US" altLang="zh-CN" sz="3200" dirty="0"/>
              <a:t>(update</a:t>
            </a:r>
            <a:r>
              <a:rPr lang="zh-CN" altLang="en-US" sz="3200" dirty="0"/>
              <a:t>时</a:t>
            </a:r>
            <a:r>
              <a:rPr lang="en-US" altLang="zh-CN" sz="3200" dirty="0"/>
              <a:t>)</a:t>
            </a:r>
            <a:endParaRPr lang="en-US" altLang="zh-CN" sz="3200" dirty="0"/>
          </a:p>
          <a:p>
            <a:pPr>
              <a:lnSpc>
                <a:spcPct val="105000"/>
              </a:lnSpc>
              <a:buClr>
                <a:srgbClr val="FF0000"/>
              </a:buClr>
            </a:pPr>
            <a:r>
              <a:rPr lang="zh-CN" altLang="en-US" sz="3600" dirty="0">
                <a:solidFill>
                  <a:schemeClr val="tx1"/>
                </a:solidFill>
              </a:rPr>
              <a:t>由</a:t>
            </a:r>
            <a:r>
              <a:rPr lang="en-US" altLang="zh-CN" dirty="0">
                <a:solidFill>
                  <a:schemeClr val="tx1"/>
                </a:solidFill>
              </a:rPr>
              <a:t>DBMS</a:t>
            </a:r>
            <a:r>
              <a:rPr lang="zh-CN" altLang="en-US" dirty="0">
                <a:solidFill>
                  <a:schemeClr val="tx1"/>
                </a:solidFill>
              </a:rPr>
              <a:t>自动创建和维护，与基表同构</a:t>
            </a:r>
            <a:endParaRPr lang="zh-CN" altLang="en-US" dirty="0">
              <a:solidFill>
                <a:schemeClr val="tx1"/>
              </a:solidFill>
            </a:endParaRPr>
          </a:p>
          <a:p>
            <a:pPr>
              <a:lnSpc>
                <a:spcPct val="105000"/>
              </a:lnSpc>
              <a:buClr>
                <a:srgbClr val="FF0000"/>
              </a:buClr>
            </a:pPr>
            <a:r>
              <a:rPr lang="zh-CN" altLang="en-US" dirty="0">
                <a:solidFill>
                  <a:schemeClr val="tx1"/>
                </a:solidFill>
              </a:rPr>
              <a:t>生存期：触发器内，随触发器结束而释放</a:t>
            </a:r>
            <a:endParaRPr lang="zh-CN" altLang="en-US" dirty="0">
              <a:solidFill>
                <a:schemeClr val="tx1"/>
              </a:solidFill>
            </a:endParaRPr>
          </a:p>
          <a:p>
            <a:pPr>
              <a:lnSpc>
                <a:spcPct val="105000"/>
              </a:lnSpc>
              <a:buClr>
                <a:srgbClr val="FF0000"/>
              </a:buClr>
            </a:pPr>
            <a:r>
              <a:rPr lang="zh-CN" altLang="en-US" dirty="0">
                <a:solidFill>
                  <a:schemeClr val="tx1"/>
                </a:solidFill>
              </a:rPr>
              <a:t>可查询，但不能修改两表的内容</a:t>
            </a:r>
            <a:endParaRPr lang="zh-CN" altLang="en-US" dirty="0">
              <a:solidFill>
                <a:schemeClr val="tx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70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7044" name="Rectangle 3"/>
          <p:cNvSpPr>
            <a:spLocks noGrp="1"/>
          </p:cNvSpPr>
          <p:nvPr>
            <p:ph idx="1"/>
          </p:nvPr>
        </p:nvSpPr>
        <p:spPr>
          <a:xfrm>
            <a:off x="228600" y="762000"/>
            <a:ext cx="8686800" cy="5867400"/>
          </a:xfrm>
          <a:ln/>
        </p:spPr>
        <p:txBody>
          <a:bodyPr vert="horz" wrap="square" lIns="91440" tIns="45720" rIns="91440" bIns="45720" anchor="t" anchorCtr="0"/>
          <a:p>
            <a:pPr>
              <a:lnSpc>
                <a:spcPct val="105000"/>
              </a:lnSpc>
              <a:buClr>
                <a:srgbClr val="FF0000"/>
              </a:buClr>
              <a:buNone/>
            </a:pPr>
            <a:r>
              <a:rPr lang="en-US" altLang="zh-CN" dirty="0">
                <a:solidFill>
                  <a:schemeClr val="tx1"/>
                </a:solidFill>
              </a:rPr>
              <a:t>	【</a:t>
            </a:r>
            <a:r>
              <a:rPr lang="zh-CN" altLang="en-US" dirty="0">
                <a:solidFill>
                  <a:schemeClr val="tx1"/>
                </a:solidFill>
              </a:rPr>
              <a:t>例</a:t>
            </a:r>
            <a:r>
              <a:rPr lang="en-US" altLang="zh-CN" dirty="0">
                <a:solidFill>
                  <a:schemeClr val="tx1"/>
                </a:solidFill>
              </a:rPr>
              <a:t>9】</a:t>
            </a:r>
            <a:r>
              <a:rPr lang="zh-CN" altLang="en-US" dirty="0">
                <a:solidFill>
                  <a:schemeClr val="tx1"/>
                </a:solidFill>
              </a:rPr>
              <a:t>用触发器取代</a:t>
            </a:r>
            <a:r>
              <a:rPr lang="en-US" altLang="zh-CN" dirty="0">
                <a:solidFill>
                  <a:schemeClr val="tx1"/>
                </a:solidFill>
              </a:rPr>
              <a:t>student</a:t>
            </a:r>
            <a:r>
              <a:rPr lang="zh-CN" altLang="en-US" dirty="0">
                <a:solidFill>
                  <a:schemeClr val="tx1"/>
                </a:solidFill>
              </a:rPr>
              <a:t>表中的约束</a:t>
            </a:r>
            <a:r>
              <a:rPr lang="en-US" altLang="zh-CN" dirty="0">
                <a:solidFill>
                  <a:schemeClr val="tx1"/>
                </a:solidFill>
              </a:rPr>
              <a:t>CK_ssex(</a:t>
            </a:r>
            <a:r>
              <a:rPr lang="zh-CN" altLang="en-US" dirty="0">
                <a:solidFill>
                  <a:schemeClr val="tx1"/>
                </a:solidFill>
              </a:rPr>
              <a:t>例</a:t>
            </a:r>
            <a:r>
              <a:rPr lang="en-US" altLang="zh-CN" dirty="0">
                <a:solidFill>
                  <a:schemeClr val="tx1"/>
                </a:solidFill>
              </a:rPr>
              <a:t>7)</a:t>
            </a:r>
            <a:r>
              <a:rPr lang="zh-CN" altLang="en-US" dirty="0">
                <a:solidFill>
                  <a:schemeClr val="tx1"/>
                </a:solidFill>
              </a:rPr>
              <a:t>。</a:t>
            </a:r>
            <a:r>
              <a:rPr lang="en-US" altLang="zh-CN" dirty="0">
                <a:solidFill>
                  <a:schemeClr val="tx1"/>
                </a:solidFill>
              </a:rPr>
              <a:t>(</a:t>
            </a:r>
            <a:r>
              <a:rPr lang="zh-CN" altLang="en-US" dirty="0">
                <a:solidFill>
                  <a:schemeClr val="tx1"/>
                </a:solidFill>
              </a:rPr>
              <a:t>两句须分开执行）</a:t>
            </a:r>
            <a:endParaRPr lang="zh-CN" altLang="en-US" dirty="0">
              <a:solidFill>
                <a:schemeClr val="tx1"/>
              </a:solidFill>
            </a:endParaRPr>
          </a:p>
          <a:p>
            <a:pPr>
              <a:lnSpc>
                <a:spcPct val="105000"/>
              </a:lnSpc>
              <a:buClr>
                <a:srgbClr val="FF0000"/>
              </a:buClr>
              <a:buNone/>
            </a:pPr>
            <a:r>
              <a:rPr lang="zh-CN" altLang="en-US" dirty="0">
                <a:solidFill>
                  <a:schemeClr val="tx1"/>
                </a:solidFill>
              </a:rPr>
              <a:t>		</a:t>
            </a:r>
            <a:r>
              <a:rPr lang="en-US" altLang="zh-CN" sz="2400" dirty="0">
                <a:solidFill>
                  <a:schemeClr val="accent2"/>
                </a:solidFill>
              </a:rPr>
              <a:t>alter table</a:t>
            </a:r>
            <a:r>
              <a:rPr lang="en-US" altLang="zh-CN" sz="2400" dirty="0">
                <a:solidFill>
                  <a:schemeClr val="tx1"/>
                </a:solidFill>
              </a:rPr>
              <a:t> student </a:t>
            </a:r>
            <a:r>
              <a:rPr lang="en-US" altLang="zh-CN" sz="2400" dirty="0">
                <a:solidFill>
                  <a:schemeClr val="accent2"/>
                </a:solidFill>
              </a:rPr>
              <a:t>drop</a:t>
            </a:r>
            <a:r>
              <a:rPr lang="en-US" altLang="zh-CN" sz="2400" dirty="0">
                <a:solidFill>
                  <a:schemeClr val="tx1"/>
                </a:solidFill>
              </a:rPr>
              <a:t> CK_ssex   </a:t>
            </a:r>
            <a:endParaRPr lang="en-US" altLang="zh-CN" sz="2400" dirty="0">
              <a:solidFill>
                <a:schemeClr val="tx1"/>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create trigger</a:t>
            </a:r>
            <a:r>
              <a:rPr lang="en-US" altLang="zh-CN" sz="2400" dirty="0">
                <a:solidFill>
                  <a:schemeClr val="tx1"/>
                </a:solidFill>
              </a:rPr>
              <a:t> tri_student_ssex</a:t>
            </a:r>
            <a:endParaRPr lang="en-US" altLang="zh-CN" sz="2400" dirty="0">
              <a:solidFill>
                <a:schemeClr val="tx1"/>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on</a:t>
            </a:r>
            <a:r>
              <a:rPr lang="en-US" altLang="zh-CN" sz="2400" dirty="0">
                <a:solidFill>
                  <a:schemeClr val="tx1"/>
                </a:solidFill>
              </a:rPr>
              <a:t> student </a:t>
            </a:r>
            <a:r>
              <a:rPr lang="en-US" altLang="zh-CN" sz="2400" dirty="0">
                <a:solidFill>
                  <a:schemeClr val="accent2"/>
                </a:solidFill>
              </a:rPr>
              <a:t>for insert</a:t>
            </a:r>
            <a:r>
              <a:rPr lang="en-US" altLang="zh-CN" sz="2400" dirty="0">
                <a:solidFill>
                  <a:schemeClr val="tx1"/>
                </a:solidFill>
              </a:rPr>
              <a:t>,</a:t>
            </a:r>
            <a:r>
              <a:rPr lang="en-US" altLang="zh-CN" sz="2400" dirty="0">
                <a:solidFill>
                  <a:schemeClr val="accent2"/>
                </a:solidFill>
              </a:rPr>
              <a:t>update</a:t>
            </a:r>
            <a:endParaRPr lang="en-US" altLang="zh-CN" sz="2400" dirty="0">
              <a:solidFill>
                <a:schemeClr val="accent2"/>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as</a:t>
            </a:r>
            <a:r>
              <a:rPr lang="en-US" altLang="zh-CN" sz="2400" dirty="0">
                <a:solidFill>
                  <a:schemeClr val="tx1"/>
                </a:solidFill>
              </a:rPr>
              <a:t> </a:t>
            </a:r>
            <a:endParaRPr lang="en-US" altLang="zh-CN" sz="2400" dirty="0">
              <a:solidFill>
                <a:schemeClr val="tx1"/>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if</a:t>
            </a:r>
            <a:r>
              <a:rPr lang="en-US" altLang="zh-CN" sz="2400" dirty="0">
                <a:solidFill>
                  <a:schemeClr val="tx1"/>
                </a:solidFill>
              </a:rPr>
              <a:t> </a:t>
            </a:r>
            <a:r>
              <a:rPr lang="en-US" altLang="zh-CN" sz="2400" dirty="0">
                <a:solidFill>
                  <a:srgbClr val="CC0066"/>
                </a:solidFill>
              </a:rPr>
              <a:t>exists</a:t>
            </a:r>
            <a:r>
              <a:rPr lang="en-US" altLang="zh-CN" sz="2400" dirty="0">
                <a:solidFill>
                  <a:schemeClr val="tx1"/>
                </a:solidFill>
              </a:rPr>
              <a:t> (</a:t>
            </a:r>
            <a:r>
              <a:rPr lang="en-US" altLang="zh-CN" sz="2400" dirty="0">
                <a:solidFill>
                  <a:schemeClr val="accent2"/>
                </a:solidFill>
              </a:rPr>
              <a:t>select</a:t>
            </a:r>
            <a:r>
              <a:rPr lang="en-US" altLang="zh-CN" sz="2400" dirty="0">
                <a:solidFill>
                  <a:schemeClr val="tx1"/>
                </a:solidFill>
              </a:rPr>
              <a:t> * </a:t>
            </a:r>
            <a:r>
              <a:rPr lang="en-US" altLang="zh-CN" sz="2400" dirty="0">
                <a:solidFill>
                  <a:schemeClr val="accent2"/>
                </a:solidFill>
              </a:rPr>
              <a:t>from</a:t>
            </a:r>
            <a:r>
              <a:rPr lang="en-US" altLang="zh-CN" sz="2400" dirty="0">
                <a:solidFill>
                  <a:schemeClr val="tx1"/>
                </a:solidFill>
              </a:rPr>
              <a:t> inserted </a:t>
            </a:r>
            <a:endParaRPr lang="en-US" altLang="zh-CN" sz="2400" dirty="0">
              <a:solidFill>
                <a:schemeClr val="tx1"/>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where</a:t>
            </a:r>
            <a:r>
              <a:rPr lang="en-US" altLang="zh-CN" sz="2400" dirty="0">
                <a:solidFill>
                  <a:schemeClr val="tx1"/>
                </a:solidFill>
              </a:rPr>
              <a:t> ssex not in (</a:t>
            </a:r>
            <a:r>
              <a:rPr lang="en-US" altLang="zh-CN" sz="2400" dirty="0">
                <a:solidFill>
                  <a:srgbClr val="FF0000"/>
                </a:solidFill>
              </a:rPr>
              <a:t>‘</a:t>
            </a:r>
            <a:r>
              <a:rPr lang="zh-CN" altLang="en-US" sz="2400" dirty="0">
                <a:solidFill>
                  <a:srgbClr val="FF0000"/>
                </a:solidFill>
              </a:rPr>
              <a:t>男’</a:t>
            </a:r>
            <a:r>
              <a:rPr lang="en-US" altLang="zh-CN" sz="2400" dirty="0">
                <a:solidFill>
                  <a:schemeClr val="tx1"/>
                </a:solidFill>
              </a:rPr>
              <a:t>,</a:t>
            </a:r>
            <a:r>
              <a:rPr lang="en-US" altLang="zh-CN" sz="2400" dirty="0">
                <a:solidFill>
                  <a:srgbClr val="FF0000"/>
                </a:solidFill>
              </a:rPr>
              <a:t>’</a:t>
            </a:r>
            <a:r>
              <a:rPr lang="zh-CN" altLang="en-US" sz="2400" dirty="0">
                <a:solidFill>
                  <a:srgbClr val="FF0000"/>
                </a:solidFill>
              </a:rPr>
              <a:t>女’</a:t>
            </a:r>
            <a:r>
              <a:rPr lang="en-US" altLang="zh-CN" sz="2400" dirty="0">
                <a:solidFill>
                  <a:schemeClr val="tx1"/>
                </a:solidFill>
              </a:rPr>
              <a:t>))</a:t>
            </a:r>
            <a:endParaRPr lang="en-US" altLang="zh-CN" sz="2400" dirty="0">
              <a:solidFill>
                <a:schemeClr val="tx1"/>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begin</a:t>
            </a:r>
            <a:endParaRPr lang="en-US" altLang="zh-CN" sz="2400" dirty="0">
              <a:solidFill>
                <a:schemeClr val="accent2"/>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print</a:t>
            </a:r>
            <a:r>
              <a:rPr lang="en-US" altLang="zh-CN" sz="2400" dirty="0">
                <a:solidFill>
                  <a:schemeClr val="tx1"/>
                </a:solidFill>
              </a:rPr>
              <a:t> </a:t>
            </a:r>
            <a:r>
              <a:rPr lang="en-US" altLang="zh-CN" sz="2400" dirty="0">
                <a:solidFill>
                  <a:srgbClr val="FF0000"/>
                </a:solidFill>
              </a:rPr>
              <a:t>‘</a:t>
            </a:r>
            <a:r>
              <a:rPr lang="zh-CN" altLang="en-US" sz="2400" dirty="0">
                <a:solidFill>
                  <a:srgbClr val="FF0000"/>
                </a:solidFill>
              </a:rPr>
              <a:t>性别栏只能填写男或女</a:t>
            </a:r>
            <a:r>
              <a:rPr lang="en-US" altLang="zh-CN" sz="2400" dirty="0">
                <a:solidFill>
                  <a:srgbClr val="FF0000"/>
                </a:solidFill>
              </a:rPr>
              <a:t>'</a:t>
            </a:r>
            <a:endParaRPr lang="en-US" altLang="zh-CN" sz="2400" dirty="0">
              <a:solidFill>
                <a:srgbClr val="FF0000"/>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rollback</a:t>
            </a:r>
            <a:endParaRPr lang="en-US" altLang="zh-CN" sz="2400" dirty="0">
              <a:solidFill>
                <a:schemeClr val="accent2"/>
              </a:solidFill>
            </a:endParaRPr>
          </a:p>
          <a:p>
            <a:pPr>
              <a:lnSpc>
                <a:spcPct val="105000"/>
              </a:lnSpc>
              <a:buClr>
                <a:srgbClr val="FF0000"/>
              </a:buClr>
              <a:buNone/>
            </a:pPr>
            <a:r>
              <a:rPr lang="en-US" altLang="zh-CN" sz="2400" dirty="0">
                <a:solidFill>
                  <a:schemeClr val="tx1"/>
                </a:solidFill>
              </a:rPr>
              <a:t>			</a:t>
            </a:r>
            <a:r>
              <a:rPr lang="en-US" altLang="zh-CN" sz="2400" dirty="0">
                <a:solidFill>
                  <a:schemeClr val="accent2"/>
                </a:solidFill>
              </a:rPr>
              <a:t>end</a:t>
            </a:r>
            <a:endParaRPr lang="en-US" altLang="zh-CN" sz="2400" dirty="0">
              <a:solidFill>
                <a:schemeClr val="accent2"/>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80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8068" name="Rectangle 3"/>
          <p:cNvSpPr>
            <a:spLocks noGrp="1"/>
          </p:cNvSpPr>
          <p:nvPr>
            <p:ph idx="1"/>
          </p:nvPr>
        </p:nvSpPr>
        <p:spPr>
          <a:xfrm>
            <a:off x="228600" y="762000"/>
            <a:ext cx="8686800" cy="5867400"/>
          </a:xfrm>
          <a:ln/>
        </p:spPr>
        <p:txBody>
          <a:bodyPr vert="horz" wrap="square" lIns="91440" tIns="45720" rIns="91440" bIns="45720" anchor="t" anchorCtr="0"/>
          <a:p>
            <a:pPr>
              <a:lnSpc>
                <a:spcPct val="105000"/>
              </a:lnSpc>
              <a:buClr>
                <a:srgbClr val="FF0000"/>
              </a:buClr>
              <a:buNone/>
            </a:pPr>
            <a:r>
              <a:rPr lang="en-US" altLang="zh-CN" dirty="0">
                <a:solidFill>
                  <a:schemeClr val="tx1"/>
                </a:solidFill>
              </a:rPr>
              <a:t>	</a:t>
            </a: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10】</a:t>
            </a:r>
            <a:r>
              <a:rPr lang="zh-CN" altLang="en-US" sz="2800" dirty="0">
                <a:solidFill>
                  <a:schemeClr val="tx1"/>
                </a:solidFill>
              </a:rPr>
              <a:t>在成绩表</a:t>
            </a:r>
            <a:r>
              <a:rPr lang="en-US" altLang="zh-CN" sz="2800" dirty="0">
                <a:solidFill>
                  <a:schemeClr val="tx1"/>
                </a:solidFill>
              </a:rPr>
              <a:t>SC</a:t>
            </a:r>
            <a:r>
              <a:rPr lang="zh-CN" altLang="en-US" sz="2800" dirty="0">
                <a:solidFill>
                  <a:schemeClr val="tx1"/>
                </a:solidFill>
              </a:rPr>
              <a:t>上创建更新触发器，禁止将不及格的成绩改为及格。</a:t>
            </a:r>
            <a:endParaRPr lang="zh-CN" altLang="en-US" sz="2800" dirty="0">
              <a:solidFill>
                <a:schemeClr val="tx1"/>
              </a:solidFill>
            </a:endParaRPr>
          </a:p>
          <a:p>
            <a:pPr>
              <a:lnSpc>
                <a:spcPct val="105000"/>
              </a:lnSpc>
              <a:buClr>
                <a:srgbClr val="FF0000"/>
              </a:buClr>
              <a:buNone/>
            </a:pPr>
            <a:r>
              <a:rPr lang="zh-CN" altLang="en-US" sz="1800" dirty="0">
                <a:solidFill>
                  <a:schemeClr val="tx1"/>
                </a:solidFill>
              </a:rPr>
              <a:t>	</a:t>
            </a:r>
            <a:r>
              <a:rPr lang="en-US" altLang="zh-CN" sz="1800" b="0" dirty="0">
                <a:solidFill>
                  <a:schemeClr val="accent2"/>
                </a:solidFill>
                <a:latin typeface="Arial" panose="020B0604020202020204" pitchFamily="34" charset="0"/>
              </a:rPr>
              <a:t>CREATE TRIGGER</a:t>
            </a:r>
            <a:r>
              <a:rPr lang="en-US" altLang="zh-CN" sz="1800" b="0" dirty="0">
                <a:solidFill>
                  <a:schemeClr val="tx1"/>
                </a:solidFill>
                <a:latin typeface="Arial" panose="020B0604020202020204" pitchFamily="34" charset="0"/>
              </a:rPr>
              <a:t> tri_sc_grade_update</a:t>
            </a:r>
            <a:endParaRPr lang="en-US" altLang="zh-CN" sz="1800" b="0" dirty="0">
              <a:solidFill>
                <a:schemeClr val="tx1"/>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ON</a:t>
            </a:r>
            <a:r>
              <a:rPr lang="en-US" altLang="zh-CN" sz="1800" b="0" dirty="0">
                <a:solidFill>
                  <a:schemeClr val="tx1"/>
                </a:solidFill>
                <a:latin typeface="Arial" panose="020B0604020202020204" pitchFamily="34" charset="0"/>
              </a:rPr>
              <a:t> sc </a:t>
            </a:r>
            <a:r>
              <a:rPr lang="en-US" altLang="zh-CN" sz="1800" b="0" dirty="0">
                <a:solidFill>
                  <a:schemeClr val="accent2"/>
                </a:solidFill>
                <a:latin typeface="Arial" panose="020B0604020202020204" pitchFamily="34" charset="0"/>
              </a:rPr>
              <a:t>FOR UPDATE</a:t>
            </a:r>
            <a:endParaRPr lang="en-US" altLang="zh-CN" sz="1800" b="0" dirty="0">
              <a:solidFill>
                <a:schemeClr val="accent2"/>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AS</a:t>
            </a:r>
            <a:endParaRPr lang="en-US" altLang="zh-CN" sz="1800" b="0" dirty="0">
              <a:solidFill>
                <a:schemeClr val="accent2"/>
              </a:solidFill>
              <a:latin typeface="Arial" panose="020B0604020202020204" pitchFamily="34" charset="0"/>
            </a:endParaRPr>
          </a:p>
          <a:p>
            <a:pPr>
              <a:lnSpc>
                <a:spcPct val="105000"/>
              </a:lnSpc>
              <a:buClr>
                <a:srgbClr val="FF0000"/>
              </a:buClr>
              <a:buNone/>
            </a:pPr>
            <a:endParaRPr lang="en-US" altLang="zh-CN" sz="1800" b="0" dirty="0">
              <a:solidFill>
                <a:schemeClr val="tx1"/>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IF</a:t>
            </a: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UPDATE</a:t>
            </a:r>
            <a:r>
              <a:rPr lang="en-US" altLang="zh-CN" sz="1800" b="0" dirty="0">
                <a:solidFill>
                  <a:schemeClr val="tx1"/>
                </a:solidFill>
                <a:latin typeface="Arial" panose="020B0604020202020204" pitchFamily="34" charset="0"/>
              </a:rPr>
              <a:t>(Grade) </a:t>
            </a:r>
            <a:endParaRPr lang="en-US" altLang="zh-CN" sz="1800" b="0" dirty="0">
              <a:solidFill>
                <a:schemeClr val="tx1"/>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IF</a:t>
            </a:r>
            <a:r>
              <a:rPr lang="en-US" altLang="zh-CN" sz="1800" b="0" dirty="0">
                <a:solidFill>
                  <a:schemeClr val="tx1"/>
                </a:solidFill>
                <a:latin typeface="Arial" panose="020B0604020202020204" pitchFamily="34" charset="0"/>
              </a:rPr>
              <a:t> EXISTS (</a:t>
            </a:r>
            <a:r>
              <a:rPr lang="en-US" altLang="zh-CN" sz="1800" b="0" dirty="0">
                <a:solidFill>
                  <a:schemeClr val="accent2"/>
                </a:solidFill>
                <a:latin typeface="Arial" panose="020B0604020202020204" pitchFamily="34" charset="0"/>
              </a:rPr>
              <a:t>SELECT</a:t>
            </a:r>
            <a:r>
              <a:rPr lang="en-US" altLang="zh-CN" sz="1800" b="0" dirty="0">
                <a:solidFill>
                  <a:schemeClr val="tx1"/>
                </a:solidFill>
                <a:latin typeface="Arial" panose="020B0604020202020204" pitchFamily="34" charset="0"/>
              </a:rPr>
              <a:t> * </a:t>
            </a:r>
            <a:r>
              <a:rPr lang="en-US" altLang="zh-CN" sz="1800" b="0" dirty="0">
                <a:solidFill>
                  <a:schemeClr val="accent2"/>
                </a:solidFill>
                <a:latin typeface="Arial" panose="020B0604020202020204" pitchFamily="34" charset="0"/>
              </a:rPr>
              <a:t>FROM</a:t>
            </a:r>
            <a:r>
              <a:rPr lang="en-US" altLang="zh-CN" sz="1800" b="0" dirty="0">
                <a:solidFill>
                  <a:schemeClr val="tx1"/>
                </a:solidFill>
                <a:latin typeface="Arial" panose="020B0604020202020204" pitchFamily="34" charset="0"/>
              </a:rPr>
              <a:t> INSERTED </a:t>
            </a:r>
            <a:endParaRPr lang="en-US" altLang="zh-CN" sz="1800" b="0" dirty="0">
              <a:solidFill>
                <a:schemeClr val="tx1"/>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JOIN</a:t>
            </a:r>
            <a:r>
              <a:rPr lang="en-US" altLang="zh-CN" sz="1800" b="0" dirty="0">
                <a:solidFill>
                  <a:schemeClr val="tx1"/>
                </a:solidFill>
                <a:latin typeface="Arial" panose="020B0604020202020204" pitchFamily="34" charset="0"/>
              </a:rPr>
              <a:t> DELETED </a:t>
            </a:r>
            <a:r>
              <a:rPr lang="en-US" altLang="zh-CN" sz="1800" b="0" dirty="0">
                <a:solidFill>
                  <a:schemeClr val="accent2"/>
                </a:solidFill>
                <a:latin typeface="Arial" panose="020B0604020202020204" pitchFamily="34" charset="0"/>
              </a:rPr>
              <a:t>ON</a:t>
            </a:r>
            <a:r>
              <a:rPr lang="en-US" altLang="zh-CN" sz="1800" b="0" dirty="0">
                <a:solidFill>
                  <a:schemeClr val="tx1"/>
                </a:solidFill>
                <a:latin typeface="Arial" panose="020B0604020202020204" pitchFamily="34" charset="0"/>
              </a:rPr>
              <a:t> INSERTED.sno = DELETED.sno </a:t>
            </a:r>
            <a:endParaRPr lang="en-US" altLang="zh-CN" sz="1800" b="0" dirty="0">
              <a:solidFill>
                <a:schemeClr val="tx1"/>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WHERE</a:t>
            </a:r>
            <a:r>
              <a:rPr lang="en-US" altLang="zh-CN" sz="1800" b="0" dirty="0">
                <a:solidFill>
                  <a:schemeClr val="tx1"/>
                </a:solidFill>
                <a:latin typeface="Arial" panose="020B0604020202020204" pitchFamily="34" charset="0"/>
              </a:rPr>
              <a:t> INSERTED.Grade &gt;= 60  </a:t>
            </a:r>
            <a:r>
              <a:rPr lang="en-US" altLang="zh-CN" sz="1800" b="0" dirty="0">
                <a:solidFill>
                  <a:schemeClr val="accent2"/>
                </a:solidFill>
                <a:latin typeface="Arial" panose="020B0604020202020204" pitchFamily="34" charset="0"/>
              </a:rPr>
              <a:t>AND</a:t>
            </a:r>
            <a:endParaRPr lang="en-US" altLang="zh-CN" sz="1800" b="0" dirty="0">
              <a:solidFill>
                <a:schemeClr val="accent2"/>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DELETED.Grade &lt; 60)</a:t>
            </a:r>
            <a:endParaRPr lang="en-US" altLang="zh-CN" sz="1800" b="0" dirty="0">
              <a:solidFill>
                <a:schemeClr val="tx1"/>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BEGIN</a:t>
            </a:r>
            <a:endParaRPr lang="en-US" altLang="zh-CN" sz="1800" b="0" dirty="0">
              <a:solidFill>
                <a:schemeClr val="accent2"/>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PRINT</a:t>
            </a:r>
            <a:r>
              <a:rPr lang="en-US" altLang="zh-CN" sz="1800" b="0" dirty="0">
                <a:solidFill>
                  <a:schemeClr val="tx1"/>
                </a:solidFill>
                <a:latin typeface="Arial" panose="020B0604020202020204" pitchFamily="34" charset="0"/>
              </a:rPr>
              <a:t>  </a:t>
            </a:r>
            <a:r>
              <a:rPr lang="en-US" altLang="zh-CN" sz="1800" dirty="0">
                <a:solidFill>
                  <a:srgbClr val="FF0000"/>
                </a:solidFill>
                <a:latin typeface="Arial" panose="020B0604020202020204" pitchFamily="34" charset="0"/>
              </a:rPr>
              <a:t>'</a:t>
            </a:r>
            <a:r>
              <a:rPr lang="zh-CN" altLang="en-US" sz="1800" dirty="0">
                <a:solidFill>
                  <a:srgbClr val="FF0000"/>
                </a:solidFill>
                <a:latin typeface="Arial" panose="020B0604020202020204" pitchFamily="34" charset="0"/>
              </a:rPr>
              <a:t>禁止将不及格的成绩改为及格</a:t>
            </a:r>
            <a:r>
              <a:rPr lang="en-US" altLang="zh-CN" sz="1800" dirty="0">
                <a:solidFill>
                  <a:srgbClr val="FF0000"/>
                </a:solidFill>
                <a:latin typeface="Arial" panose="020B0604020202020204" pitchFamily="34" charset="0"/>
              </a:rPr>
              <a:t>'</a:t>
            </a:r>
            <a:endParaRPr lang="en-US" altLang="zh-CN" sz="1800" dirty="0">
              <a:solidFill>
                <a:srgbClr val="FF0000"/>
              </a:solidFill>
              <a:latin typeface="Arial" panose="020B0604020202020204" pitchFamily="34" charset="0"/>
            </a:endParaRPr>
          </a:p>
          <a:p>
            <a:pPr>
              <a:lnSpc>
                <a:spcPct val="105000"/>
              </a:lnSpc>
              <a:buClr>
                <a:srgbClr val="FF0000"/>
              </a:buClr>
              <a:buNone/>
            </a:pPr>
            <a:r>
              <a:rPr lang="en-US" altLang="zh-CN" sz="1800" b="0" dirty="0">
                <a:solidFill>
                  <a:schemeClr val="tx1"/>
                </a:solidFill>
                <a:latin typeface="Arial" panose="020B0604020202020204" pitchFamily="34" charset="0"/>
              </a:rPr>
              <a:t>           </a:t>
            </a:r>
            <a:r>
              <a:rPr lang="en-US" altLang="zh-CN" sz="1800" b="0" dirty="0">
                <a:solidFill>
                  <a:schemeClr val="accent2"/>
                </a:solidFill>
                <a:latin typeface="Arial" panose="020B0604020202020204" pitchFamily="34" charset="0"/>
              </a:rPr>
              <a:t>ROLLBACK</a:t>
            </a:r>
            <a:endParaRPr lang="en-US" altLang="zh-CN" sz="1800" b="0" dirty="0">
              <a:solidFill>
                <a:schemeClr val="accent2"/>
              </a:solidFill>
              <a:latin typeface="Arial" panose="020B0604020202020204" pitchFamily="34" charset="0"/>
            </a:endParaRPr>
          </a:p>
          <a:p>
            <a:pPr>
              <a:lnSpc>
                <a:spcPct val="105000"/>
              </a:lnSpc>
              <a:buClr>
                <a:srgbClr val="FF0000"/>
              </a:buClr>
              <a:buNone/>
            </a:pPr>
            <a:r>
              <a:rPr lang="en-US" altLang="zh-CN" sz="1800" b="0" dirty="0">
                <a:solidFill>
                  <a:schemeClr val="accent2"/>
                </a:solidFill>
                <a:latin typeface="Arial" panose="020B0604020202020204" pitchFamily="34" charset="0"/>
              </a:rPr>
              <a:t>      END</a:t>
            </a:r>
            <a:endParaRPr lang="en-US" altLang="zh-CN" sz="1800" b="0" dirty="0">
              <a:solidFill>
                <a:schemeClr val="accent2"/>
              </a:solidFill>
              <a:latin typeface="Arial" panose="020B0604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90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89092"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en-US" altLang="zh-CN" dirty="0">
                <a:solidFill>
                  <a:schemeClr val="tx1"/>
                </a:solidFill>
              </a:rPr>
              <a:t>	</a:t>
            </a: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11】</a:t>
            </a:r>
            <a:r>
              <a:rPr lang="zh-CN" altLang="en-US" sz="2800" dirty="0">
                <a:solidFill>
                  <a:schemeClr val="tx1"/>
                </a:solidFill>
              </a:rPr>
              <a:t>在成绩表</a:t>
            </a:r>
            <a:r>
              <a:rPr lang="en-US" altLang="zh-CN" sz="2800" dirty="0">
                <a:solidFill>
                  <a:schemeClr val="tx1"/>
                </a:solidFill>
              </a:rPr>
              <a:t>SC</a:t>
            </a:r>
            <a:r>
              <a:rPr lang="zh-CN" altLang="en-US" sz="2800" dirty="0">
                <a:solidFill>
                  <a:schemeClr val="tx1"/>
                </a:solidFill>
              </a:rPr>
              <a:t>上创建更新触发器</a:t>
            </a:r>
            <a:r>
              <a:rPr lang="en-US" altLang="zh-CN" sz="2800" dirty="0">
                <a:solidFill>
                  <a:schemeClr val="tx1"/>
                </a:solidFill>
              </a:rPr>
              <a:t>,</a:t>
            </a:r>
            <a:r>
              <a:rPr lang="zh-CN" altLang="en-US" sz="2800" dirty="0">
                <a:solidFill>
                  <a:schemeClr val="tx1"/>
                </a:solidFill>
              </a:rPr>
              <a:t>记下成绩修改的历史</a:t>
            </a:r>
            <a:r>
              <a:rPr lang="en-US" altLang="zh-CN" sz="2800" dirty="0">
                <a:solidFill>
                  <a:schemeClr val="tx1"/>
                </a:solidFill>
              </a:rPr>
              <a:t>,</a:t>
            </a:r>
            <a:r>
              <a:rPr lang="zh-CN" altLang="en-US" sz="2800" dirty="0">
                <a:solidFill>
                  <a:schemeClr val="tx1"/>
                </a:solidFill>
              </a:rPr>
              <a:t>每当成绩发生修改时</a:t>
            </a:r>
            <a:r>
              <a:rPr lang="en-US" altLang="zh-CN" sz="2800" dirty="0">
                <a:solidFill>
                  <a:schemeClr val="tx1"/>
                </a:solidFill>
              </a:rPr>
              <a:t>,</a:t>
            </a:r>
            <a:r>
              <a:rPr lang="zh-CN" altLang="en-US" sz="2800" dirty="0">
                <a:solidFill>
                  <a:schemeClr val="tx1"/>
                </a:solidFill>
              </a:rPr>
              <a:t>就将修改的时间、修改前后的成绩记到另外一张表</a:t>
            </a:r>
            <a:r>
              <a:rPr lang="en-US" altLang="zh-CN" sz="2800" dirty="0">
                <a:solidFill>
                  <a:schemeClr val="tx1"/>
                </a:solidFill>
              </a:rPr>
              <a:t>SC_UPDATE_LOG</a:t>
            </a:r>
            <a:r>
              <a:rPr lang="zh-CN" altLang="en-US" sz="2800" dirty="0">
                <a:solidFill>
                  <a:schemeClr val="tx1"/>
                </a:solidFill>
              </a:rPr>
              <a:t>中</a:t>
            </a:r>
            <a:r>
              <a:rPr lang="en-US" altLang="zh-CN" sz="2800" dirty="0">
                <a:solidFill>
                  <a:schemeClr val="tx1"/>
                </a:solidFill>
              </a:rPr>
              <a:t>,</a:t>
            </a:r>
            <a:r>
              <a:rPr lang="zh-CN" altLang="en-US" sz="2800" dirty="0">
                <a:solidFill>
                  <a:schemeClr val="tx1"/>
                </a:solidFill>
              </a:rPr>
              <a:t>该表的内容包括：流水号</a:t>
            </a:r>
            <a:r>
              <a:rPr lang="en-US" altLang="zh-CN" sz="2800" dirty="0">
                <a:solidFill>
                  <a:schemeClr val="tx1"/>
                </a:solidFill>
              </a:rPr>
              <a:t>(</a:t>
            </a:r>
            <a:r>
              <a:rPr lang="zh-CN" altLang="en-US" sz="2800" dirty="0">
                <a:solidFill>
                  <a:schemeClr val="tx1"/>
                </a:solidFill>
              </a:rPr>
              <a:t>自动编号</a:t>
            </a:r>
            <a:r>
              <a:rPr lang="en-US" altLang="zh-CN" sz="2800" dirty="0">
                <a:solidFill>
                  <a:schemeClr val="tx1"/>
                </a:solidFill>
              </a:rPr>
              <a:t>)</a:t>
            </a:r>
            <a:r>
              <a:rPr lang="zh-CN" altLang="en-US" sz="2800" dirty="0">
                <a:solidFill>
                  <a:schemeClr val="tx1"/>
                </a:solidFill>
              </a:rPr>
              <a:t>、修改时间、学号、课程号、原成绩、修改后的成绩。请先建此表，然后再建触发器。</a:t>
            </a:r>
            <a:endParaRPr lang="zh-CN" altLang="en-US" sz="2800" dirty="0">
              <a:solidFill>
                <a:schemeClr val="tx1"/>
              </a:solidFill>
            </a:endParaRPr>
          </a:p>
          <a:p>
            <a:pPr>
              <a:lnSpc>
                <a:spcPct val="105000"/>
              </a:lnSpc>
              <a:buClr>
                <a:srgbClr val="FF0000"/>
              </a:buClr>
              <a:buNone/>
            </a:pPr>
            <a:r>
              <a:rPr lang="zh-CN" altLang="en-US"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CREATE TABLE</a:t>
            </a:r>
            <a:r>
              <a:rPr lang="en-US" altLang="zh-CN" sz="2400" b="0" dirty="0">
                <a:solidFill>
                  <a:schemeClr val="tx1"/>
                </a:solidFill>
                <a:latin typeface="Arial" panose="020B0604020202020204" pitchFamily="34" charset="0"/>
              </a:rPr>
              <a:t> sc_update_log (</a:t>
            </a:r>
            <a:endParaRPr lang="en-US" altLang="zh-CN" sz="2400" b="0" dirty="0">
              <a:solidFill>
                <a:schemeClr val="tx1"/>
              </a:solidFill>
              <a:latin typeface="Arial" panose="020B0604020202020204" pitchFamily="34" charset="0"/>
            </a:endParaRPr>
          </a:p>
          <a:p>
            <a:pPr>
              <a:lnSpc>
                <a:spcPct val="105000"/>
              </a:lnSpc>
              <a:buClr>
                <a:srgbClr val="FF0000"/>
              </a:buClr>
              <a:buNone/>
            </a:pPr>
            <a:r>
              <a:rPr lang="en-US" altLang="zh-CN" sz="2400" b="0" dirty="0">
                <a:solidFill>
                  <a:schemeClr val="tx1"/>
                </a:solidFill>
                <a:latin typeface="Arial" panose="020B0604020202020204" pitchFamily="34" charset="0"/>
              </a:rPr>
              <a:t>    			SID </a:t>
            </a:r>
            <a:r>
              <a:rPr lang="en-US" altLang="zh-CN" sz="2400" b="0" dirty="0">
                <a:solidFill>
                  <a:schemeClr val="accent2"/>
                </a:solidFill>
                <a:latin typeface="Arial" panose="020B0604020202020204" pitchFamily="34" charset="0"/>
              </a:rPr>
              <a:t>int</a:t>
            </a:r>
            <a:r>
              <a:rPr lang="en-US" altLang="zh-CN" sz="2400" b="0" dirty="0">
                <a:solidFill>
                  <a:schemeClr val="tx1"/>
                </a:solidFill>
                <a:latin typeface="Arial" panose="020B0604020202020204" pitchFamily="34" charset="0"/>
              </a:rPr>
              <a:t> </a:t>
            </a:r>
            <a:r>
              <a:rPr lang="en-US" altLang="zh-CN" sz="2400" b="0" dirty="0">
                <a:solidFill>
                  <a:schemeClr val="accent2"/>
                </a:solidFill>
                <a:latin typeface="Arial" panose="020B0604020202020204" pitchFamily="34" charset="0"/>
              </a:rPr>
              <a:t>IDENTITY PRIMARY KEY</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a:lnSpc>
                <a:spcPct val="105000"/>
              </a:lnSpc>
              <a:buClr>
                <a:srgbClr val="FF0000"/>
              </a:buClr>
              <a:buNone/>
            </a:pPr>
            <a:r>
              <a:rPr lang="en-US" altLang="zh-CN" sz="2400" b="0" dirty="0">
                <a:solidFill>
                  <a:schemeClr val="tx1"/>
                </a:solidFill>
                <a:latin typeface="Arial" panose="020B0604020202020204" pitchFamily="34" charset="0"/>
              </a:rPr>
              <a:t>    			UpdateTime  </a:t>
            </a:r>
            <a:r>
              <a:rPr lang="en-US" altLang="zh-CN" sz="2400" b="0" dirty="0">
                <a:solidFill>
                  <a:schemeClr val="accent2"/>
                </a:solidFill>
                <a:latin typeface="Arial" panose="020B0604020202020204" pitchFamily="34" charset="0"/>
              </a:rPr>
              <a:t>datetime</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a:lnSpc>
                <a:spcPct val="105000"/>
              </a:lnSpc>
              <a:buClr>
                <a:srgbClr val="FF0000"/>
              </a:buClr>
              <a:buNone/>
            </a:pPr>
            <a:r>
              <a:rPr lang="en-US" altLang="zh-CN" sz="2400" b="0" dirty="0">
                <a:solidFill>
                  <a:schemeClr val="tx1"/>
                </a:solidFill>
                <a:latin typeface="Arial" panose="020B0604020202020204" pitchFamily="34" charset="0"/>
              </a:rPr>
              <a:t>    			Sno </a:t>
            </a:r>
            <a:r>
              <a:rPr lang="en-US" altLang="zh-CN" sz="2400" b="0" dirty="0">
                <a:solidFill>
                  <a:schemeClr val="accent2"/>
                </a:solidFill>
                <a:latin typeface="Arial" panose="020B0604020202020204" pitchFamily="34" charset="0"/>
              </a:rPr>
              <a:t> char</a:t>
            </a:r>
            <a:r>
              <a:rPr lang="en-US" altLang="zh-CN" sz="2400" b="0" dirty="0">
                <a:solidFill>
                  <a:schemeClr val="tx1"/>
                </a:solidFill>
                <a:latin typeface="Arial" panose="020B0604020202020204" pitchFamily="34" charset="0"/>
              </a:rPr>
              <a:t>(8), Cno  </a:t>
            </a:r>
            <a:r>
              <a:rPr lang="en-US" altLang="zh-CN" sz="2400" b="0" dirty="0">
                <a:solidFill>
                  <a:schemeClr val="accent2"/>
                </a:solidFill>
                <a:latin typeface="Arial" panose="020B0604020202020204" pitchFamily="34" charset="0"/>
              </a:rPr>
              <a:t>char</a:t>
            </a:r>
            <a:r>
              <a:rPr lang="en-US" altLang="zh-CN" sz="2400" b="0" dirty="0">
                <a:solidFill>
                  <a:schemeClr val="tx1"/>
                </a:solidFill>
                <a:latin typeface="Arial" panose="020B0604020202020204" pitchFamily="34" charset="0"/>
              </a:rPr>
              <a:t>(7),</a:t>
            </a:r>
            <a:endParaRPr lang="en-US" altLang="zh-CN" sz="2400" b="0" dirty="0">
              <a:solidFill>
                <a:schemeClr val="tx1"/>
              </a:solidFill>
              <a:latin typeface="Arial" panose="020B0604020202020204" pitchFamily="34" charset="0"/>
            </a:endParaRPr>
          </a:p>
          <a:p>
            <a:pPr>
              <a:lnSpc>
                <a:spcPct val="105000"/>
              </a:lnSpc>
              <a:buClr>
                <a:srgbClr val="FF0000"/>
              </a:buClr>
              <a:buNone/>
            </a:pPr>
            <a:r>
              <a:rPr lang="en-US" altLang="zh-CN" sz="2400" b="0" dirty="0">
                <a:solidFill>
                  <a:schemeClr val="tx1"/>
                </a:solidFill>
                <a:latin typeface="Arial" panose="020B0604020202020204" pitchFamily="34" charset="0"/>
              </a:rPr>
              <a:t>    			Old_Grade </a:t>
            </a:r>
            <a:r>
              <a:rPr lang="en-US" altLang="zh-CN" sz="2400" b="0" dirty="0">
                <a:solidFill>
                  <a:schemeClr val="accent2"/>
                </a:solidFill>
                <a:latin typeface="Arial" panose="020B0604020202020204" pitchFamily="34" charset="0"/>
              </a:rPr>
              <a:t>smallint</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a:p>
            <a:pPr>
              <a:lnSpc>
                <a:spcPct val="105000"/>
              </a:lnSpc>
              <a:buClr>
                <a:srgbClr val="FF0000"/>
              </a:buClr>
              <a:buNone/>
            </a:pPr>
            <a:r>
              <a:rPr lang="en-US" altLang="zh-CN" sz="2400" b="0" dirty="0">
                <a:solidFill>
                  <a:schemeClr val="tx1"/>
                </a:solidFill>
                <a:latin typeface="Arial" panose="020B0604020202020204" pitchFamily="34" charset="0"/>
              </a:rPr>
              <a:t>    			Grade </a:t>
            </a:r>
            <a:r>
              <a:rPr lang="en-US" altLang="zh-CN" sz="2400" b="0" dirty="0">
                <a:solidFill>
                  <a:schemeClr val="accent2"/>
                </a:solidFill>
                <a:latin typeface="Arial" panose="020B0604020202020204" pitchFamily="34" charset="0"/>
              </a:rPr>
              <a:t>smallint</a:t>
            </a:r>
            <a:endParaRPr lang="en-US" altLang="zh-CN" sz="2400" b="0" dirty="0">
              <a:solidFill>
                <a:schemeClr val="accent2"/>
              </a:solidFill>
              <a:latin typeface="Arial" panose="020B0604020202020204" pitchFamily="34" charset="0"/>
            </a:endParaRPr>
          </a:p>
          <a:p>
            <a:pPr>
              <a:lnSpc>
                <a:spcPct val="105000"/>
              </a:lnSpc>
              <a:buClr>
                <a:srgbClr val="FF0000"/>
              </a:buClr>
              <a:buNone/>
            </a:pPr>
            <a:r>
              <a:rPr lang="en-US" altLang="zh-CN" sz="2400" b="0" dirty="0">
                <a:solidFill>
                  <a:schemeClr val="accent2"/>
                </a:solidFill>
                <a:latin typeface="Arial" panose="020B0604020202020204" pitchFamily="34" charset="0"/>
              </a:rPr>
              <a:t>		</a:t>
            </a:r>
            <a:r>
              <a:rPr lang="en-US" altLang="zh-CN" sz="2400" b="0" dirty="0">
                <a:solidFill>
                  <a:schemeClr val="tx1"/>
                </a:solidFill>
                <a:latin typeface="Arial" panose="020B0604020202020204" pitchFamily="34" charset="0"/>
              </a:rPr>
              <a:t>)</a:t>
            </a:r>
            <a:endParaRPr lang="en-US" altLang="zh-CN" sz="2400" b="0" dirty="0">
              <a:solidFill>
                <a:schemeClr val="tx1"/>
              </a:solidFill>
              <a:latin typeface="Arial" panose="020B060402020202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01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90116"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en-US" altLang="en-US" sz="2000" dirty="0">
                <a:solidFill>
                  <a:schemeClr val="accent2"/>
                </a:solidFill>
                <a:latin typeface="Arial" panose="020B0604020202020204" pitchFamily="34" charset="0"/>
              </a:rPr>
              <a:t>CREATE TRIGGER</a:t>
            </a:r>
            <a:r>
              <a:rPr lang="en-US" altLang="en-US" sz="2000" dirty="0">
                <a:solidFill>
                  <a:schemeClr val="tx1"/>
                </a:solidFill>
                <a:latin typeface="Arial" panose="020B0604020202020204" pitchFamily="34" charset="0"/>
              </a:rPr>
              <a:t> tri_sc_grade_update1</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accent2"/>
                </a:solidFill>
                <a:latin typeface="Arial" panose="020B0604020202020204" pitchFamily="34" charset="0"/>
              </a:rPr>
              <a:t>ON </a:t>
            </a:r>
            <a:r>
              <a:rPr lang="en-US" altLang="en-US" sz="2000" dirty="0">
                <a:solidFill>
                  <a:schemeClr val="tx1"/>
                </a:solidFill>
                <a:latin typeface="Arial" panose="020B0604020202020204" pitchFamily="34" charset="0"/>
              </a:rPr>
              <a:t>sc </a:t>
            </a:r>
            <a:r>
              <a:rPr lang="en-US" altLang="en-US" sz="2000" dirty="0">
                <a:solidFill>
                  <a:schemeClr val="accent2"/>
                </a:solidFill>
                <a:latin typeface="Arial" panose="020B0604020202020204" pitchFamily="34" charset="0"/>
              </a:rPr>
              <a:t>FOR UPDATE</a:t>
            </a:r>
            <a:endParaRPr lang="en-US" altLang="en-US" sz="2000" dirty="0">
              <a:solidFill>
                <a:schemeClr val="accent2"/>
              </a:solidFill>
              <a:latin typeface="Arial" panose="020B0604020202020204" pitchFamily="34" charset="0"/>
            </a:endParaRPr>
          </a:p>
          <a:p>
            <a:pPr>
              <a:lnSpc>
                <a:spcPct val="105000"/>
              </a:lnSpc>
              <a:buClr>
                <a:srgbClr val="FF0000"/>
              </a:buClr>
              <a:buNone/>
            </a:pPr>
            <a:r>
              <a:rPr lang="en-US" altLang="en-US" sz="2000" dirty="0">
                <a:solidFill>
                  <a:schemeClr val="accent2"/>
                </a:solidFill>
                <a:latin typeface="Arial" panose="020B0604020202020204" pitchFamily="34" charset="0"/>
              </a:rPr>
              <a:t>AS</a:t>
            </a:r>
            <a:endParaRPr lang="en-US" altLang="en-US" sz="2000" dirty="0">
              <a:solidFill>
                <a:schemeClr val="accent2"/>
              </a:solidFill>
              <a:latin typeface="Arial" panose="020B0604020202020204" pitchFamily="34" charset="0"/>
            </a:endParaRPr>
          </a:p>
          <a:p>
            <a:pPr>
              <a:lnSpc>
                <a:spcPct val="105000"/>
              </a:lnSpc>
              <a:buClr>
                <a:srgbClr val="FF0000"/>
              </a:buClr>
              <a:buNone/>
            </a:pPr>
            <a:r>
              <a:rPr lang="en-US" altLang="en-US" sz="2000" dirty="0">
                <a:solidFill>
                  <a:schemeClr val="tx1"/>
                </a:solidFill>
                <a:latin typeface="Arial" panose="020B0604020202020204" pitchFamily="34" charset="0"/>
              </a:rPr>
              <a:t>-- 为避免触发器返回结果，关闭返回SQL语句影响行数的计数信息</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accent2"/>
                </a:solidFill>
                <a:latin typeface="Arial" panose="020B0604020202020204" pitchFamily="34" charset="0"/>
              </a:rPr>
              <a:t>SET NOCOUNT ON</a:t>
            </a:r>
            <a:endParaRPr lang="en-US" altLang="en-US" sz="2000" dirty="0">
              <a:solidFill>
                <a:schemeClr val="accent2"/>
              </a:solidFill>
              <a:latin typeface="Arial" panose="020B0604020202020204" pitchFamily="34" charset="0"/>
            </a:endParaRPr>
          </a:p>
          <a:p>
            <a:pPr>
              <a:lnSpc>
                <a:spcPct val="105000"/>
              </a:lnSpc>
              <a:buClr>
                <a:srgbClr val="FF0000"/>
              </a:buClr>
              <a:buNone/>
            </a:pPr>
            <a:r>
              <a:rPr lang="en-US" altLang="en-US" sz="2000" dirty="0">
                <a:solidFill>
                  <a:schemeClr val="tx1"/>
                </a:solidFill>
                <a:latin typeface="Arial" panose="020B0604020202020204" pitchFamily="34" charset="0"/>
              </a:rPr>
              <a:t>-- 仅当修改Grade列数据时才触发具体操作</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accent2"/>
                </a:solidFill>
                <a:latin typeface="Arial" panose="020B0604020202020204" pitchFamily="34" charset="0"/>
              </a:rPr>
              <a:t>IF</a:t>
            </a:r>
            <a:r>
              <a:rPr lang="en-US" altLang="en-US" sz="2000" dirty="0">
                <a:solidFill>
                  <a:schemeClr val="tx1"/>
                </a:solidFill>
                <a:latin typeface="Arial" panose="020B0604020202020204" pitchFamily="34" charset="0"/>
              </a:rPr>
              <a:t> </a:t>
            </a:r>
            <a:r>
              <a:rPr lang="en-US" altLang="en-US" sz="2000" dirty="0">
                <a:solidFill>
                  <a:schemeClr val="accent2"/>
                </a:solidFill>
                <a:latin typeface="Arial" panose="020B0604020202020204" pitchFamily="34" charset="0"/>
              </a:rPr>
              <a:t>UPDATE</a:t>
            </a:r>
            <a:r>
              <a:rPr lang="en-US" altLang="en-US" sz="2000" dirty="0">
                <a:solidFill>
                  <a:schemeClr val="tx1"/>
                </a:solidFill>
                <a:latin typeface="Arial" panose="020B0604020202020204" pitchFamily="34" charset="0"/>
              </a:rPr>
              <a:t>(Grade)</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accent2"/>
                </a:solidFill>
                <a:latin typeface="Arial" panose="020B0604020202020204" pitchFamily="34" charset="0"/>
              </a:rPr>
              <a:t>BEGIN</a:t>
            </a:r>
            <a:endParaRPr lang="en-US" altLang="en-US" sz="2000" dirty="0">
              <a:solidFill>
                <a:schemeClr val="accent2"/>
              </a:solidFill>
              <a:latin typeface="Arial" panose="020B0604020202020204" pitchFamily="34" charset="0"/>
            </a:endParaRPr>
          </a:p>
          <a:p>
            <a:pPr>
              <a:lnSpc>
                <a:spcPct val="105000"/>
              </a:lnSpc>
              <a:buClr>
                <a:srgbClr val="FF0000"/>
              </a:buClr>
              <a:buNone/>
            </a:pPr>
            <a:r>
              <a:rPr lang="en-US" altLang="en-US" sz="2000" dirty="0">
                <a:solidFill>
                  <a:schemeClr val="tx1"/>
                </a:solidFill>
                <a:latin typeface="Arial" panose="020B0604020202020204" pitchFamily="34" charset="0"/>
              </a:rPr>
              <a:t>  </a:t>
            </a:r>
            <a:r>
              <a:rPr lang="en-US" altLang="zh-CN" sz="2000" dirty="0">
                <a:solidFill>
                  <a:schemeClr val="tx1"/>
                </a:solidFill>
                <a:latin typeface="Arial" panose="020B0604020202020204" pitchFamily="34" charset="0"/>
              </a:rPr>
              <a:t>	</a:t>
            </a:r>
            <a:r>
              <a:rPr lang="en-US" altLang="en-US" sz="2000" dirty="0">
                <a:solidFill>
                  <a:schemeClr val="accent2"/>
                </a:solidFill>
                <a:latin typeface="Arial" panose="020B0604020202020204" pitchFamily="34" charset="0"/>
              </a:rPr>
              <a:t>INSERT INTO</a:t>
            </a:r>
            <a:r>
              <a:rPr lang="en-US" altLang="en-US" sz="2000" dirty="0">
                <a:solidFill>
                  <a:schemeClr val="tx1"/>
                </a:solidFill>
                <a:latin typeface="Arial" panose="020B0604020202020204" pitchFamily="34" charset="0"/>
              </a:rPr>
              <a:t> sc_update</a:t>
            </a:r>
            <a:r>
              <a:rPr lang="en-US" altLang="zh-CN" sz="2000" dirty="0">
                <a:solidFill>
                  <a:schemeClr val="tx1"/>
                </a:solidFill>
                <a:latin typeface="Arial" panose="020B0604020202020204" pitchFamily="34" charset="0"/>
              </a:rPr>
              <a:t>_log</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tx1"/>
                </a:solidFill>
                <a:latin typeface="Arial" panose="020B0604020202020204" pitchFamily="34" charset="0"/>
              </a:rPr>
              <a:t>  </a:t>
            </a:r>
            <a:r>
              <a:rPr lang="en-US" altLang="zh-CN" sz="2000" dirty="0">
                <a:solidFill>
                  <a:schemeClr val="tx1"/>
                </a:solidFill>
                <a:latin typeface="Arial" panose="020B0604020202020204" pitchFamily="34" charset="0"/>
              </a:rPr>
              <a:t>	</a:t>
            </a:r>
            <a:r>
              <a:rPr lang="en-US" altLang="en-US" sz="2000" dirty="0">
                <a:solidFill>
                  <a:schemeClr val="accent2"/>
                </a:solidFill>
                <a:latin typeface="Arial" panose="020B0604020202020204" pitchFamily="34" charset="0"/>
              </a:rPr>
              <a:t>SELECT</a:t>
            </a:r>
            <a:r>
              <a:rPr lang="en-US" altLang="en-US" sz="2000" dirty="0">
                <a:solidFill>
                  <a:schemeClr val="tx1"/>
                </a:solidFill>
                <a:latin typeface="Arial" panose="020B0604020202020204" pitchFamily="34" charset="0"/>
              </a:rPr>
              <a:t> </a:t>
            </a:r>
            <a:r>
              <a:rPr lang="en-US" altLang="en-US" sz="2000" dirty="0">
                <a:solidFill>
                  <a:srgbClr val="CC0066"/>
                </a:solidFill>
                <a:latin typeface="Arial" panose="020B0604020202020204" pitchFamily="34" charset="0"/>
              </a:rPr>
              <a:t>GetDate</a:t>
            </a:r>
            <a:r>
              <a:rPr lang="en-US" altLang="en-US" sz="2000" dirty="0">
                <a:solidFill>
                  <a:schemeClr val="tx1"/>
                </a:solidFill>
                <a:latin typeface="Arial" panose="020B0604020202020204" pitchFamily="34" charset="0"/>
              </a:rPr>
              <a:t>(),I.sno,I.cno,D.grade,I.grade</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tx1"/>
                </a:solidFill>
                <a:latin typeface="Arial" panose="020B0604020202020204" pitchFamily="34" charset="0"/>
              </a:rPr>
              <a:t>  </a:t>
            </a:r>
            <a:r>
              <a:rPr lang="en-US" altLang="zh-CN" sz="2000" dirty="0">
                <a:solidFill>
                  <a:schemeClr val="tx1"/>
                </a:solidFill>
                <a:latin typeface="Arial" panose="020B0604020202020204" pitchFamily="34" charset="0"/>
              </a:rPr>
              <a:t>		</a:t>
            </a:r>
            <a:r>
              <a:rPr lang="en-US" altLang="en-US" sz="2000" dirty="0">
                <a:solidFill>
                  <a:schemeClr val="accent2"/>
                </a:solidFill>
                <a:latin typeface="Arial" panose="020B0604020202020204" pitchFamily="34" charset="0"/>
              </a:rPr>
              <a:t>FROM</a:t>
            </a:r>
            <a:r>
              <a:rPr lang="en-US" altLang="en-US" sz="2000" dirty="0">
                <a:solidFill>
                  <a:schemeClr val="tx1"/>
                </a:solidFill>
                <a:latin typeface="Arial" panose="020B0604020202020204" pitchFamily="34" charset="0"/>
              </a:rPr>
              <a:t> DELETED D </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zh-CN" sz="2000" dirty="0">
                <a:solidFill>
                  <a:schemeClr val="tx1"/>
                </a:solidFill>
                <a:latin typeface="Arial" panose="020B0604020202020204" pitchFamily="34" charset="0"/>
              </a:rPr>
              <a:t>		</a:t>
            </a:r>
            <a:r>
              <a:rPr lang="en-US" altLang="en-US" sz="2000" dirty="0">
                <a:solidFill>
                  <a:schemeClr val="accent2"/>
                </a:solidFill>
                <a:latin typeface="Arial" panose="020B0604020202020204" pitchFamily="34" charset="0"/>
              </a:rPr>
              <a:t>INNER JOIN</a:t>
            </a:r>
            <a:r>
              <a:rPr lang="en-US" altLang="en-US" sz="2000" dirty="0">
                <a:solidFill>
                  <a:schemeClr val="tx1"/>
                </a:solidFill>
                <a:latin typeface="Arial" panose="020B0604020202020204" pitchFamily="34" charset="0"/>
              </a:rPr>
              <a:t> INSERTED I  </a:t>
            </a:r>
            <a:r>
              <a:rPr lang="en-US" altLang="en-US" sz="2000" dirty="0">
                <a:solidFill>
                  <a:schemeClr val="accent2"/>
                </a:solidFill>
                <a:latin typeface="Arial" panose="020B0604020202020204" pitchFamily="34" charset="0"/>
              </a:rPr>
              <a:t>ON</a:t>
            </a:r>
            <a:r>
              <a:rPr lang="en-US" altLang="en-US" sz="2000" dirty="0">
                <a:solidFill>
                  <a:schemeClr val="tx1"/>
                </a:solidFill>
                <a:latin typeface="Arial" panose="020B0604020202020204" pitchFamily="34" charset="0"/>
              </a:rPr>
              <a:t>  D.sno = I.sno </a:t>
            </a:r>
            <a:r>
              <a:rPr lang="en-US" altLang="en-US" sz="2000" dirty="0">
                <a:solidFill>
                  <a:schemeClr val="accent2"/>
                </a:solidFill>
                <a:latin typeface="Arial" panose="020B0604020202020204" pitchFamily="34" charset="0"/>
              </a:rPr>
              <a:t>AND</a:t>
            </a:r>
            <a:r>
              <a:rPr lang="en-US" altLang="en-US" sz="2000" dirty="0">
                <a:solidFill>
                  <a:schemeClr val="tx1"/>
                </a:solidFill>
                <a:latin typeface="Arial" panose="020B0604020202020204" pitchFamily="34" charset="0"/>
              </a:rPr>
              <a:t> D.cno = I.cno </a:t>
            </a:r>
            <a:endParaRPr lang="en-US" altLang="en-US" sz="2000" dirty="0">
              <a:solidFill>
                <a:schemeClr val="tx1"/>
              </a:solidFill>
              <a:latin typeface="Arial" panose="020B0604020202020204" pitchFamily="34" charset="0"/>
            </a:endParaRPr>
          </a:p>
          <a:p>
            <a:pPr>
              <a:lnSpc>
                <a:spcPct val="105000"/>
              </a:lnSpc>
              <a:buClr>
                <a:srgbClr val="FF0000"/>
              </a:buClr>
              <a:buNone/>
            </a:pPr>
            <a:r>
              <a:rPr lang="en-US" altLang="en-US" sz="2000" dirty="0">
                <a:solidFill>
                  <a:schemeClr val="accent2"/>
                </a:solidFill>
                <a:latin typeface="Arial" panose="020B0604020202020204" pitchFamily="34" charset="0"/>
              </a:rPr>
              <a:t>END</a:t>
            </a:r>
            <a:endParaRPr lang="en-US" altLang="en-US" sz="2000" dirty="0">
              <a:solidFill>
                <a:schemeClr val="accent2"/>
              </a:solidFill>
              <a:latin typeface="Arial" panose="020B06040202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11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91140"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en-US" altLang="zh-CN" sz="3600" dirty="0">
                <a:solidFill>
                  <a:schemeClr val="tx1"/>
                </a:solidFill>
                <a:latin typeface="Arial" panose="020B0604020202020204" pitchFamily="34" charset="0"/>
              </a:rPr>
              <a:t>	</a:t>
            </a:r>
            <a:r>
              <a:rPr lang="zh-CN" altLang="en-US" sz="3600" dirty="0">
                <a:solidFill>
                  <a:schemeClr val="tx1"/>
                </a:solidFill>
                <a:latin typeface="Arial" panose="020B0604020202020204" pitchFamily="34" charset="0"/>
              </a:rPr>
              <a:t>思考：如何用触发器完全取代</a:t>
            </a:r>
            <a:r>
              <a:rPr lang="en-US" altLang="zh-CN" sz="3600" dirty="0">
                <a:solidFill>
                  <a:schemeClr val="tx1"/>
                </a:solidFill>
                <a:latin typeface="Arial" panose="020B0604020202020204" pitchFamily="34" charset="0"/>
              </a:rPr>
              <a:t>S,C,SC</a:t>
            </a:r>
            <a:r>
              <a:rPr lang="zh-CN" altLang="en-US" sz="3600" dirty="0">
                <a:solidFill>
                  <a:schemeClr val="tx1"/>
                </a:solidFill>
                <a:latin typeface="Arial" panose="020B0604020202020204" pitchFamily="34" charset="0"/>
              </a:rPr>
              <a:t>三表间的参照引用关系？</a:t>
            </a:r>
            <a:endParaRPr lang="zh-CN" altLang="en-US" sz="3600" dirty="0">
              <a:solidFill>
                <a:schemeClr val="tx1"/>
              </a:solidFill>
              <a:latin typeface="Arial" panose="020B0604020202020204" pitchFamily="34" charset="0"/>
            </a:endParaRPr>
          </a:p>
          <a:p>
            <a:pPr>
              <a:lnSpc>
                <a:spcPct val="105000"/>
              </a:lnSpc>
              <a:buClr>
                <a:srgbClr val="FF0000"/>
              </a:buClr>
            </a:pPr>
            <a:r>
              <a:rPr lang="en-US" altLang="zh-CN" sz="3600" dirty="0">
                <a:solidFill>
                  <a:schemeClr val="tx1"/>
                </a:solidFill>
                <a:latin typeface="Arial" panose="020B0604020202020204" pitchFamily="34" charset="0"/>
              </a:rPr>
              <a:t>S</a:t>
            </a:r>
            <a:r>
              <a:rPr lang="zh-CN" altLang="en-US" sz="3600" dirty="0">
                <a:solidFill>
                  <a:schemeClr val="tx1"/>
                </a:solidFill>
                <a:latin typeface="Arial" panose="020B0604020202020204" pitchFamily="34" charset="0"/>
              </a:rPr>
              <a:t>上：</a:t>
            </a:r>
            <a:r>
              <a:rPr lang="en-US" altLang="zh-CN" sz="3600" dirty="0">
                <a:solidFill>
                  <a:schemeClr val="tx1"/>
                </a:solidFill>
                <a:latin typeface="Arial" panose="020B0604020202020204" pitchFamily="34" charset="0"/>
              </a:rPr>
              <a:t>update,delete</a:t>
            </a:r>
            <a:endParaRPr lang="en-US" altLang="zh-CN" sz="3600" dirty="0">
              <a:solidFill>
                <a:schemeClr val="tx1"/>
              </a:solidFill>
              <a:latin typeface="Arial" panose="020B0604020202020204" pitchFamily="34" charset="0"/>
            </a:endParaRPr>
          </a:p>
          <a:p>
            <a:pPr>
              <a:lnSpc>
                <a:spcPct val="105000"/>
              </a:lnSpc>
              <a:buClr>
                <a:srgbClr val="FF0000"/>
              </a:buClr>
            </a:pPr>
            <a:r>
              <a:rPr lang="en-US" altLang="zh-CN" sz="3600" dirty="0">
                <a:solidFill>
                  <a:schemeClr val="tx1"/>
                </a:solidFill>
                <a:latin typeface="Arial" panose="020B0604020202020204" pitchFamily="34" charset="0"/>
              </a:rPr>
              <a:t>C</a:t>
            </a:r>
            <a:r>
              <a:rPr lang="zh-CN" altLang="en-US" sz="3600" dirty="0">
                <a:solidFill>
                  <a:schemeClr val="tx1"/>
                </a:solidFill>
                <a:latin typeface="Arial" panose="020B0604020202020204" pitchFamily="34" charset="0"/>
              </a:rPr>
              <a:t>上：</a:t>
            </a:r>
            <a:r>
              <a:rPr lang="en-US" altLang="zh-CN" sz="3600" dirty="0">
                <a:solidFill>
                  <a:schemeClr val="tx1"/>
                </a:solidFill>
                <a:latin typeface="Arial" panose="020B0604020202020204" pitchFamily="34" charset="0"/>
              </a:rPr>
              <a:t>update,delete</a:t>
            </a:r>
            <a:endParaRPr lang="en-US" altLang="zh-CN" sz="3600" dirty="0">
              <a:solidFill>
                <a:schemeClr val="tx1"/>
              </a:solidFill>
              <a:latin typeface="Arial" panose="020B0604020202020204" pitchFamily="34" charset="0"/>
            </a:endParaRPr>
          </a:p>
          <a:p>
            <a:pPr>
              <a:lnSpc>
                <a:spcPct val="105000"/>
              </a:lnSpc>
              <a:buClr>
                <a:srgbClr val="FF0000"/>
              </a:buClr>
            </a:pPr>
            <a:r>
              <a:rPr lang="en-US" altLang="zh-CN" sz="3600" dirty="0">
                <a:solidFill>
                  <a:schemeClr val="tx1"/>
                </a:solidFill>
                <a:latin typeface="Arial" panose="020B0604020202020204" pitchFamily="34" charset="0"/>
              </a:rPr>
              <a:t>SC</a:t>
            </a:r>
            <a:r>
              <a:rPr lang="zh-CN" altLang="en-US" sz="3600" dirty="0">
                <a:solidFill>
                  <a:schemeClr val="tx1"/>
                </a:solidFill>
                <a:latin typeface="Arial" panose="020B0604020202020204" pitchFamily="34" charset="0"/>
              </a:rPr>
              <a:t>上：</a:t>
            </a:r>
            <a:r>
              <a:rPr lang="en-US" altLang="zh-CN" sz="3600" dirty="0">
                <a:solidFill>
                  <a:schemeClr val="tx1"/>
                </a:solidFill>
                <a:latin typeface="Arial" panose="020B0604020202020204" pitchFamily="34" charset="0"/>
              </a:rPr>
              <a:t>insert,update</a:t>
            </a:r>
            <a:endParaRPr lang="en-US" altLang="zh-CN" sz="3600" dirty="0">
              <a:solidFill>
                <a:schemeClr val="tx1"/>
              </a:solidFill>
              <a:latin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6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92164"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en-US" altLang="zh-CN" sz="3600" dirty="0">
                <a:solidFill>
                  <a:schemeClr val="tx1"/>
                </a:solidFill>
                <a:latin typeface="Arial" panose="020B0604020202020204" pitchFamily="34" charset="0"/>
              </a:rPr>
              <a:t>	</a:t>
            </a:r>
            <a:r>
              <a:rPr lang="zh-CN" altLang="en-US" sz="3600" dirty="0">
                <a:solidFill>
                  <a:schemeClr val="tx1"/>
                </a:solidFill>
                <a:latin typeface="Arial" panose="020B0604020202020204" pitchFamily="34" charset="0"/>
              </a:rPr>
              <a:t>约束 </a:t>
            </a:r>
            <a:r>
              <a:rPr lang="en-US" altLang="zh-CN" sz="3600" dirty="0">
                <a:solidFill>
                  <a:schemeClr val="tx1"/>
                </a:solidFill>
                <a:latin typeface="Arial" panose="020B0604020202020204" pitchFamily="34" charset="0"/>
              </a:rPr>
              <a:t>vs </a:t>
            </a:r>
            <a:r>
              <a:rPr lang="zh-CN" altLang="en-US" sz="3600" dirty="0">
                <a:solidFill>
                  <a:schemeClr val="tx1"/>
                </a:solidFill>
                <a:latin typeface="Arial" panose="020B0604020202020204" pitchFamily="34" charset="0"/>
              </a:rPr>
              <a:t>触发器  如何选择</a:t>
            </a:r>
            <a:r>
              <a:rPr lang="en-US" altLang="zh-CN" sz="3600" dirty="0">
                <a:solidFill>
                  <a:schemeClr val="tx1"/>
                </a:solidFill>
                <a:latin typeface="Arial" panose="020B0604020202020204" pitchFamily="34" charset="0"/>
              </a:rPr>
              <a:t>?</a:t>
            </a:r>
            <a:endParaRPr lang="en-US" altLang="zh-CN"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实体完整性</a:t>
            </a:r>
            <a:r>
              <a:rPr lang="en-US" altLang="zh-CN" sz="3600" dirty="0">
                <a:solidFill>
                  <a:schemeClr val="tx1"/>
                </a:solidFill>
                <a:latin typeface="Arial" panose="020B0604020202020204" pitchFamily="34" charset="0"/>
              </a:rPr>
              <a:t>:primary key, unique</a:t>
            </a:r>
            <a:endParaRPr lang="en-US" altLang="zh-CN"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域完整性</a:t>
            </a:r>
            <a:r>
              <a:rPr lang="en-US" altLang="zh-CN" sz="3600" dirty="0">
                <a:solidFill>
                  <a:schemeClr val="tx1"/>
                </a:solidFill>
                <a:latin typeface="Arial" panose="020B0604020202020204" pitchFamily="34" charset="0"/>
              </a:rPr>
              <a:t>:check</a:t>
            </a:r>
            <a:endParaRPr lang="en-US" altLang="zh-CN"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参照完整性</a:t>
            </a:r>
            <a:r>
              <a:rPr lang="en-US" altLang="zh-CN" sz="3600" dirty="0">
                <a:solidFill>
                  <a:schemeClr val="tx1"/>
                </a:solidFill>
                <a:latin typeface="Arial" panose="020B0604020202020204" pitchFamily="34" charset="0"/>
              </a:rPr>
              <a:t>:references</a:t>
            </a:r>
            <a:endParaRPr lang="en-US" altLang="zh-CN"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在上述约束所支持的功能均无法满足应用程序的功能要求时，触发器就极为有用</a:t>
            </a:r>
            <a:endParaRPr lang="zh-CN" altLang="en-US" sz="3600" dirty="0">
              <a:solidFill>
                <a:schemeClr val="tx1"/>
              </a:solidFill>
              <a:latin typeface="Arial" panose="020B0604020202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318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5.6.3 </a:t>
            </a:r>
            <a:r>
              <a:rPr lang="zh-CN" altLang="en-US" sz="3200" dirty="0"/>
              <a:t>定义触发器</a:t>
            </a:r>
            <a:endParaRPr lang="zh-CN" altLang="en-US" sz="3200" dirty="0"/>
          </a:p>
        </p:txBody>
      </p:sp>
      <p:sp>
        <p:nvSpPr>
          <p:cNvPr id="93188"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en-US" altLang="zh-CN" sz="3600" dirty="0">
                <a:solidFill>
                  <a:schemeClr val="tx1"/>
                </a:solidFill>
                <a:latin typeface="Arial" panose="020B0604020202020204" pitchFamily="34" charset="0"/>
              </a:rPr>
              <a:t>	</a:t>
            </a:r>
            <a:r>
              <a:rPr lang="zh-CN" altLang="en-US" sz="3600" dirty="0">
                <a:solidFill>
                  <a:schemeClr val="tx1"/>
                </a:solidFill>
                <a:latin typeface="Arial" panose="020B0604020202020204" pitchFamily="34" charset="0"/>
              </a:rPr>
              <a:t>约束 </a:t>
            </a:r>
            <a:r>
              <a:rPr lang="en-US" altLang="zh-CN" sz="3600" dirty="0">
                <a:solidFill>
                  <a:schemeClr val="tx1"/>
                </a:solidFill>
                <a:latin typeface="Arial" panose="020B0604020202020204" pitchFamily="34" charset="0"/>
              </a:rPr>
              <a:t>vs </a:t>
            </a:r>
            <a:r>
              <a:rPr lang="zh-CN" altLang="en-US" sz="3600" dirty="0">
                <a:solidFill>
                  <a:schemeClr val="tx1"/>
                </a:solidFill>
                <a:latin typeface="Arial" panose="020B0604020202020204" pitchFamily="34" charset="0"/>
              </a:rPr>
              <a:t>触发器  如何选择</a:t>
            </a:r>
            <a:r>
              <a:rPr lang="en-US" altLang="zh-CN" sz="3600" dirty="0">
                <a:solidFill>
                  <a:schemeClr val="tx1"/>
                </a:solidFill>
                <a:latin typeface="Arial" panose="020B0604020202020204" pitchFamily="34" charset="0"/>
              </a:rPr>
              <a:t>?</a:t>
            </a:r>
            <a:endParaRPr lang="en-US" altLang="zh-CN" sz="3600" dirty="0">
              <a:solidFill>
                <a:schemeClr val="tx1"/>
              </a:solidFill>
              <a:latin typeface="Arial" panose="020B0604020202020204" pitchFamily="34" charset="0"/>
            </a:endParaRPr>
          </a:p>
          <a:p>
            <a:pPr>
              <a:lnSpc>
                <a:spcPct val="105000"/>
              </a:lnSpc>
              <a:buClr>
                <a:srgbClr val="FF0000"/>
              </a:buClr>
            </a:pPr>
            <a:r>
              <a:rPr lang="zh-CN" altLang="zh-CN" sz="3600" dirty="0">
                <a:solidFill>
                  <a:schemeClr val="tx1"/>
                </a:solidFill>
                <a:latin typeface="Arial" panose="020B0604020202020204" pitchFamily="34" charset="0"/>
              </a:rPr>
              <a:t>虽然REFERENCES子句定义了级联引用操作，但</a:t>
            </a:r>
            <a:r>
              <a:rPr lang="zh-CN" altLang="zh-CN" sz="3600" dirty="0">
                <a:solidFill>
                  <a:srgbClr val="FF0000"/>
                </a:solidFill>
                <a:latin typeface="Arial" panose="020B0604020202020204" pitchFamily="34" charset="0"/>
              </a:rPr>
              <a:t>只能引用原值</a:t>
            </a:r>
            <a:r>
              <a:rPr lang="zh-CN" altLang="zh-CN" sz="3600" dirty="0">
                <a:solidFill>
                  <a:schemeClr val="tx1"/>
                </a:solidFill>
                <a:latin typeface="Arial" panose="020B0604020202020204" pitchFamily="34" charset="0"/>
              </a:rPr>
              <a:t>。如果两者仅存在某种映射关系，则考虑使用触发器</a:t>
            </a:r>
            <a:endParaRPr lang="zh-CN" altLang="en-US"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 </a:t>
            </a:r>
            <a:r>
              <a:rPr lang="en-US" altLang="zh-CN" sz="3600" dirty="0">
                <a:solidFill>
                  <a:schemeClr val="tx1"/>
                </a:solidFill>
                <a:latin typeface="Arial" panose="020B0604020202020204" pitchFamily="34" charset="0"/>
              </a:rPr>
              <a:t>CHECK </a:t>
            </a:r>
            <a:r>
              <a:rPr lang="zh-CN" altLang="en-US" sz="3600" dirty="0">
                <a:solidFill>
                  <a:schemeClr val="tx1"/>
                </a:solidFill>
                <a:latin typeface="Arial" panose="020B0604020202020204" pitchFamily="34" charset="0"/>
              </a:rPr>
              <a:t>约束只能根据逻辑表达式或同一表中的另一列来验证列值。如果应用程序要求根据</a:t>
            </a:r>
            <a:r>
              <a:rPr lang="zh-CN" altLang="en-US" sz="3600" dirty="0">
                <a:solidFill>
                  <a:srgbClr val="FF0000"/>
                </a:solidFill>
                <a:latin typeface="Arial" panose="020B0604020202020204" pitchFamily="34" charset="0"/>
              </a:rPr>
              <a:t>另一个表中</a:t>
            </a:r>
            <a:r>
              <a:rPr lang="zh-CN" altLang="en-US" sz="3600" dirty="0">
                <a:solidFill>
                  <a:schemeClr val="tx1"/>
                </a:solidFill>
                <a:latin typeface="Arial" panose="020B0604020202020204" pitchFamily="34" charset="0"/>
              </a:rPr>
              <a:t>的列验证列值，则必须使用触发器</a:t>
            </a:r>
            <a:endParaRPr lang="zh-CN" altLang="en-US" sz="3600" dirty="0">
              <a:solidFill>
                <a:schemeClr val="tx1"/>
              </a:solidFill>
              <a:latin typeface="Arial" panose="020B060402020202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42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5.6 </a:t>
            </a:r>
            <a:r>
              <a:rPr lang="zh-CN" altLang="en-US" dirty="0"/>
              <a:t>触发器</a:t>
            </a:r>
            <a:endParaRPr lang="zh-CN" altLang="en-US" dirty="0"/>
          </a:p>
        </p:txBody>
      </p:sp>
      <p:sp>
        <p:nvSpPr>
          <p:cNvPr id="94212" name="Rectangle 3"/>
          <p:cNvSpPr>
            <a:spLocks noGrp="1"/>
          </p:cNvSpPr>
          <p:nvPr>
            <p:ph idx="1"/>
          </p:nvPr>
        </p:nvSpPr>
        <p:spPr>
          <a:xfrm>
            <a:off x="971550" y="1412875"/>
            <a:ext cx="7416800" cy="4464050"/>
          </a:xfrm>
          <a:ln/>
        </p:spPr>
        <p:txBody>
          <a:bodyPr vert="horz" wrap="square" lIns="91440" tIns="45720" rIns="91440" bIns="45720" anchor="t" anchorCtr="0"/>
          <a:p>
            <a:pPr eaLnBrk="1" hangingPunct="1">
              <a:lnSpc>
                <a:spcPct val="120000"/>
              </a:lnSpc>
              <a:buNone/>
            </a:pPr>
            <a:r>
              <a:rPr lang="en-US" altLang="zh-CN" sz="3600" dirty="0">
                <a:solidFill>
                  <a:schemeClr val="tx1"/>
                </a:solidFill>
              </a:rPr>
              <a:t>5.6.1  </a:t>
            </a:r>
            <a:r>
              <a:rPr lang="zh-CN" altLang="en-US" sz="3600" dirty="0">
                <a:solidFill>
                  <a:schemeClr val="tx1"/>
                </a:solidFill>
              </a:rPr>
              <a:t>控制流语句</a:t>
            </a:r>
            <a:endParaRPr lang="zh-CN" altLang="en-US" sz="3600" dirty="0">
              <a:solidFill>
                <a:schemeClr val="tx1"/>
              </a:solidFill>
            </a:endParaRPr>
          </a:p>
          <a:p>
            <a:pPr eaLnBrk="1" hangingPunct="1">
              <a:lnSpc>
                <a:spcPct val="120000"/>
              </a:lnSpc>
              <a:buNone/>
            </a:pPr>
            <a:r>
              <a:rPr lang="en-US" altLang="zh-CN" sz="3600" dirty="0">
                <a:solidFill>
                  <a:schemeClr val="tx1"/>
                </a:solidFill>
              </a:rPr>
              <a:t>5.6.2  </a:t>
            </a:r>
            <a:r>
              <a:rPr lang="zh-CN" altLang="en-US" sz="3600" dirty="0">
                <a:solidFill>
                  <a:schemeClr val="tx1"/>
                </a:solidFill>
              </a:rPr>
              <a:t>事务</a:t>
            </a:r>
            <a:endParaRPr lang="zh-CN" altLang="en-US" sz="3600" dirty="0">
              <a:solidFill>
                <a:schemeClr val="tx1"/>
              </a:solidFill>
            </a:endParaRPr>
          </a:p>
          <a:p>
            <a:pPr eaLnBrk="1" hangingPunct="1">
              <a:lnSpc>
                <a:spcPct val="120000"/>
              </a:lnSpc>
              <a:buNone/>
            </a:pPr>
            <a:r>
              <a:rPr lang="en-US" altLang="zh-CN" sz="3600" dirty="0">
                <a:solidFill>
                  <a:schemeClr val="tx1"/>
                </a:solidFill>
              </a:rPr>
              <a:t>5.6.3  </a:t>
            </a:r>
            <a:r>
              <a:rPr lang="zh-CN" altLang="en-US" sz="3600" dirty="0">
                <a:solidFill>
                  <a:schemeClr val="tx1"/>
                </a:solidFill>
              </a:rPr>
              <a:t>定义触发器</a:t>
            </a:r>
            <a:endParaRPr lang="zh-CN" altLang="en-US" sz="3600" dirty="0">
              <a:solidFill>
                <a:schemeClr val="tx1"/>
              </a:solidFill>
            </a:endParaRPr>
          </a:p>
          <a:p>
            <a:pPr eaLnBrk="1" hangingPunct="1">
              <a:lnSpc>
                <a:spcPct val="120000"/>
              </a:lnSpc>
              <a:buNone/>
            </a:pPr>
            <a:r>
              <a:rPr lang="en-US" altLang="zh-CN" sz="3600" dirty="0">
                <a:solidFill>
                  <a:srgbClr val="FF0000"/>
                </a:solidFill>
              </a:rPr>
              <a:t>5.6.4  </a:t>
            </a:r>
            <a:r>
              <a:rPr lang="zh-CN" altLang="en-US" sz="3600" dirty="0">
                <a:solidFill>
                  <a:srgbClr val="FF0000"/>
                </a:solidFill>
              </a:rPr>
              <a:t>激活触发器</a:t>
            </a:r>
            <a:endParaRPr lang="zh-CN" altLang="en-US" sz="3600" dirty="0">
              <a:solidFill>
                <a:srgbClr val="FF0000"/>
              </a:solidFill>
            </a:endParaRPr>
          </a:p>
          <a:p>
            <a:pPr eaLnBrk="1" hangingPunct="1">
              <a:lnSpc>
                <a:spcPct val="120000"/>
              </a:lnSpc>
              <a:buNone/>
            </a:pPr>
            <a:r>
              <a:rPr lang="en-US" altLang="zh-CN" sz="3600" dirty="0">
                <a:solidFill>
                  <a:schemeClr val="tx1"/>
                </a:solidFill>
              </a:rPr>
              <a:t>5.6.5  </a:t>
            </a:r>
            <a:r>
              <a:rPr lang="zh-CN" altLang="en-US" sz="3600" dirty="0">
                <a:solidFill>
                  <a:schemeClr val="tx1"/>
                </a:solidFill>
              </a:rPr>
              <a:t>修改和删除触发器</a:t>
            </a:r>
            <a:endParaRPr lang="zh-CN" altLang="en-US" sz="3600" dirty="0">
              <a:solidFill>
                <a:schemeClr val="tx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523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5.6.4 </a:t>
            </a:r>
            <a:r>
              <a:rPr lang="zh-CN" altLang="en-US" sz="3200" dirty="0"/>
              <a:t>激活触发器</a:t>
            </a:r>
            <a:endParaRPr lang="zh-CN" altLang="en-US" sz="3200" dirty="0"/>
          </a:p>
        </p:txBody>
      </p:sp>
      <p:sp>
        <p:nvSpPr>
          <p:cNvPr id="95236"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pPr>
            <a:r>
              <a:rPr lang="zh-CN" altLang="en-US" sz="3600" dirty="0">
                <a:solidFill>
                  <a:schemeClr val="tx1"/>
                </a:solidFill>
                <a:latin typeface="Arial" panose="020B0604020202020204" pitchFamily="34" charset="0"/>
              </a:rPr>
              <a:t>触发器一旦定义</a:t>
            </a:r>
            <a:r>
              <a:rPr lang="en-US" altLang="zh-CN" sz="3600" dirty="0">
                <a:solidFill>
                  <a:schemeClr val="tx1"/>
                </a:solidFill>
                <a:latin typeface="Arial" panose="020B0604020202020204" pitchFamily="34" charset="0"/>
              </a:rPr>
              <a:t>,</a:t>
            </a:r>
            <a:r>
              <a:rPr lang="zh-CN" altLang="en-US" sz="3600" dirty="0">
                <a:solidFill>
                  <a:schemeClr val="tx1"/>
                </a:solidFill>
                <a:latin typeface="Arial" panose="020B0604020202020204" pitchFamily="34" charset="0"/>
              </a:rPr>
              <a:t>由触发事件触发</a:t>
            </a:r>
            <a:r>
              <a:rPr lang="en-US" altLang="zh-CN" sz="3600" dirty="0">
                <a:solidFill>
                  <a:schemeClr val="tx1"/>
                </a:solidFill>
                <a:latin typeface="Arial" panose="020B0604020202020204" pitchFamily="34" charset="0"/>
              </a:rPr>
              <a:t>,</a:t>
            </a:r>
            <a:r>
              <a:rPr lang="zh-CN" altLang="en-US" sz="3600" dirty="0">
                <a:solidFill>
                  <a:schemeClr val="tx1"/>
                </a:solidFill>
                <a:latin typeface="Arial" panose="020B0604020202020204" pitchFamily="34" charset="0"/>
              </a:rPr>
              <a:t>自动执行</a:t>
            </a:r>
            <a:endParaRPr lang="zh-CN" altLang="en-US"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当同一表上既有约束</a:t>
            </a:r>
            <a:r>
              <a:rPr lang="en-US" altLang="zh-CN" sz="3600" dirty="0">
                <a:solidFill>
                  <a:schemeClr val="tx1"/>
                </a:solidFill>
                <a:latin typeface="Arial" panose="020B0604020202020204" pitchFamily="34" charset="0"/>
              </a:rPr>
              <a:t>,</a:t>
            </a:r>
            <a:r>
              <a:rPr lang="zh-CN" altLang="en-US" sz="3600" dirty="0">
                <a:solidFill>
                  <a:schemeClr val="tx1"/>
                </a:solidFill>
                <a:latin typeface="Arial" panose="020B0604020202020204" pitchFamily="34" charset="0"/>
              </a:rPr>
              <a:t>又有</a:t>
            </a:r>
            <a:r>
              <a:rPr lang="en-US" altLang="zh-CN" sz="3600" dirty="0">
                <a:solidFill>
                  <a:schemeClr val="tx1"/>
                </a:solidFill>
                <a:latin typeface="Arial" panose="020B0604020202020204" pitchFamily="34" charset="0"/>
              </a:rPr>
              <a:t>instead</a:t>
            </a:r>
            <a:r>
              <a:rPr lang="zh-CN" altLang="en-US" sz="3600" dirty="0">
                <a:solidFill>
                  <a:schemeClr val="tx1"/>
                </a:solidFill>
                <a:latin typeface="Arial" panose="020B0604020202020204" pitchFamily="34" charset="0"/>
              </a:rPr>
              <a:t>和</a:t>
            </a:r>
            <a:r>
              <a:rPr lang="en-US" altLang="zh-CN" sz="3600" dirty="0">
                <a:solidFill>
                  <a:schemeClr val="tx1"/>
                </a:solidFill>
                <a:latin typeface="Arial" panose="020B0604020202020204" pitchFamily="34" charset="0"/>
              </a:rPr>
              <a:t>after</a:t>
            </a:r>
            <a:r>
              <a:rPr lang="zh-CN" altLang="en-US" sz="3600" dirty="0">
                <a:solidFill>
                  <a:schemeClr val="tx1"/>
                </a:solidFill>
                <a:latin typeface="Arial" panose="020B0604020202020204" pitchFamily="34" charset="0"/>
              </a:rPr>
              <a:t>触发器时</a:t>
            </a:r>
            <a:r>
              <a:rPr lang="en-US" altLang="zh-CN" sz="3600" dirty="0">
                <a:solidFill>
                  <a:schemeClr val="tx1"/>
                </a:solidFill>
                <a:latin typeface="Arial" panose="020B0604020202020204" pitchFamily="34" charset="0"/>
              </a:rPr>
              <a:t>,</a:t>
            </a:r>
            <a:r>
              <a:rPr lang="zh-CN" altLang="en-US" sz="3600" dirty="0">
                <a:solidFill>
                  <a:schemeClr val="tx1"/>
                </a:solidFill>
                <a:latin typeface="Arial" panose="020B0604020202020204" pitchFamily="34" charset="0"/>
              </a:rPr>
              <a:t>按之前讲过的顺序执行</a:t>
            </a:r>
            <a:endParaRPr lang="zh-CN" altLang="en-US" sz="3600" dirty="0">
              <a:solidFill>
                <a:schemeClr val="tx1"/>
              </a:solidFill>
              <a:latin typeface="Arial" panose="020B0604020202020204" pitchFamily="34" charset="0"/>
            </a:endParaRPr>
          </a:p>
          <a:p>
            <a:pPr>
              <a:lnSpc>
                <a:spcPct val="105000"/>
              </a:lnSpc>
              <a:buClr>
                <a:srgbClr val="FF0000"/>
              </a:buClr>
            </a:pPr>
            <a:r>
              <a:rPr lang="zh-CN" altLang="en-US" sz="3600" dirty="0">
                <a:solidFill>
                  <a:schemeClr val="tx1"/>
                </a:solidFill>
                <a:latin typeface="Arial" panose="020B0604020202020204" pitchFamily="34" charset="0"/>
              </a:rPr>
              <a:t>同一操作的多个</a:t>
            </a:r>
            <a:r>
              <a:rPr lang="en-US" altLang="zh-CN" sz="3600" dirty="0">
                <a:solidFill>
                  <a:schemeClr val="tx1"/>
                </a:solidFill>
                <a:latin typeface="Arial" panose="020B0604020202020204" pitchFamily="34" charset="0"/>
              </a:rPr>
              <a:t>after</a:t>
            </a:r>
            <a:r>
              <a:rPr lang="zh-CN" altLang="en-US" sz="3600" dirty="0">
                <a:solidFill>
                  <a:schemeClr val="tx1"/>
                </a:solidFill>
                <a:latin typeface="Arial" panose="020B0604020202020204" pitchFamily="34" charset="0"/>
              </a:rPr>
              <a:t>触发器的执行顺序不同</a:t>
            </a:r>
            <a:r>
              <a:rPr lang="en-US" altLang="zh-CN" sz="3600" dirty="0">
                <a:solidFill>
                  <a:schemeClr val="tx1"/>
                </a:solidFill>
                <a:latin typeface="Arial" panose="020B0604020202020204" pitchFamily="34" charset="0"/>
              </a:rPr>
              <a:t>DBMS</a:t>
            </a:r>
            <a:r>
              <a:rPr lang="zh-CN" altLang="en-US" sz="3600" dirty="0">
                <a:solidFill>
                  <a:schemeClr val="tx1"/>
                </a:solidFill>
                <a:latin typeface="Arial" panose="020B0604020202020204" pitchFamily="34" charset="0"/>
              </a:rPr>
              <a:t>有不同规定</a:t>
            </a:r>
            <a:r>
              <a:rPr lang="en-US" altLang="zh-CN" sz="3600" dirty="0">
                <a:solidFill>
                  <a:schemeClr val="tx1"/>
                </a:solidFill>
                <a:latin typeface="Arial" panose="020B0604020202020204" pitchFamily="34" charset="0"/>
              </a:rPr>
              <a:t>,</a:t>
            </a:r>
            <a:r>
              <a:rPr lang="zh-CN" altLang="en-US" sz="3600" dirty="0">
                <a:solidFill>
                  <a:schemeClr val="tx1"/>
                </a:solidFill>
                <a:latin typeface="Arial" panose="020B0604020202020204" pitchFamily="34" charset="0"/>
              </a:rPr>
              <a:t>如按定义先后</a:t>
            </a:r>
            <a:r>
              <a:rPr lang="en-US" altLang="zh-CN" sz="3600" dirty="0">
                <a:solidFill>
                  <a:schemeClr val="tx1"/>
                </a:solidFill>
                <a:latin typeface="Arial" panose="020B0604020202020204" pitchFamily="34" charset="0"/>
              </a:rPr>
              <a:t>,</a:t>
            </a:r>
            <a:r>
              <a:rPr lang="zh-CN" altLang="en-US" sz="3600" dirty="0">
                <a:solidFill>
                  <a:schemeClr val="tx1"/>
                </a:solidFill>
                <a:latin typeface="Arial" panose="020B0604020202020204" pitchFamily="34" charset="0"/>
              </a:rPr>
              <a:t>按字母顺序等</a:t>
            </a:r>
            <a:endParaRPr lang="zh-CN" altLang="en-US" sz="3600" dirty="0">
              <a:solidFill>
                <a:schemeClr val="tx1"/>
              </a:solidFill>
              <a:latin typeface="Arial" panose="020B060402020202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625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5.6 </a:t>
            </a:r>
            <a:r>
              <a:rPr lang="zh-CN" altLang="en-US" dirty="0"/>
              <a:t>触发器</a:t>
            </a:r>
            <a:endParaRPr lang="zh-CN" altLang="en-US" dirty="0"/>
          </a:p>
        </p:txBody>
      </p:sp>
      <p:sp>
        <p:nvSpPr>
          <p:cNvPr id="96260" name="Rectangle 3"/>
          <p:cNvSpPr>
            <a:spLocks noGrp="1"/>
          </p:cNvSpPr>
          <p:nvPr>
            <p:ph idx="1"/>
          </p:nvPr>
        </p:nvSpPr>
        <p:spPr>
          <a:xfrm>
            <a:off x="971550" y="1412875"/>
            <a:ext cx="7416800" cy="4464050"/>
          </a:xfrm>
          <a:ln/>
        </p:spPr>
        <p:txBody>
          <a:bodyPr vert="horz" wrap="square" lIns="91440" tIns="45720" rIns="91440" bIns="45720" anchor="t" anchorCtr="0"/>
          <a:p>
            <a:pPr eaLnBrk="1" hangingPunct="1">
              <a:lnSpc>
                <a:spcPct val="120000"/>
              </a:lnSpc>
              <a:buNone/>
            </a:pPr>
            <a:r>
              <a:rPr lang="en-US" altLang="zh-CN" sz="3600" dirty="0">
                <a:solidFill>
                  <a:schemeClr val="tx1"/>
                </a:solidFill>
              </a:rPr>
              <a:t>5.6.1  </a:t>
            </a:r>
            <a:r>
              <a:rPr lang="zh-CN" altLang="en-US" sz="3600" dirty="0">
                <a:solidFill>
                  <a:schemeClr val="tx1"/>
                </a:solidFill>
              </a:rPr>
              <a:t>控制流语句</a:t>
            </a:r>
            <a:endParaRPr lang="zh-CN" altLang="en-US" sz="3600" dirty="0">
              <a:solidFill>
                <a:schemeClr val="tx1"/>
              </a:solidFill>
            </a:endParaRPr>
          </a:p>
          <a:p>
            <a:pPr eaLnBrk="1" hangingPunct="1">
              <a:lnSpc>
                <a:spcPct val="120000"/>
              </a:lnSpc>
              <a:buNone/>
            </a:pPr>
            <a:r>
              <a:rPr lang="en-US" altLang="zh-CN" sz="3600" dirty="0">
                <a:solidFill>
                  <a:schemeClr val="tx1"/>
                </a:solidFill>
              </a:rPr>
              <a:t>5.6.2  </a:t>
            </a:r>
            <a:r>
              <a:rPr lang="zh-CN" altLang="en-US" sz="3600" dirty="0">
                <a:solidFill>
                  <a:schemeClr val="tx1"/>
                </a:solidFill>
              </a:rPr>
              <a:t>事务</a:t>
            </a:r>
            <a:endParaRPr lang="zh-CN" altLang="en-US" sz="3600" dirty="0">
              <a:solidFill>
                <a:schemeClr val="tx1"/>
              </a:solidFill>
            </a:endParaRPr>
          </a:p>
          <a:p>
            <a:pPr eaLnBrk="1" hangingPunct="1">
              <a:lnSpc>
                <a:spcPct val="120000"/>
              </a:lnSpc>
              <a:buNone/>
            </a:pPr>
            <a:r>
              <a:rPr lang="en-US" altLang="zh-CN" sz="3600" dirty="0">
                <a:solidFill>
                  <a:schemeClr val="tx1"/>
                </a:solidFill>
              </a:rPr>
              <a:t>5.6.3  </a:t>
            </a:r>
            <a:r>
              <a:rPr lang="zh-CN" altLang="en-US" sz="3600" dirty="0">
                <a:solidFill>
                  <a:schemeClr val="tx1"/>
                </a:solidFill>
              </a:rPr>
              <a:t>定义触发器</a:t>
            </a:r>
            <a:endParaRPr lang="zh-CN" altLang="en-US" sz="3600" dirty="0">
              <a:solidFill>
                <a:schemeClr val="tx1"/>
              </a:solidFill>
            </a:endParaRPr>
          </a:p>
          <a:p>
            <a:pPr eaLnBrk="1" hangingPunct="1">
              <a:lnSpc>
                <a:spcPct val="120000"/>
              </a:lnSpc>
              <a:buNone/>
            </a:pPr>
            <a:r>
              <a:rPr lang="en-US" altLang="zh-CN" sz="3600" dirty="0">
                <a:solidFill>
                  <a:schemeClr val="tx1"/>
                </a:solidFill>
              </a:rPr>
              <a:t>5.6.4  </a:t>
            </a:r>
            <a:r>
              <a:rPr lang="zh-CN" altLang="en-US" sz="3600" dirty="0">
                <a:solidFill>
                  <a:schemeClr val="tx1"/>
                </a:solidFill>
              </a:rPr>
              <a:t>激活触发器</a:t>
            </a:r>
            <a:endParaRPr lang="zh-CN" altLang="en-US" sz="3600" dirty="0">
              <a:solidFill>
                <a:schemeClr val="tx1"/>
              </a:solidFill>
            </a:endParaRPr>
          </a:p>
          <a:p>
            <a:pPr eaLnBrk="1" hangingPunct="1">
              <a:lnSpc>
                <a:spcPct val="120000"/>
              </a:lnSpc>
              <a:buNone/>
            </a:pPr>
            <a:r>
              <a:rPr lang="en-US" altLang="zh-CN" sz="3600" dirty="0">
                <a:solidFill>
                  <a:srgbClr val="FF0000"/>
                </a:solidFill>
              </a:rPr>
              <a:t>5.6.5  </a:t>
            </a:r>
            <a:r>
              <a:rPr lang="zh-CN" altLang="en-US" sz="3600" dirty="0">
                <a:solidFill>
                  <a:srgbClr val="FF0000"/>
                </a:solidFill>
              </a:rPr>
              <a:t>修改和删除触发器</a:t>
            </a:r>
            <a:endParaRPr lang="zh-CN" altLang="en-US" sz="3600" dirty="0">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728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5.6.5 </a:t>
            </a:r>
            <a:r>
              <a:rPr lang="zh-CN" altLang="en-US" sz="3200" dirty="0"/>
              <a:t>修改和删除触发器</a:t>
            </a:r>
            <a:endParaRPr lang="zh-CN" altLang="en-US" sz="3200" dirty="0"/>
          </a:p>
        </p:txBody>
      </p:sp>
      <p:sp>
        <p:nvSpPr>
          <p:cNvPr id="97284"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en-US" altLang="zh-CN" sz="2800" dirty="0">
                <a:solidFill>
                  <a:schemeClr val="accent2"/>
                </a:solidFill>
                <a:latin typeface="Arial" panose="020B0604020202020204" pitchFamily="34" charset="0"/>
              </a:rPr>
              <a:t>ALTER TRIGGER</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ea typeface="楷体_GB2312" pitchFamily="49" charset="-122"/>
              </a:rPr>
              <a:t>触发器名称</a:t>
            </a:r>
            <a:r>
              <a:rPr lang="zh-CN" altLang="en-US" sz="2800" dirty="0">
                <a:solidFill>
                  <a:schemeClr val="tx1"/>
                </a:solidFill>
                <a:latin typeface="Arial" panose="020B0604020202020204" pitchFamily="34" charset="0"/>
              </a:rPr>
              <a:t> </a:t>
            </a:r>
            <a:endParaRPr lang="zh-CN" altLang="en-US" sz="2800" dirty="0">
              <a:solidFill>
                <a:schemeClr val="tx1"/>
              </a:solidFill>
              <a:latin typeface="Arial" panose="020B0604020202020204" pitchFamily="34" charset="0"/>
            </a:endParaRPr>
          </a:p>
          <a:p>
            <a:pPr>
              <a:lnSpc>
                <a:spcPct val="105000"/>
              </a:lnSpc>
              <a:buClr>
                <a:srgbClr val="FF0000"/>
              </a:buClr>
              <a:buNone/>
            </a:pPr>
            <a:r>
              <a:rPr lang="en-US" altLang="zh-CN" sz="2800" dirty="0">
                <a:solidFill>
                  <a:schemeClr val="accent2"/>
                </a:solidFill>
                <a:latin typeface="Arial" panose="020B0604020202020204" pitchFamily="34" charset="0"/>
              </a:rPr>
              <a:t>ON</a:t>
            </a:r>
            <a:r>
              <a:rPr lang="en-US" altLang="zh-CN" sz="2800" dirty="0">
                <a:solidFill>
                  <a:schemeClr val="tx1"/>
                </a:solidFill>
                <a:latin typeface="Arial" panose="020B0604020202020204" pitchFamily="34" charset="0"/>
              </a:rPr>
              <a:t> { </a:t>
            </a:r>
            <a:r>
              <a:rPr lang="zh-CN" altLang="en-US" sz="2800" dirty="0">
                <a:solidFill>
                  <a:schemeClr val="tx1"/>
                </a:solidFill>
                <a:latin typeface="Arial" panose="020B0604020202020204" pitchFamily="34" charset="0"/>
                <a:ea typeface="楷体_GB2312" pitchFamily="49" charset="-122"/>
              </a:rPr>
              <a:t>表名</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ea typeface="楷体_GB2312" pitchFamily="49" charset="-122"/>
              </a:rPr>
              <a:t>视图名</a:t>
            </a:r>
            <a:r>
              <a:rPr lang="en-US" altLang="zh-CN" sz="2800" dirty="0">
                <a:solidFill>
                  <a:schemeClr val="tx1"/>
                </a:solidFill>
                <a:latin typeface="Arial" panose="020B0604020202020204" pitchFamily="34" charset="0"/>
              </a:rPr>
              <a:t>} </a:t>
            </a:r>
            <a:endParaRPr lang="en-US" altLang="zh-CN" sz="2800" dirty="0">
              <a:solidFill>
                <a:schemeClr val="tx1"/>
              </a:solidFill>
              <a:latin typeface="Arial" panose="020B0604020202020204" pitchFamily="34" charset="0"/>
            </a:endParaRPr>
          </a:p>
          <a:p>
            <a:pPr>
              <a:lnSpc>
                <a:spcPct val="105000"/>
              </a:lnSpc>
              <a:buClr>
                <a:srgbClr val="FF0000"/>
              </a:buClr>
              <a:buNone/>
            </a:pPr>
            <a:r>
              <a:rPr lang="en-US" altLang="zh-CN" sz="2800" dirty="0">
                <a:solidFill>
                  <a:schemeClr val="tx1"/>
                </a:solidFill>
                <a:latin typeface="Arial" panose="020B0604020202020204" pitchFamily="34" charset="0"/>
              </a:rPr>
              <a:t>{ { { </a:t>
            </a:r>
            <a:r>
              <a:rPr lang="en-US" altLang="zh-CN" sz="2800" dirty="0">
                <a:solidFill>
                  <a:schemeClr val="accent2"/>
                </a:solidFill>
                <a:latin typeface="Arial" panose="020B0604020202020204" pitchFamily="34" charset="0"/>
              </a:rPr>
              <a:t>FOR</a:t>
            </a:r>
            <a:r>
              <a:rPr lang="en-US" altLang="zh-CN" sz="2800" dirty="0">
                <a:solidFill>
                  <a:schemeClr val="tx1"/>
                </a:solidFill>
                <a:latin typeface="Arial" panose="020B0604020202020204" pitchFamily="34" charset="0"/>
              </a:rPr>
              <a:t> | </a:t>
            </a:r>
            <a:r>
              <a:rPr lang="en-US" altLang="zh-CN" sz="2800" dirty="0">
                <a:solidFill>
                  <a:schemeClr val="accent2"/>
                </a:solidFill>
                <a:latin typeface="Arial" panose="020B0604020202020204" pitchFamily="34" charset="0"/>
              </a:rPr>
              <a:t>AFTER</a:t>
            </a:r>
            <a:r>
              <a:rPr lang="en-US" altLang="zh-CN" sz="2800" dirty="0">
                <a:solidFill>
                  <a:schemeClr val="tx1"/>
                </a:solidFill>
                <a:latin typeface="Arial" panose="020B0604020202020204" pitchFamily="34" charset="0"/>
              </a:rPr>
              <a:t> | </a:t>
            </a:r>
            <a:r>
              <a:rPr lang="en-US" altLang="zh-CN" sz="2800" dirty="0">
                <a:solidFill>
                  <a:schemeClr val="accent2"/>
                </a:solidFill>
                <a:latin typeface="Arial" panose="020B0604020202020204" pitchFamily="34" charset="0"/>
              </a:rPr>
              <a:t>INSTEAD OF</a:t>
            </a:r>
            <a:r>
              <a:rPr lang="en-US" altLang="zh-CN" sz="2800" dirty="0">
                <a:solidFill>
                  <a:schemeClr val="tx1"/>
                </a:solidFill>
                <a:latin typeface="Arial" panose="020B0604020202020204" pitchFamily="34" charset="0"/>
              </a:rPr>
              <a:t> } { [</a:t>
            </a:r>
            <a:r>
              <a:rPr lang="en-US" altLang="zh-CN" sz="2800" dirty="0">
                <a:solidFill>
                  <a:schemeClr val="accent2"/>
                </a:solidFill>
                <a:latin typeface="Arial" panose="020B0604020202020204" pitchFamily="34" charset="0"/>
              </a:rPr>
              <a:t>DELETE</a:t>
            </a:r>
            <a:r>
              <a:rPr lang="en-US" altLang="zh-CN" sz="2800" dirty="0">
                <a:solidFill>
                  <a:schemeClr val="tx1"/>
                </a:solidFill>
                <a:latin typeface="Arial" panose="020B0604020202020204" pitchFamily="34" charset="0"/>
              </a:rPr>
              <a:t>] [,] [</a:t>
            </a:r>
            <a:r>
              <a:rPr lang="en-US" altLang="zh-CN" sz="2800" dirty="0">
                <a:solidFill>
                  <a:schemeClr val="accent2"/>
                </a:solidFill>
                <a:latin typeface="Arial" panose="020B0604020202020204" pitchFamily="34" charset="0"/>
              </a:rPr>
              <a:t>INSERT</a:t>
            </a:r>
            <a:r>
              <a:rPr lang="en-US" altLang="zh-CN" sz="2800" dirty="0">
                <a:solidFill>
                  <a:schemeClr val="tx1"/>
                </a:solidFill>
                <a:latin typeface="Arial" panose="020B0604020202020204" pitchFamily="34" charset="0"/>
              </a:rPr>
              <a:t>] [,] [</a:t>
            </a:r>
            <a:r>
              <a:rPr lang="en-US" altLang="zh-CN" sz="2800" dirty="0">
                <a:solidFill>
                  <a:schemeClr val="accent2"/>
                </a:solidFill>
                <a:latin typeface="Arial" panose="020B0604020202020204" pitchFamily="34" charset="0"/>
              </a:rPr>
              <a:t>UPDATE</a:t>
            </a:r>
            <a:r>
              <a:rPr lang="en-US" altLang="zh-CN" sz="2800" dirty="0">
                <a:solidFill>
                  <a:schemeClr val="tx1"/>
                </a:solidFill>
                <a:latin typeface="Arial" panose="020B0604020202020204" pitchFamily="34" charset="0"/>
              </a:rPr>
              <a:t>] }</a:t>
            </a:r>
            <a:endParaRPr lang="en-US" altLang="zh-CN" sz="2800" dirty="0">
              <a:solidFill>
                <a:schemeClr val="tx1"/>
              </a:solidFill>
              <a:latin typeface="Arial" panose="020B0604020202020204" pitchFamily="34" charset="0"/>
            </a:endParaRPr>
          </a:p>
          <a:p>
            <a:pPr>
              <a:lnSpc>
                <a:spcPct val="105000"/>
              </a:lnSpc>
              <a:buClr>
                <a:srgbClr val="FF0000"/>
              </a:buClr>
              <a:buNone/>
            </a:pPr>
            <a:r>
              <a:rPr lang="en-US" altLang="zh-CN" sz="2800" dirty="0">
                <a:solidFill>
                  <a:schemeClr val="accent2"/>
                </a:solidFill>
                <a:latin typeface="Arial" panose="020B0604020202020204" pitchFamily="34" charset="0"/>
              </a:rPr>
              <a:t>AS</a:t>
            </a:r>
            <a:endParaRPr lang="en-US" altLang="zh-CN" sz="2800" dirty="0">
              <a:solidFill>
                <a:schemeClr val="accent2"/>
              </a:solidFill>
              <a:latin typeface="Arial" panose="020B0604020202020204" pitchFamily="34" charset="0"/>
            </a:endParaRPr>
          </a:p>
          <a:p>
            <a:pPr>
              <a:lnSpc>
                <a:spcPct val="105000"/>
              </a:lnSpc>
              <a:buClr>
                <a:srgbClr val="FF0000"/>
              </a:buClr>
              <a:buNone/>
            </a:pPr>
            <a:r>
              <a:rPr lang="en-US" altLang="zh-CN" sz="2800" dirty="0">
                <a:solidFill>
                  <a:schemeClr val="tx1"/>
                </a:solidFill>
                <a:latin typeface="Arial" panose="020B0604020202020204" pitchFamily="34" charset="0"/>
              </a:rPr>
              <a:t>  [ { </a:t>
            </a:r>
            <a:r>
              <a:rPr lang="en-US" altLang="zh-CN" sz="2800" dirty="0">
                <a:solidFill>
                  <a:schemeClr val="accent2"/>
                </a:solidFill>
                <a:latin typeface="Arial" panose="020B0604020202020204" pitchFamily="34" charset="0"/>
              </a:rPr>
              <a:t>IF UPDATE</a:t>
            </a:r>
            <a:r>
              <a:rPr lang="en-US" altLang="zh-CN" sz="2800" dirty="0">
                <a:solidFill>
                  <a:schemeClr val="tx1"/>
                </a:solidFill>
                <a:latin typeface="Arial" panose="020B0604020202020204" pitchFamily="34" charset="0"/>
              </a:rPr>
              <a:t> ( column ) [ { </a:t>
            </a:r>
            <a:r>
              <a:rPr lang="en-US" altLang="zh-CN" sz="2800" dirty="0">
                <a:solidFill>
                  <a:schemeClr val="accent2"/>
                </a:solidFill>
                <a:latin typeface="Arial" panose="020B0604020202020204" pitchFamily="34" charset="0"/>
              </a:rPr>
              <a:t>AND</a:t>
            </a:r>
            <a:r>
              <a:rPr lang="en-US" altLang="zh-CN" sz="2800" dirty="0">
                <a:solidFill>
                  <a:schemeClr val="tx1"/>
                </a:solidFill>
                <a:latin typeface="Arial" panose="020B0604020202020204" pitchFamily="34" charset="0"/>
              </a:rPr>
              <a:t> | </a:t>
            </a:r>
            <a:r>
              <a:rPr lang="en-US" altLang="zh-CN" sz="2800" dirty="0">
                <a:solidFill>
                  <a:schemeClr val="accent2"/>
                </a:solidFill>
                <a:latin typeface="Arial" panose="020B0604020202020204" pitchFamily="34" charset="0"/>
              </a:rPr>
              <a:t>OR</a:t>
            </a:r>
            <a:r>
              <a:rPr lang="en-US" altLang="zh-CN" sz="2800" dirty="0">
                <a:solidFill>
                  <a:schemeClr val="tx1"/>
                </a:solidFill>
                <a:latin typeface="Arial" panose="020B0604020202020204" pitchFamily="34" charset="0"/>
              </a:rPr>
              <a:t> } </a:t>
            </a:r>
            <a:r>
              <a:rPr lang="en-US" altLang="zh-CN" sz="2800" dirty="0">
                <a:solidFill>
                  <a:schemeClr val="accent2"/>
                </a:solidFill>
                <a:latin typeface="Arial" panose="020B0604020202020204" pitchFamily="34" charset="0"/>
              </a:rPr>
              <a:t>UPDATE</a:t>
            </a:r>
            <a:r>
              <a:rPr lang="en-US" altLang="zh-CN" sz="2800" dirty="0">
                <a:solidFill>
                  <a:schemeClr val="tx1"/>
                </a:solidFill>
                <a:latin typeface="Arial" panose="020B0604020202020204" pitchFamily="34" charset="0"/>
              </a:rPr>
              <a:t> ( column ) ] [ ...n ] } ] </a:t>
            </a:r>
            <a:endParaRPr lang="en-US" altLang="zh-CN" sz="2800" dirty="0">
              <a:solidFill>
                <a:schemeClr val="tx1"/>
              </a:solidFill>
              <a:latin typeface="Arial" panose="020B0604020202020204" pitchFamily="34" charset="0"/>
            </a:endParaRPr>
          </a:p>
          <a:p>
            <a:pPr>
              <a:lnSpc>
                <a:spcPct val="105000"/>
              </a:lnSpc>
              <a:buClr>
                <a:srgbClr val="FF0000"/>
              </a:buClr>
              <a:buNone/>
            </a:pPr>
            <a:r>
              <a:rPr lang="en-US" altLang="zh-CN" sz="2800" dirty="0">
                <a:solidFill>
                  <a:schemeClr val="tx1"/>
                </a:solidFill>
                <a:latin typeface="Arial" panose="020B0604020202020204" pitchFamily="34" charset="0"/>
              </a:rPr>
              <a:t>        SQL</a:t>
            </a:r>
            <a:r>
              <a:rPr lang="zh-CN" altLang="en-US" sz="2800" dirty="0">
                <a:solidFill>
                  <a:schemeClr val="tx1"/>
                </a:solidFill>
                <a:latin typeface="Arial" panose="020B0604020202020204" pitchFamily="34" charset="0"/>
              </a:rPr>
              <a:t>语句 </a:t>
            </a:r>
            <a:r>
              <a:rPr lang="en-US" altLang="zh-CN" sz="2800" dirty="0">
                <a:solidFill>
                  <a:schemeClr val="tx1"/>
                </a:solidFill>
                <a:latin typeface="Arial" panose="020B0604020202020204" pitchFamily="34" charset="0"/>
              </a:rPr>
              <a:t>[ ...n ] </a:t>
            </a:r>
            <a:endParaRPr lang="en-US" altLang="zh-CN" sz="2800" dirty="0">
              <a:solidFill>
                <a:schemeClr val="tx1"/>
              </a:solidFill>
              <a:latin typeface="Arial" panose="020B0604020202020204" pitchFamily="34" charset="0"/>
            </a:endParaRPr>
          </a:p>
          <a:p>
            <a:pPr>
              <a:lnSpc>
                <a:spcPct val="105000"/>
              </a:lnSpc>
              <a:buClr>
                <a:srgbClr val="FF0000"/>
              </a:buClr>
              <a:buNone/>
            </a:pPr>
            <a:r>
              <a:rPr lang="en-US" altLang="zh-CN" sz="2800" dirty="0">
                <a:solidFill>
                  <a:schemeClr val="tx1"/>
                </a:solidFill>
                <a:latin typeface="Arial" panose="020B0604020202020204" pitchFamily="34" charset="0"/>
              </a:rPr>
              <a:t>    } </a:t>
            </a:r>
            <a:endParaRPr lang="en-US" altLang="zh-CN" sz="2800" dirty="0">
              <a:solidFill>
                <a:schemeClr val="tx1"/>
              </a:solidFill>
              <a:latin typeface="Arial" panose="020B0604020202020204" pitchFamily="34" charset="0"/>
            </a:endParaRPr>
          </a:p>
          <a:p>
            <a:pPr>
              <a:lnSpc>
                <a:spcPct val="105000"/>
              </a:lnSpc>
              <a:buClr>
                <a:srgbClr val="FF0000"/>
              </a:buClr>
              <a:buNone/>
            </a:pPr>
            <a:r>
              <a:rPr lang="en-US" altLang="zh-CN" sz="2800" dirty="0">
                <a:solidFill>
                  <a:schemeClr val="tx1"/>
                </a:solidFill>
                <a:latin typeface="Arial" panose="020B0604020202020204" pitchFamily="34" charset="0"/>
              </a:rPr>
              <a:t>} </a:t>
            </a:r>
            <a:endParaRPr lang="en-US" altLang="zh-CN" sz="2800" dirty="0">
              <a:solidFill>
                <a:schemeClr val="tx1"/>
              </a:solidFill>
              <a:latin typeface="Arial" panose="020B0604020202020204" pitchFamily="34" charset="0"/>
            </a:endParaRPr>
          </a:p>
          <a:p>
            <a:pPr>
              <a:lnSpc>
                <a:spcPct val="105000"/>
              </a:lnSpc>
              <a:buClr>
                <a:srgbClr val="FF0000"/>
              </a:buClr>
              <a:buNone/>
            </a:pPr>
            <a:r>
              <a:rPr lang="zh-CN" altLang="en-US" sz="2800" i="1" dirty="0">
                <a:solidFill>
                  <a:schemeClr val="tx1"/>
                </a:solidFill>
                <a:latin typeface="Arial" panose="020B0604020202020204" pitchFamily="34" charset="0"/>
              </a:rPr>
              <a:t>注</a:t>
            </a:r>
            <a:r>
              <a:rPr lang="en-US" altLang="zh-CN" sz="2800" i="1" dirty="0">
                <a:solidFill>
                  <a:schemeClr val="tx1"/>
                </a:solidFill>
                <a:latin typeface="Arial" panose="020B0604020202020204" pitchFamily="34" charset="0"/>
              </a:rPr>
              <a:t>:</a:t>
            </a:r>
            <a:r>
              <a:rPr lang="zh-CN" altLang="en-US" sz="2800" i="1" dirty="0">
                <a:solidFill>
                  <a:schemeClr val="tx1"/>
                </a:solidFill>
                <a:latin typeface="Arial" panose="020B0604020202020204" pitchFamily="34" charset="0"/>
              </a:rPr>
              <a:t>就是把</a:t>
            </a:r>
            <a:r>
              <a:rPr lang="en-US" altLang="zh-CN" sz="2800" i="1" dirty="0">
                <a:solidFill>
                  <a:schemeClr val="tx1"/>
                </a:solidFill>
                <a:latin typeface="Arial" panose="020B0604020202020204" pitchFamily="34" charset="0"/>
              </a:rPr>
              <a:t>create</a:t>
            </a:r>
            <a:r>
              <a:rPr lang="zh-CN" altLang="en-US" sz="2800" i="1" dirty="0">
                <a:solidFill>
                  <a:schemeClr val="tx1"/>
                </a:solidFill>
                <a:latin typeface="Arial" panose="020B0604020202020204" pitchFamily="34" charset="0"/>
              </a:rPr>
              <a:t>改为</a:t>
            </a:r>
            <a:r>
              <a:rPr lang="en-US" altLang="zh-CN" sz="2800" i="1" dirty="0">
                <a:solidFill>
                  <a:schemeClr val="tx1"/>
                </a:solidFill>
                <a:latin typeface="Arial" panose="020B0604020202020204" pitchFamily="34" charset="0"/>
              </a:rPr>
              <a:t>alter</a:t>
            </a:r>
            <a:endParaRPr lang="en-US" altLang="zh-CN" sz="2800" i="1" dirty="0">
              <a:solidFill>
                <a:schemeClr val="tx1"/>
              </a:solidFill>
              <a:latin typeface="Arial" panose="020B0604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83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sz="3200" dirty="0"/>
              <a:t>5.6.5 </a:t>
            </a:r>
            <a:r>
              <a:rPr lang="zh-CN" altLang="en-US" sz="3200" dirty="0"/>
              <a:t>修改和删除触发器</a:t>
            </a:r>
            <a:endParaRPr lang="zh-CN" altLang="en-US" sz="3200" dirty="0"/>
          </a:p>
        </p:txBody>
      </p:sp>
      <p:sp>
        <p:nvSpPr>
          <p:cNvPr id="98308" name="Rectangle 3"/>
          <p:cNvSpPr>
            <a:spLocks noGrp="1"/>
          </p:cNvSpPr>
          <p:nvPr>
            <p:ph idx="1"/>
          </p:nvPr>
        </p:nvSpPr>
        <p:spPr>
          <a:xfrm>
            <a:off x="228600" y="762000"/>
            <a:ext cx="8736013" cy="5867400"/>
          </a:xfrm>
          <a:ln/>
        </p:spPr>
        <p:txBody>
          <a:bodyPr vert="horz" wrap="square" lIns="91440" tIns="45720" rIns="91440" bIns="45720" anchor="t" anchorCtr="0"/>
          <a:p>
            <a:pPr>
              <a:lnSpc>
                <a:spcPct val="105000"/>
              </a:lnSpc>
              <a:buClr>
                <a:srgbClr val="FF0000"/>
              </a:buClr>
              <a:buNone/>
            </a:pPr>
            <a:r>
              <a:rPr lang="zh-CN" altLang="en-US" sz="3600" dirty="0">
                <a:solidFill>
                  <a:schemeClr val="tx1"/>
                </a:solidFill>
                <a:latin typeface="Arial" panose="020B0604020202020204" pitchFamily="34" charset="0"/>
              </a:rPr>
              <a:t>删除触发器</a:t>
            </a:r>
            <a:r>
              <a:rPr lang="en-US" altLang="zh-CN" sz="3600" dirty="0">
                <a:solidFill>
                  <a:schemeClr val="tx1"/>
                </a:solidFill>
                <a:latin typeface="Arial" panose="020B0604020202020204" pitchFamily="34" charset="0"/>
              </a:rPr>
              <a:t>:</a:t>
            </a:r>
            <a:endParaRPr lang="en-US" altLang="zh-CN" sz="3600" dirty="0">
              <a:solidFill>
                <a:schemeClr val="tx1"/>
              </a:solidFill>
              <a:latin typeface="Arial" panose="020B0604020202020204" pitchFamily="34" charset="0"/>
            </a:endParaRPr>
          </a:p>
          <a:p>
            <a:pPr>
              <a:lnSpc>
                <a:spcPct val="105000"/>
              </a:lnSpc>
              <a:buClr>
                <a:srgbClr val="FF0000"/>
              </a:buClr>
              <a:buNone/>
            </a:pPr>
            <a:r>
              <a:rPr lang="en-US" altLang="en-US" sz="3600" dirty="0">
                <a:solidFill>
                  <a:schemeClr val="tx1"/>
                </a:solidFill>
                <a:latin typeface="Arial" panose="020B0604020202020204" pitchFamily="34" charset="0"/>
              </a:rPr>
              <a:t>DROP TRIGGER {触发器} [ ,...n ]</a:t>
            </a:r>
            <a:endParaRPr lang="en-US" altLang="zh-CN" sz="3600" dirty="0">
              <a:solidFill>
                <a:schemeClr val="tx1"/>
              </a:solidFill>
              <a:latin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9331" name="Rectangle 2"/>
          <p:cNvSpPr/>
          <p:nvPr/>
        </p:nvSpPr>
        <p:spPr>
          <a:xfrm>
            <a:off x="558800" y="5813425"/>
            <a:ext cx="79121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99332" name="Rectangle 3"/>
          <p:cNvSpPr>
            <a:spLocks noGrp="1"/>
          </p:cNvSpPr>
          <p:nvPr>
            <p:ph idx="1"/>
          </p:nvPr>
        </p:nvSpPr>
        <p:spPr>
          <a:xfrm>
            <a:off x="762000" y="1358900"/>
            <a:ext cx="7696200" cy="5238750"/>
          </a:xfrm>
          <a:ln/>
        </p:spPr>
        <p:txBody>
          <a:bodyPr vert="horz" wrap="square" lIns="91440" tIns="45720" rIns="91440" bIns="45720" anchor="t" anchorCtr="0"/>
          <a:p>
            <a:pPr algn="just" eaLnBrk="1" hangingPunct="1">
              <a:lnSpc>
                <a:spcPct val="130000"/>
              </a:lnSpc>
              <a:buNone/>
            </a:pPr>
            <a:r>
              <a:rPr lang="en-US" altLang="zh-CN" dirty="0">
                <a:solidFill>
                  <a:schemeClr val="tx1"/>
                </a:solidFill>
              </a:rPr>
              <a:t>5.1  </a:t>
            </a:r>
            <a:r>
              <a:rPr lang="zh-CN" altLang="en-US" dirty="0">
                <a:solidFill>
                  <a:schemeClr val="tx1"/>
                </a:solidFill>
              </a:rPr>
              <a:t>实体完整性</a:t>
            </a:r>
            <a:endParaRPr lang="zh-CN" altLang="en-US" dirty="0">
              <a:solidFill>
                <a:schemeClr val="tx1"/>
              </a:solidFill>
            </a:endParaRPr>
          </a:p>
          <a:p>
            <a:pPr algn="just" eaLnBrk="1" hangingPunct="1">
              <a:lnSpc>
                <a:spcPct val="130000"/>
              </a:lnSpc>
              <a:buNone/>
            </a:pPr>
            <a:r>
              <a:rPr lang="en-US" altLang="zh-CN" dirty="0">
                <a:solidFill>
                  <a:schemeClr val="tx1"/>
                </a:solidFill>
              </a:rPr>
              <a:t>5.2  </a:t>
            </a:r>
            <a:r>
              <a:rPr lang="zh-CN" altLang="en-US" dirty="0">
                <a:solidFill>
                  <a:schemeClr val="tx1"/>
                </a:solidFill>
              </a:rPr>
              <a:t>参照完整性</a:t>
            </a:r>
            <a:endParaRPr lang="zh-CN" altLang="en-US" dirty="0">
              <a:solidFill>
                <a:schemeClr val="tx1"/>
              </a:solidFill>
            </a:endParaRPr>
          </a:p>
          <a:p>
            <a:pPr algn="just" eaLnBrk="1" hangingPunct="1">
              <a:lnSpc>
                <a:spcPct val="130000"/>
              </a:lnSpc>
              <a:buNone/>
            </a:pPr>
            <a:r>
              <a:rPr lang="en-US" altLang="zh-CN" dirty="0">
                <a:solidFill>
                  <a:schemeClr val="tx1"/>
                </a:solidFill>
              </a:rPr>
              <a:t>5.3  </a:t>
            </a:r>
            <a:r>
              <a:rPr lang="zh-CN" altLang="en-US" dirty="0">
                <a:solidFill>
                  <a:schemeClr val="tx1"/>
                </a:solidFill>
              </a:rPr>
              <a:t>用户定义的完整性</a:t>
            </a:r>
            <a:endParaRPr lang="zh-CN" altLang="en-US" dirty="0">
              <a:solidFill>
                <a:schemeClr val="tx1"/>
              </a:solidFill>
            </a:endParaRPr>
          </a:p>
          <a:p>
            <a:pPr algn="just" eaLnBrk="1" hangingPunct="1">
              <a:lnSpc>
                <a:spcPct val="130000"/>
              </a:lnSpc>
              <a:buNone/>
            </a:pPr>
            <a:r>
              <a:rPr lang="en-US" altLang="zh-CN" dirty="0">
                <a:solidFill>
                  <a:schemeClr val="tx1"/>
                </a:solidFill>
              </a:rPr>
              <a:t>5.4  </a:t>
            </a:r>
            <a:r>
              <a:rPr lang="zh-CN" altLang="en-US" dirty="0">
                <a:solidFill>
                  <a:schemeClr val="tx1"/>
                </a:solidFill>
              </a:rPr>
              <a:t>完整性约束命名子句</a:t>
            </a:r>
            <a:endParaRPr lang="zh-CN" altLang="en-US" dirty="0">
              <a:solidFill>
                <a:schemeClr val="tx1"/>
              </a:solidFill>
            </a:endParaRPr>
          </a:p>
          <a:p>
            <a:pPr algn="just" eaLnBrk="1" hangingPunct="1">
              <a:lnSpc>
                <a:spcPct val="130000"/>
              </a:lnSpc>
              <a:buNone/>
            </a:pPr>
            <a:r>
              <a:rPr lang="en-US" altLang="zh-CN" dirty="0">
                <a:solidFill>
                  <a:schemeClr val="bg2"/>
                </a:solidFill>
              </a:rPr>
              <a:t>5.5  </a:t>
            </a:r>
            <a:r>
              <a:rPr lang="zh-CN" altLang="en-US" dirty="0">
                <a:solidFill>
                  <a:schemeClr val="bg2"/>
                </a:solidFill>
              </a:rPr>
              <a:t>域中的完整性限制</a:t>
            </a:r>
            <a:endParaRPr lang="zh-CN" altLang="en-US" dirty="0">
              <a:solidFill>
                <a:schemeClr val="bg2"/>
              </a:solidFill>
            </a:endParaRPr>
          </a:p>
          <a:p>
            <a:pPr algn="just" eaLnBrk="1" hangingPunct="1">
              <a:lnSpc>
                <a:spcPct val="130000"/>
              </a:lnSpc>
              <a:buNone/>
            </a:pPr>
            <a:r>
              <a:rPr lang="en-US" altLang="zh-CN" dirty="0">
                <a:solidFill>
                  <a:schemeClr val="tx1"/>
                </a:solidFill>
              </a:rPr>
              <a:t>5.6  </a:t>
            </a:r>
            <a:r>
              <a:rPr lang="zh-CN" altLang="en-US" dirty="0">
                <a:solidFill>
                  <a:schemeClr val="tx1"/>
                </a:solidFill>
              </a:rPr>
              <a:t>触发器</a:t>
            </a:r>
            <a:endParaRPr lang="zh-CN" altLang="en-US" dirty="0">
              <a:solidFill>
                <a:schemeClr val="tx1"/>
              </a:solidFill>
            </a:endParaRPr>
          </a:p>
          <a:p>
            <a:pPr algn="just" eaLnBrk="1" hangingPunct="1">
              <a:lnSpc>
                <a:spcPct val="130000"/>
              </a:lnSpc>
              <a:buNone/>
            </a:pPr>
            <a:r>
              <a:rPr lang="en-US" altLang="zh-CN" dirty="0">
                <a:solidFill>
                  <a:schemeClr val="bg1"/>
                </a:solidFill>
              </a:rPr>
              <a:t>5.7  </a:t>
            </a:r>
            <a:r>
              <a:rPr lang="zh-CN" altLang="en-US" dirty="0">
                <a:solidFill>
                  <a:schemeClr val="bg1"/>
                </a:solidFill>
              </a:rPr>
              <a:t>小结</a:t>
            </a:r>
            <a:endParaRPr lang="zh-CN" altLang="en-US" dirty="0">
              <a:solidFill>
                <a:schemeClr val="bg1"/>
              </a:solidFill>
            </a:endParaRPr>
          </a:p>
        </p:txBody>
      </p:sp>
      <p:sp>
        <p:nvSpPr>
          <p:cNvPr id="99333" name="Rectangle 4"/>
          <p:cNvSpPr>
            <a:spLocks noGrp="1"/>
          </p:cNvSpPr>
          <p:nvPr>
            <p:ph type="title"/>
          </p:nvPr>
        </p:nvSpPr>
        <p:spPr>
          <a:ln/>
        </p:spPr>
        <p:txBody>
          <a:bodyPr vert="horz" wrap="square" lIns="91440" tIns="45720" rIns="91440" bIns="45720" anchor="ctr" anchorCtr="0"/>
          <a:p>
            <a:pPr eaLnBrk="1" hangingPunct="1"/>
            <a:r>
              <a:rPr lang="zh-CN" altLang="en-US" dirty="0"/>
              <a:t>第</a:t>
            </a:r>
            <a:r>
              <a:rPr lang="en-US" altLang="zh-CN" dirty="0"/>
              <a:t>5</a:t>
            </a:r>
            <a:r>
              <a:rPr lang="zh-CN" altLang="en-US" dirty="0"/>
              <a:t>章 数据库完整性</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035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5.7 </a:t>
            </a:r>
            <a:r>
              <a:rPr lang="zh-CN" altLang="en-US" dirty="0"/>
              <a:t>小结</a:t>
            </a:r>
            <a:endParaRPr lang="zh-CN" altLang="en-US" dirty="0"/>
          </a:p>
        </p:txBody>
      </p:sp>
      <p:sp>
        <p:nvSpPr>
          <p:cNvPr id="100356" name="Rectangle 3"/>
          <p:cNvSpPr>
            <a:spLocks noGrp="1"/>
          </p:cNvSpPr>
          <p:nvPr>
            <p:ph idx="1"/>
          </p:nvPr>
        </p:nvSpPr>
        <p:spPr>
          <a:xfrm>
            <a:off x="468313" y="908050"/>
            <a:ext cx="8382000" cy="5410200"/>
          </a:xfrm>
          <a:ln/>
        </p:spPr>
        <p:txBody>
          <a:bodyPr vert="horz" wrap="square" lIns="91440" tIns="45720" rIns="91440" bIns="45720" anchor="t" anchorCtr="0"/>
          <a:p>
            <a:pPr>
              <a:lnSpc>
                <a:spcPct val="120000"/>
              </a:lnSpc>
              <a:buClr>
                <a:srgbClr val="FF0000"/>
              </a:buClr>
              <a:buNone/>
            </a:pPr>
            <a:r>
              <a:rPr lang="en-US" altLang="zh-CN" sz="3600" dirty="0">
                <a:solidFill>
                  <a:schemeClr val="tx1"/>
                </a:solidFill>
              </a:rPr>
              <a:t>	</a:t>
            </a:r>
            <a:r>
              <a:rPr lang="zh-CN" altLang="en-US" sz="3600" dirty="0">
                <a:solidFill>
                  <a:schemeClr val="tx1"/>
                </a:solidFill>
              </a:rPr>
              <a:t>完整性约束机制</a:t>
            </a:r>
            <a:r>
              <a:rPr lang="en-US" altLang="zh-CN" sz="3600" dirty="0">
                <a:solidFill>
                  <a:schemeClr val="tx1"/>
                </a:solidFill>
              </a:rPr>
              <a:t>:</a:t>
            </a:r>
            <a:endParaRPr lang="en-US" altLang="zh-CN" sz="3600" dirty="0">
              <a:solidFill>
                <a:schemeClr val="tx1"/>
              </a:solidFill>
            </a:endParaRPr>
          </a:p>
          <a:p>
            <a:pPr lvl="1">
              <a:lnSpc>
                <a:spcPct val="120000"/>
              </a:lnSpc>
            </a:pPr>
            <a:r>
              <a:rPr lang="en-US" altLang="zh-CN" sz="3200" dirty="0"/>
              <a:t>Primary Key, Unique, Not Null</a:t>
            </a:r>
            <a:endParaRPr lang="en-US" altLang="zh-CN" sz="3200" dirty="0"/>
          </a:p>
          <a:p>
            <a:pPr lvl="1">
              <a:lnSpc>
                <a:spcPct val="120000"/>
              </a:lnSpc>
            </a:pPr>
            <a:r>
              <a:rPr lang="en-US" altLang="zh-CN" sz="3200" dirty="0"/>
              <a:t>Default</a:t>
            </a:r>
            <a:endParaRPr lang="en-US" altLang="zh-CN" sz="3200" dirty="0"/>
          </a:p>
          <a:p>
            <a:pPr lvl="1">
              <a:lnSpc>
                <a:spcPct val="120000"/>
              </a:lnSpc>
            </a:pPr>
            <a:r>
              <a:rPr lang="en-US" altLang="zh-CN" sz="3200" dirty="0"/>
              <a:t>Check</a:t>
            </a:r>
            <a:endParaRPr lang="en-US" altLang="zh-CN" sz="3200" dirty="0"/>
          </a:p>
          <a:p>
            <a:pPr lvl="1">
              <a:lnSpc>
                <a:spcPct val="120000"/>
              </a:lnSpc>
            </a:pPr>
            <a:r>
              <a:rPr lang="en-US" altLang="zh-CN" sz="3200" dirty="0"/>
              <a:t>Foreign Key … References …</a:t>
            </a:r>
            <a:endParaRPr lang="en-US" altLang="zh-CN" sz="3200" dirty="0"/>
          </a:p>
          <a:p>
            <a:pPr lvl="1">
              <a:lnSpc>
                <a:spcPct val="120000"/>
              </a:lnSpc>
            </a:pPr>
            <a:r>
              <a:rPr lang="en-US" altLang="zh-CN" sz="3200" dirty="0"/>
              <a:t>Trigger: Instead of , After, Before, For </a:t>
            </a:r>
            <a:endParaRPr lang="en-US" altLang="zh-CN" sz="3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1379" name="Rectangle 2"/>
          <p:cNvSpPr/>
          <p:nvPr/>
        </p:nvSpPr>
        <p:spPr>
          <a:xfrm>
            <a:off x="1295400" y="76200"/>
            <a:ext cx="6781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4400" dirty="0">
                <a:solidFill>
                  <a:schemeClr val="accent2"/>
                </a:solidFill>
                <a:ea typeface="经典细隶书简" pitchFamily="49" charset="-122"/>
              </a:rPr>
              <a:t>第</a:t>
            </a:r>
            <a:r>
              <a:rPr lang="en-US" altLang="zh-CN" sz="4400" dirty="0">
                <a:solidFill>
                  <a:schemeClr val="accent2"/>
                </a:solidFill>
                <a:ea typeface="经典细隶书简" pitchFamily="49" charset="-122"/>
              </a:rPr>
              <a:t>5</a:t>
            </a:r>
            <a:r>
              <a:rPr lang="zh-CN" altLang="en-US" sz="4400" dirty="0">
                <a:solidFill>
                  <a:schemeClr val="accent2"/>
                </a:solidFill>
                <a:ea typeface="经典细隶书简" pitchFamily="49" charset="-122"/>
              </a:rPr>
              <a:t>章书面作业</a:t>
            </a:r>
            <a:endParaRPr lang="zh-CN" altLang="en-US" sz="4400" dirty="0">
              <a:solidFill>
                <a:schemeClr val="accent2"/>
              </a:solidFill>
              <a:ea typeface="经典细隶书简" pitchFamily="49" charset="-122"/>
            </a:endParaRPr>
          </a:p>
        </p:txBody>
      </p:sp>
      <p:sp>
        <p:nvSpPr>
          <p:cNvPr id="101380" name="Rectangle 3"/>
          <p:cNvSpPr/>
          <p:nvPr/>
        </p:nvSpPr>
        <p:spPr>
          <a:xfrm>
            <a:off x="533400" y="1066800"/>
            <a:ext cx="8229600" cy="434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buNone/>
            </a:pPr>
            <a:r>
              <a:rPr lang="en-US" altLang="zh-CN" sz="4800" b="0" dirty="0">
                <a:solidFill>
                  <a:schemeClr val="tx1"/>
                </a:solidFill>
                <a:ea typeface="仿宋_GB2312" pitchFamily="49" charset="-122"/>
              </a:rPr>
              <a:t>P166</a:t>
            </a:r>
            <a:r>
              <a:rPr lang="zh-CN" altLang="en-US" sz="4800" b="0" dirty="0">
                <a:solidFill>
                  <a:schemeClr val="tx1"/>
                </a:solidFill>
                <a:ea typeface="黑体" panose="02010609060101010101" pitchFamily="49" charset="-122"/>
              </a:rPr>
              <a:t>习题</a:t>
            </a:r>
            <a:endParaRPr lang="zh-CN" altLang="en-US" sz="4800" b="0" dirty="0">
              <a:solidFill>
                <a:schemeClr val="tx1"/>
              </a:solidFill>
              <a:ea typeface="黑体" panose="02010609060101010101" pitchFamily="49" charset="-122"/>
            </a:endParaRPr>
          </a:p>
          <a:p>
            <a:pPr marL="342900" lvl="0" indent="-342900" eaLnBrk="1" hangingPunct="1"/>
            <a:r>
              <a:rPr lang="en-US" altLang="zh-CN" sz="4800" b="0" dirty="0">
                <a:solidFill>
                  <a:schemeClr val="tx1"/>
                </a:solidFill>
                <a:ea typeface="仿宋_GB2312" pitchFamily="49" charset="-122"/>
              </a:rPr>
              <a:t>1-7</a:t>
            </a:r>
            <a:endParaRPr lang="en-US" altLang="zh-CN" sz="4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03" name="Text Box 2"/>
          <p:cNvSpPr txBox="1"/>
          <p:nvPr/>
        </p:nvSpPr>
        <p:spPr>
          <a:xfrm>
            <a:off x="3124200" y="2057400"/>
            <a:ext cx="2632075" cy="15557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50000"/>
              </a:spcBef>
              <a:buClrTx/>
              <a:buFontTx/>
              <a:buNone/>
            </a:pPr>
            <a:r>
              <a:rPr lang="zh-CN" altLang="en-US" sz="9600" dirty="0">
                <a:solidFill>
                  <a:schemeClr val="accent2"/>
                </a:solidFill>
              </a:rPr>
              <a:t>再见</a:t>
            </a:r>
            <a:endParaRPr lang="zh-CN" altLang="en-US" sz="9600" dirty="0">
              <a:solidFill>
                <a:schemeClr val="accent2"/>
              </a:solidFill>
            </a:endParaRPr>
          </a:p>
        </p:txBody>
      </p:sp>
    </p:spTree>
  </p:cSld>
  <p:clrMapOvr>
    <a:masterClrMapping/>
  </p:clrMapOvr>
</p:sld>
</file>

<file path=ppt/theme/theme1.xml><?xml version="1.0" encoding="utf-8"?>
<a:theme xmlns:a="http://schemas.openxmlformats.org/drawingml/2006/main" name="kyl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kylin">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kyli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yli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yli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yli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yli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yli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yli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kylingray</Template>
  <TotalTime>0</TotalTime>
  <Words>19689</Words>
  <Application>WPS Presentation</Application>
  <PresentationFormat>全屏显示(4:3)</PresentationFormat>
  <Paragraphs>1153</Paragraphs>
  <Slides>96</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96</vt:i4>
      </vt:variant>
    </vt:vector>
  </HeadingPairs>
  <TitlesOfParts>
    <vt:vector size="114"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Calibri</vt:lpstr>
      <vt:lpstr>黑体</vt:lpstr>
      <vt:lpstr>Arial Unicode MS</vt:lpstr>
      <vt:lpstr>Bookman Old Style</vt:lpstr>
      <vt:lpstr>微软雅黑</vt:lpstr>
      <vt:lpstr>Arial Unicode MS</vt:lpstr>
      <vt:lpstr>kylin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数据库完整性</dc:title>
  <dc:creator>kylin</dc:creator>
  <cp:lastModifiedBy>nakanosan</cp:lastModifiedBy>
  <cp:revision>206</cp:revision>
  <dcterms:created xsi:type="dcterms:W3CDTF">2026-06-17T19:28:57Z</dcterms:created>
  <dcterms:modified xsi:type="dcterms:W3CDTF">2026-06-17T19:28:57Z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269710BCFFD8D35179F5326A2F923592_43</vt:lpwstr>
  </property>
  <property fmtid="{D5CDD505-2E9C-101B-9397-08002B2CF9AE}" pid="3" name="KSOProductBuildVer">
    <vt:lpwstr>1033-12.1.2.26885</vt:lpwstr>
  </property>
</Properties>
</file>