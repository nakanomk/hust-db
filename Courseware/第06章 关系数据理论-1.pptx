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3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326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327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328" r:id="rId45"/>
    <p:sldId id="299" r:id="rId46"/>
    <p:sldId id="300" r:id="rId47"/>
    <p:sldId id="301" r:id="rId48"/>
    <p:sldId id="302" r:id="rId49"/>
    <p:sldId id="303" r:id="rId50"/>
    <p:sldId id="304" r:id="rId51"/>
    <p:sldId id="305" r:id="rId52"/>
    <p:sldId id="306" r:id="rId53"/>
    <p:sldId id="307" r:id="rId54"/>
    <p:sldId id="308" r:id="rId55"/>
    <p:sldId id="309" r:id="rId56"/>
    <p:sldId id="310" r:id="rId57"/>
    <p:sldId id="311" r:id="rId58"/>
    <p:sldId id="312" r:id="rId59"/>
    <p:sldId id="313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9" r:id="rId71"/>
    <p:sldId id="325" r:id="rId72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1400" b="1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34605"/>
    <p:restoredTop sz="86355"/>
  </p:normalViewPr>
  <p:slideViewPr>
    <p:cSldViewPr showGuides="1">
      <p:cViewPr varScale="1">
        <p:scale>
          <a:sx n="72" d="100"/>
          <a:sy n="72" d="100"/>
        </p:scale>
        <p:origin x="432" y="2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175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6" Type="http://schemas.openxmlformats.org/officeDocument/2006/relationships/tableStyles" Target="tableStyles.xml"/><Relationship Id="rId75" Type="http://schemas.openxmlformats.org/officeDocument/2006/relationships/viewProps" Target="viewProps.xml"/><Relationship Id="rId74" Type="http://schemas.openxmlformats.org/officeDocument/2006/relationships/presProps" Target="presProps.xml"/><Relationship Id="rId73" Type="http://schemas.openxmlformats.org/officeDocument/2006/relationships/notesMaster" Target="notesMasters/notesMaster1.xml"/><Relationship Id="rId72" Type="http://schemas.openxmlformats.org/officeDocument/2006/relationships/slide" Target="slides/slide70.xml"/><Relationship Id="rId71" Type="http://schemas.openxmlformats.org/officeDocument/2006/relationships/slide" Target="slides/slide69.xml"/><Relationship Id="rId70" Type="http://schemas.openxmlformats.org/officeDocument/2006/relationships/slide" Target="slides/slide68.xml"/><Relationship Id="rId7" Type="http://schemas.openxmlformats.org/officeDocument/2006/relationships/slide" Target="slides/slide5.xml"/><Relationship Id="rId69" Type="http://schemas.openxmlformats.org/officeDocument/2006/relationships/slide" Target="slides/slide67.xml"/><Relationship Id="rId68" Type="http://schemas.openxmlformats.org/officeDocument/2006/relationships/slide" Target="slides/slide66.xml"/><Relationship Id="rId67" Type="http://schemas.openxmlformats.org/officeDocument/2006/relationships/slide" Target="slides/slide65.xml"/><Relationship Id="rId66" Type="http://schemas.openxmlformats.org/officeDocument/2006/relationships/slide" Target="slides/slide64.xml"/><Relationship Id="rId65" Type="http://schemas.openxmlformats.org/officeDocument/2006/relationships/slide" Target="slides/slide63.xml"/><Relationship Id="rId64" Type="http://schemas.openxmlformats.org/officeDocument/2006/relationships/slide" Target="slides/slide62.xml"/><Relationship Id="rId63" Type="http://schemas.openxmlformats.org/officeDocument/2006/relationships/slide" Target="slides/slide61.xml"/><Relationship Id="rId62" Type="http://schemas.openxmlformats.org/officeDocument/2006/relationships/slide" Target="slides/slide60.xml"/><Relationship Id="rId61" Type="http://schemas.openxmlformats.org/officeDocument/2006/relationships/slide" Target="slides/slide59.xml"/><Relationship Id="rId60" Type="http://schemas.openxmlformats.org/officeDocument/2006/relationships/slide" Target="slides/slide58.xml"/><Relationship Id="rId6" Type="http://schemas.openxmlformats.org/officeDocument/2006/relationships/slide" Target="slides/slide4.xml"/><Relationship Id="rId59" Type="http://schemas.openxmlformats.org/officeDocument/2006/relationships/slide" Target="slides/slide57.xml"/><Relationship Id="rId58" Type="http://schemas.openxmlformats.org/officeDocument/2006/relationships/slide" Target="slides/slide56.xml"/><Relationship Id="rId57" Type="http://schemas.openxmlformats.org/officeDocument/2006/relationships/slide" Target="slides/slide55.xml"/><Relationship Id="rId56" Type="http://schemas.openxmlformats.org/officeDocument/2006/relationships/slide" Target="slides/slide54.xml"/><Relationship Id="rId55" Type="http://schemas.openxmlformats.org/officeDocument/2006/relationships/slide" Target="slides/slide53.xml"/><Relationship Id="rId54" Type="http://schemas.openxmlformats.org/officeDocument/2006/relationships/slide" Target="slides/slide52.xml"/><Relationship Id="rId53" Type="http://schemas.openxmlformats.org/officeDocument/2006/relationships/slide" Target="slides/slide51.xml"/><Relationship Id="rId52" Type="http://schemas.openxmlformats.org/officeDocument/2006/relationships/slide" Target="slides/slide50.xml"/><Relationship Id="rId51" Type="http://schemas.openxmlformats.org/officeDocument/2006/relationships/slide" Target="slides/slide49.xml"/><Relationship Id="rId50" Type="http://schemas.openxmlformats.org/officeDocument/2006/relationships/slide" Target="slides/slide48.xml"/><Relationship Id="rId5" Type="http://schemas.openxmlformats.org/officeDocument/2006/relationships/slide" Target="slides/slide3.xml"/><Relationship Id="rId49" Type="http://schemas.openxmlformats.org/officeDocument/2006/relationships/slide" Target="slides/slide47.xml"/><Relationship Id="rId48" Type="http://schemas.openxmlformats.org/officeDocument/2006/relationships/slide" Target="slides/slide46.xml"/><Relationship Id="rId47" Type="http://schemas.openxmlformats.org/officeDocument/2006/relationships/slide" Target="slides/slide45.xml"/><Relationship Id="rId46" Type="http://schemas.openxmlformats.org/officeDocument/2006/relationships/slide" Target="slides/slide44.xml"/><Relationship Id="rId45" Type="http://schemas.openxmlformats.org/officeDocument/2006/relationships/slide" Target="slides/slide43.xml"/><Relationship Id="rId44" Type="http://schemas.openxmlformats.org/officeDocument/2006/relationships/slide" Target="slides/slide42.xml"/><Relationship Id="rId43" Type="http://schemas.openxmlformats.org/officeDocument/2006/relationships/slide" Target="slides/slide41.xml"/><Relationship Id="rId42" Type="http://schemas.openxmlformats.org/officeDocument/2006/relationships/slide" Target="slides/slide40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A353CAD-FD93-4C0C-A355-6FAD024E8743}" type="datetimeFigureOut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2EABD81-13DE-4879-8047-802C6413361B}" type="slidenum">
              <a:rPr kumimoji="0" lang="zh-CN" altLang="en-US" sz="12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3200" b="1" i="0" u="none" strike="noStrike" kern="0" cap="none" spc="0" normalizeH="0" baseline="0" noProof="0" smtClean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152400"/>
            <a:ext cx="1943100" cy="6019800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152400"/>
            <a:ext cx="5676900" cy="6019800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  <a:endParaRPr lang="zh-CN" altLang="en-US" noProof="1" smtClean="0"/>
          </a:p>
          <a:p>
            <a:pPr lvl="1"/>
            <a:r>
              <a:rPr lang="zh-CN" altLang="en-US" noProof="1" smtClean="0"/>
              <a:t>第二级</a:t>
            </a:r>
            <a:endParaRPr lang="zh-CN" altLang="en-US" noProof="1" smtClean="0"/>
          </a:p>
          <a:p>
            <a:pPr lvl="2"/>
            <a:r>
              <a:rPr lang="zh-CN" altLang="en-US" noProof="1" smtClean="0"/>
              <a:t>第三级</a:t>
            </a:r>
            <a:endParaRPr lang="zh-CN" altLang="en-US" noProof="1" smtClean="0"/>
          </a:p>
          <a:p>
            <a:pPr lvl="3"/>
            <a:r>
              <a:rPr lang="zh-CN" altLang="en-US" noProof="1" smtClean="0"/>
              <a:t>第四级</a:t>
            </a:r>
            <a:endParaRPr lang="zh-CN" altLang="en-US" noProof="1" smtClean="0"/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image" Target="../media/image2.png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1027" name="Rectangle 3"/>
          <p:cNvSpPr>
            <a:spLocks noGrp="1"/>
          </p:cNvSpPr>
          <p:nvPr>
            <p:ph type="body"/>
          </p:nvPr>
        </p:nvSpPr>
        <p:spPr>
          <a:xfrm>
            <a:off x="685800" y="1447800"/>
            <a:ext cx="7772400" cy="4724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buFontTx/>
              <a:buNone/>
              <a:defRPr kumimoji="1" b="0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400300" y="6540500"/>
            <a:ext cx="3683000" cy="317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buFontTx/>
              <a:buNone/>
              <a:defRPr kumimoji="1" b="0">
                <a:solidFill>
                  <a:srgbClr val="6600FF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rgbClr val="6600FF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An Introduction to Database System</a:t>
            </a: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6600FF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buFontTx/>
              <a:buNone/>
              <a:defRPr kumimoji="1" b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7D3E7B3-6A9F-41AF-9912-323C43E6F584}" type="slidenum">
              <a:rPr kumimoji="1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/>
        </p:nvSpPr>
        <p:spPr bwMode="auto">
          <a:xfrm>
            <a:off x="57150" y="6521450"/>
            <a:ext cx="1114425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C794FEF9-0E83-458D-A1B4-68CE38C1B521}" type="slidenum">
              <a:rPr kumimoji="0" lang="en-US" altLang="zh-CN" sz="1600" b="1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600" b="1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Picture 9" descr="华工校徽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500" y="63500"/>
            <a:ext cx="990600" cy="750888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 b="1">
          <a:solidFill>
            <a:schemeClr val="accent2"/>
          </a:solidFill>
          <a:latin typeface="Times New Roman" panose="02020603050405020304" pitchFamily="18" charset="0"/>
          <a:ea typeface="经典细隶书简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F3300"/>
        </a:buClr>
        <a:buFont typeface="Wingdings" panose="05000000000000000000" pitchFamily="2" charset="2"/>
        <a:buChar char="§"/>
        <a:defRPr sz="3200" b="1">
          <a:solidFill>
            <a:srgbClr val="FF33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800" b="1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b="1">
          <a:solidFill>
            <a:schemeClr val="tx1"/>
          </a:solidFill>
          <a:latin typeface="+mn-lt"/>
          <a:ea typeface="楷体_GB2312" pitchFamily="49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SzPct val="60000"/>
        <a:buChar char="•"/>
        <a:defRPr sz="2000" b="1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sz="2000" b="1">
          <a:solidFill>
            <a:schemeClr val="tx1"/>
          </a:solidFill>
          <a:latin typeface="+mn-lt"/>
          <a:ea typeface="仿宋_GB2312" pitchFamily="49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SzPct val="60000"/>
        <a:buFont typeface="Wingdings" panose="05000000000000000000" pitchFamily="2" charset="2"/>
        <a:buChar char="§"/>
        <a:defRPr kumimoji="1" sz="2000" b="1">
          <a:solidFill>
            <a:schemeClr val="tx1"/>
          </a:solidFill>
          <a:latin typeface="+mn-lt"/>
          <a:ea typeface="仿宋_GB2312" pitchFamily="49" charset="-12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7" Type="http://schemas.openxmlformats.org/officeDocument/2006/relationships/vmlDrawing" Target="../drawings/vmlDrawing1.vml"/><Relationship Id="rId6" Type="http://schemas.openxmlformats.org/officeDocument/2006/relationships/slideLayout" Target="../slideLayouts/slideLayout2.xml"/><Relationship Id="rId5" Type="http://schemas.openxmlformats.org/officeDocument/2006/relationships/oleObject" Target="../embeddings/oleObject3.bin"/><Relationship Id="rId4" Type="http://schemas.openxmlformats.org/officeDocument/2006/relationships/oleObject" Target="../embeddings/oleObject2.bin"/><Relationship Id="rId3" Type="http://schemas.openxmlformats.org/officeDocument/2006/relationships/image" Target="../media/image3.jpeg"/><Relationship Id="rId2" Type="http://schemas.openxmlformats.org/officeDocument/2006/relationships/image" Target="../media/image4.wmf"/><Relationship Id="rId1" Type="http://schemas.openxmlformats.org/officeDocument/2006/relationships/oleObject" Target="../embeddings/oleObject1.bin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wmf"/><Relationship Id="rId1" Type="http://schemas.openxmlformats.org/officeDocument/2006/relationships/oleObject" Target="../embeddings/oleObject4.bin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5" name="Rectangle 2"/>
          <p:cNvSpPr/>
          <p:nvPr/>
        </p:nvSpPr>
        <p:spPr>
          <a:xfrm>
            <a:off x="609600" y="17399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76" name="Rectangle 3"/>
          <p:cNvSpPr>
            <a:spLocks noGrp="1"/>
          </p:cNvSpPr>
          <p:nvPr>
            <p:ph idx="1"/>
          </p:nvPr>
        </p:nvSpPr>
        <p:spPr>
          <a:xfrm>
            <a:off x="977900" y="1676400"/>
            <a:ext cx="73279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6.1 </a:t>
            </a:r>
            <a:r>
              <a:rPr lang="zh-CN" altLang="en-US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问题的提出</a:t>
            </a:r>
            <a:endParaRPr lang="zh-CN" altLang="en-US" sz="3600" b="0" dirty="0">
              <a:solidFill>
                <a:schemeClr val="bg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6.2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函数依赖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6.3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函数依赖的公理系统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6.4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关系模式的规范化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6.5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关系模式的分解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6.6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3077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关系数据理论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9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867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概念回顾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关系</a:t>
            </a:r>
            <a:r>
              <a:rPr lang="zh-CN" altLang="en-US" sz="2800" dirty="0"/>
              <a:t>：描述实体、属性、实体间的联系。</a:t>
            </a:r>
            <a:endParaRPr lang="zh-CN" altLang="en-US" sz="28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从形式上看，它是一张二维表，是所涉及属性的笛卡尔积的一个子集。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关系模式</a:t>
            </a:r>
            <a:r>
              <a:rPr lang="zh-CN" altLang="en-US" sz="2800" dirty="0"/>
              <a:t>：用来定义关系。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关系数据库</a:t>
            </a:r>
            <a:r>
              <a:rPr lang="zh-CN" altLang="en-US" sz="2800" dirty="0"/>
              <a:t>：基于关系模型的数据库，利用关系来描述现实世界。</a:t>
            </a:r>
            <a:endParaRPr lang="zh-CN" altLang="en-US" sz="2800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从形式上看，它由一组关系组成。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关系数据库的模式</a:t>
            </a:r>
            <a:r>
              <a:rPr lang="zh-CN" altLang="en-US" sz="2800" dirty="0"/>
              <a:t>：定义这组关系的关系模式的全体。</a:t>
            </a:r>
            <a:endParaRPr lang="zh-CN" altLang="en-US" sz="2800" dirty="0"/>
          </a:p>
        </p:txBody>
      </p:sp>
      <p:sp>
        <p:nvSpPr>
          <p:cNvPr id="410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3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400" dirty="0"/>
              <a:t>关系模式由五部分组成，即它是一个五元组：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                 </a:t>
            </a:r>
            <a:r>
              <a:rPr lang="en-US" altLang="zh-CN" dirty="0">
                <a:solidFill>
                  <a:schemeClr val="accent2"/>
                </a:solidFill>
              </a:rPr>
              <a:t>R(U, D, DOM, F)</a:t>
            </a:r>
            <a:endParaRPr lang="en-US" altLang="zh-CN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dirty="0"/>
              <a:t>R</a:t>
            </a:r>
            <a:r>
              <a:rPr lang="zh-CN" altLang="en-US" sz="2000" dirty="0"/>
              <a:t>：       关系名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dirty="0"/>
              <a:t>U</a:t>
            </a:r>
            <a:r>
              <a:rPr lang="zh-CN" altLang="en-US" sz="2000" dirty="0"/>
              <a:t>：       组成该关系的属性名集合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dirty="0"/>
              <a:t>D</a:t>
            </a:r>
            <a:r>
              <a:rPr lang="zh-CN" altLang="en-US" sz="2000" dirty="0"/>
              <a:t>：       属性组</a:t>
            </a:r>
            <a:r>
              <a:rPr lang="en-US" altLang="zh-CN" sz="2000" dirty="0"/>
              <a:t>U</a:t>
            </a:r>
            <a:r>
              <a:rPr lang="zh-CN" altLang="en-US" sz="2000" dirty="0"/>
              <a:t>中属性所来自的域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dirty="0"/>
              <a:t>DOM</a:t>
            </a:r>
            <a:r>
              <a:rPr lang="zh-CN" altLang="en-US" sz="2000" dirty="0"/>
              <a:t>：属性向域的映象集合</a:t>
            </a:r>
            <a:endParaRPr lang="zh-CN" altLang="en-US" sz="20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en-US" altLang="zh-CN" sz="2000" dirty="0">
                <a:solidFill>
                  <a:schemeClr val="accent2"/>
                </a:solidFill>
              </a:rPr>
              <a:t>F</a:t>
            </a:r>
            <a:r>
              <a:rPr lang="zh-CN" altLang="en-US" sz="2000" dirty="0">
                <a:solidFill>
                  <a:schemeClr val="accent2"/>
                </a:solidFill>
              </a:rPr>
              <a:t>：        属性间数据的依赖关系集合</a:t>
            </a:r>
            <a:endParaRPr lang="zh-CN" altLang="en-US" sz="20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dirty="0"/>
              <a:t>关系模式</a:t>
            </a:r>
            <a:r>
              <a:rPr lang="en-US" altLang="zh-CN" sz="2400" dirty="0"/>
              <a:t>R</a:t>
            </a:r>
            <a:r>
              <a:rPr lang="zh-CN" altLang="en-US" sz="2400" dirty="0"/>
              <a:t>（</a:t>
            </a:r>
            <a:r>
              <a:rPr lang="en-US" altLang="zh-CN" sz="2400" dirty="0"/>
              <a:t>U, D, DOM, F</a:t>
            </a:r>
            <a:r>
              <a:rPr lang="zh-CN" altLang="en-US" sz="2400" dirty="0"/>
              <a:t>）简化为一个三元组：</a:t>
            </a:r>
            <a:r>
              <a:rPr lang="en-US" altLang="zh-CN" sz="2400" dirty="0">
                <a:solidFill>
                  <a:schemeClr val="accent2"/>
                </a:solidFill>
              </a:rPr>
              <a:t>R</a:t>
            </a:r>
            <a:r>
              <a:rPr lang="zh-CN" altLang="en-US" sz="2400" dirty="0">
                <a:solidFill>
                  <a:schemeClr val="accent2"/>
                </a:solidFill>
              </a:rPr>
              <a:t>（</a:t>
            </a:r>
            <a:r>
              <a:rPr lang="en-US" altLang="zh-CN" sz="2400" dirty="0">
                <a:solidFill>
                  <a:schemeClr val="accent2"/>
                </a:solidFill>
              </a:rPr>
              <a:t>U, F</a:t>
            </a:r>
            <a:r>
              <a:rPr lang="zh-CN" altLang="en-US" sz="2400" dirty="0">
                <a:solidFill>
                  <a:schemeClr val="accent2"/>
                </a:solidFill>
              </a:rPr>
              <a:t>）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/>
              <a:t>当且仅当</a:t>
            </a:r>
            <a:r>
              <a:rPr lang="en-US" altLang="zh-CN" sz="2400" dirty="0"/>
              <a:t>U</a:t>
            </a:r>
            <a:r>
              <a:rPr lang="zh-CN" altLang="en-US" sz="2400" dirty="0"/>
              <a:t>上的一个关系</a:t>
            </a:r>
            <a:r>
              <a:rPr lang="en-US" altLang="zh-CN" sz="2400" dirty="0">
                <a:solidFill>
                  <a:schemeClr val="accent2"/>
                </a:solidFill>
              </a:rPr>
              <a:t>r </a:t>
            </a:r>
            <a:r>
              <a:rPr lang="zh-CN" altLang="en-US" sz="2400" dirty="0"/>
              <a:t>满足</a:t>
            </a:r>
            <a:r>
              <a:rPr lang="en-US" altLang="zh-CN" sz="2400" dirty="0"/>
              <a:t>F</a:t>
            </a:r>
            <a:r>
              <a:rPr lang="zh-CN" altLang="en-US" sz="2400" dirty="0"/>
              <a:t>时，</a:t>
            </a:r>
            <a:r>
              <a:rPr lang="en-US" altLang="zh-CN" sz="2400" dirty="0">
                <a:solidFill>
                  <a:schemeClr val="accent2"/>
                </a:solidFill>
              </a:rPr>
              <a:t>r</a:t>
            </a:r>
            <a:r>
              <a:rPr lang="zh-CN" altLang="en-US" sz="2400" dirty="0"/>
              <a:t>称为关系</a:t>
            </a:r>
            <a:r>
              <a:rPr lang="zh-CN" altLang="en-US" sz="2400" dirty="0">
                <a:solidFill>
                  <a:schemeClr val="accent2"/>
                </a:solidFill>
              </a:rPr>
              <a:t>模式 </a:t>
            </a:r>
            <a:r>
              <a:rPr lang="en-US" altLang="zh-CN" sz="2400" dirty="0">
                <a:solidFill>
                  <a:schemeClr val="accent2"/>
                </a:solidFill>
              </a:rPr>
              <a:t>R</a:t>
            </a:r>
            <a:r>
              <a:rPr lang="zh-CN" altLang="en-US" sz="2400" dirty="0"/>
              <a:t>（</a:t>
            </a:r>
            <a:r>
              <a:rPr lang="en-US" altLang="zh-CN" sz="2400" dirty="0"/>
              <a:t>U, F</a:t>
            </a:r>
            <a:r>
              <a:rPr lang="zh-CN" altLang="en-US" sz="2400" dirty="0"/>
              <a:t>）的一个</a:t>
            </a:r>
            <a:r>
              <a:rPr lang="zh-CN" altLang="en-US" sz="2400" dirty="0">
                <a:solidFill>
                  <a:schemeClr val="accent2"/>
                </a:solidFill>
              </a:rPr>
              <a:t>关系</a:t>
            </a:r>
            <a:endParaRPr lang="zh-CN" altLang="en-US" sz="24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有时候，更简写成</a:t>
            </a:r>
            <a:r>
              <a:rPr lang="en-US" altLang="zh-CN" sz="2400" dirty="0">
                <a:solidFill>
                  <a:schemeClr val="tx1"/>
                </a:solidFill>
              </a:rPr>
              <a:t>R(U)</a:t>
            </a:r>
            <a:r>
              <a:rPr lang="zh-CN" altLang="en-US" sz="2400" dirty="0">
                <a:solidFill>
                  <a:schemeClr val="tx1"/>
                </a:solidFill>
              </a:rPr>
              <a:t>，即</a:t>
            </a:r>
            <a:r>
              <a:rPr lang="en-US" altLang="zh-CN" sz="2400" dirty="0">
                <a:solidFill>
                  <a:schemeClr val="tx1"/>
                </a:solidFill>
              </a:rPr>
              <a:t>R(A1,A2,…,An)</a:t>
            </a:r>
            <a:r>
              <a:rPr lang="zh-CN" altLang="en-US" sz="2400" dirty="0">
                <a:solidFill>
                  <a:schemeClr val="tx1"/>
                </a:solidFill>
              </a:rPr>
              <a:t>的形式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512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7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6868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如何设计一个适合的关系数据库系统，关键是关系数据库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模式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的设计，一个好的关系数据库模式应该包括多少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关系模式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，而每一个关系模式又应该包括哪些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属性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，又如何将这些相互关联的关系模式组建一个适合的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关系模型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，这些工作决定了到整个系统运行的效率，也是系统成败的关键所在，这属于数据库设计的问题，确切地讲是数据库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逻辑设计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的问题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有关数据库设计的全过程将在第</a:t>
            </a:r>
            <a:r>
              <a:rPr lang="en-US" altLang="zh-CN" sz="2800" dirty="0">
                <a:solidFill>
                  <a:schemeClr val="tx1"/>
                </a:solidFill>
              </a:rPr>
              <a:t>7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章详细讨论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本章讲述</a:t>
            </a:r>
            <a:r>
              <a:rPr lang="zh-CN" altLang="en-US" sz="2800" dirty="0">
                <a:solidFill>
                  <a:srgbClr val="FF0000"/>
                </a:solidFill>
                <a:latin typeface="宋体" panose="02010600030101010101" pitchFamily="2" charset="-122"/>
              </a:rPr>
              <a:t>关系数据库规范化理论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，这是数据库逻辑设计的理论依据。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14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71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029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规范化理论主要包括三个方面的内容：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dirty="0">
                <a:latin typeface="宋体" panose="02010600030101010101" pitchFamily="2" charset="-122"/>
              </a:rPr>
              <a:t>函数依赖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buClr>
                <a:schemeClr val="accent2"/>
              </a:buClr>
            </a:pPr>
            <a:r>
              <a:rPr lang="zh-CN" altLang="en-US" dirty="0">
                <a:latin typeface="宋体" panose="02010600030101010101" pitchFamily="2" charset="-122"/>
              </a:rPr>
              <a:t>范式</a:t>
            </a:r>
            <a:r>
              <a:rPr lang="zh-CN" altLang="en-US" dirty="0"/>
              <a:t>（</a:t>
            </a:r>
            <a:r>
              <a:rPr lang="en-US" altLang="zh-CN" dirty="0"/>
              <a:t>Normal Form</a:t>
            </a:r>
            <a:r>
              <a:rPr lang="zh-CN" altLang="en-US" dirty="0"/>
              <a:t>）</a:t>
            </a:r>
            <a:endParaRPr lang="zh-CN" altLang="en-US" dirty="0"/>
          </a:p>
          <a:p>
            <a:pPr algn="just" eaLnBrk="1" hangingPunct="1">
              <a:buClr>
                <a:schemeClr val="accent2"/>
              </a:buClr>
            </a:pPr>
            <a:r>
              <a:rPr lang="zh-CN" altLang="en-US" dirty="0">
                <a:latin typeface="宋体" panose="02010600030101010101" pitchFamily="2" charset="-122"/>
              </a:rPr>
              <a:t>模式设计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buNone/>
            </a:pPr>
            <a:r>
              <a:rPr lang="zh-CN" altLang="en-US" dirty="0">
                <a:latin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其中，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函数依赖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起着核心的作用，是模式分解和模式设计的基础，范式是模式分解的标准。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717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029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关系模式的存储异常问题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数据库的逻辑设计为什么要遵循一定的规范化理论？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什么是好的关系模式？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/>
            <a:r>
              <a:rPr lang="zh-CN" altLang="en-US" dirty="0">
                <a:latin typeface="宋体" panose="02010600030101010101" pitchFamily="2" charset="-122"/>
              </a:rPr>
              <a:t>某些不好的关系模式可能导致哪些问题？</a:t>
            </a:r>
            <a:endParaRPr lang="zh-CN" altLang="en-US" dirty="0">
              <a:latin typeface="宋体" panose="02010600030101010101" pitchFamily="2" charset="-122"/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下面通过例子进行分析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: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9219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描述教学管理数据库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学号</a:t>
            </a:r>
            <a:r>
              <a:rPr lang="en-US" altLang="zh-CN" sz="2400" dirty="0">
                <a:solidFill>
                  <a:schemeClr val="tx1"/>
                </a:solidFill>
              </a:rPr>
              <a:t>(sno),</a:t>
            </a:r>
            <a:r>
              <a:rPr lang="zh-CN" altLang="en-US" sz="2400" dirty="0">
                <a:solidFill>
                  <a:schemeClr val="tx1"/>
                </a:solidFill>
              </a:rPr>
              <a:t>姓名</a:t>
            </a:r>
            <a:r>
              <a:rPr lang="en-US" altLang="zh-CN" sz="2400" dirty="0">
                <a:solidFill>
                  <a:schemeClr val="tx1"/>
                </a:solidFill>
              </a:rPr>
              <a:t>(sname),</a:t>
            </a:r>
            <a:r>
              <a:rPr lang="zh-CN" altLang="en-US" sz="2400" dirty="0">
                <a:solidFill>
                  <a:schemeClr val="tx1"/>
                </a:solidFill>
              </a:rPr>
              <a:t>年龄</a:t>
            </a:r>
            <a:r>
              <a:rPr lang="en-US" altLang="zh-CN" sz="2400" dirty="0">
                <a:solidFill>
                  <a:schemeClr val="tx1"/>
                </a:solidFill>
              </a:rPr>
              <a:t>(age),</a:t>
            </a:r>
            <a:r>
              <a:rPr lang="zh-CN" altLang="en-US" sz="2400" dirty="0">
                <a:solidFill>
                  <a:schemeClr val="tx1"/>
                </a:solidFill>
              </a:rPr>
              <a:t>所在系别</a:t>
            </a:r>
            <a:r>
              <a:rPr lang="en-US" altLang="zh-CN" sz="2400" dirty="0">
                <a:solidFill>
                  <a:schemeClr val="tx1"/>
                </a:solidFill>
              </a:rPr>
              <a:t>(dept),</a:t>
            </a:r>
            <a:r>
              <a:rPr lang="zh-CN" altLang="en-US" sz="2400" dirty="0">
                <a:solidFill>
                  <a:schemeClr val="tx1"/>
                </a:solidFill>
              </a:rPr>
              <a:t>所在系的系主任姓名</a:t>
            </a:r>
            <a:r>
              <a:rPr lang="en-US" altLang="zh-CN" sz="2400" dirty="0">
                <a:solidFill>
                  <a:schemeClr val="tx1"/>
                </a:solidFill>
              </a:rPr>
              <a:t>(Dn),</a:t>
            </a:r>
            <a:r>
              <a:rPr lang="zh-CN" altLang="en-US" sz="2400" dirty="0">
                <a:solidFill>
                  <a:schemeClr val="tx1"/>
                </a:solidFill>
              </a:rPr>
              <a:t>选修的课程号</a:t>
            </a:r>
            <a:r>
              <a:rPr lang="en-US" altLang="zh-CN" sz="2400" dirty="0">
                <a:solidFill>
                  <a:schemeClr val="tx1"/>
                </a:solidFill>
              </a:rPr>
              <a:t>(cno),</a:t>
            </a:r>
            <a:r>
              <a:rPr lang="zh-CN" altLang="en-US" sz="2400" dirty="0">
                <a:solidFill>
                  <a:schemeClr val="tx1"/>
                </a:solidFill>
              </a:rPr>
              <a:t>该课程的成绩</a:t>
            </a:r>
            <a:r>
              <a:rPr lang="en-US" altLang="zh-CN" sz="2400" dirty="0">
                <a:solidFill>
                  <a:schemeClr val="tx1"/>
                </a:solidFill>
              </a:rPr>
              <a:t>(score)</a:t>
            </a:r>
            <a:endParaRPr lang="en-US" altLang="zh-CN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用一个单一的关系模式来表达：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en-US" altLang="zh-CN" sz="2800" i="1" dirty="0">
                <a:solidFill>
                  <a:srgbClr val="FF0000"/>
                </a:solidFill>
              </a:rPr>
              <a:t>SCD(Sno,Sname,Age,Dept,Dn,Cno,Score)</a:t>
            </a:r>
            <a:endParaRPr lang="en-US" altLang="zh-CN" sz="2800" i="1" dirty="0">
              <a:solidFill>
                <a:srgbClr val="FF0000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语义定义如下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dirty="0"/>
              <a:t>一个系有若干个学生，但一个学生只属于一个系；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dirty="0"/>
              <a:t>一个系只有一名系主任；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dirty="0"/>
              <a:t>一个学生可以选修多门功课，每门课程可有若干学生选修；</a:t>
            </a:r>
            <a:endParaRPr lang="zh-CN" altLang="en-US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zh-CN" altLang="en-US" sz="2400" dirty="0"/>
              <a:t>每个学生学习课程有一个成绩。</a:t>
            </a:r>
            <a:endParaRPr lang="zh-CN" altLang="en-US" sz="2400" dirty="0"/>
          </a:p>
        </p:txBody>
      </p:sp>
      <p:sp>
        <p:nvSpPr>
          <p:cNvPr id="922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685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</a:rPr>
              <a:t>教学管理数据库的一个实例</a:t>
            </a:r>
            <a:r>
              <a:rPr lang="en-US" altLang="zh-CN" sz="2400" dirty="0">
                <a:solidFill>
                  <a:schemeClr val="tx1"/>
                </a:solidFill>
              </a:rPr>
              <a:t>:  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  <p:graphicFrame>
        <p:nvGraphicFramePr>
          <p:cNvPr id="13316" name="Group 4"/>
          <p:cNvGraphicFramePr>
            <a:graphicFrameLocks noGrp="1"/>
          </p:cNvGraphicFramePr>
          <p:nvPr/>
        </p:nvGraphicFramePr>
        <p:xfrm>
          <a:off x="381000" y="1371600"/>
          <a:ext cx="8458200" cy="5299075"/>
        </p:xfrm>
        <a:graphic>
          <a:graphicData uri="http://schemas.openxmlformats.org/drawingml/2006/table">
            <a:tbl>
              <a:tblPr/>
              <a:tblGrid>
                <a:gridCol w="990600"/>
                <a:gridCol w="1143000"/>
                <a:gridCol w="914400"/>
                <a:gridCol w="1371600"/>
                <a:gridCol w="1219200"/>
                <a:gridCol w="1143000"/>
                <a:gridCol w="16764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系主任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Score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机械学院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李刚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机械学院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李刚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1267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关系模式</a:t>
            </a:r>
            <a:r>
              <a:rPr lang="en-US" altLang="zh-CN" dirty="0">
                <a:solidFill>
                  <a:schemeClr val="tx1"/>
                </a:solidFill>
              </a:rPr>
              <a:t>SCD</a:t>
            </a:r>
            <a:r>
              <a:rPr lang="zh-CN" altLang="en-US" dirty="0">
                <a:solidFill>
                  <a:schemeClr val="tx1"/>
                </a:solidFill>
              </a:rPr>
              <a:t>存在的问题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ClrTx/>
              <a:buNone/>
            </a:pPr>
            <a:r>
              <a:rPr lang="en-US" altLang="zh-CN" dirty="0"/>
              <a:t>1. </a:t>
            </a:r>
            <a:r>
              <a:rPr lang="zh-CN" altLang="en-US" dirty="0"/>
              <a:t>数据冗余</a:t>
            </a:r>
            <a:endParaRPr lang="zh-CN" altLang="en-US" dirty="0"/>
          </a:p>
          <a:p>
            <a:pPr lvl="1" eaLnBrk="1" hangingPunct="1">
              <a:lnSpc>
                <a:spcPct val="130000"/>
              </a:lnSpc>
              <a:buClrTx/>
              <a:buFont typeface="Wingdings" panose="05000000000000000000" pitchFamily="2" charset="2"/>
              <a:buChar char="•"/>
            </a:pPr>
            <a:r>
              <a:rPr lang="zh-CN" altLang="en-US" dirty="0"/>
              <a:t>浪费大量的存储空间</a:t>
            </a:r>
            <a:endParaRPr lang="zh-CN" altLang="en-US" sz="3200" dirty="0"/>
          </a:p>
          <a:p>
            <a:pPr eaLnBrk="1" hangingPunct="1">
              <a:lnSpc>
                <a:spcPct val="130000"/>
              </a:lnSpc>
              <a:buClrTx/>
              <a:buNone/>
            </a:pPr>
            <a:r>
              <a:rPr lang="zh-CN" altLang="en-US" dirty="0"/>
              <a:t>   </a:t>
            </a:r>
            <a:r>
              <a:rPr lang="zh-CN" altLang="en-US" sz="2800" dirty="0"/>
              <a:t> </a:t>
            </a:r>
            <a:r>
              <a:rPr lang="zh-CN" altLang="en-US" sz="2800" dirty="0">
                <a:solidFill>
                  <a:schemeClr val="accent2"/>
                </a:solidFill>
              </a:rPr>
              <a:t>例：每一个系主任的姓名重复出现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/>
              <a:t>2. </a:t>
            </a:r>
            <a:r>
              <a:rPr lang="zh-CN" altLang="en-US" dirty="0"/>
              <a:t>更新异常（</a:t>
            </a:r>
            <a:r>
              <a:rPr lang="en-US" altLang="zh-CN" dirty="0"/>
              <a:t>Update Anomalies</a:t>
            </a:r>
            <a:r>
              <a:rPr lang="zh-CN" altLang="en-US" dirty="0"/>
              <a:t>）</a:t>
            </a:r>
            <a:endParaRPr lang="zh-CN" altLang="en-US" sz="28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dirty="0"/>
              <a:t>数据冗余 </a:t>
            </a:r>
            <a:r>
              <a:rPr lang="zh-CN" altLang="en-US" dirty="0">
                <a:sym typeface="Monotype Sorts" pitchFamily="2" charset="2"/>
              </a:rPr>
              <a:t>，</a:t>
            </a:r>
            <a:r>
              <a:rPr lang="zh-CN" altLang="en-US" dirty="0"/>
              <a:t>更新数据时，维护数据完整性代价大。</a:t>
            </a:r>
            <a:endParaRPr lang="zh-CN" altLang="en-US" dirty="0"/>
          </a:p>
          <a:p>
            <a:pPr eaLnBrk="1" hangingPunct="1">
              <a:lnSpc>
                <a:spcPct val="150000"/>
              </a:lnSpc>
              <a:buNone/>
            </a:pPr>
            <a:r>
              <a:rPr lang="zh-CN" altLang="en-US" sz="2800" dirty="0"/>
              <a:t>	例：某系更换系主任，或学生改名后</a:t>
            </a:r>
            <a:endParaRPr lang="zh-CN" altLang="en-US" sz="2800" dirty="0"/>
          </a:p>
        </p:txBody>
      </p:sp>
      <p:sp>
        <p:nvSpPr>
          <p:cNvPr id="1126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486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关系模式</a:t>
            </a:r>
            <a:r>
              <a:rPr lang="en-US" altLang="zh-CN" sz="2800" dirty="0">
                <a:solidFill>
                  <a:schemeClr val="tx1"/>
                </a:solidFill>
              </a:rPr>
              <a:t>SCD</a:t>
            </a:r>
            <a:r>
              <a:rPr lang="zh-CN" altLang="en-US" sz="2800" dirty="0">
                <a:solidFill>
                  <a:schemeClr val="tx1"/>
                </a:solidFill>
              </a:rPr>
              <a:t>存在的问题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tx1"/>
                </a:solidFill>
              </a:rPr>
              <a:t>续</a:t>
            </a:r>
            <a:r>
              <a:rPr lang="en-US" altLang="zh-CN" sz="2800" dirty="0">
                <a:solidFill>
                  <a:schemeClr val="tx1"/>
                </a:solidFill>
              </a:rPr>
              <a:t>):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ClrTx/>
              <a:buNone/>
            </a:pPr>
            <a:r>
              <a:rPr lang="en-US" altLang="zh-CN" sz="2800" dirty="0"/>
              <a:t>3. </a:t>
            </a:r>
            <a:r>
              <a:rPr lang="zh-CN" altLang="en-US" sz="2400" dirty="0"/>
              <a:t>插入异常（</a:t>
            </a:r>
            <a:r>
              <a:rPr lang="en-US" altLang="zh-CN" sz="2400" dirty="0"/>
              <a:t>Insertion Anomalies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  <a:buFont typeface="Wingdings" panose="05000000000000000000" pitchFamily="2" charset="2"/>
              <a:buChar char="•"/>
            </a:pPr>
            <a:r>
              <a:rPr lang="zh-CN" altLang="en-US" sz="2400" dirty="0"/>
              <a:t>该插的数据插不进去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/>
              <a:t>     </a:t>
            </a:r>
            <a:r>
              <a:rPr lang="zh-CN" altLang="en-US" sz="2400" dirty="0">
                <a:solidFill>
                  <a:schemeClr val="accent2"/>
                </a:solidFill>
              </a:rPr>
              <a:t>例，如果一个系刚成立，尚无学生，我们就无法把这个系及其系主任的信息存入数据库。又如，学生未选课，则学生信息无法输入</a:t>
            </a:r>
            <a:r>
              <a:rPr lang="en-US" altLang="zh-CN" sz="2400" dirty="0">
                <a:solidFill>
                  <a:schemeClr val="accent2"/>
                </a:solidFill>
              </a:rPr>
              <a:t>.</a:t>
            </a:r>
            <a:r>
              <a:rPr lang="en-US" altLang="zh-CN" sz="2400" dirty="0"/>
              <a:t> </a:t>
            </a:r>
            <a:r>
              <a:rPr lang="en-US" altLang="zh-CN" sz="2400" dirty="0">
                <a:solidFill>
                  <a:srgbClr val="FF0000"/>
                </a:solidFill>
              </a:rPr>
              <a:t>(</a:t>
            </a:r>
            <a:r>
              <a:rPr lang="zh-CN" altLang="en-US" sz="2400" dirty="0">
                <a:solidFill>
                  <a:srgbClr val="FF0000"/>
                </a:solidFill>
              </a:rPr>
              <a:t>为什么？</a:t>
            </a:r>
            <a:r>
              <a:rPr lang="en-US" altLang="zh-CN" sz="2400" dirty="0">
                <a:solidFill>
                  <a:srgbClr val="FF0000"/>
                </a:solidFill>
              </a:rPr>
              <a:t>)</a:t>
            </a:r>
            <a:endParaRPr lang="en-US" altLang="zh-CN" sz="24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400" dirty="0"/>
              <a:t>4.  </a:t>
            </a:r>
            <a:r>
              <a:rPr lang="zh-CN" altLang="en-US" sz="2400" dirty="0"/>
              <a:t>删除异常（</a:t>
            </a:r>
            <a:r>
              <a:rPr lang="en-US" altLang="zh-CN" sz="2400" dirty="0"/>
              <a:t>Deletion Anomalies</a:t>
            </a:r>
            <a:r>
              <a:rPr lang="zh-CN" altLang="en-US" sz="2400" dirty="0"/>
              <a:t>）</a:t>
            </a:r>
            <a:endParaRPr lang="zh-CN" altLang="en-US" sz="2400" dirty="0"/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dirty="0"/>
              <a:t>不该删除的数据不得不删</a:t>
            </a:r>
            <a:endParaRPr lang="zh-CN" altLang="en-US" sz="24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400" dirty="0"/>
              <a:t>	例，如果某个系的学生全部毕业了， 我们在删除该系学生信息的同时，把这个系及其系主任的信息也丢掉了。</a:t>
            </a:r>
            <a:endParaRPr lang="zh-CN" altLang="en-US" sz="2400" dirty="0"/>
          </a:p>
        </p:txBody>
      </p:sp>
      <p:sp>
        <p:nvSpPr>
          <p:cNvPr id="1229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3315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6096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结论</a:t>
            </a:r>
            <a:r>
              <a:rPr lang="en-US" altLang="zh-CN" dirty="0">
                <a:solidFill>
                  <a:schemeClr val="tx1"/>
                </a:solidFill>
              </a:rPr>
              <a:t>: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/>
              <a:t>关系模式</a:t>
            </a:r>
            <a:r>
              <a:rPr lang="en-US" altLang="zh-CN" dirty="0"/>
              <a:t>SCD</a:t>
            </a:r>
            <a:r>
              <a:rPr lang="zh-CN" altLang="en-US" dirty="0"/>
              <a:t>不是一个好的模式。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/>
              <a:t>“好”的模式应该满足：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不会发生插入异常、删除异常、更新异常，</a:t>
            </a:r>
            <a:endParaRPr lang="zh-CN" altLang="en-US" dirty="0"/>
          </a:p>
          <a:p>
            <a:pPr lvl="1" eaLnBrk="1" hangingPunct="1">
              <a:lnSpc>
                <a:spcPct val="120000"/>
              </a:lnSpc>
            </a:pPr>
            <a:r>
              <a:rPr lang="zh-CN" altLang="en-US" dirty="0"/>
              <a:t>数据冗余应尽可能少。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/>
              <a:t>产生的原因：模式中的</a:t>
            </a:r>
            <a:r>
              <a:rPr lang="zh-CN" altLang="en-US" dirty="0">
                <a:solidFill>
                  <a:schemeClr val="accent2"/>
                </a:solidFill>
              </a:rPr>
              <a:t>某些数据依赖</a:t>
            </a:r>
            <a:r>
              <a:rPr lang="zh-CN" altLang="en-US" dirty="0"/>
              <a:t>引起的</a:t>
            </a:r>
            <a:endParaRPr lang="zh-CN" altLang="en-US" dirty="0"/>
          </a:p>
          <a:p>
            <a:pPr eaLnBrk="1" hangingPunct="1">
              <a:lnSpc>
                <a:spcPct val="120000"/>
              </a:lnSpc>
              <a:buClr>
                <a:schemeClr val="accent2"/>
              </a:buClr>
            </a:pPr>
            <a:r>
              <a:rPr lang="zh-CN" altLang="en-US" dirty="0"/>
              <a:t>解决方法：分解</a:t>
            </a:r>
            <a:r>
              <a:rPr lang="en-US" altLang="zh-CN" dirty="0"/>
              <a:t>!!!</a:t>
            </a:r>
            <a:endParaRPr lang="en-US" altLang="zh-CN" dirty="0"/>
          </a:p>
          <a:p>
            <a:pPr lvl="1"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学生关系</a:t>
            </a:r>
            <a:r>
              <a:rPr lang="en-US" altLang="zh-CN" sz="2400" dirty="0">
                <a:latin typeface="宋体" panose="02010600030101010101" pitchFamily="2" charset="-122"/>
              </a:rPr>
              <a:t>S(SNO,SN,AGE,DEPT)</a:t>
            </a:r>
            <a:endParaRPr lang="en-US" altLang="zh-CN" sz="2400" dirty="0"/>
          </a:p>
          <a:p>
            <a:pPr lvl="1"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选课关系</a:t>
            </a:r>
            <a:r>
              <a:rPr lang="en-US" altLang="zh-CN" sz="2400" dirty="0">
                <a:latin typeface="宋体" panose="02010600030101010101" pitchFamily="2" charset="-122"/>
              </a:rPr>
              <a:t>SC(SNO,CNO,SCORE)</a:t>
            </a:r>
            <a:endParaRPr lang="en-US" altLang="zh-CN" sz="2400" dirty="0"/>
          </a:p>
          <a:p>
            <a:pPr lvl="1" algn="just" eaLnBrk="1" hangingPunct="1"/>
            <a:r>
              <a:rPr lang="zh-CN" altLang="en-US" sz="2400" dirty="0">
                <a:latin typeface="宋体" panose="02010600030101010101" pitchFamily="2" charset="-122"/>
              </a:rPr>
              <a:t>系关系</a:t>
            </a:r>
            <a:r>
              <a:rPr lang="en-US" altLang="zh-CN" sz="2400" dirty="0">
                <a:latin typeface="宋体" panose="02010600030101010101" pitchFamily="2" charset="-122"/>
              </a:rPr>
              <a:t>D(DEPT,MN)</a:t>
            </a:r>
            <a:endParaRPr lang="en-US" altLang="zh-CN" dirty="0"/>
          </a:p>
        </p:txBody>
      </p:sp>
      <p:sp>
        <p:nvSpPr>
          <p:cNvPr id="1331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4339" name="Rectangle 2"/>
          <p:cNvSpPr>
            <a:spLocks noGrp="1"/>
          </p:cNvSpPr>
          <p:nvPr>
            <p:ph idx="1"/>
          </p:nvPr>
        </p:nvSpPr>
        <p:spPr>
          <a:xfrm>
            <a:off x="762000" y="685800"/>
            <a:ext cx="7315200" cy="457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</a:rPr>
              <a:t>分解后</a:t>
            </a:r>
            <a:r>
              <a:rPr lang="en-US" altLang="zh-CN" sz="2400" dirty="0">
                <a:solidFill>
                  <a:schemeClr val="tx1"/>
                </a:solidFill>
              </a:rPr>
              <a:t>:  (</a:t>
            </a:r>
            <a:r>
              <a:rPr lang="zh-CN" altLang="en-US" sz="2400" dirty="0">
                <a:solidFill>
                  <a:schemeClr val="tx1"/>
                </a:solidFill>
              </a:rPr>
              <a:t>左上：</a:t>
            </a:r>
            <a:r>
              <a:rPr lang="en-US" altLang="zh-CN" sz="2400" dirty="0">
                <a:solidFill>
                  <a:schemeClr val="tx1"/>
                </a:solidFill>
              </a:rPr>
              <a:t>S</a:t>
            </a:r>
            <a:r>
              <a:rPr lang="zh-CN" altLang="en-US" sz="2400" dirty="0">
                <a:solidFill>
                  <a:schemeClr val="tx1"/>
                </a:solidFill>
              </a:rPr>
              <a:t>； 左下：</a:t>
            </a:r>
            <a:r>
              <a:rPr lang="en-US" altLang="zh-CN" sz="2400" dirty="0">
                <a:solidFill>
                  <a:schemeClr val="tx1"/>
                </a:solidFill>
              </a:rPr>
              <a:t>Dept; </a:t>
            </a:r>
            <a:r>
              <a:rPr lang="zh-CN" altLang="en-US" sz="2400" dirty="0">
                <a:solidFill>
                  <a:schemeClr val="tx1"/>
                </a:solidFill>
              </a:rPr>
              <a:t>右： </a:t>
            </a:r>
            <a:r>
              <a:rPr lang="en-US" altLang="zh-CN" sz="2400" dirty="0">
                <a:solidFill>
                  <a:schemeClr val="tx1"/>
                </a:solidFill>
              </a:rPr>
              <a:t>SC)</a:t>
            </a:r>
            <a:endParaRPr lang="en-US" altLang="zh-CN" sz="2400" dirty="0">
              <a:solidFill>
                <a:schemeClr val="tx1"/>
              </a:solidFill>
            </a:endParaRPr>
          </a:p>
        </p:txBody>
      </p:sp>
      <p:sp>
        <p:nvSpPr>
          <p:cNvPr id="1434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  <p:graphicFrame>
        <p:nvGraphicFramePr>
          <p:cNvPr id="17514" name="Group 106"/>
          <p:cNvGraphicFramePr>
            <a:graphicFrameLocks noGrp="1"/>
          </p:cNvGraphicFramePr>
          <p:nvPr/>
        </p:nvGraphicFramePr>
        <p:xfrm>
          <a:off x="381000" y="1384300"/>
          <a:ext cx="8610600" cy="5316538"/>
        </p:xfrm>
        <a:graphic>
          <a:graphicData uri="http://schemas.openxmlformats.org/drawingml/2006/table">
            <a:tbl>
              <a:tblPr/>
              <a:tblGrid>
                <a:gridCol w="762000"/>
                <a:gridCol w="1143000"/>
                <a:gridCol w="838200"/>
                <a:gridCol w="1401763"/>
                <a:gridCol w="427037"/>
                <a:gridCol w="1752600"/>
                <a:gridCol w="1219200"/>
                <a:gridCol w="10668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rowSpan="11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Score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机械学院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 gridSpan="4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 rowSpan="2"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rowSpan="2" hMerge="1">
                  <a:tcPr/>
                </a:tc>
                <a:tc rowSpan="2"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系主任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rowSpan="2" h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 vMerge="1" gridSpan="2">
                  <a:tcPr/>
                </a:tc>
                <a:tc vMerge="1" hMerge="1">
                  <a:tcPr/>
                </a:tc>
                <a:tc vMerge="1" gridSpan="2">
                  <a:tcPr/>
                </a:tc>
                <a:tc vMerge="1" h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36563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5720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38150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机械学院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李刚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 hMerge="1">
                  <a:tcPr/>
                </a:tc>
                <a:tc v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5363" name="Rectangle 2"/>
          <p:cNvSpPr>
            <a:spLocks noGrp="1"/>
          </p:cNvSpPr>
          <p:nvPr>
            <p:ph idx="1"/>
          </p:nvPr>
        </p:nvSpPr>
        <p:spPr>
          <a:xfrm>
            <a:off x="228600" y="762000"/>
            <a:ext cx="87630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分解后的关系模式是“好” 的。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不过，一个好的关系模式并不是在任何情况下都是最优的。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如何按照一定的规范设计关系模式，将结构复杂的关系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分解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成结构简单的关系，从而把</a:t>
            </a:r>
            <a:r>
              <a:rPr lang="zh-CN" altLang="en-US" dirty="0">
                <a:solidFill>
                  <a:schemeClr val="tx1"/>
                </a:solidFill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不好</a:t>
            </a:r>
            <a:r>
              <a:rPr lang="zh-CN" altLang="en-US" dirty="0">
                <a:solidFill>
                  <a:schemeClr val="tx1"/>
                </a:solidFill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的关系数据库模式转变为</a:t>
            </a:r>
            <a:r>
              <a:rPr lang="zh-CN" altLang="en-US" dirty="0">
                <a:solidFill>
                  <a:schemeClr val="tx1"/>
                </a:solidFill>
              </a:rPr>
              <a:t>“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好</a:t>
            </a:r>
            <a:r>
              <a:rPr lang="zh-CN" altLang="en-US" dirty="0">
                <a:solidFill>
                  <a:schemeClr val="tx1"/>
                </a:solidFill>
              </a:rPr>
              <a:t>”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的关系数据库模式，这就是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关系的规范化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规范化又可以根据不同的要求而分成若干级别。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90000"/>
              </a:lnSpc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数据库模式的好坏和关系中各属性间的依赖关系有关，因此，我们先讨论属性间的依赖关系，然后再讨论关系规范化理论。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536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6.1  </a:t>
            </a:r>
            <a:r>
              <a:rPr lang="zh-CN" altLang="en-US" dirty="0"/>
              <a:t>问题的提出</a:t>
            </a:r>
            <a:endParaRPr lang="zh-CN" alt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6387" name="Rectangle 2"/>
          <p:cNvSpPr/>
          <p:nvPr/>
        </p:nvSpPr>
        <p:spPr>
          <a:xfrm>
            <a:off x="609600" y="2425700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16388" name="Rectangle 3"/>
          <p:cNvSpPr>
            <a:spLocks noGrp="1"/>
          </p:cNvSpPr>
          <p:nvPr>
            <p:ph idx="1"/>
          </p:nvPr>
        </p:nvSpPr>
        <p:spPr>
          <a:xfrm>
            <a:off x="977900" y="1676400"/>
            <a:ext cx="73279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6.1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问题的提出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6.2 </a:t>
            </a:r>
            <a:r>
              <a:rPr lang="zh-CN" altLang="en-US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函数依赖</a:t>
            </a:r>
            <a:endParaRPr lang="zh-CN" altLang="en-US" sz="3600" b="0" dirty="0">
              <a:solidFill>
                <a:schemeClr val="bg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6.3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函数依赖的公理系统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6.4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关系模式的规范化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6.5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关系模式的分解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6.6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16389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关系数据理论</a:t>
            </a:r>
            <a:endParaRPr lang="zh-CN" alt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idx="1"/>
          </p:nvPr>
        </p:nvSpPr>
        <p:spPr>
          <a:xfrm>
            <a:off x="762000" y="1219200"/>
            <a:ext cx="7772400" cy="4876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函数依赖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平凡函数依赖与非平凡函数依赖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完全函数依赖与部分函数依赖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传递函数依赖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码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dirty="0">
                <a:solidFill>
                  <a:schemeClr val="tx1"/>
                </a:solidFill>
              </a:rPr>
              <a:t>外码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610600" cy="5410200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1. </a:t>
            </a:r>
            <a:r>
              <a:rPr kumimoji="1" lang="zh-CN" altLang="en-US" sz="36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函数依赖</a:t>
            </a:r>
            <a:endParaRPr kumimoji="1" lang="zh-CN" altLang="en-US" sz="36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定义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6.1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设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R(U)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是一个属性集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上的关系模式，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, Y 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 U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 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r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是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R(U)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上的任意一个关系，如果成立</a:t>
            </a:r>
            <a:endParaRPr kumimoji="1" lang="zh-CN" altLang="en-US" sz="3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		对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t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, 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s  r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，若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t[X] = s[X]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，则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t[Y] = s[Y]</a:t>
            </a:r>
            <a:endParaRPr kumimoji="1" lang="en-US" altLang="zh-CN" sz="30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则称 “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函数确定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 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  “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函数依赖于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”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，记作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X→Y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或不存在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t,s, t[X]=s[X]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而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t[Y]&lt;&gt;s[Y]…) </a:t>
            </a:r>
            <a:endParaRPr kumimoji="1" lang="en-US" altLang="zh-CN" sz="3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X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称为这个函数依赖的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决定属性集</a:t>
            </a:r>
            <a:r>
              <a:rPr kumimoji="1" lang="en-US" altLang="zh-CN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(Determinant)</a:t>
            </a:r>
            <a:r>
              <a:rPr kumimoji="1" lang="zh-CN" altLang="en-US" sz="30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1" lang="zh-CN" altLang="en-US" sz="30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30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</a:t>
            </a:r>
            <a:r>
              <a:rPr kumimoji="1" lang="en-US" altLang="zh-CN" sz="30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 = f(x)</a:t>
            </a:r>
            <a:endParaRPr kumimoji="1" lang="en-US" altLang="zh-CN" sz="3000" b="1" i="1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843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19459" name="Rectangle 2"/>
          <p:cNvSpPr>
            <a:spLocks noGrp="1"/>
          </p:cNvSpPr>
          <p:nvPr>
            <p:ph idx="1"/>
          </p:nvPr>
        </p:nvSpPr>
        <p:spPr>
          <a:xfrm>
            <a:off x="990600" y="838200"/>
            <a:ext cx="5791200" cy="762000"/>
          </a:xfrm>
          <a:ln/>
        </p:spPr>
        <p:txBody>
          <a:bodyPr vert="horz" wrap="square" lIns="91440" tIns="45720" rIns="91440" bIns="45720" anchor="t" anchorCtr="0"/>
          <a:p>
            <a:pPr>
              <a:spcBef>
                <a:spcPct val="0"/>
              </a:spcBef>
              <a:buClrTx/>
              <a:buNone/>
            </a:pPr>
            <a:r>
              <a:rPr lang="en-US" altLang="zh-CN" sz="4000" dirty="0">
                <a:solidFill>
                  <a:schemeClr val="tx1"/>
                </a:solidFill>
              </a:rPr>
              <a:t>R(A,B,C,D,E):</a:t>
            </a:r>
            <a:endParaRPr lang="en-US" altLang="zh-CN" sz="3000" i="1" dirty="0">
              <a:solidFill>
                <a:schemeClr val="tx1"/>
              </a:solidFill>
            </a:endParaRPr>
          </a:p>
        </p:txBody>
      </p:sp>
      <p:sp>
        <p:nvSpPr>
          <p:cNvPr id="1946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graphicFrame>
        <p:nvGraphicFramePr>
          <p:cNvPr id="22532" name="Group 4"/>
          <p:cNvGraphicFramePr>
            <a:graphicFrameLocks noGrp="1"/>
          </p:cNvGraphicFramePr>
          <p:nvPr/>
        </p:nvGraphicFramePr>
        <p:xfrm>
          <a:off x="2209800" y="1981200"/>
          <a:ext cx="4724400" cy="2797175"/>
        </p:xfrm>
        <a:graphic>
          <a:graphicData uri="http://schemas.openxmlformats.org/drawingml/2006/table">
            <a:tbl>
              <a:tblPr/>
              <a:tblGrid>
                <a:gridCol w="944563"/>
                <a:gridCol w="1023937"/>
                <a:gridCol w="1101725"/>
                <a:gridCol w="892175"/>
                <a:gridCol w="762000"/>
              </a:tblGrid>
              <a:tr h="518136">
                <a:tc gridSpan="2"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8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Y</a:t>
                      </a:r>
                      <a:endParaRPr kumimoji="1" lang="en-US" altLang="zh-CN" sz="28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25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B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25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25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25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3803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1" lang="en-US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5708" marB="45708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575" name="Rectangle 47"/>
          <p:cNvSpPr>
            <a:spLocks noChangeArrowheads="1"/>
          </p:cNvSpPr>
          <p:nvPr/>
        </p:nvSpPr>
        <p:spPr bwMode="auto">
          <a:xfrm>
            <a:off x="4419600" y="4876800"/>
            <a:ext cx="798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t[Y]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2576" name="Rectangle 48"/>
          <p:cNvSpPr>
            <a:spLocks noChangeArrowheads="1"/>
          </p:cNvSpPr>
          <p:nvPr/>
        </p:nvSpPr>
        <p:spPr bwMode="auto">
          <a:xfrm>
            <a:off x="914400" y="4343400"/>
            <a:ext cx="7985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t[X]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2577" name="Rectangle 49"/>
          <p:cNvSpPr>
            <a:spLocks noChangeArrowheads="1"/>
          </p:cNvSpPr>
          <p:nvPr/>
        </p:nvSpPr>
        <p:spPr bwMode="auto">
          <a:xfrm>
            <a:off x="914400" y="2209800"/>
            <a:ext cx="817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s[X]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22578" name="Rectangle 50"/>
          <p:cNvSpPr>
            <a:spLocks noChangeArrowheads="1"/>
          </p:cNvSpPr>
          <p:nvPr/>
        </p:nvSpPr>
        <p:spPr bwMode="auto">
          <a:xfrm>
            <a:off x="5410200" y="4953000"/>
            <a:ext cx="8175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  <a:sym typeface="Symbol" panose="05050102010706020507" pitchFamily="18" charset="2"/>
              </a:rPr>
              <a:t>s[Y]</a:t>
            </a:r>
            <a:endParaRPr kumimoji="1" lang="en-US" altLang="zh-CN" sz="28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  <a:sym typeface="Symbol" panose="05050102010706020507" pitchFamily="18" charset="2"/>
            </a:endParaRPr>
          </a:p>
        </p:txBody>
      </p:sp>
      <p:sp>
        <p:nvSpPr>
          <p:cNvPr id="19508" name="Text Box 51"/>
          <p:cNvSpPr txBox="1"/>
          <p:nvPr/>
        </p:nvSpPr>
        <p:spPr>
          <a:xfrm>
            <a:off x="1663700" y="3454400"/>
            <a:ext cx="354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2400" b="0" i="1" dirty="0">
                <a:solidFill>
                  <a:schemeClr val="tx1"/>
                </a:solidFill>
              </a:rPr>
              <a:t>S</a:t>
            </a:r>
            <a:endParaRPr lang="en-US" altLang="zh-CN" sz="2400" b="0" i="1" dirty="0">
              <a:solidFill>
                <a:schemeClr val="tx1"/>
              </a:solidFill>
            </a:endParaRPr>
          </a:p>
        </p:txBody>
      </p:sp>
      <p:sp>
        <p:nvSpPr>
          <p:cNvPr id="19509" name="Text Box 52"/>
          <p:cNvSpPr txBox="1"/>
          <p:nvPr/>
        </p:nvSpPr>
        <p:spPr>
          <a:xfrm>
            <a:off x="1676400" y="3860800"/>
            <a:ext cx="282575" cy="519113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sz="2800" b="0" i="1" dirty="0">
                <a:solidFill>
                  <a:schemeClr val="tx1"/>
                </a:solidFill>
              </a:rPr>
              <a:t>t</a:t>
            </a:r>
            <a:endParaRPr lang="en-US" altLang="zh-CN" sz="2800" b="0" i="1" dirty="0">
              <a:solidFill>
                <a:schemeClr val="tx1"/>
              </a:solidFill>
            </a:endParaRPr>
          </a:p>
        </p:txBody>
      </p:sp>
      <p:sp>
        <p:nvSpPr>
          <p:cNvPr id="19510" name="Line 53"/>
          <p:cNvSpPr/>
          <p:nvPr/>
        </p:nvSpPr>
        <p:spPr>
          <a:xfrm>
            <a:off x="1524000" y="2667000"/>
            <a:ext cx="1219200" cy="990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511" name="Line 54"/>
          <p:cNvSpPr/>
          <p:nvPr/>
        </p:nvSpPr>
        <p:spPr>
          <a:xfrm flipV="1">
            <a:off x="1676400" y="4038600"/>
            <a:ext cx="1066800" cy="6858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512" name="Line 55"/>
          <p:cNvSpPr/>
          <p:nvPr/>
        </p:nvSpPr>
        <p:spPr>
          <a:xfrm flipH="1" flipV="1">
            <a:off x="4648200" y="4114800"/>
            <a:ext cx="76200" cy="8382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513" name="Line 56"/>
          <p:cNvSpPr/>
          <p:nvPr/>
        </p:nvSpPr>
        <p:spPr>
          <a:xfrm flipH="1" flipV="1">
            <a:off x="4724400" y="3657600"/>
            <a:ext cx="1066800" cy="1371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19514" name="Rectangle 57"/>
          <p:cNvSpPr/>
          <p:nvPr/>
        </p:nvSpPr>
        <p:spPr>
          <a:xfrm>
            <a:off x="1295400" y="5486400"/>
            <a:ext cx="5865813" cy="1066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zh-CN" altLang="en-US" b="0" dirty="0">
                <a:sym typeface="Symbol" panose="05050102010706020507" pitchFamily="18" charset="2"/>
              </a:rPr>
              <a:t>只要</a:t>
            </a:r>
            <a:r>
              <a:rPr lang="en-US" altLang="zh-CN" b="0" dirty="0">
                <a:sym typeface="Symbol" panose="05050102010706020507" pitchFamily="18" charset="2"/>
              </a:rPr>
              <a:t>s[X] = t[X] </a:t>
            </a:r>
            <a:r>
              <a:rPr lang="zh-CN" altLang="en-US" b="0" dirty="0">
                <a:sym typeface="Symbol" panose="05050102010706020507" pitchFamily="18" charset="2"/>
              </a:rPr>
              <a:t>就有 </a:t>
            </a:r>
            <a:r>
              <a:rPr lang="en-US" altLang="zh-CN" b="0" dirty="0">
                <a:sym typeface="Symbol" panose="05050102010706020507" pitchFamily="18" charset="2"/>
              </a:rPr>
              <a:t>s[Y] = t[Y]:</a:t>
            </a:r>
            <a:endParaRPr lang="en-US" altLang="zh-CN" b="0" dirty="0">
              <a:sym typeface="Symbol" panose="05050102010706020507" pitchFamily="18" charset="2"/>
            </a:endParaRPr>
          </a:p>
          <a:p>
            <a:pPr marL="0" lvl="0" indent="0" eaLnBrk="1" hangingPunct="1">
              <a:spcBef>
                <a:spcPct val="0"/>
              </a:spcBef>
              <a:buClrTx/>
              <a:buNone/>
            </a:pPr>
            <a:r>
              <a:rPr lang="en-US" altLang="zh-CN" b="0" dirty="0">
                <a:sym typeface="Symbol" panose="05050102010706020507" pitchFamily="18" charset="2"/>
              </a:rPr>
              <a:t> XY</a:t>
            </a:r>
            <a:endParaRPr lang="en-US" altLang="zh-CN" b="0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0483" name="Rectangle 2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graphicFrame>
        <p:nvGraphicFramePr>
          <p:cNvPr id="23555" name="Group 3"/>
          <p:cNvGraphicFramePr>
            <a:graphicFrameLocks noGrp="1"/>
          </p:cNvGraphicFramePr>
          <p:nvPr/>
        </p:nvGraphicFramePr>
        <p:xfrm>
          <a:off x="317500" y="1295400"/>
          <a:ext cx="8458200" cy="5299075"/>
        </p:xfrm>
        <a:graphic>
          <a:graphicData uri="http://schemas.openxmlformats.org/drawingml/2006/table">
            <a:tbl>
              <a:tblPr/>
              <a:tblGrid>
                <a:gridCol w="990600"/>
                <a:gridCol w="1143000"/>
                <a:gridCol w="914400"/>
                <a:gridCol w="1371600"/>
                <a:gridCol w="1219200"/>
                <a:gridCol w="1143000"/>
                <a:gridCol w="1676400"/>
              </a:tblGrid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学号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姓名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Sname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年龄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Age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系别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Dept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系主任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Mn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课程号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FF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Cno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FF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成绩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Score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85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李勇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81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刘晨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计算机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王平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60375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C2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87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王敏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18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自控系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刘伟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76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00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机械学院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李刚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C3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80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  <a:tr h="43815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S4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张立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19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机械学院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李刚</a:t>
                      </a:r>
                      <a:endParaRPr kumimoji="1" lang="zh-CN" altLang="en-US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C4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84</a:t>
                      </a:r>
                      <a:endParaRPr kumimoji="1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6699FF"/>
                    </a:solidFill>
                  </a:tcPr>
                </a:tc>
              </a:tr>
            </a:tbl>
          </a:graphicData>
        </a:graphic>
      </p:graphicFrame>
      <p:sp>
        <p:nvSpPr>
          <p:cNvPr id="20582" name="Rectangle 101"/>
          <p:cNvSpPr>
            <a:spLocks noGrp="1"/>
          </p:cNvSpPr>
          <p:nvPr>
            <p:ph idx="1"/>
          </p:nvPr>
        </p:nvSpPr>
        <p:spPr>
          <a:xfrm>
            <a:off x="685800" y="571500"/>
            <a:ext cx="7772400" cy="685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能找出哪些函数依赖关系</a:t>
            </a:r>
            <a:r>
              <a:rPr lang="en-US" altLang="zh-CN" sz="2800" dirty="0">
                <a:solidFill>
                  <a:schemeClr val="tx1"/>
                </a:solidFill>
              </a:rPr>
              <a:t>?</a:t>
            </a: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1507" name="Rectangle 2"/>
          <p:cNvSpPr>
            <a:spLocks noGrp="1"/>
          </p:cNvSpPr>
          <p:nvPr>
            <p:ph idx="1"/>
          </p:nvPr>
        </p:nvSpPr>
        <p:spPr>
          <a:xfrm>
            <a:off x="838200" y="838200"/>
            <a:ext cx="7315200" cy="56388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学号姓名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学号年龄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学号系别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学号系主任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… …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学号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姓名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年龄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系别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系主任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系别系主任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课程号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)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成绩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请思考：</a:t>
            </a:r>
            <a:endParaRPr lang="zh-CN" altLang="en-US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endParaRPr lang="zh-CN" altLang="en-US" sz="28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学号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姓名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)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年龄 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?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部分函数依赖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年龄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系别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)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系别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? 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平凡的函数依赖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None/>
            </a:pP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学号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课程号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) ?</a:t>
            </a:r>
            <a:endParaRPr lang="en-US" altLang="zh-CN" sz="2800" dirty="0">
              <a:solidFill>
                <a:srgbClr val="FF0000"/>
              </a:solidFill>
              <a:sym typeface="Symbol" panose="05050102010706020507" pitchFamily="18" charset="2"/>
            </a:endParaRPr>
          </a:p>
        </p:txBody>
      </p:sp>
      <p:sp>
        <p:nvSpPr>
          <p:cNvPr id="2150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2531" name="Rectangle 2"/>
          <p:cNvSpPr>
            <a:spLocks noGrp="1"/>
          </p:cNvSpPr>
          <p:nvPr>
            <p:ph idx="1"/>
          </p:nvPr>
        </p:nvSpPr>
        <p:spPr>
          <a:xfrm>
            <a:off x="762000" y="990600"/>
            <a:ext cx="7772400" cy="2438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两个记号：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若</a:t>
            </a:r>
            <a:r>
              <a:rPr lang="en-US" altLang="zh-CN" sz="2800" dirty="0">
                <a:solidFill>
                  <a:schemeClr val="tx1"/>
                </a:solidFill>
              </a:rPr>
              <a:t>X→Y</a:t>
            </a:r>
            <a:r>
              <a:rPr lang="zh-CN" altLang="en-US" sz="2800" dirty="0">
                <a:solidFill>
                  <a:schemeClr val="tx1"/>
                </a:solidFill>
              </a:rPr>
              <a:t>，并且</a:t>
            </a:r>
            <a:r>
              <a:rPr lang="en-US" altLang="zh-CN" sz="2800" dirty="0">
                <a:solidFill>
                  <a:schemeClr val="tx1"/>
                </a:solidFill>
              </a:rPr>
              <a:t>Y→X,  </a:t>
            </a:r>
            <a:r>
              <a:rPr lang="zh-CN" altLang="en-US" sz="2800" dirty="0">
                <a:solidFill>
                  <a:schemeClr val="tx1"/>
                </a:solidFill>
              </a:rPr>
              <a:t>则记为</a:t>
            </a:r>
            <a:r>
              <a:rPr lang="en-US" altLang="zh-CN" sz="2800" dirty="0">
                <a:solidFill>
                  <a:schemeClr val="tx1"/>
                </a:solidFill>
              </a:rPr>
              <a:t>X←→Y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若</a:t>
            </a:r>
            <a:r>
              <a:rPr lang="en-US" altLang="zh-CN" sz="2800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不函数依赖于</a:t>
            </a:r>
            <a:r>
              <a:rPr lang="en-US" altLang="zh-CN" sz="2800" dirty="0">
                <a:solidFill>
                  <a:schemeClr val="tx1"/>
                </a:solidFill>
              </a:rPr>
              <a:t>X,   </a:t>
            </a:r>
            <a:r>
              <a:rPr lang="zh-CN" altLang="en-US" sz="2800" dirty="0">
                <a:solidFill>
                  <a:schemeClr val="tx1"/>
                </a:solidFill>
              </a:rPr>
              <a:t>则记为</a:t>
            </a:r>
            <a:r>
              <a:rPr lang="en-US" altLang="zh-CN" sz="2800" dirty="0">
                <a:solidFill>
                  <a:schemeClr val="tx1"/>
                </a:solidFill>
              </a:rPr>
              <a:t>X─→Y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253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sp>
        <p:nvSpPr>
          <p:cNvPr id="22533" name="Line 4"/>
          <p:cNvSpPr/>
          <p:nvPr/>
        </p:nvSpPr>
        <p:spPr>
          <a:xfrm>
            <a:off x="5638800" y="2133600"/>
            <a:ext cx="381000" cy="3048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3555" name="Rectangle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638800"/>
          </a:xfrm>
          <a:ln/>
        </p:spPr>
        <p:txBody>
          <a:bodyPr vert="horz" wrap="square" lIns="91440" tIns="45720" rIns="91440" bIns="45720" anchor="t" anchorCtr="0"/>
          <a:p>
            <a:pPr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有关函数依赖的几点说明</a:t>
            </a:r>
            <a:r>
              <a:rPr lang="en-US" altLang="zh-CN" dirty="0">
                <a:solidFill>
                  <a:schemeClr val="tx1"/>
                </a:solidFill>
                <a:latin typeface="宋体" panose="02010600030101010101" pitchFamily="2" charset="-122"/>
              </a:rPr>
              <a:t>:</a:t>
            </a:r>
            <a:endParaRPr lang="en-US" altLang="zh-CN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>
              <a:lnSpc>
                <a:spcPct val="105000"/>
              </a:lnSpc>
              <a:spcBef>
                <a:spcPct val="0"/>
              </a:spcBef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1) </a:t>
            </a:r>
            <a:r>
              <a:rPr lang="zh-CN" altLang="en-US" sz="2800" dirty="0">
                <a:solidFill>
                  <a:schemeClr val="tx1"/>
                </a:solidFill>
              </a:rPr>
              <a:t>函数依赖不是指关系模式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的某个或某些关系实例满足的约束条件，而是指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的所有关系实例均要满足的约束条件。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05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2)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函数依赖是语义范畴的概念。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05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  只能根据语义来确定一个函数依赖。例如，对于前述关系模式，当学生不存在重名的情况下，可以得到：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algn="just" eaLnBrk="1" hangingPunct="1">
              <a:lnSpc>
                <a:spcPct val="105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	姓名→年龄</a:t>
            </a:r>
            <a:endParaRPr lang="zh-CN" altLang="en-US" dirty="0"/>
          </a:p>
          <a:p>
            <a:pPr lvl="1" algn="just" eaLnBrk="1" hangingPunct="1">
              <a:lnSpc>
                <a:spcPct val="105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	姓名→系别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05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3)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函数依赖关系的存在与时间无关。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355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4579" name="Rectangle 2"/>
          <p:cNvSpPr>
            <a:spLocks noGrp="1"/>
          </p:cNvSpPr>
          <p:nvPr>
            <p:ph idx="1"/>
          </p:nvPr>
        </p:nvSpPr>
        <p:spPr>
          <a:xfrm>
            <a:off x="457200" y="838200"/>
            <a:ext cx="8382000" cy="56388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4)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函数依赖与属性之间的联系类型有关。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在一个关系模式中，如果属性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1:1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联系时，则存在函数依赖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X→Y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Y→X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，即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X←→Y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如果属性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m:1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的联系时，则只存在函数依赖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X→Y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例如，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SNO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DEPT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之间为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m:1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联系，所以有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SNO→DEPT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如果属性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有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m: n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的联系时，则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之间不存在任何函数依赖关系。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  例如，一个学生可以选修多门课程，一门课程又可以为多个学生选修，所以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SNO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与</a:t>
            </a:r>
            <a:r>
              <a:rPr lang="en-US" altLang="zh-CN" sz="2400" dirty="0">
                <a:solidFill>
                  <a:schemeClr val="tx1"/>
                </a:solidFill>
                <a:latin typeface="宋体" panose="02010600030101010101" pitchFamily="2" charset="-122"/>
              </a:rPr>
              <a:t>CNO</a:t>
            </a:r>
            <a:r>
              <a:rPr lang="zh-CN" altLang="en-US" sz="2400" dirty="0">
                <a:solidFill>
                  <a:schemeClr val="tx1"/>
                </a:solidFill>
                <a:latin typeface="宋体" panose="02010600030101010101" pitchFamily="2" charset="-122"/>
              </a:rPr>
              <a:t>之间不存在函数依赖关系。</a:t>
            </a:r>
            <a:endParaRPr lang="zh-CN" altLang="en-US" sz="24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2458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560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79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2.</a:t>
            </a:r>
            <a:r>
              <a:rPr lang="zh-CN" altLang="en-US" sz="2800" dirty="0">
                <a:solidFill>
                  <a:schemeClr val="tx1"/>
                </a:solidFill>
              </a:rPr>
              <a:t>平凡函数依赖与非平凡函数依赖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</a:rPr>
              <a:t>定义</a:t>
            </a:r>
            <a:r>
              <a:rPr lang="en-US" altLang="zh-CN" sz="2800" dirty="0">
                <a:solidFill>
                  <a:srgbClr val="FF0000"/>
                </a:solidFill>
              </a:rPr>
              <a:t>6.2    </a:t>
            </a:r>
            <a:r>
              <a:rPr lang="zh-CN" altLang="en-US" sz="2800" dirty="0">
                <a:solidFill>
                  <a:schemeClr val="tx1"/>
                </a:solidFill>
              </a:rPr>
              <a:t>在关系模式</a:t>
            </a:r>
            <a:r>
              <a:rPr lang="en-US" altLang="zh-CN" sz="2800" dirty="0">
                <a:solidFill>
                  <a:schemeClr val="tx1"/>
                </a:solidFill>
              </a:rPr>
              <a:t>R(U)</a:t>
            </a:r>
            <a:r>
              <a:rPr lang="zh-CN" altLang="en-US" sz="2800" dirty="0">
                <a:solidFill>
                  <a:schemeClr val="tx1"/>
                </a:solidFill>
              </a:rPr>
              <a:t>中，对于</a:t>
            </a:r>
            <a:r>
              <a:rPr lang="en-US" altLang="zh-CN" sz="2800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的子集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如果</a:t>
            </a:r>
            <a:r>
              <a:rPr lang="en-US" altLang="zh-CN" sz="2800" dirty="0">
                <a:solidFill>
                  <a:schemeClr val="tx1"/>
                </a:solidFill>
              </a:rPr>
              <a:t>X→Y</a:t>
            </a:r>
            <a:r>
              <a:rPr lang="zh-CN" altLang="en-US" sz="2800" dirty="0">
                <a:solidFill>
                  <a:schemeClr val="tx1"/>
                </a:solidFill>
              </a:rPr>
              <a:t>，但</a:t>
            </a:r>
            <a:r>
              <a:rPr lang="en-US" altLang="zh-CN" sz="2800" dirty="0">
                <a:solidFill>
                  <a:schemeClr val="tx1"/>
                </a:solidFill>
              </a:rPr>
              <a:t>Y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chemeClr val="tx1"/>
                </a:solidFill>
              </a:rPr>
              <a:t> X</a:t>
            </a:r>
            <a:r>
              <a:rPr lang="zh-CN" altLang="en-US" sz="2800" dirty="0">
                <a:solidFill>
                  <a:schemeClr val="tx1"/>
                </a:solidFill>
              </a:rPr>
              <a:t>，则称</a:t>
            </a:r>
            <a:r>
              <a:rPr lang="en-US" altLang="zh-CN" sz="2800" dirty="0">
                <a:solidFill>
                  <a:schemeClr val="tx1"/>
                </a:solidFill>
              </a:rPr>
              <a:t>X→Y</a:t>
            </a:r>
            <a:r>
              <a:rPr lang="zh-CN" altLang="en-US" sz="2800" dirty="0">
                <a:solidFill>
                  <a:schemeClr val="tx1"/>
                </a:solidFill>
              </a:rPr>
              <a:t>是非平凡的函数依赖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若</a:t>
            </a:r>
            <a:r>
              <a:rPr lang="en-US" altLang="zh-CN" sz="2800" dirty="0">
                <a:solidFill>
                  <a:schemeClr val="tx1"/>
                </a:solidFill>
              </a:rPr>
              <a:t>X→Y</a:t>
            </a:r>
            <a:r>
              <a:rPr lang="zh-CN" altLang="en-US" sz="2800" dirty="0">
                <a:solidFill>
                  <a:schemeClr val="tx1"/>
                </a:solidFill>
              </a:rPr>
              <a:t>，但</a:t>
            </a:r>
            <a:r>
              <a:rPr lang="en-US" altLang="zh-CN" sz="2800" dirty="0">
                <a:solidFill>
                  <a:schemeClr val="tx1"/>
                </a:solidFill>
              </a:rPr>
              <a:t>Y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chemeClr val="tx1"/>
                </a:solidFill>
              </a:rPr>
              <a:t> X,   </a:t>
            </a:r>
            <a:r>
              <a:rPr lang="zh-CN" altLang="en-US" sz="2800" dirty="0">
                <a:solidFill>
                  <a:schemeClr val="tx1"/>
                </a:solidFill>
              </a:rPr>
              <a:t>则称</a:t>
            </a:r>
            <a:r>
              <a:rPr lang="en-US" altLang="zh-CN" sz="2800" dirty="0">
                <a:solidFill>
                  <a:schemeClr val="tx1"/>
                </a:solidFill>
              </a:rPr>
              <a:t>X→Y</a:t>
            </a:r>
            <a:r>
              <a:rPr lang="zh-CN" altLang="en-US" sz="2800" dirty="0">
                <a:solidFill>
                  <a:schemeClr val="tx1"/>
                </a:solidFill>
              </a:rPr>
              <a:t>是平凡的函数依赖。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    非平凡的函数依赖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:    (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课程号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)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成绩  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    平凡的函数依赖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:       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                                          (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课程号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)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                                         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年龄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系别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)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系别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对于任何关系模式，平凡的函数依赖总是成立的，除非特别说明，我们总是讨论非平凡的函数依赖。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560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sp>
        <p:nvSpPr>
          <p:cNvPr id="25605" name="Line 4"/>
          <p:cNvSpPr/>
          <p:nvPr/>
        </p:nvSpPr>
        <p:spPr>
          <a:xfrm>
            <a:off x="3124200" y="2171700"/>
            <a:ext cx="1524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6627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3. </a:t>
            </a:r>
            <a:r>
              <a:rPr lang="zh-CN" altLang="en-US" dirty="0">
                <a:solidFill>
                  <a:schemeClr val="tx1"/>
                </a:solidFill>
              </a:rPr>
              <a:t>完全函数依赖与部分函数依赖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1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zh-CN" altLang="en-US" sz="2800" dirty="0">
                <a:solidFill>
                  <a:srgbClr val="FF0000"/>
                </a:solidFill>
              </a:rPr>
              <a:t>定义</a:t>
            </a:r>
            <a:r>
              <a:rPr lang="en-US" altLang="zh-CN" sz="2800" dirty="0">
                <a:solidFill>
                  <a:srgbClr val="FF0000"/>
                </a:solidFill>
              </a:rPr>
              <a:t>6.3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设关系模式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R(U)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U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是属性全集，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U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的子集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: </a:t>
            </a:r>
            <a:endParaRPr lang="en-US" altLang="zh-CN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如果</a:t>
            </a:r>
            <a:r>
              <a:rPr lang="en-US" altLang="zh-CN" dirty="0">
                <a:latin typeface="宋体" panose="02010600030101010101" pitchFamily="2" charset="-122"/>
              </a:rPr>
              <a:t>X→Y</a:t>
            </a:r>
            <a:r>
              <a:rPr lang="zh-CN" altLang="en-US" dirty="0">
                <a:latin typeface="宋体" panose="02010600030101010101" pitchFamily="2" charset="-122"/>
              </a:rPr>
              <a:t>，并且对于</a:t>
            </a:r>
            <a:r>
              <a:rPr lang="en-US" altLang="zh-CN" dirty="0">
                <a:latin typeface="宋体" panose="02010600030101010101" pitchFamily="2" charset="-122"/>
              </a:rPr>
              <a:t>X</a:t>
            </a:r>
            <a:r>
              <a:rPr lang="zh-CN" altLang="en-US" dirty="0">
                <a:latin typeface="宋体" panose="02010600030101010101" pitchFamily="2" charset="-122"/>
              </a:rPr>
              <a:t>的任何一个真子集</a:t>
            </a:r>
            <a:r>
              <a:rPr lang="en-US" altLang="zh-CN" dirty="0">
                <a:latin typeface="宋体" panose="02010600030101010101" pitchFamily="2" charset="-122"/>
              </a:rPr>
              <a:t>X′,</a:t>
            </a:r>
            <a:r>
              <a:rPr lang="zh-CN" altLang="en-US" dirty="0">
                <a:latin typeface="宋体" panose="02010600030101010101" pitchFamily="2" charset="-122"/>
              </a:rPr>
              <a:t>都有</a:t>
            </a:r>
            <a:r>
              <a:rPr lang="en-US" altLang="zh-CN" dirty="0">
                <a:latin typeface="宋体" panose="02010600030101010101" pitchFamily="2" charset="-122"/>
              </a:rPr>
              <a:t>X′→Y</a:t>
            </a:r>
            <a:r>
              <a:rPr lang="zh-CN" altLang="en-US" dirty="0">
                <a:solidFill>
                  <a:srgbClr val="000000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dirty="0">
                <a:latin typeface="宋体" panose="02010600030101010101" pitchFamily="2" charset="-122"/>
              </a:rPr>
              <a:t>则称</a:t>
            </a:r>
            <a:r>
              <a:rPr lang="en-US" altLang="zh-CN" dirty="0">
                <a:latin typeface="宋体" panose="02010600030101010101" pitchFamily="2" charset="-122"/>
              </a:rPr>
              <a:t>Y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完全函数依赖</a:t>
            </a:r>
            <a:r>
              <a:rPr lang="zh-CN" altLang="en-US" dirty="0">
                <a:latin typeface="宋体" panose="02010600030101010101" pitchFamily="2" charset="-122"/>
              </a:rPr>
              <a:t>于</a:t>
            </a:r>
            <a:r>
              <a:rPr lang="en-US" altLang="zh-CN" dirty="0"/>
              <a:t>X</a:t>
            </a:r>
            <a:r>
              <a:rPr lang="zh-CN" altLang="en-US" dirty="0">
                <a:latin typeface="宋体" panose="02010600030101010101" pitchFamily="2" charset="-122"/>
              </a:rPr>
              <a:t>，记作</a:t>
            </a:r>
            <a:r>
              <a:rPr lang="en-US" altLang="zh-CN" dirty="0">
                <a:latin typeface="宋体" panose="02010600030101010101" pitchFamily="2" charset="-122"/>
              </a:rPr>
              <a:t>X  </a:t>
            </a:r>
            <a:r>
              <a:rPr lang="en-US" altLang="zh-CN" sz="2000" i="1" baseline="60000" dirty="0">
                <a:latin typeface="宋体" panose="02010600030101010101" pitchFamily="2" charset="-122"/>
              </a:rPr>
              <a:t>f</a:t>
            </a:r>
            <a:r>
              <a:rPr lang="en-US" altLang="zh-CN" dirty="0">
                <a:latin typeface="宋体" panose="02010600030101010101" pitchFamily="2" charset="-122"/>
              </a:rPr>
              <a:t>  Y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lvl="1" algn="just" eaLnBrk="1" hangingPunct="1">
              <a:lnSpc>
                <a:spcPct val="110000"/>
              </a:lnSpc>
            </a:pPr>
            <a:r>
              <a:rPr lang="zh-CN" altLang="en-US" dirty="0">
                <a:latin typeface="宋体" panose="02010600030101010101" pitchFamily="2" charset="-122"/>
              </a:rPr>
              <a:t>如果对</a:t>
            </a:r>
            <a:r>
              <a:rPr lang="en-US" altLang="zh-CN" dirty="0">
                <a:latin typeface="宋体" panose="02010600030101010101" pitchFamily="2" charset="-122"/>
              </a:rPr>
              <a:t>X</a:t>
            </a:r>
            <a:r>
              <a:rPr lang="zh-CN" altLang="en-US" dirty="0">
                <a:latin typeface="宋体" panose="02010600030101010101" pitchFamily="2" charset="-122"/>
              </a:rPr>
              <a:t>的某个真子集</a:t>
            </a:r>
            <a:r>
              <a:rPr lang="en-US" altLang="zh-CN" dirty="0">
                <a:latin typeface="宋体" panose="02010600030101010101" pitchFamily="2" charset="-122"/>
              </a:rPr>
              <a:t>X′</a:t>
            </a:r>
            <a:r>
              <a:rPr lang="zh-CN" altLang="en-US" dirty="0">
                <a:latin typeface="宋体" panose="02010600030101010101" pitchFamily="2" charset="-122"/>
              </a:rPr>
              <a:t>，有</a:t>
            </a:r>
            <a:r>
              <a:rPr lang="en-US" altLang="zh-CN" dirty="0">
                <a:latin typeface="宋体" panose="02010600030101010101" pitchFamily="2" charset="-122"/>
              </a:rPr>
              <a:t>X′→Y</a:t>
            </a:r>
            <a:r>
              <a:rPr lang="zh-CN" altLang="en-US" dirty="0">
                <a:latin typeface="宋体" panose="02010600030101010101" pitchFamily="2" charset="-122"/>
              </a:rPr>
              <a:t>，则称</a:t>
            </a:r>
            <a:r>
              <a:rPr lang="en-US" altLang="zh-CN" dirty="0">
                <a:latin typeface="宋体" panose="02010600030101010101" pitchFamily="2" charset="-122"/>
              </a:rPr>
              <a:t>Y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部分函数依赖</a:t>
            </a:r>
            <a:r>
              <a:rPr lang="zh-CN" altLang="en-US" dirty="0">
                <a:latin typeface="宋体" panose="02010600030101010101" pitchFamily="2" charset="-122"/>
              </a:rPr>
              <a:t>于</a:t>
            </a:r>
            <a:r>
              <a:rPr lang="en-US" altLang="zh-CN" dirty="0">
                <a:latin typeface="宋体" panose="02010600030101010101" pitchFamily="2" charset="-122"/>
              </a:rPr>
              <a:t>X</a:t>
            </a:r>
            <a:r>
              <a:rPr lang="zh-CN" altLang="en-US" dirty="0">
                <a:latin typeface="宋体" panose="02010600030101010101" pitchFamily="2" charset="-122"/>
              </a:rPr>
              <a:t>，记作</a:t>
            </a:r>
            <a:r>
              <a:rPr lang="en-US" altLang="zh-CN" dirty="0">
                <a:latin typeface="宋体" panose="02010600030101010101" pitchFamily="2" charset="-122"/>
              </a:rPr>
              <a:t>X </a:t>
            </a:r>
            <a:r>
              <a:rPr lang="en-US" altLang="zh-CN" sz="2000" i="1" baseline="60000" dirty="0">
                <a:latin typeface="宋体" panose="02010600030101010101" pitchFamily="2" charset="-122"/>
              </a:rPr>
              <a:t>p    </a:t>
            </a:r>
            <a:r>
              <a:rPr lang="en-US" altLang="zh-CN" dirty="0">
                <a:latin typeface="宋体" panose="02010600030101010101" pitchFamily="2" charset="-122"/>
              </a:rPr>
              <a:t>Y</a:t>
            </a:r>
            <a:r>
              <a:rPr lang="zh-CN" altLang="en-US" dirty="0">
                <a:latin typeface="宋体" panose="02010600030101010101" pitchFamily="2" charset="-122"/>
              </a:rPr>
              <a:t>。</a:t>
            </a:r>
            <a:endParaRPr lang="zh-CN" altLang="en-US" dirty="0"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在</a:t>
            </a:r>
            <a:r>
              <a:rPr lang="en-US" altLang="zh-CN" sz="2800" dirty="0">
                <a:solidFill>
                  <a:schemeClr val="tx1"/>
                </a:solidFill>
              </a:rPr>
              <a:t>SCD</a:t>
            </a:r>
            <a:r>
              <a:rPr lang="zh-CN" altLang="en-US" sz="2800" dirty="0">
                <a:solidFill>
                  <a:schemeClr val="tx1"/>
                </a:solidFill>
              </a:rPr>
              <a:t>中，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因为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 →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成绩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，且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课程号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 →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成绩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，所以有：（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课程号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） </a:t>
            </a:r>
            <a:r>
              <a:rPr lang="en-US" altLang="zh-CN" sz="2400" i="1" baseline="60000" dirty="0">
                <a:solidFill>
                  <a:schemeClr val="tx1"/>
                </a:solidFill>
                <a:latin typeface="宋体" panose="02010600030101010101" pitchFamily="2" charset="-122"/>
              </a:rPr>
              <a:t>f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 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成绩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 。</a:t>
            </a:r>
            <a:endParaRPr lang="zh-CN" altLang="en-US" sz="2800" dirty="0">
              <a:solidFill>
                <a:schemeClr val="tx1"/>
              </a:solidFill>
              <a:latin typeface="宋体" panose="02010600030101010101" pitchFamily="2" charset="-122"/>
            </a:endParaRPr>
          </a:p>
          <a:p>
            <a:pPr algn="just" eaLnBrk="1" hangingPunct="1">
              <a:lnSpc>
                <a:spcPct val="11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  而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→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年龄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，所以（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，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课程号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） </a:t>
            </a:r>
            <a:r>
              <a:rPr lang="en-US" altLang="zh-CN" sz="2400" i="1" baseline="60000" dirty="0">
                <a:solidFill>
                  <a:schemeClr val="tx1"/>
                </a:solidFill>
                <a:latin typeface="宋体" panose="02010600030101010101" pitchFamily="2" charset="-122"/>
              </a:rPr>
              <a:t>p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sz="2800" dirty="0">
                <a:solidFill>
                  <a:schemeClr val="accent2"/>
                </a:solidFill>
                <a:latin typeface="宋体" panose="02010600030101010101" pitchFamily="2" charset="-122"/>
              </a:rPr>
              <a:t>年龄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62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sp>
        <p:nvSpPr>
          <p:cNvPr id="26629" name="Line 4"/>
          <p:cNvSpPr/>
          <p:nvPr/>
        </p:nvSpPr>
        <p:spPr>
          <a:xfrm>
            <a:off x="1752600" y="3149600"/>
            <a:ext cx="1524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0" name="Line 5"/>
          <p:cNvSpPr/>
          <p:nvPr/>
        </p:nvSpPr>
        <p:spPr>
          <a:xfrm>
            <a:off x="7581900" y="341630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31" name="Line 6"/>
          <p:cNvSpPr/>
          <p:nvPr/>
        </p:nvSpPr>
        <p:spPr>
          <a:xfrm>
            <a:off x="4432300" y="444500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32" name="Line 7"/>
          <p:cNvSpPr/>
          <p:nvPr/>
        </p:nvSpPr>
        <p:spPr>
          <a:xfrm>
            <a:off x="4468813" y="4724400"/>
            <a:ext cx="1524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3" name="Line 8"/>
          <p:cNvSpPr/>
          <p:nvPr/>
        </p:nvSpPr>
        <p:spPr>
          <a:xfrm>
            <a:off x="7596188" y="4711700"/>
            <a:ext cx="152400" cy="38100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6634" name="Line 9"/>
          <p:cNvSpPr/>
          <p:nvPr/>
        </p:nvSpPr>
        <p:spPr>
          <a:xfrm>
            <a:off x="4975225" y="548640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6635" name="Line 10"/>
          <p:cNvSpPr/>
          <p:nvPr/>
        </p:nvSpPr>
        <p:spPr>
          <a:xfrm>
            <a:off x="6781800" y="6019800"/>
            <a:ext cx="533400" cy="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7651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715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4. </a:t>
            </a:r>
            <a:r>
              <a:rPr lang="zh-CN" altLang="en-US" dirty="0">
                <a:solidFill>
                  <a:schemeClr val="tx1"/>
                </a:solidFill>
              </a:rPr>
              <a:t>传递函数依赖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rgbClr val="FF0000"/>
                </a:solidFill>
              </a:rPr>
              <a:t>    定义</a:t>
            </a:r>
            <a:r>
              <a:rPr lang="en-US" altLang="zh-CN" sz="2800" dirty="0">
                <a:solidFill>
                  <a:srgbClr val="FF0000"/>
                </a:solidFill>
              </a:rPr>
              <a:t>6.4     </a:t>
            </a:r>
            <a:r>
              <a:rPr lang="zh-CN" altLang="en-US" sz="2800" dirty="0">
                <a:solidFill>
                  <a:schemeClr val="tx1"/>
                </a:solidFill>
              </a:rPr>
              <a:t>在关系模式</a:t>
            </a:r>
            <a:r>
              <a:rPr lang="en-US" altLang="zh-CN" sz="2800" dirty="0">
                <a:solidFill>
                  <a:schemeClr val="tx1"/>
                </a:solidFill>
              </a:rPr>
              <a:t>R(U)</a:t>
            </a:r>
            <a:r>
              <a:rPr lang="zh-CN" altLang="en-US" sz="2800" dirty="0">
                <a:solidFill>
                  <a:schemeClr val="tx1"/>
                </a:solidFill>
              </a:rPr>
              <a:t>中，如果</a:t>
            </a:r>
            <a:r>
              <a:rPr lang="en-US" altLang="zh-CN" sz="2800" dirty="0">
                <a:solidFill>
                  <a:schemeClr val="tx1"/>
                </a:solidFill>
              </a:rPr>
              <a:t>X→Y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Y→Z</a:t>
            </a:r>
            <a:r>
              <a:rPr lang="zh-CN" altLang="en-US" sz="2800" dirty="0">
                <a:solidFill>
                  <a:schemeClr val="tx1"/>
                </a:solidFill>
              </a:rPr>
              <a:t>，且</a:t>
            </a:r>
            <a:r>
              <a:rPr lang="en-US" altLang="zh-CN" sz="2800" dirty="0">
                <a:solidFill>
                  <a:schemeClr val="tx1"/>
                </a:solidFill>
              </a:rPr>
              <a:t>Y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Y→X</a:t>
            </a:r>
            <a:r>
              <a:rPr lang="zh-CN" altLang="en-US" sz="2800" dirty="0">
                <a:solidFill>
                  <a:schemeClr val="tx1"/>
                </a:solidFill>
              </a:rPr>
              <a:t>，则称</a:t>
            </a:r>
            <a:r>
              <a:rPr lang="en-US" altLang="zh-CN" sz="2800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传递函数依赖于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注</a:t>
            </a:r>
            <a:r>
              <a:rPr lang="en-US" altLang="zh-CN" sz="2800" dirty="0">
                <a:solidFill>
                  <a:schemeClr val="tx1"/>
                </a:solidFill>
              </a:rPr>
              <a:t>: </a:t>
            </a:r>
            <a:r>
              <a:rPr lang="zh-CN" altLang="en-US" sz="2800" dirty="0">
                <a:solidFill>
                  <a:schemeClr val="tx1"/>
                </a:solidFill>
              </a:rPr>
              <a:t>如果</a:t>
            </a:r>
            <a:r>
              <a:rPr lang="en-US" altLang="zh-CN" sz="2800" dirty="0">
                <a:solidFill>
                  <a:schemeClr val="tx1"/>
                </a:solidFill>
              </a:rPr>
              <a:t>Y→X</a:t>
            </a:r>
            <a:r>
              <a:rPr lang="zh-CN" altLang="en-US" sz="2800" dirty="0">
                <a:solidFill>
                  <a:schemeClr val="tx1"/>
                </a:solidFill>
              </a:rPr>
              <a:t>， 即</a:t>
            </a:r>
            <a:r>
              <a:rPr lang="en-US" altLang="zh-CN" sz="2800" dirty="0">
                <a:solidFill>
                  <a:schemeClr val="tx1"/>
                </a:solidFill>
              </a:rPr>
              <a:t>X←→Y</a:t>
            </a:r>
            <a:r>
              <a:rPr lang="zh-CN" altLang="en-US" sz="2800" dirty="0">
                <a:solidFill>
                  <a:schemeClr val="tx1"/>
                </a:solidFill>
              </a:rPr>
              <a:t>，则</a:t>
            </a:r>
            <a:r>
              <a:rPr lang="en-US" altLang="zh-CN" sz="2800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直接依赖于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在前述关系模式</a:t>
            </a:r>
            <a:r>
              <a:rPr lang="en-US" altLang="zh-CN" sz="2800" dirty="0">
                <a:solidFill>
                  <a:schemeClr val="tx1"/>
                </a:solidFill>
              </a:rPr>
              <a:t>SCD</a:t>
            </a:r>
            <a:r>
              <a:rPr lang="zh-CN" altLang="en-US" sz="2800" dirty="0">
                <a:solidFill>
                  <a:schemeClr val="tx1"/>
                </a:solidFill>
              </a:rPr>
              <a:t>中，有：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       </a:t>
            </a:r>
            <a:r>
              <a:rPr lang="zh-CN" altLang="en-US" sz="2800" dirty="0">
                <a:solidFill>
                  <a:schemeClr val="accent2"/>
                </a:solidFill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</a:rPr>
              <a:t> → </a:t>
            </a:r>
            <a:r>
              <a:rPr lang="zh-CN" altLang="en-US" sz="2800" dirty="0">
                <a:solidFill>
                  <a:schemeClr val="accent2"/>
                </a:solidFill>
              </a:rPr>
              <a:t>系别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zh-CN" altLang="en-US" sz="2800" dirty="0">
                <a:solidFill>
                  <a:schemeClr val="accent2"/>
                </a:solidFill>
              </a:rPr>
              <a:t>系别</a:t>
            </a:r>
            <a:r>
              <a:rPr lang="zh-CN" altLang="en-US" sz="2800" dirty="0">
                <a:solidFill>
                  <a:schemeClr val="tx1"/>
                </a:solidFill>
              </a:rPr>
              <a:t> → </a:t>
            </a:r>
            <a:r>
              <a:rPr lang="zh-CN" altLang="en-US" sz="2800" dirty="0">
                <a:solidFill>
                  <a:schemeClr val="accent2"/>
                </a:solidFill>
              </a:rPr>
              <a:t>系主任</a:t>
            </a:r>
            <a:endParaRPr lang="zh-CN" altLang="en-US" sz="2800" dirty="0">
              <a:solidFill>
                <a:schemeClr val="accent2"/>
              </a:solidFill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zh-CN" altLang="en-US" sz="2800" dirty="0">
                <a:solidFill>
                  <a:schemeClr val="accent2"/>
                </a:solidFill>
              </a:rPr>
              <a:t>系主任</a:t>
            </a:r>
            <a:r>
              <a:rPr lang="zh-CN" altLang="en-US" sz="2800" dirty="0">
                <a:solidFill>
                  <a:schemeClr val="tx1"/>
                </a:solidFill>
              </a:rPr>
              <a:t>传递函数依赖于</a:t>
            </a:r>
            <a:r>
              <a:rPr lang="zh-CN" altLang="en-US" sz="2800" dirty="0">
                <a:solidFill>
                  <a:schemeClr val="accent2"/>
                </a:solidFill>
              </a:rPr>
              <a:t>学号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2765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sp>
        <p:nvSpPr>
          <p:cNvPr id="27653" name="Line 4"/>
          <p:cNvSpPr/>
          <p:nvPr/>
        </p:nvSpPr>
        <p:spPr>
          <a:xfrm>
            <a:off x="2628900" y="2209800"/>
            <a:ext cx="228600" cy="304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27654" name="Line 5"/>
          <p:cNvSpPr/>
          <p:nvPr/>
        </p:nvSpPr>
        <p:spPr>
          <a:xfrm>
            <a:off x="1485900" y="2286000"/>
            <a:ext cx="228600" cy="3048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8675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4724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5. </a:t>
            </a:r>
            <a:r>
              <a:rPr lang="zh-CN" altLang="en-US" sz="3600" dirty="0">
                <a:solidFill>
                  <a:schemeClr val="tx1"/>
                </a:solidFill>
              </a:rPr>
              <a:t>码</a:t>
            </a:r>
            <a:endParaRPr lang="zh-CN" altLang="en-US" sz="36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zh-CN" altLang="en-US" sz="2800" dirty="0"/>
              <a:t>    定义</a:t>
            </a:r>
            <a:r>
              <a:rPr lang="en-US" altLang="zh-CN" sz="2800" dirty="0"/>
              <a:t>6.5  </a:t>
            </a:r>
            <a:r>
              <a:rPr lang="zh-CN" altLang="en-US" sz="2800" dirty="0">
                <a:solidFill>
                  <a:schemeClr val="tx1"/>
                </a:solidFill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</a:rPr>
              <a:t>K</a:t>
            </a:r>
            <a:r>
              <a:rPr lang="zh-CN" altLang="en-US" sz="2800" dirty="0">
                <a:solidFill>
                  <a:schemeClr val="tx1"/>
                </a:solidFill>
              </a:rPr>
              <a:t>为关系模式</a:t>
            </a:r>
            <a:r>
              <a:rPr lang="en-US" altLang="zh-CN" sz="2800" dirty="0">
                <a:solidFill>
                  <a:schemeClr val="tx1"/>
                </a:solidFill>
              </a:rPr>
              <a:t>R&lt;U,F&gt;</a:t>
            </a:r>
            <a:r>
              <a:rPr lang="zh-CN" altLang="en-US" sz="2800" dirty="0">
                <a:solidFill>
                  <a:schemeClr val="tx1"/>
                </a:solidFill>
              </a:rPr>
              <a:t>中的属性或属性组合。若</a:t>
            </a:r>
            <a:r>
              <a:rPr lang="en-US" altLang="zh-CN" sz="2800" dirty="0">
                <a:solidFill>
                  <a:schemeClr val="tx1"/>
                </a:solidFill>
              </a:rPr>
              <a:t>K  </a:t>
            </a:r>
            <a:r>
              <a:rPr lang="zh-CN" altLang="en-US" sz="2800" baseline="46000" dirty="0">
                <a:solidFill>
                  <a:schemeClr val="tx1"/>
                </a:solidFill>
              </a:rPr>
              <a:t>ｆ  </a:t>
            </a:r>
            <a:r>
              <a:rPr lang="en-US" altLang="zh-CN" sz="2800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，则</a:t>
            </a:r>
            <a:r>
              <a:rPr lang="en-US" altLang="zh-CN" sz="2800" dirty="0">
                <a:solidFill>
                  <a:schemeClr val="tx1"/>
                </a:solidFill>
              </a:rPr>
              <a:t>K</a:t>
            </a:r>
            <a:r>
              <a:rPr lang="zh-CN" altLang="en-US" sz="2800" dirty="0">
                <a:solidFill>
                  <a:schemeClr val="tx1"/>
                </a:solidFill>
              </a:rPr>
              <a:t>称为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的一个</a:t>
            </a:r>
            <a:r>
              <a:rPr lang="zh-CN" altLang="en-US" sz="2800" dirty="0">
                <a:solidFill>
                  <a:srgbClr val="FF0000"/>
                </a:solidFill>
              </a:rPr>
              <a:t>侯选码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</a:rPr>
              <a:t>Candidate Key</a:t>
            </a:r>
            <a:r>
              <a:rPr lang="zh-CN" altLang="en-US" sz="2800" dirty="0">
                <a:solidFill>
                  <a:schemeClr val="tx1"/>
                </a:solidFill>
              </a:rPr>
              <a:t>）。若关系模式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有多个候选码，则选定其中的一个做为</a:t>
            </a:r>
            <a:r>
              <a:rPr lang="zh-CN" altLang="en-US" sz="2800" dirty="0">
                <a:solidFill>
                  <a:srgbClr val="FF0000"/>
                </a:solidFill>
              </a:rPr>
              <a:t>主码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en-US" altLang="zh-CN" sz="2800" dirty="0">
                <a:solidFill>
                  <a:schemeClr val="tx1"/>
                </a:solidFill>
              </a:rPr>
              <a:t>Primary key</a:t>
            </a:r>
            <a:r>
              <a:rPr lang="zh-CN" altLang="en-US" sz="2800" dirty="0">
                <a:solidFill>
                  <a:schemeClr val="tx1"/>
                </a:solidFill>
              </a:rPr>
              <a:t>）。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主属性与非主属性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</a:rPr>
              <a:t>       </a:t>
            </a:r>
            <a:r>
              <a:rPr lang="zh-CN" altLang="en-US" sz="2000" dirty="0">
                <a:solidFill>
                  <a:schemeClr val="tx1"/>
                </a:solidFill>
              </a:rPr>
              <a:t>包含在任何一个候选码中的属性称为主属性</a:t>
            </a:r>
            <a:r>
              <a:rPr lang="en-US" altLang="zh-CN" sz="2000" dirty="0">
                <a:solidFill>
                  <a:schemeClr val="tx1"/>
                </a:solidFill>
              </a:rPr>
              <a:t>(prime attribute)</a:t>
            </a:r>
            <a:endParaRPr lang="en-US" altLang="zh-CN" sz="2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chemeClr val="tx1"/>
                </a:solidFill>
              </a:rPr>
              <a:t>       </a:t>
            </a:r>
            <a:r>
              <a:rPr lang="zh-CN" altLang="en-US" sz="2000" dirty="0">
                <a:solidFill>
                  <a:schemeClr val="tx1"/>
                </a:solidFill>
              </a:rPr>
              <a:t>不包含</a:t>
            </a:r>
            <a:r>
              <a:rPr lang="en-US" altLang="zh-CN" sz="2000" dirty="0">
                <a:solidFill>
                  <a:schemeClr val="tx1"/>
                </a:solidFill>
              </a:rPr>
              <a:t>……</a:t>
            </a:r>
            <a:endParaRPr lang="zh-CN" altLang="en-US" sz="2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•"/>
            </a:pPr>
            <a:r>
              <a:rPr lang="zh-CN" altLang="en-US" sz="2800" dirty="0">
                <a:solidFill>
                  <a:schemeClr val="tx1"/>
                </a:solidFill>
              </a:rPr>
              <a:t>全码</a:t>
            </a:r>
            <a:r>
              <a:rPr lang="en-US" altLang="zh-CN" sz="2800" dirty="0">
                <a:solidFill>
                  <a:schemeClr val="tx1"/>
                </a:solidFill>
              </a:rPr>
              <a:t>(ALL KEY)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Font typeface="Wingdings" panose="05000000000000000000" pitchFamily="2" charset="2"/>
              <a:buChar char="ü"/>
            </a:pPr>
            <a:r>
              <a:rPr lang="en-US" altLang="zh-CN" sz="2000" dirty="0">
                <a:solidFill>
                  <a:srgbClr val="000000"/>
                </a:solidFill>
              </a:rPr>
              <a:t>      </a:t>
            </a:r>
            <a:r>
              <a:rPr lang="zh-CN" altLang="en-US" sz="2000" dirty="0">
                <a:solidFill>
                  <a:srgbClr val="000000"/>
                </a:solidFill>
              </a:rPr>
              <a:t>最极端的情况下，整个属性组是码</a:t>
            </a:r>
            <a:endParaRPr lang="en-US" altLang="zh-CN" sz="28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2867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  <p:sp>
        <p:nvSpPr>
          <p:cNvPr id="28677" name="Line 4"/>
          <p:cNvSpPr/>
          <p:nvPr/>
        </p:nvSpPr>
        <p:spPr>
          <a:xfrm>
            <a:off x="2209800" y="2362200"/>
            <a:ext cx="381000" cy="0"/>
          </a:xfrm>
          <a:prstGeom prst="line">
            <a:avLst/>
          </a:prstGeom>
          <a:ln w="28575" cap="sq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29699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</a:rPr>
              <a:t>6. </a:t>
            </a:r>
            <a:r>
              <a:rPr lang="zh-CN" altLang="en-US" sz="3600" dirty="0">
                <a:solidFill>
                  <a:schemeClr val="tx1"/>
                </a:solidFill>
              </a:rPr>
              <a:t>外码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>
              <a:lnSpc>
                <a:spcPct val="140000"/>
              </a:lnSpc>
              <a:buNone/>
            </a:pPr>
            <a:r>
              <a:rPr lang="zh-CN" altLang="en-US" dirty="0">
                <a:latin typeface="宋体" panose="02010600030101010101" pitchFamily="2" charset="-122"/>
              </a:rPr>
              <a:t>	定义</a:t>
            </a:r>
            <a:r>
              <a:rPr lang="en-US" altLang="zh-CN" dirty="0"/>
              <a:t>6.6</a:t>
            </a:r>
            <a:r>
              <a:rPr lang="en-US" altLang="zh-CN" dirty="0">
                <a:latin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关系模式 </a:t>
            </a:r>
            <a:r>
              <a:rPr lang="en-US" altLang="zh-CN" i="1" dirty="0">
                <a:solidFill>
                  <a:schemeClr val="tx1"/>
                </a:solidFill>
              </a:rPr>
              <a:t>R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中属性或属性组</a:t>
            </a:r>
            <a:r>
              <a:rPr lang="en-US" altLang="zh-CN" i="1" dirty="0">
                <a:solidFill>
                  <a:schemeClr val="tx1"/>
                </a:solidFill>
              </a:rPr>
              <a:t>X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并非</a:t>
            </a:r>
            <a:r>
              <a:rPr lang="en-US" altLang="zh-CN" i="1" dirty="0">
                <a:solidFill>
                  <a:schemeClr val="tx1"/>
                </a:solidFill>
              </a:rPr>
              <a:t>R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的码，但 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是另一个关系模式的码，则称 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dirty="0">
                <a:solidFill>
                  <a:schemeClr val="tx1"/>
                </a:solidFill>
                <a:latin typeface="宋体" panose="02010600030101010101" pitchFamily="2" charset="-122"/>
              </a:rPr>
              <a:t>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是</a:t>
            </a:r>
            <a:r>
              <a:rPr lang="en-US" altLang="zh-CN" i="1" dirty="0">
                <a:solidFill>
                  <a:schemeClr val="tx1"/>
                </a:solidFill>
              </a:rPr>
              <a:t>R 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外部码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dirty="0">
                <a:solidFill>
                  <a:schemeClr val="tx1"/>
                </a:solidFill>
              </a:rPr>
              <a:t>Foreign key</a:t>
            </a:r>
            <a:r>
              <a:rPr lang="zh-CN" altLang="en-US" dirty="0">
                <a:solidFill>
                  <a:schemeClr val="tx1"/>
                </a:solidFill>
              </a:rPr>
              <a:t>）</a:t>
            </a:r>
            <a:r>
              <a:rPr lang="zh-CN" altLang="en-US" dirty="0">
                <a:solidFill>
                  <a:schemeClr val="tx1"/>
                </a:solidFill>
                <a:latin typeface="宋体" panose="02010600030101010101" pitchFamily="2" charset="-122"/>
              </a:rPr>
              <a:t>也称</a:t>
            </a:r>
            <a:r>
              <a:rPr lang="zh-CN" altLang="en-US" dirty="0">
                <a:solidFill>
                  <a:srgbClr val="FF0000"/>
                </a:solidFill>
                <a:latin typeface="宋体" panose="02010600030101010101" pitchFamily="2" charset="-122"/>
              </a:rPr>
              <a:t>外码</a:t>
            </a:r>
            <a:endParaRPr lang="zh-CN" altLang="en-US" dirty="0">
              <a:solidFill>
                <a:srgbClr val="FF0000"/>
              </a:solidFill>
              <a:latin typeface="宋体" panose="02010600030101010101" pitchFamily="2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800" dirty="0">
                <a:solidFill>
                  <a:schemeClr val="tx1"/>
                </a:solidFill>
              </a:rPr>
              <a:t>主码和外部码一起提供表示关系间联系的手段</a:t>
            </a:r>
            <a:r>
              <a:rPr lang="zh-CN" altLang="en-US" sz="2000" dirty="0">
                <a:solidFill>
                  <a:schemeClr val="tx1"/>
                </a:solidFill>
              </a:rPr>
              <a:t>。</a:t>
            </a:r>
            <a:endParaRPr lang="zh-CN" altLang="en-US" sz="2000" dirty="0">
              <a:solidFill>
                <a:schemeClr val="tx1"/>
              </a:solidFill>
            </a:endParaRPr>
          </a:p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970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6.2  </a:t>
            </a:r>
            <a:r>
              <a:rPr lang="zh-CN" altLang="en-US" dirty="0"/>
              <a:t>函数依赖</a:t>
            </a:r>
            <a:endParaRPr lang="zh-CN" alt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0723" name="Rectangle 2"/>
          <p:cNvSpPr/>
          <p:nvPr/>
        </p:nvSpPr>
        <p:spPr>
          <a:xfrm>
            <a:off x="609600" y="3081338"/>
            <a:ext cx="7747000" cy="609600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30724" name="Rectangle 3"/>
          <p:cNvSpPr>
            <a:spLocks noGrp="1"/>
          </p:cNvSpPr>
          <p:nvPr>
            <p:ph idx="1"/>
          </p:nvPr>
        </p:nvSpPr>
        <p:spPr>
          <a:xfrm>
            <a:off x="977900" y="1676400"/>
            <a:ext cx="73279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6.1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问题的提出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6.2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函数依赖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6.3 </a:t>
            </a:r>
            <a:r>
              <a:rPr lang="zh-CN" altLang="en-US" sz="3600" b="0" dirty="0">
                <a:solidFill>
                  <a:schemeClr val="bg1"/>
                </a:solidFill>
                <a:latin typeface="Arial Narrow" panose="020B0606020202030204" pitchFamily="34" charset="0"/>
                <a:ea typeface="楷体_GB2312" pitchFamily="49" charset="-122"/>
              </a:rPr>
              <a:t>函数依赖的公理系统</a:t>
            </a:r>
            <a:endParaRPr lang="zh-CN" altLang="en-US" sz="3600" b="0" dirty="0">
              <a:solidFill>
                <a:schemeClr val="bg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6.4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关系模式的规范化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6.5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关系模式的分解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  <a:p>
            <a:pPr eaLnBrk="1" hangingPunct="1"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en-US" altLang="zh-CN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6.6 </a:t>
            </a:r>
            <a:r>
              <a:rPr lang="zh-CN" altLang="en-US" sz="3600" b="0" dirty="0">
                <a:solidFill>
                  <a:schemeClr val="tx1"/>
                </a:solidFill>
                <a:latin typeface="Arial Narrow" panose="020B0606020202030204" pitchFamily="34" charset="0"/>
                <a:ea typeface="楷体_GB2312" pitchFamily="49" charset="-122"/>
              </a:rPr>
              <a:t>小结</a:t>
            </a:r>
            <a:endParaRPr lang="zh-CN" altLang="en-US" sz="3600" b="0" dirty="0">
              <a:solidFill>
                <a:schemeClr val="tx1"/>
              </a:solidFill>
              <a:latin typeface="Arial Narrow" panose="020B0606020202030204" pitchFamily="34" charset="0"/>
              <a:ea typeface="楷体_GB2312" pitchFamily="49" charset="-122"/>
            </a:endParaRPr>
          </a:p>
        </p:txBody>
      </p:sp>
      <p:sp>
        <p:nvSpPr>
          <p:cNvPr id="30725" name="Rectangle 4"/>
          <p:cNvSpPr>
            <a:spLocks noGrp="1"/>
          </p:cNvSpPr>
          <p:nvPr>
            <p:ph type="title"/>
          </p:nvPr>
        </p:nvSpPr>
        <p:spPr>
          <a:xfrm>
            <a:off x="914400" y="546100"/>
            <a:ext cx="7772400" cy="11430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zh-CN" altLang="en-US" dirty="0"/>
              <a:t>第</a:t>
            </a:r>
            <a:r>
              <a:rPr lang="en-US" altLang="zh-CN" dirty="0"/>
              <a:t>6</a:t>
            </a:r>
            <a:r>
              <a:rPr lang="zh-CN" altLang="en-US" dirty="0"/>
              <a:t>章 关系数据理论</a:t>
            </a:r>
            <a:endParaRPr lang="zh-CN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1747" name="Rectangle 2"/>
          <p:cNvSpPr>
            <a:spLocks noGrp="1"/>
          </p:cNvSpPr>
          <p:nvPr>
            <p:ph idx="1"/>
          </p:nvPr>
        </p:nvSpPr>
        <p:spPr>
          <a:xfrm>
            <a:off x="609600" y="1143000"/>
            <a:ext cx="8153400" cy="50292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逻辑蕴含</a:t>
            </a:r>
            <a:endParaRPr lang="zh-CN" altLang="en-US" sz="36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函数依赖集的闭包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属性集的闭包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/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Armstrong</a:t>
            </a: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公理系统</a:t>
            </a:r>
            <a:endParaRPr lang="zh-CN" altLang="en-US" sz="36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逻辑蕴含的判别与属性集闭包的计算</a:t>
            </a:r>
            <a:endParaRPr lang="zh-CN" altLang="en-US" sz="36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函数依赖的等价和覆盖</a:t>
            </a:r>
            <a:endParaRPr lang="zh-CN" altLang="en-US" sz="36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3600" dirty="0">
                <a:solidFill>
                  <a:schemeClr val="tx1"/>
                </a:solidFill>
              </a:rPr>
              <a:t>函数依赖集的最小覆盖</a:t>
            </a:r>
            <a:endParaRPr lang="zh-CN" altLang="en-US" sz="3600" dirty="0">
              <a:solidFill>
                <a:schemeClr val="tx1"/>
              </a:solidFill>
            </a:endParaRPr>
          </a:p>
        </p:txBody>
      </p:sp>
      <p:sp>
        <p:nvSpPr>
          <p:cNvPr id="3174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2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610600" cy="5562600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逻辑蕴含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	定义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6.7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对于满足一组函数依赖 </a:t>
            </a:r>
            <a:r>
              <a:rPr kumimoji="1" lang="en-US" altLang="zh-CN" sz="32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的关系模式</a:t>
            </a:r>
            <a:r>
              <a:rPr kumimoji="1" lang="en-US" altLang="zh-CN" sz="32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&lt;</a:t>
            </a:r>
            <a:r>
              <a:rPr kumimoji="1" lang="en-US" altLang="zh-CN" sz="32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</a:t>
            </a:r>
            <a:r>
              <a:rPr kumimoji="1" lang="zh-CN" altLang="en-US" sz="32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&gt;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，其任何一个关系</a:t>
            </a:r>
            <a:r>
              <a:rPr kumimoji="1" lang="en-US" altLang="zh-CN" sz="36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，若函数依赖</a:t>
            </a:r>
            <a:r>
              <a:rPr kumimoji="1" lang="en-US" altLang="zh-CN" sz="32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X→Y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都成立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则称</a:t>
            </a:r>
            <a:r>
              <a:rPr kumimoji="1" lang="en-US" altLang="zh-CN" sz="3200" b="1" i="1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逻辑蕴含</a:t>
            </a:r>
            <a:r>
              <a:rPr kumimoji="1" lang="en-US" altLang="zh-CN" sz="3200" b="1" i="1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 →Y</a:t>
            </a:r>
            <a:r>
              <a:rPr kumimoji="1" lang="zh-CN" altLang="en-US" sz="3200" b="1" i="1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。</a:t>
            </a:r>
            <a:endParaRPr kumimoji="1" lang="zh-CN" altLang="en-US" sz="3200" b="1" i="1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95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有的教材定义为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关系模式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是其函数依赖，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，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是其属性子集，如果从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的函数依赖能够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推出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Y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，则称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F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逻辑蕴涵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Y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，记作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ingLiU" pitchFamily="49" charset="-120"/>
                <a:cs typeface="+mn-cs"/>
                <a:sym typeface="MS Outlook" panose="05010100010000000000" pitchFamily="2" charset="2"/>
              </a:rPr>
              <a:t>├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Y 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6" name="Rectangle 2"/>
          <p:cNvSpPr>
            <a:spLocks noGrp="1" noChangeArrowheads="1"/>
          </p:cNvSpPr>
          <p:nvPr>
            <p:ph idx="1"/>
          </p:nvPr>
        </p:nvSpPr>
        <p:spPr>
          <a:xfrm>
            <a:off x="304800" y="838200"/>
            <a:ext cx="8610600" cy="5562600"/>
          </a:xfrm>
          <a:ln>
            <a:miter/>
          </a:ln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函数依赖集的闭包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宋体" panose="02010600030101010101" pitchFamily="2" charset="-122"/>
                <a:ea typeface="+mn-ea"/>
                <a:cs typeface="+mn-cs"/>
              </a:rPr>
              <a:t>	定义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6.8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在关系模式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R&lt;U,F&gt;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中为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F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所逻辑蕴含的函数依赖的全体所构成的集合称作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F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的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闭包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，记作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F</a:t>
            </a:r>
            <a:r>
              <a:rPr kumimoji="1" lang="en-US" altLang="zh-CN" sz="4000" b="1" i="0" u="none" strike="noStrike" kern="0" cap="none" spc="0" normalizeH="0" baseline="28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+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= {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Y | F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MingLiU" pitchFamily="49" charset="-120"/>
                <a:cs typeface="+mn-cs"/>
                <a:sym typeface="MS Outlook" panose="05010100010000000000" pitchFamily="2" charset="2"/>
              </a:rPr>
              <a:t>├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 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X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Y}</a:t>
            </a:r>
            <a:endParaRPr kumimoji="1" lang="en-US" altLang="zh-CN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例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关系模式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R&lt;U,F&gt;,U=(X, Y), F= {X</a:t>
            </a:r>
            <a:r>
              <a:rPr kumimoji="1" lang="en-US" altLang="zh-CN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Y}</a:t>
            </a:r>
            <a:r>
              <a:rPr kumimoji="1" lang="zh-CN" alt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  <a:sym typeface="Symbol" panose="05050102010706020507" pitchFamily="18" charset="2"/>
              </a:rPr>
              <a:t>，易见</a:t>
            </a: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  <a:sym typeface="Symbol" panose="05050102010706020507" pitchFamily="18" charset="2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F</a:t>
            </a:r>
            <a:r>
              <a:rPr kumimoji="1" lang="en-US" altLang="zh-CN" sz="3600" b="1" i="0" u="none" strike="noStrike" kern="0" cap="none" spc="0" normalizeH="0" baseline="2800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+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 = {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X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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，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X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X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，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X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Y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，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X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XY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Y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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，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YY,   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XY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 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XY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X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XY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Y</a:t>
            </a:r>
            <a:r>
              <a:rPr kumimoji="1" lang="zh-CN" alt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，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</a:rPr>
              <a:t>XY</a:t>
            </a:r>
            <a:r>
              <a:rPr kumimoji="1" lang="en-US" altLang="zh-CN" sz="2800" b="1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sym typeface="Symbol" panose="05050102010706020507" pitchFamily="18" charset="2"/>
              </a:rPr>
              <a:t>XY}</a:t>
            </a:r>
            <a:endParaRPr kumimoji="1" lang="en-US" altLang="zh-CN" sz="28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sym typeface="Symbol" panose="05050102010706020507" pitchFamily="18" charset="2"/>
            </a:endParaRPr>
          </a:p>
        </p:txBody>
      </p:sp>
      <p:sp>
        <p:nvSpPr>
          <p:cNvPr id="3379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4819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属性集的闭包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dirty="0"/>
              <a:t>   定义</a:t>
            </a:r>
            <a:r>
              <a:rPr lang="en-US" altLang="zh-CN" dirty="0"/>
              <a:t>6.9  </a:t>
            </a:r>
            <a:r>
              <a:rPr lang="zh-CN" altLang="en-US" sz="2800" dirty="0">
                <a:solidFill>
                  <a:schemeClr val="tx1"/>
                </a:solidFill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为属性集</a:t>
            </a:r>
            <a:r>
              <a:rPr lang="en-US" altLang="zh-CN" sz="2800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上的一组函数依赖，</a:t>
            </a:r>
            <a:r>
              <a:rPr lang="en-US" altLang="zh-CN" sz="2800" dirty="0">
                <a:solidFill>
                  <a:schemeClr val="tx1"/>
                </a:solidFill>
              </a:rPr>
              <a:t>X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 </a:t>
            </a:r>
            <a:r>
              <a:rPr lang="en-US" altLang="zh-CN" sz="2800" dirty="0">
                <a:solidFill>
                  <a:schemeClr val="tx1"/>
                </a:solidFill>
              </a:rPr>
              <a:t>U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accent2"/>
                </a:solidFill>
              </a:rPr>
              <a:t>X</a:t>
            </a:r>
            <a:r>
              <a:rPr lang="en-US" altLang="zh-CN" sz="2800" baseline="-25000" dirty="0">
                <a:solidFill>
                  <a:schemeClr val="accent2"/>
                </a:solidFill>
              </a:rPr>
              <a:t>F</a:t>
            </a:r>
            <a:r>
              <a:rPr lang="en-US" altLang="zh-CN" sz="2800" baseline="40000" dirty="0">
                <a:solidFill>
                  <a:schemeClr val="accent2"/>
                </a:solidFill>
              </a:rPr>
              <a:t>+</a:t>
            </a:r>
            <a:r>
              <a:rPr lang="en-US" altLang="zh-CN" sz="2800" dirty="0">
                <a:solidFill>
                  <a:schemeClr val="accent2"/>
                </a:solidFill>
              </a:rPr>
              <a:t>= {A | X</a:t>
            </a:r>
            <a:r>
              <a:rPr lang="en-US" altLang="zh-CN" sz="2800" dirty="0">
                <a:solidFill>
                  <a:schemeClr val="accent2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chemeClr val="accent2"/>
                </a:solidFill>
              </a:rPr>
              <a:t>A</a:t>
            </a:r>
            <a:r>
              <a:rPr lang="zh-CN" altLang="en-US" sz="2800" dirty="0">
                <a:solidFill>
                  <a:schemeClr val="accent2"/>
                </a:solidFill>
              </a:rPr>
              <a:t>为</a:t>
            </a:r>
            <a:r>
              <a:rPr lang="en-US" altLang="zh-CN" sz="2800" dirty="0">
                <a:solidFill>
                  <a:schemeClr val="accent2"/>
                </a:solidFill>
              </a:rPr>
              <a:t>F</a:t>
            </a:r>
            <a:r>
              <a:rPr lang="zh-CN" altLang="en-US" sz="2800" dirty="0">
                <a:solidFill>
                  <a:schemeClr val="accent2"/>
                </a:solidFill>
              </a:rPr>
              <a:t>所逻辑蕴含</a:t>
            </a:r>
            <a:r>
              <a:rPr lang="en-US" altLang="zh-CN" sz="2800" dirty="0">
                <a:solidFill>
                  <a:schemeClr val="accent2"/>
                </a:solidFill>
              </a:rPr>
              <a:t>}</a:t>
            </a:r>
            <a:r>
              <a:rPr lang="zh-CN" altLang="en-US" sz="2800" dirty="0">
                <a:solidFill>
                  <a:schemeClr val="tx1"/>
                </a:solidFill>
              </a:rPr>
              <a:t>称为</a:t>
            </a:r>
            <a:r>
              <a:rPr lang="zh-CN" altLang="en-US" sz="2800" dirty="0">
                <a:solidFill>
                  <a:srgbClr val="FF0000"/>
                </a:solidFill>
              </a:rPr>
              <a:t>属性集</a:t>
            </a:r>
            <a:r>
              <a:rPr lang="en-US" altLang="zh-CN" sz="2800" dirty="0">
                <a:solidFill>
                  <a:srgbClr val="FF0000"/>
                </a:solidFill>
              </a:rPr>
              <a:t>X</a:t>
            </a:r>
            <a:r>
              <a:rPr lang="zh-CN" altLang="en-US" sz="2800" dirty="0">
                <a:solidFill>
                  <a:srgbClr val="FF0000"/>
                </a:solidFill>
              </a:rPr>
              <a:t>关于函数依赖集</a:t>
            </a:r>
            <a:r>
              <a:rPr lang="en-US" altLang="zh-CN" sz="2800" dirty="0">
                <a:solidFill>
                  <a:srgbClr val="FF0000"/>
                </a:solidFill>
              </a:rPr>
              <a:t>F</a:t>
            </a:r>
            <a:r>
              <a:rPr lang="zh-CN" altLang="en-US" sz="2800" dirty="0">
                <a:solidFill>
                  <a:srgbClr val="FF0000"/>
                </a:solidFill>
              </a:rPr>
              <a:t>的闭包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例，关系模式</a:t>
            </a:r>
            <a:r>
              <a:rPr lang="en-US" altLang="zh-CN" sz="2800" dirty="0">
                <a:solidFill>
                  <a:schemeClr val="tx1"/>
                </a:solidFill>
              </a:rPr>
              <a:t>S(</a:t>
            </a:r>
            <a:r>
              <a:rPr lang="zh-CN" altLang="en-US" sz="2800" dirty="0">
                <a:solidFill>
                  <a:schemeClr val="tx1"/>
                </a:solidFill>
              </a:rPr>
              <a:t>学号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姓名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性别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系别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出生日期</a:t>
            </a:r>
            <a:r>
              <a:rPr lang="en-US" altLang="zh-CN" sz="2800" dirty="0">
                <a:solidFill>
                  <a:schemeClr val="tx1"/>
                </a:solidFill>
              </a:rPr>
              <a:t>), F={</a:t>
            </a:r>
            <a:r>
              <a:rPr lang="zh-CN" altLang="en-US" sz="2800" dirty="0">
                <a:solidFill>
                  <a:schemeClr val="tx1"/>
                </a:solidFill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姓名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性别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系别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学号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出生日期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，属性集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X={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}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，则有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: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	X</a:t>
            </a:r>
            <a:r>
              <a:rPr lang="en-US" altLang="zh-CN" sz="2800" baseline="-25000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={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学号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姓名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性别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系别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出生日期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}</a:t>
            </a:r>
            <a:endParaRPr lang="en-US" altLang="zh-CN" sz="280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3482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584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sz="2800" dirty="0">
                <a:solidFill>
                  <a:srgbClr val="FF0000"/>
                </a:solidFill>
              </a:rPr>
              <a:t>Armstrong</a:t>
            </a:r>
            <a:r>
              <a:rPr lang="zh-CN" altLang="en-US" sz="2800" dirty="0">
                <a:solidFill>
                  <a:srgbClr val="FF0000"/>
                </a:solidFill>
              </a:rPr>
              <a:t>公理系统</a:t>
            </a:r>
            <a:endParaRPr lang="zh-CN" altLang="en-US" sz="2800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r>
              <a:rPr lang="zh-CN" altLang="en-US" sz="2800" dirty="0"/>
              <a:t>  </a:t>
            </a:r>
            <a:r>
              <a:rPr lang="zh-CN" altLang="en-US" sz="2800" dirty="0">
                <a:solidFill>
                  <a:schemeClr val="tx1"/>
                </a:solidFill>
              </a:rPr>
              <a:t>关系模式</a:t>
            </a:r>
            <a:r>
              <a:rPr lang="en-US" altLang="zh-CN" sz="2800" i="1" dirty="0">
                <a:solidFill>
                  <a:schemeClr val="tx1"/>
                </a:solidFill>
              </a:rPr>
              <a:t>R &lt;U</a:t>
            </a:r>
            <a:r>
              <a:rPr lang="zh-CN" altLang="en-US" sz="2800" i="1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F &gt;, </a:t>
            </a:r>
            <a:r>
              <a:rPr lang="zh-CN" altLang="en-US" sz="2800" dirty="0">
                <a:solidFill>
                  <a:schemeClr val="tx1"/>
                </a:solidFill>
              </a:rPr>
              <a:t>有以下的推理规则：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Al.</a:t>
            </a:r>
            <a:r>
              <a:rPr lang="zh-CN" altLang="en-US" sz="2400" dirty="0">
                <a:solidFill>
                  <a:srgbClr val="FF0000"/>
                </a:solidFill>
              </a:rPr>
              <a:t>自反律</a:t>
            </a:r>
            <a:r>
              <a:rPr lang="zh-CN" altLang="en-US" sz="2400" dirty="0"/>
              <a:t>（</a:t>
            </a:r>
            <a:r>
              <a:rPr lang="en-US" altLang="zh-CN" sz="2400" dirty="0"/>
              <a:t>Reflexivity</a:t>
            </a:r>
            <a:r>
              <a:rPr lang="zh-CN" altLang="en-US" sz="2400" dirty="0"/>
              <a:t>）：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buNone/>
            </a:pPr>
            <a:r>
              <a:rPr lang="zh-CN" altLang="en-US" sz="2400" dirty="0"/>
              <a:t>   若</a:t>
            </a:r>
            <a:r>
              <a:rPr lang="en-US" altLang="zh-CN" sz="2400" i="1" dirty="0"/>
              <a:t>Y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i="1" dirty="0"/>
              <a:t>X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i="1" dirty="0"/>
              <a:t>U</a:t>
            </a:r>
            <a:r>
              <a:rPr lang="zh-CN" altLang="en-US" sz="2400" dirty="0"/>
              <a:t>，则</a:t>
            </a:r>
            <a:r>
              <a:rPr lang="en-US" altLang="zh-CN" sz="2400" i="1" dirty="0"/>
              <a:t>X 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</a:t>
            </a:r>
            <a:r>
              <a:rPr lang="zh-CN" altLang="en-US" sz="2400" dirty="0"/>
              <a:t>为</a:t>
            </a:r>
            <a:r>
              <a:rPr lang="en-US" altLang="zh-CN" sz="2400" i="1" dirty="0"/>
              <a:t>F</a:t>
            </a:r>
            <a:r>
              <a:rPr lang="zh-CN" altLang="en-US" sz="2400" dirty="0"/>
              <a:t>所蕴含。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A2.</a:t>
            </a:r>
            <a:r>
              <a:rPr lang="zh-CN" altLang="en-US" sz="2400" dirty="0">
                <a:solidFill>
                  <a:srgbClr val="FF0000"/>
                </a:solidFill>
              </a:rPr>
              <a:t>增广律</a:t>
            </a:r>
            <a:r>
              <a:rPr lang="zh-CN" altLang="en-US" sz="2400" dirty="0"/>
              <a:t>（</a:t>
            </a:r>
            <a:r>
              <a:rPr lang="en-US" altLang="zh-CN" sz="2400" dirty="0"/>
              <a:t>Augmentation</a:t>
            </a:r>
            <a:r>
              <a:rPr lang="zh-CN" altLang="en-US" sz="2400" dirty="0"/>
              <a:t>）：若</a:t>
            </a:r>
            <a:r>
              <a:rPr lang="en-US" altLang="zh-CN" sz="2400" i="1" dirty="0"/>
              <a:t>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</a:t>
            </a:r>
            <a:r>
              <a:rPr lang="zh-CN" altLang="en-US" sz="2400" dirty="0"/>
              <a:t>为</a:t>
            </a:r>
            <a:r>
              <a:rPr lang="en-US" altLang="zh-CN" sz="2400" i="1" dirty="0"/>
              <a:t>F</a:t>
            </a:r>
            <a:r>
              <a:rPr lang="zh-CN" altLang="en-US" sz="2400" dirty="0"/>
              <a:t>所蕴含，且</a:t>
            </a:r>
            <a:r>
              <a:rPr lang="en-US" altLang="zh-CN" sz="2400" i="1" dirty="0"/>
              <a:t>Z</a:t>
            </a:r>
            <a:r>
              <a:rPr lang="en-US" altLang="zh-CN" sz="2400" dirty="0"/>
              <a:t> </a:t>
            </a:r>
            <a:r>
              <a:rPr lang="en-US" altLang="zh-CN" sz="2400" dirty="0">
                <a:sym typeface="Symbol" panose="05050102010706020507" pitchFamily="18" charset="2"/>
              </a:rPr>
              <a:t></a:t>
            </a:r>
            <a:r>
              <a:rPr lang="en-US" altLang="zh-CN" sz="2400" dirty="0"/>
              <a:t> </a:t>
            </a:r>
            <a:r>
              <a:rPr lang="en-US" altLang="zh-CN" sz="2400" i="1" dirty="0"/>
              <a:t>U</a:t>
            </a:r>
            <a:r>
              <a:rPr lang="zh-CN" altLang="en-US" sz="2400" dirty="0"/>
              <a:t>，则</a:t>
            </a:r>
            <a:r>
              <a:rPr lang="en-US" altLang="zh-CN" sz="2400" i="1" dirty="0"/>
              <a:t>XZ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YZ</a:t>
            </a:r>
            <a:r>
              <a:rPr lang="zh-CN" altLang="en-US" sz="2400" dirty="0"/>
              <a:t>为</a:t>
            </a:r>
            <a:r>
              <a:rPr lang="en-US" altLang="zh-CN" sz="2400" i="1" dirty="0"/>
              <a:t>F</a:t>
            </a:r>
            <a:r>
              <a:rPr lang="zh-CN" altLang="en-US" sz="2400" dirty="0"/>
              <a:t>所蕴含。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dirty="0">
                <a:solidFill>
                  <a:srgbClr val="FF0000"/>
                </a:solidFill>
              </a:rPr>
              <a:t>A3.</a:t>
            </a:r>
            <a:r>
              <a:rPr lang="zh-CN" altLang="en-US" sz="2400" dirty="0">
                <a:solidFill>
                  <a:srgbClr val="FF0000"/>
                </a:solidFill>
              </a:rPr>
              <a:t>传递律</a:t>
            </a:r>
            <a:r>
              <a:rPr lang="zh-CN" altLang="en-US" sz="2400" dirty="0"/>
              <a:t>（</a:t>
            </a:r>
            <a:r>
              <a:rPr lang="en-US" altLang="zh-CN" sz="2400" dirty="0"/>
              <a:t>Transitivity</a:t>
            </a:r>
            <a:r>
              <a:rPr lang="zh-CN" altLang="en-US" sz="2400" dirty="0"/>
              <a:t>）：若</a:t>
            </a:r>
            <a:r>
              <a:rPr lang="en-US" altLang="zh-CN" sz="2400" i="1" dirty="0"/>
              <a:t>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Y</a:t>
            </a:r>
            <a:r>
              <a:rPr lang="zh-CN" altLang="en-US" sz="2400" dirty="0"/>
              <a:t>及</a:t>
            </a:r>
            <a:r>
              <a:rPr lang="en-US" altLang="zh-CN" sz="2400" i="1" dirty="0"/>
              <a:t>Y</a:t>
            </a:r>
            <a:r>
              <a:rPr lang="en-US" altLang="zh-CN" sz="2400" dirty="0"/>
              <a:t>→</a:t>
            </a:r>
            <a:r>
              <a:rPr lang="en-US" altLang="zh-CN" sz="2400" i="1" dirty="0"/>
              <a:t>Z</a:t>
            </a:r>
            <a:r>
              <a:rPr lang="zh-CN" altLang="en-US" sz="2400" dirty="0"/>
              <a:t>为</a:t>
            </a:r>
            <a:r>
              <a:rPr lang="en-US" altLang="zh-CN" sz="2400" i="1" dirty="0"/>
              <a:t>F</a:t>
            </a:r>
            <a:r>
              <a:rPr lang="zh-CN" altLang="en-US" sz="2400" dirty="0"/>
              <a:t>所蕴含，则</a:t>
            </a:r>
            <a:r>
              <a:rPr lang="en-US" altLang="zh-CN" sz="2400" i="1" dirty="0"/>
              <a:t>X</a:t>
            </a:r>
            <a:r>
              <a:rPr lang="en-US" altLang="zh-CN" sz="2400" dirty="0"/>
              <a:t>→</a:t>
            </a:r>
            <a:r>
              <a:rPr lang="en-US" altLang="zh-CN" sz="2400" i="1" dirty="0"/>
              <a:t>Z</a:t>
            </a:r>
            <a:r>
              <a:rPr lang="zh-CN" altLang="en-US" sz="2400" dirty="0"/>
              <a:t>为</a:t>
            </a:r>
            <a:r>
              <a:rPr lang="en-US" altLang="zh-CN" sz="2400" i="1" dirty="0"/>
              <a:t>F</a:t>
            </a:r>
            <a:r>
              <a:rPr lang="zh-CN" altLang="en-US" sz="2400" dirty="0"/>
              <a:t>所蕴含。</a:t>
            </a:r>
            <a:endParaRPr lang="zh-CN" altLang="en-US" sz="24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	</a:t>
            </a:r>
            <a:r>
              <a:rPr lang="zh-CN" altLang="en-US" sz="2800" i="1" dirty="0">
                <a:solidFill>
                  <a:schemeClr val="accent2"/>
                </a:solidFill>
              </a:rPr>
              <a:t>注意：由自反律所得到的函数依赖均是平凡的函数依赖，自反律的使用并不依赖于</a:t>
            </a:r>
            <a:r>
              <a:rPr lang="en-US" altLang="zh-CN" sz="2800" i="1" dirty="0">
                <a:solidFill>
                  <a:schemeClr val="accent2"/>
                </a:solidFill>
              </a:rPr>
              <a:t>F</a:t>
            </a:r>
            <a:endParaRPr lang="en-US" altLang="zh-CN" i="1" dirty="0">
              <a:solidFill>
                <a:schemeClr val="accent2"/>
              </a:solidFill>
            </a:endParaRPr>
          </a:p>
        </p:txBody>
      </p:sp>
      <p:sp>
        <p:nvSpPr>
          <p:cNvPr id="3584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6867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en-US" altLang="zh-CN" dirty="0">
                <a:solidFill>
                  <a:srgbClr val="FF0000"/>
                </a:solidFill>
              </a:rPr>
              <a:t>Armstrong</a:t>
            </a:r>
            <a:r>
              <a:rPr lang="zh-CN" altLang="en-US" dirty="0">
                <a:solidFill>
                  <a:srgbClr val="FF0000"/>
                </a:solidFill>
              </a:rPr>
              <a:t>公理的正确性和完备性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    </a:t>
            </a:r>
            <a:r>
              <a:rPr lang="en-US" altLang="zh-CN" sz="2800" dirty="0">
                <a:solidFill>
                  <a:schemeClr val="accent2"/>
                </a:solidFill>
              </a:rPr>
              <a:t>A = { f | </a:t>
            </a:r>
            <a:r>
              <a:rPr lang="zh-CN" altLang="zh-CN" sz="2800" dirty="0">
                <a:solidFill>
                  <a:schemeClr val="accent2"/>
                </a:solidFill>
              </a:rPr>
              <a:t>可</a:t>
            </a:r>
            <a:r>
              <a:rPr lang="zh-CN" altLang="en-US" sz="2800" dirty="0">
                <a:solidFill>
                  <a:schemeClr val="accent2"/>
                </a:solidFill>
              </a:rPr>
              <a:t>用</a:t>
            </a:r>
            <a:r>
              <a:rPr lang="en-US" altLang="zh-CN" sz="2800" dirty="0">
                <a:solidFill>
                  <a:schemeClr val="accent2"/>
                </a:solidFill>
              </a:rPr>
              <a:t>Armstrong</a:t>
            </a:r>
            <a:r>
              <a:rPr lang="zh-CN" altLang="en-US" sz="2800" dirty="0">
                <a:solidFill>
                  <a:schemeClr val="accent2"/>
                </a:solidFill>
              </a:rPr>
              <a:t>公理从</a:t>
            </a:r>
            <a:r>
              <a:rPr lang="en-US" altLang="zh-CN" sz="2800" dirty="0">
                <a:solidFill>
                  <a:schemeClr val="accent2"/>
                </a:solidFill>
              </a:rPr>
              <a:t>F</a:t>
            </a:r>
            <a:r>
              <a:rPr lang="zh-CN" altLang="en-US" sz="2800" dirty="0">
                <a:solidFill>
                  <a:schemeClr val="accent2"/>
                </a:solidFill>
              </a:rPr>
              <a:t>中导出的函数依赖</a:t>
            </a:r>
            <a:r>
              <a:rPr lang="en-US" altLang="zh-CN" sz="2800" dirty="0">
                <a:solidFill>
                  <a:schemeClr val="accent2"/>
                </a:solidFill>
              </a:rPr>
              <a:t>f }</a:t>
            </a:r>
            <a:endParaRPr lang="en-US" altLang="zh-CN" sz="2800" dirty="0">
              <a:solidFill>
                <a:schemeClr val="accent2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    B = { f | </a:t>
            </a:r>
            <a:r>
              <a:rPr lang="zh-CN" altLang="en-US" sz="2800" dirty="0">
                <a:solidFill>
                  <a:schemeClr val="accent2"/>
                </a:solidFill>
              </a:rPr>
              <a:t>被</a:t>
            </a:r>
            <a:r>
              <a:rPr lang="en-US" altLang="zh-CN" sz="2800" dirty="0">
                <a:solidFill>
                  <a:schemeClr val="accent2"/>
                </a:solidFill>
              </a:rPr>
              <a:t>F</a:t>
            </a:r>
            <a:r>
              <a:rPr lang="zh-CN" altLang="en-US" sz="2800" dirty="0">
                <a:solidFill>
                  <a:schemeClr val="accent2"/>
                </a:solidFill>
              </a:rPr>
              <a:t>所逻辑蕴涵的函数依赖</a:t>
            </a:r>
            <a:r>
              <a:rPr lang="en-US" altLang="zh-CN" sz="2800" dirty="0">
                <a:solidFill>
                  <a:schemeClr val="accent2"/>
                </a:solidFill>
              </a:rPr>
              <a:t>f }</a:t>
            </a:r>
            <a:endParaRPr lang="en-US" altLang="zh-CN" sz="2800" b="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zh-CN" altLang="en-US" b="0" dirty="0"/>
              <a:t>正确性</a:t>
            </a:r>
            <a:r>
              <a:rPr lang="zh-CN" altLang="en-US" dirty="0"/>
              <a:t>：用</a:t>
            </a:r>
            <a:r>
              <a:rPr lang="en-US" altLang="zh-CN" dirty="0"/>
              <a:t>Armstrong</a:t>
            </a:r>
            <a:r>
              <a:rPr lang="zh-CN" altLang="en-US" dirty="0"/>
              <a:t>公理从</a:t>
            </a:r>
            <a:r>
              <a:rPr lang="en-US" altLang="zh-CN" dirty="0"/>
              <a:t>F</a:t>
            </a:r>
            <a:r>
              <a:rPr lang="zh-CN" altLang="en-US" dirty="0"/>
              <a:t>中导出的函数依赖必为</a:t>
            </a:r>
            <a:r>
              <a:rPr lang="en-US" altLang="zh-CN" dirty="0"/>
              <a:t>F</a:t>
            </a:r>
            <a:r>
              <a:rPr lang="zh-CN" altLang="en-US" dirty="0"/>
              <a:t>所蕴涵</a:t>
            </a:r>
            <a:endParaRPr lang="zh-CN" altLang="en-US" dirty="0"/>
          </a:p>
          <a:p>
            <a:pPr lvl="1" algn="ctr" eaLnBrk="1" hangingPunct="1">
              <a:lnSpc>
                <a:spcPct val="105000"/>
              </a:lnSpc>
              <a:spcBef>
                <a:spcPct val="25000"/>
              </a:spcBef>
              <a:buNone/>
            </a:pPr>
            <a:r>
              <a:rPr lang="en-US" altLang="zh-CN" dirty="0"/>
              <a:t>A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dirty="0"/>
              <a:t>B</a:t>
            </a:r>
            <a:endParaRPr lang="en-US" altLang="zh-CN" dirty="0"/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</a:pPr>
            <a:r>
              <a:rPr lang="zh-CN" altLang="en-US" b="0" dirty="0"/>
              <a:t>完备性</a:t>
            </a:r>
            <a:r>
              <a:rPr lang="zh-CN" altLang="en-US" dirty="0"/>
              <a:t>：</a:t>
            </a:r>
            <a:r>
              <a:rPr lang="en-US" altLang="zh-CN" dirty="0"/>
              <a:t>F</a:t>
            </a:r>
            <a:r>
              <a:rPr lang="zh-CN" altLang="en-US" dirty="0"/>
              <a:t>所蕴涵的函数依赖都能用</a:t>
            </a:r>
            <a:r>
              <a:rPr lang="en-US" altLang="zh-CN" dirty="0"/>
              <a:t>Armstrong</a:t>
            </a:r>
            <a:r>
              <a:rPr lang="zh-CN" altLang="en-US" dirty="0"/>
              <a:t>公理从</a:t>
            </a:r>
            <a:r>
              <a:rPr lang="en-US" altLang="zh-CN" dirty="0"/>
              <a:t>F</a:t>
            </a:r>
            <a:r>
              <a:rPr lang="zh-CN" altLang="en-US" dirty="0"/>
              <a:t>中导出</a:t>
            </a:r>
            <a:endParaRPr lang="zh-CN" altLang="en-US" dirty="0"/>
          </a:p>
          <a:p>
            <a:pPr lvl="1" algn="ctr" eaLnBrk="1" hangingPunct="1">
              <a:lnSpc>
                <a:spcPct val="105000"/>
              </a:lnSpc>
              <a:spcBef>
                <a:spcPct val="250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B  A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05000"/>
              </a:lnSpc>
              <a:spcBef>
                <a:spcPct val="25000"/>
              </a:spcBef>
              <a:buNone/>
            </a:pPr>
            <a:r>
              <a:rPr lang="zh-CN" altLang="en-US" dirty="0">
                <a:sym typeface="Symbol" panose="05050102010706020507" pitchFamily="18" charset="2"/>
              </a:rPr>
              <a:t>先证正确性，完备性留待稍后证明</a:t>
            </a:r>
            <a:endParaRPr lang="zh-CN" altLang="en-US" dirty="0">
              <a:sym typeface="Symbol" panose="05050102010706020507" pitchFamily="18" charset="2"/>
            </a:endParaRPr>
          </a:p>
        </p:txBody>
      </p:sp>
      <p:sp>
        <p:nvSpPr>
          <p:cNvPr id="3686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7891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6.1 Armstrong</a:t>
            </a:r>
            <a:r>
              <a:rPr lang="zh-CN" altLang="en-US" dirty="0">
                <a:solidFill>
                  <a:srgbClr val="FF0000"/>
                </a:solidFill>
              </a:rPr>
              <a:t>推理规则是正确的</a:t>
            </a:r>
            <a:endParaRPr lang="zh-CN" altLang="en-US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    </a:t>
            </a:r>
            <a:r>
              <a:rPr lang="en-US" altLang="zh-CN" sz="2800" dirty="0">
                <a:solidFill>
                  <a:schemeClr val="accent2"/>
                </a:solidFill>
              </a:rPr>
              <a:t>(1) </a:t>
            </a:r>
            <a:r>
              <a:rPr lang="zh-CN" altLang="en-US" sz="2800" dirty="0">
                <a:solidFill>
                  <a:schemeClr val="accent2"/>
                </a:solidFill>
              </a:rPr>
              <a:t>自反律</a:t>
            </a:r>
            <a:r>
              <a:rPr lang="en-US" altLang="zh-CN" sz="2800" dirty="0">
                <a:solidFill>
                  <a:schemeClr val="accent2"/>
                </a:solidFill>
              </a:rPr>
              <a:t>: </a:t>
            </a:r>
            <a:r>
              <a:rPr lang="zh-CN" altLang="en-US" sz="2800" dirty="0"/>
              <a:t>若</a:t>
            </a:r>
            <a:r>
              <a:rPr lang="en-US" altLang="zh-CN" sz="2800" i="1" dirty="0"/>
              <a:t>Y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</a:t>
            </a:r>
            <a:r>
              <a:rPr lang="en-US" altLang="zh-CN" sz="2800" i="1" dirty="0"/>
              <a:t>X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</a:t>
            </a:r>
            <a:r>
              <a:rPr lang="en-US" altLang="zh-CN" sz="2800" i="1" dirty="0"/>
              <a:t>U</a:t>
            </a:r>
            <a:r>
              <a:rPr lang="zh-CN" altLang="en-US" sz="2800" dirty="0"/>
              <a:t>，则</a:t>
            </a:r>
            <a:r>
              <a:rPr lang="en-US" altLang="zh-CN" sz="2800" i="1" dirty="0"/>
              <a:t>X </a:t>
            </a:r>
            <a:r>
              <a:rPr lang="en-US" altLang="zh-CN" sz="2800" dirty="0"/>
              <a:t>→</a:t>
            </a:r>
            <a:r>
              <a:rPr lang="en-US" altLang="zh-CN" sz="2800" i="1" dirty="0"/>
              <a:t>Y</a:t>
            </a:r>
            <a:endParaRPr lang="en-US" altLang="zh-CN" sz="2800" i="1" dirty="0"/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i="1" dirty="0"/>
              <a:t>     </a:t>
            </a:r>
            <a:r>
              <a:rPr lang="zh-CN" altLang="en-US" sz="2800" dirty="0">
                <a:solidFill>
                  <a:schemeClr val="tx1"/>
                </a:solidFill>
              </a:rPr>
              <a:t>回忆</a:t>
            </a:r>
            <a:r>
              <a:rPr lang="zh-CN" altLang="en-US" sz="2800" dirty="0">
                <a:solidFill>
                  <a:schemeClr val="accent2"/>
                </a:solidFill>
              </a:rPr>
              <a:t>函数依赖</a:t>
            </a:r>
            <a:r>
              <a:rPr lang="zh-CN" altLang="en-US" sz="2800" dirty="0">
                <a:solidFill>
                  <a:schemeClr val="tx1"/>
                </a:solidFill>
              </a:rPr>
              <a:t>的定义：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 </a:t>
            </a:r>
            <a:r>
              <a:rPr lang="en-US" altLang="zh-CN" sz="2800" u="sng" dirty="0">
                <a:solidFill>
                  <a:srgbClr val="FF0000"/>
                </a:solidFill>
              </a:rPr>
              <a:t>t[X]=s[X] → t[Y]=s[Y]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则 </a:t>
            </a:r>
            <a:r>
              <a:rPr lang="en-US" altLang="zh-CN" sz="2800" dirty="0">
                <a:solidFill>
                  <a:schemeClr val="tx1"/>
                </a:solidFill>
              </a:rPr>
              <a:t>X →Y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证</a:t>
            </a:r>
            <a:r>
              <a:rPr lang="en-US" altLang="zh-CN" sz="2800" dirty="0"/>
              <a:t>: </a:t>
            </a:r>
            <a:r>
              <a:rPr lang="zh-CN" altLang="en-US" sz="2800" dirty="0">
                <a:solidFill>
                  <a:schemeClr val="tx1"/>
                </a:solidFill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的任意一个关系，</a:t>
            </a:r>
            <a:r>
              <a:rPr lang="en-US" altLang="zh-CN" sz="2800" dirty="0">
                <a:solidFill>
                  <a:schemeClr val="tx1"/>
                </a:solidFill>
              </a:rPr>
              <a:t>s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t 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r, </a:t>
            </a:r>
            <a:r>
              <a:rPr lang="en-US" altLang="zh-CN" sz="2800" i="1" dirty="0">
                <a:solidFill>
                  <a:schemeClr val="tx1"/>
                </a:solidFill>
              </a:rPr>
              <a:t>Y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</a:rPr>
              <a:t>U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,</a:t>
            </a:r>
            <a:endParaRPr lang="en-US" altLang="zh-CN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3789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pSp>
        <p:nvGrpSpPr>
          <p:cNvPr id="37893" name="Group 4"/>
          <p:cNvGrpSpPr/>
          <p:nvPr/>
        </p:nvGrpSpPr>
        <p:grpSpPr>
          <a:xfrm>
            <a:off x="304800" y="4114800"/>
            <a:ext cx="8610600" cy="1447800"/>
            <a:chOff x="192" y="2304"/>
            <a:chExt cx="5424" cy="912"/>
          </a:xfrm>
        </p:grpSpPr>
        <p:sp>
          <p:nvSpPr>
            <p:cNvPr id="37894" name="WordArt 5" descr="白色大理石"/>
            <p:cNvSpPr>
              <a:spLocks noTextEdit="1"/>
            </p:cNvSpPr>
            <p:nvPr/>
          </p:nvSpPr>
          <p:spPr>
            <a:xfrm>
              <a:off x="1728" y="2397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7895" name="Rectangle 6"/>
            <p:cNvSpPr/>
            <p:nvPr/>
          </p:nvSpPr>
          <p:spPr>
            <a:xfrm>
              <a:off x="480" y="2352"/>
              <a:ext cx="120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rgbClr val="FF0000"/>
                  </a:solidFill>
                  <a:ea typeface="楷体_GB2312" pitchFamily="49" charset="-122"/>
                </a:rPr>
                <a:t>t[X] = s[X]</a:t>
              </a:r>
              <a:endParaRPr lang="en-US" altLang="zh-CN" sz="2800" b="0" dirty="0">
                <a:solidFill>
                  <a:srgbClr val="FF0000"/>
                </a:solidFill>
                <a:ea typeface="楷体_GB2312" pitchFamily="49" charset="-122"/>
              </a:endParaRPr>
            </a:p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Y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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7896" name="AutoShape 7"/>
            <p:cNvSpPr/>
            <p:nvPr/>
          </p:nvSpPr>
          <p:spPr>
            <a:xfrm>
              <a:off x="2112" y="2640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7897" name="Rectangle 8"/>
            <p:cNvSpPr/>
            <p:nvPr/>
          </p:nvSpPr>
          <p:spPr>
            <a:xfrm>
              <a:off x="2784" y="2592"/>
              <a:ext cx="120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rgbClr val="FF0000"/>
                  </a:solidFill>
                  <a:ea typeface="楷体_GB2312" pitchFamily="49" charset="-122"/>
                </a:rPr>
                <a:t>t[Y] = s[Y]</a:t>
              </a:r>
              <a:endParaRPr lang="en-US" altLang="zh-CN" sz="2800" b="0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37898" name="AutoShape 9"/>
            <p:cNvSpPr/>
            <p:nvPr/>
          </p:nvSpPr>
          <p:spPr>
            <a:xfrm>
              <a:off x="4080" y="2643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7899" name="Rectangle 10"/>
            <p:cNvSpPr/>
            <p:nvPr/>
          </p:nvSpPr>
          <p:spPr>
            <a:xfrm>
              <a:off x="4608" y="2544"/>
              <a:ext cx="912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 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7900" name="Rectangle 11"/>
            <p:cNvSpPr/>
            <p:nvPr/>
          </p:nvSpPr>
          <p:spPr>
            <a:xfrm>
              <a:off x="192" y="2304"/>
              <a:ext cx="5424" cy="91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8915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    (2) </a:t>
            </a:r>
            <a:r>
              <a:rPr lang="zh-CN" altLang="en-US" sz="2800" dirty="0">
                <a:solidFill>
                  <a:schemeClr val="accent2"/>
                </a:solidFill>
              </a:rPr>
              <a:t>增广律</a:t>
            </a:r>
            <a:r>
              <a:rPr lang="en-US" altLang="zh-CN" sz="2800" dirty="0">
                <a:solidFill>
                  <a:schemeClr val="accent2"/>
                </a:solidFill>
              </a:rPr>
              <a:t>: </a:t>
            </a:r>
            <a:r>
              <a:rPr lang="zh-CN" altLang="en-US" sz="2800" dirty="0"/>
              <a:t>若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</a:t>
            </a:r>
            <a:r>
              <a:rPr lang="en-US" altLang="zh-CN" sz="2800" i="1" dirty="0"/>
              <a:t>Y</a:t>
            </a:r>
            <a:r>
              <a:rPr lang="zh-CN" altLang="en-US" sz="2800" dirty="0"/>
              <a:t>，且</a:t>
            </a:r>
            <a:r>
              <a:rPr lang="en-US" altLang="zh-CN" sz="2800" i="1" dirty="0"/>
              <a:t>Z</a:t>
            </a:r>
            <a:r>
              <a:rPr lang="en-US" altLang="zh-CN" sz="2800" dirty="0"/>
              <a:t> </a:t>
            </a:r>
            <a:r>
              <a:rPr lang="en-US" altLang="zh-CN" sz="2800" dirty="0">
                <a:sym typeface="Symbol" panose="05050102010706020507" pitchFamily="18" charset="2"/>
              </a:rPr>
              <a:t></a:t>
            </a:r>
            <a:r>
              <a:rPr lang="en-US" altLang="zh-CN" sz="2800" dirty="0"/>
              <a:t> </a:t>
            </a:r>
            <a:r>
              <a:rPr lang="en-US" altLang="zh-CN" sz="2800" i="1" dirty="0"/>
              <a:t>U</a:t>
            </a:r>
            <a:r>
              <a:rPr lang="zh-CN" altLang="en-US" sz="2800" dirty="0"/>
              <a:t>，则</a:t>
            </a:r>
            <a:r>
              <a:rPr lang="en-US" altLang="zh-CN" sz="2800" i="1" dirty="0"/>
              <a:t>XZ</a:t>
            </a:r>
            <a:r>
              <a:rPr lang="en-US" altLang="zh-CN" sz="2800" dirty="0"/>
              <a:t>→</a:t>
            </a:r>
            <a:r>
              <a:rPr lang="en-US" altLang="zh-CN" sz="2800" i="1" dirty="0"/>
              <a:t>YZ </a:t>
            </a:r>
            <a:r>
              <a:rPr lang="en-US" altLang="zh-CN" sz="2800" dirty="0">
                <a:solidFill>
                  <a:schemeClr val="tx1"/>
                </a:solidFill>
              </a:rPr>
              <a:t>	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证</a:t>
            </a:r>
            <a:r>
              <a:rPr lang="en-US" altLang="zh-CN" sz="2800" dirty="0"/>
              <a:t>: </a:t>
            </a:r>
            <a:r>
              <a:rPr lang="zh-CN" altLang="en-US" sz="2800" dirty="0">
                <a:solidFill>
                  <a:schemeClr val="tx1"/>
                </a:solidFill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的任意一个关系，</a:t>
            </a:r>
            <a:r>
              <a:rPr lang="en-US" altLang="zh-CN" sz="2800" dirty="0">
                <a:solidFill>
                  <a:schemeClr val="tx1"/>
                </a:solidFill>
              </a:rPr>
              <a:t>s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t 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r,</a:t>
            </a:r>
            <a:endParaRPr lang="en-US" altLang="zh-CN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3891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pSp>
        <p:nvGrpSpPr>
          <p:cNvPr id="38917" name="Group 4"/>
          <p:cNvGrpSpPr/>
          <p:nvPr/>
        </p:nvGrpSpPr>
        <p:grpSpPr>
          <a:xfrm>
            <a:off x="228600" y="2667000"/>
            <a:ext cx="8763000" cy="2743200"/>
            <a:chOff x="144" y="1680"/>
            <a:chExt cx="5520" cy="1728"/>
          </a:xfrm>
        </p:grpSpPr>
        <p:sp>
          <p:nvSpPr>
            <p:cNvPr id="38918" name="Rectangle 5"/>
            <p:cNvSpPr/>
            <p:nvPr/>
          </p:nvSpPr>
          <p:spPr>
            <a:xfrm>
              <a:off x="144" y="1728"/>
              <a:ext cx="14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rgbClr val="FF0000"/>
                  </a:solidFill>
                  <a:ea typeface="楷体_GB2312" pitchFamily="49" charset="-122"/>
                </a:rPr>
                <a:t>t[XZ] = s[XZ]</a:t>
              </a:r>
              <a:endParaRPr lang="en-US" altLang="zh-CN" sz="2800" b="0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38919" name="AutoShape 6"/>
            <p:cNvSpPr/>
            <p:nvPr/>
          </p:nvSpPr>
          <p:spPr>
            <a:xfrm>
              <a:off x="1584" y="1776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8920" name="Rectangle 7"/>
            <p:cNvSpPr/>
            <p:nvPr/>
          </p:nvSpPr>
          <p:spPr>
            <a:xfrm>
              <a:off x="2064" y="1728"/>
              <a:ext cx="124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t[X] = s[X]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8921" name="Rectangle 8"/>
            <p:cNvSpPr/>
            <p:nvPr/>
          </p:nvSpPr>
          <p:spPr>
            <a:xfrm>
              <a:off x="2304" y="2064"/>
              <a:ext cx="864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8922" name="WordArt 9" descr="白色大理石"/>
            <p:cNvSpPr>
              <a:spLocks noTextEdit="1"/>
            </p:cNvSpPr>
            <p:nvPr/>
          </p:nvSpPr>
          <p:spPr>
            <a:xfrm>
              <a:off x="3216" y="1773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23" name="AutoShape 10"/>
            <p:cNvSpPr/>
            <p:nvPr/>
          </p:nvSpPr>
          <p:spPr>
            <a:xfrm>
              <a:off x="3600" y="2016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8924" name="Rectangle 11"/>
            <p:cNvSpPr/>
            <p:nvPr/>
          </p:nvSpPr>
          <p:spPr>
            <a:xfrm>
              <a:off x="4128" y="1968"/>
              <a:ext cx="124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t[Y] = s[Y]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8925" name="AutoShape 12"/>
            <p:cNvSpPr/>
            <p:nvPr/>
          </p:nvSpPr>
          <p:spPr>
            <a:xfrm>
              <a:off x="2880" y="2592"/>
              <a:ext cx="1248" cy="240"/>
            </a:xfrm>
            <a:prstGeom prst="rightArrow">
              <a:avLst>
                <a:gd name="adj1" fmla="val 49166"/>
                <a:gd name="adj2" fmla="val 130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8926" name="Rectangle 13"/>
            <p:cNvSpPr/>
            <p:nvPr/>
          </p:nvSpPr>
          <p:spPr>
            <a:xfrm>
              <a:off x="4128" y="2544"/>
              <a:ext cx="124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t[Z] = s[Z]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8927" name="WordArt 14" descr="白色大理石"/>
            <p:cNvSpPr>
              <a:spLocks noTextEdit="1"/>
            </p:cNvSpPr>
            <p:nvPr/>
          </p:nvSpPr>
          <p:spPr>
            <a:xfrm>
              <a:off x="5256" y="2109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8928" name="AutoShape 15"/>
            <p:cNvSpPr/>
            <p:nvPr/>
          </p:nvSpPr>
          <p:spPr>
            <a:xfrm>
              <a:off x="1104" y="3072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8929" name="Rectangle 16"/>
            <p:cNvSpPr/>
            <p:nvPr/>
          </p:nvSpPr>
          <p:spPr>
            <a:xfrm>
              <a:off x="1632" y="3024"/>
              <a:ext cx="1488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rgbClr val="FF0000"/>
                  </a:solidFill>
                  <a:ea typeface="楷体_GB2312" pitchFamily="49" charset="-122"/>
                </a:rPr>
                <a:t>t[YZ] = s[YZ]</a:t>
              </a:r>
              <a:endParaRPr lang="en-US" altLang="zh-CN" sz="2800" b="0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38930" name="AutoShape 17"/>
            <p:cNvSpPr/>
            <p:nvPr/>
          </p:nvSpPr>
          <p:spPr>
            <a:xfrm>
              <a:off x="3120" y="3072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8931" name="Rectangle 18"/>
            <p:cNvSpPr/>
            <p:nvPr/>
          </p:nvSpPr>
          <p:spPr>
            <a:xfrm>
              <a:off x="3648" y="2976"/>
              <a:ext cx="1152" cy="336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XZ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YZ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8932" name="Rectangle 19"/>
            <p:cNvSpPr/>
            <p:nvPr/>
          </p:nvSpPr>
          <p:spPr>
            <a:xfrm>
              <a:off x="144" y="1680"/>
              <a:ext cx="5520" cy="1728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8933" name="AutoShape 20"/>
            <p:cNvSpPr/>
            <p:nvPr/>
          </p:nvSpPr>
          <p:spPr>
            <a:xfrm rot="5400000">
              <a:off x="1656" y="1992"/>
              <a:ext cx="816" cy="960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  <a:cxn ang="0">
                  <a:pos x="0" y="0"/>
                </a:cxn>
              </a:cxnLst>
              <a:pathLst>
                <a:path w="21600" h="21600">
                  <a:moveTo>
                    <a:pt x="15429" y="0"/>
                  </a:moveTo>
                  <a:lnTo>
                    <a:pt x="9257" y="7200"/>
                  </a:lnTo>
                  <a:lnTo>
                    <a:pt x="12343" y="7200"/>
                  </a:lnTo>
                  <a:lnTo>
                    <a:pt x="12343" y="14400"/>
                  </a:lnTo>
                  <a:lnTo>
                    <a:pt x="0" y="14400"/>
                  </a:lnTo>
                  <a:lnTo>
                    <a:pt x="0" y="21600"/>
                  </a:lnTo>
                  <a:lnTo>
                    <a:pt x="18514" y="21600"/>
                  </a:lnTo>
                  <a:lnTo>
                    <a:pt x="18514" y="7200"/>
                  </a:lnTo>
                  <a:lnTo>
                    <a:pt x="21600" y="7200"/>
                  </a:lnTo>
                  <a:lnTo>
                    <a:pt x="15429" y="0"/>
                  </a:lnTo>
                  <a:close/>
                </a:path>
              </a:pathLst>
            </a:custGeom>
            <a:solidFill>
              <a:srgbClr val="FFCC00">
                <a:alpha val="100000"/>
              </a:srgbClr>
            </a:solidFill>
            <a:ln w="12700" cap="sq" cmpd="sng">
              <a:solidFill>
                <a:schemeClr val="tx1">
                  <a:alpha val="100000"/>
                </a:schemeClr>
              </a:solidFill>
              <a:prstDash val="solid"/>
              <a:miter lim="800000"/>
              <a:headEnd type="none" w="med" len="med"/>
              <a:tailEnd type="none" w="med" len="med"/>
            </a:ln>
          </p:spPr>
          <p:txBody>
            <a:bodyPr/>
            <a:p>
              <a:endParaRPr lang="en-US"/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39939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    (3) </a:t>
            </a:r>
            <a:r>
              <a:rPr lang="zh-CN" altLang="en-US" sz="2800" dirty="0">
                <a:solidFill>
                  <a:schemeClr val="accent2"/>
                </a:solidFill>
              </a:rPr>
              <a:t>传递律</a:t>
            </a:r>
            <a:r>
              <a:rPr lang="en-US" altLang="zh-CN" sz="2800" dirty="0">
                <a:solidFill>
                  <a:schemeClr val="accent2"/>
                </a:solidFill>
              </a:rPr>
              <a:t>:</a:t>
            </a:r>
            <a:r>
              <a:rPr lang="zh-CN" altLang="en-US" sz="2800" dirty="0"/>
              <a:t>若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</a:t>
            </a:r>
            <a:r>
              <a:rPr lang="en-US" altLang="zh-CN" sz="2800" i="1" dirty="0"/>
              <a:t>Y</a:t>
            </a:r>
            <a:r>
              <a:rPr lang="en-US" altLang="zh-CN" sz="2800" dirty="0"/>
              <a:t>,</a:t>
            </a:r>
            <a:r>
              <a:rPr lang="zh-CN" altLang="en-US" sz="2800" dirty="0"/>
              <a:t>且</a:t>
            </a:r>
            <a:r>
              <a:rPr lang="en-US" altLang="zh-CN" sz="2800" i="1" dirty="0"/>
              <a:t>Y</a:t>
            </a:r>
            <a:r>
              <a:rPr lang="en-US" altLang="zh-CN" sz="2800" dirty="0"/>
              <a:t>→</a:t>
            </a:r>
            <a:r>
              <a:rPr lang="en-US" altLang="zh-CN" sz="2800" i="1" dirty="0"/>
              <a:t>Z</a:t>
            </a:r>
            <a:r>
              <a:rPr lang="zh-CN" altLang="en-US" sz="2800" dirty="0"/>
              <a:t>，则 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</a:t>
            </a:r>
            <a:r>
              <a:rPr lang="en-US" altLang="zh-CN" sz="2800" i="1" dirty="0"/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证</a:t>
            </a:r>
            <a:r>
              <a:rPr lang="en-US" altLang="zh-CN" sz="2800" dirty="0"/>
              <a:t>: </a:t>
            </a:r>
            <a:r>
              <a:rPr lang="zh-CN" altLang="en-US" sz="2800" dirty="0">
                <a:solidFill>
                  <a:schemeClr val="tx1"/>
                </a:solidFill>
              </a:rPr>
              <a:t>设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的任意一个关系，</a:t>
            </a:r>
            <a:r>
              <a:rPr lang="en-US" altLang="zh-CN" sz="2800" dirty="0">
                <a:solidFill>
                  <a:schemeClr val="tx1"/>
                </a:solidFill>
              </a:rPr>
              <a:t>s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t 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  <a:sym typeface="Symbol" panose="05050102010706020507" pitchFamily="18" charset="2"/>
              </a:rPr>
              <a:t></a:t>
            </a:r>
            <a:r>
              <a:rPr lang="en-US" altLang="zh-CN" sz="2800" dirty="0">
                <a:solidFill>
                  <a:schemeClr val="tx1"/>
                </a:solidFill>
                <a:ea typeface="楷体_GB2312" pitchFamily="49" charset="-122"/>
              </a:rPr>
              <a:t> r,</a:t>
            </a:r>
            <a:endParaRPr lang="en-US" altLang="zh-CN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3994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pSp>
        <p:nvGrpSpPr>
          <p:cNvPr id="39941" name="Group 4"/>
          <p:cNvGrpSpPr/>
          <p:nvPr/>
        </p:nvGrpSpPr>
        <p:grpSpPr>
          <a:xfrm>
            <a:off x="304800" y="2514600"/>
            <a:ext cx="8610600" cy="2438400"/>
            <a:chOff x="192" y="1584"/>
            <a:chExt cx="5424" cy="1536"/>
          </a:xfrm>
        </p:grpSpPr>
        <p:sp>
          <p:nvSpPr>
            <p:cNvPr id="39942" name="WordArt 5" descr="白色大理石"/>
            <p:cNvSpPr>
              <a:spLocks noTextEdit="1"/>
            </p:cNvSpPr>
            <p:nvPr/>
          </p:nvSpPr>
          <p:spPr>
            <a:xfrm>
              <a:off x="1440" y="1677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943" name="Rectangle 6"/>
            <p:cNvSpPr/>
            <p:nvPr/>
          </p:nvSpPr>
          <p:spPr>
            <a:xfrm>
              <a:off x="192" y="1632"/>
              <a:ext cx="120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 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rgbClr val="FF0000"/>
                  </a:solidFill>
                  <a:ea typeface="楷体_GB2312" pitchFamily="49" charset="-122"/>
                </a:rPr>
                <a:t>t[X] = s[X]</a:t>
              </a:r>
              <a:endParaRPr lang="en-US" altLang="zh-CN" sz="2800" b="0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39944" name="AutoShape 7"/>
            <p:cNvSpPr/>
            <p:nvPr/>
          </p:nvSpPr>
          <p:spPr>
            <a:xfrm>
              <a:off x="1824" y="1920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9945" name="Rectangle 8"/>
            <p:cNvSpPr/>
            <p:nvPr/>
          </p:nvSpPr>
          <p:spPr>
            <a:xfrm>
              <a:off x="2400" y="1872"/>
              <a:ext cx="120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t[Y] = s[Y]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9946" name="WordArt 9" descr="白色大理石"/>
            <p:cNvSpPr>
              <a:spLocks noTextEdit="1"/>
            </p:cNvSpPr>
            <p:nvPr/>
          </p:nvSpPr>
          <p:spPr>
            <a:xfrm>
              <a:off x="3552" y="1917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39947" name="AutoShape 10"/>
            <p:cNvSpPr/>
            <p:nvPr/>
          </p:nvSpPr>
          <p:spPr>
            <a:xfrm>
              <a:off x="3936" y="2160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9948" name="Rectangle 11"/>
            <p:cNvSpPr/>
            <p:nvPr/>
          </p:nvSpPr>
          <p:spPr>
            <a:xfrm>
              <a:off x="240" y="1584"/>
              <a:ext cx="5328" cy="15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9949" name="Rectangle 12"/>
            <p:cNvSpPr/>
            <p:nvPr/>
          </p:nvSpPr>
          <p:spPr>
            <a:xfrm>
              <a:off x="2544" y="2208"/>
              <a:ext cx="912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Y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 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39950" name="Rectangle 13"/>
            <p:cNvSpPr/>
            <p:nvPr/>
          </p:nvSpPr>
          <p:spPr>
            <a:xfrm>
              <a:off x="4416" y="2112"/>
              <a:ext cx="1200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rgbClr val="FF0000"/>
                  </a:solidFill>
                  <a:ea typeface="楷体_GB2312" pitchFamily="49" charset="-122"/>
                </a:rPr>
                <a:t>t[Z] = s[Z]</a:t>
              </a:r>
              <a:endParaRPr lang="en-US" altLang="zh-CN" sz="2800" b="0" dirty="0">
                <a:solidFill>
                  <a:srgbClr val="FF0000"/>
                </a:solidFill>
                <a:ea typeface="楷体_GB2312" pitchFamily="49" charset="-122"/>
              </a:endParaRPr>
            </a:p>
          </p:txBody>
        </p:sp>
        <p:sp>
          <p:nvSpPr>
            <p:cNvPr id="39951" name="AutoShape 14"/>
            <p:cNvSpPr/>
            <p:nvPr/>
          </p:nvSpPr>
          <p:spPr>
            <a:xfrm>
              <a:off x="1872" y="2736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39952" name="Rectangle 15"/>
            <p:cNvSpPr/>
            <p:nvPr/>
          </p:nvSpPr>
          <p:spPr>
            <a:xfrm>
              <a:off x="2544" y="2640"/>
              <a:ext cx="912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 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">
                                            <p:txEl>
                                              <p:charRg st="29" end="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096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    </a:t>
            </a:r>
            <a:r>
              <a:rPr lang="zh-CN" altLang="en-US" dirty="0">
                <a:solidFill>
                  <a:srgbClr val="FF0000"/>
                </a:solidFill>
              </a:rPr>
              <a:t>由</a:t>
            </a:r>
            <a:r>
              <a:rPr lang="en-US" altLang="zh-CN" dirty="0">
                <a:solidFill>
                  <a:srgbClr val="FF0000"/>
                </a:solidFill>
              </a:rPr>
              <a:t>Armstrong</a:t>
            </a:r>
            <a:r>
              <a:rPr lang="zh-CN" altLang="en-US" dirty="0">
                <a:solidFill>
                  <a:srgbClr val="FF0000"/>
                </a:solidFill>
              </a:rPr>
              <a:t>公理导出的推理规则</a:t>
            </a:r>
            <a:endParaRPr lang="zh-CN" altLang="en-US" dirty="0">
              <a:solidFill>
                <a:srgbClr val="FF0000"/>
              </a:solidFill>
            </a:endParaRPr>
          </a:p>
          <a:p>
            <a:pPr lvl="1" eaLnBrk="1" hangingPunct="1">
              <a:spcBef>
                <a:spcPct val="40000"/>
              </a:spcBef>
            </a:pPr>
            <a:r>
              <a:rPr lang="zh-CN" altLang="en-US" dirty="0">
                <a:sym typeface="Symbol" panose="05050102010706020507" pitchFamily="18" charset="2"/>
              </a:rPr>
              <a:t>合并律</a:t>
            </a:r>
            <a:r>
              <a:rPr lang="en-US" altLang="zh-CN" dirty="0">
                <a:sym typeface="Symbol" panose="05050102010706020507" pitchFamily="18" charset="2"/>
              </a:rPr>
              <a:t>(union rule)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>
              <a:spcBef>
                <a:spcPct val="40000"/>
              </a:spcBef>
              <a:buFont typeface="Wingdings" panose="05000000000000000000" pitchFamily="2" charset="2"/>
              <a:buChar char="§"/>
            </a:pPr>
            <a:r>
              <a:rPr lang="zh-CN" altLang="en-US" sz="2800" dirty="0">
                <a:sym typeface="Symbol" panose="05050102010706020507" pitchFamily="18" charset="2"/>
              </a:rPr>
              <a:t>若</a:t>
            </a:r>
            <a:r>
              <a:rPr lang="en-US" altLang="zh-CN" sz="2800" dirty="0">
                <a:sym typeface="Symbol" panose="05050102010706020507" pitchFamily="18" charset="2"/>
              </a:rPr>
              <a:t>X  Y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X  Z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X  YZ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40000"/>
              </a:spcBef>
            </a:pPr>
            <a:r>
              <a:rPr lang="zh-CN" altLang="en-US" dirty="0">
                <a:sym typeface="Symbol" panose="05050102010706020507" pitchFamily="18" charset="2"/>
              </a:rPr>
              <a:t>分解律</a:t>
            </a:r>
            <a:r>
              <a:rPr lang="en-US" altLang="zh-CN" dirty="0">
                <a:sym typeface="Symbol" panose="05050102010706020507" pitchFamily="18" charset="2"/>
              </a:rPr>
              <a:t>(decomposition rule)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>
              <a:spcBef>
                <a:spcPct val="40000"/>
              </a:spcBef>
              <a:buFont typeface="Wingdings" panose="05000000000000000000" pitchFamily="2" charset="2"/>
              <a:buChar char="§"/>
            </a:pPr>
            <a:r>
              <a:rPr lang="zh-CN" altLang="en-US" sz="2800" dirty="0">
                <a:sym typeface="Symbol" panose="05050102010706020507" pitchFamily="18" charset="2"/>
              </a:rPr>
              <a:t>若</a:t>
            </a:r>
            <a:r>
              <a:rPr lang="en-US" altLang="zh-CN" sz="2800" dirty="0">
                <a:sym typeface="Symbol" panose="05050102010706020507" pitchFamily="18" charset="2"/>
              </a:rPr>
              <a:t>X  Y 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Z Y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X  Z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>
              <a:spcBef>
                <a:spcPct val="40000"/>
              </a:spcBef>
              <a:buFont typeface="Wingdings" panose="05000000000000000000" pitchFamily="2" charset="2"/>
              <a:buChar char="§"/>
            </a:pPr>
            <a:r>
              <a:rPr lang="zh-CN" altLang="en-US" sz="2800" dirty="0">
                <a:sym typeface="Symbol" panose="05050102010706020507" pitchFamily="18" charset="2"/>
              </a:rPr>
              <a:t>特别地，若</a:t>
            </a:r>
            <a:r>
              <a:rPr lang="en-US" altLang="zh-CN" sz="2800" dirty="0">
                <a:sym typeface="Symbol" panose="05050102010706020507" pitchFamily="18" charset="2"/>
              </a:rPr>
              <a:t>X  YZ 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X  Y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X  Z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lvl="1" eaLnBrk="1" hangingPunct="1">
              <a:spcBef>
                <a:spcPct val="40000"/>
              </a:spcBef>
            </a:pPr>
            <a:r>
              <a:rPr lang="zh-CN" altLang="en-US" dirty="0">
                <a:sym typeface="Symbol" panose="05050102010706020507" pitchFamily="18" charset="2"/>
              </a:rPr>
              <a:t>伪传递律</a:t>
            </a:r>
            <a:r>
              <a:rPr lang="en-US" altLang="zh-CN" dirty="0">
                <a:sym typeface="Symbol" panose="05050102010706020507" pitchFamily="18" charset="2"/>
              </a:rPr>
              <a:t>(pseudotransitivity rule)</a:t>
            </a:r>
            <a:endParaRPr lang="en-US" altLang="zh-CN" dirty="0">
              <a:sym typeface="Symbol" panose="05050102010706020507" pitchFamily="18" charset="2"/>
            </a:endParaRPr>
          </a:p>
          <a:p>
            <a:pPr lvl="2" eaLnBrk="1" hangingPunct="1">
              <a:spcBef>
                <a:spcPct val="40000"/>
              </a:spcBef>
              <a:buFont typeface="Wingdings" panose="05000000000000000000" pitchFamily="2" charset="2"/>
              <a:buChar char="§"/>
            </a:pPr>
            <a:r>
              <a:rPr lang="zh-CN" altLang="en-US" sz="2800" dirty="0">
                <a:sym typeface="Symbol" panose="05050102010706020507" pitchFamily="18" charset="2"/>
              </a:rPr>
              <a:t>若</a:t>
            </a:r>
            <a:r>
              <a:rPr lang="en-US" altLang="zh-CN" sz="2800" dirty="0">
                <a:sym typeface="Symbol" panose="05050102010706020507" pitchFamily="18" charset="2"/>
              </a:rPr>
              <a:t>X  Y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WY  Z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WX  Z</a:t>
            </a:r>
            <a:endParaRPr lang="en-US" altLang="zh-CN" sz="2800" dirty="0">
              <a:sym typeface="Symbol" panose="05050102010706020507" pitchFamily="18" charset="2"/>
            </a:endParaRPr>
          </a:p>
        </p:txBody>
      </p:sp>
      <p:sp>
        <p:nvSpPr>
          <p:cNvPr id="4096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1987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合并律</a:t>
            </a:r>
            <a:r>
              <a:rPr lang="en-US" altLang="zh-CN" sz="2800" dirty="0">
                <a:solidFill>
                  <a:schemeClr val="accent2"/>
                </a:solidFill>
              </a:rPr>
              <a:t>:</a:t>
            </a:r>
            <a:r>
              <a:rPr lang="zh-CN" altLang="en-US" sz="2800" dirty="0"/>
              <a:t>若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</a:t>
            </a:r>
            <a:r>
              <a:rPr lang="en-US" altLang="zh-CN" sz="2800" i="1" dirty="0"/>
              <a:t>Y</a:t>
            </a:r>
            <a:r>
              <a:rPr lang="en-US" altLang="zh-CN" sz="2800" dirty="0"/>
              <a:t>,</a:t>
            </a:r>
            <a:r>
              <a:rPr lang="zh-CN" altLang="en-US" sz="2800" dirty="0"/>
              <a:t>且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</a:t>
            </a:r>
            <a:r>
              <a:rPr lang="en-US" altLang="zh-CN" sz="2800" i="1" dirty="0"/>
              <a:t>Z</a:t>
            </a:r>
            <a:r>
              <a:rPr lang="zh-CN" altLang="en-US" sz="2800" dirty="0"/>
              <a:t>，则 </a:t>
            </a:r>
            <a:r>
              <a:rPr lang="en-US" altLang="zh-CN" sz="2800" i="1" dirty="0"/>
              <a:t>X</a:t>
            </a:r>
            <a:r>
              <a:rPr lang="en-US" altLang="zh-CN" sz="2800" dirty="0"/>
              <a:t>→Y</a:t>
            </a:r>
            <a:r>
              <a:rPr lang="en-US" altLang="zh-CN" sz="2800" i="1" dirty="0"/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证</a:t>
            </a:r>
            <a:r>
              <a:rPr lang="en-US" altLang="zh-CN" sz="2800" dirty="0"/>
              <a:t>:</a:t>
            </a:r>
            <a:endParaRPr lang="en-US" altLang="zh-CN" sz="2800" dirty="0">
              <a:solidFill>
                <a:schemeClr val="tx1"/>
              </a:solidFill>
              <a:ea typeface="楷体_GB2312" pitchFamily="49" charset="-122"/>
            </a:endParaRPr>
          </a:p>
        </p:txBody>
      </p:sp>
      <p:sp>
        <p:nvSpPr>
          <p:cNvPr id="4198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pSp>
        <p:nvGrpSpPr>
          <p:cNvPr id="41989" name="Group 4"/>
          <p:cNvGrpSpPr/>
          <p:nvPr/>
        </p:nvGrpSpPr>
        <p:grpSpPr>
          <a:xfrm>
            <a:off x="304800" y="2514600"/>
            <a:ext cx="8534400" cy="2438400"/>
            <a:chOff x="192" y="1584"/>
            <a:chExt cx="5376" cy="1536"/>
          </a:xfrm>
        </p:grpSpPr>
        <p:sp>
          <p:nvSpPr>
            <p:cNvPr id="41990" name="WordArt 5" descr="白色大理石"/>
            <p:cNvSpPr>
              <a:spLocks noTextEdit="1"/>
            </p:cNvSpPr>
            <p:nvPr/>
          </p:nvSpPr>
          <p:spPr>
            <a:xfrm>
              <a:off x="1248" y="1677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91" name="Rectangle 6"/>
            <p:cNvSpPr/>
            <p:nvPr/>
          </p:nvSpPr>
          <p:spPr>
            <a:xfrm>
              <a:off x="192" y="1632"/>
              <a:ext cx="120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 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sz="2800" b="0" dirty="0">
                  <a:solidFill>
                    <a:schemeClr val="tx1"/>
                  </a:solidFill>
                  <a:ea typeface="楷体_GB2312" pitchFamily="49" charset="-122"/>
                </a:rPr>
                <a:t>增广律</a:t>
              </a:r>
              <a:endParaRPr lang="zh-CN" altLang="en-US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1992" name="AutoShape 7"/>
            <p:cNvSpPr/>
            <p:nvPr/>
          </p:nvSpPr>
          <p:spPr>
            <a:xfrm>
              <a:off x="1632" y="1920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1993" name="WordArt 8" descr="白色大理石"/>
            <p:cNvSpPr>
              <a:spLocks noTextEdit="1"/>
            </p:cNvSpPr>
            <p:nvPr/>
          </p:nvSpPr>
          <p:spPr>
            <a:xfrm>
              <a:off x="3408" y="1968"/>
              <a:ext cx="312" cy="8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94" name="AutoShape 9"/>
            <p:cNvSpPr/>
            <p:nvPr/>
          </p:nvSpPr>
          <p:spPr>
            <a:xfrm>
              <a:off x="3792" y="2304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1995" name="Rectangle 10"/>
            <p:cNvSpPr/>
            <p:nvPr/>
          </p:nvSpPr>
          <p:spPr>
            <a:xfrm>
              <a:off x="240" y="1584"/>
              <a:ext cx="5328" cy="15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1996" name="Rectangle 11"/>
            <p:cNvSpPr/>
            <p:nvPr/>
          </p:nvSpPr>
          <p:spPr>
            <a:xfrm>
              <a:off x="2112" y="1824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1997" name="WordArt 12" descr="白色大理石"/>
            <p:cNvSpPr>
              <a:spLocks noTextEdit="1"/>
            </p:cNvSpPr>
            <p:nvPr/>
          </p:nvSpPr>
          <p:spPr>
            <a:xfrm>
              <a:off x="1248" y="2397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1998" name="Rectangle 13"/>
            <p:cNvSpPr/>
            <p:nvPr/>
          </p:nvSpPr>
          <p:spPr>
            <a:xfrm>
              <a:off x="192" y="2352"/>
              <a:ext cx="120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 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sz="2800" b="0" dirty="0">
                  <a:solidFill>
                    <a:schemeClr val="tx1"/>
                  </a:solidFill>
                  <a:ea typeface="楷体_GB2312" pitchFamily="49" charset="-122"/>
                </a:rPr>
                <a:t>增广律</a:t>
              </a:r>
              <a:endParaRPr lang="zh-CN" altLang="en-US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1999" name="AutoShape 14"/>
            <p:cNvSpPr/>
            <p:nvPr/>
          </p:nvSpPr>
          <p:spPr>
            <a:xfrm>
              <a:off x="1632" y="2640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2000" name="Rectangle 15"/>
            <p:cNvSpPr/>
            <p:nvPr/>
          </p:nvSpPr>
          <p:spPr>
            <a:xfrm>
              <a:off x="2112" y="2544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XY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YZ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2001" name="Rectangle 16"/>
            <p:cNvSpPr/>
            <p:nvPr/>
          </p:nvSpPr>
          <p:spPr>
            <a:xfrm>
              <a:off x="2160" y="2208"/>
              <a:ext cx="120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sz="2800" b="0" dirty="0">
                  <a:solidFill>
                    <a:schemeClr val="tx1"/>
                  </a:solidFill>
                  <a:ea typeface="楷体_GB2312" pitchFamily="49" charset="-122"/>
                </a:rPr>
                <a:t>传递律</a:t>
              </a:r>
              <a:endParaRPr lang="zh-CN" altLang="en-US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2002" name="Rectangle 17"/>
            <p:cNvSpPr/>
            <p:nvPr/>
          </p:nvSpPr>
          <p:spPr>
            <a:xfrm>
              <a:off x="4224" y="2208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YZ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3011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分解律</a:t>
            </a:r>
            <a:r>
              <a:rPr lang="en-US" altLang="zh-CN" sz="2800" dirty="0">
                <a:solidFill>
                  <a:schemeClr val="accent2"/>
                </a:solidFill>
              </a:rPr>
              <a:t>:</a:t>
            </a:r>
            <a:r>
              <a:rPr lang="zh-CN" altLang="en-US" sz="2800" dirty="0">
                <a:solidFill>
                  <a:srgbClr val="FF0000"/>
                </a:solidFill>
              </a:rPr>
              <a:t>若</a:t>
            </a:r>
            <a:r>
              <a:rPr lang="en-US" altLang="zh-CN" sz="2800" dirty="0">
                <a:sym typeface="Symbol" panose="05050102010706020507" pitchFamily="18" charset="2"/>
              </a:rPr>
              <a:t>X  Y 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Z Y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X  Z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证</a:t>
            </a:r>
            <a:r>
              <a:rPr lang="en-US" altLang="zh-CN" sz="2800" dirty="0"/>
              <a:t>:</a:t>
            </a:r>
            <a:endParaRPr lang="en-US" altLang="zh-CN" sz="2800" dirty="0"/>
          </a:p>
        </p:txBody>
      </p:sp>
      <p:sp>
        <p:nvSpPr>
          <p:cNvPr id="4301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pSp>
        <p:nvGrpSpPr>
          <p:cNvPr id="43013" name="Group 4"/>
          <p:cNvGrpSpPr/>
          <p:nvPr/>
        </p:nvGrpSpPr>
        <p:grpSpPr>
          <a:xfrm>
            <a:off x="304800" y="2552700"/>
            <a:ext cx="8534400" cy="2209800"/>
            <a:chOff x="192" y="1824"/>
            <a:chExt cx="5376" cy="1392"/>
          </a:xfrm>
        </p:grpSpPr>
        <p:sp>
          <p:nvSpPr>
            <p:cNvPr id="43014" name="WordArt 5" descr="白色大理石"/>
            <p:cNvSpPr>
              <a:spLocks noTextEdit="1"/>
            </p:cNvSpPr>
            <p:nvPr/>
          </p:nvSpPr>
          <p:spPr>
            <a:xfrm>
              <a:off x="1248" y="1917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015" name="Rectangle 6"/>
            <p:cNvSpPr/>
            <p:nvPr/>
          </p:nvSpPr>
          <p:spPr>
            <a:xfrm>
              <a:off x="192" y="1920"/>
              <a:ext cx="120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Z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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 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sz="2800" b="0" dirty="0">
                  <a:solidFill>
                    <a:schemeClr val="tx1"/>
                  </a:solidFill>
                  <a:ea typeface="楷体_GB2312" pitchFamily="49" charset="-122"/>
                </a:rPr>
                <a:t>自反律</a:t>
              </a:r>
              <a:endParaRPr lang="zh-CN" altLang="en-US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3016" name="AutoShape 7"/>
            <p:cNvSpPr/>
            <p:nvPr/>
          </p:nvSpPr>
          <p:spPr>
            <a:xfrm>
              <a:off x="1632" y="2160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3017" name="WordArt 8" descr="白色大理石"/>
            <p:cNvSpPr>
              <a:spLocks noTextEdit="1"/>
            </p:cNvSpPr>
            <p:nvPr/>
          </p:nvSpPr>
          <p:spPr>
            <a:xfrm>
              <a:off x="3408" y="2208"/>
              <a:ext cx="312" cy="8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3018" name="AutoShape 9"/>
            <p:cNvSpPr/>
            <p:nvPr/>
          </p:nvSpPr>
          <p:spPr>
            <a:xfrm>
              <a:off x="3792" y="2544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3019" name="Rectangle 10"/>
            <p:cNvSpPr/>
            <p:nvPr/>
          </p:nvSpPr>
          <p:spPr>
            <a:xfrm>
              <a:off x="240" y="1824"/>
              <a:ext cx="5328" cy="139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3020" name="Rectangle 11"/>
            <p:cNvSpPr/>
            <p:nvPr/>
          </p:nvSpPr>
          <p:spPr>
            <a:xfrm>
              <a:off x="2112" y="2064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Y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3021" name="Rectangle 12"/>
            <p:cNvSpPr/>
            <p:nvPr/>
          </p:nvSpPr>
          <p:spPr>
            <a:xfrm>
              <a:off x="2112" y="2784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3022" name="Rectangle 13"/>
            <p:cNvSpPr/>
            <p:nvPr/>
          </p:nvSpPr>
          <p:spPr>
            <a:xfrm>
              <a:off x="2160" y="2448"/>
              <a:ext cx="120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sz="2800" b="0" dirty="0">
                  <a:solidFill>
                    <a:schemeClr val="tx1"/>
                  </a:solidFill>
                  <a:ea typeface="楷体_GB2312" pitchFamily="49" charset="-122"/>
                </a:rPr>
                <a:t>传递律</a:t>
              </a:r>
              <a:endParaRPr lang="zh-CN" altLang="en-US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3023" name="Rectangle 14"/>
            <p:cNvSpPr/>
            <p:nvPr/>
          </p:nvSpPr>
          <p:spPr>
            <a:xfrm>
              <a:off x="4224" y="2448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4035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伪传递律</a:t>
            </a:r>
            <a:r>
              <a:rPr lang="en-US" altLang="zh-CN" sz="2800" dirty="0">
                <a:solidFill>
                  <a:schemeClr val="accent2"/>
                </a:solidFill>
              </a:rPr>
              <a:t>:</a:t>
            </a:r>
            <a:r>
              <a:rPr lang="zh-CN" altLang="en-US" sz="2800" dirty="0">
                <a:solidFill>
                  <a:srgbClr val="FF0000"/>
                </a:solidFill>
              </a:rPr>
              <a:t>若</a:t>
            </a:r>
            <a:r>
              <a:rPr lang="en-US" altLang="zh-CN" sz="2800" dirty="0">
                <a:sym typeface="Symbol" panose="05050102010706020507" pitchFamily="18" charset="2"/>
              </a:rPr>
              <a:t>X  Y</a:t>
            </a:r>
            <a:r>
              <a:rPr lang="zh-CN" altLang="en-US" sz="2800" dirty="0"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ym typeface="Symbol" panose="05050102010706020507" pitchFamily="18" charset="2"/>
              </a:rPr>
              <a:t>WY  Z</a:t>
            </a:r>
            <a:r>
              <a:rPr lang="zh-CN" altLang="en-US" sz="2800" dirty="0">
                <a:sym typeface="Symbol" panose="05050102010706020507" pitchFamily="18" charset="2"/>
              </a:rPr>
              <a:t>，则</a:t>
            </a:r>
            <a:r>
              <a:rPr lang="en-US" altLang="zh-CN" sz="2800" dirty="0">
                <a:sym typeface="Symbol" panose="05050102010706020507" pitchFamily="18" charset="2"/>
              </a:rPr>
              <a:t>WX  Z</a:t>
            </a:r>
            <a:endParaRPr lang="en-US" altLang="zh-CN" sz="2800" dirty="0"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证</a:t>
            </a:r>
            <a:r>
              <a:rPr lang="en-US" altLang="zh-CN" sz="2800" dirty="0"/>
              <a:t>:</a:t>
            </a:r>
            <a:endParaRPr lang="en-US" altLang="zh-CN" sz="2800" dirty="0"/>
          </a:p>
        </p:txBody>
      </p:sp>
      <p:sp>
        <p:nvSpPr>
          <p:cNvPr id="4403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pSp>
        <p:nvGrpSpPr>
          <p:cNvPr id="44037" name="Group 4"/>
          <p:cNvGrpSpPr/>
          <p:nvPr/>
        </p:nvGrpSpPr>
        <p:grpSpPr>
          <a:xfrm>
            <a:off x="304800" y="2525713"/>
            <a:ext cx="8534400" cy="2438400"/>
            <a:chOff x="192" y="1671"/>
            <a:chExt cx="5376" cy="1536"/>
          </a:xfrm>
        </p:grpSpPr>
        <p:sp>
          <p:nvSpPr>
            <p:cNvPr id="44038" name="WordArt 5" descr="白色大理石"/>
            <p:cNvSpPr>
              <a:spLocks noTextEdit="1"/>
            </p:cNvSpPr>
            <p:nvPr/>
          </p:nvSpPr>
          <p:spPr>
            <a:xfrm>
              <a:off x="1248" y="1764"/>
              <a:ext cx="312" cy="675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039" name="Rectangle 6"/>
            <p:cNvSpPr/>
            <p:nvPr/>
          </p:nvSpPr>
          <p:spPr>
            <a:xfrm>
              <a:off x="192" y="1719"/>
              <a:ext cx="1200" cy="62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 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sz="2800" b="0" dirty="0">
                  <a:solidFill>
                    <a:schemeClr val="tx1"/>
                  </a:solidFill>
                  <a:ea typeface="楷体_GB2312" pitchFamily="49" charset="-122"/>
                </a:rPr>
                <a:t>增广律</a:t>
              </a:r>
              <a:endParaRPr lang="zh-CN" altLang="en-US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4040" name="AutoShape 7"/>
            <p:cNvSpPr/>
            <p:nvPr/>
          </p:nvSpPr>
          <p:spPr>
            <a:xfrm>
              <a:off x="1632" y="2007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4041" name="WordArt 8" descr="白色大理石"/>
            <p:cNvSpPr>
              <a:spLocks noTextEdit="1"/>
            </p:cNvSpPr>
            <p:nvPr/>
          </p:nvSpPr>
          <p:spPr>
            <a:xfrm>
              <a:off x="3408" y="2055"/>
              <a:ext cx="312" cy="864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50000"/>
                </a:avLst>
              </a:prstTxWarp>
              <a:normAutofit/>
              <a:scene3d>
                <a:camera prst="legacyObliqueRight">
                  <a:rot lat="0" lon="0" rev="0"/>
                </a:camera>
                <a:lightRig rig="legacyHarsh3" dir="t"/>
              </a:scene3d>
              <a:sp3d extrusionH="100000" prstMaterial="legacyMatte">
                <a:extrusionClr>
                  <a:srgbClr val="663300"/>
                </a:extrusionClr>
              </a:sp3d>
            </a:bodyPr>
            <a:p>
              <a:pPr algn="ctr"/>
              <a:r>
                <a:rPr lang="en-US" sz="3600" b="1">
                  <a:blipFill rotWithShape="0">
                    <a:blip r:embed="rId1"/>
                  </a:blipFill>
                  <a:latin typeface="宋体" panose="02010600030101010101" pitchFamily="2" charset="-122"/>
                  <a:ea typeface="宋体" panose="02010600030101010101" pitchFamily="2" charset="-122"/>
                </a:rPr>
                <a:t>}</a:t>
              </a:r>
              <a:endPara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endParaRPr>
            </a:p>
          </p:txBody>
        </p:sp>
        <p:sp>
          <p:nvSpPr>
            <p:cNvPr id="44042" name="AutoShape 9"/>
            <p:cNvSpPr/>
            <p:nvPr/>
          </p:nvSpPr>
          <p:spPr>
            <a:xfrm>
              <a:off x="3792" y="2391"/>
              <a:ext cx="528" cy="240"/>
            </a:xfrm>
            <a:prstGeom prst="rightArrow">
              <a:avLst>
                <a:gd name="adj1" fmla="val 49166"/>
                <a:gd name="adj2" fmla="val 55000"/>
              </a:avLst>
            </a:prstGeom>
            <a:solidFill>
              <a:srgbClr val="FFCC00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4043" name="Rectangle 10"/>
            <p:cNvSpPr/>
            <p:nvPr/>
          </p:nvSpPr>
          <p:spPr>
            <a:xfrm>
              <a:off x="240" y="1671"/>
              <a:ext cx="5328" cy="1536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 anchorCtr="0"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spcBef>
                  <a:spcPct val="0"/>
                </a:spcBef>
                <a:buClrTx/>
                <a:buNone/>
              </a:pPr>
              <a:endParaRPr lang="en-US" altLang="zh-CN" sz="1400" b="0" dirty="0">
                <a:solidFill>
                  <a:schemeClr val="tx1"/>
                </a:solidFill>
              </a:endParaRPr>
            </a:p>
          </p:txBody>
        </p:sp>
        <p:sp>
          <p:nvSpPr>
            <p:cNvPr id="44044" name="Rectangle 11"/>
            <p:cNvSpPr/>
            <p:nvPr/>
          </p:nvSpPr>
          <p:spPr>
            <a:xfrm>
              <a:off x="2112" y="1911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WX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WY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4045" name="Rectangle 12"/>
            <p:cNvSpPr/>
            <p:nvPr/>
          </p:nvSpPr>
          <p:spPr>
            <a:xfrm>
              <a:off x="2112" y="2631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WY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4046" name="Rectangle 13"/>
            <p:cNvSpPr/>
            <p:nvPr/>
          </p:nvSpPr>
          <p:spPr>
            <a:xfrm>
              <a:off x="2160" y="2295"/>
              <a:ext cx="1200" cy="384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sz="2800" b="0" dirty="0">
                  <a:solidFill>
                    <a:schemeClr val="tx1"/>
                  </a:solidFill>
                  <a:ea typeface="楷体_GB2312" pitchFamily="49" charset="-122"/>
                </a:rPr>
                <a:t>传递律</a:t>
              </a:r>
              <a:endParaRPr lang="zh-CN" altLang="en-US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sp>
          <p:nvSpPr>
            <p:cNvPr id="44047" name="Rectangle 14"/>
            <p:cNvSpPr/>
            <p:nvPr/>
          </p:nvSpPr>
          <p:spPr>
            <a:xfrm>
              <a:off x="4224" y="2295"/>
              <a:ext cx="1296" cy="432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WX </a:t>
              </a:r>
              <a:r>
                <a:rPr lang="en-US" altLang="zh-CN" b="0" dirty="0">
                  <a:solidFill>
                    <a:schemeClr val="tx1"/>
                  </a:solidFill>
                  <a:ea typeface="楷体_GB2312" pitchFamily="49" charset="-122"/>
                  <a:sym typeface="Symbol" panose="05050102010706020507" pitchFamily="18" charset="2"/>
                </a:rPr>
                <a:t> </a:t>
              </a:r>
              <a:r>
                <a:rPr lang="en-US" altLang="zh-CN" sz="2800" b="0" dirty="0">
                  <a:solidFill>
                    <a:schemeClr val="tx1"/>
                  </a:solidFill>
                  <a:ea typeface="楷体_GB2312" pitchFamily="49" charset="-122"/>
                </a:rPr>
                <a:t>Z</a:t>
              </a:r>
              <a:endParaRPr lang="en-US" altLang="zh-CN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5059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accent2"/>
                </a:solidFill>
              </a:rPr>
              <a:t>    </a:t>
            </a:r>
            <a:r>
              <a:rPr lang="zh-CN" altLang="en-US" dirty="0">
                <a:solidFill>
                  <a:srgbClr val="FF0000"/>
                </a:solidFill>
              </a:rPr>
              <a:t>引理</a:t>
            </a:r>
            <a:r>
              <a:rPr lang="en-US" altLang="zh-CN" dirty="0">
                <a:solidFill>
                  <a:srgbClr val="FF0000"/>
                </a:solidFill>
              </a:rPr>
              <a:t>6.1   </a:t>
            </a:r>
            <a:r>
              <a:rPr lang="en-US" altLang="zh-CN" dirty="0">
                <a:solidFill>
                  <a:schemeClr val="tx1"/>
                </a:solidFill>
              </a:rPr>
              <a:t>X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16000" dirty="0">
                <a:solidFill>
                  <a:schemeClr val="tx1"/>
                </a:solidFill>
              </a:rPr>
              <a:t>1 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16000" dirty="0">
                <a:solidFill>
                  <a:schemeClr val="tx1"/>
                </a:solidFill>
              </a:rPr>
              <a:t>2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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-16000" dirty="0">
                <a:solidFill>
                  <a:schemeClr val="tx1"/>
                </a:solidFill>
              </a:rPr>
              <a:t>k</a:t>
            </a:r>
            <a:r>
              <a:rPr lang="zh-CN" altLang="en-US" dirty="0">
                <a:solidFill>
                  <a:schemeClr val="tx1"/>
                </a:solidFill>
              </a:rPr>
              <a:t>成立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 </a:t>
            </a:r>
            <a:r>
              <a:rPr lang="en-US" altLang="zh-CN" dirty="0">
                <a:solidFill>
                  <a:schemeClr val="tx1"/>
                </a:solidFill>
              </a:rPr>
              <a:t>X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i="1" baseline="-16000" dirty="0">
                <a:solidFill>
                  <a:schemeClr val="tx1"/>
                </a:solidFill>
              </a:rPr>
              <a:t>i</a:t>
            </a:r>
            <a:r>
              <a:rPr lang="zh-CN" altLang="en-US" dirty="0">
                <a:solidFill>
                  <a:schemeClr val="tx1"/>
                </a:solidFill>
              </a:rPr>
              <a:t>成立</a:t>
            </a:r>
            <a:r>
              <a:rPr lang="en-US" altLang="zh-CN" dirty="0">
                <a:solidFill>
                  <a:schemeClr val="tx1"/>
                </a:solidFill>
              </a:rPr>
              <a:t>(</a:t>
            </a:r>
            <a:r>
              <a:rPr lang="en-US" altLang="zh-CN" i="1" dirty="0">
                <a:solidFill>
                  <a:schemeClr val="tx1"/>
                </a:solidFill>
              </a:rPr>
              <a:t>i</a:t>
            </a:r>
            <a:r>
              <a:rPr lang="en-US" altLang="zh-CN" dirty="0">
                <a:solidFill>
                  <a:schemeClr val="tx1"/>
                </a:solidFill>
              </a:rPr>
              <a:t>=1, 2,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 ,</a:t>
            </a:r>
            <a:r>
              <a:rPr lang="en-US" altLang="zh-CN" dirty="0">
                <a:solidFill>
                  <a:schemeClr val="tx1"/>
                </a:solidFill>
              </a:rPr>
              <a:t>k) (</a:t>
            </a:r>
            <a:r>
              <a:rPr lang="zh-CN" altLang="en-US" i="1" dirty="0">
                <a:solidFill>
                  <a:schemeClr val="tx1"/>
                </a:solidFill>
              </a:rPr>
              <a:t>当且仅当，充分必要条件</a:t>
            </a:r>
            <a:r>
              <a:rPr lang="en-US" altLang="zh-CN" dirty="0">
                <a:solidFill>
                  <a:schemeClr val="tx1"/>
                </a:solidFill>
              </a:rPr>
              <a:t>)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</a:t>
            </a:r>
            <a:r>
              <a:rPr lang="zh-CN" altLang="en-US" dirty="0"/>
              <a:t>证明：	</a:t>
            </a:r>
            <a:r>
              <a:rPr lang="zh-CN" altLang="en-US" dirty="0">
                <a:solidFill>
                  <a:schemeClr val="tx1"/>
                </a:solidFill>
              </a:rPr>
              <a:t>由合并律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</a:t>
            </a:r>
            <a:endParaRPr lang="zh-CN" altLang="en-US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zh-CN" altLang="en-US" sz="3200" dirty="0"/>
              <a:t>			由分解律 </a:t>
            </a:r>
            <a:r>
              <a:rPr lang="zh-CN" altLang="en-US" sz="3200" dirty="0">
                <a:sym typeface="Symbol" panose="05050102010706020507" pitchFamily="18" charset="2"/>
              </a:rPr>
              <a:t></a:t>
            </a:r>
            <a:endParaRPr lang="zh-CN" altLang="en-US" sz="3200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zh-CN" altLang="en-US" sz="3200" dirty="0">
              <a:sym typeface="Symbol" panose="05050102010706020507" pitchFamily="18" charset="2"/>
            </a:endParaRPr>
          </a:p>
        </p:txBody>
      </p:sp>
      <p:sp>
        <p:nvSpPr>
          <p:cNvPr id="4506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608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回忆：</a:t>
            </a:r>
            <a:r>
              <a:rPr lang="zh-CN" altLang="en-US" dirty="0">
                <a:solidFill>
                  <a:schemeClr val="tx1"/>
                </a:solidFill>
              </a:rPr>
              <a:t>函数依赖集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的闭包</a:t>
            </a:r>
            <a:r>
              <a:rPr lang="en-US" altLang="zh-CN" dirty="0">
                <a:solidFill>
                  <a:schemeClr val="tx1"/>
                </a:solidFill>
              </a:rPr>
              <a:t>: 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</a:t>
            </a:r>
            <a:r>
              <a:rPr lang="zh-CN" altLang="en-US" dirty="0">
                <a:solidFill>
                  <a:schemeClr val="tx1"/>
                </a:solidFill>
              </a:rPr>
              <a:t>属性集</a:t>
            </a:r>
            <a:r>
              <a:rPr lang="en-US" altLang="zh-CN" dirty="0">
                <a:solidFill>
                  <a:schemeClr val="tx1"/>
                </a:solidFill>
              </a:rPr>
              <a:t>X</a:t>
            </a:r>
            <a:r>
              <a:rPr lang="zh-CN" altLang="en-US" dirty="0">
                <a:solidFill>
                  <a:schemeClr val="tx1"/>
                </a:solidFill>
              </a:rPr>
              <a:t>关于函数依赖集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的闭包</a:t>
            </a:r>
            <a:r>
              <a:rPr lang="en-US" altLang="zh-CN" dirty="0">
                <a:solidFill>
                  <a:schemeClr val="tx1"/>
                </a:solidFill>
              </a:rPr>
              <a:t>:X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/>
              <a:t>例：</a:t>
            </a:r>
            <a:r>
              <a:rPr lang="zh-CN" altLang="en-US" dirty="0">
                <a:solidFill>
                  <a:schemeClr val="tx1"/>
                </a:solidFill>
              </a:rPr>
              <a:t>在关系模式</a:t>
            </a:r>
            <a:r>
              <a:rPr lang="en-US" altLang="zh-CN" dirty="0">
                <a:solidFill>
                  <a:schemeClr val="tx1"/>
                </a:solidFill>
              </a:rPr>
              <a:t>R(U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F)</a:t>
            </a:r>
            <a:r>
              <a:rPr lang="zh-CN" altLang="en-US" dirty="0">
                <a:solidFill>
                  <a:schemeClr val="tx1"/>
                </a:solidFill>
              </a:rPr>
              <a:t>中，若</a:t>
            </a:r>
            <a:r>
              <a:rPr lang="en-US" altLang="zh-CN" dirty="0">
                <a:solidFill>
                  <a:schemeClr val="tx1"/>
                </a:solidFill>
              </a:rPr>
              <a:t>U={A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B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dirty="0">
                <a:solidFill>
                  <a:schemeClr val="tx1"/>
                </a:solidFill>
              </a:rPr>
              <a:t>C}</a:t>
            </a:r>
            <a:r>
              <a:rPr lang="zh-CN" altLang="en-US" dirty="0">
                <a:solidFill>
                  <a:schemeClr val="tx1"/>
                </a:solidFill>
              </a:rPr>
              <a:t>，   </a:t>
            </a:r>
            <a:r>
              <a:rPr lang="en-US" altLang="zh-CN" dirty="0">
                <a:solidFill>
                  <a:schemeClr val="tx1"/>
                </a:solidFill>
              </a:rPr>
              <a:t>F={A→B,B→C}, </a:t>
            </a:r>
            <a:r>
              <a:rPr lang="zh-CN" altLang="en-US" dirty="0">
                <a:solidFill>
                  <a:schemeClr val="tx1"/>
                </a:solidFill>
              </a:rPr>
              <a:t>则有： 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            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=ABC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B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=BC</a:t>
            </a:r>
            <a:endParaRPr lang="en-US" altLang="zh-CN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en-US" altLang="zh-CN" dirty="0">
                <a:solidFill>
                  <a:schemeClr val="tx1"/>
                </a:solidFill>
              </a:rPr>
              <a:t>            C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=C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   </a:t>
            </a:r>
            <a:endParaRPr lang="en-US" altLang="zh-CN" sz="3600" dirty="0"/>
          </a:p>
        </p:txBody>
      </p:sp>
      <p:sp>
        <p:nvSpPr>
          <p:cNvPr id="4608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7107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rgbClr val="FF0000"/>
                </a:solidFill>
              </a:rPr>
              <a:t>	</a:t>
            </a:r>
            <a:r>
              <a:rPr lang="zh-CN" altLang="en-US" dirty="0">
                <a:solidFill>
                  <a:srgbClr val="FF0000"/>
                </a:solidFill>
              </a:rPr>
              <a:t>引理</a:t>
            </a:r>
            <a:r>
              <a:rPr lang="en-US" altLang="zh-CN" dirty="0">
                <a:solidFill>
                  <a:srgbClr val="FF0000"/>
                </a:solidFill>
              </a:rPr>
              <a:t>6.2 </a:t>
            </a:r>
            <a:r>
              <a:rPr lang="zh-CN" altLang="en-US" dirty="0">
                <a:solidFill>
                  <a:schemeClr val="tx1"/>
                </a:solidFill>
              </a:rPr>
              <a:t>设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为属性集</a:t>
            </a:r>
            <a:r>
              <a:rPr lang="en-US" altLang="zh-CN" i="1" dirty="0">
                <a:solidFill>
                  <a:schemeClr val="tx1"/>
                </a:solidFill>
              </a:rPr>
              <a:t>U</a:t>
            </a:r>
            <a:r>
              <a:rPr lang="zh-CN" altLang="en-US" dirty="0">
                <a:solidFill>
                  <a:schemeClr val="tx1"/>
                </a:solidFill>
              </a:rPr>
              <a:t>上的一组函数依赖，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i="1" dirty="0">
                <a:solidFill>
                  <a:schemeClr val="tx1"/>
                </a:solidFill>
              </a:rPr>
              <a:t>Y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chemeClr val="tx1"/>
                </a:solidFill>
              </a:rPr>
              <a:t>U</a:t>
            </a:r>
            <a:r>
              <a:rPr lang="zh-CN" altLang="en-US" dirty="0">
                <a:solidFill>
                  <a:schemeClr val="tx1"/>
                </a:solidFill>
              </a:rPr>
              <a:t>，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→</a:t>
            </a:r>
            <a:r>
              <a:rPr lang="en-US" altLang="zh-CN" i="1" dirty="0">
                <a:solidFill>
                  <a:schemeClr val="tx1"/>
                </a:solidFill>
              </a:rPr>
              <a:t>Y</a:t>
            </a:r>
            <a:r>
              <a:rPr lang="zh-CN" altLang="en-US" dirty="0">
                <a:solidFill>
                  <a:schemeClr val="tx1"/>
                </a:solidFill>
              </a:rPr>
              <a:t>能由</a:t>
            </a:r>
            <a:r>
              <a:rPr lang="en-US" altLang="zh-CN" i="1" dirty="0">
                <a:solidFill>
                  <a:schemeClr val="tx1"/>
                </a:solidFill>
              </a:rPr>
              <a:t>F </a:t>
            </a:r>
            <a:r>
              <a:rPr lang="zh-CN" altLang="en-US" dirty="0">
                <a:solidFill>
                  <a:schemeClr val="tx1"/>
                </a:solidFill>
              </a:rPr>
              <a:t>根据</a:t>
            </a:r>
            <a:r>
              <a:rPr lang="en-US" altLang="zh-CN" dirty="0">
                <a:solidFill>
                  <a:schemeClr val="tx1"/>
                </a:solidFill>
              </a:rPr>
              <a:t>Armstrong</a:t>
            </a:r>
            <a:r>
              <a:rPr lang="zh-CN" altLang="en-US" dirty="0">
                <a:solidFill>
                  <a:schemeClr val="tx1"/>
                </a:solidFill>
              </a:rPr>
              <a:t>公理导出的充分必要条件是</a:t>
            </a:r>
            <a:r>
              <a:rPr lang="en-US" altLang="zh-CN" i="1" dirty="0">
                <a:solidFill>
                  <a:schemeClr val="tx1"/>
                </a:solidFill>
              </a:rPr>
              <a:t>Y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chemeClr val="tx1"/>
                </a:solidFill>
              </a:rPr>
              <a:t>	 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dirty="0">
                <a:solidFill>
                  <a:schemeClr val="tx1"/>
                </a:solidFill>
              </a:rPr>
              <a:t>→</a:t>
            </a:r>
            <a:r>
              <a:rPr lang="en-US" altLang="zh-CN" i="1" dirty="0">
                <a:solidFill>
                  <a:schemeClr val="tx1"/>
                </a:solidFill>
              </a:rPr>
              <a:t>Y 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 </a:t>
            </a:r>
            <a:r>
              <a:rPr lang="en-US" altLang="zh-CN" i="1" dirty="0">
                <a:solidFill>
                  <a:schemeClr val="tx1"/>
                </a:solidFill>
              </a:rPr>
              <a:t>Y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baseline="-25000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endParaRPr lang="en-US" altLang="zh-CN" baseline="30000" dirty="0">
              <a:solidFill>
                <a:schemeClr val="tx1"/>
              </a:solidFill>
            </a:endParaRPr>
          </a:p>
        </p:txBody>
      </p:sp>
      <p:sp>
        <p:nvSpPr>
          <p:cNvPr id="4710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8131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引理</a:t>
            </a:r>
            <a:r>
              <a:rPr lang="en-US" altLang="zh-CN" dirty="0">
                <a:solidFill>
                  <a:srgbClr val="FF0000"/>
                </a:solidFill>
              </a:rPr>
              <a:t>6.2  </a:t>
            </a:r>
            <a:r>
              <a:rPr lang="en-US" altLang="zh-CN" dirty="0">
                <a:solidFill>
                  <a:schemeClr val="tx1"/>
                </a:solidFill>
              </a:rPr>
              <a:t>X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tx1"/>
                </a:solidFill>
              </a:rPr>
              <a:t>Y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</a:t>
            </a:r>
            <a:r>
              <a:rPr lang="en-US" altLang="zh-CN" dirty="0">
                <a:solidFill>
                  <a:schemeClr val="tx1"/>
                </a:solidFill>
              </a:rPr>
              <a:t> Y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tx1"/>
                </a:solidFill>
              </a:rPr>
              <a:t> X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证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813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sp>
        <p:nvSpPr>
          <p:cNvPr id="48133" name="Rectangle 4"/>
          <p:cNvSpPr/>
          <p:nvPr/>
        </p:nvSpPr>
        <p:spPr>
          <a:xfrm>
            <a:off x="304800" y="2667000"/>
            <a:ext cx="10668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Y 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</a:t>
            </a:r>
            <a:endParaRPr lang="en-US" altLang="zh-CN" sz="2800" b="0" dirty="0">
              <a:solidFill>
                <a:schemeClr val="tx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48134" name="Object 5"/>
          <p:cNvGraphicFramePr>
            <a:graphicFrameLocks noChangeAspect="1"/>
          </p:cNvGraphicFramePr>
          <p:nvPr/>
        </p:nvGraphicFramePr>
        <p:xfrm>
          <a:off x="1066800" y="2690813"/>
          <a:ext cx="6096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241300" imgH="228600" progId="Equation.3">
                  <p:embed/>
                </p:oleObj>
              </mc:Choice>
              <mc:Fallback>
                <p:oleObj name="" r:id="rId1" imgW="241300" imgH="228600" progId="Equation.3">
                  <p:embed/>
                  <p:pic>
                    <p:nvPicPr>
                      <p:cNvPr id="0" name="Picture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066800" y="2690813"/>
                        <a:ext cx="609600" cy="585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5" name="AutoShape 6"/>
          <p:cNvSpPr/>
          <p:nvPr/>
        </p:nvSpPr>
        <p:spPr>
          <a:xfrm>
            <a:off x="1752600" y="2819400"/>
            <a:ext cx="838200" cy="381000"/>
          </a:xfrm>
          <a:prstGeom prst="rightArrow">
            <a:avLst>
              <a:gd name="adj1" fmla="val 49166"/>
              <a:gd name="adj2" fmla="val 55000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8136" name="Rectangle 7"/>
          <p:cNvSpPr/>
          <p:nvPr/>
        </p:nvSpPr>
        <p:spPr>
          <a:xfrm>
            <a:off x="2590800" y="2743200"/>
            <a:ext cx="42672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不仿设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Y=A</a:t>
            </a:r>
            <a:r>
              <a:rPr lang="en-US" altLang="zh-CN" sz="2800" b="0" baseline="-250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0" baseline="-250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2800" b="0" dirty="0">
                <a:solidFill>
                  <a:schemeClr val="tx1"/>
                </a:solidFill>
                <a:sym typeface="Symbol" panose="05050102010706020507" pitchFamily="18" charset="2"/>
              </a:rPr>
              <a:t>…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 sz="2800" b="0" baseline="-250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n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，则由闭包的定义知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,X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A</a:t>
            </a:r>
            <a:r>
              <a:rPr lang="en-US" altLang="zh-CN" sz="2800" b="0" i="1" baseline="-2500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i</a:t>
            </a:r>
            <a:endParaRPr lang="en-US" altLang="zh-CN" sz="2800" b="0" i="1" baseline="-2500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37" name="WordArt 8" descr="白色大理石"/>
          <p:cNvSpPr>
            <a:spLocks noTextEdit="1"/>
          </p:cNvSpPr>
          <p:nvPr/>
        </p:nvSpPr>
        <p:spPr>
          <a:xfrm>
            <a:off x="6883400" y="2890838"/>
            <a:ext cx="495300" cy="1223962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Right">
                <a:rot lat="0" lon="0" rev="0"/>
              </a:camera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p>
            <a:pPr algn="ctr"/>
            <a:r>
              <a:rPr lang="en-US" sz="3600" b="1">
                <a:blipFill rotWithShape="0">
                  <a:blip r:embed="rId3"/>
                </a:blip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sz="3600" b="1">
              <a:blipFill rotWithShape="0">
                <a:blip r:embed="rId3"/>
              </a:blip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138" name="AutoShape 9"/>
          <p:cNvSpPr/>
          <p:nvPr/>
        </p:nvSpPr>
        <p:spPr>
          <a:xfrm>
            <a:off x="7467600" y="3302000"/>
            <a:ext cx="508000" cy="327025"/>
          </a:xfrm>
          <a:prstGeom prst="rightArrow">
            <a:avLst>
              <a:gd name="adj1" fmla="val 49166"/>
              <a:gd name="adj2" fmla="val 38827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8139" name="Rectangle 10"/>
          <p:cNvSpPr/>
          <p:nvPr/>
        </p:nvSpPr>
        <p:spPr>
          <a:xfrm>
            <a:off x="5118100" y="3632200"/>
            <a:ext cx="14478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r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引理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5.1</a:t>
            </a:r>
            <a:endParaRPr lang="en-US" altLang="zh-CN" sz="2800" b="0" dirty="0">
              <a:solidFill>
                <a:schemeClr val="tx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8140" name="Rectangle 11"/>
          <p:cNvSpPr/>
          <p:nvPr/>
        </p:nvSpPr>
        <p:spPr>
          <a:xfrm>
            <a:off x="7696200" y="3187700"/>
            <a:ext cx="12192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r"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endParaRPr lang="en-US" altLang="zh-CN" sz="2400" b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41" name="Rectangle 12"/>
          <p:cNvSpPr/>
          <p:nvPr/>
        </p:nvSpPr>
        <p:spPr>
          <a:xfrm>
            <a:off x="0" y="2209800"/>
            <a:ext cx="19050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r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必要性</a:t>
            </a:r>
            <a:r>
              <a:rPr lang="zh-CN" altLang="en-US" sz="2400" b="0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：</a:t>
            </a:r>
            <a:endParaRPr lang="zh-CN" altLang="en-US" sz="2400" b="0" dirty="0">
              <a:solidFill>
                <a:srgbClr val="FF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8142" name="Rectangle 13"/>
          <p:cNvSpPr/>
          <p:nvPr/>
        </p:nvSpPr>
        <p:spPr>
          <a:xfrm>
            <a:off x="381000" y="4216400"/>
            <a:ext cx="14478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chemeClr val="tx1"/>
                </a:solidFill>
              </a:rPr>
              <a:t>若</a:t>
            </a:r>
            <a:r>
              <a:rPr lang="en-US" altLang="zh-CN" sz="2800" b="0" dirty="0">
                <a:solidFill>
                  <a:schemeClr val="tx1"/>
                </a:solidFill>
              </a:rPr>
              <a:t>Y </a:t>
            </a:r>
            <a:r>
              <a:rPr lang="en-US" altLang="zh-CN" sz="2800" b="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endParaRPr lang="en-US" altLang="zh-CN" sz="2800" b="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8143" name="Object 14"/>
          <p:cNvGraphicFramePr>
            <a:graphicFrameLocks noChangeAspect="1"/>
          </p:cNvGraphicFramePr>
          <p:nvPr/>
        </p:nvGraphicFramePr>
        <p:xfrm>
          <a:off x="1447800" y="4240213"/>
          <a:ext cx="609600" cy="5857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4" imgW="241300" imgH="228600" progId="Equation.3">
                  <p:embed/>
                </p:oleObj>
              </mc:Choice>
              <mc:Fallback>
                <p:oleObj name="" r:id="rId4" imgW="241300" imgH="228600" progId="Equation.3">
                  <p:embed/>
                  <p:pic>
                    <p:nvPicPr>
                      <p:cNvPr id="0" name="Picture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47800" y="4240213"/>
                        <a:ext cx="609600" cy="58578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4" name="Rectangle 15"/>
          <p:cNvSpPr/>
          <p:nvPr/>
        </p:nvSpPr>
        <p:spPr>
          <a:xfrm>
            <a:off x="381000" y="5130800"/>
            <a:ext cx="2895600" cy="6096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A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不能由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导出</a:t>
            </a:r>
            <a:endParaRPr lang="zh-CN" altLang="en-US" sz="2400" b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45" name="WordArt 16" descr="白色大理石"/>
          <p:cNvSpPr>
            <a:spLocks noTextEdit="1"/>
          </p:cNvSpPr>
          <p:nvPr/>
        </p:nvSpPr>
        <p:spPr>
          <a:xfrm>
            <a:off x="3048000" y="5207000"/>
            <a:ext cx="495300" cy="9191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Right">
                <a:rot lat="0" lon="0" rev="0"/>
              </a:camera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p>
            <a:pPr algn="ctr"/>
            <a:r>
              <a:rPr lang="en-US" sz="3600" b="1">
                <a:blipFill rotWithShape="0">
                  <a:blip r:embed="rId3"/>
                </a:blip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sz="3600" b="1">
              <a:blipFill rotWithShape="0">
                <a:blip r:embed="rId3"/>
              </a:blip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146" name="Rectangle 17"/>
          <p:cNvSpPr/>
          <p:nvPr/>
        </p:nvSpPr>
        <p:spPr>
          <a:xfrm>
            <a:off x="1600200" y="5664200"/>
            <a:ext cx="14478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r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引理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6.1</a:t>
            </a:r>
            <a:endParaRPr lang="en-US" altLang="zh-CN" sz="2800" b="0" dirty="0">
              <a:solidFill>
                <a:schemeClr val="tx1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8147" name="Rectangle 18"/>
          <p:cNvSpPr/>
          <p:nvPr/>
        </p:nvSpPr>
        <p:spPr>
          <a:xfrm>
            <a:off x="4114800" y="5359400"/>
            <a:ext cx="33528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也不能由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F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导出</a:t>
            </a:r>
            <a:endParaRPr lang="zh-CN" altLang="en-US" sz="2400" b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48" name="Rectangle 19"/>
          <p:cNvSpPr/>
          <p:nvPr/>
        </p:nvSpPr>
        <p:spPr>
          <a:xfrm>
            <a:off x="317500" y="3746500"/>
            <a:ext cx="34163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充分性</a:t>
            </a:r>
            <a:r>
              <a:rPr lang="en-US" altLang="zh-CN" sz="2800" b="0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sz="2800" b="0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反证法</a:t>
            </a:r>
            <a:r>
              <a:rPr lang="en-US" altLang="zh-CN" sz="2800" b="0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)</a:t>
            </a:r>
            <a:r>
              <a:rPr lang="zh-CN" altLang="en-US" sz="2400" b="0" dirty="0">
                <a:solidFill>
                  <a:srgbClr val="FF0000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：</a:t>
            </a:r>
            <a:endParaRPr lang="zh-CN" altLang="en-US" sz="2400" b="0" dirty="0">
              <a:solidFill>
                <a:srgbClr val="FF0000"/>
              </a:solidFill>
              <a:latin typeface="宋体" panose="02010600030101010101" pitchFamily="2" charset="-122"/>
              <a:sym typeface="Symbol" panose="05050102010706020507" pitchFamily="18" charset="2"/>
            </a:endParaRPr>
          </a:p>
        </p:txBody>
      </p:sp>
      <p:sp>
        <p:nvSpPr>
          <p:cNvPr id="48149" name="Rectangle 20"/>
          <p:cNvSpPr/>
          <p:nvPr/>
        </p:nvSpPr>
        <p:spPr>
          <a:xfrm>
            <a:off x="2971800" y="4292600"/>
            <a:ext cx="25908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  <a:sym typeface="Symbol" panose="05050102010706020507" pitchFamily="18" charset="2"/>
              </a:rPr>
              <a:t>Y</a:t>
            </a:r>
            <a:r>
              <a:rPr lang="zh-CN" altLang="en-US" sz="2800" b="0" dirty="0">
                <a:solidFill>
                  <a:schemeClr val="tx1"/>
                </a:solidFill>
                <a:sym typeface="Symbol" panose="05050102010706020507" pitchFamily="18" charset="2"/>
              </a:rPr>
              <a:t>中有属性</a:t>
            </a:r>
            <a:r>
              <a:rPr lang="en-US" altLang="zh-CN" sz="2800" b="0" dirty="0">
                <a:solidFill>
                  <a:schemeClr val="tx1"/>
                </a:solidFill>
                <a:sym typeface="Symbol" panose="05050102010706020507" pitchFamily="18" charset="2"/>
              </a:rPr>
              <a:t>A </a:t>
            </a:r>
            <a:endParaRPr lang="en-US" altLang="zh-CN" sz="2400" b="0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48150" name="Object 21"/>
          <p:cNvGraphicFramePr>
            <a:graphicFrameLocks noChangeAspect="1"/>
          </p:cNvGraphicFramePr>
          <p:nvPr/>
        </p:nvGraphicFramePr>
        <p:xfrm>
          <a:off x="5257800" y="4292600"/>
          <a:ext cx="609600" cy="585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5" imgW="241300" imgH="228600" progId="Equation.3">
                  <p:embed/>
                </p:oleObj>
              </mc:Choice>
              <mc:Fallback>
                <p:oleObj name="" r:id="rId5" imgW="241300" imgH="228600" progId="Equation.3">
                  <p:embed/>
                  <p:pic>
                    <p:nvPicPr>
                      <p:cNvPr id="0" name="Picture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257800" y="4292600"/>
                        <a:ext cx="609600" cy="58578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1" name="AutoShape 22"/>
          <p:cNvSpPr/>
          <p:nvPr/>
        </p:nvSpPr>
        <p:spPr>
          <a:xfrm>
            <a:off x="5943600" y="4254500"/>
            <a:ext cx="1143000" cy="558800"/>
          </a:xfrm>
          <a:prstGeom prst="rightArrow">
            <a:avLst>
              <a:gd name="adj1" fmla="val 53398"/>
              <a:gd name="adj2" fmla="val 99943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8152" name="AutoShape 23"/>
          <p:cNvSpPr/>
          <p:nvPr/>
        </p:nvSpPr>
        <p:spPr>
          <a:xfrm>
            <a:off x="2133600" y="4368800"/>
            <a:ext cx="838200" cy="381000"/>
          </a:xfrm>
          <a:prstGeom prst="rightArrow">
            <a:avLst>
              <a:gd name="adj1" fmla="val 49166"/>
              <a:gd name="adj2" fmla="val 55000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8153" name="Rectangle 24"/>
          <p:cNvSpPr/>
          <p:nvPr/>
        </p:nvSpPr>
        <p:spPr>
          <a:xfrm>
            <a:off x="4648200" y="5892800"/>
            <a:ext cx="25908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r"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F</a:t>
            </a:r>
            <a:r>
              <a:rPr lang="zh-CN" altLang="en-US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逻辑蕴涵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X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0" dirty="0">
                <a:solidFill>
                  <a:schemeClr val="tx1"/>
                </a:solidFill>
                <a:latin typeface="宋体" panose="02010600030101010101" pitchFamily="2" charset="-122"/>
              </a:rPr>
              <a:t>Y</a:t>
            </a:r>
            <a:endParaRPr lang="en-US" altLang="zh-CN" sz="2400" b="0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48154" name="AutoShape 25"/>
          <p:cNvSpPr/>
          <p:nvPr/>
        </p:nvSpPr>
        <p:spPr>
          <a:xfrm>
            <a:off x="3657600" y="5334000"/>
            <a:ext cx="533400" cy="558800"/>
          </a:xfrm>
          <a:prstGeom prst="rightArrow">
            <a:avLst>
              <a:gd name="adj1" fmla="val 54546"/>
              <a:gd name="adj2" fmla="val 41365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8155" name="WordArt 26" descr="白色大理石"/>
          <p:cNvSpPr>
            <a:spLocks noTextEdit="1"/>
          </p:cNvSpPr>
          <p:nvPr/>
        </p:nvSpPr>
        <p:spPr>
          <a:xfrm>
            <a:off x="7124700" y="5435600"/>
            <a:ext cx="495300" cy="9191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Right">
                <a:rot lat="0" lon="0" rev="0"/>
              </a:camera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p>
            <a:pPr algn="ctr"/>
            <a:r>
              <a:rPr lang="en-US" sz="3600" b="1">
                <a:blipFill rotWithShape="0">
                  <a:blip r:embed="rId3"/>
                </a:blip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sz="3600" b="1">
              <a:blipFill rotWithShape="0">
                <a:blip r:embed="rId3"/>
              </a:blip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8156" name="Rectangle 27"/>
          <p:cNvSpPr/>
          <p:nvPr/>
        </p:nvSpPr>
        <p:spPr>
          <a:xfrm>
            <a:off x="8077200" y="5588000"/>
            <a:ext cx="914400" cy="5334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chemeClr val="tx1"/>
                </a:solidFill>
              </a:rPr>
              <a:t>矛盾</a:t>
            </a:r>
            <a:endParaRPr lang="zh-CN" altLang="en-US" sz="2400" b="0" dirty="0">
              <a:solidFill>
                <a:schemeClr val="tx1"/>
              </a:solidFill>
            </a:endParaRPr>
          </a:p>
        </p:txBody>
      </p:sp>
      <p:sp>
        <p:nvSpPr>
          <p:cNvPr id="48157" name="AutoShape 28"/>
          <p:cNvSpPr/>
          <p:nvPr/>
        </p:nvSpPr>
        <p:spPr>
          <a:xfrm>
            <a:off x="7696200" y="5664200"/>
            <a:ext cx="457200" cy="457200"/>
          </a:xfrm>
          <a:prstGeom prst="rightArrow">
            <a:avLst>
              <a:gd name="adj1" fmla="val 55555"/>
              <a:gd name="adj2" fmla="val 52773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8158" name="Line 29"/>
          <p:cNvSpPr/>
          <p:nvPr/>
        </p:nvSpPr>
        <p:spPr>
          <a:xfrm>
            <a:off x="1295400" y="4394200"/>
            <a:ext cx="76200" cy="304800"/>
          </a:xfrm>
          <a:prstGeom prst="line">
            <a:avLst/>
          </a:prstGeom>
          <a:ln w="127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49155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引理</a:t>
            </a:r>
            <a:r>
              <a:rPr lang="en-US" altLang="zh-CN" dirty="0">
                <a:solidFill>
                  <a:srgbClr val="FF0000"/>
                </a:solidFill>
              </a:rPr>
              <a:t>6.3  </a:t>
            </a:r>
            <a:r>
              <a:rPr lang="zh-CN" altLang="en-US" dirty="0">
                <a:solidFill>
                  <a:schemeClr val="tx1"/>
                </a:solidFill>
              </a:rPr>
              <a:t>若</a:t>
            </a:r>
            <a:r>
              <a:rPr lang="en-US" altLang="zh-CN" i="1" dirty="0">
                <a:solidFill>
                  <a:schemeClr val="tx1"/>
                </a:solidFill>
              </a:rPr>
              <a:t>V</a:t>
            </a:r>
            <a:r>
              <a:rPr lang="en-US" altLang="zh-CN" dirty="0">
                <a:solidFill>
                  <a:schemeClr val="tx1"/>
                </a:solidFill>
              </a:rPr>
              <a:t>→</a:t>
            </a:r>
            <a:r>
              <a:rPr lang="en-US" altLang="zh-CN" i="1" dirty="0">
                <a:solidFill>
                  <a:schemeClr val="tx1"/>
                </a:solidFill>
              </a:rPr>
              <a:t>W</a:t>
            </a:r>
            <a:r>
              <a:rPr lang="zh-CN" altLang="en-US" dirty="0">
                <a:solidFill>
                  <a:schemeClr val="tx1"/>
                </a:solidFill>
              </a:rPr>
              <a:t>成立，且</a:t>
            </a:r>
            <a:r>
              <a:rPr lang="en-US" altLang="zh-CN" i="1" dirty="0">
                <a:solidFill>
                  <a:schemeClr val="tx1"/>
                </a:solidFill>
              </a:rPr>
              <a:t>V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baseline="-30000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，则</a:t>
            </a:r>
            <a:r>
              <a:rPr lang="en-US" altLang="zh-CN" i="1" dirty="0">
                <a:solidFill>
                  <a:schemeClr val="tx1"/>
                </a:solidFill>
              </a:rPr>
              <a:t>W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i="1" dirty="0">
                <a:solidFill>
                  <a:schemeClr val="tx1"/>
                </a:solidFill>
              </a:rPr>
              <a:t>X</a:t>
            </a:r>
            <a:r>
              <a:rPr lang="en-US" altLang="zh-CN" i="1" baseline="-30000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证</a:t>
            </a:r>
            <a:r>
              <a:rPr lang="en-US" altLang="zh-CN" dirty="0">
                <a:solidFill>
                  <a:srgbClr val="FF0000"/>
                </a:solidFill>
              </a:rPr>
              <a:t>:</a:t>
            </a:r>
            <a:endParaRPr lang="en-US" altLang="zh-CN" dirty="0">
              <a:solidFill>
                <a:srgbClr val="FF0000"/>
              </a:solidFill>
            </a:endParaRPr>
          </a:p>
        </p:txBody>
      </p:sp>
      <p:sp>
        <p:nvSpPr>
          <p:cNvPr id="4915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sp>
        <p:nvSpPr>
          <p:cNvPr id="49157" name="Rectangle 4"/>
          <p:cNvSpPr/>
          <p:nvPr/>
        </p:nvSpPr>
        <p:spPr>
          <a:xfrm>
            <a:off x="304800" y="2374900"/>
            <a:ext cx="1752600" cy="13589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V 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 pitchFamily="18" charset="2"/>
              </a:rPr>
              <a:t> </a:t>
            </a:r>
            <a:r>
              <a:rPr lang="en-US" altLang="zh-CN" b="0" i="1" dirty="0">
                <a:solidFill>
                  <a:schemeClr val="tx1"/>
                </a:solidFill>
              </a:rPr>
              <a:t>X</a:t>
            </a:r>
            <a:r>
              <a:rPr lang="en-US" altLang="zh-CN" b="0" i="1" baseline="-30000" dirty="0">
                <a:solidFill>
                  <a:schemeClr val="tx1"/>
                </a:solidFill>
              </a:rPr>
              <a:t>F</a:t>
            </a:r>
            <a:r>
              <a:rPr lang="en-US" altLang="zh-CN" b="0" baseline="30000" dirty="0">
                <a:solidFill>
                  <a:schemeClr val="tx1"/>
                </a:solidFill>
              </a:rPr>
              <a:t>+</a:t>
            </a:r>
            <a:endParaRPr lang="en-US" altLang="zh-CN" b="0" baseline="3000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zh-CN" altLang="en-US" b="0" dirty="0">
                <a:solidFill>
                  <a:schemeClr val="tx1"/>
                </a:solidFill>
              </a:rPr>
              <a:t>引理</a:t>
            </a:r>
            <a:r>
              <a:rPr lang="en-US" altLang="zh-CN" b="0" dirty="0">
                <a:solidFill>
                  <a:schemeClr val="tx1"/>
                </a:solidFill>
              </a:rPr>
              <a:t>6.2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49158" name="AutoShape 5"/>
          <p:cNvSpPr/>
          <p:nvPr/>
        </p:nvSpPr>
        <p:spPr>
          <a:xfrm>
            <a:off x="2438400" y="2895600"/>
            <a:ext cx="838200" cy="609600"/>
          </a:xfrm>
          <a:prstGeom prst="rightArrow">
            <a:avLst>
              <a:gd name="adj1" fmla="val 48953"/>
              <a:gd name="adj2" fmla="val 46609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9159" name="WordArt 6" descr="白色大理石"/>
          <p:cNvSpPr>
            <a:spLocks noTextEdit="1"/>
          </p:cNvSpPr>
          <p:nvPr/>
        </p:nvSpPr>
        <p:spPr>
          <a:xfrm>
            <a:off x="1905000" y="2590800"/>
            <a:ext cx="4953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Right">
                <a:rot lat="0" lon="0" rev="0"/>
              </a:camera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p>
            <a:pPr algn="ctr"/>
            <a:r>
              <a: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sz="3600" b="1">
              <a:blipFill rotWithShape="0">
                <a:blip r:embed="rId1"/>
              </a:blip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160" name="AutoShape 7"/>
          <p:cNvSpPr/>
          <p:nvPr/>
        </p:nvSpPr>
        <p:spPr>
          <a:xfrm>
            <a:off x="5181600" y="3200400"/>
            <a:ext cx="609600" cy="457200"/>
          </a:xfrm>
          <a:prstGeom prst="rightArrow">
            <a:avLst>
              <a:gd name="adj1" fmla="val 43750"/>
              <a:gd name="adj2" fmla="val 63537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9161" name="Rectangle 8"/>
          <p:cNvSpPr/>
          <p:nvPr/>
        </p:nvSpPr>
        <p:spPr>
          <a:xfrm>
            <a:off x="3276600" y="2654300"/>
            <a:ext cx="1447800" cy="14605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X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b="0" dirty="0">
                <a:solidFill>
                  <a:schemeClr val="tx1"/>
                </a:solidFill>
              </a:rPr>
              <a:t>V</a:t>
            </a:r>
            <a:endParaRPr lang="en-US" altLang="zh-CN" b="0" dirty="0">
              <a:solidFill>
                <a:schemeClr val="tx1"/>
              </a:solidFill>
            </a:endParaRPr>
          </a:p>
          <a:p>
            <a:pPr marL="342900" lvl="0" indent="-342900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V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b="0" dirty="0">
                <a:solidFill>
                  <a:schemeClr val="tx1"/>
                </a:solidFill>
              </a:rPr>
              <a:t>W</a:t>
            </a:r>
            <a:endParaRPr lang="en-US" altLang="zh-CN" b="0" dirty="0">
              <a:solidFill>
                <a:schemeClr val="tx1"/>
              </a:solidFill>
            </a:endParaRPr>
          </a:p>
        </p:txBody>
      </p:sp>
      <p:sp>
        <p:nvSpPr>
          <p:cNvPr id="49162" name="WordArt 9" descr="白色大理石"/>
          <p:cNvSpPr>
            <a:spLocks noTextEdit="1"/>
          </p:cNvSpPr>
          <p:nvPr/>
        </p:nvSpPr>
        <p:spPr>
          <a:xfrm>
            <a:off x="7391400" y="3124200"/>
            <a:ext cx="495300" cy="9191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Right">
                <a:rot lat="0" lon="0" rev="0"/>
              </a:camera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p>
            <a:pPr algn="ctr"/>
            <a:r>
              <a: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sz="3600" b="1">
              <a:blipFill rotWithShape="0">
                <a:blip r:embed="rId1"/>
              </a:blip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163" name="AutoShape 10"/>
          <p:cNvSpPr/>
          <p:nvPr/>
        </p:nvSpPr>
        <p:spPr>
          <a:xfrm>
            <a:off x="2438400" y="5029200"/>
            <a:ext cx="1066800" cy="762000"/>
          </a:xfrm>
          <a:prstGeom prst="rightArrow">
            <a:avLst>
              <a:gd name="adj1" fmla="val 55555"/>
              <a:gd name="adj2" fmla="val 73882"/>
            </a:avLst>
          </a:prstGeom>
          <a:solidFill>
            <a:srgbClr val="FFCC00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0" lvl="0" indent="0" algn="ctr" eaLnBrk="1" hangingPunct="1">
              <a:spcBef>
                <a:spcPct val="0"/>
              </a:spcBef>
              <a:buClrTx/>
              <a:buNone/>
            </a:pPr>
            <a:endParaRPr lang="en-US" altLang="zh-CN" sz="1400" b="0" dirty="0">
              <a:solidFill>
                <a:schemeClr val="tx1"/>
              </a:solidFill>
            </a:endParaRPr>
          </a:p>
        </p:txBody>
      </p:sp>
      <p:sp>
        <p:nvSpPr>
          <p:cNvPr id="49164" name="WordArt 11" descr="白色大理石"/>
          <p:cNvSpPr>
            <a:spLocks noTextEdit="1"/>
          </p:cNvSpPr>
          <p:nvPr/>
        </p:nvSpPr>
        <p:spPr>
          <a:xfrm>
            <a:off x="4572000" y="2895600"/>
            <a:ext cx="495300" cy="1066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normAutofit/>
            <a:scene3d>
              <a:camera prst="legacyObliqueRight">
                <a:rot lat="0" lon="0" rev="0"/>
              </a:camera>
              <a:lightRig rig="legacyHarsh3" dir="t"/>
            </a:scene3d>
            <a:sp3d extrusionH="100000" prstMaterial="legacyMatte">
              <a:extrusionClr>
                <a:srgbClr val="663300"/>
              </a:extrusionClr>
            </a:sp3d>
          </a:bodyPr>
          <a:p>
            <a:pPr algn="ctr"/>
            <a:r>
              <a:rPr lang="en-US" sz="3600" b="1">
                <a:blipFill rotWithShape="0">
                  <a:blip r:embed="rId1"/>
                </a:blipFill>
                <a:latin typeface="宋体" panose="02010600030101010101" pitchFamily="2" charset="-122"/>
                <a:ea typeface="宋体" panose="02010600030101010101" pitchFamily="2" charset="-122"/>
              </a:rPr>
              <a:t>}</a:t>
            </a:r>
            <a:endParaRPr lang="en-US" sz="3600" b="1">
              <a:blipFill rotWithShape="0">
                <a:blip r:embed="rId1"/>
              </a:blip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165" name="Rectangle 12"/>
          <p:cNvSpPr/>
          <p:nvPr/>
        </p:nvSpPr>
        <p:spPr>
          <a:xfrm>
            <a:off x="5867400" y="2921000"/>
            <a:ext cx="1524000" cy="1193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</a:rPr>
              <a:t>X</a:t>
            </a:r>
            <a:r>
              <a:rPr lang="en-US" altLang="zh-CN" sz="2800" b="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b="0" dirty="0">
                <a:solidFill>
                  <a:schemeClr val="tx1"/>
                </a:solidFill>
              </a:rPr>
              <a:t>W</a:t>
            </a:r>
            <a:endParaRPr lang="en-US" altLang="zh-CN" sz="2800" b="0" dirty="0">
              <a:solidFill>
                <a:schemeClr val="tx1"/>
              </a:solidFill>
            </a:endParaRPr>
          </a:p>
          <a:p>
            <a:pPr marL="342900" lvl="0" indent="-342900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chemeClr val="tx1"/>
                </a:solidFill>
              </a:rPr>
              <a:t>引理</a:t>
            </a:r>
            <a:r>
              <a:rPr lang="en-US" altLang="zh-CN" sz="2800" b="0" dirty="0">
                <a:solidFill>
                  <a:schemeClr val="tx1"/>
                </a:solidFill>
              </a:rPr>
              <a:t>6.2</a:t>
            </a:r>
            <a:endParaRPr lang="en-US" altLang="zh-CN" sz="2400" b="0" dirty="0">
              <a:solidFill>
                <a:schemeClr val="tx1"/>
              </a:solidFill>
            </a:endParaRPr>
          </a:p>
        </p:txBody>
      </p:sp>
      <p:sp>
        <p:nvSpPr>
          <p:cNvPr id="49166" name="Rectangle 13"/>
          <p:cNvSpPr/>
          <p:nvPr/>
        </p:nvSpPr>
        <p:spPr>
          <a:xfrm>
            <a:off x="3657600" y="5029200"/>
            <a:ext cx="1981200" cy="68580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>
              <a:lnSpc>
                <a:spcPct val="130000"/>
              </a:lnSpc>
              <a:spcBef>
                <a:spcPct val="0"/>
              </a:spcBef>
              <a:buClrTx/>
              <a:buNone/>
            </a:pPr>
            <a:r>
              <a:rPr lang="en-US" altLang="zh-CN" b="0" dirty="0">
                <a:solidFill>
                  <a:schemeClr val="tx1"/>
                </a:solidFill>
              </a:rPr>
              <a:t>W </a:t>
            </a:r>
            <a:r>
              <a:rPr lang="en-US" altLang="zh-CN" b="0" dirty="0">
                <a:solidFill>
                  <a:schemeClr val="tx1"/>
                </a:solidFill>
                <a:sym typeface="Symbol" panose="05050102010706020507" pitchFamily="18" charset="2"/>
              </a:rPr>
              <a:t> </a:t>
            </a:r>
            <a:r>
              <a:rPr lang="en-US" altLang="zh-CN" b="0" i="1" dirty="0">
                <a:solidFill>
                  <a:schemeClr val="tx1"/>
                </a:solidFill>
              </a:rPr>
              <a:t>X</a:t>
            </a:r>
            <a:r>
              <a:rPr lang="en-US" altLang="zh-CN" b="0" i="1" baseline="-30000" dirty="0">
                <a:solidFill>
                  <a:schemeClr val="tx1"/>
                </a:solidFill>
              </a:rPr>
              <a:t>F</a:t>
            </a:r>
            <a:r>
              <a:rPr lang="en-US" altLang="zh-CN" b="0" baseline="30000" dirty="0">
                <a:solidFill>
                  <a:schemeClr val="tx1"/>
                </a:solidFill>
              </a:rPr>
              <a:t>+</a:t>
            </a:r>
            <a:endParaRPr lang="en-US" altLang="zh-CN" b="0" baseline="300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0179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79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rgbClr val="FF0000"/>
                </a:solidFill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</a:rPr>
              <a:t>闭包的计算</a:t>
            </a:r>
            <a:r>
              <a:rPr lang="en-US" altLang="zh-CN" sz="2800" dirty="0">
                <a:solidFill>
                  <a:srgbClr val="FF0000"/>
                </a:solidFill>
              </a:rPr>
              <a:t>:</a:t>
            </a:r>
            <a:endParaRPr lang="en-US" altLang="zh-CN" sz="2800" dirty="0">
              <a:solidFill>
                <a:srgbClr val="FF0000"/>
              </a:solidFill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问题：有没有一般性的算法判定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Y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是否能由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根据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Armstrong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公理导出？</a:t>
            </a:r>
            <a:endParaRPr lang="zh-CN" altLang="en-US" sz="28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endParaRPr lang="zh-CN" altLang="en-US" sz="28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   如果计算出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3600" b="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，再判断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Y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是否属于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3600" b="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，则由于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3600" b="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的计算非常复杂，实际上是不可行的</a:t>
            </a:r>
            <a:endParaRPr lang="zh-CN" altLang="en-US" sz="28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zh-CN" altLang="en-US" sz="2800" dirty="0">
                <a:solidFill>
                  <a:schemeClr val="accent2"/>
                </a:solidFill>
              </a:rPr>
              <a:t>     例：</a:t>
            </a:r>
            <a:r>
              <a:rPr lang="en-US" altLang="zh-CN" sz="2400" dirty="0">
                <a:solidFill>
                  <a:schemeClr val="accent2"/>
                </a:solidFill>
              </a:rPr>
              <a:t>R (X, Y), F= {X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Y}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，易见</a:t>
            </a:r>
            <a:endParaRPr lang="zh-CN" altLang="en-US" sz="24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F</a:t>
            </a:r>
            <a:r>
              <a:rPr lang="en-US" altLang="zh-CN" sz="2400" baseline="28000" dirty="0">
                <a:solidFill>
                  <a:schemeClr val="accent2"/>
                </a:solidFill>
                <a:sym typeface="Symbol" panose="05050102010706020507" pitchFamily="18" charset="2"/>
              </a:rPr>
              <a:t>+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 = {</a:t>
            </a:r>
            <a:r>
              <a:rPr lang="en-US" altLang="zh-CN" sz="2400" dirty="0">
                <a:solidFill>
                  <a:schemeClr val="accent2"/>
                </a:solidFill>
              </a:rPr>
              <a:t>X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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 </a:t>
            </a:r>
            <a:r>
              <a:rPr lang="en-US" altLang="zh-CN" sz="2400" dirty="0">
                <a:solidFill>
                  <a:schemeClr val="accent2"/>
                </a:solidFill>
              </a:rPr>
              <a:t>X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X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 </a:t>
            </a:r>
            <a:r>
              <a:rPr lang="en-US" altLang="zh-CN" sz="2400" dirty="0">
                <a:solidFill>
                  <a:schemeClr val="accent2"/>
                </a:solidFill>
              </a:rPr>
              <a:t>X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Y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 </a:t>
            </a:r>
            <a:r>
              <a:rPr lang="en-US" altLang="zh-CN" sz="2400" dirty="0">
                <a:solidFill>
                  <a:schemeClr val="accent2"/>
                </a:solidFill>
              </a:rPr>
              <a:t>X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XY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chemeClr val="accent2"/>
                </a:solidFill>
              </a:rPr>
              <a:t>Y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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 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YY,   </a:t>
            </a:r>
            <a:r>
              <a:rPr lang="en-US" altLang="zh-CN" sz="2400" dirty="0">
                <a:solidFill>
                  <a:schemeClr val="accent2"/>
                </a:solidFill>
              </a:rPr>
              <a:t>XY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 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chemeClr val="accent2"/>
                </a:solidFill>
              </a:rPr>
              <a:t>XY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X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chemeClr val="accent2"/>
                </a:solidFill>
              </a:rPr>
              <a:t>XY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Y</a:t>
            </a:r>
            <a:r>
              <a:rPr lang="zh-CN" altLang="en-US" sz="2400" dirty="0">
                <a:solidFill>
                  <a:schemeClr val="accent2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olidFill>
                  <a:schemeClr val="accent2"/>
                </a:solidFill>
              </a:rPr>
              <a:t>XY</a:t>
            </a:r>
            <a:r>
              <a:rPr lang="en-US" altLang="zh-CN" sz="2400" dirty="0">
                <a:solidFill>
                  <a:schemeClr val="accent2"/>
                </a:solidFill>
                <a:sym typeface="Symbol" panose="05050102010706020507" pitchFamily="18" charset="2"/>
              </a:rPr>
              <a:t>XY}</a:t>
            </a:r>
            <a:endParaRPr lang="en-US" altLang="zh-CN" sz="24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endParaRPr lang="en-US" altLang="zh-CN" sz="24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spcBef>
                <a:spcPct val="0"/>
              </a:spcBef>
              <a:buClrTx/>
              <a:buNone/>
            </a:pP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 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由引理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6.2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，判定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X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Y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是否能由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根据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Armstrong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公理导出，可转化为求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z="2800" b="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b="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，判定</a:t>
            </a:r>
            <a:r>
              <a:rPr lang="en-US" altLang="zh-CN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Y X</a:t>
            </a:r>
            <a:r>
              <a:rPr lang="en-US" altLang="zh-CN" sz="2800" b="0" baseline="-25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F</a:t>
            </a:r>
            <a:r>
              <a:rPr lang="en-US" altLang="zh-CN" sz="2800" b="0" baseline="3000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+</a:t>
            </a:r>
            <a:r>
              <a:rPr lang="zh-CN" altLang="en-US" sz="2800" b="0" dirty="0">
                <a:solidFill>
                  <a:schemeClr val="tx1"/>
                </a:solidFill>
                <a:latin typeface="华文新魏" panose="02010800040101010101" pitchFamily="2" charset="-122"/>
                <a:ea typeface="华文新魏" panose="02010800040101010101" pitchFamily="2" charset="-122"/>
                <a:sym typeface="Symbol" panose="05050102010706020507" pitchFamily="18" charset="2"/>
              </a:rPr>
              <a:t>是否成立</a:t>
            </a:r>
            <a:endParaRPr lang="zh-CN" altLang="en-US" sz="2800" b="0" dirty="0">
              <a:solidFill>
                <a:schemeClr val="tx1"/>
              </a:solidFill>
              <a:latin typeface="华文新魏" panose="02010800040101010101" pitchFamily="2" charset="-122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018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120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算法</a:t>
            </a:r>
            <a:r>
              <a:rPr lang="en-US" altLang="zh-CN" dirty="0"/>
              <a:t>6.l  </a:t>
            </a:r>
            <a:r>
              <a:rPr lang="zh-CN" altLang="en-US" dirty="0"/>
              <a:t>求属性集</a:t>
            </a:r>
            <a:r>
              <a:rPr lang="en-US" altLang="zh-CN" i="1" dirty="0"/>
              <a:t>X</a:t>
            </a:r>
            <a:r>
              <a:rPr lang="zh-CN" altLang="en-US" dirty="0"/>
              <a:t>（</a:t>
            </a:r>
            <a:r>
              <a:rPr lang="en-US" altLang="zh-CN" i="1" dirty="0"/>
              <a:t>X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U</a:t>
            </a:r>
            <a:r>
              <a:rPr lang="zh-CN" altLang="en-US" dirty="0"/>
              <a:t>）关于</a:t>
            </a:r>
            <a:r>
              <a:rPr lang="en-US" altLang="zh-CN" i="1" dirty="0"/>
              <a:t>U</a:t>
            </a:r>
            <a:r>
              <a:rPr lang="zh-CN" altLang="en-US" dirty="0"/>
              <a:t>上的函数依</a:t>
            </a:r>
            <a:endParaRPr lang="zh-CN" altLang="en-US" dirty="0"/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dirty="0"/>
              <a:t>              赖集</a:t>
            </a:r>
            <a:r>
              <a:rPr lang="en-US" altLang="zh-CN" i="1" dirty="0"/>
              <a:t>F </a:t>
            </a:r>
            <a:r>
              <a:rPr lang="zh-CN" altLang="en-US" dirty="0"/>
              <a:t>的闭包</a:t>
            </a:r>
            <a:r>
              <a:rPr lang="en-US" altLang="zh-CN" i="1" dirty="0"/>
              <a:t>X</a:t>
            </a:r>
            <a:r>
              <a:rPr lang="en-US" altLang="zh-CN" i="1" baseline="-25000" dirty="0"/>
              <a:t>F</a:t>
            </a:r>
            <a:r>
              <a:rPr lang="en-US" altLang="zh-CN" baseline="30000" dirty="0"/>
              <a:t>+</a:t>
            </a:r>
            <a:r>
              <a:rPr lang="en-US" altLang="zh-CN" dirty="0"/>
              <a:t> </a:t>
            </a:r>
            <a:r>
              <a:rPr lang="zh-CN" altLang="en-US" dirty="0"/>
              <a:t>。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输入：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endParaRPr lang="en-US" altLang="zh-CN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输出：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i="1" baseline="-25000" dirty="0">
                <a:solidFill>
                  <a:schemeClr val="tx1"/>
                </a:solidFill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</a:rPr>
              <a:t>+</a:t>
            </a:r>
            <a:endParaRPr lang="en-US" altLang="zh-CN" sz="2800" baseline="30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步骤： 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i="1" baseline="-25000" dirty="0">
                <a:solidFill>
                  <a:schemeClr val="tx1"/>
                </a:solidFill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</a:rPr>
              <a:t>+</a:t>
            </a:r>
            <a:r>
              <a:rPr lang="en-US" altLang="zh-CN" sz="2800" dirty="0"/>
              <a:t> </a:t>
            </a:r>
            <a:r>
              <a:rPr lang="en-US" altLang="zh-CN" sz="2800" b="0" dirty="0">
                <a:solidFill>
                  <a:schemeClr val="tx1"/>
                </a:solidFill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:= X;</a:t>
            </a:r>
            <a:endParaRPr lang="en-US" altLang="zh-CN" sz="2800" b="0" dirty="0">
              <a:solidFill>
                <a:schemeClr val="tx1"/>
              </a:solidFill>
              <a:latin typeface="Tahoma" panose="020B0604030504040204" pitchFamily="34" charset="0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chemeClr val="hlink"/>
              </a:buClr>
              <a:buSzPct val="55000"/>
              <a:buNone/>
            </a:pP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	   while  (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F</a:t>
            </a:r>
            <a:r>
              <a:rPr lang="en-US" altLang="zh-CN" sz="2400" baseline="30000" dirty="0"/>
              <a:t>+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 </a:t>
            </a:r>
            <a:r>
              <a:rPr lang="zh-CN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发生变化）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do</a:t>
            </a:r>
            <a:endParaRPr lang="en-US" altLang="zh-CN" b="0" dirty="0">
              <a:latin typeface="Tahoma" panose="020B0604030504040204" pitchFamily="34" charset="0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chemeClr val="hlink"/>
              </a:buClr>
              <a:buSzPct val="55000"/>
              <a:buNone/>
            </a:pP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		  for  each </a:t>
            </a:r>
            <a:r>
              <a:rPr lang="zh-CN" altLang="en-US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函数依赖 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AB  in F do</a:t>
            </a:r>
            <a:endParaRPr lang="en-US" altLang="zh-CN" b="0" dirty="0">
              <a:latin typeface="Tahoma" panose="020B0604030504040204" pitchFamily="34" charset="0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chemeClr val="hlink"/>
              </a:buClr>
              <a:buSzPct val="55000"/>
              <a:buNone/>
            </a:pP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			begin</a:t>
            </a:r>
            <a:endParaRPr lang="en-US" altLang="zh-CN" b="0" dirty="0">
              <a:latin typeface="Tahoma" panose="020B0604030504040204" pitchFamily="34" charset="0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chemeClr val="hlink"/>
              </a:buClr>
              <a:buSzPct val="55000"/>
              <a:buNone/>
            </a:pP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				if A 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F</a:t>
            </a:r>
            <a:r>
              <a:rPr lang="en-US" altLang="zh-CN" sz="2400" baseline="30000" dirty="0"/>
              <a:t>+  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 then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F</a:t>
            </a:r>
            <a:r>
              <a:rPr lang="en-US" altLang="zh-CN" sz="2400" baseline="30000" dirty="0"/>
              <a:t>+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 := </a:t>
            </a:r>
            <a:r>
              <a:rPr lang="en-US" altLang="zh-CN" sz="2400" i="1" dirty="0"/>
              <a:t>X</a:t>
            </a:r>
            <a:r>
              <a:rPr lang="en-US" altLang="zh-CN" sz="2400" i="1" baseline="-25000" dirty="0"/>
              <a:t>F</a:t>
            </a:r>
            <a:r>
              <a:rPr lang="en-US" altLang="zh-CN" sz="2400" baseline="30000" dirty="0"/>
              <a:t>+</a:t>
            </a: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 B</a:t>
            </a:r>
            <a:endParaRPr lang="en-US" altLang="zh-CN" b="0" dirty="0">
              <a:latin typeface="Tahoma" panose="020B0604030504040204" pitchFamily="34" charset="0"/>
              <a:ea typeface="华文新魏" panose="0201080004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30000"/>
              </a:spcBef>
              <a:buClr>
                <a:schemeClr val="hlink"/>
              </a:buClr>
              <a:buSzPct val="55000"/>
              <a:buNone/>
            </a:pPr>
            <a:r>
              <a:rPr lang="en-US" altLang="zh-CN" b="0" dirty="0">
                <a:latin typeface="Tahoma" panose="020B0604030504040204" pitchFamily="34" charset="0"/>
                <a:ea typeface="华文新魏" panose="02010800040101010101" pitchFamily="2" charset="-122"/>
                <a:sym typeface="Symbol" panose="05050102010706020507" pitchFamily="18" charset="2"/>
              </a:rPr>
              <a:t>			end</a:t>
            </a:r>
            <a:endParaRPr lang="en-US" altLang="zh-CN" b="0" dirty="0">
              <a:latin typeface="Tahoma" panose="020B0604030504040204" pitchFamily="34" charset="0"/>
              <a:ea typeface="华文新魏" panose="02010800040101010101" pitchFamily="2" charset="-122"/>
              <a:sym typeface="Symbol" panose="05050102010706020507" pitchFamily="18" charset="2"/>
            </a:endParaRPr>
          </a:p>
        </p:txBody>
      </p:sp>
      <p:sp>
        <p:nvSpPr>
          <p:cNvPr id="5120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pSp>
        <p:nvGrpSpPr>
          <p:cNvPr id="51205" name="Group 4"/>
          <p:cNvGrpSpPr/>
          <p:nvPr/>
        </p:nvGrpSpPr>
        <p:grpSpPr>
          <a:xfrm>
            <a:off x="6172200" y="1752600"/>
            <a:ext cx="2233613" cy="1198563"/>
            <a:chOff x="4065" y="1296"/>
            <a:chExt cx="1407" cy="755"/>
          </a:xfrm>
        </p:grpSpPr>
        <p:sp>
          <p:nvSpPr>
            <p:cNvPr id="51207" name="AutoShape 5"/>
            <p:cNvSpPr/>
            <p:nvPr/>
          </p:nvSpPr>
          <p:spPr>
            <a:xfrm>
              <a:off x="4512" y="1488"/>
              <a:ext cx="960" cy="528"/>
            </a:xfrm>
            <a:prstGeom prst="wedgeRoundRectCallout">
              <a:avLst>
                <a:gd name="adj1" fmla="val -38435"/>
                <a:gd name="adj2" fmla="val 9093"/>
                <a:gd name="adj3" fmla="val 16667"/>
              </a:avLst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0" lvl="0" indent="0" algn="ctr" eaLnBrk="1" hangingPunct="1">
                <a:buClr>
                  <a:schemeClr val="bg2"/>
                </a:buClr>
                <a:buFont typeface="Monotype Sorts" pitchFamily="2" charset="2"/>
                <a:buNone/>
              </a:pPr>
              <a:r>
                <a:rPr lang="zh-CN" altLang="en-US" sz="2400" b="0" dirty="0">
                  <a:solidFill>
                    <a:schemeClr val="tx1"/>
                  </a:solidFill>
                  <a:ea typeface="楷体_GB2312" pitchFamily="49" charset="-122"/>
                </a:rPr>
                <a:t>算法会终止吗？</a:t>
              </a:r>
              <a:endParaRPr lang="zh-CN" altLang="en-US" sz="2400" b="0" dirty="0">
                <a:solidFill>
                  <a:schemeClr val="tx1"/>
                </a:solidFill>
              </a:endParaRPr>
            </a:p>
          </p:txBody>
        </p:sp>
        <p:sp>
          <p:nvSpPr>
            <p:cNvPr id="51208" name="Rectangle 6"/>
            <p:cNvSpPr/>
            <p:nvPr/>
          </p:nvSpPr>
          <p:spPr>
            <a:xfrm>
              <a:off x="4464" y="1488"/>
              <a:ext cx="1008" cy="528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lstStyle>
              <a:lvl1pPr marL="342900" indent="-34290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FF3300"/>
                </a:buClr>
                <a:buFont typeface="Wingdings" panose="05000000000000000000" pitchFamily="2" charset="2"/>
                <a:buChar char="§"/>
                <a:defRPr sz="3200">
                  <a:solidFill>
                    <a:srgbClr val="FF3300"/>
                  </a:solidFill>
                  <a:latin typeface="+mn-lt"/>
                  <a:ea typeface="+mn-ea"/>
                  <a:cs typeface="+mn-cs"/>
                </a:defRPr>
              </a:lvl1pPr>
              <a:lvl2pPr marL="742950" indent="-285750" algn="l" rtl="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Font typeface="Wingdings" panose="05000000000000000000" pitchFamily="2" charset="2"/>
                <a:buChar char="§"/>
                <a:defRPr sz="2800" b="1">
                  <a:solidFill>
                    <a:schemeClr val="tx1"/>
                  </a:solidFill>
                  <a:latin typeface="+mn-lt"/>
                  <a:ea typeface="+mn-ea"/>
                </a:defRPr>
              </a:lvl2pPr>
              <a:lvl3pPr marL="11430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sz="2400" b="1">
                  <a:solidFill>
                    <a:schemeClr val="tx1"/>
                  </a:solidFill>
                  <a:latin typeface="+mn-lt"/>
                  <a:ea typeface="楷体_GB2312" pitchFamily="49" charset="-122"/>
                </a:defRPr>
              </a:lvl3pPr>
              <a:lvl4pPr marL="16002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Char char="•"/>
                <a:defRPr sz="2000" b="1">
                  <a:solidFill>
                    <a:schemeClr val="tx1"/>
                  </a:solidFill>
                  <a:latin typeface="+mn-lt"/>
                  <a:ea typeface="+mn-ea"/>
                </a:defRPr>
              </a:lvl4pPr>
              <a:lvl5pPr marL="2057400" indent="-228600" algn="l" rtl="0" eaLnBrk="0" fontAlgn="base" hangingPunct="0">
                <a:spcBef>
                  <a:spcPct val="20000"/>
                </a:spcBef>
                <a:spcAft>
                  <a:spcPct val="0"/>
                </a:spcAft>
                <a:buSzPct val="60000"/>
                <a:buFont typeface="Wingdings" panose="05000000000000000000" pitchFamily="2" charset="2"/>
                <a:buChar char="§"/>
                <a:defRPr sz="2000" b="1">
                  <a:solidFill>
                    <a:schemeClr val="tx1"/>
                  </a:solidFill>
                  <a:latin typeface="+mn-lt"/>
                  <a:ea typeface="仿宋_GB2312" pitchFamily="49" charset="-122"/>
                </a:defRPr>
              </a:lvl5pPr>
            </a:lstStyle>
            <a:p>
              <a:pPr marL="342900" lvl="0" indent="-342900" algn="just" eaLnBrk="1" hangingPunct="1">
                <a:buClr>
                  <a:schemeClr val="bg2"/>
                </a:buClr>
                <a:buFont typeface="Monotype Sorts" pitchFamily="2" charset="2"/>
                <a:buNone/>
              </a:pPr>
              <a:endParaRPr lang="en-US" altLang="en-US" sz="2800" b="0" dirty="0">
                <a:solidFill>
                  <a:schemeClr val="tx1"/>
                </a:solidFill>
                <a:ea typeface="楷体_GB2312" pitchFamily="49" charset="-122"/>
              </a:endParaRPr>
            </a:p>
          </p:txBody>
        </p:sp>
        <p:graphicFrame>
          <p:nvGraphicFramePr>
            <p:cNvPr id="51209" name="Object 7"/>
            <p:cNvGraphicFramePr>
              <a:graphicFrameLocks noChangeAspect="1"/>
            </p:cNvGraphicFramePr>
            <p:nvPr/>
          </p:nvGraphicFramePr>
          <p:xfrm>
            <a:off x="4065" y="1296"/>
            <a:ext cx="351" cy="75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79" name="" r:id="rId1" imgW="1857375" imgH="3996055" progId="MS_ClipArt_Gallery.2">
                    <p:embed/>
                  </p:oleObj>
                </mc:Choice>
                <mc:Fallback>
                  <p:oleObj name="" r:id="rId1" imgW="1857375" imgH="3996055" progId="MS_ClipArt_Gallery.2">
                    <p:embed/>
                    <p:pic>
                      <p:nvPicPr>
                        <p:cNvPr id="0" name="Picture 3078"/>
                        <p:cNvPicPr/>
                        <p:nvPr/>
                      </p:nvPicPr>
                      <p:blipFill>
                        <a:blip r:embed="rId2"/>
                        <a:stretch>
                          <a:fillRect/>
                        </a:stretch>
                      </p:blipFill>
                      <p:spPr>
                        <a:xfrm>
                          <a:off x="4065" y="1296"/>
                          <a:ext cx="351" cy="755"/>
                        </a:xfrm>
                        <a:prstGeom prst="rect">
                          <a:avLst/>
                        </a:prstGeom>
                        <a:noFill/>
                        <a:ln w="38100">
                          <a:noFill/>
                          <a:miter/>
                        </a:ln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3256" name="Rectangle 8"/>
          <p:cNvSpPr/>
          <p:nvPr/>
        </p:nvSpPr>
        <p:spPr>
          <a:xfrm>
            <a:off x="6096000" y="3048000"/>
            <a:ext cx="2614613" cy="533400"/>
          </a:xfrm>
          <a:prstGeom prst="rect">
            <a:avLst/>
          </a:prstGeom>
          <a:solidFill>
            <a:srgbClr val="969696"/>
          </a:solidFill>
          <a:ln w="9525">
            <a:noFill/>
          </a:ln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FF3300"/>
              </a:buClr>
              <a:buFont typeface="Wingdings" panose="05000000000000000000" pitchFamily="2" charset="2"/>
              <a:buChar char="§"/>
              <a:defRPr sz="3200">
                <a:solidFill>
                  <a:srgbClr val="FF33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800" b="1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b="1">
                <a:solidFill>
                  <a:schemeClr val="tx1"/>
                </a:solidFill>
                <a:latin typeface="+mn-lt"/>
                <a:ea typeface="楷体_GB2312" pitchFamily="49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Char char="•"/>
              <a:defRPr sz="2000" b="1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SzPct val="60000"/>
              <a:buFont typeface="Wingdings" panose="05000000000000000000" pitchFamily="2" charset="2"/>
              <a:buChar char="§"/>
              <a:defRPr sz="2000" b="1">
                <a:solidFill>
                  <a:schemeClr val="tx1"/>
                </a:solidFill>
                <a:latin typeface="+mn-lt"/>
                <a:ea typeface="仿宋_GB2312" pitchFamily="49" charset="-122"/>
              </a:defRPr>
            </a:lvl5pPr>
          </a:lstStyle>
          <a:p>
            <a:pPr marL="342900" lvl="0" indent="-342900" algn="ctr" eaLnBrk="1" hangingPunct="1">
              <a:buClr>
                <a:schemeClr val="bg2"/>
              </a:buClr>
              <a:buFont typeface="Monotype Sorts" pitchFamily="2" charset="2"/>
              <a:buNone/>
            </a:pPr>
            <a:r>
              <a:rPr lang="zh-CN" altLang="en-US" sz="2400" b="0" dirty="0">
                <a:solidFill>
                  <a:schemeClr val="tx1"/>
                </a:solidFill>
                <a:ea typeface="楷体_GB2312" pitchFamily="49" charset="-122"/>
              </a:rPr>
              <a:t>最多循环</a:t>
            </a:r>
            <a:r>
              <a:rPr lang="en-US" altLang="zh-CN" sz="2400" b="0" dirty="0">
                <a:solidFill>
                  <a:schemeClr val="tx1"/>
                </a:solidFill>
                <a:ea typeface="楷体_GB2312" pitchFamily="49" charset="-122"/>
              </a:rPr>
              <a:t>|U-X|</a:t>
            </a:r>
            <a:r>
              <a:rPr lang="zh-CN" altLang="en-US" sz="2400" b="0" dirty="0">
                <a:solidFill>
                  <a:schemeClr val="tx1"/>
                </a:solidFill>
                <a:ea typeface="楷体_GB2312" pitchFamily="49" charset="-122"/>
              </a:rPr>
              <a:t>次</a:t>
            </a:r>
            <a:endParaRPr lang="zh-CN" altLang="en-US" sz="2800" b="0" dirty="0">
              <a:solidFill>
                <a:schemeClr val="tx1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6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2227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[</a:t>
            </a:r>
            <a:r>
              <a:rPr lang="zh-CN" altLang="en-US" sz="3600" dirty="0">
                <a:solidFill>
                  <a:schemeClr val="accent2"/>
                </a:solidFill>
                <a:sym typeface="Symbol" panose="05050102010706020507" pitchFamily="18" charset="2"/>
              </a:rPr>
              <a:t>练习</a:t>
            </a:r>
            <a:r>
              <a:rPr lang="en-US" altLang="zh-CN" sz="3600" dirty="0">
                <a:solidFill>
                  <a:schemeClr val="accent2"/>
                </a:solidFill>
                <a:sym typeface="Symbol" panose="05050102010706020507" pitchFamily="18" charset="2"/>
              </a:rPr>
              <a:t>]</a:t>
            </a:r>
            <a:r>
              <a:rPr lang="en-US" altLang="zh-CN" sz="3600" i="1" dirty="0">
                <a:solidFill>
                  <a:schemeClr val="accent2"/>
                </a:solidFill>
                <a:sym typeface="Symbol" panose="05050102010706020507" pitchFamily="18" charset="2"/>
              </a:rPr>
              <a:t> </a:t>
            </a:r>
            <a:r>
              <a:rPr lang="zh-CN" altLang="en-US" sz="3600" i="1" dirty="0">
                <a:solidFill>
                  <a:schemeClr val="accent2"/>
                </a:solidFill>
                <a:sym typeface="Symbol" panose="05050102010706020507" pitchFamily="18" charset="2"/>
              </a:rPr>
              <a:t>证明</a:t>
            </a:r>
            <a:r>
              <a:rPr lang="en-US" altLang="zh-CN" sz="3600" i="1" dirty="0">
                <a:solidFill>
                  <a:schemeClr val="accent2"/>
                </a:solidFill>
                <a:sym typeface="Symbol" panose="05050102010706020507" pitchFamily="18" charset="2"/>
              </a:rPr>
              <a:t>:</a:t>
            </a:r>
            <a:r>
              <a:rPr lang="zh-CN" altLang="en-US" sz="3600" i="1" dirty="0">
                <a:solidFill>
                  <a:schemeClr val="accent2"/>
                </a:solidFill>
                <a:sym typeface="Symbol" panose="05050102010706020507" pitchFamily="18" charset="2"/>
              </a:rPr>
              <a:t>算法</a:t>
            </a:r>
            <a:r>
              <a:rPr lang="en-US" altLang="zh-CN" sz="3600" i="1" dirty="0">
                <a:solidFill>
                  <a:schemeClr val="accent2"/>
                </a:solidFill>
                <a:sym typeface="Symbol" panose="05050102010706020507" pitchFamily="18" charset="2"/>
              </a:rPr>
              <a:t>6.1</a:t>
            </a:r>
            <a:r>
              <a:rPr lang="zh-CN" altLang="en-US" sz="3600" i="1" dirty="0">
                <a:solidFill>
                  <a:schemeClr val="accent2"/>
                </a:solidFill>
                <a:sym typeface="Symbol" panose="05050102010706020507" pitchFamily="18" charset="2"/>
              </a:rPr>
              <a:t>是正确的。</a:t>
            </a:r>
            <a:endParaRPr lang="zh-CN" altLang="en-US" sz="3600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【</a:t>
            </a:r>
            <a:r>
              <a:rPr lang="zh-CN" altLang="en-US" sz="3600" dirty="0">
                <a:solidFill>
                  <a:schemeClr val="tx1"/>
                </a:solidFill>
                <a:sym typeface="Symbol" panose="05050102010706020507" pitchFamily="18" charset="2"/>
              </a:rPr>
              <a:t>例</a:t>
            </a:r>
            <a:r>
              <a:rPr lang="en-US" altLang="zh-CN" sz="3600" dirty="0">
                <a:solidFill>
                  <a:schemeClr val="tx1"/>
                </a:solidFill>
                <a:sym typeface="Symbol" panose="05050102010706020507" pitchFamily="18" charset="2"/>
              </a:rPr>
              <a:t>6.1】 </a:t>
            </a:r>
            <a:r>
              <a:rPr lang="en-US" altLang="zh-CN" dirty="0">
                <a:solidFill>
                  <a:schemeClr val="tx1"/>
                </a:solidFill>
              </a:rPr>
              <a:t>U={A, B, C, D}, F={A </a:t>
            </a:r>
            <a:r>
              <a:rPr lang="en-US" altLang="zh-CN" b="0" dirty="0">
                <a:solidFill>
                  <a:schemeClr val="tx1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tx1"/>
                </a:solidFill>
              </a:rPr>
              <a:t> B, BC </a:t>
            </a:r>
            <a:r>
              <a:rPr lang="en-US" altLang="zh-CN" b="0" dirty="0">
                <a:solidFill>
                  <a:schemeClr val="tx1"/>
                </a:solidFill>
                <a:ea typeface="华文新魏" panose="020108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chemeClr val="tx1"/>
                </a:solidFill>
              </a:rPr>
              <a:t> D};</a:t>
            </a:r>
            <a:r>
              <a:rPr lang="zh-CN" altLang="en-US" dirty="0">
                <a:solidFill>
                  <a:schemeClr val="tx1"/>
                </a:solidFill>
              </a:rPr>
              <a:t>求</a:t>
            </a:r>
            <a:r>
              <a:rPr lang="en-US" altLang="zh-CN" dirty="0">
                <a:solidFill>
                  <a:schemeClr val="tx1"/>
                </a:solidFill>
              </a:rPr>
              <a:t>A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,C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,(AC)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baseline="300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    A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 = AB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 C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 = C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 (AC)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 = ABCD</a:t>
            </a: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en-US" altLang="zh-CN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5222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3251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【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例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6.2】  </a:t>
            </a:r>
            <a:r>
              <a:rPr lang="en-US" altLang="zh-CN" dirty="0">
                <a:solidFill>
                  <a:schemeClr val="tx1"/>
                </a:solidFill>
              </a:rPr>
              <a:t>R&lt; U, F &gt;, U = (A, B, C, D, E), F = {AB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C</a:t>
            </a:r>
            <a:r>
              <a:rPr lang="en-US" altLang="zh-CN" dirty="0">
                <a:solidFill>
                  <a:schemeClr val="tx1"/>
                </a:solidFill>
              </a:rPr>
              <a:t>, B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D, CE, CEB, ACB}, 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计算</a:t>
            </a:r>
            <a:r>
              <a:rPr lang="en-US" altLang="zh-CN" dirty="0">
                <a:solidFill>
                  <a:schemeClr val="tx1"/>
                </a:solidFill>
              </a:rPr>
              <a:t>(AB)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			</a:t>
            </a:r>
            <a:r>
              <a:rPr lang="zh-CN" altLang="en-US" sz="3200" dirty="0">
                <a:sym typeface="Symbol" panose="05050102010706020507" pitchFamily="18" charset="2"/>
              </a:rPr>
              <a:t>所用依赖		</a:t>
            </a:r>
            <a:r>
              <a:rPr lang="en-US" altLang="zh-CN" sz="3200" dirty="0"/>
              <a:t>(AB)</a:t>
            </a:r>
            <a:r>
              <a:rPr lang="en-US" altLang="zh-CN" sz="3200" baseline="-25000" dirty="0"/>
              <a:t>F</a:t>
            </a:r>
            <a:r>
              <a:rPr lang="en-US" altLang="zh-CN" sz="3200" baseline="30000" dirty="0"/>
              <a:t>+</a:t>
            </a:r>
            <a:endParaRPr lang="en-US" altLang="zh-CN" sz="3200" baseline="30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baseline="30000" dirty="0"/>
              <a:t>						</a:t>
            </a:r>
            <a:r>
              <a:rPr lang="en-US" altLang="zh-CN" sz="3200" dirty="0"/>
              <a:t>AB</a:t>
            </a:r>
            <a:r>
              <a:rPr lang="en-US" altLang="zh-CN" sz="3200" dirty="0">
                <a:sym typeface="Symbol" panose="05050102010706020507" pitchFamily="18" charset="2"/>
              </a:rPr>
              <a:t>			   		              </a:t>
            </a:r>
            <a:r>
              <a:rPr lang="en-US" altLang="zh-CN" sz="3200" dirty="0"/>
              <a:t>AB</a:t>
            </a:r>
            <a:r>
              <a:rPr lang="en-US" altLang="zh-CN" sz="3200" dirty="0"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sz="3200" dirty="0"/>
              <a:t>		 AB</a:t>
            </a:r>
            <a:r>
              <a:rPr lang="en-US" altLang="zh-CN" sz="3200" dirty="0">
                <a:solidFill>
                  <a:srgbClr val="FF0000"/>
                </a:solidFill>
              </a:rPr>
              <a:t>C</a:t>
            </a:r>
            <a:r>
              <a:rPr lang="en-US" altLang="zh-CN" sz="3200" dirty="0">
                <a:sym typeface="Symbol" panose="05050102010706020507" pitchFamily="18" charset="2"/>
              </a:rPr>
              <a:t> 	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			      B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D</a:t>
            </a:r>
            <a:r>
              <a:rPr lang="en-US" altLang="zh-CN" sz="3200" dirty="0">
                <a:sym typeface="Symbol" panose="05050102010706020507" pitchFamily="18" charset="2"/>
              </a:rPr>
              <a:t>		    ABC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D</a:t>
            </a:r>
            <a:endParaRPr lang="en-US" altLang="zh-CN" sz="32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			      C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n-US" altLang="zh-CN" sz="3200" dirty="0">
                <a:sym typeface="Symbol" panose="05050102010706020507" pitchFamily="18" charset="2"/>
              </a:rPr>
              <a:t>		   ABCD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endParaRPr lang="en-US" altLang="zh-CN" sz="32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				 </a:t>
            </a:r>
            <a:r>
              <a:rPr lang="en-US" altLang="zh-CN" sz="3200" dirty="0"/>
              <a:t>(AB)</a:t>
            </a:r>
            <a:r>
              <a:rPr lang="en-US" altLang="zh-CN" sz="3200" baseline="-25000" dirty="0"/>
              <a:t>F</a:t>
            </a:r>
            <a:r>
              <a:rPr lang="en-US" altLang="zh-CN" sz="3200" baseline="30000" dirty="0"/>
              <a:t>+</a:t>
            </a:r>
            <a:r>
              <a:rPr lang="en-US" altLang="zh-CN" sz="3200" dirty="0">
                <a:sym typeface="Symbol" panose="05050102010706020507" pitchFamily="18" charset="2"/>
              </a:rPr>
              <a:t> =  ABCDE</a:t>
            </a:r>
            <a:endParaRPr lang="en-US" altLang="zh-CN" sz="3200" dirty="0">
              <a:sym typeface="Symbol" panose="05050102010706020507" pitchFamily="18" charset="2"/>
            </a:endParaRPr>
          </a:p>
        </p:txBody>
      </p:sp>
      <p:sp>
        <p:nvSpPr>
          <p:cNvPr id="5325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4275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6.3】 </a:t>
            </a:r>
            <a:r>
              <a:rPr lang="en-US" altLang="zh-CN" sz="2800" dirty="0">
                <a:solidFill>
                  <a:schemeClr val="tx1"/>
                </a:solidFill>
              </a:rPr>
              <a:t>R&lt; U, F &gt;, U = (A, B, C, G, H, I), F = {A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dirty="0">
                <a:solidFill>
                  <a:schemeClr val="tx1"/>
                </a:solidFill>
              </a:rPr>
              <a:t>B, A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C, CGH, CGI, BH}, 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计算</a:t>
            </a:r>
            <a:r>
              <a:rPr lang="en-US" altLang="zh-CN" sz="2800" dirty="0">
                <a:solidFill>
                  <a:schemeClr val="tx1"/>
                </a:solidFill>
              </a:rPr>
              <a:t>(AG)</a:t>
            </a:r>
            <a:r>
              <a:rPr lang="en-US" altLang="zh-CN" sz="2800" baseline="-25000" dirty="0">
                <a:solidFill>
                  <a:schemeClr val="tx1"/>
                </a:solidFill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</a:rPr>
              <a:t>+</a:t>
            </a:r>
            <a:endParaRPr lang="en-US" altLang="zh-CN" sz="2800" baseline="300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en-US" altLang="zh-CN" sz="24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2400" dirty="0">
                <a:sym typeface="Symbol" panose="05050102010706020507" pitchFamily="18" charset="2"/>
              </a:rPr>
              <a:t>			</a:t>
            </a:r>
            <a:r>
              <a:rPr lang="zh-CN" altLang="en-US" dirty="0">
                <a:sym typeface="Symbol" panose="05050102010706020507" pitchFamily="18" charset="2"/>
              </a:rPr>
              <a:t>所用依赖		</a:t>
            </a:r>
            <a:r>
              <a:rPr lang="en-US" altLang="zh-CN" dirty="0"/>
              <a:t>(AG)</a:t>
            </a:r>
            <a:r>
              <a:rPr lang="en-US" altLang="zh-CN" baseline="-25000" dirty="0"/>
              <a:t>F</a:t>
            </a:r>
            <a:r>
              <a:rPr lang="en-US" altLang="zh-CN" baseline="30000" dirty="0"/>
              <a:t>+</a:t>
            </a:r>
            <a:endParaRPr lang="en-US" altLang="zh-CN" baseline="30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baseline="30000" dirty="0"/>
              <a:t>						</a:t>
            </a:r>
            <a:r>
              <a:rPr lang="en-US" altLang="zh-CN" dirty="0"/>
              <a:t>AG</a:t>
            </a:r>
            <a:r>
              <a:rPr lang="en-US" altLang="zh-CN" dirty="0">
                <a:sym typeface="Symbol" panose="05050102010706020507" pitchFamily="18" charset="2"/>
              </a:rPr>
              <a:t>			   		                 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zh-CN" dirty="0"/>
              <a:t>		A</a:t>
            </a:r>
            <a:r>
              <a:rPr lang="en-US" altLang="zh-CN" dirty="0">
                <a:solidFill>
                  <a:srgbClr val="FF0000"/>
                </a:solidFill>
              </a:rPr>
              <a:t>B</a:t>
            </a:r>
            <a:r>
              <a:rPr lang="en-US" altLang="zh-CN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 	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		                 A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		AB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G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			     CG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		ABCG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H</a:t>
            </a:r>
            <a:endParaRPr lang="en-US" altLang="zh-CN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                    CG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zh-CN" dirty="0">
                <a:sym typeface="Symbol" panose="05050102010706020507" pitchFamily="18" charset="2"/>
              </a:rPr>
              <a:t>		ABCGH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endParaRPr lang="en-US" altLang="zh-CN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en-US" altLang="zh-CN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None/>
            </a:pPr>
            <a:r>
              <a:rPr lang="en-US" altLang="zh-CN" dirty="0">
                <a:sym typeface="Symbol" panose="05050102010706020507" pitchFamily="18" charset="2"/>
              </a:rPr>
              <a:t>				 </a:t>
            </a:r>
            <a:r>
              <a:rPr lang="en-US" altLang="zh-CN" dirty="0"/>
              <a:t>(AG)</a:t>
            </a:r>
            <a:r>
              <a:rPr lang="en-US" altLang="zh-CN" baseline="-25000" dirty="0"/>
              <a:t>F</a:t>
            </a:r>
            <a:r>
              <a:rPr lang="en-US" altLang="zh-CN" baseline="30000" dirty="0"/>
              <a:t>+</a:t>
            </a:r>
            <a:r>
              <a:rPr lang="en-US" altLang="zh-CN" dirty="0">
                <a:sym typeface="Symbol" panose="05050102010706020507" pitchFamily="18" charset="2"/>
              </a:rPr>
              <a:t> =  ABCGHI</a:t>
            </a: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5427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85" end="1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01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45" end="1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74" end="1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194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5">
                                            <p:txEl>
                                              <p:charRg st="228" end="2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5299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【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例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6.4】 </a:t>
            </a:r>
            <a:r>
              <a:rPr lang="en-US" altLang="zh-CN" dirty="0">
                <a:solidFill>
                  <a:schemeClr val="tx1"/>
                </a:solidFill>
              </a:rPr>
              <a:t>R&lt; U, F &gt;, U = (A, B, C, D, E, G), F = {A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E</a:t>
            </a:r>
            <a:r>
              <a:rPr lang="en-US" altLang="zh-CN" dirty="0">
                <a:solidFill>
                  <a:schemeClr val="tx1"/>
                </a:solidFill>
              </a:rPr>
              <a:t>, BE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AG, CEA, GD},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计算</a:t>
            </a:r>
            <a:r>
              <a:rPr lang="en-US" altLang="zh-CN" dirty="0">
                <a:solidFill>
                  <a:schemeClr val="tx1"/>
                </a:solidFill>
              </a:rPr>
              <a:t>(AB)</a:t>
            </a:r>
            <a:r>
              <a:rPr lang="en-US" altLang="zh-CN" baseline="-25000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90000"/>
              </a:lnSpc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dirty="0">
                <a:sym typeface="Symbol" panose="05050102010706020507" pitchFamily="18" charset="2"/>
              </a:rPr>
              <a:t>			</a:t>
            </a:r>
            <a:r>
              <a:rPr lang="zh-CN" altLang="en-US" sz="3200" dirty="0">
                <a:sym typeface="Symbol" panose="05050102010706020507" pitchFamily="18" charset="2"/>
              </a:rPr>
              <a:t>所用依赖		</a:t>
            </a:r>
            <a:r>
              <a:rPr lang="en-US" altLang="zh-CN" sz="3200" dirty="0"/>
              <a:t>(AB)</a:t>
            </a:r>
            <a:r>
              <a:rPr lang="en-US" altLang="zh-CN" sz="3200" baseline="-25000" dirty="0"/>
              <a:t>F</a:t>
            </a:r>
            <a:r>
              <a:rPr lang="en-US" altLang="zh-CN" sz="3200" baseline="30000" dirty="0"/>
              <a:t>+</a:t>
            </a:r>
            <a:endParaRPr lang="en-US" altLang="zh-CN" sz="3200" baseline="30000" dirty="0"/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baseline="30000" dirty="0"/>
              <a:t>						</a:t>
            </a:r>
            <a:r>
              <a:rPr lang="en-US" altLang="zh-CN" sz="3200" dirty="0"/>
              <a:t>AB</a:t>
            </a:r>
            <a:r>
              <a:rPr lang="en-US" altLang="zh-CN" sz="3200" dirty="0">
                <a:sym typeface="Symbol" panose="05050102010706020507" pitchFamily="18" charset="2"/>
              </a:rPr>
              <a:t>			   		                 </a:t>
            </a:r>
            <a:r>
              <a:rPr lang="en-US" altLang="zh-CN" sz="3200" dirty="0"/>
              <a:t>A</a:t>
            </a:r>
            <a:r>
              <a:rPr lang="en-US" altLang="zh-CN" sz="3200" dirty="0">
                <a:sym typeface="Symbol" panose="05050102010706020507" pitchFamily="18" charset="2"/>
              </a:rPr>
              <a:t>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E</a:t>
            </a:r>
            <a:r>
              <a:rPr lang="en-US" altLang="zh-CN" sz="3200" dirty="0"/>
              <a:t>		         AB</a:t>
            </a:r>
            <a:r>
              <a:rPr lang="en-US" altLang="zh-CN" sz="3200" dirty="0">
                <a:solidFill>
                  <a:srgbClr val="FF0000"/>
                </a:solidFill>
              </a:rPr>
              <a:t>E</a:t>
            </a:r>
            <a:r>
              <a:rPr lang="en-US" altLang="zh-CN" sz="3200" dirty="0">
                <a:sym typeface="Symbol" panose="05050102010706020507" pitchFamily="18" charset="2"/>
              </a:rPr>
              <a:t> 	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		            BE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AG</a:t>
            </a:r>
            <a:r>
              <a:rPr lang="en-US" altLang="zh-CN" sz="3200" dirty="0">
                <a:sym typeface="Symbol" panose="05050102010706020507" pitchFamily="18" charset="2"/>
              </a:rPr>
              <a:t>	         ABE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endParaRPr lang="en-US" altLang="zh-CN" sz="32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			       G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D</a:t>
            </a:r>
            <a:r>
              <a:rPr lang="en-US" altLang="zh-CN" sz="3200" dirty="0">
                <a:sym typeface="Symbol" panose="05050102010706020507" pitchFamily="18" charset="2"/>
              </a:rPr>
              <a:t>		         AB</a:t>
            </a:r>
            <a:r>
              <a:rPr lang="en-US" altLang="zh-CN" sz="3200" dirty="0">
                <a:solidFill>
                  <a:srgbClr val="FF0000"/>
                </a:solidFill>
                <a:sym typeface="Symbol" panose="05050102010706020507" pitchFamily="18" charset="2"/>
              </a:rPr>
              <a:t>D</a:t>
            </a:r>
            <a:r>
              <a:rPr lang="en-US" altLang="zh-CN" sz="3200" dirty="0">
                <a:sym typeface="Symbol" panose="05050102010706020507" pitchFamily="18" charset="2"/>
              </a:rPr>
              <a:t>EG</a:t>
            </a:r>
            <a:endParaRPr lang="en-US" altLang="zh-CN" sz="32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                    </a:t>
            </a:r>
            <a:endParaRPr lang="en-US" altLang="zh-CN" sz="3200" dirty="0">
              <a:solidFill>
                <a:srgbClr val="FF0000"/>
              </a:solidFill>
              <a:sym typeface="Symbol" panose="05050102010706020507" pitchFamily="18" charset="2"/>
            </a:endParaRPr>
          </a:p>
          <a:p>
            <a:pPr lvl="1" eaLnBrk="1" hangingPunct="1">
              <a:lnSpc>
                <a:spcPct val="90000"/>
              </a:lnSpc>
              <a:spcBef>
                <a:spcPct val="40000"/>
              </a:spcBef>
              <a:buNone/>
            </a:pPr>
            <a:r>
              <a:rPr lang="en-US" altLang="zh-CN" sz="3200" dirty="0">
                <a:sym typeface="Symbol" panose="05050102010706020507" pitchFamily="18" charset="2"/>
              </a:rPr>
              <a:t>				 </a:t>
            </a:r>
            <a:r>
              <a:rPr lang="en-US" altLang="zh-CN" sz="3200" dirty="0"/>
              <a:t>(AB)</a:t>
            </a:r>
            <a:r>
              <a:rPr lang="en-US" altLang="zh-CN" sz="3200" baseline="-25000" dirty="0"/>
              <a:t>F</a:t>
            </a:r>
            <a:r>
              <a:rPr lang="en-US" altLang="zh-CN" sz="3200" baseline="30000" dirty="0"/>
              <a:t>+</a:t>
            </a:r>
            <a:r>
              <a:rPr lang="en-US" altLang="zh-CN" sz="3200" dirty="0">
                <a:sym typeface="Symbol" panose="05050102010706020507" pitchFamily="18" charset="2"/>
              </a:rPr>
              <a:t> =  ABDEG</a:t>
            </a:r>
            <a:endParaRPr lang="en-US" altLang="zh-CN" sz="3200" dirty="0">
              <a:sym typeface="Symbol" panose="05050102010706020507" pitchFamily="18" charset="2"/>
            </a:endParaRPr>
          </a:p>
        </p:txBody>
      </p:sp>
      <p:sp>
        <p:nvSpPr>
          <p:cNvPr id="5530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81" end="9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97" end="1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150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184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214" end="23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299">
                                            <p:txEl>
                                              <p:charRg st="235" end="2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6323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【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例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6.5】 </a:t>
            </a:r>
            <a:r>
              <a:rPr lang="en-US" altLang="zh-CN" dirty="0">
                <a:solidFill>
                  <a:schemeClr val="tx1"/>
                </a:solidFill>
              </a:rPr>
              <a:t>R&lt; U, F &gt;, U = (C, T, H, R, S), F = {C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T</a:t>
            </a:r>
            <a:r>
              <a:rPr lang="en-US" altLang="zh-CN" dirty="0">
                <a:solidFill>
                  <a:schemeClr val="tx1"/>
                </a:solidFill>
              </a:rPr>
              <a:t>, HR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C, HTR, HSR},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问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HR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是码吗？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HS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呢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?</a:t>
            </a:r>
            <a:endParaRPr lang="en-US" altLang="zh-CN" baseline="30000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buNone/>
            </a:pPr>
            <a:r>
              <a:rPr lang="en-US" altLang="zh-CN" sz="3200" dirty="0"/>
              <a:t>   (HR)</a:t>
            </a:r>
            <a:r>
              <a:rPr lang="en-US" altLang="zh-CN" sz="3200" baseline="-25000" dirty="0"/>
              <a:t>F</a:t>
            </a:r>
            <a:r>
              <a:rPr lang="en-US" altLang="zh-CN" sz="3200" baseline="30000" dirty="0"/>
              <a:t>+ </a:t>
            </a:r>
            <a:r>
              <a:rPr lang="en-US" altLang="zh-CN" sz="3200" dirty="0"/>
              <a:t>= CTHR</a:t>
            </a:r>
            <a:endParaRPr lang="en-US" altLang="zh-CN" sz="3200" dirty="0"/>
          </a:p>
          <a:p>
            <a:pPr lvl="1" eaLnBrk="1" hangingPunct="1">
              <a:buNone/>
            </a:pPr>
            <a:r>
              <a:rPr lang="en-US" altLang="zh-CN" sz="3200" dirty="0"/>
              <a:t>   (HS)</a:t>
            </a:r>
            <a:r>
              <a:rPr lang="en-US" altLang="zh-CN" sz="3200" baseline="-25000" dirty="0"/>
              <a:t>F</a:t>
            </a:r>
            <a:r>
              <a:rPr lang="en-US" altLang="zh-CN" sz="3200" baseline="30000" dirty="0"/>
              <a:t>+ </a:t>
            </a:r>
            <a:r>
              <a:rPr lang="en-US" altLang="zh-CN" sz="3200" dirty="0"/>
              <a:t>= CTHRS</a:t>
            </a:r>
            <a:endParaRPr lang="en-US" altLang="zh-CN" sz="3200" dirty="0"/>
          </a:p>
          <a:p>
            <a:pPr lvl="1" eaLnBrk="1" hangingPunct="1">
              <a:buNone/>
            </a:pPr>
            <a:endParaRPr lang="en-US" altLang="zh-CN" sz="3200" dirty="0"/>
          </a:p>
          <a:p>
            <a:pPr lvl="1" eaLnBrk="1" hangingPunct="1">
              <a:buNone/>
            </a:pPr>
            <a:r>
              <a:rPr lang="en-US" altLang="zh-CN" sz="3200" dirty="0"/>
              <a:t>   </a:t>
            </a:r>
            <a:r>
              <a:rPr lang="zh-CN" altLang="en-US" sz="3200" dirty="0"/>
              <a:t>由引理</a:t>
            </a:r>
            <a:r>
              <a:rPr lang="en-US" altLang="zh-CN" sz="3200" dirty="0"/>
              <a:t>5.2 , HS </a:t>
            </a:r>
            <a:r>
              <a:rPr lang="en-US" altLang="zh-CN" sz="3200" dirty="0">
                <a:sym typeface="Symbol" panose="05050102010706020507" pitchFamily="18" charset="2"/>
              </a:rPr>
              <a:t>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sz="3200" dirty="0">
                <a:sym typeface="Symbol" panose="05050102010706020507" pitchFamily="18" charset="2"/>
              </a:rPr>
              <a:t>CTHRS, </a:t>
            </a:r>
            <a:r>
              <a:rPr lang="zh-CN" altLang="en-US" sz="3200" dirty="0">
                <a:sym typeface="Symbol" panose="05050102010706020507" pitchFamily="18" charset="2"/>
              </a:rPr>
              <a:t>由码的定义知</a:t>
            </a:r>
            <a:r>
              <a:rPr lang="en-US" altLang="zh-CN" sz="3200" dirty="0">
                <a:sym typeface="Symbol" panose="05050102010706020507" pitchFamily="18" charset="2"/>
              </a:rPr>
              <a:t>HS</a:t>
            </a:r>
            <a:r>
              <a:rPr lang="zh-CN" altLang="en-US" sz="3200" dirty="0">
                <a:sym typeface="Symbol" panose="05050102010706020507" pitchFamily="18" charset="2"/>
              </a:rPr>
              <a:t>是码</a:t>
            </a:r>
            <a:endParaRPr lang="zh-CN" altLang="en-US" sz="3200" dirty="0">
              <a:sym typeface="Symbol" panose="05050102010706020507" pitchFamily="18" charset="2"/>
            </a:endParaRPr>
          </a:p>
        </p:txBody>
      </p:sp>
      <p:sp>
        <p:nvSpPr>
          <p:cNvPr id="5632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7347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5626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  <a:sym typeface="Symbol" panose="05050102010706020507" pitchFamily="18" charset="2"/>
              </a:rPr>
              <a:t>定理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6.2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Armstrong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公理系统是有效的、完备的</a:t>
            </a:r>
            <a:endParaRPr lang="zh-CN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endParaRPr lang="zh-CN" altLang="en-US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buNone/>
            </a:pPr>
            <a:r>
              <a:rPr lang="zh-CN" altLang="en-US" dirty="0"/>
              <a:t>   有效性：</a:t>
            </a:r>
            <a:r>
              <a:rPr lang="zh-CN" altLang="en-US" dirty="0">
                <a:solidFill>
                  <a:schemeClr val="tx1"/>
                </a:solidFill>
              </a:rPr>
              <a:t>由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出发，根据</a:t>
            </a:r>
            <a:r>
              <a:rPr lang="en-US" altLang="zh-CN" dirty="0">
                <a:solidFill>
                  <a:schemeClr val="tx1"/>
                </a:solidFill>
              </a:rPr>
              <a:t>Armstrong</a:t>
            </a:r>
            <a:r>
              <a:rPr lang="zh-CN" altLang="en-US" dirty="0">
                <a:solidFill>
                  <a:schemeClr val="tx1"/>
                </a:solidFill>
              </a:rPr>
              <a:t>公理推导出来的每一个函数依赖一定在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中。</a:t>
            </a:r>
            <a:r>
              <a:rPr lang="en-US" altLang="zh-CN" dirty="0">
                <a:solidFill>
                  <a:srgbClr val="FF0000"/>
                </a:solidFill>
              </a:rPr>
              <a:t>(</a:t>
            </a:r>
            <a:r>
              <a:rPr lang="zh-CN" altLang="en-US" dirty="0">
                <a:solidFill>
                  <a:srgbClr val="FF0000"/>
                </a:solidFill>
              </a:rPr>
              <a:t>已证</a:t>
            </a:r>
            <a:r>
              <a:rPr lang="en-US" altLang="zh-CN" dirty="0">
                <a:solidFill>
                  <a:srgbClr val="FF0000"/>
                </a:solidFill>
              </a:rPr>
              <a:t>)</a:t>
            </a:r>
            <a:endParaRPr lang="en-US" altLang="zh-CN" dirty="0">
              <a:solidFill>
                <a:srgbClr val="FF0000"/>
              </a:solidFill>
            </a:endParaRPr>
          </a:p>
          <a:p>
            <a:pPr eaLnBrk="1" hangingPunct="1">
              <a:buNone/>
            </a:pPr>
            <a:endParaRPr lang="en-US" altLang="zh-CN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dirty="0"/>
              <a:t>   </a:t>
            </a:r>
            <a:r>
              <a:rPr lang="zh-CN" altLang="en-US" dirty="0"/>
              <a:t>完备性：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中的每一个函数依赖， 必定可以由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出发，根据</a:t>
            </a:r>
            <a:r>
              <a:rPr lang="en-US" altLang="zh-CN" dirty="0">
                <a:solidFill>
                  <a:schemeClr val="tx1"/>
                </a:solidFill>
              </a:rPr>
              <a:t>Armstrong</a:t>
            </a:r>
            <a:r>
              <a:rPr lang="zh-CN" altLang="en-US" dirty="0">
                <a:solidFill>
                  <a:schemeClr val="tx1"/>
                </a:solidFill>
              </a:rPr>
              <a:t>公理推导出来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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zh-CN" altLang="en-US" sz="2800" dirty="0"/>
              <a:t>     所有不能用</a:t>
            </a:r>
            <a:r>
              <a:rPr lang="en-US" altLang="zh-CN" sz="2800" dirty="0"/>
              <a:t>Armstrong</a:t>
            </a:r>
            <a:r>
              <a:rPr lang="zh-CN" altLang="en-US" sz="2800" dirty="0"/>
              <a:t>公理推导出来</a:t>
            </a:r>
            <a:r>
              <a:rPr lang="en-US" altLang="zh-CN" dirty="0"/>
              <a:t>f, </a:t>
            </a:r>
            <a:r>
              <a:rPr lang="zh-CN" altLang="en-US" sz="2800" dirty="0"/>
              <a:t>都不为真</a:t>
            </a:r>
            <a:endParaRPr lang="zh-CN" altLang="en-US" sz="2800" dirty="0"/>
          </a:p>
        </p:txBody>
      </p:sp>
      <p:sp>
        <p:nvSpPr>
          <p:cNvPr id="5734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8371" name="Rectangle 2"/>
          <p:cNvSpPr>
            <a:spLocks noGrp="1"/>
          </p:cNvSpPr>
          <p:nvPr>
            <p:ph idx="1"/>
          </p:nvPr>
        </p:nvSpPr>
        <p:spPr>
          <a:xfrm>
            <a:off x="304800" y="838200"/>
            <a:ext cx="8610600" cy="5791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   </a:t>
            </a:r>
            <a:r>
              <a:rPr lang="zh-CN" altLang="en-US" dirty="0">
                <a:solidFill>
                  <a:schemeClr val="accent2"/>
                </a:solidFill>
                <a:sym typeface="Symbol" panose="05050102010706020507" pitchFamily="18" charset="2"/>
              </a:rPr>
              <a:t>证明</a:t>
            </a:r>
            <a:r>
              <a:rPr lang="en-US" altLang="zh-CN" dirty="0">
                <a:solidFill>
                  <a:schemeClr val="accent2"/>
                </a:solidFill>
                <a:sym typeface="Symbol" panose="05050102010706020507" pitchFamily="18" charset="2"/>
              </a:rPr>
              <a:t>: </a:t>
            </a:r>
            <a:r>
              <a:rPr lang="zh-CN" altLang="en-US" dirty="0">
                <a:solidFill>
                  <a:schemeClr val="accent2"/>
                </a:solidFill>
              </a:rPr>
              <a:t>若</a:t>
            </a:r>
            <a:r>
              <a:rPr lang="en-US" altLang="zh-CN" i="1" dirty="0">
                <a:solidFill>
                  <a:schemeClr val="accent2"/>
                </a:solidFill>
              </a:rPr>
              <a:t>X</a:t>
            </a:r>
            <a:r>
              <a:rPr lang="en-US" altLang="zh-CN" dirty="0">
                <a:solidFill>
                  <a:schemeClr val="accent2"/>
                </a:solidFill>
              </a:rPr>
              <a:t>→</a:t>
            </a:r>
            <a:r>
              <a:rPr lang="en-US" altLang="zh-CN" i="1" dirty="0">
                <a:solidFill>
                  <a:schemeClr val="accent2"/>
                </a:solidFill>
              </a:rPr>
              <a:t>Y</a:t>
            </a:r>
            <a:r>
              <a:rPr lang="zh-CN" altLang="en-US" dirty="0">
                <a:solidFill>
                  <a:schemeClr val="accent2"/>
                </a:solidFill>
              </a:rPr>
              <a:t>不能由</a:t>
            </a:r>
            <a:r>
              <a:rPr lang="en-US" altLang="zh-CN" i="1" dirty="0">
                <a:solidFill>
                  <a:schemeClr val="accent2"/>
                </a:solidFill>
              </a:rPr>
              <a:t>F</a:t>
            </a:r>
            <a:r>
              <a:rPr lang="zh-CN" altLang="en-US" dirty="0">
                <a:solidFill>
                  <a:schemeClr val="accent2"/>
                </a:solidFill>
              </a:rPr>
              <a:t>从</a:t>
            </a:r>
            <a:r>
              <a:rPr lang="en-US" altLang="zh-CN" dirty="0">
                <a:solidFill>
                  <a:schemeClr val="accent2"/>
                </a:solidFill>
              </a:rPr>
              <a:t>Armstrong</a:t>
            </a:r>
            <a:r>
              <a:rPr lang="zh-CN" altLang="en-US" dirty="0">
                <a:solidFill>
                  <a:schemeClr val="accent2"/>
                </a:solidFill>
              </a:rPr>
              <a:t>公理导出，那么它必然不为</a:t>
            </a:r>
            <a:r>
              <a:rPr lang="en-US" altLang="zh-CN" i="1" dirty="0">
                <a:solidFill>
                  <a:schemeClr val="accent2"/>
                </a:solidFill>
              </a:rPr>
              <a:t>F</a:t>
            </a:r>
            <a:r>
              <a:rPr lang="zh-CN" altLang="en-US" dirty="0">
                <a:solidFill>
                  <a:schemeClr val="accent2"/>
                </a:solidFill>
              </a:rPr>
              <a:t>所蕴含</a:t>
            </a:r>
            <a:endParaRPr lang="zh-CN" altLang="en-US" dirty="0">
              <a:solidFill>
                <a:schemeClr val="accent2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    设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是属性集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U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上的一个函数依赖集，并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设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X→Y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不能从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Armstrong</a:t>
            </a:r>
            <a:r>
              <a:rPr lang="zh-CN" altLang="en-US" sz="2800" dirty="0">
                <a:solidFill>
                  <a:srgbClr val="FF0000"/>
                </a:solidFill>
                <a:sym typeface="Symbol" panose="05050102010706020507" pitchFamily="18" charset="2"/>
              </a:rPr>
              <a:t>公理导出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。现在要</a:t>
            </a:r>
            <a:r>
              <a:rPr lang="zh-CN" altLang="en-US" sz="2800" dirty="0">
                <a:solidFill>
                  <a:schemeClr val="accent2"/>
                </a:solidFill>
                <a:sym typeface="Symbol" panose="05050102010706020507" pitchFamily="18" charset="2"/>
              </a:rPr>
              <a:t>证明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不在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30000" dirty="0">
                <a:solidFill>
                  <a:schemeClr val="tx1"/>
                </a:solidFill>
              </a:rPr>
              <a:t>+</a:t>
            </a:r>
            <a:r>
              <a:rPr lang="zh-CN" altLang="en-US" sz="2800" dirty="0">
                <a:solidFill>
                  <a:schemeClr val="tx1"/>
                </a:solidFill>
              </a:rPr>
              <a:t>中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即</a:t>
            </a:r>
            <a:r>
              <a:rPr lang="zh-CN" altLang="en-US" sz="2800" dirty="0">
                <a:solidFill>
                  <a:srgbClr val="FF0000"/>
                </a:solidFill>
              </a:rPr>
              <a:t>至少存在一个关系</a:t>
            </a:r>
            <a:r>
              <a:rPr lang="en-US" altLang="zh-CN" sz="2800" dirty="0">
                <a:solidFill>
                  <a:srgbClr val="FF0000"/>
                </a:solidFill>
              </a:rPr>
              <a:t>r</a:t>
            </a:r>
            <a:r>
              <a:rPr lang="zh-CN" altLang="en-US" sz="2800" dirty="0">
                <a:solidFill>
                  <a:srgbClr val="FF0000"/>
                </a:solidFill>
              </a:rPr>
              <a:t>满足</a:t>
            </a:r>
            <a:r>
              <a:rPr lang="en-US" altLang="zh-CN" sz="2800" dirty="0">
                <a:solidFill>
                  <a:srgbClr val="FF0000"/>
                </a:solidFill>
              </a:rPr>
              <a:t>F</a:t>
            </a:r>
            <a:r>
              <a:rPr lang="zh-CN" altLang="en-US" sz="2800" dirty="0">
                <a:solidFill>
                  <a:srgbClr val="FF0000"/>
                </a:solidFill>
              </a:rPr>
              <a:t>，但不满足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en-US" altLang="zh-CN" sz="2800" dirty="0">
                <a:solidFill>
                  <a:srgbClr val="FF0000"/>
                </a:solidFill>
              </a:rPr>
              <a:t>→</a:t>
            </a:r>
            <a:r>
              <a:rPr lang="en-US" altLang="zh-CN" sz="2800" i="1" dirty="0">
                <a:solidFill>
                  <a:srgbClr val="FF0000"/>
                </a:solidFill>
              </a:rPr>
              <a:t>Y</a:t>
            </a:r>
            <a:r>
              <a:rPr lang="zh-CN" altLang="en-US" sz="2800" i="1" dirty="0">
                <a:solidFill>
                  <a:schemeClr val="tx1"/>
                </a:solidFill>
              </a:rPr>
              <a:t>。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构造</a:t>
            </a:r>
            <a:r>
              <a:rPr lang="en-US" altLang="zh-CN" sz="2800" i="1" dirty="0">
                <a:solidFill>
                  <a:schemeClr val="tx1"/>
                </a:solidFill>
              </a:rPr>
              <a:t>r: r</a:t>
            </a:r>
            <a:r>
              <a:rPr lang="zh-CN" altLang="en-US" sz="2800" i="1" dirty="0">
                <a:solidFill>
                  <a:schemeClr val="tx1"/>
                </a:solidFill>
              </a:rPr>
              <a:t>由</a:t>
            </a:r>
            <a:r>
              <a:rPr lang="en-US" altLang="zh-CN" sz="2800" i="1" dirty="0">
                <a:solidFill>
                  <a:schemeClr val="tx1"/>
                </a:solidFill>
              </a:rPr>
              <a:t>2</a:t>
            </a:r>
            <a:r>
              <a:rPr lang="zh-CN" altLang="en-US" sz="2800" i="1" dirty="0">
                <a:solidFill>
                  <a:schemeClr val="tx1"/>
                </a:solidFill>
              </a:rPr>
              <a:t>个元组</a:t>
            </a:r>
            <a:r>
              <a:rPr lang="en-US" altLang="zh-CN" sz="2800" i="1" dirty="0">
                <a:solidFill>
                  <a:schemeClr val="tx1"/>
                </a:solidFill>
              </a:rPr>
              <a:t>t1</a:t>
            </a:r>
            <a:r>
              <a:rPr lang="zh-CN" altLang="en-US" sz="2800" i="1" dirty="0">
                <a:solidFill>
                  <a:schemeClr val="tx1"/>
                </a:solidFill>
              </a:rPr>
              <a:t>和</a:t>
            </a:r>
            <a:r>
              <a:rPr lang="en-US" altLang="zh-CN" sz="2800" i="1" dirty="0">
                <a:solidFill>
                  <a:schemeClr val="tx1"/>
                </a:solidFill>
              </a:rPr>
              <a:t>t2</a:t>
            </a:r>
            <a:r>
              <a:rPr lang="zh-CN" altLang="en-US" sz="2800" i="1" dirty="0">
                <a:solidFill>
                  <a:schemeClr val="tx1"/>
                </a:solidFill>
              </a:rPr>
              <a:t>组成</a:t>
            </a:r>
            <a:r>
              <a:rPr lang="en-US" altLang="zh-CN" sz="2800" i="1" dirty="0">
                <a:solidFill>
                  <a:schemeClr val="tx1"/>
                </a:solidFill>
              </a:rPr>
              <a:t>,t1</a:t>
            </a:r>
            <a:r>
              <a:rPr lang="zh-CN" altLang="en-US" sz="2800" i="1" dirty="0">
                <a:solidFill>
                  <a:schemeClr val="tx1"/>
                </a:solidFill>
              </a:rPr>
              <a:t>在</a:t>
            </a:r>
            <a:r>
              <a:rPr lang="en-US" altLang="zh-CN" sz="2800" i="1" dirty="0">
                <a:solidFill>
                  <a:schemeClr val="tx1"/>
                </a:solidFill>
              </a:rPr>
              <a:t>U</a:t>
            </a:r>
            <a:r>
              <a:rPr lang="zh-CN" altLang="en-US" sz="2800" i="1" dirty="0">
                <a:solidFill>
                  <a:schemeClr val="tx1"/>
                </a:solidFill>
              </a:rPr>
              <a:t>中全部属性集上的值均为</a:t>
            </a:r>
            <a:r>
              <a:rPr lang="en-US" altLang="zh-CN" sz="2800" i="1" dirty="0">
                <a:solidFill>
                  <a:schemeClr val="tx1"/>
                </a:solidFill>
              </a:rPr>
              <a:t>1</a:t>
            </a:r>
            <a:r>
              <a:rPr lang="zh-CN" altLang="en-US" sz="2800" i="1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t2</a:t>
            </a:r>
            <a:r>
              <a:rPr lang="zh-CN" altLang="en-US" sz="2800" i="1" dirty="0">
                <a:solidFill>
                  <a:schemeClr val="tx1"/>
                </a:solidFill>
              </a:rPr>
              <a:t>在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i="1" baseline="30000" dirty="0">
                <a:solidFill>
                  <a:schemeClr val="tx1"/>
                </a:solidFill>
              </a:rPr>
              <a:t>+</a:t>
            </a:r>
            <a:r>
              <a:rPr lang="zh-CN" altLang="en-US" sz="2800" i="1" dirty="0">
                <a:solidFill>
                  <a:schemeClr val="tx1"/>
                </a:solidFill>
              </a:rPr>
              <a:t>中的属性上的值为</a:t>
            </a:r>
            <a:r>
              <a:rPr lang="en-US" altLang="zh-CN" sz="2800" i="1" dirty="0">
                <a:solidFill>
                  <a:schemeClr val="tx1"/>
                </a:solidFill>
              </a:rPr>
              <a:t>1,</a:t>
            </a:r>
            <a:r>
              <a:rPr lang="zh-CN" altLang="en-US" sz="2800" i="1" dirty="0">
                <a:solidFill>
                  <a:schemeClr val="tx1"/>
                </a:solidFill>
              </a:rPr>
              <a:t>在其余属性上的值为</a:t>
            </a:r>
            <a:r>
              <a:rPr lang="en-US" altLang="zh-CN" sz="2800" i="1" dirty="0">
                <a:solidFill>
                  <a:schemeClr val="tx1"/>
                </a:solidFill>
              </a:rPr>
              <a:t>0</a:t>
            </a:r>
            <a:r>
              <a:rPr lang="zh-CN" altLang="en-US" sz="2800" i="1" dirty="0">
                <a:solidFill>
                  <a:schemeClr val="tx1"/>
                </a:solidFill>
              </a:rPr>
              <a:t>。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目标：证明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i="1" dirty="0">
                <a:solidFill>
                  <a:schemeClr val="tx1"/>
                </a:solidFill>
              </a:rPr>
              <a:t>满足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i="1" dirty="0">
                <a:solidFill>
                  <a:schemeClr val="tx1"/>
                </a:solidFill>
              </a:rPr>
              <a:t>，但不满足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endParaRPr lang="en-US" altLang="zh-CN" sz="2800" i="1" dirty="0">
              <a:solidFill>
                <a:schemeClr val="tx1"/>
              </a:solidFill>
            </a:endParaRPr>
          </a:p>
        </p:txBody>
      </p:sp>
      <p:sp>
        <p:nvSpPr>
          <p:cNvPr id="5837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59395" name="Rectangle 2"/>
          <p:cNvSpPr>
            <a:spLocks noGrp="1"/>
          </p:cNvSpPr>
          <p:nvPr>
            <p:ph idx="1"/>
          </p:nvPr>
        </p:nvSpPr>
        <p:spPr>
          <a:xfrm>
            <a:off x="304800" y="2514600"/>
            <a:ext cx="86106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(1) 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首先证明关系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R&lt;U,F&gt;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上的一个关系，即在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r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中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,F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的函数依赖集都成立。</a:t>
            </a:r>
            <a:endParaRPr lang="zh-CN" altLang="en-US" sz="28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设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中的任一函数依赖，则有两种情况</a:t>
            </a:r>
            <a:r>
              <a:rPr lang="en-US" altLang="zh-CN" sz="2800" dirty="0">
                <a:solidFill>
                  <a:schemeClr val="tx1"/>
                </a:solidFill>
              </a:rPr>
              <a:t>: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	</a:t>
            </a:r>
            <a:r>
              <a:rPr lang="en-US" altLang="zh-CN" sz="2800" i="1" dirty="0">
                <a:solidFill>
                  <a:srgbClr val="FF0000"/>
                </a:solidFill>
              </a:rPr>
              <a:t>V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en-US" altLang="zh-CN" sz="2800" i="1" baseline="-30000" dirty="0">
                <a:solidFill>
                  <a:srgbClr val="FF0000"/>
                </a:solidFill>
              </a:rPr>
              <a:t>F</a:t>
            </a:r>
            <a:r>
              <a:rPr lang="en-US" altLang="zh-CN" sz="2800" baseline="30000" dirty="0">
                <a:solidFill>
                  <a:srgbClr val="FF0000"/>
                </a:solidFill>
              </a:rPr>
              <a:t>+</a:t>
            </a:r>
            <a:r>
              <a:rPr lang="en-US" altLang="zh-CN" sz="2800" baseline="300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或</a:t>
            </a:r>
            <a:r>
              <a:rPr lang="en-US" altLang="zh-CN" sz="2800" i="1" dirty="0">
                <a:solidFill>
                  <a:srgbClr val="FF0000"/>
                </a:solidFill>
              </a:rPr>
              <a:t>V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en-US" altLang="zh-CN" sz="2800" i="1" baseline="-30000" dirty="0">
                <a:solidFill>
                  <a:srgbClr val="FF0000"/>
                </a:solidFill>
              </a:rPr>
              <a:t>F</a:t>
            </a:r>
            <a:r>
              <a:rPr lang="en-US" altLang="zh-CN" sz="2800" baseline="30000" dirty="0">
                <a:solidFill>
                  <a:srgbClr val="FF0000"/>
                </a:solidFill>
              </a:rPr>
              <a:t>+</a:t>
            </a:r>
            <a:endParaRPr lang="en-US" altLang="zh-CN" sz="2800" baseline="30000" dirty="0">
              <a:solidFill>
                <a:srgbClr val="FF0000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	</a:t>
            </a:r>
            <a:r>
              <a:rPr lang="zh-CN" altLang="en-US" sz="2800" dirty="0">
                <a:solidFill>
                  <a:srgbClr val="FF0000"/>
                </a:solidFill>
              </a:rPr>
              <a:t>若</a:t>
            </a:r>
            <a:r>
              <a:rPr lang="en-US" altLang="zh-CN" sz="2800" i="1" dirty="0">
                <a:solidFill>
                  <a:srgbClr val="FF0000"/>
                </a:solidFill>
              </a:rPr>
              <a:t>V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en-US" altLang="zh-CN" sz="2800" i="1" baseline="-30000" dirty="0">
                <a:solidFill>
                  <a:srgbClr val="FF0000"/>
                </a:solidFill>
              </a:rPr>
              <a:t>F</a:t>
            </a:r>
            <a:r>
              <a:rPr lang="en-US" altLang="zh-CN" sz="2800" baseline="30000" dirty="0">
                <a:solidFill>
                  <a:srgbClr val="FF0000"/>
                </a:solidFill>
              </a:rPr>
              <a:t>+</a:t>
            </a:r>
            <a:r>
              <a:rPr lang="en-US" altLang="zh-CN" sz="2800" baseline="300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则由引理</a:t>
            </a:r>
            <a:r>
              <a:rPr lang="en-US" altLang="zh-CN" sz="2800" dirty="0">
                <a:solidFill>
                  <a:schemeClr val="tx1"/>
                </a:solidFill>
              </a:rPr>
              <a:t>6.3,</a:t>
            </a:r>
            <a:r>
              <a:rPr lang="zh-CN" altLang="en-US" sz="2800" dirty="0">
                <a:solidFill>
                  <a:schemeClr val="tx1"/>
                </a:solidFill>
              </a:rPr>
              <a:t>得</a:t>
            </a:r>
            <a:r>
              <a:rPr lang="en-US" altLang="zh-CN" sz="2800" dirty="0">
                <a:solidFill>
                  <a:schemeClr val="tx1"/>
                </a:solidFill>
              </a:rPr>
              <a:t>W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</a:rPr>
              <a:t>+</a:t>
            </a:r>
            <a:r>
              <a:rPr lang="en-US" altLang="zh-CN" sz="2800" dirty="0">
                <a:solidFill>
                  <a:schemeClr val="tx1"/>
                </a:solidFill>
              </a:rPr>
              <a:t>;t1[V]=t2[V],</a:t>
            </a:r>
            <a:r>
              <a:rPr lang="zh-CN" altLang="en-US" sz="2800" dirty="0">
                <a:solidFill>
                  <a:schemeClr val="tx1"/>
                </a:solidFill>
              </a:rPr>
              <a:t>且</a:t>
            </a:r>
            <a:r>
              <a:rPr lang="en-US" altLang="zh-CN" sz="2800" dirty="0">
                <a:solidFill>
                  <a:schemeClr val="tx1"/>
                </a:solidFill>
              </a:rPr>
              <a:t>t1[W]=t2[W],</a:t>
            </a:r>
            <a:r>
              <a:rPr lang="zh-CN" altLang="en-US" sz="2800" dirty="0">
                <a:solidFill>
                  <a:schemeClr val="tx1"/>
                </a:solidFill>
              </a:rPr>
              <a:t>由函数依赖的定义知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zh-CN" altLang="en-US" sz="2800" dirty="0">
                <a:solidFill>
                  <a:schemeClr val="tx1"/>
                </a:solidFill>
              </a:rPr>
              <a:t>在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中成立。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5939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aphicFrame>
        <p:nvGraphicFramePr>
          <p:cNvPr id="61444" name="Group 4"/>
          <p:cNvGraphicFramePr>
            <a:graphicFrameLocks noGrp="1"/>
          </p:cNvGraphicFramePr>
          <p:nvPr/>
        </p:nvGraphicFramePr>
        <p:xfrm>
          <a:off x="838200" y="838200"/>
          <a:ext cx="6477000" cy="1625600"/>
        </p:xfrm>
        <a:graphic>
          <a:graphicData uri="http://schemas.openxmlformats.org/drawingml/2006/table">
            <a:tbl>
              <a:tblPr/>
              <a:tblGrid>
                <a:gridCol w="1992313"/>
                <a:gridCol w="2160587"/>
                <a:gridCol w="2324100"/>
              </a:tblGrid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9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9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9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U-X</a:t>
                      </a:r>
                      <a:r>
                        <a:rPr kumimoji="1" lang="en-US" altLang="zh-CN" sz="29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9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9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t1</a:t>
                      </a:r>
                      <a:endParaRPr kumimoji="1" lang="en-US" altLang="zh-CN" sz="29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t2</a:t>
                      </a:r>
                      <a:endParaRPr kumimoji="1" lang="en-US" altLang="zh-CN" sz="29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0,0,…,0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9415" name="Line 22"/>
          <p:cNvSpPr/>
          <p:nvPr/>
        </p:nvSpPr>
        <p:spPr>
          <a:xfrm flipH="1">
            <a:off x="2781300" y="4419600"/>
            <a:ext cx="76200" cy="3810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0419" name="Rectangle 2"/>
          <p:cNvSpPr>
            <a:spLocks noGrp="1"/>
          </p:cNvSpPr>
          <p:nvPr>
            <p:ph idx="1"/>
          </p:nvPr>
        </p:nvSpPr>
        <p:spPr>
          <a:xfrm>
            <a:off x="76200" y="2514600"/>
            <a:ext cx="8839200" cy="38862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</a:rPr>
              <a:t>若</a:t>
            </a:r>
            <a:r>
              <a:rPr lang="en-US" altLang="zh-CN" sz="2800" i="1" dirty="0">
                <a:solidFill>
                  <a:srgbClr val="FF0000"/>
                </a:solidFill>
              </a:rPr>
              <a:t>V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dirty="0">
                <a:solidFill>
                  <a:srgbClr val="FF0000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dirty="0">
                <a:solidFill>
                  <a:srgbClr val="FF0000"/>
                </a:solidFill>
              </a:rPr>
              <a:t> 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en-US" altLang="zh-CN" sz="2800" i="1" baseline="-30000" dirty="0">
                <a:solidFill>
                  <a:srgbClr val="FF0000"/>
                </a:solidFill>
              </a:rPr>
              <a:t>F</a:t>
            </a:r>
            <a:r>
              <a:rPr lang="en-US" altLang="zh-CN" sz="2800" baseline="30000" dirty="0">
                <a:solidFill>
                  <a:srgbClr val="FF0000"/>
                </a:solidFill>
              </a:rPr>
              <a:t>+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即</a:t>
            </a:r>
            <a:r>
              <a:rPr lang="en-US" altLang="zh-CN" sz="2800" dirty="0">
                <a:solidFill>
                  <a:schemeClr val="tx1"/>
                </a:solidFill>
              </a:rPr>
              <a:t>V</a:t>
            </a:r>
            <a:r>
              <a:rPr lang="zh-CN" altLang="en-US" sz="2800" dirty="0">
                <a:solidFill>
                  <a:schemeClr val="tx1"/>
                </a:solidFill>
              </a:rPr>
              <a:t>中含有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</a:rPr>
              <a:t>+</a:t>
            </a:r>
            <a:r>
              <a:rPr lang="zh-CN" altLang="en-US" sz="2800" dirty="0">
                <a:solidFill>
                  <a:schemeClr val="tx1"/>
                </a:solidFill>
              </a:rPr>
              <a:t>以外的属性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则</a:t>
            </a:r>
            <a:r>
              <a:rPr lang="en-US" altLang="zh-CN" sz="2800" dirty="0">
                <a:solidFill>
                  <a:schemeClr val="tx1"/>
                </a:solidFill>
              </a:rPr>
              <a:t>t1[V] 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≠</a:t>
            </a:r>
            <a:r>
              <a:rPr lang="en-US" altLang="zh-CN" sz="2800" dirty="0">
                <a:solidFill>
                  <a:schemeClr val="tx1"/>
                </a:solidFill>
              </a:rPr>
              <a:t> t2[V]</a:t>
            </a:r>
            <a:r>
              <a:rPr lang="zh-CN" altLang="en-US" sz="2800" dirty="0">
                <a:solidFill>
                  <a:schemeClr val="tx1"/>
                </a:solidFill>
              </a:rPr>
              <a:t>。即在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中不可能存在</a:t>
            </a:r>
            <a:r>
              <a:rPr lang="en-US" altLang="zh-CN" sz="2800" dirty="0">
                <a:solidFill>
                  <a:schemeClr val="tx1"/>
                </a:solidFill>
              </a:rPr>
              <a:t>t1[V]=t2[V]</a:t>
            </a:r>
            <a:r>
              <a:rPr lang="zh-CN" altLang="en-US" sz="2800" dirty="0">
                <a:solidFill>
                  <a:schemeClr val="tx1"/>
                </a:solidFill>
              </a:rPr>
              <a:t>而</a:t>
            </a:r>
            <a:r>
              <a:rPr lang="en-US" altLang="zh-CN" sz="2800" dirty="0">
                <a:solidFill>
                  <a:schemeClr val="tx1"/>
                </a:solidFill>
              </a:rPr>
              <a:t>t1[W] ≠t2[W]</a:t>
            </a:r>
            <a:r>
              <a:rPr lang="zh-CN" altLang="en-US" sz="2800" dirty="0">
                <a:solidFill>
                  <a:schemeClr val="tx1"/>
                </a:solidFill>
              </a:rPr>
              <a:t>的情况，由函数依赖的定义知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zh-CN" altLang="en-US" sz="2800" dirty="0">
                <a:solidFill>
                  <a:schemeClr val="tx1"/>
                </a:solidFill>
              </a:rPr>
              <a:t>在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中自然成立。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考虑函数依赖</a:t>
            </a:r>
            <a:r>
              <a:rPr lang="en-US" altLang="zh-CN" sz="2800" i="1" dirty="0">
                <a:solidFill>
                  <a:schemeClr val="tx1"/>
                </a:solidFill>
              </a:rPr>
              <a:t>V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W</a:t>
            </a:r>
            <a:r>
              <a:rPr lang="zh-CN" altLang="en-US" sz="2800" dirty="0">
                <a:solidFill>
                  <a:schemeClr val="tx1"/>
                </a:solidFill>
              </a:rPr>
              <a:t>的一般性，结论得证。即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是</a:t>
            </a:r>
            <a:r>
              <a:rPr lang="en-US" altLang="zh-CN" sz="2800" dirty="0">
                <a:solidFill>
                  <a:schemeClr val="tx1"/>
                </a:solidFill>
              </a:rPr>
              <a:t>R&lt;U,F&gt;</a:t>
            </a:r>
            <a:r>
              <a:rPr lang="zh-CN" altLang="en-US" sz="2800" dirty="0">
                <a:solidFill>
                  <a:schemeClr val="tx1"/>
                </a:solidFill>
              </a:rPr>
              <a:t>上的一个关系，换言之，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满足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042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aphicFrame>
        <p:nvGraphicFramePr>
          <p:cNvPr id="62468" name="Group 4"/>
          <p:cNvGraphicFramePr>
            <a:graphicFrameLocks noGrp="1"/>
          </p:cNvGraphicFramePr>
          <p:nvPr/>
        </p:nvGraphicFramePr>
        <p:xfrm>
          <a:off x="838200" y="838200"/>
          <a:ext cx="6477000" cy="1625600"/>
        </p:xfrm>
        <a:graphic>
          <a:graphicData uri="http://schemas.openxmlformats.org/drawingml/2006/table">
            <a:tbl>
              <a:tblPr/>
              <a:tblGrid>
                <a:gridCol w="1992313"/>
                <a:gridCol w="2160587"/>
                <a:gridCol w="2324100"/>
              </a:tblGrid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9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9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9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U-X</a:t>
                      </a:r>
                      <a:r>
                        <a:rPr kumimoji="1" lang="en-US" altLang="zh-CN" sz="29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9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9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t1</a:t>
                      </a:r>
                      <a:endParaRPr kumimoji="1" lang="en-US" altLang="zh-CN" sz="29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t2</a:t>
                      </a:r>
                      <a:endParaRPr kumimoji="1" lang="en-US" altLang="zh-CN" sz="29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0,0,…,0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0439" name="Line 22"/>
          <p:cNvSpPr/>
          <p:nvPr/>
        </p:nvSpPr>
        <p:spPr>
          <a:xfrm flipH="1">
            <a:off x="1143000" y="2755900"/>
            <a:ext cx="152400" cy="304800"/>
          </a:xfrm>
          <a:prstGeom prst="line">
            <a:avLst/>
          </a:prstGeom>
          <a:ln w="38100" cap="sq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1443" name="Rectangle 2"/>
          <p:cNvSpPr>
            <a:spLocks noGrp="1"/>
          </p:cNvSpPr>
          <p:nvPr>
            <p:ph idx="1"/>
          </p:nvPr>
        </p:nvSpPr>
        <p:spPr>
          <a:xfrm>
            <a:off x="76200" y="2514600"/>
            <a:ext cx="8839200" cy="3962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(2) </a:t>
            </a:r>
            <a:r>
              <a:rPr lang="zh-CN" altLang="en-US" sz="2800" dirty="0">
                <a:solidFill>
                  <a:schemeClr val="tx1"/>
                </a:solidFill>
              </a:rPr>
              <a:t>然后证明在关系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</a:t>
            </a:r>
            <a:r>
              <a:rPr lang="en-US" altLang="zh-CN" sz="2800" dirty="0">
                <a:solidFill>
                  <a:schemeClr val="tx1"/>
                </a:solidFill>
              </a:rPr>
              <a:t>, 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不成立</a:t>
            </a:r>
            <a:r>
              <a:rPr lang="zh-CN" altLang="en-US" sz="2800" i="1" dirty="0">
                <a:solidFill>
                  <a:schemeClr val="tx1"/>
                </a:solidFill>
              </a:rPr>
              <a:t>。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/>
              <a:t>	</a:t>
            </a:r>
            <a:r>
              <a:rPr lang="zh-CN" altLang="en-US" sz="2800" dirty="0">
                <a:solidFill>
                  <a:schemeClr val="tx1"/>
                </a:solidFill>
              </a:rPr>
              <a:t>若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Y </a:t>
            </a:r>
            <a:r>
              <a:rPr lang="zh-CN" altLang="en-US" sz="2800" dirty="0">
                <a:solidFill>
                  <a:schemeClr val="tx1"/>
                </a:solidFill>
              </a:rPr>
              <a:t>不能由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从</a:t>
            </a:r>
            <a:r>
              <a:rPr lang="en-US" altLang="zh-CN" sz="2800" dirty="0">
                <a:solidFill>
                  <a:schemeClr val="tx1"/>
                </a:solidFill>
              </a:rPr>
              <a:t>Armstrong</a:t>
            </a:r>
            <a:r>
              <a:rPr lang="zh-CN" altLang="en-US" sz="2800" dirty="0">
                <a:solidFill>
                  <a:schemeClr val="tx1"/>
                </a:solidFill>
              </a:rPr>
              <a:t>公理导出，则根据引理</a:t>
            </a:r>
            <a:r>
              <a:rPr lang="en-US" altLang="zh-CN" sz="2800" dirty="0">
                <a:solidFill>
                  <a:schemeClr val="tx1"/>
                </a:solidFill>
              </a:rPr>
              <a:t>5.2</a:t>
            </a:r>
            <a:r>
              <a:rPr lang="zh-CN" altLang="en-US" sz="2800" dirty="0">
                <a:solidFill>
                  <a:schemeClr val="tx1"/>
                </a:solidFill>
              </a:rPr>
              <a:t>知</a:t>
            </a:r>
            <a:r>
              <a:rPr lang="en-US" altLang="zh-CN" sz="2800" i="1" dirty="0">
                <a:solidFill>
                  <a:schemeClr val="tx1"/>
                </a:solidFill>
              </a:rPr>
              <a:t>Y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</a:t>
            </a:r>
            <a:r>
              <a:rPr lang="en-US" altLang="zh-CN" sz="2800" i="1" dirty="0">
                <a:solidFill>
                  <a:schemeClr val="tx1"/>
                </a:solidFill>
              </a:rPr>
              <a:t> X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</a:rPr>
              <a:t>+</a:t>
            </a:r>
            <a:r>
              <a:rPr lang="zh-CN" altLang="en-US" sz="2800" dirty="0">
                <a:solidFill>
                  <a:schemeClr val="tx1"/>
                </a:solidFill>
              </a:rPr>
              <a:t>。于是，在关系</a:t>
            </a:r>
            <a:r>
              <a:rPr lang="en-US" altLang="zh-CN" sz="2800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中，元组</a:t>
            </a:r>
            <a:r>
              <a:rPr lang="en-US" altLang="zh-CN" sz="2800" dirty="0">
                <a:solidFill>
                  <a:schemeClr val="tx1"/>
                </a:solidFill>
              </a:rPr>
              <a:t>t1</a:t>
            </a:r>
            <a:r>
              <a:rPr lang="zh-CN" altLang="en-US" sz="2800" dirty="0">
                <a:solidFill>
                  <a:schemeClr val="tx1"/>
                </a:solidFill>
              </a:rPr>
              <a:t>和</a:t>
            </a:r>
            <a:r>
              <a:rPr lang="en-US" altLang="zh-CN" sz="2800" dirty="0">
                <a:solidFill>
                  <a:schemeClr val="tx1"/>
                </a:solidFill>
              </a:rPr>
              <a:t>t2</a:t>
            </a:r>
            <a:r>
              <a:rPr lang="zh-CN" altLang="en-US" sz="2800" dirty="0">
                <a:solidFill>
                  <a:schemeClr val="tx1"/>
                </a:solidFill>
              </a:rPr>
              <a:t>在</a:t>
            </a:r>
            <a:r>
              <a:rPr lang="en-US" altLang="zh-CN" sz="2800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上的值不相等，然而在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上的值却是相等的。由函数依赖的定义知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在</a:t>
            </a:r>
            <a:r>
              <a:rPr lang="en-US" altLang="zh-CN" sz="2800" i="1" dirty="0">
                <a:solidFill>
                  <a:schemeClr val="tx1"/>
                </a:solidFill>
              </a:rPr>
              <a:t>r</a:t>
            </a:r>
            <a:r>
              <a:rPr lang="zh-CN" altLang="en-US" sz="2800" dirty="0">
                <a:solidFill>
                  <a:schemeClr val="tx1"/>
                </a:solidFill>
              </a:rPr>
              <a:t>中不成立。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</a:t>
            </a:r>
            <a:r>
              <a:rPr lang="zh-CN" altLang="en-US" sz="2800" dirty="0">
                <a:solidFill>
                  <a:srgbClr val="FF0000"/>
                </a:solidFill>
              </a:rPr>
              <a:t>由</a:t>
            </a:r>
            <a:r>
              <a:rPr lang="en-US" altLang="zh-CN" sz="2800" dirty="0">
                <a:solidFill>
                  <a:srgbClr val="FF0000"/>
                </a:solidFill>
              </a:rPr>
              <a:t>(1)(2)</a:t>
            </a:r>
            <a:r>
              <a:rPr lang="zh-CN" altLang="en-US" sz="2800" dirty="0">
                <a:solidFill>
                  <a:srgbClr val="FF0000"/>
                </a:solidFill>
              </a:rPr>
              <a:t>知，只要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en-US" altLang="zh-CN" sz="2800" dirty="0">
                <a:solidFill>
                  <a:srgbClr val="FF0000"/>
                </a:solidFill>
              </a:rPr>
              <a:t>→</a:t>
            </a:r>
            <a:r>
              <a:rPr lang="en-US" altLang="zh-CN" sz="2800" i="1" dirty="0">
                <a:solidFill>
                  <a:srgbClr val="FF0000"/>
                </a:solidFill>
              </a:rPr>
              <a:t>Y</a:t>
            </a:r>
            <a:r>
              <a:rPr lang="zh-CN" altLang="en-US" sz="2800" dirty="0">
                <a:solidFill>
                  <a:srgbClr val="FF0000"/>
                </a:solidFill>
              </a:rPr>
              <a:t>不能从</a:t>
            </a:r>
            <a:r>
              <a:rPr lang="en-US" altLang="zh-CN" sz="2800" dirty="0">
                <a:solidFill>
                  <a:srgbClr val="FF0000"/>
                </a:solidFill>
              </a:rPr>
              <a:t>F</a:t>
            </a:r>
            <a:r>
              <a:rPr lang="zh-CN" altLang="en-US" sz="2800" dirty="0">
                <a:solidFill>
                  <a:srgbClr val="FF0000"/>
                </a:solidFill>
              </a:rPr>
              <a:t>用</a:t>
            </a:r>
            <a:r>
              <a:rPr lang="en-US" altLang="zh-CN" sz="2800" dirty="0">
                <a:solidFill>
                  <a:srgbClr val="FF0000"/>
                </a:solidFill>
              </a:rPr>
              <a:t>Armstrong</a:t>
            </a:r>
            <a:r>
              <a:rPr lang="zh-CN" altLang="en-US" sz="2800" dirty="0">
                <a:solidFill>
                  <a:srgbClr val="FF0000"/>
                </a:solidFill>
              </a:rPr>
              <a:t>公理推出，那么</a:t>
            </a:r>
            <a:r>
              <a:rPr lang="en-US" altLang="zh-CN" sz="2800" dirty="0">
                <a:solidFill>
                  <a:srgbClr val="FF0000"/>
                </a:solidFill>
              </a:rPr>
              <a:t>F</a:t>
            </a:r>
            <a:r>
              <a:rPr lang="zh-CN" altLang="en-US" sz="2800" dirty="0">
                <a:solidFill>
                  <a:srgbClr val="FF0000"/>
                </a:solidFill>
              </a:rPr>
              <a:t>就不逻辑蕴含</a:t>
            </a:r>
            <a:r>
              <a:rPr lang="en-US" altLang="zh-CN" sz="2800" i="1" dirty="0">
                <a:solidFill>
                  <a:srgbClr val="FF0000"/>
                </a:solidFill>
              </a:rPr>
              <a:t>X</a:t>
            </a:r>
            <a:r>
              <a:rPr lang="en-US" altLang="zh-CN" sz="2800" dirty="0">
                <a:solidFill>
                  <a:srgbClr val="FF0000"/>
                </a:solidFill>
              </a:rPr>
              <a:t>→</a:t>
            </a:r>
            <a:r>
              <a:rPr lang="en-US" altLang="zh-CN" sz="2800" i="1" dirty="0">
                <a:solidFill>
                  <a:srgbClr val="FF0000"/>
                </a:solidFill>
              </a:rPr>
              <a:t>Y</a:t>
            </a:r>
            <a:r>
              <a:rPr lang="zh-CN" altLang="en-US" sz="2800" i="1" dirty="0">
                <a:solidFill>
                  <a:srgbClr val="FF0000"/>
                </a:solidFill>
              </a:rPr>
              <a:t>。</a:t>
            </a:r>
            <a:r>
              <a:rPr lang="zh-CN" altLang="en-US" sz="2800" dirty="0">
                <a:solidFill>
                  <a:srgbClr val="FF0000"/>
                </a:solidFill>
              </a:rPr>
              <a:t>完备性得证。</a:t>
            </a:r>
            <a:endParaRPr lang="zh-CN" altLang="en-US" sz="2800" dirty="0">
              <a:solidFill>
                <a:srgbClr val="FF0000"/>
              </a:solidFill>
            </a:endParaRPr>
          </a:p>
        </p:txBody>
      </p:sp>
      <p:sp>
        <p:nvSpPr>
          <p:cNvPr id="6144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  <p:graphicFrame>
        <p:nvGraphicFramePr>
          <p:cNvPr id="63492" name="Group 4"/>
          <p:cNvGraphicFramePr>
            <a:graphicFrameLocks noGrp="1"/>
          </p:cNvGraphicFramePr>
          <p:nvPr/>
        </p:nvGraphicFramePr>
        <p:xfrm>
          <a:off x="838200" y="838200"/>
          <a:ext cx="6477000" cy="1625600"/>
        </p:xfrm>
        <a:graphic>
          <a:graphicData uri="http://schemas.openxmlformats.org/drawingml/2006/table">
            <a:tbl>
              <a:tblPr/>
              <a:tblGrid>
                <a:gridCol w="1992313"/>
                <a:gridCol w="2160587"/>
                <a:gridCol w="2324100"/>
              </a:tblGrid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FF3300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r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rgbClr val="FF3300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X</a:t>
                      </a:r>
                      <a:r>
                        <a:rPr kumimoji="1" lang="en-US" altLang="zh-CN" sz="29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9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9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U-X</a:t>
                      </a:r>
                      <a:r>
                        <a:rPr kumimoji="1" lang="en-US" altLang="zh-CN" sz="2900" b="1" i="0" u="none" strike="noStrike" cap="none" normalizeH="0" baseline="-25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F</a:t>
                      </a:r>
                      <a:r>
                        <a:rPr kumimoji="1" lang="en-US" altLang="zh-CN" sz="2900" b="1" i="0" u="none" strike="noStrike" cap="none" normalizeH="0" baseline="30000" smtClean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+</a:t>
                      </a:r>
                      <a:endParaRPr kumimoji="1" lang="en-US" altLang="zh-CN" sz="2900" b="1" i="0" u="none" strike="noStrike" cap="none" normalizeH="0" baseline="3000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t1</a:t>
                      </a:r>
                      <a:endParaRPr kumimoji="1" lang="en-US" altLang="zh-CN" sz="29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41867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1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t2</a:t>
                      </a:r>
                      <a:endParaRPr kumimoji="1" lang="en-US" altLang="zh-CN" sz="2900" b="1" i="1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1,1,…,1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buClr>
                          <a:srgbClr val="FF3300"/>
                        </a:buClr>
                        <a:buFont typeface="Wingdings" panose="05000000000000000000" pitchFamily="2" charset="2"/>
                        <a:defRPr kumimoji="1" sz="2800" b="1">
                          <a:solidFill>
                            <a:srgbClr val="FF3300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1pPr>
                      <a:lvl2pPr algn="l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Wingdings" panose="05000000000000000000" pitchFamily="2" charset="2"/>
                        <a:defRPr kumimoji="1" sz="24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楷体_GB2312" pitchFamily="49" charset="-122"/>
                        </a:defRPr>
                      </a:lvl3pPr>
                      <a:lvl4pPr algn="l">
                        <a:spcBef>
                          <a:spcPct val="20000"/>
                        </a:spcBef>
                        <a:buSzPct val="60000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宋体" panose="02010600030101010101" pitchFamily="2" charset="-122"/>
                        </a:defRPr>
                      </a:lvl4pPr>
                      <a:lvl5pPr algn="l">
                        <a:spcBef>
                          <a:spcPct val="20000"/>
                        </a:spcBef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SzPct val="60000"/>
                        <a:buFont typeface="Wingdings" panose="05000000000000000000" pitchFamily="2" charset="2"/>
                        <a:defRPr kumimoji="1" b="1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仿宋_GB2312" pitchFamily="49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3300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1" lang="en-US" altLang="zh-CN" sz="29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宋体" panose="02010600030101010101" pitchFamily="2" charset="-122"/>
                        </a:rPr>
                        <a:t>0,0,…,0</a:t>
                      </a:r>
                      <a:endParaRPr kumimoji="1" lang="en-US" altLang="zh-CN" sz="29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T="47797" marB="47797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1463" name="Line 22"/>
          <p:cNvSpPr/>
          <p:nvPr/>
        </p:nvSpPr>
        <p:spPr>
          <a:xfrm flipH="1">
            <a:off x="1676400" y="3962400"/>
            <a:ext cx="152400" cy="304800"/>
          </a:xfrm>
          <a:prstGeom prst="line">
            <a:avLst/>
          </a:prstGeom>
          <a:ln w="38100" cap="sq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2467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8392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en-US" altLang="zh-CN" dirty="0">
                <a:solidFill>
                  <a:srgbClr val="FF0000"/>
                </a:solidFill>
              </a:rPr>
              <a:t>6.10</a:t>
            </a: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zh-CN" altLang="en-US" dirty="0">
                <a:solidFill>
                  <a:schemeClr val="tx1"/>
                </a:solidFill>
              </a:rPr>
              <a:t>如果</a:t>
            </a:r>
            <a:r>
              <a:rPr lang="en-US" altLang="zh-CN" i="1" dirty="0">
                <a:solidFill>
                  <a:schemeClr val="tx1"/>
                </a:solidFill>
              </a:rPr>
              <a:t>G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en-US" altLang="zh-CN" dirty="0">
                <a:solidFill>
                  <a:schemeClr val="tx1"/>
                </a:solidFill>
              </a:rPr>
              <a:t>=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en-US" altLang="zh-CN" baseline="30000" dirty="0">
                <a:solidFill>
                  <a:schemeClr val="tx1"/>
                </a:solidFill>
              </a:rPr>
              <a:t>+</a:t>
            </a:r>
            <a:r>
              <a:rPr lang="zh-CN" altLang="en-US" dirty="0">
                <a:solidFill>
                  <a:schemeClr val="tx1"/>
                </a:solidFill>
              </a:rPr>
              <a:t>，就说函数依赖集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rgbClr val="FF0000"/>
                </a:solidFill>
              </a:rPr>
              <a:t>覆盖</a:t>
            </a:r>
            <a:r>
              <a:rPr lang="en-US" altLang="zh-CN" i="1" dirty="0">
                <a:solidFill>
                  <a:schemeClr val="tx1"/>
                </a:solidFill>
              </a:rPr>
              <a:t>G</a:t>
            </a:r>
            <a:r>
              <a:rPr lang="zh-CN" altLang="en-US" dirty="0">
                <a:solidFill>
                  <a:schemeClr val="tx1"/>
                </a:solidFill>
              </a:rPr>
              <a:t>（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i="1" dirty="0">
                <a:solidFill>
                  <a:schemeClr val="tx1"/>
                </a:solidFill>
              </a:rPr>
              <a:t>G</a:t>
            </a:r>
            <a:r>
              <a:rPr lang="zh-CN" altLang="en-US" dirty="0">
                <a:solidFill>
                  <a:schemeClr val="tx1"/>
                </a:solidFill>
              </a:rPr>
              <a:t>的覆盖，或</a:t>
            </a:r>
            <a:r>
              <a:rPr lang="en-US" altLang="zh-CN" i="1" dirty="0">
                <a:solidFill>
                  <a:schemeClr val="tx1"/>
                </a:solidFill>
              </a:rPr>
              <a:t>G</a:t>
            </a:r>
            <a:r>
              <a:rPr lang="zh-CN" altLang="en-US" dirty="0">
                <a:solidFill>
                  <a:schemeClr val="tx1"/>
                </a:solidFill>
              </a:rPr>
              <a:t>是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的覆盖），或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与</a:t>
            </a:r>
            <a:r>
              <a:rPr lang="en-US" altLang="zh-CN" i="1" dirty="0">
                <a:solidFill>
                  <a:schemeClr val="tx1"/>
                </a:solidFill>
              </a:rPr>
              <a:t>G</a:t>
            </a:r>
            <a:r>
              <a:rPr lang="zh-CN" altLang="en-US" dirty="0">
                <a:solidFill>
                  <a:srgbClr val="FF0000"/>
                </a:solidFill>
              </a:rPr>
              <a:t>等价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dirty="0">
                <a:solidFill>
                  <a:srgbClr val="FF0000"/>
                </a:solidFill>
              </a:rPr>
              <a:t>	引理</a:t>
            </a:r>
            <a:r>
              <a:rPr lang="en-US" altLang="zh-CN" dirty="0">
                <a:solidFill>
                  <a:srgbClr val="FF0000"/>
                </a:solidFill>
              </a:rPr>
              <a:t>6.4</a:t>
            </a:r>
            <a:r>
              <a:rPr lang="en-US" altLang="zh-CN" dirty="0">
                <a:solidFill>
                  <a:schemeClr val="tx1"/>
                </a:solidFill>
              </a:rPr>
              <a:t> 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F</a:t>
            </a:r>
            <a:r>
              <a:rPr lang="en-US" altLang="zh-CN" baseline="28000" dirty="0">
                <a:solidFill>
                  <a:schemeClr val="tx1"/>
                </a:solidFill>
                <a:sym typeface="Symbol" panose="05050102010706020507" pitchFamily="18" charset="2"/>
              </a:rPr>
              <a:t>+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= G</a:t>
            </a:r>
            <a:r>
              <a:rPr lang="en-US" altLang="zh-CN" baseline="28000" dirty="0">
                <a:solidFill>
                  <a:schemeClr val="tx1"/>
                </a:solidFill>
                <a:sym typeface="Symbol" panose="05050102010706020507" pitchFamily="18" charset="2"/>
              </a:rPr>
              <a:t>+ 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  F  G</a:t>
            </a:r>
            <a:r>
              <a:rPr lang="en-US" altLang="zh-CN" baseline="28000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G  F</a:t>
            </a:r>
            <a:r>
              <a:rPr lang="en-US" altLang="zh-CN" baseline="28000" dirty="0">
                <a:solidFill>
                  <a:schemeClr val="tx1"/>
                </a:solidFill>
                <a:sym typeface="Symbol" panose="05050102010706020507" pitchFamily="18" charset="2"/>
              </a:rPr>
              <a:t>+</a:t>
            </a:r>
            <a:endParaRPr lang="en-US" altLang="zh-CN" baseline="28000" dirty="0">
              <a:solidFill>
                <a:schemeClr val="tx1"/>
              </a:solidFill>
              <a:sym typeface="Symbol" panose="05050102010706020507" pitchFamily="18" charset="2"/>
            </a:endParaRPr>
          </a:p>
          <a:p>
            <a:pPr eaLnBrk="1" hangingPunct="1">
              <a:lnSpc>
                <a:spcPct val="120000"/>
              </a:lnSpc>
              <a:buNone/>
            </a:pPr>
            <a:r>
              <a:rPr lang="en-US" altLang="zh-CN" sz="3400" baseline="28000" dirty="0">
                <a:solidFill>
                  <a:schemeClr val="tx1"/>
                </a:solidFill>
                <a:sym typeface="Symbol" panose="05050102010706020507" pitchFamily="18" charset="2"/>
              </a:rPr>
              <a:t>	</a:t>
            </a:r>
            <a:r>
              <a:rPr lang="zh-CN" altLang="en-US" sz="2800" dirty="0">
                <a:solidFill>
                  <a:schemeClr val="tx1"/>
                </a:solidFill>
                <a:ea typeface="黑体" panose="02010609060101010101" pitchFamily="49" charset="-122"/>
                <a:sym typeface="Symbol" panose="05050102010706020507" pitchFamily="18" charset="2"/>
              </a:rPr>
              <a:t>证  </a:t>
            </a:r>
            <a:r>
              <a:rPr lang="zh-CN" altLang="en-US" sz="2800" dirty="0">
                <a:solidFill>
                  <a:schemeClr val="tx1"/>
                </a:solidFill>
              </a:rPr>
              <a:t>必要性显然，只证充分性。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buNone/>
            </a:pPr>
            <a:r>
              <a:rPr lang="zh-CN" altLang="en-US" dirty="0"/>
              <a:t>    </a:t>
            </a:r>
            <a:r>
              <a:rPr lang="en-US" altLang="zh-CN" dirty="0"/>
              <a:t>(1) </a:t>
            </a:r>
            <a:r>
              <a:rPr lang="zh-CN" altLang="en-US" dirty="0"/>
              <a:t>若</a:t>
            </a:r>
            <a:r>
              <a:rPr lang="en-US" altLang="zh-CN" i="1" dirty="0"/>
              <a:t>F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i="1" dirty="0"/>
              <a:t>G</a:t>
            </a:r>
            <a:r>
              <a:rPr lang="en-US" altLang="zh-CN" baseline="30000" dirty="0"/>
              <a:t>+ </a:t>
            </a:r>
            <a:r>
              <a:rPr lang="zh-CN" altLang="en-US" dirty="0"/>
              <a:t>，则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G</a:t>
            </a:r>
            <a:r>
              <a:rPr lang="en-US" altLang="zh-CN" baseline="-30000" dirty="0"/>
              <a:t>+</a:t>
            </a:r>
            <a:r>
              <a:rPr lang="en-US" altLang="zh-CN" baseline="30000" dirty="0"/>
              <a:t>+ 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    </a:t>
            </a:r>
            <a:r>
              <a:rPr lang="en-US" altLang="zh-CN" dirty="0"/>
              <a:t>(2) </a:t>
            </a:r>
            <a:r>
              <a:rPr lang="zh-CN" altLang="en-US" dirty="0"/>
              <a:t>任取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Y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i="1" dirty="0"/>
              <a:t>F</a:t>
            </a:r>
            <a:r>
              <a:rPr lang="en-US" altLang="zh-CN" baseline="30000" dirty="0"/>
              <a:t>+  </a:t>
            </a:r>
            <a:r>
              <a:rPr lang="zh-CN" altLang="en-US" dirty="0"/>
              <a:t>则有 </a:t>
            </a:r>
            <a:r>
              <a:rPr lang="en-US" altLang="zh-CN" i="1" dirty="0"/>
              <a:t>Y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F</a:t>
            </a:r>
            <a:r>
              <a:rPr lang="en-US" altLang="zh-CN" baseline="30000" dirty="0"/>
              <a:t>+ 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 </a:t>
            </a:r>
            <a:r>
              <a:rPr lang="en-US" altLang="zh-CN" i="1" dirty="0"/>
              <a:t>X</a:t>
            </a:r>
            <a:r>
              <a:rPr lang="en-US" altLang="zh-CN" i="1" baseline="-30000" dirty="0"/>
              <a:t>G</a:t>
            </a:r>
            <a:r>
              <a:rPr lang="en-US" altLang="zh-CN" baseline="-30000" dirty="0"/>
              <a:t>+</a:t>
            </a:r>
            <a:r>
              <a:rPr lang="en-US" altLang="zh-CN" baseline="30000" dirty="0"/>
              <a:t>+ 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		     所以</a:t>
            </a:r>
            <a:r>
              <a:rPr lang="en-US" altLang="zh-CN" i="1" dirty="0"/>
              <a:t>X</a:t>
            </a:r>
            <a:r>
              <a:rPr lang="en-US" altLang="zh-CN" dirty="0"/>
              <a:t>→</a:t>
            </a:r>
            <a:r>
              <a:rPr lang="en-US" altLang="zh-CN" i="1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</a:t>
            </a:r>
            <a:r>
              <a:rPr lang="en-US" altLang="zh-CN" dirty="0"/>
              <a:t> (</a:t>
            </a:r>
            <a:r>
              <a:rPr lang="en-US" altLang="zh-CN" i="1" dirty="0"/>
              <a:t>G</a:t>
            </a:r>
            <a:r>
              <a:rPr lang="en-US" altLang="zh-CN" baseline="30000" dirty="0"/>
              <a:t>+</a:t>
            </a:r>
            <a:r>
              <a:rPr lang="zh-CN" altLang="en-US" dirty="0"/>
              <a:t>）</a:t>
            </a:r>
            <a:r>
              <a:rPr lang="en-US" altLang="zh-CN" baseline="30000" dirty="0"/>
              <a:t>+</a:t>
            </a:r>
            <a:r>
              <a:rPr lang="en-US" altLang="zh-CN" dirty="0"/>
              <a:t>= </a:t>
            </a:r>
            <a:r>
              <a:rPr lang="en-US" altLang="zh-CN" i="1" dirty="0"/>
              <a:t>G</a:t>
            </a:r>
            <a:r>
              <a:rPr lang="en-US" altLang="zh-CN" baseline="30000" dirty="0"/>
              <a:t>+</a:t>
            </a:r>
            <a:r>
              <a:rPr lang="zh-CN" altLang="en-US" dirty="0"/>
              <a:t>。即</a:t>
            </a:r>
            <a:r>
              <a:rPr lang="en-US" altLang="zh-CN" i="1" dirty="0"/>
              <a:t>F</a:t>
            </a:r>
            <a:r>
              <a:rPr lang="en-US" altLang="zh-CN" baseline="30000" dirty="0"/>
              <a:t>+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G</a:t>
            </a:r>
            <a:r>
              <a:rPr lang="en-US" altLang="zh-CN" baseline="30000" dirty="0"/>
              <a:t>+</a:t>
            </a:r>
            <a:r>
              <a:rPr lang="zh-CN" altLang="en-US" dirty="0"/>
              <a:t>。</a:t>
            </a:r>
            <a:endParaRPr lang="zh-CN" altLang="en-US" dirty="0"/>
          </a:p>
          <a:p>
            <a:pPr lvl="1" eaLnBrk="1" hangingPunct="1">
              <a:buNone/>
            </a:pPr>
            <a:r>
              <a:rPr lang="zh-CN" altLang="en-US" dirty="0"/>
              <a:t>    </a:t>
            </a:r>
            <a:r>
              <a:rPr lang="en-US" altLang="zh-CN" dirty="0"/>
              <a:t>(3) </a:t>
            </a:r>
            <a:r>
              <a:rPr lang="zh-CN" altLang="en-US" dirty="0"/>
              <a:t>同理可证</a:t>
            </a:r>
            <a:r>
              <a:rPr lang="en-US" altLang="zh-CN" i="1" dirty="0"/>
              <a:t>G</a:t>
            </a:r>
            <a:r>
              <a:rPr lang="en-US" altLang="zh-CN" baseline="30000" dirty="0"/>
              <a:t>+ </a:t>
            </a:r>
            <a:r>
              <a:rPr lang="en-US" altLang="zh-CN" dirty="0">
                <a:sym typeface="Symbol" panose="05050102010706020507" pitchFamily="18" charset="2"/>
              </a:rPr>
              <a:t></a:t>
            </a:r>
            <a:r>
              <a:rPr lang="en-US" altLang="zh-CN" dirty="0"/>
              <a:t> </a:t>
            </a:r>
            <a:r>
              <a:rPr lang="en-US" altLang="zh-CN" i="1" dirty="0"/>
              <a:t>F</a:t>
            </a:r>
            <a:r>
              <a:rPr lang="en-US" altLang="zh-CN" baseline="30000" dirty="0"/>
              <a:t>+ </a:t>
            </a:r>
            <a:r>
              <a:rPr lang="zh-CN" altLang="en-US" dirty="0"/>
              <a:t>，所以</a:t>
            </a:r>
            <a:r>
              <a:rPr lang="en-US" altLang="zh-CN" i="1" dirty="0"/>
              <a:t>F</a:t>
            </a:r>
            <a:r>
              <a:rPr lang="en-US" altLang="zh-CN" baseline="30000" dirty="0"/>
              <a:t>+ </a:t>
            </a:r>
            <a:r>
              <a:rPr lang="en-US" altLang="zh-CN" dirty="0"/>
              <a:t>= </a:t>
            </a:r>
            <a:r>
              <a:rPr lang="en-US" altLang="zh-CN" i="1" dirty="0"/>
              <a:t>G</a:t>
            </a:r>
            <a:r>
              <a:rPr lang="en-US" altLang="zh-CN" baseline="30000" dirty="0"/>
              <a:t>+</a:t>
            </a:r>
            <a:r>
              <a:rPr lang="zh-CN" altLang="en-US" dirty="0"/>
              <a:t>。</a:t>
            </a:r>
            <a:endParaRPr lang="zh-CN" altLang="en-US" dirty="0"/>
          </a:p>
        </p:txBody>
      </p:sp>
      <p:sp>
        <p:nvSpPr>
          <p:cNvPr id="6246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3491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8392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rgbClr val="FF0000"/>
                </a:solidFill>
              </a:rPr>
              <a:t>定义</a:t>
            </a:r>
            <a:r>
              <a:rPr lang="en-US" altLang="zh-CN" dirty="0">
                <a:solidFill>
                  <a:srgbClr val="FF0000"/>
                </a:solidFill>
              </a:rPr>
              <a:t>6.11 </a:t>
            </a:r>
            <a:r>
              <a:rPr lang="zh-CN" altLang="en-US" dirty="0">
                <a:solidFill>
                  <a:schemeClr val="tx1"/>
                </a:solidFill>
              </a:rPr>
              <a:t>如果函数依赖集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满足下列条件，则称</a:t>
            </a:r>
            <a:r>
              <a:rPr lang="en-US" altLang="zh-CN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为一个</a:t>
            </a:r>
            <a:r>
              <a:rPr lang="zh-CN" altLang="en-US" dirty="0">
                <a:solidFill>
                  <a:srgbClr val="FF0000"/>
                </a:solidFill>
              </a:rPr>
              <a:t>极小函数依赖集</a:t>
            </a:r>
            <a:r>
              <a:rPr lang="zh-CN" altLang="en-US" dirty="0">
                <a:solidFill>
                  <a:schemeClr val="tx1"/>
                </a:solidFill>
              </a:rPr>
              <a:t>。亦称为</a:t>
            </a:r>
            <a:r>
              <a:rPr lang="zh-CN" altLang="en-US" dirty="0">
                <a:solidFill>
                  <a:srgbClr val="FF0000"/>
                </a:solidFill>
              </a:rPr>
              <a:t>最小依赖集</a:t>
            </a:r>
            <a:r>
              <a:rPr lang="zh-CN" altLang="en-US" dirty="0">
                <a:solidFill>
                  <a:schemeClr val="tx1"/>
                </a:solidFill>
              </a:rPr>
              <a:t>或</a:t>
            </a:r>
            <a:r>
              <a:rPr lang="zh-CN" altLang="en-US" dirty="0">
                <a:solidFill>
                  <a:srgbClr val="FF0000"/>
                </a:solidFill>
              </a:rPr>
              <a:t>最小覆盖</a:t>
            </a:r>
            <a:r>
              <a:rPr lang="zh-CN" altLang="en-US" dirty="0">
                <a:solidFill>
                  <a:schemeClr val="tx1"/>
                </a:solidFill>
              </a:rPr>
              <a:t>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中任一函数依赖的右部仅含单属性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</a:rPr>
              <a:t>单属性化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(2) F</a:t>
            </a:r>
            <a:r>
              <a:rPr lang="zh-CN" altLang="en-US" sz="2800" dirty="0">
                <a:solidFill>
                  <a:schemeClr val="tx1"/>
                </a:solidFill>
              </a:rPr>
              <a:t>中不存在这样的函数依赖</a:t>
            </a:r>
            <a:r>
              <a:rPr lang="en-US" altLang="zh-CN" sz="2800" dirty="0">
                <a:solidFill>
                  <a:schemeClr val="tx1"/>
                </a:solidFill>
              </a:rPr>
              <a:t>X→A</a:t>
            </a:r>
            <a:r>
              <a:rPr lang="zh-CN" altLang="en-US" sz="2800" dirty="0">
                <a:solidFill>
                  <a:schemeClr val="tx1"/>
                </a:solidFill>
              </a:rPr>
              <a:t>，使得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F-{X→A}</a:t>
            </a:r>
            <a:r>
              <a:rPr lang="zh-CN" altLang="en-US" sz="2800" dirty="0">
                <a:solidFill>
                  <a:schemeClr val="tx1"/>
                </a:solidFill>
              </a:rPr>
              <a:t>等价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</a:rPr>
              <a:t>无冗余化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(3) F</a:t>
            </a:r>
            <a:r>
              <a:rPr lang="zh-CN" altLang="en-US" sz="2800" dirty="0">
                <a:solidFill>
                  <a:schemeClr val="tx1"/>
                </a:solidFill>
              </a:rPr>
              <a:t>中不存在这样的函数依赖</a:t>
            </a:r>
            <a:r>
              <a:rPr lang="en-US" altLang="zh-CN" sz="2800" dirty="0">
                <a:solidFill>
                  <a:schemeClr val="tx1"/>
                </a:solidFill>
              </a:rPr>
              <a:t>X→A</a:t>
            </a:r>
            <a:r>
              <a:rPr lang="zh-CN" altLang="en-US" sz="2800" dirty="0">
                <a:solidFill>
                  <a:schemeClr val="tx1"/>
                </a:solidFill>
              </a:rPr>
              <a:t>， 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有真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子集</a:t>
            </a:r>
            <a:r>
              <a:rPr lang="en-US" altLang="zh-CN" sz="2800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使得</a:t>
            </a:r>
            <a:r>
              <a:rPr lang="en-US" altLang="zh-CN" sz="2800" dirty="0">
                <a:solidFill>
                  <a:schemeClr val="tx1"/>
                </a:solidFill>
              </a:rPr>
              <a:t>F-{X→A}∪{Z→A}</a:t>
            </a: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等价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</a:rPr>
              <a:t>既约化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r>
              <a:rPr lang="zh-CN" altLang="en-US" dirty="0"/>
              <a:t> </a:t>
            </a:r>
            <a:endParaRPr lang="zh-CN" altLang="en-US" dirty="0"/>
          </a:p>
        </p:txBody>
      </p:sp>
      <p:sp>
        <p:nvSpPr>
          <p:cNvPr id="6349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4515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8392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lang="zh-CN" altLang="en-US" dirty="0">
                <a:solidFill>
                  <a:srgbClr val="FF0000"/>
                </a:solidFill>
              </a:rPr>
              <a:t>定理</a:t>
            </a:r>
            <a:r>
              <a:rPr lang="en-US" altLang="zh-CN" dirty="0">
                <a:solidFill>
                  <a:srgbClr val="FF0000"/>
                </a:solidFill>
              </a:rPr>
              <a:t>6.3 </a:t>
            </a:r>
            <a:r>
              <a:rPr lang="zh-CN" altLang="en-US" dirty="0">
                <a:solidFill>
                  <a:schemeClr val="tx1"/>
                </a:solidFill>
              </a:rPr>
              <a:t>每一个函数依赖集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均等价于一个极小函数依赖集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en-US" altLang="zh-CN" i="1" baseline="-30000" dirty="0">
                <a:solidFill>
                  <a:schemeClr val="tx1"/>
                </a:solidFill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。此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en-US" altLang="zh-CN" i="1" baseline="-30000" dirty="0">
                <a:solidFill>
                  <a:schemeClr val="tx1"/>
                </a:solidFill>
              </a:rPr>
              <a:t>m</a:t>
            </a:r>
            <a:r>
              <a:rPr lang="zh-CN" altLang="en-US" dirty="0">
                <a:solidFill>
                  <a:schemeClr val="tx1"/>
                </a:solidFill>
              </a:rPr>
              <a:t>称为</a:t>
            </a:r>
            <a:r>
              <a:rPr lang="en-US" altLang="zh-CN" i="1" dirty="0">
                <a:solidFill>
                  <a:schemeClr val="tx1"/>
                </a:solidFill>
              </a:rPr>
              <a:t>F</a:t>
            </a:r>
            <a:r>
              <a:rPr lang="zh-CN" altLang="en-US" dirty="0">
                <a:solidFill>
                  <a:schemeClr val="tx1"/>
                </a:solidFill>
              </a:rPr>
              <a:t>的最小依赖集。</a:t>
            </a:r>
            <a:endParaRPr lang="zh-CN" altLang="en-US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(1)</a:t>
            </a:r>
            <a:r>
              <a:rPr lang="en-US" altLang="zh-CN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中任一函数依赖的右部仅含单属性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</a:rPr>
              <a:t>单属性化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(2) F</a:t>
            </a:r>
            <a:r>
              <a:rPr lang="zh-CN" altLang="en-US" sz="2800" dirty="0">
                <a:solidFill>
                  <a:schemeClr val="tx1"/>
                </a:solidFill>
              </a:rPr>
              <a:t>中不存在这样的函数依赖</a:t>
            </a:r>
            <a:r>
              <a:rPr lang="en-US" altLang="zh-CN" sz="2800" dirty="0">
                <a:solidFill>
                  <a:schemeClr val="tx1"/>
                </a:solidFill>
              </a:rPr>
              <a:t>X→A</a:t>
            </a:r>
            <a:r>
              <a:rPr lang="zh-CN" altLang="en-US" sz="2800" dirty="0">
                <a:solidFill>
                  <a:schemeClr val="tx1"/>
                </a:solidFill>
              </a:rPr>
              <a:t>，使得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	</a:t>
            </a:r>
            <a:r>
              <a:rPr lang="en-US" altLang="zh-CN" sz="2800" dirty="0">
                <a:solidFill>
                  <a:schemeClr val="tx1"/>
                </a:solidFill>
              </a:rPr>
              <a:t>F-{X→A}</a:t>
            </a:r>
            <a:r>
              <a:rPr lang="zh-CN" altLang="en-US" sz="2800" dirty="0">
                <a:solidFill>
                  <a:schemeClr val="tx1"/>
                </a:solidFill>
              </a:rPr>
              <a:t>等价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</a:rPr>
              <a:t>无冗余化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(3) F</a:t>
            </a:r>
            <a:r>
              <a:rPr lang="zh-CN" altLang="en-US" sz="2800" dirty="0">
                <a:solidFill>
                  <a:schemeClr val="tx1"/>
                </a:solidFill>
              </a:rPr>
              <a:t>中不存在这样的函数依赖</a:t>
            </a:r>
            <a:r>
              <a:rPr lang="en-US" altLang="zh-CN" sz="2800" dirty="0">
                <a:solidFill>
                  <a:schemeClr val="tx1"/>
                </a:solidFill>
              </a:rPr>
              <a:t>X→A</a:t>
            </a:r>
            <a:r>
              <a:rPr lang="zh-CN" altLang="en-US" sz="2800" dirty="0">
                <a:solidFill>
                  <a:schemeClr val="tx1"/>
                </a:solidFill>
              </a:rPr>
              <a:t>， </a:t>
            </a:r>
            <a:r>
              <a:rPr lang="en-US" altLang="zh-CN" sz="2800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有真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子集</a:t>
            </a:r>
            <a:r>
              <a:rPr lang="en-US" altLang="zh-CN" sz="2800" dirty="0">
                <a:solidFill>
                  <a:schemeClr val="tx1"/>
                </a:solidFill>
              </a:rPr>
              <a:t>Z</a:t>
            </a:r>
            <a:r>
              <a:rPr lang="zh-CN" altLang="en-US" sz="2800" dirty="0">
                <a:solidFill>
                  <a:schemeClr val="tx1"/>
                </a:solidFill>
              </a:rPr>
              <a:t>使得</a:t>
            </a:r>
            <a:r>
              <a:rPr lang="en-US" altLang="zh-CN" sz="2800" dirty="0">
                <a:solidFill>
                  <a:schemeClr val="tx1"/>
                </a:solidFill>
              </a:rPr>
              <a:t>F-{X→A}∪{Z→A}</a:t>
            </a: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等价</a:t>
            </a:r>
            <a:r>
              <a:rPr lang="en-US" altLang="zh-CN" sz="2800" dirty="0">
                <a:solidFill>
                  <a:schemeClr val="tx1"/>
                </a:solidFill>
              </a:rPr>
              <a:t>(</a:t>
            </a:r>
            <a:r>
              <a:rPr lang="zh-CN" altLang="en-US" sz="2800" dirty="0">
                <a:solidFill>
                  <a:schemeClr val="accent2"/>
                </a:solidFill>
              </a:rPr>
              <a:t>既约化</a:t>
            </a:r>
            <a:r>
              <a:rPr lang="en-US" altLang="zh-CN" sz="2800" dirty="0">
                <a:solidFill>
                  <a:schemeClr val="tx1"/>
                </a:solidFill>
              </a:rPr>
              <a:t>)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dirty="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证</a:t>
            </a:r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这是一个构造性的证明，分三步对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进行</a:t>
            </a:r>
            <a:r>
              <a:rPr lang="zh-CN" altLang="en-US" sz="2800" dirty="0">
                <a:solidFill>
                  <a:schemeClr val="tx1"/>
                </a:solidFill>
              </a:rPr>
              <a:t>“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极小化</a:t>
            </a:r>
            <a:r>
              <a:rPr lang="zh-CN" altLang="en-US" sz="2800" dirty="0">
                <a:solidFill>
                  <a:schemeClr val="tx1"/>
                </a:solidFill>
              </a:rPr>
              <a:t>”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处理，找出</a:t>
            </a:r>
            <a:r>
              <a:rPr lang="en-US" altLang="zh-CN" sz="2800" dirty="0">
                <a:solidFill>
                  <a:schemeClr val="tx1"/>
                </a:solidFill>
                <a:latin typeface="宋体" panose="02010600030101010101" pitchFamily="2" charset="-122"/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latin typeface="宋体" panose="02010600030101010101" pitchFamily="2" charset="-122"/>
              </a:rPr>
              <a:t>的一个最小依赖集来。</a:t>
            </a:r>
            <a:endParaRPr lang="zh-CN" altLang="en-US" dirty="0">
              <a:solidFill>
                <a:schemeClr val="tx1"/>
              </a:solidFill>
              <a:latin typeface="宋体" panose="02010600030101010101" pitchFamily="2" charset="-122"/>
            </a:endParaRPr>
          </a:p>
        </p:txBody>
      </p:sp>
      <p:sp>
        <p:nvSpPr>
          <p:cNvPr id="6451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5539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839200" cy="5486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  <a:buNone/>
            </a:pPr>
            <a:r>
              <a:rPr lang="en-US" altLang="zh-CN" sz="2800" dirty="0"/>
              <a:t>(1)</a:t>
            </a:r>
            <a:r>
              <a:rPr lang="zh-CN" altLang="en-US" sz="2800" dirty="0"/>
              <a:t>利用分解规则，将所有函数依赖右部单属性化。</a:t>
            </a:r>
            <a:endParaRPr lang="zh-CN" altLang="en-US" sz="2800" dirty="0"/>
          </a:p>
          <a:p>
            <a:pPr eaLnBrk="1" hangingPunct="1">
              <a:lnSpc>
                <a:spcPct val="120000"/>
              </a:lnSpc>
              <a:buNone/>
            </a:pPr>
            <a:r>
              <a:rPr lang="zh-CN" altLang="en-US" sz="2800" dirty="0"/>
              <a:t>	</a:t>
            </a:r>
            <a:r>
              <a:rPr lang="zh-CN" altLang="en-US" sz="2800" dirty="0">
                <a:solidFill>
                  <a:schemeClr val="tx1"/>
                </a:solidFill>
              </a:rPr>
              <a:t>逐一检查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中各函数依赖</a:t>
            </a:r>
            <a:r>
              <a:rPr lang="en-US" altLang="zh-CN" sz="2800" i="1" dirty="0">
                <a:solidFill>
                  <a:schemeClr val="tx1"/>
                </a:solidFill>
              </a:rPr>
              <a:t>FD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i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， 若</a:t>
            </a:r>
            <a:r>
              <a:rPr lang="en-US" altLang="zh-CN" sz="2800" i="1" dirty="0">
                <a:solidFill>
                  <a:schemeClr val="tx1"/>
                </a:solidFill>
              </a:rPr>
              <a:t>Y </a:t>
            </a:r>
            <a:r>
              <a:rPr lang="en-US" altLang="zh-CN" sz="2800" dirty="0">
                <a:solidFill>
                  <a:schemeClr val="tx1"/>
                </a:solidFill>
              </a:rPr>
              <a:t>= 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1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2</a:t>
            </a:r>
            <a:r>
              <a:rPr lang="en-US" altLang="zh-CN" sz="2800" dirty="0">
                <a:solidFill>
                  <a:schemeClr val="tx1"/>
                </a:solidFill>
              </a:rPr>
              <a:t> …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k</a:t>
            </a:r>
            <a:r>
              <a:rPr lang="en-US" altLang="zh-CN" sz="2800" dirty="0">
                <a:solidFill>
                  <a:schemeClr val="tx1"/>
                </a:solidFill>
              </a:rPr>
              <a:t>, </a:t>
            </a:r>
            <a:r>
              <a:rPr lang="en-US" altLang="zh-CN" sz="2800" i="1" dirty="0">
                <a:solidFill>
                  <a:schemeClr val="tx1"/>
                </a:solidFill>
              </a:rPr>
              <a:t>k </a:t>
            </a:r>
            <a:r>
              <a:rPr lang="en-US" altLang="zh-CN" sz="2800" dirty="0">
                <a:solidFill>
                  <a:schemeClr val="tx1"/>
                </a:solidFill>
              </a:rPr>
              <a:t>&gt; 2</a:t>
            </a:r>
            <a:r>
              <a:rPr lang="zh-CN" altLang="en-US" sz="2800" dirty="0">
                <a:solidFill>
                  <a:schemeClr val="tx1"/>
                </a:solidFill>
              </a:rPr>
              <a:t>，则用 </a:t>
            </a:r>
            <a:r>
              <a:rPr lang="en-US" altLang="zh-CN" sz="2800" dirty="0">
                <a:solidFill>
                  <a:schemeClr val="tx1"/>
                </a:solidFill>
              </a:rPr>
              <a:t>{ 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j</a:t>
            </a:r>
            <a:r>
              <a:rPr lang="en-US" altLang="zh-CN" sz="2800" baseline="-300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|</a:t>
            </a:r>
            <a:r>
              <a:rPr lang="en-US" altLang="zh-CN" sz="2800" i="1" dirty="0">
                <a:solidFill>
                  <a:schemeClr val="tx1"/>
                </a:solidFill>
              </a:rPr>
              <a:t>j</a:t>
            </a:r>
            <a:r>
              <a:rPr lang="en-US" altLang="zh-CN" sz="2800" dirty="0">
                <a:solidFill>
                  <a:schemeClr val="tx1"/>
                </a:solidFill>
              </a:rPr>
              <a:t>=1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r>
              <a:rPr lang="zh-CN" altLang="en-US" sz="2800" dirty="0">
                <a:solidFill>
                  <a:schemeClr val="tx1"/>
                </a:solidFill>
              </a:rPr>
              <a:t>， </a:t>
            </a:r>
            <a:r>
              <a:rPr lang="en-US" altLang="zh-CN" sz="2800" i="1" dirty="0">
                <a:solidFill>
                  <a:schemeClr val="tx1"/>
                </a:solidFill>
              </a:rPr>
              <a:t>k</a:t>
            </a:r>
            <a:r>
              <a:rPr lang="en-US" altLang="zh-CN" sz="2800" dirty="0">
                <a:solidFill>
                  <a:schemeClr val="tx1"/>
                </a:solidFill>
              </a:rPr>
              <a:t>} </a:t>
            </a:r>
            <a:r>
              <a:rPr lang="zh-CN" altLang="en-US" sz="2800" dirty="0">
                <a:solidFill>
                  <a:schemeClr val="tx1"/>
                </a:solidFill>
              </a:rPr>
              <a:t>来取代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Y</a:t>
            </a:r>
            <a:r>
              <a:rPr lang="zh-CN" altLang="en-US" sz="2800" dirty="0">
                <a:solidFill>
                  <a:schemeClr val="tx1"/>
                </a:solidFill>
              </a:rPr>
              <a:t>。引理</a:t>
            </a:r>
            <a:r>
              <a:rPr lang="en-US" altLang="zh-CN" sz="2800" dirty="0">
                <a:solidFill>
                  <a:schemeClr val="tx1"/>
                </a:solidFill>
              </a:rPr>
              <a:t>5.1</a:t>
            </a:r>
            <a:r>
              <a:rPr lang="zh-CN" altLang="en-US" sz="2800" dirty="0">
                <a:solidFill>
                  <a:schemeClr val="tx1"/>
                </a:solidFill>
              </a:rPr>
              <a:t>保证了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变换前后的等价性。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/>
              <a:t>(2)</a:t>
            </a:r>
            <a:r>
              <a:rPr lang="zh-CN" altLang="en-US" sz="2800" dirty="0"/>
              <a:t>去掉多余的函数依赖。</a:t>
            </a:r>
            <a:endParaRPr lang="zh-CN" altLang="en-US" sz="2800" dirty="0"/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/>
              <a:t>  	</a:t>
            </a:r>
            <a:r>
              <a:rPr lang="zh-CN" altLang="en-US" sz="2800" dirty="0">
                <a:solidFill>
                  <a:schemeClr val="tx1"/>
                </a:solidFill>
              </a:rPr>
              <a:t>逐一检查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中各函数依赖</a:t>
            </a:r>
            <a:r>
              <a:rPr lang="en-US" altLang="zh-CN" sz="2800" i="1" dirty="0">
                <a:solidFill>
                  <a:schemeClr val="tx1"/>
                </a:solidFill>
              </a:rPr>
              <a:t>FD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i</a:t>
            </a:r>
            <a:r>
              <a:rPr lang="zh-CN" altLang="en-US" sz="2800" dirty="0">
                <a:solidFill>
                  <a:schemeClr val="tx1"/>
                </a:solidFill>
              </a:rPr>
              <a:t>：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令</a:t>
            </a:r>
            <a:r>
              <a:rPr lang="en-US" altLang="zh-CN" sz="2800" i="1" dirty="0">
                <a:solidFill>
                  <a:schemeClr val="tx1"/>
                </a:solidFill>
              </a:rPr>
              <a:t>G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-{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},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</a:rPr>
              <a:t>若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G</a:t>
            </a:r>
            <a:r>
              <a:rPr lang="en-US" altLang="zh-CN" sz="2800" baseline="30000" dirty="0">
                <a:solidFill>
                  <a:schemeClr val="tx1"/>
                </a:solidFill>
              </a:rPr>
              <a:t>+</a:t>
            </a:r>
            <a:r>
              <a:rPr lang="zh-CN" altLang="en-US" sz="2800" dirty="0">
                <a:solidFill>
                  <a:schemeClr val="tx1"/>
                </a:solidFill>
              </a:rPr>
              <a:t>， 则从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中去掉此函数依赖。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由于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r>
              <a:rPr lang="en-US" altLang="zh-CN" sz="2800" i="1" dirty="0">
                <a:solidFill>
                  <a:schemeClr val="tx1"/>
                </a:solidFill>
              </a:rPr>
              <a:t>G 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-{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}</a:t>
            </a:r>
            <a:r>
              <a:rPr lang="zh-CN" altLang="en-US" sz="2800" dirty="0">
                <a:solidFill>
                  <a:schemeClr val="tx1"/>
                </a:solidFill>
              </a:rPr>
              <a:t>等价的充要条件是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G</a:t>
            </a:r>
            <a:r>
              <a:rPr lang="en-US" altLang="zh-CN" sz="2800" baseline="30000" dirty="0">
                <a:solidFill>
                  <a:schemeClr val="tx1"/>
                </a:solidFill>
              </a:rPr>
              <a:t>+ 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3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</a:t>
            </a:r>
            <a:r>
              <a:rPr lang="zh-CN" altLang="en-US" sz="2800" dirty="0">
                <a:solidFill>
                  <a:schemeClr val="tx1"/>
                </a:solidFill>
              </a:rPr>
              <a:t>因此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变换前后是等价的。</a:t>
            </a:r>
            <a:endParaRPr lang="zh-CN" altLang="en-US" sz="2800" dirty="0">
              <a:solidFill>
                <a:schemeClr val="tx1"/>
              </a:solidFill>
            </a:endParaRPr>
          </a:p>
        </p:txBody>
      </p:sp>
      <p:sp>
        <p:nvSpPr>
          <p:cNvPr id="6554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56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6563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839200" cy="57912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/>
              <a:t>(3) </a:t>
            </a:r>
            <a:r>
              <a:rPr lang="zh-CN" altLang="en-US" sz="2800" dirty="0"/>
              <a:t>去掉每个函数依赖左部的多余属性。</a:t>
            </a:r>
            <a:endParaRPr lang="zh-CN" altLang="en-US" sz="2800" dirty="0"/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	逐一取出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中各函数依赖</a:t>
            </a:r>
            <a:r>
              <a:rPr lang="en-US" altLang="zh-CN" sz="2800" i="1" dirty="0">
                <a:solidFill>
                  <a:schemeClr val="tx1"/>
                </a:solidFill>
              </a:rPr>
              <a:t>FD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设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baseline="-30000" dirty="0">
                <a:solidFill>
                  <a:schemeClr val="tx1"/>
                </a:solidFill>
              </a:rPr>
              <a:t>1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baseline="-30000" dirty="0">
                <a:solidFill>
                  <a:schemeClr val="tx1"/>
                </a:solidFill>
              </a:rPr>
              <a:t>2</a:t>
            </a:r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m</a:t>
            </a:r>
            <a:r>
              <a:rPr lang="en-US" altLang="zh-CN" sz="2800" dirty="0">
                <a:solidFill>
                  <a:schemeClr val="tx1"/>
                </a:solidFill>
              </a:rPr>
              <a:t>,   </a:t>
            </a:r>
            <a:r>
              <a:rPr lang="zh-CN" altLang="en-US" sz="2800" dirty="0">
                <a:solidFill>
                  <a:schemeClr val="tx1"/>
                </a:solidFill>
              </a:rPr>
              <a:t>逐一考查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i</a:t>
            </a:r>
            <a:r>
              <a:rPr lang="en-US" altLang="zh-CN" sz="2800" baseline="-300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en-US" altLang="zh-CN" sz="2800" i="1" dirty="0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=l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</a:rPr>
              <a:t>…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m</a:t>
            </a:r>
            <a:r>
              <a:rPr lang="zh-CN" altLang="en-US" sz="2800" dirty="0">
                <a:solidFill>
                  <a:schemeClr val="tx1"/>
                </a:solidFill>
              </a:rPr>
              <a:t>）</a:t>
            </a:r>
            <a:r>
              <a:rPr lang="en-US" altLang="zh-CN" sz="2800" dirty="0">
                <a:solidFill>
                  <a:schemeClr val="tx1"/>
                </a:solidFill>
              </a:rPr>
              <a:t>, </a:t>
            </a:r>
            <a:r>
              <a:rPr lang="zh-CN" altLang="en-US" sz="2800" dirty="0">
                <a:solidFill>
                  <a:schemeClr val="tx1"/>
                </a:solidFill>
              </a:rPr>
              <a:t>若</a:t>
            </a:r>
            <a:r>
              <a:rPr lang="en-US" altLang="zh-CN" sz="2800" i="1" dirty="0">
                <a:solidFill>
                  <a:schemeClr val="tx1"/>
                </a:solidFill>
              </a:rPr>
              <a:t>A 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zh-CN" altLang="en-US" sz="2800" dirty="0">
                <a:solidFill>
                  <a:schemeClr val="tx1"/>
                </a:solidFill>
              </a:rPr>
              <a:t>（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-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i</a:t>
            </a:r>
            <a:r>
              <a:rPr lang="en-US" altLang="zh-CN" sz="2800" baseline="-300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）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</a:rPr>
              <a:t>+ </a:t>
            </a:r>
            <a:r>
              <a:rPr lang="zh-CN" altLang="en-US" sz="2800" dirty="0">
                <a:solidFill>
                  <a:schemeClr val="tx1"/>
                </a:solidFill>
              </a:rPr>
              <a:t>， 则以</a:t>
            </a:r>
            <a:r>
              <a:rPr lang="en-US" altLang="zh-CN" sz="2800" dirty="0">
                <a:solidFill>
                  <a:schemeClr val="tx1"/>
                </a:solidFill>
              </a:rPr>
              <a:t>Z=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-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i</a:t>
            </a:r>
            <a:r>
              <a:rPr lang="en-US" altLang="zh-CN" sz="2800" baseline="-300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取代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zh-CN" altLang="en-US" sz="2800" i="1" dirty="0">
                <a:solidFill>
                  <a:schemeClr val="tx1"/>
                </a:solidFill>
              </a:rPr>
              <a:t>。</a:t>
            </a:r>
            <a:r>
              <a:rPr lang="zh-CN" altLang="en-US" sz="2800" dirty="0">
                <a:solidFill>
                  <a:schemeClr val="tx1"/>
                </a:solidFill>
              </a:rPr>
              <a:t>由于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与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-{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}∪{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}</a:t>
            </a:r>
            <a:r>
              <a:rPr lang="zh-CN" altLang="en-US" sz="2800" dirty="0">
                <a:solidFill>
                  <a:schemeClr val="tx1"/>
                </a:solidFill>
              </a:rPr>
              <a:t>等价的充要条件是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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F</a:t>
            </a:r>
            <a:r>
              <a:rPr lang="en-US" altLang="zh-CN" sz="2800" baseline="30000" dirty="0">
                <a:solidFill>
                  <a:schemeClr val="tx1"/>
                </a:solidFill>
              </a:rPr>
              <a:t>+ </a:t>
            </a:r>
            <a:r>
              <a:rPr lang="zh-CN" altLang="en-US" sz="2800" dirty="0">
                <a:solidFill>
                  <a:schemeClr val="tx1"/>
                </a:solidFill>
              </a:rPr>
              <a:t>，其中</a:t>
            </a:r>
            <a:r>
              <a:rPr lang="en-US" altLang="zh-CN" sz="2800" i="1" dirty="0">
                <a:solidFill>
                  <a:schemeClr val="tx1"/>
                </a:solidFill>
              </a:rPr>
              <a:t>Z</a:t>
            </a:r>
            <a:r>
              <a:rPr lang="en-US" altLang="zh-CN" sz="2800" dirty="0">
                <a:solidFill>
                  <a:schemeClr val="tx1"/>
                </a:solidFill>
              </a:rPr>
              <a:t>=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-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i</a:t>
            </a:r>
            <a:r>
              <a:rPr lang="en-US" altLang="zh-CN" sz="2800" baseline="-30000" dirty="0">
                <a:solidFill>
                  <a:schemeClr val="tx1"/>
                </a:solidFill>
              </a:rPr>
              <a:t> </a:t>
            </a:r>
            <a:r>
              <a:rPr lang="en-US" altLang="zh-CN" sz="2800" dirty="0">
                <a:solidFill>
                  <a:schemeClr val="tx1"/>
                </a:solidFill>
              </a:rPr>
              <a:t>, </a:t>
            </a:r>
            <a:r>
              <a:rPr lang="zh-CN" altLang="en-US" sz="2800" dirty="0">
                <a:solidFill>
                  <a:schemeClr val="tx1"/>
                </a:solidFill>
              </a:rPr>
              <a:t>因此</a:t>
            </a:r>
            <a:r>
              <a:rPr lang="en-US" altLang="zh-CN" sz="2800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变换前后是等价的。由定义</a:t>
            </a:r>
            <a:r>
              <a:rPr lang="en-US" altLang="zh-CN" sz="2800" dirty="0">
                <a:solidFill>
                  <a:schemeClr val="tx1"/>
                </a:solidFill>
              </a:rPr>
              <a:t>,</a:t>
            </a:r>
            <a:r>
              <a:rPr lang="zh-CN" altLang="en-US" sz="2800" dirty="0">
                <a:solidFill>
                  <a:schemeClr val="tx1"/>
                </a:solidFill>
              </a:rPr>
              <a:t>最后剩下的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就一定是极小依赖集。因为对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的每一次“改造”都保证了改造前后的两个函数依赖集等价，因此剩下的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与原来的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等价。 证毕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eaLnBrk="1" hangingPunct="1">
              <a:lnSpc>
                <a:spcPct val="120000"/>
              </a:lnSpc>
            </a:pPr>
            <a:r>
              <a:rPr lang="zh-CN" altLang="en-US" sz="2800" dirty="0">
                <a:solidFill>
                  <a:schemeClr val="accent2"/>
                </a:solidFill>
              </a:rPr>
              <a:t>定理</a:t>
            </a:r>
            <a:r>
              <a:rPr lang="en-US" altLang="zh-CN" sz="2800" dirty="0">
                <a:solidFill>
                  <a:schemeClr val="accent2"/>
                </a:solidFill>
              </a:rPr>
              <a:t>6.3</a:t>
            </a:r>
            <a:r>
              <a:rPr lang="zh-CN" altLang="en-US" sz="2800" dirty="0">
                <a:solidFill>
                  <a:schemeClr val="accent2"/>
                </a:solidFill>
              </a:rPr>
              <a:t>的证明过程 是求</a:t>
            </a:r>
            <a:r>
              <a:rPr lang="en-US" altLang="zh-CN" sz="2800" i="1" dirty="0">
                <a:solidFill>
                  <a:schemeClr val="accent2"/>
                </a:solidFill>
              </a:rPr>
              <a:t>F</a:t>
            </a:r>
            <a:r>
              <a:rPr lang="zh-CN" altLang="en-US" sz="2800" dirty="0">
                <a:solidFill>
                  <a:schemeClr val="accent2"/>
                </a:solidFill>
              </a:rPr>
              <a:t>极小依赖集的过程，也是检验</a:t>
            </a:r>
            <a:r>
              <a:rPr lang="en-US" altLang="zh-CN" sz="2800" i="1" dirty="0">
                <a:solidFill>
                  <a:schemeClr val="accent2"/>
                </a:solidFill>
              </a:rPr>
              <a:t>F</a:t>
            </a:r>
            <a:r>
              <a:rPr lang="zh-CN" altLang="en-US" sz="2800" dirty="0">
                <a:solidFill>
                  <a:schemeClr val="accent2"/>
                </a:solidFill>
              </a:rPr>
              <a:t>是否为极小依赖集的一个算法。</a:t>
            </a:r>
            <a:endParaRPr lang="zh-CN" altLang="en-US" sz="2800" dirty="0">
              <a:solidFill>
                <a:schemeClr val="accent2"/>
              </a:solidFill>
            </a:endParaRPr>
          </a:p>
        </p:txBody>
      </p:sp>
      <p:sp>
        <p:nvSpPr>
          <p:cNvPr id="6656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8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7587" name="Rectangle 2"/>
          <p:cNvSpPr>
            <a:spLocks noGrp="1"/>
          </p:cNvSpPr>
          <p:nvPr>
            <p:ph idx="1"/>
          </p:nvPr>
        </p:nvSpPr>
        <p:spPr>
          <a:xfrm>
            <a:off x="76200" y="685800"/>
            <a:ext cx="8915400" cy="59436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6.6】</a:t>
            </a:r>
            <a:r>
              <a:rPr lang="en-US" altLang="zh-CN" sz="2800" dirty="0"/>
              <a:t> 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 = {A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B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BA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AC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BC</a:t>
            </a:r>
            <a:r>
              <a:rPr lang="en-US" altLang="zh-CN" sz="2800" dirty="0">
                <a:solidFill>
                  <a:schemeClr val="tx1"/>
                </a:solidFill>
              </a:rPr>
              <a:t>}, </a:t>
            </a:r>
            <a:r>
              <a:rPr lang="zh-CN" altLang="en-US" sz="2800" dirty="0">
                <a:solidFill>
                  <a:schemeClr val="tx1"/>
                </a:solidFill>
              </a:rPr>
              <a:t>求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25000" dirty="0">
                <a:solidFill>
                  <a:schemeClr val="tx1"/>
                </a:solidFill>
              </a:rPr>
              <a:t>m</a:t>
            </a:r>
            <a:r>
              <a:rPr lang="zh-CN" altLang="en-US" sz="2800" i="1" dirty="0">
                <a:solidFill>
                  <a:schemeClr val="tx1"/>
                </a:solidFill>
              </a:rPr>
              <a:t>。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解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: </a:t>
            </a:r>
            <a:r>
              <a:rPr lang="en-US" altLang="zh-CN" sz="2800" i="1" dirty="0">
                <a:solidFill>
                  <a:schemeClr val="tx1"/>
                </a:solidFill>
                <a:sym typeface="Wingdings" panose="05000000000000000000" pitchFamily="2" charset="2"/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已单属性化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且既约化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只需去掉</a:t>
            </a:r>
            <a:r>
              <a:rPr lang="zh-CN" altLang="en-US" sz="2800" dirty="0">
                <a:solidFill>
                  <a:schemeClr val="tx1"/>
                </a:solidFill>
              </a:rPr>
              <a:t>多余的</a:t>
            </a:r>
            <a:r>
              <a:rPr lang="en-US" altLang="zh-CN" sz="2800" i="1" dirty="0">
                <a:solidFill>
                  <a:schemeClr val="tx1"/>
                </a:solidFill>
              </a:rPr>
              <a:t>FD</a:t>
            </a:r>
            <a:r>
              <a:rPr lang="zh-CN" altLang="en-US" sz="2800" dirty="0">
                <a:solidFill>
                  <a:schemeClr val="tx1"/>
                </a:solidFill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检查</a:t>
            </a:r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B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G=F{</a:t>
            </a:r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B}={BA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AC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BC}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	A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={A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C}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B{A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C}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。保留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</a:rPr>
              <a:t>同理</a:t>
            </a:r>
            <a:r>
              <a:rPr lang="en-US" altLang="zh-CN" dirty="0">
                <a:ea typeface="宋体" panose="02010600030101010101" pitchFamily="2" charset="-122"/>
              </a:rPr>
              <a:t>, B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A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保留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endParaRPr lang="en-US" altLang="zh-CN" dirty="0">
              <a:ea typeface="宋体" panose="02010600030101010101" pitchFamily="2" charset="-122"/>
            </a:endParaRPr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dirty="0">
                <a:solidFill>
                  <a:srgbClr val="FF0000"/>
                </a:solidFill>
                <a:ea typeface="宋体" panose="02010600030101010101" pitchFamily="2" charset="-122"/>
              </a:rPr>
              <a:t>检查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</a:rPr>
              <a:t>A</a:t>
            </a:r>
            <a:r>
              <a:rPr lang="en-US" altLang="zh-CN" dirty="0">
                <a:solidFill>
                  <a:srgbClr val="FF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C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G=F{</a:t>
            </a:r>
            <a:r>
              <a:rPr lang="en-US" altLang="zh-CN" dirty="0">
                <a:ea typeface="宋体" panose="02010600030101010101" pitchFamily="2" charset="-122"/>
              </a:rPr>
              <a:t>A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C}={AB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BA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BC}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buNone/>
            </a:pP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	A</a:t>
            </a:r>
            <a:r>
              <a:rPr lang="en-US" altLang="zh-CN" baseline="-25000" dirty="0">
                <a:ea typeface="宋体" panose="02010600030101010101" pitchFamily="2" charset="-122"/>
                <a:sym typeface="Symbol" panose="05050102010706020507" pitchFamily="18" charset="2"/>
              </a:rPr>
              <a:t>G</a:t>
            </a:r>
            <a:r>
              <a:rPr lang="en-US" altLang="zh-CN" baseline="30000" dirty="0"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={A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C}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C  </a:t>
            </a:r>
            <a:r>
              <a:rPr lang="en-US" altLang="zh-CN" i="1" dirty="0">
                <a:ea typeface="宋体" panose="02010600030101010101" pitchFamily="2" charset="-122"/>
                <a:sym typeface="Symbol" panose="05050102010706020507" pitchFamily="18" charset="2"/>
              </a:rPr>
              <a:t>in 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 {A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B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C}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，多余，去掉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;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2" eaLnBrk="1" hangingPunct="1">
              <a:buFont typeface="Wingdings" panose="05000000000000000000" pitchFamily="2" charset="2"/>
              <a:buChar char="§"/>
            </a:pP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同理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, </a:t>
            </a:r>
            <a:r>
              <a:rPr lang="en-US" altLang="zh-CN" dirty="0">
                <a:ea typeface="宋体" panose="02010600030101010101" pitchFamily="2" charset="-122"/>
              </a:rPr>
              <a:t>B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C</a:t>
            </a:r>
            <a:r>
              <a:rPr lang="zh-CN" altLang="en-US" dirty="0">
                <a:ea typeface="宋体" panose="02010600030101010101" pitchFamily="2" charset="-122"/>
                <a:sym typeface="Symbol" panose="05050102010706020507" pitchFamily="18" charset="2"/>
              </a:rPr>
              <a:t>保留。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zh-CN" altLang="en-US" i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检查时注意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</a:rPr>
              <a:t>A</a:t>
            </a:r>
            <a:r>
              <a:rPr lang="en-US" altLang="zh-CN" i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C</a:t>
            </a:r>
            <a:r>
              <a:rPr lang="zh-CN" altLang="en-US" i="1" dirty="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已被去掉</a:t>
            </a:r>
            <a:r>
              <a:rPr lang="en-US" altLang="zh-CN" dirty="0"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 dirty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400" i="1" dirty="0"/>
              <a:t>F</a:t>
            </a:r>
            <a:r>
              <a:rPr lang="en-US" altLang="zh-CN" sz="2400" i="1" baseline="-25000" dirty="0"/>
              <a:t>m</a:t>
            </a:r>
            <a:r>
              <a:rPr lang="en-US" altLang="zh-CN" sz="2400" i="1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{AB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BA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BC}</a:t>
            </a:r>
            <a:endParaRPr lang="en-US" altLang="zh-CN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40000"/>
              </a:lnSpc>
              <a:buNone/>
            </a:pPr>
            <a:r>
              <a:rPr lang="zh-CN" altLang="en-US" dirty="0">
                <a:sym typeface="Symbol" panose="05050102010706020507" pitchFamily="18" charset="2"/>
              </a:rPr>
              <a:t>假使先检查</a:t>
            </a:r>
            <a:r>
              <a:rPr lang="en-US" altLang="zh-CN" dirty="0"/>
              <a:t>B</a:t>
            </a:r>
            <a:r>
              <a:rPr lang="en-US" altLang="zh-CN" dirty="0">
                <a:sym typeface="Symbol" panose="05050102010706020507" pitchFamily="18" charset="2"/>
              </a:rPr>
              <a:t>C,</a:t>
            </a:r>
            <a:r>
              <a:rPr lang="zh-CN" altLang="en-US" dirty="0">
                <a:sym typeface="Symbol" panose="05050102010706020507" pitchFamily="18" charset="2"/>
              </a:rPr>
              <a:t>后检查</a:t>
            </a:r>
            <a:r>
              <a:rPr lang="en-US" altLang="zh-CN" dirty="0"/>
              <a:t>A</a:t>
            </a:r>
            <a:r>
              <a:rPr lang="en-US" altLang="zh-CN" dirty="0">
                <a:sym typeface="Symbol" panose="05050102010706020507" pitchFamily="18" charset="2"/>
              </a:rPr>
              <a:t>C</a:t>
            </a:r>
            <a:r>
              <a:rPr lang="zh-CN" altLang="en-US" dirty="0">
                <a:sym typeface="Symbol" panose="05050102010706020507" pitchFamily="18" charset="2"/>
              </a:rPr>
              <a:t>，则得</a:t>
            </a:r>
            <a:endParaRPr lang="zh-CN" altLang="en-US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40000"/>
              </a:lnSpc>
            </a:pPr>
            <a:r>
              <a:rPr lang="en-US" altLang="zh-CN" sz="2400" i="1" dirty="0"/>
              <a:t>F</a:t>
            </a:r>
            <a:r>
              <a:rPr lang="en-US" altLang="zh-CN" sz="2400" i="1" baseline="-25000" dirty="0"/>
              <a:t>m</a:t>
            </a:r>
            <a:r>
              <a:rPr lang="en-US" altLang="zh-CN" sz="2400" i="1" dirty="0"/>
              <a:t>= </a:t>
            </a:r>
            <a:r>
              <a:rPr lang="en-US" altLang="zh-CN" dirty="0">
                <a:sym typeface="Symbol" panose="05050102010706020507" pitchFamily="18" charset="2"/>
              </a:rPr>
              <a:t>{AB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BA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dirty="0">
                <a:sym typeface="Symbol" panose="05050102010706020507" pitchFamily="18" charset="2"/>
              </a:rPr>
              <a:t>AC}</a:t>
            </a: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6758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861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8611" name="Rectangle 2"/>
          <p:cNvSpPr>
            <a:spLocks noGrp="1"/>
          </p:cNvSpPr>
          <p:nvPr>
            <p:ph idx="1"/>
          </p:nvPr>
        </p:nvSpPr>
        <p:spPr>
          <a:xfrm>
            <a:off x="76200" y="914400"/>
            <a:ext cx="89154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40000"/>
              </a:lnSpc>
            </a:pP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的最小依赖集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m</a:t>
            </a:r>
            <a:r>
              <a:rPr lang="zh-CN" altLang="en-US" sz="2800" dirty="0">
                <a:solidFill>
                  <a:schemeClr val="tx1"/>
                </a:solidFill>
              </a:rPr>
              <a:t>不一定是唯一的</a:t>
            </a:r>
            <a:r>
              <a:rPr lang="en-US" altLang="zh-CN" sz="2800" dirty="0">
                <a:solidFill>
                  <a:schemeClr val="tx1"/>
                </a:solidFill>
              </a:rPr>
              <a:t>, </a:t>
            </a:r>
            <a:r>
              <a:rPr lang="zh-CN" altLang="en-US" sz="2800" dirty="0">
                <a:solidFill>
                  <a:schemeClr val="tx1"/>
                </a:solidFill>
              </a:rPr>
              <a:t>它与对各函数依赖</a:t>
            </a:r>
            <a:r>
              <a:rPr lang="en-US" altLang="zh-CN" sz="2800" i="1" dirty="0">
                <a:solidFill>
                  <a:schemeClr val="tx1"/>
                </a:solidFill>
              </a:rPr>
              <a:t>FD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i</a:t>
            </a:r>
            <a:r>
              <a:rPr lang="en-US" altLang="zh-CN" sz="2800" dirty="0">
                <a:solidFill>
                  <a:schemeClr val="tx1"/>
                </a:solidFill>
              </a:rPr>
              <a:t> </a:t>
            </a:r>
            <a:r>
              <a:rPr lang="zh-CN" altLang="en-US" sz="2800" dirty="0">
                <a:solidFill>
                  <a:schemeClr val="tx1"/>
                </a:solidFill>
              </a:rPr>
              <a:t>及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zh-CN" altLang="en-US" sz="2800" dirty="0">
                <a:solidFill>
                  <a:schemeClr val="tx1"/>
                </a:solidFill>
              </a:rPr>
              <a:t>中</a:t>
            </a:r>
            <a:r>
              <a:rPr lang="en-US" altLang="zh-CN" sz="2800" i="1" dirty="0">
                <a:solidFill>
                  <a:schemeClr val="tx1"/>
                </a:solidFill>
              </a:rPr>
              <a:t>X</a:t>
            </a:r>
            <a:r>
              <a:rPr lang="zh-CN" altLang="en-US" sz="2800" dirty="0">
                <a:solidFill>
                  <a:schemeClr val="tx1"/>
                </a:solidFill>
              </a:rPr>
              <a:t>各属性的处置顺序有关。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6.7】</a:t>
            </a:r>
            <a:r>
              <a:rPr lang="en-US" altLang="zh-CN" sz="2800" dirty="0"/>
              <a:t> 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 = {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B, B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A, B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C, A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C, C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}, </a:t>
            </a:r>
            <a:r>
              <a:rPr lang="zh-CN" altLang="en-US" sz="2800" dirty="0">
                <a:solidFill>
                  <a:schemeClr val="tx1"/>
                </a:solidFill>
              </a:rPr>
              <a:t>求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25000" dirty="0">
                <a:solidFill>
                  <a:schemeClr val="tx1"/>
                </a:solidFill>
              </a:rPr>
              <a:t>m</a:t>
            </a:r>
            <a:r>
              <a:rPr lang="zh-CN" altLang="en-US" sz="2800" i="1" dirty="0">
                <a:solidFill>
                  <a:schemeClr val="tx1"/>
                </a:solidFill>
              </a:rPr>
              <a:t>。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             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m</a:t>
            </a:r>
            <a:r>
              <a:rPr lang="en-US" altLang="zh-CN" sz="2800" baseline="-30000" dirty="0">
                <a:solidFill>
                  <a:schemeClr val="tx1"/>
                </a:solidFill>
              </a:rPr>
              <a:t>1</a:t>
            </a:r>
            <a:r>
              <a:rPr lang="zh-CN" altLang="en-US" sz="2800" dirty="0">
                <a:solidFill>
                  <a:schemeClr val="tx1"/>
                </a:solidFill>
              </a:rPr>
              <a:t>、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m</a:t>
            </a:r>
            <a:r>
              <a:rPr lang="en-US" altLang="zh-CN" sz="2800" baseline="-30000" dirty="0">
                <a:solidFill>
                  <a:schemeClr val="tx1"/>
                </a:solidFill>
              </a:rPr>
              <a:t>2</a:t>
            </a:r>
            <a:r>
              <a:rPr lang="zh-CN" altLang="en-US" sz="2800" dirty="0">
                <a:solidFill>
                  <a:schemeClr val="tx1"/>
                </a:solidFill>
              </a:rPr>
              <a:t>都是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zh-CN" altLang="en-US" sz="2800" dirty="0">
                <a:solidFill>
                  <a:schemeClr val="tx1"/>
                </a:solidFill>
              </a:rPr>
              <a:t>的最小依赖集：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algn="just" eaLnBrk="1" hangingPunct="1"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             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m</a:t>
            </a:r>
            <a:r>
              <a:rPr lang="en-US" altLang="zh-CN" sz="2800" baseline="-30000" dirty="0">
                <a:solidFill>
                  <a:schemeClr val="tx1"/>
                </a:solidFill>
              </a:rPr>
              <a:t>1</a:t>
            </a:r>
            <a:r>
              <a:rPr lang="en-US" altLang="zh-CN" sz="2800" dirty="0">
                <a:solidFill>
                  <a:schemeClr val="tx1"/>
                </a:solidFill>
              </a:rPr>
              <a:t>= {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C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C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}  </a:t>
            </a:r>
            <a:endParaRPr lang="en-US" altLang="zh-CN" sz="2800" dirty="0">
              <a:solidFill>
                <a:schemeClr val="tx1"/>
              </a:solidFill>
            </a:endParaRPr>
          </a:p>
          <a:p>
            <a:pPr eaLnBrk="1" hangingPunct="1"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             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30000" dirty="0">
                <a:solidFill>
                  <a:schemeClr val="tx1"/>
                </a:solidFill>
              </a:rPr>
              <a:t>m</a:t>
            </a:r>
            <a:r>
              <a:rPr lang="en-US" altLang="zh-CN" sz="2800" baseline="-30000" dirty="0">
                <a:solidFill>
                  <a:schemeClr val="tx1"/>
                </a:solidFill>
              </a:rPr>
              <a:t>2</a:t>
            </a:r>
            <a:r>
              <a:rPr lang="en-US" altLang="zh-CN" sz="2800" dirty="0">
                <a:solidFill>
                  <a:schemeClr val="tx1"/>
                </a:solidFill>
              </a:rPr>
              <a:t>= {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B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C</a:t>
            </a:r>
            <a:r>
              <a:rPr lang="zh-CN" altLang="en-US" sz="2800" dirty="0">
                <a:solidFill>
                  <a:schemeClr val="tx1"/>
                </a:solidFill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</a:rPr>
              <a:t>C</a:t>
            </a:r>
            <a:r>
              <a:rPr lang="en-US" altLang="zh-CN" sz="2800" dirty="0">
                <a:solidFill>
                  <a:schemeClr val="tx1"/>
                </a:solidFill>
              </a:rPr>
              <a:t>→</a:t>
            </a:r>
            <a:r>
              <a:rPr lang="en-US" altLang="zh-CN" sz="2800" i="1" dirty="0">
                <a:solidFill>
                  <a:schemeClr val="tx1"/>
                </a:solidFill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} </a:t>
            </a:r>
            <a:endParaRPr lang="en-US" altLang="zh-CN" sz="2800" dirty="0">
              <a:solidFill>
                <a:schemeClr val="tx1"/>
              </a:solidFill>
            </a:endParaRPr>
          </a:p>
        </p:txBody>
      </p:sp>
      <p:sp>
        <p:nvSpPr>
          <p:cNvPr id="6861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9634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69635" name="Rectangle 2"/>
          <p:cNvSpPr>
            <a:spLocks noGrp="1"/>
          </p:cNvSpPr>
          <p:nvPr>
            <p:ph idx="1"/>
          </p:nvPr>
        </p:nvSpPr>
        <p:spPr>
          <a:xfrm>
            <a:off x="76200" y="685800"/>
            <a:ext cx="8915400" cy="53340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</a:rPr>
              <a:t>【</a:t>
            </a:r>
            <a:r>
              <a:rPr lang="zh-CN" altLang="en-US" sz="2800" dirty="0">
                <a:solidFill>
                  <a:schemeClr val="tx1"/>
                </a:solidFill>
              </a:rPr>
              <a:t>例</a:t>
            </a:r>
            <a:r>
              <a:rPr lang="en-US" altLang="zh-CN" sz="2800" dirty="0">
                <a:solidFill>
                  <a:schemeClr val="tx1"/>
                </a:solidFill>
              </a:rPr>
              <a:t>6.8】</a:t>
            </a:r>
            <a:r>
              <a:rPr lang="en-US" altLang="zh-CN" sz="2800" dirty="0"/>
              <a:t> 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dirty="0">
                <a:solidFill>
                  <a:schemeClr val="tx1"/>
                </a:solidFill>
              </a:rPr>
              <a:t> = {</a:t>
            </a:r>
            <a:r>
              <a:rPr lang="en-US" altLang="zh-CN" sz="2800" i="1" dirty="0">
                <a:solidFill>
                  <a:schemeClr val="tx1"/>
                </a:solidFill>
              </a:rPr>
              <a:t>C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G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CG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</a:rPr>
              <a:t>}, </a:t>
            </a:r>
            <a:r>
              <a:rPr lang="zh-CN" altLang="en-US" sz="2800" dirty="0">
                <a:solidFill>
                  <a:schemeClr val="tx1"/>
                </a:solidFill>
              </a:rPr>
              <a:t>求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25000" dirty="0">
                <a:solidFill>
                  <a:schemeClr val="tx1"/>
                </a:solidFill>
              </a:rPr>
              <a:t>m</a:t>
            </a:r>
            <a:r>
              <a:rPr lang="zh-CN" altLang="en-US" sz="2800" i="1" dirty="0">
                <a:solidFill>
                  <a:schemeClr val="tx1"/>
                </a:solidFill>
              </a:rPr>
              <a:t>。</a:t>
            </a:r>
            <a:endParaRPr lang="zh-CN" altLang="en-US" sz="2800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解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: </a:t>
            </a:r>
            <a:r>
              <a:rPr lang="en-US" altLang="zh-CN" sz="2800" i="1" dirty="0">
                <a:solidFill>
                  <a:schemeClr val="tx1"/>
                </a:solidFill>
                <a:sym typeface="Wingdings" panose="05000000000000000000" pitchFamily="2" charset="2"/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已单属性化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,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且易见</a:t>
            </a:r>
            <a:r>
              <a:rPr lang="en-US" altLang="zh-CN" sz="2800" i="1" dirty="0">
                <a:solidFill>
                  <a:schemeClr val="tx1"/>
                </a:solidFill>
                <a:sym typeface="Wingdings" panose="05000000000000000000" pitchFamily="2" charset="2"/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没有多余的函数依赖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只需对</a:t>
            </a:r>
            <a:r>
              <a:rPr lang="en-US" altLang="zh-CN" sz="2800" i="1" dirty="0">
                <a:solidFill>
                  <a:schemeClr val="tx1"/>
                </a:solidFill>
                <a:sym typeface="Wingdings" panose="05000000000000000000" pitchFamily="2" charset="2"/>
              </a:rPr>
              <a:t>F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既约化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, 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且</a:t>
            </a:r>
            <a:r>
              <a:rPr lang="zh-CN" altLang="en-US" sz="2800" dirty="0">
                <a:solidFill>
                  <a:schemeClr val="tx1"/>
                </a:solidFill>
              </a:rPr>
              <a:t>既约化时只需考虑</a:t>
            </a:r>
            <a:r>
              <a:rPr lang="en-US" altLang="zh-CN" i="1" dirty="0">
                <a:solidFill>
                  <a:schemeClr val="tx1"/>
                </a:solidFill>
              </a:rPr>
              <a:t>CG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zh-CN" altLang="en-US" dirty="0">
                <a:solidFill>
                  <a:schemeClr val="tx1"/>
                </a:solidFill>
                <a:sym typeface="Symbol" panose="05050102010706020507" pitchFamily="18" charset="2"/>
              </a:rPr>
              <a:t>。</a:t>
            </a:r>
            <a:endParaRPr lang="zh-CN" altLang="en-US" sz="28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chemeClr val="tx1"/>
              </a:buClr>
            </a:pPr>
            <a:r>
              <a:rPr lang="zh-CN" altLang="en-US" dirty="0"/>
              <a:t>用</a:t>
            </a:r>
            <a:r>
              <a:rPr lang="en-US" altLang="zh-CN" i="1" dirty="0"/>
              <a:t>G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代替</a:t>
            </a:r>
            <a:r>
              <a:rPr lang="en-US" altLang="zh-CN" i="1" dirty="0"/>
              <a:t>CG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{</a:t>
            </a:r>
            <a:r>
              <a:rPr lang="en-US" altLang="zh-CN" i="1" dirty="0"/>
              <a:t>CG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} </a:t>
            </a:r>
            <a:r>
              <a:rPr lang="en-US" altLang="zh-CN" dirty="0"/>
              <a:t>∪{</a:t>
            </a:r>
            <a:r>
              <a:rPr lang="en-US" altLang="zh-CN" i="1" dirty="0"/>
              <a:t>G</a:t>
            </a:r>
            <a:r>
              <a:rPr lang="en-US" altLang="zh-CN" dirty="0"/>
              <a:t>→</a:t>
            </a:r>
            <a:r>
              <a:rPr lang="en-US" altLang="zh-CN" i="1" dirty="0"/>
              <a:t>B</a:t>
            </a:r>
            <a:r>
              <a:rPr lang="en-US" altLang="zh-CN" dirty="0"/>
              <a:t>}</a:t>
            </a:r>
            <a:r>
              <a:rPr lang="en-US" altLang="zh-CN" dirty="0">
                <a:sym typeface="Symbol" panose="05050102010706020507" pitchFamily="18" charset="2"/>
              </a:rPr>
              <a:t> , (</a:t>
            </a:r>
            <a:r>
              <a:rPr lang="en-US" altLang="zh-CN" i="1" dirty="0">
                <a:sym typeface="Symbol" panose="05050102010706020507" pitchFamily="18" charset="2"/>
              </a:rPr>
              <a:t>CG-C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en-US" altLang="zh-CN" i="1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G</a:t>
            </a:r>
            <a:r>
              <a:rPr lang="en-US" altLang="zh-CN" i="1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r>
              <a:rPr lang="en-US" altLang="zh-CN" dirty="0">
                <a:sym typeface="Symbol" panose="05050102010706020507" pitchFamily="18" charset="2"/>
              </a:rPr>
              <a:t>={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 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i="1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。保留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dirty="0">
                <a:sym typeface="Symbol" panose="05050102010706020507" pitchFamily="18" charset="2"/>
              </a:rPr>
              <a:t>;</a:t>
            </a:r>
            <a:endParaRPr lang="en-US" altLang="zh-CN" dirty="0">
              <a:sym typeface="Symbol" panose="05050102010706020507" pitchFamily="18" charset="2"/>
            </a:endParaRPr>
          </a:p>
          <a:p>
            <a:pPr lvl="1">
              <a:lnSpc>
                <a:spcPct val="120000"/>
              </a:lnSpc>
              <a:spcBef>
                <a:spcPct val="0"/>
              </a:spcBef>
              <a:buClrTx/>
            </a:pPr>
            <a:r>
              <a:rPr lang="zh-CN" altLang="en-US" dirty="0"/>
              <a:t>用</a:t>
            </a:r>
            <a:r>
              <a:rPr lang="en-US" altLang="zh-CN" i="1" dirty="0"/>
              <a:t>C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代替</a:t>
            </a:r>
            <a:r>
              <a:rPr lang="en-US" altLang="zh-CN" i="1" dirty="0"/>
              <a:t>CG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B</a:t>
            </a:r>
            <a:r>
              <a:rPr lang="en-US" altLang="zh-CN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ym typeface="Symbol" panose="05050102010706020507" pitchFamily="18" charset="2"/>
              </a:rPr>
              <a:t>H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i="1" dirty="0">
                <a:sym typeface="Symbol" panose="05050102010706020507" pitchFamily="18" charset="2"/>
              </a:rPr>
              <a:t>F</a:t>
            </a:r>
            <a:r>
              <a:rPr lang="en-US" altLang="zh-CN" dirty="0">
                <a:sym typeface="Symbol" panose="05050102010706020507" pitchFamily="18" charset="2"/>
              </a:rPr>
              <a:t>{</a:t>
            </a:r>
            <a:r>
              <a:rPr lang="en-US" altLang="zh-CN" i="1" dirty="0"/>
              <a:t>CG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} </a:t>
            </a:r>
            <a:r>
              <a:rPr lang="en-US" altLang="zh-CN" dirty="0"/>
              <a:t>∪{</a:t>
            </a:r>
            <a:r>
              <a:rPr lang="en-US" altLang="zh-CN" i="1" dirty="0"/>
              <a:t>C</a:t>
            </a:r>
            <a:r>
              <a:rPr lang="en-US" altLang="zh-CN" dirty="0"/>
              <a:t>→</a:t>
            </a:r>
            <a:r>
              <a:rPr lang="en-US" altLang="zh-CN" i="1" dirty="0"/>
              <a:t>B</a:t>
            </a:r>
            <a:r>
              <a:rPr lang="en-US" altLang="zh-CN" dirty="0"/>
              <a:t>}</a:t>
            </a:r>
            <a:r>
              <a:rPr lang="en-US" altLang="zh-CN" dirty="0">
                <a:sym typeface="Symbol" panose="05050102010706020507" pitchFamily="18" charset="2"/>
              </a:rPr>
              <a:t> , (</a:t>
            </a:r>
            <a:r>
              <a:rPr lang="en-US" altLang="zh-CN" i="1" dirty="0">
                <a:sym typeface="Symbol" panose="05050102010706020507" pitchFamily="18" charset="2"/>
              </a:rPr>
              <a:t>CG</a:t>
            </a:r>
            <a:r>
              <a:rPr lang="en-US" altLang="zh-CN" dirty="0">
                <a:sym typeface="Symbol" panose="05050102010706020507" pitchFamily="18" charset="2"/>
              </a:rPr>
              <a:t>-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en-US" altLang="zh-CN" dirty="0">
                <a:sym typeface="Symbol" panose="05050102010706020507" pitchFamily="18" charset="2"/>
              </a:rPr>
              <a:t>)</a:t>
            </a:r>
            <a:r>
              <a:rPr lang="en-US" altLang="zh-CN" i="1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r>
              <a:rPr lang="en-US" altLang="zh-CN" dirty="0">
                <a:sym typeface="Symbol" panose="05050102010706020507" pitchFamily="18" charset="2"/>
              </a:rPr>
              <a:t>=</a:t>
            </a:r>
            <a:r>
              <a:rPr lang="en-US" altLang="zh-CN" i="1" dirty="0">
                <a:solidFill>
                  <a:srgbClr val="FF0000"/>
                </a:solidFill>
                <a:sym typeface="Symbol" panose="05050102010706020507" pitchFamily="18" charset="2"/>
              </a:rPr>
              <a:t>C</a:t>
            </a:r>
            <a:r>
              <a:rPr lang="en-US" altLang="zh-CN" i="1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r>
              <a:rPr lang="en-US" altLang="zh-CN" dirty="0">
                <a:sym typeface="Symbol" panose="05050102010706020507" pitchFamily="18" charset="2"/>
              </a:rPr>
              <a:t>={</a:t>
            </a:r>
            <a:r>
              <a:rPr lang="en-US" altLang="zh-CN" i="1" dirty="0">
                <a:sym typeface="Symbol" panose="05050102010706020507" pitchFamily="18" charset="2"/>
              </a:rPr>
              <a:t>C,A,G,B</a:t>
            </a:r>
            <a:r>
              <a:rPr lang="en-US" altLang="zh-CN" dirty="0">
                <a:sym typeface="Symbol" panose="05050102010706020507" pitchFamily="18" charset="2"/>
              </a:rPr>
              <a:t>}</a:t>
            </a:r>
            <a:r>
              <a:rPr lang="zh-CN" altLang="en-US" dirty="0">
                <a:sym typeface="Symbol" panose="05050102010706020507" pitchFamily="18" charset="2"/>
              </a:rPr>
              <a:t>，</a:t>
            </a:r>
            <a:r>
              <a:rPr lang="en-US" altLang="zh-CN" i="1" dirty="0">
                <a:sym typeface="Symbol" panose="05050102010706020507" pitchFamily="18" charset="2"/>
              </a:rPr>
              <a:t>B </a:t>
            </a:r>
            <a:r>
              <a:rPr lang="en-US" altLang="zh-CN" sz="2400" dirty="0">
                <a:sym typeface="Symbol" panose="05050102010706020507" pitchFamily="18" charset="2"/>
              </a:rPr>
              <a:t>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en-US" altLang="zh-CN" i="1" dirty="0">
                <a:sym typeface="Symbol" panose="05050102010706020507" pitchFamily="18" charset="2"/>
              </a:rPr>
              <a:t>C</a:t>
            </a:r>
            <a:r>
              <a:rPr lang="en-US" altLang="zh-CN" i="1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。属性</a:t>
            </a:r>
            <a:r>
              <a:rPr lang="en-US" altLang="zh-CN" i="1" dirty="0">
                <a:sym typeface="Symbol" panose="05050102010706020507" pitchFamily="18" charset="2"/>
              </a:rPr>
              <a:t>G</a:t>
            </a:r>
            <a:r>
              <a:rPr lang="zh-CN" altLang="en-US" dirty="0">
                <a:sym typeface="Symbol" panose="05050102010706020507" pitchFamily="18" charset="2"/>
              </a:rPr>
              <a:t>是多余的，可去掉，用</a:t>
            </a:r>
            <a:r>
              <a:rPr lang="en-US" altLang="zh-CN" i="1" dirty="0"/>
              <a:t>C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zh-CN" altLang="en-US" dirty="0">
                <a:sym typeface="Symbol" panose="05050102010706020507" pitchFamily="18" charset="2"/>
              </a:rPr>
              <a:t>代替</a:t>
            </a:r>
            <a:r>
              <a:rPr lang="en-US" altLang="zh-CN" i="1" dirty="0"/>
              <a:t>CG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i="1" dirty="0">
                <a:sym typeface="Symbol" panose="05050102010706020507" pitchFamily="18" charset="2"/>
              </a:rPr>
              <a:t>B</a:t>
            </a:r>
            <a:r>
              <a:rPr lang="en-US" altLang="zh-CN" dirty="0">
                <a:sym typeface="Symbol" panose="05050102010706020507" pitchFamily="18" charset="2"/>
              </a:rPr>
              <a:t> </a:t>
            </a:r>
            <a:r>
              <a:rPr lang="zh-CN" altLang="en-US" dirty="0">
                <a:sym typeface="Symbol" panose="05050102010706020507" pitchFamily="18" charset="2"/>
              </a:rPr>
              <a:t>。</a:t>
            </a:r>
            <a:r>
              <a:rPr lang="zh-CN" altLang="en-US" sz="2400" i="1" dirty="0"/>
              <a:t> </a:t>
            </a:r>
            <a:endParaRPr lang="zh-CN" altLang="en-US" sz="2400" i="1" dirty="0"/>
          </a:p>
          <a:p>
            <a:pPr>
              <a:lnSpc>
                <a:spcPct val="120000"/>
              </a:lnSpc>
              <a:spcBef>
                <a:spcPct val="0"/>
              </a:spcBef>
              <a:buClrTx/>
              <a:buNone/>
            </a:pPr>
            <a:r>
              <a:rPr lang="zh-CN" altLang="en-US" sz="2800" i="1" dirty="0">
                <a:solidFill>
                  <a:schemeClr val="tx1"/>
                </a:solidFill>
              </a:rPr>
              <a:t>     </a:t>
            </a:r>
            <a:r>
              <a:rPr lang="en-US" altLang="zh-CN" sz="2800" i="1" dirty="0">
                <a:solidFill>
                  <a:schemeClr val="tx1"/>
                </a:solidFill>
              </a:rPr>
              <a:t>F</a:t>
            </a:r>
            <a:r>
              <a:rPr lang="en-US" altLang="zh-CN" sz="2800" i="1" baseline="-25000" dirty="0">
                <a:solidFill>
                  <a:schemeClr val="tx1"/>
                </a:solidFill>
              </a:rPr>
              <a:t>m</a:t>
            </a:r>
            <a:r>
              <a:rPr lang="en-US" altLang="zh-CN" sz="2800" i="1" dirty="0">
                <a:solidFill>
                  <a:schemeClr val="tx1"/>
                </a:solidFill>
              </a:rPr>
              <a:t>= 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{</a:t>
            </a:r>
            <a:r>
              <a:rPr lang="en-US" altLang="zh-CN" sz="2800" i="1" dirty="0">
                <a:solidFill>
                  <a:schemeClr val="tx1"/>
                </a:solidFill>
              </a:rPr>
              <a:t>C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G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C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zh-CN" altLang="en-US" sz="2800" dirty="0">
                <a:solidFill>
                  <a:schemeClr val="tx1"/>
                </a:solidFill>
                <a:sym typeface="Symbol" panose="05050102010706020507" pitchFamily="18" charset="2"/>
              </a:rPr>
              <a:t>，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B</a:t>
            </a:r>
            <a:r>
              <a:rPr lang="en-US" altLang="zh-CN" sz="2800" dirty="0">
                <a:solidFill>
                  <a:schemeClr val="tx1"/>
                </a:solidFill>
                <a:sym typeface="Symbol" panose="05050102010706020507" pitchFamily="18" charset="2"/>
              </a:rPr>
              <a:t></a:t>
            </a:r>
            <a:r>
              <a:rPr lang="en-US" altLang="zh-CN" sz="2800" i="1" dirty="0">
                <a:solidFill>
                  <a:schemeClr val="tx1"/>
                </a:solidFill>
                <a:sym typeface="Symbol" panose="05050102010706020507" pitchFamily="18" charset="2"/>
              </a:rPr>
              <a:t>A</a:t>
            </a:r>
            <a:r>
              <a:rPr lang="en-US" altLang="zh-CN" dirty="0">
                <a:solidFill>
                  <a:schemeClr val="tx1"/>
                </a:solidFill>
                <a:sym typeface="Symbol" panose="05050102010706020507" pitchFamily="18" charset="2"/>
              </a:rPr>
              <a:t>}</a:t>
            </a:r>
            <a:endParaRPr lang="en-US" altLang="zh-CN" dirty="0">
              <a:solidFill>
                <a:schemeClr val="tx1"/>
              </a:solidFill>
              <a:sym typeface="Symbol" panose="05050102010706020507" pitchFamily="18" charset="2"/>
            </a:endParaRPr>
          </a:p>
        </p:txBody>
      </p:sp>
      <p:sp>
        <p:nvSpPr>
          <p:cNvPr id="69636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658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0659" name="Rectangle 2"/>
          <p:cNvSpPr>
            <a:spLocks noGrp="1"/>
          </p:cNvSpPr>
          <p:nvPr>
            <p:ph idx="1"/>
          </p:nvPr>
        </p:nvSpPr>
        <p:spPr>
          <a:xfrm>
            <a:off x="76200" y="685800"/>
            <a:ext cx="8915400" cy="5867400"/>
          </a:xfrm>
          <a:ln/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dirty="0">
                <a:solidFill>
                  <a:schemeClr val="tx1"/>
                </a:solidFill>
              </a:rPr>
              <a:t>[</a:t>
            </a:r>
            <a:r>
              <a:rPr lang="zh-CN" altLang="en-US" dirty="0">
                <a:solidFill>
                  <a:schemeClr val="tx1"/>
                </a:solidFill>
              </a:rPr>
              <a:t>例</a:t>
            </a:r>
            <a:r>
              <a:rPr lang="en-US" altLang="zh-CN" dirty="0">
                <a:solidFill>
                  <a:schemeClr val="tx1"/>
                </a:solidFill>
              </a:rPr>
              <a:t>6.9]</a:t>
            </a:r>
            <a:r>
              <a:rPr lang="en-US" altLang="zh-CN" dirty="0"/>
              <a:t> </a:t>
            </a:r>
            <a:r>
              <a:rPr lang="en-US" altLang="zh-CN" i="1" dirty="0">
                <a:solidFill>
                  <a:schemeClr val="tx1"/>
                </a:solidFill>
                <a:latin typeface="Arial Narrow" panose="020B0606020202030204" pitchFamily="34" charset="0"/>
              </a:rPr>
              <a:t>F</a:t>
            </a:r>
            <a:r>
              <a:rPr lang="en-US" altLang="zh-CN" dirty="0">
                <a:solidFill>
                  <a:schemeClr val="tx1"/>
                </a:solidFill>
              </a:rPr>
              <a:t> = {</a:t>
            </a:r>
            <a:r>
              <a:rPr lang="en-US" altLang="zh-CN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AB→C,C→A,BC→D, ACD→B, D→EG, BE→C, CG→BD,  CE→AG</a:t>
            </a:r>
            <a:r>
              <a:rPr lang="en-US" altLang="zh-CN" b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r>
              <a:rPr lang="en-US" altLang="zh-CN" dirty="0">
                <a:solidFill>
                  <a:schemeClr val="tx1"/>
                </a:solidFill>
              </a:rPr>
              <a:t>},  </a:t>
            </a:r>
            <a:r>
              <a:rPr lang="zh-CN" altLang="en-US" dirty="0">
                <a:solidFill>
                  <a:schemeClr val="tx1"/>
                </a:solidFill>
              </a:rPr>
              <a:t>求</a:t>
            </a:r>
            <a:r>
              <a:rPr lang="en-US" altLang="zh-CN" i="1" dirty="0">
                <a:solidFill>
                  <a:schemeClr val="tx1"/>
                </a:solidFill>
                <a:latin typeface="Arial Narrow" panose="020B0606020202030204" pitchFamily="34" charset="0"/>
              </a:rPr>
              <a:t>F</a:t>
            </a:r>
            <a:r>
              <a:rPr lang="en-US" altLang="zh-CN" i="1" baseline="-25000" dirty="0">
                <a:solidFill>
                  <a:schemeClr val="tx1"/>
                </a:solidFill>
              </a:rPr>
              <a:t>m</a:t>
            </a:r>
            <a:r>
              <a:rPr lang="zh-CN" altLang="en-US" i="1" dirty="0">
                <a:solidFill>
                  <a:schemeClr val="tx1"/>
                </a:solidFill>
              </a:rPr>
              <a:t>。</a:t>
            </a:r>
            <a:endParaRPr lang="zh-CN" altLang="en-US" i="1" dirty="0">
              <a:solidFill>
                <a:schemeClr val="tx1"/>
              </a:solidFill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dirty="0">
                <a:solidFill>
                  <a:schemeClr val="tx1"/>
                </a:solidFill>
              </a:rPr>
              <a:t>解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: (1)</a:t>
            </a:r>
            <a:r>
              <a:rPr lang="zh-CN" altLang="en-US" sz="2800" dirty="0">
                <a:solidFill>
                  <a:schemeClr val="tx1"/>
                </a:solidFill>
                <a:sym typeface="Wingdings" panose="05000000000000000000" pitchFamily="2" charset="2"/>
              </a:rPr>
              <a:t>单属性化。得</a:t>
            </a:r>
            <a:r>
              <a:rPr lang="en-US" altLang="zh-CN" sz="2800" i="1" dirty="0">
                <a:solidFill>
                  <a:schemeClr val="tx1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F1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=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{</a:t>
            </a:r>
            <a:r>
              <a:rPr lang="en-US" altLang="zh-CN" sz="2800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AB→C,C→A,BC→D, </a:t>
            </a:r>
            <a:r>
              <a:rPr lang="en-US" altLang="zh-CN" sz="2800" b="0" dirty="0">
                <a:solidFill>
                  <a:srgbClr val="FF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ACD→B</a:t>
            </a:r>
            <a:r>
              <a:rPr lang="en-US" altLang="zh-CN" sz="2800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, D→E, D→G, BE→C, CG→B, </a:t>
            </a:r>
            <a:r>
              <a:rPr lang="en-US" altLang="zh-CN" sz="2800" b="0" dirty="0">
                <a:solidFill>
                  <a:srgbClr val="FF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CG→D</a:t>
            </a:r>
            <a:r>
              <a:rPr lang="en-US" altLang="zh-CN" sz="2800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, </a:t>
            </a:r>
            <a:r>
              <a:rPr lang="en-US" altLang="zh-CN" sz="2800" b="0" dirty="0">
                <a:solidFill>
                  <a:srgbClr val="FF0000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CE→A</a:t>
            </a:r>
            <a:r>
              <a:rPr lang="en-US" altLang="zh-CN" sz="2800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 , CE→G}</a:t>
            </a:r>
            <a:r>
              <a:rPr lang="en-US" altLang="zh-CN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	</a:t>
            </a:r>
            <a:r>
              <a:rPr lang="en-US" altLang="zh-CN" sz="2800" dirty="0">
                <a:solidFill>
                  <a:schemeClr val="tx1"/>
                </a:solidFill>
              </a:rPr>
              <a:t>(2) </a:t>
            </a:r>
            <a:r>
              <a:rPr lang="zh-CN" altLang="en-US" sz="2800" dirty="0">
                <a:solidFill>
                  <a:schemeClr val="tx1"/>
                </a:solidFill>
              </a:rPr>
              <a:t>去掉多余的函数依赖</a:t>
            </a:r>
            <a:r>
              <a:rPr lang="en-US" altLang="zh-CN" sz="2800" dirty="0">
                <a:solidFill>
                  <a:schemeClr val="tx1"/>
                </a:solidFill>
              </a:rPr>
              <a:t>:</a:t>
            </a:r>
            <a:r>
              <a:rPr lang="en-US" altLang="zh-CN" sz="2800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ACD→B, CG→D, CE→A </a:t>
            </a:r>
            <a:r>
              <a:rPr lang="zh-CN" altLang="en-US" sz="2800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。</a:t>
            </a:r>
            <a:endParaRPr lang="zh-CN" altLang="en-US" sz="2800" b="0" dirty="0">
              <a:solidFill>
                <a:schemeClr val="tx1"/>
              </a:solidFill>
              <a:latin typeface="Arial Narrow" panose="020B0606020202030204" pitchFamily="34" charset="0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    </a:t>
            </a:r>
            <a:r>
              <a:rPr lang="en-US" altLang="zh-CN" sz="2800" dirty="0">
                <a:solidFill>
                  <a:schemeClr val="tx1"/>
                </a:solidFill>
              </a:rPr>
              <a:t>(3) </a:t>
            </a:r>
            <a:r>
              <a:rPr lang="zh-CN" altLang="en-US" sz="2800" dirty="0">
                <a:solidFill>
                  <a:schemeClr val="tx1"/>
                </a:solidFill>
              </a:rPr>
              <a:t>去掉左部多余的属性。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A</a:t>
            </a:r>
            <a:r>
              <a:rPr lang="en-US" altLang="zh-CN" sz="2800" baseline="30000" dirty="0">
                <a:solidFill>
                  <a:schemeClr val="tx1"/>
                </a:solidFill>
                <a:latin typeface="Arial Narrow" panose="020B0606020202030204" pitchFamily="34" charset="0"/>
              </a:rPr>
              <a:t>+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={A},  B</a:t>
            </a:r>
            <a:r>
              <a:rPr lang="en-US" altLang="zh-CN" sz="2800" baseline="30000" dirty="0">
                <a:solidFill>
                  <a:schemeClr val="tx1"/>
                </a:solidFill>
                <a:latin typeface="Arial Narrow" panose="020B0606020202030204" pitchFamily="34" charset="0"/>
              </a:rPr>
              <a:t>+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={B}, C</a:t>
            </a:r>
            <a:r>
              <a:rPr lang="en-US" altLang="zh-CN" sz="2800" baseline="30000" dirty="0">
                <a:solidFill>
                  <a:schemeClr val="tx1"/>
                </a:solidFill>
                <a:latin typeface="Arial Narrow" panose="020B0606020202030204" pitchFamily="34" charset="0"/>
              </a:rPr>
              <a:t>+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={C,A}, E</a:t>
            </a:r>
            <a:r>
              <a:rPr lang="en-US" altLang="zh-CN" sz="2800" baseline="30000" dirty="0">
                <a:solidFill>
                  <a:schemeClr val="tx1"/>
                </a:solidFill>
                <a:latin typeface="Arial Narrow" panose="020B0606020202030204" pitchFamily="34" charset="0"/>
              </a:rPr>
              <a:t>+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={E}, G</a:t>
            </a:r>
            <a:r>
              <a:rPr lang="en-US" altLang="zh-CN" sz="2800" baseline="30000" dirty="0">
                <a:solidFill>
                  <a:schemeClr val="tx1"/>
                </a:solidFill>
                <a:latin typeface="Arial Narrow" panose="020B0606020202030204" pitchFamily="34" charset="0"/>
              </a:rPr>
              <a:t>+</a:t>
            </a: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</a:rPr>
              <a:t>={G}</a:t>
            </a:r>
            <a:r>
              <a:rPr lang="zh-CN" altLang="en-US" sz="2800" dirty="0">
                <a:solidFill>
                  <a:schemeClr val="tx1"/>
                </a:solidFill>
                <a:latin typeface="Arial Narrow" panose="020B0606020202030204" pitchFamily="34" charset="0"/>
              </a:rPr>
              <a:t>。显然没有多余的属性。</a:t>
            </a:r>
            <a:endParaRPr lang="zh-CN" altLang="en-US" sz="2800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zh-CN" altLang="en-US" sz="2800" i="1" dirty="0">
                <a:solidFill>
                  <a:schemeClr val="tx1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	</a:t>
            </a:r>
            <a:r>
              <a:rPr lang="en-US" altLang="zh-CN" sz="2800" i="1" dirty="0">
                <a:solidFill>
                  <a:schemeClr val="tx1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F</a:t>
            </a:r>
            <a:r>
              <a:rPr lang="en-US" altLang="zh-CN" sz="2800" i="1" baseline="-25000" dirty="0">
                <a:solidFill>
                  <a:schemeClr val="tx1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m</a:t>
            </a:r>
            <a:r>
              <a:rPr lang="en-US" altLang="zh-CN" sz="2800" dirty="0">
                <a:solidFill>
                  <a:schemeClr val="tx1"/>
                </a:solidFill>
                <a:sym typeface="Wingdings" panose="05000000000000000000" pitchFamily="2" charset="2"/>
              </a:rPr>
              <a:t>=</a:t>
            </a:r>
            <a:endParaRPr lang="en-US" altLang="zh-CN" sz="2800" dirty="0">
              <a:solidFill>
                <a:schemeClr val="tx1"/>
              </a:solidFill>
              <a:sym typeface="Wingdings" panose="05000000000000000000" pitchFamily="2" charset="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dirty="0">
                <a:solidFill>
                  <a:schemeClr val="tx1"/>
                </a:solidFill>
                <a:latin typeface="Arial Narrow" panose="020B0606020202030204" pitchFamily="34" charset="0"/>
                <a:sym typeface="Wingdings" panose="05000000000000000000" pitchFamily="2" charset="2"/>
              </a:rPr>
              <a:t>	{</a:t>
            </a:r>
            <a:r>
              <a:rPr lang="en-US" altLang="zh-CN" sz="2800" b="0" dirty="0">
                <a:solidFill>
                  <a:schemeClr val="tx1"/>
                </a:solidFill>
                <a:latin typeface="Arial Narrow" panose="020B0606020202030204" pitchFamily="34" charset="0"/>
                <a:ea typeface="黑体" panose="02010609060101010101" pitchFamily="49" charset="-122"/>
              </a:rPr>
              <a:t>AB→C,C→A,BC→D, D→E, D→G, BE→C, CG→B, CE→G}</a:t>
            </a:r>
            <a:r>
              <a:rPr lang="en-US" altLang="zh-CN" sz="2800" b="0" dirty="0">
                <a:latin typeface="黑体" panose="02010609060101010101" pitchFamily="49" charset="-122"/>
                <a:ea typeface="黑体" panose="02010609060101010101" pitchFamily="49" charset="-122"/>
              </a:rPr>
              <a:t> </a:t>
            </a:r>
            <a:endParaRPr lang="en-US" altLang="zh-CN" sz="2800" b="0" dirty="0">
              <a:latin typeface="黑体" panose="02010609060101010101" pitchFamily="49" charset="-122"/>
              <a:ea typeface="黑体" panose="02010609060101010101" pitchFamily="49" charset="-122"/>
            </a:endParaRPr>
          </a:p>
          <a:p>
            <a:pPr algn="just" eaLnBrk="1" hangingPunct="1">
              <a:lnSpc>
                <a:spcPct val="120000"/>
              </a:lnSpc>
              <a:buNone/>
            </a:pPr>
            <a:r>
              <a:rPr lang="en-US" altLang="zh-CN" sz="2800" i="1" dirty="0">
                <a:solidFill>
                  <a:schemeClr val="tx1"/>
                </a:solidFill>
                <a:latin typeface="Arial Narrow" panose="020B0606020202030204" pitchFamily="34" charset="0"/>
              </a:rPr>
              <a:t>	</a:t>
            </a:r>
            <a:r>
              <a:rPr lang="zh-CN" altLang="en-US" sz="2800" i="1" dirty="0">
                <a:solidFill>
                  <a:srgbClr val="0000CC"/>
                </a:solidFill>
                <a:latin typeface="Arial Narrow" panose="020B0606020202030204" pitchFamily="34" charset="0"/>
              </a:rPr>
              <a:t>注：</a:t>
            </a:r>
            <a:r>
              <a:rPr lang="en-US" altLang="zh-CN" sz="2800" i="1" dirty="0">
                <a:solidFill>
                  <a:srgbClr val="0000CC"/>
                </a:solidFill>
                <a:latin typeface="Arial Narrow" panose="020B0606020202030204" pitchFamily="34" charset="0"/>
              </a:rPr>
              <a:t>F</a:t>
            </a:r>
            <a:r>
              <a:rPr lang="en-US" altLang="zh-CN" sz="2800" i="1" baseline="-25000" dirty="0">
                <a:solidFill>
                  <a:srgbClr val="0000CC"/>
                </a:solidFill>
                <a:latin typeface="Arial Narrow" panose="020B0606020202030204" pitchFamily="34" charset="0"/>
              </a:rPr>
              <a:t>m</a:t>
            </a:r>
            <a:r>
              <a:rPr lang="zh-CN" altLang="en-US" sz="2800" i="1" dirty="0">
                <a:solidFill>
                  <a:srgbClr val="0000CC"/>
                </a:solidFill>
                <a:latin typeface="Arial Narrow" panose="020B0606020202030204" pitchFamily="34" charset="0"/>
              </a:rPr>
              <a:t>还有别的解。</a:t>
            </a:r>
            <a:endParaRPr lang="zh-CN" altLang="en-US" sz="2800" i="1" dirty="0">
              <a:solidFill>
                <a:srgbClr val="0000CC"/>
              </a:solidFill>
              <a:latin typeface="Arial Narrow" panose="020B0606020202030204" pitchFamily="34" charset="0"/>
            </a:endParaRPr>
          </a:p>
        </p:txBody>
      </p:sp>
      <p:sp>
        <p:nvSpPr>
          <p:cNvPr id="70660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dirty="0"/>
              <a:t>6.3  </a:t>
            </a:r>
            <a:r>
              <a:rPr lang="zh-CN" altLang="en-US" dirty="0"/>
              <a:t>函数依赖的公理系统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69" end="14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149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184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255" end="2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260" end="3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59">
                                            <p:txEl>
                                              <p:charRg st="306" end="3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682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1683" name="Rectangle 2"/>
          <p:cNvSpPr>
            <a:spLocks noGrp="1"/>
          </p:cNvSpPr>
          <p:nvPr>
            <p:ph idx="1"/>
          </p:nvPr>
        </p:nvSpPr>
        <p:spPr>
          <a:xfrm>
            <a:off x="76200" y="685800"/>
            <a:ext cx="8915400" cy="58674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关系模式的设计问题</a:t>
            </a:r>
            <a:endParaRPr lang="zh-CN" altLang="en-US" sz="4000" dirty="0">
              <a:solidFill>
                <a:schemeClr val="tx1"/>
              </a:solidFill>
            </a:endParaRPr>
          </a:p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函数依赖</a:t>
            </a:r>
            <a:endParaRPr lang="zh-CN" altLang="en-US" sz="40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FF3300"/>
              </a:buClr>
            </a:pPr>
            <a:r>
              <a:rPr lang="en-US" altLang="zh-CN" dirty="0"/>
              <a:t>(</a:t>
            </a:r>
            <a:r>
              <a:rPr lang="zh-CN" altLang="en-US" dirty="0"/>
              <a:t>非</a:t>
            </a:r>
            <a:r>
              <a:rPr lang="en-US" altLang="zh-CN" dirty="0"/>
              <a:t>)</a:t>
            </a:r>
            <a:r>
              <a:rPr lang="zh-CN" altLang="en-US" dirty="0"/>
              <a:t>平凡函数依赖，</a:t>
            </a:r>
            <a:endParaRPr lang="zh-CN" altLang="en-US" dirty="0"/>
          </a:p>
          <a:p>
            <a:pPr lvl="1" eaLnBrk="1" hangingPunct="1">
              <a:buClr>
                <a:srgbClr val="FF3300"/>
              </a:buClr>
            </a:pPr>
            <a:r>
              <a:rPr lang="zh-CN" altLang="en-US" dirty="0"/>
              <a:t>部分</a:t>
            </a:r>
            <a:r>
              <a:rPr lang="en-US" altLang="zh-CN" dirty="0"/>
              <a:t>/</a:t>
            </a:r>
            <a:r>
              <a:rPr lang="zh-CN" altLang="en-US" dirty="0"/>
              <a:t>完全函数依赖，传递函数依赖</a:t>
            </a:r>
            <a:endParaRPr lang="zh-CN" altLang="en-US" dirty="0"/>
          </a:p>
          <a:p>
            <a:pPr lvl="1" eaLnBrk="1" hangingPunct="1">
              <a:buClr>
                <a:srgbClr val="FF3300"/>
              </a:buClr>
            </a:pPr>
            <a:r>
              <a:rPr lang="zh-CN" altLang="en-US" dirty="0"/>
              <a:t>超码，候选码，主码，主属性，全码</a:t>
            </a:r>
            <a:endParaRPr lang="zh-CN" altLang="en-US" dirty="0"/>
          </a:p>
          <a:p>
            <a:pPr eaLnBrk="1" hangingPunct="1"/>
            <a:r>
              <a:rPr lang="zh-CN" altLang="en-US" sz="4000" dirty="0">
                <a:solidFill>
                  <a:schemeClr val="tx1"/>
                </a:solidFill>
              </a:rPr>
              <a:t>函数依赖的推理规则</a:t>
            </a:r>
            <a:endParaRPr lang="zh-CN" altLang="en-US" sz="4000" dirty="0">
              <a:solidFill>
                <a:schemeClr val="tx1"/>
              </a:solidFill>
            </a:endParaRPr>
          </a:p>
          <a:p>
            <a:pPr lvl="1" eaLnBrk="1" hangingPunct="1">
              <a:buClr>
                <a:srgbClr val="FF3300"/>
              </a:buClr>
            </a:pPr>
            <a:r>
              <a:rPr lang="en-US" altLang="zh-CN" dirty="0"/>
              <a:t>Armstrong</a:t>
            </a:r>
            <a:r>
              <a:rPr lang="zh-CN" altLang="en-US" dirty="0"/>
              <a:t>公理：自反律，增广律，传递律</a:t>
            </a:r>
            <a:endParaRPr lang="zh-CN" altLang="en-US" dirty="0"/>
          </a:p>
          <a:p>
            <a:pPr lvl="1" eaLnBrk="1" hangingPunct="1">
              <a:buClr>
                <a:srgbClr val="FF3300"/>
              </a:buClr>
            </a:pPr>
            <a:r>
              <a:rPr lang="zh-CN" altLang="en-US" dirty="0"/>
              <a:t>推论：合并规则，伪传递规则，分解规则</a:t>
            </a:r>
            <a:endParaRPr lang="zh-CN" altLang="en-US" dirty="0"/>
          </a:p>
          <a:p>
            <a:pPr lvl="1" eaLnBrk="1" hangingPunct="1">
              <a:buClr>
                <a:srgbClr val="FF3300"/>
              </a:buClr>
            </a:pPr>
            <a:r>
              <a:rPr lang="zh-CN" altLang="en-US" dirty="0"/>
              <a:t>定义：逻辑蕴含以及函数依赖集</a:t>
            </a:r>
            <a:r>
              <a:rPr lang="en-US" altLang="zh-CN" dirty="0"/>
              <a:t>F</a:t>
            </a:r>
            <a:r>
              <a:rPr lang="zh-CN" altLang="en-US" dirty="0"/>
              <a:t>的闭包</a:t>
            </a:r>
            <a:r>
              <a:rPr lang="en-US" altLang="zh-CN" dirty="0"/>
              <a:t>F</a:t>
            </a:r>
            <a:r>
              <a:rPr lang="en-US" altLang="zh-CN" baseline="30000" dirty="0"/>
              <a:t>+</a:t>
            </a:r>
            <a:endParaRPr lang="en-US" altLang="zh-CN" baseline="30000" dirty="0"/>
          </a:p>
          <a:p>
            <a:pPr lvl="1" eaLnBrk="1" hangingPunct="1">
              <a:buClr>
                <a:srgbClr val="FF3300"/>
              </a:buClr>
            </a:pPr>
            <a:r>
              <a:rPr lang="zh-CN" altLang="en-US" dirty="0">
                <a:sym typeface="Symbol" panose="05050102010706020507" pitchFamily="18" charset="2"/>
              </a:rPr>
              <a:t>定义：属性集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关于函依赖集</a:t>
            </a:r>
            <a:r>
              <a:rPr lang="en-US" altLang="zh-CN" dirty="0">
                <a:sym typeface="Symbol" panose="05050102010706020507" pitchFamily="18" charset="2"/>
              </a:rPr>
              <a:t>F</a:t>
            </a:r>
            <a:r>
              <a:rPr lang="zh-CN" altLang="en-US" dirty="0">
                <a:sym typeface="Symbol" panose="05050102010706020507" pitchFamily="18" charset="2"/>
              </a:rPr>
              <a:t>的闭包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endParaRPr lang="en-US" altLang="zh-CN" baseline="30000" dirty="0">
              <a:sym typeface="Symbol" panose="05050102010706020507" pitchFamily="18" charset="2"/>
            </a:endParaRPr>
          </a:p>
        </p:txBody>
      </p:sp>
      <p:sp>
        <p:nvSpPr>
          <p:cNvPr id="71684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i="1" dirty="0"/>
              <a:t>Review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2706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2707" name="Rectangle 2"/>
          <p:cNvSpPr>
            <a:spLocks noGrp="1"/>
          </p:cNvSpPr>
          <p:nvPr>
            <p:ph idx="1"/>
          </p:nvPr>
        </p:nvSpPr>
        <p:spPr>
          <a:xfrm>
            <a:off x="76200" y="685800"/>
            <a:ext cx="8915400" cy="5867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4000" dirty="0">
                <a:solidFill>
                  <a:schemeClr val="tx1"/>
                </a:solidFill>
              </a:rPr>
              <a:t>函数依赖的推理规则</a:t>
            </a:r>
            <a:r>
              <a:rPr lang="en-US" altLang="zh-CN" sz="4000" dirty="0">
                <a:solidFill>
                  <a:schemeClr val="tx1"/>
                </a:solidFill>
              </a:rPr>
              <a:t>(</a:t>
            </a:r>
            <a:r>
              <a:rPr lang="zh-CN" altLang="en-US" sz="4000" dirty="0">
                <a:solidFill>
                  <a:schemeClr val="tx1"/>
                </a:solidFill>
              </a:rPr>
              <a:t>续</a:t>
            </a:r>
            <a:r>
              <a:rPr lang="en-US" altLang="zh-CN" sz="4000" dirty="0">
                <a:solidFill>
                  <a:schemeClr val="tx1"/>
                </a:solidFill>
              </a:rPr>
              <a:t>)</a:t>
            </a:r>
            <a:endParaRPr lang="en-US" altLang="zh-CN" sz="40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dirty="0"/>
              <a:t>定理</a:t>
            </a:r>
            <a:r>
              <a:rPr lang="en-US" altLang="zh-CN" dirty="0"/>
              <a:t>6.1 Armstrong</a:t>
            </a:r>
            <a:r>
              <a:rPr lang="zh-CN" altLang="en-US" dirty="0"/>
              <a:t>推理规则是正确的</a:t>
            </a:r>
            <a:r>
              <a:rPr lang="en-US" altLang="zh-CN" dirty="0"/>
              <a:t>: 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dirty="0"/>
              <a:t>引理</a:t>
            </a:r>
            <a:r>
              <a:rPr lang="en-US" altLang="zh-CN" dirty="0"/>
              <a:t>6.1 X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A</a:t>
            </a:r>
            <a:r>
              <a:rPr lang="en-US" altLang="zh-CN" baseline="-16000" dirty="0"/>
              <a:t>1 </a:t>
            </a:r>
            <a:r>
              <a:rPr lang="en-US" altLang="zh-CN" dirty="0"/>
              <a:t>A</a:t>
            </a:r>
            <a:r>
              <a:rPr lang="en-US" altLang="zh-CN" baseline="-16000" dirty="0"/>
              <a:t>2 </a:t>
            </a:r>
            <a:r>
              <a:rPr lang="en-US" altLang="zh-CN" dirty="0">
                <a:sym typeface="Symbol" panose="05050102010706020507" pitchFamily="18" charset="2"/>
              </a:rPr>
              <a:t></a:t>
            </a:r>
            <a:r>
              <a:rPr lang="en-US" altLang="zh-CN" dirty="0"/>
              <a:t>A</a:t>
            </a:r>
            <a:r>
              <a:rPr lang="en-US" altLang="zh-CN" baseline="-16000" dirty="0"/>
              <a:t>k </a:t>
            </a:r>
            <a:r>
              <a:rPr lang="en-US" altLang="zh-CN" dirty="0"/>
              <a:t> </a:t>
            </a:r>
            <a:r>
              <a:rPr lang="en-US" altLang="zh-CN" dirty="0">
                <a:sym typeface="Symbol" panose="05050102010706020507" pitchFamily="18" charset="2"/>
              </a:rPr>
              <a:t>  </a:t>
            </a:r>
            <a:r>
              <a:rPr lang="en-US" altLang="zh-CN" dirty="0"/>
              <a:t>X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A</a:t>
            </a:r>
            <a:r>
              <a:rPr lang="en-US" altLang="zh-CN" baseline="-16000" dirty="0"/>
              <a:t>i</a:t>
            </a:r>
            <a:r>
              <a:rPr lang="en-US" altLang="zh-CN" dirty="0"/>
              <a:t> (i=1, 2, </a:t>
            </a:r>
            <a:r>
              <a:rPr lang="en-US" altLang="zh-CN" dirty="0">
                <a:sym typeface="Symbol" panose="05050102010706020507" pitchFamily="18" charset="2"/>
              </a:rPr>
              <a:t> ,</a:t>
            </a:r>
            <a:r>
              <a:rPr lang="en-US" altLang="zh-CN" dirty="0"/>
              <a:t>k)</a:t>
            </a:r>
            <a:endParaRPr lang="en-US" altLang="zh-CN" dirty="0"/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dirty="0"/>
              <a:t>引理</a:t>
            </a:r>
            <a:r>
              <a:rPr lang="en-US" altLang="zh-CN" dirty="0"/>
              <a:t>6.2 X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Y </a:t>
            </a:r>
            <a:r>
              <a:rPr lang="en-US" altLang="zh-CN" dirty="0">
                <a:sym typeface="Symbol" panose="05050102010706020507" pitchFamily="18" charset="2"/>
              </a:rPr>
              <a:t></a:t>
            </a:r>
            <a:r>
              <a:rPr lang="en-US" altLang="zh-CN" dirty="0"/>
              <a:t> Y </a:t>
            </a:r>
            <a:r>
              <a:rPr lang="en-US" altLang="zh-CN" dirty="0">
                <a:sym typeface="Symbol" panose="05050102010706020507" pitchFamily="18" charset="2"/>
              </a:rPr>
              <a:t>X </a:t>
            </a:r>
            <a:r>
              <a:rPr lang="en-US" altLang="zh-CN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endParaRPr lang="en-US" altLang="zh-CN" baseline="300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dirty="0"/>
              <a:t>引理</a:t>
            </a:r>
            <a:r>
              <a:rPr lang="en-US" altLang="zh-CN" dirty="0"/>
              <a:t>6.3 </a:t>
            </a:r>
            <a:r>
              <a:rPr lang="zh-CN" altLang="en-US" dirty="0">
                <a:sym typeface="Symbol" panose="05050102010706020507" pitchFamily="18" charset="2"/>
              </a:rPr>
              <a:t>若</a:t>
            </a:r>
            <a:r>
              <a:rPr lang="en-US" altLang="zh-CN" dirty="0">
                <a:sym typeface="Symbol" panose="05050102010706020507" pitchFamily="18" charset="2"/>
              </a:rPr>
              <a:t>V→W</a:t>
            </a:r>
            <a:r>
              <a:rPr lang="zh-CN" altLang="en-US" dirty="0">
                <a:sym typeface="Symbol" panose="05050102010706020507" pitchFamily="18" charset="2"/>
              </a:rPr>
              <a:t>，且</a:t>
            </a:r>
            <a:r>
              <a:rPr lang="en-US" altLang="zh-CN" dirty="0">
                <a:sym typeface="Symbol" panose="05050102010706020507" pitchFamily="18" charset="2"/>
              </a:rPr>
              <a:t>V  X</a:t>
            </a:r>
            <a:r>
              <a:rPr lang="en-US" altLang="zh-CN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r>
              <a:rPr lang="zh-CN" altLang="en-US" dirty="0">
                <a:sym typeface="Symbol" panose="05050102010706020507" pitchFamily="18" charset="2"/>
              </a:rPr>
              <a:t>，则</a:t>
            </a:r>
            <a:r>
              <a:rPr lang="en-US" altLang="zh-CN" dirty="0">
                <a:sym typeface="Symbol" panose="05050102010706020507" pitchFamily="18" charset="2"/>
              </a:rPr>
              <a:t>W  X</a:t>
            </a:r>
            <a:r>
              <a:rPr lang="en-US" altLang="zh-CN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endParaRPr lang="en-US" altLang="zh-CN" baseline="30000" dirty="0">
              <a:sym typeface="Symbol" panose="05050102010706020507" pitchFamily="18" charset="2"/>
            </a:endParaRPr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dirty="0">
                <a:sym typeface="Symbol" panose="05050102010706020507" pitchFamily="18" charset="2"/>
              </a:rPr>
              <a:t>算法</a:t>
            </a:r>
            <a:r>
              <a:rPr lang="en-US" altLang="zh-CN" dirty="0">
                <a:sym typeface="Symbol" panose="05050102010706020507" pitchFamily="18" charset="2"/>
              </a:rPr>
              <a:t>6.1:</a:t>
            </a:r>
            <a:r>
              <a:rPr lang="zh-CN" altLang="en-US" dirty="0">
                <a:sym typeface="Symbol" panose="05050102010706020507" pitchFamily="18" charset="2"/>
              </a:rPr>
              <a:t>求属性集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zh-CN" altLang="en-US" dirty="0">
                <a:sym typeface="Symbol" panose="05050102010706020507" pitchFamily="18" charset="2"/>
              </a:rPr>
              <a:t>关于函数依赖集</a:t>
            </a:r>
            <a:r>
              <a:rPr lang="en-US" altLang="zh-CN" dirty="0">
                <a:sym typeface="Symbol" panose="05050102010706020507" pitchFamily="18" charset="2"/>
              </a:rPr>
              <a:t>F</a:t>
            </a:r>
            <a:r>
              <a:rPr lang="zh-CN" altLang="en-US" dirty="0">
                <a:sym typeface="Symbol" panose="05050102010706020507" pitchFamily="18" charset="2"/>
              </a:rPr>
              <a:t>的闭包</a:t>
            </a:r>
            <a:r>
              <a:rPr lang="en-US" altLang="zh-CN" dirty="0">
                <a:sym typeface="Symbol" panose="05050102010706020507" pitchFamily="18" charset="2"/>
              </a:rPr>
              <a:t>X</a:t>
            </a:r>
            <a:r>
              <a:rPr lang="en-US" altLang="zh-CN" baseline="-25000" dirty="0">
                <a:sym typeface="Symbol" panose="05050102010706020507" pitchFamily="18" charset="2"/>
              </a:rPr>
              <a:t>F</a:t>
            </a:r>
            <a:r>
              <a:rPr lang="en-US" altLang="zh-CN" baseline="30000" dirty="0">
                <a:sym typeface="Symbol" panose="05050102010706020507" pitchFamily="18" charset="2"/>
              </a:rPr>
              <a:t>+</a:t>
            </a:r>
            <a:endParaRPr lang="en-US" altLang="zh-CN" dirty="0">
              <a:sym typeface="Symbol" panose="05050102010706020507" pitchFamily="18" charset="2"/>
            </a:endParaRPr>
          </a:p>
        </p:txBody>
      </p:sp>
      <p:sp>
        <p:nvSpPr>
          <p:cNvPr id="72708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i="1" dirty="0"/>
              <a:t>Review</a:t>
            </a:r>
            <a:endParaRPr lang="en-US" altLang="zh-CN" i="1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3730" name="页脚占位符 4"/>
          <p:cNvSpPr txBox="1">
            <a:spLocks noGrp="1"/>
          </p:cNvSpPr>
          <p:nvPr>
            <p:ph type="ftr" sz="quarter" idx="11"/>
          </p:nvPr>
        </p:nvSpPr>
        <p:spPr>
          <a:ln/>
        </p:spPr>
        <p:txBody>
          <a:bodyPr/>
          <a:p>
            <a:pPr marL="0" indent="0"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en-US" altLang="zh-CN" sz="1400" b="0" dirty="0">
                <a:solidFill>
                  <a:srgbClr val="6600FF"/>
                </a:solidFill>
              </a:rPr>
              <a:t>An Introduction to Database System</a:t>
            </a:r>
            <a:endParaRPr lang="en-US" altLang="zh-CN" sz="1400" b="0" dirty="0">
              <a:solidFill>
                <a:srgbClr val="6600FF"/>
              </a:solidFill>
            </a:endParaRPr>
          </a:p>
        </p:txBody>
      </p:sp>
      <p:sp>
        <p:nvSpPr>
          <p:cNvPr id="73731" name="Rectangle 2"/>
          <p:cNvSpPr>
            <a:spLocks noGrp="1"/>
          </p:cNvSpPr>
          <p:nvPr>
            <p:ph idx="1"/>
          </p:nvPr>
        </p:nvSpPr>
        <p:spPr>
          <a:xfrm>
            <a:off x="76200" y="685800"/>
            <a:ext cx="8915400" cy="5867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zh-CN" altLang="en-US" sz="3600" dirty="0">
                <a:solidFill>
                  <a:schemeClr val="tx1"/>
                </a:solidFill>
              </a:rPr>
              <a:t>函数依赖的推理规则</a:t>
            </a:r>
            <a:r>
              <a:rPr lang="en-US" altLang="zh-CN" sz="3600" dirty="0">
                <a:solidFill>
                  <a:schemeClr val="tx1"/>
                </a:solidFill>
              </a:rPr>
              <a:t>(</a:t>
            </a:r>
            <a:r>
              <a:rPr lang="zh-CN" altLang="en-US" sz="3600" dirty="0">
                <a:solidFill>
                  <a:schemeClr val="tx1"/>
                </a:solidFill>
              </a:rPr>
              <a:t>续</a:t>
            </a:r>
            <a:r>
              <a:rPr lang="en-US" altLang="zh-CN" sz="3600" dirty="0">
                <a:solidFill>
                  <a:schemeClr val="tx1"/>
                </a:solidFill>
              </a:rPr>
              <a:t>)</a:t>
            </a:r>
            <a:endParaRPr lang="en-US" altLang="zh-CN" sz="3600" dirty="0">
              <a:solidFill>
                <a:schemeClr val="tx1"/>
              </a:solidFill>
            </a:endParaRPr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sz="2400" dirty="0"/>
              <a:t>闭包的应用</a:t>
            </a:r>
            <a:r>
              <a:rPr lang="en-US" altLang="zh-CN" sz="2400" dirty="0"/>
              <a:t>: </a:t>
            </a:r>
            <a:endParaRPr lang="en-US" altLang="zh-CN" sz="2400" dirty="0"/>
          </a:p>
          <a:p>
            <a:pPr lvl="2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zh-CN" altLang="en-US" sz="2000" dirty="0">
                <a:ea typeface="宋体" panose="02010600030101010101" pitchFamily="2" charset="-122"/>
              </a:rPr>
              <a:t>给定关系模式 </a:t>
            </a:r>
            <a:r>
              <a:rPr lang="en-US" altLang="zh-CN" sz="2000" dirty="0">
                <a:ea typeface="宋体" panose="02010600030101010101" pitchFamily="2" charset="-122"/>
              </a:rPr>
              <a:t>R&lt;U</a:t>
            </a:r>
            <a:r>
              <a:rPr lang="zh-CN" altLang="en-US" sz="2000" dirty="0">
                <a:ea typeface="宋体" panose="02010600030101010101" pitchFamily="2" charset="-122"/>
              </a:rPr>
              <a:t>，</a:t>
            </a:r>
            <a:r>
              <a:rPr lang="en-US" altLang="zh-CN" sz="2000" dirty="0">
                <a:ea typeface="宋体" panose="02010600030101010101" pitchFamily="2" charset="-122"/>
              </a:rPr>
              <a:t>F&gt;</a:t>
            </a:r>
            <a:r>
              <a:rPr lang="zh-CN" altLang="en-US" sz="2000" dirty="0">
                <a:ea typeface="宋体" panose="02010600030101010101" pitchFamily="2" charset="-122"/>
              </a:rPr>
              <a:t>；判断</a:t>
            </a:r>
            <a:r>
              <a:rPr lang="en-US" altLang="zh-CN" sz="2000" dirty="0">
                <a:ea typeface="宋体" panose="02010600030101010101" pitchFamily="2" charset="-122"/>
              </a:rPr>
              <a:t>X</a:t>
            </a:r>
            <a:r>
              <a:rPr lang="en-US" altLang="zh-CN" sz="2000" dirty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dirty="0">
                <a:ea typeface="宋体" panose="02010600030101010101" pitchFamily="2" charset="-122"/>
              </a:rPr>
              <a:t>Y</a:t>
            </a:r>
            <a:r>
              <a:rPr lang="zh-CN" altLang="en-US" sz="2000" dirty="0">
                <a:ea typeface="宋体" panose="02010600030101010101" pitchFamily="2" charset="-122"/>
              </a:rPr>
              <a:t>成立否</a:t>
            </a:r>
            <a:r>
              <a:rPr lang="en-US" altLang="zh-CN" sz="2000" dirty="0">
                <a:ea typeface="宋体" panose="02010600030101010101" pitchFamily="2" charset="-122"/>
              </a:rPr>
              <a:t>(</a:t>
            </a:r>
            <a:r>
              <a:rPr lang="zh-CN" altLang="en-US" sz="2000" dirty="0">
                <a:ea typeface="宋体" panose="02010600030101010101" pitchFamily="2" charset="-122"/>
              </a:rPr>
              <a:t>是否为</a:t>
            </a:r>
            <a:r>
              <a:rPr lang="en-US" altLang="zh-CN" sz="2000" dirty="0">
                <a:ea typeface="宋体" panose="02010600030101010101" pitchFamily="2" charset="-122"/>
              </a:rPr>
              <a:t>F</a:t>
            </a:r>
            <a:r>
              <a:rPr lang="zh-CN" altLang="en-US" sz="2000" dirty="0">
                <a:ea typeface="宋体" panose="02010600030101010101" pitchFamily="2" charset="-122"/>
              </a:rPr>
              <a:t>所蕴含</a:t>
            </a:r>
            <a:r>
              <a:rPr lang="en-US" altLang="zh-CN" sz="2000" dirty="0">
                <a:ea typeface="宋体" panose="02010600030101010101" pitchFamily="2" charset="-122"/>
              </a:rPr>
              <a:t>)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2" eaLnBrk="1" hangingPunct="1">
              <a:lnSpc>
                <a:spcPct val="120000"/>
              </a:lnSpc>
              <a:buClr>
                <a:srgbClr val="FF3300"/>
              </a:buClr>
              <a:buFont typeface="Wingdings" panose="05000000000000000000" pitchFamily="2" charset="2"/>
              <a:buChar char="§"/>
            </a:pPr>
            <a:r>
              <a:rPr lang="zh-CN" altLang="en-US" sz="2000" dirty="0">
                <a:ea typeface="宋体" panose="02010600030101010101" pitchFamily="2" charset="-122"/>
              </a:rPr>
              <a:t>判断某个属性集</a:t>
            </a:r>
            <a:r>
              <a:rPr lang="en-US" altLang="zh-CN" sz="2000" dirty="0">
                <a:ea typeface="宋体" panose="02010600030101010101" pitchFamily="2" charset="-122"/>
              </a:rPr>
              <a:t>K</a:t>
            </a:r>
            <a:r>
              <a:rPr lang="zh-CN" altLang="en-US" sz="2000" dirty="0">
                <a:ea typeface="宋体" panose="02010600030101010101" pitchFamily="2" charset="-122"/>
              </a:rPr>
              <a:t>是否为</a:t>
            </a:r>
            <a:r>
              <a:rPr lang="en-US" altLang="zh-CN" sz="2000" dirty="0">
                <a:ea typeface="宋体" panose="02010600030101010101" pitchFamily="2" charset="-122"/>
              </a:rPr>
              <a:t>R</a:t>
            </a:r>
            <a:r>
              <a:rPr lang="zh-CN" altLang="en-US" sz="2000" dirty="0">
                <a:ea typeface="宋体" panose="02010600030101010101" pitchFamily="2" charset="-122"/>
              </a:rPr>
              <a:t>的候选关键字</a:t>
            </a:r>
            <a:r>
              <a:rPr lang="en-US" altLang="zh-CN" sz="2000" dirty="0">
                <a:ea typeface="宋体" panose="02010600030101010101" pitchFamily="2" charset="-122"/>
              </a:rPr>
              <a:t>.</a:t>
            </a:r>
            <a:endParaRPr lang="en-US" altLang="zh-CN" sz="2000" dirty="0">
              <a:ea typeface="宋体" panose="02010600030101010101" pitchFamily="2" charset="-122"/>
            </a:endParaRPr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sz="2400" dirty="0"/>
              <a:t>定理</a:t>
            </a:r>
            <a:r>
              <a:rPr lang="en-US" altLang="zh-CN" sz="2400" dirty="0"/>
              <a:t>6.2 Armstrong</a:t>
            </a:r>
            <a:r>
              <a:rPr lang="zh-CN" altLang="en-US" sz="2400" dirty="0"/>
              <a:t>公理系统是有效的、完备的</a:t>
            </a:r>
            <a:r>
              <a:rPr lang="en-US" altLang="zh-CN" sz="2400" dirty="0"/>
              <a:t>:</a:t>
            </a:r>
            <a:r>
              <a:rPr lang="zh-CN" altLang="en-US" sz="2400" dirty="0"/>
              <a:t>从</a:t>
            </a:r>
            <a:r>
              <a:rPr lang="en-US" altLang="zh-CN" sz="2400" dirty="0"/>
              <a:t>F</a:t>
            </a:r>
            <a:r>
              <a:rPr lang="zh-CN" altLang="en-US" sz="2400" dirty="0"/>
              <a:t>由公理推出的依赖必为</a:t>
            </a:r>
            <a:r>
              <a:rPr lang="en-US" altLang="zh-CN" sz="2400" dirty="0"/>
              <a:t>F </a:t>
            </a:r>
            <a:r>
              <a:rPr lang="zh-CN" altLang="en-US" sz="2400" dirty="0"/>
              <a:t>所蕴含；为</a:t>
            </a:r>
            <a:r>
              <a:rPr lang="en-US" altLang="zh-CN" sz="2400" dirty="0"/>
              <a:t>F</a:t>
            </a:r>
            <a:r>
              <a:rPr lang="zh-CN" altLang="en-US" sz="2400" dirty="0"/>
              <a:t>所蕴含的依赖必可由公理推出。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sz="2400" dirty="0"/>
              <a:t>定义：函数依赖集的覆盖与等价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sz="2400" dirty="0"/>
              <a:t>引理</a:t>
            </a:r>
            <a:r>
              <a:rPr lang="en-US" altLang="zh-CN" sz="2400" dirty="0"/>
              <a:t>6.4 </a:t>
            </a:r>
            <a:r>
              <a:rPr lang="en-US" altLang="zh-CN" sz="2400" dirty="0">
                <a:sym typeface="Symbol" panose="05050102010706020507" pitchFamily="18" charset="2"/>
              </a:rPr>
              <a:t>F</a:t>
            </a:r>
            <a:r>
              <a:rPr lang="en-US" altLang="zh-CN" sz="2400" baseline="28000" dirty="0">
                <a:sym typeface="Symbol" panose="05050102010706020507" pitchFamily="18" charset="2"/>
              </a:rPr>
              <a:t>+ </a:t>
            </a:r>
            <a:r>
              <a:rPr lang="en-US" altLang="zh-CN" sz="2400" dirty="0">
                <a:sym typeface="Symbol" panose="05050102010706020507" pitchFamily="18" charset="2"/>
              </a:rPr>
              <a:t>= G</a:t>
            </a:r>
            <a:r>
              <a:rPr lang="en-US" altLang="zh-CN" sz="2400" baseline="28000" dirty="0">
                <a:sym typeface="Symbol" panose="05050102010706020507" pitchFamily="18" charset="2"/>
              </a:rPr>
              <a:t>+  </a:t>
            </a:r>
            <a:r>
              <a:rPr lang="en-US" altLang="zh-CN" sz="2400" dirty="0">
                <a:sym typeface="Symbol" panose="05050102010706020507" pitchFamily="18" charset="2"/>
              </a:rPr>
              <a:t>  F  G</a:t>
            </a:r>
            <a:r>
              <a:rPr lang="en-US" altLang="zh-CN" sz="2400" baseline="28000" dirty="0">
                <a:sym typeface="Symbol" panose="05050102010706020507" pitchFamily="18" charset="2"/>
              </a:rPr>
              <a:t>+</a:t>
            </a:r>
            <a:r>
              <a:rPr lang="zh-CN" altLang="en-US" sz="2400" dirty="0">
                <a:sym typeface="Symbol" panose="05050102010706020507" pitchFamily="18" charset="2"/>
              </a:rPr>
              <a:t>，</a:t>
            </a:r>
            <a:r>
              <a:rPr lang="en-US" altLang="zh-CN" sz="2400" dirty="0">
                <a:sym typeface="Symbol" panose="05050102010706020507" pitchFamily="18" charset="2"/>
              </a:rPr>
              <a:t>G  F</a:t>
            </a:r>
            <a:r>
              <a:rPr lang="en-US" altLang="zh-CN" sz="2400" baseline="28000" dirty="0">
                <a:sym typeface="Symbol" panose="05050102010706020507" pitchFamily="18" charset="2"/>
              </a:rPr>
              <a:t>+</a:t>
            </a:r>
            <a:endParaRPr lang="en-US" altLang="zh-CN" sz="2400" dirty="0"/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sz="2400" dirty="0"/>
              <a:t>函数依赖集的最小覆盖，最小依赖集</a:t>
            </a:r>
            <a:endParaRPr lang="zh-CN" altLang="en-US" sz="2400" dirty="0"/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sz="2400" dirty="0"/>
              <a:t>定理</a:t>
            </a:r>
            <a:r>
              <a:rPr lang="en-US" altLang="zh-CN" sz="2400" dirty="0"/>
              <a:t>6.3 </a:t>
            </a:r>
            <a:r>
              <a:rPr lang="zh-CN" altLang="en-US" sz="2400" dirty="0"/>
              <a:t>每一个函数依赖集</a:t>
            </a:r>
            <a:r>
              <a:rPr lang="en-US" altLang="zh-CN" sz="2400" dirty="0"/>
              <a:t>F</a:t>
            </a:r>
            <a:r>
              <a:rPr lang="zh-CN" altLang="en-US" sz="2400" dirty="0"/>
              <a:t>均等价一个极小函数依赖集</a:t>
            </a:r>
            <a:r>
              <a:rPr lang="en-US" altLang="zh-CN" sz="2400" dirty="0"/>
              <a:t>F</a:t>
            </a:r>
            <a:r>
              <a:rPr lang="en-US" altLang="zh-CN" sz="2400" baseline="-25000" dirty="0"/>
              <a:t>m</a:t>
            </a:r>
            <a:endParaRPr lang="en-US" altLang="zh-CN" sz="2400" baseline="-25000" dirty="0"/>
          </a:p>
          <a:p>
            <a:pPr lvl="1" eaLnBrk="1" hangingPunct="1">
              <a:lnSpc>
                <a:spcPct val="120000"/>
              </a:lnSpc>
              <a:buClr>
                <a:srgbClr val="FF3300"/>
              </a:buClr>
            </a:pPr>
            <a:r>
              <a:rPr lang="zh-CN" altLang="en-US" sz="2400" dirty="0"/>
              <a:t>求最小依赖集</a:t>
            </a:r>
            <a:endParaRPr lang="zh-CN" altLang="en-US" sz="2400" dirty="0"/>
          </a:p>
        </p:txBody>
      </p:sp>
      <p:sp>
        <p:nvSpPr>
          <p:cNvPr id="73732" name="Rectangle 3"/>
          <p:cNvSpPr>
            <a:spLocks noGrp="1"/>
          </p:cNvSpPr>
          <p:nvPr>
            <p:ph type="title"/>
          </p:nvPr>
        </p:nvSpPr>
        <p:spPr>
          <a:xfrm>
            <a:off x="685800" y="0"/>
            <a:ext cx="7772400" cy="609600"/>
          </a:xfrm>
          <a:ln/>
        </p:spPr>
        <p:txBody>
          <a:bodyPr vert="horz" wrap="square" lIns="91440" tIns="45720" rIns="91440" bIns="45720" anchor="ctr" anchorCtr="0"/>
          <a:p>
            <a:pPr eaLnBrk="1" hangingPunct="1"/>
            <a:r>
              <a:rPr lang="en-US" altLang="zh-CN" i="1" dirty="0"/>
              <a:t>Review</a:t>
            </a:r>
            <a:endParaRPr lang="en-US" altLang="zh-CN" i="1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麒麟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33CC"/>
      </a:hlink>
      <a:folHlink>
        <a:srgbClr val="B2B2B2"/>
      </a:folHlink>
    </a:clrScheme>
    <a:fontScheme name="麒麟">
      <a:majorFont>
        <a:latin typeface="Times New Roman"/>
        <a:ea typeface="经典细隶书简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rgbClr val="6600FF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ctr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1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麒麟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麒麟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麒麟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kylin</Template>
  <TotalTime>0</TotalTime>
  <Words>14772</Words>
  <Application>WPS Presentation</Application>
  <PresentationFormat>全屏显示(4:3)</PresentationFormat>
  <Paragraphs>1461</Paragraphs>
  <Slides>70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25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4</vt:i4>
      </vt:variant>
      <vt:variant>
        <vt:lpstr>幻灯片标题</vt:lpstr>
      </vt:variant>
      <vt:variant>
        <vt:i4>70</vt:i4>
      </vt:variant>
    </vt:vector>
  </HeadingPairs>
  <TitlesOfParts>
    <vt:vector size="100" baseType="lpstr">
      <vt:lpstr>Arial</vt:lpstr>
      <vt:lpstr>SimSun</vt:lpstr>
      <vt:lpstr>Wingdings</vt:lpstr>
      <vt:lpstr>Times New Roman</vt:lpstr>
      <vt:lpstr>宋体</vt:lpstr>
      <vt:lpstr>经典细隶书简</vt:lpstr>
      <vt:lpstr>隶书</vt:lpstr>
      <vt:lpstr>楷体_GB2312</vt:lpstr>
      <vt:lpstr>新宋体</vt:lpstr>
      <vt:lpstr>仿宋_GB2312</vt:lpstr>
      <vt:lpstr>仿宋</vt:lpstr>
      <vt:lpstr>Calibri</vt:lpstr>
      <vt:lpstr>Arial Narrow</vt:lpstr>
      <vt:lpstr>Monotype Sorts</vt:lpstr>
      <vt:lpstr>Wingdings</vt:lpstr>
      <vt:lpstr>Symbol</vt:lpstr>
      <vt:lpstr>MingLiU</vt:lpstr>
      <vt:lpstr>MS Gothic</vt:lpstr>
      <vt:lpstr>MS Outlook</vt:lpstr>
      <vt:lpstr>华文新魏</vt:lpstr>
      <vt:lpstr>Tahoma</vt:lpstr>
      <vt:lpstr>黑体</vt:lpstr>
      <vt:lpstr>微软雅黑</vt:lpstr>
      <vt:lpstr>Arial Unicode MS</vt:lpstr>
      <vt:lpstr>Bookman Old Style</vt:lpstr>
      <vt:lpstr>麒麟</vt:lpstr>
      <vt:lpstr>Equation.3</vt:lpstr>
      <vt:lpstr>Equation.3</vt:lpstr>
      <vt:lpstr>Equation.3</vt:lpstr>
      <vt:lpstr>MS_ClipArt_Gallery.2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nakanosan</cp:lastModifiedBy>
  <cp:revision>72</cp:revision>
  <dcterms:created xsi:type="dcterms:W3CDTF">2026-06-17T19:29:03Z</dcterms:created>
  <dcterms:modified xsi:type="dcterms:W3CDTF">2026-06-17T19:29:03Z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1033-12.1.2.26885</vt:lpwstr>
  </property>
  <property fmtid="{D5CDD505-2E9C-101B-9397-08002B2CF9AE}" pid="3" name="ICV">
    <vt:lpwstr>7FF36010C32A38DA7FF5326A07944B02_43</vt:lpwstr>
  </property>
</Properties>
</file>