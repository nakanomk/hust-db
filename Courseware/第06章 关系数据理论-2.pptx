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3"/>
  </p:notesMasterIdLst>
  <p:sldIdLst>
    <p:sldId id="30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</p:sldIdLst>
  <p:sldSz cx="9144000" cy="6858000" type="screen4x3"/>
  <p:notesSz cx="6858000" cy="9144000"/>
  <p:defaultTextStyle>
    <a:defPPr>
      <a:defRPr lang="zh-CN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14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14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14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14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14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14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14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14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14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34550"/>
    <p:restoredTop sz="86412"/>
  </p:normalViewPr>
  <p:slideViewPr>
    <p:cSldViewPr showGuides="1">
      <p:cViewPr varScale="1">
        <p:scale>
          <a:sx n="72" d="100"/>
          <a:sy n="72" d="100"/>
        </p:scale>
        <p:origin x="432" y="2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6" Type="http://schemas.openxmlformats.org/officeDocument/2006/relationships/tableStyles" Target="tableStyles.xml"/><Relationship Id="rId55" Type="http://schemas.openxmlformats.org/officeDocument/2006/relationships/viewProps" Target="viewProps.xml"/><Relationship Id="rId54" Type="http://schemas.openxmlformats.org/officeDocument/2006/relationships/presProps" Target="presProps.xml"/><Relationship Id="rId53" Type="http://schemas.openxmlformats.org/officeDocument/2006/relationships/notesMaster" Target="notesMasters/notesMaster1.xml"/><Relationship Id="rId52" Type="http://schemas.openxmlformats.org/officeDocument/2006/relationships/slide" Target="slides/slide50.xml"/><Relationship Id="rId51" Type="http://schemas.openxmlformats.org/officeDocument/2006/relationships/slide" Target="slides/slide49.xml"/><Relationship Id="rId50" Type="http://schemas.openxmlformats.org/officeDocument/2006/relationships/slide" Target="slides/slide48.xml"/><Relationship Id="rId5" Type="http://schemas.openxmlformats.org/officeDocument/2006/relationships/slide" Target="slides/slide3.xml"/><Relationship Id="rId49" Type="http://schemas.openxmlformats.org/officeDocument/2006/relationships/slide" Target="slides/slide47.xml"/><Relationship Id="rId48" Type="http://schemas.openxmlformats.org/officeDocument/2006/relationships/slide" Target="slides/slide46.xml"/><Relationship Id="rId47" Type="http://schemas.openxmlformats.org/officeDocument/2006/relationships/slide" Target="slides/slide45.xml"/><Relationship Id="rId46" Type="http://schemas.openxmlformats.org/officeDocument/2006/relationships/slide" Target="slides/slide44.xml"/><Relationship Id="rId45" Type="http://schemas.openxmlformats.org/officeDocument/2006/relationships/slide" Target="slides/slide43.xml"/><Relationship Id="rId44" Type="http://schemas.openxmlformats.org/officeDocument/2006/relationships/slide" Target="slides/slide42.xml"/><Relationship Id="rId43" Type="http://schemas.openxmlformats.org/officeDocument/2006/relationships/slide" Target="slides/slide41.xml"/><Relationship Id="rId42" Type="http://schemas.openxmlformats.org/officeDocument/2006/relationships/slide" Target="slides/slide40.xml"/><Relationship Id="rId41" Type="http://schemas.openxmlformats.org/officeDocument/2006/relationships/slide" Target="slides/slide39.xml"/><Relationship Id="rId40" Type="http://schemas.openxmlformats.org/officeDocument/2006/relationships/slide" Target="slides/slide38.xml"/><Relationship Id="rId4" Type="http://schemas.openxmlformats.org/officeDocument/2006/relationships/slide" Target="slides/slide2.xml"/><Relationship Id="rId39" Type="http://schemas.openxmlformats.org/officeDocument/2006/relationships/slide" Target="slides/slide37.xml"/><Relationship Id="rId38" Type="http://schemas.openxmlformats.org/officeDocument/2006/relationships/slide" Target="slides/slide36.xml"/><Relationship Id="rId37" Type="http://schemas.openxmlformats.org/officeDocument/2006/relationships/slide" Target="slides/slide35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12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17BF672-2853-42BB-B44C-ECAD43584F3E}" type="datetimeFigureOut">
              <a:rPr kumimoji="1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1" lang="zh-CN" altLang="en-US" sz="12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单击此处编辑母版文本样式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第二级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第三级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第四级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第五级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12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hangingPunct="1">
              <a:defRPr sz="120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84F80F2-4880-4FED-A164-C8D4BE3B3135}" type="slidenum">
              <a:rPr kumimoji="1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1" lang="zh-CN" altLang="en-US" sz="12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66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An Introduction to Database System</a:t>
            </a: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6600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D58C4D5-6FBF-4D2E-A55D-CF88C064E8D5}" type="slidenum">
              <a:rPr kumimoji="1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66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An Introduction to Database System</a:t>
            </a: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6600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D58C4D5-6FBF-4D2E-A55D-CF88C064E8D5}" type="slidenum">
              <a:rPr kumimoji="1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66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An Introduction to Database System</a:t>
            </a: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6600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D58C4D5-6FBF-4D2E-A55D-CF88C064E8D5}" type="slidenum">
              <a:rPr kumimoji="1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3810000" cy="4724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447800"/>
            <a:ext cx="3810000" cy="4724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66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An Introduction to Database System</a:t>
            </a: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6600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D58C4D5-6FBF-4D2E-A55D-CF88C064E8D5}" type="slidenum">
              <a:rPr kumimoji="1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66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An Introduction to Database System</a:t>
            </a: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6600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D58C4D5-6FBF-4D2E-A55D-CF88C064E8D5}" type="slidenum">
              <a:rPr kumimoji="1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66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An Introduction to Database System</a:t>
            </a: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6600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D58C4D5-6FBF-4D2E-A55D-CF88C064E8D5}" type="slidenum">
              <a:rPr kumimoji="1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66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An Introduction to Database System</a:t>
            </a: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6600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D58C4D5-6FBF-4D2E-A55D-CF88C064E8D5}" type="slidenum">
              <a:rPr kumimoji="1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66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An Introduction to Database System</a:t>
            </a: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6600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D58C4D5-6FBF-4D2E-A55D-CF88C064E8D5}" type="slidenum">
              <a:rPr kumimoji="1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Tx/>
              <a:buFont typeface="Wingdings" panose="05000000000000000000" pitchFamily="2" charset="2"/>
              <a:buNone/>
              <a:defRPr/>
            </a:pPr>
            <a:endParaRPr kumimoji="1" lang="en-US" sz="3200" b="1" i="0" u="none" strike="noStrike" kern="0" cap="none" spc="0" normalizeH="0" baseline="0" noProof="0" smtClean="0">
              <a:ln>
                <a:noFill/>
              </a:ln>
              <a:solidFill>
                <a:srgbClr val="FF33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66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An Introduction to Database System</a:t>
            </a: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6600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D58C4D5-6FBF-4D2E-A55D-CF88C064E8D5}" type="slidenum">
              <a:rPr kumimoji="1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66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An Introduction to Database System</a:t>
            </a: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6600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D58C4D5-6FBF-4D2E-A55D-CF88C064E8D5}" type="slidenum">
              <a:rPr kumimoji="1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15100" y="152400"/>
            <a:ext cx="1943100" cy="601980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152400"/>
            <a:ext cx="5676900" cy="6019800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66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An Introduction to Database System</a:t>
            </a: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6600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D58C4D5-6FBF-4D2E-A55D-CF88C064E8D5}" type="slidenum">
              <a:rPr kumimoji="1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image" Target="../media/image2.png"/><Relationship Id="rId12" Type="http://schemas.openxmlformats.org/officeDocument/2006/relationships/image" Target="../media/image1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1026" name="Rectangle 2"/>
          <p:cNvSpPr>
            <a:spLocks noGrp="1"/>
          </p:cNvSpPr>
          <p:nvPr>
            <p:ph type="title"/>
          </p:nvPr>
        </p:nvSpPr>
        <p:spPr>
          <a:xfrm>
            <a:off x="685800" y="152400"/>
            <a:ext cx="77724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1027" name="Rectangle 3"/>
          <p:cNvSpPr>
            <a:spLocks noGrp="1"/>
          </p:cNvSpPr>
          <p:nvPr>
            <p:ph type="body" idx="1"/>
          </p:nvPr>
        </p:nvSpPr>
        <p:spPr>
          <a:xfrm>
            <a:off x="685800" y="1447800"/>
            <a:ext cx="7772400" cy="47244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l" eaLnBrk="1" hangingPunct="1">
              <a:defRPr b="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0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400300" y="6540500"/>
            <a:ext cx="3683000" cy="317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defRPr b="0">
                <a:solidFill>
                  <a:srgbClr val="6600FF"/>
                </a:solidFill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66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An Introduction to Database System</a:t>
            </a: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6600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b="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D58C4D5-6FBF-4D2E-A55D-CF88C064E8D5}" type="slidenum">
              <a:rPr kumimoji="1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2" name="Text Box 8"/>
          <p:cNvSpPr txBox="1">
            <a:spLocks noChangeArrowheads="1"/>
          </p:cNvSpPr>
          <p:nvPr/>
        </p:nvSpPr>
        <p:spPr bwMode="auto">
          <a:xfrm>
            <a:off x="57150" y="6521450"/>
            <a:ext cx="111442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1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1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1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1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1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AA6F32B-9222-4ADC-B3DD-FAB9344FA886}" type="slidenum">
              <a:rPr kumimoji="0" lang="en-US" altLang="zh-CN" sz="16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2" name="Picture 9" descr="华工校徽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3500" y="63500"/>
            <a:ext cx="990600" cy="750888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iming>
    <p:tnLst>
      <p:par>
        <p:cTn id="1" dur="indefinite" restart="never" nodeType="tmRoot"/>
      </p:par>
    </p:tnLst>
  </p:timing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accent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accent2"/>
          </a:solidFill>
          <a:latin typeface="Times New Roman" panose="02020603050405020304" pitchFamily="18" charset="0"/>
          <a:ea typeface="经典细隶书简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accent2"/>
          </a:solidFill>
          <a:latin typeface="Times New Roman" panose="02020603050405020304" pitchFamily="18" charset="0"/>
          <a:ea typeface="经典细隶书简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accent2"/>
          </a:solidFill>
          <a:latin typeface="Times New Roman" panose="02020603050405020304" pitchFamily="18" charset="0"/>
          <a:ea typeface="经典细隶书简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accent2"/>
          </a:solidFill>
          <a:latin typeface="Times New Roman" panose="02020603050405020304" pitchFamily="18" charset="0"/>
          <a:ea typeface="经典细隶书简" pitchFamily="49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 b="1">
          <a:solidFill>
            <a:schemeClr val="accent2"/>
          </a:solidFill>
          <a:latin typeface="Times New Roman" panose="02020603050405020304" pitchFamily="18" charset="0"/>
          <a:ea typeface="经典细隶书简" pitchFamily="49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 b="1">
          <a:solidFill>
            <a:schemeClr val="accent2"/>
          </a:solidFill>
          <a:latin typeface="Times New Roman" panose="02020603050405020304" pitchFamily="18" charset="0"/>
          <a:ea typeface="经典细隶书简" pitchFamily="49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 b="1">
          <a:solidFill>
            <a:schemeClr val="accent2"/>
          </a:solidFill>
          <a:latin typeface="Times New Roman" panose="02020603050405020304" pitchFamily="18" charset="0"/>
          <a:ea typeface="经典细隶书简" pitchFamily="49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 b="1">
          <a:solidFill>
            <a:schemeClr val="accent2"/>
          </a:solidFill>
          <a:latin typeface="Times New Roman" panose="02020603050405020304" pitchFamily="18" charset="0"/>
          <a:ea typeface="经典细隶书简" pitchFamily="49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FF3300"/>
        </a:buClr>
        <a:buFont typeface="Wingdings" panose="05000000000000000000" pitchFamily="2" charset="2"/>
        <a:buChar char="§"/>
        <a:defRPr kumimoji="1" sz="3200" b="1">
          <a:solidFill>
            <a:srgbClr val="FF3300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kumimoji="1" sz="2800" b="1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 b="1">
          <a:solidFill>
            <a:schemeClr val="tx1"/>
          </a:solidFill>
          <a:latin typeface="+mn-lt"/>
          <a:ea typeface="楷体_GB2312" pitchFamily="49" charset="-122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SzPct val="60000"/>
        <a:buChar char="•"/>
        <a:defRPr kumimoji="1" sz="2000" b="1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SzPct val="60000"/>
        <a:buFont typeface="Wingdings" panose="05000000000000000000" pitchFamily="2" charset="2"/>
        <a:buChar char="§"/>
        <a:defRPr kumimoji="1" sz="2000" b="1">
          <a:solidFill>
            <a:schemeClr val="tx1"/>
          </a:solidFill>
          <a:latin typeface="+mn-lt"/>
          <a:ea typeface="仿宋_GB2312" pitchFamily="49" charset="-122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SzPct val="60000"/>
        <a:buFont typeface="Wingdings" panose="05000000000000000000" pitchFamily="2" charset="2"/>
        <a:buChar char="§"/>
        <a:defRPr kumimoji="1" sz="2000" b="1">
          <a:solidFill>
            <a:schemeClr val="tx1"/>
          </a:solidFill>
          <a:latin typeface="+mn-lt"/>
          <a:ea typeface="仿宋_GB2312" pitchFamily="49" charset="-122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SzPct val="60000"/>
        <a:buFont typeface="Wingdings" panose="05000000000000000000" pitchFamily="2" charset="2"/>
        <a:buChar char="§"/>
        <a:defRPr kumimoji="1" sz="2000" b="1">
          <a:solidFill>
            <a:schemeClr val="tx1"/>
          </a:solidFill>
          <a:latin typeface="+mn-lt"/>
          <a:ea typeface="仿宋_GB2312" pitchFamily="49" charset="-122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SzPct val="60000"/>
        <a:buFont typeface="Wingdings" panose="05000000000000000000" pitchFamily="2" charset="2"/>
        <a:buChar char="§"/>
        <a:defRPr kumimoji="1" sz="2000" b="1">
          <a:solidFill>
            <a:schemeClr val="tx1"/>
          </a:solidFill>
          <a:latin typeface="+mn-lt"/>
          <a:ea typeface="仿宋_GB2312" pitchFamily="49" charset="-122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SzPct val="60000"/>
        <a:buFont typeface="Wingdings" panose="05000000000000000000" pitchFamily="2" charset="2"/>
        <a:buChar char="§"/>
        <a:defRPr kumimoji="1" sz="2000" b="1">
          <a:solidFill>
            <a:schemeClr val="tx1"/>
          </a:solidFill>
          <a:latin typeface="+mn-lt"/>
          <a:ea typeface="仿宋_GB2312" pitchFamily="49" charset="-122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wmf"/><Relationship Id="rId1" Type="http://schemas.openxmlformats.org/officeDocument/2006/relationships/oleObject" Target="../embeddings/oleObject1.bin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2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wmf"/><Relationship Id="rId1" Type="http://schemas.openxmlformats.org/officeDocument/2006/relationships/oleObject" Target="../embeddings/oleObject2.bin"/></Relationships>
</file>

<file path=ppt/slides/_rels/slide42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3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wmf"/><Relationship Id="rId1" Type="http://schemas.openxmlformats.org/officeDocument/2006/relationships/oleObject" Target="../embeddings/oleObject3.bin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074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3075" name="Rectangle 2"/>
          <p:cNvSpPr/>
          <p:nvPr/>
        </p:nvSpPr>
        <p:spPr>
          <a:xfrm>
            <a:off x="609600" y="3732213"/>
            <a:ext cx="7747000" cy="609600"/>
          </a:xfrm>
          <a:prstGeom prst="rect">
            <a:avLst/>
          </a:prstGeom>
          <a:solidFill>
            <a:schemeClr val="accent2"/>
          </a:solidFill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kumimoji="1"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kumimoji="1"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endParaRPr lang="en-US" altLang="zh-CN" sz="1400" dirty="0">
              <a:solidFill>
                <a:schemeClr val="tx1"/>
              </a:solidFill>
            </a:endParaRPr>
          </a:p>
        </p:txBody>
      </p:sp>
      <p:sp>
        <p:nvSpPr>
          <p:cNvPr id="3076" name="Rectangle 3"/>
          <p:cNvSpPr>
            <a:spLocks noGrp="1"/>
          </p:cNvSpPr>
          <p:nvPr>
            <p:ph idx="1"/>
          </p:nvPr>
        </p:nvSpPr>
        <p:spPr>
          <a:xfrm>
            <a:off x="977900" y="1676400"/>
            <a:ext cx="7327900" cy="4572000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3600" b="0" dirty="0">
                <a:solidFill>
                  <a:schemeClr val="tx1"/>
                </a:solidFill>
                <a:latin typeface="Arial Narrow" panose="020B0606020202030204" pitchFamily="34" charset="0"/>
                <a:ea typeface="楷体_GB2312" pitchFamily="49" charset="-122"/>
              </a:rPr>
              <a:t>6.1 </a:t>
            </a:r>
            <a:r>
              <a:rPr lang="zh-CN" altLang="en-US" sz="3600" b="0" dirty="0">
                <a:solidFill>
                  <a:schemeClr val="tx1"/>
                </a:solidFill>
                <a:latin typeface="Arial Narrow" panose="020B0606020202030204" pitchFamily="34" charset="0"/>
                <a:ea typeface="楷体_GB2312" pitchFamily="49" charset="-122"/>
              </a:rPr>
              <a:t>问题的提出</a:t>
            </a:r>
            <a:endParaRPr lang="zh-CN" altLang="en-US" sz="3600" b="0" dirty="0">
              <a:solidFill>
                <a:schemeClr val="tx1"/>
              </a:solidFill>
              <a:latin typeface="Arial Narrow" panose="020B0606020202030204" pitchFamily="34" charset="0"/>
              <a:ea typeface="楷体_GB2312" pitchFamily="49" charset="-122"/>
            </a:endParaRP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3600" b="0" dirty="0">
                <a:solidFill>
                  <a:schemeClr val="tx1"/>
                </a:solidFill>
                <a:latin typeface="Arial Narrow" panose="020B0606020202030204" pitchFamily="34" charset="0"/>
                <a:ea typeface="楷体_GB2312" pitchFamily="49" charset="-122"/>
              </a:rPr>
              <a:t>6.2 </a:t>
            </a:r>
            <a:r>
              <a:rPr lang="zh-CN" altLang="en-US" sz="3600" b="0" dirty="0">
                <a:solidFill>
                  <a:schemeClr val="tx1"/>
                </a:solidFill>
                <a:latin typeface="Arial Narrow" panose="020B0606020202030204" pitchFamily="34" charset="0"/>
                <a:ea typeface="楷体_GB2312" pitchFamily="49" charset="-122"/>
              </a:rPr>
              <a:t>函数依赖</a:t>
            </a:r>
            <a:endParaRPr lang="zh-CN" altLang="en-US" sz="3600" b="0" dirty="0">
              <a:solidFill>
                <a:schemeClr val="tx1"/>
              </a:solidFill>
              <a:latin typeface="Arial Narrow" panose="020B0606020202030204" pitchFamily="34" charset="0"/>
              <a:ea typeface="楷体_GB2312" pitchFamily="49" charset="-122"/>
            </a:endParaRP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3600" b="0" dirty="0">
                <a:solidFill>
                  <a:schemeClr val="tx1"/>
                </a:solidFill>
                <a:latin typeface="Arial Narrow" panose="020B0606020202030204" pitchFamily="34" charset="0"/>
                <a:ea typeface="楷体_GB2312" pitchFamily="49" charset="-122"/>
              </a:rPr>
              <a:t>6.3 </a:t>
            </a:r>
            <a:r>
              <a:rPr lang="zh-CN" altLang="en-US" sz="3600" b="0" dirty="0">
                <a:solidFill>
                  <a:schemeClr val="tx1"/>
                </a:solidFill>
                <a:latin typeface="Arial Narrow" panose="020B0606020202030204" pitchFamily="34" charset="0"/>
                <a:ea typeface="楷体_GB2312" pitchFamily="49" charset="-122"/>
              </a:rPr>
              <a:t>函数依赖的公理系统</a:t>
            </a:r>
            <a:endParaRPr lang="zh-CN" altLang="en-US" sz="3600" b="0" dirty="0">
              <a:solidFill>
                <a:schemeClr val="tx1"/>
              </a:solidFill>
              <a:latin typeface="Arial Narrow" panose="020B0606020202030204" pitchFamily="34" charset="0"/>
              <a:ea typeface="楷体_GB2312" pitchFamily="49" charset="-122"/>
            </a:endParaRP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3600" b="0" dirty="0">
                <a:solidFill>
                  <a:schemeClr val="bg1"/>
                </a:solidFill>
                <a:latin typeface="Arial Narrow" panose="020B0606020202030204" pitchFamily="34" charset="0"/>
                <a:ea typeface="楷体_GB2312" pitchFamily="49" charset="-122"/>
              </a:rPr>
              <a:t>6.4 </a:t>
            </a:r>
            <a:r>
              <a:rPr lang="zh-CN" altLang="en-US" sz="3600" b="0" dirty="0">
                <a:solidFill>
                  <a:schemeClr val="bg1"/>
                </a:solidFill>
                <a:latin typeface="Arial Narrow" panose="020B0606020202030204" pitchFamily="34" charset="0"/>
                <a:ea typeface="楷体_GB2312" pitchFamily="49" charset="-122"/>
              </a:rPr>
              <a:t>关系模式的规范化</a:t>
            </a:r>
            <a:endParaRPr lang="zh-CN" altLang="en-US" sz="3600" b="0" dirty="0">
              <a:solidFill>
                <a:schemeClr val="bg1"/>
              </a:solidFill>
              <a:latin typeface="Arial Narrow" panose="020B0606020202030204" pitchFamily="34" charset="0"/>
              <a:ea typeface="楷体_GB2312" pitchFamily="49" charset="-122"/>
            </a:endParaRP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3600" b="0" dirty="0">
                <a:solidFill>
                  <a:schemeClr val="tx1"/>
                </a:solidFill>
                <a:latin typeface="Arial Narrow" panose="020B0606020202030204" pitchFamily="34" charset="0"/>
                <a:ea typeface="楷体_GB2312" pitchFamily="49" charset="-122"/>
              </a:rPr>
              <a:t>6.5 </a:t>
            </a:r>
            <a:r>
              <a:rPr lang="zh-CN" altLang="en-US" sz="3600" b="0" dirty="0">
                <a:solidFill>
                  <a:schemeClr val="tx1"/>
                </a:solidFill>
                <a:latin typeface="Arial Narrow" panose="020B0606020202030204" pitchFamily="34" charset="0"/>
                <a:ea typeface="楷体_GB2312" pitchFamily="49" charset="-122"/>
              </a:rPr>
              <a:t>关系模式的分解</a:t>
            </a:r>
            <a:endParaRPr lang="zh-CN" altLang="en-US" sz="3600" b="0" dirty="0">
              <a:solidFill>
                <a:schemeClr val="tx1"/>
              </a:solidFill>
              <a:latin typeface="Arial Narrow" panose="020B0606020202030204" pitchFamily="34" charset="0"/>
              <a:ea typeface="楷体_GB2312" pitchFamily="49" charset="-122"/>
            </a:endParaRP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3600" b="0" dirty="0">
                <a:solidFill>
                  <a:schemeClr val="tx1"/>
                </a:solidFill>
                <a:latin typeface="Arial Narrow" panose="020B0606020202030204" pitchFamily="34" charset="0"/>
                <a:ea typeface="楷体_GB2312" pitchFamily="49" charset="-122"/>
              </a:rPr>
              <a:t>6.6 </a:t>
            </a:r>
            <a:r>
              <a:rPr lang="zh-CN" altLang="en-US" sz="3600" b="0" dirty="0">
                <a:solidFill>
                  <a:schemeClr val="tx1"/>
                </a:solidFill>
                <a:latin typeface="Arial Narrow" panose="020B0606020202030204" pitchFamily="34" charset="0"/>
                <a:ea typeface="楷体_GB2312" pitchFamily="49" charset="-122"/>
              </a:rPr>
              <a:t>小结</a:t>
            </a:r>
            <a:endParaRPr lang="zh-CN" altLang="en-US" sz="3600" b="0" dirty="0">
              <a:solidFill>
                <a:schemeClr val="tx1"/>
              </a:solidFill>
              <a:latin typeface="Arial Narrow" panose="020B0606020202030204" pitchFamily="34" charset="0"/>
              <a:ea typeface="楷体_GB2312" pitchFamily="49" charset="-122"/>
            </a:endParaRPr>
          </a:p>
        </p:txBody>
      </p:sp>
      <p:sp>
        <p:nvSpPr>
          <p:cNvPr id="3077" name="Rectangle 4"/>
          <p:cNvSpPr>
            <a:spLocks noGrp="1"/>
          </p:cNvSpPr>
          <p:nvPr>
            <p:ph type="title"/>
          </p:nvPr>
        </p:nvSpPr>
        <p:spPr>
          <a:xfrm>
            <a:off x="914400" y="546100"/>
            <a:ext cx="7772400" cy="11430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dirty="0"/>
              <a:t>第</a:t>
            </a:r>
            <a:r>
              <a:rPr lang="en-US" altLang="zh-CN" dirty="0"/>
              <a:t>6</a:t>
            </a:r>
            <a:r>
              <a:rPr lang="zh-CN" altLang="en-US" dirty="0"/>
              <a:t>章 关系数据理论</a:t>
            </a:r>
            <a:endParaRPr lang="zh-CN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98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4099" name="Rectangle 2"/>
          <p:cNvSpPr>
            <a:spLocks noGrp="1"/>
          </p:cNvSpPr>
          <p:nvPr>
            <p:ph idx="1"/>
          </p:nvPr>
        </p:nvSpPr>
        <p:spPr>
          <a:xfrm>
            <a:off x="558800" y="927100"/>
            <a:ext cx="8077200" cy="4876800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140000"/>
              </a:lnSpc>
              <a:buNone/>
            </a:pPr>
            <a:r>
              <a:rPr lang="en-US" altLang="zh-CN" dirty="0">
                <a:solidFill>
                  <a:srgbClr val="FF0000"/>
                </a:solidFill>
              </a:rPr>
              <a:t>   </a:t>
            </a:r>
            <a:r>
              <a:rPr lang="zh-CN" altLang="en-US" dirty="0">
                <a:solidFill>
                  <a:srgbClr val="FF0000"/>
                </a:solidFill>
              </a:rPr>
              <a:t>规范化理论</a:t>
            </a:r>
            <a:r>
              <a:rPr lang="zh-CN" altLang="en-US" dirty="0">
                <a:solidFill>
                  <a:schemeClr val="tx1"/>
                </a:solidFill>
              </a:rPr>
              <a:t>正是用来改造关系模式，通过分解关系模式来消除其中不合适的数据依赖，以解决插入异常、删除异常、更新异常和数据冗余问题。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4100" name="Rectangle 3"/>
          <p:cNvSpPr>
            <a:spLocks noGrp="1"/>
          </p:cNvSpPr>
          <p:nvPr>
            <p:ph type="title"/>
          </p:nvPr>
        </p:nvSpPr>
        <p:spPr>
          <a:xfrm>
            <a:off x="685800" y="0"/>
            <a:ext cx="77724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dirty="0"/>
              <a:t>6.4  </a:t>
            </a:r>
            <a:r>
              <a:rPr lang="zh-CN" altLang="en-US" dirty="0"/>
              <a:t>关系模式的规范化</a:t>
            </a:r>
            <a:endParaRPr lang="zh-CN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22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5123" name="Rectangle 2"/>
          <p:cNvSpPr>
            <a:spLocks noGrp="1"/>
          </p:cNvSpPr>
          <p:nvPr>
            <p:ph idx="1"/>
          </p:nvPr>
        </p:nvSpPr>
        <p:spPr>
          <a:xfrm>
            <a:off x="1066800" y="914400"/>
            <a:ext cx="6629400" cy="4876800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dirty="0">
                <a:solidFill>
                  <a:srgbClr val="FF0000"/>
                </a:solidFill>
              </a:rPr>
              <a:t>6.4.1 </a:t>
            </a:r>
            <a:r>
              <a:rPr lang="zh-CN" altLang="en-US" dirty="0">
                <a:solidFill>
                  <a:srgbClr val="FF0000"/>
                </a:solidFill>
              </a:rPr>
              <a:t>范式</a:t>
            </a:r>
            <a:endParaRPr lang="zh-CN" altLang="en-US" dirty="0">
              <a:solidFill>
                <a:srgbClr val="FF0000"/>
              </a:solidFill>
            </a:endParaRP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dirty="0">
                <a:solidFill>
                  <a:schemeClr val="tx1"/>
                </a:solidFill>
              </a:rPr>
              <a:t>6.4.2 1NF</a:t>
            </a:r>
            <a:endParaRPr lang="en-US" altLang="zh-CN" dirty="0">
              <a:solidFill>
                <a:schemeClr val="tx1"/>
              </a:solidFill>
            </a:endParaRP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dirty="0">
                <a:solidFill>
                  <a:schemeClr val="tx1"/>
                </a:solidFill>
              </a:rPr>
              <a:t>6.4.3 2NF</a:t>
            </a:r>
            <a:endParaRPr lang="en-US" altLang="zh-CN" dirty="0">
              <a:solidFill>
                <a:schemeClr val="tx1"/>
              </a:solidFill>
            </a:endParaRP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dirty="0">
                <a:solidFill>
                  <a:schemeClr val="tx1"/>
                </a:solidFill>
              </a:rPr>
              <a:t>6.4.4 3NF</a:t>
            </a:r>
            <a:endParaRPr lang="en-US" altLang="zh-CN" dirty="0">
              <a:solidFill>
                <a:schemeClr val="tx1"/>
              </a:solidFill>
            </a:endParaRP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dirty="0">
                <a:solidFill>
                  <a:schemeClr val="tx1"/>
                </a:solidFill>
              </a:rPr>
              <a:t>6.4.5 BCNF</a:t>
            </a:r>
            <a:endParaRPr lang="en-US" altLang="zh-CN" dirty="0">
              <a:solidFill>
                <a:schemeClr val="tx1"/>
              </a:solidFill>
            </a:endParaRP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dirty="0">
                <a:solidFill>
                  <a:schemeClr val="tx1"/>
                </a:solidFill>
              </a:rPr>
              <a:t>6.4.6 </a:t>
            </a:r>
            <a:r>
              <a:rPr lang="zh-CN" altLang="en-US" dirty="0">
                <a:solidFill>
                  <a:schemeClr val="tx1"/>
                </a:solidFill>
              </a:rPr>
              <a:t>多值依赖</a:t>
            </a:r>
            <a:endParaRPr lang="zh-CN" altLang="en-US" dirty="0">
              <a:solidFill>
                <a:schemeClr val="tx1"/>
              </a:solidFill>
            </a:endParaRP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dirty="0">
                <a:solidFill>
                  <a:schemeClr val="tx1"/>
                </a:solidFill>
              </a:rPr>
              <a:t>6.4.7 4NF</a:t>
            </a:r>
            <a:endParaRPr lang="en-US" altLang="zh-CN" dirty="0">
              <a:solidFill>
                <a:schemeClr val="tx1"/>
              </a:solidFill>
            </a:endParaRP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dirty="0">
                <a:solidFill>
                  <a:schemeClr val="tx1"/>
                </a:solidFill>
              </a:rPr>
              <a:t>6.4.8 </a:t>
            </a:r>
            <a:r>
              <a:rPr lang="zh-CN" altLang="en-US" dirty="0">
                <a:solidFill>
                  <a:schemeClr val="tx1"/>
                </a:solidFill>
              </a:rPr>
              <a:t>规范化小结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5124" name="Rectangle 3"/>
          <p:cNvSpPr>
            <a:spLocks noGrp="1"/>
          </p:cNvSpPr>
          <p:nvPr>
            <p:ph type="title"/>
          </p:nvPr>
        </p:nvSpPr>
        <p:spPr>
          <a:xfrm>
            <a:off x="685800" y="0"/>
            <a:ext cx="77724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dirty="0"/>
              <a:t>6.4  </a:t>
            </a:r>
            <a:r>
              <a:rPr lang="zh-CN" altLang="en-US" dirty="0"/>
              <a:t>关系模式的规范化</a:t>
            </a:r>
            <a:endParaRPr lang="zh-CN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6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6147" name="Rectangle 2"/>
          <p:cNvSpPr>
            <a:spLocks noGrp="1"/>
          </p:cNvSpPr>
          <p:nvPr>
            <p:ph idx="1"/>
          </p:nvPr>
        </p:nvSpPr>
        <p:spPr>
          <a:xfrm>
            <a:off x="76200" y="914400"/>
            <a:ext cx="8915400" cy="3352800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140000"/>
              </a:lnSpc>
            </a:pPr>
            <a:r>
              <a:rPr lang="zh-CN" altLang="en-US" sz="2800" dirty="0">
                <a:solidFill>
                  <a:srgbClr val="FF0000"/>
                </a:solidFill>
              </a:rPr>
              <a:t>范式</a:t>
            </a:r>
            <a:r>
              <a:rPr lang="zh-CN" altLang="en-US" sz="2800" dirty="0">
                <a:solidFill>
                  <a:schemeClr val="tx1"/>
                </a:solidFill>
              </a:rPr>
              <a:t>是符合某一种级别的关系模式的集合。</a:t>
            </a:r>
            <a:endParaRPr lang="zh-CN" altLang="en-US" sz="2800" dirty="0">
              <a:solidFill>
                <a:schemeClr val="tx1"/>
              </a:solidFill>
            </a:endParaRPr>
          </a:p>
          <a:p>
            <a:pPr eaLnBrk="1" hangingPunct="1">
              <a:buNone/>
            </a:pPr>
            <a:r>
              <a:rPr lang="zh-CN" altLang="en-US" sz="2800" dirty="0">
                <a:solidFill>
                  <a:schemeClr val="tx1"/>
                </a:solidFill>
              </a:rPr>
              <a:t>	关系数据库中的关系必须满足一定的要求。满足不同程度要求的为不同范式。</a:t>
            </a:r>
            <a:endParaRPr lang="zh-CN" altLang="en-US" sz="2800" dirty="0">
              <a:solidFill>
                <a:schemeClr val="tx1"/>
              </a:solidFill>
            </a:endParaRPr>
          </a:p>
          <a:p>
            <a:pPr eaLnBrk="1" hangingPunct="1"/>
            <a:r>
              <a:rPr lang="zh-CN" altLang="en-US" sz="2800" dirty="0">
                <a:solidFill>
                  <a:schemeClr val="tx1"/>
                </a:solidFill>
              </a:rPr>
              <a:t>通过模式分解将一个低级范式转换为若干个高级范式的过程称作</a:t>
            </a:r>
            <a:r>
              <a:rPr lang="zh-CN" altLang="en-US" sz="2800" dirty="0">
                <a:solidFill>
                  <a:srgbClr val="FF0000"/>
                </a:solidFill>
              </a:rPr>
              <a:t>规范化</a:t>
            </a:r>
            <a:r>
              <a:rPr lang="zh-CN" altLang="en-US" sz="2800" dirty="0">
                <a:solidFill>
                  <a:schemeClr val="tx1"/>
                </a:solidFill>
              </a:rPr>
              <a:t>。</a:t>
            </a:r>
            <a:endParaRPr lang="zh-CN" altLang="en-US" sz="2800" dirty="0">
              <a:solidFill>
                <a:schemeClr val="tx1"/>
              </a:solidFill>
            </a:endParaRPr>
          </a:p>
          <a:p>
            <a:pPr eaLnBrk="1" hangingPunct="1"/>
            <a:r>
              <a:rPr lang="zh-CN" altLang="en-US" sz="2800" dirty="0">
                <a:solidFill>
                  <a:schemeClr val="tx1"/>
                </a:solidFill>
              </a:rPr>
              <a:t>范式的级别：</a:t>
            </a:r>
            <a:endParaRPr lang="zh-CN" altLang="en-US" sz="2800" dirty="0">
              <a:solidFill>
                <a:schemeClr val="tx1"/>
              </a:solidFill>
            </a:endParaRPr>
          </a:p>
          <a:p>
            <a:pPr eaLnBrk="1" hangingPunct="1"/>
            <a:endParaRPr lang="zh-CN" altLang="en-US" sz="2800" dirty="0">
              <a:solidFill>
                <a:schemeClr val="tx1"/>
              </a:solidFill>
            </a:endParaRPr>
          </a:p>
          <a:p>
            <a:pPr eaLnBrk="1" hangingPunct="1"/>
            <a:endParaRPr lang="zh-CN" altLang="en-US" sz="2800" dirty="0">
              <a:solidFill>
                <a:schemeClr val="tx1"/>
              </a:solidFill>
            </a:endParaRPr>
          </a:p>
          <a:p>
            <a:pPr eaLnBrk="1" hangingPunct="1"/>
            <a:endParaRPr lang="zh-CN" altLang="en-US" sz="2800" dirty="0">
              <a:solidFill>
                <a:schemeClr val="tx1"/>
              </a:solidFill>
            </a:endParaRPr>
          </a:p>
        </p:txBody>
      </p:sp>
      <p:sp>
        <p:nvSpPr>
          <p:cNvPr id="6148" name="Rectangle 3"/>
          <p:cNvSpPr>
            <a:spLocks noGrp="1"/>
          </p:cNvSpPr>
          <p:nvPr>
            <p:ph type="title"/>
          </p:nvPr>
        </p:nvSpPr>
        <p:spPr>
          <a:xfrm>
            <a:off x="685800" y="0"/>
            <a:ext cx="77724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u="sng" dirty="0"/>
              <a:t>6.4.1  </a:t>
            </a:r>
            <a:r>
              <a:rPr lang="zh-CN" altLang="en-US" u="sng" dirty="0"/>
              <a:t>范式</a:t>
            </a:r>
            <a:endParaRPr lang="zh-CN" altLang="en-US" u="sng" dirty="0"/>
          </a:p>
        </p:txBody>
      </p:sp>
      <p:grpSp>
        <p:nvGrpSpPr>
          <p:cNvPr id="6149" name="Group 4"/>
          <p:cNvGrpSpPr/>
          <p:nvPr/>
        </p:nvGrpSpPr>
        <p:grpSpPr>
          <a:xfrm>
            <a:off x="4724400" y="3048000"/>
            <a:ext cx="3806825" cy="3657600"/>
            <a:chOff x="1632" y="1824"/>
            <a:chExt cx="2446" cy="2448"/>
          </a:xfrm>
        </p:grpSpPr>
        <p:sp>
          <p:nvSpPr>
            <p:cNvPr id="6151" name="Oval 5"/>
            <p:cNvSpPr/>
            <p:nvPr/>
          </p:nvSpPr>
          <p:spPr>
            <a:xfrm>
              <a:off x="2592" y="2834"/>
              <a:ext cx="576" cy="576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Font typeface="Wingdings" panose="05000000000000000000" pitchFamily="2" charset="2"/>
                <a:buChar char="§"/>
                <a:defRPr kumimoji="1" sz="3200">
                  <a:solidFill>
                    <a:srgbClr val="FF3300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kumimoji="1"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b="1">
                  <a:solidFill>
                    <a:schemeClr val="tx1"/>
                  </a:solidFill>
                  <a:latin typeface="+mn-lt"/>
                  <a:ea typeface="楷体_GB2312" pitchFamily="49" charset="-12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Char char="•"/>
                <a:defRPr kumimoji="1"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Font typeface="Wingdings" panose="05000000000000000000" pitchFamily="2" charset="2"/>
                <a:buChar char="§"/>
                <a:defRPr kumimoji="1" sz="2000" b="1">
                  <a:solidFill>
                    <a:schemeClr val="tx1"/>
                  </a:solidFill>
                  <a:latin typeface="+mn-lt"/>
                  <a:ea typeface="仿宋_GB2312" pitchFamily="49" charset="-122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zh-CN" sz="1400" dirty="0">
                <a:solidFill>
                  <a:schemeClr val="tx1"/>
                </a:solidFill>
              </a:endParaRPr>
            </a:p>
          </p:txBody>
        </p:sp>
        <p:sp>
          <p:nvSpPr>
            <p:cNvPr id="6152" name="Oval 6"/>
            <p:cNvSpPr>
              <a:spLocks noChangeAspect="1"/>
            </p:cNvSpPr>
            <p:nvPr/>
          </p:nvSpPr>
          <p:spPr>
            <a:xfrm>
              <a:off x="2400" y="2629"/>
              <a:ext cx="973" cy="973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Font typeface="Wingdings" panose="05000000000000000000" pitchFamily="2" charset="2"/>
                <a:buChar char="§"/>
                <a:defRPr kumimoji="1" sz="3200">
                  <a:solidFill>
                    <a:srgbClr val="FF3300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kumimoji="1"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b="1">
                  <a:solidFill>
                    <a:schemeClr val="tx1"/>
                  </a:solidFill>
                  <a:latin typeface="+mn-lt"/>
                  <a:ea typeface="楷体_GB2312" pitchFamily="49" charset="-12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Char char="•"/>
                <a:defRPr kumimoji="1"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Font typeface="Wingdings" panose="05000000000000000000" pitchFamily="2" charset="2"/>
                <a:buChar char="§"/>
                <a:defRPr kumimoji="1" sz="2000" b="1">
                  <a:solidFill>
                    <a:schemeClr val="tx1"/>
                  </a:solidFill>
                  <a:latin typeface="+mn-lt"/>
                  <a:ea typeface="仿宋_GB2312" pitchFamily="49" charset="-122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zh-CN" sz="1400" dirty="0">
                <a:solidFill>
                  <a:schemeClr val="tx1"/>
                </a:solidFill>
              </a:endParaRPr>
            </a:p>
          </p:txBody>
        </p:sp>
        <p:sp>
          <p:nvSpPr>
            <p:cNvPr id="6153" name="Oval 7"/>
            <p:cNvSpPr>
              <a:spLocks noChangeAspect="1"/>
            </p:cNvSpPr>
            <p:nvPr/>
          </p:nvSpPr>
          <p:spPr>
            <a:xfrm>
              <a:off x="2237" y="2431"/>
              <a:ext cx="1315" cy="1315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Font typeface="Wingdings" panose="05000000000000000000" pitchFamily="2" charset="2"/>
                <a:buChar char="§"/>
                <a:defRPr kumimoji="1" sz="3200">
                  <a:solidFill>
                    <a:srgbClr val="FF3300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kumimoji="1"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b="1">
                  <a:solidFill>
                    <a:schemeClr val="tx1"/>
                  </a:solidFill>
                  <a:latin typeface="+mn-lt"/>
                  <a:ea typeface="楷体_GB2312" pitchFamily="49" charset="-12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Char char="•"/>
                <a:defRPr kumimoji="1"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Font typeface="Wingdings" panose="05000000000000000000" pitchFamily="2" charset="2"/>
                <a:buChar char="§"/>
                <a:defRPr kumimoji="1" sz="2000" b="1">
                  <a:solidFill>
                    <a:schemeClr val="tx1"/>
                  </a:solidFill>
                  <a:latin typeface="+mn-lt"/>
                  <a:ea typeface="仿宋_GB2312" pitchFamily="49" charset="-122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zh-CN" sz="1400" dirty="0">
                <a:solidFill>
                  <a:schemeClr val="tx1"/>
                </a:solidFill>
              </a:endParaRPr>
            </a:p>
          </p:txBody>
        </p:sp>
        <p:sp>
          <p:nvSpPr>
            <p:cNvPr id="6154" name="Oval 8"/>
            <p:cNvSpPr>
              <a:spLocks noChangeAspect="1"/>
            </p:cNvSpPr>
            <p:nvPr/>
          </p:nvSpPr>
          <p:spPr>
            <a:xfrm>
              <a:off x="2064" y="2249"/>
              <a:ext cx="1650" cy="1650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Font typeface="Wingdings" panose="05000000000000000000" pitchFamily="2" charset="2"/>
                <a:buChar char="§"/>
                <a:defRPr kumimoji="1" sz="3200">
                  <a:solidFill>
                    <a:srgbClr val="FF3300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kumimoji="1"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b="1">
                  <a:solidFill>
                    <a:schemeClr val="tx1"/>
                  </a:solidFill>
                  <a:latin typeface="+mn-lt"/>
                  <a:ea typeface="楷体_GB2312" pitchFamily="49" charset="-12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Char char="•"/>
                <a:defRPr kumimoji="1"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Font typeface="Wingdings" panose="05000000000000000000" pitchFamily="2" charset="2"/>
                <a:buChar char="§"/>
                <a:defRPr kumimoji="1" sz="2000" b="1">
                  <a:solidFill>
                    <a:schemeClr val="tx1"/>
                  </a:solidFill>
                  <a:latin typeface="+mn-lt"/>
                  <a:ea typeface="仿宋_GB2312" pitchFamily="49" charset="-122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zh-CN" sz="1400" dirty="0">
                <a:solidFill>
                  <a:schemeClr val="tx1"/>
                </a:solidFill>
              </a:endParaRPr>
            </a:p>
          </p:txBody>
        </p:sp>
        <p:sp>
          <p:nvSpPr>
            <p:cNvPr id="6155" name="Oval 9"/>
            <p:cNvSpPr>
              <a:spLocks noChangeAspect="1"/>
            </p:cNvSpPr>
            <p:nvPr/>
          </p:nvSpPr>
          <p:spPr>
            <a:xfrm>
              <a:off x="1850" y="2044"/>
              <a:ext cx="2038" cy="2038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Font typeface="Wingdings" panose="05000000000000000000" pitchFamily="2" charset="2"/>
                <a:buChar char="§"/>
                <a:defRPr kumimoji="1" sz="3200">
                  <a:solidFill>
                    <a:srgbClr val="FF3300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kumimoji="1"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b="1">
                  <a:solidFill>
                    <a:schemeClr val="tx1"/>
                  </a:solidFill>
                  <a:latin typeface="+mn-lt"/>
                  <a:ea typeface="楷体_GB2312" pitchFamily="49" charset="-12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Char char="•"/>
                <a:defRPr kumimoji="1"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Font typeface="Wingdings" panose="05000000000000000000" pitchFamily="2" charset="2"/>
                <a:buChar char="§"/>
                <a:defRPr kumimoji="1" sz="2000" b="1">
                  <a:solidFill>
                    <a:schemeClr val="tx1"/>
                  </a:solidFill>
                  <a:latin typeface="+mn-lt"/>
                  <a:ea typeface="仿宋_GB2312" pitchFamily="49" charset="-122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zh-CN" sz="1400" dirty="0">
                <a:solidFill>
                  <a:schemeClr val="tx1"/>
                </a:solidFill>
              </a:endParaRPr>
            </a:p>
          </p:txBody>
        </p:sp>
        <p:sp>
          <p:nvSpPr>
            <p:cNvPr id="6156" name="Oval 10"/>
            <p:cNvSpPr>
              <a:spLocks noChangeAspect="1"/>
            </p:cNvSpPr>
            <p:nvPr/>
          </p:nvSpPr>
          <p:spPr>
            <a:xfrm>
              <a:off x="1632" y="1826"/>
              <a:ext cx="2446" cy="2446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Font typeface="Wingdings" panose="05000000000000000000" pitchFamily="2" charset="2"/>
                <a:buChar char="§"/>
                <a:defRPr kumimoji="1" sz="3200">
                  <a:solidFill>
                    <a:srgbClr val="FF3300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kumimoji="1"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b="1">
                  <a:solidFill>
                    <a:schemeClr val="tx1"/>
                  </a:solidFill>
                  <a:latin typeface="+mn-lt"/>
                  <a:ea typeface="楷体_GB2312" pitchFamily="49" charset="-12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Char char="•"/>
                <a:defRPr kumimoji="1"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Font typeface="Wingdings" panose="05000000000000000000" pitchFamily="2" charset="2"/>
                <a:buChar char="§"/>
                <a:defRPr kumimoji="1" sz="2000" b="1">
                  <a:solidFill>
                    <a:schemeClr val="tx1"/>
                  </a:solidFill>
                  <a:latin typeface="+mn-lt"/>
                  <a:ea typeface="仿宋_GB2312" pitchFamily="49" charset="-122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zh-CN" sz="1400" dirty="0">
                <a:solidFill>
                  <a:schemeClr val="tx1"/>
                </a:solidFill>
              </a:endParaRPr>
            </a:p>
          </p:txBody>
        </p:sp>
        <p:sp>
          <p:nvSpPr>
            <p:cNvPr id="6157" name="Text Box 11"/>
            <p:cNvSpPr txBox="1"/>
            <p:nvPr/>
          </p:nvSpPr>
          <p:spPr>
            <a:xfrm>
              <a:off x="2688" y="1824"/>
              <a:ext cx="528" cy="306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Font typeface="Wingdings" panose="05000000000000000000" pitchFamily="2" charset="2"/>
                <a:buChar char="§"/>
                <a:defRPr kumimoji="1" sz="3200">
                  <a:solidFill>
                    <a:srgbClr val="FF3300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kumimoji="1"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b="1">
                  <a:solidFill>
                    <a:schemeClr val="tx1"/>
                  </a:solidFill>
                  <a:latin typeface="+mn-lt"/>
                  <a:ea typeface="楷体_GB2312" pitchFamily="49" charset="-12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Char char="•"/>
                <a:defRPr kumimoji="1"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Font typeface="Wingdings" panose="05000000000000000000" pitchFamily="2" charset="2"/>
                <a:buChar char="§"/>
                <a:defRPr kumimoji="1" sz="2000" b="1">
                  <a:solidFill>
                    <a:schemeClr val="tx1"/>
                  </a:solidFill>
                  <a:latin typeface="+mn-lt"/>
                  <a:ea typeface="仿宋_GB2312" pitchFamily="49" charset="-122"/>
                </a:defRPr>
              </a:lvl5pPr>
            </a:lstStyle>
            <a:p>
              <a:pPr marL="0" lvl="0" indent="0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 dirty="0">
                  <a:solidFill>
                    <a:schemeClr val="tx1"/>
                  </a:solidFill>
                </a:rPr>
                <a:t>1NF</a:t>
              </a:r>
              <a:endParaRPr lang="en-US" altLang="zh-CN" sz="2400" dirty="0">
                <a:solidFill>
                  <a:schemeClr val="tx1"/>
                </a:solidFill>
              </a:endParaRPr>
            </a:p>
          </p:txBody>
        </p:sp>
        <p:sp>
          <p:nvSpPr>
            <p:cNvPr id="6158" name="Text Box 12"/>
            <p:cNvSpPr txBox="1"/>
            <p:nvPr/>
          </p:nvSpPr>
          <p:spPr>
            <a:xfrm>
              <a:off x="2688" y="2018"/>
              <a:ext cx="528" cy="306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Font typeface="Wingdings" panose="05000000000000000000" pitchFamily="2" charset="2"/>
                <a:buChar char="§"/>
                <a:defRPr kumimoji="1" sz="3200">
                  <a:solidFill>
                    <a:srgbClr val="FF3300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kumimoji="1"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b="1">
                  <a:solidFill>
                    <a:schemeClr val="tx1"/>
                  </a:solidFill>
                  <a:latin typeface="+mn-lt"/>
                  <a:ea typeface="楷体_GB2312" pitchFamily="49" charset="-12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Char char="•"/>
                <a:defRPr kumimoji="1"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Font typeface="Wingdings" panose="05000000000000000000" pitchFamily="2" charset="2"/>
                <a:buChar char="§"/>
                <a:defRPr kumimoji="1" sz="2000" b="1">
                  <a:solidFill>
                    <a:schemeClr val="tx1"/>
                  </a:solidFill>
                  <a:latin typeface="+mn-lt"/>
                  <a:ea typeface="仿宋_GB2312" pitchFamily="49" charset="-122"/>
                </a:defRPr>
              </a:lvl5pPr>
            </a:lstStyle>
            <a:p>
              <a:pPr marL="0" lvl="0" indent="0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 dirty="0">
                  <a:solidFill>
                    <a:schemeClr val="tx1"/>
                  </a:solidFill>
                </a:rPr>
                <a:t>2NF</a:t>
              </a:r>
              <a:endParaRPr lang="en-US" altLang="zh-CN" sz="2400" dirty="0">
                <a:solidFill>
                  <a:schemeClr val="tx1"/>
                </a:solidFill>
              </a:endParaRPr>
            </a:p>
          </p:txBody>
        </p:sp>
        <p:sp>
          <p:nvSpPr>
            <p:cNvPr id="6159" name="Text Box 13"/>
            <p:cNvSpPr txBox="1"/>
            <p:nvPr/>
          </p:nvSpPr>
          <p:spPr>
            <a:xfrm>
              <a:off x="2688" y="2208"/>
              <a:ext cx="528" cy="306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Font typeface="Wingdings" panose="05000000000000000000" pitchFamily="2" charset="2"/>
                <a:buChar char="§"/>
                <a:defRPr kumimoji="1" sz="3200">
                  <a:solidFill>
                    <a:srgbClr val="FF3300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kumimoji="1"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b="1">
                  <a:solidFill>
                    <a:schemeClr val="tx1"/>
                  </a:solidFill>
                  <a:latin typeface="+mn-lt"/>
                  <a:ea typeface="楷体_GB2312" pitchFamily="49" charset="-12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Char char="•"/>
                <a:defRPr kumimoji="1"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Font typeface="Wingdings" panose="05000000000000000000" pitchFamily="2" charset="2"/>
                <a:buChar char="§"/>
                <a:defRPr kumimoji="1" sz="2000" b="1">
                  <a:solidFill>
                    <a:schemeClr val="tx1"/>
                  </a:solidFill>
                  <a:latin typeface="+mn-lt"/>
                  <a:ea typeface="仿宋_GB2312" pitchFamily="49" charset="-122"/>
                </a:defRPr>
              </a:lvl5pPr>
            </a:lstStyle>
            <a:p>
              <a:pPr marL="0" lvl="0" indent="0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 dirty="0">
                  <a:solidFill>
                    <a:schemeClr val="tx1"/>
                  </a:solidFill>
                </a:rPr>
                <a:t>3NF</a:t>
              </a:r>
              <a:endParaRPr lang="en-US" altLang="zh-CN" sz="2400" dirty="0">
                <a:solidFill>
                  <a:schemeClr val="tx1"/>
                </a:solidFill>
              </a:endParaRPr>
            </a:p>
          </p:txBody>
        </p:sp>
        <p:sp>
          <p:nvSpPr>
            <p:cNvPr id="6160" name="Text Box 14"/>
            <p:cNvSpPr txBox="1"/>
            <p:nvPr/>
          </p:nvSpPr>
          <p:spPr>
            <a:xfrm>
              <a:off x="2688" y="2594"/>
              <a:ext cx="528" cy="306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Font typeface="Wingdings" panose="05000000000000000000" pitchFamily="2" charset="2"/>
                <a:buChar char="§"/>
                <a:defRPr kumimoji="1" sz="3200">
                  <a:solidFill>
                    <a:srgbClr val="FF3300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kumimoji="1"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b="1">
                  <a:solidFill>
                    <a:schemeClr val="tx1"/>
                  </a:solidFill>
                  <a:latin typeface="+mn-lt"/>
                  <a:ea typeface="楷体_GB2312" pitchFamily="49" charset="-12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Char char="•"/>
                <a:defRPr kumimoji="1"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Font typeface="Wingdings" panose="05000000000000000000" pitchFamily="2" charset="2"/>
                <a:buChar char="§"/>
                <a:defRPr kumimoji="1" sz="2000" b="1">
                  <a:solidFill>
                    <a:schemeClr val="tx1"/>
                  </a:solidFill>
                  <a:latin typeface="+mn-lt"/>
                  <a:ea typeface="仿宋_GB2312" pitchFamily="49" charset="-122"/>
                </a:defRPr>
              </a:lvl5pPr>
            </a:lstStyle>
            <a:p>
              <a:pPr marL="0" lvl="0" indent="0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 dirty="0">
                  <a:solidFill>
                    <a:schemeClr val="tx1"/>
                  </a:solidFill>
                </a:rPr>
                <a:t>4NF</a:t>
              </a:r>
              <a:endParaRPr lang="en-US" altLang="zh-CN" sz="2400" dirty="0">
                <a:solidFill>
                  <a:schemeClr val="tx1"/>
                </a:solidFill>
              </a:endParaRPr>
            </a:p>
          </p:txBody>
        </p:sp>
        <p:sp>
          <p:nvSpPr>
            <p:cNvPr id="6161" name="Text Box 15"/>
            <p:cNvSpPr txBox="1"/>
            <p:nvPr/>
          </p:nvSpPr>
          <p:spPr>
            <a:xfrm>
              <a:off x="2592" y="2402"/>
              <a:ext cx="720" cy="306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Font typeface="Wingdings" panose="05000000000000000000" pitchFamily="2" charset="2"/>
                <a:buChar char="§"/>
                <a:defRPr kumimoji="1" sz="3200">
                  <a:solidFill>
                    <a:srgbClr val="FF3300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kumimoji="1"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b="1">
                  <a:solidFill>
                    <a:schemeClr val="tx1"/>
                  </a:solidFill>
                  <a:latin typeface="+mn-lt"/>
                  <a:ea typeface="楷体_GB2312" pitchFamily="49" charset="-12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Char char="•"/>
                <a:defRPr kumimoji="1"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Font typeface="Wingdings" panose="05000000000000000000" pitchFamily="2" charset="2"/>
                <a:buChar char="§"/>
                <a:defRPr kumimoji="1" sz="2000" b="1">
                  <a:solidFill>
                    <a:schemeClr val="tx1"/>
                  </a:solidFill>
                  <a:latin typeface="+mn-lt"/>
                  <a:ea typeface="仿宋_GB2312" pitchFamily="49" charset="-122"/>
                </a:defRPr>
              </a:lvl5pPr>
            </a:lstStyle>
            <a:p>
              <a:pPr marL="0" lvl="0" indent="0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 dirty="0">
                  <a:solidFill>
                    <a:schemeClr val="tx1"/>
                  </a:solidFill>
                </a:rPr>
                <a:t>BCNF</a:t>
              </a:r>
              <a:endParaRPr lang="en-US" altLang="zh-CN" sz="2400" dirty="0">
                <a:solidFill>
                  <a:schemeClr val="tx1"/>
                </a:solidFill>
              </a:endParaRPr>
            </a:p>
          </p:txBody>
        </p:sp>
        <p:sp>
          <p:nvSpPr>
            <p:cNvPr id="6162" name="Text Box 16"/>
            <p:cNvSpPr txBox="1"/>
            <p:nvPr/>
          </p:nvSpPr>
          <p:spPr>
            <a:xfrm>
              <a:off x="2688" y="2978"/>
              <a:ext cx="528" cy="306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Font typeface="Wingdings" panose="05000000000000000000" pitchFamily="2" charset="2"/>
                <a:buChar char="§"/>
                <a:defRPr kumimoji="1" sz="3200">
                  <a:solidFill>
                    <a:srgbClr val="FF3300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kumimoji="1"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b="1">
                  <a:solidFill>
                    <a:schemeClr val="tx1"/>
                  </a:solidFill>
                  <a:latin typeface="+mn-lt"/>
                  <a:ea typeface="楷体_GB2312" pitchFamily="49" charset="-12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Char char="•"/>
                <a:defRPr kumimoji="1"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Font typeface="Wingdings" panose="05000000000000000000" pitchFamily="2" charset="2"/>
                <a:buChar char="§"/>
                <a:defRPr kumimoji="1" sz="2000" b="1">
                  <a:solidFill>
                    <a:schemeClr val="tx1"/>
                  </a:solidFill>
                  <a:latin typeface="+mn-lt"/>
                  <a:ea typeface="仿宋_GB2312" pitchFamily="49" charset="-122"/>
                </a:defRPr>
              </a:lvl5pPr>
            </a:lstStyle>
            <a:p>
              <a:pPr marL="0" lvl="0" indent="0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 dirty="0">
                  <a:solidFill>
                    <a:schemeClr val="tx1"/>
                  </a:solidFill>
                </a:rPr>
                <a:t>5NF</a:t>
              </a:r>
              <a:endParaRPr lang="en-US" altLang="zh-CN" sz="2400" dirty="0">
                <a:solidFill>
                  <a:schemeClr val="tx1"/>
                </a:solidFill>
              </a:endParaRPr>
            </a:p>
          </p:txBody>
        </p:sp>
      </p:grpSp>
      <p:graphicFrame>
        <p:nvGraphicFramePr>
          <p:cNvPr id="6150" name="Object 17"/>
          <p:cNvGraphicFramePr>
            <a:graphicFrameLocks noChangeAspect="1"/>
          </p:cNvGraphicFramePr>
          <p:nvPr/>
        </p:nvGraphicFramePr>
        <p:xfrm>
          <a:off x="533400" y="4267200"/>
          <a:ext cx="3581400" cy="973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" r:id="rId1" imgW="1497965" imgH="406400" progId="Equation.3">
                  <p:embed/>
                </p:oleObj>
              </mc:Choice>
              <mc:Fallback>
                <p:oleObj name="" r:id="rId1" imgW="1497965" imgH="406400" progId="Equation.3">
                  <p:embed/>
                  <p:pic>
                    <p:nvPicPr>
                      <p:cNvPr id="0" name="Picture 307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533400" y="4267200"/>
                        <a:ext cx="3581400" cy="9731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70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7171" name="Rectangle 2"/>
          <p:cNvSpPr>
            <a:spLocks noGrp="1"/>
          </p:cNvSpPr>
          <p:nvPr>
            <p:ph idx="1"/>
          </p:nvPr>
        </p:nvSpPr>
        <p:spPr>
          <a:xfrm>
            <a:off x="76200" y="914400"/>
            <a:ext cx="8915400" cy="4648200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140000"/>
              </a:lnSpc>
            </a:pPr>
            <a:r>
              <a:rPr lang="zh-CN" altLang="en-US" dirty="0">
                <a:solidFill>
                  <a:schemeClr val="tx1"/>
                </a:solidFill>
                <a:latin typeface="宋体" panose="02010600030101010101" pitchFamily="2" charset="-122"/>
              </a:rPr>
              <a:t>策略</a:t>
            </a:r>
            <a:endParaRPr lang="zh-CN" altLang="en-US" dirty="0">
              <a:solidFill>
                <a:schemeClr val="tx1"/>
              </a:solidFill>
              <a:latin typeface="宋体" panose="02010600030101010101" pitchFamily="2" charset="-122"/>
            </a:endParaRPr>
          </a:p>
          <a:p>
            <a:pPr algn="just" eaLnBrk="1" hangingPunct="1">
              <a:buNone/>
            </a:pPr>
            <a:r>
              <a:rPr lang="zh-CN" altLang="en-US" sz="2800" dirty="0">
                <a:solidFill>
                  <a:schemeClr val="tx1"/>
                </a:solidFill>
                <a:latin typeface="宋体" panose="02010600030101010101" pitchFamily="2" charset="-122"/>
              </a:rPr>
              <a:t>  概念单一化：一个关系模式表示一个概念，一个实体，一个实体间联系；多余部分分解出去。</a:t>
            </a:r>
            <a:endParaRPr lang="zh-CN" altLang="en-US" sz="2800" dirty="0">
              <a:solidFill>
                <a:schemeClr val="tx1"/>
              </a:solidFill>
              <a:latin typeface="宋体" panose="02010600030101010101" pitchFamily="2" charset="-122"/>
            </a:endParaRPr>
          </a:p>
          <a:p>
            <a:pPr algn="just" eaLnBrk="1" hangingPunct="1"/>
            <a:r>
              <a:rPr lang="zh-CN" altLang="en-US" dirty="0">
                <a:solidFill>
                  <a:schemeClr val="tx1"/>
                </a:solidFill>
                <a:latin typeface="宋体" panose="02010600030101010101" pitchFamily="2" charset="-122"/>
              </a:rPr>
              <a:t>目标</a:t>
            </a:r>
            <a:endParaRPr lang="zh-CN" altLang="en-US" dirty="0">
              <a:solidFill>
                <a:schemeClr val="tx1"/>
              </a:solidFill>
              <a:latin typeface="宋体" panose="02010600030101010101" pitchFamily="2" charset="-122"/>
            </a:endParaRPr>
          </a:p>
          <a:p>
            <a:pPr lvl="1" algn="just" eaLnBrk="1" hangingPunct="1"/>
            <a:r>
              <a:rPr lang="zh-CN" altLang="en-US" sz="2400" dirty="0">
                <a:latin typeface="宋体" panose="02010600030101010101" pitchFamily="2" charset="-122"/>
              </a:rPr>
              <a:t>较少冗余</a:t>
            </a:r>
            <a:endParaRPr lang="zh-CN" altLang="en-US" sz="2400" dirty="0">
              <a:latin typeface="宋体" panose="02010600030101010101" pitchFamily="2" charset="-122"/>
            </a:endParaRPr>
          </a:p>
          <a:p>
            <a:pPr lvl="1" algn="just" eaLnBrk="1" hangingPunct="1"/>
            <a:r>
              <a:rPr lang="zh-CN" altLang="en-US" sz="2400" dirty="0">
                <a:latin typeface="宋体" panose="02010600030101010101" pitchFamily="2" charset="-122"/>
              </a:rPr>
              <a:t>避免修改麻烦</a:t>
            </a:r>
            <a:endParaRPr lang="zh-CN" altLang="en-US" sz="2400" dirty="0">
              <a:latin typeface="宋体" panose="02010600030101010101" pitchFamily="2" charset="-122"/>
            </a:endParaRPr>
          </a:p>
          <a:p>
            <a:pPr lvl="1" algn="just" eaLnBrk="1" hangingPunct="1"/>
            <a:r>
              <a:rPr lang="zh-CN" altLang="en-US" sz="2400" dirty="0">
                <a:latin typeface="宋体" panose="02010600030101010101" pitchFamily="2" charset="-122"/>
              </a:rPr>
              <a:t>避免操作异常</a:t>
            </a:r>
            <a:endParaRPr lang="zh-CN" altLang="en-US" sz="2400" dirty="0">
              <a:latin typeface="宋体" panose="02010600030101010101" pitchFamily="2" charset="-122"/>
            </a:endParaRPr>
          </a:p>
          <a:p>
            <a:pPr algn="just" eaLnBrk="1" hangingPunct="1"/>
            <a:r>
              <a:rPr lang="zh-CN" altLang="en-US" dirty="0">
                <a:solidFill>
                  <a:schemeClr val="tx1"/>
                </a:solidFill>
              </a:rPr>
              <a:t>某一关系模式</a:t>
            </a:r>
            <a:r>
              <a:rPr lang="en-US" altLang="zh-CN" dirty="0">
                <a:solidFill>
                  <a:schemeClr val="tx1"/>
                </a:solidFill>
              </a:rPr>
              <a:t>R</a:t>
            </a:r>
            <a:r>
              <a:rPr lang="zh-CN" altLang="en-US" dirty="0">
                <a:solidFill>
                  <a:schemeClr val="tx1"/>
                </a:solidFill>
              </a:rPr>
              <a:t>为第</a:t>
            </a:r>
            <a:r>
              <a:rPr lang="en-US" altLang="zh-CN" dirty="0">
                <a:solidFill>
                  <a:schemeClr val="tx1"/>
                </a:solidFill>
              </a:rPr>
              <a:t>n</a:t>
            </a:r>
            <a:r>
              <a:rPr lang="zh-CN" altLang="en-US" dirty="0">
                <a:solidFill>
                  <a:schemeClr val="tx1"/>
                </a:solidFill>
              </a:rPr>
              <a:t>范式，可简记为</a:t>
            </a:r>
            <a:r>
              <a:rPr lang="en-US" altLang="zh-CN" dirty="0">
                <a:solidFill>
                  <a:schemeClr val="tx1"/>
                </a:solidFill>
              </a:rPr>
              <a:t>R∈nNF</a:t>
            </a:r>
            <a:r>
              <a:rPr lang="zh-CN" altLang="en-US" dirty="0">
                <a:solidFill>
                  <a:schemeClr val="tx1"/>
                </a:solidFill>
              </a:rPr>
              <a:t>。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7172" name="Rectangle 3"/>
          <p:cNvSpPr>
            <a:spLocks noGrp="1"/>
          </p:cNvSpPr>
          <p:nvPr>
            <p:ph type="title"/>
          </p:nvPr>
        </p:nvSpPr>
        <p:spPr>
          <a:xfrm>
            <a:off x="685800" y="0"/>
            <a:ext cx="77724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u="sng" dirty="0"/>
              <a:t>6.4.1  </a:t>
            </a:r>
            <a:r>
              <a:rPr lang="zh-CN" altLang="en-US" u="sng" dirty="0"/>
              <a:t>范式</a:t>
            </a:r>
            <a:endParaRPr lang="zh-CN" altLang="en-US" u="sng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194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8195" name="Rectangle 2"/>
          <p:cNvSpPr>
            <a:spLocks noGrp="1"/>
          </p:cNvSpPr>
          <p:nvPr>
            <p:ph idx="1"/>
          </p:nvPr>
        </p:nvSpPr>
        <p:spPr>
          <a:xfrm>
            <a:off x="1066800" y="914400"/>
            <a:ext cx="6629400" cy="4876800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dirty="0">
                <a:solidFill>
                  <a:schemeClr val="tx1"/>
                </a:solidFill>
              </a:rPr>
              <a:t>6.4.1 </a:t>
            </a:r>
            <a:r>
              <a:rPr lang="zh-CN" altLang="en-US" dirty="0">
                <a:solidFill>
                  <a:schemeClr val="tx1"/>
                </a:solidFill>
              </a:rPr>
              <a:t>范式</a:t>
            </a:r>
            <a:endParaRPr lang="zh-CN" altLang="en-US" dirty="0">
              <a:solidFill>
                <a:schemeClr val="tx1"/>
              </a:solidFill>
            </a:endParaRP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dirty="0">
                <a:solidFill>
                  <a:srgbClr val="FF0000"/>
                </a:solidFill>
              </a:rPr>
              <a:t>6.4.2 1NF</a:t>
            </a:r>
            <a:endParaRPr lang="en-US" altLang="zh-CN" dirty="0">
              <a:solidFill>
                <a:srgbClr val="FF0000"/>
              </a:solidFill>
            </a:endParaRP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dirty="0">
                <a:solidFill>
                  <a:schemeClr val="tx1"/>
                </a:solidFill>
              </a:rPr>
              <a:t>6.4.3 2NF</a:t>
            </a:r>
            <a:endParaRPr lang="en-US" altLang="zh-CN" dirty="0">
              <a:solidFill>
                <a:schemeClr val="tx1"/>
              </a:solidFill>
            </a:endParaRP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dirty="0">
                <a:solidFill>
                  <a:schemeClr val="tx1"/>
                </a:solidFill>
              </a:rPr>
              <a:t>6.4.4 3NF</a:t>
            </a:r>
            <a:endParaRPr lang="en-US" altLang="zh-CN" dirty="0">
              <a:solidFill>
                <a:schemeClr val="tx1"/>
              </a:solidFill>
            </a:endParaRP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dirty="0">
                <a:solidFill>
                  <a:schemeClr val="tx1"/>
                </a:solidFill>
              </a:rPr>
              <a:t>6.4.5 BCNF</a:t>
            </a:r>
            <a:endParaRPr lang="en-US" altLang="zh-CN" dirty="0">
              <a:solidFill>
                <a:schemeClr val="tx1"/>
              </a:solidFill>
            </a:endParaRP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dirty="0">
                <a:solidFill>
                  <a:schemeClr val="tx1"/>
                </a:solidFill>
              </a:rPr>
              <a:t>6.4.6 </a:t>
            </a:r>
            <a:r>
              <a:rPr lang="zh-CN" altLang="en-US" dirty="0">
                <a:solidFill>
                  <a:schemeClr val="tx1"/>
                </a:solidFill>
              </a:rPr>
              <a:t>多值依赖</a:t>
            </a:r>
            <a:endParaRPr lang="zh-CN" altLang="en-US" dirty="0">
              <a:solidFill>
                <a:schemeClr val="tx1"/>
              </a:solidFill>
            </a:endParaRP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dirty="0">
                <a:solidFill>
                  <a:schemeClr val="tx1"/>
                </a:solidFill>
              </a:rPr>
              <a:t>6.4.7 4NF</a:t>
            </a:r>
            <a:endParaRPr lang="en-US" altLang="zh-CN" dirty="0">
              <a:solidFill>
                <a:schemeClr val="tx1"/>
              </a:solidFill>
            </a:endParaRP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dirty="0">
                <a:solidFill>
                  <a:schemeClr val="tx1"/>
                </a:solidFill>
              </a:rPr>
              <a:t>6.4.8 </a:t>
            </a:r>
            <a:r>
              <a:rPr lang="zh-CN" altLang="en-US" dirty="0">
                <a:solidFill>
                  <a:schemeClr val="tx1"/>
                </a:solidFill>
              </a:rPr>
              <a:t>规范化小结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8196" name="Rectangle 3"/>
          <p:cNvSpPr>
            <a:spLocks noGrp="1"/>
          </p:cNvSpPr>
          <p:nvPr>
            <p:ph type="title"/>
          </p:nvPr>
        </p:nvSpPr>
        <p:spPr>
          <a:xfrm>
            <a:off x="685800" y="0"/>
            <a:ext cx="77724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dirty="0"/>
              <a:t>6.4  </a:t>
            </a:r>
            <a:r>
              <a:rPr lang="zh-CN" altLang="en-US" dirty="0"/>
              <a:t>关系模式的规范化</a:t>
            </a:r>
            <a:endParaRPr lang="zh-CN" alt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218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9219" name="Rectangle 2"/>
          <p:cNvSpPr>
            <a:spLocks noGrp="1"/>
          </p:cNvSpPr>
          <p:nvPr>
            <p:ph idx="1"/>
          </p:nvPr>
        </p:nvSpPr>
        <p:spPr>
          <a:xfrm>
            <a:off x="76200" y="914400"/>
            <a:ext cx="8915400" cy="4191000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140000"/>
              </a:lnSpc>
            </a:pPr>
            <a:r>
              <a:rPr lang="en-US" altLang="zh-CN" dirty="0">
                <a:solidFill>
                  <a:schemeClr val="tx1"/>
                </a:solidFill>
              </a:rPr>
              <a:t>1.</a:t>
            </a:r>
            <a:r>
              <a:rPr lang="zh-CN" altLang="en-US" dirty="0">
                <a:solidFill>
                  <a:schemeClr val="tx1"/>
                </a:solidFill>
                <a:latin typeface="宋体" panose="02010600030101010101" pitchFamily="2" charset="-122"/>
              </a:rPr>
              <a:t>定义</a:t>
            </a:r>
            <a:endParaRPr lang="zh-CN" altLang="en-US" dirty="0">
              <a:solidFill>
                <a:schemeClr val="tx1"/>
              </a:solidFill>
              <a:latin typeface="宋体" panose="02010600030101010101" pitchFamily="2" charset="-122"/>
            </a:endParaRPr>
          </a:p>
          <a:p>
            <a:pPr algn="just" eaLnBrk="1" hangingPunct="1">
              <a:buNone/>
            </a:pPr>
            <a:r>
              <a:rPr lang="zh-CN" altLang="en-US" sz="2000" b="0" dirty="0">
                <a:latin typeface="黑体" panose="02010609060101010101" pitchFamily="49" charset="-122"/>
                <a:ea typeface="黑体" panose="02010609060101010101" pitchFamily="49" charset="-122"/>
              </a:rPr>
              <a:t>	</a:t>
            </a:r>
            <a:r>
              <a:rPr lang="zh-CN" altLang="en-US" sz="2800" dirty="0">
                <a:solidFill>
                  <a:schemeClr val="tx1"/>
                </a:solidFill>
                <a:latin typeface="宋体" panose="02010600030101010101" pitchFamily="2" charset="-122"/>
              </a:rPr>
              <a:t>任给关系模式</a:t>
            </a:r>
            <a:r>
              <a:rPr lang="en-US" altLang="zh-CN" sz="2800" dirty="0">
                <a:solidFill>
                  <a:schemeClr val="tx1"/>
                </a:solidFill>
                <a:latin typeface="Arial" panose="020B0604020202020204" pitchFamily="34" charset="0"/>
              </a:rPr>
              <a:t>R(U,F)</a:t>
            </a:r>
            <a:r>
              <a:rPr lang="zh-CN" altLang="en-US" sz="2800" dirty="0">
                <a:solidFill>
                  <a:schemeClr val="tx1"/>
                </a:solidFill>
                <a:latin typeface="宋体" panose="02010600030101010101" pitchFamily="2" charset="-122"/>
              </a:rPr>
              <a:t>，若</a:t>
            </a:r>
            <a:r>
              <a:rPr lang="en-US" altLang="zh-CN" sz="2800" dirty="0">
                <a:solidFill>
                  <a:schemeClr val="tx1"/>
                </a:solidFill>
                <a:latin typeface="Arial" panose="020B0604020202020204" pitchFamily="34" charset="0"/>
              </a:rPr>
              <a:t>U</a:t>
            </a:r>
            <a:r>
              <a:rPr lang="zh-CN" altLang="en-US" sz="2800" dirty="0">
                <a:solidFill>
                  <a:schemeClr val="tx1"/>
                </a:solidFill>
                <a:latin typeface="宋体" panose="02010600030101010101" pitchFamily="2" charset="-122"/>
              </a:rPr>
              <a:t>中每个属性及其值均为不可再分的基本数据元素（原子项），则</a:t>
            </a:r>
            <a:r>
              <a:rPr lang="en-US" altLang="zh-CN" sz="2800" dirty="0">
                <a:solidFill>
                  <a:schemeClr val="tx1"/>
                </a:solidFill>
                <a:latin typeface="Arial" panose="020B0604020202020204" pitchFamily="34" charset="0"/>
              </a:rPr>
              <a:t>R∈1NF</a:t>
            </a:r>
            <a:r>
              <a:rPr lang="zh-CN" altLang="en-US" sz="2800" dirty="0">
                <a:solidFill>
                  <a:schemeClr val="tx1"/>
                </a:solidFill>
                <a:latin typeface="宋体" panose="02010600030101010101" pitchFamily="2" charset="-122"/>
              </a:rPr>
              <a:t>。</a:t>
            </a:r>
            <a:endParaRPr lang="zh-CN" altLang="en-US" sz="2800" dirty="0">
              <a:solidFill>
                <a:schemeClr val="tx1"/>
              </a:solidFill>
              <a:latin typeface="宋体" panose="02010600030101010101" pitchFamily="2" charset="-122"/>
            </a:endParaRPr>
          </a:p>
          <a:p>
            <a:pPr algn="just" eaLnBrk="1" hangingPunct="1"/>
            <a:r>
              <a:rPr lang="en-US" altLang="zh-CN" dirty="0">
                <a:solidFill>
                  <a:schemeClr val="tx1"/>
                </a:solidFill>
              </a:rPr>
              <a:t>2.</a:t>
            </a:r>
            <a:r>
              <a:rPr lang="zh-CN" altLang="en-US" dirty="0">
                <a:solidFill>
                  <a:schemeClr val="tx1"/>
                </a:solidFill>
                <a:latin typeface="宋体" panose="02010600030101010101" pitchFamily="2" charset="-122"/>
              </a:rPr>
              <a:t>说明</a:t>
            </a:r>
            <a:endParaRPr lang="zh-CN" altLang="en-US" dirty="0">
              <a:solidFill>
                <a:schemeClr val="tx1"/>
              </a:solidFill>
              <a:latin typeface="宋体" panose="02010600030101010101" pitchFamily="2" charset="-122"/>
            </a:endParaRPr>
          </a:p>
          <a:p>
            <a:pPr algn="just" eaLnBrk="1" hangingPunct="1">
              <a:buNone/>
            </a:pPr>
            <a:r>
              <a:rPr lang="zh-CN" altLang="en-US" dirty="0">
                <a:latin typeface="Arial" panose="020B0604020202020204" pitchFamily="34" charset="0"/>
              </a:rPr>
              <a:t>	</a:t>
            </a:r>
            <a:r>
              <a:rPr lang="zh-CN" altLang="en-US" sz="2800" dirty="0">
                <a:solidFill>
                  <a:schemeClr val="tx1"/>
                </a:solidFill>
                <a:latin typeface="Arial" panose="020B0604020202020204" pitchFamily="34" charset="0"/>
              </a:rPr>
              <a:t>关系</a:t>
            </a:r>
            <a:r>
              <a:rPr lang="en-US" altLang="zh-CN" sz="2800" dirty="0">
                <a:solidFill>
                  <a:schemeClr val="tx1"/>
                </a:solidFill>
                <a:latin typeface="Arial" panose="020B0604020202020204" pitchFamily="34" charset="0"/>
              </a:rPr>
              <a:t>DBS</a:t>
            </a:r>
            <a:r>
              <a:rPr lang="zh-CN" altLang="en-US" sz="2800" dirty="0">
                <a:solidFill>
                  <a:schemeClr val="tx1"/>
                </a:solidFill>
                <a:latin typeface="Arial" panose="020B0604020202020204" pitchFamily="34" charset="0"/>
              </a:rPr>
              <a:t>中</a:t>
            </a:r>
            <a:r>
              <a:rPr lang="en-US" altLang="zh-CN" sz="2800" dirty="0">
                <a:solidFill>
                  <a:schemeClr val="tx1"/>
                </a:solidFill>
                <a:latin typeface="Arial" panose="020B0604020202020204" pitchFamily="34" charset="0"/>
              </a:rPr>
              <a:t>,</a:t>
            </a:r>
            <a:r>
              <a:rPr lang="zh-CN" altLang="en-US" sz="2800" dirty="0">
                <a:solidFill>
                  <a:schemeClr val="tx1"/>
                </a:solidFill>
                <a:latin typeface="Arial" panose="020B0604020202020204" pitchFamily="34" charset="0"/>
              </a:rPr>
              <a:t>所有关系模式至少都必须是</a:t>
            </a:r>
            <a:r>
              <a:rPr lang="en-US" altLang="zh-CN" sz="2800" dirty="0">
                <a:solidFill>
                  <a:schemeClr val="tx1"/>
                </a:solidFill>
                <a:latin typeface="Arial" panose="020B0604020202020204" pitchFamily="34" charset="0"/>
              </a:rPr>
              <a:t>1NF</a:t>
            </a:r>
            <a:r>
              <a:rPr lang="zh-CN" altLang="en-US" sz="2800" dirty="0">
                <a:solidFill>
                  <a:schemeClr val="tx1"/>
                </a:solidFill>
                <a:latin typeface="Arial" panose="020B0604020202020204" pitchFamily="34" charset="0"/>
              </a:rPr>
              <a:t>。否则不能称为关系数据库系统。</a:t>
            </a:r>
            <a:endParaRPr lang="zh-CN" altLang="en-US" sz="28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algn="just" eaLnBrk="1" hangingPunct="1"/>
            <a:r>
              <a:rPr lang="zh-CN" altLang="en-US" sz="2800" dirty="0">
                <a:solidFill>
                  <a:schemeClr val="tx1"/>
                </a:solidFill>
                <a:latin typeface="Arial" panose="020B0604020202020204" pitchFamily="34" charset="0"/>
              </a:rPr>
              <a:t>例</a:t>
            </a:r>
            <a:endParaRPr lang="zh-CN" altLang="en-US" sz="2800" dirty="0">
              <a:solidFill>
                <a:schemeClr val="tx1"/>
              </a:solidFill>
              <a:latin typeface="宋体" panose="02010600030101010101" pitchFamily="2" charset="-122"/>
            </a:endParaRPr>
          </a:p>
        </p:txBody>
      </p:sp>
      <p:sp>
        <p:nvSpPr>
          <p:cNvPr id="9220" name="Rectangle 3"/>
          <p:cNvSpPr>
            <a:spLocks noGrp="1"/>
          </p:cNvSpPr>
          <p:nvPr>
            <p:ph type="title"/>
          </p:nvPr>
        </p:nvSpPr>
        <p:spPr>
          <a:xfrm>
            <a:off x="685800" y="0"/>
            <a:ext cx="77724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dirty="0"/>
              <a:t>6.4.2  1NF</a:t>
            </a:r>
            <a:endParaRPr lang="en-US" altLang="zh-CN" dirty="0"/>
          </a:p>
        </p:txBody>
      </p:sp>
      <p:graphicFrame>
        <p:nvGraphicFramePr>
          <p:cNvPr id="12292" name="Group 4"/>
          <p:cNvGraphicFramePr>
            <a:graphicFrameLocks noGrp="1"/>
          </p:cNvGraphicFramePr>
          <p:nvPr/>
        </p:nvGraphicFramePr>
        <p:xfrm>
          <a:off x="990600" y="4495800"/>
          <a:ext cx="4495800" cy="1828800"/>
        </p:xfrm>
        <a:graphic>
          <a:graphicData uri="http://schemas.openxmlformats.org/drawingml/2006/table">
            <a:tbl>
              <a:tblPr/>
              <a:tblGrid>
                <a:gridCol w="900113"/>
                <a:gridCol w="898525"/>
                <a:gridCol w="898525"/>
                <a:gridCol w="898525"/>
                <a:gridCol w="900112"/>
              </a:tblGrid>
              <a:tr h="287338">
                <a:tc rowSpan="2"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XH 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KM 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3"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CJ 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/>
                </a:tc>
                <a:tc hMerge="1">
                  <a:tcPr/>
                </a:tc>
              </a:tr>
              <a:tr h="288925">
                <a:tc vMerge="1">
                  <a:tcPr/>
                </a:tc>
                <a:tc vMerge="1">
                  <a:tcPr/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test1 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test2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test3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7338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001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OS 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80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78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90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7338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002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cPr/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85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82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95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12320" name="Group 32"/>
          <p:cNvGraphicFramePr>
            <a:graphicFrameLocks noGrp="1"/>
          </p:cNvGraphicFramePr>
          <p:nvPr/>
        </p:nvGraphicFramePr>
        <p:xfrm>
          <a:off x="5638800" y="4495800"/>
          <a:ext cx="3352800" cy="1562100"/>
        </p:xfrm>
        <a:graphic>
          <a:graphicData uri="http://schemas.openxmlformats.org/drawingml/2006/table">
            <a:tbl>
              <a:tblPr/>
              <a:tblGrid>
                <a:gridCol w="947738"/>
                <a:gridCol w="2405062"/>
              </a:tblGrid>
              <a:tr h="5207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S#</a:t>
                      </a:r>
                      <a:endParaRPr kumimoji="1" lang="en-US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C#</a:t>
                      </a:r>
                      <a:endParaRPr kumimoji="1" lang="en-US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207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S1</a:t>
                      </a:r>
                      <a:endParaRPr kumimoji="1" lang="en-US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{C1</a:t>
                      </a:r>
                      <a:r>
                        <a:rPr kumimoji="1" lang="zh-CN" alt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，</a:t>
                      </a: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C2</a:t>
                      </a:r>
                      <a:r>
                        <a:rPr kumimoji="1" lang="zh-CN" alt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，</a:t>
                      </a: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C3}</a:t>
                      </a:r>
                      <a:endParaRPr kumimoji="1" lang="en-US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207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S2</a:t>
                      </a:r>
                      <a:endParaRPr kumimoji="1" lang="en-US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{C2,C4}</a:t>
                      </a:r>
                      <a:endParaRPr kumimoji="1" lang="en-US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242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10243" name="Rectangle 2"/>
          <p:cNvSpPr>
            <a:spLocks noGrp="1"/>
          </p:cNvSpPr>
          <p:nvPr>
            <p:ph idx="1"/>
          </p:nvPr>
        </p:nvSpPr>
        <p:spPr>
          <a:xfrm>
            <a:off x="76200" y="914400"/>
            <a:ext cx="8915400" cy="1905000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140000"/>
              </a:lnSpc>
            </a:pPr>
            <a:r>
              <a:rPr lang="en-US" altLang="zh-CN" dirty="0">
                <a:solidFill>
                  <a:schemeClr val="tx1"/>
                </a:solidFill>
              </a:rPr>
              <a:t>3.</a:t>
            </a:r>
            <a:r>
              <a:rPr lang="zh-CN" altLang="en-US" dirty="0">
                <a:solidFill>
                  <a:schemeClr val="tx1"/>
                </a:solidFill>
                <a:latin typeface="宋体" panose="02010600030101010101" pitchFamily="2" charset="-122"/>
              </a:rPr>
              <a:t>转换</a:t>
            </a:r>
            <a:r>
              <a:rPr lang="en-US" altLang="zh-CN" dirty="0">
                <a:solidFill>
                  <a:schemeClr val="tx1"/>
                </a:solidFill>
                <a:latin typeface="宋体" panose="02010600030101010101" pitchFamily="2" charset="-122"/>
              </a:rPr>
              <a:t>: </a:t>
            </a:r>
            <a:r>
              <a:rPr lang="zh-CN" altLang="en-US" dirty="0">
                <a:solidFill>
                  <a:schemeClr val="tx1"/>
                </a:solidFill>
                <a:latin typeface="宋体" panose="02010600030101010101" pitchFamily="2" charset="-122"/>
              </a:rPr>
              <a:t>非</a:t>
            </a: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</a:rPr>
              <a:t>1NF </a:t>
            </a:r>
            <a:r>
              <a:rPr lang="en-US" altLang="zh-CN" sz="2800" dirty="0">
                <a:solidFill>
                  <a:schemeClr val="tx1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</a:t>
            </a: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</a:rPr>
              <a:t> 1NF</a:t>
            </a:r>
            <a:endParaRPr lang="en-US" altLang="zh-CN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eaLnBrk="1" hangingPunct="1">
              <a:lnSpc>
                <a:spcPct val="140000"/>
              </a:lnSpc>
              <a:buNone/>
            </a:pPr>
            <a:r>
              <a:rPr lang="en-US" altLang="zh-CN" sz="2000" b="0" dirty="0">
                <a:latin typeface="黑体" panose="02010609060101010101" pitchFamily="49" charset="-122"/>
                <a:ea typeface="黑体" panose="02010609060101010101" pitchFamily="49" charset="-122"/>
              </a:rPr>
              <a:t>	</a:t>
            </a:r>
            <a:r>
              <a:rPr lang="zh-CN" altLang="en-US" sz="2800" dirty="0">
                <a:solidFill>
                  <a:schemeClr val="tx1"/>
                </a:solidFill>
                <a:latin typeface="宋体" panose="02010600030101010101" pitchFamily="2" charset="-122"/>
              </a:rPr>
              <a:t>去掉嵌套属性的上层</a:t>
            </a:r>
            <a:r>
              <a:rPr lang="en-US" altLang="zh-CN" sz="2800" dirty="0">
                <a:solidFill>
                  <a:schemeClr val="tx1"/>
                </a:solidFill>
                <a:latin typeface="宋体" panose="02010600030101010101" pitchFamily="2" charset="-122"/>
              </a:rPr>
              <a:t>(</a:t>
            </a:r>
            <a:r>
              <a:rPr lang="zh-CN" altLang="en-US" sz="2800" dirty="0">
                <a:solidFill>
                  <a:schemeClr val="tx1"/>
                </a:solidFill>
                <a:latin typeface="宋体" panose="02010600030101010101" pitchFamily="2" charset="-122"/>
              </a:rPr>
              <a:t>保留最底层</a:t>
            </a:r>
            <a:r>
              <a:rPr lang="en-US" altLang="zh-CN" sz="2800" dirty="0">
                <a:solidFill>
                  <a:schemeClr val="tx1"/>
                </a:solidFill>
                <a:latin typeface="宋体" panose="02010600030101010101" pitchFamily="2" charset="-122"/>
              </a:rPr>
              <a:t>)</a:t>
            </a:r>
            <a:r>
              <a:rPr lang="en-US" altLang="zh-CN" sz="2800" dirty="0">
                <a:solidFill>
                  <a:schemeClr val="tx1"/>
                </a:solidFill>
              </a:rPr>
              <a:t>;</a:t>
            </a:r>
            <a:r>
              <a:rPr lang="zh-CN" altLang="en-US" sz="2800" dirty="0">
                <a:solidFill>
                  <a:schemeClr val="tx1"/>
                </a:solidFill>
                <a:latin typeface="宋体" panose="02010600030101010101" pitchFamily="2" charset="-122"/>
              </a:rPr>
              <a:t>重写行交叉处的值</a:t>
            </a:r>
            <a:endParaRPr lang="zh-CN" altLang="en-US" sz="2800" dirty="0">
              <a:solidFill>
                <a:schemeClr val="tx1"/>
              </a:solidFill>
            </a:endParaRPr>
          </a:p>
        </p:txBody>
      </p:sp>
      <p:sp>
        <p:nvSpPr>
          <p:cNvPr id="10244" name="Rectangle 3"/>
          <p:cNvSpPr>
            <a:spLocks noGrp="1"/>
          </p:cNvSpPr>
          <p:nvPr>
            <p:ph type="title"/>
          </p:nvPr>
        </p:nvSpPr>
        <p:spPr>
          <a:xfrm>
            <a:off x="685800" y="0"/>
            <a:ext cx="77724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u="sng" dirty="0"/>
              <a:t>6.4.2  1NF</a:t>
            </a:r>
            <a:endParaRPr lang="en-US" altLang="zh-CN" u="sng" dirty="0"/>
          </a:p>
        </p:txBody>
      </p:sp>
      <p:graphicFrame>
        <p:nvGraphicFramePr>
          <p:cNvPr id="13316" name="Group 4"/>
          <p:cNvGraphicFramePr>
            <a:graphicFrameLocks noGrp="1"/>
          </p:cNvGraphicFramePr>
          <p:nvPr/>
        </p:nvGraphicFramePr>
        <p:xfrm>
          <a:off x="457200" y="2971800"/>
          <a:ext cx="4114800" cy="1371600"/>
        </p:xfrm>
        <a:graphic>
          <a:graphicData uri="http://schemas.openxmlformats.org/drawingml/2006/table">
            <a:tbl>
              <a:tblPr/>
              <a:tblGrid>
                <a:gridCol w="822325"/>
                <a:gridCol w="823913"/>
                <a:gridCol w="822325"/>
                <a:gridCol w="823912"/>
                <a:gridCol w="822325"/>
              </a:tblGrid>
              <a:tr h="28892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XH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KM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test1 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test2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test3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7338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001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OS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80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78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90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7338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002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OS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85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82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95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13342" name="Group 30"/>
          <p:cNvGraphicFramePr>
            <a:graphicFrameLocks noGrp="1"/>
          </p:cNvGraphicFramePr>
          <p:nvPr/>
        </p:nvGraphicFramePr>
        <p:xfrm>
          <a:off x="5029200" y="2971800"/>
          <a:ext cx="3352800" cy="3124200"/>
        </p:xfrm>
        <a:graphic>
          <a:graphicData uri="http://schemas.openxmlformats.org/drawingml/2006/table">
            <a:tbl>
              <a:tblPr/>
              <a:tblGrid>
                <a:gridCol w="947738"/>
                <a:gridCol w="2405062"/>
              </a:tblGrid>
              <a:tr h="5207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S#</a:t>
                      </a:r>
                      <a:endParaRPr kumimoji="1" lang="en-US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C#</a:t>
                      </a:r>
                      <a:endParaRPr kumimoji="1" lang="en-US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207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S1</a:t>
                      </a:r>
                      <a:endParaRPr kumimoji="1" lang="en-US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C1</a:t>
                      </a:r>
                      <a:endParaRPr kumimoji="1" lang="en-US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207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S1</a:t>
                      </a:r>
                      <a:endParaRPr kumimoji="1" lang="en-US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C2</a:t>
                      </a:r>
                      <a:endParaRPr kumimoji="1" lang="en-US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207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S1</a:t>
                      </a:r>
                      <a:endParaRPr kumimoji="1" lang="en-US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C3</a:t>
                      </a:r>
                      <a:endParaRPr kumimoji="1" lang="en-US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207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S2</a:t>
                      </a:r>
                      <a:endParaRPr kumimoji="1" lang="en-US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C2</a:t>
                      </a:r>
                      <a:endParaRPr kumimoji="1" lang="en-US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207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S2</a:t>
                      </a:r>
                      <a:endParaRPr kumimoji="1" lang="en-US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C4</a:t>
                      </a:r>
                      <a:endParaRPr kumimoji="1" lang="en-US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11267" name="Rectangle 2"/>
          <p:cNvSpPr>
            <a:spLocks noGrp="1"/>
          </p:cNvSpPr>
          <p:nvPr>
            <p:ph idx="1"/>
          </p:nvPr>
        </p:nvSpPr>
        <p:spPr>
          <a:xfrm>
            <a:off x="0" y="685800"/>
            <a:ext cx="8915400" cy="1447800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120000"/>
              </a:lnSpc>
              <a:spcBef>
                <a:spcPct val="0"/>
              </a:spcBef>
            </a:pPr>
            <a:r>
              <a:rPr lang="en-US" altLang="zh-CN" dirty="0">
                <a:solidFill>
                  <a:schemeClr val="tx1"/>
                </a:solidFill>
              </a:rPr>
              <a:t>4.</a:t>
            </a:r>
            <a:r>
              <a:rPr lang="en-US" altLang="zh-CN" dirty="0">
                <a:solidFill>
                  <a:schemeClr val="tx1"/>
                </a:solidFill>
                <a:latin typeface="宋体" panose="02010600030101010101" pitchFamily="2" charset="-122"/>
              </a:rPr>
              <a:t> </a:t>
            </a: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</a:rPr>
              <a:t>1NF </a:t>
            </a:r>
            <a:r>
              <a:rPr lang="zh-CN" altLang="en-US" dirty="0">
                <a:solidFill>
                  <a:schemeClr val="tx1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存在的问题</a:t>
            </a:r>
            <a:endParaRPr lang="zh-CN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sz="2000" b="0" dirty="0">
                <a:latin typeface="黑体" panose="02010609060101010101" pitchFamily="49" charset="-122"/>
                <a:ea typeface="黑体" panose="02010609060101010101" pitchFamily="49" charset="-122"/>
              </a:rPr>
              <a:t>	 </a:t>
            </a:r>
            <a:r>
              <a:rPr lang="en-US" altLang="zh-CN" i="1" dirty="0">
                <a:solidFill>
                  <a:srgbClr val="0000CC"/>
                </a:solidFill>
              </a:rPr>
              <a:t>SCD(</a:t>
            </a:r>
            <a:r>
              <a:rPr lang="en-US" altLang="zh-CN" i="1" dirty="0">
                <a:solidFill>
                  <a:srgbClr val="FF0000"/>
                </a:solidFill>
              </a:rPr>
              <a:t>Sno</a:t>
            </a:r>
            <a:r>
              <a:rPr lang="en-US" altLang="zh-CN" i="1" dirty="0">
                <a:solidFill>
                  <a:srgbClr val="0000CC"/>
                </a:solidFill>
              </a:rPr>
              <a:t>,Sname,Age,Dept,Mn,</a:t>
            </a:r>
            <a:r>
              <a:rPr lang="en-US" altLang="zh-CN" i="1" dirty="0">
                <a:solidFill>
                  <a:srgbClr val="FF0000"/>
                </a:solidFill>
              </a:rPr>
              <a:t>Cno</a:t>
            </a:r>
            <a:r>
              <a:rPr lang="en-US" altLang="zh-CN" i="1" dirty="0">
                <a:solidFill>
                  <a:srgbClr val="0000CC"/>
                </a:solidFill>
              </a:rPr>
              <a:t>,Score)</a:t>
            </a:r>
            <a:endParaRPr lang="en-US" altLang="zh-CN" i="1" dirty="0">
              <a:solidFill>
                <a:srgbClr val="0000CC"/>
              </a:solidFill>
            </a:endParaRPr>
          </a:p>
        </p:txBody>
      </p:sp>
      <p:sp>
        <p:nvSpPr>
          <p:cNvPr id="11268" name="Rectangle 3"/>
          <p:cNvSpPr>
            <a:spLocks noGrp="1"/>
          </p:cNvSpPr>
          <p:nvPr>
            <p:ph type="title"/>
          </p:nvPr>
        </p:nvSpPr>
        <p:spPr>
          <a:xfrm>
            <a:off x="685800" y="0"/>
            <a:ext cx="77724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u="sng" dirty="0"/>
              <a:t>6.4.2  1NF</a:t>
            </a:r>
            <a:endParaRPr lang="en-US" altLang="zh-CN" u="sng" dirty="0"/>
          </a:p>
        </p:txBody>
      </p:sp>
      <p:graphicFrame>
        <p:nvGraphicFramePr>
          <p:cNvPr id="14340" name="Group 4"/>
          <p:cNvGraphicFramePr>
            <a:graphicFrameLocks noGrp="1"/>
          </p:cNvGraphicFramePr>
          <p:nvPr/>
        </p:nvGraphicFramePr>
        <p:xfrm>
          <a:off x="381000" y="2133600"/>
          <a:ext cx="8458200" cy="3984625"/>
        </p:xfrm>
        <a:graphic>
          <a:graphicData uri="http://schemas.openxmlformats.org/drawingml/2006/table">
            <a:tbl>
              <a:tblPr/>
              <a:tblGrid>
                <a:gridCol w="990600"/>
                <a:gridCol w="1143000"/>
                <a:gridCol w="914400"/>
                <a:gridCol w="1371600"/>
                <a:gridCol w="1219200"/>
                <a:gridCol w="1143000"/>
                <a:gridCol w="1676400"/>
              </a:tblGrid>
              <a:tr h="46037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学号</a:t>
                      </a:r>
                      <a:endParaRPr kumimoji="1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Sno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姓名</a:t>
                      </a:r>
                      <a:endParaRPr kumimoji="1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Sname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年龄</a:t>
                      </a:r>
                      <a:endParaRPr kumimoji="1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Age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系别</a:t>
                      </a:r>
                      <a:endParaRPr kumimoji="1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Dept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系主任</a:t>
                      </a:r>
                      <a:endParaRPr kumimoji="1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Mn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课程号</a:t>
                      </a:r>
                      <a:endParaRPr kumimoji="1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Cno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成绩</a:t>
                      </a:r>
                      <a:endParaRPr kumimoji="1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Score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6037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S1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李勇</a:t>
                      </a:r>
                      <a:endParaRPr kumimoji="1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18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计算机</a:t>
                      </a:r>
                      <a:endParaRPr kumimoji="1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王平</a:t>
                      </a:r>
                      <a:endParaRPr kumimoji="1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C1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85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</a:tr>
              <a:tr h="46037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S1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李勇</a:t>
                      </a:r>
                      <a:endParaRPr kumimoji="1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18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计算机</a:t>
                      </a:r>
                      <a:endParaRPr kumimoji="1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王平</a:t>
                      </a:r>
                      <a:endParaRPr kumimoji="1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C2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82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</a:tr>
              <a:tr h="46037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S1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李勇</a:t>
                      </a:r>
                      <a:endParaRPr kumimoji="1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18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计算机</a:t>
                      </a:r>
                      <a:endParaRPr kumimoji="1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王平</a:t>
                      </a:r>
                      <a:endParaRPr kumimoji="1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C3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80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</a:tr>
              <a:tr h="46037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S2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99FF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刘晨</a:t>
                      </a:r>
                      <a:endParaRPr kumimoji="1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99FF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17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99FF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计算机</a:t>
                      </a:r>
                      <a:endParaRPr kumimoji="1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99FF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王平</a:t>
                      </a:r>
                      <a:endParaRPr kumimoji="1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99FF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C1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99FF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81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99FF"/>
                    </a:solidFill>
                  </a:tcPr>
                </a:tc>
              </a:tr>
              <a:tr h="46037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S2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99FF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刘晨</a:t>
                      </a:r>
                      <a:endParaRPr kumimoji="1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99FF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17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99FF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计算机</a:t>
                      </a:r>
                      <a:endParaRPr kumimoji="1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99FF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王平</a:t>
                      </a:r>
                      <a:endParaRPr kumimoji="1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99FF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C2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99FF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80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99FF"/>
                    </a:solidFill>
                  </a:tcPr>
                </a:tc>
              </a:tr>
              <a:tr h="46037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S2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99FF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刘晨</a:t>
                      </a:r>
                      <a:endParaRPr kumimoji="1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99FF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17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99FF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计算机</a:t>
                      </a:r>
                      <a:endParaRPr kumimoji="1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99FF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王平</a:t>
                      </a:r>
                      <a:endParaRPr kumimoji="1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99FF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C4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99FF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78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99FF"/>
                    </a:solidFill>
                  </a:tcPr>
                </a:tc>
              </a:tr>
              <a:tr h="46037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S3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王敏</a:t>
                      </a:r>
                      <a:endParaRPr kumimoji="1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18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自控系</a:t>
                      </a:r>
                      <a:endParaRPr kumimoji="1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刘伟</a:t>
                      </a:r>
                      <a:endParaRPr kumimoji="1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C2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87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290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12291" name="Rectangle 2"/>
          <p:cNvSpPr>
            <a:spLocks noGrp="1"/>
          </p:cNvSpPr>
          <p:nvPr>
            <p:ph idx="1"/>
          </p:nvPr>
        </p:nvSpPr>
        <p:spPr>
          <a:xfrm>
            <a:off x="0" y="914400"/>
            <a:ext cx="8915400" cy="5638800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120000"/>
              </a:lnSpc>
            </a:pP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</a:rPr>
              <a:t>1NF</a:t>
            </a:r>
            <a:r>
              <a:rPr lang="zh-CN" altLang="en-US" dirty="0">
                <a:solidFill>
                  <a:schemeClr val="tx1"/>
                </a:solidFill>
                <a:latin typeface="Arial" panose="020B0604020202020204" pitchFamily="34" charset="0"/>
              </a:rPr>
              <a:t>存在的问题</a:t>
            </a: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</a:rPr>
              <a:t>(</a:t>
            </a:r>
            <a:r>
              <a:rPr lang="zh-CN" altLang="en-US" dirty="0">
                <a:solidFill>
                  <a:schemeClr val="tx1"/>
                </a:solidFill>
                <a:latin typeface="Arial" panose="020B0604020202020204" pitchFamily="34" charset="0"/>
              </a:rPr>
              <a:t>续</a:t>
            </a: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</a:rPr>
              <a:t>)</a:t>
            </a:r>
            <a:endParaRPr lang="en-US" altLang="zh-CN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sz="2000" b="0" dirty="0">
                <a:latin typeface="黑体" panose="02010609060101010101" pitchFamily="49" charset="-122"/>
                <a:ea typeface="黑体" panose="02010609060101010101" pitchFamily="49" charset="-122"/>
              </a:rPr>
              <a:t>	</a:t>
            </a:r>
            <a:r>
              <a:rPr lang="zh-CN" altLang="en-US" sz="2800" dirty="0">
                <a:solidFill>
                  <a:schemeClr val="tx1"/>
                </a:solidFill>
                <a:latin typeface="宋体" panose="02010600030101010101" pitchFamily="2" charset="-122"/>
              </a:rPr>
              <a:t>数据冗余</a:t>
            </a:r>
            <a:r>
              <a:rPr lang="en-US" altLang="zh-CN" sz="2800" dirty="0">
                <a:solidFill>
                  <a:schemeClr val="tx1"/>
                </a:solidFill>
                <a:latin typeface="宋体" panose="02010600030101010101" pitchFamily="2" charset="-122"/>
              </a:rPr>
              <a:t>;</a:t>
            </a:r>
            <a:r>
              <a:rPr lang="zh-CN" altLang="en-US" sz="2800" dirty="0">
                <a:solidFill>
                  <a:schemeClr val="tx1"/>
                </a:solidFill>
                <a:latin typeface="宋体" panose="02010600030101010101" pitchFamily="2" charset="-122"/>
              </a:rPr>
              <a:t>更新复杂</a:t>
            </a:r>
            <a:r>
              <a:rPr lang="en-US" altLang="zh-CN" sz="2800" dirty="0">
                <a:solidFill>
                  <a:schemeClr val="tx1"/>
                </a:solidFill>
                <a:latin typeface="宋体" panose="02010600030101010101" pitchFamily="2" charset="-122"/>
              </a:rPr>
              <a:t>;</a:t>
            </a:r>
            <a:r>
              <a:rPr lang="zh-CN" altLang="en-US" sz="2800" dirty="0">
                <a:solidFill>
                  <a:schemeClr val="tx1"/>
                </a:solidFill>
                <a:latin typeface="宋体" panose="02010600030101010101" pitchFamily="2" charset="-122"/>
              </a:rPr>
              <a:t>插入异常</a:t>
            </a:r>
            <a:r>
              <a:rPr lang="en-US" altLang="zh-CN" sz="2800" dirty="0">
                <a:solidFill>
                  <a:schemeClr val="tx1"/>
                </a:solidFill>
                <a:latin typeface="宋体" panose="02010600030101010101" pitchFamily="2" charset="-122"/>
              </a:rPr>
              <a:t>;</a:t>
            </a:r>
            <a:r>
              <a:rPr lang="zh-CN" altLang="en-US" sz="2800" dirty="0">
                <a:solidFill>
                  <a:schemeClr val="tx1"/>
                </a:solidFill>
                <a:latin typeface="宋体" panose="02010600030101010101" pitchFamily="2" charset="-122"/>
              </a:rPr>
              <a:t>删除异常</a:t>
            </a:r>
            <a:endParaRPr lang="zh-CN" altLang="en-US" sz="2800" dirty="0">
              <a:solidFill>
                <a:schemeClr val="tx1"/>
              </a:solidFill>
              <a:latin typeface="宋体" panose="02010600030101010101" pitchFamily="2" charset="-122"/>
            </a:endParaRPr>
          </a:p>
          <a:p>
            <a:pPr eaLnBrk="1" hangingPunct="1">
              <a:lnSpc>
                <a:spcPct val="120000"/>
              </a:lnSpc>
            </a:pPr>
            <a:r>
              <a:rPr lang="en-US" altLang="zh-CN" dirty="0">
                <a:solidFill>
                  <a:schemeClr val="tx1"/>
                </a:solidFill>
              </a:rPr>
              <a:t>5. </a:t>
            </a:r>
            <a:r>
              <a:rPr lang="zh-CN" altLang="en-US" dirty="0">
                <a:solidFill>
                  <a:schemeClr val="tx1"/>
                </a:solidFill>
              </a:rPr>
              <a:t>症由</a:t>
            </a:r>
            <a:r>
              <a:rPr lang="en-US" altLang="zh-CN" dirty="0">
                <a:solidFill>
                  <a:schemeClr val="tx1"/>
                </a:solidFill>
              </a:rPr>
              <a:t>: </a:t>
            </a:r>
            <a:r>
              <a:rPr lang="zh-CN" altLang="en-US" dirty="0">
                <a:latin typeface="宋体" panose="02010600030101010101" pitchFamily="2" charset="-122"/>
              </a:rPr>
              <a:t>非主属性部分函数依赖于候选码</a:t>
            </a:r>
            <a:endParaRPr lang="zh-CN" altLang="en-US" dirty="0">
              <a:latin typeface="宋体" panose="02010600030101010101" pitchFamily="2" charset="-122"/>
            </a:endParaRP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dirty="0">
                <a:latin typeface="宋体" panose="02010600030101010101" pitchFamily="2" charset="-122"/>
              </a:rPr>
              <a:t>	</a:t>
            </a:r>
            <a:r>
              <a:rPr lang="zh-CN" altLang="en-US" sz="2800" dirty="0">
                <a:solidFill>
                  <a:schemeClr val="tx1"/>
                </a:solidFill>
                <a:latin typeface="宋体" panose="02010600030101010101" pitchFamily="2" charset="-122"/>
              </a:rPr>
              <a:t>候选码</a:t>
            </a:r>
            <a:r>
              <a:rPr lang="en-US" altLang="zh-CN" sz="2800" dirty="0">
                <a:solidFill>
                  <a:schemeClr val="tx1"/>
                </a:solidFill>
                <a:latin typeface="宋体" panose="02010600030101010101" pitchFamily="2" charset="-122"/>
              </a:rPr>
              <a:t>: </a:t>
            </a:r>
            <a:r>
              <a:rPr lang="en-US" altLang="zh-CN" sz="2800" i="1" dirty="0">
                <a:solidFill>
                  <a:schemeClr val="tx1"/>
                </a:solidFill>
                <a:latin typeface="Arial" panose="020B0604020202020204" pitchFamily="34" charset="0"/>
              </a:rPr>
              <a:t>(Sno,Cno)</a:t>
            </a:r>
            <a:r>
              <a:rPr lang="en-US" altLang="zh-CN" sz="2800" i="1" dirty="0">
                <a:solidFill>
                  <a:schemeClr val="tx1"/>
                </a:solidFill>
                <a:latin typeface="宋体" panose="02010600030101010101" pitchFamily="2" charset="-122"/>
              </a:rPr>
              <a:t> </a:t>
            </a:r>
            <a:r>
              <a:rPr lang="en-US" altLang="zh-CN" sz="2800" i="1" dirty="0">
                <a:solidFill>
                  <a:schemeClr val="tx1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 U</a:t>
            </a:r>
            <a:endParaRPr lang="en-US" altLang="zh-CN" sz="2800" i="1" dirty="0">
              <a:solidFill>
                <a:schemeClr val="tx1"/>
              </a:solidFill>
              <a:latin typeface="Arial" panose="020B0604020202020204" pitchFamily="34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sz="2800" dirty="0">
                <a:solidFill>
                  <a:schemeClr val="tx1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	</a:t>
            </a:r>
            <a:r>
              <a:rPr lang="zh-CN" altLang="en-US" sz="2800" dirty="0">
                <a:solidFill>
                  <a:schemeClr val="tx1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注意到</a:t>
            </a:r>
            <a:r>
              <a:rPr lang="en-US" altLang="zh-CN" sz="2800" dirty="0">
                <a:solidFill>
                  <a:schemeClr val="tx1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:  </a:t>
            </a:r>
            <a:r>
              <a:rPr lang="en-US" altLang="zh-CN" sz="2800" i="1" dirty="0">
                <a:solidFill>
                  <a:schemeClr val="tx1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Sno (sno,sname, age,dept,mn)</a:t>
            </a:r>
            <a:endParaRPr lang="en-US" altLang="zh-CN" sz="2800" i="1" dirty="0">
              <a:solidFill>
                <a:schemeClr val="tx1"/>
              </a:solidFill>
              <a:latin typeface="Arial" panose="020B0604020202020204" pitchFamily="34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sz="2800" i="1" dirty="0">
                <a:solidFill>
                  <a:schemeClr val="tx1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	</a:t>
            </a:r>
            <a:r>
              <a:rPr lang="zh-CN" altLang="en-US" sz="2800" dirty="0">
                <a:solidFill>
                  <a:schemeClr val="tx1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所以</a:t>
            </a:r>
            <a:r>
              <a:rPr lang="en-US" altLang="zh-CN" sz="2800" dirty="0">
                <a:solidFill>
                  <a:schemeClr val="tx1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, </a:t>
            </a:r>
            <a:r>
              <a:rPr lang="zh-CN" altLang="en-US" sz="2800" dirty="0">
                <a:solidFill>
                  <a:schemeClr val="tx1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姓名、年龄、系别和系主任部分依赖于候选码。</a:t>
            </a:r>
            <a:endParaRPr lang="zh-CN" altLang="en-US" sz="2800" dirty="0">
              <a:solidFill>
                <a:schemeClr val="tx1"/>
              </a:solidFill>
              <a:latin typeface="Arial" panose="020B0604020202020204" pitchFamily="34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120000"/>
              </a:lnSpc>
              <a:spcBef>
                <a:spcPct val="0"/>
              </a:spcBef>
            </a:pPr>
            <a:r>
              <a:rPr lang="en-US" altLang="zh-CN" dirty="0">
                <a:solidFill>
                  <a:schemeClr val="tx1"/>
                </a:solidFill>
              </a:rPr>
              <a:t>6. </a:t>
            </a:r>
            <a:r>
              <a:rPr lang="zh-CN" altLang="en-US" dirty="0">
                <a:solidFill>
                  <a:schemeClr val="tx1"/>
                </a:solidFill>
              </a:rPr>
              <a:t>解决方法：规范化</a:t>
            </a:r>
            <a:r>
              <a:rPr lang="en-US" altLang="zh-CN" dirty="0">
                <a:solidFill>
                  <a:schemeClr val="tx1"/>
                </a:solidFill>
              </a:rPr>
              <a:t>(</a:t>
            </a:r>
            <a:r>
              <a:rPr lang="zh-CN" altLang="en-US" dirty="0">
                <a:solidFill>
                  <a:schemeClr val="tx1"/>
                </a:solidFill>
              </a:rPr>
              <a:t>投影分解</a:t>
            </a:r>
            <a:r>
              <a:rPr lang="en-US" altLang="zh-CN" dirty="0">
                <a:solidFill>
                  <a:schemeClr val="tx1"/>
                </a:solidFill>
              </a:rPr>
              <a:t>)</a:t>
            </a:r>
            <a:endParaRPr lang="en-US" altLang="zh-CN" dirty="0">
              <a:solidFill>
                <a:schemeClr val="tx1"/>
              </a:solidFill>
            </a:endParaRPr>
          </a:p>
          <a:p>
            <a:pPr lvl="1" eaLnBrk="1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dirty="0"/>
              <a:t>消除非主属性对码的部分依赖。</a:t>
            </a:r>
            <a:endParaRPr lang="zh-CN" altLang="en-US" dirty="0"/>
          </a:p>
          <a:p>
            <a:pPr lvl="1" eaLnBrk="1" hangingPunct="1">
              <a:lnSpc>
                <a:spcPct val="120000"/>
              </a:lnSpc>
              <a:spcBef>
                <a:spcPct val="0"/>
              </a:spcBef>
            </a:pPr>
            <a:r>
              <a:rPr lang="zh-CN" altLang="en-US" dirty="0"/>
              <a:t>所有完全函数依赖于码的属性组成一个关系模式</a:t>
            </a:r>
            <a:endParaRPr lang="zh-CN" altLang="en-US" dirty="0"/>
          </a:p>
          <a:p>
            <a:pPr lvl="1" eaLnBrk="1" hangingPunct="1">
              <a:lnSpc>
                <a:spcPct val="120000"/>
              </a:lnSpc>
              <a:spcBef>
                <a:spcPct val="0"/>
              </a:spcBef>
            </a:pPr>
            <a:r>
              <a:rPr lang="zh-CN" altLang="en-US" dirty="0"/>
              <a:t>所有部分</a:t>
            </a:r>
            <a:r>
              <a:rPr lang="en-US" altLang="zh-CN" dirty="0"/>
              <a:t>FD</a:t>
            </a:r>
            <a:r>
              <a:rPr lang="zh-CN" altLang="en-US" dirty="0"/>
              <a:t>于码的属性组成一个关系模式</a:t>
            </a:r>
            <a:endParaRPr lang="zh-CN" altLang="en-US" dirty="0"/>
          </a:p>
        </p:txBody>
      </p:sp>
      <p:sp>
        <p:nvSpPr>
          <p:cNvPr id="12292" name="Rectangle 3"/>
          <p:cNvSpPr>
            <a:spLocks noGrp="1"/>
          </p:cNvSpPr>
          <p:nvPr>
            <p:ph type="title"/>
          </p:nvPr>
        </p:nvSpPr>
        <p:spPr>
          <a:xfrm>
            <a:off x="685800" y="0"/>
            <a:ext cx="77724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u="sng" dirty="0"/>
              <a:t>6.4.2  1NF</a:t>
            </a:r>
            <a:endParaRPr lang="en-US" altLang="zh-CN" u="sng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314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13315" name="Rectangle 2"/>
          <p:cNvSpPr>
            <a:spLocks noGrp="1"/>
          </p:cNvSpPr>
          <p:nvPr>
            <p:ph idx="1"/>
          </p:nvPr>
        </p:nvSpPr>
        <p:spPr>
          <a:xfrm>
            <a:off x="228600" y="685800"/>
            <a:ext cx="8610600" cy="762000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120000"/>
              </a:lnSpc>
            </a:pPr>
            <a:r>
              <a:rPr lang="zh-CN" altLang="en-US" dirty="0">
                <a:solidFill>
                  <a:schemeClr val="tx1"/>
                </a:solidFill>
              </a:rPr>
              <a:t>分解后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3316" name="Rectangle 3"/>
          <p:cNvSpPr>
            <a:spLocks noGrp="1"/>
          </p:cNvSpPr>
          <p:nvPr>
            <p:ph type="title"/>
          </p:nvPr>
        </p:nvSpPr>
        <p:spPr>
          <a:xfrm>
            <a:off x="685800" y="0"/>
            <a:ext cx="77724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u="sng" dirty="0"/>
              <a:t>6.4.2  1NF</a:t>
            </a:r>
            <a:endParaRPr lang="en-US" altLang="zh-CN" u="sng" dirty="0"/>
          </a:p>
        </p:txBody>
      </p:sp>
      <p:graphicFrame>
        <p:nvGraphicFramePr>
          <p:cNvPr id="16388" name="Group 4"/>
          <p:cNvGraphicFramePr>
            <a:graphicFrameLocks noGrp="1"/>
          </p:cNvGraphicFramePr>
          <p:nvPr/>
        </p:nvGraphicFramePr>
        <p:xfrm>
          <a:off x="228600" y="2286000"/>
          <a:ext cx="5181600" cy="2143125"/>
        </p:xfrm>
        <a:graphic>
          <a:graphicData uri="http://schemas.openxmlformats.org/drawingml/2006/table">
            <a:tbl>
              <a:tblPr/>
              <a:tblGrid>
                <a:gridCol w="935038"/>
                <a:gridCol w="1079500"/>
                <a:gridCol w="863600"/>
                <a:gridCol w="1295400"/>
                <a:gridCol w="1008062"/>
              </a:tblGrid>
              <a:tr h="46037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学号</a:t>
                      </a:r>
                      <a:endParaRPr kumimoji="1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Sno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姓名</a:t>
                      </a:r>
                      <a:endParaRPr kumimoji="1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Sname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年龄</a:t>
                      </a:r>
                      <a:endParaRPr kumimoji="1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Age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系别</a:t>
                      </a:r>
                      <a:endParaRPr kumimoji="1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Dept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系主任</a:t>
                      </a:r>
                      <a:endParaRPr kumimoji="1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Mn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6037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S1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李勇</a:t>
                      </a:r>
                      <a:endParaRPr kumimoji="1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18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计算机</a:t>
                      </a:r>
                      <a:endParaRPr kumimoji="1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王平</a:t>
                      </a:r>
                      <a:endParaRPr kumimoji="1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</a:tr>
              <a:tr h="46037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S2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99FF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刘晨</a:t>
                      </a:r>
                      <a:endParaRPr kumimoji="1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99FF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17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99FF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计算机</a:t>
                      </a:r>
                      <a:endParaRPr kumimoji="1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99FF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王平</a:t>
                      </a:r>
                      <a:endParaRPr kumimoji="1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99FF"/>
                    </a:solidFill>
                  </a:tcPr>
                </a:tc>
              </a:tr>
              <a:tr h="46037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S3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王敏</a:t>
                      </a:r>
                      <a:endParaRPr kumimoji="1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18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自控系</a:t>
                      </a:r>
                      <a:endParaRPr kumimoji="1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刘伟</a:t>
                      </a:r>
                      <a:endParaRPr kumimoji="1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6420" name="Group 36"/>
          <p:cNvGraphicFramePr>
            <a:graphicFrameLocks noGrp="1"/>
          </p:cNvGraphicFramePr>
          <p:nvPr/>
        </p:nvGraphicFramePr>
        <p:xfrm>
          <a:off x="5638800" y="2273300"/>
          <a:ext cx="3276600" cy="3984625"/>
        </p:xfrm>
        <a:graphic>
          <a:graphicData uri="http://schemas.openxmlformats.org/drawingml/2006/table">
            <a:tbl>
              <a:tblPr/>
              <a:tblGrid>
                <a:gridCol w="990600"/>
                <a:gridCol w="1143000"/>
                <a:gridCol w="1143000"/>
              </a:tblGrid>
              <a:tr h="46037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学号</a:t>
                      </a:r>
                      <a:endParaRPr kumimoji="1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Sno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课程号</a:t>
                      </a:r>
                      <a:endParaRPr kumimoji="1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Cno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成绩</a:t>
                      </a:r>
                      <a:endParaRPr kumimoji="1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Score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6037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S1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C1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85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</a:tr>
              <a:tr h="46037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S1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C2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82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</a:tr>
              <a:tr h="46037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S1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C3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80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</a:tr>
              <a:tr h="46037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S2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99FF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C1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99FF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81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99FF"/>
                    </a:solidFill>
                  </a:tcPr>
                </a:tc>
              </a:tr>
              <a:tr h="46037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S2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99FF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C2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99FF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80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99FF"/>
                    </a:solidFill>
                  </a:tcPr>
                </a:tc>
              </a:tr>
              <a:tr h="46037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S2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99FF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C4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99FF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78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99FF"/>
                    </a:solidFill>
                  </a:tcPr>
                </a:tc>
              </a:tr>
              <a:tr h="46037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S3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C2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87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</a:tr>
            </a:tbl>
          </a:graphicData>
        </a:graphic>
      </p:graphicFrame>
      <p:sp>
        <p:nvSpPr>
          <p:cNvPr id="13387" name="Text Box 74"/>
          <p:cNvSpPr txBox="1"/>
          <p:nvPr/>
        </p:nvSpPr>
        <p:spPr>
          <a:xfrm>
            <a:off x="2133600" y="1524000"/>
            <a:ext cx="703263" cy="579438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kumimoji="1"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kumimoji="1"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dirty="0">
                <a:solidFill>
                  <a:schemeClr val="tx1"/>
                </a:solidFill>
                <a:ea typeface="经典综艺体简" pitchFamily="49" charset="-122"/>
              </a:rPr>
              <a:t>SD</a:t>
            </a:r>
            <a:endParaRPr lang="en-US" altLang="zh-CN" dirty="0">
              <a:solidFill>
                <a:schemeClr val="tx1"/>
              </a:solidFill>
              <a:ea typeface="经典综艺体简" pitchFamily="49" charset="-122"/>
            </a:endParaRPr>
          </a:p>
        </p:txBody>
      </p:sp>
      <p:sp>
        <p:nvSpPr>
          <p:cNvPr id="13388" name="Text Box 75"/>
          <p:cNvSpPr txBox="1"/>
          <p:nvPr/>
        </p:nvSpPr>
        <p:spPr>
          <a:xfrm>
            <a:off x="6781800" y="1524000"/>
            <a:ext cx="703263" cy="579438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kumimoji="1"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kumimoji="1"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dirty="0">
                <a:solidFill>
                  <a:schemeClr val="tx1"/>
                </a:solidFill>
                <a:ea typeface="经典综艺体简" pitchFamily="49" charset="-122"/>
              </a:rPr>
              <a:t>SC</a:t>
            </a:r>
            <a:endParaRPr lang="en-US" altLang="zh-CN" dirty="0">
              <a:solidFill>
                <a:schemeClr val="tx1"/>
              </a:solidFill>
              <a:ea typeface="经典综艺体简" pitchFamily="49" charset="-122"/>
            </a:endParaRPr>
          </a:p>
        </p:txBody>
      </p:sp>
      <p:sp>
        <p:nvSpPr>
          <p:cNvPr id="13389" name="Text Box 76"/>
          <p:cNvSpPr txBox="1"/>
          <p:nvPr/>
        </p:nvSpPr>
        <p:spPr>
          <a:xfrm>
            <a:off x="381000" y="4800600"/>
            <a:ext cx="4876800" cy="1066800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kumimoji="1"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kumimoji="1"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FontTx/>
              <a:buNone/>
            </a:pPr>
            <a:r>
              <a:rPr lang="zh-CN" altLang="en-US" dirty="0">
                <a:solidFill>
                  <a:srgbClr val="0000CC"/>
                </a:solidFill>
              </a:rPr>
              <a:t>分解后消除了哪些弊端？还保留了哪些弊端</a:t>
            </a:r>
            <a:r>
              <a:rPr lang="en-US" altLang="zh-CN" dirty="0">
                <a:solidFill>
                  <a:srgbClr val="0000CC"/>
                </a:solidFill>
              </a:rPr>
              <a:t>?</a:t>
            </a:r>
            <a:endParaRPr lang="en-US" altLang="zh-CN" dirty="0">
              <a:solidFill>
                <a:srgbClr val="0000CC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338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14339" name="Rectangle 2"/>
          <p:cNvSpPr>
            <a:spLocks noGrp="1"/>
          </p:cNvSpPr>
          <p:nvPr>
            <p:ph idx="1"/>
          </p:nvPr>
        </p:nvSpPr>
        <p:spPr>
          <a:xfrm>
            <a:off x="1066800" y="914400"/>
            <a:ext cx="6629400" cy="4876800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dirty="0">
                <a:solidFill>
                  <a:schemeClr val="tx1"/>
                </a:solidFill>
              </a:rPr>
              <a:t>6.4.1 </a:t>
            </a:r>
            <a:r>
              <a:rPr lang="zh-CN" altLang="en-US" dirty="0">
                <a:solidFill>
                  <a:schemeClr val="tx1"/>
                </a:solidFill>
              </a:rPr>
              <a:t>范式</a:t>
            </a:r>
            <a:endParaRPr lang="zh-CN" altLang="en-US" dirty="0">
              <a:solidFill>
                <a:schemeClr val="tx1"/>
              </a:solidFill>
            </a:endParaRP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dirty="0">
                <a:solidFill>
                  <a:schemeClr val="tx1"/>
                </a:solidFill>
              </a:rPr>
              <a:t>6.4.2 1NF</a:t>
            </a:r>
            <a:endParaRPr lang="en-US" altLang="zh-CN" dirty="0">
              <a:solidFill>
                <a:schemeClr val="tx1"/>
              </a:solidFill>
            </a:endParaRP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dirty="0">
                <a:solidFill>
                  <a:srgbClr val="FF0000"/>
                </a:solidFill>
              </a:rPr>
              <a:t>6.4.3 2NF</a:t>
            </a:r>
            <a:endParaRPr lang="en-US" altLang="zh-CN" dirty="0">
              <a:solidFill>
                <a:srgbClr val="FF0000"/>
              </a:solidFill>
            </a:endParaRP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dirty="0">
                <a:solidFill>
                  <a:schemeClr val="tx1"/>
                </a:solidFill>
              </a:rPr>
              <a:t>6.4.4 3NF</a:t>
            </a:r>
            <a:endParaRPr lang="en-US" altLang="zh-CN" dirty="0">
              <a:solidFill>
                <a:schemeClr val="tx1"/>
              </a:solidFill>
            </a:endParaRP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dirty="0">
                <a:solidFill>
                  <a:schemeClr val="tx1"/>
                </a:solidFill>
              </a:rPr>
              <a:t>6.4.5 BCNF</a:t>
            </a:r>
            <a:endParaRPr lang="en-US" altLang="zh-CN" dirty="0">
              <a:solidFill>
                <a:schemeClr val="tx1"/>
              </a:solidFill>
            </a:endParaRP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dirty="0">
                <a:solidFill>
                  <a:schemeClr val="tx1"/>
                </a:solidFill>
              </a:rPr>
              <a:t>6.4.6 </a:t>
            </a:r>
            <a:r>
              <a:rPr lang="zh-CN" altLang="en-US" dirty="0">
                <a:solidFill>
                  <a:schemeClr val="tx1"/>
                </a:solidFill>
              </a:rPr>
              <a:t>多值依赖</a:t>
            </a:r>
            <a:endParaRPr lang="zh-CN" altLang="en-US" dirty="0">
              <a:solidFill>
                <a:schemeClr val="tx1"/>
              </a:solidFill>
            </a:endParaRP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dirty="0">
                <a:solidFill>
                  <a:schemeClr val="tx1"/>
                </a:solidFill>
              </a:rPr>
              <a:t>6.4.7 4NF</a:t>
            </a:r>
            <a:endParaRPr lang="en-US" altLang="zh-CN" dirty="0">
              <a:solidFill>
                <a:schemeClr val="tx1"/>
              </a:solidFill>
            </a:endParaRP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dirty="0">
                <a:solidFill>
                  <a:schemeClr val="tx1"/>
                </a:solidFill>
              </a:rPr>
              <a:t>6.4.8 </a:t>
            </a:r>
            <a:r>
              <a:rPr lang="zh-CN" altLang="en-US" dirty="0">
                <a:solidFill>
                  <a:schemeClr val="tx1"/>
                </a:solidFill>
              </a:rPr>
              <a:t>规范化小结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4340" name="Rectangle 3"/>
          <p:cNvSpPr>
            <a:spLocks noGrp="1"/>
          </p:cNvSpPr>
          <p:nvPr>
            <p:ph type="title"/>
          </p:nvPr>
        </p:nvSpPr>
        <p:spPr>
          <a:xfrm>
            <a:off x="685800" y="0"/>
            <a:ext cx="77724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dirty="0"/>
              <a:t>6.4  </a:t>
            </a:r>
            <a:r>
              <a:rPr lang="zh-CN" altLang="en-US" dirty="0"/>
              <a:t>关系模式的规范化</a:t>
            </a:r>
            <a:endParaRPr lang="zh-CN" alt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362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15363" name="Rectangle 2"/>
          <p:cNvSpPr>
            <a:spLocks noGrp="1"/>
          </p:cNvSpPr>
          <p:nvPr>
            <p:ph idx="1"/>
          </p:nvPr>
        </p:nvSpPr>
        <p:spPr>
          <a:xfrm>
            <a:off x="76200" y="914400"/>
            <a:ext cx="8915400" cy="5638800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140000"/>
              </a:lnSpc>
            </a:pPr>
            <a:r>
              <a:rPr lang="en-US" altLang="zh-CN" sz="3600" dirty="0">
                <a:solidFill>
                  <a:schemeClr val="tx1"/>
                </a:solidFill>
              </a:rPr>
              <a:t>1.</a:t>
            </a:r>
            <a:r>
              <a:rPr lang="zh-CN" altLang="en-US" sz="3600" dirty="0">
                <a:solidFill>
                  <a:schemeClr val="tx1"/>
                </a:solidFill>
                <a:latin typeface="宋体" panose="02010600030101010101" pitchFamily="2" charset="-122"/>
              </a:rPr>
              <a:t>定义</a:t>
            </a:r>
            <a:endParaRPr lang="zh-CN" altLang="en-US" sz="3600" dirty="0">
              <a:solidFill>
                <a:schemeClr val="tx1"/>
              </a:solidFill>
              <a:latin typeface="宋体" panose="02010600030101010101" pitchFamily="2" charset="-122"/>
            </a:endParaRPr>
          </a:p>
          <a:p>
            <a:pPr algn="just" eaLnBrk="1" hangingPunct="1">
              <a:lnSpc>
                <a:spcPct val="90000"/>
              </a:lnSpc>
              <a:buNone/>
            </a:pPr>
            <a:r>
              <a:rPr lang="zh-CN" altLang="en-US" sz="2400" b="0" dirty="0">
                <a:latin typeface="黑体" panose="02010609060101010101" pitchFamily="49" charset="-122"/>
                <a:ea typeface="黑体" panose="02010609060101010101" pitchFamily="49" charset="-122"/>
              </a:rPr>
              <a:t>	</a:t>
            </a:r>
            <a:r>
              <a:rPr lang="zh-CN" altLang="en-US" dirty="0">
                <a:solidFill>
                  <a:srgbClr val="FF0000"/>
                </a:solidFill>
              </a:rPr>
              <a:t>定义</a:t>
            </a:r>
            <a:r>
              <a:rPr lang="en-US" altLang="zh-CN" dirty="0">
                <a:solidFill>
                  <a:srgbClr val="FF0000"/>
                </a:solidFill>
              </a:rPr>
              <a:t>6.12 </a:t>
            </a:r>
            <a:r>
              <a:rPr lang="zh-CN" altLang="en-US" dirty="0">
                <a:solidFill>
                  <a:schemeClr val="tx1"/>
                </a:solidFill>
              </a:rPr>
              <a:t>若关系模式</a:t>
            </a: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</a:rPr>
              <a:t>R∈1NF</a:t>
            </a:r>
            <a:r>
              <a:rPr lang="zh-CN" altLang="en-US" dirty="0">
                <a:solidFill>
                  <a:schemeClr val="tx1"/>
                </a:solidFill>
              </a:rPr>
              <a:t>，并且每一个</a:t>
            </a:r>
            <a:r>
              <a:rPr lang="zh-CN" altLang="en-US" dirty="0">
                <a:solidFill>
                  <a:srgbClr val="0000CC"/>
                </a:solidFill>
              </a:rPr>
              <a:t>非主</a:t>
            </a:r>
            <a:r>
              <a:rPr lang="zh-CN" altLang="en-US" dirty="0">
                <a:solidFill>
                  <a:schemeClr val="tx1"/>
                </a:solidFill>
              </a:rPr>
              <a:t>属性都</a:t>
            </a:r>
            <a:r>
              <a:rPr lang="zh-CN" altLang="en-US" dirty="0">
                <a:solidFill>
                  <a:srgbClr val="0000CC"/>
                </a:solidFill>
              </a:rPr>
              <a:t>完全</a:t>
            </a:r>
            <a:r>
              <a:rPr lang="zh-CN" altLang="en-US" dirty="0">
                <a:solidFill>
                  <a:schemeClr val="tx1"/>
                </a:solidFill>
              </a:rPr>
              <a:t>函数依赖于</a:t>
            </a:r>
            <a:r>
              <a:rPr lang="en-US" altLang="zh-CN" dirty="0">
                <a:solidFill>
                  <a:schemeClr val="tx1"/>
                </a:solidFill>
              </a:rPr>
              <a:t>R</a:t>
            </a:r>
            <a:r>
              <a:rPr lang="zh-CN" altLang="en-US" dirty="0">
                <a:solidFill>
                  <a:schemeClr val="tx1"/>
                </a:solidFill>
              </a:rPr>
              <a:t>的码，则</a:t>
            </a:r>
            <a:r>
              <a:rPr lang="en-US" altLang="zh-CN" dirty="0">
                <a:solidFill>
                  <a:schemeClr val="tx1"/>
                </a:solidFill>
              </a:rPr>
              <a:t>R∈2NF</a:t>
            </a:r>
            <a:r>
              <a:rPr lang="zh-CN" altLang="en-US" dirty="0">
                <a:solidFill>
                  <a:schemeClr val="tx1"/>
                </a:solidFill>
              </a:rPr>
              <a:t>。</a:t>
            </a:r>
            <a:endParaRPr lang="zh-CN" altLang="en-US" dirty="0">
              <a:solidFill>
                <a:schemeClr val="tx1"/>
              </a:solidFill>
              <a:latin typeface="宋体" panose="02010600030101010101" pitchFamily="2" charset="-122"/>
            </a:endParaRPr>
          </a:p>
          <a:p>
            <a:pPr algn="just" eaLnBrk="1" hangingPunct="1">
              <a:lnSpc>
                <a:spcPct val="90000"/>
              </a:lnSpc>
              <a:buNone/>
            </a:pPr>
            <a:r>
              <a:rPr lang="en-US" altLang="zh-CN" dirty="0">
                <a:solidFill>
                  <a:schemeClr val="tx1"/>
                </a:solidFill>
              </a:rPr>
              <a:t>[</a:t>
            </a:r>
            <a:r>
              <a:rPr lang="zh-CN" altLang="en-US" dirty="0">
                <a:solidFill>
                  <a:schemeClr val="tx1"/>
                </a:solidFill>
                <a:latin typeface="宋体" panose="02010600030101010101" pitchFamily="2" charset="-122"/>
              </a:rPr>
              <a:t>例</a:t>
            </a:r>
            <a:r>
              <a:rPr lang="en-US" altLang="zh-CN" dirty="0">
                <a:solidFill>
                  <a:schemeClr val="tx1"/>
                </a:solidFill>
              </a:rPr>
              <a:t>5.10]</a:t>
            </a:r>
            <a:r>
              <a:rPr lang="en-US" altLang="zh-CN" dirty="0">
                <a:solidFill>
                  <a:schemeClr val="tx1"/>
                </a:solidFill>
                <a:latin typeface="宋体" panose="02010600030101010101" pitchFamily="2" charset="-122"/>
              </a:rPr>
              <a:t> </a:t>
            </a:r>
            <a:r>
              <a:rPr lang="en-US" altLang="zh-CN" i="1" dirty="0">
                <a:solidFill>
                  <a:srgbClr val="0000CC"/>
                </a:solidFill>
                <a:latin typeface="Arial" panose="020B0604020202020204" pitchFamily="34" charset="0"/>
              </a:rPr>
              <a:t>SD(sno,sname,age,dept,mn)</a:t>
            </a:r>
            <a:r>
              <a:rPr lang="en-US" altLang="zh-CN" i="1" dirty="0">
                <a:solidFill>
                  <a:schemeClr val="tx1"/>
                </a:solidFill>
                <a:latin typeface="Arial" panose="020B0604020202020204" pitchFamily="34" charset="0"/>
              </a:rPr>
              <a:t>,</a:t>
            </a:r>
            <a:endParaRPr lang="en-US" altLang="zh-CN" i="1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algn="just" eaLnBrk="1" hangingPunct="1">
              <a:lnSpc>
                <a:spcPct val="90000"/>
              </a:lnSpc>
              <a:buNone/>
            </a:pPr>
            <a:r>
              <a:rPr lang="en-US" altLang="zh-CN" i="1" dirty="0">
                <a:solidFill>
                  <a:schemeClr val="tx1"/>
                </a:solidFill>
                <a:latin typeface="Arial" panose="020B0604020202020204" pitchFamily="34" charset="0"/>
              </a:rPr>
              <a:t>           F={sno</a:t>
            </a:r>
            <a:r>
              <a:rPr lang="en-US" altLang="zh-CN" i="1" dirty="0">
                <a:solidFill>
                  <a:schemeClr val="tx1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sname, </a:t>
            </a:r>
            <a:r>
              <a:rPr lang="en-US" altLang="zh-CN" i="1" dirty="0">
                <a:solidFill>
                  <a:schemeClr val="tx1"/>
                </a:solidFill>
                <a:latin typeface="Arial" panose="020B0604020202020204" pitchFamily="34" charset="0"/>
              </a:rPr>
              <a:t>sno</a:t>
            </a:r>
            <a:r>
              <a:rPr lang="en-US" altLang="zh-CN" i="1" dirty="0">
                <a:solidFill>
                  <a:schemeClr val="tx1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age, </a:t>
            </a:r>
            <a:r>
              <a:rPr lang="en-US" altLang="zh-CN" i="1" dirty="0">
                <a:solidFill>
                  <a:schemeClr val="tx1"/>
                </a:solidFill>
                <a:latin typeface="Arial" panose="020B0604020202020204" pitchFamily="34" charset="0"/>
              </a:rPr>
              <a:t>sno</a:t>
            </a:r>
            <a:r>
              <a:rPr lang="en-US" altLang="zh-CN" i="1" dirty="0">
                <a:solidFill>
                  <a:schemeClr val="tx1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dept,</a:t>
            </a:r>
            <a:endParaRPr lang="en-US" altLang="zh-CN" i="1" dirty="0">
              <a:solidFill>
                <a:schemeClr val="tx1"/>
              </a:solidFill>
              <a:latin typeface="Arial" panose="020B0604020202020204" pitchFamily="34" charset="0"/>
              <a:sym typeface="Symbol" panose="05050102010706020507" pitchFamily="18" charset="2"/>
            </a:endParaRPr>
          </a:p>
          <a:p>
            <a:pPr algn="just" eaLnBrk="1" hangingPunct="1">
              <a:lnSpc>
                <a:spcPct val="90000"/>
              </a:lnSpc>
              <a:buNone/>
            </a:pPr>
            <a:r>
              <a:rPr lang="en-US" altLang="zh-CN" i="1" dirty="0">
                <a:solidFill>
                  <a:schemeClr val="tx1"/>
                </a:solidFill>
                <a:latin typeface="Arial" panose="020B0604020202020204" pitchFamily="34" charset="0"/>
              </a:rPr>
              <a:t>		       dept</a:t>
            </a:r>
            <a:r>
              <a:rPr lang="en-US" altLang="zh-CN" i="1" dirty="0">
                <a:solidFill>
                  <a:schemeClr val="tx1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mn</a:t>
            </a:r>
            <a:r>
              <a:rPr lang="en-US" altLang="zh-CN" i="1" dirty="0">
                <a:solidFill>
                  <a:schemeClr val="tx1"/>
                </a:solidFill>
                <a:latin typeface="Arial" panose="020B0604020202020204" pitchFamily="34" charset="0"/>
              </a:rPr>
              <a:t>}.</a:t>
            </a:r>
            <a:endParaRPr lang="en-US" altLang="zh-CN" i="1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algn="just" eaLnBrk="1" hangingPunct="1">
              <a:lnSpc>
                <a:spcPct val="90000"/>
              </a:lnSpc>
              <a:buNone/>
            </a:pPr>
            <a:r>
              <a:rPr lang="en-US" altLang="zh-CN" i="1" dirty="0">
                <a:solidFill>
                  <a:schemeClr val="tx1"/>
                </a:solidFill>
                <a:latin typeface="Arial" panose="020B0604020202020204" pitchFamily="34" charset="0"/>
              </a:rPr>
              <a:t>          </a:t>
            </a:r>
            <a:r>
              <a:rPr lang="zh-CN" altLang="en-US" i="1" dirty="0">
                <a:solidFill>
                  <a:schemeClr val="tx1"/>
                </a:solidFill>
                <a:latin typeface="Arial" panose="020B0604020202020204" pitchFamily="34" charset="0"/>
              </a:rPr>
              <a:t>码为</a:t>
            </a:r>
            <a:r>
              <a:rPr lang="en-US" altLang="zh-CN" i="1" dirty="0">
                <a:solidFill>
                  <a:schemeClr val="tx1"/>
                </a:solidFill>
                <a:latin typeface="Arial" panose="020B0604020202020204" pitchFamily="34" charset="0"/>
              </a:rPr>
              <a:t>sno,  SD </a:t>
            </a:r>
            <a:r>
              <a:rPr lang="en-US" altLang="zh-CN" dirty="0">
                <a:solidFill>
                  <a:schemeClr val="tx1"/>
                </a:solidFill>
              </a:rPr>
              <a:t>∈</a:t>
            </a:r>
            <a:r>
              <a:rPr lang="en-US" altLang="zh-CN" i="1" dirty="0">
                <a:solidFill>
                  <a:schemeClr val="tx1"/>
                </a:solidFill>
                <a:latin typeface="Arial" panose="020B0604020202020204" pitchFamily="34" charset="0"/>
              </a:rPr>
              <a:t>2NF</a:t>
            </a:r>
            <a:r>
              <a:rPr lang="zh-CN" altLang="en-US" i="1" dirty="0">
                <a:solidFill>
                  <a:schemeClr val="tx1"/>
                </a:solidFill>
                <a:latin typeface="Arial" panose="020B0604020202020204" pitchFamily="34" charset="0"/>
              </a:rPr>
              <a:t>。</a:t>
            </a:r>
            <a:endParaRPr lang="zh-CN" altLang="en-US" i="1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algn="just" eaLnBrk="1" hangingPunct="1">
              <a:lnSpc>
                <a:spcPct val="90000"/>
              </a:lnSpc>
              <a:buNone/>
            </a:pPr>
            <a:r>
              <a:rPr lang="zh-CN" altLang="en-US" i="1" dirty="0">
                <a:solidFill>
                  <a:schemeClr val="tx1"/>
                </a:solidFill>
                <a:latin typeface="Arial" panose="020B0604020202020204" pitchFamily="34" charset="0"/>
              </a:rPr>
              <a:t>		 </a:t>
            </a:r>
            <a:r>
              <a:rPr lang="en-US" altLang="zh-CN" i="1" dirty="0">
                <a:solidFill>
                  <a:srgbClr val="0000CC"/>
                </a:solidFill>
                <a:latin typeface="Arial" panose="020B0604020202020204" pitchFamily="34" charset="0"/>
              </a:rPr>
              <a:t>SC(sno,cno,score)</a:t>
            </a:r>
            <a:r>
              <a:rPr lang="en-US" altLang="zh-CN" i="1" dirty="0">
                <a:solidFill>
                  <a:schemeClr val="tx1"/>
                </a:solidFill>
                <a:latin typeface="Arial" panose="020B0604020202020204" pitchFamily="34" charset="0"/>
              </a:rPr>
              <a:t>,F={(sno,cno)</a:t>
            </a:r>
            <a:r>
              <a:rPr lang="en-US" altLang="zh-CN" i="1" dirty="0">
                <a:solidFill>
                  <a:schemeClr val="tx1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score</a:t>
            </a:r>
            <a:r>
              <a:rPr lang="en-US" altLang="zh-CN" i="1" dirty="0">
                <a:solidFill>
                  <a:schemeClr val="tx1"/>
                </a:solidFill>
                <a:latin typeface="Arial" panose="020B0604020202020204" pitchFamily="34" charset="0"/>
              </a:rPr>
              <a:t>}.</a:t>
            </a:r>
            <a:endParaRPr lang="en-US" altLang="zh-CN" i="1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algn="just" eaLnBrk="1" hangingPunct="1">
              <a:lnSpc>
                <a:spcPct val="90000"/>
              </a:lnSpc>
              <a:buNone/>
            </a:pPr>
            <a:r>
              <a:rPr lang="en-US" altLang="zh-CN" i="1" dirty="0">
                <a:solidFill>
                  <a:schemeClr val="tx1"/>
                </a:solidFill>
                <a:latin typeface="Arial" panose="020B0604020202020204" pitchFamily="34" charset="0"/>
              </a:rPr>
              <a:t>          </a:t>
            </a:r>
            <a:r>
              <a:rPr lang="zh-CN" altLang="en-US" i="1" dirty="0">
                <a:solidFill>
                  <a:schemeClr val="tx1"/>
                </a:solidFill>
                <a:latin typeface="Arial" panose="020B0604020202020204" pitchFamily="34" charset="0"/>
              </a:rPr>
              <a:t>码为</a:t>
            </a:r>
            <a:r>
              <a:rPr lang="en-US" altLang="zh-CN" i="1" dirty="0">
                <a:solidFill>
                  <a:schemeClr val="tx1"/>
                </a:solidFill>
                <a:latin typeface="Arial" panose="020B0604020202020204" pitchFamily="34" charset="0"/>
              </a:rPr>
              <a:t>(sno,cno), SC </a:t>
            </a:r>
            <a:r>
              <a:rPr lang="en-US" altLang="zh-CN" dirty="0">
                <a:solidFill>
                  <a:schemeClr val="tx1"/>
                </a:solidFill>
              </a:rPr>
              <a:t>∈</a:t>
            </a:r>
            <a:r>
              <a:rPr lang="en-US" altLang="zh-CN" i="1" dirty="0">
                <a:solidFill>
                  <a:schemeClr val="tx1"/>
                </a:solidFill>
                <a:latin typeface="Arial" panose="020B0604020202020204" pitchFamily="34" charset="0"/>
              </a:rPr>
              <a:t>2NF</a:t>
            </a:r>
            <a:r>
              <a:rPr lang="zh-CN" altLang="en-US" i="1" dirty="0">
                <a:solidFill>
                  <a:schemeClr val="tx1"/>
                </a:solidFill>
                <a:latin typeface="Arial" panose="020B0604020202020204" pitchFamily="34" charset="0"/>
              </a:rPr>
              <a:t>。</a:t>
            </a:r>
            <a:r>
              <a:rPr lang="zh-CN" altLang="en-US" sz="3600" dirty="0">
                <a:latin typeface="Arial" panose="020B0604020202020204" pitchFamily="34" charset="0"/>
              </a:rPr>
              <a:t> 	</a:t>
            </a:r>
            <a:endParaRPr lang="zh-CN" altLang="en-US" sz="3600" dirty="0">
              <a:latin typeface="Arial" panose="020B0604020202020204" pitchFamily="34" charset="0"/>
            </a:endParaRPr>
          </a:p>
        </p:txBody>
      </p:sp>
      <p:sp>
        <p:nvSpPr>
          <p:cNvPr id="15364" name="Rectangle 3"/>
          <p:cNvSpPr>
            <a:spLocks noGrp="1"/>
          </p:cNvSpPr>
          <p:nvPr>
            <p:ph type="title"/>
          </p:nvPr>
        </p:nvSpPr>
        <p:spPr>
          <a:xfrm>
            <a:off x="685800" y="0"/>
            <a:ext cx="77724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dirty="0"/>
              <a:t>6.4.3  2NF</a:t>
            </a:r>
            <a:endParaRPr lang="en-US" altLang="zh-CN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386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16387" name="Rectangle 2"/>
          <p:cNvSpPr>
            <a:spLocks noGrp="1"/>
          </p:cNvSpPr>
          <p:nvPr>
            <p:ph idx="1"/>
          </p:nvPr>
        </p:nvSpPr>
        <p:spPr>
          <a:xfrm>
            <a:off x="76200" y="914400"/>
            <a:ext cx="9067800" cy="5638800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140000"/>
              </a:lnSpc>
            </a:pPr>
            <a:r>
              <a:rPr lang="zh-CN" altLang="en-US" sz="3600" dirty="0">
                <a:solidFill>
                  <a:schemeClr val="tx1"/>
                </a:solidFill>
              </a:rPr>
              <a:t>推论</a:t>
            </a:r>
            <a:r>
              <a:rPr lang="en-US" altLang="zh-CN" sz="3600" dirty="0">
                <a:solidFill>
                  <a:schemeClr val="tx1"/>
                </a:solidFill>
              </a:rPr>
              <a:t>: </a:t>
            </a:r>
            <a:r>
              <a:rPr lang="zh-CN" altLang="en-US" sz="3600" dirty="0">
                <a:solidFill>
                  <a:schemeClr val="tx1"/>
                </a:solidFill>
              </a:rPr>
              <a:t>若</a:t>
            </a:r>
            <a:r>
              <a:rPr lang="en-US" altLang="zh-CN" sz="3600" dirty="0">
                <a:solidFill>
                  <a:schemeClr val="tx1"/>
                </a:solidFill>
                <a:latin typeface="Arial Narrow" panose="020B0606020202030204" pitchFamily="34" charset="0"/>
              </a:rPr>
              <a:t>R∈1NF</a:t>
            </a:r>
            <a:r>
              <a:rPr lang="en-US" altLang="zh-CN" sz="3600" dirty="0">
                <a:solidFill>
                  <a:schemeClr val="tx1"/>
                </a:solidFill>
              </a:rPr>
              <a:t>,</a:t>
            </a:r>
            <a:r>
              <a:rPr lang="zh-CN" altLang="en-US" sz="3600" dirty="0">
                <a:solidFill>
                  <a:schemeClr val="tx1"/>
                </a:solidFill>
              </a:rPr>
              <a:t>且其候选码为单个属性</a:t>
            </a:r>
            <a:r>
              <a:rPr lang="en-US" altLang="zh-CN" sz="3600" dirty="0">
                <a:solidFill>
                  <a:schemeClr val="tx1"/>
                </a:solidFill>
              </a:rPr>
              <a:t>,</a:t>
            </a:r>
            <a:r>
              <a:rPr lang="zh-CN" altLang="en-US" sz="3600" dirty="0">
                <a:solidFill>
                  <a:schemeClr val="tx1"/>
                </a:solidFill>
              </a:rPr>
              <a:t>则</a:t>
            </a:r>
            <a:r>
              <a:rPr lang="en-US" altLang="zh-CN" sz="3600" dirty="0">
                <a:solidFill>
                  <a:schemeClr val="tx1"/>
                </a:solidFill>
                <a:latin typeface="Arial Narrow" panose="020B0606020202030204" pitchFamily="34" charset="0"/>
              </a:rPr>
              <a:t>R∈2NF</a:t>
            </a:r>
            <a:r>
              <a:rPr lang="en-US" altLang="zh-CN" sz="3600" dirty="0">
                <a:solidFill>
                  <a:schemeClr val="tx1"/>
                </a:solidFill>
              </a:rPr>
              <a:t> </a:t>
            </a:r>
            <a:endParaRPr lang="en-US" altLang="zh-CN" sz="3600" dirty="0">
              <a:solidFill>
                <a:schemeClr val="tx1"/>
              </a:solidFill>
            </a:endParaRPr>
          </a:p>
          <a:p>
            <a:pPr eaLnBrk="1" hangingPunct="1">
              <a:lnSpc>
                <a:spcPct val="140000"/>
              </a:lnSpc>
              <a:buNone/>
            </a:pPr>
            <a:r>
              <a:rPr lang="en-US" altLang="zh-CN" sz="3600" dirty="0">
                <a:solidFill>
                  <a:schemeClr val="tx1"/>
                </a:solidFill>
              </a:rPr>
              <a:t>   (</a:t>
            </a:r>
            <a:r>
              <a:rPr lang="zh-CN" altLang="en-US" sz="3600" i="1" dirty="0">
                <a:solidFill>
                  <a:schemeClr val="tx1"/>
                </a:solidFill>
              </a:rPr>
              <a:t>为什么</a:t>
            </a:r>
            <a:r>
              <a:rPr lang="en-US" altLang="zh-CN" sz="3600" i="1" dirty="0">
                <a:solidFill>
                  <a:schemeClr val="tx1"/>
                </a:solidFill>
              </a:rPr>
              <a:t>?</a:t>
            </a:r>
            <a:r>
              <a:rPr lang="en-US" altLang="zh-CN" sz="3600" dirty="0">
                <a:solidFill>
                  <a:schemeClr val="tx1"/>
                </a:solidFill>
              </a:rPr>
              <a:t>)</a:t>
            </a:r>
            <a:endParaRPr lang="en-US" altLang="zh-CN" dirty="0">
              <a:solidFill>
                <a:schemeClr val="tx1"/>
              </a:solidFill>
            </a:endParaRPr>
          </a:p>
        </p:txBody>
      </p:sp>
      <p:sp>
        <p:nvSpPr>
          <p:cNvPr id="16388" name="Rectangle 3"/>
          <p:cNvSpPr>
            <a:spLocks noGrp="1"/>
          </p:cNvSpPr>
          <p:nvPr>
            <p:ph type="title"/>
          </p:nvPr>
        </p:nvSpPr>
        <p:spPr>
          <a:xfrm>
            <a:off x="685800" y="0"/>
            <a:ext cx="77724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u="sng" dirty="0"/>
              <a:t>6.4.3  2NF</a:t>
            </a:r>
            <a:endParaRPr lang="en-US" altLang="zh-CN" u="sng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410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17411" name="Rectangle 2"/>
          <p:cNvSpPr>
            <a:spLocks noGrp="1"/>
          </p:cNvSpPr>
          <p:nvPr>
            <p:ph idx="1"/>
          </p:nvPr>
        </p:nvSpPr>
        <p:spPr>
          <a:xfrm>
            <a:off x="76200" y="914400"/>
            <a:ext cx="9067800" cy="5638800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140000"/>
              </a:lnSpc>
            </a:pPr>
            <a:r>
              <a:rPr lang="en-US" altLang="zh-CN" dirty="0">
                <a:solidFill>
                  <a:schemeClr val="tx1"/>
                </a:solidFill>
              </a:rPr>
              <a:t>2. </a:t>
            </a:r>
            <a:r>
              <a:rPr lang="en-US" altLang="zh-CN" i="1" dirty="0">
                <a:solidFill>
                  <a:schemeClr val="tx1"/>
                </a:solidFill>
                <a:latin typeface="Arial" panose="020B0604020202020204" pitchFamily="34" charset="0"/>
              </a:rPr>
              <a:t>2NF</a:t>
            </a:r>
            <a:r>
              <a:rPr lang="zh-CN" altLang="en-US" dirty="0">
                <a:solidFill>
                  <a:schemeClr val="tx1"/>
                </a:solidFill>
                <a:latin typeface="宋体" panose="02010600030101010101" pitchFamily="2" charset="-122"/>
              </a:rPr>
              <a:t>存在的问题</a:t>
            </a:r>
            <a:endParaRPr lang="zh-CN" altLang="en-US" dirty="0">
              <a:solidFill>
                <a:schemeClr val="tx1"/>
              </a:solidFill>
              <a:latin typeface="宋体" panose="02010600030101010101" pitchFamily="2" charset="-122"/>
            </a:endParaRPr>
          </a:p>
          <a:p>
            <a:pPr algn="just" eaLnBrk="1" hangingPunct="1">
              <a:buNone/>
            </a:pPr>
            <a:r>
              <a:rPr lang="zh-CN" altLang="en-US" sz="2000" b="0" dirty="0">
                <a:latin typeface="黑体" panose="02010609060101010101" pitchFamily="49" charset="-122"/>
                <a:ea typeface="黑体" panose="02010609060101010101" pitchFamily="49" charset="-122"/>
              </a:rPr>
              <a:t>	</a:t>
            </a:r>
            <a:r>
              <a:rPr lang="en-US" altLang="zh-CN" sz="2800" i="1" dirty="0">
                <a:solidFill>
                  <a:srgbClr val="0000CC"/>
                </a:solidFill>
                <a:latin typeface="Arial" panose="020B0604020202020204" pitchFamily="34" charset="0"/>
              </a:rPr>
              <a:t>SD(sno,sname,age,dept,mn) </a:t>
            </a:r>
            <a:r>
              <a:rPr lang="en-US" altLang="zh-CN" sz="2800" dirty="0">
                <a:solidFill>
                  <a:srgbClr val="0000CC"/>
                </a:solidFill>
              </a:rPr>
              <a:t>∈</a:t>
            </a:r>
            <a:r>
              <a:rPr lang="en-US" altLang="zh-CN" sz="2800" i="1" dirty="0">
                <a:solidFill>
                  <a:srgbClr val="0000CC"/>
                </a:solidFill>
                <a:latin typeface="Arial" panose="020B0604020202020204" pitchFamily="34" charset="0"/>
              </a:rPr>
              <a:t>2NF</a:t>
            </a:r>
            <a:endParaRPr lang="en-US" altLang="zh-CN" sz="2800" i="1" dirty="0">
              <a:solidFill>
                <a:srgbClr val="0000CC"/>
              </a:solidFill>
              <a:latin typeface="Arial" panose="020B0604020202020204" pitchFamily="34" charset="0"/>
            </a:endParaRPr>
          </a:p>
          <a:p>
            <a:pPr algn="just" eaLnBrk="1" hangingPunct="1">
              <a:buNone/>
            </a:pPr>
            <a:r>
              <a:rPr lang="en-US" altLang="zh-CN" sz="2800" i="1" dirty="0">
                <a:solidFill>
                  <a:schemeClr val="tx1"/>
                </a:solidFill>
                <a:latin typeface="Arial" panose="020B0604020202020204" pitchFamily="34" charset="0"/>
              </a:rPr>
              <a:t>   </a:t>
            </a:r>
            <a:r>
              <a:rPr lang="zh-CN" altLang="en-US" sz="2800" dirty="0">
                <a:solidFill>
                  <a:schemeClr val="tx1"/>
                </a:solidFill>
                <a:ea typeface="黑体" panose="02010609060101010101" pitchFamily="49" charset="-122"/>
              </a:rPr>
              <a:t>冗余仍存在</a:t>
            </a:r>
            <a:r>
              <a:rPr lang="en-US" altLang="zh-CN" sz="2800" dirty="0">
                <a:solidFill>
                  <a:schemeClr val="tx1"/>
                </a:solidFill>
              </a:rPr>
              <a:t>:</a:t>
            </a:r>
            <a:r>
              <a:rPr lang="zh-CN" altLang="en-US" sz="2800" dirty="0">
                <a:solidFill>
                  <a:schemeClr val="tx1"/>
                </a:solidFill>
              </a:rPr>
              <a:t>系主任信息冗余；</a:t>
            </a:r>
            <a:endParaRPr lang="zh-CN" altLang="en-US" sz="2800" dirty="0">
              <a:solidFill>
                <a:schemeClr val="tx1"/>
              </a:solidFill>
            </a:endParaRPr>
          </a:p>
          <a:p>
            <a:pPr algn="just" eaLnBrk="1" hangingPunct="1">
              <a:buNone/>
            </a:pPr>
            <a:r>
              <a:rPr lang="zh-CN" altLang="en-US" sz="2800" dirty="0">
                <a:solidFill>
                  <a:schemeClr val="tx1"/>
                </a:solidFill>
              </a:rPr>
              <a:t>	</a:t>
            </a:r>
            <a:r>
              <a:rPr lang="zh-CN" altLang="en-US" sz="2800" dirty="0">
                <a:solidFill>
                  <a:schemeClr val="tx1"/>
                </a:solidFill>
                <a:ea typeface="黑体" panose="02010609060101010101" pitchFamily="49" charset="-122"/>
              </a:rPr>
              <a:t>更新复杂</a:t>
            </a:r>
            <a:r>
              <a:rPr lang="en-US" altLang="zh-CN" sz="2800" dirty="0">
                <a:solidFill>
                  <a:schemeClr val="tx1"/>
                </a:solidFill>
              </a:rPr>
              <a:t>:</a:t>
            </a:r>
            <a:r>
              <a:rPr lang="zh-CN" altLang="en-US" sz="2800" dirty="0">
                <a:solidFill>
                  <a:schemeClr val="tx1"/>
                </a:solidFill>
              </a:rPr>
              <a:t>某系换系主任，需同时更改很多信息；</a:t>
            </a:r>
            <a:endParaRPr lang="zh-CN" altLang="en-US" sz="2800" dirty="0">
              <a:solidFill>
                <a:schemeClr val="tx1"/>
              </a:solidFill>
            </a:endParaRPr>
          </a:p>
          <a:p>
            <a:pPr algn="just" eaLnBrk="1" hangingPunct="1">
              <a:buNone/>
            </a:pPr>
            <a:r>
              <a:rPr lang="zh-CN" altLang="en-US" sz="2800" dirty="0">
                <a:solidFill>
                  <a:schemeClr val="tx1"/>
                </a:solidFill>
              </a:rPr>
              <a:t>	</a:t>
            </a:r>
            <a:r>
              <a:rPr lang="zh-CN" altLang="en-US" sz="2800" dirty="0">
                <a:solidFill>
                  <a:schemeClr val="tx1"/>
                </a:solidFill>
                <a:ea typeface="黑体" panose="02010609060101010101" pitchFamily="49" charset="-122"/>
              </a:rPr>
              <a:t>插入异常</a:t>
            </a:r>
            <a:r>
              <a:rPr lang="en-US" altLang="zh-CN" sz="2800" dirty="0">
                <a:solidFill>
                  <a:schemeClr val="tx1"/>
                </a:solidFill>
              </a:rPr>
              <a:t>:</a:t>
            </a:r>
            <a:r>
              <a:rPr lang="zh-CN" altLang="en-US" sz="2800" dirty="0">
                <a:solidFill>
                  <a:schemeClr val="tx1"/>
                </a:solidFill>
              </a:rPr>
              <a:t>某系无学生</a:t>
            </a:r>
            <a:r>
              <a:rPr lang="en-US" altLang="zh-CN" sz="2800" dirty="0">
                <a:solidFill>
                  <a:schemeClr val="tx1"/>
                </a:solidFill>
              </a:rPr>
              <a:t>,</a:t>
            </a:r>
            <a:r>
              <a:rPr lang="zh-CN" altLang="en-US" sz="2800" dirty="0">
                <a:solidFill>
                  <a:schemeClr val="tx1"/>
                </a:solidFill>
              </a:rPr>
              <a:t>则系及系统主任信息不能插入；</a:t>
            </a:r>
            <a:endParaRPr lang="zh-CN" altLang="en-US" sz="2800" dirty="0">
              <a:solidFill>
                <a:schemeClr val="tx1"/>
              </a:solidFill>
            </a:endParaRPr>
          </a:p>
          <a:p>
            <a:pPr algn="just" eaLnBrk="1" hangingPunct="1">
              <a:buNone/>
            </a:pPr>
            <a:r>
              <a:rPr lang="zh-CN" altLang="en-US" sz="2800" dirty="0">
                <a:solidFill>
                  <a:schemeClr val="tx1"/>
                </a:solidFill>
              </a:rPr>
              <a:t>	</a:t>
            </a:r>
            <a:r>
              <a:rPr lang="zh-CN" altLang="en-US" sz="2800" dirty="0">
                <a:solidFill>
                  <a:schemeClr val="tx1"/>
                </a:solidFill>
                <a:ea typeface="黑体" panose="02010609060101010101" pitchFamily="49" charset="-122"/>
              </a:rPr>
              <a:t>删除异常</a:t>
            </a:r>
            <a:r>
              <a:rPr lang="en-US" altLang="zh-CN" sz="2800" dirty="0">
                <a:solidFill>
                  <a:schemeClr val="tx1"/>
                </a:solidFill>
              </a:rPr>
              <a:t>:</a:t>
            </a:r>
            <a:r>
              <a:rPr lang="zh-CN" altLang="en-US" sz="2800" dirty="0">
                <a:solidFill>
                  <a:schemeClr val="tx1"/>
                </a:solidFill>
              </a:rPr>
              <a:t>删除某系全部学生</a:t>
            </a:r>
            <a:r>
              <a:rPr lang="en-US" altLang="zh-CN" sz="2800" dirty="0">
                <a:solidFill>
                  <a:schemeClr val="tx1"/>
                </a:solidFill>
              </a:rPr>
              <a:t>,</a:t>
            </a:r>
            <a:r>
              <a:rPr lang="zh-CN" altLang="en-US" sz="2800" dirty="0">
                <a:solidFill>
                  <a:schemeClr val="tx1"/>
                </a:solidFill>
              </a:rPr>
              <a:t>则将删除系及主任信息。</a:t>
            </a:r>
            <a:endParaRPr lang="zh-CN" altLang="en-US" sz="2800" dirty="0">
              <a:solidFill>
                <a:schemeClr val="tx1"/>
              </a:solidFill>
            </a:endParaRPr>
          </a:p>
          <a:p>
            <a:pPr algn="just" eaLnBrk="1" hangingPunct="1"/>
            <a:r>
              <a:rPr lang="en-US" altLang="zh-CN" dirty="0">
                <a:solidFill>
                  <a:schemeClr val="tx1"/>
                </a:solidFill>
              </a:rPr>
              <a:t>3. </a:t>
            </a:r>
            <a:r>
              <a:rPr lang="zh-CN" altLang="en-US" dirty="0">
                <a:solidFill>
                  <a:schemeClr val="tx1"/>
                </a:solidFill>
                <a:latin typeface="宋体" panose="02010600030101010101" pitchFamily="2" charset="-122"/>
              </a:rPr>
              <a:t>症由</a:t>
            </a:r>
            <a:endParaRPr lang="zh-CN" altLang="en-US" dirty="0">
              <a:solidFill>
                <a:schemeClr val="tx1"/>
              </a:solidFill>
              <a:latin typeface="宋体" panose="02010600030101010101" pitchFamily="2" charset="-122"/>
            </a:endParaRPr>
          </a:p>
          <a:p>
            <a:pPr algn="just" eaLnBrk="1" hangingPunct="1">
              <a:buNone/>
            </a:pPr>
            <a:r>
              <a:rPr lang="zh-CN" altLang="en-US" dirty="0">
                <a:solidFill>
                  <a:schemeClr val="tx1"/>
                </a:solidFill>
                <a:latin typeface="宋体" panose="02010600030101010101" pitchFamily="2" charset="-122"/>
              </a:rPr>
              <a:t>	非主属性对码的传递依赖</a:t>
            </a:r>
            <a:r>
              <a:rPr lang="en-US" altLang="zh-CN" dirty="0">
                <a:solidFill>
                  <a:schemeClr val="tx1"/>
                </a:solidFill>
                <a:latin typeface="宋体" panose="02010600030101010101" pitchFamily="2" charset="-122"/>
              </a:rPr>
              <a:t>:</a:t>
            </a:r>
            <a:r>
              <a:rPr lang="en-US" altLang="zh-CN" sz="2800" i="1" dirty="0">
                <a:solidFill>
                  <a:schemeClr val="tx1"/>
                </a:solidFill>
                <a:latin typeface="Arial" panose="020B0604020202020204" pitchFamily="34" charset="0"/>
              </a:rPr>
              <a:t>sno</a:t>
            </a:r>
            <a:r>
              <a:rPr lang="en-US" altLang="zh-CN" sz="2800" i="1" dirty="0">
                <a:solidFill>
                  <a:schemeClr val="tx1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dept,</a:t>
            </a:r>
            <a:r>
              <a:rPr lang="en-US" altLang="zh-CN" sz="2800" i="1" dirty="0">
                <a:solidFill>
                  <a:schemeClr val="tx1"/>
                </a:solidFill>
                <a:latin typeface="Arial" panose="020B0604020202020204" pitchFamily="34" charset="0"/>
              </a:rPr>
              <a:t> dept</a:t>
            </a:r>
            <a:r>
              <a:rPr lang="en-US" altLang="zh-CN" sz="2800" i="1" dirty="0">
                <a:solidFill>
                  <a:schemeClr val="tx1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mn</a:t>
            </a:r>
            <a:endParaRPr lang="en-US" altLang="zh-CN" sz="2800" i="1" dirty="0">
              <a:solidFill>
                <a:schemeClr val="tx1"/>
              </a:solidFill>
              <a:latin typeface="Arial" panose="020B0604020202020204" pitchFamily="34" charset="0"/>
              <a:sym typeface="Symbol" panose="05050102010706020507" pitchFamily="18" charset="2"/>
            </a:endParaRPr>
          </a:p>
          <a:p>
            <a:pPr algn="just" eaLnBrk="1" hangingPunct="1"/>
            <a:r>
              <a:rPr lang="en-US" altLang="zh-CN" sz="2800" dirty="0">
                <a:solidFill>
                  <a:schemeClr val="tx1"/>
                </a:solidFill>
                <a:sym typeface="Symbol" panose="05050102010706020507" pitchFamily="18" charset="2"/>
              </a:rPr>
              <a:t>4. </a:t>
            </a:r>
            <a:r>
              <a:rPr lang="zh-CN" altLang="en-US" sz="2800" dirty="0">
                <a:solidFill>
                  <a:schemeClr val="tx1"/>
                </a:solidFill>
                <a:sym typeface="Symbol" panose="05050102010706020507" pitchFamily="18" charset="2"/>
              </a:rPr>
              <a:t>解决方法</a:t>
            </a:r>
            <a:endParaRPr lang="zh-CN" altLang="en-US" sz="2800" dirty="0">
              <a:solidFill>
                <a:schemeClr val="tx1"/>
              </a:solidFill>
              <a:sym typeface="Symbol" panose="05050102010706020507" pitchFamily="18" charset="2"/>
            </a:endParaRPr>
          </a:p>
          <a:p>
            <a:pPr algn="just" eaLnBrk="1" hangingPunct="1">
              <a:buNone/>
            </a:pPr>
            <a:r>
              <a:rPr lang="zh-CN" altLang="en-US" sz="2800" dirty="0">
                <a:solidFill>
                  <a:schemeClr val="tx1"/>
                </a:solidFill>
              </a:rPr>
              <a:t>	投影分解</a:t>
            </a:r>
            <a:r>
              <a:rPr lang="en-US" altLang="zh-CN" sz="2800" dirty="0">
                <a:solidFill>
                  <a:schemeClr val="tx1"/>
                </a:solidFill>
              </a:rPr>
              <a:t>,</a:t>
            </a:r>
            <a:r>
              <a:rPr lang="zh-CN" altLang="en-US" sz="2800" dirty="0">
                <a:solidFill>
                  <a:schemeClr val="tx1"/>
                </a:solidFill>
              </a:rPr>
              <a:t>消去非主属性对码的传递依赖。</a:t>
            </a:r>
            <a:endParaRPr lang="zh-CN" altLang="en-US" sz="2800" dirty="0">
              <a:solidFill>
                <a:schemeClr val="tx1"/>
              </a:solidFill>
            </a:endParaRPr>
          </a:p>
        </p:txBody>
      </p:sp>
      <p:sp>
        <p:nvSpPr>
          <p:cNvPr id="17412" name="Rectangle 3"/>
          <p:cNvSpPr>
            <a:spLocks noGrp="1"/>
          </p:cNvSpPr>
          <p:nvPr>
            <p:ph type="title"/>
          </p:nvPr>
        </p:nvSpPr>
        <p:spPr>
          <a:xfrm>
            <a:off x="685800" y="0"/>
            <a:ext cx="77724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u="sng" dirty="0"/>
              <a:t>6.4.3  2NF</a:t>
            </a:r>
            <a:endParaRPr lang="en-US" altLang="zh-CN" u="sng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434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18435" name="Rectangle 2"/>
          <p:cNvSpPr>
            <a:spLocks noGrp="1"/>
          </p:cNvSpPr>
          <p:nvPr>
            <p:ph idx="1"/>
          </p:nvPr>
        </p:nvSpPr>
        <p:spPr>
          <a:xfrm>
            <a:off x="76200" y="914400"/>
            <a:ext cx="9067800" cy="5638800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140000"/>
              </a:lnSpc>
            </a:pPr>
            <a:r>
              <a:rPr lang="zh-CN" altLang="en-US" dirty="0">
                <a:solidFill>
                  <a:schemeClr val="tx1"/>
                </a:solidFill>
              </a:rPr>
              <a:t>分解后</a:t>
            </a:r>
            <a:endParaRPr lang="zh-CN" altLang="en-US" dirty="0">
              <a:solidFill>
                <a:schemeClr val="tx1"/>
              </a:solidFill>
              <a:latin typeface="宋体" panose="02010600030101010101" pitchFamily="2" charset="-122"/>
            </a:endParaRPr>
          </a:p>
          <a:p>
            <a:pPr algn="just" eaLnBrk="1" hangingPunct="1">
              <a:buNone/>
            </a:pPr>
            <a:r>
              <a:rPr lang="zh-CN" altLang="en-US" sz="2000" b="0" dirty="0">
                <a:latin typeface="黑体" panose="02010609060101010101" pitchFamily="49" charset="-122"/>
                <a:ea typeface="黑体" panose="02010609060101010101" pitchFamily="49" charset="-122"/>
              </a:rPr>
              <a:t>	</a:t>
            </a:r>
            <a:endParaRPr lang="zh-CN" altLang="en-US" sz="2800" dirty="0">
              <a:solidFill>
                <a:schemeClr val="tx1"/>
              </a:solidFill>
            </a:endParaRPr>
          </a:p>
        </p:txBody>
      </p:sp>
      <p:sp>
        <p:nvSpPr>
          <p:cNvPr id="18436" name="Rectangle 3"/>
          <p:cNvSpPr>
            <a:spLocks noGrp="1"/>
          </p:cNvSpPr>
          <p:nvPr>
            <p:ph type="title"/>
          </p:nvPr>
        </p:nvSpPr>
        <p:spPr>
          <a:xfrm>
            <a:off x="685800" y="0"/>
            <a:ext cx="77724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u="sng" dirty="0"/>
              <a:t>6.4.3  2NF</a:t>
            </a:r>
            <a:endParaRPr lang="en-US" altLang="zh-CN" u="sng" dirty="0"/>
          </a:p>
        </p:txBody>
      </p:sp>
      <p:graphicFrame>
        <p:nvGraphicFramePr>
          <p:cNvPr id="21508" name="Group 4"/>
          <p:cNvGraphicFramePr>
            <a:graphicFrameLocks noGrp="1"/>
          </p:cNvGraphicFramePr>
          <p:nvPr/>
        </p:nvGraphicFramePr>
        <p:xfrm>
          <a:off x="685800" y="2197100"/>
          <a:ext cx="4173538" cy="2143125"/>
        </p:xfrm>
        <a:graphic>
          <a:graphicData uri="http://schemas.openxmlformats.org/drawingml/2006/table">
            <a:tbl>
              <a:tblPr/>
              <a:tblGrid>
                <a:gridCol w="935038"/>
                <a:gridCol w="1079500"/>
                <a:gridCol w="863600"/>
                <a:gridCol w="1295400"/>
              </a:tblGrid>
              <a:tr h="46037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学号</a:t>
                      </a:r>
                      <a:endParaRPr kumimoji="1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Sno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姓名</a:t>
                      </a:r>
                      <a:endParaRPr kumimoji="1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Sname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年龄</a:t>
                      </a:r>
                      <a:endParaRPr kumimoji="1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Age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系别</a:t>
                      </a:r>
                      <a:endParaRPr kumimoji="1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Dept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6037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S1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李勇</a:t>
                      </a:r>
                      <a:endParaRPr kumimoji="1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18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计算机</a:t>
                      </a:r>
                      <a:endParaRPr kumimoji="1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</a:tr>
              <a:tr h="46037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S2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99FF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刘晨</a:t>
                      </a:r>
                      <a:endParaRPr kumimoji="1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99FF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17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99FF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计算机</a:t>
                      </a:r>
                      <a:endParaRPr kumimoji="1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99FF"/>
                    </a:solidFill>
                  </a:tcPr>
                </a:tc>
              </a:tr>
              <a:tr h="46037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S3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王敏</a:t>
                      </a:r>
                      <a:endParaRPr kumimoji="1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18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自控系</a:t>
                      </a:r>
                      <a:endParaRPr kumimoji="1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1535" name="Group 31"/>
          <p:cNvGraphicFramePr>
            <a:graphicFrameLocks noGrp="1"/>
          </p:cNvGraphicFramePr>
          <p:nvPr/>
        </p:nvGraphicFramePr>
        <p:xfrm>
          <a:off x="6324600" y="2209800"/>
          <a:ext cx="2303463" cy="1682750"/>
        </p:xfrm>
        <a:graphic>
          <a:graphicData uri="http://schemas.openxmlformats.org/drawingml/2006/table">
            <a:tbl>
              <a:tblPr/>
              <a:tblGrid>
                <a:gridCol w="1295400"/>
                <a:gridCol w="1008063"/>
              </a:tblGrid>
              <a:tr h="46037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系别</a:t>
                      </a:r>
                      <a:endParaRPr kumimoji="1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Dept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系主任</a:t>
                      </a:r>
                      <a:endParaRPr kumimoji="1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Mn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6037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计算机</a:t>
                      </a:r>
                      <a:endParaRPr kumimoji="1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99FF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王平</a:t>
                      </a:r>
                      <a:endParaRPr kumimoji="1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99FF"/>
                    </a:solidFill>
                  </a:tcPr>
                </a:tc>
              </a:tr>
              <a:tr h="46037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自控系</a:t>
                      </a:r>
                      <a:endParaRPr kumimoji="1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刘伟</a:t>
                      </a:r>
                      <a:endParaRPr kumimoji="1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</a:tr>
            </a:tbl>
          </a:graphicData>
        </a:graphic>
      </p:graphicFrame>
      <p:sp>
        <p:nvSpPr>
          <p:cNvPr id="18478" name="Text Box 45"/>
          <p:cNvSpPr txBox="1"/>
          <p:nvPr/>
        </p:nvSpPr>
        <p:spPr>
          <a:xfrm>
            <a:off x="2743200" y="1524000"/>
            <a:ext cx="409575" cy="579438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kumimoji="1"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kumimoji="1"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dirty="0">
                <a:solidFill>
                  <a:schemeClr val="tx1"/>
                </a:solidFill>
                <a:ea typeface="经典综艺体简" pitchFamily="49" charset="-122"/>
              </a:rPr>
              <a:t>S</a:t>
            </a:r>
            <a:endParaRPr lang="en-US" altLang="zh-CN" dirty="0">
              <a:solidFill>
                <a:schemeClr val="tx1"/>
              </a:solidFill>
              <a:ea typeface="经典综艺体简" pitchFamily="49" charset="-122"/>
            </a:endParaRPr>
          </a:p>
        </p:txBody>
      </p:sp>
      <p:sp>
        <p:nvSpPr>
          <p:cNvPr id="18479" name="Text Box 46"/>
          <p:cNvSpPr txBox="1"/>
          <p:nvPr/>
        </p:nvSpPr>
        <p:spPr>
          <a:xfrm>
            <a:off x="7129463" y="1524000"/>
            <a:ext cx="477837" cy="579438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kumimoji="1"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kumimoji="1"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dirty="0">
                <a:solidFill>
                  <a:schemeClr val="tx1"/>
                </a:solidFill>
                <a:ea typeface="经典综艺体简" pitchFamily="49" charset="-122"/>
              </a:rPr>
              <a:t>D</a:t>
            </a:r>
            <a:endParaRPr lang="en-US" altLang="zh-CN" dirty="0">
              <a:solidFill>
                <a:schemeClr val="tx1"/>
              </a:solidFill>
              <a:ea typeface="经典综艺体简" pitchFamily="49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458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19459" name="Rectangle 2"/>
          <p:cNvSpPr>
            <a:spLocks noGrp="1"/>
          </p:cNvSpPr>
          <p:nvPr>
            <p:ph idx="1"/>
          </p:nvPr>
        </p:nvSpPr>
        <p:spPr>
          <a:xfrm>
            <a:off x="1066800" y="914400"/>
            <a:ext cx="6629400" cy="4876800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dirty="0">
                <a:solidFill>
                  <a:schemeClr val="tx1"/>
                </a:solidFill>
              </a:rPr>
              <a:t>6.4.1 </a:t>
            </a:r>
            <a:r>
              <a:rPr lang="zh-CN" altLang="en-US" dirty="0">
                <a:solidFill>
                  <a:schemeClr val="tx1"/>
                </a:solidFill>
              </a:rPr>
              <a:t>范式</a:t>
            </a:r>
            <a:endParaRPr lang="zh-CN" altLang="en-US" dirty="0">
              <a:solidFill>
                <a:schemeClr val="tx1"/>
              </a:solidFill>
            </a:endParaRP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dirty="0">
                <a:solidFill>
                  <a:schemeClr val="tx1"/>
                </a:solidFill>
              </a:rPr>
              <a:t>6.4.2 1NF</a:t>
            </a:r>
            <a:endParaRPr lang="en-US" altLang="zh-CN" dirty="0">
              <a:solidFill>
                <a:schemeClr val="tx1"/>
              </a:solidFill>
            </a:endParaRP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dirty="0">
                <a:solidFill>
                  <a:schemeClr val="tx1"/>
                </a:solidFill>
              </a:rPr>
              <a:t>6.4.3 2NF</a:t>
            </a:r>
            <a:endParaRPr lang="en-US" altLang="zh-CN" dirty="0">
              <a:solidFill>
                <a:schemeClr val="tx1"/>
              </a:solidFill>
            </a:endParaRP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dirty="0">
                <a:solidFill>
                  <a:srgbClr val="FF0000"/>
                </a:solidFill>
              </a:rPr>
              <a:t>6.4.4 3NF</a:t>
            </a:r>
            <a:endParaRPr lang="en-US" altLang="zh-CN" dirty="0">
              <a:solidFill>
                <a:srgbClr val="FF0000"/>
              </a:solidFill>
            </a:endParaRP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dirty="0">
                <a:solidFill>
                  <a:schemeClr val="tx1"/>
                </a:solidFill>
              </a:rPr>
              <a:t>6.4.5 BCNF</a:t>
            </a:r>
            <a:endParaRPr lang="en-US" altLang="zh-CN" dirty="0">
              <a:solidFill>
                <a:schemeClr val="tx1"/>
              </a:solidFill>
            </a:endParaRP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dirty="0">
                <a:solidFill>
                  <a:schemeClr val="tx1"/>
                </a:solidFill>
              </a:rPr>
              <a:t>6.4.6 </a:t>
            </a:r>
            <a:r>
              <a:rPr lang="zh-CN" altLang="en-US" dirty="0">
                <a:solidFill>
                  <a:schemeClr val="tx1"/>
                </a:solidFill>
              </a:rPr>
              <a:t>多值依赖</a:t>
            </a:r>
            <a:endParaRPr lang="zh-CN" altLang="en-US" dirty="0">
              <a:solidFill>
                <a:schemeClr val="tx1"/>
              </a:solidFill>
            </a:endParaRP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dirty="0">
                <a:solidFill>
                  <a:schemeClr val="tx1"/>
                </a:solidFill>
              </a:rPr>
              <a:t>6.4.7 4NF</a:t>
            </a:r>
            <a:endParaRPr lang="en-US" altLang="zh-CN" dirty="0">
              <a:solidFill>
                <a:schemeClr val="tx1"/>
              </a:solidFill>
            </a:endParaRP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dirty="0">
                <a:solidFill>
                  <a:schemeClr val="tx1"/>
                </a:solidFill>
              </a:rPr>
              <a:t>6.4.8 </a:t>
            </a:r>
            <a:r>
              <a:rPr lang="zh-CN" altLang="en-US" dirty="0">
                <a:solidFill>
                  <a:schemeClr val="tx1"/>
                </a:solidFill>
              </a:rPr>
              <a:t>规范化小结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9460" name="Rectangle 3"/>
          <p:cNvSpPr>
            <a:spLocks noGrp="1"/>
          </p:cNvSpPr>
          <p:nvPr>
            <p:ph type="title"/>
          </p:nvPr>
        </p:nvSpPr>
        <p:spPr>
          <a:xfrm>
            <a:off x="685800" y="0"/>
            <a:ext cx="77724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dirty="0"/>
              <a:t>6.4  </a:t>
            </a:r>
            <a:r>
              <a:rPr lang="zh-CN" altLang="en-US" dirty="0"/>
              <a:t>关系模式的规范化</a:t>
            </a:r>
            <a:endParaRPr lang="zh-CN" alt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482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20483" name="Rectangle 2"/>
          <p:cNvSpPr>
            <a:spLocks noGrp="1"/>
          </p:cNvSpPr>
          <p:nvPr>
            <p:ph idx="1"/>
          </p:nvPr>
        </p:nvSpPr>
        <p:spPr>
          <a:xfrm>
            <a:off x="76200" y="914400"/>
            <a:ext cx="8915400" cy="5715000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120000"/>
              </a:lnSpc>
            </a:pPr>
            <a:r>
              <a:rPr lang="en-US" altLang="zh-CN" dirty="0">
                <a:solidFill>
                  <a:schemeClr val="tx1"/>
                </a:solidFill>
              </a:rPr>
              <a:t>1.</a:t>
            </a:r>
            <a:r>
              <a:rPr lang="zh-CN" altLang="en-US" dirty="0">
                <a:solidFill>
                  <a:schemeClr val="tx1"/>
                </a:solidFill>
                <a:latin typeface="宋体" panose="02010600030101010101" pitchFamily="2" charset="-122"/>
              </a:rPr>
              <a:t>定义</a:t>
            </a:r>
            <a:endParaRPr lang="zh-CN" altLang="en-US" dirty="0">
              <a:solidFill>
                <a:schemeClr val="tx1"/>
              </a:solidFill>
              <a:latin typeface="宋体" panose="02010600030101010101" pitchFamily="2" charset="-122"/>
            </a:endParaRPr>
          </a:p>
          <a:p>
            <a:pPr algn="just" eaLnBrk="1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sz="2000" b="0" dirty="0">
                <a:latin typeface="黑体" panose="02010609060101010101" pitchFamily="49" charset="-122"/>
                <a:ea typeface="黑体" panose="02010609060101010101" pitchFamily="49" charset="-122"/>
              </a:rPr>
              <a:t>	</a:t>
            </a:r>
            <a:r>
              <a:rPr lang="zh-CN" altLang="en-US" sz="2800" dirty="0">
                <a:solidFill>
                  <a:srgbClr val="FF0000"/>
                </a:solidFill>
              </a:rPr>
              <a:t>定义</a:t>
            </a:r>
            <a:r>
              <a:rPr lang="en-US" altLang="zh-CN" sz="2800" dirty="0">
                <a:solidFill>
                  <a:srgbClr val="FF0000"/>
                </a:solidFill>
              </a:rPr>
              <a:t>6.13 </a:t>
            </a:r>
            <a:r>
              <a:rPr lang="zh-CN" altLang="en-US" sz="2800" dirty="0">
                <a:solidFill>
                  <a:schemeClr val="tx1"/>
                </a:solidFill>
              </a:rPr>
              <a:t>关系模式</a:t>
            </a:r>
            <a:r>
              <a:rPr lang="en-US" altLang="zh-CN" sz="2800" i="1" dirty="0">
                <a:solidFill>
                  <a:schemeClr val="tx1"/>
                </a:solidFill>
              </a:rPr>
              <a:t>R&lt;U</a:t>
            </a:r>
            <a:r>
              <a:rPr lang="zh-CN" altLang="en-US" sz="2800" i="1" dirty="0">
                <a:solidFill>
                  <a:schemeClr val="tx1"/>
                </a:solidFill>
              </a:rPr>
              <a:t>，</a:t>
            </a:r>
            <a:r>
              <a:rPr lang="en-US" altLang="zh-CN" sz="2800" i="1" dirty="0">
                <a:solidFill>
                  <a:schemeClr val="tx1"/>
                </a:solidFill>
              </a:rPr>
              <a:t>F&gt;</a:t>
            </a:r>
            <a:r>
              <a:rPr lang="en-US" altLang="zh-CN" sz="2800" dirty="0">
                <a:solidFill>
                  <a:schemeClr val="tx1"/>
                </a:solidFill>
              </a:rPr>
              <a:t> </a:t>
            </a:r>
            <a:r>
              <a:rPr lang="zh-CN" altLang="en-US" sz="2800" dirty="0">
                <a:solidFill>
                  <a:schemeClr val="tx1"/>
                </a:solidFill>
              </a:rPr>
              <a:t>中若</a:t>
            </a:r>
            <a:r>
              <a:rPr lang="zh-CN" altLang="en-US" sz="2800" dirty="0">
                <a:solidFill>
                  <a:srgbClr val="FF0000"/>
                </a:solidFill>
              </a:rPr>
              <a:t>不存在这样的码</a:t>
            </a:r>
            <a:r>
              <a:rPr lang="en-US" altLang="zh-CN" sz="2800" i="1" dirty="0">
                <a:solidFill>
                  <a:srgbClr val="FF0000"/>
                </a:solidFill>
              </a:rPr>
              <a:t>X</a:t>
            </a:r>
            <a:r>
              <a:rPr lang="zh-CN" altLang="en-US" sz="2800" dirty="0">
                <a:solidFill>
                  <a:schemeClr val="tx1"/>
                </a:solidFill>
              </a:rPr>
              <a:t>、属性组</a:t>
            </a:r>
            <a:r>
              <a:rPr lang="en-US" altLang="zh-CN" sz="2800" i="1" dirty="0">
                <a:solidFill>
                  <a:schemeClr val="tx1"/>
                </a:solidFill>
              </a:rPr>
              <a:t>Y</a:t>
            </a:r>
            <a:r>
              <a:rPr lang="zh-CN" altLang="en-US" sz="2800" dirty="0">
                <a:solidFill>
                  <a:schemeClr val="tx1"/>
                </a:solidFill>
              </a:rPr>
              <a:t>及</a:t>
            </a:r>
            <a:r>
              <a:rPr lang="zh-CN" altLang="en-US" sz="2800" dirty="0">
                <a:solidFill>
                  <a:srgbClr val="FF0000"/>
                </a:solidFill>
              </a:rPr>
              <a:t>非主属性</a:t>
            </a:r>
            <a:r>
              <a:rPr lang="en-US" altLang="zh-CN" sz="2800" i="1" dirty="0">
                <a:solidFill>
                  <a:srgbClr val="FF0000"/>
                </a:solidFill>
              </a:rPr>
              <a:t>Z</a:t>
            </a:r>
            <a:r>
              <a:rPr lang="zh-CN" altLang="en-US" sz="2800" i="1" dirty="0">
                <a:solidFill>
                  <a:schemeClr val="tx1"/>
                </a:solidFill>
              </a:rPr>
              <a:t>（</a:t>
            </a:r>
            <a:r>
              <a:rPr lang="en-US" altLang="zh-CN" sz="2800" i="1" dirty="0">
                <a:solidFill>
                  <a:schemeClr val="tx1"/>
                </a:solidFill>
              </a:rPr>
              <a:t>Z </a:t>
            </a:r>
            <a:r>
              <a:rPr lang="en-US" altLang="zh-CN" sz="2800" dirty="0">
                <a:solidFill>
                  <a:schemeClr val="tx1"/>
                </a:solidFill>
                <a:sym typeface="Symbol" panose="05050102010706020507" pitchFamily="18" charset="2"/>
              </a:rPr>
              <a:t></a:t>
            </a:r>
            <a:r>
              <a:rPr lang="en-US" altLang="zh-CN" sz="2800" i="1" dirty="0">
                <a:solidFill>
                  <a:schemeClr val="tx1"/>
                </a:solidFill>
              </a:rPr>
              <a:t> Y</a:t>
            </a:r>
            <a:r>
              <a:rPr lang="zh-CN" altLang="en-US" sz="2800" i="1" dirty="0">
                <a:solidFill>
                  <a:schemeClr val="tx1"/>
                </a:solidFill>
              </a:rPr>
              <a:t>）</a:t>
            </a:r>
            <a:r>
              <a:rPr lang="en-US" altLang="zh-CN" sz="2800" i="1" dirty="0">
                <a:solidFill>
                  <a:schemeClr val="tx1"/>
                </a:solidFill>
              </a:rPr>
              <a:t>, </a:t>
            </a:r>
            <a:r>
              <a:rPr lang="zh-CN" altLang="en-US" sz="2800" dirty="0">
                <a:solidFill>
                  <a:schemeClr val="tx1"/>
                </a:solidFill>
              </a:rPr>
              <a:t>使得</a:t>
            </a:r>
            <a:r>
              <a:rPr lang="en-US" altLang="zh-CN" sz="2800" i="1" dirty="0">
                <a:solidFill>
                  <a:schemeClr val="tx1"/>
                </a:solidFill>
              </a:rPr>
              <a:t>X</a:t>
            </a:r>
            <a:r>
              <a:rPr lang="en-US" altLang="zh-CN" sz="2800" dirty="0">
                <a:solidFill>
                  <a:schemeClr val="tx1"/>
                </a:solidFill>
              </a:rPr>
              <a:t>→</a:t>
            </a:r>
            <a:r>
              <a:rPr lang="en-US" altLang="zh-CN" sz="2800" i="1" dirty="0">
                <a:solidFill>
                  <a:schemeClr val="tx1"/>
                </a:solidFill>
              </a:rPr>
              <a:t>Y</a:t>
            </a:r>
            <a:r>
              <a:rPr lang="zh-CN" altLang="en-US" sz="2800" dirty="0">
                <a:solidFill>
                  <a:schemeClr val="tx1"/>
                </a:solidFill>
              </a:rPr>
              <a:t>，</a:t>
            </a:r>
            <a:r>
              <a:rPr lang="en-US" altLang="zh-CN" sz="2800" i="1" dirty="0">
                <a:solidFill>
                  <a:schemeClr val="tx1"/>
                </a:solidFill>
              </a:rPr>
              <a:t>Y</a:t>
            </a:r>
            <a:r>
              <a:rPr lang="en-US" altLang="zh-CN" sz="2800" dirty="0">
                <a:solidFill>
                  <a:schemeClr val="tx1"/>
                </a:solidFill>
              </a:rPr>
              <a:t> → </a:t>
            </a:r>
            <a:r>
              <a:rPr lang="en-US" altLang="zh-CN" sz="2800" i="1" dirty="0">
                <a:solidFill>
                  <a:schemeClr val="tx1"/>
                </a:solidFill>
              </a:rPr>
              <a:t>X</a:t>
            </a:r>
            <a:r>
              <a:rPr lang="zh-CN" altLang="en-US" sz="2800" dirty="0">
                <a:solidFill>
                  <a:schemeClr val="tx1"/>
                </a:solidFill>
              </a:rPr>
              <a:t>，</a:t>
            </a:r>
            <a:r>
              <a:rPr lang="en-US" altLang="zh-CN" sz="2800" i="1" dirty="0">
                <a:solidFill>
                  <a:schemeClr val="tx1"/>
                </a:solidFill>
              </a:rPr>
              <a:t>Y</a:t>
            </a:r>
            <a:r>
              <a:rPr lang="en-US" altLang="zh-CN" sz="2800" dirty="0">
                <a:solidFill>
                  <a:schemeClr val="tx1"/>
                </a:solidFill>
              </a:rPr>
              <a:t>→</a:t>
            </a:r>
            <a:r>
              <a:rPr lang="en-US" altLang="zh-CN" sz="2800" i="1" dirty="0">
                <a:solidFill>
                  <a:schemeClr val="tx1"/>
                </a:solidFill>
              </a:rPr>
              <a:t>Z</a:t>
            </a:r>
            <a:r>
              <a:rPr lang="zh-CN" altLang="en-US" sz="2800" dirty="0">
                <a:solidFill>
                  <a:schemeClr val="tx1"/>
                </a:solidFill>
              </a:rPr>
              <a:t>，成立，则称</a:t>
            </a:r>
            <a:r>
              <a:rPr lang="en-US" altLang="zh-CN" sz="2800" i="1" dirty="0">
                <a:solidFill>
                  <a:schemeClr val="tx1"/>
                </a:solidFill>
              </a:rPr>
              <a:t>R&lt;U</a:t>
            </a:r>
            <a:r>
              <a:rPr lang="zh-CN" altLang="en-US" sz="2800" i="1" dirty="0">
                <a:solidFill>
                  <a:schemeClr val="tx1"/>
                </a:solidFill>
              </a:rPr>
              <a:t>，</a:t>
            </a:r>
            <a:r>
              <a:rPr lang="en-US" altLang="zh-CN" sz="2800" i="1" dirty="0">
                <a:solidFill>
                  <a:schemeClr val="tx1"/>
                </a:solidFill>
              </a:rPr>
              <a:t>F&gt;</a:t>
            </a:r>
            <a:r>
              <a:rPr lang="en-US" altLang="zh-CN" sz="2800" dirty="0">
                <a:solidFill>
                  <a:schemeClr val="tx1"/>
                </a:solidFill>
              </a:rPr>
              <a:t> ∈ </a:t>
            </a:r>
            <a:r>
              <a:rPr lang="en-US" altLang="zh-CN" sz="2800" i="1" dirty="0">
                <a:solidFill>
                  <a:schemeClr val="tx1"/>
                </a:solidFill>
              </a:rPr>
              <a:t>3NF</a:t>
            </a:r>
            <a:r>
              <a:rPr lang="zh-CN" altLang="en-US" sz="2800" dirty="0">
                <a:solidFill>
                  <a:schemeClr val="tx1"/>
                </a:solidFill>
              </a:rPr>
              <a:t>。</a:t>
            </a:r>
            <a:endParaRPr lang="zh-CN" altLang="en-US" sz="2800" dirty="0">
              <a:solidFill>
                <a:schemeClr val="tx1"/>
              </a:solidFill>
            </a:endParaRPr>
          </a:p>
          <a:p>
            <a:pPr algn="just" eaLnBrk="1" hangingPunct="1">
              <a:lnSpc>
                <a:spcPct val="120000"/>
              </a:lnSpc>
              <a:spcBef>
                <a:spcPct val="0"/>
              </a:spcBef>
            </a:pPr>
            <a:r>
              <a:rPr lang="zh-CN" altLang="en-US" sz="2800" dirty="0">
                <a:solidFill>
                  <a:schemeClr val="tx1"/>
                </a:solidFill>
                <a:latin typeface="宋体" panose="02010600030101010101" pitchFamily="2" charset="-122"/>
              </a:rPr>
              <a:t>若</a:t>
            </a:r>
            <a:r>
              <a:rPr lang="en-US" altLang="zh-CN" sz="2800" dirty="0">
                <a:solidFill>
                  <a:schemeClr val="tx1"/>
                </a:solidFill>
              </a:rPr>
              <a:t>R</a:t>
            </a:r>
            <a:r>
              <a:rPr lang="en-US" altLang="zh-CN" sz="2800" dirty="0">
                <a:solidFill>
                  <a:schemeClr val="tx1"/>
                </a:solidFill>
                <a:latin typeface="宋体" panose="02010600030101010101" pitchFamily="2" charset="-122"/>
              </a:rPr>
              <a:t> </a:t>
            </a:r>
            <a:r>
              <a:rPr lang="en-US" altLang="zh-CN" sz="2800" dirty="0">
                <a:solidFill>
                  <a:schemeClr val="tx1"/>
                </a:solidFill>
              </a:rPr>
              <a:t>∈ </a:t>
            </a:r>
            <a:r>
              <a:rPr lang="en-US" altLang="zh-CN" sz="2800" i="1" dirty="0">
                <a:solidFill>
                  <a:schemeClr val="tx1"/>
                </a:solidFill>
              </a:rPr>
              <a:t>3NF,</a:t>
            </a:r>
            <a:r>
              <a:rPr lang="zh-CN" altLang="en-US" sz="2800" dirty="0">
                <a:solidFill>
                  <a:schemeClr val="tx1"/>
                </a:solidFill>
              </a:rPr>
              <a:t>则每一非主属性既不部分依赖于码也不传递依赖于码。</a:t>
            </a:r>
            <a:endParaRPr lang="zh-CN" altLang="en-US" sz="2800" dirty="0">
              <a:solidFill>
                <a:schemeClr val="tx1"/>
              </a:solidFill>
            </a:endParaRPr>
          </a:p>
          <a:p>
            <a:pPr algn="just" eaLnBrk="1" hangingPunct="1">
              <a:lnSpc>
                <a:spcPct val="120000"/>
              </a:lnSpc>
              <a:spcBef>
                <a:spcPct val="0"/>
              </a:spcBef>
            </a:pPr>
            <a:r>
              <a:rPr lang="zh-CN" altLang="en-US" sz="2800" dirty="0"/>
              <a:t>若</a:t>
            </a:r>
            <a:r>
              <a:rPr lang="en-US" altLang="zh-CN" sz="2800" dirty="0"/>
              <a:t>R ∈ </a:t>
            </a:r>
            <a:r>
              <a:rPr lang="en-US" altLang="zh-CN" sz="2800" i="1" dirty="0"/>
              <a:t>3NF</a:t>
            </a:r>
            <a:r>
              <a:rPr lang="en-US" altLang="zh-CN" sz="2800" dirty="0"/>
              <a:t> ,</a:t>
            </a:r>
            <a:r>
              <a:rPr lang="zh-CN" altLang="en-US" sz="2800" dirty="0"/>
              <a:t>则必有</a:t>
            </a:r>
            <a:r>
              <a:rPr lang="en-US" altLang="zh-CN" sz="2800" dirty="0"/>
              <a:t>R ∈ </a:t>
            </a:r>
            <a:r>
              <a:rPr lang="en-US" altLang="zh-CN" sz="2800" i="1" dirty="0"/>
              <a:t>2NF</a:t>
            </a:r>
            <a:r>
              <a:rPr lang="en-US" altLang="zh-CN" sz="2800" dirty="0">
                <a:solidFill>
                  <a:schemeClr val="tx1"/>
                </a:solidFill>
              </a:rPr>
              <a:t> </a:t>
            </a:r>
            <a:r>
              <a:rPr lang="zh-CN" altLang="en-US" dirty="0">
                <a:solidFill>
                  <a:schemeClr val="tx1"/>
                </a:solidFill>
                <a:latin typeface="宋体" panose="02010600030101010101" pitchFamily="2" charset="-122"/>
              </a:rPr>
              <a:t>。</a:t>
            </a:r>
            <a:endParaRPr lang="zh-CN" altLang="en-US" dirty="0">
              <a:solidFill>
                <a:schemeClr val="tx1"/>
              </a:solidFill>
              <a:latin typeface="宋体" panose="02010600030101010101" pitchFamily="2" charset="-122"/>
            </a:endParaRPr>
          </a:p>
          <a:p>
            <a:pPr eaLnBrk="1" hangingPunct="1">
              <a:lnSpc>
                <a:spcPct val="120000"/>
              </a:lnSpc>
              <a:spcBef>
                <a:spcPct val="0"/>
              </a:spcBef>
              <a:spcAft>
                <a:spcPct val="30000"/>
              </a:spcAft>
            </a:pPr>
            <a:r>
              <a:rPr lang="zh-CN" altLang="en-US" sz="2800" dirty="0">
                <a:solidFill>
                  <a:schemeClr val="tx1"/>
                </a:solidFill>
              </a:rPr>
              <a:t>采用投影分解法将一个</a:t>
            </a:r>
            <a:r>
              <a:rPr lang="en-US" altLang="zh-CN" sz="2800" dirty="0">
                <a:solidFill>
                  <a:schemeClr val="tx1"/>
                </a:solidFill>
              </a:rPr>
              <a:t>2NF</a:t>
            </a:r>
            <a:r>
              <a:rPr lang="zh-CN" altLang="en-US" sz="2800" dirty="0">
                <a:solidFill>
                  <a:schemeClr val="tx1"/>
                </a:solidFill>
              </a:rPr>
              <a:t>的关系分解为多个</a:t>
            </a:r>
            <a:r>
              <a:rPr lang="en-US" altLang="zh-CN" sz="2800" dirty="0">
                <a:solidFill>
                  <a:schemeClr val="tx1"/>
                </a:solidFill>
              </a:rPr>
              <a:t>3NF</a:t>
            </a:r>
            <a:r>
              <a:rPr lang="zh-CN" altLang="en-US" sz="2800" dirty="0">
                <a:solidFill>
                  <a:schemeClr val="tx1"/>
                </a:solidFill>
              </a:rPr>
              <a:t>的关系，可以在一定程度上解决原</a:t>
            </a:r>
            <a:r>
              <a:rPr lang="en-US" altLang="zh-CN" sz="2800" dirty="0">
                <a:solidFill>
                  <a:schemeClr val="tx1"/>
                </a:solidFill>
              </a:rPr>
              <a:t>2NF</a:t>
            </a:r>
            <a:r>
              <a:rPr lang="zh-CN" altLang="en-US" sz="2800" dirty="0">
                <a:solidFill>
                  <a:schemeClr val="tx1"/>
                </a:solidFill>
              </a:rPr>
              <a:t>关系中存在的插入异常、删除异常、数据冗余度大、修改复杂等问题。</a:t>
            </a:r>
            <a:endParaRPr lang="zh-CN" altLang="en-US" dirty="0">
              <a:solidFill>
                <a:schemeClr val="tx1"/>
              </a:solidFill>
              <a:latin typeface="宋体" panose="02010600030101010101" pitchFamily="2" charset="-122"/>
            </a:endParaRPr>
          </a:p>
        </p:txBody>
      </p:sp>
      <p:sp>
        <p:nvSpPr>
          <p:cNvPr id="20484" name="Rectangle 3"/>
          <p:cNvSpPr>
            <a:spLocks noGrp="1"/>
          </p:cNvSpPr>
          <p:nvPr>
            <p:ph type="title"/>
          </p:nvPr>
        </p:nvSpPr>
        <p:spPr>
          <a:xfrm>
            <a:off x="685800" y="0"/>
            <a:ext cx="77724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dirty="0"/>
              <a:t>6.4.4  3NF</a:t>
            </a:r>
            <a:endParaRPr lang="en-US" altLang="zh-CN" dirty="0"/>
          </a:p>
        </p:txBody>
      </p:sp>
      <p:sp>
        <p:nvSpPr>
          <p:cNvPr id="20485" name="Line 4"/>
          <p:cNvSpPr/>
          <p:nvPr/>
        </p:nvSpPr>
        <p:spPr>
          <a:xfrm flipH="1">
            <a:off x="4584700" y="2260600"/>
            <a:ext cx="76200" cy="304800"/>
          </a:xfrm>
          <a:prstGeom prst="line">
            <a:avLst/>
          </a:prstGeom>
          <a:ln w="38100" cap="sq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0486" name="Line 5"/>
          <p:cNvSpPr/>
          <p:nvPr/>
        </p:nvSpPr>
        <p:spPr>
          <a:xfrm flipH="1">
            <a:off x="7924800" y="2184400"/>
            <a:ext cx="76200" cy="304800"/>
          </a:xfrm>
          <a:prstGeom prst="line">
            <a:avLst/>
          </a:prstGeom>
          <a:ln w="38100" cap="sq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506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21507" name="Rectangle 2"/>
          <p:cNvSpPr>
            <a:spLocks noGrp="1"/>
          </p:cNvSpPr>
          <p:nvPr>
            <p:ph idx="1"/>
          </p:nvPr>
        </p:nvSpPr>
        <p:spPr>
          <a:xfrm>
            <a:off x="76200" y="914400"/>
            <a:ext cx="8915400" cy="5486400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140000"/>
              </a:lnSpc>
            </a:pPr>
            <a:r>
              <a:rPr lang="zh-CN" altLang="en-US" sz="2800" dirty="0">
                <a:solidFill>
                  <a:schemeClr val="tx1"/>
                </a:solidFill>
              </a:rPr>
              <a:t>推论</a:t>
            </a:r>
            <a:r>
              <a:rPr lang="en-US" altLang="zh-CN" sz="2800" dirty="0">
                <a:solidFill>
                  <a:schemeClr val="tx1"/>
                </a:solidFill>
              </a:rPr>
              <a:t>1: </a:t>
            </a:r>
            <a:r>
              <a:rPr lang="zh-CN" altLang="en-US" sz="2800" dirty="0">
                <a:solidFill>
                  <a:schemeClr val="tx1"/>
                </a:solidFill>
                <a:latin typeface="宋体" panose="02010600030101010101" pitchFamily="2" charset="-122"/>
              </a:rPr>
              <a:t>若</a:t>
            </a:r>
            <a:r>
              <a:rPr lang="en-US" altLang="zh-CN" sz="2800" dirty="0">
                <a:solidFill>
                  <a:schemeClr val="tx1"/>
                </a:solidFill>
                <a:latin typeface="Arial" panose="020B0604020202020204" pitchFamily="34" charset="0"/>
              </a:rPr>
              <a:t>R∈2NF</a:t>
            </a:r>
            <a:r>
              <a:rPr lang="zh-CN" altLang="en-US" sz="2800" dirty="0">
                <a:solidFill>
                  <a:schemeClr val="tx1"/>
                </a:solidFill>
                <a:latin typeface="宋体" panose="02010600030101010101" pitchFamily="2" charset="-122"/>
              </a:rPr>
              <a:t>，且至多存在一个非主属性，则</a:t>
            </a:r>
            <a:r>
              <a:rPr lang="en-US" altLang="zh-CN" sz="2800" dirty="0">
                <a:solidFill>
                  <a:schemeClr val="tx1"/>
                </a:solidFill>
                <a:latin typeface="Arial" panose="020B0604020202020204" pitchFamily="34" charset="0"/>
              </a:rPr>
              <a:t>R∈3NF</a:t>
            </a:r>
            <a:endParaRPr lang="en-US" altLang="zh-CN" sz="28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eaLnBrk="1" hangingPunct="1">
              <a:lnSpc>
                <a:spcPct val="140000"/>
              </a:lnSpc>
            </a:pPr>
            <a:r>
              <a:rPr lang="zh-CN" altLang="en-US" sz="2800" dirty="0">
                <a:solidFill>
                  <a:schemeClr val="tx1"/>
                </a:solidFill>
                <a:latin typeface="宋体" panose="02010600030101010101" pitchFamily="2" charset="-122"/>
              </a:rPr>
              <a:t>推论</a:t>
            </a:r>
            <a:r>
              <a:rPr lang="en-US" altLang="zh-CN" sz="2800" dirty="0">
                <a:solidFill>
                  <a:schemeClr val="tx1"/>
                </a:solidFill>
              </a:rPr>
              <a:t>2: </a:t>
            </a:r>
            <a:r>
              <a:rPr lang="zh-CN" altLang="en-US" sz="2800" dirty="0">
                <a:solidFill>
                  <a:schemeClr val="tx1"/>
                </a:solidFill>
                <a:latin typeface="宋体" panose="02010600030101010101" pitchFamily="2" charset="-122"/>
              </a:rPr>
              <a:t>任何二元关系模式</a:t>
            </a:r>
            <a:r>
              <a:rPr lang="en-US" altLang="zh-CN" sz="2800" dirty="0">
                <a:solidFill>
                  <a:schemeClr val="tx1"/>
                </a:solidFill>
                <a:latin typeface="Arial" panose="020B0604020202020204" pitchFamily="34" charset="0"/>
              </a:rPr>
              <a:t>R(A,B)</a:t>
            </a:r>
            <a:r>
              <a:rPr lang="zh-CN" altLang="en-US" sz="2800" dirty="0">
                <a:solidFill>
                  <a:schemeClr val="tx1"/>
                </a:solidFill>
                <a:latin typeface="宋体" panose="02010600030101010101" pitchFamily="2" charset="-122"/>
              </a:rPr>
              <a:t>必为</a:t>
            </a:r>
            <a:r>
              <a:rPr lang="en-US" altLang="zh-CN" sz="2800" dirty="0">
                <a:solidFill>
                  <a:schemeClr val="tx1"/>
                </a:solidFill>
                <a:latin typeface="Arial" panose="020B0604020202020204" pitchFamily="34" charset="0"/>
              </a:rPr>
              <a:t>3NF</a:t>
            </a:r>
            <a:r>
              <a:rPr lang="zh-CN" altLang="en-US" sz="2800" dirty="0">
                <a:solidFill>
                  <a:schemeClr val="tx1"/>
                </a:solidFill>
                <a:latin typeface="宋体" panose="02010600030101010101" pitchFamily="2" charset="-122"/>
              </a:rPr>
              <a:t>。</a:t>
            </a:r>
            <a:endParaRPr lang="zh-CN" altLang="en-US" sz="2800" dirty="0">
              <a:solidFill>
                <a:schemeClr val="tx1"/>
              </a:solidFill>
              <a:latin typeface="宋体" panose="02010600030101010101" pitchFamily="2" charset="-122"/>
            </a:endParaRPr>
          </a:p>
        </p:txBody>
      </p:sp>
      <p:sp>
        <p:nvSpPr>
          <p:cNvPr id="21508" name="Rectangle 3"/>
          <p:cNvSpPr>
            <a:spLocks noGrp="1"/>
          </p:cNvSpPr>
          <p:nvPr>
            <p:ph type="title"/>
          </p:nvPr>
        </p:nvSpPr>
        <p:spPr>
          <a:xfrm>
            <a:off x="685800" y="0"/>
            <a:ext cx="77724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u="sng" dirty="0"/>
              <a:t>6.4.4  3NF</a:t>
            </a:r>
            <a:endParaRPr lang="en-US" altLang="zh-CN" u="sng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2530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22531" name="Rectangle 2"/>
          <p:cNvSpPr>
            <a:spLocks noGrp="1"/>
          </p:cNvSpPr>
          <p:nvPr>
            <p:ph idx="1"/>
          </p:nvPr>
        </p:nvSpPr>
        <p:spPr>
          <a:xfrm>
            <a:off x="76200" y="914400"/>
            <a:ext cx="8915400" cy="5943600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140000"/>
              </a:lnSpc>
            </a:pPr>
            <a:r>
              <a:rPr lang="en-US" altLang="zh-CN" dirty="0">
                <a:solidFill>
                  <a:schemeClr val="tx1"/>
                </a:solidFill>
              </a:rPr>
              <a:t>2. </a:t>
            </a:r>
            <a:r>
              <a:rPr lang="zh-CN" altLang="en-US" dirty="0">
                <a:solidFill>
                  <a:schemeClr val="tx1"/>
                </a:solidFill>
                <a:latin typeface="宋体" panose="02010600030101010101" pitchFamily="2" charset="-122"/>
              </a:rPr>
              <a:t>说明</a:t>
            </a:r>
            <a:endParaRPr lang="zh-CN" altLang="en-US" dirty="0">
              <a:solidFill>
                <a:schemeClr val="tx1"/>
              </a:solidFill>
              <a:latin typeface="宋体" panose="02010600030101010101" pitchFamily="2" charset="-122"/>
            </a:endParaRPr>
          </a:p>
          <a:p>
            <a:pPr lvl="1" eaLnBrk="1" hangingPunct="1">
              <a:lnSpc>
                <a:spcPct val="140000"/>
              </a:lnSpc>
            </a:pPr>
            <a:r>
              <a:rPr lang="zh-CN" altLang="en-US" sz="2400" dirty="0">
                <a:latin typeface="宋体" panose="02010600030101010101" pitchFamily="2" charset="-122"/>
              </a:rPr>
              <a:t>部分</a:t>
            </a:r>
            <a:r>
              <a:rPr lang="en-US" altLang="zh-CN" sz="2400" i="1" dirty="0">
                <a:latin typeface="Arial" panose="020B0604020202020204" pitchFamily="34" charset="0"/>
              </a:rPr>
              <a:t>FD</a:t>
            </a:r>
            <a:r>
              <a:rPr lang="zh-CN" altLang="en-US" sz="2400" dirty="0">
                <a:latin typeface="宋体" panose="02010600030101010101" pitchFamily="2" charset="-122"/>
              </a:rPr>
              <a:t>和传递</a:t>
            </a:r>
            <a:r>
              <a:rPr lang="en-US" altLang="zh-CN" sz="2400" i="1" dirty="0">
                <a:latin typeface="Arial" panose="020B0604020202020204" pitchFamily="34" charset="0"/>
              </a:rPr>
              <a:t>FD</a:t>
            </a:r>
            <a:r>
              <a:rPr lang="zh-CN" altLang="en-US" sz="2400" dirty="0">
                <a:latin typeface="宋体" panose="02010600030101010101" pitchFamily="2" charset="-122"/>
              </a:rPr>
              <a:t>是冗余及操作异常的重要根源。</a:t>
            </a:r>
            <a:endParaRPr lang="zh-CN" altLang="en-US" sz="2400" dirty="0">
              <a:latin typeface="宋体" panose="02010600030101010101" pitchFamily="2" charset="-122"/>
            </a:endParaRPr>
          </a:p>
          <a:p>
            <a:pPr lvl="1" algn="just" eaLnBrk="1" hangingPunct="1"/>
            <a:r>
              <a:rPr lang="en-US" altLang="zh-CN" sz="2400" dirty="0">
                <a:latin typeface="Arial" panose="020B0604020202020204" pitchFamily="34" charset="0"/>
              </a:rPr>
              <a:t>3NF</a:t>
            </a:r>
            <a:r>
              <a:rPr lang="zh-CN" altLang="en-US" sz="2400" dirty="0">
                <a:latin typeface="宋体" panose="02010600030101010101" pitchFamily="2" charset="-122"/>
              </a:rPr>
              <a:t>不存在非主属性对候选码的部分</a:t>
            </a:r>
            <a:r>
              <a:rPr lang="en-US" altLang="zh-CN" sz="2400" i="1" dirty="0">
                <a:latin typeface="Arial" panose="020B0604020202020204" pitchFamily="34" charset="0"/>
              </a:rPr>
              <a:t>FD</a:t>
            </a:r>
            <a:r>
              <a:rPr lang="zh-CN" altLang="en-US" sz="2400" dirty="0">
                <a:latin typeface="宋体" panose="02010600030101010101" pitchFamily="2" charset="-122"/>
              </a:rPr>
              <a:t>和传递</a:t>
            </a:r>
            <a:r>
              <a:rPr lang="en-US" altLang="zh-CN" sz="2400" i="1" dirty="0">
                <a:latin typeface="Arial" panose="020B0604020202020204" pitchFamily="34" charset="0"/>
              </a:rPr>
              <a:t>FD</a:t>
            </a:r>
            <a:r>
              <a:rPr lang="zh-CN" altLang="en-US" sz="2400" dirty="0">
                <a:latin typeface="宋体" panose="02010600030101010101" pitchFamily="2" charset="-122"/>
              </a:rPr>
              <a:t>。</a:t>
            </a:r>
            <a:endParaRPr lang="zh-CN" altLang="en-US" sz="2400" dirty="0">
              <a:latin typeface="宋体" panose="02010600030101010101" pitchFamily="2" charset="-122"/>
            </a:endParaRPr>
          </a:p>
          <a:p>
            <a:pPr lvl="1" algn="just" eaLnBrk="1" hangingPunct="1"/>
            <a:r>
              <a:rPr lang="en-US" altLang="zh-CN" sz="2400" dirty="0">
                <a:latin typeface="Arial" panose="020B0604020202020204" pitchFamily="34" charset="0"/>
              </a:rPr>
              <a:t>3NF</a:t>
            </a:r>
            <a:r>
              <a:rPr lang="zh-CN" altLang="en-US" sz="2400" dirty="0">
                <a:latin typeface="宋体" panose="02010600030101010101" pitchFamily="2" charset="-122"/>
              </a:rPr>
              <a:t>消去了大部分冗余及操作异常。</a:t>
            </a:r>
            <a:endParaRPr lang="zh-CN" altLang="en-US" sz="2400" dirty="0">
              <a:latin typeface="宋体" panose="02010600030101010101" pitchFamily="2" charset="-122"/>
            </a:endParaRPr>
          </a:p>
          <a:p>
            <a:pPr lvl="1" algn="just" eaLnBrk="1" hangingPunct="1"/>
            <a:r>
              <a:rPr lang="zh-CN" altLang="en-US" sz="2400" dirty="0">
                <a:latin typeface="宋体" panose="02010600030101010101" pitchFamily="2" charset="-122"/>
              </a:rPr>
              <a:t>但并非所有的</a:t>
            </a:r>
            <a:r>
              <a:rPr lang="en-US" altLang="zh-CN" sz="2400" dirty="0">
                <a:latin typeface="Arial" panose="020B0604020202020204" pitchFamily="34" charset="0"/>
              </a:rPr>
              <a:t>3NF</a:t>
            </a:r>
            <a:r>
              <a:rPr lang="zh-CN" altLang="en-US" sz="2400" dirty="0">
                <a:latin typeface="宋体" panose="02010600030101010101" pitchFamily="2" charset="-122"/>
              </a:rPr>
              <a:t>都能完全消除冗余及操作异常。</a:t>
            </a:r>
            <a:endParaRPr lang="zh-CN" altLang="en-US" sz="2400" dirty="0">
              <a:latin typeface="宋体" panose="02010600030101010101" pitchFamily="2" charset="-122"/>
            </a:endParaRPr>
          </a:p>
          <a:p>
            <a:pPr algn="just" eaLnBrk="1" hangingPunct="1">
              <a:buNone/>
            </a:pPr>
            <a:r>
              <a:rPr lang="en-US" altLang="zh-CN" sz="2800" dirty="0">
                <a:solidFill>
                  <a:schemeClr val="tx1"/>
                </a:solidFill>
              </a:rPr>
              <a:t>【</a:t>
            </a:r>
            <a:r>
              <a:rPr lang="zh-CN" altLang="en-US" sz="2800" dirty="0">
                <a:solidFill>
                  <a:schemeClr val="tx1"/>
                </a:solidFill>
              </a:rPr>
              <a:t>例</a:t>
            </a:r>
            <a:r>
              <a:rPr lang="en-US" altLang="zh-CN" sz="2800" dirty="0">
                <a:solidFill>
                  <a:schemeClr val="tx1"/>
                </a:solidFill>
              </a:rPr>
              <a:t>6.11】</a:t>
            </a:r>
            <a:r>
              <a:rPr lang="en-US" altLang="zh-CN" sz="2800" dirty="0">
                <a:solidFill>
                  <a:schemeClr val="tx1"/>
                </a:solidFill>
                <a:latin typeface="宋体" panose="02010600030101010101" pitchFamily="2" charset="-122"/>
              </a:rPr>
              <a:t> </a:t>
            </a:r>
            <a:r>
              <a:rPr lang="zh-CN" altLang="en-US" sz="2800" dirty="0">
                <a:solidFill>
                  <a:schemeClr val="tx1"/>
                </a:solidFill>
                <a:latin typeface="宋体" panose="02010600030101010101" pitchFamily="2" charset="-122"/>
              </a:rPr>
              <a:t>关系模式</a:t>
            </a:r>
            <a:r>
              <a:rPr lang="en-US" altLang="zh-CN" sz="2800" dirty="0">
                <a:solidFill>
                  <a:schemeClr val="tx1"/>
                </a:solidFill>
                <a:latin typeface="Arial" panose="020B0604020202020204" pitchFamily="34" charset="0"/>
              </a:rPr>
              <a:t>STJ(S,T,J)</a:t>
            </a:r>
            <a:r>
              <a:rPr lang="zh-CN" altLang="en-US" sz="2800" dirty="0">
                <a:solidFill>
                  <a:schemeClr val="tx1"/>
                </a:solidFill>
                <a:latin typeface="宋体" panose="02010600030101010101" pitchFamily="2" charset="-122"/>
              </a:rPr>
              <a:t>中</a:t>
            </a:r>
            <a:r>
              <a:rPr lang="en-US" altLang="zh-CN" sz="2800" dirty="0">
                <a:solidFill>
                  <a:schemeClr val="tx1"/>
                </a:solidFill>
                <a:latin typeface="宋体" panose="02010600030101010101" pitchFamily="2" charset="-122"/>
              </a:rPr>
              <a:t>,</a:t>
            </a:r>
            <a:r>
              <a:rPr lang="en-US" altLang="zh-CN" sz="2800" dirty="0">
                <a:solidFill>
                  <a:schemeClr val="tx1"/>
                </a:solidFill>
                <a:latin typeface="Arial" panose="020B0604020202020204" pitchFamily="34" charset="0"/>
              </a:rPr>
              <a:t>S</a:t>
            </a:r>
            <a:r>
              <a:rPr lang="zh-CN" altLang="en-US" sz="2800" dirty="0">
                <a:solidFill>
                  <a:schemeClr val="tx1"/>
                </a:solidFill>
                <a:latin typeface="宋体" panose="02010600030101010101" pitchFamily="2" charset="-122"/>
              </a:rPr>
              <a:t>表示学生</a:t>
            </a:r>
            <a:r>
              <a:rPr lang="en-US" altLang="zh-CN" sz="2800" dirty="0">
                <a:solidFill>
                  <a:schemeClr val="tx1"/>
                </a:solidFill>
                <a:latin typeface="宋体" panose="02010600030101010101" pitchFamily="2" charset="-122"/>
              </a:rPr>
              <a:t>,</a:t>
            </a:r>
            <a:r>
              <a:rPr lang="en-US" altLang="zh-CN" sz="2800" dirty="0">
                <a:solidFill>
                  <a:schemeClr val="tx1"/>
                </a:solidFill>
                <a:latin typeface="Arial" panose="020B0604020202020204" pitchFamily="34" charset="0"/>
              </a:rPr>
              <a:t>T</a:t>
            </a:r>
            <a:r>
              <a:rPr lang="zh-CN" altLang="en-US" sz="2800" dirty="0">
                <a:solidFill>
                  <a:schemeClr val="tx1"/>
                </a:solidFill>
                <a:latin typeface="宋体" panose="02010600030101010101" pitchFamily="2" charset="-122"/>
              </a:rPr>
              <a:t>表示教师</a:t>
            </a:r>
            <a:r>
              <a:rPr lang="en-US" altLang="zh-CN" sz="2800" dirty="0">
                <a:solidFill>
                  <a:schemeClr val="tx1"/>
                </a:solidFill>
                <a:latin typeface="宋体" panose="02010600030101010101" pitchFamily="2" charset="-122"/>
              </a:rPr>
              <a:t>,</a:t>
            </a:r>
            <a:r>
              <a:rPr lang="en-US" altLang="zh-CN" sz="2800" dirty="0">
                <a:solidFill>
                  <a:schemeClr val="tx1"/>
                </a:solidFill>
                <a:latin typeface="Arial" panose="020B0604020202020204" pitchFamily="34" charset="0"/>
              </a:rPr>
              <a:t>J</a:t>
            </a:r>
            <a:r>
              <a:rPr lang="zh-CN" altLang="en-US" sz="2800" dirty="0">
                <a:solidFill>
                  <a:schemeClr val="tx1"/>
                </a:solidFill>
                <a:latin typeface="宋体" panose="02010600030101010101" pitchFamily="2" charset="-122"/>
              </a:rPr>
              <a:t>表示课程。每一教师只教一门课</a:t>
            </a:r>
            <a:r>
              <a:rPr lang="en-US" altLang="zh-CN" sz="2800" dirty="0">
                <a:solidFill>
                  <a:schemeClr val="tx1"/>
                </a:solidFill>
                <a:latin typeface="宋体" panose="02010600030101010101" pitchFamily="2" charset="-122"/>
              </a:rPr>
              <a:t>,</a:t>
            </a:r>
            <a:r>
              <a:rPr lang="zh-CN" altLang="en-US" sz="2800" dirty="0">
                <a:solidFill>
                  <a:schemeClr val="tx1"/>
                </a:solidFill>
                <a:latin typeface="宋体" panose="02010600030101010101" pitchFamily="2" charset="-122"/>
              </a:rPr>
              <a:t>每门课有若干教师</a:t>
            </a:r>
            <a:r>
              <a:rPr lang="en-US" altLang="zh-CN" sz="2800" dirty="0">
                <a:solidFill>
                  <a:schemeClr val="tx1"/>
                </a:solidFill>
                <a:latin typeface="宋体" panose="02010600030101010101" pitchFamily="2" charset="-122"/>
              </a:rPr>
              <a:t>,</a:t>
            </a:r>
            <a:r>
              <a:rPr lang="zh-CN" altLang="en-US" sz="2800" dirty="0">
                <a:solidFill>
                  <a:schemeClr val="tx1"/>
                </a:solidFill>
                <a:latin typeface="宋体" panose="02010600030101010101" pitchFamily="2" charset="-122"/>
              </a:rPr>
              <a:t>某学生选定某门课</a:t>
            </a:r>
            <a:r>
              <a:rPr lang="en-US" altLang="zh-CN" sz="2800" dirty="0">
                <a:solidFill>
                  <a:schemeClr val="tx1"/>
                </a:solidFill>
                <a:latin typeface="宋体" panose="02010600030101010101" pitchFamily="2" charset="-122"/>
              </a:rPr>
              <a:t>,</a:t>
            </a:r>
            <a:r>
              <a:rPr lang="zh-CN" altLang="en-US" sz="2800" dirty="0">
                <a:solidFill>
                  <a:schemeClr val="tx1"/>
                </a:solidFill>
                <a:latin typeface="宋体" panose="02010600030101010101" pitchFamily="2" charset="-122"/>
              </a:rPr>
              <a:t>就对应一个固定教师。即有</a:t>
            </a:r>
            <a:r>
              <a:rPr lang="en-US" altLang="zh-CN" sz="2800" dirty="0">
                <a:solidFill>
                  <a:schemeClr val="tx1"/>
                </a:solidFill>
                <a:latin typeface="宋体" panose="02010600030101010101" pitchFamily="2" charset="-122"/>
              </a:rPr>
              <a:t>:</a:t>
            </a:r>
            <a:endParaRPr lang="en-US" altLang="zh-CN" sz="2800" dirty="0">
              <a:solidFill>
                <a:schemeClr val="tx1"/>
              </a:solidFill>
              <a:latin typeface="宋体" panose="02010600030101010101" pitchFamily="2" charset="-122"/>
            </a:endParaRPr>
          </a:p>
          <a:p>
            <a:pPr lvl="1" algn="just" eaLnBrk="1" hangingPunct="1"/>
            <a:r>
              <a:rPr lang="en-US" altLang="zh-CN" sz="2400" dirty="0">
                <a:latin typeface="Arial" panose="020B0604020202020204" pitchFamily="34" charset="0"/>
              </a:rPr>
              <a:t>(S,J) → T</a:t>
            </a:r>
            <a:r>
              <a:rPr lang="en-US" altLang="zh-CN" sz="2400" dirty="0"/>
              <a:t>; </a:t>
            </a:r>
            <a:r>
              <a:rPr lang="en-US" altLang="zh-CN" sz="2400" dirty="0">
                <a:latin typeface="Arial" panose="020B0604020202020204" pitchFamily="34" charset="0"/>
              </a:rPr>
              <a:t>(S,T) → J</a:t>
            </a:r>
            <a:r>
              <a:rPr lang="en-US" altLang="zh-CN" sz="2400" dirty="0"/>
              <a:t>; </a:t>
            </a:r>
            <a:r>
              <a:rPr lang="en-US" altLang="zh-CN" sz="2400" dirty="0">
                <a:latin typeface="Arial" panose="020B0604020202020204" pitchFamily="34" charset="0"/>
              </a:rPr>
              <a:t>T→ J</a:t>
            </a:r>
            <a:endParaRPr lang="en-US" altLang="zh-CN" sz="2400" dirty="0">
              <a:latin typeface="Arial" panose="020B0604020202020204" pitchFamily="34" charset="0"/>
            </a:endParaRPr>
          </a:p>
          <a:p>
            <a:pPr lvl="1" algn="just" eaLnBrk="1" hangingPunct="1"/>
            <a:r>
              <a:rPr lang="zh-CN" altLang="en-US" sz="2400" dirty="0"/>
              <a:t>显然</a:t>
            </a:r>
            <a:r>
              <a:rPr lang="en-US" altLang="zh-CN" sz="2400" dirty="0">
                <a:latin typeface="Arial" panose="020B0604020202020204" pitchFamily="34" charset="0"/>
              </a:rPr>
              <a:t>(S,J),(S,T)</a:t>
            </a:r>
            <a:r>
              <a:rPr lang="zh-CN" altLang="en-US" sz="2400" dirty="0"/>
              <a:t>都是候选码</a:t>
            </a:r>
            <a:endParaRPr lang="zh-CN" altLang="en-US" sz="2400" dirty="0"/>
          </a:p>
          <a:p>
            <a:pPr lvl="1" algn="just" eaLnBrk="1" hangingPunct="1"/>
            <a:r>
              <a:rPr lang="en-US" altLang="zh-CN" sz="2400" dirty="0">
                <a:latin typeface="Arial" panose="020B0604020202020204" pitchFamily="34" charset="0"/>
              </a:rPr>
              <a:t>STJ</a:t>
            </a:r>
            <a:r>
              <a:rPr lang="zh-CN" altLang="en-US" sz="2400" dirty="0">
                <a:latin typeface="Arial" panose="020B0604020202020204" pitchFamily="34" charset="0"/>
              </a:rPr>
              <a:t>是</a:t>
            </a:r>
            <a:r>
              <a:rPr lang="en-US" altLang="zh-CN" sz="2400" dirty="0">
                <a:latin typeface="Arial" panose="020B0604020202020204" pitchFamily="34" charset="0"/>
              </a:rPr>
              <a:t>3NF</a:t>
            </a:r>
            <a:endParaRPr lang="en-US" altLang="zh-CN" sz="2400" dirty="0">
              <a:latin typeface="Arial" panose="020B0604020202020204" pitchFamily="34" charset="0"/>
            </a:endParaRPr>
          </a:p>
        </p:txBody>
      </p:sp>
      <p:sp>
        <p:nvSpPr>
          <p:cNvPr id="22532" name="Rectangle 3"/>
          <p:cNvSpPr>
            <a:spLocks noGrp="1"/>
          </p:cNvSpPr>
          <p:nvPr>
            <p:ph type="title"/>
          </p:nvPr>
        </p:nvSpPr>
        <p:spPr>
          <a:xfrm>
            <a:off x="685800" y="0"/>
            <a:ext cx="77724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u="sng" dirty="0"/>
              <a:t>6.4.4  3NF</a:t>
            </a:r>
            <a:endParaRPr lang="en-US" altLang="zh-CN" u="sng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3554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23555" name="Rectangle 2"/>
          <p:cNvSpPr>
            <a:spLocks noGrp="1"/>
          </p:cNvSpPr>
          <p:nvPr>
            <p:ph idx="1"/>
          </p:nvPr>
        </p:nvSpPr>
        <p:spPr>
          <a:xfrm>
            <a:off x="76200" y="914400"/>
            <a:ext cx="8915400" cy="5181600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140000"/>
              </a:lnSpc>
            </a:pPr>
            <a:r>
              <a:rPr lang="en-US" altLang="zh-CN" dirty="0">
                <a:solidFill>
                  <a:schemeClr val="tx1"/>
                </a:solidFill>
              </a:rPr>
              <a:t>3. </a:t>
            </a: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</a:rPr>
              <a:t>3NF</a:t>
            </a:r>
            <a:r>
              <a:rPr lang="zh-CN" altLang="en-US" dirty="0">
                <a:solidFill>
                  <a:schemeClr val="tx1"/>
                </a:solidFill>
                <a:latin typeface="宋体" panose="02010600030101010101" pitchFamily="2" charset="-122"/>
              </a:rPr>
              <a:t>仍可能存在冗余与更新异常</a:t>
            </a:r>
            <a:endParaRPr lang="zh-CN" altLang="en-US" dirty="0">
              <a:solidFill>
                <a:schemeClr val="tx1"/>
              </a:solidFill>
              <a:latin typeface="宋体" panose="02010600030101010101" pitchFamily="2" charset="-122"/>
            </a:endParaRPr>
          </a:p>
          <a:p>
            <a:pPr lvl="1" eaLnBrk="1" hangingPunct="1">
              <a:lnSpc>
                <a:spcPct val="140000"/>
              </a:lnSpc>
              <a:buNone/>
            </a:pPr>
            <a:r>
              <a:rPr lang="zh-CN" altLang="en-US" dirty="0">
                <a:latin typeface="宋体" panose="02010600030101010101" pitchFamily="2" charset="-122"/>
              </a:rPr>
              <a:t>以</a:t>
            </a:r>
            <a:r>
              <a:rPr lang="en-US" altLang="zh-CN" i="1" dirty="0">
                <a:latin typeface="Arial" panose="020B0604020202020204" pitchFamily="34" charset="0"/>
              </a:rPr>
              <a:t>STJ ∈ 3NF</a:t>
            </a:r>
            <a:r>
              <a:rPr lang="en-US" altLang="zh-CN" dirty="0">
                <a:latin typeface="宋体" panose="02010600030101010101" pitchFamily="2" charset="-122"/>
              </a:rPr>
              <a:t> </a:t>
            </a:r>
            <a:r>
              <a:rPr lang="zh-CN" altLang="en-US" dirty="0">
                <a:latin typeface="宋体" panose="02010600030101010101" pitchFamily="2" charset="-122"/>
              </a:rPr>
              <a:t>为例</a:t>
            </a:r>
            <a:endParaRPr lang="zh-CN" altLang="en-US" dirty="0">
              <a:latin typeface="宋体" panose="02010600030101010101" pitchFamily="2" charset="-122"/>
            </a:endParaRPr>
          </a:p>
          <a:p>
            <a:pPr lvl="1" algn="just" eaLnBrk="1" hangingPunct="1"/>
            <a:r>
              <a:rPr lang="zh-CN" altLang="en-US" dirty="0">
                <a:latin typeface="Arial" panose="020B0604020202020204" pitchFamily="34" charset="0"/>
              </a:rPr>
              <a:t>冗余</a:t>
            </a:r>
            <a:r>
              <a:rPr lang="en-US" altLang="zh-CN" dirty="0">
                <a:latin typeface="Arial" panose="020B0604020202020204" pitchFamily="34" charset="0"/>
              </a:rPr>
              <a:t>:</a:t>
            </a:r>
            <a:r>
              <a:rPr lang="zh-CN" altLang="en-US" dirty="0">
                <a:latin typeface="Arial" panose="020B0604020202020204" pitchFamily="34" charset="0"/>
              </a:rPr>
              <a:t>多个学生选同一老师的课时</a:t>
            </a:r>
            <a:r>
              <a:rPr lang="en-US" altLang="zh-CN" dirty="0">
                <a:latin typeface="Arial" panose="020B0604020202020204" pitchFamily="34" charset="0"/>
              </a:rPr>
              <a:t>,T,J</a:t>
            </a:r>
            <a:r>
              <a:rPr lang="zh-CN" altLang="en-US" dirty="0">
                <a:latin typeface="Arial" panose="020B0604020202020204" pitchFamily="34" charset="0"/>
              </a:rPr>
              <a:t>重复</a:t>
            </a:r>
            <a:r>
              <a:rPr lang="zh-CN" altLang="en-US" dirty="0">
                <a:latin typeface="宋体" panose="02010600030101010101" pitchFamily="2" charset="-122"/>
              </a:rPr>
              <a:t>。</a:t>
            </a:r>
            <a:endParaRPr lang="zh-CN" altLang="en-US" dirty="0">
              <a:latin typeface="宋体" panose="02010600030101010101" pitchFamily="2" charset="-122"/>
            </a:endParaRPr>
          </a:p>
          <a:p>
            <a:pPr lvl="1" algn="just" eaLnBrk="1" hangingPunct="1"/>
            <a:r>
              <a:rPr lang="zh-CN" altLang="en-US" dirty="0">
                <a:latin typeface="Arial" panose="020B0604020202020204" pitchFamily="34" charset="0"/>
              </a:rPr>
              <a:t>修改麻烦</a:t>
            </a:r>
            <a:r>
              <a:rPr lang="en-US" altLang="zh-CN" dirty="0">
                <a:latin typeface="Arial" panose="020B0604020202020204" pitchFamily="34" charset="0"/>
              </a:rPr>
              <a:t>:</a:t>
            </a:r>
            <a:r>
              <a:rPr lang="zh-CN" altLang="en-US" dirty="0">
                <a:latin typeface="Arial" panose="020B0604020202020204" pitchFamily="34" charset="0"/>
              </a:rPr>
              <a:t>课程改名，需改多处</a:t>
            </a:r>
            <a:r>
              <a:rPr lang="zh-CN" altLang="en-US" dirty="0">
                <a:latin typeface="宋体" panose="02010600030101010101" pitchFamily="2" charset="-122"/>
              </a:rPr>
              <a:t>。</a:t>
            </a:r>
            <a:endParaRPr lang="zh-CN" altLang="en-US" dirty="0">
              <a:latin typeface="宋体" panose="02010600030101010101" pitchFamily="2" charset="-122"/>
            </a:endParaRPr>
          </a:p>
          <a:p>
            <a:pPr lvl="1" algn="just" eaLnBrk="1" hangingPunct="1"/>
            <a:r>
              <a:rPr lang="zh-CN" altLang="en-US" dirty="0">
                <a:latin typeface="宋体" panose="02010600030101010101" pitchFamily="2" charset="-122"/>
              </a:rPr>
              <a:t>插入异常</a:t>
            </a:r>
            <a:r>
              <a:rPr lang="en-US" altLang="zh-CN" dirty="0">
                <a:latin typeface="宋体" panose="02010600030101010101" pitchFamily="2" charset="-122"/>
              </a:rPr>
              <a:t>:</a:t>
            </a:r>
            <a:endParaRPr lang="en-US" altLang="zh-CN" dirty="0">
              <a:latin typeface="宋体" panose="02010600030101010101" pitchFamily="2" charset="-122"/>
            </a:endParaRPr>
          </a:p>
          <a:p>
            <a:pPr lvl="1" algn="just" eaLnBrk="1" hangingPunct="1">
              <a:buNone/>
            </a:pPr>
            <a:r>
              <a:rPr lang="en-US" altLang="zh-CN" dirty="0">
                <a:latin typeface="宋体" panose="02010600030101010101" pitchFamily="2" charset="-122"/>
              </a:rPr>
              <a:t>	</a:t>
            </a:r>
            <a:r>
              <a:rPr lang="zh-CN" altLang="en-US" dirty="0">
                <a:latin typeface="宋体" panose="02010600030101010101" pitchFamily="2" charset="-122"/>
              </a:rPr>
              <a:t>学生未选课或教师开课无人选时</a:t>
            </a:r>
            <a:endParaRPr lang="zh-CN" altLang="en-US" dirty="0">
              <a:latin typeface="宋体" panose="02010600030101010101" pitchFamily="2" charset="-122"/>
            </a:endParaRPr>
          </a:p>
          <a:p>
            <a:pPr lvl="1" algn="just" eaLnBrk="1" hangingPunct="1"/>
            <a:r>
              <a:rPr lang="zh-CN" altLang="en-US" dirty="0">
                <a:latin typeface="宋体" panose="02010600030101010101" pitchFamily="2" charset="-122"/>
              </a:rPr>
              <a:t>删除异常</a:t>
            </a:r>
            <a:r>
              <a:rPr lang="en-US" altLang="zh-CN" dirty="0">
                <a:latin typeface="宋体" panose="02010600030101010101" pitchFamily="2" charset="-122"/>
              </a:rPr>
              <a:t>:</a:t>
            </a:r>
            <a:endParaRPr lang="en-US" altLang="zh-CN" dirty="0">
              <a:latin typeface="宋体" panose="02010600030101010101" pitchFamily="2" charset="-122"/>
            </a:endParaRPr>
          </a:p>
          <a:p>
            <a:pPr lvl="1" algn="just" eaLnBrk="1" hangingPunct="1">
              <a:buNone/>
            </a:pPr>
            <a:r>
              <a:rPr lang="en-US" altLang="zh-CN" dirty="0">
                <a:latin typeface="宋体" panose="02010600030101010101" pitchFamily="2" charset="-122"/>
              </a:rPr>
              <a:t>	</a:t>
            </a:r>
            <a:r>
              <a:rPr lang="zh-CN" altLang="en-US" dirty="0">
                <a:latin typeface="宋体" panose="02010600030101010101" pitchFamily="2" charset="-122"/>
              </a:rPr>
              <a:t>删除学生信息时</a:t>
            </a:r>
            <a:endParaRPr lang="zh-CN" altLang="en-US" dirty="0">
              <a:latin typeface="宋体" panose="02010600030101010101" pitchFamily="2" charset="-122"/>
            </a:endParaRPr>
          </a:p>
        </p:txBody>
      </p:sp>
      <p:sp>
        <p:nvSpPr>
          <p:cNvPr id="23556" name="Rectangle 3"/>
          <p:cNvSpPr>
            <a:spLocks noGrp="1"/>
          </p:cNvSpPr>
          <p:nvPr>
            <p:ph type="title"/>
          </p:nvPr>
        </p:nvSpPr>
        <p:spPr>
          <a:xfrm>
            <a:off x="685800" y="0"/>
            <a:ext cx="77724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u="sng" dirty="0"/>
              <a:t>6.4.4  3NF</a:t>
            </a:r>
            <a:endParaRPr lang="en-US" altLang="zh-CN" u="sng" dirty="0"/>
          </a:p>
        </p:txBody>
      </p:sp>
      <p:graphicFrame>
        <p:nvGraphicFramePr>
          <p:cNvPr id="26628" name="Group 4"/>
          <p:cNvGraphicFramePr>
            <a:graphicFrameLocks noGrp="1"/>
          </p:cNvGraphicFramePr>
          <p:nvPr/>
        </p:nvGraphicFramePr>
        <p:xfrm>
          <a:off x="5842000" y="2971800"/>
          <a:ext cx="3276600" cy="3683000"/>
        </p:xfrm>
        <a:graphic>
          <a:graphicData uri="http://schemas.openxmlformats.org/drawingml/2006/table">
            <a:tbl>
              <a:tblPr/>
              <a:tblGrid>
                <a:gridCol w="990600"/>
                <a:gridCol w="1143000"/>
                <a:gridCol w="1143000"/>
              </a:tblGrid>
              <a:tr h="46037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T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J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6037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S1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杨</a:t>
                      </a:r>
                      <a:endParaRPr kumimoji="1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DB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</a:tr>
              <a:tr h="46037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S1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谢</a:t>
                      </a:r>
                      <a:endParaRPr kumimoji="1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OS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</a:tr>
              <a:tr h="46037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S1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张</a:t>
                      </a:r>
                      <a:endParaRPr kumimoji="1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DS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</a:tr>
              <a:tr h="46037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S2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99FF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张</a:t>
                      </a:r>
                      <a:endParaRPr kumimoji="1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99FF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DS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99FF"/>
                    </a:solidFill>
                  </a:tcPr>
                </a:tc>
              </a:tr>
              <a:tr h="46037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S2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99FF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李</a:t>
                      </a:r>
                      <a:endParaRPr kumimoji="1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99FF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SE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99FF"/>
                    </a:solidFill>
                  </a:tcPr>
                </a:tc>
              </a:tr>
              <a:tr h="46037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S2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99FF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赵</a:t>
                      </a:r>
                      <a:endParaRPr kumimoji="1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99FF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DM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99FF"/>
                    </a:solidFill>
                  </a:tcPr>
                </a:tc>
              </a:tr>
              <a:tr h="46037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S3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杨</a:t>
                      </a:r>
                      <a:endParaRPr kumimoji="1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DB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4578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24579" name="Rectangle 2"/>
          <p:cNvSpPr>
            <a:spLocks noGrp="1"/>
          </p:cNvSpPr>
          <p:nvPr>
            <p:ph idx="1"/>
          </p:nvPr>
        </p:nvSpPr>
        <p:spPr>
          <a:xfrm>
            <a:off x="76200" y="914400"/>
            <a:ext cx="8915400" cy="5181600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120000"/>
              </a:lnSpc>
              <a:spcBef>
                <a:spcPct val="0"/>
              </a:spcBef>
            </a:pPr>
            <a:r>
              <a:rPr lang="en-US" altLang="zh-CN" dirty="0">
                <a:solidFill>
                  <a:schemeClr val="tx1"/>
                </a:solidFill>
              </a:rPr>
              <a:t>4. </a:t>
            </a:r>
            <a:r>
              <a:rPr lang="zh-CN" altLang="en-US" dirty="0">
                <a:solidFill>
                  <a:schemeClr val="tx1"/>
                </a:solidFill>
                <a:latin typeface="Arial" panose="020B0604020202020204" pitchFamily="34" charset="0"/>
              </a:rPr>
              <a:t>症由</a:t>
            </a: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</a:rPr>
              <a:t>?</a:t>
            </a:r>
            <a:endParaRPr lang="en-US" altLang="zh-CN" dirty="0">
              <a:solidFill>
                <a:schemeClr val="tx1"/>
              </a:solidFill>
              <a:latin typeface="宋体" panose="02010600030101010101" pitchFamily="2" charset="-122"/>
            </a:endParaRPr>
          </a:p>
          <a:p>
            <a:pPr lvl="1" eaLnBrk="1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dirty="0">
                <a:latin typeface="宋体" panose="02010600030101010101" pitchFamily="2" charset="-122"/>
              </a:rPr>
              <a:t>存在主属性对候选码的部分</a:t>
            </a:r>
            <a:r>
              <a:rPr lang="en-US" altLang="zh-CN" i="1" dirty="0">
                <a:latin typeface="Arial" panose="020B0604020202020204" pitchFamily="34" charset="0"/>
              </a:rPr>
              <a:t>FD</a:t>
            </a:r>
            <a:r>
              <a:rPr lang="zh-CN" altLang="en-US" i="1" dirty="0">
                <a:latin typeface="Arial" panose="020B0604020202020204" pitchFamily="34" charset="0"/>
              </a:rPr>
              <a:t>。</a:t>
            </a:r>
            <a:endParaRPr lang="zh-CN" altLang="en-US" i="1" dirty="0">
              <a:latin typeface="Arial" panose="020B0604020202020204" pitchFamily="34" charset="0"/>
            </a:endParaRPr>
          </a:p>
          <a:p>
            <a:pPr lvl="1" algn="just" eaLnBrk="1" hangingPunct="1">
              <a:lnSpc>
                <a:spcPct val="120000"/>
              </a:lnSpc>
              <a:spcBef>
                <a:spcPct val="0"/>
              </a:spcBef>
            </a:pPr>
            <a:r>
              <a:rPr lang="en-US" altLang="zh-CN" dirty="0">
                <a:latin typeface="Arial" panose="020B0604020202020204" pitchFamily="34" charset="0"/>
              </a:rPr>
              <a:t>(S,T) → J</a:t>
            </a:r>
            <a:r>
              <a:rPr lang="en-US" altLang="zh-CN" dirty="0"/>
              <a:t>; </a:t>
            </a:r>
            <a:r>
              <a:rPr lang="en-US" altLang="zh-CN" dirty="0">
                <a:latin typeface="Arial" panose="020B0604020202020204" pitchFamily="34" charset="0"/>
              </a:rPr>
              <a:t>T→ J</a:t>
            </a:r>
            <a:endParaRPr lang="en-US" altLang="zh-CN" dirty="0">
              <a:latin typeface="Arial" panose="020B0604020202020204" pitchFamily="34" charset="0"/>
            </a:endParaRPr>
          </a:p>
          <a:p>
            <a:pPr lvl="1" algn="just" eaLnBrk="1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dirty="0">
                <a:latin typeface="Arial" panose="020B0604020202020204" pitchFamily="34" charset="0"/>
              </a:rPr>
              <a:t>存在主属性对候选码的传递</a:t>
            </a:r>
            <a:r>
              <a:rPr lang="en-US" altLang="zh-CN" i="1" dirty="0">
                <a:latin typeface="Arial" panose="020B0604020202020204" pitchFamily="34" charset="0"/>
              </a:rPr>
              <a:t>FD</a:t>
            </a:r>
            <a:r>
              <a:rPr lang="zh-CN" altLang="en-US" i="1" dirty="0">
                <a:latin typeface="Arial" panose="020B0604020202020204" pitchFamily="34" charset="0"/>
              </a:rPr>
              <a:t>。</a:t>
            </a:r>
            <a:endParaRPr lang="zh-CN" altLang="en-US" i="1" dirty="0">
              <a:latin typeface="宋体" panose="02010600030101010101" pitchFamily="2" charset="-122"/>
            </a:endParaRPr>
          </a:p>
          <a:p>
            <a:pPr lvl="1">
              <a:lnSpc>
                <a:spcPct val="120000"/>
              </a:lnSpc>
              <a:spcBef>
                <a:spcPct val="0"/>
              </a:spcBef>
              <a:buClr>
                <a:srgbClr val="0000CC"/>
              </a:buClr>
            </a:pPr>
            <a:r>
              <a:rPr lang="en-US" altLang="zh-CN" dirty="0">
                <a:latin typeface="Arial" panose="020B0604020202020204" pitchFamily="34" charset="0"/>
              </a:rPr>
              <a:t>(S,J) → T</a:t>
            </a:r>
            <a:r>
              <a:rPr lang="en-US" altLang="zh-CN" dirty="0"/>
              <a:t>; </a:t>
            </a:r>
            <a:r>
              <a:rPr lang="en-US" altLang="zh-CN" dirty="0">
                <a:latin typeface="Arial" panose="020B0604020202020204" pitchFamily="34" charset="0"/>
              </a:rPr>
              <a:t>T→ J</a:t>
            </a:r>
            <a:endParaRPr lang="en-US" altLang="zh-CN" dirty="0">
              <a:latin typeface="Arial" panose="020B0604020202020204" pitchFamily="34" charset="0"/>
            </a:endParaRPr>
          </a:p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en-US" altLang="zh-CN" dirty="0">
                <a:solidFill>
                  <a:schemeClr val="tx1"/>
                </a:solidFill>
              </a:rPr>
              <a:t>5. </a:t>
            </a:r>
            <a:r>
              <a:rPr lang="zh-CN" altLang="en-US" dirty="0">
                <a:solidFill>
                  <a:schemeClr val="tx1"/>
                </a:solidFill>
              </a:rPr>
              <a:t>解决方法</a:t>
            </a:r>
            <a:endParaRPr lang="zh-CN" altLang="en-US" dirty="0">
              <a:solidFill>
                <a:schemeClr val="tx1"/>
              </a:solidFill>
            </a:endParaRPr>
          </a:p>
          <a:p>
            <a:pPr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dirty="0">
                <a:solidFill>
                  <a:schemeClr val="tx1"/>
                </a:solidFill>
              </a:rPr>
              <a:t>	</a:t>
            </a:r>
            <a:r>
              <a:rPr lang="zh-CN" altLang="en-US" sz="2800" dirty="0">
                <a:solidFill>
                  <a:schemeClr val="tx1"/>
                </a:solidFill>
              </a:rPr>
              <a:t>投影分解</a:t>
            </a:r>
            <a:r>
              <a:rPr lang="en-US" altLang="zh-CN" sz="2800" dirty="0">
                <a:solidFill>
                  <a:schemeClr val="tx1"/>
                </a:solidFill>
              </a:rPr>
              <a:t>,</a:t>
            </a:r>
            <a:r>
              <a:rPr lang="zh-CN" altLang="en-US" sz="2800" dirty="0">
                <a:solidFill>
                  <a:schemeClr val="tx1"/>
                </a:solidFill>
              </a:rPr>
              <a:t>消去主属性对候选码的部分</a:t>
            </a:r>
            <a:r>
              <a:rPr lang="en-US" altLang="zh-CN" sz="2800" i="1" dirty="0">
                <a:solidFill>
                  <a:schemeClr val="tx1"/>
                </a:solidFill>
                <a:latin typeface="Arial" panose="020B0604020202020204" pitchFamily="34" charset="0"/>
              </a:rPr>
              <a:t>FD</a:t>
            </a:r>
            <a:endParaRPr lang="en-US" altLang="zh-CN" i="1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lvl="1">
              <a:lnSpc>
                <a:spcPct val="120000"/>
              </a:lnSpc>
              <a:spcBef>
                <a:spcPct val="0"/>
              </a:spcBef>
              <a:buClr>
                <a:srgbClr val="0000CC"/>
              </a:buClr>
            </a:pPr>
            <a:r>
              <a:rPr lang="en-US" altLang="zh-CN" dirty="0">
                <a:latin typeface="Arial" panose="020B0604020202020204" pitchFamily="34" charset="0"/>
              </a:rPr>
              <a:t>ST(S,T), TJ(T,J)</a:t>
            </a:r>
            <a:endParaRPr lang="en-US" altLang="zh-CN" dirty="0">
              <a:latin typeface="Arial" panose="020B0604020202020204" pitchFamily="34" charset="0"/>
            </a:endParaRPr>
          </a:p>
        </p:txBody>
      </p:sp>
      <p:sp>
        <p:nvSpPr>
          <p:cNvPr id="24580" name="Rectangle 3"/>
          <p:cNvSpPr>
            <a:spLocks noGrp="1"/>
          </p:cNvSpPr>
          <p:nvPr>
            <p:ph type="title"/>
          </p:nvPr>
        </p:nvSpPr>
        <p:spPr>
          <a:xfrm>
            <a:off x="685800" y="0"/>
            <a:ext cx="77724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u="sng" dirty="0"/>
              <a:t>6.4.4  3NF</a:t>
            </a:r>
            <a:endParaRPr lang="en-US" altLang="zh-CN" u="sng" dirty="0"/>
          </a:p>
        </p:txBody>
      </p:sp>
      <p:graphicFrame>
        <p:nvGraphicFramePr>
          <p:cNvPr id="27652" name="Group 4"/>
          <p:cNvGraphicFramePr>
            <a:graphicFrameLocks noGrp="1"/>
          </p:cNvGraphicFramePr>
          <p:nvPr/>
        </p:nvGraphicFramePr>
        <p:xfrm>
          <a:off x="5803900" y="635000"/>
          <a:ext cx="3276600" cy="3683000"/>
        </p:xfrm>
        <a:graphic>
          <a:graphicData uri="http://schemas.openxmlformats.org/drawingml/2006/table">
            <a:tbl>
              <a:tblPr/>
              <a:tblGrid>
                <a:gridCol w="990600"/>
                <a:gridCol w="1143000"/>
                <a:gridCol w="1143000"/>
              </a:tblGrid>
              <a:tr h="46037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T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J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6037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S1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杨</a:t>
                      </a:r>
                      <a:endParaRPr kumimoji="1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DB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</a:tr>
              <a:tr h="46037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S1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谢</a:t>
                      </a:r>
                      <a:endParaRPr kumimoji="1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OS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</a:tr>
              <a:tr h="46037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S1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张</a:t>
                      </a:r>
                      <a:endParaRPr kumimoji="1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DS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</a:tr>
              <a:tr h="46037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S2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99FF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张</a:t>
                      </a:r>
                      <a:endParaRPr kumimoji="1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99FF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DS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99FF"/>
                    </a:solidFill>
                  </a:tcPr>
                </a:tc>
              </a:tr>
              <a:tr h="46037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S2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99FF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李</a:t>
                      </a:r>
                      <a:endParaRPr kumimoji="1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99FF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SE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99FF"/>
                    </a:solidFill>
                  </a:tcPr>
                </a:tc>
              </a:tr>
              <a:tr h="46037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S2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99FF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赵</a:t>
                      </a:r>
                      <a:endParaRPr kumimoji="1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99FF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DM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99FF"/>
                    </a:solidFill>
                  </a:tcPr>
                </a:tc>
              </a:tr>
              <a:tr h="46037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S3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杨</a:t>
                      </a:r>
                      <a:endParaRPr kumimoji="1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DB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5602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25603" name="Rectangle 2"/>
          <p:cNvSpPr>
            <a:spLocks noGrp="1"/>
          </p:cNvSpPr>
          <p:nvPr>
            <p:ph idx="1"/>
          </p:nvPr>
        </p:nvSpPr>
        <p:spPr>
          <a:xfrm>
            <a:off x="76200" y="914400"/>
            <a:ext cx="8915400" cy="5181600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120000"/>
              </a:lnSpc>
              <a:spcBef>
                <a:spcPct val="0"/>
              </a:spcBef>
            </a:pPr>
            <a:r>
              <a:rPr lang="en-US" altLang="zh-CN" dirty="0">
                <a:solidFill>
                  <a:schemeClr val="tx1"/>
                </a:solidFill>
              </a:rPr>
              <a:t>6. </a:t>
            </a:r>
            <a:r>
              <a:rPr lang="zh-CN" altLang="en-US" dirty="0">
                <a:solidFill>
                  <a:schemeClr val="tx1"/>
                </a:solidFill>
                <a:latin typeface="Arial" panose="020B0604020202020204" pitchFamily="34" charset="0"/>
              </a:rPr>
              <a:t>分解后</a:t>
            </a:r>
            <a:endParaRPr lang="zh-CN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lvl="1" eaLnBrk="1" hangingPunct="1">
              <a:lnSpc>
                <a:spcPct val="120000"/>
              </a:lnSpc>
              <a:spcBef>
                <a:spcPct val="0"/>
              </a:spcBef>
            </a:pPr>
            <a:r>
              <a:rPr lang="zh-CN" altLang="en-US" dirty="0">
                <a:latin typeface="宋体" panose="02010600030101010101" pitchFamily="2" charset="-122"/>
              </a:rPr>
              <a:t>冗余得到控制</a:t>
            </a:r>
            <a:endParaRPr lang="zh-CN" altLang="en-US" dirty="0">
              <a:latin typeface="宋体" panose="02010600030101010101" pitchFamily="2" charset="-122"/>
            </a:endParaRPr>
          </a:p>
          <a:p>
            <a:pPr lvl="1" eaLnBrk="1" hangingPunct="1">
              <a:lnSpc>
                <a:spcPct val="120000"/>
              </a:lnSpc>
              <a:spcBef>
                <a:spcPct val="0"/>
              </a:spcBef>
            </a:pPr>
            <a:r>
              <a:rPr lang="zh-CN" altLang="en-US" dirty="0">
                <a:latin typeface="宋体" panose="02010600030101010101" pitchFamily="2" charset="-122"/>
              </a:rPr>
              <a:t>插入异常得以避免</a:t>
            </a:r>
            <a:endParaRPr lang="zh-CN" altLang="en-US" dirty="0">
              <a:latin typeface="宋体" panose="02010600030101010101" pitchFamily="2" charset="-122"/>
            </a:endParaRPr>
          </a:p>
          <a:p>
            <a:pPr lvl="1" eaLnBrk="1" hangingPunct="1">
              <a:lnSpc>
                <a:spcPct val="120000"/>
              </a:lnSpc>
              <a:spcBef>
                <a:spcPct val="0"/>
              </a:spcBef>
            </a:pPr>
            <a:r>
              <a:rPr lang="zh-CN" altLang="en-US" dirty="0">
                <a:latin typeface="宋体" panose="02010600030101010101" pitchFamily="2" charset="-122"/>
              </a:rPr>
              <a:t>删除异常得以避免</a:t>
            </a:r>
            <a:endParaRPr lang="zh-CN" altLang="en-US" dirty="0">
              <a:latin typeface="宋体" panose="02010600030101010101" pitchFamily="2" charset="-122"/>
            </a:endParaRPr>
          </a:p>
          <a:p>
            <a:pPr lvl="1" eaLnBrk="1" hangingPunct="1">
              <a:lnSpc>
                <a:spcPct val="120000"/>
              </a:lnSpc>
              <a:spcBef>
                <a:spcPct val="0"/>
              </a:spcBef>
            </a:pPr>
            <a:r>
              <a:rPr lang="zh-CN" altLang="en-US" dirty="0">
                <a:latin typeface="宋体" panose="02010600030101010101" pitchFamily="2" charset="-122"/>
              </a:rPr>
              <a:t>修改麻烦避免了</a:t>
            </a:r>
            <a:endParaRPr lang="zh-CN" altLang="en-US" dirty="0">
              <a:latin typeface="宋体" panose="02010600030101010101" pitchFamily="2" charset="-122"/>
            </a:endParaRPr>
          </a:p>
        </p:txBody>
      </p:sp>
      <p:sp>
        <p:nvSpPr>
          <p:cNvPr id="25604" name="Rectangle 3"/>
          <p:cNvSpPr>
            <a:spLocks noGrp="1"/>
          </p:cNvSpPr>
          <p:nvPr>
            <p:ph type="title"/>
          </p:nvPr>
        </p:nvSpPr>
        <p:spPr>
          <a:xfrm>
            <a:off x="685800" y="0"/>
            <a:ext cx="77724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u="sng" dirty="0"/>
              <a:t>6.4.4  3NF</a:t>
            </a:r>
            <a:endParaRPr lang="en-US" altLang="zh-CN" u="sng" dirty="0"/>
          </a:p>
        </p:txBody>
      </p:sp>
      <p:graphicFrame>
        <p:nvGraphicFramePr>
          <p:cNvPr id="28676" name="Group 4"/>
          <p:cNvGraphicFramePr>
            <a:graphicFrameLocks noGrp="1"/>
          </p:cNvGraphicFramePr>
          <p:nvPr/>
        </p:nvGraphicFramePr>
        <p:xfrm>
          <a:off x="4394200" y="1447800"/>
          <a:ext cx="2133600" cy="3683000"/>
        </p:xfrm>
        <a:graphic>
          <a:graphicData uri="http://schemas.openxmlformats.org/drawingml/2006/table">
            <a:tbl>
              <a:tblPr/>
              <a:tblGrid>
                <a:gridCol w="990600"/>
                <a:gridCol w="1143000"/>
              </a:tblGrid>
              <a:tr h="46037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T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</a:tr>
              <a:tr h="46037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S1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杨</a:t>
                      </a:r>
                      <a:endParaRPr kumimoji="1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</a:tr>
              <a:tr h="46037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S1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谢</a:t>
                      </a:r>
                      <a:endParaRPr kumimoji="1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</a:tr>
              <a:tr h="46037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S1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张</a:t>
                      </a:r>
                      <a:endParaRPr kumimoji="1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</a:tr>
              <a:tr h="46037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S2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99FF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张</a:t>
                      </a:r>
                      <a:endParaRPr kumimoji="1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99FF"/>
                    </a:solidFill>
                  </a:tcPr>
                </a:tc>
              </a:tr>
              <a:tr h="46037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S2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99FF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李</a:t>
                      </a:r>
                      <a:endParaRPr kumimoji="1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99FF"/>
                    </a:solidFill>
                  </a:tcPr>
                </a:tc>
              </a:tr>
              <a:tr h="46037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S2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99FF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赵</a:t>
                      </a:r>
                      <a:endParaRPr kumimoji="1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99FF"/>
                    </a:solidFill>
                  </a:tcPr>
                </a:tc>
              </a:tr>
              <a:tr h="46037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S3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杨</a:t>
                      </a:r>
                      <a:endParaRPr kumimoji="1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8705" name="Group 33"/>
          <p:cNvGraphicFramePr>
            <a:graphicFrameLocks noGrp="1"/>
          </p:cNvGraphicFramePr>
          <p:nvPr/>
        </p:nvGraphicFramePr>
        <p:xfrm>
          <a:off x="6705600" y="1447800"/>
          <a:ext cx="2286000" cy="2762250"/>
        </p:xfrm>
        <a:graphic>
          <a:graphicData uri="http://schemas.openxmlformats.org/drawingml/2006/table">
            <a:tbl>
              <a:tblPr/>
              <a:tblGrid>
                <a:gridCol w="1143000"/>
                <a:gridCol w="1143000"/>
              </a:tblGrid>
              <a:tr h="46037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T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J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6037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杨</a:t>
                      </a:r>
                      <a:endParaRPr kumimoji="1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DB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</a:tr>
              <a:tr h="46037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谢</a:t>
                      </a:r>
                      <a:endParaRPr kumimoji="1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OS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</a:tr>
              <a:tr h="46037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张</a:t>
                      </a:r>
                      <a:endParaRPr kumimoji="1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DS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</a:tr>
              <a:tr h="46037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李</a:t>
                      </a:r>
                      <a:endParaRPr kumimoji="1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SE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</a:tr>
              <a:tr h="46037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赵</a:t>
                      </a:r>
                      <a:endParaRPr kumimoji="1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DM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6626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26627" name="Rectangle 2"/>
          <p:cNvSpPr>
            <a:spLocks noGrp="1"/>
          </p:cNvSpPr>
          <p:nvPr>
            <p:ph idx="1"/>
          </p:nvPr>
        </p:nvSpPr>
        <p:spPr>
          <a:xfrm>
            <a:off x="1066800" y="914400"/>
            <a:ext cx="6629400" cy="4876800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dirty="0">
                <a:solidFill>
                  <a:schemeClr val="tx1"/>
                </a:solidFill>
              </a:rPr>
              <a:t>6.4.1 </a:t>
            </a:r>
            <a:r>
              <a:rPr lang="zh-CN" altLang="en-US" dirty="0">
                <a:solidFill>
                  <a:schemeClr val="tx1"/>
                </a:solidFill>
              </a:rPr>
              <a:t>范式</a:t>
            </a:r>
            <a:endParaRPr lang="zh-CN" altLang="en-US" dirty="0">
              <a:solidFill>
                <a:schemeClr val="tx1"/>
              </a:solidFill>
            </a:endParaRP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dirty="0">
                <a:solidFill>
                  <a:schemeClr val="tx1"/>
                </a:solidFill>
              </a:rPr>
              <a:t>6.4.2 1NF</a:t>
            </a:r>
            <a:endParaRPr lang="en-US" altLang="zh-CN" dirty="0">
              <a:solidFill>
                <a:schemeClr val="tx1"/>
              </a:solidFill>
            </a:endParaRP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dirty="0">
                <a:solidFill>
                  <a:schemeClr val="tx1"/>
                </a:solidFill>
              </a:rPr>
              <a:t>6.4.3 2NF</a:t>
            </a:r>
            <a:endParaRPr lang="en-US" altLang="zh-CN" dirty="0">
              <a:solidFill>
                <a:schemeClr val="tx1"/>
              </a:solidFill>
            </a:endParaRP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dirty="0">
                <a:solidFill>
                  <a:schemeClr val="tx1"/>
                </a:solidFill>
              </a:rPr>
              <a:t>6.4.4 3NF</a:t>
            </a:r>
            <a:endParaRPr lang="en-US" altLang="zh-CN" dirty="0">
              <a:solidFill>
                <a:schemeClr val="tx1"/>
              </a:solidFill>
            </a:endParaRP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dirty="0"/>
              <a:t>6.4.5 BCNF</a:t>
            </a:r>
            <a:endParaRPr lang="en-US" altLang="zh-CN" dirty="0"/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dirty="0">
                <a:solidFill>
                  <a:schemeClr val="tx1"/>
                </a:solidFill>
              </a:rPr>
              <a:t>6.4.6 </a:t>
            </a:r>
            <a:r>
              <a:rPr lang="zh-CN" altLang="en-US" dirty="0">
                <a:solidFill>
                  <a:schemeClr val="tx1"/>
                </a:solidFill>
              </a:rPr>
              <a:t>多值依赖</a:t>
            </a:r>
            <a:endParaRPr lang="zh-CN" altLang="en-US" dirty="0">
              <a:solidFill>
                <a:schemeClr val="tx1"/>
              </a:solidFill>
            </a:endParaRP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dirty="0">
                <a:solidFill>
                  <a:schemeClr val="tx1"/>
                </a:solidFill>
              </a:rPr>
              <a:t>6.4.7 4NF</a:t>
            </a:r>
            <a:endParaRPr lang="en-US" altLang="zh-CN" dirty="0">
              <a:solidFill>
                <a:schemeClr val="tx1"/>
              </a:solidFill>
            </a:endParaRP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dirty="0">
                <a:solidFill>
                  <a:schemeClr val="tx1"/>
                </a:solidFill>
              </a:rPr>
              <a:t>6.4.8 </a:t>
            </a:r>
            <a:r>
              <a:rPr lang="zh-CN" altLang="en-US" dirty="0">
                <a:solidFill>
                  <a:schemeClr val="tx1"/>
                </a:solidFill>
              </a:rPr>
              <a:t>规范化小结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6628" name="Rectangle 3"/>
          <p:cNvSpPr>
            <a:spLocks noGrp="1"/>
          </p:cNvSpPr>
          <p:nvPr>
            <p:ph type="title"/>
          </p:nvPr>
        </p:nvSpPr>
        <p:spPr>
          <a:xfrm>
            <a:off x="685800" y="0"/>
            <a:ext cx="77724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dirty="0"/>
              <a:t>6.4  </a:t>
            </a:r>
            <a:r>
              <a:rPr lang="zh-CN" altLang="en-US" dirty="0"/>
              <a:t>关系模式的规范化</a:t>
            </a:r>
            <a:endParaRPr lang="zh-CN" altLang="en-US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7650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27651" name="Rectangle 2"/>
          <p:cNvSpPr>
            <a:spLocks noGrp="1"/>
          </p:cNvSpPr>
          <p:nvPr>
            <p:ph idx="1"/>
          </p:nvPr>
        </p:nvSpPr>
        <p:spPr>
          <a:xfrm>
            <a:off x="76200" y="762000"/>
            <a:ext cx="8915400" cy="5562600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120000"/>
              </a:lnSpc>
            </a:pPr>
            <a:r>
              <a:rPr lang="en-US" altLang="zh-CN" dirty="0">
                <a:solidFill>
                  <a:schemeClr val="tx1"/>
                </a:solidFill>
              </a:rPr>
              <a:t>1.</a:t>
            </a:r>
            <a:r>
              <a:rPr lang="zh-CN" altLang="en-US" dirty="0">
                <a:solidFill>
                  <a:schemeClr val="tx1"/>
                </a:solidFill>
                <a:latin typeface="宋体" panose="02010600030101010101" pitchFamily="2" charset="-122"/>
              </a:rPr>
              <a:t>定义</a:t>
            </a:r>
            <a:endParaRPr lang="zh-CN" altLang="en-US" dirty="0">
              <a:solidFill>
                <a:schemeClr val="tx1"/>
              </a:solidFill>
              <a:latin typeface="宋体" panose="02010600030101010101" pitchFamily="2" charset="-122"/>
            </a:endParaRPr>
          </a:p>
          <a:p>
            <a:pPr algn="just" eaLnBrk="1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sz="2000" b="0" dirty="0">
                <a:latin typeface="黑体" panose="02010609060101010101" pitchFamily="49" charset="-122"/>
                <a:ea typeface="黑体" panose="02010609060101010101" pitchFamily="49" charset="-122"/>
              </a:rPr>
              <a:t>	</a:t>
            </a:r>
            <a:r>
              <a:rPr lang="zh-CN" altLang="en-US" sz="2800" dirty="0">
                <a:solidFill>
                  <a:srgbClr val="FF0000"/>
                </a:solidFill>
              </a:rPr>
              <a:t>定义</a:t>
            </a:r>
            <a:r>
              <a:rPr lang="en-US" altLang="zh-CN" sz="2800" dirty="0">
                <a:solidFill>
                  <a:srgbClr val="FF0000"/>
                </a:solidFill>
              </a:rPr>
              <a:t>6.14  </a:t>
            </a:r>
            <a:r>
              <a:rPr lang="zh-CN" altLang="en-US" sz="2800" dirty="0">
                <a:solidFill>
                  <a:schemeClr val="tx1"/>
                </a:solidFill>
              </a:rPr>
              <a:t>设关系模式</a:t>
            </a:r>
            <a:r>
              <a:rPr lang="en-US" altLang="zh-CN" sz="2800" dirty="0">
                <a:solidFill>
                  <a:schemeClr val="tx1"/>
                </a:solidFill>
                <a:latin typeface="Arial" panose="020B0604020202020204" pitchFamily="34" charset="0"/>
              </a:rPr>
              <a:t>R&lt;U</a:t>
            </a:r>
            <a:r>
              <a:rPr lang="zh-CN" altLang="en-US" sz="2800" dirty="0">
                <a:solidFill>
                  <a:schemeClr val="tx1"/>
                </a:solidFill>
                <a:latin typeface="Arial" panose="020B0604020202020204" pitchFamily="34" charset="0"/>
              </a:rPr>
              <a:t>，</a:t>
            </a:r>
            <a:r>
              <a:rPr lang="en-US" altLang="zh-CN" sz="2800" dirty="0">
                <a:solidFill>
                  <a:schemeClr val="tx1"/>
                </a:solidFill>
                <a:latin typeface="Arial" panose="020B0604020202020204" pitchFamily="34" charset="0"/>
              </a:rPr>
              <a:t>F&gt;∈1NF</a:t>
            </a:r>
            <a:r>
              <a:rPr lang="zh-CN" altLang="en-US" sz="2800" dirty="0">
                <a:solidFill>
                  <a:schemeClr val="tx1"/>
                </a:solidFill>
              </a:rPr>
              <a:t>，如果对于</a:t>
            </a:r>
            <a:r>
              <a:rPr lang="en-US" altLang="zh-CN" sz="2800" dirty="0">
                <a:solidFill>
                  <a:schemeClr val="tx1"/>
                </a:solidFill>
                <a:latin typeface="Arial" panose="020B0604020202020204" pitchFamily="34" charset="0"/>
              </a:rPr>
              <a:t>R</a:t>
            </a:r>
            <a:r>
              <a:rPr lang="zh-CN" altLang="en-US" sz="2800" dirty="0">
                <a:solidFill>
                  <a:schemeClr val="tx1"/>
                </a:solidFill>
              </a:rPr>
              <a:t>的每个函数依赖</a:t>
            </a:r>
            <a:r>
              <a:rPr lang="en-US" altLang="zh-CN" sz="2800" dirty="0">
                <a:solidFill>
                  <a:schemeClr val="tx1"/>
                </a:solidFill>
                <a:latin typeface="Arial" panose="020B0604020202020204" pitchFamily="34" charset="0"/>
              </a:rPr>
              <a:t>X→Y</a:t>
            </a:r>
            <a:r>
              <a:rPr lang="zh-CN" altLang="en-US" sz="2800" dirty="0">
                <a:solidFill>
                  <a:schemeClr val="tx1"/>
                </a:solidFill>
              </a:rPr>
              <a:t>，若</a:t>
            </a:r>
            <a:r>
              <a:rPr lang="en-US" altLang="zh-CN" sz="2800" dirty="0">
                <a:solidFill>
                  <a:schemeClr val="tx1"/>
                </a:solidFill>
                <a:latin typeface="Arial" panose="020B0604020202020204" pitchFamily="34" charset="0"/>
              </a:rPr>
              <a:t>Y</a:t>
            </a:r>
            <a:r>
              <a:rPr lang="zh-CN" altLang="en-US" sz="2800" dirty="0">
                <a:solidFill>
                  <a:schemeClr val="tx1"/>
                </a:solidFill>
              </a:rPr>
              <a:t>不属于</a:t>
            </a:r>
            <a:r>
              <a:rPr lang="en-US" altLang="zh-CN" sz="2800" dirty="0">
                <a:solidFill>
                  <a:schemeClr val="tx1"/>
                </a:solidFill>
                <a:latin typeface="Arial" panose="020B0604020202020204" pitchFamily="34" charset="0"/>
              </a:rPr>
              <a:t>X</a:t>
            </a:r>
            <a:r>
              <a:rPr lang="zh-CN" altLang="en-US" sz="2800" dirty="0">
                <a:solidFill>
                  <a:schemeClr val="tx1"/>
                </a:solidFill>
              </a:rPr>
              <a:t>，则</a:t>
            </a:r>
            <a:r>
              <a:rPr lang="en-US" altLang="zh-CN" sz="2800" dirty="0">
                <a:solidFill>
                  <a:schemeClr val="tx1"/>
                </a:solidFill>
                <a:latin typeface="Arial" panose="020B0604020202020204" pitchFamily="34" charset="0"/>
              </a:rPr>
              <a:t>X</a:t>
            </a:r>
            <a:r>
              <a:rPr lang="zh-CN" altLang="en-US" sz="2800" dirty="0">
                <a:solidFill>
                  <a:schemeClr val="tx1"/>
                </a:solidFill>
              </a:rPr>
              <a:t>必含有候选码，那么</a:t>
            </a:r>
            <a:r>
              <a:rPr lang="en-US" altLang="zh-CN" sz="2800" dirty="0">
                <a:solidFill>
                  <a:schemeClr val="tx1"/>
                </a:solidFill>
                <a:latin typeface="Arial" panose="020B0604020202020204" pitchFamily="34" charset="0"/>
              </a:rPr>
              <a:t>R∈BCNF</a:t>
            </a:r>
            <a:r>
              <a:rPr lang="zh-CN" altLang="en-US" sz="2800" dirty="0">
                <a:solidFill>
                  <a:schemeClr val="tx1"/>
                </a:solidFill>
              </a:rPr>
              <a:t>。</a:t>
            </a:r>
            <a:endParaRPr lang="zh-CN" altLang="en-US" sz="2800" dirty="0">
              <a:solidFill>
                <a:schemeClr val="tx1"/>
              </a:solidFill>
            </a:endParaRPr>
          </a:p>
          <a:p>
            <a:pPr algn="just" eaLnBrk="1" hangingPunct="1">
              <a:lnSpc>
                <a:spcPct val="120000"/>
              </a:lnSpc>
              <a:spcBef>
                <a:spcPct val="0"/>
              </a:spcBef>
            </a:pPr>
            <a:r>
              <a:rPr lang="en-US" altLang="zh-CN" dirty="0">
                <a:solidFill>
                  <a:schemeClr val="tx1"/>
                </a:solidFill>
              </a:rPr>
              <a:t>2. BC</a:t>
            </a:r>
            <a:r>
              <a:rPr lang="zh-CN" altLang="en-US" dirty="0">
                <a:solidFill>
                  <a:schemeClr val="tx1"/>
                </a:solidFill>
              </a:rPr>
              <a:t>范式的</a:t>
            </a:r>
            <a:r>
              <a:rPr lang="zh-CN" altLang="en-US" dirty="0">
                <a:solidFill>
                  <a:schemeClr val="tx1"/>
                </a:solidFill>
                <a:latin typeface="宋体" panose="02010600030101010101" pitchFamily="2" charset="-122"/>
              </a:rPr>
              <a:t>性质</a:t>
            </a:r>
            <a:endParaRPr lang="zh-CN" altLang="en-US" dirty="0">
              <a:solidFill>
                <a:schemeClr val="tx1"/>
              </a:solidFill>
              <a:latin typeface="宋体" panose="02010600030101010101" pitchFamily="2" charset="-122"/>
            </a:endParaRPr>
          </a:p>
          <a:p>
            <a:pPr lvl="1" algn="just" eaLnBrk="1" hangingPunct="1">
              <a:lnSpc>
                <a:spcPct val="120000"/>
              </a:lnSpc>
              <a:spcBef>
                <a:spcPct val="0"/>
              </a:spcBef>
            </a:pPr>
            <a:r>
              <a:rPr lang="zh-CN" altLang="en-US" sz="2400" dirty="0">
                <a:latin typeface="宋体" panose="02010600030101010101" pitchFamily="2" charset="-122"/>
              </a:rPr>
              <a:t>每一个函数依赖中的左部决定属性集都包含有候选码。</a:t>
            </a:r>
            <a:endParaRPr lang="zh-CN" altLang="en-US" sz="2400" dirty="0">
              <a:latin typeface="宋体" panose="02010600030101010101" pitchFamily="2" charset="-122"/>
            </a:endParaRPr>
          </a:p>
          <a:p>
            <a:pPr lvl="1" algn="just" eaLnBrk="1" hangingPunct="1">
              <a:lnSpc>
                <a:spcPct val="120000"/>
              </a:lnSpc>
              <a:spcBef>
                <a:spcPct val="0"/>
              </a:spcBef>
            </a:pPr>
            <a:r>
              <a:rPr lang="zh-CN" altLang="en-US" sz="2400" dirty="0"/>
              <a:t>不存在非主属性对候选码的部分</a:t>
            </a:r>
            <a:r>
              <a:rPr lang="en-US" altLang="zh-CN" sz="2400" dirty="0">
                <a:latin typeface="Arial" panose="020B0604020202020204" pitchFamily="34" charset="0"/>
              </a:rPr>
              <a:t>FD</a:t>
            </a:r>
            <a:r>
              <a:rPr lang="zh-CN" altLang="en-US" dirty="0">
                <a:latin typeface="宋体" panose="02010600030101010101" pitchFamily="2" charset="-122"/>
              </a:rPr>
              <a:t>。</a:t>
            </a:r>
            <a:endParaRPr lang="zh-CN" altLang="en-US" dirty="0">
              <a:latin typeface="宋体" panose="02010600030101010101" pitchFamily="2" charset="-122"/>
            </a:endParaRPr>
          </a:p>
          <a:p>
            <a:pPr lvl="1" eaLnBrk="1" hangingPunct="1">
              <a:lnSpc>
                <a:spcPct val="120000"/>
              </a:lnSpc>
              <a:spcBef>
                <a:spcPct val="0"/>
              </a:spcBef>
              <a:spcAft>
                <a:spcPct val="30000"/>
              </a:spcAft>
            </a:pPr>
            <a:r>
              <a:rPr lang="zh-CN" altLang="en-US" sz="2400" dirty="0"/>
              <a:t>不存在非主属性对候选码的传递</a:t>
            </a:r>
            <a:r>
              <a:rPr lang="en-US" altLang="zh-CN" sz="2400" dirty="0">
                <a:latin typeface="Arial" panose="020B0604020202020204" pitchFamily="34" charset="0"/>
              </a:rPr>
              <a:t>FD</a:t>
            </a:r>
            <a:r>
              <a:rPr lang="zh-CN" altLang="en-US" sz="2400" dirty="0"/>
              <a:t>。</a:t>
            </a:r>
            <a:endParaRPr lang="zh-CN" altLang="en-US" sz="2400" dirty="0"/>
          </a:p>
          <a:p>
            <a:pPr lvl="1" eaLnBrk="1" hangingPunct="1">
              <a:lnSpc>
                <a:spcPct val="120000"/>
              </a:lnSpc>
              <a:spcBef>
                <a:spcPct val="0"/>
              </a:spcBef>
              <a:spcAft>
                <a:spcPct val="30000"/>
              </a:spcAft>
            </a:pPr>
            <a:r>
              <a:rPr lang="zh-CN" altLang="en-US" sz="2400" dirty="0"/>
              <a:t>所有主属性都完全</a:t>
            </a:r>
            <a:r>
              <a:rPr lang="en-US" altLang="zh-CN" sz="2400" dirty="0"/>
              <a:t>FD</a:t>
            </a:r>
            <a:r>
              <a:rPr lang="zh-CN" altLang="en-US" sz="2400" dirty="0"/>
              <a:t>于不包含它的候选码。</a:t>
            </a:r>
            <a:endParaRPr lang="zh-CN" altLang="en-US" sz="2400" dirty="0"/>
          </a:p>
          <a:p>
            <a:pPr lvl="1" eaLnBrk="1" hangingPunct="1">
              <a:lnSpc>
                <a:spcPct val="120000"/>
              </a:lnSpc>
              <a:spcBef>
                <a:spcPct val="0"/>
              </a:spcBef>
              <a:spcAft>
                <a:spcPct val="30000"/>
              </a:spcAft>
            </a:pPr>
            <a:r>
              <a:rPr lang="zh-CN" altLang="en-US" sz="2400" dirty="0"/>
              <a:t>没有任何属性完全函数依赖于非码的任何一组属性。</a:t>
            </a:r>
            <a:endParaRPr lang="zh-CN" altLang="en-US" sz="2400" dirty="0"/>
          </a:p>
        </p:txBody>
      </p:sp>
      <p:sp>
        <p:nvSpPr>
          <p:cNvPr id="27652" name="Rectangle 3"/>
          <p:cNvSpPr>
            <a:spLocks noGrp="1"/>
          </p:cNvSpPr>
          <p:nvPr>
            <p:ph type="title"/>
          </p:nvPr>
        </p:nvSpPr>
        <p:spPr>
          <a:xfrm>
            <a:off x="685800" y="0"/>
            <a:ext cx="77724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dirty="0"/>
              <a:t>6.4.5  BCNF</a:t>
            </a:r>
            <a:endParaRPr lang="en-US" altLang="zh-CN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8674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28675" name="Rectangle 2"/>
          <p:cNvSpPr>
            <a:spLocks noGrp="1"/>
          </p:cNvSpPr>
          <p:nvPr>
            <p:ph idx="1"/>
          </p:nvPr>
        </p:nvSpPr>
        <p:spPr>
          <a:xfrm>
            <a:off x="76200" y="914400"/>
            <a:ext cx="8915400" cy="5715000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120000"/>
              </a:lnSpc>
            </a:pPr>
            <a:r>
              <a:rPr lang="en-US" altLang="zh-CN" dirty="0">
                <a:solidFill>
                  <a:schemeClr val="tx1"/>
                </a:solidFill>
              </a:rPr>
              <a:t>3. </a:t>
            </a:r>
            <a:r>
              <a:rPr lang="zh-CN" altLang="en-US" dirty="0">
                <a:solidFill>
                  <a:schemeClr val="tx1"/>
                </a:solidFill>
                <a:latin typeface="宋体" panose="02010600030101010101" pitchFamily="2" charset="-122"/>
              </a:rPr>
              <a:t>定理</a:t>
            </a:r>
            <a:endParaRPr lang="zh-CN" altLang="en-US" dirty="0">
              <a:solidFill>
                <a:schemeClr val="tx1"/>
              </a:solidFill>
              <a:latin typeface="宋体" panose="02010600030101010101" pitchFamily="2" charset="-122"/>
            </a:endParaRPr>
          </a:p>
          <a:p>
            <a:pPr algn="just" eaLnBrk="1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sz="2400" b="0" dirty="0">
                <a:latin typeface="黑体" panose="02010609060101010101" pitchFamily="49" charset="-122"/>
                <a:ea typeface="黑体" panose="02010609060101010101" pitchFamily="49" charset="-122"/>
              </a:rPr>
              <a:t>	</a:t>
            </a:r>
            <a:r>
              <a:rPr lang="zh-CN" altLang="en-US" sz="2800" dirty="0">
                <a:solidFill>
                  <a:schemeClr val="tx1"/>
                </a:solidFill>
              </a:rPr>
              <a:t>如果</a:t>
            </a:r>
            <a:r>
              <a:rPr lang="en-US" altLang="zh-CN" sz="2800" dirty="0">
                <a:solidFill>
                  <a:schemeClr val="tx1"/>
                </a:solidFill>
                <a:latin typeface="Arial" panose="020B0604020202020204" pitchFamily="34" charset="0"/>
              </a:rPr>
              <a:t>R∈BCNF</a:t>
            </a:r>
            <a:r>
              <a:rPr lang="zh-CN" altLang="en-US" sz="2800" dirty="0">
                <a:solidFill>
                  <a:schemeClr val="tx1"/>
                </a:solidFill>
              </a:rPr>
              <a:t>，则</a:t>
            </a:r>
            <a:r>
              <a:rPr lang="en-US" altLang="zh-CN" sz="2800" dirty="0">
                <a:solidFill>
                  <a:schemeClr val="tx1"/>
                </a:solidFill>
                <a:latin typeface="Arial" panose="020B0604020202020204" pitchFamily="34" charset="0"/>
              </a:rPr>
              <a:t>R∈3NF</a:t>
            </a:r>
            <a:endParaRPr lang="en-US" altLang="zh-CN" sz="28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algn="just" eaLnBrk="1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</a:rPr>
              <a:t>   </a:t>
            </a:r>
            <a:r>
              <a:rPr lang="zh-CN" altLang="en-US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证</a:t>
            </a:r>
            <a:r>
              <a:rPr lang="zh-CN" altLang="en-US" dirty="0">
                <a:solidFill>
                  <a:schemeClr val="tx1"/>
                </a:solidFill>
                <a:latin typeface="Arial" panose="020B0604020202020204" pitchFamily="34" charset="0"/>
              </a:rPr>
              <a:t>  </a:t>
            </a:r>
            <a:r>
              <a:rPr lang="zh-CN" altLang="en-US" dirty="0">
                <a:solidFill>
                  <a:schemeClr val="tx1"/>
                </a:solidFill>
                <a:latin typeface="宋体" panose="02010600030101010101" pitchFamily="2" charset="-122"/>
              </a:rPr>
              <a:t>反证法</a:t>
            </a:r>
            <a:r>
              <a:rPr lang="en-US" altLang="zh-CN" dirty="0">
                <a:solidFill>
                  <a:schemeClr val="tx1"/>
                </a:solidFill>
                <a:latin typeface="宋体" panose="02010600030101010101" pitchFamily="2" charset="-122"/>
              </a:rPr>
              <a:t>.</a:t>
            </a:r>
            <a:r>
              <a:rPr lang="zh-CN" altLang="en-US" dirty="0">
                <a:solidFill>
                  <a:schemeClr val="tx1"/>
                </a:solidFill>
                <a:latin typeface="宋体" panose="02010600030101010101" pitchFamily="2" charset="-122"/>
              </a:rPr>
              <a:t>设</a:t>
            </a: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</a:rPr>
              <a:t>R</a:t>
            </a:r>
            <a:r>
              <a:rPr lang="zh-CN" altLang="en-US" dirty="0">
                <a:solidFill>
                  <a:schemeClr val="tx1"/>
                </a:solidFill>
                <a:latin typeface="宋体" panose="02010600030101010101" pitchFamily="2" charset="-122"/>
              </a:rPr>
              <a:t>是</a:t>
            </a: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</a:rPr>
              <a:t>BC</a:t>
            </a:r>
            <a:r>
              <a:rPr lang="zh-CN" altLang="en-US" dirty="0">
                <a:solidFill>
                  <a:schemeClr val="tx1"/>
                </a:solidFill>
                <a:latin typeface="宋体" panose="02010600030101010101" pitchFamily="2" charset="-122"/>
              </a:rPr>
              <a:t>范式</a:t>
            </a:r>
            <a:r>
              <a:rPr lang="en-US" altLang="zh-CN" dirty="0">
                <a:solidFill>
                  <a:schemeClr val="tx1"/>
                </a:solidFill>
                <a:latin typeface="宋体" panose="02010600030101010101" pitchFamily="2" charset="-122"/>
              </a:rPr>
              <a:t>,</a:t>
            </a:r>
            <a:r>
              <a:rPr lang="zh-CN" altLang="en-US" dirty="0">
                <a:solidFill>
                  <a:schemeClr val="tx1"/>
                </a:solidFill>
                <a:latin typeface="宋体" panose="02010600030101010101" pitchFamily="2" charset="-122"/>
              </a:rPr>
              <a:t>但不是</a:t>
            </a: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</a:rPr>
              <a:t>3NF</a:t>
            </a:r>
            <a:r>
              <a:rPr lang="en-US" altLang="zh-CN" dirty="0">
                <a:solidFill>
                  <a:schemeClr val="tx1"/>
                </a:solidFill>
                <a:latin typeface="宋体" panose="02010600030101010101" pitchFamily="2" charset="-122"/>
              </a:rPr>
              <a:t>.</a:t>
            </a:r>
            <a:r>
              <a:rPr lang="zh-CN" altLang="en-US" dirty="0">
                <a:solidFill>
                  <a:schemeClr val="tx1"/>
                </a:solidFill>
                <a:latin typeface="宋体" panose="02010600030101010101" pitchFamily="2" charset="-122"/>
              </a:rPr>
              <a:t>则必存在非主属性对码的传递</a:t>
            </a: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</a:rPr>
              <a:t>FD</a:t>
            </a:r>
            <a:r>
              <a:rPr lang="en-US" altLang="zh-CN" dirty="0">
                <a:solidFill>
                  <a:schemeClr val="tx1"/>
                </a:solidFill>
                <a:latin typeface="宋体" panose="02010600030101010101" pitchFamily="2" charset="-122"/>
              </a:rPr>
              <a:t>.</a:t>
            </a:r>
            <a:r>
              <a:rPr lang="zh-CN" altLang="en-US" dirty="0">
                <a:solidFill>
                  <a:schemeClr val="tx1"/>
                </a:solidFill>
                <a:latin typeface="宋体" panose="02010600030101010101" pitchFamily="2" charset="-122"/>
              </a:rPr>
              <a:t>即存在非主属性</a:t>
            </a: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</a:rPr>
              <a:t>Z,</a:t>
            </a:r>
            <a:r>
              <a:rPr lang="zh-CN" altLang="en-US" dirty="0">
                <a:solidFill>
                  <a:schemeClr val="tx1"/>
                </a:solidFill>
                <a:latin typeface="Arial" panose="020B0604020202020204" pitchFamily="34" charset="0"/>
              </a:rPr>
              <a:t>通过</a:t>
            </a:r>
            <a:r>
              <a:rPr lang="zh-CN" altLang="en-US" dirty="0">
                <a:solidFill>
                  <a:schemeClr val="tx1"/>
                </a:solidFill>
                <a:latin typeface="宋体" panose="02010600030101010101" pitchFamily="2" charset="-122"/>
              </a:rPr>
              <a:t>属性组</a:t>
            </a: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</a:rPr>
              <a:t>Y</a:t>
            </a:r>
            <a:r>
              <a:rPr lang="zh-CN" altLang="en-US" dirty="0">
                <a:solidFill>
                  <a:schemeClr val="tx1"/>
                </a:solidFill>
                <a:latin typeface="宋体" panose="02010600030101010101" pitchFamily="2" charset="-122"/>
              </a:rPr>
              <a:t>，传递依赖于码 </a:t>
            </a: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</a:rPr>
              <a:t>X</a:t>
            </a:r>
            <a:r>
              <a:rPr lang="zh-CN" altLang="en-US" dirty="0">
                <a:solidFill>
                  <a:schemeClr val="tx1"/>
                </a:solidFill>
                <a:latin typeface="宋体" panose="02010600030101010101" pitchFamily="2" charset="-122"/>
              </a:rPr>
              <a:t>，亦即</a:t>
            </a:r>
            <a:r>
              <a:rPr lang="en-US" altLang="zh-CN" i="1" dirty="0">
                <a:solidFill>
                  <a:schemeClr val="tx1"/>
                </a:solidFill>
                <a:latin typeface="Arial" panose="020B0604020202020204" pitchFamily="34" charset="0"/>
              </a:rPr>
              <a:t>X</a:t>
            </a: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</a:rPr>
              <a:t>→</a:t>
            </a:r>
            <a:r>
              <a:rPr lang="en-US" altLang="zh-CN" i="1" dirty="0">
                <a:solidFill>
                  <a:schemeClr val="tx1"/>
                </a:solidFill>
                <a:latin typeface="Arial" panose="020B0604020202020204" pitchFamily="34" charset="0"/>
              </a:rPr>
              <a:t>Y</a:t>
            </a:r>
            <a:r>
              <a:rPr lang="zh-CN" altLang="en-US" dirty="0">
                <a:solidFill>
                  <a:schemeClr val="tx1"/>
                </a:solidFill>
                <a:latin typeface="Arial" panose="020B0604020202020204" pitchFamily="34" charset="0"/>
              </a:rPr>
              <a:t>，</a:t>
            </a:r>
            <a:r>
              <a:rPr lang="en-US" altLang="zh-CN" i="1" dirty="0">
                <a:latin typeface="Arial" panose="020B0604020202020204" pitchFamily="34" charset="0"/>
              </a:rPr>
              <a:t>Y</a:t>
            </a:r>
            <a:r>
              <a:rPr lang="en-US" altLang="zh-CN" dirty="0">
                <a:latin typeface="Arial" panose="020B0604020202020204" pitchFamily="34" charset="0"/>
              </a:rPr>
              <a:t>→</a:t>
            </a:r>
            <a:r>
              <a:rPr lang="en-US" altLang="zh-CN" i="1" dirty="0">
                <a:latin typeface="Arial" panose="020B0604020202020204" pitchFamily="34" charset="0"/>
              </a:rPr>
              <a:t>Z</a:t>
            </a:r>
            <a:r>
              <a:rPr lang="zh-CN" altLang="en-US" dirty="0">
                <a:solidFill>
                  <a:schemeClr val="tx1"/>
                </a:solidFill>
                <a:latin typeface="Arial" panose="020B0604020202020204" pitchFamily="34" charset="0"/>
              </a:rPr>
              <a:t>成立</a:t>
            </a:r>
            <a:r>
              <a:rPr lang="zh-CN" altLang="en-US" dirty="0">
                <a:solidFill>
                  <a:schemeClr val="tx1"/>
                </a:solidFill>
              </a:rPr>
              <a:t>，这里</a:t>
            </a:r>
            <a:r>
              <a:rPr lang="en-US" altLang="zh-CN" dirty="0">
                <a:latin typeface="Arial" panose="020B0604020202020204" pitchFamily="34" charset="0"/>
              </a:rPr>
              <a:t>Z</a:t>
            </a:r>
            <a:r>
              <a:rPr lang="en-US" altLang="zh-CN" dirty="0"/>
              <a:t> </a:t>
            </a:r>
            <a:r>
              <a:rPr lang="en-US" altLang="zh-CN" dirty="0">
                <a:sym typeface="Symbol" panose="05050102010706020507" pitchFamily="18" charset="2"/>
              </a:rPr>
              <a:t></a:t>
            </a:r>
            <a:r>
              <a:rPr lang="en-US" altLang="zh-CN" i="1" dirty="0"/>
              <a:t> </a:t>
            </a:r>
            <a:r>
              <a:rPr lang="en-US" altLang="zh-CN" i="1" dirty="0">
                <a:latin typeface="Arial" panose="020B0604020202020204" pitchFamily="34" charset="0"/>
              </a:rPr>
              <a:t>Y</a:t>
            </a:r>
            <a:r>
              <a:rPr lang="en-US" altLang="zh-CN" dirty="0">
                <a:solidFill>
                  <a:schemeClr val="tx1"/>
                </a:solidFill>
                <a:latin typeface="宋体" panose="02010600030101010101" pitchFamily="2" charset="-122"/>
              </a:rPr>
              <a:t> , </a:t>
            </a:r>
            <a:r>
              <a:rPr lang="en-US" altLang="zh-CN" i="1" dirty="0">
                <a:solidFill>
                  <a:schemeClr val="tx1"/>
                </a:solidFill>
                <a:latin typeface="Arial" panose="020B0604020202020204" pitchFamily="34" charset="0"/>
              </a:rPr>
              <a:t>Y</a:t>
            </a: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</a:rPr>
              <a:t> → </a:t>
            </a:r>
            <a:r>
              <a:rPr lang="en-US" altLang="zh-CN" i="1" dirty="0">
                <a:solidFill>
                  <a:schemeClr val="tx1"/>
                </a:solidFill>
                <a:latin typeface="Arial" panose="020B0604020202020204" pitchFamily="34" charset="0"/>
              </a:rPr>
              <a:t>X</a:t>
            </a: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</a:rPr>
              <a:t>. </a:t>
            </a:r>
            <a:r>
              <a:rPr lang="zh-CN" altLang="en-US" dirty="0">
                <a:solidFill>
                  <a:schemeClr val="tx1"/>
                </a:solidFill>
                <a:latin typeface="Arial" panose="020B0604020202020204" pitchFamily="34" charset="0"/>
              </a:rPr>
              <a:t>根据</a:t>
            </a: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</a:rPr>
              <a:t>BCNF</a:t>
            </a:r>
            <a:r>
              <a:rPr lang="zh-CN" altLang="en-US" dirty="0">
                <a:solidFill>
                  <a:schemeClr val="tx1"/>
                </a:solidFill>
                <a:latin typeface="Arial" panose="020B0604020202020204" pitchFamily="34" charset="0"/>
              </a:rPr>
              <a:t>的定义，</a:t>
            </a: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</a:rPr>
              <a:t>Y</a:t>
            </a:r>
            <a:r>
              <a:rPr lang="zh-CN" altLang="en-US" dirty="0">
                <a:solidFill>
                  <a:schemeClr val="tx1"/>
                </a:solidFill>
                <a:latin typeface="Arial" panose="020B0604020202020204" pitchFamily="34" charset="0"/>
              </a:rPr>
              <a:t>必含有某个候选码</a:t>
            </a: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</a:rPr>
              <a:t>K</a:t>
            </a:r>
            <a:r>
              <a:rPr lang="zh-CN" altLang="en-US" dirty="0">
                <a:solidFill>
                  <a:schemeClr val="tx1"/>
                </a:solidFill>
                <a:latin typeface="Arial" panose="020B0604020202020204" pitchFamily="34" charset="0"/>
              </a:rPr>
              <a:t>。由候选码的定义，有</a:t>
            </a: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</a:rPr>
              <a:t>: </a:t>
            </a:r>
            <a:r>
              <a:rPr lang="en-US" altLang="zh-CN" i="1" dirty="0">
                <a:solidFill>
                  <a:schemeClr val="tx1"/>
                </a:solidFill>
                <a:latin typeface="Arial" panose="020B0604020202020204" pitchFamily="34" charset="0"/>
              </a:rPr>
              <a:t>Y</a:t>
            </a: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</a:rPr>
              <a:t> → </a:t>
            </a:r>
            <a:r>
              <a:rPr lang="en-US" altLang="zh-CN" i="1" dirty="0">
                <a:solidFill>
                  <a:schemeClr val="tx1"/>
                </a:solidFill>
                <a:latin typeface="Arial" panose="020B0604020202020204" pitchFamily="34" charset="0"/>
              </a:rPr>
              <a:t>X. </a:t>
            </a:r>
            <a:r>
              <a:rPr lang="zh-CN" altLang="en-US" dirty="0">
                <a:solidFill>
                  <a:schemeClr val="tx1"/>
                </a:solidFill>
                <a:latin typeface="Arial" panose="020B0604020202020204" pitchFamily="34" charset="0"/>
              </a:rPr>
              <a:t>这与</a:t>
            </a:r>
            <a:r>
              <a:rPr lang="en-US" altLang="zh-CN" i="1" dirty="0">
                <a:solidFill>
                  <a:schemeClr val="tx1"/>
                </a:solidFill>
                <a:latin typeface="Arial" panose="020B0604020202020204" pitchFamily="34" charset="0"/>
              </a:rPr>
              <a:t>Y</a:t>
            </a: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</a:rPr>
              <a:t> → </a:t>
            </a:r>
            <a:r>
              <a:rPr lang="en-US" altLang="zh-CN" i="1" dirty="0">
                <a:solidFill>
                  <a:schemeClr val="tx1"/>
                </a:solidFill>
                <a:latin typeface="Arial" panose="020B0604020202020204" pitchFamily="34" charset="0"/>
              </a:rPr>
              <a:t>X</a:t>
            </a:r>
            <a:r>
              <a:rPr lang="zh-CN" altLang="en-US" dirty="0">
                <a:solidFill>
                  <a:schemeClr val="tx1"/>
                </a:solidFill>
                <a:latin typeface="Arial" panose="020B0604020202020204" pitchFamily="34" charset="0"/>
              </a:rPr>
              <a:t>矛盾</a:t>
            </a:r>
            <a:r>
              <a:rPr lang="zh-CN" altLang="en-US" i="1" dirty="0">
                <a:solidFill>
                  <a:schemeClr val="tx1"/>
                </a:solidFill>
                <a:latin typeface="Arial" panose="020B0604020202020204" pitchFamily="34" charset="0"/>
              </a:rPr>
              <a:t>，</a:t>
            </a:r>
            <a:r>
              <a:rPr lang="zh-CN" altLang="en-US" dirty="0">
                <a:solidFill>
                  <a:schemeClr val="tx1"/>
                </a:solidFill>
                <a:latin typeface="Arial" panose="020B0604020202020204" pitchFamily="34" charset="0"/>
              </a:rPr>
              <a:t>定理得证</a:t>
            </a:r>
            <a:r>
              <a:rPr lang="zh-CN" altLang="en-US" i="1" dirty="0">
                <a:solidFill>
                  <a:schemeClr val="tx1"/>
                </a:solidFill>
                <a:latin typeface="Arial" panose="020B0604020202020204" pitchFamily="34" charset="0"/>
              </a:rPr>
              <a:t>。</a:t>
            </a:r>
            <a:endParaRPr lang="zh-CN" altLang="en-US" i="1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28676" name="Rectangle 3"/>
          <p:cNvSpPr>
            <a:spLocks noGrp="1"/>
          </p:cNvSpPr>
          <p:nvPr>
            <p:ph type="title"/>
          </p:nvPr>
        </p:nvSpPr>
        <p:spPr>
          <a:xfrm>
            <a:off x="685800" y="0"/>
            <a:ext cx="77724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u="sng" dirty="0"/>
              <a:t>6.4.5  BCNF</a:t>
            </a:r>
            <a:endParaRPr lang="en-US" altLang="zh-CN" u="sng" dirty="0"/>
          </a:p>
        </p:txBody>
      </p:sp>
      <p:sp>
        <p:nvSpPr>
          <p:cNvPr id="28677" name="Line 4"/>
          <p:cNvSpPr/>
          <p:nvPr/>
        </p:nvSpPr>
        <p:spPr>
          <a:xfrm flipH="1">
            <a:off x="3962400" y="4064000"/>
            <a:ext cx="76200" cy="304800"/>
          </a:xfrm>
          <a:prstGeom prst="line">
            <a:avLst/>
          </a:prstGeom>
          <a:ln w="38100" cap="sq" cmpd="sng">
            <a:solidFill>
              <a:srgbClr val="FF33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8678" name="Line 5"/>
          <p:cNvSpPr/>
          <p:nvPr/>
        </p:nvSpPr>
        <p:spPr>
          <a:xfrm flipH="1">
            <a:off x="5626100" y="4000500"/>
            <a:ext cx="76200" cy="304800"/>
          </a:xfrm>
          <a:prstGeom prst="line">
            <a:avLst/>
          </a:prstGeom>
          <a:ln w="38100" cap="sq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8679" name="Line 6"/>
          <p:cNvSpPr/>
          <p:nvPr/>
        </p:nvSpPr>
        <p:spPr>
          <a:xfrm flipH="1">
            <a:off x="3873500" y="5143500"/>
            <a:ext cx="76200" cy="304800"/>
          </a:xfrm>
          <a:prstGeom prst="line">
            <a:avLst/>
          </a:prstGeom>
          <a:ln w="38100" cap="sq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9698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29699" name="Rectangle 2"/>
          <p:cNvSpPr>
            <a:spLocks noGrp="1"/>
          </p:cNvSpPr>
          <p:nvPr>
            <p:ph idx="1"/>
          </p:nvPr>
        </p:nvSpPr>
        <p:spPr>
          <a:xfrm>
            <a:off x="76200" y="990600"/>
            <a:ext cx="8915400" cy="5715000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120000"/>
              </a:lnSpc>
              <a:buNone/>
            </a:pPr>
            <a:r>
              <a:rPr lang="en-US" altLang="zh-CN" sz="2800" dirty="0">
                <a:solidFill>
                  <a:schemeClr val="tx1"/>
                </a:solidFill>
              </a:rPr>
              <a:t>【</a:t>
            </a:r>
            <a:r>
              <a:rPr lang="zh-CN" altLang="en-US" sz="2800" dirty="0">
                <a:solidFill>
                  <a:schemeClr val="tx1"/>
                </a:solidFill>
              </a:rPr>
              <a:t>例</a:t>
            </a:r>
            <a:r>
              <a:rPr lang="en-US" altLang="zh-CN" sz="2800" dirty="0">
                <a:solidFill>
                  <a:schemeClr val="tx1"/>
                </a:solidFill>
              </a:rPr>
              <a:t>5.12】 </a:t>
            </a:r>
            <a:r>
              <a:rPr lang="zh-CN" altLang="en-US" sz="2800" dirty="0">
                <a:solidFill>
                  <a:schemeClr val="tx1"/>
                </a:solidFill>
              </a:rPr>
              <a:t>前述</a:t>
            </a:r>
            <a:r>
              <a:rPr lang="en-US" altLang="zh-CN" sz="2800" dirty="0">
                <a:solidFill>
                  <a:schemeClr val="tx1"/>
                </a:solidFill>
              </a:rPr>
              <a:t>STJ(S,T,J)</a:t>
            </a:r>
            <a:r>
              <a:rPr lang="zh-CN" altLang="en-US" sz="2800" dirty="0">
                <a:solidFill>
                  <a:schemeClr val="tx1"/>
                </a:solidFill>
              </a:rPr>
              <a:t>是</a:t>
            </a:r>
            <a:r>
              <a:rPr lang="en-US" altLang="zh-CN" sz="2800" dirty="0">
                <a:solidFill>
                  <a:schemeClr val="tx1"/>
                </a:solidFill>
              </a:rPr>
              <a:t>3NF</a:t>
            </a:r>
            <a:r>
              <a:rPr lang="zh-CN" altLang="en-US" sz="2800" dirty="0">
                <a:solidFill>
                  <a:schemeClr val="tx1"/>
                </a:solidFill>
              </a:rPr>
              <a:t>但不是</a:t>
            </a:r>
            <a:r>
              <a:rPr lang="en-US" altLang="zh-CN" sz="2800" dirty="0">
                <a:solidFill>
                  <a:schemeClr val="tx1"/>
                </a:solidFill>
              </a:rPr>
              <a:t>BCNF</a:t>
            </a:r>
            <a:r>
              <a:rPr lang="zh-CN" altLang="en-US" sz="2800" dirty="0">
                <a:solidFill>
                  <a:schemeClr val="tx1"/>
                </a:solidFill>
              </a:rPr>
              <a:t>，但分解后的</a:t>
            </a:r>
            <a:r>
              <a:rPr lang="en-US" altLang="zh-CN" sz="2800" dirty="0">
                <a:solidFill>
                  <a:schemeClr val="tx1"/>
                </a:solidFill>
              </a:rPr>
              <a:t>ST(S,T)</a:t>
            </a:r>
            <a:r>
              <a:rPr lang="zh-CN" altLang="en-US" sz="2800" dirty="0">
                <a:solidFill>
                  <a:schemeClr val="tx1"/>
                </a:solidFill>
              </a:rPr>
              <a:t>以及</a:t>
            </a:r>
            <a:r>
              <a:rPr lang="en-US" altLang="zh-CN" sz="2800" dirty="0">
                <a:solidFill>
                  <a:schemeClr val="tx1"/>
                </a:solidFill>
              </a:rPr>
              <a:t>TJ(T,J)</a:t>
            </a:r>
            <a:r>
              <a:rPr lang="zh-CN" altLang="en-US" sz="2800" dirty="0">
                <a:solidFill>
                  <a:schemeClr val="tx1"/>
                </a:solidFill>
              </a:rPr>
              <a:t>都是</a:t>
            </a:r>
            <a:r>
              <a:rPr lang="en-US" altLang="zh-CN" sz="2800" dirty="0">
                <a:solidFill>
                  <a:schemeClr val="tx1"/>
                </a:solidFill>
              </a:rPr>
              <a:t>BCNF.</a:t>
            </a:r>
            <a:endParaRPr lang="en-US" altLang="zh-CN" sz="2800" dirty="0">
              <a:solidFill>
                <a:schemeClr val="tx1"/>
              </a:solidFill>
            </a:endParaRPr>
          </a:p>
          <a:p>
            <a:pPr eaLnBrk="1" hangingPunct="1">
              <a:lnSpc>
                <a:spcPct val="120000"/>
              </a:lnSpc>
              <a:buNone/>
            </a:pPr>
            <a:r>
              <a:rPr lang="en-US" altLang="zh-CN" sz="2800" dirty="0">
                <a:solidFill>
                  <a:schemeClr val="tx1"/>
                </a:solidFill>
              </a:rPr>
              <a:t>【</a:t>
            </a:r>
            <a:r>
              <a:rPr lang="zh-CN" altLang="en-US" sz="2800" dirty="0">
                <a:solidFill>
                  <a:schemeClr val="tx1"/>
                </a:solidFill>
              </a:rPr>
              <a:t>例</a:t>
            </a:r>
            <a:r>
              <a:rPr lang="en-US" altLang="zh-CN" sz="2800" dirty="0">
                <a:solidFill>
                  <a:schemeClr val="tx1"/>
                </a:solidFill>
              </a:rPr>
              <a:t>5.13】 </a:t>
            </a:r>
            <a:r>
              <a:rPr lang="zh-CN" altLang="en-US" sz="2800" dirty="0">
                <a:solidFill>
                  <a:schemeClr val="tx1"/>
                </a:solidFill>
              </a:rPr>
              <a:t>前述</a:t>
            </a:r>
            <a:r>
              <a:rPr lang="en-US" altLang="zh-CN" sz="2800" dirty="0">
                <a:solidFill>
                  <a:schemeClr val="tx1"/>
                </a:solidFill>
              </a:rPr>
              <a:t>S(sno,sname,age,dept)</a:t>
            </a:r>
            <a:r>
              <a:rPr lang="zh-CN" altLang="en-US" sz="2800" dirty="0">
                <a:solidFill>
                  <a:schemeClr val="tx1"/>
                </a:solidFill>
              </a:rPr>
              <a:t>和</a:t>
            </a:r>
            <a:r>
              <a:rPr lang="en-US" altLang="zh-CN" sz="2800" dirty="0">
                <a:solidFill>
                  <a:schemeClr val="tx1"/>
                </a:solidFill>
              </a:rPr>
              <a:t>D(dept,mn)</a:t>
            </a:r>
            <a:r>
              <a:rPr lang="zh-CN" altLang="en-US" sz="2800" dirty="0">
                <a:solidFill>
                  <a:schemeClr val="tx1"/>
                </a:solidFill>
              </a:rPr>
              <a:t>以及</a:t>
            </a:r>
            <a:r>
              <a:rPr lang="en-US" altLang="zh-CN" sz="2800" dirty="0">
                <a:solidFill>
                  <a:schemeClr val="tx1"/>
                </a:solidFill>
              </a:rPr>
              <a:t>SC(sno,cno,score)</a:t>
            </a:r>
            <a:r>
              <a:rPr lang="zh-CN" altLang="en-US" sz="2800" dirty="0">
                <a:solidFill>
                  <a:schemeClr val="tx1"/>
                </a:solidFill>
              </a:rPr>
              <a:t>均为</a:t>
            </a:r>
            <a:r>
              <a:rPr lang="en-US" altLang="zh-CN" sz="2800" dirty="0">
                <a:solidFill>
                  <a:schemeClr val="tx1"/>
                </a:solidFill>
              </a:rPr>
              <a:t>BCNF</a:t>
            </a:r>
            <a:r>
              <a:rPr lang="zh-CN" altLang="en-US" sz="2800" dirty="0">
                <a:solidFill>
                  <a:schemeClr val="tx1"/>
                </a:solidFill>
              </a:rPr>
              <a:t>。</a:t>
            </a:r>
            <a:endParaRPr lang="zh-CN" altLang="en-US" sz="2800" dirty="0">
              <a:solidFill>
                <a:schemeClr val="tx1"/>
              </a:solidFill>
            </a:endParaRPr>
          </a:p>
          <a:p>
            <a:pPr eaLnBrk="1" hangingPunct="1">
              <a:lnSpc>
                <a:spcPct val="120000"/>
              </a:lnSpc>
              <a:buNone/>
            </a:pPr>
            <a:r>
              <a:rPr lang="en-US" altLang="zh-CN" sz="2800" dirty="0">
                <a:solidFill>
                  <a:schemeClr val="tx1"/>
                </a:solidFill>
              </a:rPr>
              <a:t>【</a:t>
            </a:r>
            <a:r>
              <a:rPr lang="zh-CN" altLang="en-US" sz="2800" dirty="0">
                <a:solidFill>
                  <a:schemeClr val="tx1"/>
                </a:solidFill>
              </a:rPr>
              <a:t>例</a:t>
            </a:r>
            <a:r>
              <a:rPr lang="en-US" altLang="zh-CN" sz="2800" dirty="0">
                <a:solidFill>
                  <a:schemeClr val="tx1"/>
                </a:solidFill>
              </a:rPr>
              <a:t>5.14】 </a:t>
            </a:r>
            <a:r>
              <a:rPr lang="zh-CN" altLang="en-US" sz="2800" dirty="0">
                <a:solidFill>
                  <a:schemeClr val="tx1"/>
                </a:solidFill>
              </a:rPr>
              <a:t>关系模式</a:t>
            </a:r>
            <a:r>
              <a:rPr lang="en-US" altLang="zh-CN" sz="2800" dirty="0">
                <a:solidFill>
                  <a:schemeClr val="tx1"/>
                </a:solidFill>
              </a:rPr>
              <a:t>SJP(S,J,P)</a:t>
            </a:r>
            <a:r>
              <a:rPr lang="zh-CN" altLang="en-US" sz="2800" dirty="0">
                <a:solidFill>
                  <a:schemeClr val="tx1"/>
                </a:solidFill>
              </a:rPr>
              <a:t>中，</a:t>
            </a:r>
            <a:r>
              <a:rPr lang="en-US" altLang="zh-CN" sz="2800" dirty="0">
                <a:solidFill>
                  <a:schemeClr val="tx1"/>
                </a:solidFill>
              </a:rPr>
              <a:t>S</a:t>
            </a:r>
            <a:r>
              <a:rPr lang="zh-CN" altLang="en-US" sz="2800" dirty="0">
                <a:solidFill>
                  <a:schemeClr val="tx1"/>
                </a:solidFill>
              </a:rPr>
              <a:t>指学生</a:t>
            </a:r>
            <a:r>
              <a:rPr lang="en-US" altLang="zh-CN" sz="2800" dirty="0">
                <a:solidFill>
                  <a:schemeClr val="tx1"/>
                </a:solidFill>
              </a:rPr>
              <a:t>,J</a:t>
            </a:r>
            <a:r>
              <a:rPr lang="zh-CN" altLang="en-US" sz="2800" dirty="0">
                <a:solidFill>
                  <a:schemeClr val="tx1"/>
                </a:solidFill>
              </a:rPr>
              <a:t>表示课程</a:t>
            </a:r>
            <a:r>
              <a:rPr lang="en-US" altLang="zh-CN" sz="2800" dirty="0">
                <a:solidFill>
                  <a:schemeClr val="tx1"/>
                </a:solidFill>
              </a:rPr>
              <a:t>,P</a:t>
            </a:r>
            <a:r>
              <a:rPr lang="zh-CN" altLang="en-US" sz="2800" dirty="0">
                <a:solidFill>
                  <a:schemeClr val="tx1"/>
                </a:solidFill>
              </a:rPr>
              <a:t>表示名次。每个学生选修一门课获得一定的名次，没有并列名次。即</a:t>
            </a:r>
            <a:r>
              <a:rPr lang="en-US" altLang="zh-CN" sz="2800" dirty="0">
                <a:solidFill>
                  <a:schemeClr val="tx1"/>
                </a:solidFill>
              </a:rPr>
              <a:t>:</a:t>
            </a:r>
            <a:endParaRPr lang="en-US" altLang="zh-CN" sz="2800" dirty="0">
              <a:solidFill>
                <a:schemeClr val="tx1"/>
              </a:solidFill>
            </a:endParaRPr>
          </a:p>
          <a:p>
            <a:pPr eaLnBrk="1" hangingPunct="1">
              <a:lnSpc>
                <a:spcPct val="120000"/>
              </a:lnSpc>
              <a:buNone/>
            </a:pPr>
            <a:r>
              <a:rPr lang="en-US" altLang="zh-CN" sz="2800" dirty="0">
                <a:latin typeface="Arial" panose="020B0604020202020204" pitchFamily="34" charset="0"/>
              </a:rPr>
              <a:t>    </a:t>
            </a:r>
            <a:r>
              <a:rPr lang="en-US" altLang="zh-CN" sz="2800" dirty="0">
                <a:solidFill>
                  <a:schemeClr val="tx1"/>
                </a:solidFill>
                <a:latin typeface="Arial" panose="020B0604020202020204" pitchFamily="34" charset="0"/>
              </a:rPr>
              <a:t>(S,J) → P</a:t>
            </a:r>
            <a:r>
              <a:rPr lang="en-US" altLang="zh-CN" sz="2800" dirty="0">
                <a:solidFill>
                  <a:schemeClr val="tx1"/>
                </a:solidFill>
              </a:rPr>
              <a:t>; </a:t>
            </a:r>
            <a:r>
              <a:rPr lang="en-US" altLang="zh-CN" sz="2800" dirty="0">
                <a:solidFill>
                  <a:schemeClr val="tx1"/>
                </a:solidFill>
                <a:latin typeface="Arial" panose="020B0604020202020204" pitchFamily="34" charset="0"/>
              </a:rPr>
              <a:t>(J,P) → S</a:t>
            </a:r>
            <a:endParaRPr lang="en-US" altLang="zh-CN" sz="2800" dirty="0">
              <a:solidFill>
                <a:schemeClr val="tx1"/>
              </a:solidFill>
            </a:endParaRPr>
          </a:p>
          <a:p>
            <a:pPr eaLnBrk="1" hangingPunct="1">
              <a:lnSpc>
                <a:spcPct val="120000"/>
              </a:lnSpc>
              <a:buNone/>
            </a:pPr>
            <a:r>
              <a:rPr lang="en-US" altLang="zh-CN" sz="2800" dirty="0">
                <a:solidFill>
                  <a:schemeClr val="tx1"/>
                </a:solidFill>
                <a:latin typeface="宋体" panose="02010600030101010101" pitchFamily="2" charset="-122"/>
              </a:rPr>
              <a:t>  </a:t>
            </a:r>
            <a:r>
              <a:rPr lang="en-US" altLang="zh-CN" sz="2800" dirty="0">
                <a:solidFill>
                  <a:schemeClr val="tx1"/>
                </a:solidFill>
                <a:latin typeface="Arial" panose="020B0604020202020204" pitchFamily="34" charset="0"/>
              </a:rPr>
              <a:t>(S,J)</a:t>
            </a:r>
            <a:r>
              <a:rPr lang="zh-CN" altLang="en-US" sz="2800" dirty="0">
                <a:solidFill>
                  <a:schemeClr val="tx1"/>
                </a:solidFill>
                <a:latin typeface="宋体" panose="02010600030101010101" pitchFamily="2" charset="-122"/>
              </a:rPr>
              <a:t>和</a:t>
            </a:r>
            <a:r>
              <a:rPr lang="en-US" altLang="zh-CN" sz="2800" dirty="0">
                <a:solidFill>
                  <a:schemeClr val="tx1"/>
                </a:solidFill>
                <a:latin typeface="Arial" panose="020B0604020202020204" pitchFamily="34" charset="0"/>
              </a:rPr>
              <a:t>(J,P)</a:t>
            </a:r>
            <a:r>
              <a:rPr lang="zh-CN" altLang="en-US" sz="2800" dirty="0">
                <a:solidFill>
                  <a:schemeClr val="tx1"/>
                </a:solidFill>
                <a:latin typeface="宋体" panose="02010600030101010101" pitchFamily="2" charset="-122"/>
              </a:rPr>
              <a:t>都可以作候选码</a:t>
            </a:r>
            <a:r>
              <a:rPr lang="en-US" altLang="zh-CN" sz="2800" dirty="0">
                <a:solidFill>
                  <a:schemeClr val="tx1"/>
                </a:solidFill>
                <a:latin typeface="宋体" panose="02010600030101010101" pitchFamily="2" charset="-122"/>
              </a:rPr>
              <a:t>, </a:t>
            </a:r>
            <a:r>
              <a:rPr lang="en-US" altLang="zh-CN" sz="2800" dirty="0">
                <a:solidFill>
                  <a:schemeClr val="tx1"/>
                </a:solidFill>
                <a:latin typeface="Arial" panose="020B0604020202020204" pitchFamily="34" charset="0"/>
              </a:rPr>
              <a:t>SJP </a:t>
            </a:r>
            <a:r>
              <a:rPr lang="en-US" altLang="zh-CN" sz="2400" dirty="0">
                <a:solidFill>
                  <a:schemeClr val="tx1"/>
                </a:solidFill>
                <a:latin typeface="Arial" panose="020B0604020202020204" pitchFamily="34" charset="0"/>
              </a:rPr>
              <a:t>∈BCNF</a:t>
            </a:r>
            <a:endParaRPr lang="en-US" altLang="zh-CN" sz="28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algn="just" eaLnBrk="1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sz="2000" b="0" dirty="0">
                <a:latin typeface="黑体" panose="02010609060101010101" pitchFamily="49" charset="-122"/>
                <a:ea typeface="黑体" panose="02010609060101010101" pitchFamily="49" charset="-122"/>
              </a:rPr>
              <a:t>	</a:t>
            </a:r>
            <a:endParaRPr lang="en-US" altLang="zh-CN" sz="2000" b="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9700" name="Rectangle 3"/>
          <p:cNvSpPr>
            <a:spLocks noGrp="1"/>
          </p:cNvSpPr>
          <p:nvPr>
            <p:ph type="title"/>
          </p:nvPr>
        </p:nvSpPr>
        <p:spPr>
          <a:xfrm>
            <a:off x="685800" y="0"/>
            <a:ext cx="77724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u="sng" dirty="0"/>
              <a:t>6.4.5  BCNF</a:t>
            </a:r>
            <a:endParaRPr lang="en-US" altLang="zh-CN" u="sng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0722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30723" name="Rectangle 2"/>
          <p:cNvSpPr>
            <a:spLocks noGrp="1"/>
          </p:cNvSpPr>
          <p:nvPr>
            <p:ph idx="1"/>
          </p:nvPr>
        </p:nvSpPr>
        <p:spPr>
          <a:xfrm>
            <a:off x="1066800" y="914400"/>
            <a:ext cx="6629400" cy="4876800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dirty="0">
                <a:solidFill>
                  <a:schemeClr val="tx1"/>
                </a:solidFill>
              </a:rPr>
              <a:t>6.4.1 </a:t>
            </a:r>
            <a:r>
              <a:rPr lang="zh-CN" altLang="en-US" dirty="0">
                <a:solidFill>
                  <a:schemeClr val="tx1"/>
                </a:solidFill>
              </a:rPr>
              <a:t>范式</a:t>
            </a:r>
            <a:endParaRPr lang="zh-CN" altLang="en-US" dirty="0">
              <a:solidFill>
                <a:schemeClr val="tx1"/>
              </a:solidFill>
            </a:endParaRP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dirty="0">
                <a:solidFill>
                  <a:schemeClr val="tx1"/>
                </a:solidFill>
              </a:rPr>
              <a:t>6.4.2 1NF</a:t>
            </a:r>
            <a:endParaRPr lang="en-US" altLang="zh-CN" dirty="0">
              <a:solidFill>
                <a:schemeClr val="tx1"/>
              </a:solidFill>
            </a:endParaRP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dirty="0">
                <a:solidFill>
                  <a:schemeClr val="tx1"/>
                </a:solidFill>
              </a:rPr>
              <a:t>6.4.3 2NF</a:t>
            </a:r>
            <a:endParaRPr lang="en-US" altLang="zh-CN" dirty="0">
              <a:solidFill>
                <a:schemeClr val="tx1"/>
              </a:solidFill>
            </a:endParaRP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dirty="0">
                <a:solidFill>
                  <a:schemeClr val="tx1"/>
                </a:solidFill>
              </a:rPr>
              <a:t>6.4.4 3NF</a:t>
            </a:r>
            <a:endParaRPr lang="en-US" altLang="zh-CN" dirty="0">
              <a:solidFill>
                <a:schemeClr val="tx1"/>
              </a:solidFill>
            </a:endParaRP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dirty="0">
                <a:solidFill>
                  <a:schemeClr val="tx1"/>
                </a:solidFill>
              </a:rPr>
              <a:t>6.4.5 BCNF</a:t>
            </a:r>
            <a:endParaRPr lang="en-US" altLang="zh-CN" dirty="0">
              <a:solidFill>
                <a:schemeClr val="tx1"/>
              </a:solidFill>
            </a:endParaRP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dirty="0"/>
              <a:t>6.4.6 </a:t>
            </a:r>
            <a:r>
              <a:rPr lang="zh-CN" altLang="en-US" dirty="0"/>
              <a:t>多值依赖</a:t>
            </a:r>
            <a:endParaRPr lang="zh-CN" altLang="en-US" dirty="0"/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dirty="0">
                <a:solidFill>
                  <a:schemeClr val="tx1"/>
                </a:solidFill>
              </a:rPr>
              <a:t>6.4.7 4NF</a:t>
            </a:r>
            <a:endParaRPr lang="en-US" altLang="zh-CN" dirty="0">
              <a:solidFill>
                <a:schemeClr val="tx1"/>
              </a:solidFill>
            </a:endParaRP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dirty="0">
                <a:solidFill>
                  <a:schemeClr val="tx1"/>
                </a:solidFill>
              </a:rPr>
              <a:t>6.4.8 </a:t>
            </a:r>
            <a:r>
              <a:rPr lang="zh-CN" altLang="en-US" dirty="0">
                <a:solidFill>
                  <a:schemeClr val="tx1"/>
                </a:solidFill>
              </a:rPr>
              <a:t>规范化小结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30724" name="Rectangle 3"/>
          <p:cNvSpPr>
            <a:spLocks noGrp="1"/>
          </p:cNvSpPr>
          <p:nvPr>
            <p:ph type="title"/>
          </p:nvPr>
        </p:nvSpPr>
        <p:spPr>
          <a:xfrm>
            <a:off x="685800" y="0"/>
            <a:ext cx="77724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dirty="0"/>
              <a:t>6.4  </a:t>
            </a:r>
            <a:r>
              <a:rPr lang="zh-CN" altLang="en-US" dirty="0"/>
              <a:t>关系模式的规范化</a:t>
            </a:r>
            <a:endParaRPr lang="zh-CN" altLang="en-US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1746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31747" name="Rectangle 2"/>
          <p:cNvSpPr>
            <a:spLocks noGrp="1"/>
          </p:cNvSpPr>
          <p:nvPr>
            <p:ph idx="1"/>
          </p:nvPr>
        </p:nvSpPr>
        <p:spPr>
          <a:xfrm>
            <a:off x="76200" y="914400"/>
            <a:ext cx="8915400" cy="5715000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120000"/>
              </a:lnSpc>
            </a:pPr>
            <a:r>
              <a:rPr lang="en-US" altLang="zh-CN" dirty="0">
                <a:solidFill>
                  <a:schemeClr val="tx1"/>
                </a:solidFill>
              </a:rPr>
              <a:t>1.</a:t>
            </a:r>
            <a:r>
              <a:rPr lang="zh-CN" altLang="en-US" dirty="0">
                <a:solidFill>
                  <a:schemeClr val="tx1"/>
                </a:solidFill>
                <a:latin typeface="宋体" panose="02010600030101010101" pitchFamily="2" charset="-122"/>
              </a:rPr>
              <a:t>问题的提出</a:t>
            </a:r>
            <a:endParaRPr lang="zh-CN" altLang="en-US" dirty="0">
              <a:solidFill>
                <a:schemeClr val="tx1"/>
              </a:solidFill>
              <a:latin typeface="宋体" panose="02010600030101010101" pitchFamily="2" charset="-122"/>
            </a:endParaRPr>
          </a:p>
          <a:p>
            <a:pPr algn="just" eaLnBrk="1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sz="2400" b="0" dirty="0">
                <a:latin typeface="黑体" panose="02010609060101010101" pitchFamily="49" charset="-122"/>
                <a:ea typeface="黑体" panose="02010609060101010101" pitchFamily="49" charset="-122"/>
              </a:rPr>
              <a:t>	</a:t>
            </a:r>
            <a:r>
              <a:rPr lang="zh-CN" altLang="en-US" sz="2800" dirty="0">
                <a:solidFill>
                  <a:schemeClr val="tx1"/>
                </a:solidFill>
              </a:rPr>
              <a:t>设学校中某一门课程由多个教师讲授，他们使用相同的一套参考书，每个教员可以讲授多门课程</a:t>
            </a:r>
            <a:r>
              <a:rPr lang="en-US" altLang="zh-CN" sz="2800" dirty="0">
                <a:solidFill>
                  <a:schemeClr val="tx1"/>
                </a:solidFill>
              </a:rPr>
              <a:t>,</a:t>
            </a:r>
            <a:r>
              <a:rPr lang="zh-CN" altLang="en-US" sz="2800" dirty="0">
                <a:solidFill>
                  <a:schemeClr val="tx1"/>
                </a:solidFill>
              </a:rPr>
              <a:t>每种参考书可以供多门课程使用。考察关系模式：</a:t>
            </a:r>
            <a:endParaRPr lang="zh-CN" altLang="en-US" sz="2800" dirty="0">
              <a:solidFill>
                <a:schemeClr val="tx1"/>
              </a:solidFill>
            </a:endParaRPr>
          </a:p>
          <a:p>
            <a:pPr algn="just" eaLnBrk="1" hangingPunct="1">
              <a:lnSpc>
                <a:spcPct val="120000"/>
              </a:lnSpc>
              <a:spcBef>
                <a:spcPct val="0"/>
              </a:spcBef>
              <a:buNone/>
            </a:pPr>
            <a:endParaRPr lang="zh-CN" altLang="en-US" sz="2800" dirty="0">
              <a:solidFill>
                <a:schemeClr val="tx1"/>
              </a:solidFill>
            </a:endParaRPr>
          </a:p>
          <a:p>
            <a:pPr algn="just" eaLnBrk="1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dirty="0"/>
              <a:t>    关系模式</a:t>
            </a:r>
            <a:r>
              <a:rPr lang="en-US" altLang="zh-CN" dirty="0"/>
              <a:t>Teaching(C, T, B)</a:t>
            </a:r>
            <a:endParaRPr lang="en-US" altLang="zh-CN" dirty="0"/>
          </a:p>
          <a:p>
            <a:pPr algn="just" eaLnBrk="1" hangingPunct="1">
              <a:lnSpc>
                <a:spcPct val="120000"/>
              </a:lnSpc>
              <a:spcBef>
                <a:spcPct val="0"/>
              </a:spcBef>
              <a:buNone/>
            </a:pPr>
            <a:endParaRPr lang="en-US" altLang="zh-CN" dirty="0"/>
          </a:p>
          <a:p>
            <a:pPr algn="just" eaLnBrk="1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dirty="0"/>
              <a:t>    </a:t>
            </a:r>
            <a:r>
              <a:rPr lang="zh-CN" altLang="en-US" dirty="0"/>
              <a:t>课程</a:t>
            </a:r>
            <a:r>
              <a:rPr lang="en-US" altLang="zh-CN" dirty="0"/>
              <a:t>C</a:t>
            </a:r>
            <a:r>
              <a:rPr lang="zh-CN" altLang="en-US" dirty="0"/>
              <a:t>、教师</a:t>
            </a:r>
            <a:r>
              <a:rPr lang="en-US" altLang="zh-CN" dirty="0"/>
              <a:t>T </a:t>
            </a:r>
            <a:r>
              <a:rPr lang="zh-CN" altLang="en-US" dirty="0"/>
              <a:t>和 参考书</a:t>
            </a:r>
            <a:r>
              <a:rPr lang="en-US" altLang="zh-CN" dirty="0"/>
              <a:t>B</a:t>
            </a:r>
            <a:endParaRPr lang="en-US" altLang="zh-CN" sz="2800" dirty="0"/>
          </a:p>
        </p:txBody>
      </p:sp>
      <p:sp>
        <p:nvSpPr>
          <p:cNvPr id="31748" name="Rectangle 3"/>
          <p:cNvSpPr>
            <a:spLocks noGrp="1"/>
          </p:cNvSpPr>
          <p:nvPr>
            <p:ph type="title"/>
          </p:nvPr>
        </p:nvSpPr>
        <p:spPr>
          <a:xfrm>
            <a:off x="685800" y="0"/>
            <a:ext cx="77724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dirty="0"/>
              <a:t>6.4.6  </a:t>
            </a:r>
            <a:r>
              <a:rPr lang="zh-CN" altLang="en-US" dirty="0"/>
              <a:t>多值依赖</a:t>
            </a:r>
            <a:endParaRPr lang="zh-CN" altLang="en-US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2770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32771" name="Rectangle 2"/>
          <p:cNvSpPr>
            <a:spLocks noGrp="1"/>
          </p:cNvSpPr>
          <p:nvPr>
            <p:ph idx="1"/>
          </p:nvPr>
        </p:nvSpPr>
        <p:spPr>
          <a:xfrm>
            <a:off x="673100" y="876300"/>
            <a:ext cx="7569200" cy="762000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120000"/>
              </a:lnSpc>
            </a:pPr>
            <a:r>
              <a:rPr lang="zh-CN" altLang="en-US" dirty="0">
                <a:solidFill>
                  <a:schemeClr val="tx1"/>
                </a:solidFill>
              </a:rPr>
              <a:t>用非规范化的关系示意如下</a:t>
            </a:r>
            <a:endParaRPr lang="zh-CN" altLang="en-US" dirty="0">
              <a:solidFill>
                <a:schemeClr val="tx1"/>
              </a:solidFill>
              <a:latin typeface="宋体" panose="02010600030101010101" pitchFamily="2" charset="-122"/>
            </a:endParaRPr>
          </a:p>
          <a:p>
            <a:pPr algn="just" eaLnBrk="1" hangingPunct="1">
              <a:lnSpc>
                <a:spcPct val="120000"/>
              </a:lnSpc>
              <a:spcBef>
                <a:spcPct val="0"/>
              </a:spcBef>
              <a:buNone/>
            </a:pPr>
            <a:endParaRPr lang="zh-CN" altLang="en-US" sz="2800" dirty="0"/>
          </a:p>
        </p:txBody>
      </p:sp>
      <p:sp>
        <p:nvSpPr>
          <p:cNvPr id="32772" name="Rectangle 3"/>
          <p:cNvSpPr>
            <a:spLocks noGrp="1"/>
          </p:cNvSpPr>
          <p:nvPr>
            <p:ph type="title"/>
          </p:nvPr>
        </p:nvSpPr>
        <p:spPr>
          <a:xfrm>
            <a:off x="685800" y="0"/>
            <a:ext cx="77724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u="sng" dirty="0"/>
              <a:t>6.4.6  </a:t>
            </a:r>
            <a:r>
              <a:rPr lang="zh-CN" altLang="en-US" u="sng" dirty="0"/>
              <a:t>多值依赖</a:t>
            </a:r>
            <a:endParaRPr lang="zh-CN" altLang="en-US" u="sng" dirty="0"/>
          </a:p>
        </p:txBody>
      </p:sp>
      <p:graphicFrame>
        <p:nvGraphicFramePr>
          <p:cNvPr id="35844" name="Group 4"/>
          <p:cNvGraphicFramePr>
            <a:graphicFrameLocks noGrp="1"/>
          </p:cNvGraphicFramePr>
          <p:nvPr/>
        </p:nvGraphicFramePr>
        <p:xfrm>
          <a:off x="762000" y="2032000"/>
          <a:ext cx="7315200" cy="3933825"/>
        </p:xfrm>
        <a:graphic>
          <a:graphicData uri="http://schemas.openxmlformats.org/drawingml/2006/table">
            <a:tbl>
              <a:tblPr/>
              <a:tblGrid>
                <a:gridCol w="2211388"/>
                <a:gridCol w="2552700"/>
                <a:gridCol w="2551112"/>
              </a:tblGrid>
              <a:tr h="56197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课程</a:t>
                      </a: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</a:t>
                      </a:r>
                      <a:endParaRPr kumimoji="1" lang="en-US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教员</a:t>
                      </a: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T</a:t>
                      </a:r>
                      <a:endParaRPr kumimoji="1" lang="en-US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参考书</a:t>
                      </a: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</a:t>
                      </a:r>
                      <a:endParaRPr kumimoji="1" lang="en-US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12395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物理</a:t>
                      </a:r>
                      <a:endParaRPr kumimoji="1" lang="zh-CN" alt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李勇</a:t>
                      </a:r>
                      <a:endParaRPr kumimoji="1" lang="zh-CN" alt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王军</a:t>
                      </a:r>
                      <a:endParaRPr kumimoji="1" lang="zh-CN" alt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普通物理学</a:t>
                      </a:r>
                      <a:endParaRPr kumimoji="1" lang="zh-CN" alt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光学原理</a:t>
                      </a:r>
                      <a:endParaRPr kumimoji="1" lang="zh-CN" alt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12395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数学</a:t>
                      </a:r>
                      <a:endParaRPr kumimoji="1" lang="zh-CN" alt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李勇</a:t>
                      </a:r>
                      <a:endParaRPr kumimoji="1" lang="zh-CN" alt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张平</a:t>
                      </a:r>
                      <a:endParaRPr kumimoji="1" lang="zh-CN" alt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数学分析</a:t>
                      </a:r>
                      <a:endParaRPr kumimoji="1" lang="zh-CN" alt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高等代数</a:t>
                      </a:r>
                      <a:endParaRPr kumimoji="1" lang="zh-CN" alt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12395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计算数学</a:t>
                      </a:r>
                      <a:endParaRPr kumimoji="1" lang="zh-CN" alt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张平</a:t>
                      </a:r>
                      <a:endParaRPr kumimoji="1" lang="zh-CN" alt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周峰</a:t>
                      </a:r>
                      <a:endParaRPr kumimoji="1" lang="zh-CN" alt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数学分析</a:t>
                      </a:r>
                      <a:endParaRPr kumimoji="1" lang="zh-CN" alt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3794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33795" name="Rectangle 2"/>
          <p:cNvSpPr>
            <a:spLocks noGrp="1"/>
          </p:cNvSpPr>
          <p:nvPr>
            <p:ph type="title"/>
          </p:nvPr>
        </p:nvSpPr>
        <p:spPr>
          <a:xfrm>
            <a:off x="685800" y="0"/>
            <a:ext cx="77724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u="sng" dirty="0"/>
              <a:t>6.4.6  </a:t>
            </a:r>
            <a:r>
              <a:rPr lang="zh-CN" altLang="en-US" u="sng" dirty="0"/>
              <a:t>多值依赖</a:t>
            </a:r>
            <a:endParaRPr lang="zh-CN" altLang="en-US" u="sng" dirty="0"/>
          </a:p>
        </p:txBody>
      </p:sp>
      <p:graphicFrame>
        <p:nvGraphicFramePr>
          <p:cNvPr id="36867" name="Group 3"/>
          <p:cNvGraphicFramePr>
            <a:graphicFrameLocks noGrp="1"/>
          </p:cNvGraphicFramePr>
          <p:nvPr/>
        </p:nvGraphicFramePr>
        <p:xfrm>
          <a:off x="1244600" y="825500"/>
          <a:ext cx="7404100" cy="5699125"/>
        </p:xfrm>
        <a:graphic>
          <a:graphicData uri="http://schemas.openxmlformats.org/drawingml/2006/table">
            <a:tbl>
              <a:tblPr/>
              <a:tblGrid>
                <a:gridCol w="2238375"/>
                <a:gridCol w="2582863"/>
                <a:gridCol w="2582862"/>
              </a:tblGrid>
              <a:tr h="518102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课程</a:t>
                      </a: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C</a:t>
                      </a:r>
                      <a:endParaRPr kumimoji="1" lang="en-US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T="45707" marB="45707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教员</a:t>
                      </a: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T</a:t>
                      </a:r>
                      <a:endParaRPr kumimoji="1" lang="en-US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T="45707" marB="45707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参考书</a:t>
                      </a: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B</a:t>
                      </a:r>
                      <a:endParaRPr kumimoji="1" lang="en-US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T="45707" marB="45707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102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物理</a:t>
                      </a:r>
                      <a:endParaRPr kumimoji="1" lang="zh-CN" alt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T="45707" marB="45707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李勇</a:t>
                      </a:r>
                      <a:endParaRPr kumimoji="1" lang="zh-CN" alt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T="45707" marB="45707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普通物理学</a:t>
                      </a:r>
                      <a:endParaRPr kumimoji="1" lang="zh-CN" alt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T="45707" marB="45707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102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物理</a:t>
                      </a:r>
                      <a:endParaRPr kumimoji="1" lang="zh-CN" alt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T="45707" marB="45707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李勇</a:t>
                      </a:r>
                      <a:endParaRPr kumimoji="1" lang="zh-CN" alt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T="45707" marB="45707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光学原理</a:t>
                      </a:r>
                      <a:endParaRPr kumimoji="1" lang="zh-CN" alt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T="45707" marB="45707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102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物理</a:t>
                      </a:r>
                      <a:endParaRPr kumimoji="1" lang="zh-CN" alt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T="45707" marB="45707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王军</a:t>
                      </a:r>
                      <a:endParaRPr kumimoji="1" lang="zh-CN" alt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T="45707" marB="45707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普通物理学</a:t>
                      </a:r>
                      <a:endParaRPr kumimoji="1" lang="zh-CN" alt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T="45707" marB="45707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102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物理</a:t>
                      </a:r>
                      <a:endParaRPr kumimoji="1" lang="zh-CN" alt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T="45707" marB="45707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王军</a:t>
                      </a:r>
                      <a:endParaRPr kumimoji="1" lang="zh-CN" alt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T="45707" marB="45707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光学原理</a:t>
                      </a:r>
                      <a:endParaRPr kumimoji="1" lang="zh-CN" alt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T="45707" marB="45707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102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数学</a:t>
                      </a:r>
                      <a:endParaRPr kumimoji="1" lang="zh-CN" alt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T="45707" marB="45707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李勇</a:t>
                      </a:r>
                      <a:endParaRPr kumimoji="1" lang="zh-CN" alt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T="45707" marB="45707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数学分析</a:t>
                      </a:r>
                      <a:endParaRPr kumimoji="1" lang="zh-CN" alt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T="45707" marB="45707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102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数学</a:t>
                      </a:r>
                      <a:endParaRPr kumimoji="1" lang="zh-CN" alt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T="45707" marB="45707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李勇</a:t>
                      </a:r>
                      <a:endParaRPr kumimoji="1" lang="zh-CN" alt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T="45707" marB="45707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高等代数</a:t>
                      </a:r>
                      <a:endParaRPr kumimoji="1" lang="zh-CN" alt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T="45707" marB="45707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102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数学</a:t>
                      </a:r>
                      <a:endParaRPr kumimoji="1" lang="zh-CN" alt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T="45707" marB="45707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张平</a:t>
                      </a:r>
                      <a:endParaRPr kumimoji="1" lang="zh-CN" alt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T="45707" marB="45707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数学分析</a:t>
                      </a:r>
                      <a:endParaRPr kumimoji="1" lang="zh-CN" alt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T="45707" marB="45707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102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数学</a:t>
                      </a:r>
                      <a:endParaRPr kumimoji="1" lang="zh-CN" alt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T="45707" marB="45707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张平</a:t>
                      </a:r>
                      <a:endParaRPr kumimoji="1" lang="zh-CN" alt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T="45707" marB="45707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高等代数</a:t>
                      </a:r>
                      <a:endParaRPr kumimoji="1" lang="zh-CN" alt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T="45707" marB="45707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102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计算数学</a:t>
                      </a:r>
                      <a:endParaRPr kumimoji="1" lang="zh-CN" alt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T="45707" marB="45707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张平</a:t>
                      </a:r>
                      <a:endParaRPr kumimoji="1" lang="zh-CN" alt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T="45707" marB="45707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数学分析</a:t>
                      </a:r>
                      <a:endParaRPr kumimoji="1" lang="zh-CN" alt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T="45707" marB="45707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102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计算数学</a:t>
                      </a:r>
                      <a:endParaRPr kumimoji="1" lang="zh-CN" alt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T="45707" marB="45707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周峰</a:t>
                      </a:r>
                      <a:endParaRPr kumimoji="1" lang="zh-CN" alt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T="45707" marB="45707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数学分析</a:t>
                      </a:r>
                      <a:endParaRPr kumimoji="1" lang="zh-CN" alt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T="45707" marB="45707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33846" name="Text Box 53"/>
          <p:cNvSpPr txBox="1"/>
          <p:nvPr/>
        </p:nvSpPr>
        <p:spPr>
          <a:xfrm>
            <a:off x="406400" y="1536700"/>
            <a:ext cx="533400" cy="3990975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kumimoji="1"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kumimoji="1"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FontTx/>
              <a:buNone/>
            </a:pPr>
            <a:r>
              <a:rPr lang="zh-CN" altLang="en-US" dirty="0">
                <a:solidFill>
                  <a:schemeClr val="tx1"/>
                </a:solidFill>
              </a:rPr>
              <a:t>规范化的二维表格</a:t>
            </a:r>
            <a:endParaRPr lang="zh-CN" alt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4818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34819" name="Rectangle 2"/>
          <p:cNvSpPr>
            <a:spLocks noGrp="1"/>
          </p:cNvSpPr>
          <p:nvPr>
            <p:ph idx="1"/>
          </p:nvPr>
        </p:nvSpPr>
        <p:spPr>
          <a:xfrm>
            <a:off x="381000" y="914400"/>
            <a:ext cx="8610600" cy="5638800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120000"/>
              </a:lnSpc>
            </a:pPr>
            <a:r>
              <a:rPr lang="zh-CN" altLang="en-US" sz="3600" dirty="0">
                <a:solidFill>
                  <a:schemeClr val="tx1"/>
                </a:solidFill>
              </a:rPr>
              <a:t>分析</a:t>
            </a:r>
            <a:r>
              <a:rPr lang="en-US" altLang="zh-CN" sz="3600" dirty="0">
                <a:solidFill>
                  <a:schemeClr val="tx1"/>
                </a:solidFill>
              </a:rPr>
              <a:t>Teaching(C,T,B):</a:t>
            </a:r>
            <a:endParaRPr lang="en-US" altLang="zh-CN" sz="3600" dirty="0">
              <a:solidFill>
                <a:schemeClr val="tx1"/>
              </a:solidFill>
            </a:endParaRPr>
          </a:p>
          <a:p>
            <a:pPr lvl="1" eaLnBrk="1" hangingPunct="1">
              <a:lnSpc>
                <a:spcPct val="120000"/>
              </a:lnSpc>
            </a:pPr>
            <a:r>
              <a:rPr lang="zh-CN" altLang="en-US" sz="3200" dirty="0"/>
              <a:t>找出</a:t>
            </a:r>
            <a:r>
              <a:rPr lang="en-US" altLang="zh-CN" sz="3200" dirty="0"/>
              <a:t>Teaching</a:t>
            </a:r>
            <a:r>
              <a:rPr lang="zh-CN" altLang="en-US" sz="3200" dirty="0"/>
              <a:t>的非平凡函数依赖</a:t>
            </a:r>
            <a:endParaRPr lang="zh-CN" altLang="en-US" sz="3200" dirty="0"/>
          </a:p>
          <a:p>
            <a:pPr lvl="1" eaLnBrk="1" hangingPunct="1"/>
            <a:r>
              <a:rPr lang="en-US" altLang="zh-CN" sz="3200" dirty="0"/>
              <a:t>Teach</a:t>
            </a:r>
            <a:r>
              <a:rPr lang="zh-CN" altLang="en-US" sz="3200" dirty="0"/>
              <a:t>具有唯一候选码</a:t>
            </a:r>
            <a:r>
              <a:rPr lang="en-US" altLang="zh-CN" sz="3200" dirty="0"/>
              <a:t>(C</a:t>
            </a:r>
            <a:r>
              <a:rPr lang="zh-CN" altLang="en-US" sz="3200" dirty="0"/>
              <a:t>，</a:t>
            </a:r>
            <a:r>
              <a:rPr lang="en-US" altLang="zh-CN" sz="3200" dirty="0"/>
              <a:t>T</a:t>
            </a:r>
            <a:r>
              <a:rPr lang="zh-CN" altLang="en-US" sz="3200" dirty="0"/>
              <a:t>，</a:t>
            </a:r>
            <a:r>
              <a:rPr lang="en-US" altLang="zh-CN" sz="3200" dirty="0"/>
              <a:t>B)</a:t>
            </a:r>
            <a:r>
              <a:rPr lang="zh-CN" altLang="en-US" sz="3200" dirty="0"/>
              <a:t>， 即全码</a:t>
            </a:r>
            <a:endParaRPr lang="zh-CN" altLang="en-US" sz="3200" dirty="0"/>
          </a:p>
          <a:p>
            <a:pPr lvl="1" eaLnBrk="1" hangingPunct="1"/>
            <a:r>
              <a:rPr lang="en-US" altLang="zh-CN" sz="3200" dirty="0"/>
              <a:t>Teaching∈BCNF</a:t>
            </a:r>
            <a:endParaRPr lang="en-US" altLang="zh-CN" sz="3200" dirty="0"/>
          </a:p>
          <a:p>
            <a:pPr lvl="1" eaLnBrk="1" hangingPunct="1"/>
            <a:r>
              <a:rPr lang="en-US" altLang="zh-CN" sz="3200" dirty="0"/>
              <a:t>Teaching</a:t>
            </a:r>
            <a:r>
              <a:rPr lang="zh-CN" altLang="en-US" sz="3200" dirty="0"/>
              <a:t>模式是否存在不良特性？</a:t>
            </a:r>
            <a:endParaRPr lang="zh-CN" altLang="en-US" sz="3200" dirty="0"/>
          </a:p>
          <a:p>
            <a:pPr lvl="2" eaLnBrk="1" hangingPunct="1">
              <a:buFont typeface="Wingdings" panose="05000000000000000000" pitchFamily="2" charset="2"/>
              <a:buChar char="§"/>
            </a:pPr>
            <a:r>
              <a:rPr lang="zh-CN" altLang="en-US" sz="2800" dirty="0"/>
              <a:t>数据冗余</a:t>
            </a:r>
            <a:endParaRPr lang="zh-CN" altLang="en-US" sz="2800" dirty="0"/>
          </a:p>
          <a:p>
            <a:pPr lvl="2" eaLnBrk="1" hangingPunct="1">
              <a:buFont typeface="Wingdings" panose="05000000000000000000" pitchFamily="2" charset="2"/>
              <a:buChar char="§"/>
            </a:pPr>
            <a:r>
              <a:rPr lang="zh-CN" altLang="en-US" sz="2800" dirty="0"/>
              <a:t>插入异常</a:t>
            </a:r>
            <a:endParaRPr lang="zh-CN" altLang="en-US" sz="2800" dirty="0"/>
          </a:p>
          <a:p>
            <a:pPr lvl="2" eaLnBrk="1" hangingPunct="1">
              <a:buFont typeface="Wingdings" panose="05000000000000000000" pitchFamily="2" charset="2"/>
              <a:buChar char="§"/>
            </a:pPr>
            <a:r>
              <a:rPr lang="zh-CN" altLang="en-US" sz="2800" dirty="0"/>
              <a:t>删除异常</a:t>
            </a:r>
            <a:endParaRPr lang="zh-CN" altLang="en-US" sz="2800" dirty="0"/>
          </a:p>
          <a:p>
            <a:pPr lvl="2" eaLnBrk="1" hangingPunct="1">
              <a:buFont typeface="Wingdings" panose="05000000000000000000" pitchFamily="2" charset="2"/>
              <a:buChar char="§"/>
            </a:pPr>
            <a:r>
              <a:rPr lang="zh-CN" altLang="en-US" sz="2800" dirty="0"/>
              <a:t>更新异常</a:t>
            </a:r>
            <a:endParaRPr lang="zh-CN" altLang="en-US" dirty="0"/>
          </a:p>
        </p:txBody>
      </p:sp>
      <p:sp>
        <p:nvSpPr>
          <p:cNvPr id="34820" name="Rectangle 3"/>
          <p:cNvSpPr>
            <a:spLocks noGrp="1"/>
          </p:cNvSpPr>
          <p:nvPr>
            <p:ph type="title"/>
          </p:nvPr>
        </p:nvSpPr>
        <p:spPr>
          <a:xfrm>
            <a:off x="685800" y="0"/>
            <a:ext cx="77724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u="sng" dirty="0"/>
              <a:t>6.4.6  </a:t>
            </a:r>
            <a:r>
              <a:rPr lang="zh-CN" altLang="en-US" u="sng" dirty="0"/>
              <a:t>多值依赖</a:t>
            </a:r>
            <a:endParaRPr lang="zh-CN" altLang="en-US" u="sng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5842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35843" name="Rectangle 2"/>
          <p:cNvSpPr>
            <a:spLocks noGrp="1"/>
          </p:cNvSpPr>
          <p:nvPr>
            <p:ph idx="1"/>
          </p:nvPr>
        </p:nvSpPr>
        <p:spPr>
          <a:xfrm>
            <a:off x="381000" y="914400"/>
            <a:ext cx="8610600" cy="5029200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120000"/>
              </a:lnSpc>
            </a:pPr>
            <a:r>
              <a:rPr lang="zh-CN" altLang="en-US" sz="3600" dirty="0">
                <a:solidFill>
                  <a:schemeClr val="tx1"/>
                </a:solidFill>
              </a:rPr>
              <a:t>症由</a:t>
            </a:r>
            <a:r>
              <a:rPr lang="en-US" altLang="zh-CN" sz="3600" dirty="0">
                <a:solidFill>
                  <a:schemeClr val="tx1"/>
                </a:solidFill>
              </a:rPr>
              <a:t>:</a:t>
            </a:r>
            <a:endParaRPr lang="en-US" altLang="zh-CN" sz="3600" dirty="0">
              <a:solidFill>
                <a:schemeClr val="tx1"/>
              </a:solidFill>
            </a:endParaRPr>
          </a:p>
          <a:p>
            <a:pPr lvl="1" eaLnBrk="1" hangingPunct="1">
              <a:lnSpc>
                <a:spcPct val="120000"/>
              </a:lnSpc>
            </a:pPr>
            <a:r>
              <a:rPr lang="zh-CN" altLang="en-US" sz="3200" dirty="0">
                <a:solidFill>
                  <a:schemeClr val="accent2"/>
                </a:solidFill>
              </a:rPr>
              <a:t>多值依赖</a:t>
            </a:r>
            <a:r>
              <a:rPr lang="en-US" altLang="zh-CN" sz="3200" dirty="0"/>
              <a:t>: </a:t>
            </a:r>
            <a:r>
              <a:rPr lang="zh-CN" altLang="en-US" dirty="0"/>
              <a:t>给定的一对（</a:t>
            </a:r>
            <a:r>
              <a:rPr lang="en-US" altLang="zh-CN" i="1" dirty="0"/>
              <a:t>X</a:t>
            </a:r>
            <a:r>
              <a:rPr lang="zh-CN" altLang="en-US" dirty="0"/>
              <a:t>，</a:t>
            </a:r>
            <a:r>
              <a:rPr lang="en-US" altLang="zh-CN" i="1" dirty="0"/>
              <a:t>Z</a:t>
            </a:r>
            <a:r>
              <a:rPr lang="zh-CN" altLang="en-US" dirty="0"/>
              <a:t>）值有一组</a:t>
            </a:r>
            <a:r>
              <a:rPr lang="en-US" altLang="zh-CN" i="1" dirty="0"/>
              <a:t>Y</a:t>
            </a:r>
            <a:r>
              <a:rPr lang="zh-CN" altLang="en-US" dirty="0"/>
              <a:t>的值，这组值仅仅决定于</a:t>
            </a:r>
            <a:r>
              <a:rPr lang="en-US" altLang="zh-CN" i="1" dirty="0"/>
              <a:t>X</a:t>
            </a:r>
            <a:r>
              <a:rPr lang="zh-CN" altLang="en-US" dirty="0"/>
              <a:t>值而与</a:t>
            </a:r>
            <a:r>
              <a:rPr lang="en-US" altLang="zh-CN" i="1" dirty="0"/>
              <a:t>Z</a:t>
            </a:r>
            <a:r>
              <a:rPr lang="zh-CN" altLang="en-US" dirty="0"/>
              <a:t>值无关</a:t>
            </a:r>
            <a:r>
              <a:rPr lang="en-US" altLang="zh-CN" dirty="0"/>
              <a:t>(</a:t>
            </a:r>
            <a:r>
              <a:rPr lang="en-US" altLang="zh-CN" i="1" dirty="0"/>
              <a:t>Z </a:t>
            </a:r>
            <a:r>
              <a:rPr lang="en-US" altLang="zh-CN" dirty="0"/>
              <a:t>= </a:t>
            </a:r>
            <a:r>
              <a:rPr lang="en-US" altLang="zh-CN" i="1" dirty="0"/>
              <a:t>U</a:t>
            </a:r>
            <a:r>
              <a:rPr lang="en-US" altLang="zh-CN" dirty="0"/>
              <a:t>-</a:t>
            </a:r>
            <a:r>
              <a:rPr lang="en-US" altLang="zh-CN" i="1" dirty="0"/>
              <a:t>X</a:t>
            </a:r>
            <a:r>
              <a:rPr lang="en-US" altLang="zh-CN" dirty="0"/>
              <a:t>-</a:t>
            </a:r>
            <a:r>
              <a:rPr lang="en-US" altLang="zh-CN" i="1" dirty="0"/>
              <a:t>Y</a:t>
            </a:r>
            <a:r>
              <a:rPr lang="en-US" altLang="zh-CN" dirty="0"/>
              <a:t>)</a:t>
            </a:r>
            <a:r>
              <a:rPr lang="zh-CN" altLang="en-US" dirty="0"/>
              <a:t>。</a:t>
            </a:r>
            <a:r>
              <a:rPr lang="en-US" altLang="zh-CN" i="1" dirty="0"/>
              <a:t>Y</a:t>
            </a:r>
            <a:r>
              <a:rPr lang="zh-CN" altLang="en-US" dirty="0"/>
              <a:t>多值依赖于</a:t>
            </a:r>
            <a:r>
              <a:rPr lang="en-US" altLang="zh-CN" i="1" dirty="0"/>
              <a:t>X</a:t>
            </a:r>
            <a:r>
              <a:rPr lang="zh-CN" altLang="en-US" dirty="0"/>
              <a:t>。</a:t>
            </a:r>
            <a:endParaRPr lang="zh-CN" altLang="en-US" dirty="0"/>
          </a:p>
          <a:p>
            <a:pPr lvl="2" eaLnBrk="1" hangingPunct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zh-CN" altLang="en-US" sz="2800" dirty="0">
                <a:latin typeface="宋体" panose="02010600030101010101" pitchFamily="2" charset="-122"/>
                <a:ea typeface="宋体" panose="02010600030101010101" pitchFamily="2" charset="-122"/>
              </a:rPr>
              <a:t>考察</a:t>
            </a:r>
            <a:r>
              <a:rPr lang="en-US" altLang="zh-CN" sz="2800" dirty="0">
                <a:solidFill>
                  <a:schemeClr val="accent2"/>
                </a:solidFill>
                <a:ea typeface="宋体" panose="02010600030101010101" pitchFamily="2" charset="-122"/>
              </a:rPr>
              <a:t>(</a:t>
            </a:r>
            <a:r>
              <a:rPr lang="zh-CN" altLang="en-US" sz="2800" dirty="0">
                <a:solidFill>
                  <a:schemeClr val="accent2"/>
                </a:solidFill>
                <a:ea typeface="宋体" panose="02010600030101010101" pitchFamily="2" charset="-122"/>
              </a:rPr>
              <a:t>课程</a:t>
            </a:r>
            <a:r>
              <a:rPr lang="en-US" altLang="zh-CN" sz="2800" dirty="0">
                <a:solidFill>
                  <a:schemeClr val="accent2"/>
                </a:solidFill>
                <a:ea typeface="宋体" panose="02010600030101010101" pitchFamily="2" charset="-122"/>
              </a:rPr>
              <a:t>C,</a:t>
            </a:r>
            <a:r>
              <a:rPr lang="zh-CN" altLang="en-US" sz="2800" dirty="0">
                <a:solidFill>
                  <a:schemeClr val="accent2"/>
                </a:solidFill>
                <a:ea typeface="宋体" panose="02010600030101010101" pitchFamily="2" charset="-122"/>
              </a:rPr>
              <a:t>教员</a:t>
            </a:r>
            <a:r>
              <a:rPr lang="en-US" altLang="zh-CN" sz="2800" dirty="0">
                <a:solidFill>
                  <a:schemeClr val="accent2"/>
                </a:solidFill>
                <a:ea typeface="宋体" panose="02010600030101010101" pitchFamily="2" charset="-122"/>
              </a:rPr>
              <a:t>T)</a:t>
            </a:r>
            <a:r>
              <a:rPr lang="zh-CN" altLang="en-US" sz="2800" dirty="0">
                <a:latin typeface="宋体" panose="02010600030101010101" pitchFamily="2" charset="-122"/>
                <a:ea typeface="宋体" panose="02010600030101010101" pitchFamily="2" charset="-122"/>
              </a:rPr>
              <a:t>与</a:t>
            </a:r>
            <a:r>
              <a:rPr lang="en-US" altLang="zh-CN" sz="2800" dirty="0">
                <a:solidFill>
                  <a:schemeClr val="accent2"/>
                </a:solidFill>
                <a:ea typeface="宋体" panose="02010600030101010101" pitchFamily="2" charset="-122"/>
              </a:rPr>
              <a:t>(</a:t>
            </a:r>
            <a:r>
              <a:rPr lang="zh-CN" altLang="en-US" sz="2800" dirty="0">
                <a:solidFill>
                  <a:schemeClr val="accent2"/>
                </a:solidFill>
                <a:ea typeface="宋体" panose="02010600030101010101" pitchFamily="2" charset="-122"/>
              </a:rPr>
              <a:t>参考书</a:t>
            </a:r>
            <a:r>
              <a:rPr lang="en-US" altLang="zh-CN" sz="2800" dirty="0">
                <a:solidFill>
                  <a:schemeClr val="accent2"/>
                </a:solidFill>
                <a:ea typeface="宋体" panose="02010600030101010101" pitchFamily="2" charset="-122"/>
              </a:rPr>
              <a:t>B)</a:t>
            </a:r>
            <a:endParaRPr lang="en-US" altLang="zh-CN" sz="2800" dirty="0">
              <a:solidFill>
                <a:schemeClr val="accent2"/>
              </a:solidFill>
              <a:ea typeface="宋体" panose="02010600030101010101" pitchFamily="2" charset="-122"/>
            </a:endParaRPr>
          </a:p>
          <a:p>
            <a:pPr lvl="2" eaLnBrk="1" hangingPunct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zh-CN" altLang="en-US" sz="2800" dirty="0">
                <a:latin typeface="宋体" panose="02010600030101010101" pitchFamily="2" charset="-122"/>
                <a:ea typeface="宋体" panose="02010600030101010101" pitchFamily="2" charset="-122"/>
              </a:rPr>
              <a:t>考察</a:t>
            </a:r>
            <a:r>
              <a:rPr lang="en-US" altLang="zh-CN" sz="2800" dirty="0">
                <a:solidFill>
                  <a:schemeClr val="accent2"/>
                </a:solidFill>
                <a:ea typeface="宋体" panose="02010600030101010101" pitchFamily="2" charset="-122"/>
              </a:rPr>
              <a:t>(</a:t>
            </a:r>
            <a:r>
              <a:rPr lang="zh-CN" altLang="en-US" sz="2800" dirty="0">
                <a:solidFill>
                  <a:schemeClr val="accent2"/>
                </a:solidFill>
                <a:ea typeface="宋体" panose="02010600030101010101" pitchFamily="2" charset="-122"/>
              </a:rPr>
              <a:t>课程</a:t>
            </a:r>
            <a:r>
              <a:rPr lang="en-US" altLang="zh-CN" sz="2800" dirty="0">
                <a:solidFill>
                  <a:schemeClr val="accent2"/>
                </a:solidFill>
                <a:ea typeface="宋体" panose="02010600030101010101" pitchFamily="2" charset="-122"/>
              </a:rPr>
              <a:t>C,</a:t>
            </a:r>
            <a:r>
              <a:rPr lang="zh-CN" altLang="en-US" sz="2800" dirty="0">
                <a:solidFill>
                  <a:schemeClr val="accent2"/>
                </a:solidFill>
                <a:ea typeface="宋体" panose="02010600030101010101" pitchFamily="2" charset="-122"/>
              </a:rPr>
              <a:t>参考书</a:t>
            </a:r>
            <a:r>
              <a:rPr lang="en-US" altLang="zh-CN" sz="2800" dirty="0">
                <a:solidFill>
                  <a:schemeClr val="accent2"/>
                </a:solidFill>
                <a:ea typeface="宋体" panose="02010600030101010101" pitchFamily="2" charset="-122"/>
              </a:rPr>
              <a:t>B)</a:t>
            </a:r>
            <a:r>
              <a:rPr lang="zh-CN" altLang="en-US" sz="2800" dirty="0">
                <a:latin typeface="宋体" panose="02010600030101010101" pitchFamily="2" charset="-122"/>
                <a:ea typeface="宋体" panose="02010600030101010101" pitchFamily="2" charset="-122"/>
              </a:rPr>
              <a:t>与</a:t>
            </a:r>
            <a:r>
              <a:rPr lang="en-US" altLang="zh-CN" sz="2800" dirty="0">
                <a:solidFill>
                  <a:schemeClr val="accent2"/>
                </a:solidFill>
                <a:ea typeface="宋体" panose="02010600030101010101" pitchFamily="2" charset="-122"/>
              </a:rPr>
              <a:t>(</a:t>
            </a:r>
            <a:r>
              <a:rPr lang="zh-CN" altLang="en-US" sz="2800" dirty="0">
                <a:solidFill>
                  <a:schemeClr val="accent2"/>
                </a:solidFill>
                <a:ea typeface="宋体" panose="02010600030101010101" pitchFamily="2" charset="-122"/>
              </a:rPr>
              <a:t>教员</a:t>
            </a:r>
            <a:r>
              <a:rPr lang="en-US" altLang="zh-CN" sz="2800" dirty="0">
                <a:solidFill>
                  <a:schemeClr val="accent2"/>
                </a:solidFill>
                <a:ea typeface="宋体" panose="02010600030101010101" pitchFamily="2" charset="-122"/>
              </a:rPr>
              <a:t>T)</a:t>
            </a:r>
            <a:endParaRPr lang="en-US" altLang="zh-CN" sz="2800" dirty="0">
              <a:solidFill>
                <a:schemeClr val="accent2"/>
              </a:solidFill>
              <a:ea typeface="宋体" panose="02010600030101010101" pitchFamily="2" charset="-122"/>
            </a:endParaRPr>
          </a:p>
        </p:txBody>
      </p:sp>
      <p:sp>
        <p:nvSpPr>
          <p:cNvPr id="35844" name="Rectangle 3"/>
          <p:cNvSpPr>
            <a:spLocks noGrp="1"/>
          </p:cNvSpPr>
          <p:nvPr>
            <p:ph type="title"/>
          </p:nvPr>
        </p:nvSpPr>
        <p:spPr>
          <a:xfrm>
            <a:off x="685800" y="0"/>
            <a:ext cx="77724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u="sng" dirty="0"/>
              <a:t>6.4.6  </a:t>
            </a:r>
            <a:r>
              <a:rPr lang="zh-CN" altLang="en-US" u="sng" dirty="0"/>
              <a:t>多值依赖</a:t>
            </a:r>
            <a:endParaRPr lang="zh-CN" altLang="en-US" u="sng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6866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36867" name="Rectangle 2"/>
          <p:cNvSpPr>
            <a:spLocks noGrp="1"/>
          </p:cNvSpPr>
          <p:nvPr>
            <p:ph idx="1"/>
          </p:nvPr>
        </p:nvSpPr>
        <p:spPr>
          <a:xfrm>
            <a:off x="127000" y="914400"/>
            <a:ext cx="8864600" cy="5029200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120000"/>
              </a:lnSpc>
            </a:pPr>
            <a:r>
              <a:rPr lang="en-US" altLang="zh-CN" sz="3600" dirty="0">
                <a:solidFill>
                  <a:schemeClr val="tx1"/>
                </a:solidFill>
              </a:rPr>
              <a:t>2. </a:t>
            </a:r>
            <a:r>
              <a:rPr lang="zh-CN" altLang="en-US" sz="3600" dirty="0">
                <a:solidFill>
                  <a:schemeClr val="tx1"/>
                </a:solidFill>
              </a:rPr>
              <a:t>定义</a:t>
            </a:r>
            <a:r>
              <a:rPr lang="en-US" altLang="zh-CN" sz="3600" dirty="0">
                <a:solidFill>
                  <a:schemeClr val="tx1"/>
                </a:solidFill>
              </a:rPr>
              <a:t>:</a:t>
            </a:r>
            <a:endParaRPr lang="en-US" altLang="zh-CN" sz="3600" dirty="0">
              <a:solidFill>
                <a:schemeClr val="tx1"/>
              </a:solidFill>
            </a:endParaRPr>
          </a:p>
          <a:p>
            <a:pPr eaLnBrk="1" hangingPunct="1">
              <a:lnSpc>
                <a:spcPct val="120000"/>
              </a:lnSpc>
              <a:buNone/>
            </a:pPr>
            <a:r>
              <a:rPr lang="en-US" altLang="zh-CN" dirty="0"/>
              <a:t>   </a:t>
            </a:r>
            <a:r>
              <a:rPr lang="zh-CN" altLang="en-US" dirty="0"/>
              <a:t>定义</a:t>
            </a:r>
            <a:r>
              <a:rPr lang="en-US" altLang="zh-CN" dirty="0"/>
              <a:t>6.15</a:t>
            </a:r>
            <a:r>
              <a:rPr lang="en-US" altLang="zh-CN" dirty="0">
                <a:solidFill>
                  <a:schemeClr val="accent2"/>
                </a:solidFill>
              </a:rPr>
              <a:t>(</a:t>
            </a:r>
            <a:r>
              <a:rPr lang="zh-CN" altLang="en-US" dirty="0">
                <a:solidFill>
                  <a:schemeClr val="accent2"/>
                </a:solidFill>
              </a:rPr>
              <a:t>描述型</a:t>
            </a:r>
            <a:r>
              <a:rPr lang="en-US" altLang="zh-CN" dirty="0">
                <a:solidFill>
                  <a:schemeClr val="accent2"/>
                </a:solidFill>
              </a:rPr>
              <a:t>)</a:t>
            </a:r>
            <a:r>
              <a:rPr lang="en-US" altLang="zh-CN" dirty="0"/>
              <a:t>     </a:t>
            </a:r>
            <a:r>
              <a:rPr lang="zh-CN" altLang="en-US" sz="2800" dirty="0">
                <a:solidFill>
                  <a:schemeClr val="tx1"/>
                </a:solidFill>
              </a:rPr>
              <a:t>设</a:t>
            </a:r>
            <a:r>
              <a:rPr lang="en-US" altLang="zh-CN" sz="2800" dirty="0">
                <a:solidFill>
                  <a:schemeClr val="tx1"/>
                </a:solidFill>
              </a:rPr>
              <a:t>R(U)</a:t>
            </a:r>
            <a:r>
              <a:rPr lang="zh-CN" altLang="en-US" sz="2800" dirty="0">
                <a:solidFill>
                  <a:schemeClr val="tx1"/>
                </a:solidFill>
              </a:rPr>
              <a:t>是一个属性集</a:t>
            </a:r>
            <a:r>
              <a:rPr lang="en-US" altLang="zh-CN" sz="2800" dirty="0">
                <a:solidFill>
                  <a:schemeClr val="tx1"/>
                </a:solidFill>
              </a:rPr>
              <a:t>U</a:t>
            </a:r>
            <a:r>
              <a:rPr lang="zh-CN" altLang="en-US" sz="2800" dirty="0">
                <a:solidFill>
                  <a:schemeClr val="tx1"/>
                </a:solidFill>
              </a:rPr>
              <a:t>上的一个关系模式， </a:t>
            </a:r>
            <a:r>
              <a:rPr lang="en-US" altLang="zh-CN" sz="2800" dirty="0">
                <a:solidFill>
                  <a:schemeClr val="tx1"/>
                </a:solidFill>
              </a:rPr>
              <a:t>X</a:t>
            </a:r>
            <a:r>
              <a:rPr lang="zh-CN" altLang="en-US" sz="2800" dirty="0">
                <a:solidFill>
                  <a:schemeClr val="tx1"/>
                </a:solidFill>
              </a:rPr>
              <a:t>、 </a:t>
            </a:r>
            <a:r>
              <a:rPr lang="en-US" altLang="zh-CN" sz="2800" dirty="0">
                <a:solidFill>
                  <a:schemeClr val="tx1"/>
                </a:solidFill>
              </a:rPr>
              <a:t>Y</a:t>
            </a:r>
            <a:r>
              <a:rPr lang="zh-CN" altLang="en-US" sz="2800" dirty="0">
                <a:solidFill>
                  <a:schemeClr val="tx1"/>
                </a:solidFill>
              </a:rPr>
              <a:t>和</a:t>
            </a:r>
            <a:r>
              <a:rPr lang="en-US" altLang="zh-CN" sz="2800" dirty="0">
                <a:solidFill>
                  <a:schemeClr val="tx1"/>
                </a:solidFill>
              </a:rPr>
              <a:t>Z</a:t>
            </a:r>
            <a:r>
              <a:rPr lang="zh-CN" altLang="en-US" sz="2800" dirty="0">
                <a:solidFill>
                  <a:schemeClr val="tx1"/>
                </a:solidFill>
              </a:rPr>
              <a:t>是</a:t>
            </a:r>
            <a:r>
              <a:rPr lang="en-US" altLang="zh-CN" sz="2800" dirty="0">
                <a:solidFill>
                  <a:schemeClr val="tx1"/>
                </a:solidFill>
              </a:rPr>
              <a:t>U</a:t>
            </a:r>
            <a:r>
              <a:rPr lang="zh-CN" altLang="en-US" sz="2800" dirty="0">
                <a:solidFill>
                  <a:schemeClr val="tx1"/>
                </a:solidFill>
              </a:rPr>
              <a:t>的子集，并且</a:t>
            </a:r>
            <a:r>
              <a:rPr lang="en-US" altLang="zh-CN" sz="2800" dirty="0">
                <a:solidFill>
                  <a:schemeClr val="tx1"/>
                </a:solidFill>
              </a:rPr>
              <a:t>Z</a:t>
            </a:r>
            <a:r>
              <a:rPr lang="zh-CN" altLang="en-US" sz="2800" dirty="0">
                <a:solidFill>
                  <a:schemeClr val="tx1"/>
                </a:solidFill>
              </a:rPr>
              <a:t>＝</a:t>
            </a:r>
            <a:r>
              <a:rPr lang="en-US" altLang="zh-CN" sz="2800" dirty="0">
                <a:solidFill>
                  <a:schemeClr val="tx1"/>
                </a:solidFill>
              </a:rPr>
              <a:t>U</a:t>
            </a:r>
            <a:r>
              <a:rPr lang="zh-CN" altLang="en-US" sz="2800" dirty="0">
                <a:solidFill>
                  <a:schemeClr val="tx1"/>
                </a:solidFill>
              </a:rPr>
              <a:t>－</a:t>
            </a:r>
            <a:r>
              <a:rPr lang="en-US" altLang="zh-CN" sz="2800" dirty="0">
                <a:solidFill>
                  <a:schemeClr val="tx1"/>
                </a:solidFill>
              </a:rPr>
              <a:t>X</a:t>
            </a:r>
            <a:r>
              <a:rPr lang="zh-CN" altLang="en-US" sz="2800" dirty="0">
                <a:solidFill>
                  <a:schemeClr val="tx1"/>
                </a:solidFill>
              </a:rPr>
              <a:t>－</a:t>
            </a:r>
            <a:r>
              <a:rPr lang="en-US" altLang="zh-CN" sz="2800" dirty="0">
                <a:solidFill>
                  <a:schemeClr val="tx1"/>
                </a:solidFill>
              </a:rPr>
              <a:t>Y</a:t>
            </a:r>
            <a:r>
              <a:rPr lang="zh-CN" altLang="en-US" sz="2800" dirty="0">
                <a:solidFill>
                  <a:schemeClr val="tx1"/>
                </a:solidFill>
              </a:rPr>
              <a:t>，</a:t>
            </a:r>
            <a:r>
              <a:rPr lang="zh-CN" altLang="en-US" sz="2800" dirty="0"/>
              <a:t>多值依赖</a:t>
            </a:r>
            <a:r>
              <a:rPr lang="zh-CN" altLang="en-US" sz="2800" dirty="0">
                <a:solidFill>
                  <a:schemeClr val="tx1"/>
                </a:solidFill>
              </a:rPr>
              <a:t> </a:t>
            </a:r>
            <a:r>
              <a:rPr lang="en-US" altLang="zh-CN" sz="2800" dirty="0">
                <a:solidFill>
                  <a:srgbClr val="0000CC"/>
                </a:solidFill>
              </a:rPr>
              <a:t>X→→Y</a:t>
            </a:r>
            <a:r>
              <a:rPr lang="zh-CN" altLang="en-US" sz="2800" dirty="0">
                <a:solidFill>
                  <a:schemeClr val="tx1"/>
                </a:solidFill>
              </a:rPr>
              <a:t>成立当且仅当对</a:t>
            </a:r>
            <a:r>
              <a:rPr lang="en-US" altLang="zh-CN" sz="2800" dirty="0">
                <a:solidFill>
                  <a:schemeClr val="tx1"/>
                </a:solidFill>
              </a:rPr>
              <a:t>R</a:t>
            </a:r>
            <a:r>
              <a:rPr lang="zh-CN" altLang="en-US" sz="2800" dirty="0">
                <a:solidFill>
                  <a:schemeClr val="tx1"/>
                </a:solidFill>
              </a:rPr>
              <a:t>的任一关系</a:t>
            </a:r>
            <a:r>
              <a:rPr lang="en-US" altLang="zh-CN" sz="3600" dirty="0">
                <a:solidFill>
                  <a:schemeClr val="tx1"/>
                </a:solidFill>
              </a:rPr>
              <a:t>r</a:t>
            </a:r>
            <a:r>
              <a:rPr lang="zh-CN" altLang="en-US" sz="2800" dirty="0">
                <a:solidFill>
                  <a:schemeClr val="tx1"/>
                </a:solidFill>
              </a:rPr>
              <a:t>，</a:t>
            </a:r>
            <a:r>
              <a:rPr lang="en-US" altLang="zh-CN" sz="3600" dirty="0">
                <a:solidFill>
                  <a:schemeClr val="tx1"/>
                </a:solidFill>
              </a:rPr>
              <a:t>r</a:t>
            </a:r>
            <a:r>
              <a:rPr lang="zh-CN" altLang="en-US" sz="2800" dirty="0">
                <a:solidFill>
                  <a:schemeClr val="tx1"/>
                </a:solidFill>
              </a:rPr>
              <a:t>在（</a:t>
            </a:r>
            <a:r>
              <a:rPr lang="en-US" altLang="zh-CN" sz="2800" dirty="0">
                <a:solidFill>
                  <a:schemeClr val="tx1"/>
                </a:solidFill>
              </a:rPr>
              <a:t>X</a:t>
            </a:r>
            <a:r>
              <a:rPr lang="zh-CN" altLang="en-US" sz="2800" dirty="0">
                <a:solidFill>
                  <a:schemeClr val="tx1"/>
                </a:solidFill>
              </a:rPr>
              <a:t>，</a:t>
            </a:r>
            <a:r>
              <a:rPr lang="en-US" altLang="zh-CN" sz="2800" dirty="0">
                <a:solidFill>
                  <a:schemeClr val="tx1"/>
                </a:solidFill>
              </a:rPr>
              <a:t>Z</a:t>
            </a:r>
            <a:r>
              <a:rPr lang="zh-CN" altLang="en-US" sz="2800" dirty="0">
                <a:solidFill>
                  <a:schemeClr val="tx1"/>
                </a:solidFill>
              </a:rPr>
              <a:t>）上的每个值对应一组</a:t>
            </a:r>
            <a:r>
              <a:rPr lang="en-US" altLang="zh-CN" sz="2800" dirty="0">
                <a:solidFill>
                  <a:schemeClr val="tx1"/>
                </a:solidFill>
              </a:rPr>
              <a:t>Y</a:t>
            </a:r>
            <a:r>
              <a:rPr lang="zh-CN" altLang="en-US" sz="2800" dirty="0">
                <a:solidFill>
                  <a:schemeClr val="tx1"/>
                </a:solidFill>
              </a:rPr>
              <a:t>的值，这组值仅仅决定于</a:t>
            </a:r>
            <a:r>
              <a:rPr lang="en-US" altLang="zh-CN" sz="2800" dirty="0">
                <a:solidFill>
                  <a:schemeClr val="tx1"/>
                </a:solidFill>
              </a:rPr>
              <a:t>X</a:t>
            </a:r>
            <a:r>
              <a:rPr lang="zh-CN" altLang="en-US" sz="2800" dirty="0">
                <a:solidFill>
                  <a:schemeClr val="tx1"/>
                </a:solidFill>
              </a:rPr>
              <a:t>值而与</a:t>
            </a:r>
            <a:r>
              <a:rPr lang="en-US" altLang="zh-CN" sz="2800" dirty="0">
                <a:solidFill>
                  <a:schemeClr val="tx1"/>
                </a:solidFill>
              </a:rPr>
              <a:t>Z</a:t>
            </a:r>
            <a:r>
              <a:rPr lang="zh-CN" altLang="en-US" sz="2800" dirty="0">
                <a:solidFill>
                  <a:schemeClr val="tx1"/>
                </a:solidFill>
              </a:rPr>
              <a:t>值无关。</a:t>
            </a:r>
            <a:endParaRPr lang="zh-CN" altLang="en-US" sz="2800" dirty="0">
              <a:solidFill>
                <a:schemeClr val="tx1"/>
              </a:solidFill>
            </a:endParaRPr>
          </a:p>
          <a:p>
            <a:pPr eaLnBrk="1" hangingPunct="1">
              <a:lnSpc>
                <a:spcPct val="120000"/>
              </a:lnSpc>
              <a:buNone/>
            </a:pPr>
            <a:r>
              <a:rPr lang="zh-CN" altLang="en-US" dirty="0"/>
              <a:t>   	</a:t>
            </a:r>
            <a:r>
              <a:rPr lang="zh-CN" altLang="en-US" dirty="0">
                <a:solidFill>
                  <a:schemeClr val="tx1"/>
                </a:solidFill>
              </a:rPr>
              <a:t>例  </a:t>
            </a:r>
            <a:r>
              <a:rPr lang="en-US" altLang="zh-CN" dirty="0">
                <a:solidFill>
                  <a:schemeClr val="tx1"/>
                </a:solidFill>
              </a:rPr>
              <a:t>Teaching</a:t>
            </a:r>
            <a:r>
              <a:rPr lang="zh-CN" altLang="en-US" dirty="0">
                <a:solidFill>
                  <a:schemeClr val="tx1"/>
                </a:solidFill>
              </a:rPr>
              <a:t>（</a:t>
            </a:r>
            <a:r>
              <a:rPr lang="en-US" altLang="zh-CN" dirty="0">
                <a:solidFill>
                  <a:schemeClr val="tx1"/>
                </a:solidFill>
              </a:rPr>
              <a:t>C, T, B</a:t>
            </a:r>
            <a:r>
              <a:rPr lang="zh-CN" altLang="en-US" dirty="0">
                <a:solidFill>
                  <a:schemeClr val="tx1"/>
                </a:solidFill>
              </a:rPr>
              <a:t>）有</a:t>
            </a:r>
            <a:endParaRPr lang="zh-CN" altLang="en-US" dirty="0">
              <a:solidFill>
                <a:schemeClr val="tx1"/>
              </a:solidFill>
            </a:endParaRPr>
          </a:p>
          <a:p>
            <a:pPr eaLnBrk="1" hangingPunct="1">
              <a:lnSpc>
                <a:spcPct val="120000"/>
              </a:lnSpc>
              <a:buNone/>
            </a:pPr>
            <a:r>
              <a:rPr lang="zh-CN" altLang="en-US" dirty="0"/>
              <a:t>    </a:t>
            </a:r>
            <a:r>
              <a:rPr lang="en-US" altLang="zh-CN" sz="2800" dirty="0">
                <a:solidFill>
                  <a:schemeClr val="tx1"/>
                </a:solidFill>
              </a:rPr>
              <a:t>C →→T </a:t>
            </a:r>
            <a:r>
              <a:rPr lang="zh-CN" altLang="en-US" sz="2800" dirty="0">
                <a:solidFill>
                  <a:schemeClr val="tx1"/>
                </a:solidFill>
              </a:rPr>
              <a:t>和 </a:t>
            </a:r>
            <a:r>
              <a:rPr lang="en-US" altLang="zh-CN" sz="2800" dirty="0">
                <a:solidFill>
                  <a:schemeClr val="tx1"/>
                </a:solidFill>
              </a:rPr>
              <a:t>C</a:t>
            </a:r>
            <a:r>
              <a:rPr lang="en-US" altLang="zh-CN" sz="2800" dirty="0"/>
              <a:t> </a:t>
            </a:r>
            <a:r>
              <a:rPr lang="en-US" altLang="zh-CN" sz="2800" dirty="0">
                <a:solidFill>
                  <a:schemeClr val="tx1"/>
                </a:solidFill>
              </a:rPr>
              <a:t>→→B </a:t>
            </a:r>
            <a:endParaRPr lang="en-US" altLang="zh-CN" sz="2800" dirty="0">
              <a:solidFill>
                <a:schemeClr val="tx1"/>
              </a:solidFill>
            </a:endParaRPr>
          </a:p>
        </p:txBody>
      </p:sp>
      <p:sp>
        <p:nvSpPr>
          <p:cNvPr id="36868" name="Rectangle 3"/>
          <p:cNvSpPr>
            <a:spLocks noGrp="1"/>
          </p:cNvSpPr>
          <p:nvPr>
            <p:ph type="title"/>
          </p:nvPr>
        </p:nvSpPr>
        <p:spPr>
          <a:xfrm>
            <a:off x="685800" y="0"/>
            <a:ext cx="77724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u="sng" dirty="0"/>
              <a:t>6.4.6  </a:t>
            </a:r>
            <a:r>
              <a:rPr lang="zh-CN" altLang="en-US" u="sng" dirty="0"/>
              <a:t>多值依赖</a:t>
            </a:r>
            <a:endParaRPr lang="zh-CN" altLang="en-US" u="sng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7890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37891" name="Rectangle 2"/>
          <p:cNvSpPr>
            <a:spLocks noGrp="1"/>
          </p:cNvSpPr>
          <p:nvPr>
            <p:ph idx="1"/>
          </p:nvPr>
        </p:nvSpPr>
        <p:spPr>
          <a:xfrm>
            <a:off x="127000" y="914400"/>
            <a:ext cx="8864600" cy="5943600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110000"/>
              </a:lnSpc>
              <a:spcBef>
                <a:spcPct val="0"/>
              </a:spcBef>
              <a:buNone/>
            </a:pPr>
            <a:r>
              <a:rPr lang="en-US" altLang="zh-CN" dirty="0"/>
              <a:t>   </a:t>
            </a:r>
            <a:r>
              <a:rPr lang="zh-CN" altLang="en-US" dirty="0"/>
              <a:t>定义</a:t>
            </a:r>
            <a:r>
              <a:rPr lang="en-US" altLang="zh-CN" dirty="0"/>
              <a:t>6.15</a:t>
            </a:r>
            <a:r>
              <a:rPr lang="en-US" altLang="zh-CN" dirty="0">
                <a:latin typeface="Courier New" panose="02070309020205020404" pitchFamily="49" charset="0"/>
                <a:ea typeface="华文新魏" panose="02010800040101010101" pitchFamily="2" charset="-122"/>
              </a:rPr>
              <a:t>’</a:t>
            </a:r>
            <a:r>
              <a:rPr lang="en-US" altLang="zh-CN" dirty="0">
                <a:solidFill>
                  <a:schemeClr val="accent2"/>
                </a:solidFill>
              </a:rPr>
              <a:t>(</a:t>
            </a:r>
            <a:r>
              <a:rPr lang="zh-CN" altLang="en-US" dirty="0">
                <a:solidFill>
                  <a:schemeClr val="accent2"/>
                </a:solidFill>
              </a:rPr>
              <a:t>形式化</a:t>
            </a:r>
            <a:r>
              <a:rPr lang="en-US" altLang="zh-CN" dirty="0">
                <a:solidFill>
                  <a:schemeClr val="accent2"/>
                </a:solidFill>
              </a:rPr>
              <a:t>)  </a:t>
            </a:r>
            <a:r>
              <a:rPr lang="zh-CN" altLang="en-US" sz="2800" dirty="0">
                <a:solidFill>
                  <a:schemeClr val="tx1"/>
                </a:solidFill>
              </a:rPr>
              <a:t>在</a:t>
            </a:r>
            <a:r>
              <a:rPr lang="en-US" altLang="zh-CN" sz="2800" i="1" dirty="0">
                <a:solidFill>
                  <a:schemeClr val="tx1"/>
                </a:solidFill>
              </a:rPr>
              <a:t>R</a:t>
            </a:r>
            <a:r>
              <a:rPr lang="zh-CN" altLang="en-US" sz="2800" dirty="0">
                <a:solidFill>
                  <a:schemeClr val="tx1"/>
                </a:solidFill>
              </a:rPr>
              <a:t>（</a:t>
            </a:r>
            <a:r>
              <a:rPr lang="en-US" altLang="zh-CN" sz="2800" i="1" dirty="0">
                <a:solidFill>
                  <a:schemeClr val="tx1"/>
                </a:solidFill>
              </a:rPr>
              <a:t>U</a:t>
            </a:r>
            <a:r>
              <a:rPr lang="zh-CN" altLang="en-US" sz="2800" dirty="0">
                <a:solidFill>
                  <a:schemeClr val="tx1"/>
                </a:solidFill>
              </a:rPr>
              <a:t>）的任一关系</a:t>
            </a:r>
            <a:r>
              <a:rPr lang="en-US" altLang="zh-CN" sz="3600" i="1" dirty="0">
                <a:solidFill>
                  <a:schemeClr val="tx1"/>
                </a:solidFill>
              </a:rPr>
              <a:t>r</a:t>
            </a:r>
            <a:r>
              <a:rPr lang="zh-CN" altLang="en-US" sz="2800" dirty="0">
                <a:solidFill>
                  <a:schemeClr val="tx1"/>
                </a:solidFill>
              </a:rPr>
              <a:t>中，如果存在元组</a:t>
            </a:r>
            <a:r>
              <a:rPr lang="en-US" altLang="zh-CN" sz="2800" i="1" dirty="0">
                <a:solidFill>
                  <a:schemeClr val="tx1"/>
                </a:solidFill>
              </a:rPr>
              <a:t>s</a:t>
            </a:r>
            <a:r>
              <a:rPr lang="zh-CN" altLang="en-US" sz="2800" dirty="0">
                <a:solidFill>
                  <a:schemeClr val="tx1"/>
                </a:solidFill>
              </a:rPr>
              <a:t>，</a:t>
            </a:r>
            <a:r>
              <a:rPr lang="en-US" altLang="zh-CN" sz="2800" i="1" dirty="0">
                <a:solidFill>
                  <a:schemeClr val="tx1"/>
                </a:solidFill>
              </a:rPr>
              <a:t>t </a:t>
            </a:r>
            <a:r>
              <a:rPr lang="zh-CN" altLang="en-US" sz="2800" dirty="0">
                <a:solidFill>
                  <a:schemeClr val="tx1"/>
                </a:solidFill>
              </a:rPr>
              <a:t>使得</a:t>
            </a:r>
            <a:r>
              <a:rPr lang="en-US" altLang="zh-CN" sz="2800" i="1" dirty="0">
                <a:solidFill>
                  <a:schemeClr val="tx1"/>
                </a:solidFill>
              </a:rPr>
              <a:t>s</a:t>
            </a:r>
            <a:r>
              <a:rPr lang="en-US" altLang="zh-CN" sz="2800" dirty="0">
                <a:solidFill>
                  <a:schemeClr val="tx1"/>
                </a:solidFill>
              </a:rPr>
              <a:t>[</a:t>
            </a:r>
            <a:r>
              <a:rPr lang="en-US" altLang="zh-CN" sz="2800" i="1" dirty="0">
                <a:solidFill>
                  <a:schemeClr val="tx1"/>
                </a:solidFill>
              </a:rPr>
              <a:t>X</a:t>
            </a:r>
            <a:r>
              <a:rPr lang="en-US" altLang="zh-CN" sz="2800" dirty="0">
                <a:solidFill>
                  <a:schemeClr val="tx1"/>
                </a:solidFill>
              </a:rPr>
              <a:t>]=</a:t>
            </a:r>
            <a:r>
              <a:rPr lang="en-US" altLang="zh-CN" sz="2800" i="1" dirty="0">
                <a:solidFill>
                  <a:schemeClr val="tx1"/>
                </a:solidFill>
              </a:rPr>
              <a:t>t</a:t>
            </a:r>
            <a:r>
              <a:rPr lang="en-US" altLang="zh-CN" sz="2800" dirty="0">
                <a:solidFill>
                  <a:schemeClr val="tx1"/>
                </a:solidFill>
              </a:rPr>
              <a:t>[</a:t>
            </a:r>
            <a:r>
              <a:rPr lang="en-US" altLang="zh-CN" sz="2800" i="1" dirty="0">
                <a:solidFill>
                  <a:schemeClr val="tx1"/>
                </a:solidFill>
              </a:rPr>
              <a:t>X</a:t>
            </a:r>
            <a:r>
              <a:rPr lang="en-US" altLang="zh-CN" sz="2800" dirty="0">
                <a:solidFill>
                  <a:schemeClr val="tx1"/>
                </a:solidFill>
              </a:rPr>
              <a:t>]</a:t>
            </a:r>
            <a:r>
              <a:rPr lang="zh-CN" altLang="en-US" sz="2800" dirty="0">
                <a:solidFill>
                  <a:schemeClr val="tx1"/>
                </a:solidFill>
              </a:rPr>
              <a:t>，那么就必然存在元组 </a:t>
            </a:r>
            <a:r>
              <a:rPr lang="en-US" altLang="zh-CN" sz="2800" i="1" dirty="0">
                <a:solidFill>
                  <a:schemeClr val="tx1"/>
                </a:solidFill>
              </a:rPr>
              <a:t>v</a:t>
            </a:r>
            <a:r>
              <a:rPr lang="zh-CN" altLang="en-US" sz="2800" dirty="0">
                <a:solidFill>
                  <a:schemeClr val="tx1"/>
                </a:solidFill>
              </a:rPr>
              <a:t>，</a:t>
            </a:r>
            <a:r>
              <a:rPr lang="en-US" altLang="zh-CN" sz="2800" i="1" dirty="0">
                <a:solidFill>
                  <a:schemeClr val="tx1"/>
                </a:solidFill>
              </a:rPr>
              <a:t>w</a:t>
            </a:r>
            <a:r>
              <a:rPr lang="en-US" altLang="zh-CN" sz="2800" dirty="0">
                <a:solidFill>
                  <a:schemeClr val="tx1"/>
                </a:solidFill>
                <a:sym typeface="Symbol" panose="05050102010706020507" pitchFamily="18" charset="2"/>
              </a:rPr>
              <a:t> </a:t>
            </a:r>
            <a:r>
              <a:rPr lang="en-US" altLang="zh-CN" sz="2800" i="1" dirty="0">
                <a:solidFill>
                  <a:schemeClr val="tx1"/>
                </a:solidFill>
              </a:rPr>
              <a:t>r</a:t>
            </a:r>
            <a:r>
              <a:rPr lang="zh-CN" altLang="en-US" sz="2800" dirty="0">
                <a:solidFill>
                  <a:schemeClr val="tx1"/>
                </a:solidFill>
              </a:rPr>
              <a:t>，（</a:t>
            </a:r>
            <a:r>
              <a:rPr lang="en-US" altLang="zh-CN" sz="2800" i="1" dirty="0">
                <a:solidFill>
                  <a:schemeClr val="tx1"/>
                </a:solidFill>
              </a:rPr>
              <a:t>v</a:t>
            </a:r>
            <a:r>
              <a:rPr lang="zh-CN" altLang="en-US" sz="2800" dirty="0">
                <a:solidFill>
                  <a:schemeClr val="tx1"/>
                </a:solidFill>
              </a:rPr>
              <a:t>，</a:t>
            </a:r>
            <a:r>
              <a:rPr lang="en-US" altLang="zh-CN" sz="2800" i="1" dirty="0">
                <a:solidFill>
                  <a:schemeClr val="tx1"/>
                </a:solidFill>
              </a:rPr>
              <a:t>w</a:t>
            </a:r>
            <a:r>
              <a:rPr lang="zh-CN" altLang="en-US" sz="2800" dirty="0">
                <a:solidFill>
                  <a:schemeClr val="tx1"/>
                </a:solidFill>
              </a:rPr>
              <a:t>可以与</a:t>
            </a:r>
            <a:r>
              <a:rPr lang="en-US" altLang="zh-CN" sz="2800" i="1" dirty="0">
                <a:solidFill>
                  <a:schemeClr val="tx1"/>
                </a:solidFill>
              </a:rPr>
              <a:t>s</a:t>
            </a:r>
            <a:r>
              <a:rPr lang="zh-CN" altLang="en-US" sz="2800" dirty="0">
                <a:solidFill>
                  <a:schemeClr val="tx1"/>
                </a:solidFill>
              </a:rPr>
              <a:t>，</a:t>
            </a:r>
            <a:r>
              <a:rPr lang="en-US" altLang="zh-CN" sz="2800" i="1" dirty="0">
                <a:solidFill>
                  <a:schemeClr val="tx1"/>
                </a:solidFill>
              </a:rPr>
              <a:t>t</a:t>
            </a:r>
            <a:r>
              <a:rPr lang="zh-CN" altLang="en-US" sz="2800" dirty="0">
                <a:solidFill>
                  <a:schemeClr val="tx1"/>
                </a:solidFill>
              </a:rPr>
              <a:t>相同），使得</a:t>
            </a:r>
            <a:r>
              <a:rPr lang="en-US" altLang="zh-CN" sz="2800" dirty="0">
                <a:solidFill>
                  <a:schemeClr val="tx1"/>
                </a:solidFill>
              </a:rPr>
              <a:t>:</a:t>
            </a:r>
            <a:endParaRPr lang="en-US" altLang="zh-CN" sz="2800" dirty="0">
              <a:solidFill>
                <a:schemeClr val="tx1"/>
              </a:solidFill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None/>
            </a:pPr>
            <a:r>
              <a:rPr lang="en-US" altLang="zh-CN" sz="2800" dirty="0">
                <a:solidFill>
                  <a:schemeClr val="tx1"/>
                </a:solidFill>
              </a:rPr>
              <a:t>          </a:t>
            </a:r>
            <a:r>
              <a:rPr lang="en-US" altLang="zh-CN" sz="2800" i="1" dirty="0">
                <a:solidFill>
                  <a:schemeClr val="tx1"/>
                </a:solidFill>
              </a:rPr>
              <a:t>v</a:t>
            </a:r>
            <a:r>
              <a:rPr lang="en-US" altLang="zh-CN" sz="2800" dirty="0">
                <a:solidFill>
                  <a:schemeClr val="tx1"/>
                </a:solidFill>
              </a:rPr>
              <a:t>[</a:t>
            </a:r>
            <a:r>
              <a:rPr lang="en-US" altLang="zh-CN" sz="2800" i="1" dirty="0">
                <a:solidFill>
                  <a:schemeClr val="tx1"/>
                </a:solidFill>
              </a:rPr>
              <a:t>X</a:t>
            </a:r>
            <a:r>
              <a:rPr lang="en-US" altLang="zh-CN" sz="2800" dirty="0">
                <a:solidFill>
                  <a:schemeClr val="tx1"/>
                </a:solidFill>
              </a:rPr>
              <a:t>] = </a:t>
            </a:r>
            <a:r>
              <a:rPr lang="en-US" altLang="zh-CN" sz="2800" i="1" dirty="0">
                <a:solidFill>
                  <a:schemeClr val="tx1"/>
                </a:solidFill>
              </a:rPr>
              <a:t>w</a:t>
            </a:r>
            <a:r>
              <a:rPr lang="en-US" altLang="zh-CN" sz="2800" dirty="0">
                <a:solidFill>
                  <a:schemeClr val="tx1"/>
                </a:solidFill>
              </a:rPr>
              <a:t>[</a:t>
            </a:r>
            <a:r>
              <a:rPr lang="en-US" altLang="zh-CN" sz="2800" i="1" dirty="0">
                <a:solidFill>
                  <a:schemeClr val="tx1"/>
                </a:solidFill>
              </a:rPr>
              <a:t>X</a:t>
            </a:r>
            <a:r>
              <a:rPr lang="en-US" altLang="zh-CN" sz="2800" dirty="0">
                <a:solidFill>
                  <a:schemeClr val="tx1"/>
                </a:solidFill>
              </a:rPr>
              <a:t>] = </a:t>
            </a:r>
            <a:r>
              <a:rPr lang="en-US" altLang="zh-CN" sz="2800" i="1" dirty="0">
                <a:solidFill>
                  <a:schemeClr val="tx1"/>
                </a:solidFill>
              </a:rPr>
              <a:t>s</a:t>
            </a:r>
            <a:r>
              <a:rPr lang="en-US" altLang="zh-CN" sz="2800" dirty="0">
                <a:solidFill>
                  <a:schemeClr val="tx1"/>
                </a:solidFill>
              </a:rPr>
              <a:t>[</a:t>
            </a:r>
            <a:r>
              <a:rPr lang="en-US" altLang="zh-CN" sz="2800" i="1" dirty="0">
                <a:solidFill>
                  <a:schemeClr val="tx1"/>
                </a:solidFill>
              </a:rPr>
              <a:t>X</a:t>
            </a:r>
            <a:r>
              <a:rPr lang="en-US" altLang="zh-CN" sz="2800" dirty="0">
                <a:solidFill>
                  <a:schemeClr val="tx1"/>
                </a:solidFill>
              </a:rPr>
              <a:t>] =  </a:t>
            </a:r>
            <a:r>
              <a:rPr lang="en-US" altLang="zh-CN" sz="2800" i="1" dirty="0">
                <a:solidFill>
                  <a:schemeClr val="tx1"/>
                </a:solidFill>
              </a:rPr>
              <a:t>t</a:t>
            </a:r>
            <a:r>
              <a:rPr lang="en-US" altLang="zh-CN" sz="2800" dirty="0">
                <a:solidFill>
                  <a:schemeClr val="tx1"/>
                </a:solidFill>
              </a:rPr>
              <a:t>[</a:t>
            </a:r>
            <a:r>
              <a:rPr lang="en-US" altLang="zh-CN" sz="2800" i="1" dirty="0">
                <a:solidFill>
                  <a:schemeClr val="tx1"/>
                </a:solidFill>
              </a:rPr>
              <a:t>X</a:t>
            </a:r>
            <a:r>
              <a:rPr lang="en-US" altLang="zh-CN" sz="2800" dirty="0">
                <a:solidFill>
                  <a:schemeClr val="tx1"/>
                </a:solidFill>
              </a:rPr>
              <a:t>] </a:t>
            </a:r>
            <a:endParaRPr lang="en-US" altLang="zh-CN" sz="2800" dirty="0">
              <a:solidFill>
                <a:schemeClr val="tx1"/>
              </a:solidFill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None/>
            </a:pPr>
            <a:r>
              <a:rPr lang="en-US" altLang="zh-CN" sz="2800" dirty="0">
                <a:solidFill>
                  <a:schemeClr val="tx1"/>
                </a:solidFill>
              </a:rPr>
              <a:t>          </a:t>
            </a:r>
            <a:r>
              <a:rPr lang="en-US" altLang="zh-CN" sz="2800" i="1" dirty="0">
                <a:solidFill>
                  <a:schemeClr val="tx1"/>
                </a:solidFill>
              </a:rPr>
              <a:t>v</a:t>
            </a:r>
            <a:r>
              <a:rPr lang="en-US" altLang="zh-CN" sz="2800" dirty="0">
                <a:solidFill>
                  <a:schemeClr val="tx1"/>
                </a:solidFill>
              </a:rPr>
              <a:t>[</a:t>
            </a:r>
            <a:r>
              <a:rPr lang="en-US" altLang="zh-CN" sz="2800" i="1" dirty="0">
                <a:solidFill>
                  <a:schemeClr val="tx1"/>
                </a:solidFill>
              </a:rPr>
              <a:t>Y</a:t>
            </a:r>
            <a:r>
              <a:rPr lang="en-US" altLang="zh-CN" sz="2800" dirty="0">
                <a:solidFill>
                  <a:schemeClr val="tx1"/>
                </a:solidFill>
              </a:rPr>
              <a:t>] = </a:t>
            </a:r>
            <a:r>
              <a:rPr lang="en-US" altLang="zh-CN" sz="2800" i="1" dirty="0">
                <a:solidFill>
                  <a:schemeClr val="tx1"/>
                </a:solidFill>
              </a:rPr>
              <a:t>t</a:t>
            </a:r>
            <a:r>
              <a:rPr lang="en-US" altLang="zh-CN" sz="2800" dirty="0">
                <a:solidFill>
                  <a:schemeClr val="tx1"/>
                </a:solidFill>
              </a:rPr>
              <a:t>[</a:t>
            </a:r>
            <a:r>
              <a:rPr lang="en-US" altLang="zh-CN" sz="2800" i="1" dirty="0">
                <a:solidFill>
                  <a:schemeClr val="tx1"/>
                </a:solidFill>
              </a:rPr>
              <a:t>Y</a:t>
            </a:r>
            <a:r>
              <a:rPr lang="en-US" altLang="zh-CN" sz="2800" dirty="0">
                <a:solidFill>
                  <a:schemeClr val="tx1"/>
                </a:solidFill>
              </a:rPr>
              <a:t>],   </a:t>
            </a:r>
            <a:r>
              <a:rPr lang="en-US" altLang="zh-CN" sz="2800" i="1" dirty="0">
                <a:solidFill>
                  <a:schemeClr val="tx1"/>
                </a:solidFill>
              </a:rPr>
              <a:t>w</a:t>
            </a:r>
            <a:r>
              <a:rPr lang="en-US" altLang="zh-CN" sz="2800" dirty="0">
                <a:solidFill>
                  <a:schemeClr val="tx1"/>
                </a:solidFill>
              </a:rPr>
              <a:t>[</a:t>
            </a:r>
            <a:r>
              <a:rPr lang="en-US" altLang="zh-CN" sz="2800" i="1" dirty="0">
                <a:solidFill>
                  <a:schemeClr val="tx1"/>
                </a:solidFill>
              </a:rPr>
              <a:t>Y</a:t>
            </a:r>
            <a:r>
              <a:rPr lang="en-US" altLang="zh-CN" sz="2800" dirty="0">
                <a:solidFill>
                  <a:schemeClr val="tx1"/>
                </a:solidFill>
              </a:rPr>
              <a:t>] = </a:t>
            </a:r>
            <a:r>
              <a:rPr lang="en-US" altLang="zh-CN" sz="2800" i="1" dirty="0">
                <a:solidFill>
                  <a:schemeClr val="tx1"/>
                </a:solidFill>
              </a:rPr>
              <a:t>s</a:t>
            </a:r>
            <a:r>
              <a:rPr lang="en-US" altLang="zh-CN" sz="2800" dirty="0">
                <a:solidFill>
                  <a:schemeClr val="tx1"/>
                </a:solidFill>
              </a:rPr>
              <a:t>[</a:t>
            </a:r>
            <a:r>
              <a:rPr lang="en-US" altLang="zh-CN" sz="2800" i="1" dirty="0">
                <a:solidFill>
                  <a:schemeClr val="tx1"/>
                </a:solidFill>
              </a:rPr>
              <a:t>Y</a:t>
            </a:r>
            <a:r>
              <a:rPr lang="en-US" altLang="zh-CN" sz="2800" dirty="0">
                <a:solidFill>
                  <a:schemeClr val="tx1"/>
                </a:solidFill>
              </a:rPr>
              <a:t>]</a:t>
            </a:r>
            <a:endParaRPr lang="en-US" altLang="zh-CN" sz="2800" dirty="0">
              <a:solidFill>
                <a:schemeClr val="tx1"/>
              </a:solidFill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None/>
            </a:pPr>
            <a:r>
              <a:rPr lang="en-US" altLang="zh-CN" sz="2800" dirty="0">
                <a:solidFill>
                  <a:schemeClr val="tx1"/>
                </a:solidFill>
              </a:rPr>
              <a:t>          </a:t>
            </a:r>
            <a:r>
              <a:rPr lang="en-US" altLang="zh-CN" sz="2800" i="1" dirty="0">
                <a:solidFill>
                  <a:schemeClr val="tx1"/>
                </a:solidFill>
              </a:rPr>
              <a:t>v</a:t>
            </a:r>
            <a:r>
              <a:rPr lang="en-US" altLang="zh-CN" sz="2800" dirty="0">
                <a:solidFill>
                  <a:schemeClr val="tx1"/>
                </a:solidFill>
              </a:rPr>
              <a:t>[</a:t>
            </a:r>
            <a:r>
              <a:rPr lang="en-US" altLang="zh-CN" sz="2800" i="1" dirty="0">
                <a:solidFill>
                  <a:schemeClr val="tx1"/>
                </a:solidFill>
              </a:rPr>
              <a:t>Z</a:t>
            </a:r>
            <a:r>
              <a:rPr lang="en-US" altLang="zh-CN" sz="2800" dirty="0">
                <a:solidFill>
                  <a:schemeClr val="tx1"/>
                </a:solidFill>
              </a:rPr>
              <a:t>] = </a:t>
            </a:r>
            <a:r>
              <a:rPr lang="en-US" altLang="zh-CN" sz="2800" i="1" dirty="0">
                <a:solidFill>
                  <a:schemeClr val="tx1"/>
                </a:solidFill>
              </a:rPr>
              <a:t>s</a:t>
            </a:r>
            <a:r>
              <a:rPr lang="en-US" altLang="zh-CN" sz="2800" dirty="0">
                <a:solidFill>
                  <a:schemeClr val="tx1"/>
                </a:solidFill>
              </a:rPr>
              <a:t>[</a:t>
            </a:r>
            <a:r>
              <a:rPr lang="en-US" altLang="zh-CN" sz="2800" i="1" dirty="0">
                <a:solidFill>
                  <a:schemeClr val="tx1"/>
                </a:solidFill>
              </a:rPr>
              <a:t>Z</a:t>
            </a:r>
            <a:r>
              <a:rPr lang="en-US" altLang="zh-CN" sz="2800" dirty="0">
                <a:solidFill>
                  <a:schemeClr val="tx1"/>
                </a:solidFill>
              </a:rPr>
              <a:t>]</a:t>
            </a:r>
            <a:r>
              <a:rPr lang="zh-CN" altLang="en-US" sz="2800" dirty="0">
                <a:solidFill>
                  <a:schemeClr val="tx1"/>
                </a:solidFill>
              </a:rPr>
              <a:t>，</a:t>
            </a:r>
            <a:r>
              <a:rPr lang="en-US" altLang="zh-CN" sz="2800" i="1" dirty="0">
                <a:solidFill>
                  <a:schemeClr val="tx1"/>
                </a:solidFill>
              </a:rPr>
              <a:t>w</a:t>
            </a:r>
            <a:r>
              <a:rPr lang="en-US" altLang="zh-CN" sz="2800" dirty="0">
                <a:solidFill>
                  <a:schemeClr val="tx1"/>
                </a:solidFill>
              </a:rPr>
              <a:t>[</a:t>
            </a:r>
            <a:r>
              <a:rPr lang="en-US" altLang="zh-CN" sz="2800" i="1" dirty="0">
                <a:solidFill>
                  <a:schemeClr val="tx1"/>
                </a:solidFill>
              </a:rPr>
              <a:t>Z</a:t>
            </a:r>
            <a:r>
              <a:rPr lang="en-US" altLang="zh-CN" sz="2800" dirty="0">
                <a:solidFill>
                  <a:schemeClr val="tx1"/>
                </a:solidFill>
              </a:rPr>
              <a:t>] = </a:t>
            </a:r>
            <a:r>
              <a:rPr lang="en-US" altLang="zh-CN" sz="2800" i="1" dirty="0">
                <a:solidFill>
                  <a:schemeClr val="tx1"/>
                </a:solidFill>
              </a:rPr>
              <a:t>t</a:t>
            </a:r>
            <a:r>
              <a:rPr lang="en-US" altLang="zh-CN" sz="2800" dirty="0">
                <a:solidFill>
                  <a:schemeClr val="tx1"/>
                </a:solidFill>
              </a:rPr>
              <a:t>[</a:t>
            </a:r>
            <a:r>
              <a:rPr lang="en-US" altLang="zh-CN" sz="2800" i="1" dirty="0">
                <a:solidFill>
                  <a:schemeClr val="tx1"/>
                </a:solidFill>
              </a:rPr>
              <a:t>Z</a:t>
            </a:r>
            <a:r>
              <a:rPr lang="en-US" altLang="zh-CN" sz="2800" dirty="0">
                <a:solidFill>
                  <a:schemeClr val="tx1"/>
                </a:solidFill>
              </a:rPr>
              <a:t>]</a:t>
            </a:r>
            <a:endParaRPr lang="en-US" altLang="zh-CN" sz="2800" dirty="0">
              <a:solidFill>
                <a:schemeClr val="tx1"/>
              </a:solidFill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None/>
            </a:pPr>
            <a:r>
              <a:rPr lang="en-US" altLang="zh-CN" sz="2800" dirty="0">
                <a:solidFill>
                  <a:schemeClr val="tx1"/>
                </a:solidFill>
              </a:rPr>
              <a:t>   </a:t>
            </a:r>
            <a:r>
              <a:rPr lang="zh-CN" altLang="en-US" sz="2800" dirty="0">
                <a:solidFill>
                  <a:schemeClr val="tx1"/>
                </a:solidFill>
              </a:rPr>
              <a:t>（即交换</a:t>
            </a:r>
            <a:r>
              <a:rPr lang="en-US" altLang="zh-CN" sz="2800" i="1" dirty="0">
                <a:solidFill>
                  <a:schemeClr val="tx1"/>
                </a:solidFill>
              </a:rPr>
              <a:t>s</a:t>
            </a:r>
            <a:r>
              <a:rPr lang="zh-CN" altLang="en-US" sz="2800" dirty="0">
                <a:solidFill>
                  <a:schemeClr val="tx1"/>
                </a:solidFill>
              </a:rPr>
              <a:t>，</a:t>
            </a:r>
            <a:r>
              <a:rPr lang="en-US" altLang="zh-CN" sz="2800" i="1" dirty="0">
                <a:solidFill>
                  <a:schemeClr val="tx1"/>
                </a:solidFill>
              </a:rPr>
              <a:t>t</a:t>
            </a:r>
            <a:r>
              <a:rPr lang="zh-CN" altLang="en-US" sz="2800" dirty="0">
                <a:solidFill>
                  <a:schemeClr val="tx1"/>
                </a:solidFill>
              </a:rPr>
              <a:t>元组的</a:t>
            </a:r>
            <a:r>
              <a:rPr lang="en-US" altLang="zh-CN" sz="2800" i="1" dirty="0">
                <a:solidFill>
                  <a:schemeClr val="tx1"/>
                </a:solidFill>
              </a:rPr>
              <a:t>Y</a:t>
            </a:r>
            <a:r>
              <a:rPr lang="zh-CN" altLang="en-US" sz="2800" dirty="0">
                <a:solidFill>
                  <a:schemeClr val="tx1"/>
                </a:solidFill>
              </a:rPr>
              <a:t>值所得的两个新元组必在</a:t>
            </a:r>
            <a:r>
              <a:rPr lang="en-US" altLang="zh-CN" sz="3600" i="1" dirty="0">
                <a:solidFill>
                  <a:schemeClr val="tx1"/>
                </a:solidFill>
              </a:rPr>
              <a:t>r</a:t>
            </a:r>
            <a:r>
              <a:rPr lang="zh-CN" altLang="en-US" sz="2800" dirty="0">
                <a:solidFill>
                  <a:schemeClr val="tx1"/>
                </a:solidFill>
              </a:rPr>
              <a:t>中），则</a:t>
            </a:r>
            <a:r>
              <a:rPr lang="en-US" altLang="zh-CN" sz="2800" i="1" dirty="0">
                <a:solidFill>
                  <a:schemeClr val="tx1"/>
                </a:solidFill>
              </a:rPr>
              <a:t>Y</a:t>
            </a:r>
            <a:r>
              <a:rPr lang="zh-CN" altLang="en-US" sz="2800" dirty="0">
                <a:solidFill>
                  <a:schemeClr val="tx1"/>
                </a:solidFill>
              </a:rPr>
              <a:t>多值依赖于</a:t>
            </a:r>
            <a:r>
              <a:rPr lang="en-US" altLang="zh-CN" sz="2800" i="1" dirty="0">
                <a:solidFill>
                  <a:schemeClr val="tx1"/>
                </a:solidFill>
              </a:rPr>
              <a:t>X</a:t>
            </a:r>
            <a:r>
              <a:rPr lang="zh-CN" altLang="en-US" sz="2800" dirty="0">
                <a:solidFill>
                  <a:schemeClr val="tx1"/>
                </a:solidFill>
              </a:rPr>
              <a:t>，记为</a:t>
            </a:r>
            <a:r>
              <a:rPr lang="en-US" altLang="zh-CN" sz="2800" i="1" dirty="0"/>
              <a:t>X</a:t>
            </a:r>
            <a:r>
              <a:rPr lang="en-US" altLang="zh-CN" sz="2800" dirty="0"/>
              <a:t>→→</a:t>
            </a:r>
            <a:r>
              <a:rPr lang="en-US" altLang="zh-CN" sz="2800" i="1" dirty="0"/>
              <a:t>Y</a:t>
            </a:r>
            <a:r>
              <a:rPr lang="zh-CN" altLang="en-US" sz="2800" dirty="0">
                <a:solidFill>
                  <a:schemeClr val="tx1"/>
                </a:solidFill>
              </a:rPr>
              <a:t>。 这里，</a:t>
            </a:r>
            <a:r>
              <a:rPr lang="en-US" altLang="zh-CN" sz="2800" i="1" dirty="0">
                <a:solidFill>
                  <a:schemeClr val="tx1"/>
                </a:solidFill>
              </a:rPr>
              <a:t>X</a:t>
            </a:r>
            <a:r>
              <a:rPr lang="zh-CN" altLang="en-US" sz="2800" dirty="0">
                <a:solidFill>
                  <a:schemeClr val="tx1"/>
                </a:solidFill>
              </a:rPr>
              <a:t>，</a:t>
            </a:r>
            <a:r>
              <a:rPr lang="en-US" altLang="zh-CN" sz="2800" i="1" dirty="0">
                <a:solidFill>
                  <a:schemeClr val="tx1"/>
                </a:solidFill>
              </a:rPr>
              <a:t>Y</a:t>
            </a:r>
            <a:r>
              <a:rPr lang="zh-CN" altLang="en-US" sz="2800" dirty="0">
                <a:solidFill>
                  <a:schemeClr val="tx1"/>
                </a:solidFill>
              </a:rPr>
              <a:t>是</a:t>
            </a:r>
            <a:r>
              <a:rPr lang="en-US" altLang="zh-CN" sz="2800" i="1" dirty="0">
                <a:solidFill>
                  <a:schemeClr val="tx1"/>
                </a:solidFill>
              </a:rPr>
              <a:t>U</a:t>
            </a:r>
            <a:r>
              <a:rPr lang="zh-CN" altLang="en-US" sz="2800" dirty="0">
                <a:solidFill>
                  <a:schemeClr val="tx1"/>
                </a:solidFill>
              </a:rPr>
              <a:t>的子集，</a:t>
            </a:r>
            <a:r>
              <a:rPr lang="en-US" altLang="zh-CN" sz="2800" i="1" dirty="0">
                <a:solidFill>
                  <a:schemeClr val="tx1"/>
                </a:solidFill>
              </a:rPr>
              <a:t>Z</a:t>
            </a:r>
            <a:r>
              <a:rPr lang="en-US" altLang="zh-CN" sz="2800" dirty="0">
                <a:solidFill>
                  <a:schemeClr val="tx1"/>
                </a:solidFill>
              </a:rPr>
              <a:t>=</a:t>
            </a:r>
            <a:r>
              <a:rPr lang="en-US" altLang="zh-CN" sz="2800" i="1" dirty="0">
                <a:solidFill>
                  <a:schemeClr val="tx1"/>
                </a:solidFill>
              </a:rPr>
              <a:t>U-X</a:t>
            </a:r>
            <a:r>
              <a:rPr lang="en-US" altLang="zh-CN" sz="2800" dirty="0">
                <a:solidFill>
                  <a:schemeClr val="tx1"/>
                </a:solidFill>
              </a:rPr>
              <a:t>-</a:t>
            </a:r>
            <a:r>
              <a:rPr lang="en-US" altLang="zh-CN" sz="2800" i="1" dirty="0">
                <a:solidFill>
                  <a:schemeClr val="tx1"/>
                </a:solidFill>
              </a:rPr>
              <a:t>Y</a:t>
            </a:r>
            <a:r>
              <a:rPr lang="zh-CN" altLang="en-US" dirty="0">
                <a:solidFill>
                  <a:schemeClr val="tx1"/>
                </a:solidFill>
              </a:rPr>
              <a:t>。</a:t>
            </a:r>
            <a:endParaRPr lang="zh-CN" altLang="en-US" dirty="0">
              <a:solidFill>
                <a:schemeClr val="tx1"/>
              </a:solidFill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None/>
            </a:pPr>
            <a:r>
              <a:rPr lang="zh-CN" altLang="en-US" dirty="0">
                <a:solidFill>
                  <a:schemeClr val="tx1"/>
                </a:solidFill>
              </a:rPr>
              <a:t>    或：</a:t>
            </a:r>
            <a:r>
              <a:rPr lang="en-US" altLang="zh-CN" dirty="0">
                <a:solidFill>
                  <a:srgbClr val="0000CC"/>
                </a:solidFill>
              </a:rPr>
              <a:t>r</a:t>
            </a:r>
            <a:r>
              <a:rPr lang="zh-CN" altLang="en-US" dirty="0">
                <a:solidFill>
                  <a:srgbClr val="0000CC"/>
                </a:solidFill>
              </a:rPr>
              <a:t>中若存在</a:t>
            </a:r>
            <a:r>
              <a:rPr lang="en-US" altLang="zh-CN" dirty="0">
                <a:solidFill>
                  <a:srgbClr val="0000CC"/>
                </a:solidFill>
              </a:rPr>
              <a:t>(X,Y1,Z1)</a:t>
            </a:r>
            <a:r>
              <a:rPr lang="zh-CN" altLang="en-US" dirty="0">
                <a:solidFill>
                  <a:srgbClr val="0000CC"/>
                </a:solidFill>
              </a:rPr>
              <a:t>和</a:t>
            </a:r>
            <a:r>
              <a:rPr lang="en-US" altLang="zh-CN" dirty="0">
                <a:solidFill>
                  <a:srgbClr val="0000CC"/>
                </a:solidFill>
              </a:rPr>
              <a:t>(X,Y2,Z2)</a:t>
            </a:r>
            <a:r>
              <a:rPr lang="zh-CN" altLang="en-US" dirty="0">
                <a:solidFill>
                  <a:srgbClr val="0000CC"/>
                </a:solidFill>
              </a:rPr>
              <a:t>，则必存在</a:t>
            </a:r>
            <a:r>
              <a:rPr lang="en-US" altLang="zh-CN" dirty="0">
                <a:solidFill>
                  <a:srgbClr val="0000CC"/>
                </a:solidFill>
              </a:rPr>
              <a:t>(X,Y2,Z1)</a:t>
            </a:r>
            <a:r>
              <a:rPr lang="zh-CN" altLang="en-US" dirty="0">
                <a:solidFill>
                  <a:srgbClr val="0000CC"/>
                </a:solidFill>
              </a:rPr>
              <a:t>和</a:t>
            </a:r>
            <a:r>
              <a:rPr lang="en-US" altLang="zh-CN" dirty="0">
                <a:solidFill>
                  <a:srgbClr val="0000CC"/>
                </a:solidFill>
              </a:rPr>
              <a:t>(X,Y1,Z2)</a:t>
            </a:r>
            <a:endParaRPr lang="en-US" altLang="zh-CN" dirty="0">
              <a:solidFill>
                <a:srgbClr val="0000CC"/>
              </a:solidFill>
            </a:endParaRPr>
          </a:p>
        </p:txBody>
      </p:sp>
      <p:sp>
        <p:nvSpPr>
          <p:cNvPr id="37892" name="Rectangle 3"/>
          <p:cNvSpPr>
            <a:spLocks noGrp="1"/>
          </p:cNvSpPr>
          <p:nvPr>
            <p:ph type="title"/>
          </p:nvPr>
        </p:nvSpPr>
        <p:spPr>
          <a:xfrm>
            <a:off x="685800" y="0"/>
            <a:ext cx="77724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u="sng" dirty="0"/>
              <a:t>6.4.6  </a:t>
            </a:r>
            <a:r>
              <a:rPr lang="zh-CN" altLang="en-US" u="sng" dirty="0"/>
              <a:t>多值依赖</a:t>
            </a:r>
            <a:endParaRPr lang="zh-CN" altLang="en-US" u="sng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8914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38915" name="Rectangle 2"/>
          <p:cNvSpPr>
            <a:spLocks noGrp="1"/>
          </p:cNvSpPr>
          <p:nvPr>
            <p:ph idx="1"/>
          </p:nvPr>
        </p:nvSpPr>
        <p:spPr>
          <a:xfrm>
            <a:off x="127000" y="914400"/>
            <a:ext cx="8864600" cy="838200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110000"/>
              </a:lnSpc>
              <a:spcBef>
                <a:spcPct val="0"/>
              </a:spcBef>
              <a:buNone/>
            </a:pPr>
            <a:r>
              <a:rPr lang="en-US" altLang="zh-CN" dirty="0">
                <a:solidFill>
                  <a:schemeClr val="tx1"/>
                </a:solidFill>
              </a:rPr>
              <a:t>【</a:t>
            </a:r>
            <a:r>
              <a:rPr lang="zh-CN" altLang="en-US" dirty="0">
                <a:solidFill>
                  <a:schemeClr val="tx1"/>
                </a:solidFill>
              </a:rPr>
              <a:t>例</a:t>
            </a:r>
            <a:r>
              <a:rPr lang="en-US" altLang="zh-CN" dirty="0">
                <a:solidFill>
                  <a:schemeClr val="tx1"/>
                </a:solidFill>
              </a:rPr>
              <a:t>6.15】 </a:t>
            </a:r>
            <a:r>
              <a:rPr lang="zh-CN" altLang="en-US" dirty="0">
                <a:solidFill>
                  <a:schemeClr val="tx1"/>
                </a:solidFill>
              </a:rPr>
              <a:t>找出关系上所满足的多值依赖</a:t>
            </a:r>
            <a:r>
              <a:rPr lang="en-US" altLang="zh-CN" dirty="0">
                <a:solidFill>
                  <a:schemeClr val="tx1"/>
                </a:solidFill>
              </a:rPr>
              <a:t>:</a:t>
            </a:r>
            <a:endParaRPr lang="en-US" altLang="zh-CN" dirty="0">
              <a:solidFill>
                <a:schemeClr val="tx1"/>
              </a:solidFill>
            </a:endParaRPr>
          </a:p>
        </p:txBody>
      </p:sp>
      <p:sp>
        <p:nvSpPr>
          <p:cNvPr id="38916" name="Rectangle 3"/>
          <p:cNvSpPr>
            <a:spLocks noGrp="1"/>
          </p:cNvSpPr>
          <p:nvPr>
            <p:ph type="title"/>
          </p:nvPr>
        </p:nvSpPr>
        <p:spPr>
          <a:xfrm>
            <a:off x="685800" y="0"/>
            <a:ext cx="77724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u="sng" dirty="0"/>
              <a:t>6.4.6  </a:t>
            </a:r>
            <a:r>
              <a:rPr lang="zh-CN" altLang="en-US" u="sng" dirty="0"/>
              <a:t>多值依赖</a:t>
            </a:r>
            <a:endParaRPr lang="zh-CN" altLang="en-US" u="sng" dirty="0"/>
          </a:p>
        </p:txBody>
      </p:sp>
      <p:graphicFrame>
        <p:nvGraphicFramePr>
          <p:cNvPr id="41988" name="Group 4"/>
          <p:cNvGraphicFramePr>
            <a:graphicFrameLocks noGrp="1"/>
          </p:cNvGraphicFramePr>
          <p:nvPr/>
        </p:nvGraphicFramePr>
        <p:xfrm>
          <a:off x="723900" y="1689100"/>
          <a:ext cx="3416300" cy="2590800"/>
        </p:xfrm>
        <a:graphic>
          <a:graphicData uri="http://schemas.openxmlformats.org/drawingml/2006/table">
            <a:tbl>
              <a:tblPr/>
              <a:tblGrid>
                <a:gridCol w="1138238"/>
                <a:gridCol w="1139825"/>
                <a:gridCol w="1138237"/>
              </a:tblGrid>
              <a:tr h="119063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  <a:endParaRPr kumimoji="1" lang="en-US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</a:t>
                      </a:r>
                      <a:endParaRPr kumimoji="1" lang="en-US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</a:t>
                      </a:r>
                      <a:endParaRPr kumimoji="1" lang="en-US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a1</a:t>
                      </a:r>
                      <a:endParaRPr kumimoji="1" lang="en-US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b1</a:t>
                      </a:r>
                      <a:endParaRPr kumimoji="1" lang="en-US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c1</a:t>
                      </a:r>
                      <a:endParaRPr kumimoji="1" lang="en-US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a1</a:t>
                      </a:r>
                      <a:endParaRPr kumimoji="1" lang="en-US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b1</a:t>
                      </a:r>
                      <a:endParaRPr kumimoji="1" lang="en-US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c2</a:t>
                      </a:r>
                      <a:endParaRPr kumimoji="1" lang="en-US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a2</a:t>
                      </a:r>
                      <a:endParaRPr kumimoji="1" lang="en-US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b1</a:t>
                      </a:r>
                      <a:endParaRPr kumimoji="1" lang="en-US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c1</a:t>
                      </a:r>
                      <a:endParaRPr kumimoji="1" lang="en-US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a2</a:t>
                      </a:r>
                      <a:endParaRPr kumimoji="1" lang="en-US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b1</a:t>
                      </a:r>
                      <a:endParaRPr kumimoji="1" lang="en-US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c3</a:t>
                      </a:r>
                      <a:endParaRPr kumimoji="1" lang="en-US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38943" name="Text Box 30"/>
          <p:cNvSpPr txBox="1"/>
          <p:nvPr/>
        </p:nvSpPr>
        <p:spPr>
          <a:xfrm>
            <a:off x="469900" y="4419600"/>
            <a:ext cx="7848600" cy="519113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kumimoji="1"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kumimoji="1"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sz="2800" dirty="0">
                <a:solidFill>
                  <a:schemeClr val="tx1"/>
                </a:solidFill>
              </a:rPr>
              <a:t>B →→C? </a:t>
            </a:r>
            <a:r>
              <a:rPr lang="zh-CN" altLang="en-US" sz="2800" dirty="0">
                <a:solidFill>
                  <a:schemeClr val="tx1"/>
                </a:solidFill>
              </a:rPr>
              <a:t>若使</a:t>
            </a:r>
            <a:r>
              <a:rPr lang="en-US" altLang="zh-CN" sz="2800" dirty="0">
                <a:solidFill>
                  <a:schemeClr val="tx1"/>
                </a:solidFill>
              </a:rPr>
              <a:t>B→→C</a:t>
            </a:r>
            <a:r>
              <a:rPr lang="zh-CN" altLang="en-US" sz="2800" dirty="0">
                <a:solidFill>
                  <a:schemeClr val="tx1"/>
                </a:solidFill>
              </a:rPr>
              <a:t>，需加入哪些元组？ </a:t>
            </a:r>
            <a:endParaRPr lang="zh-CN" altLang="en-US" sz="2800" dirty="0">
              <a:solidFill>
                <a:schemeClr val="tx1"/>
              </a:solidFill>
            </a:endParaRPr>
          </a:p>
        </p:txBody>
      </p:sp>
      <p:sp>
        <p:nvSpPr>
          <p:cNvPr id="38944" name="Text Box 31"/>
          <p:cNvSpPr txBox="1"/>
          <p:nvPr/>
        </p:nvSpPr>
        <p:spPr>
          <a:xfrm>
            <a:off x="4876800" y="1676400"/>
            <a:ext cx="3429000" cy="2655888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kumimoji="1"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kumimoji="1"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eaLnBrk="1" hangingPunct="1">
              <a:lnSpc>
                <a:spcPct val="12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800" dirty="0">
                <a:solidFill>
                  <a:schemeClr val="tx1"/>
                </a:solidFill>
              </a:rPr>
              <a:t>A→→C</a:t>
            </a:r>
            <a:endParaRPr lang="en-US" altLang="zh-CN" sz="2800" dirty="0">
              <a:solidFill>
                <a:schemeClr val="tx1"/>
              </a:solidFill>
            </a:endParaRPr>
          </a:p>
          <a:p>
            <a:pPr marL="0" lvl="0" indent="0" eaLnBrk="1" hangingPunct="1">
              <a:lnSpc>
                <a:spcPct val="12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800" dirty="0">
                <a:solidFill>
                  <a:schemeClr val="tx1"/>
                </a:solidFill>
              </a:rPr>
              <a:t>A→→B</a:t>
            </a:r>
            <a:endParaRPr lang="en-US" altLang="zh-CN" sz="2800" dirty="0">
              <a:solidFill>
                <a:schemeClr val="tx1"/>
              </a:solidFill>
            </a:endParaRPr>
          </a:p>
          <a:p>
            <a:pPr marL="0" lvl="0" indent="0" eaLnBrk="1" hangingPunct="1">
              <a:lnSpc>
                <a:spcPct val="12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800" dirty="0">
                <a:solidFill>
                  <a:schemeClr val="tx1"/>
                </a:solidFill>
              </a:rPr>
              <a:t>C→→B</a:t>
            </a:r>
            <a:endParaRPr lang="en-US" altLang="zh-CN" sz="2800" dirty="0">
              <a:solidFill>
                <a:schemeClr val="tx1"/>
              </a:solidFill>
            </a:endParaRPr>
          </a:p>
          <a:p>
            <a:pPr marL="0" lvl="0" indent="0" eaLnBrk="1" hangingPunct="1">
              <a:lnSpc>
                <a:spcPct val="12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800" dirty="0">
                <a:solidFill>
                  <a:schemeClr val="tx1"/>
                </a:solidFill>
              </a:rPr>
              <a:t>C→→A</a:t>
            </a:r>
            <a:endParaRPr lang="en-US" altLang="zh-CN" sz="2800" dirty="0">
              <a:solidFill>
                <a:schemeClr val="tx1"/>
              </a:solidFill>
            </a:endParaRPr>
          </a:p>
          <a:p>
            <a:pPr marL="0" lvl="0" indent="0" eaLnBrk="1" hangingPunct="1">
              <a:lnSpc>
                <a:spcPct val="12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800" dirty="0">
                <a:solidFill>
                  <a:schemeClr val="tx1"/>
                </a:solidFill>
              </a:rPr>
              <a:t>事实上</a:t>
            </a:r>
            <a:r>
              <a:rPr lang="en-US" altLang="zh-CN" sz="2800" dirty="0">
                <a:solidFill>
                  <a:schemeClr val="tx1"/>
                </a:solidFill>
              </a:rPr>
              <a:t>A→B, C →B</a:t>
            </a:r>
            <a:endParaRPr lang="en-US" altLang="zh-CN" sz="2800" dirty="0">
              <a:solidFill>
                <a:schemeClr val="tx1"/>
              </a:solidFill>
            </a:endParaRPr>
          </a:p>
        </p:txBody>
      </p:sp>
      <p:graphicFrame>
        <p:nvGraphicFramePr>
          <p:cNvPr id="42016" name="Group 32"/>
          <p:cNvGraphicFramePr>
            <a:graphicFrameLocks noGrp="1"/>
          </p:cNvGraphicFramePr>
          <p:nvPr/>
        </p:nvGraphicFramePr>
        <p:xfrm>
          <a:off x="685800" y="5181600"/>
          <a:ext cx="3416300" cy="1036638"/>
        </p:xfrm>
        <a:graphic>
          <a:graphicData uri="http://schemas.openxmlformats.org/drawingml/2006/table">
            <a:tbl>
              <a:tblPr/>
              <a:tblGrid>
                <a:gridCol w="1138238"/>
                <a:gridCol w="1139825"/>
                <a:gridCol w="1138237"/>
              </a:tblGrid>
              <a:tr h="518319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a1</a:t>
                      </a:r>
                      <a:endParaRPr kumimoji="1" lang="en-US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34" marB="4573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b1</a:t>
                      </a:r>
                      <a:endParaRPr kumimoji="1" lang="en-US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c3</a:t>
                      </a:r>
                      <a:endParaRPr kumimoji="1" lang="en-US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319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a2</a:t>
                      </a:r>
                      <a:endParaRPr kumimoji="1" lang="en-US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34" marB="4573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b1</a:t>
                      </a:r>
                      <a:endParaRPr kumimoji="1" lang="en-US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c2</a:t>
                      </a:r>
                      <a:endParaRPr kumimoji="1" lang="en-US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38959" name="Text Box 46"/>
          <p:cNvSpPr txBox="1"/>
          <p:nvPr/>
        </p:nvSpPr>
        <p:spPr>
          <a:xfrm>
            <a:off x="4495800" y="5029200"/>
            <a:ext cx="3429000" cy="1117600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kumimoji="1"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kumimoji="1"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eaLnBrk="1" hangingPunct="1">
              <a:lnSpc>
                <a:spcPct val="12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800" dirty="0">
                <a:solidFill>
                  <a:schemeClr val="tx1"/>
                </a:solidFill>
              </a:rPr>
              <a:t>加入后有没有破坏前述依赖关系？</a:t>
            </a:r>
            <a:endParaRPr lang="zh-CN" altLang="en-US" sz="28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9938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39939" name="Rectangle 2"/>
          <p:cNvSpPr>
            <a:spLocks noGrp="1"/>
          </p:cNvSpPr>
          <p:nvPr>
            <p:ph idx="1"/>
          </p:nvPr>
        </p:nvSpPr>
        <p:spPr>
          <a:xfrm>
            <a:off x="127000" y="914400"/>
            <a:ext cx="8864600" cy="5029200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120000"/>
              </a:lnSpc>
            </a:pPr>
            <a:r>
              <a:rPr lang="en-US" altLang="zh-CN" dirty="0">
                <a:solidFill>
                  <a:schemeClr val="tx1"/>
                </a:solidFill>
              </a:rPr>
              <a:t>3. </a:t>
            </a:r>
            <a:r>
              <a:rPr lang="zh-CN" altLang="en-US" dirty="0">
                <a:solidFill>
                  <a:schemeClr val="tx1"/>
                </a:solidFill>
              </a:rPr>
              <a:t>平凡多值依赖与非平凡多值依赖</a:t>
            </a:r>
            <a:r>
              <a:rPr lang="en-US" altLang="zh-CN" dirty="0">
                <a:solidFill>
                  <a:schemeClr val="tx1"/>
                </a:solidFill>
              </a:rPr>
              <a:t>:</a:t>
            </a:r>
            <a:endParaRPr lang="en-US" altLang="zh-CN" dirty="0">
              <a:solidFill>
                <a:schemeClr val="tx1"/>
              </a:solidFill>
            </a:endParaRPr>
          </a:p>
          <a:p>
            <a:pPr lvl="1" eaLnBrk="1" hangingPunct="1">
              <a:lnSpc>
                <a:spcPct val="160000"/>
              </a:lnSpc>
            </a:pPr>
            <a:r>
              <a:rPr lang="zh-CN" altLang="en-US" sz="3200" dirty="0"/>
              <a:t>若</a:t>
            </a:r>
            <a:r>
              <a:rPr lang="en-US" altLang="zh-CN" sz="3200" dirty="0"/>
              <a:t>X→→Y</a:t>
            </a:r>
            <a:r>
              <a:rPr lang="zh-CN" altLang="en-US" sz="3200" dirty="0"/>
              <a:t>，而</a:t>
            </a:r>
            <a:r>
              <a:rPr lang="en-US" altLang="zh-CN" sz="3200" dirty="0"/>
              <a:t>Z</a:t>
            </a:r>
            <a:r>
              <a:rPr lang="zh-CN" altLang="en-US" sz="3200" dirty="0"/>
              <a:t>＝</a:t>
            </a:r>
            <a:r>
              <a:rPr lang="en-US" altLang="zh-CN" sz="3200" dirty="0"/>
              <a:t>φ</a:t>
            </a:r>
            <a:r>
              <a:rPr lang="zh-CN" altLang="en-US" sz="3200" dirty="0"/>
              <a:t>，则称</a:t>
            </a:r>
            <a:endParaRPr lang="zh-CN" altLang="en-US" sz="3200" dirty="0"/>
          </a:p>
          <a:p>
            <a:pPr lvl="1" eaLnBrk="1" hangingPunct="1">
              <a:buNone/>
            </a:pPr>
            <a:r>
              <a:rPr lang="zh-CN" altLang="en-US" sz="3200" dirty="0"/>
              <a:t>   </a:t>
            </a:r>
            <a:r>
              <a:rPr lang="en-US" altLang="zh-CN" sz="3200" dirty="0"/>
              <a:t>X→→Y</a:t>
            </a:r>
            <a:r>
              <a:rPr lang="zh-CN" altLang="en-US" sz="3200" dirty="0"/>
              <a:t>为</a:t>
            </a:r>
            <a:r>
              <a:rPr lang="zh-CN" altLang="en-US" sz="3200" dirty="0">
                <a:solidFill>
                  <a:srgbClr val="FF3300"/>
                </a:solidFill>
              </a:rPr>
              <a:t>平凡的多值依赖</a:t>
            </a:r>
            <a:endParaRPr lang="zh-CN" altLang="en-US" sz="3200" dirty="0">
              <a:solidFill>
                <a:srgbClr val="FF3300"/>
              </a:solidFill>
            </a:endParaRPr>
          </a:p>
          <a:p>
            <a:pPr lvl="1" eaLnBrk="1" hangingPunct="1">
              <a:lnSpc>
                <a:spcPct val="200000"/>
              </a:lnSpc>
            </a:pPr>
            <a:r>
              <a:rPr lang="zh-CN" altLang="en-US" sz="3200" dirty="0"/>
              <a:t>否则称</a:t>
            </a:r>
            <a:r>
              <a:rPr lang="en-US" altLang="zh-CN" sz="3200" dirty="0"/>
              <a:t>X→→Y</a:t>
            </a:r>
            <a:r>
              <a:rPr lang="zh-CN" altLang="en-US" sz="3200" dirty="0"/>
              <a:t>为</a:t>
            </a:r>
            <a:r>
              <a:rPr lang="zh-CN" altLang="en-US" sz="3200" dirty="0">
                <a:solidFill>
                  <a:srgbClr val="FF3300"/>
                </a:solidFill>
              </a:rPr>
              <a:t>非平凡的多值依赖</a:t>
            </a:r>
            <a:endParaRPr lang="zh-CN" altLang="en-US" sz="3200" dirty="0">
              <a:solidFill>
                <a:srgbClr val="FF3300"/>
              </a:solidFill>
            </a:endParaRPr>
          </a:p>
        </p:txBody>
      </p:sp>
      <p:sp>
        <p:nvSpPr>
          <p:cNvPr id="39940" name="Rectangle 3"/>
          <p:cNvSpPr>
            <a:spLocks noGrp="1"/>
          </p:cNvSpPr>
          <p:nvPr>
            <p:ph type="title"/>
          </p:nvPr>
        </p:nvSpPr>
        <p:spPr>
          <a:xfrm>
            <a:off x="685800" y="0"/>
            <a:ext cx="77724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u="sng" dirty="0"/>
              <a:t>6.4.6  </a:t>
            </a:r>
            <a:r>
              <a:rPr lang="zh-CN" altLang="en-US" u="sng" dirty="0"/>
              <a:t>多值依赖</a:t>
            </a:r>
            <a:endParaRPr lang="zh-CN" altLang="en-US" u="sng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962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40963" name="Rectangle 2"/>
          <p:cNvSpPr>
            <a:spLocks noGrp="1"/>
          </p:cNvSpPr>
          <p:nvPr>
            <p:ph idx="1"/>
          </p:nvPr>
        </p:nvSpPr>
        <p:spPr>
          <a:xfrm>
            <a:off x="127000" y="914400"/>
            <a:ext cx="8864600" cy="1981200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120000"/>
              </a:lnSpc>
            </a:pPr>
            <a:r>
              <a:rPr lang="en-US" altLang="zh-CN" dirty="0">
                <a:solidFill>
                  <a:schemeClr val="tx1"/>
                </a:solidFill>
              </a:rPr>
              <a:t>4. MVD</a:t>
            </a:r>
            <a:r>
              <a:rPr lang="zh-CN" altLang="en-US" dirty="0">
                <a:solidFill>
                  <a:schemeClr val="tx1"/>
                </a:solidFill>
              </a:rPr>
              <a:t>性质</a:t>
            </a:r>
            <a:r>
              <a:rPr lang="en-US" altLang="zh-CN" dirty="0">
                <a:solidFill>
                  <a:schemeClr val="tx1"/>
                </a:solidFill>
              </a:rPr>
              <a:t>:</a:t>
            </a:r>
            <a:endParaRPr lang="en-US" altLang="zh-CN" dirty="0">
              <a:solidFill>
                <a:schemeClr val="tx1"/>
              </a:solidFill>
            </a:endParaRPr>
          </a:p>
          <a:p>
            <a:pPr lvl="1" eaLnBrk="1" hangingPunct="1">
              <a:lnSpc>
                <a:spcPct val="120000"/>
              </a:lnSpc>
            </a:pPr>
            <a:r>
              <a:rPr lang="zh-CN" altLang="en-US" dirty="0"/>
              <a:t>多值依赖具有对称性</a:t>
            </a:r>
            <a:endParaRPr lang="zh-CN" altLang="en-US" dirty="0"/>
          </a:p>
          <a:p>
            <a:pPr lvl="1" eaLnBrk="1" hangingPunct="1">
              <a:buNone/>
            </a:pPr>
            <a:r>
              <a:rPr lang="zh-CN" altLang="en-US" dirty="0"/>
              <a:t>   若</a:t>
            </a:r>
            <a:r>
              <a:rPr lang="en-US" altLang="zh-CN" dirty="0"/>
              <a:t>X→→Y</a:t>
            </a:r>
            <a:r>
              <a:rPr lang="zh-CN" altLang="en-US" dirty="0"/>
              <a:t>，则</a:t>
            </a:r>
            <a:r>
              <a:rPr lang="en-US" altLang="zh-CN" dirty="0"/>
              <a:t>X→→Z</a:t>
            </a:r>
            <a:r>
              <a:rPr lang="zh-CN" altLang="en-US" dirty="0"/>
              <a:t>，其中</a:t>
            </a:r>
            <a:r>
              <a:rPr lang="en-US" altLang="zh-CN" dirty="0"/>
              <a:t>Z</a:t>
            </a:r>
            <a:r>
              <a:rPr lang="zh-CN" altLang="en-US" dirty="0"/>
              <a:t>＝</a:t>
            </a:r>
            <a:r>
              <a:rPr lang="en-US" altLang="zh-CN" dirty="0"/>
              <a:t>U</a:t>
            </a:r>
            <a:r>
              <a:rPr lang="zh-CN" altLang="en-US" dirty="0"/>
              <a:t>－</a:t>
            </a:r>
            <a:r>
              <a:rPr lang="en-US" altLang="zh-CN" dirty="0"/>
              <a:t>X</a:t>
            </a:r>
            <a:r>
              <a:rPr lang="zh-CN" altLang="en-US" dirty="0"/>
              <a:t>－</a:t>
            </a:r>
            <a:r>
              <a:rPr lang="en-US" altLang="zh-CN" dirty="0"/>
              <a:t>Y</a:t>
            </a:r>
            <a:endParaRPr lang="en-US" altLang="zh-CN" dirty="0"/>
          </a:p>
        </p:txBody>
      </p:sp>
      <p:sp>
        <p:nvSpPr>
          <p:cNvPr id="40964" name="Rectangle 3"/>
          <p:cNvSpPr>
            <a:spLocks noGrp="1"/>
          </p:cNvSpPr>
          <p:nvPr>
            <p:ph type="title"/>
          </p:nvPr>
        </p:nvSpPr>
        <p:spPr>
          <a:xfrm>
            <a:off x="685800" y="0"/>
            <a:ext cx="77724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u="sng" dirty="0"/>
              <a:t>6.4.6  </a:t>
            </a:r>
            <a:r>
              <a:rPr lang="zh-CN" altLang="en-US" u="sng" dirty="0"/>
              <a:t>多值依赖</a:t>
            </a:r>
            <a:endParaRPr lang="zh-CN" altLang="en-US" u="sng" dirty="0"/>
          </a:p>
        </p:txBody>
      </p:sp>
      <p:grpSp>
        <p:nvGrpSpPr>
          <p:cNvPr id="40965" name="Group 4"/>
          <p:cNvGrpSpPr/>
          <p:nvPr/>
        </p:nvGrpSpPr>
        <p:grpSpPr>
          <a:xfrm>
            <a:off x="228600" y="3048000"/>
            <a:ext cx="4343400" cy="2971800"/>
            <a:chOff x="1800" y="1752"/>
            <a:chExt cx="8100" cy="2966"/>
          </a:xfrm>
        </p:grpSpPr>
        <p:sp>
          <p:nvSpPr>
            <p:cNvPr id="40976" name="Oval 5"/>
            <p:cNvSpPr/>
            <p:nvPr/>
          </p:nvSpPr>
          <p:spPr>
            <a:xfrm>
              <a:off x="1800" y="2566"/>
              <a:ext cx="1247" cy="1073"/>
            </a:xfrm>
            <a:prstGeom prst="ellipse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Font typeface="Wingdings" panose="05000000000000000000" pitchFamily="2" charset="2"/>
                <a:buChar char="§"/>
                <a:defRPr kumimoji="1" sz="3200">
                  <a:solidFill>
                    <a:srgbClr val="FF3300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kumimoji="1"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b="1">
                  <a:solidFill>
                    <a:schemeClr val="tx1"/>
                  </a:solidFill>
                  <a:latin typeface="+mn-lt"/>
                  <a:ea typeface="楷体_GB2312" pitchFamily="49" charset="-12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Char char="•"/>
                <a:defRPr kumimoji="1"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Font typeface="Wingdings" panose="05000000000000000000" pitchFamily="2" charset="2"/>
                <a:buChar char="§"/>
                <a:defRPr kumimoji="1" sz="2000" b="1">
                  <a:solidFill>
                    <a:schemeClr val="tx1"/>
                  </a:solidFill>
                  <a:latin typeface="+mn-lt"/>
                  <a:ea typeface="仿宋_GB2312" pitchFamily="49" charset="-122"/>
                </a:defRPr>
              </a:lvl5pPr>
            </a:lstStyle>
            <a:p>
              <a:pPr marL="0" lvl="0" indent="0" algn="just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dirty="0">
                  <a:solidFill>
                    <a:schemeClr val="tx1"/>
                  </a:solidFill>
                  <a:latin typeface="Arial Narrow" panose="020B0606020202030204" pitchFamily="34" charset="0"/>
                </a:rPr>
                <a:t>X</a:t>
              </a:r>
              <a:r>
                <a:rPr lang="en-US" altLang="zh-CN" baseline="-25000" dirty="0">
                  <a:solidFill>
                    <a:schemeClr val="tx1"/>
                  </a:solidFill>
                  <a:latin typeface="Arial Narrow" panose="020B0606020202030204" pitchFamily="34" charset="0"/>
                </a:rPr>
                <a:t>i</a:t>
              </a:r>
              <a:endParaRPr lang="en-US" altLang="zh-CN" dirty="0">
                <a:solidFill>
                  <a:schemeClr val="tx1"/>
                </a:solidFill>
                <a:latin typeface="Arial Narrow" panose="020B0606020202030204" pitchFamily="34" charset="0"/>
              </a:endParaRPr>
            </a:p>
          </p:txBody>
        </p:sp>
        <p:sp>
          <p:nvSpPr>
            <p:cNvPr id="40977" name="AutoShape 6"/>
            <p:cNvSpPr/>
            <p:nvPr/>
          </p:nvSpPr>
          <p:spPr>
            <a:xfrm>
              <a:off x="3977" y="3913"/>
              <a:ext cx="5923" cy="805"/>
            </a:xfrm>
            <a:prstGeom prst="flowChartTerminator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tIns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Font typeface="Wingdings" panose="05000000000000000000" pitchFamily="2" charset="2"/>
                <a:buChar char="§"/>
                <a:defRPr kumimoji="1" sz="3200">
                  <a:solidFill>
                    <a:srgbClr val="FF3300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kumimoji="1"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b="1">
                  <a:solidFill>
                    <a:schemeClr val="tx1"/>
                  </a:solidFill>
                  <a:latin typeface="+mn-lt"/>
                  <a:ea typeface="楷体_GB2312" pitchFamily="49" charset="-12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Char char="•"/>
                <a:defRPr kumimoji="1"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Font typeface="Wingdings" panose="05000000000000000000" pitchFamily="2" charset="2"/>
                <a:buChar char="§"/>
                <a:defRPr kumimoji="1" sz="2000" b="1">
                  <a:solidFill>
                    <a:schemeClr val="tx1"/>
                  </a:solidFill>
                  <a:latin typeface="+mn-lt"/>
                  <a:ea typeface="仿宋_GB2312" pitchFamily="49" charset="-122"/>
                </a:defRPr>
              </a:lvl5pPr>
            </a:lstStyle>
            <a:p>
              <a:pPr marL="0" lvl="0" indent="0" algn="just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4200" dirty="0">
                  <a:solidFill>
                    <a:schemeClr val="tx1"/>
                  </a:solidFill>
                  <a:latin typeface="Arial Narrow" panose="020B0606020202030204" pitchFamily="34" charset="0"/>
                </a:rPr>
                <a:t>Z</a:t>
              </a:r>
              <a:r>
                <a:rPr lang="en-US" altLang="zh-CN" sz="4200" baseline="-25000" dirty="0">
                  <a:solidFill>
                    <a:schemeClr val="tx1"/>
                  </a:solidFill>
                  <a:latin typeface="Arial Narrow" panose="020B0606020202030204" pitchFamily="34" charset="0"/>
                </a:rPr>
                <a:t>i1 </a:t>
              </a:r>
              <a:r>
                <a:rPr lang="en-US" altLang="zh-CN" sz="4200" dirty="0">
                  <a:solidFill>
                    <a:schemeClr val="tx1"/>
                  </a:solidFill>
                  <a:latin typeface="Arial Narrow" panose="020B0606020202030204" pitchFamily="34" charset="0"/>
                </a:rPr>
                <a:t> Z</a:t>
              </a:r>
              <a:r>
                <a:rPr lang="en-US" altLang="zh-CN" sz="4200" baseline="-25000" dirty="0">
                  <a:solidFill>
                    <a:schemeClr val="tx1"/>
                  </a:solidFill>
                  <a:latin typeface="Arial Narrow" panose="020B0606020202030204" pitchFamily="34" charset="0"/>
                </a:rPr>
                <a:t>i2</a:t>
              </a:r>
              <a:r>
                <a:rPr lang="en-US" altLang="zh-CN" sz="4200" dirty="0">
                  <a:solidFill>
                    <a:schemeClr val="tx1"/>
                  </a:solidFill>
                  <a:latin typeface="Arial Narrow" panose="020B0606020202030204" pitchFamily="34" charset="0"/>
                </a:rPr>
                <a:t>  … Z</a:t>
              </a:r>
              <a:r>
                <a:rPr lang="en-US" altLang="zh-CN" sz="4200" baseline="-25000" dirty="0">
                  <a:solidFill>
                    <a:schemeClr val="tx1"/>
                  </a:solidFill>
                  <a:latin typeface="Arial Narrow" panose="020B0606020202030204" pitchFamily="34" charset="0"/>
                </a:rPr>
                <a:t>im</a:t>
              </a:r>
              <a:endParaRPr lang="en-US" altLang="zh-CN" sz="4200" dirty="0">
                <a:solidFill>
                  <a:schemeClr val="tx1"/>
                </a:solidFill>
                <a:latin typeface="Arial Narrow" panose="020B0606020202030204" pitchFamily="34" charset="0"/>
              </a:endParaRPr>
            </a:p>
            <a:p>
              <a:pPr marL="0" lvl="0" indent="0" algn="just"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zh-CN" sz="1000" b="0" dirty="0">
                <a:solidFill>
                  <a:schemeClr val="tx1"/>
                </a:solidFill>
                <a:latin typeface="Arial Narrow" panose="020B0606020202030204" pitchFamily="34" charset="0"/>
              </a:endParaRPr>
            </a:p>
          </p:txBody>
        </p:sp>
        <p:sp>
          <p:nvSpPr>
            <p:cNvPr id="40978" name="AutoShape 7"/>
            <p:cNvSpPr/>
            <p:nvPr/>
          </p:nvSpPr>
          <p:spPr>
            <a:xfrm>
              <a:off x="3977" y="1752"/>
              <a:ext cx="5923" cy="805"/>
            </a:xfrm>
            <a:prstGeom prst="flowChartTerminator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tIns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Font typeface="Wingdings" panose="05000000000000000000" pitchFamily="2" charset="2"/>
                <a:buChar char="§"/>
                <a:defRPr kumimoji="1" sz="3200">
                  <a:solidFill>
                    <a:srgbClr val="FF3300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kumimoji="1"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b="1">
                  <a:solidFill>
                    <a:schemeClr val="tx1"/>
                  </a:solidFill>
                  <a:latin typeface="+mn-lt"/>
                  <a:ea typeface="楷体_GB2312" pitchFamily="49" charset="-12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Char char="•"/>
                <a:defRPr kumimoji="1"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Font typeface="Wingdings" panose="05000000000000000000" pitchFamily="2" charset="2"/>
                <a:buChar char="§"/>
                <a:defRPr kumimoji="1" sz="2000" b="1">
                  <a:solidFill>
                    <a:schemeClr val="tx1"/>
                  </a:solidFill>
                  <a:latin typeface="+mn-lt"/>
                  <a:ea typeface="仿宋_GB2312" pitchFamily="49" charset="-122"/>
                </a:defRPr>
              </a:lvl5pPr>
            </a:lstStyle>
            <a:p>
              <a:pPr marL="0" lvl="0" indent="0" algn="just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4200" dirty="0">
                  <a:solidFill>
                    <a:schemeClr val="tx1"/>
                  </a:solidFill>
                  <a:latin typeface="Arial Narrow" panose="020B0606020202030204" pitchFamily="34" charset="0"/>
                </a:rPr>
                <a:t>Y</a:t>
              </a:r>
              <a:r>
                <a:rPr lang="en-US" altLang="zh-CN" sz="4200" baseline="-25000" dirty="0">
                  <a:solidFill>
                    <a:schemeClr val="tx1"/>
                  </a:solidFill>
                  <a:latin typeface="Arial Narrow" panose="020B0606020202030204" pitchFamily="34" charset="0"/>
                </a:rPr>
                <a:t>i1</a:t>
              </a:r>
              <a:r>
                <a:rPr lang="en-US" altLang="zh-CN" sz="4200" dirty="0">
                  <a:solidFill>
                    <a:schemeClr val="tx1"/>
                  </a:solidFill>
                  <a:latin typeface="Arial Narrow" panose="020B0606020202030204" pitchFamily="34" charset="0"/>
                </a:rPr>
                <a:t> Y</a:t>
              </a:r>
              <a:r>
                <a:rPr lang="en-US" altLang="zh-CN" sz="4200" baseline="-25000" dirty="0">
                  <a:solidFill>
                    <a:schemeClr val="tx1"/>
                  </a:solidFill>
                  <a:latin typeface="Arial Narrow" panose="020B0606020202030204" pitchFamily="34" charset="0"/>
                </a:rPr>
                <a:t>i2</a:t>
              </a:r>
              <a:r>
                <a:rPr lang="en-US" altLang="zh-CN" sz="4200" dirty="0">
                  <a:solidFill>
                    <a:schemeClr val="tx1"/>
                  </a:solidFill>
                  <a:latin typeface="Arial Narrow" panose="020B0606020202030204" pitchFamily="34" charset="0"/>
                </a:rPr>
                <a:t> … Y</a:t>
              </a:r>
              <a:r>
                <a:rPr lang="en-US" altLang="zh-CN" sz="4200" baseline="-25000" dirty="0">
                  <a:solidFill>
                    <a:schemeClr val="tx1"/>
                  </a:solidFill>
                  <a:latin typeface="Arial Narrow" panose="020B0606020202030204" pitchFamily="34" charset="0"/>
                </a:rPr>
                <a:t>in</a:t>
              </a:r>
              <a:endParaRPr lang="en-US" altLang="zh-CN" sz="4200" dirty="0">
                <a:solidFill>
                  <a:schemeClr val="tx1"/>
                </a:solidFill>
                <a:latin typeface="Arial Narrow" panose="020B0606020202030204" pitchFamily="34" charset="0"/>
              </a:endParaRPr>
            </a:p>
          </p:txBody>
        </p:sp>
        <p:sp>
          <p:nvSpPr>
            <p:cNvPr id="40979" name="Line 8"/>
            <p:cNvSpPr/>
            <p:nvPr/>
          </p:nvSpPr>
          <p:spPr>
            <a:xfrm flipV="1">
              <a:off x="3047" y="2292"/>
              <a:ext cx="935" cy="537"/>
            </a:xfrm>
            <a:prstGeom prst="line">
              <a:avLst/>
            </a:prstGeom>
            <a:ln w="28575" cap="flat" cmpd="sng">
              <a:solidFill>
                <a:srgbClr val="0000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40980" name="Line 9"/>
            <p:cNvSpPr/>
            <p:nvPr/>
          </p:nvSpPr>
          <p:spPr>
            <a:xfrm>
              <a:off x="3047" y="3373"/>
              <a:ext cx="935" cy="805"/>
            </a:xfrm>
            <a:prstGeom prst="line">
              <a:avLst/>
            </a:prstGeom>
            <a:ln w="28575" cap="flat" cmpd="sng">
              <a:solidFill>
                <a:srgbClr val="0000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40981" name="Freeform 10"/>
            <p:cNvSpPr/>
            <p:nvPr/>
          </p:nvSpPr>
          <p:spPr>
            <a:xfrm>
              <a:off x="4607" y="2586"/>
              <a:ext cx="11" cy="1317"/>
            </a:xfrm>
            <a:custGeom>
              <a:avLst/>
              <a:gdLst/>
              <a:ahLst/>
              <a:cxnLst>
                <a:cxn ang="0">
                  <a:pos x="68" y="0"/>
                </a:cxn>
                <a:cxn ang="0">
                  <a:pos x="0" y="6719"/>
                </a:cxn>
              </a:cxnLst>
              <a:pathLst>
                <a:path w="6" h="765">
                  <a:moveTo>
                    <a:pt x="6" y="0"/>
                  </a:moveTo>
                  <a:lnTo>
                    <a:pt x="0" y="765"/>
                  </a:lnTo>
                </a:path>
              </a:pathLst>
            </a:custGeom>
            <a:noFill/>
            <a:ln w="28575" cap="flat" cmpd="sng">
              <a:solidFill>
                <a:srgbClr val="0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en-US"/>
            </a:p>
          </p:txBody>
        </p:sp>
        <p:sp>
          <p:nvSpPr>
            <p:cNvPr id="40982" name="Line 11"/>
            <p:cNvSpPr/>
            <p:nvPr/>
          </p:nvSpPr>
          <p:spPr>
            <a:xfrm>
              <a:off x="4606" y="2561"/>
              <a:ext cx="1558" cy="1342"/>
            </a:xfrm>
            <a:prstGeom prst="line">
              <a:avLst/>
            </a:prstGeom>
            <a:ln w="2857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0983" name="Line 12"/>
            <p:cNvSpPr/>
            <p:nvPr/>
          </p:nvSpPr>
          <p:spPr>
            <a:xfrm>
              <a:off x="4606" y="2561"/>
              <a:ext cx="4364" cy="1342"/>
            </a:xfrm>
            <a:prstGeom prst="line">
              <a:avLst/>
            </a:prstGeom>
            <a:ln w="2857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0984" name="Line 13"/>
            <p:cNvSpPr/>
            <p:nvPr/>
          </p:nvSpPr>
          <p:spPr>
            <a:xfrm flipH="1">
              <a:off x="4606" y="2561"/>
              <a:ext cx="1558" cy="1342"/>
            </a:xfrm>
            <a:prstGeom prst="line">
              <a:avLst/>
            </a:prstGeom>
            <a:ln w="2857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0985" name="Line 14"/>
            <p:cNvSpPr/>
            <p:nvPr/>
          </p:nvSpPr>
          <p:spPr>
            <a:xfrm>
              <a:off x="6164" y="2561"/>
              <a:ext cx="0" cy="1342"/>
            </a:xfrm>
            <a:prstGeom prst="line">
              <a:avLst/>
            </a:prstGeom>
            <a:ln w="2857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0986" name="Line 15"/>
            <p:cNvSpPr/>
            <p:nvPr/>
          </p:nvSpPr>
          <p:spPr>
            <a:xfrm>
              <a:off x="6164" y="2561"/>
              <a:ext cx="2806" cy="1342"/>
            </a:xfrm>
            <a:prstGeom prst="line">
              <a:avLst/>
            </a:prstGeom>
            <a:ln w="2857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0987" name="Line 16"/>
            <p:cNvSpPr/>
            <p:nvPr/>
          </p:nvSpPr>
          <p:spPr>
            <a:xfrm flipV="1">
              <a:off x="8970" y="2561"/>
              <a:ext cx="0" cy="1342"/>
            </a:xfrm>
            <a:prstGeom prst="line">
              <a:avLst/>
            </a:prstGeom>
            <a:ln w="2857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0988" name="Line 17"/>
            <p:cNvSpPr/>
            <p:nvPr/>
          </p:nvSpPr>
          <p:spPr>
            <a:xfrm flipH="1">
              <a:off x="6164" y="2561"/>
              <a:ext cx="2806" cy="1342"/>
            </a:xfrm>
            <a:prstGeom prst="line">
              <a:avLst/>
            </a:prstGeom>
            <a:ln w="2857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0989" name="Line 18"/>
            <p:cNvSpPr/>
            <p:nvPr/>
          </p:nvSpPr>
          <p:spPr>
            <a:xfrm flipV="1">
              <a:off x="4606" y="2561"/>
              <a:ext cx="4364" cy="1342"/>
            </a:xfrm>
            <a:prstGeom prst="line">
              <a:avLst/>
            </a:prstGeom>
            <a:ln w="2857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40966" name="Group 19"/>
          <p:cNvGrpSpPr/>
          <p:nvPr/>
        </p:nvGrpSpPr>
        <p:grpSpPr>
          <a:xfrm>
            <a:off x="4368800" y="3200400"/>
            <a:ext cx="4775200" cy="2438400"/>
            <a:chOff x="2752" y="2016"/>
            <a:chExt cx="3008" cy="1536"/>
          </a:xfrm>
        </p:grpSpPr>
        <p:sp>
          <p:nvSpPr>
            <p:cNvPr id="40967" name="Oval 20"/>
            <p:cNvSpPr/>
            <p:nvPr/>
          </p:nvSpPr>
          <p:spPr>
            <a:xfrm>
              <a:off x="2752" y="2333"/>
              <a:ext cx="451" cy="827"/>
            </a:xfrm>
            <a:prstGeom prst="ellipse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Font typeface="Wingdings" panose="05000000000000000000" pitchFamily="2" charset="2"/>
                <a:buChar char="§"/>
                <a:defRPr kumimoji="1" sz="3200">
                  <a:solidFill>
                    <a:srgbClr val="FF3300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kumimoji="1"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b="1">
                  <a:solidFill>
                    <a:schemeClr val="tx1"/>
                  </a:solidFill>
                  <a:latin typeface="+mn-lt"/>
                  <a:ea typeface="楷体_GB2312" pitchFamily="49" charset="-12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Char char="•"/>
                <a:defRPr kumimoji="1"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Font typeface="Wingdings" panose="05000000000000000000" pitchFamily="2" charset="2"/>
                <a:buChar char="§"/>
                <a:defRPr kumimoji="1" sz="2000" b="1">
                  <a:solidFill>
                    <a:schemeClr val="tx1"/>
                  </a:solidFill>
                  <a:latin typeface="+mn-lt"/>
                  <a:ea typeface="仿宋_GB2312" pitchFamily="49" charset="-122"/>
                </a:defRPr>
              </a:lvl5pPr>
            </a:lstStyle>
            <a:p>
              <a:pPr marL="0" lvl="0" indent="0" algn="just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400" dirty="0">
                  <a:solidFill>
                    <a:schemeClr val="tx1"/>
                  </a:solidFill>
                </a:rPr>
                <a:t>物</a:t>
              </a:r>
              <a:endParaRPr lang="zh-CN" altLang="en-US" sz="2400" dirty="0">
                <a:solidFill>
                  <a:schemeClr val="tx1"/>
                </a:solidFill>
              </a:endParaRPr>
            </a:p>
            <a:p>
              <a:pPr marL="0" lvl="0" indent="0" algn="just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400" dirty="0">
                  <a:solidFill>
                    <a:schemeClr val="tx1"/>
                  </a:solidFill>
                </a:rPr>
                <a:t> 理</a:t>
              </a:r>
              <a:endParaRPr lang="zh-CN" altLang="en-US" sz="2400" dirty="0">
                <a:solidFill>
                  <a:schemeClr val="tx1"/>
                </a:solidFill>
              </a:endParaRPr>
            </a:p>
          </p:txBody>
        </p:sp>
        <p:sp>
          <p:nvSpPr>
            <p:cNvPr id="40968" name="AutoShape 21"/>
            <p:cNvSpPr/>
            <p:nvPr/>
          </p:nvSpPr>
          <p:spPr>
            <a:xfrm>
              <a:off x="3524" y="3135"/>
              <a:ext cx="2236" cy="417"/>
            </a:xfrm>
            <a:prstGeom prst="flowChartTerminator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tIns="7200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Font typeface="Wingdings" panose="05000000000000000000" pitchFamily="2" charset="2"/>
                <a:buChar char="§"/>
                <a:defRPr kumimoji="1" sz="3200">
                  <a:solidFill>
                    <a:srgbClr val="FF3300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kumimoji="1"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b="1">
                  <a:solidFill>
                    <a:schemeClr val="tx1"/>
                  </a:solidFill>
                  <a:latin typeface="+mn-lt"/>
                  <a:ea typeface="楷体_GB2312" pitchFamily="49" charset="-12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Char char="•"/>
                <a:defRPr kumimoji="1"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Font typeface="Wingdings" panose="05000000000000000000" pitchFamily="2" charset="2"/>
                <a:buChar char="§"/>
                <a:defRPr kumimoji="1" sz="2000" b="1">
                  <a:solidFill>
                    <a:schemeClr val="tx1"/>
                  </a:solidFill>
                  <a:latin typeface="+mn-lt"/>
                  <a:ea typeface="仿宋_GB2312" pitchFamily="49" charset="-122"/>
                </a:defRPr>
              </a:lvl5pPr>
            </a:lstStyle>
            <a:p>
              <a:pPr marL="0" lvl="0" indent="0" algn="just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400" dirty="0">
                  <a:solidFill>
                    <a:schemeClr val="tx1"/>
                  </a:solidFill>
                </a:rPr>
                <a:t>普通物理学  光学原理</a:t>
              </a:r>
              <a:endParaRPr lang="zh-CN" altLang="en-US" sz="2400" b="0" dirty="0">
                <a:solidFill>
                  <a:schemeClr val="tx1"/>
                </a:solidFill>
              </a:endParaRPr>
            </a:p>
          </p:txBody>
        </p:sp>
        <p:sp>
          <p:nvSpPr>
            <p:cNvPr id="40969" name="AutoShape 22"/>
            <p:cNvSpPr/>
            <p:nvPr/>
          </p:nvSpPr>
          <p:spPr>
            <a:xfrm>
              <a:off x="3524" y="2016"/>
              <a:ext cx="2142" cy="417"/>
            </a:xfrm>
            <a:prstGeom prst="flowChartTerminator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tIns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Font typeface="Wingdings" panose="05000000000000000000" pitchFamily="2" charset="2"/>
                <a:buChar char="§"/>
                <a:defRPr kumimoji="1" sz="3200">
                  <a:solidFill>
                    <a:srgbClr val="FF3300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kumimoji="1"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b="1">
                  <a:solidFill>
                    <a:schemeClr val="tx1"/>
                  </a:solidFill>
                  <a:latin typeface="+mn-lt"/>
                  <a:ea typeface="楷体_GB2312" pitchFamily="49" charset="-12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Char char="•"/>
                <a:defRPr kumimoji="1"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Font typeface="Wingdings" panose="05000000000000000000" pitchFamily="2" charset="2"/>
                <a:buChar char="§"/>
                <a:defRPr kumimoji="1" sz="2000" b="1">
                  <a:solidFill>
                    <a:schemeClr val="tx1"/>
                  </a:solidFill>
                  <a:latin typeface="+mn-lt"/>
                  <a:ea typeface="仿宋_GB2312" pitchFamily="49" charset="-122"/>
                </a:defRPr>
              </a:lvl5pPr>
            </a:lstStyle>
            <a:p>
              <a:pPr marL="0" lvl="0" indent="0" algn="just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400" dirty="0">
                  <a:solidFill>
                    <a:schemeClr val="tx1"/>
                  </a:solidFill>
                </a:rPr>
                <a:t>李勇                 王军</a:t>
              </a:r>
              <a:endParaRPr lang="zh-CN" altLang="en-US" sz="2400" dirty="0">
                <a:solidFill>
                  <a:schemeClr val="tx1"/>
                </a:solidFill>
              </a:endParaRPr>
            </a:p>
          </p:txBody>
        </p:sp>
        <p:sp>
          <p:nvSpPr>
            <p:cNvPr id="40970" name="Line 23"/>
            <p:cNvSpPr/>
            <p:nvPr/>
          </p:nvSpPr>
          <p:spPr>
            <a:xfrm flipV="1">
              <a:off x="3187" y="2295"/>
              <a:ext cx="338" cy="279"/>
            </a:xfrm>
            <a:prstGeom prst="line">
              <a:avLst/>
            </a:prstGeom>
            <a:ln w="28575" cap="flat" cmpd="sng">
              <a:solidFill>
                <a:srgbClr val="0000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40971" name="Line 24"/>
            <p:cNvSpPr/>
            <p:nvPr/>
          </p:nvSpPr>
          <p:spPr>
            <a:xfrm>
              <a:off x="3187" y="2855"/>
              <a:ext cx="338" cy="418"/>
            </a:xfrm>
            <a:prstGeom prst="line">
              <a:avLst/>
            </a:prstGeom>
            <a:ln w="28575" cap="flat" cmpd="sng">
              <a:solidFill>
                <a:srgbClr val="0000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40972" name="Freeform 25"/>
            <p:cNvSpPr/>
            <p:nvPr/>
          </p:nvSpPr>
          <p:spPr>
            <a:xfrm>
              <a:off x="3902" y="2432"/>
              <a:ext cx="3" cy="682"/>
            </a:xfrm>
            <a:custGeom>
              <a:avLst/>
              <a:gdLst/>
              <a:ahLst/>
              <a:cxnLst>
                <a:cxn ang="0">
                  <a:pos x="1" y="0"/>
                </a:cxn>
                <a:cxn ang="0">
                  <a:pos x="0" y="483"/>
                </a:cxn>
              </a:cxnLst>
              <a:pathLst>
                <a:path w="6" h="765">
                  <a:moveTo>
                    <a:pt x="6" y="0"/>
                  </a:moveTo>
                  <a:lnTo>
                    <a:pt x="0" y="765"/>
                  </a:lnTo>
                </a:path>
              </a:pathLst>
            </a:custGeom>
            <a:noFill/>
            <a:ln w="28575" cap="flat" cmpd="sng">
              <a:solidFill>
                <a:srgbClr val="0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en-US"/>
            </a:p>
          </p:txBody>
        </p:sp>
        <p:sp>
          <p:nvSpPr>
            <p:cNvPr id="40973" name="Line 26"/>
            <p:cNvSpPr/>
            <p:nvPr/>
          </p:nvSpPr>
          <p:spPr>
            <a:xfrm>
              <a:off x="3902" y="2432"/>
              <a:ext cx="1427" cy="698"/>
            </a:xfrm>
            <a:prstGeom prst="line">
              <a:avLst/>
            </a:prstGeom>
            <a:ln w="2857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0974" name="Line 27"/>
            <p:cNvSpPr/>
            <p:nvPr/>
          </p:nvSpPr>
          <p:spPr>
            <a:xfrm flipV="1">
              <a:off x="5329" y="2435"/>
              <a:ext cx="0" cy="695"/>
            </a:xfrm>
            <a:prstGeom prst="line">
              <a:avLst/>
            </a:prstGeom>
            <a:ln w="2857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0975" name="Line 28"/>
            <p:cNvSpPr/>
            <p:nvPr/>
          </p:nvSpPr>
          <p:spPr>
            <a:xfrm flipV="1">
              <a:off x="3902" y="2435"/>
              <a:ext cx="1427" cy="701"/>
            </a:xfrm>
            <a:prstGeom prst="line">
              <a:avLst/>
            </a:prstGeom>
            <a:ln w="2857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</p:grp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1986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41987" name="Rectangle 2"/>
          <p:cNvSpPr>
            <a:spLocks noGrp="1"/>
          </p:cNvSpPr>
          <p:nvPr>
            <p:ph idx="1"/>
          </p:nvPr>
        </p:nvSpPr>
        <p:spPr>
          <a:xfrm>
            <a:off x="127000" y="914400"/>
            <a:ext cx="8864600" cy="5638800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120000"/>
              </a:lnSpc>
            </a:pPr>
            <a:r>
              <a:rPr lang="zh-CN" altLang="en-US" dirty="0">
                <a:solidFill>
                  <a:schemeClr val="tx1"/>
                </a:solidFill>
              </a:rPr>
              <a:t>性质</a:t>
            </a:r>
            <a:r>
              <a:rPr lang="en-US" altLang="zh-CN" dirty="0">
                <a:solidFill>
                  <a:schemeClr val="tx1"/>
                </a:solidFill>
              </a:rPr>
              <a:t>(</a:t>
            </a:r>
            <a:r>
              <a:rPr lang="zh-CN" altLang="en-US" dirty="0">
                <a:solidFill>
                  <a:schemeClr val="tx1"/>
                </a:solidFill>
              </a:rPr>
              <a:t>续</a:t>
            </a:r>
            <a:r>
              <a:rPr lang="en-US" altLang="zh-CN" dirty="0">
                <a:solidFill>
                  <a:schemeClr val="tx1"/>
                </a:solidFill>
              </a:rPr>
              <a:t>):</a:t>
            </a:r>
            <a:endParaRPr lang="en-US" altLang="zh-CN" dirty="0">
              <a:solidFill>
                <a:schemeClr val="tx1"/>
              </a:solidFill>
            </a:endParaRPr>
          </a:p>
          <a:p>
            <a:pPr lvl="1" eaLnBrk="1" hangingPunct="1">
              <a:lnSpc>
                <a:spcPct val="120000"/>
              </a:lnSpc>
            </a:pPr>
            <a:r>
              <a:rPr lang="zh-CN" altLang="en-US" dirty="0"/>
              <a:t>函数依赖是多值依赖的特例，即</a:t>
            </a:r>
            <a:endParaRPr lang="zh-CN" altLang="en-US" dirty="0"/>
          </a:p>
          <a:p>
            <a:pPr lvl="1" eaLnBrk="1" hangingPunct="1">
              <a:lnSpc>
                <a:spcPct val="90000"/>
              </a:lnSpc>
              <a:buNone/>
            </a:pPr>
            <a:r>
              <a:rPr lang="zh-CN" altLang="en-US" dirty="0"/>
              <a:t>	若</a:t>
            </a:r>
            <a:r>
              <a:rPr lang="en-US" altLang="zh-CN" dirty="0"/>
              <a:t>X</a:t>
            </a:r>
            <a:r>
              <a:rPr lang="en-US" altLang="zh-CN" b="0" dirty="0">
                <a:sym typeface="Symbol" panose="05050102010706020507" pitchFamily="18" charset="2"/>
              </a:rPr>
              <a:t></a:t>
            </a:r>
            <a:r>
              <a:rPr lang="en-US" altLang="zh-CN" dirty="0"/>
              <a:t>Y</a:t>
            </a:r>
            <a:r>
              <a:rPr lang="zh-CN" altLang="en-US" dirty="0"/>
              <a:t>，则</a:t>
            </a:r>
            <a:r>
              <a:rPr lang="en-US" altLang="zh-CN" dirty="0"/>
              <a:t>X</a:t>
            </a:r>
            <a:r>
              <a:rPr lang="en-US" altLang="zh-CN" b="0" dirty="0">
                <a:sym typeface="Symbol" panose="05050102010706020507" pitchFamily="18" charset="2"/>
              </a:rPr>
              <a:t></a:t>
            </a:r>
            <a:r>
              <a:rPr lang="en-US" altLang="zh-CN" dirty="0"/>
              <a:t>Y</a:t>
            </a:r>
            <a:endParaRPr lang="en-US" altLang="zh-CN" dirty="0"/>
          </a:p>
          <a:p>
            <a:pPr lvl="1" eaLnBrk="1" hangingPunct="1">
              <a:lnSpc>
                <a:spcPct val="90000"/>
              </a:lnSpc>
            </a:pPr>
            <a:r>
              <a:rPr lang="zh-CN" altLang="en-US" dirty="0"/>
              <a:t>多值依赖具有传递性</a:t>
            </a:r>
            <a:endParaRPr lang="zh-CN" altLang="en-US" dirty="0"/>
          </a:p>
          <a:p>
            <a:pPr lvl="1" eaLnBrk="1" hangingPunct="1">
              <a:lnSpc>
                <a:spcPct val="90000"/>
              </a:lnSpc>
              <a:buNone/>
            </a:pPr>
            <a:r>
              <a:rPr lang="zh-CN" altLang="en-US" dirty="0"/>
              <a:t>   若</a:t>
            </a:r>
            <a:r>
              <a:rPr lang="en-US" altLang="zh-CN" dirty="0"/>
              <a:t>X→→Y</a:t>
            </a:r>
            <a:r>
              <a:rPr lang="zh-CN" altLang="en-US" dirty="0"/>
              <a:t>，</a:t>
            </a:r>
            <a:r>
              <a:rPr lang="en-US" altLang="zh-CN" dirty="0"/>
              <a:t>Y→→Z</a:t>
            </a:r>
            <a:r>
              <a:rPr lang="zh-CN" altLang="en-US" dirty="0"/>
              <a:t>， 则</a:t>
            </a:r>
            <a:r>
              <a:rPr lang="en-US" altLang="zh-CN" dirty="0"/>
              <a:t>X→→(Z –Y)</a:t>
            </a:r>
            <a:endParaRPr lang="en-US" altLang="zh-CN" dirty="0"/>
          </a:p>
          <a:p>
            <a:pPr lvl="1" eaLnBrk="1" hangingPunct="1">
              <a:lnSpc>
                <a:spcPct val="90000"/>
              </a:lnSpc>
            </a:pPr>
            <a:r>
              <a:rPr lang="zh-CN" altLang="en-US" dirty="0"/>
              <a:t>并规则</a:t>
            </a:r>
            <a:r>
              <a:rPr lang="en-US" altLang="zh-CN" dirty="0"/>
              <a:t>:</a:t>
            </a:r>
            <a:r>
              <a:rPr lang="zh-CN" altLang="en-US" dirty="0"/>
              <a:t>若</a:t>
            </a:r>
            <a:r>
              <a:rPr lang="en-US" altLang="zh-CN" dirty="0"/>
              <a:t>X→→Y</a:t>
            </a:r>
            <a:r>
              <a:rPr lang="zh-CN" altLang="en-US" dirty="0"/>
              <a:t>，</a:t>
            </a:r>
            <a:r>
              <a:rPr lang="en-US" altLang="zh-CN" dirty="0"/>
              <a:t>X→→Z</a:t>
            </a:r>
            <a:r>
              <a:rPr lang="zh-CN" altLang="en-US" dirty="0"/>
              <a:t>，则</a:t>
            </a:r>
            <a:r>
              <a:rPr lang="en-US" altLang="zh-CN" dirty="0"/>
              <a:t>X→→(Y</a:t>
            </a:r>
            <a:r>
              <a:rPr lang="en-US" altLang="zh-CN" dirty="0">
                <a:sym typeface="Symbol" panose="05050102010706020507" pitchFamily="18" charset="2"/>
              </a:rPr>
              <a:t></a:t>
            </a:r>
            <a:r>
              <a:rPr lang="en-US" altLang="zh-CN" dirty="0"/>
              <a:t> Z)</a:t>
            </a:r>
            <a:endParaRPr lang="en-US" altLang="zh-CN" dirty="0"/>
          </a:p>
          <a:p>
            <a:pPr lvl="1" eaLnBrk="1" hangingPunct="1">
              <a:lnSpc>
                <a:spcPct val="90000"/>
              </a:lnSpc>
            </a:pPr>
            <a:r>
              <a:rPr lang="zh-CN" altLang="en-US" dirty="0"/>
              <a:t>交规则</a:t>
            </a:r>
            <a:r>
              <a:rPr lang="en-US" altLang="zh-CN" dirty="0"/>
              <a:t>:</a:t>
            </a:r>
            <a:r>
              <a:rPr lang="zh-CN" altLang="en-US" dirty="0"/>
              <a:t>若</a:t>
            </a:r>
            <a:r>
              <a:rPr lang="en-US" altLang="zh-CN" dirty="0"/>
              <a:t>X→→Y</a:t>
            </a:r>
            <a:r>
              <a:rPr lang="zh-CN" altLang="en-US" dirty="0"/>
              <a:t>，</a:t>
            </a:r>
            <a:r>
              <a:rPr lang="en-US" altLang="zh-CN" dirty="0"/>
              <a:t>X→→Z</a:t>
            </a:r>
            <a:r>
              <a:rPr lang="zh-CN" altLang="en-US" dirty="0"/>
              <a:t>，则</a:t>
            </a:r>
            <a:r>
              <a:rPr lang="en-US" altLang="zh-CN" dirty="0"/>
              <a:t>X→→(Y∩Z)</a:t>
            </a:r>
            <a:endParaRPr lang="en-US" altLang="zh-CN" dirty="0"/>
          </a:p>
          <a:p>
            <a:pPr lvl="1" eaLnBrk="1" hangingPunct="1">
              <a:lnSpc>
                <a:spcPct val="90000"/>
              </a:lnSpc>
            </a:pPr>
            <a:r>
              <a:rPr lang="zh-CN" altLang="en-US" dirty="0"/>
              <a:t>差规则</a:t>
            </a:r>
            <a:r>
              <a:rPr lang="en-US" altLang="zh-CN" dirty="0"/>
              <a:t>:</a:t>
            </a:r>
            <a:endParaRPr lang="en-US" altLang="zh-CN" dirty="0"/>
          </a:p>
          <a:p>
            <a:pPr lvl="1" eaLnBrk="1" hangingPunct="1">
              <a:lnSpc>
                <a:spcPct val="90000"/>
              </a:lnSpc>
              <a:buNone/>
            </a:pPr>
            <a:r>
              <a:rPr lang="en-US" altLang="zh-CN" dirty="0"/>
              <a:t>	</a:t>
            </a:r>
            <a:r>
              <a:rPr lang="zh-CN" altLang="en-US" dirty="0"/>
              <a:t>若</a:t>
            </a:r>
            <a:r>
              <a:rPr lang="en-US" altLang="zh-CN" dirty="0"/>
              <a:t>X→→Y</a:t>
            </a:r>
            <a:r>
              <a:rPr lang="zh-CN" altLang="en-US" dirty="0"/>
              <a:t>，</a:t>
            </a:r>
            <a:r>
              <a:rPr lang="en-US" altLang="zh-CN" dirty="0"/>
              <a:t>X→→Z</a:t>
            </a:r>
            <a:r>
              <a:rPr lang="zh-CN" altLang="en-US" dirty="0"/>
              <a:t>，则</a:t>
            </a:r>
            <a:r>
              <a:rPr lang="en-US" altLang="zh-CN" dirty="0"/>
              <a:t>X→→(Y-Z)</a:t>
            </a:r>
            <a:r>
              <a:rPr lang="zh-CN" altLang="en-US" dirty="0"/>
              <a:t>，</a:t>
            </a:r>
            <a:r>
              <a:rPr lang="en-US" altLang="zh-CN" dirty="0"/>
              <a:t>X→→(Z –Y)</a:t>
            </a:r>
            <a:endParaRPr lang="en-US" altLang="zh-CN" dirty="0"/>
          </a:p>
          <a:p>
            <a:pPr lvl="1" eaLnBrk="1" hangingPunct="1">
              <a:lnSpc>
                <a:spcPct val="90000"/>
              </a:lnSpc>
            </a:pPr>
            <a:r>
              <a:rPr lang="zh-CN" altLang="en-US" dirty="0"/>
              <a:t>伪传递规则</a:t>
            </a:r>
            <a:r>
              <a:rPr lang="en-US" altLang="zh-CN" dirty="0"/>
              <a:t>: </a:t>
            </a:r>
            <a:endParaRPr lang="en-US" altLang="zh-CN" dirty="0"/>
          </a:p>
          <a:p>
            <a:pPr lvl="1" eaLnBrk="1" hangingPunct="1">
              <a:lnSpc>
                <a:spcPct val="90000"/>
              </a:lnSpc>
              <a:buNone/>
            </a:pPr>
            <a:r>
              <a:rPr lang="en-US" altLang="zh-CN" dirty="0"/>
              <a:t>   X→→Y</a:t>
            </a:r>
            <a:r>
              <a:rPr lang="zh-CN" altLang="en-US" dirty="0"/>
              <a:t>，</a:t>
            </a:r>
            <a:r>
              <a:rPr lang="en-US" altLang="zh-CN" dirty="0"/>
              <a:t>WY→→Z</a:t>
            </a:r>
            <a:r>
              <a:rPr lang="zh-CN" altLang="en-US" dirty="0"/>
              <a:t>， 则</a:t>
            </a:r>
            <a:r>
              <a:rPr lang="en-US" altLang="zh-CN" dirty="0"/>
              <a:t>WX→→(Z –W-Y)</a:t>
            </a:r>
            <a:endParaRPr lang="en-US" altLang="zh-CN" dirty="0"/>
          </a:p>
        </p:txBody>
      </p:sp>
      <p:sp>
        <p:nvSpPr>
          <p:cNvPr id="41988" name="Rectangle 3"/>
          <p:cNvSpPr>
            <a:spLocks noGrp="1"/>
          </p:cNvSpPr>
          <p:nvPr>
            <p:ph type="title"/>
          </p:nvPr>
        </p:nvSpPr>
        <p:spPr>
          <a:xfrm>
            <a:off x="685800" y="0"/>
            <a:ext cx="77724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u="sng" dirty="0"/>
              <a:t>6.4.6  </a:t>
            </a:r>
            <a:r>
              <a:rPr lang="zh-CN" altLang="en-US" u="sng" dirty="0"/>
              <a:t>多值依赖</a:t>
            </a:r>
            <a:endParaRPr lang="zh-CN" altLang="en-US" u="sng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3010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43011" name="Rectangle 2"/>
          <p:cNvSpPr>
            <a:spLocks noGrp="1"/>
          </p:cNvSpPr>
          <p:nvPr>
            <p:ph idx="1"/>
          </p:nvPr>
        </p:nvSpPr>
        <p:spPr>
          <a:xfrm>
            <a:off x="127000" y="914400"/>
            <a:ext cx="8864600" cy="5638800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120000"/>
              </a:lnSpc>
            </a:pPr>
            <a:r>
              <a:rPr lang="en-US" altLang="zh-CN" dirty="0">
                <a:solidFill>
                  <a:schemeClr val="tx1"/>
                </a:solidFill>
              </a:rPr>
              <a:t>5. </a:t>
            </a:r>
            <a:r>
              <a:rPr lang="zh-CN" altLang="en-US" dirty="0">
                <a:solidFill>
                  <a:schemeClr val="tx1"/>
                </a:solidFill>
              </a:rPr>
              <a:t>多值依赖与函数依赖的区别</a:t>
            </a:r>
            <a:r>
              <a:rPr lang="en-US" altLang="zh-CN" dirty="0">
                <a:solidFill>
                  <a:schemeClr val="tx1"/>
                </a:solidFill>
              </a:rPr>
              <a:t>:</a:t>
            </a:r>
            <a:endParaRPr lang="en-US" altLang="zh-CN" dirty="0">
              <a:solidFill>
                <a:schemeClr val="tx1"/>
              </a:solidFill>
            </a:endParaRPr>
          </a:p>
          <a:p>
            <a:pPr lvl="1" eaLnBrk="1" hangingPunct="1">
              <a:lnSpc>
                <a:spcPct val="120000"/>
              </a:lnSpc>
            </a:pPr>
            <a:r>
              <a:rPr lang="zh-CN" altLang="en-US" dirty="0"/>
              <a:t>函数依赖规定某些元组不能出现在关系中</a:t>
            </a:r>
            <a:endParaRPr lang="zh-CN" altLang="en-US" dirty="0"/>
          </a:p>
          <a:p>
            <a:pPr lvl="1" eaLnBrk="1" hangingPunct="1">
              <a:buNone/>
            </a:pPr>
            <a:r>
              <a:rPr lang="zh-CN" altLang="en-US" dirty="0"/>
              <a:t>	多值依赖要求某种形式的其它元组必须在关系中</a:t>
            </a:r>
            <a:endParaRPr lang="zh-CN" altLang="en-US" dirty="0"/>
          </a:p>
          <a:p>
            <a:pPr lvl="1" eaLnBrk="1" hangingPunct="1"/>
            <a:r>
              <a:rPr lang="zh-CN" altLang="en-US" dirty="0"/>
              <a:t>有效性范围不同</a:t>
            </a:r>
            <a:endParaRPr lang="zh-CN" altLang="en-US" dirty="0"/>
          </a:p>
          <a:p>
            <a:pPr lvl="1" eaLnBrk="1" hangingPunct="1">
              <a:buClr>
                <a:schemeClr val="tx1"/>
              </a:buClr>
            </a:pPr>
            <a:r>
              <a:rPr lang="en-US" altLang="zh-CN" sz="2400" dirty="0"/>
              <a:t>X → Y</a:t>
            </a:r>
            <a:r>
              <a:rPr lang="zh-CN" altLang="en-US" sz="2400" dirty="0"/>
              <a:t>的有效性仅决定于</a:t>
            </a:r>
            <a:r>
              <a:rPr lang="en-US" altLang="zh-CN" sz="2400" dirty="0"/>
              <a:t>X</a:t>
            </a:r>
            <a:r>
              <a:rPr lang="zh-CN" altLang="en-US" sz="2400" dirty="0"/>
              <a:t>、</a:t>
            </a:r>
            <a:r>
              <a:rPr lang="en-US" altLang="zh-CN" sz="2400" dirty="0"/>
              <a:t>Y</a:t>
            </a:r>
            <a:r>
              <a:rPr lang="zh-CN" altLang="en-US" sz="2400" dirty="0"/>
              <a:t>属性集上的值</a:t>
            </a:r>
            <a:endParaRPr lang="zh-CN" altLang="en-US" sz="2400" dirty="0"/>
          </a:p>
          <a:p>
            <a:pPr lvl="1" eaLnBrk="1" hangingPunct="1">
              <a:buClr>
                <a:schemeClr val="tx1"/>
              </a:buClr>
            </a:pPr>
            <a:r>
              <a:rPr lang="en-US" altLang="zh-CN" sz="2400" dirty="0"/>
              <a:t>X →→ Y</a:t>
            </a:r>
            <a:r>
              <a:rPr lang="zh-CN" altLang="en-US" sz="2400" dirty="0"/>
              <a:t>不仅涉及属性组 </a:t>
            </a:r>
            <a:r>
              <a:rPr lang="en-US" altLang="zh-CN" sz="2400" dirty="0"/>
              <a:t>X</a:t>
            </a:r>
            <a:r>
              <a:rPr lang="zh-CN" altLang="en-US" sz="2400" dirty="0"/>
              <a:t>和 </a:t>
            </a:r>
            <a:r>
              <a:rPr lang="en-US" altLang="zh-CN" sz="2400" dirty="0"/>
              <a:t>Y</a:t>
            </a:r>
            <a:r>
              <a:rPr lang="zh-CN" altLang="en-US" sz="2400" dirty="0"/>
              <a:t>，而且涉及</a:t>
            </a:r>
            <a:r>
              <a:rPr lang="en-US" altLang="zh-CN" sz="2400" dirty="0"/>
              <a:t>U</a:t>
            </a:r>
            <a:r>
              <a:rPr lang="zh-CN" altLang="en-US" sz="2400" dirty="0"/>
              <a:t>中其余属性</a:t>
            </a:r>
            <a:r>
              <a:rPr lang="en-US" altLang="zh-CN" sz="2400" dirty="0"/>
              <a:t>Z</a:t>
            </a:r>
            <a:endParaRPr lang="en-US" altLang="zh-CN" sz="2400" dirty="0"/>
          </a:p>
          <a:p>
            <a:pPr lvl="1" eaLnBrk="1" hangingPunct="1">
              <a:buClr>
                <a:schemeClr val="tx1"/>
              </a:buClr>
            </a:pPr>
            <a:r>
              <a:rPr lang="zh-CN" altLang="en-US" sz="2400" dirty="0"/>
              <a:t>若</a:t>
            </a:r>
            <a:r>
              <a:rPr lang="en-US" altLang="zh-CN" sz="2400" dirty="0"/>
              <a:t>X→Y</a:t>
            </a:r>
            <a:r>
              <a:rPr lang="zh-CN" altLang="en-US" sz="2400" dirty="0"/>
              <a:t>在</a:t>
            </a:r>
            <a:r>
              <a:rPr lang="en-US" altLang="zh-CN" sz="2400" dirty="0"/>
              <a:t>R(U)</a:t>
            </a:r>
            <a:r>
              <a:rPr lang="zh-CN" altLang="en-US" sz="2400" dirty="0"/>
              <a:t>上成立，则对于任何</a:t>
            </a:r>
            <a:r>
              <a:rPr lang="en-US" altLang="zh-CN" sz="2400" dirty="0"/>
              <a:t>Y′</a:t>
            </a:r>
            <a:r>
              <a:rPr lang="en-US" altLang="zh-CN" sz="2400" dirty="0">
                <a:sym typeface="Symbol" panose="05050102010706020507" pitchFamily="18" charset="2"/>
              </a:rPr>
              <a:t></a:t>
            </a:r>
            <a:r>
              <a:rPr lang="en-US" altLang="zh-CN" sz="2400" dirty="0"/>
              <a:t> Y</a:t>
            </a:r>
            <a:r>
              <a:rPr lang="zh-CN" altLang="en-US" sz="2400" dirty="0"/>
              <a:t>，均有</a:t>
            </a:r>
            <a:r>
              <a:rPr lang="en-US" altLang="zh-CN" sz="2400" dirty="0"/>
              <a:t>X</a:t>
            </a:r>
            <a:r>
              <a:rPr lang="en-US" altLang="zh-CN" sz="2400" b="0" dirty="0">
                <a:sym typeface="Symbol" panose="05050102010706020507" pitchFamily="18" charset="2"/>
              </a:rPr>
              <a:t></a:t>
            </a:r>
            <a:r>
              <a:rPr lang="en-US" altLang="zh-CN" sz="2400" dirty="0"/>
              <a:t>Y ′</a:t>
            </a:r>
            <a:r>
              <a:rPr lang="zh-CN" altLang="en-US" sz="2400" dirty="0"/>
              <a:t>成立</a:t>
            </a:r>
            <a:r>
              <a:rPr lang="en-US" altLang="zh-CN" sz="2400" dirty="0"/>
              <a:t>; </a:t>
            </a:r>
            <a:r>
              <a:rPr lang="zh-CN" altLang="en-US" sz="2400" dirty="0"/>
              <a:t>多值依赖</a:t>
            </a:r>
            <a:r>
              <a:rPr lang="en-US" altLang="zh-CN" sz="2400" dirty="0"/>
              <a:t>X→→Y</a:t>
            </a:r>
            <a:r>
              <a:rPr lang="zh-CN" altLang="en-US" sz="2400" dirty="0"/>
              <a:t>若在</a:t>
            </a:r>
            <a:r>
              <a:rPr lang="en-US" altLang="zh-CN" sz="2400" dirty="0"/>
              <a:t>R(U)</a:t>
            </a:r>
            <a:r>
              <a:rPr lang="zh-CN" altLang="en-US" sz="2400" dirty="0"/>
              <a:t>上成立，不能断言对于任何</a:t>
            </a:r>
            <a:r>
              <a:rPr lang="en-US" altLang="zh-CN" sz="2400" dirty="0"/>
              <a:t>Y' </a:t>
            </a:r>
            <a:r>
              <a:rPr lang="en-US" altLang="zh-CN" sz="2400" dirty="0">
                <a:sym typeface="Symbol" panose="05050102010706020507" pitchFamily="18" charset="2"/>
              </a:rPr>
              <a:t></a:t>
            </a:r>
            <a:r>
              <a:rPr lang="en-US" altLang="zh-CN" sz="2400" dirty="0"/>
              <a:t> Y</a:t>
            </a:r>
            <a:r>
              <a:rPr lang="zh-CN" altLang="en-US" sz="2400" dirty="0"/>
              <a:t>有</a:t>
            </a:r>
            <a:r>
              <a:rPr lang="en-US" altLang="zh-CN" sz="2400" dirty="0"/>
              <a:t>X→→Y' </a:t>
            </a:r>
            <a:r>
              <a:rPr lang="zh-CN" altLang="en-US" sz="2400" dirty="0"/>
              <a:t>成立</a:t>
            </a:r>
            <a:endParaRPr lang="zh-CN" altLang="en-US" sz="2400" dirty="0"/>
          </a:p>
          <a:p>
            <a:pPr lvl="1" eaLnBrk="1" hangingPunct="1">
              <a:buClr>
                <a:schemeClr val="tx1"/>
              </a:buClr>
            </a:pPr>
            <a:r>
              <a:rPr lang="zh-CN" altLang="en-US" sz="2400" dirty="0"/>
              <a:t>若</a:t>
            </a:r>
            <a:r>
              <a:rPr lang="en-US" altLang="zh-CN" sz="2400" dirty="0"/>
              <a:t>X→→Y</a:t>
            </a:r>
            <a:r>
              <a:rPr lang="zh-CN" altLang="en-US" sz="2400" dirty="0"/>
              <a:t>在</a:t>
            </a:r>
            <a:r>
              <a:rPr lang="en-US" altLang="zh-CN" sz="2400" dirty="0"/>
              <a:t>U</a:t>
            </a:r>
            <a:r>
              <a:rPr lang="zh-CN" altLang="en-US" sz="2400" dirty="0"/>
              <a:t>上成立，则在</a:t>
            </a:r>
            <a:r>
              <a:rPr lang="en-US" altLang="zh-CN" sz="2400" dirty="0"/>
              <a:t>W</a:t>
            </a:r>
            <a:r>
              <a:rPr lang="zh-CN" altLang="en-US" sz="2400" dirty="0"/>
              <a:t>（</a:t>
            </a:r>
            <a:r>
              <a:rPr lang="en-US" altLang="zh-CN" sz="2400" dirty="0"/>
              <a:t>X Y </a:t>
            </a:r>
            <a:r>
              <a:rPr lang="en-US" altLang="zh-CN" sz="2400" dirty="0">
                <a:sym typeface="Symbol" panose="05050102010706020507" pitchFamily="18" charset="2"/>
              </a:rPr>
              <a:t></a:t>
            </a:r>
            <a:r>
              <a:rPr lang="en-US" altLang="zh-CN" sz="2400" dirty="0"/>
              <a:t> W </a:t>
            </a:r>
            <a:r>
              <a:rPr lang="en-US" altLang="zh-CN" sz="2400" dirty="0">
                <a:sym typeface="Symbol" panose="05050102010706020507" pitchFamily="18" charset="2"/>
              </a:rPr>
              <a:t></a:t>
            </a:r>
            <a:r>
              <a:rPr lang="en-US" altLang="zh-CN" sz="2400" dirty="0"/>
              <a:t> U</a:t>
            </a:r>
            <a:r>
              <a:rPr lang="zh-CN" altLang="en-US" sz="2400" dirty="0"/>
              <a:t>）上一定成立；反之则不然，即</a:t>
            </a:r>
            <a:r>
              <a:rPr lang="en-US" altLang="zh-CN" sz="2400" dirty="0">
                <a:solidFill>
                  <a:srgbClr val="0000CC"/>
                </a:solidFill>
              </a:rPr>
              <a:t>X→→Y</a:t>
            </a:r>
            <a:r>
              <a:rPr lang="zh-CN" altLang="en-US" sz="2400" dirty="0">
                <a:solidFill>
                  <a:srgbClr val="0000CC"/>
                </a:solidFill>
              </a:rPr>
              <a:t>在</a:t>
            </a:r>
            <a:r>
              <a:rPr lang="en-US" altLang="zh-CN" sz="2400" dirty="0">
                <a:solidFill>
                  <a:srgbClr val="0000CC"/>
                </a:solidFill>
              </a:rPr>
              <a:t>W</a:t>
            </a:r>
            <a:r>
              <a:rPr lang="zh-CN" altLang="en-US" sz="2400" dirty="0">
                <a:solidFill>
                  <a:srgbClr val="0000CC"/>
                </a:solidFill>
              </a:rPr>
              <a:t>（</a:t>
            </a:r>
            <a:r>
              <a:rPr lang="en-US" altLang="zh-CN" sz="2400" dirty="0">
                <a:solidFill>
                  <a:srgbClr val="0000CC"/>
                </a:solidFill>
              </a:rPr>
              <a:t>W </a:t>
            </a:r>
            <a:r>
              <a:rPr lang="en-US" altLang="zh-CN" sz="2400" dirty="0">
                <a:solidFill>
                  <a:srgbClr val="0000CC"/>
                </a:solidFill>
                <a:sym typeface="Symbol" panose="05050102010706020507" pitchFamily="18" charset="2"/>
              </a:rPr>
              <a:t></a:t>
            </a:r>
            <a:r>
              <a:rPr lang="en-US" altLang="zh-CN" sz="2400" dirty="0">
                <a:solidFill>
                  <a:srgbClr val="0000CC"/>
                </a:solidFill>
              </a:rPr>
              <a:t>  U</a:t>
            </a:r>
            <a:r>
              <a:rPr lang="zh-CN" altLang="en-US" sz="2400" dirty="0">
                <a:solidFill>
                  <a:srgbClr val="0000CC"/>
                </a:solidFill>
              </a:rPr>
              <a:t>）上成立</a:t>
            </a:r>
            <a:r>
              <a:rPr lang="zh-CN" altLang="en-US" sz="2400" dirty="0"/>
              <a:t>，在</a:t>
            </a:r>
            <a:r>
              <a:rPr lang="en-US" altLang="zh-CN" sz="2400" dirty="0"/>
              <a:t>U</a:t>
            </a:r>
            <a:r>
              <a:rPr lang="zh-CN" altLang="en-US" sz="2400" dirty="0"/>
              <a:t>上并不一定成立</a:t>
            </a:r>
            <a:r>
              <a:rPr lang="en-US" altLang="zh-CN" sz="2400" dirty="0"/>
              <a:t>(</a:t>
            </a:r>
            <a:r>
              <a:rPr lang="zh-CN" altLang="en-US" dirty="0">
                <a:solidFill>
                  <a:srgbClr val="FF3300"/>
                </a:solidFill>
              </a:rPr>
              <a:t>嵌入型</a:t>
            </a:r>
            <a:r>
              <a:rPr lang="en-US" altLang="zh-CN" dirty="0">
                <a:solidFill>
                  <a:srgbClr val="FF3300"/>
                </a:solidFill>
                <a:latin typeface="Arial" panose="020B0604020202020204" pitchFamily="34" charset="0"/>
              </a:rPr>
              <a:t>MVD</a:t>
            </a:r>
            <a:r>
              <a:rPr lang="en-US" altLang="zh-CN" sz="2400" dirty="0"/>
              <a:t>)</a:t>
            </a:r>
            <a:endParaRPr lang="en-US" altLang="zh-CN" sz="2400" dirty="0"/>
          </a:p>
        </p:txBody>
      </p:sp>
      <p:sp>
        <p:nvSpPr>
          <p:cNvPr id="43012" name="Rectangle 3"/>
          <p:cNvSpPr>
            <a:spLocks noGrp="1"/>
          </p:cNvSpPr>
          <p:nvPr>
            <p:ph type="title"/>
          </p:nvPr>
        </p:nvSpPr>
        <p:spPr>
          <a:xfrm>
            <a:off x="685800" y="0"/>
            <a:ext cx="77724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u="sng" dirty="0"/>
              <a:t>6.4.6  </a:t>
            </a:r>
            <a:r>
              <a:rPr lang="zh-CN" altLang="en-US" u="sng" dirty="0"/>
              <a:t>多值依赖</a:t>
            </a:r>
            <a:endParaRPr lang="zh-CN" altLang="en-US" u="sng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4034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44035" name="Rectangle 2"/>
          <p:cNvSpPr>
            <a:spLocks noGrp="1"/>
          </p:cNvSpPr>
          <p:nvPr>
            <p:ph type="title"/>
          </p:nvPr>
        </p:nvSpPr>
        <p:spPr>
          <a:xfrm>
            <a:off x="685800" y="0"/>
            <a:ext cx="77724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u="sng" dirty="0"/>
              <a:t>6.4.6  </a:t>
            </a:r>
            <a:r>
              <a:rPr lang="zh-CN" altLang="en-US" u="sng" dirty="0"/>
              <a:t>多值依赖</a:t>
            </a:r>
            <a:endParaRPr lang="zh-CN" altLang="en-US" u="sng" dirty="0"/>
          </a:p>
        </p:txBody>
      </p:sp>
      <p:graphicFrame>
        <p:nvGraphicFramePr>
          <p:cNvPr id="44036" name="Object 3"/>
          <p:cNvGraphicFramePr>
            <a:graphicFrameLocks noChangeAspect="1"/>
          </p:cNvGraphicFramePr>
          <p:nvPr/>
        </p:nvGraphicFramePr>
        <p:xfrm>
          <a:off x="0" y="1143000"/>
          <a:ext cx="7239000" cy="2603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" r:id="rId1" imgW="5629910" imgH="1935480" progId="Word.Document.8">
                  <p:embed/>
                </p:oleObj>
              </mc:Choice>
              <mc:Fallback>
                <p:oleObj name="" r:id="rId1" imgW="5629910" imgH="1935480" progId="Word.Document.8">
                  <p:embed/>
                  <p:pic>
                    <p:nvPicPr>
                      <p:cNvPr id="0" name="Picture 307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0" y="1143000"/>
                        <a:ext cx="7239000" cy="2603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4037" name="Group 4"/>
          <p:cNvGrpSpPr/>
          <p:nvPr/>
        </p:nvGrpSpPr>
        <p:grpSpPr>
          <a:xfrm>
            <a:off x="381000" y="4019550"/>
            <a:ext cx="6677025" cy="2109788"/>
            <a:chOff x="781" y="2739"/>
            <a:chExt cx="4206" cy="1329"/>
          </a:xfrm>
        </p:grpSpPr>
        <p:sp>
          <p:nvSpPr>
            <p:cNvPr id="44040" name="Rectangle 5"/>
            <p:cNvSpPr/>
            <p:nvPr/>
          </p:nvSpPr>
          <p:spPr>
            <a:xfrm>
              <a:off x="1227" y="2746"/>
              <a:ext cx="162" cy="26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Font typeface="Wingdings" panose="05000000000000000000" pitchFamily="2" charset="2"/>
                <a:buChar char="§"/>
                <a:defRPr kumimoji="1" sz="3200">
                  <a:solidFill>
                    <a:srgbClr val="FF3300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kumimoji="1"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b="1">
                  <a:solidFill>
                    <a:schemeClr val="tx1"/>
                  </a:solidFill>
                  <a:latin typeface="+mn-lt"/>
                  <a:ea typeface="楷体_GB2312" pitchFamily="49" charset="-12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Char char="•"/>
                <a:defRPr kumimoji="1"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Font typeface="Wingdings" panose="05000000000000000000" pitchFamily="2" charset="2"/>
                <a:buChar char="§"/>
                <a:defRPr kumimoji="1" sz="2000" b="1">
                  <a:solidFill>
                    <a:schemeClr val="tx1"/>
                  </a:solidFill>
                  <a:latin typeface="+mn-lt"/>
                  <a:ea typeface="仿宋_GB2312" pitchFamily="49" charset="-122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 dirty="0">
                  <a:solidFill>
                    <a:srgbClr val="000000"/>
                  </a:solidFill>
                </a:rPr>
                <a:t>A</a:t>
              </a:r>
              <a:endParaRPr lang="en-US" altLang="zh-CN" sz="2800" dirty="0">
                <a:solidFill>
                  <a:schemeClr val="tx1"/>
                </a:solidFill>
              </a:endParaRPr>
            </a:p>
          </p:txBody>
        </p:sp>
        <p:sp>
          <p:nvSpPr>
            <p:cNvPr id="44041" name="Rectangle 6"/>
            <p:cNvSpPr/>
            <p:nvPr/>
          </p:nvSpPr>
          <p:spPr>
            <a:xfrm>
              <a:off x="2282" y="2746"/>
              <a:ext cx="149" cy="26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Font typeface="Wingdings" panose="05000000000000000000" pitchFamily="2" charset="2"/>
                <a:buChar char="§"/>
                <a:defRPr kumimoji="1" sz="3200">
                  <a:solidFill>
                    <a:srgbClr val="FF3300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kumimoji="1"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b="1">
                  <a:solidFill>
                    <a:schemeClr val="tx1"/>
                  </a:solidFill>
                  <a:latin typeface="+mn-lt"/>
                  <a:ea typeface="楷体_GB2312" pitchFamily="49" charset="-12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Char char="•"/>
                <a:defRPr kumimoji="1"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Font typeface="Wingdings" panose="05000000000000000000" pitchFamily="2" charset="2"/>
                <a:buChar char="§"/>
                <a:defRPr kumimoji="1" sz="2000" b="1">
                  <a:solidFill>
                    <a:schemeClr val="tx1"/>
                  </a:solidFill>
                  <a:latin typeface="+mn-lt"/>
                  <a:ea typeface="仿宋_GB2312" pitchFamily="49" charset="-122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 dirty="0">
                  <a:solidFill>
                    <a:srgbClr val="000000"/>
                  </a:solidFill>
                </a:rPr>
                <a:t>B</a:t>
              </a:r>
              <a:endParaRPr lang="en-US" altLang="zh-CN" sz="2800" dirty="0">
                <a:solidFill>
                  <a:schemeClr val="tx1"/>
                </a:solidFill>
              </a:endParaRPr>
            </a:p>
          </p:txBody>
        </p:sp>
        <p:sp>
          <p:nvSpPr>
            <p:cNvPr id="44042" name="Rectangle 7"/>
            <p:cNvSpPr/>
            <p:nvPr/>
          </p:nvSpPr>
          <p:spPr>
            <a:xfrm>
              <a:off x="3330" y="2746"/>
              <a:ext cx="162" cy="26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Font typeface="Wingdings" panose="05000000000000000000" pitchFamily="2" charset="2"/>
                <a:buChar char="§"/>
                <a:defRPr kumimoji="1" sz="3200">
                  <a:solidFill>
                    <a:srgbClr val="FF3300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kumimoji="1"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b="1">
                  <a:solidFill>
                    <a:schemeClr val="tx1"/>
                  </a:solidFill>
                  <a:latin typeface="+mn-lt"/>
                  <a:ea typeface="楷体_GB2312" pitchFamily="49" charset="-12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Char char="•"/>
                <a:defRPr kumimoji="1"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Font typeface="Wingdings" panose="05000000000000000000" pitchFamily="2" charset="2"/>
                <a:buChar char="§"/>
                <a:defRPr kumimoji="1" sz="2000" b="1">
                  <a:solidFill>
                    <a:schemeClr val="tx1"/>
                  </a:solidFill>
                  <a:latin typeface="+mn-lt"/>
                  <a:ea typeface="仿宋_GB2312" pitchFamily="49" charset="-122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 dirty="0">
                  <a:solidFill>
                    <a:srgbClr val="000000"/>
                  </a:solidFill>
                </a:rPr>
                <a:t>C</a:t>
              </a:r>
              <a:endParaRPr lang="en-US" altLang="zh-CN" sz="2800" dirty="0">
                <a:solidFill>
                  <a:schemeClr val="tx1"/>
                </a:solidFill>
              </a:endParaRPr>
            </a:p>
          </p:txBody>
        </p:sp>
        <p:sp>
          <p:nvSpPr>
            <p:cNvPr id="44043" name="Rectangle 8"/>
            <p:cNvSpPr/>
            <p:nvPr/>
          </p:nvSpPr>
          <p:spPr>
            <a:xfrm>
              <a:off x="4376" y="2746"/>
              <a:ext cx="162" cy="26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Font typeface="Wingdings" panose="05000000000000000000" pitchFamily="2" charset="2"/>
                <a:buChar char="§"/>
                <a:defRPr kumimoji="1" sz="3200">
                  <a:solidFill>
                    <a:srgbClr val="FF3300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kumimoji="1"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b="1">
                  <a:solidFill>
                    <a:schemeClr val="tx1"/>
                  </a:solidFill>
                  <a:latin typeface="+mn-lt"/>
                  <a:ea typeface="楷体_GB2312" pitchFamily="49" charset="-12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Char char="•"/>
                <a:defRPr kumimoji="1"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Font typeface="Wingdings" panose="05000000000000000000" pitchFamily="2" charset="2"/>
                <a:buChar char="§"/>
                <a:defRPr kumimoji="1" sz="2000" b="1">
                  <a:solidFill>
                    <a:schemeClr val="tx1"/>
                  </a:solidFill>
                  <a:latin typeface="+mn-lt"/>
                  <a:ea typeface="仿宋_GB2312" pitchFamily="49" charset="-122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 dirty="0">
                  <a:solidFill>
                    <a:srgbClr val="000000"/>
                  </a:solidFill>
                </a:rPr>
                <a:t>D</a:t>
              </a:r>
              <a:endParaRPr lang="en-US" altLang="zh-CN" sz="2800" dirty="0">
                <a:solidFill>
                  <a:schemeClr val="tx1"/>
                </a:solidFill>
              </a:endParaRPr>
            </a:p>
          </p:txBody>
        </p:sp>
        <p:sp>
          <p:nvSpPr>
            <p:cNvPr id="44044" name="Line 9"/>
            <p:cNvSpPr/>
            <p:nvPr/>
          </p:nvSpPr>
          <p:spPr>
            <a:xfrm>
              <a:off x="781" y="2739"/>
              <a:ext cx="5" cy="1"/>
            </a:xfrm>
            <a:prstGeom prst="line">
              <a:avLst/>
            </a:prstGeom>
            <a:ln w="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4045" name="Line 10"/>
            <p:cNvSpPr/>
            <p:nvPr/>
          </p:nvSpPr>
          <p:spPr>
            <a:xfrm>
              <a:off x="781" y="2739"/>
              <a:ext cx="1" cy="4"/>
            </a:xfrm>
            <a:prstGeom prst="line">
              <a:avLst/>
            </a:prstGeom>
            <a:ln w="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4046" name="Line 11"/>
            <p:cNvSpPr/>
            <p:nvPr/>
          </p:nvSpPr>
          <p:spPr>
            <a:xfrm>
              <a:off x="781" y="2739"/>
              <a:ext cx="5" cy="1"/>
            </a:xfrm>
            <a:prstGeom prst="line">
              <a:avLst/>
            </a:prstGeom>
            <a:ln w="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4047" name="Line 12"/>
            <p:cNvSpPr/>
            <p:nvPr/>
          </p:nvSpPr>
          <p:spPr>
            <a:xfrm>
              <a:off x="781" y="2739"/>
              <a:ext cx="1" cy="4"/>
            </a:xfrm>
            <a:prstGeom prst="line">
              <a:avLst/>
            </a:prstGeom>
            <a:ln w="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4048" name="Line 13"/>
            <p:cNvSpPr/>
            <p:nvPr/>
          </p:nvSpPr>
          <p:spPr>
            <a:xfrm>
              <a:off x="786" y="2739"/>
              <a:ext cx="1045" cy="1"/>
            </a:xfrm>
            <a:prstGeom prst="line">
              <a:avLst/>
            </a:prstGeom>
            <a:ln w="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4049" name="Line 14"/>
            <p:cNvSpPr/>
            <p:nvPr/>
          </p:nvSpPr>
          <p:spPr>
            <a:xfrm>
              <a:off x="1831" y="2739"/>
              <a:ext cx="5" cy="1"/>
            </a:xfrm>
            <a:prstGeom prst="line">
              <a:avLst/>
            </a:prstGeom>
            <a:ln w="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4050" name="Line 15"/>
            <p:cNvSpPr/>
            <p:nvPr/>
          </p:nvSpPr>
          <p:spPr>
            <a:xfrm>
              <a:off x="1831" y="2739"/>
              <a:ext cx="1" cy="4"/>
            </a:xfrm>
            <a:prstGeom prst="line">
              <a:avLst/>
            </a:prstGeom>
            <a:ln w="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4051" name="Line 16"/>
            <p:cNvSpPr/>
            <p:nvPr/>
          </p:nvSpPr>
          <p:spPr>
            <a:xfrm>
              <a:off x="1836" y="2739"/>
              <a:ext cx="1045" cy="1"/>
            </a:xfrm>
            <a:prstGeom prst="line">
              <a:avLst/>
            </a:prstGeom>
            <a:ln w="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4052" name="Line 17"/>
            <p:cNvSpPr/>
            <p:nvPr/>
          </p:nvSpPr>
          <p:spPr>
            <a:xfrm>
              <a:off x="2881" y="2739"/>
              <a:ext cx="5" cy="1"/>
            </a:xfrm>
            <a:prstGeom prst="line">
              <a:avLst/>
            </a:prstGeom>
            <a:ln w="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4053" name="Line 18"/>
            <p:cNvSpPr/>
            <p:nvPr/>
          </p:nvSpPr>
          <p:spPr>
            <a:xfrm>
              <a:off x="2881" y="2739"/>
              <a:ext cx="1" cy="4"/>
            </a:xfrm>
            <a:prstGeom prst="line">
              <a:avLst/>
            </a:prstGeom>
            <a:ln w="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4054" name="Line 19"/>
            <p:cNvSpPr/>
            <p:nvPr/>
          </p:nvSpPr>
          <p:spPr>
            <a:xfrm>
              <a:off x="2886" y="2739"/>
              <a:ext cx="1046" cy="1"/>
            </a:xfrm>
            <a:prstGeom prst="line">
              <a:avLst/>
            </a:prstGeom>
            <a:ln w="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4055" name="Line 20"/>
            <p:cNvSpPr/>
            <p:nvPr/>
          </p:nvSpPr>
          <p:spPr>
            <a:xfrm>
              <a:off x="3932" y="2739"/>
              <a:ext cx="5" cy="1"/>
            </a:xfrm>
            <a:prstGeom prst="line">
              <a:avLst/>
            </a:prstGeom>
            <a:ln w="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4056" name="Line 21"/>
            <p:cNvSpPr/>
            <p:nvPr/>
          </p:nvSpPr>
          <p:spPr>
            <a:xfrm>
              <a:off x="3932" y="2739"/>
              <a:ext cx="1" cy="4"/>
            </a:xfrm>
            <a:prstGeom prst="line">
              <a:avLst/>
            </a:prstGeom>
            <a:ln w="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4057" name="Line 22"/>
            <p:cNvSpPr/>
            <p:nvPr/>
          </p:nvSpPr>
          <p:spPr>
            <a:xfrm>
              <a:off x="3937" y="2739"/>
              <a:ext cx="1045" cy="1"/>
            </a:xfrm>
            <a:prstGeom prst="line">
              <a:avLst/>
            </a:prstGeom>
            <a:ln w="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4058" name="Line 23"/>
            <p:cNvSpPr/>
            <p:nvPr/>
          </p:nvSpPr>
          <p:spPr>
            <a:xfrm>
              <a:off x="4982" y="2739"/>
              <a:ext cx="5" cy="1"/>
            </a:xfrm>
            <a:prstGeom prst="line">
              <a:avLst/>
            </a:prstGeom>
            <a:ln w="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4059" name="Line 24"/>
            <p:cNvSpPr/>
            <p:nvPr/>
          </p:nvSpPr>
          <p:spPr>
            <a:xfrm>
              <a:off x="4982" y="2739"/>
              <a:ext cx="1" cy="4"/>
            </a:xfrm>
            <a:prstGeom prst="line">
              <a:avLst/>
            </a:prstGeom>
            <a:ln w="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4060" name="Line 25"/>
            <p:cNvSpPr/>
            <p:nvPr/>
          </p:nvSpPr>
          <p:spPr>
            <a:xfrm>
              <a:off x="4982" y="2739"/>
              <a:ext cx="5" cy="1"/>
            </a:xfrm>
            <a:prstGeom prst="line">
              <a:avLst/>
            </a:prstGeom>
            <a:ln w="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4061" name="Line 26"/>
            <p:cNvSpPr/>
            <p:nvPr/>
          </p:nvSpPr>
          <p:spPr>
            <a:xfrm>
              <a:off x="4982" y="2739"/>
              <a:ext cx="1" cy="4"/>
            </a:xfrm>
            <a:prstGeom prst="line">
              <a:avLst/>
            </a:prstGeom>
            <a:ln w="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4062" name="Rectangle 27"/>
            <p:cNvSpPr/>
            <p:nvPr/>
          </p:nvSpPr>
          <p:spPr>
            <a:xfrm>
              <a:off x="781" y="2743"/>
              <a:ext cx="5" cy="258"/>
            </a:xfrm>
            <a:prstGeom prst="rect">
              <a:avLst/>
            </a:prstGeom>
            <a:solidFill>
              <a:srgbClr val="000000"/>
            </a:solidFill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Font typeface="Wingdings" panose="05000000000000000000" pitchFamily="2" charset="2"/>
                <a:buChar char="§"/>
                <a:defRPr kumimoji="1" sz="3200">
                  <a:solidFill>
                    <a:srgbClr val="FF3300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kumimoji="1"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b="1">
                  <a:solidFill>
                    <a:schemeClr val="tx1"/>
                  </a:solidFill>
                  <a:latin typeface="+mn-lt"/>
                  <a:ea typeface="楷体_GB2312" pitchFamily="49" charset="-12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Char char="•"/>
                <a:defRPr kumimoji="1"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Font typeface="Wingdings" panose="05000000000000000000" pitchFamily="2" charset="2"/>
                <a:buChar char="§"/>
                <a:defRPr kumimoji="1" sz="2000" b="1">
                  <a:solidFill>
                    <a:schemeClr val="tx1"/>
                  </a:solidFill>
                  <a:latin typeface="+mn-lt"/>
                  <a:ea typeface="仿宋_GB2312" pitchFamily="49" charset="-122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zh-CN" sz="1400" dirty="0">
                <a:solidFill>
                  <a:schemeClr val="tx1"/>
                </a:solidFill>
              </a:endParaRPr>
            </a:p>
          </p:txBody>
        </p:sp>
        <p:sp>
          <p:nvSpPr>
            <p:cNvPr id="44063" name="Line 28"/>
            <p:cNvSpPr/>
            <p:nvPr/>
          </p:nvSpPr>
          <p:spPr>
            <a:xfrm>
              <a:off x="1831" y="2743"/>
              <a:ext cx="1" cy="258"/>
            </a:xfrm>
            <a:prstGeom prst="line">
              <a:avLst/>
            </a:prstGeom>
            <a:ln w="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4064" name="Rectangle 29"/>
            <p:cNvSpPr/>
            <p:nvPr/>
          </p:nvSpPr>
          <p:spPr>
            <a:xfrm>
              <a:off x="2881" y="2743"/>
              <a:ext cx="5" cy="258"/>
            </a:xfrm>
            <a:prstGeom prst="rect">
              <a:avLst/>
            </a:prstGeom>
            <a:solidFill>
              <a:srgbClr val="000000"/>
            </a:solidFill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Font typeface="Wingdings" panose="05000000000000000000" pitchFamily="2" charset="2"/>
                <a:buChar char="§"/>
                <a:defRPr kumimoji="1" sz="3200">
                  <a:solidFill>
                    <a:srgbClr val="FF3300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kumimoji="1"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b="1">
                  <a:solidFill>
                    <a:schemeClr val="tx1"/>
                  </a:solidFill>
                  <a:latin typeface="+mn-lt"/>
                  <a:ea typeface="楷体_GB2312" pitchFamily="49" charset="-12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Char char="•"/>
                <a:defRPr kumimoji="1"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Font typeface="Wingdings" panose="05000000000000000000" pitchFamily="2" charset="2"/>
                <a:buChar char="§"/>
                <a:defRPr kumimoji="1" sz="2000" b="1">
                  <a:solidFill>
                    <a:schemeClr val="tx1"/>
                  </a:solidFill>
                  <a:latin typeface="+mn-lt"/>
                  <a:ea typeface="仿宋_GB2312" pitchFamily="49" charset="-122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zh-CN" sz="1400" dirty="0">
                <a:solidFill>
                  <a:schemeClr val="tx1"/>
                </a:solidFill>
              </a:endParaRPr>
            </a:p>
          </p:txBody>
        </p:sp>
        <p:sp>
          <p:nvSpPr>
            <p:cNvPr id="44065" name="Line 30"/>
            <p:cNvSpPr/>
            <p:nvPr/>
          </p:nvSpPr>
          <p:spPr>
            <a:xfrm>
              <a:off x="2881" y="2743"/>
              <a:ext cx="1" cy="258"/>
            </a:xfrm>
            <a:prstGeom prst="line">
              <a:avLst/>
            </a:prstGeom>
            <a:ln w="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4066" name="Line 31"/>
            <p:cNvSpPr/>
            <p:nvPr/>
          </p:nvSpPr>
          <p:spPr>
            <a:xfrm>
              <a:off x="3932" y="2743"/>
              <a:ext cx="1" cy="258"/>
            </a:xfrm>
            <a:prstGeom prst="line">
              <a:avLst/>
            </a:prstGeom>
            <a:ln w="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4067" name="Line 32"/>
            <p:cNvSpPr/>
            <p:nvPr/>
          </p:nvSpPr>
          <p:spPr>
            <a:xfrm>
              <a:off x="4982" y="2743"/>
              <a:ext cx="1" cy="258"/>
            </a:xfrm>
            <a:prstGeom prst="line">
              <a:avLst/>
            </a:prstGeom>
            <a:ln w="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4068" name="Rectangle 33"/>
            <p:cNvSpPr/>
            <p:nvPr/>
          </p:nvSpPr>
          <p:spPr>
            <a:xfrm>
              <a:off x="1200" y="3010"/>
              <a:ext cx="224" cy="26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Font typeface="Wingdings" panose="05000000000000000000" pitchFamily="2" charset="2"/>
                <a:buChar char="§"/>
                <a:defRPr kumimoji="1" sz="3200">
                  <a:solidFill>
                    <a:srgbClr val="FF3300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kumimoji="1"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b="1">
                  <a:solidFill>
                    <a:schemeClr val="tx1"/>
                  </a:solidFill>
                  <a:latin typeface="+mn-lt"/>
                  <a:ea typeface="楷体_GB2312" pitchFamily="49" charset="-12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Char char="•"/>
                <a:defRPr kumimoji="1"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Font typeface="Wingdings" panose="05000000000000000000" pitchFamily="2" charset="2"/>
                <a:buChar char="§"/>
                <a:defRPr kumimoji="1" sz="2000" b="1">
                  <a:solidFill>
                    <a:schemeClr val="tx1"/>
                  </a:solidFill>
                  <a:latin typeface="+mn-lt"/>
                  <a:ea typeface="仿宋_GB2312" pitchFamily="49" charset="-122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 dirty="0">
                  <a:solidFill>
                    <a:srgbClr val="000000"/>
                  </a:solidFill>
                </a:rPr>
                <a:t>a1</a:t>
              </a:r>
              <a:endParaRPr lang="en-US" altLang="zh-CN" sz="2800" dirty="0">
                <a:solidFill>
                  <a:schemeClr val="tx1"/>
                </a:solidFill>
              </a:endParaRPr>
            </a:p>
          </p:txBody>
        </p:sp>
        <p:sp>
          <p:nvSpPr>
            <p:cNvPr id="44069" name="Rectangle 34"/>
            <p:cNvSpPr/>
            <p:nvPr/>
          </p:nvSpPr>
          <p:spPr>
            <a:xfrm>
              <a:off x="2245" y="3010"/>
              <a:ext cx="237" cy="26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Font typeface="Wingdings" panose="05000000000000000000" pitchFamily="2" charset="2"/>
                <a:buChar char="§"/>
                <a:defRPr kumimoji="1" sz="3200">
                  <a:solidFill>
                    <a:srgbClr val="FF3300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kumimoji="1"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b="1">
                  <a:solidFill>
                    <a:schemeClr val="tx1"/>
                  </a:solidFill>
                  <a:latin typeface="+mn-lt"/>
                  <a:ea typeface="楷体_GB2312" pitchFamily="49" charset="-12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Char char="•"/>
                <a:defRPr kumimoji="1"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Font typeface="Wingdings" panose="05000000000000000000" pitchFamily="2" charset="2"/>
                <a:buChar char="§"/>
                <a:defRPr kumimoji="1" sz="2000" b="1">
                  <a:solidFill>
                    <a:schemeClr val="tx1"/>
                  </a:solidFill>
                  <a:latin typeface="+mn-lt"/>
                  <a:ea typeface="仿宋_GB2312" pitchFamily="49" charset="-122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 dirty="0">
                  <a:solidFill>
                    <a:srgbClr val="000000"/>
                  </a:solidFill>
                </a:rPr>
                <a:t>b1</a:t>
              </a:r>
              <a:endParaRPr lang="en-US" altLang="zh-CN" sz="2800" dirty="0">
                <a:solidFill>
                  <a:schemeClr val="tx1"/>
                </a:solidFill>
              </a:endParaRPr>
            </a:p>
          </p:txBody>
        </p:sp>
        <p:sp>
          <p:nvSpPr>
            <p:cNvPr id="44070" name="Rectangle 35"/>
            <p:cNvSpPr/>
            <p:nvPr/>
          </p:nvSpPr>
          <p:spPr>
            <a:xfrm>
              <a:off x="3298" y="3010"/>
              <a:ext cx="211" cy="26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Font typeface="Wingdings" panose="05000000000000000000" pitchFamily="2" charset="2"/>
                <a:buChar char="§"/>
                <a:defRPr kumimoji="1" sz="3200">
                  <a:solidFill>
                    <a:srgbClr val="FF3300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kumimoji="1"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b="1">
                  <a:solidFill>
                    <a:schemeClr val="tx1"/>
                  </a:solidFill>
                  <a:latin typeface="+mn-lt"/>
                  <a:ea typeface="楷体_GB2312" pitchFamily="49" charset="-12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Char char="•"/>
                <a:defRPr kumimoji="1"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Font typeface="Wingdings" panose="05000000000000000000" pitchFamily="2" charset="2"/>
                <a:buChar char="§"/>
                <a:defRPr kumimoji="1" sz="2000" b="1">
                  <a:solidFill>
                    <a:schemeClr val="tx1"/>
                  </a:solidFill>
                  <a:latin typeface="+mn-lt"/>
                  <a:ea typeface="仿宋_GB2312" pitchFamily="49" charset="-122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 dirty="0">
                  <a:solidFill>
                    <a:srgbClr val="000000"/>
                  </a:solidFill>
                </a:rPr>
                <a:t>c1</a:t>
              </a:r>
              <a:endParaRPr lang="en-US" altLang="zh-CN" sz="2800" dirty="0">
                <a:solidFill>
                  <a:schemeClr val="tx1"/>
                </a:solidFill>
              </a:endParaRPr>
            </a:p>
          </p:txBody>
        </p:sp>
        <p:sp>
          <p:nvSpPr>
            <p:cNvPr id="44071" name="Rectangle 36"/>
            <p:cNvSpPr/>
            <p:nvPr/>
          </p:nvSpPr>
          <p:spPr>
            <a:xfrm>
              <a:off x="4343" y="3010"/>
              <a:ext cx="237" cy="26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Font typeface="Wingdings" panose="05000000000000000000" pitchFamily="2" charset="2"/>
                <a:buChar char="§"/>
                <a:defRPr kumimoji="1" sz="3200">
                  <a:solidFill>
                    <a:srgbClr val="FF3300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kumimoji="1"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b="1">
                  <a:solidFill>
                    <a:schemeClr val="tx1"/>
                  </a:solidFill>
                  <a:latin typeface="+mn-lt"/>
                  <a:ea typeface="楷体_GB2312" pitchFamily="49" charset="-12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Char char="•"/>
                <a:defRPr kumimoji="1"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Font typeface="Wingdings" panose="05000000000000000000" pitchFamily="2" charset="2"/>
                <a:buChar char="§"/>
                <a:defRPr kumimoji="1" sz="2000" b="1">
                  <a:solidFill>
                    <a:schemeClr val="tx1"/>
                  </a:solidFill>
                  <a:latin typeface="+mn-lt"/>
                  <a:ea typeface="仿宋_GB2312" pitchFamily="49" charset="-122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 dirty="0">
                  <a:solidFill>
                    <a:srgbClr val="000000"/>
                  </a:solidFill>
                </a:rPr>
                <a:t>d1</a:t>
              </a:r>
              <a:endParaRPr lang="en-US" altLang="zh-CN" sz="2800" dirty="0">
                <a:solidFill>
                  <a:schemeClr val="tx1"/>
                </a:solidFill>
              </a:endParaRPr>
            </a:p>
          </p:txBody>
        </p:sp>
        <p:sp>
          <p:nvSpPr>
            <p:cNvPr id="44072" name="Line 37"/>
            <p:cNvSpPr/>
            <p:nvPr/>
          </p:nvSpPr>
          <p:spPr>
            <a:xfrm>
              <a:off x="781" y="3001"/>
              <a:ext cx="5" cy="1"/>
            </a:xfrm>
            <a:prstGeom prst="line">
              <a:avLst/>
            </a:prstGeom>
            <a:ln w="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4073" name="Line 38"/>
            <p:cNvSpPr/>
            <p:nvPr/>
          </p:nvSpPr>
          <p:spPr>
            <a:xfrm>
              <a:off x="781" y="3001"/>
              <a:ext cx="1" cy="4"/>
            </a:xfrm>
            <a:prstGeom prst="line">
              <a:avLst/>
            </a:prstGeom>
            <a:ln w="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4074" name="Line 39"/>
            <p:cNvSpPr/>
            <p:nvPr/>
          </p:nvSpPr>
          <p:spPr>
            <a:xfrm>
              <a:off x="786" y="3001"/>
              <a:ext cx="1045" cy="1"/>
            </a:xfrm>
            <a:prstGeom prst="line">
              <a:avLst/>
            </a:prstGeom>
            <a:ln w="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4075" name="Line 40"/>
            <p:cNvSpPr/>
            <p:nvPr/>
          </p:nvSpPr>
          <p:spPr>
            <a:xfrm>
              <a:off x="1831" y="3001"/>
              <a:ext cx="5" cy="1"/>
            </a:xfrm>
            <a:prstGeom prst="line">
              <a:avLst/>
            </a:prstGeom>
            <a:ln w="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4076" name="Line 41"/>
            <p:cNvSpPr/>
            <p:nvPr/>
          </p:nvSpPr>
          <p:spPr>
            <a:xfrm>
              <a:off x="1831" y="3001"/>
              <a:ext cx="1" cy="4"/>
            </a:xfrm>
            <a:prstGeom prst="line">
              <a:avLst/>
            </a:prstGeom>
            <a:ln w="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4077" name="Line 42"/>
            <p:cNvSpPr/>
            <p:nvPr/>
          </p:nvSpPr>
          <p:spPr>
            <a:xfrm>
              <a:off x="1836" y="3001"/>
              <a:ext cx="1045" cy="1"/>
            </a:xfrm>
            <a:prstGeom prst="line">
              <a:avLst/>
            </a:prstGeom>
            <a:ln w="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4078" name="Line 43"/>
            <p:cNvSpPr/>
            <p:nvPr/>
          </p:nvSpPr>
          <p:spPr>
            <a:xfrm>
              <a:off x="2881" y="3001"/>
              <a:ext cx="5" cy="1"/>
            </a:xfrm>
            <a:prstGeom prst="line">
              <a:avLst/>
            </a:prstGeom>
            <a:ln w="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4079" name="Line 44"/>
            <p:cNvSpPr/>
            <p:nvPr/>
          </p:nvSpPr>
          <p:spPr>
            <a:xfrm>
              <a:off x="2881" y="3001"/>
              <a:ext cx="1" cy="4"/>
            </a:xfrm>
            <a:prstGeom prst="line">
              <a:avLst/>
            </a:prstGeom>
            <a:ln w="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4080" name="Line 45"/>
            <p:cNvSpPr/>
            <p:nvPr/>
          </p:nvSpPr>
          <p:spPr>
            <a:xfrm>
              <a:off x="2886" y="3001"/>
              <a:ext cx="1046" cy="1"/>
            </a:xfrm>
            <a:prstGeom prst="line">
              <a:avLst/>
            </a:prstGeom>
            <a:ln w="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4081" name="Line 46"/>
            <p:cNvSpPr/>
            <p:nvPr/>
          </p:nvSpPr>
          <p:spPr>
            <a:xfrm>
              <a:off x="3932" y="3001"/>
              <a:ext cx="5" cy="1"/>
            </a:xfrm>
            <a:prstGeom prst="line">
              <a:avLst/>
            </a:prstGeom>
            <a:ln w="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4082" name="Line 47"/>
            <p:cNvSpPr/>
            <p:nvPr/>
          </p:nvSpPr>
          <p:spPr>
            <a:xfrm>
              <a:off x="3932" y="3001"/>
              <a:ext cx="1" cy="4"/>
            </a:xfrm>
            <a:prstGeom prst="line">
              <a:avLst/>
            </a:prstGeom>
            <a:ln w="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4083" name="Line 48"/>
            <p:cNvSpPr/>
            <p:nvPr/>
          </p:nvSpPr>
          <p:spPr>
            <a:xfrm>
              <a:off x="3937" y="3001"/>
              <a:ext cx="1045" cy="1"/>
            </a:xfrm>
            <a:prstGeom prst="line">
              <a:avLst/>
            </a:prstGeom>
            <a:ln w="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4084" name="Line 49"/>
            <p:cNvSpPr/>
            <p:nvPr/>
          </p:nvSpPr>
          <p:spPr>
            <a:xfrm>
              <a:off x="4982" y="3001"/>
              <a:ext cx="5" cy="1"/>
            </a:xfrm>
            <a:prstGeom prst="line">
              <a:avLst/>
            </a:prstGeom>
            <a:ln w="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4085" name="Line 50"/>
            <p:cNvSpPr/>
            <p:nvPr/>
          </p:nvSpPr>
          <p:spPr>
            <a:xfrm>
              <a:off x="4982" y="3001"/>
              <a:ext cx="1" cy="4"/>
            </a:xfrm>
            <a:prstGeom prst="line">
              <a:avLst/>
            </a:prstGeom>
            <a:ln w="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4086" name="Rectangle 51"/>
            <p:cNvSpPr/>
            <p:nvPr/>
          </p:nvSpPr>
          <p:spPr>
            <a:xfrm>
              <a:off x="781" y="3005"/>
              <a:ext cx="5" cy="258"/>
            </a:xfrm>
            <a:prstGeom prst="rect">
              <a:avLst/>
            </a:prstGeom>
            <a:solidFill>
              <a:srgbClr val="000000"/>
            </a:solidFill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Font typeface="Wingdings" panose="05000000000000000000" pitchFamily="2" charset="2"/>
                <a:buChar char="§"/>
                <a:defRPr kumimoji="1" sz="3200">
                  <a:solidFill>
                    <a:srgbClr val="FF3300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kumimoji="1"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b="1">
                  <a:solidFill>
                    <a:schemeClr val="tx1"/>
                  </a:solidFill>
                  <a:latin typeface="+mn-lt"/>
                  <a:ea typeface="楷体_GB2312" pitchFamily="49" charset="-12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Char char="•"/>
                <a:defRPr kumimoji="1"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Font typeface="Wingdings" panose="05000000000000000000" pitchFamily="2" charset="2"/>
                <a:buChar char="§"/>
                <a:defRPr kumimoji="1" sz="2000" b="1">
                  <a:solidFill>
                    <a:schemeClr val="tx1"/>
                  </a:solidFill>
                  <a:latin typeface="+mn-lt"/>
                  <a:ea typeface="仿宋_GB2312" pitchFamily="49" charset="-122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zh-CN" sz="1400" dirty="0">
                <a:solidFill>
                  <a:schemeClr val="tx1"/>
                </a:solidFill>
              </a:endParaRPr>
            </a:p>
          </p:txBody>
        </p:sp>
        <p:sp>
          <p:nvSpPr>
            <p:cNvPr id="44087" name="Line 52"/>
            <p:cNvSpPr/>
            <p:nvPr/>
          </p:nvSpPr>
          <p:spPr>
            <a:xfrm>
              <a:off x="1831" y="3005"/>
              <a:ext cx="1" cy="258"/>
            </a:xfrm>
            <a:prstGeom prst="line">
              <a:avLst/>
            </a:prstGeom>
            <a:ln w="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4088" name="Rectangle 53"/>
            <p:cNvSpPr/>
            <p:nvPr/>
          </p:nvSpPr>
          <p:spPr>
            <a:xfrm>
              <a:off x="2881" y="3005"/>
              <a:ext cx="5" cy="258"/>
            </a:xfrm>
            <a:prstGeom prst="rect">
              <a:avLst/>
            </a:prstGeom>
            <a:solidFill>
              <a:srgbClr val="000000"/>
            </a:solidFill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Font typeface="Wingdings" panose="05000000000000000000" pitchFamily="2" charset="2"/>
                <a:buChar char="§"/>
                <a:defRPr kumimoji="1" sz="3200">
                  <a:solidFill>
                    <a:srgbClr val="FF3300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kumimoji="1"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b="1">
                  <a:solidFill>
                    <a:schemeClr val="tx1"/>
                  </a:solidFill>
                  <a:latin typeface="+mn-lt"/>
                  <a:ea typeface="楷体_GB2312" pitchFamily="49" charset="-12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Char char="•"/>
                <a:defRPr kumimoji="1"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Font typeface="Wingdings" panose="05000000000000000000" pitchFamily="2" charset="2"/>
                <a:buChar char="§"/>
                <a:defRPr kumimoji="1" sz="2000" b="1">
                  <a:solidFill>
                    <a:schemeClr val="tx1"/>
                  </a:solidFill>
                  <a:latin typeface="+mn-lt"/>
                  <a:ea typeface="仿宋_GB2312" pitchFamily="49" charset="-122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zh-CN" sz="1400" dirty="0">
                <a:solidFill>
                  <a:schemeClr val="tx1"/>
                </a:solidFill>
              </a:endParaRPr>
            </a:p>
          </p:txBody>
        </p:sp>
        <p:sp>
          <p:nvSpPr>
            <p:cNvPr id="44089" name="Line 54"/>
            <p:cNvSpPr/>
            <p:nvPr/>
          </p:nvSpPr>
          <p:spPr>
            <a:xfrm>
              <a:off x="2881" y="3005"/>
              <a:ext cx="1" cy="258"/>
            </a:xfrm>
            <a:prstGeom prst="line">
              <a:avLst/>
            </a:prstGeom>
            <a:ln w="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4090" name="Line 55"/>
            <p:cNvSpPr/>
            <p:nvPr/>
          </p:nvSpPr>
          <p:spPr>
            <a:xfrm>
              <a:off x="3932" y="3005"/>
              <a:ext cx="1" cy="258"/>
            </a:xfrm>
            <a:prstGeom prst="line">
              <a:avLst/>
            </a:prstGeom>
            <a:ln w="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4091" name="Line 56"/>
            <p:cNvSpPr/>
            <p:nvPr/>
          </p:nvSpPr>
          <p:spPr>
            <a:xfrm>
              <a:off x="4982" y="3005"/>
              <a:ext cx="1" cy="258"/>
            </a:xfrm>
            <a:prstGeom prst="line">
              <a:avLst/>
            </a:prstGeom>
            <a:ln w="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4092" name="Rectangle 57"/>
            <p:cNvSpPr/>
            <p:nvPr/>
          </p:nvSpPr>
          <p:spPr>
            <a:xfrm>
              <a:off x="1200" y="3272"/>
              <a:ext cx="224" cy="26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Font typeface="Wingdings" panose="05000000000000000000" pitchFamily="2" charset="2"/>
                <a:buChar char="§"/>
                <a:defRPr kumimoji="1" sz="3200">
                  <a:solidFill>
                    <a:srgbClr val="FF3300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kumimoji="1"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b="1">
                  <a:solidFill>
                    <a:schemeClr val="tx1"/>
                  </a:solidFill>
                  <a:latin typeface="+mn-lt"/>
                  <a:ea typeface="楷体_GB2312" pitchFamily="49" charset="-12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Char char="•"/>
                <a:defRPr kumimoji="1"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Font typeface="Wingdings" panose="05000000000000000000" pitchFamily="2" charset="2"/>
                <a:buChar char="§"/>
                <a:defRPr kumimoji="1" sz="2000" b="1">
                  <a:solidFill>
                    <a:schemeClr val="tx1"/>
                  </a:solidFill>
                  <a:latin typeface="+mn-lt"/>
                  <a:ea typeface="仿宋_GB2312" pitchFamily="49" charset="-122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 dirty="0">
                  <a:solidFill>
                    <a:srgbClr val="000000"/>
                  </a:solidFill>
                </a:rPr>
                <a:t>a1</a:t>
              </a:r>
              <a:endParaRPr lang="en-US" altLang="zh-CN" sz="2800" dirty="0">
                <a:solidFill>
                  <a:schemeClr val="tx1"/>
                </a:solidFill>
              </a:endParaRPr>
            </a:p>
          </p:txBody>
        </p:sp>
        <p:sp>
          <p:nvSpPr>
            <p:cNvPr id="44093" name="Rectangle 58"/>
            <p:cNvSpPr/>
            <p:nvPr/>
          </p:nvSpPr>
          <p:spPr>
            <a:xfrm>
              <a:off x="2245" y="3272"/>
              <a:ext cx="237" cy="26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Font typeface="Wingdings" panose="05000000000000000000" pitchFamily="2" charset="2"/>
                <a:buChar char="§"/>
                <a:defRPr kumimoji="1" sz="3200">
                  <a:solidFill>
                    <a:srgbClr val="FF3300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kumimoji="1"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b="1">
                  <a:solidFill>
                    <a:schemeClr val="tx1"/>
                  </a:solidFill>
                  <a:latin typeface="+mn-lt"/>
                  <a:ea typeface="楷体_GB2312" pitchFamily="49" charset="-12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Char char="•"/>
                <a:defRPr kumimoji="1"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Font typeface="Wingdings" panose="05000000000000000000" pitchFamily="2" charset="2"/>
                <a:buChar char="§"/>
                <a:defRPr kumimoji="1" sz="2000" b="1">
                  <a:solidFill>
                    <a:schemeClr val="tx1"/>
                  </a:solidFill>
                  <a:latin typeface="+mn-lt"/>
                  <a:ea typeface="仿宋_GB2312" pitchFamily="49" charset="-122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 dirty="0">
                  <a:solidFill>
                    <a:srgbClr val="000000"/>
                  </a:solidFill>
                </a:rPr>
                <a:t>b1</a:t>
              </a:r>
              <a:endParaRPr lang="en-US" altLang="zh-CN" sz="2800" dirty="0">
                <a:solidFill>
                  <a:schemeClr val="tx1"/>
                </a:solidFill>
              </a:endParaRPr>
            </a:p>
          </p:txBody>
        </p:sp>
        <p:sp>
          <p:nvSpPr>
            <p:cNvPr id="44094" name="Rectangle 59"/>
            <p:cNvSpPr/>
            <p:nvPr/>
          </p:nvSpPr>
          <p:spPr>
            <a:xfrm>
              <a:off x="3293" y="3272"/>
              <a:ext cx="211" cy="26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Font typeface="Wingdings" panose="05000000000000000000" pitchFamily="2" charset="2"/>
                <a:buChar char="§"/>
                <a:defRPr kumimoji="1" sz="3200">
                  <a:solidFill>
                    <a:srgbClr val="FF3300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kumimoji="1"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b="1">
                  <a:solidFill>
                    <a:schemeClr val="tx1"/>
                  </a:solidFill>
                  <a:latin typeface="+mn-lt"/>
                  <a:ea typeface="楷体_GB2312" pitchFamily="49" charset="-12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Char char="•"/>
                <a:defRPr kumimoji="1"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Font typeface="Wingdings" panose="05000000000000000000" pitchFamily="2" charset="2"/>
                <a:buChar char="§"/>
                <a:defRPr kumimoji="1" sz="2000" b="1">
                  <a:solidFill>
                    <a:schemeClr val="tx1"/>
                  </a:solidFill>
                  <a:latin typeface="+mn-lt"/>
                  <a:ea typeface="仿宋_GB2312" pitchFamily="49" charset="-122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 dirty="0">
                  <a:solidFill>
                    <a:srgbClr val="000000"/>
                  </a:solidFill>
                </a:rPr>
                <a:t>c1</a:t>
              </a:r>
              <a:endParaRPr lang="en-US" altLang="zh-CN" sz="2800" dirty="0">
                <a:solidFill>
                  <a:schemeClr val="tx1"/>
                </a:solidFill>
              </a:endParaRPr>
            </a:p>
          </p:txBody>
        </p:sp>
        <p:sp>
          <p:nvSpPr>
            <p:cNvPr id="44095" name="Rectangle 60"/>
            <p:cNvSpPr/>
            <p:nvPr/>
          </p:nvSpPr>
          <p:spPr>
            <a:xfrm>
              <a:off x="4343" y="3272"/>
              <a:ext cx="237" cy="26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Font typeface="Wingdings" panose="05000000000000000000" pitchFamily="2" charset="2"/>
                <a:buChar char="§"/>
                <a:defRPr kumimoji="1" sz="3200">
                  <a:solidFill>
                    <a:srgbClr val="FF3300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kumimoji="1"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b="1">
                  <a:solidFill>
                    <a:schemeClr val="tx1"/>
                  </a:solidFill>
                  <a:latin typeface="+mn-lt"/>
                  <a:ea typeface="楷体_GB2312" pitchFamily="49" charset="-12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Char char="•"/>
                <a:defRPr kumimoji="1"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Font typeface="Wingdings" panose="05000000000000000000" pitchFamily="2" charset="2"/>
                <a:buChar char="§"/>
                <a:defRPr kumimoji="1" sz="2000" b="1">
                  <a:solidFill>
                    <a:schemeClr val="tx1"/>
                  </a:solidFill>
                  <a:latin typeface="+mn-lt"/>
                  <a:ea typeface="仿宋_GB2312" pitchFamily="49" charset="-122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 dirty="0">
                  <a:solidFill>
                    <a:srgbClr val="000000"/>
                  </a:solidFill>
                </a:rPr>
                <a:t>d2</a:t>
              </a:r>
              <a:endParaRPr lang="en-US" altLang="zh-CN" sz="2800" dirty="0">
                <a:solidFill>
                  <a:schemeClr val="tx1"/>
                </a:solidFill>
              </a:endParaRPr>
            </a:p>
          </p:txBody>
        </p:sp>
        <p:sp>
          <p:nvSpPr>
            <p:cNvPr id="44096" name="Rectangle 61"/>
            <p:cNvSpPr/>
            <p:nvPr/>
          </p:nvSpPr>
          <p:spPr>
            <a:xfrm>
              <a:off x="781" y="3265"/>
              <a:ext cx="5" cy="5"/>
            </a:xfrm>
            <a:prstGeom prst="rect">
              <a:avLst/>
            </a:prstGeom>
            <a:solidFill>
              <a:srgbClr val="000000"/>
            </a:solidFill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Font typeface="Wingdings" panose="05000000000000000000" pitchFamily="2" charset="2"/>
                <a:buChar char="§"/>
                <a:defRPr kumimoji="1" sz="3200">
                  <a:solidFill>
                    <a:srgbClr val="FF3300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kumimoji="1"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b="1">
                  <a:solidFill>
                    <a:schemeClr val="tx1"/>
                  </a:solidFill>
                  <a:latin typeface="+mn-lt"/>
                  <a:ea typeface="楷体_GB2312" pitchFamily="49" charset="-12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Char char="•"/>
                <a:defRPr kumimoji="1"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Font typeface="Wingdings" panose="05000000000000000000" pitchFamily="2" charset="2"/>
                <a:buChar char="§"/>
                <a:defRPr kumimoji="1" sz="2000" b="1">
                  <a:solidFill>
                    <a:schemeClr val="tx1"/>
                  </a:solidFill>
                  <a:latin typeface="+mn-lt"/>
                  <a:ea typeface="仿宋_GB2312" pitchFamily="49" charset="-122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zh-CN" sz="1400" dirty="0">
                <a:solidFill>
                  <a:schemeClr val="tx1"/>
                </a:solidFill>
              </a:endParaRPr>
            </a:p>
          </p:txBody>
        </p:sp>
        <p:sp>
          <p:nvSpPr>
            <p:cNvPr id="44097" name="Line 62"/>
            <p:cNvSpPr/>
            <p:nvPr/>
          </p:nvSpPr>
          <p:spPr>
            <a:xfrm>
              <a:off x="781" y="3265"/>
              <a:ext cx="5" cy="1"/>
            </a:xfrm>
            <a:prstGeom prst="line">
              <a:avLst/>
            </a:prstGeom>
            <a:ln w="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4098" name="Line 63"/>
            <p:cNvSpPr/>
            <p:nvPr/>
          </p:nvSpPr>
          <p:spPr>
            <a:xfrm>
              <a:off x="781" y="3265"/>
              <a:ext cx="1" cy="5"/>
            </a:xfrm>
            <a:prstGeom prst="line">
              <a:avLst/>
            </a:prstGeom>
            <a:ln w="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4099" name="Rectangle 64"/>
            <p:cNvSpPr/>
            <p:nvPr/>
          </p:nvSpPr>
          <p:spPr>
            <a:xfrm>
              <a:off x="786" y="3265"/>
              <a:ext cx="1045" cy="5"/>
            </a:xfrm>
            <a:prstGeom prst="rect">
              <a:avLst/>
            </a:prstGeom>
            <a:solidFill>
              <a:srgbClr val="000000"/>
            </a:solidFill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Font typeface="Wingdings" panose="05000000000000000000" pitchFamily="2" charset="2"/>
                <a:buChar char="§"/>
                <a:defRPr kumimoji="1" sz="3200">
                  <a:solidFill>
                    <a:srgbClr val="FF3300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kumimoji="1"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b="1">
                  <a:solidFill>
                    <a:schemeClr val="tx1"/>
                  </a:solidFill>
                  <a:latin typeface="+mn-lt"/>
                  <a:ea typeface="楷体_GB2312" pitchFamily="49" charset="-12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Char char="•"/>
                <a:defRPr kumimoji="1"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Font typeface="Wingdings" panose="05000000000000000000" pitchFamily="2" charset="2"/>
                <a:buChar char="§"/>
                <a:defRPr kumimoji="1" sz="2000" b="1">
                  <a:solidFill>
                    <a:schemeClr val="tx1"/>
                  </a:solidFill>
                  <a:latin typeface="+mn-lt"/>
                  <a:ea typeface="仿宋_GB2312" pitchFamily="49" charset="-122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zh-CN" sz="1400" dirty="0">
                <a:solidFill>
                  <a:schemeClr val="tx1"/>
                </a:solidFill>
              </a:endParaRPr>
            </a:p>
          </p:txBody>
        </p:sp>
        <p:sp>
          <p:nvSpPr>
            <p:cNvPr id="44100" name="Line 65"/>
            <p:cNvSpPr/>
            <p:nvPr/>
          </p:nvSpPr>
          <p:spPr>
            <a:xfrm>
              <a:off x="786" y="3265"/>
              <a:ext cx="1045" cy="1"/>
            </a:xfrm>
            <a:prstGeom prst="line">
              <a:avLst/>
            </a:prstGeom>
            <a:ln w="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4101" name="Line 66"/>
            <p:cNvSpPr/>
            <p:nvPr/>
          </p:nvSpPr>
          <p:spPr>
            <a:xfrm>
              <a:off x="1831" y="3265"/>
              <a:ext cx="5" cy="1"/>
            </a:xfrm>
            <a:prstGeom prst="line">
              <a:avLst/>
            </a:prstGeom>
            <a:ln w="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4102" name="Line 67"/>
            <p:cNvSpPr/>
            <p:nvPr/>
          </p:nvSpPr>
          <p:spPr>
            <a:xfrm>
              <a:off x="1831" y="3265"/>
              <a:ext cx="1" cy="5"/>
            </a:xfrm>
            <a:prstGeom prst="line">
              <a:avLst/>
            </a:prstGeom>
            <a:ln w="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4103" name="Rectangle 68"/>
            <p:cNvSpPr/>
            <p:nvPr/>
          </p:nvSpPr>
          <p:spPr>
            <a:xfrm>
              <a:off x="1836" y="3265"/>
              <a:ext cx="1045" cy="5"/>
            </a:xfrm>
            <a:prstGeom prst="rect">
              <a:avLst/>
            </a:prstGeom>
            <a:solidFill>
              <a:srgbClr val="000000"/>
            </a:solidFill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Font typeface="Wingdings" panose="05000000000000000000" pitchFamily="2" charset="2"/>
                <a:buChar char="§"/>
                <a:defRPr kumimoji="1" sz="3200">
                  <a:solidFill>
                    <a:srgbClr val="FF3300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kumimoji="1"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b="1">
                  <a:solidFill>
                    <a:schemeClr val="tx1"/>
                  </a:solidFill>
                  <a:latin typeface="+mn-lt"/>
                  <a:ea typeface="楷体_GB2312" pitchFamily="49" charset="-12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Char char="•"/>
                <a:defRPr kumimoji="1"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Font typeface="Wingdings" panose="05000000000000000000" pitchFamily="2" charset="2"/>
                <a:buChar char="§"/>
                <a:defRPr kumimoji="1" sz="2000" b="1">
                  <a:solidFill>
                    <a:schemeClr val="tx1"/>
                  </a:solidFill>
                  <a:latin typeface="+mn-lt"/>
                  <a:ea typeface="仿宋_GB2312" pitchFamily="49" charset="-122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zh-CN" sz="1400" dirty="0">
                <a:solidFill>
                  <a:schemeClr val="tx1"/>
                </a:solidFill>
              </a:endParaRPr>
            </a:p>
          </p:txBody>
        </p:sp>
        <p:sp>
          <p:nvSpPr>
            <p:cNvPr id="44104" name="Line 69"/>
            <p:cNvSpPr/>
            <p:nvPr/>
          </p:nvSpPr>
          <p:spPr>
            <a:xfrm>
              <a:off x="1836" y="3265"/>
              <a:ext cx="1045" cy="1"/>
            </a:xfrm>
            <a:prstGeom prst="line">
              <a:avLst/>
            </a:prstGeom>
            <a:ln w="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4105" name="Rectangle 70"/>
            <p:cNvSpPr/>
            <p:nvPr/>
          </p:nvSpPr>
          <p:spPr>
            <a:xfrm>
              <a:off x="2881" y="3265"/>
              <a:ext cx="5" cy="5"/>
            </a:xfrm>
            <a:prstGeom prst="rect">
              <a:avLst/>
            </a:prstGeom>
            <a:solidFill>
              <a:srgbClr val="000000"/>
            </a:solidFill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Font typeface="Wingdings" panose="05000000000000000000" pitchFamily="2" charset="2"/>
                <a:buChar char="§"/>
                <a:defRPr kumimoji="1" sz="3200">
                  <a:solidFill>
                    <a:srgbClr val="FF3300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kumimoji="1"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b="1">
                  <a:solidFill>
                    <a:schemeClr val="tx1"/>
                  </a:solidFill>
                  <a:latin typeface="+mn-lt"/>
                  <a:ea typeface="楷体_GB2312" pitchFamily="49" charset="-12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Char char="•"/>
                <a:defRPr kumimoji="1"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Font typeface="Wingdings" panose="05000000000000000000" pitchFamily="2" charset="2"/>
                <a:buChar char="§"/>
                <a:defRPr kumimoji="1" sz="2000" b="1">
                  <a:solidFill>
                    <a:schemeClr val="tx1"/>
                  </a:solidFill>
                  <a:latin typeface="+mn-lt"/>
                  <a:ea typeface="仿宋_GB2312" pitchFamily="49" charset="-122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zh-CN" sz="1400" dirty="0">
                <a:solidFill>
                  <a:schemeClr val="tx1"/>
                </a:solidFill>
              </a:endParaRPr>
            </a:p>
          </p:txBody>
        </p:sp>
        <p:sp>
          <p:nvSpPr>
            <p:cNvPr id="44106" name="Line 71"/>
            <p:cNvSpPr/>
            <p:nvPr/>
          </p:nvSpPr>
          <p:spPr>
            <a:xfrm>
              <a:off x="2881" y="3265"/>
              <a:ext cx="5" cy="1"/>
            </a:xfrm>
            <a:prstGeom prst="line">
              <a:avLst/>
            </a:prstGeom>
            <a:ln w="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4107" name="Line 72"/>
            <p:cNvSpPr/>
            <p:nvPr/>
          </p:nvSpPr>
          <p:spPr>
            <a:xfrm>
              <a:off x="2881" y="3265"/>
              <a:ext cx="1" cy="5"/>
            </a:xfrm>
            <a:prstGeom prst="line">
              <a:avLst/>
            </a:prstGeom>
            <a:ln w="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4108" name="Rectangle 73"/>
            <p:cNvSpPr/>
            <p:nvPr/>
          </p:nvSpPr>
          <p:spPr>
            <a:xfrm>
              <a:off x="2886" y="3265"/>
              <a:ext cx="1046" cy="5"/>
            </a:xfrm>
            <a:prstGeom prst="rect">
              <a:avLst/>
            </a:prstGeom>
            <a:solidFill>
              <a:srgbClr val="000000"/>
            </a:solidFill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Font typeface="Wingdings" panose="05000000000000000000" pitchFamily="2" charset="2"/>
                <a:buChar char="§"/>
                <a:defRPr kumimoji="1" sz="3200">
                  <a:solidFill>
                    <a:srgbClr val="FF3300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kumimoji="1"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b="1">
                  <a:solidFill>
                    <a:schemeClr val="tx1"/>
                  </a:solidFill>
                  <a:latin typeface="+mn-lt"/>
                  <a:ea typeface="楷体_GB2312" pitchFamily="49" charset="-12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Char char="•"/>
                <a:defRPr kumimoji="1"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Font typeface="Wingdings" panose="05000000000000000000" pitchFamily="2" charset="2"/>
                <a:buChar char="§"/>
                <a:defRPr kumimoji="1" sz="2000" b="1">
                  <a:solidFill>
                    <a:schemeClr val="tx1"/>
                  </a:solidFill>
                  <a:latin typeface="+mn-lt"/>
                  <a:ea typeface="仿宋_GB2312" pitchFamily="49" charset="-122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zh-CN" sz="1400" dirty="0">
                <a:solidFill>
                  <a:schemeClr val="tx1"/>
                </a:solidFill>
              </a:endParaRPr>
            </a:p>
          </p:txBody>
        </p:sp>
        <p:sp>
          <p:nvSpPr>
            <p:cNvPr id="44109" name="Line 74"/>
            <p:cNvSpPr/>
            <p:nvPr/>
          </p:nvSpPr>
          <p:spPr>
            <a:xfrm>
              <a:off x="2886" y="3265"/>
              <a:ext cx="1046" cy="1"/>
            </a:xfrm>
            <a:prstGeom prst="line">
              <a:avLst/>
            </a:prstGeom>
            <a:ln w="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4110" name="Line 75"/>
            <p:cNvSpPr/>
            <p:nvPr/>
          </p:nvSpPr>
          <p:spPr>
            <a:xfrm>
              <a:off x="3932" y="3265"/>
              <a:ext cx="5" cy="1"/>
            </a:xfrm>
            <a:prstGeom prst="line">
              <a:avLst/>
            </a:prstGeom>
            <a:ln w="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4111" name="Line 76"/>
            <p:cNvSpPr/>
            <p:nvPr/>
          </p:nvSpPr>
          <p:spPr>
            <a:xfrm>
              <a:off x="3932" y="3265"/>
              <a:ext cx="1" cy="5"/>
            </a:xfrm>
            <a:prstGeom prst="line">
              <a:avLst/>
            </a:prstGeom>
            <a:ln w="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4112" name="Rectangle 77"/>
            <p:cNvSpPr/>
            <p:nvPr/>
          </p:nvSpPr>
          <p:spPr>
            <a:xfrm>
              <a:off x="3937" y="3265"/>
              <a:ext cx="1045" cy="5"/>
            </a:xfrm>
            <a:prstGeom prst="rect">
              <a:avLst/>
            </a:prstGeom>
            <a:solidFill>
              <a:srgbClr val="000000"/>
            </a:solidFill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Font typeface="Wingdings" panose="05000000000000000000" pitchFamily="2" charset="2"/>
                <a:buChar char="§"/>
                <a:defRPr kumimoji="1" sz="3200">
                  <a:solidFill>
                    <a:srgbClr val="FF3300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kumimoji="1"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b="1">
                  <a:solidFill>
                    <a:schemeClr val="tx1"/>
                  </a:solidFill>
                  <a:latin typeface="+mn-lt"/>
                  <a:ea typeface="楷体_GB2312" pitchFamily="49" charset="-12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Char char="•"/>
                <a:defRPr kumimoji="1"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Font typeface="Wingdings" panose="05000000000000000000" pitchFamily="2" charset="2"/>
                <a:buChar char="§"/>
                <a:defRPr kumimoji="1" sz="2000" b="1">
                  <a:solidFill>
                    <a:schemeClr val="tx1"/>
                  </a:solidFill>
                  <a:latin typeface="+mn-lt"/>
                  <a:ea typeface="仿宋_GB2312" pitchFamily="49" charset="-122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zh-CN" sz="1400" dirty="0">
                <a:solidFill>
                  <a:schemeClr val="tx1"/>
                </a:solidFill>
              </a:endParaRPr>
            </a:p>
          </p:txBody>
        </p:sp>
        <p:sp>
          <p:nvSpPr>
            <p:cNvPr id="44113" name="Line 78"/>
            <p:cNvSpPr/>
            <p:nvPr/>
          </p:nvSpPr>
          <p:spPr>
            <a:xfrm>
              <a:off x="3937" y="3265"/>
              <a:ext cx="1045" cy="1"/>
            </a:xfrm>
            <a:prstGeom prst="line">
              <a:avLst/>
            </a:prstGeom>
            <a:ln w="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4114" name="Line 79"/>
            <p:cNvSpPr/>
            <p:nvPr/>
          </p:nvSpPr>
          <p:spPr>
            <a:xfrm>
              <a:off x="4982" y="3265"/>
              <a:ext cx="5" cy="1"/>
            </a:xfrm>
            <a:prstGeom prst="line">
              <a:avLst/>
            </a:prstGeom>
            <a:ln w="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4115" name="Line 80"/>
            <p:cNvSpPr/>
            <p:nvPr/>
          </p:nvSpPr>
          <p:spPr>
            <a:xfrm>
              <a:off x="4982" y="3265"/>
              <a:ext cx="1" cy="5"/>
            </a:xfrm>
            <a:prstGeom prst="line">
              <a:avLst/>
            </a:prstGeom>
            <a:ln w="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4116" name="Rectangle 81"/>
            <p:cNvSpPr/>
            <p:nvPr/>
          </p:nvSpPr>
          <p:spPr>
            <a:xfrm>
              <a:off x="781" y="3270"/>
              <a:ext cx="5" cy="257"/>
            </a:xfrm>
            <a:prstGeom prst="rect">
              <a:avLst/>
            </a:prstGeom>
            <a:solidFill>
              <a:srgbClr val="000000"/>
            </a:solidFill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Font typeface="Wingdings" panose="05000000000000000000" pitchFamily="2" charset="2"/>
                <a:buChar char="§"/>
                <a:defRPr kumimoji="1" sz="3200">
                  <a:solidFill>
                    <a:srgbClr val="FF3300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kumimoji="1"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b="1">
                  <a:solidFill>
                    <a:schemeClr val="tx1"/>
                  </a:solidFill>
                  <a:latin typeface="+mn-lt"/>
                  <a:ea typeface="楷体_GB2312" pitchFamily="49" charset="-12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Char char="•"/>
                <a:defRPr kumimoji="1"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Font typeface="Wingdings" panose="05000000000000000000" pitchFamily="2" charset="2"/>
                <a:buChar char="§"/>
                <a:defRPr kumimoji="1" sz="2000" b="1">
                  <a:solidFill>
                    <a:schemeClr val="tx1"/>
                  </a:solidFill>
                  <a:latin typeface="+mn-lt"/>
                  <a:ea typeface="仿宋_GB2312" pitchFamily="49" charset="-122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zh-CN" sz="1400" dirty="0">
                <a:solidFill>
                  <a:schemeClr val="tx1"/>
                </a:solidFill>
              </a:endParaRPr>
            </a:p>
          </p:txBody>
        </p:sp>
        <p:sp>
          <p:nvSpPr>
            <p:cNvPr id="44117" name="Line 82"/>
            <p:cNvSpPr/>
            <p:nvPr/>
          </p:nvSpPr>
          <p:spPr>
            <a:xfrm>
              <a:off x="1831" y="3270"/>
              <a:ext cx="1" cy="257"/>
            </a:xfrm>
            <a:prstGeom prst="line">
              <a:avLst/>
            </a:prstGeom>
            <a:ln w="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4118" name="Rectangle 83"/>
            <p:cNvSpPr/>
            <p:nvPr/>
          </p:nvSpPr>
          <p:spPr>
            <a:xfrm>
              <a:off x="2881" y="3270"/>
              <a:ext cx="5" cy="257"/>
            </a:xfrm>
            <a:prstGeom prst="rect">
              <a:avLst/>
            </a:prstGeom>
            <a:solidFill>
              <a:srgbClr val="000000"/>
            </a:solidFill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Font typeface="Wingdings" panose="05000000000000000000" pitchFamily="2" charset="2"/>
                <a:buChar char="§"/>
                <a:defRPr kumimoji="1" sz="3200">
                  <a:solidFill>
                    <a:srgbClr val="FF3300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kumimoji="1"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b="1">
                  <a:solidFill>
                    <a:schemeClr val="tx1"/>
                  </a:solidFill>
                  <a:latin typeface="+mn-lt"/>
                  <a:ea typeface="楷体_GB2312" pitchFamily="49" charset="-12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Char char="•"/>
                <a:defRPr kumimoji="1"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Font typeface="Wingdings" panose="05000000000000000000" pitchFamily="2" charset="2"/>
                <a:buChar char="§"/>
                <a:defRPr kumimoji="1" sz="2000" b="1">
                  <a:solidFill>
                    <a:schemeClr val="tx1"/>
                  </a:solidFill>
                  <a:latin typeface="+mn-lt"/>
                  <a:ea typeface="仿宋_GB2312" pitchFamily="49" charset="-122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zh-CN" sz="1400" dirty="0">
                <a:solidFill>
                  <a:schemeClr val="tx1"/>
                </a:solidFill>
              </a:endParaRPr>
            </a:p>
          </p:txBody>
        </p:sp>
        <p:sp>
          <p:nvSpPr>
            <p:cNvPr id="44119" name="Line 84"/>
            <p:cNvSpPr/>
            <p:nvPr/>
          </p:nvSpPr>
          <p:spPr>
            <a:xfrm>
              <a:off x="2881" y="3270"/>
              <a:ext cx="1" cy="257"/>
            </a:xfrm>
            <a:prstGeom prst="line">
              <a:avLst/>
            </a:prstGeom>
            <a:ln w="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4120" name="Line 85"/>
            <p:cNvSpPr/>
            <p:nvPr/>
          </p:nvSpPr>
          <p:spPr>
            <a:xfrm>
              <a:off x="3932" y="3270"/>
              <a:ext cx="1" cy="257"/>
            </a:xfrm>
            <a:prstGeom prst="line">
              <a:avLst/>
            </a:prstGeom>
            <a:ln w="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4121" name="Line 86"/>
            <p:cNvSpPr/>
            <p:nvPr/>
          </p:nvSpPr>
          <p:spPr>
            <a:xfrm>
              <a:off x="4982" y="3270"/>
              <a:ext cx="1" cy="257"/>
            </a:xfrm>
            <a:prstGeom prst="line">
              <a:avLst/>
            </a:prstGeom>
            <a:ln w="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4122" name="Rectangle 87"/>
            <p:cNvSpPr/>
            <p:nvPr/>
          </p:nvSpPr>
          <p:spPr>
            <a:xfrm>
              <a:off x="1200" y="3534"/>
              <a:ext cx="224" cy="26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Font typeface="Wingdings" panose="05000000000000000000" pitchFamily="2" charset="2"/>
                <a:buChar char="§"/>
                <a:defRPr kumimoji="1" sz="3200">
                  <a:solidFill>
                    <a:srgbClr val="FF3300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kumimoji="1"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b="1">
                  <a:solidFill>
                    <a:schemeClr val="tx1"/>
                  </a:solidFill>
                  <a:latin typeface="+mn-lt"/>
                  <a:ea typeface="楷体_GB2312" pitchFamily="49" charset="-12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Char char="•"/>
                <a:defRPr kumimoji="1"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Font typeface="Wingdings" panose="05000000000000000000" pitchFamily="2" charset="2"/>
                <a:buChar char="§"/>
                <a:defRPr kumimoji="1" sz="2000" b="1">
                  <a:solidFill>
                    <a:schemeClr val="tx1"/>
                  </a:solidFill>
                  <a:latin typeface="+mn-lt"/>
                  <a:ea typeface="仿宋_GB2312" pitchFamily="49" charset="-122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 dirty="0">
                  <a:solidFill>
                    <a:srgbClr val="000000"/>
                  </a:solidFill>
                </a:rPr>
                <a:t>a1</a:t>
              </a:r>
              <a:endParaRPr lang="en-US" altLang="zh-CN" sz="2800" dirty="0">
                <a:solidFill>
                  <a:schemeClr val="tx1"/>
                </a:solidFill>
              </a:endParaRPr>
            </a:p>
          </p:txBody>
        </p:sp>
        <p:sp>
          <p:nvSpPr>
            <p:cNvPr id="44123" name="Rectangle 88"/>
            <p:cNvSpPr/>
            <p:nvPr/>
          </p:nvSpPr>
          <p:spPr>
            <a:xfrm>
              <a:off x="2245" y="3534"/>
              <a:ext cx="237" cy="26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Font typeface="Wingdings" panose="05000000000000000000" pitchFamily="2" charset="2"/>
                <a:buChar char="§"/>
                <a:defRPr kumimoji="1" sz="3200">
                  <a:solidFill>
                    <a:srgbClr val="FF3300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kumimoji="1"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b="1">
                  <a:solidFill>
                    <a:schemeClr val="tx1"/>
                  </a:solidFill>
                  <a:latin typeface="+mn-lt"/>
                  <a:ea typeface="楷体_GB2312" pitchFamily="49" charset="-12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Char char="•"/>
                <a:defRPr kumimoji="1"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Font typeface="Wingdings" panose="05000000000000000000" pitchFamily="2" charset="2"/>
                <a:buChar char="§"/>
                <a:defRPr kumimoji="1" sz="2000" b="1">
                  <a:solidFill>
                    <a:schemeClr val="tx1"/>
                  </a:solidFill>
                  <a:latin typeface="+mn-lt"/>
                  <a:ea typeface="仿宋_GB2312" pitchFamily="49" charset="-122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 dirty="0">
                  <a:solidFill>
                    <a:srgbClr val="000000"/>
                  </a:solidFill>
                </a:rPr>
                <a:t>b2</a:t>
              </a:r>
              <a:endParaRPr lang="en-US" altLang="zh-CN" sz="2800" dirty="0">
                <a:solidFill>
                  <a:schemeClr val="tx1"/>
                </a:solidFill>
              </a:endParaRPr>
            </a:p>
          </p:txBody>
        </p:sp>
        <p:sp>
          <p:nvSpPr>
            <p:cNvPr id="44124" name="Rectangle 89"/>
            <p:cNvSpPr/>
            <p:nvPr/>
          </p:nvSpPr>
          <p:spPr>
            <a:xfrm>
              <a:off x="3298" y="3534"/>
              <a:ext cx="211" cy="26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Font typeface="Wingdings" panose="05000000000000000000" pitchFamily="2" charset="2"/>
                <a:buChar char="§"/>
                <a:defRPr kumimoji="1" sz="3200">
                  <a:solidFill>
                    <a:srgbClr val="FF3300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kumimoji="1"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b="1">
                  <a:solidFill>
                    <a:schemeClr val="tx1"/>
                  </a:solidFill>
                  <a:latin typeface="+mn-lt"/>
                  <a:ea typeface="楷体_GB2312" pitchFamily="49" charset="-12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Char char="•"/>
                <a:defRPr kumimoji="1"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Font typeface="Wingdings" panose="05000000000000000000" pitchFamily="2" charset="2"/>
                <a:buChar char="§"/>
                <a:defRPr kumimoji="1" sz="2000" b="1">
                  <a:solidFill>
                    <a:schemeClr val="tx1"/>
                  </a:solidFill>
                  <a:latin typeface="+mn-lt"/>
                  <a:ea typeface="仿宋_GB2312" pitchFamily="49" charset="-122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 dirty="0">
                  <a:solidFill>
                    <a:srgbClr val="000000"/>
                  </a:solidFill>
                </a:rPr>
                <a:t>c2</a:t>
              </a:r>
              <a:endParaRPr lang="en-US" altLang="zh-CN" sz="2800" dirty="0">
                <a:solidFill>
                  <a:schemeClr val="tx1"/>
                </a:solidFill>
              </a:endParaRPr>
            </a:p>
          </p:txBody>
        </p:sp>
        <p:sp>
          <p:nvSpPr>
            <p:cNvPr id="44125" name="Rectangle 90"/>
            <p:cNvSpPr/>
            <p:nvPr/>
          </p:nvSpPr>
          <p:spPr>
            <a:xfrm>
              <a:off x="4343" y="3534"/>
              <a:ext cx="237" cy="26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Font typeface="Wingdings" panose="05000000000000000000" pitchFamily="2" charset="2"/>
                <a:buChar char="§"/>
                <a:defRPr kumimoji="1" sz="3200">
                  <a:solidFill>
                    <a:srgbClr val="FF3300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kumimoji="1"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b="1">
                  <a:solidFill>
                    <a:schemeClr val="tx1"/>
                  </a:solidFill>
                  <a:latin typeface="+mn-lt"/>
                  <a:ea typeface="楷体_GB2312" pitchFamily="49" charset="-12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Char char="•"/>
                <a:defRPr kumimoji="1"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Font typeface="Wingdings" panose="05000000000000000000" pitchFamily="2" charset="2"/>
                <a:buChar char="§"/>
                <a:defRPr kumimoji="1" sz="2000" b="1">
                  <a:solidFill>
                    <a:schemeClr val="tx1"/>
                  </a:solidFill>
                  <a:latin typeface="+mn-lt"/>
                  <a:ea typeface="仿宋_GB2312" pitchFamily="49" charset="-122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 dirty="0">
                  <a:solidFill>
                    <a:srgbClr val="000000"/>
                  </a:solidFill>
                </a:rPr>
                <a:t>d1</a:t>
              </a:r>
              <a:endParaRPr lang="en-US" altLang="zh-CN" sz="2800" dirty="0">
                <a:solidFill>
                  <a:schemeClr val="tx1"/>
                </a:solidFill>
              </a:endParaRPr>
            </a:p>
          </p:txBody>
        </p:sp>
        <p:sp>
          <p:nvSpPr>
            <p:cNvPr id="44126" name="Rectangle 91"/>
            <p:cNvSpPr/>
            <p:nvPr/>
          </p:nvSpPr>
          <p:spPr>
            <a:xfrm>
              <a:off x="781" y="3527"/>
              <a:ext cx="5" cy="5"/>
            </a:xfrm>
            <a:prstGeom prst="rect">
              <a:avLst/>
            </a:prstGeom>
            <a:solidFill>
              <a:srgbClr val="000000"/>
            </a:solidFill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Font typeface="Wingdings" panose="05000000000000000000" pitchFamily="2" charset="2"/>
                <a:buChar char="§"/>
                <a:defRPr kumimoji="1" sz="3200">
                  <a:solidFill>
                    <a:srgbClr val="FF3300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kumimoji="1"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b="1">
                  <a:solidFill>
                    <a:schemeClr val="tx1"/>
                  </a:solidFill>
                  <a:latin typeface="+mn-lt"/>
                  <a:ea typeface="楷体_GB2312" pitchFamily="49" charset="-12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Char char="•"/>
                <a:defRPr kumimoji="1"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Font typeface="Wingdings" panose="05000000000000000000" pitchFamily="2" charset="2"/>
                <a:buChar char="§"/>
                <a:defRPr kumimoji="1" sz="2000" b="1">
                  <a:solidFill>
                    <a:schemeClr val="tx1"/>
                  </a:solidFill>
                  <a:latin typeface="+mn-lt"/>
                  <a:ea typeface="仿宋_GB2312" pitchFamily="49" charset="-122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zh-CN" sz="1400" dirty="0">
                <a:solidFill>
                  <a:schemeClr val="tx1"/>
                </a:solidFill>
              </a:endParaRPr>
            </a:p>
          </p:txBody>
        </p:sp>
        <p:sp>
          <p:nvSpPr>
            <p:cNvPr id="44127" name="Line 92"/>
            <p:cNvSpPr/>
            <p:nvPr/>
          </p:nvSpPr>
          <p:spPr>
            <a:xfrm>
              <a:off x="781" y="3527"/>
              <a:ext cx="5" cy="1"/>
            </a:xfrm>
            <a:prstGeom prst="line">
              <a:avLst/>
            </a:prstGeom>
            <a:ln w="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4128" name="Line 93"/>
            <p:cNvSpPr/>
            <p:nvPr/>
          </p:nvSpPr>
          <p:spPr>
            <a:xfrm>
              <a:off x="781" y="3527"/>
              <a:ext cx="1" cy="5"/>
            </a:xfrm>
            <a:prstGeom prst="line">
              <a:avLst/>
            </a:prstGeom>
            <a:ln w="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4129" name="Rectangle 94"/>
            <p:cNvSpPr/>
            <p:nvPr/>
          </p:nvSpPr>
          <p:spPr>
            <a:xfrm>
              <a:off x="786" y="3527"/>
              <a:ext cx="1045" cy="5"/>
            </a:xfrm>
            <a:prstGeom prst="rect">
              <a:avLst/>
            </a:prstGeom>
            <a:solidFill>
              <a:srgbClr val="000000"/>
            </a:solidFill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Font typeface="Wingdings" panose="05000000000000000000" pitchFamily="2" charset="2"/>
                <a:buChar char="§"/>
                <a:defRPr kumimoji="1" sz="3200">
                  <a:solidFill>
                    <a:srgbClr val="FF3300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kumimoji="1"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b="1">
                  <a:solidFill>
                    <a:schemeClr val="tx1"/>
                  </a:solidFill>
                  <a:latin typeface="+mn-lt"/>
                  <a:ea typeface="楷体_GB2312" pitchFamily="49" charset="-12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Char char="•"/>
                <a:defRPr kumimoji="1"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Font typeface="Wingdings" panose="05000000000000000000" pitchFamily="2" charset="2"/>
                <a:buChar char="§"/>
                <a:defRPr kumimoji="1" sz="2000" b="1">
                  <a:solidFill>
                    <a:schemeClr val="tx1"/>
                  </a:solidFill>
                  <a:latin typeface="+mn-lt"/>
                  <a:ea typeface="仿宋_GB2312" pitchFamily="49" charset="-122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zh-CN" sz="1400" dirty="0">
                <a:solidFill>
                  <a:schemeClr val="tx1"/>
                </a:solidFill>
              </a:endParaRPr>
            </a:p>
          </p:txBody>
        </p:sp>
        <p:sp>
          <p:nvSpPr>
            <p:cNvPr id="44130" name="Line 95"/>
            <p:cNvSpPr/>
            <p:nvPr/>
          </p:nvSpPr>
          <p:spPr>
            <a:xfrm>
              <a:off x="786" y="3527"/>
              <a:ext cx="1045" cy="1"/>
            </a:xfrm>
            <a:prstGeom prst="line">
              <a:avLst/>
            </a:prstGeom>
            <a:ln w="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4131" name="Line 96"/>
            <p:cNvSpPr/>
            <p:nvPr/>
          </p:nvSpPr>
          <p:spPr>
            <a:xfrm>
              <a:off x="1831" y="3527"/>
              <a:ext cx="5" cy="1"/>
            </a:xfrm>
            <a:prstGeom prst="line">
              <a:avLst/>
            </a:prstGeom>
            <a:ln w="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4132" name="Line 97"/>
            <p:cNvSpPr/>
            <p:nvPr/>
          </p:nvSpPr>
          <p:spPr>
            <a:xfrm>
              <a:off x="1831" y="3527"/>
              <a:ext cx="1" cy="5"/>
            </a:xfrm>
            <a:prstGeom prst="line">
              <a:avLst/>
            </a:prstGeom>
            <a:ln w="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4133" name="Rectangle 98"/>
            <p:cNvSpPr/>
            <p:nvPr/>
          </p:nvSpPr>
          <p:spPr>
            <a:xfrm>
              <a:off x="1836" y="3527"/>
              <a:ext cx="1045" cy="5"/>
            </a:xfrm>
            <a:prstGeom prst="rect">
              <a:avLst/>
            </a:prstGeom>
            <a:solidFill>
              <a:srgbClr val="000000"/>
            </a:solidFill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Font typeface="Wingdings" panose="05000000000000000000" pitchFamily="2" charset="2"/>
                <a:buChar char="§"/>
                <a:defRPr kumimoji="1" sz="3200">
                  <a:solidFill>
                    <a:srgbClr val="FF3300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kumimoji="1"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b="1">
                  <a:solidFill>
                    <a:schemeClr val="tx1"/>
                  </a:solidFill>
                  <a:latin typeface="+mn-lt"/>
                  <a:ea typeface="楷体_GB2312" pitchFamily="49" charset="-12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Char char="•"/>
                <a:defRPr kumimoji="1"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Font typeface="Wingdings" panose="05000000000000000000" pitchFamily="2" charset="2"/>
                <a:buChar char="§"/>
                <a:defRPr kumimoji="1" sz="2000" b="1">
                  <a:solidFill>
                    <a:schemeClr val="tx1"/>
                  </a:solidFill>
                  <a:latin typeface="+mn-lt"/>
                  <a:ea typeface="仿宋_GB2312" pitchFamily="49" charset="-122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zh-CN" sz="1400" dirty="0">
                <a:solidFill>
                  <a:schemeClr val="tx1"/>
                </a:solidFill>
              </a:endParaRPr>
            </a:p>
          </p:txBody>
        </p:sp>
        <p:sp>
          <p:nvSpPr>
            <p:cNvPr id="44134" name="Line 99"/>
            <p:cNvSpPr/>
            <p:nvPr/>
          </p:nvSpPr>
          <p:spPr>
            <a:xfrm>
              <a:off x="1836" y="3527"/>
              <a:ext cx="1045" cy="1"/>
            </a:xfrm>
            <a:prstGeom prst="line">
              <a:avLst/>
            </a:prstGeom>
            <a:ln w="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4135" name="Rectangle 100"/>
            <p:cNvSpPr/>
            <p:nvPr/>
          </p:nvSpPr>
          <p:spPr>
            <a:xfrm>
              <a:off x="2881" y="3527"/>
              <a:ext cx="5" cy="5"/>
            </a:xfrm>
            <a:prstGeom prst="rect">
              <a:avLst/>
            </a:prstGeom>
            <a:solidFill>
              <a:srgbClr val="000000"/>
            </a:solidFill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Font typeface="Wingdings" panose="05000000000000000000" pitchFamily="2" charset="2"/>
                <a:buChar char="§"/>
                <a:defRPr kumimoji="1" sz="3200">
                  <a:solidFill>
                    <a:srgbClr val="FF3300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kumimoji="1"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b="1">
                  <a:solidFill>
                    <a:schemeClr val="tx1"/>
                  </a:solidFill>
                  <a:latin typeface="+mn-lt"/>
                  <a:ea typeface="楷体_GB2312" pitchFamily="49" charset="-12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Char char="•"/>
                <a:defRPr kumimoji="1"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Font typeface="Wingdings" panose="05000000000000000000" pitchFamily="2" charset="2"/>
                <a:buChar char="§"/>
                <a:defRPr kumimoji="1" sz="2000" b="1">
                  <a:solidFill>
                    <a:schemeClr val="tx1"/>
                  </a:solidFill>
                  <a:latin typeface="+mn-lt"/>
                  <a:ea typeface="仿宋_GB2312" pitchFamily="49" charset="-122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zh-CN" sz="1400" dirty="0">
                <a:solidFill>
                  <a:schemeClr val="tx1"/>
                </a:solidFill>
              </a:endParaRPr>
            </a:p>
          </p:txBody>
        </p:sp>
        <p:sp>
          <p:nvSpPr>
            <p:cNvPr id="44136" name="Line 101"/>
            <p:cNvSpPr/>
            <p:nvPr/>
          </p:nvSpPr>
          <p:spPr>
            <a:xfrm>
              <a:off x="2881" y="3527"/>
              <a:ext cx="5" cy="1"/>
            </a:xfrm>
            <a:prstGeom prst="line">
              <a:avLst/>
            </a:prstGeom>
            <a:ln w="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4137" name="Line 102"/>
            <p:cNvSpPr/>
            <p:nvPr/>
          </p:nvSpPr>
          <p:spPr>
            <a:xfrm>
              <a:off x="2881" y="3527"/>
              <a:ext cx="1" cy="5"/>
            </a:xfrm>
            <a:prstGeom prst="line">
              <a:avLst/>
            </a:prstGeom>
            <a:ln w="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4138" name="Rectangle 103"/>
            <p:cNvSpPr/>
            <p:nvPr/>
          </p:nvSpPr>
          <p:spPr>
            <a:xfrm>
              <a:off x="2886" y="3527"/>
              <a:ext cx="1046" cy="5"/>
            </a:xfrm>
            <a:prstGeom prst="rect">
              <a:avLst/>
            </a:prstGeom>
            <a:solidFill>
              <a:srgbClr val="000000"/>
            </a:solidFill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Font typeface="Wingdings" panose="05000000000000000000" pitchFamily="2" charset="2"/>
                <a:buChar char="§"/>
                <a:defRPr kumimoji="1" sz="3200">
                  <a:solidFill>
                    <a:srgbClr val="FF3300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kumimoji="1"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b="1">
                  <a:solidFill>
                    <a:schemeClr val="tx1"/>
                  </a:solidFill>
                  <a:latin typeface="+mn-lt"/>
                  <a:ea typeface="楷体_GB2312" pitchFamily="49" charset="-12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Char char="•"/>
                <a:defRPr kumimoji="1"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Font typeface="Wingdings" panose="05000000000000000000" pitchFamily="2" charset="2"/>
                <a:buChar char="§"/>
                <a:defRPr kumimoji="1" sz="2000" b="1">
                  <a:solidFill>
                    <a:schemeClr val="tx1"/>
                  </a:solidFill>
                  <a:latin typeface="+mn-lt"/>
                  <a:ea typeface="仿宋_GB2312" pitchFamily="49" charset="-122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zh-CN" sz="1400" dirty="0">
                <a:solidFill>
                  <a:schemeClr val="tx1"/>
                </a:solidFill>
              </a:endParaRPr>
            </a:p>
          </p:txBody>
        </p:sp>
        <p:sp>
          <p:nvSpPr>
            <p:cNvPr id="44139" name="Line 104"/>
            <p:cNvSpPr/>
            <p:nvPr/>
          </p:nvSpPr>
          <p:spPr>
            <a:xfrm>
              <a:off x="2886" y="3527"/>
              <a:ext cx="1046" cy="1"/>
            </a:xfrm>
            <a:prstGeom prst="line">
              <a:avLst/>
            </a:prstGeom>
            <a:ln w="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4140" name="Line 105"/>
            <p:cNvSpPr/>
            <p:nvPr/>
          </p:nvSpPr>
          <p:spPr>
            <a:xfrm>
              <a:off x="3932" y="3527"/>
              <a:ext cx="5" cy="1"/>
            </a:xfrm>
            <a:prstGeom prst="line">
              <a:avLst/>
            </a:prstGeom>
            <a:ln w="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4141" name="Line 106"/>
            <p:cNvSpPr/>
            <p:nvPr/>
          </p:nvSpPr>
          <p:spPr>
            <a:xfrm>
              <a:off x="3932" y="3527"/>
              <a:ext cx="1" cy="5"/>
            </a:xfrm>
            <a:prstGeom prst="line">
              <a:avLst/>
            </a:prstGeom>
            <a:ln w="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4142" name="Rectangle 107"/>
            <p:cNvSpPr/>
            <p:nvPr/>
          </p:nvSpPr>
          <p:spPr>
            <a:xfrm>
              <a:off x="3937" y="3527"/>
              <a:ext cx="1045" cy="5"/>
            </a:xfrm>
            <a:prstGeom prst="rect">
              <a:avLst/>
            </a:prstGeom>
            <a:solidFill>
              <a:srgbClr val="000000"/>
            </a:solidFill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Font typeface="Wingdings" panose="05000000000000000000" pitchFamily="2" charset="2"/>
                <a:buChar char="§"/>
                <a:defRPr kumimoji="1" sz="3200">
                  <a:solidFill>
                    <a:srgbClr val="FF3300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kumimoji="1"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b="1">
                  <a:solidFill>
                    <a:schemeClr val="tx1"/>
                  </a:solidFill>
                  <a:latin typeface="+mn-lt"/>
                  <a:ea typeface="楷体_GB2312" pitchFamily="49" charset="-12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Char char="•"/>
                <a:defRPr kumimoji="1"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Font typeface="Wingdings" panose="05000000000000000000" pitchFamily="2" charset="2"/>
                <a:buChar char="§"/>
                <a:defRPr kumimoji="1" sz="2000" b="1">
                  <a:solidFill>
                    <a:schemeClr val="tx1"/>
                  </a:solidFill>
                  <a:latin typeface="+mn-lt"/>
                  <a:ea typeface="仿宋_GB2312" pitchFamily="49" charset="-122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zh-CN" sz="1400" dirty="0">
                <a:solidFill>
                  <a:schemeClr val="tx1"/>
                </a:solidFill>
              </a:endParaRPr>
            </a:p>
          </p:txBody>
        </p:sp>
        <p:sp>
          <p:nvSpPr>
            <p:cNvPr id="44143" name="Line 108"/>
            <p:cNvSpPr/>
            <p:nvPr/>
          </p:nvSpPr>
          <p:spPr>
            <a:xfrm>
              <a:off x="3937" y="3527"/>
              <a:ext cx="1045" cy="1"/>
            </a:xfrm>
            <a:prstGeom prst="line">
              <a:avLst/>
            </a:prstGeom>
            <a:ln w="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4144" name="Line 109"/>
            <p:cNvSpPr/>
            <p:nvPr/>
          </p:nvSpPr>
          <p:spPr>
            <a:xfrm>
              <a:off x="4982" y="3527"/>
              <a:ext cx="5" cy="1"/>
            </a:xfrm>
            <a:prstGeom prst="line">
              <a:avLst/>
            </a:prstGeom>
            <a:ln w="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4145" name="Line 110"/>
            <p:cNvSpPr/>
            <p:nvPr/>
          </p:nvSpPr>
          <p:spPr>
            <a:xfrm>
              <a:off x="4982" y="3527"/>
              <a:ext cx="1" cy="5"/>
            </a:xfrm>
            <a:prstGeom prst="line">
              <a:avLst/>
            </a:prstGeom>
            <a:ln w="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4146" name="Rectangle 111"/>
            <p:cNvSpPr/>
            <p:nvPr/>
          </p:nvSpPr>
          <p:spPr>
            <a:xfrm>
              <a:off x="781" y="3532"/>
              <a:ext cx="5" cy="257"/>
            </a:xfrm>
            <a:prstGeom prst="rect">
              <a:avLst/>
            </a:prstGeom>
            <a:solidFill>
              <a:srgbClr val="000000"/>
            </a:solidFill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Font typeface="Wingdings" panose="05000000000000000000" pitchFamily="2" charset="2"/>
                <a:buChar char="§"/>
                <a:defRPr kumimoji="1" sz="3200">
                  <a:solidFill>
                    <a:srgbClr val="FF3300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kumimoji="1"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b="1">
                  <a:solidFill>
                    <a:schemeClr val="tx1"/>
                  </a:solidFill>
                  <a:latin typeface="+mn-lt"/>
                  <a:ea typeface="楷体_GB2312" pitchFamily="49" charset="-12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Char char="•"/>
                <a:defRPr kumimoji="1"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Font typeface="Wingdings" panose="05000000000000000000" pitchFamily="2" charset="2"/>
                <a:buChar char="§"/>
                <a:defRPr kumimoji="1" sz="2000" b="1">
                  <a:solidFill>
                    <a:schemeClr val="tx1"/>
                  </a:solidFill>
                  <a:latin typeface="+mn-lt"/>
                  <a:ea typeface="仿宋_GB2312" pitchFamily="49" charset="-122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zh-CN" sz="1400" dirty="0">
                <a:solidFill>
                  <a:schemeClr val="tx1"/>
                </a:solidFill>
              </a:endParaRPr>
            </a:p>
          </p:txBody>
        </p:sp>
        <p:sp>
          <p:nvSpPr>
            <p:cNvPr id="44147" name="Line 112"/>
            <p:cNvSpPr/>
            <p:nvPr/>
          </p:nvSpPr>
          <p:spPr>
            <a:xfrm>
              <a:off x="1831" y="3532"/>
              <a:ext cx="1" cy="257"/>
            </a:xfrm>
            <a:prstGeom prst="line">
              <a:avLst/>
            </a:prstGeom>
            <a:ln w="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4148" name="Rectangle 113"/>
            <p:cNvSpPr/>
            <p:nvPr/>
          </p:nvSpPr>
          <p:spPr>
            <a:xfrm>
              <a:off x="2881" y="3532"/>
              <a:ext cx="5" cy="257"/>
            </a:xfrm>
            <a:prstGeom prst="rect">
              <a:avLst/>
            </a:prstGeom>
            <a:solidFill>
              <a:srgbClr val="000000"/>
            </a:solidFill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Font typeface="Wingdings" panose="05000000000000000000" pitchFamily="2" charset="2"/>
                <a:buChar char="§"/>
                <a:defRPr kumimoji="1" sz="3200">
                  <a:solidFill>
                    <a:srgbClr val="FF3300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kumimoji="1"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b="1">
                  <a:solidFill>
                    <a:schemeClr val="tx1"/>
                  </a:solidFill>
                  <a:latin typeface="+mn-lt"/>
                  <a:ea typeface="楷体_GB2312" pitchFamily="49" charset="-12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Char char="•"/>
                <a:defRPr kumimoji="1"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Font typeface="Wingdings" panose="05000000000000000000" pitchFamily="2" charset="2"/>
                <a:buChar char="§"/>
                <a:defRPr kumimoji="1" sz="2000" b="1">
                  <a:solidFill>
                    <a:schemeClr val="tx1"/>
                  </a:solidFill>
                  <a:latin typeface="+mn-lt"/>
                  <a:ea typeface="仿宋_GB2312" pitchFamily="49" charset="-122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zh-CN" sz="1400" dirty="0">
                <a:solidFill>
                  <a:schemeClr val="tx1"/>
                </a:solidFill>
              </a:endParaRPr>
            </a:p>
          </p:txBody>
        </p:sp>
        <p:sp>
          <p:nvSpPr>
            <p:cNvPr id="44149" name="Line 114"/>
            <p:cNvSpPr/>
            <p:nvPr/>
          </p:nvSpPr>
          <p:spPr>
            <a:xfrm>
              <a:off x="2881" y="3532"/>
              <a:ext cx="1" cy="257"/>
            </a:xfrm>
            <a:prstGeom prst="line">
              <a:avLst/>
            </a:prstGeom>
            <a:ln w="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4150" name="Line 115"/>
            <p:cNvSpPr/>
            <p:nvPr/>
          </p:nvSpPr>
          <p:spPr>
            <a:xfrm>
              <a:off x="3932" y="3532"/>
              <a:ext cx="1" cy="257"/>
            </a:xfrm>
            <a:prstGeom prst="line">
              <a:avLst/>
            </a:prstGeom>
            <a:ln w="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4151" name="Line 116"/>
            <p:cNvSpPr/>
            <p:nvPr/>
          </p:nvSpPr>
          <p:spPr>
            <a:xfrm>
              <a:off x="4982" y="3532"/>
              <a:ext cx="1" cy="257"/>
            </a:xfrm>
            <a:prstGeom prst="line">
              <a:avLst/>
            </a:prstGeom>
            <a:ln w="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4152" name="Rectangle 117"/>
            <p:cNvSpPr/>
            <p:nvPr/>
          </p:nvSpPr>
          <p:spPr>
            <a:xfrm>
              <a:off x="1200" y="3799"/>
              <a:ext cx="224" cy="26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Font typeface="Wingdings" panose="05000000000000000000" pitchFamily="2" charset="2"/>
                <a:buChar char="§"/>
                <a:defRPr kumimoji="1" sz="3200">
                  <a:solidFill>
                    <a:srgbClr val="FF3300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kumimoji="1"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b="1">
                  <a:solidFill>
                    <a:schemeClr val="tx1"/>
                  </a:solidFill>
                  <a:latin typeface="+mn-lt"/>
                  <a:ea typeface="楷体_GB2312" pitchFamily="49" charset="-12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Char char="•"/>
                <a:defRPr kumimoji="1"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Font typeface="Wingdings" panose="05000000000000000000" pitchFamily="2" charset="2"/>
                <a:buChar char="§"/>
                <a:defRPr kumimoji="1" sz="2000" b="1">
                  <a:solidFill>
                    <a:schemeClr val="tx1"/>
                  </a:solidFill>
                  <a:latin typeface="+mn-lt"/>
                  <a:ea typeface="仿宋_GB2312" pitchFamily="49" charset="-122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 dirty="0">
                  <a:solidFill>
                    <a:srgbClr val="000000"/>
                  </a:solidFill>
                </a:rPr>
                <a:t>a1</a:t>
              </a:r>
              <a:endParaRPr lang="en-US" altLang="zh-CN" sz="2800" dirty="0">
                <a:solidFill>
                  <a:schemeClr val="tx1"/>
                </a:solidFill>
              </a:endParaRPr>
            </a:p>
          </p:txBody>
        </p:sp>
        <p:sp>
          <p:nvSpPr>
            <p:cNvPr id="44153" name="Rectangle 118"/>
            <p:cNvSpPr/>
            <p:nvPr/>
          </p:nvSpPr>
          <p:spPr>
            <a:xfrm>
              <a:off x="2245" y="3799"/>
              <a:ext cx="237" cy="26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Font typeface="Wingdings" panose="05000000000000000000" pitchFamily="2" charset="2"/>
                <a:buChar char="§"/>
                <a:defRPr kumimoji="1" sz="3200">
                  <a:solidFill>
                    <a:srgbClr val="FF3300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kumimoji="1"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b="1">
                  <a:solidFill>
                    <a:schemeClr val="tx1"/>
                  </a:solidFill>
                  <a:latin typeface="+mn-lt"/>
                  <a:ea typeface="楷体_GB2312" pitchFamily="49" charset="-12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Char char="•"/>
                <a:defRPr kumimoji="1"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Font typeface="Wingdings" panose="05000000000000000000" pitchFamily="2" charset="2"/>
                <a:buChar char="§"/>
                <a:defRPr kumimoji="1" sz="2000" b="1">
                  <a:solidFill>
                    <a:schemeClr val="tx1"/>
                  </a:solidFill>
                  <a:latin typeface="+mn-lt"/>
                  <a:ea typeface="仿宋_GB2312" pitchFamily="49" charset="-122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 dirty="0">
                  <a:solidFill>
                    <a:srgbClr val="000000"/>
                  </a:solidFill>
                </a:rPr>
                <a:t>b2</a:t>
              </a:r>
              <a:endParaRPr lang="en-US" altLang="zh-CN" sz="2800" dirty="0">
                <a:solidFill>
                  <a:schemeClr val="tx1"/>
                </a:solidFill>
              </a:endParaRPr>
            </a:p>
          </p:txBody>
        </p:sp>
        <p:sp>
          <p:nvSpPr>
            <p:cNvPr id="44154" name="Rectangle 119"/>
            <p:cNvSpPr/>
            <p:nvPr/>
          </p:nvSpPr>
          <p:spPr>
            <a:xfrm>
              <a:off x="3298" y="3799"/>
              <a:ext cx="211" cy="26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Font typeface="Wingdings" panose="05000000000000000000" pitchFamily="2" charset="2"/>
                <a:buChar char="§"/>
                <a:defRPr kumimoji="1" sz="3200">
                  <a:solidFill>
                    <a:srgbClr val="FF3300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kumimoji="1"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b="1">
                  <a:solidFill>
                    <a:schemeClr val="tx1"/>
                  </a:solidFill>
                  <a:latin typeface="+mn-lt"/>
                  <a:ea typeface="楷体_GB2312" pitchFamily="49" charset="-12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Char char="•"/>
                <a:defRPr kumimoji="1"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Font typeface="Wingdings" panose="05000000000000000000" pitchFamily="2" charset="2"/>
                <a:buChar char="§"/>
                <a:defRPr kumimoji="1" sz="2000" b="1">
                  <a:solidFill>
                    <a:schemeClr val="tx1"/>
                  </a:solidFill>
                  <a:latin typeface="+mn-lt"/>
                  <a:ea typeface="仿宋_GB2312" pitchFamily="49" charset="-122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 dirty="0">
                  <a:solidFill>
                    <a:srgbClr val="000000"/>
                  </a:solidFill>
                </a:rPr>
                <a:t>c2</a:t>
              </a:r>
              <a:endParaRPr lang="en-US" altLang="zh-CN" sz="2800" dirty="0">
                <a:solidFill>
                  <a:schemeClr val="tx1"/>
                </a:solidFill>
              </a:endParaRPr>
            </a:p>
          </p:txBody>
        </p:sp>
        <p:sp>
          <p:nvSpPr>
            <p:cNvPr id="44155" name="Rectangle 120"/>
            <p:cNvSpPr/>
            <p:nvPr/>
          </p:nvSpPr>
          <p:spPr>
            <a:xfrm>
              <a:off x="4343" y="3799"/>
              <a:ext cx="237" cy="26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Font typeface="Wingdings" panose="05000000000000000000" pitchFamily="2" charset="2"/>
                <a:buChar char="§"/>
                <a:defRPr kumimoji="1" sz="3200">
                  <a:solidFill>
                    <a:srgbClr val="FF3300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kumimoji="1"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b="1">
                  <a:solidFill>
                    <a:schemeClr val="tx1"/>
                  </a:solidFill>
                  <a:latin typeface="+mn-lt"/>
                  <a:ea typeface="楷体_GB2312" pitchFamily="49" charset="-12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Char char="•"/>
                <a:defRPr kumimoji="1"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Font typeface="Wingdings" panose="05000000000000000000" pitchFamily="2" charset="2"/>
                <a:buChar char="§"/>
                <a:defRPr kumimoji="1" sz="2000" b="1">
                  <a:solidFill>
                    <a:schemeClr val="tx1"/>
                  </a:solidFill>
                  <a:latin typeface="+mn-lt"/>
                  <a:ea typeface="仿宋_GB2312" pitchFamily="49" charset="-122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 dirty="0">
                  <a:solidFill>
                    <a:srgbClr val="000000"/>
                  </a:solidFill>
                </a:rPr>
                <a:t>d2</a:t>
              </a:r>
              <a:endParaRPr lang="en-US" altLang="zh-CN" sz="2800" dirty="0">
                <a:solidFill>
                  <a:schemeClr val="tx1"/>
                </a:solidFill>
              </a:endParaRPr>
            </a:p>
          </p:txBody>
        </p:sp>
        <p:sp>
          <p:nvSpPr>
            <p:cNvPr id="44156" name="Rectangle 121"/>
            <p:cNvSpPr/>
            <p:nvPr/>
          </p:nvSpPr>
          <p:spPr>
            <a:xfrm>
              <a:off x="781" y="3792"/>
              <a:ext cx="5" cy="4"/>
            </a:xfrm>
            <a:prstGeom prst="rect">
              <a:avLst/>
            </a:prstGeom>
            <a:solidFill>
              <a:srgbClr val="000000"/>
            </a:solidFill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Font typeface="Wingdings" panose="05000000000000000000" pitchFamily="2" charset="2"/>
                <a:buChar char="§"/>
                <a:defRPr kumimoji="1" sz="3200">
                  <a:solidFill>
                    <a:srgbClr val="FF3300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kumimoji="1"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b="1">
                  <a:solidFill>
                    <a:schemeClr val="tx1"/>
                  </a:solidFill>
                  <a:latin typeface="+mn-lt"/>
                  <a:ea typeface="楷体_GB2312" pitchFamily="49" charset="-12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Char char="•"/>
                <a:defRPr kumimoji="1"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Font typeface="Wingdings" panose="05000000000000000000" pitchFamily="2" charset="2"/>
                <a:buChar char="§"/>
                <a:defRPr kumimoji="1" sz="2000" b="1">
                  <a:solidFill>
                    <a:schemeClr val="tx1"/>
                  </a:solidFill>
                  <a:latin typeface="+mn-lt"/>
                  <a:ea typeface="仿宋_GB2312" pitchFamily="49" charset="-122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zh-CN" sz="1400" dirty="0">
                <a:solidFill>
                  <a:schemeClr val="tx1"/>
                </a:solidFill>
              </a:endParaRPr>
            </a:p>
          </p:txBody>
        </p:sp>
        <p:sp>
          <p:nvSpPr>
            <p:cNvPr id="44157" name="Line 122"/>
            <p:cNvSpPr/>
            <p:nvPr/>
          </p:nvSpPr>
          <p:spPr>
            <a:xfrm>
              <a:off x="781" y="3792"/>
              <a:ext cx="5" cy="1"/>
            </a:xfrm>
            <a:prstGeom prst="line">
              <a:avLst/>
            </a:prstGeom>
            <a:ln w="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4158" name="Line 123"/>
            <p:cNvSpPr/>
            <p:nvPr/>
          </p:nvSpPr>
          <p:spPr>
            <a:xfrm>
              <a:off x="781" y="3792"/>
              <a:ext cx="1" cy="4"/>
            </a:xfrm>
            <a:prstGeom prst="line">
              <a:avLst/>
            </a:prstGeom>
            <a:ln w="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4159" name="Rectangle 124"/>
            <p:cNvSpPr/>
            <p:nvPr/>
          </p:nvSpPr>
          <p:spPr>
            <a:xfrm>
              <a:off x="786" y="3792"/>
              <a:ext cx="1045" cy="4"/>
            </a:xfrm>
            <a:prstGeom prst="rect">
              <a:avLst/>
            </a:prstGeom>
            <a:solidFill>
              <a:srgbClr val="000000"/>
            </a:solidFill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Font typeface="Wingdings" panose="05000000000000000000" pitchFamily="2" charset="2"/>
                <a:buChar char="§"/>
                <a:defRPr kumimoji="1" sz="3200">
                  <a:solidFill>
                    <a:srgbClr val="FF3300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kumimoji="1"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b="1">
                  <a:solidFill>
                    <a:schemeClr val="tx1"/>
                  </a:solidFill>
                  <a:latin typeface="+mn-lt"/>
                  <a:ea typeface="楷体_GB2312" pitchFamily="49" charset="-12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Char char="•"/>
                <a:defRPr kumimoji="1"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Font typeface="Wingdings" panose="05000000000000000000" pitchFamily="2" charset="2"/>
                <a:buChar char="§"/>
                <a:defRPr kumimoji="1" sz="2000" b="1">
                  <a:solidFill>
                    <a:schemeClr val="tx1"/>
                  </a:solidFill>
                  <a:latin typeface="+mn-lt"/>
                  <a:ea typeface="仿宋_GB2312" pitchFamily="49" charset="-122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zh-CN" sz="1400" dirty="0">
                <a:solidFill>
                  <a:schemeClr val="tx1"/>
                </a:solidFill>
              </a:endParaRPr>
            </a:p>
          </p:txBody>
        </p:sp>
        <p:sp>
          <p:nvSpPr>
            <p:cNvPr id="44160" name="Line 125"/>
            <p:cNvSpPr/>
            <p:nvPr/>
          </p:nvSpPr>
          <p:spPr>
            <a:xfrm>
              <a:off x="786" y="3792"/>
              <a:ext cx="1045" cy="1"/>
            </a:xfrm>
            <a:prstGeom prst="line">
              <a:avLst/>
            </a:prstGeom>
            <a:ln w="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4161" name="Line 126"/>
            <p:cNvSpPr/>
            <p:nvPr/>
          </p:nvSpPr>
          <p:spPr>
            <a:xfrm>
              <a:off x="1831" y="3792"/>
              <a:ext cx="5" cy="1"/>
            </a:xfrm>
            <a:prstGeom prst="line">
              <a:avLst/>
            </a:prstGeom>
            <a:ln w="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4162" name="Line 127"/>
            <p:cNvSpPr/>
            <p:nvPr/>
          </p:nvSpPr>
          <p:spPr>
            <a:xfrm>
              <a:off x="1831" y="3792"/>
              <a:ext cx="1" cy="4"/>
            </a:xfrm>
            <a:prstGeom prst="line">
              <a:avLst/>
            </a:prstGeom>
            <a:ln w="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4163" name="Rectangle 128"/>
            <p:cNvSpPr/>
            <p:nvPr/>
          </p:nvSpPr>
          <p:spPr>
            <a:xfrm>
              <a:off x="1836" y="3792"/>
              <a:ext cx="1045" cy="4"/>
            </a:xfrm>
            <a:prstGeom prst="rect">
              <a:avLst/>
            </a:prstGeom>
            <a:solidFill>
              <a:srgbClr val="000000"/>
            </a:solidFill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Font typeface="Wingdings" panose="05000000000000000000" pitchFamily="2" charset="2"/>
                <a:buChar char="§"/>
                <a:defRPr kumimoji="1" sz="3200">
                  <a:solidFill>
                    <a:srgbClr val="FF3300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kumimoji="1"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b="1">
                  <a:solidFill>
                    <a:schemeClr val="tx1"/>
                  </a:solidFill>
                  <a:latin typeface="+mn-lt"/>
                  <a:ea typeface="楷体_GB2312" pitchFamily="49" charset="-12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Char char="•"/>
                <a:defRPr kumimoji="1"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Font typeface="Wingdings" panose="05000000000000000000" pitchFamily="2" charset="2"/>
                <a:buChar char="§"/>
                <a:defRPr kumimoji="1" sz="2000" b="1">
                  <a:solidFill>
                    <a:schemeClr val="tx1"/>
                  </a:solidFill>
                  <a:latin typeface="+mn-lt"/>
                  <a:ea typeface="仿宋_GB2312" pitchFamily="49" charset="-122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zh-CN" sz="1400" dirty="0">
                <a:solidFill>
                  <a:schemeClr val="tx1"/>
                </a:solidFill>
              </a:endParaRPr>
            </a:p>
          </p:txBody>
        </p:sp>
        <p:sp>
          <p:nvSpPr>
            <p:cNvPr id="44164" name="Line 129"/>
            <p:cNvSpPr/>
            <p:nvPr/>
          </p:nvSpPr>
          <p:spPr>
            <a:xfrm>
              <a:off x="1836" y="3792"/>
              <a:ext cx="1045" cy="1"/>
            </a:xfrm>
            <a:prstGeom prst="line">
              <a:avLst/>
            </a:prstGeom>
            <a:ln w="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4165" name="Rectangle 130"/>
            <p:cNvSpPr/>
            <p:nvPr/>
          </p:nvSpPr>
          <p:spPr>
            <a:xfrm>
              <a:off x="2881" y="3792"/>
              <a:ext cx="5" cy="4"/>
            </a:xfrm>
            <a:prstGeom prst="rect">
              <a:avLst/>
            </a:prstGeom>
            <a:solidFill>
              <a:srgbClr val="000000"/>
            </a:solidFill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Font typeface="Wingdings" panose="05000000000000000000" pitchFamily="2" charset="2"/>
                <a:buChar char="§"/>
                <a:defRPr kumimoji="1" sz="3200">
                  <a:solidFill>
                    <a:srgbClr val="FF3300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kumimoji="1"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b="1">
                  <a:solidFill>
                    <a:schemeClr val="tx1"/>
                  </a:solidFill>
                  <a:latin typeface="+mn-lt"/>
                  <a:ea typeface="楷体_GB2312" pitchFamily="49" charset="-12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Char char="•"/>
                <a:defRPr kumimoji="1"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Font typeface="Wingdings" panose="05000000000000000000" pitchFamily="2" charset="2"/>
                <a:buChar char="§"/>
                <a:defRPr kumimoji="1" sz="2000" b="1">
                  <a:solidFill>
                    <a:schemeClr val="tx1"/>
                  </a:solidFill>
                  <a:latin typeface="+mn-lt"/>
                  <a:ea typeface="仿宋_GB2312" pitchFamily="49" charset="-122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zh-CN" sz="1400" dirty="0">
                <a:solidFill>
                  <a:schemeClr val="tx1"/>
                </a:solidFill>
              </a:endParaRPr>
            </a:p>
          </p:txBody>
        </p:sp>
        <p:sp>
          <p:nvSpPr>
            <p:cNvPr id="44166" name="Line 131"/>
            <p:cNvSpPr/>
            <p:nvPr/>
          </p:nvSpPr>
          <p:spPr>
            <a:xfrm>
              <a:off x="2881" y="3792"/>
              <a:ext cx="5" cy="1"/>
            </a:xfrm>
            <a:prstGeom prst="line">
              <a:avLst/>
            </a:prstGeom>
            <a:ln w="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4167" name="Line 132"/>
            <p:cNvSpPr/>
            <p:nvPr/>
          </p:nvSpPr>
          <p:spPr>
            <a:xfrm>
              <a:off x="2881" y="3792"/>
              <a:ext cx="1" cy="4"/>
            </a:xfrm>
            <a:prstGeom prst="line">
              <a:avLst/>
            </a:prstGeom>
            <a:ln w="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4168" name="Rectangle 133"/>
            <p:cNvSpPr/>
            <p:nvPr/>
          </p:nvSpPr>
          <p:spPr>
            <a:xfrm>
              <a:off x="2886" y="3792"/>
              <a:ext cx="1046" cy="4"/>
            </a:xfrm>
            <a:prstGeom prst="rect">
              <a:avLst/>
            </a:prstGeom>
            <a:solidFill>
              <a:srgbClr val="000000"/>
            </a:solidFill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Font typeface="Wingdings" panose="05000000000000000000" pitchFamily="2" charset="2"/>
                <a:buChar char="§"/>
                <a:defRPr kumimoji="1" sz="3200">
                  <a:solidFill>
                    <a:srgbClr val="FF3300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kumimoji="1"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b="1">
                  <a:solidFill>
                    <a:schemeClr val="tx1"/>
                  </a:solidFill>
                  <a:latin typeface="+mn-lt"/>
                  <a:ea typeface="楷体_GB2312" pitchFamily="49" charset="-12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Char char="•"/>
                <a:defRPr kumimoji="1"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Font typeface="Wingdings" panose="05000000000000000000" pitchFamily="2" charset="2"/>
                <a:buChar char="§"/>
                <a:defRPr kumimoji="1" sz="2000" b="1">
                  <a:solidFill>
                    <a:schemeClr val="tx1"/>
                  </a:solidFill>
                  <a:latin typeface="+mn-lt"/>
                  <a:ea typeface="仿宋_GB2312" pitchFamily="49" charset="-122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zh-CN" sz="1400" dirty="0">
                <a:solidFill>
                  <a:schemeClr val="tx1"/>
                </a:solidFill>
              </a:endParaRPr>
            </a:p>
          </p:txBody>
        </p:sp>
        <p:sp>
          <p:nvSpPr>
            <p:cNvPr id="44169" name="Line 134"/>
            <p:cNvSpPr/>
            <p:nvPr/>
          </p:nvSpPr>
          <p:spPr>
            <a:xfrm>
              <a:off x="2886" y="3792"/>
              <a:ext cx="1046" cy="1"/>
            </a:xfrm>
            <a:prstGeom prst="line">
              <a:avLst/>
            </a:prstGeom>
            <a:ln w="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4170" name="Line 135"/>
            <p:cNvSpPr/>
            <p:nvPr/>
          </p:nvSpPr>
          <p:spPr>
            <a:xfrm>
              <a:off x="3932" y="3792"/>
              <a:ext cx="5" cy="1"/>
            </a:xfrm>
            <a:prstGeom prst="line">
              <a:avLst/>
            </a:prstGeom>
            <a:ln w="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4171" name="Line 136"/>
            <p:cNvSpPr/>
            <p:nvPr/>
          </p:nvSpPr>
          <p:spPr>
            <a:xfrm>
              <a:off x="3932" y="3792"/>
              <a:ext cx="1" cy="4"/>
            </a:xfrm>
            <a:prstGeom prst="line">
              <a:avLst/>
            </a:prstGeom>
            <a:ln w="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4172" name="Rectangle 137"/>
            <p:cNvSpPr/>
            <p:nvPr/>
          </p:nvSpPr>
          <p:spPr>
            <a:xfrm>
              <a:off x="3937" y="3792"/>
              <a:ext cx="1045" cy="4"/>
            </a:xfrm>
            <a:prstGeom prst="rect">
              <a:avLst/>
            </a:prstGeom>
            <a:solidFill>
              <a:srgbClr val="000000"/>
            </a:solidFill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Font typeface="Wingdings" panose="05000000000000000000" pitchFamily="2" charset="2"/>
                <a:buChar char="§"/>
                <a:defRPr kumimoji="1" sz="3200">
                  <a:solidFill>
                    <a:srgbClr val="FF3300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kumimoji="1"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b="1">
                  <a:solidFill>
                    <a:schemeClr val="tx1"/>
                  </a:solidFill>
                  <a:latin typeface="+mn-lt"/>
                  <a:ea typeface="楷体_GB2312" pitchFamily="49" charset="-12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Char char="•"/>
                <a:defRPr kumimoji="1"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Font typeface="Wingdings" panose="05000000000000000000" pitchFamily="2" charset="2"/>
                <a:buChar char="§"/>
                <a:defRPr kumimoji="1" sz="2000" b="1">
                  <a:solidFill>
                    <a:schemeClr val="tx1"/>
                  </a:solidFill>
                  <a:latin typeface="+mn-lt"/>
                  <a:ea typeface="仿宋_GB2312" pitchFamily="49" charset="-122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zh-CN" sz="1400" dirty="0">
                <a:solidFill>
                  <a:schemeClr val="tx1"/>
                </a:solidFill>
              </a:endParaRPr>
            </a:p>
          </p:txBody>
        </p:sp>
        <p:sp>
          <p:nvSpPr>
            <p:cNvPr id="44173" name="Line 138"/>
            <p:cNvSpPr/>
            <p:nvPr/>
          </p:nvSpPr>
          <p:spPr>
            <a:xfrm>
              <a:off x="3937" y="3792"/>
              <a:ext cx="1045" cy="1"/>
            </a:xfrm>
            <a:prstGeom prst="line">
              <a:avLst/>
            </a:prstGeom>
            <a:ln w="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4174" name="Line 139"/>
            <p:cNvSpPr/>
            <p:nvPr/>
          </p:nvSpPr>
          <p:spPr>
            <a:xfrm>
              <a:off x="4982" y="3792"/>
              <a:ext cx="5" cy="1"/>
            </a:xfrm>
            <a:prstGeom prst="line">
              <a:avLst/>
            </a:prstGeom>
            <a:ln w="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4175" name="Line 140"/>
            <p:cNvSpPr/>
            <p:nvPr/>
          </p:nvSpPr>
          <p:spPr>
            <a:xfrm>
              <a:off x="4982" y="3792"/>
              <a:ext cx="1" cy="4"/>
            </a:xfrm>
            <a:prstGeom prst="line">
              <a:avLst/>
            </a:prstGeom>
            <a:ln w="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4176" name="Rectangle 141"/>
            <p:cNvSpPr/>
            <p:nvPr/>
          </p:nvSpPr>
          <p:spPr>
            <a:xfrm>
              <a:off x="781" y="3796"/>
              <a:ext cx="5" cy="258"/>
            </a:xfrm>
            <a:prstGeom prst="rect">
              <a:avLst/>
            </a:prstGeom>
            <a:solidFill>
              <a:srgbClr val="000000"/>
            </a:solidFill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Font typeface="Wingdings" panose="05000000000000000000" pitchFamily="2" charset="2"/>
                <a:buChar char="§"/>
                <a:defRPr kumimoji="1" sz="3200">
                  <a:solidFill>
                    <a:srgbClr val="FF3300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kumimoji="1"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b="1">
                  <a:solidFill>
                    <a:schemeClr val="tx1"/>
                  </a:solidFill>
                  <a:latin typeface="+mn-lt"/>
                  <a:ea typeface="楷体_GB2312" pitchFamily="49" charset="-12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Char char="•"/>
                <a:defRPr kumimoji="1"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Font typeface="Wingdings" panose="05000000000000000000" pitchFamily="2" charset="2"/>
                <a:buChar char="§"/>
                <a:defRPr kumimoji="1" sz="2000" b="1">
                  <a:solidFill>
                    <a:schemeClr val="tx1"/>
                  </a:solidFill>
                  <a:latin typeface="+mn-lt"/>
                  <a:ea typeface="仿宋_GB2312" pitchFamily="49" charset="-122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zh-CN" sz="1400" dirty="0">
                <a:solidFill>
                  <a:schemeClr val="tx1"/>
                </a:solidFill>
              </a:endParaRPr>
            </a:p>
          </p:txBody>
        </p:sp>
        <p:sp>
          <p:nvSpPr>
            <p:cNvPr id="44177" name="Line 142"/>
            <p:cNvSpPr/>
            <p:nvPr/>
          </p:nvSpPr>
          <p:spPr>
            <a:xfrm>
              <a:off x="781" y="4054"/>
              <a:ext cx="5" cy="1"/>
            </a:xfrm>
            <a:prstGeom prst="line">
              <a:avLst/>
            </a:prstGeom>
            <a:ln w="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4178" name="Line 143"/>
            <p:cNvSpPr/>
            <p:nvPr/>
          </p:nvSpPr>
          <p:spPr>
            <a:xfrm>
              <a:off x="781" y="4054"/>
              <a:ext cx="1" cy="4"/>
            </a:xfrm>
            <a:prstGeom prst="line">
              <a:avLst/>
            </a:prstGeom>
            <a:ln w="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4179" name="Line 144"/>
            <p:cNvSpPr/>
            <p:nvPr/>
          </p:nvSpPr>
          <p:spPr>
            <a:xfrm>
              <a:off x="781" y="4054"/>
              <a:ext cx="5" cy="1"/>
            </a:xfrm>
            <a:prstGeom prst="line">
              <a:avLst/>
            </a:prstGeom>
            <a:ln w="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4180" name="Line 145"/>
            <p:cNvSpPr/>
            <p:nvPr/>
          </p:nvSpPr>
          <p:spPr>
            <a:xfrm>
              <a:off x="781" y="4054"/>
              <a:ext cx="1" cy="4"/>
            </a:xfrm>
            <a:prstGeom prst="line">
              <a:avLst/>
            </a:prstGeom>
            <a:ln w="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4181" name="Line 146"/>
            <p:cNvSpPr/>
            <p:nvPr/>
          </p:nvSpPr>
          <p:spPr>
            <a:xfrm>
              <a:off x="786" y="4054"/>
              <a:ext cx="1045" cy="1"/>
            </a:xfrm>
            <a:prstGeom prst="line">
              <a:avLst/>
            </a:prstGeom>
            <a:ln w="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4182" name="Line 147"/>
            <p:cNvSpPr/>
            <p:nvPr/>
          </p:nvSpPr>
          <p:spPr>
            <a:xfrm>
              <a:off x="1831" y="3796"/>
              <a:ext cx="1" cy="258"/>
            </a:xfrm>
            <a:prstGeom prst="line">
              <a:avLst/>
            </a:prstGeom>
            <a:ln w="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4183" name="Line 148"/>
            <p:cNvSpPr/>
            <p:nvPr/>
          </p:nvSpPr>
          <p:spPr>
            <a:xfrm>
              <a:off x="1831" y="4054"/>
              <a:ext cx="5" cy="1"/>
            </a:xfrm>
            <a:prstGeom prst="line">
              <a:avLst/>
            </a:prstGeom>
            <a:ln w="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4184" name="Line 149"/>
            <p:cNvSpPr/>
            <p:nvPr/>
          </p:nvSpPr>
          <p:spPr>
            <a:xfrm>
              <a:off x="1831" y="4054"/>
              <a:ext cx="1" cy="4"/>
            </a:xfrm>
            <a:prstGeom prst="line">
              <a:avLst/>
            </a:prstGeom>
            <a:ln w="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4185" name="Line 150"/>
            <p:cNvSpPr/>
            <p:nvPr/>
          </p:nvSpPr>
          <p:spPr>
            <a:xfrm>
              <a:off x="1836" y="4054"/>
              <a:ext cx="1045" cy="1"/>
            </a:xfrm>
            <a:prstGeom prst="line">
              <a:avLst/>
            </a:prstGeom>
            <a:ln w="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4186" name="Rectangle 151"/>
            <p:cNvSpPr/>
            <p:nvPr/>
          </p:nvSpPr>
          <p:spPr>
            <a:xfrm>
              <a:off x="2881" y="3796"/>
              <a:ext cx="5" cy="258"/>
            </a:xfrm>
            <a:prstGeom prst="rect">
              <a:avLst/>
            </a:prstGeom>
            <a:solidFill>
              <a:srgbClr val="000000"/>
            </a:solidFill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Font typeface="Wingdings" panose="05000000000000000000" pitchFamily="2" charset="2"/>
                <a:buChar char="§"/>
                <a:defRPr kumimoji="1" sz="3200">
                  <a:solidFill>
                    <a:srgbClr val="FF3300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kumimoji="1"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b="1">
                  <a:solidFill>
                    <a:schemeClr val="tx1"/>
                  </a:solidFill>
                  <a:latin typeface="+mn-lt"/>
                  <a:ea typeface="楷体_GB2312" pitchFamily="49" charset="-12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Char char="•"/>
                <a:defRPr kumimoji="1"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Font typeface="Wingdings" panose="05000000000000000000" pitchFamily="2" charset="2"/>
                <a:buChar char="§"/>
                <a:defRPr kumimoji="1" sz="2000" b="1">
                  <a:solidFill>
                    <a:schemeClr val="tx1"/>
                  </a:solidFill>
                  <a:latin typeface="+mn-lt"/>
                  <a:ea typeface="仿宋_GB2312" pitchFamily="49" charset="-122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zh-CN" sz="1400" dirty="0">
                <a:solidFill>
                  <a:schemeClr val="tx1"/>
                </a:solidFill>
              </a:endParaRPr>
            </a:p>
          </p:txBody>
        </p:sp>
        <p:sp>
          <p:nvSpPr>
            <p:cNvPr id="44187" name="Line 152"/>
            <p:cNvSpPr/>
            <p:nvPr/>
          </p:nvSpPr>
          <p:spPr>
            <a:xfrm>
              <a:off x="2881" y="3796"/>
              <a:ext cx="1" cy="258"/>
            </a:xfrm>
            <a:prstGeom prst="line">
              <a:avLst/>
            </a:prstGeom>
            <a:ln w="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4188" name="Line 153"/>
            <p:cNvSpPr/>
            <p:nvPr/>
          </p:nvSpPr>
          <p:spPr>
            <a:xfrm>
              <a:off x="2881" y="4054"/>
              <a:ext cx="5" cy="1"/>
            </a:xfrm>
            <a:prstGeom prst="line">
              <a:avLst/>
            </a:prstGeom>
            <a:ln w="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4189" name="Line 154"/>
            <p:cNvSpPr/>
            <p:nvPr/>
          </p:nvSpPr>
          <p:spPr>
            <a:xfrm>
              <a:off x="2881" y="4054"/>
              <a:ext cx="1" cy="4"/>
            </a:xfrm>
            <a:prstGeom prst="line">
              <a:avLst/>
            </a:prstGeom>
            <a:ln w="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4190" name="Line 155"/>
            <p:cNvSpPr/>
            <p:nvPr/>
          </p:nvSpPr>
          <p:spPr>
            <a:xfrm>
              <a:off x="2886" y="4054"/>
              <a:ext cx="1046" cy="1"/>
            </a:xfrm>
            <a:prstGeom prst="line">
              <a:avLst/>
            </a:prstGeom>
            <a:ln w="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4191" name="Line 156"/>
            <p:cNvSpPr/>
            <p:nvPr/>
          </p:nvSpPr>
          <p:spPr>
            <a:xfrm>
              <a:off x="3932" y="3796"/>
              <a:ext cx="1" cy="258"/>
            </a:xfrm>
            <a:prstGeom prst="line">
              <a:avLst/>
            </a:prstGeom>
            <a:ln w="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4192" name="Line 157"/>
            <p:cNvSpPr/>
            <p:nvPr/>
          </p:nvSpPr>
          <p:spPr>
            <a:xfrm>
              <a:off x="3932" y="4054"/>
              <a:ext cx="5" cy="1"/>
            </a:xfrm>
            <a:prstGeom prst="line">
              <a:avLst/>
            </a:prstGeom>
            <a:ln w="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4193" name="Line 158"/>
            <p:cNvSpPr/>
            <p:nvPr/>
          </p:nvSpPr>
          <p:spPr>
            <a:xfrm>
              <a:off x="3932" y="4054"/>
              <a:ext cx="1" cy="4"/>
            </a:xfrm>
            <a:prstGeom prst="line">
              <a:avLst/>
            </a:prstGeom>
            <a:ln w="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4194" name="Line 159"/>
            <p:cNvSpPr/>
            <p:nvPr/>
          </p:nvSpPr>
          <p:spPr>
            <a:xfrm>
              <a:off x="3937" y="4054"/>
              <a:ext cx="1045" cy="1"/>
            </a:xfrm>
            <a:prstGeom prst="line">
              <a:avLst/>
            </a:prstGeom>
            <a:ln w="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4195" name="Line 160"/>
            <p:cNvSpPr/>
            <p:nvPr/>
          </p:nvSpPr>
          <p:spPr>
            <a:xfrm>
              <a:off x="4982" y="3796"/>
              <a:ext cx="1" cy="258"/>
            </a:xfrm>
            <a:prstGeom prst="line">
              <a:avLst/>
            </a:prstGeom>
            <a:ln w="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4196" name="Line 161"/>
            <p:cNvSpPr/>
            <p:nvPr/>
          </p:nvSpPr>
          <p:spPr>
            <a:xfrm>
              <a:off x="4982" y="4054"/>
              <a:ext cx="5" cy="1"/>
            </a:xfrm>
            <a:prstGeom prst="line">
              <a:avLst/>
            </a:prstGeom>
            <a:ln w="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4197" name="Line 162"/>
            <p:cNvSpPr/>
            <p:nvPr/>
          </p:nvSpPr>
          <p:spPr>
            <a:xfrm>
              <a:off x="4982" y="4054"/>
              <a:ext cx="1" cy="4"/>
            </a:xfrm>
            <a:prstGeom prst="line">
              <a:avLst/>
            </a:prstGeom>
            <a:ln w="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4198" name="Line 163"/>
            <p:cNvSpPr/>
            <p:nvPr/>
          </p:nvSpPr>
          <p:spPr>
            <a:xfrm>
              <a:off x="4982" y="4054"/>
              <a:ext cx="5" cy="1"/>
            </a:xfrm>
            <a:prstGeom prst="line">
              <a:avLst/>
            </a:prstGeom>
            <a:ln w="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4199" name="Line 164"/>
            <p:cNvSpPr/>
            <p:nvPr/>
          </p:nvSpPr>
          <p:spPr>
            <a:xfrm>
              <a:off x="4982" y="4054"/>
              <a:ext cx="1" cy="4"/>
            </a:xfrm>
            <a:prstGeom prst="line">
              <a:avLst/>
            </a:prstGeom>
            <a:ln w="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44038" name="AutoShape 165"/>
          <p:cNvSpPr/>
          <p:nvPr/>
        </p:nvSpPr>
        <p:spPr>
          <a:xfrm>
            <a:off x="7086600" y="1504950"/>
            <a:ext cx="1905000" cy="1905000"/>
          </a:xfrm>
          <a:prstGeom prst="wedgeRoundRectCallout">
            <a:avLst>
              <a:gd name="adj1" fmla="val -46750"/>
              <a:gd name="adj2" fmla="val -18000"/>
              <a:gd name="adj3" fmla="val 16667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kumimoji="1"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kumimoji="1"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dirty="0">
                <a:solidFill>
                  <a:schemeClr val="tx1"/>
                </a:solidFill>
                <a:latin typeface="Arial Narrow" panose="020B0606020202030204" pitchFamily="34" charset="0"/>
                <a:ea typeface="华文新魏" panose="02010800040101010101" pitchFamily="2" charset="-122"/>
              </a:rPr>
              <a:t>A</a:t>
            </a:r>
            <a:r>
              <a:rPr lang="en-US" altLang="zh-CN" sz="2400" dirty="0">
                <a:solidFill>
                  <a:schemeClr val="tx1"/>
                </a:solidFill>
                <a:latin typeface="Arial Narrow" panose="020B0606020202030204" pitchFamily="34" charset="0"/>
                <a:ea typeface="华文新魏" panose="02010800040101010101" pitchFamily="2" charset="-122"/>
                <a:sym typeface="Symbol" panose="05050102010706020507" pitchFamily="18" charset="2"/>
              </a:rPr>
              <a:t>B</a:t>
            </a:r>
            <a:r>
              <a:rPr lang="zh-CN" altLang="en-US" sz="2400" dirty="0">
                <a:solidFill>
                  <a:schemeClr val="tx1"/>
                </a:solidFill>
                <a:latin typeface="Arial Narrow" panose="020B0606020202030204" pitchFamily="34" charset="0"/>
                <a:ea typeface="华文新魏" panose="02010800040101010101" pitchFamily="2" charset="-122"/>
                <a:sym typeface="Symbol" panose="05050102010706020507" pitchFamily="18" charset="2"/>
              </a:rPr>
              <a:t>在</a:t>
            </a:r>
            <a:r>
              <a:rPr lang="en-US" altLang="zh-CN" sz="2400" dirty="0">
                <a:solidFill>
                  <a:schemeClr val="tx1"/>
                </a:solidFill>
                <a:latin typeface="Arial Narrow" panose="020B0606020202030204" pitchFamily="34" charset="0"/>
                <a:ea typeface="华文新魏" panose="02010800040101010101" pitchFamily="2" charset="-122"/>
                <a:sym typeface="Symbol" panose="05050102010706020507" pitchFamily="18" charset="2"/>
              </a:rPr>
              <a:t>{ABC}</a:t>
            </a:r>
            <a:r>
              <a:rPr lang="zh-CN" altLang="en-US" sz="2400" dirty="0">
                <a:solidFill>
                  <a:schemeClr val="tx1"/>
                </a:solidFill>
                <a:latin typeface="Arial Narrow" panose="020B0606020202030204" pitchFamily="34" charset="0"/>
                <a:ea typeface="华文新魏" panose="02010800040101010101" pitchFamily="2" charset="-122"/>
                <a:sym typeface="Symbol" panose="05050102010706020507" pitchFamily="18" charset="2"/>
              </a:rPr>
              <a:t>上成立，而在</a:t>
            </a:r>
            <a:r>
              <a:rPr lang="en-US" altLang="zh-CN" sz="2400" dirty="0">
                <a:solidFill>
                  <a:schemeClr val="tx1"/>
                </a:solidFill>
                <a:latin typeface="Arial Narrow" panose="020B0606020202030204" pitchFamily="34" charset="0"/>
                <a:ea typeface="华文新魏" panose="02010800040101010101" pitchFamily="2" charset="-122"/>
                <a:sym typeface="Symbol" panose="05050102010706020507" pitchFamily="18" charset="2"/>
              </a:rPr>
              <a:t>{ABCD}</a:t>
            </a:r>
            <a:r>
              <a:rPr lang="zh-CN" altLang="en-US" sz="2400" dirty="0">
                <a:solidFill>
                  <a:schemeClr val="tx1"/>
                </a:solidFill>
                <a:latin typeface="Arial Narrow" panose="020B0606020202030204" pitchFamily="34" charset="0"/>
                <a:ea typeface="华文新魏" panose="02010800040101010101" pitchFamily="2" charset="-122"/>
                <a:sym typeface="Symbol" panose="05050102010706020507" pitchFamily="18" charset="2"/>
              </a:rPr>
              <a:t>上不成立</a:t>
            </a:r>
            <a:endParaRPr lang="zh-CN" altLang="en-US" sz="2400" dirty="0">
              <a:solidFill>
                <a:schemeClr val="tx1"/>
              </a:solidFill>
              <a:latin typeface="Arial Narrow" panose="020B0606020202030204" pitchFamily="34" charset="0"/>
              <a:ea typeface="华文新魏" panose="02010800040101010101" pitchFamily="2" charset="-122"/>
            </a:endParaRPr>
          </a:p>
        </p:txBody>
      </p:sp>
      <p:sp>
        <p:nvSpPr>
          <p:cNvPr id="44039" name="AutoShape 166"/>
          <p:cNvSpPr/>
          <p:nvPr/>
        </p:nvSpPr>
        <p:spPr>
          <a:xfrm>
            <a:off x="7162800" y="4171950"/>
            <a:ext cx="1676400" cy="1676400"/>
          </a:xfrm>
          <a:prstGeom prst="wedgeRoundRectCallout">
            <a:avLst>
              <a:gd name="adj1" fmla="val -46306"/>
              <a:gd name="adj2" fmla="val -13634"/>
              <a:gd name="adj3" fmla="val 16667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kumimoji="1"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kumimoji="1"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dirty="0">
                <a:solidFill>
                  <a:schemeClr val="tx1"/>
                </a:solidFill>
                <a:latin typeface="Arial Narrow" panose="020B0606020202030204" pitchFamily="34" charset="0"/>
                <a:ea typeface="华文新魏" panose="02010800040101010101" pitchFamily="2" charset="-122"/>
              </a:rPr>
              <a:t>A</a:t>
            </a:r>
            <a:r>
              <a:rPr lang="en-US" altLang="zh-CN" sz="2400" dirty="0">
                <a:solidFill>
                  <a:schemeClr val="tx1"/>
                </a:solidFill>
                <a:latin typeface="Arial Narrow" panose="020B0606020202030204" pitchFamily="34" charset="0"/>
                <a:ea typeface="华文新魏" panose="02010800040101010101" pitchFamily="2" charset="-122"/>
                <a:sym typeface="Symbol" panose="05050102010706020507" pitchFamily="18" charset="2"/>
              </a:rPr>
              <a:t>BC</a:t>
            </a:r>
            <a:endParaRPr lang="en-US" altLang="zh-CN" sz="2400" dirty="0">
              <a:solidFill>
                <a:schemeClr val="tx1"/>
              </a:solidFill>
              <a:latin typeface="Arial Narrow" panose="020B0606020202030204" pitchFamily="34" charset="0"/>
              <a:ea typeface="华文新魏" panose="02010800040101010101" pitchFamily="2" charset="-122"/>
              <a:sym typeface="Symbol" panose="05050102010706020507" pitchFamily="18" charset="2"/>
            </a:endParaRPr>
          </a:p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 dirty="0">
                <a:solidFill>
                  <a:schemeClr val="tx1"/>
                </a:solidFill>
                <a:latin typeface="Arial Narrow" panose="020B0606020202030204" pitchFamily="34" charset="0"/>
                <a:ea typeface="华文新魏" panose="02010800040101010101" pitchFamily="2" charset="-122"/>
                <a:sym typeface="Symbol" panose="05050102010706020507" pitchFamily="18" charset="2"/>
              </a:rPr>
              <a:t>成立</a:t>
            </a:r>
            <a:r>
              <a:rPr lang="en-US" altLang="zh-CN" sz="2400" dirty="0">
                <a:solidFill>
                  <a:schemeClr val="tx1"/>
                </a:solidFill>
                <a:latin typeface="Arial Narrow" panose="020B0606020202030204" pitchFamily="34" charset="0"/>
                <a:ea typeface="华文新魏" panose="02010800040101010101" pitchFamily="2" charset="-122"/>
              </a:rPr>
              <a:t>A</a:t>
            </a:r>
            <a:r>
              <a:rPr lang="en-US" altLang="zh-CN" sz="2400" dirty="0">
                <a:solidFill>
                  <a:schemeClr val="tx1"/>
                </a:solidFill>
                <a:latin typeface="Arial Narrow" panose="020B0606020202030204" pitchFamily="34" charset="0"/>
                <a:ea typeface="华文新魏" panose="02010800040101010101" pitchFamily="2" charset="-122"/>
                <a:sym typeface="Symbol" panose="05050102010706020507" pitchFamily="18" charset="2"/>
              </a:rPr>
              <a:t>B</a:t>
            </a:r>
            <a:r>
              <a:rPr lang="zh-CN" altLang="en-US" sz="2400" dirty="0">
                <a:solidFill>
                  <a:schemeClr val="tx1"/>
                </a:solidFill>
                <a:latin typeface="Arial Narrow" panose="020B0606020202030204" pitchFamily="34" charset="0"/>
                <a:ea typeface="华文新魏" panose="02010800040101010101" pitchFamily="2" charset="-122"/>
                <a:sym typeface="Symbol" panose="05050102010706020507" pitchFamily="18" charset="2"/>
              </a:rPr>
              <a:t>不成立</a:t>
            </a:r>
            <a:endParaRPr lang="zh-CN" altLang="en-US" sz="2400" dirty="0">
              <a:solidFill>
                <a:schemeClr val="tx1"/>
              </a:solidFill>
              <a:latin typeface="Arial Narrow" panose="020B0606020202030204" pitchFamily="34" charset="0"/>
              <a:ea typeface="华文新魏" panose="02010800040101010101" pitchFamily="2" charset="-122"/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5058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45059" name="Rectangle 2"/>
          <p:cNvSpPr>
            <a:spLocks noGrp="1"/>
          </p:cNvSpPr>
          <p:nvPr>
            <p:ph idx="1"/>
          </p:nvPr>
        </p:nvSpPr>
        <p:spPr>
          <a:xfrm>
            <a:off x="127000" y="914400"/>
            <a:ext cx="8864600" cy="5638800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120000"/>
              </a:lnSpc>
            </a:pPr>
            <a:r>
              <a:rPr lang="en-US" altLang="zh-CN" dirty="0">
                <a:solidFill>
                  <a:schemeClr val="tx1"/>
                </a:solidFill>
              </a:rPr>
              <a:t>6. </a:t>
            </a:r>
            <a:r>
              <a:rPr lang="zh-CN" altLang="en-US" dirty="0">
                <a:solidFill>
                  <a:schemeClr val="tx1"/>
                </a:solidFill>
              </a:rPr>
              <a:t>不当</a:t>
            </a:r>
            <a:r>
              <a:rPr lang="en-US" altLang="zh-CN" dirty="0">
                <a:solidFill>
                  <a:schemeClr val="tx1"/>
                </a:solidFill>
              </a:rPr>
              <a:t>MVD</a:t>
            </a:r>
            <a:r>
              <a:rPr lang="zh-CN" altLang="en-US" dirty="0">
                <a:solidFill>
                  <a:schemeClr val="tx1"/>
                </a:solidFill>
              </a:rPr>
              <a:t>的关系式引起的弊端及对策</a:t>
            </a:r>
            <a:r>
              <a:rPr lang="en-US" altLang="zh-CN" dirty="0">
                <a:solidFill>
                  <a:schemeClr val="tx1"/>
                </a:solidFill>
              </a:rPr>
              <a:t>:</a:t>
            </a:r>
            <a:endParaRPr lang="en-US" altLang="zh-CN" dirty="0">
              <a:solidFill>
                <a:schemeClr val="tx1"/>
              </a:solidFill>
            </a:endParaRPr>
          </a:p>
          <a:p>
            <a:pPr lvl="1" eaLnBrk="1" hangingPunct="1">
              <a:lnSpc>
                <a:spcPct val="120000"/>
              </a:lnSpc>
            </a:pPr>
            <a:r>
              <a:rPr lang="en-US" altLang="zh-CN" dirty="0"/>
              <a:t>Teaching(C,T,B) </a:t>
            </a:r>
            <a:endParaRPr lang="en-US" altLang="zh-CN" dirty="0"/>
          </a:p>
          <a:p>
            <a:pPr lvl="1" eaLnBrk="1" hangingPunct="1">
              <a:lnSpc>
                <a:spcPct val="120000"/>
              </a:lnSpc>
            </a:pPr>
            <a:endParaRPr lang="en-US" altLang="zh-CN" dirty="0"/>
          </a:p>
          <a:p>
            <a:pPr lvl="1" eaLnBrk="1" hangingPunct="1">
              <a:lnSpc>
                <a:spcPct val="120000"/>
              </a:lnSpc>
            </a:pPr>
            <a:endParaRPr lang="en-US" altLang="zh-CN" dirty="0"/>
          </a:p>
          <a:p>
            <a:pPr lvl="1" eaLnBrk="1" hangingPunct="1">
              <a:lnSpc>
                <a:spcPct val="120000"/>
              </a:lnSpc>
            </a:pPr>
            <a:r>
              <a:rPr lang="en-US" altLang="zh-CN" dirty="0"/>
              <a:t>T(C,T) </a:t>
            </a:r>
            <a:endParaRPr lang="en-US" altLang="zh-CN" dirty="0"/>
          </a:p>
          <a:p>
            <a:pPr lvl="1" eaLnBrk="1" hangingPunct="1">
              <a:lnSpc>
                <a:spcPct val="120000"/>
              </a:lnSpc>
            </a:pPr>
            <a:r>
              <a:rPr lang="en-US" altLang="zh-CN" dirty="0"/>
              <a:t>B(C,B)</a:t>
            </a:r>
            <a:endParaRPr lang="en-US" altLang="zh-CN" dirty="0"/>
          </a:p>
        </p:txBody>
      </p:sp>
      <p:sp>
        <p:nvSpPr>
          <p:cNvPr id="45060" name="Rectangle 3"/>
          <p:cNvSpPr>
            <a:spLocks noGrp="1"/>
          </p:cNvSpPr>
          <p:nvPr>
            <p:ph type="title"/>
          </p:nvPr>
        </p:nvSpPr>
        <p:spPr>
          <a:xfrm>
            <a:off x="685800" y="0"/>
            <a:ext cx="77724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u="sng" dirty="0"/>
              <a:t>6.4.6  </a:t>
            </a:r>
            <a:r>
              <a:rPr lang="zh-CN" altLang="en-US" u="sng" dirty="0"/>
              <a:t>多值依赖</a:t>
            </a:r>
            <a:endParaRPr lang="zh-CN" altLang="en-US" u="sng" dirty="0"/>
          </a:p>
        </p:txBody>
      </p:sp>
      <p:graphicFrame>
        <p:nvGraphicFramePr>
          <p:cNvPr id="45061" name="Object 4"/>
          <p:cNvGraphicFramePr>
            <a:graphicFrameLocks noChangeAspect="1"/>
          </p:cNvGraphicFramePr>
          <p:nvPr/>
        </p:nvGraphicFramePr>
        <p:xfrm>
          <a:off x="990600" y="2438400"/>
          <a:ext cx="838200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" r:id="rId1" imgW="342900" imgH="228600" progId="Equation.3">
                  <p:embed/>
                </p:oleObj>
              </mc:Choice>
              <mc:Fallback>
                <p:oleObj name="" r:id="rId1" imgW="342900" imgH="228600" progId="Equation.3">
                  <p:embed/>
                  <p:pic>
                    <p:nvPicPr>
                      <p:cNvPr id="0" name="Picture 3076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990600" y="2438400"/>
                        <a:ext cx="838200" cy="558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133" name="Group 5"/>
          <p:cNvGraphicFramePr>
            <a:graphicFrameLocks noGrp="1"/>
          </p:cNvGraphicFramePr>
          <p:nvPr/>
        </p:nvGraphicFramePr>
        <p:xfrm>
          <a:off x="2362200" y="2819400"/>
          <a:ext cx="2819400" cy="3349625"/>
        </p:xfrm>
        <a:graphic>
          <a:graphicData uri="http://schemas.openxmlformats.org/drawingml/2006/table">
            <a:tbl>
              <a:tblPr/>
              <a:tblGrid>
                <a:gridCol w="1662113"/>
                <a:gridCol w="1157287"/>
              </a:tblGrid>
              <a:tr h="47942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课程</a:t>
                      </a: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C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教员</a:t>
                      </a: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T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7625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物理</a:t>
                      </a:r>
                      <a:endParaRPr kumimoji="1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李勇</a:t>
                      </a:r>
                      <a:endParaRPr kumimoji="1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7942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物理</a:t>
                      </a:r>
                      <a:endParaRPr kumimoji="1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王军</a:t>
                      </a:r>
                      <a:endParaRPr kumimoji="1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7942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数学</a:t>
                      </a:r>
                      <a:endParaRPr kumimoji="1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李勇</a:t>
                      </a:r>
                      <a:endParaRPr kumimoji="1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7942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数学</a:t>
                      </a:r>
                      <a:endParaRPr kumimoji="1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张平</a:t>
                      </a:r>
                      <a:endParaRPr kumimoji="1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7625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计算数学</a:t>
                      </a:r>
                      <a:endParaRPr kumimoji="1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张平</a:t>
                      </a:r>
                      <a:endParaRPr kumimoji="1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7942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计算数学</a:t>
                      </a:r>
                      <a:endParaRPr kumimoji="1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周峰</a:t>
                      </a:r>
                      <a:endParaRPr kumimoji="1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48159" name="Group 31"/>
          <p:cNvGraphicFramePr>
            <a:graphicFrameLocks noGrp="1"/>
          </p:cNvGraphicFramePr>
          <p:nvPr/>
        </p:nvGraphicFramePr>
        <p:xfrm>
          <a:off x="5334000" y="2819400"/>
          <a:ext cx="3657600" cy="2867025"/>
        </p:xfrm>
        <a:graphic>
          <a:graphicData uri="http://schemas.openxmlformats.org/drawingml/2006/table">
            <a:tbl>
              <a:tblPr/>
              <a:tblGrid>
                <a:gridCol w="1676400"/>
                <a:gridCol w="1981200"/>
              </a:tblGrid>
              <a:tr h="47942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课程</a:t>
                      </a: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C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参考书</a:t>
                      </a: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B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7625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物理</a:t>
                      </a:r>
                      <a:endParaRPr kumimoji="1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普通物理学</a:t>
                      </a:r>
                      <a:endParaRPr kumimoji="1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77838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物理</a:t>
                      </a:r>
                      <a:endParaRPr kumimoji="1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光学原理</a:t>
                      </a:r>
                      <a:endParaRPr kumimoji="1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7942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数学</a:t>
                      </a:r>
                      <a:endParaRPr kumimoji="1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数学分析</a:t>
                      </a:r>
                      <a:endParaRPr kumimoji="1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74663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数学</a:t>
                      </a:r>
                      <a:endParaRPr kumimoji="1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高等代数</a:t>
                      </a:r>
                      <a:endParaRPr kumimoji="1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7942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计算数学</a:t>
                      </a:r>
                      <a:endParaRPr kumimoji="1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数学分析</a:t>
                      </a:r>
                      <a:endParaRPr kumimoji="1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6082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46083" name="Rectangle 2"/>
          <p:cNvSpPr>
            <a:spLocks noGrp="1"/>
          </p:cNvSpPr>
          <p:nvPr>
            <p:ph idx="1"/>
          </p:nvPr>
        </p:nvSpPr>
        <p:spPr>
          <a:xfrm>
            <a:off x="1066800" y="914400"/>
            <a:ext cx="6629400" cy="4876800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dirty="0">
                <a:solidFill>
                  <a:schemeClr val="tx1"/>
                </a:solidFill>
              </a:rPr>
              <a:t>6.4.1 </a:t>
            </a:r>
            <a:r>
              <a:rPr lang="zh-CN" altLang="en-US" dirty="0">
                <a:solidFill>
                  <a:schemeClr val="tx1"/>
                </a:solidFill>
              </a:rPr>
              <a:t>范式</a:t>
            </a:r>
            <a:endParaRPr lang="zh-CN" altLang="en-US" dirty="0">
              <a:solidFill>
                <a:schemeClr val="tx1"/>
              </a:solidFill>
            </a:endParaRP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dirty="0">
                <a:solidFill>
                  <a:schemeClr val="tx1"/>
                </a:solidFill>
              </a:rPr>
              <a:t>6.4.2 1NF</a:t>
            </a:r>
            <a:endParaRPr lang="en-US" altLang="zh-CN" dirty="0">
              <a:solidFill>
                <a:schemeClr val="tx1"/>
              </a:solidFill>
            </a:endParaRP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dirty="0">
                <a:solidFill>
                  <a:schemeClr val="tx1"/>
                </a:solidFill>
              </a:rPr>
              <a:t>6.4.3 2NF</a:t>
            </a:r>
            <a:endParaRPr lang="en-US" altLang="zh-CN" dirty="0">
              <a:solidFill>
                <a:schemeClr val="tx1"/>
              </a:solidFill>
            </a:endParaRP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dirty="0">
                <a:solidFill>
                  <a:schemeClr val="tx1"/>
                </a:solidFill>
              </a:rPr>
              <a:t>6.4.4 3NF</a:t>
            </a:r>
            <a:endParaRPr lang="en-US" altLang="zh-CN" dirty="0">
              <a:solidFill>
                <a:schemeClr val="tx1"/>
              </a:solidFill>
            </a:endParaRP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dirty="0">
                <a:solidFill>
                  <a:schemeClr val="tx1"/>
                </a:solidFill>
              </a:rPr>
              <a:t>6.4.5 BCNF</a:t>
            </a:r>
            <a:endParaRPr lang="en-US" altLang="zh-CN" dirty="0">
              <a:solidFill>
                <a:schemeClr val="tx1"/>
              </a:solidFill>
            </a:endParaRP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dirty="0">
                <a:solidFill>
                  <a:schemeClr val="tx1"/>
                </a:solidFill>
              </a:rPr>
              <a:t>6.4.6 </a:t>
            </a:r>
            <a:r>
              <a:rPr lang="zh-CN" altLang="en-US" dirty="0">
                <a:solidFill>
                  <a:schemeClr val="tx1"/>
                </a:solidFill>
              </a:rPr>
              <a:t>多值依赖</a:t>
            </a:r>
            <a:endParaRPr lang="zh-CN" altLang="en-US" dirty="0">
              <a:solidFill>
                <a:schemeClr val="tx1"/>
              </a:solidFill>
            </a:endParaRP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dirty="0"/>
              <a:t>6.4.7 4NF</a:t>
            </a:r>
            <a:endParaRPr lang="en-US" altLang="zh-CN" dirty="0"/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dirty="0">
                <a:solidFill>
                  <a:schemeClr val="tx1"/>
                </a:solidFill>
              </a:rPr>
              <a:t>6.4.8 </a:t>
            </a:r>
            <a:r>
              <a:rPr lang="zh-CN" altLang="en-US" dirty="0">
                <a:solidFill>
                  <a:schemeClr val="tx1"/>
                </a:solidFill>
              </a:rPr>
              <a:t>规范化小结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46084" name="Rectangle 3"/>
          <p:cNvSpPr>
            <a:spLocks noGrp="1"/>
          </p:cNvSpPr>
          <p:nvPr>
            <p:ph type="title"/>
          </p:nvPr>
        </p:nvSpPr>
        <p:spPr>
          <a:xfrm>
            <a:off x="685800" y="0"/>
            <a:ext cx="77724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dirty="0"/>
              <a:t>6.4  </a:t>
            </a:r>
            <a:r>
              <a:rPr lang="zh-CN" altLang="en-US" dirty="0"/>
              <a:t>关系模式的规范化</a:t>
            </a:r>
            <a:endParaRPr lang="zh-CN" altLang="en-US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7106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47107" name="Rectangle 2"/>
          <p:cNvSpPr>
            <a:spLocks noGrp="1"/>
          </p:cNvSpPr>
          <p:nvPr>
            <p:ph idx="1"/>
          </p:nvPr>
        </p:nvSpPr>
        <p:spPr>
          <a:xfrm>
            <a:off x="127000" y="914400"/>
            <a:ext cx="8864600" cy="5334000"/>
          </a:xfrm>
          <a:ln/>
        </p:spPr>
        <p:txBody>
          <a:bodyPr vert="horz" wrap="square" lIns="91440" tIns="45720" rIns="91440" bIns="45720" anchor="t" anchorCtr="0"/>
          <a:p>
            <a:pPr marL="609600" indent="-609600" eaLnBrk="1" hangingPunct="1">
              <a:lnSpc>
                <a:spcPct val="120000"/>
              </a:lnSpc>
            </a:pPr>
            <a:r>
              <a:rPr lang="en-US" altLang="zh-CN" dirty="0">
                <a:solidFill>
                  <a:schemeClr val="tx1"/>
                </a:solidFill>
              </a:rPr>
              <a:t>1. </a:t>
            </a:r>
            <a:r>
              <a:rPr lang="zh-CN" altLang="en-US" dirty="0">
                <a:solidFill>
                  <a:schemeClr val="tx1"/>
                </a:solidFill>
              </a:rPr>
              <a:t>定义</a:t>
            </a:r>
            <a:endParaRPr lang="zh-CN" altLang="en-US" dirty="0">
              <a:solidFill>
                <a:schemeClr val="tx1"/>
              </a:solidFill>
            </a:endParaRPr>
          </a:p>
          <a:p>
            <a:pPr marL="609600" indent="-609600" eaLnBrk="1" hangingPunct="1">
              <a:lnSpc>
                <a:spcPct val="120000"/>
              </a:lnSpc>
              <a:buNone/>
            </a:pPr>
            <a:r>
              <a:rPr lang="zh-CN" altLang="en-US" dirty="0"/>
              <a:t>      </a:t>
            </a:r>
            <a:r>
              <a:rPr lang="zh-CN" altLang="en-US" sz="2800" dirty="0"/>
              <a:t>定义</a:t>
            </a:r>
            <a:r>
              <a:rPr lang="en-US" altLang="zh-CN" sz="2800" dirty="0"/>
              <a:t>6.16  </a:t>
            </a:r>
            <a:r>
              <a:rPr lang="zh-CN" altLang="en-US" sz="2800" dirty="0">
                <a:solidFill>
                  <a:schemeClr val="tx1"/>
                </a:solidFill>
              </a:rPr>
              <a:t>关系模式</a:t>
            </a:r>
            <a:r>
              <a:rPr lang="en-US" altLang="zh-CN" sz="2800" dirty="0">
                <a:solidFill>
                  <a:schemeClr val="tx1"/>
                </a:solidFill>
              </a:rPr>
              <a:t>R&lt;U</a:t>
            </a:r>
            <a:r>
              <a:rPr lang="zh-CN" altLang="en-US" sz="2800" dirty="0">
                <a:solidFill>
                  <a:schemeClr val="tx1"/>
                </a:solidFill>
              </a:rPr>
              <a:t>，</a:t>
            </a:r>
            <a:r>
              <a:rPr lang="en-US" altLang="zh-CN" sz="2800" dirty="0">
                <a:solidFill>
                  <a:schemeClr val="tx1"/>
                </a:solidFill>
              </a:rPr>
              <a:t>F&gt;∈1NF</a:t>
            </a:r>
            <a:r>
              <a:rPr lang="zh-CN" altLang="en-US" sz="2800" dirty="0">
                <a:solidFill>
                  <a:schemeClr val="tx1"/>
                </a:solidFill>
              </a:rPr>
              <a:t>，如果对于</a:t>
            </a:r>
            <a:r>
              <a:rPr lang="en-US" altLang="zh-CN" sz="2800" dirty="0">
                <a:solidFill>
                  <a:schemeClr val="tx1"/>
                </a:solidFill>
              </a:rPr>
              <a:t>R</a:t>
            </a:r>
            <a:r>
              <a:rPr lang="zh-CN" altLang="en-US" sz="2800" dirty="0">
                <a:solidFill>
                  <a:schemeClr val="tx1"/>
                </a:solidFill>
              </a:rPr>
              <a:t>的每个非平凡多值依赖</a:t>
            </a:r>
            <a:r>
              <a:rPr lang="en-US" altLang="zh-CN" sz="2800" dirty="0">
                <a:solidFill>
                  <a:schemeClr val="tx1"/>
                </a:solidFill>
              </a:rPr>
              <a:t>X→→Y</a:t>
            </a:r>
            <a:r>
              <a:rPr lang="zh-CN" altLang="en-US" sz="2800" dirty="0">
                <a:solidFill>
                  <a:schemeClr val="tx1"/>
                </a:solidFill>
              </a:rPr>
              <a:t>（</a:t>
            </a:r>
            <a:r>
              <a:rPr lang="en-US" altLang="zh-CN" sz="2800" dirty="0">
                <a:solidFill>
                  <a:schemeClr val="tx1"/>
                </a:solidFill>
              </a:rPr>
              <a:t>Y </a:t>
            </a:r>
            <a:r>
              <a:rPr lang="en-US" altLang="zh-CN" sz="2800" dirty="0">
                <a:solidFill>
                  <a:schemeClr val="tx1"/>
                </a:solidFill>
                <a:sym typeface="Symbol" panose="05050102010706020507" pitchFamily="18" charset="2"/>
              </a:rPr>
              <a:t></a:t>
            </a:r>
            <a:r>
              <a:rPr lang="en-US" altLang="zh-CN" sz="2800" dirty="0">
                <a:solidFill>
                  <a:schemeClr val="tx1"/>
                </a:solidFill>
              </a:rPr>
              <a:t> X</a:t>
            </a:r>
            <a:r>
              <a:rPr lang="zh-CN" altLang="en-US" sz="2800" dirty="0">
                <a:solidFill>
                  <a:schemeClr val="tx1"/>
                </a:solidFill>
              </a:rPr>
              <a:t>），</a:t>
            </a:r>
            <a:r>
              <a:rPr lang="en-US" altLang="zh-CN" sz="2800" dirty="0">
                <a:solidFill>
                  <a:schemeClr val="tx1"/>
                </a:solidFill>
              </a:rPr>
              <a:t>X</a:t>
            </a:r>
            <a:r>
              <a:rPr lang="zh-CN" altLang="en-US" sz="2800" dirty="0">
                <a:solidFill>
                  <a:schemeClr val="tx1"/>
                </a:solidFill>
              </a:rPr>
              <a:t>都含有候选码，则</a:t>
            </a:r>
            <a:r>
              <a:rPr lang="en-US" altLang="zh-CN" sz="2800" dirty="0">
                <a:solidFill>
                  <a:schemeClr val="tx1"/>
                </a:solidFill>
              </a:rPr>
              <a:t>R∈4NF</a:t>
            </a:r>
            <a:r>
              <a:rPr lang="zh-CN" altLang="en-US" sz="2800" dirty="0">
                <a:solidFill>
                  <a:schemeClr val="tx1"/>
                </a:solidFill>
              </a:rPr>
              <a:t>。</a:t>
            </a:r>
            <a:endParaRPr lang="zh-CN" altLang="en-US" sz="2800" dirty="0">
              <a:solidFill>
                <a:schemeClr val="tx1"/>
              </a:solidFill>
            </a:endParaRPr>
          </a:p>
          <a:p>
            <a:pPr marL="609600" indent="-609600" eaLnBrk="1" hangingPunct="1">
              <a:lnSpc>
                <a:spcPct val="120000"/>
              </a:lnSpc>
            </a:pPr>
            <a:r>
              <a:rPr lang="zh-CN" altLang="en-US" sz="2800" dirty="0">
                <a:solidFill>
                  <a:srgbClr val="0000CC"/>
                </a:solidFill>
              </a:rPr>
              <a:t>不允许</a:t>
            </a:r>
            <a:r>
              <a:rPr lang="zh-CN" altLang="en-US" sz="2800" dirty="0">
                <a:solidFill>
                  <a:schemeClr val="tx1"/>
                </a:solidFill>
              </a:rPr>
              <a:t>有非平凡且非函数依赖的</a:t>
            </a:r>
            <a:r>
              <a:rPr lang="zh-CN" altLang="en-US" sz="2800" dirty="0">
                <a:solidFill>
                  <a:srgbClr val="0000CC"/>
                </a:solidFill>
              </a:rPr>
              <a:t>多值依赖</a:t>
            </a:r>
            <a:endParaRPr lang="zh-CN" altLang="en-US" sz="2800" dirty="0">
              <a:solidFill>
                <a:srgbClr val="0000CC"/>
              </a:solidFill>
            </a:endParaRPr>
          </a:p>
          <a:p>
            <a:pPr marL="609600" indent="-609600" eaLnBrk="1" hangingPunct="1">
              <a:lnSpc>
                <a:spcPct val="110000"/>
              </a:lnSpc>
            </a:pPr>
            <a:r>
              <a:rPr lang="zh-CN" altLang="en-US" sz="2800" dirty="0">
                <a:solidFill>
                  <a:srgbClr val="0000CC"/>
                </a:solidFill>
              </a:rPr>
              <a:t>允许</a:t>
            </a:r>
            <a:r>
              <a:rPr lang="zh-CN" altLang="en-US" sz="2800" dirty="0">
                <a:solidFill>
                  <a:schemeClr val="tx1"/>
                </a:solidFill>
              </a:rPr>
              <a:t>的是</a:t>
            </a:r>
            <a:r>
              <a:rPr lang="zh-CN" altLang="en-US" sz="2800" dirty="0">
                <a:solidFill>
                  <a:srgbClr val="0000CC"/>
                </a:solidFill>
              </a:rPr>
              <a:t>函数依赖</a:t>
            </a:r>
            <a:r>
              <a:rPr lang="zh-CN" altLang="en-US" sz="2800" dirty="0">
                <a:solidFill>
                  <a:schemeClr val="tx1"/>
                </a:solidFill>
              </a:rPr>
              <a:t>（是非平凡多值依赖）</a:t>
            </a:r>
            <a:endParaRPr lang="zh-CN" altLang="en-US" sz="2800" dirty="0">
              <a:solidFill>
                <a:schemeClr val="tx1"/>
              </a:solidFill>
            </a:endParaRPr>
          </a:p>
        </p:txBody>
      </p:sp>
      <p:sp>
        <p:nvSpPr>
          <p:cNvPr id="47108" name="Rectangle 3"/>
          <p:cNvSpPr>
            <a:spLocks noGrp="1"/>
          </p:cNvSpPr>
          <p:nvPr>
            <p:ph type="title"/>
          </p:nvPr>
        </p:nvSpPr>
        <p:spPr>
          <a:xfrm>
            <a:off x="685800" y="0"/>
            <a:ext cx="77724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dirty="0"/>
              <a:t>6.4.7  4NF</a:t>
            </a:r>
            <a:endParaRPr lang="en-US" altLang="zh-CN" dirty="0"/>
          </a:p>
        </p:txBody>
      </p:sp>
      <p:sp>
        <p:nvSpPr>
          <p:cNvPr id="47109" name="Line 4"/>
          <p:cNvSpPr/>
          <p:nvPr/>
        </p:nvSpPr>
        <p:spPr>
          <a:xfrm flipH="1">
            <a:off x="6096000" y="2438400"/>
            <a:ext cx="76200" cy="304800"/>
          </a:xfrm>
          <a:prstGeom prst="line">
            <a:avLst/>
          </a:prstGeom>
          <a:ln w="28575" cap="sq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8130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48131" name="Rectangle 2"/>
          <p:cNvSpPr>
            <a:spLocks noGrp="1"/>
          </p:cNvSpPr>
          <p:nvPr>
            <p:ph idx="1"/>
          </p:nvPr>
        </p:nvSpPr>
        <p:spPr>
          <a:xfrm>
            <a:off x="127000" y="914400"/>
            <a:ext cx="8864600" cy="5334000"/>
          </a:xfrm>
          <a:ln/>
        </p:spPr>
        <p:txBody>
          <a:bodyPr vert="horz" wrap="square" lIns="91440" tIns="45720" rIns="91440" bIns="45720" anchor="t" anchorCtr="0"/>
          <a:p>
            <a:pPr marL="609600" indent="-609600" eaLnBrk="1" hangingPunct="1">
              <a:lnSpc>
                <a:spcPct val="120000"/>
              </a:lnSpc>
              <a:buNone/>
            </a:pPr>
            <a:r>
              <a:rPr lang="en-US" altLang="zh-CN" sz="2800" dirty="0">
                <a:solidFill>
                  <a:schemeClr val="tx1"/>
                </a:solidFill>
              </a:rPr>
              <a:t>【</a:t>
            </a:r>
            <a:r>
              <a:rPr lang="zh-CN" altLang="en-US" sz="2800" dirty="0">
                <a:solidFill>
                  <a:schemeClr val="tx1"/>
                </a:solidFill>
              </a:rPr>
              <a:t>例</a:t>
            </a:r>
            <a:r>
              <a:rPr lang="en-US" altLang="zh-CN" sz="2800" dirty="0">
                <a:solidFill>
                  <a:schemeClr val="tx1"/>
                </a:solidFill>
              </a:rPr>
              <a:t>6.16】 </a:t>
            </a:r>
            <a:r>
              <a:rPr lang="zh-CN" altLang="en-US" sz="2800" dirty="0">
                <a:solidFill>
                  <a:schemeClr val="tx1"/>
                </a:solidFill>
              </a:rPr>
              <a:t>关系模式</a:t>
            </a:r>
            <a:r>
              <a:rPr lang="en-US" altLang="zh-CN" sz="2800" dirty="0">
                <a:solidFill>
                  <a:schemeClr val="tx1"/>
                </a:solidFill>
              </a:rPr>
              <a:t>: Teaching(C,T,B) </a:t>
            </a:r>
            <a:r>
              <a:rPr lang="en-US" altLang="zh-CN" sz="2800" dirty="0"/>
              <a:t>∈ 4NF</a:t>
            </a:r>
            <a:endParaRPr lang="en-US" altLang="zh-CN" sz="2800" dirty="0">
              <a:solidFill>
                <a:schemeClr val="tx1"/>
              </a:solidFill>
            </a:endParaRPr>
          </a:p>
          <a:p>
            <a:pPr marL="609600" indent="-609600" eaLnBrk="1" hangingPunct="1">
              <a:lnSpc>
                <a:spcPct val="120000"/>
              </a:lnSpc>
              <a:buClr>
                <a:srgbClr val="0000CC"/>
              </a:buClr>
            </a:pPr>
            <a:r>
              <a:rPr lang="zh-CN" altLang="en-US" sz="2800" dirty="0">
                <a:solidFill>
                  <a:schemeClr val="tx1"/>
                </a:solidFill>
              </a:rPr>
              <a:t>码为</a:t>
            </a:r>
            <a:r>
              <a:rPr lang="en-US" altLang="zh-CN" sz="2800" dirty="0">
                <a:solidFill>
                  <a:schemeClr val="tx1"/>
                </a:solidFill>
              </a:rPr>
              <a:t>(C, T, B)</a:t>
            </a:r>
            <a:endParaRPr lang="en-US" altLang="zh-CN" sz="2800" dirty="0">
              <a:solidFill>
                <a:schemeClr val="tx1"/>
              </a:solidFill>
            </a:endParaRPr>
          </a:p>
          <a:p>
            <a:pPr marL="609600" indent="-609600" eaLnBrk="1" hangingPunct="1">
              <a:lnSpc>
                <a:spcPct val="120000"/>
              </a:lnSpc>
              <a:buClr>
                <a:srgbClr val="0000CC"/>
              </a:buClr>
            </a:pPr>
            <a:r>
              <a:rPr lang="zh-CN" altLang="en-US" sz="2800" dirty="0">
                <a:solidFill>
                  <a:schemeClr val="tx1"/>
                </a:solidFill>
              </a:rPr>
              <a:t>存在</a:t>
            </a:r>
            <a:r>
              <a:rPr lang="en-US" altLang="zh-CN" sz="2800" dirty="0">
                <a:solidFill>
                  <a:schemeClr val="tx1"/>
                </a:solidFill>
              </a:rPr>
              <a:t>MVD</a:t>
            </a:r>
            <a:r>
              <a:rPr lang="zh-CN" altLang="en-US" sz="2800" dirty="0">
                <a:solidFill>
                  <a:schemeClr val="tx1"/>
                </a:solidFill>
              </a:rPr>
              <a:t>：</a:t>
            </a:r>
            <a:r>
              <a:rPr lang="en-US" altLang="zh-CN" sz="2800" dirty="0">
                <a:solidFill>
                  <a:schemeClr val="tx1"/>
                </a:solidFill>
              </a:rPr>
              <a:t>C→→T,</a:t>
            </a:r>
            <a:r>
              <a:rPr lang="zh-CN" altLang="en-US" sz="2800" dirty="0">
                <a:solidFill>
                  <a:schemeClr val="tx1"/>
                </a:solidFill>
              </a:rPr>
              <a:t>且</a:t>
            </a:r>
            <a:r>
              <a:rPr lang="en-US" altLang="zh-CN" sz="2800" dirty="0">
                <a:solidFill>
                  <a:schemeClr val="tx1"/>
                </a:solidFill>
              </a:rPr>
              <a:t>C</a:t>
            </a:r>
            <a:r>
              <a:rPr lang="zh-CN" altLang="en-US" sz="2800" dirty="0">
                <a:solidFill>
                  <a:schemeClr val="tx1"/>
                </a:solidFill>
              </a:rPr>
              <a:t>不是候选码</a:t>
            </a:r>
            <a:endParaRPr lang="zh-CN" altLang="en-US" sz="2800" dirty="0">
              <a:solidFill>
                <a:schemeClr val="tx1"/>
              </a:solidFill>
            </a:endParaRPr>
          </a:p>
          <a:p>
            <a:pPr marL="609600" indent="-609600" eaLnBrk="1" hangingPunct="1">
              <a:lnSpc>
                <a:spcPct val="120000"/>
              </a:lnSpc>
              <a:buClr>
                <a:srgbClr val="0000CC"/>
              </a:buClr>
            </a:pPr>
            <a:r>
              <a:rPr lang="zh-CN" altLang="en-US" sz="2800" dirty="0">
                <a:solidFill>
                  <a:schemeClr val="tx1"/>
                </a:solidFill>
              </a:rPr>
              <a:t>分解成两个关系模式：</a:t>
            </a:r>
            <a:endParaRPr lang="zh-CN" altLang="en-US" sz="2800" dirty="0">
              <a:solidFill>
                <a:schemeClr val="tx1"/>
              </a:solidFill>
            </a:endParaRPr>
          </a:p>
          <a:p>
            <a:pPr marL="609600" indent="-609600" eaLnBrk="1" hangingPunct="1">
              <a:lnSpc>
                <a:spcPct val="140000"/>
              </a:lnSpc>
              <a:buNone/>
            </a:pPr>
            <a:r>
              <a:rPr lang="zh-CN" altLang="en-US" sz="2800" dirty="0">
                <a:solidFill>
                  <a:schemeClr val="tx1"/>
                </a:solidFill>
              </a:rPr>
              <a:t>			</a:t>
            </a:r>
            <a:r>
              <a:rPr lang="en-US" altLang="zh-CN" sz="2800" dirty="0">
                <a:solidFill>
                  <a:schemeClr val="tx1"/>
                </a:solidFill>
              </a:rPr>
              <a:t>T(C, T) ∈ 4NF  (</a:t>
            </a:r>
            <a:r>
              <a:rPr lang="zh-CN" altLang="en-US" sz="2800" dirty="0">
                <a:solidFill>
                  <a:schemeClr val="tx1"/>
                </a:solidFill>
              </a:rPr>
              <a:t>码</a:t>
            </a:r>
            <a:r>
              <a:rPr lang="en-US" altLang="zh-CN" sz="2800" dirty="0">
                <a:solidFill>
                  <a:schemeClr val="tx1"/>
                </a:solidFill>
              </a:rPr>
              <a:t>:CT)</a:t>
            </a:r>
            <a:endParaRPr lang="en-US" altLang="zh-CN" sz="2800" dirty="0">
              <a:solidFill>
                <a:schemeClr val="tx1"/>
              </a:solidFill>
            </a:endParaRPr>
          </a:p>
          <a:p>
            <a:pPr marL="609600" indent="-609600" eaLnBrk="1" hangingPunct="1">
              <a:lnSpc>
                <a:spcPct val="140000"/>
              </a:lnSpc>
              <a:buNone/>
            </a:pPr>
            <a:r>
              <a:rPr lang="en-US" altLang="zh-CN" sz="2800" dirty="0">
                <a:solidFill>
                  <a:schemeClr val="tx1"/>
                </a:solidFill>
              </a:rPr>
              <a:t>          		B(C, B) ∈ 4NF  (</a:t>
            </a:r>
            <a:r>
              <a:rPr lang="zh-CN" altLang="en-US" sz="2800" dirty="0">
                <a:solidFill>
                  <a:schemeClr val="tx1"/>
                </a:solidFill>
              </a:rPr>
              <a:t>码</a:t>
            </a:r>
            <a:r>
              <a:rPr lang="en-US" altLang="zh-CN" sz="2800" dirty="0">
                <a:solidFill>
                  <a:schemeClr val="tx1"/>
                </a:solidFill>
              </a:rPr>
              <a:t>:CB)</a:t>
            </a:r>
            <a:endParaRPr lang="en-US" altLang="zh-CN" sz="2800" dirty="0">
              <a:solidFill>
                <a:schemeClr val="tx1"/>
              </a:solidFill>
            </a:endParaRPr>
          </a:p>
          <a:p>
            <a:pPr marL="609600" indent="-609600" eaLnBrk="1" hangingPunct="1">
              <a:lnSpc>
                <a:spcPct val="140000"/>
              </a:lnSpc>
              <a:buNone/>
            </a:pPr>
            <a:r>
              <a:rPr lang="en-US" altLang="zh-CN" sz="2800" dirty="0"/>
              <a:t>        </a:t>
            </a:r>
            <a:r>
              <a:rPr lang="en-US" altLang="zh-CN" sz="2800" dirty="0">
                <a:solidFill>
                  <a:schemeClr val="tx1"/>
                </a:solidFill>
              </a:rPr>
              <a:t>C→→T</a:t>
            </a:r>
            <a:r>
              <a:rPr lang="zh-CN" altLang="en-US" sz="2800" dirty="0">
                <a:solidFill>
                  <a:schemeClr val="tx1"/>
                </a:solidFill>
              </a:rPr>
              <a:t>， </a:t>
            </a:r>
            <a:r>
              <a:rPr lang="en-US" altLang="zh-CN" sz="2800" dirty="0">
                <a:solidFill>
                  <a:schemeClr val="tx1"/>
                </a:solidFill>
              </a:rPr>
              <a:t>C→→B</a:t>
            </a:r>
            <a:r>
              <a:rPr lang="zh-CN" altLang="en-US" sz="2800" dirty="0">
                <a:solidFill>
                  <a:schemeClr val="tx1"/>
                </a:solidFill>
              </a:rPr>
              <a:t>是平凡多值依赖</a:t>
            </a:r>
            <a:endParaRPr lang="zh-CN" altLang="en-US" sz="3600" dirty="0">
              <a:solidFill>
                <a:schemeClr val="tx1"/>
              </a:solidFill>
            </a:endParaRPr>
          </a:p>
          <a:p>
            <a:pPr marL="609600" indent="-609600" eaLnBrk="1" hangingPunct="1">
              <a:lnSpc>
                <a:spcPct val="140000"/>
              </a:lnSpc>
              <a:buNone/>
            </a:pPr>
            <a:endParaRPr lang="zh-CN" altLang="en-US" sz="2800" dirty="0">
              <a:solidFill>
                <a:schemeClr val="tx1"/>
              </a:solidFill>
            </a:endParaRPr>
          </a:p>
        </p:txBody>
      </p:sp>
      <p:sp>
        <p:nvSpPr>
          <p:cNvPr id="48132" name="Rectangle 3"/>
          <p:cNvSpPr>
            <a:spLocks noGrp="1"/>
          </p:cNvSpPr>
          <p:nvPr>
            <p:ph type="title"/>
          </p:nvPr>
        </p:nvSpPr>
        <p:spPr>
          <a:xfrm>
            <a:off x="685800" y="0"/>
            <a:ext cx="77724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u="sng" dirty="0"/>
              <a:t>6.4.7  4NF</a:t>
            </a:r>
            <a:endParaRPr lang="en-US" altLang="zh-CN" u="sng" dirty="0"/>
          </a:p>
        </p:txBody>
      </p:sp>
      <p:sp>
        <p:nvSpPr>
          <p:cNvPr id="48133" name="Line 4"/>
          <p:cNvSpPr/>
          <p:nvPr/>
        </p:nvSpPr>
        <p:spPr>
          <a:xfrm flipH="1">
            <a:off x="5943600" y="1143000"/>
            <a:ext cx="76200" cy="304800"/>
          </a:xfrm>
          <a:prstGeom prst="line">
            <a:avLst/>
          </a:prstGeom>
          <a:ln w="28575" cap="sq" cmpd="sng">
            <a:solidFill>
              <a:srgbClr val="FF3300"/>
            </a:solidFill>
            <a:prstDash val="solid"/>
            <a:headEnd type="none" w="med" len="med"/>
            <a:tailEnd type="none" w="med" len="med"/>
          </a:ln>
        </p:spPr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9154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49155" name="Rectangle 2"/>
          <p:cNvSpPr>
            <a:spLocks noGrp="1"/>
          </p:cNvSpPr>
          <p:nvPr>
            <p:ph idx="1"/>
          </p:nvPr>
        </p:nvSpPr>
        <p:spPr>
          <a:xfrm>
            <a:off x="127000" y="914400"/>
            <a:ext cx="8864600" cy="5334000"/>
          </a:xfrm>
          <a:ln/>
        </p:spPr>
        <p:txBody>
          <a:bodyPr vert="horz" wrap="square" lIns="91440" tIns="45720" rIns="91440" bIns="45720" anchor="t" anchorCtr="0"/>
          <a:p>
            <a:pPr marL="609600" indent="-609600" eaLnBrk="1" hangingPunct="1">
              <a:lnSpc>
                <a:spcPct val="120000"/>
              </a:lnSpc>
            </a:pPr>
            <a:r>
              <a:rPr lang="zh-CN" altLang="en-US" dirty="0"/>
              <a:t>如果</a:t>
            </a:r>
            <a:r>
              <a:rPr lang="en-US" altLang="zh-CN" dirty="0"/>
              <a:t>R ∈ 4NF</a:t>
            </a:r>
            <a:r>
              <a:rPr lang="zh-CN" altLang="en-US" dirty="0"/>
              <a:t>， 则</a:t>
            </a:r>
            <a:r>
              <a:rPr lang="en-US" altLang="zh-CN" dirty="0"/>
              <a:t>R ∈ BCNF</a:t>
            </a:r>
            <a:r>
              <a:rPr lang="en-US" altLang="zh-CN" sz="2800" dirty="0"/>
              <a:t> </a:t>
            </a:r>
            <a:endParaRPr lang="en-US" altLang="zh-CN" sz="2800" dirty="0"/>
          </a:p>
          <a:p>
            <a:pPr marL="609600" indent="-609600" eaLnBrk="1" hangingPunct="1">
              <a:lnSpc>
                <a:spcPct val="120000"/>
              </a:lnSpc>
              <a:buNone/>
            </a:pPr>
            <a:r>
              <a:rPr lang="zh-CN" altLang="en-US" sz="2800" dirty="0">
                <a:solidFill>
                  <a:schemeClr val="tx1"/>
                </a:solidFill>
                <a:ea typeface="黑体" panose="02010609060101010101" pitchFamily="49" charset="-122"/>
              </a:rPr>
              <a:t>证   </a:t>
            </a:r>
            <a:r>
              <a:rPr lang="zh-CN" altLang="en-US" sz="2800" dirty="0">
                <a:solidFill>
                  <a:schemeClr val="tx1"/>
                </a:solidFill>
              </a:rPr>
              <a:t>反证法。设</a:t>
            </a:r>
            <a:r>
              <a:rPr lang="en-US" altLang="zh-CN" sz="2800" dirty="0">
                <a:solidFill>
                  <a:schemeClr val="tx1"/>
                </a:solidFill>
              </a:rPr>
              <a:t>R ∈ 4NF, </a:t>
            </a:r>
            <a:r>
              <a:rPr lang="zh-CN" altLang="en-US" sz="2800" dirty="0">
                <a:solidFill>
                  <a:schemeClr val="tx1"/>
                </a:solidFill>
              </a:rPr>
              <a:t>但</a:t>
            </a:r>
            <a:r>
              <a:rPr lang="en-US" altLang="zh-CN" sz="2800" dirty="0">
                <a:solidFill>
                  <a:schemeClr val="tx1"/>
                </a:solidFill>
              </a:rPr>
              <a:t>R ∈ BCNF</a:t>
            </a:r>
            <a:r>
              <a:rPr lang="zh-CN" altLang="en-US" sz="2800" dirty="0">
                <a:solidFill>
                  <a:schemeClr val="tx1"/>
                </a:solidFill>
              </a:rPr>
              <a:t>，但</a:t>
            </a:r>
            <a:r>
              <a:rPr lang="en-US" altLang="zh-CN" sz="2800" dirty="0">
                <a:solidFill>
                  <a:schemeClr val="tx1"/>
                </a:solidFill>
              </a:rPr>
              <a:t>R</a:t>
            </a:r>
            <a:r>
              <a:rPr lang="zh-CN" altLang="en-US" sz="2800" dirty="0">
                <a:solidFill>
                  <a:schemeClr val="tx1"/>
                </a:solidFill>
              </a:rPr>
              <a:t>中必存在某个非平凡</a:t>
            </a:r>
            <a:r>
              <a:rPr lang="en-US" altLang="zh-CN" sz="2800" dirty="0">
                <a:solidFill>
                  <a:schemeClr val="tx1"/>
                </a:solidFill>
              </a:rPr>
              <a:t>FD : X→Y(</a:t>
            </a:r>
            <a:r>
              <a:rPr lang="zh-CN" altLang="en-US" sz="2800" dirty="0">
                <a:solidFill>
                  <a:schemeClr val="tx1"/>
                </a:solidFill>
              </a:rPr>
              <a:t>当然更有</a:t>
            </a:r>
            <a:r>
              <a:rPr lang="en-US" altLang="zh-CN" sz="2800" dirty="0">
                <a:solidFill>
                  <a:schemeClr val="tx1"/>
                </a:solidFill>
              </a:rPr>
              <a:t>X→ → Y)</a:t>
            </a:r>
            <a:r>
              <a:rPr lang="zh-CN" altLang="en-US" sz="2800" dirty="0">
                <a:solidFill>
                  <a:schemeClr val="tx1"/>
                </a:solidFill>
              </a:rPr>
              <a:t>，且</a:t>
            </a:r>
            <a:r>
              <a:rPr lang="en-US" altLang="zh-CN" sz="2800" dirty="0">
                <a:solidFill>
                  <a:schemeClr val="tx1"/>
                </a:solidFill>
              </a:rPr>
              <a:t>X</a:t>
            </a:r>
            <a:r>
              <a:rPr lang="zh-CN" altLang="en-US" sz="2800" dirty="0">
                <a:solidFill>
                  <a:schemeClr val="tx1"/>
                </a:solidFill>
              </a:rPr>
              <a:t>不含</a:t>
            </a:r>
            <a:r>
              <a:rPr lang="en-US" altLang="zh-CN" sz="2800" dirty="0">
                <a:solidFill>
                  <a:schemeClr val="tx1"/>
                </a:solidFill>
              </a:rPr>
              <a:t>R</a:t>
            </a:r>
            <a:r>
              <a:rPr lang="zh-CN" altLang="en-US" sz="2800" dirty="0">
                <a:solidFill>
                  <a:schemeClr val="tx1"/>
                </a:solidFill>
              </a:rPr>
              <a:t>的码。如果</a:t>
            </a:r>
            <a:r>
              <a:rPr lang="en-US" altLang="zh-CN" sz="2800" dirty="0">
                <a:solidFill>
                  <a:schemeClr val="tx1"/>
                </a:solidFill>
              </a:rPr>
              <a:t>X </a:t>
            </a:r>
            <a:r>
              <a:rPr lang="en-US" altLang="zh-CN" sz="2800" dirty="0">
                <a:solidFill>
                  <a:schemeClr val="tx1"/>
                </a:solidFill>
                <a:sym typeface="Symbol" panose="05050102010706020507" pitchFamily="18" charset="2"/>
              </a:rPr>
              <a:t>Y=U</a:t>
            </a:r>
            <a:r>
              <a:rPr lang="zh-CN" altLang="en-US" sz="2800" dirty="0">
                <a:solidFill>
                  <a:schemeClr val="tx1"/>
                </a:solidFill>
                <a:sym typeface="Symbol" panose="05050102010706020507" pitchFamily="18" charset="2"/>
              </a:rPr>
              <a:t>，则</a:t>
            </a:r>
            <a:r>
              <a:rPr lang="en-US" altLang="zh-CN" sz="2800" dirty="0">
                <a:solidFill>
                  <a:schemeClr val="tx1"/>
                </a:solidFill>
                <a:sym typeface="Symbol" panose="05050102010706020507" pitchFamily="18" charset="2"/>
              </a:rPr>
              <a:t>X</a:t>
            </a:r>
            <a:r>
              <a:rPr lang="zh-CN" altLang="en-US" sz="2800" dirty="0">
                <a:solidFill>
                  <a:schemeClr val="tx1"/>
                </a:solidFill>
                <a:sym typeface="Symbol" panose="05050102010706020507" pitchFamily="18" charset="2"/>
              </a:rPr>
              <a:t>将成为码，与假设矛盾</a:t>
            </a:r>
            <a:r>
              <a:rPr lang="en-US" altLang="zh-CN" sz="2800" dirty="0">
                <a:solidFill>
                  <a:schemeClr val="tx1"/>
                </a:solidFill>
                <a:sym typeface="Symbol" panose="05050102010706020507" pitchFamily="18" charset="2"/>
              </a:rPr>
              <a:t>;  </a:t>
            </a:r>
            <a:r>
              <a:rPr lang="zh-CN" altLang="en-US" sz="2800" dirty="0">
                <a:solidFill>
                  <a:schemeClr val="tx1"/>
                </a:solidFill>
                <a:sym typeface="Symbol" panose="05050102010706020507" pitchFamily="18" charset="2"/>
              </a:rPr>
              <a:t>而如果</a:t>
            </a:r>
            <a:r>
              <a:rPr lang="en-US" altLang="zh-CN" sz="2800" dirty="0">
                <a:solidFill>
                  <a:schemeClr val="tx1"/>
                </a:solidFill>
              </a:rPr>
              <a:t>X </a:t>
            </a:r>
            <a:r>
              <a:rPr lang="en-US" altLang="zh-CN" sz="2800" dirty="0">
                <a:solidFill>
                  <a:schemeClr val="tx1"/>
                </a:solidFill>
                <a:sym typeface="Symbol" panose="05050102010706020507" pitchFamily="18" charset="2"/>
              </a:rPr>
              <a:t>Y</a:t>
            </a:r>
            <a:r>
              <a:rPr lang="en-US" altLang="zh-CN" sz="2800" dirty="0">
                <a:solidFill>
                  <a:schemeClr val="tx1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≠</a:t>
            </a:r>
            <a:r>
              <a:rPr lang="en-US" altLang="zh-CN" sz="2800" dirty="0">
                <a:solidFill>
                  <a:schemeClr val="tx1"/>
                </a:solidFill>
                <a:sym typeface="Symbol" panose="05050102010706020507" pitchFamily="18" charset="2"/>
              </a:rPr>
              <a:t> U</a:t>
            </a:r>
            <a:r>
              <a:rPr lang="zh-CN" altLang="en-US" sz="2800" dirty="0">
                <a:solidFill>
                  <a:schemeClr val="tx1"/>
                </a:solidFill>
                <a:sym typeface="Symbol" panose="05050102010706020507" pitchFamily="18" charset="2"/>
              </a:rPr>
              <a:t>，则</a:t>
            </a:r>
            <a:r>
              <a:rPr lang="en-US" altLang="zh-CN" sz="2800" dirty="0">
                <a:solidFill>
                  <a:schemeClr val="tx1"/>
                </a:solidFill>
                <a:sym typeface="Symbol" panose="05050102010706020507" pitchFamily="18" charset="2"/>
              </a:rPr>
              <a:t>Z=U-X-Y </a:t>
            </a:r>
            <a:r>
              <a:rPr lang="en-US" altLang="zh-CN" sz="2800" dirty="0">
                <a:solidFill>
                  <a:schemeClr val="tx1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≠</a:t>
            </a:r>
            <a:r>
              <a:rPr lang="en-US" altLang="zh-CN" sz="2800" dirty="0">
                <a:solidFill>
                  <a:schemeClr val="tx1"/>
                </a:solidFill>
              </a:rPr>
              <a:t>φ, </a:t>
            </a:r>
            <a:r>
              <a:rPr lang="zh-CN" altLang="en-US" sz="2800" dirty="0">
                <a:solidFill>
                  <a:schemeClr val="tx1"/>
                </a:solidFill>
              </a:rPr>
              <a:t>从而</a:t>
            </a:r>
            <a:r>
              <a:rPr lang="en-US" altLang="zh-CN" sz="2800" dirty="0">
                <a:solidFill>
                  <a:schemeClr val="tx1"/>
                </a:solidFill>
              </a:rPr>
              <a:t>X→ → Y</a:t>
            </a:r>
            <a:r>
              <a:rPr lang="zh-CN" altLang="en-US" sz="2800" dirty="0">
                <a:solidFill>
                  <a:schemeClr val="tx1"/>
                </a:solidFill>
              </a:rPr>
              <a:t>是一个非平凡的多值依赖，加之</a:t>
            </a:r>
            <a:r>
              <a:rPr lang="en-US" altLang="zh-CN" sz="2800" dirty="0">
                <a:solidFill>
                  <a:schemeClr val="tx1"/>
                </a:solidFill>
              </a:rPr>
              <a:t>X</a:t>
            </a:r>
            <a:r>
              <a:rPr lang="zh-CN" altLang="en-US" sz="2800" dirty="0">
                <a:solidFill>
                  <a:schemeClr val="tx1"/>
                </a:solidFill>
              </a:rPr>
              <a:t>不含</a:t>
            </a:r>
            <a:r>
              <a:rPr lang="en-US" altLang="zh-CN" sz="2800" dirty="0">
                <a:solidFill>
                  <a:schemeClr val="tx1"/>
                </a:solidFill>
              </a:rPr>
              <a:t>R</a:t>
            </a:r>
            <a:r>
              <a:rPr lang="zh-CN" altLang="en-US" sz="2800" dirty="0">
                <a:solidFill>
                  <a:schemeClr val="tx1"/>
                </a:solidFill>
              </a:rPr>
              <a:t>的码，于是</a:t>
            </a:r>
            <a:r>
              <a:rPr lang="en-US" altLang="zh-CN" sz="2800" dirty="0">
                <a:solidFill>
                  <a:schemeClr val="tx1"/>
                </a:solidFill>
              </a:rPr>
              <a:t>R ∈ 4NF, </a:t>
            </a:r>
            <a:r>
              <a:rPr lang="zh-CN" altLang="en-US" sz="2800" dirty="0">
                <a:solidFill>
                  <a:schemeClr val="tx1"/>
                </a:solidFill>
              </a:rPr>
              <a:t>这也与题设矛盾。</a:t>
            </a:r>
            <a:endParaRPr lang="zh-CN" altLang="en-US" sz="2800" dirty="0">
              <a:solidFill>
                <a:schemeClr val="tx1"/>
              </a:solidFill>
            </a:endParaRPr>
          </a:p>
        </p:txBody>
      </p:sp>
      <p:sp>
        <p:nvSpPr>
          <p:cNvPr id="49156" name="Rectangle 3"/>
          <p:cNvSpPr>
            <a:spLocks noGrp="1"/>
          </p:cNvSpPr>
          <p:nvPr>
            <p:ph type="title"/>
          </p:nvPr>
        </p:nvSpPr>
        <p:spPr>
          <a:xfrm>
            <a:off x="685800" y="0"/>
            <a:ext cx="77724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u="sng" dirty="0"/>
              <a:t>6.4.7  4NF</a:t>
            </a:r>
            <a:endParaRPr lang="en-US" altLang="zh-CN" u="sng" dirty="0"/>
          </a:p>
        </p:txBody>
      </p:sp>
      <p:sp>
        <p:nvSpPr>
          <p:cNvPr id="49157" name="Line 4"/>
          <p:cNvSpPr/>
          <p:nvPr/>
        </p:nvSpPr>
        <p:spPr>
          <a:xfrm flipH="1">
            <a:off x="5092700" y="1727200"/>
            <a:ext cx="76200" cy="355600"/>
          </a:xfrm>
          <a:prstGeom prst="line">
            <a:avLst/>
          </a:prstGeom>
          <a:ln w="28575" cap="sq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9158" name="Line 5"/>
          <p:cNvSpPr/>
          <p:nvPr/>
        </p:nvSpPr>
        <p:spPr>
          <a:xfrm flipH="1">
            <a:off x="2032000" y="4318000"/>
            <a:ext cx="76200" cy="355600"/>
          </a:xfrm>
          <a:prstGeom prst="line">
            <a:avLst/>
          </a:prstGeom>
          <a:ln w="28575" cap="sq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0178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50179" name="Rectangle 2"/>
          <p:cNvSpPr>
            <a:spLocks noGrp="1"/>
          </p:cNvSpPr>
          <p:nvPr>
            <p:ph idx="1"/>
          </p:nvPr>
        </p:nvSpPr>
        <p:spPr>
          <a:xfrm>
            <a:off x="1066800" y="914400"/>
            <a:ext cx="6629400" cy="4876800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dirty="0">
                <a:solidFill>
                  <a:schemeClr val="tx1"/>
                </a:solidFill>
              </a:rPr>
              <a:t>6.4.1 </a:t>
            </a:r>
            <a:r>
              <a:rPr lang="zh-CN" altLang="en-US" dirty="0">
                <a:solidFill>
                  <a:schemeClr val="tx1"/>
                </a:solidFill>
              </a:rPr>
              <a:t>范式</a:t>
            </a:r>
            <a:endParaRPr lang="zh-CN" altLang="en-US" dirty="0">
              <a:solidFill>
                <a:schemeClr val="tx1"/>
              </a:solidFill>
            </a:endParaRP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dirty="0">
                <a:solidFill>
                  <a:schemeClr val="tx1"/>
                </a:solidFill>
              </a:rPr>
              <a:t>6.4.2 1NF</a:t>
            </a:r>
            <a:endParaRPr lang="en-US" altLang="zh-CN" dirty="0">
              <a:solidFill>
                <a:schemeClr val="tx1"/>
              </a:solidFill>
            </a:endParaRP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dirty="0">
                <a:solidFill>
                  <a:schemeClr val="tx1"/>
                </a:solidFill>
              </a:rPr>
              <a:t>6.4.3 2NF</a:t>
            </a:r>
            <a:endParaRPr lang="en-US" altLang="zh-CN" dirty="0">
              <a:solidFill>
                <a:schemeClr val="tx1"/>
              </a:solidFill>
            </a:endParaRP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dirty="0">
                <a:solidFill>
                  <a:schemeClr val="tx1"/>
                </a:solidFill>
              </a:rPr>
              <a:t>6.4.4 3NF</a:t>
            </a:r>
            <a:endParaRPr lang="en-US" altLang="zh-CN" dirty="0">
              <a:solidFill>
                <a:schemeClr val="tx1"/>
              </a:solidFill>
            </a:endParaRP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dirty="0">
                <a:solidFill>
                  <a:schemeClr val="tx1"/>
                </a:solidFill>
              </a:rPr>
              <a:t>6.4.5 BCNF</a:t>
            </a:r>
            <a:endParaRPr lang="en-US" altLang="zh-CN" dirty="0">
              <a:solidFill>
                <a:schemeClr val="tx1"/>
              </a:solidFill>
            </a:endParaRP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dirty="0">
                <a:solidFill>
                  <a:schemeClr val="tx1"/>
                </a:solidFill>
              </a:rPr>
              <a:t>6.4.6 </a:t>
            </a:r>
            <a:r>
              <a:rPr lang="zh-CN" altLang="en-US" dirty="0">
                <a:solidFill>
                  <a:schemeClr val="tx1"/>
                </a:solidFill>
              </a:rPr>
              <a:t>多值依赖</a:t>
            </a:r>
            <a:endParaRPr lang="zh-CN" altLang="en-US" dirty="0">
              <a:solidFill>
                <a:schemeClr val="tx1"/>
              </a:solidFill>
            </a:endParaRP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dirty="0">
                <a:solidFill>
                  <a:schemeClr val="tx1"/>
                </a:solidFill>
              </a:rPr>
              <a:t>6.4.7 4NF</a:t>
            </a:r>
            <a:endParaRPr lang="en-US" altLang="zh-CN" dirty="0">
              <a:solidFill>
                <a:schemeClr val="tx1"/>
              </a:solidFill>
            </a:endParaRP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dirty="0"/>
              <a:t>6.4.8 </a:t>
            </a:r>
            <a:r>
              <a:rPr lang="zh-CN" altLang="en-US" dirty="0"/>
              <a:t>规范化小结</a:t>
            </a:r>
            <a:endParaRPr lang="zh-CN" altLang="en-US" dirty="0"/>
          </a:p>
        </p:txBody>
      </p:sp>
      <p:sp>
        <p:nvSpPr>
          <p:cNvPr id="50180" name="Rectangle 3"/>
          <p:cNvSpPr>
            <a:spLocks noGrp="1"/>
          </p:cNvSpPr>
          <p:nvPr>
            <p:ph type="title"/>
          </p:nvPr>
        </p:nvSpPr>
        <p:spPr>
          <a:xfrm>
            <a:off x="685800" y="0"/>
            <a:ext cx="77724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dirty="0"/>
              <a:t>6.4  </a:t>
            </a:r>
            <a:r>
              <a:rPr lang="zh-CN" altLang="en-US" dirty="0"/>
              <a:t>关系模式的规范化</a:t>
            </a:r>
            <a:endParaRPr lang="zh-CN" altLang="en-US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202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51203" name="Rectangle 2"/>
          <p:cNvSpPr>
            <a:spLocks noGrp="1"/>
          </p:cNvSpPr>
          <p:nvPr>
            <p:ph type="title"/>
          </p:nvPr>
        </p:nvSpPr>
        <p:spPr>
          <a:xfrm>
            <a:off x="685800" y="0"/>
            <a:ext cx="77724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dirty="0"/>
              <a:t>6.4.8  </a:t>
            </a:r>
            <a:r>
              <a:rPr lang="zh-CN" altLang="en-US" dirty="0"/>
              <a:t>规范化小结</a:t>
            </a:r>
            <a:endParaRPr lang="zh-CN" altLang="en-US" dirty="0"/>
          </a:p>
        </p:txBody>
      </p:sp>
      <p:sp>
        <p:nvSpPr>
          <p:cNvPr id="51204" name="Rectangle 3"/>
          <p:cNvSpPr/>
          <p:nvPr/>
        </p:nvSpPr>
        <p:spPr>
          <a:xfrm>
            <a:off x="1600200" y="2286000"/>
            <a:ext cx="1905000" cy="685800"/>
          </a:xfrm>
          <a:prstGeom prst="rect">
            <a:avLst/>
          </a:prstGeom>
          <a:gradFill rotWithShape="0">
            <a:gsLst>
              <a:gs pos="0">
                <a:srgbClr val="5E9EFF">
                  <a:alpha val="100000"/>
                </a:srgbClr>
              </a:gs>
              <a:gs pos="39999">
                <a:srgbClr val="85C2FF">
                  <a:alpha val="100000"/>
                </a:srgbClr>
              </a:gs>
              <a:gs pos="70000">
                <a:srgbClr val="C4D6EB">
                  <a:alpha val="100000"/>
                </a:srgbClr>
              </a:gs>
              <a:gs pos="100000">
                <a:srgbClr val="FFEBFA">
                  <a:alpha val="100000"/>
                </a:srgbClr>
              </a:gs>
            </a:gsLst>
            <a:lin ang="5400000" scaled="1"/>
            <a:tileRect/>
          </a:gradFill>
          <a:ln w="9525" cap="flat" cmpd="sng">
            <a:prstDash val="solid"/>
            <a:miter/>
            <a:headEnd type="none" w="med" len="med"/>
            <a:tailEnd type="none" w="med" len="med"/>
          </a:ln>
          <a:scene3d>
            <a:camera prst="legacyObliqueTopRight">
              <a:rot lat="0" lon="0" rev="0"/>
            </a:camera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5E9EFF"/>
            </a:extrusionClr>
          </a:sp3d>
        </p:spPr>
        <p:txBody>
          <a:bodyPr wrap="none" anchor="ctr" anchorCtr="0">
            <a:flatTx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kumimoji="1"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kumimoji="1"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3600" b="0" dirty="0">
                <a:solidFill>
                  <a:schemeClr val="tx1"/>
                </a:solidFill>
              </a:rPr>
              <a:t>2NF</a:t>
            </a:r>
            <a:endParaRPr lang="en-US" altLang="zh-CN" sz="3600" b="0" dirty="0">
              <a:solidFill>
                <a:schemeClr val="tx1"/>
              </a:solidFill>
            </a:endParaRPr>
          </a:p>
        </p:txBody>
      </p:sp>
      <p:sp>
        <p:nvSpPr>
          <p:cNvPr id="51205" name="Rectangle 4"/>
          <p:cNvSpPr/>
          <p:nvPr/>
        </p:nvSpPr>
        <p:spPr>
          <a:xfrm>
            <a:off x="1600200" y="5715000"/>
            <a:ext cx="1905000" cy="685800"/>
          </a:xfrm>
          <a:prstGeom prst="rect">
            <a:avLst/>
          </a:prstGeom>
          <a:gradFill rotWithShape="0">
            <a:gsLst>
              <a:gs pos="0">
                <a:srgbClr val="5E9EFF">
                  <a:alpha val="100000"/>
                </a:srgbClr>
              </a:gs>
              <a:gs pos="39999">
                <a:srgbClr val="85C2FF">
                  <a:alpha val="100000"/>
                </a:srgbClr>
              </a:gs>
              <a:gs pos="70000">
                <a:srgbClr val="C4D6EB">
                  <a:alpha val="100000"/>
                </a:srgbClr>
              </a:gs>
              <a:gs pos="100000">
                <a:srgbClr val="FFEBFA">
                  <a:alpha val="100000"/>
                </a:srgbClr>
              </a:gs>
            </a:gsLst>
            <a:lin ang="5400000" scaled="1"/>
            <a:tileRect/>
          </a:gradFill>
          <a:ln w="9525" cap="flat" cmpd="sng">
            <a:prstDash val="solid"/>
            <a:miter/>
            <a:headEnd type="none" w="med" len="med"/>
            <a:tailEnd type="none" w="med" len="med"/>
          </a:ln>
          <a:scene3d>
            <a:camera prst="legacyObliqueTopRight">
              <a:rot lat="0" lon="0" rev="0"/>
            </a:camera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5E9EFF"/>
            </a:extrusionClr>
          </a:sp3d>
        </p:spPr>
        <p:txBody>
          <a:bodyPr wrap="none" anchor="ctr" anchorCtr="0">
            <a:flatTx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kumimoji="1"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kumimoji="1"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3600" b="0" dirty="0">
                <a:solidFill>
                  <a:schemeClr val="tx1"/>
                </a:solidFill>
              </a:rPr>
              <a:t>4NF</a:t>
            </a:r>
            <a:endParaRPr lang="en-US" altLang="zh-CN" sz="3600" b="0" dirty="0">
              <a:solidFill>
                <a:schemeClr val="tx1"/>
              </a:solidFill>
            </a:endParaRPr>
          </a:p>
        </p:txBody>
      </p:sp>
      <p:sp>
        <p:nvSpPr>
          <p:cNvPr id="51206" name="AutoShape 5"/>
          <p:cNvSpPr/>
          <p:nvPr/>
        </p:nvSpPr>
        <p:spPr>
          <a:xfrm>
            <a:off x="2362200" y="1778000"/>
            <a:ext cx="457200" cy="457200"/>
          </a:xfrm>
          <a:prstGeom prst="downArrow">
            <a:avLst>
              <a:gd name="adj1" fmla="val 50000"/>
              <a:gd name="adj2" fmla="val 25000"/>
            </a:avLst>
          </a:prstGeom>
          <a:gradFill rotWithShape="0">
            <a:gsLst>
              <a:gs pos="0">
                <a:srgbClr val="5E9EFF">
                  <a:alpha val="100000"/>
                </a:srgbClr>
              </a:gs>
              <a:gs pos="39999">
                <a:srgbClr val="85C2FF">
                  <a:alpha val="100000"/>
                </a:srgbClr>
              </a:gs>
              <a:gs pos="70000">
                <a:srgbClr val="C4D6EB">
                  <a:alpha val="100000"/>
                </a:srgbClr>
              </a:gs>
              <a:gs pos="100000">
                <a:srgbClr val="FFEBFA">
                  <a:alpha val="100000"/>
                </a:srgbClr>
              </a:gs>
            </a:gsLst>
            <a:lin ang="540000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vert="eaVert"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kumimoji="1"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kumimoji="1"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endParaRPr lang="en-US" altLang="zh-CN" sz="1400" dirty="0">
              <a:solidFill>
                <a:schemeClr val="tx1"/>
              </a:solidFill>
            </a:endParaRPr>
          </a:p>
        </p:txBody>
      </p:sp>
      <p:sp>
        <p:nvSpPr>
          <p:cNvPr id="51207" name="Rectangle 6"/>
          <p:cNvSpPr/>
          <p:nvPr/>
        </p:nvSpPr>
        <p:spPr>
          <a:xfrm>
            <a:off x="1600200" y="1143000"/>
            <a:ext cx="1905000" cy="685800"/>
          </a:xfrm>
          <a:prstGeom prst="rect">
            <a:avLst/>
          </a:prstGeom>
          <a:gradFill rotWithShape="0">
            <a:gsLst>
              <a:gs pos="0">
                <a:srgbClr val="5E9EFF">
                  <a:alpha val="100000"/>
                </a:srgbClr>
              </a:gs>
              <a:gs pos="39999">
                <a:srgbClr val="85C2FF">
                  <a:alpha val="100000"/>
                </a:srgbClr>
              </a:gs>
              <a:gs pos="70000">
                <a:srgbClr val="C4D6EB">
                  <a:alpha val="100000"/>
                </a:srgbClr>
              </a:gs>
              <a:gs pos="100000">
                <a:srgbClr val="FFEBFA">
                  <a:alpha val="100000"/>
                </a:srgbClr>
              </a:gs>
            </a:gsLst>
            <a:lin ang="5400000" scaled="1"/>
            <a:tileRect/>
          </a:gradFill>
          <a:ln w="9525" cap="flat" cmpd="sng">
            <a:prstDash val="solid"/>
            <a:miter/>
            <a:headEnd type="none" w="med" len="med"/>
            <a:tailEnd type="none" w="med" len="med"/>
          </a:ln>
          <a:scene3d>
            <a:camera prst="legacyObliqueTopRight">
              <a:rot lat="0" lon="0" rev="0"/>
            </a:camera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5E9EFF"/>
            </a:extrusionClr>
          </a:sp3d>
        </p:spPr>
        <p:txBody>
          <a:bodyPr wrap="none" anchor="ctr" anchorCtr="0">
            <a:flatTx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kumimoji="1"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kumimoji="1"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3600" b="0" dirty="0">
                <a:solidFill>
                  <a:schemeClr val="tx1"/>
                </a:solidFill>
              </a:rPr>
              <a:t>1NF</a:t>
            </a:r>
            <a:endParaRPr lang="en-US" altLang="zh-CN" sz="3600" b="0" dirty="0">
              <a:solidFill>
                <a:schemeClr val="tx1"/>
              </a:solidFill>
            </a:endParaRPr>
          </a:p>
        </p:txBody>
      </p:sp>
      <p:sp>
        <p:nvSpPr>
          <p:cNvPr id="51208" name="Rectangle 7"/>
          <p:cNvSpPr/>
          <p:nvPr/>
        </p:nvSpPr>
        <p:spPr>
          <a:xfrm>
            <a:off x="1600200" y="3429000"/>
            <a:ext cx="1905000" cy="685800"/>
          </a:xfrm>
          <a:prstGeom prst="rect">
            <a:avLst/>
          </a:prstGeom>
          <a:gradFill rotWithShape="0">
            <a:gsLst>
              <a:gs pos="0">
                <a:srgbClr val="5E9EFF">
                  <a:alpha val="100000"/>
                </a:srgbClr>
              </a:gs>
              <a:gs pos="39999">
                <a:srgbClr val="85C2FF">
                  <a:alpha val="100000"/>
                </a:srgbClr>
              </a:gs>
              <a:gs pos="70000">
                <a:srgbClr val="C4D6EB">
                  <a:alpha val="100000"/>
                </a:srgbClr>
              </a:gs>
              <a:gs pos="100000">
                <a:srgbClr val="FFEBFA">
                  <a:alpha val="100000"/>
                </a:srgbClr>
              </a:gs>
            </a:gsLst>
            <a:lin ang="5400000" scaled="1"/>
            <a:tileRect/>
          </a:gradFill>
          <a:ln w="9525" cap="flat" cmpd="sng">
            <a:prstDash val="solid"/>
            <a:miter/>
            <a:headEnd type="none" w="med" len="med"/>
            <a:tailEnd type="none" w="med" len="med"/>
          </a:ln>
          <a:scene3d>
            <a:camera prst="legacyObliqueTopRight">
              <a:rot lat="0" lon="0" rev="0"/>
            </a:camera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5E9EFF"/>
            </a:extrusionClr>
          </a:sp3d>
        </p:spPr>
        <p:txBody>
          <a:bodyPr wrap="none" anchor="ctr" anchorCtr="0">
            <a:flatTx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kumimoji="1"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kumimoji="1"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3600" b="0" dirty="0">
                <a:solidFill>
                  <a:schemeClr val="tx1"/>
                </a:solidFill>
              </a:rPr>
              <a:t>3NF</a:t>
            </a:r>
            <a:endParaRPr lang="en-US" altLang="zh-CN" sz="3600" b="0" dirty="0">
              <a:solidFill>
                <a:schemeClr val="tx1"/>
              </a:solidFill>
            </a:endParaRPr>
          </a:p>
        </p:txBody>
      </p:sp>
      <p:sp>
        <p:nvSpPr>
          <p:cNvPr id="51209" name="AutoShape 8"/>
          <p:cNvSpPr/>
          <p:nvPr/>
        </p:nvSpPr>
        <p:spPr>
          <a:xfrm>
            <a:off x="2362200" y="5207000"/>
            <a:ext cx="457200" cy="457200"/>
          </a:xfrm>
          <a:prstGeom prst="downArrow">
            <a:avLst>
              <a:gd name="adj1" fmla="val 50000"/>
              <a:gd name="adj2" fmla="val 25000"/>
            </a:avLst>
          </a:prstGeom>
          <a:gradFill rotWithShape="0">
            <a:gsLst>
              <a:gs pos="0">
                <a:srgbClr val="5E9EFF">
                  <a:alpha val="100000"/>
                </a:srgbClr>
              </a:gs>
              <a:gs pos="39999">
                <a:srgbClr val="85C2FF">
                  <a:alpha val="100000"/>
                </a:srgbClr>
              </a:gs>
              <a:gs pos="70000">
                <a:srgbClr val="C4D6EB">
                  <a:alpha val="100000"/>
                </a:srgbClr>
              </a:gs>
              <a:gs pos="100000">
                <a:srgbClr val="FFEBFA">
                  <a:alpha val="100000"/>
                </a:srgbClr>
              </a:gs>
            </a:gsLst>
            <a:lin ang="540000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vert="eaVert"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kumimoji="1"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kumimoji="1"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endParaRPr lang="en-US" altLang="zh-CN" sz="1400" dirty="0">
              <a:solidFill>
                <a:schemeClr val="tx1"/>
              </a:solidFill>
            </a:endParaRPr>
          </a:p>
        </p:txBody>
      </p:sp>
      <p:sp>
        <p:nvSpPr>
          <p:cNvPr id="51210" name="Rectangle 9"/>
          <p:cNvSpPr/>
          <p:nvPr/>
        </p:nvSpPr>
        <p:spPr>
          <a:xfrm>
            <a:off x="4648200" y="1447800"/>
            <a:ext cx="3657600" cy="955675"/>
          </a:xfrm>
          <a:prstGeom prst="rect">
            <a:avLst/>
          </a:prstGeom>
          <a:gradFill rotWithShape="0">
            <a:gsLst>
              <a:gs pos="0">
                <a:srgbClr val="5E9EFF">
                  <a:alpha val="100000"/>
                </a:srgbClr>
              </a:gs>
              <a:gs pos="39999">
                <a:srgbClr val="85C2FF">
                  <a:alpha val="100000"/>
                </a:srgbClr>
              </a:gs>
              <a:gs pos="70000">
                <a:srgbClr val="C4D6EB">
                  <a:alpha val="100000"/>
                </a:srgbClr>
              </a:gs>
              <a:gs pos="100000">
                <a:srgbClr val="FFEBFA">
                  <a:alpha val="100000"/>
                </a:srgbClr>
              </a:gs>
            </a:gsLst>
            <a:lin ang="5400000" scaled="1"/>
            <a:tileRect/>
          </a:gradFill>
          <a:ln w="9525" cap="flat" cmpd="sng">
            <a:prstDash val="solid"/>
            <a:miter/>
            <a:headEnd type="none" w="med" len="med"/>
            <a:tailEnd type="none" w="med" len="med"/>
          </a:ln>
          <a:scene3d>
            <a:camera prst="legacyObliqueTopRight">
              <a:rot lat="0" lon="0" rev="0"/>
            </a:camera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5E9EFF"/>
            </a:extrusionClr>
          </a:sp3d>
        </p:spPr>
        <p:txBody>
          <a:bodyPr anchor="ctr" anchorCtr="0">
            <a:spAutoFit/>
            <a:flatTx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kumimoji="1"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kumimoji="1"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800" b="0" dirty="0">
                <a:solidFill>
                  <a:schemeClr val="tx1"/>
                </a:solidFill>
                <a:ea typeface="华文行楷" panose="02010800040101010101" pitchFamily="2" charset="-122"/>
              </a:rPr>
              <a:t>消除非主属性对码的部分函数依赖</a:t>
            </a:r>
            <a:endParaRPr lang="zh-CN" altLang="en-US" sz="2800" b="0" dirty="0">
              <a:solidFill>
                <a:schemeClr val="tx1"/>
              </a:solidFill>
              <a:ea typeface="华文行楷" panose="02010800040101010101" pitchFamily="2" charset="-122"/>
            </a:endParaRPr>
          </a:p>
        </p:txBody>
      </p:sp>
      <p:sp>
        <p:nvSpPr>
          <p:cNvPr id="51211" name="Rectangle 10"/>
          <p:cNvSpPr/>
          <p:nvPr/>
        </p:nvSpPr>
        <p:spPr>
          <a:xfrm>
            <a:off x="4648200" y="2625725"/>
            <a:ext cx="3657600" cy="955675"/>
          </a:xfrm>
          <a:prstGeom prst="rect">
            <a:avLst/>
          </a:prstGeom>
          <a:gradFill rotWithShape="0">
            <a:gsLst>
              <a:gs pos="0">
                <a:srgbClr val="5E9EFF">
                  <a:alpha val="100000"/>
                </a:srgbClr>
              </a:gs>
              <a:gs pos="39999">
                <a:srgbClr val="85C2FF">
                  <a:alpha val="100000"/>
                </a:srgbClr>
              </a:gs>
              <a:gs pos="70000">
                <a:srgbClr val="C4D6EB">
                  <a:alpha val="100000"/>
                </a:srgbClr>
              </a:gs>
              <a:gs pos="100000">
                <a:srgbClr val="FFEBFA">
                  <a:alpha val="100000"/>
                </a:srgbClr>
              </a:gs>
            </a:gsLst>
            <a:lin ang="5400000" scaled="1"/>
            <a:tileRect/>
          </a:gradFill>
          <a:ln w="9525" cap="flat" cmpd="sng">
            <a:prstDash val="solid"/>
            <a:miter/>
            <a:headEnd type="none" w="med" len="med"/>
            <a:tailEnd type="none" w="med" len="med"/>
          </a:ln>
          <a:scene3d>
            <a:camera prst="legacyObliqueTopRight">
              <a:rot lat="0" lon="0" rev="0"/>
            </a:camera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5E9EFF"/>
            </a:extrusionClr>
          </a:sp3d>
        </p:spPr>
        <p:txBody>
          <a:bodyPr anchor="ctr" anchorCtr="0">
            <a:spAutoFit/>
            <a:flatTx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kumimoji="1"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kumimoji="1"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800" b="0" dirty="0">
                <a:solidFill>
                  <a:schemeClr val="tx1"/>
                </a:solidFill>
                <a:ea typeface="华文行楷" panose="02010800040101010101" pitchFamily="2" charset="-122"/>
              </a:rPr>
              <a:t>消除非主属性对码的传递函数依赖</a:t>
            </a:r>
            <a:endParaRPr lang="zh-CN" altLang="en-US" sz="2800" b="0" dirty="0">
              <a:solidFill>
                <a:schemeClr val="tx1"/>
              </a:solidFill>
              <a:ea typeface="华文行楷" panose="02010800040101010101" pitchFamily="2" charset="-122"/>
            </a:endParaRPr>
          </a:p>
        </p:txBody>
      </p:sp>
      <p:sp>
        <p:nvSpPr>
          <p:cNvPr id="51212" name="Rectangle 11"/>
          <p:cNvSpPr/>
          <p:nvPr/>
        </p:nvSpPr>
        <p:spPr>
          <a:xfrm>
            <a:off x="4648200" y="3844925"/>
            <a:ext cx="3657600" cy="955675"/>
          </a:xfrm>
          <a:prstGeom prst="rect">
            <a:avLst/>
          </a:prstGeom>
          <a:gradFill rotWithShape="0">
            <a:gsLst>
              <a:gs pos="0">
                <a:srgbClr val="5E9EFF">
                  <a:alpha val="100000"/>
                </a:srgbClr>
              </a:gs>
              <a:gs pos="39999">
                <a:srgbClr val="85C2FF">
                  <a:alpha val="100000"/>
                </a:srgbClr>
              </a:gs>
              <a:gs pos="70000">
                <a:srgbClr val="C4D6EB">
                  <a:alpha val="100000"/>
                </a:srgbClr>
              </a:gs>
              <a:gs pos="100000">
                <a:srgbClr val="FFEBFA">
                  <a:alpha val="100000"/>
                </a:srgbClr>
              </a:gs>
            </a:gsLst>
            <a:lin ang="5400000" scaled="1"/>
            <a:tileRect/>
          </a:gradFill>
          <a:ln w="9525" cap="flat" cmpd="sng">
            <a:prstDash val="solid"/>
            <a:miter/>
            <a:headEnd type="none" w="med" len="med"/>
            <a:tailEnd type="none" w="med" len="med"/>
          </a:ln>
          <a:scene3d>
            <a:camera prst="legacyObliqueTopRight">
              <a:rot lat="0" lon="0" rev="0"/>
            </a:camera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5E9EFF"/>
            </a:extrusionClr>
          </a:sp3d>
        </p:spPr>
        <p:txBody>
          <a:bodyPr anchor="ctr" anchorCtr="0">
            <a:spAutoFit/>
            <a:flatTx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kumimoji="1"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kumimoji="1"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800" b="0" dirty="0">
                <a:solidFill>
                  <a:schemeClr val="tx1"/>
                </a:solidFill>
                <a:ea typeface="华文行楷" panose="02010800040101010101" pitchFamily="2" charset="-122"/>
              </a:rPr>
              <a:t>消除主属性对码的部分函数依赖</a:t>
            </a:r>
            <a:endParaRPr lang="zh-CN" altLang="en-US" sz="2800" b="0" dirty="0">
              <a:solidFill>
                <a:schemeClr val="tx1"/>
              </a:solidFill>
              <a:ea typeface="华文行楷" panose="02010800040101010101" pitchFamily="2" charset="-122"/>
            </a:endParaRPr>
          </a:p>
        </p:txBody>
      </p:sp>
      <p:sp>
        <p:nvSpPr>
          <p:cNvPr id="51213" name="Rectangle 12"/>
          <p:cNvSpPr/>
          <p:nvPr/>
        </p:nvSpPr>
        <p:spPr>
          <a:xfrm>
            <a:off x="4648200" y="5064125"/>
            <a:ext cx="3657600" cy="955675"/>
          </a:xfrm>
          <a:prstGeom prst="rect">
            <a:avLst/>
          </a:prstGeom>
          <a:gradFill rotWithShape="0">
            <a:gsLst>
              <a:gs pos="0">
                <a:srgbClr val="5E9EFF">
                  <a:alpha val="100000"/>
                </a:srgbClr>
              </a:gs>
              <a:gs pos="39999">
                <a:srgbClr val="85C2FF">
                  <a:alpha val="100000"/>
                </a:srgbClr>
              </a:gs>
              <a:gs pos="70000">
                <a:srgbClr val="C4D6EB">
                  <a:alpha val="100000"/>
                </a:srgbClr>
              </a:gs>
              <a:gs pos="100000">
                <a:srgbClr val="FFEBFA">
                  <a:alpha val="100000"/>
                </a:srgbClr>
              </a:gs>
            </a:gsLst>
            <a:lin ang="5400000" scaled="1"/>
            <a:tileRect/>
          </a:gradFill>
          <a:ln w="9525" cap="flat" cmpd="sng">
            <a:prstDash val="solid"/>
            <a:miter/>
            <a:headEnd type="none" w="med" len="med"/>
            <a:tailEnd type="none" w="med" len="med"/>
          </a:ln>
          <a:scene3d>
            <a:camera prst="legacyObliqueTopRight">
              <a:rot lat="0" lon="0" rev="0"/>
            </a:camera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5E9EFF"/>
            </a:extrusionClr>
          </a:sp3d>
        </p:spPr>
        <p:txBody>
          <a:bodyPr anchor="ctr" anchorCtr="0">
            <a:spAutoFit/>
            <a:flatTx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kumimoji="1"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kumimoji="1"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800" b="0" dirty="0">
                <a:solidFill>
                  <a:schemeClr val="tx1"/>
                </a:solidFill>
                <a:ea typeface="华文行楷" panose="02010800040101010101" pitchFamily="2" charset="-122"/>
              </a:rPr>
              <a:t>消除非平凡的且非函数依赖的多值依赖</a:t>
            </a:r>
            <a:endParaRPr lang="zh-CN" altLang="en-US" sz="2800" b="0" dirty="0">
              <a:solidFill>
                <a:schemeClr val="tx1"/>
              </a:solidFill>
              <a:ea typeface="华文行楷" panose="02010800040101010101" pitchFamily="2" charset="-122"/>
            </a:endParaRPr>
          </a:p>
        </p:txBody>
      </p:sp>
      <p:sp>
        <p:nvSpPr>
          <p:cNvPr id="51214" name="AutoShape 13"/>
          <p:cNvSpPr/>
          <p:nvPr/>
        </p:nvSpPr>
        <p:spPr>
          <a:xfrm>
            <a:off x="2819400" y="1854200"/>
            <a:ext cx="1752600" cy="228600"/>
          </a:xfrm>
          <a:prstGeom prst="leftArrow">
            <a:avLst>
              <a:gd name="adj1" fmla="val 50000"/>
              <a:gd name="adj2" fmla="val 191666"/>
            </a:avLst>
          </a:prstGeom>
          <a:gradFill rotWithShape="0">
            <a:gsLst>
              <a:gs pos="0">
                <a:srgbClr val="5E9EFF">
                  <a:alpha val="100000"/>
                </a:srgbClr>
              </a:gs>
              <a:gs pos="39999">
                <a:srgbClr val="85C2FF">
                  <a:alpha val="100000"/>
                </a:srgbClr>
              </a:gs>
              <a:gs pos="70000">
                <a:srgbClr val="C4D6EB">
                  <a:alpha val="100000"/>
                </a:srgbClr>
              </a:gs>
              <a:gs pos="100000">
                <a:srgbClr val="FFEBFA">
                  <a:alpha val="100000"/>
                </a:srgbClr>
              </a:gs>
            </a:gsLst>
            <a:lin ang="540000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kumimoji="1"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kumimoji="1"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endParaRPr lang="en-US" altLang="zh-CN" sz="1400" dirty="0">
              <a:solidFill>
                <a:schemeClr val="tx1"/>
              </a:solidFill>
            </a:endParaRPr>
          </a:p>
        </p:txBody>
      </p:sp>
      <p:sp>
        <p:nvSpPr>
          <p:cNvPr id="51215" name="AutoShape 14"/>
          <p:cNvSpPr/>
          <p:nvPr/>
        </p:nvSpPr>
        <p:spPr>
          <a:xfrm>
            <a:off x="2819400" y="3059113"/>
            <a:ext cx="1752600" cy="228600"/>
          </a:xfrm>
          <a:prstGeom prst="leftArrow">
            <a:avLst>
              <a:gd name="adj1" fmla="val 50000"/>
              <a:gd name="adj2" fmla="val 191666"/>
            </a:avLst>
          </a:prstGeom>
          <a:gradFill rotWithShape="0">
            <a:gsLst>
              <a:gs pos="0">
                <a:srgbClr val="5E9EFF">
                  <a:alpha val="100000"/>
                </a:srgbClr>
              </a:gs>
              <a:gs pos="39999">
                <a:srgbClr val="85C2FF">
                  <a:alpha val="100000"/>
                </a:srgbClr>
              </a:gs>
              <a:gs pos="70000">
                <a:srgbClr val="C4D6EB">
                  <a:alpha val="100000"/>
                </a:srgbClr>
              </a:gs>
              <a:gs pos="100000">
                <a:srgbClr val="FFEBFA">
                  <a:alpha val="100000"/>
                </a:srgbClr>
              </a:gs>
            </a:gsLst>
            <a:lin ang="540000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kumimoji="1"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kumimoji="1"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endParaRPr lang="en-US" altLang="zh-CN" sz="1400" dirty="0">
              <a:solidFill>
                <a:schemeClr val="tx1"/>
              </a:solidFill>
            </a:endParaRPr>
          </a:p>
        </p:txBody>
      </p:sp>
      <p:sp>
        <p:nvSpPr>
          <p:cNvPr id="51216" name="AutoShape 15"/>
          <p:cNvSpPr/>
          <p:nvPr/>
        </p:nvSpPr>
        <p:spPr>
          <a:xfrm>
            <a:off x="2819400" y="4168775"/>
            <a:ext cx="1752600" cy="228600"/>
          </a:xfrm>
          <a:prstGeom prst="leftArrow">
            <a:avLst>
              <a:gd name="adj1" fmla="val 50000"/>
              <a:gd name="adj2" fmla="val 191666"/>
            </a:avLst>
          </a:prstGeom>
          <a:gradFill rotWithShape="0">
            <a:gsLst>
              <a:gs pos="0">
                <a:srgbClr val="5E9EFF">
                  <a:alpha val="100000"/>
                </a:srgbClr>
              </a:gs>
              <a:gs pos="39999">
                <a:srgbClr val="85C2FF">
                  <a:alpha val="100000"/>
                </a:srgbClr>
              </a:gs>
              <a:gs pos="70000">
                <a:srgbClr val="C4D6EB">
                  <a:alpha val="100000"/>
                </a:srgbClr>
              </a:gs>
              <a:gs pos="100000">
                <a:srgbClr val="FFEBFA">
                  <a:alpha val="100000"/>
                </a:srgbClr>
              </a:gs>
            </a:gsLst>
            <a:lin ang="540000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kumimoji="1"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kumimoji="1"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endParaRPr lang="en-US" altLang="zh-CN" sz="1400" dirty="0">
              <a:solidFill>
                <a:schemeClr val="tx1"/>
              </a:solidFill>
            </a:endParaRPr>
          </a:p>
        </p:txBody>
      </p:sp>
      <p:sp>
        <p:nvSpPr>
          <p:cNvPr id="51217" name="AutoShape 16"/>
          <p:cNvSpPr/>
          <p:nvPr/>
        </p:nvSpPr>
        <p:spPr>
          <a:xfrm>
            <a:off x="2819400" y="5359400"/>
            <a:ext cx="1752600" cy="228600"/>
          </a:xfrm>
          <a:prstGeom prst="leftArrow">
            <a:avLst>
              <a:gd name="adj1" fmla="val 50000"/>
              <a:gd name="adj2" fmla="val 191666"/>
            </a:avLst>
          </a:prstGeom>
          <a:gradFill rotWithShape="0">
            <a:gsLst>
              <a:gs pos="0">
                <a:srgbClr val="5E9EFF">
                  <a:alpha val="100000"/>
                </a:srgbClr>
              </a:gs>
              <a:gs pos="39999">
                <a:srgbClr val="85C2FF">
                  <a:alpha val="100000"/>
                </a:srgbClr>
              </a:gs>
              <a:gs pos="70000">
                <a:srgbClr val="C4D6EB">
                  <a:alpha val="100000"/>
                </a:srgbClr>
              </a:gs>
              <a:gs pos="100000">
                <a:srgbClr val="FFEBFA">
                  <a:alpha val="100000"/>
                </a:srgbClr>
              </a:gs>
            </a:gsLst>
            <a:lin ang="540000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kumimoji="1"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kumimoji="1"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endParaRPr lang="en-US" altLang="zh-CN" sz="1400" dirty="0">
              <a:solidFill>
                <a:schemeClr val="tx1"/>
              </a:solidFill>
            </a:endParaRPr>
          </a:p>
        </p:txBody>
      </p:sp>
      <p:sp>
        <p:nvSpPr>
          <p:cNvPr id="51218" name="Rectangle 17"/>
          <p:cNvSpPr/>
          <p:nvPr/>
        </p:nvSpPr>
        <p:spPr>
          <a:xfrm>
            <a:off x="1600200" y="4572000"/>
            <a:ext cx="1905000" cy="685800"/>
          </a:xfrm>
          <a:prstGeom prst="rect">
            <a:avLst/>
          </a:prstGeom>
          <a:gradFill rotWithShape="0">
            <a:gsLst>
              <a:gs pos="0">
                <a:srgbClr val="5E9EFF">
                  <a:alpha val="100000"/>
                </a:srgbClr>
              </a:gs>
              <a:gs pos="39999">
                <a:srgbClr val="85C2FF">
                  <a:alpha val="100000"/>
                </a:srgbClr>
              </a:gs>
              <a:gs pos="70000">
                <a:srgbClr val="C4D6EB">
                  <a:alpha val="100000"/>
                </a:srgbClr>
              </a:gs>
              <a:gs pos="100000">
                <a:srgbClr val="FFEBFA">
                  <a:alpha val="100000"/>
                </a:srgbClr>
              </a:gs>
            </a:gsLst>
            <a:lin ang="5400000" scaled="1"/>
            <a:tileRect/>
          </a:gradFill>
          <a:ln w="9525" cap="flat" cmpd="sng">
            <a:prstDash val="solid"/>
            <a:miter/>
            <a:headEnd type="none" w="med" len="med"/>
            <a:tailEnd type="none" w="med" len="med"/>
          </a:ln>
          <a:scene3d>
            <a:camera prst="legacyObliqueTopRight">
              <a:rot lat="0" lon="0" rev="0"/>
            </a:camera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5E9EFF"/>
            </a:extrusionClr>
          </a:sp3d>
        </p:spPr>
        <p:txBody>
          <a:bodyPr wrap="none" anchor="ctr" anchorCtr="0">
            <a:flatTx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kumimoji="1"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kumimoji="1"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3600" b="0" dirty="0">
                <a:solidFill>
                  <a:schemeClr val="tx1"/>
                </a:solidFill>
              </a:rPr>
              <a:t>BCNF</a:t>
            </a:r>
            <a:endParaRPr lang="en-US" altLang="zh-CN" sz="3600" b="0" dirty="0">
              <a:solidFill>
                <a:schemeClr val="tx1"/>
              </a:solidFill>
            </a:endParaRPr>
          </a:p>
        </p:txBody>
      </p:sp>
      <p:sp>
        <p:nvSpPr>
          <p:cNvPr id="51219" name="AutoShape 18"/>
          <p:cNvSpPr/>
          <p:nvPr/>
        </p:nvSpPr>
        <p:spPr>
          <a:xfrm>
            <a:off x="2362200" y="4064000"/>
            <a:ext cx="457200" cy="457200"/>
          </a:xfrm>
          <a:prstGeom prst="downArrow">
            <a:avLst>
              <a:gd name="adj1" fmla="val 50000"/>
              <a:gd name="adj2" fmla="val 25000"/>
            </a:avLst>
          </a:prstGeom>
          <a:gradFill rotWithShape="0">
            <a:gsLst>
              <a:gs pos="0">
                <a:srgbClr val="5E9EFF">
                  <a:alpha val="100000"/>
                </a:srgbClr>
              </a:gs>
              <a:gs pos="39999">
                <a:srgbClr val="85C2FF">
                  <a:alpha val="100000"/>
                </a:srgbClr>
              </a:gs>
              <a:gs pos="70000">
                <a:srgbClr val="C4D6EB">
                  <a:alpha val="100000"/>
                </a:srgbClr>
              </a:gs>
              <a:gs pos="100000">
                <a:srgbClr val="FFEBFA">
                  <a:alpha val="100000"/>
                </a:srgbClr>
              </a:gs>
            </a:gsLst>
            <a:lin ang="540000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vert="eaVert"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kumimoji="1"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kumimoji="1"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endParaRPr lang="en-US" altLang="zh-CN" sz="1400" dirty="0">
              <a:solidFill>
                <a:schemeClr val="tx1"/>
              </a:solidFill>
            </a:endParaRPr>
          </a:p>
        </p:txBody>
      </p:sp>
      <p:sp>
        <p:nvSpPr>
          <p:cNvPr id="51220" name="AutoShape 19"/>
          <p:cNvSpPr/>
          <p:nvPr/>
        </p:nvSpPr>
        <p:spPr>
          <a:xfrm>
            <a:off x="2362200" y="2921000"/>
            <a:ext cx="457200" cy="457200"/>
          </a:xfrm>
          <a:prstGeom prst="downArrow">
            <a:avLst>
              <a:gd name="adj1" fmla="val 50000"/>
              <a:gd name="adj2" fmla="val 25000"/>
            </a:avLst>
          </a:prstGeom>
          <a:gradFill rotWithShape="0">
            <a:gsLst>
              <a:gs pos="0">
                <a:srgbClr val="5E9EFF">
                  <a:alpha val="100000"/>
                </a:srgbClr>
              </a:gs>
              <a:gs pos="39999">
                <a:srgbClr val="85C2FF">
                  <a:alpha val="100000"/>
                </a:srgbClr>
              </a:gs>
              <a:gs pos="70000">
                <a:srgbClr val="C4D6EB">
                  <a:alpha val="100000"/>
                </a:srgbClr>
              </a:gs>
              <a:gs pos="100000">
                <a:srgbClr val="FFEBFA">
                  <a:alpha val="100000"/>
                </a:srgbClr>
              </a:gs>
            </a:gsLst>
            <a:lin ang="540000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vert="eaVert"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kumimoji="1"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kumimoji="1"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endParaRPr lang="en-US" altLang="zh-CN" sz="14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6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52227" name="Rectangle 2"/>
          <p:cNvSpPr>
            <a:spLocks noGrp="1"/>
          </p:cNvSpPr>
          <p:nvPr>
            <p:ph type="title"/>
          </p:nvPr>
        </p:nvSpPr>
        <p:spPr>
          <a:xfrm>
            <a:off x="685800" y="0"/>
            <a:ext cx="77724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dirty="0"/>
              <a:t>6.4  </a:t>
            </a:r>
            <a:r>
              <a:rPr lang="zh-CN" altLang="en-US" dirty="0"/>
              <a:t>关系模式的规范化</a:t>
            </a:r>
            <a:endParaRPr lang="zh-CN" altLang="en-US" dirty="0"/>
          </a:p>
        </p:txBody>
      </p:sp>
      <p:sp>
        <p:nvSpPr>
          <p:cNvPr id="52228" name="Rectangle 3"/>
          <p:cNvSpPr/>
          <p:nvPr/>
        </p:nvSpPr>
        <p:spPr>
          <a:xfrm>
            <a:off x="609600" y="914400"/>
            <a:ext cx="7772400" cy="6096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kumimoji="1"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kumimoji="1"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4400" dirty="0">
                <a:solidFill>
                  <a:schemeClr val="tx1"/>
                </a:solidFill>
                <a:ea typeface="经典细隶书简" pitchFamily="49" charset="-122"/>
              </a:rPr>
              <a:t>盘点</a:t>
            </a:r>
            <a:endParaRPr lang="zh-CN" altLang="en-US" sz="4400" dirty="0">
              <a:solidFill>
                <a:schemeClr val="tx1"/>
              </a:solidFill>
              <a:ea typeface="经典细隶书简" pitchFamily="49" charset="-122"/>
            </a:endParaRPr>
          </a:p>
        </p:txBody>
      </p:sp>
      <p:sp>
        <p:nvSpPr>
          <p:cNvPr id="52229" name="Rectangle 4"/>
          <p:cNvSpPr>
            <a:spLocks noGrp="1"/>
          </p:cNvSpPr>
          <p:nvPr>
            <p:ph idx="1"/>
          </p:nvPr>
        </p:nvSpPr>
        <p:spPr>
          <a:xfrm>
            <a:off x="685800" y="1676400"/>
            <a:ext cx="7772400" cy="4648200"/>
          </a:xfrm>
          <a:ln/>
        </p:spPr>
        <p:txBody>
          <a:bodyPr vert="horz" wrap="square" lIns="91440" tIns="45720" rIns="91440" bIns="45720" anchor="t" anchorCtr="0"/>
          <a:p>
            <a:pPr eaLnBrk="1" hangingPunct="1"/>
            <a:r>
              <a:rPr lang="zh-CN" altLang="en-US" dirty="0">
                <a:solidFill>
                  <a:schemeClr val="tx1"/>
                </a:solidFill>
              </a:rPr>
              <a:t>任何一个二目关系模式</a:t>
            </a:r>
            <a:r>
              <a:rPr lang="en-US" altLang="zh-CN" dirty="0">
                <a:solidFill>
                  <a:schemeClr val="tx1"/>
                </a:solidFill>
              </a:rPr>
              <a:t>R</a:t>
            </a:r>
            <a:r>
              <a:rPr lang="zh-CN" altLang="en-US" dirty="0">
                <a:solidFill>
                  <a:schemeClr val="tx1"/>
                </a:solidFill>
              </a:rPr>
              <a:t>（</a:t>
            </a:r>
            <a:r>
              <a:rPr lang="en-US" altLang="zh-CN" dirty="0">
                <a:solidFill>
                  <a:schemeClr val="tx1"/>
                </a:solidFill>
              </a:rPr>
              <a:t>A</a:t>
            </a:r>
            <a:r>
              <a:rPr lang="zh-CN" altLang="en-US" dirty="0">
                <a:solidFill>
                  <a:schemeClr val="tx1"/>
                </a:solidFill>
              </a:rPr>
              <a:t>，</a:t>
            </a:r>
            <a:r>
              <a:rPr lang="en-US" altLang="zh-CN" dirty="0">
                <a:solidFill>
                  <a:schemeClr val="tx1"/>
                </a:solidFill>
              </a:rPr>
              <a:t>B</a:t>
            </a:r>
            <a:r>
              <a:rPr lang="zh-CN" altLang="en-US" dirty="0">
                <a:solidFill>
                  <a:schemeClr val="tx1"/>
                </a:solidFill>
              </a:rPr>
              <a:t>）一定属于</a:t>
            </a:r>
            <a:r>
              <a:rPr lang="en-US" altLang="zh-CN" dirty="0">
                <a:solidFill>
                  <a:schemeClr val="tx1"/>
                </a:solidFill>
              </a:rPr>
              <a:t>BCNF</a:t>
            </a:r>
            <a:r>
              <a:rPr lang="zh-CN" altLang="en-US" dirty="0">
                <a:solidFill>
                  <a:schemeClr val="tx1"/>
                </a:solidFill>
              </a:rPr>
              <a:t>吗？</a:t>
            </a:r>
            <a:endParaRPr lang="zh-CN" altLang="en-US" dirty="0">
              <a:solidFill>
                <a:schemeClr val="tx1"/>
              </a:solidFill>
            </a:endParaRPr>
          </a:p>
          <a:p>
            <a:pPr eaLnBrk="1" hangingPunct="1"/>
            <a:r>
              <a:rPr lang="zh-CN" altLang="en-US" dirty="0">
                <a:solidFill>
                  <a:schemeClr val="tx1"/>
                </a:solidFill>
              </a:rPr>
              <a:t>关系模式</a:t>
            </a:r>
            <a:r>
              <a:rPr lang="en-US" altLang="zh-CN" dirty="0">
                <a:solidFill>
                  <a:schemeClr val="tx1"/>
                </a:solidFill>
              </a:rPr>
              <a:t>R</a:t>
            </a:r>
            <a:r>
              <a:rPr lang="zh-CN" altLang="en-US" dirty="0">
                <a:solidFill>
                  <a:schemeClr val="tx1"/>
                </a:solidFill>
              </a:rPr>
              <a:t>（</a:t>
            </a:r>
            <a:r>
              <a:rPr lang="en-US" altLang="zh-CN" dirty="0">
                <a:solidFill>
                  <a:schemeClr val="tx1"/>
                </a:solidFill>
              </a:rPr>
              <a:t>A</a:t>
            </a:r>
            <a:r>
              <a:rPr lang="zh-CN" altLang="en-US" dirty="0">
                <a:solidFill>
                  <a:schemeClr val="tx1"/>
                </a:solidFill>
              </a:rPr>
              <a:t>，</a:t>
            </a:r>
            <a:r>
              <a:rPr lang="en-US" altLang="zh-CN" dirty="0">
                <a:solidFill>
                  <a:schemeClr val="tx1"/>
                </a:solidFill>
              </a:rPr>
              <a:t>B</a:t>
            </a:r>
            <a:r>
              <a:rPr lang="zh-CN" altLang="en-US" dirty="0">
                <a:solidFill>
                  <a:schemeClr val="tx1"/>
                </a:solidFill>
              </a:rPr>
              <a:t>，</a:t>
            </a:r>
            <a:r>
              <a:rPr lang="en-US" altLang="zh-CN" dirty="0">
                <a:solidFill>
                  <a:schemeClr val="tx1"/>
                </a:solidFill>
              </a:rPr>
              <a:t>C</a:t>
            </a:r>
            <a:r>
              <a:rPr lang="zh-CN" altLang="en-US" dirty="0">
                <a:solidFill>
                  <a:schemeClr val="tx1"/>
                </a:solidFill>
              </a:rPr>
              <a:t>），</a:t>
            </a:r>
            <a:r>
              <a:rPr lang="en-US" altLang="zh-CN" dirty="0">
                <a:solidFill>
                  <a:schemeClr val="tx1"/>
                </a:solidFill>
              </a:rPr>
              <a:t>AB</a:t>
            </a:r>
            <a:r>
              <a:rPr lang="en-US" altLang="zh-CN" dirty="0">
                <a:solidFill>
                  <a:schemeClr val="tx1"/>
                </a:solidFill>
                <a:sym typeface="Symbol" panose="05050102010706020507" pitchFamily="18" charset="2"/>
              </a:rPr>
              <a:t>C</a:t>
            </a:r>
            <a:r>
              <a:rPr lang="zh-CN" altLang="en-US" dirty="0">
                <a:solidFill>
                  <a:schemeClr val="tx1"/>
                </a:solidFill>
                <a:sym typeface="Symbol" panose="05050102010706020507" pitchFamily="18" charset="2"/>
              </a:rPr>
              <a:t>一定成立吗？</a:t>
            </a:r>
            <a:endParaRPr lang="zh-CN" altLang="en-US" dirty="0">
              <a:solidFill>
                <a:schemeClr val="tx1"/>
              </a:solidFill>
            </a:endParaRPr>
          </a:p>
          <a:p>
            <a:pPr eaLnBrk="1" hangingPunct="1"/>
            <a:r>
              <a:rPr lang="zh-CN" altLang="en-US" dirty="0">
                <a:solidFill>
                  <a:schemeClr val="tx1"/>
                </a:solidFill>
              </a:rPr>
              <a:t>一个全是主属性的关系模式一定可以达到第几范式？</a:t>
            </a:r>
            <a:endParaRPr lang="zh-CN" altLang="en-US" dirty="0">
              <a:solidFill>
                <a:schemeClr val="tx1"/>
              </a:solidFill>
            </a:endParaRPr>
          </a:p>
          <a:p>
            <a:pPr eaLnBrk="1" hangingPunct="1"/>
            <a:r>
              <a:rPr lang="zh-CN" altLang="en-US" dirty="0">
                <a:solidFill>
                  <a:schemeClr val="tx1"/>
                </a:solidFill>
              </a:rPr>
              <a:t>一个全码的关系模式一定可以达到第几范式？</a:t>
            </a:r>
            <a:endParaRPr lang="zh-CN" alt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3250" name="页脚占位符 2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53251" name="Text Box 2"/>
          <p:cNvSpPr txBox="1"/>
          <p:nvPr/>
        </p:nvSpPr>
        <p:spPr>
          <a:xfrm>
            <a:off x="3124200" y="2057400"/>
            <a:ext cx="2632075" cy="1555750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kumimoji="1"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kumimoji="1"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FontTx/>
              <a:buNone/>
            </a:pPr>
            <a:r>
              <a:rPr lang="zh-CN" altLang="en-US" sz="9600" dirty="0">
                <a:solidFill>
                  <a:schemeClr val="accent2"/>
                </a:solidFill>
              </a:rPr>
              <a:t>再见</a:t>
            </a:r>
            <a:endParaRPr lang="zh-CN" altLang="en-US" sz="9600" dirty="0"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kyli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0033CC"/>
      </a:hlink>
      <a:folHlink>
        <a:srgbClr val="B2B2B2"/>
      </a:folHlink>
    </a:clrScheme>
    <a:fontScheme name="kylin">
      <a:majorFont>
        <a:latin typeface="Times New Roman"/>
        <a:ea typeface="经典细隶书简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rgbClr val="6600FF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1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rgbClr val="6600FF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1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kyli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kyli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kyli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kyli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kyli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kyli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kyli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kylingray</Template>
  <TotalTime>0</TotalTime>
  <Words>8563</Words>
  <Application>WPS Presentation</Application>
  <PresentationFormat>全屏显示(4:3)</PresentationFormat>
  <Paragraphs>1334</Paragraphs>
  <Slides>50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24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3</vt:i4>
      </vt:variant>
      <vt:variant>
        <vt:lpstr>幻灯片标题</vt:lpstr>
      </vt:variant>
      <vt:variant>
        <vt:i4>50</vt:i4>
      </vt:variant>
    </vt:vector>
  </HeadingPairs>
  <TitlesOfParts>
    <vt:vector size="78" baseType="lpstr">
      <vt:lpstr>Arial</vt:lpstr>
      <vt:lpstr>SimSun</vt:lpstr>
      <vt:lpstr>Wingdings</vt:lpstr>
      <vt:lpstr>Times New Roman</vt:lpstr>
      <vt:lpstr>宋体</vt:lpstr>
      <vt:lpstr>经典细隶书简</vt:lpstr>
      <vt:lpstr>隶书</vt:lpstr>
      <vt:lpstr>楷体_GB2312</vt:lpstr>
      <vt:lpstr>新宋体</vt:lpstr>
      <vt:lpstr>仿宋_GB2312</vt:lpstr>
      <vt:lpstr>仿宋</vt:lpstr>
      <vt:lpstr>Calibri</vt:lpstr>
      <vt:lpstr>Arial Narrow</vt:lpstr>
      <vt:lpstr>黑体</vt:lpstr>
      <vt:lpstr>Symbol</vt:lpstr>
      <vt:lpstr>经典综艺体简</vt:lpstr>
      <vt:lpstr>DengXian</vt:lpstr>
      <vt:lpstr>Courier New</vt:lpstr>
      <vt:lpstr>华文新魏</vt:lpstr>
      <vt:lpstr>华文行楷</vt:lpstr>
      <vt:lpstr>微软雅黑</vt:lpstr>
      <vt:lpstr>Arial Unicode MS</vt:lpstr>
      <vt:lpstr>Bookman Old Style</vt:lpstr>
      <vt:lpstr>MS PGothic</vt:lpstr>
      <vt:lpstr>kylin</vt:lpstr>
      <vt:lpstr>Equation.3</vt:lpstr>
      <vt:lpstr>Word.Document.8</vt:lpstr>
      <vt:lpstr>Equation.3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Workgroup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第6章 关系数据理论</dc:title>
  <dc:creator>kylin</dc:creator>
  <cp:lastModifiedBy>nakanosan</cp:lastModifiedBy>
  <cp:revision>13</cp:revision>
  <dcterms:created xsi:type="dcterms:W3CDTF">2026-06-17T19:29:08Z</dcterms:created>
  <dcterms:modified xsi:type="dcterms:W3CDTF">2026-06-17T19:29:08Z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1FC9D57CDEB22C7484F5326AFBD3E2E9_43</vt:lpwstr>
  </property>
  <property fmtid="{D5CDD505-2E9C-101B-9397-08002B2CF9AE}" pid="3" name="KSOProductBuildVer">
    <vt:lpwstr>1033-12.1.2.26885</vt:lpwstr>
  </property>
</Properties>
</file>