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8"/>
  </p:notesMasterIdLst>
  <p:sldIdLst>
    <p:sldId id="30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1" r:id="rId45"/>
    <p:sldId id="302" r:id="rId46"/>
    <p:sldId id="304" r:id="rId47"/>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2471"/>
    <p:restoredTop sz="86412"/>
  </p:normalViewPr>
  <p:slideViewPr>
    <p:cSldViewPr showGuides="1">
      <p:cViewPr varScale="1">
        <p:scale>
          <a:sx n="72" d="100"/>
          <a:sy n="72" d="100"/>
        </p:scale>
        <p:origin x="849" y="2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3.xml"/><Relationship Id="rId49" Type="http://schemas.openxmlformats.org/officeDocument/2006/relationships/presProps" Target="presProps.xml"/><Relationship Id="rId48" Type="http://schemas.openxmlformats.org/officeDocument/2006/relationships/notesMaster" Target="notesMasters/notesMaster1.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39A293B0-19A8-47D9-B45D-D6B88241E745}" type="datetimeFigureOut">
              <a:rPr kumimoji="0"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4DC33E68-C9DD-4A6A-99DF-EEE7964AC4DD}" type="slidenum">
              <a:rPr kumimoji="0"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smtClean="0"/>
              <a:t>单击此处编辑母版标题样式</a:t>
            </a:r>
            <a:endParaRPr 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smtClean="0"/>
              <a:t>单击此处编辑母版副标题样式</a:t>
            </a:r>
            <a:endParaRPr lang="en-US"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977D6CB-DC17-42B3-AAAD-937C7A2E6799}"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977D6CB-DC17-42B3-AAAD-937C7A2E6799}"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977D6CB-DC17-42B3-AAAD-937C7A2E6799}"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en-US" noProof="1"/>
          </a:p>
        </p:txBody>
      </p:sp>
      <p:sp>
        <p:nvSpPr>
          <p:cNvPr id="3" name="内容占位符 2"/>
          <p:cNvSpPr>
            <a:spLocks noGrp="1"/>
          </p:cNvSpPr>
          <p:nvPr>
            <p:ph sz="half" idx="1"/>
          </p:nvPr>
        </p:nvSpPr>
        <p:spPr>
          <a:xfrm>
            <a:off x="685800" y="14478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4" name="内容占位符 3"/>
          <p:cNvSpPr>
            <a:spLocks noGrp="1"/>
          </p:cNvSpPr>
          <p:nvPr>
            <p:ph sz="half" idx="2"/>
          </p:nvPr>
        </p:nvSpPr>
        <p:spPr>
          <a:xfrm>
            <a:off x="4648200" y="14478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977D6CB-DC17-42B3-AAAD-937C7A2E6799}"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977D6CB-DC17-42B3-AAAD-937C7A2E6799}"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en-US" noProof="1"/>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977D6CB-DC17-42B3-AAAD-937C7A2E6799}"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977D6CB-DC17-42B3-AAAD-937C7A2E6799}"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977D6CB-DC17-42B3-AAAD-937C7A2E6799}"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FF3300"/>
              </a:buClr>
              <a:buSzTx/>
              <a:buFont typeface="Wingdings" panose="05000000000000000000" pitchFamily="2" charset="2"/>
              <a:buNone/>
              <a:defRPr/>
            </a:pPr>
            <a:endParaRPr kumimoji="0" lang="en-US" sz="3200" b="1" i="0" u="none" strike="noStrike" kern="0" cap="none" spc="0" normalizeH="0" baseline="0" noProof="0" smtClean="0">
              <a:ln>
                <a:noFill/>
              </a:ln>
              <a:solidFill>
                <a:srgbClr val="FF3300"/>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977D6CB-DC17-42B3-AAAD-937C7A2E6799}"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977D6CB-DC17-42B3-AAAD-937C7A2E6799}"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152400"/>
            <a:ext cx="1943100" cy="6019800"/>
          </a:xfrm>
        </p:spPr>
        <p:txBody>
          <a:bodyPr vert="eaVert"/>
          <a:lstStyle/>
          <a:p>
            <a:r>
              <a:rPr lang="zh-CN" altLang="en-US" noProof="1" smtClean="0"/>
              <a:t>单击此处编辑母版标题样式</a:t>
            </a:r>
            <a:endParaRPr lang="en-US" noProof="1"/>
          </a:p>
        </p:txBody>
      </p:sp>
      <p:sp>
        <p:nvSpPr>
          <p:cNvPr id="3" name="竖排文字占位符 2"/>
          <p:cNvSpPr>
            <a:spLocks noGrp="1"/>
          </p:cNvSpPr>
          <p:nvPr>
            <p:ph type="body" orient="vert" idx="1"/>
          </p:nvPr>
        </p:nvSpPr>
        <p:spPr>
          <a:xfrm>
            <a:off x="685800" y="152400"/>
            <a:ext cx="5676900" cy="60198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en-US" noProof="1"/>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977D6CB-DC17-42B3-AAAD-937C7A2E6799}"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Rectangle 2"/>
          <p:cNvSpPr>
            <a:spLocks noGrp="1"/>
          </p:cNvSpPr>
          <p:nvPr>
            <p:ph type="title"/>
          </p:nvPr>
        </p:nvSpPr>
        <p:spPr>
          <a:xfrm>
            <a:off x="685800" y="152400"/>
            <a:ext cx="7772400" cy="1143000"/>
          </a:xfrm>
          <a:prstGeom prst="rect">
            <a:avLst/>
          </a:prstGeom>
          <a:noFill/>
          <a:ln w="9525">
            <a:noFill/>
          </a:ln>
        </p:spPr>
        <p:txBody>
          <a:bodyPr anchor="ctr" anchorCtr="0"/>
          <a:p>
            <a:pPr lvl="0"/>
            <a:r>
              <a:rPr lang="zh-CN" altLang="en-US" dirty="0"/>
              <a:t>标题</a:t>
            </a:r>
            <a:endParaRPr lang="zh-CN" altLang="en-US" dirty="0"/>
          </a:p>
        </p:txBody>
      </p:sp>
      <p:sp>
        <p:nvSpPr>
          <p:cNvPr id="1027" name="Rectangle 3"/>
          <p:cNvSpPr>
            <a:spLocks noGrp="1"/>
          </p:cNvSpPr>
          <p:nvPr>
            <p:ph type="body"/>
          </p:nvPr>
        </p:nvSpPr>
        <p:spPr>
          <a:xfrm>
            <a:off x="685800" y="1447800"/>
            <a:ext cx="7772400" cy="47244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100"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buFontTx/>
              <a:buNone/>
              <a:defRPr kumimoji="1"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1" name="Rectangle 5"/>
          <p:cNvSpPr>
            <a:spLocks noGrp="1" noChangeArrowheads="1"/>
          </p:cNvSpPr>
          <p:nvPr>
            <p:ph type="ftr" sz="quarter" idx="3"/>
          </p:nvPr>
        </p:nvSpPr>
        <p:spPr bwMode="auto">
          <a:xfrm>
            <a:off x="2400300" y="6540500"/>
            <a:ext cx="36830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buFontTx/>
              <a:buNone/>
              <a:defRPr kumimoji="1" b="0">
                <a:solidFill>
                  <a:srgbClr val="6600FF"/>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4102"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buFont typeface="Arial" panose="020B0604020202020204" pitchFamily="34" charset="0"/>
              <a:buNone/>
              <a:defRPr b="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977D6CB-DC17-42B3-AAAD-937C7A2E6799}" type="slidenum">
              <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2" name="Text Box 8"/>
          <p:cNvSpPr txBox="1">
            <a:spLocks noChangeArrowheads="1"/>
          </p:cNvSpPr>
          <p:nvPr/>
        </p:nvSpPr>
        <p:spPr bwMode="auto">
          <a:xfrm>
            <a:off x="57150" y="6521450"/>
            <a:ext cx="11144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1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1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1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1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fld id="{3DA54961-AB00-4953-86BA-A53A3682DF53}" type="slidenum">
              <a:rPr kumimoji="0" lang="en-US" altLang="zh-CN" sz="16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6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2" name="Picture 9" descr="华工校徽"/>
          <p:cNvPicPr>
            <a:picLocks noChangeAspect="1"/>
          </p:cNvPicPr>
          <p:nvPr/>
        </p:nvPicPr>
        <p:blipFill>
          <a:blip r:embed="rId13"/>
          <a:stretch>
            <a:fillRect/>
          </a:stretch>
        </p:blipFill>
        <p:spPr>
          <a:xfrm>
            <a:off x="63500" y="63500"/>
            <a:ext cx="990600" cy="75088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b="1">
          <a:solidFill>
            <a:schemeClr val="accent2"/>
          </a:solidFill>
          <a:latin typeface="+mj-lt"/>
          <a:ea typeface="+mj-ea"/>
          <a:cs typeface="+mj-cs"/>
        </a:defRPr>
      </a:lvl1pPr>
      <a:lvl2pPr algn="ctr" rtl="0" eaLnBrk="0" fontAlgn="base" hangingPunct="0">
        <a:spcBef>
          <a:spcPct val="0"/>
        </a:spcBef>
        <a:spcAft>
          <a:spcPct val="0"/>
        </a:spcAft>
        <a:defRPr sz="4400" b="1">
          <a:solidFill>
            <a:schemeClr val="accent2"/>
          </a:solidFill>
          <a:latin typeface="Times New Roman" panose="02020603050405020304" pitchFamily="18" charset="0"/>
          <a:ea typeface="经典细隶书简" pitchFamily="49" charset="-122"/>
        </a:defRPr>
      </a:lvl2pPr>
      <a:lvl3pPr algn="ctr" rtl="0" eaLnBrk="0" fontAlgn="base" hangingPunct="0">
        <a:spcBef>
          <a:spcPct val="0"/>
        </a:spcBef>
        <a:spcAft>
          <a:spcPct val="0"/>
        </a:spcAft>
        <a:defRPr sz="4400" b="1">
          <a:solidFill>
            <a:schemeClr val="accent2"/>
          </a:solidFill>
          <a:latin typeface="Times New Roman" panose="02020603050405020304" pitchFamily="18" charset="0"/>
          <a:ea typeface="经典细隶书简" pitchFamily="49" charset="-122"/>
        </a:defRPr>
      </a:lvl3pPr>
      <a:lvl4pPr algn="ctr" rtl="0" eaLnBrk="0" fontAlgn="base" hangingPunct="0">
        <a:spcBef>
          <a:spcPct val="0"/>
        </a:spcBef>
        <a:spcAft>
          <a:spcPct val="0"/>
        </a:spcAft>
        <a:defRPr sz="4400" b="1">
          <a:solidFill>
            <a:schemeClr val="accent2"/>
          </a:solidFill>
          <a:latin typeface="Times New Roman" panose="02020603050405020304" pitchFamily="18" charset="0"/>
          <a:ea typeface="经典细隶书简" pitchFamily="49" charset="-122"/>
        </a:defRPr>
      </a:lvl4pPr>
      <a:lvl5pPr algn="ctr" rtl="0" eaLnBrk="0" fontAlgn="base" hangingPunct="0">
        <a:spcBef>
          <a:spcPct val="0"/>
        </a:spcBef>
        <a:spcAft>
          <a:spcPct val="0"/>
        </a:spcAft>
        <a:defRPr sz="4400" b="1">
          <a:solidFill>
            <a:schemeClr val="accent2"/>
          </a:solidFill>
          <a:latin typeface="Times New Roman" panose="02020603050405020304" pitchFamily="18" charset="0"/>
          <a:ea typeface="经典细隶书简" pitchFamily="49" charset="-122"/>
        </a:defRPr>
      </a:lvl5pPr>
      <a:lvl6pPr marL="4572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6pPr>
      <a:lvl7pPr marL="9144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7pPr>
      <a:lvl8pPr marL="13716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8pPr>
      <a:lvl9pPr marL="18288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9pPr>
    </p:titleStyle>
    <p:body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vl6pPr marL="25146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6pPr>
      <a:lvl7pPr marL="29718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7pPr>
      <a:lvl8pPr marL="34290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8pPr>
      <a:lvl9pPr marL="38862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075" name="Rectangle 2"/>
          <p:cNvSpPr/>
          <p:nvPr/>
        </p:nvSpPr>
        <p:spPr>
          <a:xfrm>
            <a:off x="609600" y="4376738"/>
            <a:ext cx="77470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None/>
            </a:pPr>
            <a:endParaRPr lang="en-US" altLang="zh-CN" sz="1400" b="0" dirty="0">
              <a:solidFill>
                <a:schemeClr val="tx1"/>
              </a:solidFill>
            </a:endParaRPr>
          </a:p>
        </p:txBody>
      </p:sp>
      <p:sp>
        <p:nvSpPr>
          <p:cNvPr id="3076" name="Rectangle 3"/>
          <p:cNvSpPr>
            <a:spLocks noGrp="1"/>
          </p:cNvSpPr>
          <p:nvPr>
            <p:ph idx="1"/>
          </p:nvPr>
        </p:nvSpPr>
        <p:spPr>
          <a:xfrm>
            <a:off x="977900" y="1676400"/>
            <a:ext cx="7327900" cy="4572000"/>
          </a:xfrm>
          <a:ln/>
        </p:spPr>
        <p:txBody>
          <a:bodyPr vert="horz" wrap="square" lIns="91440" tIns="45720" rIns="91440" bIns="45720" anchor="t" anchorCtr="0"/>
          <a:p>
            <a:pPr eaLnBrk="1" hangingPunct="1">
              <a:lnSpc>
                <a:spcPct val="120000"/>
              </a:lnSpc>
              <a:spcBef>
                <a:spcPct val="0"/>
              </a:spcBef>
              <a:buClrTx/>
              <a:buNone/>
            </a:pPr>
            <a:r>
              <a:rPr lang="en-US" altLang="zh-CN" sz="3600" b="0" dirty="0">
                <a:solidFill>
                  <a:schemeClr val="tx1"/>
                </a:solidFill>
                <a:latin typeface="Arial Narrow" panose="020B0606020202030204" pitchFamily="34" charset="0"/>
                <a:ea typeface="楷体_GB2312" pitchFamily="49" charset="-122"/>
              </a:rPr>
              <a:t>6.1 </a:t>
            </a:r>
            <a:r>
              <a:rPr lang="zh-CN" altLang="en-US" sz="3600" b="0" dirty="0">
                <a:solidFill>
                  <a:schemeClr val="tx1"/>
                </a:solidFill>
                <a:latin typeface="Arial Narrow" panose="020B0606020202030204" pitchFamily="34" charset="0"/>
                <a:ea typeface="楷体_GB2312" pitchFamily="49" charset="-122"/>
              </a:rPr>
              <a:t>问题的提出</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None/>
            </a:pPr>
            <a:r>
              <a:rPr lang="en-US" altLang="zh-CN" sz="3600" b="0" dirty="0">
                <a:solidFill>
                  <a:schemeClr val="tx1"/>
                </a:solidFill>
                <a:latin typeface="Arial Narrow" panose="020B0606020202030204" pitchFamily="34" charset="0"/>
                <a:ea typeface="楷体_GB2312" pitchFamily="49" charset="-122"/>
              </a:rPr>
              <a:t>6.2 </a:t>
            </a:r>
            <a:r>
              <a:rPr lang="zh-CN" altLang="en-US" sz="3600" b="0" dirty="0">
                <a:solidFill>
                  <a:schemeClr val="tx1"/>
                </a:solidFill>
                <a:latin typeface="Arial Narrow" panose="020B0606020202030204" pitchFamily="34" charset="0"/>
                <a:ea typeface="楷体_GB2312" pitchFamily="49" charset="-122"/>
              </a:rPr>
              <a:t>函数依赖</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None/>
            </a:pPr>
            <a:r>
              <a:rPr lang="en-US" altLang="zh-CN" sz="3600" b="0" dirty="0">
                <a:solidFill>
                  <a:schemeClr val="tx1"/>
                </a:solidFill>
                <a:latin typeface="Arial Narrow" panose="020B0606020202030204" pitchFamily="34" charset="0"/>
                <a:ea typeface="楷体_GB2312" pitchFamily="49" charset="-122"/>
              </a:rPr>
              <a:t>6.3 </a:t>
            </a:r>
            <a:r>
              <a:rPr lang="zh-CN" altLang="en-US" sz="3600" b="0" dirty="0">
                <a:solidFill>
                  <a:schemeClr val="tx1"/>
                </a:solidFill>
                <a:latin typeface="Arial Narrow" panose="020B0606020202030204" pitchFamily="34" charset="0"/>
                <a:ea typeface="楷体_GB2312" pitchFamily="49" charset="-122"/>
              </a:rPr>
              <a:t>函数依赖的公理系统</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None/>
            </a:pPr>
            <a:r>
              <a:rPr lang="en-US" altLang="zh-CN" sz="3600" b="0" dirty="0">
                <a:solidFill>
                  <a:schemeClr val="tx1"/>
                </a:solidFill>
                <a:latin typeface="Arial Narrow" panose="020B0606020202030204" pitchFamily="34" charset="0"/>
                <a:ea typeface="楷体_GB2312" pitchFamily="49" charset="-122"/>
              </a:rPr>
              <a:t>6.4 </a:t>
            </a:r>
            <a:r>
              <a:rPr lang="zh-CN" altLang="en-US" sz="3600" b="0" dirty="0">
                <a:solidFill>
                  <a:schemeClr val="tx1"/>
                </a:solidFill>
                <a:latin typeface="Arial Narrow" panose="020B0606020202030204" pitchFamily="34" charset="0"/>
                <a:ea typeface="楷体_GB2312" pitchFamily="49" charset="-122"/>
              </a:rPr>
              <a:t>关系模式的规范化</a:t>
            </a:r>
            <a:endParaRPr lang="zh-CN" altLang="en-US" sz="3600" b="0" dirty="0">
              <a:solidFill>
                <a:schemeClr val="tx1"/>
              </a:solidFill>
              <a:latin typeface="Arial Narrow" panose="020B0606020202030204" pitchFamily="34" charset="0"/>
              <a:ea typeface="楷体_GB2312" pitchFamily="49" charset="-122"/>
            </a:endParaRPr>
          </a:p>
          <a:p>
            <a:pPr eaLnBrk="1" hangingPunct="1">
              <a:lnSpc>
                <a:spcPct val="120000"/>
              </a:lnSpc>
              <a:spcBef>
                <a:spcPct val="0"/>
              </a:spcBef>
              <a:buClrTx/>
              <a:buNone/>
            </a:pPr>
            <a:r>
              <a:rPr lang="en-US" altLang="zh-CN" sz="3600" b="0" dirty="0">
                <a:solidFill>
                  <a:schemeClr val="bg1"/>
                </a:solidFill>
                <a:latin typeface="Arial Narrow" panose="020B0606020202030204" pitchFamily="34" charset="0"/>
                <a:ea typeface="楷体_GB2312" pitchFamily="49" charset="-122"/>
              </a:rPr>
              <a:t>6.5 </a:t>
            </a:r>
            <a:r>
              <a:rPr lang="zh-CN" altLang="en-US" sz="3600" b="0" dirty="0">
                <a:solidFill>
                  <a:schemeClr val="bg1"/>
                </a:solidFill>
                <a:latin typeface="Arial Narrow" panose="020B0606020202030204" pitchFamily="34" charset="0"/>
                <a:ea typeface="楷体_GB2312" pitchFamily="49" charset="-122"/>
              </a:rPr>
              <a:t>关系模式的分解</a:t>
            </a:r>
            <a:endParaRPr lang="zh-CN" altLang="en-US" sz="3600" b="0" dirty="0">
              <a:solidFill>
                <a:schemeClr val="bg1"/>
              </a:solidFill>
              <a:latin typeface="Arial Narrow" panose="020B0606020202030204" pitchFamily="34" charset="0"/>
              <a:ea typeface="楷体_GB2312" pitchFamily="49" charset="-122"/>
            </a:endParaRPr>
          </a:p>
          <a:p>
            <a:pPr eaLnBrk="1" hangingPunct="1">
              <a:lnSpc>
                <a:spcPct val="120000"/>
              </a:lnSpc>
              <a:spcBef>
                <a:spcPct val="0"/>
              </a:spcBef>
              <a:buClrTx/>
              <a:buNone/>
            </a:pPr>
            <a:r>
              <a:rPr lang="en-US" altLang="zh-CN" sz="3600" b="0" dirty="0">
                <a:solidFill>
                  <a:schemeClr val="tx1"/>
                </a:solidFill>
                <a:latin typeface="Arial Narrow" panose="020B0606020202030204" pitchFamily="34" charset="0"/>
                <a:ea typeface="楷体_GB2312" pitchFamily="49" charset="-122"/>
              </a:rPr>
              <a:t>6.6 </a:t>
            </a:r>
            <a:r>
              <a:rPr lang="zh-CN" altLang="en-US" sz="3600" b="0" dirty="0">
                <a:solidFill>
                  <a:schemeClr val="tx1"/>
                </a:solidFill>
                <a:latin typeface="Arial Narrow" panose="020B0606020202030204" pitchFamily="34" charset="0"/>
                <a:ea typeface="楷体_GB2312" pitchFamily="49" charset="-122"/>
              </a:rPr>
              <a:t>小结</a:t>
            </a:r>
            <a:endParaRPr lang="zh-CN" altLang="en-US" sz="3600" b="0" dirty="0">
              <a:solidFill>
                <a:schemeClr val="tx1"/>
              </a:solidFill>
              <a:latin typeface="Arial Narrow" panose="020B0606020202030204" pitchFamily="34" charset="0"/>
              <a:ea typeface="楷体_GB2312" pitchFamily="49" charset="-122"/>
            </a:endParaRPr>
          </a:p>
        </p:txBody>
      </p:sp>
      <p:sp>
        <p:nvSpPr>
          <p:cNvPr id="3077" name="Rectangle 4"/>
          <p:cNvSpPr>
            <a:spLocks noGrp="1"/>
          </p:cNvSpPr>
          <p:nvPr>
            <p:ph type="title"/>
          </p:nvPr>
        </p:nvSpPr>
        <p:spPr>
          <a:xfrm>
            <a:off x="914400" y="546100"/>
            <a:ext cx="7772400" cy="1143000"/>
          </a:xfrm>
          <a:ln/>
        </p:spPr>
        <p:txBody>
          <a:bodyPr vert="horz" wrap="square" lIns="91440" tIns="45720" rIns="91440" bIns="45720" anchor="ctr" anchorCtr="0"/>
          <a:p>
            <a:pPr eaLnBrk="1" hangingPunct="1"/>
            <a:r>
              <a:rPr lang="zh-CN" altLang="en-US" dirty="0"/>
              <a:t>第</a:t>
            </a:r>
            <a:r>
              <a:rPr lang="en-US" altLang="zh-CN" dirty="0"/>
              <a:t>6</a:t>
            </a:r>
            <a:r>
              <a:rPr lang="zh-CN" altLang="en-US" dirty="0"/>
              <a:t>章 关系数据理论</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099" name="Rectangle 2"/>
          <p:cNvSpPr>
            <a:spLocks noGrp="1"/>
          </p:cNvSpPr>
          <p:nvPr>
            <p:ph idx="1"/>
          </p:nvPr>
        </p:nvSpPr>
        <p:spPr>
          <a:xfrm>
            <a:off x="558800" y="1219200"/>
            <a:ext cx="8077200" cy="4584700"/>
          </a:xfrm>
          <a:ln/>
        </p:spPr>
        <p:txBody>
          <a:bodyPr vert="horz" wrap="square" lIns="91440" tIns="45720" rIns="91440" bIns="45720" anchor="t" anchorCtr="0"/>
          <a:p>
            <a:pPr eaLnBrk="1" hangingPunct="1">
              <a:lnSpc>
                <a:spcPct val="120000"/>
              </a:lnSpc>
            </a:pPr>
            <a:r>
              <a:rPr lang="en-US" altLang="zh-CN" dirty="0"/>
              <a:t>6.5.1 </a:t>
            </a:r>
            <a:r>
              <a:rPr lang="zh-CN" altLang="en-US" dirty="0"/>
              <a:t>模式分解的定义</a:t>
            </a:r>
            <a:endParaRPr lang="zh-CN" altLang="en-US" dirty="0"/>
          </a:p>
          <a:p>
            <a:pPr eaLnBrk="1" hangingPunct="1">
              <a:lnSpc>
                <a:spcPct val="120000"/>
              </a:lnSpc>
            </a:pPr>
            <a:r>
              <a:rPr lang="en-US" altLang="zh-CN" dirty="0">
                <a:solidFill>
                  <a:schemeClr val="tx1"/>
                </a:solidFill>
              </a:rPr>
              <a:t>6.5.2 </a:t>
            </a:r>
            <a:r>
              <a:rPr lang="zh-CN" altLang="en-US" dirty="0">
                <a:solidFill>
                  <a:schemeClr val="tx1"/>
                </a:solidFill>
              </a:rPr>
              <a:t>模式分解中的问题</a:t>
            </a:r>
            <a:endParaRPr lang="zh-CN" altLang="en-US" dirty="0">
              <a:solidFill>
                <a:schemeClr val="tx1"/>
              </a:solidFill>
            </a:endParaRPr>
          </a:p>
          <a:p>
            <a:pPr eaLnBrk="1" hangingPunct="1">
              <a:lnSpc>
                <a:spcPct val="120000"/>
              </a:lnSpc>
            </a:pPr>
            <a:r>
              <a:rPr lang="en-US" altLang="zh-CN" dirty="0">
                <a:solidFill>
                  <a:schemeClr val="tx1"/>
                </a:solidFill>
              </a:rPr>
              <a:t>6.5.3 </a:t>
            </a:r>
            <a:r>
              <a:rPr lang="zh-CN" altLang="en-US" dirty="0">
                <a:solidFill>
                  <a:schemeClr val="tx1"/>
                </a:solidFill>
              </a:rPr>
              <a:t>无损连接分解</a:t>
            </a:r>
            <a:endParaRPr lang="zh-CN" altLang="en-US" dirty="0">
              <a:solidFill>
                <a:schemeClr val="tx1"/>
              </a:solidFill>
            </a:endParaRPr>
          </a:p>
          <a:p>
            <a:pPr eaLnBrk="1" hangingPunct="1">
              <a:lnSpc>
                <a:spcPct val="120000"/>
              </a:lnSpc>
            </a:pPr>
            <a:r>
              <a:rPr lang="en-US" altLang="zh-CN" dirty="0">
                <a:solidFill>
                  <a:schemeClr val="tx1"/>
                </a:solidFill>
              </a:rPr>
              <a:t>6.5.4 </a:t>
            </a:r>
            <a:r>
              <a:rPr lang="zh-CN" altLang="en-US" dirty="0">
                <a:solidFill>
                  <a:schemeClr val="tx1"/>
                </a:solidFill>
              </a:rPr>
              <a:t>保持函数依赖的分解</a:t>
            </a:r>
            <a:endParaRPr lang="zh-CN" altLang="en-US" dirty="0">
              <a:solidFill>
                <a:schemeClr val="tx1"/>
              </a:solidFill>
            </a:endParaRPr>
          </a:p>
          <a:p>
            <a:pPr eaLnBrk="1" hangingPunct="1">
              <a:lnSpc>
                <a:spcPct val="120000"/>
              </a:lnSpc>
            </a:pPr>
            <a:r>
              <a:rPr lang="en-US" altLang="zh-CN" dirty="0">
                <a:solidFill>
                  <a:schemeClr val="tx1"/>
                </a:solidFill>
              </a:rPr>
              <a:t>6.5.5 </a:t>
            </a:r>
            <a:r>
              <a:rPr lang="zh-CN" altLang="en-US" dirty="0">
                <a:solidFill>
                  <a:schemeClr val="tx1"/>
                </a:solidFill>
              </a:rPr>
              <a:t>关系模式的分解算法</a:t>
            </a:r>
            <a:endParaRPr lang="zh-CN" altLang="en-US" dirty="0">
              <a:solidFill>
                <a:schemeClr val="tx1"/>
              </a:solidFill>
            </a:endParaRPr>
          </a:p>
        </p:txBody>
      </p:sp>
      <p:sp>
        <p:nvSpPr>
          <p:cNvPr id="4100"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123" name="Rectangle 2"/>
          <p:cNvSpPr>
            <a:spLocks noGrp="1"/>
          </p:cNvSpPr>
          <p:nvPr>
            <p:ph idx="1"/>
          </p:nvPr>
        </p:nvSpPr>
        <p:spPr>
          <a:xfrm>
            <a:off x="381000" y="914400"/>
            <a:ext cx="8382000" cy="5562600"/>
          </a:xfrm>
          <a:ln/>
        </p:spPr>
        <p:txBody>
          <a:bodyPr vert="horz" wrap="square" lIns="91440" tIns="45720" rIns="91440" bIns="45720" anchor="t" anchorCtr="0"/>
          <a:p>
            <a:pPr eaLnBrk="1" hangingPunct="1">
              <a:lnSpc>
                <a:spcPct val="140000"/>
              </a:lnSpc>
            </a:pPr>
            <a:r>
              <a:rPr lang="zh-CN" altLang="en-US" sz="2800" dirty="0"/>
              <a:t>定义</a:t>
            </a:r>
            <a:r>
              <a:rPr lang="en-US" altLang="zh-CN" sz="2800" dirty="0"/>
              <a:t>6.17</a:t>
            </a:r>
            <a:r>
              <a:rPr lang="en-US" altLang="zh-CN" sz="2800" dirty="0">
                <a:solidFill>
                  <a:schemeClr val="tx1"/>
                </a:solidFill>
              </a:rPr>
              <a:t>  </a:t>
            </a:r>
            <a:r>
              <a:rPr lang="zh-CN" altLang="en-US" sz="2800" dirty="0">
                <a:solidFill>
                  <a:schemeClr val="tx1"/>
                </a:solidFill>
              </a:rPr>
              <a:t>设有关系模式</a:t>
            </a:r>
            <a:r>
              <a:rPr lang="en-US" altLang="zh-CN" sz="2800" i="1" dirty="0">
                <a:solidFill>
                  <a:schemeClr val="tx1"/>
                </a:solidFill>
              </a:rPr>
              <a:t>R&lt;U,F&gt;,</a:t>
            </a:r>
            <a:r>
              <a:rPr lang="en-US" altLang="zh-CN" sz="2800" dirty="0">
                <a:solidFill>
                  <a:schemeClr val="tx1"/>
                </a:solidFill>
              </a:rPr>
              <a:t> </a:t>
            </a:r>
            <a:r>
              <a:rPr lang="zh-CN" altLang="en-US" sz="2800" dirty="0">
                <a:solidFill>
                  <a:schemeClr val="tx1"/>
                </a:solidFill>
              </a:rPr>
              <a:t>称用</a:t>
            </a:r>
            <a:r>
              <a:rPr lang="en-US" altLang="zh-CN" sz="2800" i="1" dirty="0">
                <a:solidFill>
                  <a:schemeClr val="tx1"/>
                </a:solidFill>
                <a:latin typeface="Arial" panose="020B0604020202020204" pitchFamily="34" charset="0"/>
              </a:rPr>
              <a:t>ρ</a:t>
            </a:r>
            <a:r>
              <a:rPr lang="en-US" altLang="zh-CN" sz="2800" dirty="0">
                <a:solidFill>
                  <a:schemeClr val="tx1"/>
                </a:solidFill>
              </a:rPr>
              <a:t>={ </a:t>
            </a:r>
            <a:r>
              <a:rPr lang="en-US" altLang="zh-CN" sz="2800" i="1" dirty="0">
                <a:solidFill>
                  <a:schemeClr val="tx1"/>
                </a:solidFill>
              </a:rPr>
              <a:t>R</a:t>
            </a:r>
            <a:r>
              <a:rPr lang="en-US" altLang="zh-CN" sz="2800" i="1" baseline="-25000" dirty="0">
                <a:solidFill>
                  <a:schemeClr val="tx1"/>
                </a:solidFill>
              </a:rPr>
              <a:t>1</a:t>
            </a:r>
            <a:r>
              <a:rPr lang="en-US" altLang="zh-CN" sz="2800" i="1" dirty="0">
                <a:solidFill>
                  <a:schemeClr val="tx1"/>
                </a:solidFill>
              </a:rPr>
              <a:t>&lt;U</a:t>
            </a:r>
            <a:r>
              <a:rPr lang="en-US" altLang="zh-CN" sz="2800" i="1" baseline="-25000" dirty="0">
                <a:solidFill>
                  <a:schemeClr val="tx1"/>
                </a:solidFill>
              </a:rPr>
              <a:t>1</a:t>
            </a:r>
            <a:r>
              <a:rPr lang="en-US" altLang="zh-CN" sz="2800" i="1" dirty="0">
                <a:solidFill>
                  <a:schemeClr val="tx1"/>
                </a:solidFill>
              </a:rPr>
              <a:t>,F</a:t>
            </a:r>
            <a:r>
              <a:rPr lang="en-US" altLang="zh-CN" sz="2800" i="1" baseline="-25000" dirty="0">
                <a:solidFill>
                  <a:schemeClr val="tx1"/>
                </a:solidFill>
              </a:rPr>
              <a:t>1</a:t>
            </a:r>
            <a:r>
              <a:rPr lang="en-US" altLang="zh-CN" sz="2800" i="1" dirty="0">
                <a:solidFill>
                  <a:schemeClr val="tx1"/>
                </a:solidFill>
              </a:rPr>
              <a:t>&gt;</a:t>
            </a:r>
            <a:r>
              <a:rPr lang="zh-CN" altLang="en-US" sz="2800" i="1" dirty="0">
                <a:solidFill>
                  <a:schemeClr val="tx1"/>
                </a:solidFill>
              </a:rPr>
              <a:t>，</a:t>
            </a:r>
            <a:r>
              <a:rPr lang="en-US" altLang="zh-CN" sz="2800" i="1" dirty="0">
                <a:solidFill>
                  <a:schemeClr val="tx1"/>
                </a:solidFill>
              </a:rPr>
              <a:t>R</a:t>
            </a:r>
            <a:r>
              <a:rPr lang="en-US" altLang="zh-CN" sz="2800" i="1" baseline="-25000" dirty="0">
                <a:solidFill>
                  <a:schemeClr val="tx1"/>
                </a:solidFill>
              </a:rPr>
              <a:t>2</a:t>
            </a:r>
            <a:r>
              <a:rPr lang="en-US" altLang="zh-CN" sz="2800" i="1" dirty="0">
                <a:solidFill>
                  <a:schemeClr val="tx1"/>
                </a:solidFill>
              </a:rPr>
              <a:t>&lt;U</a:t>
            </a:r>
            <a:r>
              <a:rPr lang="en-US" altLang="zh-CN" sz="2800" i="1" baseline="-25000" dirty="0">
                <a:solidFill>
                  <a:schemeClr val="tx1"/>
                </a:solidFill>
              </a:rPr>
              <a:t>2</a:t>
            </a:r>
            <a:r>
              <a:rPr lang="en-US" altLang="zh-CN" sz="2800" i="1" dirty="0">
                <a:solidFill>
                  <a:schemeClr val="tx1"/>
                </a:solidFill>
              </a:rPr>
              <a:t>,F</a:t>
            </a:r>
            <a:r>
              <a:rPr lang="en-US" altLang="zh-CN" sz="2800" i="1" baseline="-25000" dirty="0">
                <a:solidFill>
                  <a:schemeClr val="tx1"/>
                </a:solidFill>
              </a:rPr>
              <a:t>2</a:t>
            </a:r>
            <a:r>
              <a:rPr lang="en-US" altLang="zh-CN" sz="2800" i="1" dirty="0">
                <a:solidFill>
                  <a:schemeClr val="tx1"/>
                </a:solidFill>
              </a:rPr>
              <a:t>&gt;</a:t>
            </a:r>
            <a:r>
              <a:rPr lang="zh-CN" altLang="en-US" sz="2800" i="1" dirty="0">
                <a:solidFill>
                  <a:schemeClr val="tx1"/>
                </a:solidFill>
              </a:rPr>
              <a:t>，</a:t>
            </a:r>
            <a:r>
              <a:rPr lang="en-US" altLang="zh-CN" sz="2800" i="1" dirty="0">
                <a:solidFill>
                  <a:schemeClr val="tx1"/>
                </a:solidFill>
              </a:rPr>
              <a:t>…</a:t>
            </a:r>
            <a:r>
              <a:rPr lang="zh-CN" altLang="en-US" sz="2800" i="1" dirty="0">
                <a:solidFill>
                  <a:schemeClr val="tx1"/>
                </a:solidFill>
              </a:rPr>
              <a:t>，</a:t>
            </a:r>
            <a:r>
              <a:rPr lang="en-US" altLang="zh-CN" sz="2800" i="1" dirty="0">
                <a:solidFill>
                  <a:schemeClr val="tx1"/>
                </a:solidFill>
              </a:rPr>
              <a:t>R</a:t>
            </a:r>
            <a:r>
              <a:rPr lang="en-US" altLang="zh-CN" sz="2800" i="1" baseline="-25000" dirty="0">
                <a:solidFill>
                  <a:schemeClr val="tx1"/>
                </a:solidFill>
              </a:rPr>
              <a:t>n</a:t>
            </a:r>
            <a:r>
              <a:rPr lang="en-US" altLang="zh-CN" sz="2800" i="1" dirty="0">
                <a:solidFill>
                  <a:schemeClr val="tx1"/>
                </a:solidFill>
              </a:rPr>
              <a:t>&lt;U</a:t>
            </a:r>
            <a:r>
              <a:rPr lang="en-US" altLang="zh-CN" sz="2800" i="1" baseline="-25000" dirty="0">
                <a:solidFill>
                  <a:schemeClr val="tx1"/>
                </a:solidFill>
              </a:rPr>
              <a:t>n</a:t>
            </a:r>
            <a:r>
              <a:rPr lang="en-US" altLang="zh-CN" sz="2800" i="1" dirty="0">
                <a:solidFill>
                  <a:schemeClr val="tx1"/>
                </a:solidFill>
              </a:rPr>
              <a:t>,F</a:t>
            </a:r>
            <a:r>
              <a:rPr lang="en-US" altLang="zh-CN" sz="2800" i="1" baseline="-25000" dirty="0">
                <a:solidFill>
                  <a:schemeClr val="tx1"/>
                </a:solidFill>
              </a:rPr>
              <a:t>n</a:t>
            </a:r>
            <a:r>
              <a:rPr lang="en-US" altLang="zh-CN" sz="2800" i="1" dirty="0">
                <a:solidFill>
                  <a:schemeClr val="tx1"/>
                </a:solidFill>
              </a:rPr>
              <a:t>&gt;</a:t>
            </a:r>
            <a:r>
              <a:rPr lang="en-US" altLang="zh-CN" sz="2800" dirty="0">
                <a:solidFill>
                  <a:schemeClr val="tx1"/>
                </a:solidFill>
              </a:rPr>
              <a:t>}   </a:t>
            </a:r>
            <a:r>
              <a:rPr lang="zh-CN" altLang="en-US" sz="2800" dirty="0">
                <a:solidFill>
                  <a:schemeClr val="tx1"/>
                </a:solidFill>
              </a:rPr>
              <a:t>代替</a:t>
            </a:r>
            <a:r>
              <a:rPr lang="en-US" altLang="zh-CN" sz="2800" i="1" dirty="0">
                <a:solidFill>
                  <a:schemeClr val="tx1"/>
                </a:solidFill>
              </a:rPr>
              <a:t>R</a:t>
            </a:r>
            <a:r>
              <a:rPr lang="zh-CN" altLang="en-US" sz="2800" dirty="0">
                <a:solidFill>
                  <a:schemeClr val="tx1"/>
                </a:solidFill>
              </a:rPr>
              <a:t>的过程为</a:t>
            </a:r>
            <a:r>
              <a:rPr lang="en-US" altLang="zh-CN" sz="2800" i="1" dirty="0">
                <a:solidFill>
                  <a:schemeClr val="tx1"/>
                </a:solidFill>
              </a:rPr>
              <a:t>R</a:t>
            </a:r>
            <a:r>
              <a:rPr lang="zh-CN" altLang="en-US" sz="2800" dirty="0">
                <a:solidFill>
                  <a:schemeClr val="tx1"/>
                </a:solidFill>
              </a:rPr>
              <a:t>模式的</a:t>
            </a:r>
            <a:r>
              <a:rPr lang="zh-CN" altLang="en-US" sz="2800" dirty="0"/>
              <a:t>分解</a:t>
            </a:r>
            <a:r>
              <a:rPr lang="zh-CN" altLang="en-US" sz="2800" dirty="0">
                <a:solidFill>
                  <a:schemeClr val="tx1"/>
                </a:solidFill>
              </a:rPr>
              <a:t>， </a:t>
            </a:r>
            <a:r>
              <a:rPr lang="en-US" altLang="zh-CN" sz="2800" i="1" dirty="0">
                <a:solidFill>
                  <a:schemeClr val="tx1"/>
                </a:solidFill>
                <a:latin typeface="Arial" panose="020B0604020202020204" pitchFamily="34" charset="0"/>
              </a:rPr>
              <a:t>ρ</a:t>
            </a:r>
            <a:r>
              <a:rPr lang="zh-CN" altLang="en-US" sz="2800" dirty="0">
                <a:solidFill>
                  <a:schemeClr val="tx1"/>
                </a:solidFill>
                <a:latin typeface="Arial" panose="020B0604020202020204" pitchFamily="34" charset="0"/>
              </a:rPr>
              <a:t>称为</a:t>
            </a:r>
            <a:r>
              <a:rPr lang="en-US" altLang="zh-CN" sz="2800" i="1" dirty="0">
                <a:solidFill>
                  <a:schemeClr val="tx1"/>
                </a:solidFill>
              </a:rPr>
              <a:t>R</a:t>
            </a:r>
            <a:r>
              <a:rPr lang="zh-CN" altLang="en-US" sz="2800" dirty="0">
                <a:solidFill>
                  <a:schemeClr val="tx1"/>
                </a:solidFill>
                <a:latin typeface="Arial" panose="020B0604020202020204" pitchFamily="34" charset="0"/>
              </a:rPr>
              <a:t>的一个</a:t>
            </a:r>
            <a:r>
              <a:rPr lang="zh-CN" altLang="en-US" sz="2800" dirty="0">
                <a:latin typeface="Arial" panose="020B0604020202020204" pitchFamily="34" charset="0"/>
              </a:rPr>
              <a:t>分解</a:t>
            </a:r>
            <a:r>
              <a:rPr lang="zh-CN" altLang="en-US" sz="2800" dirty="0">
                <a:solidFill>
                  <a:schemeClr val="tx1"/>
                </a:solidFill>
                <a:latin typeface="Arial" panose="020B0604020202020204" pitchFamily="34" charset="0"/>
              </a:rPr>
              <a:t>，这里</a:t>
            </a:r>
            <a:r>
              <a:rPr lang="en-US" altLang="zh-CN" sz="2800" i="1" dirty="0">
                <a:solidFill>
                  <a:schemeClr val="tx1"/>
                </a:solidFill>
              </a:rPr>
              <a:t>U</a:t>
            </a:r>
            <a:r>
              <a:rPr lang="en-US" altLang="zh-CN" sz="2800" i="1" baseline="-25000" dirty="0">
                <a:solidFill>
                  <a:schemeClr val="tx1"/>
                </a:solidFill>
              </a:rPr>
              <a:t>i</a:t>
            </a:r>
            <a:r>
              <a:rPr lang="zh-CN" altLang="en-US" sz="2800" dirty="0">
                <a:solidFill>
                  <a:schemeClr val="tx1"/>
                </a:solidFill>
                <a:latin typeface="Arial" panose="020B0604020202020204" pitchFamily="34" charset="0"/>
              </a:rPr>
              <a:t>和</a:t>
            </a:r>
            <a:r>
              <a:rPr lang="en-US" altLang="zh-CN" sz="2800" i="1" dirty="0">
                <a:solidFill>
                  <a:schemeClr val="tx1"/>
                </a:solidFill>
              </a:rPr>
              <a:t>F</a:t>
            </a:r>
            <a:r>
              <a:rPr lang="en-US" altLang="zh-CN" sz="2800" i="1" baseline="-25000" dirty="0">
                <a:solidFill>
                  <a:schemeClr val="tx1"/>
                </a:solidFill>
              </a:rPr>
              <a:t>i</a:t>
            </a:r>
            <a:r>
              <a:rPr lang="zh-CN" altLang="en-US" sz="2800" dirty="0">
                <a:solidFill>
                  <a:schemeClr val="tx1"/>
                </a:solidFill>
                <a:latin typeface="Arial" panose="020B0604020202020204" pitchFamily="34" charset="0"/>
              </a:rPr>
              <a:t>必须同时满足：</a:t>
            </a:r>
            <a:endParaRPr lang="zh-CN" altLang="en-US" sz="2800" dirty="0">
              <a:solidFill>
                <a:schemeClr val="tx1"/>
              </a:solidFill>
            </a:endParaRPr>
          </a:p>
          <a:p>
            <a:pPr eaLnBrk="1" hangingPunct="1">
              <a:lnSpc>
                <a:spcPct val="140000"/>
              </a:lnSpc>
            </a:pPr>
            <a:r>
              <a:rPr lang="en-US" altLang="zh-CN" sz="2800" i="1" dirty="0">
                <a:solidFill>
                  <a:schemeClr val="tx1"/>
                </a:solidFill>
              </a:rPr>
              <a:t>U=U</a:t>
            </a:r>
            <a:r>
              <a:rPr lang="en-US" altLang="zh-CN" sz="2800" i="1" baseline="-25000" dirty="0">
                <a:solidFill>
                  <a:schemeClr val="tx1"/>
                </a:solidFill>
              </a:rPr>
              <a:t>1</a:t>
            </a:r>
            <a:r>
              <a:rPr lang="en-US" altLang="zh-CN" sz="2800" i="1" dirty="0">
                <a:solidFill>
                  <a:schemeClr val="tx1"/>
                </a:solidFill>
              </a:rPr>
              <a:t>∪U</a:t>
            </a:r>
            <a:r>
              <a:rPr lang="en-US" altLang="zh-CN" sz="2800" i="1" baseline="-25000" dirty="0">
                <a:solidFill>
                  <a:schemeClr val="tx1"/>
                </a:solidFill>
              </a:rPr>
              <a:t>2</a:t>
            </a:r>
            <a:r>
              <a:rPr lang="en-US" altLang="zh-CN" sz="2800" i="1" dirty="0">
                <a:solidFill>
                  <a:schemeClr val="tx1"/>
                </a:solidFill>
              </a:rPr>
              <a:t>∪…∪U</a:t>
            </a:r>
            <a:r>
              <a:rPr lang="en-US" altLang="zh-CN" sz="2800" i="1" baseline="-25000" dirty="0">
                <a:solidFill>
                  <a:schemeClr val="tx1"/>
                </a:solidFill>
              </a:rPr>
              <a:t>n</a:t>
            </a:r>
            <a:endParaRPr lang="en-US" altLang="zh-CN" sz="2800" i="1" dirty="0">
              <a:solidFill>
                <a:schemeClr val="tx1"/>
              </a:solidFill>
            </a:endParaRPr>
          </a:p>
          <a:p>
            <a:pPr eaLnBrk="1" hangingPunct="1">
              <a:lnSpc>
                <a:spcPct val="140000"/>
              </a:lnSpc>
            </a:pPr>
            <a:r>
              <a:rPr lang="en-US" altLang="zh-CN" sz="2800" i="1" dirty="0">
                <a:solidFill>
                  <a:schemeClr val="tx1"/>
                </a:solidFill>
              </a:rPr>
              <a:t>U</a:t>
            </a:r>
            <a:r>
              <a:rPr lang="en-US" altLang="zh-CN" sz="2800" i="1" baseline="-25000" dirty="0">
                <a:solidFill>
                  <a:schemeClr val="tx1"/>
                </a:solidFill>
              </a:rPr>
              <a:t>i</a:t>
            </a:r>
            <a:r>
              <a:rPr lang="zh-CN" altLang="en-US" sz="2800" dirty="0">
                <a:solidFill>
                  <a:schemeClr val="tx1"/>
                </a:solidFill>
              </a:rPr>
              <a:t>与</a:t>
            </a:r>
            <a:r>
              <a:rPr lang="en-US" altLang="zh-CN" sz="2800" i="1" dirty="0">
                <a:solidFill>
                  <a:schemeClr val="tx1"/>
                </a:solidFill>
              </a:rPr>
              <a:t>U</a:t>
            </a:r>
            <a:r>
              <a:rPr lang="en-US" altLang="zh-CN" sz="2800" i="1" baseline="-25000" dirty="0">
                <a:solidFill>
                  <a:schemeClr val="tx1"/>
                </a:solidFill>
              </a:rPr>
              <a:t>j</a:t>
            </a:r>
            <a:r>
              <a:rPr lang="zh-CN" altLang="en-US" sz="2800" dirty="0">
                <a:solidFill>
                  <a:schemeClr val="tx1"/>
                </a:solidFill>
              </a:rPr>
              <a:t>可以相交</a:t>
            </a:r>
            <a:r>
              <a:rPr lang="en-US" altLang="zh-CN" sz="2800" dirty="0">
                <a:solidFill>
                  <a:schemeClr val="tx1"/>
                </a:solidFill>
              </a:rPr>
              <a:t>,</a:t>
            </a:r>
            <a:r>
              <a:rPr lang="zh-CN" altLang="en-US" sz="2800" dirty="0">
                <a:solidFill>
                  <a:schemeClr val="tx1"/>
                </a:solidFill>
              </a:rPr>
              <a:t>但不允许</a:t>
            </a:r>
            <a:r>
              <a:rPr lang="en-US" altLang="zh-CN" sz="2800" i="1" dirty="0">
                <a:solidFill>
                  <a:schemeClr val="tx1"/>
                </a:solidFill>
              </a:rPr>
              <a:t>U</a:t>
            </a:r>
            <a:r>
              <a:rPr lang="en-US" altLang="zh-CN" sz="2800" i="1" baseline="-25000" dirty="0">
                <a:solidFill>
                  <a:schemeClr val="tx1"/>
                </a:solidFill>
              </a:rPr>
              <a:t>i</a:t>
            </a:r>
            <a:r>
              <a:rPr lang="en-US" altLang="zh-CN" sz="2800" i="1" dirty="0">
                <a:solidFill>
                  <a:schemeClr val="tx1"/>
                </a:solidFill>
              </a:rPr>
              <a:t> </a:t>
            </a:r>
            <a:r>
              <a:rPr lang="en-US" altLang="zh-CN" sz="2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2800" dirty="0">
                <a:solidFill>
                  <a:schemeClr val="tx1"/>
                </a:solidFill>
              </a:rPr>
              <a:t>  </a:t>
            </a:r>
            <a:r>
              <a:rPr lang="en-US" altLang="zh-CN" sz="2800" i="1" dirty="0">
                <a:solidFill>
                  <a:schemeClr val="tx1"/>
                </a:solidFill>
              </a:rPr>
              <a:t>U</a:t>
            </a:r>
            <a:r>
              <a:rPr lang="en-US" altLang="zh-CN" sz="2800" i="1" baseline="-25000" dirty="0">
                <a:solidFill>
                  <a:schemeClr val="tx1"/>
                </a:solidFill>
              </a:rPr>
              <a:t>j</a:t>
            </a:r>
            <a:r>
              <a:rPr lang="zh-CN" altLang="en-US" sz="2800" dirty="0">
                <a:solidFill>
                  <a:schemeClr val="tx1"/>
                </a:solidFill>
              </a:rPr>
              <a:t>或</a:t>
            </a:r>
            <a:r>
              <a:rPr lang="en-US" altLang="zh-CN" sz="2800" i="1" dirty="0">
                <a:solidFill>
                  <a:schemeClr val="tx1"/>
                </a:solidFill>
              </a:rPr>
              <a:t>U</a:t>
            </a:r>
            <a:r>
              <a:rPr lang="en-US" altLang="zh-CN" sz="2800" i="1" baseline="-25000" dirty="0">
                <a:solidFill>
                  <a:schemeClr val="tx1"/>
                </a:solidFill>
              </a:rPr>
              <a:t>j</a:t>
            </a:r>
            <a:r>
              <a:rPr lang="en-US" altLang="zh-CN" sz="2800" i="1" dirty="0">
                <a:solidFill>
                  <a:schemeClr val="tx1"/>
                </a:solidFill>
              </a:rPr>
              <a:t> </a:t>
            </a:r>
            <a:r>
              <a:rPr lang="en-US" altLang="zh-CN" sz="2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2800" dirty="0">
                <a:solidFill>
                  <a:schemeClr val="tx1"/>
                </a:solidFill>
              </a:rPr>
              <a:t>  </a:t>
            </a:r>
            <a:r>
              <a:rPr lang="en-US" altLang="zh-CN" sz="2800" i="1" dirty="0">
                <a:solidFill>
                  <a:schemeClr val="tx1"/>
                </a:solidFill>
              </a:rPr>
              <a:t>U</a:t>
            </a:r>
            <a:r>
              <a:rPr lang="en-US" altLang="zh-CN" sz="2800" i="1" baseline="-25000" dirty="0">
                <a:solidFill>
                  <a:schemeClr val="tx1"/>
                </a:solidFill>
              </a:rPr>
              <a:t>i</a:t>
            </a:r>
            <a:r>
              <a:rPr lang="en-US" altLang="zh-CN" i="1" dirty="0">
                <a:solidFill>
                  <a:schemeClr val="tx1"/>
                </a:solidFill>
              </a:rPr>
              <a:t> , i≠j,  i,j=1,2,…n</a:t>
            </a:r>
            <a:endParaRPr lang="en-US" altLang="zh-CN" i="1" dirty="0">
              <a:solidFill>
                <a:schemeClr val="tx1"/>
              </a:solidFill>
            </a:endParaRPr>
          </a:p>
          <a:p>
            <a:pPr eaLnBrk="1" hangingPunct="1">
              <a:lnSpc>
                <a:spcPct val="140000"/>
              </a:lnSpc>
            </a:pPr>
            <a:r>
              <a:rPr lang="en-US" altLang="zh-CN" sz="2800" i="1" dirty="0">
                <a:solidFill>
                  <a:schemeClr val="tx1"/>
                </a:solidFill>
              </a:rPr>
              <a:t>F</a:t>
            </a:r>
            <a:r>
              <a:rPr lang="en-US" altLang="zh-CN" sz="2800" i="1" baseline="-25000" dirty="0">
                <a:solidFill>
                  <a:schemeClr val="tx1"/>
                </a:solidFill>
              </a:rPr>
              <a:t>i</a:t>
            </a:r>
            <a:r>
              <a:rPr lang="zh-CN" altLang="en-US" sz="2800" dirty="0">
                <a:solidFill>
                  <a:schemeClr val="tx1"/>
                </a:solidFill>
              </a:rPr>
              <a:t>是</a:t>
            </a:r>
            <a:r>
              <a:rPr lang="en-US" altLang="zh-CN" sz="2800" i="1" dirty="0">
                <a:solidFill>
                  <a:schemeClr val="tx1"/>
                </a:solidFill>
              </a:rPr>
              <a:t>F</a:t>
            </a:r>
            <a:r>
              <a:rPr lang="zh-CN" altLang="en-US" sz="2800" dirty="0">
                <a:solidFill>
                  <a:schemeClr val="tx1"/>
                </a:solidFill>
              </a:rPr>
              <a:t>在</a:t>
            </a:r>
            <a:r>
              <a:rPr lang="en-US" altLang="zh-CN" sz="2800" i="1" dirty="0">
                <a:solidFill>
                  <a:schemeClr val="tx1"/>
                </a:solidFill>
              </a:rPr>
              <a:t>U</a:t>
            </a:r>
            <a:r>
              <a:rPr lang="en-US" altLang="zh-CN" sz="2800" i="1" baseline="-25000" dirty="0">
                <a:solidFill>
                  <a:schemeClr val="tx1"/>
                </a:solidFill>
              </a:rPr>
              <a:t>i</a:t>
            </a:r>
            <a:r>
              <a:rPr lang="zh-CN" altLang="en-US" sz="2800" dirty="0">
                <a:solidFill>
                  <a:schemeClr val="tx1"/>
                </a:solidFill>
              </a:rPr>
              <a:t>上的投影</a:t>
            </a:r>
            <a:r>
              <a:rPr lang="en-US" altLang="zh-CN" sz="2800" dirty="0">
                <a:solidFill>
                  <a:schemeClr val="tx1"/>
                </a:solidFill>
              </a:rPr>
              <a:t>(</a:t>
            </a:r>
            <a:r>
              <a:rPr lang="zh-CN" altLang="en-US" sz="2800" dirty="0">
                <a:solidFill>
                  <a:schemeClr val="tx1"/>
                </a:solidFill>
              </a:rPr>
              <a:t>也可记作</a:t>
            </a:r>
            <a:r>
              <a:rPr lang="zh-CN" altLang="en-US" sz="2800" i="1" dirty="0">
                <a:sym typeface="Symbol" panose="05050102010706020507" pitchFamily="18" charset="2"/>
              </a:rPr>
              <a:t>∏</a:t>
            </a:r>
            <a:r>
              <a:rPr lang="en-US" altLang="zh-CN" sz="1800" i="1" dirty="0"/>
              <a:t>R</a:t>
            </a:r>
            <a:r>
              <a:rPr lang="en-US" altLang="zh-CN" sz="1800" i="1" baseline="-16000" dirty="0"/>
              <a:t>i</a:t>
            </a:r>
            <a:r>
              <a:rPr lang="en-US" altLang="zh-CN" sz="2800" i="1" dirty="0">
                <a:sym typeface="Symbol" panose="05050102010706020507" pitchFamily="18" charset="2"/>
              </a:rPr>
              <a:t>(F)</a:t>
            </a:r>
            <a:r>
              <a:rPr lang="en-US" altLang="zh-CN" sz="2800" dirty="0">
                <a:solidFill>
                  <a:schemeClr val="tx1"/>
                </a:solidFill>
              </a:rPr>
              <a:t>)</a:t>
            </a:r>
            <a:endParaRPr lang="en-US" altLang="zh-CN" sz="2800" dirty="0">
              <a:solidFill>
                <a:schemeClr val="tx1"/>
              </a:solidFill>
            </a:endParaRPr>
          </a:p>
        </p:txBody>
      </p:sp>
      <p:sp>
        <p:nvSpPr>
          <p:cNvPr id="5124"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147" name="Rectangle 2"/>
          <p:cNvSpPr>
            <a:spLocks noGrp="1"/>
          </p:cNvSpPr>
          <p:nvPr>
            <p:ph idx="1"/>
          </p:nvPr>
        </p:nvSpPr>
        <p:spPr>
          <a:xfrm>
            <a:off x="381000" y="838200"/>
            <a:ext cx="8610600" cy="5791200"/>
          </a:xfrm>
          <a:ln/>
        </p:spPr>
        <p:txBody>
          <a:bodyPr vert="horz" wrap="square" lIns="91440" tIns="45720" rIns="91440" bIns="45720" anchor="t" anchorCtr="0"/>
          <a:p>
            <a:pPr eaLnBrk="1" hangingPunct="1">
              <a:lnSpc>
                <a:spcPct val="130000"/>
              </a:lnSpc>
              <a:spcBef>
                <a:spcPct val="0"/>
              </a:spcBef>
            </a:pPr>
            <a:r>
              <a:rPr lang="zh-CN" altLang="en-US" sz="2800" dirty="0"/>
              <a:t>定义</a:t>
            </a:r>
            <a:r>
              <a:rPr lang="en-US" altLang="zh-CN" sz="2800" dirty="0"/>
              <a:t>6.18  </a:t>
            </a:r>
            <a:r>
              <a:rPr lang="zh-CN" altLang="en-US" sz="2800" dirty="0">
                <a:solidFill>
                  <a:schemeClr val="tx1"/>
                </a:solidFill>
              </a:rPr>
              <a:t>函数依赖集合</a:t>
            </a:r>
            <a:endParaRPr lang="zh-CN" altLang="en-US" sz="2800" dirty="0">
              <a:solidFill>
                <a:schemeClr val="tx1"/>
              </a:solidFill>
            </a:endParaRPr>
          </a:p>
          <a:p>
            <a:pPr eaLnBrk="1" hangingPunct="1">
              <a:lnSpc>
                <a:spcPct val="130000"/>
              </a:lnSpc>
              <a:spcBef>
                <a:spcPct val="0"/>
              </a:spcBef>
              <a:buNone/>
            </a:pPr>
            <a:r>
              <a:rPr lang="zh-CN" altLang="en-US" sz="2800" i="1" dirty="0">
                <a:solidFill>
                  <a:schemeClr val="tx1"/>
                </a:solidFill>
              </a:rPr>
              <a:t>     </a:t>
            </a:r>
            <a:r>
              <a:rPr lang="en-US" altLang="zh-CN" sz="2800" dirty="0">
                <a:solidFill>
                  <a:schemeClr val="tx1"/>
                </a:solidFill>
              </a:rPr>
              <a:t>{ </a:t>
            </a:r>
            <a:r>
              <a:rPr lang="en-US" altLang="zh-CN" sz="2800" i="1" dirty="0">
                <a:solidFill>
                  <a:schemeClr val="tx1"/>
                </a:solidFill>
              </a:rPr>
              <a:t>X</a:t>
            </a:r>
            <a:r>
              <a:rPr lang="en-US" altLang="zh-CN" sz="2800" dirty="0">
                <a:solidFill>
                  <a:schemeClr val="tx1"/>
                </a:solidFill>
              </a:rPr>
              <a:t>→</a:t>
            </a:r>
            <a:r>
              <a:rPr lang="en-US" altLang="zh-CN" sz="2800" i="1" dirty="0">
                <a:solidFill>
                  <a:schemeClr val="tx1"/>
                </a:solidFill>
              </a:rPr>
              <a:t>Y </a:t>
            </a:r>
            <a:r>
              <a:rPr lang="en-US" altLang="zh-CN" sz="2800" dirty="0">
                <a:solidFill>
                  <a:schemeClr val="tx1"/>
                </a:solidFill>
              </a:rPr>
              <a:t>| </a:t>
            </a:r>
            <a:r>
              <a:rPr lang="en-US" altLang="zh-CN" sz="2800" i="1" dirty="0">
                <a:solidFill>
                  <a:schemeClr val="tx1"/>
                </a:solidFill>
              </a:rPr>
              <a:t>X</a:t>
            </a:r>
            <a:r>
              <a:rPr lang="en-US" altLang="zh-CN" sz="2800" dirty="0">
                <a:solidFill>
                  <a:schemeClr val="tx1"/>
                </a:solidFill>
              </a:rPr>
              <a:t>→</a:t>
            </a:r>
            <a:r>
              <a:rPr lang="en-US" altLang="zh-CN" sz="2800" i="1" dirty="0">
                <a:solidFill>
                  <a:schemeClr val="tx1"/>
                </a:solidFill>
              </a:rPr>
              <a:t>Y </a:t>
            </a:r>
            <a:r>
              <a:rPr lang="en-US" altLang="zh-CN" sz="2800" dirty="0">
                <a:solidFill>
                  <a:schemeClr val="tx1"/>
                </a:solidFill>
                <a:sym typeface="Symbol" panose="05050102010706020507" pitchFamily="18" charset="2"/>
              </a:rPr>
              <a:t></a:t>
            </a:r>
            <a:r>
              <a:rPr lang="en-US" altLang="zh-CN" sz="2800" dirty="0">
                <a:solidFill>
                  <a:schemeClr val="tx1"/>
                </a:solidFill>
              </a:rPr>
              <a:t> </a:t>
            </a:r>
            <a:r>
              <a:rPr lang="en-US" altLang="zh-CN" sz="2800" i="1" dirty="0">
                <a:solidFill>
                  <a:schemeClr val="tx1"/>
                </a:solidFill>
              </a:rPr>
              <a:t>F</a:t>
            </a:r>
            <a:r>
              <a:rPr lang="en-US" altLang="zh-CN" sz="2800" baseline="30000" dirty="0">
                <a:solidFill>
                  <a:schemeClr val="tx1"/>
                </a:solidFill>
              </a:rPr>
              <a:t>+  </a:t>
            </a:r>
            <a:r>
              <a:rPr lang="en-US" altLang="zh-CN" sz="2800" dirty="0">
                <a:solidFill>
                  <a:schemeClr val="tx1"/>
                </a:solidFill>
              </a:rPr>
              <a:t>∧  </a:t>
            </a:r>
            <a:r>
              <a:rPr lang="en-US" altLang="zh-CN" sz="2800" i="1" dirty="0">
                <a:solidFill>
                  <a:schemeClr val="tx1"/>
                </a:solidFill>
              </a:rPr>
              <a:t>XY</a:t>
            </a:r>
            <a:r>
              <a:rPr lang="en-US" altLang="zh-CN" sz="2800" baseline="30000" dirty="0">
                <a:solidFill>
                  <a:schemeClr val="tx1"/>
                </a:solidFill>
              </a:rPr>
              <a:t> </a:t>
            </a:r>
            <a:r>
              <a:rPr lang="en-US" altLang="zh-CN" sz="2800" dirty="0">
                <a:solidFill>
                  <a:schemeClr val="tx1"/>
                </a:solidFill>
                <a:sym typeface="Symbol" panose="05050102010706020507" pitchFamily="18" charset="2"/>
              </a:rPr>
              <a:t></a:t>
            </a:r>
            <a:r>
              <a:rPr lang="en-US" altLang="zh-CN" sz="2800" i="1" dirty="0">
                <a:solidFill>
                  <a:schemeClr val="tx1"/>
                </a:solidFill>
              </a:rPr>
              <a:t>U</a:t>
            </a:r>
            <a:r>
              <a:rPr lang="en-US" altLang="zh-CN" sz="2800" i="1" baseline="-25000" dirty="0">
                <a:solidFill>
                  <a:schemeClr val="tx1"/>
                </a:solidFill>
              </a:rPr>
              <a:t>i </a:t>
            </a:r>
            <a:r>
              <a:rPr lang="en-US" altLang="zh-CN" sz="2800" dirty="0">
                <a:solidFill>
                  <a:schemeClr val="tx1"/>
                </a:solidFill>
              </a:rPr>
              <a:t>}</a:t>
            </a:r>
            <a:endParaRPr lang="en-US" altLang="zh-CN" sz="2800" dirty="0">
              <a:solidFill>
                <a:schemeClr val="tx1"/>
              </a:solidFill>
            </a:endParaRPr>
          </a:p>
          <a:p>
            <a:pPr eaLnBrk="1" hangingPunct="1">
              <a:lnSpc>
                <a:spcPct val="130000"/>
              </a:lnSpc>
              <a:spcBef>
                <a:spcPct val="0"/>
              </a:spcBef>
              <a:buNone/>
            </a:pPr>
            <a:r>
              <a:rPr lang="en-US" altLang="zh-CN" sz="2800" dirty="0">
                <a:solidFill>
                  <a:schemeClr val="tx1"/>
                </a:solidFill>
              </a:rPr>
              <a:t>     </a:t>
            </a:r>
            <a:r>
              <a:rPr lang="zh-CN" altLang="en-US" sz="2800" dirty="0">
                <a:solidFill>
                  <a:schemeClr val="tx1"/>
                </a:solidFill>
              </a:rPr>
              <a:t>的一个覆盖 </a:t>
            </a:r>
            <a:r>
              <a:rPr lang="en-US" altLang="zh-CN" sz="2800" i="1" dirty="0">
                <a:solidFill>
                  <a:schemeClr val="tx1"/>
                </a:solidFill>
              </a:rPr>
              <a:t>F</a:t>
            </a:r>
            <a:r>
              <a:rPr lang="en-US" altLang="zh-CN" sz="2800" i="1" baseline="-25000" dirty="0">
                <a:solidFill>
                  <a:schemeClr val="tx1"/>
                </a:solidFill>
              </a:rPr>
              <a:t>i </a:t>
            </a:r>
            <a:r>
              <a:rPr lang="zh-CN" altLang="en-US" sz="2800" dirty="0">
                <a:solidFill>
                  <a:schemeClr val="tx1"/>
                </a:solidFill>
              </a:rPr>
              <a:t>叫作 </a:t>
            </a:r>
            <a:r>
              <a:rPr lang="en-US" altLang="zh-CN" sz="2800" i="1" dirty="0">
                <a:solidFill>
                  <a:schemeClr val="tx1"/>
                </a:solidFill>
              </a:rPr>
              <a:t>F </a:t>
            </a:r>
            <a:r>
              <a:rPr lang="zh-CN" altLang="en-US" sz="2800" dirty="0">
                <a:solidFill>
                  <a:schemeClr val="tx1"/>
                </a:solidFill>
              </a:rPr>
              <a:t>在属性 </a:t>
            </a:r>
            <a:r>
              <a:rPr lang="en-US" altLang="zh-CN" sz="2800" i="1" dirty="0">
                <a:solidFill>
                  <a:schemeClr val="tx1"/>
                </a:solidFill>
              </a:rPr>
              <a:t>U</a:t>
            </a:r>
            <a:r>
              <a:rPr lang="en-US" altLang="zh-CN" sz="2800" i="1" baseline="-25000" dirty="0">
                <a:solidFill>
                  <a:schemeClr val="tx1"/>
                </a:solidFill>
              </a:rPr>
              <a:t>i </a:t>
            </a:r>
            <a:r>
              <a:rPr lang="zh-CN" altLang="en-US" sz="2800" dirty="0">
                <a:solidFill>
                  <a:schemeClr val="tx1"/>
                </a:solidFill>
              </a:rPr>
              <a:t>上的投影 </a:t>
            </a:r>
            <a:endParaRPr lang="zh-CN" altLang="en-US" sz="2800" dirty="0">
              <a:solidFill>
                <a:schemeClr val="tx1"/>
              </a:solidFill>
            </a:endParaRPr>
          </a:p>
          <a:p>
            <a:pPr eaLnBrk="1" hangingPunct="1">
              <a:lnSpc>
                <a:spcPct val="130000"/>
              </a:lnSpc>
              <a:spcBef>
                <a:spcPct val="0"/>
              </a:spcBef>
            </a:pPr>
            <a:r>
              <a:rPr lang="zh-CN" altLang="en-US" sz="2800" dirty="0">
                <a:solidFill>
                  <a:schemeClr val="tx1"/>
                </a:solidFill>
              </a:rPr>
              <a:t>设有</a:t>
            </a:r>
            <a:r>
              <a:rPr lang="en-US" altLang="zh-CN" sz="2800" i="1" dirty="0">
                <a:solidFill>
                  <a:schemeClr val="tx1"/>
                </a:solidFill>
              </a:rPr>
              <a:t>R&lt;U,F&gt;,U={A,B,C,D}, F={A→B,C→D}</a:t>
            </a:r>
            <a:endParaRPr lang="en-US" altLang="zh-CN" sz="2800" i="1" dirty="0">
              <a:solidFill>
                <a:schemeClr val="tx1"/>
              </a:solidFill>
            </a:endParaRPr>
          </a:p>
          <a:p>
            <a:pPr eaLnBrk="1" hangingPunct="1">
              <a:lnSpc>
                <a:spcPct val="130000"/>
              </a:lnSpc>
              <a:spcBef>
                <a:spcPct val="0"/>
              </a:spcBef>
              <a:buNone/>
            </a:pPr>
            <a:r>
              <a:rPr lang="en-US" altLang="zh-CN" sz="2800" i="1" dirty="0">
                <a:solidFill>
                  <a:schemeClr val="tx1"/>
                </a:solidFill>
              </a:rPr>
              <a:t>    </a:t>
            </a:r>
            <a:r>
              <a:rPr lang="en-US" altLang="zh-CN" sz="2800" dirty="0">
                <a:solidFill>
                  <a:schemeClr val="tx1"/>
                </a:solidFill>
              </a:rPr>
              <a:t>(</a:t>
            </a:r>
            <a:r>
              <a:rPr lang="en-US" altLang="zh-CN" sz="2800" i="1" dirty="0">
                <a:solidFill>
                  <a:schemeClr val="tx1"/>
                </a:solidFill>
              </a:rPr>
              <a:t>R</a:t>
            </a:r>
            <a:r>
              <a:rPr lang="zh-CN" altLang="en-US" sz="2800" dirty="0">
                <a:solidFill>
                  <a:schemeClr val="tx1"/>
                </a:solidFill>
              </a:rPr>
              <a:t>最高为几范式</a:t>
            </a:r>
            <a:r>
              <a:rPr lang="en-US" altLang="zh-CN" sz="2800" dirty="0">
                <a:solidFill>
                  <a:schemeClr val="tx1"/>
                </a:solidFill>
              </a:rPr>
              <a:t>?)</a:t>
            </a:r>
            <a:endParaRPr lang="en-US" altLang="zh-CN" sz="2800" dirty="0">
              <a:solidFill>
                <a:schemeClr val="tx1"/>
              </a:solidFill>
            </a:endParaRPr>
          </a:p>
          <a:p>
            <a:pPr eaLnBrk="1" hangingPunct="1">
              <a:lnSpc>
                <a:spcPct val="130000"/>
              </a:lnSpc>
              <a:spcBef>
                <a:spcPct val="0"/>
              </a:spcBef>
              <a:buNone/>
            </a:pPr>
            <a:r>
              <a:rPr lang="en-US" altLang="zh-CN" sz="2800" i="1" dirty="0">
                <a:solidFill>
                  <a:schemeClr val="tx1"/>
                </a:solidFill>
              </a:rPr>
              <a:t>   ρ1</a:t>
            </a:r>
            <a:r>
              <a:rPr lang="en-US" altLang="zh-CN" sz="2800" dirty="0">
                <a:solidFill>
                  <a:schemeClr val="tx1"/>
                </a:solidFill>
              </a:rPr>
              <a:t>: </a:t>
            </a:r>
            <a:r>
              <a:rPr lang="en-US" altLang="zh-CN" sz="2800" i="1" dirty="0">
                <a:solidFill>
                  <a:schemeClr val="tx1"/>
                </a:solidFill>
              </a:rPr>
              <a:t>R1(A,B,C), R2(C,D),F</a:t>
            </a:r>
            <a:r>
              <a:rPr lang="zh-CN" altLang="en-US" sz="2800" dirty="0">
                <a:solidFill>
                  <a:schemeClr val="tx1"/>
                </a:solidFill>
              </a:rPr>
              <a:t>在</a:t>
            </a:r>
            <a:r>
              <a:rPr lang="en-US" altLang="zh-CN" sz="2800" i="1" dirty="0">
                <a:solidFill>
                  <a:schemeClr val="tx1"/>
                </a:solidFill>
              </a:rPr>
              <a:t>R1,R2</a:t>
            </a:r>
            <a:r>
              <a:rPr lang="zh-CN" altLang="en-US" sz="2800" dirty="0">
                <a:solidFill>
                  <a:schemeClr val="tx1"/>
                </a:solidFill>
              </a:rPr>
              <a:t>上的投影是什么</a:t>
            </a:r>
            <a:r>
              <a:rPr lang="en-US" altLang="zh-CN" sz="2800" dirty="0">
                <a:solidFill>
                  <a:schemeClr val="tx1"/>
                </a:solidFill>
              </a:rPr>
              <a:t>?</a:t>
            </a:r>
            <a:endParaRPr lang="en-US" altLang="zh-CN" sz="2800" dirty="0">
              <a:solidFill>
                <a:schemeClr val="tx1"/>
              </a:solidFill>
            </a:endParaRPr>
          </a:p>
          <a:p>
            <a:pPr eaLnBrk="1" hangingPunct="1">
              <a:lnSpc>
                <a:spcPct val="130000"/>
              </a:lnSpc>
              <a:spcBef>
                <a:spcPct val="0"/>
              </a:spcBef>
              <a:buNone/>
            </a:pPr>
            <a:r>
              <a:rPr lang="en-US" altLang="zh-CN" sz="2800" dirty="0">
                <a:solidFill>
                  <a:schemeClr val="tx1"/>
                </a:solidFill>
              </a:rPr>
              <a:t>    </a:t>
            </a:r>
            <a:r>
              <a:rPr lang="en-US" altLang="zh-CN" sz="2800" i="1" dirty="0">
                <a:solidFill>
                  <a:schemeClr val="tx1"/>
                </a:solidFill>
              </a:rPr>
              <a:t>F1 </a:t>
            </a:r>
            <a:r>
              <a:rPr lang="en-US" altLang="zh-CN" sz="2800" dirty="0">
                <a:solidFill>
                  <a:schemeClr val="tx1"/>
                </a:solidFill>
              </a:rPr>
              <a:t>= {</a:t>
            </a:r>
            <a:r>
              <a:rPr lang="en-US" altLang="zh-CN" sz="2800" i="1" dirty="0">
                <a:solidFill>
                  <a:schemeClr val="tx1"/>
                </a:solidFill>
              </a:rPr>
              <a:t>A→B</a:t>
            </a:r>
            <a:r>
              <a:rPr lang="en-US" altLang="zh-CN" sz="2800" dirty="0">
                <a:solidFill>
                  <a:schemeClr val="tx1"/>
                </a:solidFill>
              </a:rPr>
              <a:t>},   </a:t>
            </a:r>
            <a:r>
              <a:rPr lang="en-US" altLang="zh-CN" sz="2800" i="1" dirty="0">
                <a:solidFill>
                  <a:schemeClr val="tx1"/>
                </a:solidFill>
              </a:rPr>
              <a:t>F2</a:t>
            </a:r>
            <a:r>
              <a:rPr lang="en-US" altLang="zh-CN" sz="2800" dirty="0">
                <a:solidFill>
                  <a:schemeClr val="tx1"/>
                </a:solidFill>
              </a:rPr>
              <a:t>={</a:t>
            </a:r>
            <a:r>
              <a:rPr lang="en-US" altLang="zh-CN" sz="2800" i="1" dirty="0">
                <a:solidFill>
                  <a:schemeClr val="tx1"/>
                </a:solidFill>
              </a:rPr>
              <a:t>C→D</a:t>
            </a:r>
            <a:r>
              <a:rPr lang="en-US" altLang="zh-CN" sz="2800" dirty="0">
                <a:solidFill>
                  <a:schemeClr val="tx1"/>
                </a:solidFill>
              </a:rPr>
              <a:t>}</a:t>
            </a:r>
            <a:endParaRPr lang="en-US" altLang="zh-CN" sz="2800" dirty="0">
              <a:solidFill>
                <a:schemeClr val="tx1"/>
              </a:solidFill>
            </a:endParaRPr>
          </a:p>
          <a:p>
            <a:pPr eaLnBrk="1" hangingPunct="1">
              <a:lnSpc>
                <a:spcPct val="130000"/>
              </a:lnSpc>
              <a:spcBef>
                <a:spcPct val="0"/>
              </a:spcBef>
              <a:buNone/>
            </a:pPr>
            <a:r>
              <a:rPr lang="en-US" altLang="zh-CN" sz="2800" i="1" dirty="0">
                <a:solidFill>
                  <a:schemeClr val="tx1"/>
                </a:solidFill>
              </a:rPr>
              <a:t>    </a:t>
            </a:r>
            <a:r>
              <a:rPr lang="en-US" altLang="zh-CN" sz="2800" dirty="0">
                <a:solidFill>
                  <a:schemeClr val="tx1"/>
                </a:solidFill>
              </a:rPr>
              <a:t>(</a:t>
            </a:r>
            <a:r>
              <a:rPr lang="en-US" altLang="zh-CN" sz="2800" i="1" dirty="0">
                <a:solidFill>
                  <a:schemeClr val="tx1"/>
                </a:solidFill>
              </a:rPr>
              <a:t>R1</a:t>
            </a:r>
            <a:r>
              <a:rPr lang="zh-CN" altLang="en-US" sz="2800" dirty="0">
                <a:solidFill>
                  <a:schemeClr val="tx1"/>
                </a:solidFill>
              </a:rPr>
              <a:t>最高为几范式</a:t>
            </a:r>
            <a:r>
              <a:rPr lang="en-US" altLang="zh-CN" sz="2800" dirty="0">
                <a:solidFill>
                  <a:schemeClr val="tx1"/>
                </a:solidFill>
              </a:rPr>
              <a:t>?</a:t>
            </a:r>
            <a:r>
              <a:rPr lang="en-US" altLang="zh-CN" sz="2800" i="1" dirty="0">
                <a:solidFill>
                  <a:schemeClr val="tx1"/>
                </a:solidFill>
              </a:rPr>
              <a:t>R2</a:t>
            </a:r>
            <a:r>
              <a:rPr lang="zh-CN" altLang="en-US" sz="2800" dirty="0">
                <a:solidFill>
                  <a:schemeClr val="tx1"/>
                </a:solidFill>
              </a:rPr>
              <a:t>呢</a:t>
            </a:r>
            <a:r>
              <a:rPr lang="en-US" altLang="zh-CN" sz="2800" dirty="0">
                <a:solidFill>
                  <a:schemeClr val="tx1"/>
                </a:solidFill>
              </a:rPr>
              <a:t>?)</a:t>
            </a:r>
            <a:endParaRPr lang="en-US" altLang="zh-CN" sz="2800" dirty="0">
              <a:solidFill>
                <a:schemeClr val="tx1"/>
              </a:solidFill>
            </a:endParaRPr>
          </a:p>
        </p:txBody>
      </p:sp>
      <p:sp>
        <p:nvSpPr>
          <p:cNvPr id="6148"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171" name="Rectangle 2"/>
          <p:cNvSpPr>
            <a:spLocks noGrp="1"/>
          </p:cNvSpPr>
          <p:nvPr>
            <p:ph idx="1"/>
          </p:nvPr>
        </p:nvSpPr>
        <p:spPr>
          <a:xfrm>
            <a:off x="381000" y="838200"/>
            <a:ext cx="8610600" cy="5791200"/>
          </a:xfrm>
          <a:ln/>
        </p:spPr>
        <p:txBody>
          <a:bodyPr vert="horz" wrap="square" lIns="91440" tIns="45720" rIns="91440" bIns="45720" anchor="t" anchorCtr="0"/>
          <a:p>
            <a:pPr eaLnBrk="1" hangingPunct="1">
              <a:lnSpc>
                <a:spcPct val="130000"/>
              </a:lnSpc>
              <a:spcBef>
                <a:spcPct val="0"/>
              </a:spcBef>
            </a:pPr>
            <a:r>
              <a:rPr lang="zh-CN" altLang="en-US" sz="2800" dirty="0">
                <a:solidFill>
                  <a:schemeClr val="tx1"/>
                </a:solidFill>
              </a:rPr>
              <a:t>设有</a:t>
            </a:r>
            <a:r>
              <a:rPr lang="en-US" altLang="zh-CN" sz="2800" i="1" dirty="0">
                <a:solidFill>
                  <a:schemeClr val="tx1"/>
                </a:solidFill>
              </a:rPr>
              <a:t>R&lt;U,F&gt;,U={A,B,C}, F={A→B,B→C}</a:t>
            </a:r>
            <a:endParaRPr lang="en-US" altLang="zh-CN" sz="2800" i="1" dirty="0">
              <a:solidFill>
                <a:schemeClr val="tx1"/>
              </a:solidFill>
            </a:endParaRPr>
          </a:p>
          <a:p>
            <a:pPr eaLnBrk="1" hangingPunct="1">
              <a:lnSpc>
                <a:spcPct val="130000"/>
              </a:lnSpc>
              <a:spcBef>
                <a:spcPct val="0"/>
              </a:spcBef>
              <a:buNone/>
            </a:pPr>
            <a:r>
              <a:rPr lang="en-US" altLang="zh-CN" sz="2800" dirty="0">
                <a:solidFill>
                  <a:schemeClr val="tx1"/>
                </a:solidFill>
              </a:rPr>
              <a:t>	(</a:t>
            </a:r>
            <a:r>
              <a:rPr lang="en-US" altLang="zh-CN" sz="2800" i="1" dirty="0">
                <a:solidFill>
                  <a:schemeClr val="tx1"/>
                </a:solidFill>
              </a:rPr>
              <a:t>R</a:t>
            </a:r>
            <a:r>
              <a:rPr lang="zh-CN" altLang="en-US" sz="2800" dirty="0">
                <a:solidFill>
                  <a:schemeClr val="tx1"/>
                </a:solidFill>
              </a:rPr>
              <a:t>最高为几范式</a:t>
            </a:r>
            <a:r>
              <a:rPr lang="en-US" altLang="zh-CN" sz="2800" dirty="0">
                <a:solidFill>
                  <a:schemeClr val="tx1"/>
                </a:solidFill>
              </a:rPr>
              <a:t>?)  </a:t>
            </a:r>
            <a:endParaRPr lang="en-US" altLang="zh-CN" sz="2800" dirty="0">
              <a:solidFill>
                <a:schemeClr val="tx1"/>
              </a:solidFill>
            </a:endParaRPr>
          </a:p>
          <a:p>
            <a:pPr eaLnBrk="1" hangingPunct="1">
              <a:lnSpc>
                <a:spcPct val="130000"/>
              </a:lnSpc>
              <a:spcBef>
                <a:spcPct val="0"/>
              </a:spcBef>
              <a:buNone/>
            </a:pPr>
            <a:r>
              <a:rPr lang="en-US" altLang="zh-CN" sz="2800" i="1" dirty="0">
                <a:solidFill>
                  <a:schemeClr val="tx1"/>
                </a:solidFill>
              </a:rPr>
              <a:t>   ρ1</a:t>
            </a:r>
            <a:r>
              <a:rPr lang="en-US" altLang="zh-CN" sz="2800" dirty="0">
                <a:solidFill>
                  <a:schemeClr val="tx1"/>
                </a:solidFill>
              </a:rPr>
              <a:t>: </a:t>
            </a:r>
            <a:r>
              <a:rPr lang="en-US" altLang="zh-CN" sz="2800" i="1" dirty="0">
                <a:solidFill>
                  <a:schemeClr val="tx1"/>
                </a:solidFill>
              </a:rPr>
              <a:t>R1(A,B), R2(A,C),F</a:t>
            </a:r>
            <a:r>
              <a:rPr lang="zh-CN" altLang="en-US" sz="2800" dirty="0">
                <a:solidFill>
                  <a:schemeClr val="tx1"/>
                </a:solidFill>
              </a:rPr>
              <a:t>在</a:t>
            </a:r>
            <a:r>
              <a:rPr lang="en-US" altLang="zh-CN" sz="2800" i="1" dirty="0">
                <a:solidFill>
                  <a:schemeClr val="tx1"/>
                </a:solidFill>
              </a:rPr>
              <a:t>R1,R2</a:t>
            </a:r>
            <a:r>
              <a:rPr lang="zh-CN" altLang="en-US" sz="2800" dirty="0">
                <a:solidFill>
                  <a:schemeClr val="tx1"/>
                </a:solidFill>
              </a:rPr>
              <a:t>上的投影是什么</a:t>
            </a:r>
            <a:r>
              <a:rPr lang="en-US" altLang="zh-CN" sz="2800" dirty="0">
                <a:solidFill>
                  <a:schemeClr val="tx1"/>
                </a:solidFill>
              </a:rPr>
              <a:t>?</a:t>
            </a:r>
            <a:endParaRPr lang="en-US" altLang="zh-CN" sz="2800" dirty="0">
              <a:solidFill>
                <a:schemeClr val="tx1"/>
              </a:solidFill>
            </a:endParaRPr>
          </a:p>
          <a:p>
            <a:pPr eaLnBrk="1" hangingPunct="1">
              <a:lnSpc>
                <a:spcPct val="130000"/>
              </a:lnSpc>
              <a:spcBef>
                <a:spcPct val="0"/>
              </a:spcBef>
              <a:buNone/>
            </a:pPr>
            <a:r>
              <a:rPr lang="en-US" altLang="zh-CN" sz="2800" dirty="0">
                <a:solidFill>
                  <a:schemeClr val="tx1"/>
                </a:solidFill>
              </a:rPr>
              <a:t>    </a:t>
            </a:r>
            <a:r>
              <a:rPr lang="en-US" altLang="zh-CN" sz="2800" i="1" dirty="0">
                <a:solidFill>
                  <a:schemeClr val="tx1"/>
                </a:solidFill>
              </a:rPr>
              <a:t>F1 </a:t>
            </a:r>
            <a:r>
              <a:rPr lang="en-US" altLang="zh-CN" sz="2800" dirty="0">
                <a:solidFill>
                  <a:schemeClr val="tx1"/>
                </a:solidFill>
              </a:rPr>
              <a:t>= {</a:t>
            </a:r>
            <a:r>
              <a:rPr lang="en-US" altLang="zh-CN" sz="2800" i="1" dirty="0">
                <a:solidFill>
                  <a:schemeClr val="tx1"/>
                </a:solidFill>
              </a:rPr>
              <a:t>A→B</a:t>
            </a:r>
            <a:r>
              <a:rPr lang="en-US" altLang="zh-CN" sz="2800" dirty="0">
                <a:solidFill>
                  <a:schemeClr val="tx1"/>
                </a:solidFill>
              </a:rPr>
              <a:t>},   </a:t>
            </a:r>
            <a:r>
              <a:rPr lang="en-US" altLang="zh-CN" sz="2800" i="1" dirty="0">
                <a:solidFill>
                  <a:schemeClr val="tx1"/>
                </a:solidFill>
              </a:rPr>
              <a:t>F2</a:t>
            </a:r>
            <a:r>
              <a:rPr lang="en-US" altLang="zh-CN" sz="2800" dirty="0">
                <a:solidFill>
                  <a:schemeClr val="tx1"/>
                </a:solidFill>
              </a:rPr>
              <a:t>={</a:t>
            </a:r>
            <a:r>
              <a:rPr lang="en-US" altLang="zh-CN" sz="2800" i="1" dirty="0">
                <a:solidFill>
                  <a:schemeClr val="tx1"/>
                </a:solidFill>
              </a:rPr>
              <a:t>A→C</a:t>
            </a:r>
            <a:r>
              <a:rPr lang="en-US" altLang="zh-CN" sz="2800" dirty="0">
                <a:solidFill>
                  <a:schemeClr val="tx1"/>
                </a:solidFill>
              </a:rPr>
              <a:t>}</a:t>
            </a:r>
            <a:endParaRPr lang="en-US" altLang="zh-CN" sz="2800" dirty="0">
              <a:solidFill>
                <a:schemeClr val="tx1"/>
              </a:solidFill>
            </a:endParaRPr>
          </a:p>
          <a:p>
            <a:pPr eaLnBrk="1" hangingPunct="1">
              <a:lnSpc>
                <a:spcPct val="130000"/>
              </a:lnSpc>
              <a:spcBef>
                <a:spcPct val="0"/>
              </a:spcBef>
              <a:buNone/>
            </a:pPr>
            <a:r>
              <a:rPr lang="en-US" altLang="zh-CN" sz="2800" dirty="0">
                <a:solidFill>
                  <a:schemeClr val="tx1"/>
                </a:solidFill>
              </a:rPr>
              <a:t>    (</a:t>
            </a:r>
            <a:r>
              <a:rPr lang="en-US" altLang="zh-CN" sz="2800" i="1" dirty="0">
                <a:solidFill>
                  <a:schemeClr val="tx1"/>
                </a:solidFill>
              </a:rPr>
              <a:t>R1</a:t>
            </a:r>
            <a:r>
              <a:rPr lang="zh-CN" altLang="en-US" sz="2800" dirty="0">
                <a:solidFill>
                  <a:schemeClr val="tx1"/>
                </a:solidFill>
              </a:rPr>
              <a:t>最高为几范式</a:t>
            </a:r>
            <a:r>
              <a:rPr lang="en-US" altLang="zh-CN" sz="2800" dirty="0">
                <a:solidFill>
                  <a:schemeClr val="tx1"/>
                </a:solidFill>
              </a:rPr>
              <a:t>?</a:t>
            </a:r>
            <a:r>
              <a:rPr lang="en-US" altLang="zh-CN" sz="2800" i="1" dirty="0">
                <a:solidFill>
                  <a:schemeClr val="tx1"/>
                </a:solidFill>
              </a:rPr>
              <a:t>R2</a:t>
            </a:r>
            <a:r>
              <a:rPr lang="zh-CN" altLang="en-US" sz="2800" dirty="0">
                <a:solidFill>
                  <a:schemeClr val="tx1"/>
                </a:solidFill>
              </a:rPr>
              <a:t>呢</a:t>
            </a:r>
            <a:r>
              <a:rPr lang="en-US" altLang="zh-CN" sz="2800" dirty="0">
                <a:solidFill>
                  <a:schemeClr val="tx1"/>
                </a:solidFill>
              </a:rPr>
              <a:t>?)</a:t>
            </a:r>
            <a:endParaRPr lang="en-US" altLang="zh-CN" sz="2800" dirty="0">
              <a:solidFill>
                <a:schemeClr val="tx1"/>
              </a:solidFill>
            </a:endParaRPr>
          </a:p>
        </p:txBody>
      </p:sp>
      <p:sp>
        <p:nvSpPr>
          <p:cNvPr id="7172"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195" name="Rectangle 2"/>
          <p:cNvSpPr>
            <a:spLocks noGrp="1"/>
          </p:cNvSpPr>
          <p:nvPr>
            <p:ph idx="1"/>
          </p:nvPr>
        </p:nvSpPr>
        <p:spPr>
          <a:xfrm>
            <a:off x="228600" y="838200"/>
            <a:ext cx="8610600" cy="5638800"/>
          </a:xfrm>
          <a:ln/>
        </p:spPr>
        <p:txBody>
          <a:bodyPr vert="horz" wrap="square" lIns="91440" tIns="45720" rIns="91440" bIns="45720" anchor="t" anchorCtr="0"/>
          <a:p>
            <a:pPr eaLnBrk="1" hangingPunct="1">
              <a:lnSpc>
                <a:spcPct val="130000"/>
              </a:lnSpc>
              <a:spcBef>
                <a:spcPct val="0"/>
              </a:spcBef>
            </a:pPr>
            <a:r>
              <a:rPr lang="en-US" altLang="zh-CN" sz="2800" i="1" dirty="0">
                <a:solidFill>
                  <a:schemeClr val="tx1"/>
                </a:solidFill>
              </a:rPr>
              <a:t>SCD(Sno,Sname,Age,Dept,Mn,Cno,Score)</a:t>
            </a:r>
            <a:endParaRPr lang="en-US" altLang="zh-CN" sz="2800" i="1" dirty="0">
              <a:solidFill>
                <a:schemeClr val="tx1"/>
              </a:solidFill>
            </a:endParaRPr>
          </a:p>
          <a:p>
            <a:pPr eaLnBrk="1" hangingPunct="1">
              <a:lnSpc>
                <a:spcPct val="130000"/>
              </a:lnSpc>
              <a:spcBef>
                <a:spcPct val="0"/>
              </a:spcBef>
              <a:buNone/>
            </a:pPr>
            <a:r>
              <a:rPr lang="en-US" altLang="zh-CN" sz="2800" i="1" dirty="0">
                <a:solidFill>
                  <a:schemeClr val="tx1"/>
                </a:solidFill>
              </a:rPr>
              <a:t>    F={sno→*, Dept→Mn,(sno,cno)→score}</a:t>
            </a:r>
            <a:endParaRPr lang="en-US" altLang="zh-CN" sz="2800" i="1" dirty="0">
              <a:solidFill>
                <a:schemeClr val="tx1"/>
              </a:solidFill>
            </a:endParaRPr>
          </a:p>
          <a:p>
            <a:pPr eaLnBrk="1" hangingPunct="1">
              <a:lnSpc>
                <a:spcPct val="130000"/>
              </a:lnSpc>
              <a:spcBef>
                <a:spcPct val="0"/>
              </a:spcBef>
            </a:pPr>
            <a:r>
              <a:rPr lang="zh-CN" altLang="en-US" sz="2800" dirty="0">
                <a:solidFill>
                  <a:srgbClr val="0000CC"/>
                </a:solidFill>
              </a:rPr>
              <a:t>分解</a:t>
            </a:r>
            <a:r>
              <a:rPr lang="en-US" altLang="zh-CN" sz="2800" i="1" dirty="0">
                <a:solidFill>
                  <a:srgbClr val="0000CC"/>
                </a:solidFill>
              </a:rPr>
              <a:t>ρ1={SD,SC}:</a:t>
            </a:r>
            <a:endParaRPr lang="en-US" altLang="zh-CN" sz="2800" i="1" dirty="0">
              <a:solidFill>
                <a:srgbClr val="0000CC"/>
              </a:solidFill>
            </a:endParaRPr>
          </a:p>
          <a:p>
            <a:pPr eaLnBrk="1" hangingPunct="1">
              <a:lnSpc>
                <a:spcPct val="130000"/>
              </a:lnSpc>
              <a:spcBef>
                <a:spcPct val="0"/>
              </a:spcBef>
              <a:buNone/>
            </a:pPr>
            <a:r>
              <a:rPr lang="en-US" altLang="zh-CN" sz="2800" i="1" dirty="0">
                <a:solidFill>
                  <a:schemeClr val="tx1"/>
                </a:solidFill>
              </a:rPr>
              <a:t>   SD(Sno,Sname,Age,Dept,Mn), F</a:t>
            </a:r>
            <a:r>
              <a:rPr lang="en-US" altLang="zh-CN" sz="2800" i="1" baseline="-25000" dirty="0">
                <a:solidFill>
                  <a:schemeClr val="tx1"/>
                </a:solidFill>
              </a:rPr>
              <a:t>1</a:t>
            </a:r>
            <a:r>
              <a:rPr lang="en-US" altLang="zh-CN" sz="2800" i="1" dirty="0">
                <a:solidFill>
                  <a:schemeClr val="tx1"/>
                </a:solidFill>
              </a:rPr>
              <a:t>={sno→*,dept→Mn}</a:t>
            </a:r>
            <a:endParaRPr lang="en-US" altLang="zh-CN" sz="2800" i="1" dirty="0">
              <a:solidFill>
                <a:schemeClr val="tx1"/>
              </a:solidFill>
            </a:endParaRPr>
          </a:p>
          <a:p>
            <a:pPr eaLnBrk="1" hangingPunct="1">
              <a:lnSpc>
                <a:spcPct val="130000"/>
              </a:lnSpc>
              <a:spcBef>
                <a:spcPct val="0"/>
              </a:spcBef>
              <a:buNone/>
            </a:pPr>
            <a:r>
              <a:rPr lang="en-US" altLang="zh-CN" sz="2800" i="1" dirty="0">
                <a:solidFill>
                  <a:schemeClr val="tx1"/>
                </a:solidFill>
              </a:rPr>
              <a:t>   SC(Sno,Cno,Score), F</a:t>
            </a:r>
            <a:r>
              <a:rPr lang="en-US" altLang="zh-CN" sz="2800" i="1" baseline="-25000" dirty="0">
                <a:solidFill>
                  <a:schemeClr val="tx1"/>
                </a:solidFill>
              </a:rPr>
              <a:t>2</a:t>
            </a:r>
            <a:r>
              <a:rPr lang="en-US" altLang="zh-CN" sz="2800" i="1" dirty="0">
                <a:solidFill>
                  <a:schemeClr val="tx1"/>
                </a:solidFill>
              </a:rPr>
              <a:t>={(sno,cno) →score}</a:t>
            </a:r>
            <a:endParaRPr lang="en-US" altLang="zh-CN" sz="2800" i="1" dirty="0">
              <a:solidFill>
                <a:schemeClr val="tx1"/>
              </a:solidFill>
            </a:endParaRPr>
          </a:p>
          <a:p>
            <a:pPr eaLnBrk="1" hangingPunct="1">
              <a:lnSpc>
                <a:spcPct val="130000"/>
              </a:lnSpc>
              <a:spcBef>
                <a:spcPct val="0"/>
              </a:spcBef>
            </a:pPr>
            <a:r>
              <a:rPr lang="zh-CN" altLang="en-US" sz="2800" dirty="0">
                <a:solidFill>
                  <a:srgbClr val="0000CC"/>
                </a:solidFill>
              </a:rPr>
              <a:t>分解</a:t>
            </a:r>
            <a:r>
              <a:rPr lang="en-US" altLang="zh-CN" sz="2800" i="1" dirty="0">
                <a:solidFill>
                  <a:srgbClr val="0000CC"/>
                </a:solidFill>
              </a:rPr>
              <a:t>ρ2={S,D,SC}:</a:t>
            </a:r>
            <a:endParaRPr lang="en-US" altLang="zh-CN" sz="2800" i="1" dirty="0">
              <a:solidFill>
                <a:srgbClr val="0000CC"/>
              </a:solidFill>
            </a:endParaRPr>
          </a:p>
          <a:p>
            <a:pPr eaLnBrk="1" hangingPunct="1">
              <a:lnSpc>
                <a:spcPct val="130000"/>
              </a:lnSpc>
              <a:spcBef>
                <a:spcPct val="0"/>
              </a:spcBef>
              <a:buNone/>
            </a:pPr>
            <a:r>
              <a:rPr lang="en-US" altLang="zh-CN" sz="2800" i="1" dirty="0">
                <a:solidFill>
                  <a:schemeClr val="tx1"/>
                </a:solidFill>
              </a:rPr>
              <a:t>   S (Sno,Sname,Age,Dept),F</a:t>
            </a:r>
            <a:r>
              <a:rPr lang="en-US" altLang="zh-CN" sz="2800" i="1" baseline="-25000" dirty="0">
                <a:solidFill>
                  <a:schemeClr val="tx1"/>
                </a:solidFill>
              </a:rPr>
              <a:t>1</a:t>
            </a:r>
            <a:r>
              <a:rPr lang="en-US" altLang="zh-CN" sz="2800" i="1" dirty="0">
                <a:solidFill>
                  <a:schemeClr val="tx1"/>
                </a:solidFill>
              </a:rPr>
              <a:t>={sno→(sname,age,dept)}</a:t>
            </a:r>
            <a:endParaRPr lang="en-US" altLang="zh-CN" sz="2800" i="1" dirty="0">
              <a:solidFill>
                <a:schemeClr val="tx1"/>
              </a:solidFill>
            </a:endParaRPr>
          </a:p>
          <a:p>
            <a:pPr eaLnBrk="1" hangingPunct="1">
              <a:lnSpc>
                <a:spcPct val="130000"/>
              </a:lnSpc>
              <a:spcBef>
                <a:spcPct val="0"/>
              </a:spcBef>
              <a:buNone/>
            </a:pPr>
            <a:r>
              <a:rPr lang="en-US" altLang="zh-CN" sz="2800" i="1" dirty="0">
                <a:solidFill>
                  <a:schemeClr val="tx1"/>
                </a:solidFill>
              </a:rPr>
              <a:t>   D(Dept,Mn),F</a:t>
            </a:r>
            <a:r>
              <a:rPr lang="en-US" altLang="zh-CN" sz="2800" i="1" baseline="-25000" dirty="0">
                <a:solidFill>
                  <a:schemeClr val="tx1"/>
                </a:solidFill>
              </a:rPr>
              <a:t>2</a:t>
            </a:r>
            <a:r>
              <a:rPr lang="en-US" altLang="zh-CN" sz="2800" i="1" dirty="0">
                <a:solidFill>
                  <a:schemeClr val="tx1"/>
                </a:solidFill>
              </a:rPr>
              <a:t>={dept→Mn}</a:t>
            </a:r>
            <a:endParaRPr lang="en-US" altLang="zh-CN" sz="2800" i="1" dirty="0">
              <a:solidFill>
                <a:schemeClr val="tx1"/>
              </a:solidFill>
            </a:endParaRPr>
          </a:p>
          <a:p>
            <a:pPr eaLnBrk="1" hangingPunct="1">
              <a:lnSpc>
                <a:spcPct val="130000"/>
              </a:lnSpc>
              <a:spcBef>
                <a:spcPct val="0"/>
              </a:spcBef>
              <a:buNone/>
            </a:pPr>
            <a:r>
              <a:rPr lang="en-US" altLang="zh-CN" sz="2800" i="1" dirty="0">
                <a:solidFill>
                  <a:schemeClr val="tx1"/>
                </a:solidFill>
              </a:rPr>
              <a:t>   SC(Sno, Cno,Score),F</a:t>
            </a:r>
            <a:r>
              <a:rPr lang="en-US" altLang="zh-CN" sz="2800" i="1" baseline="-25000" dirty="0">
                <a:solidFill>
                  <a:schemeClr val="tx1"/>
                </a:solidFill>
              </a:rPr>
              <a:t>3</a:t>
            </a:r>
            <a:r>
              <a:rPr lang="en-US" altLang="zh-CN" sz="2800" i="1" dirty="0">
                <a:solidFill>
                  <a:schemeClr val="tx1"/>
                </a:solidFill>
              </a:rPr>
              <a:t>={(sno,cno) →score}</a:t>
            </a:r>
            <a:endParaRPr lang="en-US" altLang="zh-CN" sz="2800" i="1" dirty="0">
              <a:solidFill>
                <a:schemeClr val="tx1"/>
              </a:solidFill>
            </a:endParaRPr>
          </a:p>
        </p:txBody>
      </p:sp>
      <p:sp>
        <p:nvSpPr>
          <p:cNvPr id="8196"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219" name="Rectangle 2"/>
          <p:cNvSpPr>
            <a:spLocks noGrp="1"/>
          </p:cNvSpPr>
          <p:nvPr>
            <p:ph idx="1"/>
          </p:nvPr>
        </p:nvSpPr>
        <p:spPr>
          <a:xfrm>
            <a:off x="558800" y="1219200"/>
            <a:ext cx="8077200" cy="4584700"/>
          </a:xfrm>
          <a:ln/>
        </p:spPr>
        <p:txBody>
          <a:bodyPr vert="horz" wrap="square" lIns="91440" tIns="45720" rIns="91440" bIns="45720" anchor="t" anchorCtr="0"/>
          <a:p>
            <a:pPr eaLnBrk="1" hangingPunct="1">
              <a:lnSpc>
                <a:spcPct val="120000"/>
              </a:lnSpc>
            </a:pPr>
            <a:r>
              <a:rPr lang="en-US" altLang="zh-CN" dirty="0">
                <a:solidFill>
                  <a:schemeClr val="tx1"/>
                </a:solidFill>
              </a:rPr>
              <a:t>6.5.1 </a:t>
            </a:r>
            <a:r>
              <a:rPr lang="zh-CN" altLang="en-US" dirty="0">
                <a:solidFill>
                  <a:schemeClr val="tx1"/>
                </a:solidFill>
              </a:rPr>
              <a:t>模式分解的定义</a:t>
            </a:r>
            <a:endParaRPr lang="zh-CN" altLang="en-US" dirty="0">
              <a:solidFill>
                <a:schemeClr val="tx1"/>
              </a:solidFill>
            </a:endParaRPr>
          </a:p>
          <a:p>
            <a:pPr eaLnBrk="1" hangingPunct="1">
              <a:lnSpc>
                <a:spcPct val="120000"/>
              </a:lnSpc>
            </a:pPr>
            <a:r>
              <a:rPr lang="en-US" altLang="zh-CN" dirty="0"/>
              <a:t>6.5.2 </a:t>
            </a:r>
            <a:r>
              <a:rPr lang="zh-CN" altLang="en-US" dirty="0"/>
              <a:t>模式分解中的问题</a:t>
            </a:r>
            <a:endParaRPr lang="zh-CN" altLang="en-US" dirty="0"/>
          </a:p>
          <a:p>
            <a:pPr eaLnBrk="1" hangingPunct="1">
              <a:lnSpc>
                <a:spcPct val="120000"/>
              </a:lnSpc>
            </a:pPr>
            <a:r>
              <a:rPr lang="en-US" altLang="zh-CN" dirty="0">
                <a:solidFill>
                  <a:schemeClr val="tx1"/>
                </a:solidFill>
              </a:rPr>
              <a:t>6.5.3 </a:t>
            </a:r>
            <a:r>
              <a:rPr lang="zh-CN" altLang="en-US" dirty="0">
                <a:solidFill>
                  <a:schemeClr val="tx1"/>
                </a:solidFill>
              </a:rPr>
              <a:t>无损连接分解</a:t>
            </a:r>
            <a:endParaRPr lang="zh-CN" altLang="en-US" dirty="0">
              <a:solidFill>
                <a:schemeClr val="tx1"/>
              </a:solidFill>
            </a:endParaRPr>
          </a:p>
          <a:p>
            <a:pPr eaLnBrk="1" hangingPunct="1">
              <a:lnSpc>
                <a:spcPct val="120000"/>
              </a:lnSpc>
            </a:pPr>
            <a:r>
              <a:rPr lang="en-US" altLang="zh-CN" dirty="0">
                <a:solidFill>
                  <a:schemeClr val="tx1"/>
                </a:solidFill>
              </a:rPr>
              <a:t>6.5.4 </a:t>
            </a:r>
            <a:r>
              <a:rPr lang="zh-CN" altLang="en-US" dirty="0">
                <a:solidFill>
                  <a:schemeClr val="tx1"/>
                </a:solidFill>
              </a:rPr>
              <a:t>保持函数依赖的分解</a:t>
            </a:r>
            <a:endParaRPr lang="zh-CN" altLang="en-US" dirty="0">
              <a:solidFill>
                <a:schemeClr val="tx1"/>
              </a:solidFill>
            </a:endParaRPr>
          </a:p>
          <a:p>
            <a:pPr eaLnBrk="1" hangingPunct="1">
              <a:lnSpc>
                <a:spcPct val="120000"/>
              </a:lnSpc>
            </a:pPr>
            <a:r>
              <a:rPr lang="en-US" altLang="zh-CN" dirty="0">
                <a:solidFill>
                  <a:schemeClr val="tx1"/>
                </a:solidFill>
              </a:rPr>
              <a:t>6.5.5 </a:t>
            </a:r>
            <a:r>
              <a:rPr lang="zh-CN" altLang="en-US" dirty="0">
                <a:solidFill>
                  <a:schemeClr val="tx1"/>
                </a:solidFill>
              </a:rPr>
              <a:t>关系模式的分解算法</a:t>
            </a:r>
            <a:endParaRPr lang="zh-CN" altLang="en-US" dirty="0">
              <a:solidFill>
                <a:schemeClr val="tx1"/>
              </a:solidFill>
            </a:endParaRPr>
          </a:p>
        </p:txBody>
      </p:sp>
      <p:sp>
        <p:nvSpPr>
          <p:cNvPr id="9220"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243" name="Rectangle 2"/>
          <p:cNvSpPr>
            <a:spLocks noGrp="1"/>
          </p:cNvSpPr>
          <p:nvPr>
            <p:ph idx="1"/>
          </p:nvPr>
        </p:nvSpPr>
        <p:spPr>
          <a:xfrm>
            <a:off x="381000" y="914400"/>
            <a:ext cx="8382000" cy="5562600"/>
          </a:xfrm>
          <a:ln/>
        </p:spPr>
        <p:txBody>
          <a:bodyPr vert="horz" wrap="square" lIns="91440" tIns="45720" rIns="91440" bIns="45720" anchor="t" anchorCtr="0"/>
          <a:p>
            <a:pPr eaLnBrk="1" hangingPunct="1">
              <a:lnSpc>
                <a:spcPct val="140000"/>
              </a:lnSpc>
            </a:pPr>
            <a:r>
              <a:rPr lang="zh-CN" altLang="en-US" dirty="0">
                <a:solidFill>
                  <a:schemeClr val="tx1"/>
                </a:solidFill>
              </a:rPr>
              <a:t>把低一级的关系模式分解为若干个高一级的关系模式的方法并不是唯一的</a:t>
            </a:r>
            <a:endParaRPr lang="zh-CN" altLang="en-US" dirty="0">
              <a:solidFill>
                <a:schemeClr val="tx1"/>
              </a:solidFill>
            </a:endParaRPr>
          </a:p>
          <a:p>
            <a:pPr eaLnBrk="1" hangingPunct="1">
              <a:lnSpc>
                <a:spcPct val="140000"/>
              </a:lnSpc>
            </a:pPr>
            <a:r>
              <a:rPr lang="zh-CN" altLang="en-US" dirty="0">
                <a:solidFill>
                  <a:schemeClr val="tx1"/>
                </a:solidFill>
              </a:rPr>
              <a:t>只有能够保证分解后的关系模式与原关系模式</a:t>
            </a:r>
            <a:r>
              <a:rPr lang="zh-CN" altLang="en-US" dirty="0"/>
              <a:t>等价</a:t>
            </a:r>
            <a:r>
              <a:rPr lang="zh-CN" altLang="en-US" dirty="0">
                <a:solidFill>
                  <a:schemeClr val="tx1"/>
                </a:solidFill>
              </a:rPr>
              <a:t>，分解方法才有意义</a:t>
            </a:r>
            <a:endParaRPr lang="zh-CN" altLang="en-US" dirty="0">
              <a:solidFill>
                <a:schemeClr val="tx1"/>
              </a:solidFill>
            </a:endParaRPr>
          </a:p>
          <a:p>
            <a:pPr lvl="1" eaLnBrk="1" hangingPunct="1">
              <a:lnSpc>
                <a:spcPct val="140000"/>
              </a:lnSpc>
            </a:pPr>
            <a:r>
              <a:rPr lang="zh-CN" altLang="en-US" dirty="0"/>
              <a:t>无损连接性</a:t>
            </a:r>
            <a:endParaRPr lang="zh-CN" altLang="en-US" dirty="0"/>
          </a:p>
          <a:p>
            <a:pPr lvl="1" eaLnBrk="1" hangingPunct="1">
              <a:lnSpc>
                <a:spcPct val="140000"/>
              </a:lnSpc>
            </a:pPr>
            <a:r>
              <a:rPr lang="zh-CN" altLang="en-US" dirty="0"/>
              <a:t>保持函数依赖</a:t>
            </a:r>
            <a:endParaRPr lang="zh-CN" altLang="en-US" dirty="0"/>
          </a:p>
          <a:p>
            <a:pPr lvl="1" eaLnBrk="1" hangingPunct="1">
              <a:lnSpc>
                <a:spcPct val="140000"/>
              </a:lnSpc>
            </a:pPr>
            <a:r>
              <a:rPr lang="zh-CN" altLang="en-US" dirty="0"/>
              <a:t>既保持函数依赖，又无损连接</a:t>
            </a:r>
            <a:endParaRPr lang="zh-CN" altLang="en-US" dirty="0"/>
          </a:p>
        </p:txBody>
      </p:sp>
      <p:sp>
        <p:nvSpPr>
          <p:cNvPr id="10244"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126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graphicFrame>
        <p:nvGraphicFramePr>
          <p:cNvPr id="14339" name="Group 3"/>
          <p:cNvGraphicFramePr>
            <a:graphicFrameLocks noGrp="1"/>
          </p:cNvGraphicFramePr>
          <p:nvPr/>
        </p:nvGraphicFramePr>
        <p:xfrm>
          <a:off x="304800" y="2171700"/>
          <a:ext cx="4038600" cy="3286125"/>
        </p:xfrm>
        <a:graphic>
          <a:graphicData uri="http://schemas.openxmlformats.org/drawingml/2006/table">
            <a:tbl>
              <a:tblPr/>
              <a:tblGrid>
                <a:gridCol w="1346200"/>
                <a:gridCol w="1346200"/>
                <a:gridCol w="1346200"/>
              </a:tblGrid>
              <a:tr h="103024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学生</a:t>
                      </a:r>
                      <a:endPar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B</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学院</a:t>
                      </a:r>
                      <a:endPar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C</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院长</a:t>
                      </a:r>
                      <a:endPar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74">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赵</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计算机</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516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钱</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计算机</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74">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孙</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机械</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张</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74">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李</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软件</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1294" name="Text Box 29"/>
          <p:cNvSpPr txBox="1"/>
          <p:nvPr/>
        </p:nvSpPr>
        <p:spPr>
          <a:xfrm>
            <a:off x="762000" y="1485900"/>
            <a:ext cx="2667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50000"/>
              </a:spcBef>
              <a:buClrTx/>
              <a:buNone/>
            </a:pPr>
            <a:r>
              <a:rPr lang="en-US" altLang="zh-CN" sz="2800" b="0" dirty="0">
                <a:solidFill>
                  <a:schemeClr val="tx1"/>
                </a:solidFill>
              </a:rPr>
              <a:t>{A </a:t>
            </a:r>
            <a:r>
              <a:rPr lang="en-US" altLang="zh-CN" sz="2800" b="0" dirty="0">
                <a:solidFill>
                  <a:schemeClr val="tx1"/>
                </a:solidFill>
                <a:latin typeface="Arial Narrow" panose="020B0606020202030204" pitchFamily="34" charset="0"/>
                <a:ea typeface="华文新魏" panose="02010800040101010101" pitchFamily="2" charset="-122"/>
                <a:sym typeface="Symbol" panose="05050102010706020507" pitchFamily="18" charset="2"/>
              </a:rPr>
              <a:t></a:t>
            </a:r>
            <a:r>
              <a:rPr lang="en-US" altLang="zh-CN" sz="2800" b="0" dirty="0">
                <a:solidFill>
                  <a:schemeClr val="tx1"/>
                </a:solidFill>
              </a:rPr>
              <a:t> B, B </a:t>
            </a:r>
            <a:r>
              <a:rPr lang="en-US" altLang="zh-CN" sz="2800" b="0" dirty="0">
                <a:solidFill>
                  <a:schemeClr val="tx1"/>
                </a:solidFill>
                <a:latin typeface="Arial Narrow" panose="020B0606020202030204" pitchFamily="34" charset="0"/>
                <a:ea typeface="华文新魏" panose="02010800040101010101" pitchFamily="2" charset="-122"/>
                <a:sym typeface="Symbol" panose="05050102010706020507" pitchFamily="18" charset="2"/>
              </a:rPr>
              <a:t></a:t>
            </a:r>
            <a:r>
              <a:rPr lang="en-US" altLang="zh-CN" sz="2800" b="0" dirty="0">
                <a:solidFill>
                  <a:schemeClr val="tx1"/>
                </a:solidFill>
              </a:rPr>
              <a:t> C}</a:t>
            </a:r>
            <a:endParaRPr lang="en-US" altLang="zh-CN" sz="2800" b="0" dirty="0">
              <a:solidFill>
                <a:schemeClr val="tx1"/>
              </a:solidFill>
            </a:endParaRPr>
          </a:p>
        </p:txBody>
      </p:sp>
      <p:sp>
        <p:nvSpPr>
          <p:cNvPr id="11295" name="AutoShape 30"/>
          <p:cNvSpPr/>
          <p:nvPr/>
        </p:nvSpPr>
        <p:spPr>
          <a:xfrm>
            <a:off x="4648200" y="2146300"/>
            <a:ext cx="762000" cy="762000"/>
          </a:xfrm>
          <a:prstGeom prst="rightArrow">
            <a:avLst>
              <a:gd name="adj1" fmla="val 53333"/>
              <a:gd name="adj2" fmla="val 56250"/>
            </a:avLst>
          </a:prstGeom>
          <a:solidFill>
            <a:srgbClr val="6699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None/>
            </a:pPr>
            <a:endParaRPr lang="en-US" altLang="zh-CN" sz="1400" b="0" dirty="0">
              <a:solidFill>
                <a:schemeClr val="tx1"/>
              </a:solidFill>
            </a:endParaRPr>
          </a:p>
        </p:txBody>
      </p:sp>
      <p:sp>
        <p:nvSpPr>
          <p:cNvPr id="11296" name="AutoShape 31"/>
          <p:cNvSpPr/>
          <p:nvPr/>
        </p:nvSpPr>
        <p:spPr>
          <a:xfrm>
            <a:off x="4648200" y="3441700"/>
            <a:ext cx="762000" cy="762000"/>
          </a:xfrm>
          <a:prstGeom prst="rightArrow">
            <a:avLst>
              <a:gd name="adj1" fmla="val 53333"/>
              <a:gd name="adj2" fmla="val 56250"/>
            </a:avLst>
          </a:prstGeom>
          <a:solidFill>
            <a:srgbClr val="6699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None/>
            </a:pPr>
            <a:endParaRPr lang="en-US" altLang="zh-CN" sz="1400" b="0" dirty="0">
              <a:solidFill>
                <a:schemeClr val="tx1"/>
              </a:solidFill>
            </a:endParaRPr>
          </a:p>
        </p:txBody>
      </p:sp>
      <p:sp>
        <p:nvSpPr>
          <p:cNvPr id="11297" name="AutoShape 32"/>
          <p:cNvSpPr/>
          <p:nvPr/>
        </p:nvSpPr>
        <p:spPr>
          <a:xfrm>
            <a:off x="4648200" y="4660900"/>
            <a:ext cx="762000" cy="762000"/>
          </a:xfrm>
          <a:prstGeom prst="rightArrow">
            <a:avLst>
              <a:gd name="adj1" fmla="val 53333"/>
              <a:gd name="adj2" fmla="val 56250"/>
            </a:avLst>
          </a:prstGeom>
          <a:solidFill>
            <a:srgbClr val="6699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None/>
            </a:pPr>
            <a:endParaRPr lang="en-US" altLang="zh-CN" sz="1400" b="0" dirty="0">
              <a:solidFill>
                <a:schemeClr val="tx1"/>
              </a:solidFill>
            </a:endParaRPr>
          </a:p>
        </p:txBody>
      </p:sp>
      <p:sp>
        <p:nvSpPr>
          <p:cNvPr id="11298" name="Text Box 33"/>
          <p:cNvSpPr txBox="1"/>
          <p:nvPr/>
        </p:nvSpPr>
        <p:spPr>
          <a:xfrm>
            <a:off x="5524500" y="3213100"/>
            <a:ext cx="3505200" cy="11604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spcBef>
                <a:spcPct val="50000"/>
              </a:spcBef>
              <a:buClrTx/>
              <a:buNone/>
            </a:pPr>
            <a:r>
              <a:rPr lang="en-US" altLang="zh-CN" sz="2800" b="0" dirty="0">
                <a:solidFill>
                  <a:schemeClr val="tx1"/>
                </a:solidFill>
              </a:rPr>
              <a:t>(A,B): (</a:t>
            </a:r>
            <a:r>
              <a:rPr lang="zh-CN" altLang="en-US" sz="2800" b="0" dirty="0">
                <a:solidFill>
                  <a:schemeClr val="tx1"/>
                </a:solidFill>
              </a:rPr>
              <a:t>学生</a:t>
            </a:r>
            <a:r>
              <a:rPr lang="en-US" altLang="zh-CN" sz="2800" b="0" dirty="0">
                <a:solidFill>
                  <a:schemeClr val="tx1"/>
                </a:solidFill>
              </a:rPr>
              <a:t>,</a:t>
            </a:r>
            <a:r>
              <a:rPr lang="zh-CN" altLang="en-US" sz="2800" b="0" dirty="0">
                <a:solidFill>
                  <a:schemeClr val="tx1"/>
                </a:solidFill>
              </a:rPr>
              <a:t>学院</a:t>
            </a:r>
            <a:r>
              <a:rPr lang="en-US" altLang="zh-CN" sz="2800" b="0" dirty="0">
                <a:solidFill>
                  <a:schemeClr val="tx1"/>
                </a:solidFill>
              </a:rPr>
              <a:t>)</a:t>
            </a:r>
            <a:endParaRPr lang="en-US" altLang="zh-CN" sz="2800" b="0" dirty="0">
              <a:solidFill>
                <a:schemeClr val="tx1"/>
              </a:solidFill>
            </a:endParaRPr>
          </a:p>
          <a:p>
            <a:pPr marL="0" lvl="0" indent="0" eaLnBrk="1" hangingPunct="1">
              <a:spcBef>
                <a:spcPct val="50000"/>
              </a:spcBef>
              <a:buClrTx/>
              <a:buNone/>
            </a:pPr>
            <a:r>
              <a:rPr lang="en-US" altLang="zh-CN" sz="2800" b="0" dirty="0">
                <a:solidFill>
                  <a:schemeClr val="tx1"/>
                </a:solidFill>
              </a:rPr>
              <a:t>(A,C): (</a:t>
            </a:r>
            <a:r>
              <a:rPr lang="zh-CN" altLang="en-US" sz="2800" b="0" dirty="0">
                <a:solidFill>
                  <a:schemeClr val="tx1"/>
                </a:solidFill>
              </a:rPr>
              <a:t>学生</a:t>
            </a:r>
            <a:r>
              <a:rPr lang="en-US" altLang="zh-CN" sz="2800" b="0" dirty="0">
                <a:solidFill>
                  <a:schemeClr val="tx1"/>
                </a:solidFill>
              </a:rPr>
              <a:t>,</a:t>
            </a:r>
            <a:r>
              <a:rPr lang="zh-CN" altLang="en-US" sz="2800" b="0" dirty="0">
                <a:solidFill>
                  <a:schemeClr val="tx1"/>
                </a:solidFill>
              </a:rPr>
              <a:t>院长</a:t>
            </a:r>
            <a:r>
              <a:rPr lang="en-US" altLang="zh-CN" sz="2800" b="0" dirty="0">
                <a:solidFill>
                  <a:schemeClr val="tx1"/>
                </a:solidFill>
              </a:rPr>
              <a:t>)</a:t>
            </a:r>
            <a:endParaRPr lang="en-US" altLang="zh-CN" sz="2800" b="0" dirty="0">
              <a:solidFill>
                <a:schemeClr val="tx1"/>
              </a:solidFill>
            </a:endParaRPr>
          </a:p>
        </p:txBody>
      </p:sp>
      <p:sp>
        <p:nvSpPr>
          <p:cNvPr id="11299" name="Text Box 34"/>
          <p:cNvSpPr txBox="1"/>
          <p:nvPr/>
        </p:nvSpPr>
        <p:spPr>
          <a:xfrm>
            <a:off x="5499100" y="1854200"/>
            <a:ext cx="3505200" cy="11604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spcBef>
                <a:spcPct val="50000"/>
              </a:spcBef>
              <a:buClrTx/>
              <a:buNone/>
            </a:pPr>
            <a:r>
              <a:rPr lang="en-US" altLang="zh-CN" sz="2800" b="0" dirty="0">
                <a:solidFill>
                  <a:schemeClr val="tx1"/>
                </a:solidFill>
              </a:rPr>
              <a:t>(A,C): (</a:t>
            </a:r>
            <a:r>
              <a:rPr lang="zh-CN" altLang="en-US" sz="2800" b="0" dirty="0">
                <a:solidFill>
                  <a:schemeClr val="tx1"/>
                </a:solidFill>
              </a:rPr>
              <a:t>学生</a:t>
            </a:r>
            <a:r>
              <a:rPr lang="en-US" altLang="zh-CN" sz="2800" b="0" dirty="0">
                <a:solidFill>
                  <a:schemeClr val="tx1"/>
                </a:solidFill>
              </a:rPr>
              <a:t>,</a:t>
            </a:r>
            <a:r>
              <a:rPr lang="zh-CN" altLang="en-US" sz="2800" b="0" dirty="0">
                <a:solidFill>
                  <a:schemeClr val="tx1"/>
                </a:solidFill>
              </a:rPr>
              <a:t>院长</a:t>
            </a:r>
            <a:r>
              <a:rPr lang="en-US" altLang="zh-CN" sz="2800" b="0" dirty="0">
                <a:solidFill>
                  <a:schemeClr val="tx1"/>
                </a:solidFill>
              </a:rPr>
              <a:t>)</a:t>
            </a:r>
            <a:endParaRPr lang="en-US" altLang="zh-CN" sz="2800" b="0" dirty="0">
              <a:solidFill>
                <a:schemeClr val="tx1"/>
              </a:solidFill>
            </a:endParaRPr>
          </a:p>
          <a:p>
            <a:pPr marL="0" lvl="0" indent="0" eaLnBrk="1" hangingPunct="1">
              <a:spcBef>
                <a:spcPct val="50000"/>
              </a:spcBef>
              <a:buClrTx/>
              <a:buNone/>
            </a:pPr>
            <a:r>
              <a:rPr lang="en-US" altLang="zh-CN" sz="2800" b="0" dirty="0">
                <a:solidFill>
                  <a:schemeClr val="tx1"/>
                </a:solidFill>
              </a:rPr>
              <a:t>(B,C): (</a:t>
            </a:r>
            <a:r>
              <a:rPr lang="zh-CN" altLang="en-US" sz="2800" b="0" dirty="0">
                <a:solidFill>
                  <a:schemeClr val="tx1"/>
                </a:solidFill>
              </a:rPr>
              <a:t>学院</a:t>
            </a:r>
            <a:r>
              <a:rPr lang="en-US" altLang="zh-CN" sz="2800" b="0" dirty="0">
                <a:solidFill>
                  <a:schemeClr val="tx1"/>
                </a:solidFill>
              </a:rPr>
              <a:t>,</a:t>
            </a:r>
            <a:r>
              <a:rPr lang="zh-CN" altLang="en-US" sz="2800" b="0" dirty="0">
                <a:solidFill>
                  <a:schemeClr val="tx1"/>
                </a:solidFill>
              </a:rPr>
              <a:t>院长</a:t>
            </a:r>
            <a:r>
              <a:rPr lang="en-US" altLang="zh-CN" sz="2800" b="0" dirty="0">
                <a:solidFill>
                  <a:schemeClr val="tx1"/>
                </a:solidFill>
              </a:rPr>
              <a:t>)</a:t>
            </a:r>
            <a:endParaRPr lang="en-US" altLang="zh-CN" sz="2800" b="0" dirty="0">
              <a:solidFill>
                <a:schemeClr val="tx1"/>
              </a:solidFill>
            </a:endParaRPr>
          </a:p>
        </p:txBody>
      </p:sp>
      <p:sp>
        <p:nvSpPr>
          <p:cNvPr id="11300" name="Text Box 35"/>
          <p:cNvSpPr txBox="1"/>
          <p:nvPr/>
        </p:nvSpPr>
        <p:spPr>
          <a:xfrm>
            <a:off x="5537200" y="4572000"/>
            <a:ext cx="3505200" cy="11604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spcBef>
                <a:spcPct val="50000"/>
              </a:spcBef>
              <a:buClrTx/>
              <a:buNone/>
            </a:pPr>
            <a:r>
              <a:rPr lang="en-US" altLang="zh-CN" sz="2800" b="0" dirty="0">
                <a:solidFill>
                  <a:schemeClr val="tx1"/>
                </a:solidFill>
              </a:rPr>
              <a:t>(A,B): (</a:t>
            </a:r>
            <a:r>
              <a:rPr lang="zh-CN" altLang="en-US" sz="2800" b="0" dirty="0">
                <a:solidFill>
                  <a:schemeClr val="tx1"/>
                </a:solidFill>
              </a:rPr>
              <a:t>学生</a:t>
            </a:r>
            <a:r>
              <a:rPr lang="en-US" altLang="zh-CN" sz="2800" b="0" dirty="0">
                <a:solidFill>
                  <a:schemeClr val="tx1"/>
                </a:solidFill>
              </a:rPr>
              <a:t>,</a:t>
            </a:r>
            <a:r>
              <a:rPr lang="zh-CN" altLang="en-US" sz="2800" b="0" dirty="0">
                <a:solidFill>
                  <a:schemeClr val="tx1"/>
                </a:solidFill>
              </a:rPr>
              <a:t>学院</a:t>
            </a:r>
            <a:r>
              <a:rPr lang="en-US" altLang="zh-CN" sz="2800" b="0" dirty="0">
                <a:solidFill>
                  <a:schemeClr val="tx1"/>
                </a:solidFill>
              </a:rPr>
              <a:t>)</a:t>
            </a:r>
            <a:endParaRPr lang="en-US" altLang="zh-CN" sz="2800" b="0" dirty="0">
              <a:solidFill>
                <a:schemeClr val="tx1"/>
              </a:solidFill>
            </a:endParaRPr>
          </a:p>
          <a:p>
            <a:pPr marL="0" lvl="0" indent="0" eaLnBrk="1" hangingPunct="1">
              <a:spcBef>
                <a:spcPct val="50000"/>
              </a:spcBef>
              <a:buClrTx/>
              <a:buNone/>
            </a:pPr>
            <a:r>
              <a:rPr lang="en-US" altLang="zh-CN" sz="2800" b="0" dirty="0">
                <a:solidFill>
                  <a:schemeClr val="tx1"/>
                </a:solidFill>
              </a:rPr>
              <a:t>(B,C): (</a:t>
            </a:r>
            <a:r>
              <a:rPr lang="zh-CN" altLang="en-US" sz="2800" b="0" dirty="0">
                <a:solidFill>
                  <a:schemeClr val="tx1"/>
                </a:solidFill>
              </a:rPr>
              <a:t>学院</a:t>
            </a:r>
            <a:r>
              <a:rPr lang="en-US" altLang="zh-CN" sz="2800" b="0" dirty="0">
                <a:solidFill>
                  <a:schemeClr val="tx1"/>
                </a:solidFill>
              </a:rPr>
              <a:t>,</a:t>
            </a:r>
            <a:r>
              <a:rPr lang="zh-CN" altLang="en-US" sz="2800" b="0" dirty="0">
                <a:solidFill>
                  <a:schemeClr val="tx1"/>
                </a:solidFill>
              </a:rPr>
              <a:t>院长</a:t>
            </a:r>
            <a:r>
              <a:rPr lang="en-US" altLang="zh-CN" sz="2800" b="0" dirty="0">
                <a:solidFill>
                  <a:schemeClr val="tx1"/>
                </a:solidFill>
              </a:rPr>
              <a:t>)</a:t>
            </a:r>
            <a:endParaRPr lang="en-US" altLang="zh-CN" sz="2800" b="0" dirty="0">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229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graphicFrame>
        <p:nvGraphicFramePr>
          <p:cNvPr id="15363" name="Group 3"/>
          <p:cNvGraphicFramePr>
            <a:graphicFrameLocks noGrp="1"/>
          </p:cNvGraphicFramePr>
          <p:nvPr/>
        </p:nvGraphicFramePr>
        <p:xfrm>
          <a:off x="304800" y="1752600"/>
          <a:ext cx="1651000" cy="3429000"/>
        </p:xfrm>
        <a:graphic>
          <a:graphicData uri="http://schemas.openxmlformats.org/drawingml/2006/table">
            <a:tbl>
              <a:tblPr/>
              <a:tblGrid>
                <a:gridCol w="685800"/>
                <a:gridCol w="965200"/>
              </a:tblGrid>
              <a:tr h="1173162">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C</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院长</a:t>
                      </a:r>
                      <a:endPar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6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赵</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515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钱</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6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孙</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张</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6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李</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312" name="Text Box 23"/>
          <p:cNvSpPr txBox="1"/>
          <p:nvPr/>
        </p:nvSpPr>
        <p:spPr>
          <a:xfrm>
            <a:off x="304800" y="939800"/>
            <a:ext cx="1905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50000"/>
              </a:spcBef>
              <a:buClrTx/>
              <a:buNone/>
            </a:pPr>
            <a:r>
              <a:rPr lang="en-US" altLang="zh-CN" sz="2800" b="0" dirty="0">
                <a:solidFill>
                  <a:schemeClr val="tx1"/>
                </a:solidFill>
              </a:rPr>
              <a:t>{A </a:t>
            </a:r>
            <a:r>
              <a:rPr lang="en-US" altLang="zh-CN" sz="2800" b="0" dirty="0">
                <a:solidFill>
                  <a:schemeClr val="tx1"/>
                </a:solidFill>
                <a:latin typeface="Arial Narrow" panose="020B0606020202030204" pitchFamily="34" charset="0"/>
                <a:ea typeface="华文新魏" panose="02010800040101010101" pitchFamily="2" charset="-122"/>
                <a:sym typeface="Symbol" panose="05050102010706020507" pitchFamily="18" charset="2"/>
              </a:rPr>
              <a:t></a:t>
            </a:r>
            <a:r>
              <a:rPr lang="en-US" altLang="zh-CN" sz="2800" b="0" dirty="0">
                <a:solidFill>
                  <a:schemeClr val="tx1"/>
                </a:solidFill>
              </a:rPr>
              <a:t> C}</a:t>
            </a:r>
            <a:endParaRPr lang="en-US" altLang="zh-CN" sz="2800" b="0" dirty="0">
              <a:solidFill>
                <a:schemeClr val="tx1"/>
              </a:solidFill>
            </a:endParaRPr>
          </a:p>
        </p:txBody>
      </p:sp>
      <p:graphicFrame>
        <p:nvGraphicFramePr>
          <p:cNvPr id="15384" name="Group 24"/>
          <p:cNvGraphicFramePr>
            <a:graphicFrameLocks noGrp="1"/>
          </p:cNvGraphicFramePr>
          <p:nvPr/>
        </p:nvGraphicFramePr>
        <p:xfrm>
          <a:off x="2565400" y="1752600"/>
          <a:ext cx="1981200" cy="3148013"/>
        </p:xfrm>
        <a:graphic>
          <a:graphicData uri="http://schemas.openxmlformats.org/drawingml/2006/table">
            <a:tbl>
              <a:tblPr/>
              <a:tblGrid>
                <a:gridCol w="1295400"/>
                <a:gridCol w="685800"/>
              </a:tblGrid>
              <a:tr h="145712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B</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学院</a:t>
                      </a:r>
                      <a:endPar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C</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院长</a:t>
                      </a:r>
                      <a:endPar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63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计算机</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63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机械</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张</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63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软件</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330" name="Text Box 41"/>
          <p:cNvSpPr txBox="1"/>
          <p:nvPr/>
        </p:nvSpPr>
        <p:spPr>
          <a:xfrm>
            <a:off x="2692400" y="939800"/>
            <a:ext cx="16764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50000"/>
              </a:spcBef>
              <a:buClrTx/>
              <a:buNone/>
            </a:pPr>
            <a:r>
              <a:rPr lang="en-US" altLang="zh-CN" sz="2800" b="0" dirty="0">
                <a:solidFill>
                  <a:schemeClr val="tx1"/>
                </a:solidFill>
              </a:rPr>
              <a:t>{B </a:t>
            </a:r>
            <a:r>
              <a:rPr lang="en-US" altLang="zh-CN" sz="2800" b="0" dirty="0">
                <a:solidFill>
                  <a:schemeClr val="tx1"/>
                </a:solidFill>
                <a:latin typeface="Arial Narrow" panose="020B0606020202030204" pitchFamily="34" charset="0"/>
                <a:ea typeface="华文新魏" panose="02010800040101010101" pitchFamily="2" charset="-122"/>
                <a:sym typeface="Symbol" panose="05050102010706020507" pitchFamily="18" charset="2"/>
              </a:rPr>
              <a:t></a:t>
            </a:r>
            <a:r>
              <a:rPr lang="en-US" altLang="zh-CN" sz="2800" b="0" dirty="0">
                <a:solidFill>
                  <a:schemeClr val="tx1"/>
                </a:solidFill>
              </a:rPr>
              <a:t> C}</a:t>
            </a:r>
            <a:endParaRPr lang="en-US" altLang="zh-CN" sz="2800" b="0" dirty="0">
              <a:solidFill>
                <a:schemeClr val="tx1"/>
              </a:solidFill>
            </a:endParaRPr>
          </a:p>
        </p:txBody>
      </p:sp>
      <p:sp>
        <p:nvSpPr>
          <p:cNvPr id="12331" name="AutoShape 42"/>
          <p:cNvSpPr/>
          <p:nvPr/>
        </p:nvSpPr>
        <p:spPr>
          <a:xfrm rot="5400000">
            <a:off x="2019300" y="3340100"/>
            <a:ext cx="457200" cy="381000"/>
          </a:xfrm>
          <a:prstGeom prst="flowChartCollate">
            <a:avLst/>
          </a:prstGeom>
          <a:no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None/>
            </a:pPr>
            <a:endParaRPr lang="en-US" altLang="zh-CN" sz="1400" b="0" dirty="0">
              <a:solidFill>
                <a:schemeClr val="tx1"/>
              </a:solidFill>
            </a:endParaRPr>
          </a:p>
        </p:txBody>
      </p:sp>
      <p:sp>
        <p:nvSpPr>
          <p:cNvPr id="12332" name="Text Box 43"/>
          <p:cNvSpPr txBox="1"/>
          <p:nvPr/>
        </p:nvSpPr>
        <p:spPr>
          <a:xfrm>
            <a:off x="4597400" y="3162300"/>
            <a:ext cx="457200"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spcBef>
                <a:spcPct val="50000"/>
              </a:spcBef>
              <a:buClrTx/>
              <a:buNone/>
            </a:pPr>
            <a:r>
              <a:rPr lang="en-US" altLang="zh-CN" sz="3600" b="0" dirty="0">
                <a:solidFill>
                  <a:schemeClr val="tx1"/>
                </a:solidFill>
                <a:latin typeface="Arial" panose="020B0604020202020204" pitchFamily="34" charset="0"/>
              </a:rPr>
              <a:t>=</a:t>
            </a:r>
            <a:endParaRPr lang="en-US" altLang="zh-CN" sz="3600" b="0" dirty="0">
              <a:solidFill>
                <a:schemeClr val="tx1"/>
              </a:solidFill>
              <a:latin typeface="Arial" panose="020B0604020202020204" pitchFamily="34" charset="0"/>
            </a:endParaRPr>
          </a:p>
        </p:txBody>
      </p:sp>
      <p:graphicFrame>
        <p:nvGraphicFramePr>
          <p:cNvPr id="15404" name="Group 44"/>
          <p:cNvGraphicFramePr>
            <a:graphicFrameLocks noGrp="1"/>
          </p:cNvGraphicFramePr>
          <p:nvPr/>
        </p:nvGraphicFramePr>
        <p:xfrm>
          <a:off x="5168900" y="1558925"/>
          <a:ext cx="3581400" cy="4210050"/>
        </p:xfrm>
        <a:graphic>
          <a:graphicData uri="http://schemas.openxmlformats.org/drawingml/2006/table">
            <a:tbl>
              <a:tblPr/>
              <a:tblGrid>
                <a:gridCol w="990600"/>
                <a:gridCol w="1447800"/>
                <a:gridCol w="1143000"/>
              </a:tblGrid>
              <a:tr h="56356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B</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C</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07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赵</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计算机</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2288">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赵</a:t>
                      </a:r>
                      <a:endPar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软件</a:t>
                      </a:r>
                      <a:endPar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2288">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钱</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计算机</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07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钱</a:t>
                      </a:r>
                      <a:endPar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软件</a:t>
                      </a:r>
                      <a:endPar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911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孙</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机械</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张</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07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李</a:t>
                      </a:r>
                      <a:endPar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计算机</a:t>
                      </a:r>
                      <a:endPar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07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李</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软件</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371" name="AutoShape 82"/>
          <p:cNvSpPr/>
          <p:nvPr/>
        </p:nvSpPr>
        <p:spPr>
          <a:xfrm>
            <a:off x="533400" y="5321300"/>
            <a:ext cx="3962400" cy="1066800"/>
          </a:xfrm>
          <a:prstGeom prst="wedgeRoundRectCallout">
            <a:avLst>
              <a:gd name="adj1" fmla="val 70273"/>
              <a:gd name="adj2" fmla="val -74704"/>
              <a:gd name="adj3" fmla="val 16667"/>
            </a:avLst>
          </a:prstGeom>
          <a:solidFill>
            <a:schemeClr val="tx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None/>
            </a:pPr>
            <a:r>
              <a:rPr lang="zh-CN" altLang="en-US" sz="2800" b="0" dirty="0">
                <a:solidFill>
                  <a:schemeClr val="bg1"/>
                </a:solidFill>
                <a:latin typeface="黑体" panose="02010609060101010101" pitchFamily="49" charset="-122"/>
                <a:ea typeface="黑体" panose="02010609060101010101" pitchFamily="49" charset="-122"/>
              </a:rPr>
              <a:t>多出违背事实的元组</a:t>
            </a:r>
            <a:endParaRPr lang="zh-CN" altLang="en-US" sz="2800" b="0" dirty="0">
              <a:solidFill>
                <a:schemeClr val="bg1"/>
              </a:solidFill>
              <a:latin typeface="黑体" panose="02010609060101010101" pitchFamily="49" charset="-122"/>
              <a:ea typeface="黑体" panose="02010609060101010101" pitchFamily="49" charset="-122"/>
            </a:endParaRPr>
          </a:p>
          <a:p>
            <a:pPr marL="0" lvl="0" indent="0" algn="ctr" eaLnBrk="1" hangingPunct="1">
              <a:spcBef>
                <a:spcPct val="0"/>
              </a:spcBef>
              <a:buClrTx/>
              <a:buNone/>
            </a:pPr>
            <a:r>
              <a:rPr lang="zh-CN" altLang="en-US" sz="2800" b="0" dirty="0">
                <a:solidFill>
                  <a:schemeClr val="bg1"/>
                </a:solidFill>
                <a:latin typeface="黑体" panose="02010609060101010101" pitchFamily="49" charset="-122"/>
                <a:ea typeface="黑体" panose="02010609060101010101" pitchFamily="49" charset="-122"/>
              </a:rPr>
              <a:t>有损连接的分解</a:t>
            </a:r>
            <a:endParaRPr lang="zh-CN" altLang="en-US" sz="2800" b="0" dirty="0">
              <a:solidFill>
                <a:schemeClr val="bg1"/>
              </a:solidFill>
              <a:latin typeface="黑体" panose="02010609060101010101" pitchFamily="49" charset="-122"/>
              <a:ea typeface="黑体" panose="02010609060101010101" pitchFamily="49" charset="-122"/>
            </a:endParaRPr>
          </a:p>
        </p:txBody>
      </p:sp>
      <p:sp>
        <p:nvSpPr>
          <p:cNvPr id="12372" name="Text Box 83"/>
          <p:cNvSpPr txBox="1"/>
          <p:nvPr/>
        </p:nvSpPr>
        <p:spPr>
          <a:xfrm>
            <a:off x="5791200" y="914400"/>
            <a:ext cx="2667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50000"/>
              </a:spcBef>
              <a:buClrTx/>
              <a:buNone/>
            </a:pPr>
            <a:r>
              <a:rPr lang="en-US" altLang="zh-CN" sz="2800" b="0" dirty="0">
                <a:solidFill>
                  <a:srgbClr val="0000CC"/>
                </a:solidFill>
              </a:rPr>
              <a:t>{A </a:t>
            </a:r>
            <a:r>
              <a:rPr lang="en-US" altLang="zh-CN" sz="2800" b="0" dirty="0">
                <a:solidFill>
                  <a:srgbClr val="0000CC"/>
                </a:solidFill>
                <a:latin typeface="Arial Narrow" panose="020B0606020202030204" pitchFamily="34" charset="0"/>
                <a:ea typeface="华文新魏" panose="02010800040101010101" pitchFamily="2" charset="-122"/>
                <a:sym typeface="Symbol" panose="05050102010706020507" pitchFamily="18" charset="2"/>
              </a:rPr>
              <a:t></a:t>
            </a:r>
            <a:r>
              <a:rPr lang="en-US" altLang="zh-CN" sz="2800" b="0" dirty="0">
                <a:solidFill>
                  <a:srgbClr val="0000CC"/>
                </a:solidFill>
              </a:rPr>
              <a:t> B, B </a:t>
            </a:r>
            <a:r>
              <a:rPr lang="en-US" altLang="zh-CN" sz="2800" b="0" dirty="0">
                <a:solidFill>
                  <a:srgbClr val="0000CC"/>
                </a:solidFill>
                <a:latin typeface="Arial Narrow" panose="020B0606020202030204" pitchFamily="34" charset="0"/>
                <a:ea typeface="华文新魏" panose="02010800040101010101" pitchFamily="2" charset="-122"/>
                <a:sym typeface="Symbol" panose="05050102010706020507" pitchFamily="18" charset="2"/>
              </a:rPr>
              <a:t></a:t>
            </a:r>
            <a:r>
              <a:rPr lang="en-US" altLang="zh-CN" sz="2800" b="0" dirty="0">
                <a:solidFill>
                  <a:srgbClr val="0000CC"/>
                </a:solidFill>
              </a:rPr>
              <a:t> C}</a:t>
            </a:r>
            <a:endParaRPr lang="en-US" altLang="zh-CN" sz="2800" b="0" dirty="0">
              <a:solidFill>
                <a:srgbClr val="0000CC"/>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331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graphicFrame>
        <p:nvGraphicFramePr>
          <p:cNvPr id="16387" name="Group 3"/>
          <p:cNvGraphicFramePr>
            <a:graphicFrameLocks noGrp="1"/>
          </p:cNvGraphicFramePr>
          <p:nvPr/>
        </p:nvGraphicFramePr>
        <p:xfrm>
          <a:off x="266700" y="1587500"/>
          <a:ext cx="1981200" cy="3992563"/>
        </p:xfrm>
        <a:graphic>
          <a:graphicData uri="http://schemas.openxmlformats.org/drawingml/2006/table">
            <a:tbl>
              <a:tblPr/>
              <a:tblGrid>
                <a:gridCol w="685800"/>
                <a:gridCol w="1295400"/>
              </a:tblGrid>
              <a:tr h="1173162">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B</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学院</a:t>
                      </a:r>
                      <a:endPar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6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赵</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计算机</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515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钱</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计算机</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6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孙</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机械</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6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李</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软件</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6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周</a:t>
                      </a:r>
                      <a:endPar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计算机</a:t>
                      </a:r>
                      <a:endPar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3339" name="Text Box 26"/>
          <p:cNvSpPr txBox="1"/>
          <p:nvPr/>
        </p:nvSpPr>
        <p:spPr>
          <a:xfrm>
            <a:off x="317500" y="850900"/>
            <a:ext cx="1905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50000"/>
              </a:spcBef>
              <a:buClrTx/>
              <a:buNone/>
            </a:pPr>
            <a:r>
              <a:rPr lang="en-US" altLang="zh-CN" sz="2800" b="0" dirty="0">
                <a:solidFill>
                  <a:schemeClr val="tx1"/>
                </a:solidFill>
              </a:rPr>
              <a:t>{A </a:t>
            </a:r>
            <a:r>
              <a:rPr lang="en-US" altLang="zh-CN" sz="2800" b="0" dirty="0">
                <a:solidFill>
                  <a:schemeClr val="tx1"/>
                </a:solidFill>
                <a:latin typeface="Arial Narrow" panose="020B0606020202030204" pitchFamily="34" charset="0"/>
                <a:ea typeface="华文新魏" panose="02010800040101010101" pitchFamily="2" charset="-122"/>
                <a:sym typeface="Symbol" panose="05050102010706020507" pitchFamily="18" charset="2"/>
              </a:rPr>
              <a:t></a:t>
            </a:r>
            <a:r>
              <a:rPr lang="en-US" altLang="zh-CN" sz="2800" b="0" dirty="0">
                <a:solidFill>
                  <a:schemeClr val="tx1"/>
                </a:solidFill>
              </a:rPr>
              <a:t> B}</a:t>
            </a:r>
            <a:endParaRPr lang="en-US" altLang="zh-CN" sz="2800" b="0" dirty="0">
              <a:solidFill>
                <a:schemeClr val="tx1"/>
              </a:solidFill>
            </a:endParaRPr>
          </a:p>
        </p:txBody>
      </p:sp>
      <p:graphicFrame>
        <p:nvGraphicFramePr>
          <p:cNvPr id="16411" name="Group 27"/>
          <p:cNvGraphicFramePr>
            <a:graphicFrameLocks noGrp="1"/>
          </p:cNvGraphicFramePr>
          <p:nvPr/>
        </p:nvGraphicFramePr>
        <p:xfrm>
          <a:off x="2806700" y="1587500"/>
          <a:ext cx="1524000" cy="3992563"/>
        </p:xfrm>
        <a:graphic>
          <a:graphicData uri="http://schemas.openxmlformats.org/drawingml/2006/table">
            <a:tbl>
              <a:tblPr/>
              <a:tblGrid>
                <a:gridCol w="609600"/>
                <a:gridCol w="914400"/>
              </a:tblGrid>
              <a:tr h="1173162">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C</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院长</a:t>
                      </a:r>
                      <a:endPar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6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赵</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515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钱</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6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孙</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张</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6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李</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6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周</a:t>
                      </a:r>
                      <a:endPar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江</a:t>
                      </a:r>
                      <a:endPar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3363" name="Text Box 50"/>
          <p:cNvSpPr txBox="1"/>
          <p:nvPr/>
        </p:nvSpPr>
        <p:spPr>
          <a:xfrm>
            <a:off x="2705100" y="850900"/>
            <a:ext cx="16764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50000"/>
              </a:spcBef>
              <a:buClrTx/>
              <a:buNone/>
            </a:pPr>
            <a:r>
              <a:rPr lang="en-US" altLang="zh-CN" sz="2800" b="0" dirty="0">
                <a:solidFill>
                  <a:schemeClr val="tx1"/>
                </a:solidFill>
              </a:rPr>
              <a:t>{A </a:t>
            </a:r>
            <a:r>
              <a:rPr lang="en-US" altLang="zh-CN" sz="2800" b="0" dirty="0">
                <a:solidFill>
                  <a:schemeClr val="tx1"/>
                </a:solidFill>
                <a:latin typeface="Arial Narrow" panose="020B0606020202030204" pitchFamily="34" charset="0"/>
                <a:ea typeface="华文新魏" panose="02010800040101010101" pitchFamily="2" charset="-122"/>
                <a:sym typeface="Symbol" panose="05050102010706020507" pitchFamily="18" charset="2"/>
              </a:rPr>
              <a:t></a:t>
            </a:r>
            <a:r>
              <a:rPr lang="en-US" altLang="zh-CN" sz="2800" b="0" dirty="0">
                <a:solidFill>
                  <a:schemeClr val="tx1"/>
                </a:solidFill>
              </a:rPr>
              <a:t> C}</a:t>
            </a:r>
            <a:endParaRPr lang="en-US" altLang="zh-CN" sz="2800" b="0" dirty="0">
              <a:solidFill>
                <a:schemeClr val="tx1"/>
              </a:solidFill>
            </a:endParaRPr>
          </a:p>
        </p:txBody>
      </p:sp>
      <p:sp>
        <p:nvSpPr>
          <p:cNvPr id="13364" name="AutoShape 51"/>
          <p:cNvSpPr/>
          <p:nvPr/>
        </p:nvSpPr>
        <p:spPr>
          <a:xfrm rot="5400000">
            <a:off x="2286000" y="3352800"/>
            <a:ext cx="457200" cy="381000"/>
          </a:xfrm>
          <a:prstGeom prst="flowChartCollate">
            <a:avLst/>
          </a:prstGeom>
          <a:no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None/>
            </a:pPr>
            <a:endParaRPr lang="en-US" altLang="zh-CN" sz="1400" b="0" dirty="0">
              <a:solidFill>
                <a:schemeClr val="tx1"/>
              </a:solidFill>
            </a:endParaRPr>
          </a:p>
        </p:txBody>
      </p:sp>
      <p:sp>
        <p:nvSpPr>
          <p:cNvPr id="13365" name="Text Box 52"/>
          <p:cNvSpPr txBox="1"/>
          <p:nvPr/>
        </p:nvSpPr>
        <p:spPr>
          <a:xfrm>
            <a:off x="4508500" y="3213100"/>
            <a:ext cx="457200"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spcBef>
                <a:spcPct val="50000"/>
              </a:spcBef>
              <a:buClrTx/>
              <a:buNone/>
            </a:pPr>
            <a:r>
              <a:rPr lang="en-US" altLang="zh-CN" sz="3600" b="0" dirty="0">
                <a:solidFill>
                  <a:schemeClr val="tx1"/>
                </a:solidFill>
                <a:latin typeface="Arial" panose="020B0604020202020204" pitchFamily="34" charset="0"/>
              </a:rPr>
              <a:t>=</a:t>
            </a:r>
            <a:endParaRPr lang="en-US" altLang="zh-CN" sz="3600" b="0" dirty="0">
              <a:solidFill>
                <a:schemeClr val="tx1"/>
              </a:solidFill>
              <a:latin typeface="Arial" panose="020B0604020202020204" pitchFamily="34" charset="0"/>
            </a:endParaRPr>
          </a:p>
        </p:txBody>
      </p:sp>
      <p:graphicFrame>
        <p:nvGraphicFramePr>
          <p:cNvPr id="16437" name="Group 53"/>
          <p:cNvGraphicFramePr>
            <a:graphicFrameLocks noGrp="1"/>
          </p:cNvGraphicFramePr>
          <p:nvPr/>
        </p:nvGraphicFramePr>
        <p:xfrm>
          <a:off x="5118100" y="1612900"/>
          <a:ext cx="3581400" cy="3849688"/>
        </p:xfrm>
        <a:graphic>
          <a:graphicData uri="http://schemas.openxmlformats.org/drawingml/2006/table">
            <a:tbl>
              <a:tblPr/>
              <a:tblGrid>
                <a:gridCol w="990600"/>
                <a:gridCol w="1447800"/>
                <a:gridCol w="1143000"/>
              </a:tblGrid>
              <a:tr h="103024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学生</a:t>
                      </a:r>
                      <a:endPar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B</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学院</a:t>
                      </a:r>
                      <a:endPar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C</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院长</a:t>
                      </a:r>
                      <a:endPar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72">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赵</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计算机</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5159">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钱</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计算机</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72">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孙</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机械</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张</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72">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李</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软件</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72">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周</a:t>
                      </a:r>
                      <a:endPar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计算机</a:t>
                      </a:r>
                      <a:endPar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江</a:t>
                      </a:r>
                      <a:endPar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3396" name="AutoShape 83"/>
          <p:cNvSpPr/>
          <p:nvPr/>
        </p:nvSpPr>
        <p:spPr>
          <a:xfrm>
            <a:off x="1993900" y="5803900"/>
            <a:ext cx="1219200" cy="596900"/>
          </a:xfrm>
          <a:prstGeom prst="wedgeRoundRectCallout">
            <a:avLst>
              <a:gd name="adj1" fmla="val -84505"/>
              <a:gd name="adj2" fmla="val -93616"/>
              <a:gd name="adj3" fmla="val 16667"/>
            </a:avLst>
          </a:prstGeom>
          <a:solidFill>
            <a:schemeClr val="tx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None/>
            </a:pPr>
            <a:r>
              <a:rPr lang="zh-CN" altLang="en-US" sz="2800" b="0" dirty="0">
                <a:solidFill>
                  <a:schemeClr val="bg1"/>
                </a:solidFill>
                <a:ea typeface="黑体" panose="02010609060101010101" pitchFamily="49" charset="-122"/>
              </a:rPr>
              <a:t>插入</a:t>
            </a:r>
            <a:endParaRPr lang="zh-CN" altLang="en-US" sz="2800" b="0" dirty="0">
              <a:solidFill>
                <a:schemeClr val="bg1"/>
              </a:solidFill>
              <a:ea typeface="黑体" panose="02010609060101010101" pitchFamily="49" charset="-122"/>
            </a:endParaRPr>
          </a:p>
        </p:txBody>
      </p:sp>
      <p:sp>
        <p:nvSpPr>
          <p:cNvPr id="13397" name="AutoShape 84"/>
          <p:cNvSpPr/>
          <p:nvPr/>
        </p:nvSpPr>
        <p:spPr>
          <a:xfrm>
            <a:off x="3594100" y="5753100"/>
            <a:ext cx="5334000" cy="685800"/>
          </a:xfrm>
          <a:prstGeom prst="wedgeRoundRectCallout">
            <a:avLst>
              <a:gd name="adj1" fmla="val 5120"/>
              <a:gd name="adj2" fmla="val -97454"/>
              <a:gd name="adj3" fmla="val 16667"/>
            </a:avLst>
          </a:prstGeom>
          <a:solidFill>
            <a:schemeClr val="tx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None/>
            </a:pPr>
            <a:r>
              <a:rPr lang="zh-CN" altLang="en-US" sz="2800" b="0" dirty="0">
                <a:solidFill>
                  <a:schemeClr val="bg1"/>
                </a:solidFill>
                <a:latin typeface="黑体" panose="02010609060101010101" pitchFamily="49" charset="-122"/>
                <a:ea typeface="黑体" panose="02010609060101010101" pitchFamily="49" charset="-122"/>
              </a:rPr>
              <a:t>违反 </a:t>
            </a:r>
            <a:r>
              <a:rPr lang="zh-CN" altLang="en-US" sz="2800" b="0" dirty="0">
                <a:solidFill>
                  <a:schemeClr val="bg1"/>
                </a:solidFill>
                <a:latin typeface="华文新魏" panose="02010800040101010101" pitchFamily="2" charset="-122"/>
                <a:ea typeface="华文新魏" panose="02010800040101010101" pitchFamily="2" charset="-122"/>
              </a:rPr>
              <a:t> </a:t>
            </a:r>
            <a:r>
              <a:rPr lang="en-US" altLang="zh-CN" sz="2800" b="0" dirty="0">
                <a:solidFill>
                  <a:schemeClr val="bg1"/>
                </a:solidFill>
                <a:latin typeface="华文新魏" panose="02010800040101010101" pitchFamily="2" charset="-122"/>
                <a:ea typeface="华文新魏" panose="02010800040101010101" pitchFamily="2" charset="-122"/>
              </a:rPr>
              <a:t>B </a:t>
            </a:r>
            <a:r>
              <a:rPr lang="en-US" altLang="zh-CN" sz="2800" b="0" dirty="0">
                <a:solidFill>
                  <a:schemeClr val="bg1"/>
                </a:solidFill>
                <a:latin typeface="华文新魏" panose="02010800040101010101" pitchFamily="2" charset="-122"/>
                <a:ea typeface="华文新魏" panose="02010800040101010101" pitchFamily="2" charset="-122"/>
                <a:sym typeface="Symbol" panose="05050102010706020507" pitchFamily="18" charset="2"/>
              </a:rPr>
              <a:t></a:t>
            </a:r>
            <a:r>
              <a:rPr lang="en-US" altLang="zh-CN" sz="2800" b="0" dirty="0">
                <a:solidFill>
                  <a:schemeClr val="bg1"/>
                </a:solidFill>
                <a:latin typeface="华文新魏" panose="02010800040101010101" pitchFamily="2" charset="-122"/>
                <a:ea typeface="华文新魏" panose="02010800040101010101" pitchFamily="2" charset="-122"/>
              </a:rPr>
              <a:t> C: </a:t>
            </a:r>
            <a:r>
              <a:rPr lang="zh-CN" altLang="en-US" sz="2800" b="0" dirty="0">
                <a:solidFill>
                  <a:schemeClr val="bg1"/>
                </a:solidFill>
                <a:latin typeface="黑体" panose="02010609060101010101" pitchFamily="49" charset="-122"/>
                <a:ea typeface="黑体" panose="02010609060101010101" pitchFamily="49" charset="-122"/>
              </a:rPr>
              <a:t>不保持</a:t>
            </a:r>
            <a:r>
              <a:rPr lang="en-US" altLang="zh-CN" sz="2800" b="0" dirty="0">
                <a:solidFill>
                  <a:schemeClr val="bg1"/>
                </a:solidFill>
                <a:latin typeface="黑体" panose="02010609060101010101" pitchFamily="49" charset="-122"/>
                <a:ea typeface="黑体" panose="02010609060101010101" pitchFamily="49" charset="-122"/>
              </a:rPr>
              <a:t>FD</a:t>
            </a:r>
            <a:r>
              <a:rPr lang="zh-CN" altLang="en-US" sz="2800" b="0" dirty="0">
                <a:solidFill>
                  <a:schemeClr val="bg1"/>
                </a:solidFill>
                <a:latin typeface="黑体" panose="02010609060101010101" pitchFamily="49" charset="-122"/>
                <a:ea typeface="黑体" panose="02010609060101010101" pitchFamily="49" charset="-122"/>
              </a:rPr>
              <a:t>的分解</a:t>
            </a:r>
            <a:endParaRPr lang="zh-CN" altLang="en-US" sz="2800" b="0" dirty="0">
              <a:solidFill>
                <a:schemeClr val="bg1"/>
              </a:solidFill>
              <a:latin typeface="黑体" panose="02010609060101010101" pitchFamily="49" charset="-122"/>
              <a:ea typeface="黑体" panose="02010609060101010101" pitchFamily="49" charset="-122"/>
            </a:endParaRPr>
          </a:p>
        </p:txBody>
      </p:sp>
      <p:sp>
        <p:nvSpPr>
          <p:cNvPr id="13398" name="Text Box 85"/>
          <p:cNvSpPr txBox="1"/>
          <p:nvPr/>
        </p:nvSpPr>
        <p:spPr>
          <a:xfrm>
            <a:off x="5651500" y="800100"/>
            <a:ext cx="2667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50000"/>
              </a:spcBef>
              <a:buClrTx/>
              <a:buNone/>
            </a:pPr>
            <a:r>
              <a:rPr lang="en-US" altLang="zh-CN" sz="2800" b="0" dirty="0">
                <a:solidFill>
                  <a:srgbClr val="0000CC"/>
                </a:solidFill>
              </a:rPr>
              <a:t>{A </a:t>
            </a:r>
            <a:r>
              <a:rPr lang="en-US" altLang="zh-CN" sz="2800" b="0" dirty="0">
                <a:solidFill>
                  <a:srgbClr val="0000CC"/>
                </a:solidFill>
                <a:latin typeface="Arial Narrow" panose="020B0606020202030204" pitchFamily="34" charset="0"/>
                <a:ea typeface="华文新魏" panose="02010800040101010101" pitchFamily="2" charset="-122"/>
                <a:sym typeface="Symbol" panose="05050102010706020507" pitchFamily="18" charset="2"/>
              </a:rPr>
              <a:t></a:t>
            </a:r>
            <a:r>
              <a:rPr lang="en-US" altLang="zh-CN" sz="2800" b="0" dirty="0">
                <a:solidFill>
                  <a:srgbClr val="0000CC"/>
                </a:solidFill>
              </a:rPr>
              <a:t> B, B </a:t>
            </a:r>
            <a:r>
              <a:rPr lang="en-US" altLang="zh-CN" sz="2800" b="0" dirty="0">
                <a:solidFill>
                  <a:srgbClr val="0000CC"/>
                </a:solidFill>
                <a:latin typeface="Arial Narrow" panose="020B0606020202030204" pitchFamily="34" charset="0"/>
                <a:ea typeface="华文新魏" panose="02010800040101010101" pitchFamily="2" charset="-122"/>
                <a:sym typeface="Symbol" panose="05050102010706020507" pitchFamily="18" charset="2"/>
              </a:rPr>
              <a:t></a:t>
            </a:r>
            <a:r>
              <a:rPr lang="en-US" altLang="zh-CN" sz="2800" b="0" dirty="0">
                <a:solidFill>
                  <a:srgbClr val="0000CC"/>
                </a:solidFill>
              </a:rPr>
              <a:t> C}</a:t>
            </a:r>
            <a:endParaRPr lang="en-US" altLang="zh-CN" sz="2800" b="0" dirty="0">
              <a:solidFill>
                <a:srgbClr val="0000CC"/>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433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graphicFrame>
        <p:nvGraphicFramePr>
          <p:cNvPr id="17411" name="Group 3"/>
          <p:cNvGraphicFramePr>
            <a:graphicFrameLocks noGrp="1"/>
          </p:cNvGraphicFramePr>
          <p:nvPr/>
        </p:nvGraphicFramePr>
        <p:xfrm>
          <a:off x="266700" y="1587500"/>
          <a:ext cx="1981200" cy="3429000"/>
        </p:xfrm>
        <a:graphic>
          <a:graphicData uri="http://schemas.openxmlformats.org/drawingml/2006/table">
            <a:tbl>
              <a:tblPr/>
              <a:tblGrid>
                <a:gridCol w="685800"/>
                <a:gridCol w="1295400"/>
              </a:tblGrid>
              <a:tr h="1173162">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dirty="0" smtClean="0">
                          <a:ln>
                            <a:noFill/>
                          </a:ln>
                          <a:solidFill>
                            <a:srgbClr val="FF3300"/>
                          </a:solidFill>
                          <a:effectLst/>
                          <a:latin typeface="Times New Roman" panose="02020603050405020304" pitchFamily="18" charset="0"/>
                          <a:ea typeface="宋体" panose="02010600030101010101" pitchFamily="2" charset="-122"/>
                        </a:rPr>
                        <a:t>A</a:t>
                      </a:r>
                      <a:endParaRPr kumimoji="1" lang="en-US" altLang="zh-CN" sz="2800" b="1" i="0" u="none" strike="noStrike" cap="none" normalizeH="0" baseline="0" dirty="0" smtClean="0">
                        <a:ln>
                          <a:noFill/>
                        </a:ln>
                        <a:solidFill>
                          <a:srgbClr val="FF33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zh-CN" sz="2800" b="1" i="0" u="none" strike="noStrike" cap="none" normalizeH="0" baseline="0" dirty="0" smtClean="0">
                        <a:ln>
                          <a:noFill/>
                        </a:ln>
                        <a:solidFill>
                          <a:srgbClr val="FF33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B</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学院</a:t>
                      </a:r>
                      <a:endPar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6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赵</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计算机</a:t>
                      </a:r>
                      <a:endParaRPr kumimoji="1"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515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钱</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计算机</a:t>
                      </a:r>
                      <a:endParaRPr kumimoji="1"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6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孙</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机械</a:t>
                      </a:r>
                      <a:endParaRPr kumimoji="1"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6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李</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软件</a:t>
                      </a:r>
                      <a:endParaRPr kumimoji="1"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4360" name="Text Box 23"/>
          <p:cNvSpPr txBox="1"/>
          <p:nvPr/>
        </p:nvSpPr>
        <p:spPr>
          <a:xfrm>
            <a:off x="317500" y="850900"/>
            <a:ext cx="1905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50000"/>
              </a:spcBef>
              <a:buClrTx/>
              <a:buNone/>
            </a:pPr>
            <a:r>
              <a:rPr lang="en-US" altLang="zh-CN" sz="2800" b="0" dirty="0">
                <a:solidFill>
                  <a:schemeClr val="tx1"/>
                </a:solidFill>
              </a:rPr>
              <a:t>{A </a:t>
            </a:r>
            <a:r>
              <a:rPr lang="en-US" altLang="zh-CN" sz="2800" b="0" dirty="0">
                <a:solidFill>
                  <a:schemeClr val="tx1"/>
                </a:solidFill>
                <a:latin typeface="Arial Narrow" panose="020B0606020202030204" pitchFamily="34" charset="0"/>
                <a:ea typeface="华文新魏" panose="02010800040101010101" pitchFamily="2" charset="-122"/>
                <a:sym typeface="Symbol" panose="05050102010706020507" pitchFamily="18" charset="2"/>
              </a:rPr>
              <a:t></a:t>
            </a:r>
            <a:r>
              <a:rPr lang="en-US" altLang="zh-CN" sz="2800" b="0" dirty="0">
                <a:solidFill>
                  <a:schemeClr val="tx1"/>
                </a:solidFill>
              </a:rPr>
              <a:t> B}</a:t>
            </a:r>
            <a:endParaRPr lang="en-US" altLang="zh-CN" sz="2800" b="0" dirty="0">
              <a:solidFill>
                <a:schemeClr val="tx1"/>
              </a:solidFill>
            </a:endParaRPr>
          </a:p>
        </p:txBody>
      </p:sp>
      <p:graphicFrame>
        <p:nvGraphicFramePr>
          <p:cNvPr id="17432" name="Group 24"/>
          <p:cNvGraphicFramePr>
            <a:graphicFrameLocks noGrp="1"/>
          </p:cNvGraphicFramePr>
          <p:nvPr/>
        </p:nvGraphicFramePr>
        <p:xfrm>
          <a:off x="2771775" y="1587500"/>
          <a:ext cx="2016125" cy="3449638"/>
        </p:xfrm>
        <a:graphic>
          <a:graphicData uri="http://schemas.openxmlformats.org/drawingml/2006/table">
            <a:tbl>
              <a:tblPr/>
              <a:tblGrid>
                <a:gridCol w="1368085"/>
                <a:gridCol w="648040"/>
              </a:tblGrid>
              <a:tr h="119347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dirty="0" smtClean="0">
                          <a:ln>
                            <a:noFill/>
                          </a:ln>
                          <a:solidFill>
                            <a:srgbClr val="FF3300"/>
                          </a:solidFill>
                          <a:effectLst/>
                          <a:latin typeface="Times New Roman" panose="02020603050405020304" pitchFamily="18" charset="0"/>
                          <a:ea typeface="宋体" panose="02010600030101010101" pitchFamily="2" charset="-122"/>
                        </a:rPr>
                        <a:t>B</a:t>
                      </a:r>
                      <a:endParaRPr kumimoji="1" lang="en-US" altLang="zh-CN" sz="2800" b="1" i="0" u="none" strike="noStrike" cap="none" normalizeH="0" baseline="0" dirty="0" smtClean="0">
                        <a:ln>
                          <a:noFill/>
                        </a:ln>
                        <a:solidFill>
                          <a:srgbClr val="FF33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dirty="0" smtClean="0">
                          <a:ln>
                            <a:noFill/>
                          </a:ln>
                          <a:solidFill>
                            <a:srgbClr val="FF3300"/>
                          </a:solidFill>
                          <a:effectLst/>
                          <a:latin typeface="Times New Roman" panose="02020603050405020304" pitchFamily="18" charset="0"/>
                          <a:ea typeface="宋体" panose="02010600030101010101" pitchFamily="2" charset="-122"/>
                        </a:rPr>
                        <a:t>学院</a:t>
                      </a:r>
                      <a:endParaRPr kumimoji="1" lang="zh-CN" altLang="en-US" sz="2800" b="1" i="0" u="none" strike="noStrike" cap="none" normalizeH="0" baseline="0" dirty="0" smtClean="0">
                        <a:ln>
                          <a:noFill/>
                        </a:ln>
                        <a:solidFill>
                          <a:srgbClr val="FF3300"/>
                        </a:solidFill>
                        <a:effectLst/>
                        <a:latin typeface="Times New Roman" panose="02020603050405020304" pitchFamily="18" charset="0"/>
                        <a:ea typeface="宋体" panose="02010600030101010101" pitchFamily="2" charset="-122"/>
                      </a:endParaRPr>
                    </a:p>
                  </a:txBody>
                  <a:tcPr marL="91436" marR="91436"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dirty="0" smtClean="0">
                          <a:ln>
                            <a:noFill/>
                          </a:ln>
                          <a:solidFill>
                            <a:srgbClr val="FF3300"/>
                          </a:solidFill>
                          <a:effectLst/>
                          <a:latin typeface="Times New Roman" panose="02020603050405020304" pitchFamily="18" charset="0"/>
                          <a:ea typeface="宋体" panose="02010600030101010101" pitchFamily="2" charset="-122"/>
                        </a:rPr>
                        <a:t>C</a:t>
                      </a:r>
                      <a:endParaRPr kumimoji="1" lang="en-US" altLang="zh-CN" sz="2800" b="1" i="0" u="none" strike="noStrike" cap="none" normalizeH="0" baseline="0" dirty="0" smtClean="0">
                        <a:ln>
                          <a:noFill/>
                        </a:ln>
                        <a:solidFill>
                          <a:srgbClr val="FF33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zh-CN" altLang="en-US" sz="2800" b="1" i="0" u="none" strike="noStrike" cap="none" normalizeH="0" baseline="0" dirty="0" smtClean="0">
                        <a:ln>
                          <a:noFill/>
                        </a:ln>
                        <a:solidFill>
                          <a:srgbClr val="FF3300"/>
                        </a:solidFill>
                        <a:effectLst/>
                        <a:latin typeface="Times New Roman" panose="02020603050405020304" pitchFamily="18" charset="0"/>
                        <a:ea typeface="宋体" panose="02010600030101010101" pitchFamily="2" charset="-122"/>
                      </a:endParaRPr>
                    </a:p>
                  </a:txBody>
                  <a:tcPr marL="91436" marR="91436"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644">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计算机</a:t>
                      </a:r>
                      <a:endParaRPr kumimoji="1"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91436" marR="91436"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6" marR="91436"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523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计算机</a:t>
                      </a:r>
                      <a:endParaRPr kumimoji="1"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91436" marR="91436"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6" marR="91436"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644">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机械</a:t>
                      </a:r>
                      <a:endParaRPr kumimoji="1"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91436" marR="91436"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张</a:t>
                      </a:r>
                      <a:endParaRPr kumimoji="1"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91436" marR="91436"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644">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软件</a:t>
                      </a:r>
                      <a:endParaRPr kumimoji="1"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91436" marR="91436"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91436" marR="91436"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4381" name="Text Box 44"/>
          <p:cNvSpPr txBox="1"/>
          <p:nvPr/>
        </p:nvSpPr>
        <p:spPr>
          <a:xfrm>
            <a:off x="2771775" y="850900"/>
            <a:ext cx="16764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50000"/>
              </a:spcBef>
              <a:buClrTx/>
              <a:buNone/>
            </a:pPr>
            <a:r>
              <a:rPr lang="en-US" altLang="zh-CN" sz="2800" b="0" dirty="0">
                <a:solidFill>
                  <a:schemeClr val="tx1"/>
                </a:solidFill>
              </a:rPr>
              <a:t>{B </a:t>
            </a:r>
            <a:r>
              <a:rPr lang="en-US" altLang="zh-CN" sz="2800" b="0" dirty="0">
                <a:solidFill>
                  <a:schemeClr val="tx1"/>
                </a:solidFill>
                <a:latin typeface="Arial Narrow" panose="020B0606020202030204" pitchFamily="34" charset="0"/>
                <a:ea typeface="华文新魏" panose="02010800040101010101" pitchFamily="2" charset="-122"/>
                <a:sym typeface="Symbol" panose="05050102010706020507" pitchFamily="18" charset="2"/>
              </a:rPr>
              <a:t></a:t>
            </a:r>
            <a:r>
              <a:rPr lang="en-US" altLang="zh-CN" sz="2800" b="0" dirty="0">
                <a:solidFill>
                  <a:schemeClr val="tx1"/>
                </a:solidFill>
              </a:rPr>
              <a:t> C}</a:t>
            </a:r>
            <a:endParaRPr lang="en-US" altLang="zh-CN" sz="2800" b="0" dirty="0">
              <a:solidFill>
                <a:schemeClr val="tx1"/>
              </a:solidFill>
            </a:endParaRPr>
          </a:p>
        </p:txBody>
      </p:sp>
      <p:sp>
        <p:nvSpPr>
          <p:cNvPr id="14382" name="AutoShape 45"/>
          <p:cNvSpPr/>
          <p:nvPr/>
        </p:nvSpPr>
        <p:spPr>
          <a:xfrm rot="5400000">
            <a:off x="2286000" y="3302000"/>
            <a:ext cx="457200" cy="381000"/>
          </a:xfrm>
          <a:prstGeom prst="flowChartCollate">
            <a:avLst/>
          </a:prstGeom>
          <a:noFill/>
          <a:ln w="2857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None/>
            </a:pPr>
            <a:endParaRPr lang="en-US" altLang="zh-CN" sz="1400" b="0" dirty="0">
              <a:solidFill>
                <a:schemeClr val="tx1"/>
              </a:solidFill>
            </a:endParaRPr>
          </a:p>
        </p:txBody>
      </p:sp>
      <p:sp>
        <p:nvSpPr>
          <p:cNvPr id="14383" name="Text Box 46"/>
          <p:cNvSpPr txBox="1"/>
          <p:nvPr/>
        </p:nvSpPr>
        <p:spPr>
          <a:xfrm>
            <a:off x="4775200" y="3136900"/>
            <a:ext cx="457200"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spcBef>
                <a:spcPct val="50000"/>
              </a:spcBef>
              <a:buClrTx/>
              <a:buNone/>
            </a:pPr>
            <a:r>
              <a:rPr lang="en-US" altLang="zh-CN" sz="3600" b="0" dirty="0">
                <a:solidFill>
                  <a:schemeClr val="tx1"/>
                </a:solidFill>
                <a:latin typeface="Arial" panose="020B0604020202020204" pitchFamily="34" charset="0"/>
              </a:rPr>
              <a:t>=</a:t>
            </a:r>
            <a:endParaRPr lang="en-US" altLang="zh-CN" sz="3600" b="0" dirty="0">
              <a:solidFill>
                <a:schemeClr val="tx1"/>
              </a:solidFill>
              <a:latin typeface="Arial" panose="020B0604020202020204" pitchFamily="34" charset="0"/>
            </a:endParaRPr>
          </a:p>
        </p:txBody>
      </p:sp>
      <p:graphicFrame>
        <p:nvGraphicFramePr>
          <p:cNvPr id="17455" name="Group 47"/>
          <p:cNvGraphicFramePr>
            <a:graphicFrameLocks noGrp="1"/>
          </p:cNvGraphicFramePr>
          <p:nvPr/>
        </p:nvGraphicFramePr>
        <p:xfrm>
          <a:off x="5397500" y="1612900"/>
          <a:ext cx="3581400" cy="3286125"/>
        </p:xfrm>
        <a:graphic>
          <a:graphicData uri="http://schemas.openxmlformats.org/drawingml/2006/table">
            <a:tbl>
              <a:tblPr/>
              <a:tblGrid>
                <a:gridCol w="990600"/>
                <a:gridCol w="1447800"/>
                <a:gridCol w="1143000"/>
              </a:tblGrid>
              <a:tr h="103024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学生</a:t>
                      </a:r>
                      <a:endPar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B</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学院</a:t>
                      </a:r>
                      <a:endPar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C</a:t>
                      </a:r>
                      <a:endParaRPr kumimoji="1" lang="en-US" altLang="zh-CN"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院长</a:t>
                      </a:r>
                      <a:endParaRPr kumimoji="1" lang="zh-CN"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74">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赵</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计算机</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5161">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钱</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计算机</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74">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孙</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机械</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张</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3574">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李</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软件</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王</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4410" name="AutoShape 73"/>
          <p:cNvSpPr/>
          <p:nvPr/>
        </p:nvSpPr>
        <p:spPr>
          <a:xfrm>
            <a:off x="2209800" y="5715000"/>
            <a:ext cx="5334000" cy="685800"/>
          </a:xfrm>
          <a:prstGeom prst="wedgeRoundRectCallout">
            <a:avLst>
              <a:gd name="adj1" fmla="val -42560"/>
              <a:gd name="adj2" fmla="val -110185"/>
              <a:gd name="adj3" fmla="val 16667"/>
            </a:avLst>
          </a:prstGeom>
          <a:solidFill>
            <a:schemeClr val="tx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None/>
            </a:pPr>
            <a:r>
              <a:rPr lang="zh-CN" altLang="en-US" sz="2800" b="0" dirty="0">
                <a:solidFill>
                  <a:schemeClr val="bg1"/>
                </a:solidFill>
                <a:latin typeface="黑体" panose="02010609060101010101" pitchFamily="49" charset="-122"/>
                <a:ea typeface="黑体" panose="02010609060101010101" pitchFamily="49" charset="-122"/>
              </a:rPr>
              <a:t>无损连接，且保持</a:t>
            </a:r>
            <a:r>
              <a:rPr lang="en-US" altLang="zh-CN" sz="2800" b="0" dirty="0">
                <a:solidFill>
                  <a:schemeClr val="bg1"/>
                </a:solidFill>
                <a:latin typeface="黑体" panose="02010609060101010101" pitchFamily="49" charset="-122"/>
                <a:ea typeface="黑体" panose="02010609060101010101" pitchFamily="49" charset="-122"/>
              </a:rPr>
              <a:t>FD</a:t>
            </a:r>
            <a:endParaRPr lang="en-US" altLang="zh-CN" sz="2800" b="0" dirty="0">
              <a:solidFill>
                <a:schemeClr val="bg1"/>
              </a:solidFill>
              <a:latin typeface="黑体" panose="02010609060101010101" pitchFamily="49" charset="-122"/>
              <a:ea typeface="黑体" panose="02010609060101010101" pitchFamily="49" charset="-122"/>
            </a:endParaRPr>
          </a:p>
        </p:txBody>
      </p:sp>
      <p:sp>
        <p:nvSpPr>
          <p:cNvPr id="14411" name="Text Box 74"/>
          <p:cNvSpPr txBox="1"/>
          <p:nvPr/>
        </p:nvSpPr>
        <p:spPr>
          <a:xfrm>
            <a:off x="5600700" y="838200"/>
            <a:ext cx="2667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50000"/>
              </a:spcBef>
              <a:buClrTx/>
              <a:buNone/>
            </a:pPr>
            <a:r>
              <a:rPr lang="en-US" altLang="zh-CN" sz="2800" b="0" dirty="0">
                <a:solidFill>
                  <a:srgbClr val="0000CC"/>
                </a:solidFill>
              </a:rPr>
              <a:t>{A </a:t>
            </a:r>
            <a:r>
              <a:rPr lang="en-US" altLang="zh-CN" sz="2800" b="0" dirty="0">
                <a:solidFill>
                  <a:srgbClr val="0000CC"/>
                </a:solidFill>
                <a:latin typeface="Arial Narrow" panose="020B0606020202030204" pitchFamily="34" charset="0"/>
                <a:ea typeface="华文新魏" panose="02010800040101010101" pitchFamily="2" charset="-122"/>
                <a:sym typeface="Symbol" panose="05050102010706020507" pitchFamily="18" charset="2"/>
              </a:rPr>
              <a:t></a:t>
            </a:r>
            <a:r>
              <a:rPr lang="en-US" altLang="zh-CN" sz="2800" b="0" dirty="0">
                <a:solidFill>
                  <a:srgbClr val="0000CC"/>
                </a:solidFill>
              </a:rPr>
              <a:t> B, B </a:t>
            </a:r>
            <a:r>
              <a:rPr lang="en-US" altLang="zh-CN" sz="2800" b="0" dirty="0">
                <a:solidFill>
                  <a:srgbClr val="0000CC"/>
                </a:solidFill>
                <a:latin typeface="Arial Narrow" panose="020B0606020202030204" pitchFamily="34" charset="0"/>
                <a:ea typeface="华文新魏" panose="02010800040101010101" pitchFamily="2" charset="-122"/>
                <a:sym typeface="Symbol" panose="05050102010706020507" pitchFamily="18" charset="2"/>
              </a:rPr>
              <a:t></a:t>
            </a:r>
            <a:r>
              <a:rPr lang="en-US" altLang="zh-CN" sz="2800" b="0" dirty="0">
                <a:solidFill>
                  <a:srgbClr val="0000CC"/>
                </a:solidFill>
              </a:rPr>
              <a:t> C}</a:t>
            </a:r>
            <a:endParaRPr lang="en-US" altLang="zh-CN" sz="2800" b="0" dirty="0">
              <a:solidFill>
                <a:srgbClr val="0000CC"/>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5363" name="Rectangle 2"/>
          <p:cNvSpPr>
            <a:spLocks noGrp="1"/>
          </p:cNvSpPr>
          <p:nvPr>
            <p:ph idx="1"/>
          </p:nvPr>
        </p:nvSpPr>
        <p:spPr>
          <a:xfrm>
            <a:off x="558800" y="1219200"/>
            <a:ext cx="8077200" cy="4584700"/>
          </a:xfrm>
          <a:ln/>
        </p:spPr>
        <p:txBody>
          <a:bodyPr vert="horz" wrap="square" lIns="91440" tIns="45720" rIns="91440" bIns="45720" anchor="t" anchorCtr="0"/>
          <a:p>
            <a:pPr eaLnBrk="1" hangingPunct="1">
              <a:lnSpc>
                <a:spcPct val="120000"/>
              </a:lnSpc>
            </a:pPr>
            <a:r>
              <a:rPr lang="en-US" altLang="zh-CN" dirty="0">
                <a:solidFill>
                  <a:schemeClr val="tx1"/>
                </a:solidFill>
              </a:rPr>
              <a:t>6.5.1 </a:t>
            </a:r>
            <a:r>
              <a:rPr lang="zh-CN" altLang="en-US" dirty="0">
                <a:solidFill>
                  <a:schemeClr val="tx1"/>
                </a:solidFill>
              </a:rPr>
              <a:t>模式分解的定义</a:t>
            </a:r>
            <a:endParaRPr lang="zh-CN" altLang="en-US" dirty="0">
              <a:solidFill>
                <a:schemeClr val="tx1"/>
              </a:solidFill>
            </a:endParaRPr>
          </a:p>
          <a:p>
            <a:pPr eaLnBrk="1" hangingPunct="1">
              <a:lnSpc>
                <a:spcPct val="120000"/>
              </a:lnSpc>
            </a:pPr>
            <a:r>
              <a:rPr lang="en-US" altLang="zh-CN" dirty="0">
                <a:solidFill>
                  <a:schemeClr val="tx1"/>
                </a:solidFill>
              </a:rPr>
              <a:t>6.5.2 </a:t>
            </a:r>
            <a:r>
              <a:rPr lang="zh-CN" altLang="en-US" dirty="0">
                <a:solidFill>
                  <a:schemeClr val="tx1"/>
                </a:solidFill>
              </a:rPr>
              <a:t>模式分解中的问题</a:t>
            </a:r>
            <a:endParaRPr lang="zh-CN" altLang="en-US" dirty="0">
              <a:solidFill>
                <a:schemeClr val="tx1"/>
              </a:solidFill>
            </a:endParaRPr>
          </a:p>
          <a:p>
            <a:pPr eaLnBrk="1" hangingPunct="1">
              <a:lnSpc>
                <a:spcPct val="120000"/>
              </a:lnSpc>
            </a:pPr>
            <a:r>
              <a:rPr lang="en-US" altLang="zh-CN" dirty="0"/>
              <a:t>6.5.3 </a:t>
            </a:r>
            <a:r>
              <a:rPr lang="zh-CN" altLang="en-US" dirty="0"/>
              <a:t>无损连接分解</a:t>
            </a:r>
            <a:endParaRPr lang="zh-CN" altLang="en-US" dirty="0"/>
          </a:p>
          <a:p>
            <a:pPr eaLnBrk="1" hangingPunct="1">
              <a:lnSpc>
                <a:spcPct val="120000"/>
              </a:lnSpc>
            </a:pPr>
            <a:r>
              <a:rPr lang="en-US" altLang="zh-CN" dirty="0">
                <a:solidFill>
                  <a:schemeClr val="tx1"/>
                </a:solidFill>
              </a:rPr>
              <a:t>6.5.4 </a:t>
            </a:r>
            <a:r>
              <a:rPr lang="zh-CN" altLang="en-US" dirty="0">
                <a:solidFill>
                  <a:schemeClr val="tx1"/>
                </a:solidFill>
              </a:rPr>
              <a:t>保持函数依赖的分解</a:t>
            </a:r>
            <a:endParaRPr lang="zh-CN" altLang="en-US" dirty="0">
              <a:solidFill>
                <a:schemeClr val="tx1"/>
              </a:solidFill>
            </a:endParaRPr>
          </a:p>
          <a:p>
            <a:pPr eaLnBrk="1" hangingPunct="1">
              <a:lnSpc>
                <a:spcPct val="120000"/>
              </a:lnSpc>
            </a:pPr>
            <a:r>
              <a:rPr lang="en-US" altLang="zh-CN" dirty="0">
                <a:solidFill>
                  <a:schemeClr val="tx1"/>
                </a:solidFill>
              </a:rPr>
              <a:t>6.5.5 </a:t>
            </a:r>
            <a:r>
              <a:rPr lang="zh-CN" altLang="en-US" dirty="0">
                <a:solidFill>
                  <a:schemeClr val="tx1"/>
                </a:solidFill>
              </a:rPr>
              <a:t>关系模式的分解算法</a:t>
            </a:r>
            <a:endParaRPr lang="zh-CN" altLang="en-US" dirty="0">
              <a:solidFill>
                <a:schemeClr val="tx1"/>
              </a:solidFill>
            </a:endParaRPr>
          </a:p>
        </p:txBody>
      </p:sp>
      <p:sp>
        <p:nvSpPr>
          <p:cNvPr id="15364"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6387" name="Rectangle 2"/>
          <p:cNvSpPr>
            <a:spLocks noGrp="1"/>
          </p:cNvSpPr>
          <p:nvPr>
            <p:ph idx="1"/>
          </p:nvPr>
        </p:nvSpPr>
        <p:spPr>
          <a:xfrm>
            <a:off x="381000" y="838200"/>
            <a:ext cx="8610600" cy="5410200"/>
          </a:xfrm>
          <a:ln/>
        </p:spPr>
        <p:txBody>
          <a:bodyPr vert="horz" wrap="square" lIns="91440" tIns="45720" rIns="91440" bIns="45720" anchor="t" anchorCtr="0"/>
          <a:p>
            <a:pPr eaLnBrk="1" hangingPunct="1">
              <a:lnSpc>
                <a:spcPct val="130000"/>
              </a:lnSpc>
              <a:spcBef>
                <a:spcPct val="0"/>
              </a:spcBef>
              <a:buNone/>
            </a:pPr>
            <a:r>
              <a:rPr lang="en-US" altLang="zh-CN" sz="2800" dirty="0"/>
              <a:t>     </a:t>
            </a:r>
            <a:r>
              <a:rPr lang="zh-CN" altLang="en-US" sz="2800" dirty="0"/>
              <a:t>定义</a:t>
            </a:r>
            <a:r>
              <a:rPr lang="en-US" altLang="zh-CN" sz="2800" dirty="0"/>
              <a:t>6.19  </a:t>
            </a:r>
            <a:r>
              <a:rPr lang="zh-CN" altLang="en-US" sz="2800" dirty="0">
                <a:solidFill>
                  <a:schemeClr val="tx1"/>
                </a:solidFill>
              </a:rPr>
              <a:t>关系模式</a:t>
            </a:r>
            <a:r>
              <a:rPr lang="en-US" altLang="zh-CN" sz="2800" i="1" dirty="0">
                <a:solidFill>
                  <a:schemeClr val="tx1"/>
                </a:solidFill>
              </a:rPr>
              <a:t>R&lt;U,F&gt;</a:t>
            </a:r>
            <a:r>
              <a:rPr lang="zh-CN" altLang="en-US" sz="2800" dirty="0">
                <a:solidFill>
                  <a:schemeClr val="tx1"/>
                </a:solidFill>
              </a:rPr>
              <a:t>的一个分解 </a:t>
            </a:r>
            <a:r>
              <a:rPr lang="en-US" altLang="zh-CN" sz="3600" i="1" dirty="0">
                <a:solidFill>
                  <a:schemeClr val="tx1"/>
                </a:solidFill>
              </a:rPr>
              <a:t>ρ</a:t>
            </a:r>
            <a:r>
              <a:rPr lang="en-US" altLang="zh-CN" sz="2400" dirty="0">
                <a:solidFill>
                  <a:schemeClr val="tx1"/>
                </a:solidFill>
              </a:rPr>
              <a:t>={ </a:t>
            </a:r>
            <a:r>
              <a:rPr lang="en-US" altLang="zh-CN" sz="2400" i="1" dirty="0">
                <a:solidFill>
                  <a:schemeClr val="tx1"/>
                </a:solidFill>
              </a:rPr>
              <a:t>R</a:t>
            </a:r>
            <a:r>
              <a:rPr lang="en-US" altLang="zh-CN" sz="2400" i="1" baseline="-25000" dirty="0">
                <a:solidFill>
                  <a:schemeClr val="tx1"/>
                </a:solidFill>
              </a:rPr>
              <a:t>1</a:t>
            </a:r>
            <a:r>
              <a:rPr lang="en-US" altLang="zh-CN" sz="2400" i="1" dirty="0">
                <a:solidFill>
                  <a:schemeClr val="tx1"/>
                </a:solidFill>
              </a:rPr>
              <a:t>&lt;U</a:t>
            </a:r>
            <a:r>
              <a:rPr lang="en-US" altLang="zh-CN" sz="2400" i="1" baseline="-25000" dirty="0">
                <a:solidFill>
                  <a:schemeClr val="tx1"/>
                </a:solidFill>
              </a:rPr>
              <a:t>1</a:t>
            </a:r>
            <a:r>
              <a:rPr lang="en-US" altLang="zh-CN" sz="2400" i="1" dirty="0">
                <a:solidFill>
                  <a:schemeClr val="tx1"/>
                </a:solidFill>
              </a:rPr>
              <a:t>,F</a:t>
            </a:r>
            <a:r>
              <a:rPr lang="en-US" altLang="zh-CN" sz="2400" i="1" baseline="-25000" dirty="0">
                <a:solidFill>
                  <a:schemeClr val="tx1"/>
                </a:solidFill>
              </a:rPr>
              <a:t>1</a:t>
            </a:r>
            <a:r>
              <a:rPr lang="en-US" altLang="zh-CN" sz="2400" i="1" dirty="0">
                <a:solidFill>
                  <a:schemeClr val="tx1"/>
                </a:solidFill>
              </a:rPr>
              <a:t>&gt;</a:t>
            </a:r>
            <a:r>
              <a:rPr lang="zh-CN" altLang="en-US" sz="2400" i="1" dirty="0">
                <a:solidFill>
                  <a:schemeClr val="tx1"/>
                </a:solidFill>
              </a:rPr>
              <a:t>，</a:t>
            </a:r>
            <a:r>
              <a:rPr lang="en-US" altLang="zh-CN" sz="2400" i="1" dirty="0">
                <a:solidFill>
                  <a:schemeClr val="tx1"/>
                </a:solidFill>
              </a:rPr>
              <a:t>R</a:t>
            </a:r>
            <a:r>
              <a:rPr lang="en-US" altLang="zh-CN" sz="2400" i="1" baseline="-25000" dirty="0">
                <a:solidFill>
                  <a:schemeClr val="tx1"/>
                </a:solidFill>
              </a:rPr>
              <a:t>2</a:t>
            </a:r>
            <a:r>
              <a:rPr lang="en-US" altLang="zh-CN" sz="2400" i="1" dirty="0">
                <a:solidFill>
                  <a:schemeClr val="tx1"/>
                </a:solidFill>
              </a:rPr>
              <a:t>&lt;U</a:t>
            </a:r>
            <a:r>
              <a:rPr lang="en-US" altLang="zh-CN" sz="2400" i="1" baseline="-25000" dirty="0">
                <a:solidFill>
                  <a:schemeClr val="tx1"/>
                </a:solidFill>
              </a:rPr>
              <a:t>2</a:t>
            </a:r>
            <a:r>
              <a:rPr lang="en-US" altLang="zh-CN" sz="2400" i="1" dirty="0">
                <a:solidFill>
                  <a:schemeClr val="tx1"/>
                </a:solidFill>
              </a:rPr>
              <a:t>,F</a:t>
            </a:r>
            <a:r>
              <a:rPr lang="en-US" altLang="zh-CN" sz="2400" i="1" baseline="-25000" dirty="0">
                <a:solidFill>
                  <a:schemeClr val="tx1"/>
                </a:solidFill>
              </a:rPr>
              <a:t>2</a:t>
            </a:r>
            <a:r>
              <a:rPr lang="en-US" altLang="zh-CN" sz="2400" i="1" dirty="0">
                <a:solidFill>
                  <a:schemeClr val="tx1"/>
                </a:solidFill>
              </a:rPr>
              <a:t>&gt;</a:t>
            </a:r>
            <a:r>
              <a:rPr lang="zh-CN" altLang="en-US" sz="2400" i="1" dirty="0">
                <a:solidFill>
                  <a:schemeClr val="tx1"/>
                </a:solidFill>
              </a:rPr>
              <a:t>， </a:t>
            </a:r>
            <a:r>
              <a:rPr lang="en-US" altLang="zh-CN" sz="2400" i="1" dirty="0">
                <a:solidFill>
                  <a:schemeClr val="tx1"/>
                </a:solidFill>
              </a:rPr>
              <a:t>…</a:t>
            </a:r>
            <a:r>
              <a:rPr lang="zh-CN" altLang="en-US" sz="2400" i="1" dirty="0">
                <a:solidFill>
                  <a:schemeClr val="tx1"/>
                </a:solidFill>
              </a:rPr>
              <a:t>，</a:t>
            </a:r>
            <a:r>
              <a:rPr lang="en-US" altLang="zh-CN" sz="2400" i="1" dirty="0">
                <a:solidFill>
                  <a:schemeClr val="tx1"/>
                </a:solidFill>
              </a:rPr>
              <a:t>R</a:t>
            </a:r>
            <a:r>
              <a:rPr lang="en-US" altLang="zh-CN" sz="2400" i="1" baseline="-25000" dirty="0">
                <a:solidFill>
                  <a:schemeClr val="tx1"/>
                </a:solidFill>
              </a:rPr>
              <a:t>n</a:t>
            </a:r>
            <a:r>
              <a:rPr lang="en-US" altLang="zh-CN" sz="2400" i="1" dirty="0">
                <a:solidFill>
                  <a:schemeClr val="tx1"/>
                </a:solidFill>
              </a:rPr>
              <a:t>&lt;U</a:t>
            </a:r>
            <a:r>
              <a:rPr lang="en-US" altLang="zh-CN" sz="2400" i="1" baseline="-25000" dirty="0">
                <a:solidFill>
                  <a:schemeClr val="tx1"/>
                </a:solidFill>
              </a:rPr>
              <a:t>n</a:t>
            </a:r>
            <a:r>
              <a:rPr lang="en-US" altLang="zh-CN" sz="2400" i="1" dirty="0">
                <a:solidFill>
                  <a:schemeClr val="tx1"/>
                </a:solidFill>
              </a:rPr>
              <a:t>,F</a:t>
            </a:r>
            <a:r>
              <a:rPr lang="en-US" altLang="zh-CN" sz="2400" i="1" baseline="-25000" dirty="0">
                <a:solidFill>
                  <a:schemeClr val="tx1"/>
                </a:solidFill>
              </a:rPr>
              <a:t>n</a:t>
            </a:r>
            <a:r>
              <a:rPr lang="en-US" altLang="zh-CN" sz="2400" i="1" dirty="0">
                <a:solidFill>
                  <a:schemeClr val="tx1"/>
                </a:solidFill>
              </a:rPr>
              <a:t>&gt;</a:t>
            </a:r>
            <a:r>
              <a:rPr lang="en-US" altLang="zh-CN" sz="2400" dirty="0">
                <a:solidFill>
                  <a:schemeClr val="tx1"/>
                </a:solidFill>
              </a:rPr>
              <a:t>}</a:t>
            </a:r>
            <a:endParaRPr lang="en-US" altLang="zh-CN" sz="2400" dirty="0">
              <a:solidFill>
                <a:schemeClr val="tx1"/>
              </a:solidFill>
            </a:endParaRPr>
          </a:p>
          <a:p>
            <a:pPr eaLnBrk="1" hangingPunct="1">
              <a:lnSpc>
                <a:spcPct val="130000"/>
              </a:lnSpc>
              <a:buNone/>
            </a:pPr>
            <a:r>
              <a:rPr lang="en-US" altLang="zh-CN" sz="2800" dirty="0">
                <a:solidFill>
                  <a:schemeClr val="tx1"/>
                </a:solidFill>
              </a:rPr>
              <a:t>    </a:t>
            </a:r>
            <a:r>
              <a:rPr lang="zh-CN" altLang="en-US" sz="2800" dirty="0">
                <a:solidFill>
                  <a:schemeClr val="tx1"/>
                </a:solidFill>
              </a:rPr>
              <a:t>若</a:t>
            </a:r>
            <a:r>
              <a:rPr lang="en-US" altLang="zh-CN" sz="2800" i="1" dirty="0">
                <a:solidFill>
                  <a:schemeClr val="tx1"/>
                </a:solidFill>
              </a:rPr>
              <a:t>R</a:t>
            </a:r>
            <a:r>
              <a:rPr lang="zh-CN" altLang="en-US" sz="2800" dirty="0">
                <a:solidFill>
                  <a:schemeClr val="tx1"/>
                </a:solidFill>
              </a:rPr>
              <a:t>与</a:t>
            </a:r>
            <a:r>
              <a:rPr lang="en-US" altLang="zh-CN" sz="2800" i="1" dirty="0">
                <a:solidFill>
                  <a:schemeClr val="tx1"/>
                </a:solidFill>
              </a:rPr>
              <a:t>R</a:t>
            </a:r>
            <a:r>
              <a:rPr lang="en-US" altLang="zh-CN" sz="2800" i="1" baseline="-25000" dirty="0">
                <a:solidFill>
                  <a:schemeClr val="tx1"/>
                </a:solidFill>
              </a:rPr>
              <a:t>1</a:t>
            </a:r>
            <a:r>
              <a:rPr lang="zh-CN" altLang="en-US" sz="2800" i="1" dirty="0">
                <a:solidFill>
                  <a:schemeClr val="tx1"/>
                </a:solidFill>
              </a:rPr>
              <a:t>、</a:t>
            </a:r>
            <a:r>
              <a:rPr lang="en-US" altLang="zh-CN" sz="2800" i="1" dirty="0">
                <a:solidFill>
                  <a:schemeClr val="tx1"/>
                </a:solidFill>
              </a:rPr>
              <a:t>R</a:t>
            </a:r>
            <a:r>
              <a:rPr lang="en-US" altLang="zh-CN" sz="2800" i="1" baseline="-25000" dirty="0">
                <a:solidFill>
                  <a:schemeClr val="tx1"/>
                </a:solidFill>
              </a:rPr>
              <a:t>2</a:t>
            </a:r>
            <a:r>
              <a:rPr lang="zh-CN" altLang="en-US" sz="2800" i="1" dirty="0">
                <a:solidFill>
                  <a:schemeClr val="tx1"/>
                </a:solidFill>
              </a:rPr>
              <a:t>、</a:t>
            </a:r>
            <a:r>
              <a:rPr lang="en-US" altLang="zh-CN" sz="2800" i="1" dirty="0">
                <a:solidFill>
                  <a:schemeClr val="tx1"/>
                </a:solidFill>
              </a:rPr>
              <a:t>…</a:t>
            </a:r>
            <a:r>
              <a:rPr lang="zh-CN" altLang="en-US" sz="2800" i="1" dirty="0">
                <a:solidFill>
                  <a:schemeClr val="tx1"/>
                </a:solidFill>
              </a:rPr>
              <a:t>、</a:t>
            </a:r>
            <a:r>
              <a:rPr lang="en-US" altLang="zh-CN" sz="2800" i="1" dirty="0">
                <a:solidFill>
                  <a:schemeClr val="tx1"/>
                </a:solidFill>
              </a:rPr>
              <a:t>R</a:t>
            </a:r>
            <a:r>
              <a:rPr lang="en-US" altLang="zh-CN" sz="2800" i="1" baseline="-25000" dirty="0">
                <a:solidFill>
                  <a:schemeClr val="tx1"/>
                </a:solidFill>
              </a:rPr>
              <a:t>n</a:t>
            </a:r>
            <a:r>
              <a:rPr lang="zh-CN" altLang="en-US" sz="2800" dirty="0">
                <a:solidFill>
                  <a:schemeClr val="tx1"/>
                </a:solidFill>
              </a:rPr>
              <a:t>自然连接的结果相等，则称关系模式</a:t>
            </a:r>
            <a:r>
              <a:rPr lang="en-US" altLang="zh-CN" sz="2800" i="1" dirty="0">
                <a:solidFill>
                  <a:schemeClr val="tx1"/>
                </a:solidFill>
              </a:rPr>
              <a:t>R</a:t>
            </a:r>
            <a:r>
              <a:rPr lang="zh-CN" altLang="en-US" sz="2800" dirty="0">
                <a:solidFill>
                  <a:schemeClr val="tx1"/>
                </a:solidFill>
              </a:rPr>
              <a:t>的这个分解</a:t>
            </a:r>
            <a:r>
              <a:rPr lang="en-US" altLang="zh-CN" i="1" dirty="0">
                <a:solidFill>
                  <a:schemeClr val="tx1"/>
                </a:solidFill>
              </a:rPr>
              <a:t>ρ</a:t>
            </a:r>
            <a:r>
              <a:rPr lang="zh-CN" altLang="en-US" sz="2800" dirty="0">
                <a:solidFill>
                  <a:schemeClr val="tx1"/>
                </a:solidFill>
              </a:rPr>
              <a:t>具有无损连接性（</a:t>
            </a:r>
            <a:r>
              <a:rPr lang="en-US" altLang="zh-CN" sz="2800" dirty="0">
                <a:solidFill>
                  <a:schemeClr val="tx1"/>
                </a:solidFill>
              </a:rPr>
              <a:t>Lossless join</a:t>
            </a:r>
            <a:r>
              <a:rPr lang="zh-CN" altLang="en-US" sz="2800" dirty="0">
                <a:solidFill>
                  <a:schemeClr val="tx1"/>
                </a:solidFill>
              </a:rPr>
              <a:t>）。</a:t>
            </a:r>
            <a:endParaRPr lang="zh-CN" altLang="en-US" sz="2800" dirty="0">
              <a:solidFill>
                <a:schemeClr val="tx1"/>
              </a:solidFill>
            </a:endParaRPr>
          </a:p>
          <a:p>
            <a:pPr lvl="1" eaLnBrk="1" hangingPunct="1">
              <a:lnSpc>
                <a:spcPct val="120000"/>
              </a:lnSpc>
            </a:pPr>
            <a:r>
              <a:rPr lang="zh-CN" altLang="en-US" dirty="0"/>
              <a:t>具有无损连接性的分解保证不丢失信息</a:t>
            </a:r>
            <a:endParaRPr lang="zh-CN" altLang="en-US" dirty="0"/>
          </a:p>
          <a:p>
            <a:pPr lvl="1" eaLnBrk="1" hangingPunct="1">
              <a:lnSpc>
                <a:spcPct val="120000"/>
              </a:lnSpc>
            </a:pPr>
            <a:r>
              <a:rPr lang="zh-CN" altLang="en-US" dirty="0"/>
              <a:t>无损连接性不一定能解决插入异常、删除异常、修改复杂、数据冗余等问题</a:t>
            </a:r>
            <a:endParaRPr lang="zh-CN" altLang="en-US" dirty="0"/>
          </a:p>
        </p:txBody>
      </p:sp>
      <p:sp>
        <p:nvSpPr>
          <p:cNvPr id="16388"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7411" name="Rectangle 2"/>
          <p:cNvSpPr>
            <a:spLocks noGrp="1"/>
          </p:cNvSpPr>
          <p:nvPr>
            <p:ph idx="1"/>
          </p:nvPr>
        </p:nvSpPr>
        <p:spPr>
          <a:xfrm>
            <a:off x="381000" y="838200"/>
            <a:ext cx="8610600" cy="3048000"/>
          </a:xfrm>
          <a:ln/>
        </p:spPr>
        <p:txBody>
          <a:bodyPr vert="horz" wrap="square" lIns="91440" tIns="45720" rIns="91440" bIns="45720" anchor="t" anchorCtr="0"/>
          <a:p>
            <a:pPr eaLnBrk="1" hangingPunct="1">
              <a:lnSpc>
                <a:spcPct val="130000"/>
              </a:lnSpc>
              <a:spcBef>
                <a:spcPct val="0"/>
              </a:spcBef>
            </a:pPr>
            <a:r>
              <a:rPr lang="zh-CN" altLang="en-US" sz="2800" dirty="0"/>
              <a:t>算法</a:t>
            </a:r>
            <a:r>
              <a:rPr lang="en-US" altLang="zh-CN" sz="2800" dirty="0"/>
              <a:t>6.2  </a:t>
            </a:r>
            <a:r>
              <a:rPr lang="zh-CN" altLang="en-US" sz="2800" dirty="0">
                <a:solidFill>
                  <a:schemeClr val="tx1"/>
                </a:solidFill>
              </a:rPr>
              <a:t>判别一个分解是否具有无损连接性</a:t>
            </a:r>
            <a:endParaRPr lang="zh-CN" altLang="en-US" sz="2800" dirty="0">
              <a:solidFill>
                <a:schemeClr val="tx1"/>
              </a:solidFill>
            </a:endParaRPr>
          </a:p>
          <a:p>
            <a:pPr lvl="1" eaLnBrk="1" hangingPunct="1">
              <a:lnSpc>
                <a:spcPct val="110000"/>
              </a:lnSpc>
              <a:buNone/>
            </a:pPr>
            <a:r>
              <a:rPr lang="en-US" altLang="zh-CN" dirty="0">
                <a:sym typeface="Symbol" panose="05050102010706020507" pitchFamily="18" charset="2"/>
              </a:rPr>
              <a:t>U= {A</a:t>
            </a:r>
            <a:r>
              <a:rPr lang="en-US" altLang="zh-CN" baseline="-16000" dirty="0"/>
              <a:t>1</a:t>
            </a:r>
            <a:r>
              <a:rPr lang="en-US" altLang="zh-CN" dirty="0">
                <a:sym typeface="Symbol" panose="05050102010706020507" pitchFamily="18" charset="2"/>
              </a:rPr>
              <a:t>, A</a:t>
            </a:r>
            <a:r>
              <a:rPr lang="en-US" altLang="zh-CN" baseline="-16000" dirty="0"/>
              <a:t>2</a:t>
            </a:r>
            <a:r>
              <a:rPr lang="en-US" altLang="zh-CN" dirty="0">
                <a:sym typeface="Symbol" panose="05050102010706020507" pitchFamily="18" charset="2"/>
              </a:rPr>
              <a:t>, … , A</a:t>
            </a:r>
            <a:r>
              <a:rPr lang="en-US" altLang="zh-CN" baseline="-16000" dirty="0"/>
              <a:t>n</a:t>
            </a:r>
            <a:r>
              <a:rPr lang="en-US" altLang="zh-CN" dirty="0">
                <a:sym typeface="Symbol" panose="05050102010706020507" pitchFamily="18" charset="2"/>
              </a:rPr>
              <a:t>}	</a:t>
            </a:r>
            <a:endParaRPr lang="en-US" altLang="zh-CN" dirty="0">
              <a:sym typeface="Symbol" panose="05050102010706020507" pitchFamily="18" charset="2"/>
            </a:endParaRPr>
          </a:p>
          <a:p>
            <a:pPr lvl="1" eaLnBrk="1" hangingPunct="1">
              <a:lnSpc>
                <a:spcPct val="110000"/>
              </a:lnSpc>
              <a:buNone/>
            </a:pPr>
            <a:r>
              <a:rPr lang="en-US" altLang="zh-CN" dirty="0">
                <a:sym typeface="Symbol" panose="05050102010706020507" pitchFamily="18" charset="2"/>
              </a:rPr>
              <a:t> = </a:t>
            </a:r>
            <a:r>
              <a:rPr lang="en-US" altLang="zh-CN" dirty="0"/>
              <a:t>{R</a:t>
            </a:r>
            <a:r>
              <a:rPr lang="en-US" altLang="zh-CN" baseline="-16000" dirty="0"/>
              <a:t>1</a:t>
            </a:r>
            <a:r>
              <a:rPr lang="en-US" altLang="zh-CN" dirty="0"/>
              <a:t>&lt;U</a:t>
            </a:r>
            <a:r>
              <a:rPr lang="en-US" altLang="zh-CN" baseline="-16000" dirty="0"/>
              <a:t>1</a:t>
            </a:r>
            <a:r>
              <a:rPr lang="en-US" altLang="zh-CN" dirty="0"/>
              <a:t>, F</a:t>
            </a:r>
            <a:r>
              <a:rPr lang="en-US" altLang="zh-CN" baseline="-16000" dirty="0"/>
              <a:t>1</a:t>
            </a:r>
            <a:r>
              <a:rPr lang="en-US" altLang="zh-CN" dirty="0"/>
              <a:t>&gt; , R</a:t>
            </a:r>
            <a:r>
              <a:rPr lang="en-US" altLang="zh-CN" baseline="-16000" dirty="0"/>
              <a:t>2</a:t>
            </a:r>
            <a:r>
              <a:rPr lang="en-US" altLang="zh-CN" dirty="0"/>
              <a:t>&lt;U</a:t>
            </a:r>
            <a:r>
              <a:rPr lang="en-US" altLang="zh-CN" baseline="-16000" dirty="0"/>
              <a:t>2</a:t>
            </a:r>
            <a:r>
              <a:rPr lang="en-US" altLang="zh-CN" dirty="0"/>
              <a:t> , F</a:t>
            </a:r>
            <a:r>
              <a:rPr lang="en-US" altLang="zh-CN" baseline="-16000" dirty="0"/>
              <a:t>2</a:t>
            </a:r>
            <a:r>
              <a:rPr lang="en-US" altLang="zh-CN" dirty="0"/>
              <a:t>&gt;, … , R</a:t>
            </a:r>
            <a:r>
              <a:rPr lang="en-US" altLang="zh-CN" baseline="-16000" dirty="0"/>
              <a:t>k</a:t>
            </a:r>
            <a:r>
              <a:rPr lang="en-US" altLang="zh-CN" dirty="0"/>
              <a:t>&lt;U</a:t>
            </a:r>
            <a:r>
              <a:rPr lang="en-US" altLang="zh-CN" baseline="-16000" dirty="0"/>
              <a:t>k</a:t>
            </a:r>
            <a:r>
              <a:rPr lang="en-US" altLang="zh-CN" dirty="0"/>
              <a:t> , F</a:t>
            </a:r>
            <a:r>
              <a:rPr lang="en-US" altLang="zh-CN" baseline="-16000" dirty="0"/>
              <a:t>k</a:t>
            </a:r>
            <a:r>
              <a:rPr lang="en-US" altLang="zh-CN" dirty="0"/>
              <a:t>&gt;}</a:t>
            </a:r>
            <a:endParaRPr lang="en-US" altLang="zh-CN" dirty="0"/>
          </a:p>
          <a:p>
            <a:pPr eaLnBrk="1" hangingPunct="1">
              <a:lnSpc>
                <a:spcPct val="110000"/>
              </a:lnSpc>
              <a:buNone/>
            </a:pPr>
            <a:r>
              <a:rPr lang="en-US" altLang="zh-CN" dirty="0"/>
              <a:t>	</a:t>
            </a:r>
            <a:r>
              <a:rPr lang="en-US" altLang="zh-CN" sz="2800" dirty="0"/>
              <a:t>1.</a:t>
            </a:r>
            <a:r>
              <a:rPr lang="zh-CN" altLang="en-US" sz="2800" dirty="0"/>
              <a:t>建立一个</a:t>
            </a:r>
            <a:r>
              <a:rPr lang="en-US" altLang="zh-CN" sz="2800" i="1" dirty="0"/>
              <a:t>n</a:t>
            </a:r>
            <a:r>
              <a:rPr lang="zh-CN" altLang="en-US" sz="2800" dirty="0"/>
              <a:t>列</a:t>
            </a:r>
            <a:r>
              <a:rPr lang="en-US" altLang="zh-CN" sz="2800" i="1" dirty="0"/>
              <a:t>k</a:t>
            </a:r>
            <a:r>
              <a:rPr lang="zh-CN" altLang="en-US" sz="2800" dirty="0"/>
              <a:t>行的矩阵</a:t>
            </a:r>
            <a:endParaRPr lang="zh-CN" altLang="en-US" sz="2800" dirty="0"/>
          </a:p>
          <a:p>
            <a:pPr eaLnBrk="1" hangingPunct="1">
              <a:lnSpc>
                <a:spcPct val="110000"/>
              </a:lnSpc>
              <a:buNone/>
            </a:pPr>
            <a:r>
              <a:rPr lang="zh-CN" altLang="en-US" sz="2800" dirty="0"/>
              <a:t>       </a:t>
            </a:r>
            <a:r>
              <a:rPr lang="en-US" altLang="zh-CN" sz="2800" dirty="0">
                <a:solidFill>
                  <a:schemeClr val="tx1"/>
                </a:solidFill>
              </a:rPr>
              <a:t>TB = {</a:t>
            </a:r>
            <a:r>
              <a:rPr lang="en-US" altLang="zh-CN" sz="2800" i="1" dirty="0">
                <a:solidFill>
                  <a:schemeClr val="tx1"/>
                </a:solidFill>
              </a:rPr>
              <a:t>C</a:t>
            </a:r>
            <a:r>
              <a:rPr lang="en-US" altLang="zh-CN" sz="2800" i="1" baseline="-16000" dirty="0">
                <a:solidFill>
                  <a:schemeClr val="tx1"/>
                </a:solidFill>
              </a:rPr>
              <a:t>ij</a:t>
            </a:r>
            <a:r>
              <a:rPr lang="en-US" altLang="zh-CN" sz="2800" dirty="0">
                <a:solidFill>
                  <a:schemeClr val="tx1"/>
                </a:solidFill>
              </a:rPr>
              <a:t> | </a:t>
            </a:r>
            <a:r>
              <a:rPr lang="zh-CN" altLang="en-US" sz="2800" dirty="0">
                <a:solidFill>
                  <a:schemeClr val="tx1"/>
                </a:solidFill>
              </a:rPr>
              <a:t>若</a:t>
            </a:r>
            <a:r>
              <a:rPr lang="en-US" altLang="zh-CN" sz="2800" i="1" dirty="0">
                <a:solidFill>
                  <a:schemeClr val="tx1"/>
                </a:solidFill>
              </a:rPr>
              <a:t>A</a:t>
            </a:r>
            <a:r>
              <a:rPr lang="en-US" altLang="zh-CN" sz="2800" i="1" baseline="-16000" dirty="0">
                <a:solidFill>
                  <a:schemeClr val="tx1"/>
                </a:solidFill>
              </a:rPr>
              <a:t>j</a:t>
            </a:r>
            <a:r>
              <a:rPr lang="en-US" altLang="zh-CN" sz="2800" i="1" dirty="0">
                <a:solidFill>
                  <a:schemeClr val="tx1"/>
                </a:solidFill>
              </a:rPr>
              <a:t> </a:t>
            </a:r>
            <a:r>
              <a:rPr lang="en-US" altLang="zh-CN" sz="2800" dirty="0">
                <a:solidFill>
                  <a:schemeClr val="tx1"/>
                </a:solidFill>
                <a:sym typeface="Symbol" panose="05050102010706020507" pitchFamily="18" charset="2"/>
              </a:rPr>
              <a:t> </a:t>
            </a:r>
            <a:r>
              <a:rPr lang="en-US" altLang="zh-CN" sz="2800" i="1" dirty="0">
                <a:solidFill>
                  <a:schemeClr val="tx1"/>
                </a:solidFill>
                <a:sym typeface="Symbol" panose="05050102010706020507" pitchFamily="18" charset="2"/>
              </a:rPr>
              <a:t>U</a:t>
            </a:r>
            <a:r>
              <a:rPr lang="en-US" altLang="zh-CN" sz="2800" i="1" baseline="-16000" dirty="0">
                <a:solidFill>
                  <a:schemeClr val="tx1"/>
                </a:solidFill>
              </a:rPr>
              <a:t>i</a:t>
            </a:r>
            <a:r>
              <a:rPr lang="en-US" altLang="zh-CN" sz="2800" i="1" dirty="0">
                <a:solidFill>
                  <a:schemeClr val="tx1"/>
                </a:solidFill>
                <a:sym typeface="Symbol" panose="05050102010706020507" pitchFamily="18" charset="2"/>
              </a:rPr>
              <a:t> </a:t>
            </a:r>
            <a:r>
              <a:rPr lang="en-US" altLang="zh-CN" sz="2800" dirty="0">
                <a:solidFill>
                  <a:schemeClr val="tx1"/>
                </a:solidFill>
                <a:sym typeface="Symbol" panose="05050102010706020507" pitchFamily="18" charset="2"/>
              </a:rPr>
              <a:t>, </a:t>
            </a:r>
            <a:r>
              <a:rPr lang="en-US" altLang="zh-CN" sz="2800" i="1" dirty="0">
                <a:solidFill>
                  <a:schemeClr val="tx1"/>
                </a:solidFill>
              </a:rPr>
              <a:t>C</a:t>
            </a:r>
            <a:r>
              <a:rPr lang="en-US" altLang="zh-CN" sz="2800" i="1" baseline="-16000" dirty="0">
                <a:solidFill>
                  <a:schemeClr val="tx1"/>
                </a:solidFill>
              </a:rPr>
              <a:t>ij</a:t>
            </a:r>
            <a:r>
              <a:rPr lang="en-US" altLang="zh-CN" sz="2800" i="1" dirty="0">
                <a:solidFill>
                  <a:schemeClr val="tx1"/>
                </a:solidFill>
              </a:rPr>
              <a:t> = a</a:t>
            </a:r>
            <a:r>
              <a:rPr lang="en-US" altLang="zh-CN" sz="2800" i="1" baseline="-16000" dirty="0">
                <a:solidFill>
                  <a:schemeClr val="tx1"/>
                </a:solidFill>
              </a:rPr>
              <a:t>j</a:t>
            </a:r>
            <a:r>
              <a:rPr lang="en-US" altLang="zh-CN" sz="2800" baseline="-16000" dirty="0">
                <a:solidFill>
                  <a:schemeClr val="tx1"/>
                </a:solidFill>
              </a:rPr>
              <a:t> </a:t>
            </a:r>
            <a:r>
              <a:rPr lang="en-US" altLang="zh-CN" sz="2800" dirty="0">
                <a:solidFill>
                  <a:schemeClr val="tx1"/>
                </a:solidFill>
                <a:sym typeface="Symbol" panose="05050102010706020507" pitchFamily="18" charset="2"/>
              </a:rPr>
              <a:t>, </a:t>
            </a:r>
            <a:r>
              <a:rPr lang="zh-CN" altLang="en-US" sz="2800" dirty="0">
                <a:solidFill>
                  <a:schemeClr val="tx1"/>
                </a:solidFill>
                <a:sym typeface="Symbol" panose="05050102010706020507" pitchFamily="18" charset="2"/>
              </a:rPr>
              <a:t>否则</a:t>
            </a:r>
            <a:r>
              <a:rPr lang="en-US" altLang="zh-CN" sz="2800" i="1" dirty="0">
                <a:solidFill>
                  <a:schemeClr val="tx1"/>
                </a:solidFill>
              </a:rPr>
              <a:t>C</a:t>
            </a:r>
            <a:r>
              <a:rPr lang="en-US" altLang="zh-CN" sz="2800" i="1" baseline="-16000" dirty="0">
                <a:solidFill>
                  <a:schemeClr val="tx1"/>
                </a:solidFill>
              </a:rPr>
              <a:t>ij</a:t>
            </a:r>
            <a:r>
              <a:rPr lang="en-US" altLang="zh-CN" sz="2800" i="1" dirty="0">
                <a:solidFill>
                  <a:schemeClr val="tx1"/>
                </a:solidFill>
              </a:rPr>
              <a:t> = b</a:t>
            </a:r>
            <a:r>
              <a:rPr lang="en-US" altLang="zh-CN" sz="2800" i="1" baseline="-16000" dirty="0">
                <a:solidFill>
                  <a:schemeClr val="tx1"/>
                </a:solidFill>
              </a:rPr>
              <a:t>ij</a:t>
            </a:r>
            <a:r>
              <a:rPr lang="en-US" altLang="zh-CN" sz="2800" dirty="0">
                <a:solidFill>
                  <a:schemeClr val="tx1"/>
                </a:solidFill>
              </a:rPr>
              <a:t>}</a:t>
            </a:r>
            <a:endParaRPr lang="en-US" altLang="zh-CN" sz="2800" dirty="0">
              <a:solidFill>
                <a:schemeClr val="tx1"/>
              </a:solidFill>
            </a:endParaRPr>
          </a:p>
          <a:p>
            <a:pPr eaLnBrk="1" hangingPunct="1">
              <a:lnSpc>
                <a:spcPct val="130000"/>
              </a:lnSpc>
              <a:spcBef>
                <a:spcPct val="0"/>
              </a:spcBef>
            </a:pPr>
            <a:endParaRPr lang="en-US" altLang="zh-CN" dirty="0">
              <a:solidFill>
                <a:schemeClr val="tx1"/>
              </a:solidFill>
            </a:endParaRPr>
          </a:p>
        </p:txBody>
      </p:sp>
      <p:sp>
        <p:nvSpPr>
          <p:cNvPr id="17412"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graphicFrame>
        <p:nvGraphicFramePr>
          <p:cNvPr id="20484" name="Group 4"/>
          <p:cNvGraphicFramePr>
            <a:graphicFrameLocks noGrp="1"/>
          </p:cNvGraphicFramePr>
          <p:nvPr/>
        </p:nvGraphicFramePr>
        <p:xfrm>
          <a:off x="609600" y="4038600"/>
          <a:ext cx="7620000" cy="2265363"/>
        </p:xfrm>
        <a:graphic>
          <a:graphicData uri="http://schemas.openxmlformats.org/drawingml/2006/table">
            <a:tbl>
              <a:tblPr/>
              <a:tblGrid>
                <a:gridCol w="1524000"/>
                <a:gridCol w="1524000"/>
                <a:gridCol w="1524000"/>
                <a:gridCol w="1524000"/>
                <a:gridCol w="1524000"/>
              </a:tblGrid>
              <a:tr h="5512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8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T="45881" marB="458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1"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A</a:t>
                      </a:r>
                      <a:r>
                        <a:rPr kumimoji="1" lang="en-US" altLang="zh-CN" sz="2800" b="1" i="1"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rPr>
                        <a:t>1</a:t>
                      </a:r>
                      <a:endParaRPr kumimoji="1" lang="en-US" altLang="zh-CN" sz="2800" b="1" i="1"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T="45881" marB="458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1"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A</a:t>
                      </a:r>
                      <a:r>
                        <a:rPr kumimoji="1" lang="en-US" altLang="zh-CN" sz="2800" b="1" i="1"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rPr>
                        <a:t>2</a:t>
                      </a:r>
                      <a:endParaRPr kumimoji="1" lang="en-US" altLang="zh-CN" sz="2800" b="1" i="1"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T="45881" marB="458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1"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a:t>
                      </a:r>
                      <a:endParaRPr kumimoji="1" lang="en-US" altLang="zh-CN" sz="2800" b="1" i="1"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marT="45881" marB="458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1"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A</a:t>
                      </a:r>
                      <a:r>
                        <a:rPr kumimoji="1" lang="en-US" altLang="zh-CN" sz="2800" b="1" i="1"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rPr>
                        <a:t>n</a:t>
                      </a:r>
                      <a:endParaRPr kumimoji="1" lang="en-US" altLang="zh-CN" sz="2800" b="1" i="1"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T="45881" marB="458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0323">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1"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U</a:t>
                      </a:r>
                      <a:r>
                        <a:rPr kumimoji="1" lang="en-US" altLang="zh-CN" sz="2800" b="1" i="1"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rPr>
                        <a:t>1</a:t>
                      </a:r>
                      <a:endParaRPr kumimoji="1" lang="en-US" altLang="zh-CN" sz="2800" b="1" i="1"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T="45881" marB="458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8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T="45881" marB="458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881" marB="458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881" marB="458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881" marB="458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571917">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1"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a:t>
                      </a:r>
                      <a:endParaRPr kumimoji="1" lang="en-US" altLang="zh-CN" sz="2800" b="1" i="1"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marT="45881" marB="458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881" marB="458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881" marB="458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1" lang="en-US" altLang="zh-CN" sz="2800" b="1" i="1"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ij</a:t>
                      </a:r>
                      <a:endParaRPr kumimoji="1" lang="en-US" altLang="zh-CN" sz="2800" b="1" i="1"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T="45881" marB="458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881" marB="458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571917">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800" b="1" i="1"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U</a:t>
                      </a:r>
                      <a:r>
                        <a:rPr kumimoji="1" lang="en-US" altLang="zh-CN" sz="2800" b="1" i="1"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rPr>
                        <a:t>k</a:t>
                      </a:r>
                      <a:endParaRPr kumimoji="1" lang="en-US" altLang="zh-CN" sz="2800" b="1" i="1"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T="45881" marB="458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8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T="45881" marB="458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881" marB="458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881" marB="458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8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T="45881" marB="458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8435" name="Rectangle 2"/>
          <p:cNvSpPr>
            <a:spLocks noGrp="1"/>
          </p:cNvSpPr>
          <p:nvPr>
            <p:ph idx="1"/>
          </p:nvPr>
        </p:nvSpPr>
        <p:spPr>
          <a:xfrm>
            <a:off x="381000" y="838200"/>
            <a:ext cx="8610600" cy="5638800"/>
          </a:xfrm>
          <a:ln/>
        </p:spPr>
        <p:txBody>
          <a:bodyPr vert="horz" wrap="square" lIns="91440" tIns="45720" rIns="91440" bIns="45720" anchor="t" anchorCtr="0"/>
          <a:p>
            <a:pPr eaLnBrk="1" hangingPunct="1">
              <a:lnSpc>
                <a:spcPct val="130000"/>
              </a:lnSpc>
              <a:spcBef>
                <a:spcPct val="0"/>
              </a:spcBef>
            </a:pPr>
            <a:r>
              <a:rPr lang="zh-CN" altLang="en-US" sz="2800" dirty="0"/>
              <a:t>算法</a:t>
            </a:r>
            <a:r>
              <a:rPr lang="en-US" altLang="zh-CN" sz="2800" dirty="0"/>
              <a:t>6.2(</a:t>
            </a:r>
            <a:r>
              <a:rPr lang="zh-CN" altLang="en-US" sz="2800" dirty="0"/>
              <a:t>续</a:t>
            </a:r>
            <a:r>
              <a:rPr lang="en-US" altLang="zh-CN" sz="2800" dirty="0"/>
              <a:t>)</a:t>
            </a:r>
            <a:endParaRPr lang="en-US" altLang="zh-CN" dirty="0"/>
          </a:p>
          <a:p>
            <a:pPr eaLnBrk="1" hangingPunct="1">
              <a:lnSpc>
                <a:spcPct val="110000"/>
              </a:lnSpc>
              <a:buNone/>
            </a:pPr>
            <a:r>
              <a:rPr lang="en-US" altLang="zh-CN" dirty="0"/>
              <a:t>	2.  </a:t>
            </a:r>
            <a:r>
              <a:rPr lang="zh-CN" altLang="en-US" dirty="0"/>
              <a:t>对</a:t>
            </a:r>
            <a:r>
              <a:rPr lang="en-US" altLang="zh-CN" dirty="0"/>
              <a:t>F</a:t>
            </a:r>
            <a:r>
              <a:rPr lang="zh-CN" altLang="en-US" dirty="0"/>
              <a:t>中每一个函数依赖</a:t>
            </a:r>
            <a:r>
              <a:rPr lang="en-US" altLang="zh-CN" dirty="0"/>
              <a:t>X</a:t>
            </a:r>
            <a:r>
              <a:rPr lang="en-US" altLang="zh-CN" dirty="0">
                <a:sym typeface="Symbol" panose="05050102010706020507" pitchFamily="18" charset="2"/>
              </a:rPr>
              <a:t></a:t>
            </a:r>
            <a:r>
              <a:rPr lang="en-US" altLang="zh-CN" dirty="0"/>
              <a:t>Y</a:t>
            </a:r>
            <a:r>
              <a:rPr lang="zh-CN" altLang="en-US" dirty="0"/>
              <a:t>，若</a:t>
            </a:r>
            <a:r>
              <a:rPr lang="en-US" altLang="zh-CN" dirty="0"/>
              <a:t>TB</a:t>
            </a:r>
            <a:r>
              <a:rPr lang="zh-CN" altLang="en-US" dirty="0"/>
              <a:t>中存在元组	</a:t>
            </a:r>
            <a:r>
              <a:rPr lang="en-US" altLang="zh-CN" dirty="0"/>
              <a:t>t</a:t>
            </a:r>
            <a:r>
              <a:rPr lang="en-US" altLang="zh-CN" baseline="-16000" dirty="0"/>
              <a:t>1</a:t>
            </a:r>
            <a:r>
              <a:rPr lang="zh-CN" altLang="en-US" dirty="0"/>
              <a:t>，</a:t>
            </a:r>
            <a:r>
              <a:rPr lang="en-US" altLang="zh-CN" dirty="0"/>
              <a:t>t</a:t>
            </a:r>
            <a:r>
              <a:rPr lang="en-US" altLang="zh-CN" baseline="-16000" dirty="0"/>
              <a:t>2</a:t>
            </a:r>
            <a:r>
              <a:rPr lang="zh-CN" altLang="en-US" dirty="0"/>
              <a:t>，使得</a:t>
            </a:r>
            <a:r>
              <a:rPr lang="en-US" altLang="zh-CN" dirty="0"/>
              <a:t>t</a:t>
            </a:r>
            <a:r>
              <a:rPr lang="en-US" altLang="zh-CN" baseline="-16000" dirty="0"/>
              <a:t>1</a:t>
            </a:r>
            <a:r>
              <a:rPr lang="en-US" altLang="zh-CN" dirty="0"/>
              <a:t>[X]=t</a:t>
            </a:r>
            <a:r>
              <a:rPr lang="en-US" altLang="zh-CN" baseline="-16000" dirty="0"/>
              <a:t>2</a:t>
            </a:r>
            <a:r>
              <a:rPr lang="en-US" altLang="zh-CN" dirty="0"/>
              <a:t>[X]</a:t>
            </a:r>
            <a:r>
              <a:rPr lang="zh-CN" altLang="en-US" dirty="0"/>
              <a:t>，</a:t>
            </a:r>
            <a:r>
              <a:rPr lang="en-US" altLang="zh-CN" dirty="0"/>
              <a:t>t</a:t>
            </a:r>
            <a:r>
              <a:rPr lang="en-US" altLang="zh-CN" baseline="-16000" dirty="0"/>
              <a:t>1</a:t>
            </a:r>
            <a:r>
              <a:rPr lang="en-US" altLang="zh-CN" dirty="0"/>
              <a:t>[Y]</a:t>
            </a:r>
            <a:r>
              <a:rPr lang="en-US" altLang="zh-CN" dirty="0">
                <a:ea typeface="仿宋_GB2312" pitchFamily="49" charset="-122"/>
              </a:rPr>
              <a:t>≠</a:t>
            </a:r>
            <a:r>
              <a:rPr lang="en-US" altLang="zh-CN" dirty="0"/>
              <a:t>t</a:t>
            </a:r>
            <a:r>
              <a:rPr lang="en-US" altLang="zh-CN" baseline="-16000" dirty="0"/>
              <a:t>2</a:t>
            </a:r>
            <a:r>
              <a:rPr lang="en-US" altLang="zh-CN" dirty="0"/>
              <a:t>[Y]</a:t>
            </a:r>
            <a:r>
              <a:rPr lang="zh-CN" altLang="en-US" dirty="0"/>
              <a:t>，则对每一个</a:t>
            </a:r>
            <a:r>
              <a:rPr lang="en-US" altLang="zh-CN" dirty="0">
                <a:sym typeface="Symbol" panose="05050102010706020507" pitchFamily="18" charset="2"/>
              </a:rPr>
              <a:t>A</a:t>
            </a:r>
            <a:r>
              <a:rPr lang="en-US" altLang="zh-CN" baseline="-16000" dirty="0"/>
              <a:t>i</a:t>
            </a:r>
            <a:r>
              <a:rPr lang="en-US" altLang="zh-CN" dirty="0"/>
              <a:t> </a:t>
            </a:r>
            <a:r>
              <a:rPr lang="en-US" altLang="zh-CN" dirty="0">
                <a:sym typeface="Symbol" panose="05050102010706020507" pitchFamily="18" charset="2"/>
              </a:rPr>
              <a:t> Y</a:t>
            </a:r>
            <a:r>
              <a:rPr lang="zh-CN" altLang="en-US" dirty="0">
                <a:sym typeface="Symbol" panose="05050102010706020507" pitchFamily="18" charset="2"/>
              </a:rPr>
              <a:t>：</a:t>
            </a:r>
            <a:endParaRPr lang="zh-CN" altLang="en-US" dirty="0"/>
          </a:p>
          <a:p>
            <a:pPr lvl="1" eaLnBrk="1" hangingPunct="1">
              <a:lnSpc>
                <a:spcPct val="125000"/>
              </a:lnSpc>
              <a:buNone/>
            </a:pPr>
            <a:r>
              <a:rPr lang="zh-CN" altLang="en-US" dirty="0"/>
              <a:t>①若</a:t>
            </a:r>
            <a:r>
              <a:rPr lang="en-US" altLang="zh-CN" dirty="0"/>
              <a:t>t</a:t>
            </a:r>
            <a:r>
              <a:rPr lang="en-US" altLang="zh-CN" baseline="-16000" dirty="0"/>
              <a:t>1</a:t>
            </a:r>
            <a:r>
              <a:rPr lang="en-US" altLang="zh-CN" dirty="0"/>
              <a:t>[</a:t>
            </a:r>
            <a:r>
              <a:rPr lang="en-US" altLang="zh-CN" dirty="0">
                <a:sym typeface="Symbol" panose="05050102010706020507" pitchFamily="18" charset="2"/>
              </a:rPr>
              <a:t>A</a:t>
            </a:r>
            <a:r>
              <a:rPr lang="en-US" altLang="zh-CN" baseline="-16000" dirty="0"/>
              <a:t>i</a:t>
            </a:r>
            <a:r>
              <a:rPr lang="en-US" altLang="zh-CN" dirty="0"/>
              <a:t>],t</a:t>
            </a:r>
            <a:r>
              <a:rPr lang="en-US" altLang="zh-CN" baseline="-16000" dirty="0"/>
              <a:t>2</a:t>
            </a:r>
            <a:r>
              <a:rPr lang="en-US" altLang="zh-CN" dirty="0"/>
              <a:t>[</a:t>
            </a:r>
            <a:r>
              <a:rPr lang="en-US" altLang="zh-CN" dirty="0">
                <a:sym typeface="Symbol" panose="05050102010706020507" pitchFamily="18" charset="2"/>
              </a:rPr>
              <a:t>A</a:t>
            </a:r>
            <a:r>
              <a:rPr lang="en-US" altLang="zh-CN" baseline="-16000" dirty="0"/>
              <a:t>i</a:t>
            </a:r>
            <a:r>
              <a:rPr lang="en-US" altLang="zh-CN" dirty="0"/>
              <a:t>]</a:t>
            </a:r>
            <a:r>
              <a:rPr lang="zh-CN" altLang="en-US" dirty="0"/>
              <a:t>中有一个等于</a:t>
            </a:r>
            <a:r>
              <a:rPr lang="en-US" altLang="zh-CN" dirty="0"/>
              <a:t>a</a:t>
            </a:r>
            <a:r>
              <a:rPr lang="en-US" altLang="zh-CN" baseline="-16000" dirty="0"/>
              <a:t>j</a:t>
            </a:r>
            <a:r>
              <a:rPr lang="en-US" altLang="zh-CN" dirty="0"/>
              <a:t>,</a:t>
            </a:r>
            <a:r>
              <a:rPr lang="zh-CN" altLang="en-US" dirty="0"/>
              <a:t>则另一个也改为</a:t>
            </a:r>
            <a:r>
              <a:rPr lang="en-US" altLang="zh-CN" dirty="0"/>
              <a:t>a</a:t>
            </a:r>
            <a:r>
              <a:rPr lang="en-US" altLang="zh-CN" baseline="-16000" dirty="0"/>
              <a:t>j </a:t>
            </a:r>
            <a:r>
              <a:rPr lang="zh-CN" altLang="en-US" dirty="0"/>
              <a:t>；</a:t>
            </a:r>
            <a:endParaRPr lang="zh-CN" altLang="en-US" dirty="0"/>
          </a:p>
          <a:p>
            <a:pPr lvl="1" eaLnBrk="1" hangingPunct="1">
              <a:lnSpc>
                <a:spcPct val="125000"/>
              </a:lnSpc>
              <a:buNone/>
            </a:pPr>
            <a:r>
              <a:rPr lang="zh-CN" altLang="en-US" dirty="0"/>
              <a:t>②若①不成立</a:t>
            </a:r>
            <a:r>
              <a:rPr lang="en-US" altLang="zh-CN" dirty="0"/>
              <a:t>,</a:t>
            </a:r>
            <a:r>
              <a:rPr lang="zh-CN" altLang="en-US" dirty="0"/>
              <a:t>则取</a:t>
            </a:r>
            <a:r>
              <a:rPr lang="en-US" altLang="zh-CN" dirty="0"/>
              <a:t>t</a:t>
            </a:r>
            <a:r>
              <a:rPr lang="en-US" altLang="zh-CN" baseline="-16000" dirty="0"/>
              <a:t>1</a:t>
            </a:r>
            <a:r>
              <a:rPr lang="en-US" altLang="zh-CN" dirty="0"/>
              <a:t>[</a:t>
            </a:r>
            <a:r>
              <a:rPr lang="en-US" altLang="zh-CN" dirty="0">
                <a:sym typeface="Symbol" panose="05050102010706020507" pitchFamily="18" charset="2"/>
              </a:rPr>
              <a:t>A</a:t>
            </a:r>
            <a:r>
              <a:rPr lang="en-US" altLang="zh-CN" baseline="-16000" dirty="0"/>
              <a:t>i</a:t>
            </a:r>
            <a:r>
              <a:rPr lang="en-US" altLang="zh-CN" dirty="0"/>
              <a:t>] = t</a:t>
            </a:r>
            <a:r>
              <a:rPr lang="en-US" altLang="zh-CN" baseline="-16000" dirty="0"/>
              <a:t>2</a:t>
            </a:r>
            <a:r>
              <a:rPr lang="en-US" altLang="zh-CN" dirty="0"/>
              <a:t>[</a:t>
            </a:r>
            <a:r>
              <a:rPr lang="en-US" altLang="zh-CN" dirty="0">
                <a:sym typeface="Symbol" panose="05050102010706020507" pitchFamily="18" charset="2"/>
              </a:rPr>
              <a:t>A</a:t>
            </a:r>
            <a:r>
              <a:rPr lang="en-US" altLang="zh-CN" baseline="-16000" dirty="0"/>
              <a:t>i</a:t>
            </a:r>
            <a:r>
              <a:rPr lang="en-US" altLang="zh-CN" dirty="0"/>
              <a:t>] (t</a:t>
            </a:r>
            <a:r>
              <a:rPr lang="en-US" altLang="zh-CN" baseline="-16000" dirty="0"/>
              <a:t>2</a:t>
            </a:r>
            <a:r>
              <a:rPr lang="zh-CN" altLang="en-US" dirty="0"/>
              <a:t>的行号小于</a:t>
            </a:r>
            <a:r>
              <a:rPr lang="en-US" altLang="zh-CN" dirty="0"/>
              <a:t>t</a:t>
            </a:r>
            <a:r>
              <a:rPr lang="en-US" altLang="zh-CN" baseline="-16000" dirty="0"/>
              <a:t>1</a:t>
            </a:r>
            <a:r>
              <a:rPr lang="en-US" altLang="zh-CN" dirty="0"/>
              <a:t>)</a:t>
            </a:r>
            <a:r>
              <a:rPr lang="zh-CN" altLang="en-US" dirty="0"/>
              <a:t>。</a:t>
            </a:r>
            <a:endParaRPr lang="zh-CN" altLang="en-US" dirty="0"/>
          </a:p>
          <a:p>
            <a:pPr lvl="1" eaLnBrk="1" hangingPunct="1">
              <a:lnSpc>
                <a:spcPct val="125000"/>
              </a:lnSpc>
              <a:buNone/>
            </a:pPr>
            <a:r>
              <a:rPr lang="en-US" altLang="zh-CN" dirty="0"/>
              <a:t>(</a:t>
            </a:r>
            <a:r>
              <a:rPr lang="zh-CN" altLang="en-US" dirty="0"/>
              <a:t>即</a:t>
            </a:r>
            <a:r>
              <a:rPr lang="en-US" altLang="zh-CN" i="1" dirty="0"/>
              <a:t>A</a:t>
            </a:r>
            <a:r>
              <a:rPr lang="en-US" altLang="zh-CN" i="1" baseline="-25000" dirty="0"/>
              <a:t>i</a:t>
            </a:r>
            <a:r>
              <a:rPr lang="zh-CN" altLang="en-US" dirty="0"/>
              <a:t>列上，只要其中有一个</a:t>
            </a:r>
            <a:r>
              <a:rPr lang="en-US" altLang="zh-CN" i="1" dirty="0"/>
              <a:t>a</a:t>
            </a:r>
            <a:r>
              <a:rPr lang="en-US" altLang="zh-CN" i="1" baseline="-25000" dirty="0"/>
              <a:t>j</a:t>
            </a:r>
            <a:r>
              <a:rPr lang="zh-CN" altLang="en-US" dirty="0"/>
              <a:t>则全改为</a:t>
            </a:r>
            <a:r>
              <a:rPr lang="en-US" altLang="zh-CN" i="1" dirty="0"/>
              <a:t>a</a:t>
            </a:r>
            <a:r>
              <a:rPr lang="en-US" altLang="zh-CN" i="1" baseline="-25000" dirty="0"/>
              <a:t>j</a:t>
            </a:r>
            <a:r>
              <a:rPr lang="en-US" altLang="zh-CN" dirty="0"/>
              <a:t>,</a:t>
            </a:r>
            <a:r>
              <a:rPr lang="zh-CN" altLang="en-US" dirty="0"/>
              <a:t>否则全改为行号最小的那一列的值</a:t>
            </a:r>
            <a:r>
              <a:rPr lang="en-US" altLang="zh-CN" dirty="0"/>
              <a:t>)</a:t>
            </a:r>
            <a:endParaRPr lang="en-US" altLang="zh-CN" dirty="0"/>
          </a:p>
        </p:txBody>
      </p:sp>
      <p:sp>
        <p:nvSpPr>
          <p:cNvPr id="18436"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9459" name="Rectangle 2"/>
          <p:cNvSpPr>
            <a:spLocks noGrp="1"/>
          </p:cNvSpPr>
          <p:nvPr>
            <p:ph idx="1"/>
          </p:nvPr>
        </p:nvSpPr>
        <p:spPr>
          <a:xfrm>
            <a:off x="381000" y="838200"/>
            <a:ext cx="8610600" cy="5638800"/>
          </a:xfrm>
          <a:ln/>
        </p:spPr>
        <p:txBody>
          <a:bodyPr vert="horz" wrap="square" lIns="91440" tIns="45720" rIns="91440" bIns="45720" anchor="t" anchorCtr="0"/>
          <a:p>
            <a:pPr eaLnBrk="1" hangingPunct="1">
              <a:lnSpc>
                <a:spcPct val="130000"/>
              </a:lnSpc>
              <a:spcBef>
                <a:spcPct val="0"/>
              </a:spcBef>
            </a:pPr>
            <a:r>
              <a:rPr lang="zh-CN" altLang="en-US" sz="2800" dirty="0"/>
              <a:t>算法</a:t>
            </a:r>
            <a:r>
              <a:rPr lang="en-US" altLang="zh-CN" sz="2800" dirty="0"/>
              <a:t>6.2(</a:t>
            </a:r>
            <a:r>
              <a:rPr lang="zh-CN" altLang="en-US" sz="2800" dirty="0"/>
              <a:t>续</a:t>
            </a:r>
            <a:r>
              <a:rPr lang="en-US" altLang="zh-CN" sz="2800" dirty="0"/>
              <a:t>)</a:t>
            </a:r>
            <a:endParaRPr lang="en-US" altLang="zh-CN" dirty="0"/>
          </a:p>
          <a:p>
            <a:pPr eaLnBrk="1" hangingPunct="1">
              <a:lnSpc>
                <a:spcPct val="110000"/>
              </a:lnSpc>
              <a:buNone/>
            </a:pPr>
            <a:r>
              <a:rPr lang="en-US" altLang="zh-CN" dirty="0"/>
              <a:t>	3. </a:t>
            </a:r>
            <a:r>
              <a:rPr lang="zh-CN" altLang="en-US" dirty="0"/>
              <a:t>反复执行</a:t>
            </a:r>
            <a:r>
              <a:rPr lang="en-US" altLang="zh-CN" dirty="0"/>
              <a:t>2, </a:t>
            </a:r>
            <a:r>
              <a:rPr lang="zh-CN" altLang="en-US" dirty="0"/>
              <a:t>直至：</a:t>
            </a:r>
            <a:endParaRPr lang="zh-CN" altLang="en-US" dirty="0"/>
          </a:p>
          <a:p>
            <a:pPr lvl="1" eaLnBrk="1" hangingPunct="1">
              <a:lnSpc>
                <a:spcPct val="125000"/>
              </a:lnSpc>
              <a:buNone/>
            </a:pPr>
            <a:r>
              <a:rPr lang="zh-CN" altLang="en-US" dirty="0"/>
              <a:t>①</a:t>
            </a:r>
            <a:r>
              <a:rPr lang="en-US" altLang="zh-CN" dirty="0"/>
              <a:t>TB</a:t>
            </a:r>
            <a:r>
              <a:rPr lang="zh-CN" altLang="en-US" dirty="0"/>
              <a:t>中出现一行为</a:t>
            </a:r>
            <a:r>
              <a:rPr lang="en-US" altLang="zh-CN" i="1" dirty="0"/>
              <a:t>a</a:t>
            </a:r>
            <a:r>
              <a:rPr lang="en-US" altLang="zh-CN" i="1" baseline="-16000" dirty="0"/>
              <a:t>1</a:t>
            </a:r>
            <a:r>
              <a:rPr lang="en-US" altLang="zh-CN" i="1" dirty="0"/>
              <a:t>, a</a:t>
            </a:r>
            <a:r>
              <a:rPr lang="en-US" altLang="zh-CN" i="1" baseline="-16000" dirty="0"/>
              <a:t>2 </a:t>
            </a:r>
            <a:r>
              <a:rPr lang="en-US" altLang="zh-CN" i="1" dirty="0"/>
              <a:t>, … ,</a:t>
            </a:r>
            <a:r>
              <a:rPr lang="en-US" altLang="zh-CN" i="1" baseline="-16000" dirty="0"/>
              <a:t> </a:t>
            </a:r>
            <a:r>
              <a:rPr lang="en-US" altLang="zh-CN" i="1" dirty="0"/>
              <a:t>a</a:t>
            </a:r>
            <a:r>
              <a:rPr lang="en-US" altLang="zh-CN" i="1" baseline="-16000" dirty="0"/>
              <a:t>n</a:t>
            </a:r>
            <a:r>
              <a:rPr lang="en-US" altLang="zh-CN" baseline="-16000" dirty="0"/>
              <a:t> </a:t>
            </a:r>
            <a:r>
              <a:rPr lang="zh-CN" altLang="en-US" dirty="0"/>
              <a:t>的一行。 </a:t>
            </a:r>
            <a:endParaRPr lang="zh-CN" altLang="en-US" dirty="0"/>
          </a:p>
          <a:p>
            <a:pPr lvl="1" eaLnBrk="1" hangingPunct="1">
              <a:lnSpc>
                <a:spcPct val="125000"/>
              </a:lnSpc>
              <a:buNone/>
            </a:pPr>
            <a:r>
              <a:rPr lang="zh-CN" altLang="en-US" dirty="0"/>
              <a:t>②</a:t>
            </a:r>
            <a:r>
              <a:rPr lang="en-US" altLang="zh-CN" dirty="0"/>
              <a:t>TB</a:t>
            </a:r>
            <a:r>
              <a:rPr lang="zh-CN" altLang="en-US" dirty="0"/>
              <a:t>不再发生变化</a:t>
            </a:r>
            <a:r>
              <a:rPr lang="en-US" altLang="zh-CN" dirty="0"/>
              <a:t>, </a:t>
            </a:r>
            <a:r>
              <a:rPr lang="zh-CN" altLang="en-US" dirty="0"/>
              <a:t>且没有一行为</a:t>
            </a:r>
            <a:r>
              <a:rPr lang="en-US" altLang="zh-CN" i="1" dirty="0"/>
              <a:t>a</a:t>
            </a:r>
            <a:r>
              <a:rPr lang="en-US" altLang="zh-CN" i="1" baseline="-16000" dirty="0"/>
              <a:t>1</a:t>
            </a:r>
            <a:r>
              <a:rPr lang="en-US" altLang="zh-CN" i="1" dirty="0"/>
              <a:t>, … ,</a:t>
            </a:r>
            <a:r>
              <a:rPr lang="en-US" altLang="zh-CN" i="1" baseline="-16000" dirty="0"/>
              <a:t> </a:t>
            </a:r>
            <a:r>
              <a:rPr lang="en-US" altLang="zh-CN" i="1" dirty="0"/>
              <a:t>a</a:t>
            </a:r>
            <a:r>
              <a:rPr lang="en-US" altLang="zh-CN" i="1" baseline="-16000" dirty="0"/>
              <a:t>n</a:t>
            </a:r>
            <a:r>
              <a:rPr lang="zh-CN" altLang="en-US" dirty="0"/>
              <a:t>。</a:t>
            </a:r>
            <a:endParaRPr lang="zh-CN" altLang="en-US" dirty="0"/>
          </a:p>
          <a:p>
            <a:pPr lvl="1" eaLnBrk="1" hangingPunct="1">
              <a:lnSpc>
                <a:spcPct val="125000"/>
              </a:lnSpc>
              <a:buNone/>
            </a:pPr>
            <a:r>
              <a:rPr lang="zh-CN" altLang="en-US" dirty="0"/>
              <a:t>在①情况下，</a:t>
            </a:r>
            <a:r>
              <a:rPr lang="zh-CN" altLang="en-US" i="1" dirty="0"/>
              <a:t> </a:t>
            </a:r>
            <a:r>
              <a:rPr lang="zh-CN" altLang="en-US" i="1" dirty="0">
                <a:sym typeface="Symbol" panose="05050102010706020507" pitchFamily="18" charset="2"/>
              </a:rPr>
              <a:t></a:t>
            </a:r>
            <a:r>
              <a:rPr lang="zh-CN" altLang="en-US" dirty="0"/>
              <a:t>为无损分解，否则为有损分解。</a:t>
            </a:r>
            <a:endParaRPr lang="zh-CN" altLang="en-US" dirty="0"/>
          </a:p>
          <a:p>
            <a:pPr eaLnBrk="1" hangingPunct="1">
              <a:lnSpc>
                <a:spcPct val="125000"/>
              </a:lnSpc>
            </a:pPr>
            <a:r>
              <a:rPr lang="zh-CN" altLang="en-US" dirty="0"/>
              <a:t>定理</a:t>
            </a:r>
            <a:r>
              <a:rPr lang="en-US" altLang="zh-CN" dirty="0"/>
              <a:t>6.4  </a:t>
            </a:r>
            <a:r>
              <a:rPr lang="en-US" altLang="zh-CN" i="1" dirty="0">
                <a:solidFill>
                  <a:schemeClr val="tx1"/>
                </a:solidFill>
                <a:sym typeface="Symbol" panose="05050102010706020507" pitchFamily="18" charset="2"/>
              </a:rPr>
              <a:t></a:t>
            </a:r>
            <a:r>
              <a:rPr lang="zh-CN" altLang="en-US" dirty="0">
                <a:solidFill>
                  <a:schemeClr val="tx1"/>
                </a:solidFill>
              </a:rPr>
              <a:t>为无损连接的分解当且仅当是算法</a:t>
            </a:r>
            <a:r>
              <a:rPr lang="en-US" altLang="zh-CN" dirty="0">
                <a:solidFill>
                  <a:schemeClr val="tx1"/>
                </a:solidFill>
              </a:rPr>
              <a:t>5.2</a:t>
            </a:r>
            <a:r>
              <a:rPr lang="zh-CN" altLang="en-US" dirty="0">
                <a:solidFill>
                  <a:schemeClr val="tx1"/>
                </a:solidFill>
              </a:rPr>
              <a:t>终止时</a:t>
            </a:r>
            <a:r>
              <a:rPr lang="en-US" altLang="zh-CN" dirty="0">
                <a:solidFill>
                  <a:schemeClr val="tx1"/>
                </a:solidFill>
              </a:rPr>
              <a:t>,</a:t>
            </a:r>
            <a:r>
              <a:rPr lang="zh-CN" altLang="en-US" dirty="0">
                <a:solidFill>
                  <a:schemeClr val="tx1"/>
                </a:solidFill>
              </a:rPr>
              <a:t>表中有一行为</a:t>
            </a:r>
            <a:r>
              <a:rPr lang="en-US" altLang="zh-CN" i="1" dirty="0">
                <a:solidFill>
                  <a:schemeClr val="tx1"/>
                </a:solidFill>
              </a:rPr>
              <a:t>a</a:t>
            </a:r>
            <a:r>
              <a:rPr lang="en-US" altLang="zh-CN" i="1" baseline="-16000" dirty="0">
                <a:solidFill>
                  <a:schemeClr val="tx1"/>
                </a:solidFill>
              </a:rPr>
              <a:t>1</a:t>
            </a:r>
            <a:r>
              <a:rPr lang="en-US" altLang="zh-CN" i="1" dirty="0">
                <a:solidFill>
                  <a:schemeClr val="tx1"/>
                </a:solidFill>
              </a:rPr>
              <a:t>, … ,</a:t>
            </a:r>
            <a:r>
              <a:rPr lang="en-US" altLang="zh-CN" i="1" baseline="-16000" dirty="0">
                <a:solidFill>
                  <a:schemeClr val="tx1"/>
                </a:solidFill>
              </a:rPr>
              <a:t> </a:t>
            </a:r>
            <a:r>
              <a:rPr lang="en-US" altLang="zh-CN" i="1" dirty="0">
                <a:solidFill>
                  <a:schemeClr val="tx1"/>
                </a:solidFill>
              </a:rPr>
              <a:t>a</a:t>
            </a:r>
            <a:r>
              <a:rPr lang="en-US" altLang="zh-CN" i="1" baseline="-16000" dirty="0">
                <a:solidFill>
                  <a:schemeClr val="tx1"/>
                </a:solidFill>
              </a:rPr>
              <a:t>n</a:t>
            </a:r>
            <a:r>
              <a:rPr lang="zh-CN" altLang="en-US" dirty="0">
                <a:solidFill>
                  <a:schemeClr val="tx1"/>
                </a:solidFill>
              </a:rPr>
              <a:t>。</a:t>
            </a:r>
            <a:endParaRPr lang="zh-CN" altLang="en-US" dirty="0">
              <a:solidFill>
                <a:schemeClr val="tx1"/>
              </a:solidFill>
            </a:endParaRPr>
          </a:p>
        </p:txBody>
      </p:sp>
      <p:sp>
        <p:nvSpPr>
          <p:cNvPr id="19460"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0483" name="Rectangle 2"/>
          <p:cNvSpPr>
            <a:spLocks noGrp="1"/>
          </p:cNvSpPr>
          <p:nvPr>
            <p:ph idx="1"/>
          </p:nvPr>
        </p:nvSpPr>
        <p:spPr>
          <a:xfrm>
            <a:off x="381000" y="838200"/>
            <a:ext cx="8610600" cy="1143000"/>
          </a:xfrm>
          <a:ln/>
        </p:spPr>
        <p:txBody>
          <a:bodyPr vert="horz" wrap="square" lIns="91440" tIns="45720" rIns="91440" bIns="45720" anchor="t" anchorCtr="0"/>
          <a:p>
            <a:pPr eaLnBrk="1" hangingPunct="1">
              <a:lnSpc>
                <a:spcPct val="110000"/>
              </a:lnSpc>
              <a:spcBef>
                <a:spcPct val="0"/>
              </a:spcBef>
              <a:buNone/>
            </a:pPr>
            <a:r>
              <a:rPr lang="en-US" altLang="zh-CN" sz="2800" dirty="0">
                <a:solidFill>
                  <a:schemeClr val="tx1"/>
                </a:solidFill>
              </a:rPr>
              <a:t>【</a:t>
            </a:r>
            <a:r>
              <a:rPr lang="zh-CN" altLang="en-US" sz="2800" dirty="0">
                <a:solidFill>
                  <a:schemeClr val="tx1"/>
                </a:solidFill>
              </a:rPr>
              <a:t>例</a:t>
            </a:r>
            <a:r>
              <a:rPr lang="en-US" altLang="zh-CN" sz="2800" dirty="0">
                <a:solidFill>
                  <a:schemeClr val="tx1"/>
                </a:solidFill>
              </a:rPr>
              <a:t>6.17】 </a:t>
            </a:r>
            <a:r>
              <a:rPr lang="en-US" altLang="zh-CN" sz="2400" dirty="0">
                <a:solidFill>
                  <a:schemeClr val="tx1"/>
                </a:solidFill>
              </a:rPr>
              <a:t>U={A,B,C,D,E}, F={AB</a:t>
            </a:r>
            <a:r>
              <a:rPr lang="en-US" altLang="zh-CN" sz="2400" dirty="0">
                <a:solidFill>
                  <a:schemeClr val="tx1"/>
                </a:solidFill>
                <a:sym typeface="Symbol" panose="05050102010706020507" pitchFamily="18" charset="2"/>
              </a:rPr>
              <a:t></a:t>
            </a:r>
            <a:r>
              <a:rPr lang="en-US" altLang="zh-CN" sz="2400" dirty="0">
                <a:solidFill>
                  <a:schemeClr val="tx1"/>
                </a:solidFill>
              </a:rPr>
              <a:t>C, C</a:t>
            </a:r>
            <a:r>
              <a:rPr lang="en-US" altLang="zh-CN" sz="2400" dirty="0">
                <a:solidFill>
                  <a:schemeClr val="tx1"/>
                </a:solidFill>
                <a:sym typeface="Symbol" panose="05050102010706020507" pitchFamily="18" charset="2"/>
              </a:rPr>
              <a:t>D, DE},	 ={(A, B, C), (C, D), (D, E)}</a:t>
            </a:r>
            <a:r>
              <a:rPr lang="zh-CN" altLang="en-US" sz="2400" dirty="0">
                <a:solidFill>
                  <a:schemeClr val="tx1"/>
                </a:solidFill>
                <a:sym typeface="Symbol" panose="05050102010706020507" pitchFamily="18" charset="2"/>
              </a:rPr>
              <a:t>，判断分解是否具有无损连接性。</a:t>
            </a:r>
            <a:endParaRPr lang="zh-CN" altLang="en-US" sz="2800" dirty="0">
              <a:solidFill>
                <a:schemeClr val="tx1"/>
              </a:solidFill>
            </a:endParaRPr>
          </a:p>
        </p:txBody>
      </p:sp>
      <p:sp>
        <p:nvSpPr>
          <p:cNvPr id="20484"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graphicFrame>
        <p:nvGraphicFramePr>
          <p:cNvPr id="23556" name="Group 4"/>
          <p:cNvGraphicFramePr>
            <a:graphicFrameLocks noGrp="1"/>
          </p:cNvGraphicFramePr>
          <p:nvPr/>
        </p:nvGraphicFramePr>
        <p:xfrm>
          <a:off x="395288" y="2286000"/>
          <a:ext cx="4024313" cy="1927225"/>
        </p:xfrm>
        <a:graphic>
          <a:graphicData uri="http://schemas.openxmlformats.org/drawingml/2006/table">
            <a:tbl>
              <a:tblPr/>
              <a:tblGrid>
                <a:gridCol w="976124"/>
                <a:gridCol w="609638"/>
                <a:gridCol w="609638"/>
                <a:gridCol w="609638"/>
                <a:gridCol w="609638"/>
                <a:gridCol w="609638"/>
              </a:tblGrid>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A</a:t>
                      </a:r>
                      <a:endPar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B</a:t>
                      </a:r>
                      <a:endPar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C</a:t>
                      </a:r>
                      <a:endPar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D</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E</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ABC</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rPr>
                        <a:t>1</a:t>
                      </a:r>
                      <a:endPar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rPr>
                        <a:t>2</a:t>
                      </a:r>
                      <a:endPar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rPr>
                        <a:t>3</a:t>
                      </a:r>
                      <a:endPar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14</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15</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CD</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rPr>
                        <a:t>21</a:t>
                      </a:r>
                      <a:endPar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rPr>
                        <a:t>22</a:t>
                      </a:r>
                      <a:endPar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rPr>
                        <a:t>3</a:t>
                      </a:r>
                      <a:endPar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4</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25</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DE</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rPr>
                        <a:t>31</a:t>
                      </a:r>
                      <a:endPar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rPr>
                        <a:t>32</a:t>
                      </a:r>
                      <a:endPar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rPr>
                        <a:t>33</a:t>
                      </a:r>
                      <a:endPar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4</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dirty="0" smtClean="0">
                          <a:ln>
                            <a:noFill/>
                          </a:ln>
                          <a:solidFill>
                            <a:schemeClr val="tx1"/>
                          </a:solidFill>
                          <a:effectLst/>
                          <a:latin typeface="Times New Roman" panose="02020603050405020304" pitchFamily="18" charset="0"/>
                          <a:ea typeface="宋体" panose="02010600030101010101" pitchFamily="2" charset="-122"/>
                        </a:rPr>
                        <a:t>5</a:t>
                      </a:r>
                      <a:endParaRPr kumimoji="1" lang="en-US" altLang="zh-CN" sz="2500" b="1" i="0" u="none" strike="noStrike" cap="none" normalizeH="0" baseline="-16000" dirty="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23593" name="Group 41"/>
          <p:cNvGraphicFramePr>
            <a:graphicFrameLocks noGrp="1"/>
          </p:cNvGraphicFramePr>
          <p:nvPr/>
        </p:nvGraphicFramePr>
        <p:xfrm>
          <a:off x="4716463" y="2286000"/>
          <a:ext cx="4046538" cy="1927225"/>
        </p:xfrm>
        <a:graphic>
          <a:graphicData uri="http://schemas.openxmlformats.org/drawingml/2006/table">
            <a:tbl>
              <a:tblPr/>
              <a:tblGrid>
                <a:gridCol w="998874"/>
                <a:gridCol w="609533"/>
                <a:gridCol w="609533"/>
                <a:gridCol w="609533"/>
                <a:gridCol w="609533"/>
                <a:gridCol w="609533"/>
              </a:tblGrid>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C</a:t>
                      </a:r>
                      <a:endPar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D</a:t>
                      </a:r>
                      <a:endPar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E</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ABC</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1</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2</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rPr>
                        <a:t>3</a:t>
                      </a:r>
                      <a:endPar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rPr>
                        <a:t>14</a:t>
                      </a:r>
                      <a:endPar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15</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CD</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21</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22</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rPr>
                        <a:t>3</a:t>
                      </a:r>
                      <a:endPar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rPr>
                        <a:t>4</a:t>
                      </a:r>
                      <a:endPar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25</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DE</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31</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32</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rPr>
                        <a:t>33</a:t>
                      </a:r>
                      <a:endPar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rPr>
                        <a:t>4</a:t>
                      </a:r>
                      <a:endPar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dirty="0" smtClean="0">
                          <a:ln>
                            <a:noFill/>
                          </a:ln>
                          <a:solidFill>
                            <a:schemeClr val="tx1"/>
                          </a:solidFill>
                          <a:effectLst/>
                          <a:latin typeface="Times New Roman" panose="02020603050405020304" pitchFamily="18" charset="0"/>
                          <a:ea typeface="宋体" panose="02010600030101010101" pitchFamily="2" charset="-122"/>
                        </a:rPr>
                        <a:t>5</a:t>
                      </a:r>
                      <a:endParaRPr kumimoji="1" lang="en-US" altLang="zh-CN" sz="2500" b="1" i="0" u="none" strike="noStrike" cap="none" normalizeH="0" baseline="-16000" dirty="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0555" name="Rectangle 78"/>
          <p:cNvSpPr/>
          <p:nvPr/>
        </p:nvSpPr>
        <p:spPr>
          <a:xfrm>
            <a:off x="4953000" y="1752600"/>
            <a:ext cx="3429000" cy="609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742950" lvl="1" indent="-285750" algn="ctr" eaLnBrk="1" hangingPunct="1">
              <a:lnSpc>
                <a:spcPct val="120000"/>
              </a:lnSpc>
              <a:buClr>
                <a:schemeClr val="bg2"/>
              </a:buClr>
              <a:buSzPct val="50000"/>
              <a:buFont typeface="Monotype Sorts" pitchFamily="2" charset="2"/>
              <a:buNone/>
            </a:pPr>
            <a:r>
              <a:rPr lang="en-US" altLang="zh-CN" b="0" dirty="0">
                <a:ea typeface="楷体_GB2312" pitchFamily="49" charset="-122"/>
              </a:rPr>
              <a:t>AB</a:t>
            </a:r>
            <a:r>
              <a:rPr lang="en-US" altLang="zh-CN" b="0" dirty="0">
                <a:ea typeface="楷体_GB2312" pitchFamily="49" charset="-122"/>
                <a:sym typeface="Symbol" panose="05050102010706020507" pitchFamily="18" charset="2"/>
              </a:rPr>
              <a:t></a:t>
            </a:r>
            <a:r>
              <a:rPr lang="en-US" altLang="zh-CN" b="0" dirty="0">
                <a:ea typeface="楷体_GB2312" pitchFamily="49" charset="-122"/>
              </a:rPr>
              <a:t>C</a:t>
            </a:r>
            <a:endParaRPr lang="en-US" altLang="zh-CN" b="0" dirty="0">
              <a:ea typeface="楷体_GB2312" pitchFamily="49" charset="-122"/>
            </a:endParaRPr>
          </a:p>
        </p:txBody>
      </p:sp>
      <p:graphicFrame>
        <p:nvGraphicFramePr>
          <p:cNvPr id="23631" name="Group 79"/>
          <p:cNvGraphicFramePr>
            <a:graphicFrameLocks noGrp="1"/>
          </p:cNvGraphicFramePr>
          <p:nvPr/>
        </p:nvGraphicFramePr>
        <p:xfrm>
          <a:off x="395288" y="4730750"/>
          <a:ext cx="4024313" cy="1927225"/>
        </p:xfrm>
        <a:graphic>
          <a:graphicData uri="http://schemas.openxmlformats.org/drawingml/2006/table">
            <a:tbl>
              <a:tblPr/>
              <a:tblGrid>
                <a:gridCol w="976124"/>
                <a:gridCol w="609638"/>
                <a:gridCol w="609638"/>
                <a:gridCol w="609638"/>
                <a:gridCol w="609638"/>
                <a:gridCol w="609638"/>
              </a:tblGrid>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D</a:t>
                      </a:r>
                      <a:endPar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E</a:t>
                      </a:r>
                      <a:endPar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ABC</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1</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2</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3</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rPr>
                        <a:t>4</a:t>
                      </a:r>
                      <a:endPar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rPr>
                        <a:t>15</a:t>
                      </a:r>
                      <a:endPar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CD</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21</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22</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3</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rPr>
                        <a:t>4</a:t>
                      </a:r>
                      <a:endPar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rPr>
                        <a:t>25</a:t>
                      </a:r>
                      <a:endPar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DE</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31</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32</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33</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rPr>
                        <a:t>4</a:t>
                      </a:r>
                      <a:endPar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dirty="0" smtClean="0">
                          <a:ln>
                            <a:noFill/>
                          </a:ln>
                          <a:solidFill>
                            <a:srgbClr val="FF3300"/>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dirty="0" smtClean="0">
                          <a:ln>
                            <a:noFill/>
                          </a:ln>
                          <a:solidFill>
                            <a:srgbClr val="FF3300"/>
                          </a:solidFill>
                          <a:effectLst/>
                          <a:latin typeface="Times New Roman" panose="02020603050405020304" pitchFamily="18" charset="0"/>
                          <a:ea typeface="宋体" panose="02010600030101010101" pitchFamily="2" charset="-122"/>
                        </a:rPr>
                        <a:t>5</a:t>
                      </a:r>
                      <a:endParaRPr kumimoji="1" lang="en-US" altLang="zh-CN" sz="2500" b="1" i="0" u="none" strike="noStrike" cap="none" normalizeH="0" baseline="-16000" dirty="0" smtClean="0">
                        <a:ln>
                          <a:noFill/>
                        </a:ln>
                        <a:solidFill>
                          <a:srgbClr val="FF3300"/>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0591" name="Rectangle 116"/>
          <p:cNvSpPr/>
          <p:nvPr/>
        </p:nvSpPr>
        <p:spPr>
          <a:xfrm>
            <a:off x="533400" y="4114800"/>
            <a:ext cx="3429000" cy="609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742950" lvl="1" indent="-285750" algn="ctr" eaLnBrk="1" hangingPunct="1">
              <a:lnSpc>
                <a:spcPct val="120000"/>
              </a:lnSpc>
              <a:buClr>
                <a:schemeClr val="bg2"/>
              </a:buClr>
              <a:buSzPct val="50000"/>
              <a:buFont typeface="Monotype Sorts" pitchFamily="2" charset="2"/>
              <a:buNone/>
            </a:pPr>
            <a:r>
              <a:rPr lang="en-US" altLang="zh-CN" b="0" dirty="0">
                <a:ea typeface="楷体_GB2312" pitchFamily="49" charset="-122"/>
              </a:rPr>
              <a:t>C</a:t>
            </a:r>
            <a:r>
              <a:rPr lang="en-US" altLang="zh-CN" b="0" dirty="0">
                <a:ea typeface="楷体_GB2312" pitchFamily="49" charset="-122"/>
                <a:sym typeface="Symbol" panose="05050102010706020507" pitchFamily="18" charset="2"/>
              </a:rPr>
              <a:t>D</a:t>
            </a:r>
            <a:endParaRPr lang="en-US" altLang="zh-CN" b="0" dirty="0">
              <a:ea typeface="楷体_GB2312" pitchFamily="49" charset="-122"/>
            </a:endParaRPr>
          </a:p>
        </p:txBody>
      </p:sp>
      <p:graphicFrame>
        <p:nvGraphicFramePr>
          <p:cNvPr id="23669" name="Group 117"/>
          <p:cNvGraphicFramePr>
            <a:graphicFrameLocks noGrp="1"/>
          </p:cNvGraphicFramePr>
          <p:nvPr/>
        </p:nvGraphicFramePr>
        <p:xfrm>
          <a:off x="4643438" y="4724400"/>
          <a:ext cx="4119563" cy="1927225"/>
        </p:xfrm>
        <a:graphic>
          <a:graphicData uri="http://schemas.openxmlformats.org/drawingml/2006/table">
            <a:tbl>
              <a:tblPr/>
              <a:tblGrid>
                <a:gridCol w="1071141"/>
                <a:gridCol w="609684"/>
                <a:gridCol w="609684"/>
                <a:gridCol w="609684"/>
                <a:gridCol w="609684"/>
                <a:gridCol w="609684"/>
              </a:tblGrid>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53" marR="91453"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D</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E</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53" marR="91453"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ABC</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53" marR="91453"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rPr>
                        <a:t>1</a:t>
                      </a:r>
                      <a:endPar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rPr>
                        <a:t>2</a:t>
                      </a:r>
                      <a:endPar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rPr>
                        <a:t>3</a:t>
                      </a:r>
                      <a:endPar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rPr>
                        <a:t>4</a:t>
                      </a:r>
                      <a:endPar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rPr>
                        <a:t>5</a:t>
                      </a:r>
                      <a:endPar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53" marR="91453"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CD</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53" marR="91453"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21</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22</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3</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4</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5</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53" marR="91453"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DE</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53" marR="91453"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31</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32</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33</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4</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53" marR="91453"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dirty="0" smtClean="0">
                          <a:ln>
                            <a:noFill/>
                          </a:ln>
                          <a:solidFill>
                            <a:schemeClr val="tx1"/>
                          </a:solidFill>
                          <a:effectLst/>
                          <a:latin typeface="Times New Roman" panose="02020603050405020304" pitchFamily="18" charset="0"/>
                          <a:ea typeface="宋体" panose="02010600030101010101" pitchFamily="2" charset="-122"/>
                        </a:rPr>
                        <a:t>5</a:t>
                      </a:r>
                      <a:endParaRPr kumimoji="1" lang="en-US" altLang="zh-CN" sz="2500" b="1" i="0" u="none" strike="noStrike" cap="none" normalizeH="0" baseline="-16000" dirty="0" smtClean="0">
                        <a:ln>
                          <a:noFill/>
                        </a:ln>
                        <a:solidFill>
                          <a:schemeClr val="tx1"/>
                        </a:solidFill>
                        <a:effectLst/>
                        <a:latin typeface="Times New Roman" panose="02020603050405020304" pitchFamily="18" charset="0"/>
                        <a:ea typeface="宋体" panose="02010600030101010101" pitchFamily="2" charset="-122"/>
                      </a:endParaRPr>
                    </a:p>
                  </a:txBody>
                  <a:tcPr marL="91453" marR="91453"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0627" name="Rectangle 154"/>
          <p:cNvSpPr/>
          <p:nvPr/>
        </p:nvSpPr>
        <p:spPr>
          <a:xfrm>
            <a:off x="5029200" y="4114800"/>
            <a:ext cx="3429000" cy="609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742950" lvl="1" indent="-285750" algn="ctr" eaLnBrk="1" hangingPunct="1">
              <a:lnSpc>
                <a:spcPct val="120000"/>
              </a:lnSpc>
              <a:buClr>
                <a:schemeClr val="bg2"/>
              </a:buClr>
              <a:buSzPct val="50000"/>
              <a:buFont typeface="Monotype Sorts" pitchFamily="2" charset="2"/>
              <a:buNone/>
            </a:pPr>
            <a:r>
              <a:rPr lang="en-US" altLang="zh-CN" b="0" dirty="0">
                <a:ea typeface="楷体_GB2312" pitchFamily="49" charset="-122"/>
                <a:sym typeface="Symbol" panose="05050102010706020507" pitchFamily="18" charset="2"/>
              </a:rPr>
              <a:t>DE</a:t>
            </a:r>
            <a:endParaRPr lang="en-US" altLang="zh-CN" b="0" dirty="0">
              <a:ea typeface="楷体_GB2312" pitchFamily="49" charset="-122"/>
            </a:endParaRPr>
          </a:p>
        </p:txBody>
      </p:sp>
      <p:sp>
        <p:nvSpPr>
          <p:cNvPr id="20628" name="Oval 155"/>
          <p:cNvSpPr/>
          <p:nvPr/>
        </p:nvSpPr>
        <p:spPr>
          <a:xfrm>
            <a:off x="3263900" y="5219700"/>
            <a:ext cx="457200" cy="457200"/>
          </a:xfrm>
          <a:prstGeom prst="ellipse">
            <a:avLst/>
          </a:prstGeom>
          <a:noFill/>
          <a:ln w="28575" cap="flat" cmpd="sng">
            <a:solidFill>
              <a:srgbClr val="CC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None/>
            </a:pPr>
            <a:endParaRPr lang="en-US" altLang="zh-CN" sz="1400" b="0" dirty="0">
              <a:solidFill>
                <a:schemeClr val="tx1"/>
              </a:solidFill>
            </a:endParaRPr>
          </a:p>
        </p:txBody>
      </p:sp>
      <p:sp>
        <p:nvSpPr>
          <p:cNvPr id="20629" name="Oval 156"/>
          <p:cNvSpPr/>
          <p:nvPr/>
        </p:nvSpPr>
        <p:spPr>
          <a:xfrm>
            <a:off x="8188325" y="5205413"/>
            <a:ext cx="457200" cy="457200"/>
          </a:xfrm>
          <a:prstGeom prst="ellipse">
            <a:avLst/>
          </a:prstGeom>
          <a:noFill/>
          <a:ln w="28575" cap="flat" cmpd="sng">
            <a:solidFill>
              <a:srgbClr val="CC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None/>
            </a:pPr>
            <a:endParaRPr lang="en-US" altLang="zh-CN" sz="1400" b="0" dirty="0">
              <a:solidFill>
                <a:schemeClr val="tx1"/>
              </a:solidFill>
            </a:endParaRPr>
          </a:p>
        </p:txBody>
      </p:sp>
      <p:sp>
        <p:nvSpPr>
          <p:cNvPr id="20630" name="Oval 157"/>
          <p:cNvSpPr/>
          <p:nvPr/>
        </p:nvSpPr>
        <p:spPr>
          <a:xfrm>
            <a:off x="8204200" y="5702300"/>
            <a:ext cx="457200" cy="457200"/>
          </a:xfrm>
          <a:prstGeom prst="ellipse">
            <a:avLst/>
          </a:prstGeom>
          <a:noFill/>
          <a:ln w="28575" cap="flat" cmpd="sng">
            <a:solidFill>
              <a:srgbClr val="CC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None/>
            </a:pPr>
            <a:endParaRPr lang="en-US" altLang="zh-CN" sz="1400" b="0" dirty="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1507" name="Rectangle 2"/>
          <p:cNvSpPr>
            <a:spLocks noGrp="1"/>
          </p:cNvSpPr>
          <p:nvPr>
            <p:ph idx="1"/>
          </p:nvPr>
        </p:nvSpPr>
        <p:spPr>
          <a:xfrm>
            <a:off x="381000" y="838200"/>
            <a:ext cx="8610600" cy="1143000"/>
          </a:xfrm>
          <a:ln/>
        </p:spPr>
        <p:txBody>
          <a:bodyPr vert="horz" wrap="square" lIns="91440" tIns="45720" rIns="91440" bIns="45720" anchor="t" anchorCtr="0"/>
          <a:p>
            <a:pPr eaLnBrk="1" hangingPunct="1">
              <a:lnSpc>
                <a:spcPct val="110000"/>
              </a:lnSpc>
              <a:spcBef>
                <a:spcPct val="0"/>
              </a:spcBef>
              <a:buNone/>
            </a:pPr>
            <a:r>
              <a:rPr lang="en-US" altLang="zh-CN" sz="2800" dirty="0">
                <a:solidFill>
                  <a:schemeClr val="tx1"/>
                </a:solidFill>
              </a:rPr>
              <a:t>【</a:t>
            </a:r>
            <a:r>
              <a:rPr lang="zh-CN" altLang="en-US" sz="2800" dirty="0">
                <a:solidFill>
                  <a:schemeClr val="tx1"/>
                </a:solidFill>
              </a:rPr>
              <a:t>别解</a:t>
            </a:r>
            <a:r>
              <a:rPr lang="en-US" altLang="zh-CN" sz="2800" dirty="0">
                <a:solidFill>
                  <a:schemeClr val="tx1"/>
                </a:solidFill>
              </a:rPr>
              <a:t>】   </a:t>
            </a:r>
            <a:r>
              <a:rPr lang="en-US" altLang="zh-CN" sz="2400" dirty="0">
                <a:solidFill>
                  <a:schemeClr val="tx1"/>
                </a:solidFill>
              </a:rPr>
              <a:t>U={A,B,C,D,E}, F={AB</a:t>
            </a:r>
            <a:r>
              <a:rPr lang="en-US" altLang="zh-CN" sz="2400" dirty="0">
                <a:solidFill>
                  <a:schemeClr val="tx1"/>
                </a:solidFill>
                <a:sym typeface="Symbol" panose="05050102010706020507" pitchFamily="18" charset="2"/>
              </a:rPr>
              <a:t></a:t>
            </a:r>
            <a:r>
              <a:rPr lang="en-US" altLang="zh-CN" sz="2400" dirty="0">
                <a:solidFill>
                  <a:schemeClr val="tx1"/>
                </a:solidFill>
              </a:rPr>
              <a:t>C, C</a:t>
            </a:r>
            <a:r>
              <a:rPr lang="en-US" altLang="zh-CN" sz="2400" dirty="0">
                <a:solidFill>
                  <a:schemeClr val="tx1"/>
                </a:solidFill>
                <a:sym typeface="Symbol" panose="05050102010706020507" pitchFamily="18" charset="2"/>
              </a:rPr>
              <a:t>D, DE},	 ={(A, B, C), (C, D), (D, E)}</a:t>
            </a:r>
            <a:r>
              <a:rPr lang="zh-CN" altLang="en-US" sz="2400" dirty="0">
                <a:solidFill>
                  <a:schemeClr val="tx1"/>
                </a:solidFill>
                <a:sym typeface="Symbol" panose="05050102010706020507" pitchFamily="18" charset="2"/>
              </a:rPr>
              <a:t>，判断分解是否具有无损连接性。</a:t>
            </a:r>
            <a:endParaRPr lang="zh-CN" altLang="en-US" sz="2800" dirty="0">
              <a:solidFill>
                <a:schemeClr val="tx1"/>
              </a:solidFill>
            </a:endParaRPr>
          </a:p>
        </p:txBody>
      </p:sp>
      <p:sp>
        <p:nvSpPr>
          <p:cNvPr id="21508"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graphicFrame>
        <p:nvGraphicFramePr>
          <p:cNvPr id="24580" name="Group 4"/>
          <p:cNvGraphicFramePr>
            <a:graphicFrameLocks noGrp="1"/>
          </p:cNvGraphicFramePr>
          <p:nvPr/>
        </p:nvGraphicFramePr>
        <p:xfrm>
          <a:off x="323850" y="2286000"/>
          <a:ext cx="4095750" cy="1927225"/>
        </p:xfrm>
        <a:graphic>
          <a:graphicData uri="http://schemas.openxmlformats.org/drawingml/2006/table">
            <a:tbl>
              <a:tblPr/>
              <a:tblGrid>
                <a:gridCol w="1047990"/>
                <a:gridCol w="609552"/>
                <a:gridCol w="609552"/>
                <a:gridCol w="609552"/>
                <a:gridCol w="609552"/>
                <a:gridCol w="609552"/>
              </a:tblGrid>
              <a:tr h="481388">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91433" marR="91433" marT="48139" marB="4813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A</a:t>
                      </a:r>
                      <a:endPar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marL="91433" marR="91433" marT="48139" marB="481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B</a:t>
                      </a:r>
                      <a:endPar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marL="91433" marR="91433" marT="48139" marB="481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C</a:t>
                      </a:r>
                      <a:endPar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L="91433" marR="91433" marT="48139" marB="481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D</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3" marR="91433" marT="48139" marB="481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E</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3" marR="91433" marT="48139" marB="4813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306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ABC</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3" marR="91433" marT="48139" marB="4813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rPr>
                        <a:t>1</a:t>
                      </a:r>
                      <a:endPar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L="91433" marR="91433" marT="48139" marB="481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rPr>
                        <a:t>2</a:t>
                      </a:r>
                      <a:endPar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L="91433" marR="91433" marT="48139" marB="481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rPr>
                        <a:t>3</a:t>
                      </a:r>
                      <a:endPar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33" marR="91433" marT="48139" marB="481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3" marR="91433" marT="48139" marB="481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3" marR="91433" marT="48139" marB="4813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481388">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CD</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3" marR="91433" marT="48139" marB="4813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L="91433" marR="91433" marT="48139" marB="481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L="91433" marR="91433" marT="48139" marB="481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rPr>
                        <a:t>3</a:t>
                      </a:r>
                      <a:endPar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33" marR="91433" marT="48139" marB="481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4</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3" marR="91433" marT="48139" marB="481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3" marR="91433" marT="48139" marB="4813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81388">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DE</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3" marR="91433" marT="48139" marB="4813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L="91433" marR="91433" marT="48139" marB="481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L="91433" marR="91433" marT="48139" marB="481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33" marR="91433" marT="48139" marB="481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4</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3" marR="91433" marT="48139" marB="4813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dirty="0" smtClean="0">
                          <a:ln>
                            <a:noFill/>
                          </a:ln>
                          <a:solidFill>
                            <a:schemeClr val="tx1"/>
                          </a:solidFill>
                          <a:effectLst/>
                          <a:latin typeface="Times New Roman" panose="02020603050405020304" pitchFamily="18" charset="0"/>
                          <a:ea typeface="宋体" panose="02010600030101010101" pitchFamily="2" charset="-122"/>
                        </a:rPr>
                        <a:t>5</a:t>
                      </a:r>
                      <a:endParaRPr kumimoji="1" lang="en-US" altLang="zh-CN" sz="2500" b="1" i="0" u="none" strike="noStrike" cap="none" normalizeH="0" baseline="-16000" dirty="0" smtClean="0">
                        <a:ln>
                          <a:noFill/>
                        </a:ln>
                        <a:solidFill>
                          <a:schemeClr val="tx1"/>
                        </a:solidFill>
                        <a:effectLst/>
                        <a:latin typeface="Times New Roman" panose="02020603050405020304" pitchFamily="18" charset="0"/>
                        <a:ea typeface="宋体" panose="02010600030101010101" pitchFamily="2" charset="-122"/>
                      </a:endParaRPr>
                    </a:p>
                  </a:txBody>
                  <a:tcPr marL="91433" marR="91433" marT="48139" marB="4813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24617" name="Group 41"/>
          <p:cNvGraphicFramePr>
            <a:graphicFrameLocks noGrp="1"/>
          </p:cNvGraphicFramePr>
          <p:nvPr/>
        </p:nvGraphicFramePr>
        <p:xfrm>
          <a:off x="4716463" y="2286000"/>
          <a:ext cx="4046538" cy="1927225"/>
        </p:xfrm>
        <a:graphic>
          <a:graphicData uri="http://schemas.openxmlformats.org/drawingml/2006/table">
            <a:tbl>
              <a:tblPr/>
              <a:tblGrid>
                <a:gridCol w="998874"/>
                <a:gridCol w="609533"/>
                <a:gridCol w="609533"/>
                <a:gridCol w="609533"/>
                <a:gridCol w="609533"/>
                <a:gridCol w="609533"/>
              </a:tblGrid>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C</a:t>
                      </a:r>
                      <a:endPar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D</a:t>
                      </a:r>
                      <a:endPar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E</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ABC</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1</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2</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rPr>
                        <a:t>3</a:t>
                      </a:r>
                      <a:endPar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dirty="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CD</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rPr>
                        <a:t>3</a:t>
                      </a:r>
                      <a:endPar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rPr>
                        <a:t>4</a:t>
                      </a:r>
                      <a:endPar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DE</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rPr>
                        <a:t>4</a:t>
                      </a:r>
                      <a:endPar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dirty="0" smtClean="0">
                          <a:ln>
                            <a:noFill/>
                          </a:ln>
                          <a:solidFill>
                            <a:schemeClr val="tx1"/>
                          </a:solidFill>
                          <a:effectLst/>
                          <a:latin typeface="Times New Roman" panose="02020603050405020304" pitchFamily="18" charset="0"/>
                          <a:ea typeface="宋体" panose="02010600030101010101" pitchFamily="2" charset="-122"/>
                        </a:rPr>
                        <a:t>5</a:t>
                      </a:r>
                      <a:endParaRPr kumimoji="1" lang="en-US" altLang="zh-CN" sz="2500" b="1" i="0" u="none" strike="noStrike" cap="none" normalizeH="0" baseline="-16000" dirty="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1579" name="Rectangle 78"/>
          <p:cNvSpPr/>
          <p:nvPr/>
        </p:nvSpPr>
        <p:spPr>
          <a:xfrm>
            <a:off x="4953000" y="1752600"/>
            <a:ext cx="3429000" cy="609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742950" lvl="1" indent="-285750" algn="ctr" eaLnBrk="1" hangingPunct="1">
              <a:lnSpc>
                <a:spcPct val="120000"/>
              </a:lnSpc>
              <a:buClr>
                <a:schemeClr val="bg2"/>
              </a:buClr>
              <a:buSzPct val="50000"/>
              <a:buFont typeface="Monotype Sorts" pitchFamily="2" charset="2"/>
              <a:buNone/>
            </a:pPr>
            <a:r>
              <a:rPr lang="en-US" altLang="zh-CN" b="0" dirty="0">
                <a:ea typeface="楷体_GB2312" pitchFamily="49" charset="-122"/>
              </a:rPr>
              <a:t>AB</a:t>
            </a:r>
            <a:r>
              <a:rPr lang="en-US" altLang="zh-CN" b="0" dirty="0">
                <a:ea typeface="楷体_GB2312" pitchFamily="49" charset="-122"/>
                <a:sym typeface="Symbol" panose="05050102010706020507" pitchFamily="18" charset="2"/>
              </a:rPr>
              <a:t></a:t>
            </a:r>
            <a:r>
              <a:rPr lang="en-US" altLang="zh-CN" b="0" dirty="0">
                <a:ea typeface="楷体_GB2312" pitchFamily="49" charset="-122"/>
              </a:rPr>
              <a:t>C</a:t>
            </a:r>
            <a:endParaRPr lang="en-US" altLang="zh-CN" b="0" dirty="0">
              <a:ea typeface="楷体_GB2312" pitchFamily="49" charset="-122"/>
            </a:endParaRPr>
          </a:p>
        </p:txBody>
      </p:sp>
      <p:graphicFrame>
        <p:nvGraphicFramePr>
          <p:cNvPr id="24655" name="Group 79"/>
          <p:cNvGraphicFramePr>
            <a:graphicFrameLocks noGrp="1"/>
          </p:cNvGraphicFramePr>
          <p:nvPr/>
        </p:nvGraphicFramePr>
        <p:xfrm>
          <a:off x="395288" y="4730750"/>
          <a:ext cx="4024313" cy="1927225"/>
        </p:xfrm>
        <a:graphic>
          <a:graphicData uri="http://schemas.openxmlformats.org/drawingml/2006/table">
            <a:tbl>
              <a:tblPr/>
              <a:tblGrid>
                <a:gridCol w="976124"/>
                <a:gridCol w="609638"/>
                <a:gridCol w="609638"/>
                <a:gridCol w="609638"/>
                <a:gridCol w="609638"/>
                <a:gridCol w="609638"/>
              </a:tblGrid>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D</a:t>
                      </a:r>
                      <a:endPar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E</a:t>
                      </a:r>
                      <a:endPar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ABC</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1</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2</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3</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rPr>
                        <a:t>4</a:t>
                      </a:r>
                      <a:endPar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CD</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3</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rPr>
                        <a:t>4</a:t>
                      </a:r>
                      <a:endPar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DE</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rPr>
                        <a:t>4</a:t>
                      </a:r>
                      <a:endParaRPr kumimoji="1" lang="en-US" altLang="zh-CN" sz="25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dirty="0" smtClean="0">
                          <a:ln>
                            <a:noFill/>
                          </a:ln>
                          <a:solidFill>
                            <a:srgbClr val="FF3300"/>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dirty="0" smtClean="0">
                          <a:ln>
                            <a:noFill/>
                          </a:ln>
                          <a:solidFill>
                            <a:srgbClr val="FF3300"/>
                          </a:solidFill>
                          <a:effectLst/>
                          <a:latin typeface="Times New Roman" panose="02020603050405020304" pitchFamily="18" charset="0"/>
                          <a:ea typeface="宋体" panose="02010600030101010101" pitchFamily="2" charset="-122"/>
                        </a:rPr>
                        <a:t>5</a:t>
                      </a:r>
                      <a:endParaRPr kumimoji="1" lang="en-US" altLang="zh-CN" sz="2500" b="1" i="0" u="none" strike="noStrike" cap="none" normalizeH="0" baseline="-16000" dirty="0" smtClean="0">
                        <a:ln>
                          <a:noFill/>
                        </a:ln>
                        <a:solidFill>
                          <a:srgbClr val="FF3300"/>
                        </a:solidFill>
                        <a:effectLst/>
                        <a:latin typeface="Times New Roman" panose="02020603050405020304" pitchFamily="18" charset="0"/>
                        <a:ea typeface="宋体" panose="02010600030101010101" pitchFamily="2" charset="-122"/>
                      </a:endParaRPr>
                    </a:p>
                  </a:txBody>
                  <a:tcPr marL="91446" marR="91446"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1615" name="Rectangle 116"/>
          <p:cNvSpPr/>
          <p:nvPr/>
        </p:nvSpPr>
        <p:spPr>
          <a:xfrm>
            <a:off x="533400" y="4114800"/>
            <a:ext cx="3429000" cy="609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742950" lvl="1" indent="-285750" algn="ctr" eaLnBrk="1" hangingPunct="1">
              <a:lnSpc>
                <a:spcPct val="120000"/>
              </a:lnSpc>
              <a:buClr>
                <a:schemeClr val="bg2"/>
              </a:buClr>
              <a:buSzPct val="50000"/>
              <a:buFont typeface="Monotype Sorts" pitchFamily="2" charset="2"/>
              <a:buNone/>
            </a:pPr>
            <a:r>
              <a:rPr lang="en-US" altLang="zh-CN" b="0" dirty="0">
                <a:ea typeface="楷体_GB2312" pitchFamily="49" charset="-122"/>
              </a:rPr>
              <a:t>C</a:t>
            </a:r>
            <a:r>
              <a:rPr lang="en-US" altLang="zh-CN" b="0" dirty="0">
                <a:ea typeface="楷体_GB2312" pitchFamily="49" charset="-122"/>
                <a:sym typeface="Symbol" panose="05050102010706020507" pitchFamily="18" charset="2"/>
              </a:rPr>
              <a:t>D</a:t>
            </a:r>
            <a:endParaRPr lang="en-US" altLang="zh-CN" b="0" dirty="0">
              <a:ea typeface="楷体_GB2312" pitchFamily="49" charset="-122"/>
            </a:endParaRPr>
          </a:p>
        </p:txBody>
      </p:sp>
      <p:graphicFrame>
        <p:nvGraphicFramePr>
          <p:cNvPr id="24693" name="Group 117"/>
          <p:cNvGraphicFramePr>
            <a:graphicFrameLocks noGrp="1"/>
          </p:cNvGraphicFramePr>
          <p:nvPr/>
        </p:nvGraphicFramePr>
        <p:xfrm>
          <a:off x="4716463" y="4724400"/>
          <a:ext cx="4046538" cy="1927225"/>
        </p:xfrm>
        <a:graphic>
          <a:graphicData uri="http://schemas.openxmlformats.org/drawingml/2006/table">
            <a:tbl>
              <a:tblPr/>
              <a:tblGrid>
                <a:gridCol w="998874"/>
                <a:gridCol w="609533"/>
                <a:gridCol w="609533"/>
                <a:gridCol w="609533"/>
                <a:gridCol w="609533"/>
                <a:gridCol w="609533"/>
              </a:tblGrid>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D</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E</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ABC</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rPr>
                        <a:t>1</a:t>
                      </a:r>
                      <a:endPar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rPr>
                        <a:t>2</a:t>
                      </a:r>
                      <a:endPar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rPr>
                        <a:t>3</a:t>
                      </a:r>
                      <a:endPar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rPr>
                        <a:t>4</a:t>
                      </a:r>
                      <a:endPar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rgbClr val="FF3300"/>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rPr>
                        <a:t>5</a:t>
                      </a:r>
                      <a:endParaRPr kumimoji="1" lang="en-US" altLang="zh-CN" sz="25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CD</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3</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4</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5</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81806">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DE</a:t>
                      </a:r>
                      <a:endPar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4</a:t>
                      </a:r>
                      <a:endParaRPr kumimoji="1" lang="en-US" altLang="zh-CN" sz="25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25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2500" b="1" i="0" u="none" strike="noStrike" cap="none" normalizeH="0" baseline="-16000" dirty="0" smtClean="0">
                          <a:ln>
                            <a:noFill/>
                          </a:ln>
                          <a:solidFill>
                            <a:schemeClr val="tx1"/>
                          </a:solidFill>
                          <a:effectLst/>
                          <a:latin typeface="Times New Roman" panose="02020603050405020304" pitchFamily="18" charset="0"/>
                          <a:ea typeface="宋体" panose="02010600030101010101" pitchFamily="2" charset="-122"/>
                        </a:rPr>
                        <a:t>5</a:t>
                      </a:r>
                      <a:endParaRPr kumimoji="1" lang="en-US" altLang="zh-CN" sz="2500" b="1" i="0" u="none" strike="noStrike" cap="none" normalizeH="0" baseline="-16000" dirty="0" smtClean="0">
                        <a:ln>
                          <a:noFill/>
                        </a:ln>
                        <a:solidFill>
                          <a:schemeClr val="tx1"/>
                        </a:solidFill>
                        <a:effectLst/>
                        <a:latin typeface="Times New Roman" panose="02020603050405020304" pitchFamily="18" charset="0"/>
                        <a:ea typeface="宋体" panose="02010600030101010101" pitchFamily="2" charset="-122"/>
                      </a:endParaRPr>
                    </a:p>
                  </a:txBody>
                  <a:tcPr marL="91430" marR="91430" marT="48181" marB="481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1651" name="Rectangle 154"/>
          <p:cNvSpPr/>
          <p:nvPr/>
        </p:nvSpPr>
        <p:spPr>
          <a:xfrm>
            <a:off x="5029200" y="4114800"/>
            <a:ext cx="3429000" cy="6096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742950" lvl="1" indent="-285750" algn="ctr" eaLnBrk="1" hangingPunct="1">
              <a:lnSpc>
                <a:spcPct val="120000"/>
              </a:lnSpc>
              <a:buClr>
                <a:schemeClr val="bg2"/>
              </a:buClr>
              <a:buSzPct val="50000"/>
              <a:buFont typeface="Monotype Sorts" pitchFamily="2" charset="2"/>
              <a:buNone/>
            </a:pPr>
            <a:r>
              <a:rPr lang="en-US" altLang="zh-CN" b="0" dirty="0">
                <a:ea typeface="楷体_GB2312" pitchFamily="49" charset="-122"/>
                <a:sym typeface="Symbol" panose="05050102010706020507" pitchFamily="18" charset="2"/>
              </a:rPr>
              <a:t>DE</a:t>
            </a:r>
            <a:endParaRPr lang="en-US" altLang="zh-CN" b="0" dirty="0">
              <a:ea typeface="楷体_GB2312" pitchFamily="49" charset="-122"/>
            </a:endParaRPr>
          </a:p>
        </p:txBody>
      </p:sp>
      <p:sp>
        <p:nvSpPr>
          <p:cNvPr id="21652" name="Oval 155"/>
          <p:cNvSpPr/>
          <p:nvPr/>
        </p:nvSpPr>
        <p:spPr>
          <a:xfrm>
            <a:off x="3263900" y="5219700"/>
            <a:ext cx="457200" cy="457200"/>
          </a:xfrm>
          <a:prstGeom prst="ellipse">
            <a:avLst/>
          </a:prstGeom>
          <a:noFill/>
          <a:ln w="28575" cap="flat" cmpd="sng">
            <a:solidFill>
              <a:srgbClr val="CC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None/>
            </a:pPr>
            <a:endParaRPr lang="en-US" altLang="zh-CN" sz="1400" b="0" dirty="0">
              <a:solidFill>
                <a:schemeClr val="tx1"/>
              </a:solidFill>
            </a:endParaRPr>
          </a:p>
        </p:txBody>
      </p:sp>
      <p:sp>
        <p:nvSpPr>
          <p:cNvPr id="21653" name="Oval 156"/>
          <p:cNvSpPr/>
          <p:nvPr/>
        </p:nvSpPr>
        <p:spPr>
          <a:xfrm>
            <a:off x="8188325" y="5205413"/>
            <a:ext cx="457200" cy="457200"/>
          </a:xfrm>
          <a:prstGeom prst="ellipse">
            <a:avLst/>
          </a:prstGeom>
          <a:noFill/>
          <a:ln w="28575" cap="flat" cmpd="sng">
            <a:solidFill>
              <a:srgbClr val="CC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None/>
            </a:pPr>
            <a:endParaRPr lang="en-US" altLang="zh-CN" sz="1400" b="0" dirty="0">
              <a:solidFill>
                <a:schemeClr val="tx1"/>
              </a:solidFill>
            </a:endParaRPr>
          </a:p>
        </p:txBody>
      </p:sp>
      <p:sp>
        <p:nvSpPr>
          <p:cNvPr id="21654" name="Oval 157"/>
          <p:cNvSpPr/>
          <p:nvPr/>
        </p:nvSpPr>
        <p:spPr>
          <a:xfrm>
            <a:off x="8204200" y="5702300"/>
            <a:ext cx="457200" cy="457200"/>
          </a:xfrm>
          <a:prstGeom prst="ellipse">
            <a:avLst/>
          </a:prstGeom>
          <a:noFill/>
          <a:ln w="28575" cap="flat" cmpd="sng">
            <a:solidFill>
              <a:srgbClr val="CC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None/>
            </a:pPr>
            <a:endParaRPr lang="en-US" altLang="zh-CN" sz="1400" b="0" dirty="0">
              <a:solidFill>
                <a:schemeClr val="tx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2531" name="Rectangle 2"/>
          <p:cNvSpPr>
            <a:spLocks noGrp="1"/>
          </p:cNvSpPr>
          <p:nvPr>
            <p:ph idx="1"/>
          </p:nvPr>
        </p:nvSpPr>
        <p:spPr>
          <a:xfrm>
            <a:off x="381000" y="838200"/>
            <a:ext cx="8610600" cy="1371600"/>
          </a:xfrm>
          <a:ln/>
        </p:spPr>
        <p:txBody>
          <a:bodyPr vert="horz" wrap="square" lIns="91440" tIns="45720" rIns="91440" bIns="45720" anchor="t" anchorCtr="0"/>
          <a:p>
            <a:pPr eaLnBrk="1" hangingPunct="1">
              <a:lnSpc>
                <a:spcPct val="110000"/>
              </a:lnSpc>
              <a:spcBef>
                <a:spcPct val="0"/>
              </a:spcBef>
              <a:buNone/>
            </a:pPr>
            <a:r>
              <a:rPr lang="en-US" altLang="zh-CN" sz="2800" dirty="0">
                <a:solidFill>
                  <a:schemeClr val="tx1"/>
                </a:solidFill>
              </a:rPr>
              <a:t>【</a:t>
            </a:r>
            <a:r>
              <a:rPr lang="zh-CN" altLang="en-US" sz="2800" dirty="0">
                <a:solidFill>
                  <a:schemeClr val="tx1"/>
                </a:solidFill>
              </a:rPr>
              <a:t>例</a:t>
            </a:r>
            <a:r>
              <a:rPr lang="en-US" altLang="zh-CN" sz="2800" dirty="0">
                <a:solidFill>
                  <a:schemeClr val="tx1"/>
                </a:solidFill>
              </a:rPr>
              <a:t>6.18】   U={A,B,C,D,E}, F={A</a:t>
            </a:r>
            <a:r>
              <a:rPr lang="en-US" altLang="zh-CN" sz="2800" dirty="0">
                <a:solidFill>
                  <a:schemeClr val="tx1"/>
                </a:solidFill>
                <a:sym typeface="Symbol" panose="05050102010706020507" pitchFamily="18" charset="2"/>
              </a:rPr>
              <a:t></a:t>
            </a:r>
            <a:r>
              <a:rPr lang="en-US" altLang="zh-CN" sz="2800" dirty="0">
                <a:solidFill>
                  <a:schemeClr val="tx1"/>
                </a:solidFill>
              </a:rPr>
              <a:t>C, B</a:t>
            </a:r>
            <a:r>
              <a:rPr lang="en-US" altLang="zh-CN" sz="2800" dirty="0">
                <a:solidFill>
                  <a:schemeClr val="tx1"/>
                </a:solidFill>
                <a:sym typeface="Symbol" panose="05050102010706020507" pitchFamily="18" charset="2"/>
              </a:rPr>
              <a:t></a:t>
            </a:r>
            <a:r>
              <a:rPr lang="en-US" altLang="zh-CN" sz="2800" dirty="0">
                <a:solidFill>
                  <a:schemeClr val="tx1"/>
                </a:solidFill>
              </a:rPr>
              <a:t>C, C</a:t>
            </a:r>
            <a:r>
              <a:rPr lang="en-US" altLang="zh-CN" sz="2800" dirty="0">
                <a:solidFill>
                  <a:schemeClr val="tx1"/>
                </a:solidFill>
                <a:sym typeface="Symbol" panose="05050102010706020507" pitchFamily="18" charset="2"/>
              </a:rPr>
              <a:t>D, DEC , CEA},  ={AD, AB, BE, CDE, AE}, </a:t>
            </a:r>
            <a:r>
              <a:rPr lang="zh-CN" altLang="en-US" sz="2800" dirty="0">
                <a:solidFill>
                  <a:schemeClr val="tx1"/>
                </a:solidFill>
                <a:sym typeface="Symbol" panose="05050102010706020507" pitchFamily="18" charset="2"/>
              </a:rPr>
              <a:t>判断分解是否无损连接。</a:t>
            </a:r>
            <a:endParaRPr lang="zh-CN" altLang="en-US" sz="2800" dirty="0">
              <a:solidFill>
                <a:schemeClr val="tx1"/>
              </a:solidFill>
              <a:sym typeface="Symbol" panose="05050102010706020507" pitchFamily="18" charset="2"/>
            </a:endParaRPr>
          </a:p>
        </p:txBody>
      </p:sp>
      <p:sp>
        <p:nvSpPr>
          <p:cNvPr id="22532"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graphicFrame>
        <p:nvGraphicFramePr>
          <p:cNvPr id="25604" name="Group 4"/>
          <p:cNvGraphicFramePr>
            <a:graphicFrameLocks noGrp="1"/>
          </p:cNvGraphicFramePr>
          <p:nvPr/>
        </p:nvGraphicFramePr>
        <p:xfrm>
          <a:off x="762000" y="2438400"/>
          <a:ext cx="5715000" cy="4038600"/>
        </p:xfrm>
        <a:graphic>
          <a:graphicData uri="http://schemas.openxmlformats.org/drawingml/2006/table">
            <a:tbl>
              <a:tblPr/>
              <a:tblGrid>
                <a:gridCol w="1231900"/>
                <a:gridCol w="896938"/>
                <a:gridCol w="896937"/>
                <a:gridCol w="896938"/>
                <a:gridCol w="895350"/>
                <a:gridCol w="896937"/>
              </a:tblGrid>
              <a:tr h="8001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endParaRPr kumimoji="1" lang="en-US" altLang="en-US"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endPar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a:t>
                      </a:r>
                      <a:endPar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endPar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D</a:t>
                      </a:r>
                      <a:endPar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E</a:t>
                      </a:r>
                      <a:endPar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77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AD</a:t>
                      </a:r>
                      <a:endPar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1</a:t>
                      </a:r>
                      <a:endPar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endParaRPr kumimoji="1" lang="en-US" altLang="en-US"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endParaRPr kumimoji="1" lang="en-US" altLang="en-US" sz="32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4</a:t>
                      </a:r>
                      <a:endPar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endParaRPr kumimoji="1" lang="en-US" altLang="en-US"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6477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AB</a:t>
                      </a:r>
                      <a:endPar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1</a:t>
                      </a:r>
                      <a:endPar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2</a:t>
                      </a:r>
                      <a:endPar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endParaRPr kumimoji="1" lang="en-US" altLang="en-US" sz="32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endParaRPr kumimoji="1" lang="en-US" altLang="en-US" sz="32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endParaRPr kumimoji="1" lang="en-US" altLang="en-US"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6477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BE</a:t>
                      </a:r>
                      <a:endPar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endParaRPr kumimoji="1" lang="en-US" altLang="en-US" sz="32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2</a:t>
                      </a:r>
                      <a:endPar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endParaRPr kumimoji="1" lang="en-US" altLang="en-US" sz="32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endParaRPr kumimoji="1" lang="en-US" altLang="en-US"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5</a:t>
                      </a:r>
                      <a:endPar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6477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CDE</a:t>
                      </a:r>
                      <a:endPar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endParaRPr kumimoji="1" lang="en-US" altLang="en-US" sz="32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endParaRPr kumimoji="1" lang="en-US" altLang="en-US" sz="32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3</a:t>
                      </a:r>
                      <a:endPar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4</a:t>
                      </a:r>
                      <a:endPar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5</a:t>
                      </a:r>
                      <a:endPar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647700">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AE</a:t>
                      </a:r>
                      <a:endPar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1</a:t>
                      </a:r>
                      <a:endPar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endParaRPr kumimoji="1" lang="en-US" altLang="en-US" sz="3200" b="1" i="0" u="none" strike="noStrike" cap="none" normalizeH="0" baseline="-16000" smtClean="0">
                        <a:ln>
                          <a:noFill/>
                        </a:ln>
                        <a:solidFill>
                          <a:srgbClr val="0000CC"/>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endParaRPr kumimoji="1" lang="en-US" altLang="en-US" sz="3200" b="1" i="0" u="none" strike="noStrike" cap="none" normalizeH="0" baseline="-16000" smtClean="0">
                        <a:ln>
                          <a:noFill/>
                        </a:ln>
                        <a:solidFill>
                          <a:srgbClr val="FF33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endParaRPr kumimoji="1" lang="en-US" altLang="en-US"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t>
                      </a:r>
                      <a:r>
                        <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rPr>
                        <a:t>5</a:t>
                      </a:r>
                      <a:endPar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5653" name="Rectangle 53"/>
          <p:cNvSpPr/>
          <p:nvPr/>
        </p:nvSpPr>
        <p:spPr>
          <a:xfrm>
            <a:off x="6629400" y="2438400"/>
            <a:ext cx="2133600" cy="6858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742950" lvl="1" indent="-285750" eaLnBrk="1" hangingPunct="1">
              <a:lnSpc>
                <a:spcPct val="120000"/>
              </a:lnSpc>
              <a:buClr>
                <a:schemeClr val="bg2"/>
              </a:buClr>
              <a:buSzPct val="50000"/>
              <a:buFont typeface="Monotype Sorts" pitchFamily="2" charset="2"/>
              <a:buNone/>
            </a:pPr>
            <a:r>
              <a:rPr lang="en-US" altLang="zh-CN" sz="4000" b="0" dirty="0">
                <a:solidFill>
                  <a:srgbClr val="FF3300"/>
                </a:solidFill>
                <a:ea typeface="楷体_GB2312" pitchFamily="49" charset="-122"/>
              </a:rPr>
              <a:t>A</a:t>
            </a:r>
            <a:r>
              <a:rPr lang="en-US" altLang="zh-CN" sz="4000" b="0" dirty="0">
                <a:solidFill>
                  <a:srgbClr val="FF3300"/>
                </a:solidFill>
                <a:ea typeface="楷体_GB2312" pitchFamily="49" charset="-122"/>
                <a:sym typeface="Symbol" panose="05050102010706020507" pitchFamily="18" charset="2"/>
              </a:rPr>
              <a:t></a:t>
            </a:r>
            <a:r>
              <a:rPr lang="en-US" altLang="zh-CN" sz="4000" b="0" dirty="0">
                <a:solidFill>
                  <a:srgbClr val="FF3300"/>
                </a:solidFill>
                <a:ea typeface="楷体_GB2312" pitchFamily="49" charset="-122"/>
              </a:rPr>
              <a:t>C</a:t>
            </a:r>
            <a:endParaRPr lang="en-US" altLang="zh-CN" sz="4000" b="0" dirty="0">
              <a:solidFill>
                <a:srgbClr val="FF3300"/>
              </a:solidFill>
              <a:ea typeface="楷体_GB2312" pitchFamily="49" charset="-122"/>
            </a:endParaRPr>
          </a:p>
        </p:txBody>
      </p:sp>
      <p:sp>
        <p:nvSpPr>
          <p:cNvPr id="25654" name="Rectangle 54"/>
          <p:cNvSpPr/>
          <p:nvPr/>
        </p:nvSpPr>
        <p:spPr>
          <a:xfrm>
            <a:off x="6540500" y="2438400"/>
            <a:ext cx="2133600" cy="6858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742950" lvl="1" indent="-285750" eaLnBrk="1" hangingPunct="1">
              <a:lnSpc>
                <a:spcPct val="120000"/>
              </a:lnSpc>
              <a:buClr>
                <a:schemeClr val="bg2"/>
              </a:buClr>
              <a:buSzPct val="50000"/>
              <a:buFont typeface="Monotype Sorts" pitchFamily="2" charset="2"/>
              <a:buNone/>
            </a:pPr>
            <a:r>
              <a:rPr lang="en-US" altLang="zh-CN" sz="4000" b="0" dirty="0">
                <a:solidFill>
                  <a:srgbClr val="FF3300"/>
                </a:solidFill>
                <a:ea typeface="楷体_GB2312" pitchFamily="49" charset="-122"/>
              </a:rPr>
              <a:t>B</a:t>
            </a:r>
            <a:r>
              <a:rPr lang="en-US" altLang="zh-CN" sz="4000" b="0" dirty="0">
                <a:solidFill>
                  <a:srgbClr val="FF3300"/>
                </a:solidFill>
                <a:ea typeface="楷体_GB2312" pitchFamily="49" charset="-122"/>
                <a:sym typeface="Symbol" panose="05050102010706020507" pitchFamily="18" charset="2"/>
              </a:rPr>
              <a:t></a:t>
            </a:r>
            <a:r>
              <a:rPr lang="en-US" altLang="zh-CN" sz="4000" b="0" dirty="0">
                <a:solidFill>
                  <a:srgbClr val="FF3300"/>
                </a:solidFill>
                <a:ea typeface="楷体_GB2312" pitchFamily="49" charset="-122"/>
              </a:rPr>
              <a:t>C</a:t>
            </a:r>
            <a:endParaRPr lang="en-US" altLang="zh-CN" sz="4000" b="0" dirty="0">
              <a:solidFill>
                <a:srgbClr val="FF3300"/>
              </a:solidFill>
              <a:ea typeface="楷体_GB2312" pitchFamily="49" charset="-122"/>
            </a:endParaRPr>
          </a:p>
        </p:txBody>
      </p:sp>
      <p:sp>
        <p:nvSpPr>
          <p:cNvPr id="25655" name="Rectangle 55"/>
          <p:cNvSpPr/>
          <p:nvPr/>
        </p:nvSpPr>
        <p:spPr>
          <a:xfrm>
            <a:off x="6642100" y="2463800"/>
            <a:ext cx="2133600" cy="6858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742950" lvl="1" indent="-285750" eaLnBrk="1" hangingPunct="1">
              <a:lnSpc>
                <a:spcPct val="120000"/>
              </a:lnSpc>
              <a:buClr>
                <a:schemeClr val="bg2"/>
              </a:buClr>
              <a:buSzPct val="50000"/>
              <a:buFont typeface="Monotype Sorts" pitchFamily="2" charset="2"/>
              <a:buNone/>
            </a:pPr>
            <a:r>
              <a:rPr lang="en-US" altLang="zh-CN" sz="4000" b="0" dirty="0">
                <a:solidFill>
                  <a:srgbClr val="FF3300"/>
                </a:solidFill>
                <a:ea typeface="楷体_GB2312" pitchFamily="49" charset="-122"/>
              </a:rPr>
              <a:t>C</a:t>
            </a:r>
            <a:r>
              <a:rPr lang="en-US" altLang="zh-CN" sz="4000" b="0" dirty="0">
                <a:solidFill>
                  <a:srgbClr val="FF3300"/>
                </a:solidFill>
                <a:ea typeface="楷体_GB2312" pitchFamily="49" charset="-122"/>
                <a:sym typeface="Symbol" panose="05050102010706020507" pitchFamily="18" charset="2"/>
              </a:rPr>
              <a:t></a:t>
            </a:r>
            <a:r>
              <a:rPr lang="en-US" altLang="zh-CN" sz="4000" b="0" dirty="0">
                <a:solidFill>
                  <a:srgbClr val="FF3300"/>
                </a:solidFill>
                <a:ea typeface="楷体_GB2312" pitchFamily="49" charset="-122"/>
              </a:rPr>
              <a:t>D</a:t>
            </a:r>
            <a:endParaRPr lang="en-US" altLang="zh-CN" sz="4000" b="0" dirty="0">
              <a:solidFill>
                <a:srgbClr val="FF3300"/>
              </a:solidFill>
              <a:ea typeface="楷体_GB2312" pitchFamily="49" charset="-122"/>
            </a:endParaRPr>
          </a:p>
        </p:txBody>
      </p:sp>
      <p:sp>
        <p:nvSpPr>
          <p:cNvPr id="25656" name="Rectangle 56"/>
          <p:cNvSpPr/>
          <p:nvPr/>
        </p:nvSpPr>
        <p:spPr>
          <a:xfrm>
            <a:off x="6464300" y="2451100"/>
            <a:ext cx="2514600" cy="6858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742950" lvl="1" indent="-285750" eaLnBrk="1" hangingPunct="1">
              <a:lnSpc>
                <a:spcPct val="120000"/>
              </a:lnSpc>
              <a:buClr>
                <a:schemeClr val="bg2"/>
              </a:buClr>
              <a:buSzPct val="50000"/>
              <a:buFont typeface="Monotype Sorts" pitchFamily="2" charset="2"/>
              <a:buNone/>
            </a:pPr>
            <a:r>
              <a:rPr lang="en-US" altLang="zh-CN" sz="4000" b="0" dirty="0">
                <a:solidFill>
                  <a:srgbClr val="FF3300"/>
                </a:solidFill>
                <a:ea typeface="楷体_GB2312" pitchFamily="49" charset="-122"/>
              </a:rPr>
              <a:t>DE</a:t>
            </a:r>
            <a:r>
              <a:rPr lang="en-US" altLang="zh-CN" sz="4000" b="0" dirty="0">
                <a:solidFill>
                  <a:srgbClr val="FF3300"/>
                </a:solidFill>
                <a:ea typeface="楷体_GB2312" pitchFamily="49" charset="-122"/>
                <a:sym typeface="Symbol" panose="05050102010706020507" pitchFamily="18" charset="2"/>
              </a:rPr>
              <a:t></a:t>
            </a:r>
            <a:r>
              <a:rPr lang="en-US" altLang="zh-CN" sz="4000" b="0" dirty="0">
                <a:solidFill>
                  <a:srgbClr val="FF3300"/>
                </a:solidFill>
                <a:ea typeface="楷体_GB2312" pitchFamily="49" charset="-122"/>
              </a:rPr>
              <a:t>C</a:t>
            </a:r>
            <a:endParaRPr lang="en-US" altLang="zh-CN" sz="4000" b="0" dirty="0">
              <a:solidFill>
                <a:srgbClr val="FF3300"/>
              </a:solidFill>
              <a:ea typeface="楷体_GB2312" pitchFamily="49" charset="-122"/>
            </a:endParaRPr>
          </a:p>
        </p:txBody>
      </p:sp>
      <p:sp>
        <p:nvSpPr>
          <p:cNvPr id="25657" name="Rectangle 57"/>
          <p:cNvSpPr/>
          <p:nvPr/>
        </p:nvSpPr>
        <p:spPr>
          <a:xfrm>
            <a:off x="6553200" y="2463800"/>
            <a:ext cx="2514600" cy="6858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742950" lvl="1" indent="-285750" eaLnBrk="1" hangingPunct="1">
              <a:lnSpc>
                <a:spcPct val="120000"/>
              </a:lnSpc>
              <a:buClr>
                <a:schemeClr val="bg2"/>
              </a:buClr>
              <a:buSzPct val="50000"/>
              <a:buFont typeface="Monotype Sorts" pitchFamily="2" charset="2"/>
              <a:buNone/>
            </a:pPr>
            <a:r>
              <a:rPr lang="en-US" altLang="zh-CN" sz="4000" b="0" dirty="0">
                <a:solidFill>
                  <a:srgbClr val="FF3300"/>
                </a:solidFill>
                <a:ea typeface="楷体_GB2312" pitchFamily="49" charset="-122"/>
              </a:rPr>
              <a:t>CE</a:t>
            </a:r>
            <a:r>
              <a:rPr lang="en-US" altLang="zh-CN" sz="4000" b="0" dirty="0">
                <a:solidFill>
                  <a:srgbClr val="FF3300"/>
                </a:solidFill>
                <a:ea typeface="楷体_GB2312" pitchFamily="49" charset="-122"/>
                <a:sym typeface="Symbol" panose="05050102010706020507" pitchFamily="18" charset="2"/>
              </a:rPr>
              <a:t></a:t>
            </a:r>
            <a:r>
              <a:rPr lang="en-US" altLang="zh-CN" sz="4000" b="0" dirty="0">
                <a:solidFill>
                  <a:srgbClr val="FF3300"/>
                </a:solidFill>
                <a:ea typeface="楷体_GB2312" pitchFamily="49" charset="-122"/>
              </a:rPr>
              <a:t>A</a:t>
            </a:r>
            <a:endParaRPr lang="en-US" altLang="zh-CN" sz="4000" b="0" dirty="0">
              <a:solidFill>
                <a:srgbClr val="FF3300"/>
              </a:solidFill>
              <a:ea typeface="楷体_GB2312" pitchFamily="49" charset="-122"/>
            </a:endParaRPr>
          </a:p>
        </p:txBody>
      </p:sp>
      <p:sp>
        <p:nvSpPr>
          <p:cNvPr id="25658" name="Rectangle 58"/>
          <p:cNvSpPr/>
          <p:nvPr/>
        </p:nvSpPr>
        <p:spPr>
          <a:xfrm>
            <a:off x="3898900" y="5880100"/>
            <a:ext cx="676275"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spcBef>
                <a:spcPct val="0"/>
              </a:spcBef>
              <a:buNone/>
            </a:pPr>
            <a:r>
              <a:rPr lang="en-US" altLang="zh-CN" b="0" dirty="0"/>
              <a:t>b</a:t>
            </a:r>
            <a:r>
              <a:rPr lang="en-US" altLang="zh-CN" b="0" baseline="-16000" dirty="0"/>
              <a:t>13</a:t>
            </a:r>
            <a:endParaRPr lang="en-US" altLang="zh-CN" b="0" baseline="-16000" dirty="0"/>
          </a:p>
        </p:txBody>
      </p:sp>
      <p:sp>
        <p:nvSpPr>
          <p:cNvPr id="25659" name="Rectangle 59"/>
          <p:cNvSpPr/>
          <p:nvPr/>
        </p:nvSpPr>
        <p:spPr>
          <a:xfrm>
            <a:off x="3949700" y="3263900"/>
            <a:ext cx="676275"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spcBef>
                <a:spcPct val="0"/>
              </a:spcBef>
              <a:buNone/>
            </a:pPr>
            <a:r>
              <a:rPr lang="en-US" altLang="zh-CN" b="0" dirty="0"/>
              <a:t>b</a:t>
            </a:r>
            <a:r>
              <a:rPr lang="en-US" altLang="zh-CN" b="0" baseline="-16000" dirty="0"/>
              <a:t>13</a:t>
            </a:r>
            <a:endParaRPr lang="en-US" altLang="zh-CN" b="0" baseline="-16000" dirty="0"/>
          </a:p>
        </p:txBody>
      </p:sp>
      <p:sp>
        <p:nvSpPr>
          <p:cNvPr id="25660" name="Rectangle 60"/>
          <p:cNvSpPr/>
          <p:nvPr/>
        </p:nvSpPr>
        <p:spPr>
          <a:xfrm>
            <a:off x="2171700" y="4533900"/>
            <a:ext cx="52070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spcBef>
                <a:spcPct val="0"/>
              </a:spcBef>
              <a:buNone/>
            </a:pPr>
            <a:r>
              <a:rPr lang="en-US" altLang="zh-CN" b="0" dirty="0"/>
              <a:t>a</a:t>
            </a:r>
            <a:r>
              <a:rPr lang="en-US" altLang="zh-CN" b="0" baseline="-16000" dirty="0"/>
              <a:t>1</a:t>
            </a:r>
            <a:endParaRPr lang="en-US" altLang="zh-CN" b="0" baseline="-16000" dirty="0"/>
          </a:p>
        </p:txBody>
      </p:sp>
      <p:sp>
        <p:nvSpPr>
          <p:cNvPr id="25661" name="Rectangle 61"/>
          <p:cNvSpPr/>
          <p:nvPr/>
        </p:nvSpPr>
        <p:spPr>
          <a:xfrm>
            <a:off x="2146300" y="5168900"/>
            <a:ext cx="52070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spcBef>
                <a:spcPct val="0"/>
              </a:spcBef>
              <a:buNone/>
            </a:pPr>
            <a:r>
              <a:rPr lang="en-US" altLang="zh-CN" b="0" dirty="0"/>
              <a:t>a</a:t>
            </a:r>
            <a:r>
              <a:rPr lang="en-US" altLang="zh-CN" b="0" baseline="-16000" dirty="0"/>
              <a:t>1</a:t>
            </a:r>
            <a:endParaRPr lang="en-US" altLang="zh-CN" b="0" baseline="-16000" dirty="0"/>
          </a:p>
        </p:txBody>
      </p:sp>
      <p:sp>
        <p:nvSpPr>
          <p:cNvPr id="25662" name="Rectangle 62"/>
          <p:cNvSpPr/>
          <p:nvPr/>
        </p:nvSpPr>
        <p:spPr>
          <a:xfrm>
            <a:off x="3987800" y="5803900"/>
            <a:ext cx="520700" cy="579438"/>
          </a:xfrm>
          <a:prstGeom prst="rect">
            <a:avLst/>
          </a:prstGeom>
          <a:solidFill>
            <a:schemeClr val="bg1"/>
          </a:solid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spcBef>
                <a:spcPct val="0"/>
              </a:spcBef>
              <a:buNone/>
            </a:pPr>
            <a:r>
              <a:rPr lang="en-US" altLang="zh-CN" b="0" dirty="0"/>
              <a:t>a</a:t>
            </a:r>
            <a:r>
              <a:rPr lang="en-US" altLang="zh-CN" b="0" baseline="-16000" dirty="0"/>
              <a:t>3</a:t>
            </a:r>
            <a:endParaRPr lang="en-US" altLang="zh-CN" b="0" baseline="-16000" dirty="0"/>
          </a:p>
        </p:txBody>
      </p:sp>
      <p:sp>
        <p:nvSpPr>
          <p:cNvPr id="25663" name="Rectangle 63"/>
          <p:cNvSpPr/>
          <p:nvPr/>
        </p:nvSpPr>
        <p:spPr>
          <a:xfrm>
            <a:off x="4838700" y="3873500"/>
            <a:ext cx="52070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spcBef>
                <a:spcPct val="0"/>
              </a:spcBef>
              <a:buNone/>
            </a:pPr>
            <a:r>
              <a:rPr lang="en-US" altLang="zh-CN" b="0" dirty="0"/>
              <a:t>a</a:t>
            </a:r>
            <a:r>
              <a:rPr lang="en-US" altLang="zh-CN" b="0" baseline="-16000" dirty="0"/>
              <a:t>4</a:t>
            </a:r>
            <a:endParaRPr lang="en-US" altLang="zh-CN" b="0" baseline="-16000" dirty="0"/>
          </a:p>
        </p:txBody>
      </p:sp>
      <p:sp>
        <p:nvSpPr>
          <p:cNvPr id="25664" name="Rectangle 64"/>
          <p:cNvSpPr/>
          <p:nvPr/>
        </p:nvSpPr>
        <p:spPr>
          <a:xfrm>
            <a:off x="4864100" y="4508500"/>
            <a:ext cx="52070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spcBef>
                <a:spcPct val="0"/>
              </a:spcBef>
              <a:buNone/>
            </a:pPr>
            <a:r>
              <a:rPr lang="en-US" altLang="zh-CN" b="0" dirty="0"/>
              <a:t>a</a:t>
            </a:r>
            <a:r>
              <a:rPr lang="en-US" altLang="zh-CN" b="0" baseline="-16000" dirty="0"/>
              <a:t>4</a:t>
            </a:r>
            <a:endParaRPr lang="en-US" altLang="zh-CN" b="0" baseline="-16000" dirty="0"/>
          </a:p>
        </p:txBody>
      </p:sp>
      <p:sp>
        <p:nvSpPr>
          <p:cNvPr id="25665" name="Rectangle 65"/>
          <p:cNvSpPr/>
          <p:nvPr/>
        </p:nvSpPr>
        <p:spPr>
          <a:xfrm>
            <a:off x="4876800" y="5854700"/>
            <a:ext cx="52070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spcBef>
                <a:spcPct val="0"/>
              </a:spcBef>
              <a:buNone/>
            </a:pPr>
            <a:r>
              <a:rPr lang="en-US" altLang="zh-CN" b="0" dirty="0"/>
              <a:t>a</a:t>
            </a:r>
            <a:r>
              <a:rPr lang="en-US" altLang="zh-CN" b="0" baseline="-16000" dirty="0"/>
              <a:t>4</a:t>
            </a:r>
            <a:endParaRPr lang="en-US" altLang="zh-CN" b="0" baseline="-16000" dirty="0"/>
          </a:p>
        </p:txBody>
      </p:sp>
      <p:sp>
        <p:nvSpPr>
          <p:cNvPr id="25666" name="Rectangle 66"/>
          <p:cNvSpPr/>
          <p:nvPr/>
        </p:nvSpPr>
        <p:spPr>
          <a:xfrm>
            <a:off x="3937000" y="3911600"/>
            <a:ext cx="676275"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spcBef>
                <a:spcPct val="0"/>
              </a:spcBef>
              <a:buNone/>
            </a:pPr>
            <a:r>
              <a:rPr lang="en-US" altLang="zh-CN" b="0" dirty="0"/>
              <a:t>b</a:t>
            </a:r>
            <a:r>
              <a:rPr lang="en-US" altLang="zh-CN" b="0" baseline="-16000" dirty="0"/>
              <a:t>13</a:t>
            </a:r>
            <a:endParaRPr lang="en-US" altLang="zh-CN" b="0" baseline="-16000" dirty="0"/>
          </a:p>
        </p:txBody>
      </p:sp>
      <p:sp>
        <p:nvSpPr>
          <p:cNvPr id="25667" name="Rectangle 67"/>
          <p:cNvSpPr/>
          <p:nvPr/>
        </p:nvSpPr>
        <p:spPr>
          <a:xfrm>
            <a:off x="3949700" y="4572000"/>
            <a:ext cx="676275"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spcBef>
                <a:spcPct val="0"/>
              </a:spcBef>
              <a:buNone/>
            </a:pPr>
            <a:r>
              <a:rPr lang="en-US" altLang="zh-CN" b="0" dirty="0"/>
              <a:t>b</a:t>
            </a:r>
            <a:r>
              <a:rPr lang="en-US" altLang="zh-CN" b="0" baseline="-16000" dirty="0"/>
              <a:t>13</a:t>
            </a:r>
            <a:endParaRPr lang="en-US" altLang="zh-CN" b="0" baseline="-16000" dirty="0"/>
          </a:p>
        </p:txBody>
      </p:sp>
      <p:sp>
        <p:nvSpPr>
          <p:cNvPr id="25668" name="Rectangle 68"/>
          <p:cNvSpPr/>
          <p:nvPr/>
        </p:nvSpPr>
        <p:spPr>
          <a:xfrm>
            <a:off x="4025900" y="4521200"/>
            <a:ext cx="520700" cy="579438"/>
          </a:xfrm>
          <a:prstGeom prst="rect">
            <a:avLst/>
          </a:prstGeom>
          <a:solidFill>
            <a:schemeClr val="bg1"/>
          </a:solid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eaLnBrk="1" hangingPunct="1">
              <a:spcBef>
                <a:spcPct val="0"/>
              </a:spcBef>
              <a:buNone/>
            </a:pPr>
            <a:r>
              <a:rPr lang="en-US" altLang="zh-CN" b="0" dirty="0"/>
              <a:t>a</a:t>
            </a:r>
            <a:r>
              <a:rPr lang="en-US" altLang="zh-CN" b="0" baseline="-16000" dirty="0"/>
              <a:t>3</a:t>
            </a:r>
            <a:endParaRPr lang="en-US" altLang="zh-CN" b="0" baseline="-16000" dirty="0"/>
          </a:p>
        </p:txBody>
      </p:sp>
      <p:sp>
        <p:nvSpPr>
          <p:cNvPr id="25669" name="Line 69"/>
          <p:cNvSpPr/>
          <p:nvPr/>
        </p:nvSpPr>
        <p:spPr>
          <a:xfrm>
            <a:off x="1930400" y="5118100"/>
            <a:ext cx="4495800" cy="0"/>
          </a:xfrm>
          <a:prstGeom prst="line">
            <a:avLst/>
          </a:prstGeom>
          <a:ln w="76200" cap="flat" cmpd="sng">
            <a:solidFill>
              <a:srgbClr val="0000CC"/>
            </a:solidFill>
            <a:prstDash val="solid"/>
            <a:headEnd type="none" w="med" len="med"/>
            <a:tailEnd type="none" w="med" len="med"/>
          </a:ln>
        </p:spPr>
      </p:sp>
      <p:sp>
        <p:nvSpPr>
          <p:cNvPr id="25670" name="Rectangle 70"/>
          <p:cNvSpPr/>
          <p:nvPr/>
        </p:nvSpPr>
        <p:spPr>
          <a:xfrm>
            <a:off x="6096000" y="3733800"/>
            <a:ext cx="2819400" cy="6858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742950" lvl="1" indent="-285750" eaLnBrk="1" hangingPunct="1">
              <a:lnSpc>
                <a:spcPct val="120000"/>
              </a:lnSpc>
              <a:buClr>
                <a:schemeClr val="bg2"/>
              </a:buClr>
              <a:buSzPct val="50000"/>
              <a:buFont typeface="Monotype Sorts" pitchFamily="2" charset="2"/>
              <a:buNone/>
            </a:pPr>
            <a:r>
              <a:rPr lang="zh-CN" altLang="en-US" sz="4000" b="0" dirty="0">
                <a:solidFill>
                  <a:srgbClr val="FF3300"/>
                </a:solidFill>
              </a:rPr>
              <a:t>无损连接</a:t>
            </a:r>
            <a:endParaRPr lang="zh-CN" altLang="en-US" sz="4000" b="0" dirty="0">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5653"/>
                                        </p:tgtEl>
                                        <p:attrNameLst>
                                          <p:attrName>style.visibility</p:attrName>
                                        </p:attrNameLst>
                                      </p:cBhvr>
                                      <p:to>
                                        <p:strVal val="visible"/>
                                      </p:to>
                                    </p:set>
                                  </p:childTnLst>
                                  <p:subTnLst>
                                    <p:set>
                                      <p:cBhvr override="childStyle">
                                        <p:cTn dur="1" fill="hold" display="0" masterRel="nextClick" afterEffect="1"/>
                                        <p:tgtEl>
                                          <p:spTgt spid="25653"/>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25659"/>
                                        </p:tgtEl>
                                        <p:attrNameLst>
                                          <p:attrName>style.visibility</p:attrName>
                                        </p:attrNameLst>
                                      </p:cBhvr>
                                      <p:to>
                                        <p:strVal val="visible"/>
                                      </p:to>
                                    </p:set>
                                    <p:anim calcmode="lin" valueType="num">
                                      <p:cBhvr additive="base">
                                        <p:cTn id="11" dur="500" fill="hold"/>
                                        <p:tgtEl>
                                          <p:spTgt spid="25659"/>
                                        </p:tgtEl>
                                        <p:attrNameLst>
                                          <p:attrName>ppt_x</p:attrName>
                                        </p:attrNameLst>
                                      </p:cBhvr>
                                      <p:tavLst>
                                        <p:tav tm="0">
                                          <p:val>
                                            <p:strVal val="0-#ppt_w/2"/>
                                          </p:val>
                                        </p:tav>
                                        <p:tav tm="100000">
                                          <p:val>
                                            <p:strVal val="#ppt_x"/>
                                          </p:val>
                                        </p:tav>
                                      </p:tavLst>
                                    </p:anim>
                                    <p:anim calcmode="lin" valueType="num">
                                      <p:cBhvr additive="base">
                                        <p:cTn id="12" dur="500" fill="hold"/>
                                        <p:tgtEl>
                                          <p:spTgt spid="25659"/>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5666"/>
                                        </p:tgtEl>
                                        <p:attrNameLst>
                                          <p:attrName>style.visibility</p:attrName>
                                        </p:attrNameLst>
                                      </p:cBhvr>
                                      <p:to>
                                        <p:strVal val="visible"/>
                                      </p:to>
                                    </p:set>
                                    <p:anim calcmode="lin" valueType="num">
                                      <p:cBhvr additive="base">
                                        <p:cTn id="17" dur="500" fill="hold"/>
                                        <p:tgtEl>
                                          <p:spTgt spid="25666"/>
                                        </p:tgtEl>
                                        <p:attrNameLst>
                                          <p:attrName>ppt_x</p:attrName>
                                        </p:attrNameLst>
                                      </p:cBhvr>
                                      <p:tavLst>
                                        <p:tav tm="0">
                                          <p:val>
                                            <p:strVal val="0-#ppt_w/2"/>
                                          </p:val>
                                        </p:tav>
                                        <p:tav tm="100000">
                                          <p:val>
                                            <p:strVal val="#ppt_x"/>
                                          </p:val>
                                        </p:tav>
                                      </p:tavLst>
                                    </p:anim>
                                    <p:anim calcmode="lin" valueType="num">
                                      <p:cBhvr additive="base">
                                        <p:cTn id="18" dur="500" fill="hold"/>
                                        <p:tgtEl>
                                          <p:spTgt spid="25666"/>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25658"/>
                                        </p:tgtEl>
                                        <p:attrNameLst>
                                          <p:attrName>style.visibility</p:attrName>
                                        </p:attrNameLst>
                                      </p:cBhvr>
                                      <p:to>
                                        <p:strVal val="visible"/>
                                      </p:to>
                                    </p:set>
                                    <p:anim calcmode="lin" valueType="num">
                                      <p:cBhvr additive="base">
                                        <p:cTn id="23" dur="500" fill="hold"/>
                                        <p:tgtEl>
                                          <p:spTgt spid="25658"/>
                                        </p:tgtEl>
                                        <p:attrNameLst>
                                          <p:attrName>ppt_x</p:attrName>
                                        </p:attrNameLst>
                                      </p:cBhvr>
                                      <p:tavLst>
                                        <p:tav tm="0">
                                          <p:val>
                                            <p:strVal val="0-#ppt_w/2"/>
                                          </p:val>
                                        </p:tav>
                                        <p:tav tm="100000">
                                          <p:val>
                                            <p:strVal val="#ppt_x"/>
                                          </p:val>
                                        </p:tav>
                                      </p:tavLst>
                                    </p:anim>
                                    <p:anim calcmode="lin" valueType="num">
                                      <p:cBhvr additive="base">
                                        <p:cTn id="24" dur="500" fill="hold"/>
                                        <p:tgtEl>
                                          <p:spTgt spid="2565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25654"/>
                                        </p:tgtEl>
                                        <p:attrNameLst>
                                          <p:attrName>style.visibility</p:attrName>
                                        </p:attrNameLst>
                                      </p:cBhvr>
                                      <p:to>
                                        <p:strVal val="visible"/>
                                      </p:to>
                                    </p:set>
                                  </p:childTnLst>
                                  <p:subTnLst>
                                    <p:set>
                                      <p:cBhvr override="childStyle">
                                        <p:cTn dur="1" fill="hold" display="0" masterRel="nextClick" afterEffect="1"/>
                                        <p:tgtEl>
                                          <p:spTgt spid="25654"/>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25667"/>
                                        </p:tgtEl>
                                        <p:attrNameLst>
                                          <p:attrName>style.visibility</p:attrName>
                                        </p:attrNameLst>
                                      </p:cBhvr>
                                      <p:to>
                                        <p:strVal val="visible"/>
                                      </p:to>
                                    </p:set>
                                    <p:anim calcmode="lin" valueType="num">
                                      <p:cBhvr additive="base">
                                        <p:cTn id="33" dur="500" fill="hold"/>
                                        <p:tgtEl>
                                          <p:spTgt spid="25667"/>
                                        </p:tgtEl>
                                        <p:attrNameLst>
                                          <p:attrName>ppt_x</p:attrName>
                                        </p:attrNameLst>
                                      </p:cBhvr>
                                      <p:tavLst>
                                        <p:tav tm="0">
                                          <p:val>
                                            <p:strVal val="0-#ppt_w/2"/>
                                          </p:val>
                                        </p:tav>
                                        <p:tav tm="100000">
                                          <p:val>
                                            <p:strVal val="#ppt_x"/>
                                          </p:val>
                                        </p:tav>
                                      </p:tavLst>
                                    </p:anim>
                                    <p:anim calcmode="lin" valueType="num">
                                      <p:cBhvr additive="base">
                                        <p:cTn id="34" dur="500" fill="hold"/>
                                        <p:tgtEl>
                                          <p:spTgt spid="25667"/>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25655"/>
                                        </p:tgtEl>
                                        <p:attrNameLst>
                                          <p:attrName>style.visibility</p:attrName>
                                        </p:attrNameLst>
                                      </p:cBhvr>
                                      <p:to>
                                        <p:strVal val="visible"/>
                                      </p:to>
                                    </p:set>
                                  </p:childTnLst>
                                  <p:subTnLst>
                                    <p:set>
                                      <p:cBhvr override="childStyle">
                                        <p:cTn dur="1" fill="hold" display="0" masterRel="nextClick" afterEffect="1"/>
                                        <p:tgtEl>
                                          <p:spTgt spid="25655"/>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5663"/>
                                        </p:tgtEl>
                                        <p:attrNameLst>
                                          <p:attrName>style.visibility</p:attrName>
                                        </p:attrNameLst>
                                      </p:cBhvr>
                                      <p:to>
                                        <p:strVal val="visible"/>
                                      </p:to>
                                    </p:set>
                                    <p:anim calcmode="lin" valueType="num">
                                      <p:cBhvr additive="base">
                                        <p:cTn id="43" dur="500" fill="hold"/>
                                        <p:tgtEl>
                                          <p:spTgt spid="25663"/>
                                        </p:tgtEl>
                                        <p:attrNameLst>
                                          <p:attrName>ppt_x</p:attrName>
                                        </p:attrNameLst>
                                      </p:cBhvr>
                                      <p:tavLst>
                                        <p:tav tm="0">
                                          <p:val>
                                            <p:strVal val="0-#ppt_w/2"/>
                                          </p:val>
                                        </p:tav>
                                        <p:tav tm="100000">
                                          <p:val>
                                            <p:strVal val="#ppt_x"/>
                                          </p:val>
                                        </p:tav>
                                      </p:tavLst>
                                    </p:anim>
                                    <p:anim calcmode="lin" valueType="num">
                                      <p:cBhvr additive="base">
                                        <p:cTn id="44" dur="500" fill="hold"/>
                                        <p:tgtEl>
                                          <p:spTgt spid="2566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5664"/>
                                        </p:tgtEl>
                                        <p:attrNameLst>
                                          <p:attrName>style.visibility</p:attrName>
                                        </p:attrNameLst>
                                      </p:cBhvr>
                                      <p:to>
                                        <p:strVal val="visible"/>
                                      </p:to>
                                    </p:set>
                                    <p:anim calcmode="lin" valueType="num">
                                      <p:cBhvr additive="base">
                                        <p:cTn id="49" dur="500" fill="hold"/>
                                        <p:tgtEl>
                                          <p:spTgt spid="25664"/>
                                        </p:tgtEl>
                                        <p:attrNameLst>
                                          <p:attrName>ppt_x</p:attrName>
                                        </p:attrNameLst>
                                      </p:cBhvr>
                                      <p:tavLst>
                                        <p:tav tm="0">
                                          <p:val>
                                            <p:strVal val="0-#ppt_w/2"/>
                                          </p:val>
                                        </p:tav>
                                        <p:tav tm="100000">
                                          <p:val>
                                            <p:strVal val="#ppt_x"/>
                                          </p:val>
                                        </p:tav>
                                      </p:tavLst>
                                    </p:anim>
                                    <p:anim calcmode="lin" valueType="num">
                                      <p:cBhvr additive="base">
                                        <p:cTn id="50" dur="500" fill="hold"/>
                                        <p:tgtEl>
                                          <p:spTgt spid="25664"/>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5665"/>
                                        </p:tgtEl>
                                        <p:attrNameLst>
                                          <p:attrName>style.visibility</p:attrName>
                                        </p:attrNameLst>
                                      </p:cBhvr>
                                      <p:to>
                                        <p:strVal val="visible"/>
                                      </p:to>
                                    </p:set>
                                    <p:anim calcmode="lin" valueType="num">
                                      <p:cBhvr additive="base">
                                        <p:cTn id="55" dur="500" fill="hold"/>
                                        <p:tgtEl>
                                          <p:spTgt spid="25665"/>
                                        </p:tgtEl>
                                        <p:attrNameLst>
                                          <p:attrName>ppt_x</p:attrName>
                                        </p:attrNameLst>
                                      </p:cBhvr>
                                      <p:tavLst>
                                        <p:tav tm="0">
                                          <p:val>
                                            <p:strVal val="0-#ppt_w/2"/>
                                          </p:val>
                                        </p:tav>
                                        <p:tav tm="100000">
                                          <p:val>
                                            <p:strVal val="#ppt_x"/>
                                          </p:val>
                                        </p:tav>
                                      </p:tavLst>
                                    </p:anim>
                                    <p:anim calcmode="lin" valueType="num">
                                      <p:cBhvr additive="base">
                                        <p:cTn id="56" dur="500" fill="hold"/>
                                        <p:tgtEl>
                                          <p:spTgt spid="25665"/>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499"/>
                                          </p:stCondLst>
                                        </p:cTn>
                                        <p:tgtEl>
                                          <p:spTgt spid="25656"/>
                                        </p:tgtEl>
                                        <p:attrNameLst>
                                          <p:attrName>style.visibility</p:attrName>
                                        </p:attrNameLst>
                                      </p:cBhvr>
                                      <p:to>
                                        <p:strVal val="visible"/>
                                      </p:to>
                                    </p:set>
                                  </p:childTnLst>
                                  <p:subTnLst>
                                    <p:set>
                                      <p:cBhvr override="childStyle">
                                        <p:cTn dur="1" fill="hold" display="0" masterRel="nextClick" afterEffect="1"/>
                                        <p:tgtEl>
                                          <p:spTgt spid="25656"/>
                                        </p:tgtEl>
                                        <p:attrNameLst>
                                          <p:attrName>style.visibility</p:attrName>
                                        </p:attrNameLst>
                                      </p:cBhvr>
                                      <p:to>
                                        <p:strVal val="hidden"/>
                                      </p:to>
                                    </p:set>
                                  </p:subTnLst>
                                </p:cTn>
                              </p:par>
                            </p:childTnLst>
                          </p:cTn>
                        </p:par>
                      </p:childTnLst>
                    </p:cTn>
                  </p:par>
                  <p:par>
                    <p:cTn id="61" fill="hold">
                      <p:stCondLst>
                        <p:cond delay="indefinite"/>
                      </p:stCondLst>
                      <p:childTnLst>
                        <p:par>
                          <p:cTn id="62" fill="hold">
                            <p:stCondLst>
                              <p:cond delay="0"/>
                            </p:stCondLst>
                            <p:childTnLst>
                              <p:par>
                                <p:cTn id="63" presetID="2" presetClass="entr" presetSubtype="8" fill="hold" grpId="0" nodeType="clickEffect">
                                  <p:stCondLst>
                                    <p:cond delay="0"/>
                                  </p:stCondLst>
                                  <p:childTnLst>
                                    <p:set>
                                      <p:cBhvr>
                                        <p:cTn id="64" dur="1" fill="hold">
                                          <p:stCondLst>
                                            <p:cond delay="0"/>
                                          </p:stCondLst>
                                        </p:cTn>
                                        <p:tgtEl>
                                          <p:spTgt spid="25668"/>
                                        </p:tgtEl>
                                        <p:attrNameLst>
                                          <p:attrName>style.visibility</p:attrName>
                                        </p:attrNameLst>
                                      </p:cBhvr>
                                      <p:to>
                                        <p:strVal val="visible"/>
                                      </p:to>
                                    </p:set>
                                    <p:anim calcmode="lin" valueType="num">
                                      <p:cBhvr additive="base">
                                        <p:cTn id="65" dur="500" fill="hold"/>
                                        <p:tgtEl>
                                          <p:spTgt spid="25668"/>
                                        </p:tgtEl>
                                        <p:attrNameLst>
                                          <p:attrName>ppt_x</p:attrName>
                                        </p:attrNameLst>
                                      </p:cBhvr>
                                      <p:tavLst>
                                        <p:tav tm="0">
                                          <p:val>
                                            <p:strVal val="0-#ppt_w/2"/>
                                          </p:val>
                                        </p:tav>
                                        <p:tav tm="100000">
                                          <p:val>
                                            <p:strVal val="#ppt_x"/>
                                          </p:val>
                                        </p:tav>
                                      </p:tavLst>
                                    </p:anim>
                                    <p:anim calcmode="lin" valueType="num">
                                      <p:cBhvr additive="base">
                                        <p:cTn id="66" dur="500" fill="hold"/>
                                        <p:tgtEl>
                                          <p:spTgt spid="25668"/>
                                        </p:tgtEl>
                                        <p:attrNameLst>
                                          <p:attrName>ppt_y</p:attrName>
                                        </p:attrNameLst>
                                      </p:cBhvr>
                                      <p:tavLst>
                                        <p:tav tm="0">
                                          <p:val>
                                            <p:strVal val="#ppt_y"/>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8" fill="hold" grpId="0" nodeType="clickEffect">
                                  <p:stCondLst>
                                    <p:cond delay="0"/>
                                  </p:stCondLst>
                                  <p:childTnLst>
                                    <p:set>
                                      <p:cBhvr>
                                        <p:cTn id="70" dur="1" fill="hold">
                                          <p:stCondLst>
                                            <p:cond delay="0"/>
                                          </p:stCondLst>
                                        </p:cTn>
                                        <p:tgtEl>
                                          <p:spTgt spid="25662"/>
                                        </p:tgtEl>
                                        <p:attrNameLst>
                                          <p:attrName>style.visibility</p:attrName>
                                        </p:attrNameLst>
                                      </p:cBhvr>
                                      <p:to>
                                        <p:strVal val="visible"/>
                                      </p:to>
                                    </p:set>
                                    <p:anim calcmode="lin" valueType="num">
                                      <p:cBhvr additive="base">
                                        <p:cTn id="71" dur="500" fill="hold"/>
                                        <p:tgtEl>
                                          <p:spTgt spid="25662"/>
                                        </p:tgtEl>
                                        <p:attrNameLst>
                                          <p:attrName>ppt_x</p:attrName>
                                        </p:attrNameLst>
                                      </p:cBhvr>
                                      <p:tavLst>
                                        <p:tav tm="0">
                                          <p:val>
                                            <p:strVal val="0-#ppt_w/2"/>
                                          </p:val>
                                        </p:tav>
                                        <p:tav tm="100000">
                                          <p:val>
                                            <p:strVal val="#ppt_x"/>
                                          </p:val>
                                        </p:tav>
                                      </p:tavLst>
                                    </p:anim>
                                    <p:anim calcmode="lin" valueType="num">
                                      <p:cBhvr additive="base">
                                        <p:cTn id="72" dur="500" fill="hold"/>
                                        <p:tgtEl>
                                          <p:spTgt spid="25662"/>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499"/>
                                          </p:stCondLst>
                                        </p:cTn>
                                        <p:tgtEl>
                                          <p:spTgt spid="25657"/>
                                        </p:tgtEl>
                                        <p:attrNameLst>
                                          <p:attrName>style.visibility</p:attrName>
                                        </p:attrNameLst>
                                      </p:cBhvr>
                                      <p:to>
                                        <p:strVal val="visible"/>
                                      </p:to>
                                    </p:set>
                                  </p:childTnLst>
                                  <p:subTnLst>
                                    <p:set>
                                      <p:cBhvr override="childStyle">
                                        <p:cTn dur="1" fill="hold" display="0" masterRel="nextClick" afterEffect="1"/>
                                        <p:tgtEl>
                                          <p:spTgt spid="25657"/>
                                        </p:tgtEl>
                                        <p:attrNameLst>
                                          <p:attrName>style.visibility</p:attrName>
                                        </p:attrNameLst>
                                      </p:cBhvr>
                                      <p:to>
                                        <p:strVal val="hidden"/>
                                      </p:to>
                                    </p:set>
                                  </p:subTnLst>
                                </p:cTn>
                              </p:par>
                            </p:childTnLst>
                          </p:cTn>
                        </p:par>
                      </p:childTnLst>
                    </p:cTn>
                  </p:par>
                  <p:par>
                    <p:cTn id="77" fill="hold">
                      <p:stCondLst>
                        <p:cond delay="indefinite"/>
                      </p:stCondLst>
                      <p:childTnLst>
                        <p:par>
                          <p:cTn id="78" fill="hold">
                            <p:stCondLst>
                              <p:cond delay="0"/>
                            </p:stCondLst>
                            <p:childTnLst>
                              <p:par>
                                <p:cTn id="79" presetID="2" presetClass="entr" presetSubtype="8" fill="hold" grpId="0" nodeType="clickEffect">
                                  <p:stCondLst>
                                    <p:cond delay="0"/>
                                  </p:stCondLst>
                                  <p:childTnLst>
                                    <p:set>
                                      <p:cBhvr>
                                        <p:cTn id="80" dur="1" fill="hold">
                                          <p:stCondLst>
                                            <p:cond delay="0"/>
                                          </p:stCondLst>
                                        </p:cTn>
                                        <p:tgtEl>
                                          <p:spTgt spid="25660"/>
                                        </p:tgtEl>
                                        <p:attrNameLst>
                                          <p:attrName>style.visibility</p:attrName>
                                        </p:attrNameLst>
                                      </p:cBhvr>
                                      <p:to>
                                        <p:strVal val="visible"/>
                                      </p:to>
                                    </p:set>
                                    <p:anim calcmode="lin" valueType="num">
                                      <p:cBhvr additive="base">
                                        <p:cTn id="81" dur="500" fill="hold"/>
                                        <p:tgtEl>
                                          <p:spTgt spid="25660"/>
                                        </p:tgtEl>
                                        <p:attrNameLst>
                                          <p:attrName>ppt_x</p:attrName>
                                        </p:attrNameLst>
                                      </p:cBhvr>
                                      <p:tavLst>
                                        <p:tav tm="0">
                                          <p:val>
                                            <p:strVal val="0-#ppt_w/2"/>
                                          </p:val>
                                        </p:tav>
                                        <p:tav tm="100000">
                                          <p:val>
                                            <p:strVal val="#ppt_x"/>
                                          </p:val>
                                        </p:tav>
                                      </p:tavLst>
                                    </p:anim>
                                    <p:anim calcmode="lin" valueType="num">
                                      <p:cBhvr additive="base">
                                        <p:cTn id="82" dur="500" fill="hold"/>
                                        <p:tgtEl>
                                          <p:spTgt spid="25660"/>
                                        </p:tgtEl>
                                        <p:attrNameLst>
                                          <p:attrName>ppt_y</p:attrName>
                                        </p:attrNameLst>
                                      </p:cBhvr>
                                      <p:tavLst>
                                        <p:tav tm="0">
                                          <p:val>
                                            <p:strVal val="#ppt_y"/>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8" fill="hold" grpId="0" nodeType="clickEffect">
                                  <p:stCondLst>
                                    <p:cond delay="0"/>
                                  </p:stCondLst>
                                  <p:childTnLst>
                                    <p:set>
                                      <p:cBhvr>
                                        <p:cTn id="86" dur="1" fill="hold">
                                          <p:stCondLst>
                                            <p:cond delay="0"/>
                                          </p:stCondLst>
                                        </p:cTn>
                                        <p:tgtEl>
                                          <p:spTgt spid="25661"/>
                                        </p:tgtEl>
                                        <p:attrNameLst>
                                          <p:attrName>style.visibility</p:attrName>
                                        </p:attrNameLst>
                                      </p:cBhvr>
                                      <p:to>
                                        <p:strVal val="visible"/>
                                      </p:to>
                                    </p:set>
                                    <p:anim calcmode="lin" valueType="num">
                                      <p:cBhvr additive="base">
                                        <p:cTn id="87" dur="500" fill="hold"/>
                                        <p:tgtEl>
                                          <p:spTgt spid="25661"/>
                                        </p:tgtEl>
                                        <p:attrNameLst>
                                          <p:attrName>ppt_x</p:attrName>
                                        </p:attrNameLst>
                                      </p:cBhvr>
                                      <p:tavLst>
                                        <p:tav tm="0">
                                          <p:val>
                                            <p:strVal val="0-#ppt_w/2"/>
                                          </p:val>
                                        </p:tav>
                                        <p:tav tm="100000">
                                          <p:val>
                                            <p:strVal val="#ppt_x"/>
                                          </p:val>
                                        </p:tav>
                                      </p:tavLst>
                                    </p:anim>
                                    <p:anim calcmode="lin" valueType="num">
                                      <p:cBhvr additive="base">
                                        <p:cTn id="88" dur="500" fill="hold"/>
                                        <p:tgtEl>
                                          <p:spTgt spid="25661"/>
                                        </p:tgtEl>
                                        <p:attrNameLst>
                                          <p:attrName>ppt_y</p:attrName>
                                        </p:attrNameLst>
                                      </p:cBhvr>
                                      <p:tavLst>
                                        <p:tav tm="0">
                                          <p:val>
                                            <p:strVal val="#ppt_y"/>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16" presetClass="entr" presetSubtype="42" fill="hold" nodeType="clickEffect">
                                  <p:stCondLst>
                                    <p:cond delay="0"/>
                                  </p:stCondLst>
                                  <p:childTnLst>
                                    <p:set>
                                      <p:cBhvr>
                                        <p:cTn id="92" dur="1" fill="hold">
                                          <p:stCondLst>
                                            <p:cond delay="0"/>
                                          </p:stCondLst>
                                        </p:cTn>
                                        <p:tgtEl>
                                          <p:spTgt spid="25669"/>
                                        </p:tgtEl>
                                        <p:attrNameLst>
                                          <p:attrName>style.visibility</p:attrName>
                                        </p:attrNameLst>
                                      </p:cBhvr>
                                      <p:to>
                                        <p:strVal val="visible"/>
                                      </p:to>
                                    </p:set>
                                    <p:animEffect transition="in" filter="barn(outHorizontal)">
                                      <p:cBhvr>
                                        <p:cTn id="93" dur="500"/>
                                        <p:tgtEl>
                                          <p:spTgt spid="25669"/>
                                        </p:tgtEl>
                                      </p:cBhvr>
                                    </p:animEffec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499"/>
                                          </p:stCondLst>
                                        </p:cTn>
                                        <p:tgtEl>
                                          <p:spTgt spid="25670"/>
                                        </p:tgtEl>
                                        <p:attrNameLst>
                                          <p:attrName>style.visibility</p:attrName>
                                        </p:attrNameLst>
                                      </p:cBhvr>
                                      <p:to>
                                        <p:strVal val="visible"/>
                                      </p:to>
                                    </p:set>
                                  </p:childTnLst>
                                  <p:subTnLst>
                                    <p:set>
                                      <p:cBhvr override="childStyle">
                                        <p:cTn dur="1" fill="hold" display="0" masterRel="nextClick" afterEffect="1"/>
                                        <p:tgtEl>
                                          <p:spTgt spid="2567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53" grpId="0"/>
      <p:bldP spid="25654" grpId="0"/>
      <p:bldP spid="25655" grpId="0"/>
      <p:bldP spid="25656" grpId="0"/>
      <p:bldP spid="25657" grpId="0"/>
      <p:bldP spid="25658" grpId="0"/>
      <p:bldP spid="25659" grpId="0"/>
      <p:bldP spid="25660" grpId="0"/>
      <p:bldP spid="25661" grpId="0"/>
      <p:bldP spid="25662" grpId="0" animBg="1"/>
      <p:bldP spid="25663" grpId="0"/>
      <p:bldP spid="25664" grpId="0"/>
      <p:bldP spid="25665" grpId="0"/>
      <p:bldP spid="25666" grpId="0"/>
      <p:bldP spid="25667" grpId="0"/>
      <p:bldP spid="25668" grpId="0" animBg="1"/>
      <p:bldP spid="2567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3555" name="Rectangle 2"/>
          <p:cNvSpPr>
            <a:spLocks noGrp="1"/>
          </p:cNvSpPr>
          <p:nvPr>
            <p:ph idx="1"/>
          </p:nvPr>
        </p:nvSpPr>
        <p:spPr>
          <a:xfrm>
            <a:off x="381000" y="838200"/>
            <a:ext cx="8610600" cy="4876800"/>
          </a:xfrm>
          <a:ln/>
        </p:spPr>
        <p:txBody>
          <a:bodyPr vert="horz" wrap="square" lIns="91440" tIns="45720" rIns="91440" bIns="45720" anchor="t" anchorCtr="0"/>
          <a:p>
            <a:pPr eaLnBrk="1" hangingPunct="1">
              <a:lnSpc>
                <a:spcPct val="125000"/>
              </a:lnSpc>
            </a:pPr>
            <a:r>
              <a:rPr lang="zh-CN" altLang="en-US" dirty="0"/>
              <a:t>定理</a:t>
            </a:r>
            <a:r>
              <a:rPr lang="en-US" altLang="zh-CN" dirty="0"/>
              <a:t>6.5  </a:t>
            </a:r>
            <a:r>
              <a:rPr lang="en-US" altLang="zh-CN" i="1" dirty="0">
                <a:solidFill>
                  <a:schemeClr val="tx1"/>
                </a:solidFill>
                <a:sym typeface="Symbol" panose="05050102010706020507" pitchFamily="18" charset="2"/>
              </a:rPr>
              <a:t>R&lt;U,F&gt;</a:t>
            </a:r>
            <a:r>
              <a:rPr lang="zh-CN" altLang="en-US" dirty="0">
                <a:solidFill>
                  <a:schemeClr val="tx1"/>
                </a:solidFill>
              </a:rPr>
              <a:t>的一个分解无损连接</a:t>
            </a:r>
            <a:endParaRPr lang="zh-CN" altLang="en-US" dirty="0">
              <a:solidFill>
                <a:schemeClr val="tx1"/>
              </a:solidFill>
            </a:endParaRPr>
          </a:p>
          <a:p>
            <a:pPr eaLnBrk="1" hangingPunct="1">
              <a:lnSpc>
                <a:spcPct val="125000"/>
              </a:lnSpc>
              <a:buNone/>
            </a:pPr>
            <a:r>
              <a:rPr lang="zh-CN" altLang="en-US" i="1" dirty="0">
                <a:solidFill>
                  <a:schemeClr val="tx1"/>
                </a:solidFill>
                <a:sym typeface="Symbol" panose="05050102010706020507" pitchFamily="18" charset="2"/>
              </a:rPr>
              <a:t>	 </a:t>
            </a:r>
            <a:r>
              <a:rPr lang="en-US" altLang="zh-CN" i="1" dirty="0">
                <a:solidFill>
                  <a:schemeClr val="tx1"/>
                </a:solidFill>
                <a:sym typeface="Symbol" panose="05050102010706020507" pitchFamily="18" charset="2"/>
              </a:rPr>
              <a:t>= </a:t>
            </a:r>
            <a:r>
              <a:rPr lang="en-US" altLang="zh-CN" dirty="0">
                <a:solidFill>
                  <a:schemeClr val="tx1"/>
                </a:solidFill>
                <a:sym typeface="Symbol" panose="05050102010706020507" pitchFamily="18" charset="2"/>
              </a:rPr>
              <a:t>{ </a:t>
            </a:r>
            <a:r>
              <a:rPr lang="en-US" altLang="zh-CN" i="1" dirty="0">
                <a:solidFill>
                  <a:schemeClr val="tx1"/>
                </a:solidFill>
                <a:sym typeface="Symbol" panose="05050102010706020507" pitchFamily="18" charset="2"/>
              </a:rPr>
              <a:t>R</a:t>
            </a:r>
            <a:r>
              <a:rPr lang="en-US" altLang="zh-CN" i="1" baseline="-25000" dirty="0">
                <a:solidFill>
                  <a:schemeClr val="tx1"/>
                </a:solidFill>
                <a:sym typeface="Symbol" panose="05050102010706020507" pitchFamily="18" charset="2"/>
              </a:rPr>
              <a:t>1</a:t>
            </a:r>
            <a:r>
              <a:rPr lang="en-US" altLang="zh-CN" i="1" dirty="0">
                <a:solidFill>
                  <a:schemeClr val="tx1"/>
                </a:solidFill>
                <a:sym typeface="Symbol" panose="05050102010706020507" pitchFamily="18" charset="2"/>
              </a:rPr>
              <a:t>&lt;U</a:t>
            </a:r>
            <a:r>
              <a:rPr lang="en-US" altLang="zh-CN" i="1" baseline="-25000" dirty="0">
                <a:solidFill>
                  <a:schemeClr val="tx1"/>
                </a:solidFill>
                <a:sym typeface="Symbol" panose="05050102010706020507" pitchFamily="18" charset="2"/>
              </a:rPr>
              <a:t>1</a:t>
            </a:r>
            <a:r>
              <a:rPr lang="en-US" altLang="zh-CN" i="1" dirty="0">
                <a:solidFill>
                  <a:schemeClr val="tx1"/>
                </a:solidFill>
                <a:sym typeface="Symbol" panose="05050102010706020507" pitchFamily="18" charset="2"/>
              </a:rPr>
              <a:t>,F</a:t>
            </a:r>
            <a:r>
              <a:rPr lang="en-US" altLang="zh-CN" i="1" baseline="-25000" dirty="0">
                <a:solidFill>
                  <a:schemeClr val="tx1"/>
                </a:solidFill>
                <a:sym typeface="Symbol" panose="05050102010706020507" pitchFamily="18" charset="2"/>
              </a:rPr>
              <a:t>1</a:t>
            </a:r>
            <a:r>
              <a:rPr lang="en-US" altLang="zh-CN" i="1" dirty="0">
                <a:solidFill>
                  <a:schemeClr val="tx1"/>
                </a:solidFill>
                <a:sym typeface="Symbol" panose="05050102010706020507" pitchFamily="18" charset="2"/>
              </a:rPr>
              <a:t>&gt;, R</a:t>
            </a:r>
            <a:r>
              <a:rPr lang="en-US" altLang="zh-CN" i="1" baseline="-25000" dirty="0">
                <a:solidFill>
                  <a:schemeClr val="tx1"/>
                </a:solidFill>
                <a:sym typeface="Symbol" panose="05050102010706020507" pitchFamily="18" charset="2"/>
              </a:rPr>
              <a:t>2</a:t>
            </a:r>
            <a:r>
              <a:rPr lang="en-US" altLang="zh-CN" i="1" dirty="0">
                <a:solidFill>
                  <a:schemeClr val="tx1"/>
                </a:solidFill>
                <a:sym typeface="Symbol" panose="05050102010706020507" pitchFamily="18" charset="2"/>
              </a:rPr>
              <a:t>&lt;U</a:t>
            </a:r>
            <a:r>
              <a:rPr lang="en-US" altLang="zh-CN" i="1" baseline="-25000" dirty="0">
                <a:solidFill>
                  <a:schemeClr val="tx1"/>
                </a:solidFill>
                <a:sym typeface="Symbol" panose="05050102010706020507" pitchFamily="18" charset="2"/>
              </a:rPr>
              <a:t>2</a:t>
            </a:r>
            <a:r>
              <a:rPr lang="en-US" altLang="zh-CN" i="1" dirty="0">
                <a:solidFill>
                  <a:schemeClr val="tx1"/>
                </a:solidFill>
                <a:sym typeface="Symbol" panose="05050102010706020507" pitchFamily="18" charset="2"/>
              </a:rPr>
              <a:t>,F</a:t>
            </a:r>
            <a:r>
              <a:rPr lang="en-US" altLang="zh-CN" i="1" baseline="-25000" dirty="0">
                <a:solidFill>
                  <a:schemeClr val="tx1"/>
                </a:solidFill>
                <a:sym typeface="Symbol" panose="05050102010706020507" pitchFamily="18" charset="2"/>
              </a:rPr>
              <a:t>2</a:t>
            </a:r>
            <a:r>
              <a:rPr lang="en-US" altLang="zh-CN" i="1" dirty="0">
                <a:solidFill>
                  <a:schemeClr val="tx1"/>
                </a:solidFill>
                <a:sym typeface="Symbol" panose="05050102010706020507" pitchFamily="18" charset="2"/>
              </a:rPr>
              <a:t>&gt; </a:t>
            </a:r>
            <a:r>
              <a:rPr lang="en-US" altLang="zh-CN" dirty="0">
                <a:solidFill>
                  <a:schemeClr val="tx1"/>
                </a:solidFill>
                <a:sym typeface="Symbol" panose="05050102010706020507" pitchFamily="18" charset="2"/>
              </a:rPr>
              <a:t>}</a:t>
            </a:r>
            <a:endParaRPr lang="en-US" altLang="zh-CN" dirty="0">
              <a:solidFill>
                <a:schemeClr val="tx1"/>
              </a:solidFill>
              <a:sym typeface="Symbol" panose="05050102010706020507" pitchFamily="18" charset="2"/>
            </a:endParaRPr>
          </a:p>
          <a:p>
            <a:pPr eaLnBrk="1" hangingPunct="1">
              <a:lnSpc>
                <a:spcPct val="125000"/>
              </a:lnSpc>
              <a:buNone/>
            </a:pPr>
            <a:r>
              <a:rPr lang="en-US" altLang="zh-CN" i="1" dirty="0">
                <a:solidFill>
                  <a:schemeClr val="tx1"/>
                </a:solidFill>
                <a:sym typeface="Symbol" panose="05050102010706020507" pitchFamily="18" charset="2"/>
              </a:rPr>
              <a:t>	</a:t>
            </a:r>
            <a:r>
              <a:rPr lang="zh-CN" altLang="en-US" dirty="0">
                <a:solidFill>
                  <a:schemeClr val="tx1"/>
                </a:solidFill>
                <a:sym typeface="Symbol" panose="05050102010706020507" pitchFamily="18" charset="2"/>
              </a:rPr>
              <a:t>具有无损连接性的充要条件是：</a:t>
            </a:r>
            <a:endParaRPr lang="zh-CN" altLang="en-US" dirty="0">
              <a:solidFill>
                <a:schemeClr val="tx1"/>
              </a:solidFill>
              <a:sym typeface="Symbol" panose="05050102010706020507" pitchFamily="18" charset="2"/>
            </a:endParaRPr>
          </a:p>
          <a:p>
            <a:pPr eaLnBrk="1" hangingPunct="1">
              <a:lnSpc>
                <a:spcPct val="125000"/>
              </a:lnSpc>
              <a:buNone/>
            </a:pPr>
            <a:r>
              <a:rPr lang="zh-CN" altLang="en-US" dirty="0">
                <a:solidFill>
                  <a:schemeClr val="tx1"/>
                </a:solidFill>
              </a:rPr>
              <a:t>	</a:t>
            </a:r>
            <a:r>
              <a:rPr lang="en-US" altLang="zh-CN" i="1" dirty="0">
                <a:solidFill>
                  <a:schemeClr val="tx1"/>
                </a:solidFill>
              </a:rPr>
              <a:t>U</a:t>
            </a:r>
            <a:r>
              <a:rPr lang="en-US" altLang="zh-CN" i="1" baseline="-25000" dirty="0">
                <a:solidFill>
                  <a:schemeClr val="tx1"/>
                </a:solidFill>
              </a:rPr>
              <a:t>1</a:t>
            </a:r>
            <a:r>
              <a:rPr lang="en-US" altLang="zh-CN" i="1" dirty="0">
                <a:solidFill>
                  <a:schemeClr val="tx1"/>
                </a:solidFill>
                <a:latin typeface="宋体" panose="02010600030101010101" pitchFamily="2" charset="-122"/>
              </a:rPr>
              <a:t>∩</a:t>
            </a:r>
            <a:r>
              <a:rPr lang="en-US" altLang="zh-CN" i="1" dirty="0">
                <a:solidFill>
                  <a:schemeClr val="tx1"/>
                </a:solidFill>
              </a:rPr>
              <a:t> U</a:t>
            </a:r>
            <a:r>
              <a:rPr lang="en-US" altLang="zh-CN" i="1" baseline="-25000" dirty="0">
                <a:solidFill>
                  <a:schemeClr val="tx1"/>
                </a:solidFill>
              </a:rPr>
              <a:t>2</a:t>
            </a:r>
            <a:r>
              <a:rPr lang="en-US" altLang="zh-CN" sz="2800" i="1" dirty="0">
                <a:solidFill>
                  <a:schemeClr val="tx1"/>
                </a:solidFill>
              </a:rPr>
              <a:t>→</a:t>
            </a:r>
            <a:r>
              <a:rPr lang="en-US" altLang="zh-CN" i="1" dirty="0">
                <a:solidFill>
                  <a:schemeClr val="tx1"/>
                </a:solidFill>
              </a:rPr>
              <a:t> U</a:t>
            </a:r>
            <a:r>
              <a:rPr lang="en-US" altLang="zh-CN" i="1" baseline="-25000" dirty="0">
                <a:solidFill>
                  <a:schemeClr val="tx1"/>
                </a:solidFill>
              </a:rPr>
              <a:t>1</a:t>
            </a:r>
            <a:r>
              <a:rPr lang="en-US" altLang="zh-CN" i="1" dirty="0">
                <a:solidFill>
                  <a:schemeClr val="tx1"/>
                </a:solidFill>
              </a:rPr>
              <a:t>-U</a:t>
            </a:r>
            <a:r>
              <a:rPr lang="en-US" altLang="zh-CN" i="1" baseline="-25000" dirty="0">
                <a:solidFill>
                  <a:schemeClr val="tx1"/>
                </a:solidFill>
              </a:rPr>
              <a:t>2</a:t>
            </a:r>
            <a:r>
              <a:rPr lang="en-US" altLang="zh-CN" i="1" dirty="0">
                <a:solidFill>
                  <a:schemeClr val="tx1"/>
                </a:solidFill>
              </a:rPr>
              <a:t> ∈F</a:t>
            </a:r>
            <a:r>
              <a:rPr lang="en-US" altLang="zh-CN" i="1" baseline="30000" dirty="0">
                <a:solidFill>
                  <a:schemeClr val="tx1"/>
                </a:solidFill>
              </a:rPr>
              <a:t>+</a:t>
            </a:r>
            <a:r>
              <a:rPr lang="en-US" altLang="zh-CN" dirty="0">
                <a:solidFill>
                  <a:schemeClr val="tx1"/>
                </a:solidFill>
              </a:rPr>
              <a:t>   </a:t>
            </a:r>
            <a:r>
              <a:rPr lang="zh-CN" altLang="en-US" dirty="0">
                <a:solidFill>
                  <a:schemeClr val="tx1"/>
                </a:solidFill>
              </a:rPr>
              <a:t>或</a:t>
            </a:r>
            <a:endParaRPr lang="zh-CN" altLang="en-US" dirty="0">
              <a:solidFill>
                <a:schemeClr val="tx1"/>
              </a:solidFill>
            </a:endParaRPr>
          </a:p>
          <a:p>
            <a:pPr eaLnBrk="1" hangingPunct="1">
              <a:lnSpc>
                <a:spcPct val="125000"/>
              </a:lnSpc>
              <a:buNone/>
            </a:pPr>
            <a:r>
              <a:rPr lang="zh-CN" altLang="en-US" dirty="0">
                <a:solidFill>
                  <a:schemeClr val="tx1"/>
                </a:solidFill>
              </a:rPr>
              <a:t>	</a:t>
            </a:r>
            <a:r>
              <a:rPr lang="en-US" altLang="zh-CN" i="1" dirty="0">
                <a:solidFill>
                  <a:schemeClr val="tx1"/>
                </a:solidFill>
              </a:rPr>
              <a:t>U</a:t>
            </a:r>
            <a:r>
              <a:rPr lang="en-US" altLang="zh-CN" i="1" baseline="-25000" dirty="0">
                <a:solidFill>
                  <a:schemeClr val="tx1"/>
                </a:solidFill>
              </a:rPr>
              <a:t>1</a:t>
            </a:r>
            <a:r>
              <a:rPr lang="en-US" altLang="zh-CN" i="1" dirty="0">
                <a:solidFill>
                  <a:schemeClr val="tx1"/>
                </a:solidFill>
                <a:latin typeface="宋体" panose="02010600030101010101" pitchFamily="2" charset="-122"/>
              </a:rPr>
              <a:t>∩</a:t>
            </a:r>
            <a:r>
              <a:rPr lang="en-US" altLang="zh-CN" i="1" dirty="0">
                <a:solidFill>
                  <a:schemeClr val="tx1"/>
                </a:solidFill>
              </a:rPr>
              <a:t> U</a:t>
            </a:r>
            <a:r>
              <a:rPr lang="en-US" altLang="zh-CN" i="1" baseline="-25000" dirty="0">
                <a:solidFill>
                  <a:schemeClr val="tx1"/>
                </a:solidFill>
              </a:rPr>
              <a:t>2</a:t>
            </a:r>
            <a:r>
              <a:rPr lang="en-US" altLang="zh-CN" sz="2800" i="1" dirty="0">
                <a:solidFill>
                  <a:schemeClr val="tx1"/>
                </a:solidFill>
              </a:rPr>
              <a:t>→</a:t>
            </a:r>
            <a:r>
              <a:rPr lang="en-US" altLang="zh-CN" i="1" dirty="0">
                <a:solidFill>
                  <a:schemeClr val="tx1"/>
                </a:solidFill>
              </a:rPr>
              <a:t> U</a:t>
            </a:r>
            <a:r>
              <a:rPr lang="en-US" altLang="zh-CN" i="1" baseline="-25000" dirty="0">
                <a:solidFill>
                  <a:schemeClr val="tx1"/>
                </a:solidFill>
              </a:rPr>
              <a:t>2</a:t>
            </a:r>
            <a:r>
              <a:rPr lang="en-US" altLang="zh-CN" i="1" dirty="0">
                <a:solidFill>
                  <a:schemeClr val="tx1"/>
                </a:solidFill>
              </a:rPr>
              <a:t>-U</a:t>
            </a:r>
            <a:r>
              <a:rPr lang="en-US" altLang="zh-CN" i="1" baseline="-25000" dirty="0">
                <a:solidFill>
                  <a:schemeClr val="tx1"/>
                </a:solidFill>
              </a:rPr>
              <a:t>1</a:t>
            </a:r>
            <a:r>
              <a:rPr lang="en-US" altLang="zh-CN" i="1" dirty="0">
                <a:solidFill>
                  <a:schemeClr val="tx1"/>
                </a:solidFill>
              </a:rPr>
              <a:t> ∈F</a:t>
            </a:r>
            <a:r>
              <a:rPr lang="en-US" altLang="zh-CN" i="1" baseline="30000" dirty="0">
                <a:solidFill>
                  <a:schemeClr val="tx1"/>
                </a:solidFill>
              </a:rPr>
              <a:t>+</a:t>
            </a:r>
            <a:r>
              <a:rPr lang="en-US" altLang="zh-CN" dirty="0">
                <a:solidFill>
                  <a:schemeClr val="tx1"/>
                </a:solidFill>
              </a:rPr>
              <a:t> </a:t>
            </a:r>
            <a:endParaRPr lang="en-US" altLang="zh-CN" dirty="0">
              <a:solidFill>
                <a:schemeClr val="tx1"/>
              </a:solidFill>
            </a:endParaRPr>
          </a:p>
        </p:txBody>
      </p:sp>
      <p:sp>
        <p:nvSpPr>
          <p:cNvPr id="23556"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4579" name="Rectangle 2"/>
          <p:cNvSpPr>
            <a:spLocks noGrp="1"/>
          </p:cNvSpPr>
          <p:nvPr>
            <p:ph idx="1"/>
          </p:nvPr>
        </p:nvSpPr>
        <p:spPr>
          <a:xfrm>
            <a:off x="381000" y="838200"/>
            <a:ext cx="8610600" cy="685800"/>
          </a:xfrm>
          <a:ln/>
        </p:spPr>
        <p:txBody>
          <a:bodyPr vert="horz" wrap="square" lIns="91440" tIns="45720" rIns="91440" bIns="45720" anchor="t" anchorCtr="0"/>
          <a:p>
            <a:pPr eaLnBrk="1" hangingPunct="1">
              <a:lnSpc>
                <a:spcPct val="125000"/>
              </a:lnSpc>
              <a:buNone/>
            </a:pPr>
            <a:r>
              <a:rPr lang="zh-CN" altLang="en-US" sz="2800" dirty="0">
                <a:ea typeface="黑体" panose="02010609060101010101" pitchFamily="49" charset="-122"/>
              </a:rPr>
              <a:t>证明</a:t>
            </a:r>
            <a:r>
              <a:rPr lang="zh-CN" altLang="en-US" sz="2800" dirty="0"/>
              <a:t>  </a:t>
            </a:r>
            <a:r>
              <a:rPr lang="zh-CN" altLang="en-US" sz="2800" i="1" dirty="0">
                <a:solidFill>
                  <a:schemeClr val="tx1"/>
                </a:solidFill>
                <a:sym typeface="Symbol" panose="05050102010706020507" pitchFamily="18" charset="2"/>
              </a:rPr>
              <a:t>借助算法</a:t>
            </a:r>
            <a:r>
              <a:rPr lang="en-US" altLang="zh-CN" sz="2800" i="1" dirty="0">
                <a:solidFill>
                  <a:schemeClr val="tx1"/>
                </a:solidFill>
                <a:sym typeface="Symbol" panose="05050102010706020507" pitchFamily="18" charset="2"/>
              </a:rPr>
              <a:t>6.2,</a:t>
            </a:r>
            <a:r>
              <a:rPr lang="zh-CN" altLang="en-US" sz="2800" i="1" dirty="0">
                <a:solidFill>
                  <a:schemeClr val="tx1"/>
                </a:solidFill>
                <a:sym typeface="Symbol" panose="05050102010706020507" pitchFamily="18" charset="2"/>
              </a:rPr>
              <a:t>将</a:t>
            </a:r>
            <a:r>
              <a:rPr lang="en-US" altLang="zh-CN" sz="2800" i="1" dirty="0">
                <a:solidFill>
                  <a:schemeClr val="tx1"/>
                </a:solidFill>
                <a:sym typeface="Symbol" panose="05050102010706020507" pitchFamily="18" charset="2"/>
              </a:rPr>
              <a:t>R</a:t>
            </a:r>
            <a:r>
              <a:rPr lang="zh-CN" altLang="en-US" sz="2800" i="1" dirty="0">
                <a:solidFill>
                  <a:schemeClr val="tx1"/>
                </a:solidFill>
                <a:sym typeface="Symbol" panose="05050102010706020507" pitchFamily="18" charset="2"/>
              </a:rPr>
              <a:t>的属性分成三部分	</a:t>
            </a:r>
            <a:r>
              <a:rPr lang="en-US" altLang="zh-CN" sz="2800" i="1" dirty="0">
                <a:solidFill>
                  <a:schemeClr val="tx1"/>
                </a:solidFill>
                <a:sym typeface="Symbol" panose="05050102010706020507" pitchFamily="18" charset="2"/>
              </a:rPr>
              <a:t>,…</a:t>
            </a:r>
            <a:endParaRPr lang="en-US" altLang="zh-CN" sz="2800" dirty="0">
              <a:solidFill>
                <a:schemeClr val="tx1"/>
              </a:solidFill>
            </a:endParaRPr>
          </a:p>
        </p:txBody>
      </p:sp>
      <p:sp>
        <p:nvSpPr>
          <p:cNvPr id="24580"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graphicFrame>
        <p:nvGraphicFramePr>
          <p:cNvPr id="27652" name="Group 4"/>
          <p:cNvGraphicFramePr>
            <a:graphicFrameLocks noGrp="1"/>
          </p:cNvGraphicFramePr>
          <p:nvPr/>
        </p:nvGraphicFramePr>
        <p:xfrm>
          <a:off x="1447800" y="1752600"/>
          <a:ext cx="6934200" cy="1774825"/>
        </p:xfrm>
        <a:graphic>
          <a:graphicData uri="http://schemas.openxmlformats.org/drawingml/2006/table">
            <a:tbl>
              <a:tblPr/>
              <a:tblGrid>
                <a:gridCol w="990600"/>
                <a:gridCol w="2133600"/>
                <a:gridCol w="1905000"/>
                <a:gridCol w="1905000"/>
              </a:tblGrid>
              <a:tr h="591608">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endParaRPr kumimoji="1" lang="en-US" altLang="en-US"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51978" marB="5197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32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U</a:t>
                      </a:r>
                      <a:r>
                        <a:rPr kumimoji="1" lang="en-US" altLang="zh-CN" sz="3200" b="1" i="1"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1</a:t>
                      </a:r>
                      <a:r>
                        <a:rPr kumimoji="1" lang="en-US" altLang="zh-CN" sz="3200" b="1" i="1"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1" lang="en-US" altLang="zh-CN" sz="32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U</a:t>
                      </a:r>
                      <a:r>
                        <a:rPr kumimoji="1" lang="en-US" altLang="zh-CN" sz="3200" b="1" i="1"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2</a:t>
                      </a:r>
                      <a:endParaRPr kumimoji="1" lang="en-US" altLang="zh-CN" sz="3200" b="1" i="1"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T="51978" marB="5197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32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U</a:t>
                      </a:r>
                      <a:r>
                        <a:rPr kumimoji="1" lang="en-US" altLang="zh-CN" sz="3200" b="1" i="1"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1</a:t>
                      </a:r>
                      <a:r>
                        <a:rPr kumimoji="1" lang="en-US" altLang="zh-CN" sz="32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-U</a:t>
                      </a:r>
                      <a:r>
                        <a:rPr kumimoji="1" lang="en-US" altLang="zh-CN" sz="3200" b="1" i="1"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2</a:t>
                      </a:r>
                      <a:endParaRPr kumimoji="1" lang="en-US" altLang="zh-CN" sz="3200" b="1" i="1"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T="51978" marB="5197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32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U</a:t>
                      </a:r>
                      <a:r>
                        <a:rPr kumimoji="1" lang="en-US" altLang="zh-CN" sz="3200" b="1" i="1"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2</a:t>
                      </a:r>
                      <a:r>
                        <a:rPr kumimoji="1" lang="en-US" altLang="zh-CN" sz="32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-U</a:t>
                      </a:r>
                      <a:r>
                        <a:rPr kumimoji="1" lang="en-US" altLang="zh-CN" sz="3200" b="1" i="1"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1</a:t>
                      </a:r>
                      <a:endParaRPr kumimoji="1" lang="en-US" altLang="zh-CN" sz="3200" b="1" i="1"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T="51978" marB="5197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91608">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32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U</a:t>
                      </a:r>
                      <a:r>
                        <a:rPr kumimoji="1" lang="en-US" altLang="zh-CN" sz="3200" b="1" i="1"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1</a:t>
                      </a:r>
                      <a:endParaRPr kumimoji="1" lang="en-US" altLang="zh-CN" sz="3200" b="1" i="1"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T="51978" marB="5197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aa…a</a:t>
                      </a:r>
                      <a:endPar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T="51978" marB="5197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aa…a</a:t>
                      </a:r>
                      <a:endPar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T="51978" marB="5197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bb…b</a:t>
                      </a:r>
                      <a:endPar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T="51978" marB="5197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591608">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32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U</a:t>
                      </a:r>
                      <a:r>
                        <a:rPr kumimoji="1" lang="en-US" altLang="zh-CN" sz="3200" b="1" i="1"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2</a:t>
                      </a:r>
                      <a:endParaRPr kumimoji="1" lang="en-US" altLang="zh-CN" sz="3200" b="1" i="1"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endParaRPr>
                    </a:p>
                  </a:txBody>
                  <a:tcPr marT="51978" marB="5197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aa…a</a:t>
                      </a:r>
                      <a:endPar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T="51978" marB="5197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bb…b</a:t>
                      </a:r>
                      <a:endPar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T="51978" marB="5197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spcBef>
                          <a:spcPct val="20000"/>
                        </a:spcBef>
                        <a:spcAft>
                          <a:spcPct val="0"/>
                        </a:spcAft>
                        <a:buClr>
                          <a:srgbClr val="FF3300"/>
                        </a:buClr>
                        <a:buSzTx/>
                        <a:buFont typeface="Wingdings" panose="05000000000000000000" pitchFamily="2" charset="2"/>
                        <a:buNone/>
                      </a:pPr>
                      <a:r>
                        <a:rPr kumimoji="1" lang="en-US" altLang="zh-CN" sz="3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aa…a</a:t>
                      </a:r>
                      <a:endParaRPr kumimoji="1" lang="en-US" altLang="zh-CN" sz="3200" b="1" i="0" u="none" strike="noStrike" cap="none" normalizeH="0" baseline="-16000" smtClean="0">
                        <a:ln>
                          <a:noFill/>
                        </a:ln>
                        <a:solidFill>
                          <a:schemeClr val="tx1"/>
                        </a:solidFill>
                        <a:effectLst/>
                        <a:latin typeface="Times New Roman" panose="02020603050405020304" pitchFamily="18" charset="0"/>
                        <a:ea typeface="宋体" panose="02010600030101010101" pitchFamily="2" charset="-122"/>
                      </a:endParaRPr>
                    </a:p>
                  </a:txBody>
                  <a:tcPr marT="51978" marB="5197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4602" name="Rectangle 27"/>
          <p:cNvSpPr/>
          <p:nvPr/>
        </p:nvSpPr>
        <p:spPr>
          <a:xfrm>
            <a:off x="228600" y="3505200"/>
            <a:ext cx="8610600" cy="28194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457200" lvl="0" indent="-457200" eaLnBrk="1" hangingPunct="1">
              <a:lnSpc>
                <a:spcPct val="125000"/>
              </a:lnSpc>
              <a:buNone/>
            </a:pPr>
            <a:r>
              <a:rPr lang="en-US" altLang="zh-CN" sz="2800" b="0" dirty="0">
                <a:solidFill>
                  <a:schemeClr val="tx1"/>
                </a:solidFill>
              </a:rPr>
              <a:t>(1) </a:t>
            </a:r>
            <a:r>
              <a:rPr lang="zh-CN" altLang="en-US" sz="2800" b="0" dirty="0">
                <a:solidFill>
                  <a:schemeClr val="tx1"/>
                </a:solidFill>
                <a:latin typeface="宋体" panose="02010600030101010101" pitchFamily="2" charset="-122"/>
              </a:rPr>
              <a:t>充分性</a:t>
            </a:r>
            <a:endParaRPr lang="zh-CN" altLang="en-US" sz="2800" b="0" dirty="0">
              <a:solidFill>
                <a:schemeClr val="tx1"/>
              </a:solidFill>
              <a:latin typeface="宋体" panose="02010600030101010101" pitchFamily="2" charset="-122"/>
            </a:endParaRPr>
          </a:p>
          <a:p>
            <a:pPr marL="457200" lvl="0" indent="-457200" eaLnBrk="1" hangingPunct="1">
              <a:lnSpc>
                <a:spcPct val="125000"/>
              </a:lnSpc>
              <a:buNone/>
            </a:pPr>
            <a:r>
              <a:rPr lang="zh-CN" altLang="en-US" sz="2800" b="0" i="1" dirty="0">
                <a:solidFill>
                  <a:schemeClr val="tx1"/>
                </a:solidFill>
              </a:rPr>
              <a:t>	如有</a:t>
            </a:r>
            <a:r>
              <a:rPr lang="en-US" altLang="zh-CN" sz="2800" b="0" i="1" dirty="0">
                <a:solidFill>
                  <a:schemeClr val="tx1"/>
                </a:solidFill>
              </a:rPr>
              <a:t>U</a:t>
            </a:r>
            <a:r>
              <a:rPr lang="en-US" altLang="zh-CN" sz="2800" b="0" i="1" baseline="-25000" dirty="0">
                <a:solidFill>
                  <a:schemeClr val="tx1"/>
                </a:solidFill>
              </a:rPr>
              <a:t>1</a:t>
            </a:r>
            <a:r>
              <a:rPr lang="en-US" altLang="zh-CN" sz="2800" b="0" i="1" dirty="0">
                <a:solidFill>
                  <a:schemeClr val="tx1"/>
                </a:solidFill>
                <a:latin typeface="宋体" panose="02010600030101010101" pitchFamily="2" charset="-122"/>
              </a:rPr>
              <a:t>∩</a:t>
            </a:r>
            <a:r>
              <a:rPr lang="en-US" altLang="zh-CN" sz="2800" b="0" i="1" dirty="0">
                <a:solidFill>
                  <a:schemeClr val="tx1"/>
                </a:solidFill>
              </a:rPr>
              <a:t> U</a:t>
            </a:r>
            <a:r>
              <a:rPr lang="en-US" altLang="zh-CN" sz="2800" b="0" i="1" baseline="-25000" dirty="0">
                <a:solidFill>
                  <a:schemeClr val="tx1"/>
                </a:solidFill>
              </a:rPr>
              <a:t>2</a:t>
            </a:r>
            <a:r>
              <a:rPr lang="en-US" altLang="zh-CN" sz="2800" b="0" i="1" dirty="0">
                <a:solidFill>
                  <a:schemeClr val="tx1"/>
                </a:solidFill>
              </a:rPr>
              <a:t>→ U</a:t>
            </a:r>
            <a:r>
              <a:rPr lang="en-US" altLang="zh-CN" sz="2800" b="0" i="1" baseline="-25000" dirty="0">
                <a:solidFill>
                  <a:schemeClr val="tx1"/>
                </a:solidFill>
              </a:rPr>
              <a:t>1</a:t>
            </a:r>
            <a:r>
              <a:rPr lang="en-US" altLang="zh-CN" sz="2800" b="0" i="1" dirty="0">
                <a:solidFill>
                  <a:schemeClr val="tx1"/>
                </a:solidFill>
              </a:rPr>
              <a:t>-U</a:t>
            </a:r>
            <a:r>
              <a:rPr lang="en-US" altLang="zh-CN" sz="2800" b="0" i="1" baseline="-25000" dirty="0">
                <a:solidFill>
                  <a:schemeClr val="tx1"/>
                </a:solidFill>
              </a:rPr>
              <a:t>2</a:t>
            </a:r>
            <a:r>
              <a:rPr lang="en-US" altLang="zh-CN" sz="2800" b="0" i="1" dirty="0">
                <a:solidFill>
                  <a:schemeClr val="tx1"/>
                </a:solidFill>
              </a:rPr>
              <a:t>,</a:t>
            </a:r>
            <a:r>
              <a:rPr lang="zh-CN" altLang="en-US" sz="2800" b="0" i="1" dirty="0">
                <a:solidFill>
                  <a:schemeClr val="tx1"/>
                </a:solidFill>
              </a:rPr>
              <a:t>则</a:t>
            </a:r>
            <a:r>
              <a:rPr lang="en-US" altLang="zh-CN" sz="2800" b="0" i="1" dirty="0">
                <a:solidFill>
                  <a:schemeClr val="tx1"/>
                </a:solidFill>
              </a:rPr>
              <a:t>U2</a:t>
            </a:r>
            <a:r>
              <a:rPr lang="zh-CN" altLang="en-US" sz="2800" b="0" i="1" dirty="0">
                <a:solidFill>
                  <a:schemeClr val="tx1"/>
                </a:solidFill>
              </a:rPr>
              <a:t>行</a:t>
            </a:r>
            <a:r>
              <a:rPr lang="en-US" altLang="zh-CN" sz="2800" b="0" i="1" dirty="0">
                <a:solidFill>
                  <a:schemeClr val="tx1"/>
                </a:solidFill>
              </a:rPr>
              <a:t>(U1-U2)</a:t>
            </a:r>
            <a:r>
              <a:rPr lang="zh-CN" altLang="en-US" sz="2800" b="0" i="1" dirty="0">
                <a:solidFill>
                  <a:schemeClr val="tx1"/>
                </a:solidFill>
              </a:rPr>
              <a:t>列全改为</a:t>
            </a:r>
            <a:r>
              <a:rPr lang="en-US" altLang="zh-CN" sz="2800" b="0" i="1" dirty="0">
                <a:solidFill>
                  <a:schemeClr val="tx1"/>
                </a:solidFill>
              </a:rPr>
              <a:t>a,</a:t>
            </a:r>
            <a:r>
              <a:rPr lang="zh-CN" altLang="en-US" sz="2800" b="0" i="1" dirty="0">
                <a:solidFill>
                  <a:schemeClr val="tx1"/>
                </a:solidFill>
              </a:rPr>
              <a:t>于是</a:t>
            </a:r>
            <a:r>
              <a:rPr lang="en-US" altLang="zh-CN" sz="2800" b="0" i="1" dirty="0">
                <a:solidFill>
                  <a:schemeClr val="tx1"/>
                </a:solidFill>
              </a:rPr>
              <a:t>U2</a:t>
            </a:r>
            <a:r>
              <a:rPr lang="zh-CN" altLang="en-US" sz="2800" b="0" i="1" dirty="0">
                <a:solidFill>
                  <a:schemeClr val="tx1"/>
                </a:solidFill>
              </a:rPr>
              <a:t>行全为</a:t>
            </a:r>
            <a:r>
              <a:rPr lang="en-US" altLang="zh-CN" sz="2800" b="0" i="1" dirty="0">
                <a:solidFill>
                  <a:schemeClr val="tx1"/>
                </a:solidFill>
              </a:rPr>
              <a:t>a. </a:t>
            </a:r>
            <a:r>
              <a:rPr lang="zh-CN" altLang="en-US" sz="2800" b="0" i="1" dirty="0">
                <a:solidFill>
                  <a:schemeClr val="tx1"/>
                </a:solidFill>
              </a:rPr>
              <a:t>分解具有无损连接性</a:t>
            </a:r>
            <a:r>
              <a:rPr lang="en-US" altLang="zh-CN" sz="2800" b="0" i="1" dirty="0">
                <a:solidFill>
                  <a:schemeClr val="tx1"/>
                </a:solidFill>
              </a:rPr>
              <a:t>; </a:t>
            </a:r>
            <a:r>
              <a:rPr lang="zh-CN" altLang="en-US" sz="2800" b="0" i="1" dirty="0">
                <a:solidFill>
                  <a:schemeClr val="tx1"/>
                </a:solidFill>
              </a:rPr>
              <a:t>同理</a:t>
            </a:r>
            <a:r>
              <a:rPr lang="en-US" altLang="zh-CN" sz="2800" b="0" i="1" dirty="0">
                <a:solidFill>
                  <a:schemeClr val="tx1"/>
                </a:solidFill>
              </a:rPr>
              <a:t>,…</a:t>
            </a:r>
            <a:endParaRPr lang="en-US" altLang="zh-CN" sz="2800" b="0" i="1" dirty="0">
              <a:solidFill>
                <a:schemeClr val="tx1"/>
              </a:solidFill>
            </a:endParaRPr>
          </a:p>
          <a:p>
            <a:pPr marL="457200" lvl="0" indent="-457200" eaLnBrk="1" hangingPunct="1">
              <a:lnSpc>
                <a:spcPct val="125000"/>
              </a:lnSpc>
              <a:buNone/>
            </a:pPr>
            <a:r>
              <a:rPr lang="en-US" altLang="zh-CN" sz="2800" b="0" dirty="0">
                <a:solidFill>
                  <a:schemeClr val="tx1"/>
                </a:solidFill>
              </a:rPr>
              <a:t>(2) </a:t>
            </a:r>
            <a:r>
              <a:rPr lang="zh-CN" altLang="en-US" sz="2800" b="0" dirty="0">
                <a:solidFill>
                  <a:schemeClr val="tx1"/>
                </a:solidFill>
              </a:rPr>
              <a:t>必要性</a:t>
            </a:r>
            <a:endParaRPr lang="zh-CN" altLang="en-US" sz="2800" b="0" dirty="0">
              <a:solidFill>
                <a:schemeClr val="tx1"/>
              </a:solidFill>
            </a:endParaRPr>
          </a:p>
          <a:p>
            <a:pPr marL="457200" lvl="0" indent="-457200" eaLnBrk="1" hangingPunct="1">
              <a:lnSpc>
                <a:spcPct val="125000"/>
              </a:lnSpc>
              <a:buNone/>
            </a:pPr>
            <a:r>
              <a:rPr lang="zh-CN" altLang="en-US" sz="2800" b="0" dirty="0">
                <a:solidFill>
                  <a:schemeClr val="tx1"/>
                </a:solidFill>
              </a:rPr>
              <a:t>	如是无损连接，则必有一行全</a:t>
            </a:r>
            <a:r>
              <a:rPr lang="en-US" altLang="zh-CN" sz="2800" b="0" i="1" dirty="0">
                <a:solidFill>
                  <a:schemeClr val="tx1"/>
                </a:solidFill>
              </a:rPr>
              <a:t>a</a:t>
            </a:r>
            <a:r>
              <a:rPr lang="zh-CN" altLang="en-US" sz="2800" b="0" i="1" dirty="0">
                <a:solidFill>
                  <a:schemeClr val="tx1"/>
                </a:solidFill>
              </a:rPr>
              <a:t>，</a:t>
            </a:r>
            <a:r>
              <a:rPr lang="en-US" altLang="zh-CN" sz="2800" b="0" i="1" dirty="0">
                <a:solidFill>
                  <a:schemeClr val="tx1"/>
                </a:solidFill>
              </a:rPr>
              <a:t>…</a:t>
            </a:r>
            <a:endParaRPr lang="en-US" altLang="zh-CN" sz="2800" b="0" i="1" dirty="0">
              <a:solidFill>
                <a:schemeClr val="tx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5603" name="Rectangle 2"/>
          <p:cNvSpPr>
            <a:spLocks noGrp="1"/>
          </p:cNvSpPr>
          <p:nvPr>
            <p:ph idx="1"/>
          </p:nvPr>
        </p:nvSpPr>
        <p:spPr>
          <a:xfrm>
            <a:off x="381000" y="838200"/>
            <a:ext cx="8610600" cy="5410200"/>
          </a:xfrm>
          <a:ln/>
        </p:spPr>
        <p:txBody>
          <a:bodyPr vert="horz" wrap="square" lIns="91440" tIns="45720" rIns="91440" bIns="45720" anchor="t" anchorCtr="0"/>
          <a:p>
            <a:pPr eaLnBrk="1" hangingPunct="1">
              <a:lnSpc>
                <a:spcPct val="120000"/>
              </a:lnSpc>
              <a:buNone/>
            </a:pPr>
            <a:r>
              <a:rPr lang="en-US" altLang="zh-CN" sz="2800" dirty="0">
                <a:solidFill>
                  <a:schemeClr val="tx1"/>
                </a:solidFill>
              </a:rPr>
              <a:t>【</a:t>
            </a:r>
            <a:r>
              <a:rPr lang="zh-CN" altLang="en-US" sz="2800" dirty="0">
                <a:solidFill>
                  <a:schemeClr val="tx1"/>
                </a:solidFill>
              </a:rPr>
              <a:t>例</a:t>
            </a:r>
            <a:r>
              <a:rPr lang="en-US" altLang="zh-CN" sz="2800" dirty="0">
                <a:solidFill>
                  <a:schemeClr val="tx1"/>
                </a:solidFill>
              </a:rPr>
              <a:t>6.19】  R&lt;U,F&gt;,U={A,B,C},F={</a:t>
            </a:r>
            <a:r>
              <a:rPr lang="en-US" altLang="zh-CN" sz="2800" i="1" dirty="0">
                <a:solidFill>
                  <a:schemeClr val="tx1"/>
                </a:solidFill>
              </a:rPr>
              <a:t>A→ B</a:t>
            </a:r>
            <a:r>
              <a:rPr lang="en-US" altLang="zh-CN" sz="2800" dirty="0">
                <a:solidFill>
                  <a:schemeClr val="tx1"/>
                </a:solidFill>
              </a:rPr>
              <a:t>}</a:t>
            </a:r>
            <a:r>
              <a:rPr lang="zh-CN" altLang="en-US" sz="2800" dirty="0">
                <a:solidFill>
                  <a:schemeClr val="tx1"/>
                </a:solidFill>
              </a:rPr>
              <a:t>的两个分解：</a:t>
            </a:r>
            <a:endParaRPr lang="zh-CN" altLang="en-US" sz="2800" dirty="0">
              <a:solidFill>
                <a:schemeClr val="tx1"/>
              </a:solidFill>
            </a:endParaRPr>
          </a:p>
          <a:p>
            <a:pPr eaLnBrk="1" hangingPunct="1">
              <a:lnSpc>
                <a:spcPct val="120000"/>
              </a:lnSpc>
              <a:buNone/>
            </a:pPr>
            <a:r>
              <a:rPr lang="zh-CN" altLang="en-US" sz="2800" i="1" dirty="0">
                <a:solidFill>
                  <a:schemeClr val="tx1"/>
                </a:solidFill>
                <a:sym typeface="Symbol" panose="05050102010706020507" pitchFamily="18" charset="2"/>
              </a:rPr>
              <a:t>	  </a:t>
            </a:r>
            <a:r>
              <a:rPr lang="en-US" altLang="zh-CN" sz="2800" dirty="0">
                <a:solidFill>
                  <a:schemeClr val="tx1"/>
                </a:solidFill>
                <a:sym typeface="Symbol" panose="05050102010706020507" pitchFamily="18" charset="2"/>
              </a:rPr>
              <a:t>(1)</a:t>
            </a:r>
            <a:r>
              <a:rPr lang="en-US" altLang="zh-CN" sz="2800" i="1" dirty="0">
                <a:solidFill>
                  <a:schemeClr val="tx1"/>
                </a:solidFill>
                <a:sym typeface="Symbol" panose="05050102010706020507" pitchFamily="18" charset="2"/>
              </a:rPr>
              <a:t>  </a:t>
            </a:r>
            <a:r>
              <a:rPr lang="en-US" altLang="zh-CN" sz="2800" i="1" baseline="-25000" dirty="0">
                <a:solidFill>
                  <a:schemeClr val="tx1"/>
                </a:solidFill>
                <a:sym typeface="Symbol" panose="05050102010706020507" pitchFamily="18" charset="2"/>
              </a:rPr>
              <a:t>1 </a:t>
            </a:r>
            <a:r>
              <a:rPr lang="en-US" altLang="zh-CN" sz="2800" i="1" dirty="0">
                <a:solidFill>
                  <a:schemeClr val="tx1"/>
                </a:solidFill>
                <a:sym typeface="Symbol" panose="05050102010706020507" pitchFamily="18" charset="2"/>
              </a:rPr>
              <a:t>= </a:t>
            </a:r>
            <a:r>
              <a:rPr lang="en-US" altLang="zh-CN" sz="2800" dirty="0">
                <a:solidFill>
                  <a:schemeClr val="tx1"/>
                </a:solidFill>
                <a:sym typeface="Symbol" panose="05050102010706020507" pitchFamily="18" charset="2"/>
              </a:rPr>
              <a:t>{ </a:t>
            </a:r>
            <a:r>
              <a:rPr lang="en-US" altLang="zh-CN" sz="2800" i="1" dirty="0">
                <a:solidFill>
                  <a:schemeClr val="tx1"/>
                </a:solidFill>
                <a:sym typeface="Symbol" panose="05050102010706020507" pitchFamily="18" charset="2"/>
              </a:rPr>
              <a:t>R</a:t>
            </a:r>
            <a:r>
              <a:rPr lang="en-US" altLang="zh-CN" sz="2800" i="1" baseline="-25000" dirty="0">
                <a:solidFill>
                  <a:schemeClr val="tx1"/>
                </a:solidFill>
                <a:sym typeface="Symbol" panose="05050102010706020507" pitchFamily="18" charset="2"/>
              </a:rPr>
              <a:t>1</a:t>
            </a:r>
            <a:r>
              <a:rPr lang="en-US" altLang="zh-CN" sz="2800" i="1" dirty="0">
                <a:solidFill>
                  <a:schemeClr val="tx1"/>
                </a:solidFill>
                <a:sym typeface="Symbol" panose="05050102010706020507" pitchFamily="18" charset="2"/>
              </a:rPr>
              <a:t>(A,B),R</a:t>
            </a:r>
            <a:r>
              <a:rPr lang="en-US" altLang="zh-CN" sz="2800" i="1" baseline="-25000" dirty="0">
                <a:solidFill>
                  <a:schemeClr val="tx1"/>
                </a:solidFill>
                <a:sym typeface="Symbol" panose="05050102010706020507" pitchFamily="18" charset="2"/>
              </a:rPr>
              <a:t>2</a:t>
            </a:r>
            <a:r>
              <a:rPr lang="en-US" altLang="zh-CN" sz="2800" i="1" dirty="0">
                <a:solidFill>
                  <a:schemeClr val="tx1"/>
                </a:solidFill>
                <a:sym typeface="Symbol" panose="05050102010706020507" pitchFamily="18" charset="2"/>
              </a:rPr>
              <a:t>(A,C) </a:t>
            </a:r>
            <a:r>
              <a:rPr lang="en-US" altLang="zh-CN" sz="2800" dirty="0">
                <a:solidFill>
                  <a:schemeClr val="tx1"/>
                </a:solidFill>
                <a:sym typeface="Symbol" panose="05050102010706020507" pitchFamily="18" charset="2"/>
              </a:rPr>
              <a:t>}</a:t>
            </a:r>
            <a:endParaRPr lang="en-US" altLang="zh-CN" sz="2800" dirty="0">
              <a:solidFill>
                <a:schemeClr val="tx1"/>
              </a:solidFill>
              <a:sym typeface="Symbol" panose="05050102010706020507" pitchFamily="18" charset="2"/>
            </a:endParaRPr>
          </a:p>
          <a:p>
            <a:pPr eaLnBrk="1" hangingPunct="1">
              <a:lnSpc>
                <a:spcPct val="120000"/>
              </a:lnSpc>
              <a:buNone/>
            </a:pPr>
            <a:r>
              <a:rPr lang="en-US" altLang="zh-CN" sz="2800" i="1" dirty="0">
                <a:solidFill>
                  <a:schemeClr val="tx1"/>
                </a:solidFill>
                <a:sym typeface="Symbol" panose="05050102010706020507" pitchFamily="18" charset="2"/>
              </a:rPr>
              <a:t>      </a:t>
            </a:r>
            <a:r>
              <a:rPr lang="en-US" altLang="zh-CN" sz="2800" dirty="0">
                <a:solidFill>
                  <a:schemeClr val="tx1"/>
                </a:solidFill>
                <a:sym typeface="Symbol" panose="05050102010706020507" pitchFamily="18" charset="2"/>
              </a:rPr>
              <a:t>(2)</a:t>
            </a:r>
            <a:r>
              <a:rPr lang="en-US" altLang="zh-CN" sz="2800" i="1" dirty="0">
                <a:solidFill>
                  <a:schemeClr val="tx1"/>
                </a:solidFill>
                <a:sym typeface="Symbol" panose="05050102010706020507" pitchFamily="18" charset="2"/>
              </a:rPr>
              <a:t>  </a:t>
            </a:r>
            <a:r>
              <a:rPr lang="en-US" altLang="zh-CN" sz="2800" i="1" baseline="-25000" dirty="0">
                <a:solidFill>
                  <a:schemeClr val="tx1"/>
                </a:solidFill>
                <a:sym typeface="Symbol" panose="05050102010706020507" pitchFamily="18" charset="2"/>
              </a:rPr>
              <a:t>2 </a:t>
            </a:r>
            <a:r>
              <a:rPr lang="en-US" altLang="zh-CN" sz="2800" i="1" dirty="0">
                <a:solidFill>
                  <a:schemeClr val="tx1"/>
                </a:solidFill>
                <a:sym typeface="Symbol" panose="05050102010706020507" pitchFamily="18" charset="2"/>
              </a:rPr>
              <a:t>= </a:t>
            </a:r>
            <a:r>
              <a:rPr lang="en-US" altLang="zh-CN" sz="2800" dirty="0">
                <a:solidFill>
                  <a:schemeClr val="tx1"/>
                </a:solidFill>
                <a:sym typeface="Symbol" panose="05050102010706020507" pitchFamily="18" charset="2"/>
              </a:rPr>
              <a:t>{ </a:t>
            </a:r>
            <a:r>
              <a:rPr lang="en-US" altLang="zh-CN" sz="2800" i="1" dirty="0">
                <a:solidFill>
                  <a:schemeClr val="tx1"/>
                </a:solidFill>
                <a:sym typeface="Symbol" panose="05050102010706020507" pitchFamily="18" charset="2"/>
              </a:rPr>
              <a:t>R</a:t>
            </a:r>
            <a:r>
              <a:rPr lang="en-US" altLang="zh-CN" sz="2800" i="1" baseline="-25000" dirty="0">
                <a:solidFill>
                  <a:schemeClr val="tx1"/>
                </a:solidFill>
                <a:sym typeface="Symbol" panose="05050102010706020507" pitchFamily="18" charset="2"/>
              </a:rPr>
              <a:t>1</a:t>
            </a:r>
            <a:r>
              <a:rPr lang="en-US" altLang="zh-CN" sz="2800" i="1" dirty="0">
                <a:solidFill>
                  <a:schemeClr val="tx1"/>
                </a:solidFill>
                <a:sym typeface="Symbol" panose="05050102010706020507" pitchFamily="18" charset="2"/>
              </a:rPr>
              <a:t>(A,B),R</a:t>
            </a:r>
            <a:r>
              <a:rPr lang="en-US" altLang="zh-CN" sz="2800" i="1" baseline="-25000" dirty="0">
                <a:solidFill>
                  <a:schemeClr val="tx1"/>
                </a:solidFill>
                <a:sym typeface="Symbol" panose="05050102010706020507" pitchFamily="18" charset="2"/>
              </a:rPr>
              <a:t>2</a:t>
            </a:r>
            <a:r>
              <a:rPr lang="en-US" altLang="zh-CN" sz="2800" i="1" dirty="0">
                <a:solidFill>
                  <a:schemeClr val="tx1"/>
                </a:solidFill>
                <a:sym typeface="Symbol" panose="05050102010706020507" pitchFamily="18" charset="2"/>
              </a:rPr>
              <a:t>(B,C) </a:t>
            </a:r>
            <a:r>
              <a:rPr lang="en-US" altLang="zh-CN" sz="2800" dirty="0">
                <a:solidFill>
                  <a:schemeClr val="tx1"/>
                </a:solidFill>
                <a:sym typeface="Symbol" panose="05050102010706020507" pitchFamily="18" charset="2"/>
              </a:rPr>
              <a:t>}</a:t>
            </a:r>
            <a:endParaRPr lang="en-US" altLang="zh-CN" sz="2800" dirty="0">
              <a:solidFill>
                <a:schemeClr val="tx1"/>
              </a:solidFill>
              <a:sym typeface="Symbol" panose="05050102010706020507" pitchFamily="18" charset="2"/>
            </a:endParaRPr>
          </a:p>
          <a:p>
            <a:pPr eaLnBrk="1" hangingPunct="1">
              <a:lnSpc>
                <a:spcPct val="120000"/>
              </a:lnSpc>
              <a:buNone/>
            </a:pPr>
            <a:r>
              <a:rPr lang="en-US" altLang="zh-CN" sz="2800" dirty="0">
                <a:solidFill>
                  <a:schemeClr val="tx1"/>
                </a:solidFill>
                <a:sym typeface="Symbol" panose="05050102010706020507" pitchFamily="18" charset="2"/>
              </a:rPr>
              <a:t>    </a:t>
            </a:r>
            <a:r>
              <a:rPr lang="zh-CN" altLang="en-US" sz="2800" dirty="0">
                <a:solidFill>
                  <a:schemeClr val="tx1"/>
                </a:solidFill>
                <a:sym typeface="Symbol" panose="05050102010706020507" pitchFamily="18" charset="2"/>
              </a:rPr>
              <a:t>问两分解具有无损连接性吗</a:t>
            </a:r>
            <a:r>
              <a:rPr lang="en-US" altLang="zh-CN" sz="2800" dirty="0">
                <a:solidFill>
                  <a:schemeClr val="tx1"/>
                </a:solidFill>
                <a:sym typeface="Symbol" panose="05050102010706020507" pitchFamily="18" charset="2"/>
              </a:rPr>
              <a:t>?</a:t>
            </a:r>
            <a:endParaRPr lang="en-US" altLang="zh-CN" sz="2800" dirty="0">
              <a:solidFill>
                <a:schemeClr val="tx1"/>
              </a:solidFill>
              <a:sym typeface="Symbol" panose="05050102010706020507" pitchFamily="18" charset="2"/>
            </a:endParaRPr>
          </a:p>
          <a:p>
            <a:pPr eaLnBrk="1" hangingPunct="1">
              <a:lnSpc>
                <a:spcPct val="120000"/>
              </a:lnSpc>
              <a:buNone/>
            </a:pPr>
            <a:r>
              <a:rPr lang="zh-CN" altLang="en-US" sz="2800" dirty="0">
                <a:solidFill>
                  <a:schemeClr val="tx1"/>
                </a:solidFill>
                <a:sym typeface="Symbol" panose="05050102010706020507" pitchFamily="18" charset="2"/>
              </a:rPr>
              <a:t>解</a:t>
            </a:r>
            <a:r>
              <a:rPr lang="en-US" altLang="zh-CN" sz="2800" dirty="0">
                <a:solidFill>
                  <a:schemeClr val="tx1"/>
                </a:solidFill>
                <a:sym typeface="Wingdings" panose="05000000000000000000" pitchFamily="2" charset="2"/>
              </a:rPr>
              <a:t>: (1) </a:t>
            </a:r>
            <a:r>
              <a:rPr lang="en-US" altLang="zh-CN" sz="2800" i="1" dirty="0">
                <a:solidFill>
                  <a:schemeClr val="tx1"/>
                </a:solidFill>
                <a:sym typeface="Wingdings" panose="05000000000000000000" pitchFamily="2" charset="2"/>
              </a:rPr>
              <a:t>AB</a:t>
            </a:r>
            <a:r>
              <a:rPr lang="en-US" altLang="zh-CN" sz="2800" i="1" dirty="0">
                <a:solidFill>
                  <a:schemeClr val="tx1"/>
                </a:solidFill>
                <a:latin typeface="宋体" panose="02010600030101010101" pitchFamily="2" charset="-122"/>
              </a:rPr>
              <a:t>∩</a:t>
            </a:r>
            <a:r>
              <a:rPr lang="en-US" altLang="zh-CN" sz="2800" i="1" dirty="0">
                <a:solidFill>
                  <a:schemeClr val="tx1"/>
                </a:solidFill>
              </a:rPr>
              <a:t>AC = A, AB-AC=B, A→ B ∈F</a:t>
            </a:r>
            <a:r>
              <a:rPr lang="en-US" altLang="zh-CN" sz="2800" i="1" baseline="30000" dirty="0">
                <a:solidFill>
                  <a:schemeClr val="tx1"/>
                </a:solidFill>
              </a:rPr>
              <a:t>+</a:t>
            </a:r>
            <a:r>
              <a:rPr lang="en-US" altLang="zh-CN" sz="2800" dirty="0">
                <a:solidFill>
                  <a:schemeClr val="tx1"/>
                </a:solidFill>
              </a:rPr>
              <a:t> ,</a:t>
            </a:r>
            <a:r>
              <a:rPr lang="zh-CN" altLang="en-US" sz="2800" dirty="0">
                <a:solidFill>
                  <a:schemeClr val="tx1"/>
                </a:solidFill>
              </a:rPr>
              <a:t>故分解</a:t>
            </a:r>
            <a:r>
              <a:rPr lang="zh-CN" altLang="en-US" sz="2800" i="1" dirty="0">
                <a:solidFill>
                  <a:schemeClr val="tx1"/>
                </a:solidFill>
                <a:sym typeface="Symbol" panose="05050102010706020507" pitchFamily="18" charset="2"/>
              </a:rPr>
              <a:t> </a:t>
            </a:r>
            <a:r>
              <a:rPr lang="en-US" altLang="zh-CN" sz="2800" i="1" baseline="-25000" dirty="0">
                <a:solidFill>
                  <a:schemeClr val="tx1"/>
                </a:solidFill>
                <a:sym typeface="Symbol" panose="05050102010706020507" pitchFamily="18" charset="2"/>
              </a:rPr>
              <a:t>1</a:t>
            </a:r>
            <a:r>
              <a:rPr lang="zh-CN" altLang="en-US" sz="2800" dirty="0">
                <a:solidFill>
                  <a:schemeClr val="tx1"/>
                </a:solidFill>
              </a:rPr>
              <a:t>具有无损连接性。</a:t>
            </a:r>
            <a:endParaRPr lang="zh-CN" altLang="en-US" sz="2800" dirty="0">
              <a:solidFill>
                <a:schemeClr val="tx1"/>
              </a:solidFill>
            </a:endParaRPr>
          </a:p>
          <a:p>
            <a:pPr eaLnBrk="1" hangingPunct="1">
              <a:lnSpc>
                <a:spcPct val="120000"/>
              </a:lnSpc>
              <a:buNone/>
            </a:pPr>
            <a:r>
              <a:rPr lang="zh-CN" altLang="en-US" sz="2800" dirty="0">
                <a:solidFill>
                  <a:schemeClr val="tx1"/>
                </a:solidFill>
              </a:rPr>
              <a:t>	</a:t>
            </a:r>
            <a:r>
              <a:rPr lang="en-US" altLang="zh-CN" sz="2800" dirty="0">
                <a:solidFill>
                  <a:schemeClr val="tx1"/>
                </a:solidFill>
              </a:rPr>
              <a:t>(2) </a:t>
            </a:r>
            <a:r>
              <a:rPr lang="en-US" altLang="zh-CN" sz="2800" i="1" dirty="0">
                <a:solidFill>
                  <a:schemeClr val="tx1"/>
                </a:solidFill>
                <a:sym typeface="Wingdings" panose="05000000000000000000" pitchFamily="2" charset="2"/>
              </a:rPr>
              <a:t>AB</a:t>
            </a:r>
            <a:r>
              <a:rPr lang="en-US" altLang="zh-CN" sz="2800" i="1" dirty="0">
                <a:solidFill>
                  <a:schemeClr val="tx1"/>
                </a:solidFill>
                <a:latin typeface="宋体" panose="02010600030101010101" pitchFamily="2" charset="-122"/>
              </a:rPr>
              <a:t>∩</a:t>
            </a:r>
            <a:r>
              <a:rPr lang="en-US" altLang="zh-CN" sz="2800" i="1" dirty="0">
                <a:solidFill>
                  <a:schemeClr val="tx1"/>
                </a:solidFill>
              </a:rPr>
              <a:t>BC = B, AB-BC=A, BC-AB=C. </a:t>
            </a:r>
            <a:endParaRPr lang="en-US" altLang="zh-CN" sz="2800" i="1" dirty="0">
              <a:solidFill>
                <a:schemeClr val="tx1"/>
              </a:solidFill>
            </a:endParaRPr>
          </a:p>
          <a:p>
            <a:pPr eaLnBrk="1" hangingPunct="1">
              <a:lnSpc>
                <a:spcPct val="120000"/>
              </a:lnSpc>
              <a:buNone/>
            </a:pPr>
            <a:r>
              <a:rPr lang="en-US" altLang="zh-CN" sz="2800" i="1" dirty="0">
                <a:solidFill>
                  <a:schemeClr val="tx1"/>
                </a:solidFill>
              </a:rPr>
              <a:t>	</a:t>
            </a:r>
            <a:r>
              <a:rPr lang="zh-CN" altLang="en-US" sz="2800" dirty="0">
                <a:solidFill>
                  <a:schemeClr val="tx1"/>
                </a:solidFill>
              </a:rPr>
              <a:t>无论</a:t>
            </a:r>
            <a:r>
              <a:rPr lang="en-US" altLang="zh-CN" sz="2800" i="1" dirty="0">
                <a:solidFill>
                  <a:schemeClr val="tx1"/>
                </a:solidFill>
              </a:rPr>
              <a:t>B→ A</a:t>
            </a:r>
            <a:r>
              <a:rPr lang="zh-CN" altLang="en-US" sz="2800" i="1" dirty="0">
                <a:solidFill>
                  <a:schemeClr val="tx1"/>
                </a:solidFill>
              </a:rPr>
              <a:t>，</a:t>
            </a:r>
            <a:r>
              <a:rPr lang="zh-CN" altLang="en-US" sz="2800" dirty="0">
                <a:solidFill>
                  <a:schemeClr val="tx1"/>
                </a:solidFill>
              </a:rPr>
              <a:t>还是</a:t>
            </a:r>
            <a:r>
              <a:rPr lang="en-US" altLang="zh-CN" sz="2800" i="1" dirty="0">
                <a:solidFill>
                  <a:schemeClr val="tx1"/>
                </a:solidFill>
              </a:rPr>
              <a:t>B→ C</a:t>
            </a:r>
            <a:r>
              <a:rPr lang="zh-CN" altLang="en-US" sz="2800" dirty="0">
                <a:solidFill>
                  <a:schemeClr val="tx1"/>
                </a:solidFill>
              </a:rPr>
              <a:t>都不在</a:t>
            </a:r>
            <a:r>
              <a:rPr lang="en-US" altLang="zh-CN" sz="2800" i="1" dirty="0">
                <a:solidFill>
                  <a:schemeClr val="tx1"/>
                </a:solidFill>
              </a:rPr>
              <a:t>F</a:t>
            </a:r>
            <a:r>
              <a:rPr lang="en-US" altLang="zh-CN" sz="2800" i="1" baseline="30000" dirty="0">
                <a:solidFill>
                  <a:schemeClr val="tx1"/>
                </a:solidFill>
              </a:rPr>
              <a:t>+</a:t>
            </a:r>
            <a:r>
              <a:rPr lang="en-US" altLang="zh-CN" sz="2800" dirty="0">
                <a:solidFill>
                  <a:schemeClr val="tx1"/>
                </a:solidFill>
              </a:rPr>
              <a:t> </a:t>
            </a:r>
            <a:r>
              <a:rPr lang="zh-CN" altLang="en-US" sz="2800" dirty="0">
                <a:solidFill>
                  <a:schemeClr val="tx1"/>
                </a:solidFill>
              </a:rPr>
              <a:t>中，所以分解</a:t>
            </a:r>
            <a:r>
              <a:rPr lang="zh-CN" altLang="en-US" sz="2800" i="1" dirty="0">
                <a:solidFill>
                  <a:schemeClr val="tx1"/>
                </a:solidFill>
                <a:sym typeface="Symbol" panose="05050102010706020507" pitchFamily="18" charset="2"/>
              </a:rPr>
              <a:t> </a:t>
            </a:r>
            <a:r>
              <a:rPr lang="en-US" altLang="zh-CN" sz="2800" i="1" baseline="-25000" dirty="0">
                <a:solidFill>
                  <a:schemeClr val="tx1"/>
                </a:solidFill>
                <a:sym typeface="Symbol" panose="05050102010706020507" pitchFamily="18" charset="2"/>
              </a:rPr>
              <a:t>2</a:t>
            </a:r>
            <a:r>
              <a:rPr lang="zh-CN" altLang="en-US" sz="2800" dirty="0">
                <a:solidFill>
                  <a:schemeClr val="tx1"/>
                </a:solidFill>
              </a:rPr>
              <a:t>不具有无损连接性。</a:t>
            </a:r>
            <a:endParaRPr lang="zh-CN" altLang="en-US" sz="2800" dirty="0">
              <a:solidFill>
                <a:schemeClr val="tx1"/>
              </a:solidFill>
            </a:endParaRPr>
          </a:p>
        </p:txBody>
      </p:sp>
      <p:sp>
        <p:nvSpPr>
          <p:cNvPr id="25604"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6627" name="Rectangle 2"/>
          <p:cNvSpPr>
            <a:spLocks noGrp="1"/>
          </p:cNvSpPr>
          <p:nvPr>
            <p:ph idx="1"/>
          </p:nvPr>
        </p:nvSpPr>
        <p:spPr>
          <a:xfrm>
            <a:off x="381000" y="838200"/>
            <a:ext cx="8610600" cy="5410200"/>
          </a:xfrm>
          <a:ln/>
        </p:spPr>
        <p:txBody>
          <a:bodyPr vert="horz" wrap="square" lIns="91440" tIns="45720" rIns="91440" bIns="45720" anchor="t" anchorCtr="0"/>
          <a:p>
            <a:pPr eaLnBrk="1" hangingPunct="1">
              <a:lnSpc>
                <a:spcPct val="120000"/>
              </a:lnSpc>
              <a:buNone/>
            </a:pPr>
            <a:r>
              <a:rPr lang="en-US" altLang="zh-CN" sz="2400" dirty="0">
                <a:solidFill>
                  <a:schemeClr val="tx1"/>
                </a:solidFill>
              </a:rPr>
              <a:t>【</a:t>
            </a:r>
            <a:r>
              <a:rPr lang="zh-CN" altLang="en-US" sz="2400" dirty="0">
                <a:solidFill>
                  <a:schemeClr val="tx1"/>
                </a:solidFill>
              </a:rPr>
              <a:t>例</a:t>
            </a:r>
            <a:r>
              <a:rPr lang="en-US" altLang="zh-CN" sz="2400" dirty="0">
                <a:solidFill>
                  <a:schemeClr val="tx1"/>
                </a:solidFill>
              </a:rPr>
              <a:t>6.20】  R&lt;U,F&gt;,U={A,B,C},F={</a:t>
            </a:r>
            <a:r>
              <a:rPr lang="en-US" altLang="zh-CN" sz="2400" i="1" dirty="0">
                <a:solidFill>
                  <a:schemeClr val="tx1"/>
                </a:solidFill>
              </a:rPr>
              <a:t>A→ B, C→ B </a:t>
            </a:r>
            <a:r>
              <a:rPr lang="en-US" altLang="zh-CN" sz="2400" dirty="0">
                <a:solidFill>
                  <a:schemeClr val="tx1"/>
                </a:solidFill>
              </a:rPr>
              <a:t>}</a:t>
            </a:r>
            <a:r>
              <a:rPr lang="zh-CN" altLang="en-US" sz="2400" dirty="0">
                <a:solidFill>
                  <a:schemeClr val="tx1"/>
                </a:solidFill>
              </a:rPr>
              <a:t>的分解：</a:t>
            </a:r>
            <a:endParaRPr lang="zh-CN" altLang="en-US" sz="2400" dirty="0">
              <a:solidFill>
                <a:schemeClr val="tx1"/>
              </a:solidFill>
            </a:endParaRPr>
          </a:p>
          <a:p>
            <a:pPr eaLnBrk="1" hangingPunct="1">
              <a:lnSpc>
                <a:spcPct val="120000"/>
              </a:lnSpc>
              <a:buNone/>
            </a:pPr>
            <a:r>
              <a:rPr lang="zh-CN" altLang="en-US" sz="2400" i="1" dirty="0">
                <a:solidFill>
                  <a:schemeClr val="tx1"/>
                </a:solidFill>
                <a:sym typeface="Symbol" panose="05050102010706020507" pitchFamily="18" charset="2"/>
              </a:rPr>
              <a:t>	  </a:t>
            </a:r>
            <a:r>
              <a:rPr lang="en-US" altLang="zh-CN" sz="2400" dirty="0">
                <a:solidFill>
                  <a:schemeClr val="tx1"/>
                </a:solidFill>
                <a:sym typeface="Symbol" panose="05050102010706020507" pitchFamily="18" charset="2"/>
              </a:rPr>
              <a:t>(1)</a:t>
            </a:r>
            <a:r>
              <a:rPr lang="en-US" altLang="zh-CN" sz="2400" i="1" dirty="0">
                <a:solidFill>
                  <a:schemeClr val="tx1"/>
                </a:solidFill>
                <a:sym typeface="Symbol" panose="05050102010706020507" pitchFamily="18" charset="2"/>
              </a:rPr>
              <a:t>  </a:t>
            </a:r>
            <a:r>
              <a:rPr lang="en-US" altLang="zh-CN" sz="2400" i="1" baseline="-25000" dirty="0">
                <a:solidFill>
                  <a:schemeClr val="tx1"/>
                </a:solidFill>
                <a:sym typeface="Symbol" panose="05050102010706020507" pitchFamily="18" charset="2"/>
              </a:rPr>
              <a:t>1 </a:t>
            </a:r>
            <a:r>
              <a:rPr lang="en-US" altLang="zh-CN" sz="2400" i="1" dirty="0">
                <a:solidFill>
                  <a:schemeClr val="tx1"/>
                </a:solidFill>
                <a:sym typeface="Symbol" panose="05050102010706020507" pitchFamily="18" charset="2"/>
              </a:rPr>
              <a:t>= </a:t>
            </a:r>
            <a:r>
              <a:rPr lang="en-US" altLang="zh-CN" sz="2400" dirty="0">
                <a:solidFill>
                  <a:schemeClr val="tx1"/>
                </a:solidFill>
                <a:sym typeface="Symbol" panose="05050102010706020507" pitchFamily="18" charset="2"/>
              </a:rPr>
              <a:t>{ </a:t>
            </a:r>
            <a:r>
              <a:rPr lang="en-US" altLang="zh-CN" sz="2400" i="1" dirty="0">
                <a:solidFill>
                  <a:schemeClr val="tx1"/>
                </a:solidFill>
                <a:sym typeface="Symbol" panose="05050102010706020507" pitchFamily="18" charset="2"/>
              </a:rPr>
              <a:t>AC,BC </a:t>
            </a:r>
            <a:r>
              <a:rPr lang="en-US" altLang="zh-CN" sz="2400" dirty="0">
                <a:solidFill>
                  <a:schemeClr val="tx1"/>
                </a:solidFill>
                <a:sym typeface="Symbol" panose="05050102010706020507" pitchFamily="18" charset="2"/>
              </a:rPr>
              <a:t>}</a:t>
            </a:r>
            <a:endParaRPr lang="en-US" altLang="zh-CN" sz="2400" dirty="0">
              <a:solidFill>
                <a:schemeClr val="tx1"/>
              </a:solidFill>
              <a:sym typeface="Symbol" panose="05050102010706020507" pitchFamily="18" charset="2"/>
            </a:endParaRPr>
          </a:p>
          <a:p>
            <a:pPr eaLnBrk="1" hangingPunct="1">
              <a:lnSpc>
                <a:spcPct val="120000"/>
              </a:lnSpc>
              <a:buNone/>
            </a:pPr>
            <a:r>
              <a:rPr lang="en-US" altLang="zh-CN" sz="2400" i="1" dirty="0">
                <a:solidFill>
                  <a:schemeClr val="tx1"/>
                </a:solidFill>
                <a:sym typeface="Symbol" panose="05050102010706020507" pitchFamily="18" charset="2"/>
              </a:rPr>
              <a:t>      </a:t>
            </a:r>
            <a:r>
              <a:rPr lang="en-US" altLang="zh-CN" sz="2400" dirty="0">
                <a:solidFill>
                  <a:schemeClr val="tx1"/>
                </a:solidFill>
                <a:sym typeface="Symbol" panose="05050102010706020507" pitchFamily="18" charset="2"/>
              </a:rPr>
              <a:t>(2)</a:t>
            </a:r>
            <a:r>
              <a:rPr lang="en-US" altLang="zh-CN" sz="2400" i="1" dirty="0">
                <a:solidFill>
                  <a:schemeClr val="tx1"/>
                </a:solidFill>
                <a:sym typeface="Symbol" panose="05050102010706020507" pitchFamily="18" charset="2"/>
              </a:rPr>
              <a:t>  </a:t>
            </a:r>
            <a:r>
              <a:rPr lang="en-US" altLang="zh-CN" sz="2400" i="1" baseline="-25000" dirty="0">
                <a:solidFill>
                  <a:schemeClr val="tx1"/>
                </a:solidFill>
                <a:sym typeface="Symbol" panose="05050102010706020507" pitchFamily="18" charset="2"/>
              </a:rPr>
              <a:t>2 </a:t>
            </a:r>
            <a:r>
              <a:rPr lang="en-US" altLang="zh-CN" sz="2400" i="1" dirty="0">
                <a:solidFill>
                  <a:schemeClr val="tx1"/>
                </a:solidFill>
                <a:sym typeface="Symbol" panose="05050102010706020507" pitchFamily="18" charset="2"/>
              </a:rPr>
              <a:t>= </a:t>
            </a:r>
            <a:r>
              <a:rPr lang="en-US" altLang="zh-CN" sz="2400" dirty="0">
                <a:solidFill>
                  <a:schemeClr val="tx1"/>
                </a:solidFill>
                <a:sym typeface="Symbol" panose="05050102010706020507" pitchFamily="18" charset="2"/>
              </a:rPr>
              <a:t>{ </a:t>
            </a:r>
            <a:r>
              <a:rPr lang="en-US" altLang="zh-CN" sz="2400" i="1" dirty="0">
                <a:solidFill>
                  <a:schemeClr val="tx1"/>
                </a:solidFill>
                <a:sym typeface="Symbol" panose="05050102010706020507" pitchFamily="18" charset="2"/>
              </a:rPr>
              <a:t>AB,BC </a:t>
            </a:r>
            <a:r>
              <a:rPr lang="en-US" altLang="zh-CN" sz="2400" dirty="0">
                <a:solidFill>
                  <a:schemeClr val="tx1"/>
                </a:solidFill>
                <a:sym typeface="Symbol" panose="05050102010706020507" pitchFamily="18" charset="2"/>
              </a:rPr>
              <a:t>}</a:t>
            </a:r>
            <a:endParaRPr lang="en-US" altLang="zh-CN" sz="2400" dirty="0">
              <a:solidFill>
                <a:schemeClr val="tx1"/>
              </a:solidFill>
              <a:sym typeface="Symbol" panose="05050102010706020507" pitchFamily="18" charset="2"/>
            </a:endParaRPr>
          </a:p>
          <a:p>
            <a:pPr eaLnBrk="1" hangingPunct="1">
              <a:lnSpc>
                <a:spcPct val="120000"/>
              </a:lnSpc>
              <a:buNone/>
            </a:pPr>
            <a:r>
              <a:rPr lang="en-US" altLang="zh-CN" sz="2400" dirty="0">
                <a:solidFill>
                  <a:schemeClr val="tx1"/>
                </a:solidFill>
                <a:sym typeface="Symbol" panose="05050102010706020507" pitchFamily="18" charset="2"/>
              </a:rPr>
              <a:t>    </a:t>
            </a:r>
            <a:r>
              <a:rPr lang="zh-CN" altLang="en-US" sz="2400" dirty="0">
                <a:solidFill>
                  <a:schemeClr val="tx1"/>
                </a:solidFill>
                <a:sym typeface="Symbol" panose="05050102010706020507" pitchFamily="18" charset="2"/>
              </a:rPr>
              <a:t>问两分解具有无损连接性吗</a:t>
            </a:r>
            <a:r>
              <a:rPr lang="en-US" altLang="zh-CN" sz="2400" dirty="0">
                <a:solidFill>
                  <a:schemeClr val="tx1"/>
                </a:solidFill>
                <a:sym typeface="Symbol" panose="05050102010706020507" pitchFamily="18" charset="2"/>
              </a:rPr>
              <a:t>?</a:t>
            </a:r>
            <a:endParaRPr lang="en-US" altLang="zh-CN" sz="2400" dirty="0">
              <a:solidFill>
                <a:schemeClr val="tx1"/>
              </a:solidFill>
              <a:sym typeface="Symbol" panose="05050102010706020507" pitchFamily="18" charset="2"/>
            </a:endParaRPr>
          </a:p>
          <a:p>
            <a:pPr eaLnBrk="1" hangingPunct="1">
              <a:lnSpc>
                <a:spcPct val="120000"/>
              </a:lnSpc>
              <a:buNone/>
            </a:pPr>
            <a:r>
              <a:rPr lang="zh-CN" altLang="en-US" sz="2400" dirty="0">
                <a:solidFill>
                  <a:schemeClr val="tx1"/>
                </a:solidFill>
                <a:sym typeface="Symbol" panose="05050102010706020507" pitchFamily="18" charset="2"/>
              </a:rPr>
              <a:t>解</a:t>
            </a:r>
            <a:r>
              <a:rPr lang="en-US" altLang="zh-CN" sz="2400" dirty="0">
                <a:solidFill>
                  <a:schemeClr val="tx1"/>
                </a:solidFill>
                <a:sym typeface="Wingdings" panose="05000000000000000000" pitchFamily="2" charset="2"/>
              </a:rPr>
              <a:t>: (1) </a:t>
            </a:r>
            <a:r>
              <a:rPr lang="en-US" altLang="zh-CN" sz="2400" i="1" dirty="0">
                <a:solidFill>
                  <a:schemeClr val="tx1"/>
                </a:solidFill>
                <a:sym typeface="Wingdings" panose="05000000000000000000" pitchFamily="2" charset="2"/>
              </a:rPr>
              <a:t>AC</a:t>
            </a:r>
            <a:r>
              <a:rPr lang="en-US" altLang="zh-CN" sz="2400" i="1" dirty="0">
                <a:solidFill>
                  <a:schemeClr val="tx1"/>
                </a:solidFill>
                <a:latin typeface="宋体" panose="02010600030101010101" pitchFamily="2" charset="-122"/>
              </a:rPr>
              <a:t>∩</a:t>
            </a:r>
            <a:r>
              <a:rPr lang="en-US" altLang="zh-CN" sz="2400" i="1" dirty="0">
                <a:solidFill>
                  <a:schemeClr val="tx1"/>
                </a:solidFill>
              </a:rPr>
              <a:t>BC =C, AC-BC=A, BC-AC=B,C→ B ∈F</a:t>
            </a:r>
            <a:r>
              <a:rPr lang="en-US" altLang="zh-CN" sz="2400" i="1" baseline="30000" dirty="0">
                <a:solidFill>
                  <a:schemeClr val="tx1"/>
                </a:solidFill>
              </a:rPr>
              <a:t>+</a:t>
            </a:r>
            <a:r>
              <a:rPr lang="en-US" altLang="zh-CN" sz="2400" dirty="0">
                <a:solidFill>
                  <a:schemeClr val="tx1"/>
                </a:solidFill>
              </a:rPr>
              <a:t> ,</a:t>
            </a:r>
            <a:r>
              <a:rPr lang="zh-CN" altLang="en-US" sz="2400" dirty="0">
                <a:solidFill>
                  <a:schemeClr val="tx1"/>
                </a:solidFill>
              </a:rPr>
              <a:t>故分解</a:t>
            </a:r>
            <a:r>
              <a:rPr lang="zh-CN" altLang="en-US" sz="2400" i="1" dirty="0">
                <a:solidFill>
                  <a:schemeClr val="tx1"/>
                </a:solidFill>
                <a:sym typeface="Symbol" panose="05050102010706020507" pitchFamily="18" charset="2"/>
              </a:rPr>
              <a:t> </a:t>
            </a:r>
            <a:r>
              <a:rPr lang="en-US" altLang="zh-CN" sz="2400" i="1" baseline="-25000" dirty="0">
                <a:solidFill>
                  <a:schemeClr val="tx1"/>
                </a:solidFill>
                <a:sym typeface="Symbol" panose="05050102010706020507" pitchFamily="18" charset="2"/>
              </a:rPr>
              <a:t>1</a:t>
            </a:r>
            <a:r>
              <a:rPr lang="zh-CN" altLang="en-US" sz="2400" dirty="0">
                <a:solidFill>
                  <a:schemeClr val="tx1"/>
                </a:solidFill>
              </a:rPr>
              <a:t>具有无损连接性。</a:t>
            </a:r>
            <a:endParaRPr lang="zh-CN" altLang="en-US" sz="2400" dirty="0">
              <a:solidFill>
                <a:schemeClr val="tx1"/>
              </a:solidFill>
            </a:endParaRPr>
          </a:p>
          <a:p>
            <a:pPr eaLnBrk="1" hangingPunct="1">
              <a:lnSpc>
                <a:spcPct val="120000"/>
              </a:lnSpc>
              <a:buNone/>
            </a:pPr>
            <a:r>
              <a:rPr lang="zh-CN" altLang="en-US" sz="2400" dirty="0">
                <a:solidFill>
                  <a:schemeClr val="tx1"/>
                </a:solidFill>
              </a:rPr>
              <a:t>	</a:t>
            </a:r>
            <a:r>
              <a:rPr lang="en-US" altLang="zh-CN" sz="2400" dirty="0">
                <a:solidFill>
                  <a:schemeClr val="tx1"/>
                </a:solidFill>
              </a:rPr>
              <a:t>(2) </a:t>
            </a:r>
            <a:r>
              <a:rPr lang="en-US" altLang="zh-CN" sz="2400" i="1" dirty="0">
                <a:solidFill>
                  <a:schemeClr val="tx1"/>
                </a:solidFill>
                <a:sym typeface="Wingdings" panose="05000000000000000000" pitchFamily="2" charset="2"/>
              </a:rPr>
              <a:t>AB</a:t>
            </a:r>
            <a:r>
              <a:rPr lang="en-US" altLang="zh-CN" sz="2400" i="1" dirty="0">
                <a:solidFill>
                  <a:schemeClr val="tx1"/>
                </a:solidFill>
                <a:latin typeface="宋体" panose="02010600030101010101" pitchFamily="2" charset="-122"/>
              </a:rPr>
              <a:t>∩</a:t>
            </a:r>
            <a:r>
              <a:rPr lang="en-US" altLang="zh-CN" sz="2400" i="1" dirty="0">
                <a:solidFill>
                  <a:schemeClr val="tx1"/>
                </a:solidFill>
              </a:rPr>
              <a:t>BC = B, AB-BC=A, BC-AB=C. </a:t>
            </a:r>
            <a:endParaRPr lang="en-US" altLang="zh-CN" sz="2400" i="1" dirty="0">
              <a:solidFill>
                <a:schemeClr val="tx1"/>
              </a:solidFill>
            </a:endParaRPr>
          </a:p>
          <a:p>
            <a:pPr eaLnBrk="1" hangingPunct="1">
              <a:lnSpc>
                <a:spcPct val="120000"/>
              </a:lnSpc>
              <a:buNone/>
            </a:pPr>
            <a:r>
              <a:rPr lang="en-US" altLang="zh-CN" sz="2400" i="1" dirty="0">
                <a:solidFill>
                  <a:schemeClr val="tx1"/>
                </a:solidFill>
              </a:rPr>
              <a:t>	</a:t>
            </a:r>
            <a:r>
              <a:rPr lang="zh-CN" altLang="en-US" sz="2400" dirty="0">
                <a:solidFill>
                  <a:schemeClr val="tx1"/>
                </a:solidFill>
              </a:rPr>
              <a:t>无论</a:t>
            </a:r>
            <a:r>
              <a:rPr lang="en-US" altLang="zh-CN" sz="2400" i="1" dirty="0">
                <a:solidFill>
                  <a:schemeClr val="tx1"/>
                </a:solidFill>
              </a:rPr>
              <a:t>B→ A</a:t>
            </a:r>
            <a:r>
              <a:rPr lang="zh-CN" altLang="en-US" sz="2400" i="1" dirty="0">
                <a:solidFill>
                  <a:schemeClr val="tx1"/>
                </a:solidFill>
              </a:rPr>
              <a:t>，</a:t>
            </a:r>
            <a:r>
              <a:rPr lang="zh-CN" altLang="en-US" sz="2400" dirty="0">
                <a:solidFill>
                  <a:schemeClr val="tx1"/>
                </a:solidFill>
              </a:rPr>
              <a:t>还是</a:t>
            </a:r>
            <a:r>
              <a:rPr lang="en-US" altLang="zh-CN" sz="2400" i="1" dirty="0">
                <a:solidFill>
                  <a:schemeClr val="tx1"/>
                </a:solidFill>
              </a:rPr>
              <a:t>B→ C</a:t>
            </a:r>
            <a:r>
              <a:rPr lang="zh-CN" altLang="en-US" sz="2400" dirty="0">
                <a:solidFill>
                  <a:schemeClr val="tx1"/>
                </a:solidFill>
              </a:rPr>
              <a:t>都不在</a:t>
            </a:r>
            <a:r>
              <a:rPr lang="en-US" altLang="zh-CN" sz="2400" i="1" dirty="0">
                <a:solidFill>
                  <a:schemeClr val="tx1"/>
                </a:solidFill>
              </a:rPr>
              <a:t>F</a:t>
            </a:r>
            <a:r>
              <a:rPr lang="en-US" altLang="zh-CN" sz="2400" i="1" baseline="30000" dirty="0">
                <a:solidFill>
                  <a:schemeClr val="tx1"/>
                </a:solidFill>
              </a:rPr>
              <a:t>+</a:t>
            </a:r>
            <a:r>
              <a:rPr lang="en-US" altLang="zh-CN" sz="2400" dirty="0">
                <a:solidFill>
                  <a:schemeClr val="tx1"/>
                </a:solidFill>
              </a:rPr>
              <a:t> </a:t>
            </a:r>
            <a:r>
              <a:rPr lang="zh-CN" altLang="en-US" sz="2400" dirty="0">
                <a:solidFill>
                  <a:schemeClr val="tx1"/>
                </a:solidFill>
              </a:rPr>
              <a:t>中，所以分解</a:t>
            </a:r>
            <a:r>
              <a:rPr lang="zh-CN" altLang="en-US" sz="2400" i="1" dirty="0">
                <a:solidFill>
                  <a:schemeClr val="tx1"/>
                </a:solidFill>
                <a:sym typeface="Symbol" panose="05050102010706020507" pitchFamily="18" charset="2"/>
              </a:rPr>
              <a:t> </a:t>
            </a:r>
            <a:r>
              <a:rPr lang="en-US" altLang="zh-CN" sz="2400" i="1" baseline="-25000" dirty="0">
                <a:solidFill>
                  <a:schemeClr val="tx1"/>
                </a:solidFill>
                <a:sym typeface="Symbol" panose="05050102010706020507" pitchFamily="18" charset="2"/>
              </a:rPr>
              <a:t>2</a:t>
            </a:r>
            <a:r>
              <a:rPr lang="zh-CN" altLang="en-US" sz="2400" dirty="0">
                <a:solidFill>
                  <a:schemeClr val="tx1"/>
                </a:solidFill>
              </a:rPr>
              <a:t>不具有无损连接性。</a:t>
            </a:r>
            <a:endParaRPr lang="zh-CN" altLang="en-US" sz="2400" dirty="0">
              <a:solidFill>
                <a:schemeClr val="tx1"/>
              </a:solidFill>
            </a:endParaRPr>
          </a:p>
        </p:txBody>
      </p:sp>
      <p:sp>
        <p:nvSpPr>
          <p:cNvPr id="26628"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7651" name="Rectangle 2"/>
          <p:cNvSpPr>
            <a:spLocks noGrp="1"/>
          </p:cNvSpPr>
          <p:nvPr>
            <p:ph idx="1"/>
          </p:nvPr>
        </p:nvSpPr>
        <p:spPr>
          <a:xfrm>
            <a:off x="381000" y="838200"/>
            <a:ext cx="8610600" cy="5410200"/>
          </a:xfrm>
          <a:ln/>
        </p:spPr>
        <p:txBody>
          <a:bodyPr vert="horz" wrap="square" lIns="91440" tIns="45720" rIns="91440" bIns="45720" anchor="t" anchorCtr="0"/>
          <a:p>
            <a:pPr eaLnBrk="1" hangingPunct="1">
              <a:lnSpc>
                <a:spcPct val="120000"/>
              </a:lnSpc>
              <a:buNone/>
            </a:pPr>
            <a:r>
              <a:rPr lang="en-US" altLang="zh-CN" sz="2800" dirty="0">
                <a:solidFill>
                  <a:schemeClr val="tx1"/>
                </a:solidFill>
              </a:rPr>
              <a:t>【</a:t>
            </a:r>
            <a:r>
              <a:rPr lang="zh-CN" altLang="en-US" sz="2800" dirty="0">
                <a:solidFill>
                  <a:schemeClr val="tx1"/>
                </a:solidFill>
              </a:rPr>
              <a:t>例</a:t>
            </a:r>
            <a:r>
              <a:rPr lang="en-US" altLang="zh-CN" sz="2800" dirty="0">
                <a:solidFill>
                  <a:schemeClr val="tx1"/>
                </a:solidFill>
              </a:rPr>
              <a:t>6.21】  R&lt;U,F&gt;,U={A,B,C,D,E,F},F={</a:t>
            </a:r>
            <a:r>
              <a:rPr lang="en-US" altLang="zh-CN" sz="2800" i="1" dirty="0">
                <a:solidFill>
                  <a:schemeClr val="tx1"/>
                </a:solidFill>
              </a:rPr>
              <a:t>A→ B, C→ F, E→ A, CE→D </a:t>
            </a:r>
            <a:r>
              <a:rPr lang="en-US" altLang="zh-CN" sz="2800" dirty="0">
                <a:solidFill>
                  <a:schemeClr val="tx1"/>
                </a:solidFill>
              </a:rPr>
              <a:t>}</a:t>
            </a:r>
            <a:r>
              <a:rPr lang="zh-CN" altLang="en-US" sz="2800" dirty="0">
                <a:solidFill>
                  <a:schemeClr val="tx1"/>
                </a:solidFill>
              </a:rPr>
              <a:t>的分解：</a:t>
            </a:r>
            <a:endParaRPr lang="zh-CN" altLang="en-US" sz="2800" dirty="0">
              <a:solidFill>
                <a:schemeClr val="tx1"/>
              </a:solidFill>
            </a:endParaRPr>
          </a:p>
          <a:p>
            <a:pPr eaLnBrk="1" hangingPunct="1">
              <a:lnSpc>
                <a:spcPct val="120000"/>
              </a:lnSpc>
              <a:buNone/>
            </a:pPr>
            <a:r>
              <a:rPr lang="zh-CN" altLang="en-US" sz="2800" i="1" dirty="0">
                <a:solidFill>
                  <a:schemeClr val="tx1"/>
                </a:solidFill>
                <a:sym typeface="Symbol" panose="05050102010706020507" pitchFamily="18" charset="2"/>
              </a:rPr>
              <a:t>	  </a:t>
            </a:r>
            <a:r>
              <a:rPr lang="zh-CN" altLang="en-US" sz="2800" i="1" baseline="-25000" dirty="0">
                <a:solidFill>
                  <a:schemeClr val="tx1"/>
                </a:solidFill>
                <a:sym typeface="Symbol" panose="05050102010706020507" pitchFamily="18" charset="2"/>
              </a:rPr>
              <a:t> </a:t>
            </a:r>
            <a:r>
              <a:rPr lang="en-US" altLang="zh-CN" sz="2800" i="1" dirty="0">
                <a:solidFill>
                  <a:schemeClr val="tx1"/>
                </a:solidFill>
                <a:sym typeface="Symbol" panose="05050102010706020507" pitchFamily="18" charset="2"/>
              </a:rPr>
              <a:t>= </a:t>
            </a:r>
            <a:r>
              <a:rPr lang="en-US" altLang="zh-CN" sz="2800" dirty="0">
                <a:solidFill>
                  <a:schemeClr val="tx1"/>
                </a:solidFill>
                <a:sym typeface="Symbol" panose="05050102010706020507" pitchFamily="18" charset="2"/>
              </a:rPr>
              <a:t>{ </a:t>
            </a:r>
            <a:r>
              <a:rPr lang="en-US" altLang="zh-CN" sz="2800" i="1" dirty="0">
                <a:solidFill>
                  <a:schemeClr val="tx1"/>
                </a:solidFill>
                <a:sym typeface="Symbol" panose="05050102010706020507" pitchFamily="18" charset="2"/>
              </a:rPr>
              <a:t>ABE,CDEF </a:t>
            </a:r>
            <a:r>
              <a:rPr lang="en-US" altLang="zh-CN" sz="2800" dirty="0">
                <a:solidFill>
                  <a:schemeClr val="tx1"/>
                </a:solidFill>
                <a:sym typeface="Symbol" panose="05050102010706020507" pitchFamily="18" charset="2"/>
              </a:rPr>
              <a:t>}</a:t>
            </a:r>
            <a:endParaRPr lang="en-US" altLang="zh-CN" sz="2800" dirty="0">
              <a:solidFill>
                <a:schemeClr val="tx1"/>
              </a:solidFill>
              <a:sym typeface="Symbol" panose="05050102010706020507" pitchFamily="18" charset="2"/>
            </a:endParaRPr>
          </a:p>
          <a:p>
            <a:pPr eaLnBrk="1" hangingPunct="1">
              <a:lnSpc>
                <a:spcPct val="120000"/>
              </a:lnSpc>
              <a:buNone/>
            </a:pPr>
            <a:r>
              <a:rPr lang="en-US" altLang="zh-CN" sz="2800" i="1" dirty="0">
                <a:solidFill>
                  <a:schemeClr val="tx1"/>
                </a:solidFill>
                <a:sym typeface="Symbol" panose="05050102010706020507" pitchFamily="18" charset="2"/>
              </a:rPr>
              <a:t>    </a:t>
            </a:r>
            <a:r>
              <a:rPr lang="zh-CN" altLang="en-US" sz="2800" dirty="0">
                <a:solidFill>
                  <a:schemeClr val="tx1"/>
                </a:solidFill>
                <a:sym typeface="Symbol" panose="05050102010706020507" pitchFamily="18" charset="2"/>
              </a:rPr>
              <a:t>问分解具有无损连接性吗</a:t>
            </a:r>
            <a:r>
              <a:rPr lang="en-US" altLang="zh-CN" sz="2800" dirty="0">
                <a:solidFill>
                  <a:schemeClr val="tx1"/>
                </a:solidFill>
                <a:sym typeface="Symbol" panose="05050102010706020507" pitchFamily="18" charset="2"/>
              </a:rPr>
              <a:t>?</a:t>
            </a:r>
            <a:endParaRPr lang="en-US" altLang="zh-CN" sz="2800" dirty="0">
              <a:solidFill>
                <a:schemeClr val="tx1"/>
              </a:solidFill>
              <a:sym typeface="Symbol" panose="05050102010706020507" pitchFamily="18" charset="2"/>
            </a:endParaRPr>
          </a:p>
          <a:p>
            <a:pPr eaLnBrk="1" hangingPunct="1">
              <a:lnSpc>
                <a:spcPct val="120000"/>
              </a:lnSpc>
              <a:buNone/>
            </a:pPr>
            <a:r>
              <a:rPr lang="zh-CN" altLang="en-US" sz="2800" dirty="0">
                <a:solidFill>
                  <a:schemeClr val="tx1"/>
                </a:solidFill>
                <a:sym typeface="Symbol" panose="05050102010706020507" pitchFamily="18" charset="2"/>
              </a:rPr>
              <a:t>解</a:t>
            </a:r>
            <a:r>
              <a:rPr lang="en-US" altLang="zh-CN" sz="2800" dirty="0">
                <a:solidFill>
                  <a:schemeClr val="tx1"/>
                </a:solidFill>
                <a:sym typeface="Wingdings" panose="05000000000000000000" pitchFamily="2" charset="2"/>
              </a:rPr>
              <a:t>:  </a:t>
            </a:r>
            <a:r>
              <a:rPr lang="en-US" altLang="zh-CN" sz="2800" i="1" dirty="0">
                <a:solidFill>
                  <a:schemeClr val="tx1"/>
                </a:solidFill>
                <a:sym typeface="Wingdings" panose="05000000000000000000" pitchFamily="2" charset="2"/>
              </a:rPr>
              <a:t>ABE</a:t>
            </a:r>
            <a:r>
              <a:rPr lang="en-US" altLang="zh-CN" sz="2800" i="1" dirty="0">
                <a:solidFill>
                  <a:schemeClr val="tx1"/>
                </a:solidFill>
                <a:latin typeface="宋体" panose="02010600030101010101" pitchFamily="2" charset="-122"/>
              </a:rPr>
              <a:t>∩</a:t>
            </a:r>
            <a:r>
              <a:rPr lang="en-US" altLang="zh-CN" sz="2800" i="1" dirty="0">
                <a:solidFill>
                  <a:schemeClr val="tx1"/>
                </a:solidFill>
              </a:rPr>
              <a:t>CDEF =E, ABE-CDEF=AB, </a:t>
            </a:r>
            <a:endParaRPr lang="en-US" altLang="zh-CN" sz="2800" i="1" dirty="0">
              <a:solidFill>
                <a:schemeClr val="tx1"/>
              </a:solidFill>
            </a:endParaRPr>
          </a:p>
          <a:p>
            <a:pPr eaLnBrk="1" hangingPunct="1">
              <a:lnSpc>
                <a:spcPct val="120000"/>
              </a:lnSpc>
              <a:buNone/>
            </a:pPr>
            <a:r>
              <a:rPr lang="en-US" altLang="zh-CN" sz="2800" i="1" dirty="0">
                <a:solidFill>
                  <a:schemeClr val="tx1"/>
                </a:solidFill>
              </a:rPr>
              <a:t>	   E→ AB ∈F</a:t>
            </a:r>
            <a:r>
              <a:rPr lang="en-US" altLang="zh-CN" sz="2800" i="1" baseline="30000" dirty="0">
                <a:solidFill>
                  <a:schemeClr val="tx1"/>
                </a:solidFill>
              </a:rPr>
              <a:t>+</a:t>
            </a:r>
            <a:r>
              <a:rPr lang="en-US" altLang="zh-CN" sz="2800" dirty="0">
                <a:solidFill>
                  <a:schemeClr val="tx1"/>
                </a:solidFill>
              </a:rPr>
              <a:t> (</a:t>
            </a:r>
            <a:r>
              <a:rPr lang="zh-CN" altLang="en-US" sz="2800" dirty="0">
                <a:solidFill>
                  <a:schemeClr val="tx1"/>
                </a:solidFill>
              </a:rPr>
              <a:t>为什么</a:t>
            </a:r>
            <a:r>
              <a:rPr lang="en-US" altLang="zh-CN" sz="2800" dirty="0">
                <a:solidFill>
                  <a:schemeClr val="tx1"/>
                </a:solidFill>
              </a:rPr>
              <a:t>?). </a:t>
            </a:r>
            <a:r>
              <a:rPr lang="zh-CN" altLang="en-US" sz="2800" dirty="0">
                <a:solidFill>
                  <a:schemeClr val="tx1"/>
                </a:solidFill>
              </a:rPr>
              <a:t>故分解具有无损连接性。 </a:t>
            </a:r>
            <a:endParaRPr lang="zh-CN" altLang="en-US" sz="2800" dirty="0">
              <a:solidFill>
                <a:schemeClr val="tx1"/>
              </a:solidFill>
            </a:endParaRPr>
          </a:p>
          <a:p>
            <a:pPr eaLnBrk="1" hangingPunct="1">
              <a:lnSpc>
                <a:spcPct val="120000"/>
              </a:lnSpc>
              <a:buNone/>
            </a:pPr>
            <a:r>
              <a:rPr lang="zh-CN" altLang="en-US" sz="2800" dirty="0">
                <a:solidFill>
                  <a:schemeClr val="tx1"/>
                </a:solidFill>
              </a:rPr>
              <a:t>	</a:t>
            </a:r>
            <a:endParaRPr lang="zh-CN" altLang="en-US" sz="2800" dirty="0">
              <a:solidFill>
                <a:schemeClr val="tx1"/>
              </a:solidFill>
            </a:endParaRPr>
          </a:p>
          <a:p>
            <a:pPr eaLnBrk="1" hangingPunct="1">
              <a:lnSpc>
                <a:spcPct val="120000"/>
              </a:lnSpc>
              <a:buNone/>
            </a:pPr>
            <a:r>
              <a:rPr lang="zh-CN" altLang="en-US" sz="2800" dirty="0">
                <a:solidFill>
                  <a:schemeClr val="tx1"/>
                </a:solidFill>
              </a:rPr>
              <a:t>	思考：</a:t>
            </a:r>
            <a:r>
              <a:rPr lang="en-US" altLang="zh-CN" sz="2800" i="1" dirty="0">
                <a:solidFill>
                  <a:schemeClr val="tx1"/>
                </a:solidFill>
              </a:rPr>
              <a:t>R</a:t>
            </a:r>
            <a:r>
              <a:rPr lang="zh-CN" altLang="en-US" sz="2800" dirty="0">
                <a:solidFill>
                  <a:schemeClr val="tx1"/>
                </a:solidFill>
              </a:rPr>
              <a:t>的候选码是什么？它最高是几范式？分解后的两个关系模式又是几范式</a:t>
            </a:r>
            <a:r>
              <a:rPr lang="en-US" altLang="zh-CN" sz="2800" dirty="0">
                <a:solidFill>
                  <a:schemeClr val="tx1"/>
                </a:solidFill>
              </a:rPr>
              <a:t>?</a:t>
            </a:r>
            <a:endParaRPr lang="en-US" altLang="zh-CN" sz="2800" dirty="0">
              <a:solidFill>
                <a:schemeClr val="tx1"/>
              </a:solidFill>
            </a:endParaRPr>
          </a:p>
        </p:txBody>
      </p:sp>
      <p:sp>
        <p:nvSpPr>
          <p:cNvPr id="27652"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8675" name="Rectangle 2"/>
          <p:cNvSpPr>
            <a:spLocks noGrp="1"/>
          </p:cNvSpPr>
          <p:nvPr>
            <p:ph idx="1"/>
          </p:nvPr>
        </p:nvSpPr>
        <p:spPr>
          <a:xfrm>
            <a:off x="558800" y="1219200"/>
            <a:ext cx="8077200" cy="4584700"/>
          </a:xfrm>
          <a:ln/>
        </p:spPr>
        <p:txBody>
          <a:bodyPr vert="horz" wrap="square" lIns="91440" tIns="45720" rIns="91440" bIns="45720" anchor="t" anchorCtr="0"/>
          <a:p>
            <a:pPr eaLnBrk="1" hangingPunct="1">
              <a:lnSpc>
                <a:spcPct val="120000"/>
              </a:lnSpc>
            </a:pPr>
            <a:r>
              <a:rPr lang="en-US" altLang="zh-CN" dirty="0">
                <a:solidFill>
                  <a:schemeClr val="tx1"/>
                </a:solidFill>
              </a:rPr>
              <a:t>6.5.1 </a:t>
            </a:r>
            <a:r>
              <a:rPr lang="zh-CN" altLang="en-US" dirty="0">
                <a:solidFill>
                  <a:schemeClr val="tx1"/>
                </a:solidFill>
              </a:rPr>
              <a:t>模式分解的定义</a:t>
            </a:r>
            <a:endParaRPr lang="zh-CN" altLang="en-US" dirty="0">
              <a:solidFill>
                <a:schemeClr val="tx1"/>
              </a:solidFill>
            </a:endParaRPr>
          </a:p>
          <a:p>
            <a:pPr eaLnBrk="1" hangingPunct="1">
              <a:lnSpc>
                <a:spcPct val="120000"/>
              </a:lnSpc>
            </a:pPr>
            <a:r>
              <a:rPr lang="en-US" altLang="zh-CN" dirty="0">
                <a:solidFill>
                  <a:schemeClr val="tx1"/>
                </a:solidFill>
              </a:rPr>
              <a:t>6.5.2 </a:t>
            </a:r>
            <a:r>
              <a:rPr lang="zh-CN" altLang="en-US" dirty="0">
                <a:solidFill>
                  <a:schemeClr val="tx1"/>
                </a:solidFill>
              </a:rPr>
              <a:t>模式分解中的问题</a:t>
            </a:r>
            <a:endParaRPr lang="zh-CN" altLang="en-US" dirty="0">
              <a:solidFill>
                <a:schemeClr val="tx1"/>
              </a:solidFill>
            </a:endParaRPr>
          </a:p>
          <a:p>
            <a:pPr eaLnBrk="1" hangingPunct="1">
              <a:lnSpc>
                <a:spcPct val="120000"/>
              </a:lnSpc>
            </a:pPr>
            <a:r>
              <a:rPr lang="en-US" altLang="zh-CN" dirty="0">
                <a:solidFill>
                  <a:schemeClr val="tx1"/>
                </a:solidFill>
              </a:rPr>
              <a:t>6.5.3 </a:t>
            </a:r>
            <a:r>
              <a:rPr lang="zh-CN" altLang="en-US" dirty="0">
                <a:solidFill>
                  <a:schemeClr val="tx1"/>
                </a:solidFill>
              </a:rPr>
              <a:t>无损连接分解</a:t>
            </a:r>
            <a:endParaRPr lang="zh-CN" altLang="en-US" dirty="0">
              <a:solidFill>
                <a:schemeClr val="tx1"/>
              </a:solidFill>
            </a:endParaRPr>
          </a:p>
          <a:p>
            <a:pPr eaLnBrk="1" hangingPunct="1">
              <a:lnSpc>
                <a:spcPct val="120000"/>
              </a:lnSpc>
            </a:pPr>
            <a:r>
              <a:rPr lang="en-US" altLang="zh-CN" dirty="0"/>
              <a:t>6.5.4 </a:t>
            </a:r>
            <a:r>
              <a:rPr lang="zh-CN" altLang="en-US" dirty="0"/>
              <a:t>保持函数依赖的分解</a:t>
            </a:r>
            <a:endParaRPr lang="zh-CN" altLang="en-US" dirty="0"/>
          </a:p>
          <a:p>
            <a:pPr eaLnBrk="1" hangingPunct="1">
              <a:lnSpc>
                <a:spcPct val="120000"/>
              </a:lnSpc>
            </a:pPr>
            <a:r>
              <a:rPr lang="en-US" altLang="zh-CN" dirty="0">
                <a:solidFill>
                  <a:schemeClr val="tx1"/>
                </a:solidFill>
              </a:rPr>
              <a:t>6.5.5 </a:t>
            </a:r>
            <a:r>
              <a:rPr lang="zh-CN" altLang="en-US" dirty="0">
                <a:solidFill>
                  <a:schemeClr val="tx1"/>
                </a:solidFill>
              </a:rPr>
              <a:t>关系模式的分解算法</a:t>
            </a:r>
            <a:endParaRPr lang="zh-CN" altLang="en-US" dirty="0">
              <a:solidFill>
                <a:schemeClr val="tx1"/>
              </a:solidFill>
            </a:endParaRPr>
          </a:p>
        </p:txBody>
      </p:sp>
      <p:sp>
        <p:nvSpPr>
          <p:cNvPr id="28676"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9699" name="Rectangle 2"/>
          <p:cNvSpPr>
            <a:spLocks noGrp="1"/>
          </p:cNvSpPr>
          <p:nvPr>
            <p:ph idx="1"/>
          </p:nvPr>
        </p:nvSpPr>
        <p:spPr>
          <a:xfrm>
            <a:off x="381000" y="838200"/>
            <a:ext cx="8610600" cy="5410200"/>
          </a:xfrm>
          <a:ln/>
        </p:spPr>
        <p:txBody>
          <a:bodyPr vert="horz" wrap="square" lIns="91440" tIns="45720" rIns="91440" bIns="45720" anchor="t" anchorCtr="0"/>
          <a:p>
            <a:pPr eaLnBrk="1" hangingPunct="1">
              <a:lnSpc>
                <a:spcPct val="130000"/>
              </a:lnSpc>
              <a:spcBef>
                <a:spcPct val="0"/>
              </a:spcBef>
              <a:buNone/>
            </a:pPr>
            <a:r>
              <a:rPr lang="en-US" altLang="zh-CN" dirty="0"/>
              <a:t>	</a:t>
            </a:r>
            <a:r>
              <a:rPr lang="zh-CN" altLang="en-US" dirty="0"/>
              <a:t>定义</a:t>
            </a:r>
            <a:r>
              <a:rPr lang="en-US" altLang="zh-CN" dirty="0"/>
              <a:t>6.20  </a:t>
            </a:r>
            <a:r>
              <a:rPr lang="zh-CN" altLang="en-US" dirty="0">
                <a:solidFill>
                  <a:schemeClr val="tx1"/>
                </a:solidFill>
              </a:rPr>
              <a:t>关系模式</a:t>
            </a:r>
            <a:r>
              <a:rPr lang="en-US" altLang="zh-CN" i="1" dirty="0">
                <a:solidFill>
                  <a:schemeClr val="tx1"/>
                </a:solidFill>
              </a:rPr>
              <a:t>R&lt;U,F&gt;</a:t>
            </a:r>
            <a:r>
              <a:rPr lang="zh-CN" altLang="en-US" dirty="0">
                <a:solidFill>
                  <a:schemeClr val="tx1"/>
                </a:solidFill>
              </a:rPr>
              <a:t>的一个</a:t>
            </a:r>
            <a:r>
              <a:rPr lang="en-US" altLang="zh-CN" sz="4000" i="1" dirty="0">
                <a:solidFill>
                  <a:schemeClr val="tx1"/>
                </a:solidFill>
              </a:rPr>
              <a:t>ρ</a:t>
            </a:r>
            <a:r>
              <a:rPr lang="en-US" altLang="zh-CN" sz="2800" dirty="0">
                <a:solidFill>
                  <a:schemeClr val="tx1"/>
                </a:solidFill>
              </a:rPr>
              <a:t>={ </a:t>
            </a:r>
            <a:r>
              <a:rPr lang="en-US" altLang="zh-CN" sz="2800" i="1" dirty="0">
                <a:solidFill>
                  <a:schemeClr val="tx1"/>
                </a:solidFill>
              </a:rPr>
              <a:t>R</a:t>
            </a:r>
            <a:r>
              <a:rPr lang="en-US" altLang="zh-CN" sz="2800" i="1" baseline="-25000" dirty="0">
                <a:solidFill>
                  <a:schemeClr val="tx1"/>
                </a:solidFill>
              </a:rPr>
              <a:t>1</a:t>
            </a:r>
            <a:r>
              <a:rPr lang="en-US" altLang="zh-CN" sz="2800" i="1" dirty="0">
                <a:solidFill>
                  <a:schemeClr val="tx1"/>
                </a:solidFill>
              </a:rPr>
              <a:t>&lt;U</a:t>
            </a:r>
            <a:r>
              <a:rPr lang="en-US" altLang="zh-CN" sz="2800" i="1" baseline="-25000" dirty="0">
                <a:solidFill>
                  <a:schemeClr val="tx1"/>
                </a:solidFill>
              </a:rPr>
              <a:t>1</a:t>
            </a:r>
            <a:r>
              <a:rPr lang="en-US" altLang="zh-CN" sz="2800" i="1" dirty="0">
                <a:solidFill>
                  <a:schemeClr val="tx1"/>
                </a:solidFill>
              </a:rPr>
              <a:t>,F</a:t>
            </a:r>
            <a:r>
              <a:rPr lang="en-US" altLang="zh-CN" sz="2800" i="1" baseline="-25000" dirty="0">
                <a:solidFill>
                  <a:schemeClr val="tx1"/>
                </a:solidFill>
              </a:rPr>
              <a:t>1</a:t>
            </a:r>
            <a:r>
              <a:rPr lang="en-US" altLang="zh-CN" sz="2800" i="1" dirty="0">
                <a:solidFill>
                  <a:schemeClr val="tx1"/>
                </a:solidFill>
              </a:rPr>
              <a:t>&gt;</a:t>
            </a:r>
            <a:r>
              <a:rPr lang="zh-CN" altLang="en-US" sz="2800" i="1" dirty="0">
                <a:solidFill>
                  <a:schemeClr val="tx1"/>
                </a:solidFill>
              </a:rPr>
              <a:t>，</a:t>
            </a:r>
            <a:r>
              <a:rPr lang="en-US" altLang="zh-CN" sz="2800" i="1" dirty="0">
                <a:solidFill>
                  <a:schemeClr val="tx1"/>
                </a:solidFill>
              </a:rPr>
              <a:t>R</a:t>
            </a:r>
            <a:r>
              <a:rPr lang="en-US" altLang="zh-CN" sz="2800" i="1" baseline="-25000" dirty="0">
                <a:solidFill>
                  <a:schemeClr val="tx1"/>
                </a:solidFill>
              </a:rPr>
              <a:t>2</a:t>
            </a:r>
            <a:r>
              <a:rPr lang="en-US" altLang="zh-CN" sz="2800" i="1" dirty="0">
                <a:solidFill>
                  <a:schemeClr val="tx1"/>
                </a:solidFill>
              </a:rPr>
              <a:t>&lt;U</a:t>
            </a:r>
            <a:r>
              <a:rPr lang="en-US" altLang="zh-CN" sz="2800" i="1" baseline="-25000" dirty="0">
                <a:solidFill>
                  <a:schemeClr val="tx1"/>
                </a:solidFill>
              </a:rPr>
              <a:t>2</a:t>
            </a:r>
            <a:r>
              <a:rPr lang="en-US" altLang="zh-CN" sz="2800" i="1" dirty="0">
                <a:solidFill>
                  <a:schemeClr val="tx1"/>
                </a:solidFill>
              </a:rPr>
              <a:t>,F</a:t>
            </a:r>
            <a:r>
              <a:rPr lang="en-US" altLang="zh-CN" sz="2800" i="1" baseline="-25000" dirty="0">
                <a:solidFill>
                  <a:schemeClr val="tx1"/>
                </a:solidFill>
              </a:rPr>
              <a:t>2</a:t>
            </a:r>
            <a:r>
              <a:rPr lang="en-US" altLang="zh-CN" sz="2800" i="1" dirty="0">
                <a:solidFill>
                  <a:schemeClr val="tx1"/>
                </a:solidFill>
              </a:rPr>
              <a:t>&gt;</a:t>
            </a:r>
            <a:r>
              <a:rPr lang="zh-CN" altLang="en-US" sz="2800" i="1" dirty="0">
                <a:solidFill>
                  <a:schemeClr val="tx1"/>
                </a:solidFill>
              </a:rPr>
              <a:t>， </a:t>
            </a:r>
            <a:r>
              <a:rPr lang="en-US" altLang="zh-CN" sz="2800" i="1" dirty="0">
                <a:solidFill>
                  <a:schemeClr val="tx1"/>
                </a:solidFill>
              </a:rPr>
              <a:t>…</a:t>
            </a:r>
            <a:r>
              <a:rPr lang="zh-CN" altLang="en-US" sz="2800" i="1" dirty="0">
                <a:solidFill>
                  <a:schemeClr val="tx1"/>
                </a:solidFill>
              </a:rPr>
              <a:t>，</a:t>
            </a:r>
            <a:r>
              <a:rPr lang="en-US" altLang="zh-CN" sz="2800" i="1" dirty="0">
                <a:solidFill>
                  <a:schemeClr val="tx1"/>
                </a:solidFill>
              </a:rPr>
              <a:t>R</a:t>
            </a:r>
            <a:r>
              <a:rPr lang="en-US" altLang="zh-CN" sz="2800" i="1" baseline="-25000" dirty="0">
                <a:solidFill>
                  <a:schemeClr val="tx1"/>
                </a:solidFill>
              </a:rPr>
              <a:t>n</a:t>
            </a:r>
            <a:r>
              <a:rPr lang="en-US" altLang="zh-CN" sz="2800" i="1" dirty="0">
                <a:solidFill>
                  <a:schemeClr val="tx1"/>
                </a:solidFill>
              </a:rPr>
              <a:t>&lt;U</a:t>
            </a:r>
            <a:r>
              <a:rPr lang="en-US" altLang="zh-CN" sz="2800" i="1" baseline="-25000" dirty="0">
                <a:solidFill>
                  <a:schemeClr val="tx1"/>
                </a:solidFill>
              </a:rPr>
              <a:t>n</a:t>
            </a:r>
            <a:r>
              <a:rPr lang="en-US" altLang="zh-CN" sz="2800" i="1" dirty="0">
                <a:solidFill>
                  <a:schemeClr val="tx1"/>
                </a:solidFill>
              </a:rPr>
              <a:t>,F</a:t>
            </a:r>
            <a:r>
              <a:rPr lang="en-US" altLang="zh-CN" sz="2800" i="1" baseline="-25000" dirty="0">
                <a:solidFill>
                  <a:schemeClr val="tx1"/>
                </a:solidFill>
              </a:rPr>
              <a:t>n</a:t>
            </a:r>
            <a:r>
              <a:rPr lang="en-US" altLang="zh-CN" sz="2800" i="1" dirty="0">
                <a:solidFill>
                  <a:schemeClr val="tx1"/>
                </a:solidFill>
              </a:rPr>
              <a:t>&gt;</a:t>
            </a:r>
            <a:r>
              <a:rPr lang="en-US" altLang="zh-CN" sz="2800" dirty="0">
                <a:solidFill>
                  <a:schemeClr val="tx1"/>
                </a:solidFill>
              </a:rPr>
              <a:t>}</a:t>
            </a:r>
            <a:endParaRPr lang="en-US" altLang="zh-CN" sz="2800" dirty="0">
              <a:solidFill>
                <a:schemeClr val="tx1"/>
              </a:solidFill>
            </a:endParaRPr>
          </a:p>
          <a:p>
            <a:pPr eaLnBrk="1" hangingPunct="1">
              <a:lnSpc>
                <a:spcPct val="130000"/>
              </a:lnSpc>
              <a:buNone/>
            </a:pPr>
            <a:r>
              <a:rPr lang="en-US" altLang="zh-CN" dirty="0">
                <a:solidFill>
                  <a:schemeClr val="tx1"/>
                </a:solidFill>
              </a:rPr>
              <a:t>    </a:t>
            </a:r>
            <a:r>
              <a:rPr lang="zh-CN" altLang="en-US" dirty="0">
                <a:solidFill>
                  <a:schemeClr val="tx1"/>
                </a:solidFill>
              </a:rPr>
              <a:t>若 </a:t>
            </a:r>
            <a:r>
              <a:rPr lang="en-US" altLang="zh-CN" i="1" dirty="0">
                <a:solidFill>
                  <a:schemeClr val="tx1"/>
                </a:solidFill>
              </a:rPr>
              <a:t>F </a:t>
            </a:r>
            <a:r>
              <a:rPr lang="zh-CN" altLang="en-US" i="1" dirty="0">
                <a:solidFill>
                  <a:schemeClr val="tx1"/>
                </a:solidFill>
                <a:sym typeface="Symbol" panose="05050102010706020507" pitchFamily="18" charset="2"/>
              </a:rPr>
              <a:t>与 </a:t>
            </a:r>
            <a:r>
              <a:rPr lang="en-US" altLang="zh-CN" i="1" dirty="0">
                <a:solidFill>
                  <a:schemeClr val="tx1"/>
                </a:solidFill>
                <a:sym typeface="Symbol" panose="05050102010706020507" pitchFamily="18" charset="2"/>
              </a:rPr>
              <a:t>F</a:t>
            </a:r>
            <a:r>
              <a:rPr lang="en-US" altLang="zh-CN" i="1" baseline="-25000" dirty="0">
                <a:solidFill>
                  <a:schemeClr val="tx1"/>
                </a:solidFill>
                <a:sym typeface="Symbol" panose="05050102010706020507" pitchFamily="18" charset="2"/>
              </a:rPr>
              <a:t>1</a:t>
            </a:r>
            <a:r>
              <a:rPr lang="en-US" altLang="zh-CN" i="1" dirty="0">
                <a:solidFill>
                  <a:schemeClr val="tx1"/>
                </a:solidFill>
                <a:latin typeface="宋体" panose="02010600030101010101" pitchFamily="2" charset="-122"/>
                <a:sym typeface="Symbol" panose="05050102010706020507" pitchFamily="18" charset="2"/>
              </a:rPr>
              <a:t>∪</a:t>
            </a:r>
            <a:r>
              <a:rPr lang="en-US" altLang="zh-CN" i="1" dirty="0">
                <a:solidFill>
                  <a:schemeClr val="tx1"/>
                </a:solidFill>
                <a:sym typeface="Symbol" panose="05050102010706020507" pitchFamily="18" charset="2"/>
              </a:rPr>
              <a:t> F</a:t>
            </a:r>
            <a:r>
              <a:rPr lang="en-US" altLang="zh-CN" i="1" baseline="-25000" dirty="0">
                <a:solidFill>
                  <a:schemeClr val="tx1"/>
                </a:solidFill>
                <a:sym typeface="Symbol" panose="05050102010706020507" pitchFamily="18" charset="2"/>
              </a:rPr>
              <a:t>2</a:t>
            </a:r>
            <a:r>
              <a:rPr lang="en-US" altLang="zh-CN" i="1" dirty="0">
                <a:solidFill>
                  <a:schemeClr val="tx1"/>
                </a:solidFill>
                <a:latin typeface="宋体" panose="02010600030101010101" pitchFamily="2" charset="-122"/>
                <a:sym typeface="Symbol" panose="05050102010706020507" pitchFamily="18" charset="2"/>
              </a:rPr>
              <a:t>∪</a:t>
            </a:r>
            <a:r>
              <a:rPr lang="en-US" altLang="zh-CN" i="1" dirty="0">
                <a:solidFill>
                  <a:schemeClr val="tx1"/>
                </a:solidFill>
                <a:sym typeface="Symbol" panose="05050102010706020507" pitchFamily="18" charset="2"/>
              </a:rPr>
              <a:t> …</a:t>
            </a:r>
            <a:r>
              <a:rPr lang="en-US" altLang="zh-CN" i="1" dirty="0">
                <a:solidFill>
                  <a:schemeClr val="tx1"/>
                </a:solidFill>
                <a:latin typeface="宋体" panose="02010600030101010101" pitchFamily="2" charset="-122"/>
                <a:sym typeface="Symbol" panose="05050102010706020507" pitchFamily="18" charset="2"/>
              </a:rPr>
              <a:t>∪</a:t>
            </a:r>
            <a:r>
              <a:rPr lang="en-US" altLang="zh-CN" i="1" dirty="0">
                <a:solidFill>
                  <a:schemeClr val="tx1"/>
                </a:solidFill>
                <a:sym typeface="Symbol" panose="05050102010706020507" pitchFamily="18" charset="2"/>
              </a:rPr>
              <a:t> F</a:t>
            </a:r>
            <a:r>
              <a:rPr lang="en-US" altLang="zh-CN" i="1" baseline="-25000" dirty="0">
                <a:solidFill>
                  <a:schemeClr val="tx1"/>
                </a:solidFill>
                <a:sym typeface="Symbol" panose="05050102010706020507" pitchFamily="18" charset="2"/>
              </a:rPr>
              <a:t>n</a:t>
            </a:r>
            <a:r>
              <a:rPr lang="zh-CN" altLang="en-US" dirty="0">
                <a:solidFill>
                  <a:schemeClr val="tx1"/>
                </a:solidFill>
                <a:sym typeface="Symbol" panose="05050102010706020507" pitchFamily="18" charset="2"/>
              </a:rPr>
              <a:t>等价</a:t>
            </a:r>
            <a:endParaRPr lang="zh-CN" altLang="en-US" dirty="0">
              <a:solidFill>
                <a:schemeClr val="tx1"/>
              </a:solidFill>
              <a:sym typeface="Symbol" panose="05050102010706020507" pitchFamily="18" charset="2"/>
            </a:endParaRPr>
          </a:p>
          <a:p>
            <a:pPr eaLnBrk="1" hangingPunct="1">
              <a:lnSpc>
                <a:spcPct val="130000"/>
              </a:lnSpc>
              <a:buNone/>
            </a:pPr>
            <a:r>
              <a:rPr lang="zh-CN" altLang="en-US" i="1" baseline="-25000" dirty="0">
                <a:solidFill>
                  <a:schemeClr val="tx1"/>
                </a:solidFill>
                <a:sym typeface="Symbol" panose="05050102010706020507" pitchFamily="18" charset="2"/>
              </a:rPr>
              <a:t>	</a:t>
            </a:r>
            <a:r>
              <a:rPr lang="zh-CN" altLang="en-US" dirty="0">
                <a:solidFill>
                  <a:schemeClr val="tx1"/>
                </a:solidFill>
                <a:sym typeface="Symbol" panose="05050102010706020507" pitchFamily="18" charset="2"/>
              </a:rPr>
              <a:t>则称分解</a:t>
            </a:r>
            <a:r>
              <a:rPr lang="en-US" altLang="zh-CN" sz="4000" i="1" dirty="0">
                <a:solidFill>
                  <a:schemeClr val="tx1"/>
                </a:solidFill>
              </a:rPr>
              <a:t>ρ</a:t>
            </a:r>
            <a:r>
              <a:rPr lang="zh-CN" altLang="en-US" dirty="0">
                <a:solidFill>
                  <a:schemeClr val="tx1"/>
                </a:solidFill>
                <a:sym typeface="Symbol" panose="05050102010706020507" pitchFamily="18" charset="2"/>
              </a:rPr>
              <a:t>保持函数依赖。</a:t>
            </a:r>
            <a:r>
              <a:rPr lang="en-US" altLang="zh-CN" dirty="0">
                <a:solidFill>
                  <a:schemeClr val="tx1"/>
                </a:solidFill>
                <a:sym typeface="Symbol" panose="05050102010706020507" pitchFamily="18" charset="2"/>
              </a:rPr>
              <a:t>(</a:t>
            </a:r>
            <a:r>
              <a:rPr lang="en-US" altLang="zh-CN" i="1" dirty="0">
                <a:solidFill>
                  <a:schemeClr val="tx1"/>
                </a:solidFill>
                <a:sym typeface="Symbol" panose="05050102010706020507" pitchFamily="18" charset="2"/>
              </a:rPr>
              <a:t>F</a:t>
            </a:r>
            <a:r>
              <a:rPr lang="en-US" altLang="zh-CN" i="1" baseline="-25000" dirty="0">
                <a:solidFill>
                  <a:schemeClr val="tx1"/>
                </a:solidFill>
                <a:sym typeface="Symbol" panose="05050102010706020507" pitchFamily="18" charset="2"/>
              </a:rPr>
              <a:t>i</a:t>
            </a:r>
            <a:r>
              <a:rPr lang="zh-CN" altLang="en-US" dirty="0">
                <a:solidFill>
                  <a:schemeClr val="tx1"/>
                </a:solidFill>
                <a:sym typeface="Symbol" panose="05050102010706020507" pitchFamily="18" charset="2"/>
              </a:rPr>
              <a:t>是</a:t>
            </a:r>
            <a:r>
              <a:rPr lang="en-US" altLang="zh-CN" i="1" dirty="0">
                <a:solidFill>
                  <a:schemeClr val="tx1"/>
                </a:solidFill>
                <a:sym typeface="Symbol" panose="05050102010706020507" pitchFamily="18" charset="2"/>
              </a:rPr>
              <a:t>F</a:t>
            </a:r>
            <a:r>
              <a:rPr lang="zh-CN" altLang="en-US" dirty="0">
                <a:solidFill>
                  <a:schemeClr val="tx1"/>
                </a:solidFill>
                <a:sym typeface="Symbol" panose="05050102010706020507" pitchFamily="18" charset="2"/>
              </a:rPr>
              <a:t>在</a:t>
            </a:r>
            <a:r>
              <a:rPr lang="en-US" altLang="zh-CN" i="1" dirty="0">
                <a:solidFill>
                  <a:schemeClr val="tx1"/>
                </a:solidFill>
                <a:sym typeface="Symbol" panose="05050102010706020507" pitchFamily="18" charset="2"/>
              </a:rPr>
              <a:t>U</a:t>
            </a:r>
            <a:r>
              <a:rPr lang="en-US" altLang="zh-CN" i="1" baseline="-25000" dirty="0">
                <a:solidFill>
                  <a:schemeClr val="tx1"/>
                </a:solidFill>
                <a:sym typeface="Symbol" panose="05050102010706020507" pitchFamily="18" charset="2"/>
              </a:rPr>
              <a:t>i</a:t>
            </a:r>
            <a:r>
              <a:rPr lang="zh-CN" altLang="en-US" dirty="0">
                <a:solidFill>
                  <a:schemeClr val="tx1"/>
                </a:solidFill>
                <a:sym typeface="Symbol" panose="05050102010706020507" pitchFamily="18" charset="2"/>
              </a:rPr>
              <a:t>上的投影</a:t>
            </a:r>
            <a:r>
              <a:rPr lang="en-US" altLang="zh-CN" dirty="0">
                <a:solidFill>
                  <a:schemeClr val="tx1"/>
                </a:solidFill>
                <a:sym typeface="Symbol" panose="05050102010706020507" pitchFamily="18" charset="2"/>
              </a:rPr>
              <a:t>)</a:t>
            </a:r>
            <a:endParaRPr lang="en-US" altLang="zh-CN" dirty="0">
              <a:solidFill>
                <a:schemeClr val="tx1"/>
              </a:solidFill>
              <a:sym typeface="Symbol" panose="05050102010706020507" pitchFamily="18" charset="2"/>
            </a:endParaRPr>
          </a:p>
          <a:p>
            <a:pPr eaLnBrk="1" hangingPunct="1">
              <a:lnSpc>
                <a:spcPct val="120000"/>
              </a:lnSpc>
              <a:buNone/>
            </a:pPr>
            <a:r>
              <a:rPr lang="en-US" altLang="zh-CN" dirty="0">
                <a:solidFill>
                  <a:srgbClr val="FF0000"/>
                </a:solidFill>
              </a:rPr>
              <a:t>   </a:t>
            </a:r>
            <a:r>
              <a:rPr lang="zh-CN" altLang="en-US" dirty="0">
                <a:solidFill>
                  <a:srgbClr val="FF0000"/>
                </a:solidFill>
              </a:rPr>
              <a:t>引理</a:t>
            </a:r>
            <a:r>
              <a:rPr lang="en-US" altLang="zh-CN" dirty="0">
                <a:solidFill>
                  <a:srgbClr val="FF0000"/>
                </a:solidFill>
              </a:rPr>
              <a:t>6.4</a:t>
            </a:r>
            <a:r>
              <a:rPr lang="en-US" altLang="zh-CN" dirty="0">
                <a:solidFill>
                  <a:schemeClr val="tx1"/>
                </a:solidFill>
              </a:rPr>
              <a:t>  </a:t>
            </a:r>
            <a:r>
              <a:rPr lang="en-US" altLang="zh-CN" dirty="0">
                <a:solidFill>
                  <a:schemeClr val="tx1"/>
                </a:solidFill>
                <a:sym typeface="Symbol" panose="05050102010706020507" pitchFamily="18" charset="2"/>
              </a:rPr>
              <a:t>F</a:t>
            </a:r>
            <a:r>
              <a:rPr lang="en-US" altLang="zh-CN" baseline="28000" dirty="0">
                <a:solidFill>
                  <a:schemeClr val="tx1"/>
                </a:solidFill>
                <a:sym typeface="Symbol" panose="05050102010706020507" pitchFamily="18" charset="2"/>
              </a:rPr>
              <a:t>+ </a:t>
            </a:r>
            <a:r>
              <a:rPr lang="en-US" altLang="zh-CN" dirty="0">
                <a:solidFill>
                  <a:schemeClr val="tx1"/>
                </a:solidFill>
                <a:sym typeface="Symbol" panose="05050102010706020507" pitchFamily="18" charset="2"/>
              </a:rPr>
              <a:t>= G</a:t>
            </a:r>
            <a:r>
              <a:rPr lang="en-US" altLang="zh-CN" baseline="28000" dirty="0">
                <a:solidFill>
                  <a:schemeClr val="tx1"/>
                </a:solidFill>
                <a:sym typeface="Symbol" panose="05050102010706020507" pitchFamily="18" charset="2"/>
              </a:rPr>
              <a:t>+  </a:t>
            </a:r>
            <a:r>
              <a:rPr lang="en-US" altLang="zh-CN" dirty="0">
                <a:solidFill>
                  <a:schemeClr val="tx1"/>
                </a:solidFill>
                <a:sym typeface="Symbol" panose="05050102010706020507" pitchFamily="18" charset="2"/>
              </a:rPr>
              <a:t>  F  G</a:t>
            </a:r>
            <a:r>
              <a:rPr lang="en-US" altLang="zh-CN" baseline="28000" dirty="0">
                <a:solidFill>
                  <a:schemeClr val="tx1"/>
                </a:solidFill>
                <a:sym typeface="Symbol" panose="05050102010706020507" pitchFamily="18" charset="2"/>
              </a:rPr>
              <a:t>+</a:t>
            </a:r>
            <a:r>
              <a:rPr lang="zh-CN" altLang="en-US" dirty="0">
                <a:solidFill>
                  <a:schemeClr val="tx1"/>
                </a:solidFill>
                <a:sym typeface="Symbol" panose="05050102010706020507" pitchFamily="18" charset="2"/>
              </a:rPr>
              <a:t>，</a:t>
            </a:r>
            <a:r>
              <a:rPr lang="en-US" altLang="zh-CN" dirty="0">
                <a:solidFill>
                  <a:schemeClr val="tx1"/>
                </a:solidFill>
                <a:sym typeface="Symbol" panose="05050102010706020507" pitchFamily="18" charset="2"/>
              </a:rPr>
              <a:t>G  F</a:t>
            </a:r>
            <a:r>
              <a:rPr lang="en-US" altLang="zh-CN" baseline="28000" dirty="0">
                <a:solidFill>
                  <a:schemeClr val="tx1"/>
                </a:solidFill>
                <a:sym typeface="Symbol" panose="05050102010706020507" pitchFamily="18" charset="2"/>
              </a:rPr>
              <a:t>+</a:t>
            </a:r>
            <a:endParaRPr lang="en-US" altLang="zh-CN" baseline="28000" dirty="0">
              <a:solidFill>
                <a:schemeClr val="tx1"/>
              </a:solidFill>
              <a:sym typeface="Symbol" panose="05050102010706020507" pitchFamily="18" charset="2"/>
            </a:endParaRPr>
          </a:p>
          <a:p>
            <a:pPr eaLnBrk="1" hangingPunct="1">
              <a:lnSpc>
                <a:spcPct val="120000"/>
              </a:lnSpc>
              <a:buNone/>
            </a:pPr>
            <a:r>
              <a:rPr lang="en-US" altLang="zh-CN" dirty="0">
                <a:solidFill>
                  <a:schemeClr val="tx1"/>
                </a:solidFill>
                <a:sym typeface="Symbol" panose="05050102010706020507" pitchFamily="18" charset="2"/>
              </a:rPr>
              <a:t>	</a:t>
            </a:r>
            <a:r>
              <a:rPr lang="zh-CN" altLang="en-US" dirty="0">
                <a:solidFill>
                  <a:schemeClr val="tx1"/>
                </a:solidFill>
                <a:sym typeface="Symbol" panose="05050102010706020507" pitchFamily="18" charset="2"/>
              </a:rPr>
              <a:t>给出了判断分解是否保持函数依赖的算法。</a:t>
            </a:r>
            <a:endParaRPr lang="zh-CN" altLang="en-US" dirty="0">
              <a:solidFill>
                <a:schemeClr val="tx1"/>
              </a:solidFill>
              <a:sym typeface="Symbol" panose="05050102010706020507" pitchFamily="18" charset="2"/>
            </a:endParaRPr>
          </a:p>
        </p:txBody>
      </p:sp>
      <p:sp>
        <p:nvSpPr>
          <p:cNvPr id="29700"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0723" name="Rectangle 2"/>
          <p:cNvSpPr>
            <a:spLocks noGrp="1"/>
          </p:cNvSpPr>
          <p:nvPr>
            <p:ph idx="1"/>
          </p:nvPr>
        </p:nvSpPr>
        <p:spPr>
          <a:xfrm>
            <a:off x="381000" y="838200"/>
            <a:ext cx="8610600" cy="5410200"/>
          </a:xfrm>
          <a:ln/>
        </p:spPr>
        <p:txBody>
          <a:bodyPr vert="horz" wrap="square" lIns="91440" tIns="45720" rIns="91440" bIns="45720" anchor="t" anchorCtr="0"/>
          <a:p>
            <a:pPr eaLnBrk="1" hangingPunct="1">
              <a:lnSpc>
                <a:spcPct val="120000"/>
              </a:lnSpc>
              <a:buNone/>
            </a:pPr>
            <a:r>
              <a:rPr lang="en-US" altLang="zh-CN" sz="2400" dirty="0">
                <a:solidFill>
                  <a:schemeClr val="tx1"/>
                </a:solidFill>
              </a:rPr>
              <a:t>【</a:t>
            </a:r>
            <a:r>
              <a:rPr lang="zh-CN" altLang="en-US" sz="2400" dirty="0">
                <a:solidFill>
                  <a:schemeClr val="tx1"/>
                </a:solidFill>
              </a:rPr>
              <a:t>例</a:t>
            </a:r>
            <a:r>
              <a:rPr lang="en-US" altLang="zh-CN" sz="2400" dirty="0">
                <a:solidFill>
                  <a:schemeClr val="tx1"/>
                </a:solidFill>
              </a:rPr>
              <a:t>6.22】  R&lt;U,F&gt;,U={A,B,C},F={</a:t>
            </a:r>
            <a:r>
              <a:rPr lang="en-US" altLang="zh-CN" sz="2400" i="1" dirty="0">
                <a:solidFill>
                  <a:schemeClr val="tx1"/>
                </a:solidFill>
              </a:rPr>
              <a:t>A→ B, C→ B </a:t>
            </a:r>
            <a:r>
              <a:rPr lang="en-US" altLang="zh-CN" sz="2400" dirty="0">
                <a:solidFill>
                  <a:schemeClr val="tx1"/>
                </a:solidFill>
              </a:rPr>
              <a:t>}</a:t>
            </a:r>
            <a:r>
              <a:rPr lang="zh-CN" altLang="en-US" sz="2400" dirty="0">
                <a:solidFill>
                  <a:schemeClr val="tx1"/>
                </a:solidFill>
              </a:rPr>
              <a:t>的分解：</a:t>
            </a:r>
            <a:endParaRPr lang="zh-CN" altLang="en-US" sz="2400" dirty="0">
              <a:solidFill>
                <a:schemeClr val="tx1"/>
              </a:solidFill>
            </a:endParaRPr>
          </a:p>
          <a:p>
            <a:pPr eaLnBrk="1" hangingPunct="1">
              <a:lnSpc>
                <a:spcPct val="120000"/>
              </a:lnSpc>
              <a:buNone/>
            </a:pPr>
            <a:r>
              <a:rPr lang="zh-CN" altLang="en-US" sz="2400" i="1" dirty="0">
                <a:solidFill>
                  <a:schemeClr val="tx1"/>
                </a:solidFill>
                <a:sym typeface="Symbol" panose="05050102010706020507" pitchFamily="18" charset="2"/>
              </a:rPr>
              <a:t>	  </a:t>
            </a:r>
            <a:r>
              <a:rPr lang="en-US" altLang="zh-CN" sz="2400" dirty="0">
                <a:solidFill>
                  <a:schemeClr val="tx1"/>
                </a:solidFill>
                <a:sym typeface="Symbol" panose="05050102010706020507" pitchFamily="18" charset="2"/>
              </a:rPr>
              <a:t>(1)</a:t>
            </a:r>
            <a:r>
              <a:rPr lang="en-US" altLang="zh-CN" sz="2400" i="1" dirty="0">
                <a:solidFill>
                  <a:schemeClr val="tx1"/>
                </a:solidFill>
                <a:sym typeface="Symbol" panose="05050102010706020507" pitchFamily="18" charset="2"/>
              </a:rPr>
              <a:t>  </a:t>
            </a:r>
            <a:r>
              <a:rPr lang="en-US" altLang="zh-CN" sz="2400" i="1" baseline="-25000" dirty="0">
                <a:solidFill>
                  <a:schemeClr val="tx1"/>
                </a:solidFill>
                <a:sym typeface="Symbol" panose="05050102010706020507" pitchFamily="18" charset="2"/>
              </a:rPr>
              <a:t>1 </a:t>
            </a:r>
            <a:r>
              <a:rPr lang="en-US" altLang="zh-CN" sz="2400" i="1" dirty="0">
                <a:solidFill>
                  <a:schemeClr val="tx1"/>
                </a:solidFill>
                <a:sym typeface="Symbol" panose="05050102010706020507" pitchFamily="18" charset="2"/>
              </a:rPr>
              <a:t>= </a:t>
            </a:r>
            <a:r>
              <a:rPr lang="en-US" altLang="zh-CN" sz="2400" dirty="0">
                <a:solidFill>
                  <a:schemeClr val="tx1"/>
                </a:solidFill>
                <a:sym typeface="Symbol" panose="05050102010706020507" pitchFamily="18" charset="2"/>
              </a:rPr>
              <a:t>{ </a:t>
            </a:r>
            <a:r>
              <a:rPr lang="en-US" altLang="zh-CN" sz="2400" i="1" dirty="0">
                <a:solidFill>
                  <a:schemeClr val="tx1"/>
                </a:solidFill>
                <a:sym typeface="Symbol" panose="05050102010706020507" pitchFamily="18" charset="2"/>
              </a:rPr>
              <a:t>AC,BC </a:t>
            </a:r>
            <a:r>
              <a:rPr lang="en-US" altLang="zh-CN" sz="2400" dirty="0">
                <a:solidFill>
                  <a:schemeClr val="tx1"/>
                </a:solidFill>
                <a:sym typeface="Symbol" panose="05050102010706020507" pitchFamily="18" charset="2"/>
              </a:rPr>
              <a:t>}  </a:t>
            </a:r>
            <a:endParaRPr lang="en-US" altLang="zh-CN" sz="2400" dirty="0">
              <a:solidFill>
                <a:schemeClr val="tx1"/>
              </a:solidFill>
              <a:sym typeface="Symbol" panose="05050102010706020507" pitchFamily="18" charset="2"/>
            </a:endParaRPr>
          </a:p>
          <a:p>
            <a:pPr eaLnBrk="1" hangingPunct="1">
              <a:lnSpc>
                <a:spcPct val="120000"/>
              </a:lnSpc>
              <a:buNone/>
            </a:pPr>
            <a:r>
              <a:rPr lang="en-US" altLang="zh-CN" sz="2400" i="1" dirty="0">
                <a:solidFill>
                  <a:schemeClr val="tx1"/>
                </a:solidFill>
                <a:sym typeface="Symbol" panose="05050102010706020507" pitchFamily="18" charset="2"/>
              </a:rPr>
              <a:t>      </a:t>
            </a:r>
            <a:r>
              <a:rPr lang="en-US" altLang="zh-CN" sz="2400" dirty="0">
                <a:solidFill>
                  <a:schemeClr val="tx1"/>
                </a:solidFill>
                <a:sym typeface="Symbol" panose="05050102010706020507" pitchFamily="18" charset="2"/>
              </a:rPr>
              <a:t>(2)</a:t>
            </a:r>
            <a:r>
              <a:rPr lang="en-US" altLang="zh-CN" sz="2400" i="1" dirty="0">
                <a:solidFill>
                  <a:schemeClr val="tx1"/>
                </a:solidFill>
                <a:sym typeface="Symbol" panose="05050102010706020507" pitchFamily="18" charset="2"/>
              </a:rPr>
              <a:t>  </a:t>
            </a:r>
            <a:r>
              <a:rPr lang="en-US" altLang="zh-CN" sz="2400" i="1" baseline="-25000" dirty="0">
                <a:solidFill>
                  <a:schemeClr val="tx1"/>
                </a:solidFill>
                <a:sym typeface="Symbol" panose="05050102010706020507" pitchFamily="18" charset="2"/>
              </a:rPr>
              <a:t>2 </a:t>
            </a:r>
            <a:r>
              <a:rPr lang="en-US" altLang="zh-CN" sz="2400" i="1" dirty="0">
                <a:solidFill>
                  <a:schemeClr val="tx1"/>
                </a:solidFill>
                <a:sym typeface="Symbol" panose="05050102010706020507" pitchFamily="18" charset="2"/>
              </a:rPr>
              <a:t>= </a:t>
            </a:r>
            <a:r>
              <a:rPr lang="en-US" altLang="zh-CN" sz="2400" dirty="0">
                <a:solidFill>
                  <a:schemeClr val="tx1"/>
                </a:solidFill>
                <a:sym typeface="Symbol" panose="05050102010706020507" pitchFamily="18" charset="2"/>
              </a:rPr>
              <a:t>{ </a:t>
            </a:r>
            <a:r>
              <a:rPr lang="en-US" altLang="zh-CN" sz="2400" i="1" dirty="0">
                <a:solidFill>
                  <a:schemeClr val="tx1"/>
                </a:solidFill>
                <a:sym typeface="Symbol" panose="05050102010706020507" pitchFamily="18" charset="2"/>
              </a:rPr>
              <a:t>AB,BC </a:t>
            </a:r>
            <a:r>
              <a:rPr lang="en-US" altLang="zh-CN" sz="2400" dirty="0">
                <a:solidFill>
                  <a:schemeClr val="tx1"/>
                </a:solidFill>
                <a:sym typeface="Symbol" panose="05050102010706020507" pitchFamily="18" charset="2"/>
              </a:rPr>
              <a:t>}</a:t>
            </a:r>
            <a:endParaRPr lang="en-US" altLang="zh-CN" sz="2400" dirty="0">
              <a:solidFill>
                <a:schemeClr val="tx1"/>
              </a:solidFill>
              <a:sym typeface="Symbol" panose="05050102010706020507" pitchFamily="18" charset="2"/>
            </a:endParaRPr>
          </a:p>
          <a:p>
            <a:pPr eaLnBrk="1" hangingPunct="1">
              <a:lnSpc>
                <a:spcPct val="120000"/>
              </a:lnSpc>
              <a:buNone/>
            </a:pPr>
            <a:r>
              <a:rPr lang="en-US" altLang="zh-CN" sz="2400" dirty="0">
                <a:solidFill>
                  <a:schemeClr val="tx1"/>
                </a:solidFill>
                <a:sym typeface="Symbol" panose="05050102010706020507" pitchFamily="18" charset="2"/>
              </a:rPr>
              <a:t>    </a:t>
            </a:r>
            <a:r>
              <a:rPr lang="zh-CN" altLang="en-US" sz="2400" dirty="0">
                <a:solidFill>
                  <a:schemeClr val="tx1"/>
                </a:solidFill>
                <a:sym typeface="Symbol" panose="05050102010706020507" pitchFamily="18" charset="2"/>
              </a:rPr>
              <a:t>问两个分解是否为保持函数依赖的分解</a:t>
            </a:r>
            <a:r>
              <a:rPr lang="en-US" altLang="zh-CN" sz="2400" dirty="0">
                <a:solidFill>
                  <a:schemeClr val="tx1"/>
                </a:solidFill>
                <a:sym typeface="Symbol" panose="05050102010706020507" pitchFamily="18" charset="2"/>
              </a:rPr>
              <a:t>?</a:t>
            </a:r>
            <a:endParaRPr lang="en-US" altLang="zh-CN" sz="2400" dirty="0">
              <a:solidFill>
                <a:schemeClr val="tx1"/>
              </a:solidFill>
              <a:sym typeface="Symbol" panose="05050102010706020507" pitchFamily="18" charset="2"/>
            </a:endParaRPr>
          </a:p>
          <a:p>
            <a:pPr eaLnBrk="1" hangingPunct="1">
              <a:lnSpc>
                <a:spcPct val="120000"/>
              </a:lnSpc>
              <a:buNone/>
            </a:pPr>
            <a:r>
              <a:rPr lang="zh-CN" altLang="en-US" sz="2400" dirty="0">
                <a:solidFill>
                  <a:schemeClr val="tx1"/>
                </a:solidFill>
                <a:sym typeface="Symbol" panose="05050102010706020507" pitchFamily="18" charset="2"/>
              </a:rPr>
              <a:t>解</a:t>
            </a:r>
            <a:r>
              <a:rPr lang="en-US" altLang="zh-CN" sz="2400" dirty="0">
                <a:solidFill>
                  <a:schemeClr val="tx1"/>
                </a:solidFill>
                <a:sym typeface="Wingdings" panose="05000000000000000000" pitchFamily="2" charset="2"/>
              </a:rPr>
              <a:t>: (1) </a:t>
            </a:r>
            <a:r>
              <a:rPr lang="en-US" altLang="zh-CN" sz="2400" i="1" dirty="0">
                <a:solidFill>
                  <a:schemeClr val="tx1"/>
                </a:solidFill>
                <a:sym typeface="Wingdings" panose="05000000000000000000" pitchFamily="2" charset="2"/>
              </a:rPr>
              <a:t>F</a:t>
            </a:r>
            <a:r>
              <a:rPr lang="en-US" altLang="zh-CN" sz="2400" i="1" baseline="-25000" dirty="0">
                <a:solidFill>
                  <a:schemeClr val="tx1"/>
                </a:solidFill>
                <a:sym typeface="Wingdings" panose="05000000000000000000" pitchFamily="2" charset="2"/>
              </a:rPr>
              <a:t>1</a:t>
            </a:r>
            <a:r>
              <a:rPr lang="en-US" altLang="zh-CN" sz="2400" i="1" dirty="0">
                <a:solidFill>
                  <a:schemeClr val="tx1"/>
                </a:solidFill>
                <a:sym typeface="Wingdings" panose="05000000000000000000" pitchFamily="2" charset="2"/>
              </a:rPr>
              <a:t>={}, F</a:t>
            </a:r>
            <a:r>
              <a:rPr lang="en-US" altLang="zh-CN" sz="2400" i="1" baseline="-25000" dirty="0">
                <a:solidFill>
                  <a:schemeClr val="tx1"/>
                </a:solidFill>
                <a:sym typeface="Wingdings" panose="05000000000000000000" pitchFamily="2" charset="2"/>
              </a:rPr>
              <a:t>2</a:t>
            </a:r>
            <a:r>
              <a:rPr lang="en-US" altLang="zh-CN" sz="2400" i="1" dirty="0">
                <a:solidFill>
                  <a:schemeClr val="tx1"/>
                </a:solidFill>
                <a:sym typeface="Wingdings" panose="05000000000000000000" pitchFamily="2" charset="2"/>
              </a:rPr>
              <a:t>={</a:t>
            </a:r>
            <a:r>
              <a:rPr lang="en-US" altLang="zh-CN" sz="2400" i="1" dirty="0">
                <a:solidFill>
                  <a:schemeClr val="tx1"/>
                </a:solidFill>
              </a:rPr>
              <a:t>C→ B </a:t>
            </a:r>
            <a:r>
              <a:rPr lang="en-US" altLang="zh-CN" sz="2400" i="1" dirty="0">
                <a:solidFill>
                  <a:schemeClr val="tx1"/>
                </a:solidFill>
                <a:sym typeface="Wingdings" panose="05000000000000000000" pitchFamily="2" charset="2"/>
              </a:rPr>
              <a:t>}</a:t>
            </a:r>
            <a:r>
              <a:rPr lang="en-US" altLang="zh-CN" sz="2400" dirty="0">
                <a:solidFill>
                  <a:schemeClr val="tx1"/>
                </a:solidFill>
              </a:rPr>
              <a:t>;</a:t>
            </a:r>
            <a:endParaRPr lang="en-US" altLang="zh-CN" sz="2400" dirty="0">
              <a:solidFill>
                <a:schemeClr val="tx1"/>
              </a:solidFill>
            </a:endParaRPr>
          </a:p>
          <a:p>
            <a:pPr eaLnBrk="1" hangingPunct="1">
              <a:lnSpc>
                <a:spcPct val="120000"/>
              </a:lnSpc>
              <a:buNone/>
            </a:pPr>
            <a:r>
              <a:rPr lang="en-US" altLang="zh-CN" sz="2400" dirty="0">
                <a:solidFill>
                  <a:schemeClr val="tx1"/>
                </a:solidFill>
              </a:rPr>
              <a:t>		</a:t>
            </a:r>
            <a:r>
              <a:rPr lang="en-US" altLang="zh-CN" sz="2400" i="1" dirty="0">
                <a:solidFill>
                  <a:schemeClr val="tx1"/>
                </a:solidFill>
              </a:rPr>
              <a:t>F1 </a:t>
            </a:r>
            <a:r>
              <a:rPr lang="en-US" altLang="zh-CN" sz="2400" i="1" dirty="0">
                <a:solidFill>
                  <a:schemeClr val="tx1"/>
                </a:solidFill>
                <a:latin typeface="宋体" panose="02010600030101010101" pitchFamily="2" charset="-122"/>
                <a:sym typeface="Symbol" panose="05050102010706020507" pitchFamily="18" charset="2"/>
              </a:rPr>
              <a:t>∪</a:t>
            </a:r>
            <a:r>
              <a:rPr lang="en-US" altLang="zh-CN" sz="2400" i="1" dirty="0">
                <a:solidFill>
                  <a:schemeClr val="tx1"/>
                </a:solidFill>
                <a:sym typeface="Symbol" panose="05050102010706020507" pitchFamily="18" charset="2"/>
              </a:rPr>
              <a:t> F2={</a:t>
            </a:r>
            <a:r>
              <a:rPr lang="en-US" altLang="zh-CN" sz="2400" i="1" dirty="0">
                <a:solidFill>
                  <a:schemeClr val="tx1"/>
                </a:solidFill>
              </a:rPr>
              <a:t>C→ B </a:t>
            </a:r>
            <a:r>
              <a:rPr lang="en-US" altLang="zh-CN" sz="2400" i="1" dirty="0">
                <a:solidFill>
                  <a:schemeClr val="tx1"/>
                </a:solidFill>
                <a:sym typeface="Symbol" panose="05050102010706020507" pitchFamily="18" charset="2"/>
              </a:rPr>
              <a:t>}, </a:t>
            </a:r>
            <a:r>
              <a:rPr lang="zh-CN" altLang="en-US" sz="2400" dirty="0">
                <a:solidFill>
                  <a:schemeClr val="tx1"/>
                </a:solidFill>
                <a:sym typeface="Symbol" panose="05050102010706020507" pitchFamily="18" charset="2"/>
              </a:rPr>
              <a:t>显然与</a:t>
            </a:r>
            <a:r>
              <a:rPr lang="en-US" altLang="zh-CN" sz="2400" i="1" dirty="0">
                <a:solidFill>
                  <a:schemeClr val="tx1"/>
                </a:solidFill>
              </a:rPr>
              <a:t>F</a:t>
            </a:r>
            <a:r>
              <a:rPr lang="en-US" altLang="zh-CN" sz="2400" dirty="0">
                <a:solidFill>
                  <a:schemeClr val="tx1"/>
                </a:solidFill>
              </a:rPr>
              <a:t>={</a:t>
            </a:r>
            <a:r>
              <a:rPr lang="en-US" altLang="zh-CN" sz="2400" i="1" dirty="0">
                <a:solidFill>
                  <a:schemeClr val="tx1"/>
                </a:solidFill>
              </a:rPr>
              <a:t>A→ B, C→ B </a:t>
            </a:r>
            <a:r>
              <a:rPr lang="en-US" altLang="zh-CN" sz="2400" dirty="0">
                <a:solidFill>
                  <a:schemeClr val="tx1"/>
                </a:solidFill>
              </a:rPr>
              <a:t>}</a:t>
            </a:r>
            <a:r>
              <a:rPr lang="zh-CN" altLang="en-US" sz="2400" dirty="0">
                <a:solidFill>
                  <a:schemeClr val="tx1"/>
                </a:solidFill>
              </a:rPr>
              <a:t>不等价。</a:t>
            </a:r>
            <a:endParaRPr lang="zh-CN" altLang="en-US" sz="2400" dirty="0">
              <a:solidFill>
                <a:schemeClr val="tx1"/>
              </a:solidFill>
            </a:endParaRPr>
          </a:p>
          <a:p>
            <a:pPr eaLnBrk="1" hangingPunct="1">
              <a:lnSpc>
                <a:spcPct val="120000"/>
              </a:lnSpc>
              <a:buNone/>
            </a:pPr>
            <a:r>
              <a:rPr lang="zh-CN" altLang="en-US" sz="2400" dirty="0">
                <a:solidFill>
                  <a:schemeClr val="tx1"/>
                </a:solidFill>
              </a:rPr>
              <a:t>	分解不具保持函数依赖性。</a:t>
            </a:r>
            <a:endParaRPr lang="zh-CN" altLang="en-US" sz="2400" dirty="0">
              <a:solidFill>
                <a:schemeClr val="tx1"/>
              </a:solidFill>
            </a:endParaRPr>
          </a:p>
          <a:p>
            <a:pPr eaLnBrk="1" hangingPunct="1">
              <a:lnSpc>
                <a:spcPct val="120000"/>
              </a:lnSpc>
              <a:buNone/>
            </a:pPr>
            <a:r>
              <a:rPr lang="zh-CN" altLang="en-US" sz="2400" dirty="0">
                <a:solidFill>
                  <a:schemeClr val="tx1"/>
                </a:solidFill>
              </a:rPr>
              <a:t>	   </a:t>
            </a:r>
            <a:r>
              <a:rPr lang="en-US" altLang="zh-CN" sz="2400" dirty="0">
                <a:solidFill>
                  <a:schemeClr val="tx1"/>
                </a:solidFill>
              </a:rPr>
              <a:t>(2)   </a:t>
            </a:r>
            <a:r>
              <a:rPr lang="en-US" altLang="zh-CN" sz="2400" i="1" dirty="0">
                <a:solidFill>
                  <a:schemeClr val="tx1"/>
                </a:solidFill>
                <a:sym typeface="Wingdings" panose="05000000000000000000" pitchFamily="2" charset="2"/>
              </a:rPr>
              <a:t>F1={</a:t>
            </a:r>
            <a:r>
              <a:rPr lang="en-US" altLang="zh-CN" sz="2400" i="1" dirty="0">
                <a:solidFill>
                  <a:schemeClr val="tx1"/>
                </a:solidFill>
              </a:rPr>
              <a:t>A→ B</a:t>
            </a:r>
            <a:r>
              <a:rPr lang="en-US" altLang="zh-CN" sz="2400" i="1" dirty="0">
                <a:solidFill>
                  <a:schemeClr val="tx1"/>
                </a:solidFill>
                <a:sym typeface="Wingdings" panose="05000000000000000000" pitchFamily="2" charset="2"/>
              </a:rPr>
              <a:t>}, F2={</a:t>
            </a:r>
            <a:r>
              <a:rPr lang="en-US" altLang="zh-CN" sz="2400" i="1" dirty="0">
                <a:solidFill>
                  <a:schemeClr val="tx1"/>
                </a:solidFill>
              </a:rPr>
              <a:t>C→ B </a:t>
            </a:r>
            <a:r>
              <a:rPr lang="en-US" altLang="zh-CN" sz="2400" i="1" dirty="0">
                <a:solidFill>
                  <a:schemeClr val="tx1"/>
                </a:solidFill>
                <a:sym typeface="Wingdings" panose="05000000000000000000" pitchFamily="2" charset="2"/>
              </a:rPr>
              <a:t>}; </a:t>
            </a:r>
            <a:endParaRPr lang="en-US" altLang="zh-CN" sz="2400" dirty="0">
              <a:solidFill>
                <a:schemeClr val="tx1"/>
              </a:solidFill>
            </a:endParaRPr>
          </a:p>
          <a:p>
            <a:pPr eaLnBrk="1" hangingPunct="1">
              <a:lnSpc>
                <a:spcPct val="120000"/>
              </a:lnSpc>
              <a:buNone/>
            </a:pPr>
            <a:r>
              <a:rPr lang="en-US" altLang="zh-CN" sz="2400" dirty="0">
                <a:solidFill>
                  <a:schemeClr val="tx1"/>
                </a:solidFill>
              </a:rPr>
              <a:t>		  </a:t>
            </a:r>
            <a:r>
              <a:rPr lang="en-US" altLang="zh-CN" sz="2400" i="1" dirty="0">
                <a:solidFill>
                  <a:schemeClr val="tx1"/>
                </a:solidFill>
              </a:rPr>
              <a:t>F1 </a:t>
            </a:r>
            <a:r>
              <a:rPr lang="en-US" altLang="zh-CN" sz="2400" i="1" dirty="0">
                <a:solidFill>
                  <a:schemeClr val="tx1"/>
                </a:solidFill>
                <a:latin typeface="宋体" panose="02010600030101010101" pitchFamily="2" charset="-122"/>
                <a:sym typeface="Symbol" panose="05050102010706020507" pitchFamily="18" charset="2"/>
              </a:rPr>
              <a:t>∪</a:t>
            </a:r>
            <a:r>
              <a:rPr lang="en-US" altLang="zh-CN" sz="2400" i="1" dirty="0">
                <a:solidFill>
                  <a:schemeClr val="tx1"/>
                </a:solidFill>
                <a:sym typeface="Symbol" panose="05050102010706020507" pitchFamily="18" charset="2"/>
              </a:rPr>
              <a:t> F2={</a:t>
            </a:r>
            <a:r>
              <a:rPr lang="en-US" altLang="zh-CN" sz="2400" i="1" dirty="0">
                <a:solidFill>
                  <a:schemeClr val="tx1"/>
                </a:solidFill>
              </a:rPr>
              <a:t>A→ B</a:t>
            </a:r>
            <a:r>
              <a:rPr lang="en-US" altLang="zh-CN" sz="2400" i="1" dirty="0">
                <a:solidFill>
                  <a:schemeClr val="tx1"/>
                </a:solidFill>
                <a:sym typeface="Symbol" panose="05050102010706020507" pitchFamily="18" charset="2"/>
              </a:rPr>
              <a:t> ,</a:t>
            </a:r>
            <a:r>
              <a:rPr lang="en-US" altLang="zh-CN" sz="2400" i="1" dirty="0">
                <a:solidFill>
                  <a:schemeClr val="tx1"/>
                </a:solidFill>
              </a:rPr>
              <a:t>C→ B </a:t>
            </a:r>
            <a:r>
              <a:rPr lang="en-US" altLang="zh-CN" sz="2400" i="1" dirty="0">
                <a:solidFill>
                  <a:schemeClr val="tx1"/>
                </a:solidFill>
                <a:sym typeface="Symbol" panose="05050102010706020507" pitchFamily="18" charset="2"/>
              </a:rPr>
              <a:t>} = F.</a:t>
            </a:r>
            <a:endParaRPr lang="en-US" altLang="zh-CN" sz="2400" i="1" dirty="0">
              <a:solidFill>
                <a:schemeClr val="tx1"/>
              </a:solidFill>
              <a:sym typeface="Symbol" panose="05050102010706020507" pitchFamily="18" charset="2"/>
            </a:endParaRPr>
          </a:p>
          <a:p>
            <a:pPr eaLnBrk="1" hangingPunct="1">
              <a:lnSpc>
                <a:spcPct val="120000"/>
              </a:lnSpc>
              <a:buNone/>
            </a:pPr>
            <a:r>
              <a:rPr lang="en-US" altLang="zh-CN" sz="2400" i="1" dirty="0">
                <a:solidFill>
                  <a:schemeClr val="tx1"/>
                </a:solidFill>
                <a:sym typeface="Symbol" panose="05050102010706020507" pitchFamily="18" charset="2"/>
              </a:rPr>
              <a:t>      </a:t>
            </a:r>
            <a:r>
              <a:rPr lang="zh-CN" altLang="en-US" sz="2400" dirty="0">
                <a:solidFill>
                  <a:schemeClr val="tx1"/>
                </a:solidFill>
                <a:sym typeface="Symbol" panose="05050102010706020507" pitchFamily="18" charset="2"/>
              </a:rPr>
              <a:t>分解是保持函数依赖的分解。</a:t>
            </a:r>
            <a:endParaRPr lang="zh-CN" altLang="en-US" sz="2400" i="1" dirty="0">
              <a:solidFill>
                <a:schemeClr val="tx1"/>
              </a:solidFill>
              <a:sym typeface="Symbol" panose="05050102010706020507" pitchFamily="18" charset="2"/>
            </a:endParaRPr>
          </a:p>
        </p:txBody>
      </p:sp>
      <p:sp>
        <p:nvSpPr>
          <p:cNvPr id="30724"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1747" name="Rectangle 2"/>
          <p:cNvSpPr>
            <a:spLocks noGrp="1"/>
          </p:cNvSpPr>
          <p:nvPr>
            <p:ph idx="1"/>
          </p:nvPr>
        </p:nvSpPr>
        <p:spPr>
          <a:xfrm>
            <a:off x="203200" y="838200"/>
            <a:ext cx="8712200" cy="5715000"/>
          </a:xfrm>
          <a:ln/>
        </p:spPr>
        <p:txBody>
          <a:bodyPr vert="horz" wrap="square" lIns="91440" tIns="45720" rIns="91440" bIns="45720" anchor="t" anchorCtr="0"/>
          <a:p>
            <a:pPr eaLnBrk="1" hangingPunct="1">
              <a:lnSpc>
                <a:spcPct val="120000"/>
              </a:lnSpc>
              <a:buNone/>
            </a:pPr>
            <a:r>
              <a:rPr lang="en-US" altLang="zh-CN" sz="2800" dirty="0">
                <a:solidFill>
                  <a:schemeClr val="tx1"/>
                </a:solidFill>
              </a:rPr>
              <a:t>【</a:t>
            </a:r>
            <a:r>
              <a:rPr lang="zh-CN" altLang="en-US" sz="2800" dirty="0">
                <a:solidFill>
                  <a:schemeClr val="tx1"/>
                </a:solidFill>
              </a:rPr>
              <a:t>例</a:t>
            </a:r>
            <a:r>
              <a:rPr lang="en-US" altLang="zh-CN" sz="2800" dirty="0">
                <a:solidFill>
                  <a:schemeClr val="tx1"/>
                </a:solidFill>
              </a:rPr>
              <a:t>6.23】  R&lt;U,F&gt;,U={A,B,C,D,E,F},F={</a:t>
            </a:r>
            <a:r>
              <a:rPr lang="en-US" altLang="zh-CN" sz="2800" i="1" dirty="0">
                <a:solidFill>
                  <a:schemeClr val="tx1"/>
                </a:solidFill>
              </a:rPr>
              <a:t>A→ B, C→ F, E→ A, CE→D </a:t>
            </a:r>
            <a:r>
              <a:rPr lang="en-US" altLang="zh-CN" sz="2800" dirty="0">
                <a:solidFill>
                  <a:schemeClr val="tx1"/>
                </a:solidFill>
              </a:rPr>
              <a:t>}</a:t>
            </a:r>
            <a:r>
              <a:rPr lang="zh-CN" altLang="en-US" sz="2800" dirty="0">
                <a:solidFill>
                  <a:schemeClr val="tx1"/>
                </a:solidFill>
              </a:rPr>
              <a:t>的分解：</a:t>
            </a:r>
            <a:endParaRPr lang="zh-CN" altLang="en-US" sz="2800" dirty="0">
              <a:solidFill>
                <a:schemeClr val="tx1"/>
              </a:solidFill>
            </a:endParaRPr>
          </a:p>
          <a:p>
            <a:pPr eaLnBrk="1" hangingPunct="1">
              <a:lnSpc>
                <a:spcPct val="120000"/>
              </a:lnSpc>
              <a:buNone/>
            </a:pPr>
            <a:r>
              <a:rPr lang="zh-CN" altLang="en-US" sz="2800" i="1" dirty="0">
                <a:solidFill>
                  <a:schemeClr val="tx1"/>
                </a:solidFill>
                <a:sym typeface="Symbol" panose="05050102010706020507" pitchFamily="18" charset="2"/>
              </a:rPr>
              <a:t>	  </a:t>
            </a:r>
            <a:r>
              <a:rPr lang="zh-CN" altLang="en-US" sz="2800" i="1" baseline="-25000" dirty="0">
                <a:solidFill>
                  <a:schemeClr val="tx1"/>
                </a:solidFill>
                <a:sym typeface="Symbol" panose="05050102010706020507" pitchFamily="18" charset="2"/>
              </a:rPr>
              <a:t> </a:t>
            </a:r>
            <a:r>
              <a:rPr lang="en-US" altLang="zh-CN" sz="2800" i="1" dirty="0">
                <a:solidFill>
                  <a:schemeClr val="tx1"/>
                </a:solidFill>
                <a:sym typeface="Symbol" panose="05050102010706020507" pitchFamily="18" charset="2"/>
              </a:rPr>
              <a:t>= </a:t>
            </a:r>
            <a:r>
              <a:rPr lang="en-US" altLang="zh-CN" sz="2800" dirty="0">
                <a:solidFill>
                  <a:schemeClr val="tx1"/>
                </a:solidFill>
                <a:sym typeface="Symbol" panose="05050102010706020507" pitchFamily="18" charset="2"/>
              </a:rPr>
              <a:t>{ </a:t>
            </a:r>
            <a:r>
              <a:rPr lang="en-US" altLang="zh-CN" sz="2800" i="1" dirty="0">
                <a:solidFill>
                  <a:schemeClr val="tx1"/>
                </a:solidFill>
                <a:sym typeface="Symbol" panose="05050102010706020507" pitchFamily="18" charset="2"/>
              </a:rPr>
              <a:t>ABE,CDEF </a:t>
            </a:r>
            <a:r>
              <a:rPr lang="en-US" altLang="zh-CN" sz="2800" dirty="0">
                <a:solidFill>
                  <a:schemeClr val="tx1"/>
                </a:solidFill>
                <a:sym typeface="Symbol" panose="05050102010706020507" pitchFamily="18" charset="2"/>
              </a:rPr>
              <a:t>}</a:t>
            </a:r>
            <a:endParaRPr lang="en-US" altLang="zh-CN" sz="2800" dirty="0">
              <a:solidFill>
                <a:schemeClr val="tx1"/>
              </a:solidFill>
              <a:sym typeface="Symbol" panose="05050102010706020507" pitchFamily="18" charset="2"/>
            </a:endParaRPr>
          </a:p>
          <a:p>
            <a:pPr eaLnBrk="1" hangingPunct="1">
              <a:lnSpc>
                <a:spcPct val="120000"/>
              </a:lnSpc>
              <a:buNone/>
            </a:pPr>
            <a:r>
              <a:rPr lang="en-US" altLang="zh-CN" sz="2800" i="1" dirty="0">
                <a:solidFill>
                  <a:schemeClr val="tx1"/>
                </a:solidFill>
                <a:sym typeface="Symbol" panose="05050102010706020507" pitchFamily="18" charset="2"/>
              </a:rPr>
              <a:t>    </a:t>
            </a:r>
            <a:r>
              <a:rPr lang="zh-CN" altLang="en-US" sz="2800" dirty="0">
                <a:solidFill>
                  <a:schemeClr val="tx1"/>
                </a:solidFill>
                <a:sym typeface="Symbol" panose="05050102010706020507" pitchFamily="18" charset="2"/>
              </a:rPr>
              <a:t>问分解具有保持函数依赖性吗</a:t>
            </a:r>
            <a:r>
              <a:rPr lang="en-US" altLang="zh-CN" sz="2800" dirty="0">
                <a:solidFill>
                  <a:schemeClr val="tx1"/>
                </a:solidFill>
                <a:sym typeface="Symbol" panose="05050102010706020507" pitchFamily="18" charset="2"/>
              </a:rPr>
              <a:t>?</a:t>
            </a:r>
            <a:endParaRPr lang="en-US" altLang="zh-CN" sz="2800" dirty="0">
              <a:solidFill>
                <a:schemeClr val="tx1"/>
              </a:solidFill>
              <a:sym typeface="Symbol" panose="05050102010706020507" pitchFamily="18" charset="2"/>
            </a:endParaRPr>
          </a:p>
          <a:p>
            <a:pPr eaLnBrk="1" hangingPunct="1">
              <a:lnSpc>
                <a:spcPct val="120000"/>
              </a:lnSpc>
              <a:buNone/>
            </a:pPr>
            <a:r>
              <a:rPr lang="zh-CN" altLang="en-US" sz="2800" dirty="0">
                <a:solidFill>
                  <a:schemeClr val="tx1"/>
                </a:solidFill>
                <a:sym typeface="Symbol" panose="05050102010706020507" pitchFamily="18" charset="2"/>
              </a:rPr>
              <a:t>解</a:t>
            </a:r>
            <a:r>
              <a:rPr lang="en-US" altLang="zh-CN" sz="2800" dirty="0">
                <a:solidFill>
                  <a:schemeClr val="tx1"/>
                </a:solidFill>
                <a:sym typeface="Wingdings" panose="05000000000000000000" pitchFamily="2" charset="2"/>
              </a:rPr>
              <a:t>: </a:t>
            </a:r>
            <a:r>
              <a:rPr lang="en-US" altLang="zh-CN" sz="2800" dirty="0">
                <a:solidFill>
                  <a:schemeClr val="tx1"/>
                </a:solidFill>
                <a:sym typeface="Symbol" panose="05050102010706020507" pitchFamily="18" charset="2"/>
              </a:rPr>
              <a:t>∏</a:t>
            </a:r>
            <a:r>
              <a:rPr lang="en-US" altLang="zh-CN" sz="2800" dirty="0">
                <a:solidFill>
                  <a:schemeClr val="tx1"/>
                </a:solidFill>
              </a:rPr>
              <a:t>ABE</a:t>
            </a:r>
            <a:r>
              <a:rPr lang="en-US" altLang="zh-CN" sz="2800" dirty="0">
                <a:solidFill>
                  <a:schemeClr val="tx1"/>
                </a:solidFill>
                <a:sym typeface="Symbol" panose="05050102010706020507" pitchFamily="18" charset="2"/>
              </a:rPr>
              <a:t>(F)={</a:t>
            </a:r>
            <a:r>
              <a:rPr lang="en-US" altLang="zh-CN" sz="2800" i="1" dirty="0">
                <a:solidFill>
                  <a:schemeClr val="tx1"/>
                </a:solidFill>
              </a:rPr>
              <a:t>E→ A, A→ B</a:t>
            </a:r>
            <a:r>
              <a:rPr lang="en-US" altLang="zh-CN" sz="2800" dirty="0">
                <a:solidFill>
                  <a:schemeClr val="tx1"/>
                </a:solidFill>
                <a:sym typeface="Symbol" panose="05050102010706020507" pitchFamily="18" charset="2"/>
              </a:rPr>
              <a:t>}</a:t>
            </a:r>
            <a:endParaRPr lang="en-US" altLang="zh-CN" sz="2800" dirty="0">
              <a:solidFill>
                <a:schemeClr val="tx1"/>
              </a:solidFill>
              <a:sym typeface="Symbol" panose="05050102010706020507" pitchFamily="18" charset="2"/>
            </a:endParaRPr>
          </a:p>
          <a:p>
            <a:pPr eaLnBrk="1" hangingPunct="1">
              <a:lnSpc>
                <a:spcPct val="120000"/>
              </a:lnSpc>
              <a:buNone/>
            </a:pPr>
            <a:r>
              <a:rPr lang="en-US" altLang="zh-CN" sz="2800" dirty="0">
                <a:solidFill>
                  <a:schemeClr val="tx1"/>
                </a:solidFill>
                <a:sym typeface="Symbol" panose="05050102010706020507" pitchFamily="18" charset="2"/>
              </a:rPr>
              <a:t>	  ∏</a:t>
            </a:r>
            <a:r>
              <a:rPr lang="en-US" altLang="zh-CN" sz="2800" dirty="0">
                <a:solidFill>
                  <a:schemeClr val="tx1"/>
                </a:solidFill>
              </a:rPr>
              <a:t>CDEF</a:t>
            </a:r>
            <a:r>
              <a:rPr lang="en-US" altLang="zh-CN" sz="2800" dirty="0">
                <a:solidFill>
                  <a:schemeClr val="tx1"/>
                </a:solidFill>
                <a:sym typeface="Symbol" panose="05050102010706020507" pitchFamily="18" charset="2"/>
              </a:rPr>
              <a:t>(F)={</a:t>
            </a:r>
            <a:r>
              <a:rPr lang="en-US" altLang="zh-CN" sz="2800" i="1" dirty="0">
                <a:solidFill>
                  <a:schemeClr val="tx1"/>
                </a:solidFill>
              </a:rPr>
              <a:t>C→ F, CE→ D</a:t>
            </a:r>
            <a:r>
              <a:rPr lang="en-US" altLang="zh-CN" sz="2800" dirty="0">
                <a:solidFill>
                  <a:schemeClr val="tx1"/>
                </a:solidFill>
                <a:sym typeface="Symbol" panose="05050102010706020507" pitchFamily="18" charset="2"/>
              </a:rPr>
              <a:t>}</a:t>
            </a:r>
            <a:endParaRPr lang="en-US" altLang="zh-CN" sz="2800" dirty="0">
              <a:solidFill>
                <a:schemeClr val="tx1"/>
              </a:solidFill>
              <a:sym typeface="Symbol" panose="05050102010706020507" pitchFamily="18" charset="2"/>
            </a:endParaRPr>
          </a:p>
          <a:p>
            <a:pPr eaLnBrk="1" hangingPunct="1">
              <a:lnSpc>
                <a:spcPct val="120000"/>
              </a:lnSpc>
              <a:buNone/>
            </a:pPr>
            <a:r>
              <a:rPr lang="en-US" altLang="zh-CN" sz="2800" dirty="0">
                <a:solidFill>
                  <a:schemeClr val="tx1"/>
                </a:solidFill>
                <a:sym typeface="Symbol" panose="05050102010706020507" pitchFamily="18" charset="2"/>
              </a:rPr>
              <a:t> 	  ∏</a:t>
            </a:r>
            <a:r>
              <a:rPr lang="en-US" altLang="zh-CN" sz="2800" dirty="0">
                <a:solidFill>
                  <a:schemeClr val="tx1"/>
                </a:solidFill>
              </a:rPr>
              <a:t>ABE</a:t>
            </a:r>
            <a:r>
              <a:rPr lang="en-US" altLang="zh-CN" sz="2800" dirty="0">
                <a:solidFill>
                  <a:schemeClr val="tx1"/>
                </a:solidFill>
                <a:sym typeface="Symbol" panose="05050102010706020507" pitchFamily="18" charset="2"/>
              </a:rPr>
              <a:t>(F) </a:t>
            </a:r>
            <a:r>
              <a:rPr lang="en-US" altLang="zh-CN" sz="2800" dirty="0">
                <a:solidFill>
                  <a:schemeClr val="tx1"/>
                </a:solidFill>
                <a:latin typeface="宋体" panose="02010600030101010101" pitchFamily="2" charset="-122"/>
                <a:sym typeface="Symbol" panose="05050102010706020507" pitchFamily="18" charset="2"/>
              </a:rPr>
              <a:t>∪ </a:t>
            </a:r>
            <a:r>
              <a:rPr lang="en-US" altLang="zh-CN" sz="2800" dirty="0">
                <a:solidFill>
                  <a:schemeClr val="tx1"/>
                </a:solidFill>
                <a:sym typeface="Symbol" panose="05050102010706020507" pitchFamily="18" charset="2"/>
              </a:rPr>
              <a:t>∏</a:t>
            </a:r>
            <a:r>
              <a:rPr lang="en-US" altLang="zh-CN" sz="2800" dirty="0">
                <a:solidFill>
                  <a:schemeClr val="tx1"/>
                </a:solidFill>
              </a:rPr>
              <a:t>CDEF</a:t>
            </a:r>
            <a:r>
              <a:rPr lang="en-US" altLang="zh-CN" sz="2800" dirty="0">
                <a:solidFill>
                  <a:schemeClr val="tx1"/>
                </a:solidFill>
                <a:sym typeface="Symbol" panose="05050102010706020507" pitchFamily="18" charset="2"/>
              </a:rPr>
              <a:t>(F) = F</a:t>
            </a:r>
            <a:endParaRPr lang="en-US" altLang="zh-CN" sz="2800" dirty="0">
              <a:solidFill>
                <a:schemeClr val="tx1"/>
              </a:solidFill>
              <a:sym typeface="Symbol" panose="05050102010706020507" pitchFamily="18" charset="2"/>
            </a:endParaRPr>
          </a:p>
          <a:p>
            <a:pPr eaLnBrk="1" hangingPunct="1">
              <a:lnSpc>
                <a:spcPct val="120000"/>
              </a:lnSpc>
              <a:buNone/>
            </a:pPr>
            <a:r>
              <a:rPr lang="en-US" altLang="zh-CN" sz="2800" dirty="0">
                <a:solidFill>
                  <a:schemeClr val="tx1"/>
                </a:solidFill>
                <a:sym typeface="Symbol" panose="05050102010706020507" pitchFamily="18" charset="2"/>
              </a:rPr>
              <a:t>     </a:t>
            </a:r>
            <a:r>
              <a:rPr lang="zh-CN" altLang="en-US" sz="2800" dirty="0">
                <a:solidFill>
                  <a:schemeClr val="tx1"/>
                </a:solidFill>
                <a:sym typeface="Symbol" panose="05050102010706020507" pitchFamily="18" charset="2"/>
              </a:rPr>
              <a:t>故分解具有保持函数依赖性。</a:t>
            </a:r>
            <a:endParaRPr lang="zh-CN" altLang="en-US" sz="2800" dirty="0">
              <a:solidFill>
                <a:schemeClr val="tx1"/>
              </a:solidFill>
              <a:sym typeface="Symbol" panose="05050102010706020507" pitchFamily="18" charset="2"/>
            </a:endParaRPr>
          </a:p>
          <a:p>
            <a:pPr eaLnBrk="1" hangingPunct="1">
              <a:lnSpc>
                <a:spcPct val="120000"/>
              </a:lnSpc>
              <a:buNone/>
            </a:pPr>
            <a:r>
              <a:rPr lang="zh-CN" altLang="en-US" sz="2800" dirty="0">
                <a:solidFill>
                  <a:schemeClr val="tx1"/>
                </a:solidFill>
                <a:sym typeface="Symbol" panose="05050102010706020507" pitchFamily="18" charset="2"/>
              </a:rPr>
              <a:t>前面已经发现分解是无损连接的。问</a:t>
            </a:r>
            <a:r>
              <a:rPr lang="en-US" altLang="zh-CN" sz="2800" dirty="0">
                <a:solidFill>
                  <a:schemeClr val="tx1"/>
                </a:solidFill>
                <a:sym typeface="Symbol" panose="05050102010706020507" pitchFamily="18" charset="2"/>
              </a:rPr>
              <a:t>:</a:t>
            </a:r>
            <a:r>
              <a:rPr lang="zh-CN" altLang="en-US" sz="2800" dirty="0">
                <a:solidFill>
                  <a:schemeClr val="tx1"/>
                </a:solidFill>
                <a:sym typeface="Symbol" panose="05050102010706020507" pitchFamily="18" charset="2"/>
              </a:rPr>
              <a:t>该分解是否理想</a:t>
            </a:r>
            <a:r>
              <a:rPr lang="en-US" altLang="zh-CN" sz="2800" dirty="0">
                <a:solidFill>
                  <a:schemeClr val="tx1"/>
                </a:solidFill>
                <a:sym typeface="Symbol" panose="05050102010706020507" pitchFamily="18" charset="2"/>
              </a:rPr>
              <a:t>?</a:t>
            </a:r>
            <a:endParaRPr lang="en-US" altLang="zh-CN" sz="2800" dirty="0">
              <a:solidFill>
                <a:schemeClr val="tx1"/>
              </a:solidFill>
              <a:sym typeface="Symbol" panose="05050102010706020507" pitchFamily="18" charset="2"/>
            </a:endParaRPr>
          </a:p>
        </p:txBody>
      </p:sp>
      <p:sp>
        <p:nvSpPr>
          <p:cNvPr id="31748"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2771" name="Rectangle 2"/>
          <p:cNvSpPr>
            <a:spLocks noGrp="1"/>
          </p:cNvSpPr>
          <p:nvPr>
            <p:ph idx="1"/>
          </p:nvPr>
        </p:nvSpPr>
        <p:spPr>
          <a:xfrm>
            <a:off x="381000" y="838200"/>
            <a:ext cx="8610600" cy="5410200"/>
          </a:xfrm>
          <a:ln/>
        </p:spPr>
        <p:txBody>
          <a:bodyPr vert="horz" wrap="square" lIns="91440" tIns="45720" rIns="91440" bIns="45720" anchor="t" anchorCtr="0"/>
          <a:p>
            <a:pPr eaLnBrk="1" hangingPunct="1">
              <a:lnSpc>
                <a:spcPct val="120000"/>
              </a:lnSpc>
              <a:buNone/>
            </a:pPr>
            <a:r>
              <a:rPr lang="en-US" altLang="zh-CN" dirty="0">
                <a:solidFill>
                  <a:schemeClr val="tx1"/>
                </a:solidFill>
              </a:rPr>
              <a:t>【</a:t>
            </a:r>
            <a:r>
              <a:rPr lang="zh-CN" altLang="en-US" dirty="0">
                <a:solidFill>
                  <a:schemeClr val="tx1"/>
                </a:solidFill>
              </a:rPr>
              <a:t>例</a:t>
            </a:r>
            <a:r>
              <a:rPr lang="en-US" altLang="zh-CN" dirty="0">
                <a:solidFill>
                  <a:schemeClr val="tx1"/>
                </a:solidFill>
              </a:rPr>
              <a:t>6.24】  R&lt;U,F&gt;,U={A,B,C},F={</a:t>
            </a:r>
            <a:r>
              <a:rPr lang="en-US" altLang="zh-CN" i="1" dirty="0">
                <a:solidFill>
                  <a:schemeClr val="tx1"/>
                </a:solidFill>
              </a:rPr>
              <a:t>A→ B, B→ C </a:t>
            </a:r>
            <a:r>
              <a:rPr lang="en-US" altLang="zh-CN" dirty="0">
                <a:solidFill>
                  <a:schemeClr val="tx1"/>
                </a:solidFill>
              </a:rPr>
              <a:t>}</a:t>
            </a:r>
            <a:r>
              <a:rPr lang="zh-CN" altLang="en-US" dirty="0">
                <a:solidFill>
                  <a:schemeClr val="tx1"/>
                </a:solidFill>
              </a:rPr>
              <a:t>的分解：</a:t>
            </a:r>
            <a:r>
              <a:rPr lang="zh-CN" altLang="en-US" i="1" dirty="0">
                <a:solidFill>
                  <a:schemeClr val="tx1"/>
                </a:solidFill>
                <a:sym typeface="Symbol" panose="05050102010706020507" pitchFamily="18" charset="2"/>
              </a:rPr>
              <a:t>	   </a:t>
            </a:r>
            <a:r>
              <a:rPr lang="zh-CN" altLang="en-US" i="1" baseline="-25000" dirty="0">
                <a:solidFill>
                  <a:schemeClr val="tx1"/>
                </a:solidFill>
                <a:sym typeface="Symbol" panose="05050102010706020507" pitchFamily="18" charset="2"/>
              </a:rPr>
              <a:t> </a:t>
            </a:r>
            <a:r>
              <a:rPr lang="en-US" altLang="zh-CN" i="1" dirty="0">
                <a:solidFill>
                  <a:schemeClr val="tx1"/>
                </a:solidFill>
                <a:sym typeface="Symbol" panose="05050102010706020507" pitchFamily="18" charset="2"/>
              </a:rPr>
              <a:t>= </a:t>
            </a:r>
            <a:r>
              <a:rPr lang="en-US" altLang="zh-CN" dirty="0">
                <a:solidFill>
                  <a:schemeClr val="tx1"/>
                </a:solidFill>
                <a:sym typeface="Symbol" panose="05050102010706020507" pitchFamily="18" charset="2"/>
              </a:rPr>
              <a:t>{ </a:t>
            </a:r>
            <a:r>
              <a:rPr lang="en-US" altLang="zh-CN" i="1" dirty="0">
                <a:solidFill>
                  <a:schemeClr val="tx1"/>
                </a:solidFill>
                <a:sym typeface="Symbol" panose="05050102010706020507" pitchFamily="18" charset="2"/>
              </a:rPr>
              <a:t>AB,AC </a:t>
            </a:r>
            <a:r>
              <a:rPr lang="en-US" altLang="zh-CN" dirty="0">
                <a:solidFill>
                  <a:schemeClr val="tx1"/>
                </a:solidFill>
                <a:sym typeface="Symbol" panose="05050102010706020507" pitchFamily="18" charset="2"/>
              </a:rPr>
              <a:t>}</a:t>
            </a:r>
            <a:endParaRPr lang="en-US" altLang="zh-CN" dirty="0">
              <a:solidFill>
                <a:schemeClr val="tx1"/>
              </a:solidFill>
              <a:sym typeface="Symbol" panose="05050102010706020507" pitchFamily="18" charset="2"/>
            </a:endParaRPr>
          </a:p>
          <a:p>
            <a:pPr eaLnBrk="1" hangingPunct="1">
              <a:lnSpc>
                <a:spcPct val="120000"/>
              </a:lnSpc>
              <a:buNone/>
            </a:pPr>
            <a:r>
              <a:rPr lang="en-US" altLang="zh-CN" dirty="0">
                <a:solidFill>
                  <a:schemeClr val="tx1"/>
                </a:solidFill>
                <a:sym typeface="Symbol" panose="05050102010706020507" pitchFamily="18" charset="2"/>
              </a:rPr>
              <a:t>    </a:t>
            </a:r>
            <a:r>
              <a:rPr lang="zh-CN" altLang="en-US" dirty="0">
                <a:solidFill>
                  <a:schemeClr val="tx1"/>
                </a:solidFill>
                <a:sym typeface="Symbol" panose="05050102010706020507" pitchFamily="18" charset="2"/>
              </a:rPr>
              <a:t>保持函数依赖吗</a:t>
            </a:r>
            <a:r>
              <a:rPr lang="en-US" altLang="zh-CN" dirty="0">
                <a:solidFill>
                  <a:schemeClr val="tx1"/>
                </a:solidFill>
                <a:sym typeface="Symbol" panose="05050102010706020507" pitchFamily="18" charset="2"/>
              </a:rPr>
              <a:t>?</a:t>
            </a:r>
            <a:endParaRPr lang="en-US" altLang="zh-CN" dirty="0">
              <a:solidFill>
                <a:schemeClr val="tx1"/>
              </a:solidFill>
              <a:sym typeface="Symbol" panose="05050102010706020507" pitchFamily="18" charset="2"/>
            </a:endParaRPr>
          </a:p>
          <a:p>
            <a:pPr eaLnBrk="1" hangingPunct="1">
              <a:lnSpc>
                <a:spcPct val="120000"/>
              </a:lnSpc>
              <a:buNone/>
            </a:pPr>
            <a:r>
              <a:rPr lang="zh-CN" altLang="en-US" dirty="0">
                <a:solidFill>
                  <a:schemeClr val="tx1"/>
                </a:solidFill>
                <a:sym typeface="Symbol" panose="05050102010706020507" pitchFamily="18" charset="2"/>
              </a:rPr>
              <a:t>解</a:t>
            </a:r>
            <a:r>
              <a:rPr lang="en-US" altLang="zh-CN" dirty="0">
                <a:solidFill>
                  <a:schemeClr val="tx1"/>
                </a:solidFill>
                <a:sym typeface="Wingdings" panose="05000000000000000000" pitchFamily="2" charset="2"/>
              </a:rPr>
              <a:t>:     </a:t>
            </a:r>
            <a:r>
              <a:rPr lang="en-US" altLang="zh-CN" i="1" dirty="0">
                <a:solidFill>
                  <a:schemeClr val="tx1"/>
                </a:solidFill>
                <a:sym typeface="Wingdings" panose="05000000000000000000" pitchFamily="2" charset="2"/>
              </a:rPr>
              <a:t>F</a:t>
            </a:r>
            <a:r>
              <a:rPr lang="en-US" altLang="zh-CN" i="1" baseline="-25000" dirty="0">
                <a:solidFill>
                  <a:schemeClr val="tx1"/>
                </a:solidFill>
                <a:sym typeface="Wingdings" panose="05000000000000000000" pitchFamily="2" charset="2"/>
              </a:rPr>
              <a:t>1</a:t>
            </a:r>
            <a:r>
              <a:rPr lang="en-US" altLang="zh-CN" i="1" dirty="0">
                <a:solidFill>
                  <a:schemeClr val="tx1"/>
                </a:solidFill>
                <a:sym typeface="Wingdings" panose="05000000000000000000" pitchFamily="2" charset="2"/>
              </a:rPr>
              <a:t>={</a:t>
            </a:r>
            <a:r>
              <a:rPr lang="en-US" altLang="zh-CN" i="1" dirty="0">
                <a:solidFill>
                  <a:schemeClr val="tx1"/>
                </a:solidFill>
              </a:rPr>
              <a:t>A→ B</a:t>
            </a:r>
            <a:r>
              <a:rPr lang="en-US" altLang="zh-CN" i="1" dirty="0">
                <a:solidFill>
                  <a:schemeClr val="tx1"/>
                </a:solidFill>
                <a:sym typeface="Wingdings" panose="05000000000000000000" pitchFamily="2" charset="2"/>
              </a:rPr>
              <a:t>}, F</a:t>
            </a:r>
            <a:r>
              <a:rPr lang="en-US" altLang="zh-CN" i="1" baseline="-25000" dirty="0">
                <a:solidFill>
                  <a:schemeClr val="tx1"/>
                </a:solidFill>
                <a:sym typeface="Wingdings" panose="05000000000000000000" pitchFamily="2" charset="2"/>
              </a:rPr>
              <a:t>2</a:t>
            </a:r>
            <a:r>
              <a:rPr lang="en-US" altLang="zh-CN" i="1" dirty="0">
                <a:solidFill>
                  <a:schemeClr val="tx1"/>
                </a:solidFill>
                <a:sym typeface="Wingdings" panose="05000000000000000000" pitchFamily="2" charset="2"/>
              </a:rPr>
              <a:t>={</a:t>
            </a:r>
            <a:r>
              <a:rPr lang="en-US" altLang="zh-CN" i="1" dirty="0">
                <a:solidFill>
                  <a:schemeClr val="tx1"/>
                </a:solidFill>
              </a:rPr>
              <a:t>A→ C </a:t>
            </a:r>
            <a:r>
              <a:rPr lang="en-US" altLang="zh-CN" i="1" dirty="0">
                <a:solidFill>
                  <a:schemeClr val="tx1"/>
                </a:solidFill>
                <a:sym typeface="Wingdings" panose="05000000000000000000" pitchFamily="2" charset="2"/>
              </a:rPr>
              <a:t>}</a:t>
            </a:r>
            <a:r>
              <a:rPr lang="en-US" altLang="zh-CN" dirty="0">
                <a:solidFill>
                  <a:schemeClr val="tx1"/>
                </a:solidFill>
              </a:rPr>
              <a:t>;</a:t>
            </a:r>
            <a:endParaRPr lang="en-US" altLang="zh-CN" dirty="0">
              <a:solidFill>
                <a:schemeClr val="tx1"/>
              </a:solidFill>
            </a:endParaRPr>
          </a:p>
          <a:p>
            <a:pPr eaLnBrk="1" hangingPunct="1">
              <a:lnSpc>
                <a:spcPct val="120000"/>
              </a:lnSpc>
              <a:buNone/>
            </a:pPr>
            <a:r>
              <a:rPr lang="en-US" altLang="zh-CN" dirty="0">
                <a:solidFill>
                  <a:schemeClr val="tx1"/>
                </a:solidFill>
              </a:rPr>
              <a:t>		</a:t>
            </a:r>
            <a:r>
              <a:rPr lang="en-US" altLang="zh-CN" i="1" dirty="0">
                <a:solidFill>
                  <a:schemeClr val="tx1"/>
                </a:solidFill>
              </a:rPr>
              <a:t>F1 </a:t>
            </a:r>
            <a:r>
              <a:rPr lang="en-US" altLang="zh-CN" i="1" dirty="0">
                <a:solidFill>
                  <a:schemeClr val="tx1"/>
                </a:solidFill>
                <a:latin typeface="宋体" panose="02010600030101010101" pitchFamily="2" charset="-122"/>
                <a:sym typeface="Symbol" panose="05050102010706020507" pitchFamily="18" charset="2"/>
              </a:rPr>
              <a:t>∪</a:t>
            </a:r>
            <a:r>
              <a:rPr lang="en-US" altLang="zh-CN" i="1" dirty="0">
                <a:solidFill>
                  <a:schemeClr val="tx1"/>
                </a:solidFill>
                <a:sym typeface="Symbol" panose="05050102010706020507" pitchFamily="18" charset="2"/>
              </a:rPr>
              <a:t> F2={</a:t>
            </a:r>
            <a:r>
              <a:rPr lang="en-US" altLang="zh-CN" i="1" dirty="0">
                <a:solidFill>
                  <a:schemeClr val="tx1"/>
                </a:solidFill>
              </a:rPr>
              <a:t>A→ B, A→ C </a:t>
            </a:r>
            <a:r>
              <a:rPr lang="en-US" altLang="zh-CN" i="1" dirty="0">
                <a:solidFill>
                  <a:schemeClr val="tx1"/>
                </a:solidFill>
                <a:sym typeface="Symbol" panose="05050102010706020507" pitchFamily="18" charset="2"/>
              </a:rPr>
              <a:t>}, </a:t>
            </a:r>
            <a:endParaRPr lang="en-US" altLang="zh-CN" dirty="0">
              <a:solidFill>
                <a:schemeClr val="tx1"/>
              </a:solidFill>
              <a:sym typeface="Symbol" panose="05050102010706020507" pitchFamily="18" charset="2"/>
            </a:endParaRPr>
          </a:p>
          <a:p>
            <a:pPr eaLnBrk="1" hangingPunct="1">
              <a:lnSpc>
                <a:spcPct val="120000"/>
              </a:lnSpc>
              <a:buNone/>
            </a:pPr>
            <a:r>
              <a:rPr lang="en-US" altLang="zh-CN" dirty="0">
                <a:solidFill>
                  <a:schemeClr val="tx1"/>
                </a:solidFill>
                <a:sym typeface="Symbol" panose="05050102010706020507" pitchFamily="18" charset="2"/>
              </a:rPr>
              <a:t>          </a:t>
            </a:r>
            <a:r>
              <a:rPr lang="zh-CN" altLang="en-US" dirty="0">
                <a:solidFill>
                  <a:schemeClr val="tx1"/>
                </a:solidFill>
                <a:sym typeface="Symbol" panose="05050102010706020507" pitchFamily="18" charset="2"/>
              </a:rPr>
              <a:t>与 </a:t>
            </a:r>
            <a:r>
              <a:rPr lang="en-US" altLang="zh-CN" i="1" dirty="0">
                <a:solidFill>
                  <a:schemeClr val="tx1"/>
                </a:solidFill>
              </a:rPr>
              <a:t>F </a:t>
            </a:r>
            <a:r>
              <a:rPr lang="en-US" altLang="zh-CN" dirty="0">
                <a:solidFill>
                  <a:schemeClr val="tx1"/>
                </a:solidFill>
              </a:rPr>
              <a:t>= {</a:t>
            </a:r>
            <a:r>
              <a:rPr lang="en-US" altLang="zh-CN" i="1" dirty="0">
                <a:solidFill>
                  <a:schemeClr val="tx1"/>
                </a:solidFill>
              </a:rPr>
              <a:t>A→ B, B→ C </a:t>
            </a:r>
            <a:r>
              <a:rPr lang="en-US" altLang="zh-CN" dirty="0">
                <a:solidFill>
                  <a:schemeClr val="tx1"/>
                </a:solidFill>
              </a:rPr>
              <a:t>}</a:t>
            </a:r>
            <a:r>
              <a:rPr lang="zh-CN" altLang="en-US" dirty="0">
                <a:solidFill>
                  <a:schemeClr val="tx1"/>
                </a:solidFill>
              </a:rPr>
              <a:t>并不等价。因为</a:t>
            </a:r>
            <a:endParaRPr lang="zh-CN" altLang="en-US" dirty="0">
              <a:solidFill>
                <a:schemeClr val="tx1"/>
              </a:solidFill>
            </a:endParaRPr>
          </a:p>
          <a:p>
            <a:pPr eaLnBrk="1" hangingPunct="1">
              <a:lnSpc>
                <a:spcPct val="120000"/>
              </a:lnSpc>
              <a:buNone/>
            </a:pPr>
            <a:r>
              <a:rPr lang="zh-CN" altLang="en-US" dirty="0">
                <a:solidFill>
                  <a:schemeClr val="tx1"/>
                </a:solidFill>
              </a:rPr>
              <a:t>          </a:t>
            </a:r>
            <a:r>
              <a:rPr lang="en-US" altLang="zh-CN" dirty="0">
                <a:solidFill>
                  <a:schemeClr val="tx1"/>
                </a:solidFill>
              </a:rPr>
              <a:t>(</a:t>
            </a:r>
            <a:r>
              <a:rPr lang="en-US" altLang="zh-CN" i="1" dirty="0">
                <a:solidFill>
                  <a:schemeClr val="tx1"/>
                </a:solidFill>
              </a:rPr>
              <a:t>B→ C)</a:t>
            </a:r>
            <a:r>
              <a:rPr lang="en-US" altLang="zh-CN" dirty="0">
                <a:solidFill>
                  <a:schemeClr val="tx1"/>
                </a:solidFill>
              </a:rPr>
              <a:t> </a:t>
            </a:r>
            <a:r>
              <a:rPr lang="en-US" altLang="zh-CN" i="1" dirty="0">
                <a:solidFill>
                  <a:schemeClr val="tx1"/>
                </a:solidFill>
              </a:rPr>
              <a:t>∈ (F1 </a:t>
            </a:r>
            <a:r>
              <a:rPr lang="en-US" altLang="zh-CN" i="1" dirty="0">
                <a:solidFill>
                  <a:schemeClr val="tx1"/>
                </a:solidFill>
                <a:latin typeface="宋体" panose="02010600030101010101" pitchFamily="2" charset="-122"/>
                <a:sym typeface="Symbol" panose="05050102010706020507" pitchFamily="18" charset="2"/>
              </a:rPr>
              <a:t>∪</a:t>
            </a:r>
            <a:r>
              <a:rPr lang="en-US" altLang="zh-CN" i="1" dirty="0">
                <a:solidFill>
                  <a:schemeClr val="tx1"/>
                </a:solidFill>
                <a:sym typeface="Symbol" panose="05050102010706020507" pitchFamily="18" charset="2"/>
              </a:rPr>
              <a:t> F2)</a:t>
            </a:r>
            <a:r>
              <a:rPr lang="en-US" altLang="zh-CN" i="1" dirty="0">
                <a:solidFill>
                  <a:schemeClr val="tx1"/>
                </a:solidFill>
              </a:rPr>
              <a:t> </a:t>
            </a:r>
            <a:r>
              <a:rPr lang="en-US" altLang="zh-CN" i="1" baseline="30000" dirty="0">
                <a:solidFill>
                  <a:schemeClr val="tx1"/>
                </a:solidFill>
              </a:rPr>
              <a:t>+</a:t>
            </a:r>
            <a:r>
              <a:rPr lang="en-US" altLang="zh-CN" dirty="0">
                <a:solidFill>
                  <a:schemeClr val="tx1"/>
                </a:solidFill>
              </a:rPr>
              <a:t> ,</a:t>
            </a:r>
            <a:r>
              <a:rPr lang="zh-CN" altLang="en-US" dirty="0">
                <a:solidFill>
                  <a:schemeClr val="tx1"/>
                </a:solidFill>
              </a:rPr>
              <a:t>但</a:t>
            </a:r>
            <a:r>
              <a:rPr lang="en-US" altLang="zh-CN" dirty="0">
                <a:solidFill>
                  <a:schemeClr val="tx1"/>
                </a:solidFill>
              </a:rPr>
              <a:t>(</a:t>
            </a:r>
            <a:r>
              <a:rPr lang="en-US" altLang="zh-CN" i="1" dirty="0">
                <a:solidFill>
                  <a:schemeClr val="tx1"/>
                </a:solidFill>
              </a:rPr>
              <a:t>B→ C)∈ F </a:t>
            </a:r>
            <a:r>
              <a:rPr lang="en-US" altLang="zh-CN" i="1" baseline="30000" dirty="0">
                <a:solidFill>
                  <a:schemeClr val="tx1"/>
                </a:solidFill>
              </a:rPr>
              <a:t>+</a:t>
            </a:r>
            <a:r>
              <a:rPr lang="en-US" altLang="zh-CN" dirty="0">
                <a:solidFill>
                  <a:schemeClr val="tx1"/>
                </a:solidFill>
              </a:rPr>
              <a:t> </a:t>
            </a:r>
            <a:r>
              <a:rPr lang="zh-CN" altLang="en-US" dirty="0">
                <a:solidFill>
                  <a:schemeClr val="tx1"/>
                </a:solidFill>
              </a:rPr>
              <a:t>。</a:t>
            </a:r>
            <a:endParaRPr lang="zh-CN" altLang="en-US" dirty="0">
              <a:solidFill>
                <a:schemeClr val="tx1"/>
              </a:solidFill>
            </a:endParaRPr>
          </a:p>
          <a:p>
            <a:pPr eaLnBrk="1" hangingPunct="1">
              <a:lnSpc>
                <a:spcPct val="120000"/>
              </a:lnSpc>
              <a:buNone/>
            </a:pPr>
            <a:r>
              <a:rPr lang="zh-CN" altLang="en-US" dirty="0">
                <a:solidFill>
                  <a:schemeClr val="tx1"/>
                </a:solidFill>
              </a:rPr>
              <a:t>	     所以，分解不具保持函数依赖性。</a:t>
            </a:r>
            <a:endParaRPr lang="zh-CN" altLang="en-US" dirty="0">
              <a:solidFill>
                <a:schemeClr val="tx1"/>
              </a:solidFill>
            </a:endParaRPr>
          </a:p>
        </p:txBody>
      </p:sp>
      <p:sp>
        <p:nvSpPr>
          <p:cNvPr id="32772"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
        <p:nvSpPr>
          <p:cNvPr id="32773" name="Line 4"/>
          <p:cNvSpPr/>
          <p:nvPr/>
        </p:nvSpPr>
        <p:spPr>
          <a:xfrm flipH="1">
            <a:off x="3132138" y="4992688"/>
            <a:ext cx="152400" cy="381000"/>
          </a:xfrm>
          <a:prstGeom prst="line">
            <a:avLst/>
          </a:prstGeom>
          <a:ln w="28575" cap="flat" cmpd="sng">
            <a:solidFill>
              <a:schemeClr val="tx1"/>
            </a:solidFill>
            <a:prstDash val="solid"/>
            <a:headEnd type="none" w="med" len="med"/>
            <a:tailEnd type="none" w="med" len="med"/>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3795" name="Rectangle 2"/>
          <p:cNvSpPr>
            <a:spLocks noGrp="1"/>
          </p:cNvSpPr>
          <p:nvPr>
            <p:ph idx="1"/>
          </p:nvPr>
        </p:nvSpPr>
        <p:spPr>
          <a:xfrm>
            <a:off x="558800" y="1219200"/>
            <a:ext cx="8077200" cy="4584700"/>
          </a:xfrm>
          <a:ln/>
        </p:spPr>
        <p:txBody>
          <a:bodyPr vert="horz" wrap="square" lIns="91440" tIns="45720" rIns="91440" bIns="45720" anchor="t" anchorCtr="0"/>
          <a:p>
            <a:pPr eaLnBrk="1" hangingPunct="1">
              <a:lnSpc>
                <a:spcPct val="120000"/>
              </a:lnSpc>
            </a:pPr>
            <a:r>
              <a:rPr lang="en-US" altLang="zh-CN" dirty="0">
                <a:solidFill>
                  <a:schemeClr val="tx1"/>
                </a:solidFill>
              </a:rPr>
              <a:t>6.5.1 </a:t>
            </a:r>
            <a:r>
              <a:rPr lang="zh-CN" altLang="en-US" dirty="0">
                <a:solidFill>
                  <a:schemeClr val="tx1"/>
                </a:solidFill>
              </a:rPr>
              <a:t>模式分解的定义</a:t>
            </a:r>
            <a:endParaRPr lang="zh-CN" altLang="en-US" dirty="0">
              <a:solidFill>
                <a:schemeClr val="tx1"/>
              </a:solidFill>
            </a:endParaRPr>
          </a:p>
          <a:p>
            <a:pPr eaLnBrk="1" hangingPunct="1">
              <a:lnSpc>
                <a:spcPct val="120000"/>
              </a:lnSpc>
            </a:pPr>
            <a:r>
              <a:rPr lang="en-US" altLang="zh-CN" dirty="0">
                <a:solidFill>
                  <a:schemeClr val="tx1"/>
                </a:solidFill>
              </a:rPr>
              <a:t>6.5.2 </a:t>
            </a:r>
            <a:r>
              <a:rPr lang="zh-CN" altLang="en-US" dirty="0">
                <a:solidFill>
                  <a:schemeClr val="tx1"/>
                </a:solidFill>
              </a:rPr>
              <a:t>模式分解中的问题</a:t>
            </a:r>
            <a:endParaRPr lang="zh-CN" altLang="en-US" dirty="0">
              <a:solidFill>
                <a:schemeClr val="tx1"/>
              </a:solidFill>
            </a:endParaRPr>
          </a:p>
          <a:p>
            <a:pPr eaLnBrk="1" hangingPunct="1">
              <a:lnSpc>
                <a:spcPct val="120000"/>
              </a:lnSpc>
            </a:pPr>
            <a:r>
              <a:rPr lang="en-US" altLang="zh-CN" dirty="0">
                <a:solidFill>
                  <a:schemeClr val="tx1"/>
                </a:solidFill>
              </a:rPr>
              <a:t>6.5.3 </a:t>
            </a:r>
            <a:r>
              <a:rPr lang="zh-CN" altLang="en-US" dirty="0">
                <a:solidFill>
                  <a:schemeClr val="tx1"/>
                </a:solidFill>
              </a:rPr>
              <a:t>无损连接分解</a:t>
            </a:r>
            <a:endParaRPr lang="zh-CN" altLang="en-US" dirty="0">
              <a:solidFill>
                <a:schemeClr val="tx1"/>
              </a:solidFill>
            </a:endParaRPr>
          </a:p>
          <a:p>
            <a:pPr eaLnBrk="1" hangingPunct="1">
              <a:lnSpc>
                <a:spcPct val="120000"/>
              </a:lnSpc>
            </a:pPr>
            <a:r>
              <a:rPr lang="en-US" altLang="zh-CN" dirty="0">
                <a:solidFill>
                  <a:schemeClr val="tx1"/>
                </a:solidFill>
              </a:rPr>
              <a:t>6.5.4 </a:t>
            </a:r>
            <a:r>
              <a:rPr lang="zh-CN" altLang="en-US" dirty="0">
                <a:solidFill>
                  <a:schemeClr val="tx1"/>
                </a:solidFill>
              </a:rPr>
              <a:t>保持函数依赖的分解</a:t>
            </a:r>
            <a:endParaRPr lang="zh-CN" altLang="en-US" dirty="0">
              <a:solidFill>
                <a:schemeClr val="tx1"/>
              </a:solidFill>
            </a:endParaRPr>
          </a:p>
          <a:p>
            <a:pPr eaLnBrk="1" hangingPunct="1">
              <a:lnSpc>
                <a:spcPct val="120000"/>
              </a:lnSpc>
            </a:pPr>
            <a:r>
              <a:rPr lang="en-US" altLang="zh-CN" dirty="0"/>
              <a:t>6.5.5 </a:t>
            </a:r>
            <a:r>
              <a:rPr lang="zh-CN" altLang="en-US" dirty="0"/>
              <a:t>关系模式的分解算法</a:t>
            </a:r>
            <a:endParaRPr lang="zh-CN" altLang="en-US" dirty="0"/>
          </a:p>
        </p:txBody>
      </p:sp>
      <p:sp>
        <p:nvSpPr>
          <p:cNvPr id="33796"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4819" name="Rectangle 2"/>
          <p:cNvSpPr>
            <a:spLocks noGrp="1"/>
          </p:cNvSpPr>
          <p:nvPr>
            <p:ph idx="1"/>
          </p:nvPr>
        </p:nvSpPr>
        <p:spPr>
          <a:xfrm>
            <a:off x="228600" y="990600"/>
            <a:ext cx="8686800" cy="5029200"/>
          </a:xfrm>
          <a:ln/>
        </p:spPr>
        <p:txBody>
          <a:bodyPr vert="horz" wrap="square" lIns="91440" tIns="45720" rIns="91440" bIns="45720" anchor="t" anchorCtr="0"/>
          <a:p>
            <a:pPr eaLnBrk="1" hangingPunct="1">
              <a:lnSpc>
                <a:spcPct val="120000"/>
              </a:lnSpc>
            </a:pPr>
            <a:r>
              <a:rPr lang="zh-CN" altLang="en-US" dirty="0">
                <a:solidFill>
                  <a:schemeClr val="tx1"/>
                </a:solidFill>
              </a:rPr>
              <a:t>模式分解的几个重要事实：</a:t>
            </a:r>
            <a:endParaRPr lang="zh-CN" altLang="en-US" dirty="0">
              <a:solidFill>
                <a:schemeClr val="tx1"/>
              </a:solidFill>
            </a:endParaRPr>
          </a:p>
          <a:p>
            <a:pPr lvl="1" eaLnBrk="1" hangingPunct="1">
              <a:lnSpc>
                <a:spcPct val="120000"/>
              </a:lnSpc>
            </a:pPr>
            <a:r>
              <a:rPr lang="zh-CN" altLang="en-US" dirty="0"/>
              <a:t>若仅要求分解具有无损连接性，则分解一定能达到</a:t>
            </a:r>
            <a:r>
              <a:rPr lang="en-US" altLang="zh-CN" dirty="0"/>
              <a:t>4NF</a:t>
            </a:r>
            <a:r>
              <a:rPr lang="zh-CN" altLang="en-US" dirty="0"/>
              <a:t>。</a:t>
            </a:r>
            <a:endParaRPr lang="zh-CN" altLang="en-US" dirty="0"/>
          </a:p>
          <a:p>
            <a:pPr lvl="1" eaLnBrk="1" hangingPunct="1">
              <a:lnSpc>
                <a:spcPct val="120000"/>
              </a:lnSpc>
            </a:pPr>
            <a:r>
              <a:rPr lang="zh-CN" altLang="en-US" dirty="0"/>
              <a:t>若仅要求分解保持</a:t>
            </a:r>
            <a:r>
              <a:rPr lang="en-US" altLang="zh-CN" dirty="0"/>
              <a:t>FD</a:t>
            </a:r>
            <a:r>
              <a:rPr lang="zh-CN" altLang="en-US" dirty="0"/>
              <a:t>，则分解一定能达到</a:t>
            </a:r>
            <a:r>
              <a:rPr lang="en-US" altLang="zh-CN" dirty="0"/>
              <a:t>3NF</a:t>
            </a:r>
            <a:r>
              <a:rPr lang="zh-CN" altLang="en-US" dirty="0"/>
              <a:t>，但不一定能达到</a:t>
            </a:r>
            <a:r>
              <a:rPr lang="en-US" altLang="zh-CN" dirty="0"/>
              <a:t>BCNF</a:t>
            </a:r>
            <a:r>
              <a:rPr lang="zh-CN" altLang="en-US" dirty="0"/>
              <a:t>。</a:t>
            </a:r>
            <a:endParaRPr lang="zh-CN" altLang="en-US" dirty="0"/>
          </a:p>
          <a:p>
            <a:pPr lvl="1" eaLnBrk="1" hangingPunct="1">
              <a:lnSpc>
                <a:spcPct val="120000"/>
              </a:lnSpc>
            </a:pPr>
            <a:r>
              <a:rPr lang="zh-CN" altLang="en-US" dirty="0"/>
              <a:t>若既要求分解具有无损连接性，又保持了</a:t>
            </a:r>
            <a:r>
              <a:rPr lang="en-US" altLang="zh-CN" dirty="0"/>
              <a:t>FD</a:t>
            </a:r>
            <a:r>
              <a:rPr lang="zh-CN" altLang="en-US" dirty="0"/>
              <a:t>，则分解一定能达到</a:t>
            </a:r>
            <a:r>
              <a:rPr lang="en-US" altLang="zh-CN" dirty="0"/>
              <a:t>3NF</a:t>
            </a:r>
            <a:r>
              <a:rPr lang="zh-CN" altLang="en-US" dirty="0"/>
              <a:t>，但不一定能达到</a:t>
            </a:r>
            <a:r>
              <a:rPr lang="en-US" altLang="zh-CN" dirty="0"/>
              <a:t>BCNF</a:t>
            </a:r>
            <a:r>
              <a:rPr lang="zh-CN" altLang="en-US" dirty="0"/>
              <a:t>。</a:t>
            </a:r>
            <a:endParaRPr lang="zh-CN" altLang="en-US" dirty="0"/>
          </a:p>
        </p:txBody>
      </p:sp>
      <p:sp>
        <p:nvSpPr>
          <p:cNvPr id="34820"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5843" name="Rectangle 2"/>
          <p:cNvSpPr>
            <a:spLocks noGrp="1"/>
          </p:cNvSpPr>
          <p:nvPr>
            <p:ph idx="1"/>
          </p:nvPr>
        </p:nvSpPr>
        <p:spPr>
          <a:xfrm>
            <a:off x="228600" y="762000"/>
            <a:ext cx="8915400" cy="5943600"/>
          </a:xfrm>
          <a:ln/>
        </p:spPr>
        <p:txBody>
          <a:bodyPr vert="horz" wrap="square" lIns="91440" tIns="45720" rIns="91440" bIns="45720" anchor="t" anchorCtr="0"/>
          <a:p>
            <a:pPr eaLnBrk="1" hangingPunct="1">
              <a:lnSpc>
                <a:spcPct val="110000"/>
              </a:lnSpc>
              <a:buNone/>
            </a:pPr>
            <a:r>
              <a:rPr lang="zh-CN" altLang="en-US" sz="2800" dirty="0"/>
              <a:t>算法</a:t>
            </a:r>
            <a:r>
              <a:rPr lang="en-US" altLang="zh-CN" sz="2800" dirty="0"/>
              <a:t>6.3</a:t>
            </a:r>
            <a:r>
              <a:rPr lang="en-US" altLang="zh-CN" sz="2800" dirty="0">
                <a:solidFill>
                  <a:schemeClr val="tx1"/>
                </a:solidFill>
              </a:rPr>
              <a:t>  </a:t>
            </a:r>
            <a:r>
              <a:rPr lang="zh-CN" altLang="en-US" sz="2800" dirty="0">
                <a:solidFill>
                  <a:schemeClr val="tx1"/>
                </a:solidFill>
              </a:rPr>
              <a:t>达到</a:t>
            </a:r>
            <a:r>
              <a:rPr lang="en-US" altLang="zh-CN" sz="2800" dirty="0">
                <a:solidFill>
                  <a:schemeClr val="tx1"/>
                </a:solidFill>
              </a:rPr>
              <a:t>BCNF</a:t>
            </a:r>
            <a:r>
              <a:rPr lang="zh-CN" altLang="en-US" sz="2800" dirty="0">
                <a:solidFill>
                  <a:schemeClr val="tx1"/>
                </a:solidFill>
              </a:rPr>
              <a:t>的无损连接分解算法。</a:t>
            </a:r>
            <a:endParaRPr lang="zh-CN" altLang="en-US" sz="2800" dirty="0">
              <a:solidFill>
                <a:schemeClr val="tx1"/>
              </a:solidFill>
            </a:endParaRPr>
          </a:p>
          <a:p>
            <a:pPr eaLnBrk="1" hangingPunct="1">
              <a:lnSpc>
                <a:spcPct val="110000"/>
              </a:lnSpc>
              <a:buNone/>
            </a:pPr>
            <a:r>
              <a:rPr lang="zh-CN" altLang="en-US" sz="2800" dirty="0">
                <a:solidFill>
                  <a:srgbClr val="0000CC"/>
                </a:solidFill>
              </a:rPr>
              <a:t>输入</a:t>
            </a:r>
            <a:r>
              <a:rPr lang="en-US" altLang="zh-CN" sz="2800" dirty="0">
                <a:solidFill>
                  <a:schemeClr val="tx1"/>
                </a:solidFill>
              </a:rPr>
              <a:t>: </a:t>
            </a:r>
            <a:r>
              <a:rPr lang="zh-CN" altLang="en-US" sz="2800" dirty="0">
                <a:solidFill>
                  <a:schemeClr val="tx1"/>
                </a:solidFill>
              </a:rPr>
              <a:t>给定关系模式</a:t>
            </a:r>
            <a:r>
              <a:rPr lang="en-US" altLang="zh-CN" sz="2800" i="1" dirty="0">
                <a:solidFill>
                  <a:schemeClr val="tx1"/>
                </a:solidFill>
              </a:rPr>
              <a:t>R&lt;U , F&gt;</a:t>
            </a:r>
            <a:r>
              <a:rPr lang="en-US" altLang="zh-CN" sz="2800" dirty="0">
                <a:solidFill>
                  <a:schemeClr val="tx1"/>
                </a:solidFill>
              </a:rPr>
              <a:t> </a:t>
            </a:r>
            <a:endParaRPr lang="en-US" altLang="zh-CN" sz="2800" dirty="0">
              <a:solidFill>
                <a:schemeClr val="tx1"/>
              </a:solidFill>
            </a:endParaRPr>
          </a:p>
          <a:p>
            <a:pPr eaLnBrk="1" hangingPunct="1">
              <a:lnSpc>
                <a:spcPct val="110000"/>
              </a:lnSpc>
              <a:buNone/>
            </a:pPr>
            <a:r>
              <a:rPr lang="zh-CN" altLang="en-US" sz="2800" dirty="0">
                <a:solidFill>
                  <a:srgbClr val="0000CC"/>
                </a:solidFill>
              </a:rPr>
              <a:t>输出</a:t>
            </a:r>
            <a:r>
              <a:rPr lang="en-US" altLang="zh-CN" sz="2800" dirty="0">
                <a:solidFill>
                  <a:schemeClr val="tx1"/>
                </a:solidFill>
              </a:rPr>
              <a:t>: </a:t>
            </a:r>
            <a:r>
              <a:rPr lang="zh-CN" altLang="en-US" sz="2800" dirty="0">
                <a:solidFill>
                  <a:schemeClr val="tx1"/>
                </a:solidFill>
              </a:rPr>
              <a:t>无损连接分解</a:t>
            </a:r>
            <a:r>
              <a:rPr lang="zh-CN" altLang="en-US" sz="2800" i="1" dirty="0">
                <a:solidFill>
                  <a:schemeClr val="tx1"/>
                </a:solidFill>
                <a:sym typeface="Symbol" panose="05050102010706020507" pitchFamily="18" charset="2"/>
              </a:rPr>
              <a:t> </a:t>
            </a:r>
            <a:r>
              <a:rPr lang="en-US" altLang="zh-CN" sz="2800" i="1" dirty="0">
                <a:solidFill>
                  <a:schemeClr val="tx1"/>
                </a:solidFill>
                <a:sym typeface="Symbol" panose="05050102010706020507" pitchFamily="18" charset="2"/>
              </a:rPr>
              <a:t>= </a:t>
            </a:r>
            <a:r>
              <a:rPr lang="en-US" altLang="zh-CN" sz="2800" dirty="0">
                <a:solidFill>
                  <a:schemeClr val="tx1"/>
                </a:solidFill>
              </a:rPr>
              <a:t>{</a:t>
            </a:r>
            <a:r>
              <a:rPr lang="en-US" altLang="zh-CN" sz="2800" i="1" dirty="0">
                <a:solidFill>
                  <a:schemeClr val="tx1"/>
                </a:solidFill>
              </a:rPr>
              <a:t>R</a:t>
            </a:r>
            <a:r>
              <a:rPr lang="en-US" altLang="zh-CN" sz="2800" i="1" baseline="-25000" dirty="0">
                <a:solidFill>
                  <a:schemeClr val="tx1"/>
                </a:solidFill>
              </a:rPr>
              <a:t>1</a:t>
            </a:r>
            <a:r>
              <a:rPr lang="en-US" altLang="zh-CN" sz="2800" i="1" dirty="0">
                <a:solidFill>
                  <a:schemeClr val="tx1"/>
                </a:solidFill>
              </a:rPr>
              <a:t>&lt;U</a:t>
            </a:r>
            <a:r>
              <a:rPr lang="en-US" altLang="zh-CN" sz="2800" i="1" baseline="-25000" dirty="0">
                <a:solidFill>
                  <a:schemeClr val="tx1"/>
                </a:solidFill>
              </a:rPr>
              <a:t>1</a:t>
            </a:r>
            <a:r>
              <a:rPr lang="en-US" altLang="zh-CN" sz="2800" i="1" dirty="0">
                <a:solidFill>
                  <a:schemeClr val="tx1"/>
                </a:solidFill>
              </a:rPr>
              <a:t> , F</a:t>
            </a:r>
            <a:r>
              <a:rPr lang="en-US" altLang="zh-CN" sz="2800" i="1" baseline="-25000" dirty="0">
                <a:solidFill>
                  <a:schemeClr val="tx1"/>
                </a:solidFill>
              </a:rPr>
              <a:t>1</a:t>
            </a:r>
            <a:r>
              <a:rPr lang="en-US" altLang="zh-CN" sz="2800" i="1" dirty="0">
                <a:solidFill>
                  <a:schemeClr val="tx1"/>
                </a:solidFill>
              </a:rPr>
              <a:t>&gt;,…, R</a:t>
            </a:r>
            <a:r>
              <a:rPr lang="en-US" altLang="zh-CN" sz="2800" i="1" baseline="-25000" dirty="0">
                <a:solidFill>
                  <a:schemeClr val="tx1"/>
                </a:solidFill>
              </a:rPr>
              <a:t>k</a:t>
            </a:r>
            <a:r>
              <a:rPr lang="en-US" altLang="zh-CN" sz="2800" i="1" dirty="0">
                <a:solidFill>
                  <a:schemeClr val="tx1"/>
                </a:solidFill>
              </a:rPr>
              <a:t>&lt;U</a:t>
            </a:r>
            <a:r>
              <a:rPr lang="en-US" altLang="zh-CN" sz="2800" i="1" baseline="-25000" dirty="0">
                <a:solidFill>
                  <a:schemeClr val="tx1"/>
                </a:solidFill>
              </a:rPr>
              <a:t>k</a:t>
            </a:r>
            <a:r>
              <a:rPr lang="en-US" altLang="zh-CN" sz="2800" i="1" dirty="0">
                <a:solidFill>
                  <a:schemeClr val="tx1"/>
                </a:solidFill>
              </a:rPr>
              <a:t> , F</a:t>
            </a:r>
            <a:r>
              <a:rPr lang="en-US" altLang="zh-CN" sz="2800" i="1" baseline="-25000" dirty="0">
                <a:solidFill>
                  <a:schemeClr val="tx1"/>
                </a:solidFill>
              </a:rPr>
              <a:t>k</a:t>
            </a:r>
            <a:r>
              <a:rPr lang="en-US" altLang="zh-CN" sz="2800" i="1" dirty="0">
                <a:solidFill>
                  <a:schemeClr val="tx1"/>
                </a:solidFill>
              </a:rPr>
              <a:t>&gt;</a:t>
            </a:r>
            <a:r>
              <a:rPr lang="en-US" altLang="zh-CN" sz="2800" dirty="0">
                <a:solidFill>
                  <a:schemeClr val="tx1"/>
                </a:solidFill>
              </a:rPr>
              <a:t>},</a:t>
            </a:r>
            <a:r>
              <a:rPr lang="zh-CN" altLang="en-US" sz="2800" dirty="0">
                <a:solidFill>
                  <a:schemeClr val="tx1"/>
                </a:solidFill>
              </a:rPr>
              <a:t>且每个</a:t>
            </a:r>
            <a:r>
              <a:rPr lang="en-US" altLang="zh-CN" sz="2800" i="1" dirty="0">
                <a:solidFill>
                  <a:schemeClr val="tx1"/>
                </a:solidFill>
              </a:rPr>
              <a:t>R</a:t>
            </a:r>
            <a:r>
              <a:rPr lang="en-US" altLang="zh-CN" sz="2800" i="1" baseline="-25000" dirty="0">
                <a:solidFill>
                  <a:schemeClr val="tx1"/>
                </a:solidFill>
              </a:rPr>
              <a:t>i</a:t>
            </a:r>
            <a:r>
              <a:rPr lang="zh-CN" altLang="en-US" sz="2800" dirty="0">
                <a:solidFill>
                  <a:schemeClr val="tx1"/>
                </a:solidFill>
              </a:rPr>
              <a:t>相对于</a:t>
            </a:r>
            <a:r>
              <a:rPr lang="en-US" altLang="zh-CN" sz="2800" i="1" dirty="0">
                <a:solidFill>
                  <a:schemeClr val="tx1"/>
                </a:solidFill>
              </a:rPr>
              <a:t>F</a:t>
            </a:r>
            <a:r>
              <a:rPr lang="en-US" altLang="zh-CN" sz="2800" i="1" baseline="-25000" dirty="0">
                <a:solidFill>
                  <a:schemeClr val="tx1"/>
                </a:solidFill>
              </a:rPr>
              <a:t>i</a:t>
            </a:r>
            <a:r>
              <a:rPr lang="en-US" altLang="zh-CN" sz="2800" dirty="0">
                <a:solidFill>
                  <a:schemeClr val="tx1"/>
                </a:solidFill>
              </a:rPr>
              <a:t>=</a:t>
            </a:r>
            <a:r>
              <a:rPr lang="en-US" altLang="zh-CN" sz="2800" i="1" dirty="0">
                <a:solidFill>
                  <a:schemeClr val="tx1"/>
                </a:solidFill>
                <a:sym typeface="Symbol" panose="05050102010706020507" pitchFamily="18" charset="2"/>
              </a:rPr>
              <a:t>∏</a:t>
            </a:r>
            <a:r>
              <a:rPr lang="en-US" altLang="zh-CN" sz="1800" i="1" dirty="0">
                <a:solidFill>
                  <a:schemeClr val="tx1"/>
                </a:solidFill>
              </a:rPr>
              <a:t>R</a:t>
            </a:r>
            <a:r>
              <a:rPr lang="en-US" altLang="zh-CN" sz="1800" i="1" baseline="-16000" dirty="0">
                <a:solidFill>
                  <a:schemeClr val="tx1"/>
                </a:solidFill>
              </a:rPr>
              <a:t>i</a:t>
            </a:r>
            <a:r>
              <a:rPr lang="en-US" altLang="zh-CN" sz="2800" i="1" dirty="0">
                <a:solidFill>
                  <a:schemeClr val="tx1"/>
                </a:solidFill>
                <a:sym typeface="Symbol" panose="05050102010706020507" pitchFamily="18" charset="2"/>
              </a:rPr>
              <a:t>(F)</a:t>
            </a:r>
            <a:r>
              <a:rPr lang="zh-CN" altLang="en-US" sz="2800" dirty="0">
                <a:solidFill>
                  <a:schemeClr val="tx1"/>
                </a:solidFill>
                <a:sym typeface="Symbol" panose="05050102010706020507" pitchFamily="18" charset="2"/>
              </a:rPr>
              <a:t>是</a:t>
            </a:r>
            <a:r>
              <a:rPr lang="en-US" altLang="zh-CN" sz="2800" i="1" dirty="0">
                <a:solidFill>
                  <a:schemeClr val="tx1"/>
                </a:solidFill>
                <a:sym typeface="Symbol" panose="05050102010706020507" pitchFamily="18" charset="2"/>
              </a:rPr>
              <a:t>BCNF(i=1,…,k)</a:t>
            </a:r>
            <a:endParaRPr lang="en-US" altLang="zh-CN" sz="2800" dirty="0">
              <a:solidFill>
                <a:schemeClr val="tx1"/>
              </a:solidFill>
            </a:endParaRPr>
          </a:p>
          <a:p>
            <a:pPr eaLnBrk="1" hangingPunct="1">
              <a:lnSpc>
                <a:spcPct val="110000"/>
              </a:lnSpc>
              <a:buNone/>
            </a:pPr>
            <a:r>
              <a:rPr lang="zh-CN" altLang="en-US" sz="2800" dirty="0">
                <a:solidFill>
                  <a:srgbClr val="0000CC"/>
                </a:solidFill>
                <a:sym typeface="Symbol" panose="05050102010706020507" pitchFamily="18" charset="2"/>
              </a:rPr>
              <a:t>步骤</a:t>
            </a:r>
            <a:r>
              <a:rPr lang="zh-CN" altLang="en-US" sz="2800" dirty="0">
                <a:solidFill>
                  <a:schemeClr val="tx1"/>
                </a:solidFill>
                <a:sym typeface="Symbol" panose="05050102010706020507" pitchFamily="18" charset="2"/>
              </a:rPr>
              <a:t>：</a:t>
            </a:r>
            <a:r>
              <a:rPr lang="en-US" altLang="zh-CN" sz="2800" dirty="0">
                <a:solidFill>
                  <a:schemeClr val="tx1"/>
                </a:solidFill>
                <a:sym typeface="Symbol" panose="05050102010706020507" pitchFamily="18" charset="2"/>
              </a:rPr>
              <a:t>1. </a:t>
            </a:r>
            <a:r>
              <a:rPr lang="zh-CN" altLang="en-US" sz="2800" dirty="0">
                <a:solidFill>
                  <a:schemeClr val="tx1"/>
                </a:solidFill>
                <a:sym typeface="Symbol" panose="05050102010706020507" pitchFamily="18" charset="2"/>
              </a:rPr>
              <a:t>初始化</a:t>
            </a:r>
            <a:r>
              <a:rPr lang="en-US" altLang="zh-CN" sz="2800" dirty="0">
                <a:solidFill>
                  <a:schemeClr val="tx1"/>
                </a:solidFill>
                <a:sym typeface="Symbol" panose="05050102010706020507" pitchFamily="18" charset="2"/>
              </a:rPr>
              <a:t>: </a:t>
            </a:r>
            <a:r>
              <a:rPr lang="en-US" altLang="zh-CN" sz="2800" i="1" dirty="0">
                <a:solidFill>
                  <a:schemeClr val="tx1"/>
                </a:solidFill>
                <a:sym typeface="Symbol" panose="05050102010706020507" pitchFamily="18" charset="2"/>
              </a:rPr>
              <a:t> = </a:t>
            </a:r>
            <a:r>
              <a:rPr lang="en-US" altLang="zh-CN" sz="2800" dirty="0">
                <a:solidFill>
                  <a:schemeClr val="tx1"/>
                </a:solidFill>
              </a:rPr>
              <a:t>{</a:t>
            </a:r>
            <a:r>
              <a:rPr lang="en-US" altLang="zh-CN" sz="2800" i="1" dirty="0">
                <a:solidFill>
                  <a:schemeClr val="tx1"/>
                </a:solidFill>
              </a:rPr>
              <a:t>R&lt;U , F&gt;</a:t>
            </a:r>
            <a:r>
              <a:rPr lang="en-US" altLang="zh-CN" sz="2800" dirty="0">
                <a:solidFill>
                  <a:schemeClr val="tx1"/>
                </a:solidFill>
              </a:rPr>
              <a:t>};</a:t>
            </a:r>
            <a:endParaRPr lang="en-US" altLang="zh-CN" sz="2800" dirty="0">
              <a:solidFill>
                <a:schemeClr val="tx1"/>
              </a:solidFill>
            </a:endParaRPr>
          </a:p>
          <a:p>
            <a:pPr lvl="1" eaLnBrk="1" hangingPunct="1">
              <a:lnSpc>
                <a:spcPct val="110000"/>
              </a:lnSpc>
              <a:buNone/>
            </a:pPr>
            <a:r>
              <a:rPr lang="en-US" altLang="zh-CN" dirty="0"/>
              <a:t>2.</a:t>
            </a:r>
            <a:r>
              <a:rPr lang="zh-CN" altLang="en-US" dirty="0"/>
              <a:t>若</a:t>
            </a:r>
            <a:r>
              <a:rPr lang="zh-CN" altLang="en-US" i="1" dirty="0">
                <a:sym typeface="Symbol" panose="05050102010706020507" pitchFamily="18" charset="2"/>
              </a:rPr>
              <a:t></a:t>
            </a:r>
            <a:r>
              <a:rPr lang="zh-CN" altLang="en-US" dirty="0">
                <a:sym typeface="Symbol" panose="05050102010706020507" pitchFamily="18" charset="2"/>
              </a:rPr>
              <a:t>中所有的</a:t>
            </a:r>
            <a:r>
              <a:rPr lang="en-US" altLang="zh-CN" i="1" dirty="0">
                <a:sym typeface="Symbol" panose="05050102010706020507" pitchFamily="18" charset="2"/>
              </a:rPr>
              <a:t>R</a:t>
            </a:r>
            <a:r>
              <a:rPr lang="en-US" altLang="zh-CN" i="1" baseline="-25000" dirty="0">
                <a:sym typeface="Symbol" panose="05050102010706020507" pitchFamily="18" charset="2"/>
              </a:rPr>
              <a:t>i </a:t>
            </a:r>
            <a:r>
              <a:rPr lang="en-US" altLang="zh-CN" i="1" dirty="0"/>
              <a:t>∈</a:t>
            </a:r>
            <a:r>
              <a:rPr lang="en-US" altLang="zh-CN" i="1" baseline="-25000" dirty="0">
                <a:sym typeface="Symbol" panose="05050102010706020507" pitchFamily="18" charset="2"/>
              </a:rPr>
              <a:t> </a:t>
            </a:r>
            <a:r>
              <a:rPr lang="en-US" altLang="zh-CN" i="1" dirty="0">
                <a:sym typeface="Symbol" panose="05050102010706020507" pitchFamily="18" charset="2"/>
              </a:rPr>
              <a:t>BCNF</a:t>
            </a:r>
            <a:r>
              <a:rPr lang="zh-CN" altLang="en-US" dirty="0">
                <a:sym typeface="Symbol" panose="05050102010706020507" pitchFamily="18" charset="2"/>
              </a:rPr>
              <a:t>，则算法终止</a:t>
            </a:r>
            <a:r>
              <a:rPr lang="en-US" altLang="zh-CN" dirty="0">
                <a:sym typeface="Symbol" panose="05050102010706020507" pitchFamily="18" charset="2"/>
              </a:rPr>
              <a:t>;</a:t>
            </a:r>
            <a:r>
              <a:rPr lang="en-US" altLang="zh-CN" dirty="0"/>
              <a:t> </a:t>
            </a:r>
            <a:endParaRPr lang="en-US" altLang="zh-CN" dirty="0"/>
          </a:p>
          <a:p>
            <a:pPr lvl="1" eaLnBrk="1" hangingPunct="1">
              <a:lnSpc>
                <a:spcPct val="110000"/>
              </a:lnSpc>
              <a:buNone/>
            </a:pPr>
            <a:r>
              <a:rPr lang="en-US" altLang="zh-CN" dirty="0"/>
              <a:t>3.</a:t>
            </a:r>
            <a:r>
              <a:rPr lang="zh-CN" altLang="en-US" dirty="0"/>
              <a:t>设</a:t>
            </a:r>
            <a:r>
              <a:rPr lang="zh-CN" altLang="en-US" i="1" dirty="0">
                <a:sym typeface="Symbol" panose="05050102010706020507" pitchFamily="18" charset="2"/>
              </a:rPr>
              <a:t></a:t>
            </a:r>
            <a:r>
              <a:rPr lang="zh-CN" altLang="en-US" dirty="0">
                <a:sym typeface="Symbol" panose="05050102010706020507" pitchFamily="18" charset="2"/>
              </a:rPr>
              <a:t> 中的某个</a:t>
            </a:r>
            <a:r>
              <a:rPr lang="en-US" altLang="zh-CN" i="1" dirty="0"/>
              <a:t>R</a:t>
            </a:r>
            <a:r>
              <a:rPr lang="en-US" altLang="zh-CN" i="1" baseline="-16000" dirty="0"/>
              <a:t>i</a:t>
            </a:r>
            <a:r>
              <a:rPr lang="en-US" altLang="zh-CN" i="1" dirty="0"/>
              <a:t>&lt;U</a:t>
            </a:r>
            <a:r>
              <a:rPr lang="en-US" altLang="zh-CN" i="1" baseline="-16000" dirty="0"/>
              <a:t>i</a:t>
            </a:r>
            <a:r>
              <a:rPr lang="en-US" altLang="zh-CN" i="1" dirty="0"/>
              <a:t> , F</a:t>
            </a:r>
            <a:r>
              <a:rPr lang="en-US" altLang="zh-CN" i="1" baseline="-16000" dirty="0"/>
              <a:t>i</a:t>
            </a:r>
            <a:r>
              <a:rPr lang="en-US" altLang="zh-CN" i="1" dirty="0"/>
              <a:t>&gt; </a:t>
            </a:r>
            <a:r>
              <a:rPr lang="en-US" altLang="zh-CN" dirty="0">
                <a:sym typeface="Symbol" panose="05050102010706020507" pitchFamily="18" charset="2"/>
              </a:rPr>
              <a:t></a:t>
            </a:r>
            <a:r>
              <a:rPr lang="en-US" altLang="zh-CN" dirty="0"/>
              <a:t> </a:t>
            </a:r>
            <a:r>
              <a:rPr lang="en-US" altLang="zh-CN" i="1" dirty="0"/>
              <a:t>BCNF</a:t>
            </a:r>
            <a:r>
              <a:rPr lang="zh-CN" altLang="en-US" dirty="0"/>
              <a:t>，则存在非平凡函数依赖</a:t>
            </a:r>
            <a:r>
              <a:rPr lang="en-US" altLang="zh-CN" i="1" dirty="0">
                <a:sym typeface="Symbol" panose="05050102010706020507" pitchFamily="18" charset="2"/>
              </a:rPr>
              <a:t>XA</a:t>
            </a:r>
            <a:r>
              <a:rPr lang="en-US" altLang="zh-CN" i="1" dirty="0"/>
              <a:t>∈ F</a:t>
            </a:r>
            <a:r>
              <a:rPr lang="en-US" altLang="zh-CN" i="1" baseline="-25000" dirty="0"/>
              <a:t>i </a:t>
            </a:r>
            <a:r>
              <a:rPr lang="en-US" altLang="zh-CN" i="1" baseline="30000" dirty="0"/>
              <a:t>+</a:t>
            </a:r>
            <a:r>
              <a:rPr lang="en-US" altLang="zh-CN" dirty="0">
                <a:sym typeface="Symbol" panose="05050102010706020507" pitchFamily="18" charset="2"/>
              </a:rPr>
              <a:t> </a:t>
            </a:r>
            <a:r>
              <a:rPr lang="zh-CN" altLang="en-US" dirty="0">
                <a:sym typeface="Symbol" panose="05050102010706020507" pitchFamily="18" charset="2"/>
              </a:rPr>
              <a:t>，且</a:t>
            </a:r>
            <a:r>
              <a:rPr lang="en-US" altLang="zh-CN" i="1" dirty="0">
                <a:sym typeface="Symbol" panose="05050102010706020507" pitchFamily="18" charset="2"/>
              </a:rPr>
              <a:t>X</a:t>
            </a:r>
            <a:r>
              <a:rPr lang="zh-CN" altLang="en-US" dirty="0">
                <a:sym typeface="Symbol" panose="05050102010706020507" pitchFamily="18" charset="2"/>
              </a:rPr>
              <a:t>不是</a:t>
            </a:r>
            <a:r>
              <a:rPr lang="en-US" altLang="zh-CN" i="1" dirty="0"/>
              <a:t>R</a:t>
            </a:r>
            <a:r>
              <a:rPr lang="en-US" altLang="zh-CN" i="1" baseline="-16000" dirty="0"/>
              <a:t>i</a:t>
            </a:r>
            <a:r>
              <a:rPr lang="zh-CN" altLang="en-US" dirty="0">
                <a:sym typeface="Symbol" panose="05050102010706020507" pitchFamily="18" charset="2"/>
              </a:rPr>
              <a:t>的码</a:t>
            </a:r>
            <a:r>
              <a:rPr lang="en-US" altLang="zh-CN" dirty="0">
                <a:sym typeface="Symbol" panose="05050102010706020507" pitchFamily="18" charset="2"/>
              </a:rPr>
              <a:t>. </a:t>
            </a:r>
            <a:r>
              <a:rPr lang="zh-CN" altLang="en-US" dirty="0">
                <a:sym typeface="Symbol" panose="05050102010706020507" pitchFamily="18" charset="2"/>
              </a:rPr>
              <a:t>则</a:t>
            </a:r>
            <a:r>
              <a:rPr lang="en-US" altLang="zh-CN" i="1" dirty="0">
                <a:sym typeface="Symbol" panose="05050102010706020507" pitchFamily="18" charset="2"/>
              </a:rPr>
              <a:t>XA</a:t>
            </a:r>
            <a:r>
              <a:rPr lang="zh-CN" altLang="en-US" dirty="0">
                <a:sym typeface="Symbol" panose="05050102010706020507" pitchFamily="18" charset="2"/>
              </a:rPr>
              <a:t>是</a:t>
            </a:r>
            <a:r>
              <a:rPr lang="en-US" altLang="zh-CN" i="1" dirty="0"/>
              <a:t>U</a:t>
            </a:r>
            <a:r>
              <a:rPr lang="en-US" altLang="zh-CN" i="1" baseline="-16000" dirty="0"/>
              <a:t>i</a:t>
            </a:r>
            <a:r>
              <a:rPr lang="zh-CN" altLang="en-US" dirty="0">
                <a:sym typeface="Symbol" panose="05050102010706020507" pitchFamily="18" charset="2"/>
              </a:rPr>
              <a:t>的真子集</a:t>
            </a:r>
            <a:r>
              <a:rPr lang="en-US" altLang="zh-CN" dirty="0">
                <a:sym typeface="Symbol" panose="05050102010706020507" pitchFamily="18" charset="2"/>
              </a:rPr>
              <a:t>. </a:t>
            </a:r>
            <a:r>
              <a:rPr lang="zh-CN" altLang="en-US" dirty="0">
                <a:sym typeface="Symbol" panose="05050102010706020507" pitchFamily="18" charset="2"/>
              </a:rPr>
              <a:t>对</a:t>
            </a:r>
            <a:r>
              <a:rPr lang="en-US" altLang="zh-CN" i="1" dirty="0"/>
              <a:t>R</a:t>
            </a:r>
            <a:r>
              <a:rPr lang="en-US" altLang="zh-CN" i="1" baseline="-16000" dirty="0"/>
              <a:t>i</a:t>
            </a:r>
            <a:r>
              <a:rPr lang="zh-CN" altLang="en-US" dirty="0"/>
              <a:t>进一步</a:t>
            </a:r>
            <a:r>
              <a:rPr lang="zh-CN" altLang="en-US" dirty="0">
                <a:sym typeface="Symbol" panose="05050102010706020507" pitchFamily="18" charset="2"/>
              </a:rPr>
              <a:t>分解为</a:t>
            </a:r>
            <a:r>
              <a:rPr lang="en-US" altLang="zh-CN" dirty="0">
                <a:sym typeface="Symbol" panose="05050102010706020507" pitchFamily="18" charset="2"/>
              </a:rPr>
              <a:t>={</a:t>
            </a:r>
            <a:r>
              <a:rPr lang="en-US" altLang="zh-CN" i="1" dirty="0">
                <a:sym typeface="Symbol" panose="05050102010706020507" pitchFamily="18" charset="2"/>
              </a:rPr>
              <a:t>S</a:t>
            </a:r>
            <a:r>
              <a:rPr lang="en-US" altLang="zh-CN" i="1" baseline="-16000" dirty="0"/>
              <a:t>1</a:t>
            </a:r>
            <a:r>
              <a:rPr lang="zh-CN" altLang="en-US" dirty="0">
                <a:sym typeface="Symbol" panose="05050102010706020507" pitchFamily="18" charset="2"/>
              </a:rPr>
              <a:t>，</a:t>
            </a:r>
            <a:r>
              <a:rPr lang="en-US" altLang="zh-CN" i="1" dirty="0">
                <a:sym typeface="Symbol" panose="05050102010706020507" pitchFamily="18" charset="2"/>
              </a:rPr>
              <a:t>S</a:t>
            </a:r>
            <a:r>
              <a:rPr lang="en-US" altLang="zh-CN" i="1" baseline="-16000" dirty="0"/>
              <a:t>2</a:t>
            </a:r>
            <a:r>
              <a:rPr lang="en-US" altLang="zh-CN" dirty="0">
                <a:sym typeface="Symbol" panose="05050102010706020507" pitchFamily="18" charset="2"/>
              </a:rPr>
              <a:t>}</a:t>
            </a:r>
            <a:r>
              <a:rPr lang="zh-CN" altLang="en-US" dirty="0">
                <a:sym typeface="Symbol" panose="05050102010706020507" pitchFamily="18" charset="2"/>
              </a:rPr>
              <a:t>，其中</a:t>
            </a:r>
            <a:r>
              <a:rPr lang="en-US" altLang="zh-CN" i="1" dirty="0"/>
              <a:t>U</a:t>
            </a:r>
            <a:r>
              <a:rPr lang="en-US" altLang="zh-CN" i="1" baseline="-25000" dirty="0">
                <a:sym typeface="Symbol" panose="05050102010706020507" pitchFamily="18" charset="2"/>
              </a:rPr>
              <a:t>S</a:t>
            </a:r>
            <a:r>
              <a:rPr lang="en-US" altLang="zh-CN" i="1" baseline="-25000" dirty="0"/>
              <a:t>1</a:t>
            </a:r>
            <a:r>
              <a:rPr lang="en-US" altLang="zh-CN" baseline="-25000" dirty="0"/>
              <a:t> </a:t>
            </a:r>
            <a:r>
              <a:rPr lang="en-US" altLang="zh-CN" baseline="-16000" dirty="0"/>
              <a:t> </a:t>
            </a:r>
            <a:r>
              <a:rPr lang="en-US" altLang="zh-CN" dirty="0">
                <a:sym typeface="Symbol" panose="05050102010706020507" pitchFamily="18" charset="2"/>
              </a:rPr>
              <a:t>= </a:t>
            </a:r>
            <a:r>
              <a:rPr lang="en-US" altLang="zh-CN" i="1" dirty="0">
                <a:sym typeface="Symbol" panose="05050102010706020507" pitchFamily="18" charset="2"/>
              </a:rPr>
              <a:t>XA</a:t>
            </a:r>
            <a:r>
              <a:rPr lang="zh-CN" altLang="en-US" dirty="0">
                <a:sym typeface="Symbol" panose="05050102010706020507" pitchFamily="18" charset="2"/>
              </a:rPr>
              <a:t>， </a:t>
            </a:r>
            <a:r>
              <a:rPr lang="en-US" altLang="zh-CN" i="1" dirty="0"/>
              <a:t>U</a:t>
            </a:r>
            <a:r>
              <a:rPr lang="en-US" altLang="zh-CN" i="1" baseline="-25000" dirty="0">
                <a:sym typeface="Symbol" panose="05050102010706020507" pitchFamily="18" charset="2"/>
              </a:rPr>
              <a:t>S</a:t>
            </a:r>
            <a:r>
              <a:rPr lang="en-US" altLang="zh-CN" i="1" baseline="-25000" dirty="0"/>
              <a:t>2</a:t>
            </a:r>
            <a:r>
              <a:rPr lang="en-US" altLang="zh-CN" i="1" baseline="-16000" dirty="0"/>
              <a:t>  </a:t>
            </a:r>
            <a:r>
              <a:rPr lang="en-US" altLang="zh-CN" i="1" dirty="0">
                <a:sym typeface="Symbol" panose="05050102010706020507" pitchFamily="18" charset="2"/>
              </a:rPr>
              <a:t>= </a:t>
            </a:r>
            <a:r>
              <a:rPr lang="en-US" altLang="zh-CN" i="1" dirty="0"/>
              <a:t>U</a:t>
            </a:r>
            <a:r>
              <a:rPr lang="en-US" altLang="zh-CN" i="1" baseline="-16000" dirty="0"/>
              <a:t>i</a:t>
            </a:r>
            <a:r>
              <a:rPr lang="en-US" altLang="zh-CN" i="1" dirty="0"/>
              <a:t> </a:t>
            </a:r>
            <a:r>
              <a:rPr lang="en-US" altLang="zh-CN" i="1" dirty="0">
                <a:sym typeface="Symbol" panose="05050102010706020507" pitchFamily="18" charset="2"/>
              </a:rPr>
              <a:t> {A}.  </a:t>
            </a:r>
            <a:r>
              <a:rPr lang="zh-CN" altLang="en-US" dirty="0">
                <a:sym typeface="Symbol" panose="05050102010706020507" pitchFamily="18" charset="2"/>
              </a:rPr>
              <a:t>以</a:t>
            </a:r>
            <a:r>
              <a:rPr lang="zh-CN" altLang="en-US" i="1" dirty="0">
                <a:sym typeface="Symbol" panose="05050102010706020507" pitchFamily="18" charset="2"/>
              </a:rPr>
              <a:t></a:t>
            </a:r>
            <a:r>
              <a:rPr lang="zh-CN" altLang="en-US" dirty="0">
                <a:sym typeface="Symbol" panose="05050102010706020507" pitchFamily="18" charset="2"/>
              </a:rPr>
              <a:t>代替</a:t>
            </a:r>
            <a:r>
              <a:rPr lang="en-US" altLang="zh-CN" i="1" dirty="0"/>
              <a:t>R</a:t>
            </a:r>
            <a:r>
              <a:rPr lang="en-US" altLang="zh-CN" i="1" baseline="-16000" dirty="0"/>
              <a:t>i</a:t>
            </a:r>
            <a:r>
              <a:rPr lang="en-US" altLang="zh-CN" i="1" dirty="0">
                <a:sym typeface="Symbol" panose="05050102010706020507" pitchFamily="18" charset="2"/>
              </a:rPr>
              <a:t> </a:t>
            </a:r>
            <a:r>
              <a:rPr lang="zh-CN" altLang="en-US" dirty="0">
                <a:sym typeface="Symbol" panose="05050102010706020507" pitchFamily="18" charset="2"/>
              </a:rPr>
              <a:t>，返回到</a:t>
            </a:r>
            <a:r>
              <a:rPr lang="en-US" altLang="zh-CN" dirty="0"/>
              <a:t>2.</a:t>
            </a:r>
            <a:endParaRPr lang="en-US" altLang="zh-CN" dirty="0"/>
          </a:p>
        </p:txBody>
      </p:sp>
      <p:sp>
        <p:nvSpPr>
          <p:cNvPr id="35844"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6867" name="Rectangle 2"/>
          <p:cNvSpPr>
            <a:spLocks noGrp="1"/>
          </p:cNvSpPr>
          <p:nvPr>
            <p:ph idx="1"/>
          </p:nvPr>
        </p:nvSpPr>
        <p:spPr>
          <a:xfrm>
            <a:off x="381000" y="736600"/>
            <a:ext cx="8610600" cy="5867400"/>
          </a:xfrm>
          <a:ln/>
        </p:spPr>
        <p:txBody>
          <a:bodyPr vert="horz" wrap="square" lIns="91440" tIns="45720" rIns="91440" bIns="45720" anchor="t" anchorCtr="0"/>
          <a:p>
            <a:pPr eaLnBrk="1" hangingPunct="1">
              <a:lnSpc>
                <a:spcPct val="115000"/>
              </a:lnSpc>
              <a:buNone/>
            </a:pPr>
            <a:r>
              <a:rPr lang="en-US" altLang="zh-CN" sz="2800" dirty="0">
                <a:solidFill>
                  <a:schemeClr val="tx1"/>
                </a:solidFill>
              </a:rPr>
              <a:t>【</a:t>
            </a:r>
            <a:r>
              <a:rPr lang="zh-CN" altLang="en-US" sz="2800" dirty="0">
                <a:solidFill>
                  <a:schemeClr val="tx1"/>
                </a:solidFill>
              </a:rPr>
              <a:t>例</a:t>
            </a:r>
            <a:r>
              <a:rPr lang="en-US" altLang="zh-CN" sz="2800" dirty="0">
                <a:solidFill>
                  <a:schemeClr val="tx1"/>
                </a:solidFill>
              </a:rPr>
              <a:t>6.25】  R&lt;U,F&gt;,U={</a:t>
            </a:r>
            <a:r>
              <a:rPr lang="en-US" altLang="zh-CN" sz="2800" dirty="0"/>
              <a:t>S#,D,M,C#,G</a:t>
            </a:r>
            <a:r>
              <a:rPr lang="en-US" altLang="zh-CN" sz="2800" dirty="0">
                <a:solidFill>
                  <a:schemeClr val="tx1"/>
                </a:solidFill>
              </a:rPr>
              <a:t>},F={</a:t>
            </a:r>
            <a:r>
              <a:rPr lang="en-US" altLang="zh-CN" sz="2800" dirty="0"/>
              <a:t>S#</a:t>
            </a:r>
            <a:r>
              <a:rPr lang="en-US" altLang="zh-CN" sz="2800" i="1" dirty="0"/>
              <a:t>→</a:t>
            </a:r>
            <a:r>
              <a:rPr lang="en-US" altLang="zh-CN" sz="2800" dirty="0">
                <a:sym typeface="Symbol" panose="05050102010706020507" pitchFamily="18" charset="2"/>
              </a:rPr>
              <a:t> </a:t>
            </a:r>
            <a:r>
              <a:rPr lang="en-US" altLang="zh-CN" sz="2800" dirty="0"/>
              <a:t>D,S# </a:t>
            </a:r>
            <a:r>
              <a:rPr lang="en-US" altLang="zh-CN" sz="2800" i="1" dirty="0"/>
              <a:t>→</a:t>
            </a:r>
            <a:r>
              <a:rPr lang="en-US" altLang="zh-CN" sz="2800" dirty="0">
                <a:sym typeface="Symbol" panose="05050102010706020507" pitchFamily="18" charset="2"/>
              </a:rPr>
              <a:t> </a:t>
            </a:r>
            <a:r>
              <a:rPr lang="en-US" altLang="zh-CN" sz="2800" dirty="0"/>
              <a:t>M,D</a:t>
            </a:r>
            <a:r>
              <a:rPr lang="en-US" altLang="zh-CN" sz="2800" i="1" dirty="0"/>
              <a:t>→</a:t>
            </a:r>
            <a:r>
              <a:rPr lang="en-US" altLang="zh-CN" sz="2800" dirty="0">
                <a:sym typeface="Symbol" panose="05050102010706020507" pitchFamily="18" charset="2"/>
              </a:rPr>
              <a:t> </a:t>
            </a:r>
            <a:r>
              <a:rPr lang="en-US" altLang="zh-CN" sz="2800" dirty="0"/>
              <a:t>M,(S#,C#)</a:t>
            </a:r>
            <a:r>
              <a:rPr lang="en-US" altLang="zh-CN" sz="2800" i="1" dirty="0"/>
              <a:t>→</a:t>
            </a:r>
            <a:r>
              <a:rPr lang="en-US" altLang="zh-CN" sz="2800" dirty="0">
                <a:sym typeface="Symbol" panose="05050102010706020507" pitchFamily="18" charset="2"/>
              </a:rPr>
              <a:t> </a:t>
            </a:r>
            <a:r>
              <a:rPr lang="en-US" altLang="zh-CN" sz="2800" dirty="0"/>
              <a:t>G</a:t>
            </a:r>
            <a:r>
              <a:rPr lang="en-US" altLang="zh-CN" sz="2800" dirty="0">
                <a:solidFill>
                  <a:schemeClr val="tx1"/>
                </a:solidFill>
              </a:rPr>
              <a:t>}. </a:t>
            </a:r>
            <a:r>
              <a:rPr lang="zh-CN" altLang="en-US" sz="2800" dirty="0">
                <a:solidFill>
                  <a:schemeClr val="tx1"/>
                </a:solidFill>
              </a:rPr>
              <a:t>试将</a:t>
            </a:r>
            <a:r>
              <a:rPr lang="en-US" altLang="zh-CN" sz="2800" dirty="0">
                <a:solidFill>
                  <a:schemeClr val="tx1"/>
                </a:solidFill>
              </a:rPr>
              <a:t>R</a:t>
            </a:r>
            <a:r>
              <a:rPr lang="zh-CN" altLang="en-US" sz="2800" dirty="0">
                <a:solidFill>
                  <a:schemeClr val="tx1"/>
                </a:solidFill>
              </a:rPr>
              <a:t>分解</a:t>
            </a:r>
            <a:r>
              <a:rPr lang="en-US" altLang="zh-CN" sz="2800" dirty="0">
                <a:solidFill>
                  <a:schemeClr val="tx1"/>
                </a:solidFill>
              </a:rPr>
              <a:t>BCNF,</a:t>
            </a:r>
            <a:r>
              <a:rPr lang="zh-CN" altLang="en-US" sz="2800" dirty="0">
                <a:solidFill>
                  <a:schemeClr val="tx1"/>
                </a:solidFill>
              </a:rPr>
              <a:t>并保持无损连接</a:t>
            </a:r>
            <a:r>
              <a:rPr lang="en-US" altLang="zh-CN" sz="2800" dirty="0">
                <a:solidFill>
                  <a:schemeClr val="tx1"/>
                </a:solidFill>
              </a:rPr>
              <a:t>.</a:t>
            </a:r>
            <a:endParaRPr lang="en-US" altLang="zh-CN" sz="2800" dirty="0">
              <a:solidFill>
                <a:schemeClr val="tx1"/>
              </a:solidFill>
            </a:endParaRPr>
          </a:p>
          <a:p>
            <a:pPr eaLnBrk="1" hangingPunct="1">
              <a:lnSpc>
                <a:spcPct val="115000"/>
              </a:lnSpc>
              <a:buNone/>
            </a:pPr>
            <a:r>
              <a:rPr lang="zh-CN" altLang="en-US" sz="2800" dirty="0">
                <a:solidFill>
                  <a:schemeClr val="tx1"/>
                </a:solidFill>
                <a:sym typeface="Symbol" panose="05050102010706020507" pitchFamily="18" charset="2"/>
              </a:rPr>
              <a:t>解</a:t>
            </a:r>
            <a:r>
              <a:rPr lang="en-US" altLang="zh-CN" sz="2800" dirty="0">
                <a:solidFill>
                  <a:schemeClr val="tx1"/>
                </a:solidFill>
                <a:sym typeface="Wingdings" panose="05000000000000000000" pitchFamily="2" charset="2"/>
              </a:rPr>
              <a:t>: </a:t>
            </a:r>
            <a:r>
              <a:rPr lang="zh-CN" altLang="en-US" sz="2800" dirty="0">
                <a:solidFill>
                  <a:schemeClr val="tx1"/>
                </a:solidFill>
                <a:sym typeface="Wingdings" panose="05000000000000000000" pitchFamily="2" charset="2"/>
              </a:rPr>
              <a:t>第</a:t>
            </a:r>
            <a:r>
              <a:rPr lang="en-US" altLang="zh-CN" sz="2800" dirty="0">
                <a:solidFill>
                  <a:schemeClr val="tx1"/>
                </a:solidFill>
                <a:sym typeface="Wingdings" panose="05000000000000000000" pitchFamily="2" charset="2"/>
              </a:rPr>
              <a:t>1</a:t>
            </a:r>
            <a:r>
              <a:rPr lang="zh-CN" altLang="en-US" sz="2800" dirty="0">
                <a:solidFill>
                  <a:schemeClr val="tx1"/>
                </a:solidFill>
                <a:sym typeface="Wingdings" panose="05000000000000000000" pitchFamily="2" charset="2"/>
              </a:rPr>
              <a:t>遍</a:t>
            </a:r>
            <a:r>
              <a:rPr lang="en-US" altLang="zh-CN" sz="2800" dirty="0">
                <a:solidFill>
                  <a:schemeClr val="tx1"/>
                </a:solidFill>
                <a:sym typeface="Wingdings" panose="05000000000000000000" pitchFamily="2" charset="2"/>
              </a:rPr>
              <a:t>: </a:t>
            </a:r>
            <a:r>
              <a:rPr lang="en-US" altLang="zh-CN" sz="2800" i="1" dirty="0">
                <a:solidFill>
                  <a:schemeClr val="tx1"/>
                </a:solidFill>
                <a:sym typeface="Wingdings" panose="05000000000000000000" pitchFamily="2" charset="2"/>
              </a:rPr>
              <a:t>R</a:t>
            </a:r>
            <a:r>
              <a:rPr lang="zh-CN" altLang="en-US" sz="2800" dirty="0">
                <a:solidFill>
                  <a:schemeClr val="tx1"/>
                </a:solidFill>
                <a:sym typeface="Wingdings" panose="05000000000000000000" pitchFamily="2" charset="2"/>
              </a:rPr>
              <a:t>的码为</a:t>
            </a:r>
            <a:r>
              <a:rPr lang="en-US" altLang="zh-CN" sz="2800" dirty="0">
                <a:solidFill>
                  <a:schemeClr val="tx1"/>
                </a:solidFill>
                <a:sym typeface="Wingdings" panose="05000000000000000000" pitchFamily="2" charset="2"/>
              </a:rPr>
              <a:t>(</a:t>
            </a:r>
            <a:r>
              <a:rPr lang="en-US" altLang="zh-CN" sz="2800" i="1" dirty="0">
                <a:solidFill>
                  <a:schemeClr val="tx1"/>
                </a:solidFill>
                <a:sym typeface="Wingdings" panose="05000000000000000000" pitchFamily="2" charset="2"/>
              </a:rPr>
              <a:t>S#,C#</a:t>
            </a:r>
            <a:r>
              <a:rPr lang="en-US" altLang="zh-CN" sz="2800" dirty="0">
                <a:solidFill>
                  <a:schemeClr val="tx1"/>
                </a:solidFill>
                <a:sym typeface="Wingdings" panose="05000000000000000000" pitchFamily="2" charset="2"/>
              </a:rPr>
              <a:t>). </a:t>
            </a:r>
            <a:endParaRPr lang="en-US" altLang="zh-CN" sz="2800" dirty="0">
              <a:solidFill>
                <a:schemeClr val="tx1"/>
              </a:solidFill>
              <a:sym typeface="Wingdings" panose="05000000000000000000" pitchFamily="2" charset="2"/>
            </a:endParaRPr>
          </a:p>
          <a:p>
            <a:pPr eaLnBrk="1" hangingPunct="1">
              <a:lnSpc>
                <a:spcPct val="115000"/>
              </a:lnSpc>
              <a:buNone/>
            </a:pPr>
            <a:r>
              <a:rPr lang="en-US" altLang="zh-CN" sz="2800" dirty="0">
                <a:solidFill>
                  <a:schemeClr val="tx1"/>
                </a:solidFill>
                <a:sym typeface="Wingdings" panose="05000000000000000000" pitchFamily="2" charset="2"/>
              </a:rPr>
              <a:t>	   </a:t>
            </a:r>
            <a:r>
              <a:rPr lang="en-US" altLang="zh-CN" sz="2800" i="1" dirty="0">
                <a:solidFill>
                  <a:schemeClr val="tx1"/>
                </a:solidFill>
                <a:sym typeface="Wingdings" panose="05000000000000000000" pitchFamily="2" charset="2"/>
              </a:rPr>
              <a:t>U</a:t>
            </a:r>
            <a:r>
              <a:rPr lang="en-US" altLang="zh-CN" sz="2800" i="1" baseline="-25000" dirty="0">
                <a:solidFill>
                  <a:schemeClr val="tx1"/>
                </a:solidFill>
                <a:sym typeface="Wingdings" panose="05000000000000000000" pitchFamily="2" charset="2"/>
              </a:rPr>
              <a:t>1</a:t>
            </a:r>
            <a:r>
              <a:rPr lang="en-US" altLang="zh-CN" sz="2800" i="1" dirty="0">
                <a:solidFill>
                  <a:schemeClr val="tx1"/>
                </a:solidFill>
                <a:sym typeface="Wingdings" panose="05000000000000000000" pitchFamily="2" charset="2"/>
              </a:rPr>
              <a:t>={</a:t>
            </a:r>
            <a:r>
              <a:rPr lang="en-US" altLang="zh-CN" sz="2800" i="1" dirty="0">
                <a:sym typeface="Wingdings" panose="05000000000000000000" pitchFamily="2" charset="2"/>
              </a:rPr>
              <a:t>S#</a:t>
            </a:r>
            <a:r>
              <a:rPr lang="en-US" altLang="zh-CN" sz="2800" i="1" dirty="0">
                <a:solidFill>
                  <a:schemeClr val="tx1"/>
                </a:solidFill>
                <a:sym typeface="Wingdings" panose="05000000000000000000" pitchFamily="2" charset="2"/>
              </a:rPr>
              <a:t>,D}, </a:t>
            </a:r>
            <a:r>
              <a:rPr lang="en-US" altLang="zh-CN" sz="2800" dirty="0">
                <a:solidFill>
                  <a:schemeClr val="tx1"/>
                </a:solidFill>
                <a:sym typeface="Wingdings" panose="05000000000000000000" pitchFamily="2" charset="2"/>
              </a:rPr>
              <a:t> </a:t>
            </a:r>
            <a:r>
              <a:rPr lang="en-US" altLang="zh-CN" sz="2800" i="1" dirty="0">
                <a:solidFill>
                  <a:schemeClr val="tx1"/>
                </a:solidFill>
                <a:sym typeface="Wingdings" panose="05000000000000000000" pitchFamily="2" charset="2"/>
              </a:rPr>
              <a:t>F</a:t>
            </a:r>
            <a:r>
              <a:rPr lang="en-US" altLang="zh-CN" sz="2800" i="1" baseline="-25000" dirty="0">
                <a:solidFill>
                  <a:schemeClr val="tx1"/>
                </a:solidFill>
                <a:sym typeface="Wingdings" panose="05000000000000000000" pitchFamily="2" charset="2"/>
              </a:rPr>
              <a:t>1</a:t>
            </a:r>
            <a:r>
              <a:rPr lang="en-US" altLang="zh-CN" sz="2800" i="1" dirty="0">
                <a:solidFill>
                  <a:schemeClr val="tx1"/>
                </a:solidFill>
                <a:sym typeface="Wingdings" panose="05000000000000000000" pitchFamily="2" charset="2"/>
              </a:rPr>
              <a:t>={S#</a:t>
            </a:r>
            <a:r>
              <a:rPr lang="en-US" altLang="zh-CN" sz="2800" i="1" dirty="0">
                <a:solidFill>
                  <a:schemeClr val="tx1"/>
                </a:solidFill>
              </a:rPr>
              <a:t>→ D</a:t>
            </a:r>
            <a:r>
              <a:rPr lang="en-US" altLang="zh-CN" sz="2800" i="1" dirty="0">
                <a:solidFill>
                  <a:schemeClr val="tx1"/>
                </a:solidFill>
                <a:sym typeface="Wingdings" panose="05000000000000000000" pitchFamily="2" charset="2"/>
              </a:rPr>
              <a:t>} ;</a:t>
            </a:r>
            <a:endParaRPr lang="en-US" altLang="zh-CN" sz="2800" i="1" dirty="0">
              <a:solidFill>
                <a:schemeClr val="tx1"/>
              </a:solidFill>
              <a:sym typeface="Wingdings" panose="05000000000000000000" pitchFamily="2" charset="2"/>
            </a:endParaRPr>
          </a:p>
          <a:p>
            <a:pPr eaLnBrk="1" hangingPunct="1">
              <a:lnSpc>
                <a:spcPct val="115000"/>
              </a:lnSpc>
              <a:buNone/>
            </a:pPr>
            <a:r>
              <a:rPr lang="en-US" altLang="zh-CN" sz="2800" i="1" dirty="0">
                <a:solidFill>
                  <a:schemeClr val="tx1"/>
                </a:solidFill>
                <a:sym typeface="Wingdings" panose="05000000000000000000" pitchFamily="2" charset="2"/>
              </a:rPr>
              <a:t> 	   U</a:t>
            </a:r>
            <a:r>
              <a:rPr lang="en-US" altLang="zh-CN" sz="2800" i="1" baseline="-25000" dirty="0">
                <a:solidFill>
                  <a:schemeClr val="tx1"/>
                </a:solidFill>
                <a:sym typeface="Wingdings" panose="05000000000000000000" pitchFamily="2" charset="2"/>
              </a:rPr>
              <a:t>2</a:t>
            </a:r>
            <a:r>
              <a:rPr lang="en-US" altLang="zh-CN" sz="2800" i="1" dirty="0">
                <a:solidFill>
                  <a:schemeClr val="tx1"/>
                </a:solidFill>
                <a:sym typeface="Wingdings" panose="05000000000000000000" pitchFamily="2" charset="2"/>
              </a:rPr>
              <a:t>={</a:t>
            </a:r>
            <a:r>
              <a:rPr lang="en-US" altLang="zh-CN" sz="2800" i="1" dirty="0">
                <a:sym typeface="Wingdings" panose="05000000000000000000" pitchFamily="2" charset="2"/>
              </a:rPr>
              <a:t>S#</a:t>
            </a:r>
            <a:r>
              <a:rPr lang="en-US" altLang="zh-CN" sz="2800" i="1" dirty="0">
                <a:solidFill>
                  <a:schemeClr val="tx1"/>
                </a:solidFill>
                <a:sym typeface="Wingdings" panose="05000000000000000000" pitchFamily="2" charset="2"/>
              </a:rPr>
              <a:t>,M,</a:t>
            </a:r>
            <a:r>
              <a:rPr lang="en-US" altLang="zh-CN" sz="2800" i="1" dirty="0">
                <a:sym typeface="Wingdings" panose="05000000000000000000" pitchFamily="2" charset="2"/>
              </a:rPr>
              <a:t>C#</a:t>
            </a:r>
            <a:r>
              <a:rPr lang="en-US" altLang="zh-CN" sz="2800" i="1" dirty="0">
                <a:solidFill>
                  <a:schemeClr val="tx1"/>
                </a:solidFill>
                <a:sym typeface="Wingdings" panose="05000000000000000000" pitchFamily="2" charset="2"/>
              </a:rPr>
              <a:t>,G</a:t>
            </a:r>
            <a:r>
              <a:rPr lang="en-US" altLang="zh-CN" sz="2800" i="1" dirty="0">
                <a:solidFill>
                  <a:schemeClr val="tx1"/>
                </a:solidFill>
              </a:rPr>
              <a:t> </a:t>
            </a:r>
            <a:r>
              <a:rPr lang="en-US" altLang="zh-CN" sz="2800" i="1" dirty="0">
                <a:solidFill>
                  <a:schemeClr val="tx1"/>
                </a:solidFill>
                <a:sym typeface="Wingdings" panose="05000000000000000000" pitchFamily="2" charset="2"/>
              </a:rPr>
              <a:t>},  F</a:t>
            </a:r>
            <a:r>
              <a:rPr lang="en-US" altLang="zh-CN" sz="2800" i="1" baseline="-25000" dirty="0">
                <a:solidFill>
                  <a:schemeClr val="tx1"/>
                </a:solidFill>
                <a:sym typeface="Wingdings" panose="05000000000000000000" pitchFamily="2" charset="2"/>
              </a:rPr>
              <a:t>2</a:t>
            </a:r>
            <a:r>
              <a:rPr lang="en-US" altLang="zh-CN" sz="2800" i="1" dirty="0">
                <a:solidFill>
                  <a:schemeClr val="tx1"/>
                </a:solidFill>
                <a:sym typeface="Wingdings" panose="05000000000000000000" pitchFamily="2" charset="2"/>
              </a:rPr>
              <a:t>={S#</a:t>
            </a:r>
            <a:r>
              <a:rPr lang="en-US" altLang="zh-CN" sz="2800" i="1" dirty="0">
                <a:solidFill>
                  <a:schemeClr val="tx1"/>
                </a:solidFill>
              </a:rPr>
              <a:t>→ M, (S#,C#)→ G</a:t>
            </a:r>
            <a:r>
              <a:rPr lang="en-US" altLang="zh-CN" sz="2800" i="1" dirty="0">
                <a:solidFill>
                  <a:schemeClr val="tx1"/>
                </a:solidFill>
                <a:sym typeface="Wingdings" panose="05000000000000000000" pitchFamily="2" charset="2"/>
              </a:rPr>
              <a:t>}</a:t>
            </a:r>
            <a:r>
              <a:rPr lang="en-US" altLang="zh-CN" sz="2800" dirty="0">
                <a:solidFill>
                  <a:schemeClr val="tx1"/>
                </a:solidFill>
              </a:rPr>
              <a:t>;</a:t>
            </a:r>
            <a:endParaRPr lang="en-US" altLang="zh-CN" sz="2800" dirty="0">
              <a:solidFill>
                <a:schemeClr val="tx1"/>
              </a:solidFill>
            </a:endParaRPr>
          </a:p>
          <a:p>
            <a:pPr eaLnBrk="1" hangingPunct="1">
              <a:lnSpc>
                <a:spcPct val="115000"/>
              </a:lnSpc>
              <a:buNone/>
            </a:pPr>
            <a:r>
              <a:rPr lang="en-US" altLang="zh-CN" dirty="0">
                <a:solidFill>
                  <a:schemeClr val="tx1"/>
                </a:solidFill>
              </a:rPr>
              <a:t>	  </a:t>
            </a:r>
            <a:r>
              <a:rPr lang="zh-CN" altLang="en-US" sz="2800" dirty="0">
                <a:solidFill>
                  <a:schemeClr val="tx1"/>
                </a:solidFill>
                <a:sym typeface="Wingdings" panose="05000000000000000000" pitchFamily="2" charset="2"/>
              </a:rPr>
              <a:t>第</a:t>
            </a:r>
            <a:r>
              <a:rPr lang="en-US" altLang="zh-CN" sz="2800" dirty="0">
                <a:solidFill>
                  <a:schemeClr val="tx1"/>
                </a:solidFill>
                <a:sym typeface="Wingdings" panose="05000000000000000000" pitchFamily="2" charset="2"/>
              </a:rPr>
              <a:t>2</a:t>
            </a:r>
            <a:r>
              <a:rPr lang="zh-CN" altLang="en-US" sz="2800" dirty="0">
                <a:solidFill>
                  <a:schemeClr val="tx1"/>
                </a:solidFill>
                <a:sym typeface="Wingdings" panose="05000000000000000000" pitchFamily="2" charset="2"/>
              </a:rPr>
              <a:t>遍</a:t>
            </a:r>
            <a:r>
              <a:rPr lang="en-US" altLang="zh-CN" sz="2800" dirty="0">
                <a:solidFill>
                  <a:schemeClr val="tx1"/>
                </a:solidFill>
                <a:sym typeface="Wingdings" panose="05000000000000000000" pitchFamily="2" charset="2"/>
              </a:rPr>
              <a:t>: </a:t>
            </a:r>
            <a:r>
              <a:rPr lang="zh-CN" altLang="en-US" sz="2800" dirty="0">
                <a:solidFill>
                  <a:schemeClr val="tx1"/>
                </a:solidFill>
                <a:sym typeface="Wingdings" panose="05000000000000000000" pitchFamily="2" charset="2"/>
              </a:rPr>
              <a:t>对</a:t>
            </a:r>
            <a:r>
              <a:rPr lang="en-US" altLang="zh-CN" sz="2800" i="1" dirty="0">
                <a:solidFill>
                  <a:schemeClr val="tx1"/>
                </a:solidFill>
                <a:sym typeface="Wingdings" panose="05000000000000000000" pitchFamily="2" charset="2"/>
              </a:rPr>
              <a:t>R</a:t>
            </a:r>
            <a:r>
              <a:rPr lang="en-US" altLang="zh-CN" sz="2800" i="1" baseline="-25000" dirty="0">
                <a:solidFill>
                  <a:schemeClr val="tx1"/>
                </a:solidFill>
                <a:sym typeface="Wingdings" panose="05000000000000000000" pitchFamily="2" charset="2"/>
              </a:rPr>
              <a:t>2</a:t>
            </a:r>
            <a:r>
              <a:rPr lang="en-US" altLang="zh-CN" sz="2800" i="1" dirty="0">
                <a:solidFill>
                  <a:schemeClr val="tx1"/>
                </a:solidFill>
                <a:sym typeface="Wingdings" panose="05000000000000000000" pitchFamily="2" charset="2"/>
              </a:rPr>
              <a:t>&lt;U</a:t>
            </a:r>
            <a:r>
              <a:rPr lang="en-US" altLang="zh-CN" sz="2800" i="1" baseline="-25000" dirty="0">
                <a:solidFill>
                  <a:schemeClr val="tx1"/>
                </a:solidFill>
                <a:sym typeface="Wingdings" panose="05000000000000000000" pitchFamily="2" charset="2"/>
              </a:rPr>
              <a:t>2</a:t>
            </a:r>
            <a:r>
              <a:rPr lang="en-US" altLang="zh-CN" sz="2800" i="1" dirty="0">
                <a:solidFill>
                  <a:schemeClr val="tx1"/>
                </a:solidFill>
                <a:sym typeface="Wingdings" panose="05000000000000000000" pitchFamily="2" charset="2"/>
              </a:rPr>
              <a:t>,F</a:t>
            </a:r>
            <a:r>
              <a:rPr lang="en-US" altLang="zh-CN" sz="2800" i="1" baseline="-25000" dirty="0">
                <a:solidFill>
                  <a:schemeClr val="tx1"/>
                </a:solidFill>
                <a:sym typeface="Wingdings" panose="05000000000000000000" pitchFamily="2" charset="2"/>
              </a:rPr>
              <a:t>2</a:t>
            </a:r>
            <a:r>
              <a:rPr lang="en-US" altLang="zh-CN" sz="2800" i="1" dirty="0">
                <a:solidFill>
                  <a:schemeClr val="tx1"/>
                </a:solidFill>
                <a:sym typeface="Wingdings" panose="05000000000000000000" pitchFamily="2" charset="2"/>
              </a:rPr>
              <a:t>&gt;</a:t>
            </a:r>
            <a:r>
              <a:rPr lang="zh-CN" altLang="en-US" sz="2800" dirty="0">
                <a:solidFill>
                  <a:schemeClr val="tx1"/>
                </a:solidFill>
                <a:sym typeface="Wingdings" panose="05000000000000000000" pitchFamily="2" charset="2"/>
              </a:rPr>
              <a:t>进一步分解</a:t>
            </a:r>
            <a:r>
              <a:rPr lang="en-US" altLang="zh-CN" sz="2800" dirty="0">
                <a:solidFill>
                  <a:schemeClr val="tx1"/>
                </a:solidFill>
                <a:sym typeface="Wingdings" panose="05000000000000000000" pitchFamily="2" charset="2"/>
              </a:rPr>
              <a:t>. </a:t>
            </a:r>
            <a:endParaRPr lang="en-US" altLang="zh-CN" sz="2800" dirty="0">
              <a:solidFill>
                <a:schemeClr val="tx1"/>
              </a:solidFill>
              <a:sym typeface="Wingdings" panose="05000000000000000000" pitchFamily="2" charset="2"/>
            </a:endParaRPr>
          </a:p>
          <a:p>
            <a:pPr eaLnBrk="1" hangingPunct="1">
              <a:lnSpc>
                <a:spcPct val="115000"/>
              </a:lnSpc>
              <a:buNone/>
            </a:pPr>
            <a:r>
              <a:rPr lang="en-US" altLang="zh-CN" sz="2800" i="1" dirty="0">
                <a:solidFill>
                  <a:schemeClr val="tx1"/>
                </a:solidFill>
                <a:sym typeface="Wingdings" panose="05000000000000000000" pitchFamily="2" charset="2"/>
              </a:rPr>
              <a:t>       U</a:t>
            </a:r>
            <a:r>
              <a:rPr lang="en-US" altLang="zh-CN" sz="2800" i="1" baseline="-25000" dirty="0">
                <a:solidFill>
                  <a:schemeClr val="tx1"/>
                </a:solidFill>
                <a:sym typeface="Wingdings" panose="05000000000000000000" pitchFamily="2" charset="2"/>
              </a:rPr>
              <a:t>2</a:t>
            </a:r>
            <a:r>
              <a:rPr lang="en-US" altLang="zh-CN" sz="2800" i="1" dirty="0">
                <a:solidFill>
                  <a:schemeClr val="tx1"/>
                </a:solidFill>
                <a:sym typeface="Wingdings" panose="05000000000000000000" pitchFamily="2" charset="2"/>
              </a:rPr>
              <a:t>={</a:t>
            </a:r>
            <a:r>
              <a:rPr lang="en-US" altLang="zh-CN" sz="2800" i="1" dirty="0">
                <a:sym typeface="Wingdings" panose="05000000000000000000" pitchFamily="2" charset="2"/>
              </a:rPr>
              <a:t>S#</a:t>
            </a:r>
            <a:r>
              <a:rPr lang="en-US" altLang="zh-CN" sz="2800" i="1" dirty="0">
                <a:solidFill>
                  <a:schemeClr val="tx1"/>
                </a:solidFill>
                <a:sym typeface="Wingdings" panose="05000000000000000000" pitchFamily="2" charset="2"/>
              </a:rPr>
              <a:t>,M},  F</a:t>
            </a:r>
            <a:r>
              <a:rPr lang="en-US" altLang="zh-CN" sz="2800" i="1" baseline="-25000" dirty="0">
                <a:solidFill>
                  <a:schemeClr val="tx1"/>
                </a:solidFill>
                <a:sym typeface="Wingdings" panose="05000000000000000000" pitchFamily="2" charset="2"/>
              </a:rPr>
              <a:t>2</a:t>
            </a:r>
            <a:r>
              <a:rPr lang="en-US" altLang="zh-CN" sz="2800" i="1" dirty="0">
                <a:solidFill>
                  <a:schemeClr val="tx1"/>
                </a:solidFill>
                <a:sym typeface="Wingdings" panose="05000000000000000000" pitchFamily="2" charset="2"/>
              </a:rPr>
              <a:t>={S#</a:t>
            </a:r>
            <a:r>
              <a:rPr lang="en-US" altLang="zh-CN" sz="2800" i="1" dirty="0">
                <a:solidFill>
                  <a:schemeClr val="tx1"/>
                </a:solidFill>
              </a:rPr>
              <a:t>→ M</a:t>
            </a:r>
            <a:r>
              <a:rPr lang="en-US" altLang="zh-CN" sz="2800" i="1" dirty="0">
                <a:solidFill>
                  <a:schemeClr val="tx1"/>
                </a:solidFill>
                <a:sym typeface="Wingdings" panose="05000000000000000000" pitchFamily="2" charset="2"/>
              </a:rPr>
              <a:t>}</a:t>
            </a:r>
            <a:r>
              <a:rPr lang="en-US" altLang="zh-CN" sz="2800" dirty="0">
                <a:solidFill>
                  <a:schemeClr val="tx1"/>
                </a:solidFill>
              </a:rPr>
              <a:t>;</a:t>
            </a:r>
            <a:endParaRPr lang="en-US" altLang="zh-CN" sz="2800" dirty="0">
              <a:solidFill>
                <a:schemeClr val="tx1"/>
              </a:solidFill>
            </a:endParaRPr>
          </a:p>
          <a:p>
            <a:pPr eaLnBrk="1" hangingPunct="1">
              <a:lnSpc>
                <a:spcPct val="115000"/>
              </a:lnSpc>
              <a:buNone/>
            </a:pPr>
            <a:r>
              <a:rPr lang="en-US" altLang="zh-CN" sz="2800" i="1" dirty="0">
                <a:solidFill>
                  <a:schemeClr val="tx1"/>
                </a:solidFill>
                <a:sym typeface="Wingdings" panose="05000000000000000000" pitchFamily="2" charset="2"/>
              </a:rPr>
              <a:t>       U</a:t>
            </a:r>
            <a:r>
              <a:rPr lang="en-US" altLang="zh-CN" sz="2800" i="1" baseline="-25000" dirty="0">
                <a:solidFill>
                  <a:schemeClr val="tx1"/>
                </a:solidFill>
                <a:sym typeface="Wingdings" panose="05000000000000000000" pitchFamily="2" charset="2"/>
              </a:rPr>
              <a:t>3</a:t>
            </a:r>
            <a:r>
              <a:rPr lang="en-US" altLang="zh-CN" sz="2800" i="1" dirty="0">
                <a:solidFill>
                  <a:schemeClr val="tx1"/>
                </a:solidFill>
                <a:sym typeface="Wingdings" panose="05000000000000000000" pitchFamily="2" charset="2"/>
              </a:rPr>
              <a:t>={</a:t>
            </a:r>
            <a:r>
              <a:rPr lang="en-US" altLang="zh-CN" sz="2800" i="1" dirty="0">
                <a:sym typeface="Wingdings" panose="05000000000000000000" pitchFamily="2" charset="2"/>
              </a:rPr>
              <a:t>S#</a:t>
            </a:r>
            <a:r>
              <a:rPr lang="en-US" altLang="zh-CN" sz="2800" i="1" dirty="0">
                <a:solidFill>
                  <a:schemeClr val="tx1"/>
                </a:solidFill>
                <a:sym typeface="Wingdings" panose="05000000000000000000" pitchFamily="2" charset="2"/>
              </a:rPr>
              <a:t>, </a:t>
            </a:r>
            <a:r>
              <a:rPr lang="en-US" altLang="zh-CN" sz="2800" i="1" dirty="0">
                <a:sym typeface="Wingdings" panose="05000000000000000000" pitchFamily="2" charset="2"/>
              </a:rPr>
              <a:t>C#</a:t>
            </a:r>
            <a:r>
              <a:rPr lang="en-US" altLang="zh-CN" sz="2800" i="1" dirty="0">
                <a:solidFill>
                  <a:schemeClr val="tx1"/>
                </a:solidFill>
                <a:sym typeface="Wingdings" panose="05000000000000000000" pitchFamily="2" charset="2"/>
              </a:rPr>
              <a:t>,G</a:t>
            </a:r>
            <a:r>
              <a:rPr lang="en-US" altLang="zh-CN" sz="2800" i="1" dirty="0">
                <a:solidFill>
                  <a:schemeClr val="tx1"/>
                </a:solidFill>
              </a:rPr>
              <a:t> </a:t>
            </a:r>
            <a:r>
              <a:rPr lang="en-US" altLang="zh-CN" sz="2800" i="1" dirty="0">
                <a:solidFill>
                  <a:schemeClr val="tx1"/>
                </a:solidFill>
                <a:sym typeface="Wingdings" panose="05000000000000000000" pitchFamily="2" charset="2"/>
              </a:rPr>
              <a:t>},  F</a:t>
            </a:r>
            <a:r>
              <a:rPr lang="en-US" altLang="zh-CN" sz="2800" i="1" baseline="-25000" dirty="0">
                <a:solidFill>
                  <a:schemeClr val="tx1"/>
                </a:solidFill>
                <a:sym typeface="Wingdings" panose="05000000000000000000" pitchFamily="2" charset="2"/>
              </a:rPr>
              <a:t>3</a:t>
            </a:r>
            <a:r>
              <a:rPr lang="en-US" altLang="zh-CN" sz="2800" i="1" dirty="0">
                <a:solidFill>
                  <a:schemeClr val="tx1"/>
                </a:solidFill>
                <a:sym typeface="Wingdings" panose="05000000000000000000" pitchFamily="2" charset="2"/>
              </a:rPr>
              <a:t>={ </a:t>
            </a:r>
            <a:r>
              <a:rPr lang="en-US" altLang="zh-CN" sz="2800" i="1" dirty="0">
                <a:solidFill>
                  <a:schemeClr val="tx1"/>
                </a:solidFill>
              </a:rPr>
              <a:t>(S#,C#)→ G</a:t>
            </a:r>
            <a:r>
              <a:rPr lang="en-US" altLang="zh-CN" sz="2800" i="1" dirty="0">
                <a:solidFill>
                  <a:schemeClr val="tx1"/>
                </a:solidFill>
                <a:sym typeface="Wingdings" panose="05000000000000000000" pitchFamily="2" charset="2"/>
              </a:rPr>
              <a:t>}</a:t>
            </a:r>
            <a:r>
              <a:rPr lang="en-US" altLang="zh-CN" sz="2800" dirty="0">
                <a:solidFill>
                  <a:schemeClr val="tx1"/>
                </a:solidFill>
              </a:rPr>
              <a:t>;</a:t>
            </a:r>
            <a:endParaRPr lang="en-US" altLang="zh-CN" sz="2800" dirty="0">
              <a:solidFill>
                <a:schemeClr val="tx1"/>
              </a:solidFill>
            </a:endParaRPr>
          </a:p>
          <a:p>
            <a:pPr eaLnBrk="1" hangingPunct="1">
              <a:lnSpc>
                <a:spcPct val="115000"/>
              </a:lnSpc>
              <a:buNone/>
            </a:pPr>
            <a:r>
              <a:rPr lang="en-US" altLang="zh-CN" i="1" dirty="0">
                <a:sym typeface="Symbol" panose="05050102010706020507" pitchFamily="18" charset="2"/>
              </a:rPr>
              <a:t>     </a:t>
            </a:r>
            <a:r>
              <a:rPr lang="en-US" altLang="zh-CN" sz="2800" i="1" dirty="0">
                <a:sym typeface="Symbol" panose="05050102010706020507" pitchFamily="18" charset="2"/>
              </a:rPr>
              <a:t> = {(S#,D#),(S#,M),(S#,C#,G)}. </a:t>
            </a:r>
            <a:r>
              <a:rPr lang="en-US" altLang="zh-CN" sz="2800" i="1" dirty="0">
                <a:solidFill>
                  <a:srgbClr val="0000CC"/>
                </a:solidFill>
                <a:sym typeface="Symbol" panose="05050102010706020507" pitchFamily="18" charset="2"/>
              </a:rPr>
              <a:t>(</a:t>
            </a:r>
            <a:r>
              <a:rPr lang="zh-CN" altLang="en-US" sz="2800" i="1" dirty="0">
                <a:solidFill>
                  <a:srgbClr val="0000CC"/>
                </a:solidFill>
                <a:sym typeface="Symbol" panose="05050102010706020507" pitchFamily="18" charset="2"/>
              </a:rPr>
              <a:t>保持</a:t>
            </a:r>
            <a:r>
              <a:rPr lang="en-US" altLang="zh-CN" sz="2800" i="1" dirty="0">
                <a:solidFill>
                  <a:srgbClr val="0000CC"/>
                </a:solidFill>
                <a:sym typeface="Symbol" panose="05050102010706020507" pitchFamily="18" charset="2"/>
              </a:rPr>
              <a:t>FD</a:t>
            </a:r>
            <a:r>
              <a:rPr lang="zh-CN" altLang="en-US" sz="2800" i="1" dirty="0">
                <a:solidFill>
                  <a:srgbClr val="0000CC"/>
                </a:solidFill>
                <a:sym typeface="Symbol" panose="05050102010706020507" pitchFamily="18" charset="2"/>
              </a:rPr>
              <a:t>吗</a:t>
            </a:r>
            <a:r>
              <a:rPr lang="en-US" altLang="zh-CN" sz="2800" i="1" dirty="0">
                <a:solidFill>
                  <a:srgbClr val="0000CC"/>
                </a:solidFill>
                <a:sym typeface="Symbol" panose="05050102010706020507" pitchFamily="18" charset="2"/>
              </a:rPr>
              <a:t>?)</a:t>
            </a:r>
            <a:endParaRPr lang="en-US" altLang="zh-CN" sz="2800" i="1" dirty="0">
              <a:solidFill>
                <a:srgbClr val="0000CC"/>
              </a:solidFill>
              <a:sym typeface="Symbol" panose="05050102010706020507" pitchFamily="18" charset="2"/>
            </a:endParaRPr>
          </a:p>
        </p:txBody>
      </p:sp>
      <p:sp>
        <p:nvSpPr>
          <p:cNvPr id="36868"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7891" name="Rectangle 2"/>
          <p:cNvSpPr>
            <a:spLocks noGrp="1"/>
          </p:cNvSpPr>
          <p:nvPr>
            <p:ph idx="1"/>
          </p:nvPr>
        </p:nvSpPr>
        <p:spPr>
          <a:xfrm>
            <a:off x="381000" y="736600"/>
            <a:ext cx="8610600" cy="5867400"/>
          </a:xfrm>
          <a:ln/>
        </p:spPr>
        <p:txBody>
          <a:bodyPr vert="horz" wrap="square" lIns="91440" tIns="45720" rIns="91440" bIns="45720" anchor="t" anchorCtr="0"/>
          <a:p>
            <a:pPr eaLnBrk="1" hangingPunct="1">
              <a:lnSpc>
                <a:spcPct val="115000"/>
              </a:lnSpc>
              <a:buNone/>
            </a:pPr>
            <a:r>
              <a:rPr lang="en-US" altLang="zh-CN" sz="2800" dirty="0">
                <a:solidFill>
                  <a:schemeClr val="tx1"/>
                </a:solidFill>
              </a:rPr>
              <a:t>【</a:t>
            </a:r>
            <a:r>
              <a:rPr lang="zh-CN" altLang="en-US" sz="2800" dirty="0">
                <a:solidFill>
                  <a:schemeClr val="tx1"/>
                </a:solidFill>
              </a:rPr>
              <a:t>例</a:t>
            </a:r>
            <a:r>
              <a:rPr lang="en-US" altLang="zh-CN" sz="2800" dirty="0">
                <a:solidFill>
                  <a:schemeClr val="tx1"/>
                </a:solidFill>
              </a:rPr>
              <a:t>6.26】  R(C,T,H,R,S,G), </a:t>
            </a:r>
            <a:r>
              <a:rPr lang="zh-CN" altLang="en-US" sz="2800" dirty="0">
                <a:solidFill>
                  <a:schemeClr val="tx1"/>
                </a:solidFill>
              </a:rPr>
              <a:t>其中</a:t>
            </a:r>
            <a:r>
              <a:rPr lang="en-US" altLang="zh-CN" sz="2800" dirty="0">
                <a:solidFill>
                  <a:schemeClr val="tx1"/>
                </a:solidFill>
              </a:rPr>
              <a:t>:C─</a:t>
            </a:r>
            <a:r>
              <a:rPr lang="zh-CN" altLang="en-US" sz="2800" dirty="0">
                <a:solidFill>
                  <a:schemeClr val="tx1"/>
                </a:solidFill>
              </a:rPr>
              <a:t>课程</a:t>
            </a:r>
            <a:r>
              <a:rPr lang="en-US" altLang="zh-CN" sz="2800" dirty="0">
                <a:solidFill>
                  <a:schemeClr val="tx1"/>
                </a:solidFill>
              </a:rPr>
              <a:t>,T─</a:t>
            </a:r>
            <a:r>
              <a:rPr lang="zh-CN" altLang="en-US" sz="2800" dirty="0">
                <a:solidFill>
                  <a:schemeClr val="tx1"/>
                </a:solidFill>
              </a:rPr>
              <a:t>教师</a:t>
            </a:r>
            <a:r>
              <a:rPr lang="en-US" altLang="zh-CN" sz="2800" dirty="0">
                <a:solidFill>
                  <a:schemeClr val="tx1"/>
                </a:solidFill>
              </a:rPr>
              <a:t>,H─</a:t>
            </a:r>
            <a:r>
              <a:rPr lang="zh-CN" altLang="en-US" sz="2800" dirty="0">
                <a:solidFill>
                  <a:schemeClr val="tx1"/>
                </a:solidFill>
              </a:rPr>
              <a:t>时间</a:t>
            </a:r>
            <a:r>
              <a:rPr lang="en-US" altLang="zh-CN" sz="2800" dirty="0">
                <a:solidFill>
                  <a:schemeClr val="tx1"/>
                </a:solidFill>
              </a:rPr>
              <a:t>,R─</a:t>
            </a:r>
            <a:r>
              <a:rPr lang="zh-CN" altLang="en-US" sz="2800" dirty="0">
                <a:solidFill>
                  <a:schemeClr val="tx1"/>
                </a:solidFill>
              </a:rPr>
              <a:t>教室</a:t>
            </a:r>
            <a:r>
              <a:rPr lang="en-US" altLang="zh-CN" sz="2800" dirty="0">
                <a:solidFill>
                  <a:schemeClr val="tx1"/>
                </a:solidFill>
              </a:rPr>
              <a:t>,S─</a:t>
            </a:r>
            <a:r>
              <a:rPr lang="zh-CN" altLang="en-US" sz="2800" dirty="0">
                <a:solidFill>
                  <a:schemeClr val="tx1"/>
                </a:solidFill>
              </a:rPr>
              <a:t>学生</a:t>
            </a:r>
            <a:r>
              <a:rPr lang="en-US" altLang="zh-CN" sz="2800" dirty="0">
                <a:solidFill>
                  <a:schemeClr val="tx1"/>
                </a:solidFill>
              </a:rPr>
              <a:t>,G─</a:t>
            </a:r>
            <a:r>
              <a:rPr lang="zh-CN" altLang="en-US" sz="2800" dirty="0">
                <a:solidFill>
                  <a:schemeClr val="tx1"/>
                </a:solidFill>
              </a:rPr>
              <a:t>成绩</a:t>
            </a:r>
            <a:r>
              <a:rPr lang="en-US" altLang="zh-CN" sz="2800" dirty="0">
                <a:solidFill>
                  <a:schemeClr val="tx1"/>
                </a:solidFill>
              </a:rPr>
              <a:t>.  F</a:t>
            </a:r>
            <a:r>
              <a:rPr lang="zh-CN" altLang="en-US" sz="2800" dirty="0">
                <a:solidFill>
                  <a:schemeClr val="tx1"/>
                </a:solidFill>
              </a:rPr>
              <a:t>：</a:t>
            </a:r>
            <a:endParaRPr lang="zh-CN" altLang="en-US" sz="2800" dirty="0">
              <a:solidFill>
                <a:schemeClr val="tx1"/>
              </a:solidFill>
            </a:endParaRPr>
          </a:p>
          <a:p>
            <a:pPr eaLnBrk="1" hangingPunct="1">
              <a:lnSpc>
                <a:spcPct val="115000"/>
              </a:lnSpc>
              <a:buNone/>
            </a:pPr>
            <a:r>
              <a:rPr lang="en-US" altLang="zh-CN" sz="2800" dirty="0">
                <a:solidFill>
                  <a:schemeClr val="tx1"/>
                </a:solidFill>
              </a:rPr>
              <a:t>1. C→T(</a:t>
            </a:r>
            <a:r>
              <a:rPr lang="zh-CN" altLang="en-US" sz="2800" dirty="0">
                <a:solidFill>
                  <a:schemeClr val="tx1"/>
                </a:solidFill>
              </a:rPr>
              <a:t>每门课仅一名教师上</a:t>
            </a:r>
            <a:r>
              <a:rPr lang="en-US" altLang="zh-CN" sz="2800" dirty="0">
                <a:solidFill>
                  <a:schemeClr val="tx1"/>
                </a:solidFill>
              </a:rPr>
              <a:t>)</a:t>
            </a:r>
            <a:endParaRPr lang="en-US" altLang="zh-CN" sz="2800" dirty="0">
              <a:solidFill>
                <a:schemeClr val="tx1"/>
              </a:solidFill>
            </a:endParaRPr>
          </a:p>
          <a:p>
            <a:pPr eaLnBrk="1" hangingPunct="1">
              <a:lnSpc>
                <a:spcPct val="115000"/>
              </a:lnSpc>
              <a:buNone/>
            </a:pPr>
            <a:r>
              <a:rPr lang="en-US" altLang="zh-CN" sz="2800" dirty="0">
                <a:solidFill>
                  <a:schemeClr val="tx1"/>
                </a:solidFill>
              </a:rPr>
              <a:t>2. HR→C(</a:t>
            </a:r>
            <a:r>
              <a:rPr lang="zh-CN" altLang="en-US" sz="2800" dirty="0">
                <a:solidFill>
                  <a:schemeClr val="tx1"/>
                </a:solidFill>
              </a:rPr>
              <a:t>任一时间，一个教室只能上一门课</a:t>
            </a:r>
            <a:r>
              <a:rPr lang="en-US" altLang="zh-CN" sz="2800" dirty="0">
                <a:solidFill>
                  <a:schemeClr val="tx1"/>
                </a:solidFill>
              </a:rPr>
              <a:t>)</a:t>
            </a:r>
            <a:endParaRPr lang="en-US" altLang="zh-CN" sz="2800" dirty="0">
              <a:solidFill>
                <a:schemeClr val="tx1"/>
              </a:solidFill>
            </a:endParaRPr>
          </a:p>
          <a:p>
            <a:pPr eaLnBrk="1" hangingPunct="1">
              <a:lnSpc>
                <a:spcPct val="115000"/>
              </a:lnSpc>
              <a:buNone/>
            </a:pPr>
            <a:r>
              <a:rPr lang="en-US" altLang="zh-CN" sz="2800" dirty="0">
                <a:solidFill>
                  <a:schemeClr val="tx1"/>
                </a:solidFill>
              </a:rPr>
              <a:t>3. HT→R(</a:t>
            </a:r>
            <a:r>
              <a:rPr lang="zh-CN" altLang="en-US" sz="2800" dirty="0">
                <a:solidFill>
                  <a:schemeClr val="tx1"/>
                </a:solidFill>
              </a:rPr>
              <a:t>一个时间，一个教师只能在一个教室上课</a:t>
            </a:r>
            <a:r>
              <a:rPr lang="en-US" altLang="zh-CN" sz="2800" dirty="0">
                <a:solidFill>
                  <a:schemeClr val="tx1"/>
                </a:solidFill>
              </a:rPr>
              <a:t>)</a:t>
            </a:r>
            <a:endParaRPr lang="en-US" altLang="zh-CN" sz="2800" dirty="0">
              <a:solidFill>
                <a:schemeClr val="tx1"/>
              </a:solidFill>
            </a:endParaRPr>
          </a:p>
          <a:p>
            <a:pPr eaLnBrk="1" hangingPunct="1">
              <a:lnSpc>
                <a:spcPct val="115000"/>
              </a:lnSpc>
              <a:buNone/>
            </a:pPr>
            <a:r>
              <a:rPr lang="en-US" altLang="zh-CN" sz="2800" dirty="0">
                <a:solidFill>
                  <a:schemeClr val="tx1"/>
                </a:solidFill>
              </a:rPr>
              <a:t>4. CS→G(</a:t>
            </a:r>
            <a:r>
              <a:rPr lang="zh-CN" altLang="en-US" sz="2800" dirty="0">
                <a:solidFill>
                  <a:schemeClr val="tx1"/>
                </a:solidFill>
              </a:rPr>
              <a:t>一个学生，一门课只有一个成绩</a:t>
            </a:r>
            <a:r>
              <a:rPr lang="en-US" altLang="zh-CN" sz="2800" dirty="0">
                <a:solidFill>
                  <a:schemeClr val="tx1"/>
                </a:solidFill>
              </a:rPr>
              <a:t>)</a:t>
            </a:r>
            <a:endParaRPr lang="en-US" altLang="zh-CN" sz="2800" dirty="0">
              <a:solidFill>
                <a:schemeClr val="tx1"/>
              </a:solidFill>
            </a:endParaRPr>
          </a:p>
          <a:p>
            <a:pPr eaLnBrk="1" hangingPunct="1">
              <a:lnSpc>
                <a:spcPct val="115000"/>
              </a:lnSpc>
              <a:buNone/>
            </a:pPr>
            <a:r>
              <a:rPr lang="en-US" altLang="zh-CN" sz="2800" dirty="0">
                <a:solidFill>
                  <a:schemeClr val="tx1"/>
                </a:solidFill>
              </a:rPr>
              <a:t>5. HS→R(</a:t>
            </a:r>
            <a:r>
              <a:rPr lang="zh-CN" altLang="en-US" sz="2800" dirty="0">
                <a:solidFill>
                  <a:schemeClr val="tx1"/>
                </a:solidFill>
              </a:rPr>
              <a:t>一个时间，一个学生只能在一个教室上课</a:t>
            </a:r>
            <a:r>
              <a:rPr lang="en-US" altLang="zh-CN" sz="2800" dirty="0">
                <a:solidFill>
                  <a:schemeClr val="tx1"/>
                </a:solidFill>
              </a:rPr>
              <a:t>)</a:t>
            </a:r>
            <a:endParaRPr lang="en-US" altLang="zh-CN" sz="2800" dirty="0">
              <a:solidFill>
                <a:schemeClr val="tx1"/>
              </a:solidFill>
            </a:endParaRPr>
          </a:p>
          <a:p>
            <a:pPr eaLnBrk="1" hangingPunct="1">
              <a:lnSpc>
                <a:spcPct val="115000"/>
              </a:lnSpc>
              <a:buNone/>
            </a:pPr>
            <a:r>
              <a:rPr lang="zh-CN" altLang="en-US" sz="2800" dirty="0">
                <a:solidFill>
                  <a:schemeClr val="tx1"/>
                </a:solidFill>
              </a:rPr>
              <a:t>求</a:t>
            </a:r>
            <a:r>
              <a:rPr lang="en-US" altLang="zh-CN" sz="2800" dirty="0">
                <a:solidFill>
                  <a:schemeClr val="tx1"/>
                </a:solidFill>
              </a:rPr>
              <a:t>R</a:t>
            </a:r>
            <a:r>
              <a:rPr lang="zh-CN" altLang="en-US" sz="2800" dirty="0">
                <a:solidFill>
                  <a:schemeClr val="tx1"/>
                </a:solidFill>
              </a:rPr>
              <a:t>的一个无损连接分解，要求分解后的模式为</a:t>
            </a:r>
            <a:r>
              <a:rPr lang="en-US" altLang="zh-CN" sz="2800" dirty="0">
                <a:solidFill>
                  <a:schemeClr val="tx1"/>
                </a:solidFill>
              </a:rPr>
              <a:t>BCNF</a:t>
            </a:r>
            <a:r>
              <a:rPr lang="zh-CN" altLang="en-US" sz="2800" dirty="0">
                <a:solidFill>
                  <a:schemeClr val="tx1"/>
                </a:solidFill>
              </a:rPr>
              <a:t>。</a:t>
            </a:r>
            <a:endParaRPr lang="zh-CN" altLang="en-US" sz="2800" dirty="0">
              <a:solidFill>
                <a:schemeClr val="tx1"/>
              </a:solidFill>
            </a:endParaRPr>
          </a:p>
          <a:p>
            <a:pPr eaLnBrk="1" hangingPunct="1">
              <a:lnSpc>
                <a:spcPct val="115000"/>
              </a:lnSpc>
              <a:buNone/>
            </a:pPr>
            <a:r>
              <a:rPr lang="zh-CN" altLang="en-US" sz="2800" dirty="0">
                <a:solidFill>
                  <a:schemeClr val="tx1"/>
                </a:solidFill>
              </a:rPr>
              <a:t>解</a:t>
            </a:r>
            <a:r>
              <a:rPr lang="en-US" altLang="zh-CN" sz="2800" dirty="0">
                <a:solidFill>
                  <a:schemeClr val="tx1"/>
                </a:solidFill>
              </a:rPr>
              <a:t>: </a:t>
            </a:r>
            <a:r>
              <a:rPr lang="en-US" altLang="zh-CN" sz="2800" b="0" dirty="0">
                <a:solidFill>
                  <a:schemeClr val="tx1"/>
                </a:solidFill>
                <a:ea typeface="黑体" panose="02010609060101010101" pitchFamily="49" charset="-122"/>
              </a:rPr>
              <a:t>∵</a:t>
            </a:r>
            <a:r>
              <a:rPr lang="en-US" altLang="zh-CN" sz="2400" b="0" dirty="0">
                <a:latin typeface="黑体" panose="02010609060101010101" pitchFamily="49" charset="-122"/>
                <a:ea typeface="黑体" panose="02010609060101010101" pitchFamily="49" charset="-122"/>
              </a:rPr>
              <a:t> </a:t>
            </a:r>
            <a:r>
              <a:rPr lang="en-US" altLang="zh-CN" sz="2800" dirty="0">
                <a:solidFill>
                  <a:schemeClr val="tx1"/>
                </a:solidFill>
              </a:rPr>
              <a:t>(HS)</a:t>
            </a:r>
            <a:r>
              <a:rPr lang="en-US" altLang="zh-CN" sz="2800" baseline="30000" dirty="0">
                <a:solidFill>
                  <a:schemeClr val="tx1"/>
                </a:solidFill>
              </a:rPr>
              <a:t>+</a:t>
            </a:r>
            <a:r>
              <a:rPr lang="en-US" altLang="zh-CN" sz="2800" dirty="0">
                <a:solidFill>
                  <a:schemeClr val="tx1"/>
                </a:solidFill>
              </a:rPr>
              <a:t>=HSRCTG=U </a:t>
            </a:r>
            <a:endParaRPr lang="en-US" altLang="zh-CN" sz="2800" dirty="0">
              <a:solidFill>
                <a:schemeClr val="tx1"/>
              </a:solidFill>
            </a:endParaRPr>
          </a:p>
          <a:p>
            <a:pPr eaLnBrk="1" hangingPunct="1">
              <a:lnSpc>
                <a:spcPct val="115000"/>
              </a:lnSpc>
              <a:buNone/>
            </a:pPr>
            <a:r>
              <a:rPr lang="en-US" altLang="zh-CN" sz="2800" b="0" dirty="0">
                <a:solidFill>
                  <a:schemeClr val="tx1"/>
                </a:solidFill>
                <a:ea typeface="黑体" panose="02010609060101010101" pitchFamily="49" charset="-122"/>
              </a:rPr>
              <a:t>      ∴  </a:t>
            </a:r>
            <a:r>
              <a:rPr lang="en-US" altLang="zh-CN" sz="2800" dirty="0">
                <a:solidFill>
                  <a:schemeClr val="tx1"/>
                </a:solidFill>
                <a:ea typeface="黑体" panose="02010609060101010101" pitchFamily="49" charset="-122"/>
              </a:rPr>
              <a:t>HS</a:t>
            </a:r>
            <a:r>
              <a:rPr lang="en-US" altLang="zh-CN" sz="2800" b="0" dirty="0">
                <a:solidFill>
                  <a:schemeClr val="tx1"/>
                </a:solidFill>
                <a:ea typeface="黑体" panose="02010609060101010101" pitchFamily="49" charset="-122"/>
              </a:rPr>
              <a:t> </a:t>
            </a:r>
            <a:r>
              <a:rPr lang="en-US" altLang="zh-CN" sz="2800" dirty="0">
                <a:solidFill>
                  <a:schemeClr val="tx1"/>
                </a:solidFill>
              </a:rPr>
              <a:t>→ U , HS</a:t>
            </a:r>
            <a:r>
              <a:rPr lang="zh-CN" altLang="en-US" sz="2800" dirty="0">
                <a:solidFill>
                  <a:schemeClr val="tx1"/>
                </a:solidFill>
              </a:rPr>
              <a:t>是</a:t>
            </a:r>
            <a:r>
              <a:rPr lang="en-US" altLang="zh-CN" sz="2800" dirty="0">
                <a:solidFill>
                  <a:schemeClr val="tx1"/>
                </a:solidFill>
              </a:rPr>
              <a:t>R</a:t>
            </a:r>
            <a:r>
              <a:rPr lang="zh-CN" altLang="en-US" sz="2800" dirty="0">
                <a:solidFill>
                  <a:schemeClr val="tx1"/>
                </a:solidFill>
              </a:rPr>
              <a:t>的候选码</a:t>
            </a:r>
            <a:r>
              <a:rPr lang="en-US" altLang="zh-CN" sz="2800" dirty="0">
                <a:solidFill>
                  <a:schemeClr val="tx1"/>
                </a:solidFill>
              </a:rPr>
              <a:t>, </a:t>
            </a:r>
            <a:r>
              <a:rPr lang="zh-CN" altLang="en-US" sz="2800" dirty="0">
                <a:solidFill>
                  <a:schemeClr val="tx1"/>
                </a:solidFill>
              </a:rPr>
              <a:t>易证是唯一候选码</a:t>
            </a:r>
            <a:endParaRPr lang="zh-CN" altLang="en-US" sz="2800" dirty="0">
              <a:solidFill>
                <a:schemeClr val="tx1"/>
              </a:solidFill>
            </a:endParaRPr>
          </a:p>
        </p:txBody>
      </p:sp>
      <p:sp>
        <p:nvSpPr>
          <p:cNvPr id="37892"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8915" name="Rectangle 2"/>
          <p:cNvSpPr>
            <a:spLocks noGrp="1"/>
          </p:cNvSpPr>
          <p:nvPr>
            <p:ph idx="1"/>
          </p:nvPr>
        </p:nvSpPr>
        <p:spPr>
          <a:xfrm>
            <a:off x="381000" y="736600"/>
            <a:ext cx="8610600" cy="5867400"/>
          </a:xfrm>
          <a:ln/>
        </p:spPr>
        <p:txBody>
          <a:bodyPr vert="horz" wrap="square" lIns="91440" tIns="45720" rIns="91440" bIns="45720" anchor="t" anchorCtr="0"/>
          <a:p>
            <a:pPr eaLnBrk="1" hangingPunct="1">
              <a:lnSpc>
                <a:spcPct val="115000"/>
              </a:lnSpc>
              <a:buNone/>
            </a:pPr>
            <a:r>
              <a:rPr lang="en-US" altLang="zh-CN" sz="2800" dirty="0">
                <a:solidFill>
                  <a:schemeClr val="tx1"/>
                </a:solidFill>
              </a:rPr>
              <a:t>(1) </a:t>
            </a:r>
            <a:r>
              <a:rPr lang="zh-CN" altLang="en-US" sz="2800" dirty="0">
                <a:solidFill>
                  <a:schemeClr val="tx1"/>
                </a:solidFill>
              </a:rPr>
              <a:t>考察</a:t>
            </a:r>
            <a:r>
              <a:rPr lang="en-US" altLang="zh-CN" sz="2800" i="1" dirty="0">
                <a:solidFill>
                  <a:schemeClr val="tx1"/>
                </a:solidFill>
              </a:rPr>
              <a:t>CS→G</a:t>
            </a:r>
            <a:r>
              <a:rPr lang="en-US" altLang="zh-CN" sz="2800" dirty="0">
                <a:solidFill>
                  <a:schemeClr val="tx1"/>
                </a:solidFill>
              </a:rPr>
              <a:t>,</a:t>
            </a:r>
            <a:r>
              <a:rPr lang="zh-CN" altLang="en-US" sz="2800" dirty="0">
                <a:solidFill>
                  <a:schemeClr val="tx1"/>
                </a:solidFill>
              </a:rPr>
              <a:t>决定因素不含码</a:t>
            </a:r>
            <a:r>
              <a:rPr lang="en-US" altLang="zh-CN" sz="2800" dirty="0">
                <a:solidFill>
                  <a:schemeClr val="tx1"/>
                </a:solidFill>
              </a:rPr>
              <a:t>. </a:t>
            </a:r>
            <a:endParaRPr lang="en-US" altLang="zh-CN" sz="2800" dirty="0">
              <a:solidFill>
                <a:schemeClr val="tx1"/>
              </a:solidFill>
            </a:endParaRPr>
          </a:p>
          <a:p>
            <a:pPr eaLnBrk="1" hangingPunct="1">
              <a:lnSpc>
                <a:spcPct val="115000"/>
              </a:lnSpc>
              <a:buNone/>
            </a:pPr>
            <a:r>
              <a:rPr lang="en-US" altLang="zh-CN" sz="2800" i="1" dirty="0">
                <a:solidFill>
                  <a:schemeClr val="tx1"/>
                </a:solidFill>
                <a:ea typeface="黑体" panose="02010609060101010101" pitchFamily="49" charset="-122"/>
              </a:rPr>
              <a:t>    ρ</a:t>
            </a:r>
            <a:r>
              <a:rPr lang="en-US" altLang="zh-CN" sz="2800" i="1" baseline="-25000" dirty="0">
                <a:solidFill>
                  <a:schemeClr val="tx1"/>
                </a:solidFill>
                <a:ea typeface="黑体" panose="02010609060101010101" pitchFamily="49" charset="-122"/>
              </a:rPr>
              <a:t>1</a:t>
            </a:r>
            <a:r>
              <a:rPr lang="en-US" altLang="zh-CN" sz="2800" i="1" dirty="0">
                <a:solidFill>
                  <a:schemeClr val="tx1"/>
                </a:solidFill>
                <a:ea typeface="黑体" panose="02010609060101010101" pitchFamily="49" charset="-122"/>
              </a:rPr>
              <a:t>={</a:t>
            </a:r>
            <a:r>
              <a:rPr lang="en-US" altLang="zh-CN" sz="2800" i="1" dirty="0">
                <a:ea typeface="黑体" panose="02010609060101010101" pitchFamily="49" charset="-122"/>
              </a:rPr>
              <a:t>CS</a:t>
            </a:r>
            <a:r>
              <a:rPr lang="en-US" altLang="zh-CN" sz="2800" i="1" dirty="0">
                <a:solidFill>
                  <a:schemeClr val="tx1"/>
                </a:solidFill>
                <a:ea typeface="黑体" panose="02010609060101010101" pitchFamily="49" charset="-122"/>
              </a:rPr>
              <a:t>G,CT</a:t>
            </a:r>
            <a:r>
              <a:rPr lang="en-US" altLang="zh-CN" sz="2800" i="1" dirty="0">
                <a:ea typeface="黑体" panose="02010609060101010101" pitchFamily="49" charset="-122"/>
              </a:rPr>
              <a:t>H</a:t>
            </a:r>
            <a:r>
              <a:rPr lang="en-US" altLang="zh-CN" sz="2800" i="1" dirty="0">
                <a:solidFill>
                  <a:schemeClr val="tx1"/>
                </a:solidFill>
                <a:ea typeface="黑体" panose="02010609060101010101" pitchFamily="49" charset="-122"/>
              </a:rPr>
              <a:t>R</a:t>
            </a:r>
            <a:r>
              <a:rPr lang="en-US" altLang="zh-CN" sz="2800" i="1" dirty="0">
                <a:ea typeface="黑体" panose="02010609060101010101" pitchFamily="49" charset="-122"/>
              </a:rPr>
              <a:t>S</a:t>
            </a:r>
            <a:r>
              <a:rPr lang="en-US" altLang="zh-CN" sz="2800" i="1" dirty="0">
                <a:solidFill>
                  <a:schemeClr val="tx1"/>
                </a:solidFill>
                <a:ea typeface="黑体" panose="02010609060101010101" pitchFamily="49" charset="-122"/>
              </a:rPr>
              <a:t>}, CSG∈BCNF</a:t>
            </a:r>
            <a:r>
              <a:rPr lang="en-US" altLang="zh-CN" sz="2800" b="0" i="1" dirty="0">
                <a:solidFill>
                  <a:schemeClr val="tx1"/>
                </a:solidFill>
                <a:ea typeface="黑体" panose="02010609060101010101" pitchFamily="49" charset="-122"/>
              </a:rPr>
              <a:t>, </a:t>
            </a:r>
            <a:r>
              <a:rPr lang="en-US" altLang="zh-CN" sz="2800" i="1" dirty="0">
                <a:solidFill>
                  <a:srgbClr val="0000CC"/>
                </a:solidFill>
                <a:ea typeface="黑体" panose="02010609060101010101" pitchFamily="49" charset="-122"/>
              </a:rPr>
              <a:t>CTHRS</a:t>
            </a:r>
            <a:r>
              <a:rPr lang="en-US" altLang="zh-CN" sz="2800" b="0" i="1" dirty="0">
                <a:solidFill>
                  <a:srgbClr val="0000CC"/>
                </a:solidFill>
                <a:ea typeface="黑体" panose="02010609060101010101" pitchFamily="49" charset="-122"/>
              </a:rPr>
              <a:t> </a:t>
            </a:r>
            <a:r>
              <a:rPr lang="en-US" altLang="zh-CN" sz="2800" i="1" dirty="0">
                <a:solidFill>
                  <a:srgbClr val="0000CC"/>
                </a:solidFill>
                <a:sym typeface="Symbol" panose="05050102010706020507" pitchFamily="18" charset="2"/>
              </a:rPr>
              <a:t></a:t>
            </a:r>
            <a:r>
              <a:rPr lang="en-US" altLang="zh-CN" sz="2800" i="1" dirty="0">
                <a:solidFill>
                  <a:srgbClr val="0000CC"/>
                </a:solidFill>
                <a:ea typeface="黑体" panose="02010609060101010101" pitchFamily="49" charset="-122"/>
              </a:rPr>
              <a:t> BCNF</a:t>
            </a:r>
            <a:endParaRPr lang="en-US" altLang="zh-CN" sz="2800" i="1" dirty="0">
              <a:solidFill>
                <a:srgbClr val="0000CC"/>
              </a:solidFill>
              <a:ea typeface="黑体" panose="02010609060101010101" pitchFamily="49" charset="-122"/>
            </a:endParaRPr>
          </a:p>
          <a:p>
            <a:pPr eaLnBrk="1" hangingPunct="1">
              <a:lnSpc>
                <a:spcPct val="115000"/>
              </a:lnSpc>
              <a:buNone/>
            </a:pPr>
            <a:r>
              <a:rPr lang="en-US" altLang="zh-CN" sz="2800" i="1" dirty="0">
                <a:solidFill>
                  <a:schemeClr val="tx1"/>
                </a:solidFill>
                <a:ea typeface="黑体" panose="02010609060101010101" pitchFamily="49" charset="-122"/>
              </a:rPr>
              <a:t>    </a:t>
            </a:r>
            <a:r>
              <a:rPr lang="en-US" altLang="zh-CN" sz="2800" i="1" dirty="0">
                <a:solidFill>
                  <a:schemeClr val="tx1"/>
                </a:solidFill>
                <a:sym typeface="Symbol" panose="05050102010706020507" pitchFamily="18" charset="2"/>
              </a:rPr>
              <a:t>∏</a:t>
            </a:r>
            <a:r>
              <a:rPr lang="en-US" altLang="zh-CN" sz="1800" i="1" dirty="0">
                <a:solidFill>
                  <a:schemeClr val="tx1"/>
                </a:solidFill>
              </a:rPr>
              <a:t>CSG</a:t>
            </a:r>
            <a:r>
              <a:rPr lang="en-US" altLang="zh-CN" sz="2800" i="1" dirty="0">
                <a:solidFill>
                  <a:schemeClr val="tx1"/>
                </a:solidFill>
                <a:sym typeface="Symbol" panose="05050102010706020507" pitchFamily="18" charset="2"/>
              </a:rPr>
              <a:t>(F) ={</a:t>
            </a:r>
            <a:r>
              <a:rPr lang="en-US" altLang="zh-CN" sz="2800" i="1" dirty="0">
                <a:solidFill>
                  <a:schemeClr val="tx1"/>
                </a:solidFill>
              </a:rPr>
              <a:t>CS→G</a:t>
            </a:r>
            <a:r>
              <a:rPr lang="en-US" altLang="zh-CN" sz="2800" i="1" dirty="0">
                <a:solidFill>
                  <a:schemeClr val="tx1"/>
                </a:solidFill>
                <a:sym typeface="Symbol" panose="05050102010706020507" pitchFamily="18" charset="2"/>
              </a:rPr>
              <a:t>}</a:t>
            </a:r>
            <a:endParaRPr lang="en-US" altLang="zh-CN" sz="2800" i="1" dirty="0">
              <a:solidFill>
                <a:schemeClr val="tx1"/>
              </a:solidFill>
              <a:sym typeface="Symbol" panose="05050102010706020507" pitchFamily="18" charset="2"/>
            </a:endParaRPr>
          </a:p>
          <a:p>
            <a:pPr eaLnBrk="1" hangingPunct="1">
              <a:lnSpc>
                <a:spcPct val="115000"/>
              </a:lnSpc>
              <a:buNone/>
            </a:pPr>
            <a:r>
              <a:rPr lang="en-US" altLang="zh-CN" sz="2800" i="1" dirty="0">
                <a:solidFill>
                  <a:schemeClr val="tx1"/>
                </a:solidFill>
                <a:sym typeface="Symbol" panose="05050102010706020507" pitchFamily="18" charset="2"/>
              </a:rPr>
              <a:t>    ∏</a:t>
            </a:r>
            <a:r>
              <a:rPr lang="en-US" altLang="zh-CN" sz="1800" i="1" dirty="0">
                <a:solidFill>
                  <a:schemeClr val="tx1"/>
                </a:solidFill>
              </a:rPr>
              <a:t>CTHRS</a:t>
            </a:r>
            <a:r>
              <a:rPr lang="en-US" altLang="zh-CN" sz="2800" i="1" dirty="0">
                <a:solidFill>
                  <a:schemeClr val="tx1"/>
                </a:solidFill>
                <a:sym typeface="Symbol" panose="05050102010706020507" pitchFamily="18" charset="2"/>
              </a:rPr>
              <a:t>(F) =</a:t>
            </a:r>
            <a:r>
              <a:rPr lang="en-US" altLang="zh-CN" sz="2800" i="1" dirty="0">
                <a:solidFill>
                  <a:srgbClr val="0000CC"/>
                </a:solidFill>
                <a:sym typeface="Symbol" panose="05050102010706020507" pitchFamily="18" charset="2"/>
              </a:rPr>
              <a:t>{</a:t>
            </a:r>
            <a:r>
              <a:rPr lang="en-US" altLang="zh-CN" sz="2800" i="1" dirty="0">
                <a:solidFill>
                  <a:srgbClr val="0000CC"/>
                </a:solidFill>
              </a:rPr>
              <a:t>C→T, HR→C, HT→R, HS→R</a:t>
            </a:r>
            <a:r>
              <a:rPr lang="en-US" altLang="zh-CN" sz="2800" i="1" dirty="0">
                <a:solidFill>
                  <a:srgbClr val="0000CC"/>
                </a:solidFill>
                <a:sym typeface="Symbol" panose="05050102010706020507" pitchFamily="18" charset="2"/>
              </a:rPr>
              <a:t>}</a:t>
            </a:r>
            <a:endParaRPr lang="en-US" altLang="zh-CN" sz="2800" i="1" dirty="0">
              <a:solidFill>
                <a:srgbClr val="0000CC"/>
              </a:solidFill>
              <a:sym typeface="Symbol" panose="05050102010706020507" pitchFamily="18" charset="2"/>
            </a:endParaRPr>
          </a:p>
          <a:p>
            <a:pPr eaLnBrk="1" hangingPunct="1">
              <a:lnSpc>
                <a:spcPct val="115000"/>
              </a:lnSpc>
              <a:buNone/>
            </a:pPr>
            <a:r>
              <a:rPr lang="en-US" altLang="zh-CN" sz="2800" dirty="0">
                <a:solidFill>
                  <a:schemeClr val="tx1"/>
                </a:solidFill>
                <a:sym typeface="Symbol" panose="05050102010706020507" pitchFamily="18" charset="2"/>
              </a:rPr>
              <a:t>(2) </a:t>
            </a:r>
            <a:r>
              <a:rPr lang="zh-CN" altLang="en-US" sz="2800" dirty="0">
                <a:solidFill>
                  <a:schemeClr val="tx1"/>
                </a:solidFill>
                <a:sym typeface="Symbol" panose="05050102010706020507" pitchFamily="18" charset="2"/>
              </a:rPr>
              <a:t>继续分解</a:t>
            </a:r>
            <a:r>
              <a:rPr lang="en-US" altLang="zh-CN" sz="2800" i="1" dirty="0">
                <a:solidFill>
                  <a:schemeClr val="tx1"/>
                </a:solidFill>
                <a:sym typeface="Symbol" panose="05050102010706020507" pitchFamily="18" charset="2"/>
              </a:rPr>
              <a:t>CTHRS</a:t>
            </a:r>
            <a:r>
              <a:rPr lang="en-US" altLang="zh-CN" sz="2800" dirty="0">
                <a:solidFill>
                  <a:schemeClr val="tx1"/>
                </a:solidFill>
                <a:sym typeface="Symbol" panose="05050102010706020507" pitchFamily="18" charset="2"/>
              </a:rPr>
              <a:t>,</a:t>
            </a:r>
            <a:r>
              <a:rPr lang="zh-CN" altLang="en-US" sz="2800" dirty="0">
                <a:solidFill>
                  <a:schemeClr val="tx1"/>
                </a:solidFill>
                <a:sym typeface="Symbol" panose="05050102010706020507" pitchFamily="18" charset="2"/>
              </a:rPr>
              <a:t>考察</a:t>
            </a:r>
            <a:r>
              <a:rPr lang="en-US" altLang="zh-CN" sz="2800" i="1" dirty="0">
                <a:solidFill>
                  <a:schemeClr val="tx1"/>
                </a:solidFill>
              </a:rPr>
              <a:t>C→T</a:t>
            </a:r>
            <a:r>
              <a:rPr lang="zh-CN" altLang="en-US" sz="2800" i="1" dirty="0">
                <a:solidFill>
                  <a:schemeClr val="tx1"/>
                </a:solidFill>
              </a:rPr>
              <a:t>，</a:t>
            </a:r>
            <a:r>
              <a:rPr lang="zh-CN" altLang="en-US" sz="2800" dirty="0">
                <a:solidFill>
                  <a:schemeClr val="tx1"/>
                </a:solidFill>
              </a:rPr>
              <a:t>决定因素不含码</a:t>
            </a:r>
            <a:r>
              <a:rPr lang="en-US" altLang="zh-CN" sz="2800" dirty="0">
                <a:solidFill>
                  <a:schemeClr val="tx1"/>
                </a:solidFill>
              </a:rPr>
              <a:t>.</a:t>
            </a:r>
            <a:endParaRPr lang="en-US" altLang="zh-CN" sz="2800" dirty="0">
              <a:solidFill>
                <a:schemeClr val="tx1"/>
              </a:solidFill>
            </a:endParaRPr>
          </a:p>
          <a:p>
            <a:pPr eaLnBrk="1" hangingPunct="1">
              <a:lnSpc>
                <a:spcPct val="115000"/>
              </a:lnSpc>
              <a:buNone/>
            </a:pPr>
            <a:r>
              <a:rPr lang="en-US" altLang="zh-CN" sz="2800" i="1" dirty="0">
                <a:solidFill>
                  <a:schemeClr val="tx1"/>
                </a:solidFill>
                <a:ea typeface="黑体" panose="02010609060101010101" pitchFamily="49" charset="-122"/>
              </a:rPr>
              <a:t>    ρ</a:t>
            </a:r>
            <a:r>
              <a:rPr lang="en-US" altLang="zh-CN" sz="2800" i="1" baseline="-25000" dirty="0">
                <a:solidFill>
                  <a:schemeClr val="tx1"/>
                </a:solidFill>
                <a:ea typeface="黑体" panose="02010609060101010101" pitchFamily="49" charset="-122"/>
              </a:rPr>
              <a:t>2</a:t>
            </a:r>
            <a:r>
              <a:rPr lang="en-US" altLang="zh-CN" sz="2800" i="1" dirty="0">
                <a:solidFill>
                  <a:schemeClr val="tx1"/>
                </a:solidFill>
                <a:ea typeface="黑体" panose="02010609060101010101" pitchFamily="49" charset="-122"/>
              </a:rPr>
              <a:t>={</a:t>
            </a:r>
            <a:r>
              <a:rPr lang="en-US" altLang="zh-CN" sz="2800" i="1" dirty="0">
                <a:ea typeface="黑体" panose="02010609060101010101" pitchFamily="49" charset="-122"/>
              </a:rPr>
              <a:t>CS</a:t>
            </a:r>
            <a:r>
              <a:rPr lang="en-US" altLang="zh-CN" sz="2800" i="1" dirty="0">
                <a:solidFill>
                  <a:schemeClr val="tx1"/>
                </a:solidFill>
                <a:ea typeface="黑体" panose="02010609060101010101" pitchFamily="49" charset="-122"/>
              </a:rPr>
              <a:t>G,</a:t>
            </a:r>
            <a:r>
              <a:rPr lang="en-US" altLang="zh-CN" sz="2800" i="1" dirty="0">
                <a:ea typeface="黑体" panose="02010609060101010101" pitchFamily="49" charset="-122"/>
              </a:rPr>
              <a:t>C</a:t>
            </a:r>
            <a:r>
              <a:rPr lang="en-US" altLang="zh-CN" sz="2800" i="1" dirty="0">
                <a:solidFill>
                  <a:schemeClr val="tx1"/>
                </a:solidFill>
                <a:ea typeface="黑体" panose="02010609060101010101" pitchFamily="49" charset="-122"/>
              </a:rPr>
              <a:t>T, C</a:t>
            </a:r>
            <a:r>
              <a:rPr lang="en-US" altLang="zh-CN" sz="2800" i="1" dirty="0">
                <a:ea typeface="黑体" panose="02010609060101010101" pitchFamily="49" charset="-122"/>
              </a:rPr>
              <a:t>H</a:t>
            </a:r>
            <a:r>
              <a:rPr lang="en-US" altLang="zh-CN" sz="2800" i="1" dirty="0">
                <a:solidFill>
                  <a:schemeClr val="tx1"/>
                </a:solidFill>
                <a:ea typeface="黑体" panose="02010609060101010101" pitchFamily="49" charset="-122"/>
              </a:rPr>
              <a:t>R</a:t>
            </a:r>
            <a:r>
              <a:rPr lang="en-US" altLang="zh-CN" sz="2800" i="1" dirty="0">
                <a:ea typeface="黑体" panose="02010609060101010101" pitchFamily="49" charset="-122"/>
              </a:rPr>
              <a:t>S</a:t>
            </a:r>
            <a:r>
              <a:rPr lang="en-US" altLang="zh-CN" sz="2800" i="1" dirty="0">
                <a:solidFill>
                  <a:schemeClr val="tx1"/>
                </a:solidFill>
                <a:ea typeface="黑体" panose="02010609060101010101" pitchFamily="49" charset="-122"/>
              </a:rPr>
              <a:t>}, CT∈BCNF, </a:t>
            </a:r>
            <a:r>
              <a:rPr lang="en-US" altLang="zh-CN" sz="2800" i="1" dirty="0">
                <a:solidFill>
                  <a:srgbClr val="0000CC"/>
                </a:solidFill>
                <a:ea typeface="黑体" panose="02010609060101010101" pitchFamily="49" charset="-122"/>
              </a:rPr>
              <a:t>CHRS</a:t>
            </a:r>
            <a:r>
              <a:rPr lang="en-US" altLang="zh-CN" sz="2800" b="0" i="1" dirty="0">
                <a:solidFill>
                  <a:srgbClr val="0000CC"/>
                </a:solidFill>
                <a:ea typeface="黑体" panose="02010609060101010101" pitchFamily="49" charset="-122"/>
              </a:rPr>
              <a:t> </a:t>
            </a:r>
            <a:r>
              <a:rPr lang="en-US" altLang="zh-CN" sz="2800" i="1" dirty="0">
                <a:solidFill>
                  <a:srgbClr val="0000CC"/>
                </a:solidFill>
                <a:sym typeface="Symbol" panose="05050102010706020507" pitchFamily="18" charset="2"/>
              </a:rPr>
              <a:t></a:t>
            </a:r>
            <a:r>
              <a:rPr lang="en-US" altLang="zh-CN" sz="2800" i="1" dirty="0">
                <a:solidFill>
                  <a:srgbClr val="0000CC"/>
                </a:solidFill>
                <a:ea typeface="黑体" panose="02010609060101010101" pitchFamily="49" charset="-122"/>
              </a:rPr>
              <a:t> BCNF</a:t>
            </a:r>
            <a:endParaRPr lang="en-US" altLang="zh-CN" sz="2800" i="1" dirty="0">
              <a:solidFill>
                <a:srgbClr val="0000CC"/>
              </a:solidFill>
              <a:ea typeface="黑体" panose="02010609060101010101" pitchFamily="49" charset="-122"/>
            </a:endParaRPr>
          </a:p>
          <a:p>
            <a:pPr eaLnBrk="1" hangingPunct="1">
              <a:lnSpc>
                <a:spcPct val="115000"/>
              </a:lnSpc>
              <a:buNone/>
            </a:pPr>
            <a:r>
              <a:rPr lang="en-US" altLang="zh-CN" sz="2800" i="1" dirty="0">
                <a:solidFill>
                  <a:schemeClr val="tx1"/>
                </a:solidFill>
                <a:sym typeface="Symbol" panose="05050102010706020507" pitchFamily="18" charset="2"/>
              </a:rPr>
              <a:t>    ∏</a:t>
            </a:r>
            <a:r>
              <a:rPr lang="en-US" altLang="zh-CN" sz="1800" i="1" dirty="0">
                <a:solidFill>
                  <a:schemeClr val="tx1"/>
                </a:solidFill>
              </a:rPr>
              <a:t>CT</a:t>
            </a:r>
            <a:r>
              <a:rPr lang="en-US" altLang="zh-CN" sz="2800" i="1" dirty="0">
                <a:solidFill>
                  <a:schemeClr val="tx1"/>
                </a:solidFill>
                <a:sym typeface="Symbol" panose="05050102010706020507" pitchFamily="18" charset="2"/>
              </a:rPr>
              <a:t>(F) ={</a:t>
            </a:r>
            <a:r>
              <a:rPr lang="en-US" altLang="zh-CN" sz="2800" i="1" dirty="0">
                <a:solidFill>
                  <a:schemeClr val="tx1"/>
                </a:solidFill>
              </a:rPr>
              <a:t>C→T</a:t>
            </a:r>
            <a:r>
              <a:rPr lang="en-US" altLang="zh-CN" sz="2800" i="1" dirty="0">
                <a:solidFill>
                  <a:schemeClr val="tx1"/>
                </a:solidFill>
                <a:sym typeface="Symbol" panose="05050102010706020507" pitchFamily="18" charset="2"/>
              </a:rPr>
              <a:t>}</a:t>
            </a:r>
            <a:endParaRPr lang="en-US" altLang="zh-CN" sz="2800" i="1" dirty="0">
              <a:solidFill>
                <a:schemeClr val="tx1"/>
              </a:solidFill>
              <a:sym typeface="Symbol" panose="05050102010706020507" pitchFamily="18" charset="2"/>
            </a:endParaRPr>
          </a:p>
          <a:p>
            <a:pPr eaLnBrk="1" hangingPunct="1">
              <a:lnSpc>
                <a:spcPct val="115000"/>
              </a:lnSpc>
              <a:buNone/>
            </a:pPr>
            <a:r>
              <a:rPr lang="en-US" altLang="zh-CN" sz="2800" i="1" dirty="0">
                <a:solidFill>
                  <a:schemeClr val="tx1"/>
                </a:solidFill>
                <a:sym typeface="Symbol" panose="05050102010706020507" pitchFamily="18" charset="2"/>
              </a:rPr>
              <a:t>    ∏</a:t>
            </a:r>
            <a:r>
              <a:rPr lang="en-US" altLang="zh-CN" sz="1800" i="1" dirty="0">
                <a:solidFill>
                  <a:schemeClr val="tx1"/>
                </a:solidFill>
              </a:rPr>
              <a:t>CHRS</a:t>
            </a:r>
            <a:r>
              <a:rPr lang="en-US" altLang="zh-CN" sz="2800" i="1" dirty="0">
                <a:solidFill>
                  <a:schemeClr val="tx1"/>
                </a:solidFill>
                <a:sym typeface="Symbol" panose="05050102010706020507" pitchFamily="18" charset="2"/>
              </a:rPr>
              <a:t>(F) =</a:t>
            </a:r>
            <a:r>
              <a:rPr lang="en-US" altLang="zh-CN" sz="2800" i="1" dirty="0">
                <a:solidFill>
                  <a:srgbClr val="0000CC"/>
                </a:solidFill>
                <a:sym typeface="Symbol" panose="05050102010706020507" pitchFamily="18" charset="2"/>
              </a:rPr>
              <a:t>{</a:t>
            </a:r>
            <a:r>
              <a:rPr lang="en-US" altLang="zh-CN" sz="2800" i="1" dirty="0">
                <a:solidFill>
                  <a:srgbClr val="0000CC"/>
                </a:solidFill>
              </a:rPr>
              <a:t>HR→C, HS→R</a:t>
            </a:r>
            <a:r>
              <a:rPr lang="en-US" altLang="zh-CN" sz="2800" i="1" dirty="0">
                <a:solidFill>
                  <a:srgbClr val="0000CC"/>
                </a:solidFill>
                <a:sym typeface="Symbol" panose="05050102010706020507" pitchFamily="18" charset="2"/>
              </a:rPr>
              <a:t>}</a:t>
            </a:r>
            <a:endParaRPr lang="en-US" altLang="zh-CN" sz="2800" i="1" dirty="0">
              <a:solidFill>
                <a:srgbClr val="0000CC"/>
              </a:solidFill>
              <a:sym typeface="Symbol" panose="05050102010706020507" pitchFamily="18" charset="2"/>
            </a:endParaRPr>
          </a:p>
          <a:p>
            <a:pPr eaLnBrk="1" hangingPunct="1">
              <a:lnSpc>
                <a:spcPct val="115000"/>
              </a:lnSpc>
              <a:buNone/>
            </a:pPr>
            <a:r>
              <a:rPr lang="en-US" altLang="zh-CN" sz="2800" dirty="0">
                <a:solidFill>
                  <a:schemeClr val="tx1"/>
                </a:solidFill>
                <a:ea typeface="黑体" panose="02010609060101010101" pitchFamily="49" charset="-122"/>
              </a:rPr>
              <a:t>(3) </a:t>
            </a:r>
            <a:r>
              <a:rPr lang="zh-CN" altLang="en-US" sz="2800" dirty="0">
                <a:solidFill>
                  <a:schemeClr val="tx1"/>
                </a:solidFill>
              </a:rPr>
              <a:t>继续分解</a:t>
            </a:r>
            <a:r>
              <a:rPr lang="en-US" altLang="zh-CN" sz="2800" i="1" dirty="0">
                <a:solidFill>
                  <a:schemeClr val="tx1"/>
                </a:solidFill>
              </a:rPr>
              <a:t>CHRS</a:t>
            </a:r>
            <a:r>
              <a:rPr lang="en-US" altLang="zh-CN" sz="2800" dirty="0">
                <a:solidFill>
                  <a:schemeClr val="tx1"/>
                </a:solidFill>
              </a:rPr>
              <a:t>,</a:t>
            </a:r>
            <a:r>
              <a:rPr lang="zh-CN" altLang="en-US" sz="2800" dirty="0">
                <a:solidFill>
                  <a:schemeClr val="tx1"/>
                </a:solidFill>
              </a:rPr>
              <a:t>考察</a:t>
            </a:r>
            <a:r>
              <a:rPr lang="en-US" altLang="zh-CN" sz="2800" i="1" dirty="0">
                <a:solidFill>
                  <a:schemeClr val="tx1"/>
                </a:solidFill>
              </a:rPr>
              <a:t>HR→C. </a:t>
            </a:r>
            <a:endParaRPr lang="en-US" altLang="zh-CN" sz="2800" i="1" dirty="0">
              <a:solidFill>
                <a:schemeClr val="tx1"/>
              </a:solidFill>
            </a:endParaRPr>
          </a:p>
          <a:p>
            <a:pPr eaLnBrk="1" hangingPunct="1">
              <a:lnSpc>
                <a:spcPct val="115000"/>
              </a:lnSpc>
              <a:buNone/>
            </a:pPr>
            <a:r>
              <a:rPr lang="en-US" altLang="zh-CN" sz="2800" i="1" dirty="0">
                <a:solidFill>
                  <a:schemeClr val="tx1"/>
                </a:solidFill>
                <a:ea typeface="黑体" panose="02010609060101010101" pitchFamily="49" charset="-122"/>
              </a:rPr>
              <a:t>   ρ</a:t>
            </a:r>
            <a:r>
              <a:rPr lang="en-US" altLang="zh-CN" sz="2800" i="1" baseline="-25000" dirty="0">
                <a:solidFill>
                  <a:schemeClr val="tx1"/>
                </a:solidFill>
                <a:ea typeface="黑体" panose="02010609060101010101" pitchFamily="49" charset="-122"/>
              </a:rPr>
              <a:t>3</a:t>
            </a:r>
            <a:r>
              <a:rPr lang="en-US" altLang="zh-CN" sz="2800" i="1" dirty="0">
                <a:solidFill>
                  <a:schemeClr val="tx1"/>
                </a:solidFill>
                <a:ea typeface="黑体" panose="02010609060101010101" pitchFamily="49" charset="-122"/>
              </a:rPr>
              <a:t>={</a:t>
            </a:r>
            <a:r>
              <a:rPr lang="en-US" altLang="zh-CN" sz="2800" i="1" dirty="0">
                <a:ea typeface="黑体" panose="02010609060101010101" pitchFamily="49" charset="-122"/>
              </a:rPr>
              <a:t>CS</a:t>
            </a:r>
            <a:r>
              <a:rPr lang="en-US" altLang="zh-CN" sz="2800" i="1" dirty="0">
                <a:solidFill>
                  <a:schemeClr val="tx1"/>
                </a:solidFill>
                <a:ea typeface="黑体" panose="02010609060101010101" pitchFamily="49" charset="-122"/>
              </a:rPr>
              <a:t>G,</a:t>
            </a:r>
            <a:r>
              <a:rPr lang="en-US" altLang="zh-CN" sz="2800" i="1" dirty="0">
                <a:ea typeface="黑体" panose="02010609060101010101" pitchFamily="49" charset="-122"/>
              </a:rPr>
              <a:t>C</a:t>
            </a:r>
            <a:r>
              <a:rPr lang="en-US" altLang="zh-CN" sz="2800" i="1" dirty="0">
                <a:solidFill>
                  <a:schemeClr val="tx1"/>
                </a:solidFill>
                <a:ea typeface="黑体" panose="02010609060101010101" pitchFamily="49" charset="-122"/>
              </a:rPr>
              <a:t>T, </a:t>
            </a:r>
            <a:r>
              <a:rPr lang="en-US" altLang="zh-CN" sz="2800" i="1" dirty="0">
                <a:ea typeface="黑体" panose="02010609060101010101" pitchFamily="49" charset="-122"/>
              </a:rPr>
              <a:t>HR</a:t>
            </a:r>
            <a:r>
              <a:rPr lang="en-US" altLang="zh-CN" sz="2800" i="1" dirty="0">
                <a:solidFill>
                  <a:schemeClr val="tx1"/>
                </a:solidFill>
                <a:ea typeface="黑体" panose="02010609060101010101" pitchFamily="49" charset="-122"/>
              </a:rPr>
              <a:t>C, </a:t>
            </a:r>
            <a:r>
              <a:rPr lang="en-US" altLang="zh-CN" sz="2800" i="1" dirty="0">
                <a:ea typeface="黑体" panose="02010609060101010101" pitchFamily="49" charset="-122"/>
              </a:rPr>
              <a:t>H</a:t>
            </a:r>
            <a:r>
              <a:rPr lang="en-US" altLang="zh-CN" sz="2800" i="1" dirty="0">
                <a:solidFill>
                  <a:schemeClr val="tx1"/>
                </a:solidFill>
                <a:ea typeface="黑体" panose="02010609060101010101" pitchFamily="49" charset="-122"/>
              </a:rPr>
              <a:t>R</a:t>
            </a:r>
            <a:r>
              <a:rPr lang="en-US" altLang="zh-CN" sz="2800" i="1" dirty="0">
                <a:ea typeface="黑体" panose="02010609060101010101" pitchFamily="49" charset="-122"/>
              </a:rPr>
              <a:t>S</a:t>
            </a:r>
            <a:r>
              <a:rPr lang="en-US" altLang="zh-CN" sz="2800" i="1" dirty="0">
                <a:solidFill>
                  <a:schemeClr val="tx1"/>
                </a:solidFill>
                <a:ea typeface="黑体" panose="02010609060101010101" pitchFamily="49" charset="-122"/>
              </a:rPr>
              <a:t>}</a:t>
            </a:r>
            <a:endParaRPr lang="en-US" altLang="zh-CN" sz="2800" i="1" dirty="0">
              <a:solidFill>
                <a:srgbClr val="0000CC"/>
              </a:solidFill>
              <a:ea typeface="黑体" panose="02010609060101010101" pitchFamily="49" charset="-122"/>
            </a:endParaRPr>
          </a:p>
        </p:txBody>
      </p:sp>
      <p:sp>
        <p:nvSpPr>
          <p:cNvPr id="38916"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9939" name="Rectangle 2"/>
          <p:cNvSpPr>
            <a:spLocks noGrp="1"/>
          </p:cNvSpPr>
          <p:nvPr>
            <p:ph idx="1"/>
          </p:nvPr>
        </p:nvSpPr>
        <p:spPr>
          <a:xfrm>
            <a:off x="228600" y="685800"/>
            <a:ext cx="8610600" cy="5867400"/>
          </a:xfrm>
          <a:ln/>
        </p:spPr>
        <p:txBody>
          <a:bodyPr vert="horz" wrap="square" lIns="91440" tIns="45720" rIns="91440" bIns="45720" anchor="t" anchorCtr="0"/>
          <a:p>
            <a:pPr eaLnBrk="1" hangingPunct="1">
              <a:lnSpc>
                <a:spcPct val="115000"/>
              </a:lnSpc>
              <a:buNone/>
            </a:pPr>
            <a:r>
              <a:rPr lang="en-US" altLang="zh-CN" sz="2800" i="1" dirty="0">
                <a:ea typeface="黑体" panose="02010609060101010101" pitchFamily="49" charset="-122"/>
              </a:rPr>
              <a:t>    CS</a:t>
            </a:r>
            <a:r>
              <a:rPr lang="en-US" altLang="zh-CN" sz="2800" i="1" dirty="0">
                <a:solidFill>
                  <a:schemeClr val="tx1"/>
                </a:solidFill>
                <a:ea typeface="黑体" panose="02010609060101010101" pitchFamily="49" charset="-122"/>
              </a:rPr>
              <a:t>G: </a:t>
            </a:r>
            <a:r>
              <a:rPr lang="zh-CN" altLang="en-US" sz="2800" i="1" dirty="0">
                <a:solidFill>
                  <a:schemeClr val="tx1"/>
                </a:solidFill>
              </a:rPr>
              <a:t>学生课程与成绩</a:t>
            </a:r>
            <a:endParaRPr lang="zh-CN" altLang="en-US" sz="2800" i="1" dirty="0">
              <a:solidFill>
                <a:schemeClr val="tx1"/>
              </a:solidFill>
            </a:endParaRPr>
          </a:p>
          <a:p>
            <a:pPr eaLnBrk="1" hangingPunct="1">
              <a:lnSpc>
                <a:spcPct val="115000"/>
              </a:lnSpc>
              <a:buNone/>
            </a:pPr>
            <a:r>
              <a:rPr lang="zh-CN" altLang="en-US" sz="2800" i="1" dirty="0">
                <a:solidFill>
                  <a:schemeClr val="tx1"/>
                </a:solidFill>
                <a:ea typeface="黑体" panose="02010609060101010101" pitchFamily="49" charset="-122"/>
              </a:rPr>
              <a:t>    </a:t>
            </a:r>
            <a:r>
              <a:rPr lang="en-US" altLang="zh-CN" sz="2800" i="1" dirty="0">
                <a:ea typeface="黑体" panose="02010609060101010101" pitchFamily="49" charset="-122"/>
              </a:rPr>
              <a:t>C</a:t>
            </a:r>
            <a:r>
              <a:rPr lang="en-US" altLang="zh-CN" sz="2800" i="1" dirty="0">
                <a:solidFill>
                  <a:schemeClr val="tx1"/>
                </a:solidFill>
                <a:ea typeface="黑体" panose="02010609060101010101" pitchFamily="49" charset="-122"/>
              </a:rPr>
              <a:t>T: </a:t>
            </a:r>
            <a:r>
              <a:rPr lang="zh-CN" altLang="en-US" sz="2800" i="1" dirty="0">
                <a:solidFill>
                  <a:schemeClr val="tx1"/>
                </a:solidFill>
              </a:rPr>
              <a:t>各门课程的任课老师</a:t>
            </a:r>
            <a:endParaRPr lang="zh-CN" altLang="en-US" sz="2800" i="1" dirty="0">
              <a:solidFill>
                <a:schemeClr val="tx1"/>
              </a:solidFill>
            </a:endParaRPr>
          </a:p>
          <a:p>
            <a:pPr eaLnBrk="1" hangingPunct="1">
              <a:lnSpc>
                <a:spcPct val="115000"/>
              </a:lnSpc>
              <a:buNone/>
            </a:pPr>
            <a:r>
              <a:rPr lang="zh-CN" altLang="en-US" sz="2800" i="1" dirty="0">
                <a:solidFill>
                  <a:schemeClr val="tx1"/>
                </a:solidFill>
                <a:ea typeface="黑体" panose="02010609060101010101" pitchFamily="49" charset="-122"/>
              </a:rPr>
              <a:t>    </a:t>
            </a:r>
            <a:r>
              <a:rPr lang="en-US" altLang="zh-CN" sz="2800" i="1" dirty="0">
                <a:ea typeface="黑体" panose="02010609060101010101" pitchFamily="49" charset="-122"/>
              </a:rPr>
              <a:t>HR</a:t>
            </a:r>
            <a:r>
              <a:rPr lang="en-US" altLang="zh-CN" sz="2800" i="1" dirty="0">
                <a:solidFill>
                  <a:schemeClr val="tx1"/>
                </a:solidFill>
                <a:ea typeface="黑体" panose="02010609060101010101" pitchFamily="49" charset="-122"/>
              </a:rPr>
              <a:t>C: </a:t>
            </a:r>
            <a:r>
              <a:rPr lang="zh-CN" altLang="en-US" sz="2800" i="1" dirty="0">
                <a:solidFill>
                  <a:schemeClr val="tx1"/>
                </a:solidFill>
              </a:rPr>
              <a:t>课表</a:t>
            </a:r>
            <a:r>
              <a:rPr lang="en-US" altLang="zh-CN" sz="2800" i="1" dirty="0">
                <a:solidFill>
                  <a:schemeClr val="tx1"/>
                </a:solidFill>
              </a:rPr>
              <a:t>(</a:t>
            </a:r>
            <a:r>
              <a:rPr lang="zh-CN" altLang="en-US" sz="2800" i="1" dirty="0">
                <a:solidFill>
                  <a:schemeClr val="tx1"/>
                </a:solidFill>
              </a:rPr>
              <a:t>什么时间，在什么教室，上什么课</a:t>
            </a:r>
            <a:r>
              <a:rPr lang="en-US" altLang="zh-CN" sz="2800" i="1" dirty="0">
                <a:solidFill>
                  <a:schemeClr val="tx1"/>
                </a:solidFill>
              </a:rPr>
              <a:t>)</a:t>
            </a:r>
            <a:endParaRPr lang="en-US" altLang="zh-CN" sz="2800" i="1" dirty="0">
              <a:solidFill>
                <a:schemeClr val="tx1"/>
              </a:solidFill>
            </a:endParaRPr>
          </a:p>
          <a:p>
            <a:pPr eaLnBrk="1" hangingPunct="1">
              <a:lnSpc>
                <a:spcPct val="115000"/>
              </a:lnSpc>
              <a:buNone/>
            </a:pPr>
            <a:r>
              <a:rPr lang="en-US" altLang="zh-CN" sz="2800" i="1" dirty="0">
                <a:solidFill>
                  <a:schemeClr val="tx1"/>
                </a:solidFill>
                <a:ea typeface="黑体" panose="02010609060101010101" pitchFamily="49" charset="-122"/>
              </a:rPr>
              <a:t>    </a:t>
            </a:r>
            <a:r>
              <a:rPr lang="en-US" altLang="zh-CN" sz="2800" i="1" dirty="0">
                <a:ea typeface="黑体" panose="02010609060101010101" pitchFamily="49" charset="-122"/>
              </a:rPr>
              <a:t>H</a:t>
            </a:r>
            <a:r>
              <a:rPr lang="en-US" altLang="zh-CN" sz="2800" i="1" dirty="0">
                <a:solidFill>
                  <a:schemeClr val="tx1"/>
                </a:solidFill>
                <a:ea typeface="黑体" panose="02010609060101010101" pitchFamily="49" charset="-122"/>
              </a:rPr>
              <a:t>R</a:t>
            </a:r>
            <a:r>
              <a:rPr lang="en-US" altLang="zh-CN" sz="2800" i="1" dirty="0">
                <a:ea typeface="黑体" panose="02010609060101010101" pitchFamily="49" charset="-122"/>
              </a:rPr>
              <a:t>S</a:t>
            </a:r>
            <a:r>
              <a:rPr lang="en-US" altLang="zh-CN" sz="2800" i="1" dirty="0">
                <a:solidFill>
                  <a:schemeClr val="tx1"/>
                </a:solidFill>
                <a:sym typeface="Symbol" panose="05050102010706020507" pitchFamily="18" charset="2"/>
              </a:rPr>
              <a:t> : </a:t>
            </a:r>
            <a:r>
              <a:rPr lang="zh-CN" altLang="en-US" sz="2800" i="1" dirty="0">
                <a:solidFill>
                  <a:schemeClr val="tx1"/>
                </a:solidFill>
                <a:sym typeface="Symbol" panose="05050102010706020507" pitchFamily="18" charset="2"/>
              </a:rPr>
              <a:t>学生课表</a:t>
            </a:r>
            <a:r>
              <a:rPr lang="en-US" altLang="zh-CN" sz="2800" i="1" dirty="0">
                <a:solidFill>
                  <a:schemeClr val="tx1"/>
                </a:solidFill>
                <a:sym typeface="Symbol" panose="05050102010706020507" pitchFamily="18" charset="2"/>
              </a:rPr>
              <a:t>(</a:t>
            </a:r>
            <a:r>
              <a:rPr lang="zh-CN" altLang="en-US" sz="2800" i="1" dirty="0">
                <a:solidFill>
                  <a:schemeClr val="tx1"/>
                </a:solidFill>
                <a:sym typeface="Symbol" panose="05050102010706020507" pitchFamily="18" charset="2"/>
              </a:rPr>
              <a:t>什么学生，什么时间该去什么教室</a:t>
            </a:r>
            <a:r>
              <a:rPr lang="en-US" altLang="zh-CN" sz="2800" i="1" dirty="0">
                <a:solidFill>
                  <a:schemeClr val="tx1"/>
                </a:solidFill>
                <a:sym typeface="Symbol" panose="05050102010706020507" pitchFamily="18" charset="2"/>
              </a:rPr>
              <a:t>)</a:t>
            </a:r>
            <a:endParaRPr lang="en-US" altLang="zh-CN" sz="2800" i="1" dirty="0">
              <a:solidFill>
                <a:schemeClr val="tx1"/>
              </a:solidFill>
              <a:sym typeface="Symbol" panose="05050102010706020507" pitchFamily="18" charset="2"/>
            </a:endParaRPr>
          </a:p>
          <a:p>
            <a:pPr eaLnBrk="1" hangingPunct="1">
              <a:lnSpc>
                <a:spcPct val="115000"/>
              </a:lnSpc>
              <a:buNone/>
            </a:pPr>
            <a:r>
              <a:rPr lang="en-US" altLang="zh-CN" sz="2800" i="1" dirty="0">
                <a:solidFill>
                  <a:schemeClr val="tx1"/>
                </a:solidFill>
                <a:sym typeface="Symbol" panose="05050102010706020507" pitchFamily="18" charset="2"/>
              </a:rPr>
              <a:t>    ∏</a:t>
            </a:r>
            <a:r>
              <a:rPr lang="en-US" altLang="zh-CN" sz="1800" i="1" dirty="0">
                <a:solidFill>
                  <a:schemeClr val="tx1"/>
                </a:solidFill>
              </a:rPr>
              <a:t>CSG</a:t>
            </a:r>
            <a:r>
              <a:rPr lang="en-US" altLang="zh-CN" sz="2800" i="1" dirty="0">
                <a:solidFill>
                  <a:schemeClr val="tx1"/>
                </a:solidFill>
                <a:sym typeface="Symbol" panose="05050102010706020507" pitchFamily="18" charset="2"/>
              </a:rPr>
              <a:t>(F) = {</a:t>
            </a:r>
            <a:r>
              <a:rPr lang="en-US" altLang="zh-CN" sz="2800" i="1" dirty="0">
                <a:solidFill>
                  <a:schemeClr val="tx1"/>
                </a:solidFill>
              </a:rPr>
              <a:t>CS→G</a:t>
            </a:r>
            <a:r>
              <a:rPr lang="en-US" altLang="zh-CN" sz="2800" i="1" dirty="0">
                <a:solidFill>
                  <a:schemeClr val="tx1"/>
                </a:solidFill>
                <a:sym typeface="Symbol" panose="05050102010706020507" pitchFamily="18" charset="2"/>
              </a:rPr>
              <a:t>}</a:t>
            </a:r>
            <a:endParaRPr lang="en-US" altLang="zh-CN" sz="2800" i="1" dirty="0">
              <a:solidFill>
                <a:schemeClr val="tx1"/>
              </a:solidFill>
              <a:sym typeface="Symbol" panose="05050102010706020507" pitchFamily="18" charset="2"/>
            </a:endParaRPr>
          </a:p>
          <a:p>
            <a:pPr eaLnBrk="1" hangingPunct="1">
              <a:lnSpc>
                <a:spcPct val="115000"/>
              </a:lnSpc>
              <a:buNone/>
            </a:pPr>
            <a:r>
              <a:rPr lang="en-US" altLang="zh-CN" sz="2800" i="1" dirty="0">
                <a:solidFill>
                  <a:schemeClr val="tx1"/>
                </a:solidFill>
                <a:sym typeface="Symbol" panose="05050102010706020507" pitchFamily="18" charset="2"/>
              </a:rPr>
              <a:t>    ∏</a:t>
            </a:r>
            <a:r>
              <a:rPr lang="en-US" altLang="zh-CN" sz="1800" i="1" dirty="0">
                <a:solidFill>
                  <a:schemeClr val="tx1"/>
                </a:solidFill>
              </a:rPr>
              <a:t>CT</a:t>
            </a:r>
            <a:r>
              <a:rPr lang="en-US" altLang="zh-CN" sz="2800" i="1" dirty="0">
                <a:solidFill>
                  <a:schemeClr val="tx1"/>
                </a:solidFill>
                <a:sym typeface="Symbol" panose="05050102010706020507" pitchFamily="18" charset="2"/>
              </a:rPr>
              <a:t>(F) = {</a:t>
            </a:r>
            <a:r>
              <a:rPr lang="en-US" altLang="zh-CN" sz="2800" i="1" dirty="0">
                <a:solidFill>
                  <a:schemeClr val="tx1"/>
                </a:solidFill>
              </a:rPr>
              <a:t>C→T</a:t>
            </a:r>
            <a:r>
              <a:rPr lang="en-US" altLang="zh-CN" sz="2800" i="1" dirty="0">
                <a:solidFill>
                  <a:schemeClr val="tx1"/>
                </a:solidFill>
                <a:sym typeface="Symbol" panose="05050102010706020507" pitchFamily="18" charset="2"/>
              </a:rPr>
              <a:t>}</a:t>
            </a:r>
            <a:endParaRPr lang="en-US" altLang="zh-CN" sz="2800" i="1" dirty="0">
              <a:solidFill>
                <a:schemeClr val="tx1"/>
              </a:solidFill>
              <a:sym typeface="Symbol" panose="05050102010706020507" pitchFamily="18" charset="2"/>
            </a:endParaRPr>
          </a:p>
          <a:p>
            <a:pPr eaLnBrk="1" hangingPunct="1">
              <a:lnSpc>
                <a:spcPct val="115000"/>
              </a:lnSpc>
              <a:buNone/>
            </a:pPr>
            <a:r>
              <a:rPr lang="en-US" altLang="zh-CN" sz="2800" i="1" dirty="0">
                <a:solidFill>
                  <a:schemeClr val="tx1"/>
                </a:solidFill>
                <a:sym typeface="Symbol" panose="05050102010706020507" pitchFamily="18" charset="2"/>
              </a:rPr>
              <a:t>    ∏</a:t>
            </a:r>
            <a:r>
              <a:rPr lang="en-US" altLang="zh-CN" sz="1800" i="1" dirty="0">
                <a:solidFill>
                  <a:schemeClr val="tx1"/>
                </a:solidFill>
              </a:rPr>
              <a:t>HRC</a:t>
            </a:r>
            <a:r>
              <a:rPr lang="en-US" altLang="zh-CN" sz="2800" i="1" dirty="0">
                <a:solidFill>
                  <a:schemeClr val="tx1"/>
                </a:solidFill>
                <a:sym typeface="Symbol" panose="05050102010706020507" pitchFamily="18" charset="2"/>
              </a:rPr>
              <a:t>(F) = {</a:t>
            </a:r>
            <a:r>
              <a:rPr lang="en-US" altLang="zh-CN" sz="2800" i="1" dirty="0">
                <a:solidFill>
                  <a:schemeClr val="tx1"/>
                </a:solidFill>
              </a:rPr>
              <a:t>HR→C</a:t>
            </a:r>
            <a:r>
              <a:rPr lang="en-US" altLang="zh-CN" sz="2800" i="1" dirty="0">
                <a:solidFill>
                  <a:schemeClr val="tx1"/>
                </a:solidFill>
                <a:sym typeface="Symbol" panose="05050102010706020507" pitchFamily="18" charset="2"/>
              </a:rPr>
              <a:t>}</a:t>
            </a:r>
            <a:endParaRPr lang="en-US" altLang="zh-CN" sz="2800" i="1" dirty="0">
              <a:solidFill>
                <a:schemeClr val="tx1"/>
              </a:solidFill>
              <a:sym typeface="Symbol" panose="05050102010706020507" pitchFamily="18" charset="2"/>
            </a:endParaRPr>
          </a:p>
          <a:p>
            <a:pPr eaLnBrk="1" hangingPunct="1">
              <a:lnSpc>
                <a:spcPct val="115000"/>
              </a:lnSpc>
              <a:buNone/>
            </a:pPr>
            <a:r>
              <a:rPr lang="en-US" altLang="zh-CN" sz="2800" i="1" dirty="0">
                <a:solidFill>
                  <a:schemeClr val="tx1"/>
                </a:solidFill>
                <a:sym typeface="Symbol" panose="05050102010706020507" pitchFamily="18" charset="2"/>
              </a:rPr>
              <a:t>    ∏</a:t>
            </a:r>
            <a:r>
              <a:rPr lang="en-US" altLang="zh-CN" sz="1800" i="1" dirty="0">
                <a:solidFill>
                  <a:schemeClr val="tx1"/>
                </a:solidFill>
              </a:rPr>
              <a:t>HRS</a:t>
            </a:r>
            <a:r>
              <a:rPr lang="en-US" altLang="zh-CN" sz="2800" i="1" dirty="0">
                <a:solidFill>
                  <a:schemeClr val="tx1"/>
                </a:solidFill>
                <a:sym typeface="Symbol" panose="05050102010706020507" pitchFamily="18" charset="2"/>
              </a:rPr>
              <a:t>(F) = {</a:t>
            </a:r>
            <a:r>
              <a:rPr lang="en-US" altLang="zh-CN" sz="2800" i="1" dirty="0">
                <a:solidFill>
                  <a:schemeClr val="tx1"/>
                </a:solidFill>
              </a:rPr>
              <a:t>HS→R</a:t>
            </a:r>
            <a:r>
              <a:rPr lang="en-US" altLang="zh-CN" sz="2800" i="1" dirty="0">
                <a:solidFill>
                  <a:schemeClr val="tx1"/>
                </a:solidFill>
                <a:sym typeface="Symbol" panose="05050102010706020507" pitchFamily="18" charset="2"/>
              </a:rPr>
              <a:t>}</a:t>
            </a:r>
            <a:endParaRPr lang="en-US" altLang="zh-CN" sz="2800" i="1" dirty="0">
              <a:solidFill>
                <a:schemeClr val="tx1"/>
              </a:solidFill>
              <a:sym typeface="Symbol" panose="05050102010706020507" pitchFamily="18" charset="2"/>
            </a:endParaRPr>
          </a:p>
          <a:p>
            <a:pPr eaLnBrk="1" hangingPunct="1">
              <a:lnSpc>
                <a:spcPct val="115000"/>
              </a:lnSpc>
              <a:buNone/>
            </a:pPr>
            <a:r>
              <a:rPr lang="en-US" altLang="zh-CN" sz="2800" i="1" dirty="0">
                <a:solidFill>
                  <a:schemeClr val="tx1"/>
                </a:solidFill>
                <a:sym typeface="Symbol" panose="05050102010706020507" pitchFamily="18" charset="2"/>
              </a:rPr>
              <a:t>     </a:t>
            </a:r>
            <a:r>
              <a:rPr lang="zh-CN" altLang="en-US" sz="2800" i="1" dirty="0">
                <a:solidFill>
                  <a:schemeClr val="tx1"/>
                </a:solidFill>
                <a:sym typeface="Symbol" panose="05050102010706020507" pitchFamily="18" charset="2"/>
              </a:rPr>
              <a:t>应该注意到依赖关系</a:t>
            </a:r>
            <a:r>
              <a:rPr lang="en-US" altLang="zh-CN" sz="2800" i="1" dirty="0">
                <a:solidFill>
                  <a:schemeClr val="tx1"/>
                </a:solidFill>
                <a:sym typeface="Symbol" panose="05050102010706020507" pitchFamily="18" charset="2"/>
              </a:rPr>
              <a:t>HT</a:t>
            </a:r>
            <a:r>
              <a:rPr lang="en-US" altLang="zh-CN" sz="2800" i="1" dirty="0">
                <a:solidFill>
                  <a:schemeClr val="tx1"/>
                </a:solidFill>
              </a:rPr>
              <a:t>→R</a:t>
            </a:r>
            <a:r>
              <a:rPr lang="zh-CN" altLang="en-US" sz="2800" i="1" dirty="0">
                <a:solidFill>
                  <a:schemeClr val="tx1"/>
                </a:solidFill>
              </a:rPr>
              <a:t>在分解后被丢失</a:t>
            </a:r>
            <a:r>
              <a:rPr lang="en-US" altLang="zh-CN" sz="2800" i="1" dirty="0">
                <a:solidFill>
                  <a:schemeClr val="tx1"/>
                </a:solidFill>
              </a:rPr>
              <a:t>,</a:t>
            </a:r>
            <a:r>
              <a:rPr lang="zh-CN" altLang="en-US" sz="2800" i="1" dirty="0">
                <a:solidFill>
                  <a:schemeClr val="tx1"/>
                </a:solidFill>
              </a:rPr>
              <a:t>故分解虽具无损连接性，但不保持函数依赖。</a:t>
            </a:r>
            <a:endParaRPr lang="zh-CN" altLang="en-US" sz="2800" i="1" dirty="0">
              <a:solidFill>
                <a:schemeClr val="tx1"/>
              </a:solidFill>
              <a:ea typeface="黑体" panose="02010609060101010101" pitchFamily="49" charset="-122"/>
            </a:endParaRPr>
          </a:p>
        </p:txBody>
      </p:sp>
      <p:sp>
        <p:nvSpPr>
          <p:cNvPr id="39940"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0963" name="Rectangle 2"/>
          <p:cNvSpPr>
            <a:spLocks noGrp="1"/>
          </p:cNvSpPr>
          <p:nvPr>
            <p:ph idx="1"/>
          </p:nvPr>
        </p:nvSpPr>
        <p:spPr>
          <a:xfrm>
            <a:off x="228600" y="762000"/>
            <a:ext cx="8915400" cy="5943600"/>
          </a:xfrm>
          <a:ln/>
        </p:spPr>
        <p:txBody>
          <a:bodyPr vert="horz" wrap="square" lIns="91440" tIns="45720" rIns="91440" bIns="45720" anchor="t" anchorCtr="0"/>
          <a:p>
            <a:pPr eaLnBrk="1" hangingPunct="1">
              <a:lnSpc>
                <a:spcPct val="110000"/>
              </a:lnSpc>
              <a:buNone/>
            </a:pPr>
            <a:r>
              <a:rPr lang="zh-CN" altLang="en-US" sz="2800" dirty="0"/>
              <a:t>算法</a:t>
            </a:r>
            <a:r>
              <a:rPr lang="en-US" altLang="zh-CN" sz="2800" dirty="0"/>
              <a:t>6.4</a:t>
            </a:r>
            <a:r>
              <a:rPr lang="en-US" altLang="zh-CN" sz="2800" dirty="0">
                <a:solidFill>
                  <a:schemeClr val="tx1"/>
                </a:solidFill>
              </a:rPr>
              <a:t>  </a:t>
            </a:r>
            <a:r>
              <a:rPr lang="zh-CN" altLang="en-US" sz="2800" dirty="0">
                <a:solidFill>
                  <a:schemeClr val="tx1"/>
                </a:solidFill>
              </a:rPr>
              <a:t>达到</a:t>
            </a:r>
            <a:r>
              <a:rPr lang="en-US" altLang="zh-CN" sz="2800" dirty="0">
                <a:solidFill>
                  <a:schemeClr val="tx1"/>
                </a:solidFill>
              </a:rPr>
              <a:t>3NF</a:t>
            </a:r>
            <a:r>
              <a:rPr lang="zh-CN" altLang="en-US" sz="2800" dirty="0">
                <a:solidFill>
                  <a:schemeClr val="tx1"/>
                </a:solidFill>
              </a:rPr>
              <a:t>且保持函数依赖的分解算法。</a:t>
            </a:r>
            <a:endParaRPr lang="zh-CN" altLang="en-US" sz="2800" dirty="0">
              <a:solidFill>
                <a:schemeClr val="tx1"/>
              </a:solidFill>
            </a:endParaRPr>
          </a:p>
          <a:p>
            <a:pPr eaLnBrk="1" hangingPunct="1">
              <a:lnSpc>
                <a:spcPct val="110000"/>
              </a:lnSpc>
              <a:buNone/>
            </a:pPr>
            <a:r>
              <a:rPr lang="zh-CN" altLang="en-US" sz="2800" dirty="0">
                <a:solidFill>
                  <a:srgbClr val="0000CC"/>
                </a:solidFill>
              </a:rPr>
              <a:t>输入</a:t>
            </a:r>
            <a:r>
              <a:rPr lang="en-US" altLang="zh-CN" sz="2800" dirty="0">
                <a:solidFill>
                  <a:schemeClr val="tx1"/>
                </a:solidFill>
              </a:rPr>
              <a:t>: </a:t>
            </a:r>
            <a:r>
              <a:rPr lang="zh-CN" altLang="en-US" sz="2800" dirty="0">
                <a:solidFill>
                  <a:schemeClr val="tx1"/>
                </a:solidFill>
              </a:rPr>
              <a:t>给定关系模式</a:t>
            </a:r>
            <a:r>
              <a:rPr lang="en-US" altLang="zh-CN" sz="2800" i="1" dirty="0">
                <a:solidFill>
                  <a:schemeClr val="tx1"/>
                </a:solidFill>
              </a:rPr>
              <a:t>R&lt;U , F&gt;</a:t>
            </a:r>
            <a:r>
              <a:rPr lang="en-US" altLang="zh-CN" sz="2800" dirty="0">
                <a:solidFill>
                  <a:schemeClr val="tx1"/>
                </a:solidFill>
              </a:rPr>
              <a:t> </a:t>
            </a:r>
            <a:endParaRPr lang="en-US" altLang="zh-CN" sz="2800" dirty="0">
              <a:solidFill>
                <a:schemeClr val="tx1"/>
              </a:solidFill>
            </a:endParaRPr>
          </a:p>
          <a:p>
            <a:pPr eaLnBrk="1" hangingPunct="1">
              <a:lnSpc>
                <a:spcPct val="110000"/>
              </a:lnSpc>
              <a:buNone/>
            </a:pPr>
            <a:r>
              <a:rPr lang="zh-CN" altLang="en-US" sz="2800" dirty="0">
                <a:solidFill>
                  <a:srgbClr val="0000CC"/>
                </a:solidFill>
              </a:rPr>
              <a:t>输出</a:t>
            </a:r>
            <a:r>
              <a:rPr lang="en-US" altLang="zh-CN" sz="2800" dirty="0">
                <a:solidFill>
                  <a:schemeClr val="tx1"/>
                </a:solidFill>
              </a:rPr>
              <a:t>: </a:t>
            </a:r>
            <a:r>
              <a:rPr lang="en-US" altLang="zh-CN" sz="2800" i="1" dirty="0">
                <a:solidFill>
                  <a:schemeClr val="tx1"/>
                </a:solidFill>
                <a:sym typeface="Symbol" panose="05050102010706020507" pitchFamily="18" charset="2"/>
              </a:rPr>
              <a:t> = </a:t>
            </a:r>
            <a:r>
              <a:rPr lang="en-US" altLang="zh-CN" sz="2800" dirty="0">
                <a:solidFill>
                  <a:schemeClr val="tx1"/>
                </a:solidFill>
              </a:rPr>
              <a:t>{</a:t>
            </a:r>
            <a:r>
              <a:rPr lang="en-US" altLang="zh-CN" sz="2800" i="1" dirty="0">
                <a:solidFill>
                  <a:schemeClr val="tx1"/>
                </a:solidFill>
              </a:rPr>
              <a:t>R</a:t>
            </a:r>
            <a:r>
              <a:rPr lang="en-US" altLang="zh-CN" sz="2800" i="1" baseline="-25000" dirty="0">
                <a:solidFill>
                  <a:schemeClr val="tx1"/>
                </a:solidFill>
              </a:rPr>
              <a:t>1</a:t>
            </a:r>
            <a:r>
              <a:rPr lang="en-US" altLang="zh-CN" sz="2800" i="1" dirty="0">
                <a:solidFill>
                  <a:schemeClr val="tx1"/>
                </a:solidFill>
              </a:rPr>
              <a:t>,…, R</a:t>
            </a:r>
            <a:r>
              <a:rPr lang="en-US" altLang="zh-CN" sz="2800" i="1" baseline="-25000" dirty="0">
                <a:solidFill>
                  <a:schemeClr val="tx1"/>
                </a:solidFill>
              </a:rPr>
              <a:t>k</a:t>
            </a:r>
            <a:r>
              <a:rPr lang="en-US" altLang="zh-CN" sz="2800" dirty="0">
                <a:solidFill>
                  <a:schemeClr val="tx1"/>
                </a:solidFill>
              </a:rPr>
              <a:t>}, </a:t>
            </a:r>
            <a:r>
              <a:rPr lang="en-US" altLang="zh-CN" sz="2800" i="1" dirty="0">
                <a:solidFill>
                  <a:schemeClr val="tx1"/>
                </a:solidFill>
              </a:rPr>
              <a:t>R</a:t>
            </a:r>
            <a:r>
              <a:rPr lang="en-US" altLang="zh-CN" sz="2800" i="1" baseline="-25000" dirty="0">
                <a:solidFill>
                  <a:schemeClr val="tx1"/>
                </a:solidFill>
              </a:rPr>
              <a:t>i </a:t>
            </a:r>
            <a:r>
              <a:rPr lang="en-US" altLang="zh-CN" sz="2800" i="1" dirty="0">
                <a:solidFill>
                  <a:schemeClr val="tx1"/>
                </a:solidFill>
              </a:rPr>
              <a:t>∈</a:t>
            </a:r>
            <a:r>
              <a:rPr lang="en-US" altLang="zh-CN" sz="2800" i="1" baseline="-25000" dirty="0">
                <a:solidFill>
                  <a:schemeClr val="tx1"/>
                </a:solidFill>
                <a:sym typeface="Symbol" panose="05050102010706020507" pitchFamily="18" charset="2"/>
              </a:rPr>
              <a:t> </a:t>
            </a:r>
            <a:r>
              <a:rPr lang="en-US" altLang="zh-CN" sz="2800" i="1" dirty="0">
                <a:solidFill>
                  <a:schemeClr val="tx1"/>
                </a:solidFill>
                <a:sym typeface="Symbol" panose="05050102010706020507" pitchFamily="18" charset="2"/>
              </a:rPr>
              <a:t>3NF, i = 1,2,…,k</a:t>
            </a:r>
            <a:endParaRPr lang="en-US" altLang="zh-CN" sz="2800" i="1" dirty="0">
              <a:solidFill>
                <a:schemeClr val="tx1"/>
              </a:solidFill>
              <a:sym typeface="Symbol" panose="05050102010706020507" pitchFamily="18" charset="2"/>
            </a:endParaRPr>
          </a:p>
          <a:p>
            <a:pPr eaLnBrk="1" hangingPunct="1">
              <a:lnSpc>
                <a:spcPct val="110000"/>
              </a:lnSpc>
              <a:buNone/>
            </a:pPr>
            <a:r>
              <a:rPr lang="zh-CN" altLang="en-US" sz="2800" dirty="0">
                <a:solidFill>
                  <a:srgbClr val="0000CC"/>
                </a:solidFill>
                <a:sym typeface="Symbol" panose="05050102010706020507" pitchFamily="18" charset="2"/>
              </a:rPr>
              <a:t>步骤</a:t>
            </a:r>
            <a:r>
              <a:rPr lang="en-US" altLang="zh-CN" sz="2800" dirty="0">
                <a:solidFill>
                  <a:schemeClr val="tx1"/>
                </a:solidFill>
                <a:sym typeface="Symbol" panose="05050102010706020507" pitchFamily="18" charset="2"/>
              </a:rPr>
              <a:t>:</a:t>
            </a:r>
            <a:r>
              <a:rPr lang="en-US" altLang="zh-CN" sz="2800" dirty="0">
                <a:solidFill>
                  <a:srgbClr val="0000CC"/>
                </a:solidFill>
                <a:sym typeface="Symbol" panose="05050102010706020507" pitchFamily="18" charset="2"/>
              </a:rPr>
              <a:t> </a:t>
            </a:r>
            <a:r>
              <a:rPr lang="en-US" altLang="zh-CN" sz="2800" dirty="0">
                <a:solidFill>
                  <a:schemeClr val="tx1"/>
                </a:solidFill>
                <a:sym typeface="Symbol" panose="05050102010706020507" pitchFamily="18" charset="2"/>
              </a:rPr>
              <a:t>1. </a:t>
            </a:r>
            <a:r>
              <a:rPr lang="zh-CN" altLang="en-US" sz="2800" dirty="0">
                <a:solidFill>
                  <a:schemeClr val="tx1"/>
                </a:solidFill>
                <a:sym typeface="Symbol" panose="05050102010706020507" pitchFamily="18" charset="2"/>
              </a:rPr>
              <a:t>求</a:t>
            </a:r>
            <a:r>
              <a:rPr lang="en-US" altLang="zh-CN" sz="2800" i="1" dirty="0">
                <a:solidFill>
                  <a:schemeClr val="tx1"/>
                </a:solidFill>
              </a:rPr>
              <a:t>R</a:t>
            </a:r>
            <a:r>
              <a:rPr lang="zh-CN" altLang="en-US" sz="2800" dirty="0">
                <a:solidFill>
                  <a:schemeClr val="tx1"/>
                </a:solidFill>
              </a:rPr>
              <a:t>的最小函数依赖集</a:t>
            </a:r>
            <a:r>
              <a:rPr lang="en-US" altLang="zh-CN" sz="2800" i="1" dirty="0">
                <a:solidFill>
                  <a:schemeClr val="tx1"/>
                </a:solidFill>
              </a:rPr>
              <a:t>F</a:t>
            </a:r>
            <a:r>
              <a:rPr lang="en-US" altLang="zh-CN" sz="2800" i="1" dirty="0">
                <a:solidFill>
                  <a:schemeClr val="tx1"/>
                </a:solidFill>
                <a:latin typeface="Palatino" pitchFamily="18" charset="0"/>
              </a:rPr>
              <a:t>’</a:t>
            </a:r>
            <a:r>
              <a:rPr lang="en-US" altLang="zh-CN" sz="2800" dirty="0">
                <a:solidFill>
                  <a:schemeClr val="tx1"/>
                </a:solidFill>
              </a:rPr>
              <a:t>;</a:t>
            </a:r>
            <a:endParaRPr lang="en-US" altLang="zh-CN" sz="2800" dirty="0">
              <a:solidFill>
                <a:schemeClr val="tx1"/>
              </a:solidFill>
            </a:endParaRPr>
          </a:p>
          <a:p>
            <a:pPr lvl="1" eaLnBrk="1" hangingPunct="1">
              <a:lnSpc>
                <a:spcPct val="110000"/>
              </a:lnSpc>
              <a:buNone/>
            </a:pPr>
            <a:r>
              <a:rPr lang="en-US" altLang="zh-CN" dirty="0"/>
              <a:t>2.</a:t>
            </a:r>
            <a:r>
              <a:rPr lang="zh-CN" altLang="en-US" dirty="0"/>
              <a:t>若</a:t>
            </a:r>
            <a:r>
              <a:rPr lang="en-US" altLang="zh-CN" i="1" dirty="0">
                <a:sym typeface="Symbol" panose="05050102010706020507" pitchFamily="18" charset="2"/>
              </a:rPr>
              <a:t>F</a:t>
            </a:r>
            <a:r>
              <a:rPr lang="en-US" altLang="zh-CN" i="1" dirty="0">
                <a:latin typeface="Palatino" pitchFamily="18" charset="0"/>
              </a:rPr>
              <a:t>’</a:t>
            </a:r>
            <a:r>
              <a:rPr lang="zh-CN" altLang="en-US" dirty="0">
                <a:sym typeface="Symbol" panose="05050102010706020507" pitchFamily="18" charset="2"/>
              </a:rPr>
              <a:t>中有</a:t>
            </a:r>
            <a:r>
              <a:rPr lang="en-US" altLang="zh-CN" i="1" dirty="0">
                <a:sym typeface="Symbol" panose="05050102010706020507" pitchFamily="18" charset="2"/>
              </a:rPr>
              <a:t>XA </a:t>
            </a:r>
            <a:r>
              <a:rPr lang="en-US" altLang="zh-CN" dirty="0">
                <a:sym typeface="Symbol" panose="05050102010706020507" pitchFamily="18" charset="2"/>
              </a:rPr>
              <a:t>,</a:t>
            </a:r>
            <a:r>
              <a:rPr lang="zh-CN" altLang="en-US" dirty="0">
                <a:sym typeface="Symbol" panose="05050102010706020507" pitchFamily="18" charset="2"/>
              </a:rPr>
              <a:t>且</a:t>
            </a:r>
            <a:r>
              <a:rPr lang="en-US" altLang="zh-CN" i="1" dirty="0">
                <a:sym typeface="Symbol" panose="05050102010706020507" pitchFamily="18" charset="2"/>
              </a:rPr>
              <a:t>XA=U</a:t>
            </a:r>
            <a:r>
              <a:rPr lang="en-US" altLang="zh-CN" dirty="0">
                <a:sym typeface="Symbol" panose="05050102010706020507" pitchFamily="18" charset="2"/>
              </a:rPr>
              <a:t>,</a:t>
            </a:r>
            <a:r>
              <a:rPr lang="zh-CN" altLang="en-US" dirty="0">
                <a:sym typeface="Symbol" panose="05050102010706020507" pitchFamily="18" charset="2"/>
              </a:rPr>
              <a:t>则</a:t>
            </a:r>
            <a:r>
              <a:rPr lang="zh-CN" altLang="en-US" i="1" dirty="0">
                <a:sym typeface="Symbol" panose="05050102010706020507" pitchFamily="18" charset="2"/>
              </a:rPr>
              <a:t> </a:t>
            </a:r>
            <a:r>
              <a:rPr lang="en-US" altLang="zh-CN" i="1" dirty="0">
                <a:sym typeface="Symbol" panose="05050102010706020507" pitchFamily="18" charset="2"/>
              </a:rPr>
              <a:t>= </a:t>
            </a:r>
            <a:r>
              <a:rPr lang="en-US" altLang="zh-CN" dirty="0"/>
              <a:t>{</a:t>
            </a:r>
            <a:r>
              <a:rPr lang="en-US" altLang="zh-CN" i="1" dirty="0"/>
              <a:t>R</a:t>
            </a:r>
            <a:r>
              <a:rPr lang="en-US" altLang="zh-CN" dirty="0"/>
              <a:t>}</a:t>
            </a:r>
            <a:r>
              <a:rPr lang="en-US" altLang="zh-CN" sz="2400" dirty="0"/>
              <a:t>,</a:t>
            </a:r>
            <a:r>
              <a:rPr lang="zh-CN" altLang="en-US" dirty="0">
                <a:sym typeface="Symbol" panose="05050102010706020507" pitchFamily="18" charset="2"/>
              </a:rPr>
              <a:t>算法终止</a:t>
            </a:r>
            <a:r>
              <a:rPr lang="en-US" altLang="zh-CN" dirty="0">
                <a:sym typeface="Symbol" panose="05050102010706020507" pitchFamily="18" charset="2"/>
              </a:rPr>
              <a:t>;</a:t>
            </a:r>
            <a:r>
              <a:rPr lang="en-US" altLang="zh-CN" dirty="0"/>
              <a:t> </a:t>
            </a:r>
            <a:endParaRPr lang="en-US" altLang="zh-CN" dirty="0"/>
          </a:p>
          <a:p>
            <a:pPr lvl="1" eaLnBrk="1" hangingPunct="1">
              <a:lnSpc>
                <a:spcPct val="110000"/>
              </a:lnSpc>
              <a:buNone/>
            </a:pPr>
            <a:r>
              <a:rPr lang="en-US" altLang="zh-CN" dirty="0"/>
              <a:t>3.</a:t>
            </a:r>
            <a:r>
              <a:rPr lang="zh-CN" altLang="en-US" dirty="0"/>
              <a:t>找出不在</a:t>
            </a:r>
            <a:r>
              <a:rPr lang="en-US" altLang="zh-CN" i="1" dirty="0">
                <a:sym typeface="Symbol" panose="05050102010706020507" pitchFamily="18" charset="2"/>
              </a:rPr>
              <a:t>F</a:t>
            </a:r>
            <a:r>
              <a:rPr lang="en-US" altLang="zh-CN" i="1" dirty="0">
                <a:latin typeface="Palatino" pitchFamily="18" charset="0"/>
              </a:rPr>
              <a:t>’</a:t>
            </a:r>
            <a:r>
              <a:rPr lang="zh-CN" altLang="en-US" dirty="0"/>
              <a:t>中出现的属性，将它们构成一个关系模式，并从</a:t>
            </a:r>
            <a:r>
              <a:rPr lang="en-US" altLang="zh-CN" i="1" dirty="0"/>
              <a:t>U</a:t>
            </a:r>
            <a:r>
              <a:rPr lang="zh-CN" altLang="en-US" dirty="0"/>
              <a:t>中去掉它们</a:t>
            </a:r>
            <a:r>
              <a:rPr lang="en-US" altLang="zh-CN" dirty="0"/>
              <a:t>(</a:t>
            </a:r>
            <a:r>
              <a:rPr lang="zh-CN" altLang="en-US" dirty="0"/>
              <a:t>剩余属性仍记为</a:t>
            </a:r>
            <a:r>
              <a:rPr lang="en-US" altLang="zh-CN" i="1" dirty="0"/>
              <a:t>U</a:t>
            </a:r>
            <a:r>
              <a:rPr lang="en-US" altLang="zh-CN" dirty="0"/>
              <a:t>);</a:t>
            </a:r>
            <a:endParaRPr lang="en-US" altLang="zh-CN" dirty="0"/>
          </a:p>
          <a:p>
            <a:pPr lvl="1" eaLnBrk="1" hangingPunct="1">
              <a:lnSpc>
                <a:spcPct val="110000"/>
              </a:lnSpc>
              <a:buNone/>
            </a:pPr>
            <a:r>
              <a:rPr lang="en-US" altLang="zh-CN" dirty="0"/>
              <a:t>4.</a:t>
            </a:r>
            <a:r>
              <a:rPr lang="zh-CN" altLang="en-US" dirty="0"/>
              <a:t>对于</a:t>
            </a:r>
            <a:r>
              <a:rPr lang="en-US" altLang="zh-CN" i="1" dirty="0">
                <a:sym typeface="Symbol" panose="05050102010706020507" pitchFamily="18" charset="2"/>
              </a:rPr>
              <a:t>F</a:t>
            </a:r>
            <a:r>
              <a:rPr lang="en-US" altLang="zh-CN" i="1" dirty="0">
                <a:latin typeface="Palatino" pitchFamily="18" charset="0"/>
              </a:rPr>
              <a:t>’</a:t>
            </a:r>
            <a:r>
              <a:rPr lang="zh-CN" altLang="en-US" dirty="0"/>
              <a:t>中的每个</a:t>
            </a:r>
            <a:r>
              <a:rPr lang="en-US" altLang="zh-CN" i="1" dirty="0">
                <a:sym typeface="Symbol" panose="05050102010706020507" pitchFamily="18" charset="2"/>
              </a:rPr>
              <a:t>XA ,</a:t>
            </a:r>
            <a:r>
              <a:rPr lang="zh-CN" altLang="en-US" dirty="0">
                <a:sym typeface="Symbol" panose="05050102010706020507" pitchFamily="18" charset="2"/>
              </a:rPr>
              <a:t>构成一个关系模式</a:t>
            </a:r>
            <a:r>
              <a:rPr lang="en-US" altLang="zh-CN" i="1" dirty="0">
                <a:sym typeface="Symbol" panose="05050102010706020507" pitchFamily="18" charset="2"/>
              </a:rPr>
              <a:t>XA</a:t>
            </a:r>
            <a:r>
              <a:rPr lang="en-US" altLang="zh-CN" dirty="0">
                <a:sym typeface="Symbol" panose="05050102010706020507" pitchFamily="18" charset="2"/>
              </a:rPr>
              <a:t>.</a:t>
            </a:r>
            <a:r>
              <a:rPr lang="zh-CN" altLang="en-US" dirty="0">
                <a:sym typeface="Symbol" panose="05050102010706020507" pitchFamily="18" charset="2"/>
              </a:rPr>
              <a:t>如果</a:t>
            </a:r>
            <a:r>
              <a:rPr lang="en-US" altLang="zh-CN" i="1" dirty="0">
                <a:sym typeface="Symbol" panose="05050102010706020507" pitchFamily="18" charset="2"/>
              </a:rPr>
              <a:t>F</a:t>
            </a:r>
            <a:r>
              <a:rPr lang="en-US" altLang="zh-CN" i="1" dirty="0">
                <a:latin typeface="Palatino" pitchFamily="18" charset="0"/>
              </a:rPr>
              <a:t>’</a:t>
            </a:r>
            <a:r>
              <a:rPr lang="zh-CN" altLang="en-US" dirty="0">
                <a:sym typeface="Symbol" panose="05050102010706020507" pitchFamily="18" charset="2"/>
              </a:rPr>
              <a:t>中有</a:t>
            </a:r>
            <a:r>
              <a:rPr lang="en-US" altLang="zh-CN" i="1" dirty="0">
                <a:sym typeface="Symbol" panose="05050102010706020507" pitchFamily="18" charset="2"/>
              </a:rPr>
              <a:t>XA</a:t>
            </a:r>
            <a:r>
              <a:rPr lang="en-US" altLang="zh-CN" i="1" baseline="-25000" dirty="0">
                <a:sym typeface="Symbol" panose="05050102010706020507" pitchFamily="18" charset="2"/>
              </a:rPr>
              <a:t>1</a:t>
            </a:r>
            <a:r>
              <a:rPr lang="en-US" altLang="zh-CN" i="1" dirty="0">
                <a:sym typeface="Symbol" panose="05050102010706020507" pitchFamily="18" charset="2"/>
              </a:rPr>
              <a:t>, XA</a:t>
            </a:r>
            <a:r>
              <a:rPr lang="en-US" altLang="zh-CN" i="1" baseline="-25000" dirty="0">
                <a:sym typeface="Symbol" panose="05050102010706020507" pitchFamily="18" charset="2"/>
              </a:rPr>
              <a:t>2</a:t>
            </a:r>
            <a:r>
              <a:rPr lang="en-US" altLang="zh-CN" i="1" dirty="0">
                <a:sym typeface="Symbol" panose="05050102010706020507" pitchFamily="18" charset="2"/>
              </a:rPr>
              <a:t>, …,XA</a:t>
            </a:r>
            <a:r>
              <a:rPr lang="en-US" altLang="zh-CN" i="1" baseline="-25000" dirty="0">
                <a:sym typeface="Symbol" panose="05050102010706020507" pitchFamily="18" charset="2"/>
              </a:rPr>
              <a:t>n</a:t>
            </a:r>
            <a:r>
              <a:rPr lang="en-US" altLang="zh-CN" i="1" dirty="0">
                <a:sym typeface="Symbol" panose="05050102010706020507" pitchFamily="18" charset="2"/>
              </a:rPr>
              <a:t>,</a:t>
            </a:r>
            <a:r>
              <a:rPr lang="zh-CN" altLang="en-US" dirty="0">
                <a:sym typeface="Symbol" panose="05050102010706020507" pitchFamily="18" charset="2"/>
              </a:rPr>
              <a:t>则可以用</a:t>
            </a:r>
            <a:r>
              <a:rPr lang="en-US" altLang="zh-CN" i="1" dirty="0">
                <a:sym typeface="Symbol" panose="05050102010706020507" pitchFamily="18" charset="2"/>
              </a:rPr>
              <a:t>XA</a:t>
            </a:r>
            <a:r>
              <a:rPr lang="en-US" altLang="zh-CN" i="1" baseline="-25000" dirty="0">
                <a:sym typeface="Symbol" panose="05050102010706020507" pitchFamily="18" charset="2"/>
              </a:rPr>
              <a:t>1 </a:t>
            </a:r>
            <a:r>
              <a:rPr lang="en-US" altLang="zh-CN" i="1" dirty="0">
                <a:sym typeface="Symbol" panose="05050102010706020507" pitchFamily="18" charset="2"/>
              </a:rPr>
              <a:t>A</a:t>
            </a:r>
            <a:r>
              <a:rPr lang="en-US" altLang="zh-CN" i="1" baseline="-25000" dirty="0">
                <a:sym typeface="Symbol" panose="05050102010706020507" pitchFamily="18" charset="2"/>
              </a:rPr>
              <a:t>2… </a:t>
            </a:r>
            <a:r>
              <a:rPr lang="en-US" altLang="zh-CN" i="1" dirty="0">
                <a:sym typeface="Symbol" panose="05050102010706020507" pitchFamily="18" charset="2"/>
              </a:rPr>
              <a:t>A</a:t>
            </a:r>
            <a:r>
              <a:rPr lang="en-US" altLang="zh-CN" i="1" baseline="-25000" dirty="0">
                <a:sym typeface="Symbol" panose="05050102010706020507" pitchFamily="18" charset="2"/>
              </a:rPr>
              <a:t>n</a:t>
            </a:r>
            <a:r>
              <a:rPr lang="zh-CN" altLang="en-US" dirty="0">
                <a:sym typeface="Symbol" panose="05050102010706020507" pitchFamily="18" charset="2"/>
              </a:rPr>
              <a:t>代替</a:t>
            </a:r>
            <a:r>
              <a:rPr lang="en-US" altLang="zh-CN" i="1" dirty="0">
                <a:sym typeface="Symbol" panose="05050102010706020507" pitchFamily="18" charset="2"/>
              </a:rPr>
              <a:t>n</a:t>
            </a:r>
            <a:r>
              <a:rPr lang="zh-CN" altLang="en-US" dirty="0">
                <a:sym typeface="Symbol" panose="05050102010706020507" pitchFamily="18" charset="2"/>
              </a:rPr>
              <a:t>个模式</a:t>
            </a:r>
            <a:r>
              <a:rPr lang="en-US" altLang="zh-CN" i="1" dirty="0">
                <a:sym typeface="Symbol" panose="05050102010706020507" pitchFamily="18" charset="2"/>
              </a:rPr>
              <a:t>XA</a:t>
            </a:r>
            <a:r>
              <a:rPr lang="en-US" altLang="zh-CN" i="1" baseline="-25000" dirty="0">
                <a:sym typeface="Symbol" panose="05050102010706020507" pitchFamily="18" charset="2"/>
              </a:rPr>
              <a:t>1</a:t>
            </a:r>
            <a:r>
              <a:rPr lang="en-US" altLang="zh-CN" dirty="0">
                <a:sym typeface="Symbol" panose="05050102010706020507" pitchFamily="18" charset="2"/>
              </a:rPr>
              <a:t>,</a:t>
            </a:r>
            <a:r>
              <a:rPr lang="en-US" altLang="zh-CN" i="1" dirty="0">
                <a:sym typeface="Symbol" panose="05050102010706020507" pitchFamily="18" charset="2"/>
              </a:rPr>
              <a:t> XA</a:t>
            </a:r>
            <a:r>
              <a:rPr lang="en-US" altLang="zh-CN" i="1" baseline="-25000" dirty="0">
                <a:sym typeface="Symbol" panose="05050102010706020507" pitchFamily="18" charset="2"/>
              </a:rPr>
              <a:t>2</a:t>
            </a:r>
            <a:r>
              <a:rPr lang="en-US" altLang="zh-CN" dirty="0">
                <a:sym typeface="Symbol" panose="05050102010706020507" pitchFamily="18" charset="2"/>
              </a:rPr>
              <a:t>,…, </a:t>
            </a:r>
            <a:r>
              <a:rPr lang="en-US" altLang="zh-CN" i="1" dirty="0">
                <a:sym typeface="Symbol" panose="05050102010706020507" pitchFamily="18" charset="2"/>
              </a:rPr>
              <a:t>XA</a:t>
            </a:r>
            <a:r>
              <a:rPr lang="en-US" altLang="zh-CN" i="1" baseline="-25000" dirty="0">
                <a:sym typeface="Symbol" panose="05050102010706020507" pitchFamily="18" charset="2"/>
              </a:rPr>
              <a:t>n</a:t>
            </a:r>
            <a:r>
              <a:rPr lang="en-US" altLang="zh-CN" dirty="0">
                <a:sym typeface="Symbol" panose="05050102010706020507" pitchFamily="18" charset="2"/>
              </a:rPr>
              <a:t>;</a:t>
            </a:r>
            <a:endParaRPr lang="en-US" altLang="zh-CN" dirty="0">
              <a:sym typeface="Symbol" panose="05050102010706020507" pitchFamily="18" charset="2"/>
            </a:endParaRPr>
          </a:p>
          <a:p>
            <a:pPr lvl="1" eaLnBrk="1" hangingPunct="1">
              <a:lnSpc>
                <a:spcPct val="110000"/>
              </a:lnSpc>
              <a:buNone/>
            </a:pPr>
            <a:r>
              <a:rPr lang="en-US" altLang="zh-CN" dirty="0">
                <a:sym typeface="Symbol" panose="05050102010706020507" pitchFamily="18" charset="2"/>
              </a:rPr>
              <a:t>5.</a:t>
            </a:r>
            <a:r>
              <a:rPr lang="zh-CN" altLang="en-US" dirty="0">
                <a:sym typeface="Symbol" panose="05050102010706020507" pitchFamily="18" charset="2"/>
              </a:rPr>
              <a:t>如发现某个</a:t>
            </a:r>
            <a:r>
              <a:rPr lang="en-US" altLang="zh-CN" i="1" dirty="0">
                <a:sym typeface="Symbol" panose="05050102010706020507" pitchFamily="18" charset="2"/>
              </a:rPr>
              <a:t>U</a:t>
            </a:r>
            <a:r>
              <a:rPr lang="en-US" altLang="zh-CN" i="1" baseline="-25000" dirty="0">
                <a:sym typeface="Symbol" panose="05050102010706020507" pitchFamily="18" charset="2"/>
              </a:rPr>
              <a:t>i</a:t>
            </a:r>
            <a:r>
              <a:rPr lang="en-US" altLang="zh-CN" dirty="0">
                <a:sym typeface="Symbol" panose="05050102010706020507" pitchFamily="18" charset="2"/>
              </a:rPr>
              <a:t> </a:t>
            </a:r>
            <a:r>
              <a:rPr lang="en-US" altLang="zh-CN" dirty="0">
                <a:latin typeface="黑体" panose="02010609060101010101" pitchFamily="49" charset="-122"/>
                <a:ea typeface="黑体" panose="02010609060101010101" pitchFamily="49" charset="-122"/>
                <a:sym typeface="Symbol" panose="05050102010706020507" pitchFamily="18" charset="2"/>
              </a:rPr>
              <a:t></a:t>
            </a:r>
            <a:r>
              <a:rPr lang="en-US" altLang="zh-CN" dirty="0">
                <a:sym typeface="Symbol" panose="05050102010706020507" pitchFamily="18" charset="2"/>
              </a:rPr>
              <a:t> </a:t>
            </a:r>
            <a:r>
              <a:rPr lang="en-US" altLang="zh-CN" i="1" dirty="0">
                <a:sym typeface="Symbol" panose="05050102010706020507" pitchFamily="18" charset="2"/>
              </a:rPr>
              <a:t>U</a:t>
            </a:r>
            <a:r>
              <a:rPr lang="en-US" altLang="zh-CN" i="1" baseline="-25000" dirty="0">
                <a:sym typeface="Symbol" panose="05050102010706020507" pitchFamily="18" charset="2"/>
              </a:rPr>
              <a:t>j</a:t>
            </a:r>
            <a:r>
              <a:rPr lang="en-US" altLang="zh-CN" dirty="0">
                <a:sym typeface="Symbol" panose="05050102010706020507" pitchFamily="18" charset="2"/>
              </a:rPr>
              <a:t>,</a:t>
            </a:r>
            <a:r>
              <a:rPr lang="zh-CN" altLang="en-US" dirty="0">
                <a:sym typeface="Symbol" panose="05050102010706020507" pitchFamily="18" charset="2"/>
              </a:rPr>
              <a:t>则应将</a:t>
            </a:r>
            <a:r>
              <a:rPr lang="en-US" altLang="zh-CN" i="1" dirty="0">
                <a:sym typeface="Symbol" panose="05050102010706020507" pitchFamily="18" charset="2"/>
              </a:rPr>
              <a:t>U</a:t>
            </a:r>
            <a:r>
              <a:rPr lang="en-US" altLang="zh-CN" i="1" baseline="-25000" dirty="0">
                <a:sym typeface="Symbol" panose="05050102010706020507" pitchFamily="18" charset="2"/>
              </a:rPr>
              <a:t>i</a:t>
            </a:r>
            <a:r>
              <a:rPr lang="zh-CN" altLang="en-US" dirty="0">
                <a:sym typeface="Symbol" panose="05050102010706020507" pitchFamily="18" charset="2"/>
              </a:rPr>
              <a:t>去掉。</a:t>
            </a:r>
            <a:endParaRPr lang="zh-CN" altLang="en-US" dirty="0">
              <a:sym typeface="Symbol" panose="05050102010706020507" pitchFamily="18" charset="2"/>
            </a:endParaRPr>
          </a:p>
        </p:txBody>
      </p:sp>
      <p:sp>
        <p:nvSpPr>
          <p:cNvPr id="40964"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1987" name="Rectangle 2"/>
          <p:cNvSpPr>
            <a:spLocks noGrp="1"/>
          </p:cNvSpPr>
          <p:nvPr>
            <p:ph idx="1"/>
          </p:nvPr>
        </p:nvSpPr>
        <p:spPr>
          <a:xfrm>
            <a:off x="381000" y="673100"/>
            <a:ext cx="8610600" cy="5803900"/>
          </a:xfrm>
          <a:ln/>
        </p:spPr>
        <p:txBody>
          <a:bodyPr vert="horz" wrap="square" lIns="91440" tIns="45720" rIns="91440" bIns="45720" anchor="t" anchorCtr="0"/>
          <a:p>
            <a:pPr eaLnBrk="1" hangingPunct="1">
              <a:lnSpc>
                <a:spcPct val="115000"/>
              </a:lnSpc>
              <a:buNone/>
            </a:pPr>
            <a:r>
              <a:rPr lang="en-US" altLang="zh-CN" sz="2800" dirty="0">
                <a:solidFill>
                  <a:schemeClr val="tx1"/>
                </a:solidFill>
              </a:rPr>
              <a:t>[</a:t>
            </a:r>
            <a:r>
              <a:rPr lang="zh-CN" altLang="en-US" sz="2800" dirty="0">
                <a:solidFill>
                  <a:schemeClr val="tx1"/>
                </a:solidFill>
              </a:rPr>
              <a:t>例</a:t>
            </a:r>
            <a:r>
              <a:rPr lang="en-US" altLang="zh-CN" sz="2800" dirty="0">
                <a:solidFill>
                  <a:schemeClr val="tx1"/>
                </a:solidFill>
              </a:rPr>
              <a:t>6.27] R&lt;U,F&gt;,U={</a:t>
            </a:r>
            <a:r>
              <a:rPr lang="en-US" altLang="zh-CN" sz="2800" dirty="0"/>
              <a:t>S#,D,M,C#,G</a:t>
            </a:r>
            <a:r>
              <a:rPr lang="en-US" altLang="zh-CN" sz="2800" dirty="0">
                <a:solidFill>
                  <a:schemeClr val="tx1"/>
                </a:solidFill>
              </a:rPr>
              <a:t>},F={</a:t>
            </a:r>
            <a:r>
              <a:rPr lang="en-US" altLang="zh-CN" sz="2800" dirty="0"/>
              <a:t>S#</a:t>
            </a:r>
            <a:r>
              <a:rPr lang="en-US" altLang="zh-CN" sz="2800" i="1" dirty="0"/>
              <a:t>→</a:t>
            </a:r>
            <a:r>
              <a:rPr lang="en-US" altLang="zh-CN" sz="2800" dirty="0">
                <a:sym typeface="Symbol" panose="05050102010706020507" pitchFamily="18" charset="2"/>
              </a:rPr>
              <a:t> </a:t>
            </a:r>
            <a:r>
              <a:rPr lang="en-US" altLang="zh-CN" sz="2800" dirty="0"/>
              <a:t>D,S# </a:t>
            </a:r>
            <a:r>
              <a:rPr lang="en-US" altLang="zh-CN" sz="2800" i="1" dirty="0"/>
              <a:t>→</a:t>
            </a:r>
            <a:r>
              <a:rPr lang="en-US" altLang="zh-CN" sz="2800" dirty="0">
                <a:sym typeface="Symbol" panose="05050102010706020507" pitchFamily="18" charset="2"/>
              </a:rPr>
              <a:t> </a:t>
            </a:r>
            <a:r>
              <a:rPr lang="en-US" altLang="zh-CN" sz="2800" dirty="0"/>
              <a:t>M,D</a:t>
            </a:r>
            <a:r>
              <a:rPr lang="en-US" altLang="zh-CN" sz="2800" i="1" dirty="0"/>
              <a:t>→</a:t>
            </a:r>
            <a:r>
              <a:rPr lang="en-US" altLang="zh-CN" sz="2800" dirty="0">
                <a:sym typeface="Symbol" panose="05050102010706020507" pitchFamily="18" charset="2"/>
              </a:rPr>
              <a:t> </a:t>
            </a:r>
            <a:r>
              <a:rPr lang="en-US" altLang="zh-CN" sz="2800" dirty="0"/>
              <a:t>M,(S#,C#)</a:t>
            </a:r>
            <a:r>
              <a:rPr lang="en-US" altLang="zh-CN" sz="2800" i="1" dirty="0"/>
              <a:t>→</a:t>
            </a:r>
            <a:r>
              <a:rPr lang="en-US" altLang="zh-CN" sz="2800" dirty="0">
                <a:sym typeface="Symbol" panose="05050102010706020507" pitchFamily="18" charset="2"/>
              </a:rPr>
              <a:t> </a:t>
            </a:r>
            <a:r>
              <a:rPr lang="en-US" altLang="zh-CN" sz="2800" dirty="0"/>
              <a:t>G</a:t>
            </a:r>
            <a:r>
              <a:rPr lang="en-US" altLang="zh-CN" sz="2800" dirty="0">
                <a:solidFill>
                  <a:schemeClr val="tx1"/>
                </a:solidFill>
              </a:rPr>
              <a:t>}. </a:t>
            </a:r>
            <a:r>
              <a:rPr lang="zh-CN" altLang="en-US" sz="2800" dirty="0">
                <a:solidFill>
                  <a:schemeClr val="tx1"/>
                </a:solidFill>
              </a:rPr>
              <a:t>试将</a:t>
            </a:r>
            <a:r>
              <a:rPr lang="en-US" altLang="zh-CN" sz="2800" dirty="0">
                <a:solidFill>
                  <a:schemeClr val="tx1"/>
                </a:solidFill>
              </a:rPr>
              <a:t>R</a:t>
            </a:r>
            <a:r>
              <a:rPr lang="zh-CN" altLang="en-US" sz="2800" dirty="0">
                <a:solidFill>
                  <a:schemeClr val="tx1"/>
                </a:solidFill>
              </a:rPr>
              <a:t>分解</a:t>
            </a:r>
            <a:r>
              <a:rPr lang="en-US" altLang="zh-CN" sz="2800" dirty="0">
                <a:solidFill>
                  <a:schemeClr val="tx1"/>
                </a:solidFill>
              </a:rPr>
              <a:t>3NF,</a:t>
            </a:r>
            <a:r>
              <a:rPr lang="zh-CN" altLang="en-US" sz="2800" dirty="0">
                <a:solidFill>
                  <a:schemeClr val="tx1"/>
                </a:solidFill>
              </a:rPr>
              <a:t>并保持函数依赖</a:t>
            </a:r>
            <a:r>
              <a:rPr lang="zh-CN" altLang="en-US" dirty="0">
                <a:solidFill>
                  <a:schemeClr val="tx1"/>
                </a:solidFill>
              </a:rPr>
              <a:t>。</a:t>
            </a:r>
            <a:r>
              <a:rPr lang="en-US" altLang="zh-CN" dirty="0">
                <a:solidFill>
                  <a:schemeClr val="tx1"/>
                </a:solidFill>
              </a:rPr>
              <a:t>(</a:t>
            </a:r>
            <a:r>
              <a:rPr lang="zh-CN" altLang="en-US" i="1" dirty="0">
                <a:solidFill>
                  <a:srgbClr val="0000CC"/>
                </a:solidFill>
              </a:rPr>
              <a:t>比较例</a:t>
            </a:r>
            <a:r>
              <a:rPr lang="en-US" altLang="zh-CN" i="1" dirty="0">
                <a:solidFill>
                  <a:srgbClr val="0000CC"/>
                </a:solidFill>
              </a:rPr>
              <a:t>6.25</a:t>
            </a:r>
            <a:r>
              <a:rPr lang="zh-CN" altLang="en-US" i="1" dirty="0">
                <a:solidFill>
                  <a:srgbClr val="0000CC"/>
                </a:solidFill>
              </a:rPr>
              <a:t>的无损连接分解</a:t>
            </a:r>
            <a:r>
              <a:rPr lang="en-US" altLang="zh-CN" dirty="0">
                <a:solidFill>
                  <a:schemeClr val="tx1"/>
                </a:solidFill>
              </a:rPr>
              <a:t>)</a:t>
            </a:r>
            <a:endParaRPr lang="en-US" altLang="zh-CN" dirty="0">
              <a:solidFill>
                <a:schemeClr val="tx1"/>
              </a:solidFill>
            </a:endParaRPr>
          </a:p>
          <a:p>
            <a:pPr eaLnBrk="1" hangingPunct="1">
              <a:lnSpc>
                <a:spcPct val="115000"/>
              </a:lnSpc>
              <a:buNone/>
            </a:pPr>
            <a:r>
              <a:rPr lang="zh-CN" altLang="en-US" dirty="0">
                <a:solidFill>
                  <a:schemeClr val="tx1"/>
                </a:solidFill>
              </a:rPr>
              <a:t>解</a:t>
            </a:r>
            <a:r>
              <a:rPr lang="en-US" altLang="zh-CN" dirty="0">
                <a:solidFill>
                  <a:schemeClr val="tx1"/>
                </a:solidFill>
              </a:rPr>
              <a:t>: </a:t>
            </a:r>
            <a:r>
              <a:rPr lang="en-US" altLang="zh-CN" sz="2800" dirty="0">
                <a:solidFill>
                  <a:schemeClr val="tx1"/>
                </a:solidFill>
                <a:ea typeface="黑体" panose="02010609060101010101" pitchFamily="49" charset="-122"/>
              </a:rPr>
              <a:t>(1)</a:t>
            </a:r>
            <a:r>
              <a:rPr lang="zh-CN" altLang="en-US" sz="2800" dirty="0">
                <a:solidFill>
                  <a:schemeClr val="tx1"/>
                </a:solidFill>
              </a:rPr>
              <a:t>最小依赖集</a:t>
            </a:r>
            <a:r>
              <a:rPr lang="en-US" altLang="zh-CN" sz="2800" i="1" dirty="0">
                <a:solidFill>
                  <a:schemeClr val="tx1"/>
                </a:solidFill>
              </a:rPr>
              <a:t>F</a:t>
            </a:r>
            <a:r>
              <a:rPr lang="en-US" altLang="zh-CN" sz="2800" i="1" dirty="0">
                <a:solidFill>
                  <a:schemeClr val="tx1"/>
                </a:solidFill>
                <a:latin typeface="Palatino" pitchFamily="18" charset="0"/>
              </a:rPr>
              <a:t>’</a:t>
            </a:r>
            <a:r>
              <a:rPr lang="en-US" altLang="zh-CN" dirty="0">
                <a:solidFill>
                  <a:schemeClr val="tx1"/>
                </a:solidFill>
              </a:rPr>
              <a:t> ={</a:t>
            </a:r>
            <a:r>
              <a:rPr lang="en-US" altLang="zh-CN" sz="2800" i="1" dirty="0"/>
              <a:t>S#→</a:t>
            </a:r>
            <a:r>
              <a:rPr lang="en-US" altLang="zh-CN" sz="2800" i="1" dirty="0">
                <a:sym typeface="Symbol" panose="05050102010706020507" pitchFamily="18" charset="2"/>
              </a:rPr>
              <a:t> </a:t>
            </a:r>
            <a:r>
              <a:rPr lang="en-US" altLang="zh-CN" sz="2800" i="1" dirty="0"/>
              <a:t>D</a:t>
            </a:r>
            <a:r>
              <a:rPr lang="en-US" altLang="zh-CN" sz="2800" dirty="0"/>
              <a:t>,</a:t>
            </a:r>
            <a:r>
              <a:rPr lang="en-US" altLang="zh-CN" sz="2800" i="1" dirty="0"/>
              <a:t>D→</a:t>
            </a:r>
            <a:r>
              <a:rPr lang="en-US" altLang="zh-CN" sz="2800" i="1" dirty="0">
                <a:sym typeface="Symbol" panose="05050102010706020507" pitchFamily="18" charset="2"/>
              </a:rPr>
              <a:t> </a:t>
            </a:r>
            <a:r>
              <a:rPr lang="en-US" altLang="zh-CN" sz="2800" i="1" dirty="0"/>
              <a:t>M</a:t>
            </a:r>
            <a:r>
              <a:rPr lang="en-US" altLang="zh-CN" sz="2800" dirty="0"/>
              <a:t>,</a:t>
            </a:r>
            <a:r>
              <a:rPr lang="en-US" altLang="zh-CN" sz="2800" i="1" dirty="0"/>
              <a:t>(S#,C#)→</a:t>
            </a:r>
            <a:r>
              <a:rPr lang="en-US" altLang="zh-CN" sz="2800" i="1" dirty="0">
                <a:sym typeface="Symbol" panose="05050102010706020507" pitchFamily="18" charset="2"/>
              </a:rPr>
              <a:t> </a:t>
            </a:r>
            <a:r>
              <a:rPr lang="en-US" altLang="zh-CN" sz="2800" i="1" dirty="0"/>
              <a:t>G</a:t>
            </a:r>
            <a:r>
              <a:rPr lang="en-US" altLang="zh-CN" dirty="0">
                <a:solidFill>
                  <a:schemeClr val="tx1"/>
                </a:solidFill>
              </a:rPr>
              <a:t>}</a:t>
            </a:r>
            <a:endParaRPr lang="en-US" altLang="zh-CN" dirty="0">
              <a:solidFill>
                <a:schemeClr val="tx1"/>
              </a:solidFill>
            </a:endParaRPr>
          </a:p>
          <a:p>
            <a:pPr eaLnBrk="1" hangingPunct="1">
              <a:lnSpc>
                <a:spcPct val="115000"/>
              </a:lnSpc>
              <a:buNone/>
            </a:pPr>
            <a:r>
              <a:rPr lang="en-US" altLang="zh-CN" b="0" dirty="0">
                <a:solidFill>
                  <a:schemeClr val="tx1"/>
                </a:solidFill>
                <a:ea typeface="黑体" panose="02010609060101010101" pitchFamily="49" charset="-122"/>
              </a:rPr>
              <a:t>       </a:t>
            </a:r>
            <a:r>
              <a:rPr lang="en-US" altLang="zh-CN" sz="2800" dirty="0">
                <a:solidFill>
                  <a:schemeClr val="tx1"/>
                </a:solidFill>
                <a:ea typeface="黑体" panose="02010609060101010101" pitchFamily="49" charset="-122"/>
              </a:rPr>
              <a:t>(2)</a:t>
            </a:r>
            <a:r>
              <a:rPr lang="zh-CN" altLang="en-US" sz="2800" dirty="0">
                <a:solidFill>
                  <a:schemeClr val="tx1"/>
                </a:solidFill>
              </a:rPr>
              <a:t>分解</a:t>
            </a:r>
            <a:endParaRPr lang="zh-CN" altLang="en-US" sz="2800" dirty="0">
              <a:solidFill>
                <a:schemeClr val="tx1"/>
              </a:solidFill>
            </a:endParaRPr>
          </a:p>
          <a:p>
            <a:pPr lvl="1" eaLnBrk="1" hangingPunct="1">
              <a:lnSpc>
                <a:spcPct val="110000"/>
              </a:lnSpc>
              <a:spcBef>
                <a:spcPct val="25000"/>
              </a:spcBef>
              <a:buNone/>
            </a:pPr>
            <a:r>
              <a:rPr lang="zh-CN" altLang="en-US" i="1" dirty="0"/>
              <a:t>			</a:t>
            </a:r>
            <a:r>
              <a:rPr lang="en-US" altLang="zh-CN" i="1" dirty="0"/>
              <a:t>R</a:t>
            </a:r>
            <a:r>
              <a:rPr lang="en-US" altLang="zh-CN" i="1" baseline="-25000" dirty="0"/>
              <a:t>1</a:t>
            </a:r>
            <a:r>
              <a:rPr lang="en-US" altLang="zh-CN" dirty="0"/>
              <a:t>(S#</a:t>
            </a:r>
            <a:r>
              <a:rPr lang="zh-CN" altLang="en-US" dirty="0"/>
              <a:t>，</a:t>
            </a:r>
            <a:r>
              <a:rPr lang="en-US" altLang="zh-CN" dirty="0"/>
              <a:t>D)</a:t>
            </a:r>
            <a:r>
              <a:rPr lang="zh-CN" altLang="en-US" dirty="0"/>
              <a:t>， </a:t>
            </a:r>
            <a:r>
              <a:rPr lang="en-US" altLang="zh-CN" dirty="0"/>
              <a:t>{S#</a:t>
            </a:r>
            <a:r>
              <a:rPr lang="en-US" altLang="zh-CN" dirty="0">
                <a:sym typeface="Symbol" panose="05050102010706020507" pitchFamily="18" charset="2"/>
              </a:rPr>
              <a:t></a:t>
            </a:r>
            <a:r>
              <a:rPr lang="en-US" altLang="zh-CN" dirty="0"/>
              <a:t>D}</a:t>
            </a:r>
            <a:endParaRPr lang="en-US" altLang="zh-CN" dirty="0"/>
          </a:p>
          <a:p>
            <a:pPr lvl="1" eaLnBrk="1" hangingPunct="1">
              <a:lnSpc>
                <a:spcPct val="110000"/>
              </a:lnSpc>
              <a:spcBef>
                <a:spcPct val="25000"/>
              </a:spcBef>
              <a:buNone/>
            </a:pPr>
            <a:r>
              <a:rPr lang="en-US" altLang="zh-CN" dirty="0"/>
              <a:t>			</a:t>
            </a:r>
            <a:r>
              <a:rPr lang="en-US" altLang="zh-CN" i="1" dirty="0"/>
              <a:t>R</a:t>
            </a:r>
            <a:r>
              <a:rPr lang="en-US" altLang="zh-CN" i="1" baseline="-25000" dirty="0"/>
              <a:t>2</a:t>
            </a:r>
            <a:r>
              <a:rPr lang="en-US" altLang="zh-CN" dirty="0"/>
              <a:t>(D</a:t>
            </a:r>
            <a:r>
              <a:rPr lang="zh-CN" altLang="en-US" dirty="0"/>
              <a:t>，</a:t>
            </a:r>
            <a:r>
              <a:rPr lang="en-US" altLang="zh-CN" dirty="0"/>
              <a:t>M)</a:t>
            </a:r>
            <a:r>
              <a:rPr lang="zh-CN" altLang="en-US" dirty="0"/>
              <a:t>， </a:t>
            </a:r>
            <a:r>
              <a:rPr lang="en-US" altLang="zh-CN" dirty="0"/>
              <a:t>{ D</a:t>
            </a:r>
            <a:r>
              <a:rPr lang="en-US" altLang="zh-CN" dirty="0">
                <a:sym typeface="Symbol" panose="05050102010706020507" pitchFamily="18" charset="2"/>
              </a:rPr>
              <a:t>M</a:t>
            </a:r>
            <a:r>
              <a:rPr lang="en-US" altLang="zh-CN" dirty="0"/>
              <a:t>}</a:t>
            </a:r>
            <a:endParaRPr lang="en-US" altLang="zh-CN" dirty="0"/>
          </a:p>
          <a:p>
            <a:pPr lvl="1" eaLnBrk="1" hangingPunct="1">
              <a:lnSpc>
                <a:spcPct val="110000"/>
              </a:lnSpc>
              <a:spcBef>
                <a:spcPct val="25000"/>
              </a:spcBef>
              <a:buNone/>
            </a:pPr>
            <a:r>
              <a:rPr lang="en-US" altLang="zh-CN" dirty="0"/>
              <a:t>			</a:t>
            </a:r>
            <a:r>
              <a:rPr lang="en-US" altLang="zh-CN" i="1" dirty="0"/>
              <a:t>R</a:t>
            </a:r>
            <a:r>
              <a:rPr lang="en-US" altLang="zh-CN" i="1" baseline="-25000" dirty="0"/>
              <a:t>3</a:t>
            </a:r>
            <a:r>
              <a:rPr lang="en-US" altLang="zh-CN" dirty="0"/>
              <a:t>(S#</a:t>
            </a:r>
            <a:r>
              <a:rPr lang="zh-CN" altLang="en-US" dirty="0"/>
              <a:t>，</a:t>
            </a:r>
            <a:r>
              <a:rPr lang="en-US" altLang="zh-CN" dirty="0"/>
              <a:t>C#</a:t>
            </a:r>
            <a:r>
              <a:rPr lang="zh-CN" altLang="en-US" dirty="0"/>
              <a:t>，</a:t>
            </a:r>
            <a:r>
              <a:rPr lang="en-US" altLang="zh-CN" dirty="0"/>
              <a:t>G)</a:t>
            </a:r>
            <a:r>
              <a:rPr lang="zh-CN" altLang="en-US" dirty="0"/>
              <a:t>， </a:t>
            </a:r>
            <a:r>
              <a:rPr lang="en-US" altLang="zh-CN" dirty="0"/>
              <a:t>{(S#,C#)</a:t>
            </a:r>
            <a:r>
              <a:rPr lang="en-US" altLang="zh-CN" dirty="0">
                <a:sym typeface="Symbol" panose="05050102010706020507" pitchFamily="18" charset="2"/>
              </a:rPr>
              <a:t></a:t>
            </a:r>
            <a:r>
              <a:rPr lang="en-US" altLang="zh-CN" dirty="0"/>
              <a:t>G}</a:t>
            </a:r>
            <a:endParaRPr lang="en-US" altLang="zh-CN" dirty="0"/>
          </a:p>
          <a:p>
            <a:pPr eaLnBrk="1" hangingPunct="1">
              <a:lnSpc>
                <a:spcPct val="115000"/>
              </a:lnSpc>
              <a:buNone/>
            </a:pPr>
            <a:r>
              <a:rPr lang="zh-CN" altLang="en-US" i="1" dirty="0">
                <a:solidFill>
                  <a:srgbClr val="0000CC"/>
                </a:solidFill>
                <a:sym typeface="Symbol" panose="05050102010706020507" pitchFamily="18" charset="2"/>
              </a:rPr>
              <a:t>这个分解是无损连接的分解吗？</a:t>
            </a:r>
            <a:endParaRPr lang="zh-CN" altLang="en-US" i="1" dirty="0">
              <a:solidFill>
                <a:srgbClr val="0000CC"/>
              </a:solidFill>
              <a:sym typeface="Symbol" panose="05050102010706020507" pitchFamily="18" charset="2"/>
            </a:endParaRPr>
          </a:p>
        </p:txBody>
      </p:sp>
      <p:sp>
        <p:nvSpPr>
          <p:cNvPr id="41988"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3011" name="Rectangle 2"/>
          <p:cNvSpPr>
            <a:spLocks noGrp="1"/>
          </p:cNvSpPr>
          <p:nvPr>
            <p:ph idx="1"/>
          </p:nvPr>
        </p:nvSpPr>
        <p:spPr>
          <a:xfrm>
            <a:off x="381000" y="736600"/>
            <a:ext cx="8610600" cy="5867400"/>
          </a:xfrm>
          <a:ln/>
        </p:spPr>
        <p:txBody>
          <a:bodyPr vert="horz" wrap="square" lIns="91440" tIns="45720" rIns="91440" bIns="45720" anchor="t" anchorCtr="0"/>
          <a:p>
            <a:pPr eaLnBrk="1" hangingPunct="1">
              <a:lnSpc>
                <a:spcPct val="115000"/>
              </a:lnSpc>
              <a:buNone/>
            </a:pPr>
            <a:r>
              <a:rPr lang="en-US" altLang="zh-CN" sz="2800" dirty="0">
                <a:solidFill>
                  <a:schemeClr val="tx1"/>
                </a:solidFill>
              </a:rPr>
              <a:t>[</a:t>
            </a:r>
            <a:r>
              <a:rPr lang="zh-CN" altLang="en-US" sz="2800" dirty="0">
                <a:solidFill>
                  <a:schemeClr val="tx1"/>
                </a:solidFill>
              </a:rPr>
              <a:t>例</a:t>
            </a:r>
            <a:r>
              <a:rPr lang="en-US" altLang="zh-CN" sz="2800" dirty="0">
                <a:solidFill>
                  <a:schemeClr val="tx1"/>
                </a:solidFill>
              </a:rPr>
              <a:t>6.28]  </a:t>
            </a:r>
            <a:r>
              <a:rPr lang="en-US" altLang="zh-CN" sz="2800" i="1" dirty="0">
                <a:solidFill>
                  <a:schemeClr val="tx1"/>
                </a:solidFill>
              </a:rPr>
              <a:t>R(C,T,H,R,S,G)</a:t>
            </a:r>
            <a:r>
              <a:rPr lang="en-US" altLang="zh-CN" sz="2800" dirty="0">
                <a:solidFill>
                  <a:schemeClr val="tx1"/>
                </a:solidFill>
              </a:rPr>
              <a:t>, </a:t>
            </a:r>
            <a:r>
              <a:rPr lang="zh-CN" altLang="en-US" sz="2800" dirty="0">
                <a:solidFill>
                  <a:schemeClr val="tx1"/>
                </a:solidFill>
              </a:rPr>
              <a:t>其中</a:t>
            </a:r>
            <a:r>
              <a:rPr lang="en-US" altLang="zh-CN" sz="2800" dirty="0">
                <a:solidFill>
                  <a:schemeClr val="tx1"/>
                </a:solidFill>
              </a:rPr>
              <a:t>:</a:t>
            </a:r>
            <a:r>
              <a:rPr lang="en-US" altLang="zh-CN" sz="2800" i="1" dirty="0">
                <a:solidFill>
                  <a:schemeClr val="tx1"/>
                </a:solidFill>
              </a:rPr>
              <a:t>C</a:t>
            </a:r>
            <a:r>
              <a:rPr lang="en-US" altLang="zh-CN" sz="2800" dirty="0">
                <a:solidFill>
                  <a:schemeClr val="tx1"/>
                </a:solidFill>
              </a:rPr>
              <a:t>─</a:t>
            </a:r>
            <a:r>
              <a:rPr lang="zh-CN" altLang="en-US" sz="2800" dirty="0">
                <a:solidFill>
                  <a:schemeClr val="tx1"/>
                </a:solidFill>
              </a:rPr>
              <a:t>课程</a:t>
            </a:r>
            <a:r>
              <a:rPr lang="en-US" altLang="zh-CN" sz="2800" dirty="0">
                <a:solidFill>
                  <a:schemeClr val="tx1"/>
                </a:solidFill>
              </a:rPr>
              <a:t>,</a:t>
            </a:r>
            <a:r>
              <a:rPr lang="en-US" altLang="zh-CN" sz="2800" i="1" dirty="0">
                <a:solidFill>
                  <a:schemeClr val="tx1"/>
                </a:solidFill>
              </a:rPr>
              <a:t>T</a:t>
            </a:r>
            <a:r>
              <a:rPr lang="en-US" altLang="zh-CN" sz="2800" dirty="0">
                <a:solidFill>
                  <a:schemeClr val="tx1"/>
                </a:solidFill>
              </a:rPr>
              <a:t>─</a:t>
            </a:r>
            <a:r>
              <a:rPr lang="zh-CN" altLang="en-US" sz="2800" dirty="0">
                <a:solidFill>
                  <a:schemeClr val="tx1"/>
                </a:solidFill>
              </a:rPr>
              <a:t>教师</a:t>
            </a:r>
            <a:r>
              <a:rPr lang="en-US" altLang="zh-CN" sz="2800" dirty="0">
                <a:solidFill>
                  <a:schemeClr val="tx1"/>
                </a:solidFill>
              </a:rPr>
              <a:t>,</a:t>
            </a:r>
            <a:r>
              <a:rPr lang="en-US" altLang="zh-CN" sz="2800" i="1" dirty="0">
                <a:solidFill>
                  <a:schemeClr val="tx1"/>
                </a:solidFill>
              </a:rPr>
              <a:t>H</a:t>
            </a:r>
            <a:r>
              <a:rPr lang="en-US" altLang="zh-CN" sz="2800" dirty="0">
                <a:solidFill>
                  <a:schemeClr val="tx1"/>
                </a:solidFill>
              </a:rPr>
              <a:t>─</a:t>
            </a:r>
            <a:r>
              <a:rPr lang="zh-CN" altLang="en-US" sz="2800" dirty="0">
                <a:solidFill>
                  <a:schemeClr val="tx1"/>
                </a:solidFill>
              </a:rPr>
              <a:t>时间</a:t>
            </a:r>
            <a:r>
              <a:rPr lang="en-US" altLang="zh-CN" sz="2800" dirty="0">
                <a:solidFill>
                  <a:schemeClr val="tx1"/>
                </a:solidFill>
              </a:rPr>
              <a:t>,</a:t>
            </a:r>
            <a:r>
              <a:rPr lang="en-US" altLang="zh-CN" sz="2800" i="1" dirty="0">
                <a:solidFill>
                  <a:schemeClr val="tx1"/>
                </a:solidFill>
              </a:rPr>
              <a:t>R</a:t>
            </a:r>
            <a:r>
              <a:rPr lang="en-US" altLang="zh-CN" sz="2800" dirty="0">
                <a:solidFill>
                  <a:schemeClr val="tx1"/>
                </a:solidFill>
              </a:rPr>
              <a:t>─</a:t>
            </a:r>
            <a:r>
              <a:rPr lang="zh-CN" altLang="en-US" sz="2800" dirty="0">
                <a:solidFill>
                  <a:schemeClr val="tx1"/>
                </a:solidFill>
              </a:rPr>
              <a:t>教室</a:t>
            </a:r>
            <a:r>
              <a:rPr lang="en-US" altLang="zh-CN" sz="2800" dirty="0">
                <a:solidFill>
                  <a:schemeClr val="tx1"/>
                </a:solidFill>
              </a:rPr>
              <a:t>,</a:t>
            </a:r>
            <a:r>
              <a:rPr lang="en-US" altLang="zh-CN" sz="2800" i="1" dirty="0">
                <a:solidFill>
                  <a:schemeClr val="tx1"/>
                </a:solidFill>
              </a:rPr>
              <a:t>S</a:t>
            </a:r>
            <a:r>
              <a:rPr lang="en-US" altLang="zh-CN" sz="2800" dirty="0">
                <a:solidFill>
                  <a:schemeClr val="tx1"/>
                </a:solidFill>
              </a:rPr>
              <a:t>─</a:t>
            </a:r>
            <a:r>
              <a:rPr lang="zh-CN" altLang="en-US" sz="2800" dirty="0">
                <a:solidFill>
                  <a:schemeClr val="tx1"/>
                </a:solidFill>
              </a:rPr>
              <a:t>学生</a:t>
            </a:r>
            <a:r>
              <a:rPr lang="en-US" altLang="zh-CN" sz="2800" dirty="0">
                <a:solidFill>
                  <a:schemeClr val="tx1"/>
                </a:solidFill>
              </a:rPr>
              <a:t>,</a:t>
            </a:r>
            <a:r>
              <a:rPr lang="en-US" altLang="zh-CN" sz="2800" i="1" dirty="0">
                <a:solidFill>
                  <a:schemeClr val="tx1"/>
                </a:solidFill>
              </a:rPr>
              <a:t>G</a:t>
            </a:r>
            <a:r>
              <a:rPr lang="en-US" altLang="zh-CN" sz="2800" dirty="0">
                <a:solidFill>
                  <a:schemeClr val="tx1"/>
                </a:solidFill>
              </a:rPr>
              <a:t>─</a:t>
            </a:r>
            <a:r>
              <a:rPr lang="zh-CN" altLang="en-US" sz="2800" dirty="0">
                <a:solidFill>
                  <a:schemeClr val="tx1"/>
                </a:solidFill>
              </a:rPr>
              <a:t>成绩</a:t>
            </a:r>
            <a:r>
              <a:rPr lang="en-US" altLang="zh-CN" sz="2800" dirty="0">
                <a:solidFill>
                  <a:schemeClr val="tx1"/>
                </a:solidFill>
              </a:rPr>
              <a:t>.  F</a:t>
            </a:r>
            <a:r>
              <a:rPr lang="zh-CN" altLang="en-US" sz="2800" dirty="0">
                <a:solidFill>
                  <a:schemeClr val="tx1"/>
                </a:solidFill>
              </a:rPr>
              <a:t>：</a:t>
            </a:r>
            <a:endParaRPr lang="zh-CN" altLang="en-US" sz="2800" dirty="0">
              <a:solidFill>
                <a:schemeClr val="tx1"/>
              </a:solidFill>
            </a:endParaRPr>
          </a:p>
          <a:p>
            <a:pPr eaLnBrk="1" hangingPunct="1">
              <a:lnSpc>
                <a:spcPct val="115000"/>
              </a:lnSpc>
              <a:buNone/>
            </a:pPr>
            <a:r>
              <a:rPr lang="en-US" altLang="zh-CN" sz="2800" dirty="0">
                <a:solidFill>
                  <a:schemeClr val="tx1"/>
                </a:solidFill>
              </a:rPr>
              <a:t>1. </a:t>
            </a:r>
            <a:r>
              <a:rPr lang="en-US" altLang="zh-CN" sz="2800" i="1" dirty="0">
                <a:solidFill>
                  <a:schemeClr val="tx1"/>
                </a:solidFill>
              </a:rPr>
              <a:t>C→T</a:t>
            </a:r>
            <a:r>
              <a:rPr lang="en-US" altLang="zh-CN" sz="2800" dirty="0">
                <a:solidFill>
                  <a:schemeClr val="tx1"/>
                </a:solidFill>
              </a:rPr>
              <a:t>(</a:t>
            </a:r>
            <a:r>
              <a:rPr lang="zh-CN" altLang="en-US" sz="2800" dirty="0">
                <a:solidFill>
                  <a:schemeClr val="tx1"/>
                </a:solidFill>
              </a:rPr>
              <a:t>每门课仅一名教师上</a:t>
            </a:r>
            <a:r>
              <a:rPr lang="en-US" altLang="zh-CN" sz="2800" dirty="0">
                <a:solidFill>
                  <a:schemeClr val="tx1"/>
                </a:solidFill>
              </a:rPr>
              <a:t>)</a:t>
            </a:r>
            <a:endParaRPr lang="en-US" altLang="zh-CN" sz="2800" dirty="0">
              <a:solidFill>
                <a:schemeClr val="tx1"/>
              </a:solidFill>
            </a:endParaRPr>
          </a:p>
          <a:p>
            <a:pPr eaLnBrk="1" hangingPunct="1">
              <a:lnSpc>
                <a:spcPct val="115000"/>
              </a:lnSpc>
              <a:buNone/>
            </a:pPr>
            <a:r>
              <a:rPr lang="en-US" altLang="zh-CN" sz="2800" dirty="0">
                <a:solidFill>
                  <a:schemeClr val="tx1"/>
                </a:solidFill>
              </a:rPr>
              <a:t>2. </a:t>
            </a:r>
            <a:r>
              <a:rPr lang="en-US" altLang="zh-CN" sz="2800" i="1" dirty="0">
                <a:solidFill>
                  <a:schemeClr val="tx1"/>
                </a:solidFill>
              </a:rPr>
              <a:t>HR→C</a:t>
            </a:r>
            <a:r>
              <a:rPr lang="en-US" altLang="zh-CN" sz="2800" dirty="0">
                <a:solidFill>
                  <a:schemeClr val="tx1"/>
                </a:solidFill>
              </a:rPr>
              <a:t>(</a:t>
            </a:r>
            <a:r>
              <a:rPr lang="zh-CN" altLang="en-US" sz="2800" dirty="0">
                <a:solidFill>
                  <a:schemeClr val="tx1"/>
                </a:solidFill>
              </a:rPr>
              <a:t>任一时间，一个教室只能上一门课</a:t>
            </a:r>
            <a:r>
              <a:rPr lang="en-US" altLang="zh-CN" sz="2800" dirty="0">
                <a:solidFill>
                  <a:schemeClr val="tx1"/>
                </a:solidFill>
              </a:rPr>
              <a:t>)</a:t>
            </a:r>
            <a:endParaRPr lang="en-US" altLang="zh-CN" sz="2800" dirty="0">
              <a:solidFill>
                <a:schemeClr val="tx1"/>
              </a:solidFill>
            </a:endParaRPr>
          </a:p>
          <a:p>
            <a:pPr eaLnBrk="1" hangingPunct="1">
              <a:lnSpc>
                <a:spcPct val="115000"/>
              </a:lnSpc>
              <a:buNone/>
            </a:pPr>
            <a:r>
              <a:rPr lang="en-US" altLang="zh-CN" sz="2800" dirty="0">
                <a:solidFill>
                  <a:schemeClr val="tx1"/>
                </a:solidFill>
              </a:rPr>
              <a:t>3. </a:t>
            </a:r>
            <a:r>
              <a:rPr lang="en-US" altLang="zh-CN" sz="2800" i="1" dirty="0">
                <a:solidFill>
                  <a:schemeClr val="tx1"/>
                </a:solidFill>
              </a:rPr>
              <a:t>HT→R</a:t>
            </a:r>
            <a:r>
              <a:rPr lang="en-US" altLang="zh-CN" sz="2800" dirty="0">
                <a:solidFill>
                  <a:schemeClr val="tx1"/>
                </a:solidFill>
              </a:rPr>
              <a:t>(</a:t>
            </a:r>
            <a:r>
              <a:rPr lang="zh-CN" altLang="en-US" sz="2800" dirty="0">
                <a:solidFill>
                  <a:schemeClr val="tx1"/>
                </a:solidFill>
              </a:rPr>
              <a:t>一个时间，一个教师只能在一个教室上课</a:t>
            </a:r>
            <a:r>
              <a:rPr lang="en-US" altLang="zh-CN" sz="2800" dirty="0">
                <a:solidFill>
                  <a:schemeClr val="tx1"/>
                </a:solidFill>
              </a:rPr>
              <a:t>)</a:t>
            </a:r>
            <a:endParaRPr lang="en-US" altLang="zh-CN" sz="2800" dirty="0">
              <a:solidFill>
                <a:schemeClr val="tx1"/>
              </a:solidFill>
            </a:endParaRPr>
          </a:p>
          <a:p>
            <a:pPr eaLnBrk="1" hangingPunct="1">
              <a:lnSpc>
                <a:spcPct val="115000"/>
              </a:lnSpc>
              <a:buNone/>
            </a:pPr>
            <a:r>
              <a:rPr lang="en-US" altLang="zh-CN" sz="2800" dirty="0">
                <a:solidFill>
                  <a:schemeClr val="tx1"/>
                </a:solidFill>
              </a:rPr>
              <a:t>4. </a:t>
            </a:r>
            <a:r>
              <a:rPr lang="en-US" altLang="zh-CN" sz="2800" i="1" dirty="0">
                <a:solidFill>
                  <a:schemeClr val="tx1"/>
                </a:solidFill>
              </a:rPr>
              <a:t>CS→G</a:t>
            </a:r>
            <a:r>
              <a:rPr lang="en-US" altLang="zh-CN" sz="2800" dirty="0">
                <a:solidFill>
                  <a:schemeClr val="tx1"/>
                </a:solidFill>
              </a:rPr>
              <a:t>(</a:t>
            </a:r>
            <a:r>
              <a:rPr lang="zh-CN" altLang="en-US" sz="2800" dirty="0">
                <a:solidFill>
                  <a:schemeClr val="tx1"/>
                </a:solidFill>
              </a:rPr>
              <a:t>一个学生，一门课只有一个成绩</a:t>
            </a:r>
            <a:r>
              <a:rPr lang="en-US" altLang="zh-CN" sz="2800" dirty="0">
                <a:solidFill>
                  <a:schemeClr val="tx1"/>
                </a:solidFill>
              </a:rPr>
              <a:t>)</a:t>
            </a:r>
            <a:endParaRPr lang="en-US" altLang="zh-CN" sz="2800" dirty="0">
              <a:solidFill>
                <a:schemeClr val="tx1"/>
              </a:solidFill>
            </a:endParaRPr>
          </a:p>
          <a:p>
            <a:pPr eaLnBrk="1" hangingPunct="1">
              <a:lnSpc>
                <a:spcPct val="115000"/>
              </a:lnSpc>
              <a:buNone/>
            </a:pPr>
            <a:r>
              <a:rPr lang="en-US" altLang="zh-CN" sz="2800" dirty="0">
                <a:solidFill>
                  <a:schemeClr val="tx1"/>
                </a:solidFill>
              </a:rPr>
              <a:t>5. </a:t>
            </a:r>
            <a:r>
              <a:rPr lang="en-US" altLang="zh-CN" sz="2800" i="1" dirty="0">
                <a:solidFill>
                  <a:schemeClr val="tx1"/>
                </a:solidFill>
              </a:rPr>
              <a:t>HS→R</a:t>
            </a:r>
            <a:r>
              <a:rPr lang="en-US" altLang="zh-CN" sz="2800" dirty="0">
                <a:solidFill>
                  <a:schemeClr val="tx1"/>
                </a:solidFill>
              </a:rPr>
              <a:t>(</a:t>
            </a:r>
            <a:r>
              <a:rPr lang="zh-CN" altLang="en-US" sz="2800" dirty="0">
                <a:solidFill>
                  <a:schemeClr val="tx1"/>
                </a:solidFill>
              </a:rPr>
              <a:t>一个时间，一个学生只能在一个教室上课</a:t>
            </a:r>
            <a:r>
              <a:rPr lang="en-US" altLang="zh-CN" sz="2800" dirty="0">
                <a:solidFill>
                  <a:schemeClr val="tx1"/>
                </a:solidFill>
              </a:rPr>
              <a:t>)</a:t>
            </a:r>
            <a:endParaRPr lang="en-US" altLang="zh-CN" sz="2800" dirty="0">
              <a:solidFill>
                <a:schemeClr val="tx1"/>
              </a:solidFill>
            </a:endParaRPr>
          </a:p>
          <a:p>
            <a:pPr eaLnBrk="1" hangingPunct="1">
              <a:lnSpc>
                <a:spcPct val="115000"/>
              </a:lnSpc>
              <a:buNone/>
            </a:pPr>
            <a:r>
              <a:rPr lang="zh-CN" altLang="en-US" sz="2800" dirty="0">
                <a:solidFill>
                  <a:schemeClr val="tx1"/>
                </a:solidFill>
              </a:rPr>
              <a:t>求</a:t>
            </a:r>
            <a:r>
              <a:rPr lang="en-US" altLang="zh-CN" sz="2800" i="1" dirty="0">
                <a:solidFill>
                  <a:schemeClr val="tx1"/>
                </a:solidFill>
              </a:rPr>
              <a:t>R</a:t>
            </a:r>
            <a:r>
              <a:rPr lang="zh-CN" altLang="en-US" sz="2800" dirty="0">
                <a:solidFill>
                  <a:schemeClr val="tx1"/>
                </a:solidFill>
              </a:rPr>
              <a:t>的</a:t>
            </a:r>
            <a:r>
              <a:rPr lang="en-US" altLang="zh-CN" sz="2800" i="1" dirty="0">
                <a:solidFill>
                  <a:schemeClr val="tx1"/>
                </a:solidFill>
              </a:rPr>
              <a:t>3NF</a:t>
            </a:r>
            <a:r>
              <a:rPr lang="zh-CN" altLang="en-US" sz="2800" dirty="0">
                <a:solidFill>
                  <a:schemeClr val="tx1"/>
                </a:solidFill>
              </a:rPr>
              <a:t>分解，并要求保持函数依赖。</a:t>
            </a:r>
            <a:endParaRPr lang="zh-CN" altLang="en-US" sz="2800" dirty="0">
              <a:solidFill>
                <a:schemeClr val="tx1"/>
              </a:solidFill>
            </a:endParaRPr>
          </a:p>
          <a:p>
            <a:pPr eaLnBrk="1" hangingPunct="1">
              <a:lnSpc>
                <a:spcPct val="115000"/>
              </a:lnSpc>
              <a:buNone/>
            </a:pPr>
            <a:r>
              <a:rPr lang="zh-CN" altLang="en-US" sz="2800" dirty="0">
                <a:solidFill>
                  <a:schemeClr val="tx1"/>
                </a:solidFill>
              </a:rPr>
              <a:t>解</a:t>
            </a:r>
            <a:r>
              <a:rPr lang="en-US" altLang="zh-CN" sz="2800" dirty="0">
                <a:solidFill>
                  <a:schemeClr val="tx1"/>
                </a:solidFill>
              </a:rPr>
              <a:t>:(1)</a:t>
            </a:r>
            <a:r>
              <a:rPr lang="zh-CN" altLang="en-US" sz="2800" dirty="0">
                <a:solidFill>
                  <a:schemeClr val="tx1"/>
                </a:solidFill>
              </a:rPr>
              <a:t>最小依赖集</a:t>
            </a:r>
            <a:endParaRPr lang="zh-CN" altLang="en-US" sz="2800" dirty="0">
              <a:solidFill>
                <a:schemeClr val="tx1"/>
              </a:solidFill>
            </a:endParaRPr>
          </a:p>
          <a:p>
            <a:pPr eaLnBrk="1" hangingPunct="1">
              <a:lnSpc>
                <a:spcPct val="115000"/>
              </a:lnSpc>
              <a:buNone/>
            </a:pPr>
            <a:r>
              <a:rPr lang="zh-CN" altLang="en-US" sz="2800" i="1" dirty="0">
                <a:solidFill>
                  <a:schemeClr val="tx1"/>
                </a:solidFill>
              </a:rPr>
              <a:t>     </a:t>
            </a:r>
            <a:r>
              <a:rPr lang="en-US" altLang="zh-CN" sz="2800" i="1" dirty="0">
                <a:solidFill>
                  <a:schemeClr val="tx1"/>
                </a:solidFill>
              </a:rPr>
              <a:t>F</a:t>
            </a:r>
            <a:r>
              <a:rPr lang="en-US" altLang="zh-CN" sz="2800" i="1" dirty="0">
                <a:solidFill>
                  <a:schemeClr val="tx1"/>
                </a:solidFill>
                <a:latin typeface="Palatino" pitchFamily="18" charset="0"/>
              </a:rPr>
              <a:t>’</a:t>
            </a:r>
            <a:r>
              <a:rPr lang="en-US" altLang="zh-CN" sz="2800" dirty="0">
                <a:solidFill>
                  <a:schemeClr val="tx1"/>
                </a:solidFill>
              </a:rPr>
              <a:t> ={</a:t>
            </a:r>
            <a:r>
              <a:rPr lang="en-US" altLang="zh-CN" sz="2800" i="1" dirty="0">
                <a:solidFill>
                  <a:schemeClr val="tx1"/>
                </a:solidFill>
              </a:rPr>
              <a:t>C→T</a:t>
            </a:r>
            <a:r>
              <a:rPr lang="en-US" altLang="zh-CN" sz="2800" dirty="0">
                <a:solidFill>
                  <a:schemeClr val="tx1"/>
                </a:solidFill>
              </a:rPr>
              <a:t>, </a:t>
            </a:r>
            <a:r>
              <a:rPr lang="en-US" altLang="zh-CN" sz="2800" i="1" dirty="0">
                <a:solidFill>
                  <a:schemeClr val="tx1"/>
                </a:solidFill>
              </a:rPr>
              <a:t>HR→C</a:t>
            </a:r>
            <a:r>
              <a:rPr lang="en-US" altLang="zh-CN" sz="2800" dirty="0">
                <a:solidFill>
                  <a:schemeClr val="tx1"/>
                </a:solidFill>
              </a:rPr>
              <a:t>, </a:t>
            </a:r>
            <a:r>
              <a:rPr lang="en-US" altLang="zh-CN" sz="2800" i="1" dirty="0">
                <a:solidFill>
                  <a:schemeClr val="tx1"/>
                </a:solidFill>
              </a:rPr>
              <a:t>HT→R</a:t>
            </a:r>
            <a:r>
              <a:rPr lang="en-US" altLang="zh-CN" sz="2800" dirty="0">
                <a:solidFill>
                  <a:schemeClr val="tx1"/>
                </a:solidFill>
              </a:rPr>
              <a:t>, </a:t>
            </a:r>
            <a:r>
              <a:rPr lang="en-US" altLang="zh-CN" sz="2800" i="1" dirty="0">
                <a:solidFill>
                  <a:schemeClr val="tx1"/>
                </a:solidFill>
              </a:rPr>
              <a:t>CS→G</a:t>
            </a:r>
            <a:r>
              <a:rPr lang="en-US" altLang="zh-CN" sz="2800" dirty="0">
                <a:solidFill>
                  <a:schemeClr val="tx1"/>
                </a:solidFill>
              </a:rPr>
              <a:t>, </a:t>
            </a:r>
            <a:r>
              <a:rPr lang="en-US" altLang="zh-CN" sz="2800" i="1" dirty="0">
                <a:solidFill>
                  <a:schemeClr val="tx1"/>
                </a:solidFill>
              </a:rPr>
              <a:t>HS→R</a:t>
            </a:r>
            <a:r>
              <a:rPr lang="en-US" altLang="zh-CN" sz="2800" dirty="0">
                <a:solidFill>
                  <a:schemeClr val="tx1"/>
                </a:solidFill>
              </a:rPr>
              <a:t>}</a:t>
            </a:r>
            <a:endParaRPr lang="en-US" altLang="zh-CN" sz="2800" dirty="0">
              <a:solidFill>
                <a:schemeClr val="tx1"/>
              </a:solidFill>
            </a:endParaRPr>
          </a:p>
        </p:txBody>
      </p:sp>
      <p:sp>
        <p:nvSpPr>
          <p:cNvPr id="43012"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4035" name="Rectangle 2"/>
          <p:cNvSpPr>
            <a:spLocks noGrp="1"/>
          </p:cNvSpPr>
          <p:nvPr>
            <p:ph idx="1"/>
          </p:nvPr>
        </p:nvSpPr>
        <p:spPr>
          <a:xfrm>
            <a:off x="381000" y="673100"/>
            <a:ext cx="8610600" cy="5803900"/>
          </a:xfrm>
          <a:ln/>
        </p:spPr>
        <p:txBody>
          <a:bodyPr vert="horz" wrap="square" lIns="91440" tIns="45720" rIns="91440" bIns="45720" anchor="t" anchorCtr="0"/>
          <a:p>
            <a:pPr eaLnBrk="1" hangingPunct="1">
              <a:lnSpc>
                <a:spcPct val="115000"/>
              </a:lnSpc>
              <a:buNone/>
            </a:pPr>
            <a:r>
              <a:rPr lang="en-US" altLang="zh-CN" b="0" dirty="0">
                <a:solidFill>
                  <a:schemeClr val="tx1"/>
                </a:solidFill>
                <a:ea typeface="黑体" panose="02010609060101010101" pitchFamily="49" charset="-122"/>
              </a:rPr>
              <a:t>       </a:t>
            </a:r>
            <a:r>
              <a:rPr lang="en-US" altLang="zh-CN" sz="2800" dirty="0">
                <a:solidFill>
                  <a:schemeClr val="tx1"/>
                </a:solidFill>
                <a:ea typeface="黑体" panose="02010609060101010101" pitchFamily="49" charset="-122"/>
              </a:rPr>
              <a:t>(2)</a:t>
            </a:r>
            <a:r>
              <a:rPr lang="zh-CN" altLang="en-US" sz="2800" dirty="0">
                <a:solidFill>
                  <a:schemeClr val="tx1"/>
                </a:solidFill>
              </a:rPr>
              <a:t>分解</a:t>
            </a:r>
            <a:endParaRPr lang="zh-CN" altLang="en-US" sz="2800" dirty="0">
              <a:solidFill>
                <a:schemeClr val="tx1"/>
              </a:solidFill>
            </a:endParaRPr>
          </a:p>
          <a:p>
            <a:pPr lvl="1" eaLnBrk="1" hangingPunct="1">
              <a:lnSpc>
                <a:spcPct val="110000"/>
              </a:lnSpc>
              <a:spcBef>
                <a:spcPct val="25000"/>
              </a:spcBef>
              <a:buNone/>
            </a:pPr>
            <a:r>
              <a:rPr lang="en-US" altLang="zh-CN" i="1" dirty="0"/>
              <a:t>CT</a:t>
            </a:r>
            <a:r>
              <a:rPr lang="en-US" altLang="zh-CN" dirty="0"/>
              <a:t>(</a:t>
            </a:r>
            <a:r>
              <a:rPr lang="en-US" altLang="zh-CN" i="1" dirty="0">
                <a:solidFill>
                  <a:srgbClr val="0000CC"/>
                </a:solidFill>
              </a:rPr>
              <a:t>C</a:t>
            </a:r>
            <a:r>
              <a:rPr lang="en-US" altLang="zh-CN" i="1" dirty="0"/>
              <a:t>,T</a:t>
            </a:r>
            <a:r>
              <a:rPr lang="en-US" altLang="zh-CN" dirty="0"/>
              <a:t>), {</a:t>
            </a:r>
            <a:r>
              <a:rPr lang="en-US" altLang="zh-CN" i="1" dirty="0"/>
              <a:t>C</a:t>
            </a:r>
            <a:r>
              <a:rPr lang="en-US" altLang="zh-CN" i="1" dirty="0">
                <a:sym typeface="Symbol" panose="05050102010706020507" pitchFamily="18" charset="2"/>
              </a:rPr>
              <a:t></a:t>
            </a:r>
            <a:r>
              <a:rPr lang="en-US" altLang="zh-CN" i="1" dirty="0"/>
              <a:t>T</a:t>
            </a:r>
            <a:r>
              <a:rPr lang="en-US" altLang="zh-CN" dirty="0"/>
              <a:t>}    </a:t>
            </a:r>
            <a:r>
              <a:rPr lang="zh-CN" altLang="en-US" dirty="0"/>
              <a:t>授课老师安排表</a:t>
            </a:r>
            <a:endParaRPr lang="zh-CN" altLang="en-US" dirty="0"/>
          </a:p>
          <a:p>
            <a:pPr lvl="1" eaLnBrk="1" hangingPunct="1">
              <a:lnSpc>
                <a:spcPct val="110000"/>
              </a:lnSpc>
              <a:spcBef>
                <a:spcPct val="25000"/>
              </a:spcBef>
              <a:buNone/>
            </a:pPr>
            <a:r>
              <a:rPr lang="en-US" altLang="zh-CN" i="1" dirty="0"/>
              <a:t>HRC</a:t>
            </a:r>
            <a:r>
              <a:rPr lang="en-US" altLang="zh-CN" dirty="0"/>
              <a:t>(</a:t>
            </a:r>
            <a:r>
              <a:rPr lang="en-US" altLang="zh-CN" i="1" dirty="0">
                <a:solidFill>
                  <a:srgbClr val="0000CC"/>
                </a:solidFill>
              </a:rPr>
              <a:t>H</a:t>
            </a:r>
            <a:r>
              <a:rPr lang="en-US" altLang="zh-CN" i="1" dirty="0"/>
              <a:t>,</a:t>
            </a:r>
            <a:r>
              <a:rPr lang="en-US" altLang="zh-CN" i="1" dirty="0">
                <a:solidFill>
                  <a:srgbClr val="0000CC"/>
                </a:solidFill>
              </a:rPr>
              <a:t>R</a:t>
            </a:r>
            <a:r>
              <a:rPr lang="en-US" altLang="zh-CN" i="1" dirty="0"/>
              <a:t>,C</a:t>
            </a:r>
            <a:r>
              <a:rPr lang="en-US" altLang="zh-CN" dirty="0"/>
              <a:t>), { </a:t>
            </a:r>
            <a:r>
              <a:rPr lang="en-US" altLang="zh-CN" i="1" dirty="0"/>
              <a:t>HR</a:t>
            </a:r>
            <a:r>
              <a:rPr lang="en-US" altLang="zh-CN" i="1" dirty="0">
                <a:sym typeface="Symbol" panose="05050102010706020507" pitchFamily="18" charset="2"/>
              </a:rPr>
              <a:t>C</a:t>
            </a:r>
            <a:r>
              <a:rPr lang="en-US" altLang="zh-CN" dirty="0"/>
              <a:t>}   </a:t>
            </a:r>
            <a:r>
              <a:rPr lang="zh-CN" altLang="en-US" dirty="0"/>
              <a:t>教室安排表</a:t>
            </a:r>
            <a:endParaRPr lang="zh-CN" altLang="en-US" dirty="0"/>
          </a:p>
          <a:p>
            <a:pPr lvl="1" eaLnBrk="1" hangingPunct="1">
              <a:lnSpc>
                <a:spcPct val="110000"/>
              </a:lnSpc>
              <a:spcBef>
                <a:spcPct val="25000"/>
              </a:spcBef>
              <a:buNone/>
            </a:pPr>
            <a:r>
              <a:rPr lang="en-US" altLang="zh-CN" i="1" dirty="0"/>
              <a:t>HTR</a:t>
            </a:r>
            <a:r>
              <a:rPr lang="en-US" altLang="zh-CN" dirty="0"/>
              <a:t>(</a:t>
            </a:r>
            <a:r>
              <a:rPr lang="en-US" altLang="zh-CN" i="1" dirty="0">
                <a:solidFill>
                  <a:srgbClr val="0000CC"/>
                </a:solidFill>
              </a:rPr>
              <a:t>H</a:t>
            </a:r>
            <a:r>
              <a:rPr lang="en-US" altLang="zh-CN" i="1" dirty="0"/>
              <a:t>,</a:t>
            </a:r>
            <a:r>
              <a:rPr lang="en-US" altLang="zh-CN" i="1" dirty="0">
                <a:solidFill>
                  <a:srgbClr val="0000CC"/>
                </a:solidFill>
              </a:rPr>
              <a:t>T</a:t>
            </a:r>
            <a:r>
              <a:rPr lang="en-US" altLang="zh-CN" i="1" dirty="0"/>
              <a:t>,R</a:t>
            </a:r>
            <a:r>
              <a:rPr lang="en-US" altLang="zh-CN" dirty="0"/>
              <a:t>), {</a:t>
            </a:r>
            <a:r>
              <a:rPr lang="en-US" altLang="zh-CN" i="1" dirty="0"/>
              <a:t>HT</a:t>
            </a:r>
            <a:r>
              <a:rPr lang="en-US" altLang="zh-CN" i="1" dirty="0">
                <a:sym typeface="Symbol" panose="05050102010706020507" pitchFamily="18" charset="2"/>
              </a:rPr>
              <a:t></a:t>
            </a:r>
            <a:r>
              <a:rPr lang="en-US" altLang="zh-CN" i="1" dirty="0"/>
              <a:t>R</a:t>
            </a:r>
            <a:r>
              <a:rPr lang="en-US" altLang="zh-CN" dirty="0"/>
              <a:t>}  </a:t>
            </a:r>
            <a:r>
              <a:rPr lang="zh-CN" altLang="en-US" dirty="0"/>
              <a:t>教师课表 </a:t>
            </a:r>
            <a:endParaRPr lang="zh-CN" altLang="en-US" dirty="0"/>
          </a:p>
          <a:p>
            <a:pPr lvl="1" eaLnBrk="1" hangingPunct="1">
              <a:lnSpc>
                <a:spcPct val="110000"/>
              </a:lnSpc>
              <a:spcBef>
                <a:spcPct val="25000"/>
              </a:spcBef>
              <a:buNone/>
            </a:pPr>
            <a:r>
              <a:rPr lang="en-US" altLang="zh-CN" i="1" dirty="0"/>
              <a:t>CSG</a:t>
            </a:r>
            <a:r>
              <a:rPr lang="en-US" altLang="zh-CN" dirty="0"/>
              <a:t>(</a:t>
            </a:r>
            <a:r>
              <a:rPr lang="en-US" altLang="zh-CN" i="1" dirty="0">
                <a:solidFill>
                  <a:srgbClr val="0000CC"/>
                </a:solidFill>
              </a:rPr>
              <a:t>C</a:t>
            </a:r>
            <a:r>
              <a:rPr lang="en-US" altLang="zh-CN" i="1" dirty="0"/>
              <a:t>,</a:t>
            </a:r>
            <a:r>
              <a:rPr lang="en-US" altLang="zh-CN" i="1" dirty="0">
                <a:solidFill>
                  <a:srgbClr val="0000CC"/>
                </a:solidFill>
              </a:rPr>
              <a:t>S</a:t>
            </a:r>
            <a:r>
              <a:rPr lang="en-US" altLang="zh-CN" i="1" dirty="0"/>
              <a:t>,G</a:t>
            </a:r>
            <a:r>
              <a:rPr lang="en-US" altLang="zh-CN" dirty="0"/>
              <a:t>), {</a:t>
            </a:r>
            <a:r>
              <a:rPr lang="en-US" altLang="zh-CN" i="1" dirty="0"/>
              <a:t>CS</a:t>
            </a:r>
            <a:r>
              <a:rPr lang="en-US" altLang="zh-CN" i="1" dirty="0">
                <a:sym typeface="Symbol" panose="05050102010706020507" pitchFamily="18" charset="2"/>
              </a:rPr>
              <a:t></a:t>
            </a:r>
            <a:r>
              <a:rPr lang="en-US" altLang="zh-CN" i="1" dirty="0"/>
              <a:t>G</a:t>
            </a:r>
            <a:r>
              <a:rPr lang="en-US" altLang="zh-CN" dirty="0"/>
              <a:t>}  </a:t>
            </a:r>
            <a:r>
              <a:rPr lang="zh-CN" altLang="en-US" dirty="0"/>
              <a:t>成绩表</a:t>
            </a:r>
            <a:endParaRPr lang="zh-CN" altLang="en-US" dirty="0"/>
          </a:p>
          <a:p>
            <a:pPr lvl="1" eaLnBrk="1" hangingPunct="1">
              <a:lnSpc>
                <a:spcPct val="110000"/>
              </a:lnSpc>
              <a:spcBef>
                <a:spcPct val="25000"/>
              </a:spcBef>
              <a:buNone/>
            </a:pPr>
            <a:r>
              <a:rPr lang="en-US" altLang="zh-CN" i="1" dirty="0"/>
              <a:t>HSR</a:t>
            </a:r>
            <a:r>
              <a:rPr lang="en-US" altLang="zh-CN" dirty="0"/>
              <a:t>(</a:t>
            </a:r>
            <a:r>
              <a:rPr lang="en-US" altLang="zh-CN" i="1" dirty="0">
                <a:solidFill>
                  <a:srgbClr val="0000CC"/>
                </a:solidFill>
              </a:rPr>
              <a:t>H</a:t>
            </a:r>
            <a:r>
              <a:rPr lang="en-US" altLang="zh-CN" i="1" dirty="0"/>
              <a:t>,</a:t>
            </a:r>
            <a:r>
              <a:rPr lang="en-US" altLang="zh-CN" i="1" dirty="0">
                <a:solidFill>
                  <a:srgbClr val="0000CC"/>
                </a:solidFill>
              </a:rPr>
              <a:t>S</a:t>
            </a:r>
            <a:r>
              <a:rPr lang="en-US" altLang="zh-CN" i="1" dirty="0"/>
              <a:t>,R</a:t>
            </a:r>
            <a:r>
              <a:rPr lang="en-US" altLang="zh-CN" dirty="0"/>
              <a:t>), {</a:t>
            </a:r>
            <a:r>
              <a:rPr lang="en-US" altLang="zh-CN" i="1" dirty="0"/>
              <a:t>HS</a:t>
            </a:r>
            <a:r>
              <a:rPr lang="en-US" altLang="zh-CN" i="1" dirty="0">
                <a:sym typeface="Symbol" panose="05050102010706020507" pitchFamily="18" charset="2"/>
              </a:rPr>
              <a:t></a:t>
            </a:r>
            <a:r>
              <a:rPr lang="en-US" altLang="zh-CN" i="1" dirty="0"/>
              <a:t>R</a:t>
            </a:r>
            <a:r>
              <a:rPr lang="en-US" altLang="zh-CN" dirty="0"/>
              <a:t>}  </a:t>
            </a:r>
            <a:r>
              <a:rPr lang="zh-CN" altLang="en-US" dirty="0"/>
              <a:t>学生课表</a:t>
            </a:r>
            <a:endParaRPr lang="zh-CN" altLang="en-US" dirty="0"/>
          </a:p>
          <a:p>
            <a:pPr lvl="1" eaLnBrk="1" hangingPunct="1">
              <a:lnSpc>
                <a:spcPct val="110000"/>
              </a:lnSpc>
              <a:spcBef>
                <a:spcPct val="25000"/>
              </a:spcBef>
              <a:buNone/>
            </a:pPr>
            <a:endParaRPr lang="zh-CN" altLang="en-US" dirty="0"/>
          </a:p>
          <a:p>
            <a:pPr eaLnBrk="1" hangingPunct="1">
              <a:lnSpc>
                <a:spcPct val="115000"/>
              </a:lnSpc>
              <a:buNone/>
            </a:pPr>
            <a:r>
              <a:rPr lang="zh-CN" altLang="en-US" i="1" dirty="0">
                <a:solidFill>
                  <a:srgbClr val="0000CC"/>
                </a:solidFill>
                <a:sym typeface="Symbol" panose="05050102010706020507" pitchFamily="18" charset="2"/>
              </a:rPr>
              <a:t>这个分解是无损连接的分解吗？</a:t>
            </a:r>
            <a:endParaRPr lang="zh-CN" altLang="en-US" i="1" dirty="0">
              <a:solidFill>
                <a:srgbClr val="0000CC"/>
              </a:solidFill>
              <a:sym typeface="Symbol" panose="05050102010706020507" pitchFamily="18" charset="2"/>
            </a:endParaRPr>
          </a:p>
        </p:txBody>
      </p:sp>
      <p:sp>
        <p:nvSpPr>
          <p:cNvPr id="44036"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5059" name="Rectangle 2"/>
          <p:cNvSpPr>
            <a:spLocks noGrp="1"/>
          </p:cNvSpPr>
          <p:nvPr>
            <p:ph idx="1"/>
          </p:nvPr>
        </p:nvSpPr>
        <p:spPr>
          <a:xfrm>
            <a:off x="228600" y="762000"/>
            <a:ext cx="8763000" cy="5791200"/>
          </a:xfrm>
          <a:ln/>
        </p:spPr>
        <p:txBody>
          <a:bodyPr vert="horz" wrap="square" lIns="91440" tIns="45720" rIns="91440" bIns="45720" anchor="t" anchorCtr="0"/>
          <a:p>
            <a:pPr eaLnBrk="1" hangingPunct="1">
              <a:lnSpc>
                <a:spcPct val="110000"/>
              </a:lnSpc>
              <a:buNone/>
            </a:pPr>
            <a:r>
              <a:rPr lang="en-US" altLang="zh-CN" dirty="0"/>
              <a:t>	</a:t>
            </a:r>
            <a:r>
              <a:rPr lang="zh-CN" altLang="en-US" dirty="0"/>
              <a:t>算法</a:t>
            </a:r>
            <a:r>
              <a:rPr lang="en-US" altLang="zh-CN" dirty="0"/>
              <a:t>6.5</a:t>
            </a:r>
            <a:r>
              <a:rPr lang="en-US" altLang="zh-CN" dirty="0">
                <a:solidFill>
                  <a:schemeClr val="tx1"/>
                </a:solidFill>
              </a:rPr>
              <a:t>  </a:t>
            </a:r>
            <a:r>
              <a:rPr lang="zh-CN" altLang="en-US" dirty="0">
                <a:solidFill>
                  <a:schemeClr val="tx1"/>
                </a:solidFill>
              </a:rPr>
              <a:t>达到</a:t>
            </a:r>
            <a:r>
              <a:rPr lang="en-US" altLang="zh-CN" dirty="0">
                <a:solidFill>
                  <a:schemeClr val="tx1"/>
                </a:solidFill>
              </a:rPr>
              <a:t>3NF</a:t>
            </a:r>
            <a:r>
              <a:rPr lang="zh-CN" altLang="en-US" dirty="0">
                <a:solidFill>
                  <a:schemeClr val="tx1"/>
                </a:solidFill>
              </a:rPr>
              <a:t>既保持函数依赖又无损连接的分解。</a:t>
            </a:r>
            <a:endParaRPr lang="zh-CN" altLang="en-US" dirty="0">
              <a:solidFill>
                <a:schemeClr val="tx1"/>
              </a:solidFill>
            </a:endParaRPr>
          </a:p>
          <a:p>
            <a:pPr eaLnBrk="1" hangingPunct="1">
              <a:lnSpc>
                <a:spcPct val="110000"/>
              </a:lnSpc>
              <a:buNone/>
            </a:pPr>
            <a:r>
              <a:rPr lang="zh-CN" altLang="en-US" sz="2800" dirty="0"/>
              <a:t>	</a:t>
            </a:r>
            <a:endParaRPr lang="zh-CN" altLang="en-US" sz="2800" dirty="0"/>
          </a:p>
          <a:p>
            <a:pPr eaLnBrk="1" hangingPunct="1">
              <a:lnSpc>
                <a:spcPct val="110000"/>
              </a:lnSpc>
              <a:buNone/>
            </a:pPr>
            <a:r>
              <a:rPr lang="zh-CN" altLang="en-US" sz="2800" dirty="0">
                <a:solidFill>
                  <a:schemeClr val="tx1"/>
                </a:solidFill>
              </a:rPr>
              <a:t> 	设</a:t>
            </a:r>
            <a:r>
              <a:rPr lang="zh-CN" altLang="en-US" sz="2800" i="1" dirty="0">
                <a:solidFill>
                  <a:schemeClr val="tx1"/>
                </a:solidFill>
                <a:sym typeface="Symbol" panose="05050102010706020507" pitchFamily="18" charset="2"/>
              </a:rPr>
              <a:t> </a:t>
            </a:r>
            <a:r>
              <a:rPr lang="en-US" altLang="zh-CN" sz="2800" i="1" dirty="0">
                <a:solidFill>
                  <a:schemeClr val="tx1"/>
                </a:solidFill>
                <a:sym typeface="Symbol" panose="05050102010706020507" pitchFamily="18" charset="2"/>
              </a:rPr>
              <a:t>= </a:t>
            </a:r>
            <a:r>
              <a:rPr lang="en-US" altLang="zh-CN" sz="2800" dirty="0">
                <a:solidFill>
                  <a:schemeClr val="tx1"/>
                </a:solidFill>
              </a:rPr>
              <a:t>{</a:t>
            </a:r>
            <a:r>
              <a:rPr lang="en-US" altLang="zh-CN" sz="2800" i="1" dirty="0">
                <a:solidFill>
                  <a:schemeClr val="tx1"/>
                </a:solidFill>
              </a:rPr>
              <a:t>R</a:t>
            </a:r>
            <a:r>
              <a:rPr lang="en-US" altLang="zh-CN" sz="2800" i="1" baseline="-25000" dirty="0">
                <a:solidFill>
                  <a:schemeClr val="tx1"/>
                </a:solidFill>
              </a:rPr>
              <a:t>1</a:t>
            </a:r>
            <a:r>
              <a:rPr lang="en-US" altLang="zh-CN" sz="2800" i="1" dirty="0">
                <a:solidFill>
                  <a:schemeClr val="tx1"/>
                </a:solidFill>
              </a:rPr>
              <a:t>&lt;U</a:t>
            </a:r>
            <a:r>
              <a:rPr lang="en-US" altLang="zh-CN" sz="2800" i="1" baseline="-25000" dirty="0">
                <a:solidFill>
                  <a:schemeClr val="tx1"/>
                </a:solidFill>
              </a:rPr>
              <a:t>1</a:t>
            </a:r>
            <a:r>
              <a:rPr lang="en-US" altLang="zh-CN" sz="2800" i="1" dirty="0">
                <a:solidFill>
                  <a:schemeClr val="tx1"/>
                </a:solidFill>
              </a:rPr>
              <a:t> , F</a:t>
            </a:r>
            <a:r>
              <a:rPr lang="en-US" altLang="zh-CN" sz="2800" i="1" baseline="-25000" dirty="0">
                <a:solidFill>
                  <a:schemeClr val="tx1"/>
                </a:solidFill>
              </a:rPr>
              <a:t>1</a:t>
            </a:r>
            <a:r>
              <a:rPr lang="en-US" altLang="zh-CN" sz="2800" i="1" dirty="0">
                <a:solidFill>
                  <a:schemeClr val="tx1"/>
                </a:solidFill>
              </a:rPr>
              <a:t>&gt;,…, R</a:t>
            </a:r>
            <a:r>
              <a:rPr lang="en-US" altLang="zh-CN" sz="2800" i="1" baseline="-25000" dirty="0">
                <a:solidFill>
                  <a:schemeClr val="tx1"/>
                </a:solidFill>
              </a:rPr>
              <a:t>k</a:t>
            </a:r>
            <a:r>
              <a:rPr lang="en-US" altLang="zh-CN" sz="2800" i="1" dirty="0">
                <a:solidFill>
                  <a:schemeClr val="tx1"/>
                </a:solidFill>
              </a:rPr>
              <a:t>&lt;U</a:t>
            </a:r>
            <a:r>
              <a:rPr lang="en-US" altLang="zh-CN" sz="2800" i="1" baseline="-25000" dirty="0">
                <a:solidFill>
                  <a:schemeClr val="tx1"/>
                </a:solidFill>
              </a:rPr>
              <a:t>k</a:t>
            </a:r>
            <a:r>
              <a:rPr lang="en-US" altLang="zh-CN" sz="2800" i="1" dirty="0">
                <a:solidFill>
                  <a:schemeClr val="tx1"/>
                </a:solidFill>
              </a:rPr>
              <a:t> , F</a:t>
            </a:r>
            <a:r>
              <a:rPr lang="en-US" altLang="zh-CN" sz="2800" i="1" baseline="-25000" dirty="0">
                <a:solidFill>
                  <a:schemeClr val="tx1"/>
                </a:solidFill>
              </a:rPr>
              <a:t>k</a:t>
            </a:r>
            <a:r>
              <a:rPr lang="en-US" altLang="zh-CN" sz="2800" i="1" dirty="0">
                <a:solidFill>
                  <a:schemeClr val="tx1"/>
                </a:solidFill>
              </a:rPr>
              <a:t>&gt;</a:t>
            </a:r>
            <a:r>
              <a:rPr lang="en-US" altLang="zh-CN" sz="2800" dirty="0">
                <a:solidFill>
                  <a:schemeClr val="tx1"/>
                </a:solidFill>
              </a:rPr>
              <a:t>}</a:t>
            </a:r>
            <a:r>
              <a:rPr lang="zh-CN" altLang="en-US" sz="2800" dirty="0">
                <a:solidFill>
                  <a:schemeClr val="tx1"/>
                </a:solidFill>
              </a:rPr>
              <a:t>是</a:t>
            </a:r>
            <a:r>
              <a:rPr lang="en-US" altLang="zh-CN" sz="2800" i="1" dirty="0">
                <a:solidFill>
                  <a:schemeClr val="tx1"/>
                </a:solidFill>
              </a:rPr>
              <a:t>R&lt;U , F&gt;</a:t>
            </a:r>
            <a:r>
              <a:rPr lang="zh-CN" altLang="en-US" sz="2800" dirty="0">
                <a:solidFill>
                  <a:schemeClr val="tx1"/>
                </a:solidFill>
              </a:rPr>
              <a:t>的一个保持函数依赖的</a:t>
            </a:r>
            <a:r>
              <a:rPr lang="en-US" altLang="zh-CN" sz="2800" dirty="0">
                <a:solidFill>
                  <a:schemeClr val="tx1"/>
                </a:solidFill>
              </a:rPr>
              <a:t>3NF</a:t>
            </a:r>
            <a:r>
              <a:rPr lang="zh-CN" altLang="en-US" sz="2800" dirty="0">
                <a:solidFill>
                  <a:schemeClr val="tx1"/>
                </a:solidFill>
              </a:rPr>
              <a:t>分解</a:t>
            </a:r>
            <a:r>
              <a:rPr lang="en-US" altLang="zh-CN" sz="2800" dirty="0">
                <a:solidFill>
                  <a:schemeClr val="tx1"/>
                </a:solidFill>
              </a:rPr>
              <a:t>(</a:t>
            </a:r>
            <a:r>
              <a:rPr lang="zh-CN" altLang="en-US" sz="2800" dirty="0">
                <a:solidFill>
                  <a:schemeClr val="tx1"/>
                </a:solidFill>
              </a:rPr>
              <a:t>可由前一算法求得</a:t>
            </a:r>
            <a:r>
              <a:rPr lang="en-US" altLang="zh-CN" sz="2800" dirty="0">
                <a:solidFill>
                  <a:schemeClr val="tx1"/>
                </a:solidFill>
              </a:rPr>
              <a:t>)</a:t>
            </a:r>
            <a:endParaRPr lang="en-US" altLang="zh-CN" sz="2800" dirty="0">
              <a:solidFill>
                <a:schemeClr val="tx1"/>
              </a:solidFill>
            </a:endParaRPr>
          </a:p>
          <a:p>
            <a:pPr eaLnBrk="1" hangingPunct="1">
              <a:lnSpc>
                <a:spcPct val="120000"/>
              </a:lnSpc>
              <a:spcBef>
                <a:spcPct val="50000"/>
              </a:spcBef>
              <a:buNone/>
            </a:pPr>
            <a:r>
              <a:rPr lang="en-US" altLang="zh-CN" sz="2800" dirty="0">
                <a:solidFill>
                  <a:schemeClr val="tx1"/>
                </a:solidFill>
              </a:rPr>
              <a:t>	</a:t>
            </a:r>
            <a:r>
              <a:rPr lang="zh-CN" altLang="en-US" sz="2800" dirty="0">
                <a:solidFill>
                  <a:schemeClr val="tx1"/>
                </a:solidFill>
              </a:rPr>
              <a:t>设</a:t>
            </a:r>
            <a:r>
              <a:rPr lang="en-US" altLang="zh-CN" sz="2800" i="1" dirty="0">
                <a:solidFill>
                  <a:schemeClr val="tx1"/>
                </a:solidFill>
              </a:rPr>
              <a:t>X</a:t>
            </a:r>
            <a:r>
              <a:rPr lang="zh-CN" altLang="en-US" sz="2800" dirty="0">
                <a:solidFill>
                  <a:schemeClr val="tx1"/>
                </a:solidFill>
              </a:rPr>
              <a:t>为</a:t>
            </a:r>
            <a:r>
              <a:rPr lang="en-US" altLang="zh-CN" sz="2800" i="1" dirty="0">
                <a:solidFill>
                  <a:schemeClr val="tx1"/>
                </a:solidFill>
              </a:rPr>
              <a:t>R&lt;U , F&gt;</a:t>
            </a:r>
            <a:r>
              <a:rPr lang="zh-CN" altLang="en-US" sz="2800" dirty="0">
                <a:solidFill>
                  <a:schemeClr val="tx1"/>
                </a:solidFill>
              </a:rPr>
              <a:t>的码，</a:t>
            </a:r>
            <a:endParaRPr lang="zh-CN" altLang="en-US" sz="2800" dirty="0">
              <a:solidFill>
                <a:schemeClr val="tx1"/>
              </a:solidFill>
            </a:endParaRPr>
          </a:p>
          <a:p>
            <a:pPr eaLnBrk="1" hangingPunct="1">
              <a:lnSpc>
                <a:spcPct val="120000"/>
              </a:lnSpc>
              <a:spcBef>
                <a:spcPct val="50000"/>
              </a:spcBef>
              <a:buNone/>
            </a:pPr>
            <a:r>
              <a:rPr lang="zh-CN" altLang="en-US" sz="2800" dirty="0">
                <a:solidFill>
                  <a:schemeClr val="tx1"/>
                </a:solidFill>
              </a:rPr>
              <a:t>	若有某个</a:t>
            </a:r>
            <a:r>
              <a:rPr lang="en-US" altLang="zh-CN" sz="2800" i="1" dirty="0">
                <a:solidFill>
                  <a:schemeClr val="tx1"/>
                </a:solidFill>
              </a:rPr>
              <a:t>U</a:t>
            </a:r>
            <a:r>
              <a:rPr lang="en-US" altLang="zh-CN" sz="2800" i="1" baseline="-16000" dirty="0">
                <a:solidFill>
                  <a:schemeClr val="tx1"/>
                </a:solidFill>
              </a:rPr>
              <a:t>i</a:t>
            </a:r>
            <a:r>
              <a:rPr lang="zh-CN" altLang="en-US" sz="2800" dirty="0">
                <a:solidFill>
                  <a:schemeClr val="tx1"/>
                </a:solidFill>
              </a:rPr>
              <a:t>，</a:t>
            </a:r>
            <a:r>
              <a:rPr lang="en-US" altLang="zh-CN" sz="2800" i="1" dirty="0">
                <a:solidFill>
                  <a:schemeClr val="tx1"/>
                </a:solidFill>
              </a:rPr>
              <a:t>X </a:t>
            </a:r>
            <a:r>
              <a:rPr lang="en-US" altLang="zh-CN" sz="2800" dirty="0">
                <a:solidFill>
                  <a:schemeClr val="tx1"/>
                </a:solidFill>
                <a:sym typeface="Symbol" panose="05050102010706020507" pitchFamily="18" charset="2"/>
              </a:rPr>
              <a:t></a:t>
            </a:r>
            <a:r>
              <a:rPr lang="en-US" altLang="zh-CN" sz="2800" dirty="0">
                <a:solidFill>
                  <a:schemeClr val="tx1"/>
                </a:solidFill>
              </a:rPr>
              <a:t> </a:t>
            </a:r>
            <a:r>
              <a:rPr lang="en-US" altLang="zh-CN" sz="2800" i="1" dirty="0">
                <a:solidFill>
                  <a:schemeClr val="tx1"/>
                </a:solidFill>
              </a:rPr>
              <a:t>U</a:t>
            </a:r>
            <a:r>
              <a:rPr lang="en-US" altLang="zh-CN" sz="2800" i="1" baseline="-16000" dirty="0">
                <a:solidFill>
                  <a:schemeClr val="tx1"/>
                </a:solidFill>
              </a:rPr>
              <a:t>i</a:t>
            </a:r>
            <a:r>
              <a:rPr lang="zh-CN" altLang="en-US" sz="2800" dirty="0">
                <a:solidFill>
                  <a:schemeClr val="tx1"/>
                </a:solidFill>
              </a:rPr>
              <a:t>，则</a:t>
            </a:r>
            <a:r>
              <a:rPr lang="zh-CN" altLang="en-US" sz="2800" i="1" dirty="0">
                <a:solidFill>
                  <a:schemeClr val="tx1"/>
                </a:solidFill>
                <a:sym typeface="Symbol" panose="05050102010706020507" pitchFamily="18" charset="2"/>
              </a:rPr>
              <a:t></a:t>
            </a:r>
            <a:r>
              <a:rPr lang="zh-CN" altLang="en-US" sz="2800" dirty="0">
                <a:solidFill>
                  <a:schemeClr val="tx1"/>
                </a:solidFill>
              </a:rPr>
              <a:t>即为所求，</a:t>
            </a:r>
            <a:endParaRPr lang="zh-CN" altLang="en-US" sz="2800" dirty="0">
              <a:solidFill>
                <a:schemeClr val="tx1"/>
              </a:solidFill>
            </a:endParaRPr>
          </a:p>
          <a:p>
            <a:pPr eaLnBrk="1" hangingPunct="1">
              <a:lnSpc>
                <a:spcPct val="120000"/>
              </a:lnSpc>
              <a:spcBef>
                <a:spcPct val="50000"/>
              </a:spcBef>
              <a:buNone/>
            </a:pPr>
            <a:r>
              <a:rPr lang="zh-CN" altLang="en-US" sz="2800" dirty="0">
                <a:solidFill>
                  <a:schemeClr val="tx1"/>
                </a:solidFill>
              </a:rPr>
              <a:t>	否则令</a:t>
            </a:r>
            <a:r>
              <a:rPr lang="en-US" altLang="zh-CN" sz="2800" i="1" dirty="0">
                <a:solidFill>
                  <a:schemeClr val="tx1"/>
                </a:solidFill>
              </a:rPr>
              <a:t>τ</a:t>
            </a:r>
            <a:r>
              <a:rPr lang="en-US" altLang="zh-CN" sz="2800" dirty="0">
                <a:solidFill>
                  <a:schemeClr val="tx1"/>
                </a:solidFill>
              </a:rPr>
              <a:t> = </a:t>
            </a:r>
            <a:r>
              <a:rPr lang="en-US" altLang="zh-CN" sz="2800" i="1" dirty="0">
                <a:solidFill>
                  <a:schemeClr val="tx1"/>
                </a:solidFill>
                <a:sym typeface="Symbol" panose="05050102010706020507" pitchFamily="18" charset="2"/>
              </a:rPr>
              <a:t></a:t>
            </a:r>
            <a:r>
              <a:rPr lang="en-US" altLang="zh-CN" sz="2800" dirty="0">
                <a:solidFill>
                  <a:schemeClr val="tx1"/>
                </a:solidFill>
              </a:rPr>
              <a:t>∪{</a:t>
            </a:r>
            <a:r>
              <a:rPr lang="en-US" altLang="zh-CN" sz="2800" i="1" dirty="0">
                <a:solidFill>
                  <a:schemeClr val="tx1"/>
                </a:solidFill>
              </a:rPr>
              <a:t>R</a:t>
            </a:r>
            <a:r>
              <a:rPr lang="en-US" altLang="zh-CN" sz="2800" i="1" baseline="26000" dirty="0">
                <a:solidFill>
                  <a:schemeClr val="tx1"/>
                </a:solidFill>
                <a:sym typeface="Symbol" panose="05050102010706020507" pitchFamily="18" charset="2"/>
              </a:rPr>
              <a:t></a:t>
            </a:r>
            <a:r>
              <a:rPr lang="en-US" altLang="zh-CN" sz="2800" i="1" baseline="22000" dirty="0">
                <a:solidFill>
                  <a:schemeClr val="tx1"/>
                </a:solidFill>
              </a:rPr>
              <a:t> </a:t>
            </a:r>
            <a:r>
              <a:rPr lang="en-US" altLang="zh-CN" sz="2800" i="1" dirty="0">
                <a:solidFill>
                  <a:schemeClr val="tx1"/>
                </a:solidFill>
              </a:rPr>
              <a:t>&lt;X</a:t>
            </a:r>
            <a:r>
              <a:rPr lang="zh-CN" altLang="en-US" sz="2800" i="1" dirty="0">
                <a:solidFill>
                  <a:schemeClr val="tx1"/>
                </a:solidFill>
              </a:rPr>
              <a:t>，</a:t>
            </a:r>
            <a:r>
              <a:rPr lang="en-US" altLang="zh-CN" sz="2800" i="1" dirty="0">
                <a:solidFill>
                  <a:schemeClr val="tx1"/>
                </a:solidFill>
              </a:rPr>
              <a:t>F</a:t>
            </a:r>
            <a:r>
              <a:rPr lang="en-US" altLang="zh-CN" sz="2800" i="1" baseline="-18000" dirty="0">
                <a:solidFill>
                  <a:schemeClr val="tx1"/>
                </a:solidFill>
              </a:rPr>
              <a:t>X</a:t>
            </a:r>
            <a:r>
              <a:rPr lang="en-US" altLang="zh-CN" sz="2800" dirty="0">
                <a:solidFill>
                  <a:schemeClr val="tx1"/>
                </a:solidFill>
              </a:rPr>
              <a:t>&gt;}</a:t>
            </a:r>
            <a:r>
              <a:rPr lang="zh-CN" altLang="en-US" sz="2800" dirty="0">
                <a:solidFill>
                  <a:schemeClr val="tx1"/>
                </a:solidFill>
              </a:rPr>
              <a:t>，</a:t>
            </a:r>
            <a:r>
              <a:rPr lang="en-US" altLang="zh-CN" sz="2800" i="1" dirty="0">
                <a:solidFill>
                  <a:schemeClr val="tx1"/>
                </a:solidFill>
              </a:rPr>
              <a:t>τ</a:t>
            </a:r>
            <a:r>
              <a:rPr lang="zh-CN" altLang="en-US" sz="2800" dirty="0">
                <a:solidFill>
                  <a:schemeClr val="tx1"/>
                </a:solidFill>
              </a:rPr>
              <a:t>即为所求</a:t>
            </a:r>
            <a:endParaRPr lang="zh-CN" altLang="en-US" sz="2800" dirty="0">
              <a:solidFill>
                <a:schemeClr val="tx1"/>
              </a:solidFill>
            </a:endParaRPr>
          </a:p>
          <a:p>
            <a:pPr eaLnBrk="1" hangingPunct="1">
              <a:lnSpc>
                <a:spcPct val="120000"/>
              </a:lnSpc>
              <a:spcBef>
                <a:spcPct val="50000"/>
              </a:spcBef>
              <a:buNone/>
            </a:pPr>
            <a:r>
              <a:rPr lang="zh-CN" altLang="en-US" sz="2800" dirty="0">
                <a:solidFill>
                  <a:schemeClr val="tx1"/>
                </a:solidFill>
              </a:rPr>
              <a:t>	</a:t>
            </a:r>
            <a:r>
              <a:rPr lang="en-US" altLang="zh-CN" sz="2800" dirty="0">
                <a:solidFill>
                  <a:schemeClr val="tx1"/>
                </a:solidFill>
              </a:rPr>
              <a:t>(</a:t>
            </a:r>
            <a:r>
              <a:rPr lang="zh-CN" altLang="en-US" sz="2800" dirty="0">
                <a:solidFill>
                  <a:schemeClr val="tx1"/>
                </a:solidFill>
                <a:sym typeface="Symbol" panose="05050102010706020507" pitchFamily="18" charset="2"/>
              </a:rPr>
              <a:t>如发现某个</a:t>
            </a:r>
            <a:r>
              <a:rPr lang="en-US" altLang="zh-CN" sz="2800" i="1" dirty="0">
                <a:solidFill>
                  <a:schemeClr val="tx1"/>
                </a:solidFill>
                <a:sym typeface="Symbol" panose="05050102010706020507" pitchFamily="18" charset="2"/>
              </a:rPr>
              <a:t>U</a:t>
            </a:r>
            <a:r>
              <a:rPr lang="en-US" altLang="zh-CN" sz="2800" i="1" baseline="-25000" dirty="0">
                <a:solidFill>
                  <a:schemeClr val="tx1"/>
                </a:solidFill>
                <a:sym typeface="Symbol" panose="05050102010706020507" pitchFamily="18" charset="2"/>
              </a:rPr>
              <a:t>i</a:t>
            </a:r>
            <a:r>
              <a:rPr lang="en-US" altLang="zh-CN" sz="2800" dirty="0">
                <a:solidFill>
                  <a:schemeClr val="tx1"/>
                </a:solidFill>
                <a:sym typeface="Symbol" panose="05050102010706020507" pitchFamily="18" charset="2"/>
              </a:rPr>
              <a:t> </a:t>
            </a:r>
            <a:r>
              <a:rPr lang="en-US" altLang="zh-CN" sz="2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2800" dirty="0">
                <a:solidFill>
                  <a:schemeClr val="tx1"/>
                </a:solidFill>
                <a:sym typeface="Symbol" panose="05050102010706020507" pitchFamily="18" charset="2"/>
              </a:rPr>
              <a:t> </a:t>
            </a:r>
            <a:r>
              <a:rPr lang="en-US" altLang="zh-CN" sz="2800" i="1" dirty="0">
                <a:solidFill>
                  <a:schemeClr val="tx1"/>
                </a:solidFill>
                <a:sym typeface="Symbol" panose="05050102010706020507" pitchFamily="18" charset="2"/>
              </a:rPr>
              <a:t>X</a:t>
            </a:r>
            <a:r>
              <a:rPr lang="en-US" altLang="zh-CN" sz="2800" dirty="0">
                <a:solidFill>
                  <a:schemeClr val="tx1"/>
                </a:solidFill>
                <a:sym typeface="Symbol" panose="05050102010706020507" pitchFamily="18" charset="2"/>
              </a:rPr>
              <a:t>,</a:t>
            </a:r>
            <a:r>
              <a:rPr lang="zh-CN" altLang="en-US" sz="2800" dirty="0">
                <a:solidFill>
                  <a:schemeClr val="tx1"/>
                </a:solidFill>
                <a:sym typeface="Symbol" panose="05050102010706020507" pitchFamily="18" charset="2"/>
              </a:rPr>
              <a:t>则应将</a:t>
            </a:r>
            <a:r>
              <a:rPr lang="en-US" altLang="zh-CN" sz="2800" i="1" dirty="0">
                <a:solidFill>
                  <a:schemeClr val="tx1"/>
                </a:solidFill>
                <a:sym typeface="Symbol" panose="05050102010706020507" pitchFamily="18" charset="2"/>
              </a:rPr>
              <a:t>U</a:t>
            </a:r>
            <a:r>
              <a:rPr lang="en-US" altLang="zh-CN" sz="2800" i="1" baseline="-25000" dirty="0">
                <a:solidFill>
                  <a:schemeClr val="tx1"/>
                </a:solidFill>
                <a:sym typeface="Symbol" panose="05050102010706020507" pitchFamily="18" charset="2"/>
              </a:rPr>
              <a:t>i</a:t>
            </a:r>
            <a:r>
              <a:rPr lang="zh-CN" altLang="en-US" sz="2800" dirty="0">
                <a:solidFill>
                  <a:schemeClr val="tx1"/>
                </a:solidFill>
                <a:sym typeface="Symbol" panose="05050102010706020507" pitchFamily="18" charset="2"/>
              </a:rPr>
              <a:t>去掉</a:t>
            </a:r>
            <a:r>
              <a:rPr lang="en-US" altLang="zh-CN" sz="2800" dirty="0">
                <a:solidFill>
                  <a:schemeClr val="tx1"/>
                </a:solidFill>
              </a:rPr>
              <a:t>)</a:t>
            </a:r>
            <a:endParaRPr lang="en-US" altLang="zh-CN" sz="2800" dirty="0">
              <a:solidFill>
                <a:schemeClr val="tx1"/>
              </a:solidFill>
            </a:endParaRPr>
          </a:p>
        </p:txBody>
      </p:sp>
      <p:sp>
        <p:nvSpPr>
          <p:cNvPr id="45060"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6083" name="Rectangle 2"/>
          <p:cNvSpPr>
            <a:spLocks noGrp="1"/>
          </p:cNvSpPr>
          <p:nvPr>
            <p:ph idx="1"/>
          </p:nvPr>
        </p:nvSpPr>
        <p:spPr>
          <a:xfrm>
            <a:off x="381000" y="736600"/>
            <a:ext cx="8610600" cy="5435600"/>
          </a:xfrm>
          <a:ln/>
        </p:spPr>
        <p:txBody>
          <a:bodyPr vert="horz" wrap="square" lIns="91440" tIns="45720" rIns="91440" bIns="45720" anchor="t" anchorCtr="0"/>
          <a:p>
            <a:pPr algn="just" eaLnBrk="1" hangingPunct="1">
              <a:lnSpc>
                <a:spcPct val="120000"/>
              </a:lnSpc>
              <a:buNone/>
            </a:pPr>
            <a:r>
              <a:rPr lang="en-US" altLang="zh-CN" dirty="0"/>
              <a:t>Review</a:t>
            </a:r>
            <a:endParaRPr lang="en-US" altLang="zh-CN" dirty="0"/>
          </a:p>
          <a:p>
            <a:pPr algn="just" eaLnBrk="1" hangingPunct="1">
              <a:lnSpc>
                <a:spcPct val="120000"/>
              </a:lnSpc>
            </a:pPr>
            <a:r>
              <a:rPr lang="zh-CN" altLang="en-US" sz="2800" dirty="0">
                <a:solidFill>
                  <a:schemeClr val="tx1"/>
                </a:solidFill>
              </a:rPr>
              <a:t>分解的定义</a:t>
            </a:r>
            <a:endParaRPr lang="zh-CN" altLang="en-US" sz="2800" dirty="0">
              <a:solidFill>
                <a:schemeClr val="tx1"/>
              </a:solidFill>
            </a:endParaRPr>
          </a:p>
          <a:p>
            <a:pPr algn="just" eaLnBrk="1" hangingPunct="1">
              <a:lnSpc>
                <a:spcPct val="120000"/>
              </a:lnSpc>
            </a:pPr>
            <a:r>
              <a:rPr lang="zh-CN" altLang="en-US" sz="2800" dirty="0">
                <a:solidFill>
                  <a:schemeClr val="tx1"/>
                </a:solidFill>
              </a:rPr>
              <a:t>保持函数依赖的分解</a:t>
            </a:r>
            <a:r>
              <a:rPr lang="en-US" altLang="zh-CN" sz="2800" dirty="0">
                <a:solidFill>
                  <a:schemeClr val="tx1"/>
                </a:solidFill>
              </a:rPr>
              <a:t>: </a:t>
            </a:r>
            <a:r>
              <a:rPr lang="zh-CN" altLang="en-US" sz="2800" dirty="0">
                <a:solidFill>
                  <a:schemeClr val="tx1"/>
                </a:solidFill>
              </a:rPr>
              <a:t>如何判定？</a:t>
            </a:r>
            <a:endParaRPr lang="zh-CN" altLang="en-US" sz="2800" dirty="0">
              <a:solidFill>
                <a:schemeClr val="tx1"/>
              </a:solidFill>
            </a:endParaRPr>
          </a:p>
          <a:p>
            <a:pPr algn="just" eaLnBrk="1" hangingPunct="1">
              <a:lnSpc>
                <a:spcPct val="120000"/>
              </a:lnSpc>
            </a:pPr>
            <a:r>
              <a:rPr lang="zh-CN" altLang="en-US" sz="2800" dirty="0">
                <a:solidFill>
                  <a:schemeClr val="tx1"/>
                </a:solidFill>
              </a:rPr>
              <a:t>无损连接的分解</a:t>
            </a:r>
            <a:r>
              <a:rPr lang="en-US" altLang="zh-CN" sz="2800" dirty="0">
                <a:solidFill>
                  <a:schemeClr val="tx1"/>
                </a:solidFill>
              </a:rPr>
              <a:t>: </a:t>
            </a:r>
            <a:r>
              <a:rPr lang="zh-CN" altLang="en-US" sz="2800" dirty="0">
                <a:solidFill>
                  <a:schemeClr val="tx1"/>
                </a:solidFill>
              </a:rPr>
              <a:t>如何判定？</a:t>
            </a:r>
            <a:endParaRPr lang="zh-CN" altLang="en-US" sz="2800" dirty="0">
              <a:solidFill>
                <a:schemeClr val="tx1"/>
              </a:solidFill>
            </a:endParaRPr>
          </a:p>
          <a:p>
            <a:pPr algn="just" eaLnBrk="1" hangingPunct="1">
              <a:lnSpc>
                <a:spcPct val="120000"/>
              </a:lnSpc>
            </a:pPr>
            <a:r>
              <a:rPr lang="zh-CN" altLang="en-US" sz="2800" dirty="0">
                <a:solidFill>
                  <a:schemeClr val="tx1"/>
                </a:solidFill>
              </a:rPr>
              <a:t>算法</a:t>
            </a:r>
            <a:r>
              <a:rPr lang="en-US" altLang="zh-CN" sz="2800" dirty="0">
                <a:solidFill>
                  <a:schemeClr val="tx1"/>
                </a:solidFill>
              </a:rPr>
              <a:t>6.3: </a:t>
            </a:r>
            <a:r>
              <a:rPr lang="zh-CN" altLang="en-US" sz="2800" dirty="0">
                <a:solidFill>
                  <a:schemeClr val="tx1"/>
                </a:solidFill>
              </a:rPr>
              <a:t>无损连接的分解算法</a:t>
            </a:r>
            <a:r>
              <a:rPr lang="en-US" altLang="zh-CN" sz="2800" dirty="0">
                <a:solidFill>
                  <a:schemeClr val="tx1"/>
                </a:solidFill>
              </a:rPr>
              <a:t>-BCNF</a:t>
            </a:r>
            <a:endParaRPr lang="en-US" altLang="zh-CN" sz="2800" dirty="0">
              <a:solidFill>
                <a:schemeClr val="tx1"/>
              </a:solidFill>
            </a:endParaRPr>
          </a:p>
          <a:p>
            <a:pPr algn="just" eaLnBrk="1" hangingPunct="1">
              <a:lnSpc>
                <a:spcPct val="120000"/>
              </a:lnSpc>
            </a:pPr>
            <a:r>
              <a:rPr lang="zh-CN" altLang="en-US" sz="2800" dirty="0">
                <a:solidFill>
                  <a:schemeClr val="tx1"/>
                </a:solidFill>
              </a:rPr>
              <a:t>算法</a:t>
            </a:r>
            <a:r>
              <a:rPr lang="en-US" altLang="zh-CN" sz="2800" dirty="0">
                <a:solidFill>
                  <a:schemeClr val="tx1"/>
                </a:solidFill>
              </a:rPr>
              <a:t>6.4: </a:t>
            </a:r>
            <a:r>
              <a:rPr lang="zh-CN" altLang="en-US" sz="2800" dirty="0">
                <a:solidFill>
                  <a:schemeClr val="tx1"/>
                </a:solidFill>
              </a:rPr>
              <a:t>保持函数依赖的分解算法</a:t>
            </a:r>
            <a:r>
              <a:rPr lang="en-US" altLang="zh-CN" sz="2800" dirty="0">
                <a:solidFill>
                  <a:schemeClr val="tx1"/>
                </a:solidFill>
              </a:rPr>
              <a:t>-3NF</a:t>
            </a:r>
            <a:endParaRPr lang="en-US" altLang="zh-CN" sz="2800" dirty="0">
              <a:solidFill>
                <a:schemeClr val="tx1"/>
              </a:solidFill>
            </a:endParaRPr>
          </a:p>
          <a:p>
            <a:pPr algn="just" eaLnBrk="1" hangingPunct="1">
              <a:lnSpc>
                <a:spcPct val="120000"/>
              </a:lnSpc>
            </a:pPr>
            <a:r>
              <a:rPr lang="zh-CN" altLang="en-US" sz="2800" dirty="0">
                <a:solidFill>
                  <a:schemeClr val="tx1"/>
                </a:solidFill>
              </a:rPr>
              <a:t>算法</a:t>
            </a:r>
            <a:r>
              <a:rPr lang="en-US" altLang="zh-CN" sz="2800" dirty="0">
                <a:solidFill>
                  <a:schemeClr val="tx1"/>
                </a:solidFill>
              </a:rPr>
              <a:t>6.5: (</a:t>
            </a:r>
            <a:r>
              <a:rPr lang="zh-CN" altLang="en-US" sz="2800" dirty="0">
                <a:solidFill>
                  <a:schemeClr val="tx1"/>
                </a:solidFill>
              </a:rPr>
              <a:t>无损连接</a:t>
            </a:r>
            <a:r>
              <a:rPr lang="en-US" altLang="zh-CN" sz="2800" dirty="0">
                <a:solidFill>
                  <a:schemeClr val="tx1"/>
                </a:solidFill>
              </a:rPr>
              <a:t>+</a:t>
            </a:r>
            <a:r>
              <a:rPr lang="zh-CN" altLang="en-US" sz="2800" dirty="0">
                <a:solidFill>
                  <a:schemeClr val="tx1"/>
                </a:solidFill>
              </a:rPr>
              <a:t>保持函数依赖</a:t>
            </a:r>
            <a:r>
              <a:rPr lang="en-US" altLang="zh-CN" sz="2800" dirty="0">
                <a:solidFill>
                  <a:schemeClr val="tx1"/>
                </a:solidFill>
              </a:rPr>
              <a:t>)-3NF</a:t>
            </a:r>
            <a:endParaRPr lang="en-US" altLang="zh-CN" sz="2800" dirty="0">
              <a:solidFill>
                <a:schemeClr val="tx1"/>
              </a:solidFill>
            </a:endParaRPr>
          </a:p>
          <a:p>
            <a:pPr algn="just" eaLnBrk="1" hangingPunct="1">
              <a:lnSpc>
                <a:spcPct val="120000"/>
              </a:lnSpc>
            </a:pPr>
            <a:endParaRPr lang="en-US" altLang="zh-CN" sz="2800" dirty="0">
              <a:solidFill>
                <a:schemeClr val="tx1"/>
              </a:solidFill>
            </a:endParaRPr>
          </a:p>
        </p:txBody>
      </p:sp>
      <p:sp>
        <p:nvSpPr>
          <p:cNvPr id="46084"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6.5  </a:t>
            </a:r>
            <a:r>
              <a:rPr lang="zh-CN" altLang="en-US" dirty="0"/>
              <a:t>关系模式的分解</a:t>
            </a: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页脚占位符 4"/>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7107" name="Rectangle 2"/>
          <p:cNvSpPr>
            <a:spLocks noGrp="1"/>
          </p:cNvSpPr>
          <p:nvPr>
            <p:ph idx="1"/>
          </p:nvPr>
        </p:nvSpPr>
        <p:spPr>
          <a:xfrm>
            <a:off x="381000" y="908050"/>
            <a:ext cx="8610600" cy="5264150"/>
          </a:xfrm>
          <a:ln/>
        </p:spPr>
        <p:txBody>
          <a:bodyPr vert="horz" wrap="square" lIns="91440" tIns="45720" rIns="91440" bIns="45720" anchor="t" anchorCtr="0"/>
          <a:p>
            <a:pPr algn="just" eaLnBrk="1" hangingPunct="1">
              <a:lnSpc>
                <a:spcPct val="120000"/>
              </a:lnSpc>
              <a:buClr>
                <a:srgbClr val="FF0000"/>
              </a:buClr>
            </a:pPr>
            <a:r>
              <a:rPr lang="zh-CN" altLang="en-US" dirty="0">
                <a:solidFill>
                  <a:schemeClr val="tx1"/>
                </a:solidFill>
              </a:rPr>
              <a:t>基础：函数依赖</a:t>
            </a:r>
            <a:endParaRPr lang="zh-CN" altLang="en-US" dirty="0">
              <a:solidFill>
                <a:schemeClr val="tx1"/>
              </a:solidFill>
            </a:endParaRPr>
          </a:p>
          <a:p>
            <a:pPr algn="just" eaLnBrk="1" hangingPunct="1">
              <a:lnSpc>
                <a:spcPct val="120000"/>
              </a:lnSpc>
              <a:buClr>
                <a:srgbClr val="FF0000"/>
              </a:buClr>
            </a:pPr>
            <a:r>
              <a:rPr lang="zh-CN" altLang="en-US" dirty="0">
                <a:solidFill>
                  <a:schemeClr val="tx1"/>
                </a:solidFill>
              </a:rPr>
              <a:t>判定：公理，引理，闭包</a:t>
            </a:r>
            <a:r>
              <a:rPr lang="en-US" altLang="zh-CN" dirty="0">
                <a:solidFill>
                  <a:schemeClr val="tx1"/>
                </a:solidFill>
              </a:rPr>
              <a:t>(X</a:t>
            </a:r>
            <a:r>
              <a:rPr lang="en-US" altLang="zh-CN" baseline="30000" dirty="0">
                <a:solidFill>
                  <a:schemeClr val="tx1"/>
                </a:solidFill>
                <a:latin typeface="Arial" panose="020B0604020202020204" pitchFamily="34" charset="0"/>
              </a:rPr>
              <a:t>+</a:t>
            </a:r>
            <a:r>
              <a:rPr lang="en-US" altLang="zh-CN" dirty="0">
                <a:solidFill>
                  <a:schemeClr val="tx1"/>
                </a:solidFill>
              </a:rPr>
              <a:t>)</a:t>
            </a:r>
            <a:endParaRPr lang="en-US" altLang="zh-CN" dirty="0">
              <a:solidFill>
                <a:schemeClr val="tx1"/>
              </a:solidFill>
            </a:endParaRPr>
          </a:p>
          <a:p>
            <a:pPr algn="just" eaLnBrk="1" hangingPunct="1">
              <a:lnSpc>
                <a:spcPct val="120000"/>
              </a:lnSpc>
              <a:buClr>
                <a:srgbClr val="FF0000"/>
              </a:buClr>
            </a:pPr>
            <a:r>
              <a:rPr lang="zh-CN" altLang="en-US" dirty="0">
                <a:solidFill>
                  <a:schemeClr val="tx1"/>
                </a:solidFill>
              </a:rPr>
              <a:t>标准：范式</a:t>
            </a:r>
            <a:r>
              <a:rPr lang="en-US" altLang="zh-CN" dirty="0">
                <a:solidFill>
                  <a:schemeClr val="tx1"/>
                </a:solidFill>
              </a:rPr>
              <a:t>(2NF,3NF,BCNF)</a:t>
            </a:r>
            <a:endParaRPr lang="en-US" altLang="zh-CN" dirty="0">
              <a:solidFill>
                <a:schemeClr val="tx1"/>
              </a:solidFill>
            </a:endParaRPr>
          </a:p>
          <a:p>
            <a:pPr algn="just" eaLnBrk="1" hangingPunct="1">
              <a:lnSpc>
                <a:spcPct val="120000"/>
              </a:lnSpc>
              <a:buClr>
                <a:srgbClr val="FF0000"/>
              </a:buClr>
            </a:pPr>
            <a:r>
              <a:rPr lang="zh-CN" altLang="en-US" dirty="0">
                <a:solidFill>
                  <a:schemeClr val="tx1"/>
                </a:solidFill>
              </a:rPr>
              <a:t>方法：分解算法</a:t>
            </a:r>
            <a:r>
              <a:rPr lang="en-US" altLang="zh-CN" dirty="0">
                <a:solidFill>
                  <a:schemeClr val="tx1"/>
                </a:solidFill>
              </a:rPr>
              <a:t>6.3,6.4,6.5</a:t>
            </a:r>
            <a:endParaRPr lang="en-US" altLang="zh-CN" dirty="0">
              <a:solidFill>
                <a:schemeClr val="tx1"/>
              </a:solidFill>
            </a:endParaRPr>
          </a:p>
          <a:p>
            <a:pPr algn="just" eaLnBrk="1" hangingPunct="1">
              <a:lnSpc>
                <a:spcPct val="120000"/>
              </a:lnSpc>
              <a:buClr>
                <a:srgbClr val="FF0000"/>
              </a:buClr>
            </a:pPr>
            <a:r>
              <a:rPr lang="zh-CN" altLang="en-US" dirty="0">
                <a:solidFill>
                  <a:schemeClr val="tx1"/>
                </a:solidFill>
              </a:rPr>
              <a:t>规范化理论为数据库设计提供了理论指导和工具，也仅仅是指导。并不是规范化程度越高，模式就越好。应具体情况具体分析。</a:t>
            </a:r>
            <a:endParaRPr lang="zh-CN" altLang="en-US" dirty="0">
              <a:solidFill>
                <a:schemeClr val="tx1"/>
              </a:solidFill>
            </a:endParaRPr>
          </a:p>
        </p:txBody>
      </p:sp>
      <p:sp>
        <p:nvSpPr>
          <p:cNvPr id="47108"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zh-CN" altLang="en-US" dirty="0"/>
              <a:t>第</a:t>
            </a:r>
            <a:r>
              <a:rPr lang="en-US" altLang="zh-CN" dirty="0"/>
              <a:t>6</a:t>
            </a:r>
            <a:r>
              <a:rPr lang="zh-CN" altLang="en-US" dirty="0"/>
              <a:t>章  关系数据理论</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页脚占位符 2"/>
          <p:cNvSpPr txBox="1">
            <a:spLocks noGrp="1"/>
          </p:cNvSpPr>
          <p:nvPr>
            <p:ph type="ftr" sz="quarter" idx="11"/>
          </p:nvPr>
        </p:nvSpPr>
        <p:spPr>
          <a:ln/>
        </p:spPr>
        <p:txBody>
          <a:bodyPr/>
          <a:p>
            <a:pPr marL="0" indent="0" algn="ctr" eaLnBrk="1" hangingPunct="1">
              <a:spcBef>
                <a:spcPct val="0"/>
              </a:spcBef>
              <a:buClrTx/>
              <a:buFont typeface="Arial" panose="020B0604020202020204" pitchFamily="34" charset="0"/>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8131" name="Rectangle 2"/>
          <p:cNvSpPr/>
          <p:nvPr/>
        </p:nvSpPr>
        <p:spPr>
          <a:xfrm>
            <a:off x="1295400" y="76200"/>
            <a:ext cx="67818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0" lvl="0" indent="0" algn="ctr" eaLnBrk="1" hangingPunct="1">
              <a:spcBef>
                <a:spcPct val="0"/>
              </a:spcBef>
              <a:buClrTx/>
              <a:buNone/>
            </a:pPr>
            <a:r>
              <a:rPr lang="zh-CN" altLang="en-US" sz="4400" b="0" dirty="0">
                <a:solidFill>
                  <a:schemeClr val="accent2"/>
                </a:solidFill>
                <a:ea typeface="经典细隶书简" pitchFamily="49" charset="-122"/>
              </a:rPr>
              <a:t>第</a:t>
            </a:r>
            <a:r>
              <a:rPr lang="en-US" altLang="zh-CN" sz="4400" b="0" dirty="0">
                <a:solidFill>
                  <a:schemeClr val="accent2"/>
                </a:solidFill>
                <a:ea typeface="经典细隶书简" pitchFamily="49" charset="-122"/>
              </a:rPr>
              <a:t>6</a:t>
            </a:r>
            <a:r>
              <a:rPr lang="zh-CN" altLang="en-US" sz="4400" b="0" dirty="0">
                <a:solidFill>
                  <a:schemeClr val="accent2"/>
                </a:solidFill>
                <a:ea typeface="经典细隶书简" pitchFamily="49" charset="-122"/>
              </a:rPr>
              <a:t>章书面作业</a:t>
            </a:r>
            <a:endParaRPr lang="zh-CN" altLang="en-US" sz="4400" b="0" dirty="0">
              <a:solidFill>
                <a:schemeClr val="accent2"/>
              </a:solidFill>
              <a:ea typeface="经典细隶书简" pitchFamily="49" charset="-122"/>
            </a:endParaRPr>
          </a:p>
        </p:txBody>
      </p:sp>
      <p:sp>
        <p:nvSpPr>
          <p:cNvPr id="48132" name="Rectangle 3"/>
          <p:cNvSpPr/>
          <p:nvPr/>
        </p:nvSpPr>
        <p:spPr>
          <a:xfrm>
            <a:off x="533400" y="1066800"/>
            <a:ext cx="8229600" cy="43434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n-lt"/>
                <a:ea typeface="仿宋_GB2312" pitchFamily="49" charset="-122"/>
              </a:defRPr>
            </a:lvl5pPr>
          </a:lstStyle>
          <a:p>
            <a:pPr marL="342900" lvl="0" indent="-342900" eaLnBrk="1" hangingPunct="1">
              <a:buNone/>
            </a:pPr>
            <a:r>
              <a:rPr lang="en-US" altLang="zh-CN" sz="4800" b="0" dirty="0">
                <a:solidFill>
                  <a:schemeClr val="tx1"/>
                </a:solidFill>
                <a:ea typeface="仿宋_GB2312" pitchFamily="49" charset="-122"/>
              </a:rPr>
              <a:t>P197</a:t>
            </a:r>
            <a:r>
              <a:rPr lang="zh-CN" altLang="en-US" sz="4800" b="0" dirty="0">
                <a:solidFill>
                  <a:schemeClr val="tx1"/>
                </a:solidFill>
                <a:ea typeface="黑体" panose="02010609060101010101" pitchFamily="49" charset="-122"/>
              </a:rPr>
              <a:t>习题</a:t>
            </a:r>
            <a:endParaRPr lang="zh-CN" altLang="en-US" sz="4800" b="0" dirty="0">
              <a:solidFill>
                <a:schemeClr val="tx1"/>
              </a:solidFill>
              <a:ea typeface="黑体" panose="02010609060101010101" pitchFamily="49" charset="-122"/>
            </a:endParaRPr>
          </a:p>
          <a:p>
            <a:pPr marL="342900" lvl="0" indent="-342900" eaLnBrk="1" hangingPunct="1"/>
            <a:r>
              <a:rPr lang="en-US" altLang="zh-CN" sz="4800" b="0" dirty="0">
                <a:solidFill>
                  <a:schemeClr val="tx1"/>
                </a:solidFill>
                <a:ea typeface="仿宋_GB2312" pitchFamily="49" charset="-122"/>
              </a:rPr>
              <a:t>3,6,7,8</a:t>
            </a:r>
            <a:endParaRPr lang="en-US" altLang="zh-CN" sz="4000" b="0" dirty="0"/>
          </a:p>
        </p:txBody>
      </p:sp>
    </p:spTree>
  </p:cSld>
  <p:clrMapOvr>
    <a:masterClrMapping/>
  </p:clrMapOvr>
</p:sld>
</file>

<file path=ppt/theme/theme1.xml><?xml version="1.0" encoding="utf-8"?>
<a:theme xmlns:a="http://schemas.openxmlformats.org/drawingml/2006/main" name="kyli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CC"/>
      </a:hlink>
      <a:folHlink>
        <a:srgbClr val="B2B2B2"/>
      </a:folHlink>
    </a:clrScheme>
    <a:fontScheme name="kylin">
      <a:majorFont>
        <a:latin typeface="Times New Roman"/>
        <a:ea typeface="经典细隶书简"/>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6600FF"/>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spcBef>
            <a:spcPct val="0"/>
          </a:spcBef>
          <a:spcAft>
            <a:spcPct val="0"/>
          </a:spcAft>
          <a:buClrTx/>
          <a:buSzTx/>
          <a:buFontTx/>
          <a:buNone/>
          <a:defRPr kumimoji="1" lang="zh-CN" altLang="en-US"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solidFill>
            <a:srgbClr val="6600FF"/>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spcBef>
            <a:spcPct val="0"/>
          </a:spcBef>
          <a:spcAft>
            <a:spcPct val="0"/>
          </a:spcAft>
          <a:buClrTx/>
          <a:buSzTx/>
          <a:buFontTx/>
          <a:buNone/>
          <a:defRPr kumimoji="1" lang="zh-CN" altLang="en-US"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kyli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kyli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kyli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kyli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kyli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kyli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kyli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kylingray</Template>
  <TotalTime>0</TotalTime>
  <Words>9891</Words>
  <Application>WPS Presentation</Application>
  <PresentationFormat>全屏显示(4:3)</PresentationFormat>
  <Paragraphs>1240</Paragraphs>
  <Slides>45</Slides>
  <Notes>0</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45</vt:i4>
      </vt:variant>
    </vt:vector>
  </HeadingPairs>
  <TitlesOfParts>
    <vt:vector size="70" baseType="lpstr">
      <vt:lpstr>Arial</vt:lpstr>
      <vt:lpstr>SimSun</vt:lpstr>
      <vt:lpstr>Wingdings</vt:lpstr>
      <vt:lpstr>Times New Roman</vt:lpstr>
      <vt:lpstr>宋体</vt:lpstr>
      <vt:lpstr>经典细隶书简</vt:lpstr>
      <vt:lpstr>隶书</vt:lpstr>
      <vt:lpstr>楷体_GB2312</vt:lpstr>
      <vt:lpstr>新宋体</vt:lpstr>
      <vt:lpstr>仿宋_GB2312</vt:lpstr>
      <vt:lpstr>仿宋</vt:lpstr>
      <vt:lpstr>Calibri</vt:lpstr>
      <vt:lpstr>Arial Narrow</vt:lpstr>
      <vt:lpstr>黑体</vt:lpstr>
      <vt:lpstr>Symbol</vt:lpstr>
      <vt:lpstr>华文新魏</vt:lpstr>
      <vt:lpstr>Monotype Sorts</vt:lpstr>
      <vt:lpstr>Wingdings</vt:lpstr>
      <vt:lpstr>Palatino</vt:lpstr>
      <vt:lpstr>Space Grotesk Light</vt:lpstr>
      <vt:lpstr>微软雅黑</vt:lpstr>
      <vt:lpstr>Arial Unicode MS</vt:lpstr>
      <vt:lpstr>MS PGothic</vt:lpstr>
      <vt:lpstr>Bookman Old Style</vt:lpstr>
      <vt:lpstr>kylin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Workgroup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第6章 关系数据理论</dc:title>
  <dc:creator>kylin</dc:creator>
  <cp:lastModifiedBy>nakanosan</cp:lastModifiedBy>
  <cp:revision>29</cp:revision>
  <dcterms:created xsi:type="dcterms:W3CDTF">2026-06-17T19:29:15Z</dcterms:created>
  <dcterms:modified xsi:type="dcterms:W3CDTF">2026-06-17T19:29:15Z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1033-12.1.2.26885</vt:lpwstr>
  </property>
  <property fmtid="{D5CDD505-2E9C-101B-9397-08002B2CF9AE}" pid="3" name="ICV">
    <vt:lpwstr>66017758B95D36448BF5326A60DBCE72_43</vt:lpwstr>
  </property>
</Properties>
</file>