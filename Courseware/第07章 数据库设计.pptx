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4"/>
  </p:notesMasterIdLst>
  <p:sldIdLst>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81" r:id="rId25"/>
    <p:sldId id="282" r:id="rId26"/>
    <p:sldId id="283" r:id="rId27"/>
    <p:sldId id="284" r:id="rId28"/>
    <p:sldId id="285" r:id="rId29"/>
    <p:sldId id="286" r:id="rId30"/>
    <p:sldId id="287" r:id="rId31"/>
    <p:sldId id="288" r:id="rId32"/>
    <p:sldId id="289" r:id="rId33"/>
    <p:sldId id="290" r:id="rId34"/>
    <p:sldId id="291" r:id="rId35"/>
    <p:sldId id="292" r:id="rId36"/>
    <p:sldId id="293" r:id="rId37"/>
    <p:sldId id="294" r:id="rId38"/>
    <p:sldId id="295" r:id="rId39"/>
    <p:sldId id="296" r:id="rId40"/>
    <p:sldId id="297" r:id="rId41"/>
    <p:sldId id="298" r:id="rId42"/>
    <p:sldId id="299" r:id="rId43"/>
    <p:sldId id="300" r:id="rId44"/>
    <p:sldId id="301" r:id="rId45"/>
    <p:sldId id="302" r:id="rId46"/>
    <p:sldId id="303" r:id="rId47"/>
    <p:sldId id="304" r:id="rId48"/>
    <p:sldId id="305" r:id="rId49"/>
    <p:sldId id="306" r:id="rId50"/>
    <p:sldId id="307" r:id="rId51"/>
    <p:sldId id="308" r:id="rId52"/>
    <p:sldId id="309" r:id="rId53"/>
    <p:sldId id="310" r:id="rId54"/>
    <p:sldId id="359" r:id="rId55"/>
    <p:sldId id="311" r:id="rId56"/>
    <p:sldId id="312" r:id="rId57"/>
    <p:sldId id="313" r:id="rId58"/>
    <p:sldId id="314" r:id="rId59"/>
    <p:sldId id="315" r:id="rId60"/>
    <p:sldId id="316" r:id="rId61"/>
    <p:sldId id="317" r:id="rId62"/>
    <p:sldId id="318" r:id="rId63"/>
    <p:sldId id="319" r:id="rId64"/>
    <p:sldId id="320" r:id="rId65"/>
    <p:sldId id="321" r:id="rId66"/>
    <p:sldId id="322" r:id="rId67"/>
    <p:sldId id="323" r:id="rId68"/>
    <p:sldId id="324" r:id="rId69"/>
    <p:sldId id="325" r:id="rId70"/>
    <p:sldId id="326" r:id="rId71"/>
    <p:sldId id="327" r:id="rId72"/>
    <p:sldId id="328" r:id="rId73"/>
    <p:sldId id="329" r:id="rId74"/>
    <p:sldId id="330" r:id="rId75"/>
    <p:sldId id="331" r:id="rId76"/>
    <p:sldId id="332" r:id="rId77"/>
    <p:sldId id="333" r:id="rId78"/>
    <p:sldId id="334" r:id="rId79"/>
    <p:sldId id="335" r:id="rId80"/>
    <p:sldId id="336" r:id="rId81"/>
    <p:sldId id="337" r:id="rId82"/>
    <p:sldId id="338" r:id="rId83"/>
    <p:sldId id="339" r:id="rId84"/>
    <p:sldId id="340" r:id="rId85"/>
    <p:sldId id="341" r:id="rId86"/>
    <p:sldId id="342" r:id="rId87"/>
    <p:sldId id="343" r:id="rId88"/>
    <p:sldId id="344" r:id="rId89"/>
    <p:sldId id="345" r:id="rId90"/>
    <p:sldId id="346" r:id="rId91"/>
    <p:sldId id="347" r:id="rId92"/>
    <p:sldId id="348" r:id="rId93"/>
    <p:sldId id="349" r:id="rId94"/>
    <p:sldId id="350" r:id="rId95"/>
    <p:sldId id="351" r:id="rId96"/>
    <p:sldId id="352" r:id="rId97"/>
    <p:sldId id="353" r:id="rId98"/>
    <p:sldId id="354" r:id="rId99"/>
    <p:sldId id="355" r:id="rId100"/>
    <p:sldId id="356" r:id="rId101"/>
    <p:sldId id="357" r:id="rId102"/>
    <p:sldId id="358" r:id="rId103"/>
  </p:sldIdLst>
  <p:sldSz cx="9144000" cy="6858000" type="screen4x3"/>
  <p:notesSz cx="6858000" cy="9144000"/>
  <p:defaultTextStyle>
    <a:defPPr>
      <a:defRPr lang="zh-CN"/>
    </a:defPPr>
    <a:lvl1pPr marL="0" lvl="0" indent="0" algn="l"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36"/>
    <p:restoredTop sz="94636"/>
  </p:normalViewPr>
  <p:slideViewPr>
    <p:cSldViewPr showGuides="1">
      <p:cViewPr varScale="1">
        <p:scale>
          <a:sx n="78" d="100"/>
          <a:sy n="78" d="100"/>
        </p:scale>
        <p:origin x="933" y="2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10428"/>
    </p:cViewPr>
  </p:sorter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7.xml"/><Relationship Id="rId98" Type="http://schemas.openxmlformats.org/officeDocument/2006/relationships/slide" Target="slides/slide96.xml"/><Relationship Id="rId97" Type="http://schemas.openxmlformats.org/officeDocument/2006/relationships/slide" Target="slides/slide95.xml"/><Relationship Id="rId96" Type="http://schemas.openxmlformats.org/officeDocument/2006/relationships/slide" Target="slides/slide94.xml"/><Relationship Id="rId95" Type="http://schemas.openxmlformats.org/officeDocument/2006/relationships/slide" Target="slides/slide93.xml"/><Relationship Id="rId94" Type="http://schemas.openxmlformats.org/officeDocument/2006/relationships/slide" Target="slides/slide92.xml"/><Relationship Id="rId93" Type="http://schemas.openxmlformats.org/officeDocument/2006/relationships/slide" Target="slides/slide91.xml"/><Relationship Id="rId92" Type="http://schemas.openxmlformats.org/officeDocument/2006/relationships/slide" Target="slides/slide90.xml"/><Relationship Id="rId91" Type="http://schemas.openxmlformats.org/officeDocument/2006/relationships/slide" Target="slides/slide89.xml"/><Relationship Id="rId90" Type="http://schemas.openxmlformats.org/officeDocument/2006/relationships/slide" Target="slides/slide88.xml"/><Relationship Id="rId9" Type="http://schemas.openxmlformats.org/officeDocument/2006/relationships/slide" Target="slides/slide7.xml"/><Relationship Id="rId89" Type="http://schemas.openxmlformats.org/officeDocument/2006/relationships/slide" Target="slides/slide87.xml"/><Relationship Id="rId88" Type="http://schemas.openxmlformats.org/officeDocument/2006/relationships/slide" Target="slides/slide86.xml"/><Relationship Id="rId87" Type="http://schemas.openxmlformats.org/officeDocument/2006/relationships/slide" Target="slides/slide85.xml"/><Relationship Id="rId86" Type="http://schemas.openxmlformats.org/officeDocument/2006/relationships/slide" Target="slides/slide84.xml"/><Relationship Id="rId85" Type="http://schemas.openxmlformats.org/officeDocument/2006/relationships/slide" Target="slides/slide83.xml"/><Relationship Id="rId84" Type="http://schemas.openxmlformats.org/officeDocument/2006/relationships/slide" Target="slides/slide82.xml"/><Relationship Id="rId83" Type="http://schemas.openxmlformats.org/officeDocument/2006/relationships/slide" Target="slides/slide81.xml"/><Relationship Id="rId82" Type="http://schemas.openxmlformats.org/officeDocument/2006/relationships/slide" Target="slides/slide80.xml"/><Relationship Id="rId81" Type="http://schemas.openxmlformats.org/officeDocument/2006/relationships/slide" Target="slides/slide79.xml"/><Relationship Id="rId80" Type="http://schemas.openxmlformats.org/officeDocument/2006/relationships/slide" Target="slides/slide78.xml"/><Relationship Id="rId8" Type="http://schemas.openxmlformats.org/officeDocument/2006/relationships/slide" Target="slides/slide6.xml"/><Relationship Id="rId79" Type="http://schemas.openxmlformats.org/officeDocument/2006/relationships/slide" Target="slides/slide77.xml"/><Relationship Id="rId78" Type="http://schemas.openxmlformats.org/officeDocument/2006/relationships/slide" Target="slides/slide76.xml"/><Relationship Id="rId77" Type="http://schemas.openxmlformats.org/officeDocument/2006/relationships/slide" Target="slides/slide75.xml"/><Relationship Id="rId76" Type="http://schemas.openxmlformats.org/officeDocument/2006/relationships/slide" Target="slides/slide74.xml"/><Relationship Id="rId75" Type="http://schemas.openxmlformats.org/officeDocument/2006/relationships/slide" Target="slides/slide73.xml"/><Relationship Id="rId74" Type="http://schemas.openxmlformats.org/officeDocument/2006/relationships/slide" Target="slides/slide72.xml"/><Relationship Id="rId73" Type="http://schemas.openxmlformats.org/officeDocument/2006/relationships/slide" Target="slides/slide71.xml"/><Relationship Id="rId72" Type="http://schemas.openxmlformats.org/officeDocument/2006/relationships/slide" Target="slides/slide70.xml"/><Relationship Id="rId71" Type="http://schemas.openxmlformats.org/officeDocument/2006/relationships/slide" Target="slides/slide69.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7" Type="http://schemas.openxmlformats.org/officeDocument/2006/relationships/tableStyles" Target="tableStyles.xml"/><Relationship Id="rId106" Type="http://schemas.openxmlformats.org/officeDocument/2006/relationships/viewProps" Target="viewProps.xml"/><Relationship Id="rId105" Type="http://schemas.openxmlformats.org/officeDocument/2006/relationships/presProps" Target="presProps.xml"/><Relationship Id="rId104" Type="http://schemas.openxmlformats.org/officeDocument/2006/relationships/notesMaster" Target="notesMasters/notesMaster1.xml"/><Relationship Id="rId103" Type="http://schemas.openxmlformats.org/officeDocument/2006/relationships/slide" Target="slides/slide101.xml"/><Relationship Id="rId102" Type="http://schemas.openxmlformats.org/officeDocument/2006/relationships/slide" Target="slides/slide100.xml"/><Relationship Id="rId101" Type="http://schemas.openxmlformats.org/officeDocument/2006/relationships/slide" Target="slides/slide99.xml"/><Relationship Id="rId100" Type="http://schemas.openxmlformats.org/officeDocument/2006/relationships/slide" Target="slides/slide98.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marL="0" marR="0" lvl="0" indent="0" algn="r" defTabSz="914400" rtl="0" eaLnBrk="0" fontAlgn="base" latinLnBrk="0" hangingPunct="0">
              <a:lnSpc>
                <a:spcPct val="100000"/>
              </a:lnSpc>
              <a:spcBef>
                <a:spcPct val="0"/>
              </a:spcBef>
              <a:spcAft>
                <a:spcPct val="0"/>
              </a:spcAft>
              <a:buClrTx/>
              <a:buSzTx/>
              <a:buFontTx/>
              <a:buNone/>
              <a:defRPr/>
            </a:pPr>
            <a:fld id="{AD17DF21-0CFB-4100-8B56-E41E5DE95802}" type="datetimeFigureOut">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单击此处编辑母版文本样式</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第二级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第三级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第四级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第五级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p:txBody>
      </p:sp>
      <p:sp>
        <p:nvSpPr>
          <p:cNvPr id="6" name="页脚占位符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a:defRPr sz="1200"/>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5"/>
          </p:nvPr>
        </p:nvSpPr>
        <p:spPr>
          <a:xfrm>
            <a:off x="3884613" y="8685213"/>
            <a:ext cx="2971800" cy="458788"/>
          </a:xfrm>
          <a:prstGeom prst="rect">
            <a:avLst/>
          </a:prstGeom>
        </p:spPr>
        <p:txBody>
          <a:bodyPr vert="horz" lIns="91440" tIns="45720" rIns="91440" bIns="45720" rtlCol="0" anchor="b"/>
          <a:lstStyle>
            <a:lvl1pPr algn="r">
              <a:defRPr sz="1200"/>
            </a:lvl1pPr>
          </a:lstStyle>
          <a:p>
            <a:pPr marL="0" marR="0" lvl="0" indent="0" algn="r" defTabSz="914400" rtl="0" eaLnBrk="0" fontAlgn="base" latinLnBrk="0" hangingPunct="0">
              <a:lnSpc>
                <a:spcPct val="100000"/>
              </a:lnSpc>
              <a:spcBef>
                <a:spcPct val="0"/>
              </a:spcBef>
              <a:spcAft>
                <a:spcPct val="0"/>
              </a:spcAft>
              <a:buClrTx/>
              <a:buSzTx/>
              <a:buFontTx/>
              <a:buNone/>
              <a:defRPr/>
            </a:pPr>
            <a:fld id="{2E93C811-1DF0-4071-B17D-1567C21180AD}" type="slidenum">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en-US"/>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rPr>
              <a:t>An Introduction to Database System</a:t>
            </a:r>
            <a:endPar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FE6499FB-2437-4BD8-93F8-89CAD02D5E2C}" type="slidenum">
              <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rPr>
              <a:t>An Introduction to Database System</a:t>
            </a:r>
            <a:endPar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FE6499FB-2437-4BD8-93F8-89CAD02D5E2C}" type="slidenum">
              <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rPr>
              <a:t>An Introduction to Database System</a:t>
            </a:r>
            <a:endPar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FE6499FB-2437-4BD8-93F8-89CAD02D5E2C}" type="slidenum">
              <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en-US"/>
          </a:p>
        </p:txBody>
      </p:sp>
      <p:sp>
        <p:nvSpPr>
          <p:cNvPr id="3" name="内容占位符 2"/>
          <p:cNvSpPr>
            <a:spLocks noGrp="1"/>
          </p:cNvSpPr>
          <p:nvPr>
            <p:ph sz="half" idx="1"/>
          </p:nvPr>
        </p:nvSpPr>
        <p:spPr>
          <a:xfrm>
            <a:off x="685800" y="1447800"/>
            <a:ext cx="3810000" cy="4724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内容占位符 3"/>
          <p:cNvSpPr>
            <a:spLocks noGrp="1"/>
          </p:cNvSpPr>
          <p:nvPr>
            <p:ph sz="half" idx="2"/>
          </p:nvPr>
        </p:nvSpPr>
        <p:spPr>
          <a:xfrm>
            <a:off x="4648200" y="1447800"/>
            <a:ext cx="3810000" cy="4724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rPr>
              <a:t>An Introduction to Database System</a:t>
            </a:r>
            <a:endPar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endParaRPr>
          </a:p>
        </p:txBody>
      </p:sp>
      <p:sp>
        <p:nvSpPr>
          <p:cNvPr id="7" name="Slide Number Placeholder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FE6499FB-2437-4BD8-93F8-89CAD02D5E2C}" type="slidenum">
              <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7" name="Date Placeholder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Footer Placeholder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rPr>
              <a:t>An Introduction to Database System</a:t>
            </a:r>
            <a:endPar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endParaRPr>
          </a:p>
        </p:txBody>
      </p:sp>
      <p:sp>
        <p:nvSpPr>
          <p:cNvPr id="9" name="Slide Number Placeholder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FE6499FB-2437-4BD8-93F8-89CAD02D5E2C}" type="slidenum">
              <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en-US"/>
          </a:p>
        </p:txBody>
      </p:sp>
      <p:sp>
        <p:nvSpPr>
          <p:cNvPr id="3" name="Date Placeholder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Footer Placeholder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rPr>
              <a:t>An Introduction to Database System</a:t>
            </a:r>
            <a:endPar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endParaRPr>
          </a:p>
        </p:txBody>
      </p:sp>
      <p:sp>
        <p:nvSpPr>
          <p:cNvPr id="5" name="Slide Number Placeholder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FE6499FB-2437-4BD8-93F8-89CAD02D5E2C}" type="slidenum">
              <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 name="Footer Placeholder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rPr>
              <a:t>An Introduction to Database System</a:t>
            </a:r>
            <a:endPar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endParaRPr>
          </a:p>
        </p:txBody>
      </p:sp>
      <p:sp>
        <p:nvSpPr>
          <p:cNvPr id="4" name="Slide Number Placeholder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FE6499FB-2437-4BD8-93F8-89CAD02D5E2C}" type="slidenum">
              <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rPr>
              <a:t>An Introduction to Database System</a:t>
            </a:r>
            <a:endPar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endParaRPr>
          </a:p>
        </p:txBody>
      </p:sp>
      <p:sp>
        <p:nvSpPr>
          <p:cNvPr id="7" name="Slide Number Placeholder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FE6499FB-2437-4BD8-93F8-89CAD02D5E2C}" type="slidenum">
              <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FF3300"/>
              </a:buClr>
              <a:buSzTx/>
              <a:buFont typeface="Wingdings" panose="05000000000000000000" pitchFamily="2" charset="2"/>
              <a:buNone/>
              <a:defRPr/>
            </a:pPr>
            <a:endParaRPr kumimoji="1" lang="en-US" sz="3200" b="1" i="0" u="none" strike="noStrike" kern="0" cap="none" spc="0" normalizeH="0" baseline="0" noProof="0" smtClean="0">
              <a:ln>
                <a:noFill/>
              </a:ln>
              <a:solidFill>
                <a:srgbClr val="FF3300"/>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rPr>
              <a:t>An Introduction to Database System</a:t>
            </a:r>
            <a:endPar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endParaRPr>
          </a:p>
        </p:txBody>
      </p:sp>
      <p:sp>
        <p:nvSpPr>
          <p:cNvPr id="7" name="Slide Number Placeholder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FE6499FB-2437-4BD8-93F8-89CAD02D5E2C}" type="slidenum">
              <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rPr>
              <a:t>An Introduction to Database System</a:t>
            </a:r>
            <a:endPar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FE6499FB-2437-4BD8-93F8-89CAD02D5E2C}" type="slidenum">
              <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152400"/>
            <a:ext cx="1943100" cy="6019800"/>
          </a:xfrm>
        </p:spPr>
        <p:txBody>
          <a:bodyPr vert="eaVert"/>
          <a:lstStyle/>
          <a:p>
            <a:r>
              <a:rPr lang="zh-CN" altLang="en-US" smtClean="0"/>
              <a:t>单击此处编辑母版标题样式</a:t>
            </a:r>
            <a:endParaRPr lang="en-US"/>
          </a:p>
        </p:txBody>
      </p:sp>
      <p:sp>
        <p:nvSpPr>
          <p:cNvPr id="3" name="竖排文字占位符 2"/>
          <p:cNvSpPr>
            <a:spLocks noGrp="1"/>
          </p:cNvSpPr>
          <p:nvPr>
            <p:ph type="body" orient="vert" idx="1"/>
          </p:nvPr>
        </p:nvSpPr>
        <p:spPr>
          <a:xfrm>
            <a:off x="685800" y="152400"/>
            <a:ext cx="5676900" cy="60198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rPr>
              <a:t>An Introduction to Database System</a:t>
            </a:r>
            <a:endPar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FE6499FB-2437-4BD8-93F8-89CAD02D5E2C}" type="slidenum">
              <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2.png"/><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2"/>
          <a:stretch>
            <a:fillRect/>
          </a:stretch>
        </a:blipFill>
        <a:effectLst/>
      </p:bgPr>
    </p:bg>
    <p:spTree>
      <p:nvGrpSpPr>
        <p:cNvPr id="1" name=""/>
        <p:cNvGrpSpPr/>
        <p:nvPr/>
      </p:nvGrpSpPr>
      <p:grpSpPr/>
      <p:sp>
        <p:nvSpPr>
          <p:cNvPr id="1026" name="Rectangle 2"/>
          <p:cNvSpPr>
            <a:spLocks noGrp="1"/>
          </p:cNvSpPr>
          <p:nvPr>
            <p:ph type="title"/>
          </p:nvPr>
        </p:nvSpPr>
        <p:spPr>
          <a:xfrm>
            <a:off x="685800" y="152400"/>
            <a:ext cx="7772400" cy="1143000"/>
          </a:xfrm>
          <a:prstGeom prst="rect">
            <a:avLst/>
          </a:prstGeom>
          <a:noFill/>
          <a:ln w="9525">
            <a:noFill/>
          </a:ln>
        </p:spPr>
        <p:txBody>
          <a:bodyPr anchor="ctr" anchorCtr="0"/>
          <a:p>
            <a:pPr lvl="0"/>
            <a:r>
              <a:rPr lang="zh-CN" altLang="en-US" dirty="0"/>
              <a:t>标题</a:t>
            </a:r>
            <a:endParaRPr lang="zh-CN" altLang="en-US" dirty="0"/>
          </a:p>
        </p:txBody>
      </p:sp>
      <p:sp>
        <p:nvSpPr>
          <p:cNvPr id="1027" name="Rectangle 3"/>
          <p:cNvSpPr>
            <a:spLocks noGrp="1"/>
          </p:cNvSpPr>
          <p:nvPr>
            <p:ph type="body" idx="1"/>
          </p:nvPr>
        </p:nvSpPr>
        <p:spPr>
          <a:xfrm>
            <a:off x="685800" y="1447800"/>
            <a:ext cx="7772400" cy="4724400"/>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100" name="Rectangle 4"/>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l" eaLnBrk="1" hangingPunct="1">
              <a:defRPr kumimoji="1" sz="14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101" name="Rectangle 5"/>
          <p:cNvSpPr>
            <a:spLocks noGrp="1" noChangeArrowheads="1"/>
          </p:cNvSpPr>
          <p:nvPr>
            <p:ph type="ftr" sz="quarter" idx="3"/>
          </p:nvPr>
        </p:nvSpPr>
        <p:spPr bwMode="auto">
          <a:xfrm>
            <a:off x="2400300" y="6540500"/>
            <a:ext cx="3683000" cy="317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eaLnBrk="1" hangingPunct="1">
              <a:defRPr kumimoji="1" sz="1400">
                <a:solidFill>
                  <a:srgbClr val="6600FF"/>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rPr>
              <a:t>An Introduction to Database System</a:t>
            </a:r>
            <a:endPar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endParaRPr>
          </a:p>
        </p:txBody>
      </p:sp>
      <p:sp>
        <p:nvSpPr>
          <p:cNvPr id="4102" name="Rectangle 6"/>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kumimoji="1" sz="1400"/>
            </a:lvl1pPr>
          </a:lstStyle>
          <a:p>
            <a:pPr marL="0" marR="0" lvl="0" indent="0" algn="r" defTabSz="914400" rtl="0" eaLnBrk="1" fontAlgn="base" latinLnBrk="0" hangingPunct="1">
              <a:lnSpc>
                <a:spcPct val="100000"/>
              </a:lnSpc>
              <a:spcBef>
                <a:spcPct val="0"/>
              </a:spcBef>
              <a:spcAft>
                <a:spcPct val="0"/>
              </a:spcAft>
              <a:buClrTx/>
              <a:buSzTx/>
              <a:buFontTx/>
              <a:buNone/>
              <a:defRPr/>
            </a:pPr>
            <a:fld id="{FE6499FB-2437-4BD8-93F8-89CAD02D5E2C}" type="slidenum">
              <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2" name="Text Box 8"/>
          <p:cNvSpPr txBox="1">
            <a:spLocks noChangeArrowheads="1"/>
          </p:cNvSpPr>
          <p:nvPr/>
        </p:nvSpPr>
        <p:spPr bwMode="auto">
          <a:xfrm>
            <a:off x="57150" y="6521450"/>
            <a:ext cx="11144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Times New Roman" panose="02020603050405020304" pitchFamily="18" charset="0"/>
                <a:ea typeface="宋体" panose="02010600030101010101" pitchFamily="2" charset="-122"/>
              </a:defRPr>
            </a:lvl1pPr>
            <a:lvl2pPr marL="742950" indent="-285750">
              <a:defRPr sz="1600">
                <a:solidFill>
                  <a:schemeClr val="tx1"/>
                </a:solidFill>
                <a:latin typeface="Times New Roman" panose="02020603050405020304" pitchFamily="18" charset="0"/>
                <a:ea typeface="宋体" panose="02010600030101010101" pitchFamily="2" charset="-122"/>
              </a:defRPr>
            </a:lvl2pPr>
            <a:lvl3pPr marL="1143000" indent="-228600">
              <a:defRPr sz="1600">
                <a:solidFill>
                  <a:schemeClr val="tx1"/>
                </a:solidFill>
                <a:latin typeface="Times New Roman" panose="02020603050405020304" pitchFamily="18" charset="0"/>
                <a:ea typeface="宋体" panose="02010600030101010101" pitchFamily="2" charset="-122"/>
              </a:defRPr>
            </a:lvl3pPr>
            <a:lvl4pPr marL="1600200" indent="-228600">
              <a:defRPr sz="1600">
                <a:solidFill>
                  <a:schemeClr val="tx1"/>
                </a:solidFill>
                <a:latin typeface="Times New Roman" panose="02020603050405020304" pitchFamily="18" charset="0"/>
                <a:ea typeface="宋体" panose="02010600030101010101" pitchFamily="2" charset="-122"/>
              </a:defRPr>
            </a:lvl4pPr>
            <a:lvl5pPr marL="2057400" indent="-228600">
              <a:defRPr sz="16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50000"/>
              </a:spcBef>
              <a:spcAft>
                <a:spcPct val="0"/>
              </a:spcAft>
              <a:buClrTx/>
              <a:buSzTx/>
              <a:buFontTx/>
              <a:buNone/>
              <a:defRPr/>
            </a:pPr>
            <a:fld id="{E5243C1F-B811-4A1D-84A2-D62BE155134F}" type="slidenum">
              <a:rPr kumimoji="0" lang="en-US" altLang="zh-CN" sz="1600" b="1"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600" b="1"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pic>
        <p:nvPicPr>
          <p:cNvPr id="2" name="Picture 9" descr="华工校徽"/>
          <p:cNvPicPr>
            <a:picLocks noChangeAspect="1"/>
          </p:cNvPicPr>
          <p:nvPr/>
        </p:nvPicPr>
        <p:blipFill>
          <a:blip r:embed="rId13"/>
          <a:stretch>
            <a:fillRect/>
          </a:stretch>
        </p:blipFill>
        <p:spPr>
          <a:xfrm>
            <a:off x="63500" y="63500"/>
            <a:ext cx="990600" cy="750888"/>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rtl="0" eaLnBrk="0" fontAlgn="base" hangingPunct="0">
        <a:spcBef>
          <a:spcPct val="0"/>
        </a:spcBef>
        <a:spcAft>
          <a:spcPct val="0"/>
        </a:spcAft>
        <a:defRPr kumimoji="1" sz="4400" b="1">
          <a:solidFill>
            <a:schemeClr val="accent2"/>
          </a:solidFill>
          <a:latin typeface="+mj-lt"/>
          <a:ea typeface="+mj-ea"/>
          <a:cs typeface="+mj-cs"/>
        </a:defRPr>
      </a:lvl1pPr>
      <a:lvl2pPr algn="ctr" rtl="0" eaLnBrk="0" fontAlgn="base" hangingPunct="0">
        <a:spcBef>
          <a:spcPct val="0"/>
        </a:spcBef>
        <a:spcAft>
          <a:spcPct val="0"/>
        </a:spcAft>
        <a:defRPr kumimoji="1" sz="4400" b="1">
          <a:solidFill>
            <a:schemeClr val="accent2"/>
          </a:solidFill>
          <a:latin typeface="Times New Roman" panose="02020603050405020304" pitchFamily="18" charset="0"/>
          <a:ea typeface="经典细隶书简" pitchFamily="49" charset="-122"/>
        </a:defRPr>
      </a:lvl2pPr>
      <a:lvl3pPr algn="ctr" rtl="0" eaLnBrk="0" fontAlgn="base" hangingPunct="0">
        <a:spcBef>
          <a:spcPct val="0"/>
        </a:spcBef>
        <a:spcAft>
          <a:spcPct val="0"/>
        </a:spcAft>
        <a:defRPr kumimoji="1" sz="4400" b="1">
          <a:solidFill>
            <a:schemeClr val="accent2"/>
          </a:solidFill>
          <a:latin typeface="Times New Roman" panose="02020603050405020304" pitchFamily="18" charset="0"/>
          <a:ea typeface="经典细隶书简" pitchFamily="49" charset="-122"/>
        </a:defRPr>
      </a:lvl3pPr>
      <a:lvl4pPr algn="ctr" rtl="0" eaLnBrk="0" fontAlgn="base" hangingPunct="0">
        <a:spcBef>
          <a:spcPct val="0"/>
        </a:spcBef>
        <a:spcAft>
          <a:spcPct val="0"/>
        </a:spcAft>
        <a:defRPr kumimoji="1" sz="4400" b="1">
          <a:solidFill>
            <a:schemeClr val="accent2"/>
          </a:solidFill>
          <a:latin typeface="Times New Roman" panose="02020603050405020304" pitchFamily="18" charset="0"/>
          <a:ea typeface="经典细隶书简" pitchFamily="49" charset="-122"/>
        </a:defRPr>
      </a:lvl4pPr>
      <a:lvl5pPr algn="ctr" rtl="0" eaLnBrk="0" fontAlgn="base" hangingPunct="0">
        <a:spcBef>
          <a:spcPct val="0"/>
        </a:spcBef>
        <a:spcAft>
          <a:spcPct val="0"/>
        </a:spcAft>
        <a:defRPr kumimoji="1" sz="4400" b="1">
          <a:solidFill>
            <a:schemeClr val="accent2"/>
          </a:solidFill>
          <a:latin typeface="Times New Roman" panose="02020603050405020304" pitchFamily="18" charset="0"/>
          <a:ea typeface="经典细隶书简" pitchFamily="49" charset="-122"/>
        </a:defRPr>
      </a:lvl5pPr>
      <a:lvl6pPr marL="457200" algn="ctr" rtl="0" fontAlgn="base">
        <a:spcBef>
          <a:spcPct val="0"/>
        </a:spcBef>
        <a:spcAft>
          <a:spcPct val="0"/>
        </a:spcAft>
        <a:defRPr kumimoji="1" sz="4400" b="1">
          <a:solidFill>
            <a:schemeClr val="accent2"/>
          </a:solidFill>
          <a:latin typeface="Times New Roman" panose="02020603050405020304" pitchFamily="18" charset="0"/>
          <a:ea typeface="经典细隶书简" pitchFamily="49" charset="-122"/>
        </a:defRPr>
      </a:lvl6pPr>
      <a:lvl7pPr marL="914400" algn="ctr" rtl="0" fontAlgn="base">
        <a:spcBef>
          <a:spcPct val="0"/>
        </a:spcBef>
        <a:spcAft>
          <a:spcPct val="0"/>
        </a:spcAft>
        <a:defRPr kumimoji="1" sz="4400" b="1">
          <a:solidFill>
            <a:schemeClr val="accent2"/>
          </a:solidFill>
          <a:latin typeface="Times New Roman" panose="02020603050405020304" pitchFamily="18" charset="0"/>
          <a:ea typeface="经典细隶书简" pitchFamily="49" charset="-122"/>
        </a:defRPr>
      </a:lvl7pPr>
      <a:lvl8pPr marL="1371600" algn="ctr" rtl="0" fontAlgn="base">
        <a:spcBef>
          <a:spcPct val="0"/>
        </a:spcBef>
        <a:spcAft>
          <a:spcPct val="0"/>
        </a:spcAft>
        <a:defRPr kumimoji="1" sz="4400" b="1">
          <a:solidFill>
            <a:schemeClr val="accent2"/>
          </a:solidFill>
          <a:latin typeface="Times New Roman" panose="02020603050405020304" pitchFamily="18" charset="0"/>
          <a:ea typeface="经典细隶书简" pitchFamily="49" charset="-122"/>
        </a:defRPr>
      </a:lvl8pPr>
      <a:lvl9pPr marL="1828800" algn="ctr" rtl="0" fontAlgn="base">
        <a:spcBef>
          <a:spcPct val="0"/>
        </a:spcBef>
        <a:spcAft>
          <a:spcPct val="0"/>
        </a:spcAft>
        <a:defRPr kumimoji="1" sz="4400" b="1">
          <a:solidFill>
            <a:schemeClr val="accent2"/>
          </a:solidFill>
          <a:latin typeface="Times New Roman" panose="02020603050405020304" pitchFamily="18" charset="0"/>
          <a:ea typeface="经典细隶书简" pitchFamily="49" charset="-122"/>
        </a:defRPr>
      </a:lvl9pPr>
    </p:titleStyle>
    <p:body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vl6pPr marL="2514600" indent="-228600" algn="l" rtl="0" fontAlgn="base">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6pPr>
      <a:lvl7pPr marL="2971800" indent="-228600" algn="l" rtl="0" fontAlgn="base">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7pPr>
      <a:lvl8pPr marL="3429000" indent="-228600" algn="l" rtl="0" fontAlgn="base">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8pPr>
      <a:lvl9pPr marL="3886200" indent="-228600" algn="l" rtl="0" fontAlgn="base">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png"/><Relationship Id="rId1" Type="http://schemas.openxmlformats.org/officeDocument/2006/relationships/image" Target="../media/image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3075" name="Rectangle 2"/>
          <p:cNvSpPr/>
          <p:nvPr/>
        </p:nvSpPr>
        <p:spPr>
          <a:xfrm>
            <a:off x="698500" y="1498600"/>
            <a:ext cx="7747000" cy="609600"/>
          </a:xfrm>
          <a:prstGeom prst="rect">
            <a:avLst/>
          </a:prstGeom>
          <a:solidFill>
            <a:schemeClr val="accent2"/>
          </a:solidFill>
          <a:ln w="9525">
            <a:noFill/>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a:spcBef>
                <a:spcPct val="0"/>
              </a:spcBef>
              <a:buClrTx/>
              <a:buFontTx/>
              <a:buNone/>
            </a:pPr>
            <a:endParaRPr lang="en-US" altLang="zh-CN" sz="1600" b="0" dirty="0">
              <a:solidFill>
                <a:schemeClr val="tx1"/>
              </a:solidFill>
            </a:endParaRPr>
          </a:p>
        </p:txBody>
      </p:sp>
      <p:sp>
        <p:nvSpPr>
          <p:cNvPr id="3076" name="Rectangle 3"/>
          <p:cNvSpPr>
            <a:spLocks noGrp="1"/>
          </p:cNvSpPr>
          <p:nvPr>
            <p:ph idx="1"/>
          </p:nvPr>
        </p:nvSpPr>
        <p:spPr>
          <a:xfrm>
            <a:off x="914400" y="1371600"/>
            <a:ext cx="7327900" cy="4876800"/>
          </a:xfrm>
          <a:ln/>
        </p:spPr>
        <p:txBody>
          <a:bodyPr vert="horz" wrap="square" lIns="91440" tIns="45720" rIns="91440" bIns="45720" anchor="t" anchorCtr="0"/>
          <a:p>
            <a:pPr eaLnBrk="1" hangingPunct="1">
              <a:lnSpc>
                <a:spcPct val="120000"/>
              </a:lnSpc>
              <a:spcBef>
                <a:spcPct val="0"/>
              </a:spcBef>
              <a:buClrTx/>
              <a:buFontTx/>
              <a:buNone/>
            </a:pPr>
            <a:r>
              <a:rPr lang="en-US" altLang="zh-CN" sz="3600" b="0" dirty="0">
                <a:solidFill>
                  <a:schemeClr val="bg1"/>
                </a:solidFill>
                <a:latin typeface="Arial Narrow" panose="020B0606020202030204" pitchFamily="34" charset="0"/>
                <a:ea typeface="楷体_GB2312" pitchFamily="49" charset="-122"/>
              </a:rPr>
              <a:t>7.1 </a:t>
            </a:r>
            <a:r>
              <a:rPr lang="zh-CN" altLang="en-US" sz="3600" b="0" dirty="0">
                <a:solidFill>
                  <a:schemeClr val="bg1"/>
                </a:solidFill>
                <a:latin typeface="Arial Narrow" panose="020B0606020202030204" pitchFamily="34" charset="0"/>
                <a:ea typeface="楷体_GB2312" pitchFamily="49" charset="-122"/>
              </a:rPr>
              <a:t>数据库设计概述</a:t>
            </a:r>
            <a:endParaRPr lang="zh-CN" altLang="en-US" sz="3600" b="0" dirty="0">
              <a:solidFill>
                <a:schemeClr val="bg1"/>
              </a:solidFill>
              <a:latin typeface="Arial Narrow" panose="020B0606020202030204" pitchFamily="34" charset="0"/>
              <a:ea typeface="楷体_GB2312" pitchFamily="49" charset="-122"/>
            </a:endParaRPr>
          </a:p>
          <a:p>
            <a:pPr eaLnBrk="1" hangingPunct="1">
              <a:lnSpc>
                <a:spcPct val="120000"/>
              </a:lnSpc>
              <a:spcBef>
                <a:spcPct val="0"/>
              </a:spcBef>
              <a:buClrTx/>
              <a:buFontTx/>
              <a:buNone/>
            </a:pPr>
            <a:r>
              <a:rPr lang="en-US" altLang="zh-CN" sz="3600" b="0" dirty="0">
                <a:solidFill>
                  <a:schemeClr val="tx1"/>
                </a:solidFill>
                <a:latin typeface="Arial Narrow" panose="020B0606020202030204" pitchFamily="34" charset="0"/>
                <a:ea typeface="楷体_GB2312" pitchFamily="49" charset="-122"/>
              </a:rPr>
              <a:t>7.2 </a:t>
            </a:r>
            <a:r>
              <a:rPr lang="zh-CN" altLang="en-US" sz="3600" b="0" dirty="0">
                <a:solidFill>
                  <a:schemeClr val="tx1"/>
                </a:solidFill>
                <a:latin typeface="Arial Narrow" panose="020B0606020202030204" pitchFamily="34" charset="0"/>
                <a:ea typeface="楷体_GB2312" pitchFamily="49" charset="-122"/>
              </a:rPr>
              <a:t>需求分析</a:t>
            </a:r>
            <a:endParaRPr lang="zh-CN" altLang="en-US" sz="3600" b="0" dirty="0">
              <a:solidFill>
                <a:schemeClr val="tx1"/>
              </a:solidFill>
              <a:latin typeface="Arial Narrow" panose="020B0606020202030204" pitchFamily="34" charset="0"/>
              <a:ea typeface="楷体_GB2312" pitchFamily="49" charset="-122"/>
            </a:endParaRPr>
          </a:p>
          <a:p>
            <a:pPr eaLnBrk="1" hangingPunct="1">
              <a:lnSpc>
                <a:spcPct val="120000"/>
              </a:lnSpc>
              <a:spcBef>
                <a:spcPct val="0"/>
              </a:spcBef>
              <a:buClrTx/>
              <a:buFontTx/>
              <a:buNone/>
            </a:pPr>
            <a:r>
              <a:rPr lang="en-US" altLang="zh-CN" sz="3600" b="0" dirty="0">
                <a:solidFill>
                  <a:schemeClr val="tx1"/>
                </a:solidFill>
                <a:latin typeface="Arial Narrow" panose="020B0606020202030204" pitchFamily="34" charset="0"/>
                <a:ea typeface="楷体_GB2312" pitchFamily="49" charset="-122"/>
              </a:rPr>
              <a:t>7.3 </a:t>
            </a:r>
            <a:r>
              <a:rPr lang="zh-CN" altLang="en-US" sz="3600" b="0" dirty="0">
                <a:solidFill>
                  <a:schemeClr val="tx1"/>
                </a:solidFill>
                <a:latin typeface="Arial Narrow" panose="020B0606020202030204" pitchFamily="34" charset="0"/>
                <a:ea typeface="楷体_GB2312" pitchFamily="49" charset="-122"/>
              </a:rPr>
              <a:t>概念结构设计</a:t>
            </a:r>
            <a:endParaRPr lang="zh-CN" altLang="en-US" sz="3600" b="0" dirty="0">
              <a:solidFill>
                <a:schemeClr val="tx1"/>
              </a:solidFill>
              <a:latin typeface="Arial Narrow" panose="020B0606020202030204" pitchFamily="34" charset="0"/>
              <a:ea typeface="楷体_GB2312" pitchFamily="49" charset="-122"/>
            </a:endParaRPr>
          </a:p>
          <a:p>
            <a:pPr eaLnBrk="1" hangingPunct="1">
              <a:lnSpc>
                <a:spcPct val="120000"/>
              </a:lnSpc>
              <a:spcBef>
                <a:spcPct val="0"/>
              </a:spcBef>
              <a:buClrTx/>
              <a:buFontTx/>
              <a:buNone/>
            </a:pPr>
            <a:r>
              <a:rPr lang="en-US" altLang="zh-CN" sz="3600" b="0" dirty="0">
                <a:solidFill>
                  <a:schemeClr val="tx1"/>
                </a:solidFill>
                <a:latin typeface="Arial Narrow" panose="020B0606020202030204" pitchFamily="34" charset="0"/>
                <a:ea typeface="楷体_GB2312" pitchFamily="49" charset="-122"/>
              </a:rPr>
              <a:t>7.4 </a:t>
            </a:r>
            <a:r>
              <a:rPr lang="zh-CN" altLang="en-US" sz="3600" b="0" dirty="0">
                <a:solidFill>
                  <a:schemeClr val="tx1"/>
                </a:solidFill>
                <a:latin typeface="Arial Narrow" panose="020B0606020202030204" pitchFamily="34" charset="0"/>
                <a:ea typeface="楷体_GB2312" pitchFamily="49" charset="-122"/>
              </a:rPr>
              <a:t>逻辑结构设计</a:t>
            </a:r>
            <a:endParaRPr lang="zh-CN" altLang="en-US" sz="3600" b="0" dirty="0">
              <a:solidFill>
                <a:schemeClr val="tx1"/>
              </a:solidFill>
              <a:latin typeface="Arial Narrow" panose="020B0606020202030204" pitchFamily="34" charset="0"/>
              <a:ea typeface="楷体_GB2312" pitchFamily="49" charset="-122"/>
            </a:endParaRPr>
          </a:p>
          <a:p>
            <a:pPr eaLnBrk="1" hangingPunct="1">
              <a:lnSpc>
                <a:spcPct val="120000"/>
              </a:lnSpc>
              <a:spcBef>
                <a:spcPct val="0"/>
              </a:spcBef>
              <a:buClrTx/>
              <a:buFontTx/>
              <a:buNone/>
            </a:pPr>
            <a:r>
              <a:rPr lang="en-US" altLang="zh-CN" sz="3600" b="0" dirty="0">
                <a:solidFill>
                  <a:schemeClr val="tx1"/>
                </a:solidFill>
                <a:latin typeface="Arial Narrow" panose="020B0606020202030204" pitchFamily="34" charset="0"/>
                <a:ea typeface="楷体_GB2312" pitchFamily="49" charset="-122"/>
              </a:rPr>
              <a:t>7.5 </a:t>
            </a:r>
            <a:r>
              <a:rPr lang="zh-CN" altLang="en-US" sz="3600" b="0" dirty="0">
                <a:solidFill>
                  <a:schemeClr val="tx1"/>
                </a:solidFill>
                <a:latin typeface="Arial Narrow" panose="020B0606020202030204" pitchFamily="34" charset="0"/>
                <a:ea typeface="楷体_GB2312" pitchFamily="49" charset="-122"/>
              </a:rPr>
              <a:t>数据库的物理设计</a:t>
            </a:r>
            <a:endParaRPr lang="zh-CN" altLang="en-US" sz="3600" b="0" dirty="0">
              <a:solidFill>
                <a:schemeClr val="tx1"/>
              </a:solidFill>
              <a:latin typeface="Arial Narrow" panose="020B0606020202030204" pitchFamily="34" charset="0"/>
              <a:ea typeface="楷体_GB2312" pitchFamily="49" charset="-122"/>
            </a:endParaRPr>
          </a:p>
          <a:p>
            <a:pPr eaLnBrk="1" hangingPunct="1">
              <a:lnSpc>
                <a:spcPct val="120000"/>
              </a:lnSpc>
              <a:spcBef>
                <a:spcPct val="0"/>
              </a:spcBef>
              <a:buClrTx/>
              <a:buFontTx/>
              <a:buNone/>
            </a:pPr>
            <a:r>
              <a:rPr lang="en-US" altLang="zh-CN" sz="3600" b="0" dirty="0">
                <a:solidFill>
                  <a:schemeClr val="tx1"/>
                </a:solidFill>
                <a:latin typeface="Arial Narrow" panose="020B0606020202030204" pitchFamily="34" charset="0"/>
                <a:ea typeface="楷体_GB2312" pitchFamily="49" charset="-122"/>
              </a:rPr>
              <a:t>7.6 </a:t>
            </a:r>
            <a:r>
              <a:rPr lang="zh-CN" altLang="en-US" sz="3600" b="0" dirty="0">
                <a:solidFill>
                  <a:schemeClr val="tx1"/>
                </a:solidFill>
                <a:latin typeface="Arial Narrow" panose="020B0606020202030204" pitchFamily="34" charset="0"/>
                <a:ea typeface="楷体_GB2312" pitchFamily="49" charset="-122"/>
              </a:rPr>
              <a:t>数据库实施</a:t>
            </a:r>
            <a:endParaRPr lang="zh-CN" altLang="en-US" sz="3600" b="0" dirty="0">
              <a:solidFill>
                <a:schemeClr val="tx1"/>
              </a:solidFill>
              <a:latin typeface="Arial Narrow" panose="020B0606020202030204" pitchFamily="34" charset="0"/>
              <a:ea typeface="楷体_GB2312" pitchFamily="49" charset="-122"/>
            </a:endParaRPr>
          </a:p>
          <a:p>
            <a:pPr eaLnBrk="1" hangingPunct="1">
              <a:lnSpc>
                <a:spcPct val="120000"/>
              </a:lnSpc>
              <a:spcBef>
                <a:spcPct val="0"/>
              </a:spcBef>
              <a:buClrTx/>
              <a:buFontTx/>
              <a:buNone/>
            </a:pPr>
            <a:r>
              <a:rPr lang="en-US" altLang="zh-CN" sz="3600" b="0" dirty="0">
                <a:solidFill>
                  <a:schemeClr val="tx1"/>
                </a:solidFill>
                <a:latin typeface="Arial Narrow" panose="020B0606020202030204" pitchFamily="34" charset="0"/>
                <a:ea typeface="楷体_GB2312" pitchFamily="49" charset="-122"/>
              </a:rPr>
              <a:t>7.7 </a:t>
            </a:r>
            <a:r>
              <a:rPr lang="zh-CN" altLang="en-US" sz="3600" b="0" dirty="0">
                <a:solidFill>
                  <a:schemeClr val="tx1"/>
                </a:solidFill>
                <a:latin typeface="Arial Narrow" panose="020B0606020202030204" pitchFamily="34" charset="0"/>
                <a:ea typeface="楷体_GB2312" pitchFamily="49" charset="-122"/>
              </a:rPr>
              <a:t>数据库运行和维护</a:t>
            </a:r>
            <a:endParaRPr lang="zh-CN" altLang="en-US" sz="3600" b="0" dirty="0">
              <a:solidFill>
                <a:schemeClr val="tx1"/>
              </a:solidFill>
              <a:latin typeface="Arial Narrow" panose="020B0606020202030204" pitchFamily="34" charset="0"/>
              <a:ea typeface="楷体_GB2312" pitchFamily="49" charset="-122"/>
            </a:endParaRPr>
          </a:p>
        </p:txBody>
      </p:sp>
      <p:sp>
        <p:nvSpPr>
          <p:cNvPr id="3077" name="Rectangle 4"/>
          <p:cNvSpPr>
            <a:spLocks noGrp="1"/>
          </p:cNvSpPr>
          <p:nvPr>
            <p:ph type="title"/>
          </p:nvPr>
        </p:nvSpPr>
        <p:spPr>
          <a:ln/>
        </p:spPr>
        <p:txBody>
          <a:bodyPr vert="horz" wrap="square" lIns="91440" tIns="45720" rIns="91440" bIns="45720" anchor="ctr" anchorCtr="0"/>
          <a:p>
            <a:pPr eaLnBrk="1" hangingPunct="1"/>
            <a:r>
              <a:rPr lang="zh-CN" altLang="en-US" dirty="0"/>
              <a:t>第</a:t>
            </a:r>
            <a:r>
              <a:rPr lang="en-US" altLang="zh-CN" dirty="0"/>
              <a:t>7</a:t>
            </a:r>
            <a:r>
              <a:rPr lang="zh-CN" altLang="en-US" dirty="0"/>
              <a:t>章 数据库设计</a:t>
            </a:r>
            <a:endParaRPr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8" name="页脚占位符 2"/>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4099" name="Rectangle 2"/>
          <p:cNvSpPr/>
          <p:nvPr/>
        </p:nvSpPr>
        <p:spPr>
          <a:xfrm>
            <a:off x="1066800" y="1295400"/>
            <a:ext cx="7162800" cy="44196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342900" lvl="0" indent="-342900" algn="just" eaLnBrk="1" hangingPunct="1">
              <a:lnSpc>
                <a:spcPct val="120000"/>
              </a:lnSpc>
              <a:buNone/>
            </a:pPr>
            <a:r>
              <a:rPr lang="en-US" altLang="zh-CN" dirty="0">
                <a:solidFill>
                  <a:srgbClr val="FF0000"/>
                </a:solidFill>
              </a:rPr>
              <a:t>7.1.1 </a:t>
            </a:r>
            <a:r>
              <a:rPr lang="zh-CN" altLang="en-US" dirty="0">
                <a:solidFill>
                  <a:srgbClr val="FF0000"/>
                </a:solidFill>
              </a:rPr>
              <a:t>数据库设计的任务和内容</a:t>
            </a:r>
            <a:endParaRPr lang="zh-CN" altLang="en-US" dirty="0">
              <a:solidFill>
                <a:srgbClr val="FF0000"/>
              </a:solidFill>
            </a:endParaRPr>
          </a:p>
          <a:p>
            <a:pPr marL="342900" lvl="0" indent="-342900" algn="just" eaLnBrk="1" hangingPunct="1">
              <a:lnSpc>
                <a:spcPct val="120000"/>
              </a:lnSpc>
              <a:buNone/>
            </a:pPr>
            <a:r>
              <a:rPr lang="en-US" altLang="zh-CN" dirty="0">
                <a:solidFill>
                  <a:schemeClr val="tx1"/>
                </a:solidFill>
              </a:rPr>
              <a:t>7.1.2 </a:t>
            </a:r>
            <a:r>
              <a:rPr lang="zh-CN" altLang="en-US" dirty="0">
                <a:solidFill>
                  <a:schemeClr val="tx1"/>
                </a:solidFill>
              </a:rPr>
              <a:t>数据库设计的特点</a:t>
            </a:r>
            <a:endParaRPr lang="zh-CN" altLang="en-US" dirty="0">
              <a:solidFill>
                <a:schemeClr val="tx1"/>
              </a:solidFill>
            </a:endParaRPr>
          </a:p>
          <a:p>
            <a:pPr marL="342900" lvl="0" indent="-342900" algn="just" eaLnBrk="1" hangingPunct="1">
              <a:lnSpc>
                <a:spcPct val="120000"/>
              </a:lnSpc>
              <a:buNone/>
            </a:pPr>
            <a:r>
              <a:rPr lang="en-US" altLang="zh-CN" dirty="0">
                <a:solidFill>
                  <a:schemeClr val="tx1"/>
                </a:solidFill>
              </a:rPr>
              <a:t>7.1.3 </a:t>
            </a:r>
            <a:r>
              <a:rPr lang="zh-CN" altLang="en-US" dirty="0">
                <a:solidFill>
                  <a:schemeClr val="tx1"/>
                </a:solidFill>
              </a:rPr>
              <a:t>数据库设计的方法</a:t>
            </a:r>
            <a:endParaRPr lang="zh-CN" altLang="en-US" dirty="0">
              <a:solidFill>
                <a:schemeClr val="tx1"/>
              </a:solidFill>
            </a:endParaRPr>
          </a:p>
          <a:p>
            <a:pPr marL="342900" lvl="0" indent="-342900" algn="just" eaLnBrk="1" hangingPunct="1">
              <a:lnSpc>
                <a:spcPct val="120000"/>
              </a:lnSpc>
              <a:buNone/>
            </a:pPr>
            <a:r>
              <a:rPr lang="en-US" altLang="zh-CN" dirty="0">
                <a:solidFill>
                  <a:schemeClr val="tx1"/>
                </a:solidFill>
              </a:rPr>
              <a:t>7.1.4 </a:t>
            </a:r>
            <a:r>
              <a:rPr lang="zh-CN" altLang="en-US" dirty="0">
                <a:solidFill>
                  <a:schemeClr val="tx1"/>
                </a:solidFill>
              </a:rPr>
              <a:t>数据库设计的步骤</a:t>
            </a:r>
            <a:endParaRPr lang="zh-CN" altLang="en-US" dirty="0">
              <a:solidFill>
                <a:schemeClr val="tx1"/>
              </a:solidFill>
            </a:endParaRPr>
          </a:p>
          <a:p>
            <a:pPr marL="342900" lvl="0" indent="-342900" algn="just" eaLnBrk="1" hangingPunct="1">
              <a:lnSpc>
                <a:spcPct val="120000"/>
              </a:lnSpc>
              <a:buNone/>
            </a:pPr>
            <a:endParaRPr lang="zh-CN" altLang="en-US" dirty="0">
              <a:solidFill>
                <a:schemeClr val="tx1"/>
              </a:solidFill>
            </a:endParaRPr>
          </a:p>
        </p:txBody>
      </p:sp>
      <p:sp>
        <p:nvSpPr>
          <p:cNvPr id="4100" name="Rectangle 3"/>
          <p:cNvSpPr/>
          <p:nvPr/>
        </p:nvSpPr>
        <p:spPr>
          <a:xfrm>
            <a:off x="685800" y="152400"/>
            <a:ext cx="7772400" cy="114300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eaLnBrk="1" hangingPunct="1">
              <a:spcBef>
                <a:spcPct val="0"/>
              </a:spcBef>
              <a:buClrTx/>
              <a:buFontTx/>
              <a:buNone/>
            </a:pPr>
            <a:r>
              <a:rPr lang="en-US" altLang="zh-CN" sz="4400" dirty="0">
                <a:solidFill>
                  <a:schemeClr val="accent2"/>
                </a:solidFill>
                <a:ea typeface="经典细隶书简" pitchFamily="49" charset="-122"/>
              </a:rPr>
              <a:t>7.1  </a:t>
            </a:r>
            <a:r>
              <a:rPr lang="zh-CN" altLang="en-US" sz="4400" dirty="0">
                <a:solidFill>
                  <a:schemeClr val="accent2"/>
                </a:solidFill>
                <a:ea typeface="经典细隶书简" pitchFamily="49" charset="-122"/>
              </a:rPr>
              <a:t>数据库设计概述</a:t>
            </a:r>
            <a:endParaRPr lang="zh-CN" altLang="en-US" sz="4400" dirty="0">
              <a:solidFill>
                <a:schemeClr val="accent2"/>
              </a:solidFill>
              <a:ea typeface="经典细隶书简" pitchFamily="49"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页脚占位符 2"/>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5123" name="Rectangle 2"/>
          <p:cNvSpPr/>
          <p:nvPr/>
        </p:nvSpPr>
        <p:spPr>
          <a:xfrm>
            <a:off x="304800" y="762000"/>
            <a:ext cx="8610600" cy="55626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342900" lvl="0" indent="-342900">
              <a:lnSpc>
                <a:spcPct val="120000"/>
              </a:lnSpc>
              <a:spcBef>
                <a:spcPct val="10000"/>
              </a:spcBef>
              <a:buClr>
                <a:srgbClr val="0000CC"/>
              </a:buClr>
            </a:pPr>
            <a:r>
              <a:rPr lang="zh-CN" altLang="en-US" sz="2800" dirty="0">
                <a:solidFill>
                  <a:schemeClr val="tx1"/>
                </a:solidFill>
                <a:latin typeface="宋体" panose="02010600030101010101" pitchFamily="2" charset="-122"/>
              </a:rPr>
              <a:t>数据库设计是指根据用户需求研制数据库结构的过程，具体地说，是指对于一个给定的应用环境，构造最优的数据库模式，建立</a:t>
            </a:r>
            <a:r>
              <a:rPr lang="zh-CN" altLang="en-US" sz="2800" dirty="0">
                <a:solidFill>
                  <a:srgbClr val="0000CC"/>
                </a:solidFill>
                <a:latin typeface="宋体" panose="02010600030101010101" pitchFamily="2" charset="-122"/>
              </a:rPr>
              <a:t>数据库</a:t>
            </a:r>
            <a:r>
              <a:rPr lang="zh-CN" altLang="en-US" sz="2800" dirty="0">
                <a:solidFill>
                  <a:schemeClr val="tx1"/>
                </a:solidFill>
                <a:latin typeface="宋体" panose="02010600030101010101" pitchFamily="2" charset="-122"/>
              </a:rPr>
              <a:t>及其</a:t>
            </a:r>
            <a:r>
              <a:rPr lang="zh-CN" altLang="en-US" sz="2800" dirty="0">
                <a:solidFill>
                  <a:srgbClr val="0000CC"/>
                </a:solidFill>
                <a:latin typeface="宋体" panose="02010600030101010101" pitchFamily="2" charset="-122"/>
              </a:rPr>
              <a:t>应用系统</a:t>
            </a:r>
            <a:r>
              <a:rPr lang="zh-CN" altLang="en-US" sz="2800" dirty="0">
                <a:solidFill>
                  <a:schemeClr val="tx1"/>
                </a:solidFill>
                <a:latin typeface="宋体" panose="02010600030101010101" pitchFamily="2" charset="-122"/>
              </a:rPr>
              <a:t>，使之能有效的存储数据和管理数据，满足用户的</a:t>
            </a:r>
            <a:r>
              <a:rPr lang="zh-CN" altLang="en-US" sz="2800" dirty="0">
                <a:solidFill>
                  <a:srgbClr val="FF0000"/>
                </a:solidFill>
                <a:latin typeface="宋体" panose="02010600030101010101" pitchFamily="2" charset="-122"/>
              </a:rPr>
              <a:t>信息管理要求</a:t>
            </a:r>
            <a:r>
              <a:rPr lang="zh-CN" altLang="en-US" sz="2800" dirty="0">
                <a:solidFill>
                  <a:schemeClr val="tx1"/>
                </a:solidFill>
                <a:latin typeface="宋体" panose="02010600030101010101" pitchFamily="2" charset="-122"/>
              </a:rPr>
              <a:t>和</a:t>
            </a:r>
            <a:r>
              <a:rPr lang="zh-CN" altLang="en-US" sz="2800" dirty="0">
                <a:solidFill>
                  <a:srgbClr val="FF0000"/>
                </a:solidFill>
                <a:latin typeface="宋体" panose="02010600030101010101" pitchFamily="2" charset="-122"/>
              </a:rPr>
              <a:t>数据操作要求</a:t>
            </a:r>
            <a:r>
              <a:rPr lang="zh-CN" altLang="en-US" sz="2800" dirty="0">
                <a:solidFill>
                  <a:schemeClr val="tx1"/>
                </a:solidFill>
                <a:latin typeface="宋体" panose="02010600030101010101" pitchFamily="2" charset="-122"/>
              </a:rPr>
              <a:t>。</a:t>
            </a:r>
            <a:endParaRPr lang="zh-CN" altLang="en-US" sz="2800" dirty="0">
              <a:solidFill>
                <a:schemeClr val="tx1"/>
              </a:solidFill>
              <a:latin typeface="宋体" panose="02010600030101010101" pitchFamily="2" charset="-122"/>
            </a:endParaRPr>
          </a:p>
          <a:p>
            <a:pPr marL="342900" lvl="0" indent="-342900">
              <a:lnSpc>
                <a:spcPct val="120000"/>
              </a:lnSpc>
              <a:spcBef>
                <a:spcPct val="10000"/>
              </a:spcBef>
              <a:buClr>
                <a:srgbClr val="0000CC"/>
              </a:buClr>
            </a:pPr>
            <a:r>
              <a:rPr lang="zh-CN" altLang="en-US" sz="2800" dirty="0">
                <a:solidFill>
                  <a:schemeClr val="tx1"/>
                </a:solidFill>
              </a:rPr>
              <a:t>数据库设计的内容：</a:t>
            </a:r>
            <a:r>
              <a:rPr lang="zh-CN" altLang="en-US" sz="2800" dirty="0">
                <a:solidFill>
                  <a:srgbClr val="0000CC"/>
                </a:solidFill>
              </a:rPr>
              <a:t>静态结构设计</a:t>
            </a:r>
            <a:r>
              <a:rPr lang="en-US" altLang="zh-CN" sz="2800" dirty="0">
                <a:solidFill>
                  <a:schemeClr val="tx1"/>
                </a:solidFill>
              </a:rPr>
              <a:t>+</a:t>
            </a:r>
            <a:r>
              <a:rPr lang="zh-CN" altLang="en-US" sz="2800" dirty="0">
                <a:solidFill>
                  <a:srgbClr val="0000CC"/>
                </a:solidFill>
              </a:rPr>
              <a:t>动态行为设计</a:t>
            </a:r>
            <a:endParaRPr lang="zh-CN" altLang="en-US" sz="2800" dirty="0">
              <a:solidFill>
                <a:srgbClr val="0000CC"/>
              </a:solidFill>
            </a:endParaRPr>
          </a:p>
          <a:p>
            <a:pPr marL="742950" lvl="1" indent="-285750">
              <a:lnSpc>
                <a:spcPct val="120000"/>
              </a:lnSpc>
              <a:spcBef>
                <a:spcPct val="10000"/>
              </a:spcBef>
              <a:buClr>
                <a:srgbClr val="0000CC"/>
              </a:buClr>
            </a:pPr>
            <a:r>
              <a:rPr lang="zh-CN" altLang="en-US" dirty="0"/>
              <a:t>数据库模式</a:t>
            </a:r>
            <a:r>
              <a:rPr lang="en-US" altLang="zh-CN" dirty="0"/>
              <a:t>/</a:t>
            </a:r>
            <a:r>
              <a:rPr lang="zh-CN" altLang="en-US" dirty="0"/>
              <a:t>子模式设计，模式是</a:t>
            </a:r>
            <a:r>
              <a:rPr lang="zh-CN" altLang="en-US" dirty="0">
                <a:solidFill>
                  <a:srgbClr val="0000CC"/>
                </a:solidFill>
              </a:rPr>
              <a:t>静态</a:t>
            </a:r>
            <a:r>
              <a:rPr lang="zh-CN" altLang="en-US" dirty="0"/>
              <a:t>的、稳定的</a:t>
            </a:r>
            <a:endParaRPr lang="zh-CN" altLang="en-US" dirty="0"/>
          </a:p>
          <a:p>
            <a:pPr marL="742950" lvl="1" indent="-285750">
              <a:lnSpc>
                <a:spcPct val="120000"/>
              </a:lnSpc>
              <a:spcBef>
                <a:spcPct val="10000"/>
              </a:spcBef>
              <a:buClr>
                <a:srgbClr val="0000CC"/>
              </a:buClr>
            </a:pPr>
            <a:r>
              <a:rPr lang="zh-CN" altLang="en-US" dirty="0"/>
              <a:t>用户的行为与动作，即应用程序的设计，是</a:t>
            </a:r>
            <a:r>
              <a:rPr lang="zh-CN" altLang="en-US" dirty="0">
                <a:solidFill>
                  <a:srgbClr val="0000CC"/>
                </a:solidFill>
              </a:rPr>
              <a:t>动态</a:t>
            </a:r>
            <a:r>
              <a:rPr lang="zh-CN" altLang="en-US" dirty="0"/>
              <a:t>的。</a:t>
            </a:r>
            <a:endParaRPr lang="zh-CN" altLang="en-US" dirty="0"/>
          </a:p>
        </p:txBody>
      </p:sp>
      <p:sp>
        <p:nvSpPr>
          <p:cNvPr id="5124" name="Rectangle 3"/>
          <p:cNvSpPr/>
          <p:nvPr/>
        </p:nvSpPr>
        <p:spPr>
          <a:xfrm>
            <a:off x="939800" y="12700"/>
            <a:ext cx="7772400" cy="60960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eaLnBrk="1" hangingPunct="1">
              <a:spcBef>
                <a:spcPct val="0"/>
              </a:spcBef>
              <a:buClrTx/>
              <a:buFontTx/>
              <a:buNone/>
            </a:pPr>
            <a:r>
              <a:rPr lang="en-US" altLang="zh-CN" sz="4400" dirty="0">
                <a:solidFill>
                  <a:schemeClr val="accent2"/>
                </a:solidFill>
                <a:ea typeface="经典细隶书简" pitchFamily="49" charset="-122"/>
              </a:rPr>
              <a:t>7.1.1  </a:t>
            </a:r>
            <a:r>
              <a:rPr lang="zh-CN" altLang="en-US" sz="4400" dirty="0">
                <a:solidFill>
                  <a:schemeClr val="accent2"/>
                </a:solidFill>
                <a:ea typeface="经典细隶书简" pitchFamily="49" charset="-122"/>
              </a:rPr>
              <a:t>数据库设计的任务和内容</a:t>
            </a:r>
            <a:endParaRPr lang="zh-CN" altLang="en-US" sz="4400" dirty="0">
              <a:solidFill>
                <a:schemeClr val="accent2"/>
              </a:solidFill>
              <a:ea typeface="经典细隶书简" pitchFamily="49"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页脚占位符 2"/>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6147" name="Rectangle 2"/>
          <p:cNvSpPr/>
          <p:nvPr/>
        </p:nvSpPr>
        <p:spPr>
          <a:xfrm>
            <a:off x="304800" y="762000"/>
            <a:ext cx="8610600" cy="55626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342900" lvl="0" indent="-342900">
              <a:lnSpc>
                <a:spcPct val="120000"/>
              </a:lnSpc>
              <a:spcBef>
                <a:spcPct val="10000"/>
              </a:spcBef>
              <a:buClr>
                <a:srgbClr val="0000CC"/>
              </a:buClr>
            </a:pPr>
            <a:r>
              <a:rPr lang="zh-CN" altLang="en-US" sz="2800" dirty="0">
                <a:solidFill>
                  <a:schemeClr val="tx1"/>
                </a:solidFill>
                <a:latin typeface="宋体" panose="02010600030101010101" pitchFamily="2" charset="-122"/>
              </a:rPr>
              <a:t>数据库设计与信息系统</a:t>
            </a:r>
            <a:endParaRPr lang="zh-CN" altLang="en-US" sz="2800" dirty="0">
              <a:solidFill>
                <a:schemeClr val="tx1"/>
              </a:solidFill>
              <a:latin typeface="宋体" panose="02010600030101010101" pitchFamily="2" charset="-122"/>
            </a:endParaRPr>
          </a:p>
          <a:p>
            <a:pPr marL="742950" lvl="1" indent="-285750">
              <a:lnSpc>
                <a:spcPct val="120000"/>
              </a:lnSpc>
              <a:spcBef>
                <a:spcPct val="10000"/>
              </a:spcBef>
              <a:buClr>
                <a:srgbClr val="0000CC"/>
              </a:buClr>
            </a:pPr>
            <a:r>
              <a:rPr lang="zh-CN" altLang="en-US" dirty="0"/>
              <a:t>数据库是信息系统的核心和基础</a:t>
            </a:r>
            <a:endParaRPr lang="zh-CN" altLang="en-US" dirty="0"/>
          </a:p>
          <a:p>
            <a:pPr marL="742950" lvl="1" indent="-285750">
              <a:lnSpc>
                <a:spcPct val="120000"/>
              </a:lnSpc>
              <a:spcBef>
                <a:spcPct val="10000"/>
              </a:spcBef>
              <a:buClr>
                <a:srgbClr val="0000CC"/>
              </a:buClr>
            </a:pPr>
            <a:r>
              <a:rPr lang="zh-CN" altLang="en-US" dirty="0"/>
              <a:t>数据库是信息系统的各个部分能否紧密地结合在一起以及如何结合的关键所在</a:t>
            </a:r>
            <a:endParaRPr lang="zh-CN" altLang="en-US" dirty="0"/>
          </a:p>
          <a:p>
            <a:pPr marL="742950" lvl="1" indent="-285750">
              <a:lnSpc>
                <a:spcPct val="120000"/>
              </a:lnSpc>
              <a:spcBef>
                <a:spcPct val="10000"/>
              </a:spcBef>
              <a:buClr>
                <a:srgbClr val="0000CC"/>
              </a:buClr>
            </a:pPr>
            <a:r>
              <a:rPr lang="zh-CN" altLang="en-US" dirty="0"/>
              <a:t>数据库设计是信息系统开发和建设的重要组成部分</a:t>
            </a:r>
            <a:endParaRPr lang="zh-CN" altLang="en-US" dirty="0"/>
          </a:p>
          <a:p>
            <a:pPr marL="742950" lvl="1" indent="-285750">
              <a:lnSpc>
                <a:spcPct val="120000"/>
              </a:lnSpc>
              <a:spcBef>
                <a:spcPct val="10000"/>
              </a:spcBef>
              <a:buClr>
                <a:srgbClr val="0000CC"/>
              </a:buClr>
              <a:buNone/>
            </a:pPr>
            <a:r>
              <a:rPr lang="zh-CN" altLang="en-US" dirty="0"/>
              <a:t> （</a:t>
            </a:r>
            <a:r>
              <a:rPr lang="en-US" altLang="zh-CN" dirty="0"/>
              <a:t>1</a:t>
            </a:r>
            <a:r>
              <a:rPr lang="zh-CN" altLang="en-US" dirty="0"/>
              <a:t>）系统请求预定义；      （</a:t>
            </a:r>
            <a:r>
              <a:rPr lang="en-US" altLang="zh-CN" dirty="0"/>
              <a:t>2</a:t>
            </a:r>
            <a:r>
              <a:rPr lang="zh-CN" altLang="en-US" dirty="0"/>
              <a:t>）可行性研究；</a:t>
            </a:r>
            <a:endParaRPr lang="zh-CN" altLang="en-US" dirty="0"/>
          </a:p>
          <a:p>
            <a:pPr marL="742950" lvl="1" indent="-285750">
              <a:lnSpc>
                <a:spcPct val="120000"/>
              </a:lnSpc>
              <a:spcBef>
                <a:spcPct val="10000"/>
              </a:spcBef>
              <a:buClr>
                <a:srgbClr val="0000CC"/>
              </a:buClr>
              <a:buNone/>
            </a:pPr>
            <a:r>
              <a:rPr lang="zh-CN" altLang="en-US" dirty="0"/>
              <a:t> （</a:t>
            </a:r>
            <a:r>
              <a:rPr lang="en-US" altLang="zh-CN" dirty="0"/>
              <a:t>3</a:t>
            </a:r>
            <a:r>
              <a:rPr lang="zh-CN" altLang="en-US" dirty="0"/>
              <a:t>）需求分析； 		   （</a:t>
            </a:r>
            <a:r>
              <a:rPr lang="en-US" altLang="zh-CN" dirty="0"/>
              <a:t>4</a:t>
            </a:r>
            <a:r>
              <a:rPr lang="zh-CN" altLang="en-US" dirty="0"/>
              <a:t>）系统分析；</a:t>
            </a:r>
            <a:endParaRPr lang="zh-CN" altLang="en-US" dirty="0"/>
          </a:p>
          <a:p>
            <a:pPr marL="742950" lvl="1" indent="-285750">
              <a:lnSpc>
                <a:spcPct val="120000"/>
              </a:lnSpc>
              <a:spcBef>
                <a:spcPct val="10000"/>
              </a:spcBef>
              <a:buClr>
                <a:srgbClr val="0000CC"/>
              </a:buClr>
              <a:buNone/>
            </a:pPr>
            <a:r>
              <a:rPr lang="zh-CN" altLang="en-US" dirty="0"/>
              <a:t> （</a:t>
            </a:r>
            <a:r>
              <a:rPr lang="en-US" altLang="zh-CN" dirty="0"/>
              <a:t>5</a:t>
            </a:r>
            <a:r>
              <a:rPr lang="zh-CN" altLang="en-US" dirty="0"/>
              <a:t>）系统设计；                  </a:t>
            </a:r>
            <a:r>
              <a:rPr lang="zh-CN" altLang="en-US" dirty="0">
                <a:solidFill>
                  <a:srgbClr val="0000CC"/>
                </a:solidFill>
              </a:rPr>
              <a:t>（</a:t>
            </a:r>
            <a:r>
              <a:rPr lang="en-US" altLang="zh-CN" dirty="0">
                <a:solidFill>
                  <a:srgbClr val="0000CC"/>
                </a:solidFill>
              </a:rPr>
              <a:t>6</a:t>
            </a:r>
            <a:r>
              <a:rPr lang="zh-CN" altLang="en-US" dirty="0">
                <a:solidFill>
                  <a:srgbClr val="0000CC"/>
                </a:solidFill>
              </a:rPr>
              <a:t>）数据库设计；</a:t>
            </a:r>
            <a:endParaRPr lang="zh-CN" altLang="en-US" dirty="0">
              <a:solidFill>
                <a:srgbClr val="0000CC"/>
              </a:solidFill>
            </a:endParaRPr>
          </a:p>
          <a:p>
            <a:pPr marL="742950" lvl="1" indent="-285750">
              <a:lnSpc>
                <a:spcPct val="120000"/>
              </a:lnSpc>
              <a:spcBef>
                <a:spcPct val="10000"/>
              </a:spcBef>
              <a:buClr>
                <a:srgbClr val="0000CC"/>
              </a:buClr>
              <a:buNone/>
            </a:pPr>
            <a:r>
              <a:rPr lang="zh-CN" altLang="en-US" dirty="0"/>
              <a:t> （</a:t>
            </a:r>
            <a:r>
              <a:rPr lang="en-US" altLang="zh-CN" dirty="0"/>
              <a:t>7</a:t>
            </a:r>
            <a:r>
              <a:rPr lang="zh-CN" altLang="en-US" dirty="0"/>
              <a:t>）系统运行与维护；      （</a:t>
            </a:r>
            <a:r>
              <a:rPr lang="en-US" altLang="zh-CN" dirty="0"/>
              <a:t>8</a:t>
            </a:r>
            <a:r>
              <a:rPr lang="zh-CN" altLang="en-US" dirty="0"/>
              <a:t>）系统评价。</a:t>
            </a:r>
            <a:endParaRPr lang="zh-CN" altLang="en-US" dirty="0"/>
          </a:p>
        </p:txBody>
      </p:sp>
      <p:sp>
        <p:nvSpPr>
          <p:cNvPr id="6148" name="Rectangle 3"/>
          <p:cNvSpPr/>
          <p:nvPr/>
        </p:nvSpPr>
        <p:spPr>
          <a:xfrm>
            <a:off x="939800" y="12700"/>
            <a:ext cx="7772400" cy="60960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eaLnBrk="1" hangingPunct="1">
              <a:spcBef>
                <a:spcPct val="0"/>
              </a:spcBef>
              <a:buClrTx/>
              <a:buFontTx/>
              <a:buNone/>
            </a:pPr>
            <a:r>
              <a:rPr lang="en-US" altLang="zh-CN" sz="4400" dirty="0">
                <a:solidFill>
                  <a:schemeClr val="accent2"/>
                </a:solidFill>
                <a:ea typeface="经典细隶书简" pitchFamily="49" charset="-122"/>
              </a:rPr>
              <a:t>7.1.1  </a:t>
            </a:r>
            <a:r>
              <a:rPr lang="zh-CN" altLang="en-US" sz="4400" dirty="0">
                <a:solidFill>
                  <a:schemeClr val="accent2"/>
                </a:solidFill>
                <a:ea typeface="经典细隶书简" pitchFamily="49" charset="-122"/>
              </a:rPr>
              <a:t>数据库设计的任务和内容</a:t>
            </a:r>
            <a:endParaRPr lang="zh-CN" altLang="en-US" sz="4400" dirty="0">
              <a:solidFill>
                <a:schemeClr val="accent2"/>
              </a:solidFill>
              <a:ea typeface="经典细隶书简" pitchFamily="49"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页脚占位符 2"/>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7171" name="Rectangle 2"/>
          <p:cNvSpPr/>
          <p:nvPr/>
        </p:nvSpPr>
        <p:spPr>
          <a:xfrm>
            <a:off x="1066800" y="1295400"/>
            <a:ext cx="7162800" cy="44196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342900" lvl="0" indent="-342900" algn="just" eaLnBrk="1" hangingPunct="1">
              <a:lnSpc>
                <a:spcPct val="120000"/>
              </a:lnSpc>
              <a:buNone/>
            </a:pPr>
            <a:r>
              <a:rPr lang="en-US" altLang="zh-CN" dirty="0">
                <a:solidFill>
                  <a:schemeClr val="tx1"/>
                </a:solidFill>
              </a:rPr>
              <a:t>7.1.1 </a:t>
            </a:r>
            <a:r>
              <a:rPr lang="zh-CN" altLang="en-US" dirty="0">
                <a:solidFill>
                  <a:schemeClr val="tx1"/>
                </a:solidFill>
              </a:rPr>
              <a:t>数据库设计的任务和内容</a:t>
            </a:r>
            <a:endParaRPr lang="zh-CN" altLang="en-US" dirty="0">
              <a:solidFill>
                <a:schemeClr val="tx1"/>
              </a:solidFill>
            </a:endParaRPr>
          </a:p>
          <a:p>
            <a:pPr marL="342900" lvl="0" indent="-342900" algn="just" eaLnBrk="1" hangingPunct="1">
              <a:lnSpc>
                <a:spcPct val="120000"/>
              </a:lnSpc>
              <a:buNone/>
            </a:pPr>
            <a:r>
              <a:rPr lang="en-US" altLang="zh-CN" dirty="0"/>
              <a:t>7.1.2 </a:t>
            </a:r>
            <a:r>
              <a:rPr lang="zh-CN" altLang="en-US" dirty="0"/>
              <a:t>数据库设计的特点</a:t>
            </a:r>
            <a:endParaRPr lang="zh-CN" altLang="en-US" dirty="0"/>
          </a:p>
          <a:p>
            <a:pPr marL="342900" lvl="0" indent="-342900" algn="just" eaLnBrk="1" hangingPunct="1">
              <a:lnSpc>
                <a:spcPct val="120000"/>
              </a:lnSpc>
              <a:buNone/>
            </a:pPr>
            <a:r>
              <a:rPr lang="en-US" altLang="zh-CN" dirty="0">
                <a:solidFill>
                  <a:schemeClr val="tx1"/>
                </a:solidFill>
              </a:rPr>
              <a:t>7.1.3 </a:t>
            </a:r>
            <a:r>
              <a:rPr lang="zh-CN" altLang="en-US" dirty="0">
                <a:solidFill>
                  <a:schemeClr val="tx1"/>
                </a:solidFill>
              </a:rPr>
              <a:t>数据库设计的方法</a:t>
            </a:r>
            <a:endParaRPr lang="zh-CN" altLang="en-US" dirty="0">
              <a:solidFill>
                <a:schemeClr val="tx1"/>
              </a:solidFill>
            </a:endParaRPr>
          </a:p>
          <a:p>
            <a:pPr marL="342900" lvl="0" indent="-342900" algn="just" eaLnBrk="1" hangingPunct="1">
              <a:lnSpc>
                <a:spcPct val="120000"/>
              </a:lnSpc>
              <a:buNone/>
            </a:pPr>
            <a:r>
              <a:rPr lang="en-US" altLang="zh-CN" dirty="0">
                <a:solidFill>
                  <a:schemeClr val="tx1"/>
                </a:solidFill>
              </a:rPr>
              <a:t>7.1.4 </a:t>
            </a:r>
            <a:r>
              <a:rPr lang="zh-CN" altLang="en-US" dirty="0">
                <a:solidFill>
                  <a:schemeClr val="tx1"/>
                </a:solidFill>
              </a:rPr>
              <a:t>数据库设计的步骤</a:t>
            </a:r>
            <a:endParaRPr lang="zh-CN" altLang="en-US" dirty="0">
              <a:solidFill>
                <a:schemeClr val="tx1"/>
              </a:solidFill>
            </a:endParaRPr>
          </a:p>
          <a:p>
            <a:pPr marL="342900" lvl="0" indent="-342900" algn="just" eaLnBrk="1" hangingPunct="1">
              <a:lnSpc>
                <a:spcPct val="120000"/>
              </a:lnSpc>
              <a:buNone/>
            </a:pPr>
            <a:endParaRPr lang="zh-CN" altLang="en-US" dirty="0">
              <a:solidFill>
                <a:schemeClr val="tx1"/>
              </a:solidFill>
            </a:endParaRPr>
          </a:p>
        </p:txBody>
      </p:sp>
      <p:sp>
        <p:nvSpPr>
          <p:cNvPr id="7172" name="Rectangle 3"/>
          <p:cNvSpPr/>
          <p:nvPr/>
        </p:nvSpPr>
        <p:spPr>
          <a:xfrm>
            <a:off x="685800" y="152400"/>
            <a:ext cx="7772400" cy="114300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eaLnBrk="1" hangingPunct="1">
              <a:spcBef>
                <a:spcPct val="0"/>
              </a:spcBef>
              <a:buClrTx/>
              <a:buFontTx/>
              <a:buNone/>
            </a:pPr>
            <a:r>
              <a:rPr lang="en-US" altLang="zh-CN" sz="4400" dirty="0">
                <a:solidFill>
                  <a:schemeClr val="accent2"/>
                </a:solidFill>
                <a:ea typeface="经典细隶书简" pitchFamily="49" charset="-122"/>
              </a:rPr>
              <a:t>7.1  </a:t>
            </a:r>
            <a:r>
              <a:rPr lang="zh-CN" altLang="en-US" sz="4400" dirty="0">
                <a:solidFill>
                  <a:schemeClr val="accent2"/>
                </a:solidFill>
                <a:ea typeface="经典细隶书简" pitchFamily="49" charset="-122"/>
              </a:rPr>
              <a:t>数据库设计概述</a:t>
            </a:r>
            <a:endParaRPr lang="zh-CN" altLang="en-US" sz="4400" dirty="0">
              <a:solidFill>
                <a:schemeClr val="accent2"/>
              </a:solidFill>
              <a:ea typeface="经典细隶书简" pitchFamily="49"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页脚占位符 2"/>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8195" name="Rectangle 2"/>
          <p:cNvSpPr/>
          <p:nvPr/>
        </p:nvSpPr>
        <p:spPr>
          <a:xfrm>
            <a:off x="304800" y="1371600"/>
            <a:ext cx="8610600" cy="37338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342900" lvl="0" indent="-342900" eaLnBrk="1" fontAlgn="ctr" hangingPunct="1"/>
            <a:r>
              <a:rPr lang="zh-CN" altLang="en-US" dirty="0">
                <a:solidFill>
                  <a:schemeClr val="tx1"/>
                </a:solidFill>
              </a:rPr>
              <a:t>硬件、软件与干件相结合</a:t>
            </a:r>
            <a:endParaRPr lang="zh-CN" altLang="en-US" dirty="0">
              <a:solidFill>
                <a:schemeClr val="tx1"/>
              </a:solidFill>
            </a:endParaRPr>
          </a:p>
          <a:p>
            <a:pPr marL="742950" lvl="1" indent="-285750" eaLnBrk="1" fontAlgn="ctr" hangingPunct="1">
              <a:buClr>
                <a:srgbClr val="FF3300"/>
              </a:buClr>
              <a:buNone/>
            </a:pPr>
            <a:r>
              <a:rPr lang="zh-CN" altLang="en-US" sz="3200" dirty="0"/>
              <a:t>干件：技术与管理</a:t>
            </a:r>
            <a:r>
              <a:rPr lang="en-US" altLang="zh-CN" sz="3200" dirty="0"/>
              <a:t>(</a:t>
            </a:r>
            <a:r>
              <a:rPr lang="zh-CN" altLang="en-US" sz="3200" dirty="0"/>
              <a:t>三分技术，七分管理</a:t>
            </a:r>
            <a:r>
              <a:rPr lang="en-US" altLang="zh-CN" sz="3200" dirty="0"/>
              <a:t>)</a:t>
            </a:r>
            <a:endParaRPr lang="en-US" altLang="zh-CN" sz="3200" dirty="0"/>
          </a:p>
          <a:p>
            <a:pPr marL="742950" lvl="1" indent="-285750" eaLnBrk="1" fontAlgn="ctr" hangingPunct="1">
              <a:buClr>
                <a:srgbClr val="FF3300"/>
              </a:buClr>
              <a:buNone/>
            </a:pPr>
            <a:r>
              <a:rPr lang="en-US" altLang="zh-CN" sz="3200" dirty="0"/>
              <a:t> </a:t>
            </a:r>
            <a:r>
              <a:rPr lang="zh-CN" altLang="en-US" sz="3200" dirty="0"/>
              <a:t>数据：十二分基础数据</a:t>
            </a:r>
            <a:endParaRPr lang="en-US" altLang="zh-CN" sz="3200" dirty="0"/>
          </a:p>
          <a:p>
            <a:pPr marL="342900" lvl="0" indent="-342900" eaLnBrk="1" fontAlgn="ctr" hangingPunct="1"/>
            <a:r>
              <a:rPr lang="zh-CN" altLang="en-US" dirty="0">
                <a:solidFill>
                  <a:schemeClr val="tx1"/>
                </a:solidFill>
              </a:rPr>
              <a:t>反复设计、逐步求精</a:t>
            </a:r>
            <a:endParaRPr lang="zh-CN" altLang="en-US" dirty="0">
              <a:solidFill>
                <a:schemeClr val="tx1"/>
              </a:solidFill>
            </a:endParaRPr>
          </a:p>
          <a:p>
            <a:pPr marL="342900" lvl="0" indent="-342900" eaLnBrk="1" fontAlgn="ctr" hangingPunct="1"/>
            <a:r>
              <a:rPr lang="zh-CN" altLang="en-US" dirty="0">
                <a:solidFill>
                  <a:schemeClr val="tx1"/>
                </a:solidFill>
              </a:rPr>
              <a:t>结构设计与行为设计相结合（</a:t>
            </a:r>
            <a:r>
              <a:rPr lang="en-US" altLang="zh-CN" dirty="0">
                <a:solidFill>
                  <a:schemeClr val="tx1"/>
                </a:solidFill>
              </a:rPr>
              <a:t>P206</a:t>
            </a:r>
            <a:r>
              <a:rPr lang="zh-CN" altLang="en-US" dirty="0">
                <a:solidFill>
                  <a:schemeClr val="tx1"/>
                </a:solidFill>
              </a:rPr>
              <a:t>）</a:t>
            </a:r>
            <a:endParaRPr lang="zh-CN" altLang="en-US" dirty="0">
              <a:solidFill>
                <a:schemeClr val="tx1"/>
              </a:solidFill>
            </a:endParaRPr>
          </a:p>
        </p:txBody>
      </p:sp>
      <p:sp>
        <p:nvSpPr>
          <p:cNvPr id="8196" name="Rectangle 3"/>
          <p:cNvSpPr/>
          <p:nvPr/>
        </p:nvSpPr>
        <p:spPr>
          <a:xfrm>
            <a:off x="939800" y="12700"/>
            <a:ext cx="7772400" cy="60960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eaLnBrk="1" hangingPunct="1">
              <a:spcBef>
                <a:spcPct val="0"/>
              </a:spcBef>
              <a:buClrTx/>
              <a:buFontTx/>
              <a:buNone/>
            </a:pPr>
            <a:r>
              <a:rPr lang="en-US" altLang="zh-CN" sz="4400" dirty="0">
                <a:solidFill>
                  <a:schemeClr val="accent2"/>
                </a:solidFill>
                <a:ea typeface="经典细隶书简" pitchFamily="49" charset="-122"/>
              </a:rPr>
              <a:t>7.1.2  </a:t>
            </a:r>
            <a:r>
              <a:rPr lang="zh-CN" altLang="en-US" sz="4400" dirty="0">
                <a:solidFill>
                  <a:schemeClr val="accent2"/>
                </a:solidFill>
                <a:ea typeface="经典细隶书简" pitchFamily="49" charset="-122"/>
              </a:rPr>
              <a:t>数据库设计的特点</a:t>
            </a:r>
            <a:endParaRPr lang="zh-CN" altLang="en-US" sz="4400" dirty="0">
              <a:solidFill>
                <a:schemeClr val="accent2"/>
              </a:solidFill>
              <a:ea typeface="经典细隶书简" pitchFamily="49"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页脚占位符 2"/>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9219" name="Rectangle 2"/>
          <p:cNvSpPr/>
          <p:nvPr/>
        </p:nvSpPr>
        <p:spPr>
          <a:xfrm>
            <a:off x="1066800" y="1295400"/>
            <a:ext cx="7162800" cy="44196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342900" lvl="0" indent="-342900" algn="just" eaLnBrk="1" hangingPunct="1">
              <a:lnSpc>
                <a:spcPct val="120000"/>
              </a:lnSpc>
              <a:buNone/>
            </a:pPr>
            <a:r>
              <a:rPr lang="en-US" altLang="zh-CN" dirty="0">
                <a:solidFill>
                  <a:schemeClr val="tx1"/>
                </a:solidFill>
              </a:rPr>
              <a:t>7.1.1 </a:t>
            </a:r>
            <a:r>
              <a:rPr lang="zh-CN" altLang="en-US" dirty="0">
                <a:solidFill>
                  <a:schemeClr val="tx1"/>
                </a:solidFill>
              </a:rPr>
              <a:t>数据库设计的任务和内容</a:t>
            </a:r>
            <a:endParaRPr lang="zh-CN" altLang="en-US" dirty="0">
              <a:solidFill>
                <a:schemeClr val="tx1"/>
              </a:solidFill>
            </a:endParaRPr>
          </a:p>
          <a:p>
            <a:pPr marL="342900" lvl="0" indent="-342900" algn="just" eaLnBrk="1" hangingPunct="1">
              <a:lnSpc>
                <a:spcPct val="120000"/>
              </a:lnSpc>
              <a:buNone/>
            </a:pPr>
            <a:r>
              <a:rPr lang="en-US" altLang="zh-CN" dirty="0">
                <a:solidFill>
                  <a:schemeClr val="tx1"/>
                </a:solidFill>
              </a:rPr>
              <a:t>7.1.2 </a:t>
            </a:r>
            <a:r>
              <a:rPr lang="zh-CN" altLang="en-US" dirty="0">
                <a:solidFill>
                  <a:schemeClr val="tx1"/>
                </a:solidFill>
              </a:rPr>
              <a:t>数据库设计的特点</a:t>
            </a:r>
            <a:endParaRPr lang="zh-CN" altLang="en-US" dirty="0">
              <a:solidFill>
                <a:schemeClr val="tx1"/>
              </a:solidFill>
            </a:endParaRPr>
          </a:p>
          <a:p>
            <a:pPr marL="342900" lvl="0" indent="-342900" algn="just" eaLnBrk="1" hangingPunct="1">
              <a:lnSpc>
                <a:spcPct val="120000"/>
              </a:lnSpc>
              <a:buNone/>
            </a:pPr>
            <a:r>
              <a:rPr lang="en-US" altLang="zh-CN" dirty="0"/>
              <a:t>7.1.3 </a:t>
            </a:r>
            <a:r>
              <a:rPr lang="zh-CN" altLang="en-US" dirty="0"/>
              <a:t>数据库设计的方法</a:t>
            </a:r>
            <a:endParaRPr lang="zh-CN" altLang="en-US" dirty="0"/>
          </a:p>
          <a:p>
            <a:pPr marL="342900" lvl="0" indent="-342900" algn="just" eaLnBrk="1" hangingPunct="1">
              <a:lnSpc>
                <a:spcPct val="120000"/>
              </a:lnSpc>
              <a:buNone/>
            </a:pPr>
            <a:r>
              <a:rPr lang="en-US" altLang="zh-CN" dirty="0">
                <a:solidFill>
                  <a:schemeClr val="tx1"/>
                </a:solidFill>
              </a:rPr>
              <a:t>7.1.4 </a:t>
            </a:r>
            <a:r>
              <a:rPr lang="zh-CN" altLang="en-US" dirty="0">
                <a:solidFill>
                  <a:schemeClr val="tx1"/>
                </a:solidFill>
              </a:rPr>
              <a:t>数据库设计的步骤</a:t>
            </a:r>
            <a:endParaRPr lang="zh-CN" altLang="en-US" dirty="0">
              <a:solidFill>
                <a:schemeClr val="tx1"/>
              </a:solidFill>
            </a:endParaRPr>
          </a:p>
          <a:p>
            <a:pPr marL="342900" lvl="0" indent="-342900" algn="just" eaLnBrk="1" hangingPunct="1">
              <a:lnSpc>
                <a:spcPct val="120000"/>
              </a:lnSpc>
              <a:buNone/>
            </a:pPr>
            <a:endParaRPr lang="zh-CN" altLang="en-US" dirty="0">
              <a:solidFill>
                <a:schemeClr val="tx1"/>
              </a:solidFill>
            </a:endParaRPr>
          </a:p>
        </p:txBody>
      </p:sp>
      <p:sp>
        <p:nvSpPr>
          <p:cNvPr id="9220" name="Rectangle 3"/>
          <p:cNvSpPr/>
          <p:nvPr/>
        </p:nvSpPr>
        <p:spPr>
          <a:xfrm>
            <a:off x="685800" y="152400"/>
            <a:ext cx="7772400" cy="114300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eaLnBrk="1" hangingPunct="1">
              <a:spcBef>
                <a:spcPct val="0"/>
              </a:spcBef>
              <a:buClrTx/>
              <a:buFontTx/>
              <a:buNone/>
            </a:pPr>
            <a:r>
              <a:rPr lang="en-US" altLang="zh-CN" sz="4400" dirty="0">
                <a:solidFill>
                  <a:schemeClr val="accent2"/>
                </a:solidFill>
                <a:ea typeface="经典细隶书简" pitchFamily="49" charset="-122"/>
              </a:rPr>
              <a:t>7.1  </a:t>
            </a:r>
            <a:r>
              <a:rPr lang="zh-CN" altLang="en-US" sz="4400" dirty="0">
                <a:solidFill>
                  <a:schemeClr val="accent2"/>
                </a:solidFill>
                <a:ea typeface="经典细隶书简" pitchFamily="49" charset="-122"/>
              </a:rPr>
              <a:t>数据库设计概述</a:t>
            </a:r>
            <a:endParaRPr lang="zh-CN" altLang="en-US" sz="4400" dirty="0">
              <a:solidFill>
                <a:schemeClr val="accent2"/>
              </a:solidFill>
              <a:ea typeface="经典细隶书简" pitchFamily="49"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页脚占位符 2"/>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0243" name="Rectangle 2"/>
          <p:cNvSpPr/>
          <p:nvPr/>
        </p:nvSpPr>
        <p:spPr>
          <a:xfrm>
            <a:off x="533400" y="1371600"/>
            <a:ext cx="7848600" cy="37338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342900" lvl="0" indent="-342900" eaLnBrk="1" fontAlgn="ctr" hangingPunct="1">
              <a:lnSpc>
                <a:spcPct val="120000"/>
              </a:lnSpc>
            </a:pPr>
            <a:r>
              <a:rPr lang="zh-CN" altLang="en-US" dirty="0">
                <a:solidFill>
                  <a:schemeClr val="tx1"/>
                </a:solidFill>
              </a:rPr>
              <a:t>直观设计法</a:t>
            </a:r>
            <a:r>
              <a:rPr lang="en-US" altLang="zh-CN" dirty="0">
                <a:solidFill>
                  <a:schemeClr val="tx1"/>
                </a:solidFill>
              </a:rPr>
              <a:t>(</a:t>
            </a:r>
            <a:r>
              <a:rPr lang="zh-CN" altLang="en-US" dirty="0">
                <a:solidFill>
                  <a:schemeClr val="tx1"/>
                </a:solidFill>
              </a:rPr>
              <a:t>手工试凑法</a:t>
            </a:r>
            <a:r>
              <a:rPr lang="en-US" altLang="zh-CN" dirty="0">
                <a:solidFill>
                  <a:schemeClr val="tx1"/>
                </a:solidFill>
              </a:rPr>
              <a:t>)</a:t>
            </a:r>
            <a:endParaRPr lang="en-US" altLang="zh-CN" dirty="0">
              <a:solidFill>
                <a:schemeClr val="tx1"/>
              </a:solidFill>
            </a:endParaRPr>
          </a:p>
          <a:p>
            <a:pPr marL="342900" lvl="0" indent="-342900" eaLnBrk="1" fontAlgn="ctr" hangingPunct="1">
              <a:lnSpc>
                <a:spcPct val="120000"/>
              </a:lnSpc>
            </a:pPr>
            <a:r>
              <a:rPr lang="zh-CN" altLang="en-US" dirty="0">
                <a:solidFill>
                  <a:schemeClr val="tx1"/>
                </a:solidFill>
              </a:rPr>
              <a:t>规范设计法</a:t>
            </a:r>
            <a:endParaRPr lang="zh-CN" altLang="en-US" dirty="0">
              <a:solidFill>
                <a:schemeClr val="tx1"/>
              </a:solidFill>
            </a:endParaRPr>
          </a:p>
          <a:p>
            <a:pPr marL="342900" lvl="0" indent="-342900" eaLnBrk="1" fontAlgn="ctr" hangingPunct="1">
              <a:lnSpc>
                <a:spcPct val="120000"/>
              </a:lnSpc>
            </a:pPr>
            <a:r>
              <a:rPr lang="zh-CN" altLang="en-US" dirty="0">
                <a:solidFill>
                  <a:schemeClr val="tx1"/>
                </a:solidFill>
              </a:rPr>
              <a:t>计算机辅助设计法</a:t>
            </a:r>
            <a:endParaRPr lang="zh-CN" altLang="en-US" dirty="0">
              <a:solidFill>
                <a:schemeClr val="tx1"/>
              </a:solidFill>
            </a:endParaRPr>
          </a:p>
          <a:p>
            <a:pPr marL="342900" lvl="0" indent="-342900" eaLnBrk="1" fontAlgn="ctr" hangingPunct="1">
              <a:lnSpc>
                <a:spcPct val="120000"/>
              </a:lnSpc>
            </a:pPr>
            <a:r>
              <a:rPr lang="zh-CN" altLang="en-US" dirty="0">
                <a:solidFill>
                  <a:schemeClr val="tx1"/>
                </a:solidFill>
              </a:rPr>
              <a:t>自动化设计法。</a:t>
            </a:r>
            <a:endParaRPr lang="zh-CN" altLang="en-US" dirty="0">
              <a:solidFill>
                <a:schemeClr val="tx1"/>
              </a:solidFill>
            </a:endParaRPr>
          </a:p>
        </p:txBody>
      </p:sp>
      <p:sp>
        <p:nvSpPr>
          <p:cNvPr id="10244" name="Rectangle 3"/>
          <p:cNvSpPr/>
          <p:nvPr/>
        </p:nvSpPr>
        <p:spPr>
          <a:xfrm>
            <a:off x="939800" y="12700"/>
            <a:ext cx="7772400" cy="60960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eaLnBrk="1" hangingPunct="1">
              <a:spcBef>
                <a:spcPct val="0"/>
              </a:spcBef>
              <a:buClrTx/>
              <a:buFontTx/>
              <a:buNone/>
            </a:pPr>
            <a:r>
              <a:rPr lang="en-US" altLang="zh-CN" sz="4400" dirty="0">
                <a:solidFill>
                  <a:schemeClr val="accent2"/>
                </a:solidFill>
                <a:ea typeface="经典细隶书简" pitchFamily="49" charset="-122"/>
              </a:rPr>
              <a:t>7.1.3  </a:t>
            </a:r>
            <a:r>
              <a:rPr lang="zh-CN" altLang="en-US" sz="4400" dirty="0">
                <a:solidFill>
                  <a:schemeClr val="accent2"/>
                </a:solidFill>
                <a:ea typeface="经典细隶书简" pitchFamily="49" charset="-122"/>
              </a:rPr>
              <a:t>数据库设计的方法</a:t>
            </a:r>
            <a:endParaRPr lang="zh-CN" altLang="en-US" sz="4400" dirty="0">
              <a:solidFill>
                <a:schemeClr val="accent2"/>
              </a:solidFill>
              <a:ea typeface="经典细隶书简" pitchFamily="49"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页脚占位符 2"/>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1267" name="Rectangle 2"/>
          <p:cNvSpPr/>
          <p:nvPr/>
        </p:nvSpPr>
        <p:spPr>
          <a:xfrm>
            <a:off x="457200" y="1066800"/>
            <a:ext cx="7848600" cy="48768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342900" lvl="0" indent="-342900" eaLnBrk="1" fontAlgn="ctr" hangingPunct="1">
              <a:lnSpc>
                <a:spcPct val="120000"/>
              </a:lnSpc>
              <a:buNone/>
            </a:pPr>
            <a:r>
              <a:rPr lang="zh-CN" altLang="en-US" dirty="0"/>
              <a:t>规范设计法</a:t>
            </a:r>
            <a:endParaRPr lang="zh-CN" altLang="en-US" dirty="0"/>
          </a:p>
          <a:p>
            <a:pPr marL="342900" lvl="0" indent="-342900" eaLnBrk="1" fontAlgn="ctr" hangingPunct="1">
              <a:lnSpc>
                <a:spcPct val="120000"/>
              </a:lnSpc>
            </a:pPr>
            <a:r>
              <a:rPr lang="en-US" altLang="zh-CN" dirty="0">
                <a:solidFill>
                  <a:schemeClr val="tx1"/>
                </a:solidFill>
              </a:rPr>
              <a:t>1978.10:New Orleans, </a:t>
            </a:r>
            <a:r>
              <a:rPr lang="zh-CN" altLang="en-US" dirty="0">
                <a:solidFill>
                  <a:schemeClr val="tx1"/>
                </a:solidFill>
              </a:rPr>
              <a:t>借鉴软件工程的思想和方法提出了数据库设计的规范</a:t>
            </a:r>
            <a:endParaRPr lang="zh-CN" altLang="en-US" dirty="0">
              <a:solidFill>
                <a:schemeClr val="tx1"/>
              </a:solidFill>
            </a:endParaRPr>
          </a:p>
          <a:p>
            <a:pPr marL="742950" lvl="1" indent="-285750" eaLnBrk="1" fontAlgn="ctr" hangingPunct="1">
              <a:lnSpc>
                <a:spcPct val="120000"/>
              </a:lnSpc>
              <a:buClr>
                <a:srgbClr val="FF3300"/>
              </a:buClr>
            </a:pPr>
            <a:r>
              <a:rPr lang="zh-CN" altLang="en-US" sz="3200" dirty="0"/>
              <a:t>需求分析（分析用户需求）</a:t>
            </a:r>
            <a:endParaRPr lang="zh-CN" altLang="en-US" sz="3200" dirty="0"/>
          </a:p>
          <a:p>
            <a:pPr marL="742950" lvl="1" indent="-285750" eaLnBrk="1" fontAlgn="ctr" hangingPunct="1">
              <a:lnSpc>
                <a:spcPct val="120000"/>
              </a:lnSpc>
              <a:buClr>
                <a:srgbClr val="FF3300"/>
              </a:buClr>
            </a:pPr>
            <a:r>
              <a:rPr lang="zh-CN" altLang="en-US" sz="3200" dirty="0"/>
              <a:t>概念设计（信息分析和定义）</a:t>
            </a:r>
            <a:endParaRPr lang="zh-CN" altLang="en-US" sz="3200" dirty="0"/>
          </a:p>
          <a:p>
            <a:pPr marL="742950" lvl="1" indent="-285750" eaLnBrk="1" fontAlgn="ctr" hangingPunct="1">
              <a:lnSpc>
                <a:spcPct val="120000"/>
              </a:lnSpc>
              <a:buClr>
                <a:srgbClr val="FF3300"/>
              </a:buClr>
            </a:pPr>
            <a:r>
              <a:rPr lang="zh-CN" altLang="en-US" sz="3200" dirty="0"/>
              <a:t>逻辑设计（设计实现）</a:t>
            </a:r>
            <a:endParaRPr lang="zh-CN" altLang="en-US" sz="3200" dirty="0"/>
          </a:p>
          <a:p>
            <a:pPr marL="742950" lvl="1" indent="-285750" eaLnBrk="1" fontAlgn="ctr" hangingPunct="1">
              <a:lnSpc>
                <a:spcPct val="120000"/>
              </a:lnSpc>
              <a:buClr>
                <a:srgbClr val="FF3300"/>
              </a:buClr>
            </a:pPr>
            <a:r>
              <a:rPr lang="zh-CN" altLang="en-US" sz="3200" dirty="0"/>
              <a:t>物理设计（物理数据库设计）。</a:t>
            </a:r>
            <a:endParaRPr lang="zh-CN" altLang="en-US" sz="3200" dirty="0"/>
          </a:p>
        </p:txBody>
      </p:sp>
      <p:sp>
        <p:nvSpPr>
          <p:cNvPr id="11268" name="Rectangle 3"/>
          <p:cNvSpPr/>
          <p:nvPr/>
        </p:nvSpPr>
        <p:spPr>
          <a:xfrm>
            <a:off x="939800" y="12700"/>
            <a:ext cx="7772400" cy="60960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eaLnBrk="1" hangingPunct="1">
              <a:spcBef>
                <a:spcPct val="0"/>
              </a:spcBef>
              <a:buClrTx/>
              <a:buFontTx/>
              <a:buNone/>
            </a:pPr>
            <a:r>
              <a:rPr lang="en-US" altLang="zh-CN" sz="4400" dirty="0">
                <a:solidFill>
                  <a:schemeClr val="accent2"/>
                </a:solidFill>
                <a:ea typeface="经典细隶书简" pitchFamily="49" charset="-122"/>
              </a:rPr>
              <a:t>7.1.3  </a:t>
            </a:r>
            <a:r>
              <a:rPr lang="zh-CN" altLang="en-US" sz="4400" dirty="0">
                <a:solidFill>
                  <a:schemeClr val="accent2"/>
                </a:solidFill>
                <a:ea typeface="经典细隶书简" pitchFamily="49" charset="-122"/>
              </a:rPr>
              <a:t>数据库设计的方法</a:t>
            </a:r>
            <a:endParaRPr lang="zh-CN" altLang="en-US" sz="4400" dirty="0">
              <a:solidFill>
                <a:schemeClr val="accent2"/>
              </a:solidFill>
              <a:ea typeface="经典细隶书简" pitchFamily="49"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页脚占位符 2"/>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1267" name="Rectangle 2"/>
          <p:cNvSpPr>
            <a:spLocks noChangeArrowheads="1"/>
          </p:cNvSpPr>
          <p:nvPr/>
        </p:nvSpPr>
        <p:spPr bwMode="auto">
          <a:xfrm>
            <a:off x="457200" y="1066800"/>
            <a:ext cx="7848600" cy="487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FF3300"/>
              </a:buClr>
              <a:buFont typeface="Wingdings" panose="05000000000000000000" pitchFamily="2" charset="2"/>
              <a:buChar char="§"/>
              <a:defRPr kumimoji="1" sz="3200" b="1">
                <a:solidFill>
                  <a:srgbClr val="FF3300"/>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SzPct val="60000"/>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kumimoji="1" sz="2000" b="1">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Times New Roman" panose="02020603050405020304" pitchFamily="18" charset="0"/>
                <a:ea typeface="仿宋_GB2312" pitchFamily="49" charset="-122"/>
              </a:defRPr>
            </a:lvl9pPr>
          </a:lstStyle>
          <a:p>
            <a:pPr marL="342900" marR="0" lvl="0" indent="-342900" algn="l" defTabSz="914400" rtl="0" eaLnBrk="1" fontAlgn="base" latinLnBrk="0" hangingPunct="1">
              <a:lnSpc>
                <a:spcPct val="120000"/>
              </a:lnSpc>
              <a:spcBef>
                <a:spcPct val="20000"/>
              </a:spcBef>
              <a:spcAft>
                <a:spcPct val="0"/>
              </a:spcAft>
              <a:buClr>
                <a:srgbClr val="FF3300"/>
              </a:buClr>
              <a:buSzTx/>
              <a:buFont typeface="Wingdings" panose="05000000000000000000" pitchFamily="2" charset="2"/>
              <a:buChar char="§"/>
              <a:defRPr/>
            </a:pPr>
            <a:r>
              <a:rPr kumimoji="1" lang="zh-CN" altLang="en-US" sz="2800" b="1" i="0" u="none" strike="noStrike" kern="1200" cap="none" spc="0" normalizeH="0" baseline="0" noProof="0" dirty="0" smtClean="0">
                <a:ln>
                  <a:noFill/>
                </a:ln>
                <a:solidFill>
                  <a:schemeClr val="tx1"/>
                </a:solidFill>
                <a:effectLst/>
                <a:uLnTx/>
                <a:uFillTx/>
                <a:latin typeface="Times New Roman" panose="02020603050405020304" pitchFamily="18" charset="0"/>
                <a:ea typeface="宋体" panose="02010600030101010101" pitchFamily="2" charset="-122"/>
                <a:cs typeface="+mn-cs"/>
              </a:rPr>
              <a:t>基于</a:t>
            </a:r>
            <a:r>
              <a:rPr kumimoji="1" lang="en-US" altLang="zh-CN" sz="2800" b="1" i="0" u="none" strike="noStrike" kern="1200" cap="none" spc="0" normalizeH="0" baseline="0" noProof="0" dirty="0" smtClean="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E-R</a:t>
            </a:r>
            <a:r>
              <a:rPr kumimoji="1" lang="zh-CN" altLang="en-US" sz="2800" b="1" i="0" u="none" strike="noStrike" kern="1200" cap="none" spc="0" normalizeH="0" baseline="0" noProof="0" dirty="0" smtClean="0">
                <a:ln>
                  <a:noFill/>
                </a:ln>
                <a:solidFill>
                  <a:schemeClr val="tx1"/>
                </a:solidFill>
                <a:effectLst/>
                <a:uLnTx/>
                <a:uFillTx/>
                <a:latin typeface="Times New Roman" panose="02020603050405020304" pitchFamily="18" charset="0"/>
                <a:ea typeface="宋体" panose="02010600030101010101" pitchFamily="2" charset="-122"/>
                <a:cs typeface="+mn-cs"/>
              </a:rPr>
              <a:t>模型的数据库设计方法</a:t>
            </a:r>
            <a:endParaRPr kumimoji="1" lang="zh-CN" altLang="en-US" sz="2800" b="1" i="0" u="none" strike="noStrike" kern="1200" cap="none" spc="0" normalizeH="0" baseline="0" noProof="0" dirty="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342900" marR="0" lvl="0" indent="-342900" algn="l" defTabSz="914400" rtl="0" eaLnBrk="1" fontAlgn="base" latinLnBrk="0" hangingPunct="1">
              <a:lnSpc>
                <a:spcPct val="120000"/>
              </a:lnSpc>
              <a:spcBef>
                <a:spcPct val="20000"/>
              </a:spcBef>
              <a:spcAft>
                <a:spcPct val="0"/>
              </a:spcAft>
              <a:buClr>
                <a:srgbClr val="FF3300"/>
              </a:buClr>
              <a:buSzTx/>
              <a:buFont typeface="Wingdings" panose="05000000000000000000" pitchFamily="2" charset="2"/>
              <a:buChar char="§"/>
              <a:defRPr/>
            </a:pPr>
            <a:r>
              <a:rPr kumimoji="1" lang="zh-CN" altLang="en-US" sz="2800" b="1"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基于</a:t>
            </a:r>
            <a:r>
              <a:rPr kumimoji="1" lang="en-US" altLang="zh-CN" sz="2800" b="1" i="0" u="none" strike="noStrike" kern="1200" cap="none" spc="0" normalizeH="0" baseline="0" noProof="0" dirty="0" smtClean="0">
                <a:ln>
                  <a:noFill/>
                </a:ln>
                <a:solidFill>
                  <a:schemeClr val="tx1"/>
                </a:solidFill>
                <a:effectLst/>
                <a:uLnTx/>
                <a:uFillTx/>
                <a:latin typeface="Times New Roman" panose="02020603050405020304" pitchFamily="18" charset="0"/>
                <a:ea typeface="宋体" panose="02010600030101010101" pitchFamily="2" charset="-122"/>
                <a:cs typeface="+mn-cs"/>
              </a:rPr>
              <a:t>3NF</a:t>
            </a:r>
            <a:r>
              <a:rPr kumimoji="1" lang="zh-CN" altLang="en-US" sz="2800" b="1"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的数据库设计方法</a:t>
            </a:r>
            <a:endParaRPr kumimoji="1" lang="en-US" altLang="zh-CN" sz="2800" b="1"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20000"/>
              </a:lnSpc>
              <a:spcBef>
                <a:spcPct val="20000"/>
              </a:spcBef>
              <a:spcAft>
                <a:spcPct val="0"/>
              </a:spcAft>
              <a:buClr>
                <a:srgbClr val="FF3300"/>
              </a:buClr>
              <a:buSzTx/>
              <a:buFont typeface="Wingdings" panose="05000000000000000000" pitchFamily="2" charset="2"/>
              <a:buNone/>
              <a:defRPr/>
            </a:pPr>
            <a:r>
              <a:rPr kumimoji="1" lang="en-US" altLang="zh-CN" sz="2800" b="1"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  </a:t>
            </a:r>
            <a:r>
              <a:rPr kumimoji="1" lang="zh-CN" altLang="en-US" sz="2800" b="1"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该方法是由</a:t>
            </a:r>
            <a:r>
              <a:rPr kumimoji="1" lang="en-US" altLang="zh-CN" sz="2800" b="1" i="0" u="none" strike="noStrike" kern="1200" cap="none" spc="0" normalizeH="0" baseline="0" noProof="0" dirty="0" err="1" smtClean="0">
                <a:ln>
                  <a:noFill/>
                </a:ln>
                <a:solidFill>
                  <a:schemeClr val="tx1"/>
                </a:solidFill>
                <a:effectLst/>
                <a:uLnTx/>
                <a:uFillTx/>
                <a:latin typeface="Times New Roman" panose="02020603050405020304" pitchFamily="18" charset="0"/>
                <a:ea typeface="宋体" panose="02010600030101010101" pitchFamily="2" charset="-122"/>
                <a:cs typeface="+mn-cs"/>
              </a:rPr>
              <a:t>S·Atre</a:t>
            </a:r>
            <a:r>
              <a:rPr kumimoji="1" lang="zh-CN" altLang="en-US" sz="2800" b="1"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提出的结构化设计方法，其基本思想是在需求分析的基础上，确定数据库模式中的全部属性和属性间的依赖关系，将它们组织在单一的关系模式中，然后再分析模式中不符合</a:t>
            </a:r>
            <a:r>
              <a:rPr kumimoji="1" lang="en-US" altLang="zh-CN" sz="2800" b="1" i="0" u="none" strike="noStrike" kern="1200" cap="none" spc="0" normalizeH="0" baseline="0" noProof="0" dirty="0" smtClean="0">
                <a:ln>
                  <a:noFill/>
                </a:ln>
                <a:solidFill>
                  <a:schemeClr val="tx1"/>
                </a:solidFill>
                <a:effectLst/>
                <a:uLnTx/>
                <a:uFillTx/>
                <a:latin typeface="Times New Roman" panose="02020603050405020304" pitchFamily="18" charset="0"/>
                <a:ea typeface="宋体" panose="02010600030101010101" pitchFamily="2" charset="-122"/>
                <a:cs typeface="+mn-cs"/>
              </a:rPr>
              <a:t>3NF</a:t>
            </a:r>
            <a:r>
              <a:rPr kumimoji="1" lang="zh-CN" altLang="en-US" sz="2800" b="1"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的约束条件，将其进行投影分解，规范成若干个</a:t>
            </a:r>
            <a:r>
              <a:rPr kumimoji="1" lang="en-US" altLang="zh-CN" sz="2800" b="1" i="0" u="none" strike="noStrike" kern="1200" cap="none" spc="0" normalizeH="0" baseline="0" noProof="0" dirty="0" smtClean="0">
                <a:ln>
                  <a:noFill/>
                </a:ln>
                <a:solidFill>
                  <a:schemeClr val="tx1"/>
                </a:solidFill>
                <a:effectLst/>
                <a:uLnTx/>
                <a:uFillTx/>
                <a:latin typeface="Times New Roman" panose="02020603050405020304" pitchFamily="18" charset="0"/>
                <a:ea typeface="宋体" panose="02010600030101010101" pitchFamily="2" charset="-122"/>
                <a:cs typeface="+mn-cs"/>
              </a:rPr>
              <a:t>3NF</a:t>
            </a:r>
            <a:r>
              <a:rPr kumimoji="1" lang="zh-CN" altLang="en-US" sz="2800" b="1"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关系模式的集合。</a:t>
            </a:r>
            <a:endParaRPr kumimoji="1" lang="zh-CN" altLang="en-US" sz="3200" b="1" i="0" u="none" strike="noStrike" kern="1200" cap="none" spc="0" normalizeH="0" baseline="0" noProof="0" dirty="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342900" marR="0" lvl="0" indent="-342900" algn="l" defTabSz="914400" rtl="0" eaLnBrk="1" fontAlgn="base" latinLnBrk="0" hangingPunct="1">
              <a:lnSpc>
                <a:spcPct val="120000"/>
              </a:lnSpc>
              <a:spcBef>
                <a:spcPct val="20000"/>
              </a:spcBef>
              <a:spcAft>
                <a:spcPct val="0"/>
              </a:spcAft>
              <a:buClr>
                <a:srgbClr val="FF3300"/>
              </a:buClr>
              <a:buSzTx/>
              <a:buFont typeface="Wingdings" panose="05000000000000000000" pitchFamily="2" charset="2"/>
              <a:buNone/>
              <a:defRPr/>
            </a:pPr>
            <a:endParaRPr kumimoji="1" lang="zh-CN" altLang="en-US" sz="3200" b="1" i="0" u="none" strike="noStrike" kern="1200" cap="none" spc="0" normalizeH="0" baseline="0" noProof="0" dirty="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2292" name="Rectangle 3"/>
          <p:cNvSpPr/>
          <p:nvPr/>
        </p:nvSpPr>
        <p:spPr>
          <a:xfrm>
            <a:off x="939800" y="12700"/>
            <a:ext cx="7772400" cy="60960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eaLnBrk="1" hangingPunct="1">
              <a:spcBef>
                <a:spcPct val="0"/>
              </a:spcBef>
              <a:buClrTx/>
              <a:buFontTx/>
              <a:buNone/>
            </a:pPr>
            <a:r>
              <a:rPr lang="en-US" altLang="zh-CN" sz="4400" dirty="0">
                <a:solidFill>
                  <a:schemeClr val="accent2"/>
                </a:solidFill>
                <a:ea typeface="经典细隶书简" pitchFamily="49" charset="-122"/>
              </a:rPr>
              <a:t>7.1.3  </a:t>
            </a:r>
            <a:r>
              <a:rPr lang="zh-CN" altLang="en-US" sz="4400" dirty="0">
                <a:solidFill>
                  <a:schemeClr val="accent2"/>
                </a:solidFill>
                <a:ea typeface="经典细隶书简" pitchFamily="49" charset="-122"/>
              </a:rPr>
              <a:t>数据库设计的方法</a:t>
            </a:r>
            <a:endParaRPr lang="zh-CN" altLang="en-US" sz="4400" dirty="0">
              <a:solidFill>
                <a:schemeClr val="accent2"/>
              </a:solidFill>
              <a:ea typeface="经典细隶书简" pitchFamily="49"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页脚占位符 2"/>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3315" name="Rectangle 2"/>
          <p:cNvSpPr/>
          <p:nvPr/>
        </p:nvSpPr>
        <p:spPr>
          <a:xfrm>
            <a:off x="457200" y="990600"/>
            <a:ext cx="8382000" cy="54102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342900" lvl="0" indent="-342900" eaLnBrk="1" hangingPunct="1">
              <a:lnSpc>
                <a:spcPct val="120000"/>
              </a:lnSpc>
            </a:pPr>
            <a:r>
              <a:rPr lang="zh-CN" altLang="en-US" sz="2800" dirty="0">
                <a:solidFill>
                  <a:schemeClr val="tx1"/>
                </a:solidFill>
              </a:rPr>
              <a:t>基于视图的数据库设计方法</a:t>
            </a:r>
            <a:r>
              <a:rPr lang="en-US" altLang="zh-CN" sz="2800" dirty="0">
                <a:solidFill>
                  <a:schemeClr val="tx1"/>
                </a:solidFill>
              </a:rPr>
              <a:t>:</a:t>
            </a:r>
            <a:r>
              <a:rPr lang="zh-CN" altLang="en-US" sz="2800" dirty="0">
                <a:solidFill>
                  <a:schemeClr val="tx1"/>
                </a:solidFill>
              </a:rPr>
              <a:t>先从分析各个应用的数据着手，为每个应用建立自己的视图，然后再把视图汇总合并成整个数据库的概念模式。</a:t>
            </a:r>
            <a:endParaRPr lang="zh-CN" altLang="en-US" sz="2800" dirty="0">
              <a:solidFill>
                <a:schemeClr val="tx1"/>
              </a:solidFill>
            </a:endParaRPr>
          </a:p>
          <a:p>
            <a:pPr marL="342900" lvl="0" indent="-342900" eaLnBrk="1" hangingPunct="1">
              <a:lnSpc>
                <a:spcPct val="120000"/>
              </a:lnSpc>
            </a:pPr>
            <a:r>
              <a:rPr lang="zh-CN" altLang="en-US" sz="2800" dirty="0">
                <a:solidFill>
                  <a:schemeClr val="tx1"/>
                </a:solidFill>
              </a:rPr>
              <a:t>除了以上三种方法外，规范化设计方法还有</a:t>
            </a:r>
            <a:r>
              <a:rPr lang="zh-CN" altLang="en-US" sz="2800" dirty="0">
                <a:solidFill>
                  <a:srgbClr val="FF0000"/>
                </a:solidFill>
              </a:rPr>
              <a:t>实体分析法</a:t>
            </a:r>
            <a:r>
              <a:rPr lang="zh-CN" altLang="en-US" sz="2800" dirty="0">
                <a:solidFill>
                  <a:schemeClr val="tx1"/>
                </a:solidFill>
              </a:rPr>
              <a:t>、</a:t>
            </a:r>
            <a:r>
              <a:rPr lang="zh-CN" altLang="en-US" sz="2800" dirty="0">
                <a:solidFill>
                  <a:srgbClr val="FF0000"/>
                </a:solidFill>
              </a:rPr>
              <a:t>属性分析法</a:t>
            </a:r>
            <a:r>
              <a:rPr lang="zh-CN" altLang="en-US" sz="2800" dirty="0">
                <a:solidFill>
                  <a:schemeClr val="tx1"/>
                </a:solidFill>
              </a:rPr>
              <a:t>和</a:t>
            </a:r>
            <a:r>
              <a:rPr lang="zh-CN" altLang="en-US" sz="2800" dirty="0">
                <a:solidFill>
                  <a:srgbClr val="FF0000"/>
                </a:solidFill>
              </a:rPr>
              <a:t>基于抽象语义的设计方法</a:t>
            </a:r>
            <a:r>
              <a:rPr lang="zh-CN" altLang="en-US" sz="2800" dirty="0">
                <a:solidFill>
                  <a:schemeClr val="tx1"/>
                </a:solidFill>
              </a:rPr>
              <a:t>等。</a:t>
            </a:r>
            <a:endParaRPr lang="zh-CN" altLang="en-US" sz="2800" dirty="0">
              <a:solidFill>
                <a:schemeClr val="tx1"/>
              </a:solidFill>
            </a:endParaRPr>
          </a:p>
          <a:p>
            <a:pPr marL="342900" lvl="0" indent="-342900" eaLnBrk="1" hangingPunct="1">
              <a:lnSpc>
                <a:spcPct val="120000"/>
              </a:lnSpc>
            </a:pPr>
            <a:r>
              <a:rPr lang="zh-CN" altLang="en-US" sz="2800" dirty="0">
                <a:solidFill>
                  <a:schemeClr val="tx1"/>
                </a:solidFill>
              </a:rPr>
              <a:t>规范设计法从本质上来说仍然是</a:t>
            </a:r>
            <a:r>
              <a:rPr lang="zh-CN" altLang="en-US" sz="2800" dirty="0">
                <a:solidFill>
                  <a:srgbClr val="0000CC"/>
                </a:solidFill>
              </a:rPr>
              <a:t>手工设计方法</a:t>
            </a:r>
            <a:r>
              <a:rPr lang="zh-CN" altLang="en-US" sz="2800" dirty="0">
                <a:solidFill>
                  <a:schemeClr val="tx1"/>
                </a:solidFill>
              </a:rPr>
              <a:t>，其基本思想是</a:t>
            </a:r>
            <a:r>
              <a:rPr lang="zh-CN" altLang="en-US" sz="2800" dirty="0">
                <a:solidFill>
                  <a:srgbClr val="0000CC"/>
                </a:solidFill>
              </a:rPr>
              <a:t>过程迭代和逐步求精</a:t>
            </a:r>
            <a:r>
              <a:rPr lang="zh-CN" altLang="en-US" sz="2800" dirty="0">
                <a:solidFill>
                  <a:schemeClr val="tx1"/>
                </a:solidFill>
              </a:rPr>
              <a:t>。</a:t>
            </a:r>
            <a:endParaRPr lang="zh-CN" altLang="en-US" sz="2800" dirty="0">
              <a:solidFill>
                <a:schemeClr val="tx1"/>
              </a:solidFill>
            </a:endParaRPr>
          </a:p>
          <a:p>
            <a:pPr marL="342900" lvl="0" indent="-342900" eaLnBrk="1" hangingPunct="1">
              <a:lnSpc>
                <a:spcPct val="120000"/>
              </a:lnSpc>
            </a:pPr>
            <a:endParaRPr lang="zh-CN" altLang="en-US" sz="2800" dirty="0">
              <a:solidFill>
                <a:schemeClr val="tx1"/>
              </a:solidFill>
            </a:endParaRPr>
          </a:p>
        </p:txBody>
      </p:sp>
      <p:sp>
        <p:nvSpPr>
          <p:cNvPr id="13316" name="Rectangle 3"/>
          <p:cNvSpPr/>
          <p:nvPr/>
        </p:nvSpPr>
        <p:spPr>
          <a:xfrm>
            <a:off x="939800" y="12700"/>
            <a:ext cx="7772400" cy="60960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eaLnBrk="1" hangingPunct="1">
              <a:spcBef>
                <a:spcPct val="0"/>
              </a:spcBef>
              <a:buClrTx/>
              <a:buFontTx/>
              <a:buNone/>
            </a:pPr>
            <a:r>
              <a:rPr lang="en-US" altLang="zh-CN" sz="4400" dirty="0">
                <a:solidFill>
                  <a:schemeClr val="accent2"/>
                </a:solidFill>
                <a:ea typeface="经典细隶书简" pitchFamily="49" charset="-122"/>
              </a:rPr>
              <a:t>7.1.3  </a:t>
            </a:r>
            <a:r>
              <a:rPr lang="zh-CN" altLang="en-US" sz="4400" dirty="0">
                <a:solidFill>
                  <a:schemeClr val="accent2"/>
                </a:solidFill>
                <a:ea typeface="经典细隶书简" pitchFamily="49" charset="-122"/>
              </a:rPr>
              <a:t>数据库设计的方法</a:t>
            </a:r>
            <a:endParaRPr lang="zh-CN" altLang="en-US" sz="4400" dirty="0">
              <a:solidFill>
                <a:schemeClr val="accent2"/>
              </a:solidFill>
              <a:ea typeface="经典细隶书简" pitchFamily="49"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页脚占位符 2"/>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4339" name="Rectangle 2"/>
          <p:cNvSpPr/>
          <p:nvPr/>
        </p:nvSpPr>
        <p:spPr>
          <a:xfrm>
            <a:off x="457200" y="990600"/>
            <a:ext cx="8382000" cy="54102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342900" lvl="0" indent="-342900" eaLnBrk="1" hangingPunct="1">
              <a:lnSpc>
                <a:spcPct val="120000"/>
              </a:lnSpc>
            </a:pPr>
            <a:r>
              <a:rPr lang="zh-CN" altLang="en-US" sz="2800" dirty="0">
                <a:solidFill>
                  <a:schemeClr val="tx1"/>
                </a:solidFill>
              </a:rPr>
              <a:t>计算机辅助设计法是指在数据库设计的某些过程中模拟某一规范化设计的方法，并以人的知识或经验为主导，通过人机交互方式实现设计中的某些部分。</a:t>
            </a:r>
            <a:endParaRPr lang="zh-CN" altLang="en-US" sz="2800" dirty="0">
              <a:solidFill>
                <a:schemeClr val="tx1"/>
              </a:solidFill>
            </a:endParaRPr>
          </a:p>
          <a:p>
            <a:pPr marL="342900" lvl="0" indent="-342900" eaLnBrk="1" hangingPunct="1">
              <a:lnSpc>
                <a:spcPct val="120000"/>
              </a:lnSpc>
            </a:pPr>
            <a:r>
              <a:rPr lang="zh-CN" altLang="en-US" sz="2800" dirty="0">
                <a:solidFill>
                  <a:schemeClr val="tx1"/>
                </a:solidFill>
              </a:rPr>
              <a:t>目前许多计算机辅助软件工程（</a:t>
            </a:r>
            <a:r>
              <a:rPr lang="en-US" altLang="zh-CN" sz="2800" dirty="0">
                <a:solidFill>
                  <a:schemeClr val="tx1"/>
                </a:solidFill>
              </a:rPr>
              <a:t>Computer Aided Software Engineering</a:t>
            </a:r>
            <a:r>
              <a:rPr lang="zh-CN" altLang="en-US" sz="2800" dirty="0">
                <a:solidFill>
                  <a:schemeClr val="tx1"/>
                </a:solidFill>
              </a:rPr>
              <a:t>，</a:t>
            </a:r>
            <a:r>
              <a:rPr lang="en-US" altLang="zh-CN" sz="2800" dirty="0">
                <a:solidFill>
                  <a:schemeClr val="tx1"/>
                </a:solidFill>
              </a:rPr>
              <a:t>CASE</a:t>
            </a:r>
            <a:r>
              <a:rPr lang="zh-CN" altLang="en-US" sz="2800" dirty="0">
                <a:solidFill>
                  <a:schemeClr val="tx1"/>
                </a:solidFill>
              </a:rPr>
              <a:t>）工具可以自动或辅助设计人员完成数据库设计过程中的很多任务</a:t>
            </a:r>
            <a:r>
              <a:rPr lang="en-US" altLang="zh-CN" sz="2800" dirty="0">
                <a:solidFill>
                  <a:schemeClr val="tx1"/>
                </a:solidFill>
              </a:rPr>
              <a:t>.</a:t>
            </a:r>
            <a:r>
              <a:rPr lang="zh-CN" altLang="en-US" sz="2800" dirty="0">
                <a:solidFill>
                  <a:schemeClr val="tx1"/>
                </a:solidFill>
              </a:rPr>
              <a:t>比如</a:t>
            </a:r>
            <a:r>
              <a:rPr lang="en-US" altLang="zh-CN" sz="2800" dirty="0">
                <a:solidFill>
                  <a:schemeClr val="tx1"/>
                </a:solidFill>
              </a:rPr>
              <a:t>SYSBASE</a:t>
            </a:r>
            <a:r>
              <a:rPr lang="zh-CN" altLang="en-US" sz="2800" dirty="0">
                <a:solidFill>
                  <a:schemeClr val="tx1"/>
                </a:solidFill>
              </a:rPr>
              <a:t>公司的</a:t>
            </a:r>
            <a:r>
              <a:rPr lang="en-US" altLang="zh-CN" sz="2800" dirty="0">
                <a:solidFill>
                  <a:schemeClr val="tx1"/>
                </a:solidFill>
              </a:rPr>
              <a:t>PowerDesigner</a:t>
            </a:r>
            <a:r>
              <a:rPr lang="zh-CN" altLang="en-US" sz="2800" dirty="0">
                <a:solidFill>
                  <a:schemeClr val="tx1"/>
                </a:solidFill>
              </a:rPr>
              <a:t>和</a:t>
            </a:r>
            <a:r>
              <a:rPr lang="en-US" altLang="zh-CN" sz="2800" dirty="0">
                <a:solidFill>
                  <a:schemeClr val="tx1"/>
                </a:solidFill>
              </a:rPr>
              <a:t>Oracle</a:t>
            </a:r>
            <a:r>
              <a:rPr lang="zh-CN" altLang="en-US" sz="2800" dirty="0">
                <a:solidFill>
                  <a:schemeClr val="tx1"/>
                </a:solidFill>
              </a:rPr>
              <a:t>公司的</a:t>
            </a:r>
            <a:r>
              <a:rPr lang="en-US" altLang="zh-CN" sz="2800" dirty="0">
                <a:solidFill>
                  <a:schemeClr val="tx1"/>
                </a:solidFill>
              </a:rPr>
              <a:t>Design</a:t>
            </a:r>
            <a:r>
              <a:rPr lang="zh-CN" altLang="en-US" sz="2800" dirty="0">
                <a:solidFill>
                  <a:schemeClr val="tx1"/>
                </a:solidFill>
              </a:rPr>
              <a:t>。 </a:t>
            </a:r>
            <a:endParaRPr lang="zh-CN" altLang="en-US" sz="2800" dirty="0">
              <a:solidFill>
                <a:schemeClr val="tx1"/>
              </a:solidFill>
            </a:endParaRPr>
          </a:p>
        </p:txBody>
      </p:sp>
      <p:sp>
        <p:nvSpPr>
          <p:cNvPr id="14340" name="Rectangle 3"/>
          <p:cNvSpPr/>
          <p:nvPr/>
        </p:nvSpPr>
        <p:spPr>
          <a:xfrm>
            <a:off x="939800" y="12700"/>
            <a:ext cx="7772400" cy="60960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eaLnBrk="1" hangingPunct="1">
              <a:spcBef>
                <a:spcPct val="0"/>
              </a:spcBef>
              <a:buClrTx/>
              <a:buFontTx/>
              <a:buNone/>
            </a:pPr>
            <a:r>
              <a:rPr lang="en-US" altLang="zh-CN" sz="4400" dirty="0">
                <a:solidFill>
                  <a:schemeClr val="accent2"/>
                </a:solidFill>
                <a:ea typeface="经典细隶书简" pitchFamily="49" charset="-122"/>
              </a:rPr>
              <a:t>7.1.3  </a:t>
            </a:r>
            <a:r>
              <a:rPr lang="zh-CN" altLang="en-US" sz="4400" dirty="0">
                <a:solidFill>
                  <a:schemeClr val="accent2"/>
                </a:solidFill>
                <a:ea typeface="经典细隶书简" pitchFamily="49" charset="-122"/>
              </a:rPr>
              <a:t>数据库设计的方法</a:t>
            </a:r>
            <a:endParaRPr lang="zh-CN" altLang="en-US" sz="4400" dirty="0">
              <a:solidFill>
                <a:schemeClr val="accent2"/>
              </a:solidFill>
              <a:ea typeface="经典细隶书简" pitchFamily="49"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页脚占位符 2"/>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5363" name="Rectangle 2"/>
          <p:cNvSpPr/>
          <p:nvPr/>
        </p:nvSpPr>
        <p:spPr>
          <a:xfrm>
            <a:off x="1066800" y="1295400"/>
            <a:ext cx="7162800" cy="44196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342900" lvl="0" indent="-342900" algn="just" eaLnBrk="1" hangingPunct="1">
              <a:lnSpc>
                <a:spcPct val="120000"/>
              </a:lnSpc>
              <a:buNone/>
            </a:pPr>
            <a:r>
              <a:rPr lang="en-US" altLang="zh-CN" dirty="0">
                <a:solidFill>
                  <a:schemeClr val="tx1"/>
                </a:solidFill>
              </a:rPr>
              <a:t>7.1.1 </a:t>
            </a:r>
            <a:r>
              <a:rPr lang="zh-CN" altLang="en-US" dirty="0">
                <a:solidFill>
                  <a:schemeClr val="tx1"/>
                </a:solidFill>
              </a:rPr>
              <a:t>数据库设计的任务和内容</a:t>
            </a:r>
            <a:endParaRPr lang="zh-CN" altLang="en-US" dirty="0">
              <a:solidFill>
                <a:schemeClr val="tx1"/>
              </a:solidFill>
            </a:endParaRPr>
          </a:p>
          <a:p>
            <a:pPr marL="342900" lvl="0" indent="-342900" algn="just" eaLnBrk="1" hangingPunct="1">
              <a:lnSpc>
                <a:spcPct val="120000"/>
              </a:lnSpc>
              <a:buNone/>
            </a:pPr>
            <a:r>
              <a:rPr lang="en-US" altLang="zh-CN" dirty="0">
                <a:solidFill>
                  <a:schemeClr val="tx1"/>
                </a:solidFill>
              </a:rPr>
              <a:t>7.1.2 </a:t>
            </a:r>
            <a:r>
              <a:rPr lang="zh-CN" altLang="en-US" dirty="0">
                <a:solidFill>
                  <a:schemeClr val="tx1"/>
                </a:solidFill>
              </a:rPr>
              <a:t>数据库设计的特点</a:t>
            </a:r>
            <a:endParaRPr lang="zh-CN" altLang="en-US" dirty="0">
              <a:solidFill>
                <a:schemeClr val="tx1"/>
              </a:solidFill>
            </a:endParaRPr>
          </a:p>
          <a:p>
            <a:pPr marL="342900" lvl="0" indent="-342900" algn="just" eaLnBrk="1" hangingPunct="1">
              <a:lnSpc>
                <a:spcPct val="120000"/>
              </a:lnSpc>
              <a:buNone/>
            </a:pPr>
            <a:r>
              <a:rPr lang="en-US" altLang="zh-CN" dirty="0">
                <a:solidFill>
                  <a:schemeClr val="tx1"/>
                </a:solidFill>
              </a:rPr>
              <a:t>7.1.3 </a:t>
            </a:r>
            <a:r>
              <a:rPr lang="zh-CN" altLang="en-US" dirty="0">
                <a:solidFill>
                  <a:schemeClr val="tx1"/>
                </a:solidFill>
              </a:rPr>
              <a:t>数据库设计的方法</a:t>
            </a:r>
            <a:endParaRPr lang="zh-CN" altLang="en-US" dirty="0">
              <a:solidFill>
                <a:schemeClr val="tx1"/>
              </a:solidFill>
            </a:endParaRPr>
          </a:p>
          <a:p>
            <a:pPr marL="342900" lvl="0" indent="-342900" algn="just" eaLnBrk="1" hangingPunct="1">
              <a:lnSpc>
                <a:spcPct val="120000"/>
              </a:lnSpc>
              <a:buNone/>
            </a:pPr>
            <a:r>
              <a:rPr lang="en-US" altLang="zh-CN" dirty="0"/>
              <a:t>7.1.4 </a:t>
            </a:r>
            <a:r>
              <a:rPr lang="zh-CN" altLang="en-US" dirty="0"/>
              <a:t>数据库设计的步骤</a:t>
            </a:r>
            <a:endParaRPr lang="zh-CN" altLang="en-US" dirty="0"/>
          </a:p>
          <a:p>
            <a:pPr marL="342900" lvl="0" indent="-342900" algn="just" eaLnBrk="1" hangingPunct="1">
              <a:lnSpc>
                <a:spcPct val="120000"/>
              </a:lnSpc>
              <a:buNone/>
            </a:pPr>
            <a:endParaRPr lang="zh-CN" altLang="en-US" dirty="0"/>
          </a:p>
        </p:txBody>
      </p:sp>
      <p:sp>
        <p:nvSpPr>
          <p:cNvPr id="15364" name="Rectangle 3"/>
          <p:cNvSpPr/>
          <p:nvPr/>
        </p:nvSpPr>
        <p:spPr>
          <a:xfrm>
            <a:off x="685800" y="152400"/>
            <a:ext cx="7772400" cy="114300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eaLnBrk="1" hangingPunct="1">
              <a:spcBef>
                <a:spcPct val="0"/>
              </a:spcBef>
              <a:buClrTx/>
              <a:buFontTx/>
              <a:buNone/>
            </a:pPr>
            <a:r>
              <a:rPr lang="en-US" altLang="zh-CN" sz="4400" dirty="0">
                <a:solidFill>
                  <a:schemeClr val="accent2"/>
                </a:solidFill>
                <a:ea typeface="经典细隶书简" pitchFamily="49" charset="-122"/>
              </a:rPr>
              <a:t>7.1  </a:t>
            </a:r>
            <a:r>
              <a:rPr lang="zh-CN" altLang="en-US" sz="4400" dirty="0">
                <a:solidFill>
                  <a:schemeClr val="accent2"/>
                </a:solidFill>
                <a:ea typeface="经典细隶书简" pitchFamily="49" charset="-122"/>
              </a:rPr>
              <a:t>数据库设计概述</a:t>
            </a:r>
            <a:endParaRPr lang="zh-CN" altLang="en-US" sz="4400" dirty="0">
              <a:solidFill>
                <a:schemeClr val="accent2"/>
              </a:solidFill>
              <a:ea typeface="经典细隶书简" pitchFamily="49"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页脚占位符 2"/>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6387" name="Rectangle 2"/>
          <p:cNvSpPr/>
          <p:nvPr/>
        </p:nvSpPr>
        <p:spPr>
          <a:xfrm>
            <a:off x="457200" y="812800"/>
            <a:ext cx="8382000" cy="54102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342900" lvl="0" indent="-342900" eaLnBrk="1" hangingPunct="1">
              <a:lnSpc>
                <a:spcPct val="120000"/>
              </a:lnSpc>
            </a:pPr>
            <a:r>
              <a:rPr lang="en-US" altLang="zh-CN" dirty="0">
                <a:solidFill>
                  <a:schemeClr val="tx1"/>
                </a:solidFill>
              </a:rPr>
              <a:t>“</a:t>
            </a:r>
            <a:r>
              <a:rPr lang="zh-CN" altLang="en-US" dirty="0">
                <a:solidFill>
                  <a:schemeClr val="tx1"/>
                </a:solidFill>
              </a:rPr>
              <a:t>数据库设计的生存期” （</a:t>
            </a:r>
            <a:r>
              <a:rPr lang="en-US" altLang="zh-CN" dirty="0">
                <a:solidFill>
                  <a:schemeClr val="tx1"/>
                </a:solidFill>
              </a:rPr>
              <a:t>P205 </a:t>
            </a:r>
            <a:r>
              <a:rPr lang="zh-CN" altLang="en-US" dirty="0">
                <a:solidFill>
                  <a:schemeClr val="tx1"/>
                </a:solidFill>
              </a:rPr>
              <a:t>图</a:t>
            </a:r>
            <a:r>
              <a:rPr lang="en-US" altLang="zh-CN" dirty="0">
                <a:solidFill>
                  <a:schemeClr val="tx1"/>
                </a:solidFill>
              </a:rPr>
              <a:t>7.2</a:t>
            </a:r>
            <a:r>
              <a:rPr lang="zh-CN" altLang="en-US" dirty="0">
                <a:solidFill>
                  <a:schemeClr val="tx1"/>
                </a:solidFill>
              </a:rPr>
              <a:t>）</a:t>
            </a:r>
            <a:endParaRPr lang="zh-CN" altLang="en-US" dirty="0">
              <a:solidFill>
                <a:schemeClr val="tx1"/>
              </a:solidFill>
            </a:endParaRPr>
          </a:p>
          <a:p>
            <a:pPr marL="342900" lvl="0" indent="-342900" eaLnBrk="1" hangingPunct="1">
              <a:lnSpc>
                <a:spcPct val="120000"/>
              </a:lnSpc>
            </a:pPr>
            <a:r>
              <a:rPr lang="zh-CN" altLang="en-US" dirty="0">
                <a:solidFill>
                  <a:schemeClr val="tx1"/>
                </a:solidFill>
              </a:rPr>
              <a:t>按规范设计法可将数据库设计分为六个阶段：</a:t>
            </a:r>
            <a:endParaRPr lang="zh-CN" altLang="en-US" dirty="0">
              <a:solidFill>
                <a:schemeClr val="tx1"/>
              </a:solidFill>
            </a:endParaRPr>
          </a:p>
          <a:p>
            <a:pPr marL="742950" lvl="1" indent="-285750" eaLnBrk="1" hangingPunct="1">
              <a:lnSpc>
                <a:spcPct val="120000"/>
              </a:lnSpc>
              <a:buClr>
                <a:srgbClr val="0000CC"/>
              </a:buClr>
            </a:pPr>
            <a:r>
              <a:rPr lang="zh-CN" altLang="en-US" sz="3200" dirty="0"/>
              <a:t>系统需求分析阶段</a:t>
            </a:r>
            <a:endParaRPr lang="zh-CN" altLang="en-US" sz="3200" dirty="0"/>
          </a:p>
          <a:p>
            <a:pPr marL="742950" lvl="1" indent="-285750" eaLnBrk="1" hangingPunct="1">
              <a:lnSpc>
                <a:spcPct val="120000"/>
              </a:lnSpc>
              <a:buClr>
                <a:srgbClr val="0000CC"/>
              </a:buClr>
            </a:pPr>
            <a:r>
              <a:rPr lang="zh-CN" altLang="en-US" sz="3200" dirty="0"/>
              <a:t>概念结构设计阶段</a:t>
            </a:r>
            <a:endParaRPr lang="zh-CN" altLang="en-US" sz="3200" dirty="0"/>
          </a:p>
          <a:p>
            <a:pPr marL="742950" lvl="1" indent="-285750" eaLnBrk="1" hangingPunct="1">
              <a:lnSpc>
                <a:spcPct val="120000"/>
              </a:lnSpc>
              <a:buClr>
                <a:srgbClr val="0000CC"/>
              </a:buClr>
            </a:pPr>
            <a:r>
              <a:rPr lang="zh-CN" altLang="en-US" sz="3200" dirty="0"/>
              <a:t>逻辑结构设计阶段</a:t>
            </a:r>
            <a:endParaRPr lang="zh-CN" altLang="en-US" sz="3200" dirty="0"/>
          </a:p>
          <a:p>
            <a:pPr marL="742950" lvl="1" indent="-285750" eaLnBrk="1" hangingPunct="1">
              <a:lnSpc>
                <a:spcPct val="120000"/>
              </a:lnSpc>
              <a:buClr>
                <a:srgbClr val="0000CC"/>
              </a:buClr>
            </a:pPr>
            <a:r>
              <a:rPr lang="zh-CN" altLang="en-US" sz="3200" dirty="0"/>
              <a:t>物理设计阶段</a:t>
            </a:r>
            <a:endParaRPr lang="zh-CN" altLang="en-US" sz="3200" dirty="0"/>
          </a:p>
          <a:p>
            <a:pPr marL="742950" lvl="1" indent="-285750" eaLnBrk="1" hangingPunct="1">
              <a:lnSpc>
                <a:spcPct val="120000"/>
              </a:lnSpc>
              <a:buClr>
                <a:srgbClr val="0000CC"/>
              </a:buClr>
            </a:pPr>
            <a:r>
              <a:rPr lang="zh-CN" altLang="en-US" sz="3200" dirty="0"/>
              <a:t>数据库实施阶段</a:t>
            </a:r>
            <a:endParaRPr lang="zh-CN" altLang="en-US" sz="3200" dirty="0"/>
          </a:p>
          <a:p>
            <a:pPr marL="742950" lvl="1" indent="-285750" eaLnBrk="1" hangingPunct="1">
              <a:lnSpc>
                <a:spcPct val="120000"/>
              </a:lnSpc>
              <a:buClr>
                <a:srgbClr val="0000CC"/>
              </a:buClr>
            </a:pPr>
            <a:r>
              <a:rPr lang="zh-CN" altLang="en-US" sz="3200" dirty="0"/>
              <a:t>数据库运行与维护阶段 </a:t>
            </a:r>
            <a:endParaRPr lang="zh-CN" altLang="en-US" sz="3200" dirty="0"/>
          </a:p>
        </p:txBody>
      </p:sp>
      <p:sp>
        <p:nvSpPr>
          <p:cNvPr id="16388" name="Rectangle 3"/>
          <p:cNvSpPr/>
          <p:nvPr/>
        </p:nvSpPr>
        <p:spPr>
          <a:xfrm>
            <a:off x="939800" y="12700"/>
            <a:ext cx="7772400" cy="60960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eaLnBrk="1" hangingPunct="1">
              <a:spcBef>
                <a:spcPct val="0"/>
              </a:spcBef>
              <a:buClrTx/>
              <a:buFontTx/>
              <a:buNone/>
            </a:pPr>
            <a:r>
              <a:rPr lang="en-US" altLang="zh-CN" sz="4400" dirty="0">
                <a:solidFill>
                  <a:schemeClr val="accent2"/>
                </a:solidFill>
                <a:ea typeface="经典细隶书简" pitchFamily="49" charset="-122"/>
              </a:rPr>
              <a:t>7.1.4  </a:t>
            </a:r>
            <a:r>
              <a:rPr lang="zh-CN" altLang="en-US" sz="4400" dirty="0">
                <a:solidFill>
                  <a:schemeClr val="accent2"/>
                </a:solidFill>
                <a:ea typeface="经典细隶书简" pitchFamily="49" charset="-122"/>
              </a:rPr>
              <a:t>数据库设计的步骤</a:t>
            </a:r>
            <a:endParaRPr lang="zh-CN" altLang="en-US" sz="4400" dirty="0">
              <a:solidFill>
                <a:schemeClr val="accent2"/>
              </a:solidFill>
              <a:ea typeface="经典细隶书简" pitchFamily="49"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页脚占位符 2"/>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7411" name="Rectangle 2"/>
          <p:cNvSpPr/>
          <p:nvPr/>
        </p:nvSpPr>
        <p:spPr>
          <a:xfrm>
            <a:off x="457200" y="812800"/>
            <a:ext cx="8382000" cy="54102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342900" lvl="0" indent="-342900" eaLnBrk="1" hangingPunct="1">
              <a:lnSpc>
                <a:spcPct val="120000"/>
              </a:lnSpc>
            </a:pPr>
            <a:r>
              <a:rPr lang="zh-CN" altLang="en-US" dirty="0">
                <a:solidFill>
                  <a:schemeClr val="tx1"/>
                </a:solidFill>
              </a:rPr>
              <a:t>需求分析阶段</a:t>
            </a:r>
            <a:endParaRPr lang="zh-CN" altLang="en-US" dirty="0">
              <a:solidFill>
                <a:schemeClr val="tx1"/>
              </a:solidFill>
            </a:endParaRPr>
          </a:p>
          <a:p>
            <a:pPr marL="342900" lvl="0" indent="-342900" eaLnBrk="1" hangingPunct="1">
              <a:lnSpc>
                <a:spcPct val="120000"/>
              </a:lnSpc>
              <a:buNone/>
            </a:pPr>
            <a:r>
              <a:rPr lang="zh-CN" altLang="en-US" dirty="0">
                <a:solidFill>
                  <a:schemeClr val="tx1"/>
                </a:solidFill>
              </a:rPr>
              <a:t> 	综合各个用户的应用需求，最困难最耗时</a:t>
            </a:r>
            <a:endParaRPr lang="en-US" altLang="zh-CN" dirty="0">
              <a:solidFill>
                <a:schemeClr val="tx1"/>
              </a:solidFill>
            </a:endParaRPr>
          </a:p>
          <a:p>
            <a:pPr marL="342900" lvl="0" indent="-342900" eaLnBrk="1" hangingPunct="1">
              <a:lnSpc>
                <a:spcPct val="120000"/>
              </a:lnSpc>
              <a:buNone/>
            </a:pPr>
            <a:r>
              <a:rPr lang="zh-CN" altLang="en-US" dirty="0">
                <a:solidFill>
                  <a:schemeClr val="tx1"/>
                </a:solidFill>
              </a:rPr>
              <a:t>   整个设计过程的基础，大厦之地基</a:t>
            </a:r>
            <a:endParaRPr lang="zh-CN" altLang="en-US" dirty="0">
              <a:solidFill>
                <a:schemeClr val="tx1"/>
              </a:solidFill>
            </a:endParaRPr>
          </a:p>
          <a:p>
            <a:pPr marL="342900" lvl="0" indent="-342900" eaLnBrk="1" hangingPunct="1">
              <a:lnSpc>
                <a:spcPct val="120000"/>
              </a:lnSpc>
            </a:pPr>
            <a:r>
              <a:rPr lang="zh-CN" altLang="en-US" dirty="0">
                <a:solidFill>
                  <a:schemeClr val="tx1"/>
                </a:solidFill>
              </a:rPr>
              <a:t>概念设计阶段</a:t>
            </a:r>
            <a:endParaRPr lang="zh-CN" altLang="en-US" dirty="0">
              <a:solidFill>
                <a:schemeClr val="tx1"/>
              </a:solidFill>
            </a:endParaRPr>
          </a:p>
          <a:p>
            <a:pPr marL="342900" lvl="0" indent="-342900" eaLnBrk="1" hangingPunct="1">
              <a:lnSpc>
                <a:spcPct val="120000"/>
              </a:lnSpc>
              <a:buNone/>
            </a:pPr>
            <a:r>
              <a:rPr lang="zh-CN" altLang="en-US" dirty="0">
                <a:solidFill>
                  <a:schemeClr val="tx1"/>
                </a:solidFill>
              </a:rPr>
              <a:t> 	形成独立于机器特点，独立于各个</a:t>
            </a:r>
            <a:r>
              <a:rPr lang="en-US" altLang="zh-CN" dirty="0">
                <a:solidFill>
                  <a:schemeClr val="tx1"/>
                </a:solidFill>
              </a:rPr>
              <a:t>DBMS</a:t>
            </a:r>
            <a:r>
              <a:rPr lang="zh-CN" altLang="en-US" dirty="0">
                <a:solidFill>
                  <a:schemeClr val="tx1"/>
                </a:solidFill>
              </a:rPr>
              <a:t>产品的</a:t>
            </a:r>
            <a:r>
              <a:rPr lang="zh-CN" altLang="en-US" dirty="0">
                <a:solidFill>
                  <a:srgbClr val="0000CC"/>
                </a:solidFill>
              </a:rPr>
              <a:t>概念模式</a:t>
            </a:r>
            <a:r>
              <a:rPr lang="en-US" altLang="zh-CN" dirty="0">
                <a:solidFill>
                  <a:schemeClr val="tx1"/>
                </a:solidFill>
              </a:rPr>
              <a:t>(E-R</a:t>
            </a:r>
            <a:r>
              <a:rPr lang="zh-CN" altLang="en-US" dirty="0">
                <a:solidFill>
                  <a:schemeClr val="tx1"/>
                </a:solidFill>
              </a:rPr>
              <a:t>图</a:t>
            </a:r>
            <a:r>
              <a:rPr lang="en-US" altLang="zh-CN" dirty="0">
                <a:solidFill>
                  <a:schemeClr val="tx1"/>
                </a:solidFill>
              </a:rPr>
              <a:t>)</a:t>
            </a:r>
            <a:endParaRPr lang="en-US" altLang="zh-CN" dirty="0">
              <a:solidFill>
                <a:schemeClr val="tx1"/>
              </a:solidFill>
            </a:endParaRPr>
          </a:p>
          <a:p>
            <a:pPr marL="342900" lvl="0" indent="-342900" eaLnBrk="1" hangingPunct="1">
              <a:lnSpc>
                <a:spcPct val="120000"/>
              </a:lnSpc>
              <a:buNone/>
            </a:pPr>
            <a:endParaRPr lang="en-US" altLang="zh-CN" dirty="0">
              <a:solidFill>
                <a:schemeClr val="tx1"/>
              </a:solidFill>
            </a:endParaRPr>
          </a:p>
          <a:p>
            <a:pPr marL="342900" lvl="0" indent="-342900" eaLnBrk="1" hangingPunct="1">
              <a:lnSpc>
                <a:spcPct val="120000"/>
              </a:lnSpc>
              <a:buNone/>
            </a:pPr>
            <a:r>
              <a:rPr lang="zh-CN" altLang="en-US" dirty="0">
                <a:solidFill>
                  <a:schemeClr val="tx1"/>
                </a:solidFill>
              </a:rPr>
              <a:t>  上述两个阶段可独立于任何</a:t>
            </a:r>
            <a:r>
              <a:rPr lang="en-US" altLang="zh-CN" dirty="0">
                <a:solidFill>
                  <a:schemeClr val="tx1"/>
                </a:solidFill>
              </a:rPr>
              <a:t>DBMS</a:t>
            </a:r>
            <a:endParaRPr lang="en-US" altLang="zh-CN" dirty="0">
              <a:solidFill>
                <a:schemeClr val="tx1"/>
              </a:solidFill>
            </a:endParaRPr>
          </a:p>
          <a:p>
            <a:pPr marL="342900" lvl="0" indent="-342900" eaLnBrk="1" hangingPunct="1">
              <a:lnSpc>
                <a:spcPct val="120000"/>
              </a:lnSpc>
            </a:pPr>
            <a:endParaRPr lang="en-US" altLang="zh-CN" dirty="0">
              <a:solidFill>
                <a:schemeClr val="tx1"/>
              </a:solidFill>
            </a:endParaRPr>
          </a:p>
        </p:txBody>
      </p:sp>
      <p:sp>
        <p:nvSpPr>
          <p:cNvPr id="17412" name="Rectangle 3"/>
          <p:cNvSpPr/>
          <p:nvPr/>
        </p:nvSpPr>
        <p:spPr>
          <a:xfrm>
            <a:off x="939800" y="12700"/>
            <a:ext cx="7772400" cy="60960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eaLnBrk="1" hangingPunct="1">
              <a:spcBef>
                <a:spcPct val="0"/>
              </a:spcBef>
              <a:buClrTx/>
              <a:buFontTx/>
              <a:buNone/>
            </a:pPr>
            <a:r>
              <a:rPr lang="en-US" altLang="zh-CN" sz="4400" dirty="0">
                <a:solidFill>
                  <a:schemeClr val="accent2"/>
                </a:solidFill>
                <a:ea typeface="经典细隶书简" pitchFamily="49" charset="-122"/>
              </a:rPr>
              <a:t>7.1.4  </a:t>
            </a:r>
            <a:r>
              <a:rPr lang="zh-CN" altLang="en-US" sz="4400" dirty="0">
                <a:solidFill>
                  <a:schemeClr val="accent2"/>
                </a:solidFill>
                <a:ea typeface="经典细隶书简" pitchFamily="49" charset="-122"/>
              </a:rPr>
              <a:t>数据库设计的步骤</a:t>
            </a:r>
            <a:endParaRPr lang="zh-CN" altLang="en-US" sz="4400" dirty="0">
              <a:solidFill>
                <a:schemeClr val="accent2"/>
              </a:solidFill>
              <a:ea typeface="经典细隶书简" pitchFamily="49"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页脚占位符 2"/>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8435" name="Rectangle 2"/>
          <p:cNvSpPr/>
          <p:nvPr/>
        </p:nvSpPr>
        <p:spPr>
          <a:xfrm>
            <a:off x="457200" y="812800"/>
            <a:ext cx="8382000" cy="54102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342900" lvl="0" indent="-342900" eaLnBrk="1" hangingPunct="1">
              <a:lnSpc>
                <a:spcPct val="120000"/>
              </a:lnSpc>
            </a:pPr>
            <a:r>
              <a:rPr lang="zh-CN" altLang="en-US" dirty="0">
                <a:solidFill>
                  <a:schemeClr val="tx1"/>
                </a:solidFill>
              </a:rPr>
              <a:t>逻辑设计阶段</a:t>
            </a:r>
            <a:endParaRPr lang="zh-CN" altLang="en-US" dirty="0">
              <a:solidFill>
                <a:schemeClr val="tx1"/>
              </a:solidFill>
            </a:endParaRPr>
          </a:p>
          <a:p>
            <a:pPr marL="742950" lvl="1" indent="-285750" eaLnBrk="1" hangingPunct="1">
              <a:lnSpc>
                <a:spcPct val="120000"/>
              </a:lnSpc>
              <a:buClr>
                <a:srgbClr val="FF3300"/>
              </a:buClr>
            </a:pPr>
            <a:r>
              <a:rPr lang="zh-CN" altLang="en-US" sz="3200" dirty="0"/>
              <a:t>首先将</a:t>
            </a:r>
            <a:r>
              <a:rPr lang="en-US" altLang="zh-CN" sz="3200" dirty="0"/>
              <a:t>E-R</a:t>
            </a:r>
            <a:r>
              <a:rPr lang="zh-CN" altLang="en-US" sz="3200" dirty="0"/>
              <a:t>图转换成具体的数据库产品支持的数据模型，如关系模型，形成数据库逻辑</a:t>
            </a:r>
            <a:r>
              <a:rPr lang="zh-CN" altLang="en-US" sz="3200" dirty="0">
                <a:solidFill>
                  <a:srgbClr val="0000CC"/>
                </a:solidFill>
              </a:rPr>
              <a:t>模式</a:t>
            </a:r>
            <a:endParaRPr lang="zh-CN" altLang="en-US" sz="3200" dirty="0">
              <a:solidFill>
                <a:srgbClr val="0000CC"/>
              </a:solidFill>
            </a:endParaRPr>
          </a:p>
          <a:p>
            <a:pPr marL="742950" lvl="1" indent="-285750" eaLnBrk="1" hangingPunct="1">
              <a:lnSpc>
                <a:spcPct val="120000"/>
              </a:lnSpc>
              <a:buClr>
                <a:srgbClr val="FF3300"/>
              </a:buClr>
            </a:pPr>
            <a:r>
              <a:rPr lang="zh-CN" altLang="en-US" sz="3200" dirty="0"/>
              <a:t>然后根据用户处理的要求、安全性的考虑，在基本表的基础上再建立必要的视图</a:t>
            </a:r>
            <a:r>
              <a:rPr lang="en-US" altLang="zh-CN" sz="3200" dirty="0"/>
              <a:t>(View)</a:t>
            </a:r>
            <a:r>
              <a:rPr lang="zh-CN" altLang="en-US" sz="3200" dirty="0"/>
              <a:t>，形成数据的</a:t>
            </a:r>
            <a:r>
              <a:rPr lang="zh-CN" altLang="en-US" sz="3200" dirty="0">
                <a:solidFill>
                  <a:srgbClr val="0000CC"/>
                </a:solidFill>
              </a:rPr>
              <a:t>外模式</a:t>
            </a:r>
            <a:endParaRPr lang="zh-CN" altLang="en-US" sz="3200" dirty="0">
              <a:solidFill>
                <a:srgbClr val="0000CC"/>
              </a:solidFill>
            </a:endParaRPr>
          </a:p>
        </p:txBody>
      </p:sp>
      <p:sp>
        <p:nvSpPr>
          <p:cNvPr id="18436" name="Rectangle 3"/>
          <p:cNvSpPr/>
          <p:nvPr/>
        </p:nvSpPr>
        <p:spPr>
          <a:xfrm>
            <a:off x="939800" y="12700"/>
            <a:ext cx="7772400" cy="60960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eaLnBrk="1" hangingPunct="1">
              <a:spcBef>
                <a:spcPct val="0"/>
              </a:spcBef>
              <a:buClrTx/>
              <a:buFontTx/>
              <a:buNone/>
            </a:pPr>
            <a:r>
              <a:rPr lang="en-US" altLang="zh-CN" sz="4400" dirty="0">
                <a:solidFill>
                  <a:schemeClr val="accent2"/>
                </a:solidFill>
                <a:ea typeface="经典细隶书简" pitchFamily="49" charset="-122"/>
              </a:rPr>
              <a:t>7.1.4  </a:t>
            </a:r>
            <a:r>
              <a:rPr lang="zh-CN" altLang="en-US" sz="4400" dirty="0">
                <a:solidFill>
                  <a:schemeClr val="accent2"/>
                </a:solidFill>
                <a:ea typeface="经典细隶书简" pitchFamily="49" charset="-122"/>
              </a:rPr>
              <a:t>数据库设计的步骤</a:t>
            </a:r>
            <a:endParaRPr lang="zh-CN" altLang="en-US" sz="4400" dirty="0">
              <a:solidFill>
                <a:schemeClr val="accent2"/>
              </a:solidFill>
              <a:ea typeface="经典细隶书简" pitchFamily="49"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页脚占位符 2"/>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9459" name="Rectangle 2"/>
          <p:cNvSpPr/>
          <p:nvPr/>
        </p:nvSpPr>
        <p:spPr>
          <a:xfrm>
            <a:off x="457200" y="812800"/>
            <a:ext cx="8382000" cy="54102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342900" lvl="0" indent="-342900" eaLnBrk="1" hangingPunct="1">
              <a:lnSpc>
                <a:spcPct val="120000"/>
              </a:lnSpc>
            </a:pPr>
            <a:r>
              <a:rPr lang="zh-CN" altLang="en-US" dirty="0">
                <a:solidFill>
                  <a:schemeClr val="tx1"/>
                </a:solidFill>
              </a:rPr>
              <a:t>物理设计阶段</a:t>
            </a:r>
            <a:endParaRPr lang="zh-CN" altLang="en-US" dirty="0">
              <a:solidFill>
                <a:schemeClr val="tx1"/>
              </a:solidFill>
            </a:endParaRPr>
          </a:p>
          <a:p>
            <a:pPr marL="342900" lvl="0" indent="-342900" eaLnBrk="1" hangingPunct="1">
              <a:lnSpc>
                <a:spcPct val="120000"/>
              </a:lnSpc>
              <a:buNone/>
            </a:pPr>
            <a:r>
              <a:rPr lang="zh-CN" altLang="en-US" dirty="0">
                <a:solidFill>
                  <a:schemeClr val="tx1"/>
                </a:solidFill>
              </a:rPr>
              <a:t>	根据</a:t>
            </a:r>
            <a:r>
              <a:rPr lang="en-US" altLang="zh-CN" dirty="0">
                <a:solidFill>
                  <a:schemeClr val="tx1"/>
                </a:solidFill>
              </a:rPr>
              <a:t>DBMS</a:t>
            </a:r>
            <a:r>
              <a:rPr lang="zh-CN" altLang="en-US" dirty="0">
                <a:solidFill>
                  <a:schemeClr val="tx1"/>
                </a:solidFill>
              </a:rPr>
              <a:t>特点和处理的需要，进行物理存储安排，建立索引，形成数据库</a:t>
            </a:r>
            <a:r>
              <a:rPr lang="zh-CN" altLang="en-US" dirty="0">
                <a:solidFill>
                  <a:srgbClr val="0000CC"/>
                </a:solidFill>
              </a:rPr>
              <a:t>内模式</a:t>
            </a:r>
            <a:endParaRPr lang="en-US" altLang="zh-CN" dirty="0">
              <a:solidFill>
                <a:srgbClr val="0000CC"/>
              </a:solidFill>
            </a:endParaRPr>
          </a:p>
          <a:p>
            <a:pPr marL="342900" lvl="0" indent="-342900" eaLnBrk="1" hangingPunct="1">
              <a:lnSpc>
                <a:spcPct val="120000"/>
              </a:lnSpc>
              <a:buNone/>
            </a:pPr>
            <a:r>
              <a:rPr lang="en-US" altLang="zh-CN" dirty="0">
                <a:solidFill>
                  <a:srgbClr val="0000CC"/>
                </a:solidFill>
              </a:rPr>
              <a:t>    </a:t>
            </a:r>
            <a:r>
              <a:rPr lang="zh-CN" altLang="en-US" dirty="0">
                <a:solidFill>
                  <a:srgbClr val="0000CC"/>
                </a:solidFill>
              </a:rPr>
              <a:t>三级模式两层映像（</a:t>
            </a:r>
            <a:r>
              <a:rPr lang="en-US" altLang="zh-CN" dirty="0">
                <a:solidFill>
                  <a:srgbClr val="0000CC"/>
                </a:solidFill>
              </a:rPr>
              <a:t>P24-26</a:t>
            </a:r>
            <a:r>
              <a:rPr lang="zh-CN" altLang="en-US" dirty="0">
                <a:solidFill>
                  <a:srgbClr val="0000CC"/>
                </a:solidFill>
              </a:rPr>
              <a:t>、</a:t>
            </a:r>
            <a:r>
              <a:rPr lang="en-US" altLang="zh-CN" dirty="0">
                <a:solidFill>
                  <a:srgbClr val="0000CC"/>
                </a:solidFill>
              </a:rPr>
              <a:t>P207</a:t>
            </a:r>
            <a:r>
              <a:rPr lang="zh-CN" altLang="en-US" dirty="0">
                <a:solidFill>
                  <a:srgbClr val="0000CC"/>
                </a:solidFill>
              </a:rPr>
              <a:t>）</a:t>
            </a:r>
            <a:endParaRPr lang="zh-CN" altLang="en-US" dirty="0">
              <a:solidFill>
                <a:srgbClr val="0000CC"/>
              </a:solidFill>
            </a:endParaRPr>
          </a:p>
        </p:txBody>
      </p:sp>
      <p:sp>
        <p:nvSpPr>
          <p:cNvPr id="19460" name="Rectangle 3"/>
          <p:cNvSpPr/>
          <p:nvPr/>
        </p:nvSpPr>
        <p:spPr>
          <a:xfrm>
            <a:off x="939800" y="12700"/>
            <a:ext cx="7772400" cy="60960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eaLnBrk="1" hangingPunct="1">
              <a:spcBef>
                <a:spcPct val="0"/>
              </a:spcBef>
              <a:buClrTx/>
              <a:buFontTx/>
              <a:buNone/>
            </a:pPr>
            <a:r>
              <a:rPr lang="en-US" altLang="zh-CN" sz="4400" dirty="0">
                <a:solidFill>
                  <a:schemeClr val="accent2"/>
                </a:solidFill>
                <a:ea typeface="经典细隶书简" pitchFamily="49" charset="-122"/>
              </a:rPr>
              <a:t>7.1.4  </a:t>
            </a:r>
            <a:r>
              <a:rPr lang="zh-CN" altLang="en-US" sz="4400" dirty="0">
                <a:solidFill>
                  <a:schemeClr val="accent2"/>
                </a:solidFill>
                <a:ea typeface="经典细隶书简" pitchFamily="49" charset="-122"/>
              </a:rPr>
              <a:t>数据库设计的步骤</a:t>
            </a:r>
            <a:endParaRPr lang="zh-CN" altLang="en-US" sz="4400" dirty="0">
              <a:solidFill>
                <a:schemeClr val="accent2"/>
              </a:solidFill>
              <a:ea typeface="经典细隶书简" pitchFamily="49"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页脚占位符 2"/>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20483" name="Rectangle 2"/>
          <p:cNvSpPr/>
          <p:nvPr/>
        </p:nvSpPr>
        <p:spPr>
          <a:xfrm>
            <a:off x="939800" y="12700"/>
            <a:ext cx="7772400" cy="60960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eaLnBrk="1" hangingPunct="1">
              <a:spcBef>
                <a:spcPct val="0"/>
              </a:spcBef>
              <a:buClrTx/>
              <a:buFontTx/>
              <a:buNone/>
            </a:pPr>
            <a:r>
              <a:rPr lang="en-US" altLang="zh-CN" sz="4400" dirty="0">
                <a:solidFill>
                  <a:schemeClr val="accent2"/>
                </a:solidFill>
                <a:ea typeface="经典细隶书简" pitchFamily="49" charset="-122"/>
              </a:rPr>
              <a:t>7.1.4  </a:t>
            </a:r>
            <a:r>
              <a:rPr lang="zh-CN" altLang="en-US" sz="4400" dirty="0">
                <a:solidFill>
                  <a:schemeClr val="accent2"/>
                </a:solidFill>
                <a:ea typeface="经典细隶书简" pitchFamily="49" charset="-122"/>
              </a:rPr>
              <a:t>数据库设计的步骤</a:t>
            </a:r>
            <a:endParaRPr lang="zh-CN" altLang="en-US" sz="4400" dirty="0">
              <a:solidFill>
                <a:schemeClr val="accent2"/>
              </a:solidFill>
              <a:ea typeface="经典细隶书简" pitchFamily="49" charset="-122"/>
            </a:endParaRPr>
          </a:p>
        </p:txBody>
      </p:sp>
      <p:grpSp>
        <p:nvGrpSpPr>
          <p:cNvPr id="20484" name="Group 3"/>
          <p:cNvGrpSpPr/>
          <p:nvPr/>
        </p:nvGrpSpPr>
        <p:grpSpPr>
          <a:xfrm>
            <a:off x="533400" y="838200"/>
            <a:ext cx="8077200" cy="5791200"/>
            <a:chOff x="-3" y="-3"/>
            <a:chExt cx="2802" cy="3858"/>
          </a:xfrm>
        </p:grpSpPr>
        <p:grpSp>
          <p:nvGrpSpPr>
            <p:cNvPr id="20485" name="Group 4"/>
            <p:cNvGrpSpPr/>
            <p:nvPr/>
          </p:nvGrpSpPr>
          <p:grpSpPr>
            <a:xfrm>
              <a:off x="0" y="0"/>
              <a:ext cx="2796" cy="3852"/>
              <a:chOff x="0" y="0"/>
              <a:chExt cx="2796" cy="3852"/>
            </a:xfrm>
          </p:grpSpPr>
          <p:grpSp>
            <p:nvGrpSpPr>
              <p:cNvPr id="20487" name="Group 5"/>
              <p:cNvGrpSpPr/>
              <p:nvPr/>
            </p:nvGrpSpPr>
            <p:grpSpPr>
              <a:xfrm>
                <a:off x="0" y="0"/>
                <a:ext cx="466" cy="748"/>
                <a:chOff x="0" y="0"/>
                <a:chExt cx="466" cy="748"/>
              </a:xfrm>
            </p:grpSpPr>
            <p:sp>
              <p:nvSpPr>
                <p:cNvPr id="20551" name="Rectangle 6"/>
                <p:cNvSpPr/>
                <p:nvPr/>
              </p:nvSpPr>
              <p:spPr>
                <a:xfrm>
                  <a:off x="43" y="0"/>
                  <a:ext cx="380" cy="748"/>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eaLnBrk="1" hangingPunct="1">
                    <a:spcBef>
                      <a:spcPct val="0"/>
                    </a:spcBef>
                    <a:buClrTx/>
                    <a:buFontTx/>
                    <a:buNone/>
                  </a:pPr>
                  <a:endParaRPr lang="en-US" altLang="zh-CN" sz="1600" dirty="0">
                    <a:solidFill>
                      <a:srgbClr val="000000"/>
                    </a:solidFill>
                    <a:latin typeface="宋体" panose="02010600030101010101" pitchFamily="2" charset="-122"/>
                  </a:endParaRPr>
                </a:p>
                <a:p>
                  <a:pPr marL="0" lvl="0" indent="0" eaLnBrk="1" hangingPunct="1">
                    <a:spcBef>
                      <a:spcPct val="0"/>
                    </a:spcBef>
                    <a:buClrTx/>
                    <a:buFontTx/>
                    <a:buNone/>
                  </a:pPr>
                  <a:r>
                    <a:rPr lang="zh-CN" altLang="en-US" sz="1600" dirty="0">
                      <a:solidFill>
                        <a:schemeClr val="accent2"/>
                      </a:solidFill>
                      <a:latin typeface="楷体_GB2312" pitchFamily="49" charset="-122"/>
                      <a:ea typeface="楷体_GB2312" pitchFamily="49" charset="-122"/>
                    </a:rPr>
                    <a:t>设计阶段</a:t>
                  </a:r>
                  <a:endParaRPr lang="zh-CN" altLang="en-US" sz="1600" dirty="0">
                    <a:solidFill>
                      <a:schemeClr val="accent2"/>
                    </a:solidFill>
                    <a:latin typeface="楷体_GB2312" pitchFamily="49" charset="-122"/>
                    <a:ea typeface="楷体_GB2312" pitchFamily="49" charset="-122"/>
                  </a:endParaRPr>
                </a:p>
              </p:txBody>
            </p:sp>
            <p:sp>
              <p:nvSpPr>
                <p:cNvPr id="20552" name="Rectangle 7"/>
                <p:cNvSpPr/>
                <p:nvPr/>
              </p:nvSpPr>
              <p:spPr>
                <a:xfrm>
                  <a:off x="0" y="0"/>
                  <a:ext cx="466" cy="748"/>
                </a:xfrm>
                <a:prstGeom prst="rect">
                  <a:avLst/>
                </a:prstGeom>
                <a:noFill/>
                <a:ln w="7" cap="flat" cmpd="sng">
                  <a:solidFill>
                    <a:srgbClr val="A0A0A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a:spcBef>
                      <a:spcPct val="0"/>
                    </a:spcBef>
                    <a:buClrTx/>
                    <a:buFontTx/>
                    <a:buNone/>
                  </a:pPr>
                  <a:endParaRPr lang="en-US" altLang="zh-CN" sz="1600" b="0" dirty="0">
                    <a:solidFill>
                      <a:schemeClr val="tx1"/>
                    </a:solidFill>
                  </a:endParaRPr>
                </a:p>
              </p:txBody>
            </p:sp>
          </p:grpSp>
          <p:grpSp>
            <p:nvGrpSpPr>
              <p:cNvPr id="20488" name="Group 8"/>
              <p:cNvGrpSpPr/>
              <p:nvPr/>
            </p:nvGrpSpPr>
            <p:grpSpPr>
              <a:xfrm>
                <a:off x="466" y="0"/>
                <a:ext cx="2330" cy="374"/>
                <a:chOff x="466" y="0"/>
                <a:chExt cx="2330" cy="374"/>
              </a:xfrm>
            </p:grpSpPr>
            <p:sp>
              <p:nvSpPr>
                <p:cNvPr id="20549" name="Rectangle 9"/>
                <p:cNvSpPr/>
                <p:nvPr/>
              </p:nvSpPr>
              <p:spPr>
                <a:xfrm>
                  <a:off x="509" y="0"/>
                  <a:ext cx="2244" cy="374"/>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eaLnBrk="1" hangingPunct="1">
                    <a:spcBef>
                      <a:spcPct val="0"/>
                    </a:spcBef>
                    <a:buClrTx/>
                    <a:buFontTx/>
                    <a:buNone/>
                  </a:pPr>
                  <a:r>
                    <a:rPr lang="zh-CN" altLang="en-US" sz="1600" dirty="0">
                      <a:solidFill>
                        <a:srgbClr val="000000"/>
                      </a:solidFill>
                      <a:latin typeface="宋体" panose="02010600030101010101" pitchFamily="2" charset="-122"/>
                    </a:rPr>
                    <a:t>设 计 描 述</a:t>
                  </a:r>
                  <a:endParaRPr lang="zh-CN" altLang="en-US" sz="1600" dirty="0">
                    <a:solidFill>
                      <a:srgbClr val="000000"/>
                    </a:solidFill>
                    <a:latin typeface="宋体" panose="02010600030101010101" pitchFamily="2" charset="-122"/>
                    <a:cs typeface="Times New Roman" panose="02020603050405020304" pitchFamily="18" charset="0"/>
                  </a:endParaRPr>
                </a:p>
                <a:p>
                  <a:pPr marL="0" lvl="0" indent="0">
                    <a:spcBef>
                      <a:spcPct val="0"/>
                    </a:spcBef>
                    <a:buClrTx/>
                    <a:buFontTx/>
                    <a:buNone/>
                  </a:pPr>
                  <a:endParaRPr lang="zh-CN" altLang="en-US" sz="1600" dirty="0">
                    <a:solidFill>
                      <a:schemeClr val="tx1"/>
                    </a:solidFill>
                  </a:endParaRPr>
                </a:p>
              </p:txBody>
            </p:sp>
            <p:sp>
              <p:nvSpPr>
                <p:cNvPr id="20550" name="Rectangle 10"/>
                <p:cNvSpPr/>
                <p:nvPr/>
              </p:nvSpPr>
              <p:spPr>
                <a:xfrm>
                  <a:off x="466" y="0"/>
                  <a:ext cx="2330" cy="374"/>
                </a:xfrm>
                <a:prstGeom prst="rect">
                  <a:avLst/>
                </a:prstGeom>
                <a:noFill/>
                <a:ln w="7" cap="flat" cmpd="sng">
                  <a:solidFill>
                    <a:srgbClr val="A0A0A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a:spcBef>
                      <a:spcPct val="0"/>
                    </a:spcBef>
                    <a:buClrTx/>
                    <a:buFontTx/>
                    <a:buNone/>
                  </a:pPr>
                  <a:endParaRPr lang="en-US" altLang="zh-CN" sz="1600" b="0" dirty="0">
                    <a:solidFill>
                      <a:schemeClr val="tx1"/>
                    </a:solidFill>
                  </a:endParaRPr>
                </a:p>
              </p:txBody>
            </p:sp>
          </p:grpSp>
          <p:grpSp>
            <p:nvGrpSpPr>
              <p:cNvPr id="20489" name="Group 11"/>
              <p:cNvGrpSpPr/>
              <p:nvPr/>
            </p:nvGrpSpPr>
            <p:grpSpPr>
              <a:xfrm>
                <a:off x="466" y="374"/>
                <a:ext cx="1115" cy="374"/>
                <a:chOff x="466" y="374"/>
                <a:chExt cx="1115" cy="374"/>
              </a:xfrm>
            </p:grpSpPr>
            <p:sp>
              <p:nvSpPr>
                <p:cNvPr id="20547" name="Rectangle 12"/>
                <p:cNvSpPr/>
                <p:nvPr/>
              </p:nvSpPr>
              <p:spPr>
                <a:xfrm>
                  <a:off x="509" y="374"/>
                  <a:ext cx="1029" cy="374"/>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eaLnBrk="1" hangingPunct="1">
                    <a:spcBef>
                      <a:spcPct val="0"/>
                    </a:spcBef>
                    <a:buClrTx/>
                    <a:buFontTx/>
                    <a:buNone/>
                  </a:pPr>
                  <a:r>
                    <a:rPr lang="zh-CN" altLang="en-US" sz="1600" dirty="0">
                      <a:solidFill>
                        <a:srgbClr val="000000"/>
                      </a:solidFill>
                      <a:latin typeface="宋体" panose="02010600030101010101" pitchFamily="2" charset="-122"/>
                    </a:rPr>
                    <a:t>数据</a:t>
                  </a:r>
                  <a:endParaRPr lang="zh-CN" altLang="en-US" sz="1600" dirty="0">
                    <a:solidFill>
                      <a:srgbClr val="000000"/>
                    </a:solidFill>
                    <a:latin typeface="宋体" panose="02010600030101010101" pitchFamily="2" charset="-122"/>
                    <a:cs typeface="Times New Roman" panose="02020603050405020304" pitchFamily="18" charset="0"/>
                  </a:endParaRPr>
                </a:p>
                <a:p>
                  <a:pPr marL="0" lvl="0" indent="0">
                    <a:spcBef>
                      <a:spcPct val="0"/>
                    </a:spcBef>
                    <a:buClrTx/>
                    <a:buFontTx/>
                    <a:buNone/>
                  </a:pPr>
                  <a:endParaRPr lang="zh-CN" altLang="en-US" sz="1600" dirty="0">
                    <a:solidFill>
                      <a:schemeClr val="tx1"/>
                    </a:solidFill>
                  </a:endParaRPr>
                </a:p>
              </p:txBody>
            </p:sp>
            <p:sp>
              <p:nvSpPr>
                <p:cNvPr id="20548" name="Rectangle 13"/>
                <p:cNvSpPr/>
                <p:nvPr/>
              </p:nvSpPr>
              <p:spPr>
                <a:xfrm>
                  <a:off x="466" y="374"/>
                  <a:ext cx="1115" cy="374"/>
                </a:xfrm>
                <a:prstGeom prst="rect">
                  <a:avLst/>
                </a:prstGeom>
                <a:noFill/>
                <a:ln w="7" cap="flat" cmpd="sng">
                  <a:solidFill>
                    <a:srgbClr val="A0A0A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a:spcBef>
                      <a:spcPct val="0"/>
                    </a:spcBef>
                    <a:buClrTx/>
                    <a:buFontTx/>
                    <a:buNone/>
                  </a:pPr>
                  <a:endParaRPr lang="en-US" altLang="zh-CN" sz="1600" b="0" dirty="0">
                    <a:solidFill>
                      <a:schemeClr val="tx1"/>
                    </a:solidFill>
                  </a:endParaRPr>
                </a:p>
              </p:txBody>
            </p:sp>
          </p:grpSp>
          <p:grpSp>
            <p:nvGrpSpPr>
              <p:cNvPr id="20490" name="Group 14"/>
              <p:cNvGrpSpPr/>
              <p:nvPr/>
            </p:nvGrpSpPr>
            <p:grpSpPr>
              <a:xfrm>
                <a:off x="1581" y="374"/>
                <a:ext cx="1215" cy="374"/>
                <a:chOff x="1581" y="374"/>
                <a:chExt cx="1215" cy="374"/>
              </a:xfrm>
            </p:grpSpPr>
            <p:sp>
              <p:nvSpPr>
                <p:cNvPr id="20545" name="Rectangle 15"/>
                <p:cNvSpPr/>
                <p:nvPr/>
              </p:nvSpPr>
              <p:spPr>
                <a:xfrm>
                  <a:off x="1624" y="374"/>
                  <a:ext cx="1129" cy="374"/>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eaLnBrk="1" hangingPunct="1">
                    <a:spcBef>
                      <a:spcPct val="0"/>
                    </a:spcBef>
                    <a:buClrTx/>
                    <a:buFontTx/>
                    <a:buNone/>
                  </a:pPr>
                  <a:r>
                    <a:rPr lang="zh-CN" altLang="en-US" sz="1600" dirty="0">
                      <a:solidFill>
                        <a:srgbClr val="000000"/>
                      </a:solidFill>
                      <a:latin typeface="宋体" panose="02010600030101010101" pitchFamily="2" charset="-122"/>
                    </a:rPr>
                    <a:t>处理</a:t>
                  </a:r>
                  <a:endParaRPr lang="zh-CN" altLang="en-US" sz="1600" dirty="0">
                    <a:solidFill>
                      <a:srgbClr val="000000"/>
                    </a:solidFill>
                    <a:latin typeface="宋体" panose="02010600030101010101" pitchFamily="2" charset="-122"/>
                    <a:cs typeface="Times New Roman" panose="02020603050405020304" pitchFamily="18" charset="0"/>
                  </a:endParaRPr>
                </a:p>
                <a:p>
                  <a:pPr marL="0" lvl="0" indent="0">
                    <a:spcBef>
                      <a:spcPct val="0"/>
                    </a:spcBef>
                    <a:buClrTx/>
                    <a:buFontTx/>
                    <a:buNone/>
                  </a:pPr>
                  <a:endParaRPr lang="zh-CN" altLang="en-US" sz="1600" dirty="0">
                    <a:solidFill>
                      <a:schemeClr val="tx1"/>
                    </a:solidFill>
                  </a:endParaRPr>
                </a:p>
              </p:txBody>
            </p:sp>
            <p:sp>
              <p:nvSpPr>
                <p:cNvPr id="20546" name="Rectangle 16"/>
                <p:cNvSpPr/>
                <p:nvPr/>
              </p:nvSpPr>
              <p:spPr>
                <a:xfrm>
                  <a:off x="1581" y="374"/>
                  <a:ext cx="1215" cy="374"/>
                </a:xfrm>
                <a:prstGeom prst="rect">
                  <a:avLst/>
                </a:prstGeom>
                <a:noFill/>
                <a:ln w="7" cap="flat" cmpd="sng">
                  <a:solidFill>
                    <a:srgbClr val="A0A0A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a:spcBef>
                      <a:spcPct val="0"/>
                    </a:spcBef>
                    <a:buClrTx/>
                    <a:buFontTx/>
                    <a:buNone/>
                  </a:pPr>
                  <a:endParaRPr lang="en-US" altLang="zh-CN" sz="1600" b="0" dirty="0">
                    <a:solidFill>
                      <a:schemeClr val="tx1"/>
                    </a:solidFill>
                  </a:endParaRPr>
                </a:p>
              </p:txBody>
            </p:sp>
          </p:grpSp>
          <p:grpSp>
            <p:nvGrpSpPr>
              <p:cNvPr id="20491" name="Group 17"/>
              <p:cNvGrpSpPr/>
              <p:nvPr/>
            </p:nvGrpSpPr>
            <p:grpSpPr>
              <a:xfrm>
                <a:off x="0" y="748"/>
                <a:ext cx="466" cy="460"/>
                <a:chOff x="0" y="748"/>
                <a:chExt cx="466" cy="460"/>
              </a:xfrm>
            </p:grpSpPr>
            <p:sp>
              <p:nvSpPr>
                <p:cNvPr id="20543" name="Rectangle 18"/>
                <p:cNvSpPr/>
                <p:nvPr/>
              </p:nvSpPr>
              <p:spPr>
                <a:xfrm>
                  <a:off x="43" y="748"/>
                  <a:ext cx="380" cy="46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eaLnBrk="1" hangingPunct="1">
                    <a:spcBef>
                      <a:spcPct val="0"/>
                    </a:spcBef>
                    <a:buClrTx/>
                    <a:buFontTx/>
                    <a:buNone/>
                  </a:pPr>
                  <a:r>
                    <a:rPr lang="zh-CN" altLang="en-US" sz="1600" dirty="0">
                      <a:solidFill>
                        <a:srgbClr val="000000"/>
                      </a:solidFill>
                      <a:latin typeface="宋体" panose="02010600030101010101" pitchFamily="2" charset="-122"/>
                      <a:ea typeface="楷体_GB2312" pitchFamily="49" charset="-122"/>
                    </a:rPr>
                    <a:t>需求分析</a:t>
                  </a:r>
                  <a:endParaRPr lang="zh-CN" altLang="en-US" sz="1600" dirty="0">
                    <a:solidFill>
                      <a:srgbClr val="000000"/>
                    </a:solidFill>
                    <a:latin typeface="宋体" panose="02010600030101010101" pitchFamily="2" charset="-122"/>
                    <a:ea typeface="楷体_GB2312" pitchFamily="49" charset="-122"/>
                  </a:endParaRPr>
                </a:p>
                <a:p>
                  <a:pPr marL="0" lvl="0" indent="0">
                    <a:spcBef>
                      <a:spcPct val="0"/>
                    </a:spcBef>
                    <a:buClrTx/>
                    <a:buFontTx/>
                    <a:buNone/>
                  </a:pPr>
                  <a:endParaRPr lang="zh-CN" altLang="en-US" sz="1600" dirty="0">
                    <a:solidFill>
                      <a:schemeClr val="tx1"/>
                    </a:solidFill>
                    <a:ea typeface="楷体_GB2312" pitchFamily="49" charset="-122"/>
                  </a:endParaRPr>
                </a:p>
              </p:txBody>
            </p:sp>
            <p:sp>
              <p:nvSpPr>
                <p:cNvPr id="20544" name="Rectangle 19"/>
                <p:cNvSpPr/>
                <p:nvPr/>
              </p:nvSpPr>
              <p:spPr>
                <a:xfrm>
                  <a:off x="0" y="748"/>
                  <a:ext cx="466" cy="460"/>
                </a:xfrm>
                <a:prstGeom prst="rect">
                  <a:avLst/>
                </a:prstGeom>
                <a:noFill/>
                <a:ln w="7" cap="flat" cmpd="sng">
                  <a:solidFill>
                    <a:srgbClr val="A0A0A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a:spcBef>
                      <a:spcPct val="0"/>
                    </a:spcBef>
                    <a:buClrTx/>
                    <a:buFontTx/>
                    <a:buNone/>
                  </a:pPr>
                  <a:endParaRPr lang="en-US" altLang="zh-CN" sz="1600" b="0" dirty="0">
                    <a:solidFill>
                      <a:schemeClr val="tx1"/>
                    </a:solidFill>
                  </a:endParaRPr>
                </a:p>
              </p:txBody>
            </p:sp>
          </p:grpSp>
          <p:grpSp>
            <p:nvGrpSpPr>
              <p:cNvPr id="20492" name="Group 20"/>
              <p:cNvGrpSpPr/>
              <p:nvPr/>
            </p:nvGrpSpPr>
            <p:grpSpPr>
              <a:xfrm>
                <a:off x="466" y="748"/>
                <a:ext cx="1115" cy="460"/>
                <a:chOff x="466" y="748"/>
                <a:chExt cx="1115" cy="460"/>
              </a:xfrm>
            </p:grpSpPr>
            <p:sp>
              <p:nvSpPr>
                <p:cNvPr id="20541" name="Rectangle 21"/>
                <p:cNvSpPr/>
                <p:nvPr/>
              </p:nvSpPr>
              <p:spPr>
                <a:xfrm>
                  <a:off x="509" y="748"/>
                  <a:ext cx="1029" cy="46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eaLnBrk="1" hangingPunct="1">
                    <a:spcBef>
                      <a:spcPct val="0"/>
                    </a:spcBef>
                    <a:buClrTx/>
                    <a:buFontTx/>
                    <a:buNone/>
                  </a:pPr>
                  <a:r>
                    <a:rPr lang="zh-CN" altLang="en-US" sz="1600" dirty="0">
                      <a:solidFill>
                        <a:srgbClr val="000000"/>
                      </a:solidFill>
                      <a:latin typeface="宋体" panose="02010600030101010101" pitchFamily="2" charset="-122"/>
                    </a:rPr>
                    <a:t>数据字典、全系统中数据项、</a:t>
                  </a:r>
                  <a:endParaRPr lang="zh-CN" altLang="en-US" sz="1600" dirty="0">
                    <a:solidFill>
                      <a:srgbClr val="000000"/>
                    </a:solidFill>
                    <a:latin typeface="宋体" panose="02010600030101010101" pitchFamily="2" charset="-122"/>
                    <a:cs typeface="Times New Roman" panose="02020603050405020304" pitchFamily="18" charset="0"/>
                  </a:endParaRPr>
                </a:p>
                <a:p>
                  <a:pPr marL="0" lvl="0" indent="0">
                    <a:spcBef>
                      <a:spcPct val="0"/>
                    </a:spcBef>
                    <a:buClrTx/>
                    <a:buFontTx/>
                    <a:buNone/>
                  </a:pPr>
                  <a:r>
                    <a:rPr lang="zh-CN" altLang="en-US" sz="1600" dirty="0">
                      <a:solidFill>
                        <a:srgbClr val="000000"/>
                      </a:solidFill>
                      <a:latin typeface="宋体" panose="02010600030101010101" pitchFamily="2" charset="-122"/>
                    </a:rPr>
                    <a:t>数据流、数据存储的描述</a:t>
                  </a:r>
                  <a:endParaRPr lang="zh-CN" altLang="en-US" sz="1600" dirty="0">
                    <a:solidFill>
                      <a:srgbClr val="000000"/>
                    </a:solidFill>
                    <a:latin typeface="宋体" panose="02010600030101010101" pitchFamily="2" charset="-122"/>
                    <a:cs typeface="Times New Roman" panose="02020603050405020304" pitchFamily="18" charset="0"/>
                  </a:endParaRPr>
                </a:p>
                <a:p>
                  <a:pPr marL="0" lvl="0" indent="0">
                    <a:spcBef>
                      <a:spcPct val="0"/>
                    </a:spcBef>
                    <a:buClrTx/>
                    <a:buFontTx/>
                    <a:buNone/>
                  </a:pPr>
                  <a:endParaRPr lang="zh-CN" altLang="en-US" sz="1600" dirty="0">
                    <a:solidFill>
                      <a:schemeClr val="tx1"/>
                    </a:solidFill>
                  </a:endParaRPr>
                </a:p>
              </p:txBody>
            </p:sp>
            <p:sp>
              <p:nvSpPr>
                <p:cNvPr id="20542" name="Rectangle 22"/>
                <p:cNvSpPr/>
                <p:nvPr/>
              </p:nvSpPr>
              <p:spPr>
                <a:xfrm>
                  <a:off x="466" y="748"/>
                  <a:ext cx="1115" cy="460"/>
                </a:xfrm>
                <a:prstGeom prst="rect">
                  <a:avLst/>
                </a:prstGeom>
                <a:noFill/>
                <a:ln w="7" cap="flat" cmpd="sng">
                  <a:solidFill>
                    <a:srgbClr val="A0A0A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a:spcBef>
                      <a:spcPct val="0"/>
                    </a:spcBef>
                    <a:buClrTx/>
                    <a:buFontTx/>
                    <a:buNone/>
                  </a:pPr>
                  <a:endParaRPr lang="en-US" altLang="zh-CN" sz="1600" b="0" dirty="0">
                    <a:solidFill>
                      <a:schemeClr val="tx1"/>
                    </a:solidFill>
                  </a:endParaRPr>
                </a:p>
              </p:txBody>
            </p:sp>
          </p:grpSp>
          <p:grpSp>
            <p:nvGrpSpPr>
              <p:cNvPr id="20493" name="Group 23"/>
              <p:cNvGrpSpPr/>
              <p:nvPr/>
            </p:nvGrpSpPr>
            <p:grpSpPr>
              <a:xfrm>
                <a:off x="1581" y="748"/>
                <a:ext cx="1215" cy="460"/>
                <a:chOff x="1581" y="748"/>
                <a:chExt cx="1215" cy="460"/>
              </a:xfrm>
            </p:grpSpPr>
            <p:sp>
              <p:nvSpPr>
                <p:cNvPr id="20539" name="Rectangle 24"/>
                <p:cNvSpPr/>
                <p:nvPr/>
              </p:nvSpPr>
              <p:spPr>
                <a:xfrm>
                  <a:off x="1624" y="748"/>
                  <a:ext cx="1129" cy="46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eaLnBrk="1" hangingPunct="1">
                    <a:spcBef>
                      <a:spcPct val="0"/>
                    </a:spcBef>
                    <a:buClrTx/>
                    <a:buFontTx/>
                    <a:buNone/>
                  </a:pPr>
                  <a:r>
                    <a:rPr lang="zh-CN" altLang="en-US" sz="1600" dirty="0">
                      <a:solidFill>
                        <a:srgbClr val="000000"/>
                      </a:solidFill>
                      <a:latin typeface="宋体" panose="02010600030101010101" pitchFamily="2" charset="-122"/>
                    </a:rPr>
                    <a:t>数据流图和定表（判定树）</a:t>
                  </a:r>
                  <a:endParaRPr lang="zh-CN" altLang="en-US" sz="1600" dirty="0">
                    <a:solidFill>
                      <a:srgbClr val="000000"/>
                    </a:solidFill>
                    <a:latin typeface="宋体" panose="02010600030101010101" pitchFamily="2" charset="-122"/>
                    <a:cs typeface="Times New Roman" panose="02020603050405020304" pitchFamily="18" charset="0"/>
                  </a:endParaRPr>
                </a:p>
                <a:p>
                  <a:pPr marL="0" lvl="0" indent="0">
                    <a:spcBef>
                      <a:spcPct val="0"/>
                    </a:spcBef>
                    <a:buClrTx/>
                    <a:buFontTx/>
                    <a:buNone/>
                  </a:pPr>
                  <a:r>
                    <a:rPr lang="zh-CN" altLang="en-US" sz="1600" dirty="0">
                      <a:solidFill>
                        <a:srgbClr val="000000"/>
                      </a:solidFill>
                      <a:latin typeface="宋体" panose="02010600030101010101" pitchFamily="2" charset="-122"/>
                    </a:rPr>
                    <a:t>数据字典中处理过程的描述</a:t>
                  </a:r>
                  <a:endParaRPr lang="zh-CN" altLang="en-US" sz="1600" dirty="0">
                    <a:solidFill>
                      <a:srgbClr val="000000"/>
                    </a:solidFill>
                    <a:latin typeface="宋体" panose="02010600030101010101" pitchFamily="2" charset="-122"/>
                    <a:cs typeface="Times New Roman" panose="02020603050405020304" pitchFamily="18" charset="0"/>
                  </a:endParaRPr>
                </a:p>
                <a:p>
                  <a:pPr marL="0" lvl="0" indent="0">
                    <a:spcBef>
                      <a:spcPct val="0"/>
                    </a:spcBef>
                    <a:buClrTx/>
                    <a:buFontTx/>
                    <a:buNone/>
                  </a:pPr>
                  <a:endParaRPr lang="zh-CN" altLang="en-US" sz="1600" dirty="0">
                    <a:solidFill>
                      <a:schemeClr val="tx1"/>
                    </a:solidFill>
                  </a:endParaRPr>
                </a:p>
              </p:txBody>
            </p:sp>
            <p:sp>
              <p:nvSpPr>
                <p:cNvPr id="20540" name="Rectangle 25"/>
                <p:cNvSpPr/>
                <p:nvPr/>
              </p:nvSpPr>
              <p:spPr>
                <a:xfrm>
                  <a:off x="1581" y="748"/>
                  <a:ext cx="1215" cy="460"/>
                </a:xfrm>
                <a:prstGeom prst="rect">
                  <a:avLst/>
                </a:prstGeom>
                <a:noFill/>
                <a:ln w="7" cap="flat" cmpd="sng">
                  <a:solidFill>
                    <a:srgbClr val="A0A0A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a:spcBef>
                      <a:spcPct val="0"/>
                    </a:spcBef>
                    <a:buClrTx/>
                    <a:buFontTx/>
                    <a:buNone/>
                  </a:pPr>
                  <a:endParaRPr lang="en-US" altLang="zh-CN" sz="1600" b="0" dirty="0">
                    <a:solidFill>
                      <a:schemeClr val="tx1"/>
                    </a:solidFill>
                  </a:endParaRPr>
                </a:p>
              </p:txBody>
            </p:sp>
          </p:grpSp>
          <p:grpSp>
            <p:nvGrpSpPr>
              <p:cNvPr id="20494" name="Group 26"/>
              <p:cNvGrpSpPr/>
              <p:nvPr/>
            </p:nvGrpSpPr>
            <p:grpSpPr>
              <a:xfrm>
                <a:off x="0" y="1208"/>
                <a:ext cx="466" cy="546"/>
                <a:chOff x="0" y="1208"/>
                <a:chExt cx="466" cy="546"/>
              </a:xfrm>
            </p:grpSpPr>
            <p:sp>
              <p:nvSpPr>
                <p:cNvPr id="20537" name="Rectangle 27"/>
                <p:cNvSpPr/>
                <p:nvPr/>
              </p:nvSpPr>
              <p:spPr>
                <a:xfrm>
                  <a:off x="43" y="1208"/>
                  <a:ext cx="380" cy="546"/>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eaLnBrk="1" hangingPunct="1">
                    <a:spcBef>
                      <a:spcPct val="0"/>
                    </a:spcBef>
                    <a:buClrTx/>
                    <a:buFontTx/>
                    <a:buNone/>
                  </a:pPr>
                  <a:r>
                    <a:rPr lang="zh-CN" altLang="en-US" sz="1600" dirty="0">
                      <a:solidFill>
                        <a:srgbClr val="000000"/>
                      </a:solidFill>
                      <a:latin typeface="楷体_GB2312" pitchFamily="49" charset="-122"/>
                      <a:ea typeface="楷体_GB2312" pitchFamily="49" charset="-122"/>
                    </a:rPr>
                    <a:t>概念结构设　　计</a:t>
                  </a:r>
                  <a:endParaRPr lang="zh-CN" altLang="en-US" sz="1600" dirty="0">
                    <a:solidFill>
                      <a:schemeClr val="tx1"/>
                    </a:solidFill>
                    <a:latin typeface="楷体_GB2312" pitchFamily="49" charset="-122"/>
                    <a:ea typeface="楷体_GB2312" pitchFamily="49" charset="-122"/>
                  </a:endParaRPr>
                </a:p>
              </p:txBody>
            </p:sp>
            <p:sp>
              <p:nvSpPr>
                <p:cNvPr id="20538" name="Rectangle 28"/>
                <p:cNvSpPr/>
                <p:nvPr/>
              </p:nvSpPr>
              <p:spPr>
                <a:xfrm>
                  <a:off x="0" y="1208"/>
                  <a:ext cx="466" cy="546"/>
                </a:xfrm>
                <a:prstGeom prst="rect">
                  <a:avLst/>
                </a:prstGeom>
                <a:noFill/>
                <a:ln w="7" cap="flat" cmpd="sng">
                  <a:solidFill>
                    <a:srgbClr val="A0A0A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a:spcBef>
                      <a:spcPct val="0"/>
                    </a:spcBef>
                    <a:buClrTx/>
                    <a:buFontTx/>
                    <a:buNone/>
                  </a:pPr>
                  <a:endParaRPr lang="en-US" altLang="zh-CN" sz="1600" b="0" dirty="0">
                    <a:solidFill>
                      <a:schemeClr val="tx1"/>
                    </a:solidFill>
                  </a:endParaRPr>
                </a:p>
              </p:txBody>
            </p:sp>
          </p:grpSp>
          <p:grpSp>
            <p:nvGrpSpPr>
              <p:cNvPr id="20495" name="Group 29"/>
              <p:cNvGrpSpPr/>
              <p:nvPr/>
            </p:nvGrpSpPr>
            <p:grpSpPr>
              <a:xfrm>
                <a:off x="466" y="1208"/>
                <a:ext cx="1115" cy="546"/>
                <a:chOff x="466" y="1208"/>
                <a:chExt cx="1115" cy="546"/>
              </a:xfrm>
            </p:grpSpPr>
            <p:sp>
              <p:nvSpPr>
                <p:cNvPr id="20535" name="Rectangle 30"/>
                <p:cNvSpPr/>
                <p:nvPr/>
              </p:nvSpPr>
              <p:spPr>
                <a:xfrm>
                  <a:off x="509" y="1208"/>
                  <a:ext cx="1029" cy="546"/>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eaLnBrk="1" hangingPunct="1">
                    <a:spcBef>
                      <a:spcPct val="0"/>
                    </a:spcBef>
                    <a:buClrTx/>
                    <a:buFontTx/>
                    <a:buNone/>
                  </a:pPr>
                  <a:r>
                    <a:rPr lang="zh-CN" altLang="en-US" sz="1600" dirty="0">
                      <a:solidFill>
                        <a:srgbClr val="000000"/>
                      </a:solidFill>
                      <a:latin typeface="宋体" panose="02010600030101010101" pitchFamily="2" charset="-122"/>
                    </a:rPr>
                    <a:t>概念模型（</a:t>
                  </a:r>
                  <a:r>
                    <a:rPr lang="en-US" altLang="zh-CN" sz="1600" dirty="0">
                      <a:solidFill>
                        <a:srgbClr val="000000"/>
                      </a:solidFill>
                      <a:latin typeface="宋体" panose="02010600030101010101" pitchFamily="2" charset="-122"/>
                    </a:rPr>
                    <a:t>E-R</a:t>
                  </a:r>
                  <a:r>
                    <a:rPr lang="zh-CN" altLang="en-US" sz="1600" dirty="0">
                      <a:solidFill>
                        <a:srgbClr val="000000"/>
                      </a:solidFill>
                      <a:latin typeface="宋体" panose="02010600030101010101" pitchFamily="2" charset="-122"/>
                    </a:rPr>
                    <a:t>图）</a:t>
                  </a:r>
                  <a:endParaRPr lang="zh-CN" altLang="en-US" sz="1600" dirty="0">
                    <a:solidFill>
                      <a:srgbClr val="000000"/>
                    </a:solidFill>
                    <a:latin typeface="宋体" panose="02010600030101010101" pitchFamily="2" charset="-122"/>
                    <a:cs typeface="Times New Roman" panose="02020603050405020304" pitchFamily="18" charset="0"/>
                  </a:endParaRPr>
                </a:p>
                <a:p>
                  <a:pPr marL="0" lvl="0" indent="0">
                    <a:spcBef>
                      <a:spcPct val="0"/>
                    </a:spcBef>
                    <a:buClrTx/>
                    <a:buFontTx/>
                    <a:buNone/>
                  </a:pPr>
                  <a:r>
                    <a:rPr lang="zh-CN" altLang="en-US" sz="1600" dirty="0">
                      <a:solidFill>
                        <a:srgbClr val="000000"/>
                      </a:solidFill>
                    </a:rPr>
                    <a:t> </a:t>
                  </a:r>
                  <a:endParaRPr lang="zh-CN" altLang="en-US" sz="1600" dirty="0">
                    <a:solidFill>
                      <a:srgbClr val="000000"/>
                    </a:solidFill>
                    <a:latin typeface="宋体" panose="02010600030101010101" pitchFamily="2" charset="-122"/>
                    <a:cs typeface="Times New Roman" panose="02020603050405020304" pitchFamily="18" charset="0"/>
                  </a:endParaRPr>
                </a:p>
                <a:p>
                  <a:pPr marL="0" lvl="0" indent="0">
                    <a:spcBef>
                      <a:spcPct val="0"/>
                    </a:spcBef>
                    <a:buClrTx/>
                    <a:buFontTx/>
                    <a:buNone/>
                  </a:pPr>
                  <a:r>
                    <a:rPr lang="zh-CN" altLang="en-US" sz="1600" dirty="0">
                      <a:solidFill>
                        <a:srgbClr val="000000"/>
                      </a:solidFill>
                      <a:latin typeface="宋体" panose="02010600030101010101" pitchFamily="2" charset="-122"/>
                    </a:rPr>
                    <a:t>数据字典</a:t>
                  </a:r>
                  <a:endParaRPr lang="zh-CN" altLang="en-US" sz="1600" dirty="0">
                    <a:solidFill>
                      <a:srgbClr val="000000"/>
                    </a:solidFill>
                    <a:latin typeface="宋体" panose="02010600030101010101" pitchFamily="2" charset="-122"/>
                    <a:cs typeface="Times New Roman" panose="02020603050405020304" pitchFamily="18" charset="0"/>
                  </a:endParaRPr>
                </a:p>
                <a:p>
                  <a:pPr marL="0" lvl="0" indent="0">
                    <a:spcBef>
                      <a:spcPct val="0"/>
                    </a:spcBef>
                    <a:buClrTx/>
                    <a:buFontTx/>
                    <a:buNone/>
                  </a:pPr>
                  <a:endParaRPr lang="zh-CN" altLang="en-US" sz="1600" dirty="0">
                    <a:solidFill>
                      <a:schemeClr val="tx1"/>
                    </a:solidFill>
                  </a:endParaRPr>
                </a:p>
              </p:txBody>
            </p:sp>
            <p:sp>
              <p:nvSpPr>
                <p:cNvPr id="20536" name="Rectangle 31"/>
                <p:cNvSpPr/>
                <p:nvPr/>
              </p:nvSpPr>
              <p:spPr>
                <a:xfrm>
                  <a:off x="466" y="1208"/>
                  <a:ext cx="1115" cy="546"/>
                </a:xfrm>
                <a:prstGeom prst="rect">
                  <a:avLst/>
                </a:prstGeom>
                <a:noFill/>
                <a:ln w="7" cap="flat" cmpd="sng">
                  <a:solidFill>
                    <a:srgbClr val="A0A0A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a:spcBef>
                      <a:spcPct val="0"/>
                    </a:spcBef>
                    <a:buClrTx/>
                    <a:buFontTx/>
                    <a:buNone/>
                  </a:pPr>
                  <a:endParaRPr lang="en-US" altLang="zh-CN" sz="1600" b="0" dirty="0">
                    <a:solidFill>
                      <a:schemeClr val="tx1"/>
                    </a:solidFill>
                  </a:endParaRPr>
                </a:p>
              </p:txBody>
            </p:sp>
          </p:grpSp>
          <p:grpSp>
            <p:nvGrpSpPr>
              <p:cNvPr id="20496" name="Group 32"/>
              <p:cNvGrpSpPr/>
              <p:nvPr/>
            </p:nvGrpSpPr>
            <p:grpSpPr>
              <a:xfrm>
                <a:off x="1581" y="1208"/>
                <a:ext cx="1215" cy="546"/>
                <a:chOff x="1581" y="1208"/>
                <a:chExt cx="1215" cy="546"/>
              </a:xfrm>
            </p:grpSpPr>
            <p:sp>
              <p:nvSpPr>
                <p:cNvPr id="20533" name="Rectangle 33"/>
                <p:cNvSpPr/>
                <p:nvPr/>
              </p:nvSpPr>
              <p:spPr>
                <a:xfrm>
                  <a:off x="1624" y="1208"/>
                  <a:ext cx="1129" cy="546"/>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228600" defTabSz="914400" eaLnBrk="1" hangingPunct="1">
                    <a:spcBef>
                      <a:spcPct val="0"/>
                    </a:spcBef>
                    <a:buClrTx/>
                    <a:buFontTx/>
                    <a:buNone/>
                    <a:tabLst>
                      <a:tab pos="228600" algn="l"/>
                    </a:tabLst>
                  </a:pPr>
                  <a:r>
                    <a:rPr lang="zh-CN" altLang="en-US" sz="1600" dirty="0">
                      <a:solidFill>
                        <a:srgbClr val="000000"/>
                      </a:solidFill>
                      <a:latin typeface="宋体" panose="02010600030101010101" pitchFamily="2" charset="-122"/>
                    </a:rPr>
                    <a:t>系统说明书。包括：</a:t>
                  </a:r>
                  <a:endParaRPr lang="zh-CN" altLang="en-US" sz="1600" dirty="0">
                    <a:solidFill>
                      <a:srgbClr val="000000"/>
                    </a:solidFill>
                    <a:latin typeface="宋体" panose="02010600030101010101" pitchFamily="2" charset="-122"/>
                    <a:cs typeface="Times New Roman" panose="02020603050405020304" pitchFamily="18" charset="0"/>
                  </a:endParaRPr>
                </a:p>
                <a:p>
                  <a:pPr marL="0" lvl="0" indent="-228600" defTabSz="914400">
                    <a:spcBef>
                      <a:spcPct val="0"/>
                    </a:spcBef>
                    <a:buClrTx/>
                    <a:buFontTx/>
                    <a:buNone/>
                    <a:tabLst>
                      <a:tab pos="228600" algn="l"/>
                    </a:tabLst>
                  </a:pPr>
                  <a:r>
                    <a:rPr lang="en-US" altLang="zh-CN" sz="1600" dirty="0">
                      <a:solidFill>
                        <a:srgbClr val="000000"/>
                      </a:solidFill>
                      <a:latin typeface="宋体" panose="02010600030101010101" pitchFamily="2" charset="-122"/>
                    </a:rPr>
                    <a:t>(1)</a:t>
                  </a:r>
                  <a:r>
                    <a:rPr lang="en-US" altLang="zh-CN" sz="1600" dirty="0">
                      <a:solidFill>
                        <a:srgbClr val="000000"/>
                      </a:solidFill>
                      <a:cs typeface="Times New Roman" panose="02020603050405020304" pitchFamily="18" charset="0"/>
                    </a:rPr>
                    <a:t>   </a:t>
                  </a:r>
                  <a:r>
                    <a:rPr lang="zh-CN" altLang="en-US" sz="1600" dirty="0">
                      <a:solidFill>
                        <a:srgbClr val="000000"/>
                      </a:solidFill>
                      <a:latin typeface="宋体" panose="02010600030101010101" pitchFamily="2" charset="-122"/>
                    </a:rPr>
                    <a:t>新系统要求、方案和概图</a:t>
                  </a:r>
                  <a:endParaRPr lang="zh-CN" altLang="en-US" sz="1600" dirty="0">
                    <a:solidFill>
                      <a:srgbClr val="000000"/>
                    </a:solidFill>
                    <a:latin typeface="宋体" panose="02010600030101010101" pitchFamily="2" charset="-122"/>
                    <a:cs typeface="Times New Roman" panose="02020603050405020304" pitchFamily="18" charset="0"/>
                  </a:endParaRPr>
                </a:p>
                <a:p>
                  <a:pPr marL="0" lvl="0" indent="-228600" defTabSz="914400">
                    <a:spcBef>
                      <a:spcPct val="0"/>
                    </a:spcBef>
                    <a:buClrTx/>
                    <a:buFontTx/>
                    <a:buNone/>
                    <a:tabLst>
                      <a:tab pos="228600" algn="l"/>
                    </a:tabLst>
                  </a:pPr>
                  <a:r>
                    <a:rPr lang="en-US" altLang="zh-CN" sz="1600" dirty="0">
                      <a:solidFill>
                        <a:srgbClr val="000000"/>
                      </a:solidFill>
                      <a:latin typeface="宋体" panose="02010600030101010101" pitchFamily="2" charset="-122"/>
                    </a:rPr>
                    <a:t>(2)</a:t>
                  </a:r>
                  <a:r>
                    <a:rPr lang="en-US" altLang="zh-CN" sz="1600" dirty="0">
                      <a:solidFill>
                        <a:srgbClr val="000000"/>
                      </a:solidFill>
                      <a:cs typeface="Times New Roman" panose="02020603050405020304" pitchFamily="18" charset="0"/>
                    </a:rPr>
                    <a:t>   </a:t>
                  </a:r>
                  <a:r>
                    <a:rPr lang="zh-CN" altLang="en-US" sz="1600" dirty="0">
                      <a:solidFill>
                        <a:srgbClr val="000000"/>
                      </a:solidFill>
                      <a:latin typeface="宋体" panose="02010600030101010101" pitchFamily="2" charset="-122"/>
                    </a:rPr>
                    <a:t>反映新系统信息的数据流图</a:t>
                  </a:r>
                  <a:endParaRPr lang="zh-CN" altLang="en-US" sz="1600" dirty="0">
                    <a:solidFill>
                      <a:srgbClr val="000000"/>
                    </a:solidFill>
                    <a:latin typeface="宋体" panose="02010600030101010101" pitchFamily="2" charset="-122"/>
                    <a:cs typeface="Times New Roman" panose="02020603050405020304" pitchFamily="18" charset="0"/>
                  </a:endParaRPr>
                </a:p>
                <a:p>
                  <a:pPr marL="0" lvl="0" indent="-228600" defTabSz="914400">
                    <a:spcBef>
                      <a:spcPct val="0"/>
                    </a:spcBef>
                    <a:buClrTx/>
                    <a:buFontTx/>
                    <a:buNone/>
                    <a:tabLst>
                      <a:tab pos="228600" algn="l"/>
                    </a:tabLst>
                  </a:pPr>
                  <a:endParaRPr lang="zh-CN" altLang="en-US" sz="1600" dirty="0">
                    <a:solidFill>
                      <a:schemeClr val="tx1"/>
                    </a:solidFill>
                  </a:endParaRPr>
                </a:p>
              </p:txBody>
            </p:sp>
            <p:sp>
              <p:nvSpPr>
                <p:cNvPr id="20534" name="Rectangle 34"/>
                <p:cNvSpPr/>
                <p:nvPr/>
              </p:nvSpPr>
              <p:spPr>
                <a:xfrm>
                  <a:off x="1581" y="1208"/>
                  <a:ext cx="1215" cy="546"/>
                </a:xfrm>
                <a:prstGeom prst="rect">
                  <a:avLst/>
                </a:prstGeom>
                <a:noFill/>
                <a:ln w="7" cap="flat" cmpd="sng">
                  <a:solidFill>
                    <a:srgbClr val="A0A0A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a:spcBef>
                      <a:spcPct val="0"/>
                    </a:spcBef>
                    <a:buClrTx/>
                    <a:buFontTx/>
                    <a:buNone/>
                  </a:pPr>
                  <a:endParaRPr lang="en-US" altLang="zh-CN" sz="1600" b="0" dirty="0">
                    <a:solidFill>
                      <a:schemeClr val="tx1"/>
                    </a:solidFill>
                  </a:endParaRPr>
                </a:p>
              </p:txBody>
            </p:sp>
          </p:grpSp>
          <p:grpSp>
            <p:nvGrpSpPr>
              <p:cNvPr id="20497" name="Group 35"/>
              <p:cNvGrpSpPr/>
              <p:nvPr/>
            </p:nvGrpSpPr>
            <p:grpSpPr>
              <a:xfrm>
                <a:off x="0" y="1754"/>
                <a:ext cx="466" cy="546"/>
                <a:chOff x="0" y="1754"/>
                <a:chExt cx="466" cy="546"/>
              </a:xfrm>
            </p:grpSpPr>
            <p:sp>
              <p:nvSpPr>
                <p:cNvPr id="20531" name="Rectangle 36"/>
                <p:cNvSpPr/>
                <p:nvPr/>
              </p:nvSpPr>
              <p:spPr>
                <a:xfrm>
                  <a:off x="43" y="1754"/>
                  <a:ext cx="380" cy="546"/>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eaLnBrk="1" hangingPunct="1">
                    <a:spcBef>
                      <a:spcPct val="0"/>
                    </a:spcBef>
                    <a:buClrTx/>
                    <a:buFontTx/>
                    <a:buNone/>
                  </a:pPr>
                  <a:r>
                    <a:rPr lang="zh-CN" altLang="en-US" sz="1600" dirty="0">
                      <a:solidFill>
                        <a:srgbClr val="000000"/>
                      </a:solidFill>
                      <a:latin typeface="楷体_GB2312" pitchFamily="49" charset="-122"/>
                      <a:ea typeface="楷体_GB2312" pitchFamily="49" charset="-122"/>
                    </a:rPr>
                    <a:t>逻辑结构设　　计</a:t>
                  </a:r>
                  <a:endParaRPr lang="zh-CN" altLang="en-US" sz="1600" dirty="0">
                    <a:solidFill>
                      <a:schemeClr val="tx1"/>
                    </a:solidFill>
                    <a:latin typeface="楷体_GB2312" pitchFamily="49" charset="-122"/>
                    <a:ea typeface="楷体_GB2312" pitchFamily="49" charset="-122"/>
                  </a:endParaRPr>
                </a:p>
              </p:txBody>
            </p:sp>
            <p:sp>
              <p:nvSpPr>
                <p:cNvPr id="20532" name="Rectangle 37"/>
                <p:cNvSpPr/>
                <p:nvPr/>
              </p:nvSpPr>
              <p:spPr>
                <a:xfrm>
                  <a:off x="0" y="1754"/>
                  <a:ext cx="466" cy="546"/>
                </a:xfrm>
                <a:prstGeom prst="rect">
                  <a:avLst/>
                </a:prstGeom>
                <a:noFill/>
                <a:ln w="7" cap="flat" cmpd="sng">
                  <a:solidFill>
                    <a:srgbClr val="A0A0A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a:spcBef>
                      <a:spcPct val="0"/>
                    </a:spcBef>
                    <a:buClrTx/>
                    <a:buFontTx/>
                    <a:buNone/>
                  </a:pPr>
                  <a:endParaRPr lang="en-US" altLang="zh-CN" sz="1600" b="0" dirty="0">
                    <a:solidFill>
                      <a:schemeClr val="tx1"/>
                    </a:solidFill>
                  </a:endParaRPr>
                </a:p>
              </p:txBody>
            </p:sp>
          </p:grpSp>
          <p:grpSp>
            <p:nvGrpSpPr>
              <p:cNvPr id="20498" name="Group 38"/>
              <p:cNvGrpSpPr/>
              <p:nvPr/>
            </p:nvGrpSpPr>
            <p:grpSpPr>
              <a:xfrm>
                <a:off x="466" y="1754"/>
                <a:ext cx="1115" cy="546"/>
                <a:chOff x="466" y="1754"/>
                <a:chExt cx="1115" cy="546"/>
              </a:xfrm>
            </p:grpSpPr>
            <p:sp>
              <p:nvSpPr>
                <p:cNvPr id="20529" name="Rectangle 39"/>
                <p:cNvSpPr/>
                <p:nvPr/>
              </p:nvSpPr>
              <p:spPr>
                <a:xfrm>
                  <a:off x="509" y="1754"/>
                  <a:ext cx="1029" cy="546"/>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eaLnBrk="1" hangingPunct="1">
                    <a:spcBef>
                      <a:spcPct val="0"/>
                    </a:spcBef>
                    <a:buClrTx/>
                    <a:buFontTx/>
                    <a:buNone/>
                  </a:pPr>
                  <a:r>
                    <a:rPr lang="zh-CN" altLang="en-US" sz="1600" dirty="0">
                      <a:solidFill>
                        <a:srgbClr val="000000"/>
                      </a:solidFill>
                      <a:latin typeface="宋体" panose="02010600030101010101" pitchFamily="2" charset="-122"/>
                    </a:rPr>
                    <a:t>某种数据模型</a:t>
                  </a:r>
                  <a:endParaRPr lang="zh-CN" altLang="en-US" sz="1600" dirty="0">
                    <a:solidFill>
                      <a:srgbClr val="000000"/>
                    </a:solidFill>
                    <a:latin typeface="宋体" panose="02010600030101010101" pitchFamily="2" charset="-122"/>
                    <a:cs typeface="Times New Roman" panose="02020603050405020304" pitchFamily="18" charset="0"/>
                  </a:endParaRPr>
                </a:p>
                <a:p>
                  <a:pPr marL="0" lvl="0" indent="0">
                    <a:spcBef>
                      <a:spcPct val="0"/>
                    </a:spcBef>
                    <a:buClrTx/>
                    <a:buFontTx/>
                    <a:buNone/>
                  </a:pPr>
                  <a:r>
                    <a:rPr lang="zh-CN" altLang="en-US" sz="1600" dirty="0">
                      <a:solidFill>
                        <a:srgbClr val="000000"/>
                      </a:solidFill>
                      <a:latin typeface="宋体" panose="02010600030101010101" pitchFamily="2" charset="-122"/>
                    </a:rPr>
                    <a:t>关系模型</a:t>
                  </a:r>
                  <a:endParaRPr lang="zh-CN" altLang="en-US" sz="1600" dirty="0">
                    <a:solidFill>
                      <a:srgbClr val="000000"/>
                    </a:solidFill>
                    <a:latin typeface="宋体" panose="02010600030101010101" pitchFamily="2" charset="-122"/>
                    <a:cs typeface="Times New Roman" panose="02020603050405020304" pitchFamily="18" charset="0"/>
                  </a:endParaRPr>
                </a:p>
                <a:p>
                  <a:pPr marL="0" lvl="0" indent="0">
                    <a:spcBef>
                      <a:spcPct val="0"/>
                    </a:spcBef>
                    <a:buClrTx/>
                    <a:buFontTx/>
                    <a:buNone/>
                  </a:pPr>
                  <a:endParaRPr lang="zh-CN" altLang="en-US" sz="1600" dirty="0">
                    <a:solidFill>
                      <a:schemeClr val="tx1"/>
                    </a:solidFill>
                  </a:endParaRPr>
                </a:p>
              </p:txBody>
            </p:sp>
            <p:sp>
              <p:nvSpPr>
                <p:cNvPr id="20530" name="Rectangle 40"/>
                <p:cNvSpPr/>
                <p:nvPr/>
              </p:nvSpPr>
              <p:spPr>
                <a:xfrm>
                  <a:off x="466" y="1754"/>
                  <a:ext cx="1115" cy="546"/>
                </a:xfrm>
                <a:prstGeom prst="rect">
                  <a:avLst/>
                </a:prstGeom>
                <a:noFill/>
                <a:ln w="7" cap="flat" cmpd="sng">
                  <a:solidFill>
                    <a:srgbClr val="A0A0A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a:spcBef>
                      <a:spcPct val="0"/>
                    </a:spcBef>
                    <a:buClrTx/>
                    <a:buFontTx/>
                    <a:buNone/>
                  </a:pPr>
                  <a:endParaRPr lang="en-US" altLang="zh-CN" sz="1600" b="0" dirty="0">
                    <a:solidFill>
                      <a:schemeClr val="tx1"/>
                    </a:solidFill>
                  </a:endParaRPr>
                </a:p>
              </p:txBody>
            </p:sp>
          </p:grpSp>
          <p:grpSp>
            <p:nvGrpSpPr>
              <p:cNvPr id="20499" name="Group 41"/>
              <p:cNvGrpSpPr/>
              <p:nvPr/>
            </p:nvGrpSpPr>
            <p:grpSpPr>
              <a:xfrm>
                <a:off x="1581" y="1754"/>
                <a:ext cx="1215" cy="546"/>
                <a:chOff x="1581" y="1754"/>
                <a:chExt cx="1215" cy="546"/>
              </a:xfrm>
            </p:grpSpPr>
            <p:sp>
              <p:nvSpPr>
                <p:cNvPr id="20527" name="Rectangle 42"/>
                <p:cNvSpPr/>
                <p:nvPr/>
              </p:nvSpPr>
              <p:spPr>
                <a:xfrm>
                  <a:off x="1624" y="1754"/>
                  <a:ext cx="1129" cy="546"/>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eaLnBrk="1" hangingPunct="1">
                    <a:spcBef>
                      <a:spcPct val="0"/>
                    </a:spcBef>
                    <a:buClrTx/>
                    <a:buFontTx/>
                    <a:buNone/>
                  </a:pPr>
                  <a:r>
                    <a:rPr lang="zh-CN" altLang="en-US" sz="1600" dirty="0">
                      <a:solidFill>
                        <a:srgbClr val="000000"/>
                      </a:solidFill>
                      <a:latin typeface="宋体" panose="02010600030101010101" pitchFamily="2" charset="-122"/>
                    </a:rPr>
                    <a:t>系统结构图</a:t>
                  </a:r>
                  <a:endParaRPr lang="zh-CN" altLang="en-US" sz="1600" dirty="0">
                    <a:solidFill>
                      <a:srgbClr val="000000"/>
                    </a:solidFill>
                    <a:latin typeface="宋体" panose="02010600030101010101" pitchFamily="2" charset="-122"/>
                    <a:cs typeface="Times New Roman" panose="02020603050405020304" pitchFamily="18" charset="0"/>
                  </a:endParaRPr>
                </a:p>
                <a:p>
                  <a:pPr marL="0" lvl="0" indent="0">
                    <a:spcBef>
                      <a:spcPct val="0"/>
                    </a:spcBef>
                    <a:buClrTx/>
                    <a:buFontTx/>
                    <a:buNone/>
                  </a:pPr>
                  <a:r>
                    <a:rPr lang="zh-CN" altLang="en-US" sz="1600" dirty="0">
                      <a:solidFill>
                        <a:srgbClr val="000000"/>
                      </a:solidFill>
                      <a:latin typeface="宋体" panose="02010600030101010101" pitchFamily="2" charset="-122"/>
                    </a:rPr>
                    <a:t>非关系模型（模块结构图）</a:t>
                  </a:r>
                  <a:endParaRPr lang="zh-CN" altLang="en-US" sz="1600" dirty="0">
                    <a:solidFill>
                      <a:srgbClr val="000000"/>
                    </a:solidFill>
                    <a:latin typeface="宋体" panose="02010600030101010101" pitchFamily="2" charset="-122"/>
                    <a:cs typeface="Times New Roman" panose="02020603050405020304" pitchFamily="18" charset="0"/>
                  </a:endParaRPr>
                </a:p>
                <a:p>
                  <a:pPr marL="0" lvl="0" indent="0">
                    <a:spcBef>
                      <a:spcPct val="0"/>
                    </a:spcBef>
                    <a:buClrTx/>
                    <a:buFontTx/>
                    <a:buNone/>
                  </a:pPr>
                  <a:endParaRPr lang="zh-CN" altLang="en-US" sz="1600" dirty="0">
                    <a:solidFill>
                      <a:schemeClr val="tx1"/>
                    </a:solidFill>
                  </a:endParaRPr>
                </a:p>
              </p:txBody>
            </p:sp>
            <p:sp>
              <p:nvSpPr>
                <p:cNvPr id="20528" name="Rectangle 43"/>
                <p:cNvSpPr/>
                <p:nvPr/>
              </p:nvSpPr>
              <p:spPr>
                <a:xfrm>
                  <a:off x="1581" y="1754"/>
                  <a:ext cx="1215" cy="546"/>
                </a:xfrm>
                <a:prstGeom prst="rect">
                  <a:avLst/>
                </a:prstGeom>
                <a:noFill/>
                <a:ln w="7" cap="flat" cmpd="sng">
                  <a:solidFill>
                    <a:srgbClr val="A0A0A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a:spcBef>
                      <a:spcPct val="0"/>
                    </a:spcBef>
                    <a:buClrTx/>
                    <a:buFontTx/>
                    <a:buNone/>
                  </a:pPr>
                  <a:endParaRPr lang="en-US" altLang="zh-CN" sz="1600" b="0" dirty="0">
                    <a:solidFill>
                      <a:schemeClr val="tx1"/>
                    </a:solidFill>
                  </a:endParaRPr>
                </a:p>
              </p:txBody>
            </p:sp>
          </p:grpSp>
          <p:grpSp>
            <p:nvGrpSpPr>
              <p:cNvPr id="20500" name="Group 44"/>
              <p:cNvGrpSpPr/>
              <p:nvPr/>
            </p:nvGrpSpPr>
            <p:grpSpPr>
              <a:xfrm>
                <a:off x="0" y="2300"/>
                <a:ext cx="466" cy="546"/>
                <a:chOff x="0" y="2300"/>
                <a:chExt cx="466" cy="546"/>
              </a:xfrm>
            </p:grpSpPr>
            <p:sp>
              <p:nvSpPr>
                <p:cNvPr id="20525" name="Rectangle 45"/>
                <p:cNvSpPr/>
                <p:nvPr/>
              </p:nvSpPr>
              <p:spPr>
                <a:xfrm>
                  <a:off x="43" y="2300"/>
                  <a:ext cx="380" cy="546"/>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eaLnBrk="1" hangingPunct="1">
                    <a:spcBef>
                      <a:spcPct val="0"/>
                    </a:spcBef>
                    <a:buClrTx/>
                    <a:buFontTx/>
                    <a:buNone/>
                  </a:pPr>
                  <a:r>
                    <a:rPr lang="zh-CN" altLang="en-US" sz="1600" dirty="0">
                      <a:solidFill>
                        <a:srgbClr val="000000"/>
                      </a:solidFill>
                      <a:latin typeface="楷体_GB2312" pitchFamily="49" charset="-122"/>
                      <a:ea typeface="楷体_GB2312" pitchFamily="49" charset="-122"/>
                    </a:rPr>
                    <a:t>物理设计</a:t>
                  </a:r>
                  <a:endParaRPr lang="zh-CN" altLang="en-US" sz="1600" dirty="0">
                    <a:solidFill>
                      <a:srgbClr val="000000"/>
                    </a:solidFill>
                    <a:latin typeface="楷体_GB2312" pitchFamily="49" charset="-122"/>
                    <a:ea typeface="楷体_GB2312" pitchFamily="49" charset="-122"/>
                  </a:endParaRPr>
                </a:p>
                <a:p>
                  <a:pPr marL="0" lvl="0" indent="0">
                    <a:spcBef>
                      <a:spcPct val="0"/>
                    </a:spcBef>
                    <a:buClrTx/>
                    <a:buFontTx/>
                    <a:buNone/>
                  </a:pPr>
                  <a:endParaRPr lang="zh-CN" altLang="en-US" sz="1600" dirty="0">
                    <a:solidFill>
                      <a:schemeClr val="tx1"/>
                    </a:solidFill>
                  </a:endParaRPr>
                </a:p>
              </p:txBody>
            </p:sp>
            <p:sp>
              <p:nvSpPr>
                <p:cNvPr id="20526" name="Rectangle 46"/>
                <p:cNvSpPr/>
                <p:nvPr/>
              </p:nvSpPr>
              <p:spPr>
                <a:xfrm>
                  <a:off x="0" y="2300"/>
                  <a:ext cx="466" cy="546"/>
                </a:xfrm>
                <a:prstGeom prst="rect">
                  <a:avLst/>
                </a:prstGeom>
                <a:noFill/>
                <a:ln w="7" cap="flat" cmpd="sng">
                  <a:solidFill>
                    <a:srgbClr val="A0A0A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a:spcBef>
                      <a:spcPct val="0"/>
                    </a:spcBef>
                    <a:buClrTx/>
                    <a:buFontTx/>
                    <a:buNone/>
                  </a:pPr>
                  <a:endParaRPr lang="en-US" altLang="zh-CN" sz="1600" b="0" dirty="0">
                    <a:solidFill>
                      <a:schemeClr val="tx1"/>
                    </a:solidFill>
                  </a:endParaRPr>
                </a:p>
              </p:txBody>
            </p:sp>
          </p:grpSp>
          <p:grpSp>
            <p:nvGrpSpPr>
              <p:cNvPr id="20501" name="Group 47"/>
              <p:cNvGrpSpPr/>
              <p:nvPr/>
            </p:nvGrpSpPr>
            <p:grpSpPr>
              <a:xfrm>
                <a:off x="466" y="2300"/>
                <a:ext cx="1115" cy="546"/>
                <a:chOff x="466" y="2300"/>
                <a:chExt cx="1115" cy="546"/>
              </a:xfrm>
            </p:grpSpPr>
            <p:sp>
              <p:nvSpPr>
                <p:cNvPr id="20523" name="Rectangle 48"/>
                <p:cNvSpPr/>
                <p:nvPr/>
              </p:nvSpPr>
              <p:spPr>
                <a:xfrm>
                  <a:off x="509" y="2300"/>
                  <a:ext cx="1029" cy="546"/>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eaLnBrk="1" hangingPunct="1">
                    <a:spcBef>
                      <a:spcPct val="0"/>
                    </a:spcBef>
                    <a:buClrTx/>
                    <a:buFontTx/>
                    <a:buNone/>
                  </a:pPr>
                  <a:r>
                    <a:rPr lang="zh-CN" altLang="en-US" sz="1600" dirty="0">
                      <a:solidFill>
                        <a:srgbClr val="000000"/>
                      </a:solidFill>
                      <a:latin typeface="宋体" panose="02010600030101010101" pitchFamily="2" charset="-122"/>
                    </a:rPr>
                    <a:t>存储安排</a:t>
                  </a:r>
                  <a:endParaRPr lang="zh-CN" altLang="en-US" sz="1600" dirty="0">
                    <a:solidFill>
                      <a:srgbClr val="000000"/>
                    </a:solidFill>
                    <a:latin typeface="宋体" panose="02010600030101010101" pitchFamily="2" charset="-122"/>
                    <a:cs typeface="Times New Roman" panose="02020603050405020304" pitchFamily="18" charset="0"/>
                  </a:endParaRPr>
                </a:p>
                <a:p>
                  <a:pPr marL="0" lvl="0" indent="0">
                    <a:spcBef>
                      <a:spcPct val="0"/>
                    </a:spcBef>
                    <a:buClrTx/>
                    <a:buFontTx/>
                    <a:buNone/>
                  </a:pPr>
                  <a:r>
                    <a:rPr lang="zh-CN" altLang="en-US" sz="1600" dirty="0">
                      <a:solidFill>
                        <a:srgbClr val="000000"/>
                      </a:solidFill>
                      <a:latin typeface="宋体" panose="02010600030101010101" pitchFamily="2" charset="-122"/>
                    </a:rPr>
                    <a:t>存取方法选择</a:t>
                  </a:r>
                  <a:endParaRPr lang="zh-CN" altLang="en-US" sz="1600" dirty="0">
                    <a:solidFill>
                      <a:srgbClr val="000000"/>
                    </a:solidFill>
                    <a:latin typeface="宋体" panose="02010600030101010101" pitchFamily="2" charset="-122"/>
                    <a:cs typeface="Times New Roman" panose="02020603050405020304" pitchFamily="18" charset="0"/>
                  </a:endParaRPr>
                </a:p>
                <a:p>
                  <a:pPr marL="0" lvl="0" indent="0">
                    <a:spcBef>
                      <a:spcPct val="0"/>
                    </a:spcBef>
                    <a:buClrTx/>
                    <a:buFontTx/>
                    <a:buNone/>
                  </a:pPr>
                  <a:r>
                    <a:rPr lang="zh-CN" altLang="en-US" sz="1600" dirty="0">
                      <a:solidFill>
                        <a:srgbClr val="000000"/>
                      </a:solidFill>
                      <a:latin typeface="宋体" panose="02010600030101010101" pitchFamily="2" charset="-122"/>
                    </a:rPr>
                    <a:t>存取路径建立</a:t>
                  </a:r>
                  <a:endParaRPr lang="zh-CN" altLang="en-US" sz="1600" dirty="0">
                    <a:solidFill>
                      <a:srgbClr val="000000"/>
                    </a:solidFill>
                    <a:latin typeface="宋体" panose="02010600030101010101" pitchFamily="2" charset="-122"/>
                    <a:cs typeface="Times New Roman" panose="02020603050405020304" pitchFamily="18" charset="0"/>
                  </a:endParaRPr>
                </a:p>
                <a:p>
                  <a:pPr marL="0" lvl="0" indent="0">
                    <a:spcBef>
                      <a:spcPct val="0"/>
                    </a:spcBef>
                    <a:buClrTx/>
                    <a:buFontTx/>
                    <a:buNone/>
                  </a:pPr>
                  <a:endParaRPr lang="zh-CN" altLang="en-US" sz="1600" dirty="0">
                    <a:solidFill>
                      <a:schemeClr val="tx1"/>
                    </a:solidFill>
                  </a:endParaRPr>
                </a:p>
              </p:txBody>
            </p:sp>
            <p:sp>
              <p:nvSpPr>
                <p:cNvPr id="20524" name="Rectangle 49"/>
                <p:cNvSpPr/>
                <p:nvPr/>
              </p:nvSpPr>
              <p:spPr>
                <a:xfrm>
                  <a:off x="466" y="2300"/>
                  <a:ext cx="1115" cy="546"/>
                </a:xfrm>
                <a:prstGeom prst="rect">
                  <a:avLst/>
                </a:prstGeom>
                <a:noFill/>
                <a:ln w="7" cap="flat" cmpd="sng">
                  <a:solidFill>
                    <a:srgbClr val="A0A0A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a:spcBef>
                      <a:spcPct val="0"/>
                    </a:spcBef>
                    <a:buClrTx/>
                    <a:buFontTx/>
                    <a:buNone/>
                  </a:pPr>
                  <a:endParaRPr lang="en-US" altLang="zh-CN" sz="1600" b="0" dirty="0">
                    <a:solidFill>
                      <a:schemeClr val="tx1"/>
                    </a:solidFill>
                  </a:endParaRPr>
                </a:p>
              </p:txBody>
            </p:sp>
          </p:grpSp>
          <p:grpSp>
            <p:nvGrpSpPr>
              <p:cNvPr id="20502" name="Group 50"/>
              <p:cNvGrpSpPr/>
              <p:nvPr/>
            </p:nvGrpSpPr>
            <p:grpSpPr>
              <a:xfrm>
                <a:off x="1581" y="2300"/>
                <a:ext cx="1215" cy="546"/>
                <a:chOff x="1581" y="2300"/>
                <a:chExt cx="1215" cy="546"/>
              </a:xfrm>
            </p:grpSpPr>
            <p:sp>
              <p:nvSpPr>
                <p:cNvPr id="20521" name="Rectangle 51"/>
                <p:cNvSpPr/>
                <p:nvPr/>
              </p:nvSpPr>
              <p:spPr>
                <a:xfrm>
                  <a:off x="1624" y="2300"/>
                  <a:ext cx="1129" cy="546"/>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eaLnBrk="1" hangingPunct="1">
                    <a:spcBef>
                      <a:spcPct val="0"/>
                    </a:spcBef>
                    <a:buClrTx/>
                    <a:buFontTx/>
                    <a:buNone/>
                  </a:pPr>
                  <a:r>
                    <a:rPr lang="zh-CN" altLang="en-US" sz="1600" dirty="0">
                      <a:solidFill>
                        <a:srgbClr val="000000"/>
                      </a:solidFill>
                      <a:latin typeface="宋体" panose="02010600030101010101" pitchFamily="2" charset="-122"/>
                    </a:rPr>
                    <a:t>模块设计</a:t>
                  </a:r>
                  <a:endParaRPr lang="zh-CN" altLang="en-US" sz="1600" dirty="0">
                    <a:solidFill>
                      <a:srgbClr val="000000"/>
                    </a:solidFill>
                    <a:latin typeface="宋体" panose="02010600030101010101" pitchFamily="2" charset="-122"/>
                    <a:cs typeface="Times New Roman" panose="02020603050405020304" pitchFamily="18" charset="0"/>
                  </a:endParaRPr>
                </a:p>
                <a:p>
                  <a:pPr marL="0" lvl="0" indent="0">
                    <a:spcBef>
                      <a:spcPct val="0"/>
                    </a:spcBef>
                    <a:buClrTx/>
                    <a:buFontTx/>
                    <a:buNone/>
                  </a:pPr>
                  <a:r>
                    <a:rPr lang="zh-CN" altLang="en-US" sz="1600" dirty="0">
                      <a:solidFill>
                        <a:srgbClr val="000000"/>
                      </a:solidFill>
                    </a:rPr>
                    <a:t> </a:t>
                  </a:r>
                  <a:endParaRPr lang="zh-CN" altLang="en-US" sz="1600" dirty="0">
                    <a:solidFill>
                      <a:srgbClr val="000000"/>
                    </a:solidFill>
                    <a:latin typeface="宋体" panose="02010600030101010101" pitchFamily="2" charset="-122"/>
                    <a:cs typeface="Times New Roman" panose="02020603050405020304" pitchFamily="18" charset="0"/>
                  </a:endParaRPr>
                </a:p>
                <a:p>
                  <a:pPr marL="0" lvl="0" indent="0">
                    <a:spcBef>
                      <a:spcPct val="0"/>
                    </a:spcBef>
                    <a:buClrTx/>
                    <a:buFontTx/>
                    <a:buNone/>
                  </a:pPr>
                  <a:r>
                    <a:rPr lang="en-US" altLang="zh-CN" sz="1600" dirty="0">
                      <a:solidFill>
                        <a:srgbClr val="000000"/>
                      </a:solidFill>
                      <a:latin typeface="宋体" panose="02010600030101010101" pitchFamily="2" charset="-122"/>
                    </a:rPr>
                    <a:t>IPO</a:t>
                  </a:r>
                  <a:r>
                    <a:rPr lang="zh-CN" altLang="en-US" sz="1600" dirty="0">
                      <a:solidFill>
                        <a:srgbClr val="000000"/>
                      </a:solidFill>
                      <a:latin typeface="宋体" panose="02010600030101010101" pitchFamily="2" charset="-122"/>
                    </a:rPr>
                    <a:t>表</a:t>
                  </a:r>
                  <a:endParaRPr lang="zh-CN" altLang="en-US" sz="1600" dirty="0">
                    <a:solidFill>
                      <a:srgbClr val="000000"/>
                    </a:solidFill>
                    <a:latin typeface="宋体" panose="02010600030101010101" pitchFamily="2" charset="-122"/>
                    <a:cs typeface="Times New Roman" panose="02020603050405020304" pitchFamily="18" charset="0"/>
                  </a:endParaRPr>
                </a:p>
                <a:p>
                  <a:pPr marL="0" lvl="0" indent="0">
                    <a:spcBef>
                      <a:spcPct val="0"/>
                    </a:spcBef>
                    <a:buClrTx/>
                    <a:buFontTx/>
                    <a:buNone/>
                  </a:pPr>
                  <a:endParaRPr lang="zh-CN" altLang="en-US" sz="1600" dirty="0">
                    <a:solidFill>
                      <a:schemeClr val="tx1"/>
                    </a:solidFill>
                  </a:endParaRPr>
                </a:p>
              </p:txBody>
            </p:sp>
            <p:sp>
              <p:nvSpPr>
                <p:cNvPr id="20522" name="Rectangle 52"/>
                <p:cNvSpPr/>
                <p:nvPr/>
              </p:nvSpPr>
              <p:spPr>
                <a:xfrm>
                  <a:off x="1581" y="2300"/>
                  <a:ext cx="1215" cy="546"/>
                </a:xfrm>
                <a:prstGeom prst="rect">
                  <a:avLst/>
                </a:prstGeom>
                <a:noFill/>
                <a:ln w="7" cap="flat" cmpd="sng">
                  <a:solidFill>
                    <a:srgbClr val="A0A0A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a:spcBef>
                      <a:spcPct val="0"/>
                    </a:spcBef>
                    <a:buClrTx/>
                    <a:buFontTx/>
                    <a:buNone/>
                  </a:pPr>
                  <a:endParaRPr lang="en-US" altLang="zh-CN" sz="1600" b="0" dirty="0">
                    <a:solidFill>
                      <a:schemeClr val="tx1"/>
                    </a:solidFill>
                  </a:endParaRPr>
                </a:p>
              </p:txBody>
            </p:sp>
          </p:grpSp>
          <p:grpSp>
            <p:nvGrpSpPr>
              <p:cNvPr id="20503" name="Group 53"/>
              <p:cNvGrpSpPr/>
              <p:nvPr/>
            </p:nvGrpSpPr>
            <p:grpSpPr>
              <a:xfrm>
                <a:off x="0" y="2846"/>
                <a:ext cx="466" cy="546"/>
                <a:chOff x="0" y="2846"/>
                <a:chExt cx="466" cy="546"/>
              </a:xfrm>
            </p:grpSpPr>
            <p:sp>
              <p:nvSpPr>
                <p:cNvPr id="20519" name="Rectangle 54"/>
                <p:cNvSpPr/>
                <p:nvPr/>
              </p:nvSpPr>
              <p:spPr>
                <a:xfrm>
                  <a:off x="43" y="2846"/>
                  <a:ext cx="380" cy="546"/>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eaLnBrk="1" hangingPunct="1">
                    <a:spcBef>
                      <a:spcPct val="0"/>
                    </a:spcBef>
                    <a:buClrTx/>
                    <a:buFontTx/>
                    <a:buNone/>
                  </a:pPr>
                  <a:r>
                    <a:rPr lang="zh-CN" altLang="en-US" sz="1600" dirty="0">
                      <a:solidFill>
                        <a:srgbClr val="000000"/>
                      </a:solidFill>
                      <a:latin typeface="宋体" panose="02010600030101010101" pitchFamily="2" charset="-122"/>
                    </a:rPr>
                    <a:t>实施阶段</a:t>
                  </a:r>
                  <a:endParaRPr lang="zh-CN" altLang="en-US" sz="1600" dirty="0">
                    <a:solidFill>
                      <a:srgbClr val="000000"/>
                    </a:solidFill>
                    <a:latin typeface="宋体" panose="02010600030101010101" pitchFamily="2" charset="-122"/>
                    <a:cs typeface="Times New Roman" panose="02020603050405020304" pitchFamily="18" charset="0"/>
                  </a:endParaRPr>
                </a:p>
                <a:p>
                  <a:pPr marL="0" lvl="0" indent="0">
                    <a:spcBef>
                      <a:spcPct val="0"/>
                    </a:spcBef>
                    <a:buClrTx/>
                    <a:buFontTx/>
                    <a:buNone/>
                  </a:pPr>
                  <a:endParaRPr lang="zh-CN" altLang="en-US" sz="1600" dirty="0">
                    <a:solidFill>
                      <a:schemeClr val="tx1"/>
                    </a:solidFill>
                  </a:endParaRPr>
                </a:p>
              </p:txBody>
            </p:sp>
            <p:sp>
              <p:nvSpPr>
                <p:cNvPr id="20520" name="Rectangle 55"/>
                <p:cNvSpPr/>
                <p:nvPr/>
              </p:nvSpPr>
              <p:spPr>
                <a:xfrm>
                  <a:off x="0" y="2846"/>
                  <a:ext cx="466" cy="546"/>
                </a:xfrm>
                <a:prstGeom prst="rect">
                  <a:avLst/>
                </a:prstGeom>
                <a:noFill/>
                <a:ln w="7" cap="flat" cmpd="sng">
                  <a:solidFill>
                    <a:srgbClr val="A0A0A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a:spcBef>
                      <a:spcPct val="0"/>
                    </a:spcBef>
                    <a:buClrTx/>
                    <a:buFontTx/>
                    <a:buNone/>
                  </a:pPr>
                  <a:endParaRPr lang="en-US" altLang="zh-CN" sz="1600" b="0" dirty="0">
                    <a:solidFill>
                      <a:schemeClr val="tx1"/>
                    </a:solidFill>
                  </a:endParaRPr>
                </a:p>
              </p:txBody>
            </p:sp>
          </p:grpSp>
          <p:grpSp>
            <p:nvGrpSpPr>
              <p:cNvPr id="20504" name="Group 56"/>
              <p:cNvGrpSpPr/>
              <p:nvPr/>
            </p:nvGrpSpPr>
            <p:grpSpPr>
              <a:xfrm>
                <a:off x="466" y="2846"/>
                <a:ext cx="1115" cy="546"/>
                <a:chOff x="466" y="2846"/>
                <a:chExt cx="1115" cy="546"/>
              </a:xfrm>
            </p:grpSpPr>
            <p:sp>
              <p:nvSpPr>
                <p:cNvPr id="20517" name="Rectangle 57"/>
                <p:cNvSpPr/>
                <p:nvPr/>
              </p:nvSpPr>
              <p:spPr>
                <a:xfrm>
                  <a:off x="509" y="2846"/>
                  <a:ext cx="1029" cy="546"/>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eaLnBrk="1" hangingPunct="1">
                    <a:spcBef>
                      <a:spcPct val="0"/>
                    </a:spcBef>
                    <a:buClrTx/>
                    <a:buFontTx/>
                    <a:buNone/>
                  </a:pPr>
                  <a:r>
                    <a:rPr lang="zh-CN" altLang="en-US" sz="1600" dirty="0">
                      <a:solidFill>
                        <a:srgbClr val="000000"/>
                      </a:solidFill>
                      <a:latin typeface="宋体" panose="02010600030101010101" pitchFamily="2" charset="-122"/>
                    </a:rPr>
                    <a:t>编写模式</a:t>
                  </a:r>
                  <a:endParaRPr lang="zh-CN" altLang="en-US" sz="1600" dirty="0">
                    <a:solidFill>
                      <a:srgbClr val="000000"/>
                    </a:solidFill>
                    <a:latin typeface="宋体" panose="02010600030101010101" pitchFamily="2" charset="-122"/>
                    <a:cs typeface="Times New Roman" panose="02020603050405020304" pitchFamily="18" charset="0"/>
                  </a:endParaRPr>
                </a:p>
                <a:p>
                  <a:pPr marL="0" lvl="0" indent="0">
                    <a:spcBef>
                      <a:spcPct val="0"/>
                    </a:spcBef>
                    <a:buClrTx/>
                    <a:buFontTx/>
                    <a:buNone/>
                  </a:pPr>
                  <a:r>
                    <a:rPr lang="zh-CN" altLang="en-US" sz="1600" dirty="0">
                      <a:solidFill>
                        <a:srgbClr val="000000"/>
                      </a:solidFill>
                      <a:latin typeface="宋体" panose="02010600030101010101" pitchFamily="2" charset="-122"/>
                    </a:rPr>
                    <a:t>装入数据</a:t>
                  </a:r>
                  <a:endParaRPr lang="zh-CN" altLang="en-US" sz="1600" dirty="0">
                    <a:solidFill>
                      <a:srgbClr val="000000"/>
                    </a:solidFill>
                    <a:latin typeface="宋体" panose="02010600030101010101" pitchFamily="2" charset="-122"/>
                    <a:cs typeface="Times New Roman" panose="02020603050405020304" pitchFamily="18" charset="0"/>
                  </a:endParaRPr>
                </a:p>
                <a:p>
                  <a:pPr marL="0" lvl="0" indent="0">
                    <a:spcBef>
                      <a:spcPct val="0"/>
                    </a:spcBef>
                    <a:buClrTx/>
                    <a:buFontTx/>
                    <a:buNone/>
                  </a:pPr>
                  <a:r>
                    <a:rPr lang="zh-CN" altLang="en-US" sz="1600" dirty="0">
                      <a:solidFill>
                        <a:srgbClr val="000000"/>
                      </a:solidFill>
                      <a:latin typeface="宋体" panose="02010600030101010101" pitchFamily="2" charset="-122"/>
                    </a:rPr>
                    <a:t>数据库试运行</a:t>
                  </a:r>
                  <a:endParaRPr lang="zh-CN" altLang="en-US" sz="1600" dirty="0">
                    <a:solidFill>
                      <a:srgbClr val="000000"/>
                    </a:solidFill>
                    <a:latin typeface="宋体" panose="02010600030101010101" pitchFamily="2" charset="-122"/>
                    <a:cs typeface="Times New Roman" panose="02020603050405020304" pitchFamily="18" charset="0"/>
                  </a:endParaRPr>
                </a:p>
                <a:p>
                  <a:pPr marL="0" lvl="0" indent="0">
                    <a:spcBef>
                      <a:spcPct val="0"/>
                    </a:spcBef>
                    <a:buClrTx/>
                    <a:buFontTx/>
                    <a:buNone/>
                  </a:pPr>
                  <a:endParaRPr lang="zh-CN" altLang="en-US" sz="1600" dirty="0">
                    <a:solidFill>
                      <a:schemeClr val="tx1"/>
                    </a:solidFill>
                  </a:endParaRPr>
                </a:p>
              </p:txBody>
            </p:sp>
            <p:sp>
              <p:nvSpPr>
                <p:cNvPr id="20518" name="Rectangle 58"/>
                <p:cNvSpPr/>
                <p:nvPr/>
              </p:nvSpPr>
              <p:spPr>
                <a:xfrm>
                  <a:off x="466" y="2846"/>
                  <a:ext cx="1115" cy="546"/>
                </a:xfrm>
                <a:prstGeom prst="rect">
                  <a:avLst/>
                </a:prstGeom>
                <a:noFill/>
                <a:ln w="7" cap="flat" cmpd="sng">
                  <a:solidFill>
                    <a:srgbClr val="A0A0A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a:spcBef>
                      <a:spcPct val="0"/>
                    </a:spcBef>
                    <a:buClrTx/>
                    <a:buFontTx/>
                    <a:buNone/>
                  </a:pPr>
                  <a:endParaRPr lang="en-US" altLang="zh-CN" sz="1600" b="0" dirty="0">
                    <a:solidFill>
                      <a:schemeClr val="tx1"/>
                    </a:solidFill>
                  </a:endParaRPr>
                </a:p>
              </p:txBody>
            </p:sp>
          </p:grpSp>
          <p:grpSp>
            <p:nvGrpSpPr>
              <p:cNvPr id="20505" name="Group 59"/>
              <p:cNvGrpSpPr/>
              <p:nvPr/>
            </p:nvGrpSpPr>
            <p:grpSpPr>
              <a:xfrm>
                <a:off x="1581" y="2846"/>
                <a:ext cx="1215" cy="546"/>
                <a:chOff x="1581" y="2846"/>
                <a:chExt cx="1215" cy="546"/>
              </a:xfrm>
            </p:grpSpPr>
            <p:sp>
              <p:nvSpPr>
                <p:cNvPr id="20515" name="Rectangle 60"/>
                <p:cNvSpPr/>
                <p:nvPr/>
              </p:nvSpPr>
              <p:spPr>
                <a:xfrm>
                  <a:off x="1624" y="2846"/>
                  <a:ext cx="1129" cy="546"/>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eaLnBrk="1" hangingPunct="1">
                    <a:spcBef>
                      <a:spcPct val="0"/>
                    </a:spcBef>
                    <a:buClrTx/>
                    <a:buFontTx/>
                    <a:buNone/>
                  </a:pPr>
                  <a:r>
                    <a:rPr lang="zh-CN" altLang="en-US" sz="1600" dirty="0">
                      <a:solidFill>
                        <a:srgbClr val="000000"/>
                      </a:solidFill>
                      <a:latin typeface="宋体" panose="02010600030101010101" pitchFamily="2" charset="-122"/>
                    </a:rPr>
                    <a:t>程序编码</a:t>
                  </a:r>
                  <a:endParaRPr lang="zh-CN" altLang="en-US" sz="1600" dirty="0">
                    <a:solidFill>
                      <a:srgbClr val="000000"/>
                    </a:solidFill>
                    <a:latin typeface="宋体" panose="02010600030101010101" pitchFamily="2" charset="-122"/>
                    <a:cs typeface="Times New Roman" panose="02020603050405020304" pitchFamily="18" charset="0"/>
                  </a:endParaRPr>
                </a:p>
                <a:p>
                  <a:pPr marL="0" lvl="0" indent="0">
                    <a:spcBef>
                      <a:spcPct val="0"/>
                    </a:spcBef>
                    <a:buClrTx/>
                    <a:buFontTx/>
                    <a:buNone/>
                  </a:pPr>
                  <a:r>
                    <a:rPr lang="zh-CN" altLang="en-US" sz="1600" dirty="0">
                      <a:solidFill>
                        <a:srgbClr val="000000"/>
                      </a:solidFill>
                      <a:latin typeface="宋体" panose="02010600030101010101" pitchFamily="2" charset="-122"/>
                    </a:rPr>
                    <a:t>编译联结</a:t>
                  </a:r>
                  <a:endParaRPr lang="zh-CN" altLang="en-US" sz="1600" dirty="0">
                    <a:solidFill>
                      <a:srgbClr val="000000"/>
                    </a:solidFill>
                    <a:latin typeface="宋体" panose="02010600030101010101" pitchFamily="2" charset="-122"/>
                    <a:cs typeface="Times New Roman" panose="02020603050405020304" pitchFamily="18" charset="0"/>
                  </a:endParaRPr>
                </a:p>
                <a:p>
                  <a:pPr marL="0" lvl="0" indent="0">
                    <a:spcBef>
                      <a:spcPct val="0"/>
                    </a:spcBef>
                    <a:buClrTx/>
                    <a:buFontTx/>
                    <a:buNone/>
                  </a:pPr>
                  <a:r>
                    <a:rPr lang="zh-CN" altLang="en-US" sz="1600" dirty="0">
                      <a:solidFill>
                        <a:srgbClr val="000000"/>
                      </a:solidFill>
                      <a:latin typeface="宋体" panose="02010600030101010101" pitchFamily="2" charset="-122"/>
                    </a:rPr>
                    <a:t>测试</a:t>
                  </a:r>
                  <a:endParaRPr lang="zh-CN" altLang="en-US" sz="1600" dirty="0">
                    <a:solidFill>
                      <a:srgbClr val="000000"/>
                    </a:solidFill>
                    <a:latin typeface="宋体" panose="02010600030101010101" pitchFamily="2" charset="-122"/>
                    <a:cs typeface="Times New Roman" panose="02020603050405020304" pitchFamily="18" charset="0"/>
                  </a:endParaRPr>
                </a:p>
                <a:p>
                  <a:pPr marL="0" lvl="0" indent="0">
                    <a:spcBef>
                      <a:spcPct val="0"/>
                    </a:spcBef>
                    <a:buClrTx/>
                    <a:buFontTx/>
                    <a:buNone/>
                  </a:pPr>
                  <a:endParaRPr lang="zh-CN" altLang="en-US" sz="1600" dirty="0">
                    <a:solidFill>
                      <a:schemeClr val="tx1"/>
                    </a:solidFill>
                  </a:endParaRPr>
                </a:p>
              </p:txBody>
            </p:sp>
            <p:sp>
              <p:nvSpPr>
                <p:cNvPr id="20516" name="Rectangle 61"/>
                <p:cNvSpPr/>
                <p:nvPr/>
              </p:nvSpPr>
              <p:spPr>
                <a:xfrm>
                  <a:off x="1581" y="2846"/>
                  <a:ext cx="1215" cy="546"/>
                </a:xfrm>
                <a:prstGeom prst="rect">
                  <a:avLst/>
                </a:prstGeom>
                <a:noFill/>
                <a:ln w="7" cap="flat" cmpd="sng">
                  <a:solidFill>
                    <a:srgbClr val="A0A0A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a:spcBef>
                      <a:spcPct val="0"/>
                    </a:spcBef>
                    <a:buClrTx/>
                    <a:buFontTx/>
                    <a:buNone/>
                  </a:pPr>
                  <a:endParaRPr lang="en-US" altLang="zh-CN" sz="1600" b="0" dirty="0">
                    <a:solidFill>
                      <a:schemeClr val="tx1"/>
                    </a:solidFill>
                  </a:endParaRPr>
                </a:p>
              </p:txBody>
            </p:sp>
          </p:grpSp>
          <p:grpSp>
            <p:nvGrpSpPr>
              <p:cNvPr id="20506" name="Group 62"/>
              <p:cNvGrpSpPr/>
              <p:nvPr/>
            </p:nvGrpSpPr>
            <p:grpSpPr>
              <a:xfrm>
                <a:off x="0" y="3392"/>
                <a:ext cx="466" cy="460"/>
                <a:chOff x="0" y="3392"/>
                <a:chExt cx="466" cy="460"/>
              </a:xfrm>
            </p:grpSpPr>
            <p:sp>
              <p:nvSpPr>
                <p:cNvPr id="20513" name="Rectangle 63"/>
                <p:cNvSpPr/>
                <p:nvPr/>
              </p:nvSpPr>
              <p:spPr>
                <a:xfrm>
                  <a:off x="43" y="3392"/>
                  <a:ext cx="380" cy="46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eaLnBrk="1" hangingPunct="1">
                    <a:spcBef>
                      <a:spcPct val="0"/>
                    </a:spcBef>
                    <a:buClrTx/>
                    <a:buFontTx/>
                    <a:buNone/>
                  </a:pPr>
                  <a:r>
                    <a:rPr lang="zh-CN" altLang="en-US" sz="1600" dirty="0">
                      <a:solidFill>
                        <a:srgbClr val="000000"/>
                      </a:solidFill>
                      <a:latin typeface="宋体" panose="02010600030101010101" pitchFamily="2" charset="-122"/>
                    </a:rPr>
                    <a:t>运行维护</a:t>
                  </a:r>
                  <a:endParaRPr lang="zh-CN" altLang="en-US" sz="1600" dirty="0">
                    <a:solidFill>
                      <a:srgbClr val="000000"/>
                    </a:solidFill>
                    <a:latin typeface="宋体" panose="02010600030101010101" pitchFamily="2" charset="-122"/>
                    <a:cs typeface="Times New Roman" panose="02020603050405020304" pitchFamily="18" charset="0"/>
                  </a:endParaRPr>
                </a:p>
                <a:p>
                  <a:pPr marL="0" lvl="0" indent="0">
                    <a:spcBef>
                      <a:spcPct val="0"/>
                    </a:spcBef>
                    <a:buClrTx/>
                    <a:buFontTx/>
                    <a:buNone/>
                  </a:pPr>
                  <a:endParaRPr lang="zh-CN" altLang="en-US" sz="1600" dirty="0">
                    <a:solidFill>
                      <a:schemeClr val="tx1"/>
                    </a:solidFill>
                  </a:endParaRPr>
                </a:p>
              </p:txBody>
            </p:sp>
            <p:sp>
              <p:nvSpPr>
                <p:cNvPr id="20514" name="Rectangle 64"/>
                <p:cNvSpPr/>
                <p:nvPr/>
              </p:nvSpPr>
              <p:spPr>
                <a:xfrm>
                  <a:off x="0" y="3392"/>
                  <a:ext cx="466" cy="460"/>
                </a:xfrm>
                <a:prstGeom prst="rect">
                  <a:avLst/>
                </a:prstGeom>
                <a:noFill/>
                <a:ln w="7" cap="flat" cmpd="sng">
                  <a:solidFill>
                    <a:srgbClr val="A0A0A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a:spcBef>
                      <a:spcPct val="0"/>
                    </a:spcBef>
                    <a:buClrTx/>
                    <a:buFontTx/>
                    <a:buNone/>
                  </a:pPr>
                  <a:endParaRPr lang="en-US" altLang="zh-CN" sz="1600" b="0" dirty="0">
                    <a:solidFill>
                      <a:schemeClr val="tx1"/>
                    </a:solidFill>
                  </a:endParaRPr>
                </a:p>
              </p:txBody>
            </p:sp>
          </p:grpSp>
          <p:grpSp>
            <p:nvGrpSpPr>
              <p:cNvPr id="20507" name="Group 65"/>
              <p:cNvGrpSpPr/>
              <p:nvPr/>
            </p:nvGrpSpPr>
            <p:grpSpPr>
              <a:xfrm>
                <a:off x="466" y="3392"/>
                <a:ext cx="1115" cy="460"/>
                <a:chOff x="466" y="3392"/>
                <a:chExt cx="1115" cy="460"/>
              </a:xfrm>
            </p:grpSpPr>
            <p:sp>
              <p:nvSpPr>
                <p:cNvPr id="20511" name="Rectangle 66"/>
                <p:cNvSpPr/>
                <p:nvPr/>
              </p:nvSpPr>
              <p:spPr>
                <a:xfrm>
                  <a:off x="509" y="3392"/>
                  <a:ext cx="1029" cy="46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eaLnBrk="1" hangingPunct="1">
                    <a:spcBef>
                      <a:spcPct val="0"/>
                    </a:spcBef>
                    <a:buClrTx/>
                    <a:buFontTx/>
                    <a:buNone/>
                  </a:pPr>
                  <a:r>
                    <a:rPr lang="zh-CN" altLang="en-US" sz="1600" dirty="0">
                      <a:solidFill>
                        <a:srgbClr val="000000"/>
                      </a:solidFill>
                      <a:latin typeface="宋体" panose="02010600030101010101" pitchFamily="2" charset="-122"/>
                    </a:rPr>
                    <a:t>性能测试，转储</a:t>
                  </a:r>
                  <a:r>
                    <a:rPr lang="en-US" altLang="zh-CN" sz="1600" dirty="0">
                      <a:solidFill>
                        <a:srgbClr val="000000"/>
                      </a:solidFill>
                      <a:latin typeface="宋体" panose="02010600030101010101" pitchFamily="2" charset="-122"/>
                    </a:rPr>
                    <a:t>/</a:t>
                  </a:r>
                  <a:r>
                    <a:rPr lang="zh-CN" altLang="en-US" sz="1600" dirty="0">
                      <a:solidFill>
                        <a:srgbClr val="000000"/>
                      </a:solidFill>
                      <a:latin typeface="宋体" panose="02010600030101010101" pitchFamily="2" charset="-122"/>
                    </a:rPr>
                    <a:t>恢复数据库</a:t>
                  </a:r>
                  <a:endParaRPr lang="zh-CN" altLang="en-US" sz="1600" dirty="0">
                    <a:solidFill>
                      <a:srgbClr val="000000"/>
                    </a:solidFill>
                    <a:latin typeface="宋体" panose="02010600030101010101" pitchFamily="2" charset="-122"/>
                    <a:cs typeface="Times New Roman" panose="02020603050405020304" pitchFamily="18" charset="0"/>
                  </a:endParaRPr>
                </a:p>
                <a:p>
                  <a:pPr marL="0" lvl="0" indent="0">
                    <a:spcBef>
                      <a:spcPct val="0"/>
                    </a:spcBef>
                    <a:buClrTx/>
                    <a:buFontTx/>
                    <a:buNone/>
                  </a:pPr>
                  <a:r>
                    <a:rPr lang="zh-CN" altLang="en-US" sz="1600" dirty="0">
                      <a:solidFill>
                        <a:srgbClr val="000000"/>
                      </a:solidFill>
                      <a:latin typeface="宋体" panose="02010600030101010101" pitchFamily="2" charset="-122"/>
                    </a:rPr>
                    <a:t>重组和重构</a:t>
                  </a:r>
                  <a:endParaRPr lang="zh-CN" altLang="en-US" sz="1600" dirty="0">
                    <a:solidFill>
                      <a:srgbClr val="000000"/>
                    </a:solidFill>
                    <a:latin typeface="宋体" panose="02010600030101010101" pitchFamily="2" charset="-122"/>
                    <a:cs typeface="Times New Roman" panose="02020603050405020304" pitchFamily="18" charset="0"/>
                  </a:endParaRPr>
                </a:p>
                <a:p>
                  <a:pPr marL="0" lvl="0" indent="0">
                    <a:spcBef>
                      <a:spcPct val="0"/>
                    </a:spcBef>
                    <a:buClrTx/>
                    <a:buFontTx/>
                    <a:buNone/>
                  </a:pPr>
                  <a:endParaRPr lang="zh-CN" altLang="en-US" sz="1600" dirty="0">
                    <a:solidFill>
                      <a:schemeClr val="tx1"/>
                    </a:solidFill>
                  </a:endParaRPr>
                </a:p>
              </p:txBody>
            </p:sp>
            <p:sp>
              <p:nvSpPr>
                <p:cNvPr id="20512" name="Rectangle 67"/>
                <p:cNvSpPr/>
                <p:nvPr/>
              </p:nvSpPr>
              <p:spPr>
                <a:xfrm>
                  <a:off x="466" y="3392"/>
                  <a:ext cx="1115" cy="460"/>
                </a:xfrm>
                <a:prstGeom prst="rect">
                  <a:avLst/>
                </a:prstGeom>
                <a:noFill/>
                <a:ln w="7" cap="flat" cmpd="sng">
                  <a:solidFill>
                    <a:srgbClr val="A0A0A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a:spcBef>
                      <a:spcPct val="0"/>
                    </a:spcBef>
                    <a:buClrTx/>
                    <a:buFontTx/>
                    <a:buNone/>
                  </a:pPr>
                  <a:endParaRPr lang="en-US" altLang="zh-CN" sz="1600" b="0" dirty="0">
                    <a:solidFill>
                      <a:schemeClr val="tx1"/>
                    </a:solidFill>
                  </a:endParaRPr>
                </a:p>
              </p:txBody>
            </p:sp>
          </p:grpSp>
          <p:grpSp>
            <p:nvGrpSpPr>
              <p:cNvPr id="20508" name="Group 68"/>
              <p:cNvGrpSpPr/>
              <p:nvPr/>
            </p:nvGrpSpPr>
            <p:grpSpPr>
              <a:xfrm>
                <a:off x="1581" y="3392"/>
                <a:ext cx="1215" cy="460"/>
                <a:chOff x="1581" y="3392"/>
                <a:chExt cx="1215" cy="460"/>
              </a:xfrm>
            </p:grpSpPr>
            <p:sp>
              <p:nvSpPr>
                <p:cNvPr id="20509" name="Rectangle 69"/>
                <p:cNvSpPr/>
                <p:nvPr/>
              </p:nvSpPr>
              <p:spPr>
                <a:xfrm>
                  <a:off x="1624" y="3392"/>
                  <a:ext cx="1129" cy="46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eaLnBrk="1" hangingPunct="1">
                    <a:spcBef>
                      <a:spcPct val="0"/>
                    </a:spcBef>
                    <a:buClrTx/>
                    <a:buFontTx/>
                    <a:buNone/>
                  </a:pPr>
                  <a:r>
                    <a:rPr lang="zh-CN" altLang="en-US" sz="1600" dirty="0">
                      <a:solidFill>
                        <a:srgbClr val="000000"/>
                      </a:solidFill>
                      <a:latin typeface="宋体" panose="02010600030101010101" pitchFamily="2" charset="-122"/>
                    </a:rPr>
                    <a:t>新旧系统转换、运行、维护（修正性、适应性、改善性维护）</a:t>
                  </a:r>
                  <a:endParaRPr lang="zh-CN" altLang="en-US" sz="1600" dirty="0">
                    <a:solidFill>
                      <a:srgbClr val="000000"/>
                    </a:solidFill>
                    <a:latin typeface="宋体" panose="02010600030101010101" pitchFamily="2" charset="-122"/>
                    <a:cs typeface="Times New Roman" panose="02020603050405020304" pitchFamily="18" charset="0"/>
                  </a:endParaRPr>
                </a:p>
                <a:p>
                  <a:pPr marL="0" lvl="0" indent="0">
                    <a:spcBef>
                      <a:spcPct val="0"/>
                    </a:spcBef>
                    <a:buClrTx/>
                    <a:buFontTx/>
                    <a:buNone/>
                  </a:pPr>
                  <a:endParaRPr lang="zh-CN" altLang="en-US" sz="1600" dirty="0">
                    <a:solidFill>
                      <a:schemeClr val="tx1"/>
                    </a:solidFill>
                  </a:endParaRPr>
                </a:p>
              </p:txBody>
            </p:sp>
            <p:sp>
              <p:nvSpPr>
                <p:cNvPr id="20510" name="Rectangle 70"/>
                <p:cNvSpPr/>
                <p:nvPr/>
              </p:nvSpPr>
              <p:spPr>
                <a:xfrm>
                  <a:off x="1581" y="3392"/>
                  <a:ext cx="1215" cy="460"/>
                </a:xfrm>
                <a:prstGeom prst="rect">
                  <a:avLst/>
                </a:prstGeom>
                <a:noFill/>
                <a:ln w="7" cap="flat" cmpd="sng">
                  <a:solidFill>
                    <a:srgbClr val="A0A0A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a:spcBef>
                      <a:spcPct val="0"/>
                    </a:spcBef>
                    <a:buClrTx/>
                    <a:buFontTx/>
                    <a:buNone/>
                  </a:pPr>
                  <a:endParaRPr lang="en-US" altLang="zh-CN" sz="1600" b="0" dirty="0">
                    <a:solidFill>
                      <a:schemeClr val="tx1"/>
                    </a:solidFill>
                  </a:endParaRPr>
                </a:p>
              </p:txBody>
            </p:sp>
          </p:grpSp>
        </p:grpSp>
        <p:sp>
          <p:nvSpPr>
            <p:cNvPr id="20486" name="Rectangle 71"/>
            <p:cNvSpPr/>
            <p:nvPr/>
          </p:nvSpPr>
          <p:spPr>
            <a:xfrm>
              <a:off x="-3" y="-3"/>
              <a:ext cx="2802" cy="3858"/>
            </a:xfrm>
            <a:prstGeom prst="rect">
              <a:avLst/>
            </a:prstGeom>
            <a:noFill/>
            <a:ln w="9525" cap="flat" cmpd="sng">
              <a:solidFill>
                <a:srgbClr val="A0A0A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a:spcBef>
                  <a:spcPct val="0"/>
                </a:spcBef>
                <a:buClrTx/>
                <a:buFontTx/>
                <a:buNone/>
              </a:pPr>
              <a:endParaRPr lang="en-US" altLang="zh-CN" sz="1600" b="0" dirty="0">
                <a:solidFill>
                  <a:schemeClr val="tx1"/>
                </a:solidFill>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21507" name="Rectangle 2"/>
          <p:cNvSpPr/>
          <p:nvPr/>
        </p:nvSpPr>
        <p:spPr>
          <a:xfrm>
            <a:off x="698500" y="2120900"/>
            <a:ext cx="7747000" cy="609600"/>
          </a:xfrm>
          <a:prstGeom prst="rect">
            <a:avLst/>
          </a:prstGeom>
          <a:solidFill>
            <a:schemeClr val="accent2"/>
          </a:solidFill>
          <a:ln w="9525">
            <a:noFill/>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a:spcBef>
                <a:spcPct val="0"/>
              </a:spcBef>
              <a:buClrTx/>
              <a:buFontTx/>
              <a:buNone/>
            </a:pPr>
            <a:endParaRPr lang="en-US" altLang="zh-CN" sz="1600" b="0" dirty="0">
              <a:solidFill>
                <a:schemeClr val="tx1"/>
              </a:solidFill>
            </a:endParaRPr>
          </a:p>
        </p:txBody>
      </p:sp>
      <p:sp>
        <p:nvSpPr>
          <p:cNvPr id="21508" name="Rectangle 3"/>
          <p:cNvSpPr>
            <a:spLocks noGrp="1"/>
          </p:cNvSpPr>
          <p:nvPr>
            <p:ph idx="1"/>
          </p:nvPr>
        </p:nvSpPr>
        <p:spPr>
          <a:xfrm>
            <a:off x="914400" y="1371600"/>
            <a:ext cx="7327900" cy="4876800"/>
          </a:xfrm>
          <a:ln/>
        </p:spPr>
        <p:txBody>
          <a:bodyPr vert="horz" wrap="square" lIns="91440" tIns="45720" rIns="91440" bIns="45720" anchor="t" anchorCtr="0"/>
          <a:p>
            <a:pPr eaLnBrk="1" hangingPunct="1">
              <a:lnSpc>
                <a:spcPct val="120000"/>
              </a:lnSpc>
              <a:spcBef>
                <a:spcPct val="0"/>
              </a:spcBef>
              <a:buClrTx/>
              <a:buFontTx/>
              <a:buNone/>
            </a:pPr>
            <a:r>
              <a:rPr lang="en-US" altLang="zh-CN" sz="3600" b="0" dirty="0">
                <a:solidFill>
                  <a:schemeClr val="tx1"/>
                </a:solidFill>
                <a:latin typeface="Arial Narrow" panose="020B0606020202030204" pitchFamily="34" charset="0"/>
                <a:ea typeface="楷体_GB2312" pitchFamily="49" charset="-122"/>
              </a:rPr>
              <a:t>7.1 </a:t>
            </a:r>
            <a:r>
              <a:rPr lang="zh-CN" altLang="en-US" sz="3600" b="0" dirty="0">
                <a:solidFill>
                  <a:schemeClr val="tx1"/>
                </a:solidFill>
                <a:latin typeface="Arial Narrow" panose="020B0606020202030204" pitchFamily="34" charset="0"/>
                <a:ea typeface="楷体_GB2312" pitchFamily="49" charset="-122"/>
              </a:rPr>
              <a:t>数据库设计概述</a:t>
            </a:r>
            <a:endParaRPr lang="zh-CN" altLang="en-US" sz="3600" b="0" dirty="0">
              <a:solidFill>
                <a:schemeClr val="tx1"/>
              </a:solidFill>
              <a:latin typeface="Arial Narrow" panose="020B0606020202030204" pitchFamily="34" charset="0"/>
              <a:ea typeface="楷体_GB2312" pitchFamily="49" charset="-122"/>
            </a:endParaRPr>
          </a:p>
          <a:p>
            <a:pPr eaLnBrk="1" hangingPunct="1">
              <a:lnSpc>
                <a:spcPct val="120000"/>
              </a:lnSpc>
              <a:spcBef>
                <a:spcPct val="0"/>
              </a:spcBef>
              <a:buClrTx/>
              <a:buFontTx/>
              <a:buNone/>
            </a:pPr>
            <a:r>
              <a:rPr lang="en-US" altLang="zh-CN" sz="3600" b="0" dirty="0">
                <a:solidFill>
                  <a:schemeClr val="bg1"/>
                </a:solidFill>
                <a:latin typeface="Arial Narrow" panose="020B0606020202030204" pitchFamily="34" charset="0"/>
                <a:ea typeface="楷体_GB2312" pitchFamily="49" charset="-122"/>
              </a:rPr>
              <a:t>7.2 </a:t>
            </a:r>
            <a:r>
              <a:rPr lang="zh-CN" altLang="en-US" sz="3600" b="0" dirty="0">
                <a:solidFill>
                  <a:schemeClr val="bg1"/>
                </a:solidFill>
                <a:latin typeface="Arial Narrow" panose="020B0606020202030204" pitchFamily="34" charset="0"/>
                <a:ea typeface="楷体_GB2312" pitchFamily="49" charset="-122"/>
              </a:rPr>
              <a:t>需求分析</a:t>
            </a:r>
            <a:endParaRPr lang="zh-CN" altLang="en-US" sz="3600" b="0" dirty="0">
              <a:solidFill>
                <a:schemeClr val="bg1"/>
              </a:solidFill>
              <a:latin typeface="Arial Narrow" panose="020B0606020202030204" pitchFamily="34" charset="0"/>
              <a:ea typeface="楷体_GB2312" pitchFamily="49" charset="-122"/>
            </a:endParaRPr>
          </a:p>
          <a:p>
            <a:pPr eaLnBrk="1" hangingPunct="1">
              <a:lnSpc>
                <a:spcPct val="120000"/>
              </a:lnSpc>
              <a:spcBef>
                <a:spcPct val="0"/>
              </a:spcBef>
              <a:buClrTx/>
              <a:buFontTx/>
              <a:buNone/>
            </a:pPr>
            <a:r>
              <a:rPr lang="en-US" altLang="zh-CN" sz="3600" b="0" dirty="0">
                <a:solidFill>
                  <a:schemeClr val="tx1"/>
                </a:solidFill>
                <a:latin typeface="Arial Narrow" panose="020B0606020202030204" pitchFamily="34" charset="0"/>
                <a:ea typeface="楷体_GB2312" pitchFamily="49" charset="-122"/>
              </a:rPr>
              <a:t>7.3 </a:t>
            </a:r>
            <a:r>
              <a:rPr lang="zh-CN" altLang="en-US" sz="3600" b="0" dirty="0">
                <a:solidFill>
                  <a:schemeClr val="tx1"/>
                </a:solidFill>
                <a:latin typeface="Arial Narrow" panose="020B0606020202030204" pitchFamily="34" charset="0"/>
                <a:ea typeface="楷体_GB2312" pitchFamily="49" charset="-122"/>
              </a:rPr>
              <a:t>概念结构设计</a:t>
            </a:r>
            <a:endParaRPr lang="zh-CN" altLang="en-US" sz="3600" b="0" dirty="0">
              <a:solidFill>
                <a:schemeClr val="tx1"/>
              </a:solidFill>
              <a:latin typeface="Arial Narrow" panose="020B0606020202030204" pitchFamily="34" charset="0"/>
              <a:ea typeface="楷体_GB2312" pitchFamily="49" charset="-122"/>
            </a:endParaRPr>
          </a:p>
          <a:p>
            <a:pPr eaLnBrk="1" hangingPunct="1">
              <a:lnSpc>
                <a:spcPct val="120000"/>
              </a:lnSpc>
              <a:spcBef>
                <a:spcPct val="0"/>
              </a:spcBef>
              <a:buClrTx/>
              <a:buFontTx/>
              <a:buNone/>
            </a:pPr>
            <a:r>
              <a:rPr lang="en-US" altLang="zh-CN" sz="3600" b="0" dirty="0">
                <a:solidFill>
                  <a:schemeClr val="tx1"/>
                </a:solidFill>
                <a:latin typeface="Arial Narrow" panose="020B0606020202030204" pitchFamily="34" charset="0"/>
                <a:ea typeface="楷体_GB2312" pitchFamily="49" charset="-122"/>
              </a:rPr>
              <a:t>7.4 </a:t>
            </a:r>
            <a:r>
              <a:rPr lang="zh-CN" altLang="en-US" sz="3600" b="0" dirty="0">
                <a:solidFill>
                  <a:schemeClr val="tx1"/>
                </a:solidFill>
                <a:latin typeface="Arial Narrow" panose="020B0606020202030204" pitchFamily="34" charset="0"/>
                <a:ea typeface="楷体_GB2312" pitchFamily="49" charset="-122"/>
              </a:rPr>
              <a:t>逻辑结构设计</a:t>
            </a:r>
            <a:endParaRPr lang="zh-CN" altLang="en-US" sz="3600" b="0" dirty="0">
              <a:solidFill>
                <a:schemeClr val="tx1"/>
              </a:solidFill>
              <a:latin typeface="Arial Narrow" panose="020B0606020202030204" pitchFamily="34" charset="0"/>
              <a:ea typeface="楷体_GB2312" pitchFamily="49" charset="-122"/>
            </a:endParaRPr>
          </a:p>
          <a:p>
            <a:pPr eaLnBrk="1" hangingPunct="1">
              <a:lnSpc>
                <a:spcPct val="120000"/>
              </a:lnSpc>
              <a:spcBef>
                <a:spcPct val="0"/>
              </a:spcBef>
              <a:buClrTx/>
              <a:buFontTx/>
              <a:buNone/>
            </a:pPr>
            <a:r>
              <a:rPr lang="en-US" altLang="zh-CN" sz="3600" b="0" dirty="0">
                <a:solidFill>
                  <a:schemeClr val="tx1"/>
                </a:solidFill>
                <a:latin typeface="Arial Narrow" panose="020B0606020202030204" pitchFamily="34" charset="0"/>
                <a:ea typeface="楷体_GB2312" pitchFamily="49" charset="-122"/>
              </a:rPr>
              <a:t>7.5 </a:t>
            </a:r>
            <a:r>
              <a:rPr lang="zh-CN" altLang="en-US" sz="3600" b="0" dirty="0">
                <a:solidFill>
                  <a:schemeClr val="tx1"/>
                </a:solidFill>
                <a:latin typeface="Arial Narrow" panose="020B0606020202030204" pitchFamily="34" charset="0"/>
                <a:ea typeface="楷体_GB2312" pitchFamily="49" charset="-122"/>
              </a:rPr>
              <a:t>数据库的物理设计</a:t>
            </a:r>
            <a:endParaRPr lang="zh-CN" altLang="en-US" sz="3600" b="0" dirty="0">
              <a:solidFill>
                <a:schemeClr val="tx1"/>
              </a:solidFill>
              <a:latin typeface="Arial Narrow" panose="020B0606020202030204" pitchFamily="34" charset="0"/>
              <a:ea typeface="楷体_GB2312" pitchFamily="49" charset="-122"/>
            </a:endParaRPr>
          </a:p>
          <a:p>
            <a:pPr eaLnBrk="1" hangingPunct="1">
              <a:lnSpc>
                <a:spcPct val="120000"/>
              </a:lnSpc>
              <a:spcBef>
                <a:spcPct val="0"/>
              </a:spcBef>
              <a:buClrTx/>
              <a:buFontTx/>
              <a:buNone/>
            </a:pPr>
            <a:r>
              <a:rPr lang="en-US" altLang="zh-CN" sz="3600" b="0" dirty="0">
                <a:solidFill>
                  <a:schemeClr val="tx1"/>
                </a:solidFill>
                <a:latin typeface="Arial Narrow" panose="020B0606020202030204" pitchFamily="34" charset="0"/>
                <a:ea typeface="楷体_GB2312" pitchFamily="49" charset="-122"/>
              </a:rPr>
              <a:t>7.6 </a:t>
            </a:r>
            <a:r>
              <a:rPr lang="zh-CN" altLang="en-US" sz="3600" b="0" dirty="0">
                <a:solidFill>
                  <a:schemeClr val="tx1"/>
                </a:solidFill>
                <a:latin typeface="Arial Narrow" panose="020B0606020202030204" pitchFamily="34" charset="0"/>
                <a:ea typeface="楷体_GB2312" pitchFamily="49" charset="-122"/>
              </a:rPr>
              <a:t>数据库实施</a:t>
            </a:r>
            <a:endParaRPr lang="zh-CN" altLang="en-US" sz="3600" b="0" dirty="0">
              <a:solidFill>
                <a:schemeClr val="tx1"/>
              </a:solidFill>
              <a:latin typeface="Arial Narrow" panose="020B0606020202030204" pitchFamily="34" charset="0"/>
              <a:ea typeface="楷体_GB2312" pitchFamily="49" charset="-122"/>
            </a:endParaRPr>
          </a:p>
          <a:p>
            <a:pPr eaLnBrk="1" hangingPunct="1">
              <a:lnSpc>
                <a:spcPct val="120000"/>
              </a:lnSpc>
              <a:spcBef>
                <a:spcPct val="0"/>
              </a:spcBef>
              <a:buClrTx/>
              <a:buFontTx/>
              <a:buNone/>
            </a:pPr>
            <a:r>
              <a:rPr lang="en-US" altLang="zh-CN" sz="3600" b="0" dirty="0">
                <a:solidFill>
                  <a:schemeClr val="tx1"/>
                </a:solidFill>
                <a:latin typeface="Arial Narrow" panose="020B0606020202030204" pitchFamily="34" charset="0"/>
                <a:ea typeface="楷体_GB2312" pitchFamily="49" charset="-122"/>
              </a:rPr>
              <a:t>7.7 </a:t>
            </a:r>
            <a:r>
              <a:rPr lang="zh-CN" altLang="en-US" sz="3600" b="0" dirty="0">
                <a:solidFill>
                  <a:schemeClr val="tx1"/>
                </a:solidFill>
                <a:latin typeface="Arial Narrow" panose="020B0606020202030204" pitchFamily="34" charset="0"/>
                <a:ea typeface="楷体_GB2312" pitchFamily="49" charset="-122"/>
              </a:rPr>
              <a:t>数据库运行和维护</a:t>
            </a:r>
            <a:endParaRPr lang="zh-CN" altLang="en-US" sz="3600" b="0" dirty="0">
              <a:solidFill>
                <a:schemeClr val="tx1"/>
              </a:solidFill>
              <a:latin typeface="Arial Narrow" panose="020B0606020202030204" pitchFamily="34" charset="0"/>
              <a:ea typeface="楷体_GB2312" pitchFamily="49" charset="-122"/>
            </a:endParaRPr>
          </a:p>
        </p:txBody>
      </p:sp>
      <p:sp>
        <p:nvSpPr>
          <p:cNvPr id="21509" name="Rectangle 4"/>
          <p:cNvSpPr>
            <a:spLocks noGrp="1"/>
          </p:cNvSpPr>
          <p:nvPr>
            <p:ph type="title"/>
          </p:nvPr>
        </p:nvSpPr>
        <p:spPr>
          <a:ln/>
        </p:spPr>
        <p:txBody>
          <a:bodyPr vert="horz" wrap="square" lIns="91440" tIns="45720" rIns="91440" bIns="45720" anchor="ctr" anchorCtr="0"/>
          <a:p>
            <a:pPr eaLnBrk="1" hangingPunct="1"/>
            <a:r>
              <a:rPr lang="zh-CN" altLang="en-US" dirty="0"/>
              <a:t>第</a:t>
            </a:r>
            <a:r>
              <a:rPr lang="en-US" altLang="zh-CN" dirty="0"/>
              <a:t>6</a:t>
            </a:r>
            <a:r>
              <a:rPr lang="zh-CN" altLang="en-US" dirty="0"/>
              <a:t>章 数据库设计</a:t>
            </a:r>
            <a:endParaRPr lang="zh-CN" alt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页脚占位符 2"/>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22531" name="Rectangle 2"/>
          <p:cNvSpPr/>
          <p:nvPr/>
        </p:nvSpPr>
        <p:spPr>
          <a:xfrm>
            <a:off x="1371600" y="1600200"/>
            <a:ext cx="7162800" cy="44196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342900" lvl="0" indent="-342900" algn="just" eaLnBrk="1" hangingPunct="1">
              <a:lnSpc>
                <a:spcPct val="120000"/>
              </a:lnSpc>
              <a:buNone/>
            </a:pPr>
            <a:r>
              <a:rPr lang="en-US" altLang="zh-CN" dirty="0"/>
              <a:t>7.2.1 </a:t>
            </a:r>
            <a:r>
              <a:rPr lang="zh-CN" altLang="en-US" dirty="0"/>
              <a:t>需求分析的任务</a:t>
            </a:r>
            <a:endParaRPr lang="zh-CN" altLang="en-US" dirty="0"/>
          </a:p>
          <a:p>
            <a:pPr marL="342900" lvl="0" indent="-342900" algn="just" eaLnBrk="1" hangingPunct="1">
              <a:lnSpc>
                <a:spcPct val="120000"/>
              </a:lnSpc>
              <a:buNone/>
            </a:pPr>
            <a:r>
              <a:rPr lang="en-US" altLang="zh-CN" dirty="0">
                <a:solidFill>
                  <a:schemeClr val="tx1"/>
                </a:solidFill>
              </a:rPr>
              <a:t>7.2.2 </a:t>
            </a:r>
            <a:r>
              <a:rPr lang="zh-CN" altLang="en-US" dirty="0">
                <a:solidFill>
                  <a:schemeClr val="tx1"/>
                </a:solidFill>
              </a:rPr>
              <a:t>需求分析的过程</a:t>
            </a:r>
            <a:endParaRPr lang="zh-CN" altLang="en-US" dirty="0">
              <a:solidFill>
                <a:schemeClr val="tx1"/>
              </a:solidFill>
            </a:endParaRPr>
          </a:p>
          <a:p>
            <a:pPr marL="342900" lvl="0" indent="-342900" algn="just" eaLnBrk="1" hangingPunct="1">
              <a:lnSpc>
                <a:spcPct val="120000"/>
              </a:lnSpc>
              <a:buNone/>
            </a:pPr>
            <a:r>
              <a:rPr lang="en-US" altLang="zh-CN" dirty="0">
                <a:solidFill>
                  <a:schemeClr val="tx1"/>
                </a:solidFill>
              </a:rPr>
              <a:t>7.2.3 </a:t>
            </a:r>
            <a:r>
              <a:rPr lang="zh-CN" altLang="en-US" dirty="0">
                <a:solidFill>
                  <a:schemeClr val="tx1"/>
                </a:solidFill>
              </a:rPr>
              <a:t>需求分析的方法</a:t>
            </a:r>
            <a:endParaRPr lang="zh-CN" altLang="en-US" dirty="0">
              <a:solidFill>
                <a:schemeClr val="tx1"/>
              </a:solidFill>
            </a:endParaRPr>
          </a:p>
          <a:p>
            <a:pPr marL="342900" lvl="0" indent="-342900" algn="just" eaLnBrk="1" hangingPunct="1">
              <a:lnSpc>
                <a:spcPct val="120000"/>
              </a:lnSpc>
              <a:buNone/>
            </a:pPr>
            <a:r>
              <a:rPr lang="en-US" altLang="zh-CN" dirty="0">
                <a:solidFill>
                  <a:schemeClr val="tx1"/>
                </a:solidFill>
              </a:rPr>
              <a:t>7.2.4 </a:t>
            </a:r>
            <a:r>
              <a:rPr lang="zh-CN" altLang="en-US" dirty="0">
                <a:solidFill>
                  <a:schemeClr val="tx1"/>
                </a:solidFill>
              </a:rPr>
              <a:t>数据流图与数据字典</a:t>
            </a:r>
            <a:endParaRPr lang="zh-CN" altLang="en-US" dirty="0">
              <a:solidFill>
                <a:schemeClr val="tx1"/>
              </a:solidFill>
            </a:endParaRPr>
          </a:p>
          <a:p>
            <a:pPr marL="342900" lvl="0" indent="-342900" algn="just" eaLnBrk="1" hangingPunct="1">
              <a:lnSpc>
                <a:spcPct val="120000"/>
              </a:lnSpc>
              <a:buNone/>
            </a:pPr>
            <a:endParaRPr lang="zh-CN" altLang="en-US" dirty="0"/>
          </a:p>
        </p:txBody>
      </p:sp>
      <p:sp>
        <p:nvSpPr>
          <p:cNvPr id="22532" name="Rectangle 3"/>
          <p:cNvSpPr/>
          <p:nvPr/>
        </p:nvSpPr>
        <p:spPr>
          <a:xfrm>
            <a:off x="685800" y="152400"/>
            <a:ext cx="7772400" cy="114300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eaLnBrk="1" hangingPunct="1">
              <a:spcBef>
                <a:spcPct val="0"/>
              </a:spcBef>
              <a:buClrTx/>
              <a:buFontTx/>
              <a:buNone/>
            </a:pPr>
            <a:r>
              <a:rPr lang="en-US" altLang="zh-CN" sz="4400" dirty="0">
                <a:solidFill>
                  <a:schemeClr val="accent2"/>
                </a:solidFill>
                <a:ea typeface="经典细隶书简" pitchFamily="49" charset="-122"/>
              </a:rPr>
              <a:t>7.2  </a:t>
            </a:r>
            <a:r>
              <a:rPr lang="zh-CN" altLang="en-US" sz="4400" dirty="0">
                <a:solidFill>
                  <a:schemeClr val="accent2"/>
                </a:solidFill>
                <a:ea typeface="经典细隶书简" pitchFamily="49" charset="-122"/>
              </a:rPr>
              <a:t>需求分析</a:t>
            </a:r>
            <a:endParaRPr lang="zh-CN" altLang="en-US" sz="4400" dirty="0">
              <a:solidFill>
                <a:schemeClr val="accent2"/>
              </a:solidFill>
              <a:ea typeface="经典细隶书简" pitchFamily="49"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页脚占位符 2"/>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23555" name="Rectangle 2"/>
          <p:cNvSpPr/>
          <p:nvPr/>
        </p:nvSpPr>
        <p:spPr>
          <a:xfrm>
            <a:off x="457200" y="812800"/>
            <a:ext cx="8382000" cy="54102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342900" lvl="0" indent="-342900" eaLnBrk="1" hangingPunct="1">
              <a:lnSpc>
                <a:spcPct val="120000"/>
              </a:lnSpc>
            </a:pPr>
            <a:r>
              <a:rPr lang="zh-CN" altLang="en-US" dirty="0">
                <a:solidFill>
                  <a:schemeClr val="tx1"/>
                </a:solidFill>
              </a:rPr>
              <a:t>通过详细调查现实世界要处理的对象（组织、部门、企业等），充分了解原系统（手工系统或计算机系统）工作概况，</a:t>
            </a:r>
            <a:r>
              <a:rPr lang="zh-CN" altLang="en-US" dirty="0"/>
              <a:t>明确用户的各种需求</a:t>
            </a:r>
            <a:endParaRPr lang="zh-CN" altLang="en-US" dirty="0"/>
          </a:p>
          <a:p>
            <a:pPr marL="342900" lvl="0" indent="-342900" eaLnBrk="1" hangingPunct="1">
              <a:lnSpc>
                <a:spcPct val="120000"/>
              </a:lnSpc>
            </a:pPr>
            <a:endParaRPr lang="zh-CN" altLang="en-US" dirty="0"/>
          </a:p>
          <a:p>
            <a:pPr marL="342900" lvl="0" indent="-342900" eaLnBrk="1" hangingPunct="1">
              <a:lnSpc>
                <a:spcPct val="120000"/>
              </a:lnSpc>
            </a:pPr>
            <a:r>
              <a:rPr lang="zh-CN" altLang="en-US" dirty="0">
                <a:solidFill>
                  <a:schemeClr val="tx1"/>
                </a:solidFill>
              </a:rPr>
              <a:t> 在此基础上</a:t>
            </a:r>
            <a:r>
              <a:rPr lang="zh-CN" altLang="en-US" dirty="0"/>
              <a:t>确定新系统的功能</a:t>
            </a:r>
            <a:r>
              <a:rPr lang="zh-CN" altLang="en-US" dirty="0">
                <a:solidFill>
                  <a:schemeClr val="tx1"/>
                </a:solidFill>
              </a:rPr>
              <a:t>。新系统必须充分考虑今后可能的扩充和改变，不能仅仅按当前应用需求来设计数据库</a:t>
            </a:r>
            <a:endParaRPr lang="zh-CN" altLang="en-US" dirty="0">
              <a:solidFill>
                <a:schemeClr val="tx1"/>
              </a:solidFill>
            </a:endParaRPr>
          </a:p>
        </p:txBody>
      </p:sp>
      <p:sp>
        <p:nvSpPr>
          <p:cNvPr id="23556" name="Rectangle 3"/>
          <p:cNvSpPr/>
          <p:nvPr/>
        </p:nvSpPr>
        <p:spPr>
          <a:xfrm>
            <a:off x="939800" y="12700"/>
            <a:ext cx="7772400" cy="60960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eaLnBrk="1" hangingPunct="1">
              <a:spcBef>
                <a:spcPct val="0"/>
              </a:spcBef>
              <a:buClrTx/>
              <a:buFontTx/>
              <a:buNone/>
            </a:pPr>
            <a:r>
              <a:rPr lang="en-US" altLang="zh-CN" sz="4400" dirty="0">
                <a:solidFill>
                  <a:schemeClr val="accent2"/>
                </a:solidFill>
                <a:ea typeface="经典细隶书简" pitchFamily="49" charset="-122"/>
              </a:rPr>
              <a:t>7.2.1  </a:t>
            </a:r>
            <a:r>
              <a:rPr lang="zh-CN" altLang="en-US" sz="4400" dirty="0">
                <a:solidFill>
                  <a:schemeClr val="accent2"/>
                </a:solidFill>
                <a:ea typeface="经典细隶书简" pitchFamily="49" charset="-122"/>
              </a:rPr>
              <a:t>需求分析的任务</a:t>
            </a:r>
            <a:endParaRPr lang="zh-CN" altLang="en-US" sz="4400" dirty="0">
              <a:solidFill>
                <a:schemeClr val="accent2"/>
              </a:solidFill>
              <a:ea typeface="经典细隶书简" pitchFamily="49"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页脚占位符 2"/>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24579" name="Rectangle 2"/>
          <p:cNvSpPr/>
          <p:nvPr/>
        </p:nvSpPr>
        <p:spPr>
          <a:xfrm>
            <a:off x="457200" y="1143000"/>
            <a:ext cx="8382000" cy="45720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342900" lvl="0" indent="-342900" eaLnBrk="1" hangingPunct="1">
              <a:lnSpc>
                <a:spcPct val="120000"/>
              </a:lnSpc>
            </a:pPr>
            <a:r>
              <a:rPr lang="zh-CN" altLang="en-US" sz="3600" dirty="0">
                <a:solidFill>
                  <a:schemeClr val="tx1"/>
                </a:solidFill>
              </a:rPr>
              <a:t>需求分析的</a:t>
            </a:r>
            <a:r>
              <a:rPr lang="zh-CN" altLang="en-US" sz="3600" dirty="0"/>
              <a:t>重点</a:t>
            </a:r>
            <a:r>
              <a:rPr lang="zh-CN" altLang="en-US" sz="3600" dirty="0">
                <a:solidFill>
                  <a:schemeClr val="tx1"/>
                </a:solidFill>
              </a:rPr>
              <a:t>是调查、收集与分析用户在数据管理中的</a:t>
            </a:r>
            <a:r>
              <a:rPr lang="zh-CN" altLang="en-US" sz="3600" dirty="0">
                <a:solidFill>
                  <a:srgbClr val="0000CC"/>
                </a:solidFill>
              </a:rPr>
              <a:t>信息要求</a:t>
            </a:r>
            <a:r>
              <a:rPr lang="zh-CN" altLang="en-US" sz="3600" dirty="0">
                <a:solidFill>
                  <a:schemeClr val="tx1"/>
                </a:solidFill>
              </a:rPr>
              <a:t>、</a:t>
            </a:r>
            <a:r>
              <a:rPr lang="zh-CN" altLang="en-US" sz="3600" dirty="0">
                <a:solidFill>
                  <a:srgbClr val="0000CC"/>
                </a:solidFill>
              </a:rPr>
              <a:t>处理要求</a:t>
            </a:r>
            <a:r>
              <a:rPr lang="zh-CN" altLang="en-US" sz="3600" dirty="0">
                <a:solidFill>
                  <a:schemeClr val="tx1"/>
                </a:solidFill>
              </a:rPr>
              <a:t>、</a:t>
            </a:r>
            <a:r>
              <a:rPr lang="zh-CN" altLang="en-US" sz="3600" dirty="0">
                <a:solidFill>
                  <a:srgbClr val="0000CC"/>
                </a:solidFill>
              </a:rPr>
              <a:t>安全性</a:t>
            </a:r>
            <a:r>
              <a:rPr lang="zh-CN" altLang="en-US" sz="3600" dirty="0">
                <a:solidFill>
                  <a:schemeClr val="tx1"/>
                </a:solidFill>
              </a:rPr>
              <a:t>与</a:t>
            </a:r>
            <a:r>
              <a:rPr lang="zh-CN" altLang="en-US" sz="3600" dirty="0">
                <a:solidFill>
                  <a:srgbClr val="0000CC"/>
                </a:solidFill>
              </a:rPr>
              <a:t>完整性</a:t>
            </a:r>
            <a:r>
              <a:rPr lang="zh-CN" altLang="en-US" sz="3600" dirty="0">
                <a:solidFill>
                  <a:schemeClr val="tx1"/>
                </a:solidFill>
              </a:rPr>
              <a:t>要求。</a:t>
            </a:r>
            <a:endParaRPr lang="zh-CN" altLang="en-US" sz="3600" dirty="0">
              <a:solidFill>
                <a:schemeClr val="tx1"/>
              </a:solidFill>
            </a:endParaRPr>
          </a:p>
          <a:p>
            <a:pPr marL="342900" lvl="0" indent="-342900" eaLnBrk="1" hangingPunct="1">
              <a:lnSpc>
                <a:spcPct val="120000"/>
              </a:lnSpc>
            </a:pPr>
            <a:r>
              <a:rPr lang="zh-CN" altLang="en-US" sz="3600" dirty="0">
                <a:solidFill>
                  <a:schemeClr val="tx1"/>
                </a:solidFill>
              </a:rPr>
              <a:t>提交需求说明文档</a:t>
            </a:r>
            <a:endParaRPr lang="zh-CN" altLang="en-US" sz="3600" dirty="0">
              <a:solidFill>
                <a:schemeClr val="tx1"/>
              </a:solidFill>
            </a:endParaRPr>
          </a:p>
          <a:p>
            <a:pPr marL="342900" lvl="0" indent="-342900" eaLnBrk="1" hangingPunct="1">
              <a:lnSpc>
                <a:spcPct val="120000"/>
              </a:lnSpc>
            </a:pPr>
            <a:endParaRPr lang="zh-CN" altLang="en-US" sz="3600" dirty="0">
              <a:solidFill>
                <a:schemeClr val="tx1"/>
              </a:solidFill>
            </a:endParaRPr>
          </a:p>
        </p:txBody>
      </p:sp>
      <p:sp>
        <p:nvSpPr>
          <p:cNvPr id="24580" name="Rectangle 3"/>
          <p:cNvSpPr/>
          <p:nvPr/>
        </p:nvSpPr>
        <p:spPr>
          <a:xfrm>
            <a:off x="939800" y="12700"/>
            <a:ext cx="7772400" cy="60960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eaLnBrk="1" hangingPunct="1">
              <a:spcBef>
                <a:spcPct val="0"/>
              </a:spcBef>
              <a:buClrTx/>
              <a:buFontTx/>
              <a:buNone/>
            </a:pPr>
            <a:r>
              <a:rPr lang="en-US" altLang="zh-CN" sz="4400" dirty="0">
                <a:solidFill>
                  <a:schemeClr val="accent2"/>
                </a:solidFill>
                <a:ea typeface="经典细隶书简" pitchFamily="49" charset="-122"/>
              </a:rPr>
              <a:t>7.2.1  </a:t>
            </a:r>
            <a:r>
              <a:rPr lang="zh-CN" altLang="en-US" sz="4400" dirty="0">
                <a:solidFill>
                  <a:schemeClr val="accent2"/>
                </a:solidFill>
                <a:ea typeface="经典细隶书简" pitchFamily="49" charset="-122"/>
              </a:rPr>
              <a:t>需求分析的任务</a:t>
            </a:r>
            <a:endParaRPr lang="zh-CN" altLang="en-US" sz="4400" dirty="0">
              <a:solidFill>
                <a:schemeClr val="accent2"/>
              </a:solidFill>
              <a:ea typeface="经典细隶书简" pitchFamily="49"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页脚占位符 2"/>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25603" name="Rectangle 2"/>
          <p:cNvSpPr/>
          <p:nvPr/>
        </p:nvSpPr>
        <p:spPr>
          <a:xfrm>
            <a:off x="1371600" y="1600200"/>
            <a:ext cx="7162800" cy="44196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342900" lvl="0" indent="-342900" algn="just" eaLnBrk="1" hangingPunct="1">
              <a:lnSpc>
                <a:spcPct val="120000"/>
              </a:lnSpc>
              <a:buNone/>
            </a:pPr>
            <a:r>
              <a:rPr lang="en-US" altLang="zh-CN" dirty="0">
                <a:solidFill>
                  <a:schemeClr val="tx1"/>
                </a:solidFill>
              </a:rPr>
              <a:t>7.2.1 </a:t>
            </a:r>
            <a:r>
              <a:rPr lang="zh-CN" altLang="en-US" dirty="0">
                <a:solidFill>
                  <a:schemeClr val="tx1"/>
                </a:solidFill>
              </a:rPr>
              <a:t>需求分析的任务</a:t>
            </a:r>
            <a:endParaRPr lang="zh-CN" altLang="en-US" dirty="0">
              <a:solidFill>
                <a:schemeClr val="tx1"/>
              </a:solidFill>
            </a:endParaRPr>
          </a:p>
          <a:p>
            <a:pPr marL="342900" lvl="0" indent="-342900" algn="just" eaLnBrk="1" hangingPunct="1">
              <a:lnSpc>
                <a:spcPct val="120000"/>
              </a:lnSpc>
              <a:buNone/>
            </a:pPr>
            <a:r>
              <a:rPr lang="en-US" altLang="zh-CN" dirty="0"/>
              <a:t>7.2.2 </a:t>
            </a:r>
            <a:r>
              <a:rPr lang="zh-CN" altLang="en-US" dirty="0"/>
              <a:t>需求分析的过程</a:t>
            </a:r>
            <a:endParaRPr lang="zh-CN" altLang="en-US" dirty="0"/>
          </a:p>
          <a:p>
            <a:pPr marL="342900" lvl="0" indent="-342900" algn="just" eaLnBrk="1" hangingPunct="1">
              <a:lnSpc>
                <a:spcPct val="120000"/>
              </a:lnSpc>
              <a:buNone/>
            </a:pPr>
            <a:r>
              <a:rPr lang="en-US" altLang="zh-CN" dirty="0">
                <a:solidFill>
                  <a:schemeClr val="tx1"/>
                </a:solidFill>
              </a:rPr>
              <a:t>7.2.3 </a:t>
            </a:r>
            <a:r>
              <a:rPr lang="zh-CN" altLang="en-US" dirty="0">
                <a:solidFill>
                  <a:schemeClr val="tx1"/>
                </a:solidFill>
              </a:rPr>
              <a:t>需求分析的方法</a:t>
            </a:r>
            <a:endParaRPr lang="zh-CN" altLang="en-US" dirty="0">
              <a:solidFill>
                <a:schemeClr val="tx1"/>
              </a:solidFill>
            </a:endParaRPr>
          </a:p>
          <a:p>
            <a:pPr marL="342900" lvl="0" indent="-342900" algn="just" eaLnBrk="1" hangingPunct="1">
              <a:lnSpc>
                <a:spcPct val="120000"/>
              </a:lnSpc>
              <a:buNone/>
            </a:pPr>
            <a:r>
              <a:rPr lang="en-US" altLang="zh-CN" dirty="0">
                <a:solidFill>
                  <a:schemeClr val="tx1"/>
                </a:solidFill>
              </a:rPr>
              <a:t>7.2.4 </a:t>
            </a:r>
            <a:r>
              <a:rPr lang="zh-CN" altLang="en-US" dirty="0">
                <a:solidFill>
                  <a:schemeClr val="tx1"/>
                </a:solidFill>
              </a:rPr>
              <a:t>数据流图与数据字典</a:t>
            </a:r>
            <a:endParaRPr lang="zh-CN" altLang="en-US" dirty="0">
              <a:solidFill>
                <a:schemeClr val="tx1"/>
              </a:solidFill>
            </a:endParaRPr>
          </a:p>
          <a:p>
            <a:pPr marL="342900" lvl="0" indent="-342900" algn="just" eaLnBrk="1" hangingPunct="1">
              <a:lnSpc>
                <a:spcPct val="120000"/>
              </a:lnSpc>
              <a:buNone/>
            </a:pPr>
            <a:endParaRPr lang="zh-CN" altLang="en-US" dirty="0"/>
          </a:p>
        </p:txBody>
      </p:sp>
      <p:sp>
        <p:nvSpPr>
          <p:cNvPr id="25604" name="Rectangle 3"/>
          <p:cNvSpPr/>
          <p:nvPr/>
        </p:nvSpPr>
        <p:spPr>
          <a:xfrm>
            <a:off x="685800" y="152400"/>
            <a:ext cx="7772400" cy="114300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eaLnBrk="1" hangingPunct="1">
              <a:spcBef>
                <a:spcPct val="0"/>
              </a:spcBef>
              <a:buClrTx/>
              <a:buFontTx/>
              <a:buNone/>
            </a:pPr>
            <a:r>
              <a:rPr lang="en-US" altLang="zh-CN" sz="4400" dirty="0">
                <a:solidFill>
                  <a:schemeClr val="accent2"/>
                </a:solidFill>
                <a:ea typeface="经典细隶书简" pitchFamily="49" charset="-122"/>
              </a:rPr>
              <a:t>7.2  </a:t>
            </a:r>
            <a:r>
              <a:rPr lang="zh-CN" altLang="en-US" sz="4400" dirty="0">
                <a:solidFill>
                  <a:schemeClr val="accent2"/>
                </a:solidFill>
                <a:ea typeface="经典细隶书简" pitchFamily="49" charset="-122"/>
              </a:rPr>
              <a:t>需求分析</a:t>
            </a:r>
            <a:endParaRPr lang="zh-CN" altLang="en-US" sz="4400" dirty="0">
              <a:solidFill>
                <a:schemeClr val="accent2"/>
              </a:solidFill>
              <a:ea typeface="经典细隶书简" pitchFamily="49"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页脚占位符 2"/>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26627" name="Rectangle 2"/>
          <p:cNvSpPr/>
          <p:nvPr/>
        </p:nvSpPr>
        <p:spPr>
          <a:xfrm>
            <a:off x="609600" y="1066800"/>
            <a:ext cx="8001000" cy="45720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342900" lvl="0" indent="-342900" eaLnBrk="1" hangingPunct="1">
              <a:lnSpc>
                <a:spcPct val="120000"/>
              </a:lnSpc>
            </a:pPr>
            <a:r>
              <a:rPr lang="zh-CN" altLang="en-US" sz="3600" dirty="0">
                <a:solidFill>
                  <a:schemeClr val="tx1"/>
                </a:solidFill>
              </a:rPr>
              <a:t>发现和分析问题</a:t>
            </a:r>
            <a:endParaRPr lang="zh-CN" altLang="en-US" sz="3600" dirty="0">
              <a:solidFill>
                <a:schemeClr val="tx1"/>
              </a:solidFill>
            </a:endParaRPr>
          </a:p>
          <a:p>
            <a:pPr marL="342900" lvl="0" indent="-342900" eaLnBrk="1" hangingPunct="1">
              <a:lnSpc>
                <a:spcPct val="120000"/>
              </a:lnSpc>
            </a:pPr>
            <a:r>
              <a:rPr lang="zh-CN" altLang="en-US" sz="3600" dirty="0">
                <a:solidFill>
                  <a:schemeClr val="tx1"/>
                </a:solidFill>
              </a:rPr>
              <a:t>获取需求</a:t>
            </a:r>
            <a:endParaRPr lang="zh-CN" altLang="en-US" sz="3600" dirty="0">
              <a:solidFill>
                <a:schemeClr val="tx1"/>
              </a:solidFill>
            </a:endParaRPr>
          </a:p>
          <a:p>
            <a:pPr marL="342900" lvl="0" indent="-342900" eaLnBrk="1" hangingPunct="1">
              <a:lnSpc>
                <a:spcPct val="120000"/>
              </a:lnSpc>
            </a:pPr>
            <a:r>
              <a:rPr lang="zh-CN" altLang="en-US" sz="3600" dirty="0">
                <a:solidFill>
                  <a:schemeClr val="tx1"/>
                </a:solidFill>
              </a:rPr>
              <a:t>归档和分析需求</a:t>
            </a:r>
            <a:endParaRPr lang="zh-CN" altLang="en-US" sz="3600" dirty="0">
              <a:solidFill>
                <a:schemeClr val="tx1"/>
              </a:solidFill>
            </a:endParaRPr>
          </a:p>
          <a:p>
            <a:pPr marL="342900" lvl="0" indent="-342900" eaLnBrk="1" hangingPunct="1">
              <a:lnSpc>
                <a:spcPct val="120000"/>
              </a:lnSpc>
            </a:pPr>
            <a:r>
              <a:rPr lang="zh-CN" altLang="en-US" sz="3600" dirty="0">
                <a:solidFill>
                  <a:schemeClr val="tx1"/>
                </a:solidFill>
              </a:rPr>
              <a:t>编写需求文档</a:t>
            </a:r>
            <a:endParaRPr lang="zh-CN" altLang="en-US" sz="3600" dirty="0">
              <a:solidFill>
                <a:schemeClr val="tx1"/>
              </a:solidFill>
            </a:endParaRPr>
          </a:p>
          <a:p>
            <a:pPr marL="342900" lvl="0" indent="-342900" eaLnBrk="1" hangingPunct="1">
              <a:lnSpc>
                <a:spcPct val="120000"/>
              </a:lnSpc>
            </a:pPr>
            <a:r>
              <a:rPr lang="zh-CN" altLang="en-US" sz="3600" dirty="0">
                <a:solidFill>
                  <a:schemeClr val="tx1"/>
                </a:solidFill>
              </a:rPr>
              <a:t>需求评审</a:t>
            </a:r>
            <a:endParaRPr lang="zh-CN" altLang="en-US" sz="3600" dirty="0">
              <a:solidFill>
                <a:schemeClr val="tx1"/>
              </a:solidFill>
            </a:endParaRPr>
          </a:p>
          <a:p>
            <a:pPr marL="342900" lvl="0" indent="-342900" eaLnBrk="1" hangingPunct="1">
              <a:lnSpc>
                <a:spcPct val="120000"/>
              </a:lnSpc>
            </a:pPr>
            <a:r>
              <a:rPr lang="zh-CN" altLang="en-US" sz="3600" dirty="0">
                <a:solidFill>
                  <a:schemeClr val="tx1"/>
                </a:solidFill>
              </a:rPr>
              <a:t>需求管理</a:t>
            </a:r>
            <a:endParaRPr lang="zh-CN" altLang="en-US" sz="3600" dirty="0">
              <a:solidFill>
                <a:schemeClr val="tx1"/>
              </a:solidFill>
            </a:endParaRPr>
          </a:p>
        </p:txBody>
      </p:sp>
      <p:sp>
        <p:nvSpPr>
          <p:cNvPr id="26628" name="Rectangle 3"/>
          <p:cNvSpPr/>
          <p:nvPr/>
        </p:nvSpPr>
        <p:spPr>
          <a:xfrm>
            <a:off x="939800" y="12700"/>
            <a:ext cx="7772400" cy="60960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eaLnBrk="1" hangingPunct="1">
              <a:spcBef>
                <a:spcPct val="0"/>
              </a:spcBef>
              <a:buClrTx/>
              <a:buFontTx/>
              <a:buNone/>
            </a:pPr>
            <a:r>
              <a:rPr lang="en-US" altLang="zh-CN" sz="4400" dirty="0">
                <a:solidFill>
                  <a:schemeClr val="accent2"/>
                </a:solidFill>
                <a:ea typeface="经典细隶书简" pitchFamily="49" charset="-122"/>
              </a:rPr>
              <a:t>7.2.2  </a:t>
            </a:r>
            <a:r>
              <a:rPr lang="zh-CN" altLang="en-US" sz="4400" dirty="0">
                <a:solidFill>
                  <a:schemeClr val="accent2"/>
                </a:solidFill>
                <a:ea typeface="经典细隶书简" pitchFamily="49" charset="-122"/>
              </a:rPr>
              <a:t>需求分析的过程</a:t>
            </a:r>
            <a:endParaRPr lang="zh-CN" altLang="en-US" sz="4400" dirty="0">
              <a:solidFill>
                <a:schemeClr val="accent2"/>
              </a:solidFill>
              <a:ea typeface="经典细隶书简" pitchFamily="49"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页脚占位符 2"/>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27651" name="Rectangle 2"/>
          <p:cNvSpPr/>
          <p:nvPr/>
        </p:nvSpPr>
        <p:spPr>
          <a:xfrm>
            <a:off x="1371600" y="1600200"/>
            <a:ext cx="7162800" cy="44196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342900" lvl="0" indent="-342900" algn="just" eaLnBrk="1" hangingPunct="1">
              <a:lnSpc>
                <a:spcPct val="120000"/>
              </a:lnSpc>
              <a:buNone/>
            </a:pPr>
            <a:r>
              <a:rPr lang="en-US" altLang="zh-CN" dirty="0">
                <a:solidFill>
                  <a:schemeClr val="tx1"/>
                </a:solidFill>
              </a:rPr>
              <a:t>7.2.1 </a:t>
            </a:r>
            <a:r>
              <a:rPr lang="zh-CN" altLang="en-US" dirty="0">
                <a:solidFill>
                  <a:schemeClr val="tx1"/>
                </a:solidFill>
              </a:rPr>
              <a:t>需求分析的任务</a:t>
            </a:r>
            <a:endParaRPr lang="zh-CN" altLang="en-US" dirty="0">
              <a:solidFill>
                <a:schemeClr val="tx1"/>
              </a:solidFill>
            </a:endParaRPr>
          </a:p>
          <a:p>
            <a:pPr marL="342900" lvl="0" indent="-342900" algn="just" eaLnBrk="1" hangingPunct="1">
              <a:lnSpc>
                <a:spcPct val="120000"/>
              </a:lnSpc>
              <a:buNone/>
            </a:pPr>
            <a:r>
              <a:rPr lang="en-US" altLang="zh-CN" dirty="0">
                <a:solidFill>
                  <a:schemeClr val="tx1"/>
                </a:solidFill>
              </a:rPr>
              <a:t>7.2.2 </a:t>
            </a:r>
            <a:r>
              <a:rPr lang="zh-CN" altLang="en-US" dirty="0">
                <a:solidFill>
                  <a:schemeClr val="tx1"/>
                </a:solidFill>
              </a:rPr>
              <a:t>需求分析的过程</a:t>
            </a:r>
            <a:endParaRPr lang="zh-CN" altLang="en-US" dirty="0">
              <a:solidFill>
                <a:schemeClr val="tx1"/>
              </a:solidFill>
            </a:endParaRPr>
          </a:p>
          <a:p>
            <a:pPr marL="342900" lvl="0" indent="-342900" algn="just" eaLnBrk="1" hangingPunct="1">
              <a:lnSpc>
                <a:spcPct val="120000"/>
              </a:lnSpc>
              <a:buNone/>
            </a:pPr>
            <a:r>
              <a:rPr lang="en-US" altLang="zh-CN" dirty="0"/>
              <a:t>7.2.3 </a:t>
            </a:r>
            <a:r>
              <a:rPr lang="zh-CN" altLang="en-US" dirty="0"/>
              <a:t>需求分析的方法</a:t>
            </a:r>
            <a:endParaRPr lang="zh-CN" altLang="en-US" dirty="0"/>
          </a:p>
          <a:p>
            <a:pPr marL="342900" lvl="0" indent="-342900" algn="just" eaLnBrk="1" hangingPunct="1">
              <a:lnSpc>
                <a:spcPct val="120000"/>
              </a:lnSpc>
              <a:buNone/>
            </a:pPr>
            <a:r>
              <a:rPr lang="en-US" altLang="zh-CN" dirty="0">
                <a:solidFill>
                  <a:schemeClr val="tx1"/>
                </a:solidFill>
              </a:rPr>
              <a:t>7.2.4 </a:t>
            </a:r>
            <a:r>
              <a:rPr lang="zh-CN" altLang="en-US" dirty="0">
                <a:solidFill>
                  <a:schemeClr val="tx1"/>
                </a:solidFill>
              </a:rPr>
              <a:t>数据流图与数据字典</a:t>
            </a:r>
            <a:endParaRPr lang="zh-CN" altLang="en-US" dirty="0">
              <a:solidFill>
                <a:schemeClr val="tx1"/>
              </a:solidFill>
            </a:endParaRPr>
          </a:p>
          <a:p>
            <a:pPr marL="342900" lvl="0" indent="-342900" algn="just" eaLnBrk="1" hangingPunct="1">
              <a:lnSpc>
                <a:spcPct val="120000"/>
              </a:lnSpc>
              <a:buNone/>
            </a:pPr>
            <a:endParaRPr lang="zh-CN" altLang="en-US" dirty="0"/>
          </a:p>
        </p:txBody>
      </p:sp>
      <p:sp>
        <p:nvSpPr>
          <p:cNvPr id="27652" name="Rectangle 3"/>
          <p:cNvSpPr/>
          <p:nvPr/>
        </p:nvSpPr>
        <p:spPr>
          <a:xfrm>
            <a:off x="685800" y="152400"/>
            <a:ext cx="7772400" cy="114300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eaLnBrk="1" hangingPunct="1">
              <a:spcBef>
                <a:spcPct val="0"/>
              </a:spcBef>
              <a:buClrTx/>
              <a:buFontTx/>
              <a:buNone/>
            </a:pPr>
            <a:r>
              <a:rPr lang="en-US" altLang="zh-CN" sz="4400" dirty="0">
                <a:solidFill>
                  <a:schemeClr val="accent2"/>
                </a:solidFill>
                <a:ea typeface="经典细隶书简" pitchFamily="49" charset="-122"/>
              </a:rPr>
              <a:t>7.2  </a:t>
            </a:r>
            <a:r>
              <a:rPr lang="zh-CN" altLang="en-US" sz="4400" dirty="0">
                <a:solidFill>
                  <a:schemeClr val="accent2"/>
                </a:solidFill>
                <a:ea typeface="经典细隶书简" pitchFamily="49" charset="-122"/>
              </a:rPr>
              <a:t>需求分析</a:t>
            </a:r>
            <a:endParaRPr lang="zh-CN" altLang="en-US" sz="4400" dirty="0">
              <a:solidFill>
                <a:schemeClr val="accent2"/>
              </a:solidFill>
              <a:ea typeface="经典细隶书简" pitchFamily="49"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页脚占位符 2"/>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28675" name="Rectangle 2"/>
          <p:cNvSpPr/>
          <p:nvPr/>
        </p:nvSpPr>
        <p:spPr>
          <a:xfrm>
            <a:off x="304800" y="838200"/>
            <a:ext cx="8686800" cy="57912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342900" lvl="0" indent="-342900" eaLnBrk="1" hangingPunct="1">
              <a:lnSpc>
                <a:spcPct val="120000"/>
              </a:lnSpc>
            </a:pPr>
            <a:r>
              <a:rPr lang="zh-CN" altLang="en-US" dirty="0">
                <a:solidFill>
                  <a:schemeClr val="tx1"/>
                </a:solidFill>
              </a:rPr>
              <a:t>调查组织机构情况</a:t>
            </a:r>
            <a:endParaRPr lang="zh-CN" altLang="en-US" dirty="0">
              <a:solidFill>
                <a:schemeClr val="tx1"/>
              </a:solidFill>
            </a:endParaRPr>
          </a:p>
          <a:p>
            <a:pPr marL="742950" lvl="1" indent="-285750" eaLnBrk="1" hangingPunct="1">
              <a:lnSpc>
                <a:spcPct val="120000"/>
              </a:lnSpc>
              <a:buClr>
                <a:srgbClr val="FF3300"/>
              </a:buClr>
            </a:pPr>
            <a:r>
              <a:rPr lang="zh-CN" altLang="en-US" sz="3200" dirty="0"/>
              <a:t> 组织部门的组成情况</a:t>
            </a:r>
            <a:endParaRPr lang="zh-CN" altLang="en-US" sz="3200" dirty="0"/>
          </a:p>
          <a:p>
            <a:pPr marL="742950" lvl="1" indent="-285750" eaLnBrk="1" hangingPunct="1">
              <a:lnSpc>
                <a:spcPct val="120000"/>
              </a:lnSpc>
              <a:buClr>
                <a:srgbClr val="FF3300"/>
              </a:buClr>
            </a:pPr>
            <a:r>
              <a:rPr lang="zh-CN" altLang="en-US" sz="3200" dirty="0"/>
              <a:t> 各部门的职责等</a:t>
            </a:r>
            <a:endParaRPr lang="zh-CN" altLang="en-US" sz="3200" dirty="0"/>
          </a:p>
          <a:p>
            <a:pPr marL="342900" lvl="0" indent="-342900" eaLnBrk="1" hangingPunct="1">
              <a:lnSpc>
                <a:spcPct val="120000"/>
              </a:lnSpc>
            </a:pPr>
            <a:r>
              <a:rPr lang="zh-CN" altLang="en-US" dirty="0">
                <a:solidFill>
                  <a:schemeClr val="tx1"/>
                </a:solidFill>
                <a:latin typeface="Tahoma" panose="020B0604030504040204" pitchFamily="34" charset="0"/>
              </a:rPr>
              <a:t>调查各部门的业务活动情况。调查重点之一。</a:t>
            </a:r>
            <a:endParaRPr lang="zh-CN" altLang="en-US" dirty="0">
              <a:solidFill>
                <a:schemeClr val="tx1"/>
              </a:solidFill>
              <a:latin typeface="Tahoma" panose="020B0604030504040204" pitchFamily="34" charset="0"/>
            </a:endParaRPr>
          </a:p>
          <a:p>
            <a:pPr marL="742950" lvl="1" indent="-285750" eaLnBrk="1" hangingPunct="1">
              <a:lnSpc>
                <a:spcPct val="120000"/>
              </a:lnSpc>
              <a:buClr>
                <a:srgbClr val="FF3300"/>
              </a:buClr>
            </a:pPr>
            <a:r>
              <a:rPr lang="zh-CN" altLang="en-US" sz="2400" dirty="0">
                <a:latin typeface="Tahoma" panose="020B0604030504040204" pitchFamily="34" charset="0"/>
              </a:rPr>
              <a:t> </a:t>
            </a:r>
            <a:r>
              <a:rPr lang="zh-CN" altLang="en-US" dirty="0">
                <a:latin typeface="Tahoma" panose="020B0604030504040204" pitchFamily="34" charset="0"/>
              </a:rPr>
              <a:t>各个部门输入和使用什么数据</a:t>
            </a:r>
            <a:endParaRPr lang="zh-CN" altLang="en-US" dirty="0">
              <a:latin typeface="Tahoma" panose="020B0604030504040204" pitchFamily="34" charset="0"/>
            </a:endParaRPr>
          </a:p>
          <a:p>
            <a:pPr marL="742950" lvl="1" indent="-285750" eaLnBrk="1" hangingPunct="1">
              <a:lnSpc>
                <a:spcPct val="120000"/>
              </a:lnSpc>
              <a:buClr>
                <a:srgbClr val="FF3300"/>
              </a:buClr>
            </a:pPr>
            <a:r>
              <a:rPr lang="zh-CN" altLang="en-US" dirty="0">
                <a:latin typeface="Tahoma" panose="020B0604030504040204" pitchFamily="34" charset="0"/>
              </a:rPr>
              <a:t> 如何加工处理这些数据</a:t>
            </a:r>
            <a:endParaRPr lang="zh-CN" altLang="en-US" dirty="0">
              <a:latin typeface="Tahoma" panose="020B0604030504040204" pitchFamily="34" charset="0"/>
            </a:endParaRPr>
          </a:p>
          <a:p>
            <a:pPr marL="742950" lvl="1" indent="-285750" eaLnBrk="1" hangingPunct="1">
              <a:lnSpc>
                <a:spcPct val="120000"/>
              </a:lnSpc>
              <a:buClr>
                <a:srgbClr val="FF3300"/>
              </a:buClr>
            </a:pPr>
            <a:r>
              <a:rPr lang="zh-CN" altLang="en-US" dirty="0">
                <a:latin typeface="Tahoma" panose="020B0604030504040204" pitchFamily="34" charset="0"/>
              </a:rPr>
              <a:t> 输出什么信息</a:t>
            </a:r>
            <a:endParaRPr lang="zh-CN" altLang="en-US" dirty="0">
              <a:latin typeface="Tahoma" panose="020B0604030504040204" pitchFamily="34" charset="0"/>
            </a:endParaRPr>
          </a:p>
          <a:p>
            <a:pPr marL="742950" lvl="1" indent="-285750" eaLnBrk="1" hangingPunct="1">
              <a:lnSpc>
                <a:spcPct val="120000"/>
              </a:lnSpc>
              <a:buClr>
                <a:srgbClr val="FF3300"/>
              </a:buClr>
            </a:pPr>
            <a:r>
              <a:rPr lang="zh-CN" altLang="en-US" dirty="0">
                <a:latin typeface="Tahoma" panose="020B0604030504040204" pitchFamily="34" charset="0"/>
              </a:rPr>
              <a:t> 输出到什么部门</a:t>
            </a:r>
            <a:endParaRPr lang="zh-CN" altLang="en-US" dirty="0">
              <a:latin typeface="Tahoma" panose="020B0604030504040204" pitchFamily="34" charset="0"/>
            </a:endParaRPr>
          </a:p>
          <a:p>
            <a:pPr marL="742950" lvl="1" indent="-285750" eaLnBrk="1" hangingPunct="1">
              <a:lnSpc>
                <a:spcPct val="120000"/>
              </a:lnSpc>
              <a:buClr>
                <a:srgbClr val="FF3300"/>
              </a:buClr>
            </a:pPr>
            <a:r>
              <a:rPr lang="zh-CN" altLang="en-US" dirty="0">
                <a:latin typeface="Tahoma" panose="020B0604030504040204" pitchFamily="34" charset="0"/>
              </a:rPr>
              <a:t> 输出结果的格式是什么</a:t>
            </a:r>
            <a:endParaRPr lang="zh-CN" altLang="en-US" dirty="0"/>
          </a:p>
        </p:txBody>
      </p:sp>
      <p:sp>
        <p:nvSpPr>
          <p:cNvPr id="28676" name="Rectangle 3"/>
          <p:cNvSpPr/>
          <p:nvPr/>
        </p:nvSpPr>
        <p:spPr>
          <a:xfrm>
            <a:off x="939800" y="12700"/>
            <a:ext cx="7772400" cy="60960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eaLnBrk="1" hangingPunct="1">
              <a:spcBef>
                <a:spcPct val="0"/>
              </a:spcBef>
              <a:buClrTx/>
              <a:buFontTx/>
              <a:buNone/>
            </a:pPr>
            <a:r>
              <a:rPr lang="en-US" altLang="zh-CN" sz="4400" dirty="0">
                <a:solidFill>
                  <a:schemeClr val="accent2"/>
                </a:solidFill>
                <a:ea typeface="经典细隶书简" pitchFamily="49" charset="-122"/>
              </a:rPr>
              <a:t>7.2.3  </a:t>
            </a:r>
            <a:r>
              <a:rPr lang="zh-CN" altLang="en-US" sz="4400" dirty="0">
                <a:solidFill>
                  <a:schemeClr val="accent2"/>
                </a:solidFill>
                <a:ea typeface="经典细隶书简" pitchFamily="49" charset="-122"/>
              </a:rPr>
              <a:t>需求分析的方法</a:t>
            </a:r>
            <a:endParaRPr lang="zh-CN" altLang="en-US" sz="4400" dirty="0">
              <a:solidFill>
                <a:schemeClr val="accent2"/>
              </a:solidFill>
              <a:ea typeface="经典细隶书简" pitchFamily="49"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页脚占位符 2"/>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29699" name="Rectangle 2"/>
          <p:cNvSpPr/>
          <p:nvPr/>
        </p:nvSpPr>
        <p:spPr>
          <a:xfrm>
            <a:off x="304800" y="838200"/>
            <a:ext cx="8686800" cy="51816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342900" lvl="0" indent="-342900" eaLnBrk="1" hangingPunct="1">
              <a:lnSpc>
                <a:spcPct val="120000"/>
              </a:lnSpc>
            </a:pPr>
            <a:r>
              <a:rPr lang="zh-CN" altLang="en-US" dirty="0">
                <a:solidFill>
                  <a:schemeClr val="tx1"/>
                </a:solidFill>
              </a:rPr>
              <a:t>在熟悉业务活动的基础上，协助用户明确对新系统的各种要求。调查重点之二。</a:t>
            </a:r>
            <a:endParaRPr lang="zh-CN" altLang="en-US" dirty="0">
              <a:solidFill>
                <a:schemeClr val="tx1"/>
              </a:solidFill>
            </a:endParaRPr>
          </a:p>
          <a:p>
            <a:pPr marL="742950" lvl="1" indent="-285750" eaLnBrk="1" hangingPunct="1">
              <a:lnSpc>
                <a:spcPct val="120000"/>
              </a:lnSpc>
              <a:buClr>
                <a:srgbClr val="FF3300"/>
              </a:buClr>
            </a:pPr>
            <a:r>
              <a:rPr lang="zh-CN" altLang="en-US" sz="3200" dirty="0"/>
              <a:t> 信息要求</a:t>
            </a:r>
            <a:endParaRPr lang="zh-CN" altLang="en-US" sz="3200" dirty="0"/>
          </a:p>
          <a:p>
            <a:pPr marL="742950" lvl="1" indent="-285750" eaLnBrk="1" hangingPunct="1">
              <a:lnSpc>
                <a:spcPct val="120000"/>
              </a:lnSpc>
              <a:buClr>
                <a:srgbClr val="FF3300"/>
              </a:buClr>
            </a:pPr>
            <a:r>
              <a:rPr lang="zh-CN" altLang="en-US" sz="3200" dirty="0"/>
              <a:t> 处理要求</a:t>
            </a:r>
            <a:endParaRPr lang="zh-CN" altLang="en-US" sz="3200" dirty="0"/>
          </a:p>
          <a:p>
            <a:pPr marL="742950" lvl="1" indent="-285750" eaLnBrk="1" hangingPunct="1">
              <a:lnSpc>
                <a:spcPct val="120000"/>
              </a:lnSpc>
              <a:buClr>
                <a:srgbClr val="FF3300"/>
              </a:buClr>
            </a:pPr>
            <a:r>
              <a:rPr lang="zh-CN" altLang="en-US" sz="3200" dirty="0"/>
              <a:t> 完全性</a:t>
            </a:r>
            <a:endParaRPr lang="zh-CN" altLang="en-US" sz="3200" dirty="0"/>
          </a:p>
          <a:p>
            <a:pPr marL="742950" lvl="1" indent="-285750" eaLnBrk="1" hangingPunct="1">
              <a:lnSpc>
                <a:spcPct val="120000"/>
              </a:lnSpc>
              <a:buClr>
                <a:srgbClr val="FF3300"/>
              </a:buClr>
            </a:pPr>
            <a:r>
              <a:rPr lang="zh-CN" altLang="en-US" sz="3200" dirty="0"/>
              <a:t> 完整性要求</a:t>
            </a:r>
            <a:endParaRPr lang="zh-CN" altLang="en-US" sz="3200" dirty="0"/>
          </a:p>
        </p:txBody>
      </p:sp>
      <p:sp>
        <p:nvSpPr>
          <p:cNvPr id="29700" name="Rectangle 3"/>
          <p:cNvSpPr/>
          <p:nvPr/>
        </p:nvSpPr>
        <p:spPr>
          <a:xfrm>
            <a:off x="939800" y="12700"/>
            <a:ext cx="7772400" cy="60960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eaLnBrk="1" hangingPunct="1">
              <a:spcBef>
                <a:spcPct val="0"/>
              </a:spcBef>
              <a:buClrTx/>
              <a:buFontTx/>
              <a:buNone/>
            </a:pPr>
            <a:r>
              <a:rPr lang="en-US" altLang="zh-CN" sz="4400" dirty="0">
                <a:solidFill>
                  <a:schemeClr val="accent2"/>
                </a:solidFill>
                <a:ea typeface="经典细隶书简" pitchFamily="49" charset="-122"/>
              </a:rPr>
              <a:t>7.2.3  </a:t>
            </a:r>
            <a:r>
              <a:rPr lang="zh-CN" altLang="en-US" sz="4400" dirty="0">
                <a:solidFill>
                  <a:schemeClr val="accent2"/>
                </a:solidFill>
                <a:ea typeface="经典细隶书简" pitchFamily="49" charset="-122"/>
              </a:rPr>
              <a:t>需求分析的方法</a:t>
            </a:r>
            <a:endParaRPr lang="zh-CN" altLang="en-US" sz="4400" dirty="0">
              <a:solidFill>
                <a:schemeClr val="accent2"/>
              </a:solidFill>
              <a:ea typeface="经典细隶书简" pitchFamily="49"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页脚占位符 2"/>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30723" name="Rectangle 2"/>
          <p:cNvSpPr/>
          <p:nvPr/>
        </p:nvSpPr>
        <p:spPr>
          <a:xfrm>
            <a:off x="304800" y="838200"/>
            <a:ext cx="8686800" cy="57150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342900" lvl="0" indent="-342900" eaLnBrk="1" hangingPunct="1">
              <a:lnSpc>
                <a:spcPct val="120000"/>
              </a:lnSpc>
            </a:pPr>
            <a:r>
              <a:rPr lang="zh-CN" altLang="en-US" dirty="0">
                <a:solidFill>
                  <a:schemeClr val="tx1"/>
                </a:solidFill>
              </a:rPr>
              <a:t>对前面调查的结果进行初步分析</a:t>
            </a:r>
            <a:endParaRPr lang="zh-CN" altLang="en-US" dirty="0">
              <a:solidFill>
                <a:schemeClr val="tx1"/>
              </a:solidFill>
            </a:endParaRPr>
          </a:p>
          <a:p>
            <a:pPr marL="742950" lvl="1" indent="-285750" eaLnBrk="1" hangingPunct="1">
              <a:lnSpc>
                <a:spcPct val="120000"/>
              </a:lnSpc>
              <a:buClr>
                <a:srgbClr val="FF3300"/>
              </a:buClr>
            </a:pPr>
            <a:r>
              <a:rPr lang="zh-CN" altLang="en-US" sz="3200" dirty="0"/>
              <a:t>确定新系统的边界</a:t>
            </a:r>
            <a:endParaRPr lang="zh-CN" altLang="en-US" sz="3200" dirty="0"/>
          </a:p>
          <a:p>
            <a:pPr marL="1143000" lvl="2" indent="-228600" eaLnBrk="1" hangingPunct="1">
              <a:lnSpc>
                <a:spcPct val="120000"/>
              </a:lnSpc>
              <a:buClr>
                <a:srgbClr val="FF3300"/>
              </a:buClr>
              <a:buFont typeface="Wingdings" panose="05000000000000000000" pitchFamily="2" charset="2"/>
              <a:buChar char="§"/>
            </a:pPr>
            <a:r>
              <a:rPr lang="zh-CN" altLang="en-US" sz="3200" dirty="0">
                <a:ea typeface="宋体" panose="02010600030101010101" pitchFamily="2" charset="-122"/>
              </a:rPr>
              <a:t>确定哪些功能由计算机完成或将来准备让计算机完成</a:t>
            </a:r>
            <a:endParaRPr lang="zh-CN" altLang="en-US" sz="3200" dirty="0">
              <a:ea typeface="宋体" panose="02010600030101010101" pitchFamily="2" charset="-122"/>
            </a:endParaRPr>
          </a:p>
          <a:p>
            <a:pPr marL="1143000" lvl="2" indent="-228600" eaLnBrk="1" hangingPunct="1">
              <a:lnSpc>
                <a:spcPct val="120000"/>
              </a:lnSpc>
              <a:buClr>
                <a:srgbClr val="FF3300"/>
              </a:buClr>
              <a:buFont typeface="Wingdings" panose="05000000000000000000" pitchFamily="2" charset="2"/>
              <a:buChar char="§"/>
            </a:pPr>
            <a:r>
              <a:rPr lang="zh-CN" altLang="en-US" sz="3200" dirty="0">
                <a:ea typeface="宋体" panose="02010600030101010101" pitchFamily="2" charset="-122"/>
              </a:rPr>
              <a:t>确定哪些活动由人工完成</a:t>
            </a:r>
            <a:endParaRPr lang="zh-CN" altLang="en-US" sz="3200" dirty="0">
              <a:ea typeface="宋体" panose="02010600030101010101" pitchFamily="2" charset="-122"/>
            </a:endParaRPr>
          </a:p>
          <a:p>
            <a:pPr marL="342900" lvl="0" indent="-342900" eaLnBrk="1" hangingPunct="1">
              <a:lnSpc>
                <a:spcPct val="120000"/>
              </a:lnSpc>
              <a:buNone/>
            </a:pPr>
            <a:r>
              <a:rPr lang="zh-CN" altLang="en-US" dirty="0">
                <a:solidFill>
                  <a:schemeClr val="tx1"/>
                </a:solidFill>
              </a:rPr>
              <a:t>	由计算机完成的功能就是新系统应该实现的功能。</a:t>
            </a:r>
            <a:endParaRPr lang="zh-CN" altLang="en-US" dirty="0">
              <a:solidFill>
                <a:schemeClr val="tx1"/>
              </a:solidFill>
            </a:endParaRPr>
          </a:p>
          <a:p>
            <a:pPr marL="342900" lvl="0" indent="-342900" eaLnBrk="1" hangingPunct="1">
              <a:lnSpc>
                <a:spcPct val="120000"/>
              </a:lnSpc>
              <a:buFont typeface="Wingdings" panose="05000000000000000000" pitchFamily="2" charset="2"/>
              <a:buChar char="§"/>
            </a:pPr>
            <a:endParaRPr lang="zh-CN" altLang="en-US" dirty="0">
              <a:solidFill>
                <a:schemeClr val="tx1"/>
              </a:solidFill>
            </a:endParaRPr>
          </a:p>
        </p:txBody>
      </p:sp>
      <p:sp>
        <p:nvSpPr>
          <p:cNvPr id="30724" name="Rectangle 3"/>
          <p:cNvSpPr/>
          <p:nvPr/>
        </p:nvSpPr>
        <p:spPr>
          <a:xfrm>
            <a:off x="939800" y="12700"/>
            <a:ext cx="7772400" cy="60960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eaLnBrk="1" hangingPunct="1">
              <a:spcBef>
                <a:spcPct val="0"/>
              </a:spcBef>
              <a:buClrTx/>
              <a:buFontTx/>
              <a:buNone/>
            </a:pPr>
            <a:r>
              <a:rPr lang="en-US" altLang="zh-CN" sz="4400" dirty="0">
                <a:solidFill>
                  <a:schemeClr val="accent2"/>
                </a:solidFill>
                <a:ea typeface="经典细隶书简" pitchFamily="49" charset="-122"/>
              </a:rPr>
              <a:t>7.2.3  </a:t>
            </a:r>
            <a:r>
              <a:rPr lang="zh-CN" altLang="en-US" sz="4400" dirty="0">
                <a:solidFill>
                  <a:schemeClr val="accent2"/>
                </a:solidFill>
                <a:ea typeface="经典细隶书简" pitchFamily="49" charset="-122"/>
              </a:rPr>
              <a:t>需求分析的方法</a:t>
            </a:r>
            <a:endParaRPr lang="zh-CN" altLang="en-US" sz="4400" dirty="0">
              <a:solidFill>
                <a:schemeClr val="accent2"/>
              </a:solidFill>
              <a:ea typeface="经典细隶书简" pitchFamily="49"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页脚占位符 2"/>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31747" name="Rectangle 2"/>
          <p:cNvSpPr/>
          <p:nvPr/>
        </p:nvSpPr>
        <p:spPr>
          <a:xfrm>
            <a:off x="304800" y="838200"/>
            <a:ext cx="8686800" cy="56388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342900" lvl="0" indent="-342900" eaLnBrk="1" hangingPunct="1">
              <a:lnSpc>
                <a:spcPct val="120000"/>
              </a:lnSpc>
            </a:pPr>
            <a:r>
              <a:rPr lang="zh-CN" altLang="en-US" dirty="0">
                <a:solidFill>
                  <a:schemeClr val="tx1"/>
                </a:solidFill>
              </a:rPr>
              <a:t>常用的调查方法</a:t>
            </a:r>
            <a:endParaRPr lang="zh-CN" altLang="en-US" dirty="0">
              <a:solidFill>
                <a:schemeClr val="tx1"/>
              </a:solidFill>
            </a:endParaRPr>
          </a:p>
          <a:p>
            <a:pPr marL="742950" lvl="1" indent="-285750" eaLnBrk="1" hangingPunct="1">
              <a:lnSpc>
                <a:spcPct val="120000"/>
              </a:lnSpc>
              <a:buClr>
                <a:srgbClr val="FF3300"/>
              </a:buClr>
            </a:pPr>
            <a:r>
              <a:rPr lang="zh-CN" altLang="en-US" sz="3200" dirty="0"/>
              <a:t>跟班作业</a:t>
            </a:r>
            <a:endParaRPr lang="zh-CN" altLang="en-US" sz="3200" dirty="0"/>
          </a:p>
          <a:p>
            <a:pPr marL="742950" lvl="1" indent="-285750" eaLnBrk="1" hangingPunct="1">
              <a:lnSpc>
                <a:spcPct val="120000"/>
              </a:lnSpc>
              <a:buClr>
                <a:srgbClr val="FF3300"/>
              </a:buClr>
            </a:pPr>
            <a:r>
              <a:rPr lang="zh-CN" altLang="en-US" sz="3200" dirty="0"/>
              <a:t>开调查座谈会</a:t>
            </a:r>
            <a:endParaRPr lang="zh-CN" altLang="en-US" sz="3200" dirty="0"/>
          </a:p>
          <a:p>
            <a:pPr marL="742950" lvl="1" indent="-285750" eaLnBrk="1" hangingPunct="1">
              <a:lnSpc>
                <a:spcPct val="120000"/>
              </a:lnSpc>
              <a:buClr>
                <a:srgbClr val="FF3300"/>
              </a:buClr>
            </a:pPr>
            <a:r>
              <a:rPr lang="zh-CN" altLang="en-US" sz="3200" dirty="0"/>
              <a:t>请用户介绍</a:t>
            </a:r>
            <a:endParaRPr lang="zh-CN" altLang="en-US" sz="3200" dirty="0"/>
          </a:p>
          <a:p>
            <a:pPr marL="742950" lvl="1" indent="-285750" eaLnBrk="1" hangingPunct="1">
              <a:lnSpc>
                <a:spcPct val="120000"/>
              </a:lnSpc>
              <a:buClr>
                <a:srgbClr val="FF3300"/>
              </a:buClr>
            </a:pPr>
            <a:r>
              <a:rPr lang="zh-CN" altLang="en-US" sz="3200" dirty="0"/>
              <a:t>提问</a:t>
            </a:r>
            <a:endParaRPr lang="zh-CN" altLang="en-US" sz="3200" dirty="0"/>
          </a:p>
          <a:p>
            <a:pPr marL="742950" lvl="1" indent="-285750" eaLnBrk="1" hangingPunct="1">
              <a:lnSpc>
                <a:spcPct val="120000"/>
              </a:lnSpc>
              <a:buClr>
                <a:srgbClr val="FF3300"/>
              </a:buClr>
            </a:pPr>
            <a:r>
              <a:rPr lang="zh-CN" altLang="en-US" sz="3200" dirty="0"/>
              <a:t>设计调查问卷请用户填写</a:t>
            </a:r>
            <a:endParaRPr lang="zh-CN" altLang="en-US" sz="3200" dirty="0"/>
          </a:p>
          <a:p>
            <a:pPr marL="742950" lvl="1" indent="-285750" eaLnBrk="1" hangingPunct="1">
              <a:lnSpc>
                <a:spcPct val="120000"/>
              </a:lnSpc>
              <a:buClr>
                <a:srgbClr val="FF3300"/>
              </a:buClr>
            </a:pPr>
            <a:r>
              <a:rPr lang="zh-CN" altLang="en-US" sz="3200" dirty="0"/>
              <a:t>查阅历史纪录 </a:t>
            </a:r>
            <a:endParaRPr lang="zh-CN" altLang="en-US" sz="3200" dirty="0"/>
          </a:p>
          <a:p>
            <a:pPr marL="742950" lvl="1" indent="-285750" eaLnBrk="1" hangingPunct="1">
              <a:lnSpc>
                <a:spcPct val="120000"/>
              </a:lnSpc>
              <a:buClr>
                <a:srgbClr val="FF3300"/>
              </a:buClr>
              <a:buNone/>
            </a:pPr>
            <a:r>
              <a:rPr lang="zh-CN" altLang="en-US" sz="3200" dirty="0"/>
              <a:t>多种方式同时进行</a:t>
            </a:r>
            <a:endParaRPr lang="zh-CN" altLang="en-US" sz="3200" dirty="0"/>
          </a:p>
        </p:txBody>
      </p:sp>
      <p:sp>
        <p:nvSpPr>
          <p:cNvPr id="31748" name="Rectangle 3"/>
          <p:cNvSpPr/>
          <p:nvPr/>
        </p:nvSpPr>
        <p:spPr>
          <a:xfrm>
            <a:off x="939800" y="12700"/>
            <a:ext cx="7772400" cy="60960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eaLnBrk="1" hangingPunct="1">
              <a:spcBef>
                <a:spcPct val="0"/>
              </a:spcBef>
              <a:buClrTx/>
              <a:buFontTx/>
              <a:buNone/>
            </a:pPr>
            <a:r>
              <a:rPr lang="en-US" altLang="zh-CN" sz="4400" dirty="0">
                <a:solidFill>
                  <a:schemeClr val="accent2"/>
                </a:solidFill>
                <a:ea typeface="经典细隶书简" pitchFamily="49" charset="-122"/>
              </a:rPr>
              <a:t>7.2.3  </a:t>
            </a:r>
            <a:r>
              <a:rPr lang="zh-CN" altLang="en-US" sz="4400" dirty="0">
                <a:solidFill>
                  <a:schemeClr val="accent2"/>
                </a:solidFill>
                <a:ea typeface="经典细隶书简" pitchFamily="49" charset="-122"/>
              </a:rPr>
              <a:t>需求分析的方法</a:t>
            </a:r>
            <a:endParaRPr lang="zh-CN" altLang="en-US" sz="4400" dirty="0">
              <a:solidFill>
                <a:schemeClr val="accent2"/>
              </a:solidFill>
              <a:ea typeface="经典细隶书简" pitchFamily="49"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页脚占位符 2"/>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32771" name="Rectangle 2"/>
          <p:cNvSpPr/>
          <p:nvPr/>
        </p:nvSpPr>
        <p:spPr>
          <a:xfrm>
            <a:off x="939800" y="12700"/>
            <a:ext cx="7772400" cy="60960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eaLnBrk="1" hangingPunct="1">
              <a:spcBef>
                <a:spcPct val="0"/>
              </a:spcBef>
              <a:buClrTx/>
              <a:buFontTx/>
              <a:buNone/>
            </a:pPr>
            <a:r>
              <a:rPr lang="en-US" altLang="zh-CN" sz="4400" dirty="0">
                <a:solidFill>
                  <a:schemeClr val="accent2"/>
                </a:solidFill>
                <a:ea typeface="经典细隶书简" pitchFamily="49" charset="-122"/>
              </a:rPr>
              <a:t>7.2.3  </a:t>
            </a:r>
            <a:r>
              <a:rPr lang="zh-CN" altLang="en-US" sz="4400" dirty="0">
                <a:solidFill>
                  <a:schemeClr val="accent2"/>
                </a:solidFill>
                <a:ea typeface="经典细隶书简" pitchFamily="49" charset="-122"/>
              </a:rPr>
              <a:t>需求分析的方法</a:t>
            </a:r>
            <a:endParaRPr lang="zh-CN" altLang="en-US" sz="4400" dirty="0">
              <a:solidFill>
                <a:schemeClr val="accent2"/>
              </a:solidFill>
              <a:ea typeface="经典细隶书简" pitchFamily="49" charset="-122"/>
            </a:endParaRPr>
          </a:p>
        </p:txBody>
      </p:sp>
      <p:pic>
        <p:nvPicPr>
          <p:cNvPr id="32772" name="Picture 3" descr="1"/>
          <p:cNvPicPr>
            <a:picLocks noChangeAspect="1"/>
          </p:cNvPicPr>
          <p:nvPr/>
        </p:nvPicPr>
        <p:blipFill>
          <a:blip r:embed="rId1"/>
          <a:stretch>
            <a:fillRect/>
          </a:stretch>
        </p:blipFill>
        <p:spPr>
          <a:xfrm>
            <a:off x="0" y="2286000"/>
            <a:ext cx="5181600" cy="4211638"/>
          </a:xfrm>
          <a:prstGeom prst="rect">
            <a:avLst/>
          </a:prstGeom>
          <a:noFill/>
          <a:ln w="9525">
            <a:noFill/>
          </a:ln>
        </p:spPr>
      </p:pic>
      <p:pic>
        <p:nvPicPr>
          <p:cNvPr id="32773" name="Picture 4" descr="p2"/>
          <p:cNvPicPr>
            <a:picLocks noChangeAspect="1"/>
          </p:cNvPicPr>
          <p:nvPr/>
        </p:nvPicPr>
        <p:blipFill>
          <a:blip r:embed="rId2"/>
          <a:stretch>
            <a:fillRect/>
          </a:stretch>
        </p:blipFill>
        <p:spPr>
          <a:xfrm>
            <a:off x="4876800" y="914400"/>
            <a:ext cx="4086225" cy="2205038"/>
          </a:xfrm>
          <a:prstGeom prst="rect">
            <a:avLst/>
          </a:prstGeom>
          <a:noFill/>
          <a:ln w="9525">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页脚占位符 2"/>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33795" name="Rectangle 2"/>
          <p:cNvSpPr/>
          <p:nvPr/>
        </p:nvSpPr>
        <p:spPr>
          <a:xfrm>
            <a:off x="304800" y="990600"/>
            <a:ext cx="8077200" cy="49530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342900" lvl="0" indent="-342900" eaLnBrk="1" hangingPunct="1">
              <a:lnSpc>
                <a:spcPct val="120000"/>
              </a:lnSpc>
            </a:pPr>
            <a:r>
              <a:rPr lang="zh-CN" altLang="en-US" dirty="0">
                <a:solidFill>
                  <a:schemeClr val="tx1"/>
                </a:solidFill>
              </a:rPr>
              <a:t>技巧</a:t>
            </a:r>
            <a:endParaRPr lang="zh-CN" altLang="en-US" dirty="0">
              <a:solidFill>
                <a:schemeClr val="tx1"/>
              </a:solidFill>
            </a:endParaRPr>
          </a:p>
          <a:p>
            <a:pPr marL="742950" lvl="1" indent="-285750" eaLnBrk="1" hangingPunct="1">
              <a:lnSpc>
                <a:spcPct val="120000"/>
              </a:lnSpc>
              <a:buClr>
                <a:srgbClr val="FF3300"/>
              </a:buClr>
            </a:pPr>
            <a:r>
              <a:rPr lang="zh-CN" altLang="en-US" sz="3200" dirty="0"/>
              <a:t>提纲</a:t>
            </a:r>
            <a:endParaRPr lang="zh-CN" altLang="en-US" sz="3200" dirty="0"/>
          </a:p>
          <a:p>
            <a:pPr marL="742950" lvl="1" indent="-285750" eaLnBrk="1" hangingPunct="1">
              <a:lnSpc>
                <a:spcPct val="120000"/>
              </a:lnSpc>
              <a:buClr>
                <a:srgbClr val="FF3300"/>
              </a:buClr>
            </a:pPr>
            <a:r>
              <a:rPr lang="zh-CN" altLang="en-US" sz="3200" dirty="0"/>
              <a:t>导航</a:t>
            </a:r>
            <a:endParaRPr lang="zh-CN" altLang="en-US" sz="3200" dirty="0"/>
          </a:p>
          <a:p>
            <a:pPr marL="742950" lvl="1" indent="-285750" eaLnBrk="1" hangingPunct="1">
              <a:lnSpc>
                <a:spcPct val="120000"/>
              </a:lnSpc>
              <a:buClr>
                <a:srgbClr val="FF3300"/>
              </a:buClr>
            </a:pPr>
            <a:r>
              <a:rPr lang="zh-CN" altLang="en-US" sz="3200" dirty="0"/>
              <a:t>气氛 </a:t>
            </a:r>
            <a:endParaRPr lang="zh-CN" altLang="en-US" sz="3200" dirty="0"/>
          </a:p>
          <a:p>
            <a:pPr marL="742950" lvl="1" indent="-285750" eaLnBrk="1" hangingPunct="1">
              <a:lnSpc>
                <a:spcPct val="120000"/>
              </a:lnSpc>
              <a:buClr>
                <a:srgbClr val="FF3300"/>
              </a:buClr>
              <a:buNone/>
            </a:pPr>
            <a:r>
              <a:rPr lang="zh-CN" altLang="en-US" sz="3200" dirty="0"/>
              <a:t>沟通能力</a:t>
            </a:r>
            <a:endParaRPr lang="zh-CN" altLang="en-US" sz="3200" dirty="0"/>
          </a:p>
        </p:txBody>
      </p:sp>
      <p:sp>
        <p:nvSpPr>
          <p:cNvPr id="33796" name="Rectangle 3"/>
          <p:cNvSpPr/>
          <p:nvPr/>
        </p:nvSpPr>
        <p:spPr>
          <a:xfrm>
            <a:off x="939800" y="12700"/>
            <a:ext cx="7772400" cy="60960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eaLnBrk="1" hangingPunct="1">
              <a:spcBef>
                <a:spcPct val="0"/>
              </a:spcBef>
              <a:buClrTx/>
              <a:buFontTx/>
              <a:buNone/>
            </a:pPr>
            <a:r>
              <a:rPr lang="en-US" altLang="zh-CN" sz="4400" dirty="0">
                <a:solidFill>
                  <a:schemeClr val="accent2"/>
                </a:solidFill>
                <a:ea typeface="经典细隶书简" pitchFamily="49" charset="-122"/>
              </a:rPr>
              <a:t>7.2.3  </a:t>
            </a:r>
            <a:r>
              <a:rPr lang="zh-CN" altLang="en-US" sz="4400" dirty="0">
                <a:solidFill>
                  <a:schemeClr val="accent2"/>
                </a:solidFill>
                <a:ea typeface="经典细隶书简" pitchFamily="49" charset="-122"/>
              </a:rPr>
              <a:t>需求分析的方法</a:t>
            </a:r>
            <a:endParaRPr lang="zh-CN" altLang="en-US" sz="4400" dirty="0">
              <a:solidFill>
                <a:schemeClr val="accent2"/>
              </a:solidFill>
              <a:ea typeface="经典细隶书简" pitchFamily="49"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页脚占位符 2"/>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34819" name="Rectangle 2"/>
          <p:cNvSpPr/>
          <p:nvPr/>
        </p:nvSpPr>
        <p:spPr>
          <a:xfrm>
            <a:off x="304800" y="990600"/>
            <a:ext cx="8077200" cy="49530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342900" lvl="0" indent="-342900" eaLnBrk="1" hangingPunct="1">
              <a:lnSpc>
                <a:spcPct val="120000"/>
              </a:lnSpc>
            </a:pPr>
            <a:r>
              <a:rPr lang="zh-CN" altLang="en-US" dirty="0">
                <a:solidFill>
                  <a:schemeClr val="tx1"/>
                </a:solidFill>
              </a:rPr>
              <a:t>分析与表达用户需求常用的方法</a:t>
            </a:r>
            <a:endParaRPr lang="zh-CN" altLang="en-US" dirty="0">
              <a:solidFill>
                <a:schemeClr val="tx1"/>
              </a:solidFill>
            </a:endParaRPr>
          </a:p>
          <a:p>
            <a:pPr marL="742950" lvl="1" indent="-285750" eaLnBrk="1" hangingPunct="1">
              <a:lnSpc>
                <a:spcPct val="120000"/>
              </a:lnSpc>
              <a:buClr>
                <a:srgbClr val="FF3300"/>
              </a:buClr>
            </a:pPr>
            <a:r>
              <a:rPr lang="zh-CN" altLang="en-US" sz="3200" dirty="0"/>
              <a:t>面向数据的方法 </a:t>
            </a:r>
            <a:endParaRPr lang="zh-CN" altLang="en-US" sz="3200" dirty="0"/>
          </a:p>
          <a:p>
            <a:pPr marL="742950" lvl="1" indent="-285750" eaLnBrk="1" hangingPunct="1">
              <a:lnSpc>
                <a:spcPct val="120000"/>
              </a:lnSpc>
              <a:buClr>
                <a:srgbClr val="FF3300"/>
              </a:buClr>
            </a:pPr>
            <a:r>
              <a:rPr lang="zh-CN" altLang="en-US" sz="3200" dirty="0"/>
              <a:t>面向过程的方法</a:t>
            </a:r>
            <a:endParaRPr lang="zh-CN" altLang="en-US" sz="3200" dirty="0"/>
          </a:p>
          <a:p>
            <a:pPr marL="342900" lvl="0" indent="-342900" eaLnBrk="1" hangingPunct="1">
              <a:lnSpc>
                <a:spcPct val="120000"/>
              </a:lnSpc>
            </a:pPr>
            <a:r>
              <a:rPr lang="zh-CN" altLang="en-US" dirty="0">
                <a:solidFill>
                  <a:schemeClr val="tx1"/>
                </a:solidFill>
              </a:rPr>
              <a:t>结构化分析</a:t>
            </a:r>
            <a:r>
              <a:rPr lang="en-US" altLang="zh-CN" dirty="0">
                <a:solidFill>
                  <a:schemeClr val="tx1"/>
                </a:solidFill>
              </a:rPr>
              <a:t>(Structured Analysis, SA)</a:t>
            </a:r>
            <a:r>
              <a:rPr lang="zh-CN" altLang="en-US" dirty="0">
                <a:solidFill>
                  <a:schemeClr val="tx1"/>
                </a:solidFill>
              </a:rPr>
              <a:t>方法</a:t>
            </a:r>
            <a:endParaRPr lang="zh-CN" altLang="en-US" dirty="0">
              <a:solidFill>
                <a:schemeClr val="tx1"/>
              </a:solidFill>
            </a:endParaRPr>
          </a:p>
          <a:p>
            <a:pPr marL="742950" lvl="1" indent="-285750" eaLnBrk="1" hangingPunct="1">
              <a:lnSpc>
                <a:spcPct val="120000"/>
              </a:lnSpc>
              <a:buClr>
                <a:srgbClr val="FF3300"/>
              </a:buClr>
            </a:pPr>
            <a:r>
              <a:rPr lang="zh-CN" altLang="en-US" sz="3200" dirty="0"/>
              <a:t>从最上层的系统组织结构入手，采用自顶向下、逐层分解的方式分析系统</a:t>
            </a:r>
            <a:endParaRPr lang="en-US" altLang="zh-CN" sz="3200" dirty="0"/>
          </a:p>
          <a:p>
            <a:pPr marL="742950" lvl="1" indent="-285750" eaLnBrk="1" hangingPunct="1">
              <a:lnSpc>
                <a:spcPct val="120000"/>
              </a:lnSpc>
              <a:buClr>
                <a:srgbClr val="FF3300"/>
              </a:buClr>
            </a:pPr>
            <a:r>
              <a:rPr lang="zh-CN" altLang="en-US" sz="3200" dirty="0"/>
              <a:t>用数据流图和数据字典描述系统</a:t>
            </a:r>
            <a:endParaRPr lang="zh-CN" altLang="en-US" sz="3200" dirty="0"/>
          </a:p>
        </p:txBody>
      </p:sp>
      <p:sp>
        <p:nvSpPr>
          <p:cNvPr id="34820" name="Rectangle 3"/>
          <p:cNvSpPr/>
          <p:nvPr/>
        </p:nvSpPr>
        <p:spPr>
          <a:xfrm>
            <a:off x="939800" y="12700"/>
            <a:ext cx="7772400" cy="60960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eaLnBrk="1" hangingPunct="1">
              <a:spcBef>
                <a:spcPct val="0"/>
              </a:spcBef>
              <a:buClrTx/>
              <a:buFontTx/>
              <a:buNone/>
            </a:pPr>
            <a:r>
              <a:rPr lang="en-US" altLang="zh-CN" sz="4400" dirty="0">
                <a:solidFill>
                  <a:schemeClr val="accent2"/>
                </a:solidFill>
                <a:ea typeface="经典细隶书简" pitchFamily="49" charset="-122"/>
              </a:rPr>
              <a:t>7.2.3  </a:t>
            </a:r>
            <a:r>
              <a:rPr lang="zh-CN" altLang="en-US" sz="4400" dirty="0">
                <a:solidFill>
                  <a:schemeClr val="accent2"/>
                </a:solidFill>
                <a:ea typeface="经典细隶书简" pitchFamily="49" charset="-122"/>
              </a:rPr>
              <a:t>需求分析的方法</a:t>
            </a:r>
            <a:endParaRPr lang="zh-CN" altLang="en-US" sz="4400" dirty="0">
              <a:solidFill>
                <a:schemeClr val="accent2"/>
              </a:solidFill>
              <a:ea typeface="经典细隶书简" pitchFamily="49"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页脚占位符 2"/>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35843" name="Rectangle 2"/>
          <p:cNvSpPr/>
          <p:nvPr/>
        </p:nvSpPr>
        <p:spPr>
          <a:xfrm>
            <a:off x="1371600" y="1600200"/>
            <a:ext cx="7162800" cy="44196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342900" lvl="0" indent="-342900" algn="just" eaLnBrk="1" hangingPunct="1">
              <a:lnSpc>
                <a:spcPct val="120000"/>
              </a:lnSpc>
              <a:buNone/>
            </a:pPr>
            <a:r>
              <a:rPr lang="en-US" altLang="zh-CN" dirty="0">
                <a:solidFill>
                  <a:schemeClr val="tx1"/>
                </a:solidFill>
              </a:rPr>
              <a:t>7.2.1 </a:t>
            </a:r>
            <a:r>
              <a:rPr lang="zh-CN" altLang="en-US" dirty="0">
                <a:solidFill>
                  <a:schemeClr val="tx1"/>
                </a:solidFill>
              </a:rPr>
              <a:t>需求分析的任务</a:t>
            </a:r>
            <a:endParaRPr lang="zh-CN" altLang="en-US" dirty="0">
              <a:solidFill>
                <a:schemeClr val="tx1"/>
              </a:solidFill>
            </a:endParaRPr>
          </a:p>
          <a:p>
            <a:pPr marL="342900" lvl="0" indent="-342900" algn="just" eaLnBrk="1" hangingPunct="1">
              <a:lnSpc>
                <a:spcPct val="120000"/>
              </a:lnSpc>
              <a:buNone/>
            </a:pPr>
            <a:r>
              <a:rPr lang="en-US" altLang="zh-CN" dirty="0">
                <a:solidFill>
                  <a:schemeClr val="tx1"/>
                </a:solidFill>
              </a:rPr>
              <a:t>7.2.2 </a:t>
            </a:r>
            <a:r>
              <a:rPr lang="zh-CN" altLang="en-US" dirty="0">
                <a:solidFill>
                  <a:schemeClr val="tx1"/>
                </a:solidFill>
              </a:rPr>
              <a:t>需求分析的过程</a:t>
            </a:r>
            <a:endParaRPr lang="zh-CN" altLang="en-US" dirty="0">
              <a:solidFill>
                <a:schemeClr val="tx1"/>
              </a:solidFill>
            </a:endParaRPr>
          </a:p>
          <a:p>
            <a:pPr marL="342900" lvl="0" indent="-342900" algn="just" eaLnBrk="1" hangingPunct="1">
              <a:lnSpc>
                <a:spcPct val="120000"/>
              </a:lnSpc>
              <a:buNone/>
            </a:pPr>
            <a:r>
              <a:rPr lang="en-US" altLang="zh-CN" dirty="0">
                <a:solidFill>
                  <a:schemeClr val="tx1"/>
                </a:solidFill>
              </a:rPr>
              <a:t>7.2.3 </a:t>
            </a:r>
            <a:r>
              <a:rPr lang="zh-CN" altLang="en-US" dirty="0">
                <a:solidFill>
                  <a:schemeClr val="tx1"/>
                </a:solidFill>
              </a:rPr>
              <a:t>需求分析的方法</a:t>
            </a:r>
            <a:endParaRPr lang="zh-CN" altLang="en-US" dirty="0">
              <a:solidFill>
                <a:schemeClr val="tx1"/>
              </a:solidFill>
            </a:endParaRPr>
          </a:p>
          <a:p>
            <a:pPr marL="342900" lvl="0" indent="-342900" algn="just" eaLnBrk="1" hangingPunct="1">
              <a:lnSpc>
                <a:spcPct val="120000"/>
              </a:lnSpc>
              <a:buNone/>
            </a:pPr>
            <a:r>
              <a:rPr lang="en-US" altLang="zh-CN" dirty="0"/>
              <a:t>7.2.4 </a:t>
            </a:r>
            <a:r>
              <a:rPr lang="zh-CN" altLang="en-US" dirty="0"/>
              <a:t>数据流图与数据字典</a:t>
            </a:r>
            <a:endParaRPr lang="zh-CN" altLang="en-US" dirty="0"/>
          </a:p>
          <a:p>
            <a:pPr marL="342900" lvl="0" indent="-342900" algn="just" eaLnBrk="1" hangingPunct="1">
              <a:lnSpc>
                <a:spcPct val="120000"/>
              </a:lnSpc>
              <a:buNone/>
            </a:pPr>
            <a:endParaRPr lang="zh-CN" altLang="en-US" dirty="0"/>
          </a:p>
        </p:txBody>
      </p:sp>
      <p:sp>
        <p:nvSpPr>
          <p:cNvPr id="35844" name="Rectangle 3"/>
          <p:cNvSpPr/>
          <p:nvPr/>
        </p:nvSpPr>
        <p:spPr>
          <a:xfrm>
            <a:off x="685800" y="152400"/>
            <a:ext cx="7772400" cy="114300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eaLnBrk="1" hangingPunct="1">
              <a:spcBef>
                <a:spcPct val="0"/>
              </a:spcBef>
              <a:buClrTx/>
              <a:buFontTx/>
              <a:buNone/>
            </a:pPr>
            <a:r>
              <a:rPr lang="en-US" altLang="zh-CN" sz="4400" dirty="0">
                <a:solidFill>
                  <a:schemeClr val="accent2"/>
                </a:solidFill>
                <a:ea typeface="经典细隶书简" pitchFamily="49" charset="-122"/>
              </a:rPr>
              <a:t>7.2  </a:t>
            </a:r>
            <a:r>
              <a:rPr lang="zh-CN" altLang="en-US" sz="4400" dirty="0">
                <a:solidFill>
                  <a:schemeClr val="accent2"/>
                </a:solidFill>
                <a:ea typeface="经典细隶书简" pitchFamily="49" charset="-122"/>
              </a:rPr>
              <a:t>需求分析</a:t>
            </a:r>
            <a:endParaRPr lang="zh-CN" altLang="en-US" sz="4400" dirty="0">
              <a:solidFill>
                <a:schemeClr val="accent2"/>
              </a:solidFill>
              <a:ea typeface="经典细隶书简" pitchFamily="49"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页脚占位符 2"/>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36867" name="Rectangle 2"/>
          <p:cNvSpPr/>
          <p:nvPr/>
        </p:nvSpPr>
        <p:spPr>
          <a:xfrm>
            <a:off x="304800" y="990600"/>
            <a:ext cx="8534400" cy="49530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342900" lvl="0" indent="-342900" eaLnBrk="1" hangingPunct="1">
              <a:lnSpc>
                <a:spcPct val="120000"/>
              </a:lnSpc>
            </a:pPr>
            <a:r>
              <a:rPr lang="zh-CN" altLang="en-US" dirty="0">
                <a:solidFill>
                  <a:schemeClr val="tx1"/>
                </a:solidFill>
              </a:rPr>
              <a:t>数据字典是各类数据描述的集合</a:t>
            </a:r>
            <a:endParaRPr lang="zh-CN" altLang="en-US" dirty="0">
              <a:solidFill>
                <a:schemeClr val="tx1"/>
              </a:solidFill>
            </a:endParaRPr>
          </a:p>
          <a:p>
            <a:pPr marL="342900" lvl="0" indent="-342900" eaLnBrk="1" hangingPunct="1">
              <a:lnSpc>
                <a:spcPct val="120000"/>
              </a:lnSpc>
            </a:pPr>
            <a:r>
              <a:rPr lang="zh-CN" altLang="en-US" dirty="0">
                <a:solidFill>
                  <a:schemeClr val="tx1"/>
                </a:solidFill>
              </a:rPr>
              <a:t>数据字典是进行详细的数据收集和数据分析所获得的主要结果</a:t>
            </a:r>
            <a:endParaRPr lang="zh-CN" altLang="en-US" dirty="0">
              <a:solidFill>
                <a:schemeClr val="tx1"/>
              </a:solidFill>
            </a:endParaRPr>
          </a:p>
          <a:p>
            <a:pPr marL="342900" lvl="0" indent="-342900" eaLnBrk="1" hangingPunct="1">
              <a:lnSpc>
                <a:spcPct val="120000"/>
              </a:lnSpc>
            </a:pPr>
            <a:r>
              <a:rPr lang="zh-CN" altLang="en-US" dirty="0">
                <a:solidFill>
                  <a:schemeClr val="tx1"/>
                </a:solidFill>
              </a:rPr>
              <a:t>数据字典在数据库设计中占有很重要的地位</a:t>
            </a:r>
            <a:endParaRPr lang="zh-CN" altLang="en-US" dirty="0">
              <a:solidFill>
                <a:schemeClr val="tx1"/>
              </a:solidFill>
            </a:endParaRPr>
          </a:p>
        </p:txBody>
      </p:sp>
      <p:sp>
        <p:nvSpPr>
          <p:cNvPr id="36868" name="Rectangle 3"/>
          <p:cNvSpPr/>
          <p:nvPr/>
        </p:nvSpPr>
        <p:spPr>
          <a:xfrm>
            <a:off x="939800" y="12700"/>
            <a:ext cx="7772400" cy="60960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eaLnBrk="1" hangingPunct="1">
              <a:spcBef>
                <a:spcPct val="0"/>
              </a:spcBef>
              <a:buClrTx/>
              <a:buFontTx/>
              <a:buNone/>
            </a:pPr>
            <a:r>
              <a:rPr lang="en-US" altLang="zh-CN" sz="4400" dirty="0">
                <a:solidFill>
                  <a:schemeClr val="accent2"/>
                </a:solidFill>
                <a:ea typeface="经典细隶书简" pitchFamily="49" charset="-122"/>
              </a:rPr>
              <a:t>7.2.4  </a:t>
            </a:r>
            <a:r>
              <a:rPr lang="zh-CN" altLang="en-US" sz="4400" dirty="0">
                <a:solidFill>
                  <a:schemeClr val="accent2"/>
                </a:solidFill>
                <a:ea typeface="经典细隶书简" pitchFamily="49" charset="-122"/>
              </a:rPr>
              <a:t>数据流图与数据字典</a:t>
            </a:r>
            <a:endParaRPr lang="zh-CN" altLang="en-US" sz="4400" dirty="0">
              <a:solidFill>
                <a:schemeClr val="accent2"/>
              </a:solidFill>
              <a:ea typeface="经典细隶书简" pitchFamily="49"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页脚占位符 2"/>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37891" name="Rectangle 2"/>
          <p:cNvSpPr/>
          <p:nvPr/>
        </p:nvSpPr>
        <p:spPr>
          <a:xfrm>
            <a:off x="304800" y="762000"/>
            <a:ext cx="8534400" cy="57150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342900" lvl="0" indent="-342900" eaLnBrk="1" hangingPunct="1">
              <a:lnSpc>
                <a:spcPct val="110000"/>
              </a:lnSpc>
            </a:pPr>
            <a:r>
              <a:rPr lang="zh-CN" altLang="en-US" dirty="0">
                <a:solidFill>
                  <a:schemeClr val="tx1"/>
                </a:solidFill>
              </a:rPr>
              <a:t>数据字典的内容</a:t>
            </a:r>
            <a:endParaRPr lang="zh-CN" altLang="en-US" dirty="0">
              <a:solidFill>
                <a:schemeClr val="tx1"/>
              </a:solidFill>
            </a:endParaRPr>
          </a:p>
          <a:p>
            <a:pPr marL="742950" lvl="1" indent="-285750" eaLnBrk="1" hangingPunct="1">
              <a:lnSpc>
                <a:spcPct val="110000"/>
              </a:lnSpc>
              <a:buClr>
                <a:srgbClr val="FF3300"/>
              </a:buClr>
            </a:pPr>
            <a:r>
              <a:rPr lang="zh-CN" altLang="en-US" dirty="0"/>
              <a:t>数据项</a:t>
            </a:r>
            <a:endParaRPr lang="zh-CN" altLang="en-US" dirty="0"/>
          </a:p>
          <a:p>
            <a:pPr marL="742950" lvl="1" indent="-285750" eaLnBrk="1" hangingPunct="1">
              <a:lnSpc>
                <a:spcPct val="110000"/>
              </a:lnSpc>
              <a:buClr>
                <a:srgbClr val="FF3300"/>
              </a:buClr>
            </a:pPr>
            <a:r>
              <a:rPr lang="zh-CN" altLang="en-US" dirty="0"/>
              <a:t>数据结构</a:t>
            </a:r>
            <a:endParaRPr lang="zh-CN" altLang="en-US" dirty="0"/>
          </a:p>
          <a:p>
            <a:pPr marL="742950" lvl="1" indent="-285750" eaLnBrk="1" hangingPunct="1">
              <a:lnSpc>
                <a:spcPct val="110000"/>
              </a:lnSpc>
              <a:buClr>
                <a:srgbClr val="FF3300"/>
              </a:buClr>
            </a:pPr>
            <a:r>
              <a:rPr lang="zh-CN" altLang="en-US" dirty="0"/>
              <a:t>数据流</a:t>
            </a:r>
            <a:endParaRPr lang="zh-CN" altLang="en-US" dirty="0"/>
          </a:p>
          <a:p>
            <a:pPr marL="742950" lvl="1" indent="-285750" eaLnBrk="1" hangingPunct="1">
              <a:lnSpc>
                <a:spcPct val="110000"/>
              </a:lnSpc>
              <a:buClr>
                <a:srgbClr val="FF3300"/>
              </a:buClr>
            </a:pPr>
            <a:r>
              <a:rPr lang="zh-CN" altLang="en-US" dirty="0"/>
              <a:t>数据存储</a:t>
            </a:r>
            <a:endParaRPr lang="zh-CN" altLang="en-US" dirty="0"/>
          </a:p>
          <a:p>
            <a:pPr marL="742950" lvl="1" indent="-285750" eaLnBrk="1" hangingPunct="1">
              <a:lnSpc>
                <a:spcPct val="110000"/>
              </a:lnSpc>
              <a:buClr>
                <a:srgbClr val="FF3300"/>
              </a:buClr>
            </a:pPr>
            <a:r>
              <a:rPr lang="zh-CN" altLang="en-US" dirty="0"/>
              <a:t>处理过程</a:t>
            </a:r>
            <a:endParaRPr lang="zh-CN" altLang="en-US" dirty="0"/>
          </a:p>
          <a:p>
            <a:pPr marL="342900" lvl="0" indent="-342900" eaLnBrk="1" hangingPunct="1">
              <a:lnSpc>
                <a:spcPct val="110000"/>
              </a:lnSpc>
            </a:pPr>
            <a:r>
              <a:rPr lang="zh-CN" altLang="en-US" dirty="0">
                <a:solidFill>
                  <a:schemeClr val="tx1"/>
                </a:solidFill>
              </a:rPr>
              <a:t> </a:t>
            </a:r>
            <a:r>
              <a:rPr lang="zh-CN" altLang="en-US" sz="2800" dirty="0">
                <a:solidFill>
                  <a:schemeClr val="tx1"/>
                </a:solidFill>
              </a:rPr>
              <a:t>数据项是数据的最小组成单位</a:t>
            </a:r>
            <a:endParaRPr lang="zh-CN" altLang="en-US" sz="2800" dirty="0">
              <a:solidFill>
                <a:schemeClr val="tx1"/>
              </a:solidFill>
            </a:endParaRPr>
          </a:p>
          <a:p>
            <a:pPr marL="342900" lvl="0" indent="-342900" eaLnBrk="1" hangingPunct="1">
              <a:lnSpc>
                <a:spcPct val="110000"/>
              </a:lnSpc>
            </a:pPr>
            <a:r>
              <a:rPr lang="zh-CN" altLang="en-US" sz="2800" dirty="0">
                <a:solidFill>
                  <a:schemeClr val="tx1"/>
                </a:solidFill>
              </a:rPr>
              <a:t> 若干个数据项可以组成一个数据结构</a:t>
            </a:r>
            <a:endParaRPr lang="zh-CN" altLang="en-US" sz="2800" dirty="0">
              <a:solidFill>
                <a:schemeClr val="tx1"/>
              </a:solidFill>
            </a:endParaRPr>
          </a:p>
          <a:p>
            <a:pPr marL="342900" lvl="0" indent="-342900" eaLnBrk="1" hangingPunct="1">
              <a:lnSpc>
                <a:spcPct val="110000"/>
              </a:lnSpc>
            </a:pPr>
            <a:r>
              <a:rPr lang="zh-CN" altLang="en-US" sz="2800" dirty="0">
                <a:solidFill>
                  <a:schemeClr val="tx1"/>
                </a:solidFill>
              </a:rPr>
              <a:t> 数据字典通过对数据项和数据结构的定义来描述数据流、数据存储的逻辑内容。</a:t>
            </a:r>
            <a:endParaRPr lang="zh-CN" altLang="en-US" sz="2800" dirty="0">
              <a:solidFill>
                <a:schemeClr val="tx1"/>
              </a:solidFill>
            </a:endParaRPr>
          </a:p>
        </p:txBody>
      </p:sp>
      <p:sp>
        <p:nvSpPr>
          <p:cNvPr id="37892" name="Rectangle 3"/>
          <p:cNvSpPr/>
          <p:nvPr/>
        </p:nvSpPr>
        <p:spPr>
          <a:xfrm>
            <a:off x="939800" y="12700"/>
            <a:ext cx="7772400" cy="60960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eaLnBrk="1" hangingPunct="1">
              <a:spcBef>
                <a:spcPct val="0"/>
              </a:spcBef>
              <a:buClrTx/>
              <a:buFontTx/>
              <a:buNone/>
            </a:pPr>
            <a:r>
              <a:rPr lang="en-US" altLang="zh-CN" sz="4400" dirty="0">
                <a:solidFill>
                  <a:schemeClr val="accent2"/>
                </a:solidFill>
                <a:ea typeface="经典细隶书简" pitchFamily="49" charset="-122"/>
              </a:rPr>
              <a:t>7.2.4  </a:t>
            </a:r>
            <a:r>
              <a:rPr lang="zh-CN" altLang="en-US" sz="4400" dirty="0">
                <a:solidFill>
                  <a:schemeClr val="accent2"/>
                </a:solidFill>
                <a:ea typeface="经典细隶书简" pitchFamily="49" charset="-122"/>
              </a:rPr>
              <a:t>数据流图与数据字典</a:t>
            </a:r>
            <a:endParaRPr lang="zh-CN" altLang="en-US" sz="4400" dirty="0">
              <a:solidFill>
                <a:schemeClr val="accent2"/>
              </a:solidFill>
              <a:ea typeface="经典细隶书简" pitchFamily="49"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页脚占位符 2"/>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38915" name="Rectangle 2"/>
          <p:cNvSpPr/>
          <p:nvPr/>
        </p:nvSpPr>
        <p:spPr>
          <a:xfrm>
            <a:off x="304800" y="762000"/>
            <a:ext cx="8534400" cy="57150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342900" lvl="0" indent="-342900" eaLnBrk="1" hangingPunct="1">
              <a:lnSpc>
                <a:spcPct val="110000"/>
              </a:lnSpc>
            </a:pPr>
            <a:r>
              <a:rPr lang="en-US" altLang="zh-CN" dirty="0">
                <a:solidFill>
                  <a:schemeClr val="tx1"/>
                </a:solidFill>
              </a:rPr>
              <a:t>1. </a:t>
            </a:r>
            <a:r>
              <a:rPr lang="zh-CN" altLang="en-US" dirty="0">
                <a:solidFill>
                  <a:schemeClr val="tx1"/>
                </a:solidFill>
              </a:rPr>
              <a:t>数据项</a:t>
            </a:r>
            <a:endParaRPr lang="zh-CN" altLang="en-US" dirty="0">
              <a:solidFill>
                <a:schemeClr val="tx1"/>
              </a:solidFill>
            </a:endParaRPr>
          </a:p>
          <a:p>
            <a:pPr marL="742950" lvl="1" indent="-285750" eaLnBrk="1" hangingPunct="1">
              <a:lnSpc>
                <a:spcPct val="110000"/>
              </a:lnSpc>
              <a:buClr>
                <a:srgbClr val="FF3300"/>
              </a:buClr>
            </a:pPr>
            <a:r>
              <a:rPr lang="zh-CN" altLang="en-US" dirty="0"/>
              <a:t>数据项是不可再分的数据单位</a:t>
            </a:r>
            <a:endParaRPr lang="zh-CN" altLang="en-US" dirty="0"/>
          </a:p>
          <a:p>
            <a:pPr marL="742950" lvl="1" indent="-285750" eaLnBrk="1" hangingPunct="1">
              <a:lnSpc>
                <a:spcPct val="110000"/>
              </a:lnSpc>
              <a:buClr>
                <a:srgbClr val="FF3300"/>
              </a:buClr>
              <a:buNone/>
            </a:pPr>
            <a:r>
              <a:rPr lang="zh-CN" altLang="en-US" dirty="0"/>
              <a:t>	对数据项的描述</a:t>
            </a:r>
            <a:endParaRPr lang="zh-CN" altLang="en-US" dirty="0"/>
          </a:p>
          <a:p>
            <a:pPr marL="742950" lvl="1" indent="-285750" eaLnBrk="1" hangingPunct="1">
              <a:lnSpc>
                <a:spcPct val="110000"/>
              </a:lnSpc>
              <a:buClr>
                <a:srgbClr val="FF3300"/>
              </a:buClr>
              <a:buNone/>
            </a:pPr>
            <a:r>
              <a:rPr lang="zh-CN" altLang="en-US" dirty="0"/>
              <a:t>	</a:t>
            </a:r>
            <a:r>
              <a:rPr lang="zh-CN" altLang="en-US" dirty="0">
                <a:solidFill>
                  <a:srgbClr val="0000CC"/>
                </a:solidFill>
              </a:rPr>
              <a:t>数据项描述＝｛数据项名，数据项含义说明，   </a:t>
            </a:r>
            <a:endParaRPr lang="zh-CN" altLang="en-US" dirty="0">
              <a:solidFill>
                <a:srgbClr val="0000CC"/>
              </a:solidFill>
            </a:endParaRPr>
          </a:p>
          <a:p>
            <a:pPr marL="742950" lvl="1" indent="-285750" eaLnBrk="1" hangingPunct="1">
              <a:lnSpc>
                <a:spcPct val="110000"/>
              </a:lnSpc>
              <a:buClr>
                <a:srgbClr val="FF3300"/>
              </a:buClr>
              <a:buNone/>
            </a:pPr>
            <a:r>
              <a:rPr lang="zh-CN" altLang="en-US" dirty="0">
                <a:solidFill>
                  <a:srgbClr val="0000CC"/>
                </a:solidFill>
              </a:rPr>
              <a:t>                    别名，数据类型，长度，取值范围，</a:t>
            </a:r>
            <a:endParaRPr lang="zh-CN" altLang="en-US" dirty="0">
              <a:solidFill>
                <a:srgbClr val="0000CC"/>
              </a:solidFill>
            </a:endParaRPr>
          </a:p>
          <a:p>
            <a:pPr marL="742950" lvl="1" indent="-285750" eaLnBrk="1" hangingPunct="1">
              <a:lnSpc>
                <a:spcPct val="110000"/>
              </a:lnSpc>
              <a:buClr>
                <a:srgbClr val="FF3300"/>
              </a:buClr>
              <a:buNone/>
            </a:pPr>
            <a:r>
              <a:rPr lang="zh-CN" altLang="en-US" dirty="0">
                <a:solidFill>
                  <a:srgbClr val="0000CC"/>
                </a:solidFill>
              </a:rPr>
              <a:t>                    取值含义，与其他数据项的逻辑关系｝</a:t>
            </a:r>
            <a:endParaRPr lang="zh-CN" altLang="en-US" dirty="0">
              <a:solidFill>
                <a:srgbClr val="0000CC"/>
              </a:solidFill>
            </a:endParaRPr>
          </a:p>
          <a:p>
            <a:pPr marL="742950" lvl="1" indent="-285750" eaLnBrk="1" hangingPunct="1">
              <a:lnSpc>
                <a:spcPct val="110000"/>
              </a:lnSpc>
              <a:buClr>
                <a:srgbClr val="FF3300"/>
              </a:buClr>
            </a:pPr>
            <a:endParaRPr lang="zh-CN" altLang="en-US" dirty="0">
              <a:solidFill>
                <a:srgbClr val="0000CC"/>
              </a:solidFill>
            </a:endParaRPr>
          </a:p>
          <a:p>
            <a:pPr marL="742950" lvl="1" indent="-285750" eaLnBrk="1" hangingPunct="1">
              <a:lnSpc>
                <a:spcPct val="110000"/>
              </a:lnSpc>
              <a:buClr>
                <a:srgbClr val="FF3300"/>
              </a:buClr>
            </a:pPr>
            <a:r>
              <a:rPr lang="zh-CN" altLang="en-US" dirty="0"/>
              <a:t>取值范围、与其他数据项的逻辑关系定义了数据的完整性约束条件</a:t>
            </a:r>
            <a:endParaRPr lang="zh-CN" altLang="en-US" dirty="0"/>
          </a:p>
        </p:txBody>
      </p:sp>
      <p:sp>
        <p:nvSpPr>
          <p:cNvPr id="38916" name="Rectangle 3"/>
          <p:cNvSpPr/>
          <p:nvPr/>
        </p:nvSpPr>
        <p:spPr>
          <a:xfrm>
            <a:off x="939800" y="12700"/>
            <a:ext cx="7772400" cy="60960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eaLnBrk="1" hangingPunct="1">
              <a:spcBef>
                <a:spcPct val="0"/>
              </a:spcBef>
              <a:buClrTx/>
              <a:buFontTx/>
              <a:buNone/>
            </a:pPr>
            <a:r>
              <a:rPr lang="en-US" altLang="zh-CN" sz="4400" dirty="0">
                <a:solidFill>
                  <a:schemeClr val="accent2"/>
                </a:solidFill>
                <a:ea typeface="经典细隶书简" pitchFamily="49" charset="-122"/>
              </a:rPr>
              <a:t>7.2.4  </a:t>
            </a:r>
            <a:r>
              <a:rPr lang="zh-CN" altLang="en-US" sz="4400" dirty="0">
                <a:solidFill>
                  <a:schemeClr val="accent2"/>
                </a:solidFill>
                <a:ea typeface="经典细隶书简" pitchFamily="49" charset="-122"/>
              </a:rPr>
              <a:t>数据流图与数据字典</a:t>
            </a:r>
            <a:endParaRPr lang="zh-CN" altLang="en-US" sz="4400" dirty="0">
              <a:solidFill>
                <a:schemeClr val="accent2"/>
              </a:solidFill>
              <a:ea typeface="经典细隶书简" pitchFamily="49"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页脚占位符 2"/>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39939" name="Rectangle 2"/>
          <p:cNvSpPr/>
          <p:nvPr/>
        </p:nvSpPr>
        <p:spPr>
          <a:xfrm>
            <a:off x="304800" y="762000"/>
            <a:ext cx="8534400" cy="57150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342900" lvl="0" indent="-342900" eaLnBrk="1" hangingPunct="1">
              <a:lnSpc>
                <a:spcPct val="110000"/>
              </a:lnSpc>
            </a:pPr>
            <a:r>
              <a:rPr lang="en-US" altLang="zh-CN" dirty="0">
                <a:solidFill>
                  <a:schemeClr val="tx1"/>
                </a:solidFill>
              </a:rPr>
              <a:t>2. </a:t>
            </a:r>
            <a:r>
              <a:rPr lang="zh-CN" altLang="en-US" dirty="0">
                <a:solidFill>
                  <a:schemeClr val="tx1"/>
                </a:solidFill>
              </a:rPr>
              <a:t>数据结构</a:t>
            </a:r>
            <a:endParaRPr lang="zh-CN" altLang="en-US" dirty="0">
              <a:solidFill>
                <a:schemeClr val="tx1"/>
              </a:solidFill>
            </a:endParaRPr>
          </a:p>
          <a:p>
            <a:pPr marL="742950" lvl="1" indent="-285750" eaLnBrk="1" hangingPunct="1">
              <a:lnSpc>
                <a:spcPct val="110000"/>
              </a:lnSpc>
              <a:buClr>
                <a:srgbClr val="FF3300"/>
              </a:buClr>
            </a:pPr>
            <a:r>
              <a:rPr lang="zh-CN" altLang="en-US" dirty="0"/>
              <a:t>数据结构反映了数据之间的组合关系。</a:t>
            </a:r>
            <a:endParaRPr lang="zh-CN" altLang="en-US" dirty="0"/>
          </a:p>
          <a:p>
            <a:pPr marL="742950" lvl="1" indent="-285750" eaLnBrk="1" hangingPunct="1">
              <a:lnSpc>
                <a:spcPct val="110000"/>
              </a:lnSpc>
              <a:buClr>
                <a:srgbClr val="FF3300"/>
              </a:buClr>
            </a:pPr>
            <a:r>
              <a:rPr lang="zh-CN" altLang="en-US" dirty="0"/>
              <a:t> 一个数据结构可以由若干个数据项组成，也可以由若干个数据结构组成，或由若干个数据项和数据结构混合组成。</a:t>
            </a:r>
            <a:endParaRPr lang="zh-CN" altLang="en-US" dirty="0"/>
          </a:p>
          <a:p>
            <a:pPr marL="742950" lvl="1" indent="-285750" eaLnBrk="1" hangingPunct="1">
              <a:lnSpc>
                <a:spcPct val="110000"/>
              </a:lnSpc>
              <a:buClr>
                <a:srgbClr val="FF3300"/>
              </a:buClr>
              <a:buNone/>
            </a:pPr>
            <a:r>
              <a:rPr lang="zh-CN" altLang="en-US" dirty="0"/>
              <a:t> 	对数据结构的描述</a:t>
            </a:r>
            <a:endParaRPr lang="zh-CN" altLang="en-US" dirty="0"/>
          </a:p>
          <a:p>
            <a:pPr marL="742950" lvl="1" indent="-285750" eaLnBrk="1" hangingPunct="1">
              <a:lnSpc>
                <a:spcPct val="110000"/>
              </a:lnSpc>
              <a:buClr>
                <a:srgbClr val="FF3300"/>
              </a:buClr>
              <a:buNone/>
            </a:pPr>
            <a:r>
              <a:rPr lang="zh-CN" altLang="en-US" dirty="0"/>
              <a:t>	</a:t>
            </a:r>
            <a:r>
              <a:rPr lang="zh-CN" altLang="en-US" dirty="0">
                <a:solidFill>
                  <a:srgbClr val="0000CC"/>
                </a:solidFill>
              </a:rPr>
              <a:t>数据结构描述＝｛数据结构名，含义说明，</a:t>
            </a:r>
            <a:endParaRPr lang="zh-CN" altLang="en-US" dirty="0">
              <a:solidFill>
                <a:srgbClr val="0000CC"/>
              </a:solidFill>
            </a:endParaRPr>
          </a:p>
          <a:p>
            <a:pPr marL="742950" lvl="1" indent="-285750" eaLnBrk="1" hangingPunct="1">
              <a:lnSpc>
                <a:spcPct val="110000"/>
              </a:lnSpc>
              <a:buClr>
                <a:srgbClr val="FF3300"/>
              </a:buClr>
              <a:buNone/>
            </a:pPr>
            <a:r>
              <a:rPr lang="zh-CN" altLang="en-US" dirty="0">
                <a:solidFill>
                  <a:srgbClr val="0000CC"/>
                </a:solidFill>
              </a:rPr>
              <a:t>                               组成</a:t>
            </a:r>
            <a:r>
              <a:rPr lang="en-US" altLang="zh-CN" dirty="0">
                <a:solidFill>
                  <a:srgbClr val="0000CC"/>
                </a:solidFill>
              </a:rPr>
              <a:t>:</a:t>
            </a:r>
            <a:r>
              <a:rPr lang="zh-CN" altLang="en-US" dirty="0">
                <a:solidFill>
                  <a:srgbClr val="0000CC"/>
                </a:solidFill>
              </a:rPr>
              <a:t>｛数据项或数据结构｝｝</a:t>
            </a:r>
            <a:endParaRPr lang="zh-CN" altLang="en-US" dirty="0">
              <a:solidFill>
                <a:srgbClr val="0000CC"/>
              </a:solidFill>
            </a:endParaRPr>
          </a:p>
        </p:txBody>
      </p:sp>
      <p:sp>
        <p:nvSpPr>
          <p:cNvPr id="39940" name="Rectangle 3"/>
          <p:cNvSpPr/>
          <p:nvPr/>
        </p:nvSpPr>
        <p:spPr>
          <a:xfrm>
            <a:off x="939800" y="12700"/>
            <a:ext cx="7772400" cy="60960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eaLnBrk="1" hangingPunct="1">
              <a:spcBef>
                <a:spcPct val="0"/>
              </a:spcBef>
              <a:buClrTx/>
              <a:buFontTx/>
              <a:buNone/>
            </a:pPr>
            <a:r>
              <a:rPr lang="en-US" altLang="zh-CN" sz="4400" dirty="0">
                <a:solidFill>
                  <a:schemeClr val="accent2"/>
                </a:solidFill>
                <a:ea typeface="经典细隶书简" pitchFamily="49" charset="-122"/>
              </a:rPr>
              <a:t>7.2.4  </a:t>
            </a:r>
            <a:r>
              <a:rPr lang="zh-CN" altLang="en-US" sz="4400" dirty="0">
                <a:solidFill>
                  <a:schemeClr val="accent2"/>
                </a:solidFill>
                <a:ea typeface="经典细隶书简" pitchFamily="49" charset="-122"/>
              </a:rPr>
              <a:t>数据流图与数据字典</a:t>
            </a:r>
            <a:endParaRPr lang="zh-CN" altLang="en-US" sz="4400" dirty="0">
              <a:solidFill>
                <a:schemeClr val="accent2"/>
              </a:solidFill>
              <a:ea typeface="经典细隶书简" pitchFamily="49"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页脚占位符 2"/>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40963" name="Rectangle 2"/>
          <p:cNvSpPr/>
          <p:nvPr/>
        </p:nvSpPr>
        <p:spPr>
          <a:xfrm>
            <a:off x="304800" y="762000"/>
            <a:ext cx="8534400" cy="57150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342900" lvl="0" indent="-342900" eaLnBrk="1" hangingPunct="1">
              <a:lnSpc>
                <a:spcPct val="110000"/>
              </a:lnSpc>
            </a:pPr>
            <a:r>
              <a:rPr lang="en-US" altLang="zh-CN" dirty="0">
                <a:solidFill>
                  <a:schemeClr val="tx1"/>
                </a:solidFill>
              </a:rPr>
              <a:t>3. </a:t>
            </a:r>
            <a:r>
              <a:rPr lang="zh-CN" altLang="en-US" dirty="0">
                <a:solidFill>
                  <a:schemeClr val="tx1"/>
                </a:solidFill>
              </a:rPr>
              <a:t>数据流</a:t>
            </a:r>
            <a:endParaRPr lang="zh-CN" altLang="en-US" dirty="0">
              <a:solidFill>
                <a:schemeClr val="tx1"/>
              </a:solidFill>
            </a:endParaRPr>
          </a:p>
          <a:p>
            <a:pPr marL="742950" lvl="1" indent="-285750" eaLnBrk="1" hangingPunct="1">
              <a:lnSpc>
                <a:spcPct val="110000"/>
              </a:lnSpc>
              <a:buClr>
                <a:srgbClr val="FF3300"/>
              </a:buClr>
            </a:pPr>
            <a:r>
              <a:rPr lang="zh-CN" altLang="en-US" dirty="0"/>
              <a:t>数据流是数据结构在系统内传输的路径。</a:t>
            </a:r>
            <a:endParaRPr lang="zh-CN" altLang="en-US" dirty="0"/>
          </a:p>
          <a:p>
            <a:pPr marL="742950" lvl="1" indent="-285750" eaLnBrk="1" hangingPunct="1">
              <a:lnSpc>
                <a:spcPct val="110000"/>
              </a:lnSpc>
              <a:buClr>
                <a:srgbClr val="FF3300"/>
              </a:buClr>
              <a:buNone/>
            </a:pPr>
            <a:r>
              <a:rPr lang="zh-CN" altLang="en-US" dirty="0"/>
              <a:t> 	</a:t>
            </a:r>
            <a:r>
              <a:rPr lang="zh-CN" altLang="en-US" dirty="0">
                <a:solidFill>
                  <a:srgbClr val="0000CC"/>
                </a:solidFill>
              </a:rPr>
              <a:t>对数据流的描述</a:t>
            </a:r>
            <a:endParaRPr lang="zh-CN" altLang="en-US" dirty="0">
              <a:solidFill>
                <a:srgbClr val="0000CC"/>
              </a:solidFill>
            </a:endParaRPr>
          </a:p>
          <a:p>
            <a:pPr marL="742950" lvl="1" indent="-285750" eaLnBrk="1" hangingPunct="1">
              <a:lnSpc>
                <a:spcPct val="110000"/>
              </a:lnSpc>
              <a:buClr>
                <a:srgbClr val="FF3300"/>
              </a:buClr>
              <a:buNone/>
            </a:pPr>
            <a:r>
              <a:rPr lang="zh-CN" altLang="en-US" dirty="0">
                <a:solidFill>
                  <a:srgbClr val="0000CC"/>
                </a:solidFill>
              </a:rPr>
              <a:t>　数据流描述＝｛数据流名，说明，数据流来源，</a:t>
            </a:r>
            <a:endParaRPr lang="zh-CN" altLang="en-US" dirty="0">
              <a:solidFill>
                <a:srgbClr val="0000CC"/>
              </a:solidFill>
            </a:endParaRPr>
          </a:p>
          <a:p>
            <a:pPr marL="742950" lvl="1" indent="-285750" eaLnBrk="1" hangingPunct="1">
              <a:lnSpc>
                <a:spcPct val="110000"/>
              </a:lnSpc>
              <a:buClr>
                <a:srgbClr val="FF3300"/>
              </a:buClr>
              <a:buNone/>
            </a:pPr>
            <a:r>
              <a:rPr lang="zh-CN" altLang="en-US" dirty="0">
                <a:solidFill>
                  <a:srgbClr val="0000CC"/>
                </a:solidFill>
              </a:rPr>
              <a:t>                          数据流去向，组成</a:t>
            </a:r>
            <a:r>
              <a:rPr lang="en-US" altLang="zh-CN" dirty="0">
                <a:solidFill>
                  <a:srgbClr val="0000CC"/>
                </a:solidFill>
              </a:rPr>
              <a:t>:</a:t>
            </a:r>
            <a:r>
              <a:rPr lang="zh-CN" altLang="en-US" dirty="0">
                <a:solidFill>
                  <a:srgbClr val="0000CC"/>
                </a:solidFill>
              </a:rPr>
              <a:t>｛数据结构｝，</a:t>
            </a:r>
            <a:endParaRPr lang="zh-CN" altLang="en-US" dirty="0">
              <a:solidFill>
                <a:srgbClr val="0000CC"/>
              </a:solidFill>
            </a:endParaRPr>
          </a:p>
          <a:p>
            <a:pPr marL="742950" lvl="1" indent="-285750" eaLnBrk="1" hangingPunct="1">
              <a:lnSpc>
                <a:spcPct val="110000"/>
              </a:lnSpc>
              <a:buClr>
                <a:srgbClr val="FF3300"/>
              </a:buClr>
              <a:buNone/>
            </a:pPr>
            <a:r>
              <a:rPr lang="zh-CN" altLang="en-US" dirty="0">
                <a:solidFill>
                  <a:srgbClr val="0000CC"/>
                </a:solidFill>
              </a:rPr>
              <a:t>                          平均流量，高峰期流量｝</a:t>
            </a:r>
            <a:endParaRPr lang="zh-CN" altLang="en-US" dirty="0">
              <a:solidFill>
                <a:srgbClr val="0000CC"/>
              </a:solidFill>
            </a:endParaRPr>
          </a:p>
          <a:p>
            <a:pPr marL="742950" lvl="1" indent="-285750" eaLnBrk="1" hangingPunct="1">
              <a:lnSpc>
                <a:spcPct val="110000"/>
              </a:lnSpc>
              <a:buClr>
                <a:srgbClr val="FF3300"/>
              </a:buClr>
            </a:pPr>
            <a:r>
              <a:rPr lang="zh-CN" altLang="en-US" sz="2400" dirty="0"/>
              <a:t>数据流来源是说明该数据流来自哪个过程</a:t>
            </a:r>
            <a:endParaRPr lang="zh-CN" altLang="en-US" sz="2400" dirty="0"/>
          </a:p>
          <a:p>
            <a:pPr marL="742950" lvl="1" indent="-285750" eaLnBrk="1" hangingPunct="1">
              <a:lnSpc>
                <a:spcPct val="110000"/>
              </a:lnSpc>
              <a:buClr>
                <a:srgbClr val="FF3300"/>
              </a:buClr>
            </a:pPr>
            <a:r>
              <a:rPr lang="zh-CN" altLang="en-US" sz="2400" dirty="0"/>
              <a:t>数据流去向是说明该数据流将到哪个过程去</a:t>
            </a:r>
            <a:endParaRPr lang="zh-CN" altLang="en-US" sz="2400" dirty="0"/>
          </a:p>
          <a:p>
            <a:pPr marL="742950" lvl="1" indent="-285750" eaLnBrk="1" hangingPunct="1">
              <a:lnSpc>
                <a:spcPct val="110000"/>
              </a:lnSpc>
              <a:buClr>
                <a:srgbClr val="FF3300"/>
              </a:buClr>
            </a:pPr>
            <a:r>
              <a:rPr lang="zh-CN" altLang="en-US" sz="2400" dirty="0"/>
              <a:t>平均流量是指在单位时间（每天、每周、每月等）里的传输次数</a:t>
            </a:r>
            <a:endParaRPr lang="zh-CN" altLang="en-US" sz="2400" dirty="0"/>
          </a:p>
          <a:p>
            <a:pPr marL="742950" lvl="1" indent="-285750" eaLnBrk="1" hangingPunct="1">
              <a:lnSpc>
                <a:spcPct val="110000"/>
              </a:lnSpc>
              <a:buClr>
                <a:srgbClr val="FF3300"/>
              </a:buClr>
            </a:pPr>
            <a:r>
              <a:rPr lang="zh-CN" altLang="en-US" sz="2400" dirty="0"/>
              <a:t>高峰期流量则是指在高峰时期的数据流量</a:t>
            </a:r>
            <a:endParaRPr lang="zh-CN" altLang="en-US" sz="2400" dirty="0"/>
          </a:p>
        </p:txBody>
      </p:sp>
      <p:sp>
        <p:nvSpPr>
          <p:cNvPr id="40964" name="Rectangle 3"/>
          <p:cNvSpPr/>
          <p:nvPr/>
        </p:nvSpPr>
        <p:spPr>
          <a:xfrm>
            <a:off x="939800" y="12700"/>
            <a:ext cx="7772400" cy="60960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eaLnBrk="1" hangingPunct="1">
              <a:spcBef>
                <a:spcPct val="0"/>
              </a:spcBef>
              <a:buClrTx/>
              <a:buFontTx/>
              <a:buNone/>
            </a:pPr>
            <a:r>
              <a:rPr lang="en-US" altLang="zh-CN" sz="4400" dirty="0">
                <a:solidFill>
                  <a:schemeClr val="accent2"/>
                </a:solidFill>
                <a:ea typeface="经典细隶书简" pitchFamily="49" charset="-122"/>
              </a:rPr>
              <a:t>7.2.4  </a:t>
            </a:r>
            <a:r>
              <a:rPr lang="zh-CN" altLang="en-US" sz="4400" dirty="0">
                <a:solidFill>
                  <a:schemeClr val="accent2"/>
                </a:solidFill>
                <a:ea typeface="经典细隶书简" pitchFamily="49" charset="-122"/>
              </a:rPr>
              <a:t>数据流图与数据字典</a:t>
            </a:r>
            <a:endParaRPr lang="zh-CN" altLang="en-US" sz="4400" dirty="0">
              <a:solidFill>
                <a:schemeClr val="accent2"/>
              </a:solidFill>
              <a:ea typeface="经典细隶书简" pitchFamily="49" charset="-122"/>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页脚占位符 2"/>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41987" name="Rectangle 2"/>
          <p:cNvSpPr/>
          <p:nvPr/>
        </p:nvSpPr>
        <p:spPr>
          <a:xfrm>
            <a:off x="304800" y="762000"/>
            <a:ext cx="8534400" cy="57150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342900" lvl="0" indent="-342900" eaLnBrk="1" hangingPunct="1">
              <a:lnSpc>
                <a:spcPct val="110000"/>
              </a:lnSpc>
            </a:pPr>
            <a:r>
              <a:rPr lang="en-US" altLang="zh-CN" dirty="0">
                <a:solidFill>
                  <a:schemeClr val="tx1"/>
                </a:solidFill>
              </a:rPr>
              <a:t>4. </a:t>
            </a:r>
            <a:r>
              <a:rPr lang="zh-CN" altLang="en-US" dirty="0">
                <a:solidFill>
                  <a:schemeClr val="tx1"/>
                </a:solidFill>
              </a:rPr>
              <a:t>数据存储</a:t>
            </a:r>
            <a:endParaRPr lang="zh-CN" altLang="en-US" dirty="0">
              <a:solidFill>
                <a:schemeClr val="tx1"/>
              </a:solidFill>
            </a:endParaRPr>
          </a:p>
          <a:p>
            <a:pPr marL="742950" lvl="1" indent="-285750" eaLnBrk="1" hangingPunct="1">
              <a:lnSpc>
                <a:spcPct val="110000"/>
              </a:lnSpc>
              <a:buClr>
                <a:srgbClr val="FF3300"/>
              </a:buClr>
            </a:pPr>
            <a:r>
              <a:rPr lang="zh-CN" altLang="en-US" dirty="0"/>
              <a:t>数据存储是数据结构停留或保存的地方，也是数据流的来源和去向之一。</a:t>
            </a:r>
            <a:endParaRPr lang="zh-CN" altLang="en-US" dirty="0"/>
          </a:p>
          <a:p>
            <a:pPr marL="742950" lvl="1" indent="-285750" eaLnBrk="1" hangingPunct="1">
              <a:lnSpc>
                <a:spcPct val="110000"/>
              </a:lnSpc>
              <a:buClr>
                <a:srgbClr val="FF3300"/>
              </a:buClr>
              <a:buNone/>
            </a:pPr>
            <a:r>
              <a:rPr lang="zh-CN" altLang="en-US" dirty="0">
                <a:solidFill>
                  <a:srgbClr val="0000CC"/>
                </a:solidFill>
              </a:rPr>
              <a:t>	对数据存储的描述</a:t>
            </a:r>
            <a:endParaRPr lang="zh-CN" altLang="en-US" dirty="0">
              <a:solidFill>
                <a:srgbClr val="0000CC"/>
              </a:solidFill>
            </a:endParaRPr>
          </a:p>
          <a:p>
            <a:pPr marL="742950" lvl="1" indent="-285750" eaLnBrk="1" hangingPunct="1">
              <a:lnSpc>
                <a:spcPct val="110000"/>
              </a:lnSpc>
              <a:buClr>
                <a:srgbClr val="FF3300"/>
              </a:buClr>
              <a:buNone/>
            </a:pPr>
            <a:r>
              <a:rPr lang="zh-CN" altLang="en-US" dirty="0">
                <a:solidFill>
                  <a:srgbClr val="0000CC"/>
                </a:solidFill>
              </a:rPr>
              <a:t>　数据存储描述＝｛数据存储名，说明，编号，</a:t>
            </a:r>
            <a:endParaRPr lang="zh-CN" altLang="en-US" dirty="0">
              <a:solidFill>
                <a:srgbClr val="0000CC"/>
              </a:solidFill>
            </a:endParaRPr>
          </a:p>
          <a:p>
            <a:pPr marL="742950" lvl="1" indent="-285750" eaLnBrk="1" hangingPunct="1">
              <a:lnSpc>
                <a:spcPct val="110000"/>
              </a:lnSpc>
              <a:buClr>
                <a:srgbClr val="FF3300"/>
              </a:buClr>
              <a:buNone/>
            </a:pPr>
            <a:r>
              <a:rPr lang="zh-CN" altLang="en-US" dirty="0">
                <a:solidFill>
                  <a:srgbClr val="0000CC"/>
                </a:solidFill>
              </a:rPr>
              <a:t>                            流入的数据流 ，流出的数据流 ，</a:t>
            </a:r>
            <a:endParaRPr lang="zh-CN" altLang="en-US" dirty="0">
              <a:solidFill>
                <a:srgbClr val="0000CC"/>
              </a:solidFill>
            </a:endParaRPr>
          </a:p>
          <a:p>
            <a:pPr marL="742950" lvl="1" indent="-285750" eaLnBrk="1" hangingPunct="1">
              <a:lnSpc>
                <a:spcPct val="110000"/>
              </a:lnSpc>
              <a:buClr>
                <a:srgbClr val="FF3300"/>
              </a:buClr>
              <a:buNone/>
            </a:pPr>
            <a:r>
              <a:rPr lang="zh-CN" altLang="en-US" dirty="0">
                <a:solidFill>
                  <a:srgbClr val="0000CC"/>
                </a:solidFill>
              </a:rPr>
              <a:t>                            组成</a:t>
            </a:r>
            <a:r>
              <a:rPr lang="en-US" altLang="zh-CN" dirty="0">
                <a:solidFill>
                  <a:srgbClr val="0000CC"/>
                </a:solidFill>
              </a:rPr>
              <a:t>:</a:t>
            </a:r>
            <a:r>
              <a:rPr lang="zh-CN" altLang="en-US" dirty="0">
                <a:solidFill>
                  <a:srgbClr val="0000CC"/>
                </a:solidFill>
              </a:rPr>
              <a:t>｛数据结构｝，数据量，存取方式｝</a:t>
            </a:r>
            <a:endParaRPr lang="zh-CN" altLang="en-US" dirty="0">
              <a:solidFill>
                <a:srgbClr val="0000CC"/>
              </a:solidFill>
            </a:endParaRPr>
          </a:p>
          <a:p>
            <a:pPr marL="742950" lvl="1" indent="-285750" eaLnBrk="1" hangingPunct="1">
              <a:lnSpc>
                <a:spcPct val="110000"/>
              </a:lnSpc>
              <a:buClr>
                <a:srgbClr val="FF3300"/>
              </a:buClr>
              <a:buNone/>
            </a:pPr>
            <a:endParaRPr lang="zh-CN" altLang="en-US" dirty="0"/>
          </a:p>
        </p:txBody>
      </p:sp>
      <p:sp>
        <p:nvSpPr>
          <p:cNvPr id="41988" name="Rectangle 3"/>
          <p:cNvSpPr/>
          <p:nvPr/>
        </p:nvSpPr>
        <p:spPr>
          <a:xfrm>
            <a:off x="939800" y="12700"/>
            <a:ext cx="7772400" cy="60960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eaLnBrk="1" hangingPunct="1">
              <a:spcBef>
                <a:spcPct val="0"/>
              </a:spcBef>
              <a:buClrTx/>
              <a:buFontTx/>
              <a:buNone/>
            </a:pPr>
            <a:r>
              <a:rPr lang="en-US" altLang="zh-CN" sz="4400" dirty="0">
                <a:solidFill>
                  <a:schemeClr val="accent2"/>
                </a:solidFill>
                <a:ea typeface="经典细隶书简" pitchFamily="49" charset="-122"/>
              </a:rPr>
              <a:t>7.2.4  </a:t>
            </a:r>
            <a:r>
              <a:rPr lang="zh-CN" altLang="en-US" sz="4400" dirty="0">
                <a:solidFill>
                  <a:schemeClr val="accent2"/>
                </a:solidFill>
                <a:ea typeface="经典细隶书简" pitchFamily="49" charset="-122"/>
              </a:rPr>
              <a:t>数据流图与数据字典</a:t>
            </a:r>
            <a:endParaRPr lang="zh-CN" altLang="en-US" sz="4400" dirty="0">
              <a:solidFill>
                <a:schemeClr val="accent2"/>
              </a:solidFill>
              <a:ea typeface="经典细隶书简" pitchFamily="49"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页脚占位符 2"/>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43011" name="Rectangle 2"/>
          <p:cNvSpPr/>
          <p:nvPr/>
        </p:nvSpPr>
        <p:spPr>
          <a:xfrm>
            <a:off x="304800" y="1027113"/>
            <a:ext cx="8534400" cy="57150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342900" lvl="0" indent="-342900" eaLnBrk="1" hangingPunct="1">
              <a:lnSpc>
                <a:spcPct val="110000"/>
              </a:lnSpc>
            </a:pPr>
            <a:r>
              <a:rPr lang="en-US" altLang="zh-CN" dirty="0">
                <a:solidFill>
                  <a:schemeClr val="tx1"/>
                </a:solidFill>
              </a:rPr>
              <a:t>5. </a:t>
            </a:r>
            <a:r>
              <a:rPr lang="zh-CN" altLang="en-US" dirty="0">
                <a:solidFill>
                  <a:schemeClr val="tx1"/>
                </a:solidFill>
              </a:rPr>
              <a:t>处理过程</a:t>
            </a:r>
            <a:endParaRPr lang="zh-CN" altLang="en-US" dirty="0">
              <a:solidFill>
                <a:schemeClr val="tx1"/>
              </a:solidFill>
            </a:endParaRPr>
          </a:p>
          <a:p>
            <a:pPr marL="742950" lvl="1" indent="-285750" eaLnBrk="1" hangingPunct="1">
              <a:lnSpc>
                <a:spcPct val="110000"/>
              </a:lnSpc>
              <a:buClr>
                <a:srgbClr val="FF3300"/>
              </a:buClr>
            </a:pPr>
            <a:r>
              <a:rPr lang="zh-CN" altLang="en-US" dirty="0"/>
              <a:t>处理过程的具体处理逻辑一般用判定表或判定树来描述。数据字典中只需要描述处理过程的说明性信息</a:t>
            </a:r>
            <a:endParaRPr lang="zh-CN" altLang="en-US" dirty="0"/>
          </a:p>
          <a:p>
            <a:pPr marL="742950" lvl="1" indent="-285750" eaLnBrk="1" hangingPunct="1">
              <a:lnSpc>
                <a:spcPct val="110000"/>
              </a:lnSpc>
              <a:buClr>
                <a:srgbClr val="FF3300"/>
              </a:buClr>
            </a:pPr>
            <a:r>
              <a:rPr lang="zh-CN" altLang="en-US" dirty="0"/>
              <a:t>处理过程说明性信息的描述</a:t>
            </a:r>
            <a:endParaRPr lang="zh-CN" altLang="en-US" dirty="0"/>
          </a:p>
          <a:p>
            <a:pPr marL="742950" lvl="1" indent="-285750" eaLnBrk="1" hangingPunct="1">
              <a:lnSpc>
                <a:spcPct val="110000"/>
              </a:lnSpc>
              <a:buClr>
                <a:srgbClr val="FF3300"/>
              </a:buClr>
              <a:buNone/>
            </a:pPr>
            <a:r>
              <a:rPr lang="zh-CN" altLang="en-US" dirty="0">
                <a:solidFill>
                  <a:srgbClr val="0000CC"/>
                </a:solidFill>
              </a:rPr>
              <a:t>	处理过程描述＝｛处理过程名，说明，</a:t>
            </a:r>
            <a:endParaRPr lang="zh-CN" altLang="en-US" dirty="0">
              <a:solidFill>
                <a:srgbClr val="0000CC"/>
              </a:solidFill>
            </a:endParaRPr>
          </a:p>
          <a:p>
            <a:pPr marL="742950" lvl="1" indent="-285750" eaLnBrk="1" hangingPunct="1">
              <a:lnSpc>
                <a:spcPct val="110000"/>
              </a:lnSpc>
              <a:buClr>
                <a:srgbClr val="FF3300"/>
              </a:buClr>
              <a:buNone/>
            </a:pPr>
            <a:r>
              <a:rPr lang="zh-CN" altLang="en-US" dirty="0">
                <a:solidFill>
                  <a:srgbClr val="0000CC"/>
                </a:solidFill>
              </a:rPr>
              <a:t>                      输入</a:t>
            </a:r>
            <a:r>
              <a:rPr lang="en-US" altLang="zh-CN" dirty="0">
                <a:solidFill>
                  <a:srgbClr val="0000CC"/>
                </a:solidFill>
              </a:rPr>
              <a:t>:</a:t>
            </a:r>
            <a:r>
              <a:rPr lang="zh-CN" altLang="en-US" dirty="0">
                <a:solidFill>
                  <a:srgbClr val="0000CC"/>
                </a:solidFill>
              </a:rPr>
              <a:t>｛数据流｝，输出</a:t>
            </a:r>
            <a:r>
              <a:rPr lang="en-US" altLang="zh-CN" dirty="0">
                <a:solidFill>
                  <a:srgbClr val="0000CC"/>
                </a:solidFill>
              </a:rPr>
              <a:t>:</a:t>
            </a:r>
            <a:r>
              <a:rPr lang="zh-CN" altLang="en-US" dirty="0">
                <a:solidFill>
                  <a:srgbClr val="0000CC"/>
                </a:solidFill>
              </a:rPr>
              <a:t>｛数据流｝，</a:t>
            </a:r>
            <a:endParaRPr lang="zh-CN" altLang="en-US" dirty="0">
              <a:solidFill>
                <a:srgbClr val="0000CC"/>
              </a:solidFill>
            </a:endParaRPr>
          </a:p>
          <a:p>
            <a:pPr marL="742950" lvl="1" indent="-285750" eaLnBrk="1" hangingPunct="1">
              <a:lnSpc>
                <a:spcPct val="110000"/>
              </a:lnSpc>
              <a:buClr>
                <a:srgbClr val="FF3300"/>
              </a:buClr>
              <a:buNone/>
            </a:pPr>
            <a:r>
              <a:rPr lang="zh-CN" altLang="en-US" dirty="0">
                <a:solidFill>
                  <a:srgbClr val="0000CC"/>
                </a:solidFill>
              </a:rPr>
              <a:t>                      处理</a:t>
            </a:r>
            <a:r>
              <a:rPr lang="en-US" altLang="zh-CN" dirty="0">
                <a:solidFill>
                  <a:srgbClr val="0000CC"/>
                </a:solidFill>
              </a:rPr>
              <a:t>:</a:t>
            </a:r>
            <a:r>
              <a:rPr lang="zh-CN" altLang="en-US" dirty="0">
                <a:solidFill>
                  <a:srgbClr val="0000CC"/>
                </a:solidFill>
              </a:rPr>
              <a:t>｛简要说明｝｝</a:t>
            </a:r>
            <a:endParaRPr lang="zh-CN" altLang="en-US" dirty="0">
              <a:solidFill>
                <a:srgbClr val="0000CC"/>
              </a:solidFill>
            </a:endParaRPr>
          </a:p>
        </p:txBody>
      </p:sp>
      <p:sp>
        <p:nvSpPr>
          <p:cNvPr id="43012" name="Rectangle 3"/>
          <p:cNvSpPr/>
          <p:nvPr/>
        </p:nvSpPr>
        <p:spPr>
          <a:xfrm>
            <a:off x="939800" y="12700"/>
            <a:ext cx="7772400" cy="60960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eaLnBrk="1" hangingPunct="1">
              <a:spcBef>
                <a:spcPct val="0"/>
              </a:spcBef>
              <a:buClrTx/>
              <a:buFontTx/>
              <a:buNone/>
            </a:pPr>
            <a:r>
              <a:rPr lang="en-US" altLang="zh-CN" sz="4400" dirty="0">
                <a:solidFill>
                  <a:schemeClr val="accent2"/>
                </a:solidFill>
                <a:ea typeface="经典细隶书简" pitchFamily="49" charset="-122"/>
              </a:rPr>
              <a:t>7.2.4  </a:t>
            </a:r>
            <a:r>
              <a:rPr lang="zh-CN" altLang="en-US" sz="4400" dirty="0">
                <a:solidFill>
                  <a:schemeClr val="accent2"/>
                </a:solidFill>
                <a:ea typeface="经典细隶书简" pitchFamily="49" charset="-122"/>
              </a:rPr>
              <a:t>数据流图与数据字典</a:t>
            </a:r>
            <a:endParaRPr lang="zh-CN" altLang="en-US" sz="4400" dirty="0">
              <a:solidFill>
                <a:schemeClr val="accent2"/>
              </a:solidFill>
              <a:ea typeface="经典细隶书简" pitchFamily="49"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页脚占位符 2"/>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44035" name="Rectangle 2"/>
          <p:cNvSpPr/>
          <p:nvPr/>
        </p:nvSpPr>
        <p:spPr>
          <a:xfrm>
            <a:off x="304800" y="762000"/>
            <a:ext cx="8534400" cy="57150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342900" lvl="0" indent="-342900" eaLnBrk="1" hangingPunct="1">
              <a:lnSpc>
                <a:spcPct val="110000"/>
              </a:lnSpc>
              <a:buNone/>
            </a:pPr>
            <a:r>
              <a:rPr lang="zh-CN" altLang="en-US" dirty="0">
                <a:solidFill>
                  <a:schemeClr val="tx1"/>
                </a:solidFill>
              </a:rPr>
              <a:t>例：</a:t>
            </a:r>
            <a:endParaRPr lang="zh-CN" altLang="en-US" dirty="0">
              <a:solidFill>
                <a:schemeClr val="tx1"/>
              </a:solidFill>
            </a:endParaRPr>
          </a:p>
          <a:p>
            <a:pPr marL="342900" lvl="0" indent="-342900" eaLnBrk="1" hangingPunct="1">
              <a:lnSpc>
                <a:spcPct val="110000"/>
              </a:lnSpc>
              <a:buFont typeface="Wingdings" panose="05000000000000000000" pitchFamily="2" charset="2"/>
              <a:buChar char="§"/>
            </a:pPr>
            <a:r>
              <a:rPr lang="zh-CN" altLang="en-US" dirty="0">
                <a:solidFill>
                  <a:schemeClr val="tx1"/>
                </a:solidFill>
              </a:rPr>
              <a:t>    </a:t>
            </a:r>
            <a:r>
              <a:rPr lang="zh-CN" altLang="en-US" sz="2800" dirty="0">
                <a:solidFill>
                  <a:schemeClr val="tx1"/>
                </a:solidFill>
              </a:rPr>
              <a:t>数据项：　学号</a:t>
            </a:r>
            <a:endParaRPr lang="zh-CN" altLang="en-US" sz="2800" dirty="0">
              <a:solidFill>
                <a:schemeClr val="tx1"/>
              </a:solidFill>
            </a:endParaRPr>
          </a:p>
          <a:p>
            <a:pPr marL="342900" lvl="0" indent="-342900" eaLnBrk="1" hangingPunct="1">
              <a:lnSpc>
                <a:spcPct val="110000"/>
              </a:lnSpc>
              <a:buFont typeface="Wingdings" panose="05000000000000000000" pitchFamily="2" charset="2"/>
              <a:buChar char="§"/>
            </a:pPr>
            <a:r>
              <a:rPr lang="zh-CN" altLang="en-US" sz="2800" dirty="0">
                <a:solidFill>
                  <a:schemeClr val="tx1"/>
                </a:solidFill>
              </a:rPr>
              <a:t>    含义说明：唯一标识每个学生</a:t>
            </a:r>
            <a:endParaRPr lang="zh-CN" altLang="en-US" sz="2800" dirty="0">
              <a:solidFill>
                <a:schemeClr val="tx1"/>
              </a:solidFill>
            </a:endParaRPr>
          </a:p>
          <a:p>
            <a:pPr marL="342900" lvl="0" indent="-342900" eaLnBrk="1" hangingPunct="1">
              <a:lnSpc>
                <a:spcPct val="110000"/>
              </a:lnSpc>
              <a:buFont typeface="Wingdings" panose="05000000000000000000" pitchFamily="2" charset="2"/>
              <a:buChar char="§"/>
            </a:pPr>
            <a:r>
              <a:rPr lang="zh-CN" altLang="en-US" sz="2800" dirty="0">
                <a:solidFill>
                  <a:schemeClr val="tx1"/>
                </a:solidFill>
              </a:rPr>
              <a:t>　别名：　　学生编号</a:t>
            </a:r>
            <a:endParaRPr lang="zh-CN" altLang="en-US" sz="2800" dirty="0">
              <a:solidFill>
                <a:schemeClr val="tx1"/>
              </a:solidFill>
            </a:endParaRPr>
          </a:p>
          <a:p>
            <a:pPr marL="342900" lvl="0" indent="-342900" eaLnBrk="1" hangingPunct="1">
              <a:lnSpc>
                <a:spcPct val="110000"/>
              </a:lnSpc>
              <a:buFont typeface="Wingdings" panose="05000000000000000000" pitchFamily="2" charset="2"/>
              <a:buChar char="§"/>
            </a:pPr>
            <a:r>
              <a:rPr lang="zh-CN" altLang="en-US" sz="2800" dirty="0">
                <a:solidFill>
                  <a:schemeClr val="tx1"/>
                </a:solidFill>
              </a:rPr>
              <a:t>    类型：　　字符型</a:t>
            </a:r>
            <a:endParaRPr lang="zh-CN" altLang="en-US" sz="2800" dirty="0">
              <a:solidFill>
                <a:schemeClr val="tx1"/>
              </a:solidFill>
            </a:endParaRPr>
          </a:p>
          <a:p>
            <a:pPr marL="342900" lvl="0" indent="-342900" eaLnBrk="1" hangingPunct="1">
              <a:lnSpc>
                <a:spcPct val="110000"/>
              </a:lnSpc>
              <a:buFont typeface="Wingdings" panose="05000000000000000000" pitchFamily="2" charset="2"/>
              <a:buChar char="§"/>
            </a:pPr>
            <a:r>
              <a:rPr lang="zh-CN" altLang="en-US" sz="2800" dirty="0">
                <a:solidFill>
                  <a:schemeClr val="tx1"/>
                </a:solidFill>
              </a:rPr>
              <a:t>    长度：　　 </a:t>
            </a:r>
            <a:r>
              <a:rPr lang="en-US" altLang="zh-CN" sz="2800" dirty="0">
                <a:solidFill>
                  <a:schemeClr val="tx1"/>
                </a:solidFill>
              </a:rPr>
              <a:t>8</a:t>
            </a:r>
            <a:endParaRPr lang="en-US" altLang="zh-CN" sz="2800" dirty="0">
              <a:solidFill>
                <a:schemeClr val="tx1"/>
              </a:solidFill>
            </a:endParaRPr>
          </a:p>
          <a:p>
            <a:pPr marL="342900" lvl="0" indent="-342900" eaLnBrk="1" hangingPunct="1">
              <a:lnSpc>
                <a:spcPct val="110000"/>
              </a:lnSpc>
              <a:buFont typeface="Wingdings" panose="05000000000000000000" pitchFamily="2" charset="2"/>
              <a:buChar char="§"/>
            </a:pPr>
            <a:r>
              <a:rPr lang="en-US" altLang="zh-CN" sz="2800" dirty="0">
                <a:solidFill>
                  <a:schemeClr val="tx1"/>
                </a:solidFill>
              </a:rPr>
              <a:t>    </a:t>
            </a:r>
            <a:r>
              <a:rPr lang="zh-CN" altLang="en-US" sz="2800" dirty="0">
                <a:solidFill>
                  <a:schemeClr val="tx1"/>
                </a:solidFill>
              </a:rPr>
              <a:t>取值范围：</a:t>
            </a:r>
            <a:r>
              <a:rPr lang="en-US" altLang="zh-CN" sz="2800" dirty="0">
                <a:solidFill>
                  <a:schemeClr val="tx1"/>
                </a:solidFill>
              </a:rPr>
              <a:t>00000000</a:t>
            </a:r>
            <a:r>
              <a:rPr lang="zh-CN" altLang="en-US" sz="2800" dirty="0">
                <a:solidFill>
                  <a:schemeClr val="tx1"/>
                </a:solidFill>
              </a:rPr>
              <a:t>至</a:t>
            </a:r>
            <a:r>
              <a:rPr lang="en-US" altLang="zh-CN" sz="2800" dirty="0">
                <a:solidFill>
                  <a:schemeClr val="tx1"/>
                </a:solidFill>
              </a:rPr>
              <a:t>99999999</a:t>
            </a:r>
            <a:endParaRPr lang="en-US" altLang="zh-CN" sz="2800" dirty="0">
              <a:solidFill>
                <a:schemeClr val="tx1"/>
              </a:solidFill>
            </a:endParaRPr>
          </a:p>
          <a:p>
            <a:pPr marL="342900" lvl="0" indent="-342900" eaLnBrk="1" hangingPunct="1">
              <a:lnSpc>
                <a:spcPct val="110000"/>
              </a:lnSpc>
              <a:buFont typeface="Wingdings" panose="05000000000000000000" pitchFamily="2" charset="2"/>
              <a:buChar char="§"/>
            </a:pPr>
            <a:r>
              <a:rPr lang="zh-CN" altLang="en-US" sz="2800" dirty="0">
                <a:solidFill>
                  <a:schemeClr val="tx1"/>
                </a:solidFill>
              </a:rPr>
              <a:t>　取值含义：前两位标别该学生所在年级，</a:t>
            </a:r>
            <a:endParaRPr lang="zh-CN" altLang="en-US" sz="2800" dirty="0">
              <a:solidFill>
                <a:schemeClr val="tx1"/>
              </a:solidFill>
            </a:endParaRPr>
          </a:p>
          <a:p>
            <a:pPr marL="342900" lvl="0" indent="-342900" eaLnBrk="1" hangingPunct="1">
              <a:lnSpc>
                <a:spcPct val="110000"/>
              </a:lnSpc>
              <a:buNone/>
            </a:pPr>
            <a:r>
              <a:rPr lang="zh-CN" altLang="en-US" sz="2800" dirty="0">
                <a:solidFill>
                  <a:schemeClr val="tx1"/>
                </a:solidFill>
              </a:rPr>
              <a:t>	                        后六位按顺序编号</a:t>
            </a:r>
            <a:endParaRPr lang="zh-CN" altLang="en-US" sz="2800" dirty="0">
              <a:solidFill>
                <a:schemeClr val="tx1"/>
              </a:solidFill>
            </a:endParaRPr>
          </a:p>
          <a:p>
            <a:pPr marL="342900" lvl="0" indent="-342900" eaLnBrk="1" hangingPunct="1">
              <a:lnSpc>
                <a:spcPct val="110000"/>
              </a:lnSpc>
              <a:buFont typeface="Wingdings" panose="05000000000000000000" pitchFamily="2" charset="2"/>
              <a:buChar char="§"/>
            </a:pPr>
            <a:r>
              <a:rPr lang="zh-CN" altLang="en-US" sz="2800" dirty="0">
                <a:solidFill>
                  <a:schemeClr val="tx1"/>
                </a:solidFill>
              </a:rPr>
              <a:t>　与其他数据项的逻辑关系：</a:t>
            </a:r>
            <a:endParaRPr lang="zh-CN" altLang="en-US" sz="2800" dirty="0">
              <a:solidFill>
                <a:schemeClr val="tx1"/>
              </a:solidFill>
            </a:endParaRPr>
          </a:p>
        </p:txBody>
      </p:sp>
      <p:sp>
        <p:nvSpPr>
          <p:cNvPr id="44036" name="Rectangle 3"/>
          <p:cNvSpPr/>
          <p:nvPr/>
        </p:nvSpPr>
        <p:spPr>
          <a:xfrm>
            <a:off x="939800" y="12700"/>
            <a:ext cx="7772400" cy="60960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eaLnBrk="1" hangingPunct="1">
              <a:spcBef>
                <a:spcPct val="0"/>
              </a:spcBef>
              <a:buClrTx/>
              <a:buFontTx/>
              <a:buNone/>
            </a:pPr>
            <a:r>
              <a:rPr lang="en-US" altLang="zh-CN" sz="4400" dirty="0">
                <a:solidFill>
                  <a:schemeClr val="accent2"/>
                </a:solidFill>
                <a:ea typeface="经典细隶书简" pitchFamily="49" charset="-122"/>
              </a:rPr>
              <a:t>7.2.4  </a:t>
            </a:r>
            <a:r>
              <a:rPr lang="zh-CN" altLang="en-US" sz="4400" dirty="0">
                <a:solidFill>
                  <a:schemeClr val="accent2"/>
                </a:solidFill>
                <a:ea typeface="经典细隶书简" pitchFamily="49" charset="-122"/>
              </a:rPr>
              <a:t>数据流图与数据字典</a:t>
            </a:r>
            <a:endParaRPr lang="zh-CN" altLang="en-US" sz="4400" dirty="0">
              <a:solidFill>
                <a:schemeClr val="accent2"/>
              </a:solidFill>
              <a:ea typeface="经典细隶书简" pitchFamily="49" charset="-122"/>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页脚占位符 2"/>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45059" name="Rectangle 2"/>
          <p:cNvSpPr/>
          <p:nvPr/>
        </p:nvSpPr>
        <p:spPr>
          <a:xfrm>
            <a:off x="304800" y="762000"/>
            <a:ext cx="8534400" cy="57150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342900" lvl="0" indent="-342900" eaLnBrk="1" hangingPunct="1">
              <a:lnSpc>
                <a:spcPct val="110000"/>
              </a:lnSpc>
              <a:buNone/>
            </a:pPr>
            <a:r>
              <a:rPr lang="zh-CN" altLang="en-US" dirty="0">
                <a:solidFill>
                  <a:schemeClr val="tx1"/>
                </a:solidFill>
              </a:rPr>
              <a:t>例：</a:t>
            </a:r>
            <a:endParaRPr lang="zh-CN" altLang="en-US" dirty="0">
              <a:solidFill>
                <a:schemeClr val="tx1"/>
              </a:solidFill>
            </a:endParaRPr>
          </a:p>
          <a:p>
            <a:pPr marL="342900" lvl="0" indent="-342900" eaLnBrk="1" hangingPunct="1">
              <a:lnSpc>
                <a:spcPct val="110000"/>
              </a:lnSpc>
              <a:buFont typeface="Wingdings" panose="05000000000000000000" pitchFamily="2" charset="2"/>
              <a:buChar char="§"/>
            </a:pPr>
            <a:r>
              <a:rPr lang="zh-CN" altLang="en-US" sz="2800" dirty="0">
                <a:solidFill>
                  <a:schemeClr val="tx1"/>
                </a:solidFill>
              </a:rPr>
              <a:t>    数据结构：　学生</a:t>
            </a:r>
            <a:endParaRPr lang="zh-CN" altLang="en-US" sz="2800" dirty="0">
              <a:solidFill>
                <a:schemeClr val="tx1"/>
              </a:solidFill>
            </a:endParaRPr>
          </a:p>
          <a:p>
            <a:pPr marL="342900" lvl="0" indent="-342900" eaLnBrk="1" hangingPunct="1">
              <a:lnSpc>
                <a:spcPct val="110000"/>
              </a:lnSpc>
              <a:buFont typeface="Wingdings" panose="05000000000000000000" pitchFamily="2" charset="2"/>
              <a:buChar char="§"/>
            </a:pPr>
            <a:r>
              <a:rPr lang="zh-CN" altLang="en-US" sz="2800" dirty="0">
                <a:solidFill>
                  <a:schemeClr val="tx1"/>
                </a:solidFill>
              </a:rPr>
              <a:t>    含义说明：　是学籍管理子系统的主体数据结</a:t>
            </a:r>
            <a:endParaRPr lang="zh-CN" altLang="en-US" sz="2800" dirty="0">
              <a:solidFill>
                <a:schemeClr val="tx1"/>
              </a:solidFill>
            </a:endParaRPr>
          </a:p>
          <a:p>
            <a:pPr marL="342900" lvl="0" indent="-342900" eaLnBrk="1" hangingPunct="1">
              <a:lnSpc>
                <a:spcPct val="110000"/>
              </a:lnSpc>
              <a:buNone/>
            </a:pPr>
            <a:r>
              <a:rPr lang="zh-CN" altLang="en-US" sz="2800" dirty="0">
                <a:solidFill>
                  <a:schemeClr val="tx1"/>
                </a:solidFill>
              </a:rPr>
              <a:t>                            	构，定义了一个学生的有关信息</a:t>
            </a:r>
            <a:endParaRPr lang="zh-CN" altLang="en-US" sz="2800" dirty="0">
              <a:solidFill>
                <a:schemeClr val="tx1"/>
              </a:solidFill>
            </a:endParaRPr>
          </a:p>
          <a:p>
            <a:pPr marL="342900" lvl="0" indent="-342900" eaLnBrk="1" hangingPunct="1">
              <a:lnSpc>
                <a:spcPct val="110000"/>
              </a:lnSpc>
              <a:buFont typeface="Wingdings" panose="05000000000000000000" pitchFamily="2" charset="2"/>
              <a:buChar char="§"/>
            </a:pPr>
            <a:r>
              <a:rPr lang="zh-CN" altLang="en-US" sz="2800" dirty="0">
                <a:solidFill>
                  <a:schemeClr val="tx1"/>
                </a:solidFill>
              </a:rPr>
              <a:t>    组成：　　　学号，姓名，性别，年龄，</a:t>
            </a:r>
            <a:endParaRPr lang="zh-CN" altLang="en-US" sz="2800" dirty="0">
              <a:solidFill>
                <a:schemeClr val="tx1"/>
              </a:solidFill>
            </a:endParaRPr>
          </a:p>
          <a:p>
            <a:pPr marL="342900" lvl="0" indent="-342900" eaLnBrk="1" hangingPunct="1">
              <a:lnSpc>
                <a:spcPct val="110000"/>
              </a:lnSpc>
              <a:buNone/>
            </a:pPr>
            <a:r>
              <a:rPr lang="zh-CN" altLang="en-US" sz="2800" dirty="0">
                <a:solidFill>
                  <a:schemeClr val="tx1"/>
                </a:solidFill>
              </a:rPr>
              <a:t>                            	所在系，年级</a:t>
            </a:r>
            <a:endParaRPr lang="zh-CN" altLang="en-US" sz="2800" dirty="0">
              <a:solidFill>
                <a:schemeClr val="tx1"/>
              </a:solidFill>
            </a:endParaRPr>
          </a:p>
        </p:txBody>
      </p:sp>
      <p:sp>
        <p:nvSpPr>
          <p:cNvPr id="45060" name="Rectangle 3"/>
          <p:cNvSpPr/>
          <p:nvPr/>
        </p:nvSpPr>
        <p:spPr>
          <a:xfrm>
            <a:off x="939800" y="12700"/>
            <a:ext cx="7772400" cy="60960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eaLnBrk="1" hangingPunct="1">
              <a:spcBef>
                <a:spcPct val="0"/>
              </a:spcBef>
              <a:buClrTx/>
              <a:buFontTx/>
              <a:buNone/>
            </a:pPr>
            <a:r>
              <a:rPr lang="en-US" altLang="zh-CN" sz="4400" dirty="0">
                <a:solidFill>
                  <a:schemeClr val="accent2"/>
                </a:solidFill>
                <a:ea typeface="经典细隶书简" pitchFamily="49" charset="-122"/>
              </a:rPr>
              <a:t>7.2.4  </a:t>
            </a:r>
            <a:r>
              <a:rPr lang="zh-CN" altLang="en-US" sz="4400" dirty="0">
                <a:solidFill>
                  <a:schemeClr val="accent2"/>
                </a:solidFill>
                <a:ea typeface="经典细隶书简" pitchFamily="49" charset="-122"/>
              </a:rPr>
              <a:t>数据流图与数据字典</a:t>
            </a:r>
            <a:endParaRPr lang="zh-CN" altLang="en-US" sz="4400" dirty="0">
              <a:solidFill>
                <a:schemeClr val="accent2"/>
              </a:solidFill>
              <a:ea typeface="经典细隶书简" pitchFamily="49" charset="-122"/>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页脚占位符 2"/>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46083" name="Rectangle 2"/>
          <p:cNvSpPr/>
          <p:nvPr/>
        </p:nvSpPr>
        <p:spPr>
          <a:xfrm>
            <a:off x="304800" y="762000"/>
            <a:ext cx="8534400" cy="57150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342900" lvl="0" indent="-342900" eaLnBrk="1" hangingPunct="1">
              <a:lnSpc>
                <a:spcPct val="110000"/>
              </a:lnSpc>
              <a:buNone/>
            </a:pPr>
            <a:r>
              <a:rPr lang="zh-CN" altLang="en-US" dirty="0">
                <a:solidFill>
                  <a:schemeClr val="tx1"/>
                </a:solidFill>
              </a:rPr>
              <a:t>例：</a:t>
            </a:r>
            <a:endParaRPr lang="zh-CN" altLang="en-US" dirty="0">
              <a:solidFill>
                <a:schemeClr val="tx1"/>
              </a:solidFill>
            </a:endParaRPr>
          </a:p>
          <a:p>
            <a:pPr marL="342900" lvl="0" indent="-342900" eaLnBrk="1" hangingPunct="1">
              <a:lnSpc>
                <a:spcPct val="110000"/>
              </a:lnSpc>
              <a:buFont typeface="Wingdings" panose="05000000000000000000" pitchFamily="2" charset="2"/>
              <a:buChar char="§"/>
            </a:pPr>
            <a:r>
              <a:rPr lang="zh-CN" altLang="en-US" sz="2800" dirty="0">
                <a:solidFill>
                  <a:schemeClr val="tx1"/>
                </a:solidFill>
              </a:rPr>
              <a:t>    数据流：　　体检结果</a:t>
            </a:r>
            <a:endParaRPr lang="zh-CN" altLang="en-US" sz="2800" dirty="0">
              <a:solidFill>
                <a:schemeClr val="tx1"/>
              </a:solidFill>
            </a:endParaRPr>
          </a:p>
          <a:p>
            <a:pPr marL="342900" lvl="0" indent="-342900" eaLnBrk="1" hangingPunct="1">
              <a:lnSpc>
                <a:spcPct val="110000"/>
              </a:lnSpc>
              <a:buFont typeface="Wingdings" panose="05000000000000000000" pitchFamily="2" charset="2"/>
              <a:buChar char="§"/>
            </a:pPr>
            <a:r>
              <a:rPr lang="zh-CN" altLang="en-US" sz="2800" dirty="0">
                <a:solidFill>
                  <a:schemeClr val="tx1"/>
                </a:solidFill>
              </a:rPr>
              <a:t>    说明：　　　学生参加体格检查的最终结果</a:t>
            </a:r>
            <a:endParaRPr lang="zh-CN" altLang="en-US" sz="2800" dirty="0">
              <a:solidFill>
                <a:schemeClr val="tx1"/>
              </a:solidFill>
            </a:endParaRPr>
          </a:p>
          <a:p>
            <a:pPr marL="342900" lvl="0" indent="-342900" eaLnBrk="1" hangingPunct="1">
              <a:lnSpc>
                <a:spcPct val="110000"/>
              </a:lnSpc>
              <a:buFont typeface="Wingdings" panose="05000000000000000000" pitchFamily="2" charset="2"/>
              <a:buChar char="§"/>
            </a:pPr>
            <a:r>
              <a:rPr lang="zh-CN" altLang="en-US" sz="2800" dirty="0">
                <a:solidFill>
                  <a:schemeClr val="tx1"/>
                </a:solidFill>
              </a:rPr>
              <a:t>    数据流来源：体检</a:t>
            </a:r>
            <a:endParaRPr lang="zh-CN" altLang="en-US" sz="2800" dirty="0">
              <a:solidFill>
                <a:schemeClr val="tx1"/>
              </a:solidFill>
            </a:endParaRPr>
          </a:p>
          <a:p>
            <a:pPr marL="342900" lvl="0" indent="-342900" eaLnBrk="1" hangingPunct="1">
              <a:lnSpc>
                <a:spcPct val="110000"/>
              </a:lnSpc>
              <a:buFont typeface="Wingdings" panose="05000000000000000000" pitchFamily="2" charset="2"/>
              <a:buChar char="§"/>
            </a:pPr>
            <a:r>
              <a:rPr lang="zh-CN" altLang="en-US" sz="2800" dirty="0">
                <a:solidFill>
                  <a:schemeClr val="tx1"/>
                </a:solidFill>
              </a:rPr>
              <a:t>    数据流去向：批准</a:t>
            </a:r>
            <a:endParaRPr lang="zh-CN" altLang="en-US" sz="2800" dirty="0">
              <a:solidFill>
                <a:schemeClr val="tx1"/>
              </a:solidFill>
            </a:endParaRPr>
          </a:p>
          <a:p>
            <a:pPr marL="342900" lvl="0" indent="-342900" eaLnBrk="1" hangingPunct="1">
              <a:lnSpc>
                <a:spcPct val="110000"/>
              </a:lnSpc>
              <a:buFont typeface="Wingdings" panose="05000000000000000000" pitchFamily="2" charset="2"/>
              <a:buChar char="§"/>
            </a:pPr>
            <a:r>
              <a:rPr lang="zh-CN" altLang="en-US" sz="2800" dirty="0">
                <a:solidFill>
                  <a:schemeClr val="tx1"/>
                </a:solidFill>
              </a:rPr>
              <a:t>    组成：　　　</a:t>
            </a:r>
            <a:r>
              <a:rPr lang="en-US" altLang="zh-CN" sz="2800" dirty="0">
                <a:solidFill>
                  <a:schemeClr val="tx1"/>
                </a:solidFill>
              </a:rPr>
              <a:t>……</a:t>
            </a:r>
            <a:endParaRPr lang="en-US" altLang="zh-CN" sz="2800" dirty="0">
              <a:solidFill>
                <a:schemeClr val="tx1"/>
              </a:solidFill>
            </a:endParaRPr>
          </a:p>
          <a:p>
            <a:pPr marL="342900" lvl="0" indent="-342900" eaLnBrk="1" hangingPunct="1">
              <a:lnSpc>
                <a:spcPct val="110000"/>
              </a:lnSpc>
              <a:buFont typeface="Wingdings" panose="05000000000000000000" pitchFamily="2" charset="2"/>
              <a:buChar char="§"/>
            </a:pPr>
            <a:r>
              <a:rPr lang="zh-CN" altLang="en-US" sz="2800" dirty="0">
                <a:solidFill>
                  <a:schemeClr val="tx1"/>
                </a:solidFill>
              </a:rPr>
              <a:t>　平均流量：　</a:t>
            </a:r>
            <a:r>
              <a:rPr lang="en-US" altLang="zh-CN" sz="2800" dirty="0">
                <a:solidFill>
                  <a:schemeClr val="tx1"/>
                </a:solidFill>
              </a:rPr>
              <a:t>……</a:t>
            </a:r>
            <a:endParaRPr lang="en-US" altLang="zh-CN" sz="2800" dirty="0">
              <a:solidFill>
                <a:schemeClr val="tx1"/>
              </a:solidFill>
            </a:endParaRPr>
          </a:p>
          <a:p>
            <a:pPr marL="342900" lvl="0" indent="-342900" eaLnBrk="1" hangingPunct="1">
              <a:lnSpc>
                <a:spcPct val="110000"/>
              </a:lnSpc>
              <a:buFont typeface="Wingdings" panose="05000000000000000000" pitchFamily="2" charset="2"/>
              <a:buChar char="§"/>
            </a:pPr>
            <a:r>
              <a:rPr lang="zh-CN" altLang="en-US" sz="2800" dirty="0">
                <a:solidFill>
                  <a:schemeClr val="tx1"/>
                </a:solidFill>
              </a:rPr>
              <a:t>　高峰期流量：</a:t>
            </a:r>
            <a:r>
              <a:rPr lang="en-US" altLang="zh-CN" sz="2800" dirty="0">
                <a:solidFill>
                  <a:schemeClr val="tx1"/>
                </a:solidFill>
              </a:rPr>
              <a:t>……</a:t>
            </a:r>
            <a:endParaRPr lang="en-US" altLang="zh-CN" sz="2800" dirty="0">
              <a:solidFill>
                <a:schemeClr val="tx1"/>
              </a:solidFill>
            </a:endParaRPr>
          </a:p>
        </p:txBody>
      </p:sp>
      <p:sp>
        <p:nvSpPr>
          <p:cNvPr id="46084" name="Rectangle 3"/>
          <p:cNvSpPr/>
          <p:nvPr/>
        </p:nvSpPr>
        <p:spPr>
          <a:xfrm>
            <a:off x="939800" y="12700"/>
            <a:ext cx="7772400" cy="60960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eaLnBrk="1" hangingPunct="1">
              <a:spcBef>
                <a:spcPct val="0"/>
              </a:spcBef>
              <a:buClrTx/>
              <a:buFontTx/>
              <a:buNone/>
            </a:pPr>
            <a:r>
              <a:rPr lang="en-US" altLang="zh-CN" sz="4400" dirty="0">
                <a:solidFill>
                  <a:schemeClr val="accent2"/>
                </a:solidFill>
                <a:ea typeface="经典细隶书简" pitchFamily="49" charset="-122"/>
              </a:rPr>
              <a:t>7.2.4  </a:t>
            </a:r>
            <a:r>
              <a:rPr lang="zh-CN" altLang="en-US" sz="4400" dirty="0">
                <a:solidFill>
                  <a:schemeClr val="accent2"/>
                </a:solidFill>
                <a:ea typeface="经典细隶书简" pitchFamily="49" charset="-122"/>
              </a:rPr>
              <a:t>数据流图与数据字典</a:t>
            </a:r>
            <a:endParaRPr lang="zh-CN" altLang="en-US" sz="4400" dirty="0">
              <a:solidFill>
                <a:schemeClr val="accent2"/>
              </a:solidFill>
              <a:ea typeface="经典细隶书简" pitchFamily="49"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页脚占位符 2"/>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47107" name="Rectangle 2"/>
          <p:cNvSpPr/>
          <p:nvPr/>
        </p:nvSpPr>
        <p:spPr>
          <a:xfrm>
            <a:off x="304800" y="762000"/>
            <a:ext cx="8534400" cy="57150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342900" lvl="0" indent="-342900" eaLnBrk="1" hangingPunct="1">
              <a:lnSpc>
                <a:spcPct val="110000"/>
              </a:lnSpc>
              <a:buNone/>
            </a:pPr>
            <a:r>
              <a:rPr lang="zh-CN" altLang="en-US" dirty="0">
                <a:solidFill>
                  <a:schemeClr val="tx1"/>
                </a:solidFill>
              </a:rPr>
              <a:t>例：</a:t>
            </a:r>
            <a:endParaRPr lang="zh-CN" altLang="en-US" dirty="0">
              <a:solidFill>
                <a:schemeClr val="tx1"/>
              </a:solidFill>
            </a:endParaRPr>
          </a:p>
          <a:p>
            <a:pPr marL="342900" lvl="0" indent="-342900" eaLnBrk="1" hangingPunct="1">
              <a:lnSpc>
                <a:spcPct val="110000"/>
              </a:lnSpc>
              <a:buFont typeface="Wingdings" panose="05000000000000000000" pitchFamily="2" charset="2"/>
              <a:buChar char="§"/>
            </a:pPr>
            <a:r>
              <a:rPr lang="zh-CN" altLang="en-US" sz="2800" dirty="0">
                <a:solidFill>
                  <a:schemeClr val="tx1"/>
                </a:solidFill>
              </a:rPr>
              <a:t>    数据存储：　学生登记表</a:t>
            </a:r>
            <a:endParaRPr lang="zh-CN" altLang="en-US" sz="2800" dirty="0">
              <a:solidFill>
                <a:schemeClr val="tx1"/>
              </a:solidFill>
            </a:endParaRPr>
          </a:p>
          <a:p>
            <a:pPr marL="342900" lvl="0" indent="-342900" eaLnBrk="1" hangingPunct="1">
              <a:lnSpc>
                <a:spcPct val="110000"/>
              </a:lnSpc>
              <a:buFont typeface="Wingdings" panose="05000000000000000000" pitchFamily="2" charset="2"/>
              <a:buChar char="§"/>
            </a:pPr>
            <a:r>
              <a:rPr lang="zh-CN" altLang="en-US" sz="2800" dirty="0">
                <a:solidFill>
                  <a:schemeClr val="tx1"/>
                </a:solidFill>
              </a:rPr>
              <a:t>    说明：　　　记录学生的基本情况</a:t>
            </a:r>
            <a:endParaRPr lang="zh-CN" altLang="en-US" sz="2800" dirty="0">
              <a:solidFill>
                <a:schemeClr val="tx1"/>
              </a:solidFill>
            </a:endParaRPr>
          </a:p>
          <a:p>
            <a:pPr marL="342900" lvl="0" indent="-342900" eaLnBrk="1" hangingPunct="1">
              <a:lnSpc>
                <a:spcPct val="110000"/>
              </a:lnSpc>
              <a:buFont typeface="Wingdings" panose="05000000000000000000" pitchFamily="2" charset="2"/>
              <a:buChar char="§"/>
            </a:pPr>
            <a:r>
              <a:rPr lang="zh-CN" altLang="en-US" sz="2800" dirty="0">
                <a:solidFill>
                  <a:schemeClr val="tx1"/>
                </a:solidFill>
              </a:rPr>
              <a:t>　流入数据流：</a:t>
            </a:r>
            <a:r>
              <a:rPr lang="en-US" altLang="zh-CN" sz="2800" dirty="0">
                <a:solidFill>
                  <a:schemeClr val="tx1"/>
                </a:solidFill>
              </a:rPr>
              <a:t>……</a:t>
            </a:r>
            <a:endParaRPr lang="en-US" altLang="zh-CN" sz="2800" dirty="0">
              <a:solidFill>
                <a:schemeClr val="tx1"/>
              </a:solidFill>
            </a:endParaRPr>
          </a:p>
          <a:p>
            <a:pPr marL="342900" lvl="0" indent="-342900" eaLnBrk="1" hangingPunct="1">
              <a:lnSpc>
                <a:spcPct val="110000"/>
              </a:lnSpc>
              <a:buFont typeface="Wingdings" panose="05000000000000000000" pitchFamily="2" charset="2"/>
              <a:buChar char="§"/>
            </a:pPr>
            <a:r>
              <a:rPr lang="en-US" altLang="zh-CN" sz="2800" dirty="0">
                <a:solidFill>
                  <a:schemeClr val="tx1"/>
                </a:solidFill>
              </a:rPr>
              <a:t>    </a:t>
            </a:r>
            <a:r>
              <a:rPr lang="zh-CN" altLang="en-US" sz="2800" dirty="0">
                <a:solidFill>
                  <a:schemeClr val="tx1"/>
                </a:solidFill>
              </a:rPr>
              <a:t>流出数据流：</a:t>
            </a:r>
            <a:r>
              <a:rPr lang="en-US" altLang="zh-CN" sz="2800" dirty="0">
                <a:solidFill>
                  <a:schemeClr val="tx1"/>
                </a:solidFill>
              </a:rPr>
              <a:t>……</a:t>
            </a:r>
            <a:endParaRPr lang="en-US" altLang="zh-CN" sz="2800" dirty="0">
              <a:solidFill>
                <a:schemeClr val="tx1"/>
              </a:solidFill>
            </a:endParaRPr>
          </a:p>
          <a:p>
            <a:pPr marL="342900" lvl="0" indent="-342900" eaLnBrk="1" hangingPunct="1">
              <a:lnSpc>
                <a:spcPct val="110000"/>
              </a:lnSpc>
              <a:buFont typeface="Wingdings" panose="05000000000000000000" pitchFamily="2" charset="2"/>
              <a:buChar char="§"/>
            </a:pPr>
            <a:r>
              <a:rPr lang="en-US" altLang="zh-CN" sz="2800" dirty="0">
                <a:solidFill>
                  <a:schemeClr val="tx1"/>
                </a:solidFill>
              </a:rPr>
              <a:t>    </a:t>
            </a:r>
            <a:r>
              <a:rPr lang="zh-CN" altLang="en-US" sz="2800" dirty="0">
                <a:solidFill>
                  <a:schemeClr val="tx1"/>
                </a:solidFill>
              </a:rPr>
              <a:t>组成：　　　</a:t>
            </a:r>
            <a:r>
              <a:rPr lang="en-US" altLang="zh-CN" sz="2800" dirty="0">
                <a:solidFill>
                  <a:schemeClr val="tx1"/>
                </a:solidFill>
              </a:rPr>
              <a:t>……</a:t>
            </a:r>
            <a:endParaRPr lang="en-US" altLang="zh-CN" sz="2800" dirty="0">
              <a:solidFill>
                <a:schemeClr val="tx1"/>
              </a:solidFill>
            </a:endParaRPr>
          </a:p>
          <a:p>
            <a:pPr marL="342900" lvl="0" indent="-342900" eaLnBrk="1" hangingPunct="1">
              <a:lnSpc>
                <a:spcPct val="110000"/>
              </a:lnSpc>
              <a:buFont typeface="Wingdings" panose="05000000000000000000" pitchFamily="2" charset="2"/>
              <a:buChar char="§"/>
            </a:pPr>
            <a:r>
              <a:rPr lang="en-US" altLang="zh-CN" sz="2800" dirty="0">
                <a:solidFill>
                  <a:schemeClr val="tx1"/>
                </a:solidFill>
              </a:rPr>
              <a:t>    </a:t>
            </a:r>
            <a:r>
              <a:rPr lang="zh-CN" altLang="en-US" sz="2800" dirty="0">
                <a:solidFill>
                  <a:schemeClr val="tx1"/>
                </a:solidFill>
              </a:rPr>
              <a:t>数据量：　　每年</a:t>
            </a:r>
            <a:r>
              <a:rPr lang="en-US" altLang="zh-CN" sz="2800" dirty="0">
                <a:solidFill>
                  <a:schemeClr val="tx1"/>
                </a:solidFill>
              </a:rPr>
              <a:t>3000</a:t>
            </a:r>
            <a:r>
              <a:rPr lang="zh-CN" altLang="en-US" sz="2800" dirty="0">
                <a:solidFill>
                  <a:schemeClr val="tx1"/>
                </a:solidFill>
              </a:rPr>
              <a:t>张</a:t>
            </a:r>
            <a:endParaRPr lang="zh-CN" altLang="en-US" sz="2800" dirty="0">
              <a:solidFill>
                <a:schemeClr val="tx1"/>
              </a:solidFill>
            </a:endParaRPr>
          </a:p>
          <a:p>
            <a:pPr marL="342900" lvl="0" indent="-342900" eaLnBrk="1" hangingPunct="1">
              <a:lnSpc>
                <a:spcPct val="110000"/>
              </a:lnSpc>
              <a:buFont typeface="Wingdings" panose="05000000000000000000" pitchFamily="2" charset="2"/>
              <a:buChar char="§"/>
            </a:pPr>
            <a:r>
              <a:rPr lang="zh-CN" altLang="en-US" sz="2800" dirty="0">
                <a:solidFill>
                  <a:schemeClr val="tx1"/>
                </a:solidFill>
              </a:rPr>
              <a:t>    存取方式：　随机存取</a:t>
            </a:r>
            <a:endParaRPr lang="zh-CN" altLang="en-US" sz="2800" dirty="0">
              <a:solidFill>
                <a:schemeClr val="tx1"/>
              </a:solidFill>
            </a:endParaRPr>
          </a:p>
        </p:txBody>
      </p:sp>
      <p:sp>
        <p:nvSpPr>
          <p:cNvPr id="47108" name="Rectangle 3"/>
          <p:cNvSpPr/>
          <p:nvPr/>
        </p:nvSpPr>
        <p:spPr>
          <a:xfrm>
            <a:off x="939800" y="12700"/>
            <a:ext cx="7772400" cy="60960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eaLnBrk="1" hangingPunct="1">
              <a:spcBef>
                <a:spcPct val="0"/>
              </a:spcBef>
              <a:buClrTx/>
              <a:buFontTx/>
              <a:buNone/>
            </a:pPr>
            <a:r>
              <a:rPr lang="en-US" altLang="zh-CN" sz="4400" dirty="0">
                <a:solidFill>
                  <a:schemeClr val="accent2"/>
                </a:solidFill>
                <a:ea typeface="经典细隶书简" pitchFamily="49" charset="-122"/>
              </a:rPr>
              <a:t>7.2.4  </a:t>
            </a:r>
            <a:r>
              <a:rPr lang="zh-CN" altLang="en-US" sz="4400" dirty="0">
                <a:solidFill>
                  <a:schemeClr val="accent2"/>
                </a:solidFill>
                <a:ea typeface="经典细隶书简" pitchFamily="49" charset="-122"/>
              </a:rPr>
              <a:t>数据流图与数据字典</a:t>
            </a:r>
            <a:endParaRPr lang="zh-CN" altLang="en-US" sz="4400" dirty="0">
              <a:solidFill>
                <a:schemeClr val="accent2"/>
              </a:solidFill>
              <a:ea typeface="经典细隶书简" pitchFamily="49" charset="-122"/>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页脚占位符 2"/>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48131" name="Rectangle 2"/>
          <p:cNvSpPr/>
          <p:nvPr/>
        </p:nvSpPr>
        <p:spPr>
          <a:xfrm>
            <a:off x="304800" y="762000"/>
            <a:ext cx="8534400" cy="57150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342900" lvl="0" indent="-342900" eaLnBrk="1" hangingPunct="1">
              <a:lnSpc>
                <a:spcPct val="110000"/>
              </a:lnSpc>
              <a:buNone/>
            </a:pPr>
            <a:r>
              <a:rPr lang="zh-CN" altLang="en-US" dirty="0">
                <a:solidFill>
                  <a:schemeClr val="tx1"/>
                </a:solidFill>
              </a:rPr>
              <a:t>例：</a:t>
            </a:r>
            <a:endParaRPr lang="zh-CN" altLang="en-US" dirty="0">
              <a:solidFill>
                <a:schemeClr val="tx1"/>
              </a:solidFill>
            </a:endParaRPr>
          </a:p>
          <a:p>
            <a:pPr marL="342900" lvl="0" indent="-342900" eaLnBrk="1" hangingPunct="1">
              <a:lnSpc>
                <a:spcPct val="110000"/>
              </a:lnSpc>
              <a:buFont typeface="Wingdings" panose="05000000000000000000" pitchFamily="2" charset="2"/>
              <a:buChar char="§"/>
            </a:pPr>
            <a:r>
              <a:rPr lang="zh-CN" altLang="en-US" sz="2800" dirty="0">
                <a:solidFill>
                  <a:schemeClr val="tx1"/>
                </a:solidFill>
              </a:rPr>
              <a:t>　处理过程：分配宿舍</a:t>
            </a:r>
            <a:endParaRPr lang="zh-CN" altLang="en-US" sz="2800" dirty="0">
              <a:solidFill>
                <a:schemeClr val="tx1"/>
              </a:solidFill>
            </a:endParaRPr>
          </a:p>
          <a:p>
            <a:pPr marL="342900" lvl="0" indent="-342900" eaLnBrk="1" hangingPunct="1">
              <a:lnSpc>
                <a:spcPct val="110000"/>
              </a:lnSpc>
              <a:buFont typeface="Wingdings" panose="05000000000000000000" pitchFamily="2" charset="2"/>
              <a:buChar char="§"/>
            </a:pPr>
            <a:r>
              <a:rPr lang="zh-CN" altLang="en-US" sz="2800" dirty="0">
                <a:solidFill>
                  <a:schemeClr val="tx1"/>
                </a:solidFill>
              </a:rPr>
              <a:t>　说明：　　为所有新生分配学生宿舍</a:t>
            </a:r>
            <a:endParaRPr lang="zh-CN" altLang="en-US" sz="2800" dirty="0">
              <a:solidFill>
                <a:schemeClr val="tx1"/>
              </a:solidFill>
            </a:endParaRPr>
          </a:p>
          <a:p>
            <a:pPr marL="342900" lvl="0" indent="-342900" eaLnBrk="1" hangingPunct="1">
              <a:lnSpc>
                <a:spcPct val="110000"/>
              </a:lnSpc>
              <a:buFont typeface="Wingdings" panose="05000000000000000000" pitchFamily="2" charset="2"/>
              <a:buChar char="§"/>
            </a:pPr>
            <a:r>
              <a:rPr lang="zh-CN" altLang="en-US" sz="2800" dirty="0">
                <a:solidFill>
                  <a:schemeClr val="tx1"/>
                </a:solidFill>
              </a:rPr>
              <a:t>　输入：　　学生，宿舍，</a:t>
            </a:r>
            <a:endParaRPr lang="zh-CN" altLang="en-US" sz="2800" dirty="0">
              <a:solidFill>
                <a:schemeClr val="tx1"/>
              </a:solidFill>
            </a:endParaRPr>
          </a:p>
          <a:p>
            <a:pPr marL="342900" lvl="0" indent="-342900" eaLnBrk="1" hangingPunct="1">
              <a:lnSpc>
                <a:spcPct val="110000"/>
              </a:lnSpc>
              <a:buFont typeface="Wingdings" panose="05000000000000000000" pitchFamily="2" charset="2"/>
              <a:buChar char="§"/>
            </a:pPr>
            <a:r>
              <a:rPr lang="zh-CN" altLang="en-US" sz="2800" dirty="0">
                <a:solidFill>
                  <a:schemeClr val="tx1"/>
                </a:solidFill>
              </a:rPr>
              <a:t>　输出：　　宿舍安排</a:t>
            </a:r>
            <a:endParaRPr lang="zh-CN" altLang="en-US" sz="2800" dirty="0">
              <a:solidFill>
                <a:schemeClr val="tx1"/>
              </a:solidFill>
            </a:endParaRPr>
          </a:p>
          <a:p>
            <a:pPr marL="342900" lvl="0" indent="-342900" eaLnBrk="1" hangingPunct="1">
              <a:lnSpc>
                <a:spcPct val="110000"/>
              </a:lnSpc>
              <a:buFont typeface="Wingdings" panose="05000000000000000000" pitchFamily="2" charset="2"/>
              <a:buChar char="§"/>
            </a:pPr>
            <a:r>
              <a:rPr lang="zh-CN" altLang="en-US" sz="2800" dirty="0">
                <a:solidFill>
                  <a:schemeClr val="tx1"/>
                </a:solidFill>
              </a:rPr>
              <a:t>　处理：　　在新生报到后，为所有新生分配学</a:t>
            </a:r>
            <a:endParaRPr lang="zh-CN" altLang="en-US" sz="2800" dirty="0">
              <a:solidFill>
                <a:schemeClr val="tx1"/>
              </a:solidFill>
            </a:endParaRPr>
          </a:p>
          <a:p>
            <a:pPr marL="342900" lvl="0" indent="-342900" eaLnBrk="1" hangingPunct="1">
              <a:lnSpc>
                <a:spcPct val="110000"/>
              </a:lnSpc>
              <a:buFont typeface="Wingdings" panose="05000000000000000000" pitchFamily="2" charset="2"/>
              <a:buChar char="§"/>
            </a:pPr>
            <a:r>
              <a:rPr lang="zh-CN" altLang="en-US" sz="2800" dirty="0">
                <a:solidFill>
                  <a:schemeClr val="tx1"/>
                </a:solidFill>
              </a:rPr>
              <a:t>                        生宿舍。要求同一间宿舍只能安排</a:t>
            </a:r>
            <a:endParaRPr lang="zh-CN" altLang="en-US" sz="2800" dirty="0">
              <a:solidFill>
                <a:schemeClr val="tx1"/>
              </a:solidFill>
            </a:endParaRPr>
          </a:p>
          <a:p>
            <a:pPr marL="342900" lvl="0" indent="-342900" eaLnBrk="1" hangingPunct="1">
              <a:lnSpc>
                <a:spcPct val="110000"/>
              </a:lnSpc>
              <a:buFont typeface="Wingdings" panose="05000000000000000000" pitchFamily="2" charset="2"/>
              <a:buChar char="§"/>
            </a:pPr>
            <a:r>
              <a:rPr lang="zh-CN" altLang="en-US" sz="2800" dirty="0">
                <a:solidFill>
                  <a:schemeClr val="tx1"/>
                </a:solidFill>
              </a:rPr>
              <a:t>                        同一性别的学生，同一个学生只能</a:t>
            </a:r>
            <a:endParaRPr lang="zh-CN" altLang="en-US" sz="2800" dirty="0">
              <a:solidFill>
                <a:schemeClr val="tx1"/>
              </a:solidFill>
            </a:endParaRPr>
          </a:p>
          <a:p>
            <a:pPr marL="342900" lvl="0" indent="-342900" eaLnBrk="1" hangingPunct="1">
              <a:lnSpc>
                <a:spcPct val="110000"/>
              </a:lnSpc>
              <a:buFont typeface="Wingdings" panose="05000000000000000000" pitchFamily="2" charset="2"/>
              <a:buChar char="§"/>
            </a:pPr>
            <a:r>
              <a:rPr lang="zh-CN" altLang="en-US" sz="2800" dirty="0">
                <a:solidFill>
                  <a:schemeClr val="tx1"/>
                </a:solidFill>
              </a:rPr>
              <a:t>                        安排在一个宿舍中。</a:t>
            </a:r>
            <a:endParaRPr lang="zh-CN" altLang="en-US" sz="2800" dirty="0">
              <a:solidFill>
                <a:schemeClr val="tx1"/>
              </a:solidFill>
            </a:endParaRPr>
          </a:p>
        </p:txBody>
      </p:sp>
      <p:sp>
        <p:nvSpPr>
          <p:cNvPr id="48132" name="Rectangle 3"/>
          <p:cNvSpPr/>
          <p:nvPr/>
        </p:nvSpPr>
        <p:spPr>
          <a:xfrm>
            <a:off x="939800" y="12700"/>
            <a:ext cx="7772400" cy="60960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eaLnBrk="1" hangingPunct="1">
              <a:spcBef>
                <a:spcPct val="0"/>
              </a:spcBef>
              <a:buClrTx/>
              <a:buFontTx/>
              <a:buNone/>
            </a:pPr>
            <a:r>
              <a:rPr lang="en-US" altLang="zh-CN" sz="4400" dirty="0">
                <a:solidFill>
                  <a:schemeClr val="accent2"/>
                </a:solidFill>
                <a:ea typeface="经典细隶书简" pitchFamily="49" charset="-122"/>
              </a:rPr>
              <a:t>7.2.4  </a:t>
            </a:r>
            <a:r>
              <a:rPr lang="zh-CN" altLang="en-US" sz="4400" dirty="0">
                <a:solidFill>
                  <a:schemeClr val="accent2"/>
                </a:solidFill>
                <a:ea typeface="经典细隶书简" pitchFamily="49" charset="-122"/>
              </a:rPr>
              <a:t>数据流图与数据字典</a:t>
            </a:r>
            <a:endParaRPr lang="zh-CN" altLang="en-US" sz="4400" dirty="0">
              <a:solidFill>
                <a:schemeClr val="accent2"/>
              </a:solidFill>
              <a:ea typeface="经典细隶书简" pitchFamily="49" charset="-122"/>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页脚占位符 2"/>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49155" name="Rectangle 2"/>
          <p:cNvSpPr/>
          <p:nvPr/>
        </p:nvSpPr>
        <p:spPr>
          <a:xfrm>
            <a:off x="304800" y="762000"/>
            <a:ext cx="4724400" cy="47244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342900" lvl="0" indent="-342900" eaLnBrk="1" hangingPunct="1">
              <a:lnSpc>
                <a:spcPct val="110000"/>
              </a:lnSpc>
            </a:pPr>
            <a:r>
              <a:rPr lang="zh-CN" altLang="en-US" dirty="0">
                <a:solidFill>
                  <a:schemeClr val="tx1"/>
                </a:solidFill>
              </a:rPr>
              <a:t>数据流图</a:t>
            </a:r>
            <a:endParaRPr lang="zh-CN" altLang="en-US" dirty="0">
              <a:solidFill>
                <a:schemeClr val="tx1"/>
              </a:solidFill>
            </a:endParaRPr>
          </a:p>
          <a:p>
            <a:pPr marL="742950" lvl="1" indent="-285750" eaLnBrk="1" hangingPunct="1">
              <a:lnSpc>
                <a:spcPct val="110000"/>
              </a:lnSpc>
              <a:buClr>
                <a:srgbClr val="FF3300"/>
              </a:buClr>
            </a:pPr>
            <a:r>
              <a:rPr lang="zh-CN" altLang="en-US" dirty="0"/>
              <a:t>处理过程</a:t>
            </a:r>
            <a:endParaRPr lang="zh-CN" altLang="en-US" dirty="0"/>
          </a:p>
          <a:p>
            <a:pPr marL="742950" lvl="1" indent="-285750" eaLnBrk="1" hangingPunct="1">
              <a:lnSpc>
                <a:spcPct val="110000"/>
              </a:lnSpc>
              <a:buClr>
                <a:srgbClr val="FF3300"/>
              </a:buClr>
            </a:pPr>
            <a:endParaRPr lang="zh-CN" altLang="en-US" dirty="0"/>
          </a:p>
          <a:p>
            <a:pPr marL="742950" lvl="1" indent="-285750" eaLnBrk="1" hangingPunct="1">
              <a:lnSpc>
                <a:spcPct val="110000"/>
              </a:lnSpc>
              <a:buClr>
                <a:srgbClr val="FF3300"/>
              </a:buClr>
            </a:pPr>
            <a:r>
              <a:rPr lang="zh-CN" altLang="en-US" dirty="0"/>
              <a:t>数据流</a:t>
            </a:r>
            <a:endParaRPr lang="zh-CN" altLang="en-US" dirty="0"/>
          </a:p>
          <a:p>
            <a:pPr marL="742950" lvl="1" indent="-285750" eaLnBrk="1" hangingPunct="1">
              <a:lnSpc>
                <a:spcPct val="110000"/>
              </a:lnSpc>
              <a:buClr>
                <a:srgbClr val="FF3300"/>
              </a:buClr>
            </a:pPr>
            <a:endParaRPr lang="zh-CN" altLang="en-US" dirty="0"/>
          </a:p>
          <a:p>
            <a:pPr marL="742950" lvl="1" indent="-285750" eaLnBrk="1" hangingPunct="1">
              <a:lnSpc>
                <a:spcPct val="110000"/>
              </a:lnSpc>
              <a:buClr>
                <a:srgbClr val="FF3300"/>
              </a:buClr>
            </a:pPr>
            <a:r>
              <a:rPr lang="zh-CN" altLang="en-US" dirty="0"/>
              <a:t>数据流的终点或源点</a:t>
            </a:r>
            <a:endParaRPr lang="zh-CN" altLang="en-US" dirty="0"/>
          </a:p>
          <a:p>
            <a:pPr marL="742950" lvl="1" indent="-285750" eaLnBrk="1" hangingPunct="1">
              <a:lnSpc>
                <a:spcPct val="110000"/>
              </a:lnSpc>
              <a:buClr>
                <a:srgbClr val="FF3300"/>
              </a:buClr>
            </a:pPr>
            <a:endParaRPr lang="zh-CN" altLang="en-US" dirty="0"/>
          </a:p>
          <a:p>
            <a:pPr marL="742950" lvl="1" indent="-285750" eaLnBrk="1" hangingPunct="1">
              <a:lnSpc>
                <a:spcPct val="110000"/>
              </a:lnSpc>
              <a:buClr>
                <a:srgbClr val="FF3300"/>
              </a:buClr>
            </a:pPr>
            <a:r>
              <a:rPr lang="zh-CN" altLang="en-US" dirty="0"/>
              <a:t>数据存储</a:t>
            </a:r>
            <a:endParaRPr lang="zh-CN" altLang="en-US" dirty="0"/>
          </a:p>
        </p:txBody>
      </p:sp>
      <p:sp>
        <p:nvSpPr>
          <p:cNvPr id="49156" name="Rectangle 3"/>
          <p:cNvSpPr/>
          <p:nvPr/>
        </p:nvSpPr>
        <p:spPr>
          <a:xfrm>
            <a:off x="939800" y="12700"/>
            <a:ext cx="7772400" cy="60960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eaLnBrk="1" hangingPunct="1">
              <a:spcBef>
                <a:spcPct val="0"/>
              </a:spcBef>
              <a:buClrTx/>
              <a:buFontTx/>
              <a:buNone/>
            </a:pPr>
            <a:r>
              <a:rPr lang="en-US" altLang="zh-CN" sz="4400" dirty="0">
                <a:solidFill>
                  <a:schemeClr val="accent2"/>
                </a:solidFill>
                <a:ea typeface="经典细隶书简" pitchFamily="49" charset="-122"/>
              </a:rPr>
              <a:t>7.2.4  </a:t>
            </a:r>
            <a:r>
              <a:rPr lang="zh-CN" altLang="en-US" sz="4400" dirty="0">
                <a:solidFill>
                  <a:schemeClr val="accent2"/>
                </a:solidFill>
                <a:ea typeface="经典细隶书简" pitchFamily="49" charset="-122"/>
              </a:rPr>
              <a:t>数据流图与数据字典</a:t>
            </a:r>
            <a:endParaRPr lang="zh-CN" altLang="en-US" sz="4400" dirty="0">
              <a:solidFill>
                <a:schemeClr val="accent2"/>
              </a:solidFill>
              <a:ea typeface="经典细隶书简" pitchFamily="49" charset="-122"/>
            </a:endParaRPr>
          </a:p>
        </p:txBody>
      </p:sp>
      <p:sp>
        <p:nvSpPr>
          <p:cNvPr id="49157" name="Oval 4"/>
          <p:cNvSpPr/>
          <p:nvPr/>
        </p:nvSpPr>
        <p:spPr>
          <a:xfrm>
            <a:off x="5105400" y="1447800"/>
            <a:ext cx="1066800" cy="609600"/>
          </a:xfrm>
          <a:prstGeom prst="ellipse">
            <a:avLst/>
          </a:prstGeom>
          <a:noFill/>
          <a:ln w="2857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eaLnBrk="1" hangingPunct="1">
              <a:spcBef>
                <a:spcPct val="0"/>
              </a:spcBef>
              <a:buClrTx/>
              <a:buFontTx/>
              <a:buNone/>
            </a:pPr>
            <a:endParaRPr lang="en-US" altLang="en-US" sz="2400" b="0" dirty="0">
              <a:solidFill>
                <a:schemeClr val="tx1"/>
              </a:solidFill>
            </a:endParaRPr>
          </a:p>
        </p:txBody>
      </p:sp>
      <p:sp>
        <p:nvSpPr>
          <p:cNvPr id="49158" name="Line 6"/>
          <p:cNvSpPr/>
          <p:nvPr/>
        </p:nvSpPr>
        <p:spPr>
          <a:xfrm>
            <a:off x="5257800" y="2743200"/>
            <a:ext cx="1600200" cy="0"/>
          </a:xfrm>
          <a:prstGeom prst="line">
            <a:avLst/>
          </a:prstGeom>
          <a:ln w="28575" cap="flat" cmpd="sng">
            <a:solidFill>
              <a:schemeClr val="tx1"/>
            </a:solidFill>
            <a:prstDash val="solid"/>
            <a:headEnd type="none" w="med" len="med"/>
            <a:tailEnd type="triangle" w="med" len="med"/>
          </a:ln>
        </p:spPr>
      </p:sp>
      <p:sp>
        <p:nvSpPr>
          <p:cNvPr id="49159" name="Rectangle 7"/>
          <p:cNvSpPr/>
          <p:nvPr/>
        </p:nvSpPr>
        <p:spPr>
          <a:xfrm>
            <a:off x="5105400" y="3581400"/>
            <a:ext cx="1066800" cy="685800"/>
          </a:xfrm>
          <a:prstGeom prst="rect">
            <a:avLst/>
          </a:prstGeom>
          <a:noFill/>
          <a:ln w="2857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eaLnBrk="1" hangingPunct="1">
              <a:spcBef>
                <a:spcPct val="0"/>
              </a:spcBef>
              <a:buClrTx/>
              <a:buFontTx/>
              <a:buNone/>
            </a:pPr>
            <a:endParaRPr lang="en-US" altLang="en-US" sz="2400" b="0" dirty="0">
              <a:solidFill>
                <a:schemeClr val="tx1"/>
              </a:solidFill>
            </a:endParaRPr>
          </a:p>
        </p:txBody>
      </p:sp>
      <p:grpSp>
        <p:nvGrpSpPr>
          <p:cNvPr id="49160" name="Group 8"/>
          <p:cNvGrpSpPr/>
          <p:nvPr/>
        </p:nvGrpSpPr>
        <p:grpSpPr>
          <a:xfrm>
            <a:off x="5105400" y="5029200"/>
            <a:ext cx="990600" cy="533400"/>
            <a:chOff x="3072" y="2208"/>
            <a:chExt cx="528" cy="192"/>
          </a:xfrm>
        </p:grpSpPr>
        <p:sp>
          <p:nvSpPr>
            <p:cNvPr id="49163" name="Line 9"/>
            <p:cNvSpPr/>
            <p:nvPr/>
          </p:nvSpPr>
          <p:spPr>
            <a:xfrm>
              <a:off x="3072" y="2400"/>
              <a:ext cx="528" cy="0"/>
            </a:xfrm>
            <a:prstGeom prst="line">
              <a:avLst/>
            </a:prstGeom>
            <a:ln w="28575" cap="flat" cmpd="sng">
              <a:solidFill>
                <a:schemeClr val="tx1"/>
              </a:solidFill>
              <a:prstDash val="solid"/>
              <a:headEnd type="none" w="med" len="med"/>
              <a:tailEnd type="none" w="med" len="med"/>
            </a:ln>
          </p:spPr>
        </p:sp>
        <p:grpSp>
          <p:nvGrpSpPr>
            <p:cNvPr id="49164" name="Group 10"/>
            <p:cNvGrpSpPr/>
            <p:nvPr/>
          </p:nvGrpSpPr>
          <p:grpSpPr>
            <a:xfrm>
              <a:off x="3072" y="2208"/>
              <a:ext cx="528" cy="192"/>
              <a:chOff x="1968" y="3216"/>
              <a:chExt cx="528" cy="192"/>
            </a:xfrm>
          </p:grpSpPr>
          <p:sp>
            <p:nvSpPr>
              <p:cNvPr id="49165" name="Line 11"/>
              <p:cNvSpPr/>
              <p:nvPr/>
            </p:nvSpPr>
            <p:spPr>
              <a:xfrm>
                <a:off x="1968" y="3216"/>
                <a:ext cx="528" cy="0"/>
              </a:xfrm>
              <a:prstGeom prst="line">
                <a:avLst/>
              </a:prstGeom>
              <a:ln w="28575" cap="flat" cmpd="sng">
                <a:solidFill>
                  <a:schemeClr val="tx1"/>
                </a:solidFill>
                <a:prstDash val="solid"/>
                <a:headEnd type="none" w="med" len="med"/>
                <a:tailEnd type="none" w="med" len="med"/>
              </a:ln>
            </p:spPr>
          </p:sp>
          <p:sp>
            <p:nvSpPr>
              <p:cNvPr id="49166" name="Line 12"/>
              <p:cNvSpPr/>
              <p:nvPr/>
            </p:nvSpPr>
            <p:spPr>
              <a:xfrm>
                <a:off x="1968" y="3216"/>
                <a:ext cx="0" cy="192"/>
              </a:xfrm>
              <a:prstGeom prst="line">
                <a:avLst/>
              </a:prstGeom>
              <a:ln w="28575" cap="flat" cmpd="sng">
                <a:solidFill>
                  <a:schemeClr val="tx1"/>
                </a:solidFill>
                <a:prstDash val="solid"/>
                <a:headEnd type="none" w="med" len="med"/>
                <a:tailEnd type="none" w="med" len="med"/>
              </a:ln>
            </p:spPr>
          </p:sp>
          <p:sp>
            <p:nvSpPr>
              <p:cNvPr id="49167" name="Line 13"/>
              <p:cNvSpPr/>
              <p:nvPr/>
            </p:nvSpPr>
            <p:spPr>
              <a:xfrm>
                <a:off x="2064" y="3216"/>
                <a:ext cx="0" cy="192"/>
              </a:xfrm>
              <a:prstGeom prst="line">
                <a:avLst/>
              </a:prstGeom>
              <a:ln w="28575" cap="flat" cmpd="sng">
                <a:solidFill>
                  <a:schemeClr val="tx1"/>
                </a:solidFill>
                <a:prstDash val="solid"/>
                <a:headEnd type="none" w="med" len="med"/>
                <a:tailEnd type="none" w="med" len="med"/>
              </a:ln>
            </p:spPr>
          </p:sp>
        </p:grpSp>
      </p:grpSp>
      <p:sp>
        <p:nvSpPr>
          <p:cNvPr id="49161" name="Line 14"/>
          <p:cNvSpPr/>
          <p:nvPr/>
        </p:nvSpPr>
        <p:spPr>
          <a:xfrm>
            <a:off x="6591300" y="5016500"/>
            <a:ext cx="914400" cy="0"/>
          </a:xfrm>
          <a:prstGeom prst="line">
            <a:avLst/>
          </a:prstGeom>
          <a:ln w="28575" cap="flat" cmpd="sng">
            <a:solidFill>
              <a:schemeClr val="tx1"/>
            </a:solidFill>
            <a:prstDash val="solid"/>
            <a:headEnd type="none" w="med" len="med"/>
            <a:tailEnd type="none" w="med" len="med"/>
          </a:ln>
        </p:spPr>
      </p:sp>
      <p:sp>
        <p:nvSpPr>
          <p:cNvPr id="49162" name="Line 15"/>
          <p:cNvSpPr/>
          <p:nvPr/>
        </p:nvSpPr>
        <p:spPr>
          <a:xfrm>
            <a:off x="6591300" y="5549900"/>
            <a:ext cx="914400" cy="0"/>
          </a:xfrm>
          <a:prstGeom prst="line">
            <a:avLst/>
          </a:prstGeom>
          <a:ln w="28575" cap="flat" cmpd="sng">
            <a:solidFill>
              <a:schemeClr val="tx1"/>
            </a:solidFill>
            <a:prstDash val="solid"/>
            <a:headEnd type="none" w="med" len="med"/>
            <a:tailEnd type="none" w="med" len="med"/>
          </a:ln>
        </p:spPr>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页脚占位符 2"/>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50179" name="Rectangle 2"/>
          <p:cNvSpPr/>
          <p:nvPr/>
        </p:nvSpPr>
        <p:spPr>
          <a:xfrm>
            <a:off x="939800" y="12700"/>
            <a:ext cx="7772400" cy="60960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eaLnBrk="1" hangingPunct="1">
              <a:spcBef>
                <a:spcPct val="0"/>
              </a:spcBef>
              <a:buClrTx/>
              <a:buFontTx/>
              <a:buNone/>
            </a:pPr>
            <a:r>
              <a:rPr lang="en-US" altLang="zh-CN" sz="4400" dirty="0">
                <a:solidFill>
                  <a:schemeClr val="accent2"/>
                </a:solidFill>
                <a:ea typeface="经典细隶书简" pitchFamily="49" charset="-122"/>
              </a:rPr>
              <a:t>7.2.4  </a:t>
            </a:r>
            <a:r>
              <a:rPr lang="zh-CN" altLang="en-US" sz="4400" dirty="0">
                <a:solidFill>
                  <a:schemeClr val="accent2"/>
                </a:solidFill>
                <a:ea typeface="经典细隶书简" pitchFamily="49" charset="-122"/>
              </a:rPr>
              <a:t>数据流图与数据字典</a:t>
            </a:r>
            <a:endParaRPr lang="zh-CN" altLang="en-US" sz="4400" dirty="0">
              <a:solidFill>
                <a:schemeClr val="accent2"/>
              </a:solidFill>
              <a:ea typeface="经典细隶书简" pitchFamily="49" charset="-122"/>
            </a:endParaRPr>
          </a:p>
        </p:txBody>
      </p:sp>
      <p:sp>
        <p:nvSpPr>
          <p:cNvPr id="50180" name="Text Box 3"/>
          <p:cNvSpPr txBox="1"/>
          <p:nvPr/>
        </p:nvSpPr>
        <p:spPr>
          <a:xfrm>
            <a:off x="5638800" y="3810000"/>
            <a:ext cx="1444625" cy="381000"/>
          </a:xfrm>
          <a:prstGeom prst="rect">
            <a:avLst/>
          </a:prstGeom>
          <a:noFill/>
          <a:ln w="9525">
            <a:noFill/>
          </a:ln>
        </p:spPr>
        <p:txBody>
          <a:bodyPr lIns="36000" rIns="3600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a:lnSpc>
                <a:spcPct val="96000"/>
              </a:lnSpc>
              <a:spcBef>
                <a:spcPct val="0"/>
              </a:spcBef>
              <a:buClrTx/>
              <a:buFontTx/>
              <a:buNone/>
            </a:pPr>
            <a:r>
              <a:rPr lang="zh-CN" altLang="en-US" sz="1800" dirty="0">
                <a:solidFill>
                  <a:schemeClr val="tx1"/>
                </a:solidFill>
              </a:rPr>
              <a:t>权限登记表</a:t>
            </a:r>
            <a:endParaRPr lang="zh-CN" altLang="en-US" sz="1800" dirty="0">
              <a:solidFill>
                <a:schemeClr val="tx1"/>
              </a:solidFill>
            </a:endParaRPr>
          </a:p>
        </p:txBody>
      </p:sp>
      <p:sp>
        <p:nvSpPr>
          <p:cNvPr id="50181" name="Text Box 4"/>
          <p:cNvSpPr txBox="1"/>
          <p:nvPr/>
        </p:nvSpPr>
        <p:spPr>
          <a:xfrm>
            <a:off x="4876800" y="2438400"/>
            <a:ext cx="1390650" cy="425450"/>
          </a:xfrm>
          <a:prstGeom prst="rect">
            <a:avLst/>
          </a:prstGeom>
          <a:noFill/>
          <a:ln w="9525">
            <a:noFill/>
          </a:ln>
        </p:spPr>
        <p:txBody>
          <a:bodyPr lIns="36000" rIns="3600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a:lnSpc>
                <a:spcPct val="96000"/>
              </a:lnSpc>
              <a:spcBef>
                <a:spcPct val="0"/>
              </a:spcBef>
              <a:buClrTx/>
              <a:buFontTx/>
              <a:buNone/>
            </a:pPr>
            <a:r>
              <a:rPr lang="zh-CN" altLang="en-US" sz="1800" dirty="0">
                <a:solidFill>
                  <a:schemeClr val="tx1"/>
                </a:solidFill>
              </a:rPr>
              <a:t>角色登记表</a:t>
            </a:r>
            <a:endParaRPr lang="zh-CN" altLang="en-US" sz="1800" dirty="0">
              <a:solidFill>
                <a:schemeClr val="tx1"/>
              </a:solidFill>
            </a:endParaRPr>
          </a:p>
        </p:txBody>
      </p:sp>
      <p:sp>
        <p:nvSpPr>
          <p:cNvPr id="50182" name="Line 5"/>
          <p:cNvSpPr/>
          <p:nvPr/>
        </p:nvSpPr>
        <p:spPr>
          <a:xfrm>
            <a:off x="2959100" y="3441700"/>
            <a:ext cx="1282700" cy="0"/>
          </a:xfrm>
          <a:prstGeom prst="line">
            <a:avLst/>
          </a:prstGeom>
          <a:ln w="9525" cap="flat" cmpd="sng">
            <a:solidFill>
              <a:srgbClr val="000000"/>
            </a:solidFill>
            <a:prstDash val="solid"/>
            <a:headEnd type="none" w="med" len="med"/>
            <a:tailEnd type="none" w="med" len="med"/>
          </a:ln>
        </p:spPr>
      </p:sp>
      <p:sp>
        <p:nvSpPr>
          <p:cNvPr id="50183" name="Text Box 6"/>
          <p:cNvSpPr txBox="1"/>
          <p:nvPr/>
        </p:nvSpPr>
        <p:spPr>
          <a:xfrm>
            <a:off x="1371600" y="3086100"/>
            <a:ext cx="1901825" cy="425450"/>
          </a:xfrm>
          <a:prstGeom prst="rect">
            <a:avLst/>
          </a:prstGeom>
          <a:noFill/>
          <a:ln w="9525">
            <a:noFill/>
          </a:ln>
        </p:spPr>
        <p:txBody>
          <a:bodyPr lIns="36000" rIns="3600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a:lnSpc>
                <a:spcPct val="96000"/>
              </a:lnSpc>
              <a:spcBef>
                <a:spcPct val="0"/>
              </a:spcBef>
              <a:buClrTx/>
              <a:buFontTx/>
              <a:buNone/>
            </a:pPr>
            <a:r>
              <a:rPr lang="zh-CN" altLang="en-US" sz="1800" dirty="0">
                <a:solidFill>
                  <a:schemeClr val="tx1"/>
                </a:solidFill>
              </a:rPr>
              <a:t>模块登记表</a:t>
            </a:r>
            <a:endParaRPr lang="zh-CN" altLang="en-US" sz="1800" dirty="0">
              <a:solidFill>
                <a:schemeClr val="tx1"/>
              </a:solidFill>
            </a:endParaRPr>
          </a:p>
          <a:p>
            <a:pPr marL="0" lvl="0" indent="0" algn="ctr">
              <a:lnSpc>
                <a:spcPct val="96000"/>
              </a:lnSpc>
              <a:spcBef>
                <a:spcPct val="0"/>
              </a:spcBef>
              <a:buClrTx/>
              <a:buFontTx/>
              <a:buNone/>
            </a:pPr>
            <a:endParaRPr lang="zh-CN" altLang="en-US" sz="1800" dirty="0">
              <a:solidFill>
                <a:schemeClr val="tx1"/>
              </a:solidFill>
            </a:endParaRPr>
          </a:p>
        </p:txBody>
      </p:sp>
      <p:sp>
        <p:nvSpPr>
          <p:cNvPr id="50184" name="Line 7"/>
          <p:cNvSpPr/>
          <p:nvPr/>
        </p:nvSpPr>
        <p:spPr>
          <a:xfrm>
            <a:off x="1447800" y="3124200"/>
            <a:ext cx="1643063" cy="0"/>
          </a:xfrm>
          <a:prstGeom prst="line">
            <a:avLst/>
          </a:prstGeom>
          <a:ln w="9525" cap="flat" cmpd="sng">
            <a:solidFill>
              <a:srgbClr val="000000"/>
            </a:solidFill>
            <a:prstDash val="solid"/>
            <a:headEnd type="none" w="med" len="med"/>
            <a:tailEnd type="none" w="med" len="med"/>
          </a:ln>
        </p:spPr>
      </p:sp>
      <p:sp>
        <p:nvSpPr>
          <p:cNvPr id="50185" name="Oval 8"/>
          <p:cNvSpPr/>
          <p:nvPr/>
        </p:nvSpPr>
        <p:spPr>
          <a:xfrm>
            <a:off x="4191000" y="1371600"/>
            <a:ext cx="1268413" cy="979488"/>
          </a:xfrm>
          <a:prstGeom prst="ellipse">
            <a:avLst/>
          </a:prstGeom>
          <a:no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a:spcBef>
                <a:spcPct val="0"/>
              </a:spcBef>
              <a:buClrTx/>
              <a:buFontTx/>
              <a:buNone/>
            </a:pPr>
            <a:r>
              <a:rPr lang="zh-CN" altLang="en-US" sz="1800" dirty="0">
                <a:solidFill>
                  <a:schemeClr val="tx1"/>
                </a:solidFill>
              </a:rPr>
              <a:t>角色管理</a:t>
            </a:r>
            <a:endParaRPr lang="zh-CN" altLang="en-US" sz="1800" dirty="0">
              <a:solidFill>
                <a:schemeClr val="tx1"/>
              </a:solidFill>
            </a:endParaRPr>
          </a:p>
        </p:txBody>
      </p:sp>
      <p:sp>
        <p:nvSpPr>
          <p:cNvPr id="50186" name="Oval 9"/>
          <p:cNvSpPr/>
          <p:nvPr/>
        </p:nvSpPr>
        <p:spPr>
          <a:xfrm>
            <a:off x="1049338" y="1841500"/>
            <a:ext cx="1268412" cy="979488"/>
          </a:xfrm>
          <a:prstGeom prst="ellipse">
            <a:avLst/>
          </a:prstGeom>
          <a:no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a:spcBef>
                <a:spcPct val="0"/>
              </a:spcBef>
              <a:buClrTx/>
              <a:buFontTx/>
              <a:buNone/>
            </a:pPr>
            <a:r>
              <a:rPr lang="zh-CN" altLang="en-US" sz="1800" dirty="0">
                <a:solidFill>
                  <a:schemeClr val="tx1"/>
                </a:solidFill>
              </a:rPr>
              <a:t>模块代码维护</a:t>
            </a:r>
            <a:endParaRPr lang="zh-CN" altLang="en-US" sz="1800" dirty="0">
              <a:solidFill>
                <a:schemeClr val="tx1"/>
              </a:solidFill>
            </a:endParaRPr>
          </a:p>
        </p:txBody>
      </p:sp>
      <p:sp>
        <p:nvSpPr>
          <p:cNvPr id="50187" name="Oval 10"/>
          <p:cNvSpPr/>
          <p:nvPr/>
        </p:nvSpPr>
        <p:spPr>
          <a:xfrm>
            <a:off x="2895600" y="1828800"/>
            <a:ext cx="1268413" cy="979488"/>
          </a:xfrm>
          <a:prstGeom prst="ellipse">
            <a:avLst/>
          </a:prstGeom>
          <a:no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a:spcBef>
                <a:spcPct val="0"/>
              </a:spcBef>
              <a:buClrTx/>
              <a:buFontTx/>
              <a:buNone/>
            </a:pPr>
            <a:r>
              <a:rPr lang="zh-CN" altLang="en-US" sz="1800" dirty="0">
                <a:solidFill>
                  <a:schemeClr val="tx1"/>
                </a:solidFill>
              </a:rPr>
              <a:t>用户管理</a:t>
            </a:r>
            <a:endParaRPr lang="zh-CN" altLang="en-US" sz="1800" dirty="0">
              <a:solidFill>
                <a:schemeClr val="tx1"/>
              </a:solidFill>
            </a:endParaRPr>
          </a:p>
        </p:txBody>
      </p:sp>
      <p:sp>
        <p:nvSpPr>
          <p:cNvPr id="50188" name="Oval 11"/>
          <p:cNvSpPr/>
          <p:nvPr/>
        </p:nvSpPr>
        <p:spPr>
          <a:xfrm>
            <a:off x="6650038" y="1854200"/>
            <a:ext cx="1268412" cy="979488"/>
          </a:xfrm>
          <a:prstGeom prst="ellipse">
            <a:avLst/>
          </a:prstGeom>
          <a:no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a:spcBef>
                <a:spcPct val="0"/>
              </a:spcBef>
              <a:buClrTx/>
              <a:buFontTx/>
              <a:buNone/>
            </a:pPr>
            <a:r>
              <a:rPr lang="zh-CN" altLang="en-US" sz="1800" dirty="0">
                <a:solidFill>
                  <a:schemeClr val="tx1"/>
                </a:solidFill>
              </a:rPr>
              <a:t>角色分配</a:t>
            </a:r>
            <a:endParaRPr lang="zh-CN" altLang="en-US" sz="1800" dirty="0">
              <a:solidFill>
                <a:schemeClr val="tx1"/>
              </a:solidFill>
            </a:endParaRPr>
          </a:p>
        </p:txBody>
      </p:sp>
      <p:sp>
        <p:nvSpPr>
          <p:cNvPr id="50189" name="Freeform 12"/>
          <p:cNvSpPr/>
          <p:nvPr/>
        </p:nvSpPr>
        <p:spPr>
          <a:xfrm>
            <a:off x="1736725" y="1054100"/>
            <a:ext cx="2112963" cy="774700"/>
          </a:xfrm>
          <a:custGeom>
            <a:avLst/>
            <a:gdLst/>
            <a:ahLst/>
            <a:cxnLst>
              <a:cxn ang="0">
                <a:pos x="2147483646" y="0"/>
              </a:cxn>
              <a:cxn ang="0">
                <a:pos x="2147483646" y="2147483646"/>
              </a:cxn>
              <a:cxn ang="0">
                <a:pos x="0" y="2147483646"/>
              </a:cxn>
            </a:cxnLst>
            <a:pathLst>
              <a:path w="1695" h="1099">
                <a:moveTo>
                  <a:pt x="1695" y="0"/>
                </a:moveTo>
                <a:cubicBezTo>
                  <a:pt x="1356" y="136"/>
                  <a:pt x="1017" y="272"/>
                  <a:pt x="735" y="455"/>
                </a:cubicBezTo>
                <a:cubicBezTo>
                  <a:pt x="453" y="638"/>
                  <a:pt x="226" y="868"/>
                  <a:pt x="0" y="1099"/>
                </a:cubicBezTo>
              </a:path>
            </a:pathLst>
          </a:custGeom>
          <a:noFill/>
          <a:ln w="9525" cap="flat" cmpd="sng">
            <a:solidFill>
              <a:srgbClr val="000000">
                <a:alpha val="100000"/>
              </a:srgbClr>
            </a:solidFill>
            <a:prstDash val="solid"/>
            <a:round/>
            <a:headEnd type="none" w="med" len="med"/>
            <a:tailEnd type="triangle" w="med" len="med"/>
          </a:ln>
        </p:spPr>
        <p:txBody>
          <a:bodyPr/>
          <a:p>
            <a:endParaRPr lang="en-US"/>
          </a:p>
        </p:txBody>
      </p:sp>
      <p:sp>
        <p:nvSpPr>
          <p:cNvPr id="50190" name="Text Box 13"/>
          <p:cNvSpPr txBox="1"/>
          <p:nvPr/>
        </p:nvSpPr>
        <p:spPr>
          <a:xfrm>
            <a:off x="2984500" y="3429000"/>
            <a:ext cx="1196975" cy="425450"/>
          </a:xfrm>
          <a:prstGeom prst="rect">
            <a:avLst/>
          </a:prstGeom>
          <a:noFill/>
          <a:ln w="9525">
            <a:noFill/>
          </a:ln>
        </p:spPr>
        <p:txBody>
          <a:bodyPr lIns="36000" rIns="3600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a:lnSpc>
                <a:spcPct val="96000"/>
              </a:lnSpc>
              <a:spcBef>
                <a:spcPct val="0"/>
              </a:spcBef>
              <a:buClrTx/>
              <a:buFontTx/>
              <a:buNone/>
            </a:pPr>
            <a:r>
              <a:rPr lang="zh-CN" altLang="en-US" sz="1800" dirty="0">
                <a:solidFill>
                  <a:schemeClr val="tx1"/>
                </a:solidFill>
              </a:rPr>
              <a:t>用 户 文 件</a:t>
            </a:r>
            <a:endParaRPr lang="zh-CN" altLang="en-US" sz="1800" dirty="0">
              <a:solidFill>
                <a:schemeClr val="tx1"/>
              </a:solidFill>
            </a:endParaRPr>
          </a:p>
          <a:p>
            <a:pPr marL="0" lvl="0" indent="0" algn="ctr">
              <a:lnSpc>
                <a:spcPct val="96000"/>
              </a:lnSpc>
              <a:spcBef>
                <a:spcPct val="0"/>
              </a:spcBef>
              <a:buClrTx/>
              <a:buFontTx/>
              <a:buNone/>
            </a:pPr>
            <a:endParaRPr lang="zh-CN" altLang="en-US" sz="1800" dirty="0">
              <a:solidFill>
                <a:schemeClr val="tx1"/>
              </a:solidFill>
            </a:endParaRPr>
          </a:p>
        </p:txBody>
      </p:sp>
      <p:sp>
        <p:nvSpPr>
          <p:cNvPr id="50191" name="Line 14"/>
          <p:cNvSpPr/>
          <p:nvPr/>
        </p:nvSpPr>
        <p:spPr>
          <a:xfrm>
            <a:off x="4953000" y="2451100"/>
            <a:ext cx="1168400" cy="0"/>
          </a:xfrm>
          <a:prstGeom prst="line">
            <a:avLst/>
          </a:prstGeom>
          <a:ln w="9525" cap="flat" cmpd="sng">
            <a:solidFill>
              <a:srgbClr val="000000"/>
            </a:solidFill>
            <a:prstDash val="solid"/>
            <a:headEnd type="none" w="med" len="med"/>
            <a:tailEnd type="none" w="med" len="med"/>
          </a:ln>
        </p:spPr>
      </p:sp>
      <p:sp>
        <p:nvSpPr>
          <p:cNvPr id="50192" name="Freeform 15"/>
          <p:cNvSpPr/>
          <p:nvPr/>
        </p:nvSpPr>
        <p:spPr>
          <a:xfrm>
            <a:off x="3586163" y="1054100"/>
            <a:ext cx="263525" cy="812800"/>
          </a:xfrm>
          <a:custGeom>
            <a:avLst/>
            <a:gdLst/>
            <a:ahLst/>
            <a:cxnLst>
              <a:cxn ang="0">
                <a:pos x="2147483646" y="0"/>
              </a:cxn>
              <a:cxn ang="0">
                <a:pos x="2147483646" y="2147483646"/>
              </a:cxn>
              <a:cxn ang="0">
                <a:pos x="0" y="2147483646"/>
              </a:cxn>
            </a:cxnLst>
            <a:pathLst>
              <a:path w="300" h="1064">
                <a:moveTo>
                  <a:pt x="300" y="0"/>
                </a:moveTo>
                <a:cubicBezTo>
                  <a:pt x="235" y="188"/>
                  <a:pt x="170" y="376"/>
                  <a:pt x="120" y="553"/>
                </a:cubicBezTo>
                <a:cubicBezTo>
                  <a:pt x="70" y="730"/>
                  <a:pt x="35" y="897"/>
                  <a:pt x="0" y="1064"/>
                </a:cubicBezTo>
              </a:path>
            </a:pathLst>
          </a:custGeom>
          <a:noFill/>
          <a:ln w="9525" cap="flat" cmpd="sng">
            <a:solidFill>
              <a:srgbClr val="000000">
                <a:alpha val="100000"/>
              </a:srgbClr>
            </a:solidFill>
            <a:prstDash val="solid"/>
            <a:round/>
            <a:headEnd type="none" w="med" len="med"/>
            <a:tailEnd type="triangle" w="med" len="med"/>
          </a:ln>
        </p:spPr>
        <p:txBody>
          <a:bodyPr/>
          <a:p>
            <a:endParaRPr lang="en-US"/>
          </a:p>
        </p:txBody>
      </p:sp>
      <p:sp>
        <p:nvSpPr>
          <p:cNvPr id="50193" name="Freeform 16"/>
          <p:cNvSpPr/>
          <p:nvPr/>
        </p:nvSpPr>
        <p:spPr>
          <a:xfrm>
            <a:off x="3849688" y="1054100"/>
            <a:ext cx="569912" cy="393700"/>
          </a:xfrm>
          <a:custGeom>
            <a:avLst/>
            <a:gdLst/>
            <a:ahLst/>
            <a:cxnLst>
              <a:cxn ang="0">
                <a:pos x="0" y="0"/>
              </a:cxn>
              <a:cxn ang="0">
                <a:pos x="2147483646" y="2147483646"/>
              </a:cxn>
              <a:cxn ang="0">
                <a:pos x="2147483646" y="2147483646"/>
              </a:cxn>
            </a:cxnLst>
            <a:pathLst>
              <a:path w="840" h="973">
                <a:moveTo>
                  <a:pt x="0" y="0"/>
                </a:moveTo>
                <a:cubicBezTo>
                  <a:pt x="230" y="255"/>
                  <a:pt x="460" y="510"/>
                  <a:pt x="600" y="672"/>
                </a:cubicBezTo>
                <a:cubicBezTo>
                  <a:pt x="740" y="834"/>
                  <a:pt x="790" y="903"/>
                  <a:pt x="840" y="973"/>
                </a:cubicBezTo>
              </a:path>
            </a:pathLst>
          </a:custGeom>
          <a:noFill/>
          <a:ln w="9525" cap="flat" cmpd="sng">
            <a:solidFill>
              <a:srgbClr val="000000">
                <a:alpha val="100000"/>
              </a:srgbClr>
            </a:solidFill>
            <a:prstDash val="solid"/>
            <a:round/>
            <a:headEnd type="none" w="med" len="med"/>
            <a:tailEnd type="triangle" w="med" len="med"/>
          </a:ln>
        </p:spPr>
        <p:txBody>
          <a:bodyPr/>
          <a:p>
            <a:endParaRPr lang="en-US"/>
          </a:p>
        </p:txBody>
      </p:sp>
      <p:sp>
        <p:nvSpPr>
          <p:cNvPr id="50194" name="Freeform 17"/>
          <p:cNvSpPr/>
          <p:nvPr/>
        </p:nvSpPr>
        <p:spPr>
          <a:xfrm>
            <a:off x="3886200" y="1066800"/>
            <a:ext cx="3063875" cy="871538"/>
          </a:xfrm>
          <a:custGeom>
            <a:avLst/>
            <a:gdLst/>
            <a:ahLst/>
            <a:cxnLst>
              <a:cxn ang="0">
                <a:pos x="0" y="0"/>
              </a:cxn>
              <a:cxn ang="0">
                <a:pos x="2147483646" y="2147483646"/>
              </a:cxn>
              <a:cxn ang="0">
                <a:pos x="2147483646" y="2147483646"/>
              </a:cxn>
            </a:cxnLst>
            <a:pathLst>
              <a:path w="2055" h="973">
                <a:moveTo>
                  <a:pt x="0" y="0"/>
                </a:moveTo>
                <a:cubicBezTo>
                  <a:pt x="624" y="188"/>
                  <a:pt x="1248" y="377"/>
                  <a:pt x="1590" y="539"/>
                </a:cubicBezTo>
                <a:cubicBezTo>
                  <a:pt x="1932" y="701"/>
                  <a:pt x="1993" y="837"/>
                  <a:pt x="2055" y="973"/>
                </a:cubicBezTo>
              </a:path>
            </a:pathLst>
          </a:custGeom>
          <a:noFill/>
          <a:ln w="9525" cap="flat" cmpd="sng">
            <a:solidFill>
              <a:srgbClr val="000000">
                <a:alpha val="100000"/>
              </a:srgbClr>
            </a:solidFill>
            <a:prstDash val="solid"/>
            <a:round/>
            <a:headEnd type="none" w="med" len="med"/>
            <a:tailEnd type="triangle" w="med" len="med"/>
          </a:ln>
        </p:spPr>
        <p:txBody>
          <a:bodyPr/>
          <a:p>
            <a:endParaRPr lang="en-US"/>
          </a:p>
        </p:txBody>
      </p:sp>
      <p:sp>
        <p:nvSpPr>
          <p:cNvPr id="50195" name="Text Box 18"/>
          <p:cNvSpPr txBox="1"/>
          <p:nvPr/>
        </p:nvSpPr>
        <p:spPr>
          <a:xfrm>
            <a:off x="3276600" y="711200"/>
            <a:ext cx="1384300" cy="381000"/>
          </a:xfrm>
          <a:prstGeom prst="rect">
            <a:avLst/>
          </a:prstGeom>
          <a:noFill/>
          <a:ln w="9525" cap="flat" cmpd="sng">
            <a:solidFill>
              <a:schemeClr val="tx1"/>
            </a:solidFill>
            <a:prstDash val="solid"/>
            <a:miter/>
            <a:headEnd type="none" w="med" len="med"/>
            <a:tailEnd type="none" w="med" len="med"/>
          </a:ln>
        </p:spPr>
        <p:txBody>
          <a:bodyPr lIns="18000" tIns="10800" rIns="18000" bIns="1080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a:spcBef>
                <a:spcPct val="0"/>
              </a:spcBef>
              <a:buClrTx/>
              <a:buFontTx/>
              <a:buNone/>
            </a:pPr>
            <a:r>
              <a:rPr lang="zh-CN" altLang="en-US" sz="1800" dirty="0">
                <a:solidFill>
                  <a:schemeClr val="tx1"/>
                </a:solidFill>
              </a:rPr>
              <a:t>管理员</a:t>
            </a:r>
            <a:endParaRPr lang="zh-CN" altLang="en-US" sz="1800" dirty="0">
              <a:solidFill>
                <a:schemeClr val="tx1"/>
              </a:solidFill>
            </a:endParaRPr>
          </a:p>
        </p:txBody>
      </p:sp>
      <p:sp>
        <p:nvSpPr>
          <p:cNvPr id="50196" name="Freeform 19"/>
          <p:cNvSpPr/>
          <p:nvPr/>
        </p:nvSpPr>
        <p:spPr>
          <a:xfrm>
            <a:off x="2057400" y="2705100"/>
            <a:ext cx="533400" cy="381000"/>
          </a:xfrm>
          <a:custGeom>
            <a:avLst/>
            <a:gdLst/>
            <a:ahLst/>
            <a:cxnLst>
              <a:cxn ang="0">
                <a:pos x="0" y="0"/>
              </a:cxn>
              <a:cxn ang="0">
                <a:pos x="2147483646" y="2147483646"/>
              </a:cxn>
              <a:cxn ang="0">
                <a:pos x="2147483646" y="2147483646"/>
              </a:cxn>
            </a:cxnLst>
            <a:pathLst>
              <a:path w="210" h="497">
                <a:moveTo>
                  <a:pt x="0" y="0"/>
                </a:moveTo>
                <a:cubicBezTo>
                  <a:pt x="65" y="70"/>
                  <a:pt x="130" y="141"/>
                  <a:pt x="165" y="224"/>
                </a:cubicBezTo>
                <a:cubicBezTo>
                  <a:pt x="200" y="307"/>
                  <a:pt x="205" y="402"/>
                  <a:pt x="210" y="497"/>
                </a:cubicBezTo>
              </a:path>
            </a:pathLst>
          </a:custGeom>
          <a:noFill/>
          <a:ln w="9525" cap="flat" cmpd="sng">
            <a:solidFill>
              <a:srgbClr val="000000">
                <a:alpha val="100000"/>
              </a:srgbClr>
            </a:solidFill>
            <a:prstDash val="solid"/>
            <a:round/>
            <a:headEnd type="none" w="med" len="med"/>
            <a:tailEnd type="triangle" w="med" len="med"/>
          </a:ln>
        </p:spPr>
        <p:txBody>
          <a:bodyPr/>
          <a:p>
            <a:endParaRPr lang="en-US"/>
          </a:p>
        </p:txBody>
      </p:sp>
      <p:sp>
        <p:nvSpPr>
          <p:cNvPr id="50197" name="Freeform 20"/>
          <p:cNvSpPr/>
          <p:nvPr/>
        </p:nvSpPr>
        <p:spPr>
          <a:xfrm flipH="1">
            <a:off x="3352800" y="2819400"/>
            <a:ext cx="152400" cy="609600"/>
          </a:xfrm>
          <a:custGeom>
            <a:avLst/>
            <a:gdLst/>
            <a:ahLst/>
            <a:cxnLst>
              <a:cxn ang="0">
                <a:pos x="0" y="0"/>
              </a:cxn>
              <a:cxn ang="0">
                <a:pos x="2147483646" y="2147483646"/>
              </a:cxn>
              <a:cxn ang="0">
                <a:pos x="2147483646" y="2147483646"/>
              </a:cxn>
            </a:cxnLst>
            <a:pathLst>
              <a:path w="450" h="483">
                <a:moveTo>
                  <a:pt x="0" y="0"/>
                </a:moveTo>
                <a:cubicBezTo>
                  <a:pt x="90" y="58"/>
                  <a:pt x="180" y="116"/>
                  <a:pt x="255" y="196"/>
                </a:cubicBezTo>
                <a:cubicBezTo>
                  <a:pt x="330" y="276"/>
                  <a:pt x="390" y="379"/>
                  <a:pt x="450" y="483"/>
                </a:cubicBezTo>
              </a:path>
            </a:pathLst>
          </a:custGeom>
          <a:noFill/>
          <a:ln w="9525" cap="flat" cmpd="sng">
            <a:solidFill>
              <a:srgbClr val="000000">
                <a:alpha val="100000"/>
              </a:srgbClr>
            </a:solidFill>
            <a:prstDash val="solid"/>
            <a:round/>
            <a:headEnd type="none" w="med" len="med"/>
            <a:tailEnd type="triangle" w="med" len="med"/>
          </a:ln>
        </p:spPr>
        <p:txBody>
          <a:bodyPr/>
          <a:p>
            <a:endParaRPr lang="en-US"/>
          </a:p>
        </p:txBody>
      </p:sp>
      <p:sp>
        <p:nvSpPr>
          <p:cNvPr id="50198" name="Freeform 21"/>
          <p:cNvSpPr/>
          <p:nvPr/>
        </p:nvSpPr>
        <p:spPr>
          <a:xfrm>
            <a:off x="5410200" y="2057400"/>
            <a:ext cx="228600" cy="381000"/>
          </a:xfrm>
          <a:custGeom>
            <a:avLst/>
            <a:gdLst/>
            <a:ahLst/>
            <a:cxnLst>
              <a:cxn ang="0">
                <a:pos x="0" y="0"/>
              </a:cxn>
              <a:cxn ang="0">
                <a:pos x="2147483646" y="2147483646"/>
              </a:cxn>
              <a:cxn ang="0">
                <a:pos x="2147483646" y="2147483646"/>
              </a:cxn>
            </a:cxnLst>
            <a:pathLst>
              <a:path w="300" h="525">
                <a:moveTo>
                  <a:pt x="0" y="0"/>
                </a:moveTo>
                <a:cubicBezTo>
                  <a:pt x="57" y="54"/>
                  <a:pt x="115" y="109"/>
                  <a:pt x="165" y="196"/>
                </a:cubicBezTo>
                <a:cubicBezTo>
                  <a:pt x="215" y="283"/>
                  <a:pt x="257" y="404"/>
                  <a:pt x="300" y="525"/>
                </a:cubicBezTo>
              </a:path>
            </a:pathLst>
          </a:custGeom>
          <a:noFill/>
          <a:ln w="9525" cap="flat" cmpd="sng">
            <a:solidFill>
              <a:srgbClr val="000000">
                <a:alpha val="100000"/>
              </a:srgbClr>
            </a:solidFill>
            <a:prstDash val="solid"/>
            <a:round/>
            <a:headEnd type="none" w="med" len="med"/>
            <a:tailEnd type="triangle" w="med" len="med"/>
          </a:ln>
        </p:spPr>
        <p:txBody>
          <a:bodyPr/>
          <a:p>
            <a:endParaRPr lang="en-US"/>
          </a:p>
        </p:txBody>
      </p:sp>
      <p:sp>
        <p:nvSpPr>
          <p:cNvPr id="50199" name="Freeform 22"/>
          <p:cNvSpPr/>
          <p:nvPr/>
        </p:nvSpPr>
        <p:spPr>
          <a:xfrm>
            <a:off x="7708900" y="2692400"/>
            <a:ext cx="304800" cy="381000"/>
          </a:xfrm>
          <a:custGeom>
            <a:avLst/>
            <a:gdLst/>
            <a:ahLst/>
            <a:cxnLst>
              <a:cxn ang="0">
                <a:pos x="0" y="0"/>
              </a:cxn>
              <a:cxn ang="0">
                <a:pos x="2147483646" y="2147483646"/>
              </a:cxn>
              <a:cxn ang="0">
                <a:pos x="2147483646" y="2147483646"/>
              </a:cxn>
            </a:cxnLst>
            <a:pathLst>
              <a:path w="645" h="525">
                <a:moveTo>
                  <a:pt x="0" y="0"/>
                </a:moveTo>
                <a:cubicBezTo>
                  <a:pt x="164" y="47"/>
                  <a:pt x="328" y="95"/>
                  <a:pt x="435" y="182"/>
                </a:cubicBezTo>
                <a:cubicBezTo>
                  <a:pt x="542" y="269"/>
                  <a:pt x="593" y="397"/>
                  <a:pt x="645" y="525"/>
                </a:cubicBezTo>
              </a:path>
            </a:pathLst>
          </a:custGeom>
          <a:noFill/>
          <a:ln w="9525" cap="flat" cmpd="sng">
            <a:solidFill>
              <a:srgbClr val="000000">
                <a:alpha val="100000"/>
              </a:srgbClr>
            </a:solidFill>
            <a:prstDash val="solid"/>
            <a:round/>
            <a:headEnd type="none" w="med" len="med"/>
            <a:tailEnd type="triangle" w="med" len="med"/>
          </a:ln>
        </p:spPr>
        <p:txBody>
          <a:bodyPr/>
          <a:p>
            <a:endParaRPr lang="en-US"/>
          </a:p>
        </p:txBody>
      </p:sp>
      <p:sp>
        <p:nvSpPr>
          <p:cNvPr id="50200" name="Text Box 23"/>
          <p:cNvSpPr txBox="1"/>
          <p:nvPr/>
        </p:nvSpPr>
        <p:spPr>
          <a:xfrm>
            <a:off x="5638800" y="6019800"/>
            <a:ext cx="1901825" cy="425450"/>
          </a:xfrm>
          <a:prstGeom prst="rect">
            <a:avLst/>
          </a:prstGeom>
          <a:noFill/>
          <a:ln w="9525">
            <a:noFill/>
          </a:ln>
        </p:spPr>
        <p:txBody>
          <a:bodyPr lIns="36000" rIns="3600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a:lnSpc>
                <a:spcPct val="96000"/>
              </a:lnSpc>
              <a:spcBef>
                <a:spcPct val="0"/>
              </a:spcBef>
              <a:buClrTx/>
              <a:buFontTx/>
              <a:buNone/>
            </a:pPr>
            <a:r>
              <a:rPr lang="zh-CN" altLang="en-US" sz="1800" dirty="0">
                <a:solidFill>
                  <a:schemeClr val="tx1"/>
                </a:solidFill>
              </a:rPr>
              <a:t>日 志 文 件</a:t>
            </a:r>
            <a:endParaRPr lang="zh-CN" altLang="en-US" sz="1800" dirty="0">
              <a:solidFill>
                <a:schemeClr val="tx1"/>
              </a:solidFill>
            </a:endParaRPr>
          </a:p>
        </p:txBody>
      </p:sp>
      <p:sp>
        <p:nvSpPr>
          <p:cNvPr id="50201" name="Line 24"/>
          <p:cNvSpPr/>
          <p:nvPr/>
        </p:nvSpPr>
        <p:spPr>
          <a:xfrm>
            <a:off x="5715000" y="6019800"/>
            <a:ext cx="1690688" cy="0"/>
          </a:xfrm>
          <a:prstGeom prst="line">
            <a:avLst/>
          </a:prstGeom>
          <a:ln w="9525" cap="flat" cmpd="sng">
            <a:solidFill>
              <a:srgbClr val="000000"/>
            </a:solidFill>
            <a:prstDash val="solid"/>
            <a:headEnd type="none" w="med" len="med"/>
            <a:tailEnd type="none" w="med" len="med"/>
          </a:ln>
        </p:spPr>
      </p:sp>
      <p:sp>
        <p:nvSpPr>
          <p:cNvPr id="50202" name="Line 25"/>
          <p:cNvSpPr/>
          <p:nvPr/>
        </p:nvSpPr>
        <p:spPr>
          <a:xfrm>
            <a:off x="5562600" y="4191000"/>
            <a:ext cx="1690688" cy="0"/>
          </a:xfrm>
          <a:prstGeom prst="line">
            <a:avLst/>
          </a:prstGeom>
          <a:ln w="9525" cap="flat" cmpd="sng">
            <a:solidFill>
              <a:srgbClr val="000000"/>
            </a:solidFill>
            <a:prstDash val="solid"/>
            <a:headEnd type="none" w="med" len="med"/>
            <a:tailEnd type="none" w="med" len="med"/>
          </a:ln>
        </p:spPr>
      </p:sp>
      <p:sp>
        <p:nvSpPr>
          <p:cNvPr id="50203" name="Oval 26"/>
          <p:cNvSpPr/>
          <p:nvPr/>
        </p:nvSpPr>
        <p:spPr>
          <a:xfrm>
            <a:off x="7696200" y="5410200"/>
            <a:ext cx="1268413" cy="981075"/>
          </a:xfrm>
          <a:prstGeom prst="ellipse">
            <a:avLst/>
          </a:prstGeom>
          <a:no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a:spcBef>
                <a:spcPct val="0"/>
              </a:spcBef>
              <a:buClrTx/>
              <a:buFontTx/>
              <a:buNone/>
            </a:pPr>
            <a:r>
              <a:rPr lang="zh-CN" altLang="en-US" sz="1800" dirty="0">
                <a:solidFill>
                  <a:schemeClr val="tx1"/>
                </a:solidFill>
              </a:rPr>
              <a:t>操作日志管理</a:t>
            </a:r>
            <a:endParaRPr lang="zh-CN" altLang="en-US" sz="1800" dirty="0">
              <a:solidFill>
                <a:schemeClr val="tx1"/>
              </a:solidFill>
            </a:endParaRPr>
          </a:p>
        </p:txBody>
      </p:sp>
      <p:sp>
        <p:nvSpPr>
          <p:cNvPr id="50204" name="Oval 27"/>
          <p:cNvSpPr/>
          <p:nvPr/>
        </p:nvSpPr>
        <p:spPr>
          <a:xfrm>
            <a:off x="5029200" y="4419600"/>
            <a:ext cx="1268413" cy="981075"/>
          </a:xfrm>
          <a:prstGeom prst="ellipse">
            <a:avLst/>
          </a:prstGeom>
          <a:no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a:spcBef>
                <a:spcPct val="0"/>
              </a:spcBef>
              <a:buClrTx/>
              <a:buFontTx/>
              <a:buNone/>
            </a:pPr>
            <a:r>
              <a:rPr lang="zh-CN" altLang="en-US" sz="1800" dirty="0">
                <a:solidFill>
                  <a:schemeClr val="tx1"/>
                </a:solidFill>
              </a:rPr>
              <a:t>权限管理</a:t>
            </a:r>
            <a:endParaRPr lang="zh-CN" altLang="en-US" sz="1800" dirty="0">
              <a:solidFill>
                <a:schemeClr val="tx1"/>
              </a:solidFill>
            </a:endParaRPr>
          </a:p>
        </p:txBody>
      </p:sp>
      <p:sp>
        <p:nvSpPr>
          <p:cNvPr id="50205" name="Text Box 28"/>
          <p:cNvSpPr txBox="1"/>
          <p:nvPr/>
        </p:nvSpPr>
        <p:spPr>
          <a:xfrm>
            <a:off x="3200400" y="5791200"/>
            <a:ext cx="1320800" cy="355600"/>
          </a:xfrm>
          <a:prstGeom prst="rect">
            <a:avLst/>
          </a:prstGeom>
          <a:noFill/>
          <a:ln w="9525" cap="flat" cmpd="sng">
            <a:solidFill>
              <a:schemeClr val="tx1"/>
            </a:solidFill>
            <a:prstDash val="solid"/>
            <a:miter/>
            <a:headEnd type="none" w="med" len="med"/>
            <a:tailEnd type="none" w="med" len="med"/>
          </a:ln>
        </p:spPr>
        <p:txBody>
          <a:bodyPr lIns="18000" tIns="10800" rIns="18000" bIns="1080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a:lnSpc>
                <a:spcPct val="96000"/>
              </a:lnSpc>
              <a:spcBef>
                <a:spcPct val="0"/>
              </a:spcBef>
              <a:buClrTx/>
              <a:buFontTx/>
              <a:buNone/>
            </a:pPr>
            <a:r>
              <a:rPr lang="zh-CN" altLang="en-US" sz="1800" dirty="0">
                <a:solidFill>
                  <a:schemeClr val="tx1"/>
                </a:solidFill>
              </a:rPr>
              <a:t>管理员</a:t>
            </a:r>
            <a:endParaRPr lang="zh-CN" altLang="en-US" sz="1800" dirty="0">
              <a:solidFill>
                <a:schemeClr val="tx1"/>
              </a:solidFill>
            </a:endParaRPr>
          </a:p>
        </p:txBody>
      </p:sp>
      <p:sp>
        <p:nvSpPr>
          <p:cNvPr id="50206" name="Freeform 29"/>
          <p:cNvSpPr/>
          <p:nvPr/>
        </p:nvSpPr>
        <p:spPr>
          <a:xfrm>
            <a:off x="3886200" y="4876800"/>
            <a:ext cx="211138" cy="849313"/>
          </a:xfrm>
          <a:custGeom>
            <a:avLst/>
            <a:gdLst/>
            <a:ahLst/>
            <a:cxnLst>
              <a:cxn ang="0">
                <a:pos x="2147483646" y="2147483646"/>
              </a:cxn>
              <a:cxn ang="0">
                <a:pos x="2147483646" y="2147483646"/>
              </a:cxn>
              <a:cxn ang="0">
                <a:pos x="0" y="0"/>
              </a:cxn>
            </a:cxnLst>
            <a:pathLst>
              <a:path w="47" h="1337">
                <a:moveTo>
                  <a:pt x="15" y="1337"/>
                </a:moveTo>
                <a:cubicBezTo>
                  <a:pt x="31" y="944"/>
                  <a:pt x="47" y="552"/>
                  <a:pt x="45" y="329"/>
                </a:cubicBezTo>
                <a:cubicBezTo>
                  <a:pt x="43" y="106"/>
                  <a:pt x="21" y="53"/>
                  <a:pt x="0" y="0"/>
                </a:cubicBezTo>
              </a:path>
            </a:pathLst>
          </a:custGeom>
          <a:noFill/>
          <a:ln w="9525" cap="flat" cmpd="sng">
            <a:solidFill>
              <a:srgbClr val="000000">
                <a:alpha val="100000"/>
              </a:srgbClr>
            </a:solidFill>
            <a:prstDash val="solid"/>
            <a:round/>
            <a:headEnd type="none" w="med" len="med"/>
            <a:tailEnd type="triangle" w="med" len="med"/>
          </a:ln>
        </p:spPr>
        <p:txBody>
          <a:bodyPr/>
          <a:p>
            <a:endParaRPr lang="en-US"/>
          </a:p>
        </p:txBody>
      </p:sp>
      <p:sp>
        <p:nvSpPr>
          <p:cNvPr id="50207" name="Oval 30"/>
          <p:cNvSpPr/>
          <p:nvPr/>
        </p:nvSpPr>
        <p:spPr>
          <a:xfrm>
            <a:off x="2971800" y="3962400"/>
            <a:ext cx="1266825" cy="981075"/>
          </a:xfrm>
          <a:prstGeom prst="ellipse">
            <a:avLst/>
          </a:prstGeom>
          <a:no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a:spcBef>
                <a:spcPct val="0"/>
              </a:spcBef>
              <a:buClrTx/>
              <a:buFontTx/>
              <a:buNone/>
            </a:pPr>
            <a:r>
              <a:rPr lang="zh-CN" altLang="en-US" sz="1800" dirty="0">
                <a:solidFill>
                  <a:schemeClr val="tx1"/>
                </a:solidFill>
              </a:rPr>
              <a:t>密码管理</a:t>
            </a:r>
            <a:endParaRPr lang="zh-CN" altLang="en-US" sz="1800" dirty="0">
              <a:solidFill>
                <a:schemeClr val="tx1"/>
              </a:solidFill>
            </a:endParaRPr>
          </a:p>
        </p:txBody>
      </p:sp>
      <p:sp>
        <p:nvSpPr>
          <p:cNvPr id="50208" name="Freeform 31"/>
          <p:cNvSpPr/>
          <p:nvPr/>
        </p:nvSpPr>
        <p:spPr>
          <a:xfrm>
            <a:off x="4038600" y="5181600"/>
            <a:ext cx="990600" cy="593725"/>
          </a:xfrm>
          <a:custGeom>
            <a:avLst/>
            <a:gdLst/>
            <a:ahLst/>
            <a:cxnLst>
              <a:cxn ang="0">
                <a:pos x="0" y="2147483646"/>
              </a:cxn>
              <a:cxn ang="0">
                <a:pos x="2147483646" y="2147483646"/>
              </a:cxn>
              <a:cxn ang="0">
                <a:pos x="2147483646" y="0"/>
              </a:cxn>
            </a:cxnLst>
            <a:pathLst>
              <a:path w="1035" h="1330">
                <a:moveTo>
                  <a:pt x="0" y="1330"/>
                </a:moveTo>
                <a:cubicBezTo>
                  <a:pt x="229" y="1091"/>
                  <a:pt x="458" y="852"/>
                  <a:pt x="630" y="630"/>
                </a:cubicBezTo>
                <a:cubicBezTo>
                  <a:pt x="802" y="408"/>
                  <a:pt x="918" y="204"/>
                  <a:pt x="1035" y="0"/>
                </a:cubicBezTo>
              </a:path>
            </a:pathLst>
          </a:custGeom>
          <a:noFill/>
          <a:ln w="9525" cap="flat" cmpd="sng">
            <a:solidFill>
              <a:srgbClr val="000000">
                <a:alpha val="100000"/>
              </a:srgbClr>
            </a:solidFill>
            <a:prstDash val="solid"/>
            <a:round/>
            <a:headEnd type="none" w="med" len="med"/>
            <a:tailEnd type="triangle" w="med" len="med"/>
          </a:ln>
        </p:spPr>
        <p:txBody>
          <a:bodyPr/>
          <a:p>
            <a:endParaRPr lang="en-US"/>
          </a:p>
        </p:txBody>
      </p:sp>
      <p:sp>
        <p:nvSpPr>
          <p:cNvPr id="50209" name="Oval 32"/>
          <p:cNvSpPr/>
          <p:nvPr/>
        </p:nvSpPr>
        <p:spPr>
          <a:xfrm>
            <a:off x="7265988" y="4346575"/>
            <a:ext cx="1268412" cy="981075"/>
          </a:xfrm>
          <a:prstGeom prst="ellipse">
            <a:avLst/>
          </a:prstGeom>
          <a:no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a:spcBef>
                <a:spcPct val="0"/>
              </a:spcBef>
              <a:buClrTx/>
              <a:buFontTx/>
              <a:buNone/>
            </a:pPr>
            <a:r>
              <a:rPr lang="zh-CN" altLang="en-US" sz="1800" dirty="0">
                <a:solidFill>
                  <a:schemeClr val="tx1"/>
                </a:solidFill>
              </a:rPr>
              <a:t>认证管理</a:t>
            </a:r>
            <a:endParaRPr lang="zh-CN" altLang="en-US" sz="1800" dirty="0">
              <a:solidFill>
                <a:schemeClr val="tx1"/>
              </a:solidFill>
            </a:endParaRPr>
          </a:p>
        </p:txBody>
      </p:sp>
      <p:sp>
        <p:nvSpPr>
          <p:cNvPr id="50210" name="Line 33"/>
          <p:cNvSpPr/>
          <p:nvPr/>
        </p:nvSpPr>
        <p:spPr>
          <a:xfrm>
            <a:off x="7543800" y="3695700"/>
            <a:ext cx="1295400" cy="0"/>
          </a:xfrm>
          <a:prstGeom prst="line">
            <a:avLst/>
          </a:prstGeom>
          <a:ln w="9525" cap="flat" cmpd="sng">
            <a:solidFill>
              <a:srgbClr val="000000"/>
            </a:solidFill>
            <a:prstDash val="solid"/>
            <a:headEnd type="none" w="med" len="med"/>
            <a:tailEnd type="none" w="med" len="med"/>
          </a:ln>
        </p:spPr>
      </p:sp>
      <p:sp>
        <p:nvSpPr>
          <p:cNvPr id="50211" name="Line 34"/>
          <p:cNvSpPr/>
          <p:nvPr/>
        </p:nvSpPr>
        <p:spPr>
          <a:xfrm>
            <a:off x="7543800" y="3098800"/>
            <a:ext cx="1295400" cy="0"/>
          </a:xfrm>
          <a:prstGeom prst="line">
            <a:avLst/>
          </a:prstGeom>
          <a:ln w="9525" cap="flat" cmpd="sng">
            <a:solidFill>
              <a:srgbClr val="000000"/>
            </a:solidFill>
            <a:prstDash val="solid"/>
            <a:headEnd type="none" w="med" len="med"/>
            <a:tailEnd type="none" w="med" len="med"/>
          </a:ln>
        </p:spPr>
      </p:sp>
      <p:sp>
        <p:nvSpPr>
          <p:cNvPr id="50212" name="Text Box 35"/>
          <p:cNvSpPr txBox="1"/>
          <p:nvPr/>
        </p:nvSpPr>
        <p:spPr>
          <a:xfrm>
            <a:off x="7620000" y="3111500"/>
            <a:ext cx="1196975" cy="425450"/>
          </a:xfrm>
          <a:prstGeom prst="rect">
            <a:avLst/>
          </a:prstGeom>
          <a:noFill/>
          <a:ln w="9525">
            <a:noFill/>
          </a:ln>
        </p:spPr>
        <p:txBody>
          <a:bodyPr lIns="36000" rIns="3600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a:lnSpc>
                <a:spcPct val="96000"/>
              </a:lnSpc>
              <a:spcBef>
                <a:spcPct val="0"/>
              </a:spcBef>
              <a:buClrTx/>
              <a:buFontTx/>
              <a:buNone/>
            </a:pPr>
            <a:r>
              <a:rPr lang="zh-CN" altLang="en-US" sz="1800" dirty="0">
                <a:solidFill>
                  <a:schemeClr val="tx1"/>
                </a:solidFill>
              </a:rPr>
              <a:t>用户与角色对照表</a:t>
            </a:r>
            <a:endParaRPr lang="zh-CN" altLang="en-US" sz="1800" dirty="0">
              <a:solidFill>
                <a:schemeClr val="tx1"/>
              </a:solidFill>
            </a:endParaRPr>
          </a:p>
        </p:txBody>
      </p:sp>
      <p:sp>
        <p:nvSpPr>
          <p:cNvPr id="50213" name="Line 36"/>
          <p:cNvSpPr/>
          <p:nvPr/>
        </p:nvSpPr>
        <p:spPr>
          <a:xfrm>
            <a:off x="2933700" y="3759200"/>
            <a:ext cx="1320800" cy="0"/>
          </a:xfrm>
          <a:prstGeom prst="line">
            <a:avLst/>
          </a:prstGeom>
          <a:ln w="9525" cap="flat" cmpd="sng">
            <a:solidFill>
              <a:srgbClr val="000000"/>
            </a:solidFill>
            <a:prstDash val="solid"/>
            <a:headEnd type="none" w="med" len="med"/>
            <a:tailEnd type="none" w="med" len="med"/>
          </a:ln>
        </p:spPr>
      </p:sp>
      <p:sp>
        <p:nvSpPr>
          <p:cNvPr id="50214" name="Line 37"/>
          <p:cNvSpPr/>
          <p:nvPr/>
        </p:nvSpPr>
        <p:spPr>
          <a:xfrm flipV="1">
            <a:off x="6108700" y="4165600"/>
            <a:ext cx="76200" cy="381000"/>
          </a:xfrm>
          <a:prstGeom prst="line">
            <a:avLst/>
          </a:prstGeom>
          <a:ln w="9525" cap="flat" cmpd="sng">
            <a:solidFill>
              <a:schemeClr val="tx1"/>
            </a:solidFill>
            <a:prstDash val="solid"/>
            <a:headEnd type="none" w="med" len="med"/>
            <a:tailEnd type="triangle" w="med" len="med"/>
          </a:ln>
        </p:spPr>
      </p:sp>
      <p:cxnSp>
        <p:nvCxnSpPr>
          <p:cNvPr id="50215" name="AutoShape 38"/>
          <p:cNvCxnSpPr>
            <a:stCxn id="50190" idx="0"/>
            <a:endCxn id="50209" idx="1"/>
          </p:cNvCxnSpPr>
          <p:nvPr/>
        </p:nvCxnSpPr>
        <p:spPr>
          <a:xfrm rot="5400000" flipV="1">
            <a:off x="4986338" y="2024063"/>
            <a:ext cx="1060450" cy="3868737"/>
          </a:xfrm>
          <a:prstGeom prst="curvedConnector3">
            <a:avLst>
              <a:gd name="adj1" fmla="val -21556"/>
            </a:avLst>
          </a:prstGeom>
          <a:ln w="9525" cap="flat" cmpd="sng">
            <a:solidFill>
              <a:schemeClr val="tx1"/>
            </a:solidFill>
            <a:prstDash val="solid"/>
            <a:headEnd type="none" w="med" len="med"/>
            <a:tailEnd type="triangle" w="med" len="med"/>
          </a:ln>
        </p:spPr>
      </p:cxnSp>
      <p:cxnSp>
        <p:nvCxnSpPr>
          <p:cNvPr id="50216" name="AutoShape 39"/>
          <p:cNvCxnSpPr>
            <a:stCxn id="50209" idx="2"/>
          </p:cNvCxnSpPr>
          <p:nvPr/>
        </p:nvCxnSpPr>
        <p:spPr>
          <a:xfrm rot="10800000">
            <a:off x="6705600" y="4191000"/>
            <a:ext cx="560388" cy="646113"/>
          </a:xfrm>
          <a:prstGeom prst="curvedConnector2">
            <a:avLst/>
          </a:prstGeom>
          <a:ln w="9525" cap="flat" cmpd="sng">
            <a:solidFill>
              <a:schemeClr val="tx1"/>
            </a:solidFill>
            <a:prstDash val="solid"/>
            <a:headEnd type="triangle" w="med" len="med"/>
            <a:tailEnd type="none" w="med" len="med"/>
          </a:ln>
        </p:spPr>
      </p:cxnSp>
      <p:sp>
        <p:nvSpPr>
          <p:cNvPr id="50217" name="Freeform 40"/>
          <p:cNvSpPr/>
          <p:nvPr/>
        </p:nvSpPr>
        <p:spPr>
          <a:xfrm>
            <a:off x="5791200" y="2082800"/>
            <a:ext cx="838200" cy="355600"/>
          </a:xfrm>
          <a:custGeom>
            <a:avLst/>
            <a:gdLst/>
            <a:ahLst/>
            <a:cxnLst>
              <a:cxn ang="0">
                <a:pos x="0" y="2147483646"/>
              </a:cxn>
              <a:cxn ang="0">
                <a:pos x="2147483646" y="2147483646"/>
              </a:cxn>
              <a:cxn ang="0">
                <a:pos x="2147483646" y="2147483646"/>
              </a:cxn>
            </a:cxnLst>
            <a:pathLst>
              <a:path w="528" h="224">
                <a:moveTo>
                  <a:pt x="0" y="224"/>
                </a:moveTo>
                <a:cubicBezTo>
                  <a:pt x="52" y="144"/>
                  <a:pt x="104" y="64"/>
                  <a:pt x="192" y="32"/>
                </a:cubicBezTo>
                <a:cubicBezTo>
                  <a:pt x="280" y="0"/>
                  <a:pt x="404" y="16"/>
                  <a:pt x="528" y="32"/>
                </a:cubicBezTo>
              </a:path>
            </a:pathLst>
          </a:custGeom>
          <a:noFill/>
          <a:ln w="9525" cap="flat" cmpd="sng">
            <a:solidFill>
              <a:schemeClr val="tx1">
                <a:alpha val="100000"/>
              </a:schemeClr>
            </a:solidFill>
            <a:prstDash val="solid"/>
            <a:round/>
            <a:headEnd type="none" w="med" len="med"/>
            <a:tailEnd type="triangle" w="med" len="med"/>
          </a:ln>
        </p:spPr>
        <p:txBody>
          <a:bodyPr/>
          <a:p>
            <a:endParaRPr lang="en-US"/>
          </a:p>
        </p:txBody>
      </p:sp>
      <p:sp>
        <p:nvSpPr>
          <p:cNvPr id="50218" name="Freeform 41"/>
          <p:cNvSpPr/>
          <p:nvPr/>
        </p:nvSpPr>
        <p:spPr>
          <a:xfrm>
            <a:off x="3505200" y="2768600"/>
            <a:ext cx="3733800" cy="660400"/>
          </a:xfrm>
          <a:custGeom>
            <a:avLst/>
            <a:gdLst/>
            <a:ahLst/>
            <a:cxnLst>
              <a:cxn ang="0">
                <a:pos x="0" y="2147483646"/>
              </a:cxn>
              <a:cxn ang="0">
                <a:pos x="2147483646" y="2147483646"/>
              </a:cxn>
              <a:cxn ang="0">
                <a:pos x="2147483646" y="2147483646"/>
              </a:cxn>
              <a:cxn ang="0">
                <a:pos x="2147483646" y="2147483646"/>
              </a:cxn>
            </a:cxnLst>
            <a:pathLst>
              <a:path w="2352" h="416">
                <a:moveTo>
                  <a:pt x="0" y="416"/>
                </a:moveTo>
                <a:cubicBezTo>
                  <a:pt x="172" y="240"/>
                  <a:pt x="344" y="64"/>
                  <a:pt x="672" y="32"/>
                </a:cubicBezTo>
                <a:cubicBezTo>
                  <a:pt x="1000" y="0"/>
                  <a:pt x="1688" y="224"/>
                  <a:pt x="1968" y="224"/>
                </a:cubicBezTo>
                <a:cubicBezTo>
                  <a:pt x="2248" y="224"/>
                  <a:pt x="2300" y="128"/>
                  <a:pt x="2352" y="32"/>
                </a:cubicBezTo>
              </a:path>
            </a:pathLst>
          </a:custGeom>
          <a:noFill/>
          <a:ln w="9525" cap="flat" cmpd="sng">
            <a:solidFill>
              <a:schemeClr val="tx1">
                <a:alpha val="100000"/>
              </a:schemeClr>
            </a:solidFill>
            <a:prstDash val="solid"/>
            <a:round/>
            <a:headEnd type="none" w="med" len="med"/>
            <a:tailEnd type="triangle" w="med" len="med"/>
          </a:ln>
        </p:spPr>
        <p:txBody>
          <a:bodyPr/>
          <a:p>
            <a:endParaRPr lang="en-US"/>
          </a:p>
        </p:txBody>
      </p:sp>
      <p:sp>
        <p:nvSpPr>
          <p:cNvPr id="50219" name="Line 42"/>
          <p:cNvSpPr/>
          <p:nvPr/>
        </p:nvSpPr>
        <p:spPr>
          <a:xfrm>
            <a:off x="4965700" y="2768600"/>
            <a:ext cx="1168400" cy="0"/>
          </a:xfrm>
          <a:prstGeom prst="line">
            <a:avLst/>
          </a:prstGeom>
          <a:ln w="9525" cap="flat" cmpd="sng">
            <a:solidFill>
              <a:srgbClr val="000000"/>
            </a:solidFill>
            <a:prstDash val="solid"/>
            <a:headEnd type="none" w="med" len="med"/>
            <a:tailEnd type="none" w="med" len="med"/>
          </a:ln>
        </p:spPr>
      </p:sp>
      <p:sp>
        <p:nvSpPr>
          <p:cNvPr id="50220" name="Freeform 43"/>
          <p:cNvSpPr/>
          <p:nvPr/>
        </p:nvSpPr>
        <p:spPr>
          <a:xfrm>
            <a:off x="5168900" y="2781300"/>
            <a:ext cx="342900" cy="1676400"/>
          </a:xfrm>
          <a:custGeom>
            <a:avLst/>
            <a:gdLst/>
            <a:ahLst/>
            <a:cxnLst>
              <a:cxn ang="0">
                <a:pos x="2147483646" y="0"/>
              </a:cxn>
              <a:cxn ang="0">
                <a:pos x="2147483646" y="2147483646"/>
              </a:cxn>
              <a:cxn ang="0">
                <a:pos x="2147483646" y="2147483646"/>
              </a:cxn>
            </a:cxnLst>
            <a:pathLst>
              <a:path w="216" h="1056">
                <a:moveTo>
                  <a:pt x="72" y="0"/>
                </a:moveTo>
                <a:cubicBezTo>
                  <a:pt x="36" y="176"/>
                  <a:pt x="0" y="352"/>
                  <a:pt x="24" y="528"/>
                </a:cubicBezTo>
                <a:cubicBezTo>
                  <a:pt x="48" y="704"/>
                  <a:pt x="132" y="880"/>
                  <a:pt x="216" y="1056"/>
                </a:cubicBezTo>
              </a:path>
            </a:pathLst>
          </a:custGeom>
          <a:noFill/>
          <a:ln w="9525" cap="flat" cmpd="sng">
            <a:solidFill>
              <a:schemeClr val="tx1">
                <a:alpha val="100000"/>
              </a:schemeClr>
            </a:solidFill>
            <a:prstDash val="solid"/>
            <a:round/>
            <a:headEnd type="none" w="med" len="med"/>
            <a:tailEnd type="triangle" w="med" len="med"/>
          </a:ln>
        </p:spPr>
        <p:txBody>
          <a:bodyPr/>
          <a:p>
            <a:endParaRPr lang="en-US"/>
          </a:p>
        </p:txBody>
      </p:sp>
      <p:sp>
        <p:nvSpPr>
          <p:cNvPr id="50221" name="Freeform 44"/>
          <p:cNvSpPr/>
          <p:nvPr/>
        </p:nvSpPr>
        <p:spPr>
          <a:xfrm>
            <a:off x="3048000" y="3759200"/>
            <a:ext cx="228600" cy="457200"/>
          </a:xfrm>
          <a:custGeom>
            <a:avLst/>
            <a:gdLst/>
            <a:ahLst/>
            <a:cxnLst>
              <a:cxn ang="0">
                <a:pos x="0" y="2147483646"/>
              </a:cxn>
              <a:cxn ang="0">
                <a:pos x="2147483646" y="2147483646"/>
              </a:cxn>
              <a:cxn ang="0">
                <a:pos x="2147483646" y="0"/>
              </a:cxn>
            </a:cxnLst>
            <a:pathLst>
              <a:path w="144" h="288">
                <a:moveTo>
                  <a:pt x="0" y="288"/>
                </a:moveTo>
                <a:cubicBezTo>
                  <a:pt x="12" y="216"/>
                  <a:pt x="24" y="144"/>
                  <a:pt x="48" y="96"/>
                </a:cubicBezTo>
                <a:cubicBezTo>
                  <a:pt x="72" y="48"/>
                  <a:pt x="108" y="24"/>
                  <a:pt x="144" y="0"/>
                </a:cubicBezTo>
              </a:path>
            </a:pathLst>
          </a:custGeom>
          <a:noFill/>
          <a:ln w="9525" cap="flat" cmpd="sng">
            <a:solidFill>
              <a:schemeClr val="tx1">
                <a:alpha val="100000"/>
              </a:schemeClr>
            </a:solidFill>
            <a:prstDash val="solid"/>
            <a:round/>
            <a:headEnd type="none" w="med" len="med"/>
            <a:tailEnd type="triangle" w="med" len="med"/>
          </a:ln>
        </p:spPr>
        <p:txBody>
          <a:bodyPr/>
          <a:p>
            <a:endParaRPr lang="en-US"/>
          </a:p>
        </p:txBody>
      </p:sp>
      <p:sp>
        <p:nvSpPr>
          <p:cNvPr id="50222" name="Line 45"/>
          <p:cNvSpPr/>
          <p:nvPr/>
        </p:nvSpPr>
        <p:spPr>
          <a:xfrm>
            <a:off x="1447800" y="3416300"/>
            <a:ext cx="1643063" cy="0"/>
          </a:xfrm>
          <a:prstGeom prst="line">
            <a:avLst/>
          </a:prstGeom>
          <a:ln w="9525" cap="flat" cmpd="sng">
            <a:solidFill>
              <a:srgbClr val="000000"/>
            </a:solidFill>
            <a:prstDash val="solid"/>
            <a:headEnd type="none" w="med" len="med"/>
            <a:tailEnd type="none" w="med" len="med"/>
          </a:ln>
        </p:spPr>
      </p:sp>
      <p:sp>
        <p:nvSpPr>
          <p:cNvPr id="50223" name="Freeform 46"/>
          <p:cNvSpPr/>
          <p:nvPr/>
        </p:nvSpPr>
        <p:spPr>
          <a:xfrm>
            <a:off x="1828800" y="3429000"/>
            <a:ext cx="3200400" cy="1943100"/>
          </a:xfrm>
          <a:custGeom>
            <a:avLst/>
            <a:gdLst/>
            <a:ahLst/>
            <a:cxnLst>
              <a:cxn ang="0">
                <a:pos x="0" y="0"/>
              </a:cxn>
              <a:cxn ang="0">
                <a:pos x="2147483646" y="2147483646"/>
              </a:cxn>
              <a:cxn ang="0">
                <a:pos x="2147483646" y="2147483646"/>
              </a:cxn>
            </a:cxnLst>
            <a:pathLst>
              <a:path w="2016" h="1224">
                <a:moveTo>
                  <a:pt x="0" y="0"/>
                </a:moveTo>
                <a:cubicBezTo>
                  <a:pt x="0" y="444"/>
                  <a:pt x="0" y="888"/>
                  <a:pt x="336" y="1056"/>
                </a:cubicBezTo>
                <a:cubicBezTo>
                  <a:pt x="672" y="1224"/>
                  <a:pt x="1344" y="1116"/>
                  <a:pt x="2016" y="1008"/>
                </a:cubicBezTo>
              </a:path>
            </a:pathLst>
          </a:custGeom>
          <a:noFill/>
          <a:ln w="9525" cap="flat" cmpd="sng">
            <a:solidFill>
              <a:schemeClr val="tx1">
                <a:alpha val="100000"/>
              </a:schemeClr>
            </a:solidFill>
            <a:prstDash val="solid"/>
            <a:round/>
            <a:headEnd type="none" w="med" len="med"/>
            <a:tailEnd type="triangle" w="med" len="med"/>
          </a:ln>
        </p:spPr>
        <p:txBody>
          <a:bodyPr/>
          <a:p>
            <a:endParaRPr lang="en-US"/>
          </a:p>
        </p:txBody>
      </p:sp>
      <p:sp>
        <p:nvSpPr>
          <p:cNvPr id="50224" name="Freeform 47"/>
          <p:cNvSpPr/>
          <p:nvPr/>
        </p:nvSpPr>
        <p:spPr>
          <a:xfrm>
            <a:off x="6705600" y="5562600"/>
            <a:ext cx="1143000" cy="457200"/>
          </a:xfrm>
          <a:custGeom>
            <a:avLst/>
            <a:gdLst/>
            <a:ahLst/>
            <a:cxnLst>
              <a:cxn ang="0">
                <a:pos x="2147483646" y="0"/>
              </a:cxn>
              <a:cxn ang="0">
                <a:pos x="2147483646" y="2147483646"/>
              </a:cxn>
              <a:cxn ang="0">
                <a:pos x="0" y="2147483646"/>
              </a:cxn>
            </a:cxnLst>
            <a:pathLst>
              <a:path w="720" h="288">
                <a:moveTo>
                  <a:pt x="720" y="0"/>
                </a:moveTo>
                <a:cubicBezTo>
                  <a:pt x="564" y="24"/>
                  <a:pt x="408" y="48"/>
                  <a:pt x="288" y="96"/>
                </a:cubicBezTo>
                <a:cubicBezTo>
                  <a:pt x="168" y="144"/>
                  <a:pt x="84" y="216"/>
                  <a:pt x="0" y="288"/>
                </a:cubicBezTo>
              </a:path>
            </a:pathLst>
          </a:custGeom>
          <a:noFill/>
          <a:ln w="9525" cap="flat" cmpd="sng">
            <a:solidFill>
              <a:schemeClr val="tx1">
                <a:alpha val="100000"/>
              </a:schemeClr>
            </a:solidFill>
            <a:prstDash val="solid"/>
            <a:round/>
            <a:headEnd type="none" w="med" len="med"/>
            <a:tailEnd type="triangle" w="med" len="med"/>
          </a:ln>
        </p:spPr>
        <p:txBody>
          <a:bodyPr/>
          <a:p>
            <a:endParaRPr lang="en-US"/>
          </a:p>
        </p:txBody>
      </p:sp>
      <p:sp>
        <p:nvSpPr>
          <p:cNvPr id="50225" name="Freeform 48"/>
          <p:cNvSpPr/>
          <p:nvPr/>
        </p:nvSpPr>
        <p:spPr>
          <a:xfrm>
            <a:off x="6629400" y="5181600"/>
            <a:ext cx="838200" cy="838200"/>
          </a:xfrm>
          <a:custGeom>
            <a:avLst/>
            <a:gdLst/>
            <a:ahLst/>
            <a:cxnLst>
              <a:cxn ang="0">
                <a:pos x="2147483646" y="0"/>
              </a:cxn>
              <a:cxn ang="0">
                <a:pos x="2147483646" y="2147483646"/>
              </a:cxn>
              <a:cxn ang="0">
                <a:pos x="0" y="2147483646"/>
              </a:cxn>
            </a:cxnLst>
            <a:pathLst>
              <a:path w="528" h="528">
                <a:moveTo>
                  <a:pt x="528" y="0"/>
                </a:moveTo>
                <a:cubicBezTo>
                  <a:pt x="356" y="76"/>
                  <a:pt x="184" y="152"/>
                  <a:pt x="96" y="240"/>
                </a:cubicBezTo>
                <a:cubicBezTo>
                  <a:pt x="8" y="328"/>
                  <a:pt x="4" y="428"/>
                  <a:pt x="0" y="528"/>
                </a:cubicBezTo>
              </a:path>
            </a:pathLst>
          </a:custGeom>
          <a:noFill/>
          <a:ln w="9525" cap="flat" cmpd="sng">
            <a:solidFill>
              <a:schemeClr val="tx1">
                <a:alpha val="100000"/>
              </a:schemeClr>
            </a:solidFill>
            <a:prstDash val="solid"/>
            <a:round/>
            <a:headEnd type="none" w="med" len="med"/>
            <a:tailEnd type="triangle" w="med" len="med"/>
          </a:ln>
        </p:spPr>
        <p:txBody>
          <a:bodyPr/>
          <a:p>
            <a:endParaRPr lang="en-US"/>
          </a:p>
        </p:txBody>
      </p:sp>
      <p:sp>
        <p:nvSpPr>
          <p:cNvPr id="50226" name="Freeform 49"/>
          <p:cNvSpPr/>
          <p:nvPr/>
        </p:nvSpPr>
        <p:spPr>
          <a:xfrm>
            <a:off x="7772400" y="3733800"/>
            <a:ext cx="177800" cy="609600"/>
          </a:xfrm>
          <a:custGeom>
            <a:avLst/>
            <a:gdLst/>
            <a:ahLst/>
            <a:cxnLst>
              <a:cxn ang="0">
                <a:pos x="2147483646" y="0"/>
              </a:cxn>
              <a:cxn ang="0">
                <a:pos x="2147483646" y="2147483646"/>
              </a:cxn>
              <a:cxn ang="0">
                <a:pos x="2147483646" y="2147483646"/>
              </a:cxn>
            </a:cxnLst>
            <a:pathLst>
              <a:path w="112" h="432">
                <a:moveTo>
                  <a:pt x="112" y="0"/>
                </a:moveTo>
                <a:cubicBezTo>
                  <a:pt x="72" y="84"/>
                  <a:pt x="32" y="168"/>
                  <a:pt x="16" y="240"/>
                </a:cubicBezTo>
                <a:cubicBezTo>
                  <a:pt x="0" y="312"/>
                  <a:pt x="8" y="372"/>
                  <a:pt x="16" y="432"/>
                </a:cubicBezTo>
              </a:path>
            </a:pathLst>
          </a:custGeom>
          <a:noFill/>
          <a:ln w="9525" cap="flat" cmpd="sng">
            <a:solidFill>
              <a:schemeClr val="tx1">
                <a:alpha val="100000"/>
              </a:schemeClr>
            </a:solidFill>
            <a:prstDash val="solid"/>
            <a:round/>
            <a:headEnd type="none" w="med" len="med"/>
            <a:tailEnd type="triangle" w="med" len="med"/>
          </a:ln>
        </p:spPr>
        <p:txBody>
          <a:bodyPr/>
          <a:p>
            <a:endParaRPr lang="en-US"/>
          </a:p>
        </p:txBody>
      </p:sp>
      <p:sp>
        <p:nvSpPr>
          <p:cNvPr id="50227" name="Freeform 50"/>
          <p:cNvSpPr/>
          <p:nvPr/>
        </p:nvSpPr>
        <p:spPr>
          <a:xfrm>
            <a:off x="4546600" y="5029200"/>
            <a:ext cx="2743200" cy="838200"/>
          </a:xfrm>
          <a:custGeom>
            <a:avLst/>
            <a:gdLst/>
            <a:ahLst/>
            <a:cxnLst>
              <a:cxn ang="0">
                <a:pos x="0" y="2147483646"/>
              </a:cxn>
              <a:cxn ang="0">
                <a:pos x="2147483646" y="2147483646"/>
              </a:cxn>
              <a:cxn ang="0">
                <a:pos x="2147483646" y="0"/>
              </a:cxn>
            </a:cxnLst>
            <a:pathLst>
              <a:path w="1872" h="528">
                <a:moveTo>
                  <a:pt x="0" y="528"/>
                </a:moveTo>
                <a:cubicBezTo>
                  <a:pt x="396" y="500"/>
                  <a:pt x="792" y="472"/>
                  <a:pt x="1104" y="384"/>
                </a:cubicBezTo>
                <a:cubicBezTo>
                  <a:pt x="1416" y="296"/>
                  <a:pt x="1644" y="148"/>
                  <a:pt x="1872" y="0"/>
                </a:cubicBezTo>
              </a:path>
            </a:pathLst>
          </a:custGeom>
          <a:noFill/>
          <a:ln w="9525" cap="flat" cmpd="sng">
            <a:solidFill>
              <a:schemeClr val="tx1">
                <a:alpha val="100000"/>
              </a:schemeClr>
            </a:solidFill>
            <a:prstDash val="solid"/>
            <a:round/>
            <a:headEnd type="none" w="med" len="med"/>
            <a:tailEnd type="triangle" w="med" len="med"/>
          </a:ln>
        </p:spPr>
        <p:txBody>
          <a:bodyPr/>
          <a:p>
            <a:endParaRPr lang="en-US"/>
          </a:p>
        </p:txBody>
      </p:sp>
      <p:sp>
        <p:nvSpPr>
          <p:cNvPr id="50228" name="Freeform 51"/>
          <p:cNvSpPr/>
          <p:nvPr/>
        </p:nvSpPr>
        <p:spPr>
          <a:xfrm>
            <a:off x="4038600" y="6096000"/>
            <a:ext cx="3810000" cy="635000"/>
          </a:xfrm>
          <a:custGeom>
            <a:avLst/>
            <a:gdLst/>
            <a:ahLst/>
            <a:cxnLst>
              <a:cxn ang="0">
                <a:pos x="0" y="0"/>
              </a:cxn>
              <a:cxn ang="0">
                <a:pos x="2147483646" y="2147483646"/>
              </a:cxn>
              <a:cxn ang="0">
                <a:pos x="2147483646" y="2147483646"/>
              </a:cxn>
            </a:cxnLst>
            <a:pathLst>
              <a:path w="2400" h="400">
                <a:moveTo>
                  <a:pt x="0" y="0"/>
                </a:moveTo>
                <a:cubicBezTo>
                  <a:pt x="328" y="184"/>
                  <a:pt x="656" y="368"/>
                  <a:pt x="1056" y="384"/>
                </a:cubicBezTo>
                <a:cubicBezTo>
                  <a:pt x="1456" y="400"/>
                  <a:pt x="1928" y="248"/>
                  <a:pt x="2400" y="96"/>
                </a:cubicBezTo>
              </a:path>
            </a:pathLst>
          </a:custGeom>
          <a:noFill/>
          <a:ln w="9525" cap="flat" cmpd="sng">
            <a:solidFill>
              <a:schemeClr val="tx1">
                <a:alpha val="100000"/>
              </a:schemeClr>
            </a:solidFill>
            <a:prstDash val="solid"/>
            <a:round/>
            <a:headEnd type="none" w="med" len="med"/>
            <a:tailEnd type="triangle" w="med" len="med"/>
          </a:ln>
        </p:spPr>
        <p:txBody>
          <a:bodyPr/>
          <a:p>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页脚占位符 2"/>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51203" name="Rectangle 2"/>
          <p:cNvSpPr/>
          <p:nvPr/>
        </p:nvSpPr>
        <p:spPr>
          <a:xfrm>
            <a:off x="939800" y="12700"/>
            <a:ext cx="7772400" cy="60960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eaLnBrk="1" hangingPunct="1">
              <a:spcBef>
                <a:spcPct val="0"/>
              </a:spcBef>
              <a:buClrTx/>
              <a:buFontTx/>
              <a:buNone/>
            </a:pPr>
            <a:r>
              <a:rPr lang="en-US" altLang="zh-CN" sz="4400" dirty="0">
                <a:solidFill>
                  <a:schemeClr val="accent2"/>
                </a:solidFill>
                <a:ea typeface="经典细隶书简" pitchFamily="49" charset="-122"/>
              </a:rPr>
              <a:t>7.2.4  </a:t>
            </a:r>
            <a:r>
              <a:rPr lang="zh-CN" altLang="en-US" sz="4400" dirty="0">
                <a:solidFill>
                  <a:schemeClr val="accent2"/>
                </a:solidFill>
                <a:ea typeface="经典细隶书简" pitchFamily="49" charset="-122"/>
              </a:rPr>
              <a:t>数据流图与数据字典</a:t>
            </a:r>
            <a:endParaRPr lang="zh-CN" altLang="en-US" sz="4400" dirty="0">
              <a:solidFill>
                <a:schemeClr val="accent2"/>
              </a:solidFill>
              <a:ea typeface="经典细隶书简" pitchFamily="49" charset="-122"/>
            </a:endParaRPr>
          </a:p>
        </p:txBody>
      </p:sp>
      <p:grpSp>
        <p:nvGrpSpPr>
          <p:cNvPr id="51204" name="Group 3"/>
          <p:cNvGrpSpPr/>
          <p:nvPr/>
        </p:nvGrpSpPr>
        <p:grpSpPr>
          <a:xfrm>
            <a:off x="1219200" y="1600200"/>
            <a:ext cx="6400800" cy="3810000"/>
            <a:chOff x="1706" y="7437"/>
            <a:chExt cx="7452" cy="2939"/>
          </a:xfrm>
        </p:grpSpPr>
        <p:grpSp>
          <p:nvGrpSpPr>
            <p:cNvPr id="51205" name="Group 4"/>
            <p:cNvGrpSpPr/>
            <p:nvPr/>
          </p:nvGrpSpPr>
          <p:grpSpPr>
            <a:xfrm>
              <a:off x="1706" y="7437"/>
              <a:ext cx="7452" cy="2340"/>
              <a:chOff x="1706" y="7437"/>
              <a:chExt cx="7452" cy="2340"/>
            </a:xfrm>
          </p:grpSpPr>
          <p:sp>
            <p:nvSpPr>
              <p:cNvPr id="51207" name="Text Box 5"/>
              <p:cNvSpPr txBox="1"/>
              <p:nvPr/>
            </p:nvSpPr>
            <p:spPr>
              <a:xfrm>
                <a:off x="4825" y="8841"/>
                <a:ext cx="1214" cy="468"/>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a:spcBef>
                    <a:spcPct val="0"/>
                  </a:spcBef>
                  <a:buClrTx/>
                  <a:buFontTx/>
                  <a:buNone/>
                </a:pPr>
                <a:r>
                  <a:rPr lang="zh-CN" altLang="en-US" sz="1600" b="0" dirty="0">
                    <a:solidFill>
                      <a:schemeClr val="tx1"/>
                    </a:solidFill>
                  </a:rPr>
                  <a:t>数据流</a:t>
                </a:r>
                <a:endParaRPr lang="zh-CN" altLang="en-US" sz="1800" b="0" dirty="0">
                  <a:solidFill>
                    <a:schemeClr val="tx1"/>
                  </a:solidFill>
                </a:endParaRPr>
              </a:p>
            </p:txBody>
          </p:sp>
          <p:sp>
            <p:nvSpPr>
              <p:cNvPr id="51208" name="Text Box 6"/>
              <p:cNvSpPr txBox="1"/>
              <p:nvPr/>
            </p:nvSpPr>
            <p:spPr>
              <a:xfrm>
                <a:off x="2919" y="8841"/>
                <a:ext cx="1213" cy="468"/>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a:spcBef>
                    <a:spcPct val="0"/>
                  </a:spcBef>
                  <a:buClrTx/>
                  <a:buFontTx/>
                  <a:buNone/>
                </a:pPr>
                <a:r>
                  <a:rPr lang="zh-CN" altLang="en-US" sz="1600" b="0" dirty="0">
                    <a:solidFill>
                      <a:schemeClr val="tx1"/>
                    </a:solidFill>
                  </a:rPr>
                  <a:t>数据流</a:t>
                </a:r>
                <a:endParaRPr lang="zh-CN" altLang="en-US" sz="1600" b="0" dirty="0">
                  <a:solidFill>
                    <a:schemeClr val="tx1"/>
                  </a:solidFill>
                </a:endParaRPr>
              </a:p>
            </p:txBody>
          </p:sp>
          <p:sp>
            <p:nvSpPr>
              <p:cNvPr id="51209" name="Text Box 7"/>
              <p:cNvSpPr txBox="1"/>
              <p:nvPr/>
            </p:nvSpPr>
            <p:spPr>
              <a:xfrm>
                <a:off x="3786" y="7437"/>
                <a:ext cx="1213" cy="468"/>
              </a:xfrm>
              <a:prstGeom prst="rect">
                <a:avLst/>
              </a:prstGeom>
              <a:noFill/>
              <a:ln w="3810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a:spcBef>
                    <a:spcPct val="0"/>
                  </a:spcBef>
                  <a:buClrTx/>
                  <a:buFontTx/>
                  <a:buNone/>
                </a:pPr>
                <a:r>
                  <a:rPr lang="zh-CN" altLang="en-US" sz="1600" b="0" dirty="0">
                    <a:solidFill>
                      <a:schemeClr val="tx1"/>
                    </a:solidFill>
                  </a:rPr>
                  <a:t>数据存储</a:t>
                </a:r>
                <a:endParaRPr lang="zh-CN" altLang="en-US" sz="1600" b="0" dirty="0">
                  <a:solidFill>
                    <a:schemeClr val="tx1"/>
                  </a:solidFill>
                </a:endParaRPr>
              </a:p>
            </p:txBody>
          </p:sp>
          <p:sp>
            <p:nvSpPr>
              <p:cNvPr id="51210" name="Text Box 8"/>
              <p:cNvSpPr txBox="1"/>
              <p:nvPr/>
            </p:nvSpPr>
            <p:spPr>
              <a:xfrm>
                <a:off x="1706" y="8997"/>
                <a:ext cx="1213" cy="468"/>
              </a:xfrm>
              <a:prstGeom prst="rect">
                <a:avLst/>
              </a:prstGeom>
              <a:noFill/>
              <a:ln w="2857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a:spcBef>
                    <a:spcPct val="0"/>
                  </a:spcBef>
                  <a:buClrTx/>
                  <a:buFontTx/>
                  <a:buNone/>
                </a:pPr>
                <a:r>
                  <a:rPr lang="zh-CN" altLang="en-US" sz="1600" b="0" dirty="0">
                    <a:solidFill>
                      <a:schemeClr val="tx1"/>
                    </a:solidFill>
                  </a:rPr>
                  <a:t>数据来源</a:t>
                </a:r>
                <a:endParaRPr lang="zh-CN" altLang="en-US" sz="1600" b="0" dirty="0">
                  <a:solidFill>
                    <a:schemeClr val="tx1"/>
                  </a:solidFill>
                </a:endParaRPr>
              </a:p>
            </p:txBody>
          </p:sp>
          <p:sp>
            <p:nvSpPr>
              <p:cNvPr id="51211" name="Line 9"/>
              <p:cNvSpPr/>
              <p:nvPr/>
            </p:nvSpPr>
            <p:spPr>
              <a:xfrm>
                <a:off x="2919" y="9309"/>
                <a:ext cx="1040" cy="0"/>
              </a:xfrm>
              <a:prstGeom prst="line">
                <a:avLst/>
              </a:prstGeom>
              <a:ln w="38100" cap="flat" cmpd="sng">
                <a:solidFill>
                  <a:srgbClr val="000000"/>
                </a:solidFill>
                <a:prstDash val="solid"/>
                <a:headEnd type="none" w="med" len="med"/>
                <a:tailEnd type="triangle" w="med" len="med"/>
              </a:ln>
            </p:spPr>
          </p:sp>
          <p:sp>
            <p:nvSpPr>
              <p:cNvPr id="51212" name="Oval 10"/>
              <p:cNvSpPr/>
              <p:nvPr/>
            </p:nvSpPr>
            <p:spPr>
              <a:xfrm>
                <a:off x="3959" y="8997"/>
                <a:ext cx="866" cy="780"/>
              </a:xfrm>
              <a:prstGeom prst="ellipse">
                <a:avLst/>
              </a:prstGeom>
              <a:no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a:spcBef>
                    <a:spcPct val="0"/>
                  </a:spcBef>
                  <a:buClrTx/>
                  <a:buFontTx/>
                  <a:buNone/>
                </a:pPr>
                <a:r>
                  <a:rPr lang="zh-CN" altLang="en-US" sz="1600" b="0" dirty="0">
                    <a:solidFill>
                      <a:schemeClr val="tx1"/>
                    </a:solidFill>
                  </a:rPr>
                  <a:t>处理</a:t>
                </a:r>
                <a:endParaRPr lang="zh-CN" altLang="en-US" sz="1800" b="0" dirty="0">
                  <a:solidFill>
                    <a:schemeClr val="tx1"/>
                  </a:solidFill>
                </a:endParaRPr>
              </a:p>
            </p:txBody>
          </p:sp>
          <p:sp>
            <p:nvSpPr>
              <p:cNvPr id="51213" name="Line 11"/>
              <p:cNvSpPr/>
              <p:nvPr/>
            </p:nvSpPr>
            <p:spPr>
              <a:xfrm>
                <a:off x="4825" y="9309"/>
                <a:ext cx="1040" cy="0"/>
              </a:xfrm>
              <a:prstGeom prst="line">
                <a:avLst/>
              </a:prstGeom>
              <a:ln w="38100" cap="flat" cmpd="sng">
                <a:solidFill>
                  <a:srgbClr val="000000"/>
                </a:solidFill>
                <a:prstDash val="solid"/>
                <a:headEnd type="none" w="med" len="med"/>
                <a:tailEnd type="triangle" w="med" len="med"/>
              </a:ln>
            </p:spPr>
          </p:sp>
          <p:sp>
            <p:nvSpPr>
              <p:cNvPr id="51214" name="Text Box 12"/>
              <p:cNvSpPr txBox="1"/>
              <p:nvPr/>
            </p:nvSpPr>
            <p:spPr>
              <a:xfrm>
                <a:off x="5865" y="8997"/>
                <a:ext cx="1213" cy="468"/>
              </a:xfrm>
              <a:prstGeom prst="rect">
                <a:avLst/>
              </a:prstGeom>
              <a:noFill/>
              <a:ln w="3810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a:spcBef>
                    <a:spcPct val="0"/>
                  </a:spcBef>
                  <a:buClrTx/>
                  <a:buFontTx/>
                  <a:buNone/>
                </a:pPr>
                <a:r>
                  <a:rPr lang="zh-CN" altLang="en-US" sz="1600" b="0" dirty="0">
                    <a:solidFill>
                      <a:schemeClr val="tx1"/>
                    </a:solidFill>
                  </a:rPr>
                  <a:t>数据输出</a:t>
                </a:r>
                <a:endParaRPr lang="zh-CN" altLang="en-US" sz="1800" b="0" dirty="0">
                  <a:solidFill>
                    <a:schemeClr val="tx1"/>
                  </a:solidFill>
                </a:endParaRPr>
              </a:p>
            </p:txBody>
          </p:sp>
          <p:sp>
            <p:nvSpPr>
              <p:cNvPr id="51215" name="Line 13"/>
              <p:cNvSpPr/>
              <p:nvPr/>
            </p:nvSpPr>
            <p:spPr>
              <a:xfrm>
                <a:off x="4306" y="7905"/>
                <a:ext cx="0" cy="1092"/>
              </a:xfrm>
              <a:prstGeom prst="line">
                <a:avLst/>
              </a:prstGeom>
              <a:ln w="38100" cap="flat" cmpd="sng">
                <a:solidFill>
                  <a:srgbClr val="000000"/>
                </a:solidFill>
                <a:prstDash val="solid"/>
                <a:headEnd type="triangle" w="med" len="med"/>
                <a:tailEnd type="triangle" w="med" len="med"/>
              </a:ln>
            </p:spPr>
          </p:sp>
          <p:sp>
            <p:nvSpPr>
              <p:cNvPr id="51216" name="Line 14"/>
              <p:cNvSpPr/>
              <p:nvPr/>
            </p:nvSpPr>
            <p:spPr>
              <a:xfrm flipH="1">
                <a:off x="7252" y="9309"/>
                <a:ext cx="693" cy="0"/>
              </a:xfrm>
              <a:prstGeom prst="line">
                <a:avLst/>
              </a:prstGeom>
              <a:ln w="9525" cap="flat" cmpd="sng">
                <a:solidFill>
                  <a:srgbClr val="000000"/>
                </a:solidFill>
                <a:prstDash val="solid"/>
                <a:headEnd type="none" w="med" len="med"/>
                <a:tailEnd type="triangle" w="med" len="med"/>
              </a:ln>
            </p:spPr>
          </p:sp>
          <p:sp>
            <p:nvSpPr>
              <p:cNvPr id="51217" name="Text Box 15"/>
              <p:cNvSpPr txBox="1"/>
              <p:nvPr/>
            </p:nvSpPr>
            <p:spPr>
              <a:xfrm>
                <a:off x="7945" y="8997"/>
                <a:ext cx="1213" cy="468"/>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just">
                  <a:spcBef>
                    <a:spcPct val="0"/>
                  </a:spcBef>
                  <a:buClrTx/>
                  <a:buFontTx/>
                  <a:buNone/>
                </a:pPr>
                <a:endParaRPr lang="en-US" altLang="zh-CN" sz="1600" b="0" dirty="0">
                  <a:solidFill>
                    <a:schemeClr val="tx1"/>
                  </a:solidFill>
                </a:endParaRPr>
              </a:p>
              <a:p>
                <a:pPr marL="0" lvl="0" indent="0" algn="just">
                  <a:spcBef>
                    <a:spcPct val="0"/>
                  </a:spcBef>
                  <a:buClrTx/>
                  <a:buFontTx/>
                  <a:buNone/>
                </a:pPr>
                <a:r>
                  <a:rPr lang="zh-CN" altLang="en-US" sz="1600" b="0" dirty="0">
                    <a:solidFill>
                      <a:schemeClr val="tx1"/>
                    </a:solidFill>
                  </a:rPr>
                  <a:t>处理需求</a:t>
                </a:r>
                <a:endParaRPr lang="zh-CN" altLang="en-US" sz="1600" b="0" dirty="0">
                  <a:solidFill>
                    <a:schemeClr val="tx1"/>
                  </a:solidFill>
                </a:endParaRPr>
              </a:p>
            </p:txBody>
          </p:sp>
          <p:sp>
            <p:nvSpPr>
              <p:cNvPr id="51218" name="Line 16"/>
              <p:cNvSpPr/>
              <p:nvPr/>
            </p:nvSpPr>
            <p:spPr>
              <a:xfrm flipH="1">
                <a:off x="7252" y="7749"/>
                <a:ext cx="693" cy="0"/>
              </a:xfrm>
              <a:prstGeom prst="line">
                <a:avLst/>
              </a:prstGeom>
              <a:ln w="9525" cap="flat" cmpd="sng">
                <a:solidFill>
                  <a:srgbClr val="000000"/>
                </a:solidFill>
                <a:prstDash val="solid"/>
                <a:headEnd type="none" w="med" len="med"/>
                <a:tailEnd type="triangle" w="med" len="med"/>
              </a:ln>
            </p:spPr>
          </p:sp>
          <p:sp>
            <p:nvSpPr>
              <p:cNvPr id="51219" name="Text Box 17"/>
              <p:cNvSpPr txBox="1"/>
              <p:nvPr/>
            </p:nvSpPr>
            <p:spPr>
              <a:xfrm>
                <a:off x="7945" y="7437"/>
                <a:ext cx="1213" cy="468"/>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just">
                  <a:spcBef>
                    <a:spcPct val="0"/>
                  </a:spcBef>
                  <a:buClrTx/>
                  <a:buFontTx/>
                  <a:buNone/>
                </a:pPr>
                <a:endParaRPr lang="en-US" altLang="zh-CN" sz="1600" b="0" dirty="0">
                  <a:solidFill>
                    <a:schemeClr val="tx1"/>
                  </a:solidFill>
                </a:endParaRPr>
              </a:p>
              <a:p>
                <a:pPr marL="0" lvl="0" indent="0" algn="just">
                  <a:spcBef>
                    <a:spcPct val="0"/>
                  </a:spcBef>
                  <a:buClrTx/>
                  <a:buFontTx/>
                  <a:buNone/>
                </a:pPr>
                <a:r>
                  <a:rPr lang="zh-CN" altLang="en-US" sz="1600" b="0" dirty="0">
                    <a:solidFill>
                      <a:schemeClr val="tx1"/>
                    </a:solidFill>
                  </a:rPr>
                  <a:t>信息需求</a:t>
                </a:r>
                <a:endParaRPr lang="zh-CN" altLang="en-US" sz="1600" b="0" dirty="0">
                  <a:solidFill>
                    <a:schemeClr val="tx1"/>
                  </a:solidFill>
                </a:endParaRPr>
              </a:p>
            </p:txBody>
          </p:sp>
        </p:grpSp>
        <p:sp>
          <p:nvSpPr>
            <p:cNvPr id="51206" name="Text Box 18"/>
            <p:cNvSpPr txBox="1"/>
            <p:nvPr/>
          </p:nvSpPr>
          <p:spPr>
            <a:xfrm>
              <a:off x="4202" y="9908"/>
              <a:ext cx="2016" cy="468"/>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just">
                <a:spcBef>
                  <a:spcPct val="0"/>
                </a:spcBef>
                <a:buClrTx/>
                <a:buFontTx/>
                <a:buNone/>
              </a:pPr>
              <a:endParaRPr lang="en-US" altLang="en-US" sz="1800" b="0" dirty="0">
                <a:solidFill>
                  <a:schemeClr val="tx1"/>
                </a:solidFill>
              </a:endParaRPr>
            </a:p>
          </p:txBody>
        </p:sp>
      </p:gr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页脚占位符 2"/>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52227" name="Rectangle 2"/>
          <p:cNvSpPr/>
          <p:nvPr/>
        </p:nvSpPr>
        <p:spPr>
          <a:xfrm>
            <a:off x="381000" y="1066800"/>
            <a:ext cx="8534400" cy="52578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342900" lvl="0" indent="-342900" algn="just" eaLnBrk="1" hangingPunct="1"/>
            <a:r>
              <a:rPr lang="zh-CN" altLang="en-US" dirty="0">
                <a:solidFill>
                  <a:schemeClr val="tx1"/>
                </a:solidFill>
              </a:rPr>
              <a:t>需求分析阶段结束时</a:t>
            </a:r>
            <a:r>
              <a:rPr lang="en-US" altLang="zh-CN" dirty="0">
                <a:solidFill>
                  <a:schemeClr val="tx1"/>
                </a:solidFill>
              </a:rPr>
              <a:t>,</a:t>
            </a:r>
            <a:r>
              <a:rPr lang="zh-CN" altLang="en-US" dirty="0">
                <a:solidFill>
                  <a:schemeClr val="tx1"/>
                </a:solidFill>
              </a:rPr>
              <a:t>应提供的文档包括：</a:t>
            </a:r>
            <a:endParaRPr lang="zh-CN" altLang="en-US" dirty="0">
              <a:solidFill>
                <a:schemeClr val="tx1"/>
              </a:solidFill>
            </a:endParaRPr>
          </a:p>
          <a:p>
            <a:pPr marL="742950" lvl="1" indent="-285750" algn="just" eaLnBrk="1" hangingPunct="1">
              <a:buClr>
                <a:srgbClr val="0000CC"/>
              </a:buClr>
            </a:pPr>
            <a:r>
              <a:rPr lang="zh-CN" altLang="en-US" dirty="0"/>
              <a:t>系统组织结构图；</a:t>
            </a:r>
            <a:endParaRPr lang="zh-CN" altLang="en-US" dirty="0"/>
          </a:p>
          <a:p>
            <a:pPr marL="742950" lvl="1" indent="-285750" algn="just" eaLnBrk="1" hangingPunct="1"/>
            <a:r>
              <a:rPr lang="zh-CN" altLang="en-US" dirty="0"/>
              <a:t>数据流图；</a:t>
            </a:r>
            <a:endParaRPr lang="zh-CN" altLang="en-US" dirty="0"/>
          </a:p>
          <a:p>
            <a:pPr marL="742950" lvl="1" indent="-285750" algn="just" eaLnBrk="1" hangingPunct="1"/>
            <a:r>
              <a:rPr lang="zh-CN" altLang="en-US" dirty="0"/>
              <a:t>数据字典；</a:t>
            </a:r>
            <a:endParaRPr lang="zh-CN" altLang="en-US" dirty="0"/>
          </a:p>
          <a:p>
            <a:pPr marL="742950" lvl="1" indent="-285750" eaLnBrk="1" hangingPunct="1"/>
            <a:r>
              <a:rPr lang="zh-CN" altLang="en-US" dirty="0">
                <a:latin typeface="宋体" panose="02010600030101010101" pitchFamily="2" charset="-122"/>
              </a:rPr>
              <a:t>数据处理流程图等</a:t>
            </a:r>
            <a:endParaRPr lang="zh-CN" altLang="en-US" dirty="0">
              <a:latin typeface="宋体" panose="02010600030101010101" pitchFamily="2" charset="-122"/>
            </a:endParaRPr>
          </a:p>
          <a:p>
            <a:pPr marL="742950" lvl="1" indent="-285750" eaLnBrk="1" hangingPunct="1"/>
            <a:r>
              <a:rPr lang="zh-CN" altLang="en-US" dirty="0">
                <a:latin typeface="宋体" panose="02010600030101010101" pitchFamily="2" charset="-122"/>
              </a:rPr>
              <a:t>其他 </a:t>
            </a:r>
            <a:endParaRPr lang="zh-CN" altLang="en-US" dirty="0">
              <a:latin typeface="宋体" panose="02010600030101010101" pitchFamily="2" charset="-122"/>
            </a:endParaRPr>
          </a:p>
          <a:p>
            <a:pPr marL="742950" lvl="1" indent="-285750" eaLnBrk="1" hangingPunct="1">
              <a:buNone/>
            </a:pPr>
            <a:r>
              <a:rPr lang="zh-CN" altLang="en-US" dirty="0">
                <a:latin typeface="宋体" panose="02010600030101010101" pitchFamily="2" charset="-122"/>
              </a:rPr>
              <a:t>	系统安全要求、速度要求、用户完整性要求、环境要求等</a:t>
            </a:r>
            <a:endParaRPr lang="zh-CN" altLang="en-US" dirty="0">
              <a:latin typeface="宋体" panose="02010600030101010101" pitchFamily="2" charset="-122"/>
            </a:endParaRPr>
          </a:p>
          <a:p>
            <a:pPr marL="342900" lvl="0" indent="-342900" eaLnBrk="1" hangingPunct="1"/>
            <a:r>
              <a:rPr lang="zh-CN" altLang="en-US" dirty="0">
                <a:solidFill>
                  <a:schemeClr val="tx1"/>
                </a:solidFill>
                <a:latin typeface="宋体" panose="02010600030101010101" pitchFamily="2" charset="-122"/>
              </a:rPr>
              <a:t>需求规格说明书</a:t>
            </a:r>
            <a:endParaRPr lang="zh-CN" altLang="en-US" dirty="0">
              <a:solidFill>
                <a:schemeClr val="tx1"/>
              </a:solidFill>
              <a:latin typeface="宋体" panose="02010600030101010101" pitchFamily="2" charset="-122"/>
            </a:endParaRPr>
          </a:p>
        </p:txBody>
      </p:sp>
      <p:sp>
        <p:nvSpPr>
          <p:cNvPr id="52228" name="Rectangle 3"/>
          <p:cNvSpPr/>
          <p:nvPr/>
        </p:nvSpPr>
        <p:spPr>
          <a:xfrm>
            <a:off x="939800" y="12700"/>
            <a:ext cx="7772400" cy="60960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eaLnBrk="1" hangingPunct="1">
              <a:spcBef>
                <a:spcPct val="0"/>
              </a:spcBef>
              <a:buClrTx/>
              <a:buFontTx/>
              <a:buNone/>
            </a:pPr>
            <a:r>
              <a:rPr lang="en-US" altLang="zh-CN" sz="4400" dirty="0">
                <a:solidFill>
                  <a:schemeClr val="accent2"/>
                </a:solidFill>
                <a:ea typeface="经典细隶书简" pitchFamily="49" charset="-122"/>
              </a:rPr>
              <a:t>7.2.4  </a:t>
            </a:r>
            <a:r>
              <a:rPr lang="zh-CN" altLang="en-US" sz="4400" dirty="0">
                <a:solidFill>
                  <a:schemeClr val="accent2"/>
                </a:solidFill>
                <a:ea typeface="经典细隶书简" pitchFamily="49" charset="-122"/>
              </a:rPr>
              <a:t>数据流图与数据字典</a:t>
            </a:r>
            <a:endParaRPr lang="zh-CN" altLang="en-US" sz="4400" dirty="0">
              <a:solidFill>
                <a:schemeClr val="accent2"/>
              </a:solidFill>
              <a:ea typeface="经典细隶书简" pitchFamily="49" charset="-122"/>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页脚占位符 2"/>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53251" name="Rectangle 2"/>
          <p:cNvSpPr/>
          <p:nvPr/>
        </p:nvSpPr>
        <p:spPr>
          <a:xfrm>
            <a:off x="457200" y="838200"/>
            <a:ext cx="6477000" cy="8382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342900" lvl="0" indent="-342900" algn="just" eaLnBrk="1" hangingPunct="1"/>
            <a:r>
              <a:rPr lang="zh-CN" altLang="en-US" dirty="0">
                <a:solidFill>
                  <a:schemeClr val="tx1"/>
                </a:solidFill>
              </a:rPr>
              <a:t>需求分析小结</a:t>
            </a:r>
            <a:endParaRPr lang="zh-CN" altLang="en-US" dirty="0">
              <a:solidFill>
                <a:schemeClr val="tx1"/>
              </a:solidFill>
            </a:endParaRPr>
          </a:p>
        </p:txBody>
      </p:sp>
      <p:sp>
        <p:nvSpPr>
          <p:cNvPr id="53252" name="Rectangle 3"/>
          <p:cNvSpPr/>
          <p:nvPr/>
        </p:nvSpPr>
        <p:spPr>
          <a:xfrm>
            <a:off x="939800" y="12700"/>
            <a:ext cx="7772400" cy="60960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eaLnBrk="1" hangingPunct="1">
              <a:spcBef>
                <a:spcPct val="0"/>
              </a:spcBef>
              <a:buClrTx/>
              <a:buFontTx/>
              <a:buNone/>
            </a:pPr>
            <a:r>
              <a:rPr lang="en-US" altLang="zh-CN" sz="4400" dirty="0">
                <a:solidFill>
                  <a:schemeClr val="accent2"/>
                </a:solidFill>
                <a:ea typeface="经典细隶书简" pitchFamily="49" charset="-122"/>
              </a:rPr>
              <a:t>7.2.4  </a:t>
            </a:r>
            <a:r>
              <a:rPr lang="zh-CN" altLang="en-US" sz="4400" dirty="0">
                <a:solidFill>
                  <a:schemeClr val="accent2"/>
                </a:solidFill>
                <a:ea typeface="经典细隶书简" pitchFamily="49" charset="-122"/>
              </a:rPr>
              <a:t>数据流图与数据字典</a:t>
            </a:r>
            <a:endParaRPr lang="zh-CN" altLang="en-US" sz="4400" dirty="0">
              <a:solidFill>
                <a:schemeClr val="accent2"/>
              </a:solidFill>
              <a:ea typeface="经典细隶书简" pitchFamily="49" charset="-122"/>
            </a:endParaRPr>
          </a:p>
        </p:txBody>
      </p:sp>
      <p:pic>
        <p:nvPicPr>
          <p:cNvPr id="53253" name="Picture 37" descr="76"/>
          <p:cNvPicPr>
            <a:picLocks noChangeAspect="1"/>
          </p:cNvPicPr>
          <p:nvPr/>
        </p:nvPicPr>
        <p:blipFill>
          <a:blip r:embed="rId1"/>
          <a:stretch>
            <a:fillRect/>
          </a:stretch>
        </p:blipFill>
        <p:spPr>
          <a:xfrm>
            <a:off x="611188" y="1700213"/>
            <a:ext cx="8064500" cy="4270375"/>
          </a:xfrm>
          <a:prstGeom prst="rect">
            <a:avLst/>
          </a:prstGeom>
          <a:noFill/>
          <a:ln w="9525">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54275" name="Rectangle 2"/>
          <p:cNvSpPr/>
          <p:nvPr/>
        </p:nvSpPr>
        <p:spPr>
          <a:xfrm>
            <a:off x="698500" y="2768600"/>
            <a:ext cx="7747000" cy="609600"/>
          </a:xfrm>
          <a:prstGeom prst="rect">
            <a:avLst/>
          </a:prstGeom>
          <a:solidFill>
            <a:schemeClr val="accent2"/>
          </a:solidFill>
          <a:ln w="9525">
            <a:noFill/>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a:spcBef>
                <a:spcPct val="0"/>
              </a:spcBef>
              <a:buClrTx/>
              <a:buFontTx/>
              <a:buNone/>
            </a:pPr>
            <a:endParaRPr lang="en-US" altLang="zh-CN" sz="1600" b="0" dirty="0">
              <a:solidFill>
                <a:schemeClr val="tx1"/>
              </a:solidFill>
            </a:endParaRPr>
          </a:p>
        </p:txBody>
      </p:sp>
      <p:sp>
        <p:nvSpPr>
          <p:cNvPr id="54276" name="Rectangle 3"/>
          <p:cNvSpPr>
            <a:spLocks noGrp="1"/>
          </p:cNvSpPr>
          <p:nvPr>
            <p:ph idx="1"/>
          </p:nvPr>
        </p:nvSpPr>
        <p:spPr>
          <a:xfrm>
            <a:off x="914400" y="1371600"/>
            <a:ext cx="7327900" cy="4876800"/>
          </a:xfrm>
          <a:ln/>
        </p:spPr>
        <p:txBody>
          <a:bodyPr vert="horz" wrap="square" lIns="91440" tIns="45720" rIns="91440" bIns="45720" anchor="t" anchorCtr="0"/>
          <a:p>
            <a:pPr eaLnBrk="1" hangingPunct="1">
              <a:lnSpc>
                <a:spcPct val="120000"/>
              </a:lnSpc>
              <a:spcBef>
                <a:spcPct val="0"/>
              </a:spcBef>
              <a:buClrTx/>
              <a:buFontTx/>
              <a:buNone/>
            </a:pPr>
            <a:r>
              <a:rPr lang="en-US" altLang="zh-CN" sz="3600" b="0" dirty="0">
                <a:solidFill>
                  <a:schemeClr val="tx1"/>
                </a:solidFill>
                <a:latin typeface="Arial Narrow" panose="020B0606020202030204" pitchFamily="34" charset="0"/>
                <a:ea typeface="楷体_GB2312" pitchFamily="49" charset="-122"/>
              </a:rPr>
              <a:t>7.1 </a:t>
            </a:r>
            <a:r>
              <a:rPr lang="zh-CN" altLang="en-US" sz="3600" b="0" dirty="0">
                <a:solidFill>
                  <a:schemeClr val="tx1"/>
                </a:solidFill>
                <a:latin typeface="Arial Narrow" panose="020B0606020202030204" pitchFamily="34" charset="0"/>
                <a:ea typeface="楷体_GB2312" pitchFamily="49" charset="-122"/>
              </a:rPr>
              <a:t>数据库设计概述</a:t>
            </a:r>
            <a:endParaRPr lang="zh-CN" altLang="en-US" sz="3600" b="0" dirty="0">
              <a:solidFill>
                <a:schemeClr val="tx1"/>
              </a:solidFill>
              <a:latin typeface="Arial Narrow" panose="020B0606020202030204" pitchFamily="34" charset="0"/>
              <a:ea typeface="楷体_GB2312" pitchFamily="49" charset="-122"/>
            </a:endParaRPr>
          </a:p>
          <a:p>
            <a:pPr eaLnBrk="1" hangingPunct="1">
              <a:lnSpc>
                <a:spcPct val="120000"/>
              </a:lnSpc>
              <a:spcBef>
                <a:spcPct val="0"/>
              </a:spcBef>
              <a:buClrTx/>
              <a:buFontTx/>
              <a:buNone/>
            </a:pPr>
            <a:r>
              <a:rPr lang="en-US" altLang="zh-CN" sz="3600" b="0" dirty="0">
                <a:solidFill>
                  <a:schemeClr val="tx1"/>
                </a:solidFill>
                <a:latin typeface="Arial Narrow" panose="020B0606020202030204" pitchFamily="34" charset="0"/>
                <a:ea typeface="楷体_GB2312" pitchFamily="49" charset="-122"/>
              </a:rPr>
              <a:t>7.2 </a:t>
            </a:r>
            <a:r>
              <a:rPr lang="zh-CN" altLang="en-US" sz="3600" b="0" dirty="0">
                <a:solidFill>
                  <a:schemeClr val="tx1"/>
                </a:solidFill>
                <a:latin typeface="Arial Narrow" panose="020B0606020202030204" pitchFamily="34" charset="0"/>
                <a:ea typeface="楷体_GB2312" pitchFamily="49" charset="-122"/>
              </a:rPr>
              <a:t>需求分析</a:t>
            </a:r>
            <a:endParaRPr lang="zh-CN" altLang="en-US" sz="3600" b="0" dirty="0">
              <a:solidFill>
                <a:schemeClr val="tx1"/>
              </a:solidFill>
              <a:latin typeface="Arial Narrow" panose="020B0606020202030204" pitchFamily="34" charset="0"/>
              <a:ea typeface="楷体_GB2312" pitchFamily="49" charset="-122"/>
            </a:endParaRPr>
          </a:p>
          <a:p>
            <a:pPr eaLnBrk="1" hangingPunct="1">
              <a:lnSpc>
                <a:spcPct val="120000"/>
              </a:lnSpc>
              <a:spcBef>
                <a:spcPct val="0"/>
              </a:spcBef>
              <a:buClrTx/>
              <a:buFontTx/>
              <a:buNone/>
            </a:pPr>
            <a:r>
              <a:rPr lang="en-US" altLang="zh-CN" sz="3600" b="0" dirty="0">
                <a:solidFill>
                  <a:schemeClr val="bg1"/>
                </a:solidFill>
                <a:latin typeface="Arial Narrow" panose="020B0606020202030204" pitchFamily="34" charset="0"/>
                <a:ea typeface="楷体_GB2312" pitchFamily="49" charset="-122"/>
              </a:rPr>
              <a:t>7.3 </a:t>
            </a:r>
            <a:r>
              <a:rPr lang="zh-CN" altLang="en-US" sz="3600" b="0" dirty="0">
                <a:solidFill>
                  <a:schemeClr val="bg1"/>
                </a:solidFill>
                <a:latin typeface="Arial Narrow" panose="020B0606020202030204" pitchFamily="34" charset="0"/>
                <a:ea typeface="楷体_GB2312" pitchFamily="49" charset="-122"/>
              </a:rPr>
              <a:t>概念结构设计</a:t>
            </a:r>
            <a:endParaRPr lang="zh-CN" altLang="en-US" sz="3600" b="0" dirty="0">
              <a:solidFill>
                <a:schemeClr val="bg1"/>
              </a:solidFill>
              <a:latin typeface="Arial Narrow" panose="020B0606020202030204" pitchFamily="34" charset="0"/>
              <a:ea typeface="楷体_GB2312" pitchFamily="49" charset="-122"/>
            </a:endParaRPr>
          </a:p>
          <a:p>
            <a:pPr eaLnBrk="1" hangingPunct="1">
              <a:lnSpc>
                <a:spcPct val="120000"/>
              </a:lnSpc>
              <a:spcBef>
                <a:spcPct val="0"/>
              </a:spcBef>
              <a:buClrTx/>
              <a:buFontTx/>
              <a:buNone/>
            </a:pPr>
            <a:r>
              <a:rPr lang="en-US" altLang="zh-CN" sz="3600" b="0" dirty="0">
                <a:solidFill>
                  <a:schemeClr val="tx1"/>
                </a:solidFill>
                <a:latin typeface="Arial Narrow" panose="020B0606020202030204" pitchFamily="34" charset="0"/>
                <a:ea typeface="楷体_GB2312" pitchFamily="49" charset="-122"/>
              </a:rPr>
              <a:t>7.4 </a:t>
            </a:r>
            <a:r>
              <a:rPr lang="zh-CN" altLang="en-US" sz="3600" b="0" dirty="0">
                <a:solidFill>
                  <a:schemeClr val="tx1"/>
                </a:solidFill>
                <a:latin typeface="Arial Narrow" panose="020B0606020202030204" pitchFamily="34" charset="0"/>
                <a:ea typeface="楷体_GB2312" pitchFamily="49" charset="-122"/>
              </a:rPr>
              <a:t>逻辑结构设计</a:t>
            </a:r>
            <a:endParaRPr lang="zh-CN" altLang="en-US" sz="3600" b="0" dirty="0">
              <a:solidFill>
                <a:schemeClr val="tx1"/>
              </a:solidFill>
              <a:latin typeface="Arial Narrow" panose="020B0606020202030204" pitchFamily="34" charset="0"/>
              <a:ea typeface="楷体_GB2312" pitchFamily="49" charset="-122"/>
            </a:endParaRPr>
          </a:p>
          <a:p>
            <a:pPr eaLnBrk="1" hangingPunct="1">
              <a:lnSpc>
                <a:spcPct val="120000"/>
              </a:lnSpc>
              <a:spcBef>
                <a:spcPct val="0"/>
              </a:spcBef>
              <a:buClrTx/>
              <a:buFontTx/>
              <a:buNone/>
            </a:pPr>
            <a:r>
              <a:rPr lang="en-US" altLang="zh-CN" sz="3600" b="0" dirty="0">
                <a:solidFill>
                  <a:schemeClr val="tx1"/>
                </a:solidFill>
                <a:latin typeface="Arial Narrow" panose="020B0606020202030204" pitchFamily="34" charset="0"/>
                <a:ea typeface="楷体_GB2312" pitchFamily="49" charset="-122"/>
              </a:rPr>
              <a:t>7.5 </a:t>
            </a:r>
            <a:r>
              <a:rPr lang="zh-CN" altLang="en-US" sz="3600" b="0" dirty="0">
                <a:solidFill>
                  <a:schemeClr val="tx1"/>
                </a:solidFill>
                <a:latin typeface="Arial Narrow" panose="020B0606020202030204" pitchFamily="34" charset="0"/>
                <a:ea typeface="楷体_GB2312" pitchFamily="49" charset="-122"/>
              </a:rPr>
              <a:t>数据库的物理设计</a:t>
            </a:r>
            <a:endParaRPr lang="zh-CN" altLang="en-US" sz="3600" b="0" dirty="0">
              <a:solidFill>
                <a:schemeClr val="tx1"/>
              </a:solidFill>
              <a:latin typeface="Arial Narrow" panose="020B0606020202030204" pitchFamily="34" charset="0"/>
              <a:ea typeface="楷体_GB2312" pitchFamily="49" charset="-122"/>
            </a:endParaRPr>
          </a:p>
          <a:p>
            <a:pPr eaLnBrk="1" hangingPunct="1">
              <a:lnSpc>
                <a:spcPct val="120000"/>
              </a:lnSpc>
              <a:spcBef>
                <a:spcPct val="0"/>
              </a:spcBef>
              <a:buClrTx/>
              <a:buFontTx/>
              <a:buNone/>
            </a:pPr>
            <a:r>
              <a:rPr lang="en-US" altLang="zh-CN" sz="3600" b="0" dirty="0">
                <a:solidFill>
                  <a:schemeClr val="tx1"/>
                </a:solidFill>
                <a:latin typeface="Arial Narrow" panose="020B0606020202030204" pitchFamily="34" charset="0"/>
                <a:ea typeface="楷体_GB2312" pitchFamily="49" charset="-122"/>
              </a:rPr>
              <a:t>7.6 </a:t>
            </a:r>
            <a:r>
              <a:rPr lang="zh-CN" altLang="en-US" sz="3600" b="0" dirty="0">
                <a:solidFill>
                  <a:schemeClr val="tx1"/>
                </a:solidFill>
                <a:latin typeface="Arial Narrow" panose="020B0606020202030204" pitchFamily="34" charset="0"/>
                <a:ea typeface="楷体_GB2312" pitchFamily="49" charset="-122"/>
              </a:rPr>
              <a:t>数据库实施</a:t>
            </a:r>
            <a:endParaRPr lang="zh-CN" altLang="en-US" sz="3600" b="0" dirty="0">
              <a:solidFill>
                <a:schemeClr val="tx1"/>
              </a:solidFill>
              <a:latin typeface="Arial Narrow" panose="020B0606020202030204" pitchFamily="34" charset="0"/>
              <a:ea typeface="楷体_GB2312" pitchFamily="49" charset="-122"/>
            </a:endParaRPr>
          </a:p>
          <a:p>
            <a:pPr eaLnBrk="1" hangingPunct="1">
              <a:lnSpc>
                <a:spcPct val="120000"/>
              </a:lnSpc>
              <a:spcBef>
                <a:spcPct val="0"/>
              </a:spcBef>
              <a:buClrTx/>
              <a:buFontTx/>
              <a:buNone/>
            </a:pPr>
            <a:r>
              <a:rPr lang="en-US" altLang="zh-CN" sz="3600" b="0" dirty="0">
                <a:solidFill>
                  <a:schemeClr val="tx1"/>
                </a:solidFill>
                <a:latin typeface="Arial Narrow" panose="020B0606020202030204" pitchFamily="34" charset="0"/>
                <a:ea typeface="楷体_GB2312" pitchFamily="49" charset="-122"/>
              </a:rPr>
              <a:t>7.7 </a:t>
            </a:r>
            <a:r>
              <a:rPr lang="zh-CN" altLang="en-US" sz="3600" b="0" dirty="0">
                <a:solidFill>
                  <a:schemeClr val="tx1"/>
                </a:solidFill>
                <a:latin typeface="Arial Narrow" panose="020B0606020202030204" pitchFamily="34" charset="0"/>
                <a:ea typeface="楷体_GB2312" pitchFamily="49" charset="-122"/>
              </a:rPr>
              <a:t>数据库运行和维护</a:t>
            </a:r>
            <a:endParaRPr lang="zh-CN" altLang="en-US" sz="3600" b="0" dirty="0">
              <a:solidFill>
                <a:schemeClr val="tx1"/>
              </a:solidFill>
              <a:latin typeface="Arial Narrow" panose="020B0606020202030204" pitchFamily="34" charset="0"/>
              <a:ea typeface="楷体_GB2312" pitchFamily="49" charset="-122"/>
            </a:endParaRPr>
          </a:p>
        </p:txBody>
      </p:sp>
      <p:sp>
        <p:nvSpPr>
          <p:cNvPr id="54277" name="Rectangle 4"/>
          <p:cNvSpPr>
            <a:spLocks noGrp="1"/>
          </p:cNvSpPr>
          <p:nvPr>
            <p:ph type="title"/>
          </p:nvPr>
        </p:nvSpPr>
        <p:spPr>
          <a:ln/>
        </p:spPr>
        <p:txBody>
          <a:bodyPr vert="horz" wrap="square" lIns="91440" tIns="45720" rIns="91440" bIns="45720" anchor="ctr" anchorCtr="0"/>
          <a:p>
            <a:pPr eaLnBrk="1" hangingPunct="1"/>
            <a:r>
              <a:rPr lang="zh-CN" altLang="en-US" dirty="0"/>
              <a:t>第</a:t>
            </a:r>
            <a:r>
              <a:rPr lang="en-US" altLang="zh-CN" dirty="0"/>
              <a:t>7</a:t>
            </a:r>
            <a:r>
              <a:rPr lang="zh-CN" altLang="en-US" dirty="0"/>
              <a:t>章 数据库设计</a:t>
            </a:r>
            <a:endParaRPr lang="zh-CN" alt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页脚占位符 2"/>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55299" name="Rectangle 2"/>
          <p:cNvSpPr/>
          <p:nvPr/>
        </p:nvSpPr>
        <p:spPr>
          <a:xfrm>
            <a:off x="1371600" y="1600200"/>
            <a:ext cx="7162800" cy="44196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342900" lvl="0" indent="-342900" eaLnBrk="1" hangingPunct="1">
              <a:lnSpc>
                <a:spcPct val="140000"/>
              </a:lnSpc>
              <a:buClr>
                <a:schemeClr val="folHlink"/>
              </a:buClr>
              <a:buSzPct val="60000"/>
              <a:buNone/>
            </a:pPr>
            <a:r>
              <a:rPr lang="en-US" altLang="zh-CN" dirty="0"/>
              <a:t>7.3.1  </a:t>
            </a:r>
            <a:r>
              <a:rPr lang="zh-CN" altLang="en-US" dirty="0"/>
              <a:t>概念结构设计概述</a:t>
            </a:r>
            <a:endParaRPr lang="zh-CN" altLang="en-US" dirty="0"/>
          </a:p>
          <a:p>
            <a:pPr marL="342900" lvl="0" indent="-342900" eaLnBrk="1" hangingPunct="1">
              <a:lnSpc>
                <a:spcPct val="140000"/>
              </a:lnSpc>
              <a:buClr>
                <a:schemeClr val="folHlink"/>
              </a:buClr>
              <a:buSzPct val="60000"/>
              <a:buNone/>
            </a:pPr>
            <a:r>
              <a:rPr lang="en-US" altLang="zh-CN" dirty="0">
                <a:solidFill>
                  <a:schemeClr val="tx1"/>
                </a:solidFill>
              </a:rPr>
              <a:t>7.3.2  </a:t>
            </a:r>
            <a:r>
              <a:rPr lang="zh-CN" altLang="en-US" dirty="0">
                <a:solidFill>
                  <a:schemeClr val="tx1"/>
                </a:solidFill>
              </a:rPr>
              <a:t>概念结构设计的方法与步骤</a:t>
            </a:r>
            <a:endParaRPr lang="zh-CN" altLang="en-US" dirty="0">
              <a:solidFill>
                <a:schemeClr val="tx1"/>
              </a:solidFill>
            </a:endParaRPr>
          </a:p>
          <a:p>
            <a:pPr marL="342900" lvl="0" indent="-342900" eaLnBrk="1" hangingPunct="1">
              <a:lnSpc>
                <a:spcPct val="140000"/>
              </a:lnSpc>
              <a:buClr>
                <a:schemeClr val="folHlink"/>
              </a:buClr>
              <a:buSzPct val="60000"/>
              <a:buNone/>
            </a:pPr>
            <a:r>
              <a:rPr lang="en-US" altLang="zh-CN" dirty="0">
                <a:solidFill>
                  <a:schemeClr val="tx1"/>
                </a:solidFill>
              </a:rPr>
              <a:t>7.3.3  </a:t>
            </a:r>
            <a:r>
              <a:rPr lang="zh-CN" altLang="en-US" dirty="0">
                <a:solidFill>
                  <a:schemeClr val="tx1"/>
                </a:solidFill>
              </a:rPr>
              <a:t>数据抽象与局部视图设计</a:t>
            </a:r>
            <a:endParaRPr lang="zh-CN" altLang="en-US" dirty="0">
              <a:solidFill>
                <a:schemeClr val="tx1"/>
              </a:solidFill>
            </a:endParaRPr>
          </a:p>
          <a:p>
            <a:pPr marL="342900" lvl="0" indent="-342900" eaLnBrk="1" hangingPunct="1">
              <a:lnSpc>
                <a:spcPct val="140000"/>
              </a:lnSpc>
              <a:buClr>
                <a:schemeClr val="folHlink"/>
              </a:buClr>
              <a:buSzPct val="60000"/>
              <a:buNone/>
            </a:pPr>
            <a:r>
              <a:rPr lang="en-US" altLang="zh-CN" dirty="0">
                <a:solidFill>
                  <a:schemeClr val="tx1"/>
                </a:solidFill>
              </a:rPr>
              <a:t>7.3.4  </a:t>
            </a:r>
            <a:r>
              <a:rPr lang="zh-CN" altLang="en-US" dirty="0">
                <a:solidFill>
                  <a:schemeClr val="tx1"/>
                </a:solidFill>
              </a:rPr>
              <a:t>视图的集成</a:t>
            </a:r>
            <a:endParaRPr lang="zh-CN" altLang="en-US" dirty="0"/>
          </a:p>
        </p:txBody>
      </p:sp>
      <p:sp>
        <p:nvSpPr>
          <p:cNvPr id="55300" name="Rectangle 3"/>
          <p:cNvSpPr/>
          <p:nvPr/>
        </p:nvSpPr>
        <p:spPr>
          <a:xfrm>
            <a:off x="685800" y="152400"/>
            <a:ext cx="7772400" cy="114300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eaLnBrk="1" hangingPunct="1">
              <a:spcBef>
                <a:spcPct val="0"/>
              </a:spcBef>
              <a:buClrTx/>
              <a:buFontTx/>
              <a:buNone/>
            </a:pPr>
            <a:r>
              <a:rPr lang="en-US" altLang="zh-CN" sz="4400" dirty="0">
                <a:solidFill>
                  <a:schemeClr val="accent2"/>
                </a:solidFill>
                <a:ea typeface="经典细隶书简" pitchFamily="49" charset="-122"/>
              </a:rPr>
              <a:t>7.3  </a:t>
            </a:r>
            <a:r>
              <a:rPr lang="zh-CN" altLang="en-US" sz="4400" dirty="0">
                <a:solidFill>
                  <a:schemeClr val="accent2"/>
                </a:solidFill>
                <a:ea typeface="经典细隶书简" pitchFamily="49" charset="-122"/>
              </a:rPr>
              <a:t>概念结构设计</a:t>
            </a:r>
            <a:endParaRPr lang="zh-CN" altLang="en-US" sz="4400" dirty="0">
              <a:solidFill>
                <a:schemeClr val="accent2"/>
              </a:solidFill>
              <a:ea typeface="经典细隶书简" pitchFamily="49" charset="-122"/>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页脚占位符 2"/>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56323" name="Rectangle 2"/>
          <p:cNvSpPr/>
          <p:nvPr/>
        </p:nvSpPr>
        <p:spPr>
          <a:xfrm>
            <a:off x="381000" y="1066800"/>
            <a:ext cx="8534400" cy="7620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342900" lvl="0" indent="-342900" algn="just" eaLnBrk="1" hangingPunct="1"/>
            <a:endParaRPr lang="en-US" altLang="en-US" dirty="0">
              <a:solidFill>
                <a:schemeClr val="tx1"/>
              </a:solidFill>
              <a:latin typeface="宋体" panose="02010600030101010101" pitchFamily="2" charset="-122"/>
            </a:endParaRPr>
          </a:p>
        </p:txBody>
      </p:sp>
      <p:sp>
        <p:nvSpPr>
          <p:cNvPr id="56324" name="Rectangle 3"/>
          <p:cNvSpPr/>
          <p:nvPr/>
        </p:nvSpPr>
        <p:spPr>
          <a:xfrm>
            <a:off x="939800" y="12700"/>
            <a:ext cx="7772400" cy="60960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eaLnBrk="1" hangingPunct="1">
              <a:spcBef>
                <a:spcPct val="0"/>
              </a:spcBef>
              <a:buClrTx/>
              <a:buFontTx/>
              <a:buNone/>
            </a:pPr>
            <a:r>
              <a:rPr lang="en-US" altLang="zh-CN" sz="4400" dirty="0">
                <a:solidFill>
                  <a:schemeClr val="accent2"/>
                </a:solidFill>
                <a:ea typeface="经典细隶书简" pitchFamily="49" charset="-122"/>
              </a:rPr>
              <a:t>7.3.1  </a:t>
            </a:r>
            <a:r>
              <a:rPr lang="zh-CN" altLang="en-US" sz="4400" dirty="0">
                <a:solidFill>
                  <a:schemeClr val="accent2"/>
                </a:solidFill>
                <a:ea typeface="经典细隶书简" pitchFamily="49" charset="-122"/>
              </a:rPr>
              <a:t>概念结构设计概述</a:t>
            </a:r>
            <a:endParaRPr lang="zh-CN" altLang="en-US" sz="4400" dirty="0">
              <a:solidFill>
                <a:schemeClr val="accent2"/>
              </a:solidFill>
              <a:ea typeface="经典细隶书简" pitchFamily="49" charset="-122"/>
            </a:endParaRPr>
          </a:p>
        </p:txBody>
      </p:sp>
      <p:sp>
        <p:nvSpPr>
          <p:cNvPr id="56325" name="Rectangle 12"/>
          <p:cNvSpPr/>
          <p:nvPr/>
        </p:nvSpPr>
        <p:spPr>
          <a:xfrm>
            <a:off x="457200" y="838200"/>
            <a:ext cx="7772400" cy="18288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342900" lvl="0" indent="-342900" eaLnBrk="1" hangingPunct="1"/>
            <a:r>
              <a:rPr lang="zh-CN" altLang="en-US" dirty="0">
                <a:solidFill>
                  <a:schemeClr val="tx1"/>
                </a:solidFill>
              </a:rPr>
              <a:t>概念模型的特点</a:t>
            </a:r>
            <a:endParaRPr lang="zh-CN" altLang="en-US" dirty="0">
              <a:solidFill>
                <a:schemeClr val="tx1"/>
              </a:solidFill>
            </a:endParaRPr>
          </a:p>
          <a:p>
            <a:pPr marL="742950" lvl="1" indent="-285750" eaLnBrk="1" hangingPunct="1">
              <a:lnSpc>
                <a:spcPct val="180000"/>
              </a:lnSpc>
            </a:pPr>
            <a:r>
              <a:rPr lang="en-US" altLang="zh-CN" dirty="0"/>
              <a:t>E-R</a:t>
            </a:r>
            <a:r>
              <a:rPr lang="zh-CN" altLang="en-US" dirty="0"/>
              <a:t>模型能真实、充分地反映现实世界</a:t>
            </a:r>
            <a:endParaRPr lang="en-US" altLang="zh-CN" dirty="0"/>
          </a:p>
          <a:p>
            <a:pPr marL="742950" lvl="1" indent="-285750" eaLnBrk="1" hangingPunct="1">
              <a:lnSpc>
                <a:spcPct val="180000"/>
              </a:lnSpc>
            </a:pPr>
            <a:r>
              <a:rPr lang="zh-CN" altLang="en-US" dirty="0"/>
              <a:t>易于理解，小白客户能看懂</a:t>
            </a:r>
            <a:endParaRPr lang="en-US" altLang="zh-CN" dirty="0"/>
          </a:p>
          <a:p>
            <a:pPr marL="742950" lvl="1" indent="-285750" eaLnBrk="1" hangingPunct="1">
              <a:lnSpc>
                <a:spcPct val="180000"/>
              </a:lnSpc>
            </a:pPr>
            <a:r>
              <a:rPr lang="zh-CN" altLang="en-US" dirty="0"/>
              <a:t>易于更改，特别是应用需求改变</a:t>
            </a:r>
            <a:endParaRPr lang="en-US" altLang="zh-CN" dirty="0"/>
          </a:p>
          <a:p>
            <a:pPr marL="742950" lvl="1" indent="-285750" eaLnBrk="1" hangingPunct="1">
              <a:lnSpc>
                <a:spcPct val="180000"/>
              </a:lnSpc>
            </a:pPr>
            <a:r>
              <a:rPr lang="zh-CN" altLang="en-US" dirty="0"/>
              <a:t>基于向关系、网状、层次等数据模型转换</a:t>
            </a:r>
            <a:endParaRPr lang="zh-CN" alt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页脚占位符 2"/>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57347" name="Rectangle 2"/>
          <p:cNvSpPr/>
          <p:nvPr/>
        </p:nvSpPr>
        <p:spPr>
          <a:xfrm>
            <a:off x="381000" y="1066800"/>
            <a:ext cx="8534400" cy="7620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342900" lvl="0" indent="-342900" algn="just" eaLnBrk="1" hangingPunct="1"/>
            <a:endParaRPr lang="en-US" altLang="en-US" dirty="0">
              <a:solidFill>
                <a:schemeClr val="tx1"/>
              </a:solidFill>
              <a:latin typeface="宋体" panose="02010600030101010101" pitchFamily="2" charset="-122"/>
            </a:endParaRPr>
          </a:p>
        </p:txBody>
      </p:sp>
      <p:sp>
        <p:nvSpPr>
          <p:cNvPr id="57348" name="Rectangle 3"/>
          <p:cNvSpPr/>
          <p:nvPr/>
        </p:nvSpPr>
        <p:spPr>
          <a:xfrm>
            <a:off x="939800" y="12700"/>
            <a:ext cx="7772400" cy="60960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eaLnBrk="1" hangingPunct="1">
              <a:spcBef>
                <a:spcPct val="0"/>
              </a:spcBef>
              <a:buClrTx/>
              <a:buFontTx/>
              <a:buNone/>
            </a:pPr>
            <a:r>
              <a:rPr lang="en-US" altLang="zh-CN" sz="4400" dirty="0">
                <a:solidFill>
                  <a:schemeClr val="accent2"/>
                </a:solidFill>
                <a:ea typeface="经典细隶书简" pitchFamily="49" charset="-122"/>
              </a:rPr>
              <a:t>7.3.1  </a:t>
            </a:r>
            <a:r>
              <a:rPr lang="zh-CN" altLang="en-US" sz="4400" dirty="0">
                <a:solidFill>
                  <a:schemeClr val="accent2"/>
                </a:solidFill>
                <a:ea typeface="经典细隶书简" pitchFamily="49" charset="-122"/>
              </a:rPr>
              <a:t>概念结构设计概述</a:t>
            </a:r>
            <a:endParaRPr lang="zh-CN" altLang="en-US" sz="4400" dirty="0">
              <a:solidFill>
                <a:schemeClr val="accent2"/>
              </a:solidFill>
              <a:ea typeface="经典细隶书简" pitchFamily="49" charset="-122"/>
            </a:endParaRPr>
          </a:p>
        </p:txBody>
      </p:sp>
      <p:grpSp>
        <p:nvGrpSpPr>
          <p:cNvPr id="57349" name="Group 4"/>
          <p:cNvGrpSpPr/>
          <p:nvPr/>
        </p:nvGrpSpPr>
        <p:grpSpPr>
          <a:xfrm>
            <a:off x="1663700" y="3113088"/>
            <a:ext cx="5867400" cy="3124200"/>
            <a:chOff x="2400" y="6840"/>
            <a:chExt cx="4440" cy="2760"/>
          </a:xfrm>
        </p:grpSpPr>
        <p:sp>
          <p:nvSpPr>
            <p:cNvPr id="57351" name="Text Box 5"/>
            <p:cNvSpPr txBox="1"/>
            <p:nvPr/>
          </p:nvSpPr>
          <p:spPr>
            <a:xfrm>
              <a:off x="2400" y="6840"/>
              <a:ext cx="1440" cy="600"/>
            </a:xfrm>
            <a:prstGeom prst="rect">
              <a:avLst/>
            </a:prstGeom>
            <a:no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a:spcBef>
                  <a:spcPct val="0"/>
                </a:spcBef>
                <a:buClrTx/>
                <a:buFontTx/>
                <a:buNone/>
              </a:pPr>
              <a:r>
                <a:rPr lang="zh-CN" altLang="en-US" sz="2800" dirty="0">
                  <a:solidFill>
                    <a:schemeClr val="tx1"/>
                  </a:solidFill>
                </a:rPr>
                <a:t>现实世界</a:t>
              </a:r>
              <a:endParaRPr lang="zh-CN" altLang="en-US" sz="2800" dirty="0">
                <a:solidFill>
                  <a:schemeClr val="tx1"/>
                </a:solidFill>
              </a:endParaRPr>
            </a:p>
          </p:txBody>
        </p:sp>
        <p:sp>
          <p:nvSpPr>
            <p:cNvPr id="57352" name="Text Box 6"/>
            <p:cNvSpPr txBox="1"/>
            <p:nvPr/>
          </p:nvSpPr>
          <p:spPr>
            <a:xfrm>
              <a:off x="2400" y="9000"/>
              <a:ext cx="1440" cy="600"/>
            </a:xfrm>
            <a:prstGeom prst="rect">
              <a:avLst/>
            </a:prstGeom>
            <a:no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a:spcBef>
                  <a:spcPct val="0"/>
                </a:spcBef>
                <a:buClrTx/>
                <a:buFontTx/>
                <a:buNone/>
              </a:pPr>
              <a:r>
                <a:rPr lang="zh-CN" altLang="en-US" sz="2800" dirty="0">
                  <a:solidFill>
                    <a:schemeClr val="tx1"/>
                  </a:solidFill>
                </a:rPr>
                <a:t>机器世界</a:t>
              </a:r>
              <a:endParaRPr lang="zh-CN" altLang="en-US" sz="2400" b="0" dirty="0">
                <a:solidFill>
                  <a:schemeClr val="tx1"/>
                </a:solidFill>
              </a:endParaRPr>
            </a:p>
          </p:txBody>
        </p:sp>
        <p:sp>
          <p:nvSpPr>
            <p:cNvPr id="57353" name="Text Box 7"/>
            <p:cNvSpPr txBox="1"/>
            <p:nvPr/>
          </p:nvSpPr>
          <p:spPr>
            <a:xfrm>
              <a:off x="2400" y="7920"/>
              <a:ext cx="1440" cy="600"/>
            </a:xfrm>
            <a:prstGeom prst="rect">
              <a:avLst/>
            </a:prstGeom>
            <a:no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a:spcBef>
                  <a:spcPct val="0"/>
                </a:spcBef>
                <a:buClrTx/>
                <a:buFontTx/>
                <a:buNone/>
              </a:pPr>
              <a:r>
                <a:rPr lang="zh-CN" altLang="en-US" sz="2800" dirty="0">
                  <a:solidFill>
                    <a:schemeClr val="tx1"/>
                  </a:solidFill>
                </a:rPr>
                <a:t>信息世界</a:t>
              </a:r>
              <a:endParaRPr lang="zh-CN" altLang="en-US" sz="2400" b="0" dirty="0">
                <a:solidFill>
                  <a:schemeClr val="tx1"/>
                </a:solidFill>
              </a:endParaRPr>
            </a:p>
          </p:txBody>
        </p:sp>
        <p:sp>
          <p:nvSpPr>
            <p:cNvPr id="57354" name="Line 8"/>
            <p:cNvSpPr/>
            <p:nvPr/>
          </p:nvSpPr>
          <p:spPr>
            <a:xfrm>
              <a:off x="3000" y="7440"/>
              <a:ext cx="0" cy="480"/>
            </a:xfrm>
            <a:prstGeom prst="line">
              <a:avLst/>
            </a:prstGeom>
            <a:ln w="9525" cap="flat" cmpd="sng">
              <a:solidFill>
                <a:srgbClr val="000000"/>
              </a:solidFill>
              <a:prstDash val="solid"/>
              <a:headEnd type="none" w="med" len="med"/>
              <a:tailEnd type="triangle" w="med" len="med"/>
            </a:ln>
          </p:spPr>
        </p:sp>
        <p:sp>
          <p:nvSpPr>
            <p:cNvPr id="57355" name="Line 9"/>
            <p:cNvSpPr/>
            <p:nvPr/>
          </p:nvSpPr>
          <p:spPr>
            <a:xfrm>
              <a:off x="3000" y="8520"/>
              <a:ext cx="0" cy="480"/>
            </a:xfrm>
            <a:prstGeom prst="line">
              <a:avLst/>
            </a:prstGeom>
            <a:ln w="9525" cap="flat" cmpd="sng">
              <a:solidFill>
                <a:srgbClr val="000000"/>
              </a:solidFill>
              <a:prstDash val="solid"/>
              <a:headEnd type="none" w="med" len="med"/>
              <a:tailEnd type="triangle" w="med" len="med"/>
            </a:ln>
          </p:spPr>
        </p:sp>
        <p:sp>
          <p:nvSpPr>
            <p:cNvPr id="57356" name="Text Box 10"/>
            <p:cNvSpPr txBox="1"/>
            <p:nvPr/>
          </p:nvSpPr>
          <p:spPr>
            <a:xfrm>
              <a:off x="4800" y="6840"/>
              <a:ext cx="1320" cy="48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just">
                <a:spcBef>
                  <a:spcPct val="0"/>
                </a:spcBef>
                <a:buClrTx/>
                <a:buFontTx/>
                <a:buNone/>
              </a:pPr>
              <a:r>
                <a:rPr lang="zh-CN" altLang="en-US" sz="2800" dirty="0">
                  <a:solidFill>
                    <a:schemeClr val="tx1"/>
                  </a:solidFill>
                </a:rPr>
                <a:t>需求分析</a:t>
              </a:r>
              <a:endParaRPr lang="zh-CN" altLang="en-US" sz="2400" dirty="0">
                <a:solidFill>
                  <a:schemeClr val="tx1"/>
                </a:solidFill>
              </a:endParaRPr>
            </a:p>
          </p:txBody>
        </p:sp>
        <p:sp>
          <p:nvSpPr>
            <p:cNvPr id="57357" name="Text Box 11"/>
            <p:cNvSpPr txBox="1"/>
            <p:nvPr/>
          </p:nvSpPr>
          <p:spPr>
            <a:xfrm>
              <a:off x="4800" y="7920"/>
              <a:ext cx="2040" cy="48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just">
                <a:spcBef>
                  <a:spcPct val="0"/>
                </a:spcBef>
                <a:buClrTx/>
                <a:buFontTx/>
                <a:buNone/>
              </a:pPr>
              <a:r>
                <a:rPr lang="zh-CN" altLang="en-US" sz="2800" dirty="0">
                  <a:solidFill>
                    <a:schemeClr val="tx1"/>
                  </a:solidFill>
                </a:rPr>
                <a:t>概念结构设计</a:t>
              </a:r>
              <a:endParaRPr lang="zh-CN" altLang="en-US" sz="2400" dirty="0">
                <a:solidFill>
                  <a:schemeClr val="tx1"/>
                </a:solidFill>
              </a:endParaRPr>
            </a:p>
          </p:txBody>
        </p:sp>
      </p:grpSp>
      <p:sp>
        <p:nvSpPr>
          <p:cNvPr id="57350" name="Rectangle 12"/>
          <p:cNvSpPr/>
          <p:nvPr/>
        </p:nvSpPr>
        <p:spPr>
          <a:xfrm>
            <a:off x="457200" y="838200"/>
            <a:ext cx="7772400" cy="18288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342900" lvl="0" indent="-342900" eaLnBrk="1" hangingPunct="1"/>
            <a:r>
              <a:rPr lang="zh-CN" altLang="en-US" dirty="0">
                <a:solidFill>
                  <a:schemeClr val="tx1"/>
                </a:solidFill>
              </a:rPr>
              <a:t>描述概念模型的工具</a:t>
            </a:r>
            <a:endParaRPr lang="zh-CN" altLang="en-US" dirty="0">
              <a:solidFill>
                <a:schemeClr val="tx1"/>
              </a:solidFill>
            </a:endParaRPr>
          </a:p>
          <a:p>
            <a:pPr marL="742950" lvl="1" indent="-285750" eaLnBrk="1" hangingPunct="1">
              <a:lnSpc>
                <a:spcPct val="180000"/>
              </a:lnSpc>
            </a:pPr>
            <a:r>
              <a:rPr lang="en-US" altLang="zh-CN" dirty="0"/>
              <a:t>E-R</a:t>
            </a:r>
            <a:r>
              <a:rPr lang="zh-CN" altLang="en-US" dirty="0"/>
              <a:t>模型：由</a:t>
            </a:r>
            <a:r>
              <a:rPr lang="en-US" altLang="zh-CN" dirty="0"/>
              <a:t>P.P.S. Chen</a:t>
            </a:r>
            <a:r>
              <a:rPr lang="zh-CN" altLang="en-US" dirty="0"/>
              <a:t>提出，用</a:t>
            </a:r>
            <a:r>
              <a:rPr lang="en-US" altLang="zh-CN" dirty="0"/>
              <a:t>E-R</a:t>
            </a:r>
            <a:r>
              <a:rPr lang="zh-CN" altLang="en-US" dirty="0"/>
              <a:t>图来描述现实世界的概念模型。</a:t>
            </a:r>
            <a:endParaRPr lang="zh-CN" alt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页脚占位符 2"/>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58371" name="Rectangle 2"/>
          <p:cNvSpPr/>
          <p:nvPr/>
        </p:nvSpPr>
        <p:spPr>
          <a:xfrm>
            <a:off x="1371600" y="1600200"/>
            <a:ext cx="7162800" cy="44196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342900" lvl="0" indent="-342900" eaLnBrk="1" hangingPunct="1">
              <a:lnSpc>
                <a:spcPct val="140000"/>
              </a:lnSpc>
              <a:buClr>
                <a:schemeClr val="folHlink"/>
              </a:buClr>
              <a:buSzPct val="60000"/>
              <a:buNone/>
            </a:pPr>
            <a:r>
              <a:rPr lang="en-US" altLang="zh-CN" dirty="0">
                <a:solidFill>
                  <a:schemeClr val="tx1"/>
                </a:solidFill>
              </a:rPr>
              <a:t>7.3.1  </a:t>
            </a:r>
            <a:r>
              <a:rPr lang="zh-CN" altLang="en-US" dirty="0">
                <a:solidFill>
                  <a:schemeClr val="tx1"/>
                </a:solidFill>
              </a:rPr>
              <a:t>概念结构设计概述</a:t>
            </a:r>
            <a:endParaRPr lang="zh-CN" altLang="en-US" dirty="0">
              <a:solidFill>
                <a:schemeClr val="tx1"/>
              </a:solidFill>
            </a:endParaRPr>
          </a:p>
          <a:p>
            <a:pPr marL="342900" lvl="0" indent="-342900" eaLnBrk="1" hangingPunct="1">
              <a:lnSpc>
                <a:spcPct val="140000"/>
              </a:lnSpc>
              <a:buClr>
                <a:schemeClr val="folHlink"/>
              </a:buClr>
              <a:buSzPct val="60000"/>
              <a:buNone/>
            </a:pPr>
            <a:r>
              <a:rPr lang="en-US" altLang="zh-CN" dirty="0"/>
              <a:t>7.3.2  </a:t>
            </a:r>
            <a:r>
              <a:rPr lang="zh-CN" altLang="en-US" dirty="0"/>
              <a:t>概念结构设计的方法与步骤</a:t>
            </a:r>
            <a:endParaRPr lang="zh-CN" altLang="en-US" dirty="0"/>
          </a:p>
          <a:p>
            <a:pPr marL="342900" lvl="0" indent="-342900" eaLnBrk="1" hangingPunct="1">
              <a:lnSpc>
                <a:spcPct val="140000"/>
              </a:lnSpc>
              <a:buClr>
                <a:schemeClr val="folHlink"/>
              </a:buClr>
              <a:buSzPct val="60000"/>
              <a:buNone/>
            </a:pPr>
            <a:r>
              <a:rPr lang="en-US" altLang="zh-CN" dirty="0">
                <a:solidFill>
                  <a:schemeClr val="tx1"/>
                </a:solidFill>
              </a:rPr>
              <a:t>7.3.3  </a:t>
            </a:r>
            <a:r>
              <a:rPr lang="zh-CN" altLang="en-US" dirty="0">
                <a:solidFill>
                  <a:schemeClr val="tx1"/>
                </a:solidFill>
              </a:rPr>
              <a:t>数据抽象与局部视图设计</a:t>
            </a:r>
            <a:endParaRPr lang="zh-CN" altLang="en-US" dirty="0">
              <a:solidFill>
                <a:schemeClr val="tx1"/>
              </a:solidFill>
            </a:endParaRPr>
          </a:p>
          <a:p>
            <a:pPr marL="342900" lvl="0" indent="-342900" eaLnBrk="1" hangingPunct="1">
              <a:lnSpc>
                <a:spcPct val="140000"/>
              </a:lnSpc>
              <a:buClr>
                <a:schemeClr val="folHlink"/>
              </a:buClr>
              <a:buSzPct val="60000"/>
              <a:buNone/>
            </a:pPr>
            <a:r>
              <a:rPr lang="en-US" altLang="zh-CN" dirty="0">
                <a:solidFill>
                  <a:schemeClr val="tx1"/>
                </a:solidFill>
              </a:rPr>
              <a:t>7.3.4  </a:t>
            </a:r>
            <a:r>
              <a:rPr lang="zh-CN" altLang="en-US" dirty="0">
                <a:solidFill>
                  <a:schemeClr val="tx1"/>
                </a:solidFill>
              </a:rPr>
              <a:t>视图的集成</a:t>
            </a:r>
            <a:endParaRPr lang="zh-CN" altLang="en-US" dirty="0"/>
          </a:p>
        </p:txBody>
      </p:sp>
      <p:sp>
        <p:nvSpPr>
          <p:cNvPr id="58372" name="Rectangle 3"/>
          <p:cNvSpPr/>
          <p:nvPr/>
        </p:nvSpPr>
        <p:spPr>
          <a:xfrm>
            <a:off x="685800" y="152400"/>
            <a:ext cx="7772400" cy="114300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eaLnBrk="1" hangingPunct="1">
              <a:spcBef>
                <a:spcPct val="0"/>
              </a:spcBef>
              <a:buClrTx/>
              <a:buFontTx/>
              <a:buNone/>
            </a:pPr>
            <a:r>
              <a:rPr lang="en-US" altLang="zh-CN" sz="4400" dirty="0">
                <a:solidFill>
                  <a:schemeClr val="accent2"/>
                </a:solidFill>
                <a:ea typeface="经典细隶书简" pitchFamily="49" charset="-122"/>
              </a:rPr>
              <a:t>7.3  </a:t>
            </a:r>
            <a:r>
              <a:rPr lang="zh-CN" altLang="en-US" sz="4400" dirty="0">
                <a:solidFill>
                  <a:schemeClr val="accent2"/>
                </a:solidFill>
                <a:ea typeface="经典细隶书简" pitchFamily="49" charset="-122"/>
              </a:rPr>
              <a:t>概念结构设计</a:t>
            </a:r>
            <a:endParaRPr lang="zh-CN" altLang="en-US" sz="4400" dirty="0">
              <a:solidFill>
                <a:schemeClr val="accent2"/>
              </a:solidFill>
              <a:ea typeface="经典细隶书简" pitchFamily="49" charset="-122"/>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页脚占位符 2"/>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59395" name="Rectangle 2"/>
          <p:cNvSpPr/>
          <p:nvPr/>
        </p:nvSpPr>
        <p:spPr>
          <a:xfrm>
            <a:off x="304800" y="762000"/>
            <a:ext cx="8534400" cy="57150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342900" lvl="0" indent="-342900" eaLnBrk="1" hangingPunct="1">
              <a:lnSpc>
                <a:spcPct val="110000"/>
              </a:lnSpc>
            </a:pPr>
            <a:r>
              <a:rPr lang="zh-CN" altLang="en-US" dirty="0">
                <a:solidFill>
                  <a:schemeClr val="tx1"/>
                </a:solidFill>
                <a:latin typeface="宋体" panose="02010600030101010101" pitchFamily="2" charset="-122"/>
              </a:rPr>
              <a:t>设计概念结构的</a:t>
            </a:r>
            <a:r>
              <a:rPr lang="en-US" altLang="zh-CN" dirty="0">
                <a:solidFill>
                  <a:schemeClr val="tx1"/>
                </a:solidFill>
                <a:latin typeface="宋体" panose="02010600030101010101" pitchFamily="2" charset="-122"/>
                <a:cs typeface="Times New Roman" panose="02020603050405020304" pitchFamily="18" charset="0"/>
              </a:rPr>
              <a:t>E-R</a:t>
            </a:r>
            <a:r>
              <a:rPr lang="zh-CN" altLang="en-US" dirty="0">
                <a:solidFill>
                  <a:schemeClr val="tx1"/>
                </a:solidFill>
                <a:latin typeface="宋体" panose="02010600030101010101" pitchFamily="2" charset="-122"/>
              </a:rPr>
              <a:t>模型可采用四种方法</a:t>
            </a:r>
            <a:endParaRPr lang="zh-CN" altLang="en-US" dirty="0">
              <a:solidFill>
                <a:schemeClr val="tx1"/>
              </a:solidFill>
            </a:endParaRPr>
          </a:p>
          <a:p>
            <a:pPr marL="342900" lvl="0" indent="-342900" eaLnBrk="1" hangingPunct="1">
              <a:lnSpc>
                <a:spcPct val="110000"/>
              </a:lnSpc>
              <a:buClr>
                <a:srgbClr val="0000CC"/>
              </a:buClr>
            </a:pPr>
            <a:r>
              <a:rPr lang="zh-CN" altLang="en-US" sz="2800" dirty="0">
                <a:solidFill>
                  <a:schemeClr val="tx1"/>
                </a:solidFill>
                <a:latin typeface="宋体" panose="02010600030101010101" pitchFamily="2" charset="-122"/>
              </a:rPr>
              <a:t>自顶向下</a:t>
            </a:r>
            <a:r>
              <a:rPr lang="en-US" altLang="zh-CN" sz="2800" dirty="0">
                <a:solidFill>
                  <a:schemeClr val="tx1"/>
                </a:solidFill>
                <a:latin typeface="宋体" panose="02010600030101010101" pitchFamily="2" charset="-122"/>
              </a:rPr>
              <a:t>(</a:t>
            </a:r>
            <a:r>
              <a:rPr lang="zh-CN" altLang="en-US" sz="2800" dirty="0">
                <a:solidFill>
                  <a:schemeClr val="tx1"/>
                </a:solidFill>
                <a:latin typeface="宋体" panose="02010600030101010101" pitchFamily="2" charset="-122"/>
              </a:rPr>
              <a:t>先全局，再细化</a:t>
            </a:r>
            <a:r>
              <a:rPr lang="en-US" altLang="zh-CN" sz="2800" dirty="0">
                <a:solidFill>
                  <a:schemeClr val="tx1"/>
                </a:solidFill>
                <a:latin typeface="宋体" panose="02010600030101010101" pitchFamily="2" charset="-122"/>
              </a:rPr>
              <a:t>)</a:t>
            </a:r>
            <a:endParaRPr lang="en-US" altLang="zh-CN" sz="2800" dirty="0">
              <a:solidFill>
                <a:schemeClr val="tx1"/>
              </a:solidFill>
              <a:latin typeface="宋体" panose="02010600030101010101" pitchFamily="2" charset="-122"/>
            </a:endParaRPr>
          </a:p>
          <a:p>
            <a:pPr marL="342900" lvl="0" indent="-342900" eaLnBrk="1" hangingPunct="1">
              <a:lnSpc>
                <a:spcPct val="110000"/>
              </a:lnSpc>
              <a:buClr>
                <a:srgbClr val="0000CC"/>
              </a:buClr>
            </a:pPr>
            <a:r>
              <a:rPr lang="zh-CN" altLang="en-US" sz="2800" dirty="0">
                <a:solidFill>
                  <a:schemeClr val="tx1"/>
                </a:solidFill>
                <a:latin typeface="宋体" panose="02010600030101010101" pitchFamily="2" charset="-122"/>
              </a:rPr>
              <a:t>自底向上</a:t>
            </a:r>
            <a:r>
              <a:rPr lang="en-US" altLang="zh-CN" sz="2800" dirty="0">
                <a:solidFill>
                  <a:schemeClr val="tx1"/>
                </a:solidFill>
                <a:latin typeface="宋体" panose="02010600030101010101" pitchFamily="2" charset="-122"/>
              </a:rPr>
              <a:t>(</a:t>
            </a:r>
            <a:r>
              <a:rPr lang="zh-CN" altLang="en-US" sz="2800" dirty="0">
                <a:solidFill>
                  <a:schemeClr val="tx1"/>
                </a:solidFill>
                <a:latin typeface="宋体" panose="02010600030101010101" pitchFamily="2" charset="-122"/>
              </a:rPr>
              <a:t>先局部，再集成</a:t>
            </a:r>
            <a:r>
              <a:rPr lang="en-US" altLang="zh-CN" sz="2800" dirty="0">
                <a:solidFill>
                  <a:schemeClr val="tx1"/>
                </a:solidFill>
                <a:latin typeface="宋体" panose="02010600030101010101" pitchFamily="2" charset="-122"/>
              </a:rPr>
              <a:t>)</a:t>
            </a:r>
            <a:endParaRPr lang="en-US" altLang="zh-CN" sz="2800" dirty="0">
              <a:solidFill>
                <a:schemeClr val="tx1"/>
              </a:solidFill>
              <a:latin typeface="宋体" panose="02010600030101010101" pitchFamily="2" charset="-122"/>
            </a:endParaRPr>
          </a:p>
          <a:p>
            <a:pPr marL="342900" lvl="0" indent="-342900" eaLnBrk="1" hangingPunct="1">
              <a:lnSpc>
                <a:spcPct val="110000"/>
              </a:lnSpc>
              <a:buClr>
                <a:srgbClr val="0000CC"/>
              </a:buClr>
            </a:pPr>
            <a:r>
              <a:rPr lang="zh-CN" altLang="en-US" sz="2800" dirty="0">
                <a:solidFill>
                  <a:schemeClr val="tx1"/>
                </a:solidFill>
                <a:latin typeface="宋体" panose="02010600030101010101" pitchFamily="2" charset="-122"/>
              </a:rPr>
              <a:t>逐步扩张</a:t>
            </a:r>
            <a:r>
              <a:rPr lang="en-US" altLang="zh-CN" sz="2800" dirty="0">
                <a:solidFill>
                  <a:schemeClr val="tx1"/>
                </a:solidFill>
                <a:latin typeface="宋体" panose="02010600030101010101" pitchFamily="2" charset="-122"/>
              </a:rPr>
              <a:t>(</a:t>
            </a:r>
            <a:r>
              <a:rPr lang="zh-CN" altLang="en-US" sz="2800" dirty="0">
                <a:solidFill>
                  <a:schemeClr val="tx1"/>
                </a:solidFill>
                <a:latin typeface="宋体" panose="02010600030101010101" pitchFamily="2" charset="-122"/>
              </a:rPr>
              <a:t>先定义最重要的核心概念</a:t>
            </a:r>
            <a:r>
              <a:rPr lang="en-US" altLang="zh-CN" sz="2800" dirty="0">
                <a:solidFill>
                  <a:schemeClr val="tx1"/>
                </a:solidFill>
                <a:latin typeface="宋体" panose="02010600030101010101" pitchFamily="2" charset="-122"/>
                <a:cs typeface="Times New Roman" panose="02020603050405020304" pitchFamily="18" charset="0"/>
              </a:rPr>
              <a:t>E-R</a:t>
            </a:r>
            <a:r>
              <a:rPr lang="zh-CN" altLang="en-US" sz="2800" dirty="0">
                <a:solidFill>
                  <a:schemeClr val="tx1"/>
                </a:solidFill>
                <a:latin typeface="宋体" panose="02010600030101010101" pitchFamily="2" charset="-122"/>
              </a:rPr>
              <a:t>模型，然后向外扩充，以滚雪球的方式逐步生成其他概念结构</a:t>
            </a:r>
            <a:r>
              <a:rPr lang="en-US" altLang="zh-CN" sz="2800" dirty="0">
                <a:solidFill>
                  <a:schemeClr val="tx1"/>
                </a:solidFill>
                <a:latin typeface="宋体" panose="02010600030101010101" pitchFamily="2" charset="-122"/>
                <a:cs typeface="Times New Roman" panose="02020603050405020304" pitchFamily="18" charset="0"/>
              </a:rPr>
              <a:t>E-R</a:t>
            </a:r>
            <a:r>
              <a:rPr lang="zh-CN" altLang="en-US" sz="2800" dirty="0">
                <a:solidFill>
                  <a:schemeClr val="tx1"/>
                </a:solidFill>
                <a:latin typeface="宋体" panose="02010600030101010101" pitchFamily="2" charset="-122"/>
              </a:rPr>
              <a:t>模型</a:t>
            </a:r>
            <a:r>
              <a:rPr lang="en-US" altLang="zh-CN" sz="2800" dirty="0">
                <a:solidFill>
                  <a:schemeClr val="tx1"/>
                </a:solidFill>
                <a:latin typeface="宋体" panose="02010600030101010101" pitchFamily="2" charset="-122"/>
              </a:rPr>
              <a:t>)</a:t>
            </a:r>
            <a:endParaRPr lang="en-US" altLang="zh-CN" sz="2800" dirty="0">
              <a:solidFill>
                <a:schemeClr val="tx1"/>
              </a:solidFill>
              <a:latin typeface="宋体" panose="02010600030101010101" pitchFamily="2" charset="-122"/>
            </a:endParaRPr>
          </a:p>
          <a:p>
            <a:pPr marL="342900" lvl="0" indent="-342900" eaLnBrk="1" hangingPunct="1">
              <a:lnSpc>
                <a:spcPct val="110000"/>
              </a:lnSpc>
              <a:buClr>
                <a:srgbClr val="0000CC"/>
              </a:buClr>
            </a:pPr>
            <a:r>
              <a:rPr lang="zh-CN" altLang="en-US" sz="2800" dirty="0">
                <a:solidFill>
                  <a:schemeClr val="tx1"/>
                </a:solidFill>
                <a:latin typeface="宋体" panose="02010600030101010101" pitchFamily="2" charset="-122"/>
              </a:rPr>
              <a:t>混合策略。该方法采用自顶向下和自底向上相结合的方法，先自顶向下定义全局框架，再以它为骨架集成自底向上方法中设计的各个局部概念结构</a:t>
            </a:r>
            <a:endParaRPr lang="zh-CN" altLang="en-US" sz="2800" dirty="0">
              <a:solidFill>
                <a:schemeClr val="tx1"/>
              </a:solidFill>
              <a:latin typeface="宋体" panose="02010600030101010101" pitchFamily="2" charset="-122"/>
            </a:endParaRPr>
          </a:p>
        </p:txBody>
      </p:sp>
      <p:sp>
        <p:nvSpPr>
          <p:cNvPr id="59396" name="Rectangle 3"/>
          <p:cNvSpPr/>
          <p:nvPr/>
        </p:nvSpPr>
        <p:spPr>
          <a:xfrm>
            <a:off x="787400" y="12700"/>
            <a:ext cx="8305800" cy="60960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eaLnBrk="1" hangingPunct="1">
              <a:spcBef>
                <a:spcPct val="0"/>
              </a:spcBef>
              <a:buClrTx/>
              <a:buFontTx/>
              <a:buNone/>
            </a:pPr>
            <a:r>
              <a:rPr lang="en-US" altLang="zh-CN" sz="4400" dirty="0">
                <a:solidFill>
                  <a:schemeClr val="accent2"/>
                </a:solidFill>
                <a:ea typeface="经典细隶书简" pitchFamily="49" charset="-122"/>
              </a:rPr>
              <a:t>7.3.2  </a:t>
            </a:r>
            <a:r>
              <a:rPr lang="zh-CN" altLang="en-US" sz="4400" dirty="0">
                <a:solidFill>
                  <a:schemeClr val="accent2"/>
                </a:solidFill>
                <a:ea typeface="经典细隶书简" pitchFamily="49" charset="-122"/>
              </a:rPr>
              <a:t>概念结构设计</a:t>
            </a:r>
            <a:r>
              <a:rPr lang="en-US" altLang="zh-CN" sz="4400" dirty="0">
                <a:solidFill>
                  <a:schemeClr val="accent2"/>
                </a:solidFill>
                <a:ea typeface="经典细隶书简" pitchFamily="49" charset="-122"/>
              </a:rPr>
              <a:t>:</a:t>
            </a:r>
            <a:r>
              <a:rPr lang="zh-CN" altLang="en-US" sz="4400" dirty="0">
                <a:solidFill>
                  <a:schemeClr val="accent2"/>
                </a:solidFill>
                <a:ea typeface="经典细隶书简" pitchFamily="49" charset="-122"/>
              </a:rPr>
              <a:t>方法与步骤</a:t>
            </a:r>
            <a:endParaRPr lang="zh-CN" altLang="en-US" sz="4400" dirty="0">
              <a:solidFill>
                <a:schemeClr val="accent2"/>
              </a:solidFill>
              <a:ea typeface="经典细隶书简" pitchFamily="49" charset="-122"/>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页脚占位符 2"/>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60419" name="Rectangle 2"/>
          <p:cNvSpPr/>
          <p:nvPr/>
        </p:nvSpPr>
        <p:spPr>
          <a:xfrm>
            <a:off x="1371600" y="1600200"/>
            <a:ext cx="7162800" cy="44196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342900" lvl="0" indent="-342900" eaLnBrk="1" hangingPunct="1">
              <a:lnSpc>
                <a:spcPct val="140000"/>
              </a:lnSpc>
              <a:buClr>
                <a:schemeClr val="folHlink"/>
              </a:buClr>
              <a:buSzPct val="60000"/>
              <a:buNone/>
            </a:pPr>
            <a:r>
              <a:rPr lang="en-US" altLang="zh-CN" dirty="0">
                <a:solidFill>
                  <a:schemeClr val="tx1"/>
                </a:solidFill>
              </a:rPr>
              <a:t>7.3.1  </a:t>
            </a:r>
            <a:r>
              <a:rPr lang="zh-CN" altLang="en-US" dirty="0">
                <a:solidFill>
                  <a:schemeClr val="tx1"/>
                </a:solidFill>
              </a:rPr>
              <a:t>概念结构设计概述</a:t>
            </a:r>
            <a:endParaRPr lang="zh-CN" altLang="en-US" dirty="0">
              <a:solidFill>
                <a:schemeClr val="tx1"/>
              </a:solidFill>
            </a:endParaRPr>
          </a:p>
          <a:p>
            <a:pPr marL="342900" lvl="0" indent="-342900" eaLnBrk="1" hangingPunct="1">
              <a:lnSpc>
                <a:spcPct val="140000"/>
              </a:lnSpc>
              <a:buClr>
                <a:schemeClr val="folHlink"/>
              </a:buClr>
              <a:buSzPct val="60000"/>
              <a:buNone/>
            </a:pPr>
            <a:r>
              <a:rPr lang="en-US" altLang="zh-CN" dirty="0">
                <a:solidFill>
                  <a:schemeClr val="tx1"/>
                </a:solidFill>
              </a:rPr>
              <a:t>7.3.2  </a:t>
            </a:r>
            <a:r>
              <a:rPr lang="zh-CN" altLang="en-US" dirty="0">
                <a:solidFill>
                  <a:schemeClr val="tx1"/>
                </a:solidFill>
              </a:rPr>
              <a:t>概念结构设计的方法与步骤</a:t>
            </a:r>
            <a:endParaRPr lang="zh-CN" altLang="en-US" dirty="0">
              <a:solidFill>
                <a:schemeClr val="tx1"/>
              </a:solidFill>
            </a:endParaRPr>
          </a:p>
          <a:p>
            <a:pPr marL="342900" lvl="0" indent="-342900" eaLnBrk="1" hangingPunct="1">
              <a:lnSpc>
                <a:spcPct val="140000"/>
              </a:lnSpc>
              <a:buClr>
                <a:schemeClr val="folHlink"/>
              </a:buClr>
              <a:buSzPct val="60000"/>
              <a:buNone/>
            </a:pPr>
            <a:r>
              <a:rPr lang="en-US" altLang="zh-CN" dirty="0"/>
              <a:t>7.3.3  </a:t>
            </a:r>
            <a:r>
              <a:rPr lang="zh-CN" altLang="en-US" dirty="0"/>
              <a:t>数据抽象与局部视图设计</a:t>
            </a:r>
            <a:endParaRPr lang="zh-CN" altLang="en-US" dirty="0"/>
          </a:p>
          <a:p>
            <a:pPr marL="342900" lvl="0" indent="-342900" eaLnBrk="1" hangingPunct="1">
              <a:lnSpc>
                <a:spcPct val="140000"/>
              </a:lnSpc>
              <a:buClr>
                <a:schemeClr val="folHlink"/>
              </a:buClr>
              <a:buSzPct val="60000"/>
              <a:buNone/>
            </a:pPr>
            <a:r>
              <a:rPr lang="en-US" altLang="zh-CN" dirty="0">
                <a:solidFill>
                  <a:schemeClr val="tx1"/>
                </a:solidFill>
              </a:rPr>
              <a:t>7.3.4  </a:t>
            </a:r>
            <a:r>
              <a:rPr lang="zh-CN" altLang="en-US" dirty="0">
                <a:solidFill>
                  <a:schemeClr val="tx1"/>
                </a:solidFill>
              </a:rPr>
              <a:t>视图的集成</a:t>
            </a:r>
            <a:endParaRPr lang="zh-CN" altLang="en-US" dirty="0"/>
          </a:p>
        </p:txBody>
      </p:sp>
      <p:sp>
        <p:nvSpPr>
          <p:cNvPr id="60420" name="Rectangle 3"/>
          <p:cNvSpPr/>
          <p:nvPr/>
        </p:nvSpPr>
        <p:spPr>
          <a:xfrm>
            <a:off x="685800" y="152400"/>
            <a:ext cx="7772400" cy="114300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eaLnBrk="1" hangingPunct="1">
              <a:spcBef>
                <a:spcPct val="0"/>
              </a:spcBef>
              <a:buClrTx/>
              <a:buFontTx/>
              <a:buNone/>
            </a:pPr>
            <a:r>
              <a:rPr lang="en-US" altLang="zh-CN" sz="4400" dirty="0">
                <a:solidFill>
                  <a:schemeClr val="accent2"/>
                </a:solidFill>
                <a:ea typeface="经典细隶书简" pitchFamily="49" charset="-122"/>
              </a:rPr>
              <a:t>7.3  </a:t>
            </a:r>
            <a:r>
              <a:rPr lang="zh-CN" altLang="en-US" sz="4400" dirty="0">
                <a:solidFill>
                  <a:schemeClr val="accent2"/>
                </a:solidFill>
                <a:ea typeface="经典细隶书简" pitchFamily="49" charset="-122"/>
              </a:rPr>
              <a:t>概念结构设计</a:t>
            </a:r>
            <a:endParaRPr lang="zh-CN" altLang="en-US" sz="4400" dirty="0">
              <a:solidFill>
                <a:schemeClr val="accent2"/>
              </a:solidFill>
              <a:ea typeface="经典细隶书简" pitchFamily="49" charset="-122"/>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页脚占位符 2"/>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61443" name="Rectangle 2"/>
          <p:cNvSpPr/>
          <p:nvPr/>
        </p:nvSpPr>
        <p:spPr>
          <a:xfrm>
            <a:off x="304800" y="762000"/>
            <a:ext cx="8534400" cy="57150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342900" lvl="0" indent="-342900" eaLnBrk="1" hangingPunct="1">
              <a:lnSpc>
                <a:spcPct val="110000"/>
              </a:lnSpc>
            </a:pPr>
            <a:r>
              <a:rPr lang="zh-CN" altLang="en-US" dirty="0">
                <a:solidFill>
                  <a:schemeClr val="tx1"/>
                </a:solidFill>
                <a:latin typeface="宋体" panose="02010600030101010101" pitchFamily="2" charset="-122"/>
              </a:rPr>
              <a:t>数据抽象</a:t>
            </a:r>
            <a:endParaRPr lang="zh-CN" altLang="en-US" dirty="0">
              <a:solidFill>
                <a:schemeClr val="tx1"/>
              </a:solidFill>
              <a:latin typeface="宋体" panose="02010600030101010101" pitchFamily="2" charset="-122"/>
            </a:endParaRPr>
          </a:p>
          <a:p>
            <a:pPr marL="742950" lvl="1" indent="-285750" eaLnBrk="1" hangingPunct="1">
              <a:lnSpc>
                <a:spcPct val="110000"/>
              </a:lnSpc>
              <a:buClr>
                <a:srgbClr val="FF3300"/>
              </a:buClr>
            </a:pPr>
            <a:r>
              <a:rPr lang="zh-CN" altLang="en-US" sz="3200" dirty="0">
                <a:latin typeface="宋体" panose="02010600030101010101" pitchFamily="2" charset="-122"/>
              </a:rPr>
              <a:t>分类</a:t>
            </a:r>
            <a:endParaRPr lang="zh-CN" altLang="en-US" sz="3200" dirty="0">
              <a:latin typeface="宋体" panose="02010600030101010101" pitchFamily="2" charset="-122"/>
            </a:endParaRPr>
          </a:p>
          <a:p>
            <a:pPr marL="1143000" lvl="2" indent="-228600" eaLnBrk="1" hangingPunct="1">
              <a:lnSpc>
                <a:spcPct val="110000"/>
              </a:lnSpc>
              <a:buClr>
                <a:srgbClr val="FF3300"/>
              </a:buClr>
              <a:buFont typeface="Wingdings" panose="05000000000000000000" pitchFamily="2" charset="2"/>
              <a:buChar char="§"/>
            </a:pPr>
            <a:r>
              <a:rPr lang="zh-CN" altLang="en-US" sz="2800" dirty="0">
                <a:latin typeface="宋体" panose="02010600030101010101" pitchFamily="2" charset="-122"/>
                <a:ea typeface="宋体" panose="02010600030101010101" pitchFamily="2" charset="-122"/>
              </a:rPr>
              <a:t>共同的特性与行为，值与型</a:t>
            </a:r>
            <a:r>
              <a:rPr lang="en-US" altLang="zh-CN" sz="2800" dirty="0">
                <a:latin typeface="宋体" panose="02010600030101010101" pitchFamily="2" charset="-122"/>
                <a:ea typeface="宋体" panose="02010600030101010101" pitchFamily="2" charset="-122"/>
              </a:rPr>
              <a:t>(</a:t>
            </a:r>
            <a:r>
              <a:rPr lang="en-US" altLang="zh-CN" sz="2800" i="1" dirty="0">
                <a:latin typeface="Arial" panose="020B0604020202020204" pitchFamily="34" charset="0"/>
                <a:ea typeface="宋体" panose="02010600030101010101" pitchFamily="2" charset="-122"/>
              </a:rPr>
              <a:t>is member of</a:t>
            </a:r>
            <a:r>
              <a:rPr lang="en-US" altLang="zh-CN" sz="2800" dirty="0">
                <a:latin typeface="宋体" panose="02010600030101010101" pitchFamily="2" charset="-122"/>
                <a:ea typeface="宋体" panose="02010600030101010101" pitchFamily="2" charset="-122"/>
              </a:rPr>
              <a:t>)</a:t>
            </a:r>
            <a:endParaRPr lang="en-US" altLang="zh-CN" sz="2800" dirty="0">
              <a:latin typeface="宋体" panose="02010600030101010101" pitchFamily="2" charset="-122"/>
              <a:ea typeface="宋体" panose="02010600030101010101" pitchFamily="2" charset="-122"/>
            </a:endParaRPr>
          </a:p>
          <a:p>
            <a:pPr marL="1143000" lvl="2" indent="-228600" eaLnBrk="1" hangingPunct="1">
              <a:lnSpc>
                <a:spcPct val="110000"/>
              </a:lnSpc>
              <a:buClr>
                <a:srgbClr val="FF3300"/>
              </a:buClr>
              <a:buFont typeface="Wingdings" panose="05000000000000000000" pitchFamily="2" charset="2"/>
              <a:buChar char="§"/>
            </a:pPr>
            <a:r>
              <a:rPr lang="zh-CN" altLang="en-US" sz="2800" dirty="0">
                <a:latin typeface="宋体" panose="02010600030101010101" pitchFamily="2" charset="-122"/>
                <a:ea typeface="宋体" panose="02010600030101010101" pitchFamily="2" charset="-122"/>
              </a:rPr>
              <a:t>实体</a:t>
            </a:r>
            <a:endParaRPr lang="zh-CN" altLang="en-US" sz="2800" dirty="0">
              <a:latin typeface="宋体" panose="02010600030101010101" pitchFamily="2" charset="-122"/>
              <a:ea typeface="宋体" panose="02010600030101010101" pitchFamily="2" charset="-122"/>
            </a:endParaRPr>
          </a:p>
          <a:p>
            <a:pPr marL="742950" lvl="1" indent="-285750" eaLnBrk="1" hangingPunct="1">
              <a:lnSpc>
                <a:spcPct val="110000"/>
              </a:lnSpc>
              <a:buClr>
                <a:srgbClr val="FF3300"/>
              </a:buClr>
            </a:pPr>
            <a:r>
              <a:rPr lang="zh-CN" altLang="en-US" sz="3200" dirty="0">
                <a:latin typeface="宋体" panose="02010600030101010101" pitchFamily="2" charset="-122"/>
              </a:rPr>
              <a:t>聚集</a:t>
            </a:r>
            <a:endParaRPr lang="zh-CN" altLang="en-US" sz="3200" dirty="0">
              <a:latin typeface="宋体" panose="02010600030101010101" pitchFamily="2" charset="-122"/>
            </a:endParaRPr>
          </a:p>
          <a:p>
            <a:pPr marL="1143000" lvl="2" indent="-228600" eaLnBrk="1" hangingPunct="1">
              <a:lnSpc>
                <a:spcPct val="110000"/>
              </a:lnSpc>
              <a:buClr>
                <a:srgbClr val="FF3300"/>
              </a:buClr>
              <a:buFont typeface="Wingdings" panose="05000000000000000000" pitchFamily="2" charset="2"/>
              <a:buChar char="§"/>
            </a:pPr>
            <a:r>
              <a:rPr lang="zh-CN" altLang="en-US" sz="2800" dirty="0">
                <a:latin typeface="宋体" panose="02010600030101010101" pitchFamily="2" charset="-122"/>
                <a:ea typeface="宋体" panose="02010600030101010101" pitchFamily="2" charset="-122"/>
              </a:rPr>
              <a:t>类型与成份</a:t>
            </a:r>
            <a:r>
              <a:rPr lang="en-US" altLang="zh-CN" sz="2800" dirty="0">
                <a:latin typeface="宋体" panose="02010600030101010101" pitchFamily="2" charset="-122"/>
                <a:ea typeface="宋体" panose="02010600030101010101" pitchFamily="2" charset="-122"/>
              </a:rPr>
              <a:t>(</a:t>
            </a:r>
            <a:r>
              <a:rPr lang="en-US" altLang="zh-CN" sz="2800" i="1" dirty="0">
                <a:latin typeface="Arial" panose="020B0604020202020204" pitchFamily="34" charset="0"/>
                <a:ea typeface="宋体" panose="02010600030101010101" pitchFamily="2" charset="-122"/>
              </a:rPr>
              <a:t>is part of</a:t>
            </a:r>
            <a:r>
              <a:rPr lang="en-US" altLang="zh-CN" sz="2800" dirty="0">
                <a:latin typeface="宋体" panose="02010600030101010101" pitchFamily="2" charset="-122"/>
                <a:ea typeface="宋体" panose="02010600030101010101" pitchFamily="2" charset="-122"/>
              </a:rPr>
              <a:t>)</a:t>
            </a:r>
            <a:endParaRPr lang="en-US" altLang="zh-CN" sz="2800" dirty="0">
              <a:latin typeface="宋体" panose="02010600030101010101" pitchFamily="2" charset="-122"/>
              <a:ea typeface="宋体" panose="02010600030101010101" pitchFamily="2" charset="-122"/>
            </a:endParaRPr>
          </a:p>
          <a:p>
            <a:pPr marL="1143000" lvl="2" indent="-228600" eaLnBrk="1" hangingPunct="1">
              <a:lnSpc>
                <a:spcPct val="110000"/>
              </a:lnSpc>
              <a:buClr>
                <a:srgbClr val="FF3300"/>
              </a:buClr>
              <a:buFont typeface="Wingdings" panose="05000000000000000000" pitchFamily="2" charset="2"/>
              <a:buChar char="§"/>
            </a:pPr>
            <a:r>
              <a:rPr lang="zh-CN" altLang="en-US" sz="2800" dirty="0">
                <a:latin typeface="宋体" panose="02010600030101010101" pitchFamily="2" charset="-122"/>
                <a:ea typeface="宋体" panose="02010600030101010101" pitchFamily="2" charset="-122"/>
              </a:rPr>
              <a:t>属性</a:t>
            </a:r>
            <a:endParaRPr lang="zh-CN" altLang="en-US" sz="2800" dirty="0">
              <a:latin typeface="宋体" panose="02010600030101010101" pitchFamily="2" charset="-122"/>
              <a:ea typeface="宋体" panose="02010600030101010101" pitchFamily="2" charset="-122"/>
            </a:endParaRPr>
          </a:p>
          <a:p>
            <a:pPr marL="742950" lvl="1" indent="-285750" eaLnBrk="1" hangingPunct="1">
              <a:lnSpc>
                <a:spcPct val="110000"/>
              </a:lnSpc>
              <a:buClr>
                <a:srgbClr val="FF3300"/>
              </a:buClr>
            </a:pPr>
            <a:r>
              <a:rPr lang="zh-CN" altLang="en-US" sz="3200" dirty="0">
                <a:latin typeface="宋体" panose="02010600030101010101" pitchFamily="2" charset="-122"/>
              </a:rPr>
              <a:t>概括</a:t>
            </a:r>
            <a:endParaRPr lang="zh-CN" altLang="en-US" sz="3200" dirty="0">
              <a:latin typeface="宋体" panose="02010600030101010101" pitchFamily="2" charset="-122"/>
            </a:endParaRPr>
          </a:p>
          <a:p>
            <a:pPr marL="1143000" lvl="2" indent="-228600" eaLnBrk="1" hangingPunct="1">
              <a:lnSpc>
                <a:spcPct val="110000"/>
              </a:lnSpc>
              <a:buClr>
                <a:srgbClr val="FF3300"/>
              </a:buClr>
              <a:buFont typeface="Wingdings" panose="05000000000000000000" pitchFamily="2" charset="2"/>
              <a:buChar char="§"/>
            </a:pPr>
            <a:r>
              <a:rPr lang="zh-CN" altLang="en-US" sz="2800" dirty="0">
                <a:latin typeface="宋体" panose="02010600030101010101" pitchFamily="2" charset="-122"/>
                <a:ea typeface="宋体" panose="02010600030101010101" pitchFamily="2" charset="-122"/>
              </a:rPr>
              <a:t>子集</a:t>
            </a:r>
            <a:r>
              <a:rPr lang="en-US" altLang="zh-CN" sz="2800" dirty="0">
                <a:latin typeface="宋体" panose="02010600030101010101" pitchFamily="2" charset="-122"/>
                <a:ea typeface="宋体" panose="02010600030101010101" pitchFamily="2" charset="-122"/>
              </a:rPr>
              <a:t>(</a:t>
            </a:r>
            <a:r>
              <a:rPr lang="en-US" altLang="zh-CN" sz="2800" i="1" dirty="0">
                <a:latin typeface="Arial" panose="020B0604020202020204" pitchFamily="34" charset="0"/>
                <a:ea typeface="宋体" panose="02010600030101010101" pitchFamily="2" charset="-122"/>
              </a:rPr>
              <a:t>is subset of</a:t>
            </a:r>
            <a:r>
              <a:rPr lang="en-US" altLang="zh-CN" sz="2800" dirty="0">
                <a:latin typeface="宋体" panose="02010600030101010101" pitchFamily="2" charset="-122"/>
                <a:ea typeface="宋体" panose="02010600030101010101" pitchFamily="2" charset="-122"/>
              </a:rPr>
              <a:t>)</a:t>
            </a:r>
            <a:endParaRPr lang="en-US" altLang="zh-CN" sz="2800" dirty="0">
              <a:latin typeface="宋体" panose="02010600030101010101" pitchFamily="2" charset="-122"/>
              <a:ea typeface="宋体" panose="02010600030101010101" pitchFamily="2" charset="-122"/>
            </a:endParaRPr>
          </a:p>
          <a:p>
            <a:pPr marL="1143000" lvl="2" indent="-228600" eaLnBrk="1" hangingPunct="1">
              <a:lnSpc>
                <a:spcPct val="110000"/>
              </a:lnSpc>
              <a:buClr>
                <a:srgbClr val="FF3300"/>
              </a:buClr>
              <a:buFont typeface="Wingdings" panose="05000000000000000000" pitchFamily="2" charset="2"/>
              <a:buChar char="§"/>
            </a:pPr>
            <a:r>
              <a:rPr lang="zh-CN" altLang="en-US" sz="2800" dirty="0">
                <a:latin typeface="宋体" panose="02010600030101010101" pitchFamily="2" charset="-122"/>
                <a:ea typeface="宋体" panose="02010600030101010101" pitchFamily="2" charset="-122"/>
              </a:rPr>
              <a:t>继承</a:t>
            </a:r>
            <a:endParaRPr lang="zh-CN" altLang="en-US" sz="2800" dirty="0">
              <a:latin typeface="宋体" panose="02010600030101010101" pitchFamily="2" charset="-122"/>
              <a:ea typeface="宋体" panose="02010600030101010101" pitchFamily="2" charset="-122"/>
            </a:endParaRPr>
          </a:p>
        </p:txBody>
      </p:sp>
      <p:sp>
        <p:nvSpPr>
          <p:cNvPr id="61444" name="Rectangle 3"/>
          <p:cNvSpPr>
            <a:spLocks noGrp="1"/>
          </p:cNvSpPr>
          <p:nvPr>
            <p:ph type="title" idx="4294967295"/>
          </p:nvPr>
        </p:nvSpPr>
        <p:spPr>
          <a:xfrm>
            <a:off x="914400" y="0"/>
            <a:ext cx="7772400" cy="609600"/>
          </a:xfrm>
          <a:ln/>
        </p:spPr>
        <p:txBody>
          <a:bodyPr vert="horz" wrap="square" lIns="91440" tIns="45720" rIns="91440" bIns="45720" anchor="ctr" anchorCtr="0"/>
          <a:p>
            <a:pPr eaLnBrk="1" hangingPunct="1"/>
            <a:r>
              <a:rPr lang="en-US" altLang="zh-CN" dirty="0"/>
              <a:t>7.3.3 </a:t>
            </a:r>
            <a:r>
              <a:rPr lang="zh-CN" altLang="en-US" dirty="0"/>
              <a:t>数据抽象与局部视图设计</a:t>
            </a:r>
            <a:endParaRPr lang="zh-CN" alt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6" name="页脚占位符 2"/>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62467" name="Rectangle 2"/>
          <p:cNvSpPr/>
          <p:nvPr/>
        </p:nvSpPr>
        <p:spPr>
          <a:xfrm>
            <a:off x="304800" y="762000"/>
            <a:ext cx="8534400" cy="57150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342900" lvl="0" indent="-342900" eaLnBrk="1" hangingPunct="1">
              <a:lnSpc>
                <a:spcPct val="110000"/>
              </a:lnSpc>
            </a:pPr>
            <a:r>
              <a:rPr lang="zh-CN" altLang="en-US" dirty="0">
                <a:solidFill>
                  <a:schemeClr val="tx1"/>
                </a:solidFill>
                <a:latin typeface="宋体" panose="02010600030101010101" pitchFamily="2" charset="-122"/>
              </a:rPr>
              <a:t>数据抽象的目的</a:t>
            </a:r>
            <a:endParaRPr lang="zh-CN" altLang="en-US" dirty="0">
              <a:solidFill>
                <a:schemeClr val="tx1"/>
              </a:solidFill>
              <a:latin typeface="宋体" panose="02010600030101010101" pitchFamily="2" charset="-122"/>
            </a:endParaRPr>
          </a:p>
          <a:p>
            <a:pPr marL="742950" lvl="1" indent="-285750" eaLnBrk="1" hangingPunct="1">
              <a:lnSpc>
                <a:spcPct val="110000"/>
              </a:lnSpc>
              <a:buClr>
                <a:srgbClr val="FF3300"/>
              </a:buClr>
            </a:pPr>
            <a:r>
              <a:rPr lang="zh-CN" altLang="en-US" dirty="0">
                <a:latin typeface="宋体" panose="02010600030101010101" pitchFamily="2" charset="-122"/>
              </a:rPr>
              <a:t>确定实体</a:t>
            </a:r>
            <a:endParaRPr lang="zh-CN" altLang="en-US" dirty="0">
              <a:latin typeface="宋体" panose="02010600030101010101" pitchFamily="2" charset="-122"/>
            </a:endParaRPr>
          </a:p>
          <a:p>
            <a:pPr marL="742950" lvl="1" indent="-285750" eaLnBrk="1" hangingPunct="1">
              <a:lnSpc>
                <a:spcPct val="110000"/>
              </a:lnSpc>
              <a:buClr>
                <a:srgbClr val="FF3300"/>
              </a:buClr>
            </a:pPr>
            <a:r>
              <a:rPr lang="zh-CN" altLang="en-US" dirty="0">
                <a:latin typeface="宋体" panose="02010600030101010101" pitchFamily="2" charset="-122"/>
              </a:rPr>
              <a:t>确定属性</a:t>
            </a:r>
            <a:endParaRPr lang="zh-CN" altLang="en-US" dirty="0">
              <a:latin typeface="宋体" panose="02010600030101010101" pitchFamily="2" charset="-122"/>
            </a:endParaRPr>
          </a:p>
          <a:p>
            <a:pPr marL="742950" lvl="1" indent="-285750" eaLnBrk="1" hangingPunct="1">
              <a:lnSpc>
                <a:spcPct val="110000"/>
              </a:lnSpc>
              <a:buClr>
                <a:srgbClr val="FF3300"/>
              </a:buClr>
            </a:pPr>
            <a:r>
              <a:rPr lang="zh-CN" altLang="en-US" dirty="0">
                <a:latin typeface="宋体" panose="02010600030101010101" pitchFamily="2" charset="-122"/>
              </a:rPr>
              <a:t>确定实体间的联系</a:t>
            </a:r>
            <a:endParaRPr lang="zh-CN" altLang="en-US" dirty="0">
              <a:latin typeface="宋体" panose="02010600030101010101" pitchFamily="2" charset="-122"/>
            </a:endParaRPr>
          </a:p>
          <a:p>
            <a:pPr marL="342900" lvl="0" indent="-342900" eaLnBrk="1" hangingPunct="1">
              <a:lnSpc>
                <a:spcPct val="110000"/>
              </a:lnSpc>
            </a:pPr>
            <a:r>
              <a:rPr lang="zh-CN" altLang="en-US" sz="2800" dirty="0">
                <a:solidFill>
                  <a:schemeClr val="tx1"/>
                </a:solidFill>
                <a:latin typeface="宋体" panose="02010600030101010101" pitchFamily="2" charset="-122"/>
              </a:rPr>
              <a:t>实体与属性是相对的，如何区分</a:t>
            </a:r>
            <a:r>
              <a:rPr lang="en-US" altLang="zh-CN" sz="2800" dirty="0">
                <a:solidFill>
                  <a:schemeClr val="tx1"/>
                </a:solidFill>
                <a:latin typeface="宋体" panose="02010600030101010101" pitchFamily="2" charset="-122"/>
              </a:rPr>
              <a:t>?(P224)</a:t>
            </a:r>
            <a:endParaRPr lang="en-US" altLang="zh-CN" sz="2800" dirty="0">
              <a:solidFill>
                <a:schemeClr val="tx1"/>
              </a:solidFill>
              <a:latin typeface="宋体" panose="02010600030101010101" pitchFamily="2" charset="-122"/>
            </a:endParaRPr>
          </a:p>
          <a:p>
            <a:pPr marL="742950" lvl="1" indent="-285750" eaLnBrk="1" hangingPunct="1">
              <a:lnSpc>
                <a:spcPct val="110000"/>
              </a:lnSpc>
              <a:buClr>
                <a:srgbClr val="FF3300"/>
              </a:buClr>
            </a:pPr>
            <a:r>
              <a:rPr lang="zh-CN" altLang="en-US" dirty="0">
                <a:latin typeface="宋体" panose="02010600030101010101" pitchFamily="2" charset="-122"/>
              </a:rPr>
              <a:t>实体还可以有自已的描述信息</a:t>
            </a:r>
            <a:r>
              <a:rPr lang="en-US" altLang="zh-CN" dirty="0">
                <a:latin typeface="宋体" panose="02010600030101010101" pitchFamily="2" charset="-122"/>
              </a:rPr>
              <a:t>(</a:t>
            </a:r>
            <a:r>
              <a:rPr lang="zh-CN" altLang="en-US" dirty="0">
                <a:latin typeface="宋体" panose="02010600030101010101" pitchFamily="2" charset="-122"/>
              </a:rPr>
              <a:t>属性</a:t>
            </a:r>
            <a:r>
              <a:rPr lang="en-US" altLang="zh-CN" dirty="0">
                <a:latin typeface="宋体" panose="02010600030101010101" pitchFamily="2" charset="-122"/>
              </a:rPr>
              <a:t>)</a:t>
            </a:r>
            <a:r>
              <a:rPr lang="zh-CN" altLang="en-US" dirty="0">
                <a:latin typeface="宋体" panose="02010600030101010101" pitchFamily="2" charset="-122"/>
              </a:rPr>
              <a:t>，属性不能具有需要再进一步描述的性质</a:t>
            </a:r>
            <a:endParaRPr lang="zh-CN" altLang="en-US" dirty="0">
              <a:latin typeface="宋体" panose="02010600030101010101" pitchFamily="2" charset="-122"/>
            </a:endParaRPr>
          </a:p>
          <a:p>
            <a:pPr marL="742950" lvl="1" indent="-285750" eaLnBrk="1" hangingPunct="1">
              <a:lnSpc>
                <a:spcPct val="110000"/>
              </a:lnSpc>
              <a:buClr>
                <a:srgbClr val="FF3300"/>
              </a:buClr>
            </a:pPr>
            <a:r>
              <a:rPr lang="zh-CN" altLang="en-US" dirty="0">
                <a:latin typeface="宋体" panose="02010600030101010101" pitchFamily="2" charset="-122"/>
              </a:rPr>
              <a:t>属性不能与其它实体具有联系，联系只发生在实体间</a:t>
            </a:r>
            <a:endParaRPr lang="zh-CN" altLang="en-US" dirty="0">
              <a:latin typeface="宋体" panose="02010600030101010101" pitchFamily="2" charset="-122"/>
            </a:endParaRPr>
          </a:p>
        </p:txBody>
      </p:sp>
      <p:sp>
        <p:nvSpPr>
          <p:cNvPr id="62468" name="Rectangle 3"/>
          <p:cNvSpPr>
            <a:spLocks noGrp="1"/>
          </p:cNvSpPr>
          <p:nvPr>
            <p:ph type="title" idx="4294967295"/>
          </p:nvPr>
        </p:nvSpPr>
        <p:spPr>
          <a:xfrm>
            <a:off x="914400" y="0"/>
            <a:ext cx="7772400" cy="609600"/>
          </a:xfrm>
          <a:ln/>
        </p:spPr>
        <p:txBody>
          <a:bodyPr vert="horz" wrap="square" lIns="91440" tIns="45720" rIns="91440" bIns="45720" anchor="ctr" anchorCtr="0"/>
          <a:p>
            <a:pPr eaLnBrk="1" hangingPunct="1"/>
            <a:r>
              <a:rPr lang="en-US" altLang="zh-CN" dirty="0"/>
              <a:t>7.3.3 </a:t>
            </a:r>
            <a:r>
              <a:rPr lang="zh-CN" altLang="en-US" dirty="0"/>
              <a:t>数据抽象与局部视图设计</a:t>
            </a:r>
            <a:endParaRPr lang="zh-CN" alt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页脚占位符 2"/>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63491" name="Rectangle 2"/>
          <p:cNvSpPr/>
          <p:nvPr/>
        </p:nvSpPr>
        <p:spPr>
          <a:xfrm>
            <a:off x="304800" y="762000"/>
            <a:ext cx="8534400" cy="17526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342900" lvl="0" indent="-342900" eaLnBrk="1" hangingPunct="1">
              <a:lnSpc>
                <a:spcPct val="110000"/>
              </a:lnSpc>
            </a:pPr>
            <a:r>
              <a:rPr lang="zh-CN" altLang="en-US" sz="2800" dirty="0">
                <a:solidFill>
                  <a:schemeClr val="tx1"/>
                </a:solidFill>
                <a:latin typeface="宋体" panose="02010600030101010101" pitchFamily="2" charset="-122"/>
              </a:rPr>
              <a:t>例</a:t>
            </a:r>
            <a:r>
              <a:rPr lang="en-US" altLang="zh-CN" sz="2800" dirty="0">
                <a:solidFill>
                  <a:schemeClr val="tx1"/>
                </a:solidFill>
                <a:latin typeface="宋体" panose="02010600030101010101" pitchFamily="2" charset="-122"/>
              </a:rPr>
              <a:t>:</a:t>
            </a:r>
            <a:r>
              <a:rPr lang="zh-CN" altLang="en-US" sz="2800" dirty="0">
                <a:solidFill>
                  <a:schemeClr val="tx1"/>
                </a:solidFill>
                <a:latin typeface="宋体" panose="02010600030101010101" pitchFamily="2" charset="-122"/>
              </a:rPr>
              <a:t>学生由学号，姓名，系别等性质进一步描述，所以学生只能作实体，而系别又由系名，办公地，系主任等进一步描述，所以系别需独立成实体</a:t>
            </a:r>
            <a:endParaRPr lang="zh-CN" altLang="en-US" sz="2800" dirty="0">
              <a:solidFill>
                <a:schemeClr val="tx1"/>
              </a:solidFill>
              <a:latin typeface="宋体" panose="02010600030101010101" pitchFamily="2" charset="-122"/>
            </a:endParaRPr>
          </a:p>
        </p:txBody>
      </p:sp>
      <p:sp>
        <p:nvSpPr>
          <p:cNvPr id="63492" name="Rectangle 3"/>
          <p:cNvSpPr>
            <a:spLocks noGrp="1"/>
          </p:cNvSpPr>
          <p:nvPr>
            <p:ph type="title" idx="4294967295"/>
          </p:nvPr>
        </p:nvSpPr>
        <p:spPr>
          <a:xfrm>
            <a:off x="914400" y="0"/>
            <a:ext cx="7772400" cy="609600"/>
          </a:xfrm>
          <a:ln/>
        </p:spPr>
        <p:txBody>
          <a:bodyPr vert="horz" wrap="square" lIns="91440" tIns="45720" rIns="91440" bIns="45720" anchor="ctr" anchorCtr="0"/>
          <a:p>
            <a:pPr eaLnBrk="1" hangingPunct="1"/>
            <a:r>
              <a:rPr lang="en-US" altLang="zh-CN" dirty="0"/>
              <a:t>7.3.3 </a:t>
            </a:r>
            <a:r>
              <a:rPr lang="zh-CN" altLang="en-US" dirty="0"/>
              <a:t>数据抽象与局部视图设计</a:t>
            </a:r>
            <a:endParaRPr lang="zh-CN" altLang="en-US" dirty="0"/>
          </a:p>
        </p:txBody>
      </p:sp>
      <p:sp>
        <p:nvSpPr>
          <p:cNvPr id="63493" name="Text Box 4"/>
          <p:cNvSpPr txBox="1"/>
          <p:nvPr/>
        </p:nvSpPr>
        <p:spPr>
          <a:xfrm>
            <a:off x="1557338" y="4068763"/>
            <a:ext cx="1333500" cy="790575"/>
          </a:xfrm>
          <a:prstGeom prst="rect">
            <a:avLst/>
          </a:prstGeom>
          <a:solidFill>
            <a:srgbClr val="33CCCC"/>
          </a:solidFill>
          <a:ln w="28575" cap="sq" cmpd="sng">
            <a:solidFill>
              <a:schemeClr val="tx1"/>
            </a:solidFill>
            <a:prstDash val="solid"/>
            <a:miter/>
            <a:headEnd type="none" w="sm" len="sm"/>
            <a:tailEnd type="none" w="sm" len="sm"/>
          </a:ln>
        </p:spPr>
        <p:txBody>
          <a:bodyPr wrap="none" anchor="ctr" anchorCtr="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a:spcBef>
                <a:spcPct val="50000"/>
              </a:spcBef>
              <a:buClrTx/>
              <a:buFontTx/>
              <a:buNone/>
            </a:pPr>
            <a:r>
              <a:rPr lang="zh-CN" altLang="en-US" sz="4400" dirty="0">
                <a:solidFill>
                  <a:schemeClr val="tx2"/>
                </a:solidFill>
                <a:ea typeface="华文新魏" panose="02010800040101010101" pitchFamily="2" charset="-122"/>
              </a:rPr>
              <a:t>学生</a:t>
            </a:r>
            <a:endParaRPr lang="zh-CN" altLang="en-US" sz="4400" b="0" dirty="0">
              <a:solidFill>
                <a:schemeClr val="tx2"/>
              </a:solidFill>
              <a:ea typeface="华文新魏" panose="02010800040101010101" pitchFamily="2" charset="-122"/>
            </a:endParaRPr>
          </a:p>
        </p:txBody>
      </p:sp>
      <p:sp>
        <p:nvSpPr>
          <p:cNvPr id="63494" name="Text Box 5"/>
          <p:cNvSpPr txBox="1"/>
          <p:nvPr/>
        </p:nvSpPr>
        <p:spPr>
          <a:xfrm>
            <a:off x="6108700" y="3683000"/>
            <a:ext cx="1371600" cy="790575"/>
          </a:xfrm>
          <a:prstGeom prst="rect">
            <a:avLst/>
          </a:prstGeom>
          <a:solidFill>
            <a:srgbClr val="33CCCC"/>
          </a:solidFill>
          <a:ln w="28575" cap="sq" cmpd="sng">
            <a:solidFill>
              <a:schemeClr val="tx1"/>
            </a:solidFill>
            <a:prstDash val="solid"/>
            <a:miter/>
            <a:headEnd type="none" w="sm" len="sm"/>
            <a:tailEnd type="none" w="sm" len="sm"/>
          </a:ln>
        </p:spPr>
        <p:txBody>
          <a:bodyPr anchor="ctr" anchorCtr="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a:spcBef>
                <a:spcPct val="50000"/>
              </a:spcBef>
              <a:buClrTx/>
              <a:buFontTx/>
              <a:buNone/>
            </a:pPr>
            <a:r>
              <a:rPr lang="zh-CN" altLang="en-US" sz="4400" dirty="0">
                <a:solidFill>
                  <a:schemeClr val="tx2"/>
                </a:solidFill>
                <a:ea typeface="华文新魏" panose="02010800040101010101" pitchFamily="2" charset="-122"/>
              </a:rPr>
              <a:t>系</a:t>
            </a:r>
            <a:endParaRPr lang="zh-CN" altLang="en-US" sz="4400" b="0" dirty="0">
              <a:solidFill>
                <a:schemeClr val="tx2"/>
              </a:solidFill>
              <a:ea typeface="华文新魏" panose="02010800040101010101" pitchFamily="2" charset="-122"/>
            </a:endParaRPr>
          </a:p>
        </p:txBody>
      </p:sp>
      <p:sp>
        <p:nvSpPr>
          <p:cNvPr id="63495" name="AutoShape 6"/>
          <p:cNvSpPr/>
          <p:nvPr/>
        </p:nvSpPr>
        <p:spPr>
          <a:xfrm>
            <a:off x="6019800" y="4876800"/>
            <a:ext cx="1524000" cy="838200"/>
          </a:xfrm>
          <a:prstGeom prst="diamond">
            <a:avLst/>
          </a:prstGeom>
          <a:solidFill>
            <a:srgbClr val="808000"/>
          </a:solidFill>
          <a:ln w="28575" cap="sq"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eaLnBrk="1" hangingPunct="1">
              <a:spcBef>
                <a:spcPct val="0"/>
              </a:spcBef>
              <a:buClrTx/>
              <a:buFontTx/>
              <a:buNone/>
            </a:pPr>
            <a:r>
              <a:rPr lang="zh-CN" altLang="en-US" sz="4400" dirty="0">
                <a:solidFill>
                  <a:schemeClr val="tx2"/>
                </a:solidFill>
                <a:ea typeface="华文新魏" panose="02010800040101010101" pitchFamily="2" charset="-122"/>
              </a:rPr>
              <a:t>属于</a:t>
            </a:r>
            <a:endParaRPr lang="zh-CN" altLang="en-US" sz="4400" dirty="0">
              <a:solidFill>
                <a:schemeClr val="tx2"/>
              </a:solidFill>
              <a:ea typeface="华文新魏" panose="02010800040101010101" pitchFamily="2" charset="-122"/>
            </a:endParaRPr>
          </a:p>
        </p:txBody>
      </p:sp>
      <p:sp>
        <p:nvSpPr>
          <p:cNvPr id="63496" name="Oval 7" descr="Large confetti"/>
          <p:cNvSpPr/>
          <p:nvPr/>
        </p:nvSpPr>
        <p:spPr>
          <a:xfrm>
            <a:off x="0" y="2451100"/>
            <a:ext cx="1371600" cy="685800"/>
          </a:xfrm>
          <a:prstGeom prst="ellipse">
            <a:avLst/>
          </a:prstGeom>
          <a:solidFill>
            <a:schemeClr val="accent1"/>
          </a:solidFill>
          <a:ln w="28575" cap="sq" cmpd="sng">
            <a:solidFill>
              <a:schemeClr val="tx1"/>
            </a:solidFill>
            <a:prstDash val="solid"/>
            <a:headEnd type="none" w="sm" len="sm"/>
            <a:tailEnd type="none" w="sm" len="sm"/>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eaLnBrk="1" hangingPunct="1">
              <a:spcBef>
                <a:spcPct val="0"/>
              </a:spcBef>
              <a:buClrTx/>
              <a:buFontTx/>
              <a:buNone/>
            </a:pPr>
            <a:r>
              <a:rPr lang="zh-CN" altLang="en-US" sz="2800" dirty="0">
                <a:solidFill>
                  <a:schemeClr val="tx2"/>
                </a:solidFill>
                <a:ea typeface="华文新魏" panose="02010800040101010101" pitchFamily="2" charset="-122"/>
              </a:rPr>
              <a:t>姓名</a:t>
            </a:r>
            <a:endParaRPr lang="zh-CN" altLang="en-US" sz="2800" dirty="0">
              <a:solidFill>
                <a:schemeClr val="tx2"/>
              </a:solidFill>
              <a:ea typeface="华文新魏" panose="02010800040101010101" pitchFamily="2" charset="-122"/>
            </a:endParaRPr>
          </a:p>
        </p:txBody>
      </p:sp>
      <p:sp>
        <p:nvSpPr>
          <p:cNvPr id="63497" name="Oval 8" descr="Large confetti"/>
          <p:cNvSpPr/>
          <p:nvPr/>
        </p:nvSpPr>
        <p:spPr>
          <a:xfrm>
            <a:off x="1524000" y="2451100"/>
            <a:ext cx="1371600" cy="685800"/>
          </a:xfrm>
          <a:prstGeom prst="ellipse">
            <a:avLst/>
          </a:prstGeom>
          <a:solidFill>
            <a:schemeClr val="accent1"/>
          </a:solidFill>
          <a:ln w="28575" cap="sq" cmpd="sng">
            <a:solidFill>
              <a:schemeClr val="tx1"/>
            </a:solidFill>
            <a:prstDash val="solid"/>
            <a:headEnd type="none" w="sm" len="sm"/>
            <a:tailEnd type="none" w="sm" len="sm"/>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a:spcBef>
                <a:spcPct val="50000"/>
              </a:spcBef>
              <a:buClrTx/>
              <a:buFontTx/>
              <a:buNone/>
            </a:pPr>
            <a:r>
              <a:rPr lang="zh-CN" altLang="en-US" sz="2800" u="sng" dirty="0">
                <a:solidFill>
                  <a:schemeClr val="tx2"/>
                </a:solidFill>
                <a:ea typeface="华文新魏" panose="02010800040101010101" pitchFamily="2" charset="-122"/>
              </a:rPr>
              <a:t>学号</a:t>
            </a:r>
            <a:endParaRPr lang="zh-CN" altLang="en-US" sz="2400" b="0" dirty="0">
              <a:solidFill>
                <a:schemeClr val="tx1"/>
              </a:solidFill>
              <a:latin typeface="Tahoma" panose="020B0604030504040204" pitchFamily="34" charset="0"/>
              <a:ea typeface="华文新魏" panose="02010800040101010101" pitchFamily="2" charset="-122"/>
            </a:endParaRPr>
          </a:p>
        </p:txBody>
      </p:sp>
      <p:sp>
        <p:nvSpPr>
          <p:cNvPr id="63498" name="Oval 9" descr="Large confetti"/>
          <p:cNvSpPr/>
          <p:nvPr/>
        </p:nvSpPr>
        <p:spPr>
          <a:xfrm>
            <a:off x="3048000" y="2451100"/>
            <a:ext cx="1371600" cy="685800"/>
          </a:xfrm>
          <a:prstGeom prst="ellipse">
            <a:avLst/>
          </a:prstGeom>
          <a:solidFill>
            <a:schemeClr val="accent1"/>
          </a:solidFill>
          <a:ln w="28575" cap="sq" cmpd="sng">
            <a:solidFill>
              <a:schemeClr val="tx1"/>
            </a:solidFill>
            <a:prstDash val="solid"/>
            <a:headEnd type="none" w="sm" len="sm"/>
            <a:tailEnd type="none" w="sm" len="sm"/>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eaLnBrk="1" hangingPunct="1">
              <a:spcBef>
                <a:spcPct val="0"/>
              </a:spcBef>
              <a:buClrTx/>
              <a:buFontTx/>
              <a:buNone/>
            </a:pPr>
            <a:r>
              <a:rPr lang="zh-CN" altLang="en-US" sz="2800" dirty="0">
                <a:solidFill>
                  <a:schemeClr val="tx2"/>
                </a:solidFill>
                <a:ea typeface="华文新魏" panose="02010800040101010101" pitchFamily="2" charset="-122"/>
              </a:rPr>
              <a:t>系别</a:t>
            </a:r>
            <a:endParaRPr lang="zh-CN" altLang="en-US" sz="2800" dirty="0">
              <a:solidFill>
                <a:schemeClr val="tx2"/>
              </a:solidFill>
              <a:ea typeface="华文新魏" panose="02010800040101010101" pitchFamily="2" charset="-122"/>
            </a:endParaRPr>
          </a:p>
        </p:txBody>
      </p:sp>
      <p:sp>
        <p:nvSpPr>
          <p:cNvPr id="63499" name="Line 10"/>
          <p:cNvSpPr/>
          <p:nvPr/>
        </p:nvSpPr>
        <p:spPr>
          <a:xfrm>
            <a:off x="2209800" y="3136900"/>
            <a:ext cx="0" cy="914400"/>
          </a:xfrm>
          <a:prstGeom prst="line">
            <a:avLst/>
          </a:prstGeom>
          <a:ln w="28575" cap="sq" cmpd="sng">
            <a:solidFill>
              <a:schemeClr val="tx1"/>
            </a:solidFill>
            <a:prstDash val="solid"/>
            <a:headEnd type="none" w="sm" len="sm"/>
            <a:tailEnd type="none" w="sm" len="sm"/>
          </a:ln>
        </p:spPr>
      </p:sp>
      <p:sp>
        <p:nvSpPr>
          <p:cNvPr id="63500" name="Line 11"/>
          <p:cNvSpPr/>
          <p:nvPr/>
        </p:nvSpPr>
        <p:spPr>
          <a:xfrm flipH="1" flipV="1">
            <a:off x="685800" y="3136900"/>
            <a:ext cx="1143000" cy="914400"/>
          </a:xfrm>
          <a:prstGeom prst="line">
            <a:avLst/>
          </a:prstGeom>
          <a:ln w="28575" cap="sq" cmpd="sng">
            <a:solidFill>
              <a:schemeClr val="tx1"/>
            </a:solidFill>
            <a:prstDash val="solid"/>
            <a:headEnd type="none" w="sm" len="sm"/>
            <a:tailEnd type="none" w="sm" len="sm"/>
          </a:ln>
        </p:spPr>
      </p:sp>
      <p:sp>
        <p:nvSpPr>
          <p:cNvPr id="63501" name="Line 12"/>
          <p:cNvSpPr/>
          <p:nvPr/>
        </p:nvSpPr>
        <p:spPr>
          <a:xfrm flipV="1">
            <a:off x="2590800" y="3136900"/>
            <a:ext cx="1219200" cy="914400"/>
          </a:xfrm>
          <a:prstGeom prst="line">
            <a:avLst/>
          </a:prstGeom>
          <a:ln w="28575" cap="sq" cmpd="sng">
            <a:solidFill>
              <a:schemeClr val="tx1"/>
            </a:solidFill>
            <a:prstDash val="solid"/>
            <a:headEnd type="none" w="sm" len="sm"/>
            <a:tailEnd type="none" w="sm" len="sm"/>
          </a:ln>
        </p:spPr>
      </p:sp>
      <p:sp>
        <p:nvSpPr>
          <p:cNvPr id="63502" name="Oval 13" descr="Large confetti"/>
          <p:cNvSpPr/>
          <p:nvPr/>
        </p:nvSpPr>
        <p:spPr>
          <a:xfrm>
            <a:off x="4572000" y="2413000"/>
            <a:ext cx="1371600" cy="685800"/>
          </a:xfrm>
          <a:prstGeom prst="ellipse">
            <a:avLst/>
          </a:prstGeom>
          <a:solidFill>
            <a:schemeClr val="accent1"/>
          </a:solidFill>
          <a:ln w="28575" cap="sq" cmpd="sng">
            <a:solidFill>
              <a:schemeClr val="tx1"/>
            </a:solidFill>
            <a:prstDash val="solid"/>
            <a:headEnd type="none" w="sm" len="sm"/>
            <a:tailEnd type="none" w="sm" len="sm"/>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eaLnBrk="1" hangingPunct="1">
              <a:spcBef>
                <a:spcPct val="0"/>
              </a:spcBef>
              <a:buClrTx/>
              <a:buFontTx/>
              <a:buNone/>
            </a:pPr>
            <a:r>
              <a:rPr lang="zh-CN" altLang="en-US" sz="2800" u="sng" dirty="0">
                <a:solidFill>
                  <a:schemeClr val="tx2"/>
                </a:solidFill>
                <a:ea typeface="华文新魏" panose="02010800040101010101" pitchFamily="2" charset="-122"/>
              </a:rPr>
              <a:t>系号</a:t>
            </a:r>
            <a:endParaRPr lang="zh-CN" altLang="en-US" sz="2800" u="sng" dirty="0">
              <a:solidFill>
                <a:schemeClr val="tx2"/>
              </a:solidFill>
              <a:ea typeface="华文新魏" panose="02010800040101010101" pitchFamily="2" charset="-122"/>
            </a:endParaRPr>
          </a:p>
        </p:txBody>
      </p:sp>
      <p:sp>
        <p:nvSpPr>
          <p:cNvPr id="63503" name="Oval 14" descr="Large confetti"/>
          <p:cNvSpPr/>
          <p:nvPr/>
        </p:nvSpPr>
        <p:spPr>
          <a:xfrm>
            <a:off x="6096000" y="2413000"/>
            <a:ext cx="1371600" cy="685800"/>
          </a:xfrm>
          <a:prstGeom prst="ellipse">
            <a:avLst/>
          </a:prstGeom>
          <a:solidFill>
            <a:schemeClr val="accent1"/>
          </a:solidFill>
          <a:ln w="28575" cap="sq" cmpd="sng">
            <a:solidFill>
              <a:schemeClr val="tx1"/>
            </a:solidFill>
            <a:prstDash val="solid"/>
            <a:headEnd type="none" w="sm" len="sm"/>
            <a:tailEnd type="none" w="sm" len="sm"/>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eaLnBrk="1" hangingPunct="1">
              <a:spcBef>
                <a:spcPct val="0"/>
              </a:spcBef>
              <a:buClrTx/>
              <a:buFontTx/>
              <a:buNone/>
            </a:pPr>
            <a:r>
              <a:rPr lang="zh-CN" altLang="en-US" sz="2800" dirty="0">
                <a:solidFill>
                  <a:schemeClr val="tx2"/>
                </a:solidFill>
                <a:ea typeface="华文新魏" panose="02010800040101010101" pitchFamily="2" charset="-122"/>
              </a:rPr>
              <a:t>系名</a:t>
            </a:r>
            <a:endParaRPr lang="zh-CN" altLang="en-US" sz="2800" dirty="0">
              <a:solidFill>
                <a:schemeClr val="tx2"/>
              </a:solidFill>
              <a:ea typeface="华文新魏" panose="02010800040101010101" pitchFamily="2" charset="-122"/>
            </a:endParaRPr>
          </a:p>
        </p:txBody>
      </p:sp>
      <p:sp>
        <p:nvSpPr>
          <p:cNvPr id="63504" name="Oval 15" descr="Large confetti"/>
          <p:cNvSpPr/>
          <p:nvPr/>
        </p:nvSpPr>
        <p:spPr>
          <a:xfrm>
            <a:off x="7543800" y="2425700"/>
            <a:ext cx="1447800" cy="685800"/>
          </a:xfrm>
          <a:prstGeom prst="ellipse">
            <a:avLst/>
          </a:prstGeom>
          <a:solidFill>
            <a:schemeClr val="accent1"/>
          </a:solidFill>
          <a:ln w="28575" cap="sq" cmpd="sng">
            <a:solidFill>
              <a:schemeClr val="tx1"/>
            </a:solidFill>
            <a:prstDash val="solid"/>
            <a:headEnd type="none" w="sm" len="sm"/>
            <a:tailEnd type="none" w="sm" len="sm"/>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eaLnBrk="1" hangingPunct="1">
              <a:lnSpc>
                <a:spcPct val="90000"/>
              </a:lnSpc>
              <a:buClr>
                <a:schemeClr val="folHlink"/>
              </a:buClr>
              <a:buSzPct val="60000"/>
              <a:buNone/>
            </a:pPr>
            <a:r>
              <a:rPr lang="zh-CN" altLang="en-US" sz="2800" dirty="0">
                <a:solidFill>
                  <a:schemeClr val="tx2"/>
                </a:solidFill>
                <a:ea typeface="华文新魏" panose="02010800040101010101" pitchFamily="2" charset="-122"/>
              </a:rPr>
              <a:t>系主任</a:t>
            </a:r>
            <a:endParaRPr lang="zh-CN" altLang="en-US" sz="2800" dirty="0">
              <a:solidFill>
                <a:schemeClr val="tx2"/>
              </a:solidFill>
              <a:ea typeface="华文新魏" panose="02010800040101010101" pitchFamily="2" charset="-122"/>
            </a:endParaRPr>
          </a:p>
        </p:txBody>
      </p:sp>
      <p:sp>
        <p:nvSpPr>
          <p:cNvPr id="63505" name="Line 16"/>
          <p:cNvSpPr/>
          <p:nvPr/>
        </p:nvSpPr>
        <p:spPr>
          <a:xfrm>
            <a:off x="6781800" y="3098800"/>
            <a:ext cx="0" cy="558800"/>
          </a:xfrm>
          <a:prstGeom prst="line">
            <a:avLst/>
          </a:prstGeom>
          <a:ln w="28575" cap="sq" cmpd="sng">
            <a:solidFill>
              <a:schemeClr val="tx1"/>
            </a:solidFill>
            <a:prstDash val="solid"/>
            <a:headEnd type="none" w="sm" len="sm"/>
            <a:tailEnd type="none" w="sm" len="sm"/>
          </a:ln>
        </p:spPr>
      </p:sp>
      <p:sp>
        <p:nvSpPr>
          <p:cNvPr id="63506" name="Line 17"/>
          <p:cNvSpPr/>
          <p:nvPr/>
        </p:nvSpPr>
        <p:spPr>
          <a:xfrm flipH="1">
            <a:off x="6781800" y="4495800"/>
            <a:ext cx="0" cy="381000"/>
          </a:xfrm>
          <a:prstGeom prst="line">
            <a:avLst/>
          </a:prstGeom>
          <a:ln w="28575" cap="sq" cmpd="sng">
            <a:solidFill>
              <a:schemeClr val="tx1"/>
            </a:solidFill>
            <a:prstDash val="solid"/>
            <a:headEnd type="none" w="sm" len="sm"/>
            <a:tailEnd type="none" w="sm" len="sm"/>
          </a:ln>
        </p:spPr>
      </p:sp>
      <p:sp>
        <p:nvSpPr>
          <p:cNvPr id="63507" name="Line 18"/>
          <p:cNvSpPr/>
          <p:nvPr/>
        </p:nvSpPr>
        <p:spPr>
          <a:xfrm flipH="1" flipV="1">
            <a:off x="5334000" y="3098800"/>
            <a:ext cx="1066800" cy="558800"/>
          </a:xfrm>
          <a:prstGeom prst="line">
            <a:avLst/>
          </a:prstGeom>
          <a:ln w="28575" cap="sq" cmpd="sng">
            <a:solidFill>
              <a:schemeClr val="tx1"/>
            </a:solidFill>
            <a:prstDash val="solid"/>
            <a:headEnd type="none" w="sm" len="sm"/>
            <a:tailEnd type="none" w="sm" len="sm"/>
          </a:ln>
        </p:spPr>
      </p:sp>
      <p:sp>
        <p:nvSpPr>
          <p:cNvPr id="63508" name="Line 19"/>
          <p:cNvSpPr/>
          <p:nvPr/>
        </p:nvSpPr>
        <p:spPr>
          <a:xfrm flipV="1">
            <a:off x="7086600" y="3048000"/>
            <a:ext cx="838200" cy="635000"/>
          </a:xfrm>
          <a:prstGeom prst="line">
            <a:avLst/>
          </a:prstGeom>
          <a:ln w="28575" cap="sq" cmpd="sng">
            <a:solidFill>
              <a:schemeClr val="tx1"/>
            </a:solidFill>
            <a:prstDash val="solid"/>
            <a:headEnd type="none" w="sm" len="sm"/>
            <a:tailEnd type="none" w="sm" len="sm"/>
          </a:ln>
        </p:spPr>
      </p:sp>
      <p:sp>
        <p:nvSpPr>
          <p:cNvPr id="63509" name="Text Box 20"/>
          <p:cNvSpPr txBox="1"/>
          <p:nvPr/>
        </p:nvSpPr>
        <p:spPr>
          <a:xfrm>
            <a:off x="4300538" y="4894263"/>
            <a:ext cx="1333500" cy="790575"/>
          </a:xfrm>
          <a:prstGeom prst="rect">
            <a:avLst/>
          </a:prstGeom>
          <a:solidFill>
            <a:srgbClr val="33CCCC"/>
          </a:solidFill>
          <a:ln w="28575" cap="sq" cmpd="sng">
            <a:solidFill>
              <a:schemeClr val="tx1"/>
            </a:solidFill>
            <a:prstDash val="solid"/>
            <a:miter/>
            <a:headEnd type="none" w="sm" len="sm"/>
            <a:tailEnd type="none" w="sm" len="sm"/>
          </a:ln>
        </p:spPr>
        <p:txBody>
          <a:bodyPr wrap="none" anchor="ctr" anchorCtr="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a:spcBef>
                <a:spcPct val="50000"/>
              </a:spcBef>
              <a:buClrTx/>
              <a:buFontTx/>
              <a:buNone/>
            </a:pPr>
            <a:r>
              <a:rPr lang="zh-CN" altLang="en-US" sz="4400" dirty="0">
                <a:solidFill>
                  <a:schemeClr val="tx2"/>
                </a:solidFill>
                <a:ea typeface="华文新魏" panose="02010800040101010101" pitchFamily="2" charset="-122"/>
              </a:rPr>
              <a:t>学生</a:t>
            </a:r>
            <a:endParaRPr lang="zh-CN" altLang="en-US" sz="4400" b="0" dirty="0">
              <a:solidFill>
                <a:schemeClr val="tx2"/>
              </a:solidFill>
              <a:ea typeface="华文新魏" panose="02010800040101010101" pitchFamily="2" charset="-122"/>
            </a:endParaRPr>
          </a:p>
        </p:txBody>
      </p:sp>
      <p:sp>
        <p:nvSpPr>
          <p:cNvPr id="63510" name="Oval 21" descr="Large confetti"/>
          <p:cNvSpPr/>
          <p:nvPr/>
        </p:nvSpPr>
        <p:spPr>
          <a:xfrm>
            <a:off x="4229100" y="5943600"/>
            <a:ext cx="1371600" cy="685800"/>
          </a:xfrm>
          <a:prstGeom prst="ellipse">
            <a:avLst/>
          </a:prstGeom>
          <a:solidFill>
            <a:schemeClr val="accent1"/>
          </a:solidFill>
          <a:ln w="28575" cap="sq" cmpd="sng">
            <a:solidFill>
              <a:schemeClr val="tx1"/>
            </a:solidFill>
            <a:prstDash val="solid"/>
            <a:headEnd type="none" w="sm" len="sm"/>
            <a:tailEnd type="none" w="sm" len="sm"/>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eaLnBrk="1" hangingPunct="1">
              <a:spcBef>
                <a:spcPct val="0"/>
              </a:spcBef>
              <a:buClrTx/>
              <a:buFontTx/>
              <a:buNone/>
            </a:pPr>
            <a:r>
              <a:rPr lang="zh-CN" altLang="en-US" sz="2800" dirty="0">
                <a:solidFill>
                  <a:schemeClr val="tx2"/>
                </a:solidFill>
                <a:ea typeface="华文新魏" panose="02010800040101010101" pitchFamily="2" charset="-122"/>
              </a:rPr>
              <a:t>姓名</a:t>
            </a:r>
            <a:endParaRPr lang="zh-CN" altLang="en-US" sz="2800" dirty="0">
              <a:solidFill>
                <a:schemeClr val="tx2"/>
              </a:solidFill>
              <a:ea typeface="华文新魏" panose="02010800040101010101" pitchFamily="2" charset="-122"/>
            </a:endParaRPr>
          </a:p>
        </p:txBody>
      </p:sp>
      <p:sp>
        <p:nvSpPr>
          <p:cNvPr id="63511" name="Oval 22" descr="Large confetti"/>
          <p:cNvSpPr/>
          <p:nvPr/>
        </p:nvSpPr>
        <p:spPr>
          <a:xfrm>
            <a:off x="2514600" y="4965700"/>
            <a:ext cx="1371600" cy="685800"/>
          </a:xfrm>
          <a:prstGeom prst="ellipse">
            <a:avLst/>
          </a:prstGeom>
          <a:solidFill>
            <a:schemeClr val="accent1"/>
          </a:solidFill>
          <a:ln w="28575" cap="sq" cmpd="sng">
            <a:solidFill>
              <a:schemeClr val="tx1"/>
            </a:solidFill>
            <a:prstDash val="solid"/>
            <a:headEnd type="none" w="sm" len="sm"/>
            <a:tailEnd type="none" w="sm" len="sm"/>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a:spcBef>
                <a:spcPct val="50000"/>
              </a:spcBef>
              <a:buClrTx/>
              <a:buFontTx/>
              <a:buNone/>
            </a:pPr>
            <a:r>
              <a:rPr lang="zh-CN" altLang="en-US" sz="2800" u="sng" dirty="0">
                <a:solidFill>
                  <a:schemeClr val="tx2"/>
                </a:solidFill>
                <a:ea typeface="华文新魏" panose="02010800040101010101" pitchFamily="2" charset="-122"/>
              </a:rPr>
              <a:t>学号</a:t>
            </a:r>
            <a:endParaRPr lang="zh-CN" altLang="en-US" sz="2400" b="0" dirty="0">
              <a:solidFill>
                <a:schemeClr val="tx1"/>
              </a:solidFill>
              <a:latin typeface="Tahoma" panose="020B0604030504040204" pitchFamily="34" charset="0"/>
              <a:ea typeface="华文新魏" panose="02010800040101010101" pitchFamily="2" charset="-122"/>
            </a:endParaRPr>
          </a:p>
        </p:txBody>
      </p:sp>
      <p:sp>
        <p:nvSpPr>
          <p:cNvPr id="63512" name="Line 23"/>
          <p:cNvSpPr/>
          <p:nvPr/>
        </p:nvSpPr>
        <p:spPr>
          <a:xfrm flipH="1" flipV="1">
            <a:off x="5638800" y="5308600"/>
            <a:ext cx="381000" cy="0"/>
          </a:xfrm>
          <a:prstGeom prst="line">
            <a:avLst/>
          </a:prstGeom>
          <a:ln w="28575" cap="sq" cmpd="sng">
            <a:solidFill>
              <a:schemeClr val="tx1"/>
            </a:solidFill>
            <a:prstDash val="solid"/>
            <a:headEnd type="none" w="sm" len="sm"/>
            <a:tailEnd type="none" w="sm" len="sm"/>
          </a:ln>
        </p:spPr>
      </p:sp>
      <p:sp>
        <p:nvSpPr>
          <p:cNvPr id="63513" name="Line 24"/>
          <p:cNvSpPr/>
          <p:nvPr/>
        </p:nvSpPr>
        <p:spPr>
          <a:xfrm flipH="1">
            <a:off x="4927600" y="5702300"/>
            <a:ext cx="0" cy="228600"/>
          </a:xfrm>
          <a:prstGeom prst="line">
            <a:avLst/>
          </a:prstGeom>
          <a:ln w="28575" cap="sq" cmpd="sng">
            <a:solidFill>
              <a:schemeClr val="tx1"/>
            </a:solidFill>
            <a:prstDash val="solid"/>
            <a:headEnd type="none" w="sm" len="sm"/>
            <a:tailEnd type="none" w="sm" len="sm"/>
          </a:ln>
        </p:spPr>
      </p:sp>
      <p:sp>
        <p:nvSpPr>
          <p:cNvPr id="63514" name="Line 25"/>
          <p:cNvSpPr/>
          <p:nvPr/>
        </p:nvSpPr>
        <p:spPr>
          <a:xfrm flipH="1" flipV="1">
            <a:off x="3911600" y="5308600"/>
            <a:ext cx="381000" cy="0"/>
          </a:xfrm>
          <a:prstGeom prst="line">
            <a:avLst/>
          </a:prstGeom>
          <a:ln w="28575" cap="sq" cmpd="sng">
            <a:solidFill>
              <a:schemeClr val="tx1"/>
            </a:solidFill>
            <a:prstDash val="solid"/>
            <a:headEnd type="none" w="sm" len="sm"/>
            <a:tailEnd type="none" w="sm" len="sm"/>
          </a:ln>
        </p:spPr>
      </p:sp>
      <p:sp>
        <p:nvSpPr>
          <p:cNvPr id="63515" name="AutoShape 26"/>
          <p:cNvSpPr/>
          <p:nvPr/>
        </p:nvSpPr>
        <p:spPr>
          <a:xfrm>
            <a:off x="3276600" y="3810000"/>
            <a:ext cx="1066800" cy="762000"/>
          </a:xfrm>
          <a:prstGeom prst="rightArrow">
            <a:avLst>
              <a:gd name="adj1" fmla="val 50000"/>
              <a:gd name="adj2" fmla="val 35000"/>
            </a:avLst>
          </a:prstGeom>
          <a:solidFill>
            <a:srgbClr val="FF3300"/>
          </a:solidFill>
          <a:ln w="12700" cap="sq"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a:spcBef>
                <a:spcPct val="0"/>
              </a:spcBef>
              <a:buClrTx/>
              <a:buFontTx/>
              <a:buNone/>
            </a:pPr>
            <a:endParaRPr lang="en-US" altLang="zh-CN" sz="1600" b="0" dirty="0">
              <a:solidFill>
                <a:schemeClr val="tx1"/>
              </a:solidFill>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页脚占位符 2"/>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64515" name="Rectangle 2"/>
          <p:cNvSpPr/>
          <p:nvPr/>
        </p:nvSpPr>
        <p:spPr>
          <a:xfrm>
            <a:off x="304800" y="762000"/>
            <a:ext cx="8534400" cy="17526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342900" lvl="0" indent="-342900" eaLnBrk="1" hangingPunct="1">
              <a:lnSpc>
                <a:spcPct val="110000"/>
              </a:lnSpc>
            </a:pPr>
            <a:r>
              <a:rPr lang="zh-CN" altLang="en-US" sz="2800" dirty="0">
                <a:solidFill>
                  <a:schemeClr val="tx1"/>
                </a:solidFill>
                <a:latin typeface="宋体" panose="02010600030101010101" pitchFamily="2" charset="-122"/>
              </a:rPr>
              <a:t>例</a:t>
            </a:r>
            <a:r>
              <a:rPr lang="en-US" altLang="zh-CN" sz="2800" dirty="0">
                <a:solidFill>
                  <a:schemeClr val="tx1"/>
                </a:solidFill>
                <a:latin typeface="宋体" panose="02010600030101010101" pitchFamily="2" charset="-122"/>
              </a:rPr>
              <a:t>:</a:t>
            </a:r>
            <a:r>
              <a:rPr lang="zh-CN" altLang="en-US" sz="2800" dirty="0">
                <a:solidFill>
                  <a:schemeClr val="tx1"/>
                </a:solidFill>
                <a:latin typeface="宋体" panose="02010600030101010101" pitchFamily="2" charset="-122"/>
              </a:rPr>
              <a:t>职称通常作为教师实体的属性，但在涉及住房分配时，由于分房与职称有关，也就是说职称与住房实体之间有联系</a:t>
            </a:r>
            <a:r>
              <a:rPr lang="en-US" altLang="zh-CN" sz="2800" dirty="0">
                <a:solidFill>
                  <a:schemeClr val="tx1"/>
                </a:solidFill>
                <a:latin typeface="宋体" panose="02010600030101010101" pitchFamily="2" charset="-122"/>
              </a:rPr>
              <a:t>,</a:t>
            </a:r>
            <a:r>
              <a:rPr lang="zh-CN" altLang="en-US" sz="2800" dirty="0">
                <a:solidFill>
                  <a:schemeClr val="tx1"/>
                </a:solidFill>
                <a:latin typeface="宋体" panose="02010600030101010101" pitchFamily="2" charset="-122"/>
              </a:rPr>
              <a:t>故需将职称作实体</a:t>
            </a:r>
            <a:endParaRPr lang="zh-CN" altLang="en-US" sz="2800" dirty="0">
              <a:solidFill>
                <a:schemeClr val="tx1"/>
              </a:solidFill>
              <a:latin typeface="宋体" panose="02010600030101010101" pitchFamily="2" charset="-122"/>
            </a:endParaRPr>
          </a:p>
        </p:txBody>
      </p:sp>
      <p:sp>
        <p:nvSpPr>
          <p:cNvPr id="64516" name="Rectangle 3"/>
          <p:cNvSpPr>
            <a:spLocks noGrp="1"/>
          </p:cNvSpPr>
          <p:nvPr>
            <p:ph type="title" idx="4294967295"/>
          </p:nvPr>
        </p:nvSpPr>
        <p:spPr>
          <a:xfrm>
            <a:off x="914400" y="0"/>
            <a:ext cx="7772400" cy="609600"/>
          </a:xfrm>
          <a:ln/>
        </p:spPr>
        <p:txBody>
          <a:bodyPr vert="horz" wrap="square" lIns="91440" tIns="45720" rIns="91440" bIns="45720" anchor="ctr" anchorCtr="0"/>
          <a:p>
            <a:pPr eaLnBrk="1" hangingPunct="1"/>
            <a:r>
              <a:rPr lang="en-US" altLang="zh-CN" dirty="0"/>
              <a:t>7.3.3 </a:t>
            </a:r>
            <a:r>
              <a:rPr lang="zh-CN" altLang="en-US" dirty="0"/>
              <a:t>数据抽象与局部视图设计</a:t>
            </a:r>
            <a:endParaRPr lang="zh-CN" altLang="en-US" dirty="0"/>
          </a:p>
        </p:txBody>
      </p:sp>
      <p:sp>
        <p:nvSpPr>
          <p:cNvPr id="64517" name="Text Box 4"/>
          <p:cNvSpPr txBox="1"/>
          <p:nvPr/>
        </p:nvSpPr>
        <p:spPr>
          <a:xfrm>
            <a:off x="1663700" y="3532188"/>
            <a:ext cx="1025525" cy="608012"/>
          </a:xfrm>
          <a:prstGeom prst="rect">
            <a:avLst/>
          </a:prstGeom>
          <a:solidFill>
            <a:srgbClr val="33CCCC"/>
          </a:solidFill>
          <a:ln w="28575" cap="sq" cmpd="sng">
            <a:solidFill>
              <a:schemeClr val="tx1"/>
            </a:solidFill>
            <a:prstDash val="solid"/>
            <a:miter/>
            <a:headEnd type="none" w="sm" len="sm"/>
            <a:tailEnd type="none" w="sm" len="sm"/>
          </a:ln>
        </p:spPr>
        <p:txBody>
          <a:bodyPr wrap="none" anchor="ctr" anchorCtr="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a:spcBef>
                <a:spcPct val="50000"/>
              </a:spcBef>
              <a:buClrTx/>
              <a:buFontTx/>
              <a:buNone/>
            </a:pPr>
            <a:r>
              <a:rPr lang="zh-CN" altLang="en-US" dirty="0">
                <a:solidFill>
                  <a:schemeClr val="tx2"/>
                </a:solidFill>
                <a:ea typeface="华文新魏" panose="02010800040101010101" pitchFamily="2" charset="-122"/>
              </a:rPr>
              <a:t>教师</a:t>
            </a:r>
            <a:endParaRPr lang="zh-CN" altLang="en-US" b="0" dirty="0">
              <a:solidFill>
                <a:schemeClr val="tx2"/>
              </a:solidFill>
              <a:ea typeface="华文新魏" panose="02010800040101010101" pitchFamily="2" charset="-122"/>
            </a:endParaRPr>
          </a:p>
        </p:txBody>
      </p:sp>
      <p:sp>
        <p:nvSpPr>
          <p:cNvPr id="64518" name="Text Box 5"/>
          <p:cNvSpPr txBox="1"/>
          <p:nvPr/>
        </p:nvSpPr>
        <p:spPr>
          <a:xfrm>
            <a:off x="5791200" y="4941888"/>
            <a:ext cx="1143000" cy="608012"/>
          </a:xfrm>
          <a:prstGeom prst="rect">
            <a:avLst/>
          </a:prstGeom>
          <a:solidFill>
            <a:srgbClr val="33CCCC"/>
          </a:solidFill>
          <a:ln w="28575" cap="sq" cmpd="sng">
            <a:solidFill>
              <a:schemeClr val="tx1"/>
            </a:solidFill>
            <a:prstDash val="solid"/>
            <a:miter/>
            <a:headEnd type="none" w="sm" len="sm"/>
            <a:tailEnd type="none" w="sm" len="sm"/>
          </a:ln>
        </p:spPr>
        <p:txBody>
          <a:bodyPr anchor="ctr" anchorCtr="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a:spcBef>
                <a:spcPct val="50000"/>
              </a:spcBef>
              <a:buClrTx/>
              <a:buFontTx/>
              <a:buNone/>
            </a:pPr>
            <a:r>
              <a:rPr lang="zh-CN" altLang="en-US" dirty="0">
                <a:solidFill>
                  <a:schemeClr val="tx2"/>
                </a:solidFill>
                <a:ea typeface="华文新魏" panose="02010800040101010101" pitchFamily="2" charset="-122"/>
              </a:rPr>
              <a:t>职称</a:t>
            </a:r>
            <a:endParaRPr lang="zh-CN" altLang="en-US" b="0" dirty="0">
              <a:solidFill>
                <a:schemeClr val="tx2"/>
              </a:solidFill>
              <a:ea typeface="华文新魏" panose="02010800040101010101" pitchFamily="2" charset="-122"/>
            </a:endParaRPr>
          </a:p>
        </p:txBody>
      </p:sp>
      <p:sp>
        <p:nvSpPr>
          <p:cNvPr id="64519" name="AutoShape 6"/>
          <p:cNvSpPr/>
          <p:nvPr/>
        </p:nvSpPr>
        <p:spPr>
          <a:xfrm>
            <a:off x="4419600" y="4851400"/>
            <a:ext cx="1143000" cy="762000"/>
          </a:xfrm>
          <a:prstGeom prst="diamond">
            <a:avLst/>
          </a:prstGeom>
          <a:solidFill>
            <a:srgbClr val="808000"/>
          </a:solidFill>
          <a:ln w="28575" cap="sq"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eaLnBrk="1" hangingPunct="1">
              <a:spcBef>
                <a:spcPct val="0"/>
              </a:spcBef>
              <a:buClrTx/>
              <a:buFontTx/>
              <a:buNone/>
            </a:pPr>
            <a:r>
              <a:rPr lang="zh-CN" altLang="en-US" dirty="0">
                <a:solidFill>
                  <a:schemeClr val="tx2"/>
                </a:solidFill>
                <a:ea typeface="华文新魏" panose="02010800040101010101" pitchFamily="2" charset="-122"/>
              </a:rPr>
              <a:t>聘</a:t>
            </a:r>
            <a:endParaRPr lang="zh-CN" altLang="en-US" dirty="0">
              <a:solidFill>
                <a:schemeClr val="tx2"/>
              </a:solidFill>
              <a:ea typeface="华文新魏" panose="02010800040101010101" pitchFamily="2" charset="-122"/>
            </a:endParaRPr>
          </a:p>
        </p:txBody>
      </p:sp>
      <p:sp>
        <p:nvSpPr>
          <p:cNvPr id="64520" name="Oval 7" descr="Large confetti"/>
          <p:cNvSpPr/>
          <p:nvPr/>
        </p:nvSpPr>
        <p:spPr>
          <a:xfrm>
            <a:off x="0" y="2451100"/>
            <a:ext cx="1371600" cy="685800"/>
          </a:xfrm>
          <a:prstGeom prst="ellipse">
            <a:avLst/>
          </a:prstGeom>
          <a:solidFill>
            <a:schemeClr val="accent1"/>
          </a:solidFill>
          <a:ln w="28575" cap="sq" cmpd="sng">
            <a:solidFill>
              <a:schemeClr val="tx1"/>
            </a:solidFill>
            <a:prstDash val="solid"/>
            <a:headEnd type="none" w="sm" len="sm"/>
            <a:tailEnd type="none" w="sm" len="sm"/>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eaLnBrk="1" hangingPunct="1">
              <a:spcBef>
                <a:spcPct val="0"/>
              </a:spcBef>
              <a:buClrTx/>
              <a:buFontTx/>
              <a:buNone/>
            </a:pPr>
            <a:r>
              <a:rPr lang="zh-CN" altLang="en-US" sz="2800" dirty="0">
                <a:solidFill>
                  <a:schemeClr val="tx2"/>
                </a:solidFill>
                <a:ea typeface="华文新魏" panose="02010800040101010101" pitchFamily="2" charset="-122"/>
              </a:rPr>
              <a:t>姓名</a:t>
            </a:r>
            <a:endParaRPr lang="zh-CN" altLang="en-US" sz="2800" dirty="0">
              <a:solidFill>
                <a:schemeClr val="tx2"/>
              </a:solidFill>
              <a:ea typeface="华文新魏" panose="02010800040101010101" pitchFamily="2" charset="-122"/>
            </a:endParaRPr>
          </a:p>
        </p:txBody>
      </p:sp>
      <p:sp>
        <p:nvSpPr>
          <p:cNvPr id="64521" name="Oval 8" descr="Large confetti"/>
          <p:cNvSpPr/>
          <p:nvPr/>
        </p:nvSpPr>
        <p:spPr>
          <a:xfrm>
            <a:off x="1524000" y="2451100"/>
            <a:ext cx="1371600" cy="685800"/>
          </a:xfrm>
          <a:prstGeom prst="ellipse">
            <a:avLst/>
          </a:prstGeom>
          <a:solidFill>
            <a:schemeClr val="accent1"/>
          </a:solidFill>
          <a:ln w="28575" cap="sq" cmpd="sng">
            <a:solidFill>
              <a:schemeClr val="tx1"/>
            </a:solidFill>
            <a:prstDash val="solid"/>
            <a:headEnd type="none" w="sm" len="sm"/>
            <a:tailEnd type="none" w="sm" len="sm"/>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a:spcBef>
                <a:spcPct val="50000"/>
              </a:spcBef>
              <a:buClrTx/>
              <a:buFontTx/>
              <a:buNone/>
            </a:pPr>
            <a:r>
              <a:rPr lang="zh-CN" altLang="en-US" sz="2800" u="sng" dirty="0">
                <a:solidFill>
                  <a:schemeClr val="tx2"/>
                </a:solidFill>
                <a:ea typeface="华文新魏" panose="02010800040101010101" pitchFamily="2" charset="-122"/>
              </a:rPr>
              <a:t>工号</a:t>
            </a:r>
            <a:endParaRPr lang="zh-CN" altLang="en-US" sz="2400" b="0" dirty="0">
              <a:solidFill>
                <a:schemeClr val="tx1"/>
              </a:solidFill>
              <a:latin typeface="Tahoma" panose="020B0604030504040204" pitchFamily="34" charset="0"/>
              <a:ea typeface="华文新魏" panose="02010800040101010101" pitchFamily="2" charset="-122"/>
            </a:endParaRPr>
          </a:p>
        </p:txBody>
      </p:sp>
      <p:sp>
        <p:nvSpPr>
          <p:cNvPr id="64522" name="Oval 9" descr="Large confetti"/>
          <p:cNvSpPr/>
          <p:nvPr/>
        </p:nvSpPr>
        <p:spPr>
          <a:xfrm>
            <a:off x="3048000" y="2451100"/>
            <a:ext cx="1371600" cy="685800"/>
          </a:xfrm>
          <a:prstGeom prst="ellipse">
            <a:avLst/>
          </a:prstGeom>
          <a:solidFill>
            <a:schemeClr val="accent1"/>
          </a:solidFill>
          <a:ln w="28575" cap="sq" cmpd="sng">
            <a:solidFill>
              <a:schemeClr val="tx1"/>
            </a:solidFill>
            <a:prstDash val="solid"/>
            <a:headEnd type="none" w="sm" len="sm"/>
            <a:tailEnd type="none" w="sm" len="sm"/>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eaLnBrk="1" hangingPunct="1">
              <a:spcBef>
                <a:spcPct val="0"/>
              </a:spcBef>
              <a:buClrTx/>
              <a:buFontTx/>
              <a:buNone/>
            </a:pPr>
            <a:r>
              <a:rPr lang="zh-CN" altLang="en-US" sz="2800" dirty="0">
                <a:solidFill>
                  <a:schemeClr val="tx2"/>
                </a:solidFill>
                <a:ea typeface="华文新魏" panose="02010800040101010101" pitchFamily="2" charset="-122"/>
              </a:rPr>
              <a:t>职称</a:t>
            </a:r>
            <a:endParaRPr lang="zh-CN" altLang="en-US" sz="2800" dirty="0">
              <a:solidFill>
                <a:schemeClr val="tx2"/>
              </a:solidFill>
              <a:ea typeface="华文新魏" panose="02010800040101010101" pitchFamily="2" charset="-122"/>
            </a:endParaRPr>
          </a:p>
        </p:txBody>
      </p:sp>
      <p:sp>
        <p:nvSpPr>
          <p:cNvPr id="64523" name="Line 10"/>
          <p:cNvSpPr/>
          <p:nvPr/>
        </p:nvSpPr>
        <p:spPr>
          <a:xfrm>
            <a:off x="2209800" y="3136900"/>
            <a:ext cx="0" cy="368300"/>
          </a:xfrm>
          <a:prstGeom prst="line">
            <a:avLst/>
          </a:prstGeom>
          <a:ln w="28575" cap="sq" cmpd="sng">
            <a:solidFill>
              <a:schemeClr val="tx1"/>
            </a:solidFill>
            <a:prstDash val="solid"/>
            <a:headEnd type="none" w="sm" len="sm"/>
            <a:tailEnd type="none" w="sm" len="sm"/>
          </a:ln>
        </p:spPr>
      </p:sp>
      <p:sp>
        <p:nvSpPr>
          <p:cNvPr id="64524" name="Line 11"/>
          <p:cNvSpPr/>
          <p:nvPr/>
        </p:nvSpPr>
        <p:spPr>
          <a:xfrm flipH="1" flipV="1">
            <a:off x="685800" y="3136900"/>
            <a:ext cx="1447800" cy="368300"/>
          </a:xfrm>
          <a:prstGeom prst="line">
            <a:avLst/>
          </a:prstGeom>
          <a:ln w="28575" cap="sq" cmpd="sng">
            <a:solidFill>
              <a:schemeClr val="tx1"/>
            </a:solidFill>
            <a:prstDash val="solid"/>
            <a:headEnd type="none" w="sm" len="sm"/>
            <a:tailEnd type="none" w="sm" len="sm"/>
          </a:ln>
        </p:spPr>
      </p:sp>
      <p:sp>
        <p:nvSpPr>
          <p:cNvPr id="64525" name="Line 12"/>
          <p:cNvSpPr/>
          <p:nvPr/>
        </p:nvSpPr>
        <p:spPr>
          <a:xfrm flipV="1">
            <a:off x="2286000" y="3136900"/>
            <a:ext cx="1524000" cy="368300"/>
          </a:xfrm>
          <a:prstGeom prst="line">
            <a:avLst/>
          </a:prstGeom>
          <a:ln w="28575" cap="sq" cmpd="sng">
            <a:solidFill>
              <a:schemeClr val="tx1"/>
            </a:solidFill>
            <a:prstDash val="solid"/>
            <a:headEnd type="none" w="sm" len="sm"/>
            <a:tailEnd type="none" w="sm" len="sm"/>
          </a:ln>
        </p:spPr>
      </p:sp>
      <p:sp>
        <p:nvSpPr>
          <p:cNvPr id="64526" name="Line 13"/>
          <p:cNvSpPr/>
          <p:nvPr/>
        </p:nvSpPr>
        <p:spPr>
          <a:xfrm flipH="1">
            <a:off x="6400800" y="4572000"/>
            <a:ext cx="0" cy="381000"/>
          </a:xfrm>
          <a:prstGeom prst="line">
            <a:avLst/>
          </a:prstGeom>
          <a:ln w="28575" cap="sq" cmpd="sng">
            <a:solidFill>
              <a:schemeClr val="tx1"/>
            </a:solidFill>
            <a:prstDash val="solid"/>
            <a:headEnd type="none" w="sm" len="sm"/>
            <a:tailEnd type="none" w="sm" len="sm"/>
          </a:ln>
        </p:spPr>
      </p:sp>
      <p:sp>
        <p:nvSpPr>
          <p:cNvPr id="64527" name="Text Box 14"/>
          <p:cNvSpPr txBox="1"/>
          <p:nvPr/>
        </p:nvSpPr>
        <p:spPr>
          <a:xfrm>
            <a:off x="3200400" y="4954588"/>
            <a:ext cx="1025525" cy="608012"/>
          </a:xfrm>
          <a:prstGeom prst="rect">
            <a:avLst/>
          </a:prstGeom>
          <a:solidFill>
            <a:srgbClr val="33CCCC"/>
          </a:solidFill>
          <a:ln w="28575" cap="sq" cmpd="sng">
            <a:solidFill>
              <a:schemeClr val="tx1"/>
            </a:solidFill>
            <a:prstDash val="solid"/>
            <a:miter/>
            <a:headEnd type="none" w="sm" len="sm"/>
            <a:tailEnd type="none" w="sm" len="sm"/>
          </a:ln>
        </p:spPr>
        <p:txBody>
          <a:bodyPr wrap="none" anchor="ctr" anchorCtr="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a:spcBef>
                <a:spcPct val="50000"/>
              </a:spcBef>
              <a:buClrTx/>
              <a:buFontTx/>
              <a:buNone/>
            </a:pPr>
            <a:r>
              <a:rPr lang="zh-CN" altLang="en-US" dirty="0">
                <a:solidFill>
                  <a:schemeClr val="tx2"/>
                </a:solidFill>
                <a:ea typeface="华文新魏" panose="02010800040101010101" pitchFamily="2" charset="-122"/>
              </a:rPr>
              <a:t>教师</a:t>
            </a:r>
            <a:endParaRPr lang="zh-CN" altLang="en-US" b="0" dirty="0">
              <a:solidFill>
                <a:schemeClr val="tx2"/>
              </a:solidFill>
              <a:ea typeface="华文新魏" panose="02010800040101010101" pitchFamily="2" charset="-122"/>
            </a:endParaRPr>
          </a:p>
        </p:txBody>
      </p:sp>
      <p:sp>
        <p:nvSpPr>
          <p:cNvPr id="64528" name="Oval 15" descr="Large confetti"/>
          <p:cNvSpPr/>
          <p:nvPr/>
        </p:nvSpPr>
        <p:spPr>
          <a:xfrm>
            <a:off x="3035300" y="5803900"/>
            <a:ext cx="1371600" cy="685800"/>
          </a:xfrm>
          <a:prstGeom prst="ellipse">
            <a:avLst/>
          </a:prstGeom>
          <a:solidFill>
            <a:schemeClr val="accent1"/>
          </a:solidFill>
          <a:ln w="28575" cap="sq" cmpd="sng">
            <a:solidFill>
              <a:schemeClr val="tx1"/>
            </a:solidFill>
            <a:prstDash val="solid"/>
            <a:headEnd type="none" w="sm" len="sm"/>
            <a:tailEnd type="none" w="sm" len="sm"/>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eaLnBrk="1" hangingPunct="1">
              <a:spcBef>
                <a:spcPct val="0"/>
              </a:spcBef>
              <a:buClrTx/>
              <a:buFontTx/>
              <a:buNone/>
            </a:pPr>
            <a:r>
              <a:rPr lang="zh-CN" altLang="en-US" sz="2800" dirty="0">
                <a:solidFill>
                  <a:schemeClr val="tx2"/>
                </a:solidFill>
                <a:ea typeface="华文新魏" panose="02010800040101010101" pitchFamily="2" charset="-122"/>
              </a:rPr>
              <a:t>姓名</a:t>
            </a:r>
            <a:endParaRPr lang="zh-CN" altLang="en-US" sz="2800" dirty="0">
              <a:solidFill>
                <a:schemeClr val="tx2"/>
              </a:solidFill>
              <a:ea typeface="华文新魏" panose="02010800040101010101" pitchFamily="2" charset="-122"/>
            </a:endParaRPr>
          </a:p>
        </p:txBody>
      </p:sp>
      <p:sp>
        <p:nvSpPr>
          <p:cNvPr id="64529" name="Oval 16" descr="Large confetti"/>
          <p:cNvSpPr/>
          <p:nvPr/>
        </p:nvSpPr>
        <p:spPr>
          <a:xfrm>
            <a:off x="1600200" y="4876800"/>
            <a:ext cx="1371600" cy="685800"/>
          </a:xfrm>
          <a:prstGeom prst="ellipse">
            <a:avLst/>
          </a:prstGeom>
          <a:solidFill>
            <a:schemeClr val="accent1"/>
          </a:solidFill>
          <a:ln w="28575" cap="sq" cmpd="sng">
            <a:solidFill>
              <a:schemeClr val="tx1"/>
            </a:solidFill>
            <a:prstDash val="solid"/>
            <a:headEnd type="none" w="sm" len="sm"/>
            <a:tailEnd type="none" w="sm" len="sm"/>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a:spcBef>
                <a:spcPct val="50000"/>
              </a:spcBef>
              <a:buClrTx/>
              <a:buFontTx/>
              <a:buNone/>
            </a:pPr>
            <a:r>
              <a:rPr lang="zh-CN" altLang="en-US" sz="2800" u="sng" dirty="0">
                <a:solidFill>
                  <a:schemeClr val="tx2"/>
                </a:solidFill>
                <a:ea typeface="华文新魏" panose="02010800040101010101" pitchFamily="2" charset="-122"/>
              </a:rPr>
              <a:t>工号</a:t>
            </a:r>
            <a:endParaRPr lang="zh-CN" altLang="en-US" sz="2400" b="0" dirty="0">
              <a:solidFill>
                <a:schemeClr val="tx1"/>
              </a:solidFill>
              <a:latin typeface="Tahoma" panose="020B0604030504040204" pitchFamily="34" charset="0"/>
              <a:ea typeface="华文新魏" panose="02010800040101010101" pitchFamily="2" charset="-122"/>
            </a:endParaRPr>
          </a:p>
        </p:txBody>
      </p:sp>
      <p:sp>
        <p:nvSpPr>
          <p:cNvPr id="64530" name="Line 17"/>
          <p:cNvSpPr/>
          <p:nvPr/>
        </p:nvSpPr>
        <p:spPr>
          <a:xfrm flipH="1" flipV="1">
            <a:off x="4229100" y="5245100"/>
            <a:ext cx="190500" cy="0"/>
          </a:xfrm>
          <a:prstGeom prst="line">
            <a:avLst/>
          </a:prstGeom>
          <a:ln w="28575" cap="sq" cmpd="sng">
            <a:solidFill>
              <a:schemeClr val="tx1"/>
            </a:solidFill>
            <a:prstDash val="solid"/>
            <a:headEnd type="none" w="sm" len="sm"/>
            <a:tailEnd type="none" w="sm" len="sm"/>
          </a:ln>
        </p:spPr>
      </p:sp>
      <p:sp>
        <p:nvSpPr>
          <p:cNvPr id="64531" name="Line 18"/>
          <p:cNvSpPr/>
          <p:nvPr/>
        </p:nvSpPr>
        <p:spPr>
          <a:xfrm flipH="1">
            <a:off x="3733800" y="5562600"/>
            <a:ext cx="0" cy="228600"/>
          </a:xfrm>
          <a:prstGeom prst="line">
            <a:avLst/>
          </a:prstGeom>
          <a:ln w="28575" cap="sq" cmpd="sng">
            <a:solidFill>
              <a:schemeClr val="tx1"/>
            </a:solidFill>
            <a:prstDash val="solid"/>
            <a:headEnd type="none" w="sm" len="sm"/>
            <a:tailEnd type="none" w="sm" len="sm"/>
          </a:ln>
        </p:spPr>
      </p:sp>
      <p:sp>
        <p:nvSpPr>
          <p:cNvPr id="64532" name="Line 19"/>
          <p:cNvSpPr/>
          <p:nvPr/>
        </p:nvSpPr>
        <p:spPr>
          <a:xfrm flipH="1" flipV="1">
            <a:off x="2971800" y="5257800"/>
            <a:ext cx="228600" cy="0"/>
          </a:xfrm>
          <a:prstGeom prst="line">
            <a:avLst/>
          </a:prstGeom>
          <a:ln w="28575" cap="sq" cmpd="sng">
            <a:solidFill>
              <a:schemeClr val="tx1"/>
            </a:solidFill>
            <a:prstDash val="solid"/>
            <a:headEnd type="none" w="sm" len="sm"/>
            <a:tailEnd type="none" w="sm" len="sm"/>
          </a:ln>
        </p:spPr>
      </p:sp>
      <p:sp>
        <p:nvSpPr>
          <p:cNvPr id="64533" name="AutoShape 20"/>
          <p:cNvSpPr/>
          <p:nvPr/>
        </p:nvSpPr>
        <p:spPr>
          <a:xfrm>
            <a:off x="533400" y="4800600"/>
            <a:ext cx="1066800" cy="762000"/>
          </a:xfrm>
          <a:prstGeom prst="rightArrow">
            <a:avLst>
              <a:gd name="adj1" fmla="val 50000"/>
              <a:gd name="adj2" fmla="val 35000"/>
            </a:avLst>
          </a:prstGeom>
          <a:solidFill>
            <a:srgbClr val="FF3300"/>
          </a:solidFill>
          <a:ln w="12700" cap="sq"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a:spcBef>
                <a:spcPct val="0"/>
              </a:spcBef>
              <a:buClrTx/>
              <a:buFontTx/>
              <a:buNone/>
            </a:pPr>
            <a:endParaRPr lang="en-US" altLang="zh-CN" sz="1600" b="0" dirty="0">
              <a:solidFill>
                <a:schemeClr val="tx1"/>
              </a:solidFill>
            </a:endParaRPr>
          </a:p>
        </p:txBody>
      </p:sp>
      <p:sp>
        <p:nvSpPr>
          <p:cNvPr id="64534" name="Line 21"/>
          <p:cNvSpPr/>
          <p:nvPr/>
        </p:nvSpPr>
        <p:spPr>
          <a:xfrm flipH="1" flipV="1">
            <a:off x="5549900" y="5245100"/>
            <a:ext cx="228600" cy="0"/>
          </a:xfrm>
          <a:prstGeom prst="line">
            <a:avLst/>
          </a:prstGeom>
          <a:ln w="28575" cap="sq" cmpd="sng">
            <a:solidFill>
              <a:schemeClr val="tx1"/>
            </a:solidFill>
            <a:prstDash val="solid"/>
            <a:headEnd type="none" w="sm" len="sm"/>
            <a:tailEnd type="none" w="sm" len="sm"/>
          </a:ln>
        </p:spPr>
      </p:sp>
      <p:sp>
        <p:nvSpPr>
          <p:cNvPr id="64535" name="AutoShape 22"/>
          <p:cNvSpPr/>
          <p:nvPr/>
        </p:nvSpPr>
        <p:spPr>
          <a:xfrm>
            <a:off x="5829300" y="3873500"/>
            <a:ext cx="1143000" cy="762000"/>
          </a:xfrm>
          <a:prstGeom prst="diamond">
            <a:avLst/>
          </a:prstGeom>
          <a:solidFill>
            <a:srgbClr val="808000"/>
          </a:solidFill>
          <a:ln w="28575" cap="sq"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eaLnBrk="1" hangingPunct="1">
              <a:spcBef>
                <a:spcPct val="0"/>
              </a:spcBef>
              <a:buClrTx/>
              <a:buFontTx/>
              <a:buNone/>
            </a:pPr>
            <a:r>
              <a:rPr lang="zh-CN" altLang="en-US" dirty="0">
                <a:solidFill>
                  <a:schemeClr val="tx2"/>
                </a:solidFill>
                <a:ea typeface="华文新魏" panose="02010800040101010101" pitchFamily="2" charset="-122"/>
              </a:rPr>
              <a:t>分配</a:t>
            </a:r>
            <a:endParaRPr lang="zh-CN" altLang="en-US" dirty="0">
              <a:solidFill>
                <a:schemeClr val="tx2"/>
              </a:solidFill>
              <a:ea typeface="华文新魏" panose="02010800040101010101" pitchFamily="2" charset="-122"/>
            </a:endParaRPr>
          </a:p>
        </p:txBody>
      </p:sp>
      <p:sp>
        <p:nvSpPr>
          <p:cNvPr id="64536" name="Line 23"/>
          <p:cNvSpPr/>
          <p:nvPr/>
        </p:nvSpPr>
        <p:spPr>
          <a:xfrm flipH="1">
            <a:off x="6400800" y="3657600"/>
            <a:ext cx="0" cy="228600"/>
          </a:xfrm>
          <a:prstGeom prst="line">
            <a:avLst/>
          </a:prstGeom>
          <a:ln w="28575" cap="sq" cmpd="sng">
            <a:solidFill>
              <a:schemeClr val="tx1"/>
            </a:solidFill>
            <a:prstDash val="solid"/>
            <a:headEnd type="none" w="sm" len="sm"/>
            <a:tailEnd type="none" w="sm" len="sm"/>
          </a:ln>
        </p:spPr>
      </p:sp>
      <p:sp>
        <p:nvSpPr>
          <p:cNvPr id="64537" name="Text Box 24"/>
          <p:cNvSpPr txBox="1"/>
          <p:nvPr/>
        </p:nvSpPr>
        <p:spPr>
          <a:xfrm>
            <a:off x="5867400" y="3048000"/>
            <a:ext cx="1143000" cy="608013"/>
          </a:xfrm>
          <a:prstGeom prst="rect">
            <a:avLst/>
          </a:prstGeom>
          <a:solidFill>
            <a:srgbClr val="33CCCC"/>
          </a:solidFill>
          <a:ln w="28575" cap="sq" cmpd="sng">
            <a:solidFill>
              <a:schemeClr val="tx1"/>
            </a:solidFill>
            <a:prstDash val="solid"/>
            <a:miter/>
            <a:headEnd type="none" w="sm" len="sm"/>
            <a:tailEnd type="none" w="sm" len="sm"/>
          </a:ln>
        </p:spPr>
        <p:txBody>
          <a:bodyPr anchor="ctr" anchorCtr="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a:spcBef>
                <a:spcPct val="50000"/>
              </a:spcBef>
              <a:buClrTx/>
              <a:buFontTx/>
              <a:buNone/>
            </a:pPr>
            <a:r>
              <a:rPr lang="zh-CN" altLang="en-US" dirty="0">
                <a:solidFill>
                  <a:schemeClr val="tx2"/>
                </a:solidFill>
                <a:ea typeface="华文新魏" panose="02010800040101010101" pitchFamily="2" charset="-122"/>
              </a:rPr>
              <a:t>住房</a:t>
            </a:r>
            <a:endParaRPr lang="zh-CN" altLang="en-US" b="0" dirty="0">
              <a:solidFill>
                <a:schemeClr val="tx2"/>
              </a:solidFill>
              <a:ea typeface="华文新魏" panose="02010800040101010101" pitchFamily="2" charset="-122"/>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页脚占位符 2"/>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65539" name="Rectangle 2"/>
          <p:cNvSpPr/>
          <p:nvPr/>
        </p:nvSpPr>
        <p:spPr>
          <a:xfrm>
            <a:off x="1371600" y="1600200"/>
            <a:ext cx="7162800" cy="44196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342900" lvl="0" indent="-342900" eaLnBrk="1" hangingPunct="1">
              <a:lnSpc>
                <a:spcPct val="140000"/>
              </a:lnSpc>
              <a:buClr>
                <a:schemeClr val="folHlink"/>
              </a:buClr>
              <a:buSzPct val="60000"/>
              <a:buNone/>
            </a:pPr>
            <a:r>
              <a:rPr lang="en-US" altLang="zh-CN" dirty="0">
                <a:solidFill>
                  <a:schemeClr val="tx1"/>
                </a:solidFill>
              </a:rPr>
              <a:t>7.3.1  </a:t>
            </a:r>
            <a:r>
              <a:rPr lang="zh-CN" altLang="en-US" dirty="0">
                <a:solidFill>
                  <a:schemeClr val="tx1"/>
                </a:solidFill>
              </a:rPr>
              <a:t>概念结构设计概述</a:t>
            </a:r>
            <a:endParaRPr lang="zh-CN" altLang="en-US" dirty="0">
              <a:solidFill>
                <a:schemeClr val="tx1"/>
              </a:solidFill>
            </a:endParaRPr>
          </a:p>
          <a:p>
            <a:pPr marL="342900" lvl="0" indent="-342900" eaLnBrk="1" hangingPunct="1">
              <a:lnSpc>
                <a:spcPct val="140000"/>
              </a:lnSpc>
              <a:buClr>
                <a:schemeClr val="folHlink"/>
              </a:buClr>
              <a:buSzPct val="60000"/>
              <a:buNone/>
            </a:pPr>
            <a:r>
              <a:rPr lang="en-US" altLang="zh-CN" dirty="0">
                <a:solidFill>
                  <a:schemeClr val="tx1"/>
                </a:solidFill>
              </a:rPr>
              <a:t>7.3.2  </a:t>
            </a:r>
            <a:r>
              <a:rPr lang="zh-CN" altLang="en-US" dirty="0">
                <a:solidFill>
                  <a:schemeClr val="tx1"/>
                </a:solidFill>
              </a:rPr>
              <a:t>概念结构设计的方法与步骤</a:t>
            </a:r>
            <a:endParaRPr lang="zh-CN" altLang="en-US" dirty="0">
              <a:solidFill>
                <a:schemeClr val="tx1"/>
              </a:solidFill>
            </a:endParaRPr>
          </a:p>
          <a:p>
            <a:pPr marL="342900" lvl="0" indent="-342900" eaLnBrk="1" hangingPunct="1">
              <a:lnSpc>
                <a:spcPct val="140000"/>
              </a:lnSpc>
              <a:buClr>
                <a:schemeClr val="folHlink"/>
              </a:buClr>
              <a:buSzPct val="60000"/>
              <a:buNone/>
            </a:pPr>
            <a:r>
              <a:rPr lang="en-US" altLang="zh-CN" dirty="0">
                <a:solidFill>
                  <a:schemeClr val="tx1"/>
                </a:solidFill>
              </a:rPr>
              <a:t>7.3.3  </a:t>
            </a:r>
            <a:r>
              <a:rPr lang="zh-CN" altLang="en-US" dirty="0">
                <a:solidFill>
                  <a:schemeClr val="tx1"/>
                </a:solidFill>
              </a:rPr>
              <a:t>数据抽象与局部视图设计</a:t>
            </a:r>
            <a:endParaRPr lang="zh-CN" altLang="en-US" dirty="0">
              <a:solidFill>
                <a:schemeClr val="tx1"/>
              </a:solidFill>
            </a:endParaRPr>
          </a:p>
          <a:p>
            <a:pPr marL="342900" lvl="0" indent="-342900" eaLnBrk="1" hangingPunct="1">
              <a:lnSpc>
                <a:spcPct val="140000"/>
              </a:lnSpc>
              <a:buClr>
                <a:schemeClr val="folHlink"/>
              </a:buClr>
              <a:buSzPct val="60000"/>
              <a:buNone/>
            </a:pPr>
            <a:r>
              <a:rPr lang="en-US" altLang="zh-CN" dirty="0"/>
              <a:t>7.3.4  E-R</a:t>
            </a:r>
            <a:r>
              <a:rPr lang="zh-CN" altLang="en-US" dirty="0"/>
              <a:t>图的集成</a:t>
            </a:r>
            <a:endParaRPr lang="zh-CN" altLang="en-US" dirty="0"/>
          </a:p>
        </p:txBody>
      </p:sp>
      <p:sp>
        <p:nvSpPr>
          <p:cNvPr id="65540" name="Rectangle 3"/>
          <p:cNvSpPr>
            <a:spLocks noGrp="1"/>
          </p:cNvSpPr>
          <p:nvPr>
            <p:ph type="title" idx="4294967295"/>
          </p:nvPr>
        </p:nvSpPr>
        <p:spPr>
          <a:ln/>
        </p:spPr>
        <p:txBody>
          <a:bodyPr vert="horz" wrap="square" lIns="91440" tIns="45720" rIns="91440" bIns="45720" anchor="ctr" anchorCtr="0"/>
          <a:p>
            <a:pPr eaLnBrk="1" hangingPunct="1"/>
            <a:r>
              <a:rPr lang="en-US" altLang="zh-CN" dirty="0"/>
              <a:t>7.3 </a:t>
            </a:r>
            <a:r>
              <a:rPr lang="zh-CN" altLang="en-US" dirty="0"/>
              <a:t>概念结构设计</a:t>
            </a:r>
            <a:endParaRPr lang="zh-CN" altLang="en-US"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2" name="页脚占位符 2"/>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66563" name="Rectangle 2"/>
          <p:cNvSpPr/>
          <p:nvPr/>
        </p:nvSpPr>
        <p:spPr>
          <a:xfrm>
            <a:off x="457200" y="1143000"/>
            <a:ext cx="7848600" cy="50292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342900" lvl="0" indent="-342900" eaLnBrk="1" hangingPunct="1">
              <a:lnSpc>
                <a:spcPct val="110000"/>
              </a:lnSpc>
            </a:pPr>
            <a:r>
              <a:rPr lang="en-US" altLang="zh-CN" dirty="0">
                <a:solidFill>
                  <a:schemeClr val="tx1"/>
                </a:solidFill>
                <a:latin typeface="宋体" panose="02010600030101010101" pitchFamily="2" charset="-122"/>
              </a:rPr>
              <a:t>E-R</a:t>
            </a:r>
            <a:r>
              <a:rPr lang="zh-CN" altLang="en-US" dirty="0">
                <a:solidFill>
                  <a:schemeClr val="tx1"/>
                </a:solidFill>
                <a:latin typeface="宋体" panose="02010600030101010101" pitchFamily="2" charset="-122"/>
              </a:rPr>
              <a:t>图集成（</a:t>
            </a:r>
            <a:r>
              <a:rPr lang="en-US" altLang="zh-CN" dirty="0">
                <a:solidFill>
                  <a:schemeClr val="tx1"/>
                </a:solidFill>
                <a:latin typeface="宋体" panose="02010600030101010101" pitchFamily="2" charset="-122"/>
              </a:rPr>
              <a:t>P223</a:t>
            </a:r>
            <a:r>
              <a:rPr lang="zh-CN" altLang="en-US" dirty="0">
                <a:solidFill>
                  <a:schemeClr val="tx1"/>
                </a:solidFill>
                <a:latin typeface="宋体" panose="02010600030101010101" pitchFamily="2" charset="-122"/>
              </a:rPr>
              <a:t>）</a:t>
            </a:r>
            <a:endParaRPr lang="zh-CN" altLang="en-US" dirty="0">
              <a:solidFill>
                <a:schemeClr val="tx1"/>
              </a:solidFill>
              <a:latin typeface="宋体" panose="02010600030101010101" pitchFamily="2" charset="-122"/>
            </a:endParaRPr>
          </a:p>
          <a:p>
            <a:pPr marL="742950" lvl="1" indent="-285750" eaLnBrk="1" hangingPunct="1">
              <a:lnSpc>
                <a:spcPct val="110000"/>
              </a:lnSpc>
              <a:buClr>
                <a:srgbClr val="FF3300"/>
              </a:buClr>
            </a:pPr>
            <a:r>
              <a:rPr lang="zh-CN" altLang="en-US" dirty="0">
                <a:latin typeface="宋体" panose="02010600030101010101" pitchFamily="2" charset="-122"/>
              </a:rPr>
              <a:t>多元集成</a:t>
            </a:r>
            <a:r>
              <a:rPr lang="en-US" altLang="zh-CN" dirty="0">
                <a:latin typeface="宋体" panose="02010600030101010101" pitchFamily="2" charset="-122"/>
              </a:rPr>
              <a:t>(</a:t>
            </a:r>
            <a:r>
              <a:rPr lang="zh-CN" altLang="en-US" dirty="0">
                <a:latin typeface="宋体" panose="02010600030101010101" pitchFamily="2" charset="-122"/>
              </a:rPr>
              <a:t>一次集成</a:t>
            </a:r>
            <a:r>
              <a:rPr lang="en-US" altLang="zh-CN" dirty="0">
                <a:latin typeface="宋体" panose="02010600030101010101" pitchFamily="2" charset="-122"/>
              </a:rPr>
              <a:t>)</a:t>
            </a:r>
            <a:endParaRPr lang="en-US" altLang="zh-CN" dirty="0">
              <a:latin typeface="宋体" panose="02010600030101010101" pitchFamily="2" charset="-122"/>
            </a:endParaRPr>
          </a:p>
          <a:p>
            <a:pPr marL="742950" lvl="1" indent="-285750" eaLnBrk="1" hangingPunct="1">
              <a:lnSpc>
                <a:spcPct val="110000"/>
              </a:lnSpc>
              <a:buClr>
                <a:srgbClr val="FF3300"/>
              </a:buClr>
            </a:pPr>
            <a:r>
              <a:rPr lang="zh-CN" altLang="en-US" dirty="0">
                <a:latin typeface="宋体" panose="02010600030101010101" pitchFamily="2" charset="-122"/>
              </a:rPr>
              <a:t>二元集成</a:t>
            </a:r>
            <a:r>
              <a:rPr lang="en-US" altLang="zh-CN" dirty="0">
                <a:latin typeface="宋体" panose="02010600030101010101" pitchFamily="2" charset="-122"/>
              </a:rPr>
              <a:t>(</a:t>
            </a:r>
            <a:r>
              <a:rPr lang="zh-CN" altLang="en-US" dirty="0">
                <a:latin typeface="宋体" panose="02010600030101010101" pitchFamily="2" charset="-122"/>
              </a:rPr>
              <a:t>累计集成</a:t>
            </a:r>
            <a:r>
              <a:rPr lang="en-US" altLang="zh-CN" dirty="0">
                <a:latin typeface="宋体" panose="02010600030101010101" pitchFamily="2" charset="-122"/>
              </a:rPr>
              <a:t>)</a:t>
            </a:r>
            <a:endParaRPr lang="en-US" altLang="zh-CN" dirty="0">
              <a:latin typeface="宋体" panose="02010600030101010101" pitchFamily="2" charset="-122"/>
            </a:endParaRPr>
          </a:p>
          <a:p>
            <a:pPr marL="342900" lvl="0" indent="-342900" eaLnBrk="1" hangingPunct="1">
              <a:lnSpc>
                <a:spcPct val="110000"/>
              </a:lnSpc>
            </a:pPr>
            <a:r>
              <a:rPr lang="zh-CN" altLang="en-US" sz="2800" dirty="0">
                <a:solidFill>
                  <a:schemeClr val="tx1"/>
                </a:solidFill>
                <a:latin typeface="宋体" panose="02010600030101010101" pitchFamily="2" charset="-122"/>
              </a:rPr>
              <a:t>集成的步骤</a:t>
            </a:r>
            <a:endParaRPr lang="zh-CN" altLang="en-US" sz="2800" dirty="0">
              <a:solidFill>
                <a:schemeClr val="tx1"/>
              </a:solidFill>
              <a:latin typeface="宋体" panose="02010600030101010101" pitchFamily="2" charset="-122"/>
            </a:endParaRPr>
          </a:p>
          <a:p>
            <a:pPr marL="742950" lvl="1" indent="-285750" eaLnBrk="1" hangingPunct="1">
              <a:lnSpc>
                <a:spcPct val="110000"/>
              </a:lnSpc>
              <a:buClr>
                <a:srgbClr val="FF3300"/>
              </a:buClr>
            </a:pPr>
            <a:r>
              <a:rPr lang="zh-CN" altLang="en-US" dirty="0">
                <a:latin typeface="宋体" panose="02010600030101010101" pitchFamily="2" charset="-122"/>
              </a:rPr>
              <a:t>合并</a:t>
            </a:r>
            <a:r>
              <a:rPr lang="en-US" altLang="zh-CN" dirty="0">
                <a:latin typeface="宋体" panose="02010600030101010101" pitchFamily="2" charset="-122"/>
              </a:rPr>
              <a:t>: </a:t>
            </a:r>
            <a:r>
              <a:rPr lang="zh-CN" altLang="en-US" dirty="0">
                <a:latin typeface="宋体" panose="02010600030101010101" pitchFamily="2" charset="-122"/>
              </a:rPr>
              <a:t>消除冲突（</a:t>
            </a:r>
            <a:r>
              <a:rPr lang="en-US" altLang="zh-CN" dirty="0">
                <a:latin typeface="宋体" panose="02010600030101010101" pitchFamily="2" charset="-122"/>
              </a:rPr>
              <a:t>P226</a:t>
            </a:r>
            <a:r>
              <a:rPr lang="zh-CN" altLang="en-US" dirty="0">
                <a:latin typeface="宋体" panose="02010600030101010101" pitchFamily="2" charset="-122"/>
              </a:rPr>
              <a:t>）</a:t>
            </a:r>
            <a:endParaRPr lang="zh-CN" altLang="en-US" dirty="0">
              <a:latin typeface="宋体" panose="02010600030101010101" pitchFamily="2" charset="-122"/>
            </a:endParaRPr>
          </a:p>
          <a:p>
            <a:pPr marL="742950" lvl="1" indent="-285750" eaLnBrk="1" hangingPunct="1">
              <a:lnSpc>
                <a:spcPct val="110000"/>
              </a:lnSpc>
              <a:buClr>
                <a:srgbClr val="FF3300"/>
              </a:buClr>
            </a:pPr>
            <a:r>
              <a:rPr lang="zh-CN" altLang="en-US" dirty="0">
                <a:latin typeface="宋体" panose="02010600030101010101" pitchFamily="2" charset="-122"/>
              </a:rPr>
              <a:t>优化：消除冗余</a:t>
            </a:r>
            <a:endParaRPr lang="zh-CN" altLang="en-US" dirty="0">
              <a:latin typeface="宋体" panose="02010600030101010101" pitchFamily="2" charset="-122"/>
            </a:endParaRPr>
          </a:p>
        </p:txBody>
      </p:sp>
      <p:sp>
        <p:nvSpPr>
          <p:cNvPr id="66564" name="Rectangle 3"/>
          <p:cNvSpPr>
            <a:spLocks noGrp="1"/>
          </p:cNvSpPr>
          <p:nvPr>
            <p:ph type="title" idx="4294967295"/>
          </p:nvPr>
        </p:nvSpPr>
        <p:spPr>
          <a:xfrm>
            <a:off x="914400" y="0"/>
            <a:ext cx="7772400" cy="609600"/>
          </a:xfrm>
          <a:ln/>
        </p:spPr>
        <p:txBody>
          <a:bodyPr vert="horz" wrap="square" lIns="91440" tIns="45720" rIns="91440" bIns="45720" anchor="ctr" anchorCtr="0"/>
          <a:p>
            <a:pPr eaLnBrk="1" hangingPunct="1"/>
            <a:r>
              <a:rPr lang="en-US" altLang="zh-CN" dirty="0"/>
              <a:t>7.3.4 E-R</a:t>
            </a:r>
            <a:r>
              <a:rPr lang="zh-CN" altLang="en-US" dirty="0"/>
              <a:t>图集成</a:t>
            </a:r>
            <a:endParaRPr lang="zh-CN" altLang="en-US"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6" name="页脚占位符 2"/>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67587" name="Rectangle 2"/>
          <p:cNvSpPr/>
          <p:nvPr/>
        </p:nvSpPr>
        <p:spPr>
          <a:xfrm>
            <a:off x="457200" y="838200"/>
            <a:ext cx="8229600" cy="57150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342900" lvl="0" indent="-342900" eaLnBrk="1" hangingPunct="1">
              <a:lnSpc>
                <a:spcPct val="110000"/>
              </a:lnSpc>
            </a:pPr>
            <a:r>
              <a:rPr lang="zh-CN" altLang="en-US" dirty="0">
                <a:solidFill>
                  <a:schemeClr val="tx1"/>
                </a:solidFill>
                <a:latin typeface="宋体" panose="02010600030101010101" pitchFamily="2" charset="-122"/>
              </a:rPr>
              <a:t>解决冲突</a:t>
            </a:r>
            <a:endParaRPr lang="zh-CN" altLang="en-US" dirty="0">
              <a:solidFill>
                <a:schemeClr val="tx1"/>
              </a:solidFill>
              <a:latin typeface="宋体" panose="02010600030101010101" pitchFamily="2" charset="-122"/>
            </a:endParaRPr>
          </a:p>
          <a:p>
            <a:pPr marL="742950" lvl="1" indent="-285750" eaLnBrk="1" hangingPunct="1">
              <a:lnSpc>
                <a:spcPct val="110000"/>
              </a:lnSpc>
              <a:buClr>
                <a:srgbClr val="FF3300"/>
              </a:buClr>
            </a:pPr>
            <a:r>
              <a:rPr lang="zh-CN" altLang="en-US" dirty="0">
                <a:latin typeface="宋体" panose="02010600030101010101" pitchFamily="2" charset="-122"/>
              </a:rPr>
              <a:t>属性冲突</a:t>
            </a:r>
            <a:endParaRPr lang="zh-CN" altLang="en-US" dirty="0">
              <a:latin typeface="宋体" panose="02010600030101010101" pitchFamily="2" charset="-122"/>
            </a:endParaRPr>
          </a:p>
          <a:p>
            <a:pPr marL="1143000" lvl="2" indent="-228600" eaLnBrk="1" hangingPunct="1">
              <a:lnSpc>
                <a:spcPct val="110000"/>
              </a:lnSpc>
              <a:buClr>
                <a:srgbClr val="FF3300"/>
              </a:buClr>
              <a:buFont typeface="Wingdings" panose="05000000000000000000" pitchFamily="2" charset="2"/>
              <a:buChar char="§"/>
            </a:pPr>
            <a:r>
              <a:rPr lang="zh-CN" altLang="en-US" dirty="0">
                <a:latin typeface="宋体" panose="02010600030101010101" pitchFamily="2" charset="-122"/>
                <a:ea typeface="宋体" panose="02010600030101010101" pitchFamily="2" charset="-122"/>
              </a:rPr>
              <a:t>值、域、类型冲突</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如年龄</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学号</a:t>
            </a:r>
            <a:r>
              <a:rPr lang="en-US" altLang="zh-CN" dirty="0">
                <a:latin typeface="宋体" panose="02010600030101010101" pitchFamily="2" charset="-122"/>
                <a:ea typeface="宋体" panose="02010600030101010101" pitchFamily="2" charset="-122"/>
              </a:rPr>
              <a:t>)</a:t>
            </a:r>
            <a:endParaRPr lang="en-US" altLang="zh-CN" dirty="0">
              <a:latin typeface="宋体" panose="02010600030101010101" pitchFamily="2" charset="-122"/>
              <a:ea typeface="宋体" panose="02010600030101010101" pitchFamily="2" charset="-122"/>
            </a:endParaRPr>
          </a:p>
          <a:p>
            <a:pPr marL="1143000" lvl="2" indent="-228600" eaLnBrk="1" hangingPunct="1">
              <a:lnSpc>
                <a:spcPct val="110000"/>
              </a:lnSpc>
              <a:buClr>
                <a:srgbClr val="FF3300"/>
              </a:buClr>
              <a:buFont typeface="Wingdings" panose="05000000000000000000" pitchFamily="2" charset="2"/>
              <a:buChar char="§"/>
            </a:pPr>
            <a:r>
              <a:rPr lang="zh-CN" altLang="en-US" dirty="0">
                <a:latin typeface="宋体" panose="02010600030101010101" pitchFamily="2" charset="-122"/>
                <a:ea typeface="宋体" panose="02010600030101010101" pitchFamily="2" charset="-122"/>
              </a:rPr>
              <a:t>计量单位冲突</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身高</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尺</a:t>
            </a:r>
            <a:r>
              <a:rPr lang="en-US" altLang="zh-CN" dirty="0">
                <a:latin typeface="宋体" panose="02010600030101010101" pitchFamily="2" charset="-122"/>
                <a:ea typeface="宋体" panose="02010600030101010101" pitchFamily="2" charset="-122"/>
              </a:rPr>
              <a:t>/</a:t>
            </a:r>
            <a:r>
              <a:rPr lang="en-US" altLang="zh-CN" dirty="0">
                <a:ea typeface="宋体" panose="02010600030101010101" pitchFamily="2" charset="-122"/>
              </a:rPr>
              <a:t>cm/m</a:t>
            </a:r>
            <a:r>
              <a:rPr lang="en-US" altLang="zh-CN" dirty="0">
                <a:latin typeface="宋体" panose="02010600030101010101" pitchFamily="2" charset="-122"/>
                <a:ea typeface="宋体" panose="02010600030101010101" pitchFamily="2" charset="-122"/>
              </a:rPr>
              <a:t>)</a:t>
            </a:r>
            <a:endParaRPr lang="en-US" altLang="zh-CN" dirty="0">
              <a:latin typeface="宋体" panose="02010600030101010101" pitchFamily="2" charset="-122"/>
              <a:ea typeface="宋体" panose="02010600030101010101" pitchFamily="2" charset="-122"/>
            </a:endParaRPr>
          </a:p>
          <a:p>
            <a:pPr marL="742950" lvl="1" indent="-285750" eaLnBrk="1" hangingPunct="1">
              <a:lnSpc>
                <a:spcPct val="110000"/>
              </a:lnSpc>
              <a:buClr>
                <a:srgbClr val="FF3300"/>
              </a:buClr>
            </a:pPr>
            <a:r>
              <a:rPr lang="zh-CN" altLang="en-US" dirty="0">
                <a:latin typeface="宋体" panose="02010600030101010101" pitchFamily="2" charset="-122"/>
              </a:rPr>
              <a:t>命名冲突</a:t>
            </a:r>
            <a:endParaRPr lang="zh-CN" altLang="en-US" dirty="0">
              <a:latin typeface="宋体" panose="02010600030101010101" pitchFamily="2" charset="-122"/>
            </a:endParaRPr>
          </a:p>
          <a:p>
            <a:pPr marL="1143000" lvl="2" indent="-228600" eaLnBrk="1" hangingPunct="1">
              <a:lnSpc>
                <a:spcPct val="110000"/>
              </a:lnSpc>
              <a:buClr>
                <a:srgbClr val="FF3300"/>
              </a:buClr>
              <a:buFont typeface="Wingdings" panose="05000000000000000000" pitchFamily="2" charset="2"/>
              <a:buChar char="§"/>
            </a:pPr>
            <a:r>
              <a:rPr lang="zh-CN" altLang="en-US" dirty="0">
                <a:latin typeface="宋体" panose="02010600030101010101" pitchFamily="2" charset="-122"/>
                <a:ea typeface="宋体" panose="02010600030101010101" pitchFamily="2" charset="-122"/>
              </a:rPr>
              <a:t>同名异义</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房间</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单位</a:t>
            </a:r>
            <a:r>
              <a:rPr lang="en-US" altLang="zh-CN" dirty="0">
                <a:latin typeface="宋体" panose="02010600030101010101" pitchFamily="2" charset="-122"/>
                <a:ea typeface="宋体" panose="02010600030101010101" pitchFamily="2" charset="-122"/>
              </a:rPr>
              <a:t>?)</a:t>
            </a:r>
            <a:endParaRPr lang="en-US" altLang="zh-CN" dirty="0">
              <a:latin typeface="宋体" panose="02010600030101010101" pitchFamily="2" charset="-122"/>
              <a:ea typeface="宋体" panose="02010600030101010101" pitchFamily="2" charset="-122"/>
            </a:endParaRPr>
          </a:p>
          <a:p>
            <a:pPr marL="1143000" lvl="2" indent="-228600" eaLnBrk="1" hangingPunct="1">
              <a:lnSpc>
                <a:spcPct val="110000"/>
              </a:lnSpc>
              <a:buClr>
                <a:srgbClr val="FF3300"/>
              </a:buClr>
              <a:buFont typeface="Wingdings" panose="05000000000000000000" pitchFamily="2" charset="2"/>
              <a:buChar char="§"/>
            </a:pPr>
            <a:r>
              <a:rPr lang="zh-CN" altLang="en-US" dirty="0">
                <a:latin typeface="宋体" panose="02010600030101010101" pitchFamily="2" charset="-122"/>
                <a:ea typeface="宋体" panose="02010600030101010101" pitchFamily="2" charset="-122"/>
              </a:rPr>
              <a:t>异名同义</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课本</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教科书</a:t>
            </a:r>
            <a:r>
              <a:rPr lang="en-US" altLang="zh-CN" dirty="0">
                <a:latin typeface="宋体" panose="02010600030101010101" pitchFamily="2" charset="-122"/>
                <a:ea typeface="宋体" panose="02010600030101010101" pitchFamily="2" charset="-122"/>
              </a:rPr>
              <a:t>)</a:t>
            </a:r>
            <a:endParaRPr lang="en-US" altLang="zh-CN" dirty="0">
              <a:latin typeface="宋体" panose="02010600030101010101" pitchFamily="2" charset="-122"/>
              <a:ea typeface="宋体" panose="02010600030101010101" pitchFamily="2" charset="-122"/>
            </a:endParaRPr>
          </a:p>
          <a:p>
            <a:pPr marL="742950" lvl="1" indent="-285750" eaLnBrk="1" hangingPunct="1">
              <a:lnSpc>
                <a:spcPct val="110000"/>
              </a:lnSpc>
              <a:buClr>
                <a:srgbClr val="FF3300"/>
              </a:buClr>
            </a:pPr>
            <a:r>
              <a:rPr lang="zh-CN" altLang="en-US" dirty="0">
                <a:latin typeface="宋体" panose="02010600030101010101" pitchFamily="2" charset="-122"/>
              </a:rPr>
              <a:t>结构冲突</a:t>
            </a:r>
            <a:endParaRPr lang="zh-CN" altLang="en-US" dirty="0">
              <a:latin typeface="宋体" panose="02010600030101010101" pitchFamily="2" charset="-122"/>
            </a:endParaRPr>
          </a:p>
          <a:p>
            <a:pPr marL="1143000" lvl="2" indent="-228600" eaLnBrk="1" hangingPunct="1">
              <a:lnSpc>
                <a:spcPct val="110000"/>
              </a:lnSpc>
              <a:buClr>
                <a:srgbClr val="FF3300"/>
              </a:buClr>
              <a:buFont typeface="Wingdings" panose="05000000000000000000" pitchFamily="2" charset="2"/>
              <a:buChar char="§"/>
            </a:pPr>
            <a:r>
              <a:rPr lang="zh-CN" altLang="en-US" dirty="0">
                <a:latin typeface="宋体" panose="02010600030101010101" pitchFamily="2" charset="-122"/>
                <a:ea typeface="宋体" panose="02010600030101010101" pitchFamily="2" charset="-122"/>
              </a:rPr>
              <a:t>时为属性时为实体</a:t>
            </a:r>
            <a:endParaRPr lang="zh-CN" altLang="en-US" dirty="0">
              <a:latin typeface="宋体" panose="02010600030101010101" pitchFamily="2" charset="-122"/>
              <a:ea typeface="宋体" panose="02010600030101010101" pitchFamily="2" charset="-122"/>
            </a:endParaRPr>
          </a:p>
          <a:p>
            <a:pPr marL="1143000" lvl="2" indent="-228600" eaLnBrk="1" hangingPunct="1">
              <a:lnSpc>
                <a:spcPct val="110000"/>
              </a:lnSpc>
              <a:buClr>
                <a:srgbClr val="FF3300"/>
              </a:buClr>
              <a:buFont typeface="Wingdings" panose="05000000000000000000" pitchFamily="2" charset="2"/>
              <a:buChar char="§"/>
            </a:pPr>
            <a:r>
              <a:rPr lang="zh-CN" altLang="en-US" dirty="0">
                <a:latin typeface="宋体" panose="02010600030101010101" pitchFamily="2" charset="-122"/>
                <a:ea typeface="宋体" panose="02010600030101010101" pitchFamily="2" charset="-122"/>
              </a:rPr>
              <a:t>同一实体属性集不同</a:t>
            </a:r>
            <a:endParaRPr lang="zh-CN" altLang="en-US" dirty="0">
              <a:latin typeface="宋体" panose="02010600030101010101" pitchFamily="2" charset="-122"/>
              <a:ea typeface="宋体" panose="02010600030101010101" pitchFamily="2" charset="-122"/>
            </a:endParaRPr>
          </a:p>
          <a:p>
            <a:pPr marL="1143000" lvl="2" indent="-228600" eaLnBrk="1" hangingPunct="1">
              <a:lnSpc>
                <a:spcPct val="110000"/>
              </a:lnSpc>
              <a:buClr>
                <a:srgbClr val="FF3300"/>
              </a:buClr>
              <a:buFont typeface="Wingdings" panose="05000000000000000000" pitchFamily="2" charset="2"/>
              <a:buChar char="§"/>
            </a:pPr>
            <a:r>
              <a:rPr lang="zh-CN" altLang="en-US" dirty="0">
                <a:latin typeface="宋体" panose="02010600030101010101" pitchFamily="2" charset="-122"/>
                <a:ea typeface="宋体" panose="02010600030101010101" pitchFamily="2" charset="-122"/>
              </a:rPr>
              <a:t>联系的类型在不同的局部表现不同</a:t>
            </a:r>
            <a:endParaRPr lang="zh-CN" altLang="en-US" dirty="0">
              <a:latin typeface="宋体" panose="02010600030101010101" pitchFamily="2" charset="-122"/>
              <a:ea typeface="宋体" panose="02010600030101010101" pitchFamily="2" charset="-122"/>
            </a:endParaRPr>
          </a:p>
        </p:txBody>
      </p:sp>
      <p:sp>
        <p:nvSpPr>
          <p:cNvPr id="67588" name="Rectangle 3"/>
          <p:cNvSpPr>
            <a:spLocks noGrp="1"/>
          </p:cNvSpPr>
          <p:nvPr>
            <p:ph type="title" idx="4294967295"/>
          </p:nvPr>
        </p:nvSpPr>
        <p:spPr>
          <a:xfrm>
            <a:off x="914400" y="0"/>
            <a:ext cx="7772400" cy="609600"/>
          </a:xfrm>
          <a:ln/>
        </p:spPr>
        <p:txBody>
          <a:bodyPr vert="horz" wrap="square" lIns="91440" tIns="45720" rIns="91440" bIns="45720" anchor="ctr" anchorCtr="0"/>
          <a:p>
            <a:pPr eaLnBrk="1" hangingPunct="1"/>
            <a:r>
              <a:rPr lang="en-US" altLang="zh-CN" dirty="0"/>
              <a:t>7.3.4 </a:t>
            </a:r>
            <a:r>
              <a:rPr lang="zh-CN" altLang="en-US" dirty="0"/>
              <a:t>视图集成</a:t>
            </a:r>
            <a:endParaRPr lang="zh-CN" altLang="en-US"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10" name="页脚占位符 2"/>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68611" name="Rectangle 2"/>
          <p:cNvSpPr/>
          <p:nvPr/>
        </p:nvSpPr>
        <p:spPr>
          <a:xfrm>
            <a:off x="457200" y="838200"/>
            <a:ext cx="8229600" cy="51054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342900" lvl="0" indent="-342900" eaLnBrk="1" hangingPunct="1">
              <a:lnSpc>
                <a:spcPct val="110000"/>
              </a:lnSpc>
            </a:pPr>
            <a:r>
              <a:rPr lang="zh-CN" altLang="en-US" dirty="0">
                <a:solidFill>
                  <a:schemeClr val="tx1"/>
                </a:solidFill>
                <a:latin typeface="宋体" panose="02010600030101010101" pitchFamily="2" charset="-122"/>
              </a:rPr>
              <a:t>消除冗余（</a:t>
            </a:r>
            <a:r>
              <a:rPr lang="en-US" altLang="zh-CN" dirty="0">
                <a:solidFill>
                  <a:schemeClr val="tx1"/>
                </a:solidFill>
                <a:latin typeface="宋体" panose="02010600030101010101" pitchFamily="2" charset="-122"/>
              </a:rPr>
              <a:t>P227 </a:t>
            </a:r>
            <a:r>
              <a:rPr lang="zh-CN" altLang="en-US" dirty="0">
                <a:solidFill>
                  <a:schemeClr val="tx1"/>
                </a:solidFill>
                <a:latin typeface="宋体" panose="02010600030101010101" pitchFamily="2" charset="-122"/>
              </a:rPr>
              <a:t>图</a:t>
            </a:r>
            <a:r>
              <a:rPr lang="en-US" altLang="zh-CN" dirty="0">
                <a:solidFill>
                  <a:schemeClr val="tx1"/>
                </a:solidFill>
                <a:latin typeface="宋体" panose="02010600030101010101" pitchFamily="2" charset="-122"/>
              </a:rPr>
              <a:t>7.29</a:t>
            </a:r>
            <a:r>
              <a:rPr lang="zh-CN" altLang="en-US" dirty="0">
                <a:solidFill>
                  <a:schemeClr val="tx1"/>
                </a:solidFill>
                <a:latin typeface="宋体" panose="02010600030101010101" pitchFamily="2" charset="-122"/>
              </a:rPr>
              <a:t>）</a:t>
            </a:r>
            <a:endParaRPr lang="zh-CN" altLang="en-US" dirty="0">
              <a:solidFill>
                <a:schemeClr val="tx1"/>
              </a:solidFill>
              <a:latin typeface="宋体" panose="02010600030101010101" pitchFamily="2" charset="-122"/>
            </a:endParaRPr>
          </a:p>
          <a:p>
            <a:pPr marL="342900" lvl="0" indent="-342900" eaLnBrk="1" hangingPunct="1">
              <a:lnSpc>
                <a:spcPct val="110000"/>
              </a:lnSpc>
              <a:buClr>
                <a:schemeClr val="folHlink"/>
              </a:buClr>
              <a:buSzPct val="60000"/>
              <a:buNone/>
            </a:pPr>
            <a:r>
              <a:rPr lang="zh-CN" altLang="en-US" sz="2800" dirty="0">
                <a:solidFill>
                  <a:schemeClr val="tx1"/>
                </a:solidFill>
                <a:latin typeface="Tahoma" panose="020B0604030504040204" pitchFamily="34" charset="0"/>
              </a:rPr>
              <a:t>	冗余的数据是指可由基本数据导出的数据</a:t>
            </a:r>
            <a:endParaRPr lang="zh-CN" altLang="en-US" sz="2800" dirty="0">
              <a:solidFill>
                <a:schemeClr val="tx1"/>
              </a:solidFill>
              <a:latin typeface="Tahoma" panose="020B0604030504040204" pitchFamily="34" charset="0"/>
            </a:endParaRPr>
          </a:p>
          <a:p>
            <a:pPr marL="342900" lvl="0" indent="-342900" eaLnBrk="1" hangingPunct="1">
              <a:lnSpc>
                <a:spcPct val="110000"/>
              </a:lnSpc>
              <a:buClr>
                <a:schemeClr val="folHlink"/>
              </a:buClr>
              <a:buSzPct val="60000"/>
              <a:buNone/>
            </a:pPr>
            <a:r>
              <a:rPr lang="zh-CN" altLang="en-US" sz="2800" dirty="0">
                <a:solidFill>
                  <a:schemeClr val="tx1"/>
                </a:solidFill>
                <a:latin typeface="Tahoma" panose="020B0604030504040204" pitchFamily="34" charset="0"/>
              </a:rPr>
              <a:t>	冗余的联系是指可由其他联系导出的联系</a:t>
            </a:r>
            <a:r>
              <a:rPr lang="zh-CN" altLang="en-US" sz="2800" b="0" dirty="0">
                <a:solidFill>
                  <a:schemeClr val="tx1"/>
                </a:solidFill>
                <a:latin typeface="Tahoma" panose="020B0604030504040204" pitchFamily="34" charset="0"/>
              </a:rPr>
              <a:t> </a:t>
            </a:r>
            <a:endParaRPr lang="zh-CN" altLang="en-US" sz="2800" b="0" dirty="0">
              <a:solidFill>
                <a:schemeClr val="tx1"/>
              </a:solidFill>
              <a:latin typeface="Tahoma" panose="020B0604030504040204" pitchFamily="34" charset="0"/>
            </a:endParaRPr>
          </a:p>
          <a:p>
            <a:pPr marL="342900" lvl="0" indent="-342900" eaLnBrk="1" hangingPunct="1">
              <a:lnSpc>
                <a:spcPct val="110000"/>
              </a:lnSpc>
              <a:buSzPct val="60000"/>
              <a:buFont typeface="Wingdings" panose="05000000000000000000" pitchFamily="2" charset="2"/>
              <a:buChar char="n"/>
            </a:pPr>
            <a:r>
              <a:rPr lang="zh-CN" altLang="en-US" dirty="0">
                <a:solidFill>
                  <a:schemeClr val="tx1"/>
                </a:solidFill>
                <a:latin typeface="Tahoma" panose="020B0604030504040204" pitchFamily="34" charset="0"/>
              </a:rPr>
              <a:t>可参考规范化理论</a:t>
            </a:r>
            <a:endParaRPr lang="zh-CN" altLang="en-US" dirty="0">
              <a:solidFill>
                <a:schemeClr val="tx1"/>
              </a:solidFill>
              <a:latin typeface="Tahoma" panose="020B0604030504040204" pitchFamily="34" charset="0"/>
            </a:endParaRPr>
          </a:p>
          <a:p>
            <a:pPr marL="342900" lvl="0" indent="-342900" eaLnBrk="1" hangingPunct="1">
              <a:lnSpc>
                <a:spcPct val="110000"/>
              </a:lnSpc>
              <a:buSzPct val="60000"/>
              <a:buFont typeface="Wingdings" panose="05000000000000000000" pitchFamily="2" charset="2"/>
              <a:buChar char="n"/>
            </a:pPr>
            <a:r>
              <a:rPr lang="zh-CN" altLang="en-US" dirty="0">
                <a:solidFill>
                  <a:schemeClr val="tx1"/>
                </a:solidFill>
                <a:latin typeface="Tahoma" panose="020B0604030504040204" pitchFamily="34" charset="0"/>
              </a:rPr>
              <a:t>不是所有的冗余都需消除，应根据整体需求取舍</a:t>
            </a:r>
            <a:endParaRPr lang="zh-CN" altLang="en-US" dirty="0">
              <a:solidFill>
                <a:schemeClr val="tx1"/>
              </a:solidFill>
              <a:latin typeface="Tahoma" panose="020B0604030504040204" pitchFamily="34" charset="0"/>
            </a:endParaRPr>
          </a:p>
          <a:p>
            <a:pPr marL="342900" lvl="0" indent="-342900" eaLnBrk="1" hangingPunct="1">
              <a:lnSpc>
                <a:spcPct val="110000"/>
              </a:lnSpc>
              <a:buSzPct val="60000"/>
              <a:buFont typeface="Wingdings" panose="05000000000000000000" pitchFamily="2" charset="2"/>
              <a:buChar char="n"/>
            </a:pPr>
            <a:r>
              <a:rPr lang="zh-CN" altLang="en-US" dirty="0">
                <a:solidFill>
                  <a:schemeClr val="tx1"/>
                </a:solidFill>
                <a:latin typeface="Tahoma" panose="020B0604030504040204" pitchFamily="34" charset="0"/>
              </a:rPr>
              <a:t>消除不必要的冗余后的初步</a:t>
            </a:r>
            <a:r>
              <a:rPr lang="en-US" altLang="zh-CN" dirty="0">
                <a:solidFill>
                  <a:schemeClr val="tx1"/>
                </a:solidFill>
                <a:latin typeface="Tahoma" panose="020B0604030504040204" pitchFamily="34" charset="0"/>
              </a:rPr>
              <a:t>E-R</a:t>
            </a:r>
            <a:r>
              <a:rPr lang="zh-CN" altLang="en-US" dirty="0">
                <a:solidFill>
                  <a:schemeClr val="tx1"/>
                </a:solidFill>
                <a:latin typeface="Tahoma" panose="020B0604030504040204" pitchFamily="34" charset="0"/>
              </a:rPr>
              <a:t>图称为基本</a:t>
            </a:r>
            <a:r>
              <a:rPr lang="en-US" altLang="zh-CN" dirty="0">
                <a:solidFill>
                  <a:schemeClr val="tx1"/>
                </a:solidFill>
                <a:latin typeface="Tahoma" panose="020B0604030504040204" pitchFamily="34" charset="0"/>
              </a:rPr>
              <a:t>E-R</a:t>
            </a:r>
            <a:r>
              <a:rPr lang="zh-CN" altLang="en-US" dirty="0">
                <a:solidFill>
                  <a:schemeClr val="tx1"/>
                </a:solidFill>
                <a:latin typeface="Tahoma" panose="020B0604030504040204" pitchFamily="34" charset="0"/>
              </a:rPr>
              <a:t>图</a:t>
            </a:r>
            <a:endParaRPr lang="zh-CN" altLang="en-US" dirty="0">
              <a:solidFill>
                <a:schemeClr val="tx1"/>
              </a:solidFill>
              <a:latin typeface="Tahoma" panose="020B0604030504040204" pitchFamily="34" charset="0"/>
            </a:endParaRPr>
          </a:p>
        </p:txBody>
      </p:sp>
      <p:sp>
        <p:nvSpPr>
          <p:cNvPr id="68612" name="Rectangle 3"/>
          <p:cNvSpPr>
            <a:spLocks noGrp="1"/>
          </p:cNvSpPr>
          <p:nvPr>
            <p:ph type="title" idx="4294967295"/>
          </p:nvPr>
        </p:nvSpPr>
        <p:spPr>
          <a:xfrm>
            <a:off x="914400" y="0"/>
            <a:ext cx="7772400" cy="609600"/>
          </a:xfrm>
          <a:ln/>
        </p:spPr>
        <p:txBody>
          <a:bodyPr vert="horz" wrap="square" lIns="91440" tIns="45720" rIns="91440" bIns="45720" anchor="ctr" anchorCtr="0"/>
          <a:p>
            <a:pPr eaLnBrk="1" hangingPunct="1"/>
            <a:r>
              <a:rPr lang="en-US" altLang="zh-CN" dirty="0"/>
              <a:t>7.3.4 </a:t>
            </a:r>
            <a:r>
              <a:rPr lang="zh-CN" altLang="en-US" dirty="0"/>
              <a:t>视图集成</a:t>
            </a:r>
            <a:endParaRPr lang="zh-CN" altLang="en-US"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69635" name="Rectangle 2"/>
          <p:cNvSpPr/>
          <p:nvPr/>
        </p:nvSpPr>
        <p:spPr>
          <a:xfrm>
            <a:off x="698500" y="3429000"/>
            <a:ext cx="7747000" cy="609600"/>
          </a:xfrm>
          <a:prstGeom prst="rect">
            <a:avLst/>
          </a:prstGeom>
          <a:solidFill>
            <a:schemeClr val="accent2"/>
          </a:solidFill>
          <a:ln w="9525">
            <a:noFill/>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a:spcBef>
                <a:spcPct val="0"/>
              </a:spcBef>
              <a:buClrTx/>
              <a:buFontTx/>
              <a:buNone/>
            </a:pPr>
            <a:endParaRPr lang="en-US" altLang="zh-CN" sz="1600" b="0" dirty="0">
              <a:solidFill>
                <a:schemeClr val="tx1"/>
              </a:solidFill>
            </a:endParaRPr>
          </a:p>
        </p:txBody>
      </p:sp>
      <p:sp>
        <p:nvSpPr>
          <p:cNvPr id="69636" name="Rectangle 3"/>
          <p:cNvSpPr>
            <a:spLocks noGrp="1"/>
          </p:cNvSpPr>
          <p:nvPr>
            <p:ph idx="1"/>
          </p:nvPr>
        </p:nvSpPr>
        <p:spPr>
          <a:xfrm>
            <a:off x="914400" y="1371600"/>
            <a:ext cx="7327900" cy="4876800"/>
          </a:xfrm>
          <a:ln/>
        </p:spPr>
        <p:txBody>
          <a:bodyPr vert="horz" wrap="square" lIns="91440" tIns="45720" rIns="91440" bIns="45720" anchor="t" anchorCtr="0"/>
          <a:p>
            <a:pPr eaLnBrk="1" hangingPunct="1">
              <a:lnSpc>
                <a:spcPct val="120000"/>
              </a:lnSpc>
              <a:spcBef>
                <a:spcPct val="0"/>
              </a:spcBef>
              <a:buClrTx/>
              <a:buFontTx/>
              <a:buNone/>
            </a:pPr>
            <a:r>
              <a:rPr lang="en-US" altLang="zh-CN" sz="3600" b="0" dirty="0">
                <a:solidFill>
                  <a:schemeClr val="tx1"/>
                </a:solidFill>
                <a:latin typeface="Arial Narrow" panose="020B0606020202030204" pitchFamily="34" charset="0"/>
                <a:ea typeface="楷体_GB2312" pitchFamily="49" charset="-122"/>
              </a:rPr>
              <a:t>7.1 </a:t>
            </a:r>
            <a:r>
              <a:rPr lang="zh-CN" altLang="en-US" sz="3600" b="0" dirty="0">
                <a:solidFill>
                  <a:schemeClr val="tx1"/>
                </a:solidFill>
                <a:latin typeface="Arial Narrow" panose="020B0606020202030204" pitchFamily="34" charset="0"/>
                <a:ea typeface="楷体_GB2312" pitchFamily="49" charset="-122"/>
              </a:rPr>
              <a:t>数据库设计概述</a:t>
            </a:r>
            <a:endParaRPr lang="zh-CN" altLang="en-US" sz="3600" b="0" dirty="0">
              <a:solidFill>
                <a:schemeClr val="tx1"/>
              </a:solidFill>
              <a:latin typeface="Arial Narrow" panose="020B0606020202030204" pitchFamily="34" charset="0"/>
              <a:ea typeface="楷体_GB2312" pitchFamily="49" charset="-122"/>
            </a:endParaRPr>
          </a:p>
          <a:p>
            <a:pPr eaLnBrk="1" hangingPunct="1">
              <a:lnSpc>
                <a:spcPct val="120000"/>
              </a:lnSpc>
              <a:spcBef>
                <a:spcPct val="0"/>
              </a:spcBef>
              <a:buClrTx/>
              <a:buFontTx/>
              <a:buNone/>
            </a:pPr>
            <a:r>
              <a:rPr lang="en-US" altLang="zh-CN" sz="3600" b="0" dirty="0">
                <a:solidFill>
                  <a:schemeClr val="tx1"/>
                </a:solidFill>
                <a:latin typeface="Arial Narrow" panose="020B0606020202030204" pitchFamily="34" charset="0"/>
                <a:ea typeface="楷体_GB2312" pitchFamily="49" charset="-122"/>
              </a:rPr>
              <a:t>7.2 </a:t>
            </a:r>
            <a:r>
              <a:rPr lang="zh-CN" altLang="en-US" sz="3600" b="0" dirty="0">
                <a:solidFill>
                  <a:schemeClr val="tx1"/>
                </a:solidFill>
                <a:latin typeface="Arial Narrow" panose="020B0606020202030204" pitchFamily="34" charset="0"/>
                <a:ea typeface="楷体_GB2312" pitchFamily="49" charset="-122"/>
              </a:rPr>
              <a:t>需求分析</a:t>
            </a:r>
            <a:endParaRPr lang="zh-CN" altLang="en-US" sz="3600" b="0" dirty="0">
              <a:solidFill>
                <a:schemeClr val="tx1"/>
              </a:solidFill>
              <a:latin typeface="Arial Narrow" panose="020B0606020202030204" pitchFamily="34" charset="0"/>
              <a:ea typeface="楷体_GB2312" pitchFamily="49" charset="-122"/>
            </a:endParaRPr>
          </a:p>
          <a:p>
            <a:pPr eaLnBrk="1" hangingPunct="1">
              <a:lnSpc>
                <a:spcPct val="120000"/>
              </a:lnSpc>
              <a:spcBef>
                <a:spcPct val="0"/>
              </a:spcBef>
              <a:buClrTx/>
              <a:buFontTx/>
              <a:buNone/>
            </a:pPr>
            <a:r>
              <a:rPr lang="en-US" altLang="zh-CN" sz="3600" b="0" dirty="0">
                <a:solidFill>
                  <a:schemeClr val="tx1"/>
                </a:solidFill>
                <a:latin typeface="Arial Narrow" panose="020B0606020202030204" pitchFamily="34" charset="0"/>
                <a:ea typeface="楷体_GB2312" pitchFamily="49" charset="-122"/>
              </a:rPr>
              <a:t>7.3 </a:t>
            </a:r>
            <a:r>
              <a:rPr lang="zh-CN" altLang="en-US" sz="3600" b="0" dirty="0">
                <a:solidFill>
                  <a:schemeClr val="tx1"/>
                </a:solidFill>
                <a:latin typeface="Arial Narrow" panose="020B0606020202030204" pitchFamily="34" charset="0"/>
                <a:ea typeface="楷体_GB2312" pitchFamily="49" charset="-122"/>
              </a:rPr>
              <a:t>概念结构设计</a:t>
            </a:r>
            <a:endParaRPr lang="zh-CN" altLang="en-US" sz="3600" b="0" dirty="0">
              <a:solidFill>
                <a:schemeClr val="tx1"/>
              </a:solidFill>
              <a:latin typeface="Arial Narrow" panose="020B0606020202030204" pitchFamily="34" charset="0"/>
              <a:ea typeface="楷体_GB2312" pitchFamily="49" charset="-122"/>
            </a:endParaRPr>
          </a:p>
          <a:p>
            <a:pPr eaLnBrk="1" hangingPunct="1">
              <a:lnSpc>
                <a:spcPct val="120000"/>
              </a:lnSpc>
              <a:spcBef>
                <a:spcPct val="0"/>
              </a:spcBef>
              <a:buClrTx/>
              <a:buFontTx/>
              <a:buNone/>
            </a:pPr>
            <a:r>
              <a:rPr lang="en-US" altLang="zh-CN" sz="3600" b="0" dirty="0">
                <a:solidFill>
                  <a:schemeClr val="bg1"/>
                </a:solidFill>
                <a:latin typeface="Arial Narrow" panose="020B0606020202030204" pitchFamily="34" charset="0"/>
                <a:ea typeface="楷体_GB2312" pitchFamily="49" charset="-122"/>
              </a:rPr>
              <a:t>7.4 </a:t>
            </a:r>
            <a:r>
              <a:rPr lang="zh-CN" altLang="en-US" sz="3600" b="0" dirty="0">
                <a:solidFill>
                  <a:schemeClr val="bg1"/>
                </a:solidFill>
                <a:latin typeface="Arial Narrow" panose="020B0606020202030204" pitchFamily="34" charset="0"/>
                <a:ea typeface="楷体_GB2312" pitchFamily="49" charset="-122"/>
              </a:rPr>
              <a:t>逻辑结构设计</a:t>
            </a:r>
            <a:endParaRPr lang="zh-CN" altLang="en-US" sz="3600" b="0" dirty="0">
              <a:solidFill>
                <a:schemeClr val="bg1"/>
              </a:solidFill>
              <a:latin typeface="Arial Narrow" panose="020B0606020202030204" pitchFamily="34" charset="0"/>
              <a:ea typeface="楷体_GB2312" pitchFamily="49" charset="-122"/>
            </a:endParaRPr>
          </a:p>
          <a:p>
            <a:pPr eaLnBrk="1" hangingPunct="1">
              <a:lnSpc>
                <a:spcPct val="120000"/>
              </a:lnSpc>
              <a:spcBef>
                <a:spcPct val="0"/>
              </a:spcBef>
              <a:buClrTx/>
              <a:buFontTx/>
              <a:buNone/>
            </a:pPr>
            <a:r>
              <a:rPr lang="en-US" altLang="zh-CN" sz="3600" b="0" dirty="0">
                <a:solidFill>
                  <a:schemeClr val="tx1"/>
                </a:solidFill>
                <a:latin typeface="Arial Narrow" panose="020B0606020202030204" pitchFamily="34" charset="0"/>
                <a:ea typeface="楷体_GB2312" pitchFamily="49" charset="-122"/>
              </a:rPr>
              <a:t>7.5 </a:t>
            </a:r>
            <a:r>
              <a:rPr lang="zh-CN" altLang="en-US" sz="3600" b="0" dirty="0">
                <a:solidFill>
                  <a:schemeClr val="tx1"/>
                </a:solidFill>
                <a:latin typeface="Arial Narrow" panose="020B0606020202030204" pitchFamily="34" charset="0"/>
                <a:ea typeface="楷体_GB2312" pitchFamily="49" charset="-122"/>
              </a:rPr>
              <a:t>数据库的物理设计</a:t>
            </a:r>
            <a:endParaRPr lang="zh-CN" altLang="en-US" sz="3600" b="0" dirty="0">
              <a:solidFill>
                <a:schemeClr val="tx1"/>
              </a:solidFill>
              <a:latin typeface="Arial Narrow" panose="020B0606020202030204" pitchFamily="34" charset="0"/>
              <a:ea typeface="楷体_GB2312" pitchFamily="49" charset="-122"/>
            </a:endParaRPr>
          </a:p>
          <a:p>
            <a:pPr eaLnBrk="1" hangingPunct="1">
              <a:lnSpc>
                <a:spcPct val="120000"/>
              </a:lnSpc>
              <a:spcBef>
                <a:spcPct val="0"/>
              </a:spcBef>
              <a:buClrTx/>
              <a:buFontTx/>
              <a:buNone/>
            </a:pPr>
            <a:r>
              <a:rPr lang="en-US" altLang="zh-CN" sz="3600" b="0" dirty="0">
                <a:solidFill>
                  <a:schemeClr val="tx1"/>
                </a:solidFill>
                <a:latin typeface="Arial Narrow" panose="020B0606020202030204" pitchFamily="34" charset="0"/>
                <a:ea typeface="楷体_GB2312" pitchFamily="49" charset="-122"/>
              </a:rPr>
              <a:t>7.6 </a:t>
            </a:r>
            <a:r>
              <a:rPr lang="zh-CN" altLang="en-US" sz="3600" b="0" dirty="0">
                <a:solidFill>
                  <a:schemeClr val="tx1"/>
                </a:solidFill>
                <a:latin typeface="Arial Narrow" panose="020B0606020202030204" pitchFamily="34" charset="0"/>
                <a:ea typeface="楷体_GB2312" pitchFamily="49" charset="-122"/>
              </a:rPr>
              <a:t>数据库实施</a:t>
            </a:r>
            <a:endParaRPr lang="zh-CN" altLang="en-US" sz="3600" b="0" dirty="0">
              <a:solidFill>
                <a:schemeClr val="tx1"/>
              </a:solidFill>
              <a:latin typeface="Arial Narrow" panose="020B0606020202030204" pitchFamily="34" charset="0"/>
              <a:ea typeface="楷体_GB2312" pitchFamily="49" charset="-122"/>
            </a:endParaRPr>
          </a:p>
          <a:p>
            <a:pPr eaLnBrk="1" hangingPunct="1">
              <a:lnSpc>
                <a:spcPct val="120000"/>
              </a:lnSpc>
              <a:spcBef>
                <a:spcPct val="0"/>
              </a:spcBef>
              <a:buClrTx/>
              <a:buFontTx/>
              <a:buNone/>
            </a:pPr>
            <a:r>
              <a:rPr lang="en-US" altLang="zh-CN" sz="3600" b="0" dirty="0">
                <a:solidFill>
                  <a:schemeClr val="tx1"/>
                </a:solidFill>
                <a:latin typeface="Arial Narrow" panose="020B0606020202030204" pitchFamily="34" charset="0"/>
                <a:ea typeface="楷体_GB2312" pitchFamily="49" charset="-122"/>
              </a:rPr>
              <a:t>7.7 </a:t>
            </a:r>
            <a:r>
              <a:rPr lang="zh-CN" altLang="en-US" sz="3600" b="0" dirty="0">
                <a:solidFill>
                  <a:schemeClr val="tx1"/>
                </a:solidFill>
                <a:latin typeface="Arial Narrow" panose="020B0606020202030204" pitchFamily="34" charset="0"/>
                <a:ea typeface="楷体_GB2312" pitchFamily="49" charset="-122"/>
              </a:rPr>
              <a:t>数据库运行和维护</a:t>
            </a:r>
            <a:endParaRPr lang="zh-CN" altLang="en-US" sz="3600" b="0" dirty="0">
              <a:solidFill>
                <a:schemeClr val="tx1"/>
              </a:solidFill>
              <a:latin typeface="Arial Narrow" panose="020B0606020202030204" pitchFamily="34" charset="0"/>
              <a:ea typeface="楷体_GB2312" pitchFamily="49" charset="-122"/>
            </a:endParaRPr>
          </a:p>
        </p:txBody>
      </p:sp>
      <p:sp>
        <p:nvSpPr>
          <p:cNvPr id="69637" name="Rectangle 4"/>
          <p:cNvSpPr>
            <a:spLocks noGrp="1"/>
          </p:cNvSpPr>
          <p:nvPr>
            <p:ph type="title"/>
          </p:nvPr>
        </p:nvSpPr>
        <p:spPr>
          <a:ln/>
        </p:spPr>
        <p:txBody>
          <a:bodyPr vert="horz" wrap="square" lIns="91440" tIns="45720" rIns="91440" bIns="45720" anchor="ctr" anchorCtr="0"/>
          <a:p>
            <a:pPr eaLnBrk="1" hangingPunct="1"/>
            <a:r>
              <a:rPr lang="zh-CN" altLang="en-US" dirty="0"/>
              <a:t>第</a:t>
            </a:r>
            <a:r>
              <a:rPr lang="en-US" altLang="zh-CN" dirty="0"/>
              <a:t>7</a:t>
            </a:r>
            <a:r>
              <a:rPr lang="zh-CN" altLang="en-US" dirty="0"/>
              <a:t>章 数据库设计</a:t>
            </a:r>
            <a:endParaRPr lang="zh-CN" altLang="en-US"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8" name="页脚占位符 2"/>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70659" name="Rectangle 2"/>
          <p:cNvSpPr/>
          <p:nvPr/>
        </p:nvSpPr>
        <p:spPr>
          <a:xfrm>
            <a:off x="685800" y="1600200"/>
            <a:ext cx="7848600" cy="44196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342900" lvl="0" indent="-342900" eaLnBrk="1" hangingPunct="1">
              <a:lnSpc>
                <a:spcPct val="130000"/>
              </a:lnSpc>
              <a:buClr>
                <a:schemeClr val="folHlink"/>
              </a:buClr>
              <a:buSzPct val="60000"/>
              <a:buNone/>
            </a:pPr>
            <a:r>
              <a:rPr lang="en-US" altLang="zh-CN" dirty="0"/>
              <a:t>7.4.1</a:t>
            </a:r>
            <a:r>
              <a:rPr lang="en-US" altLang="zh-CN" dirty="0">
                <a:latin typeface="Tahoma" panose="020B0604030504040204" pitchFamily="34" charset="0"/>
              </a:rPr>
              <a:t>  </a:t>
            </a:r>
            <a:r>
              <a:rPr lang="en-US" altLang="zh-CN" dirty="0"/>
              <a:t>E-R</a:t>
            </a:r>
            <a:r>
              <a:rPr lang="zh-CN" altLang="en-US" dirty="0">
                <a:latin typeface="Tahoma" panose="020B0604030504040204" pitchFamily="34" charset="0"/>
              </a:rPr>
              <a:t>图向关系模型的转换</a:t>
            </a:r>
            <a:endParaRPr lang="zh-CN" altLang="en-US" dirty="0">
              <a:latin typeface="Tahoma" panose="020B0604030504040204" pitchFamily="34" charset="0"/>
            </a:endParaRPr>
          </a:p>
          <a:p>
            <a:pPr marL="342900" lvl="0" indent="-342900" eaLnBrk="1" hangingPunct="1">
              <a:lnSpc>
                <a:spcPct val="130000"/>
              </a:lnSpc>
              <a:buClr>
                <a:schemeClr val="folHlink"/>
              </a:buClr>
              <a:buSzPct val="60000"/>
              <a:buNone/>
            </a:pPr>
            <a:r>
              <a:rPr lang="en-US" altLang="zh-CN" dirty="0">
                <a:solidFill>
                  <a:schemeClr val="tx1"/>
                </a:solidFill>
              </a:rPr>
              <a:t>7.4.2</a:t>
            </a:r>
            <a:r>
              <a:rPr lang="en-US" altLang="zh-CN" dirty="0">
                <a:solidFill>
                  <a:schemeClr val="tx1"/>
                </a:solidFill>
                <a:latin typeface="Tahoma" panose="020B0604030504040204" pitchFamily="34" charset="0"/>
              </a:rPr>
              <a:t>  </a:t>
            </a:r>
            <a:r>
              <a:rPr lang="zh-CN" altLang="en-US" dirty="0">
                <a:solidFill>
                  <a:schemeClr val="tx1"/>
                </a:solidFill>
                <a:latin typeface="Tahoma" panose="020B0604030504040204" pitchFamily="34" charset="0"/>
              </a:rPr>
              <a:t>向特定</a:t>
            </a:r>
            <a:r>
              <a:rPr lang="en-US" altLang="zh-CN" dirty="0">
                <a:solidFill>
                  <a:schemeClr val="tx1"/>
                </a:solidFill>
              </a:rPr>
              <a:t>DBMS</a:t>
            </a:r>
            <a:r>
              <a:rPr lang="zh-CN" altLang="en-US" dirty="0">
                <a:solidFill>
                  <a:schemeClr val="tx1"/>
                </a:solidFill>
                <a:latin typeface="Tahoma" panose="020B0604030504040204" pitchFamily="34" charset="0"/>
              </a:rPr>
              <a:t>规定的模型进行转换</a:t>
            </a:r>
            <a:endParaRPr lang="zh-CN" altLang="en-US" dirty="0">
              <a:solidFill>
                <a:schemeClr val="tx1"/>
              </a:solidFill>
              <a:latin typeface="Tahoma" panose="020B0604030504040204" pitchFamily="34" charset="0"/>
            </a:endParaRPr>
          </a:p>
          <a:p>
            <a:pPr marL="342900" lvl="0" indent="-342900" eaLnBrk="1" hangingPunct="1">
              <a:lnSpc>
                <a:spcPct val="130000"/>
              </a:lnSpc>
              <a:buClr>
                <a:schemeClr val="folHlink"/>
              </a:buClr>
              <a:buSzPct val="60000"/>
              <a:buNone/>
            </a:pPr>
            <a:r>
              <a:rPr lang="en-US" altLang="zh-CN" dirty="0">
                <a:solidFill>
                  <a:schemeClr val="tx1"/>
                </a:solidFill>
              </a:rPr>
              <a:t>7.4.3</a:t>
            </a:r>
            <a:r>
              <a:rPr lang="en-US" altLang="zh-CN" dirty="0">
                <a:solidFill>
                  <a:schemeClr val="tx1"/>
                </a:solidFill>
                <a:latin typeface="Tahoma" panose="020B0604030504040204" pitchFamily="34" charset="0"/>
              </a:rPr>
              <a:t>  </a:t>
            </a:r>
            <a:r>
              <a:rPr lang="zh-CN" altLang="en-US" dirty="0">
                <a:solidFill>
                  <a:schemeClr val="tx1"/>
                </a:solidFill>
                <a:latin typeface="Tahoma" panose="020B0604030504040204" pitchFamily="34" charset="0"/>
              </a:rPr>
              <a:t>数据模型的优化</a:t>
            </a:r>
            <a:endParaRPr lang="zh-CN" altLang="en-US" dirty="0">
              <a:solidFill>
                <a:schemeClr val="tx1"/>
              </a:solidFill>
              <a:latin typeface="Tahoma" panose="020B0604030504040204" pitchFamily="34" charset="0"/>
            </a:endParaRPr>
          </a:p>
          <a:p>
            <a:pPr marL="342900" lvl="0" indent="-342900" eaLnBrk="1" hangingPunct="1">
              <a:lnSpc>
                <a:spcPct val="130000"/>
              </a:lnSpc>
              <a:buClr>
                <a:schemeClr val="folHlink"/>
              </a:buClr>
              <a:buSzPct val="60000"/>
              <a:buNone/>
            </a:pPr>
            <a:r>
              <a:rPr lang="en-US" altLang="zh-CN" dirty="0">
                <a:solidFill>
                  <a:schemeClr val="tx1"/>
                </a:solidFill>
              </a:rPr>
              <a:t>7.4.4</a:t>
            </a:r>
            <a:r>
              <a:rPr lang="en-US" altLang="zh-CN" dirty="0">
                <a:solidFill>
                  <a:schemeClr val="tx1"/>
                </a:solidFill>
                <a:latin typeface="Tahoma" panose="020B0604030504040204" pitchFamily="34" charset="0"/>
              </a:rPr>
              <a:t>  </a:t>
            </a:r>
            <a:r>
              <a:rPr lang="zh-CN" altLang="en-US" dirty="0">
                <a:solidFill>
                  <a:schemeClr val="tx1"/>
                </a:solidFill>
                <a:latin typeface="Tahoma" panose="020B0604030504040204" pitchFamily="34" charset="0"/>
              </a:rPr>
              <a:t>设计用户子模式</a:t>
            </a:r>
            <a:endParaRPr lang="zh-CN" altLang="en-US" dirty="0">
              <a:solidFill>
                <a:schemeClr val="tx1"/>
              </a:solidFill>
              <a:latin typeface="Tahoma" panose="020B0604030504040204" pitchFamily="34" charset="0"/>
            </a:endParaRPr>
          </a:p>
        </p:txBody>
      </p:sp>
      <p:sp>
        <p:nvSpPr>
          <p:cNvPr id="70660" name="Rectangle 3"/>
          <p:cNvSpPr>
            <a:spLocks noGrp="1"/>
          </p:cNvSpPr>
          <p:nvPr>
            <p:ph type="title" idx="4294967295"/>
          </p:nvPr>
        </p:nvSpPr>
        <p:spPr>
          <a:ln/>
        </p:spPr>
        <p:txBody>
          <a:bodyPr vert="horz" wrap="square" lIns="91440" tIns="45720" rIns="91440" bIns="45720" anchor="ctr" anchorCtr="0"/>
          <a:p>
            <a:pPr eaLnBrk="1" hangingPunct="1"/>
            <a:r>
              <a:rPr lang="en-US" altLang="zh-CN" dirty="0"/>
              <a:t>7.4 </a:t>
            </a:r>
            <a:r>
              <a:rPr lang="zh-CN" altLang="en-US" dirty="0"/>
              <a:t>逻辑结构设计</a:t>
            </a:r>
            <a:endParaRPr lang="zh-CN" altLang="en-US"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页脚占位符 2"/>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71683" name="Rectangle 2"/>
          <p:cNvSpPr/>
          <p:nvPr/>
        </p:nvSpPr>
        <p:spPr>
          <a:xfrm>
            <a:off x="228600" y="762000"/>
            <a:ext cx="8534400" cy="53340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342900" lvl="0" indent="-342900" eaLnBrk="1" hangingPunct="1">
              <a:lnSpc>
                <a:spcPct val="110000"/>
              </a:lnSpc>
            </a:pPr>
            <a:r>
              <a:rPr lang="zh-CN" altLang="en-US" sz="2800" dirty="0">
                <a:solidFill>
                  <a:schemeClr val="tx1"/>
                </a:solidFill>
                <a:latin typeface="宋体" panose="02010600030101010101" pitchFamily="2" charset="-122"/>
              </a:rPr>
              <a:t>一个实体型转化为一个关系模式</a:t>
            </a:r>
            <a:endParaRPr lang="zh-CN" altLang="en-US" sz="2800" dirty="0">
              <a:solidFill>
                <a:schemeClr val="tx1"/>
              </a:solidFill>
              <a:latin typeface="宋体" panose="02010600030101010101" pitchFamily="2" charset="-122"/>
            </a:endParaRPr>
          </a:p>
          <a:p>
            <a:pPr marL="742950" lvl="1" indent="-285750" eaLnBrk="1" hangingPunct="1">
              <a:lnSpc>
                <a:spcPct val="110000"/>
              </a:lnSpc>
              <a:buClr>
                <a:srgbClr val="FF3300"/>
              </a:buClr>
            </a:pPr>
            <a:r>
              <a:rPr lang="zh-CN" altLang="en-US" dirty="0">
                <a:latin typeface="宋体" panose="02010600030101010101" pitchFamily="2" charset="-122"/>
              </a:rPr>
              <a:t>关系的属性 </a:t>
            </a:r>
            <a:r>
              <a:rPr lang="en-US" altLang="zh-CN" dirty="0">
                <a:latin typeface="Arial" panose="020B0604020202020204" pitchFamily="34" charset="0"/>
              </a:rPr>
              <a:t>= </a:t>
            </a:r>
            <a:r>
              <a:rPr lang="zh-CN" altLang="en-US" dirty="0">
                <a:latin typeface="宋体" panose="02010600030101010101" pitchFamily="2" charset="-122"/>
              </a:rPr>
              <a:t>实体的属性</a:t>
            </a:r>
            <a:endParaRPr lang="zh-CN" altLang="en-US" dirty="0">
              <a:latin typeface="宋体" panose="02010600030101010101" pitchFamily="2" charset="-122"/>
            </a:endParaRPr>
          </a:p>
          <a:p>
            <a:pPr marL="742950" lvl="1" indent="-285750" eaLnBrk="1" hangingPunct="1">
              <a:lnSpc>
                <a:spcPct val="110000"/>
              </a:lnSpc>
              <a:buClr>
                <a:srgbClr val="FF3300"/>
              </a:buClr>
            </a:pPr>
            <a:r>
              <a:rPr lang="zh-CN" altLang="en-US" dirty="0">
                <a:latin typeface="宋体" panose="02010600030101010101" pitchFamily="2" charset="-122"/>
              </a:rPr>
              <a:t>关系的码 </a:t>
            </a:r>
            <a:r>
              <a:rPr lang="en-US" altLang="zh-CN" dirty="0">
                <a:latin typeface="Arial" panose="020B0604020202020204" pitchFamily="34" charset="0"/>
              </a:rPr>
              <a:t>= </a:t>
            </a:r>
            <a:r>
              <a:rPr lang="zh-CN" altLang="en-US" dirty="0">
                <a:latin typeface="宋体" panose="02010600030101010101" pitchFamily="2" charset="-122"/>
              </a:rPr>
              <a:t>实体的码</a:t>
            </a:r>
            <a:endParaRPr lang="zh-CN" altLang="en-US" dirty="0">
              <a:latin typeface="宋体" panose="02010600030101010101" pitchFamily="2" charset="-122"/>
            </a:endParaRPr>
          </a:p>
          <a:p>
            <a:pPr marL="342900" lvl="0" indent="-342900" eaLnBrk="1" hangingPunct="1">
              <a:lnSpc>
                <a:spcPct val="110000"/>
              </a:lnSpc>
            </a:pPr>
            <a:r>
              <a:rPr lang="zh-CN" altLang="en-US" sz="2800" dirty="0">
                <a:solidFill>
                  <a:schemeClr val="tx1"/>
                </a:solidFill>
                <a:latin typeface="宋体" panose="02010600030101010101" pitchFamily="2" charset="-122"/>
              </a:rPr>
              <a:t>一个</a:t>
            </a:r>
            <a:r>
              <a:rPr lang="en-US" altLang="zh-CN" sz="2800" i="1" dirty="0">
                <a:solidFill>
                  <a:schemeClr val="tx1"/>
                </a:solidFill>
                <a:latin typeface="Arial" panose="020B0604020202020204" pitchFamily="34" charset="0"/>
              </a:rPr>
              <a:t>n:m</a:t>
            </a:r>
            <a:r>
              <a:rPr lang="zh-CN" altLang="en-US" sz="2800" dirty="0">
                <a:solidFill>
                  <a:schemeClr val="tx1"/>
                </a:solidFill>
                <a:latin typeface="宋体" panose="02010600030101010101" pitchFamily="2" charset="-122"/>
              </a:rPr>
              <a:t>联系转化为一个关系模式</a:t>
            </a:r>
            <a:endParaRPr lang="zh-CN" altLang="en-US" sz="2800" dirty="0">
              <a:solidFill>
                <a:schemeClr val="tx1"/>
              </a:solidFill>
              <a:latin typeface="宋体" panose="02010600030101010101" pitchFamily="2" charset="-122"/>
            </a:endParaRPr>
          </a:p>
          <a:p>
            <a:pPr marL="742950" lvl="1" indent="-285750" eaLnBrk="1" hangingPunct="1">
              <a:lnSpc>
                <a:spcPct val="110000"/>
              </a:lnSpc>
              <a:buClr>
                <a:srgbClr val="FF3300"/>
              </a:buClr>
            </a:pPr>
            <a:r>
              <a:rPr lang="zh-CN" altLang="en-US" dirty="0">
                <a:latin typeface="宋体" panose="02010600030101010101" pitchFamily="2" charset="-122"/>
              </a:rPr>
              <a:t>关系的属性 </a:t>
            </a:r>
            <a:r>
              <a:rPr lang="en-US" altLang="zh-CN" dirty="0">
                <a:latin typeface="Arial" panose="020B0604020202020204" pitchFamily="34" charset="0"/>
              </a:rPr>
              <a:t>= </a:t>
            </a:r>
            <a:r>
              <a:rPr lang="zh-CN" altLang="en-US" dirty="0">
                <a:latin typeface="宋体" panose="02010600030101010101" pitchFamily="2" charset="-122"/>
              </a:rPr>
              <a:t>各实体的码 </a:t>
            </a:r>
            <a:r>
              <a:rPr lang="en-US" altLang="zh-CN" dirty="0">
                <a:latin typeface="Arial" panose="020B0604020202020204" pitchFamily="34" charset="0"/>
              </a:rPr>
              <a:t>+ </a:t>
            </a:r>
            <a:r>
              <a:rPr lang="zh-CN" altLang="en-US" dirty="0">
                <a:latin typeface="宋体" panose="02010600030101010101" pitchFamily="2" charset="-122"/>
              </a:rPr>
              <a:t>联系本身的属性</a:t>
            </a:r>
            <a:endParaRPr lang="zh-CN" altLang="en-US" dirty="0">
              <a:latin typeface="宋体" panose="02010600030101010101" pitchFamily="2" charset="-122"/>
            </a:endParaRPr>
          </a:p>
          <a:p>
            <a:pPr marL="742950" lvl="1" indent="-285750" eaLnBrk="1" hangingPunct="1">
              <a:lnSpc>
                <a:spcPct val="110000"/>
              </a:lnSpc>
              <a:buClr>
                <a:srgbClr val="FF3300"/>
              </a:buClr>
            </a:pPr>
            <a:r>
              <a:rPr lang="zh-CN" altLang="en-US" dirty="0">
                <a:latin typeface="宋体" panose="02010600030101010101" pitchFamily="2" charset="-122"/>
              </a:rPr>
              <a:t>关系的码 </a:t>
            </a:r>
            <a:r>
              <a:rPr lang="en-US" altLang="zh-CN" dirty="0">
                <a:latin typeface="Arial" panose="020B0604020202020204" pitchFamily="34" charset="0"/>
              </a:rPr>
              <a:t>= </a:t>
            </a:r>
            <a:r>
              <a:rPr lang="zh-CN" altLang="en-US" dirty="0">
                <a:latin typeface="宋体" panose="02010600030101010101" pitchFamily="2" charset="-122"/>
              </a:rPr>
              <a:t>各实体码的组合</a:t>
            </a:r>
            <a:endParaRPr lang="zh-CN" altLang="en-US" dirty="0">
              <a:latin typeface="宋体" panose="02010600030101010101" pitchFamily="2" charset="-122"/>
            </a:endParaRPr>
          </a:p>
          <a:p>
            <a:pPr marL="742950" lvl="1" indent="-285750" eaLnBrk="1" hangingPunct="1">
              <a:lnSpc>
                <a:spcPct val="110000"/>
              </a:lnSpc>
              <a:buClr>
                <a:srgbClr val="FF3300"/>
              </a:buClr>
              <a:buNone/>
            </a:pPr>
            <a:r>
              <a:rPr lang="zh-CN" altLang="en-US" dirty="0">
                <a:latin typeface="宋体" panose="02010600030101010101" pitchFamily="2" charset="-122"/>
              </a:rPr>
              <a:t>（也适用于两个实体以上的多对多联系） </a:t>
            </a:r>
            <a:endParaRPr lang="zh-CN" altLang="en-US" dirty="0">
              <a:latin typeface="宋体" panose="02010600030101010101" pitchFamily="2" charset="-122"/>
            </a:endParaRPr>
          </a:p>
        </p:txBody>
      </p:sp>
      <p:sp>
        <p:nvSpPr>
          <p:cNvPr id="71684" name="Rectangle 3"/>
          <p:cNvSpPr>
            <a:spLocks noGrp="1"/>
          </p:cNvSpPr>
          <p:nvPr>
            <p:ph type="title" idx="4294967295"/>
          </p:nvPr>
        </p:nvSpPr>
        <p:spPr>
          <a:xfrm>
            <a:off x="914400" y="0"/>
            <a:ext cx="7772400" cy="609600"/>
          </a:xfrm>
          <a:ln/>
        </p:spPr>
        <p:txBody>
          <a:bodyPr vert="horz" wrap="square" lIns="91440" tIns="45720" rIns="91440" bIns="45720" anchor="ctr" anchorCtr="0"/>
          <a:p>
            <a:pPr eaLnBrk="1" hangingPunct="1"/>
            <a:r>
              <a:rPr lang="en-US" altLang="zh-CN" dirty="0"/>
              <a:t>7.4.1 E-R</a:t>
            </a:r>
            <a:r>
              <a:rPr lang="zh-CN" altLang="en-US" dirty="0"/>
              <a:t>图向关系模型的转换</a:t>
            </a:r>
            <a:endParaRPr lang="zh-CN" altLang="en-US"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6" name="页脚占位符 2"/>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72707" name="Rectangle 2"/>
          <p:cNvSpPr/>
          <p:nvPr/>
        </p:nvSpPr>
        <p:spPr>
          <a:xfrm>
            <a:off x="228600" y="762000"/>
            <a:ext cx="8534400" cy="57912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342900" lvl="0" indent="-342900" eaLnBrk="1" hangingPunct="1">
              <a:lnSpc>
                <a:spcPct val="110000"/>
              </a:lnSpc>
            </a:pPr>
            <a:r>
              <a:rPr lang="zh-CN" altLang="en-US" sz="2800" dirty="0">
                <a:solidFill>
                  <a:schemeClr val="tx1"/>
                </a:solidFill>
                <a:latin typeface="宋体" panose="02010600030101010101" pitchFamily="2" charset="-122"/>
              </a:rPr>
              <a:t>一个</a:t>
            </a:r>
            <a:r>
              <a:rPr lang="en-US" altLang="zh-CN" sz="2800" i="1" dirty="0">
                <a:solidFill>
                  <a:schemeClr val="tx1"/>
                </a:solidFill>
                <a:latin typeface="Arial" panose="020B0604020202020204" pitchFamily="34" charset="0"/>
              </a:rPr>
              <a:t>1:n</a:t>
            </a:r>
            <a:r>
              <a:rPr lang="zh-CN" altLang="en-US" sz="2800" dirty="0">
                <a:solidFill>
                  <a:schemeClr val="tx1"/>
                </a:solidFill>
                <a:latin typeface="宋体" panose="02010600030101010101" pitchFamily="2" charset="-122"/>
              </a:rPr>
              <a:t>联系可以转换为一个独立的关系模式，也可以与</a:t>
            </a:r>
            <a:r>
              <a:rPr lang="en-US" altLang="zh-CN" sz="2800" i="1" dirty="0">
                <a:solidFill>
                  <a:schemeClr val="tx1"/>
                </a:solidFill>
                <a:latin typeface="Arial" panose="020B0604020202020204" pitchFamily="34" charset="0"/>
              </a:rPr>
              <a:t>n</a:t>
            </a:r>
            <a:r>
              <a:rPr lang="zh-CN" altLang="en-US" sz="2800" dirty="0">
                <a:solidFill>
                  <a:schemeClr val="tx1"/>
                </a:solidFill>
                <a:latin typeface="宋体" panose="02010600030101010101" pitchFamily="2" charset="-122"/>
              </a:rPr>
              <a:t>端对应的关系模式合并</a:t>
            </a:r>
            <a:endParaRPr lang="zh-CN" altLang="en-US" sz="2800" dirty="0">
              <a:solidFill>
                <a:schemeClr val="tx1"/>
              </a:solidFill>
              <a:latin typeface="宋体" panose="02010600030101010101" pitchFamily="2" charset="-122"/>
            </a:endParaRPr>
          </a:p>
          <a:p>
            <a:pPr marL="742950" lvl="1" indent="-285750" eaLnBrk="1" hangingPunct="1">
              <a:lnSpc>
                <a:spcPct val="110000"/>
              </a:lnSpc>
              <a:buClr>
                <a:srgbClr val="FF3300"/>
              </a:buClr>
            </a:pPr>
            <a:r>
              <a:rPr lang="zh-CN" altLang="en-US" dirty="0">
                <a:latin typeface="宋体" panose="02010600030101010101" pitchFamily="2" charset="-122"/>
              </a:rPr>
              <a:t>转换为独立的关系模式</a:t>
            </a:r>
            <a:endParaRPr lang="zh-CN" altLang="en-US" dirty="0">
              <a:latin typeface="宋体" panose="02010600030101010101" pitchFamily="2" charset="-122"/>
            </a:endParaRPr>
          </a:p>
          <a:p>
            <a:pPr marL="1143000" lvl="2" indent="-228600" eaLnBrk="1" hangingPunct="1">
              <a:lnSpc>
                <a:spcPct val="110000"/>
              </a:lnSpc>
              <a:buClr>
                <a:srgbClr val="FF3300"/>
              </a:buClr>
              <a:buFont typeface="Wingdings" panose="05000000000000000000" pitchFamily="2" charset="2"/>
              <a:buChar char="§"/>
            </a:pPr>
            <a:r>
              <a:rPr lang="zh-CN" altLang="en-US" sz="2800" dirty="0">
                <a:latin typeface="宋体" panose="02010600030101010101" pitchFamily="2" charset="-122"/>
                <a:ea typeface="宋体" panose="02010600030101010101" pitchFamily="2" charset="-122"/>
              </a:rPr>
              <a:t>关系的属性 </a:t>
            </a:r>
            <a:r>
              <a:rPr lang="en-US" altLang="zh-CN" sz="2800" dirty="0">
                <a:latin typeface="Arial" panose="020B0604020202020204" pitchFamily="34" charset="0"/>
                <a:ea typeface="宋体" panose="02010600030101010101" pitchFamily="2" charset="-122"/>
              </a:rPr>
              <a:t>= </a:t>
            </a:r>
            <a:r>
              <a:rPr lang="zh-CN" altLang="en-US" sz="2800" dirty="0">
                <a:latin typeface="宋体" panose="02010600030101010101" pitchFamily="2" charset="-122"/>
                <a:ea typeface="宋体" panose="02010600030101010101" pitchFamily="2" charset="-122"/>
              </a:rPr>
              <a:t>各实体的码 </a:t>
            </a:r>
            <a:r>
              <a:rPr lang="en-US" altLang="zh-CN" sz="2800" dirty="0">
                <a:latin typeface="Arial" panose="020B0604020202020204" pitchFamily="34" charset="0"/>
                <a:ea typeface="宋体" panose="02010600030101010101" pitchFamily="2" charset="-122"/>
              </a:rPr>
              <a:t>+ </a:t>
            </a:r>
            <a:r>
              <a:rPr lang="zh-CN" altLang="en-US" sz="2800" dirty="0">
                <a:latin typeface="宋体" panose="02010600030101010101" pitchFamily="2" charset="-122"/>
                <a:ea typeface="宋体" panose="02010600030101010101" pitchFamily="2" charset="-122"/>
              </a:rPr>
              <a:t>联系本身的属性</a:t>
            </a:r>
            <a:endParaRPr lang="zh-CN" altLang="en-US" sz="2800" dirty="0">
              <a:latin typeface="宋体" panose="02010600030101010101" pitchFamily="2" charset="-122"/>
              <a:ea typeface="宋体" panose="02010600030101010101" pitchFamily="2" charset="-122"/>
            </a:endParaRPr>
          </a:p>
          <a:p>
            <a:pPr marL="1143000" lvl="2" indent="-228600" eaLnBrk="1" hangingPunct="1">
              <a:lnSpc>
                <a:spcPct val="110000"/>
              </a:lnSpc>
              <a:buClr>
                <a:srgbClr val="FF3300"/>
              </a:buClr>
              <a:buFont typeface="Wingdings" panose="05000000000000000000" pitchFamily="2" charset="2"/>
              <a:buChar char="§"/>
            </a:pPr>
            <a:r>
              <a:rPr lang="zh-CN" altLang="en-US" sz="2800" dirty="0">
                <a:latin typeface="宋体" panose="02010600030101010101" pitchFamily="2" charset="-122"/>
                <a:ea typeface="宋体" panose="02010600030101010101" pitchFamily="2" charset="-122"/>
              </a:rPr>
              <a:t>关系的码 </a:t>
            </a:r>
            <a:r>
              <a:rPr lang="en-US" altLang="zh-CN" sz="2800" dirty="0">
                <a:latin typeface="Arial" panose="020B0604020202020204" pitchFamily="34" charset="0"/>
                <a:ea typeface="宋体" panose="02010600030101010101" pitchFamily="2" charset="-122"/>
              </a:rPr>
              <a:t>= </a:t>
            </a:r>
            <a:r>
              <a:rPr lang="en-US" altLang="zh-CN" sz="2800" i="1" dirty="0">
                <a:latin typeface="Arial" panose="020B0604020202020204" pitchFamily="34" charset="0"/>
                <a:ea typeface="宋体" panose="02010600030101010101" pitchFamily="2" charset="-122"/>
              </a:rPr>
              <a:t>n</a:t>
            </a:r>
            <a:r>
              <a:rPr lang="zh-CN" altLang="en-US" sz="2800" dirty="0">
                <a:latin typeface="宋体" panose="02010600030101010101" pitchFamily="2" charset="-122"/>
                <a:ea typeface="宋体" panose="02010600030101010101" pitchFamily="2" charset="-122"/>
              </a:rPr>
              <a:t>端实体的码 </a:t>
            </a:r>
            <a:endParaRPr lang="zh-CN" altLang="en-US" sz="2800" dirty="0">
              <a:latin typeface="宋体" panose="02010600030101010101" pitchFamily="2" charset="-122"/>
              <a:ea typeface="宋体" panose="02010600030101010101" pitchFamily="2" charset="-122"/>
            </a:endParaRPr>
          </a:p>
          <a:p>
            <a:pPr marL="742950" lvl="1" indent="-285750" eaLnBrk="1" hangingPunct="1">
              <a:lnSpc>
                <a:spcPct val="110000"/>
              </a:lnSpc>
              <a:buClr>
                <a:srgbClr val="FF3300"/>
              </a:buClr>
            </a:pPr>
            <a:r>
              <a:rPr lang="zh-CN" altLang="en-US" dirty="0">
                <a:latin typeface="宋体" panose="02010600030101010101" pitchFamily="2" charset="-122"/>
              </a:rPr>
              <a:t>与</a:t>
            </a:r>
            <a:r>
              <a:rPr lang="en-US" altLang="zh-CN" dirty="0">
                <a:latin typeface="宋体" panose="02010600030101010101" pitchFamily="2" charset="-122"/>
              </a:rPr>
              <a:t>n</a:t>
            </a:r>
            <a:r>
              <a:rPr lang="zh-CN" altLang="en-US" dirty="0">
                <a:latin typeface="宋体" panose="02010600030101010101" pitchFamily="2" charset="-122"/>
              </a:rPr>
              <a:t>端实体对应的关系模式合并</a:t>
            </a:r>
            <a:endParaRPr lang="zh-CN" altLang="en-US" dirty="0">
              <a:latin typeface="宋体" panose="02010600030101010101" pitchFamily="2" charset="-122"/>
            </a:endParaRPr>
          </a:p>
          <a:p>
            <a:pPr marL="1143000" lvl="2" indent="-228600" eaLnBrk="1" hangingPunct="1">
              <a:lnSpc>
                <a:spcPct val="110000"/>
              </a:lnSpc>
              <a:buClr>
                <a:srgbClr val="FF3300"/>
              </a:buClr>
              <a:buFont typeface="Wingdings" panose="05000000000000000000" pitchFamily="2" charset="2"/>
              <a:buChar char="§"/>
            </a:pPr>
            <a:r>
              <a:rPr lang="zh-CN" altLang="en-US" sz="2800" dirty="0">
                <a:latin typeface="宋体" panose="02010600030101010101" pitchFamily="2" charset="-122"/>
                <a:ea typeface="宋体" panose="02010600030101010101" pitchFamily="2" charset="-122"/>
              </a:rPr>
              <a:t>合并后关系的属性 </a:t>
            </a:r>
            <a:r>
              <a:rPr lang="en-US" altLang="zh-CN" sz="2800" dirty="0">
                <a:latin typeface="Arial" panose="020B0604020202020204" pitchFamily="34" charset="0"/>
                <a:ea typeface="宋体" panose="02010600030101010101" pitchFamily="2" charset="-122"/>
              </a:rPr>
              <a:t>= </a:t>
            </a:r>
            <a:r>
              <a:rPr lang="zh-CN" altLang="en-US" sz="2800" dirty="0">
                <a:latin typeface="宋体" panose="02010600030101010101" pitchFamily="2" charset="-122"/>
                <a:ea typeface="宋体" panose="02010600030101010101" pitchFamily="2" charset="-122"/>
              </a:rPr>
              <a:t>在</a:t>
            </a:r>
            <a:r>
              <a:rPr lang="en-US" altLang="zh-CN" sz="2800" i="1" dirty="0">
                <a:latin typeface="Arial" panose="020B0604020202020204" pitchFamily="34" charset="0"/>
                <a:ea typeface="宋体" panose="02010600030101010101" pitchFamily="2" charset="-122"/>
              </a:rPr>
              <a:t>n</a:t>
            </a:r>
            <a:r>
              <a:rPr lang="zh-CN" altLang="en-US" sz="2800" dirty="0">
                <a:latin typeface="宋体" panose="02010600030101010101" pitchFamily="2" charset="-122"/>
                <a:ea typeface="宋体" panose="02010600030101010101" pitchFamily="2" charset="-122"/>
              </a:rPr>
              <a:t>端关系中加入</a:t>
            </a:r>
            <a:r>
              <a:rPr lang="en-US" altLang="zh-CN" sz="2800" dirty="0">
                <a:latin typeface="Arial" panose="020B0604020202020204" pitchFamily="34" charset="0"/>
                <a:ea typeface="宋体" panose="02010600030101010101" pitchFamily="2" charset="-122"/>
              </a:rPr>
              <a:t>1</a:t>
            </a:r>
            <a:r>
              <a:rPr lang="zh-CN" altLang="en-US" sz="2800" dirty="0">
                <a:latin typeface="宋体" panose="02010600030101010101" pitchFamily="2" charset="-122"/>
                <a:ea typeface="宋体" panose="02010600030101010101" pitchFamily="2" charset="-122"/>
              </a:rPr>
              <a:t>端关系的码和联系本身的属性</a:t>
            </a:r>
            <a:endParaRPr lang="zh-CN" altLang="en-US" sz="2800" dirty="0">
              <a:latin typeface="宋体" panose="02010600030101010101" pitchFamily="2" charset="-122"/>
              <a:ea typeface="宋体" panose="02010600030101010101" pitchFamily="2" charset="-122"/>
            </a:endParaRPr>
          </a:p>
          <a:p>
            <a:pPr marL="1143000" lvl="2" indent="-228600" eaLnBrk="1" hangingPunct="1">
              <a:lnSpc>
                <a:spcPct val="110000"/>
              </a:lnSpc>
              <a:buClr>
                <a:srgbClr val="FF3300"/>
              </a:buClr>
              <a:buFont typeface="Wingdings" panose="05000000000000000000" pitchFamily="2" charset="2"/>
              <a:buChar char="§"/>
            </a:pPr>
            <a:r>
              <a:rPr lang="zh-CN" altLang="en-US" sz="2800" dirty="0">
                <a:latin typeface="宋体" panose="02010600030101010101" pitchFamily="2" charset="-122"/>
                <a:ea typeface="宋体" panose="02010600030101010101" pitchFamily="2" charset="-122"/>
              </a:rPr>
              <a:t>合并后关系的码 </a:t>
            </a:r>
            <a:r>
              <a:rPr lang="en-US" altLang="zh-CN" sz="2800" dirty="0">
                <a:latin typeface="Arial" panose="020B0604020202020204" pitchFamily="34" charset="0"/>
                <a:ea typeface="宋体" panose="02010600030101010101" pitchFamily="2" charset="-122"/>
              </a:rPr>
              <a:t>= </a:t>
            </a:r>
            <a:r>
              <a:rPr lang="zh-CN" altLang="en-US" sz="2800" i="1" dirty="0">
                <a:latin typeface="Arial" panose="020B0604020202020204" pitchFamily="34" charset="0"/>
                <a:ea typeface="宋体" panose="02010600030101010101" pitchFamily="2" charset="-122"/>
              </a:rPr>
              <a:t>不变</a:t>
            </a:r>
            <a:endParaRPr lang="zh-CN" altLang="en-US" sz="2800" i="1" dirty="0">
              <a:latin typeface="Arial" panose="020B0604020202020204" pitchFamily="34" charset="0"/>
              <a:ea typeface="宋体" panose="02010600030101010101" pitchFamily="2" charset="-122"/>
            </a:endParaRPr>
          </a:p>
          <a:p>
            <a:pPr marL="742950" lvl="1" indent="-285750" eaLnBrk="1" hangingPunct="1">
              <a:lnSpc>
                <a:spcPct val="110000"/>
              </a:lnSpc>
              <a:buClr>
                <a:srgbClr val="FF3300"/>
              </a:buClr>
            </a:pPr>
            <a:r>
              <a:rPr lang="zh-CN" altLang="en-US" dirty="0">
                <a:latin typeface="宋体" panose="02010600030101010101" pitchFamily="2" charset="-122"/>
              </a:rPr>
              <a:t>为减少关系模式的个数，一般采用后者</a:t>
            </a:r>
            <a:endParaRPr lang="zh-CN" altLang="en-US" dirty="0">
              <a:latin typeface="宋体" panose="02010600030101010101" pitchFamily="2" charset="-122"/>
            </a:endParaRPr>
          </a:p>
        </p:txBody>
      </p:sp>
      <p:sp>
        <p:nvSpPr>
          <p:cNvPr id="72708" name="Rectangle 3"/>
          <p:cNvSpPr>
            <a:spLocks noGrp="1"/>
          </p:cNvSpPr>
          <p:nvPr>
            <p:ph type="title" idx="4294967295"/>
          </p:nvPr>
        </p:nvSpPr>
        <p:spPr>
          <a:xfrm>
            <a:off x="914400" y="0"/>
            <a:ext cx="7772400" cy="609600"/>
          </a:xfrm>
          <a:ln/>
        </p:spPr>
        <p:txBody>
          <a:bodyPr vert="horz" wrap="square" lIns="91440" tIns="45720" rIns="91440" bIns="45720" anchor="ctr" anchorCtr="0"/>
          <a:p>
            <a:pPr eaLnBrk="1" hangingPunct="1"/>
            <a:r>
              <a:rPr lang="en-US" altLang="zh-CN" dirty="0"/>
              <a:t>7.4.1 E-R</a:t>
            </a:r>
            <a:r>
              <a:rPr lang="zh-CN" altLang="en-US" dirty="0"/>
              <a:t>图向关系模型的转换</a:t>
            </a:r>
            <a:endParaRPr lang="zh-CN" altLang="en-US"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30" name="页脚占位符 2"/>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73731" name="Rectangle 2"/>
          <p:cNvSpPr/>
          <p:nvPr/>
        </p:nvSpPr>
        <p:spPr>
          <a:xfrm>
            <a:off x="228600" y="762000"/>
            <a:ext cx="8534400" cy="57912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342900" lvl="0" indent="-342900" eaLnBrk="1" hangingPunct="1">
              <a:lnSpc>
                <a:spcPct val="110000"/>
              </a:lnSpc>
            </a:pPr>
            <a:r>
              <a:rPr lang="zh-CN" altLang="en-US" sz="2800" dirty="0">
                <a:solidFill>
                  <a:schemeClr val="tx1"/>
                </a:solidFill>
                <a:latin typeface="宋体" panose="02010600030101010101" pitchFamily="2" charset="-122"/>
              </a:rPr>
              <a:t>一个</a:t>
            </a:r>
            <a:r>
              <a:rPr lang="en-US" altLang="zh-CN" sz="2800" i="1" dirty="0">
                <a:solidFill>
                  <a:schemeClr val="tx1"/>
                </a:solidFill>
                <a:latin typeface="Arial" panose="020B0604020202020204" pitchFamily="34" charset="0"/>
              </a:rPr>
              <a:t>1:1</a:t>
            </a:r>
            <a:r>
              <a:rPr lang="zh-CN" altLang="en-US" sz="2800" dirty="0">
                <a:solidFill>
                  <a:schemeClr val="tx1"/>
                </a:solidFill>
                <a:latin typeface="宋体" panose="02010600030101010101" pitchFamily="2" charset="-122"/>
              </a:rPr>
              <a:t>联系可以转换为一个独立的关系模式，也可以与</a:t>
            </a:r>
            <a:r>
              <a:rPr lang="zh-CN" altLang="en-US" sz="2800" dirty="0">
                <a:solidFill>
                  <a:schemeClr val="tx1"/>
                </a:solidFill>
                <a:latin typeface="Arial" panose="020B0604020202020204" pitchFamily="34" charset="0"/>
              </a:rPr>
              <a:t>任意一</a:t>
            </a:r>
            <a:r>
              <a:rPr lang="zh-CN" altLang="en-US" sz="2800" dirty="0">
                <a:solidFill>
                  <a:schemeClr val="tx1"/>
                </a:solidFill>
                <a:latin typeface="宋体" panose="02010600030101010101" pitchFamily="2" charset="-122"/>
              </a:rPr>
              <a:t>端对应的关系模式合并</a:t>
            </a:r>
            <a:endParaRPr lang="zh-CN" altLang="en-US" sz="2800" dirty="0">
              <a:solidFill>
                <a:schemeClr val="tx1"/>
              </a:solidFill>
              <a:latin typeface="宋体" panose="02010600030101010101" pitchFamily="2" charset="-122"/>
            </a:endParaRPr>
          </a:p>
          <a:p>
            <a:pPr marL="742950" lvl="1" indent="-285750" eaLnBrk="1" hangingPunct="1">
              <a:lnSpc>
                <a:spcPct val="110000"/>
              </a:lnSpc>
              <a:buClr>
                <a:srgbClr val="FF3300"/>
              </a:buClr>
            </a:pPr>
            <a:r>
              <a:rPr lang="zh-CN" altLang="en-US" dirty="0">
                <a:latin typeface="宋体" panose="02010600030101010101" pitchFamily="2" charset="-122"/>
              </a:rPr>
              <a:t>转换为独立的关系模式</a:t>
            </a:r>
            <a:endParaRPr lang="zh-CN" altLang="en-US" dirty="0">
              <a:latin typeface="宋体" panose="02010600030101010101" pitchFamily="2" charset="-122"/>
            </a:endParaRPr>
          </a:p>
          <a:p>
            <a:pPr marL="1143000" lvl="2" indent="-228600" eaLnBrk="1" hangingPunct="1">
              <a:lnSpc>
                <a:spcPct val="110000"/>
              </a:lnSpc>
              <a:buClr>
                <a:srgbClr val="FF3300"/>
              </a:buClr>
              <a:buFont typeface="Wingdings" panose="05000000000000000000" pitchFamily="2" charset="2"/>
              <a:buChar char="§"/>
            </a:pPr>
            <a:r>
              <a:rPr lang="zh-CN" altLang="en-US" sz="2800" dirty="0">
                <a:latin typeface="宋体" panose="02010600030101010101" pitchFamily="2" charset="-122"/>
                <a:ea typeface="宋体" panose="02010600030101010101" pitchFamily="2" charset="-122"/>
              </a:rPr>
              <a:t>关系的属性 </a:t>
            </a:r>
            <a:r>
              <a:rPr lang="en-US" altLang="zh-CN" sz="2800" dirty="0">
                <a:latin typeface="Arial" panose="020B0604020202020204" pitchFamily="34" charset="0"/>
                <a:ea typeface="宋体" panose="02010600030101010101" pitchFamily="2" charset="-122"/>
              </a:rPr>
              <a:t>= </a:t>
            </a:r>
            <a:r>
              <a:rPr lang="zh-CN" altLang="en-US" sz="2800" dirty="0">
                <a:latin typeface="宋体" panose="02010600030101010101" pitchFamily="2" charset="-122"/>
                <a:ea typeface="宋体" panose="02010600030101010101" pitchFamily="2" charset="-122"/>
              </a:rPr>
              <a:t>各实体的码 </a:t>
            </a:r>
            <a:r>
              <a:rPr lang="en-US" altLang="zh-CN" sz="2800" dirty="0">
                <a:latin typeface="Arial" panose="020B0604020202020204" pitchFamily="34" charset="0"/>
                <a:ea typeface="宋体" panose="02010600030101010101" pitchFamily="2" charset="-122"/>
              </a:rPr>
              <a:t>+ </a:t>
            </a:r>
            <a:r>
              <a:rPr lang="zh-CN" altLang="en-US" sz="2800" dirty="0">
                <a:latin typeface="宋体" panose="02010600030101010101" pitchFamily="2" charset="-122"/>
                <a:ea typeface="宋体" panose="02010600030101010101" pitchFamily="2" charset="-122"/>
              </a:rPr>
              <a:t>联系本身的属性</a:t>
            </a:r>
            <a:endParaRPr lang="zh-CN" altLang="en-US" sz="2800" dirty="0">
              <a:latin typeface="宋体" panose="02010600030101010101" pitchFamily="2" charset="-122"/>
              <a:ea typeface="宋体" panose="02010600030101010101" pitchFamily="2" charset="-122"/>
            </a:endParaRPr>
          </a:p>
          <a:p>
            <a:pPr marL="1143000" lvl="2" indent="-228600" eaLnBrk="1" hangingPunct="1">
              <a:lnSpc>
                <a:spcPct val="110000"/>
              </a:lnSpc>
              <a:buClr>
                <a:srgbClr val="FF3300"/>
              </a:buClr>
              <a:buFont typeface="Wingdings" panose="05000000000000000000" pitchFamily="2" charset="2"/>
              <a:buChar char="§"/>
            </a:pPr>
            <a:r>
              <a:rPr lang="zh-CN" altLang="en-US" sz="2800" dirty="0">
                <a:latin typeface="宋体" panose="02010600030101010101" pitchFamily="2" charset="-122"/>
                <a:ea typeface="宋体" panose="02010600030101010101" pitchFamily="2" charset="-122"/>
              </a:rPr>
              <a:t>关系的码 </a:t>
            </a:r>
            <a:r>
              <a:rPr lang="en-US" altLang="zh-CN" sz="2800" dirty="0">
                <a:latin typeface="Arial" panose="020B0604020202020204" pitchFamily="34" charset="0"/>
                <a:ea typeface="宋体" panose="02010600030101010101" pitchFamily="2" charset="-122"/>
              </a:rPr>
              <a:t>= </a:t>
            </a:r>
            <a:r>
              <a:rPr lang="zh-CN" altLang="en-US" sz="2800" dirty="0">
                <a:latin typeface="Arial" panose="020B0604020202020204" pitchFamily="34" charset="0"/>
                <a:ea typeface="宋体" panose="02010600030101010101" pitchFamily="2" charset="-122"/>
              </a:rPr>
              <a:t>每个</a:t>
            </a:r>
            <a:r>
              <a:rPr lang="zh-CN" altLang="en-US" sz="2800" dirty="0">
                <a:latin typeface="宋体" panose="02010600030101010101" pitchFamily="2" charset="-122"/>
                <a:ea typeface="宋体" panose="02010600030101010101" pitchFamily="2" charset="-122"/>
              </a:rPr>
              <a:t>实体的码都是候选码 </a:t>
            </a:r>
            <a:endParaRPr lang="zh-CN" altLang="en-US" sz="2800" dirty="0">
              <a:latin typeface="宋体" panose="02010600030101010101" pitchFamily="2" charset="-122"/>
              <a:ea typeface="宋体" panose="02010600030101010101" pitchFamily="2" charset="-122"/>
            </a:endParaRPr>
          </a:p>
          <a:p>
            <a:pPr marL="742950" lvl="1" indent="-285750" eaLnBrk="1" hangingPunct="1">
              <a:lnSpc>
                <a:spcPct val="110000"/>
              </a:lnSpc>
              <a:buClr>
                <a:srgbClr val="FF3300"/>
              </a:buClr>
            </a:pPr>
            <a:r>
              <a:rPr lang="zh-CN" altLang="en-US" dirty="0">
                <a:latin typeface="宋体" panose="02010600030101010101" pitchFamily="2" charset="-122"/>
              </a:rPr>
              <a:t>与某一端实体对应的关系模式合并</a:t>
            </a:r>
            <a:endParaRPr lang="zh-CN" altLang="en-US" dirty="0">
              <a:latin typeface="宋体" panose="02010600030101010101" pitchFamily="2" charset="-122"/>
            </a:endParaRPr>
          </a:p>
          <a:p>
            <a:pPr marL="1143000" lvl="2" indent="-228600" eaLnBrk="1" hangingPunct="1">
              <a:lnSpc>
                <a:spcPct val="110000"/>
              </a:lnSpc>
              <a:buClr>
                <a:srgbClr val="FF3300"/>
              </a:buClr>
              <a:buFont typeface="Wingdings" panose="05000000000000000000" pitchFamily="2" charset="2"/>
              <a:buChar char="§"/>
            </a:pPr>
            <a:r>
              <a:rPr lang="zh-CN" altLang="en-US" sz="2800" dirty="0">
                <a:latin typeface="宋体" panose="02010600030101010101" pitchFamily="2" charset="-122"/>
                <a:ea typeface="宋体" panose="02010600030101010101" pitchFamily="2" charset="-122"/>
              </a:rPr>
              <a:t>合并后关系的属性 </a:t>
            </a:r>
            <a:r>
              <a:rPr lang="en-US" altLang="zh-CN" sz="2800" dirty="0">
                <a:latin typeface="Arial" panose="020B0604020202020204" pitchFamily="34" charset="0"/>
                <a:ea typeface="宋体" panose="02010600030101010101" pitchFamily="2" charset="-122"/>
              </a:rPr>
              <a:t>= </a:t>
            </a:r>
            <a:r>
              <a:rPr lang="zh-CN" altLang="en-US" sz="2800" dirty="0">
                <a:latin typeface="宋体" panose="02010600030101010101" pitchFamily="2" charset="-122"/>
                <a:ea typeface="宋体" panose="02010600030101010101" pitchFamily="2" charset="-122"/>
              </a:rPr>
              <a:t>加入对应关系的码和联系本身的属性  </a:t>
            </a:r>
            <a:endParaRPr lang="zh-CN" altLang="en-US" sz="2800" dirty="0">
              <a:latin typeface="宋体" panose="02010600030101010101" pitchFamily="2" charset="-122"/>
              <a:ea typeface="宋体" panose="02010600030101010101" pitchFamily="2" charset="-122"/>
            </a:endParaRPr>
          </a:p>
          <a:p>
            <a:pPr marL="1143000" lvl="2" indent="-228600" eaLnBrk="1" hangingPunct="1">
              <a:lnSpc>
                <a:spcPct val="110000"/>
              </a:lnSpc>
              <a:buClr>
                <a:srgbClr val="FF3300"/>
              </a:buClr>
              <a:buFont typeface="Wingdings" panose="05000000000000000000" pitchFamily="2" charset="2"/>
              <a:buChar char="§"/>
            </a:pPr>
            <a:r>
              <a:rPr lang="zh-CN" altLang="en-US" sz="2800" dirty="0">
                <a:latin typeface="宋体" panose="02010600030101010101" pitchFamily="2" charset="-122"/>
                <a:ea typeface="宋体" panose="02010600030101010101" pitchFamily="2" charset="-122"/>
              </a:rPr>
              <a:t>合并后关系的码 </a:t>
            </a:r>
            <a:r>
              <a:rPr lang="en-US" altLang="zh-CN" sz="2800" dirty="0">
                <a:latin typeface="Arial" panose="020B0604020202020204" pitchFamily="34" charset="0"/>
                <a:ea typeface="宋体" panose="02010600030101010101" pitchFamily="2" charset="-122"/>
              </a:rPr>
              <a:t>= </a:t>
            </a:r>
            <a:r>
              <a:rPr lang="zh-CN" altLang="en-US" sz="2800" i="1" dirty="0">
                <a:latin typeface="Arial" panose="020B0604020202020204" pitchFamily="34" charset="0"/>
                <a:ea typeface="宋体" panose="02010600030101010101" pitchFamily="2" charset="-122"/>
              </a:rPr>
              <a:t>不变</a:t>
            </a:r>
            <a:endParaRPr lang="zh-CN" altLang="en-US" sz="2800" i="1" dirty="0">
              <a:latin typeface="Arial" panose="020B0604020202020204" pitchFamily="34" charset="0"/>
              <a:ea typeface="宋体" panose="02010600030101010101" pitchFamily="2" charset="-122"/>
            </a:endParaRPr>
          </a:p>
          <a:p>
            <a:pPr marL="742950" lvl="1" indent="-285750" eaLnBrk="1" hangingPunct="1">
              <a:lnSpc>
                <a:spcPct val="110000"/>
              </a:lnSpc>
              <a:buClr>
                <a:srgbClr val="FF3300"/>
              </a:buClr>
            </a:pPr>
            <a:r>
              <a:rPr lang="zh-CN" altLang="en-US" dirty="0">
                <a:latin typeface="宋体" panose="02010600030101010101" pitchFamily="2" charset="-122"/>
              </a:rPr>
              <a:t>为减少关系模式的个数，一般采用后者</a:t>
            </a:r>
            <a:endParaRPr lang="zh-CN" altLang="en-US" dirty="0">
              <a:latin typeface="宋体" panose="02010600030101010101" pitchFamily="2" charset="-122"/>
            </a:endParaRPr>
          </a:p>
        </p:txBody>
      </p:sp>
      <p:sp>
        <p:nvSpPr>
          <p:cNvPr id="73732" name="Rectangle 3"/>
          <p:cNvSpPr>
            <a:spLocks noGrp="1"/>
          </p:cNvSpPr>
          <p:nvPr>
            <p:ph type="title" idx="4294967295"/>
          </p:nvPr>
        </p:nvSpPr>
        <p:spPr>
          <a:xfrm>
            <a:off x="914400" y="0"/>
            <a:ext cx="7772400" cy="609600"/>
          </a:xfrm>
          <a:ln/>
        </p:spPr>
        <p:txBody>
          <a:bodyPr vert="horz" wrap="square" lIns="91440" tIns="45720" rIns="91440" bIns="45720" anchor="ctr" anchorCtr="0"/>
          <a:p>
            <a:pPr eaLnBrk="1" hangingPunct="1"/>
            <a:r>
              <a:rPr lang="en-US" altLang="zh-CN" dirty="0"/>
              <a:t>7.4.1 E-R</a:t>
            </a:r>
            <a:r>
              <a:rPr lang="zh-CN" altLang="en-US" dirty="0"/>
              <a:t>图向关系模型的转换</a:t>
            </a:r>
            <a:endParaRPr lang="zh-CN" altLang="en-US"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4" name="页脚占位符 2"/>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74755" name="Rectangle 2"/>
          <p:cNvSpPr>
            <a:spLocks noGrp="1"/>
          </p:cNvSpPr>
          <p:nvPr>
            <p:ph type="title" idx="4294967295"/>
          </p:nvPr>
        </p:nvSpPr>
        <p:spPr>
          <a:xfrm>
            <a:off x="914400" y="0"/>
            <a:ext cx="7772400" cy="609600"/>
          </a:xfrm>
          <a:ln/>
        </p:spPr>
        <p:txBody>
          <a:bodyPr vert="horz" wrap="square" lIns="91440" tIns="45720" rIns="91440" bIns="45720" anchor="ctr" anchorCtr="0"/>
          <a:p>
            <a:pPr eaLnBrk="1" hangingPunct="1"/>
            <a:r>
              <a:rPr lang="en-US" altLang="zh-CN" dirty="0"/>
              <a:t>7.4.1 E-R</a:t>
            </a:r>
            <a:r>
              <a:rPr lang="zh-CN" altLang="en-US" dirty="0"/>
              <a:t>图向关系模型的转换</a:t>
            </a:r>
            <a:endParaRPr lang="zh-CN" altLang="en-US" dirty="0"/>
          </a:p>
        </p:txBody>
      </p:sp>
      <p:sp>
        <p:nvSpPr>
          <p:cNvPr id="74756" name="Text Box 3"/>
          <p:cNvSpPr txBox="1"/>
          <p:nvPr/>
        </p:nvSpPr>
        <p:spPr>
          <a:xfrm>
            <a:off x="4851400" y="3810000"/>
            <a:ext cx="519113" cy="371475"/>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just">
              <a:spcBef>
                <a:spcPct val="0"/>
              </a:spcBef>
              <a:buClrTx/>
              <a:buFontTx/>
              <a:buNone/>
            </a:pPr>
            <a:r>
              <a:rPr lang="en-US" altLang="zh-CN" sz="2800" i="1" dirty="0">
                <a:solidFill>
                  <a:schemeClr val="tx1"/>
                </a:solidFill>
              </a:rPr>
              <a:t>n</a:t>
            </a:r>
            <a:endParaRPr lang="en-US" altLang="zh-CN" sz="2800" i="1" dirty="0">
              <a:solidFill>
                <a:schemeClr val="tx1"/>
              </a:solidFill>
            </a:endParaRPr>
          </a:p>
        </p:txBody>
      </p:sp>
      <p:sp>
        <p:nvSpPr>
          <p:cNvPr id="74757" name="Text Box 4"/>
          <p:cNvSpPr txBox="1"/>
          <p:nvPr/>
        </p:nvSpPr>
        <p:spPr>
          <a:xfrm>
            <a:off x="2260600" y="1752600"/>
            <a:ext cx="346075" cy="371475"/>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just">
              <a:spcBef>
                <a:spcPct val="0"/>
              </a:spcBef>
              <a:buClrTx/>
              <a:buFontTx/>
              <a:buNone/>
            </a:pPr>
            <a:r>
              <a:rPr lang="en-US" altLang="zh-CN" sz="2400" dirty="0">
                <a:solidFill>
                  <a:schemeClr val="tx1"/>
                </a:solidFill>
              </a:rPr>
              <a:t>1</a:t>
            </a:r>
            <a:endParaRPr lang="en-US" altLang="zh-CN" sz="2400" dirty="0">
              <a:solidFill>
                <a:schemeClr val="tx1"/>
              </a:solidFill>
            </a:endParaRPr>
          </a:p>
        </p:txBody>
      </p:sp>
      <p:sp>
        <p:nvSpPr>
          <p:cNvPr id="74758" name="Rectangle 5"/>
          <p:cNvSpPr/>
          <p:nvPr/>
        </p:nvSpPr>
        <p:spPr>
          <a:xfrm>
            <a:off x="965200" y="1905000"/>
            <a:ext cx="762000" cy="533400"/>
          </a:xfrm>
          <a:prstGeom prst="rect">
            <a:avLst/>
          </a:prstGeom>
          <a:solidFill>
            <a:schemeClr val="accent2"/>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a:spcBef>
                <a:spcPct val="0"/>
              </a:spcBef>
              <a:buClrTx/>
              <a:buFontTx/>
              <a:buNone/>
            </a:pPr>
            <a:r>
              <a:rPr lang="zh-CN" altLang="en-US" sz="2800" dirty="0">
                <a:solidFill>
                  <a:schemeClr val="bg1"/>
                </a:solidFill>
              </a:rPr>
              <a:t>系</a:t>
            </a:r>
            <a:endParaRPr lang="zh-CN" altLang="en-US" sz="2800" dirty="0">
              <a:solidFill>
                <a:schemeClr val="bg1"/>
              </a:solidFill>
            </a:endParaRPr>
          </a:p>
        </p:txBody>
      </p:sp>
      <p:sp>
        <p:nvSpPr>
          <p:cNvPr id="74759" name="Line 6"/>
          <p:cNvSpPr/>
          <p:nvPr/>
        </p:nvSpPr>
        <p:spPr>
          <a:xfrm>
            <a:off x="1879600" y="4343400"/>
            <a:ext cx="1143000" cy="0"/>
          </a:xfrm>
          <a:prstGeom prst="line">
            <a:avLst/>
          </a:prstGeom>
          <a:ln w="9525" cap="flat" cmpd="sng">
            <a:solidFill>
              <a:srgbClr val="000000"/>
            </a:solidFill>
            <a:prstDash val="solid"/>
            <a:headEnd type="none" w="med" len="med"/>
            <a:tailEnd type="none" w="med" len="med"/>
          </a:ln>
        </p:spPr>
      </p:sp>
      <p:sp>
        <p:nvSpPr>
          <p:cNvPr id="74760" name="AutoShape 7"/>
          <p:cNvSpPr/>
          <p:nvPr/>
        </p:nvSpPr>
        <p:spPr>
          <a:xfrm>
            <a:off x="2717800" y="1752600"/>
            <a:ext cx="1676400" cy="731838"/>
          </a:xfrm>
          <a:prstGeom prst="diamond">
            <a:avLst/>
          </a:prstGeom>
          <a:solidFill>
            <a:srgbClr val="FF3300"/>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a:spcBef>
                <a:spcPct val="0"/>
              </a:spcBef>
              <a:buClrTx/>
              <a:buFontTx/>
              <a:buNone/>
            </a:pPr>
            <a:r>
              <a:rPr lang="zh-CN" altLang="en-US" sz="2400" dirty="0">
                <a:solidFill>
                  <a:srgbClr val="FFFF00"/>
                </a:solidFill>
              </a:rPr>
              <a:t>工作</a:t>
            </a:r>
            <a:endParaRPr lang="zh-CN" altLang="en-US" sz="2400" dirty="0">
              <a:solidFill>
                <a:srgbClr val="FFFF00"/>
              </a:solidFill>
            </a:endParaRPr>
          </a:p>
        </p:txBody>
      </p:sp>
      <p:sp>
        <p:nvSpPr>
          <p:cNvPr id="74761" name="Rectangle 8"/>
          <p:cNvSpPr/>
          <p:nvPr/>
        </p:nvSpPr>
        <p:spPr>
          <a:xfrm>
            <a:off x="5791200" y="1828800"/>
            <a:ext cx="990600" cy="609600"/>
          </a:xfrm>
          <a:prstGeom prst="rect">
            <a:avLst/>
          </a:prstGeom>
          <a:solidFill>
            <a:schemeClr val="accent2"/>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a:spcBef>
                <a:spcPct val="0"/>
              </a:spcBef>
              <a:buClrTx/>
              <a:buFontTx/>
              <a:buNone/>
            </a:pPr>
            <a:r>
              <a:rPr lang="zh-CN" altLang="en-US" sz="2800" dirty="0">
                <a:solidFill>
                  <a:schemeClr val="bg1"/>
                </a:solidFill>
              </a:rPr>
              <a:t>教师</a:t>
            </a:r>
            <a:endParaRPr lang="zh-CN" altLang="en-US" sz="2800" dirty="0">
              <a:solidFill>
                <a:schemeClr val="bg1"/>
              </a:solidFill>
            </a:endParaRPr>
          </a:p>
        </p:txBody>
      </p:sp>
      <p:sp>
        <p:nvSpPr>
          <p:cNvPr id="74762" name="AutoShape 9"/>
          <p:cNvSpPr/>
          <p:nvPr/>
        </p:nvSpPr>
        <p:spPr>
          <a:xfrm>
            <a:off x="584200" y="2819400"/>
            <a:ext cx="1524000" cy="814388"/>
          </a:xfrm>
          <a:prstGeom prst="diamond">
            <a:avLst/>
          </a:prstGeom>
          <a:solidFill>
            <a:srgbClr val="FF3300"/>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a:spcBef>
                <a:spcPct val="0"/>
              </a:spcBef>
              <a:buClrTx/>
              <a:buFontTx/>
              <a:buNone/>
            </a:pPr>
            <a:r>
              <a:rPr lang="zh-CN" altLang="en-US" sz="2400" dirty="0">
                <a:solidFill>
                  <a:srgbClr val="FFFF00"/>
                </a:solidFill>
              </a:rPr>
              <a:t>就读</a:t>
            </a:r>
            <a:endParaRPr lang="zh-CN" altLang="en-US" sz="2400" dirty="0">
              <a:solidFill>
                <a:srgbClr val="FFFF00"/>
              </a:solidFill>
            </a:endParaRPr>
          </a:p>
        </p:txBody>
      </p:sp>
      <p:sp>
        <p:nvSpPr>
          <p:cNvPr id="74763" name="Rectangle 10"/>
          <p:cNvSpPr/>
          <p:nvPr/>
        </p:nvSpPr>
        <p:spPr>
          <a:xfrm>
            <a:off x="825500" y="4038600"/>
            <a:ext cx="1041400" cy="533400"/>
          </a:xfrm>
          <a:prstGeom prst="rect">
            <a:avLst/>
          </a:prstGeom>
          <a:solidFill>
            <a:schemeClr val="accent2"/>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a:spcBef>
                <a:spcPct val="0"/>
              </a:spcBef>
              <a:buClrTx/>
              <a:buFontTx/>
              <a:buNone/>
            </a:pPr>
            <a:r>
              <a:rPr lang="zh-CN" altLang="en-US" sz="2800" dirty="0">
                <a:solidFill>
                  <a:schemeClr val="bg1"/>
                </a:solidFill>
              </a:rPr>
              <a:t>学生</a:t>
            </a:r>
            <a:endParaRPr lang="zh-CN" altLang="en-US" sz="2800" dirty="0">
              <a:solidFill>
                <a:schemeClr val="bg1"/>
              </a:solidFill>
            </a:endParaRPr>
          </a:p>
        </p:txBody>
      </p:sp>
      <p:sp>
        <p:nvSpPr>
          <p:cNvPr id="74764" name="Line 11"/>
          <p:cNvSpPr/>
          <p:nvPr/>
        </p:nvSpPr>
        <p:spPr>
          <a:xfrm flipV="1">
            <a:off x="1346200" y="2438400"/>
            <a:ext cx="0" cy="381000"/>
          </a:xfrm>
          <a:prstGeom prst="line">
            <a:avLst/>
          </a:prstGeom>
          <a:ln w="9525" cap="flat" cmpd="sng">
            <a:solidFill>
              <a:srgbClr val="000000"/>
            </a:solidFill>
            <a:prstDash val="solid"/>
            <a:headEnd type="none" w="med" len="med"/>
            <a:tailEnd type="none" w="med" len="med"/>
          </a:ln>
        </p:spPr>
      </p:sp>
      <p:sp>
        <p:nvSpPr>
          <p:cNvPr id="74765" name="Line 12"/>
          <p:cNvSpPr/>
          <p:nvPr/>
        </p:nvSpPr>
        <p:spPr>
          <a:xfrm flipV="1">
            <a:off x="1346200" y="3657600"/>
            <a:ext cx="0" cy="381000"/>
          </a:xfrm>
          <a:prstGeom prst="line">
            <a:avLst/>
          </a:prstGeom>
          <a:ln w="9525" cap="flat" cmpd="sng">
            <a:solidFill>
              <a:srgbClr val="000000"/>
            </a:solidFill>
            <a:prstDash val="solid"/>
            <a:headEnd type="none" w="med" len="med"/>
            <a:tailEnd type="none" w="med" len="med"/>
          </a:ln>
        </p:spPr>
      </p:sp>
      <p:sp>
        <p:nvSpPr>
          <p:cNvPr id="74766" name="Line 13"/>
          <p:cNvSpPr/>
          <p:nvPr/>
        </p:nvSpPr>
        <p:spPr>
          <a:xfrm>
            <a:off x="4584700" y="4343400"/>
            <a:ext cx="1028700" cy="0"/>
          </a:xfrm>
          <a:prstGeom prst="line">
            <a:avLst/>
          </a:prstGeom>
          <a:ln w="9525" cap="flat" cmpd="sng">
            <a:solidFill>
              <a:srgbClr val="000000"/>
            </a:solidFill>
            <a:prstDash val="solid"/>
            <a:headEnd type="none" w="med" len="med"/>
            <a:tailEnd type="none" w="med" len="med"/>
          </a:ln>
        </p:spPr>
      </p:sp>
      <p:sp>
        <p:nvSpPr>
          <p:cNvPr id="74767" name="AutoShape 14"/>
          <p:cNvSpPr/>
          <p:nvPr/>
        </p:nvSpPr>
        <p:spPr>
          <a:xfrm>
            <a:off x="5448300" y="2819400"/>
            <a:ext cx="1549400" cy="762000"/>
          </a:xfrm>
          <a:prstGeom prst="diamond">
            <a:avLst/>
          </a:prstGeom>
          <a:solidFill>
            <a:srgbClr val="FF3300"/>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a:spcBef>
                <a:spcPct val="0"/>
              </a:spcBef>
              <a:buClrTx/>
              <a:buFontTx/>
              <a:buNone/>
            </a:pPr>
            <a:r>
              <a:rPr lang="zh-CN" altLang="en-US" sz="2400" dirty="0">
                <a:solidFill>
                  <a:srgbClr val="FFFF00"/>
                </a:solidFill>
              </a:rPr>
              <a:t>讲授</a:t>
            </a:r>
            <a:endParaRPr lang="zh-CN" altLang="en-US" sz="2400" dirty="0">
              <a:solidFill>
                <a:srgbClr val="FFFF00"/>
              </a:solidFill>
            </a:endParaRPr>
          </a:p>
        </p:txBody>
      </p:sp>
      <p:sp>
        <p:nvSpPr>
          <p:cNvPr id="74768" name="AutoShape 15"/>
          <p:cNvSpPr/>
          <p:nvPr/>
        </p:nvSpPr>
        <p:spPr>
          <a:xfrm>
            <a:off x="2984500" y="3886200"/>
            <a:ext cx="1600200" cy="914400"/>
          </a:xfrm>
          <a:prstGeom prst="diamond">
            <a:avLst/>
          </a:prstGeom>
          <a:solidFill>
            <a:srgbClr val="FF3300"/>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a:spcBef>
                <a:spcPct val="0"/>
              </a:spcBef>
              <a:buClrTx/>
              <a:buFontTx/>
              <a:buNone/>
            </a:pPr>
            <a:r>
              <a:rPr lang="zh-CN" altLang="en-US" sz="2400" dirty="0">
                <a:solidFill>
                  <a:srgbClr val="FFFF00"/>
                </a:solidFill>
              </a:rPr>
              <a:t>选修</a:t>
            </a:r>
            <a:endParaRPr lang="zh-CN" altLang="en-US" sz="2400" dirty="0">
              <a:solidFill>
                <a:srgbClr val="FFFF00"/>
              </a:solidFill>
            </a:endParaRPr>
          </a:p>
        </p:txBody>
      </p:sp>
      <p:sp>
        <p:nvSpPr>
          <p:cNvPr id="74769" name="Rectangle 16"/>
          <p:cNvSpPr/>
          <p:nvPr/>
        </p:nvSpPr>
        <p:spPr>
          <a:xfrm>
            <a:off x="5626100" y="4000500"/>
            <a:ext cx="1219200" cy="609600"/>
          </a:xfrm>
          <a:prstGeom prst="rect">
            <a:avLst/>
          </a:prstGeom>
          <a:solidFill>
            <a:schemeClr val="accent2"/>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a:spcBef>
                <a:spcPct val="0"/>
              </a:spcBef>
              <a:buClrTx/>
              <a:buFontTx/>
              <a:buNone/>
            </a:pPr>
            <a:r>
              <a:rPr lang="zh-CN" altLang="en-US" sz="2800" dirty="0">
                <a:solidFill>
                  <a:schemeClr val="bg1"/>
                </a:solidFill>
              </a:rPr>
              <a:t>课程</a:t>
            </a:r>
            <a:endParaRPr lang="zh-CN" altLang="en-US" sz="2800" dirty="0">
              <a:solidFill>
                <a:schemeClr val="bg1"/>
              </a:solidFill>
            </a:endParaRPr>
          </a:p>
        </p:txBody>
      </p:sp>
      <p:sp>
        <p:nvSpPr>
          <p:cNvPr id="74770" name="Line 17"/>
          <p:cNvSpPr/>
          <p:nvPr/>
        </p:nvSpPr>
        <p:spPr>
          <a:xfrm flipV="1">
            <a:off x="6223000" y="3581400"/>
            <a:ext cx="0" cy="381000"/>
          </a:xfrm>
          <a:prstGeom prst="line">
            <a:avLst/>
          </a:prstGeom>
          <a:ln w="9525" cap="flat" cmpd="sng">
            <a:solidFill>
              <a:srgbClr val="000000"/>
            </a:solidFill>
            <a:prstDash val="solid"/>
            <a:headEnd type="none" w="med" len="med"/>
            <a:tailEnd type="none" w="med" len="med"/>
          </a:ln>
        </p:spPr>
      </p:sp>
      <p:sp>
        <p:nvSpPr>
          <p:cNvPr id="74771" name="Line 18"/>
          <p:cNvSpPr/>
          <p:nvPr/>
        </p:nvSpPr>
        <p:spPr>
          <a:xfrm>
            <a:off x="1727200" y="2133600"/>
            <a:ext cx="990600" cy="0"/>
          </a:xfrm>
          <a:prstGeom prst="line">
            <a:avLst/>
          </a:prstGeom>
          <a:ln w="9525" cap="flat" cmpd="sng">
            <a:solidFill>
              <a:srgbClr val="000000"/>
            </a:solidFill>
            <a:prstDash val="solid"/>
            <a:headEnd type="none" w="med" len="med"/>
            <a:tailEnd type="none" w="med" len="med"/>
          </a:ln>
        </p:spPr>
      </p:sp>
      <p:sp>
        <p:nvSpPr>
          <p:cNvPr id="74772" name="Line 19"/>
          <p:cNvSpPr/>
          <p:nvPr/>
        </p:nvSpPr>
        <p:spPr>
          <a:xfrm>
            <a:off x="4394200" y="2133600"/>
            <a:ext cx="1384300" cy="0"/>
          </a:xfrm>
          <a:prstGeom prst="line">
            <a:avLst/>
          </a:prstGeom>
          <a:ln w="9525" cap="flat" cmpd="sng">
            <a:solidFill>
              <a:srgbClr val="000000"/>
            </a:solidFill>
            <a:prstDash val="solid"/>
            <a:headEnd type="none" w="med" len="med"/>
            <a:tailEnd type="none" w="med" len="med"/>
          </a:ln>
        </p:spPr>
      </p:sp>
      <p:sp>
        <p:nvSpPr>
          <p:cNvPr id="74773" name="Text Box 20"/>
          <p:cNvSpPr txBox="1"/>
          <p:nvPr/>
        </p:nvSpPr>
        <p:spPr>
          <a:xfrm>
            <a:off x="4622800" y="1752600"/>
            <a:ext cx="519113" cy="371475"/>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just">
              <a:spcBef>
                <a:spcPct val="0"/>
              </a:spcBef>
              <a:buClrTx/>
              <a:buFontTx/>
              <a:buNone/>
            </a:pPr>
            <a:r>
              <a:rPr lang="en-US" altLang="zh-CN" sz="2400" i="1" dirty="0">
                <a:solidFill>
                  <a:schemeClr val="tx1"/>
                </a:solidFill>
              </a:rPr>
              <a:t>m</a:t>
            </a:r>
            <a:endParaRPr lang="en-US" altLang="zh-CN" sz="2400" i="1" dirty="0">
              <a:solidFill>
                <a:schemeClr val="tx1"/>
              </a:solidFill>
            </a:endParaRPr>
          </a:p>
        </p:txBody>
      </p:sp>
      <p:sp>
        <p:nvSpPr>
          <p:cNvPr id="74774" name="Line 21"/>
          <p:cNvSpPr/>
          <p:nvPr/>
        </p:nvSpPr>
        <p:spPr>
          <a:xfrm flipH="1" flipV="1">
            <a:off x="6223000" y="2438400"/>
            <a:ext cx="0" cy="381000"/>
          </a:xfrm>
          <a:prstGeom prst="line">
            <a:avLst/>
          </a:prstGeom>
          <a:ln w="9525" cap="flat" cmpd="sng">
            <a:solidFill>
              <a:srgbClr val="000000"/>
            </a:solidFill>
            <a:prstDash val="solid"/>
            <a:headEnd type="none" w="med" len="med"/>
            <a:tailEnd type="none" w="med" len="med"/>
          </a:ln>
        </p:spPr>
      </p:sp>
      <p:sp>
        <p:nvSpPr>
          <p:cNvPr id="74775" name="Text Box 22"/>
          <p:cNvSpPr txBox="1"/>
          <p:nvPr/>
        </p:nvSpPr>
        <p:spPr>
          <a:xfrm>
            <a:off x="6451600" y="2514600"/>
            <a:ext cx="519113" cy="371475"/>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just">
              <a:spcBef>
                <a:spcPct val="0"/>
              </a:spcBef>
              <a:buClrTx/>
              <a:buFontTx/>
              <a:buNone/>
            </a:pPr>
            <a:r>
              <a:rPr lang="en-US" altLang="zh-CN" sz="2400" i="1" dirty="0">
                <a:solidFill>
                  <a:schemeClr val="tx1"/>
                </a:solidFill>
              </a:rPr>
              <a:t>m</a:t>
            </a:r>
            <a:endParaRPr lang="en-US" altLang="zh-CN" sz="2400" i="1" dirty="0">
              <a:solidFill>
                <a:schemeClr val="tx1"/>
              </a:solidFill>
            </a:endParaRPr>
          </a:p>
        </p:txBody>
      </p:sp>
      <p:sp>
        <p:nvSpPr>
          <p:cNvPr id="74776" name="Text Box 23"/>
          <p:cNvSpPr txBox="1"/>
          <p:nvPr/>
        </p:nvSpPr>
        <p:spPr>
          <a:xfrm>
            <a:off x="6375400" y="3581400"/>
            <a:ext cx="519113" cy="373063"/>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just">
              <a:spcBef>
                <a:spcPct val="0"/>
              </a:spcBef>
              <a:buClrTx/>
              <a:buFontTx/>
              <a:buNone/>
            </a:pPr>
            <a:r>
              <a:rPr lang="en-US" altLang="zh-CN" sz="2400" i="1" dirty="0">
                <a:solidFill>
                  <a:schemeClr val="tx1"/>
                </a:solidFill>
              </a:rPr>
              <a:t>n</a:t>
            </a:r>
            <a:endParaRPr lang="en-US" altLang="zh-CN" sz="2400" i="1" dirty="0">
              <a:solidFill>
                <a:schemeClr val="tx1"/>
              </a:solidFill>
            </a:endParaRPr>
          </a:p>
        </p:txBody>
      </p:sp>
      <p:sp>
        <p:nvSpPr>
          <p:cNvPr id="74777" name="Text Box 24"/>
          <p:cNvSpPr txBox="1"/>
          <p:nvPr/>
        </p:nvSpPr>
        <p:spPr>
          <a:xfrm>
            <a:off x="2413000" y="3886200"/>
            <a:ext cx="519113" cy="371475"/>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just">
              <a:spcBef>
                <a:spcPct val="0"/>
              </a:spcBef>
              <a:buClrTx/>
              <a:buFontTx/>
              <a:buNone/>
            </a:pPr>
            <a:r>
              <a:rPr lang="en-US" altLang="zh-CN" sz="2400" i="1" dirty="0">
                <a:solidFill>
                  <a:schemeClr val="tx1"/>
                </a:solidFill>
              </a:rPr>
              <a:t>m</a:t>
            </a:r>
            <a:endParaRPr lang="en-US" altLang="zh-CN" sz="2400" i="1" dirty="0">
              <a:solidFill>
                <a:schemeClr val="tx1"/>
              </a:solidFill>
            </a:endParaRPr>
          </a:p>
        </p:txBody>
      </p:sp>
      <p:sp>
        <p:nvSpPr>
          <p:cNvPr id="74778" name="Text Box 25"/>
          <p:cNvSpPr txBox="1"/>
          <p:nvPr/>
        </p:nvSpPr>
        <p:spPr>
          <a:xfrm>
            <a:off x="1422400" y="2514600"/>
            <a:ext cx="519113" cy="371475"/>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just">
              <a:spcBef>
                <a:spcPct val="0"/>
              </a:spcBef>
              <a:buClrTx/>
              <a:buFontTx/>
              <a:buNone/>
            </a:pPr>
            <a:r>
              <a:rPr lang="en-US" altLang="zh-CN" sz="2400" dirty="0">
                <a:solidFill>
                  <a:schemeClr val="tx1"/>
                </a:solidFill>
              </a:rPr>
              <a:t>1</a:t>
            </a:r>
            <a:endParaRPr lang="en-US" altLang="zh-CN" sz="2400" dirty="0">
              <a:solidFill>
                <a:schemeClr val="tx1"/>
              </a:solidFill>
            </a:endParaRPr>
          </a:p>
        </p:txBody>
      </p:sp>
      <p:sp>
        <p:nvSpPr>
          <p:cNvPr id="74779" name="Text Box 26"/>
          <p:cNvSpPr txBox="1"/>
          <p:nvPr/>
        </p:nvSpPr>
        <p:spPr>
          <a:xfrm>
            <a:off x="1422400" y="3581400"/>
            <a:ext cx="519113" cy="373063"/>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just">
              <a:spcBef>
                <a:spcPct val="0"/>
              </a:spcBef>
              <a:buClrTx/>
              <a:buFontTx/>
              <a:buNone/>
            </a:pPr>
            <a:r>
              <a:rPr lang="en-US" altLang="zh-CN" sz="2400" i="1" dirty="0">
                <a:solidFill>
                  <a:schemeClr val="tx1"/>
                </a:solidFill>
              </a:rPr>
              <a:t>m</a:t>
            </a:r>
            <a:endParaRPr lang="en-US" altLang="zh-CN" sz="2400" i="1" dirty="0">
              <a:solidFill>
                <a:schemeClr val="tx1"/>
              </a:solidFill>
            </a:endParaRPr>
          </a:p>
        </p:txBody>
      </p:sp>
      <p:sp>
        <p:nvSpPr>
          <p:cNvPr id="74780" name="Oval 27"/>
          <p:cNvSpPr/>
          <p:nvPr/>
        </p:nvSpPr>
        <p:spPr>
          <a:xfrm>
            <a:off x="152400" y="5867400"/>
            <a:ext cx="1219200" cy="609600"/>
          </a:xfrm>
          <a:prstGeom prst="ellipse">
            <a:avLst/>
          </a:prstGeom>
          <a:no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a:spcBef>
                <a:spcPct val="0"/>
              </a:spcBef>
              <a:buClrTx/>
              <a:buFontTx/>
              <a:buNone/>
            </a:pPr>
            <a:r>
              <a:rPr lang="zh-CN" altLang="en-US" sz="2400" u="sng" dirty="0">
                <a:solidFill>
                  <a:srgbClr val="0000CC"/>
                </a:solidFill>
              </a:rPr>
              <a:t>学号</a:t>
            </a:r>
            <a:endParaRPr lang="zh-CN" altLang="en-US" sz="2400" u="sng" dirty="0">
              <a:solidFill>
                <a:srgbClr val="0000CC"/>
              </a:solidFill>
            </a:endParaRPr>
          </a:p>
        </p:txBody>
      </p:sp>
      <p:sp>
        <p:nvSpPr>
          <p:cNvPr id="74781" name="Line 28"/>
          <p:cNvSpPr/>
          <p:nvPr/>
        </p:nvSpPr>
        <p:spPr>
          <a:xfrm flipH="1">
            <a:off x="685800" y="4572000"/>
            <a:ext cx="279400" cy="1295400"/>
          </a:xfrm>
          <a:prstGeom prst="line">
            <a:avLst/>
          </a:prstGeom>
          <a:ln w="9525" cap="flat" cmpd="sng">
            <a:solidFill>
              <a:srgbClr val="000000"/>
            </a:solidFill>
            <a:prstDash val="solid"/>
            <a:headEnd type="none" w="med" len="med"/>
            <a:tailEnd type="none" w="med" len="med"/>
          </a:ln>
        </p:spPr>
      </p:sp>
      <p:sp>
        <p:nvSpPr>
          <p:cNvPr id="74782" name="Oval 29"/>
          <p:cNvSpPr/>
          <p:nvPr/>
        </p:nvSpPr>
        <p:spPr>
          <a:xfrm>
            <a:off x="990600" y="4876800"/>
            <a:ext cx="609600" cy="914400"/>
          </a:xfrm>
          <a:prstGeom prst="ellipse">
            <a:avLst/>
          </a:prstGeom>
          <a:no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a:spcBef>
                <a:spcPct val="0"/>
              </a:spcBef>
              <a:buClrTx/>
              <a:buFontTx/>
              <a:buNone/>
            </a:pPr>
            <a:r>
              <a:rPr lang="zh-CN" altLang="en-US" sz="2400" dirty="0">
                <a:solidFill>
                  <a:schemeClr val="tx1"/>
                </a:solidFill>
              </a:rPr>
              <a:t>姓名</a:t>
            </a:r>
            <a:endParaRPr lang="zh-CN" altLang="en-US" sz="2400" dirty="0">
              <a:solidFill>
                <a:schemeClr val="tx1"/>
              </a:solidFill>
            </a:endParaRPr>
          </a:p>
        </p:txBody>
      </p:sp>
      <p:sp>
        <p:nvSpPr>
          <p:cNvPr id="74783" name="Oval 30"/>
          <p:cNvSpPr/>
          <p:nvPr/>
        </p:nvSpPr>
        <p:spPr>
          <a:xfrm>
            <a:off x="1752600" y="5410200"/>
            <a:ext cx="533400" cy="990600"/>
          </a:xfrm>
          <a:prstGeom prst="ellipse">
            <a:avLst/>
          </a:prstGeom>
          <a:no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a:spcBef>
                <a:spcPct val="0"/>
              </a:spcBef>
              <a:buClrTx/>
              <a:buFontTx/>
              <a:buNone/>
            </a:pPr>
            <a:r>
              <a:rPr lang="zh-CN" altLang="en-US" sz="2400" dirty="0">
                <a:solidFill>
                  <a:schemeClr val="tx1"/>
                </a:solidFill>
              </a:rPr>
              <a:t>性别</a:t>
            </a:r>
            <a:endParaRPr lang="zh-CN" altLang="en-US" sz="2400" dirty="0">
              <a:solidFill>
                <a:schemeClr val="tx1"/>
              </a:solidFill>
            </a:endParaRPr>
          </a:p>
        </p:txBody>
      </p:sp>
      <p:sp>
        <p:nvSpPr>
          <p:cNvPr id="74784" name="Oval 31"/>
          <p:cNvSpPr/>
          <p:nvPr/>
        </p:nvSpPr>
        <p:spPr>
          <a:xfrm>
            <a:off x="2438400" y="4953000"/>
            <a:ext cx="609600" cy="1066800"/>
          </a:xfrm>
          <a:prstGeom prst="ellipse">
            <a:avLst/>
          </a:prstGeom>
          <a:no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a:spcBef>
                <a:spcPct val="0"/>
              </a:spcBef>
              <a:buClrTx/>
              <a:buFontTx/>
              <a:buNone/>
            </a:pPr>
            <a:r>
              <a:rPr lang="zh-CN" altLang="en-US" sz="2400" dirty="0">
                <a:solidFill>
                  <a:schemeClr val="tx1"/>
                </a:solidFill>
              </a:rPr>
              <a:t>年龄</a:t>
            </a:r>
            <a:endParaRPr lang="zh-CN" altLang="en-US" sz="2400" dirty="0">
              <a:solidFill>
                <a:schemeClr val="tx1"/>
              </a:solidFill>
            </a:endParaRPr>
          </a:p>
        </p:txBody>
      </p:sp>
      <p:sp>
        <p:nvSpPr>
          <p:cNvPr id="74785" name="Line 32"/>
          <p:cNvSpPr/>
          <p:nvPr/>
        </p:nvSpPr>
        <p:spPr>
          <a:xfrm>
            <a:off x="1117600" y="4572000"/>
            <a:ext cx="76200" cy="381000"/>
          </a:xfrm>
          <a:prstGeom prst="line">
            <a:avLst/>
          </a:prstGeom>
          <a:ln w="9525" cap="flat" cmpd="sng">
            <a:solidFill>
              <a:srgbClr val="000000"/>
            </a:solidFill>
            <a:prstDash val="solid"/>
            <a:headEnd type="none" w="med" len="med"/>
            <a:tailEnd type="none" w="med" len="med"/>
          </a:ln>
        </p:spPr>
      </p:sp>
      <p:sp>
        <p:nvSpPr>
          <p:cNvPr id="74786" name="Line 33"/>
          <p:cNvSpPr/>
          <p:nvPr/>
        </p:nvSpPr>
        <p:spPr>
          <a:xfrm>
            <a:off x="1524000" y="4572000"/>
            <a:ext cx="381000" cy="914400"/>
          </a:xfrm>
          <a:prstGeom prst="line">
            <a:avLst/>
          </a:prstGeom>
          <a:ln w="9525" cap="flat" cmpd="sng">
            <a:solidFill>
              <a:srgbClr val="000000"/>
            </a:solidFill>
            <a:prstDash val="solid"/>
            <a:headEnd type="none" w="med" len="med"/>
            <a:tailEnd type="none" w="med" len="med"/>
          </a:ln>
        </p:spPr>
      </p:sp>
      <p:sp>
        <p:nvSpPr>
          <p:cNvPr id="74787" name="Line 34"/>
          <p:cNvSpPr/>
          <p:nvPr/>
        </p:nvSpPr>
        <p:spPr>
          <a:xfrm>
            <a:off x="1676400" y="4572000"/>
            <a:ext cx="762000" cy="838200"/>
          </a:xfrm>
          <a:prstGeom prst="line">
            <a:avLst/>
          </a:prstGeom>
          <a:ln w="9525" cap="flat" cmpd="sng">
            <a:solidFill>
              <a:srgbClr val="000000"/>
            </a:solidFill>
            <a:prstDash val="solid"/>
            <a:headEnd type="none" w="med" len="med"/>
            <a:tailEnd type="none" w="med" len="med"/>
          </a:ln>
        </p:spPr>
      </p:sp>
      <p:sp>
        <p:nvSpPr>
          <p:cNvPr id="74788" name="Line 35"/>
          <p:cNvSpPr/>
          <p:nvPr/>
        </p:nvSpPr>
        <p:spPr>
          <a:xfrm>
            <a:off x="3784600" y="4800600"/>
            <a:ext cx="0" cy="457200"/>
          </a:xfrm>
          <a:prstGeom prst="line">
            <a:avLst/>
          </a:prstGeom>
          <a:ln w="9525" cap="flat" cmpd="sng">
            <a:solidFill>
              <a:srgbClr val="000000"/>
            </a:solidFill>
            <a:prstDash val="solid"/>
            <a:headEnd type="none" w="med" len="med"/>
            <a:tailEnd type="none" w="med" len="med"/>
          </a:ln>
        </p:spPr>
      </p:sp>
      <p:sp>
        <p:nvSpPr>
          <p:cNvPr id="74789" name="Oval 36"/>
          <p:cNvSpPr/>
          <p:nvPr/>
        </p:nvSpPr>
        <p:spPr>
          <a:xfrm>
            <a:off x="3403600" y="5257800"/>
            <a:ext cx="762000" cy="1066800"/>
          </a:xfrm>
          <a:prstGeom prst="ellipse">
            <a:avLst/>
          </a:prstGeom>
          <a:no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a:spcBef>
                <a:spcPct val="0"/>
              </a:spcBef>
              <a:buClrTx/>
              <a:buFontTx/>
              <a:buNone/>
            </a:pPr>
            <a:r>
              <a:rPr lang="zh-CN" altLang="en-US" sz="2400" dirty="0">
                <a:solidFill>
                  <a:schemeClr val="tx1"/>
                </a:solidFill>
              </a:rPr>
              <a:t>成绩</a:t>
            </a:r>
            <a:endParaRPr lang="zh-CN" altLang="en-US" sz="2400" dirty="0">
              <a:solidFill>
                <a:schemeClr val="tx1"/>
              </a:solidFill>
            </a:endParaRPr>
          </a:p>
        </p:txBody>
      </p:sp>
      <p:sp>
        <p:nvSpPr>
          <p:cNvPr id="74790" name="Oval 37"/>
          <p:cNvSpPr/>
          <p:nvPr/>
        </p:nvSpPr>
        <p:spPr>
          <a:xfrm>
            <a:off x="4343400" y="5029200"/>
            <a:ext cx="1574800" cy="685800"/>
          </a:xfrm>
          <a:prstGeom prst="ellipse">
            <a:avLst/>
          </a:prstGeom>
          <a:no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a:spcBef>
                <a:spcPct val="0"/>
              </a:spcBef>
              <a:buClrTx/>
              <a:buFontTx/>
              <a:buNone/>
            </a:pPr>
            <a:r>
              <a:rPr lang="zh-CN" altLang="en-US" sz="2400" u="sng" dirty="0">
                <a:solidFill>
                  <a:srgbClr val="0000CC"/>
                </a:solidFill>
              </a:rPr>
              <a:t>课程号</a:t>
            </a:r>
            <a:endParaRPr lang="zh-CN" altLang="en-US" sz="2400" u="sng" dirty="0">
              <a:solidFill>
                <a:srgbClr val="0000CC"/>
              </a:solidFill>
            </a:endParaRPr>
          </a:p>
        </p:txBody>
      </p:sp>
      <p:sp>
        <p:nvSpPr>
          <p:cNvPr id="74791" name="Oval 38"/>
          <p:cNvSpPr/>
          <p:nvPr/>
        </p:nvSpPr>
        <p:spPr>
          <a:xfrm>
            <a:off x="6134100" y="5016500"/>
            <a:ext cx="1752600" cy="685800"/>
          </a:xfrm>
          <a:prstGeom prst="ellipse">
            <a:avLst/>
          </a:prstGeom>
          <a:no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a:spcBef>
                <a:spcPct val="0"/>
              </a:spcBef>
              <a:buClrTx/>
              <a:buFontTx/>
              <a:buNone/>
            </a:pPr>
            <a:r>
              <a:rPr lang="zh-CN" altLang="en-US" sz="2400" dirty="0">
                <a:solidFill>
                  <a:schemeClr val="tx1"/>
                </a:solidFill>
              </a:rPr>
              <a:t>课程名</a:t>
            </a:r>
            <a:endParaRPr lang="zh-CN" altLang="en-US" sz="2400" dirty="0">
              <a:solidFill>
                <a:schemeClr val="tx1"/>
              </a:solidFill>
            </a:endParaRPr>
          </a:p>
        </p:txBody>
      </p:sp>
      <p:sp>
        <p:nvSpPr>
          <p:cNvPr id="74792" name="Line 39"/>
          <p:cNvSpPr/>
          <p:nvPr/>
        </p:nvSpPr>
        <p:spPr>
          <a:xfrm flipH="1">
            <a:off x="5461000" y="4648200"/>
            <a:ext cx="457200" cy="371475"/>
          </a:xfrm>
          <a:prstGeom prst="line">
            <a:avLst/>
          </a:prstGeom>
          <a:ln w="9525" cap="flat" cmpd="sng">
            <a:solidFill>
              <a:srgbClr val="000000"/>
            </a:solidFill>
            <a:prstDash val="solid"/>
            <a:headEnd type="none" w="med" len="med"/>
            <a:tailEnd type="none" w="med" len="med"/>
          </a:ln>
        </p:spPr>
      </p:sp>
      <p:sp>
        <p:nvSpPr>
          <p:cNvPr id="74793" name="Line 40"/>
          <p:cNvSpPr/>
          <p:nvPr/>
        </p:nvSpPr>
        <p:spPr>
          <a:xfrm>
            <a:off x="6451600" y="4648200"/>
            <a:ext cx="519113" cy="371475"/>
          </a:xfrm>
          <a:prstGeom prst="line">
            <a:avLst/>
          </a:prstGeom>
          <a:ln w="9525" cap="flat" cmpd="sng">
            <a:solidFill>
              <a:srgbClr val="000000"/>
            </a:solidFill>
            <a:prstDash val="solid"/>
            <a:headEnd type="none" w="med" len="med"/>
            <a:tailEnd type="none" w="med" len="med"/>
          </a:ln>
        </p:spPr>
      </p:sp>
      <p:sp>
        <p:nvSpPr>
          <p:cNvPr id="74794" name="Oval 41"/>
          <p:cNvSpPr/>
          <p:nvPr/>
        </p:nvSpPr>
        <p:spPr>
          <a:xfrm>
            <a:off x="3962400" y="787400"/>
            <a:ext cx="1651000" cy="838200"/>
          </a:xfrm>
          <a:prstGeom prst="ellipse">
            <a:avLst/>
          </a:prstGeom>
          <a:no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just">
              <a:spcBef>
                <a:spcPct val="0"/>
              </a:spcBef>
              <a:buClrTx/>
              <a:buFontTx/>
              <a:buNone/>
            </a:pPr>
            <a:r>
              <a:rPr lang="zh-CN" altLang="en-US" sz="2400" u="sng" dirty="0">
                <a:solidFill>
                  <a:srgbClr val="0000CC"/>
                </a:solidFill>
              </a:rPr>
              <a:t>教师号 </a:t>
            </a:r>
            <a:endParaRPr lang="zh-CN" altLang="en-US" sz="2400" u="sng" dirty="0">
              <a:solidFill>
                <a:srgbClr val="0000CC"/>
              </a:solidFill>
            </a:endParaRPr>
          </a:p>
        </p:txBody>
      </p:sp>
      <p:sp>
        <p:nvSpPr>
          <p:cNvPr id="74795" name="Oval 42"/>
          <p:cNvSpPr/>
          <p:nvPr/>
        </p:nvSpPr>
        <p:spPr>
          <a:xfrm>
            <a:off x="5689600" y="762000"/>
            <a:ext cx="1219200" cy="533400"/>
          </a:xfrm>
          <a:prstGeom prst="ellipse">
            <a:avLst/>
          </a:prstGeom>
          <a:no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just">
              <a:spcBef>
                <a:spcPct val="0"/>
              </a:spcBef>
              <a:buClrTx/>
              <a:buFontTx/>
              <a:buNone/>
            </a:pPr>
            <a:r>
              <a:rPr lang="zh-CN" altLang="en-US" sz="2400" dirty="0">
                <a:solidFill>
                  <a:schemeClr val="tx1"/>
                </a:solidFill>
              </a:rPr>
              <a:t>姓名</a:t>
            </a:r>
            <a:endParaRPr lang="zh-CN" altLang="en-US" sz="2400" dirty="0">
              <a:solidFill>
                <a:schemeClr val="tx1"/>
              </a:solidFill>
            </a:endParaRPr>
          </a:p>
        </p:txBody>
      </p:sp>
      <p:sp>
        <p:nvSpPr>
          <p:cNvPr id="74796" name="Oval 43"/>
          <p:cNvSpPr/>
          <p:nvPr/>
        </p:nvSpPr>
        <p:spPr>
          <a:xfrm>
            <a:off x="7061200" y="762000"/>
            <a:ext cx="1219200" cy="609600"/>
          </a:xfrm>
          <a:prstGeom prst="ellipse">
            <a:avLst/>
          </a:prstGeom>
          <a:no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just">
              <a:spcBef>
                <a:spcPct val="0"/>
              </a:spcBef>
              <a:buClrTx/>
              <a:buFontTx/>
              <a:buNone/>
            </a:pPr>
            <a:r>
              <a:rPr lang="zh-CN" altLang="en-US" sz="2400" dirty="0">
                <a:solidFill>
                  <a:schemeClr val="tx1"/>
                </a:solidFill>
              </a:rPr>
              <a:t>性别</a:t>
            </a:r>
            <a:endParaRPr lang="zh-CN" altLang="en-US" sz="2400" dirty="0">
              <a:solidFill>
                <a:schemeClr val="tx1"/>
              </a:solidFill>
            </a:endParaRPr>
          </a:p>
        </p:txBody>
      </p:sp>
      <p:sp>
        <p:nvSpPr>
          <p:cNvPr id="74797" name="Oval 44"/>
          <p:cNvSpPr/>
          <p:nvPr/>
        </p:nvSpPr>
        <p:spPr>
          <a:xfrm>
            <a:off x="7975600" y="1219200"/>
            <a:ext cx="685800" cy="1066800"/>
          </a:xfrm>
          <a:prstGeom prst="ellipse">
            <a:avLst/>
          </a:prstGeom>
          <a:no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just">
              <a:spcBef>
                <a:spcPct val="0"/>
              </a:spcBef>
              <a:buClrTx/>
              <a:buFontTx/>
              <a:buNone/>
            </a:pPr>
            <a:r>
              <a:rPr lang="zh-CN" altLang="en-US" sz="2400" dirty="0">
                <a:solidFill>
                  <a:schemeClr val="tx1"/>
                </a:solidFill>
              </a:rPr>
              <a:t>职称</a:t>
            </a:r>
            <a:endParaRPr lang="zh-CN" altLang="en-US" sz="2400" dirty="0">
              <a:solidFill>
                <a:schemeClr val="tx1"/>
              </a:solidFill>
            </a:endParaRPr>
          </a:p>
        </p:txBody>
      </p:sp>
      <p:sp>
        <p:nvSpPr>
          <p:cNvPr id="74798" name="Line 45"/>
          <p:cNvSpPr/>
          <p:nvPr/>
        </p:nvSpPr>
        <p:spPr>
          <a:xfrm>
            <a:off x="5537200" y="1371600"/>
            <a:ext cx="381000" cy="457200"/>
          </a:xfrm>
          <a:prstGeom prst="line">
            <a:avLst/>
          </a:prstGeom>
          <a:ln w="9525" cap="flat" cmpd="sng">
            <a:solidFill>
              <a:srgbClr val="000000"/>
            </a:solidFill>
            <a:prstDash val="solid"/>
            <a:headEnd type="none" w="med" len="med"/>
            <a:tailEnd type="none" w="med" len="med"/>
          </a:ln>
        </p:spPr>
      </p:sp>
      <p:sp>
        <p:nvSpPr>
          <p:cNvPr id="74799" name="Line 46"/>
          <p:cNvSpPr/>
          <p:nvPr/>
        </p:nvSpPr>
        <p:spPr>
          <a:xfrm flipH="1">
            <a:off x="6756400" y="1676400"/>
            <a:ext cx="1219200" cy="344488"/>
          </a:xfrm>
          <a:prstGeom prst="line">
            <a:avLst/>
          </a:prstGeom>
          <a:ln w="9525" cap="flat" cmpd="sng">
            <a:solidFill>
              <a:srgbClr val="000000"/>
            </a:solidFill>
            <a:prstDash val="solid"/>
            <a:headEnd type="none" w="med" len="med"/>
            <a:tailEnd type="none" w="med" len="med"/>
          </a:ln>
        </p:spPr>
      </p:sp>
      <p:sp>
        <p:nvSpPr>
          <p:cNvPr id="74800" name="Line 47"/>
          <p:cNvSpPr/>
          <p:nvPr/>
        </p:nvSpPr>
        <p:spPr>
          <a:xfrm>
            <a:off x="6146800" y="1295400"/>
            <a:ext cx="0" cy="533400"/>
          </a:xfrm>
          <a:prstGeom prst="line">
            <a:avLst/>
          </a:prstGeom>
          <a:ln w="9525" cap="flat" cmpd="sng">
            <a:solidFill>
              <a:srgbClr val="000000"/>
            </a:solidFill>
            <a:prstDash val="solid"/>
            <a:headEnd type="none" w="med" len="med"/>
            <a:tailEnd type="none" w="med" len="med"/>
          </a:ln>
        </p:spPr>
      </p:sp>
      <p:sp>
        <p:nvSpPr>
          <p:cNvPr id="74801" name="Line 48"/>
          <p:cNvSpPr/>
          <p:nvPr/>
        </p:nvSpPr>
        <p:spPr>
          <a:xfrm flipH="1">
            <a:off x="6350000" y="1257300"/>
            <a:ext cx="838200" cy="573088"/>
          </a:xfrm>
          <a:prstGeom prst="line">
            <a:avLst/>
          </a:prstGeom>
          <a:ln w="9525" cap="flat" cmpd="sng">
            <a:solidFill>
              <a:srgbClr val="000000"/>
            </a:solidFill>
            <a:prstDash val="solid"/>
            <a:headEnd type="none" w="med" len="med"/>
            <a:tailEnd type="none" w="med" len="med"/>
          </a:ln>
        </p:spPr>
      </p:sp>
      <p:sp>
        <p:nvSpPr>
          <p:cNvPr id="74802" name="Oval 49"/>
          <p:cNvSpPr/>
          <p:nvPr/>
        </p:nvSpPr>
        <p:spPr>
          <a:xfrm>
            <a:off x="203200" y="914400"/>
            <a:ext cx="1143000" cy="609600"/>
          </a:xfrm>
          <a:prstGeom prst="ellipse">
            <a:avLst/>
          </a:prstGeom>
          <a:no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a:spcBef>
                <a:spcPct val="0"/>
              </a:spcBef>
              <a:buClrTx/>
              <a:buFontTx/>
              <a:buNone/>
            </a:pPr>
            <a:r>
              <a:rPr lang="zh-CN" altLang="en-US" sz="2400" u="sng" dirty="0">
                <a:solidFill>
                  <a:srgbClr val="0000CC"/>
                </a:solidFill>
              </a:rPr>
              <a:t>系名</a:t>
            </a:r>
            <a:endParaRPr lang="zh-CN" altLang="en-US" sz="2400" u="sng" dirty="0">
              <a:solidFill>
                <a:srgbClr val="0000CC"/>
              </a:solidFill>
            </a:endParaRPr>
          </a:p>
        </p:txBody>
      </p:sp>
      <p:sp>
        <p:nvSpPr>
          <p:cNvPr id="74803" name="Oval 50"/>
          <p:cNvSpPr/>
          <p:nvPr/>
        </p:nvSpPr>
        <p:spPr>
          <a:xfrm>
            <a:off x="1879600" y="838200"/>
            <a:ext cx="1047750" cy="533400"/>
          </a:xfrm>
          <a:prstGeom prst="ellipse">
            <a:avLst/>
          </a:prstGeom>
          <a:no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just">
              <a:spcBef>
                <a:spcPct val="0"/>
              </a:spcBef>
              <a:buClrTx/>
              <a:buFontTx/>
              <a:buNone/>
            </a:pPr>
            <a:r>
              <a:rPr lang="zh-CN" altLang="en-US" sz="2000" dirty="0">
                <a:solidFill>
                  <a:schemeClr val="tx1"/>
                </a:solidFill>
              </a:rPr>
              <a:t>电话</a:t>
            </a:r>
            <a:endParaRPr lang="zh-CN" altLang="en-US" sz="2000" dirty="0">
              <a:solidFill>
                <a:schemeClr val="tx1"/>
              </a:solidFill>
            </a:endParaRPr>
          </a:p>
        </p:txBody>
      </p:sp>
      <p:sp>
        <p:nvSpPr>
          <p:cNvPr id="74804" name="Line 51"/>
          <p:cNvSpPr/>
          <p:nvPr/>
        </p:nvSpPr>
        <p:spPr>
          <a:xfrm>
            <a:off x="736600" y="1524000"/>
            <a:ext cx="457200" cy="381000"/>
          </a:xfrm>
          <a:prstGeom prst="line">
            <a:avLst/>
          </a:prstGeom>
          <a:ln w="9525" cap="flat" cmpd="sng">
            <a:solidFill>
              <a:srgbClr val="000000"/>
            </a:solidFill>
            <a:prstDash val="solid"/>
            <a:headEnd type="none" w="med" len="med"/>
            <a:tailEnd type="none" w="med" len="med"/>
          </a:ln>
        </p:spPr>
      </p:sp>
      <p:sp>
        <p:nvSpPr>
          <p:cNvPr id="74805" name="Line 52"/>
          <p:cNvSpPr/>
          <p:nvPr/>
        </p:nvSpPr>
        <p:spPr>
          <a:xfrm flipV="1">
            <a:off x="1498600" y="1295400"/>
            <a:ext cx="671513" cy="609600"/>
          </a:xfrm>
          <a:prstGeom prst="line">
            <a:avLst/>
          </a:prstGeom>
          <a:ln w="9525" cap="flat" cmpd="sng">
            <a:solidFill>
              <a:srgbClr val="000000"/>
            </a:solidFill>
            <a:prstDash val="solid"/>
            <a:headEnd type="none" w="med" len="med"/>
            <a:tailEnd type="none" w="med" len="med"/>
          </a:ln>
        </p:spPr>
      </p:sp>
      <p:sp>
        <p:nvSpPr>
          <p:cNvPr id="74806" name="Text Box 53"/>
          <p:cNvSpPr txBox="1"/>
          <p:nvPr/>
        </p:nvSpPr>
        <p:spPr>
          <a:xfrm>
            <a:off x="2909888" y="5800725"/>
            <a:ext cx="3979862" cy="371475"/>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a:spcBef>
                <a:spcPct val="0"/>
              </a:spcBef>
              <a:buClrTx/>
              <a:buFontTx/>
              <a:buNone/>
            </a:pPr>
            <a:endParaRPr lang="en-US" altLang="en-US" sz="1800" dirty="0">
              <a:solidFill>
                <a:schemeClr val="tx1"/>
              </a:solidFill>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8" name="页脚占位符 2"/>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75779" name="Rectangle 2"/>
          <p:cNvSpPr/>
          <p:nvPr/>
        </p:nvSpPr>
        <p:spPr>
          <a:xfrm>
            <a:off x="228600" y="762000"/>
            <a:ext cx="8686800" cy="56388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342900" lvl="0" indent="-342900" eaLnBrk="1" hangingPunct="1">
              <a:lnSpc>
                <a:spcPct val="110000"/>
              </a:lnSpc>
              <a:buNone/>
            </a:pPr>
            <a:r>
              <a:rPr lang="zh-CN" altLang="en-US" sz="2800" dirty="0">
                <a:solidFill>
                  <a:schemeClr val="tx1"/>
                </a:solidFill>
                <a:latin typeface="宋体" panose="02010600030101010101" pitchFamily="2" charset="-122"/>
              </a:rPr>
              <a:t>四个实体</a:t>
            </a:r>
            <a:r>
              <a:rPr lang="en-US" altLang="zh-CN" sz="2800" dirty="0">
                <a:solidFill>
                  <a:schemeClr val="tx1"/>
                </a:solidFill>
                <a:latin typeface="宋体" panose="02010600030101010101" pitchFamily="2" charset="-122"/>
              </a:rPr>
              <a:t>:</a:t>
            </a:r>
            <a:endParaRPr lang="en-US" altLang="zh-CN" sz="2800" dirty="0">
              <a:solidFill>
                <a:schemeClr val="tx1"/>
              </a:solidFill>
              <a:latin typeface="宋体" panose="02010600030101010101" pitchFamily="2" charset="-122"/>
            </a:endParaRPr>
          </a:p>
          <a:p>
            <a:pPr marL="342900" lvl="0" indent="-342900" eaLnBrk="1" hangingPunct="1">
              <a:lnSpc>
                <a:spcPct val="110000"/>
              </a:lnSpc>
              <a:buFont typeface="Wingdings" panose="05000000000000000000" pitchFamily="2" charset="2"/>
              <a:buChar char="§"/>
            </a:pPr>
            <a:r>
              <a:rPr lang="zh-CN" altLang="en-US" sz="2800" dirty="0">
                <a:solidFill>
                  <a:schemeClr val="tx1"/>
                </a:solidFill>
                <a:latin typeface="宋体" panose="02010600030101010101" pitchFamily="2" charset="-122"/>
              </a:rPr>
              <a:t>学生（</a:t>
            </a:r>
            <a:r>
              <a:rPr lang="zh-CN" altLang="en-US" sz="2800" u="sng" dirty="0">
                <a:solidFill>
                  <a:schemeClr val="tx1"/>
                </a:solidFill>
                <a:latin typeface="宋体" panose="02010600030101010101" pitchFamily="2" charset="-122"/>
              </a:rPr>
              <a:t>学号</a:t>
            </a:r>
            <a:r>
              <a:rPr lang="zh-CN" altLang="en-US" sz="2800" dirty="0">
                <a:solidFill>
                  <a:schemeClr val="tx1"/>
                </a:solidFill>
                <a:latin typeface="宋体" panose="02010600030101010101" pitchFamily="2" charset="-122"/>
              </a:rPr>
              <a:t>，姓名，性别，年龄）</a:t>
            </a:r>
            <a:endParaRPr lang="zh-CN" altLang="en-US" sz="2800" dirty="0">
              <a:solidFill>
                <a:schemeClr val="tx1"/>
              </a:solidFill>
              <a:latin typeface="宋体" panose="02010600030101010101" pitchFamily="2" charset="-122"/>
            </a:endParaRPr>
          </a:p>
          <a:p>
            <a:pPr marL="342900" lvl="0" indent="-342900" eaLnBrk="1" hangingPunct="1">
              <a:lnSpc>
                <a:spcPct val="110000"/>
              </a:lnSpc>
              <a:buFont typeface="Wingdings" panose="05000000000000000000" pitchFamily="2" charset="2"/>
              <a:buChar char="§"/>
            </a:pPr>
            <a:r>
              <a:rPr lang="zh-CN" altLang="en-US" sz="2800" dirty="0">
                <a:solidFill>
                  <a:schemeClr val="tx1"/>
                </a:solidFill>
                <a:latin typeface="宋体" panose="02010600030101010101" pitchFamily="2" charset="-122"/>
              </a:rPr>
              <a:t>课程（</a:t>
            </a:r>
            <a:r>
              <a:rPr lang="zh-CN" altLang="en-US" sz="2800" u="sng" dirty="0">
                <a:solidFill>
                  <a:schemeClr val="tx1"/>
                </a:solidFill>
                <a:latin typeface="宋体" panose="02010600030101010101" pitchFamily="2" charset="-122"/>
              </a:rPr>
              <a:t>课程号</a:t>
            </a:r>
            <a:r>
              <a:rPr lang="zh-CN" altLang="en-US" sz="2800" dirty="0">
                <a:solidFill>
                  <a:schemeClr val="tx1"/>
                </a:solidFill>
                <a:latin typeface="宋体" panose="02010600030101010101" pitchFamily="2" charset="-122"/>
              </a:rPr>
              <a:t>，课程名）</a:t>
            </a:r>
            <a:endParaRPr lang="zh-CN" altLang="en-US" sz="2800" dirty="0">
              <a:solidFill>
                <a:schemeClr val="tx1"/>
              </a:solidFill>
              <a:latin typeface="宋体" panose="02010600030101010101" pitchFamily="2" charset="-122"/>
            </a:endParaRPr>
          </a:p>
          <a:p>
            <a:pPr marL="342900" lvl="0" indent="-342900" eaLnBrk="1" hangingPunct="1">
              <a:lnSpc>
                <a:spcPct val="110000"/>
              </a:lnSpc>
              <a:buFont typeface="Wingdings" panose="05000000000000000000" pitchFamily="2" charset="2"/>
              <a:buChar char="§"/>
            </a:pPr>
            <a:r>
              <a:rPr lang="zh-CN" altLang="en-US" sz="2800" dirty="0">
                <a:solidFill>
                  <a:schemeClr val="tx1"/>
                </a:solidFill>
                <a:latin typeface="宋体" panose="02010600030101010101" pitchFamily="2" charset="-122"/>
              </a:rPr>
              <a:t>教师（</a:t>
            </a:r>
            <a:r>
              <a:rPr lang="zh-CN" altLang="en-US" sz="2800" u="sng" dirty="0">
                <a:solidFill>
                  <a:schemeClr val="tx1"/>
                </a:solidFill>
                <a:latin typeface="宋体" panose="02010600030101010101" pitchFamily="2" charset="-122"/>
              </a:rPr>
              <a:t>教师号</a:t>
            </a:r>
            <a:r>
              <a:rPr lang="zh-CN" altLang="en-US" sz="2800" dirty="0">
                <a:solidFill>
                  <a:schemeClr val="tx1"/>
                </a:solidFill>
                <a:latin typeface="宋体" panose="02010600030101010101" pitchFamily="2" charset="-122"/>
              </a:rPr>
              <a:t>，姓名，性别，职称）</a:t>
            </a:r>
            <a:endParaRPr lang="zh-CN" altLang="en-US" sz="2800" dirty="0">
              <a:solidFill>
                <a:schemeClr val="tx1"/>
              </a:solidFill>
              <a:latin typeface="宋体" panose="02010600030101010101" pitchFamily="2" charset="-122"/>
            </a:endParaRPr>
          </a:p>
          <a:p>
            <a:pPr marL="342900" lvl="0" indent="-342900" eaLnBrk="1" hangingPunct="1">
              <a:lnSpc>
                <a:spcPct val="110000"/>
              </a:lnSpc>
              <a:buFont typeface="Wingdings" panose="05000000000000000000" pitchFamily="2" charset="2"/>
              <a:buChar char="§"/>
            </a:pPr>
            <a:r>
              <a:rPr lang="zh-CN" altLang="en-US" sz="2800" dirty="0">
                <a:solidFill>
                  <a:schemeClr val="tx1"/>
                </a:solidFill>
                <a:latin typeface="宋体" panose="02010600030101010101" pitchFamily="2" charset="-122"/>
              </a:rPr>
              <a:t>系（</a:t>
            </a:r>
            <a:r>
              <a:rPr lang="zh-CN" altLang="en-US" sz="2800" u="sng" dirty="0">
                <a:solidFill>
                  <a:schemeClr val="tx1"/>
                </a:solidFill>
                <a:latin typeface="宋体" panose="02010600030101010101" pitchFamily="2" charset="-122"/>
              </a:rPr>
              <a:t>系名</a:t>
            </a:r>
            <a:r>
              <a:rPr lang="zh-CN" altLang="en-US" sz="2800" dirty="0">
                <a:solidFill>
                  <a:schemeClr val="tx1"/>
                </a:solidFill>
                <a:latin typeface="宋体" panose="02010600030101010101" pitchFamily="2" charset="-122"/>
              </a:rPr>
              <a:t>，电话）</a:t>
            </a:r>
            <a:endParaRPr lang="zh-CN" altLang="en-US" sz="2800" dirty="0">
              <a:solidFill>
                <a:schemeClr val="tx1"/>
              </a:solidFill>
              <a:latin typeface="宋体" panose="02010600030101010101" pitchFamily="2" charset="-122"/>
            </a:endParaRPr>
          </a:p>
          <a:p>
            <a:pPr marL="342900" lvl="0" indent="-342900" eaLnBrk="1" hangingPunct="1">
              <a:lnSpc>
                <a:spcPct val="110000"/>
              </a:lnSpc>
              <a:buNone/>
            </a:pPr>
            <a:r>
              <a:rPr lang="zh-CN" altLang="en-US" sz="2800" dirty="0">
                <a:solidFill>
                  <a:schemeClr val="tx1"/>
                </a:solidFill>
                <a:latin typeface="宋体" panose="02010600030101010101" pitchFamily="2" charset="-122"/>
              </a:rPr>
              <a:t>四个联系</a:t>
            </a:r>
            <a:r>
              <a:rPr lang="en-US" altLang="zh-CN" sz="2800" dirty="0">
                <a:solidFill>
                  <a:schemeClr val="tx1"/>
                </a:solidFill>
                <a:latin typeface="宋体" panose="02010600030101010101" pitchFamily="2" charset="-122"/>
              </a:rPr>
              <a:t>:</a:t>
            </a:r>
            <a:endParaRPr lang="en-US" altLang="zh-CN" sz="2800" dirty="0">
              <a:solidFill>
                <a:schemeClr val="tx1"/>
              </a:solidFill>
              <a:latin typeface="宋体" panose="02010600030101010101" pitchFamily="2" charset="-122"/>
            </a:endParaRPr>
          </a:p>
          <a:p>
            <a:pPr marL="342900" lvl="0" indent="-342900" eaLnBrk="1" hangingPunct="1">
              <a:lnSpc>
                <a:spcPct val="110000"/>
              </a:lnSpc>
              <a:buFont typeface="Wingdings" panose="05000000000000000000" pitchFamily="2" charset="2"/>
              <a:buChar char="§"/>
            </a:pPr>
            <a:r>
              <a:rPr lang="zh-CN" altLang="en-US" sz="2800" dirty="0">
                <a:solidFill>
                  <a:schemeClr val="tx1"/>
                </a:solidFill>
                <a:latin typeface="宋体" panose="02010600030101010101" pitchFamily="2" charset="-122"/>
              </a:rPr>
              <a:t>工作（</a:t>
            </a:r>
            <a:r>
              <a:rPr lang="zh-CN" altLang="en-US" sz="2800" u="sng" dirty="0">
                <a:solidFill>
                  <a:schemeClr val="tx1"/>
                </a:solidFill>
                <a:latin typeface="宋体" panose="02010600030101010101" pitchFamily="2" charset="-122"/>
              </a:rPr>
              <a:t>教师号</a:t>
            </a:r>
            <a:r>
              <a:rPr lang="zh-CN" altLang="en-US" sz="2800" dirty="0">
                <a:solidFill>
                  <a:schemeClr val="tx1"/>
                </a:solidFill>
                <a:latin typeface="宋体" panose="02010600030101010101" pitchFamily="2" charset="-122"/>
              </a:rPr>
              <a:t>，系名）</a:t>
            </a:r>
            <a:r>
              <a:rPr lang="en-US" altLang="zh-CN" sz="2800" dirty="0">
                <a:solidFill>
                  <a:schemeClr val="tx1"/>
                </a:solidFill>
                <a:latin typeface="宋体" panose="02010600030101010101" pitchFamily="2" charset="-122"/>
              </a:rPr>
              <a:t>--</a:t>
            </a:r>
            <a:r>
              <a:rPr lang="en-US" altLang="zh-CN" sz="2800" dirty="0">
                <a:solidFill>
                  <a:srgbClr val="0000CC"/>
                </a:solidFill>
                <a:latin typeface="宋体" panose="02010600030101010101" pitchFamily="2" charset="-122"/>
              </a:rPr>
              <a:t> 1:n</a:t>
            </a:r>
            <a:r>
              <a:rPr lang="zh-CN" altLang="en-US" sz="2800" dirty="0">
                <a:solidFill>
                  <a:srgbClr val="0000CC"/>
                </a:solidFill>
                <a:latin typeface="宋体" panose="02010600030101010101" pitchFamily="2" charset="-122"/>
              </a:rPr>
              <a:t>，可合并至教师</a:t>
            </a:r>
            <a:endParaRPr lang="zh-CN" altLang="en-US" sz="2800" dirty="0">
              <a:solidFill>
                <a:srgbClr val="0000CC"/>
              </a:solidFill>
              <a:latin typeface="宋体" panose="02010600030101010101" pitchFamily="2" charset="-122"/>
            </a:endParaRPr>
          </a:p>
          <a:p>
            <a:pPr marL="342900" lvl="0" indent="-342900" eaLnBrk="1" hangingPunct="1">
              <a:lnSpc>
                <a:spcPct val="110000"/>
              </a:lnSpc>
              <a:buFont typeface="Wingdings" panose="05000000000000000000" pitchFamily="2" charset="2"/>
              <a:buChar char="§"/>
            </a:pPr>
            <a:r>
              <a:rPr lang="zh-CN" altLang="en-US" sz="2800" dirty="0">
                <a:solidFill>
                  <a:schemeClr val="tx1"/>
                </a:solidFill>
                <a:latin typeface="宋体" panose="02010600030101010101" pitchFamily="2" charset="-122"/>
              </a:rPr>
              <a:t>讲授（</a:t>
            </a:r>
            <a:r>
              <a:rPr lang="zh-CN" altLang="en-US" sz="2800" u="sng" dirty="0">
                <a:solidFill>
                  <a:schemeClr val="tx1"/>
                </a:solidFill>
                <a:latin typeface="宋体" panose="02010600030101010101" pitchFamily="2" charset="-122"/>
              </a:rPr>
              <a:t>教师号</a:t>
            </a:r>
            <a:r>
              <a:rPr lang="zh-CN" altLang="en-US" sz="2800" dirty="0">
                <a:solidFill>
                  <a:schemeClr val="tx1"/>
                </a:solidFill>
                <a:latin typeface="宋体" panose="02010600030101010101" pitchFamily="2" charset="-122"/>
              </a:rPr>
              <a:t>，</a:t>
            </a:r>
            <a:r>
              <a:rPr lang="zh-CN" altLang="en-US" sz="2800" u="sng" dirty="0">
                <a:solidFill>
                  <a:schemeClr val="tx1"/>
                </a:solidFill>
                <a:latin typeface="宋体" panose="02010600030101010101" pitchFamily="2" charset="-122"/>
              </a:rPr>
              <a:t>课程号</a:t>
            </a:r>
            <a:r>
              <a:rPr lang="zh-CN" altLang="en-US" sz="2800" dirty="0">
                <a:solidFill>
                  <a:schemeClr val="tx1"/>
                </a:solidFill>
                <a:latin typeface="宋体" panose="02010600030101010101" pitchFamily="2" charset="-122"/>
              </a:rPr>
              <a:t>）</a:t>
            </a:r>
            <a:endParaRPr lang="zh-CN" altLang="en-US" sz="2800" dirty="0">
              <a:solidFill>
                <a:schemeClr val="tx1"/>
              </a:solidFill>
              <a:latin typeface="宋体" panose="02010600030101010101" pitchFamily="2" charset="-122"/>
            </a:endParaRPr>
          </a:p>
          <a:p>
            <a:pPr marL="342900" lvl="0" indent="-342900" eaLnBrk="1" hangingPunct="1">
              <a:lnSpc>
                <a:spcPct val="110000"/>
              </a:lnSpc>
              <a:buFont typeface="Wingdings" panose="05000000000000000000" pitchFamily="2" charset="2"/>
              <a:buChar char="§"/>
            </a:pPr>
            <a:r>
              <a:rPr lang="zh-CN" altLang="en-US" sz="2800" dirty="0">
                <a:solidFill>
                  <a:schemeClr val="tx1"/>
                </a:solidFill>
                <a:latin typeface="宋体" panose="02010600030101010101" pitchFamily="2" charset="-122"/>
              </a:rPr>
              <a:t>选修（</a:t>
            </a:r>
            <a:r>
              <a:rPr lang="zh-CN" altLang="en-US" sz="2800" u="sng" dirty="0">
                <a:solidFill>
                  <a:schemeClr val="tx1"/>
                </a:solidFill>
                <a:latin typeface="宋体" panose="02010600030101010101" pitchFamily="2" charset="-122"/>
              </a:rPr>
              <a:t>学号</a:t>
            </a:r>
            <a:r>
              <a:rPr lang="zh-CN" altLang="en-US" sz="2800" dirty="0">
                <a:solidFill>
                  <a:schemeClr val="tx1"/>
                </a:solidFill>
                <a:latin typeface="宋体" panose="02010600030101010101" pitchFamily="2" charset="-122"/>
              </a:rPr>
              <a:t>，</a:t>
            </a:r>
            <a:r>
              <a:rPr lang="zh-CN" altLang="en-US" sz="2800" u="sng" dirty="0">
                <a:solidFill>
                  <a:schemeClr val="tx1"/>
                </a:solidFill>
                <a:latin typeface="宋体" panose="02010600030101010101" pitchFamily="2" charset="-122"/>
              </a:rPr>
              <a:t>课程号</a:t>
            </a:r>
            <a:r>
              <a:rPr lang="zh-CN" altLang="en-US" sz="2800" dirty="0">
                <a:solidFill>
                  <a:schemeClr val="tx1"/>
                </a:solidFill>
                <a:latin typeface="宋体" panose="02010600030101010101" pitchFamily="2" charset="-122"/>
              </a:rPr>
              <a:t>，成绩）</a:t>
            </a:r>
            <a:endParaRPr lang="zh-CN" altLang="en-US" sz="2800" dirty="0">
              <a:solidFill>
                <a:schemeClr val="tx1"/>
              </a:solidFill>
              <a:latin typeface="宋体" panose="02010600030101010101" pitchFamily="2" charset="-122"/>
            </a:endParaRPr>
          </a:p>
          <a:p>
            <a:pPr marL="342900" lvl="0" indent="-342900" eaLnBrk="1" hangingPunct="1">
              <a:lnSpc>
                <a:spcPct val="110000"/>
              </a:lnSpc>
              <a:buFont typeface="Wingdings" panose="05000000000000000000" pitchFamily="2" charset="2"/>
              <a:buChar char="§"/>
            </a:pPr>
            <a:r>
              <a:rPr lang="zh-CN" altLang="en-US" sz="2800" dirty="0">
                <a:solidFill>
                  <a:schemeClr val="tx1"/>
                </a:solidFill>
                <a:latin typeface="宋体" panose="02010600030101010101" pitchFamily="2" charset="-122"/>
              </a:rPr>
              <a:t>就读（系名，</a:t>
            </a:r>
            <a:r>
              <a:rPr lang="zh-CN" altLang="en-US" sz="2800" u="sng" dirty="0">
                <a:solidFill>
                  <a:schemeClr val="tx1"/>
                </a:solidFill>
                <a:latin typeface="宋体" panose="02010600030101010101" pitchFamily="2" charset="-122"/>
              </a:rPr>
              <a:t>学号</a:t>
            </a:r>
            <a:r>
              <a:rPr lang="zh-CN" altLang="en-US" sz="2800" dirty="0">
                <a:solidFill>
                  <a:schemeClr val="tx1"/>
                </a:solidFill>
                <a:latin typeface="宋体" panose="02010600030101010101" pitchFamily="2" charset="-122"/>
              </a:rPr>
              <a:t>）</a:t>
            </a:r>
            <a:r>
              <a:rPr lang="en-US" altLang="zh-CN" sz="2800" dirty="0">
                <a:solidFill>
                  <a:schemeClr val="tx1"/>
                </a:solidFill>
                <a:latin typeface="宋体" panose="02010600030101010101" pitchFamily="2" charset="-122"/>
              </a:rPr>
              <a:t>-- </a:t>
            </a:r>
            <a:r>
              <a:rPr lang="en-US" altLang="zh-CN" sz="2800" dirty="0">
                <a:solidFill>
                  <a:srgbClr val="0000CC"/>
                </a:solidFill>
                <a:latin typeface="宋体" panose="02010600030101010101" pitchFamily="2" charset="-122"/>
              </a:rPr>
              <a:t>1:n,</a:t>
            </a:r>
            <a:r>
              <a:rPr lang="zh-CN" altLang="en-US" sz="2800" dirty="0">
                <a:solidFill>
                  <a:srgbClr val="0000CC"/>
                </a:solidFill>
                <a:latin typeface="宋体" panose="02010600030101010101" pitchFamily="2" charset="-122"/>
              </a:rPr>
              <a:t>可合并至学生</a:t>
            </a:r>
            <a:endParaRPr lang="zh-CN" altLang="en-US" sz="2800" dirty="0">
              <a:solidFill>
                <a:srgbClr val="0000CC"/>
              </a:solidFill>
              <a:latin typeface="宋体" panose="02010600030101010101" pitchFamily="2" charset="-122"/>
            </a:endParaRPr>
          </a:p>
        </p:txBody>
      </p:sp>
      <p:sp>
        <p:nvSpPr>
          <p:cNvPr id="75780" name="Rectangle 3"/>
          <p:cNvSpPr>
            <a:spLocks noGrp="1"/>
          </p:cNvSpPr>
          <p:nvPr>
            <p:ph type="title" idx="4294967295"/>
          </p:nvPr>
        </p:nvSpPr>
        <p:spPr>
          <a:xfrm>
            <a:off x="914400" y="0"/>
            <a:ext cx="7772400" cy="609600"/>
          </a:xfrm>
          <a:ln/>
        </p:spPr>
        <p:txBody>
          <a:bodyPr vert="horz" wrap="square" lIns="91440" tIns="45720" rIns="91440" bIns="45720" anchor="ctr" anchorCtr="0"/>
          <a:p>
            <a:pPr eaLnBrk="1" hangingPunct="1"/>
            <a:r>
              <a:rPr lang="en-US" altLang="zh-CN" dirty="0"/>
              <a:t>7.4.1 E-R</a:t>
            </a:r>
            <a:r>
              <a:rPr lang="zh-CN" altLang="en-US" dirty="0"/>
              <a:t>图向关系模型的转换</a:t>
            </a:r>
            <a:endParaRPr lang="zh-CN" altLang="en-US"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2" name="页脚占位符 2"/>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76803" name="Rectangle 2"/>
          <p:cNvSpPr/>
          <p:nvPr/>
        </p:nvSpPr>
        <p:spPr>
          <a:xfrm>
            <a:off x="228600" y="1219200"/>
            <a:ext cx="8153400" cy="47244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342900" lvl="0" indent="-342900" eaLnBrk="1" hangingPunct="1">
              <a:lnSpc>
                <a:spcPct val="110000"/>
              </a:lnSpc>
            </a:pPr>
            <a:r>
              <a:rPr lang="zh-CN" altLang="en-US" sz="2800" dirty="0">
                <a:solidFill>
                  <a:schemeClr val="tx1"/>
                </a:solidFill>
                <a:latin typeface="宋体" panose="02010600030101010101" pitchFamily="2" charset="-122"/>
              </a:rPr>
              <a:t>学生（</a:t>
            </a:r>
            <a:r>
              <a:rPr lang="zh-CN" altLang="en-US" sz="2800" u="sng" dirty="0">
                <a:solidFill>
                  <a:schemeClr val="tx1"/>
                </a:solidFill>
                <a:latin typeface="宋体" panose="02010600030101010101" pitchFamily="2" charset="-122"/>
              </a:rPr>
              <a:t>学号</a:t>
            </a:r>
            <a:r>
              <a:rPr lang="zh-CN" altLang="en-US" sz="2800" dirty="0">
                <a:solidFill>
                  <a:schemeClr val="tx1"/>
                </a:solidFill>
                <a:latin typeface="宋体" panose="02010600030101010101" pitchFamily="2" charset="-122"/>
              </a:rPr>
              <a:t>，姓名，性别，年龄</a:t>
            </a:r>
            <a:r>
              <a:rPr lang="en-US" altLang="zh-CN" sz="2800" dirty="0">
                <a:solidFill>
                  <a:schemeClr val="tx1"/>
                </a:solidFill>
                <a:latin typeface="宋体" panose="02010600030101010101" pitchFamily="2" charset="-122"/>
              </a:rPr>
              <a:t>, </a:t>
            </a:r>
            <a:r>
              <a:rPr lang="zh-CN" altLang="en-US" sz="2800" dirty="0">
                <a:solidFill>
                  <a:srgbClr val="0000CC"/>
                </a:solidFill>
                <a:latin typeface="宋体" panose="02010600030101010101" pitchFamily="2" charset="-122"/>
              </a:rPr>
              <a:t>系名</a:t>
            </a:r>
            <a:r>
              <a:rPr lang="zh-CN" altLang="en-US" sz="2800" dirty="0">
                <a:solidFill>
                  <a:schemeClr val="tx1"/>
                </a:solidFill>
                <a:latin typeface="宋体" panose="02010600030101010101" pitchFamily="2" charset="-122"/>
              </a:rPr>
              <a:t>）</a:t>
            </a:r>
            <a:endParaRPr lang="zh-CN" altLang="en-US" sz="2800" dirty="0">
              <a:solidFill>
                <a:schemeClr val="tx1"/>
              </a:solidFill>
              <a:latin typeface="宋体" panose="02010600030101010101" pitchFamily="2" charset="-122"/>
            </a:endParaRPr>
          </a:p>
          <a:p>
            <a:pPr marL="342900" lvl="0" indent="-342900" eaLnBrk="1" hangingPunct="1">
              <a:lnSpc>
                <a:spcPct val="110000"/>
              </a:lnSpc>
            </a:pPr>
            <a:r>
              <a:rPr lang="zh-CN" altLang="en-US" sz="2800" dirty="0">
                <a:solidFill>
                  <a:schemeClr val="tx1"/>
                </a:solidFill>
                <a:latin typeface="宋体" panose="02010600030101010101" pitchFamily="2" charset="-122"/>
              </a:rPr>
              <a:t>课程（</a:t>
            </a:r>
            <a:r>
              <a:rPr lang="zh-CN" altLang="en-US" sz="2800" u="sng" dirty="0">
                <a:solidFill>
                  <a:schemeClr val="tx1"/>
                </a:solidFill>
                <a:latin typeface="宋体" panose="02010600030101010101" pitchFamily="2" charset="-122"/>
              </a:rPr>
              <a:t>课程号</a:t>
            </a:r>
            <a:r>
              <a:rPr lang="zh-CN" altLang="en-US" sz="2800" dirty="0">
                <a:solidFill>
                  <a:schemeClr val="tx1"/>
                </a:solidFill>
                <a:latin typeface="宋体" panose="02010600030101010101" pitchFamily="2" charset="-122"/>
              </a:rPr>
              <a:t>，课程名）</a:t>
            </a:r>
            <a:endParaRPr lang="zh-CN" altLang="en-US" sz="2800" dirty="0">
              <a:solidFill>
                <a:schemeClr val="tx1"/>
              </a:solidFill>
              <a:latin typeface="宋体" panose="02010600030101010101" pitchFamily="2" charset="-122"/>
            </a:endParaRPr>
          </a:p>
          <a:p>
            <a:pPr marL="342900" lvl="0" indent="-342900" eaLnBrk="1" hangingPunct="1">
              <a:lnSpc>
                <a:spcPct val="110000"/>
              </a:lnSpc>
            </a:pPr>
            <a:r>
              <a:rPr lang="zh-CN" altLang="en-US" sz="2800" dirty="0">
                <a:solidFill>
                  <a:schemeClr val="tx1"/>
                </a:solidFill>
                <a:latin typeface="宋体" panose="02010600030101010101" pitchFamily="2" charset="-122"/>
              </a:rPr>
              <a:t>教师（</a:t>
            </a:r>
            <a:r>
              <a:rPr lang="zh-CN" altLang="en-US" sz="2800" u="sng" dirty="0">
                <a:solidFill>
                  <a:schemeClr val="tx1"/>
                </a:solidFill>
                <a:latin typeface="宋体" panose="02010600030101010101" pitchFamily="2" charset="-122"/>
              </a:rPr>
              <a:t>教师号</a:t>
            </a:r>
            <a:r>
              <a:rPr lang="zh-CN" altLang="en-US" sz="2800" dirty="0">
                <a:solidFill>
                  <a:schemeClr val="tx1"/>
                </a:solidFill>
                <a:latin typeface="宋体" panose="02010600030101010101" pitchFamily="2" charset="-122"/>
              </a:rPr>
              <a:t>，姓名，性别，职称，</a:t>
            </a:r>
            <a:r>
              <a:rPr lang="zh-CN" altLang="en-US" sz="2800" dirty="0">
                <a:solidFill>
                  <a:srgbClr val="0000CC"/>
                </a:solidFill>
                <a:latin typeface="宋体" panose="02010600030101010101" pitchFamily="2" charset="-122"/>
              </a:rPr>
              <a:t>系名</a:t>
            </a:r>
            <a:r>
              <a:rPr lang="zh-CN" altLang="en-US" sz="2800" dirty="0">
                <a:solidFill>
                  <a:schemeClr val="tx1"/>
                </a:solidFill>
                <a:latin typeface="宋体" panose="02010600030101010101" pitchFamily="2" charset="-122"/>
              </a:rPr>
              <a:t>）</a:t>
            </a:r>
            <a:endParaRPr lang="zh-CN" altLang="en-US" sz="2800" dirty="0">
              <a:solidFill>
                <a:schemeClr val="tx1"/>
              </a:solidFill>
              <a:latin typeface="宋体" panose="02010600030101010101" pitchFamily="2" charset="-122"/>
            </a:endParaRPr>
          </a:p>
          <a:p>
            <a:pPr marL="342900" lvl="0" indent="-342900" eaLnBrk="1" hangingPunct="1">
              <a:lnSpc>
                <a:spcPct val="110000"/>
              </a:lnSpc>
            </a:pPr>
            <a:r>
              <a:rPr lang="zh-CN" altLang="en-US" sz="2800" dirty="0">
                <a:solidFill>
                  <a:schemeClr val="tx1"/>
                </a:solidFill>
                <a:latin typeface="宋体" panose="02010600030101010101" pitchFamily="2" charset="-122"/>
              </a:rPr>
              <a:t>系（</a:t>
            </a:r>
            <a:r>
              <a:rPr lang="zh-CN" altLang="en-US" sz="2800" u="sng" dirty="0">
                <a:solidFill>
                  <a:schemeClr val="tx1"/>
                </a:solidFill>
                <a:latin typeface="宋体" panose="02010600030101010101" pitchFamily="2" charset="-122"/>
              </a:rPr>
              <a:t>系名</a:t>
            </a:r>
            <a:r>
              <a:rPr lang="zh-CN" altLang="en-US" sz="2800" dirty="0">
                <a:solidFill>
                  <a:schemeClr val="tx1"/>
                </a:solidFill>
                <a:latin typeface="宋体" panose="02010600030101010101" pitchFamily="2" charset="-122"/>
              </a:rPr>
              <a:t>，电话）</a:t>
            </a:r>
            <a:endParaRPr lang="zh-CN" altLang="en-US" sz="2800" dirty="0">
              <a:solidFill>
                <a:schemeClr val="tx1"/>
              </a:solidFill>
              <a:latin typeface="宋体" panose="02010600030101010101" pitchFamily="2" charset="-122"/>
            </a:endParaRPr>
          </a:p>
          <a:p>
            <a:pPr marL="342900" lvl="0" indent="-342900" eaLnBrk="1" hangingPunct="1">
              <a:lnSpc>
                <a:spcPct val="110000"/>
              </a:lnSpc>
              <a:buNone/>
            </a:pPr>
            <a:endParaRPr lang="zh-CN" altLang="en-US" sz="2800" dirty="0">
              <a:solidFill>
                <a:srgbClr val="0000CC"/>
              </a:solidFill>
              <a:latin typeface="宋体" panose="02010600030101010101" pitchFamily="2" charset="-122"/>
            </a:endParaRPr>
          </a:p>
          <a:p>
            <a:pPr marL="342900" lvl="0" indent="-342900" eaLnBrk="1" hangingPunct="1">
              <a:lnSpc>
                <a:spcPct val="110000"/>
              </a:lnSpc>
            </a:pPr>
            <a:r>
              <a:rPr lang="zh-CN" altLang="en-US" sz="2800" dirty="0">
                <a:solidFill>
                  <a:schemeClr val="tx1"/>
                </a:solidFill>
                <a:latin typeface="宋体" panose="02010600030101010101" pitchFamily="2" charset="-122"/>
              </a:rPr>
              <a:t>讲授（</a:t>
            </a:r>
            <a:r>
              <a:rPr lang="zh-CN" altLang="en-US" sz="2800" u="sng" dirty="0">
                <a:solidFill>
                  <a:schemeClr val="tx1"/>
                </a:solidFill>
                <a:latin typeface="宋体" panose="02010600030101010101" pitchFamily="2" charset="-122"/>
              </a:rPr>
              <a:t>教师号</a:t>
            </a:r>
            <a:r>
              <a:rPr lang="zh-CN" altLang="en-US" sz="2800" dirty="0">
                <a:solidFill>
                  <a:schemeClr val="tx1"/>
                </a:solidFill>
                <a:latin typeface="宋体" panose="02010600030101010101" pitchFamily="2" charset="-122"/>
              </a:rPr>
              <a:t>，</a:t>
            </a:r>
            <a:r>
              <a:rPr lang="zh-CN" altLang="en-US" sz="2800" u="sng" dirty="0">
                <a:solidFill>
                  <a:schemeClr val="tx1"/>
                </a:solidFill>
                <a:latin typeface="宋体" panose="02010600030101010101" pitchFamily="2" charset="-122"/>
              </a:rPr>
              <a:t>课程号</a:t>
            </a:r>
            <a:r>
              <a:rPr lang="zh-CN" altLang="en-US" sz="2800" dirty="0">
                <a:solidFill>
                  <a:schemeClr val="tx1"/>
                </a:solidFill>
                <a:latin typeface="宋体" panose="02010600030101010101" pitchFamily="2" charset="-122"/>
              </a:rPr>
              <a:t>）</a:t>
            </a:r>
            <a:endParaRPr lang="zh-CN" altLang="en-US" sz="2800" dirty="0">
              <a:solidFill>
                <a:schemeClr val="tx1"/>
              </a:solidFill>
              <a:latin typeface="宋体" panose="02010600030101010101" pitchFamily="2" charset="-122"/>
            </a:endParaRPr>
          </a:p>
          <a:p>
            <a:pPr marL="342900" lvl="0" indent="-342900" eaLnBrk="1" hangingPunct="1">
              <a:lnSpc>
                <a:spcPct val="110000"/>
              </a:lnSpc>
            </a:pPr>
            <a:r>
              <a:rPr lang="zh-CN" altLang="en-US" sz="2800" dirty="0">
                <a:solidFill>
                  <a:schemeClr val="tx1"/>
                </a:solidFill>
                <a:latin typeface="宋体" panose="02010600030101010101" pitchFamily="2" charset="-122"/>
              </a:rPr>
              <a:t>选修（</a:t>
            </a:r>
            <a:r>
              <a:rPr lang="zh-CN" altLang="en-US" sz="2800" u="sng" dirty="0">
                <a:solidFill>
                  <a:schemeClr val="tx1"/>
                </a:solidFill>
                <a:latin typeface="宋体" panose="02010600030101010101" pitchFamily="2" charset="-122"/>
              </a:rPr>
              <a:t>学号</a:t>
            </a:r>
            <a:r>
              <a:rPr lang="zh-CN" altLang="en-US" sz="2800" dirty="0">
                <a:solidFill>
                  <a:schemeClr val="tx1"/>
                </a:solidFill>
                <a:latin typeface="宋体" panose="02010600030101010101" pitchFamily="2" charset="-122"/>
              </a:rPr>
              <a:t>，</a:t>
            </a:r>
            <a:r>
              <a:rPr lang="zh-CN" altLang="en-US" sz="2800" u="sng" dirty="0">
                <a:solidFill>
                  <a:schemeClr val="tx1"/>
                </a:solidFill>
                <a:latin typeface="宋体" panose="02010600030101010101" pitchFamily="2" charset="-122"/>
              </a:rPr>
              <a:t>课程号</a:t>
            </a:r>
            <a:r>
              <a:rPr lang="zh-CN" altLang="en-US" sz="2800" dirty="0">
                <a:solidFill>
                  <a:schemeClr val="tx1"/>
                </a:solidFill>
                <a:latin typeface="宋体" panose="02010600030101010101" pitchFamily="2" charset="-122"/>
              </a:rPr>
              <a:t>，成绩）</a:t>
            </a:r>
            <a:endParaRPr lang="zh-CN" altLang="en-US" sz="2800" dirty="0">
              <a:solidFill>
                <a:schemeClr val="tx1"/>
              </a:solidFill>
              <a:latin typeface="宋体" panose="02010600030101010101" pitchFamily="2" charset="-122"/>
            </a:endParaRPr>
          </a:p>
        </p:txBody>
      </p:sp>
      <p:sp>
        <p:nvSpPr>
          <p:cNvPr id="76804" name="Rectangle 3"/>
          <p:cNvSpPr>
            <a:spLocks noGrp="1"/>
          </p:cNvSpPr>
          <p:nvPr>
            <p:ph type="title" idx="4294967295"/>
          </p:nvPr>
        </p:nvSpPr>
        <p:spPr>
          <a:xfrm>
            <a:off x="914400" y="0"/>
            <a:ext cx="7772400" cy="609600"/>
          </a:xfrm>
          <a:ln/>
        </p:spPr>
        <p:txBody>
          <a:bodyPr vert="horz" wrap="square" lIns="91440" tIns="45720" rIns="91440" bIns="45720" anchor="ctr" anchorCtr="0"/>
          <a:p>
            <a:pPr eaLnBrk="1" hangingPunct="1"/>
            <a:r>
              <a:rPr lang="en-US" altLang="zh-CN" dirty="0"/>
              <a:t>7.4.1 E-R</a:t>
            </a:r>
            <a:r>
              <a:rPr lang="zh-CN" altLang="en-US" dirty="0"/>
              <a:t>图向关系模型的转换</a:t>
            </a:r>
            <a:endParaRPr lang="zh-CN" altLang="en-US"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6" name="页脚占位符 2"/>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77827" name="Rectangle 2"/>
          <p:cNvSpPr/>
          <p:nvPr/>
        </p:nvSpPr>
        <p:spPr>
          <a:xfrm>
            <a:off x="228600" y="762000"/>
            <a:ext cx="8686800" cy="56388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342900" lvl="0" indent="-342900" eaLnBrk="1" hangingPunct="1">
              <a:lnSpc>
                <a:spcPct val="110000"/>
              </a:lnSpc>
            </a:pPr>
            <a:r>
              <a:rPr lang="zh-CN" altLang="en-US" sz="2800" dirty="0">
                <a:solidFill>
                  <a:schemeClr val="tx1"/>
                </a:solidFill>
                <a:latin typeface="宋体" panose="02010600030101010101" pitchFamily="2" charset="-122"/>
              </a:rPr>
              <a:t>同一实体的</a:t>
            </a:r>
            <a:r>
              <a:rPr lang="zh-CN" altLang="en-US" sz="2800" dirty="0">
                <a:solidFill>
                  <a:srgbClr val="0000CC"/>
                </a:solidFill>
                <a:latin typeface="宋体" panose="02010600030101010101" pitchFamily="2" charset="-122"/>
              </a:rPr>
              <a:t>自联系</a:t>
            </a:r>
            <a:r>
              <a:rPr lang="zh-CN" altLang="en-US" sz="2800" dirty="0">
                <a:solidFill>
                  <a:schemeClr val="tx1"/>
                </a:solidFill>
                <a:latin typeface="宋体" panose="02010600030101010101" pitchFamily="2" charset="-122"/>
              </a:rPr>
              <a:t>也可参照前述三种情况分别处理</a:t>
            </a:r>
            <a:endParaRPr lang="zh-CN" altLang="en-US" sz="2800" dirty="0">
              <a:solidFill>
                <a:schemeClr val="tx1"/>
              </a:solidFill>
              <a:latin typeface="宋体" panose="02010600030101010101" pitchFamily="2" charset="-122"/>
            </a:endParaRPr>
          </a:p>
          <a:p>
            <a:pPr marL="342900" lvl="0" indent="-342900" eaLnBrk="1" hangingPunct="1">
              <a:lnSpc>
                <a:spcPct val="110000"/>
              </a:lnSpc>
            </a:pPr>
            <a:r>
              <a:rPr lang="zh-CN" altLang="en-US" sz="2800" dirty="0">
                <a:solidFill>
                  <a:schemeClr val="tx1"/>
                </a:solidFill>
                <a:latin typeface="宋体" panose="02010600030101010101" pitchFamily="2" charset="-122"/>
              </a:rPr>
              <a:t>具有相同码的关系可以合并</a:t>
            </a:r>
            <a:endParaRPr lang="zh-CN" altLang="en-US" sz="2800" dirty="0">
              <a:solidFill>
                <a:schemeClr val="tx1"/>
              </a:solidFill>
              <a:latin typeface="宋体" panose="02010600030101010101" pitchFamily="2" charset="-122"/>
            </a:endParaRPr>
          </a:p>
          <a:p>
            <a:pPr marL="742950" lvl="1" indent="-285750" eaLnBrk="1" hangingPunct="1">
              <a:lnSpc>
                <a:spcPct val="110000"/>
              </a:lnSpc>
              <a:buClr>
                <a:srgbClr val="FF3300"/>
              </a:buClr>
            </a:pPr>
            <a:r>
              <a:rPr lang="zh-CN" altLang="en-US" dirty="0">
                <a:latin typeface="宋体" panose="02010600030101010101" pitchFamily="2" charset="-122"/>
              </a:rPr>
              <a:t>目的</a:t>
            </a:r>
            <a:r>
              <a:rPr lang="en-US" altLang="zh-CN" dirty="0">
                <a:latin typeface="宋体" panose="02010600030101010101" pitchFamily="2" charset="-122"/>
              </a:rPr>
              <a:t>:</a:t>
            </a:r>
            <a:r>
              <a:rPr lang="zh-CN" altLang="en-US" dirty="0">
                <a:latin typeface="宋体" panose="02010600030101010101" pitchFamily="2" charset="-122"/>
              </a:rPr>
              <a:t>减少关系的个数</a:t>
            </a:r>
            <a:endParaRPr lang="zh-CN" altLang="en-US" dirty="0">
              <a:latin typeface="宋体" panose="02010600030101010101" pitchFamily="2" charset="-122"/>
            </a:endParaRPr>
          </a:p>
          <a:p>
            <a:pPr marL="742950" lvl="1" indent="-285750" eaLnBrk="1" hangingPunct="1">
              <a:lnSpc>
                <a:spcPct val="110000"/>
              </a:lnSpc>
              <a:buClr>
                <a:srgbClr val="FF3300"/>
              </a:buClr>
            </a:pPr>
            <a:r>
              <a:rPr lang="zh-CN" altLang="en-US" dirty="0">
                <a:latin typeface="宋体" panose="02010600030101010101" pitchFamily="2" charset="-122"/>
              </a:rPr>
              <a:t>方法</a:t>
            </a:r>
            <a:r>
              <a:rPr lang="en-US" altLang="zh-CN" dirty="0">
                <a:latin typeface="宋体" panose="02010600030101010101" pitchFamily="2" charset="-122"/>
              </a:rPr>
              <a:t>:</a:t>
            </a:r>
            <a:r>
              <a:rPr lang="zh-CN" altLang="en-US" dirty="0">
                <a:latin typeface="宋体" panose="02010600030101010101" pitchFamily="2" charset="-122"/>
              </a:rPr>
              <a:t>将其中一个关系模式的全部属性加入到另一个关系模式中，然后去掉其中的同义属性（可能同名也可能不同名），并适当调整属性的次序。</a:t>
            </a:r>
            <a:endParaRPr lang="zh-CN" altLang="en-US" dirty="0">
              <a:latin typeface="宋体" panose="02010600030101010101" pitchFamily="2" charset="-122"/>
            </a:endParaRPr>
          </a:p>
        </p:txBody>
      </p:sp>
      <p:sp>
        <p:nvSpPr>
          <p:cNvPr id="77828" name="Rectangle 3"/>
          <p:cNvSpPr>
            <a:spLocks noGrp="1"/>
          </p:cNvSpPr>
          <p:nvPr>
            <p:ph type="title" idx="4294967295"/>
          </p:nvPr>
        </p:nvSpPr>
        <p:spPr>
          <a:xfrm>
            <a:off x="914400" y="0"/>
            <a:ext cx="7772400" cy="609600"/>
          </a:xfrm>
          <a:ln/>
        </p:spPr>
        <p:txBody>
          <a:bodyPr vert="horz" wrap="square" lIns="91440" tIns="45720" rIns="91440" bIns="45720" anchor="ctr" anchorCtr="0"/>
          <a:p>
            <a:pPr eaLnBrk="1" hangingPunct="1"/>
            <a:r>
              <a:rPr lang="en-US" altLang="zh-CN" dirty="0"/>
              <a:t>7.4.1 E-R</a:t>
            </a:r>
            <a:r>
              <a:rPr lang="zh-CN" altLang="en-US" dirty="0"/>
              <a:t>图向关系模型的转换</a:t>
            </a:r>
            <a:endParaRPr lang="zh-CN" altLang="en-US"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50" name="页脚占位符 2"/>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78851" name="Rectangle 2"/>
          <p:cNvSpPr/>
          <p:nvPr/>
        </p:nvSpPr>
        <p:spPr>
          <a:xfrm>
            <a:off x="685800" y="1600200"/>
            <a:ext cx="7848600" cy="44196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342900" lvl="0" indent="-342900" eaLnBrk="1" hangingPunct="1">
              <a:lnSpc>
                <a:spcPct val="130000"/>
              </a:lnSpc>
              <a:buClr>
                <a:schemeClr val="folHlink"/>
              </a:buClr>
              <a:buSzPct val="60000"/>
              <a:buNone/>
            </a:pPr>
            <a:r>
              <a:rPr lang="en-US" altLang="zh-CN" dirty="0">
                <a:solidFill>
                  <a:schemeClr val="tx1"/>
                </a:solidFill>
              </a:rPr>
              <a:t>7.4.1</a:t>
            </a:r>
            <a:r>
              <a:rPr lang="en-US" altLang="zh-CN" dirty="0">
                <a:solidFill>
                  <a:schemeClr val="tx1"/>
                </a:solidFill>
                <a:latin typeface="Tahoma" panose="020B0604030504040204" pitchFamily="34" charset="0"/>
              </a:rPr>
              <a:t>  </a:t>
            </a:r>
            <a:r>
              <a:rPr lang="en-US" altLang="zh-CN" dirty="0">
                <a:solidFill>
                  <a:schemeClr val="tx1"/>
                </a:solidFill>
              </a:rPr>
              <a:t>E-R</a:t>
            </a:r>
            <a:r>
              <a:rPr lang="zh-CN" altLang="en-US" dirty="0">
                <a:solidFill>
                  <a:schemeClr val="tx1"/>
                </a:solidFill>
                <a:latin typeface="Tahoma" panose="020B0604030504040204" pitchFamily="34" charset="0"/>
              </a:rPr>
              <a:t>图向关系模型的转换</a:t>
            </a:r>
            <a:endParaRPr lang="zh-CN" altLang="en-US" dirty="0">
              <a:solidFill>
                <a:schemeClr val="tx1"/>
              </a:solidFill>
              <a:latin typeface="Tahoma" panose="020B0604030504040204" pitchFamily="34" charset="0"/>
            </a:endParaRPr>
          </a:p>
          <a:p>
            <a:pPr marL="342900" lvl="0" indent="-342900" eaLnBrk="1" hangingPunct="1">
              <a:lnSpc>
                <a:spcPct val="130000"/>
              </a:lnSpc>
              <a:buClr>
                <a:schemeClr val="folHlink"/>
              </a:buClr>
              <a:buSzPct val="60000"/>
              <a:buNone/>
            </a:pPr>
            <a:r>
              <a:rPr lang="en-US" altLang="zh-CN" dirty="0"/>
              <a:t>7.4.2</a:t>
            </a:r>
            <a:r>
              <a:rPr lang="en-US" altLang="zh-CN" dirty="0">
                <a:latin typeface="Tahoma" panose="020B0604030504040204" pitchFamily="34" charset="0"/>
              </a:rPr>
              <a:t>  </a:t>
            </a:r>
            <a:r>
              <a:rPr lang="zh-CN" altLang="en-US" dirty="0">
                <a:latin typeface="Tahoma" panose="020B0604030504040204" pitchFamily="34" charset="0"/>
              </a:rPr>
              <a:t>向特定</a:t>
            </a:r>
            <a:r>
              <a:rPr lang="en-US" altLang="zh-CN" dirty="0"/>
              <a:t>DBMS</a:t>
            </a:r>
            <a:r>
              <a:rPr lang="zh-CN" altLang="en-US" dirty="0">
                <a:latin typeface="Tahoma" panose="020B0604030504040204" pitchFamily="34" charset="0"/>
              </a:rPr>
              <a:t>规定的模型进行转换</a:t>
            </a:r>
            <a:endParaRPr lang="zh-CN" altLang="en-US" dirty="0">
              <a:latin typeface="Tahoma" panose="020B0604030504040204" pitchFamily="34" charset="0"/>
            </a:endParaRPr>
          </a:p>
          <a:p>
            <a:pPr marL="342900" lvl="0" indent="-342900" eaLnBrk="1" hangingPunct="1">
              <a:lnSpc>
                <a:spcPct val="130000"/>
              </a:lnSpc>
              <a:buClr>
                <a:schemeClr val="folHlink"/>
              </a:buClr>
              <a:buSzPct val="60000"/>
              <a:buNone/>
            </a:pPr>
            <a:r>
              <a:rPr lang="en-US" altLang="zh-CN" dirty="0"/>
              <a:t>7.4.3</a:t>
            </a:r>
            <a:r>
              <a:rPr lang="en-US" altLang="zh-CN" dirty="0">
                <a:latin typeface="Tahoma" panose="020B0604030504040204" pitchFamily="34" charset="0"/>
              </a:rPr>
              <a:t>  </a:t>
            </a:r>
            <a:r>
              <a:rPr lang="zh-CN" altLang="en-US" dirty="0">
                <a:latin typeface="Tahoma" panose="020B0604030504040204" pitchFamily="34" charset="0"/>
              </a:rPr>
              <a:t>数据模型的优化</a:t>
            </a:r>
            <a:endParaRPr lang="zh-CN" altLang="en-US" dirty="0">
              <a:latin typeface="Tahoma" panose="020B0604030504040204" pitchFamily="34" charset="0"/>
            </a:endParaRPr>
          </a:p>
          <a:p>
            <a:pPr marL="342900" lvl="0" indent="-342900" eaLnBrk="1" hangingPunct="1">
              <a:lnSpc>
                <a:spcPct val="130000"/>
              </a:lnSpc>
              <a:buClr>
                <a:schemeClr val="folHlink"/>
              </a:buClr>
              <a:buSzPct val="60000"/>
              <a:buNone/>
            </a:pPr>
            <a:r>
              <a:rPr lang="en-US" altLang="zh-CN" dirty="0">
                <a:solidFill>
                  <a:schemeClr val="tx1"/>
                </a:solidFill>
              </a:rPr>
              <a:t>7.4.4</a:t>
            </a:r>
            <a:r>
              <a:rPr lang="en-US" altLang="zh-CN" dirty="0">
                <a:solidFill>
                  <a:schemeClr val="tx1"/>
                </a:solidFill>
                <a:latin typeface="Tahoma" panose="020B0604030504040204" pitchFamily="34" charset="0"/>
              </a:rPr>
              <a:t>  </a:t>
            </a:r>
            <a:r>
              <a:rPr lang="zh-CN" altLang="en-US" dirty="0">
                <a:solidFill>
                  <a:schemeClr val="tx1"/>
                </a:solidFill>
                <a:latin typeface="Tahoma" panose="020B0604030504040204" pitchFamily="34" charset="0"/>
              </a:rPr>
              <a:t>设计用户子模式</a:t>
            </a:r>
            <a:endParaRPr lang="zh-CN" altLang="en-US" dirty="0">
              <a:solidFill>
                <a:schemeClr val="tx1"/>
              </a:solidFill>
              <a:latin typeface="Tahoma" panose="020B0604030504040204" pitchFamily="34" charset="0"/>
            </a:endParaRPr>
          </a:p>
        </p:txBody>
      </p:sp>
      <p:sp>
        <p:nvSpPr>
          <p:cNvPr id="78852" name="Rectangle 3"/>
          <p:cNvSpPr>
            <a:spLocks noGrp="1"/>
          </p:cNvSpPr>
          <p:nvPr>
            <p:ph type="title" idx="4294967295"/>
          </p:nvPr>
        </p:nvSpPr>
        <p:spPr>
          <a:ln/>
        </p:spPr>
        <p:txBody>
          <a:bodyPr vert="horz" wrap="square" lIns="91440" tIns="45720" rIns="91440" bIns="45720" anchor="ctr" anchorCtr="0"/>
          <a:p>
            <a:pPr eaLnBrk="1" hangingPunct="1"/>
            <a:r>
              <a:rPr lang="en-US" altLang="zh-CN" dirty="0"/>
              <a:t>7.4 </a:t>
            </a:r>
            <a:r>
              <a:rPr lang="zh-CN" altLang="en-US" dirty="0"/>
              <a:t>逻辑结构设计</a:t>
            </a:r>
            <a:endParaRPr lang="zh-CN" altLang="en-US"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4" name="页脚占位符 2"/>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79875" name="Rectangle 2"/>
          <p:cNvSpPr/>
          <p:nvPr/>
        </p:nvSpPr>
        <p:spPr>
          <a:xfrm>
            <a:off x="228600" y="762000"/>
            <a:ext cx="8686800" cy="56388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342900" lvl="0" indent="-342900" eaLnBrk="1" hangingPunct="1">
              <a:lnSpc>
                <a:spcPct val="110000"/>
              </a:lnSpc>
            </a:pPr>
            <a:r>
              <a:rPr lang="zh-CN" altLang="en-US" sz="2800" dirty="0">
                <a:solidFill>
                  <a:schemeClr val="tx1"/>
                </a:solidFill>
                <a:latin typeface="宋体" panose="02010600030101010101" pitchFamily="2" charset="-122"/>
              </a:rPr>
              <a:t>以规范化理论为指导</a:t>
            </a:r>
            <a:r>
              <a:rPr lang="en-US" altLang="zh-CN" sz="2800" dirty="0">
                <a:solidFill>
                  <a:schemeClr val="tx1"/>
                </a:solidFill>
                <a:latin typeface="宋体" panose="02010600030101010101" pitchFamily="2" charset="-122"/>
              </a:rPr>
              <a:t>(P233)</a:t>
            </a:r>
            <a:endParaRPr lang="zh-CN" altLang="en-US" sz="2800" dirty="0">
              <a:solidFill>
                <a:schemeClr val="tx1"/>
              </a:solidFill>
              <a:latin typeface="宋体" panose="02010600030101010101" pitchFamily="2" charset="-122"/>
            </a:endParaRPr>
          </a:p>
          <a:p>
            <a:pPr marL="742950" lvl="1" indent="-285750" eaLnBrk="1" hangingPunct="1">
              <a:lnSpc>
                <a:spcPct val="110000"/>
              </a:lnSpc>
              <a:buClr>
                <a:srgbClr val="FF3300"/>
              </a:buClr>
            </a:pPr>
            <a:r>
              <a:rPr lang="zh-CN" altLang="en-US" dirty="0">
                <a:latin typeface="宋体" panose="02010600030101010101" pitchFamily="2" charset="-122"/>
              </a:rPr>
              <a:t>确定数据依赖</a:t>
            </a:r>
            <a:endParaRPr lang="zh-CN" altLang="en-US" dirty="0">
              <a:latin typeface="宋体" panose="02010600030101010101" pitchFamily="2" charset="-122"/>
            </a:endParaRPr>
          </a:p>
          <a:p>
            <a:pPr marL="742950" lvl="1" indent="-285750" eaLnBrk="1" hangingPunct="1">
              <a:lnSpc>
                <a:spcPct val="110000"/>
              </a:lnSpc>
              <a:buClr>
                <a:srgbClr val="FF3300"/>
              </a:buClr>
            </a:pPr>
            <a:r>
              <a:rPr lang="zh-CN" altLang="en-US" dirty="0">
                <a:latin typeface="宋体" panose="02010600030101010101" pitchFamily="2" charset="-122"/>
              </a:rPr>
              <a:t>确定范式的级别</a:t>
            </a:r>
            <a:endParaRPr lang="zh-CN" altLang="en-US" dirty="0">
              <a:latin typeface="宋体" panose="02010600030101010101" pitchFamily="2" charset="-122"/>
            </a:endParaRPr>
          </a:p>
          <a:p>
            <a:pPr marL="742950" lvl="1" indent="-285750" eaLnBrk="1" hangingPunct="1">
              <a:lnSpc>
                <a:spcPct val="110000"/>
              </a:lnSpc>
              <a:buClr>
                <a:srgbClr val="FF3300"/>
              </a:buClr>
            </a:pPr>
            <a:r>
              <a:rPr lang="zh-CN" altLang="en-US" dirty="0">
                <a:latin typeface="宋体" panose="02010600030101010101" pitchFamily="2" charset="-122"/>
              </a:rPr>
              <a:t>根据实际需求，决定是否分解或合并，以期达到更高范式或降成更低一级的范式</a:t>
            </a:r>
            <a:endParaRPr lang="zh-CN" altLang="en-US" dirty="0">
              <a:latin typeface="宋体" panose="02010600030101010101" pitchFamily="2" charset="-122"/>
            </a:endParaRPr>
          </a:p>
          <a:p>
            <a:pPr marL="742950" lvl="1" indent="-285750" eaLnBrk="1" hangingPunct="1">
              <a:lnSpc>
                <a:spcPct val="110000"/>
              </a:lnSpc>
              <a:buClr>
                <a:srgbClr val="FF3300"/>
              </a:buClr>
            </a:pPr>
            <a:r>
              <a:rPr lang="zh-CN" altLang="en-US" dirty="0">
                <a:latin typeface="宋体" panose="02010600030101010101" pitchFamily="2" charset="-122"/>
              </a:rPr>
              <a:t>常用的分解方法</a:t>
            </a:r>
            <a:r>
              <a:rPr lang="en-US" altLang="zh-CN" dirty="0">
                <a:latin typeface="宋体" panose="02010600030101010101" pitchFamily="2" charset="-122"/>
              </a:rPr>
              <a:t>: </a:t>
            </a:r>
            <a:r>
              <a:rPr lang="zh-CN" altLang="en-US" dirty="0">
                <a:latin typeface="宋体" panose="02010600030101010101" pitchFamily="2" charset="-122"/>
              </a:rPr>
              <a:t>水平分解，垂直分解</a:t>
            </a:r>
            <a:endParaRPr lang="zh-CN" altLang="en-US" dirty="0">
              <a:latin typeface="宋体" panose="02010600030101010101" pitchFamily="2" charset="-122"/>
            </a:endParaRPr>
          </a:p>
          <a:p>
            <a:pPr marL="742950" lvl="1" indent="-285750" eaLnBrk="1" hangingPunct="1">
              <a:lnSpc>
                <a:spcPct val="110000"/>
              </a:lnSpc>
              <a:buClr>
                <a:srgbClr val="FF3300"/>
              </a:buClr>
            </a:pPr>
            <a:endParaRPr lang="zh-CN" altLang="en-US" dirty="0">
              <a:latin typeface="宋体" panose="02010600030101010101" pitchFamily="2" charset="-122"/>
            </a:endParaRPr>
          </a:p>
        </p:txBody>
      </p:sp>
      <p:sp>
        <p:nvSpPr>
          <p:cNvPr id="79876" name="Rectangle 3"/>
          <p:cNvSpPr>
            <a:spLocks noGrp="1"/>
          </p:cNvSpPr>
          <p:nvPr>
            <p:ph type="title" idx="4294967295"/>
          </p:nvPr>
        </p:nvSpPr>
        <p:spPr>
          <a:xfrm>
            <a:off x="914400" y="0"/>
            <a:ext cx="7772400" cy="609600"/>
          </a:xfrm>
          <a:ln/>
        </p:spPr>
        <p:txBody>
          <a:bodyPr vert="horz" wrap="square" lIns="91440" tIns="45720" rIns="91440" bIns="45720" anchor="ctr" anchorCtr="0"/>
          <a:p>
            <a:pPr eaLnBrk="1" hangingPunct="1"/>
            <a:r>
              <a:rPr lang="en-US" altLang="zh-CN" dirty="0"/>
              <a:t>7.4.3 </a:t>
            </a:r>
            <a:r>
              <a:rPr lang="zh-CN" altLang="en-US" dirty="0"/>
              <a:t>数据模型的优化</a:t>
            </a:r>
            <a:endParaRPr lang="zh-CN" altLang="en-US"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8" name="页脚占位符 2"/>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80899" name="Rectangle 2"/>
          <p:cNvSpPr/>
          <p:nvPr/>
        </p:nvSpPr>
        <p:spPr>
          <a:xfrm>
            <a:off x="685800" y="1600200"/>
            <a:ext cx="7848600" cy="44196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342900" lvl="0" indent="-342900" eaLnBrk="1" hangingPunct="1">
              <a:lnSpc>
                <a:spcPct val="130000"/>
              </a:lnSpc>
              <a:buClr>
                <a:schemeClr val="folHlink"/>
              </a:buClr>
              <a:buSzPct val="60000"/>
              <a:buNone/>
            </a:pPr>
            <a:r>
              <a:rPr lang="en-US" altLang="zh-CN" dirty="0">
                <a:solidFill>
                  <a:schemeClr val="tx1"/>
                </a:solidFill>
              </a:rPr>
              <a:t>7.4.1</a:t>
            </a:r>
            <a:r>
              <a:rPr lang="en-US" altLang="zh-CN" dirty="0">
                <a:solidFill>
                  <a:schemeClr val="tx1"/>
                </a:solidFill>
                <a:latin typeface="Tahoma" panose="020B0604030504040204" pitchFamily="34" charset="0"/>
              </a:rPr>
              <a:t>  </a:t>
            </a:r>
            <a:r>
              <a:rPr lang="en-US" altLang="zh-CN" dirty="0">
                <a:solidFill>
                  <a:schemeClr val="tx1"/>
                </a:solidFill>
              </a:rPr>
              <a:t>E-R</a:t>
            </a:r>
            <a:r>
              <a:rPr lang="zh-CN" altLang="en-US" dirty="0">
                <a:solidFill>
                  <a:schemeClr val="tx1"/>
                </a:solidFill>
                <a:latin typeface="Tahoma" panose="020B0604030504040204" pitchFamily="34" charset="0"/>
              </a:rPr>
              <a:t>图向关系模型的转换</a:t>
            </a:r>
            <a:endParaRPr lang="zh-CN" altLang="en-US" dirty="0">
              <a:solidFill>
                <a:schemeClr val="tx1"/>
              </a:solidFill>
              <a:latin typeface="Tahoma" panose="020B0604030504040204" pitchFamily="34" charset="0"/>
            </a:endParaRPr>
          </a:p>
          <a:p>
            <a:pPr marL="342900" lvl="0" indent="-342900" eaLnBrk="1" hangingPunct="1">
              <a:lnSpc>
                <a:spcPct val="130000"/>
              </a:lnSpc>
              <a:buClr>
                <a:schemeClr val="folHlink"/>
              </a:buClr>
              <a:buSzPct val="60000"/>
              <a:buNone/>
            </a:pPr>
            <a:r>
              <a:rPr lang="en-US" altLang="zh-CN" dirty="0">
                <a:solidFill>
                  <a:schemeClr val="tx1"/>
                </a:solidFill>
              </a:rPr>
              <a:t>7.4.2</a:t>
            </a:r>
            <a:r>
              <a:rPr lang="en-US" altLang="zh-CN" dirty="0">
                <a:solidFill>
                  <a:schemeClr val="tx1"/>
                </a:solidFill>
                <a:latin typeface="Tahoma" panose="020B0604030504040204" pitchFamily="34" charset="0"/>
              </a:rPr>
              <a:t>  </a:t>
            </a:r>
            <a:r>
              <a:rPr lang="zh-CN" altLang="en-US" dirty="0">
                <a:solidFill>
                  <a:schemeClr val="tx1"/>
                </a:solidFill>
                <a:latin typeface="Tahoma" panose="020B0604030504040204" pitchFamily="34" charset="0"/>
              </a:rPr>
              <a:t>向特定</a:t>
            </a:r>
            <a:r>
              <a:rPr lang="en-US" altLang="zh-CN" dirty="0">
                <a:solidFill>
                  <a:schemeClr val="tx1"/>
                </a:solidFill>
              </a:rPr>
              <a:t>DBMS</a:t>
            </a:r>
            <a:r>
              <a:rPr lang="zh-CN" altLang="en-US" dirty="0">
                <a:solidFill>
                  <a:schemeClr val="tx1"/>
                </a:solidFill>
                <a:latin typeface="Tahoma" panose="020B0604030504040204" pitchFamily="34" charset="0"/>
              </a:rPr>
              <a:t>规定的模型进行转换</a:t>
            </a:r>
            <a:endParaRPr lang="zh-CN" altLang="en-US" dirty="0">
              <a:solidFill>
                <a:schemeClr val="tx1"/>
              </a:solidFill>
              <a:latin typeface="Tahoma" panose="020B0604030504040204" pitchFamily="34" charset="0"/>
            </a:endParaRPr>
          </a:p>
          <a:p>
            <a:pPr marL="342900" lvl="0" indent="-342900" eaLnBrk="1" hangingPunct="1">
              <a:lnSpc>
                <a:spcPct val="130000"/>
              </a:lnSpc>
              <a:buClr>
                <a:schemeClr val="folHlink"/>
              </a:buClr>
              <a:buSzPct val="60000"/>
              <a:buNone/>
            </a:pPr>
            <a:r>
              <a:rPr lang="en-US" altLang="zh-CN" dirty="0">
                <a:solidFill>
                  <a:schemeClr val="tx1"/>
                </a:solidFill>
              </a:rPr>
              <a:t>7.4.3</a:t>
            </a:r>
            <a:r>
              <a:rPr lang="en-US" altLang="zh-CN" dirty="0">
                <a:solidFill>
                  <a:schemeClr val="tx1"/>
                </a:solidFill>
                <a:latin typeface="Tahoma" panose="020B0604030504040204" pitchFamily="34" charset="0"/>
              </a:rPr>
              <a:t>  </a:t>
            </a:r>
            <a:r>
              <a:rPr lang="zh-CN" altLang="en-US" dirty="0">
                <a:solidFill>
                  <a:schemeClr val="tx1"/>
                </a:solidFill>
                <a:latin typeface="Tahoma" panose="020B0604030504040204" pitchFamily="34" charset="0"/>
              </a:rPr>
              <a:t>数据模型的优化</a:t>
            </a:r>
            <a:endParaRPr lang="zh-CN" altLang="en-US" dirty="0">
              <a:solidFill>
                <a:schemeClr val="tx1"/>
              </a:solidFill>
              <a:latin typeface="Tahoma" panose="020B0604030504040204" pitchFamily="34" charset="0"/>
            </a:endParaRPr>
          </a:p>
          <a:p>
            <a:pPr marL="342900" lvl="0" indent="-342900" eaLnBrk="1" hangingPunct="1">
              <a:lnSpc>
                <a:spcPct val="130000"/>
              </a:lnSpc>
              <a:buClr>
                <a:schemeClr val="folHlink"/>
              </a:buClr>
              <a:buSzPct val="60000"/>
              <a:buNone/>
            </a:pPr>
            <a:r>
              <a:rPr lang="en-US" altLang="zh-CN" dirty="0"/>
              <a:t>7.4.4</a:t>
            </a:r>
            <a:r>
              <a:rPr lang="en-US" altLang="zh-CN" dirty="0">
                <a:latin typeface="Tahoma" panose="020B0604030504040204" pitchFamily="34" charset="0"/>
              </a:rPr>
              <a:t>  </a:t>
            </a:r>
            <a:r>
              <a:rPr lang="zh-CN" altLang="en-US" dirty="0">
                <a:latin typeface="Tahoma" panose="020B0604030504040204" pitchFamily="34" charset="0"/>
              </a:rPr>
              <a:t>设计用户子模式</a:t>
            </a:r>
            <a:endParaRPr lang="zh-CN" altLang="en-US" dirty="0">
              <a:latin typeface="Tahoma" panose="020B0604030504040204" pitchFamily="34" charset="0"/>
            </a:endParaRPr>
          </a:p>
        </p:txBody>
      </p:sp>
      <p:sp>
        <p:nvSpPr>
          <p:cNvPr id="80900" name="Rectangle 3"/>
          <p:cNvSpPr>
            <a:spLocks noGrp="1"/>
          </p:cNvSpPr>
          <p:nvPr>
            <p:ph type="title" idx="4294967295"/>
          </p:nvPr>
        </p:nvSpPr>
        <p:spPr>
          <a:ln/>
        </p:spPr>
        <p:txBody>
          <a:bodyPr vert="horz" wrap="square" lIns="91440" tIns="45720" rIns="91440" bIns="45720" anchor="ctr" anchorCtr="0"/>
          <a:p>
            <a:pPr eaLnBrk="1" hangingPunct="1"/>
            <a:r>
              <a:rPr lang="en-US" altLang="zh-CN" dirty="0"/>
              <a:t>7.4 </a:t>
            </a:r>
            <a:r>
              <a:rPr lang="zh-CN" altLang="en-US" dirty="0"/>
              <a:t>逻辑结构设计</a:t>
            </a:r>
            <a:endParaRPr lang="zh-CN" altLang="en-US"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2" name="页脚占位符 2"/>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81923" name="Rectangle 2"/>
          <p:cNvSpPr/>
          <p:nvPr/>
        </p:nvSpPr>
        <p:spPr>
          <a:xfrm>
            <a:off x="228600" y="914400"/>
            <a:ext cx="8686800" cy="48006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342900" lvl="0" indent="-342900" eaLnBrk="1" hangingPunct="1">
              <a:lnSpc>
                <a:spcPct val="120000"/>
              </a:lnSpc>
            </a:pPr>
            <a:r>
              <a:rPr lang="zh-CN" altLang="en-US" sz="2800" dirty="0">
                <a:solidFill>
                  <a:schemeClr val="tx1"/>
                </a:solidFill>
                <a:latin typeface="Tahoma" panose="020B0604030504040204" pitchFamily="34" charset="0"/>
              </a:rPr>
              <a:t>定义数据库模式主要是从系统的时间效率、空间效率、易维护等角度出发。</a:t>
            </a:r>
            <a:endParaRPr lang="zh-CN" altLang="en-US" sz="2800" dirty="0">
              <a:solidFill>
                <a:schemeClr val="tx1"/>
              </a:solidFill>
              <a:latin typeface="Tahoma" panose="020B0604030504040204" pitchFamily="34" charset="0"/>
            </a:endParaRPr>
          </a:p>
          <a:p>
            <a:pPr marL="342900" lvl="0" indent="-342900" eaLnBrk="1" hangingPunct="1">
              <a:lnSpc>
                <a:spcPct val="120000"/>
              </a:lnSpc>
            </a:pPr>
            <a:r>
              <a:rPr lang="zh-CN" altLang="en-US" sz="2800" dirty="0">
                <a:solidFill>
                  <a:schemeClr val="tx1"/>
                </a:solidFill>
                <a:latin typeface="Tahoma" panose="020B0604030504040204" pitchFamily="34" charset="0"/>
              </a:rPr>
              <a:t>定义用户外模式时应该更注重考虑用户的习惯与方便。包括三个方面：</a:t>
            </a:r>
            <a:endParaRPr lang="zh-CN" altLang="en-US" sz="2800" dirty="0">
              <a:solidFill>
                <a:schemeClr val="tx1"/>
              </a:solidFill>
              <a:latin typeface="Tahoma" panose="020B0604030504040204" pitchFamily="34" charset="0"/>
            </a:endParaRPr>
          </a:p>
          <a:p>
            <a:pPr marL="742950" lvl="1" indent="-285750" eaLnBrk="1" hangingPunct="1">
              <a:lnSpc>
                <a:spcPct val="120000"/>
              </a:lnSpc>
              <a:buClr>
                <a:srgbClr val="FF3300"/>
              </a:buClr>
            </a:pPr>
            <a:r>
              <a:rPr lang="zh-CN" altLang="en-US" dirty="0">
                <a:latin typeface="Tahoma" panose="020B0604030504040204" pitchFamily="34" charset="0"/>
              </a:rPr>
              <a:t>使用更符合用户习惯的别名</a:t>
            </a:r>
            <a:endParaRPr lang="zh-CN" altLang="en-US" dirty="0">
              <a:latin typeface="Tahoma" panose="020B0604030504040204" pitchFamily="34" charset="0"/>
            </a:endParaRPr>
          </a:p>
          <a:p>
            <a:pPr marL="742950" lvl="1" indent="-285750" eaLnBrk="1" hangingPunct="1">
              <a:lnSpc>
                <a:spcPct val="120000"/>
              </a:lnSpc>
              <a:buClr>
                <a:srgbClr val="FF3300"/>
              </a:buClr>
            </a:pPr>
            <a:r>
              <a:rPr lang="zh-CN" altLang="en-US" dirty="0">
                <a:latin typeface="Tahoma" panose="020B0604030504040204" pitchFamily="34" charset="0"/>
              </a:rPr>
              <a:t>针对不同级别的用户定义不同的外模式，以满足系统对安全性的要求</a:t>
            </a:r>
            <a:endParaRPr lang="zh-CN" altLang="en-US" dirty="0">
              <a:latin typeface="Tahoma" panose="020B0604030504040204" pitchFamily="34" charset="0"/>
            </a:endParaRPr>
          </a:p>
          <a:p>
            <a:pPr marL="742950" lvl="1" indent="-285750" eaLnBrk="1" hangingPunct="1">
              <a:lnSpc>
                <a:spcPct val="120000"/>
              </a:lnSpc>
              <a:buClr>
                <a:srgbClr val="FF3300"/>
              </a:buClr>
            </a:pPr>
            <a:r>
              <a:rPr lang="zh-CN" altLang="en-US" dirty="0">
                <a:latin typeface="Tahoma" panose="020B0604030504040204" pitchFamily="34" charset="0"/>
              </a:rPr>
              <a:t>简化用户对系统的使用</a:t>
            </a:r>
            <a:endParaRPr lang="zh-CN" altLang="en-US" dirty="0">
              <a:latin typeface="宋体" panose="02010600030101010101" pitchFamily="2" charset="-122"/>
            </a:endParaRPr>
          </a:p>
        </p:txBody>
      </p:sp>
      <p:sp>
        <p:nvSpPr>
          <p:cNvPr id="81924" name="Rectangle 3"/>
          <p:cNvSpPr>
            <a:spLocks noGrp="1"/>
          </p:cNvSpPr>
          <p:nvPr>
            <p:ph type="title" idx="4294967295"/>
          </p:nvPr>
        </p:nvSpPr>
        <p:spPr>
          <a:xfrm>
            <a:off x="914400" y="0"/>
            <a:ext cx="7772400" cy="609600"/>
          </a:xfrm>
          <a:ln/>
        </p:spPr>
        <p:txBody>
          <a:bodyPr vert="horz" wrap="square" lIns="91440" tIns="45720" rIns="91440" bIns="45720" anchor="ctr" anchorCtr="0"/>
          <a:p>
            <a:pPr eaLnBrk="1" hangingPunct="1"/>
            <a:r>
              <a:rPr lang="en-US" altLang="zh-CN" dirty="0"/>
              <a:t>7.4.4 </a:t>
            </a:r>
            <a:r>
              <a:rPr lang="zh-CN" altLang="en-US" dirty="0"/>
              <a:t>设计用户子模式</a:t>
            </a:r>
            <a:endParaRPr lang="zh-CN" altLang="en-US"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82947" name="Rectangle 2"/>
          <p:cNvSpPr/>
          <p:nvPr/>
        </p:nvSpPr>
        <p:spPr>
          <a:xfrm>
            <a:off x="698500" y="4089400"/>
            <a:ext cx="7747000" cy="609600"/>
          </a:xfrm>
          <a:prstGeom prst="rect">
            <a:avLst/>
          </a:prstGeom>
          <a:solidFill>
            <a:schemeClr val="accent2"/>
          </a:solidFill>
          <a:ln w="9525">
            <a:noFill/>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a:spcBef>
                <a:spcPct val="0"/>
              </a:spcBef>
              <a:buClrTx/>
              <a:buFontTx/>
              <a:buNone/>
            </a:pPr>
            <a:endParaRPr lang="en-US" altLang="zh-CN" sz="1600" b="0" dirty="0">
              <a:solidFill>
                <a:schemeClr val="tx1"/>
              </a:solidFill>
            </a:endParaRPr>
          </a:p>
        </p:txBody>
      </p:sp>
      <p:sp>
        <p:nvSpPr>
          <p:cNvPr id="82948" name="Rectangle 3"/>
          <p:cNvSpPr>
            <a:spLocks noGrp="1"/>
          </p:cNvSpPr>
          <p:nvPr>
            <p:ph idx="1"/>
          </p:nvPr>
        </p:nvSpPr>
        <p:spPr>
          <a:xfrm>
            <a:off x="914400" y="1371600"/>
            <a:ext cx="7327900" cy="4876800"/>
          </a:xfrm>
          <a:ln/>
        </p:spPr>
        <p:txBody>
          <a:bodyPr vert="horz" wrap="square" lIns="91440" tIns="45720" rIns="91440" bIns="45720" anchor="t" anchorCtr="0"/>
          <a:p>
            <a:pPr eaLnBrk="1" hangingPunct="1">
              <a:lnSpc>
                <a:spcPct val="120000"/>
              </a:lnSpc>
              <a:spcBef>
                <a:spcPct val="0"/>
              </a:spcBef>
              <a:buClrTx/>
              <a:buFontTx/>
              <a:buNone/>
            </a:pPr>
            <a:r>
              <a:rPr lang="en-US" altLang="zh-CN" sz="3600" b="0" dirty="0">
                <a:solidFill>
                  <a:schemeClr val="tx1"/>
                </a:solidFill>
                <a:latin typeface="Arial Narrow" panose="020B0606020202030204" pitchFamily="34" charset="0"/>
                <a:ea typeface="楷体_GB2312" pitchFamily="49" charset="-122"/>
              </a:rPr>
              <a:t>7.1 </a:t>
            </a:r>
            <a:r>
              <a:rPr lang="zh-CN" altLang="en-US" sz="3600" b="0" dirty="0">
                <a:solidFill>
                  <a:schemeClr val="tx1"/>
                </a:solidFill>
                <a:latin typeface="Arial Narrow" panose="020B0606020202030204" pitchFamily="34" charset="0"/>
                <a:ea typeface="楷体_GB2312" pitchFamily="49" charset="-122"/>
              </a:rPr>
              <a:t>数据库设计概述</a:t>
            </a:r>
            <a:endParaRPr lang="zh-CN" altLang="en-US" sz="3600" b="0" dirty="0">
              <a:solidFill>
                <a:schemeClr val="tx1"/>
              </a:solidFill>
              <a:latin typeface="Arial Narrow" panose="020B0606020202030204" pitchFamily="34" charset="0"/>
              <a:ea typeface="楷体_GB2312" pitchFamily="49" charset="-122"/>
            </a:endParaRPr>
          </a:p>
          <a:p>
            <a:pPr eaLnBrk="1" hangingPunct="1">
              <a:lnSpc>
                <a:spcPct val="120000"/>
              </a:lnSpc>
              <a:spcBef>
                <a:spcPct val="0"/>
              </a:spcBef>
              <a:buClrTx/>
              <a:buFontTx/>
              <a:buNone/>
            </a:pPr>
            <a:r>
              <a:rPr lang="en-US" altLang="zh-CN" sz="3600" b="0" dirty="0">
                <a:solidFill>
                  <a:schemeClr val="tx1"/>
                </a:solidFill>
                <a:latin typeface="Arial Narrow" panose="020B0606020202030204" pitchFamily="34" charset="0"/>
                <a:ea typeface="楷体_GB2312" pitchFamily="49" charset="-122"/>
              </a:rPr>
              <a:t>7.2 </a:t>
            </a:r>
            <a:r>
              <a:rPr lang="zh-CN" altLang="en-US" sz="3600" b="0" dirty="0">
                <a:solidFill>
                  <a:schemeClr val="tx1"/>
                </a:solidFill>
                <a:latin typeface="Arial Narrow" panose="020B0606020202030204" pitchFamily="34" charset="0"/>
                <a:ea typeface="楷体_GB2312" pitchFamily="49" charset="-122"/>
              </a:rPr>
              <a:t>需求分析</a:t>
            </a:r>
            <a:endParaRPr lang="zh-CN" altLang="en-US" sz="3600" b="0" dirty="0">
              <a:solidFill>
                <a:schemeClr val="tx1"/>
              </a:solidFill>
              <a:latin typeface="Arial Narrow" panose="020B0606020202030204" pitchFamily="34" charset="0"/>
              <a:ea typeface="楷体_GB2312" pitchFamily="49" charset="-122"/>
            </a:endParaRPr>
          </a:p>
          <a:p>
            <a:pPr eaLnBrk="1" hangingPunct="1">
              <a:lnSpc>
                <a:spcPct val="120000"/>
              </a:lnSpc>
              <a:spcBef>
                <a:spcPct val="0"/>
              </a:spcBef>
              <a:buClrTx/>
              <a:buFontTx/>
              <a:buNone/>
            </a:pPr>
            <a:r>
              <a:rPr lang="en-US" altLang="zh-CN" sz="3600" b="0" dirty="0">
                <a:solidFill>
                  <a:schemeClr val="tx1"/>
                </a:solidFill>
                <a:latin typeface="Arial Narrow" panose="020B0606020202030204" pitchFamily="34" charset="0"/>
                <a:ea typeface="楷体_GB2312" pitchFamily="49" charset="-122"/>
              </a:rPr>
              <a:t>7.3 </a:t>
            </a:r>
            <a:r>
              <a:rPr lang="zh-CN" altLang="en-US" sz="3600" b="0" dirty="0">
                <a:solidFill>
                  <a:schemeClr val="tx1"/>
                </a:solidFill>
                <a:latin typeface="Arial Narrow" panose="020B0606020202030204" pitchFamily="34" charset="0"/>
                <a:ea typeface="楷体_GB2312" pitchFamily="49" charset="-122"/>
              </a:rPr>
              <a:t>概念结构设计</a:t>
            </a:r>
            <a:endParaRPr lang="zh-CN" altLang="en-US" sz="3600" b="0" dirty="0">
              <a:solidFill>
                <a:schemeClr val="tx1"/>
              </a:solidFill>
              <a:latin typeface="Arial Narrow" panose="020B0606020202030204" pitchFamily="34" charset="0"/>
              <a:ea typeface="楷体_GB2312" pitchFamily="49" charset="-122"/>
            </a:endParaRPr>
          </a:p>
          <a:p>
            <a:pPr eaLnBrk="1" hangingPunct="1">
              <a:lnSpc>
                <a:spcPct val="120000"/>
              </a:lnSpc>
              <a:spcBef>
                <a:spcPct val="0"/>
              </a:spcBef>
              <a:buClrTx/>
              <a:buFontTx/>
              <a:buNone/>
            </a:pPr>
            <a:r>
              <a:rPr lang="en-US" altLang="zh-CN" sz="3600" b="0" dirty="0">
                <a:solidFill>
                  <a:schemeClr val="tx1"/>
                </a:solidFill>
                <a:latin typeface="Arial Narrow" panose="020B0606020202030204" pitchFamily="34" charset="0"/>
                <a:ea typeface="楷体_GB2312" pitchFamily="49" charset="-122"/>
              </a:rPr>
              <a:t>7.4 </a:t>
            </a:r>
            <a:r>
              <a:rPr lang="zh-CN" altLang="en-US" sz="3600" b="0" dirty="0">
                <a:solidFill>
                  <a:schemeClr val="tx1"/>
                </a:solidFill>
                <a:latin typeface="Arial Narrow" panose="020B0606020202030204" pitchFamily="34" charset="0"/>
                <a:ea typeface="楷体_GB2312" pitchFamily="49" charset="-122"/>
              </a:rPr>
              <a:t>逻辑结构设计</a:t>
            </a:r>
            <a:endParaRPr lang="zh-CN" altLang="en-US" sz="3600" b="0" dirty="0">
              <a:solidFill>
                <a:schemeClr val="tx1"/>
              </a:solidFill>
              <a:latin typeface="Arial Narrow" panose="020B0606020202030204" pitchFamily="34" charset="0"/>
              <a:ea typeface="楷体_GB2312" pitchFamily="49" charset="-122"/>
            </a:endParaRPr>
          </a:p>
          <a:p>
            <a:pPr eaLnBrk="1" hangingPunct="1">
              <a:lnSpc>
                <a:spcPct val="120000"/>
              </a:lnSpc>
              <a:spcBef>
                <a:spcPct val="0"/>
              </a:spcBef>
              <a:buClrTx/>
              <a:buFontTx/>
              <a:buNone/>
            </a:pPr>
            <a:r>
              <a:rPr lang="en-US" altLang="zh-CN" sz="3600" b="0" dirty="0">
                <a:solidFill>
                  <a:schemeClr val="bg1"/>
                </a:solidFill>
                <a:latin typeface="Arial Narrow" panose="020B0606020202030204" pitchFamily="34" charset="0"/>
                <a:ea typeface="楷体_GB2312" pitchFamily="49" charset="-122"/>
              </a:rPr>
              <a:t>7.5 </a:t>
            </a:r>
            <a:r>
              <a:rPr lang="zh-CN" altLang="en-US" sz="3600" b="0" dirty="0">
                <a:solidFill>
                  <a:schemeClr val="bg1"/>
                </a:solidFill>
                <a:latin typeface="Arial Narrow" panose="020B0606020202030204" pitchFamily="34" charset="0"/>
                <a:ea typeface="楷体_GB2312" pitchFamily="49" charset="-122"/>
              </a:rPr>
              <a:t>数据库的物理设计</a:t>
            </a:r>
            <a:endParaRPr lang="zh-CN" altLang="en-US" sz="3600" b="0" dirty="0">
              <a:solidFill>
                <a:schemeClr val="bg1"/>
              </a:solidFill>
              <a:latin typeface="Arial Narrow" panose="020B0606020202030204" pitchFamily="34" charset="0"/>
              <a:ea typeface="楷体_GB2312" pitchFamily="49" charset="-122"/>
            </a:endParaRPr>
          </a:p>
          <a:p>
            <a:pPr eaLnBrk="1" hangingPunct="1">
              <a:lnSpc>
                <a:spcPct val="120000"/>
              </a:lnSpc>
              <a:spcBef>
                <a:spcPct val="0"/>
              </a:spcBef>
              <a:buClrTx/>
              <a:buFontTx/>
              <a:buNone/>
            </a:pPr>
            <a:r>
              <a:rPr lang="en-US" altLang="zh-CN" sz="3600" b="0" dirty="0">
                <a:solidFill>
                  <a:schemeClr val="tx1"/>
                </a:solidFill>
                <a:latin typeface="Arial Narrow" panose="020B0606020202030204" pitchFamily="34" charset="0"/>
                <a:ea typeface="楷体_GB2312" pitchFamily="49" charset="-122"/>
              </a:rPr>
              <a:t>7.6 </a:t>
            </a:r>
            <a:r>
              <a:rPr lang="zh-CN" altLang="en-US" sz="3600" b="0" dirty="0">
                <a:solidFill>
                  <a:schemeClr val="tx1"/>
                </a:solidFill>
                <a:latin typeface="Arial Narrow" panose="020B0606020202030204" pitchFamily="34" charset="0"/>
                <a:ea typeface="楷体_GB2312" pitchFamily="49" charset="-122"/>
              </a:rPr>
              <a:t>数据库实施</a:t>
            </a:r>
            <a:endParaRPr lang="zh-CN" altLang="en-US" sz="3600" b="0" dirty="0">
              <a:solidFill>
                <a:schemeClr val="tx1"/>
              </a:solidFill>
              <a:latin typeface="Arial Narrow" panose="020B0606020202030204" pitchFamily="34" charset="0"/>
              <a:ea typeface="楷体_GB2312" pitchFamily="49" charset="-122"/>
            </a:endParaRPr>
          </a:p>
          <a:p>
            <a:pPr eaLnBrk="1" hangingPunct="1">
              <a:lnSpc>
                <a:spcPct val="120000"/>
              </a:lnSpc>
              <a:spcBef>
                <a:spcPct val="0"/>
              </a:spcBef>
              <a:buClrTx/>
              <a:buFontTx/>
              <a:buNone/>
            </a:pPr>
            <a:r>
              <a:rPr lang="en-US" altLang="zh-CN" sz="3600" b="0" dirty="0">
                <a:solidFill>
                  <a:schemeClr val="tx1"/>
                </a:solidFill>
                <a:latin typeface="Arial Narrow" panose="020B0606020202030204" pitchFamily="34" charset="0"/>
                <a:ea typeface="楷体_GB2312" pitchFamily="49" charset="-122"/>
              </a:rPr>
              <a:t>7.7 </a:t>
            </a:r>
            <a:r>
              <a:rPr lang="zh-CN" altLang="en-US" sz="3600" b="0" dirty="0">
                <a:solidFill>
                  <a:schemeClr val="tx1"/>
                </a:solidFill>
                <a:latin typeface="Arial Narrow" panose="020B0606020202030204" pitchFamily="34" charset="0"/>
                <a:ea typeface="楷体_GB2312" pitchFamily="49" charset="-122"/>
              </a:rPr>
              <a:t>数据库运行和维护</a:t>
            </a:r>
            <a:endParaRPr lang="zh-CN" altLang="en-US" sz="3600" b="0" dirty="0">
              <a:solidFill>
                <a:schemeClr val="tx1"/>
              </a:solidFill>
              <a:latin typeface="Arial Narrow" panose="020B0606020202030204" pitchFamily="34" charset="0"/>
              <a:ea typeface="楷体_GB2312" pitchFamily="49" charset="-122"/>
            </a:endParaRPr>
          </a:p>
        </p:txBody>
      </p:sp>
      <p:sp>
        <p:nvSpPr>
          <p:cNvPr id="82949" name="Rectangle 4"/>
          <p:cNvSpPr>
            <a:spLocks noGrp="1"/>
          </p:cNvSpPr>
          <p:nvPr>
            <p:ph type="title"/>
          </p:nvPr>
        </p:nvSpPr>
        <p:spPr>
          <a:ln/>
        </p:spPr>
        <p:txBody>
          <a:bodyPr vert="horz" wrap="square" lIns="91440" tIns="45720" rIns="91440" bIns="45720" anchor="ctr" anchorCtr="0"/>
          <a:p>
            <a:pPr eaLnBrk="1" hangingPunct="1"/>
            <a:r>
              <a:rPr lang="zh-CN" altLang="en-US" dirty="0"/>
              <a:t>第</a:t>
            </a:r>
            <a:r>
              <a:rPr lang="en-US" altLang="zh-CN" dirty="0"/>
              <a:t>7</a:t>
            </a:r>
            <a:r>
              <a:rPr lang="zh-CN" altLang="en-US" dirty="0"/>
              <a:t>章 数据库设计</a:t>
            </a:r>
            <a:endParaRPr lang="zh-CN" altLang="en-US"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3970" name="页脚占位符 2"/>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83971" name="Rectangle 2"/>
          <p:cNvSpPr/>
          <p:nvPr/>
        </p:nvSpPr>
        <p:spPr>
          <a:xfrm>
            <a:off x="228600" y="914400"/>
            <a:ext cx="8686800" cy="48006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342900" lvl="0" indent="-342900" eaLnBrk="1" hangingPunct="1"/>
            <a:r>
              <a:rPr lang="zh-CN" altLang="en-US" sz="3600" dirty="0">
                <a:solidFill>
                  <a:schemeClr val="tx1"/>
                </a:solidFill>
                <a:latin typeface="Tahoma" panose="020B0604030504040204" pitchFamily="34" charset="0"/>
              </a:rPr>
              <a:t>什么是数据库的物理设计</a:t>
            </a:r>
            <a:endParaRPr lang="zh-CN" altLang="en-US" sz="3600" dirty="0">
              <a:solidFill>
                <a:schemeClr val="tx1"/>
              </a:solidFill>
              <a:latin typeface="Tahoma" panose="020B0604030504040204" pitchFamily="34" charset="0"/>
            </a:endParaRPr>
          </a:p>
          <a:p>
            <a:pPr marL="742950" lvl="1" indent="-285750" eaLnBrk="1" hangingPunct="1">
              <a:lnSpc>
                <a:spcPct val="120000"/>
              </a:lnSpc>
              <a:buClr>
                <a:srgbClr val="FF3300"/>
              </a:buClr>
            </a:pPr>
            <a:r>
              <a:rPr lang="zh-CN" altLang="en-US" dirty="0">
                <a:latin typeface="Tahoma" panose="020B0604030504040204" pitchFamily="34" charset="0"/>
              </a:rPr>
              <a:t>数据库在物理设备上的存储结构与存取方法称为数据库的物理结构，它依赖于给定的计算机系统</a:t>
            </a:r>
            <a:endParaRPr lang="zh-CN" altLang="en-US" dirty="0">
              <a:latin typeface="Tahoma" panose="020B0604030504040204" pitchFamily="34" charset="0"/>
            </a:endParaRPr>
          </a:p>
          <a:p>
            <a:pPr marL="742950" lvl="1" indent="-285750" eaLnBrk="1" hangingPunct="1">
              <a:lnSpc>
                <a:spcPct val="120000"/>
              </a:lnSpc>
              <a:buClr>
                <a:srgbClr val="FF3300"/>
              </a:buClr>
            </a:pPr>
            <a:r>
              <a:rPr lang="zh-CN" altLang="en-US" dirty="0">
                <a:latin typeface="Tahoma" panose="020B0604030504040204" pitchFamily="34" charset="0"/>
              </a:rPr>
              <a:t>为一个给定的逻辑数据模型选取一个最适合应用环境的物理结构的过程，就是数据库的物理设计</a:t>
            </a:r>
            <a:endParaRPr lang="zh-CN" altLang="en-US" dirty="0">
              <a:latin typeface="Tahoma" panose="020B0604030504040204" pitchFamily="34" charset="0"/>
            </a:endParaRPr>
          </a:p>
        </p:txBody>
      </p:sp>
      <p:sp>
        <p:nvSpPr>
          <p:cNvPr id="83972" name="Rectangle 3"/>
          <p:cNvSpPr>
            <a:spLocks noGrp="1"/>
          </p:cNvSpPr>
          <p:nvPr>
            <p:ph type="title" idx="4294967295"/>
          </p:nvPr>
        </p:nvSpPr>
        <p:spPr>
          <a:xfrm>
            <a:off x="914400" y="0"/>
            <a:ext cx="7772400" cy="609600"/>
          </a:xfrm>
          <a:ln/>
        </p:spPr>
        <p:txBody>
          <a:bodyPr vert="horz" wrap="square" lIns="91440" tIns="45720" rIns="91440" bIns="45720" anchor="ctr" anchorCtr="0"/>
          <a:p>
            <a:pPr eaLnBrk="1" hangingPunct="1"/>
            <a:r>
              <a:rPr lang="en-US" altLang="zh-CN" dirty="0"/>
              <a:t>7.5 </a:t>
            </a:r>
            <a:r>
              <a:rPr lang="zh-CN" altLang="en-US" dirty="0"/>
              <a:t>数据库的物理设计</a:t>
            </a:r>
            <a:endParaRPr lang="zh-CN" altLang="en-US"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4" name="页脚占位符 2"/>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84995" name="Rectangle 2"/>
          <p:cNvSpPr/>
          <p:nvPr/>
        </p:nvSpPr>
        <p:spPr>
          <a:xfrm>
            <a:off x="228600" y="914400"/>
            <a:ext cx="8686800" cy="48006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342900" lvl="0" indent="-342900" eaLnBrk="1" hangingPunct="1">
              <a:lnSpc>
                <a:spcPct val="90000"/>
              </a:lnSpc>
            </a:pPr>
            <a:r>
              <a:rPr lang="zh-CN" altLang="en-US" sz="3600" dirty="0">
                <a:solidFill>
                  <a:schemeClr val="tx1"/>
                </a:solidFill>
                <a:latin typeface="Tahoma" panose="020B0604030504040204" pitchFamily="34" charset="0"/>
              </a:rPr>
              <a:t>数据库物理设计的步骤</a:t>
            </a:r>
            <a:endParaRPr lang="zh-CN" altLang="en-US" sz="3600" dirty="0">
              <a:solidFill>
                <a:schemeClr val="tx1"/>
              </a:solidFill>
              <a:latin typeface="Tahoma" panose="020B0604030504040204" pitchFamily="34" charset="0"/>
            </a:endParaRPr>
          </a:p>
          <a:p>
            <a:pPr marL="742950" lvl="1" indent="-285750" eaLnBrk="1" hangingPunct="1">
              <a:lnSpc>
                <a:spcPct val="90000"/>
              </a:lnSpc>
              <a:spcBef>
                <a:spcPct val="50000"/>
              </a:spcBef>
              <a:buClr>
                <a:srgbClr val="FF3300"/>
              </a:buClr>
            </a:pPr>
            <a:r>
              <a:rPr lang="zh-CN" altLang="en-US" dirty="0">
                <a:latin typeface="Tahoma" panose="020B0604030504040204" pitchFamily="34" charset="0"/>
              </a:rPr>
              <a:t>确定数据库的物理结构</a:t>
            </a:r>
            <a:endParaRPr lang="zh-CN" altLang="en-US" dirty="0">
              <a:latin typeface="Tahoma" panose="020B0604030504040204" pitchFamily="34" charset="0"/>
            </a:endParaRPr>
          </a:p>
          <a:p>
            <a:pPr marL="742950" lvl="1" indent="-285750" eaLnBrk="1" hangingPunct="1">
              <a:lnSpc>
                <a:spcPct val="90000"/>
              </a:lnSpc>
              <a:spcBef>
                <a:spcPct val="50000"/>
              </a:spcBef>
              <a:buClr>
                <a:srgbClr val="FF3300"/>
              </a:buClr>
            </a:pPr>
            <a:r>
              <a:rPr lang="zh-CN" altLang="en-US" dirty="0">
                <a:latin typeface="Tahoma" panose="020B0604030504040204" pitchFamily="34" charset="0"/>
              </a:rPr>
              <a:t>对物理结构进行评价，评价的重点是时间和空间效率</a:t>
            </a:r>
            <a:endParaRPr lang="zh-CN" altLang="en-US" dirty="0">
              <a:latin typeface="Tahoma" panose="020B0604030504040204" pitchFamily="34" charset="0"/>
            </a:endParaRPr>
          </a:p>
          <a:p>
            <a:pPr marL="742950" lvl="1" indent="-285750" eaLnBrk="1" hangingPunct="1">
              <a:spcBef>
                <a:spcPct val="50000"/>
              </a:spcBef>
              <a:buClr>
                <a:srgbClr val="FF3300"/>
              </a:buClr>
            </a:pPr>
            <a:r>
              <a:rPr lang="zh-CN" altLang="en-US" dirty="0">
                <a:latin typeface="Tahoma" panose="020B0604030504040204" pitchFamily="34" charset="0"/>
              </a:rPr>
              <a:t>如果评价结果满足原设计要求则可进入到物理实施阶段，否则，就需要重新设计或修改物理结构，有时甚至要返回逻辑设计阶段修改数据模型。</a:t>
            </a:r>
            <a:endParaRPr lang="zh-CN" altLang="en-US" dirty="0">
              <a:latin typeface="Tahoma" panose="020B0604030504040204" pitchFamily="34" charset="0"/>
            </a:endParaRPr>
          </a:p>
        </p:txBody>
      </p:sp>
      <p:sp>
        <p:nvSpPr>
          <p:cNvPr id="84996" name="Rectangle 3"/>
          <p:cNvSpPr>
            <a:spLocks noGrp="1"/>
          </p:cNvSpPr>
          <p:nvPr>
            <p:ph type="title" idx="4294967295"/>
          </p:nvPr>
        </p:nvSpPr>
        <p:spPr>
          <a:xfrm>
            <a:off x="914400" y="0"/>
            <a:ext cx="7772400" cy="609600"/>
          </a:xfrm>
          <a:ln/>
        </p:spPr>
        <p:txBody>
          <a:bodyPr vert="horz" wrap="square" lIns="91440" tIns="45720" rIns="91440" bIns="45720" anchor="ctr" anchorCtr="0"/>
          <a:p>
            <a:pPr eaLnBrk="1" hangingPunct="1"/>
            <a:r>
              <a:rPr lang="en-US" altLang="zh-CN" dirty="0"/>
              <a:t>7.5 </a:t>
            </a:r>
            <a:r>
              <a:rPr lang="zh-CN" altLang="en-US" dirty="0"/>
              <a:t>数据库的物理设计</a:t>
            </a:r>
            <a:endParaRPr lang="zh-CN" altLang="en-US"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8" name="页脚占位符 2"/>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86019" name="Rectangle 2"/>
          <p:cNvSpPr/>
          <p:nvPr/>
        </p:nvSpPr>
        <p:spPr>
          <a:xfrm>
            <a:off x="685800" y="1600200"/>
            <a:ext cx="7848600" cy="44196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342900" lvl="0" indent="-342900" eaLnBrk="1" hangingPunct="1">
              <a:lnSpc>
                <a:spcPct val="140000"/>
              </a:lnSpc>
              <a:buClr>
                <a:schemeClr val="folHlink"/>
              </a:buClr>
              <a:buSzPct val="60000"/>
              <a:buNone/>
            </a:pPr>
            <a:r>
              <a:rPr lang="en-US" altLang="zh-CN" dirty="0"/>
              <a:t>7.5.1  </a:t>
            </a:r>
            <a:r>
              <a:rPr lang="zh-CN" altLang="en-US" dirty="0"/>
              <a:t>数据库的物理设计的内容和方法</a:t>
            </a:r>
            <a:endParaRPr lang="zh-CN" altLang="en-US" dirty="0"/>
          </a:p>
          <a:p>
            <a:pPr marL="342900" lvl="0" indent="-342900" eaLnBrk="1" hangingPunct="1">
              <a:lnSpc>
                <a:spcPct val="140000"/>
              </a:lnSpc>
              <a:buClr>
                <a:schemeClr val="folHlink"/>
              </a:buClr>
              <a:buSzPct val="60000"/>
              <a:buNone/>
            </a:pPr>
            <a:r>
              <a:rPr lang="en-US" altLang="zh-CN" dirty="0">
                <a:solidFill>
                  <a:schemeClr val="tx1"/>
                </a:solidFill>
              </a:rPr>
              <a:t>7.5.2  </a:t>
            </a:r>
            <a:r>
              <a:rPr lang="zh-CN" altLang="en-US" dirty="0">
                <a:solidFill>
                  <a:schemeClr val="tx1"/>
                </a:solidFill>
              </a:rPr>
              <a:t>关系模式存取方法选择</a:t>
            </a:r>
            <a:endParaRPr lang="zh-CN" altLang="en-US" dirty="0">
              <a:solidFill>
                <a:schemeClr val="tx1"/>
              </a:solidFill>
            </a:endParaRPr>
          </a:p>
          <a:p>
            <a:pPr marL="342900" lvl="0" indent="-342900" eaLnBrk="1" hangingPunct="1">
              <a:lnSpc>
                <a:spcPct val="140000"/>
              </a:lnSpc>
              <a:buClr>
                <a:schemeClr val="folHlink"/>
              </a:buClr>
              <a:buSzPct val="60000"/>
              <a:buNone/>
            </a:pPr>
            <a:r>
              <a:rPr lang="en-US" altLang="zh-CN" dirty="0">
                <a:solidFill>
                  <a:schemeClr val="tx1"/>
                </a:solidFill>
              </a:rPr>
              <a:t>7.5.3  </a:t>
            </a:r>
            <a:r>
              <a:rPr lang="zh-CN" altLang="en-US" dirty="0">
                <a:solidFill>
                  <a:schemeClr val="tx1"/>
                </a:solidFill>
              </a:rPr>
              <a:t>确定数据库的存储结构</a:t>
            </a:r>
            <a:endParaRPr lang="zh-CN" altLang="en-US" dirty="0">
              <a:solidFill>
                <a:schemeClr val="tx1"/>
              </a:solidFill>
            </a:endParaRPr>
          </a:p>
          <a:p>
            <a:pPr marL="342900" lvl="0" indent="-342900" eaLnBrk="1" hangingPunct="1">
              <a:lnSpc>
                <a:spcPct val="140000"/>
              </a:lnSpc>
              <a:buClr>
                <a:schemeClr val="folHlink"/>
              </a:buClr>
              <a:buSzPct val="60000"/>
              <a:buNone/>
            </a:pPr>
            <a:r>
              <a:rPr lang="en-US" altLang="zh-CN" dirty="0">
                <a:solidFill>
                  <a:schemeClr val="tx1"/>
                </a:solidFill>
              </a:rPr>
              <a:t>7.5.4  </a:t>
            </a:r>
            <a:r>
              <a:rPr lang="zh-CN" altLang="en-US" dirty="0">
                <a:solidFill>
                  <a:schemeClr val="tx1"/>
                </a:solidFill>
              </a:rPr>
              <a:t>评价物理结构</a:t>
            </a:r>
            <a:endParaRPr lang="zh-CN" altLang="en-US" dirty="0">
              <a:solidFill>
                <a:schemeClr val="tx1"/>
              </a:solidFill>
            </a:endParaRPr>
          </a:p>
        </p:txBody>
      </p:sp>
      <p:sp>
        <p:nvSpPr>
          <p:cNvPr id="86020" name="Rectangle 3"/>
          <p:cNvSpPr>
            <a:spLocks noGrp="1"/>
          </p:cNvSpPr>
          <p:nvPr>
            <p:ph type="title" idx="4294967295"/>
          </p:nvPr>
        </p:nvSpPr>
        <p:spPr>
          <a:ln/>
        </p:spPr>
        <p:txBody>
          <a:bodyPr vert="horz" wrap="square" lIns="91440" tIns="45720" rIns="91440" bIns="45720" anchor="ctr" anchorCtr="0"/>
          <a:p>
            <a:pPr eaLnBrk="1" hangingPunct="1"/>
            <a:r>
              <a:rPr lang="en-US" altLang="zh-CN" dirty="0"/>
              <a:t>7.5 </a:t>
            </a:r>
            <a:r>
              <a:rPr lang="zh-CN" altLang="en-US" dirty="0"/>
              <a:t>数据库的物理设计</a:t>
            </a:r>
            <a:endParaRPr lang="zh-CN" altLang="en-US"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页脚占位符 2"/>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87043" name="Rectangle 2"/>
          <p:cNvSpPr/>
          <p:nvPr/>
        </p:nvSpPr>
        <p:spPr>
          <a:xfrm>
            <a:off x="228600" y="914400"/>
            <a:ext cx="8686800" cy="48006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342900" lvl="0" indent="-342900" eaLnBrk="1" hangingPunct="1"/>
            <a:r>
              <a:rPr lang="zh-CN" altLang="en-US" sz="3600" dirty="0">
                <a:solidFill>
                  <a:schemeClr val="tx1"/>
                </a:solidFill>
                <a:latin typeface="Tahoma" panose="020B0604030504040204" pitchFamily="34" charset="0"/>
              </a:rPr>
              <a:t>关系数据库物理设计的内容</a:t>
            </a:r>
            <a:endParaRPr lang="zh-CN" altLang="en-US" sz="3600" dirty="0">
              <a:solidFill>
                <a:schemeClr val="tx1"/>
              </a:solidFill>
              <a:latin typeface="Tahoma" panose="020B0604030504040204" pitchFamily="34" charset="0"/>
            </a:endParaRPr>
          </a:p>
          <a:p>
            <a:pPr marL="742950" lvl="1" indent="-285750" eaLnBrk="1" hangingPunct="1">
              <a:lnSpc>
                <a:spcPct val="160000"/>
              </a:lnSpc>
              <a:buClr>
                <a:srgbClr val="FF3300"/>
              </a:buClr>
            </a:pPr>
            <a:r>
              <a:rPr lang="zh-CN" altLang="en-US" dirty="0">
                <a:latin typeface="Tahoma" panose="020B0604030504040204" pitchFamily="34" charset="0"/>
              </a:rPr>
              <a:t>为关系模式选择</a:t>
            </a:r>
            <a:r>
              <a:rPr lang="zh-CN" altLang="en-US" dirty="0">
                <a:solidFill>
                  <a:schemeClr val="accent2"/>
                </a:solidFill>
                <a:latin typeface="Tahoma" panose="020B0604030504040204" pitchFamily="34" charset="0"/>
              </a:rPr>
              <a:t>存取方法</a:t>
            </a:r>
            <a:r>
              <a:rPr lang="en-US" altLang="zh-CN" dirty="0">
                <a:latin typeface="Tahoma" panose="020B0604030504040204" pitchFamily="34" charset="0"/>
              </a:rPr>
              <a:t>(</a:t>
            </a:r>
            <a:r>
              <a:rPr lang="zh-CN" altLang="en-US" dirty="0">
                <a:latin typeface="Tahoma" panose="020B0604030504040204" pitchFamily="34" charset="0"/>
              </a:rPr>
              <a:t>建立存取路径</a:t>
            </a:r>
            <a:r>
              <a:rPr lang="en-US" altLang="zh-CN" dirty="0">
                <a:latin typeface="Tahoma" panose="020B0604030504040204" pitchFamily="34" charset="0"/>
              </a:rPr>
              <a:t>)</a:t>
            </a:r>
            <a:endParaRPr lang="en-US" altLang="zh-CN" dirty="0">
              <a:latin typeface="Tahoma" panose="020B0604030504040204" pitchFamily="34" charset="0"/>
            </a:endParaRPr>
          </a:p>
          <a:p>
            <a:pPr marL="742950" lvl="1" indent="-285750" eaLnBrk="1" hangingPunct="1">
              <a:lnSpc>
                <a:spcPct val="160000"/>
              </a:lnSpc>
              <a:buClr>
                <a:srgbClr val="FF3300"/>
              </a:buClr>
            </a:pPr>
            <a:r>
              <a:rPr lang="zh-CN" altLang="en-US" dirty="0">
                <a:latin typeface="Tahoma" panose="020B0604030504040204" pitchFamily="34" charset="0"/>
              </a:rPr>
              <a:t>设计关系、索引等数据库文件的</a:t>
            </a:r>
            <a:r>
              <a:rPr lang="zh-CN" altLang="en-US" dirty="0">
                <a:solidFill>
                  <a:schemeClr val="accent2"/>
                </a:solidFill>
                <a:latin typeface="Tahoma" panose="020B0604030504040204" pitchFamily="34" charset="0"/>
              </a:rPr>
              <a:t>物理存储结构</a:t>
            </a:r>
            <a:endParaRPr lang="zh-CN" altLang="en-US" dirty="0">
              <a:solidFill>
                <a:schemeClr val="accent2"/>
              </a:solidFill>
              <a:latin typeface="Tahoma" panose="020B0604030504040204" pitchFamily="34" charset="0"/>
            </a:endParaRPr>
          </a:p>
        </p:txBody>
      </p:sp>
      <p:sp>
        <p:nvSpPr>
          <p:cNvPr id="87044" name="Rectangle 3"/>
          <p:cNvSpPr>
            <a:spLocks noGrp="1"/>
          </p:cNvSpPr>
          <p:nvPr>
            <p:ph type="title" idx="4294967295"/>
          </p:nvPr>
        </p:nvSpPr>
        <p:spPr>
          <a:xfrm>
            <a:off x="914400" y="0"/>
            <a:ext cx="7772400" cy="609600"/>
          </a:xfrm>
          <a:ln/>
        </p:spPr>
        <p:txBody>
          <a:bodyPr vert="horz" wrap="square" lIns="91440" tIns="45720" rIns="91440" bIns="45720" anchor="ctr" anchorCtr="0"/>
          <a:p>
            <a:pPr eaLnBrk="1" hangingPunct="1"/>
            <a:r>
              <a:rPr lang="en-US" altLang="zh-CN" dirty="0"/>
              <a:t>7.5.1 </a:t>
            </a:r>
            <a:r>
              <a:rPr lang="zh-CN" altLang="en-US" dirty="0"/>
              <a:t>物理设计的方法与内容</a:t>
            </a:r>
            <a:endParaRPr lang="zh-CN" altLang="en-US"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6" name="页脚占位符 2"/>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88067" name="Rectangle 2"/>
          <p:cNvSpPr/>
          <p:nvPr/>
        </p:nvSpPr>
        <p:spPr>
          <a:xfrm>
            <a:off x="685800" y="1600200"/>
            <a:ext cx="7848600" cy="44196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342900" lvl="0" indent="-342900" eaLnBrk="1" hangingPunct="1">
              <a:lnSpc>
                <a:spcPct val="140000"/>
              </a:lnSpc>
              <a:buClr>
                <a:schemeClr val="folHlink"/>
              </a:buClr>
              <a:buSzPct val="60000"/>
              <a:buNone/>
            </a:pPr>
            <a:r>
              <a:rPr lang="en-US" altLang="zh-CN" dirty="0">
                <a:solidFill>
                  <a:schemeClr val="tx1"/>
                </a:solidFill>
              </a:rPr>
              <a:t>7.5.1  </a:t>
            </a:r>
            <a:r>
              <a:rPr lang="zh-CN" altLang="en-US" dirty="0">
                <a:solidFill>
                  <a:schemeClr val="tx1"/>
                </a:solidFill>
              </a:rPr>
              <a:t>数据库的物理设计的内容和方法</a:t>
            </a:r>
            <a:endParaRPr lang="zh-CN" altLang="en-US" dirty="0">
              <a:solidFill>
                <a:schemeClr val="tx1"/>
              </a:solidFill>
            </a:endParaRPr>
          </a:p>
          <a:p>
            <a:pPr marL="342900" lvl="0" indent="-342900" eaLnBrk="1" hangingPunct="1">
              <a:lnSpc>
                <a:spcPct val="140000"/>
              </a:lnSpc>
              <a:buClr>
                <a:schemeClr val="folHlink"/>
              </a:buClr>
              <a:buSzPct val="60000"/>
              <a:buNone/>
            </a:pPr>
            <a:r>
              <a:rPr lang="en-US" altLang="zh-CN" dirty="0"/>
              <a:t>7.5.2  </a:t>
            </a:r>
            <a:r>
              <a:rPr lang="zh-CN" altLang="en-US" dirty="0"/>
              <a:t>关系模式存取方法选择</a:t>
            </a:r>
            <a:endParaRPr lang="zh-CN" altLang="en-US" dirty="0"/>
          </a:p>
          <a:p>
            <a:pPr marL="342900" lvl="0" indent="-342900" eaLnBrk="1" hangingPunct="1">
              <a:lnSpc>
                <a:spcPct val="140000"/>
              </a:lnSpc>
              <a:buClr>
                <a:schemeClr val="folHlink"/>
              </a:buClr>
              <a:buSzPct val="60000"/>
              <a:buNone/>
            </a:pPr>
            <a:r>
              <a:rPr lang="en-US" altLang="zh-CN" dirty="0">
                <a:solidFill>
                  <a:schemeClr val="tx1"/>
                </a:solidFill>
              </a:rPr>
              <a:t>7.5.3  </a:t>
            </a:r>
            <a:r>
              <a:rPr lang="zh-CN" altLang="en-US" dirty="0">
                <a:solidFill>
                  <a:schemeClr val="tx1"/>
                </a:solidFill>
              </a:rPr>
              <a:t>确定数据库的存储结构</a:t>
            </a:r>
            <a:endParaRPr lang="zh-CN" altLang="en-US" dirty="0">
              <a:solidFill>
                <a:schemeClr val="tx1"/>
              </a:solidFill>
            </a:endParaRPr>
          </a:p>
          <a:p>
            <a:pPr marL="342900" lvl="0" indent="-342900" eaLnBrk="1" hangingPunct="1">
              <a:lnSpc>
                <a:spcPct val="140000"/>
              </a:lnSpc>
              <a:buClr>
                <a:schemeClr val="folHlink"/>
              </a:buClr>
              <a:buSzPct val="60000"/>
              <a:buNone/>
            </a:pPr>
            <a:r>
              <a:rPr lang="en-US" altLang="zh-CN" dirty="0">
                <a:solidFill>
                  <a:schemeClr val="tx1"/>
                </a:solidFill>
              </a:rPr>
              <a:t>7.5.4  </a:t>
            </a:r>
            <a:r>
              <a:rPr lang="zh-CN" altLang="en-US" dirty="0">
                <a:solidFill>
                  <a:schemeClr val="tx1"/>
                </a:solidFill>
              </a:rPr>
              <a:t>评价物理结构</a:t>
            </a:r>
            <a:endParaRPr lang="zh-CN" altLang="en-US" dirty="0">
              <a:solidFill>
                <a:schemeClr val="tx1"/>
              </a:solidFill>
            </a:endParaRPr>
          </a:p>
        </p:txBody>
      </p:sp>
      <p:sp>
        <p:nvSpPr>
          <p:cNvPr id="88068" name="Rectangle 3"/>
          <p:cNvSpPr>
            <a:spLocks noGrp="1"/>
          </p:cNvSpPr>
          <p:nvPr>
            <p:ph type="title" idx="4294967295"/>
          </p:nvPr>
        </p:nvSpPr>
        <p:spPr>
          <a:ln/>
        </p:spPr>
        <p:txBody>
          <a:bodyPr vert="horz" wrap="square" lIns="91440" tIns="45720" rIns="91440" bIns="45720" anchor="ctr" anchorCtr="0"/>
          <a:p>
            <a:pPr eaLnBrk="1" hangingPunct="1"/>
            <a:r>
              <a:rPr lang="en-US" altLang="zh-CN" dirty="0"/>
              <a:t>7.5 </a:t>
            </a:r>
            <a:r>
              <a:rPr lang="zh-CN" altLang="en-US" dirty="0"/>
              <a:t>数据库的物理设计</a:t>
            </a:r>
            <a:endParaRPr lang="zh-CN" altLang="en-US"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9090" name="页脚占位符 2"/>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89091" name="Rectangle 2"/>
          <p:cNvSpPr/>
          <p:nvPr/>
        </p:nvSpPr>
        <p:spPr>
          <a:xfrm>
            <a:off x="228600" y="914400"/>
            <a:ext cx="8686800" cy="48006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342900" lvl="0" indent="-342900" eaLnBrk="1" hangingPunct="1"/>
            <a:r>
              <a:rPr lang="en-US" altLang="zh-CN" sz="3600" dirty="0">
                <a:solidFill>
                  <a:schemeClr val="tx1"/>
                </a:solidFill>
                <a:latin typeface="Arial" panose="020B0604020202020204" pitchFamily="34" charset="0"/>
              </a:rPr>
              <a:t>DBMS</a:t>
            </a:r>
            <a:r>
              <a:rPr lang="zh-CN" altLang="en-US" sz="3600" dirty="0">
                <a:solidFill>
                  <a:schemeClr val="tx1"/>
                </a:solidFill>
                <a:latin typeface="Arial" panose="020B0604020202020204" pitchFamily="34" charset="0"/>
              </a:rPr>
              <a:t>常用存取方法</a:t>
            </a:r>
            <a:endParaRPr lang="zh-CN" altLang="en-US" sz="3600" dirty="0">
              <a:solidFill>
                <a:schemeClr val="tx1"/>
              </a:solidFill>
              <a:latin typeface="Arial" panose="020B0604020202020204" pitchFamily="34" charset="0"/>
            </a:endParaRPr>
          </a:p>
          <a:p>
            <a:pPr marL="742950" lvl="1" indent="-285750" eaLnBrk="1" hangingPunct="1">
              <a:lnSpc>
                <a:spcPct val="140000"/>
              </a:lnSpc>
              <a:buClr>
                <a:srgbClr val="FF3300"/>
              </a:buClr>
            </a:pPr>
            <a:r>
              <a:rPr lang="zh-CN" altLang="en-US" dirty="0">
                <a:latin typeface="Arial" panose="020B0604020202020204" pitchFamily="34" charset="0"/>
              </a:rPr>
              <a:t>索引方法，目前主要是</a:t>
            </a:r>
            <a:r>
              <a:rPr lang="en-US" altLang="zh-CN" dirty="0">
                <a:latin typeface="Arial" panose="020B0604020202020204" pitchFamily="34" charset="0"/>
              </a:rPr>
              <a:t>B+</a:t>
            </a:r>
            <a:r>
              <a:rPr lang="zh-CN" altLang="en-US" dirty="0">
                <a:latin typeface="Arial" panose="020B0604020202020204" pitchFamily="34" charset="0"/>
              </a:rPr>
              <a:t>树索引方法</a:t>
            </a:r>
            <a:endParaRPr lang="zh-CN" altLang="en-US" dirty="0">
              <a:latin typeface="Arial" panose="020B0604020202020204" pitchFamily="34" charset="0"/>
            </a:endParaRPr>
          </a:p>
          <a:p>
            <a:pPr marL="742950" lvl="1" indent="-285750" eaLnBrk="1" hangingPunct="1">
              <a:lnSpc>
                <a:spcPct val="140000"/>
              </a:lnSpc>
              <a:buClr>
                <a:srgbClr val="FF3300"/>
              </a:buClr>
            </a:pPr>
            <a:r>
              <a:rPr lang="zh-CN" altLang="en-US" dirty="0">
                <a:latin typeface="Arial" panose="020B0604020202020204" pitchFamily="34" charset="0"/>
              </a:rPr>
              <a:t>聚簇（</a:t>
            </a:r>
            <a:r>
              <a:rPr lang="en-US" altLang="zh-CN" dirty="0">
                <a:latin typeface="Arial" panose="020B0604020202020204" pitchFamily="34" charset="0"/>
              </a:rPr>
              <a:t>Cluster</a:t>
            </a:r>
            <a:r>
              <a:rPr lang="zh-CN" altLang="en-US" dirty="0">
                <a:latin typeface="Arial" panose="020B0604020202020204" pitchFamily="34" charset="0"/>
              </a:rPr>
              <a:t>）方法</a:t>
            </a:r>
            <a:endParaRPr lang="zh-CN" altLang="en-US" dirty="0">
              <a:latin typeface="Arial" panose="020B0604020202020204" pitchFamily="34" charset="0"/>
            </a:endParaRPr>
          </a:p>
          <a:p>
            <a:pPr marL="742950" lvl="1" indent="-285750" eaLnBrk="1" hangingPunct="1">
              <a:lnSpc>
                <a:spcPct val="140000"/>
              </a:lnSpc>
              <a:buClr>
                <a:srgbClr val="FF3300"/>
              </a:buClr>
            </a:pPr>
            <a:r>
              <a:rPr lang="en-US" altLang="zh-CN" dirty="0">
                <a:latin typeface="Arial" panose="020B0604020202020204" pitchFamily="34" charset="0"/>
              </a:rPr>
              <a:t>HASH</a:t>
            </a:r>
            <a:r>
              <a:rPr lang="zh-CN" altLang="en-US" dirty="0">
                <a:latin typeface="Arial" panose="020B0604020202020204" pitchFamily="34" charset="0"/>
              </a:rPr>
              <a:t>方法</a:t>
            </a:r>
            <a:endParaRPr lang="zh-CN" altLang="en-US" dirty="0">
              <a:latin typeface="Arial" panose="020B0604020202020204" pitchFamily="34" charset="0"/>
            </a:endParaRPr>
          </a:p>
        </p:txBody>
      </p:sp>
      <p:sp>
        <p:nvSpPr>
          <p:cNvPr id="89092" name="Rectangle 3"/>
          <p:cNvSpPr>
            <a:spLocks noGrp="1"/>
          </p:cNvSpPr>
          <p:nvPr>
            <p:ph type="title" idx="4294967295"/>
          </p:nvPr>
        </p:nvSpPr>
        <p:spPr>
          <a:xfrm>
            <a:off x="914400" y="0"/>
            <a:ext cx="7772400" cy="609600"/>
          </a:xfrm>
          <a:ln/>
        </p:spPr>
        <p:txBody>
          <a:bodyPr vert="horz" wrap="square" lIns="91440" tIns="45720" rIns="91440" bIns="45720" anchor="ctr" anchorCtr="0"/>
          <a:p>
            <a:pPr eaLnBrk="1" hangingPunct="1"/>
            <a:r>
              <a:rPr lang="en-US" altLang="zh-CN" dirty="0"/>
              <a:t>7.5.2 </a:t>
            </a:r>
            <a:r>
              <a:rPr lang="zh-CN" altLang="en-US" dirty="0"/>
              <a:t>关系模式存取方法的选择</a:t>
            </a:r>
            <a:endParaRPr lang="zh-CN" altLang="en-US"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4" name="页脚占位符 2"/>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90115" name="Rectangle 2"/>
          <p:cNvSpPr/>
          <p:nvPr/>
        </p:nvSpPr>
        <p:spPr>
          <a:xfrm>
            <a:off x="228600" y="914400"/>
            <a:ext cx="8686800" cy="48006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342900" lvl="0" indent="-342900" eaLnBrk="1" hangingPunct="1"/>
            <a:r>
              <a:rPr lang="zh-CN" altLang="en-US" sz="3600" dirty="0">
                <a:solidFill>
                  <a:schemeClr val="tx1"/>
                </a:solidFill>
                <a:latin typeface="Arial" panose="020B0604020202020204" pitchFamily="34" charset="0"/>
              </a:rPr>
              <a:t>索引存取方法的选择</a:t>
            </a:r>
            <a:endParaRPr lang="zh-CN" altLang="en-US" sz="3600" dirty="0">
              <a:solidFill>
                <a:schemeClr val="tx1"/>
              </a:solidFill>
              <a:latin typeface="Arial" panose="020B0604020202020204" pitchFamily="34" charset="0"/>
            </a:endParaRPr>
          </a:p>
          <a:p>
            <a:pPr marL="742950" lvl="1" indent="-285750" eaLnBrk="1" hangingPunct="1">
              <a:lnSpc>
                <a:spcPct val="140000"/>
              </a:lnSpc>
              <a:buClr>
                <a:srgbClr val="0000CC"/>
              </a:buClr>
              <a:buSzPct val="55000"/>
              <a:buFont typeface="Wingdings" panose="05000000000000000000" pitchFamily="2" charset="2"/>
              <a:buChar char="n"/>
            </a:pPr>
            <a:r>
              <a:rPr lang="zh-CN" altLang="en-US" dirty="0">
                <a:latin typeface="Tahoma" panose="020B0604030504040204" pitchFamily="34" charset="0"/>
              </a:rPr>
              <a:t>对哪些属性列建立索引</a:t>
            </a:r>
            <a:endParaRPr lang="zh-CN" altLang="en-US" dirty="0">
              <a:latin typeface="Tahoma" panose="020B0604030504040204" pitchFamily="34" charset="0"/>
            </a:endParaRPr>
          </a:p>
          <a:p>
            <a:pPr marL="742950" lvl="1" indent="-285750" eaLnBrk="1" hangingPunct="1">
              <a:lnSpc>
                <a:spcPct val="140000"/>
              </a:lnSpc>
              <a:buClr>
                <a:srgbClr val="0000CC"/>
              </a:buClr>
              <a:buSzPct val="55000"/>
              <a:buFont typeface="Wingdings" panose="05000000000000000000" pitchFamily="2" charset="2"/>
              <a:buChar char="n"/>
            </a:pPr>
            <a:r>
              <a:rPr lang="zh-CN" altLang="en-US" dirty="0">
                <a:latin typeface="Tahoma" panose="020B0604030504040204" pitchFamily="34" charset="0"/>
              </a:rPr>
              <a:t> 对哪些属性列建立组合索引</a:t>
            </a:r>
            <a:endParaRPr lang="zh-CN" altLang="en-US" dirty="0">
              <a:latin typeface="Tahoma" panose="020B0604030504040204" pitchFamily="34" charset="0"/>
            </a:endParaRPr>
          </a:p>
          <a:p>
            <a:pPr marL="742950" lvl="1" indent="-285750" eaLnBrk="1" hangingPunct="1">
              <a:lnSpc>
                <a:spcPct val="140000"/>
              </a:lnSpc>
              <a:buClr>
                <a:srgbClr val="0000CC"/>
              </a:buClr>
              <a:buSzPct val="55000"/>
              <a:buFont typeface="Wingdings" panose="05000000000000000000" pitchFamily="2" charset="2"/>
              <a:buChar char="n"/>
            </a:pPr>
            <a:r>
              <a:rPr lang="zh-CN" altLang="en-US" dirty="0">
                <a:latin typeface="Tahoma" panose="020B0604030504040204" pitchFamily="34" charset="0"/>
              </a:rPr>
              <a:t> 对哪些索引要设计为唯一索引</a:t>
            </a:r>
            <a:endParaRPr lang="zh-CN" altLang="en-US" dirty="0">
              <a:latin typeface="Tahoma" panose="020B0604030504040204" pitchFamily="34" charset="0"/>
            </a:endParaRPr>
          </a:p>
        </p:txBody>
      </p:sp>
      <p:sp>
        <p:nvSpPr>
          <p:cNvPr id="90116" name="Rectangle 3"/>
          <p:cNvSpPr>
            <a:spLocks noGrp="1"/>
          </p:cNvSpPr>
          <p:nvPr>
            <p:ph type="title" idx="4294967295"/>
          </p:nvPr>
        </p:nvSpPr>
        <p:spPr>
          <a:xfrm>
            <a:off x="914400" y="0"/>
            <a:ext cx="7772400" cy="609600"/>
          </a:xfrm>
          <a:ln/>
        </p:spPr>
        <p:txBody>
          <a:bodyPr vert="horz" wrap="square" lIns="91440" tIns="45720" rIns="91440" bIns="45720" anchor="ctr" anchorCtr="0"/>
          <a:p>
            <a:pPr eaLnBrk="1" hangingPunct="1"/>
            <a:r>
              <a:rPr lang="en-US" altLang="zh-CN" dirty="0"/>
              <a:t>7.5.2 </a:t>
            </a:r>
            <a:r>
              <a:rPr lang="zh-CN" altLang="en-US" dirty="0"/>
              <a:t>关系模式存取方法的选择</a:t>
            </a:r>
            <a:endParaRPr lang="zh-CN" altLang="en-US"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8" name="页脚占位符 2"/>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91139" name="Rectangle 2"/>
          <p:cNvSpPr/>
          <p:nvPr/>
        </p:nvSpPr>
        <p:spPr>
          <a:xfrm>
            <a:off x="228600" y="914400"/>
            <a:ext cx="8686800" cy="48006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342900" lvl="0" indent="-342900" eaLnBrk="1" hangingPunct="1"/>
            <a:r>
              <a:rPr lang="zh-CN" altLang="en-US" dirty="0">
                <a:solidFill>
                  <a:schemeClr val="tx1"/>
                </a:solidFill>
                <a:latin typeface="Tahoma" panose="020B0604030504040204" pitchFamily="34" charset="0"/>
              </a:rPr>
              <a:t>选择索引存取方法的一般规则</a:t>
            </a:r>
            <a:endParaRPr lang="zh-CN" altLang="en-US" sz="2800" dirty="0">
              <a:solidFill>
                <a:schemeClr val="tx1"/>
              </a:solidFill>
              <a:latin typeface="Tahoma" panose="020B0604030504040204" pitchFamily="34" charset="0"/>
            </a:endParaRPr>
          </a:p>
          <a:p>
            <a:pPr marL="742950" lvl="1" indent="-285750" eaLnBrk="1" hangingPunct="1">
              <a:buClr>
                <a:srgbClr val="0000CC"/>
              </a:buClr>
            </a:pPr>
            <a:r>
              <a:rPr lang="zh-CN" altLang="en-US" dirty="0">
                <a:latin typeface="Tahoma" panose="020B0604030504040204" pitchFamily="34" charset="0"/>
              </a:rPr>
              <a:t>如果一个</a:t>
            </a:r>
            <a:r>
              <a:rPr lang="en-US" altLang="zh-CN" dirty="0">
                <a:latin typeface="Tahoma" panose="020B0604030504040204" pitchFamily="34" charset="0"/>
              </a:rPr>
              <a:t>(</a:t>
            </a:r>
            <a:r>
              <a:rPr lang="zh-CN" altLang="en-US" dirty="0">
                <a:latin typeface="Tahoma" panose="020B0604030504040204" pitchFamily="34" charset="0"/>
              </a:rPr>
              <a:t>或一组</a:t>
            </a:r>
            <a:r>
              <a:rPr lang="en-US" altLang="zh-CN" dirty="0">
                <a:latin typeface="Tahoma" panose="020B0604030504040204" pitchFamily="34" charset="0"/>
              </a:rPr>
              <a:t>)</a:t>
            </a:r>
            <a:r>
              <a:rPr lang="zh-CN" altLang="en-US" dirty="0">
                <a:latin typeface="Tahoma" panose="020B0604030504040204" pitchFamily="34" charset="0"/>
              </a:rPr>
              <a:t>属性经常在查询条件中出现，则考虑在这个</a:t>
            </a:r>
            <a:r>
              <a:rPr lang="en-US" altLang="zh-CN" dirty="0">
                <a:latin typeface="Tahoma" panose="020B0604030504040204" pitchFamily="34" charset="0"/>
              </a:rPr>
              <a:t>(</a:t>
            </a:r>
            <a:r>
              <a:rPr lang="zh-CN" altLang="en-US" dirty="0">
                <a:latin typeface="Tahoma" panose="020B0604030504040204" pitchFamily="34" charset="0"/>
              </a:rPr>
              <a:t>或这组</a:t>
            </a:r>
            <a:r>
              <a:rPr lang="en-US" altLang="zh-CN" dirty="0">
                <a:latin typeface="Tahoma" panose="020B0604030504040204" pitchFamily="34" charset="0"/>
              </a:rPr>
              <a:t>)</a:t>
            </a:r>
            <a:r>
              <a:rPr lang="zh-CN" altLang="en-US" dirty="0">
                <a:latin typeface="Tahoma" panose="020B0604030504040204" pitchFamily="34" charset="0"/>
              </a:rPr>
              <a:t>属性上建立索引</a:t>
            </a:r>
            <a:r>
              <a:rPr lang="en-US" altLang="zh-CN" dirty="0">
                <a:latin typeface="Tahoma" panose="020B0604030504040204" pitchFamily="34" charset="0"/>
              </a:rPr>
              <a:t>(</a:t>
            </a:r>
            <a:r>
              <a:rPr lang="zh-CN" altLang="en-US" dirty="0">
                <a:latin typeface="Tahoma" panose="020B0604030504040204" pitchFamily="34" charset="0"/>
              </a:rPr>
              <a:t>或组合索引</a:t>
            </a:r>
            <a:r>
              <a:rPr lang="en-US" altLang="zh-CN" dirty="0">
                <a:latin typeface="Tahoma" panose="020B0604030504040204" pitchFamily="34" charset="0"/>
              </a:rPr>
              <a:t>)</a:t>
            </a:r>
            <a:endParaRPr lang="en-US" altLang="zh-CN" dirty="0">
              <a:latin typeface="Tahoma" panose="020B0604030504040204" pitchFamily="34" charset="0"/>
            </a:endParaRPr>
          </a:p>
          <a:p>
            <a:pPr marL="742950" lvl="1" indent="-285750" eaLnBrk="1" hangingPunct="1">
              <a:buClr>
                <a:srgbClr val="0000CC"/>
              </a:buClr>
            </a:pPr>
            <a:r>
              <a:rPr lang="zh-CN" altLang="en-US" dirty="0">
                <a:latin typeface="Tahoma" panose="020B0604030504040204" pitchFamily="34" charset="0"/>
              </a:rPr>
              <a:t>如果一个属性经常作为最大值和最小值等聚集函数的参数，则考虑在这个属性上建立索引</a:t>
            </a:r>
            <a:endParaRPr lang="zh-CN" altLang="en-US" dirty="0">
              <a:latin typeface="Tahoma" panose="020B0604030504040204" pitchFamily="34" charset="0"/>
            </a:endParaRPr>
          </a:p>
          <a:p>
            <a:pPr marL="742950" lvl="1" indent="-285750" eaLnBrk="1" hangingPunct="1">
              <a:buClr>
                <a:srgbClr val="0000CC"/>
              </a:buClr>
            </a:pPr>
            <a:r>
              <a:rPr lang="zh-CN" altLang="en-US" dirty="0">
                <a:latin typeface="Tahoma" panose="020B0604030504040204" pitchFamily="34" charset="0"/>
              </a:rPr>
              <a:t>如果一个</a:t>
            </a:r>
            <a:r>
              <a:rPr lang="en-US" altLang="zh-CN" dirty="0">
                <a:latin typeface="Tahoma" panose="020B0604030504040204" pitchFamily="34" charset="0"/>
              </a:rPr>
              <a:t>(</a:t>
            </a:r>
            <a:r>
              <a:rPr lang="zh-CN" altLang="en-US" dirty="0">
                <a:latin typeface="Tahoma" panose="020B0604030504040204" pitchFamily="34" charset="0"/>
              </a:rPr>
              <a:t>或一组</a:t>
            </a:r>
            <a:r>
              <a:rPr lang="en-US" altLang="zh-CN" dirty="0">
                <a:latin typeface="Tahoma" panose="020B0604030504040204" pitchFamily="34" charset="0"/>
              </a:rPr>
              <a:t>)</a:t>
            </a:r>
            <a:r>
              <a:rPr lang="zh-CN" altLang="en-US" dirty="0">
                <a:latin typeface="Tahoma" panose="020B0604030504040204" pitchFamily="34" charset="0"/>
              </a:rPr>
              <a:t>属性经常在连接操作的连接条件中出现，则考虑在这个</a:t>
            </a:r>
            <a:r>
              <a:rPr lang="en-US" altLang="zh-CN" dirty="0">
                <a:latin typeface="Tahoma" panose="020B0604030504040204" pitchFamily="34" charset="0"/>
              </a:rPr>
              <a:t>(</a:t>
            </a:r>
            <a:r>
              <a:rPr lang="zh-CN" altLang="en-US" dirty="0">
                <a:latin typeface="Tahoma" panose="020B0604030504040204" pitchFamily="34" charset="0"/>
              </a:rPr>
              <a:t>或这组</a:t>
            </a:r>
            <a:r>
              <a:rPr lang="en-US" altLang="zh-CN" dirty="0">
                <a:latin typeface="Tahoma" panose="020B0604030504040204" pitchFamily="34" charset="0"/>
              </a:rPr>
              <a:t>)</a:t>
            </a:r>
            <a:r>
              <a:rPr lang="zh-CN" altLang="en-US" dirty="0">
                <a:latin typeface="Tahoma" panose="020B0604030504040204" pitchFamily="34" charset="0"/>
              </a:rPr>
              <a:t>属性上建立索引</a:t>
            </a:r>
            <a:endParaRPr lang="zh-CN" altLang="en-US" dirty="0">
              <a:latin typeface="Tahoma" panose="020B0604030504040204" pitchFamily="34" charset="0"/>
            </a:endParaRPr>
          </a:p>
        </p:txBody>
      </p:sp>
      <p:sp>
        <p:nvSpPr>
          <p:cNvPr id="91140" name="Rectangle 3"/>
          <p:cNvSpPr>
            <a:spLocks noGrp="1"/>
          </p:cNvSpPr>
          <p:nvPr>
            <p:ph type="title" idx="4294967295"/>
          </p:nvPr>
        </p:nvSpPr>
        <p:spPr>
          <a:xfrm>
            <a:off x="914400" y="0"/>
            <a:ext cx="7772400" cy="609600"/>
          </a:xfrm>
          <a:ln/>
        </p:spPr>
        <p:txBody>
          <a:bodyPr vert="horz" wrap="square" lIns="91440" tIns="45720" rIns="91440" bIns="45720" anchor="ctr" anchorCtr="0"/>
          <a:p>
            <a:pPr eaLnBrk="1" hangingPunct="1"/>
            <a:r>
              <a:rPr lang="en-US" altLang="zh-CN" dirty="0"/>
              <a:t>7.5.2 </a:t>
            </a:r>
            <a:r>
              <a:rPr lang="zh-CN" altLang="en-US" dirty="0"/>
              <a:t>关系模式存取方法的选择</a:t>
            </a:r>
            <a:endParaRPr lang="zh-CN" altLang="en-US"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2" name="页脚占位符 2"/>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92163" name="Rectangle 2"/>
          <p:cNvSpPr/>
          <p:nvPr/>
        </p:nvSpPr>
        <p:spPr>
          <a:xfrm>
            <a:off x="228600" y="914400"/>
            <a:ext cx="8686800" cy="48006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342900" lvl="0" indent="-342900" eaLnBrk="1" hangingPunct="1"/>
            <a:r>
              <a:rPr lang="zh-CN" altLang="en-US" sz="3600" dirty="0">
                <a:solidFill>
                  <a:schemeClr val="tx1"/>
                </a:solidFill>
                <a:latin typeface="Tahoma" panose="020B0604030504040204" pitchFamily="34" charset="0"/>
              </a:rPr>
              <a:t>关系上定义的索引数过多会带来较多的额外开销</a:t>
            </a:r>
            <a:endParaRPr lang="zh-CN" altLang="en-US" sz="3600" dirty="0">
              <a:solidFill>
                <a:schemeClr val="tx1"/>
              </a:solidFill>
              <a:latin typeface="Tahoma" panose="020B0604030504040204" pitchFamily="34" charset="0"/>
            </a:endParaRPr>
          </a:p>
          <a:p>
            <a:pPr marL="742950" lvl="1" indent="-285750" eaLnBrk="1" hangingPunct="1">
              <a:lnSpc>
                <a:spcPct val="170000"/>
              </a:lnSpc>
              <a:buClr>
                <a:srgbClr val="FF3300"/>
              </a:buClr>
            </a:pPr>
            <a:r>
              <a:rPr lang="zh-CN" altLang="en-US" dirty="0">
                <a:latin typeface="Tahoma" panose="020B0604030504040204" pitchFamily="34" charset="0"/>
              </a:rPr>
              <a:t> 维护索引的开销</a:t>
            </a:r>
            <a:endParaRPr lang="zh-CN" altLang="en-US" dirty="0">
              <a:latin typeface="Tahoma" panose="020B0604030504040204" pitchFamily="34" charset="0"/>
            </a:endParaRPr>
          </a:p>
          <a:p>
            <a:pPr marL="742950" lvl="1" indent="-285750" eaLnBrk="1" hangingPunct="1">
              <a:lnSpc>
                <a:spcPct val="170000"/>
              </a:lnSpc>
              <a:buClr>
                <a:srgbClr val="FF3300"/>
              </a:buClr>
            </a:pPr>
            <a:r>
              <a:rPr lang="zh-CN" altLang="en-US" dirty="0">
                <a:latin typeface="Tahoma" panose="020B0604030504040204" pitchFamily="34" charset="0"/>
              </a:rPr>
              <a:t> 查找索引的开销</a:t>
            </a:r>
            <a:endParaRPr lang="zh-CN" altLang="en-US" dirty="0">
              <a:latin typeface="Tahoma" panose="020B0604030504040204" pitchFamily="34" charset="0"/>
            </a:endParaRPr>
          </a:p>
        </p:txBody>
      </p:sp>
      <p:sp>
        <p:nvSpPr>
          <p:cNvPr id="92164" name="Rectangle 3"/>
          <p:cNvSpPr>
            <a:spLocks noGrp="1"/>
          </p:cNvSpPr>
          <p:nvPr>
            <p:ph type="title" idx="4294967295"/>
          </p:nvPr>
        </p:nvSpPr>
        <p:spPr>
          <a:xfrm>
            <a:off x="914400" y="0"/>
            <a:ext cx="7772400" cy="609600"/>
          </a:xfrm>
          <a:ln/>
        </p:spPr>
        <p:txBody>
          <a:bodyPr vert="horz" wrap="square" lIns="91440" tIns="45720" rIns="91440" bIns="45720" anchor="ctr" anchorCtr="0"/>
          <a:p>
            <a:pPr eaLnBrk="1" hangingPunct="1"/>
            <a:r>
              <a:rPr lang="en-US" altLang="zh-CN" dirty="0"/>
              <a:t>7.5.2 </a:t>
            </a:r>
            <a:r>
              <a:rPr lang="zh-CN" altLang="en-US" dirty="0"/>
              <a:t>关系模式存取方法的选择</a:t>
            </a:r>
            <a:endParaRPr lang="zh-CN" altLang="en-US"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6" name="页脚占位符 2"/>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93187" name="Rectangle 2"/>
          <p:cNvSpPr/>
          <p:nvPr/>
        </p:nvSpPr>
        <p:spPr>
          <a:xfrm>
            <a:off x="228600" y="914400"/>
            <a:ext cx="8686800" cy="48006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342900" lvl="0" indent="-342900" eaLnBrk="1" hangingPunct="1"/>
            <a:r>
              <a:rPr lang="zh-CN" altLang="en-US" sz="3600" dirty="0">
                <a:solidFill>
                  <a:schemeClr val="tx1"/>
                </a:solidFill>
                <a:latin typeface="Tahoma" panose="020B0604030504040204" pitchFamily="34" charset="0"/>
              </a:rPr>
              <a:t>聚簇存取方法的选择</a:t>
            </a:r>
            <a:endParaRPr lang="zh-CN" altLang="en-US" sz="3600" dirty="0">
              <a:solidFill>
                <a:schemeClr val="tx1"/>
              </a:solidFill>
              <a:latin typeface="Tahoma" panose="020B0604030504040204" pitchFamily="34" charset="0"/>
            </a:endParaRPr>
          </a:p>
          <a:p>
            <a:pPr marL="742950" lvl="1" indent="-285750" eaLnBrk="1" hangingPunct="1">
              <a:lnSpc>
                <a:spcPct val="170000"/>
              </a:lnSpc>
              <a:buClr>
                <a:srgbClr val="FF3300"/>
              </a:buClr>
            </a:pPr>
            <a:r>
              <a:rPr lang="zh-CN" altLang="en-US" dirty="0">
                <a:latin typeface="Tahoma" panose="020B0604030504040204" pitchFamily="34" charset="0"/>
              </a:rPr>
              <a:t>什么是聚簇</a:t>
            </a:r>
            <a:endParaRPr lang="zh-CN" altLang="en-US" dirty="0">
              <a:latin typeface="Tahoma" panose="020B0604030504040204" pitchFamily="34" charset="0"/>
            </a:endParaRPr>
          </a:p>
          <a:p>
            <a:pPr marL="742950" lvl="1" indent="-285750" eaLnBrk="1" hangingPunct="1">
              <a:lnSpc>
                <a:spcPct val="170000"/>
              </a:lnSpc>
              <a:buClr>
                <a:srgbClr val="FF3300"/>
              </a:buClr>
              <a:buNone/>
            </a:pPr>
            <a:r>
              <a:rPr lang="zh-CN" altLang="en-US" dirty="0">
                <a:latin typeface="Tahoma" panose="020B0604030504040204" pitchFamily="34" charset="0"/>
              </a:rPr>
              <a:t>	为了提高某个属性（或属性组）的查询速度，把这个或这些属性（称为聚簇码）上具有相同值的元组集中存放在连续的物理块称为聚簇</a:t>
            </a:r>
            <a:endParaRPr lang="zh-CN" altLang="en-US" dirty="0">
              <a:latin typeface="Tahoma" panose="020B0604030504040204" pitchFamily="34" charset="0"/>
            </a:endParaRPr>
          </a:p>
        </p:txBody>
      </p:sp>
      <p:sp>
        <p:nvSpPr>
          <p:cNvPr id="93188" name="Rectangle 3"/>
          <p:cNvSpPr>
            <a:spLocks noGrp="1"/>
          </p:cNvSpPr>
          <p:nvPr>
            <p:ph type="title" idx="4294967295"/>
          </p:nvPr>
        </p:nvSpPr>
        <p:spPr>
          <a:xfrm>
            <a:off x="914400" y="0"/>
            <a:ext cx="7772400" cy="609600"/>
          </a:xfrm>
          <a:ln/>
        </p:spPr>
        <p:txBody>
          <a:bodyPr vert="horz" wrap="square" lIns="91440" tIns="45720" rIns="91440" bIns="45720" anchor="ctr" anchorCtr="0"/>
          <a:p>
            <a:pPr eaLnBrk="1" hangingPunct="1"/>
            <a:r>
              <a:rPr lang="en-US" altLang="zh-CN" dirty="0"/>
              <a:t>7.5.2 </a:t>
            </a:r>
            <a:r>
              <a:rPr lang="zh-CN" altLang="en-US" dirty="0"/>
              <a:t>关系模式存取方法的选择</a:t>
            </a:r>
            <a:endParaRPr lang="zh-CN" altLang="en-US"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4210" name="页脚占位符 2"/>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94211" name="Rectangle 2"/>
          <p:cNvSpPr/>
          <p:nvPr/>
        </p:nvSpPr>
        <p:spPr>
          <a:xfrm>
            <a:off x="228600" y="914400"/>
            <a:ext cx="8686800" cy="54864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342900" lvl="0" indent="-342900" algn="just" eaLnBrk="1" hangingPunct="1">
              <a:lnSpc>
                <a:spcPct val="120000"/>
              </a:lnSpc>
            </a:pPr>
            <a:r>
              <a:rPr lang="zh-CN" altLang="en-US" dirty="0">
                <a:solidFill>
                  <a:schemeClr val="tx1"/>
                </a:solidFill>
                <a:latin typeface="Tahoma" panose="020B0604030504040204" pitchFamily="34" charset="0"/>
              </a:rPr>
              <a:t>聚簇索引</a:t>
            </a:r>
            <a:endParaRPr lang="zh-CN" altLang="en-US" sz="2800" dirty="0">
              <a:solidFill>
                <a:schemeClr val="tx1"/>
              </a:solidFill>
              <a:latin typeface="Tahoma" panose="020B0604030504040204" pitchFamily="34" charset="0"/>
            </a:endParaRPr>
          </a:p>
          <a:p>
            <a:pPr marL="742950" lvl="1" indent="-285750" algn="just" eaLnBrk="1" fontAlgn="ctr" hangingPunct="1">
              <a:lnSpc>
                <a:spcPct val="120000"/>
              </a:lnSpc>
              <a:buClr>
                <a:srgbClr val="FF3300"/>
              </a:buClr>
            </a:pPr>
            <a:r>
              <a:rPr lang="zh-CN" altLang="en-US" dirty="0">
                <a:latin typeface="Tahoma" panose="020B0604030504040204" pitchFamily="34" charset="0"/>
              </a:rPr>
              <a:t>建立聚簇索引后，基表中数据也需要按指定的聚簇属性值的升序或降序存放。也即聚簇索引的索引项顺序与表中元组的物理顺序一致。</a:t>
            </a:r>
            <a:endParaRPr lang="zh-CN" altLang="en-US" dirty="0">
              <a:latin typeface="Tahoma" panose="020B0604030504040204" pitchFamily="34" charset="0"/>
            </a:endParaRPr>
          </a:p>
          <a:p>
            <a:pPr marL="742950" lvl="1" indent="-285750" eaLnBrk="1" hangingPunct="1">
              <a:buClr>
                <a:srgbClr val="FF3300"/>
              </a:buClr>
            </a:pPr>
            <a:r>
              <a:rPr lang="zh-CN" altLang="en-US" dirty="0">
                <a:latin typeface="Tahoma" panose="020B0604030504040204" pitchFamily="34" charset="0"/>
              </a:rPr>
              <a:t>在一个基本表上最多只能建立一个聚簇索引</a:t>
            </a:r>
            <a:endParaRPr lang="zh-CN" altLang="en-US" dirty="0">
              <a:latin typeface="Tahoma" panose="020B0604030504040204" pitchFamily="34" charset="0"/>
            </a:endParaRPr>
          </a:p>
          <a:p>
            <a:pPr marL="742950" lvl="1" indent="-285750" eaLnBrk="1" hangingPunct="1">
              <a:buClr>
                <a:srgbClr val="FF3300"/>
              </a:buClr>
            </a:pPr>
            <a:r>
              <a:rPr lang="zh-CN" altLang="en-US" dirty="0">
                <a:latin typeface="Tahoma" panose="020B0604030504040204" pitchFamily="34" charset="0"/>
              </a:rPr>
              <a:t>聚簇索引的用途：对于某些类型的查询，可以提高查询效率</a:t>
            </a:r>
            <a:endParaRPr lang="zh-CN" altLang="en-US" dirty="0">
              <a:latin typeface="Tahoma" panose="020B0604030504040204" pitchFamily="34" charset="0"/>
            </a:endParaRPr>
          </a:p>
          <a:p>
            <a:pPr marL="742950" lvl="1" indent="-285750" eaLnBrk="1" hangingPunct="1">
              <a:buClr>
                <a:srgbClr val="FF3300"/>
              </a:buClr>
            </a:pPr>
            <a:r>
              <a:rPr lang="zh-CN" altLang="en-US" dirty="0">
                <a:latin typeface="Tahoma" panose="020B0604030504040204" pitchFamily="34" charset="0"/>
              </a:rPr>
              <a:t>聚簇索引的适用范围和局限（？）</a:t>
            </a:r>
            <a:endParaRPr lang="zh-CN" altLang="en-US" dirty="0">
              <a:latin typeface="Tahoma" panose="020B0604030504040204" pitchFamily="34" charset="0"/>
            </a:endParaRPr>
          </a:p>
          <a:p>
            <a:pPr marL="742950" lvl="1" indent="-285750" algn="just" eaLnBrk="1" fontAlgn="ctr" hangingPunct="1">
              <a:lnSpc>
                <a:spcPct val="120000"/>
              </a:lnSpc>
              <a:buClr>
                <a:srgbClr val="FF3300"/>
              </a:buClr>
            </a:pPr>
            <a:endParaRPr lang="zh-CN" altLang="en-US" dirty="0">
              <a:latin typeface="Tahoma" panose="020B0604030504040204" pitchFamily="34" charset="0"/>
            </a:endParaRPr>
          </a:p>
        </p:txBody>
      </p:sp>
      <p:sp>
        <p:nvSpPr>
          <p:cNvPr id="94212" name="Rectangle 3"/>
          <p:cNvSpPr>
            <a:spLocks noGrp="1"/>
          </p:cNvSpPr>
          <p:nvPr>
            <p:ph type="title" idx="4294967295"/>
          </p:nvPr>
        </p:nvSpPr>
        <p:spPr>
          <a:xfrm>
            <a:off x="914400" y="0"/>
            <a:ext cx="7772400" cy="609600"/>
          </a:xfrm>
          <a:ln/>
        </p:spPr>
        <p:txBody>
          <a:bodyPr vert="horz" wrap="square" lIns="91440" tIns="45720" rIns="91440" bIns="45720" anchor="ctr" anchorCtr="0"/>
          <a:p>
            <a:pPr eaLnBrk="1" hangingPunct="1"/>
            <a:r>
              <a:rPr lang="en-US" altLang="zh-CN" dirty="0"/>
              <a:t>7.5.2 </a:t>
            </a:r>
            <a:r>
              <a:rPr lang="zh-CN" altLang="en-US" dirty="0"/>
              <a:t>关系模式存取方法的选择</a:t>
            </a:r>
            <a:endParaRPr lang="zh-CN" altLang="en-US"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4" name="页脚占位符 2"/>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95235" name="Rectangle 2"/>
          <p:cNvSpPr/>
          <p:nvPr/>
        </p:nvSpPr>
        <p:spPr>
          <a:xfrm>
            <a:off x="228600" y="914400"/>
            <a:ext cx="8686800" cy="54864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342900" lvl="0" indent="-342900" eaLnBrk="1" hangingPunct="1">
              <a:lnSpc>
                <a:spcPct val="120000"/>
              </a:lnSpc>
            </a:pPr>
            <a:r>
              <a:rPr lang="zh-CN" altLang="en-US" sz="3600" dirty="0">
                <a:solidFill>
                  <a:schemeClr val="tx1"/>
                </a:solidFill>
                <a:latin typeface="Arial" panose="020B0604020202020204" pitchFamily="34" charset="0"/>
              </a:rPr>
              <a:t>选择</a:t>
            </a:r>
            <a:r>
              <a:rPr lang="en-US" altLang="zh-CN" sz="3600" dirty="0">
                <a:solidFill>
                  <a:schemeClr val="tx1"/>
                </a:solidFill>
                <a:latin typeface="Arial" panose="020B0604020202020204" pitchFamily="34" charset="0"/>
              </a:rPr>
              <a:t>HASH</a:t>
            </a:r>
            <a:r>
              <a:rPr lang="zh-CN" altLang="en-US" sz="3600" dirty="0">
                <a:solidFill>
                  <a:schemeClr val="tx1"/>
                </a:solidFill>
                <a:latin typeface="Arial" panose="020B0604020202020204" pitchFamily="34" charset="0"/>
              </a:rPr>
              <a:t>存取方法的规则</a:t>
            </a:r>
            <a:endParaRPr lang="zh-CN" altLang="en-US" sz="3600" dirty="0">
              <a:solidFill>
                <a:schemeClr val="tx1"/>
              </a:solidFill>
              <a:latin typeface="Arial" panose="020B0604020202020204" pitchFamily="34" charset="0"/>
            </a:endParaRPr>
          </a:p>
          <a:p>
            <a:pPr marL="742950" lvl="1" indent="-285750" eaLnBrk="1" hangingPunct="1">
              <a:lnSpc>
                <a:spcPct val="120000"/>
              </a:lnSpc>
              <a:buClr>
                <a:srgbClr val="FF3300"/>
              </a:buClr>
            </a:pPr>
            <a:r>
              <a:rPr lang="zh-CN" altLang="en-US" dirty="0">
                <a:latin typeface="Arial" panose="020B0604020202020204" pitchFamily="34" charset="0"/>
              </a:rPr>
              <a:t>当一个关系满足下列两个条件时，可以选择</a:t>
            </a:r>
            <a:r>
              <a:rPr lang="en-US" altLang="zh-CN" dirty="0">
                <a:latin typeface="Arial" panose="020B0604020202020204" pitchFamily="34" charset="0"/>
              </a:rPr>
              <a:t>HASH</a:t>
            </a:r>
            <a:r>
              <a:rPr lang="zh-CN" altLang="en-US" dirty="0">
                <a:latin typeface="Arial" panose="020B0604020202020204" pitchFamily="34" charset="0"/>
              </a:rPr>
              <a:t>存取方法</a:t>
            </a:r>
            <a:endParaRPr lang="zh-CN" altLang="en-US" dirty="0">
              <a:latin typeface="Arial" panose="020B0604020202020204" pitchFamily="34" charset="0"/>
            </a:endParaRPr>
          </a:p>
          <a:p>
            <a:pPr marL="1143000" lvl="2" indent="-228600" eaLnBrk="1" hangingPunct="1">
              <a:lnSpc>
                <a:spcPct val="120000"/>
              </a:lnSpc>
              <a:buClr>
                <a:srgbClr val="FF3300"/>
              </a:buClr>
              <a:buFont typeface="Wingdings" panose="05000000000000000000" pitchFamily="2" charset="2"/>
              <a:buChar char="§"/>
            </a:pPr>
            <a:r>
              <a:rPr lang="zh-CN" altLang="en-US" sz="2800" dirty="0">
                <a:latin typeface="Arial" panose="020B0604020202020204" pitchFamily="34" charset="0"/>
                <a:ea typeface="宋体" panose="02010600030101010101" pitchFamily="2" charset="-122"/>
              </a:rPr>
              <a:t>该关系的属性主要出现在</a:t>
            </a:r>
            <a:r>
              <a:rPr lang="zh-CN" altLang="en-US" sz="2800" dirty="0">
                <a:solidFill>
                  <a:schemeClr val="accent2"/>
                </a:solidFill>
                <a:latin typeface="Arial" panose="020B0604020202020204" pitchFamily="34" charset="0"/>
                <a:ea typeface="宋体" panose="02010600030101010101" pitchFamily="2" charset="-122"/>
              </a:rPr>
              <a:t>等值连接</a:t>
            </a:r>
            <a:r>
              <a:rPr lang="zh-CN" altLang="en-US" sz="2800" dirty="0">
                <a:latin typeface="Arial" panose="020B0604020202020204" pitchFamily="34" charset="0"/>
                <a:ea typeface="宋体" panose="02010600030101010101" pitchFamily="2" charset="-122"/>
              </a:rPr>
              <a:t>条件中或主要出现在</a:t>
            </a:r>
            <a:r>
              <a:rPr lang="zh-CN" altLang="en-US" sz="2800" dirty="0">
                <a:solidFill>
                  <a:schemeClr val="accent2"/>
                </a:solidFill>
                <a:latin typeface="Arial" panose="020B0604020202020204" pitchFamily="34" charset="0"/>
                <a:ea typeface="宋体" panose="02010600030101010101" pitchFamily="2" charset="-122"/>
              </a:rPr>
              <a:t>相等比较</a:t>
            </a:r>
            <a:r>
              <a:rPr lang="zh-CN" altLang="en-US" sz="2800" dirty="0">
                <a:latin typeface="Arial" panose="020B0604020202020204" pitchFamily="34" charset="0"/>
                <a:ea typeface="宋体" panose="02010600030101010101" pitchFamily="2" charset="-122"/>
              </a:rPr>
              <a:t>选择条件中</a:t>
            </a:r>
            <a:endParaRPr lang="zh-CN" altLang="en-US" sz="2800" dirty="0">
              <a:latin typeface="Arial" panose="020B0604020202020204" pitchFamily="34" charset="0"/>
              <a:ea typeface="宋体" panose="02010600030101010101" pitchFamily="2" charset="-122"/>
            </a:endParaRPr>
          </a:p>
          <a:p>
            <a:pPr marL="1143000" lvl="2" indent="-228600" eaLnBrk="1" hangingPunct="1">
              <a:lnSpc>
                <a:spcPct val="120000"/>
              </a:lnSpc>
              <a:buClr>
                <a:srgbClr val="FF3300"/>
              </a:buClr>
              <a:buFont typeface="Wingdings" panose="05000000000000000000" pitchFamily="2" charset="2"/>
              <a:buChar char="§"/>
            </a:pPr>
            <a:r>
              <a:rPr lang="zh-CN" altLang="en-US" sz="2800" dirty="0">
                <a:latin typeface="Arial" panose="020B0604020202020204" pitchFamily="34" charset="0"/>
                <a:ea typeface="宋体" panose="02010600030101010101" pitchFamily="2" charset="-122"/>
              </a:rPr>
              <a:t>该关系的大小可预知，而且不变； </a:t>
            </a:r>
            <a:endParaRPr lang="zh-CN" altLang="en-US" sz="2800" dirty="0">
              <a:latin typeface="Arial" panose="020B0604020202020204" pitchFamily="34" charset="0"/>
              <a:ea typeface="宋体" panose="02010600030101010101" pitchFamily="2" charset="-122"/>
            </a:endParaRPr>
          </a:p>
          <a:p>
            <a:pPr marL="1143000" lvl="2" indent="-228600" eaLnBrk="1" hangingPunct="1">
              <a:lnSpc>
                <a:spcPct val="120000"/>
              </a:lnSpc>
              <a:buClr>
                <a:srgbClr val="FF3300"/>
              </a:buClr>
              <a:buFont typeface="Wingdings" panose="05000000000000000000" pitchFamily="2" charset="2"/>
              <a:buNone/>
            </a:pPr>
            <a:r>
              <a:rPr lang="zh-CN" altLang="en-US" sz="2800" dirty="0">
                <a:latin typeface="Arial" panose="020B0604020202020204" pitchFamily="34" charset="0"/>
                <a:ea typeface="宋体" panose="02010600030101010101" pitchFamily="2" charset="-122"/>
              </a:rPr>
              <a:t>   或</a:t>
            </a:r>
            <a:endParaRPr lang="zh-CN" altLang="en-US" sz="2800" dirty="0">
              <a:latin typeface="Arial" panose="020B0604020202020204" pitchFamily="34" charset="0"/>
              <a:ea typeface="宋体" panose="02010600030101010101" pitchFamily="2" charset="-122"/>
            </a:endParaRPr>
          </a:p>
          <a:p>
            <a:pPr marL="1143000" lvl="2" indent="-228600" eaLnBrk="1" hangingPunct="1">
              <a:lnSpc>
                <a:spcPct val="120000"/>
              </a:lnSpc>
              <a:buClr>
                <a:srgbClr val="FF3300"/>
              </a:buClr>
              <a:buFont typeface="Wingdings" panose="05000000000000000000" pitchFamily="2" charset="2"/>
              <a:buChar char="§"/>
            </a:pPr>
            <a:r>
              <a:rPr lang="zh-CN" altLang="en-US" sz="2800" dirty="0">
                <a:latin typeface="Arial" panose="020B0604020202020204" pitchFamily="34" charset="0"/>
                <a:ea typeface="宋体" panose="02010600030101010101" pitchFamily="2" charset="-122"/>
              </a:rPr>
              <a:t>该关系的大小动态改变，但所选用的</a:t>
            </a:r>
            <a:r>
              <a:rPr lang="en-US" altLang="zh-CN" sz="2800" dirty="0">
                <a:latin typeface="Arial" panose="020B0604020202020204" pitchFamily="34" charset="0"/>
                <a:ea typeface="宋体" panose="02010600030101010101" pitchFamily="2" charset="-122"/>
              </a:rPr>
              <a:t>DBMS</a:t>
            </a:r>
            <a:r>
              <a:rPr lang="zh-CN" altLang="en-US" sz="2800" dirty="0">
                <a:latin typeface="Arial" panose="020B0604020202020204" pitchFamily="34" charset="0"/>
                <a:ea typeface="宋体" panose="02010600030101010101" pitchFamily="2" charset="-122"/>
              </a:rPr>
              <a:t>提供了动态</a:t>
            </a:r>
            <a:r>
              <a:rPr lang="en-US" altLang="zh-CN" sz="2800" dirty="0">
                <a:latin typeface="Arial" panose="020B0604020202020204" pitchFamily="34" charset="0"/>
                <a:ea typeface="宋体" panose="02010600030101010101" pitchFamily="2" charset="-122"/>
              </a:rPr>
              <a:t>HASH</a:t>
            </a:r>
            <a:r>
              <a:rPr lang="zh-CN" altLang="en-US" sz="2800" dirty="0">
                <a:latin typeface="Arial" panose="020B0604020202020204" pitchFamily="34" charset="0"/>
                <a:ea typeface="宋体" panose="02010600030101010101" pitchFamily="2" charset="-122"/>
              </a:rPr>
              <a:t>存取方法。</a:t>
            </a:r>
            <a:endParaRPr lang="zh-CN" altLang="en-US" sz="2800" dirty="0">
              <a:latin typeface="Arial" panose="020B0604020202020204" pitchFamily="34" charset="0"/>
              <a:ea typeface="宋体" panose="02010600030101010101" pitchFamily="2" charset="-122"/>
            </a:endParaRPr>
          </a:p>
        </p:txBody>
      </p:sp>
      <p:sp>
        <p:nvSpPr>
          <p:cNvPr id="95236" name="Rectangle 3"/>
          <p:cNvSpPr>
            <a:spLocks noGrp="1"/>
          </p:cNvSpPr>
          <p:nvPr>
            <p:ph type="title" idx="4294967295"/>
          </p:nvPr>
        </p:nvSpPr>
        <p:spPr>
          <a:xfrm>
            <a:off x="914400" y="0"/>
            <a:ext cx="7772400" cy="609600"/>
          </a:xfrm>
          <a:ln/>
        </p:spPr>
        <p:txBody>
          <a:bodyPr vert="horz" wrap="square" lIns="91440" tIns="45720" rIns="91440" bIns="45720" anchor="ctr" anchorCtr="0"/>
          <a:p>
            <a:pPr eaLnBrk="1" hangingPunct="1"/>
            <a:r>
              <a:rPr lang="en-US" altLang="zh-CN" dirty="0"/>
              <a:t>7.5.2 </a:t>
            </a:r>
            <a:r>
              <a:rPr lang="zh-CN" altLang="en-US" dirty="0"/>
              <a:t>关系模式存取方法的选择</a:t>
            </a:r>
            <a:endParaRPr lang="zh-CN" altLang="en-US"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8" name="页脚占位符 2"/>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96259" name="Rectangle 2"/>
          <p:cNvSpPr/>
          <p:nvPr/>
        </p:nvSpPr>
        <p:spPr>
          <a:xfrm>
            <a:off x="685800" y="1600200"/>
            <a:ext cx="7848600" cy="44196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342900" lvl="0" indent="-342900" eaLnBrk="1" hangingPunct="1">
              <a:lnSpc>
                <a:spcPct val="140000"/>
              </a:lnSpc>
              <a:buClr>
                <a:schemeClr val="folHlink"/>
              </a:buClr>
              <a:buSzPct val="60000"/>
              <a:buNone/>
            </a:pPr>
            <a:r>
              <a:rPr lang="en-US" altLang="zh-CN" dirty="0">
                <a:solidFill>
                  <a:schemeClr val="tx1"/>
                </a:solidFill>
              </a:rPr>
              <a:t>7.5.1  </a:t>
            </a:r>
            <a:r>
              <a:rPr lang="zh-CN" altLang="en-US" dirty="0">
                <a:solidFill>
                  <a:schemeClr val="tx1"/>
                </a:solidFill>
              </a:rPr>
              <a:t>数据库的物理设计的内容和方法</a:t>
            </a:r>
            <a:endParaRPr lang="zh-CN" altLang="en-US" dirty="0">
              <a:solidFill>
                <a:schemeClr val="tx1"/>
              </a:solidFill>
            </a:endParaRPr>
          </a:p>
          <a:p>
            <a:pPr marL="342900" lvl="0" indent="-342900" eaLnBrk="1" hangingPunct="1">
              <a:lnSpc>
                <a:spcPct val="140000"/>
              </a:lnSpc>
              <a:buClr>
                <a:schemeClr val="folHlink"/>
              </a:buClr>
              <a:buSzPct val="60000"/>
              <a:buNone/>
            </a:pPr>
            <a:r>
              <a:rPr lang="en-US" altLang="zh-CN" dirty="0">
                <a:solidFill>
                  <a:schemeClr val="tx1"/>
                </a:solidFill>
              </a:rPr>
              <a:t>7.5.2  </a:t>
            </a:r>
            <a:r>
              <a:rPr lang="zh-CN" altLang="en-US" dirty="0">
                <a:solidFill>
                  <a:schemeClr val="tx1"/>
                </a:solidFill>
              </a:rPr>
              <a:t>关系模式存取方法选择</a:t>
            </a:r>
            <a:endParaRPr lang="zh-CN" altLang="en-US" dirty="0">
              <a:solidFill>
                <a:schemeClr val="tx1"/>
              </a:solidFill>
            </a:endParaRPr>
          </a:p>
          <a:p>
            <a:pPr marL="342900" lvl="0" indent="-342900" eaLnBrk="1" hangingPunct="1">
              <a:lnSpc>
                <a:spcPct val="140000"/>
              </a:lnSpc>
              <a:buClr>
                <a:schemeClr val="folHlink"/>
              </a:buClr>
              <a:buSzPct val="60000"/>
              <a:buNone/>
            </a:pPr>
            <a:r>
              <a:rPr lang="en-US" altLang="zh-CN" dirty="0"/>
              <a:t>7.5.3  </a:t>
            </a:r>
            <a:r>
              <a:rPr lang="zh-CN" altLang="en-US" dirty="0"/>
              <a:t>确定数据库的存储结构</a:t>
            </a:r>
            <a:endParaRPr lang="zh-CN" altLang="en-US" dirty="0"/>
          </a:p>
          <a:p>
            <a:pPr marL="342900" lvl="0" indent="-342900" eaLnBrk="1" hangingPunct="1">
              <a:lnSpc>
                <a:spcPct val="140000"/>
              </a:lnSpc>
              <a:buClr>
                <a:schemeClr val="folHlink"/>
              </a:buClr>
              <a:buSzPct val="60000"/>
              <a:buNone/>
            </a:pPr>
            <a:r>
              <a:rPr lang="en-US" altLang="zh-CN" dirty="0">
                <a:solidFill>
                  <a:schemeClr val="tx1"/>
                </a:solidFill>
              </a:rPr>
              <a:t>7.5.4  </a:t>
            </a:r>
            <a:r>
              <a:rPr lang="zh-CN" altLang="en-US" dirty="0">
                <a:solidFill>
                  <a:schemeClr val="tx1"/>
                </a:solidFill>
              </a:rPr>
              <a:t>评价物理结构</a:t>
            </a:r>
            <a:endParaRPr lang="zh-CN" altLang="en-US" dirty="0">
              <a:solidFill>
                <a:schemeClr val="tx1"/>
              </a:solidFill>
            </a:endParaRPr>
          </a:p>
        </p:txBody>
      </p:sp>
      <p:sp>
        <p:nvSpPr>
          <p:cNvPr id="96260" name="Rectangle 3"/>
          <p:cNvSpPr>
            <a:spLocks noGrp="1"/>
          </p:cNvSpPr>
          <p:nvPr>
            <p:ph type="title" idx="4294967295"/>
          </p:nvPr>
        </p:nvSpPr>
        <p:spPr>
          <a:ln/>
        </p:spPr>
        <p:txBody>
          <a:bodyPr vert="horz" wrap="square" lIns="91440" tIns="45720" rIns="91440" bIns="45720" anchor="ctr" anchorCtr="0"/>
          <a:p>
            <a:pPr eaLnBrk="1" hangingPunct="1"/>
            <a:r>
              <a:rPr lang="en-US" altLang="zh-CN" dirty="0"/>
              <a:t>7.5 </a:t>
            </a:r>
            <a:r>
              <a:rPr lang="zh-CN" altLang="en-US" dirty="0"/>
              <a:t>数据库的物理设计</a:t>
            </a:r>
            <a:endParaRPr lang="zh-CN" altLang="en-US"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2" name="页脚占位符 2"/>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97283" name="Rectangle 2"/>
          <p:cNvSpPr/>
          <p:nvPr/>
        </p:nvSpPr>
        <p:spPr>
          <a:xfrm>
            <a:off x="228600" y="914400"/>
            <a:ext cx="8686800" cy="54864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342900" lvl="0" indent="-342900" eaLnBrk="1" hangingPunct="1">
              <a:lnSpc>
                <a:spcPct val="120000"/>
              </a:lnSpc>
            </a:pPr>
            <a:r>
              <a:rPr lang="zh-CN" altLang="en-US" sz="3600" dirty="0">
                <a:solidFill>
                  <a:schemeClr val="tx1"/>
                </a:solidFill>
                <a:latin typeface="Tahoma" panose="020B0604030504040204" pitchFamily="34" charset="0"/>
              </a:rPr>
              <a:t>确定数据库物理结构的内容</a:t>
            </a:r>
            <a:endParaRPr lang="zh-CN" altLang="en-US" sz="3600" dirty="0">
              <a:solidFill>
                <a:schemeClr val="tx1"/>
              </a:solidFill>
              <a:latin typeface="Tahoma" panose="020B0604030504040204" pitchFamily="34" charset="0"/>
            </a:endParaRPr>
          </a:p>
          <a:p>
            <a:pPr marL="742950" lvl="1" indent="-285750" eaLnBrk="1" hangingPunct="1">
              <a:lnSpc>
                <a:spcPct val="120000"/>
              </a:lnSpc>
              <a:buClr>
                <a:srgbClr val="FF3300"/>
              </a:buClr>
            </a:pPr>
            <a:r>
              <a:rPr lang="en-US" altLang="zh-CN" dirty="0">
                <a:latin typeface="Tahoma" panose="020B0604030504040204" pitchFamily="34" charset="0"/>
              </a:rPr>
              <a:t>1. </a:t>
            </a:r>
            <a:r>
              <a:rPr lang="zh-CN" altLang="en-US" dirty="0">
                <a:latin typeface="Tahoma" panose="020B0604030504040204" pitchFamily="34" charset="0"/>
              </a:rPr>
              <a:t>确定数据的存放位置和存储结构</a:t>
            </a:r>
            <a:endParaRPr lang="zh-CN" altLang="en-US" dirty="0">
              <a:latin typeface="Tahoma" panose="020B0604030504040204" pitchFamily="34" charset="0"/>
            </a:endParaRPr>
          </a:p>
          <a:p>
            <a:pPr marL="1143000" lvl="2" indent="-228600" eaLnBrk="1" hangingPunct="1">
              <a:lnSpc>
                <a:spcPct val="120000"/>
              </a:lnSpc>
              <a:buClr>
                <a:srgbClr val="FF3300"/>
              </a:buClr>
              <a:buFont typeface="Wingdings" panose="05000000000000000000" pitchFamily="2" charset="2"/>
              <a:buChar char="§"/>
            </a:pPr>
            <a:r>
              <a:rPr lang="zh-CN" altLang="en-US" dirty="0">
                <a:latin typeface="Tahoma" panose="020B0604030504040204" pitchFamily="34" charset="0"/>
                <a:ea typeface="宋体" panose="02010600030101010101" pitchFamily="2" charset="-122"/>
              </a:rPr>
              <a:t> </a:t>
            </a:r>
            <a:r>
              <a:rPr lang="zh-CN" altLang="en-US" sz="2800" dirty="0">
                <a:latin typeface="Tahoma" panose="020B0604030504040204" pitchFamily="34" charset="0"/>
                <a:ea typeface="宋体" panose="02010600030101010101" pitchFamily="2" charset="-122"/>
              </a:rPr>
              <a:t>关系</a:t>
            </a:r>
            <a:endParaRPr lang="zh-CN" altLang="en-US" sz="2800" dirty="0">
              <a:latin typeface="Tahoma" panose="020B0604030504040204" pitchFamily="34" charset="0"/>
              <a:ea typeface="宋体" panose="02010600030101010101" pitchFamily="2" charset="-122"/>
            </a:endParaRPr>
          </a:p>
          <a:p>
            <a:pPr marL="1143000" lvl="2" indent="-228600" eaLnBrk="1" hangingPunct="1">
              <a:lnSpc>
                <a:spcPct val="120000"/>
              </a:lnSpc>
              <a:buClr>
                <a:srgbClr val="FF3300"/>
              </a:buClr>
              <a:buFont typeface="Wingdings" panose="05000000000000000000" pitchFamily="2" charset="2"/>
              <a:buChar char="§"/>
            </a:pPr>
            <a:r>
              <a:rPr lang="zh-CN" altLang="en-US" sz="2800" dirty="0">
                <a:latin typeface="Tahoma" panose="020B0604030504040204" pitchFamily="34" charset="0"/>
                <a:ea typeface="宋体" panose="02010600030101010101" pitchFamily="2" charset="-122"/>
              </a:rPr>
              <a:t> 索引</a:t>
            </a:r>
            <a:endParaRPr lang="zh-CN" altLang="en-US" sz="2800" dirty="0">
              <a:latin typeface="Tahoma" panose="020B0604030504040204" pitchFamily="34" charset="0"/>
              <a:ea typeface="宋体" panose="02010600030101010101" pitchFamily="2" charset="-122"/>
            </a:endParaRPr>
          </a:p>
          <a:p>
            <a:pPr marL="1143000" lvl="2" indent="-228600" eaLnBrk="1" hangingPunct="1">
              <a:lnSpc>
                <a:spcPct val="120000"/>
              </a:lnSpc>
              <a:buClr>
                <a:srgbClr val="FF3300"/>
              </a:buClr>
              <a:buFont typeface="Wingdings" panose="05000000000000000000" pitchFamily="2" charset="2"/>
              <a:buChar char="§"/>
            </a:pPr>
            <a:r>
              <a:rPr lang="zh-CN" altLang="en-US" sz="2800" dirty="0">
                <a:latin typeface="Tahoma" panose="020B0604030504040204" pitchFamily="34" charset="0"/>
                <a:ea typeface="宋体" panose="02010600030101010101" pitchFamily="2" charset="-122"/>
              </a:rPr>
              <a:t> 聚簇</a:t>
            </a:r>
            <a:endParaRPr lang="zh-CN" altLang="en-US" sz="2800" dirty="0">
              <a:latin typeface="Tahoma" panose="020B0604030504040204" pitchFamily="34" charset="0"/>
              <a:ea typeface="宋体" panose="02010600030101010101" pitchFamily="2" charset="-122"/>
            </a:endParaRPr>
          </a:p>
          <a:p>
            <a:pPr marL="1143000" lvl="2" indent="-228600" eaLnBrk="1" hangingPunct="1">
              <a:lnSpc>
                <a:spcPct val="120000"/>
              </a:lnSpc>
              <a:buClr>
                <a:srgbClr val="FF3300"/>
              </a:buClr>
              <a:buFont typeface="Wingdings" panose="05000000000000000000" pitchFamily="2" charset="2"/>
              <a:buChar char="§"/>
            </a:pPr>
            <a:r>
              <a:rPr lang="zh-CN" altLang="en-US" sz="2800" dirty="0">
                <a:latin typeface="Tahoma" panose="020B0604030504040204" pitchFamily="34" charset="0"/>
                <a:ea typeface="宋体" panose="02010600030101010101" pitchFamily="2" charset="-122"/>
              </a:rPr>
              <a:t> 日志</a:t>
            </a:r>
            <a:endParaRPr lang="zh-CN" altLang="en-US" sz="2800" dirty="0">
              <a:latin typeface="Tahoma" panose="020B0604030504040204" pitchFamily="34" charset="0"/>
              <a:ea typeface="宋体" panose="02010600030101010101" pitchFamily="2" charset="-122"/>
            </a:endParaRPr>
          </a:p>
          <a:p>
            <a:pPr marL="1143000" lvl="2" indent="-228600" eaLnBrk="1" hangingPunct="1">
              <a:lnSpc>
                <a:spcPct val="120000"/>
              </a:lnSpc>
              <a:buClr>
                <a:srgbClr val="FF3300"/>
              </a:buClr>
              <a:buFont typeface="Wingdings" panose="05000000000000000000" pitchFamily="2" charset="2"/>
              <a:buChar char="§"/>
            </a:pPr>
            <a:r>
              <a:rPr lang="zh-CN" altLang="en-US" sz="2800" dirty="0">
                <a:latin typeface="Tahoma" panose="020B0604030504040204" pitchFamily="34" charset="0"/>
                <a:ea typeface="宋体" panose="02010600030101010101" pitchFamily="2" charset="-122"/>
              </a:rPr>
              <a:t> 备份</a:t>
            </a:r>
            <a:endParaRPr lang="zh-CN" altLang="en-US" sz="2800" dirty="0">
              <a:latin typeface="Tahoma" panose="020B0604030504040204" pitchFamily="34" charset="0"/>
              <a:ea typeface="宋体" panose="02010600030101010101" pitchFamily="2" charset="-122"/>
            </a:endParaRPr>
          </a:p>
          <a:p>
            <a:pPr marL="742950" lvl="1" indent="-285750" eaLnBrk="1" hangingPunct="1">
              <a:lnSpc>
                <a:spcPct val="120000"/>
              </a:lnSpc>
              <a:buClr>
                <a:srgbClr val="FF3300"/>
              </a:buClr>
            </a:pPr>
            <a:r>
              <a:rPr lang="en-US" altLang="zh-CN" dirty="0">
                <a:latin typeface="Tahoma" panose="020B0604030504040204" pitchFamily="34" charset="0"/>
              </a:rPr>
              <a:t>2. </a:t>
            </a:r>
            <a:r>
              <a:rPr lang="zh-CN" altLang="en-US" dirty="0">
                <a:latin typeface="Tahoma" panose="020B0604030504040204" pitchFamily="34" charset="0"/>
              </a:rPr>
              <a:t>确定系统配置</a:t>
            </a:r>
            <a:endParaRPr lang="zh-CN" altLang="en-US" dirty="0">
              <a:latin typeface="Tahoma" panose="020B0604030504040204" pitchFamily="34" charset="0"/>
            </a:endParaRPr>
          </a:p>
          <a:p>
            <a:pPr marL="742950" lvl="1" indent="-285750" eaLnBrk="1" hangingPunct="1">
              <a:lnSpc>
                <a:spcPct val="120000"/>
              </a:lnSpc>
              <a:buClr>
                <a:srgbClr val="FF3300"/>
              </a:buClr>
            </a:pPr>
            <a:endParaRPr lang="zh-CN" altLang="en-US" dirty="0">
              <a:latin typeface="Arial" panose="020B0604020202020204" pitchFamily="34" charset="0"/>
            </a:endParaRPr>
          </a:p>
        </p:txBody>
      </p:sp>
      <p:sp>
        <p:nvSpPr>
          <p:cNvPr id="97284" name="Rectangle 3"/>
          <p:cNvSpPr>
            <a:spLocks noGrp="1"/>
          </p:cNvSpPr>
          <p:nvPr>
            <p:ph type="title" idx="4294967295"/>
          </p:nvPr>
        </p:nvSpPr>
        <p:spPr>
          <a:xfrm>
            <a:off x="914400" y="0"/>
            <a:ext cx="7772400" cy="609600"/>
          </a:xfrm>
          <a:ln/>
        </p:spPr>
        <p:txBody>
          <a:bodyPr vert="horz" wrap="square" lIns="91440" tIns="45720" rIns="91440" bIns="45720" anchor="ctr" anchorCtr="0"/>
          <a:p>
            <a:pPr eaLnBrk="1" hangingPunct="1"/>
            <a:r>
              <a:rPr lang="en-US" altLang="zh-CN" dirty="0"/>
              <a:t>7.5.3 </a:t>
            </a:r>
            <a:r>
              <a:rPr lang="zh-CN" altLang="en-US" dirty="0"/>
              <a:t>确定数据库的存储结构</a:t>
            </a:r>
            <a:endParaRPr lang="zh-CN" altLang="en-US"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8306" name="页脚占位符 2"/>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98307" name="Rectangle 2"/>
          <p:cNvSpPr/>
          <p:nvPr/>
        </p:nvSpPr>
        <p:spPr>
          <a:xfrm>
            <a:off x="685800" y="1600200"/>
            <a:ext cx="7848600" cy="44196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342900" lvl="0" indent="-342900" eaLnBrk="1" hangingPunct="1">
              <a:lnSpc>
                <a:spcPct val="140000"/>
              </a:lnSpc>
              <a:buClr>
                <a:schemeClr val="folHlink"/>
              </a:buClr>
              <a:buSzPct val="60000"/>
              <a:buNone/>
            </a:pPr>
            <a:r>
              <a:rPr lang="en-US" altLang="zh-CN" dirty="0">
                <a:solidFill>
                  <a:schemeClr val="tx1"/>
                </a:solidFill>
              </a:rPr>
              <a:t>7.5.1  </a:t>
            </a:r>
            <a:r>
              <a:rPr lang="zh-CN" altLang="en-US" dirty="0">
                <a:solidFill>
                  <a:schemeClr val="tx1"/>
                </a:solidFill>
              </a:rPr>
              <a:t>数据库的物理设计的内容和方法</a:t>
            </a:r>
            <a:endParaRPr lang="zh-CN" altLang="en-US" dirty="0">
              <a:solidFill>
                <a:schemeClr val="tx1"/>
              </a:solidFill>
            </a:endParaRPr>
          </a:p>
          <a:p>
            <a:pPr marL="342900" lvl="0" indent="-342900" eaLnBrk="1" hangingPunct="1">
              <a:lnSpc>
                <a:spcPct val="140000"/>
              </a:lnSpc>
              <a:buClr>
                <a:schemeClr val="folHlink"/>
              </a:buClr>
              <a:buSzPct val="60000"/>
              <a:buNone/>
            </a:pPr>
            <a:r>
              <a:rPr lang="en-US" altLang="zh-CN" dirty="0">
                <a:solidFill>
                  <a:schemeClr val="tx1"/>
                </a:solidFill>
              </a:rPr>
              <a:t>7.5.2  </a:t>
            </a:r>
            <a:r>
              <a:rPr lang="zh-CN" altLang="en-US" dirty="0">
                <a:solidFill>
                  <a:schemeClr val="tx1"/>
                </a:solidFill>
              </a:rPr>
              <a:t>关系模式存取方法选择</a:t>
            </a:r>
            <a:endParaRPr lang="zh-CN" altLang="en-US" dirty="0">
              <a:solidFill>
                <a:schemeClr val="tx1"/>
              </a:solidFill>
            </a:endParaRPr>
          </a:p>
          <a:p>
            <a:pPr marL="342900" lvl="0" indent="-342900" eaLnBrk="1" hangingPunct="1">
              <a:lnSpc>
                <a:spcPct val="140000"/>
              </a:lnSpc>
              <a:buClr>
                <a:schemeClr val="folHlink"/>
              </a:buClr>
              <a:buSzPct val="60000"/>
              <a:buNone/>
            </a:pPr>
            <a:r>
              <a:rPr lang="en-US" altLang="zh-CN" dirty="0">
                <a:solidFill>
                  <a:schemeClr val="tx1"/>
                </a:solidFill>
              </a:rPr>
              <a:t>7.5.3  </a:t>
            </a:r>
            <a:r>
              <a:rPr lang="zh-CN" altLang="en-US" dirty="0">
                <a:solidFill>
                  <a:schemeClr val="tx1"/>
                </a:solidFill>
              </a:rPr>
              <a:t>确定数据库的存储结构</a:t>
            </a:r>
            <a:endParaRPr lang="zh-CN" altLang="en-US" dirty="0">
              <a:solidFill>
                <a:schemeClr val="tx1"/>
              </a:solidFill>
            </a:endParaRPr>
          </a:p>
          <a:p>
            <a:pPr marL="342900" lvl="0" indent="-342900" eaLnBrk="1" hangingPunct="1">
              <a:lnSpc>
                <a:spcPct val="140000"/>
              </a:lnSpc>
              <a:buClr>
                <a:schemeClr val="folHlink"/>
              </a:buClr>
              <a:buSzPct val="60000"/>
              <a:buNone/>
            </a:pPr>
            <a:r>
              <a:rPr lang="en-US" altLang="zh-CN" dirty="0"/>
              <a:t>7.5.4  </a:t>
            </a:r>
            <a:r>
              <a:rPr lang="zh-CN" altLang="en-US" dirty="0"/>
              <a:t>评价物理结构</a:t>
            </a:r>
            <a:endParaRPr lang="zh-CN" altLang="en-US" dirty="0"/>
          </a:p>
        </p:txBody>
      </p:sp>
      <p:sp>
        <p:nvSpPr>
          <p:cNvPr id="98308" name="Rectangle 3"/>
          <p:cNvSpPr>
            <a:spLocks noGrp="1"/>
          </p:cNvSpPr>
          <p:nvPr>
            <p:ph type="title" idx="4294967295"/>
          </p:nvPr>
        </p:nvSpPr>
        <p:spPr>
          <a:ln/>
        </p:spPr>
        <p:txBody>
          <a:bodyPr vert="horz" wrap="square" lIns="91440" tIns="45720" rIns="91440" bIns="45720" anchor="ctr" anchorCtr="0"/>
          <a:p>
            <a:pPr eaLnBrk="1" hangingPunct="1"/>
            <a:r>
              <a:rPr lang="en-US" altLang="zh-CN" dirty="0"/>
              <a:t>7.5 </a:t>
            </a:r>
            <a:r>
              <a:rPr lang="zh-CN" altLang="en-US" dirty="0"/>
              <a:t>数据库的物理设计</a:t>
            </a:r>
            <a:endParaRPr lang="zh-CN" altLang="en-US"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933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99331" name="Rectangle 2"/>
          <p:cNvSpPr/>
          <p:nvPr/>
        </p:nvSpPr>
        <p:spPr>
          <a:xfrm>
            <a:off x="698500" y="4737100"/>
            <a:ext cx="7747000" cy="609600"/>
          </a:xfrm>
          <a:prstGeom prst="rect">
            <a:avLst/>
          </a:prstGeom>
          <a:solidFill>
            <a:schemeClr val="accent2"/>
          </a:solidFill>
          <a:ln w="9525">
            <a:noFill/>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a:spcBef>
                <a:spcPct val="0"/>
              </a:spcBef>
              <a:buClrTx/>
              <a:buFontTx/>
              <a:buNone/>
            </a:pPr>
            <a:endParaRPr lang="en-US" altLang="zh-CN" sz="1600" b="0" dirty="0">
              <a:solidFill>
                <a:schemeClr val="tx1"/>
              </a:solidFill>
            </a:endParaRPr>
          </a:p>
        </p:txBody>
      </p:sp>
      <p:sp>
        <p:nvSpPr>
          <p:cNvPr id="99332" name="Rectangle 3"/>
          <p:cNvSpPr>
            <a:spLocks noGrp="1"/>
          </p:cNvSpPr>
          <p:nvPr>
            <p:ph idx="1"/>
          </p:nvPr>
        </p:nvSpPr>
        <p:spPr>
          <a:xfrm>
            <a:off x="914400" y="1371600"/>
            <a:ext cx="7327900" cy="4876800"/>
          </a:xfrm>
          <a:ln/>
        </p:spPr>
        <p:txBody>
          <a:bodyPr vert="horz" wrap="square" lIns="91440" tIns="45720" rIns="91440" bIns="45720" anchor="t" anchorCtr="0"/>
          <a:p>
            <a:pPr eaLnBrk="1" hangingPunct="1">
              <a:lnSpc>
                <a:spcPct val="120000"/>
              </a:lnSpc>
              <a:spcBef>
                <a:spcPct val="0"/>
              </a:spcBef>
              <a:buClrTx/>
              <a:buFontTx/>
              <a:buNone/>
            </a:pPr>
            <a:r>
              <a:rPr lang="en-US" altLang="zh-CN" sz="3600" b="0" dirty="0">
                <a:solidFill>
                  <a:schemeClr val="tx1"/>
                </a:solidFill>
                <a:latin typeface="Arial Narrow" panose="020B0606020202030204" pitchFamily="34" charset="0"/>
                <a:ea typeface="楷体_GB2312" pitchFamily="49" charset="-122"/>
              </a:rPr>
              <a:t>7.1 </a:t>
            </a:r>
            <a:r>
              <a:rPr lang="zh-CN" altLang="en-US" sz="3600" b="0" dirty="0">
                <a:solidFill>
                  <a:schemeClr val="tx1"/>
                </a:solidFill>
                <a:latin typeface="Arial Narrow" panose="020B0606020202030204" pitchFamily="34" charset="0"/>
                <a:ea typeface="楷体_GB2312" pitchFamily="49" charset="-122"/>
              </a:rPr>
              <a:t>数据库设计概述</a:t>
            </a:r>
            <a:endParaRPr lang="zh-CN" altLang="en-US" sz="3600" b="0" dirty="0">
              <a:solidFill>
                <a:schemeClr val="tx1"/>
              </a:solidFill>
              <a:latin typeface="Arial Narrow" panose="020B0606020202030204" pitchFamily="34" charset="0"/>
              <a:ea typeface="楷体_GB2312" pitchFamily="49" charset="-122"/>
            </a:endParaRPr>
          </a:p>
          <a:p>
            <a:pPr eaLnBrk="1" hangingPunct="1">
              <a:lnSpc>
                <a:spcPct val="120000"/>
              </a:lnSpc>
              <a:spcBef>
                <a:spcPct val="0"/>
              </a:spcBef>
              <a:buClrTx/>
              <a:buFontTx/>
              <a:buNone/>
            </a:pPr>
            <a:r>
              <a:rPr lang="en-US" altLang="zh-CN" sz="3600" b="0" dirty="0">
                <a:solidFill>
                  <a:schemeClr val="tx1"/>
                </a:solidFill>
                <a:latin typeface="Arial Narrow" panose="020B0606020202030204" pitchFamily="34" charset="0"/>
                <a:ea typeface="楷体_GB2312" pitchFamily="49" charset="-122"/>
              </a:rPr>
              <a:t>7.2 </a:t>
            </a:r>
            <a:r>
              <a:rPr lang="zh-CN" altLang="en-US" sz="3600" b="0" dirty="0">
                <a:solidFill>
                  <a:schemeClr val="tx1"/>
                </a:solidFill>
                <a:latin typeface="Arial Narrow" panose="020B0606020202030204" pitchFamily="34" charset="0"/>
                <a:ea typeface="楷体_GB2312" pitchFamily="49" charset="-122"/>
              </a:rPr>
              <a:t>需求分析</a:t>
            </a:r>
            <a:endParaRPr lang="zh-CN" altLang="en-US" sz="3600" b="0" dirty="0">
              <a:solidFill>
                <a:schemeClr val="tx1"/>
              </a:solidFill>
              <a:latin typeface="Arial Narrow" panose="020B0606020202030204" pitchFamily="34" charset="0"/>
              <a:ea typeface="楷体_GB2312" pitchFamily="49" charset="-122"/>
            </a:endParaRPr>
          </a:p>
          <a:p>
            <a:pPr eaLnBrk="1" hangingPunct="1">
              <a:lnSpc>
                <a:spcPct val="120000"/>
              </a:lnSpc>
              <a:spcBef>
                <a:spcPct val="0"/>
              </a:spcBef>
              <a:buClrTx/>
              <a:buFontTx/>
              <a:buNone/>
            </a:pPr>
            <a:r>
              <a:rPr lang="en-US" altLang="zh-CN" sz="3600" b="0" dirty="0">
                <a:solidFill>
                  <a:schemeClr val="tx1"/>
                </a:solidFill>
                <a:latin typeface="Arial Narrow" panose="020B0606020202030204" pitchFamily="34" charset="0"/>
                <a:ea typeface="楷体_GB2312" pitchFamily="49" charset="-122"/>
              </a:rPr>
              <a:t>7.3 </a:t>
            </a:r>
            <a:r>
              <a:rPr lang="zh-CN" altLang="en-US" sz="3600" b="0" dirty="0">
                <a:solidFill>
                  <a:schemeClr val="tx1"/>
                </a:solidFill>
                <a:latin typeface="Arial Narrow" panose="020B0606020202030204" pitchFamily="34" charset="0"/>
                <a:ea typeface="楷体_GB2312" pitchFamily="49" charset="-122"/>
              </a:rPr>
              <a:t>概念结构设计</a:t>
            </a:r>
            <a:endParaRPr lang="zh-CN" altLang="en-US" sz="3600" b="0" dirty="0">
              <a:solidFill>
                <a:schemeClr val="tx1"/>
              </a:solidFill>
              <a:latin typeface="Arial Narrow" panose="020B0606020202030204" pitchFamily="34" charset="0"/>
              <a:ea typeface="楷体_GB2312" pitchFamily="49" charset="-122"/>
            </a:endParaRPr>
          </a:p>
          <a:p>
            <a:pPr eaLnBrk="1" hangingPunct="1">
              <a:lnSpc>
                <a:spcPct val="120000"/>
              </a:lnSpc>
              <a:spcBef>
                <a:spcPct val="0"/>
              </a:spcBef>
              <a:buClrTx/>
              <a:buFontTx/>
              <a:buNone/>
            </a:pPr>
            <a:r>
              <a:rPr lang="en-US" altLang="zh-CN" sz="3600" b="0" dirty="0">
                <a:solidFill>
                  <a:schemeClr val="tx1"/>
                </a:solidFill>
                <a:latin typeface="Arial Narrow" panose="020B0606020202030204" pitchFamily="34" charset="0"/>
                <a:ea typeface="楷体_GB2312" pitchFamily="49" charset="-122"/>
              </a:rPr>
              <a:t>7.4 </a:t>
            </a:r>
            <a:r>
              <a:rPr lang="zh-CN" altLang="en-US" sz="3600" b="0" dirty="0">
                <a:solidFill>
                  <a:schemeClr val="tx1"/>
                </a:solidFill>
                <a:latin typeface="Arial Narrow" panose="020B0606020202030204" pitchFamily="34" charset="0"/>
                <a:ea typeface="楷体_GB2312" pitchFamily="49" charset="-122"/>
              </a:rPr>
              <a:t>逻辑结构设计</a:t>
            </a:r>
            <a:endParaRPr lang="zh-CN" altLang="en-US" sz="3600" b="0" dirty="0">
              <a:solidFill>
                <a:schemeClr val="tx1"/>
              </a:solidFill>
              <a:latin typeface="Arial Narrow" panose="020B0606020202030204" pitchFamily="34" charset="0"/>
              <a:ea typeface="楷体_GB2312" pitchFamily="49" charset="-122"/>
            </a:endParaRPr>
          </a:p>
          <a:p>
            <a:pPr eaLnBrk="1" hangingPunct="1">
              <a:lnSpc>
                <a:spcPct val="120000"/>
              </a:lnSpc>
              <a:spcBef>
                <a:spcPct val="0"/>
              </a:spcBef>
              <a:buClrTx/>
              <a:buFontTx/>
              <a:buNone/>
            </a:pPr>
            <a:r>
              <a:rPr lang="en-US" altLang="zh-CN" sz="3600" b="0" dirty="0">
                <a:solidFill>
                  <a:schemeClr val="tx1"/>
                </a:solidFill>
                <a:latin typeface="Arial Narrow" panose="020B0606020202030204" pitchFamily="34" charset="0"/>
                <a:ea typeface="楷体_GB2312" pitchFamily="49" charset="-122"/>
              </a:rPr>
              <a:t>7.5 </a:t>
            </a:r>
            <a:r>
              <a:rPr lang="zh-CN" altLang="en-US" sz="3600" b="0" dirty="0">
                <a:solidFill>
                  <a:schemeClr val="tx1"/>
                </a:solidFill>
                <a:latin typeface="Arial Narrow" panose="020B0606020202030204" pitchFamily="34" charset="0"/>
                <a:ea typeface="楷体_GB2312" pitchFamily="49" charset="-122"/>
              </a:rPr>
              <a:t>数据库的物理设计</a:t>
            </a:r>
            <a:endParaRPr lang="zh-CN" altLang="en-US" sz="3600" b="0" dirty="0">
              <a:solidFill>
                <a:schemeClr val="tx1"/>
              </a:solidFill>
              <a:latin typeface="Arial Narrow" panose="020B0606020202030204" pitchFamily="34" charset="0"/>
              <a:ea typeface="楷体_GB2312" pitchFamily="49" charset="-122"/>
            </a:endParaRPr>
          </a:p>
          <a:p>
            <a:pPr eaLnBrk="1" hangingPunct="1">
              <a:lnSpc>
                <a:spcPct val="120000"/>
              </a:lnSpc>
              <a:spcBef>
                <a:spcPct val="0"/>
              </a:spcBef>
              <a:buClrTx/>
              <a:buFontTx/>
              <a:buNone/>
            </a:pPr>
            <a:r>
              <a:rPr lang="en-US" altLang="zh-CN" sz="3600" b="0" dirty="0">
                <a:solidFill>
                  <a:schemeClr val="bg1"/>
                </a:solidFill>
                <a:latin typeface="Arial Narrow" panose="020B0606020202030204" pitchFamily="34" charset="0"/>
                <a:ea typeface="楷体_GB2312" pitchFamily="49" charset="-122"/>
              </a:rPr>
              <a:t>7.6 </a:t>
            </a:r>
            <a:r>
              <a:rPr lang="zh-CN" altLang="en-US" sz="3600" b="0" dirty="0">
                <a:solidFill>
                  <a:schemeClr val="bg1"/>
                </a:solidFill>
                <a:latin typeface="Arial Narrow" panose="020B0606020202030204" pitchFamily="34" charset="0"/>
                <a:ea typeface="楷体_GB2312" pitchFamily="49" charset="-122"/>
              </a:rPr>
              <a:t>数据库实施</a:t>
            </a:r>
            <a:endParaRPr lang="zh-CN" altLang="en-US" sz="3600" b="0" dirty="0">
              <a:solidFill>
                <a:schemeClr val="bg1"/>
              </a:solidFill>
              <a:latin typeface="Arial Narrow" panose="020B0606020202030204" pitchFamily="34" charset="0"/>
              <a:ea typeface="楷体_GB2312" pitchFamily="49" charset="-122"/>
            </a:endParaRPr>
          </a:p>
          <a:p>
            <a:pPr eaLnBrk="1" hangingPunct="1">
              <a:lnSpc>
                <a:spcPct val="120000"/>
              </a:lnSpc>
              <a:spcBef>
                <a:spcPct val="0"/>
              </a:spcBef>
              <a:buClrTx/>
              <a:buFontTx/>
              <a:buNone/>
            </a:pPr>
            <a:r>
              <a:rPr lang="en-US" altLang="zh-CN" sz="3600" b="0" dirty="0">
                <a:solidFill>
                  <a:schemeClr val="tx1"/>
                </a:solidFill>
                <a:latin typeface="Arial Narrow" panose="020B0606020202030204" pitchFamily="34" charset="0"/>
                <a:ea typeface="楷体_GB2312" pitchFamily="49" charset="-122"/>
              </a:rPr>
              <a:t>7.7 </a:t>
            </a:r>
            <a:r>
              <a:rPr lang="zh-CN" altLang="en-US" sz="3600" b="0" dirty="0">
                <a:solidFill>
                  <a:schemeClr val="tx1"/>
                </a:solidFill>
                <a:latin typeface="Arial Narrow" panose="020B0606020202030204" pitchFamily="34" charset="0"/>
                <a:ea typeface="楷体_GB2312" pitchFamily="49" charset="-122"/>
              </a:rPr>
              <a:t>数据库运行和维护</a:t>
            </a:r>
            <a:endParaRPr lang="zh-CN" altLang="en-US" sz="3600" b="0" dirty="0">
              <a:solidFill>
                <a:schemeClr val="tx1"/>
              </a:solidFill>
              <a:latin typeface="Arial Narrow" panose="020B0606020202030204" pitchFamily="34" charset="0"/>
              <a:ea typeface="楷体_GB2312" pitchFamily="49" charset="-122"/>
            </a:endParaRPr>
          </a:p>
        </p:txBody>
      </p:sp>
      <p:sp>
        <p:nvSpPr>
          <p:cNvPr id="99333" name="Rectangle 4"/>
          <p:cNvSpPr>
            <a:spLocks noGrp="1"/>
          </p:cNvSpPr>
          <p:nvPr>
            <p:ph type="title"/>
          </p:nvPr>
        </p:nvSpPr>
        <p:spPr>
          <a:ln/>
        </p:spPr>
        <p:txBody>
          <a:bodyPr vert="horz" wrap="square" lIns="91440" tIns="45720" rIns="91440" bIns="45720" anchor="ctr" anchorCtr="0"/>
          <a:p>
            <a:pPr eaLnBrk="1" hangingPunct="1"/>
            <a:r>
              <a:rPr lang="zh-CN" altLang="en-US" dirty="0"/>
              <a:t>第</a:t>
            </a:r>
            <a:r>
              <a:rPr lang="en-US" altLang="zh-CN" dirty="0"/>
              <a:t>7</a:t>
            </a:r>
            <a:r>
              <a:rPr lang="zh-CN" altLang="en-US" dirty="0"/>
              <a:t>章 数据库设计</a:t>
            </a:r>
            <a:endParaRPr lang="zh-CN" altLang="en-US"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4" name="页脚占位符 2"/>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00355" name="Rectangle 2"/>
          <p:cNvSpPr/>
          <p:nvPr/>
        </p:nvSpPr>
        <p:spPr>
          <a:xfrm>
            <a:off x="228600" y="914400"/>
            <a:ext cx="8686800" cy="54864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342900" lvl="0" indent="-342900" algn="just" eaLnBrk="1" hangingPunct="1"/>
            <a:r>
              <a:rPr lang="zh-CN" altLang="en-US" dirty="0">
                <a:solidFill>
                  <a:schemeClr val="tx1"/>
                </a:solidFill>
                <a:latin typeface="宋体" panose="02010600030101010101" pitchFamily="2" charset="-122"/>
              </a:rPr>
              <a:t>数据库实施是指根据逻辑设计和物理设计的结果，在计算机上建立起实际的数据库结构、装入数据、进行测试和试运行的过程。</a:t>
            </a:r>
            <a:endParaRPr lang="zh-CN" altLang="en-US" dirty="0">
              <a:solidFill>
                <a:schemeClr val="tx1"/>
              </a:solidFill>
              <a:latin typeface="宋体" panose="02010600030101010101" pitchFamily="2" charset="-122"/>
            </a:endParaRPr>
          </a:p>
          <a:p>
            <a:pPr marL="342900" lvl="0" indent="-342900" algn="just" eaLnBrk="1" hangingPunct="1"/>
            <a:r>
              <a:rPr lang="zh-CN" altLang="en-US" dirty="0">
                <a:solidFill>
                  <a:schemeClr val="tx1"/>
                </a:solidFill>
                <a:latin typeface="宋体" panose="02010600030101010101" pitchFamily="2" charset="-122"/>
              </a:rPr>
              <a:t>数据库实施主要包括以下工作：</a:t>
            </a:r>
            <a:endParaRPr lang="zh-CN" altLang="en-US" dirty="0">
              <a:solidFill>
                <a:schemeClr val="tx1"/>
              </a:solidFill>
              <a:latin typeface="宋体" panose="02010600030101010101" pitchFamily="2" charset="-122"/>
              <a:cs typeface="Times New Roman" panose="02020603050405020304" pitchFamily="18" charset="0"/>
            </a:endParaRPr>
          </a:p>
          <a:p>
            <a:pPr marL="742950" lvl="1" indent="-285750" algn="just" eaLnBrk="1" hangingPunct="1"/>
            <a:r>
              <a:rPr lang="zh-CN" altLang="en-US" dirty="0">
                <a:latin typeface="宋体" panose="02010600030101010101" pitchFamily="2" charset="-122"/>
              </a:rPr>
              <a:t>建立实际数据库结构</a:t>
            </a:r>
            <a:r>
              <a:rPr lang="en-US" altLang="zh-CN" dirty="0">
                <a:latin typeface="宋体" panose="02010600030101010101" pitchFamily="2" charset="-122"/>
              </a:rPr>
              <a:t>(</a:t>
            </a:r>
            <a:r>
              <a:rPr lang="en-US" altLang="zh-CN" dirty="0"/>
              <a:t>DDL</a:t>
            </a:r>
            <a:r>
              <a:rPr lang="en-US" altLang="zh-CN" dirty="0">
                <a:latin typeface="宋体" panose="02010600030101010101" pitchFamily="2" charset="-122"/>
              </a:rPr>
              <a:t>)</a:t>
            </a:r>
            <a:r>
              <a:rPr lang="zh-CN" altLang="en-US" dirty="0">
                <a:latin typeface="宋体" panose="02010600030101010101" pitchFamily="2" charset="-122"/>
              </a:rPr>
              <a:t>；</a:t>
            </a:r>
            <a:endParaRPr lang="zh-CN" altLang="en-US" dirty="0">
              <a:latin typeface="宋体" panose="02010600030101010101" pitchFamily="2" charset="-122"/>
              <a:cs typeface="Times New Roman" panose="02020603050405020304" pitchFamily="18" charset="0"/>
            </a:endParaRPr>
          </a:p>
          <a:p>
            <a:pPr marL="742950" lvl="1" indent="-285750" algn="just" eaLnBrk="1" hangingPunct="1"/>
            <a:r>
              <a:rPr lang="zh-CN" altLang="en-US" dirty="0">
                <a:latin typeface="宋体" panose="02010600030101010101" pitchFamily="2" charset="-122"/>
              </a:rPr>
              <a:t>装入数据；</a:t>
            </a:r>
            <a:endParaRPr lang="zh-CN" altLang="en-US" dirty="0">
              <a:latin typeface="宋体" panose="02010600030101010101" pitchFamily="2" charset="-122"/>
              <a:cs typeface="Times New Roman" panose="02020603050405020304" pitchFamily="18" charset="0"/>
            </a:endParaRPr>
          </a:p>
          <a:p>
            <a:pPr marL="742950" lvl="1" indent="-285750" algn="just" eaLnBrk="1" hangingPunct="1"/>
            <a:r>
              <a:rPr lang="zh-CN" altLang="en-US" dirty="0">
                <a:latin typeface="宋体" panose="02010600030101010101" pitchFamily="2" charset="-122"/>
              </a:rPr>
              <a:t>应用程序编码与调试；</a:t>
            </a:r>
            <a:endParaRPr lang="zh-CN" altLang="en-US" dirty="0">
              <a:latin typeface="宋体" panose="02010600030101010101" pitchFamily="2" charset="-122"/>
              <a:cs typeface="Times New Roman" panose="02020603050405020304" pitchFamily="18" charset="0"/>
            </a:endParaRPr>
          </a:p>
          <a:p>
            <a:pPr marL="742950" lvl="1" indent="-285750" algn="just" eaLnBrk="1" hangingPunct="1"/>
            <a:r>
              <a:rPr lang="zh-CN" altLang="en-US" dirty="0">
                <a:latin typeface="宋体" panose="02010600030101010101" pitchFamily="2" charset="-122"/>
              </a:rPr>
              <a:t>数据库试运行；</a:t>
            </a:r>
            <a:endParaRPr lang="zh-CN" altLang="en-US" dirty="0">
              <a:latin typeface="宋体" panose="02010600030101010101" pitchFamily="2" charset="-122"/>
            </a:endParaRPr>
          </a:p>
          <a:p>
            <a:pPr marL="742950" lvl="1" indent="-285750" algn="just" eaLnBrk="1" hangingPunct="1"/>
            <a:r>
              <a:rPr lang="zh-CN" altLang="en-US" dirty="0">
                <a:latin typeface="宋体" panose="02010600030101010101" pitchFamily="2" charset="-122"/>
              </a:rPr>
              <a:t>整理文档。</a:t>
            </a:r>
            <a:endParaRPr lang="zh-CN" altLang="en-US" dirty="0">
              <a:latin typeface="宋体" panose="02010600030101010101" pitchFamily="2" charset="-122"/>
            </a:endParaRPr>
          </a:p>
        </p:txBody>
      </p:sp>
      <p:sp>
        <p:nvSpPr>
          <p:cNvPr id="100356" name="Rectangle 3"/>
          <p:cNvSpPr>
            <a:spLocks noGrp="1"/>
          </p:cNvSpPr>
          <p:nvPr>
            <p:ph type="title" idx="4294967295"/>
          </p:nvPr>
        </p:nvSpPr>
        <p:spPr>
          <a:xfrm>
            <a:off x="914400" y="0"/>
            <a:ext cx="7772400" cy="609600"/>
          </a:xfrm>
          <a:ln/>
        </p:spPr>
        <p:txBody>
          <a:bodyPr vert="horz" wrap="square" lIns="91440" tIns="45720" rIns="91440" bIns="45720" anchor="ctr" anchorCtr="0"/>
          <a:p>
            <a:pPr eaLnBrk="1" hangingPunct="1"/>
            <a:r>
              <a:rPr lang="en-US" altLang="zh-CN" dirty="0"/>
              <a:t>7.6 </a:t>
            </a:r>
            <a:r>
              <a:rPr lang="zh-CN" altLang="en-US" dirty="0"/>
              <a:t>数据库实施</a:t>
            </a:r>
            <a:endParaRPr lang="zh-CN" altLang="en-US"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7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01379" name="Rectangle 2"/>
          <p:cNvSpPr/>
          <p:nvPr/>
        </p:nvSpPr>
        <p:spPr>
          <a:xfrm>
            <a:off x="698500" y="5384800"/>
            <a:ext cx="7747000" cy="609600"/>
          </a:xfrm>
          <a:prstGeom prst="rect">
            <a:avLst/>
          </a:prstGeom>
          <a:solidFill>
            <a:schemeClr val="accent2"/>
          </a:solidFill>
          <a:ln w="9525">
            <a:noFill/>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a:spcBef>
                <a:spcPct val="0"/>
              </a:spcBef>
              <a:buClrTx/>
              <a:buFontTx/>
              <a:buNone/>
            </a:pPr>
            <a:endParaRPr lang="en-US" altLang="zh-CN" sz="1600" b="0" dirty="0">
              <a:solidFill>
                <a:schemeClr val="tx1"/>
              </a:solidFill>
            </a:endParaRPr>
          </a:p>
        </p:txBody>
      </p:sp>
      <p:sp>
        <p:nvSpPr>
          <p:cNvPr id="101380" name="Rectangle 3"/>
          <p:cNvSpPr>
            <a:spLocks noGrp="1"/>
          </p:cNvSpPr>
          <p:nvPr>
            <p:ph idx="1"/>
          </p:nvPr>
        </p:nvSpPr>
        <p:spPr>
          <a:xfrm>
            <a:off x="914400" y="1371600"/>
            <a:ext cx="7327900" cy="4876800"/>
          </a:xfrm>
          <a:ln/>
        </p:spPr>
        <p:txBody>
          <a:bodyPr vert="horz" wrap="square" lIns="91440" tIns="45720" rIns="91440" bIns="45720" anchor="t" anchorCtr="0"/>
          <a:p>
            <a:pPr eaLnBrk="1" hangingPunct="1">
              <a:lnSpc>
                <a:spcPct val="120000"/>
              </a:lnSpc>
              <a:spcBef>
                <a:spcPct val="0"/>
              </a:spcBef>
              <a:buClrTx/>
              <a:buFontTx/>
              <a:buNone/>
            </a:pPr>
            <a:r>
              <a:rPr lang="en-US" altLang="zh-CN" sz="3600" b="0" dirty="0">
                <a:solidFill>
                  <a:schemeClr val="tx1"/>
                </a:solidFill>
                <a:latin typeface="Arial Narrow" panose="020B0606020202030204" pitchFamily="34" charset="0"/>
                <a:ea typeface="楷体_GB2312" pitchFamily="49" charset="-122"/>
              </a:rPr>
              <a:t>7.1 </a:t>
            </a:r>
            <a:r>
              <a:rPr lang="zh-CN" altLang="en-US" sz="3600" b="0" dirty="0">
                <a:solidFill>
                  <a:schemeClr val="tx1"/>
                </a:solidFill>
                <a:latin typeface="Arial Narrow" panose="020B0606020202030204" pitchFamily="34" charset="0"/>
                <a:ea typeface="楷体_GB2312" pitchFamily="49" charset="-122"/>
              </a:rPr>
              <a:t>数据库设计概述</a:t>
            </a:r>
            <a:endParaRPr lang="zh-CN" altLang="en-US" sz="3600" b="0" dirty="0">
              <a:solidFill>
                <a:schemeClr val="tx1"/>
              </a:solidFill>
              <a:latin typeface="Arial Narrow" panose="020B0606020202030204" pitchFamily="34" charset="0"/>
              <a:ea typeface="楷体_GB2312" pitchFamily="49" charset="-122"/>
            </a:endParaRPr>
          </a:p>
          <a:p>
            <a:pPr eaLnBrk="1" hangingPunct="1">
              <a:lnSpc>
                <a:spcPct val="120000"/>
              </a:lnSpc>
              <a:spcBef>
                <a:spcPct val="0"/>
              </a:spcBef>
              <a:buClrTx/>
              <a:buFontTx/>
              <a:buNone/>
            </a:pPr>
            <a:r>
              <a:rPr lang="en-US" altLang="zh-CN" sz="3600" b="0" dirty="0">
                <a:solidFill>
                  <a:schemeClr val="tx1"/>
                </a:solidFill>
                <a:latin typeface="Arial Narrow" panose="020B0606020202030204" pitchFamily="34" charset="0"/>
                <a:ea typeface="楷体_GB2312" pitchFamily="49" charset="-122"/>
              </a:rPr>
              <a:t>7.2 </a:t>
            </a:r>
            <a:r>
              <a:rPr lang="zh-CN" altLang="en-US" sz="3600" b="0" dirty="0">
                <a:solidFill>
                  <a:schemeClr val="tx1"/>
                </a:solidFill>
                <a:latin typeface="Arial Narrow" panose="020B0606020202030204" pitchFamily="34" charset="0"/>
                <a:ea typeface="楷体_GB2312" pitchFamily="49" charset="-122"/>
              </a:rPr>
              <a:t>需求分析</a:t>
            </a:r>
            <a:endParaRPr lang="zh-CN" altLang="en-US" sz="3600" b="0" dirty="0">
              <a:solidFill>
                <a:schemeClr val="tx1"/>
              </a:solidFill>
              <a:latin typeface="Arial Narrow" panose="020B0606020202030204" pitchFamily="34" charset="0"/>
              <a:ea typeface="楷体_GB2312" pitchFamily="49" charset="-122"/>
            </a:endParaRPr>
          </a:p>
          <a:p>
            <a:pPr eaLnBrk="1" hangingPunct="1">
              <a:lnSpc>
                <a:spcPct val="120000"/>
              </a:lnSpc>
              <a:spcBef>
                <a:spcPct val="0"/>
              </a:spcBef>
              <a:buClrTx/>
              <a:buFontTx/>
              <a:buNone/>
            </a:pPr>
            <a:r>
              <a:rPr lang="en-US" altLang="zh-CN" sz="3600" b="0" dirty="0">
                <a:solidFill>
                  <a:schemeClr val="tx1"/>
                </a:solidFill>
                <a:latin typeface="Arial Narrow" panose="020B0606020202030204" pitchFamily="34" charset="0"/>
                <a:ea typeface="楷体_GB2312" pitchFamily="49" charset="-122"/>
              </a:rPr>
              <a:t>7.3 </a:t>
            </a:r>
            <a:r>
              <a:rPr lang="zh-CN" altLang="en-US" sz="3600" b="0" dirty="0">
                <a:solidFill>
                  <a:schemeClr val="tx1"/>
                </a:solidFill>
                <a:latin typeface="Arial Narrow" panose="020B0606020202030204" pitchFamily="34" charset="0"/>
                <a:ea typeface="楷体_GB2312" pitchFamily="49" charset="-122"/>
              </a:rPr>
              <a:t>概念结构设计</a:t>
            </a:r>
            <a:endParaRPr lang="zh-CN" altLang="en-US" sz="3600" b="0" dirty="0">
              <a:solidFill>
                <a:schemeClr val="tx1"/>
              </a:solidFill>
              <a:latin typeface="Arial Narrow" panose="020B0606020202030204" pitchFamily="34" charset="0"/>
              <a:ea typeface="楷体_GB2312" pitchFamily="49" charset="-122"/>
            </a:endParaRPr>
          </a:p>
          <a:p>
            <a:pPr eaLnBrk="1" hangingPunct="1">
              <a:lnSpc>
                <a:spcPct val="120000"/>
              </a:lnSpc>
              <a:spcBef>
                <a:spcPct val="0"/>
              </a:spcBef>
              <a:buClrTx/>
              <a:buFontTx/>
              <a:buNone/>
            </a:pPr>
            <a:r>
              <a:rPr lang="en-US" altLang="zh-CN" sz="3600" b="0" dirty="0">
                <a:solidFill>
                  <a:schemeClr val="tx1"/>
                </a:solidFill>
                <a:latin typeface="Arial Narrow" panose="020B0606020202030204" pitchFamily="34" charset="0"/>
                <a:ea typeface="楷体_GB2312" pitchFamily="49" charset="-122"/>
              </a:rPr>
              <a:t>7.4 </a:t>
            </a:r>
            <a:r>
              <a:rPr lang="zh-CN" altLang="en-US" sz="3600" b="0" dirty="0">
                <a:solidFill>
                  <a:schemeClr val="tx1"/>
                </a:solidFill>
                <a:latin typeface="Arial Narrow" panose="020B0606020202030204" pitchFamily="34" charset="0"/>
                <a:ea typeface="楷体_GB2312" pitchFamily="49" charset="-122"/>
              </a:rPr>
              <a:t>逻辑结构设计</a:t>
            </a:r>
            <a:endParaRPr lang="zh-CN" altLang="en-US" sz="3600" b="0" dirty="0">
              <a:solidFill>
                <a:schemeClr val="tx1"/>
              </a:solidFill>
              <a:latin typeface="Arial Narrow" panose="020B0606020202030204" pitchFamily="34" charset="0"/>
              <a:ea typeface="楷体_GB2312" pitchFamily="49" charset="-122"/>
            </a:endParaRPr>
          </a:p>
          <a:p>
            <a:pPr eaLnBrk="1" hangingPunct="1">
              <a:lnSpc>
                <a:spcPct val="120000"/>
              </a:lnSpc>
              <a:spcBef>
                <a:spcPct val="0"/>
              </a:spcBef>
              <a:buClrTx/>
              <a:buFontTx/>
              <a:buNone/>
            </a:pPr>
            <a:r>
              <a:rPr lang="en-US" altLang="zh-CN" sz="3600" b="0" dirty="0">
                <a:solidFill>
                  <a:schemeClr val="tx1"/>
                </a:solidFill>
                <a:latin typeface="Arial Narrow" panose="020B0606020202030204" pitchFamily="34" charset="0"/>
                <a:ea typeface="楷体_GB2312" pitchFamily="49" charset="-122"/>
              </a:rPr>
              <a:t>7.5 </a:t>
            </a:r>
            <a:r>
              <a:rPr lang="zh-CN" altLang="en-US" sz="3600" b="0" dirty="0">
                <a:solidFill>
                  <a:schemeClr val="tx1"/>
                </a:solidFill>
                <a:latin typeface="Arial Narrow" panose="020B0606020202030204" pitchFamily="34" charset="0"/>
                <a:ea typeface="楷体_GB2312" pitchFamily="49" charset="-122"/>
              </a:rPr>
              <a:t>数据库的物理设计</a:t>
            </a:r>
            <a:endParaRPr lang="zh-CN" altLang="en-US" sz="3600" b="0" dirty="0">
              <a:solidFill>
                <a:schemeClr val="tx1"/>
              </a:solidFill>
              <a:latin typeface="Arial Narrow" panose="020B0606020202030204" pitchFamily="34" charset="0"/>
              <a:ea typeface="楷体_GB2312" pitchFamily="49" charset="-122"/>
            </a:endParaRPr>
          </a:p>
          <a:p>
            <a:pPr eaLnBrk="1" hangingPunct="1">
              <a:lnSpc>
                <a:spcPct val="120000"/>
              </a:lnSpc>
              <a:spcBef>
                <a:spcPct val="0"/>
              </a:spcBef>
              <a:buClrTx/>
              <a:buFontTx/>
              <a:buNone/>
            </a:pPr>
            <a:r>
              <a:rPr lang="en-US" altLang="zh-CN" sz="3600" b="0" dirty="0">
                <a:solidFill>
                  <a:schemeClr val="tx1"/>
                </a:solidFill>
                <a:latin typeface="Arial Narrow" panose="020B0606020202030204" pitchFamily="34" charset="0"/>
                <a:ea typeface="楷体_GB2312" pitchFamily="49" charset="-122"/>
              </a:rPr>
              <a:t>7.6 </a:t>
            </a:r>
            <a:r>
              <a:rPr lang="zh-CN" altLang="en-US" sz="3600" b="0" dirty="0">
                <a:solidFill>
                  <a:schemeClr val="tx1"/>
                </a:solidFill>
                <a:latin typeface="Arial Narrow" panose="020B0606020202030204" pitchFamily="34" charset="0"/>
                <a:ea typeface="楷体_GB2312" pitchFamily="49" charset="-122"/>
              </a:rPr>
              <a:t>数据库实施</a:t>
            </a:r>
            <a:endParaRPr lang="zh-CN" altLang="en-US" sz="3600" b="0" dirty="0">
              <a:solidFill>
                <a:schemeClr val="tx1"/>
              </a:solidFill>
              <a:latin typeface="Arial Narrow" panose="020B0606020202030204" pitchFamily="34" charset="0"/>
              <a:ea typeface="楷体_GB2312" pitchFamily="49" charset="-122"/>
            </a:endParaRPr>
          </a:p>
          <a:p>
            <a:pPr eaLnBrk="1" hangingPunct="1">
              <a:lnSpc>
                <a:spcPct val="120000"/>
              </a:lnSpc>
              <a:spcBef>
                <a:spcPct val="0"/>
              </a:spcBef>
              <a:buClrTx/>
              <a:buFontTx/>
              <a:buNone/>
            </a:pPr>
            <a:r>
              <a:rPr lang="en-US" altLang="zh-CN" sz="3600" b="0" dirty="0">
                <a:solidFill>
                  <a:schemeClr val="bg1"/>
                </a:solidFill>
                <a:latin typeface="Arial Narrow" panose="020B0606020202030204" pitchFamily="34" charset="0"/>
                <a:ea typeface="楷体_GB2312" pitchFamily="49" charset="-122"/>
              </a:rPr>
              <a:t>7.7 </a:t>
            </a:r>
            <a:r>
              <a:rPr lang="zh-CN" altLang="en-US" sz="3600" b="0" dirty="0">
                <a:solidFill>
                  <a:schemeClr val="bg1"/>
                </a:solidFill>
                <a:latin typeface="Arial Narrow" panose="020B0606020202030204" pitchFamily="34" charset="0"/>
                <a:ea typeface="楷体_GB2312" pitchFamily="49" charset="-122"/>
              </a:rPr>
              <a:t>数据库运行和维护</a:t>
            </a:r>
            <a:endParaRPr lang="zh-CN" altLang="en-US" sz="3600" b="0" dirty="0">
              <a:solidFill>
                <a:schemeClr val="bg1"/>
              </a:solidFill>
              <a:latin typeface="Arial Narrow" panose="020B0606020202030204" pitchFamily="34" charset="0"/>
              <a:ea typeface="楷体_GB2312" pitchFamily="49" charset="-122"/>
            </a:endParaRPr>
          </a:p>
        </p:txBody>
      </p:sp>
      <p:sp>
        <p:nvSpPr>
          <p:cNvPr id="101381" name="Rectangle 4"/>
          <p:cNvSpPr>
            <a:spLocks noGrp="1"/>
          </p:cNvSpPr>
          <p:nvPr>
            <p:ph type="title"/>
          </p:nvPr>
        </p:nvSpPr>
        <p:spPr>
          <a:ln/>
        </p:spPr>
        <p:txBody>
          <a:bodyPr vert="horz" wrap="square" lIns="91440" tIns="45720" rIns="91440" bIns="45720" anchor="ctr" anchorCtr="0"/>
          <a:p>
            <a:pPr eaLnBrk="1" hangingPunct="1"/>
            <a:r>
              <a:rPr lang="zh-CN" altLang="en-US" dirty="0"/>
              <a:t>第</a:t>
            </a:r>
            <a:r>
              <a:rPr lang="en-US" altLang="zh-CN" dirty="0"/>
              <a:t>7</a:t>
            </a:r>
            <a:r>
              <a:rPr lang="zh-CN" altLang="en-US" dirty="0"/>
              <a:t>章 数据库设计</a:t>
            </a:r>
            <a:endParaRPr lang="zh-CN" altLang="en-US"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02" name="页脚占位符 2"/>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02403" name="Rectangle 2"/>
          <p:cNvSpPr/>
          <p:nvPr/>
        </p:nvSpPr>
        <p:spPr>
          <a:xfrm>
            <a:off x="228600" y="914400"/>
            <a:ext cx="8686800" cy="54864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342900" lvl="0" indent="-342900" algn="just" eaLnBrk="1" hangingPunct="1">
              <a:lnSpc>
                <a:spcPct val="120000"/>
              </a:lnSpc>
            </a:pPr>
            <a:r>
              <a:rPr lang="zh-CN" altLang="en-US" dirty="0">
                <a:solidFill>
                  <a:schemeClr val="tx1"/>
                </a:solidFill>
                <a:latin typeface="宋体" panose="02010600030101010101" pitchFamily="2" charset="-122"/>
              </a:rPr>
              <a:t>数据库运行和维护阶段的主要任务包括：</a:t>
            </a:r>
            <a:endParaRPr lang="zh-CN" altLang="en-US" dirty="0">
              <a:solidFill>
                <a:schemeClr val="tx1"/>
              </a:solidFill>
              <a:latin typeface="宋体" panose="02010600030101010101" pitchFamily="2" charset="-122"/>
            </a:endParaRPr>
          </a:p>
          <a:p>
            <a:pPr marL="742950" lvl="1" indent="-285750" algn="just" eaLnBrk="1" hangingPunct="1">
              <a:lnSpc>
                <a:spcPct val="120000"/>
              </a:lnSpc>
            </a:pPr>
            <a:r>
              <a:rPr lang="zh-CN" altLang="en-US" dirty="0">
                <a:latin typeface="宋体" panose="02010600030101010101" pitchFamily="2" charset="-122"/>
              </a:rPr>
              <a:t>数据库的转储与恢复</a:t>
            </a:r>
            <a:endParaRPr lang="zh-CN" altLang="en-US" dirty="0">
              <a:latin typeface="宋体" panose="02010600030101010101" pitchFamily="2" charset="-122"/>
            </a:endParaRPr>
          </a:p>
          <a:p>
            <a:pPr marL="742950" lvl="1" indent="-285750" algn="just" eaLnBrk="1" hangingPunct="1">
              <a:lnSpc>
                <a:spcPct val="120000"/>
              </a:lnSpc>
            </a:pPr>
            <a:r>
              <a:rPr lang="zh-CN" altLang="en-US" dirty="0">
                <a:latin typeface="宋体" panose="02010600030101010101" pitchFamily="2" charset="-122"/>
              </a:rPr>
              <a:t>据库的安全性与完整性控制</a:t>
            </a:r>
            <a:endParaRPr lang="zh-CN" altLang="en-US" dirty="0">
              <a:latin typeface="宋体" panose="02010600030101010101" pitchFamily="2" charset="-122"/>
              <a:cs typeface="Times New Roman" panose="02020603050405020304" pitchFamily="18" charset="0"/>
            </a:endParaRPr>
          </a:p>
          <a:p>
            <a:pPr marL="742950" lvl="1" indent="-285750" algn="just" eaLnBrk="1" hangingPunct="1">
              <a:lnSpc>
                <a:spcPct val="120000"/>
              </a:lnSpc>
            </a:pPr>
            <a:r>
              <a:rPr lang="zh-CN" altLang="en-US" dirty="0">
                <a:latin typeface="宋体" panose="02010600030101010101" pitchFamily="2" charset="-122"/>
              </a:rPr>
              <a:t>数据库性能的监督、分析与改造</a:t>
            </a:r>
            <a:endParaRPr lang="zh-CN" altLang="en-US" dirty="0">
              <a:latin typeface="宋体" panose="02010600030101010101" pitchFamily="2" charset="-122"/>
            </a:endParaRPr>
          </a:p>
          <a:p>
            <a:pPr marL="742950" lvl="1" indent="-285750" algn="just" eaLnBrk="1" hangingPunct="1">
              <a:lnSpc>
                <a:spcPct val="120000"/>
              </a:lnSpc>
            </a:pPr>
            <a:r>
              <a:rPr lang="zh-CN" altLang="en-US" dirty="0">
                <a:latin typeface="宋体" panose="02010600030101010101" pitchFamily="2" charset="-122"/>
              </a:rPr>
              <a:t>数据库的重新组织和重新构</a:t>
            </a:r>
            <a:endParaRPr lang="zh-CN" altLang="en-US" dirty="0"/>
          </a:p>
        </p:txBody>
      </p:sp>
      <p:sp>
        <p:nvSpPr>
          <p:cNvPr id="102404" name="Rectangle 3"/>
          <p:cNvSpPr>
            <a:spLocks noGrp="1"/>
          </p:cNvSpPr>
          <p:nvPr>
            <p:ph type="title" idx="4294967295"/>
          </p:nvPr>
        </p:nvSpPr>
        <p:spPr>
          <a:xfrm>
            <a:off x="914400" y="0"/>
            <a:ext cx="7772400" cy="609600"/>
          </a:xfrm>
          <a:ln/>
        </p:spPr>
        <p:txBody>
          <a:bodyPr vert="horz" wrap="square" lIns="91440" tIns="45720" rIns="91440" bIns="45720" anchor="ctr" anchorCtr="0"/>
          <a:p>
            <a:pPr eaLnBrk="1" hangingPunct="1"/>
            <a:r>
              <a:rPr lang="en-US" altLang="zh-CN" dirty="0"/>
              <a:t>7.7 </a:t>
            </a:r>
            <a:r>
              <a:rPr lang="zh-CN" altLang="en-US" dirty="0"/>
              <a:t>数据库运行与维护</a:t>
            </a:r>
            <a:endParaRPr lang="zh-CN" altLang="en-US"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6" name="页脚占位符 2"/>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03427" name="Rectangle 2"/>
          <p:cNvSpPr/>
          <p:nvPr/>
        </p:nvSpPr>
        <p:spPr>
          <a:xfrm>
            <a:off x="228600" y="914400"/>
            <a:ext cx="8686800" cy="54864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342900" lvl="0" indent="-342900" eaLnBrk="1" hangingPunct="1">
              <a:lnSpc>
                <a:spcPct val="120000"/>
              </a:lnSpc>
            </a:pPr>
            <a:r>
              <a:rPr lang="zh-CN" altLang="en-US" sz="3600" dirty="0">
                <a:solidFill>
                  <a:schemeClr val="tx1"/>
                </a:solidFill>
                <a:latin typeface="Tahoma" panose="020B0604030504040204" pitchFamily="34" charset="0"/>
              </a:rPr>
              <a:t>数据库的设计过程</a:t>
            </a:r>
            <a:endParaRPr lang="zh-CN" altLang="en-US" sz="3600" dirty="0">
              <a:solidFill>
                <a:schemeClr val="tx1"/>
              </a:solidFill>
              <a:latin typeface="Tahoma" panose="020B0604030504040204" pitchFamily="34" charset="0"/>
            </a:endParaRPr>
          </a:p>
          <a:p>
            <a:pPr marL="742950" lvl="1" indent="-285750" eaLnBrk="1" hangingPunct="1">
              <a:lnSpc>
                <a:spcPct val="120000"/>
              </a:lnSpc>
              <a:buClr>
                <a:srgbClr val="FF3300"/>
              </a:buClr>
            </a:pPr>
            <a:r>
              <a:rPr lang="zh-CN" altLang="en-US" dirty="0">
                <a:latin typeface="Tahoma" panose="020B0604030504040204" pitchFamily="34" charset="0"/>
              </a:rPr>
              <a:t>需求分析</a:t>
            </a:r>
            <a:r>
              <a:rPr lang="en-US" altLang="zh-CN" dirty="0">
                <a:latin typeface="Tahoma" panose="020B0604030504040204" pitchFamily="34" charset="0"/>
              </a:rPr>
              <a:t>(</a:t>
            </a:r>
            <a:r>
              <a:rPr lang="zh-CN" altLang="en-US" dirty="0">
                <a:latin typeface="Tahoma" panose="020B0604030504040204" pitchFamily="34" charset="0"/>
              </a:rPr>
              <a:t>数据流图，数据字典</a:t>
            </a:r>
            <a:r>
              <a:rPr lang="en-US" altLang="zh-CN" dirty="0">
                <a:latin typeface="Tahoma" panose="020B0604030504040204" pitchFamily="34" charset="0"/>
              </a:rPr>
              <a:t>)</a:t>
            </a:r>
            <a:endParaRPr lang="en-US" altLang="zh-CN" dirty="0">
              <a:latin typeface="Tahoma" panose="020B0604030504040204" pitchFamily="34" charset="0"/>
            </a:endParaRPr>
          </a:p>
          <a:p>
            <a:pPr marL="742950" lvl="1" indent="-285750" eaLnBrk="1" hangingPunct="1">
              <a:lnSpc>
                <a:spcPct val="120000"/>
              </a:lnSpc>
              <a:buClr>
                <a:srgbClr val="FF3300"/>
              </a:buClr>
            </a:pPr>
            <a:r>
              <a:rPr lang="zh-CN" altLang="en-US" dirty="0">
                <a:latin typeface="Tahoma" panose="020B0604030504040204" pitchFamily="34" charset="0"/>
              </a:rPr>
              <a:t>概念结构设计</a:t>
            </a:r>
            <a:r>
              <a:rPr lang="en-US" altLang="zh-CN" dirty="0">
                <a:latin typeface="Tahoma" panose="020B0604030504040204" pitchFamily="34" charset="0"/>
              </a:rPr>
              <a:t>(E-R</a:t>
            </a:r>
            <a:r>
              <a:rPr lang="zh-CN" altLang="en-US" dirty="0">
                <a:latin typeface="Tahoma" panose="020B0604030504040204" pitchFamily="34" charset="0"/>
              </a:rPr>
              <a:t>图</a:t>
            </a:r>
            <a:r>
              <a:rPr lang="en-US" altLang="zh-CN" dirty="0">
                <a:latin typeface="Tahoma" panose="020B0604030504040204" pitchFamily="34" charset="0"/>
              </a:rPr>
              <a:t>)</a:t>
            </a:r>
            <a:endParaRPr lang="en-US" altLang="zh-CN" dirty="0">
              <a:latin typeface="Tahoma" panose="020B0604030504040204" pitchFamily="34" charset="0"/>
            </a:endParaRPr>
          </a:p>
          <a:p>
            <a:pPr marL="742950" lvl="1" indent="-285750" eaLnBrk="1" hangingPunct="1">
              <a:lnSpc>
                <a:spcPct val="120000"/>
              </a:lnSpc>
              <a:buClr>
                <a:srgbClr val="FF3300"/>
              </a:buClr>
            </a:pPr>
            <a:r>
              <a:rPr lang="zh-CN" altLang="en-US" dirty="0">
                <a:latin typeface="Tahoma" panose="020B0604030504040204" pitchFamily="34" charset="0"/>
              </a:rPr>
              <a:t>逻辑结构设计</a:t>
            </a:r>
            <a:r>
              <a:rPr lang="en-US" altLang="zh-CN" dirty="0">
                <a:latin typeface="Tahoma" panose="020B0604030504040204" pitchFamily="34" charset="0"/>
              </a:rPr>
              <a:t>(</a:t>
            </a:r>
            <a:r>
              <a:rPr lang="zh-CN" altLang="en-US" dirty="0">
                <a:latin typeface="Tahoma" panose="020B0604030504040204" pitchFamily="34" charset="0"/>
              </a:rPr>
              <a:t>关系模式</a:t>
            </a:r>
            <a:r>
              <a:rPr lang="en-US" altLang="zh-CN" dirty="0">
                <a:latin typeface="Tahoma" panose="020B0604030504040204" pitchFamily="34" charset="0"/>
              </a:rPr>
              <a:t>)</a:t>
            </a:r>
            <a:endParaRPr lang="en-US" altLang="zh-CN" dirty="0">
              <a:latin typeface="Tahoma" panose="020B0604030504040204" pitchFamily="34" charset="0"/>
            </a:endParaRPr>
          </a:p>
          <a:p>
            <a:pPr marL="742950" lvl="1" indent="-285750" eaLnBrk="1" hangingPunct="1">
              <a:lnSpc>
                <a:spcPct val="120000"/>
              </a:lnSpc>
              <a:buClr>
                <a:srgbClr val="FF3300"/>
              </a:buClr>
            </a:pPr>
            <a:r>
              <a:rPr lang="zh-CN" altLang="en-US" dirty="0">
                <a:latin typeface="Tahoma" panose="020B0604030504040204" pitchFamily="34" charset="0"/>
              </a:rPr>
              <a:t>物理设计</a:t>
            </a:r>
            <a:r>
              <a:rPr lang="en-US" altLang="zh-CN" dirty="0">
                <a:latin typeface="Tahoma" panose="020B0604030504040204" pitchFamily="34" charset="0"/>
              </a:rPr>
              <a:t>(</a:t>
            </a:r>
            <a:r>
              <a:rPr lang="zh-CN" altLang="en-US" dirty="0">
                <a:latin typeface="Tahoma" panose="020B0604030504040204" pitchFamily="34" charset="0"/>
              </a:rPr>
              <a:t>索引</a:t>
            </a:r>
            <a:r>
              <a:rPr lang="en-US" altLang="zh-CN" dirty="0">
                <a:latin typeface="Tahoma" panose="020B0604030504040204" pitchFamily="34" charset="0"/>
              </a:rPr>
              <a:t>,</a:t>
            </a:r>
            <a:r>
              <a:rPr lang="zh-CN" altLang="en-US" dirty="0">
                <a:latin typeface="Tahoma" panose="020B0604030504040204" pitchFamily="34" charset="0"/>
              </a:rPr>
              <a:t>存储</a:t>
            </a:r>
            <a:r>
              <a:rPr lang="en-US" altLang="zh-CN" dirty="0">
                <a:latin typeface="Tahoma" panose="020B0604030504040204" pitchFamily="34" charset="0"/>
              </a:rPr>
              <a:t>)</a:t>
            </a:r>
            <a:endParaRPr lang="en-US" altLang="zh-CN" dirty="0">
              <a:latin typeface="Tahoma" panose="020B0604030504040204" pitchFamily="34" charset="0"/>
            </a:endParaRPr>
          </a:p>
          <a:p>
            <a:pPr marL="742950" lvl="1" indent="-285750" eaLnBrk="1" hangingPunct="1">
              <a:lnSpc>
                <a:spcPct val="120000"/>
              </a:lnSpc>
              <a:buClr>
                <a:srgbClr val="FF3300"/>
              </a:buClr>
            </a:pPr>
            <a:r>
              <a:rPr lang="zh-CN" altLang="en-US" dirty="0">
                <a:latin typeface="Tahoma" panose="020B0604030504040204" pitchFamily="34" charset="0"/>
              </a:rPr>
              <a:t>实施</a:t>
            </a:r>
            <a:r>
              <a:rPr lang="en-US" altLang="zh-CN" dirty="0">
                <a:latin typeface="Tahoma" panose="020B0604030504040204" pitchFamily="34" charset="0"/>
              </a:rPr>
              <a:t>(</a:t>
            </a:r>
            <a:r>
              <a:rPr lang="zh-CN" altLang="en-US" dirty="0">
                <a:latin typeface="Tahoma" panose="020B0604030504040204" pitchFamily="34" charset="0"/>
              </a:rPr>
              <a:t>定义，数据装入</a:t>
            </a:r>
            <a:r>
              <a:rPr lang="en-US" altLang="zh-CN" dirty="0">
                <a:latin typeface="Tahoma" panose="020B0604030504040204" pitchFamily="34" charset="0"/>
              </a:rPr>
              <a:t>)</a:t>
            </a:r>
            <a:endParaRPr lang="en-US" altLang="zh-CN" dirty="0">
              <a:latin typeface="Tahoma" panose="020B0604030504040204" pitchFamily="34" charset="0"/>
            </a:endParaRPr>
          </a:p>
          <a:p>
            <a:pPr marL="742950" lvl="1" indent="-285750" eaLnBrk="1" hangingPunct="1">
              <a:lnSpc>
                <a:spcPct val="120000"/>
              </a:lnSpc>
              <a:buClr>
                <a:srgbClr val="FF3300"/>
              </a:buClr>
            </a:pPr>
            <a:r>
              <a:rPr lang="zh-CN" altLang="en-US" dirty="0">
                <a:latin typeface="Tahoma" panose="020B0604030504040204" pitchFamily="34" charset="0"/>
              </a:rPr>
              <a:t>运行维护</a:t>
            </a:r>
            <a:endParaRPr lang="zh-CN" altLang="en-US" dirty="0">
              <a:latin typeface="Tahoma" panose="020B0604030504040204" pitchFamily="34" charset="0"/>
            </a:endParaRPr>
          </a:p>
          <a:p>
            <a:pPr marL="742950" lvl="1" indent="-285750" eaLnBrk="1" hangingPunct="1">
              <a:lnSpc>
                <a:spcPct val="120000"/>
              </a:lnSpc>
              <a:buClr>
                <a:srgbClr val="FF3300"/>
              </a:buClr>
              <a:buNone/>
            </a:pPr>
            <a:r>
              <a:rPr lang="zh-CN" altLang="en-US" dirty="0">
                <a:latin typeface="Tahoma" panose="020B0604030504040204" pitchFamily="34" charset="0"/>
              </a:rPr>
              <a:t>设计过程中往往还会有许多反复。</a:t>
            </a:r>
            <a:endParaRPr lang="zh-CN" altLang="en-US" dirty="0">
              <a:latin typeface="Tahoma" panose="020B0604030504040204" pitchFamily="34" charset="0"/>
            </a:endParaRPr>
          </a:p>
        </p:txBody>
      </p:sp>
      <p:sp>
        <p:nvSpPr>
          <p:cNvPr id="103428" name="Rectangle 3"/>
          <p:cNvSpPr>
            <a:spLocks noGrp="1"/>
          </p:cNvSpPr>
          <p:nvPr>
            <p:ph type="title" idx="4294967295"/>
          </p:nvPr>
        </p:nvSpPr>
        <p:spPr>
          <a:xfrm>
            <a:off x="914400" y="0"/>
            <a:ext cx="7772400" cy="609600"/>
          </a:xfrm>
          <a:ln/>
        </p:spPr>
        <p:txBody>
          <a:bodyPr vert="horz" wrap="square" lIns="91440" tIns="45720" rIns="91440" bIns="45720" anchor="ctr" anchorCtr="0"/>
          <a:p>
            <a:pPr eaLnBrk="1" hangingPunct="1"/>
            <a:r>
              <a:rPr lang="zh-CN" altLang="en-US" dirty="0"/>
              <a:t>小结</a:t>
            </a:r>
            <a:endParaRPr lang="zh-CN" altLang="en-US"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50" name="页脚占位符 2"/>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04451" name="Rectangle 2"/>
          <p:cNvSpPr/>
          <p:nvPr/>
        </p:nvSpPr>
        <p:spPr>
          <a:xfrm>
            <a:off x="1295400" y="76200"/>
            <a:ext cx="6781800" cy="60960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eaLnBrk="1" hangingPunct="1">
              <a:spcBef>
                <a:spcPct val="0"/>
              </a:spcBef>
              <a:buClrTx/>
              <a:buFontTx/>
              <a:buNone/>
            </a:pPr>
            <a:r>
              <a:rPr lang="zh-CN" altLang="en-US" sz="4400" dirty="0">
                <a:solidFill>
                  <a:schemeClr val="accent2"/>
                </a:solidFill>
                <a:ea typeface="经典细隶书简" pitchFamily="49" charset="-122"/>
              </a:rPr>
              <a:t>第</a:t>
            </a:r>
            <a:r>
              <a:rPr lang="en-US" altLang="zh-CN" sz="4400" dirty="0">
                <a:solidFill>
                  <a:schemeClr val="accent2"/>
                </a:solidFill>
                <a:ea typeface="经典细隶书简" pitchFamily="49" charset="-122"/>
              </a:rPr>
              <a:t>7</a:t>
            </a:r>
            <a:r>
              <a:rPr lang="zh-CN" altLang="en-US" sz="4400" dirty="0">
                <a:solidFill>
                  <a:schemeClr val="accent2"/>
                </a:solidFill>
                <a:ea typeface="经典细隶书简" pitchFamily="49" charset="-122"/>
              </a:rPr>
              <a:t>章书面作业</a:t>
            </a:r>
            <a:endParaRPr lang="zh-CN" altLang="en-US" sz="4400" dirty="0">
              <a:solidFill>
                <a:schemeClr val="accent2"/>
              </a:solidFill>
              <a:ea typeface="经典细隶书简" pitchFamily="49" charset="-122"/>
            </a:endParaRPr>
          </a:p>
        </p:txBody>
      </p:sp>
      <p:sp>
        <p:nvSpPr>
          <p:cNvPr id="104452" name="Rectangle 3"/>
          <p:cNvSpPr/>
          <p:nvPr/>
        </p:nvSpPr>
        <p:spPr>
          <a:xfrm>
            <a:off x="533400" y="1066800"/>
            <a:ext cx="8229600" cy="43434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342900" lvl="0" indent="-342900" eaLnBrk="1" hangingPunct="1">
              <a:buNone/>
            </a:pPr>
            <a:r>
              <a:rPr lang="en-US" altLang="zh-CN" sz="4800" b="0" dirty="0">
                <a:solidFill>
                  <a:schemeClr val="tx1"/>
                </a:solidFill>
                <a:ea typeface="仿宋_GB2312" pitchFamily="49" charset="-122"/>
              </a:rPr>
              <a:t>P239</a:t>
            </a:r>
            <a:r>
              <a:rPr lang="zh-CN" altLang="en-US" sz="4800" b="0" dirty="0">
                <a:solidFill>
                  <a:schemeClr val="tx1"/>
                </a:solidFill>
                <a:ea typeface="黑体" panose="02010609060101010101" pitchFamily="49" charset="-122"/>
              </a:rPr>
              <a:t>习题</a:t>
            </a:r>
            <a:endParaRPr lang="zh-CN" altLang="en-US" sz="4800" b="0" dirty="0">
              <a:solidFill>
                <a:schemeClr val="tx1"/>
              </a:solidFill>
              <a:ea typeface="黑体" panose="02010609060101010101" pitchFamily="49" charset="-122"/>
            </a:endParaRPr>
          </a:p>
          <a:p>
            <a:pPr marL="342900" lvl="0" indent="-342900" eaLnBrk="1" hangingPunct="1"/>
            <a:r>
              <a:rPr lang="en-US" altLang="zh-CN" sz="4800" b="0" dirty="0">
                <a:solidFill>
                  <a:schemeClr val="tx1"/>
                </a:solidFill>
                <a:ea typeface="仿宋_GB2312" pitchFamily="49" charset="-122"/>
              </a:rPr>
              <a:t>7,8,10,11</a:t>
            </a:r>
            <a:endParaRPr lang="en-US" altLang="zh-CN" sz="40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5474" name="页脚占位符 2"/>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05475" name="Text Box 2"/>
          <p:cNvSpPr txBox="1"/>
          <p:nvPr/>
        </p:nvSpPr>
        <p:spPr>
          <a:xfrm>
            <a:off x="3124200" y="2057400"/>
            <a:ext cx="2632075" cy="1555750"/>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eaLnBrk="1" hangingPunct="1">
              <a:spcBef>
                <a:spcPct val="50000"/>
              </a:spcBef>
              <a:buClrTx/>
              <a:buFontTx/>
              <a:buNone/>
            </a:pPr>
            <a:r>
              <a:rPr lang="zh-CN" altLang="en-US" sz="9600" dirty="0">
                <a:solidFill>
                  <a:schemeClr val="accent2"/>
                </a:solidFill>
              </a:rPr>
              <a:t>再见</a:t>
            </a:r>
            <a:endParaRPr lang="zh-CN" altLang="en-US" sz="9600" dirty="0">
              <a:solidFill>
                <a:schemeClr val="accent2"/>
              </a:solidFill>
            </a:endParaRPr>
          </a:p>
        </p:txBody>
      </p:sp>
    </p:spTree>
  </p:cSld>
  <p:clrMapOvr>
    <a:masterClrMapping/>
  </p:clrMapOvr>
</p:sld>
</file>

<file path=ppt/theme/theme1.xml><?xml version="1.0" encoding="utf-8"?>
<a:theme xmlns:a="http://schemas.openxmlformats.org/drawingml/2006/main" name="kylin">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33CC"/>
      </a:hlink>
      <a:folHlink>
        <a:srgbClr val="B2B2B2"/>
      </a:folHlink>
    </a:clrScheme>
    <a:fontScheme name="kylin">
      <a:majorFont>
        <a:latin typeface="Times New Roman"/>
        <a:ea typeface="经典细隶书简"/>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38100" cap="flat" cmpd="sng" algn="ctr">
          <a:solidFill>
            <a:srgbClr val="000000"/>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0" fontAlgn="base" latinLnBrk="0" hangingPunct="0">
          <a:lnSpc>
            <a:spcPct val="100000"/>
          </a:lnSpc>
          <a:spcBef>
            <a:spcPct val="0"/>
          </a:spcBef>
          <a:spcAft>
            <a:spcPct val="0"/>
          </a:spcAft>
          <a:buClrTx/>
          <a:buSzTx/>
          <a:buFontTx/>
          <a:buNone/>
          <a:defRPr kumimoji="0" lang="zh-CN" altLang="en-US"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noFill/>
        <a:ln w="38100" cap="flat" cmpd="sng" algn="ctr">
          <a:solidFill>
            <a:srgbClr val="000000"/>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0" fontAlgn="base" latinLnBrk="0" hangingPunct="0">
          <a:lnSpc>
            <a:spcPct val="100000"/>
          </a:lnSpc>
          <a:spcBef>
            <a:spcPct val="0"/>
          </a:spcBef>
          <a:spcAft>
            <a:spcPct val="0"/>
          </a:spcAft>
          <a:buClrTx/>
          <a:buSzTx/>
          <a:buFontTx/>
          <a:buNone/>
          <a:defRPr kumimoji="0" lang="zh-CN" altLang="en-US"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kyli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kyli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kyli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kyli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kyli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kyli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kyli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kylingray</Template>
  <TotalTime>0</TotalTime>
  <Words>13776</Words>
  <Application>WPS Presentation</Application>
  <PresentationFormat>全屏显示(4:3)</PresentationFormat>
  <Paragraphs>1273</Paragraphs>
  <Slides>101</Slides>
  <Notes>0</Notes>
  <HiddenSlides>0</HiddenSlides>
  <MMClips>0</MMClips>
  <ScaleCrop>false</ScaleCrop>
  <HeadingPairs>
    <vt:vector size="6" baseType="variant">
      <vt:variant>
        <vt:lpstr>已用的字体</vt:lpstr>
      </vt:variant>
      <vt:variant>
        <vt:i4>19</vt:i4>
      </vt:variant>
      <vt:variant>
        <vt:lpstr>主题</vt:lpstr>
      </vt:variant>
      <vt:variant>
        <vt:i4>1</vt:i4>
      </vt:variant>
      <vt:variant>
        <vt:lpstr>幻灯片标题</vt:lpstr>
      </vt:variant>
      <vt:variant>
        <vt:i4>101</vt:i4>
      </vt:variant>
    </vt:vector>
  </HeadingPairs>
  <TitlesOfParts>
    <vt:vector size="121" baseType="lpstr">
      <vt:lpstr>Arial</vt:lpstr>
      <vt:lpstr>SimSun</vt:lpstr>
      <vt:lpstr>Wingdings</vt:lpstr>
      <vt:lpstr>Times New Roman</vt:lpstr>
      <vt:lpstr>宋体</vt:lpstr>
      <vt:lpstr>经典细隶书简</vt:lpstr>
      <vt:lpstr>隶书</vt:lpstr>
      <vt:lpstr>楷体_GB2312</vt:lpstr>
      <vt:lpstr>新宋体</vt:lpstr>
      <vt:lpstr>仿宋_GB2312</vt:lpstr>
      <vt:lpstr>仿宋</vt:lpstr>
      <vt:lpstr>Calibri</vt:lpstr>
      <vt:lpstr>Arial Narrow</vt:lpstr>
      <vt:lpstr>Tahoma</vt:lpstr>
      <vt:lpstr>华文新魏</vt:lpstr>
      <vt:lpstr>黑体</vt:lpstr>
      <vt:lpstr>微软雅黑</vt:lpstr>
      <vt:lpstr>Arial Unicode MS</vt:lpstr>
      <vt:lpstr>Bookman Old Style</vt:lpstr>
      <vt:lpstr>kylin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Workgroup</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第7章 数据库设计</dc:title>
  <dc:creator>kylin</dc:creator>
  <cp:lastModifiedBy>nakanosan</cp:lastModifiedBy>
  <cp:revision>48</cp:revision>
  <dcterms:created xsi:type="dcterms:W3CDTF">2026-06-17T19:29:21Z</dcterms:created>
  <dcterms:modified xsi:type="dcterms:W3CDTF">2026-06-17T19:29:21Z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E6772D0E85A1F02891F5326A9DC69183_43</vt:lpwstr>
  </property>
  <property fmtid="{D5CDD505-2E9C-101B-9397-08002B2CF9AE}" pid="3" name="KSOProductBuildVer">
    <vt:lpwstr>1033-12.1.2.26885</vt:lpwstr>
  </property>
</Properties>
</file>